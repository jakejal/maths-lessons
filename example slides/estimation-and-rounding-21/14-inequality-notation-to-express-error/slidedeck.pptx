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DC51A2-71D0-461C-A3ED-4E04C38E72D9}">
  <a:tblStyle styleId="{FFDC51A2-71D0-461C-A3ED-4E04C38E72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b00e9de696_1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b00e9de696_1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b135c749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b135c749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ae98c79039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ae98c79039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ae98c79039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ae98c79039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ae9e1518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ae9e1518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ae98c79039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ae98c79039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2ae9e151849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2ae9e151849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2ae9e151849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2ae9e151849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afb5b59d8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afb5b59d8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2afb5b59d86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afb5b59d8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2afb5b59d86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2afb5b59d86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afb5b59d86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afb5b59d86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2afb5b59d8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0" name="Google Shape;1700;g2afb5b59d8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2afbcf9ce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2afbcf9ce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2afb5b59d8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2afb5b59d8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2afb5b59d8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2afb5b59d8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2afb5b59d8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2afb5b59d8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2afbcf9ce80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2afbcf9ce8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2afbcf9ce80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2afbcf9ce80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afc1bf0c4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afc1bf0c4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2afbcf9ce80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2afbcf9ce80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2afc1bf0c4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2afc1bf0c4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2afc1bf0c4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2afc1bf0c4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g2afc1bf0c48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0" name="Google Shape;1920;g2afc1bf0c48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2afc1bf0c48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2afc1bf0c48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2afc1bf0c48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2afc1bf0c48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g2afc1bf0c48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4" name="Google Shape;1964;g2afc1bf0c48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2afc1bf0c4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2afc1bf0c4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2afc1bf0c4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2" name="Google Shape;1992;g2afc1bf0c4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2afc1bf0c48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2afc1bf0c48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2afc1bf0c48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afc1bf0c48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2afc1bf0c48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2afc1bf0c48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32849bb477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32849bb477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32849bb4777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4" name="Google Shape;2094;g32849bb4777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g32849bb4777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8" name="Google Shape;2118;g32849bb4777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32849bb4777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32849bb4777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32849bb4777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32849bb4777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2b007c2b35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2b007c2b35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g2b007c2b35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6" name="Google Shape;2196;g2b007c2b35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g2afc1bf0c48_1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8" name="Google Shape;2238;g2afc1bf0c48_1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2afc1bf0c48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2afc1bf0c48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g2b007c2b35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8" name="Google Shape;2278;g2b007c2b35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2b007c2b35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2b007c2b35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2b007c2b354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2b007c2b354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2b007c2b354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2b007c2b35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6" name="Google Shape;236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Relationship Id="rId4" Type="http://schemas.openxmlformats.org/officeDocument/2006/relationships/image" Target="../media/image86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6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6.png"/><Relationship Id="rId4" Type="http://schemas.openxmlformats.org/officeDocument/2006/relationships/image" Target="../media/image34.png"/><Relationship Id="rId11" Type="http://schemas.openxmlformats.org/officeDocument/2006/relationships/image" Target="../media/image23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Relationship Id="rId4" Type="http://schemas.openxmlformats.org/officeDocument/2006/relationships/image" Target="../media/image86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6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6.png"/><Relationship Id="rId4" Type="http://schemas.openxmlformats.org/officeDocument/2006/relationships/image" Target="../media/image34.png"/><Relationship Id="rId11" Type="http://schemas.openxmlformats.org/officeDocument/2006/relationships/image" Target="../media/image23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3" name="Google Shape;133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9" name="Google Shape;143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3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6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9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0.png"/><Relationship Id="rId4" Type="http://schemas.openxmlformats.org/officeDocument/2006/relationships/image" Target="../media/image97.png"/><Relationship Id="rId5" Type="http://schemas.openxmlformats.org/officeDocument/2006/relationships/image" Target="../media/image99.png"/><Relationship Id="rId6" Type="http://schemas.openxmlformats.org/officeDocument/2006/relationships/image" Target="../media/image9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0.png"/><Relationship Id="rId4" Type="http://schemas.openxmlformats.org/officeDocument/2006/relationships/image" Target="../media/image97.png"/><Relationship Id="rId5" Type="http://schemas.openxmlformats.org/officeDocument/2006/relationships/image" Target="../media/image99.png"/><Relationship Id="rId6" Type="http://schemas.openxmlformats.org/officeDocument/2006/relationships/image" Target="../media/image9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0.png"/><Relationship Id="rId4" Type="http://schemas.openxmlformats.org/officeDocument/2006/relationships/image" Target="../media/image97.png"/><Relationship Id="rId5" Type="http://schemas.openxmlformats.org/officeDocument/2006/relationships/image" Target="../media/image99.png"/><Relationship Id="rId6" Type="http://schemas.openxmlformats.org/officeDocument/2006/relationships/image" Target="../media/image9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3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0.png"/><Relationship Id="rId4" Type="http://schemas.openxmlformats.org/officeDocument/2006/relationships/image" Target="../media/image104.png"/><Relationship Id="rId5" Type="http://schemas.openxmlformats.org/officeDocument/2006/relationships/image" Target="../media/image10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7.png"/><Relationship Id="rId4" Type="http://schemas.openxmlformats.org/officeDocument/2006/relationships/image" Target="../media/image105.png"/><Relationship Id="rId5" Type="http://schemas.openxmlformats.org/officeDocument/2006/relationships/image" Target="../media/image10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3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1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6.png"/><Relationship Id="rId4" Type="http://schemas.openxmlformats.org/officeDocument/2006/relationships/image" Target="../media/image113.png"/><Relationship Id="rId5" Type="http://schemas.openxmlformats.org/officeDocument/2006/relationships/image" Target="../media/image9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7.png"/><Relationship Id="rId4" Type="http://schemas.openxmlformats.org/officeDocument/2006/relationships/image" Target="../media/image115.png"/><Relationship Id="rId5" Type="http://schemas.openxmlformats.org/officeDocument/2006/relationships/image" Target="../media/image99.png"/><Relationship Id="rId6" Type="http://schemas.openxmlformats.org/officeDocument/2006/relationships/image" Target="../media/image1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7.png"/><Relationship Id="rId4" Type="http://schemas.openxmlformats.org/officeDocument/2006/relationships/image" Target="../media/image1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7.png"/><Relationship Id="rId4" Type="http://schemas.openxmlformats.org/officeDocument/2006/relationships/image" Target="../media/image9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7.png"/><Relationship Id="rId4" Type="http://schemas.openxmlformats.org/officeDocument/2006/relationships/image" Target="../media/image1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7.png"/><Relationship Id="rId4" Type="http://schemas.openxmlformats.org/officeDocument/2006/relationships/image" Target="../media/image1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Inequality notation to express error</a:t>
            </a:r>
            <a:endParaRPr/>
          </a:p>
        </p:txBody>
      </p:sp>
      <p:sp>
        <p:nvSpPr>
          <p:cNvPr id="1489" name="Google Shape;1489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possible errors expressed using inequality notation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 ≤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&lt;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8"/>
          <p:cNvSpPr txBox="1"/>
          <p:nvPr/>
        </p:nvSpPr>
        <p:spPr>
          <a:xfrm>
            <a:off x="309750" y="1819850"/>
            <a:ext cx="802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505" name="Google Shape;1505;p128"/>
          <p:cNvSpPr txBox="1"/>
          <p:nvPr/>
        </p:nvSpPr>
        <p:spPr>
          <a:xfrm>
            <a:off x="324000" y="802250"/>
            <a:ext cx="7714800" cy="1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a number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shows the range of possible values of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written as an inequality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9"/>
          <p:cNvSpPr txBox="1"/>
          <p:nvPr/>
        </p:nvSpPr>
        <p:spPr>
          <a:xfrm>
            <a:off x="324000" y="802250"/>
            <a:ext cx="85491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values where every value in the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estimates to the given value. 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Rounding an integer is 300 to the nearest 100, so the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values for the unrounded number is 250 to 349.9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Rounding 23 to 2 s.f., so the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values for the unrounded number is 22.5 to 23.49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29"/>
          <p:cNvSpPr txBox="1"/>
          <p:nvPr/>
        </p:nvSpPr>
        <p:spPr>
          <a:xfrm>
            <a:off x="309750" y="736825"/>
            <a:ext cx="802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512" name="Google Shape;1512;p129"/>
          <p:cNvSpPr/>
          <p:nvPr/>
        </p:nvSpPr>
        <p:spPr>
          <a:xfrm flipH="1">
            <a:off x="6439017" y="2407009"/>
            <a:ext cx="39000" cy="28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29"/>
          <p:cNvSpPr/>
          <p:nvPr/>
        </p:nvSpPr>
        <p:spPr>
          <a:xfrm flipH="1">
            <a:off x="3140151" y="3680143"/>
            <a:ext cx="39000" cy="28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3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519" name="Google Shape;1519;p13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1520" name="Google Shape;1520;p13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Inequality notation to express error</a:t>
            </a:r>
            <a:endParaRPr/>
          </a:p>
        </p:txBody>
      </p:sp>
      <p:pic>
        <p:nvPicPr>
          <p:cNvPr id="1521" name="Google Shape;1521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31"/>
          <p:cNvSpPr txBox="1"/>
          <p:nvPr>
            <p:ph idx="1" type="body"/>
          </p:nvPr>
        </p:nvSpPr>
        <p:spPr>
          <a:xfrm>
            <a:off x="324000" y="694942"/>
            <a:ext cx="8237700" cy="165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use decimals and integers in everyday life. Sometimes rounded numbers are presented to us and it is important we are able to calculate the largest and smallest unrounded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527" name="Google Shape;1527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533" name="Google Shape;1533;p132"/>
          <p:cNvSpPr txBox="1"/>
          <p:nvPr/>
        </p:nvSpPr>
        <p:spPr>
          <a:xfrm>
            <a:off x="324000" y="784427"/>
            <a:ext cx="82377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For example, what is the largest and smallest </a:t>
            </a:r>
            <a:r>
              <a:rPr lang="en-GB" sz="21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when 4</a:t>
            </a:r>
            <a:r>
              <a:rPr lang="en-GB"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is rounded to the nearest 10?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34" name="Google Shape;1534;p132"/>
          <p:cNvGraphicFramePr/>
          <p:nvPr/>
        </p:nvGraphicFramePr>
        <p:xfrm>
          <a:off x="2970175" y="2394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1603125"/>
                <a:gridCol w="1603125"/>
              </a:tblGrid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5" name="Google Shape;1535;p132"/>
          <p:cNvSpPr txBox="1"/>
          <p:nvPr/>
        </p:nvSpPr>
        <p:spPr>
          <a:xfrm>
            <a:off x="2645455" y="2013192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32"/>
          <p:cNvSpPr txBox="1"/>
          <p:nvPr/>
        </p:nvSpPr>
        <p:spPr>
          <a:xfrm>
            <a:off x="5858727" y="2013192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32"/>
          <p:cNvSpPr txBox="1"/>
          <p:nvPr/>
        </p:nvSpPr>
        <p:spPr>
          <a:xfrm>
            <a:off x="4304103" y="2013192"/>
            <a:ext cx="65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8" name="Google Shape;1538;p132"/>
          <p:cNvGrpSpPr/>
          <p:nvPr/>
        </p:nvGrpSpPr>
        <p:grpSpPr>
          <a:xfrm>
            <a:off x="3759050" y="2013192"/>
            <a:ext cx="1524000" cy="650100"/>
            <a:chOff x="4825850" y="3296750"/>
            <a:chExt cx="1524000" cy="650100"/>
          </a:xfrm>
        </p:grpSpPr>
        <p:cxnSp>
          <p:nvCxnSpPr>
            <p:cNvPr id="1539" name="Google Shape;1539;p132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540" name="Google Shape;1540;p132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541" name="Google Shape;1541;p132"/>
          <p:cNvSpPr txBox="1"/>
          <p:nvPr/>
        </p:nvSpPr>
        <p:spPr>
          <a:xfrm>
            <a:off x="4130836" y="1151528"/>
            <a:ext cx="3742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number line can help.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2"/>
          <p:cNvSpPr txBox="1"/>
          <p:nvPr/>
        </p:nvSpPr>
        <p:spPr>
          <a:xfrm>
            <a:off x="324000" y="2770471"/>
            <a:ext cx="3742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Put 430 in the centre.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2"/>
          <p:cNvSpPr txBox="1"/>
          <p:nvPr/>
        </p:nvSpPr>
        <p:spPr>
          <a:xfrm>
            <a:off x="324000" y="3126654"/>
            <a:ext cx="5992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+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 −  10  (10 is the degree of accuracy)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132"/>
          <p:cNvSpPr txBox="1"/>
          <p:nvPr/>
        </p:nvSpPr>
        <p:spPr>
          <a:xfrm>
            <a:off x="324000" y="3457094"/>
            <a:ext cx="542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the middle values represent?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32"/>
          <p:cNvSpPr txBox="1"/>
          <p:nvPr/>
        </p:nvSpPr>
        <p:spPr>
          <a:xfrm>
            <a:off x="317400" y="3813277"/>
            <a:ext cx="8902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425 is the smallest integer when rounded to the nearest 10 gives 430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32"/>
          <p:cNvSpPr txBox="1"/>
          <p:nvPr/>
        </p:nvSpPr>
        <p:spPr>
          <a:xfrm>
            <a:off x="3429000" y="1608442"/>
            <a:ext cx="79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425</a:t>
            </a:r>
            <a:endParaRPr/>
          </a:p>
        </p:txBody>
      </p:sp>
      <p:sp>
        <p:nvSpPr>
          <p:cNvPr id="1547" name="Google Shape;1547;p132"/>
          <p:cNvSpPr txBox="1"/>
          <p:nvPr/>
        </p:nvSpPr>
        <p:spPr>
          <a:xfrm>
            <a:off x="317400" y="4195203"/>
            <a:ext cx="8902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434 is the largest integer when rounded to the nearest 10 gives 430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32"/>
          <p:cNvSpPr txBox="1"/>
          <p:nvPr/>
        </p:nvSpPr>
        <p:spPr>
          <a:xfrm>
            <a:off x="4932013" y="1623767"/>
            <a:ext cx="79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435</a:t>
            </a:r>
            <a:endParaRPr/>
          </a:p>
        </p:txBody>
      </p:sp>
      <p:grpSp>
        <p:nvGrpSpPr>
          <p:cNvPr id="1549" name="Google Shape;1549;p132"/>
          <p:cNvGrpSpPr/>
          <p:nvPr/>
        </p:nvGrpSpPr>
        <p:grpSpPr>
          <a:xfrm>
            <a:off x="6604525" y="1666075"/>
            <a:ext cx="2215500" cy="1717500"/>
            <a:chOff x="8148000" y="2558250"/>
            <a:chExt cx="2215500" cy="1717500"/>
          </a:xfrm>
        </p:grpSpPr>
        <p:sp>
          <p:nvSpPr>
            <p:cNvPr id="1550" name="Google Shape;1550;p132"/>
            <p:cNvSpPr/>
            <p:nvPr/>
          </p:nvSpPr>
          <p:spPr>
            <a:xfrm>
              <a:off x="8148000" y="2558250"/>
              <a:ext cx="2215500" cy="17175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1" name="Google Shape;1551;p132"/>
            <p:cNvSpPr txBox="1"/>
            <p:nvPr/>
          </p:nvSpPr>
          <p:spPr>
            <a:xfrm>
              <a:off x="8342400" y="2857275"/>
              <a:ext cx="1826700" cy="4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435 rounded to the nearest 10 gives 440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" name="Google Shape;1556;p13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13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06698" y="811500"/>
            <a:ext cx="3206277" cy="238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graphicFrame>
        <p:nvGraphicFramePr>
          <p:cNvPr id="1559" name="Google Shape;1559;p133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0" name="Google Shape;1560;p133"/>
          <p:cNvSpPr txBox="1"/>
          <p:nvPr/>
        </p:nvSpPr>
        <p:spPr>
          <a:xfrm>
            <a:off x="18244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33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33"/>
          <p:cNvSpPr txBox="1"/>
          <p:nvPr/>
        </p:nvSpPr>
        <p:spPr>
          <a:xfrm>
            <a:off x="4426600" y="339067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3" name="Google Shape;1563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133"/>
          <p:cNvSpPr txBox="1"/>
          <p:nvPr/>
        </p:nvSpPr>
        <p:spPr>
          <a:xfrm>
            <a:off x="1312975" y="810000"/>
            <a:ext cx="30000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largest and smallest values of an unrounded number always an integer?</a:t>
            </a:r>
            <a:endParaRPr/>
          </a:p>
        </p:txBody>
      </p:sp>
      <p:sp>
        <p:nvSpPr>
          <p:cNvPr id="1565" name="Google Shape;1565;p133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6" name="Google Shape;1566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33"/>
          <p:cNvSpPr txBox="1"/>
          <p:nvPr>
            <p:ph idx="1" type="body"/>
          </p:nvPr>
        </p:nvSpPr>
        <p:spPr>
          <a:xfrm>
            <a:off x="4468337" y="830199"/>
            <a:ext cx="3085200" cy="165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Let’s find out! If</a:t>
            </a:r>
            <a:r>
              <a:rPr lang="en-GB" sz="1900"/>
              <a:t> 5 has been rounded to the nearest integer, what are the largest and smallest unrounded values?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568" name="Google Shape;1568;p133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p13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p13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06698" y="811500"/>
            <a:ext cx="3206277" cy="238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graphicFrame>
        <p:nvGraphicFramePr>
          <p:cNvPr id="1576" name="Google Shape;1576;p134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7" name="Google Shape;1577;p134"/>
          <p:cNvSpPr txBox="1"/>
          <p:nvPr/>
        </p:nvSpPr>
        <p:spPr>
          <a:xfrm>
            <a:off x="18244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34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134"/>
          <p:cNvSpPr txBox="1"/>
          <p:nvPr/>
        </p:nvSpPr>
        <p:spPr>
          <a:xfrm>
            <a:off x="4426600" y="339067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0" name="Google Shape;1580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134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2" name="Google Shape;1582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3" name="Google Shape;1583;p134"/>
          <p:cNvGrpSpPr/>
          <p:nvPr/>
        </p:nvGrpSpPr>
        <p:grpSpPr>
          <a:xfrm>
            <a:off x="3229588" y="3557425"/>
            <a:ext cx="2708605" cy="650100"/>
            <a:chOff x="4825850" y="3296750"/>
            <a:chExt cx="1524000" cy="650100"/>
          </a:xfrm>
        </p:grpSpPr>
        <p:cxnSp>
          <p:nvCxnSpPr>
            <p:cNvPr id="1584" name="Google Shape;1584;p134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134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586" name="Google Shape;1586;p134"/>
          <p:cNvSpPr txBox="1"/>
          <p:nvPr/>
        </p:nvSpPr>
        <p:spPr>
          <a:xfrm>
            <a:off x="3027780" y="32400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34"/>
          <p:cNvSpPr txBox="1"/>
          <p:nvPr/>
        </p:nvSpPr>
        <p:spPr>
          <a:xfrm>
            <a:off x="5714055" y="324840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4"/>
          <p:cNvSpPr txBox="1"/>
          <p:nvPr/>
        </p:nvSpPr>
        <p:spPr>
          <a:xfrm>
            <a:off x="1387200" y="1124025"/>
            <a:ext cx="28665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I’ve labelled the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halfway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points on the number line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34"/>
          <p:cNvSpPr txBox="1"/>
          <p:nvPr/>
        </p:nvSpPr>
        <p:spPr>
          <a:xfrm>
            <a:off x="4563913" y="924225"/>
            <a:ext cx="30000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Hmmm, let’s zoom in to see if we can find the largest number when rounded gives 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4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graphicFrame>
        <p:nvGraphicFramePr>
          <p:cNvPr id="1596" name="Google Shape;1596;p135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7" name="Google Shape;1597;p135"/>
          <p:cNvSpPr txBox="1"/>
          <p:nvPr/>
        </p:nvSpPr>
        <p:spPr>
          <a:xfrm>
            <a:off x="18244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5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5"/>
          <p:cNvSpPr txBox="1"/>
          <p:nvPr/>
        </p:nvSpPr>
        <p:spPr>
          <a:xfrm>
            <a:off x="4426600" y="339067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0" name="Google Shape;1600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p135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2" name="Google Shape;1602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3" name="Google Shape;1603;p135"/>
          <p:cNvGrpSpPr/>
          <p:nvPr/>
        </p:nvGrpSpPr>
        <p:grpSpPr>
          <a:xfrm>
            <a:off x="3229588" y="3557425"/>
            <a:ext cx="2708605" cy="650100"/>
            <a:chOff x="4825850" y="3296750"/>
            <a:chExt cx="1524000" cy="650100"/>
          </a:xfrm>
        </p:grpSpPr>
        <p:cxnSp>
          <p:nvCxnSpPr>
            <p:cNvPr id="1604" name="Google Shape;1604;p135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605" name="Google Shape;1605;p135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1606" name="Google Shape;1606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320389">
            <a:off x="-2172232" y="2261143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320389">
            <a:off x="-442794" y="2021543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8" name="Google Shape;1608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320389">
            <a:off x="759593" y="1849918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320389">
            <a:off x="2285456" y="1804655"/>
            <a:ext cx="4255194" cy="4255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35"/>
          <p:cNvSpPr txBox="1"/>
          <p:nvPr/>
        </p:nvSpPr>
        <p:spPr>
          <a:xfrm>
            <a:off x="5714055" y="324840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35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2" name="Google Shape;1612;p135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135"/>
          <p:cNvSpPr txBox="1"/>
          <p:nvPr/>
        </p:nvSpPr>
        <p:spPr>
          <a:xfrm>
            <a:off x="4563913" y="924225"/>
            <a:ext cx="30000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Hmmm, let’s zoom in to see if we can find the largest number when rounded gives 5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8" name="Google Shape;1618;p13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p13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06698" y="811500"/>
            <a:ext cx="3206277" cy="238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graphicFrame>
        <p:nvGraphicFramePr>
          <p:cNvPr id="1621" name="Google Shape;1621;p136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1059925"/>
                <a:gridCol w="1059925"/>
                <a:gridCol w="1059925"/>
                <a:gridCol w="1059925"/>
                <a:gridCol w="105992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2" name="Google Shape;1622;p136"/>
          <p:cNvSpPr txBox="1"/>
          <p:nvPr/>
        </p:nvSpPr>
        <p:spPr>
          <a:xfrm>
            <a:off x="18244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136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4" name="Google Shape;1624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36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6" name="Google Shape;1626;p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136"/>
          <p:cNvSpPr txBox="1"/>
          <p:nvPr/>
        </p:nvSpPr>
        <p:spPr>
          <a:xfrm>
            <a:off x="2811005" y="33963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36"/>
          <p:cNvSpPr txBox="1"/>
          <p:nvPr/>
        </p:nvSpPr>
        <p:spPr>
          <a:xfrm>
            <a:off x="3801605" y="33963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6"/>
          <p:cNvSpPr txBox="1"/>
          <p:nvPr/>
        </p:nvSpPr>
        <p:spPr>
          <a:xfrm>
            <a:off x="4868405" y="33963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36"/>
          <p:cNvSpPr txBox="1"/>
          <p:nvPr/>
        </p:nvSpPr>
        <p:spPr>
          <a:xfrm>
            <a:off x="5935205" y="33963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36"/>
          <p:cNvSpPr txBox="1"/>
          <p:nvPr/>
        </p:nvSpPr>
        <p:spPr>
          <a:xfrm>
            <a:off x="4495800" y="851925"/>
            <a:ext cx="32448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larger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number than 5.4 when rounded gives 5. Let’s zoom in again.</a:t>
            </a:r>
            <a:endParaRPr/>
          </a:p>
        </p:txBody>
      </p:sp>
      <p:sp>
        <p:nvSpPr>
          <p:cNvPr id="1632" name="Google Shape;1632;p136"/>
          <p:cNvSpPr txBox="1"/>
          <p:nvPr/>
        </p:nvSpPr>
        <p:spPr>
          <a:xfrm>
            <a:off x="1355900" y="954900"/>
            <a:ext cx="29085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 the largest number when rounded to 5 to the nearest integer 5.4?</a:t>
            </a:r>
            <a:endParaRPr sz="2100"/>
          </a:p>
        </p:txBody>
      </p:sp>
      <p:sp>
        <p:nvSpPr>
          <p:cNvPr id="1633" name="Google Shape;1633;p136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" name="Google Shape;1638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2054993" y="1545118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" name="Google Shape;1639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3580856" y="1499855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-876832" y="1956343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852606" y="1716743"/>
            <a:ext cx="4255194" cy="4255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pic>
        <p:nvPicPr>
          <p:cNvPr id="1643" name="Google Shape;1643;p13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4" name="Google Shape;1644;p137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1059925"/>
                <a:gridCol w="1059925"/>
                <a:gridCol w="1059925"/>
                <a:gridCol w="1059925"/>
                <a:gridCol w="105992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5" name="Google Shape;1645;p137"/>
          <p:cNvSpPr txBox="1"/>
          <p:nvPr/>
        </p:nvSpPr>
        <p:spPr>
          <a:xfrm>
            <a:off x="18244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37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7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8" name="Google Shape;1648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137"/>
          <p:cNvSpPr txBox="1"/>
          <p:nvPr/>
        </p:nvSpPr>
        <p:spPr>
          <a:xfrm>
            <a:off x="2811005" y="33963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37"/>
          <p:cNvSpPr txBox="1"/>
          <p:nvPr/>
        </p:nvSpPr>
        <p:spPr>
          <a:xfrm>
            <a:off x="3801605" y="33963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37"/>
          <p:cNvSpPr txBox="1"/>
          <p:nvPr/>
        </p:nvSpPr>
        <p:spPr>
          <a:xfrm>
            <a:off x="4868405" y="33963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37"/>
          <p:cNvSpPr txBox="1"/>
          <p:nvPr/>
        </p:nvSpPr>
        <p:spPr>
          <a:xfrm>
            <a:off x="5935205" y="33963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7"/>
          <p:cNvSpPr txBox="1"/>
          <p:nvPr/>
        </p:nvSpPr>
        <p:spPr>
          <a:xfrm>
            <a:off x="4495800" y="851925"/>
            <a:ext cx="32448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larger number than 5.4 when rounded gives 5. Let’s zoom in again.</a:t>
            </a:r>
            <a:endParaRPr/>
          </a:p>
        </p:txBody>
      </p:sp>
      <p:sp>
        <p:nvSpPr>
          <p:cNvPr id="1654" name="Google Shape;1654;p137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5" name="Google Shape;1655;p1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0" name="Google Shape;1660;p13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13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06698" y="811500"/>
            <a:ext cx="3206277" cy="238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2" name="Google Shape;1662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pic>
        <p:nvPicPr>
          <p:cNvPr id="1663" name="Google Shape;1663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138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5" name="Google Shape;1665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138"/>
          <p:cNvSpPr txBox="1"/>
          <p:nvPr/>
        </p:nvSpPr>
        <p:spPr>
          <a:xfrm>
            <a:off x="4419600" y="851925"/>
            <a:ext cx="32448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larger number than 5.49 when rounded gives 5. Let’s zoom in again.</a:t>
            </a:r>
            <a:endParaRPr/>
          </a:p>
        </p:txBody>
      </p:sp>
      <p:sp>
        <p:nvSpPr>
          <p:cNvPr id="1667" name="Google Shape;1667;p138"/>
          <p:cNvSpPr txBox="1"/>
          <p:nvPr/>
        </p:nvSpPr>
        <p:spPr>
          <a:xfrm>
            <a:off x="1375125" y="853900"/>
            <a:ext cx="28713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largest number when rounded to 5 to the nearest integer 5.49?</a:t>
            </a:r>
            <a:endParaRPr sz="2100"/>
          </a:p>
        </p:txBody>
      </p:sp>
      <p:sp>
        <p:nvSpPr>
          <p:cNvPr id="1668" name="Google Shape;1668;p138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9" name="Google Shape;1669;p138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0" name="Google Shape;1670;p138"/>
          <p:cNvSpPr txBox="1"/>
          <p:nvPr/>
        </p:nvSpPr>
        <p:spPr>
          <a:xfrm>
            <a:off x="16720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38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8"/>
          <p:cNvSpPr txBox="1"/>
          <p:nvPr/>
        </p:nvSpPr>
        <p:spPr>
          <a:xfrm>
            <a:off x="2662680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8"/>
          <p:cNvSpPr txBox="1"/>
          <p:nvPr/>
        </p:nvSpPr>
        <p:spPr>
          <a:xfrm>
            <a:off x="3718980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8"/>
          <p:cNvSpPr txBox="1"/>
          <p:nvPr/>
        </p:nvSpPr>
        <p:spPr>
          <a:xfrm>
            <a:off x="4746655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38"/>
          <p:cNvSpPr txBox="1"/>
          <p:nvPr/>
        </p:nvSpPr>
        <p:spPr>
          <a:xfrm>
            <a:off x="5906505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0" name="Google Shape;1680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2694306" y="1817268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" name="Google Shape;1681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4220168" y="1772005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2" name="Google Shape;1682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-237519" y="2228493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1491918" y="1988893"/>
            <a:ext cx="4255194" cy="4255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84" name="Google Shape;1684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pic>
        <p:nvPicPr>
          <p:cNvPr id="1685" name="Google Shape;1685;p13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6" name="Google Shape;1686;p139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7" name="Google Shape;1687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139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9" name="Google Shape;1689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39"/>
          <p:cNvSpPr txBox="1"/>
          <p:nvPr/>
        </p:nvSpPr>
        <p:spPr>
          <a:xfrm>
            <a:off x="4419600" y="851925"/>
            <a:ext cx="32448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larger number than 5.49 when rounded gives 5. Let’s zoom in again.</a:t>
            </a:r>
            <a:endParaRPr/>
          </a:p>
        </p:txBody>
      </p:sp>
      <p:graphicFrame>
        <p:nvGraphicFramePr>
          <p:cNvPr id="1691" name="Google Shape;1691;p139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2" name="Google Shape;1692;p139"/>
          <p:cNvSpPr txBox="1"/>
          <p:nvPr/>
        </p:nvSpPr>
        <p:spPr>
          <a:xfrm>
            <a:off x="16720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39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39"/>
          <p:cNvSpPr txBox="1"/>
          <p:nvPr/>
        </p:nvSpPr>
        <p:spPr>
          <a:xfrm>
            <a:off x="2662680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39"/>
          <p:cNvSpPr txBox="1"/>
          <p:nvPr/>
        </p:nvSpPr>
        <p:spPr>
          <a:xfrm>
            <a:off x="3718980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39"/>
          <p:cNvSpPr txBox="1"/>
          <p:nvPr/>
        </p:nvSpPr>
        <p:spPr>
          <a:xfrm>
            <a:off x="4746655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39"/>
          <p:cNvSpPr txBox="1"/>
          <p:nvPr/>
        </p:nvSpPr>
        <p:spPr>
          <a:xfrm>
            <a:off x="5906505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2" name="Google Shape;1702;p14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14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06698" y="811500"/>
            <a:ext cx="3206277" cy="238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graphicFrame>
        <p:nvGraphicFramePr>
          <p:cNvPr id="1705" name="Google Shape;1705;p140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6" name="Google Shape;1706;p140"/>
          <p:cNvSpPr txBox="1"/>
          <p:nvPr/>
        </p:nvSpPr>
        <p:spPr>
          <a:xfrm>
            <a:off x="15196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5.49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40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8" name="Google Shape;1708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140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0" name="Google Shape;1710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40"/>
          <p:cNvSpPr txBox="1"/>
          <p:nvPr/>
        </p:nvSpPr>
        <p:spPr>
          <a:xfrm>
            <a:off x="1374797" y="970050"/>
            <a:ext cx="29622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between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5.49 and 5.5, I have these intervals …</a:t>
            </a:r>
            <a:endParaRPr/>
          </a:p>
        </p:txBody>
      </p:sp>
      <p:sp>
        <p:nvSpPr>
          <p:cNvPr id="1712" name="Google Shape;1712;p140"/>
          <p:cNvSpPr txBox="1"/>
          <p:nvPr/>
        </p:nvSpPr>
        <p:spPr>
          <a:xfrm>
            <a:off x="4495800" y="928125"/>
            <a:ext cx="3058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t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is still a larger number than 5.499 when rounded gives 5 </a:t>
            </a:r>
            <a:endParaRPr/>
          </a:p>
        </p:txBody>
      </p:sp>
      <p:sp>
        <p:nvSpPr>
          <p:cNvPr id="1713" name="Google Shape;1713;p140"/>
          <p:cNvSpPr txBox="1"/>
          <p:nvPr/>
        </p:nvSpPr>
        <p:spPr>
          <a:xfrm>
            <a:off x="2619330" y="3396324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40"/>
          <p:cNvSpPr txBox="1"/>
          <p:nvPr/>
        </p:nvSpPr>
        <p:spPr>
          <a:xfrm>
            <a:off x="3718980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40"/>
          <p:cNvSpPr txBox="1"/>
          <p:nvPr/>
        </p:nvSpPr>
        <p:spPr>
          <a:xfrm>
            <a:off x="4746655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40"/>
          <p:cNvSpPr txBox="1"/>
          <p:nvPr/>
        </p:nvSpPr>
        <p:spPr>
          <a:xfrm>
            <a:off x="5906505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140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2" name="Google Shape;1722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2694306" y="1512468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3" name="Google Shape;1723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4220168" y="1467205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-237519" y="1923693"/>
            <a:ext cx="4255194" cy="42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89">
            <a:off x="1491918" y="1684093"/>
            <a:ext cx="4255194" cy="4255194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pic>
        <p:nvPicPr>
          <p:cNvPr id="1727" name="Google Shape;1727;p14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141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9" name="Google Shape;1729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141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1" name="Google Shape;1731;p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732" name="Google Shape;1732;p141"/>
          <p:cNvSpPr txBox="1"/>
          <p:nvPr/>
        </p:nvSpPr>
        <p:spPr>
          <a:xfrm>
            <a:off x="4419600" y="1309125"/>
            <a:ext cx="324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zoom in again.</a:t>
            </a:r>
            <a:endParaRPr/>
          </a:p>
        </p:txBody>
      </p:sp>
      <p:graphicFrame>
        <p:nvGraphicFramePr>
          <p:cNvPr id="1733" name="Google Shape;1733;p141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4" name="Google Shape;1734;p141"/>
          <p:cNvSpPr txBox="1"/>
          <p:nvPr/>
        </p:nvSpPr>
        <p:spPr>
          <a:xfrm>
            <a:off x="15196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5.49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41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41"/>
          <p:cNvSpPr txBox="1"/>
          <p:nvPr/>
        </p:nvSpPr>
        <p:spPr>
          <a:xfrm>
            <a:off x="2619330" y="3396324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41"/>
          <p:cNvSpPr txBox="1"/>
          <p:nvPr/>
        </p:nvSpPr>
        <p:spPr>
          <a:xfrm>
            <a:off x="3718980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41"/>
          <p:cNvSpPr txBox="1"/>
          <p:nvPr/>
        </p:nvSpPr>
        <p:spPr>
          <a:xfrm>
            <a:off x="4746655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1"/>
          <p:cNvSpPr txBox="1"/>
          <p:nvPr/>
        </p:nvSpPr>
        <p:spPr>
          <a:xfrm>
            <a:off x="5906505" y="3424999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14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09925" y="830200"/>
            <a:ext cx="3366702" cy="20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14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06698" y="811500"/>
            <a:ext cx="3206277" cy="238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graphicFrame>
        <p:nvGraphicFramePr>
          <p:cNvPr id="1747" name="Google Shape;1747;p142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  <a:gridCol w="5299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8" name="Google Shape;1748;p142"/>
          <p:cNvSpPr txBox="1"/>
          <p:nvPr/>
        </p:nvSpPr>
        <p:spPr>
          <a:xfrm>
            <a:off x="1381350" y="3390675"/>
            <a:ext cx="73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5.499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42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0" name="Google Shape;1750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1" name="Google Shape;1751;p142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2" name="Google Shape;1752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42"/>
          <p:cNvSpPr txBox="1"/>
          <p:nvPr/>
        </p:nvSpPr>
        <p:spPr>
          <a:xfrm>
            <a:off x="1924123" y="1584513"/>
            <a:ext cx="248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it 5.4999?</a:t>
            </a:r>
            <a:endParaRPr/>
          </a:p>
        </p:txBody>
      </p:sp>
      <p:sp>
        <p:nvSpPr>
          <p:cNvPr id="1754" name="Google Shape;1754;p142"/>
          <p:cNvSpPr txBox="1"/>
          <p:nvPr/>
        </p:nvSpPr>
        <p:spPr>
          <a:xfrm>
            <a:off x="4495800" y="928125"/>
            <a:ext cx="32448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larger number than 5.4999 when rounded gives 5</a:t>
            </a:r>
            <a:endParaRPr/>
          </a:p>
        </p:txBody>
      </p:sp>
      <p:sp>
        <p:nvSpPr>
          <p:cNvPr id="1755" name="Google Shape;1755;p142"/>
          <p:cNvSpPr txBox="1"/>
          <p:nvPr/>
        </p:nvSpPr>
        <p:spPr>
          <a:xfrm>
            <a:off x="2480900" y="3396325"/>
            <a:ext cx="73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5.4992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42"/>
          <p:cNvSpPr txBox="1"/>
          <p:nvPr/>
        </p:nvSpPr>
        <p:spPr>
          <a:xfrm>
            <a:off x="3580550" y="3425000"/>
            <a:ext cx="73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5.4994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42"/>
          <p:cNvSpPr txBox="1"/>
          <p:nvPr/>
        </p:nvSpPr>
        <p:spPr>
          <a:xfrm>
            <a:off x="4680200" y="3425000"/>
            <a:ext cx="73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5.4996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42"/>
          <p:cNvSpPr txBox="1"/>
          <p:nvPr/>
        </p:nvSpPr>
        <p:spPr>
          <a:xfrm>
            <a:off x="5906499" y="3425000"/>
            <a:ext cx="73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5.4998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42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4" name="Google Shape;1764;p14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46713" y="1010400"/>
            <a:ext cx="2402949" cy="15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pic>
        <p:nvPicPr>
          <p:cNvPr id="1766" name="Google Shape;1766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3750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43"/>
          <p:cNvSpPr txBox="1"/>
          <p:nvPr/>
        </p:nvSpPr>
        <p:spPr>
          <a:xfrm>
            <a:off x="7176150" y="2553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8" name="Google Shape;1768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8877" y="18801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143"/>
          <p:cNvSpPr txBox="1"/>
          <p:nvPr/>
        </p:nvSpPr>
        <p:spPr>
          <a:xfrm>
            <a:off x="2404053" y="876075"/>
            <a:ext cx="14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70" name="Google Shape;1770;p143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1" name="Google Shape;1771;p143"/>
          <p:cNvSpPr txBox="1"/>
          <p:nvPr/>
        </p:nvSpPr>
        <p:spPr>
          <a:xfrm>
            <a:off x="18244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43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43"/>
          <p:cNvSpPr txBox="1"/>
          <p:nvPr/>
        </p:nvSpPr>
        <p:spPr>
          <a:xfrm>
            <a:off x="4426600" y="339067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4" name="Google Shape;1774;p143"/>
          <p:cNvGrpSpPr/>
          <p:nvPr/>
        </p:nvGrpSpPr>
        <p:grpSpPr>
          <a:xfrm>
            <a:off x="3229588" y="3557425"/>
            <a:ext cx="2708605" cy="650100"/>
            <a:chOff x="4825850" y="3296750"/>
            <a:chExt cx="1524000" cy="650100"/>
          </a:xfrm>
        </p:grpSpPr>
        <p:cxnSp>
          <p:nvCxnSpPr>
            <p:cNvPr id="1775" name="Google Shape;1775;p143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776" name="Google Shape;1776;p143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777" name="Google Shape;1777;p143"/>
          <p:cNvSpPr txBox="1"/>
          <p:nvPr/>
        </p:nvSpPr>
        <p:spPr>
          <a:xfrm>
            <a:off x="3027780" y="32400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43"/>
          <p:cNvSpPr txBox="1"/>
          <p:nvPr/>
        </p:nvSpPr>
        <p:spPr>
          <a:xfrm>
            <a:off x="5714055" y="324840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43"/>
          <p:cNvSpPr txBox="1"/>
          <p:nvPr/>
        </p:nvSpPr>
        <p:spPr>
          <a:xfrm>
            <a:off x="117275" y="25017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0" name="Google Shape;1780;p143"/>
          <p:cNvGrpSpPr/>
          <p:nvPr/>
        </p:nvGrpSpPr>
        <p:grpSpPr>
          <a:xfrm>
            <a:off x="1187746" y="1147271"/>
            <a:ext cx="2373353" cy="879765"/>
            <a:chOff x="-1977300" y="2934375"/>
            <a:chExt cx="1977300" cy="924900"/>
          </a:xfrm>
        </p:grpSpPr>
        <p:sp>
          <p:nvSpPr>
            <p:cNvPr id="1781" name="Google Shape;1781;p143"/>
            <p:cNvSpPr txBox="1"/>
            <p:nvPr/>
          </p:nvSpPr>
          <p:spPr>
            <a:xfrm>
              <a:off x="-1977300" y="2934375"/>
              <a:ext cx="1977300" cy="9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So the </a:t>
              </a:r>
              <a:r>
                <a:rPr b="1"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range </a:t>
              </a: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is from 4.5 to 5.49</a:t>
              </a:r>
              <a:endPara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2" name="Google Shape;1782;p143"/>
            <p:cNvSpPr/>
            <p:nvPr/>
          </p:nvSpPr>
          <p:spPr>
            <a:xfrm flipH="1">
              <a:off x="-308648" y="3415575"/>
              <a:ext cx="27300" cy="282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44"/>
          <p:cNvSpPr txBox="1"/>
          <p:nvPr>
            <p:ph idx="1" type="body"/>
          </p:nvPr>
        </p:nvSpPr>
        <p:spPr>
          <a:xfrm>
            <a:off x="324000" y="694950"/>
            <a:ext cx="8496000" cy="165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We could zoom in an infinite number of times to see the largest unrounded number.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Recognising we are not using 5.5 but a number which is </a:t>
            </a:r>
            <a:r>
              <a:rPr lang="en-GB" sz="2100"/>
              <a:t>infinitely</a:t>
            </a:r>
            <a:r>
              <a:rPr lang="en-GB" sz="2100"/>
              <a:t> smaller than this gives 5.49 as </a:t>
            </a:r>
            <a:r>
              <a:rPr lang="en-GB" sz="2100"/>
              <a:t>the largest number. Thus the </a:t>
            </a:r>
            <a:r>
              <a:rPr b="1" lang="en-GB" sz="2100"/>
              <a:t>range </a:t>
            </a:r>
            <a:r>
              <a:rPr lang="en-GB" sz="2100"/>
              <a:t>of values for the unrounded number is 4.5 to 5.49  </a:t>
            </a:r>
            <a:endParaRPr sz="2100"/>
          </a:p>
        </p:txBody>
      </p:sp>
      <p:sp>
        <p:nvSpPr>
          <p:cNvPr id="1788" name="Google Shape;1788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graphicFrame>
        <p:nvGraphicFramePr>
          <p:cNvPr id="1789" name="Google Shape;1789;p144"/>
          <p:cNvGraphicFramePr/>
          <p:nvPr/>
        </p:nvGraphicFramePr>
        <p:xfrm>
          <a:off x="1890975" y="37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0" name="Google Shape;1790;p144"/>
          <p:cNvSpPr txBox="1"/>
          <p:nvPr/>
        </p:nvSpPr>
        <p:spPr>
          <a:xfrm>
            <a:off x="1824480" y="33906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44"/>
          <p:cNvSpPr txBox="1"/>
          <p:nvPr/>
        </p:nvSpPr>
        <p:spPr>
          <a:xfrm>
            <a:off x="7066351" y="33906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44"/>
          <p:cNvSpPr txBox="1"/>
          <p:nvPr/>
        </p:nvSpPr>
        <p:spPr>
          <a:xfrm>
            <a:off x="4426600" y="339067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3" name="Google Shape;1793;p144"/>
          <p:cNvGrpSpPr/>
          <p:nvPr/>
        </p:nvGrpSpPr>
        <p:grpSpPr>
          <a:xfrm>
            <a:off x="3229588" y="3557425"/>
            <a:ext cx="2708605" cy="650100"/>
            <a:chOff x="4825850" y="3296750"/>
            <a:chExt cx="1524000" cy="650100"/>
          </a:xfrm>
        </p:grpSpPr>
        <p:cxnSp>
          <p:nvCxnSpPr>
            <p:cNvPr id="1794" name="Google Shape;1794;p144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795" name="Google Shape;1795;p144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796" name="Google Shape;1796;p144"/>
          <p:cNvSpPr txBox="1"/>
          <p:nvPr/>
        </p:nvSpPr>
        <p:spPr>
          <a:xfrm>
            <a:off x="3027780" y="32400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44"/>
          <p:cNvSpPr txBox="1"/>
          <p:nvPr/>
        </p:nvSpPr>
        <p:spPr>
          <a:xfrm>
            <a:off x="5714055" y="324840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8" name="Google Shape;1798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320374">
            <a:off x="4484736" y="3054029"/>
            <a:ext cx="1873122" cy="1873116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44"/>
          <p:cNvSpPr/>
          <p:nvPr/>
        </p:nvSpPr>
        <p:spPr>
          <a:xfrm flipH="1">
            <a:off x="3718626" y="1935361"/>
            <a:ext cx="39000" cy="28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44"/>
          <p:cNvSpPr/>
          <p:nvPr/>
        </p:nvSpPr>
        <p:spPr>
          <a:xfrm flipH="1">
            <a:off x="6544830" y="2309557"/>
            <a:ext cx="39000" cy="28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45"/>
          <p:cNvSpPr txBox="1"/>
          <p:nvPr>
            <p:ph idx="1" type="body"/>
          </p:nvPr>
        </p:nvSpPr>
        <p:spPr>
          <a:xfrm>
            <a:off x="324000" y="759300"/>
            <a:ext cx="8237700" cy="42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the </a:t>
            </a:r>
            <a:r>
              <a:rPr b="1" lang="en-GB"/>
              <a:t>range</a:t>
            </a:r>
            <a:r>
              <a:rPr lang="en-GB"/>
              <a:t> of unrounded values when: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7 has been rounded to the nearest integer.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</a:t>
            </a:r>
            <a:r>
              <a:rPr lang="en-GB"/>
              <a:t>12 has been rounded to the nearest integer.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</a:t>
            </a:r>
            <a:r>
              <a:rPr lang="en-GB"/>
              <a:t>100 has been rounded to the nearest integer.</a:t>
            </a:r>
            <a:endParaRPr/>
          </a:p>
        </p:txBody>
      </p:sp>
      <p:sp>
        <p:nvSpPr>
          <p:cNvPr id="1806" name="Google Shape;1806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807" name="Google Shape;1807;p145"/>
          <p:cNvSpPr txBox="1"/>
          <p:nvPr/>
        </p:nvSpPr>
        <p:spPr>
          <a:xfrm>
            <a:off x="2400900" y="2770850"/>
            <a:ext cx="16404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8" name="Google Shape;1808;p145"/>
          <p:cNvSpPr txBox="1"/>
          <p:nvPr/>
        </p:nvSpPr>
        <p:spPr>
          <a:xfrm>
            <a:off x="2400900" y="1551650"/>
            <a:ext cx="16404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9" name="Google Shape;1809;p145"/>
          <p:cNvSpPr txBox="1"/>
          <p:nvPr/>
        </p:nvSpPr>
        <p:spPr>
          <a:xfrm>
            <a:off x="2400900" y="3913850"/>
            <a:ext cx="16404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10" name="Google Shape;1810;p145"/>
          <p:cNvGraphicFramePr/>
          <p:nvPr/>
        </p:nvGraphicFramePr>
        <p:xfrm>
          <a:off x="5191650" y="2031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1532625"/>
                <a:gridCol w="153262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1" name="Google Shape;1811;p145"/>
          <p:cNvSpPr txBox="1"/>
          <p:nvPr/>
        </p:nvSpPr>
        <p:spPr>
          <a:xfrm>
            <a:off x="8151851" y="1692538"/>
            <a:ext cx="4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2" name="Google Shape;1812;p145"/>
          <p:cNvSpPr txBox="1"/>
          <p:nvPr/>
        </p:nvSpPr>
        <p:spPr>
          <a:xfrm>
            <a:off x="6610125" y="1692538"/>
            <a:ext cx="22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13" name="Google Shape;1813;p145"/>
          <p:cNvGrpSpPr/>
          <p:nvPr/>
        </p:nvGrpSpPr>
        <p:grpSpPr>
          <a:xfrm>
            <a:off x="5952067" y="1997216"/>
            <a:ext cx="1530096" cy="409238"/>
            <a:chOff x="4825850" y="3296750"/>
            <a:chExt cx="1524000" cy="650100"/>
          </a:xfrm>
        </p:grpSpPr>
        <p:cxnSp>
          <p:nvCxnSpPr>
            <p:cNvPr id="1814" name="Google Shape;1814;p145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815" name="Google Shape;1815;p145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816" name="Google Shape;1816;p145"/>
          <p:cNvSpPr txBox="1"/>
          <p:nvPr/>
        </p:nvSpPr>
        <p:spPr>
          <a:xfrm>
            <a:off x="5764667" y="1768738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7" name="Google Shape;1817;p145"/>
          <p:cNvSpPr txBox="1"/>
          <p:nvPr/>
        </p:nvSpPr>
        <p:spPr>
          <a:xfrm>
            <a:off x="7326303" y="1735258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8" name="Google Shape;1818;p145"/>
          <p:cNvSpPr txBox="1"/>
          <p:nvPr/>
        </p:nvSpPr>
        <p:spPr>
          <a:xfrm>
            <a:off x="5066077" y="1692538"/>
            <a:ext cx="4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19" name="Google Shape;1819;p145"/>
          <p:cNvGraphicFramePr/>
          <p:nvPr/>
        </p:nvGraphicFramePr>
        <p:xfrm>
          <a:off x="5191650" y="325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1532625"/>
                <a:gridCol w="153262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0" name="Google Shape;1820;p145"/>
          <p:cNvSpPr txBox="1"/>
          <p:nvPr/>
        </p:nvSpPr>
        <p:spPr>
          <a:xfrm>
            <a:off x="8151851" y="2911738"/>
            <a:ext cx="4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13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1" name="Google Shape;1821;p145"/>
          <p:cNvSpPr txBox="1"/>
          <p:nvPr/>
        </p:nvSpPr>
        <p:spPr>
          <a:xfrm>
            <a:off x="6610125" y="2911738"/>
            <a:ext cx="22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22" name="Google Shape;1822;p145"/>
          <p:cNvGrpSpPr/>
          <p:nvPr/>
        </p:nvGrpSpPr>
        <p:grpSpPr>
          <a:xfrm>
            <a:off x="5952067" y="3216416"/>
            <a:ext cx="1530096" cy="409238"/>
            <a:chOff x="4825850" y="3296750"/>
            <a:chExt cx="1524000" cy="650100"/>
          </a:xfrm>
        </p:grpSpPr>
        <p:cxnSp>
          <p:nvCxnSpPr>
            <p:cNvPr id="1823" name="Google Shape;1823;p145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824" name="Google Shape;1824;p145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825" name="Google Shape;1825;p145"/>
          <p:cNvSpPr txBox="1"/>
          <p:nvPr/>
        </p:nvSpPr>
        <p:spPr>
          <a:xfrm>
            <a:off x="5764667" y="2987938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6" name="Google Shape;1826;p145"/>
          <p:cNvSpPr txBox="1"/>
          <p:nvPr/>
        </p:nvSpPr>
        <p:spPr>
          <a:xfrm>
            <a:off x="7326303" y="2954458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7" name="Google Shape;1827;p145"/>
          <p:cNvSpPr txBox="1"/>
          <p:nvPr/>
        </p:nvSpPr>
        <p:spPr>
          <a:xfrm>
            <a:off x="5066077" y="2911738"/>
            <a:ext cx="4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28" name="Google Shape;1828;p145"/>
          <p:cNvGraphicFramePr/>
          <p:nvPr/>
        </p:nvGraphicFramePr>
        <p:xfrm>
          <a:off x="5191650" y="4393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1532625"/>
                <a:gridCol w="153262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9" name="Google Shape;1829;p145"/>
          <p:cNvSpPr txBox="1"/>
          <p:nvPr/>
        </p:nvSpPr>
        <p:spPr>
          <a:xfrm>
            <a:off x="8075651" y="4054738"/>
            <a:ext cx="4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101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0" name="Google Shape;1830;p145"/>
          <p:cNvSpPr txBox="1"/>
          <p:nvPr/>
        </p:nvSpPr>
        <p:spPr>
          <a:xfrm>
            <a:off x="6581650" y="4054750"/>
            <a:ext cx="3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31" name="Google Shape;1831;p145"/>
          <p:cNvGrpSpPr/>
          <p:nvPr/>
        </p:nvGrpSpPr>
        <p:grpSpPr>
          <a:xfrm>
            <a:off x="5952067" y="4359416"/>
            <a:ext cx="1530096" cy="409238"/>
            <a:chOff x="4825850" y="3296750"/>
            <a:chExt cx="1524000" cy="650100"/>
          </a:xfrm>
        </p:grpSpPr>
        <p:cxnSp>
          <p:nvCxnSpPr>
            <p:cNvPr id="1832" name="Google Shape;1832;p145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833" name="Google Shape;1833;p145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834" name="Google Shape;1834;p145"/>
          <p:cNvSpPr txBox="1"/>
          <p:nvPr/>
        </p:nvSpPr>
        <p:spPr>
          <a:xfrm>
            <a:off x="5764667" y="4130938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99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5" name="Google Shape;1835;p145"/>
          <p:cNvSpPr txBox="1"/>
          <p:nvPr/>
        </p:nvSpPr>
        <p:spPr>
          <a:xfrm>
            <a:off x="7326303" y="4097458"/>
            <a:ext cx="59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6" name="Google Shape;1836;p145"/>
          <p:cNvSpPr txBox="1"/>
          <p:nvPr/>
        </p:nvSpPr>
        <p:spPr>
          <a:xfrm>
            <a:off x="5066077" y="4054738"/>
            <a:ext cx="4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99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7.4\dot{9}\\&amp;#13;&amp;#10;6.5\\&amp;#13;&amp;#10;12.4\dot{9}\\&amp;#13;&amp;#10;11.5\\&amp;#13;&amp;#10;100.4\dot{9}\\&amp;#13;&amp;#10;99.5\end{array}&quot;&gt;&lt;mtable columnalign=&quot;left&quot; columnspacing=&quot;1em&quot; rowspacing=&quot;4pt&quot;&gt;&lt;mtr&gt;&lt;mtd&gt;&lt;mn&gt;7.4&lt;/mn&gt;&lt;mrow data-mjx-texclass=&quot;ORD&quot;&gt;&lt;mover&gt;&lt;mn&gt;9&lt;/mn&gt;&lt;mo&gt;˙&lt;/mo&gt;&lt;/mover&gt;&lt;/mrow&gt;&lt;/mtd&gt;&lt;/mtr&gt;&lt;mtr&gt;&lt;mtd&gt;&lt;mn&gt;6.5&lt;/mn&gt;&lt;/mtd&gt;&lt;/mtr&gt;&lt;mtr&gt;&lt;mtd&gt;&lt;mn&gt;12.4&lt;/mn&gt;&lt;mrow data-mjx-texclass=&quot;ORD&quot;&gt;&lt;mover&gt;&lt;mn&gt;9&lt;/mn&gt;&lt;mo&gt;˙&lt;/mo&gt;&lt;/mover&gt;&lt;/mrow&gt;&lt;/mtd&gt;&lt;/mtr&gt;&lt;mtr&gt;&lt;mtd&gt;&lt;mn&gt;11.5&lt;/mn&gt;&lt;/mtd&gt;&lt;/mtr&gt;&lt;mtr&gt;&lt;mtd&gt;&lt;mn&gt;100.4&lt;/mn&gt;&lt;mrow data-mjx-texclass=&quot;ORD&quot;&gt;&lt;mover&gt;&lt;mn&gt;9&lt;/mn&gt;&lt;mo&gt;˙&lt;/mo&gt;&lt;/mover&gt;&lt;/mrow&gt;&lt;/mtd&gt;&lt;/mtr&gt;&lt;mtr&gt;&lt;mtd&gt;&lt;mn&gt;99.5&lt;/mn&gt;&lt;/mtd&gt;&lt;/mtr&gt;&lt;/mtable&gt;&lt;/math&gt;" id="1837" name="Google Shape;1837;p145" title="6 lines Line 1: the repeating decimal 7.4 followed by repeating digit 9 Line 2: 6.5 Line 3: the repeating decimal 12.4 followed by repeating digit 9 Line 4: 11.5 Line 5: the repeating decimal 100.4 followed by repeating digit 9 Line 6: 99.5"/>
          <p:cNvPicPr preferRelativeResize="0"/>
          <p:nvPr/>
        </p:nvPicPr>
        <p:blipFill rotWithShape="1">
          <a:blip r:embed="rId3">
            <a:alphaModFix/>
          </a:blip>
          <a:srcRect b="69261" l="0" r="0" t="0"/>
          <a:stretch/>
        </p:blipFill>
        <p:spPr>
          <a:xfrm>
            <a:off x="3717525" y="1620000"/>
            <a:ext cx="691575" cy="636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7.4\dot{9}\\&amp;#13;&amp;#10;6.5\\&amp;#13;&amp;#10;12.4\dot{9}\\&amp;#13;&amp;#10;11.5\\&amp;#13;&amp;#10;100.4\dot{9}\\&amp;#13;&amp;#10;99.5\end{array}&quot;&gt;&lt;mtable columnalign=&quot;left&quot; columnspacing=&quot;1em&quot; rowspacing=&quot;4pt&quot;&gt;&lt;mtr&gt;&lt;mtd&gt;&lt;mn&gt;7.4&lt;/mn&gt;&lt;mrow data-mjx-texclass=&quot;ORD&quot;&gt;&lt;mover&gt;&lt;mn&gt;9&lt;/mn&gt;&lt;mo&gt;˙&lt;/mo&gt;&lt;/mover&gt;&lt;/mrow&gt;&lt;/mtd&gt;&lt;/mtr&gt;&lt;mtr&gt;&lt;mtd&gt;&lt;mn&gt;6.5&lt;/mn&gt;&lt;/mtd&gt;&lt;/mtr&gt;&lt;mtr&gt;&lt;mtd&gt;&lt;mn&gt;12.4&lt;/mn&gt;&lt;mrow data-mjx-texclass=&quot;ORD&quot;&gt;&lt;mover&gt;&lt;mn&gt;9&lt;/mn&gt;&lt;mo&gt;˙&lt;/mo&gt;&lt;/mover&gt;&lt;/mrow&gt;&lt;/mtd&gt;&lt;/mtr&gt;&lt;mtr&gt;&lt;mtd&gt;&lt;mn&gt;11.5&lt;/mn&gt;&lt;/mtd&gt;&lt;/mtr&gt;&lt;mtr&gt;&lt;mtd&gt;&lt;mn&gt;100.4&lt;/mn&gt;&lt;mrow data-mjx-texclass=&quot;ORD&quot;&gt;&lt;mover&gt;&lt;mn&gt;9&lt;/mn&gt;&lt;mo&gt;˙&lt;/mo&gt;&lt;/mover&gt;&lt;/mrow&gt;&lt;/mtd&gt;&lt;/mtr&gt;&lt;mtr&gt;&lt;mtd&gt;&lt;mn&gt;99.5&lt;/mn&gt;&lt;/mtd&gt;&lt;/mtr&gt;&lt;/mtable&gt;&lt;/math&gt;" id="1838" name="Google Shape;1838;p145" title="6 lines Line 1: the repeating decimal 7.4 followed by repeating digit 9 Line 2: 6.5 Line 3: the repeating decimal 12.4 followed by repeating digit 9 Line 4: 11.5 Line 5: the repeating decimal 100.4 followed by repeating digit 9 Line 6: 99.5"/>
          <p:cNvPicPr preferRelativeResize="0"/>
          <p:nvPr/>
        </p:nvPicPr>
        <p:blipFill rotWithShape="1">
          <a:blip r:embed="rId3">
            <a:alphaModFix/>
          </a:blip>
          <a:srcRect b="31570" l="0" r="0" t="31540"/>
          <a:stretch/>
        </p:blipFill>
        <p:spPr>
          <a:xfrm>
            <a:off x="3673425" y="2770850"/>
            <a:ext cx="691575" cy="764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7.4\dot{9}\\&amp;#13;&amp;#10;6.5\\&amp;#13;&amp;#10;12.4\dot{9}\\&amp;#13;&amp;#10;11.5\\&amp;#13;&amp;#10;100.4\dot{9}\\&amp;#13;&amp;#10;99.5\end{array}&quot;&gt;&lt;mtable columnalign=&quot;left&quot; columnspacing=&quot;1em&quot; rowspacing=&quot;4pt&quot;&gt;&lt;mtr&gt;&lt;mtd&gt;&lt;mn&gt;7.4&lt;/mn&gt;&lt;mrow data-mjx-texclass=&quot;ORD&quot;&gt;&lt;mover&gt;&lt;mn&gt;9&lt;/mn&gt;&lt;mo&gt;˙&lt;/mo&gt;&lt;/mover&gt;&lt;/mrow&gt;&lt;/mtd&gt;&lt;/mtr&gt;&lt;mtr&gt;&lt;mtd&gt;&lt;mn&gt;6.5&lt;/mn&gt;&lt;/mtd&gt;&lt;/mtr&gt;&lt;mtr&gt;&lt;mtd&gt;&lt;mn&gt;12.4&lt;/mn&gt;&lt;mrow data-mjx-texclass=&quot;ORD&quot;&gt;&lt;mover&gt;&lt;mn&gt;9&lt;/mn&gt;&lt;mo&gt;˙&lt;/mo&gt;&lt;/mover&gt;&lt;/mrow&gt;&lt;/mtd&gt;&lt;/mtr&gt;&lt;mtr&gt;&lt;mtd&gt;&lt;mn&gt;11.5&lt;/mn&gt;&lt;/mtd&gt;&lt;/mtr&gt;&lt;mtr&gt;&lt;mtd&gt;&lt;mn&gt;100.4&lt;/mn&gt;&lt;mrow data-mjx-texclass=&quot;ORD&quot;&gt;&lt;mover&gt;&lt;mn&gt;9&lt;/mn&gt;&lt;mo&gt;˙&lt;/mo&gt;&lt;/mover&gt;&lt;/mrow&gt;&lt;/mtd&gt;&lt;/mtr&gt;&lt;mtr&gt;&lt;mtd&gt;&lt;mn&gt;99.5&lt;/mn&gt;&lt;/mtd&gt;&lt;/mtr&gt;&lt;/mtable&gt;&lt;/math&gt;" id="1839" name="Google Shape;1839;p145" title="6 lines Line 1: the repeating decimal 7.4 followed by repeating digit 9 Line 2: 6.5 Line 3: the repeating decimal 12.4 followed by repeating digit 9 Line 4: 11.5 Line 5: the repeating decimal 100.4 followed by repeating digit 9 Line 6: 99.5"/>
          <p:cNvPicPr preferRelativeResize="0"/>
          <p:nvPr/>
        </p:nvPicPr>
        <p:blipFill rotWithShape="1">
          <a:blip r:embed="rId3">
            <a:alphaModFix/>
          </a:blip>
          <a:srcRect b="0" l="0" r="0" t="67427"/>
          <a:stretch/>
        </p:blipFill>
        <p:spPr>
          <a:xfrm>
            <a:off x="3673425" y="3990050"/>
            <a:ext cx="691575" cy="674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845" name="Google Shape;1845;p146"/>
          <p:cNvSpPr txBox="1"/>
          <p:nvPr/>
        </p:nvSpPr>
        <p:spPr>
          <a:xfrm>
            <a:off x="324000" y="784427"/>
            <a:ext cx="82377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When trying to work out 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unrounded numbers with units, it is important to focus on which units are given and compare to the degree of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2.13 m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Which digit represents the integer cm?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6" name="Google Shape;1846;p146"/>
          <p:cNvGraphicFramePr/>
          <p:nvPr/>
        </p:nvGraphicFramePr>
        <p:xfrm>
          <a:off x="524838" y="3502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726525"/>
                <a:gridCol w="726525"/>
                <a:gridCol w="726525"/>
                <a:gridCol w="726525"/>
                <a:gridCol w="688375"/>
                <a:gridCol w="802825"/>
                <a:gridCol w="688375"/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7" name="Google Shape;1847;p146"/>
          <p:cNvSpPr/>
          <p:nvPr/>
        </p:nvSpPr>
        <p:spPr>
          <a:xfrm>
            <a:off x="4222250" y="3644675"/>
            <a:ext cx="618000" cy="17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146"/>
          <p:cNvSpPr txBox="1"/>
          <p:nvPr/>
        </p:nvSpPr>
        <p:spPr>
          <a:xfrm>
            <a:off x="4123050" y="3960400"/>
            <a:ext cx="8013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9" name="Google Shape;1849;p146"/>
          <p:cNvSpPr txBox="1"/>
          <p:nvPr/>
        </p:nvSpPr>
        <p:spPr>
          <a:xfrm>
            <a:off x="4554894" y="3903419"/>
            <a:ext cx="7281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0" name="Google Shape;1850;p146"/>
          <p:cNvSpPr txBox="1"/>
          <p:nvPr/>
        </p:nvSpPr>
        <p:spPr>
          <a:xfrm>
            <a:off x="4885050" y="3960400"/>
            <a:ext cx="8013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1" name="Google Shape;1851;p146"/>
          <p:cNvSpPr txBox="1"/>
          <p:nvPr/>
        </p:nvSpPr>
        <p:spPr>
          <a:xfrm>
            <a:off x="5614075" y="3960400"/>
            <a:ext cx="8013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2" name="Google Shape;1852;p146"/>
          <p:cNvSpPr txBox="1"/>
          <p:nvPr/>
        </p:nvSpPr>
        <p:spPr>
          <a:xfrm>
            <a:off x="5774400" y="2306975"/>
            <a:ext cx="27423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3 represents the integer cm.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858" name="Google Shape;1858;p147"/>
          <p:cNvSpPr txBox="1"/>
          <p:nvPr/>
        </p:nvSpPr>
        <p:spPr>
          <a:xfrm>
            <a:off x="324000" y="784427"/>
            <a:ext cx="82377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When trying to work out the largest and smallest unrounded numbers with units, it is important to focus on which units are given and compare to the degree of accuracy.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2.13 m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2.13 m has been rounded to the nearest cm. What are the largest and smallest unrounded values?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59" name="Google Shape;1859;p147"/>
          <p:cNvGraphicFramePr/>
          <p:nvPr/>
        </p:nvGraphicFramePr>
        <p:xfrm>
          <a:off x="2119575" y="157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0" name="Google Shape;1860;p147"/>
          <p:cNvSpPr txBox="1"/>
          <p:nvPr/>
        </p:nvSpPr>
        <p:spPr>
          <a:xfrm>
            <a:off x="4518100" y="1180875"/>
            <a:ext cx="94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213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47"/>
          <p:cNvSpPr txBox="1"/>
          <p:nvPr/>
        </p:nvSpPr>
        <p:spPr>
          <a:xfrm>
            <a:off x="6977925" y="1180875"/>
            <a:ext cx="94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214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47"/>
          <p:cNvSpPr txBox="1"/>
          <p:nvPr/>
        </p:nvSpPr>
        <p:spPr>
          <a:xfrm>
            <a:off x="1617600" y="1172388"/>
            <a:ext cx="94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212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3" name="Google Shape;1863;p147"/>
          <p:cNvGrpSpPr/>
          <p:nvPr/>
        </p:nvGrpSpPr>
        <p:grpSpPr>
          <a:xfrm>
            <a:off x="2878726" y="1081464"/>
            <a:ext cx="3825300" cy="916261"/>
            <a:chOff x="2878726" y="1081464"/>
            <a:chExt cx="3825300" cy="916261"/>
          </a:xfrm>
        </p:grpSpPr>
        <p:grpSp>
          <p:nvGrpSpPr>
            <p:cNvPr id="1864" name="Google Shape;1864;p147"/>
            <p:cNvGrpSpPr/>
            <p:nvPr/>
          </p:nvGrpSpPr>
          <p:grpSpPr>
            <a:xfrm>
              <a:off x="3458188" y="1347625"/>
              <a:ext cx="2708605" cy="650100"/>
              <a:chOff x="4825850" y="3296750"/>
              <a:chExt cx="1524000" cy="650100"/>
            </a:xfrm>
          </p:grpSpPr>
          <p:cxnSp>
            <p:nvCxnSpPr>
              <p:cNvPr id="1865" name="Google Shape;1865;p147"/>
              <p:cNvCxnSpPr/>
              <p:nvPr/>
            </p:nvCxnSpPr>
            <p:spPr>
              <a:xfrm>
                <a:off x="6349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6" name="Google Shape;1866;p147"/>
              <p:cNvCxnSpPr/>
              <p:nvPr/>
            </p:nvCxnSpPr>
            <p:spPr>
              <a:xfrm>
                <a:off x="4825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67" name="Google Shape;1867;p147"/>
            <p:cNvSpPr txBox="1"/>
            <p:nvPr/>
          </p:nvSpPr>
          <p:spPr>
            <a:xfrm>
              <a:off x="2878726" y="1081464"/>
              <a:ext cx="100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212.5</a:t>
              </a:r>
              <a:endParaRPr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68" name="Google Shape;1868;p147"/>
            <p:cNvSpPr txBox="1"/>
            <p:nvPr/>
          </p:nvSpPr>
          <p:spPr>
            <a:xfrm>
              <a:off x="5698126" y="1081464"/>
              <a:ext cx="1005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213.5</a:t>
              </a:r>
              <a:endParaRPr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869" name="Google Shape;1869;p147"/>
          <p:cNvSpPr txBox="1"/>
          <p:nvPr/>
        </p:nvSpPr>
        <p:spPr>
          <a:xfrm>
            <a:off x="312150" y="3716650"/>
            <a:ext cx="71070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Smallest unrounded number : 212.5 cm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0" name="Google Shape;1870;p147"/>
          <p:cNvSpPr txBox="1"/>
          <p:nvPr/>
        </p:nvSpPr>
        <p:spPr>
          <a:xfrm>
            <a:off x="319437" y="4200382"/>
            <a:ext cx="68037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Largest unrounded number : 213.49 cm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1" name="Google Shape;1871;p147"/>
          <p:cNvSpPr/>
          <p:nvPr/>
        </p:nvSpPr>
        <p:spPr>
          <a:xfrm flipH="1">
            <a:off x="5500110" y="4255389"/>
            <a:ext cx="39000" cy="28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47"/>
          <p:cNvSpPr txBox="1"/>
          <p:nvPr/>
        </p:nvSpPr>
        <p:spPr>
          <a:xfrm>
            <a:off x="1288944" y="2419931"/>
            <a:ext cx="520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 we know        = 213 cm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48"/>
          <p:cNvSpPr txBox="1"/>
          <p:nvPr>
            <p:ph idx="1" type="body"/>
          </p:nvPr>
        </p:nvSpPr>
        <p:spPr>
          <a:xfrm>
            <a:off x="400200" y="759300"/>
            <a:ext cx="8349000" cy="41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5.126 km has been rounded to the nearest m. What is the </a:t>
            </a:r>
            <a:r>
              <a:rPr b="1" lang="en-GB" sz="1800"/>
              <a:t>range</a:t>
            </a:r>
            <a:r>
              <a:rPr lang="en-GB" sz="1800"/>
              <a:t> of</a:t>
            </a:r>
            <a:r>
              <a:rPr lang="en-GB" sz="1800"/>
              <a:t> unrounded values?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21.3 cm has been rounded to the nearest mm. What is the </a:t>
            </a:r>
            <a:r>
              <a:rPr b="1" lang="en-GB" sz="1800"/>
              <a:t>range</a:t>
            </a:r>
            <a:r>
              <a:rPr lang="en-GB" sz="1800"/>
              <a:t> of</a:t>
            </a:r>
            <a:r>
              <a:rPr lang="en-GB" sz="1800"/>
              <a:t> unrounded values?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8" name="Google Shape;1878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graphicFrame>
        <p:nvGraphicFramePr>
          <p:cNvPr id="1879" name="Google Shape;1879;p148"/>
          <p:cNvGraphicFramePr/>
          <p:nvPr/>
        </p:nvGraphicFramePr>
        <p:xfrm>
          <a:off x="4510679" y="112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598075"/>
                <a:gridCol w="598075"/>
                <a:gridCol w="559900"/>
                <a:gridCol w="657800"/>
                <a:gridCol w="576525"/>
                <a:gridCol w="598075"/>
                <a:gridCol w="5980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0" name="Google Shape;1880;p148"/>
          <p:cNvSpPr/>
          <p:nvPr/>
        </p:nvSpPr>
        <p:spPr>
          <a:xfrm>
            <a:off x="6273324" y="1207775"/>
            <a:ext cx="623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81" name="Google Shape;1881;p148"/>
          <p:cNvGraphicFramePr/>
          <p:nvPr/>
        </p:nvGraphicFramePr>
        <p:xfrm>
          <a:off x="3338775" y="240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2" name="Google Shape;1882;p148"/>
          <p:cNvSpPr txBox="1"/>
          <p:nvPr/>
        </p:nvSpPr>
        <p:spPr>
          <a:xfrm>
            <a:off x="5813500" y="2019075"/>
            <a:ext cx="94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5126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3" name="Google Shape;1883;p148"/>
          <p:cNvSpPr txBox="1"/>
          <p:nvPr/>
        </p:nvSpPr>
        <p:spPr>
          <a:xfrm>
            <a:off x="8197125" y="2095275"/>
            <a:ext cx="94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5127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4" name="Google Shape;1884;p148"/>
          <p:cNvSpPr txBox="1"/>
          <p:nvPr/>
        </p:nvSpPr>
        <p:spPr>
          <a:xfrm>
            <a:off x="2913000" y="2086788"/>
            <a:ext cx="94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5125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85" name="Google Shape;1885;p148"/>
          <p:cNvGrpSpPr/>
          <p:nvPr/>
        </p:nvGrpSpPr>
        <p:grpSpPr>
          <a:xfrm>
            <a:off x="4326526" y="1995864"/>
            <a:ext cx="3672900" cy="840061"/>
            <a:chOff x="3031126" y="1157664"/>
            <a:chExt cx="3672900" cy="840061"/>
          </a:xfrm>
        </p:grpSpPr>
        <p:grpSp>
          <p:nvGrpSpPr>
            <p:cNvPr id="1886" name="Google Shape;1886;p148"/>
            <p:cNvGrpSpPr/>
            <p:nvPr/>
          </p:nvGrpSpPr>
          <p:grpSpPr>
            <a:xfrm>
              <a:off x="3458188" y="1347625"/>
              <a:ext cx="2708605" cy="650100"/>
              <a:chOff x="4825850" y="3296750"/>
              <a:chExt cx="1524000" cy="650100"/>
            </a:xfrm>
          </p:grpSpPr>
          <p:cxnSp>
            <p:nvCxnSpPr>
              <p:cNvPr id="1887" name="Google Shape;1887;p148"/>
              <p:cNvCxnSpPr/>
              <p:nvPr/>
            </p:nvCxnSpPr>
            <p:spPr>
              <a:xfrm>
                <a:off x="6349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8" name="Google Shape;1888;p148"/>
              <p:cNvCxnSpPr/>
              <p:nvPr/>
            </p:nvCxnSpPr>
            <p:spPr>
              <a:xfrm>
                <a:off x="4825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89" name="Google Shape;1889;p148"/>
            <p:cNvSpPr txBox="1"/>
            <p:nvPr/>
          </p:nvSpPr>
          <p:spPr>
            <a:xfrm>
              <a:off x="3031126" y="1157664"/>
              <a:ext cx="100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5125</a:t>
              </a: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.5</a:t>
              </a:r>
              <a:endParaRPr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90" name="Google Shape;1890;p148"/>
            <p:cNvSpPr txBox="1"/>
            <p:nvPr/>
          </p:nvSpPr>
          <p:spPr>
            <a:xfrm>
              <a:off x="5698126" y="1157664"/>
              <a:ext cx="100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5126.5</a:t>
              </a:r>
              <a:endParaRPr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891" name="Google Shape;1891;p148"/>
          <p:cNvSpPr txBox="1"/>
          <p:nvPr/>
        </p:nvSpPr>
        <p:spPr>
          <a:xfrm>
            <a:off x="400200" y="1313925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5125.5 m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5126.49 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2" name="Google Shape;1892;p148"/>
          <p:cNvSpPr txBox="1"/>
          <p:nvPr/>
        </p:nvSpPr>
        <p:spPr>
          <a:xfrm>
            <a:off x="476400" y="3381500"/>
            <a:ext cx="27945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212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.5 mm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213.49 mm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3" name="Google Shape;1893;p148"/>
          <p:cNvSpPr/>
          <p:nvPr/>
        </p:nvSpPr>
        <p:spPr>
          <a:xfrm flipH="1">
            <a:off x="2486286" y="1740789"/>
            <a:ext cx="39000" cy="28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94" name="Google Shape;1894;p148"/>
          <p:cNvGraphicFramePr/>
          <p:nvPr/>
        </p:nvGraphicFramePr>
        <p:xfrm>
          <a:off x="4081241" y="326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572100"/>
                <a:gridCol w="572100"/>
                <a:gridCol w="481375"/>
                <a:gridCol w="683450"/>
                <a:gridCol w="551475"/>
                <a:gridCol w="572100"/>
                <a:gridCol w="572100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95" name="Google Shape;1895;p148"/>
          <p:cNvGraphicFramePr/>
          <p:nvPr/>
        </p:nvGraphicFramePr>
        <p:xfrm>
          <a:off x="3110175" y="454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96" name="Google Shape;1896;p148"/>
          <p:cNvGrpSpPr/>
          <p:nvPr/>
        </p:nvGrpSpPr>
        <p:grpSpPr>
          <a:xfrm>
            <a:off x="4098225" y="4218308"/>
            <a:ext cx="3804700" cy="560898"/>
            <a:chOff x="3031426" y="991810"/>
            <a:chExt cx="3804700" cy="1005915"/>
          </a:xfrm>
        </p:grpSpPr>
        <p:grpSp>
          <p:nvGrpSpPr>
            <p:cNvPr id="1897" name="Google Shape;1897;p148"/>
            <p:cNvGrpSpPr/>
            <p:nvPr/>
          </p:nvGrpSpPr>
          <p:grpSpPr>
            <a:xfrm>
              <a:off x="3458188" y="1347625"/>
              <a:ext cx="2708605" cy="650100"/>
              <a:chOff x="4825850" y="3296750"/>
              <a:chExt cx="1524000" cy="650100"/>
            </a:xfrm>
          </p:grpSpPr>
          <p:cxnSp>
            <p:nvCxnSpPr>
              <p:cNvPr id="1898" name="Google Shape;1898;p148"/>
              <p:cNvCxnSpPr/>
              <p:nvPr/>
            </p:nvCxnSpPr>
            <p:spPr>
              <a:xfrm>
                <a:off x="6349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9" name="Google Shape;1899;p148"/>
              <p:cNvCxnSpPr/>
              <p:nvPr/>
            </p:nvCxnSpPr>
            <p:spPr>
              <a:xfrm>
                <a:off x="4825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00" name="Google Shape;1900;p148"/>
            <p:cNvSpPr txBox="1"/>
            <p:nvPr/>
          </p:nvSpPr>
          <p:spPr>
            <a:xfrm>
              <a:off x="3031426" y="991810"/>
              <a:ext cx="1005900" cy="49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212</a:t>
              </a: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.5</a:t>
              </a:r>
              <a:endParaRPr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01" name="Google Shape;1901;p148"/>
            <p:cNvSpPr txBox="1"/>
            <p:nvPr/>
          </p:nvSpPr>
          <p:spPr>
            <a:xfrm>
              <a:off x="5830226" y="991810"/>
              <a:ext cx="1005900" cy="49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213</a:t>
              </a: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.5</a:t>
              </a:r>
              <a:endParaRPr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902" name="Google Shape;1902;p148"/>
          <p:cNvSpPr txBox="1"/>
          <p:nvPr/>
        </p:nvSpPr>
        <p:spPr>
          <a:xfrm>
            <a:off x="5584900" y="4152675"/>
            <a:ext cx="94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213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3" name="Google Shape;1903;p148"/>
          <p:cNvSpPr txBox="1"/>
          <p:nvPr/>
        </p:nvSpPr>
        <p:spPr>
          <a:xfrm>
            <a:off x="7999425" y="4220400"/>
            <a:ext cx="5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214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4" name="Google Shape;1904;p148"/>
          <p:cNvSpPr txBox="1"/>
          <p:nvPr/>
        </p:nvSpPr>
        <p:spPr>
          <a:xfrm>
            <a:off x="2836800" y="4220388"/>
            <a:ext cx="94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212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5" name="Google Shape;1905;p148"/>
          <p:cNvSpPr/>
          <p:nvPr/>
        </p:nvSpPr>
        <p:spPr>
          <a:xfrm flipH="1">
            <a:off x="2291862" y="3814581"/>
            <a:ext cx="39000" cy="28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1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Identify the </a:t>
            </a:r>
            <a:r>
              <a:rPr b="1" lang="en-GB" sz="1800"/>
              <a:t>range</a:t>
            </a:r>
            <a:r>
              <a:rPr lang="en-GB" sz="1800"/>
              <a:t> of unrounded values when: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34 has been rounded to the nearest integer.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63</a:t>
            </a:r>
            <a:r>
              <a:rPr lang="en-GB" sz="1800"/>
              <a:t> has been rounded to the nearest integer.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1</a:t>
            </a:r>
            <a:r>
              <a:rPr lang="en-GB" sz="1800"/>
              <a:t> has been rounded to the nearest integer.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11" name="Google Shape;1911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lang="en-GB" sz="1800"/>
              <a:t>Identify t</a:t>
            </a:r>
            <a:r>
              <a:rPr lang="en-GB" sz="1800"/>
              <a:t>he </a:t>
            </a:r>
            <a:r>
              <a:rPr b="1" lang="en-GB" sz="1800"/>
              <a:t>range</a:t>
            </a:r>
            <a:r>
              <a:rPr lang="en-GB" sz="1800"/>
              <a:t> of</a:t>
            </a:r>
            <a:r>
              <a:rPr lang="en-GB" sz="1800"/>
              <a:t> unrounded values when: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6 has been rounded to 1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56 has been rounded to the 2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1000 has been rounded to 4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17" name="Google Shape;1917;p1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1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Work out the question given the following: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   </a:t>
            </a:r>
            <a:r>
              <a:rPr lang="en-GB" sz="1800"/>
              <a:t>4 has been rounded to 1  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   98 has been rounded to the 2  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   100 has been rounded to the nearest integer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23" name="Google Shape;1923;p1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924" name="Google Shape;1924;p151"/>
          <p:cNvSpPr txBox="1"/>
          <p:nvPr/>
        </p:nvSpPr>
        <p:spPr>
          <a:xfrm>
            <a:off x="1063850" y="142710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5" name="Google Shape;1925;p151"/>
          <p:cNvSpPr txBox="1"/>
          <p:nvPr/>
        </p:nvSpPr>
        <p:spPr>
          <a:xfrm>
            <a:off x="1063850" y="28175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6" name="Google Shape;1926;p151"/>
          <p:cNvSpPr txBox="1"/>
          <p:nvPr/>
        </p:nvSpPr>
        <p:spPr>
          <a:xfrm>
            <a:off x="1063850" y="40406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5\\&amp;#13;&amp;#10;4.4\dot{9}\end{array}&quot;&gt;&lt;mtable columnalign=&quot;left&quot; columnspacing=&quot;1em&quot; rowspacing=&quot;4pt&quot;&gt;&lt;mtr&gt;&lt;mtd&gt;&lt;mn&gt;3.5&lt;/mn&gt;&lt;/mtd&gt;&lt;/mtr&gt;&lt;mtr&gt;&lt;mtd&gt;&lt;mn&gt;4.4&lt;/mn&gt;&lt;mrow data-mjx-texclass=&quot;ORD&quot;&gt;&lt;mover&gt;&lt;mn&gt;9&lt;/mn&gt;&lt;mo&gt;˙&lt;/mo&gt;&lt;/mover&gt;&lt;/mrow&gt;&lt;/mtd&gt;&lt;/mtr&gt;&lt;/mtable&gt;&lt;/math&gt;" id="1927" name="Google Shape;1927;p151" title="2 lines Line 1: 3.5 Line 2: the repeating decimal 4.4 followed by repeating digit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250" y="1575300"/>
            <a:ext cx="501906" cy="64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7.5\\&amp;#13;&amp;#10;98.4\dot{9}\end{array}&quot;&gt;&lt;mtable columnalign=&quot;left&quot; columnspacing=&quot;1em&quot; rowspacing=&quot;4pt&quot;&gt;&lt;mtr&gt;&lt;mtd&gt;&lt;mn&gt;97.5&lt;/mn&gt;&lt;/mtd&gt;&lt;/mtr&gt;&lt;mtr&gt;&lt;mtd&gt;&lt;mn&gt;98.4&lt;/mn&gt;&lt;mrow data-mjx-texclass=&quot;ORD&quot;&gt;&lt;mover&gt;&lt;mn&gt;9&lt;/mn&gt;&lt;mo&gt;˙&lt;/mo&gt;&lt;/mover&gt;&lt;/mrow&gt;&lt;/mtd&gt;&lt;/mtr&gt;&lt;/mtable&gt;&lt;/math&gt;" id="1928" name="Google Shape;1928;p151" title="2 lines Line 1: 97.5 Line 2: the repeating decimal 98.4 followed by repeating digit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6250" y="2915581"/>
            <a:ext cx="644744" cy="64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9.5\\&amp;#13;&amp;#10;100.4\dot{9}\end{array}&quot;&gt;&lt;mtable columnalign=&quot;left&quot; columnspacing=&quot;1em&quot; rowspacing=&quot;4pt&quot;&gt;&lt;mtr&gt;&lt;mtd&gt;&lt;mn&gt;99.5&lt;/mn&gt;&lt;/mtd&gt;&lt;/mtr&gt;&lt;mtr&gt;&lt;mtd&gt;&lt;mn&gt;100.4&lt;/mn&gt;&lt;mrow data-mjx-texclass=&quot;ORD&quot;&gt;&lt;mover&gt;&lt;mn&gt;9&lt;/mn&gt;&lt;mo&gt;˙&lt;/mo&gt;&lt;/mover&gt;&lt;/mrow&gt;&lt;/mtd&gt;&lt;/mtr&gt;&lt;/mtable&gt;&lt;/math&gt;" id="1929" name="Google Shape;1929;p151" title="2 lines Line 1: 99.5 Line 2: the repeating decimal 100.4 followed by repeating digit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6250" y="4193043"/>
            <a:ext cx="795750" cy="648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51"/>
          <p:cNvSpPr/>
          <p:nvPr/>
        </p:nvSpPr>
        <p:spPr>
          <a:xfrm>
            <a:off x="666425" y="1161975"/>
            <a:ext cx="299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51"/>
          <p:cNvSpPr/>
          <p:nvPr/>
        </p:nvSpPr>
        <p:spPr>
          <a:xfrm>
            <a:off x="3314025" y="1161975"/>
            <a:ext cx="299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51"/>
          <p:cNvSpPr/>
          <p:nvPr/>
        </p:nvSpPr>
        <p:spPr>
          <a:xfrm>
            <a:off x="3850502" y="2501362"/>
            <a:ext cx="299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151"/>
          <p:cNvSpPr/>
          <p:nvPr/>
        </p:nvSpPr>
        <p:spPr>
          <a:xfrm>
            <a:off x="764750" y="2466425"/>
            <a:ext cx="299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51"/>
          <p:cNvSpPr/>
          <p:nvPr/>
        </p:nvSpPr>
        <p:spPr>
          <a:xfrm>
            <a:off x="2213650" y="3301625"/>
            <a:ext cx="7425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51"/>
          <p:cNvSpPr/>
          <p:nvPr/>
        </p:nvSpPr>
        <p:spPr>
          <a:xfrm>
            <a:off x="2276250" y="4521300"/>
            <a:ext cx="8850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151"/>
          <p:cNvSpPr/>
          <p:nvPr/>
        </p:nvSpPr>
        <p:spPr>
          <a:xfrm>
            <a:off x="764750" y="3780000"/>
            <a:ext cx="4143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151"/>
          <p:cNvSpPr/>
          <p:nvPr/>
        </p:nvSpPr>
        <p:spPr>
          <a:xfrm>
            <a:off x="3613125" y="3817750"/>
            <a:ext cx="2156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152"/>
          <p:cNvSpPr txBox="1"/>
          <p:nvPr>
            <p:ph idx="1" type="body"/>
          </p:nvPr>
        </p:nvSpPr>
        <p:spPr>
          <a:xfrm>
            <a:off x="324000" y="759300"/>
            <a:ext cx="8237700" cy="43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Identify the </a:t>
            </a:r>
            <a:r>
              <a:rPr b="1" lang="en-GB" sz="1800"/>
              <a:t>range</a:t>
            </a:r>
            <a:r>
              <a:rPr lang="en-GB" sz="1800"/>
              <a:t> of unrounded values when: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34 has been rounded to the nearest integer.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63 has been rounded to the nearest integer.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1 has been rounded to the nearest integer.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3" name="Google Shape;1943;p1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944" name="Google Shape;1944;p152"/>
          <p:cNvSpPr txBox="1"/>
          <p:nvPr/>
        </p:nvSpPr>
        <p:spPr>
          <a:xfrm>
            <a:off x="1063850" y="127470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5" name="Google Shape;1945;p152"/>
          <p:cNvSpPr txBox="1"/>
          <p:nvPr/>
        </p:nvSpPr>
        <p:spPr>
          <a:xfrm>
            <a:off x="1063850" y="27413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6" name="Google Shape;1946;p152"/>
          <p:cNvSpPr txBox="1"/>
          <p:nvPr/>
        </p:nvSpPr>
        <p:spPr>
          <a:xfrm>
            <a:off x="1063850" y="39644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3.5\\&amp;#13;&amp;#10;34.4\dot{9}\end{array}&quot;&gt;&lt;mtable columnalign=&quot;left&quot; columnspacing=&quot;1em&quot; rowspacing=&quot;4pt&quot;&gt;&lt;mtr&gt;&lt;mtd&gt;&lt;mn&gt;33.5&lt;/mn&gt;&lt;/mtd&gt;&lt;/mtr&gt;&lt;mtr&gt;&lt;mtd&gt;&lt;mn&gt;34.4&lt;/mn&gt;&lt;mrow data-mjx-texclass=&quot;ORD&quot;&gt;&lt;mover&gt;&lt;mn&gt;9&lt;/mn&gt;&lt;mo&gt;˙&lt;/mo&gt;&lt;/mover&gt;&lt;/mrow&gt;&lt;/mtd&gt;&lt;/mtr&gt;&lt;/mtable&gt;&lt;/math&gt;" id="1947" name="Google Shape;1947;p152" title="2 lines Line 1: 33.5 Line 2: the repeating decimal 34.4 followed by repeating digit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600" y="1415125"/>
            <a:ext cx="611585" cy="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5\\&amp;#13;&amp;#10;1.4\dot{9}\end{array}&quot;&gt;&lt;mtable columnalign=&quot;left&quot; columnspacing=&quot;1em&quot; rowspacing=&quot;4pt&quot;&gt;&lt;mtr&gt;&lt;mtd&gt;&lt;mn&gt;0.5&lt;/mn&gt;&lt;/mtd&gt;&lt;/mtr&gt;&lt;mtr&gt;&lt;mtd&gt;&lt;mn&gt;1.4&lt;/mn&gt;&lt;mrow data-mjx-texclass=&quot;ORD&quot;&gt;&lt;mover&gt;&lt;mn&gt;9&lt;/mn&gt;&lt;mo&gt;˙&lt;/mo&gt;&lt;/mover&gt;&lt;/mrow&gt;&lt;/mtd&gt;&lt;/mtr&gt;&lt;/mtable&gt;&lt;/math&gt;" id="1948" name="Google Shape;1948;p152" title="2 lines Line 1: 0.5 Line 2: the repeating decimal 1.4 followed by repeating digit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7625" y="4114712"/>
            <a:ext cx="475250" cy="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62.5\\&amp;#13;&amp;#10;63.4\dot{9}\end{array}&quot;&gt;&lt;mtable columnalign=&quot;left&quot; columnspacing=&quot;1em&quot; rowspacing=&quot;4pt&quot;&gt;&lt;mtr&gt;&lt;mtd&gt;&lt;mn&gt;62.5&lt;/mn&gt;&lt;/mtd&gt;&lt;/mtr&gt;&lt;mtr&gt;&lt;mtd&gt;&lt;mn&gt;63.4&lt;/mn&gt;&lt;mrow data-mjx-texclass=&quot;ORD&quot;&gt;&lt;mover&gt;&lt;mn&gt;9&lt;/mn&gt;&lt;mo&gt;˙&lt;/mo&gt;&lt;/mover&gt;&lt;/mrow&gt;&lt;/mtd&gt;&lt;/mtr&gt;&lt;/mtable&gt;&lt;/math&gt;" id="1949" name="Google Shape;1949;p152" title="2 lines Line 1: 62.5 Line 2: the repeating decimal 63.4 followed by repeating digit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9466" y="2880000"/>
            <a:ext cx="611575" cy="615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1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lang="en-GB" sz="1800"/>
              <a:t>Identify the </a:t>
            </a:r>
            <a:r>
              <a:rPr b="1" lang="en-GB" sz="1800"/>
              <a:t>range</a:t>
            </a:r>
            <a:r>
              <a:rPr lang="en-GB" sz="1800"/>
              <a:t> of unrounded values when: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6 has been rounded to 1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56 has been rounded to the 2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1000 has been rounded to 4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55" name="Google Shape;1955;p1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956" name="Google Shape;1956;p153"/>
          <p:cNvSpPr txBox="1"/>
          <p:nvPr/>
        </p:nvSpPr>
        <p:spPr>
          <a:xfrm>
            <a:off x="1063850" y="150330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7" name="Google Shape;1957;p153"/>
          <p:cNvSpPr txBox="1"/>
          <p:nvPr/>
        </p:nvSpPr>
        <p:spPr>
          <a:xfrm>
            <a:off x="1063850" y="28175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8" name="Google Shape;1958;p153"/>
          <p:cNvSpPr txBox="1"/>
          <p:nvPr/>
        </p:nvSpPr>
        <p:spPr>
          <a:xfrm>
            <a:off x="1063850" y="40406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5.5\\&amp;#13;&amp;#10;6.4\dot{9}\end{array}&quot;&gt;&lt;mtable columnalign=&quot;left&quot; columnspacing=&quot;1em&quot; rowspacing=&quot;4pt&quot;&gt;&lt;mtr&gt;&lt;mtd&gt;&lt;mn&gt;5.5&lt;/mn&gt;&lt;/mtd&gt;&lt;/mtr&gt;&lt;mtr&gt;&lt;mtd&gt;&lt;mn&gt;6.4&lt;/mn&gt;&lt;mrow data-mjx-texclass=&quot;ORD&quot;&gt;&lt;mover&gt;&lt;mn&gt;9&lt;/mn&gt;&lt;mo&gt;˙&lt;/mo&gt;&lt;/mover&gt;&lt;/mrow&gt;&lt;/mtd&gt;&lt;/mtr&gt;&lt;/mtable&gt;&lt;/math&gt;" id="1959" name="Google Shape;1959;p153" title="2 lines Line 1: 5.5 Line 2: the repeating decimal 6.4 followed by repeating digit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2775" y="1620000"/>
            <a:ext cx="505075" cy="65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55.5\\&amp;#13;&amp;#10;56.4\dot{9}\end{array}&quot;&gt;&lt;mtable columnalign=&quot;left&quot; columnspacing=&quot;1em&quot; rowspacing=&quot;4pt&quot;&gt;&lt;mtr&gt;&lt;mtd&gt;&lt;mn&gt;55.5&lt;/mn&gt;&lt;/mtd&gt;&lt;/mtr&gt;&lt;mtr&gt;&lt;mtd&gt;&lt;mn&gt;56.4&lt;/mn&gt;&lt;mrow data-mjx-texclass=&quot;ORD&quot;&gt;&lt;mover&gt;&lt;mn&gt;9&lt;/mn&gt;&lt;mo&gt;˙&lt;/mo&gt;&lt;/mover&gt;&lt;/mrow&gt;&lt;/mtd&gt;&lt;/mtr&gt;&lt;/mtable&gt;&lt;/math&gt;" id="1960" name="Google Shape;1960;p153" title="2 lines Line 1: 55.5 Line 2: the repeating decimal 56.4 followed by repeating digit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775" y="2952000"/>
            <a:ext cx="654110" cy="65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99.5\\&amp;#13;&amp;#10;1000.4\dot{9}\end{array}&quot;&gt;&lt;mtable columnalign=&quot;left&quot; columnspacing=&quot;1em&quot; rowspacing=&quot;4pt&quot;&gt;&lt;mtr&gt;&lt;mtd&gt;&lt;mn&gt;999.5&lt;/mn&gt;&lt;/mtd&gt;&lt;/mtr&gt;&lt;mtr&gt;&lt;mtd&gt;&lt;mn&gt;1000.4&lt;/mn&gt;&lt;mrow data-mjx-texclass=&quot;ORD&quot;&gt;&lt;mover&gt;&lt;mn&gt;9&lt;/mn&gt;&lt;mo&gt;˙&lt;/mo&gt;&lt;/mover&gt;&lt;/mrow&gt;&lt;/mtd&gt;&lt;/mtr&gt;&lt;/mtable&gt;&lt;/math&gt;" id="1961" name="Google Shape;1961;p153" title="2 lines Line 1: 999.5 Line 2: the repeating decimal 1000.4 followed by repeating digit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8450" y="4176000"/>
            <a:ext cx="901550" cy="6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1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Work out the question given the following: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   </a:t>
            </a:r>
            <a:r>
              <a:rPr lang="en-GB" sz="1800"/>
              <a:t>4 has been rounded to 1  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   98 has been rounded to the 2   s.f.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   100 has been rounded to the nearest integer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7" name="Google Shape;1967;p1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968" name="Google Shape;1968;p154"/>
          <p:cNvSpPr txBox="1"/>
          <p:nvPr/>
        </p:nvSpPr>
        <p:spPr>
          <a:xfrm>
            <a:off x="1063850" y="150330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9" name="Google Shape;1969;p154"/>
          <p:cNvSpPr txBox="1"/>
          <p:nvPr/>
        </p:nvSpPr>
        <p:spPr>
          <a:xfrm>
            <a:off x="1063850" y="28175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0" name="Google Shape;1970;p154"/>
          <p:cNvSpPr txBox="1"/>
          <p:nvPr/>
        </p:nvSpPr>
        <p:spPr>
          <a:xfrm>
            <a:off x="1063850" y="4040650"/>
            <a:ext cx="2718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Smallest: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Largest: 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5\\&amp;#13;&amp;#10;4.4\dot{9}\end{array}&quot;&gt;&lt;mtable columnalign=&quot;left&quot; columnspacing=&quot;1em&quot; rowspacing=&quot;4pt&quot;&gt;&lt;mtr&gt;&lt;mtd&gt;&lt;mn&gt;3.5&lt;/mn&gt;&lt;/mtd&gt;&lt;/mtr&gt;&lt;mtr&gt;&lt;mtd&gt;&lt;mn&gt;4.4&lt;/mn&gt;&lt;mrow data-mjx-texclass=&quot;ORD&quot;&gt;&lt;mover&gt;&lt;mn&gt;9&lt;/mn&gt;&lt;mo&gt;˙&lt;/mo&gt;&lt;/mover&gt;&lt;/mrow&gt;&lt;/mtd&gt;&lt;/mtr&gt;&lt;/mtable&gt;&lt;/math&gt;" id="1971" name="Google Shape;1971;p154" title="2 lines Line 1: 3.5 Line 2: the repeating decimal 4.4 followed by repeating digit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649" y="1619999"/>
            <a:ext cx="501913" cy="64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7.5\\&amp;#13;&amp;#10;98.4\dot{9}\end{array}&quot;&gt;&lt;mtable columnalign=&quot;left&quot; columnspacing=&quot;1em&quot; rowspacing=&quot;4pt&quot;&gt;&lt;mtr&gt;&lt;mtd&gt;&lt;mn&gt;97.5&lt;/mn&gt;&lt;/mtd&gt;&lt;/mtr&gt;&lt;mtr&gt;&lt;mtd&gt;&lt;mn&gt;98.4&lt;/mn&gt;&lt;mrow data-mjx-texclass=&quot;ORD&quot;&gt;&lt;mover&gt;&lt;mn&gt;9&lt;/mn&gt;&lt;mo&gt;˙&lt;/mo&gt;&lt;/mover&gt;&lt;/mrow&gt;&lt;/mtd&gt;&lt;/mtr&gt;&lt;/mtable&gt;&lt;/math&gt;" id="1972" name="Google Shape;1972;p154" title="2 lines Line 1: 97.5 Line 2: the repeating decimal 98.4 followed by repeating digit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6250" y="2915581"/>
            <a:ext cx="644744" cy="64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99.5\\&amp;#13;&amp;#10;100.4\dot{9}\end{array}&quot;&gt;&lt;mtable columnalign=&quot;left&quot; columnspacing=&quot;1em&quot; rowspacing=&quot;4pt&quot;&gt;&lt;mtr&gt;&lt;mtd&gt;&lt;mn&gt;99.5&lt;/mn&gt;&lt;/mtd&gt;&lt;/mtr&gt;&lt;mtr&gt;&lt;mtd&gt;&lt;mn&gt;100.4&lt;/mn&gt;&lt;mrow data-mjx-texclass=&quot;ORD&quot;&gt;&lt;mover&gt;&lt;mn&gt;9&lt;/mn&gt;&lt;mo&gt;˙&lt;/mo&gt;&lt;/mover&gt;&lt;/mrow&gt;&lt;/mtd&gt;&lt;/mtr&gt;&lt;/mtable&gt;&lt;/math&gt;" id="1973" name="Google Shape;1973;p154" title="2 lines Line 1: 99.5 Line 2: the repeating decimal 100.4 followed by repeating digit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6250" y="4116843"/>
            <a:ext cx="795750" cy="648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54"/>
          <p:cNvSpPr/>
          <p:nvPr/>
        </p:nvSpPr>
        <p:spPr>
          <a:xfrm>
            <a:off x="666425" y="1161975"/>
            <a:ext cx="299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54"/>
          <p:cNvSpPr/>
          <p:nvPr/>
        </p:nvSpPr>
        <p:spPr>
          <a:xfrm>
            <a:off x="3314025" y="1161975"/>
            <a:ext cx="299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54"/>
          <p:cNvSpPr/>
          <p:nvPr/>
        </p:nvSpPr>
        <p:spPr>
          <a:xfrm>
            <a:off x="3850502" y="2501362"/>
            <a:ext cx="299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54"/>
          <p:cNvSpPr/>
          <p:nvPr/>
        </p:nvSpPr>
        <p:spPr>
          <a:xfrm>
            <a:off x="764750" y="2466425"/>
            <a:ext cx="2991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54"/>
          <p:cNvSpPr/>
          <p:nvPr/>
        </p:nvSpPr>
        <p:spPr>
          <a:xfrm>
            <a:off x="2213650" y="3301625"/>
            <a:ext cx="7425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54"/>
          <p:cNvSpPr/>
          <p:nvPr/>
        </p:nvSpPr>
        <p:spPr>
          <a:xfrm>
            <a:off x="2276250" y="4521300"/>
            <a:ext cx="8850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54"/>
          <p:cNvSpPr/>
          <p:nvPr/>
        </p:nvSpPr>
        <p:spPr>
          <a:xfrm>
            <a:off x="764750" y="3780000"/>
            <a:ext cx="4143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4"/>
          <p:cNvSpPr/>
          <p:nvPr/>
        </p:nvSpPr>
        <p:spPr>
          <a:xfrm>
            <a:off x="3613125" y="3817750"/>
            <a:ext cx="2196600" cy="29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15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Range of values on a number line</a:t>
            </a:r>
            <a:endParaRPr/>
          </a:p>
        </p:txBody>
      </p:sp>
      <p:sp>
        <p:nvSpPr>
          <p:cNvPr id="1987" name="Google Shape;1987;p15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1988" name="Google Shape;1988;p15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Inequality notation to express error</a:t>
            </a:r>
            <a:endParaRPr/>
          </a:p>
        </p:txBody>
      </p:sp>
      <p:pic>
        <p:nvPicPr>
          <p:cNvPr id="1989" name="Google Shape;1989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1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Notation in mathematics is very important.</a:t>
            </a:r>
            <a:endParaRPr/>
          </a:p>
        </p:txBody>
      </p:sp>
      <p:sp>
        <p:nvSpPr>
          <p:cNvPr id="1995" name="Google Shape;1995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1996" name="Google Shape;1996;p156"/>
          <p:cNvSpPr txBox="1"/>
          <p:nvPr>
            <p:ph idx="1" type="body"/>
          </p:nvPr>
        </p:nvSpPr>
        <p:spPr>
          <a:xfrm>
            <a:off x="324000" y="1292700"/>
            <a:ext cx="82377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use symbols and notation because:</a:t>
            </a:r>
            <a:endParaRPr/>
          </a:p>
        </p:txBody>
      </p:sp>
      <p:sp>
        <p:nvSpPr>
          <p:cNvPr id="1997" name="Google Shape;1997;p156"/>
          <p:cNvSpPr txBox="1"/>
          <p:nvPr/>
        </p:nvSpPr>
        <p:spPr>
          <a:xfrm>
            <a:off x="252000" y="173430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are easier to read and understand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56"/>
          <p:cNvSpPr txBox="1"/>
          <p:nvPr/>
        </p:nvSpPr>
        <p:spPr>
          <a:xfrm>
            <a:off x="252000" y="2437500"/>
            <a:ext cx="856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are concise and take up less space </a:t>
            </a:r>
            <a:endParaRPr/>
          </a:p>
        </p:txBody>
      </p:sp>
      <p:sp>
        <p:nvSpPr>
          <p:cNvPr id="1999" name="Google Shape;1999;p156"/>
          <p:cNvSpPr txBox="1"/>
          <p:nvPr/>
        </p:nvSpPr>
        <p:spPr>
          <a:xfrm>
            <a:off x="252000" y="3140700"/>
            <a:ext cx="856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can be used to represent complex concepts</a:t>
            </a:r>
            <a:endParaRPr/>
          </a:p>
        </p:txBody>
      </p:sp>
      <p:sp>
        <p:nvSpPr>
          <p:cNvPr id="2000" name="Google Shape;2000;p156"/>
          <p:cNvSpPr txBox="1"/>
          <p:nvPr/>
        </p:nvSpPr>
        <p:spPr>
          <a:xfrm>
            <a:off x="252000" y="3843900"/>
            <a:ext cx="7658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allows mathematical ideas to be communicated more effectively than words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157"/>
          <p:cNvSpPr txBox="1"/>
          <p:nvPr>
            <p:ph idx="1" type="body"/>
          </p:nvPr>
        </p:nvSpPr>
        <p:spPr>
          <a:xfrm>
            <a:off x="324000" y="759300"/>
            <a:ext cx="8237700" cy="24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can also be said when trying to find the range of unrounded values of a number. We use an </a:t>
            </a:r>
            <a:r>
              <a:rPr b="1" lang="en-GB"/>
              <a:t>error interval.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 </a:t>
            </a:r>
            <a:r>
              <a:rPr b="1" lang="en-GB"/>
              <a:t>error interval</a:t>
            </a:r>
            <a:r>
              <a:rPr lang="en-GB"/>
              <a:t> for a number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shows the </a:t>
            </a:r>
            <a:r>
              <a:rPr b="1" lang="en-GB"/>
              <a:t>range</a:t>
            </a:r>
            <a:r>
              <a:rPr lang="en-GB"/>
              <a:t> of possible values of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.  It is written as an inequality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/>
              <a:t> ≤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&lt;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b</a:t>
            </a:r>
            <a:endParaRPr i="1" sz="24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notation we use allows us to concisely identify unrounded values of a number. 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  <p:sp>
        <p:nvSpPr>
          <p:cNvPr id="2006" name="Google Shape;2006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1" name="Google Shape;2011;p15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777500" y="914900"/>
            <a:ext cx="2903352" cy="21049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pic>
        <p:nvPicPr>
          <p:cNvPr id="2013" name="Google Shape;2013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158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5" name="Google Shape;2015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9862" y="18730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58"/>
          <p:cNvSpPr txBox="1"/>
          <p:nvPr/>
        </p:nvSpPr>
        <p:spPr>
          <a:xfrm>
            <a:off x="7157959" y="27256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7" name="Google Shape;2017;p158"/>
          <p:cNvGraphicFramePr/>
          <p:nvPr/>
        </p:nvGraphicFramePr>
        <p:xfrm>
          <a:off x="1890975" y="362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8" name="Google Shape;2018;p158"/>
          <p:cNvSpPr txBox="1"/>
          <p:nvPr/>
        </p:nvSpPr>
        <p:spPr>
          <a:xfrm>
            <a:off x="1824480" y="32382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58"/>
          <p:cNvSpPr txBox="1"/>
          <p:nvPr/>
        </p:nvSpPr>
        <p:spPr>
          <a:xfrm>
            <a:off x="7066351" y="32382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158"/>
          <p:cNvSpPr txBox="1"/>
          <p:nvPr/>
        </p:nvSpPr>
        <p:spPr>
          <a:xfrm>
            <a:off x="4426600" y="323827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1" name="Google Shape;2021;p158"/>
          <p:cNvGrpSpPr/>
          <p:nvPr/>
        </p:nvGrpSpPr>
        <p:grpSpPr>
          <a:xfrm>
            <a:off x="3229588" y="3405025"/>
            <a:ext cx="2708605" cy="650100"/>
            <a:chOff x="4825850" y="3296750"/>
            <a:chExt cx="1524000" cy="650100"/>
          </a:xfrm>
        </p:grpSpPr>
        <p:cxnSp>
          <p:nvCxnSpPr>
            <p:cNvPr id="2022" name="Google Shape;2022;p158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23" name="Google Shape;2023;p158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024" name="Google Shape;2024;p158"/>
          <p:cNvSpPr txBox="1"/>
          <p:nvPr/>
        </p:nvSpPr>
        <p:spPr>
          <a:xfrm>
            <a:off x="3027780" y="30876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58"/>
          <p:cNvSpPr txBox="1"/>
          <p:nvPr/>
        </p:nvSpPr>
        <p:spPr>
          <a:xfrm>
            <a:off x="5714055" y="309600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6" name="Google Shape;2026;p15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46898" y="777325"/>
            <a:ext cx="3217951" cy="2386476"/>
          </a:xfrm>
          <a:prstGeom prst="rect">
            <a:avLst/>
          </a:prstGeom>
          <a:noFill/>
          <a:ln>
            <a:noFill/>
          </a:ln>
        </p:spPr>
      </p:pic>
      <p:sp>
        <p:nvSpPr>
          <p:cNvPr id="2027" name="Google Shape;2027;p158"/>
          <p:cNvSpPr txBox="1"/>
          <p:nvPr/>
        </p:nvSpPr>
        <p:spPr>
          <a:xfrm>
            <a:off x="1209825" y="831500"/>
            <a:ext cx="31101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Well, I know the unrounded numbers have to be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this highlighted line.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158"/>
          <p:cNvSpPr txBox="1"/>
          <p:nvPr/>
        </p:nvSpPr>
        <p:spPr>
          <a:xfrm>
            <a:off x="361097" y="3915781"/>
            <a:ext cx="82143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has been rounded to the nearest integer.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values of the unrounded numbers?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158"/>
          <p:cNvSpPr/>
          <p:nvPr/>
        </p:nvSpPr>
        <p:spPr>
          <a:xfrm>
            <a:off x="3221100" y="3631200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158"/>
          <p:cNvSpPr txBox="1"/>
          <p:nvPr/>
        </p:nvSpPr>
        <p:spPr>
          <a:xfrm>
            <a:off x="4799850" y="926375"/>
            <a:ext cx="27000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want the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values to include 4.5 and not include 5.5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pic>
        <p:nvPicPr>
          <p:cNvPr id="2036" name="Google Shape;2036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3737" y="1848375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037" name="Google Shape;2037;p159"/>
          <p:cNvSpPr txBox="1"/>
          <p:nvPr/>
        </p:nvSpPr>
        <p:spPr>
          <a:xfrm>
            <a:off x="117275" y="257791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8" name="Google Shape;2038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9862" y="18730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2039" name="Google Shape;2039;p159"/>
          <p:cNvSpPr txBox="1"/>
          <p:nvPr/>
        </p:nvSpPr>
        <p:spPr>
          <a:xfrm>
            <a:off x="7157959" y="27256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0" name="Google Shape;2040;p159"/>
          <p:cNvGraphicFramePr/>
          <p:nvPr/>
        </p:nvGraphicFramePr>
        <p:xfrm>
          <a:off x="1890975" y="362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1" name="Google Shape;2041;p159"/>
          <p:cNvSpPr txBox="1"/>
          <p:nvPr/>
        </p:nvSpPr>
        <p:spPr>
          <a:xfrm>
            <a:off x="1824480" y="32382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59"/>
          <p:cNvSpPr txBox="1"/>
          <p:nvPr/>
        </p:nvSpPr>
        <p:spPr>
          <a:xfrm>
            <a:off x="7066351" y="32382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59"/>
          <p:cNvSpPr txBox="1"/>
          <p:nvPr/>
        </p:nvSpPr>
        <p:spPr>
          <a:xfrm>
            <a:off x="4426600" y="323827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4" name="Google Shape;2044;p159"/>
          <p:cNvGrpSpPr/>
          <p:nvPr/>
        </p:nvGrpSpPr>
        <p:grpSpPr>
          <a:xfrm>
            <a:off x="3229588" y="3405025"/>
            <a:ext cx="2708605" cy="650100"/>
            <a:chOff x="4825850" y="3296750"/>
            <a:chExt cx="1524000" cy="650100"/>
          </a:xfrm>
        </p:grpSpPr>
        <p:cxnSp>
          <p:nvCxnSpPr>
            <p:cNvPr id="2045" name="Google Shape;2045;p159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46" name="Google Shape;2046;p159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047" name="Google Shape;2047;p159"/>
          <p:cNvSpPr txBox="1"/>
          <p:nvPr/>
        </p:nvSpPr>
        <p:spPr>
          <a:xfrm>
            <a:off x="3027780" y="30876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59"/>
          <p:cNvSpPr txBox="1"/>
          <p:nvPr/>
        </p:nvSpPr>
        <p:spPr>
          <a:xfrm>
            <a:off x="5714055" y="309600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159"/>
          <p:cNvSpPr txBox="1"/>
          <p:nvPr/>
        </p:nvSpPr>
        <p:spPr>
          <a:xfrm>
            <a:off x="361097" y="3915781"/>
            <a:ext cx="82143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has been rounded to the nearest integer.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values of the unrounded numbers?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59"/>
          <p:cNvSpPr/>
          <p:nvPr/>
        </p:nvSpPr>
        <p:spPr>
          <a:xfrm>
            <a:off x="3229644" y="3631200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59"/>
          <p:cNvSpPr txBox="1"/>
          <p:nvPr/>
        </p:nvSpPr>
        <p:spPr>
          <a:xfrm>
            <a:off x="2820000" y="13767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59"/>
          <p:cNvSpPr txBox="1"/>
          <p:nvPr/>
        </p:nvSpPr>
        <p:spPr>
          <a:xfrm flipH="1">
            <a:off x="1456100" y="681825"/>
            <a:ext cx="60243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values of the unrounded numbers is given as</a:t>
            </a:r>
            <a:endParaRPr/>
          </a:p>
        </p:txBody>
      </p:sp>
      <p:sp>
        <p:nvSpPr>
          <p:cNvPr id="2053" name="Google Shape;2053;p159"/>
          <p:cNvSpPr/>
          <p:nvPr/>
        </p:nvSpPr>
        <p:spPr>
          <a:xfrm>
            <a:off x="3972975" y="1555000"/>
            <a:ext cx="299100" cy="338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4" name="Google Shape;2054;p159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177272" y="1337875"/>
            <a:ext cx="1651825" cy="10431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5" name="Google Shape;2055;p159"/>
          <p:cNvSpPr txBox="1"/>
          <p:nvPr/>
        </p:nvSpPr>
        <p:spPr>
          <a:xfrm>
            <a:off x="1016193" y="1312243"/>
            <a:ext cx="19740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is included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6" name="Google Shape;2056;p159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6189144" y="1647863"/>
            <a:ext cx="1407898" cy="10431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7" name="Google Shape;2057;p159"/>
          <p:cNvSpPr txBox="1"/>
          <p:nvPr/>
        </p:nvSpPr>
        <p:spPr>
          <a:xfrm flipH="1">
            <a:off x="5980925" y="1645274"/>
            <a:ext cx="17787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5.5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21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included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159"/>
          <p:cNvSpPr/>
          <p:nvPr/>
        </p:nvSpPr>
        <p:spPr>
          <a:xfrm>
            <a:off x="4459552" y="1555000"/>
            <a:ext cx="299100" cy="338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3" name="Google Shape;2063;p16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6836073" y="2901350"/>
            <a:ext cx="2031002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4" name="Google Shape;2064;p16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3070330" y="2793288"/>
            <a:ext cx="1960627" cy="138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5" name="Google Shape;2065;p16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064987" y="2901350"/>
            <a:ext cx="2030976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6" name="Google Shape;2066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2067" name="Google Shape;2067;p160"/>
          <p:cNvSpPr txBox="1"/>
          <p:nvPr>
            <p:ph idx="1" type="body"/>
          </p:nvPr>
        </p:nvSpPr>
        <p:spPr>
          <a:xfrm>
            <a:off x="366725" y="733800"/>
            <a:ext cx="82377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number line used to help identify the </a:t>
            </a:r>
            <a:r>
              <a:rPr b="1" lang="en-GB"/>
              <a:t>error interval.</a:t>
            </a:r>
            <a:r>
              <a:rPr lang="en-GB"/>
              <a:t> Whose answer is correct? Explain.</a:t>
            </a:r>
            <a:endParaRPr/>
          </a:p>
        </p:txBody>
      </p:sp>
      <p:sp>
        <p:nvSpPr>
          <p:cNvPr id="2068" name="Google Shape;2068;p160"/>
          <p:cNvSpPr txBox="1"/>
          <p:nvPr/>
        </p:nvSpPr>
        <p:spPr>
          <a:xfrm>
            <a:off x="1223597" y="3425856"/>
            <a:ext cx="18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42.5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≤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43.5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60"/>
          <p:cNvSpPr txBox="1"/>
          <p:nvPr/>
        </p:nvSpPr>
        <p:spPr>
          <a:xfrm>
            <a:off x="-67494" y="40763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0" name="Google Shape;2070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045" y="3186887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160"/>
          <p:cNvSpPr txBox="1"/>
          <p:nvPr/>
        </p:nvSpPr>
        <p:spPr>
          <a:xfrm>
            <a:off x="4756513" y="38102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2" name="Google Shape;2072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590" y="304533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3" name="Google Shape;2073;p1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825100" y="31299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4" name="Google Shape;2074;p160"/>
          <p:cNvSpPr txBox="1"/>
          <p:nvPr/>
        </p:nvSpPr>
        <p:spPr>
          <a:xfrm>
            <a:off x="6114425" y="42282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60"/>
          <p:cNvSpPr txBox="1"/>
          <p:nvPr/>
        </p:nvSpPr>
        <p:spPr>
          <a:xfrm>
            <a:off x="3136840" y="3316164"/>
            <a:ext cx="18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42.5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43.5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60"/>
          <p:cNvSpPr txBox="1"/>
          <p:nvPr/>
        </p:nvSpPr>
        <p:spPr>
          <a:xfrm>
            <a:off x="6976338" y="3430238"/>
            <a:ext cx="18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43.5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60"/>
          <p:cNvSpPr txBox="1"/>
          <p:nvPr/>
        </p:nvSpPr>
        <p:spPr>
          <a:xfrm>
            <a:off x="1771788" y="3054600"/>
            <a:ext cx="88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/>
          </a:p>
        </p:txBody>
      </p:sp>
      <p:sp>
        <p:nvSpPr>
          <p:cNvPr id="2078" name="Google Shape;2078;p160"/>
          <p:cNvSpPr txBox="1"/>
          <p:nvPr/>
        </p:nvSpPr>
        <p:spPr>
          <a:xfrm>
            <a:off x="3542413" y="2901350"/>
            <a:ext cx="88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/>
          </a:p>
        </p:txBody>
      </p:sp>
      <p:sp>
        <p:nvSpPr>
          <p:cNvPr id="2079" name="Google Shape;2079;p160"/>
          <p:cNvSpPr txBox="1"/>
          <p:nvPr/>
        </p:nvSpPr>
        <p:spPr>
          <a:xfrm>
            <a:off x="7423025" y="3053775"/>
            <a:ext cx="88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/>
          </a:p>
        </p:txBody>
      </p:sp>
      <p:sp>
        <p:nvSpPr>
          <p:cNvPr id="2080" name="Google Shape;2080;p160"/>
          <p:cNvSpPr/>
          <p:nvPr/>
        </p:nvSpPr>
        <p:spPr>
          <a:xfrm>
            <a:off x="316125" y="1563550"/>
            <a:ext cx="8503800" cy="126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1" name="Google Shape;2081;p160"/>
          <p:cNvGraphicFramePr/>
          <p:nvPr/>
        </p:nvGraphicFramePr>
        <p:xfrm>
          <a:off x="3272138" y="250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2" name="Google Shape;2082;p160"/>
          <p:cNvSpPr txBox="1"/>
          <p:nvPr/>
        </p:nvSpPr>
        <p:spPr>
          <a:xfrm>
            <a:off x="3056392" y="2119563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60"/>
          <p:cNvSpPr txBox="1"/>
          <p:nvPr/>
        </p:nvSpPr>
        <p:spPr>
          <a:xfrm>
            <a:off x="8371313" y="2119563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60"/>
          <p:cNvSpPr txBox="1"/>
          <p:nvPr/>
        </p:nvSpPr>
        <p:spPr>
          <a:xfrm>
            <a:off x="5807785" y="21195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5" name="Google Shape;2085;p160"/>
          <p:cNvGrpSpPr/>
          <p:nvPr/>
        </p:nvGrpSpPr>
        <p:grpSpPr>
          <a:xfrm>
            <a:off x="4610766" y="2362486"/>
            <a:ext cx="2708605" cy="404882"/>
            <a:chOff x="4825850" y="3296750"/>
            <a:chExt cx="1524000" cy="650100"/>
          </a:xfrm>
        </p:grpSpPr>
        <p:cxnSp>
          <p:nvCxnSpPr>
            <p:cNvPr id="2086" name="Google Shape;2086;p160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87" name="Google Shape;2087;p160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088" name="Google Shape;2088;p160"/>
          <p:cNvSpPr txBox="1"/>
          <p:nvPr/>
        </p:nvSpPr>
        <p:spPr>
          <a:xfrm>
            <a:off x="4408942" y="19688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9" name="Google Shape;2089;p160"/>
          <p:cNvSpPr txBox="1"/>
          <p:nvPr/>
        </p:nvSpPr>
        <p:spPr>
          <a:xfrm>
            <a:off x="7095217" y="19772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160"/>
          <p:cNvSpPr/>
          <p:nvPr/>
        </p:nvSpPr>
        <p:spPr>
          <a:xfrm>
            <a:off x="4610807" y="2512488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1" name="Google Shape;2091;p160"/>
          <p:cNvSpPr txBox="1"/>
          <p:nvPr/>
        </p:nvSpPr>
        <p:spPr>
          <a:xfrm>
            <a:off x="409425" y="1636800"/>
            <a:ext cx="273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given 43 has been rounded to the nearest integer.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161"/>
          <p:cNvSpPr/>
          <p:nvPr/>
        </p:nvSpPr>
        <p:spPr>
          <a:xfrm>
            <a:off x="316125" y="1563550"/>
            <a:ext cx="8503800" cy="126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7" name="Google Shape;2097;p16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064987" y="2901350"/>
            <a:ext cx="2030976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graphicFrame>
        <p:nvGraphicFramePr>
          <p:cNvPr id="2099" name="Google Shape;2099;p161"/>
          <p:cNvGraphicFramePr/>
          <p:nvPr/>
        </p:nvGraphicFramePr>
        <p:xfrm>
          <a:off x="3272138" y="250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0" name="Google Shape;2100;p161"/>
          <p:cNvSpPr txBox="1"/>
          <p:nvPr/>
        </p:nvSpPr>
        <p:spPr>
          <a:xfrm>
            <a:off x="3056392" y="2119563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1" name="Google Shape;2101;p161"/>
          <p:cNvSpPr txBox="1"/>
          <p:nvPr/>
        </p:nvSpPr>
        <p:spPr>
          <a:xfrm>
            <a:off x="8371313" y="2119563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61"/>
          <p:cNvSpPr txBox="1"/>
          <p:nvPr/>
        </p:nvSpPr>
        <p:spPr>
          <a:xfrm>
            <a:off x="5807785" y="21195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3" name="Google Shape;2103;p161"/>
          <p:cNvGrpSpPr/>
          <p:nvPr/>
        </p:nvGrpSpPr>
        <p:grpSpPr>
          <a:xfrm>
            <a:off x="4610766" y="2362486"/>
            <a:ext cx="2708605" cy="404882"/>
            <a:chOff x="4825850" y="3296750"/>
            <a:chExt cx="1524000" cy="650100"/>
          </a:xfrm>
        </p:grpSpPr>
        <p:cxnSp>
          <p:nvCxnSpPr>
            <p:cNvPr id="2104" name="Google Shape;2104;p161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105" name="Google Shape;2105;p161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106" name="Google Shape;2106;p161"/>
          <p:cNvSpPr txBox="1"/>
          <p:nvPr/>
        </p:nvSpPr>
        <p:spPr>
          <a:xfrm>
            <a:off x="4408942" y="19688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161"/>
          <p:cNvSpPr txBox="1"/>
          <p:nvPr/>
        </p:nvSpPr>
        <p:spPr>
          <a:xfrm>
            <a:off x="7095217" y="19772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61"/>
          <p:cNvSpPr/>
          <p:nvPr/>
        </p:nvSpPr>
        <p:spPr>
          <a:xfrm>
            <a:off x="4610807" y="2512488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161"/>
          <p:cNvSpPr txBox="1"/>
          <p:nvPr>
            <p:ph idx="1" type="body"/>
          </p:nvPr>
        </p:nvSpPr>
        <p:spPr>
          <a:xfrm>
            <a:off x="366725" y="733800"/>
            <a:ext cx="82377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number line used to help identify the </a:t>
            </a:r>
            <a:r>
              <a:rPr b="1" lang="en-GB"/>
              <a:t>error interval.</a:t>
            </a:r>
            <a:r>
              <a:rPr lang="en-GB"/>
              <a:t> Whose answer is correct? Explain.</a:t>
            </a:r>
            <a:endParaRPr/>
          </a:p>
        </p:txBody>
      </p:sp>
      <p:sp>
        <p:nvSpPr>
          <p:cNvPr id="2110" name="Google Shape;2110;p161"/>
          <p:cNvSpPr txBox="1"/>
          <p:nvPr/>
        </p:nvSpPr>
        <p:spPr>
          <a:xfrm>
            <a:off x="1223597" y="3468956"/>
            <a:ext cx="18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42.5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≤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43.5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61"/>
          <p:cNvSpPr txBox="1"/>
          <p:nvPr/>
        </p:nvSpPr>
        <p:spPr>
          <a:xfrm>
            <a:off x="-67494" y="40763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2" name="Google Shape;2112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045" y="3186887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3" name="Google Shape;2113;p161"/>
          <p:cNvSpPr txBox="1"/>
          <p:nvPr/>
        </p:nvSpPr>
        <p:spPr>
          <a:xfrm>
            <a:off x="1771788" y="3054600"/>
            <a:ext cx="88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/>
          </a:p>
        </p:txBody>
      </p:sp>
      <p:sp>
        <p:nvSpPr>
          <p:cNvPr id="2114" name="Google Shape;2114;p161"/>
          <p:cNvSpPr txBox="1"/>
          <p:nvPr/>
        </p:nvSpPr>
        <p:spPr>
          <a:xfrm>
            <a:off x="3124662" y="3110250"/>
            <a:ext cx="52995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incorrect because Sam is including 42.5 and 43.5 in the range of values.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43.5 would round to 44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5" name="Google Shape;2115;p161"/>
          <p:cNvSpPr txBox="1"/>
          <p:nvPr/>
        </p:nvSpPr>
        <p:spPr>
          <a:xfrm>
            <a:off x="409425" y="1636800"/>
            <a:ext cx="273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given 43 has been rounded to the nearest integer.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16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3070330" y="2717088"/>
            <a:ext cx="1960627" cy="138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2122" name="Google Shape;2122;p162"/>
          <p:cNvSpPr txBox="1"/>
          <p:nvPr>
            <p:ph idx="1" type="body"/>
          </p:nvPr>
        </p:nvSpPr>
        <p:spPr>
          <a:xfrm>
            <a:off x="366725" y="733800"/>
            <a:ext cx="82377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number line used to help identify the </a:t>
            </a:r>
            <a:r>
              <a:rPr b="1" lang="en-GB"/>
              <a:t>error interval.</a:t>
            </a:r>
            <a:r>
              <a:rPr lang="en-GB"/>
              <a:t> Whose answer is correct? Explain.</a:t>
            </a:r>
            <a:endParaRPr/>
          </a:p>
        </p:txBody>
      </p:sp>
      <p:sp>
        <p:nvSpPr>
          <p:cNvPr id="2123" name="Google Shape;2123;p162"/>
          <p:cNvSpPr txBox="1"/>
          <p:nvPr/>
        </p:nvSpPr>
        <p:spPr>
          <a:xfrm>
            <a:off x="4756513" y="3734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4" name="Google Shape;2124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6590" y="2969138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162"/>
          <p:cNvSpPr txBox="1"/>
          <p:nvPr/>
        </p:nvSpPr>
        <p:spPr>
          <a:xfrm>
            <a:off x="3136840" y="3239964"/>
            <a:ext cx="18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42.5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43.5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162"/>
          <p:cNvSpPr txBox="1"/>
          <p:nvPr/>
        </p:nvSpPr>
        <p:spPr>
          <a:xfrm>
            <a:off x="3542413" y="2825150"/>
            <a:ext cx="88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/>
          </a:p>
        </p:txBody>
      </p:sp>
      <p:sp>
        <p:nvSpPr>
          <p:cNvPr id="2127" name="Google Shape;2127;p162"/>
          <p:cNvSpPr/>
          <p:nvPr/>
        </p:nvSpPr>
        <p:spPr>
          <a:xfrm>
            <a:off x="316125" y="1563550"/>
            <a:ext cx="8503800" cy="126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28" name="Google Shape;2128;p162"/>
          <p:cNvGraphicFramePr/>
          <p:nvPr/>
        </p:nvGraphicFramePr>
        <p:xfrm>
          <a:off x="3272138" y="250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9" name="Google Shape;2129;p162"/>
          <p:cNvSpPr txBox="1"/>
          <p:nvPr/>
        </p:nvSpPr>
        <p:spPr>
          <a:xfrm>
            <a:off x="3056392" y="2119563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62"/>
          <p:cNvSpPr txBox="1"/>
          <p:nvPr/>
        </p:nvSpPr>
        <p:spPr>
          <a:xfrm>
            <a:off x="8371313" y="2119563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162"/>
          <p:cNvSpPr txBox="1"/>
          <p:nvPr/>
        </p:nvSpPr>
        <p:spPr>
          <a:xfrm>
            <a:off x="5807785" y="21195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2" name="Google Shape;2132;p162"/>
          <p:cNvGrpSpPr/>
          <p:nvPr/>
        </p:nvGrpSpPr>
        <p:grpSpPr>
          <a:xfrm>
            <a:off x="4610766" y="2362486"/>
            <a:ext cx="2708605" cy="404882"/>
            <a:chOff x="4825850" y="3296750"/>
            <a:chExt cx="1524000" cy="650100"/>
          </a:xfrm>
        </p:grpSpPr>
        <p:cxnSp>
          <p:nvCxnSpPr>
            <p:cNvPr id="2133" name="Google Shape;2133;p162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134" name="Google Shape;2134;p162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135" name="Google Shape;2135;p162"/>
          <p:cNvSpPr txBox="1"/>
          <p:nvPr/>
        </p:nvSpPr>
        <p:spPr>
          <a:xfrm>
            <a:off x="4408942" y="19688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6" name="Google Shape;2136;p162"/>
          <p:cNvSpPr txBox="1"/>
          <p:nvPr/>
        </p:nvSpPr>
        <p:spPr>
          <a:xfrm>
            <a:off x="7095217" y="19772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7" name="Google Shape;2137;p162"/>
          <p:cNvSpPr/>
          <p:nvPr/>
        </p:nvSpPr>
        <p:spPr>
          <a:xfrm>
            <a:off x="4610807" y="2512488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8" name="Google Shape;2138;p162"/>
          <p:cNvSpPr txBox="1"/>
          <p:nvPr/>
        </p:nvSpPr>
        <p:spPr>
          <a:xfrm>
            <a:off x="409425" y="1636800"/>
            <a:ext cx="273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given 43 has been rounded to the nearest integer.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162"/>
          <p:cNvSpPr txBox="1"/>
          <p:nvPr/>
        </p:nvSpPr>
        <p:spPr>
          <a:xfrm>
            <a:off x="358175" y="4034957"/>
            <a:ext cx="8083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Sofia is saying the range of values are greater than or equal to 42.5 and greater than 43.5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Google Shape;2144;p163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6836073" y="2825150"/>
            <a:ext cx="2031002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16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2146" name="Google Shape;2146;p163"/>
          <p:cNvSpPr txBox="1"/>
          <p:nvPr>
            <p:ph idx="1" type="body"/>
          </p:nvPr>
        </p:nvSpPr>
        <p:spPr>
          <a:xfrm>
            <a:off x="366725" y="733800"/>
            <a:ext cx="82377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number line used to help identify the </a:t>
            </a:r>
            <a:r>
              <a:rPr b="1" lang="en-GB"/>
              <a:t>error interval.</a:t>
            </a:r>
            <a:r>
              <a:rPr lang="en-GB"/>
              <a:t> Whose answer is correct? Explain.</a:t>
            </a:r>
            <a:endParaRPr/>
          </a:p>
        </p:txBody>
      </p:sp>
      <p:pic>
        <p:nvPicPr>
          <p:cNvPr id="2147" name="Google Shape;2147;p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25100" y="30537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p163"/>
          <p:cNvSpPr txBox="1"/>
          <p:nvPr/>
        </p:nvSpPr>
        <p:spPr>
          <a:xfrm>
            <a:off x="6114425" y="4152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63"/>
          <p:cNvSpPr txBox="1"/>
          <p:nvPr/>
        </p:nvSpPr>
        <p:spPr>
          <a:xfrm>
            <a:off x="6976338" y="3354038"/>
            <a:ext cx="18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43.5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0" name="Google Shape;2150;p163"/>
          <p:cNvSpPr txBox="1"/>
          <p:nvPr/>
        </p:nvSpPr>
        <p:spPr>
          <a:xfrm>
            <a:off x="7423025" y="2977575"/>
            <a:ext cx="88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/>
          </a:p>
        </p:txBody>
      </p:sp>
      <p:sp>
        <p:nvSpPr>
          <p:cNvPr id="2151" name="Google Shape;2151;p163"/>
          <p:cNvSpPr/>
          <p:nvPr/>
        </p:nvSpPr>
        <p:spPr>
          <a:xfrm>
            <a:off x="316125" y="1563550"/>
            <a:ext cx="8503800" cy="126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2" name="Google Shape;2152;p163"/>
          <p:cNvGraphicFramePr/>
          <p:nvPr/>
        </p:nvGraphicFramePr>
        <p:xfrm>
          <a:off x="3272138" y="250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3" name="Google Shape;2153;p163"/>
          <p:cNvSpPr txBox="1"/>
          <p:nvPr/>
        </p:nvSpPr>
        <p:spPr>
          <a:xfrm>
            <a:off x="3056392" y="2119563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63"/>
          <p:cNvSpPr txBox="1"/>
          <p:nvPr/>
        </p:nvSpPr>
        <p:spPr>
          <a:xfrm>
            <a:off x="8371313" y="2119563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63"/>
          <p:cNvSpPr txBox="1"/>
          <p:nvPr/>
        </p:nvSpPr>
        <p:spPr>
          <a:xfrm>
            <a:off x="5807785" y="21195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6" name="Google Shape;2156;p163"/>
          <p:cNvGrpSpPr/>
          <p:nvPr/>
        </p:nvGrpSpPr>
        <p:grpSpPr>
          <a:xfrm>
            <a:off x="4610766" y="2362486"/>
            <a:ext cx="2708605" cy="404882"/>
            <a:chOff x="4825850" y="3296750"/>
            <a:chExt cx="1524000" cy="650100"/>
          </a:xfrm>
        </p:grpSpPr>
        <p:cxnSp>
          <p:nvCxnSpPr>
            <p:cNvPr id="2157" name="Google Shape;2157;p163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158" name="Google Shape;2158;p163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159" name="Google Shape;2159;p163"/>
          <p:cNvSpPr txBox="1"/>
          <p:nvPr/>
        </p:nvSpPr>
        <p:spPr>
          <a:xfrm>
            <a:off x="4408942" y="19688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0" name="Google Shape;2160;p163"/>
          <p:cNvSpPr txBox="1"/>
          <p:nvPr/>
        </p:nvSpPr>
        <p:spPr>
          <a:xfrm>
            <a:off x="7095217" y="19772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163"/>
          <p:cNvSpPr/>
          <p:nvPr/>
        </p:nvSpPr>
        <p:spPr>
          <a:xfrm>
            <a:off x="4610807" y="2512488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2" name="Google Shape;2162;p163"/>
          <p:cNvSpPr txBox="1"/>
          <p:nvPr/>
        </p:nvSpPr>
        <p:spPr>
          <a:xfrm>
            <a:off x="409425" y="1636800"/>
            <a:ext cx="273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given 43 has been rounded to the nearest integer.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3" name="Google Shape;2163;p163"/>
          <p:cNvSpPr txBox="1"/>
          <p:nvPr/>
        </p:nvSpPr>
        <p:spPr>
          <a:xfrm>
            <a:off x="1223400" y="3602750"/>
            <a:ext cx="482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Izzy has used the correct notation.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8" name="Google Shape;2168;p164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6836073" y="2825150"/>
            <a:ext cx="2031002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16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2170" name="Google Shape;2170;p164"/>
          <p:cNvSpPr txBox="1"/>
          <p:nvPr>
            <p:ph idx="1" type="body"/>
          </p:nvPr>
        </p:nvSpPr>
        <p:spPr>
          <a:xfrm>
            <a:off x="366725" y="733800"/>
            <a:ext cx="82377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number line used to help identify the </a:t>
            </a:r>
            <a:r>
              <a:rPr b="1" lang="en-GB"/>
              <a:t>error interval.</a:t>
            </a:r>
            <a:r>
              <a:rPr lang="en-GB"/>
              <a:t> Whose answer is correct? Explain.</a:t>
            </a:r>
            <a:endParaRPr/>
          </a:p>
        </p:txBody>
      </p:sp>
      <p:pic>
        <p:nvPicPr>
          <p:cNvPr id="2171" name="Google Shape;2171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25100" y="30537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164"/>
          <p:cNvSpPr txBox="1"/>
          <p:nvPr/>
        </p:nvSpPr>
        <p:spPr>
          <a:xfrm>
            <a:off x="6114425" y="4152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164"/>
          <p:cNvSpPr txBox="1"/>
          <p:nvPr/>
        </p:nvSpPr>
        <p:spPr>
          <a:xfrm>
            <a:off x="6976338" y="3354038"/>
            <a:ext cx="18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43.5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164"/>
          <p:cNvSpPr txBox="1"/>
          <p:nvPr/>
        </p:nvSpPr>
        <p:spPr>
          <a:xfrm>
            <a:off x="7423025" y="2977575"/>
            <a:ext cx="88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</a:t>
            </a:r>
            <a:endParaRPr/>
          </a:p>
        </p:txBody>
      </p:sp>
      <p:sp>
        <p:nvSpPr>
          <p:cNvPr id="2175" name="Google Shape;2175;p164"/>
          <p:cNvSpPr/>
          <p:nvPr/>
        </p:nvSpPr>
        <p:spPr>
          <a:xfrm>
            <a:off x="316125" y="1563550"/>
            <a:ext cx="8503800" cy="126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76" name="Google Shape;2176;p164"/>
          <p:cNvGraphicFramePr/>
          <p:nvPr/>
        </p:nvGraphicFramePr>
        <p:xfrm>
          <a:off x="3272138" y="250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7" name="Google Shape;2177;p164"/>
          <p:cNvSpPr txBox="1"/>
          <p:nvPr/>
        </p:nvSpPr>
        <p:spPr>
          <a:xfrm>
            <a:off x="3056392" y="2119563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164"/>
          <p:cNvSpPr txBox="1"/>
          <p:nvPr/>
        </p:nvSpPr>
        <p:spPr>
          <a:xfrm>
            <a:off x="8371313" y="2119563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9" name="Google Shape;2179;p164"/>
          <p:cNvSpPr txBox="1"/>
          <p:nvPr/>
        </p:nvSpPr>
        <p:spPr>
          <a:xfrm>
            <a:off x="5807785" y="21195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0" name="Google Shape;2180;p164"/>
          <p:cNvGrpSpPr/>
          <p:nvPr/>
        </p:nvGrpSpPr>
        <p:grpSpPr>
          <a:xfrm>
            <a:off x="4610766" y="2362486"/>
            <a:ext cx="2708605" cy="404882"/>
            <a:chOff x="4825850" y="3296750"/>
            <a:chExt cx="1524000" cy="650100"/>
          </a:xfrm>
        </p:grpSpPr>
        <p:cxnSp>
          <p:nvCxnSpPr>
            <p:cNvPr id="2181" name="Google Shape;2181;p164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182" name="Google Shape;2182;p164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183" name="Google Shape;2183;p164"/>
          <p:cNvSpPr txBox="1"/>
          <p:nvPr/>
        </p:nvSpPr>
        <p:spPr>
          <a:xfrm>
            <a:off x="4408942" y="19688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64"/>
          <p:cNvSpPr txBox="1"/>
          <p:nvPr/>
        </p:nvSpPr>
        <p:spPr>
          <a:xfrm>
            <a:off x="7095217" y="1977288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64"/>
          <p:cNvSpPr/>
          <p:nvPr/>
        </p:nvSpPr>
        <p:spPr>
          <a:xfrm>
            <a:off x="4610807" y="2512488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64"/>
          <p:cNvSpPr txBox="1"/>
          <p:nvPr/>
        </p:nvSpPr>
        <p:spPr>
          <a:xfrm>
            <a:off x="409425" y="1636800"/>
            <a:ext cx="273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interval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given 43 has been rounded to the nearest integer.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164"/>
          <p:cNvSpPr txBox="1"/>
          <p:nvPr/>
        </p:nvSpPr>
        <p:spPr>
          <a:xfrm>
            <a:off x="1223400" y="3602750"/>
            <a:ext cx="482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Izzy has used the correct notation.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1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number that has been given to a degree of accuracy has an </a:t>
            </a:r>
            <a:r>
              <a:rPr b="1" lang="en-GB"/>
              <a:t>error</a:t>
            </a:r>
            <a:r>
              <a:rPr lang="en-GB"/>
              <a:t> </a:t>
            </a:r>
            <a:r>
              <a:rPr b="1" lang="en-GB"/>
              <a:t>interval</a:t>
            </a:r>
            <a:r>
              <a:rPr lang="en-GB"/>
              <a:t>. This is because of the rounding that has taken </a:t>
            </a:r>
            <a:r>
              <a:rPr lang="en-GB"/>
              <a:t>place.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is important to recognise what degree of accuracy is used and then the error interval can be used. A number line can help.</a:t>
            </a:r>
            <a:endParaRPr/>
          </a:p>
        </p:txBody>
      </p:sp>
      <p:sp>
        <p:nvSpPr>
          <p:cNvPr id="2193" name="Google Shape;2193;p16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Error intervals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16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2199" name="Google Shape;2199;p1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Andeep and Jacob have drawn these number lines to help identify the </a:t>
            </a:r>
            <a:r>
              <a:rPr b="1" lang="en-GB" sz="2000"/>
              <a:t>error interval</a:t>
            </a:r>
            <a:r>
              <a:rPr lang="en-GB" sz="2000"/>
              <a:t>. Can you identify the </a:t>
            </a:r>
            <a:r>
              <a:rPr b="1" lang="en-GB" sz="2000"/>
              <a:t>error interval</a:t>
            </a:r>
            <a:r>
              <a:rPr lang="en-GB" sz="2000"/>
              <a:t>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  </a:t>
            </a:r>
            <a:r>
              <a:rPr lang="en-GB" sz="2000"/>
              <a:t>4.8 rounded to 1 d.p.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  1.3 rounded to 2 s.f.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c)   3.42 rounded to 3 s.f.</a:t>
            </a:r>
            <a:endParaRPr sz="2000"/>
          </a:p>
        </p:txBody>
      </p:sp>
      <p:graphicFrame>
        <p:nvGraphicFramePr>
          <p:cNvPr id="2200" name="Google Shape;2200;p166"/>
          <p:cNvGraphicFramePr/>
          <p:nvPr/>
        </p:nvGraphicFramePr>
        <p:xfrm>
          <a:off x="3421388" y="217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1" name="Google Shape;2201;p166"/>
          <p:cNvSpPr txBox="1"/>
          <p:nvPr/>
        </p:nvSpPr>
        <p:spPr>
          <a:xfrm>
            <a:off x="3278692" y="17837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66"/>
          <p:cNvSpPr txBox="1"/>
          <p:nvPr/>
        </p:nvSpPr>
        <p:spPr>
          <a:xfrm>
            <a:off x="8520563" y="178372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3" name="Google Shape;2203;p166"/>
          <p:cNvSpPr txBox="1"/>
          <p:nvPr/>
        </p:nvSpPr>
        <p:spPr>
          <a:xfrm>
            <a:off x="5770734" y="178372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4" name="Google Shape;2204;p166"/>
          <p:cNvGrpSpPr/>
          <p:nvPr/>
        </p:nvGrpSpPr>
        <p:grpSpPr>
          <a:xfrm>
            <a:off x="4558192" y="1633050"/>
            <a:ext cx="3280275" cy="798481"/>
            <a:chOff x="4558192" y="1633050"/>
            <a:chExt cx="3280275" cy="798481"/>
          </a:xfrm>
        </p:grpSpPr>
        <p:grpSp>
          <p:nvGrpSpPr>
            <p:cNvPr id="2205" name="Google Shape;2205;p166"/>
            <p:cNvGrpSpPr/>
            <p:nvPr/>
          </p:nvGrpSpPr>
          <p:grpSpPr>
            <a:xfrm>
              <a:off x="4760016" y="2026649"/>
              <a:ext cx="2708605" cy="404882"/>
              <a:chOff x="4825850" y="3296750"/>
              <a:chExt cx="1524000" cy="650100"/>
            </a:xfrm>
          </p:grpSpPr>
          <p:cxnSp>
            <p:nvCxnSpPr>
              <p:cNvPr id="2206" name="Google Shape;2206;p166"/>
              <p:cNvCxnSpPr/>
              <p:nvPr/>
            </p:nvCxnSpPr>
            <p:spPr>
              <a:xfrm>
                <a:off x="6349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7" name="Google Shape;2207;p166"/>
              <p:cNvCxnSpPr/>
              <p:nvPr/>
            </p:nvCxnSpPr>
            <p:spPr>
              <a:xfrm>
                <a:off x="4825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08" name="Google Shape;2208;p166"/>
            <p:cNvSpPr txBox="1"/>
            <p:nvPr/>
          </p:nvSpPr>
          <p:spPr>
            <a:xfrm>
              <a:off x="4558192" y="1633050"/>
              <a:ext cx="59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4.75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9" name="Google Shape;2209;p166"/>
            <p:cNvSpPr txBox="1"/>
            <p:nvPr/>
          </p:nvSpPr>
          <p:spPr>
            <a:xfrm>
              <a:off x="7244467" y="1641451"/>
              <a:ext cx="59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4.85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0" name="Google Shape;2210;p166"/>
            <p:cNvSpPr/>
            <p:nvPr/>
          </p:nvSpPr>
          <p:spPr>
            <a:xfrm>
              <a:off x="4760057" y="2176650"/>
              <a:ext cx="2700000" cy="188100"/>
            </a:xfrm>
            <a:prstGeom prst="rect">
              <a:avLst/>
            </a:prstGeom>
            <a:solidFill>
              <a:srgbClr val="FFFF00">
                <a:alpha val="54430"/>
              </a:srgbClr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211" name="Google Shape;2211;p166"/>
          <p:cNvGraphicFramePr/>
          <p:nvPr/>
        </p:nvGraphicFramePr>
        <p:xfrm>
          <a:off x="3421400" y="31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2" name="Google Shape;2212;p166"/>
          <p:cNvSpPr txBox="1"/>
          <p:nvPr/>
        </p:nvSpPr>
        <p:spPr>
          <a:xfrm>
            <a:off x="3354905" y="28061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166"/>
          <p:cNvSpPr txBox="1"/>
          <p:nvPr/>
        </p:nvSpPr>
        <p:spPr>
          <a:xfrm>
            <a:off x="8520576" y="28061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4" name="Google Shape;2214;p166"/>
          <p:cNvSpPr txBox="1"/>
          <p:nvPr/>
        </p:nvSpPr>
        <p:spPr>
          <a:xfrm>
            <a:off x="5825625" y="2806175"/>
            <a:ext cx="35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5" name="Google Shape;2215;p166"/>
          <p:cNvGrpSpPr/>
          <p:nvPr/>
        </p:nvGrpSpPr>
        <p:grpSpPr>
          <a:xfrm>
            <a:off x="4558205" y="2655500"/>
            <a:ext cx="3280275" cy="798544"/>
            <a:chOff x="4558205" y="2655500"/>
            <a:chExt cx="3280275" cy="798544"/>
          </a:xfrm>
        </p:grpSpPr>
        <p:grpSp>
          <p:nvGrpSpPr>
            <p:cNvPr id="2216" name="Google Shape;2216;p166"/>
            <p:cNvGrpSpPr/>
            <p:nvPr/>
          </p:nvGrpSpPr>
          <p:grpSpPr>
            <a:xfrm>
              <a:off x="4760041" y="3049162"/>
              <a:ext cx="2708605" cy="404882"/>
              <a:chOff x="4825850" y="3296750"/>
              <a:chExt cx="1524000" cy="650100"/>
            </a:xfrm>
          </p:grpSpPr>
          <p:cxnSp>
            <p:nvCxnSpPr>
              <p:cNvPr id="2217" name="Google Shape;2217;p166"/>
              <p:cNvCxnSpPr/>
              <p:nvPr/>
            </p:nvCxnSpPr>
            <p:spPr>
              <a:xfrm>
                <a:off x="6349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8" name="Google Shape;2218;p166"/>
              <p:cNvCxnSpPr/>
              <p:nvPr/>
            </p:nvCxnSpPr>
            <p:spPr>
              <a:xfrm>
                <a:off x="4825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19" name="Google Shape;2219;p166"/>
            <p:cNvSpPr txBox="1"/>
            <p:nvPr/>
          </p:nvSpPr>
          <p:spPr>
            <a:xfrm>
              <a:off x="4558205" y="2655500"/>
              <a:ext cx="59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1.25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0" name="Google Shape;2220;p166"/>
            <p:cNvSpPr txBox="1"/>
            <p:nvPr/>
          </p:nvSpPr>
          <p:spPr>
            <a:xfrm>
              <a:off x="7244480" y="2663901"/>
              <a:ext cx="59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1.35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1" name="Google Shape;2221;p166"/>
            <p:cNvSpPr/>
            <p:nvPr/>
          </p:nvSpPr>
          <p:spPr>
            <a:xfrm>
              <a:off x="4760069" y="3199100"/>
              <a:ext cx="2700000" cy="188100"/>
            </a:xfrm>
            <a:prstGeom prst="rect">
              <a:avLst/>
            </a:prstGeom>
            <a:solidFill>
              <a:srgbClr val="FFFF00">
                <a:alpha val="54430"/>
              </a:srgbClr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222" name="Google Shape;2222;p166"/>
          <p:cNvGraphicFramePr/>
          <p:nvPr/>
        </p:nvGraphicFramePr>
        <p:xfrm>
          <a:off x="3421400" y="411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3" name="Google Shape;2223;p166"/>
          <p:cNvSpPr txBox="1"/>
          <p:nvPr/>
        </p:nvSpPr>
        <p:spPr>
          <a:xfrm>
            <a:off x="3354905" y="37237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3.41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166"/>
          <p:cNvSpPr txBox="1"/>
          <p:nvPr/>
        </p:nvSpPr>
        <p:spPr>
          <a:xfrm>
            <a:off x="8279800" y="3723725"/>
            <a:ext cx="65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3.43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66"/>
          <p:cNvSpPr txBox="1"/>
          <p:nvPr/>
        </p:nvSpPr>
        <p:spPr>
          <a:xfrm>
            <a:off x="5825625" y="3723725"/>
            <a:ext cx="54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3.42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6" name="Google Shape;2226;p166"/>
          <p:cNvGrpSpPr/>
          <p:nvPr/>
        </p:nvGrpSpPr>
        <p:grpSpPr>
          <a:xfrm>
            <a:off x="4398824" y="3573050"/>
            <a:ext cx="3439650" cy="823126"/>
            <a:chOff x="4398824" y="3573050"/>
            <a:chExt cx="3439650" cy="823126"/>
          </a:xfrm>
        </p:grpSpPr>
        <p:grpSp>
          <p:nvGrpSpPr>
            <p:cNvPr id="2227" name="Google Shape;2227;p166"/>
            <p:cNvGrpSpPr/>
            <p:nvPr/>
          </p:nvGrpSpPr>
          <p:grpSpPr>
            <a:xfrm>
              <a:off x="4760041" y="3966655"/>
              <a:ext cx="2708605" cy="429521"/>
              <a:chOff x="4825850" y="3296750"/>
              <a:chExt cx="1524000" cy="650100"/>
            </a:xfrm>
          </p:grpSpPr>
          <p:cxnSp>
            <p:nvCxnSpPr>
              <p:cNvPr id="2228" name="Google Shape;2228;p166"/>
              <p:cNvCxnSpPr/>
              <p:nvPr/>
            </p:nvCxnSpPr>
            <p:spPr>
              <a:xfrm>
                <a:off x="6349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9" name="Google Shape;2229;p166"/>
              <p:cNvCxnSpPr/>
              <p:nvPr/>
            </p:nvCxnSpPr>
            <p:spPr>
              <a:xfrm>
                <a:off x="4825850" y="3296750"/>
                <a:ext cx="0" cy="650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0808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30" name="Google Shape;2230;p166"/>
            <p:cNvSpPr txBox="1"/>
            <p:nvPr/>
          </p:nvSpPr>
          <p:spPr>
            <a:xfrm>
              <a:off x="4398824" y="3573050"/>
              <a:ext cx="75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3.415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1" name="Google Shape;2231;p166"/>
            <p:cNvSpPr txBox="1"/>
            <p:nvPr/>
          </p:nvSpPr>
          <p:spPr>
            <a:xfrm>
              <a:off x="7085174" y="3581450"/>
              <a:ext cx="75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3.425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2" name="Google Shape;2232;p166"/>
            <p:cNvSpPr/>
            <p:nvPr/>
          </p:nvSpPr>
          <p:spPr>
            <a:xfrm>
              <a:off x="4760069" y="4116650"/>
              <a:ext cx="2700000" cy="188100"/>
            </a:xfrm>
            <a:prstGeom prst="rect">
              <a:avLst/>
            </a:prstGeom>
            <a:solidFill>
              <a:srgbClr val="FFFF00">
                <a:alpha val="54430"/>
              </a:srgbClr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33" name="Google Shape;2233;p166"/>
          <p:cNvSpPr txBox="1"/>
          <p:nvPr/>
        </p:nvSpPr>
        <p:spPr>
          <a:xfrm>
            <a:off x="857100" y="2323725"/>
            <a:ext cx="203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4.75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4.85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4" name="Google Shape;2234;p166"/>
          <p:cNvSpPr txBox="1"/>
          <p:nvPr/>
        </p:nvSpPr>
        <p:spPr>
          <a:xfrm>
            <a:off x="990000" y="3292625"/>
            <a:ext cx="18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1.25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1.35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5" name="Google Shape;2235;p166"/>
          <p:cNvSpPr txBox="1"/>
          <p:nvPr/>
        </p:nvSpPr>
        <p:spPr>
          <a:xfrm>
            <a:off x="951800" y="4313100"/>
            <a:ext cx="227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3.415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3.425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167"/>
          <p:cNvSpPr txBox="1"/>
          <p:nvPr>
            <p:ph idx="4294967295" type="body"/>
          </p:nvPr>
        </p:nvSpPr>
        <p:spPr>
          <a:xfrm>
            <a:off x="324000" y="1057600"/>
            <a:ext cx="8237700" cy="22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</a:t>
            </a:r>
            <a:r>
              <a:rPr lang="en-GB"/>
              <a:t>2 rounded to 1 s.f.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33 rounded to 2 s.f.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10 rounded to 2 s.f.</a:t>
            </a:r>
            <a:endParaRPr/>
          </a:p>
        </p:txBody>
      </p:sp>
      <p:sp>
        <p:nvSpPr>
          <p:cNvPr id="2241" name="Google Shape;2241;p167"/>
          <p:cNvSpPr txBox="1"/>
          <p:nvPr>
            <p:ph idx="1" type="body"/>
          </p:nvPr>
        </p:nvSpPr>
        <p:spPr>
          <a:xfrm>
            <a:off x="324000" y="759300"/>
            <a:ext cx="8237700" cy="4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Given the number lines, identify the </a:t>
            </a:r>
            <a:r>
              <a:rPr b="1" lang="en-GB"/>
              <a:t>error interval.</a:t>
            </a:r>
            <a:endParaRPr/>
          </a:p>
        </p:txBody>
      </p:sp>
      <p:sp>
        <p:nvSpPr>
          <p:cNvPr id="2242" name="Google Shape;2242;p16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graphicFrame>
        <p:nvGraphicFramePr>
          <p:cNvPr id="2243" name="Google Shape;2243;p167"/>
          <p:cNvGraphicFramePr/>
          <p:nvPr/>
        </p:nvGraphicFramePr>
        <p:xfrm>
          <a:off x="3421388" y="217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4" name="Google Shape;2244;p167"/>
          <p:cNvSpPr txBox="1"/>
          <p:nvPr/>
        </p:nvSpPr>
        <p:spPr>
          <a:xfrm>
            <a:off x="3354892" y="17837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67"/>
          <p:cNvSpPr txBox="1"/>
          <p:nvPr/>
        </p:nvSpPr>
        <p:spPr>
          <a:xfrm>
            <a:off x="8520563" y="178372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67"/>
          <p:cNvSpPr txBox="1"/>
          <p:nvPr/>
        </p:nvSpPr>
        <p:spPr>
          <a:xfrm>
            <a:off x="5957013" y="178372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7" name="Google Shape;2247;p167"/>
          <p:cNvGrpSpPr/>
          <p:nvPr/>
        </p:nvGrpSpPr>
        <p:grpSpPr>
          <a:xfrm>
            <a:off x="4760016" y="2026649"/>
            <a:ext cx="2708605" cy="404882"/>
            <a:chOff x="4825850" y="3296750"/>
            <a:chExt cx="1524000" cy="650100"/>
          </a:xfrm>
        </p:grpSpPr>
        <p:cxnSp>
          <p:nvCxnSpPr>
            <p:cNvPr id="2248" name="Google Shape;2248;p167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49" name="Google Shape;2249;p167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250" name="Google Shape;2250;p167"/>
          <p:cNvSpPr txBox="1"/>
          <p:nvPr/>
        </p:nvSpPr>
        <p:spPr>
          <a:xfrm>
            <a:off x="4558192" y="170925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67"/>
          <p:cNvSpPr txBox="1"/>
          <p:nvPr/>
        </p:nvSpPr>
        <p:spPr>
          <a:xfrm>
            <a:off x="7244467" y="171765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52" name="Google Shape;2252;p167"/>
          <p:cNvGraphicFramePr/>
          <p:nvPr/>
        </p:nvGraphicFramePr>
        <p:xfrm>
          <a:off x="3421400" y="31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3" name="Google Shape;2253;p167"/>
          <p:cNvSpPr txBox="1"/>
          <p:nvPr/>
        </p:nvSpPr>
        <p:spPr>
          <a:xfrm>
            <a:off x="3354905" y="28061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167"/>
          <p:cNvSpPr txBox="1"/>
          <p:nvPr/>
        </p:nvSpPr>
        <p:spPr>
          <a:xfrm>
            <a:off x="8520576" y="28061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67"/>
          <p:cNvSpPr txBox="1"/>
          <p:nvPr/>
        </p:nvSpPr>
        <p:spPr>
          <a:xfrm>
            <a:off x="5825625" y="2806175"/>
            <a:ext cx="35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6" name="Google Shape;2256;p167"/>
          <p:cNvGrpSpPr/>
          <p:nvPr/>
        </p:nvGrpSpPr>
        <p:grpSpPr>
          <a:xfrm>
            <a:off x="4760041" y="3049162"/>
            <a:ext cx="2708605" cy="404882"/>
            <a:chOff x="4825850" y="3296750"/>
            <a:chExt cx="1524000" cy="650100"/>
          </a:xfrm>
        </p:grpSpPr>
        <p:cxnSp>
          <p:nvCxnSpPr>
            <p:cNvPr id="2257" name="Google Shape;2257;p167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58" name="Google Shape;2258;p167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259" name="Google Shape;2259;p167"/>
          <p:cNvSpPr txBox="1"/>
          <p:nvPr/>
        </p:nvSpPr>
        <p:spPr>
          <a:xfrm>
            <a:off x="4558205" y="26555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67"/>
          <p:cNvSpPr txBox="1"/>
          <p:nvPr/>
        </p:nvSpPr>
        <p:spPr>
          <a:xfrm>
            <a:off x="7244480" y="266390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1" name="Google Shape;2261;p167"/>
          <p:cNvGraphicFramePr/>
          <p:nvPr/>
        </p:nvGraphicFramePr>
        <p:xfrm>
          <a:off x="3421400" y="411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2" name="Google Shape;2262;p167"/>
          <p:cNvSpPr txBox="1"/>
          <p:nvPr/>
        </p:nvSpPr>
        <p:spPr>
          <a:xfrm>
            <a:off x="3354905" y="37237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67"/>
          <p:cNvSpPr txBox="1"/>
          <p:nvPr/>
        </p:nvSpPr>
        <p:spPr>
          <a:xfrm>
            <a:off x="8520576" y="372372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67"/>
          <p:cNvSpPr txBox="1"/>
          <p:nvPr/>
        </p:nvSpPr>
        <p:spPr>
          <a:xfrm>
            <a:off x="5957025" y="372372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5" name="Google Shape;2265;p167"/>
          <p:cNvGrpSpPr/>
          <p:nvPr/>
        </p:nvGrpSpPr>
        <p:grpSpPr>
          <a:xfrm>
            <a:off x="4760041" y="3966655"/>
            <a:ext cx="2708605" cy="429521"/>
            <a:chOff x="4825850" y="3296750"/>
            <a:chExt cx="1524000" cy="650100"/>
          </a:xfrm>
        </p:grpSpPr>
        <p:cxnSp>
          <p:nvCxnSpPr>
            <p:cNvPr id="2266" name="Google Shape;2266;p167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67" name="Google Shape;2267;p167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268" name="Google Shape;2268;p167"/>
          <p:cNvSpPr txBox="1"/>
          <p:nvPr/>
        </p:nvSpPr>
        <p:spPr>
          <a:xfrm>
            <a:off x="4558205" y="357305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167"/>
          <p:cNvSpPr txBox="1"/>
          <p:nvPr/>
        </p:nvSpPr>
        <p:spPr>
          <a:xfrm>
            <a:off x="7244480" y="358145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1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Identify the error interval of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 </a:t>
            </a:r>
            <a:r>
              <a:rPr lang="en-GB" sz="2100"/>
              <a:t>482 is rounded to the nearest whole number.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b)  </a:t>
            </a:r>
            <a:r>
              <a:rPr lang="en-GB" sz="2100"/>
              <a:t>65 is rounded to the 2 s.f.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c)  </a:t>
            </a:r>
            <a:r>
              <a:rPr lang="en-GB" sz="2100"/>
              <a:t>7.2 is rounded to 1 d.p.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d)  </a:t>
            </a:r>
            <a:r>
              <a:rPr lang="en-GB" sz="2100"/>
              <a:t>4.54 is rounded to 2 d.p.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16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169"/>
          <p:cNvSpPr txBox="1"/>
          <p:nvPr>
            <p:ph idx="4294967295" type="body"/>
          </p:nvPr>
        </p:nvSpPr>
        <p:spPr>
          <a:xfrm>
            <a:off x="324000" y="759300"/>
            <a:ext cx="8237700" cy="48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lang="en-GB"/>
              <a:t>Pair up the question with the correct </a:t>
            </a:r>
            <a:r>
              <a:rPr b="1" lang="en-GB"/>
              <a:t>error interval</a:t>
            </a:r>
            <a:r>
              <a:rPr lang="en-GB"/>
              <a:t>.</a:t>
            </a:r>
            <a:endParaRPr/>
          </a:p>
        </p:txBody>
      </p:sp>
      <p:sp>
        <p:nvSpPr>
          <p:cNvPr id="2281" name="Google Shape;2281;p16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2282" name="Google Shape;2282;p169"/>
          <p:cNvSpPr/>
          <p:nvPr/>
        </p:nvSpPr>
        <p:spPr>
          <a:xfrm>
            <a:off x="1281550" y="1316175"/>
            <a:ext cx="29391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is rounded to 1 s.f.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3" name="Google Shape;2283;p169"/>
          <p:cNvSpPr/>
          <p:nvPr/>
        </p:nvSpPr>
        <p:spPr>
          <a:xfrm>
            <a:off x="1281550" y="2203700"/>
            <a:ext cx="29391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3.3 is rounded to 1 d.p.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4" name="Google Shape;2284;p169"/>
          <p:cNvSpPr/>
          <p:nvPr/>
        </p:nvSpPr>
        <p:spPr>
          <a:xfrm>
            <a:off x="1281550" y="3091225"/>
            <a:ext cx="29391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3.2 is rounded to 2 s.f.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5" name="Google Shape;2285;p169"/>
          <p:cNvSpPr/>
          <p:nvPr/>
        </p:nvSpPr>
        <p:spPr>
          <a:xfrm>
            <a:off x="1281550" y="3978750"/>
            <a:ext cx="30384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3.25 is rounded to 2 d.p.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169"/>
          <p:cNvSpPr/>
          <p:nvPr/>
        </p:nvSpPr>
        <p:spPr>
          <a:xfrm>
            <a:off x="4987900" y="1316175"/>
            <a:ext cx="26670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7" name="Google Shape;2287;p169"/>
          <p:cNvSpPr/>
          <p:nvPr/>
        </p:nvSpPr>
        <p:spPr>
          <a:xfrm>
            <a:off x="4987900" y="2203700"/>
            <a:ext cx="26670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3.245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169"/>
          <p:cNvSpPr/>
          <p:nvPr/>
        </p:nvSpPr>
        <p:spPr>
          <a:xfrm>
            <a:off x="4987900" y="3091225"/>
            <a:ext cx="26670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9" name="Google Shape;2289;p169"/>
          <p:cNvSpPr/>
          <p:nvPr/>
        </p:nvSpPr>
        <p:spPr>
          <a:xfrm>
            <a:off x="4987900" y="3978750"/>
            <a:ext cx="26670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3.35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170"/>
          <p:cNvSpPr txBox="1"/>
          <p:nvPr>
            <p:ph idx="4294967295" type="body"/>
          </p:nvPr>
        </p:nvSpPr>
        <p:spPr>
          <a:xfrm>
            <a:off x="324000" y="1057600"/>
            <a:ext cx="8237700" cy="22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</a:t>
            </a:r>
            <a:r>
              <a:rPr lang="en-GB"/>
              <a:t>2 rounded to 1 s.f.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33 rounded to 2 s.f.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10 rounded to 2 s.f.</a:t>
            </a:r>
            <a:endParaRPr/>
          </a:p>
        </p:txBody>
      </p:sp>
      <p:sp>
        <p:nvSpPr>
          <p:cNvPr id="2295" name="Google Shape;2295;p170"/>
          <p:cNvSpPr txBox="1"/>
          <p:nvPr>
            <p:ph idx="1" type="body"/>
          </p:nvPr>
        </p:nvSpPr>
        <p:spPr>
          <a:xfrm>
            <a:off x="324000" y="759300"/>
            <a:ext cx="8237700" cy="5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Given the number lines, identify the </a:t>
            </a:r>
            <a:r>
              <a:rPr b="1" lang="en-GB"/>
              <a:t>error interval.</a:t>
            </a:r>
            <a:endParaRPr/>
          </a:p>
        </p:txBody>
      </p:sp>
      <p:sp>
        <p:nvSpPr>
          <p:cNvPr id="2296" name="Google Shape;2296;p17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graphicFrame>
        <p:nvGraphicFramePr>
          <p:cNvPr id="2297" name="Google Shape;2297;p170"/>
          <p:cNvGraphicFramePr/>
          <p:nvPr/>
        </p:nvGraphicFramePr>
        <p:xfrm>
          <a:off x="3421388" y="217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8" name="Google Shape;2298;p170"/>
          <p:cNvSpPr txBox="1"/>
          <p:nvPr/>
        </p:nvSpPr>
        <p:spPr>
          <a:xfrm>
            <a:off x="3354892" y="17837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170"/>
          <p:cNvSpPr txBox="1"/>
          <p:nvPr/>
        </p:nvSpPr>
        <p:spPr>
          <a:xfrm>
            <a:off x="8640000" y="1783725"/>
            <a:ext cx="29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170"/>
          <p:cNvSpPr txBox="1"/>
          <p:nvPr/>
        </p:nvSpPr>
        <p:spPr>
          <a:xfrm>
            <a:off x="5957013" y="1783725"/>
            <a:ext cx="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1" name="Google Shape;2301;p170"/>
          <p:cNvGrpSpPr/>
          <p:nvPr/>
        </p:nvGrpSpPr>
        <p:grpSpPr>
          <a:xfrm>
            <a:off x="4760016" y="2026649"/>
            <a:ext cx="2708605" cy="404882"/>
            <a:chOff x="4825850" y="3296750"/>
            <a:chExt cx="1524000" cy="650100"/>
          </a:xfrm>
        </p:grpSpPr>
        <p:cxnSp>
          <p:nvCxnSpPr>
            <p:cNvPr id="2302" name="Google Shape;2302;p170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303" name="Google Shape;2303;p170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304" name="Google Shape;2304;p170"/>
          <p:cNvSpPr txBox="1"/>
          <p:nvPr/>
        </p:nvSpPr>
        <p:spPr>
          <a:xfrm>
            <a:off x="4558192" y="170925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5" name="Google Shape;2305;p170"/>
          <p:cNvSpPr txBox="1"/>
          <p:nvPr/>
        </p:nvSpPr>
        <p:spPr>
          <a:xfrm>
            <a:off x="7244467" y="171765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6" name="Google Shape;2306;p170"/>
          <p:cNvSpPr/>
          <p:nvPr/>
        </p:nvSpPr>
        <p:spPr>
          <a:xfrm>
            <a:off x="4760057" y="2176650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07" name="Google Shape;2307;p170"/>
          <p:cNvGraphicFramePr/>
          <p:nvPr/>
        </p:nvGraphicFramePr>
        <p:xfrm>
          <a:off x="3421400" y="31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8" name="Google Shape;2308;p170"/>
          <p:cNvSpPr txBox="1"/>
          <p:nvPr/>
        </p:nvSpPr>
        <p:spPr>
          <a:xfrm>
            <a:off x="3354905" y="280617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9" name="Google Shape;2309;p170"/>
          <p:cNvSpPr txBox="1"/>
          <p:nvPr/>
        </p:nvSpPr>
        <p:spPr>
          <a:xfrm>
            <a:off x="8520576" y="280617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0" name="Google Shape;2310;p170"/>
          <p:cNvSpPr txBox="1"/>
          <p:nvPr/>
        </p:nvSpPr>
        <p:spPr>
          <a:xfrm>
            <a:off x="5825625" y="2806175"/>
            <a:ext cx="35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11" name="Google Shape;2311;p170"/>
          <p:cNvGrpSpPr/>
          <p:nvPr/>
        </p:nvGrpSpPr>
        <p:grpSpPr>
          <a:xfrm>
            <a:off x="4760041" y="3049162"/>
            <a:ext cx="2708605" cy="404882"/>
            <a:chOff x="4825850" y="3296750"/>
            <a:chExt cx="1524000" cy="650100"/>
          </a:xfrm>
        </p:grpSpPr>
        <p:cxnSp>
          <p:nvCxnSpPr>
            <p:cNvPr id="2312" name="Google Shape;2312;p170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313" name="Google Shape;2313;p170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314" name="Google Shape;2314;p170"/>
          <p:cNvSpPr txBox="1"/>
          <p:nvPr/>
        </p:nvSpPr>
        <p:spPr>
          <a:xfrm>
            <a:off x="4558205" y="265550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170"/>
          <p:cNvSpPr txBox="1"/>
          <p:nvPr/>
        </p:nvSpPr>
        <p:spPr>
          <a:xfrm>
            <a:off x="7244480" y="266390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33.5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170"/>
          <p:cNvSpPr/>
          <p:nvPr/>
        </p:nvSpPr>
        <p:spPr>
          <a:xfrm>
            <a:off x="4760069" y="3199100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17" name="Google Shape;2317;p170"/>
          <p:cNvGraphicFramePr/>
          <p:nvPr/>
        </p:nvGraphicFramePr>
        <p:xfrm>
          <a:off x="3421400" y="411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{FFDC51A2-71D0-461C-A3ED-4E04C38E72D9}</a:tableStyleId>
              </a:tblPr>
              <a:tblGrid>
                <a:gridCol w="2649775"/>
                <a:gridCol w="2649775"/>
              </a:tblGrid>
              <a:tr h="2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8" name="Google Shape;2318;p170"/>
          <p:cNvSpPr txBox="1"/>
          <p:nvPr/>
        </p:nvSpPr>
        <p:spPr>
          <a:xfrm>
            <a:off x="3354905" y="3723725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170"/>
          <p:cNvSpPr txBox="1"/>
          <p:nvPr/>
        </p:nvSpPr>
        <p:spPr>
          <a:xfrm>
            <a:off x="8520576" y="372372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0" name="Google Shape;2320;p170"/>
          <p:cNvSpPr txBox="1"/>
          <p:nvPr/>
        </p:nvSpPr>
        <p:spPr>
          <a:xfrm>
            <a:off x="5957025" y="3723725"/>
            <a:ext cx="4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21" name="Google Shape;2321;p170"/>
          <p:cNvGrpSpPr/>
          <p:nvPr/>
        </p:nvGrpSpPr>
        <p:grpSpPr>
          <a:xfrm>
            <a:off x="4760041" y="3966655"/>
            <a:ext cx="2708605" cy="429521"/>
            <a:chOff x="4825850" y="3296750"/>
            <a:chExt cx="1524000" cy="650100"/>
          </a:xfrm>
        </p:grpSpPr>
        <p:cxnSp>
          <p:nvCxnSpPr>
            <p:cNvPr id="2322" name="Google Shape;2322;p170"/>
            <p:cNvCxnSpPr/>
            <p:nvPr/>
          </p:nvCxnSpPr>
          <p:spPr>
            <a:xfrm>
              <a:off x="6349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323" name="Google Shape;2323;p170"/>
            <p:cNvCxnSpPr/>
            <p:nvPr/>
          </p:nvCxnSpPr>
          <p:spPr>
            <a:xfrm>
              <a:off x="4825850" y="3296750"/>
              <a:ext cx="0" cy="65010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324" name="Google Shape;2324;p170"/>
          <p:cNvSpPr txBox="1"/>
          <p:nvPr/>
        </p:nvSpPr>
        <p:spPr>
          <a:xfrm>
            <a:off x="4558205" y="3573050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170"/>
          <p:cNvSpPr txBox="1"/>
          <p:nvPr/>
        </p:nvSpPr>
        <p:spPr>
          <a:xfrm>
            <a:off x="7244480" y="3581451"/>
            <a:ext cx="59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6" name="Google Shape;2326;p170"/>
          <p:cNvSpPr/>
          <p:nvPr/>
        </p:nvSpPr>
        <p:spPr>
          <a:xfrm>
            <a:off x="4760069" y="4116650"/>
            <a:ext cx="2700000" cy="188100"/>
          </a:xfrm>
          <a:prstGeom prst="rect">
            <a:avLst/>
          </a:prstGeom>
          <a:solidFill>
            <a:srgbClr val="FFFF00">
              <a:alpha val="54430"/>
            </a:srgbClr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7" name="Google Shape;2327;p170"/>
          <p:cNvSpPr txBox="1"/>
          <p:nvPr/>
        </p:nvSpPr>
        <p:spPr>
          <a:xfrm>
            <a:off x="1076400" y="2018925"/>
            <a:ext cx="181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1.5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2.5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8" name="Google Shape;2328;p170"/>
          <p:cNvSpPr txBox="1"/>
          <p:nvPr/>
        </p:nvSpPr>
        <p:spPr>
          <a:xfrm>
            <a:off x="696950" y="2987825"/>
            <a:ext cx="216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32.5</a:t>
            </a:r>
            <a:r>
              <a:rPr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33.5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9" name="Google Shape;2329;p170"/>
          <p:cNvSpPr txBox="1"/>
          <p:nvPr/>
        </p:nvSpPr>
        <p:spPr>
          <a:xfrm>
            <a:off x="951800" y="4160700"/>
            <a:ext cx="203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9.5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10.5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Identify the error interval of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100"/>
              <a:t>482 is rounded to the nearest whole number.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b) </a:t>
            </a:r>
            <a:r>
              <a:rPr lang="en-GB" sz="2100"/>
              <a:t>65 is rounded to the 2 s.f.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c) </a:t>
            </a:r>
            <a:r>
              <a:rPr lang="en-GB" sz="2100"/>
              <a:t>7.2 is rounded to 1 d.p.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d) </a:t>
            </a:r>
            <a:r>
              <a:rPr lang="en-GB" sz="2100"/>
              <a:t>4.54 is rounded to 2 d.p.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17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2336" name="Google Shape;2336;p171"/>
          <p:cNvSpPr txBox="1"/>
          <p:nvPr/>
        </p:nvSpPr>
        <p:spPr>
          <a:xfrm>
            <a:off x="6577377" y="1421768"/>
            <a:ext cx="226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481.5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482.5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7" name="Google Shape;2337;p171"/>
          <p:cNvSpPr txBox="1"/>
          <p:nvPr/>
        </p:nvSpPr>
        <p:spPr>
          <a:xfrm>
            <a:off x="4167600" y="2192700"/>
            <a:ext cx="216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64.5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65.5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8" name="Google Shape;2338;p171"/>
          <p:cNvSpPr txBox="1"/>
          <p:nvPr/>
        </p:nvSpPr>
        <p:spPr>
          <a:xfrm>
            <a:off x="3869725" y="2987600"/>
            <a:ext cx="216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7.15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7.25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9" name="Google Shape;2339;p171"/>
          <p:cNvSpPr txBox="1"/>
          <p:nvPr/>
        </p:nvSpPr>
        <p:spPr>
          <a:xfrm>
            <a:off x="4167600" y="3780775"/>
            <a:ext cx="278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4.535</a:t>
            </a: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≤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 4.545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72"/>
          <p:cNvSpPr txBox="1"/>
          <p:nvPr>
            <p:ph idx="4294967295" type="body"/>
          </p:nvPr>
        </p:nvSpPr>
        <p:spPr>
          <a:xfrm>
            <a:off x="324000" y="759300"/>
            <a:ext cx="8237700" cy="48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Pair up the question with the correct </a:t>
            </a:r>
            <a:r>
              <a:rPr b="1" lang="en-GB"/>
              <a:t>error interval</a:t>
            </a:r>
            <a:r>
              <a:rPr lang="en-GB"/>
              <a:t>.</a:t>
            </a:r>
            <a:endParaRPr/>
          </a:p>
        </p:txBody>
      </p:sp>
      <p:sp>
        <p:nvSpPr>
          <p:cNvPr id="2345" name="Google Shape;2345;p17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Error intervals</a:t>
            </a:r>
            <a:endParaRPr/>
          </a:p>
        </p:txBody>
      </p:sp>
      <p:sp>
        <p:nvSpPr>
          <p:cNvPr id="2346" name="Google Shape;2346;p172"/>
          <p:cNvSpPr/>
          <p:nvPr/>
        </p:nvSpPr>
        <p:spPr>
          <a:xfrm>
            <a:off x="1281550" y="1316175"/>
            <a:ext cx="29391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is rounded to 1 s.f.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172"/>
          <p:cNvSpPr/>
          <p:nvPr/>
        </p:nvSpPr>
        <p:spPr>
          <a:xfrm>
            <a:off x="1281550" y="2203700"/>
            <a:ext cx="29391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3.3 is rounded to 1 d.p.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172"/>
          <p:cNvSpPr/>
          <p:nvPr/>
        </p:nvSpPr>
        <p:spPr>
          <a:xfrm>
            <a:off x="1281550" y="3091225"/>
            <a:ext cx="29391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3.2 is rounded to 2 s.f.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9" name="Google Shape;2349;p172"/>
          <p:cNvSpPr/>
          <p:nvPr/>
        </p:nvSpPr>
        <p:spPr>
          <a:xfrm>
            <a:off x="1281550" y="3978750"/>
            <a:ext cx="30384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3.25 is rounded to 2 d.p.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0" name="Google Shape;2350;p172"/>
          <p:cNvSpPr/>
          <p:nvPr/>
        </p:nvSpPr>
        <p:spPr>
          <a:xfrm>
            <a:off x="4987900" y="1316175"/>
            <a:ext cx="26670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1" name="Google Shape;2351;p172"/>
          <p:cNvSpPr/>
          <p:nvPr/>
        </p:nvSpPr>
        <p:spPr>
          <a:xfrm>
            <a:off x="4987900" y="2203700"/>
            <a:ext cx="26670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3.245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72"/>
          <p:cNvSpPr/>
          <p:nvPr/>
        </p:nvSpPr>
        <p:spPr>
          <a:xfrm>
            <a:off x="4987900" y="3091225"/>
            <a:ext cx="26670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3" name="Google Shape;2353;p172"/>
          <p:cNvSpPr/>
          <p:nvPr/>
        </p:nvSpPr>
        <p:spPr>
          <a:xfrm>
            <a:off x="4987900" y="3978750"/>
            <a:ext cx="2667000" cy="77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≤ </a:t>
            </a:r>
            <a:r>
              <a:rPr i="1" lang="en-GB" sz="2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3.35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4" name="Google Shape;2354;p172"/>
          <p:cNvCxnSpPr>
            <a:stCxn id="2346" idx="3"/>
            <a:endCxn id="2352" idx="1"/>
          </p:cNvCxnSpPr>
          <p:nvPr/>
        </p:nvCxnSpPr>
        <p:spPr>
          <a:xfrm>
            <a:off x="4220650" y="1701525"/>
            <a:ext cx="767400" cy="177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5" name="Google Shape;2355;p172"/>
          <p:cNvCxnSpPr>
            <a:stCxn id="2347" idx="3"/>
          </p:cNvCxnSpPr>
          <p:nvPr/>
        </p:nvCxnSpPr>
        <p:spPr>
          <a:xfrm>
            <a:off x="4220650" y="2589050"/>
            <a:ext cx="735000" cy="17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6" name="Google Shape;2356;p172"/>
          <p:cNvCxnSpPr/>
          <p:nvPr/>
        </p:nvCxnSpPr>
        <p:spPr>
          <a:xfrm flipH="1" rot="10800000">
            <a:off x="4220650" y="1796775"/>
            <a:ext cx="767400" cy="1731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172"/>
          <p:cNvCxnSpPr>
            <a:stCxn id="2349" idx="3"/>
          </p:cNvCxnSpPr>
          <p:nvPr/>
        </p:nvCxnSpPr>
        <p:spPr>
          <a:xfrm flipH="1" rot="10800000">
            <a:off x="4319950" y="2700000"/>
            <a:ext cx="668100" cy="166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73"/>
          <p:cNvSpPr txBox="1"/>
          <p:nvPr>
            <p:ph idx="1" type="body"/>
          </p:nvPr>
        </p:nvSpPr>
        <p:spPr>
          <a:xfrm>
            <a:off x="324000" y="7752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error interval for a number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shows the range of possible values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.  It is written as an inequality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 ≤ x &lt; b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Any number than has been given to a degree of accuracy has an </a:t>
            </a:r>
            <a:r>
              <a:rPr b="1" lang="en-GB"/>
              <a:t>error</a:t>
            </a:r>
            <a:r>
              <a:rPr lang="en-GB"/>
              <a:t> </a:t>
            </a:r>
            <a:r>
              <a:rPr b="1" lang="en-GB"/>
              <a:t>interval</a:t>
            </a:r>
            <a:r>
              <a:rPr lang="en-GB"/>
              <a:t>. This is because of the rounding that has taken place.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is important to recognise what degree of accuracy is used and then the error interval can be used. A number line can help.</a:t>
            </a:r>
            <a:endParaRPr/>
          </a:p>
        </p:txBody>
      </p:sp>
      <p:sp>
        <p:nvSpPr>
          <p:cNvPr id="2363" name="Google Shape;2363;p17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Inequality notation to express error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17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69" name="Google Shape;2369;p1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