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1" r:id="rId4"/>
    <p:sldMasterId id="21474837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0520EB-FF75-4DD8-848D-0ED0537E808A}">
  <a:tblStyle styleId="{7C0520EB-FF75-4DD8-848D-0ED0537E80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b013c46ed2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b013c46ed2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b013c46ed2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b013c46ed2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ad9aa613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ad9aa613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ad9aa6131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ad9aa613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2ad9aa6131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ad9aa6131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ad9aa6131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ad9aa6131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b0f89114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b0f89114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ad9aa6131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ad9aa6131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ad9aa6131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ad9aa6131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ad9aa6131f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ad9aa6131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ad9aa6131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ad9aa6131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ad9aa6131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ad9aa6131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ad9aa6131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ad9aa6131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2ad9aa6131f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2ad9aa6131f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ad9aa6131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ad9aa6131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2ad9aa6131f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2ad9aa6131f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2ad9aa6131f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2ad9aa6131f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ad9aa6131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2ad9aa6131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2ad9aa6131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2ad9aa6131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ad9aa6131f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ad9aa6131f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2ad9aa6131f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2ad9aa6131f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ad9aa6131f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ad9aa6131f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ad9aa6131f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ad9aa6131f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2ad9aa6131f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2ad9aa6131f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2ad9aa6131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ad9aa6131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2ad9aa6131f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ad9aa6131f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ad9aa6131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ad9aa6131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2ad9aa6131f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2ad9aa6131f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ad9aa6131f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ad9aa6131f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2ad9aa6131f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2ad9aa6131f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ad9aa6131f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ad9aa6131f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ad9aa6131f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ad9aa6131f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2ad9aa6131f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2ad9aa6131f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ad9aa6131f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ad9aa6131f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ad9aa6131f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ad9aa6131f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2ad9aa6131f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2ad9aa6131f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103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03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03.png"/><Relationship Id="rId4" Type="http://schemas.openxmlformats.org/officeDocument/2006/relationships/image" Target="../media/image29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103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03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03.png"/><Relationship Id="rId4" Type="http://schemas.openxmlformats.org/officeDocument/2006/relationships/image" Target="../media/image29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4" name="Google Shape;884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0" name="Google Shape;890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8" name="Google Shape;898;p8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9" name="Google Shape;899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81"/>
          <p:cNvCxnSpPr>
            <a:endCxn id="90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7" name="Google Shape;90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6" name="Google Shape;90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0" name="Google Shape;920;p82"/>
          <p:cNvCxnSpPr>
            <a:endCxn id="92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1" name="Google Shape;92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4" name="Google Shape;9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5" name="Google Shape;9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6" name="Google Shape;9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8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8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1" name="Google Shape;9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5" name="Google Shape;945;p83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83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7" name="Google Shape;947;p83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8" name="Google Shape;948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0" name="Google Shape;98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3" name="Google Shape;983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6" name="Google Shape;986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8" name="Google Shape;988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9" name="Google Shape;98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2" name="Google Shape;992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6" name="Google Shape;99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0" name="Google Shape;100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1" name="Google Shape;1001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2" name="Google Shape;1002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5" name="Google Shape;1005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9" name="Google Shape;1009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4" name="Google Shape;1014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5" name="Google Shape;1015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8" name="Google Shape;101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7" name="Google Shape;1027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8" name="Google Shape;102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1" name="Google Shape;1031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3" name="Google Shape;104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4" name="Google Shape;1044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0" name="Google Shape;1050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4" name="Google Shape;10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8" name="Google Shape;1068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9" name="Google Shape;1069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5" name="Google Shape;107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6" name="Google Shape;1086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7" name="Google Shape;108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0" name="Google Shape;1090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1" name="Google Shape;1091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2" name="Google Shape;1092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3" name="Google Shape;109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5" name="Google Shape;1095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6" name="Google Shape;109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8" name="Google Shape;109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9" name="Google Shape;1109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10" name="Google Shape;11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5" name="Google Shape;1115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6" name="Google Shape;111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9" name="Google Shape;111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1" name="Google Shape;11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2" name="Google Shape;1192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6" name="Google Shape;119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9" name="Google Shape;119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5" name="Google Shape;12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8" name="Google Shape;1208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9" name="Google Shape;120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0" name="Google Shape;121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2" name="Google Shape;1212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3" name="Google Shape;121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2" name="Google Shape;1232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5" name="Google Shape;1235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6" name="Google Shape;123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9" name="Google Shape;123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2" name="Google Shape;124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4" name="Google Shape;1244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5" name="Google Shape;124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6" name="Google Shape;124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1" name="Google Shape;125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4" name="Google Shape;1254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7" name="Google Shape;1257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8" name="Google Shape;1258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7" name="Google Shape;1267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4" name="Google Shape;127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0" name="Google Shape;1280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1" name="Google Shape;1281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4" name="Google Shape;135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7" name="Google Shape;1357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" name="Google Shape;1358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9" name="Google Shape;1359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0" name="Google Shape;1360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7" name="Google Shape;136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4" name="Google Shape;1394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3" name="Google Shape;140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5" name="Google Shape;143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9" name="Google Shape;1459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0" name="Google Shape;146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2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3" name="Google Shape;146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5" name="Google Shape;146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9" name="Google Shape;146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1" name="Google Shape;147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2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2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  <p:sldLayoutId id="214748377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7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06.png"/><Relationship Id="rId7" Type="http://schemas.openxmlformats.org/officeDocument/2006/relationships/image" Target="../media/image10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2.png"/><Relationship Id="rId4" Type="http://schemas.openxmlformats.org/officeDocument/2006/relationships/image" Target="../media/image10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2.png"/><Relationship Id="rId4" Type="http://schemas.openxmlformats.org/officeDocument/2006/relationships/image" Target="../media/image10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2.png"/><Relationship Id="rId4" Type="http://schemas.openxmlformats.org/officeDocument/2006/relationships/image" Target="../media/image10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6.png"/><Relationship Id="rId4" Type="http://schemas.openxmlformats.org/officeDocument/2006/relationships/image" Target="../media/image112.png"/><Relationship Id="rId5" Type="http://schemas.openxmlformats.org/officeDocument/2006/relationships/image" Target="../media/image10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6.png"/><Relationship Id="rId4" Type="http://schemas.openxmlformats.org/officeDocument/2006/relationships/image" Target="../media/image112.png"/><Relationship Id="rId5" Type="http://schemas.openxmlformats.org/officeDocument/2006/relationships/image" Target="../media/image10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12.png"/><Relationship Id="rId5" Type="http://schemas.openxmlformats.org/officeDocument/2006/relationships/image" Target="../media/image10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6.png"/><Relationship Id="rId4" Type="http://schemas.openxmlformats.org/officeDocument/2006/relationships/image" Target="../media/image112.png"/><Relationship Id="rId5" Type="http://schemas.openxmlformats.org/officeDocument/2006/relationships/image" Target="../media/image10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496" name="Google Shape;1496;p12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estimate a value by truncating to a given degree of accuracy.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/>
        </p:nvSpPr>
        <p:spPr>
          <a:xfrm>
            <a:off x="324000" y="802250"/>
            <a:ext cx="8416500" cy="16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degree of accuracy shows how precise a number or measurement is.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 to the nearest cm, nearest 10, 1 s.f., etc.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30"/>
          <p:cNvSpPr txBox="1"/>
          <p:nvPr/>
        </p:nvSpPr>
        <p:spPr>
          <a:xfrm>
            <a:off x="324000" y="802250"/>
            <a:ext cx="83739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Truncation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simplifying of a number by 'cutting off' one or more of the digits and replacing them with zeros if necessary to preserve place value.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30"/>
          <p:cNvSpPr txBox="1"/>
          <p:nvPr/>
        </p:nvSpPr>
        <p:spPr>
          <a:xfrm>
            <a:off x="428925" y="2571750"/>
            <a:ext cx="38682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For example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3678 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to 1 s.f. is 3000 </a:t>
            </a:r>
            <a:endParaRPr/>
          </a:p>
        </p:txBody>
      </p:sp>
      <p:sp>
        <p:nvSpPr>
          <p:cNvPr id="1518" name="Google Shape;1518;p130"/>
          <p:cNvSpPr txBox="1"/>
          <p:nvPr/>
        </p:nvSpPr>
        <p:spPr>
          <a:xfrm>
            <a:off x="4846875" y="2571750"/>
            <a:ext cx="38682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For example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0.3678 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to 2 d.p. is 0.36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3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524" name="Google Shape;1524;p13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525" name="Google Shape;1525;p13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pic>
        <p:nvPicPr>
          <p:cNvPr id="1526" name="Google Shape;152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53" y="205398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27875" y="775053"/>
            <a:ext cx="2865425" cy="3593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132"/>
          <p:cNvPicPr preferRelativeResize="0"/>
          <p:nvPr/>
        </p:nvPicPr>
        <p:blipFill rotWithShape="1">
          <a:blip r:embed="rId4">
            <a:alphaModFix/>
          </a:blip>
          <a:srcRect b="34952" l="-2570" r="73297" t="31338"/>
          <a:stretch/>
        </p:blipFill>
        <p:spPr>
          <a:xfrm>
            <a:off x="6327825" y="3537475"/>
            <a:ext cx="1436176" cy="11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32"/>
          <p:cNvSpPr txBox="1"/>
          <p:nvPr>
            <p:ph idx="1" type="body"/>
          </p:nvPr>
        </p:nvSpPr>
        <p:spPr>
          <a:xfrm>
            <a:off x="324000" y="810000"/>
            <a:ext cx="5007900" cy="40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Truncate</a:t>
            </a:r>
            <a:r>
              <a:rPr lang="en-GB"/>
              <a:t> </a:t>
            </a:r>
            <a:r>
              <a:rPr lang="en-GB"/>
              <a:t>comes from the Latin word “truncare”, which means “to shorten” and originates from the word truncus which means “trunk”.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Essentially</a:t>
            </a:r>
            <a:r>
              <a:rPr lang="en-GB"/>
              <a:t>, we are shortening a number to just give the trunk of a number. </a:t>
            </a:r>
            <a:endParaRPr/>
          </a:p>
        </p:txBody>
      </p:sp>
      <p:sp>
        <p:nvSpPr>
          <p:cNvPr id="1534" name="Google Shape;1534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cxnSp>
        <p:nvCxnSpPr>
          <p:cNvPr id="1535" name="Google Shape;1535;p132"/>
          <p:cNvCxnSpPr/>
          <p:nvPr/>
        </p:nvCxnSpPr>
        <p:spPr>
          <a:xfrm>
            <a:off x="6134388" y="3718421"/>
            <a:ext cx="2252400" cy="1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0" name="Google Shape;1540;p133"/>
          <p:cNvGraphicFramePr/>
          <p:nvPr/>
        </p:nvGraphicFramePr>
        <p:xfrm>
          <a:off x="2741555" y="1281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2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1" name="Google Shape;1541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542" name="Google Shape;1542;p133"/>
          <p:cNvSpPr txBox="1"/>
          <p:nvPr>
            <p:ph idx="1" type="body"/>
          </p:nvPr>
        </p:nvSpPr>
        <p:spPr>
          <a:xfrm>
            <a:off x="324000" y="810000"/>
            <a:ext cx="7374300" cy="9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example, </a:t>
            </a:r>
            <a:r>
              <a:rPr b="1" lang="en-GB" sz="2000"/>
              <a:t>truncate</a:t>
            </a:r>
            <a:r>
              <a:rPr lang="en-GB" sz="2000"/>
              <a:t> 4589 to 1 significant figure.</a:t>
            </a:r>
            <a:endParaRPr sz="2000"/>
          </a:p>
        </p:txBody>
      </p:sp>
      <p:sp>
        <p:nvSpPr>
          <p:cNvPr id="1543" name="Google Shape;1543;p133"/>
          <p:cNvSpPr/>
          <p:nvPr/>
        </p:nvSpPr>
        <p:spPr>
          <a:xfrm>
            <a:off x="2902878" y="2240087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33"/>
          <p:cNvSpPr txBox="1"/>
          <p:nvPr/>
        </p:nvSpPr>
        <p:spPr>
          <a:xfrm>
            <a:off x="2789050" y="2919239"/>
            <a:ext cx="431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first significant figure is 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1545" name="Google Shape;1545;p133"/>
          <p:cNvSpPr txBox="1"/>
          <p:nvPr/>
        </p:nvSpPr>
        <p:spPr>
          <a:xfrm>
            <a:off x="2846063" y="1657269"/>
            <a:ext cx="472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  </a:t>
            </a:r>
            <a:endParaRPr sz="1900"/>
          </a:p>
        </p:txBody>
      </p:sp>
      <p:sp>
        <p:nvSpPr>
          <p:cNvPr id="1546" name="Google Shape;1546;p133"/>
          <p:cNvSpPr txBox="1"/>
          <p:nvPr/>
        </p:nvSpPr>
        <p:spPr>
          <a:xfrm>
            <a:off x="324000" y="2562625"/>
            <a:ext cx="49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first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significant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figure? </a:t>
            </a:r>
            <a:endParaRPr sz="1200"/>
          </a:p>
        </p:txBody>
      </p:sp>
      <p:sp>
        <p:nvSpPr>
          <p:cNvPr id="1547" name="Google Shape;1547;p133"/>
          <p:cNvSpPr txBox="1"/>
          <p:nvPr/>
        </p:nvSpPr>
        <p:spPr>
          <a:xfrm>
            <a:off x="2902875" y="3514500"/>
            <a:ext cx="470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the trunk or digit we keep.</a:t>
            </a:r>
            <a:endParaRPr sz="1200"/>
          </a:p>
        </p:txBody>
      </p:sp>
      <p:sp>
        <p:nvSpPr>
          <p:cNvPr id="1548" name="Google Shape;1548;p133"/>
          <p:cNvSpPr txBox="1"/>
          <p:nvPr/>
        </p:nvSpPr>
        <p:spPr>
          <a:xfrm>
            <a:off x="2880950" y="3989100"/>
            <a:ext cx="5707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Ensuring we keep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magnitude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number, we insert the zeros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needed.</a:t>
            </a:r>
            <a:endParaRPr sz="1200"/>
          </a:p>
        </p:txBody>
      </p:sp>
      <p:sp>
        <p:nvSpPr>
          <p:cNvPr id="1549" name="Google Shape;1549;p133"/>
          <p:cNvSpPr txBox="1"/>
          <p:nvPr/>
        </p:nvSpPr>
        <p:spPr>
          <a:xfrm>
            <a:off x="3219053" y="1657275"/>
            <a:ext cx="192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0   0   0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900"/>
          </a:p>
        </p:txBody>
      </p:sp>
      <p:sp>
        <p:nvSpPr>
          <p:cNvPr id="1550" name="Google Shape;1550;p133"/>
          <p:cNvSpPr txBox="1"/>
          <p:nvPr/>
        </p:nvSpPr>
        <p:spPr>
          <a:xfrm>
            <a:off x="2758843" y="1657287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4  5   8  9 </a:t>
            </a:r>
            <a:endParaRPr sz="1900"/>
          </a:p>
        </p:txBody>
      </p:sp>
      <p:sp>
        <p:nvSpPr>
          <p:cNvPr id="1551" name="Google Shape;1551;p133"/>
          <p:cNvSpPr txBox="1"/>
          <p:nvPr/>
        </p:nvSpPr>
        <p:spPr>
          <a:xfrm>
            <a:off x="4626924" y="1255537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133"/>
          <p:cNvSpPr txBox="1"/>
          <p:nvPr/>
        </p:nvSpPr>
        <p:spPr>
          <a:xfrm>
            <a:off x="4609836" y="1640008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553" name="Google Shape;1553;p133" title="10 raised to the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958" y="1441718"/>
            <a:ext cx="206250" cy="166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554" name="Google Shape;1554;p133" title="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4408" y="1368259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555" name="Google Shape;1555;p133" title="10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0932" y="1368259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556" name="Google Shape;1556;p133" title="the fraction with numerator 1 and denominator 10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5508" y="127522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557" name="Google Shape;1557;p133" title="the fraction with numerator 1 and denominator 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3942" y="1272383"/>
            <a:ext cx="263983" cy="382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558" name="Google Shape;1558;p133" title="one ten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2434" y="1269642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559" name="Google Shape;1559;p133" title="10 raised to the power"/>
          <p:cNvPicPr preferRelativeResize="0"/>
          <p:nvPr/>
        </p:nvPicPr>
        <p:blipFill rotWithShape="1">
          <a:blip r:embed="rId3">
            <a:alphaModFix/>
          </a:blip>
          <a:srcRect b="0" l="0" r="55789" t="0"/>
          <a:stretch/>
        </p:blipFill>
        <p:spPr>
          <a:xfrm>
            <a:off x="4365138" y="1417254"/>
            <a:ext cx="89650" cy="16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0" name="Google Shape;1560;p133"/>
          <p:cNvCxnSpPr/>
          <p:nvPr/>
        </p:nvCxnSpPr>
        <p:spPr>
          <a:xfrm>
            <a:off x="3219038" y="1611925"/>
            <a:ext cx="0" cy="8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34"/>
          <p:cNvSpPr txBox="1"/>
          <p:nvPr>
            <p:ph idx="1" type="body"/>
          </p:nvPr>
        </p:nvSpPr>
        <p:spPr>
          <a:xfrm>
            <a:off x="324000" y="759300"/>
            <a:ext cx="82377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says:</a:t>
            </a:r>
            <a:endParaRPr sz="2000"/>
          </a:p>
        </p:txBody>
      </p:sp>
      <p:sp>
        <p:nvSpPr>
          <p:cNvPr id="1566" name="Google Shape;156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567" name="Google Shape;1567;p134"/>
          <p:cNvSpPr txBox="1"/>
          <p:nvPr>
            <p:ph idx="1" type="body"/>
          </p:nvPr>
        </p:nvSpPr>
        <p:spPr>
          <a:xfrm>
            <a:off x="2580750" y="1024325"/>
            <a:ext cx="32673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I</a:t>
            </a:r>
            <a:r>
              <a:rPr b="1" lang="en-GB"/>
              <a:t> </a:t>
            </a:r>
            <a:r>
              <a:rPr b="1" lang="en-GB"/>
              <a:t>truncate</a:t>
            </a:r>
            <a:r>
              <a:rPr lang="en-GB"/>
              <a:t> 4589 to 1 significant figure, I get 5000.</a:t>
            </a:r>
            <a:endParaRPr/>
          </a:p>
        </p:txBody>
      </p:sp>
      <p:sp>
        <p:nvSpPr>
          <p:cNvPr id="1568" name="Google Shape;1568;p134"/>
          <p:cNvSpPr txBox="1"/>
          <p:nvPr/>
        </p:nvSpPr>
        <p:spPr>
          <a:xfrm>
            <a:off x="6190525" y="25311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9" name="Google Shape;1569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382761" y="126771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134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2277601" y="846075"/>
            <a:ext cx="3912924" cy="172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134"/>
          <p:cNvSpPr txBox="1"/>
          <p:nvPr/>
        </p:nvSpPr>
        <p:spPr>
          <a:xfrm>
            <a:off x="351125" y="2931000"/>
            <a:ext cx="8087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why Aisha thinks the answer is 5000?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34"/>
          <p:cNvSpPr txBox="1"/>
          <p:nvPr/>
        </p:nvSpPr>
        <p:spPr>
          <a:xfrm>
            <a:off x="351125" y="3350250"/>
            <a:ext cx="687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has 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rounded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1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significant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figure.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different to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truncating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1 significant figure.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3" name="Google Shape;1573;p134"/>
          <p:cNvSpPr txBox="1"/>
          <p:nvPr/>
        </p:nvSpPr>
        <p:spPr>
          <a:xfrm>
            <a:off x="324000" y="4146700"/>
            <a:ext cx="8087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truncating you do not change any of digits before the truncation.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579" name="Google Shape;1579;p135"/>
          <p:cNvSpPr txBox="1"/>
          <p:nvPr>
            <p:ph idx="1" type="body"/>
          </p:nvPr>
        </p:nvSpPr>
        <p:spPr>
          <a:xfrm>
            <a:off x="324000" y="759300"/>
            <a:ext cx="54504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</a:t>
            </a:r>
            <a:r>
              <a:rPr b="1" lang="en-GB"/>
              <a:t>runcate</a:t>
            </a:r>
            <a:r>
              <a:rPr lang="en-GB"/>
              <a:t> 59 894 to 2 significant figures.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Who is correct? Can you explain the </a:t>
            </a:r>
            <a:br>
              <a:rPr lang="en-GB" sz="2100"/>
            </a:br>
            <a:r>
              <a:rPr lang="en-GB" sz="2100"/>
              <a:t>other errors?</a:t>
            </a:r>
            <a:endParaRPr sz="2100"/>
          </a:p>
        </p:txBody>
      </p:sp>
      <p:sp>
        <p:nvSpPr>
          <p:cNvPr id="1580" name="Google Shape;1580;p135"/>
          <p:cNvSpPr txBox="1"/>
          <p:nvPr/>
        </p:nvSpPr>
        <p:spPr>
          <a:xfrm>
            <a:off x="7442125" y="39227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1" name="Google Shape;1581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34361" y="26593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35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5533526" y="2527150"/>
            <a:ext cx="2151849" cy="13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5"/>
          <p:cNvSpPr txBox="1"/>
          <p:nvPr/>
        </p:nvSpPr>
        <p:spPr>
          <a:xfrm>
            <a:off x="5567250" y="2637825"/>
            <a:ext cx="2084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59 000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5"/>
          <p:cNvSpPr txBox="1"/>
          <p:nvPr/>
        </p:nvSpPr>
        <p:spPr>
          <a:xfrm>
            <a:off x="1560025" y="1567200"/>
            <a:ext cx="2374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59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35"/>
          <p:cNvSpPr txBox="1"/>
          <p:nvPr/>
        </p:nvSpPr>
        <p:spPr>
          <a:xfrm>
            <a:off x="324000" y="3635075"/>
            <a:ext cx="687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Aisha. Jacob just wrote the first 2 s.f. and lost the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magnitude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the number. Andeep has 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rounded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number to 2 s.f.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86" name="Google Shape;1586;p135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377650" y="1413450"/>
            <a:ext cx="2602424" cy="7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135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841065" y="1231313"/>
            <a:ext cx="2831473" cy="8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135"/>
          <p:cNvSpPr txBox="1"/>
          <p:nvPr/>
        </p:nvSpPr>
        <p:spPr>
          <a:xfrm>
            <a:off x="5171843" y="1295700"/>
            <a:ext cx="1634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It’s 60 000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9" name="Google Shape;1589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59087" y="150273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35"/>
          <p:cNvSpPr txBox="1"/>
          <p:nvPr/>
        </p:nvSpPr>
        <p:spPr>
          <a:xfrm>
            <a:off x="492350" y="23458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1" name="Google Shape;1591;p1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9337" y="1148512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35"/>
          <p:cNvSpPr txBox="1"/>
          <p:nvPr/>
        </p:nvSpPr>
        <p:spPr>
          <a:xfrm>
            <a:off x="7514350" y="21114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36"/>
          <p:cNvSpPr/>
          <p:nvPr/>
        </p:nvSpPr>
        <p:spPr>
          <a:xfrm>
            <a:off x="1468597" y="3629690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6"/>
          <p:cNvSpPr/>
          <p:nvPr/>
        </p:nvSpPr>
        <p:spPr>
          <a:xfrm>
            <a:off x="1474200" y="2873856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6"/>
          <p:cNvSpPr/>
          <p:nvPr/>
        </p:nvSpPr>
        <p:spPr>
          <a:xfrm>
            <a:off x="1474200" y="2085513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36"/>
          <p:cNvSpPr/>
          <p:nvPr/>
        </p:nvSpPr>
        <p:spPr>
          <a:xfrm>
            <a:off x="1474200" y="1288738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36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Pair up the numbers with the </a:t>
            </a:r>
            <a:r>
              <a:rPr b="1" lang="en-GB"/>
              <a:t>truncated</a:t>
            </a:r>
            <a:r>
              <a:rPr lang="en-GB"/>
              <a:t> values.</a:t>
            </a:r>
            <a:endParaRPr/>
          </a:p>
        </p:txBody>
      </p:sp>
      <p:sp>
        <p:nvSpPr>
          <p:cNvPr id="1602" name="Google Shape;1602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603" name="Google Shape;1603;p136"/>
          <p:cNvSpPr/>
          <p:nvPr/>
        </p:nvSpPr>
        <p:spPr>
          <a:xfrm>
            <a:off x="1474200" y="1294394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36"/>
          <p:cNvSpPr/>
          <p:nvPr/>
        </p:nvSpPr>
        <p:spPr>
          <a:xfrm>
            <a:off x="1474200" y="2079925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136"/>
          <p:cNvSpPr/>
          <p:nvPr/>
        </p:nvSpPr>
        <p:spPr>
          <a:xfrm>
            <a:off x="1474200" y="2882275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136"/>
          <p:cNvSpPr/>
          <p:nvPr/>
        </p:nvSpPr>
        <p:spPr>
          <a:xfrm>
            <a:off x="1474200" y="3639775"/>
            <a:ext cx="17592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36"/>
          <p:cNvSpPr/>
          <p:nvPr/>
        </p:nvSpPr>
        <p:spPr>
          <a:xfrm>
            <a:off x="4302575" y="1305600"/>
            <a:ext cx="36171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to 1 s.f. is 10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36"/>
          <p:cNvSpPr/>
          <p:nvPr/>
        </p:nvSpPr>
        <p:spPr>
          <a:xfrm>
            <a:off x="4302575" y="2079925"/>
            <a:ext cx="36171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1 s.f. is 1000 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36"/>
          <p:cNvSpPr/>
          <p:nvPr/>
        </p:nvSpPr>
        <p:spPr>
          <a:xfrm>
            <a:off x="4302575" y="2882275"/>
            <a:ext cx="36171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s.f. is 2000 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6"/>
          <p:cNvSpPr/>
          <p:nvPr/>
        </p:nvSpPr>
        <p:spPr>
          <a:xfrm>
            <a:off x="4302575" y="3639775"/>
            <a:ext cx="36171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1 s.f. is 20 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1" name="Google Shape;1611;p136"/>
          <p:cNvCxnSpPr>
            <a:stCxn id="1606" idx="3"/>
            <a:endCxn id="1607" idx="1"/>
          </p:cNvCxnSpPr>
          <p:nvPr/>
        </p:nvCxnSpPr>
        <p:spPr>
          <a:xfrm flipH="1" rot="10800000">
            <a:off x="3233400" y="1612225"/>
            <a:ext cx="1069200" cy="233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136"/>
          <p:cNvCxnSpPr>
            <a:stCxn id="1603" idx="3"/>
            <a:endCxn id="1608" idx="1"/>
          </p:cNvCxnSpPr>
          <p:nvPr/>
        </p:nvCxnSpPr>
        <p:spPr>
          <a:xfrm>
            <a:off x="3233400" y="1601144"/>
            <a:ext cx="1069200" cy="78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136"/>
          <p:cNvCxnSpPr/>
          <p:nvPr/>
        </p:nvCxnSpPr>
        <p:spPr>
          <a:xfrm>
            <a:off x="3233400" y="2392288"/>
            <a:ext cx="1069200" cy="7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136"/>
          <p:cNvCxnSpPr/>
          <p:nvPr/>
        </p:nvCxnSpPr>
        <p:spPr>
          <a:xfrm>
            <a:off x="3206525" y="3172238"/>
            <a:ext cx="1069200" cy="7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136"/>
          <p:cNvCxnSpPr/>
          <p:nvPr/>
        </p:nvCxnSpPr>
        <p:spPr>
          <a:xfrm>
            <a:off x="2097575" y="1249350"/>
            <a:ext cx="0" cy="741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136"/>
          <p:cNvCxnSpPr/>
          <p:nvPr/>
        </p:nvCxnSpPr>
        <p:spPr>
          <a:xfrm>
            <a:off x="2093100" y="2024588"/>
            <a:ext cx="0" cy="741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136"/>
          <p:cNvCxnSpPr/>
          <p:nvPr/>
        </p:nvCxnSpPr>
        <p:spPr>
          <a:xfrm>
            <a:off x="1959750" y="2763146"/>
            <a:ext cx="0" cy="741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136"/>
          <p:cNvCxnSpPr/>
          <p:nvPr/>
        </p:nvCxnSpPr>
        <p:spPr>
          <a:xfrm>
            <a:off x="1919413" y="3613538"/>
            <a:ext cx="0" cy="741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624" name="Google Shape;1624;p137"/>
          <p:cNvSpPr txBox="1"/>
          <p:nvPr>
            <p:ph idx="1" type="body"/>
          </p:nvPr>
        </p:nvSpPr>
        <p:spPr>
          <a:xfrm>
            <a:off x="324000" y="733800"/>
            <a:ext cx="8496000" cy="18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can </a:t>
            </a:r>
            <a:r>
              <a:rPr b="1" lang="en-GB" sz="2100"/>
              <a:t>truncate</a:t>
            </a:r>
            <a:r>
              <a:rPr lang="en-GB" sz="2100"/>
              <a:t> large and small numbers.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The process is still the same. It is important to pay </a:t>
            </a:r>
            <a:r>
              <a:rPr lang="en-GB" sz="2100"/>
              <a:t>attention</a:t>
            </a:r>
            <a:r>
              <a:rPr lang="en-GB" sz="2100"/>
              <a:t> to the </a:t>
            </a:r>
            <a:r>
              <a:rPr lang="en-GB" sz="2100">
                <a:solidFill>
                  <a:schemeClr val="accent4"/>
                </a:solidFill>
              </a:rPr>
              <a:t>degree of accuracy.</a:t>
            </a:r>
            <a:endParaRPr sz="21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For example, </a:t>
            </a:r>
            <a:r>
              <a:rPr b="1" lang="en-GB" sz="2100"/>
              <a:t>truncate</a:t>
            </a:r>
            <a:r>
              <a:rPr lang="en-GB" sz="2100"/>
              <a:t> 0.027815 to 2 significant figures.</a:t>
            </a:r>
            <a:endParaRPr sz="2100"/>
          </a:p>
        </p:txBody>
      </p:sp>
      <p:sp>
        <p:nvSpPr>
          <p:cNvPr id="1625" name="Google Shape;1625;p137"/>
          <p:cNvSpPr txBox="1"/>
          <p:nvPr/>
        </p:nvSpPr>
        <p:spPr>
          <a:xfrm>
            <a:off x="3653500" y="254848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900"/>
          </a:p>
        </p:txBody>
      </p:sp>
      <p:sp>
        <p:nvSpPr>
          <p:cNvPr id="1626" name="Google Shape;1626;p137"/>
          <p:cNvSpPr/>
          <p:nvPr/>
        </p:nvSpPr>
        <p:spPr>
          <a:xfrm>
            <a:off x="4484544" y="2958462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7"/>
          <p:cNvSpPr txBox="1"/>
          <p:nvPr/>
        </p:nvSpPr>
        <p:spPr>
          <a:xfrm>
            <a:off x="2452225" y="3309225"/>
            <a:ext cx="618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second significant figure is 7 </a:t>
            </a:r>
            <a:endParaRPr sz="2100"/>
          </a:p>
        </p:txBody>
      </p:sp>
      <p:cxnSp>
        <p:nvCxnSpPr>
          <p:cNvPr id="1628" name="Google Shape;1628;p137"/>
          <p:cNvCxnSpPr/>
          <p:nvPr/>
        </p:nvCxnSpPr>
        <p:spPr>
          <a:xfrm flipH="1">
            <a:off x="4683950" y="2562175"/>
            <a:ext cx="2700" cy="41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629" name="Google Shape;1629;p137"/>
          <p:cNvSpPr txBox="1"/>
          <p:nvPr/>
        </p:nvSpPr>
        <p:spPr>
          <a:xfrm>
            <a:off x="1121825" y="3011388"/>
            <a:ext cx="687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digit is the second significant figure?</a:t>
            </a:r>
            <a:endParaRPr sz="2100"/>
          </a:p>
        </p:txBody>
      </p:sp>
      <p:sp>
        <p:nvSpPr>
          <p:cNvPr id="1630" name="Google Shape;1630;p137"/>
          <p:cNvSpPr txBox="1"/>
          <p:nvPr/>
        </p:nvSpPr>
        <p:spPr>
          <a:xfrm>
            <a:off x="2452225" y="3709375"/>
            <a:ext cx="470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the trunk or digit we keep.</a:t>
            </a:r>
            <a:endParaRPr sz="2100"/>
          </a:p>
        </p:txBody>
      </p:sp>
      <p:sp>
        <p:nvSpPr>
          <p:cNvPr id="1631" name="Google Shape;1631;p137"/>
          <p:cNvSpPr txBox="1"/>
          <p:nvPr/>
        </p:nvSpPr>
        <p:spPr>
          <a:xfrm>
            <a:off x="2452225" y="4109525"/>
            <a:ext cx="5757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Ensuring we keep the magnitude of the number, we insert the zeros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needed.</a:t>
            </a:r>
            <a:endParaRPr sz="2100"/>
          </a:p>
        </p:txBody>
      </p:sp>
      <p:sp>
        <p:nvSpPr>
          <p:cNvPr id="1632" name="Google Shape;1632;p137"/>
          <p:cNvSpPr txBox="1"/>
          <p:nvPr/>
        </p:nvSpPr>
        <p:spPr>
          <a:xfrm>
            <a:off x="3643409" y="2547246"/>
            <a:ext cx="116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38"/>
          <p:cNvSpPr txBox="1"/>
          <p:nvPr>
            <p:ph idx="1" type="body"/>
          </p:nvPr>
        </p:nvSpPr>
        <p:spPr>
          <a:xfrm>
            <a:off x="324000" y="759300"/>
            <a:ext cx="8455500" cy="15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Three pupils were given this instruction.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“</a:t>
            </a:r>
            <a:r>
              <a:rPr b="1" lang="en-GB" sz="2000"/>
              <a:t>Truncate</a:t>
            </a:r>
            <a:r>
              <a:rPr lang="en-GB" sz="2000"/>
              <a:t> 12.235 to 2 decimal places.”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Who is correct? Explain the error the other students have made.</a:t>
            </a:r>
            <a:endParaRPr sz="2000"/>
          </a:p>
        </p:txBody>
      </p:sp>
      <p:sp>
        <p:nvSpPr>
          <p:cNvPr id="1638" name="Google Shape;1638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pic>
        <p:nvPicPr>
          <p:cNvPr id="1639" name="Google Shape;163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5337" y="237063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1612" y="2160012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2887" y="22508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138"/>
          <p:cNvSpPr txBox="1"/>
          <p:nvPr/>
        </p:nvSpPr>
        <p:spPr>
          <a:xfrm>
            <a:off x="4556625" y="31229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8"/>
          <p:cNvSpPr txBox="1"/>
          <p:nvPr/>
        </p:nvSpPr>
        <p:spPr>
          <a:xfrm>
            <a:off x="418600" y="32137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8"/>
          <p:cNvSpPr txBox="1"/>
          <p:nvPr/>
        </p:nvSpPr>
        <p:spPr>
          <a:xfrm>
            <a:off x="5967400" y="31601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5" name="Google Shape;1645;p13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1240856" y="2159995"/>
            <a:ext cx="1596278" cy="101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13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3013050" y="2160000"/>
            <a:ext cx="1552650" cy="101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13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793581" y="2143570"/>
            <a:ext cx="1596278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138"/>
          <p:cNvSpPr txBox="1"/>
          <p:nvPr/>
        </p:nvSpPr>
        <p:spPr>
          <a:xfrm>
            <a:off x="1298888" y="2143575"/>
            <a:ext cx="1480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12.23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38"/>
          <p:cNvSpPr txBox="1"/>
          <p:nvPr/>
        </p:nvSpPr>
        <p:spPr>
          <a:xfrm>
            <a:off x="3049250" y="2164500"/>
            <a:ext cx="1480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38"/>
          <p:cNvSpPr txBox="1"/>
          <p:nvPr/>
        </p:nvSpPr>
        <p:spPr>
          <a:xfrm>
            <a:off x="6851613" y="2143575"/>
            <a:ext cx="1480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1" name="Google Shape;1651;p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2783" y="3070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138"/>
          <p:cNvSpPr txBox="1"/>
          <p:nvPr/>
        </p:nvSpPr>
        <p:spPr>
          <a:xfrm>
            <a:off x="2947058" y="3342400"/>
            <a:ext cx="2452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has rounded to 2 s.f. or the nearest integer.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3" name="Google Shape;1653;p138"/>
          <p:cNvSpPr txBox="1"/>
          <p:nvPr/>
        </p:nvSpPr>
        <p:spPr>
          <a:xfrm>
            <a:off x="5947833" y="3453525"/>
            <a:ext cx="2452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has rounded to 2 d.p.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4" name="Google Shape;1654;p138"/>
          <p:cNvSpPr txBox="1"/>
          <p:nvPr/>
        </p:nvSpPr>
        <p:spPr>
          <a:xfrm>
            <a:off x="324008" y="3527275"/>
            <a:ext cx="2452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Jacob has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truncated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number to 2 d.p.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9" name="Google Shape;1659;p139"/>
          <p:cNvGraphicFramePr/>
          <p:nvPr/>
        </p:nvGraphicFramePr>
        <p:xfrm>
          <a:off x="597775" y="140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2641600"/>
                <a:gridCol w="2641600"/>
                <a:gridCol w="2641600"/>
              </a:tblGrid>
              <a:tr h="50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2 significant figures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2 decimal places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5682.6234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0.86252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682.9956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0.000125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0" name="Google Shape;1660;p139"/>
          <p:cNvSpPr txBox="1"/>
          <p:nvPr>
            <p:ph idx="1" type="body"/>
          </p:nvPr>
        </p:nvSpPr>
        <p:spPr>
          <a:xfrm>
            <a:off x="324000" y="759300"/>
            <a:ext cx="3045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table below.</a:t>
            </a:r>
            <a:endParaRPr/>
          </a:p>
        </p:txBody>
      </p:sp>
      <p:sp>
        <p:nvSpPr>
          <p:cNvPr id="1661" name="Google Shape;1661;p139"/>
          <p:cNvSpPr txBox="1"/>
          <p:nvPr/>
        </p:nvSpPr>
        <p:spPr>
          <a:xfrm>
            <a:off x="603219" y="2180951"/>
            <a:ext cx="147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82.6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</a:t>
            </a:r>
            <a:endParaRPr/>
          </a:p>
        </p:txBody>
      </p:sp>
      <p:sp>
        <p:nvSpPr>
          <p:cNvPr id="1662" name="Google Shape;1662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663" name="Google Shape;1663;p139"/>
          <p:cNvSpPr txBox="1"/>
          <p:nvPr/>
        </p:nvSpPr>
        <p:spPr>
          <a:xfrm>
            <a:off x="3794225" y="2170975"/>
            <a:ext cx="147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5600</a:t>
            </a:r>
            <a:endParaRPr/>
          </a:p>
        </p:txBody>
      </p:sp>
      <p:sp>
        <p:nvSpPr>
          <p:cNvPr id="1664" name="Google Shape;1664;p139"/>
          <p:cNvSpPr txBox="1"/>
          <p:nvPr/>
        </p:nvSpPr>
        <p:spPr>
          <a:xfrm>
            <a:off x="597778" y="2170947"/>
            <a:ext cx="147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82.6234</a:t>
            </a:r>
            <a:endParaRPr/>
          </a:p>
        </p:txBody>
      </p:sp>
      <p:sp>
        <p:nvSpPr>
          <p:cNvPr id="1665" name="Google Shape;1665;p139"/>
          <p:cNvSpPr txBox="1"/>
          <p:nvPr/>
        </p:nvSpPr>
        <p:spPr>
          <a:xfrm>
            <a:off x="6512475" y="2176375"/>
            <a:ext cx="147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5682.62</a:t>
            </a:r>
            <a:endParaRPr/>
          </a:p>
        </p:txBody>
      </p:sp>
      <p:sp>
        <p:nvSpPr>
          <p:cNvPr id="1666" name="Google Shape;1666;p139"/>
          <p:cNvSpPr txBox="1"/>
          <p:nvPr/>
        </p:nvSpPr>
        <p:spPr>
          <a:xfrm>
            <a:off x="595124" y="2654312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252</a:t>
            </a:r>
            <a:endParaRPr/>
          </a:p>
        </p:txBody>
      </p:sp>
      <p:sp>
        <p:nvSpPr>
          <p:cNvPr id="1667" name="Google Shape;1667;p139"/>
          <p:cNvSpPr txBox="1"/>
          <p:nvPr/>
        </p:nvSpPr>
        <p:spPr>
          <a:xfrm>
            <a:off x="594462" y="3159264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2.9956</a:t>
            </a:r>
            <a:endParaRPr/>
          </a:p>
        </p:txBody>
      </p:sp>
      <p:sp>
        <p:nvSpPr>
          <p:cNvPr id="1668" name="Google Shape;1668;p139"/>
          <p:cNvSpPr txBox="1"/>
          <p:nvPr/>
        </p:nvSpPr>
        <p:spPr>
          <a:xfrm>
            <a:off x="606326" y="3154000"/>
            <a:ext cx="135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2.9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</a:t>
            </a:r>
            <a:endParaRPr/>
          </a:p>
        </p:txBody>
      </p:sp>
      <p:sp>
        <p:nvSpPr>
          <p:cNvPr id="1669" name="Google Shape;1669;p139"/>
          <p:cNvSpPr txBox="1"/>
          <p:nvPr/>
        </p:nvSpPr>
        <p:spPr>
          <a:xfrm>
            <a:off x="600420" y="3652425"/>
            <a:ext cx="135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0.0001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670" name="Google Shape;1670;p139"/>
          <p:cNvSpPr txBox="1"/>
          <p:nvPr/>
        </p:nvSpPr>
        <p:spPr>
          <a:xfrm>
            <a:off x="595125" y="3651250"/>
            <a:ext cx="208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</a:t>
            </a:r>
            <a:r>
              <a:rPr b="1"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0125</a:t>
            </a:r>
            <a:endParaRPr/>
          </a:p>
        </p:txBody>
      </p:sp>
      <p:sp>
        <p:nvSpPr>
          <p:cNvPr id="1671" name="Google Shape;1671;p139"/>
          <p:cNvSpPr txBox="1"/>
          <p:nvPr/>
        </p:nvSpPr>
        <p:spPr>
          <a:xfrm>
            <a:off x="3794225" y="2700000"/>
            <a:ext cx="81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0.86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9"/>
          <p:cNvSpPr txBox="1"/>
          <p:nvPr/>
        </p:nvSpPr>
        <p:spPr>
          <a:xfrm>
            <a:off x="6725275" y="2700000"/>
            <a:ext cx="81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0.86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9"/>
          <p:cNvSpPr txBox="1"/>
          <p:nvPr/>
        </p:nvSpPr>
        <p:spPr>
          <a:xfrm>
            <a:off x="3725275" y="3177000"/>
            <a:ext cx="76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680</a:t>
            </a:r>
            <a:endParaRPr/>
          </a:p>
        </p:txBody>
      </p:sp>
      <p:sp>
        <p:nvSpPr>
          <p:cNvPr id="1674" name="Google Shape;1674;p139"/>
          <p:cNvSpPr txBox="1"/>
          <p:nvPr/>
        </p:nvSpPr>
        <p:spPr>
          <a:xfrm>
            <a:off x="6661600" y="3177000"/>
            <a:ext cx="107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682.99</a:t>
            </a:r>
            <a:endParaRPr/>
          </a:p>
        </p:txBody>
      </p:sp>
      <p:sp>
        <p:nvSpPr>
          <p:cNvPr id="1675" name="Google Shape;1675;p139"/>
          <p:cNvSpPr txBox="1"/>
          <p:nvPr/>
        </p:nvSpPr>
        <p:spPr>
          <a:xfrm>
            <a:off x="3725275" y="36566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0.00012</a:t>
            </a:r>
            <a:endParaRPr/>
          </a:p>
        </p:txBody>
      </p:sp>
      <p:sp>
        <p:nvSpPr>
          <p:cNvPr id="1676" name="Google Shape;1676;p139"/>
          <p:cNvSpPr txBox="1"/>
          <p:nvPr/>
        </p:nvSpPr>
        <p:spPr>
          <a:xfrm>
            <a:off x="6757500" y="3656675"/>
            <a:ext cx="91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40"/>
          <p:cNvSpPr txBox="1"/>
          <p:nvPr>
            <p:ph idx="1" type="body"/>
          </p:nvPr>
        </p:nvSpPr>
        <p:spPr>
          <a:xfrm>
            <a:off x="300350" y="64965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</a:t>
            </a:r>
            <a:r>
              <a:rPr lang="en-GB"/>
              <a:t> the table.</a:t>
            </a:r>
            <a:endParaRPr/>
          </a:p>
        </p:txBody>
      </p:sp>
      <p:sp>
        <p:nvSpPr>
          <p:cNvPr id="1682" name="Google Shape;1682;p14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Truncating</a:t>
            </a:r>
            <a:endParaRPr b="1" sz="2000"/>
          </a:p>
        </p:txBody>
      </p:sp>
      <p:graphicFrame>
        <p:nvGraphicFramePr>
          <p:cNvPr id="1683" name="Google Shape;1683;p140"/>
          <p:cNvGraphicFramePr/>
          <p:nvPr/>
        </p:nvGraphicFramePr>
        <p:xfrm>
          <a:off x="556400" y="11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1981200"/>
                <a:gridCol w="1981200"/>
                <a:gridCol w="1981200"/>
                <a:gridCol w="1981200"/>
              </a:tblGrid>
              <a:tr h="50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significant figure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2 significant figures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decimal place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89 231.625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0.05681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0.0002563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23.145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19.99999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41"/>
          <p:cNvSpPr txBox="1"/>
          <p:nvPr>
            <p:ph idx="1" type="body"/>
          </p:nvPr>
        </p:nvSpPr>
        <p:spPr>
          <a:xfrm>
            <a:off x="324000" y="759300"/>
            <a:ext cx="52983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Fill in the cross number puzzle.</a:t>
            </a:r>
            <a:endParaRPr/>
          </a:p>
        </p:txBody>
      </p:sp>
      <p:sp>
        <p:nvSpPr>
          <p:cNvPr id="1689" name="Google Shape;1689;p14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graphicFrame>
        <p:nvGraphicFramePr>
          <p:cNvPr id="1690" name="Google Shape;1690;p141"/>
          <p:cNvGraphicFramePr/>
          <p:nvPr/>
        </p:nvGraphicFramePr>
        <p:xfrm>
          <a:off x="639150" y="12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827550"/>
                <a:gridCol w="827550"/>
                <a:gridCol w="827550"/>
                <a:gridCol w="827550"/>
                <a:gridCol w="827550"/>
              </a:tblGrid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1" name="Google Shape;1691;p141"/>
          <p:cNvSpPr txBox="1"/>
          <p:nvPr/>
        </p:nvSpPr>
        <p:spPr>
          <a:xfrm>
            <a:off x="609600" y="1212000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1"/>
          <p:cNvSpPr txBox="1"/>
          <p:nvPr/>
        </p:nvSpPr>
        <p:spPr>
          <a:xfrm>
            <a:off x="609600" y="1890575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41"/>
          <p:cNvSpPr txBox="1"/>
          <p:nvPr/>
        </p:nvSpPr>
        <p:spPr>
          <a:xfrm>
            <a:off x="598422" y="3259499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41"/>
          <p:cNvSpPr txBox="1"/>
          <p:nvPr/>
        </p:nvSpPr>
        <p:spPr>
          <a:xfrm>
            <a:off x="2252473" y="1886565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41"/>
          <p:cNvSpPr txBox="1"/>
          <p:nvPr/>
        </p:nvSpPr>
        <p:spPr>
          <a:xfrm>
            <a:off x="3894723" y="3259490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41"/>
          <p:cNvSpPr txBox="1"/>
          <p:nvPr>
            <p:ph idx="1" type="body"/>
          </p:nvPr>
        </p:nvSpPr>
        <p:spPr>
          <a:xfrm>
            <a:off x="4963650" y="1247400"/>
            <a:ext cx="40167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Across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b="1" lang="en-GB" sz="1800"/>
              <a:t>Truncate</a:t>
            </a:r>
            <a:r>
              <a:rPr lang="en-GB" sz="1800"/>
              <a:t> 63215 to 3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b="1" lang="en-GB" sz="1800"/>
              <a:t>Truncate </a:t>
            </a:r>
            <a:r>
              <a:rPr lang="en-GB" sz="1800"/>
              <a:t>0.321986 to 3 d.p.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Down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b="1" lang="en-GB" sz="1800"/>
              <a:t>Truncate</a:t>
            </a:r>
            <a:r>
              <a:rPr lang="en-GB" sz="1800"/>
              <a:t> 56842 to thousands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b="1" lang="en-GB" sz="1800"/>
              <a:t>Truncate</a:t>
            </a:r>
            <a:r>
              <a:rPr lang="en-GB" sz="1800"/>
              <a:t> 2331.124 to 3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5) Round 13.856 to 2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6) Round 10.13986 to 2 d.p.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7" name="Google Shape;1697;p141"/>
          <p:cNvSpPr txBox="1"/>
          <p:nvPr/>
        </p:nvSpPr>
        <p:spPr>
          <a:xfrm>
            <a:off x="3949350" y="1287450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42"/>
          <p:cNvSpPr/>
          <p:nvPr/>
        </p:nvSpPr>
        <p:spPr>
          <a:xfrm>
            <a:off x="4917525" y="1056625"/>
            <a:ext cx="3708300" cy="356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42"/>
          <p:cNvSpPr/>
          <p:nvPr/>
        </p:nvSpPr>
        <p:spPr>
          <a:xfrm>
            <a:off x="425675" y="1046425"/>
            <a:ext cx="4422300" cy="356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42"/>
          <p:cNvSpPr txBox="1"/>
          <p:nvPr/>
        </p:nvSpPr>
        <p:spPr>
          <a:xfrm>
            <a:off x="4871700" y="1027375"/>
            <a:ext cx="3913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b) I am ………..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s.f. I am 100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a multiple of 4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200 when rounded to the nearest 100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sum of my digits is 15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42"/>
          <p:cNvSpPr txBox="1"/>
          <p:nvPr>
            <p:ph idx="1" type="body"/>
          </p:nvPr>
        </p:nvSpPr>
        <p:spPr>
          <a:xfrm>
            <a:off x="476400" y="759300"/>
            <a:ext cx="42816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3) Work out the number given the clues.</a:t>
            </a:r>
            <a:endParaRPr sz="1700"/>
          </a:p>
          <a:p>
            <a:pPr indent="-336550" lvl="0" marL="457200" rtl="0" algn="ctr"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 sz="1700"/>
              <a:t>I am ………….</a:t>
            </a:r>
            <a:endParaRPr sz="1700"/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700"/>
              <a:t>Truncated </a:t>
            </a:r>
            <a:r>
              <a:rPr lang="en-GB" sz="1700"/>
              <a:t>to 1 s.f. I am 200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/>
              <a:t>I am a multiple of 12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/>
              <a:t>I am 250 when rounded to the nearest 25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/>
              <a:t>I am a </a:t>
            </a:r>
            <a:r>
              <a:rPr lang="en-GB" sz="1700"/>
              <a:t>palindrome</a:t>
            </a:r>
            <a:r>
              <a:rPr lang="en-GB" sz="1700"/>
              <a:t> (number reads the same if all the digits reversed)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43"/>
          <p:cNvSpPr txBox="1"/>
          <p:nvPr>
            <p:ph idx="1" type="body"/>
          </p:nvPr>
        </p:nvSpPr>
        <p:spPr>
          <a:xfrm>
            <a:off x="324000" y="6480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the table.</a:t>
            </a:r>
            <a:endParaRPr/>
          </a:p>
        </p:txBody>
      </p:sp>
      <p:sp>
        <p:nvSpPr>
          <p:cNvPr id="1712" name="Google Shape;1712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 b="1" sz="2000"/>
          </a:p>
        </p:txBody>
      </p:sp>
      <p:graphicFrame>
        <p:nvGraphicFramePr>
          <p:cNvPr id="1713" name="Google Shape;1713;p143"/>
          <p:cNvGraphicFramePr/>
          <p:nvPr/>
        </p:nvGraphicFramePr>
        <p:xfrm>
          <a:off x="556400" y="11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1981200"/>
                <a:gridCol w="1981200"/>
                <a:gridCol w="1981200"/>
                <a:gridCol w="1981200"/>
              </a:tblGrid>
              <a:tr h="50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significant figures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2 significant figures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decimal place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89 231.625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80 000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89 000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89 231.6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0.05681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0.056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0.0002563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0.0002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0.00025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23.145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23.1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19.99999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19.9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4" name="Google Shape;1714;p143"/>
          <p:cNvGraphicFramePr/>
          <p:nvPr/>
        </p:nvGraphicFramePr>
        <p:xfrm>
          <a:off x="556400" y="11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1981200"/>
                <a:gridCol w="1981200"/>
                <a:gridCol w="1981200"/>
                <a:gridCol w="1981200"/>
              </a:tblGrid>
              <a:tr h="50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significant figure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2 significant figures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decimal place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89 231.625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0.05681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0.0002563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23.145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19.99999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44"/>
          <p:cNvSpPr txBox="1"/>
          <p:nvPr>
            <p:ph idx="1" type="body"/>
          </p:nvPr>
        </p:nvSpPr>
        <p:spPr>
          <a:xfrm>
            <a:off x="324000" y="759300"/>
            <a:ext cx="82377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Fill in the cross number puzzle.</a:t>
            </a:r>
            <a:endParaRPr/>
          </a:p>
        </p:txBody>
      </p:sp>
      <p:sp>
        <p:nvSpPr>
          <p:cNvPr id="1720" name="Google Shape;1720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graphicFrame>
        <p:nvGraphicFramePr>
          <p:cNvPr id="1721" name="Google Shape;1721;p144"/>
          <p:cNvGraphicFramePr/>
          <p:nvPr/>
        </p:nvGraphicFramePr>
        <p:xfrm>
          <a:off x="639150" y="12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827550"/>
                <a:gridCol w="827550"/>
                <a:gridCol w="827550"/>
                <a:gridCol w="827550"/>
                <a:gridCol w="827550"/>
              </a:tblGrid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5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1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6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3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2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3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.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.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3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2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1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4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2" name="Google Shape;1722;p144"/>
          <p:cNvSpPr txBox="1"/>
          <p:nvPr/>
        </p:nvSpPr>
        <p:spPr>
          <a:xfrm>
            <a:off x="609600" y="1212000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44"/>
          <p:cNvSpPr txBox="1"/>
          <p:nvPr/>
        </p:nvSpPr>
        <p:spPr>
          <a:xfrm>
            <a:off x="609600" y="1890575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44"/>
          <p:cNvSpPr txBox="1"/>
          <p:nvPr/>
        </p:nvSpPr>
        <p:spPr>
          <a:xfrm>
            <a:off x="598422" y="3259499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44"/>
          <p:cNvSpPr txBox="1"/>
          <p:nvPr/>
        </p:nvSpPr>
        <p:spPr>
          <a:xfrm>
            <a:off x="2252473" y="1886565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44"/>
          <p:cNvSpPr txBox="1"/>
          <p:nvPr/>
        </p:nvSpPr>
        <p:spPr>
          <a:xfrm>
            <a:off x="3894723" y="3259490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44"/>
          <p:cNvSpPr txBox="1"/>
          <p:nvPr>
            <p:ph idx="1" type="body"/>
          </p:nvPr>
        </p:nvSpPr>
        <p:spPr>
          <a:xfrm>
            <a:off x="4963650" y="1247400"/>
            <a:ext cx="40167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Across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b="1" lang="en-GB" sz="1800"/>
              <a:t>Truncate</a:t>
            </a:r>
            <a:r>
              <a:rPr lang="en-GB" sz="1800"/>
              <a:t> 63215 to 3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b="1" lang="en-GB" sz="1800"/>
              <a:t>Truncate</a:t>
            </a:r>
            <a:r>
              <a:rPr lang="en-GB" sz="1800"/>
              <a:t> 0.321986 to 3 d.p.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Down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b="1" lang="en-GB" sz="1800"/>
              <a:t>Truncate</a:t>
            </a:r>
            <a:r>
              <a:rPr lang="en-GB" sz="1800"/>
              <a:t> 56842 to thousands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b="1" lang="en-GB" sz="1800"/>
              <a:t>Truncate</a:t>
            </a:r>
            <a:r>
              <a:rPr lang="en-GB" sz="1800"/>
              <a:t> 2331.124 to 3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5) Round 13.856 to 2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6) </a:t>
            </a:r>
            <a:r>
              <a:rPr lang="en-GB" sz="1800"/>
              <a:t>Round</a:t>
            </a:r>
            <a:r>
              <a:rPr lang="en-GB" sz="1800"/>
              <a:t> 10.13986 to 2 d.p.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728" name="Google Shape;1728;p144"/>
          <p:cNvGraphicFramePr/>
          <p:nvPr/>
        </p:nvGraphicFramePr>
        <p:xfrm>
          <a:off x="639150" y="12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{7C0520EB-FF75-4DD8-848D-0ED0537E808A}</a:tableStyleId>
              </a:tblPr>
              <a:tblGrid>
                <a:gridCol w="827550"/>
                <a:gridCol w="827550"/>
                <a:gridCol w="827550"/>
                <a:gridCol w="827550"/>
                <a:gridCol w="827550"/>
              </a:tblGrid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.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9" name="Google Shape;1729;p144"/>
          <p:cNvSpPr txBox="1"/>
          <p:nvPr/>
        </p:nvSpPr>
        <p:spPr>
          <a:xfrm>
            <a:off x="609600" y="1212000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44"/>
          <p:cNvSpPr txBox="1"/>
          <p:nvPr/>
        </p:nvSpPr>
        <p:spPr>
          <a:xfrm>
            <a:off x="609600" y="1890575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44"/>
          <p:cNvSpPr txBox="1"/>
          <p:nvPr/>
        </p:nvSpPr>
        <p:spPr>
          <a:xfrm>
            <a:off x="598422" y="3259499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44"/>
          <p:cNvSpPr txBox="1"/>
          <p:nvPr/>
        </p:nvSpPr>
        <p:spPr>
          <a:xfrm>
            <a:off x="2252473" y="1886565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44"/>
          <p:cNvSpPr txBox="1"/>
          <p:nvPr/>
        </p:nvSpPr>
        <p:spPr>
          <a:xfrm>
            <a:off x="3894723" y="3259490"/>
            <a:ext cx="360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44"/>
          <p:cNvSpPr txBox="1"/>
          <p:nvPr/>
        </p:nvSpPr>
        <p:spPr>
          <a:xfrm>
            <a:off x="3949350" y="1287450"/>
            <a:ext cx="39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45"/>
          <p:cNvSpPr/>
          <p:nvPr/>
        </p:nvSpPr>
        <p:spPr>
          <a:xfrm>
            <a:off x="425675" y="1046425"/>
            <a:ext cx="4422300" cy="356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5"/>
          <p:cNvSpPr/>
          <p:nvPr/>
        </p:nvSpPr>
        <p:spPr>
          <a:xfrm>
            <a:off x="4917525" y="1056625"/>
            <a:ext cx="3708300" cy="356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5"/>
          <p:cNvSpPr txBox="1"/>
          <p:nvPr>
            <p:ph idx="1" type="body"/>
          </p:nvPr>
        </p:nvSpPr>
        <p:spPr>
          <a:xfrm>
            <a:off x="533100" y="759300"/>
            <a:ext cx="4225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3) Work out the number given the clues.</a:t>
            </a:r>
            <a:endParaRPr sz="1700"/>
          </a:p>
          <a:p>
            <a:pPr indent="-336550" lvl="0" marL="457200" rtl="0" algn="ctr"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 sz="1700"/>
              <a:t>I am </a:t>
            </a:r>
            <a:endParaRPr sz="1700"/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700"/>
              <a:t>Truncated</a:t>
            </a:r>
            <a:r>
              <a:rPr lang="en-GB" sz="1700"/>
              <a:t> to 1 s.f. I am 200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/>
              <a:t>I am a multiple of 12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/>
              <a:t>I am 250 when rounded to the nearest 25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/>
              <a:t>I am a palindrome (</a:t>
            </a:r>
            <a:r>
              <a:rPr lang="en-GB" sz="1700"/>
              <a:t>number reads the same if all the digits reversed</a:t>
            </a:r>
            <a:r>
              <a:rPr lang="en-GB" sz="1700"/>
              <a:t>)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743" name="Google Shape;1743;p145"/>
          <p:cNvSpPr txBox="1"/>
          <p:nvPr/>
        </p:nvSpPr>
        <p:spPr>
          <a:xfrm>
            <a:off x="4871700" y="1027375"/>
            <a:ext cx="3913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b) I am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 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1 s.f. I am 100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a multiple of 4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200 when rounded to the nearest 100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sum of my digits is 15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45"/>
          <p:cNvSpPr txBox="1"/>
          <p:nvPr/>
        </p:nvSpPr>
        <p:spPr>
          <a:xfrm>
            <a:off x="2335275" y="1454375"/>
            <a:ext cx="108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5" name="Google Shape;1745;p145"/>
          <p:cNvSpPr txBox="1"/>
          <p:nvPr/>
        </p:nvSpPr>
        <p:spPr>
          <a:xfrm>
            <a:off x="6342350" y="1417575"/>
            <a:ext cx="108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4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751" name="Google Shape;1751;p14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752" name="Google Shape;1752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pic>
        <p:nvPicPr>
          <p:cNvPr id="1753" name="Google Shape;1753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53" y="298838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47"/>
          <p:cNvSpPr txBox="1"/>
          <p:nvPr>
            <p:ph idx="1" type="body"/>
          </p:nvPr>
        </p:nvSpPr>
        <p:spPr>
          <a:xfrm>
            <a:off x="324000" y="759300"/>
            <a:ext cx="8237700" cy="17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Truncating</a:t>
            </a:r>
            <a:r>
              <a:rPr lang="en-GB"/>
              <a:t> can be used in lots of different ways.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how could you use </a:t>
            </a:r>
            <a:r>
              <a:rPr b="1" lang="en-GB"/>
              <a:t>truncating</a:t>
            </a:r>
            <a:r>
              <a:rPr lang="en-GB"/>
              <a:t> to estimate the </a:t>
            </a:r>
            <a:r>
              <a:rPr lang="en-GB"/>
              <a:t>answer</a:t>
            </a:r>
            <a:r>
              <a:rPr lang="en-GB"/>
              <a:t> to:  </a:t>
            </a:r>
            <a:endParaRPr/>
          </a:p>
        </p:txBody>
      </p:sp>
      <p:sp>
        <p:nvSpPr>
          <p:cNvPr id="1759" name="Google Shape;1759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760" name="Google Shape;1760;p147"/>
          <p:cNvSpPr txBox="1"/>
          <p:nvPr/>
        </p:nvSpPr>
        <p:spPr>
          <a:xfrm>
            <a:off x="3369600" y="1836100"/>
            <a:ext cx="158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813 × 11.8</a:t>
            </a:r>
            <a:endParaRPr/>
          </a:p>
        </p:txBody>
      </p:sp>
      <p:sp>
        <p:nvSpPr>
          <p:cNvPr id="1761" name="Google Shape;1761;p147"/>
          <p:cNvSpPr txBox="1"/>
          <p:nvPr/>
        </p:nvSpPr>
        <p:spPr>
          <a:xfrm>
            <a:off x="324000" y="2430500"/>
            <a:ext cx="4543200" cy="25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813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s.f. gives 800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11.8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s.f. gives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800 × 10 = 8000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2" name="Google Shape;1762;p147"/>
          <p:cNvGrpSpPr/>
          <p:nvPr/>
        </p:nvGrpSpPr>
        <p:grpSpPr>
          <a:xfrm>
            <a:off x="5001325" y="2359300"/>
            <a:ext cx="3657753" cy="2166150"/>
            <a:chOff x="5001325" y="2359300"/>
            <a:chExt cx="3657753" cy="2166150"/>
          </a:xfrm>
        </p:grpSpPr>
        <p:sp>
          <p:nvSpPr>
            <p:cNvPr id="1763" name="Google Shape;1763;p147"/>
            <p:cNvSpPr txBox="1"/>
            <p:nvPr/>
          </p:nvSpPr>
          <p:spPr>
            <a:xfrm>
              <a:off x="5209200" y="2500200"/>
              <a:ext cx="2508600" cy="17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It works well for this calculation, but what about </a:t>
              </a:r>
              <a:endPara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898 × 18.7?</a:t>
              </a:r>
              <a:endParaRPr sz="1300"/>
            </a:p>
          </p:txBody>
        </p:sp>
        <p:pic>
          <p:nvPicPr>
            <p:cNvPr id="1764" name="Google Shape;1764;p1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851327" y="3251040"/>
              <a:ext cx="807750" cy="10579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5" name="Google Shape;1765;p147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5001325" y="2359300"/>
              <a:ext cx="2799698" cy="2166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6" name="Google Shape;1766;p147"/>
          <p:cNvSpPr txBox="1"/>
          <p:nvPr>
            <p:ph idx="1" type="body"/>
          </p:nvPr>
        </p:nvSpPr>
        <p:spPr>
          <a:xfrm>
            <a:off x="7820506" y="4227977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148"/>
          <p:cNvSpPr txBox="1"/>
          <p:nvPr>
            <p:ph idx="1" type="body"/>
          </p:nvPr>
        </p:nvSpPr>
        <p:spPr>
          <a:xfrm>
            <a:off x="324000" y="759300"/>
            <a:ext cx="82377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could you use </a:t>
            </a:r>
            <a:r>
              <a:rPr b="1" lang="en-GB"/>
              <a:t>truncating</a:t>
            </a:r>
            <a:r>
              <a:rPr lang="en-GB"/>
              <a:t> to estimate the answer to:  </a:t>
            </a:r>
            <a:endParaRPr/>
          </a:p>
        </p:txBody>
      </p:sp>
      <p:sp>
        <p:nvSpPr>
          <p:cNvPr id="1772" name="Google Shape;1772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773" name="Google Shape;1773;p148"/>
          <p:cNvSpPr txBox="1"/>
          <p:nvPr/>
        </p:nvSpPr>
        <p:spPr>
          <a:xfrm>
            <a:off x="3369600" y="1836100"/>
            <a:ext cx="158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898 × 18.7</a:t>
            </a:r>
            <a:endParaRPr/>
          </a:p>
        </p:txBody>
      </p:sp>
      <p:sp>
        <p:nvSpPr>
          <p:cNvPr id="1774" name="Google Shape;1774;p148"/>
          <p:cNvSpPr txBox="1"/>
          <p:nvPr/>
        </p:nvSpPr>
        <p:spPr>
          <a:xfrm>
            <a:off x="324000" y="2430500"/>
            <a:ext cx="4543200" cy="25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898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s.f. gives 800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18.9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s.f. gives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800 × 10 = 8000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48"/>
          <p:cNvSpPr txBox="1"/>
          <p:nvPr/>
        </p:nvSpPr>
        <p:spPr>
          <a:xfrm>
            <a:off x="5118625" y="2330100"/>
            <a:ext cx="2732700" cy="19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means the estimate for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898 × 18.7 is the same as the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813 × 11.8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100"/>
          </a:p>
        </p:txBody>
      </p:sp>
      <p:pic>
        <p:nvPicPr>
          <p:cNvPr id="1776" name="Google Shape;1776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51327" y="325104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48"/>
          <p:cNvPicPr preferRelativeResize="0"/>
          <p:nvPr/>
        </p:nvPicPr>
        <p:blipFill rotWithShape="1">
          <a:blip r:embed="rId4">
            <a:alphaModFix/>
          </a:blip>
          <a:srcRect b="0" l="0" r="70143" t="56280"/>
          <a:stretch/>
        </p:blipFill>
        <p:spPr>
          <a:xfrm>
            <a:off x="5005025" y="2114550"/>
            <a:ext cx="2846300" cy="24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148"/>
          <p:cNvSpPr txBox="1"/>
          <p:nvPr>
            <p:ph idx="1" type="body"/>
          </p:nvPr>
        </p:nvSpPr>
        <p:spPr>
          <a:xfrm>
            <a:off x="7820506" y="4227977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49"/>
          <p:cNvSpPr txBox="1"/>
          <p:nvPr>
            <p:ph idx="1" type="body"/>
          </p:nvPr>
        </p:nvSpPr>
        <p:spPr>
          <a:xfrm>
            <a:off x="324000" y="759300"/>
            <a:ext cx="82377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is correct. </a:t>
            </a:r>
            <a:r>
              <a:rPr b="1" lang="en-GB"/>
              <a:t>Truncation</a:t>
            </a:r>
            <a:r>
              <a:rPr lang="en-GB"/>
              <a:t> is a method of approximating numbers and it might be quicker than rounding, but does not always give the best approximation to the original number or an estimate to a calculation.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784" name="Google Shape;1784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785" name="Google Shape;1785;p149"/>
          <p:cNvSpPr txBox="1"/>
          <p:nvPr/>
        </p:nvSpPr>
        <p:spPr>
          <a:xfrm>
            <a:off x="5118625" y="2330100"/>
            <a:ext cx="2732700" cy="19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means the estimate for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898 × 18.7 is the same as the estimate for 813 × 11.8 </a:t>
            </a:r>
            <a:endParaRPr sz="1100"/>
          </a:p>
        </p:txBody>
      </p:sp>
      <p:pic>
        <p:nvPicPr>
          <p:cNvPr id="1786" name="Google Shape;1786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51327" y="325104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149"/>
          <p:cNvPicPr preferRelativeResize="0"/>
          <p:nvPr/>
        </p:nvPicPr>
        <p:blipFill rotWithShape="1">
          <a:blip r:embed="rId4">
            <a:alphaModFix/>
          </a:blip>
          <a:srcRect b="0" l="0" r="70143" t="56280"/>
          <a:stretch/>
        </p:blipFill>
        <p:spPr>
          <a:xfrm>
            <a:off x="5005025" y="2114550"/>
            <a:ext cx="2846300" cy="24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149"/>
          <p:cNvSpPr txBox="1"/>
          <p:nvPr>
            <p:ph idx="1" type="body"/>
          </p:nvPr>
        </p:nvSpPr>
        <p:spPr>
          <a:xfrm>
            <a:off x="7820506" y="4227977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3" name="Google Shape;1793;p150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4344862" y="714700"/>
            <a:ext cx="3329172" cy="24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50"/>
          <p:cNvSpPr txBox="1"/>
          <p:nvPr>
            <p:ph idx="1" type="body"/>
          </p:nvPr>
        </p:nvSpPr>
        <p:spPr>
          <a:xfrm>
            <a:off x="7674038" y="2771100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795" name="Google Shape;1795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796" name="Google Shape;1796;p150"/>
          <p:cNvSpPr txBox="1"/>
          <p:nvPr/>
        </p:nvSpPr>
        <p:spPr>
          <a:xfrm>
            <a:off x="4594113" y="1019850"/>
            <a:ext cx="29109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don’t like </a:t>
            </a: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runcating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It seems unreliable and pointless. Rounding is much better.</a:t>
            </a:r>
            <a:endParaRPr sz="1100"/>
          </a:p>
        </p:txBody>
      </p:sp>
      <p:pic>
        <p:nvPicPr>
          <p:cNvPr id="1797" name="Google Shape;1797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74040" y="18303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50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 flipH="1">
            <a:off x="1051152" y="1136525"/>
            <a:ext cx="3186898" cy="210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50"/>
          <p:cNvSpPr txBox="1"/>
          <p:nvPr>
            <p:ph idx="1" type="body"/>
          </p:nvPr>
        </p:nvSpPr>
        <p:spPr>
          <a:xfrm>
            <a:off x="1224938" y="1436300"/>
            <a:ext cx="2910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/>
              <a:t>Truncating</a:t>
            </a:r>
            <a:r>
              <a:rPr lang="en-GB" sz="1900"/>
              <a:t> is very useful in everyday life. You probably don’t realise that we truncate often.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pic>
        <p:nvPicPr>
          <p:cNvPr id="1800" name="Google Shape;1800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9" y="23153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50"/>
          <p:cNvSpPr txBox="1"/>
          <p:nvPr/>
        </p:nvSpPr>
        <p:spPr>
          <a:xfrm>
            <a:off x="438950" y="3240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151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4411688" y="889575"/>
            <a:ext cx="3329172" cy="122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51"/>
          <p:cNvSpPr txBox="1"/>
          <p:nvPr>
            <p:ph idx="1" type="body"/>
          </p:nvPr>
        </p:nvSpPr>
        <p:spPr>
          <a:xfrm>
            <a:off x="7674038" y="2771100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808" name="Google Shape;180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809" name="Google Shape;1809;p151"/>
          <p:cNvSpPr txBox="1"/>
          <p:nvPr/>
        </p:nvSpPr>
        <p:spPr>
          <a:xfrm>
            <a:off x="4544626" y="1016800"/>
            <a:ext cx="31200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give me some more examples please?</a:t>
            </a:r>
            <a:endParaRPr sz="1100"/>
          </a:p>
        </p:txBody>
      </p:sp>
      <p:pic>
        <p:nvPicPr>
          <p:cNvPr id="1810" name="Google Shape;1810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74040" y="18303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" name="Google Shape;1811;p151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 flipH="1">
            <a:off x="1051152" y="889575"/>
            <a:ext cx="3186898" cy="319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51"/>
          <p:cNvSpPr txBox="1"/>
          <p:nvPr>
            <p:ph idx="1" type="body"/>
          </p:nvPr>
        </p:nvSpPr>
        <p:spPr>
          <a:xfrm>
            <a:off x="1189150" y="1254775"/>
            <a:ext cx="2910900" cy="31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Of course! Remember you went to the cinema to see the film rated 12? It doesn’t matter if you are 11.99 </a:t>
            </a:r>
            <a:r>
              <a:rPr lang="en-GB" sz="1900"/>
              <a:t>years</a:t>
            </a:r>
            <a:r>
              <a:rPr lang="en-GB" sz="1900"/>
              <a:t> old, you are not allowed to see the film as you are classed as 11 years old.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pic>
        <p:nvPicPr>
          <p:cNvPr id="1813" name="Google Shape;1813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9" y="23153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151"/>
          <p:cNvSpPr txBox="1"/>
          <p:nvPr/>
        </p:nvSpPr>
        <p:spPr>
          <a:xfrm>
            <a:off x="215713" y="3346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51"/>
          <p:cNvSpPr/>
          <p:nvPr/>
        </p:nvSpPr>
        <p:spPr>
          <a:xfrm>
            <a:off x="4320000" y="2856450"/>
            <a:ext cx="1847100" cy="184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51"/>
          <p:cNvSpPr/>
          <p:nvPr/>
        </p:nvSpPr>
        <p:spPr>
          <a:xfrm>
            <a:off x="4516919" y="3043441"/>
            <a:ext cx="1472400" cy="1472400"/>
          </a:xfrm>
          <a:prstGeom prst="ellipse">
            <a:avLst/>
          </a:prstGeom>
          <a:solidFill>
            <a:srgbClr val="FF9900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5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51"/>
          <p:cNvSpPr txBox="1"/>
          <p:nvPr/>
        </p:nvSpPr>
        <p:spPr>
          <a:xfrm>
            <a:off x="4520175" y="1016800"/>
            <a:ext cx="31689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give me another example please?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" name="Google Shape;1822;p152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4411700" y="889575"/>
            <a:ext cx="3329152" cy="15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52"/>
          <p:cNvSpPr txBox="1"/>
          <p:nvPr>
            <p:ph idx="1" type="body"/>
          </p:nvPr>
        </p:nvSpPr>
        <p:spPr>
          <a:xfrm>
            <a:off x="7674038" y="2771100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824" name="Google Shape;1824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825" name="Google Shape;1825;p152"/>
          <p:cNvSpPr txBox="1"/>
          <p:nvPr/>
        </p:nvSpPr>
        <p:spPr>
          <a:xfrm>
            <a:off x="4572000" y="1003813"/>
            <a:ext cx="28434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£129 ÷ £5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25.8, so 25 candles.</a:t>
            </a:r>
            <a:endParaRPr sz="1100"/>
          </a:p>
        </p:txBody>
      </p:sp>
      <p:pic>
        <p:nvPicPr>
          <p:cNvPr id="1826" name="Google Shape;1826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74040" y="18303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p152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 flipH="1">
            <a:off x="1051152" y="1304075"/>
            <a:ext cx="3186898" cy="27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152"/>
          <p:cNvSpPr txBox="1"/>
          <p:nvPr>
            <p:ph idx="1" type="body"/>
          </p:nvPr>
        </p:nvSpPr>
        <p:spPr>
          <a:xfrm>
            <a:off x="1305875" y="1683525"/>
            <a:ext cx="2557500" cy="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Sure.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If you had £129 and wanted to buy as many £5 candles as possible, how would you calculate it?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pic>
        <p:nvPicPr>
          <p:cNvPr id="1829" name="Google Shape;1829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9" y="23153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152"/>
          <p:cNvSpPr txBox="1"/>
          <p:nvPr/>
        </p:nvSpPr>
        <p:spPr>
          <a:xfrm>
            <a:off x="215713" y="3346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" name="Google Shape;1835;p153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4411700" y="889575"/>
            <a:ext cx="3329152" cy="15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53"/>
          <p:cNvSpPr txBox="1"/>
          <p:nvPr>
            <p:ph idx="1" type="body"/>
          </p:nvPr>
        </p:nvSpPr>
        <p:spPr>
          <a:xfrm>
            <a:off x="7674038" y="2771100"/>
            <a:ext cx="9228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837" name="Google Shape;1837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838" name="Google Shape;1838;p153"/>
          <p:cNvSpPr txBox="1"/>
          <p:nvPr/>
        </p:nvSpPr>
        <p:spPr>
          <a:xfrm>
            <a:off x="4572000" y="1003813"/>
            <a:ext cx="28434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£129 ÷ £5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25.8, so 25 candles.</a:t>
            </a:r>
            <a:endParaRPr sz="1100"/>
          </a:p>
        </p:txBody>
      </p:sp>
      <p:pic>
        <p:nvPicPr>
          <p:cNvPr id="1839" name="Google Shape;1839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74040" y="18303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53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 flipH="1">
            <a:off x="1051152" y="1304075"/>
            <a:ext cx="3186898" cy="27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53"/>
          <p:cNvSpPr txBox="1"/>
          <p:nvPr>
            <p:ph idx="1" type="body"/>
          </p:nvPr>
        </p:nvSpPr>
        <p:spPr>
          <a:xfrm>
            <a:off x="1421600" y="1868550"/>
            <a:ext cx="2557500" cy="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Exactly!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You have </a:t>
            </a:r>
            <a:r>
              <a:rPr b="1" lang="en-GB" sz="1900"/>
              <a:t>truncated</a:t>
            </a:r>
            <a:r>
              <a:rPr lang="en-GB" sz="1900"/>
              <a:t> your answer as you want the integer value only.</a:t>
            </a:r>
            <a:r>
              <a:rPr lang="en-GB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pic>
        <p:nvPicPr>
          <p:cNvPr id="1842" name="Google Shape;1842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9" y="23153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3" name="Google Shape;1843;p153"/>
          <p:cNvSpPr txBox="1"/>
          <p:nvPr/>
        </p:nvSpPr>
        <p:spPr>
          <a:xfrm>
            <a:off x="215713" y="3346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154"/>
          <p:cNvSpPr txBox="1"/>
          <p:nvPr>
            <p:ph idx="4294967295" type="body"/>
          </p:nvPr>
        </p:nvSpPr>
        <p:spPr>
          <a:xfrm>
            <a:off x="324000" y="683100"/>
            <a:ext cx="8237700" cy="9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computer science, ‘INT’ or ‘int’ is used to </a:t>
            </a:r>
            <a:r>
              <a:rPr b="1" lang="en-GB" sz="1800"/>
              <a:t>truncate </a:t>
            </a:r>
            <a:r>
              <a:rPr lang="en-GB" sz="1800"/>
              <a:t>a number so to only give the integers.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For example,  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INT(56/10) will have an output of 5. This is </a:t>
            </a:r>
            <a:r>
              <a:rPr lang="en-GB" sz="1800"/>
              <a:t>because</a:t>
            </a:r>
            <a:r>
              <a:rPr lang="en-GB" sz="1800"/>
              <a:t> 56 ÷ 10 = 5.6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only want the integer so we </a:t>
            </a:r>
            <a:r>
              <a:rPr b="1" lang="en-GB" sz="1800"/>
              <a:t>truncate</a:t>
            </a:r>
            <a:r>
              <a:rPr lang="en-GB" sz="1800"/>
              <a:t> to give 5.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Work out the output of the following.</a:t>
            </a:r>
            <a:endParaRPr sz="1800"/>
          </a:p>
          <a:p>
            <a:pPr indent="-368300" lvl="0" marL="457200" rtl="0" algn="ctr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INT(123/10)</a:t>
            </a:r>
            <a:endParaRPr/>
          </a:p>
          <a:p>
            <a:pPr indent="-368300" lvl="0" marL="457200" rtl="0" algn="ctr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INT(5.23/2)</a:t>
            </a:r>
            <a:endParaRPr/>
          </a:p>
          <a:p>
            <a:pPr indent="-368300" lvl="0" marL="457200" rtl="0" algn="ctr">
              <a:spcBef>
                <a:spcPts val="1000"/>
              </a:spcBef>
              <a:spcAft>
                <a:spcPts val="1000"/>
              </a:spcAft>
              <a:buSzPts val="2200"/>
              <a:buAutoNum type="alphaLcParenR"/>
            </a:pPr>
            <a:r>
              <a:rPr lang="en-GB"/>
              <a:t>INT(48/31)</a:t>
            </a:r>
            <a:endParaRPr/>
          </a:p>
        </p:txBody>
      </p:sp>
      <p:sp>
        <p:nvSpPr>
          <p:cNvPr id="1849" name="Google Shape;1849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850" name="Google Shape;1850;p154"/>
          <p:cNvSpPr txBox="1"/>
          <p:nvPr/>
        </p:nvSpPr>
        <p:spPr>
          <a:xfrm>
            <a:off x="5634875" y="3226400"/>
            <a:ext cx="16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Output is 12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54"/>
          <p:cNvSpPr txBox="1"/>
          <p:nvPr/>
        </p:nvSpPr>
        <p:spPr>
          <a:xfrm>
            <a:off x="5630902" y="3859500"/>
            <a:ext cx="16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Output is 2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2" name="Google Shape;1852;p154"/>
          <p:cNvSpPr txBox="1"/>
          <p:nvPr/>
        </p:nvSpPr>
        <p:spPr>
          <a:xfrm>
            <a:off x="5618071" y="4378806"/>
            <a:ext cx="16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Output is 1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55"/>
          <p:cNvSpPr txBox="1"/>
          <p:nvPr>
            <p:ph idx="1" type="body"/>
          </p:nvPr>
        </p:nvSpPr>
        <p:spPr>
          <a:xfrm>
            <a:off x="324000" y="759300"/>
            <a:ext cx="80349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The context of the question </a:t>
            </a:r>
            <a:r>
              <a:rPr lang="en-GB" sz="2100"/>
              <a:t>determines</a:t>
            </a:r>
            <a:r>
              <a:rPr lang="en-GB" sz="2100"/>
              <a:t> whether it is suitable to </a:t>
            </a:r>
            <a:r>
              <a:rPr b="1" lang="en-GB" sz="2100"/>
              <a:t>truncate</a:t>
            </a:r>
            <a:r>
              <a:rPr lang="en-GB" sz="2100"/>
              <a:t> an answer, round an answer or use the exact value of an answer.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Reading the question carefully and thinking about what the value of the answer means will help identify if you need to work out a </a:t>
            </a:r>
            <a:r>
              <a:rPr b="1" lang="en-GB" sz="2100"/>
              <a:t>truncated</a:t>
            </a:r>
            <a:r>
              <a:rPr lang="en-GB" sz="2100"/>
              <a:t> answer, rounded answer or work out the exact value of an answer.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858" name="Google Shape;1858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56"/>
          <p:cNvSpPr txBox="1"/>
          <p:nvPr>
            <p:ph idx="1" type="body"/>
          </p:nvPr>
        </p:nvSpPr>
        <p:spPr>
          <a:xfrm>
            <a:off x="324000" y="759300"/>
            <a:ext cx="82377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Here we have three scenarios </a:t>
            </a:r>
            <a:r>
              <a:rPr lang="en-GB" sz="2100"/>
              <a:t>which</a:t>
            </a:r>
            <a:r>
              <a:rPr lang="en-GB" sz="2100"/>
              <a:t> </a:t>
            </a:r>
            <a:r>
              <a:rPr lang="en-GB" sz="2100"/>
              <a:t>require</a:t>
            </a:r>
            <a:r>
              <a:rPr lang="en-GB" sz="2100"/>
              <a:t> the calculation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 7 ÷ 3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When should you calculate the </a:t>
            </a:r>
            <a:r>
              <a:rPr lang="en-GB" sz="2100">
                <a:solidFill>
                  <a:schemeClr val="accent5"/>
                </a:solidFill>
              </a:rPr>
              <a:t>exact answer</a:t>
            </a:r>
            <a:r>
              <a:rPr lang="en-GB" sz="2100"/>
              <a:t>, </a:t>
            </a:r>
            <a:r>
              <a:rPr b="1" lang="en-GB" sz="2100">
                <a:solidFill>
                  <a:schemeClr val="accent5"/>
                </a:solidFill>
              </a:rPr>
              <a:t>truncate</a:t>
            </a:r>
            <a:r>
              <a:rPr lang="en-GB" sz="2100">
                <a:solidFill>
                  <a:schemeClr val="accent5"/>
                </a:solidFill>
              </a:rPr>
              <a:t> the answer</a:t>
            </a:r>
            <a:r>
              <a:rPr lang="en-GB" sz="2100"/>
              <a:t> or </a:t>
            </a:r>
            <a:r>
              <a:rPr lang="en-GB" sz="2100">
                <a:solidFill>
                  <a:schemeClr val="accent5"/>
                </a:solidFill>
              </a:rPr>
              <a:t>round the answer</a:t>
            </a:r>
            <a:r>
              <a:rPr lang="en-GB" sz="2100"/>
              <a:t>?</a:t>
            </a:r>
            <a:endParaRPr sz="2100"/>
          </a:p>
        </p:txBody>
      </p:sp>
      <p:sp>
        <p:nvSpPr>
          <p:cNvPr id="1864" name="Google Shape;1864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865" name="Google Shape;1865;p156"/>
          <p:cNvSpPr txBox="1"/>
          <p:nvPr/>
        </p:nvSpPr>
        <p:spPr>
          <a:xfrm>
            <a:off x="303813" y="2480125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pizzas shared between 3 people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56"/>
          <p:cNvSpPr txBox="1"/>
          <p:nvPr/>
        </p:nvSpPr>
        <p:spPr>
          <a:xfrm>
            <a:off x="2845913" y="2480125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 has £7 and wants to buy as many £3 chocolate bars as possible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56"/>
          <p:cNvSpPr txBox="1"/>
          <p:nvPr/>
        </p:nvSpPr>
        <p:spPr>
          <a:xfrm>
            <a:off x="5902563" y="2480125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bill of £7 is shared between 3 people.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56"/>
          <p:cNvSpPr txBox="1"/>
          <p:nvPr/>
        </p:nvSpPr>
        <p:spPr>
          <a:xfrm>
            <a:off x="303825" y="3194350"/>
            <a:ext cx="2236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exact value so everyone gets a fair share. Each person gets     pizzas.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1}{3}&quot;&gt;&lt;mn&gt;2&lt;/mn&gt;&lt;mfrac&gt;&lt;mn&gt;1&lt;/mn&gt;&lt;mn&gt;3&lt;/mn&gt;&lt;/mfrac&gt;&lt;/math&gt;" id="1869" name="Google Shape;1869;p156" title="2 and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050" y="4218115"/>
            <a:ext cx="199400" cy="33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0" name="Google Shape;1870;p156"/>
          <p:cNvSpPr txBox="1"/>
          <p:nvPr/>
        </p:nvSpPr>
        <p:spPr>
          <a:xfrm>
            <a:off x="2892013" y="3693950"/>
            <a:ext cx="2899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Truncate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because she can only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afford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 integer number of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chocolates.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1" name="Google Shape;1871;p156"/>
          <p:cNvSpPr txBox="1"/>
          <p:nvPr/>
        </p:nvSpPr>
        <p:spPr>
          <a:xfrm>
            <a:off x="5903250" y="3164825"/>
            <a:ext cx="28995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because money is 2 d.p. This means each person should pay £2.33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 person can pay 1 p more)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57"/>
          <p:cNvSpPr txBox="1"/>
          <p:nvPr>
            <p:ph idx="1" type="body"/>
          </p:nvPr>
        </p:nvSpPr>
        <p:spPr>
          <a:xfrm>
            <a:off x="324000" y="759300"/>
            <a:ext cx="8237700" cy="9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Given the scenarios below, identify if the answer should be given exactly, rounded or </a:t>
            </a:r>
            <a:r>
              <a:rPr b="1" lang="en-GB"/>
              <a:t>truncated</a:t>
            </a:r>
            <a:r>
              <a:rPr lang="en-GB"/>
              <a:t>.</a:t>
            </a:r>
            <a:endParaRPr/>
          </a:p>
        </p:txBody>
      </p:sp>
      <p:sp>
        <p:nvSpPr>
          <p:cNvPr id="1877" name="Google Shape;1877;p15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878" name="Google Shape;1878;p157"/>
          <p:cNvSpPr txBox="1"/>
          <p:nvPr/>
        </p:nvSpPr>
        <p:spPr>
          <a:xfrm>
            <a:off x="303823" y="1664700"/>
            <a:ext cx="25422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 is 14.7 years old and wants to see a 15 Rated film. Can she go?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57"/>
          <p:cNvSpPr txBox="1"/>
          <p:nvPr/>
        </p:nvSpPr>
        <p:spPr>
          <a:xfrm>
            <a:off x="2845913" y="1664700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book shop has £89 and wants to buy as many £1.99 puzzle books as possible. How many books can it buy?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57"/>
          <p:cNvSpPr txBox="1"/>
          <p:nvPr/>
        </p:nvSpPr>
        <p:spPr>
          <a:xfrm>
            <a:off x="5902563" y="1664700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bill of £89 is shared between 10 people.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58"/>
          <p:cNvSpPr txBox="1"/>
          <p:nvPr>
            <p:ph idx="1" type="body"/>
          </p:nvPr>
        </p:nvSpPr>
        <p:spPr>
          <a:xfrm>
            <a:off x="324000" y="759300"/>
            <a:ext cx="8237700" cy="9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Here is a broken calculator screen.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largest and smallest number that could be displayed on the screen?</a:t>
            </a:r>
            <a:endParaRPr/>
          </a:p>
        </p:txBody>
      </p:sp>
      <p:sp>
        <p:nvSpPr>
          <p:cNvPr id="1886" name="Google Shape;1886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Truncating in real life</a:t>
            </a:r>
            <a:endParaRPr/>
          </a:p>
        </p:txBody>
      </p:sp>
      <p:grpSp>
        <p:nvGrpSpPr>
          <p:cNvPr id="1887" name="Google Shape;1887;p158"/>
          <p:cNvGrpSpPr/>
          <p:nvPr/>
        </p:nvGrpSpPr>
        <p:grpSpPr>
          <a:xfrm>
            <a:off x="2748375" y="1188625"/>
            <a:ext cx="3143250" cy="1466850"/>
            <a:chOff x="2748375" y="1188625"/>
            <a:chExt cx="3143250" cy="1466850"/>
          </a:xfrm>
        </p:grpSpPr>
        <p:pic>
          <p:nvPicPr>
            <p:cNvPr id="1888" name="Google Shape;1888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48375" y="1188625"/>
              <a:ext cx="3143250" cy="146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9" name="Google Shape;1889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1364300"/>
              <a:ext cx="1001250" cy="38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0" name="Google Shape;1890;p158"/>
          <p:cNvSpPr/>
          <p:nvPr/>
        </p:nvSpPr>
        <p:spPr>
          <a:xfrm>
            <a:off x="3539000" y="1511675"/>
            <a:ext cx="802548" cy="153036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59"/>
          <p:cNvSpPr txBox="1"/>
          <p:nvPr>
            <p:ph idx="1" type="body"/>
          </p:nvPr>
        </p:nvSpPr>
        <p:spPr>
          <a:xfrm>
            <a:off x="324000" y="759300"/>
            <a:ext cx="8237700" cy="9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</a:t>
            </a:r>
            <a:r>
              <a:rPr lang="en-GB"/>
              <a:t> </a:t>
            </a:r>
            <a:r>
              <a:rPr lang="en-GB" sz="1900"/>
              <a:t>In computer science, ‘INT’ or ‘int’ is used to </a:t>
            </a:r>
            <a:r>
              <a:rPr b="1" lang="en-GB" sz="1900"/>
              <a:t>truncate </a:t>
            </a:r>
            <a:r>
              <a:rPr lang="en-GB" sz="1900"/>
              <a:t>a number so to only give the integers. </a:t>
            </a:r>
            <a:endParaRPr sz="1900"/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For example,  </a:t>
            </a:r>
            <a:endParaRPr sz="1900"/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INT(56/10) will have an output of 5. This is because 56 ÷ 10 = 5.6. We only want the integer so we </a:t>
            </a:r>
            <a:r>
              <a:rPr b="1" lang="en-GB" sz="1900"/>
              <a:t>truncate</a:t>
            </a:r>
            <a:r>
              <a:rPr lang="en-GB" sz="1900"/>
              <a:t> to give 5.</a:t>
            </a:r>
            <a:endParaRPr sz="19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Work out the output of the following.</a:t>
            </a:r>
            <a:endParaRPr sz="1900"/>
          </a:p>
          <a:p>
            <a:pPr indent="-3492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INT(45/8)</a:t>
            </a:r>
            <a:endParaRPr sz="1900"/>
          </a:p>
          <a:p>
            <a:pPr indent="-3492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INT(98/10) + INT(7.8/3)  </a:t>
            </a:r>
            <a:endParaRPr sz="1900"/>
          </a:p>
          <a:p>
            <a:pPr indent="-3492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INT(8/0.5) + INT(12.65/2) - INT(9.8/6)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Truncating in real life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160"/>
          <p:cNvSpPr txBox="1"/>
          <p:nvPr>
            <p:ph idx="1" type="body"/>
          </p:nvPr>
        </p:nvSpPr>
        <p:spPr>
          <a:xfrm>
            <a:off x="324000" y="759300"/>
            <a:ext cx="8237700" cy="12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Lucas is going on holiday and looks at the exchange rates.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£1 = 1.16887 Euros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Travel firms and banks offer a truncated value to this: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£1 = 1.16 Euros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Why is truncating exchange rates better for travel firms and banks?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If £1 000 000 was exchanged, how much money would the travel companies make due to truncation?</a:t>
            </a:r>
            <a:endParaRPr sz="1800"/>
          </a:p>
        </p:txBody>
      </p:sp>
      <p:sp>
        <p:nvSpPr>
          <p:cNvPr id="1902" name="Google Shape;1902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1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Given the scenarios below, identify if the answer should be given exactly, rounded or </a:t>
            </a:r>
            <a:r>
              <a:rPr b="1" lang="en-GB"/>
              <a:t>truncated</a:t>
            </a:r>
            <a:r>
              <a:rPr lang="en-GB"/>
              <a:t>.</a:t>
            </a:r>
            <a:endParaRPr/>
          </a:p>
        </p:txBody>
      </p:sp>
      <p:sp>
        <p:nvSpPr>
          <p:cNvPr id="1908" name="Google Shape;1908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909" name="Google Shape;1909;p161"/>
          <p:cNvSpPr txBox="1"/>
          <p:nvPr/>
        </p:nvSpPr>
        <p:spPr>
          <a:xfrm>
            <a:off x="303823" y="1664700"/>
            <a:ext cx="25422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 is 14.7 years old and wants to see a 15 Rated film. Can she go?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161"/>
          <p:cNvSpPr txBox="1"/>
          <p:nvPr/>
        </p:nvSpPr>
        <p:spPr>
          <a:xfrm>
            <a:off x="2845913" y="1664700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book shop has £89 and wants to buy as many £1.99 puzzle books as possible. How many books can it buy?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61"/>
          <p:cNvSpPr txBox="1"/>
          <p:nvPr/>
        </p:nvSpPr>
        <p:spPr>
          <a:xfrm>
            <a:off x="5902563" y="1664700"/>
            <a:ext cx="293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bill of £89 is shared between 10 people.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61"/>
          <p:cNvSpPr txBox="1"/>
          <p:nvPr/>
        </p:nvSpPr>
        <p:spPr>
          <a:xfrm>
            <a:off x="303825" y="2836125"/>
            <a:ext cx="22368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the truncated age is 14 years old so she is below age.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3" name="Google Shape;1913;p161"/>
          <p:cNvSpPr txBox="1"/>
          <p:nvPr/>
        </p:nvSpPr>
        <p:spPr>
          <a:xfrm>
            <a:off x="2815813" y="3107125"/>
            <a:ext cx="2899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Truncate because it can only afford integer number of books.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4" name="Google Shape;1914;p161"/>
          <p:cNvSpPr txBox="1"/>
          <p:nvPr/>
        </p:nvSpPr>
        <p:spPr>
          <a:xfrm>
            <a:off x="5902584" y="2307750"/>
            <a:ext cx="2764200" cy="18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because money is 2 d.p. This means each person should pay £8.90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(Or pay £9 each and leave a tiny tip!)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is a broken calculator screen.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largest and smallest number that could be displayed on the screen?</a:t>
            </a:r>
            <a:endParaRPr/>
          </a:p>
        </p:txBody>
      </p:sp>
      <p:sp>
        <p:nvSpPr>
          <p:cNvPr id="1920" name="Google Shape;1920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grpSp>
        <p:nvGrpSpPr>
          <p:cNvPr id="1921" name="Google Shape;1921;p162"/>
          <p:cNvGrpSpPr/>
          <p:nvPr/>
        </p:nvGrpSpPr>
        <p:grpSpPr>
          <a:xfrm>
            <a:off x="2748375" y="1188625"/>
            <a:ext cx="3143250" cy="1466850"/>
            <a:chOff x="2748375" y="1188625"/>
            <a:chExt cx="3143250" cy="1466850"/>
          </a:xfrm>
        </p:grpSpPr>
        <p:pic>
          <p:nvPicPr>
            <p:cNvPr id="1922" name="Google Shape;1922;p1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48375" y="1188625"/>
              <a:ext cx="3143250" cy="146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3" name="Google Shape;1923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1364300"/>
              <a:ext cx="1001250" cy="38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162"/>
          <p:cNvSpPr txBox="1"/>
          <p:nvPr/>
        </p:nvSpPr>
        <p:spPr>
          <a:xfrm>
            <a:off x="323994" y="3570025"/>
            <a:ext cx="75276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Given the number is concealed, we see the truncated value.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largest value is 1.2999999999... and the smallest is 1.2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62"/>
          <p:cNvSpPr/>
          <p:nvPr/>
        </p:nvSpPr>
        <p:spPr>
          <a:xfrm>
            <a:off x="3539000" y="1511675"/>
            <a:ext cx="802548" cy="153036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 sz="1900"/>
              <a:t>In computer science, ‘INT’ or ‘int’ is used to </a:t>
            </a:r>
            <a:r>
              <a:rPr b="1" lang="en-GB" sz="1900"/>
              <a:t>truncate </a:t>
            </a:r>
            <a:r>
              <a:rPr lang="en-GB" sz="1900"/>
              <a:t>a number so to only give the integers. </a:t>
            </a:r>
            <a:endParaRPr sz="1900"/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For example,  </a:t>
            </a:r>
            <a:endParaRPr sz="1900"/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INT(56/10) will have an output of 5</a:t>
            </a:r>
            <a:endParaRPr sz="19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Work out the output of the following.</a:t>
            </a:r>
            <a:endParaRPr sz="1900"/>
          </a:p>
          <a:p>
            <a:pPr indent="-3492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INT(45/8)</a:t>
            </a:r>
            <a:endParaRPr sz="1900"/>
          </a:p>
          <a:p>
            <a:pPr indent="-3492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INT(98/10) + INT(7.8/3)  </a:t>
            </a:r>
            <a:endParaRPr sz="1900"/>
          </a:p>
          <a:p>
            <a:pPr indent="-3492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INT(8/0.5) + INT(12.65/2) - INT(9.8/6)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932" name="Google Shape;1932;p163"/>
          <p:cNvSpPr txBox="1"/>
          <p:nvPr/>
        </p:nvSpPr>
        <p:spPr>
          <a:xfrm>
            <a:off x="2063850" y="2993700"/>
            <a:ext cx="16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Output is 5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3" name="Google Shape;1933;p163"/>
          <p:cNvSpPr txBox="1"/>
          <p:nvPr/>
        </p:nvSpPr>
        <p:spPr>
          <a:xfrm>
            <a:off x="3710550" y="3533700"/>
            <a:ext cx="45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Output is 11 because 9 + 2 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4" name="Google Shape;1934;p163"/>
          <p:cNvSpPr txBox="1"/>
          <p:nvPr/>
        </p:nvSpPr>
        <p:spPr>
          <a:xfrm>
            <a:off x="5197625" y="4026300"/>
            <a:ext cx="37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Output is 21 because 16 + 6 - 1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1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Lucas is going on holiday and looks at the exchange rates.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£1 = 1.16887 Euros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Travel firms and banks offer a truncated value to this: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£1 = 1.16 Euros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Why is truncating exchange rates better for travel firms and banks?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If £1 000 000 was exchanged, how much money would the travel companies make due to truncation?</a:t>
            </a:r>
            <a:endParaRPr sz="1800"/>
          </a:p>
        </p:txBody>
      </p:sp>
      <p:sp>
        <p:nvSpPr>
          <p:cNvPr id="1940" name="Google Shape;1940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 in real life</a:t>
            </a:r>
            <a:endParaRPr/>
          </a:p>
        </p:txBody>
      </p:sp>
      <p:sp>
        <p:nvSpPr>
          <p:cNvPr id="1941" name="Google Shape;1941;p164"/>
          <p:cNvSpPr txBox="1"/>
          <p:nvPr/>
        </p:nvSpPr>
        <p:spPr>
          <a:xfrm>
            <a:off x="324000" y="2851250"/>
            <a:ext cx="81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£1 exchanged, the travel company or bank gain 0.00887 euros.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2" name="Google Shape;1942;p164"/>
          <p:cNvSpPr txBox="1"/>
          <p:nvPr/>
        </p:nvSpPr>
        <p:spPr>
          <a:xfrm>
            <a:off x="324000" y="3957975"/>
            <a:ext cx="793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Multiplying 0.00887 by 1 000 000 gives €8870 gain, so for every £1 000 000 exchanged they earn €8870 due to truncation.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65"/>
          <p:cNvSpPr txBox="1"/>
          <p:nvPr>
            <p:ph idx="1" type="body"/>
          </p:nvPr>
        </p:nvSpPr>
        <p:spPr>
          <a:xfrm>
            <a:off x="324000" y="753600"/>
            <a:ext cx="8391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can </a:t>
            </a:r>
            <a:r>
              <a:rPr b="1" lang="en-GB" sz="2100"/>
              <a:t>truncate</a:t>
            </a:r>
            <a:r>
              <a:rPr lang="en-GB" sz="2100"/>
              <a:t> large and small numbers.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The process is still the same. It is important to pay attention to the </a:t>
            </a:r>
            <a:r>
              <a:rPr lang="en-GB" sz="2100">
                <a:solidFill>
                  <a:schemeClr val="accent5"/>
                </a:solidFill>
              </a:rPr>
              <a:t>degree of accuracy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100"/>
              <a:t>Truncation </a:t>
            </a:r>
            <a:r>
              <a:rPr lang="en-GB" sz="2100"/>
              <a:t>is a method of approximating numbers and it is easier than rounding, but does not always give the best approximation to the original number or an estimate to a calculation.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The context of the question determines whether it is suitable to truncate an answer, round an answer or use the exact value of an answer.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948" name="Google Shape;1948;p16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16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54" name="Google Shape;1954;p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