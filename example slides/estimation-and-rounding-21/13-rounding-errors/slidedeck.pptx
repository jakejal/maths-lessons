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1" r:id="rId4"/>
    <p:sldMasterId id="21474837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82BA3E-BA7D-44CE-8BE9-2DBD2FD8257B}">
  <a:tblStyle styleId="{CF82BA3E-BA7D-44CE-8BE9-2DBD2FD825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2b01e0ed8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2b01e0ed8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28e908c7545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28e908c7545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28e908c7545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28e908c7545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8e908c7545_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8e908c7545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28e908c7545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28e908c7545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28e908c7545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28e908c7545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28e908c7545_6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2" name="Google Shape;1602;g28e908c7545_6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g28e908c7545_6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7" name="Google Shape;1627;g28e908c7545_6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28e908c7545_6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28e908c7545_6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g28e908c7545_6_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0" name="Google Shape;1660;g28e908c7545_6_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g28e908c7545_6_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6" name="Google Shape;1666;g28e908c7545_6_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28e908c7545_6_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g28e908c7545_6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g28e908c7545_6_1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5" name="Google Shape;1685;g28e908c7545_6_1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g28e908c7545_6_1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2" name="Google Shape;1712;g28e908c7545_6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g28e908c7545_6_1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9" name="Google Shape;1739;g28e908c7545_6_1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g28e908c7545_6_1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g28e908c7545_6_1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g28e908c7545_6_1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4" name="Google Shape;1784;g28e908c7545_6_1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g28e908c7545_6_1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2" name="Google Shape;1792;g28e908c7545_6_1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g28e908c7545_6_2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9" name="Google Shape;1799;g28e908c7545_6_2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28e908c7545_6_2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4" name="Google Shape;1824;g28e908c7545_6_2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g28e908c7545_6_2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8" name="Google Shape;1848;g28e908c7545_6_2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g2ae8a1d8525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5" name="Google Shape;1865;g2ae8a1d8525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g2ae8a1d8525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1" name="Google Shape;1881;g2ae8a1d8525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g2ae8a1d8525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8" name="Google Shape;1898;g2ae8a1d8525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2ae8a1d8525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2ae8a1d8525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g2ae8a1d852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g2ae8a1d852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g2ae8a1d8525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0" name="Google Shape;1950;g2ae8a1d8525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g2ae8a1d8525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7" name="Google Shape;1967;g2ae8a1d8525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2ae8a1d8525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2ae8a1d8525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g2ae8a1d8525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0" name="Google Shape;2000;g2ae8a1d8525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2ae8a1d8525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2ae8a1d8525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g28e908c7545_6_2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2" name="Google Shape;2032;g28e908c7545_6_2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g28e908c7545_6_2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7" name="Google Shape;2047;g28e908c7545_6_2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g2ae8a1d8525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g2ae8a1d8525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g2ae8a1d8525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3" name="Google Shape;2073;g2ae8a1d8525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g2b15508188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6" name="Google Shape;2086;g2b15508188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g2b155081880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4" name="Google Shape;2094;g2b15508188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g2b155081880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2" name="Google Shape;2102;g2b15508188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g28e908c7545_6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0" name="Google Shape;2110;g28e908c7545_6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4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g302736f17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6" name="Google Shape;2116;g302736f17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Relationship Id="rId4" Type="http://schemas.openxmlformats.org/officeDocument/2006/relationships/image" Target="../media/image87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7.png"/><Relationship Id="rId4" Type="http://schemas.openxmlformats.org/officeDocument/2006/relationships/image" Target="../media/image19.png"/><Relationship Id="rId9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7.png"/><Relationship Id="rId4" Type="http://schemas.openxmlformats.org/officeDocument/2006/relationships/image" Target="../media/image32.png"/><Relationship Id="rId11" Type="http://schemas.openxmlformats.org/officeDocument/2006/relationships/image" Target="../media/image17.png"/><Relationship Id="rId10" Type="http://schemas.openxmlformats.org/officeDocument/2006/relationships/image" Target="../media/image40.png"/><Relationship Id="rId9" Type="http://schemas.openxmlformats.org/officeDocument/2006/relationships/image" Target="../media/image29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18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Relationship Id="rId4" Type="http://schemas.openxmlformats.org/officeDocument/2006/relationships/image" Target="../media/image87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17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7.png"/><Relationship Id="rId4" Type="http://schemas.openxmlformats.org/officeDocument/2006/relationships/image" Target="../media/image19.png"/><Relationship Id="rId9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7.png"/><Relationship Id="rId4" Type="http://schemas.openxmlformats.org/officeDocument/2006/relationships/image" Target="../media/image32.png"/><Relationship Id="rId11" Type="http://schemas.openxmlformats.org/officeDocument/2006/relationships/image" Target="../media/image17.png"/><Relationship Id="rId10" Type="http://schemas.openxmlformats.org/officeDocument/2006/relationships/image" Target="../media/image40.png"/><Relationship Id="rId9" Type="http://schemas.openxmlformats.org/officeDocument/2006/relationships/image" Target="../media/image29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6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5" name="Google Shape;765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6" name="Google Shape;766;p6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7" name="Google Shape;76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1" name="Google Shape;781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7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3" name="Google Shape;78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5" name="Google Shape;785;p6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6" name="Google Shape;786;p6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7" name="Google Shape;787;p67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8" name="Google Shape;788;p6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9" name="Google Shape;799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1" name="Google Shape;801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4" name="Google Shape;804;p6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5" name="Google Shape;805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69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7" name="Google Shape;807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9" name="Google Shape;819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1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1" name="Google Shape;82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23" name="Google Shape;823;p7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4" name="Google Shape;824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5" name="Google Shape;825;p71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26" name="Google Shape;826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1" name="Google Shape;831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2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33" name="Google Shape;833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6" name="Google Shape;836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3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3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4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4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4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4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4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5" name="Google Shape;845;p74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46" name="Google Shape;846;p7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7" name="Google Shape;847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8" name="Google Shape;848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9" name="Google Shape;849;p7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50" name="Google Shape;850;p74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4" name="Google Shape;854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5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1" name="Google Shape;861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76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8" name="Google Shape;868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7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77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6" name="Google Shape;876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8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8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4" name="Google Shape;884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9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79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9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0" name="Google Shape;890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3" name="Google Shape;893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80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5" name="Google Shape;895;p80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6" name="Google Shape;896;p80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7" name="Google Shape;897;p80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8" name="Google Shape;898;p80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9" name="Google Shape;899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2" name="Google Shape;902;p81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1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81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5" name="Google Shape;905;p81"/>
          <p:cNvCxnSpPr>
            <a:endCxn id="906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7" name="Google Shape;907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8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9" name="Google Shape;909;p8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6" name="Google Shape;906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8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2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0" name="Google Shape;920;p82"/>
          <p:cNvCxnSpPr>
            <a:endCxn id="921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1" name="Google Shape;921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8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4" name="Google Shape;924;p8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5" name="Google Shape;925;p8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6" name="Google Shape;926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8" name="Google Shape;928;p82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8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Google Shape;932;p83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3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3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83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0" name="Google Shape;940;p83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1" name="Google Shape;941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8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3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5" name="Google Shape;945;p83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6" name="Google Shape;946;p83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7" name="Google Shape;947;p83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8" name="Google Shape;948;p8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0" name="Google Shape;950;p83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83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4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7" name="Google Shape;95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8" name="Google Shape;95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4" name="Google Shape;964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6" name="Google Shape;96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1" name="Google Shape;971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3" name="Google Shape;9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5" name="Google Shape;975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8" name="Google Shape;978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80" name="Google Shape;980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3" name="Google Shape;983;p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6" name="Google Shape;986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7" name="Google Shape;987;p88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8" name="Google Shape;988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9" name="Google Shape;989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1" name="Google Shape;991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2" name="Google Shape;992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3" name="Google Shape;993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8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6" name="Google Shape;996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9" name="Google Shape;999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0" name="Google Shape;100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1" name="Google Shape;1001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2" name="Google Shape;1002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3" name="Google Shape;1003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4" name="Google Shape;1004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5" name="Google Shape;1005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" name="Google Shape;1006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90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9" name="Google Shape;1009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2" name="Google Shape;1012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3" name="Google Shape;101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4" name="Google Shape;1014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5" name="Google Shape;1015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6" name="Google Shape;1016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7" name="Google Shape;1017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8" name="Google Shape;1018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9" name="Google Shape;1019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9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2" name="Google Shape;1022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9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5" name="Google Shape;1025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6" name="Google Shape;102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7" name="Google Shape;1027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8" name="Google Shape;1028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9" name="Google Shape;1029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0" name="Google Shape;1030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31" name="Google Shape;1031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2" name="Google Shape;1032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Google Shape;1034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2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2" name="Google Shape;1042;p9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3" name="Google Shape;1043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44" name="Google Shape;1044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5" name="Google Shape;1045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7" name="Google Shape;1047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50" name="Google Shape;1050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1" name="Google Shape;1051;p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4" name="Google Shape;1054;p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3" name="Google Shape;1063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4" name="Google Shape;1064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7" name="Google Shape;1067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8" name="Google Shape;1068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9" name="Google Shape;1069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70" name="Google Shape;1070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2" name="Google Shape;1072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73" name="Google Shape;1073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4" name="Google Shape;1074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5" name="Google Shape;1075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0" name="Google Shape;1080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6" name="Google Shape;1086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7" name="Google Shape;1087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0" name="Google Shape;1090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1" name="Google Shape;1091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92" name="Google Shape;1092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93" name="Google Shape;1093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4" name="Google Shape;1094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5" name="Google Shape;1095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96" name="Google Shape;1096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7" name="Google Shape;109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8" name="Google Shape;1098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9" name="Google Shape;1109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10" name="Google Shape;1110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3" name="Google Shape;1113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4" name="Google Shape;1114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5" name="Google Shape;1115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16" name="Google Shape;111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7" name="Google Shape;111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8" name="Google Shape;1118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9" name="Google Shape;111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0" name="Google Shape;112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21" name="Google Shape;1121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9" name="Google Shape;1129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2" name="Google Shape;1132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3" name="Google Shape;1133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4" name="Google Shape;1134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5" name="Google Shape;1135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6" name="Google Shape;1136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8" name="Google Shape;1138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9" name="Google Shape;1139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1" name="Google Shape;1141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42" name="Google Shape;114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3" name="Google Shape;114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5" name="Google Shape;1145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8" name="Google Shape;1148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1" name="Google Shape;1151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2" name="Google Shape;1152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3" name="Google Shape;1153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4" name="Google Shape;1154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5" name="Google Shape;115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8" name="Google Shape;115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1" name="Google Shape;1161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7" name="Google Shape;1167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0" name="Google Shape;1170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1" name="Google Shape;1171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2" name="Google Shape;1172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3" name="Google Shape;1173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4" name="Google Shape;117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5" name="Google Shape;117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6" name="Google Shape;1176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7" name="Google Shape;1177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8" name="Google Shape;117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9" name="Google Shape;1179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0" name="Google Shape;1180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1" name="Google Shape;1181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3" name="Google Shape;1183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9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6" name="Google Shape;1186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9" name="Google Shape;1189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0" name="Google Shape;1190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1" name="Google Shape;1191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92" name="Google Shape;1192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93" name="Google Shape;119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4" name="Google Shape;119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5" name="Google Shape;1195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96" name="Google Shape;119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7" name="Google Shape;119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8" name="Google Shape;1198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9" name="Google Shape;119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0" name="Google Shape;120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Google Shape;1202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5" name="Google Shape;1205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8" name="Google Shape;1208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9" name="Google Shape;1209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0" name="Google Shape;1210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1" name="Google Shape;1211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12" name="Google Shape;1212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13" name="Google Shape;1213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4" name="Google Shape;1214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5" name="Google Shape;1215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16" name="Google Shape;1216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7" name="Google Shape;1217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8" name="Google Shape;1218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9" name="Google Shape;121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0" name="Google Shape;122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1" name="Google Shape;1221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22" name="Google Shape;122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3" name="Google Shape;122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5" name="Google Shape;1225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8" name="Google Shape;1228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1" name="Google Shape;1231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2" name="Google Shape;1232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3" name="Google Shape;1233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4" name="Google Shape;1234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5" name="Google Shape;1235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36" name="Google Shape;1236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7" name="Google Shape;1237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8" name="Google Shape;1238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9" name="Google Shape;1239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0" name="Google Shape;124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1" name="Google Shape;1241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42" name="Google Shape;124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3" name="Google Shape;124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4" name="Google Shape;1244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5" name="Google Shape;124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6" name="Google Shape;124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8" name="Google Shape;1248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51" name="Google Shape;1251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4" name="Google Shape;1254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5" name="Google Shape;1255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6" name="Google Shape;1256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7" name="Google Shape;1257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8" name="Google Shape;1258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9" name="Google Shape;1259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0" name="Google Shape;1260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1" name="Google Shape;1261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62" name="Google Shape;1262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3" name="Google Shape;126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4" name="Google Shape;1264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5" name="Google Shape;126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6" name="Google Shape;126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7" name="Google Shape;1267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8" name="Google Shape;126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9" name="Google Shape;126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1" name="Google Shape;1271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10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4" name="Google Shape;1274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7" name="Google Shape;1277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8" name="Google Shape;1278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9" name="Google Shape;1279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80" name="Google Shape;1280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81" name="Google Shape;1281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82" name="Google Shape;1282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3" name="Google Shape;1283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4" name="Google Shape;1284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85" name="Google Shape;1285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6" name="Google Shape;1286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7" name="Google Shape;1287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8" name="Google Shape;1288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9" name="Google Shape;1289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0" name="Google Shape;1290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91" name="Google Shape;129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2" name="Google Shape;129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4" name="Google Shape;1294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7" name="Google Shape;1297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0" name="Google Shape;1300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1" name="Google Shape;1301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2" name="Google Shape;1302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03" name="Google Shape;1303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4" name="Google Shape;1304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5" name="Google Shape;1305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6" name="Google Shape;1306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7" name="Google Shape;1307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9" name="Google Shape;1309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0" name="Google Shape;1310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1" name="Google Shape;131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1313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6" name="Google Shape;1316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9" name="Google Shape;1319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0" name="Google Shape;1320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1" name="Google Shape;1321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22" name="Google Shape;1322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3" name="Google Shape;132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4" name="Google Shape;132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5" name="Google Shape;1325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6" name="Google Shape;132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7" name="Google Shape;132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8" name="Google Shape;1328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9" name="Google Shape;1329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0" name="Google Shape;133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" name="Google Shape;1332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5" name="Google Shape;1335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8" name="Google Shape;1338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9" name="Google Shape;1339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0" name="Google Shape;1340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41" name="Google Shape;1341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42" name="Google Shape;1342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3" name="Google Shape;134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4" name="Google Shape;1344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5" name="Google Shape;134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6" name="Google Shape;134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7" name="Google Shape;1347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8" name="Google Shape;1348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9" name="Google Shape;1349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0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54" name="Google Shape;1354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7" name="Google Shape;1357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8" name="Google Shape;1358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9" name="Google Shape;1359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60" name="Google Shape;1360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61" name="Google Shape;1361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2" name="Google Shape;1362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3" name="Google Shape;1363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4" name="Google Shape;136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5" name="Google Shape;136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6" name="Google Shape;1366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7" name="Google Shape;1367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8" name="Google Shape;1368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0" name="Google Shape;1370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3" name="Google Shape;137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7" name="Google Shape;1377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0" name="Google Shape;1380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4" name="Google Shape;1384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7" name="Google Shape;1387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Google Shape;1391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1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4" name="Google Shape;1394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1" name="Google Shape;1401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3" name="Google Shape;1403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Google Shape;1406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9" name="Google Shape;1409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2" name="Google Shape;1412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7" name="Google Shape;1417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0" name="Google Shape;1420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2" name="Google Shape;1422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1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5" name="Google Shape;1425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115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8" name="Google Shape;142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0" name="Google Shape;1430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3" name="Google Shape;1433;p116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5" name="Google Shape;1435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1" name="Google Shape;1441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3" name="Google Shape;1443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4" name="Google Shape;1444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6" name="Google Shape;1446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9" name="Google Shape;1449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1" name="Google Shape;1451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2" name="Google Shape;1452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" name="Google Shape;1454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5" name="Google Shape;1455;p11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7" name="Google Shape;1457;p119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9" name="Google Shape;1459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0" name="Google Shape;1460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120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3" name="Google Shape;1463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5" name="Google Shape;1465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120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21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9" name="Google Shape;1469;p12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12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1" name="Google Shape;1471;p121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1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" name="Google Shape;1474;p1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122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23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3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123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3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3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123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123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123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123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8" name="Google Shape;1488;p124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12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0.xml"/><Relationship Id="rId42" Type="http://schemas.openxmlformats.org/officeDocument/2006/relationships/slideLayout" Target="../slideLayouts/slideLayout102.xml"/><Relationship Id="rId41" Type="http://schemas.openxmlformats.org/officeDocument/2006/relationships/slideLayout" Target="../slideLayouts/slideLayout101.xml"/><Relationship Id="rId44" Type="http://schemas.openxmlformats.org/officeDocument/2006/relationships/slideLayout" Target="../slideLayouts/slideLayout104.xml"/><Relationship Id="rId43" Type="http://schemas.openxmlformats.org/officeDocument/2006/relationships/slideLayout" Target="../slideLayouts/slideLayout103.xml"/><Relationship Id="rId46" Type="http://schemas.openxmlformats.org/officeDocument/2006/relationships/slideLayout" Target="../slideLayouts/slideLayout106.xml"/><Relationship Id="rId45" Type="http://schemas.openxmlformats.org/officeDocument/2006/relationships/slideLayout" Target="../slideLayouts/slideLayout105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108.xml"/><Relationship Id="rId47" Type="http://schemas.openxmlformats.org/officeDocument/2006/relationships/slideLayout" Target="../slideLayouts/slideLayout107.xml"/><Relationship Id="rId49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91.xml"/><Relationship Id="rId30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93.xml"/><Relationship Id="rId32" Type="http://schemas.openxmlformats.org/officeDocument/2006/relationships/slideLayout" Target="../slideLayouts/slideLayout92.xml"/><Relationship Id="rId35" Type="http://schemas.openxmlformats.org/officeDocument/2006/relationships/slideLayout" Target="../slideLayouts/slideLayout95.xml"/><Relationship Id="rId34" Type="http://schemas.openxmlformats.org/officeDocument/2006/relationships/slideLayout" Target="../slideLayouts/slideLayout94.xml"/><Relationship Id="rId37" Type="http://schemas.openxmlformats.org/officeDocument/2006/relationships/slideLayout" Target="../slideLayouts/slideLayout97.xml"/><Relationship Id="rId36" Type="http://schemas.openxmlformats.org/officeDocument/2006/relationships/slideLayout" Target="../slideLayouts/slideLayout96.xml"/><Relationship Id="rId39" Type="http://schemas.openxmlformats.org/officeDocument/2006/relationships/slideLayout" Target="../slideLayouts/slideLayout99.xml"/><Relationship Id="rId38" Type="http://schemas.openxmlformats.org/officeDocument/2006/relationships/slideLayout" Target="../slideLayouts/slideLayout98.xml"/><Relationship Id="rId62" Type="http://schemas.openxmlformats.org/officeDocument/2006/relationships/slideLayout" Target="../slideLayouts/slideLayout122.xml"/><Relationship Id="rId61" Type="http://schemas.openxmlformats.org/officeDocument/2006/relationships/slideLayout" Target="../slideLayouts/slideLayout121.xml"/><Relationship Id="rId20" Type="http://schemas.openxmlformats.org/officeDocument/2006/relationships/slideLayout" Target="../slideLayouts/slideLayout80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123.xml"/><Relationship Id="rId22" Type="http://schemas.openxmlformats.org/officeDocument/2006/relationships/slideLayout" Target="../slideLayouts/slideLayout82.xml"/><Relationship Id="rId21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84.xml"/><Relationship Id="rId23" Type="http://schemas.openxmlformats.org/officeDocument/2006/relationships/slideLayout" Target="../slideLayouts/slideLayout83.xml"/><Relationship Id="rId60" Type="http://schemas.openxmlformats.org/officeDocument/2006/relationships/slideLayout" Target="../slideLayouts/slideLayout120.xml"/><Relationship Id="rId26" Type="http://schemas.openxmlformats.org/officeDocument/2006/relationships/slideLayout" Target="../slideLayouts/slideLayout86.xml"/><Relationship Id="rId25" Type="http://schemas.openxmlformats.org/officeDocument/2006/relationships/slideLayout" Target="../slideLayouts/slideLayout85.xml"/><Relationship Id="rId28" Type="http://schemas.openxmlformats.org/officeDocument/2006/relationships/slideLayout" Target="../slideLayouts/slideLayout88.xml"/><Relationship Id="rId27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89.xml"/><Relationship Id="rId51" Type="http://schemas.openxmlformats.org/officeDocument/2006/relationships/slideLayout" Target="../slideLayouts/slideLayout111.xml"/><Relationship Id="rId50" Type="http://schemas.openxmlformats.org/officeDocument/2006/relationships/slideLayout" Target="../slideLayouts/slideLayout110.xml"/><Relationship Id="rId53" Type="http://schemas.openxmlformats.org/officeDocument/2006/relationships/slideLayout" Target="../slideLayouts/slideLayout113.xml"/><Relationship Id="rId52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71.xml"/><Relationship Id="rId5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70.xml"/><Relationship Id="rId54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73.xml"/><Relationship Id="rId57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72.xml"/><Relationship Id="rId56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75.xml"/><Relationship Id="rId59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74.xml"/><Relationship Id="rId58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52" name="Google Shape;752;p63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53" name="Google Shape;753;p6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753" r:id="rId46"/>
    <p:sldLayoutId id="2147483754" r:id="rId47"/>
    <p:sldLayoutId id="2147483755" r:id="rId48"/>
    <p:sldLayoutId id="2147483756" r:id="rId49"/>
    <p:sldLayoutId id="2147483757" r:id="rId50"/>
    <p:sldLayoutId id="2147483758" r:id="rId51"/>
    <p:sldLayoutId id="2147483759" r:id="rId52"/>
    <p:sldLayoutId id="2147483760" r:id="rId53"/>
    <p:sldLayoutId id="2147483761" r:id="rId54"/>
    <p:sldLayoutId id="2147483762" r:id="rId55"/>
    <p:sldLayoutId id="2147483763" r:id="rId56"/>
    <p:sldLayoutId id="2147483764" r:id="rId57"/>
    <p:sldLayoutId id="2147483765" r:id="rId58"/>
    <p:sldLayoutId id="2147483766" r:id="rId59"/>
    <p:sldLayoutId id="2147483767" r:id="rId60"/>
    <p:sldLayoutId id="2147483768" r:id="rId61"/>
    <p:sldLayoutId id="2147483769" r:id="rId62"/>
    <p:sldLayoutId id="2147483770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8.png"/><Relationship Id="rId4" Type="http://schemas.openxmlformats.org/officeDocument/2006/relationships/image" Target="../media/image9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8.png"/><Relationship Id="rId4" Type="http://schemas.openxmlformats.org/officeDocument/2006/relationships/image" Target="../media/image100.png"/><Relationship Id="rId5" Type="http://schemas.openxmlformats.org/officeDocument/2006/relationships/image" Target="../media/image9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0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1.png"/><Relationship Id="rId4" Type="http://schemas.openxmlformats.org/officeDocument/2006/relationships/image" Target="../media/image10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0.png"/><Relationship Id="rId4" Type="http://schemas.openxmlformats.org/officeDocument/2006/relationships/image" Target="../media/image10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0.png"/><Relationship Id="rId4" Type="http://schemas.openxmlformats.org/officeDocument/2006/relationships/image" Target="../media/image10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0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0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0.png"/><Relationship Id="rId4" Type="http://schemas.openxmlformats.org/officeDocument/2006/relationships/image" Target="../media/image105.png"/><Relationship Id="rId5" Type="http://schemas.openxmlformats.org/officeDocument/2006/relationships/image" Target="../media/image10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0.png"/><Relationship Id="rId4" Type="http://schemas.openxmlformats.org/officeDocument/2006/relationships/image" Target="../media/image105.png"/><Relationship Id="rId5" Type="http://schemas.openxmlformats.org/officeDocument/2006/relationships/image" Target="../media/image10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5.png"/><Relationship Id="rId4" Type="http://schemas.openxmlformats.org/officeDocument/2006/relationships/image" Target="../media/image100.png"/><Relationship Id="rId5" Type="http://schemas.openxmlformats.org/officeDocument/2006/relationships/image" Target="../media/image10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2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errors</a:t>
            </a:r>
            <a:endParaRPr/>
          </a:p>
        </p:txBody>
      </p:sp>
      <p:sp>
        <p:nvSpPr>
          <p:cNvPr id="1496" name="Google Shape;1496;p12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Estimation and rounding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127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28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the impact of rounding errors when using a calculator (or other technology), and the way that these can be compounded to result in large inaccuracies.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29"/>
          <p:cNvSpPr txBox="1"/>
          <p:nvPr/>
        </p:nvSpPr>
        <p:spPr>
          <a:xfrm>
            <a:off x="324000" y="802250"/>
            <a:ext cx="8373900" cy="21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Significant figures are the digits in a number that contribute to the accuracy of the number.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first significant figure is the first non-zero digit.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Number lines can be used to round to one significant figure.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6523 = 7000 (1 s.f.)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6523 = 6500 (2 s.f.)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6523 = 6520 (3 s.f.)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13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lines</a:t>
            </a:r>
            <a:endParaRPr/>
          </a:p>
        </p:txBody>
      </p:sp>
      <p:sp>
        <p:nvSpPr>
          <p:cNvPr id="1517" name="Google Shape;1517;p13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impact of rounding errors</a:t>
            </a:r>
            <a:endParaRPr/>
          </a:p>
        </p:txBody>
      </p:sp>
      <p:sp>
        <p:nvSpPr>
          <p:cNvPr id="1518" name="Google Shape;1518;p13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errors</a:t>
            </a:r>
            <a:endParaRPr/>
          </a:p>
        </p:txBody>
      </p:sp>
      <p:pic>
        <p:nvPicPr>
          <p:cNvPr id="1519" name="Google Shape;1519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0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31"/>
          <p:cNvSpPr txBox="1"/>
          <p:nvPr>
            <p:ph idx="1" type="body"/>
          </p:nvPr>
        </p:nvSpPr>
        <p:spPr>
          <a:xfrm>
            <a:off x="324000" y="759300"/>
            <a:ext cx="8237700" cy="13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round in everyday life to make a calculation easier. Sometimes we are given rounded values and must identify the range of values of the unrounded number.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525" name="Google Shape;1525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lines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lines</a:t>
            </a:r>
            <a:endParaRPr/>
          </a:p>
        </p:txBody>
      </p:sp>
      <p:pic>
        <p:nvPicPr>
          <p:cNvPr id="1531" name="Google Shape;1531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7022" y="2389000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132"/>
          <p:cNvSpPr txBox="1"/>
          <p:nvPr/>
        </p:nvSpPr>
        <p:spPr>
          <a:xfrm>
            <a:off x="324000" y="765600"/>
            <a:ext cx="84960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 250 has been rounded to the nearest 10.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integer values could the unrounded number be?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33" name="Google Shape;1533;p132"/>
          <p:cNvGraphicFramePr/>
          <p:nvPr/>
        </p:nvGraphicFramePr>
        <p:xfrm>
          <a:off x="2136875" y="40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{CF82BA3E-BA7D-44CE-8BE9-2DBD2FD8257B}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4" name="Google Shape;1534;p132"/>
          <p:cNvSpPr txBox="1"/>
          <p:nvPr/>
        </p:nvSpPr>
        <p:spPr>
          <a:xfrm>
            <a:off x="1785705" y="36501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132"/>
          <p:cNvSpPr txBox="1"/>
          <p:nvPr/>
        </p:nvSpPr>
        <p:spPr>
          <a:xfrm>
            <a:off x="6601177" y="36501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260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132"/>
          <p:cNvSpPr txBox="1"/>
          <p:nvPr/>
        </p:nvSpPr>
        <p:spPr>
          <a:xfrm>
            <a:off x="4314728" y="3650125"/>
            <a:ext cx="65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7" name="Google Shape;1537;p132"/>
          <p:cNvGrpSpPr/>
          <p:nvPr/>
        </p:nvGrpSpPr>
        <p:grpSpPr>
          <a:xfrm>
            <a:off x="3122425" y="3458250"/>
            <a:ext cx="705900" cy="667176"/>
            <a:chOff x="3122425" y="3610650"/>
            <a:chExt cx="705900" cy="667176"/>
          </a:xfrm>
        </p:grpSpPr>
        <p:sp>
          <p:nvSpPr>
            <p:cNvPr id="1538" name="Google Shape;1538;p132"/>
            <p:cNvSpPr/>
            <p:nvPr/>
          </p:nvSpPr>
          <p:spPr>
            <a:xfrm rot="10800000">
              <a:off x="3290755" y="3939126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037B7D"/>
            </a:solidFill>
            <a:ln cap="flat" cmpd="sng" w="952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9" name="Google Shape;1539;p132"/>
            <p:cNvSpPr txBox="1"/>
            <p:nvPr/>
          </p:nvSpPr>
          <p:spPr>
            <a:xfrm>
              <a:off x="3122425" y="3610650"/>
              <a:ext cx="70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245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40" name="Google Shape;1540;p132"/>
          <p:cNvSpPr txBox="1"/>
          <p:nvPr/>
        </p:nvSpPr>
        <p:spPr>
          <a:xfrm>
            <a:off x="321450" y="1683950"/>
            <a:ext cx="7180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see a way to identify all the unrounded integers that give 250 when rounded to the nearest 10?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1" name="Google Shape;1541;p132"/>
          <p:cNvGrpSpPr/>
          <p:nvPr/>
        </p:nvGrpSpPr>
        <p:grpSpPr>
          <a:xfrm>
            <a:off x="3655825" y="3458250"/>
            <a:ext cx="705900" cy="667176"/>
            <a:chOff x="3122425" y="3610650"/>
            <a:chExt cx="705900" cy="667176"/>
          </a:xfrm>
        </p:grpSpPr>
        <p:sp>
          <p:nvSpPr>
            <p:cNvPr id="1542" name="Google Shape;1542;p132"/>
            <p:cNvSpPr/>
            <p:nvPr/>
          </p:nvSpPr>
          <p:spPr>
            <a:xfrm rot="10800000">
              <a:off x="3290755" y="3939126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037B7D"/>
            </a:solidFill>
            <a:ln cap="flat" cmpd="sng" w="952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3" name="Google Shape;1543;p132"/>
            <p:cNvSpPr txBox="1"/>
            <p:nvPr/>
          </p:nvSpPr>
          <p:spPr>
            <a:xfrm>
              <a:off x="3122425" y="3610650"/>
              <a:ext cx="70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247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4" name="Google Shape;1544;p132"/>
          <p:cNvGrpSpPr/>
          <p:nvPr/>
        </p:nvGrpSpPr>
        <p:grpSpPr>
          <a:xfrm>
            <a:off x="4824275" y="3459825"/>
            <a:ext cx="705900" cy="667176"/>
            <a:chOff x="3046225" y="3610650"/>
            <a:chExt cx="705900" cy="667176"/>
          </a:xfrm>
        </p:grpSpPr>
        <p:sp>
          <p:nvSpPr>
            <p:cNvPr id="1545" name="Google Shape;1545;p132"/>
            <p:cNvSpPr/>
            <p:nvPr/>
          </p:nvSpPr>
          <p:spPr>
            <a:xfrm rot="10800000">
              <a:off x="3273695" y="3939126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037B7D"/>
            </a:solidFill>
            <a:ln cap="flat" cmpd="sng" w="952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6" name="Google Shape;1546;p132"/>
            <p:cNvSpPr txBox="1"/>
            <p:nvPr/>
          </p:nvSpPr>
          <p:spPr>
            <a:xfrm>
              <a:off x="3046225" y="3610650"/>
              <a:ext cx="70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253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7" name="Google Shape;1547;p132"/>
          <p:cNvGrpSpPr/>
          <p:nvPr/>
        </p:nvGrpSpPr>
        <p:grpSpPr>
          <a:xfrm>
            <a:off x="222319" y="2667225"/>
            <a:ext cx="1657200" cy="1445198"/>
            <a:chOff x="222319" y="2667225"/>
            <a:chExt cx="1657200" cy="1445198"/>
          </a:xfrm>
        </p:grpSpPr>
        <p:sp>
          <p:nvSpPr>
            <p:cNvPr id="1548" name="Google Shape;1548;p132"/>
            <p:cNvSpPr txBox="1"/>
            <p:nvPr/>
          </p:nvSpPr>
          <p:spPr>
            <a:xfrm>
              <a:off x="222319" y="3526523"/>
              <a:ext cx="1657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549" name="Google Shape;1549;p1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7957" y="2667225"/>
              <a:ext cx="705943" cy="1016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0" name="Google Shape;1550;p132"/>
          <p:cNvGrpSpPr/>
          <p:nvPr/>
        </p:nvGrpSpPr>
        <p:grpSpPr>
          <a:xfrm>
            <a:off x="5355050" y="3458250"/>
            <a:ext cx="705900" cy="684506"/>
            <a:chOff x="3241525" y="2696250"/>
            <a:chExt cx="705900" cy="684506"/>
          </a:xfrm>
        </p:grpSpPr>
        <p:sp>
          <p:nvSpPr>
            <p:cNvPr id="1551" name="Google Shape;1551;p132"/>
            <p:cNvSpPr/>
            <p:nvPr/>
          </p:nvSpPr>
          <p:spPr>
            <a:xfrm rot="10800000">
              <a:off x="3424642" y="3042056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037B7D"/>
            </a:solidFill>
            <a:ln cap="flat" cmpd="sng" w="952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2" name="Google Shape;1552;p132"/>
            <p:cNvSpPr txBox="1"/>
            <p:nvPr/>
          </p:nvSpPr>
          <p:spPr>
            <a:xfrm>
              <a:off x="3241525" y="2696250"/>
              <a:ext cx="70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254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53" name="Google Shape;1553;p132"/>
          <p:cNvSpPr txBox="1"/>
          <p:nvPr/>
        </p:nvSpPr>
        <p:spPr>
          <a:xfrm>
            <a:off x="7147322" y="3192899"/>
            <a:ext cx="95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lines</a:t>
            </a:r>
            <a:endParaRPr/>
          </a:p>
        </p:txBody>
      </p:sp>
      <p:pic>
        <p:nvPicPr>
          <p:cNvPr id="1559" name="Google Shape;1559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234" y="2439825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560" name="Google Shape;1560;p133"/>
          <p:cNvSpPr txBox="1"/>
          <p:nvPr/>
        </p:nvSpPr>
        <p:spPr>
          <a:xfrm>
            <a:off x="324000" y="765600"/>
            <a:ext cx="84960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 250 has been rounded to the nearest 10.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integer values could the unrounded number be?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61" name="Google Shape;1561;p133"/>
          <p:cNvGraphicFramePr/>
          <p:nvPr/>
        </p:nvGraphicFramePr>
        <p:xfrm>
          <a:off x="2136875" y="40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{CF82BA3E-BA7D-44CE-8BE9-2DBD2FD8257B}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2" name="Google Shape;1562;p133"/>
          <p:cNvSpPr txBox="1"/>
          <p:nvPr/>
        </p:nvSpPr>
        <p:spPr>
          <a:xfrm>
            <a:off x="1785705" y="36501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133"/>
          <p:cNvSpPr txBox="1"/>
          <p:nvPr/>
        </p:nvSpPr>
        <p:spPr>
          <a:xfrm>
            <a:off x="6601177" y="36501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260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133"/>
          <p:cNvSpPr txBox="1"/>
          <p:nvPr/>
        </p:nvSpPr>
        <p:spPr>
          <a:xfrm>
            <a:off x="4314728" y="3650125"/>
            <a:ext cx="65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5" name="Google Shape;1565;p133"/>
          <p:cNvGrpSpPr/>
          <p:nvPr/>
        </p:nvGrpSpPr>
        <p:grpSpPr>
          <a:xfrm>
            <a:off x="3122425" y="3458250"/>
            <a:ext cx="705900" cy="667176"/>
            <a:chOff x="3122425" y="3610650"/>
            <a:chExt cx="705900" cy="667176"/>
          </a:xfrm>
        </p:grpSpPr>
        <p:sp>
          <p:nvSpPr>
            <p:cNvPr id="1566" name="Google Shape;1566;p133"/>
            <p:cNvSpPr/>
            <p:nvPr/>
          </p:nvSpPr>
          <p:spPr>
            <a:xfrm rot="10800000">
              <a:off x="3290755" y="3939126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037B7D"/>
            </a:solidFill>
            <a:ln cap="flat" cmpd="sng" w="952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7" name="Google Shape;1567;p133"/>
            <p:cNvSpPr txBox="1"/>
            <p:nvPr/>
          </p:nvSpPr>
          <p:spPr>
            <a:xfrm>
              <a:off x="3122425" y="3610650"/>
              <a:ext cx="70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245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68" name="Google Shape;1568;p133"/>
          <p:cNvSpPr txBox="1"/>
          <p:nvPr/>
        </p:nvSpPr>
        <p:spPr>
          <a:xfrm>
            <a:off x="222319" y="352652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69" name="Google Shape;1569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957" y="2667225"/>
            <a:ext cx="705943" cy="1016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0" name="Google Shape;1570;p133"/>
          <p:cNvGrpSpPr/>
          <p:nvPr/>
        </p:nvGrpSpPr>
        <p:grpSpPr>
          <a:xfrm>
            <a:off x="1162201" y="1755587"/>
            <a:ext cx="4231474" cy="1724862"/>
            <a:chOff x="262341" y="3463672"/>
            <a:chExt cx="7153802" cy="1733704"/>
          </a:xfrm>
        </p:grpSpPr>
        <p:pic>
          <p:nvPicPr>
            <p:cNvPr id="1571" name="Google Shape;1571;p133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262341" y="3463672"/>
              <a:ext cx="7153802" cy="17337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2" name="Google Shape;1572;p133"/>
            <p:cNvSpPr txBox="1"/>
            <p:nvPr/>
          </p:nvSpPr>
          <p:spPr>
            <a:xfrm>
              <a:off x="888205" y="3682652"/>
              <a:ext cx="6321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I see! Identifying the middle on the line </a:t>
              </a: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segments</a:t>
              </a: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 on the number line will help me see the range of values for the unrounded number.</a:t>
              </a:r>
              <a:endParaRPr sz="17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73" name="Google Shape;1573;p133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>
            <a:off x="5528950" y="2006576"/>
            <a:ext cx="2374277" cy="13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133"/>
          <p:cNvSpPr txBox="1"/>
          <p:nvPr/>
        </p:nvSpPr>
        <p:spPr>
          <a:xfrm flipH="1">
            <a:off x="5774388" y="2317088"/>
            <a:ext cx="2131312" cy="46169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Nice strategy!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133"/>
          <p:cNvSpPr txBox="1"/>
          <p:nvPr/>
        </p:nvSpPr>
        <p:spPr>
          <a:xfrm>
            <a:off x="1162200" y="1519450"/>
            <a:ext cx="612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245, 246, 247, 248, 249, 250, 251, 252, 253, 254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576" name="Google Shape;1576;p133"/>
          <p:cNvGrpSpPr/>
          <p:nvPr/>
        </p:nvGrpSpPr>
        <p:grpSpPr>
          <a:xfrm>
            <a:off x="5355050" y="3458250"/>
            <a:ext cx="705900" cy="718626"/>
            <a:chOff x="3317725" y="2696250"/>
            <a:chExt cx="705900" cy="718626"/>
          </a:xfrm>
        </p:grpSpPr>
        <p:sp>
          <p:nvSpPr>
            <p:cNvPr id="1577" name="Google Shape;1577;p133"/>
            <p:cNvSpPr/>
            <p:nvPr/>
          </p:nvSpPr>
          <p:spPr>
            <a:xfrm rot="10800000">
              <a:off x="3500842" y="3076176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037B7D"/>
            </a:solidFill>
            <a:ln cap="flat" cmpd="sng" w="952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8" name="Google Shape;1578;p133"/>
            <p:cNvSpPr txBox="1"/>
            <p:nvPr/>
          </p:nvSpPr>
          <p:spPr>
            <a:xfrm>
              <a:off x="3317725" y="2696250"/>
              <a:ext cx="70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254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579" name="Google Shape;1579;p133"/>
          <p:cNvCxnSpPr/>
          <p:nvPr/>
        </p:nvCxnSpPr>
        <p:spPr>
          <a:xfrm>
            <a:off x="3406138" y="3716925"/>
            <a:ext cx="0" cy="78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80" name="Google Shape;1580;p133"/>
          <p:cNvCxnSpPr/>
          <p:nvPr/>
        </p:nvCxnSpPr>
        <p:spPr>
          <a:xfrm>
            <a:off x="5776938" y="3763050"/>
            <a:ext cx="0" cy="63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81" name="Google Shape;1581;p133"/>
          <p:cNvSpPr txBox="1"/>
          <p:nvPr/>
        </p:nvSpPr>
        <p:spPr>
          <a:xfrm>
            <a:off x="7735397" y="3335799"/>
            <a:ext cx="95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lines</a:t>
            </a:r>
            <a:endParaRPr/>
          </a:p>
        </p:txBody>
      </p:sp>
      <p:pic>
        <p:nvPicPr>
          <p:cNvPr id="1587" name="Google Shape;1587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7609" y="1790513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8" name="Google Shape;1588;p134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4967225" y="639100"/>
            <a:ext cx="2969498" cy="169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9" name="Google Shape;1589;p134"/>
          <p:cNvSpPr txBox="1"/>
          <p:nvPr/>
        </p:nvSpPr>
        <p:spPr>
          <a:xfrm>
            <a:off x="324000" y="765600"/>
            <a:ext cx="46743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are the smallest and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largest integers that when rounded to the nearest 50 give 300?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90" name="Google Shape;1590;p134"/>
          <p:cNvGraphicFramePr/>
          <p:nvPr/>
        </p:nvGraphicFramePr>
        <p:xfrm>
          <a:off x="2136875" y="418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{CF82BA3E-BA7D-44CE-8BE9-2DBD2FD8257B}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1" name="Google Shape;1591;p134"/>
          <p:cNvSpPr txBox="1"/>
          <p:nvPr/>
        </p:nvSpPr>
        <p:spPr>
          <a:xfrm>
            <a:off x="1785705" y="38025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2" name="Google Shape;1592;p134"/>
          <p:cNvSpPr txBox="1"/>
          <p:nvPr/>
        </p:nvSpPr>
        <p:spPr>
          <a:xfrm>
            <a:off x="6677377" y="38025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134"/>
          <p:cNvSpPr txBox="1"/>
          <p:nvPr/>
        </p:nvSpPr>
        <p:spPr>
          <a:xfrm>
            <a:off x="4314728" y="3802525"/>
            <a:ext cx="65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94" name="Google Shape;1594;p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545" y="2466775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5" name="Google Shape;1595;p134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1123550" y="1856750"/>
            <a:ext cx="3499936" cy="14269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6" name="Google Shape;1596;p134"/>
          <p:cNvSpPr txBox="1"/>
          <p:nvPr/>
        </p:nvSpPr>
        <p:spPr>
          <a:xfrm>
            <a:off x="1502175" y="2166150"/>
            <a:ext cx="2742667" cy="7688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will start by putting 300 in the middle.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134"/>
          <p:cNvSpPr txBox="1"/>
          <p:nvPr/>
        </p:nvSpPr>
        <p:spPr>
          <a:xfrm>
            <a:off x="7587922" y="2647999"/>
            <a:ext cx="95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134"/>
          <p:cNvSpPr txBox="1"/>
          <p:nvPr/>
        </p:nvSpPr>
        <p:spPr>
          <a:xfrm>
            <a:off x="409547" y="3441024"/>
            <a:ext cx="95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134"/>
          <p:cNvSpPr txBox="1"/>
          <p:nvPr/>
        </p:nvSpPr>
        <p:spPr>
          <a:xfrm>
            <a:off x="5214064" y="776739"/>
            <a:ext cx="25617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As the degree of accuracy is the nearest 50, + and − 50 either side of the 300.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4" name="Google Shape;1604;p135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4998300" y="1019825"/>
            <a:ext cx="2850877" cy="142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5" name="Google Shape;1605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lines</a:t>
            </a:r>
            <a:endParaRPr/>
          </a:p>
        </p:txBody>
      </p:sp>
      <p:pic>
        <p:nvPicPr>
          <p:cNvPr id="1606" name="Google Shape;1606;p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7609" y="179051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607" name="Google Shape;1607;p135"/>
          <p:cNvSpPr txBox="1"/>
          <p:nvPr/>
        </p:nvSpPr>
        <p:spPr>
          <a:xfrm>
            <a:off x="324000" y="765600"/>
            <a:ext cx="46743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are the smallest and largest integers that when rounded to the nearest 50 give 300?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08" name="Google Shape;1608;p135"/>
          <p:cNvGraphicFramePr/>
          <p:nvPr/>
        </p:nvGraphicFramePr>
        <p:xfrm>
          <a:off x="2136875" y="418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{CF82BA3E-BA7D-44CE-8BE9-2DBD2FD8257B}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9" name="Google Shape;1609;p135"/>
          <p:cNvSpPr txBox="1"/>
          <p:nvPr/>
        </p:nvSpPr>
        <p:spPr>
          <a:xfrm>
            <a:off x="1785705" y="38025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135"/>
          <p:cNvSpPr txBox="1"/>
          <p:nvPr/>
        </p:nvSpPr>
        <p:spPr>
          <a:xfrm>
            <a:off x="6677377" y="38025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135"/>
          <p:cNvSpPr txBox="1"/>
          <p:nvPr/>
        </p:nvSpPr>
        <p:spPr>
          <a:xfrm>
            <a:off x="4314728" y="3802525"/>
            <a:ext cx="65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2" name="Google Shape;1612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545" y="2466775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3" name="Google Shape;1613;p135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1123550" y="1856750"/>
            <a:ext cx="3499935" cy="142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135"/>
          <p:cNvSpPr txBox="1"/>
          <p:nvPr/>
        </p:nvSpPr>
        <p:spPr>
          <a:xfrm>
            <a:off x="7587922" y="2647999"/>
            <a:ext cx="95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135"/>
          <p:cNvSpPr txBox="1"/>
          <p:nvPr/>
        </p:nvSpPr>
        <p:spPr>
          <a:xfrm>
            <a:off x="409547" y="3441024"/>
            <a:ext cx="95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6" name="Google Shape;1616;p135"/>
          <p:cNvCxnSpPr/>
          <p:nvPr/>
        </p:nvCxnSpPr>
        <p:spPr>
          <a:xfrm>
            <a:off x="3396375" y="3476050"/>
            <a:ext cx="21300" cy="116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17" name="Google Shape;1617;p135"/>
          <p:cNvCxnSpPr/>
          <p:nvPr/>
        </p:nvCxnSpPr>
        <p:spPr>
          <a:xfrm>
            <a:off x="5775725" y="3487450"/>
            <a:ext cx="3900" cy="110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18" name="Google Shape;1618;p135"/>
          <p:cNvSpPr txBox="1"/>
          <p:nvPr/>
        </p:nvSpPr>
        <p:spPr>
          <a:xfrm>
            <a:off x="1432800" y="1967613"/>
            <a:ext cx="3058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know this must be 275.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135"/>
          <p:cNvSpPr txBox="1"/>
          <p:nvPr/>
        </p:nvSpPr>
        <p:spPr>
          <a:xfrm>
            <a:off x="1431875" y="2297350"/>
            <a:ext cx="3058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is 325 but this rounds up to 350 so I use 324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135"/>
          <p:cNvSpPr txBox="1"/>
          <p:nvPr/>
        </p:nvSpPr>
        <p:spPr>
          <a:xfrm>
            <a:off x="5202225" y="1216250"/>
            <a:ext cx="24864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275 is the smallest integer and 324 is the largest integer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135"/>
          <p:cNvSpPr txBox="1"/>
          <p:nvPr/>
        </p:nvSpPr>
        <p:spPr>
          <a:xfrm>
            <a:off x="3052075" y="3564049"/>
            <a:ext cx="7059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275</a:t>
            </a:r>
            <a:endParaRPr sz="1700"/>
          </a:p>
        </p:txBody>
      </p:sp>
      <p:sp>
        <p:nvSpPr>
          <p:cNvPr id="1622" name="Google Shape;1622;p135"/>
          <p:cNvSpPr/>
          <p:nvPr/>
        </p:nvSpPr>
        <p:spPr>
          <a:xfrm rot="10800000">
            <a:off x="3290755" y="4015326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135"/>
          <p:cNvSpPr txBox="1"/>
          <p:nvPr/>
        </p:nvSpPr>
        <p:spPr>
          <a:xfrm>
            <a:off x="5443800" y="3576887"/>
            <a:ext cx="7059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325</a:t>
            </a:r>
            <a:endParaRPr sz="1700"/>
          </a:p>
        </p:txBody>
      </p:sp>
      <p:sp>
        <p:nvSpPr>
          <p:cNvPr id="1624" name="Google Shape;1624;p135"/>
          <p:cNvSpPr/>
          <p:nvPr/>
        </p:nvSpPr>
        <p:spPr>
          <a:xfrm rot="10800000">
            <a:off x="5682480" y="4028163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136"/>
          <p:cNvSpPr txBox="1"/>
          <p:nvPr>
            <p:ph idx="1" type="body"/>
          </p:nvPr>
        </p:nvSpPr>
        <p:spPr>
          <a:xfrm>
            <a:off x="324000" y="759300"/>
            <a:ext cx="8237700" cy="7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Work out the largest and smallest unrounded integers. You can use the number line if it helps.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430 rounded to the nearest 10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6800 rounded to the nearest 100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160 rounded to the nearest 20</a:t>
            </a:r>
            <a:endParaRPr sz="2000"/>
          </a:p>
        </p:txBody>
      </p:sp>
      <p:sp>
        <p:nvSpPr>
          <p:cNvPr id="1630" name="Google Shape;1630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lines</a:t>
            </a:r>
            <a:endParaRPr/>
          </a:p>
        </p:txBody>
      </p:sp>
      <p:graphicFrame>
        <p:nvGraphicFramePr>
          <p:cNvPr id="1631" name="Google Shape;1631;p136"/>
          <p:cNvGraphicFramePr/>
          <p:nvPr/>
        </p:nvGraphicFramePr>
        <p:xfrm>
          <a:off x="5079150" y="192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{CF82BA3E-BA7D-44CE-8BE9-2DBD2FD8257B}</a:tableStyleId>
              </a:tblPr>
              <a:tblGrid>
                <a:gridCol w="1603125"/>
                <a:gridCol w="1603125"/>
              </a:tblGrid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2" name="Google Shape;1632;p136"/>
          <p:cNvSpPr txBox="1"/>
          <p:nvPr/>
        </p:nvSpPr>
        <p:spPr>
          <a:xfrm>
            <a:off x="4754430" y="15438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136"/>
          <p:cNvSpPr txBox="1"/>
          <p:nvPr/>
        </p:nvSpPr>
        <p:spPr>
          <a:xfrm>
            <a:off x="7967702" y="15438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440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136"/>
          <p:cNvSpPr txBox="1"/>
          <p:nvPr/>
        </p:nvSpPr>
        <p:spPr>
          <a:xfrm>
            <a:off x="6413078" y="1543800"/>
            <a:ext cx="65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430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5" name="Google Shape;1635;p136"/>
          <p:cNvCxnSpPr/>
          <p:nvPr/>
        </p:nvCxnSpPr>
        <p:spPr>
          <a:xfrm>
            <a:off x="7392025" y="15438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36" name="Google Shape;1636;p136"/>
          <p:cNvCxnSpPr/>
          <p:nvPr/>
        </p:nvCxnSpPr>
        <p:spPr>
          <a:xfrm>
            <a:off x="5868025" y="15438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37" name="Google Shape;1637;p136"/>
          <p:cNvSpPr txBox="1"/>
          <p:nvPr/>
        </p:nvSpPr>
        <p:spPr>
          <a:xfrm>
            <a:off x="1225524" y="1924650"/>
            <a:ext cx="334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425 is the smallest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434 is the 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largest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638" name="Google Shape;1638;p136"/>
          <p:cNvGraphicFramePr/>
          <p:nvPr/>
        </p:nvGraphicFramePr>
        <p:xfrm>
          <a:off x="5079150" y="310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{CF82BA3E-BA7D-44CE-8BE9-2DBD2FD8257B}</a:tableStyleId>
              </a:tblPr>
              <a:tblGrid>
                <a:gridCol w="1603125"/>
                <a:gridCol w="16031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9" name="Google Shape;1639;p136"/>
          <p:cNvSpPr txBox="1"/>
          <p:nvPr/>
        </p:nvSpPr>
        <p:spPr>
          <a:xfrm>
            <a:off x="4754424" y="2763000"/>
            <a:ext cx="72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6700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136"/>
          <p:cNvSpPr txBox="1"/>
          <p:nvPr/>
        </p:nvSpPr>
        <p:spPr>
          <a:xfrm>
            <a:off x="7967699" y="2763000"/>
            <a:ext cx="8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6900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136"/>
          <p:cNvSpPr txBox="1"/>
          <p:nvPr/>
        </p:nvSpPr>
        <p:spPr>
          <a:xfrm>
            <a:off x="6330874" y="2763000"/>
            <a:ext cx="8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6800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2" name="Google Shape;1642;p136"/>
          <p:cNvCxnSpPr/>
          <p:nvPr/>
        </p:nvCxnSpPr>
        <p:spPr>
          <a:xfrm>
            <a:off x="7392025" y="27630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43" name="Google Shape;1643;p136"/>
          <p:cNvCxnSpPr/>
          <p:nvPr/>
        </p:nvCxnSpPr>
        <p:spPr>
          <a:xfrm>
            <a:off x="5868025" y="27630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graphicFrame>
        <p:nvGraphicFramePr>
          <p:cNvPr id="1644" name="Google Shape;1644;p136"/>
          <p:cNvGraphicFramePr/>
          <p:nvPr/>
        </p:nvGraphicFramePr>
        <p:xfrm>
          <a:off x="5079150" y="417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{CF82BA3E-BA7D-44CE-8BE9-2DBD2FD8257B}</a:tableStyleId>
              </a:tblPr>
              <a:tblGrid>
                <a:gridCol w="1603125"/>
                <a:gridCol w="16031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45" name="Google Shape;1645;p136"/>
          <p:cNvSpPr txBox="1"/>
          <p:nvPr/>
        </p:nvSpPr>
        <p:spPr>
          <a:xfrm>
            <a:off x="4754430" y="38298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140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136"/>
          <p:cNvSpPr txBox="1"/>
          <p:nvPr/>
        </p:nvSpPr>
        <p:spPr>
          <a:xfrm>
            <a:off x="7967702" y="38298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180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136"/>
          <p:cNvSpPr txBox="1"/>
          <p:nvPr/>
        </p:nvSpPr>
        <p:spPr>
          <a:xfrm>
            <a:off x="6413078" y="3829800"/>
            <a:ext cx="65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160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8" name="Google Shape;1648;p136"/>
          <p:cNvCxnSpPr/>
          <p:nvPr/>
        </p:nvCxnSpPr>
        <p:spPr>
          <a:xfrm>
            <a:off x="7392025" y="38298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49" name="Google Shape;1649;p136"/>
          <p:cNvCxnSpPr/>
          <p:nvPr/>
        </p:nvCxnSpPr>
        <p:spPr>
          <a:xfrm>
            <a:off x="5868025" y="38298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50" name="Google Shape;1650;p136"/>
          <p:cNvSpPr txBox="1"/>
          <p:nvPr/>
        </p:nvSpPr>
        <p:spPr>
          <a:xfrm>
            <a:off x="1225524" y="2839050"/>
            <a:ext cx="334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67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50 is the smallest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6849 is the largest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1" name="Google Shape;1651;p136"/>
          <p:cNvSpPr txBox="1"/>
          <p:nvPr/>
        </p:nvSpPr>
        <p:spPr>
          <a:xfrm>
            <a:off x="1301724" y="3829650"/>
            <a:ext cx="334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150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is the smallest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169 is the largest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13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lines</a:t>
            </a:r>
            <a:endParaRPr/>
          </a:p>
        </p:txBody>
      </p:sp>
      <p:sp>
        <p:nvSpPr>
          <p:cNvPr id="1657" name="Google Shape;1657;p137"/>
          <p:cNvSpPr txBox="1"/>
          <p:nvPr>
            <p:ph idx="4294967295" type="body"/>
          </p:nvPr>
        </p:nvSpPr>
        <p:spPr>
          <a:xfrm>
            <a:off x="324000" y="759300"/>
            <a:ext cx="8237700" cy="7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Work out the largest and smallest unrounded integers. You can use a number line if it helps.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300 rounded to the nearest 10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300 rounded to the nearest 100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300 rounded to the nearest 50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13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lines</a:t>
            </a:r>
            <a:endParaRPr/>
          </a:p>
        </p:txBody>
      </p:sp>
      <p:sp>
        <p:nvSpPr>
          <p:cNvPr id="1663" name="Google Shape;1663;p138"/>
          <p:cNvSpPr txBox="1"/>
          <p:nvPr>
            <p:ph idx="4294967295" type="body"/>
          </p:nvPr>
        </p:nvSpPr>
        <p:spPr>
          <a:xfrm>
            <a:off x="324000" y="759300"/>
            <a:ext cx="8237700" cy="7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Work out the largest and smallest unrounded integers. You can use a number line if it helps.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d) 640 rounded to the nearest 10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e) 3000 rounded to the nearest 100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f) 50 rounded to the nearest 50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3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lines</a:t>
            </a:r>
            <a:endParaRPr/>
          </a:p>
        </p:txBody>
      </p:sp>
      <p:sp>
        <p:nvSpPr>
          <p:cNvPr id="1669" name="Google Shape;1669;p139"/>
          <p:cNvSpPr txBox="1"/>
          <p:nvPr>
            <p:ph idx="4294967295" type="body"/>
          </p:nvPr>
        </p:nvSpPr>
        <p:spPr>
          <a:xfrm>
            <a:off x="362450" y="704650"/>
            <a:ext cx="8237700" cy="7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</a:t>
            </a:r>
            <a:r>
              <a:rPr lang="en-GB" sz="2100"/>
              <a:t>Work out the unknown number. Draw number lines to help.</a:t>
            </a:r>
            <a:endParaRPr sz="21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      </a:t>
            </a:r>
            <a:r>
              <a:rPr lang="en-GB" sz="2000"/>
              <a:t> rounded to the nearest 10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140 rounded to the nearest     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       rounded to the nearest      </a:t>
            </a:r>
            <a:endParaRPr sz="2000"/>
          </a:p>
        </p:txBody>
      </p:sp>
      <p:sp>
        <p:nvSpPr>
          <p:cNvPr id="1670" name="Google Shape;1670;p139"/>
          <p:cNvSpPr txBox="1"/>
          <p:nvPr/>
        </p:nvSpPr>
        <p:spPr>
          <a:xfrm>
            <a:off x="1225524" y="1619850"/>
            <a:ext cx="334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715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is the smallest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724 is the largest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1" name="Google Shape;1671;p139"/>
          <p:cNvSpPr txBox="1"/>
          <p:nvPr/>
        </p:nvSpPr>
        <p:spPr>
          <a:xfrm>
            <a:off x="1225524" y="2610450"/>
            <a:ext cx="334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130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is the smallest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149 is the largest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2" name="Google Shape;1672;p139"/>
          <p:cNvSpPr txBox="1"/>
          <p:nvPr/>
        </p:nvSpPr>
        <p:spPr>
          <a:xfrm>
            <a:off x="1301724" y="3677250"/>
            <a:ext cx="334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875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is the smallest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924 is the largest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3" name="Google Shape;1673;p139"/>
          <p:cNvSpPr/>
          <p:nvPr/>
        </p:nvSpPr>
        <p:spPr>
          <a:xfrm>
            <a:off x="702082" y="1187938"/>
            <a:ext cx="497700" cy="338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139"/>
          <p:cNvSpPr/>
          <p:nvPr/>
        </p:nvSpPr>
        <p:spPr>
          <a:xfrm>
            <a:off x="4198132" y="2238288"/>
            <a:ext cx="497700" cy="338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5" name="Google Shape;1675;p139"/>
          <p:cNvSpPr/>
          <p:nvPr/>
        </p:nvSpPr>
        <p:spPr>
          <a:xfrm>
            <a:off x="4198132" y="3266988"/>
            <a:ext cx="497700" cy="338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139"/>
          <p:cNvSpPr/>
          <p:nvPr/>
        </p:nvSpPr>
        <p:spPr>
          <a:xfrm>
            <a:off x="769707" y="3296238"/>
            <a:ext cx="497700" cy="338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140"/>
          <p:cNvSpPr txBox="1"/>
          <p:nvPr>
            <p:ph idx="1" type="body"/>
          </p:nvPr>
        </p:nvSpPr>
        <p:spPr>
          <a:xfrm>
            <a:off x="324000" y="759300"/>
            <a:ext cx="8237700" cy="8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3) In a school, the headteacher says there are 480 pupils rounded to the nearest 10. What is the largest number of pupils in the school?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4) </a:t>
            </a:r>
            <a:r>
              <a:rPr lang="en-GB" sz="1900"/>
              <a:t>An advert says 56 000 people use their product rounded to the nearest 1000.</a:t>
            </a:r>
            <a:r>
              <a:rPr lang="en-GB" sz="1900"/>
              <a:t> What is the least amount of people who use their product?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14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lines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4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lines</a:t>
            </a:r>
            <a:endParaRPr/>
          </a:p>
        </p:txBody>
      </p:sp>
      <p:sp>
        <p:nvSpPr>
          <p:cNvPr id="1688" name="Google Shape;1688;p141"/>
          <p:cNvSpPr txBox="1"/>
          <p:nvPr>
            <p:ph idx="4294967295" type="body"/>
          </p:nvPr>
        </p:nvSpPr>
        <p:spPr>
          <a:xfrm>
            <a:off x="324000" y="759300"/>
            <a:ext cx="8237700" cy="7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Work out the largest and smallest unrounded integers. You can use a number line if it helps.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300 rounded to the nearest 10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300 rounded to the nearest 100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300 rounded to the nearest 50</a:t>
            </a:r>
            <a:endParaRPr sz="2000"/>
          </a:p>
        </p:txBody>
      </p:sp>
      <p:graphicFrame>
        <p:nvGraphicFramePr>
          <p:cNvPr id="1689" name="Google Shape;1689;p141"/>
          <p:cNvGraphicFramePr/>
          <p:nvPr/>
        </p:nvGraphicFramePr>
        <p:xfrm>
          <a:off x="5079150" y="192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{CF82BA3E-BA7D-44CE-8BE9-2DBD2FD8257B}</a:tableStyleId>
              </a:tblPr>
              <a:tblGrid>
                <a:gridCol w="1603125"/>
                <a:gridCol w="1603125"/>
              </a:tblGrid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0" name="Google Shape;1690;p141"/>
          <p:cNvSpPr txBox="1"/>
          <p:nvPr/>
        </p:nvSpPr>
        <p:spPr>
          <a:xfrm>
            <a:off x="4754430" y="15438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290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141"/>
          <p:cNvSpPr txBox="1"/>
          <p:nvPr/>
        </p:nvSpPr>
        <p:spPr>
          <a:xfrm>
            <a:off x="7967702" y="15438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310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141"/>
          <p:cNvSpPr txBox="1"/>
          <p:nvPr/>
        </p:nvSpPr>
        <p:spPr>
          <a:xfrm>
            <a:off x="6413078" y="1543800"/>
            <a:ext cx="65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3" name="Google Shape;1693;p141"/>
          <p:cNvCxnSpPr/>
          <p:nvPr/>
        </p:nvCxnSpPr>
        <p:spPr>
          <a:xfrm>
            <a:off x="7392025" y="15438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94" name="Google Shape;1694;p141"/>
          <p:cNvCxnSpPr/>
          <p:nvPr/>
        </p:nvCxnSpPr>
        <p:spPr>
          <a:xfrm>
            <a:off x="5868025" y="15438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95" name="Google Shape;1695;p141"/>
          <p:cNvSpPr txBox="1"/>
          <p:nvPr/>
        </p:nvSpPr>
        <p:spPr>
          <a:xfrm>
            <a:off x="1225524" y="1848450"/>
            <a:ext cx="334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295 is the smallest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304 is the largest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696" name="Google Shape;1696;p141"/>
          <p:cNvGraphicFramePr/>
          <p:nvPr/>
        </p:nvGraphicFramePr>
        <p:xfrm>
          <a:off x="5079150" y="310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{CF82BA3E-BA7D-44CE-8BE9-2DBD2FD8257B}</a:tableStyleId>
              </a:tblPr>
              <a:tblGrid>
                <a:gridCol w="1603125"/>
                <a:gridCol w="16031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7" name="Google Shape;1697;p141"/>
          <p:cNvSpPr txBox="1"/>
          <p:nvPr/>
        </p:nvSpPr>
        <p:spPr>
          <a:xfrm>
            <a:off x="4754424" y="2763000"/>
            <a:ext cx="72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141"/>
          <p:cNvSpPr txBox="1"/>
          <p:nvPr/>
        </p:nvSpPr>
        <p:spPr>
          <a:xfrm>
            <a:off x="7967699" y="2763000"/>
            <a:ext cx="8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141"/>
          <p:cNvSpPr txBox="1"/>
          <p:nvPr/>
        </p:nvSpPr>
        <p:spPr>
          <a:xfrm>
            <a:off x="6330874" y="2763000"/>
            <a:ext cx="8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0" name="Google Shape;1700;p141"/>
          <p:cNvCxnSpPr/>
          <p:nvPr/>
        </p:nvCxnSpPr>
        <p:spPr>
          <a:xfrm>
            <a:off x="7392025" y="27630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01" name="Google Shape;1701;p141"/>
          <p:cNvCxnSpPr/>
          <p:nvPr/>
        </p:nvCxnSpPr>
        <p:spPr>
          <a:xfrm>
            <a:off x="5868025" y="27630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graphicFrame>
        <p:nvGraphicFramePr>
          <p:cNvPr id="1702" name="Google Shape;1702;p141"/>
          <p:cNvGraphicFramePr/>
          <p:nvPr/>
        </p:nvGraphicFramePr>
        <p:xfrm>
          <a:off x="5079150" y="417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{CF82BA3E-BA7D-44CE-8BE9-2DBD2FD8257B}</a:tableStyleId>
              </a:tblPr>
              <a:tblGrid>
                <a:gridCol w="1603125"/>
                <a:gridCol w="16031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3" name="Google Shape;1703;p141"/>
          <p:cNvSpPr txBox="1"/>
          <p:nvPr/>
        </p:nvSpPr>
        <p:spPr>
          <a:xfrm>
            <a:off x="4754430" y="38298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141"/>
          <p:cNvSpPr txBox="1"/>
          <p:nvPr/>
        </p:nvSpPr>
        <p:spPr>
          <a:xfrm>
            <a:off x="7967702" y="38298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5" name="Google Shape;1705;p141"/>
          <p:cNvSpPr txBox="1"/>
          <p:nvPr/>
        </p:nvSpPr>
        <p:spPr>
          <a:xfrm>
            <a:off x="6413078" y="3829800"/>
            <a:ext cx="65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6" name="Google Shape;1706;p141"/>
          <p:cNvCxnSpPr/>
          <p:nvPr/>
        </p:nvCxnSpPr>
        <p:spPr>
          <a:xfrm>
            <a:off x="7392025" y="38298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07" name="Google Shape;1707;p141"/>
          <p:cNvCxnSpPr/>
          <p:nvPr/>
        </p:nvCxnSpPr>
        <p:spPr>
          <a:xfrm>
            <a:off x="5868025" y="38298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08" name="Google Shape;1708;p141"/>
          <p:cNvSpPr txBox="1"/>
          <p:nvPr/>
        </p:nvSpPr>
        <p:spPr>
          <a:xfrm>
            <a:off x="1225524" y="2839050"/>
            <a:ext cx="334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250 is the smallest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349 is the largest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9" name="Google Shape;1709;p141"/>
          <p:cNvSpPr txBox="1"/>
          <p:nvPr/>
        </p:nvSpPr>
        <p:spPr>
          <a:xfrm>
            <a:off x="1301724" y="3982050"/>
            <a:ext cx="334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275 is the smallest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324 is the largest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14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lines</a:t>
            </a:r>
            <a:endParaRPr/>
          </a:p>
        </p:txBody>
      </p:sp>
      <p:sp>
        <p:nvSpPr>
          <p:cNvPr id="1715" name="Google Shape;1715;p142"/>
          <p:cNvSpPr txBox="1"/>
          <p:nvPr>
            <p:ph idx="4294967295" type="body"/>
          </p:nvPr>
        </p:nvSpPr>
        <p:spPr>
          <a:xfrm>
            <a:off x="324000" y="759300"/>
            <a:ext cx="8237700" cy="7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Work out the largest and smallest unrounded integers. You can use a number line if it helps.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d) 640 rounded to the nearest 10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e) 3000 rounded to the nearest 100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f) 50 rounded to the nearest 50</a:t>
            </a:r>
            <a:endParaRPr sz="2000"/>
          </a:p>
        </p:txBody>
      </p:sp>
      <p:graphicFrame>
        <p:nvGraphicFramePr>
          <p:cNvPr id="1716" name="Google Shape;1716;p142"/>
          <p:cNvGraphicFramePr/>
          <p:nvPr/>
        </p:nvGraphicFramePr>
        <p:xfrm>
          <a:off x="5079150" y="192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{CF82BA3E-BA7D-44CE-8BE9-2DBD2FD8257B}</a:tableStyleId>
              </a:tblPr>
              <a:tblGrid>
                <a:gridCol w="1603125"/>
                <a:gridCol w="1603125"/>
              </a:tblGrid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7" name="Google Shape;1717;p142"/>
          <p:cNvSpPr txBox="1"/>
          <p:nvPr/>
        </p:nvSpPr>
        <p:spPr>
          <a:xfrm>
            <a:off x="4754430" y="15438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630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142"/>
          <p:cNvSpPr txBox="1"/>
          <p:nvPr/>
        </p:nvSpPr>
        <p:spPr>
          <a:xfrm>
            <a:off x="7967702" y="15438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142"/>
          <p:cNvSpPr txBox="1"/>
          <p:nvPr/>
        </p:nvSpPr>
        <p:spPr>
          <a:xfrm>
            <a:off x="6413078" y="1543800"/>
            <a:ext cx="65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640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0" name="Google Shape;1720;p142"/>
          <p:cNvCxnSpPr/>
          <p:nvPr/>
        </p:nvCxnSpPr>
        <p:spPr>
          <a:xfrm>
            <a:off x="7392025" y="15438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21" name="Google Shape;1721;p142"/>
          <p:cNvCxnSpPr/>
          <p:nvPr/>
        </p:nvCxnSpPr>
        <p:spPr>
          <a:xfrm>
            <a:off x="5868025" y="15438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22" name="Google Shape;1722;p142"/>
          <p:cNvSpPr txBox="1"/>
          <p:nvPr/>
        </p:nvSpPr>
        <p:spPr>
          <a:xfrm>
            <a:off x="1225524" y="2000850"/>
            <a:ext cx="334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635 is the smallest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644 is the largest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23" name="Google Shape;1723;p142"/>
          <p:cNvGraphicFramePr/>
          <p:nvPr/>
        </p:nvGraphicFramePr>
        <p:xfrm>
          <a:off x="5079150" y="310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{CF82BA3E-BA7D-44CE-8BE9-2DBD2FD8257B}</a:tableStyleId>
              </a:tblPr>
              <a:tblGrid>
                <a:gridCol w="1603125"/>
                <a:gridCol w="16031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4" name="Google Shape;1724;p142"/>
          <p:cNvSpPr txBox="1"/>
          <p:nvPr/>
        </p:nvSpPr>
        <p:spPr>
          <a:xfrm>
            <a:off x="4754424" y="2763000"/>
            <a:ext cx="72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2900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142"/>
          <p:cNvSpPr txBox="1"/>
          <p:nvPr/>
        </p:nvSpPr>
        <p:spPr>
          <a:xfrm>
            <a:off x="7967699" y="2763000"/>
            <a:ext cx="8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3100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142"/>
          <p:cNvSpPr txBox="1"/>
          <p:nvPr/>
        </p:nvSpPr>
        <p:spPr>
          <a:xfrm>
            <a:off x="6330874" y="2763000"/>
            <a:ext cx="8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7" name="Google Shape;1727;p142"/>
          <p:cNvCxnSpPr/>
          <p:nvPr/>
        </p:nvCxnSpPr>
        <p:spPr>
          <a:xfrm>
            <a:off x="7392025" y="27630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28" name="Google Shape;1728;p142"/>
          <p:cNvCxnSpPr/>
          <p:nvPr/>
        </p:nvCxnSpPr>
        <p:spPr>
          <a:xfrm>
            <a:off x="5868025" y="27630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graphicFrame>
        <p:nvGraphicFramePr>
          <p:cNvPr id="1729" name="Google Shape;1729;p142"/>
          <p:cNvGraphicFramePr/>
          <p:nvPr/>
        </p:nvGraphicFramePr>
        <p:xfrm>
          <a:off x="5079150" y="417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{CF82BA3E-BA7D-44CE-8BE9-2DBD2FD8257B}</a:tableStyleId>
              </a:tblPr>
              <a:tblGrid>
                <a:gridCol w="1603125"/>
                <a:gridCol w="16031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0" name="Google Shape;1730;p142"/>
          <p:cNvSpPr txBox="1"/>
          <p:nvPr/>
        </p:nvSpPr>
        <p:spPr>
          <a:xfrm>
            <a:off x="4906830" y="38298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142"/>
          <p:cNvSpPr txBox="1"/>
          <p:nvPr/>
        </p:nvSpPr>
        <p:spPr>
          <a:xfrm>
            <a:off x="7967702" y="38298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142"/>
          <p:cNvSpPr txBox="1"/>
          <p:nvPr/>
        </p:nvSpPr>
        <p:spPr>
          <a:xfrm>
            <a:off x="6413078" y="3829800"/>
            <a:ext cx="65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3" name="Google Shape;1733;p142"/>
          <p:cNvCxnSpPr/>
          <p:nvPr/>
        </p:nvCxnSpPr>
        <p:spPr>
          <a:xfrm>
            <a:off x="7392025" y="38298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34" name="Google Shape;1734;p142"/>
          <p:cNvCxnSpPr/>
          <p:nvPr/>
        </p:nvCxnSpPr>
        <p:spPr>
          <a:xfrm>
            <a:off x="5868025" y="38298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35" name="Google Shape;1735;p142"/>
          <p:cNvSpPr txBox="1"/>
          <p:nvPr/>
        </p:nvSpPr>
        <p:spPr>
          <a:xfrm>
            <a:off x="1225524" y="3067650"/>
            <a:ext cx="334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2950 is the smallest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3049 is the largest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6" name="Google Shape;1736;p142"/>
          <p:cNvSpPr txBox="1"/>
          <p:nvPr/>
        </p:nvSpPr>
        <p:spPr>
          <a:xfrm>
            <a:off x="1301724" y="4134450"/>
            <a:ext cx="334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25 is the smallest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74 is the largest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14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lines</a:t>
            </a:r>
            <a:endParaRPr/>
          </a:p>
        </p:txBody>
      </p:sp>
      <p:sp>
        <p:nvSpPr>
          <p:cNvPr id="1742" name="Google Shape;1742;p143"/>
          <p:cNvSpPr txBox="1"/>
          <p:nvPr>
            <p:ph idx="4294967295" type="body"/>
          </p:nvPr>
        </p:nvSpPr>
        <p:spPr>
          <a:xfrm>
            <a:off x="362450" y="704650"/>
            <a:ext cx="8237700" cy="7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Work out the unknown number. Draw number lines to help.</a:t>
            </a:r>
            <a:endParaRPr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720 rounded to the nearest 10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140 rounded to the nearest 20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900 rounded to the nearest 50</a:t>
            </a:r>
            <a:endParaRPr sz="2000"/>
          </a:p>
        </p:txBody>
      </p:sp>
      <p:graphicFrame>
        <p:nvGraphicFramePr>
          <p:cNvPr id="1743" name="Google Shape;1743;p143"/>
          <p:cNvGraphicFramePr/>
          <p:nvPr/>
        </p:nvGraphicFramePr>
        <p:xfrm>
          <a:off x="5079150" y="192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{CF82BA3E-BA7D-44CE-8BE9-2DBD2FD8257B}</a:tableStyleId>
              </a:tblPr>
              <a:tblGrid>
                <a:gridCol w="1603125"/>
                <a:gridCol w="1603125"/>
              </a:tblGrid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4" name="Google Shape;1744;p143"/>
          <p:cNvSpPr txBox="1"/>
          <p:nvPr/>
        </p:nvSpPr>
        <p:spPr>
          <a:xfrm>
            <a:off x="4754430" y="15438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710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143"/>
          <p:cNvSpPr txBox="1"/>
          <p:nvPr/>
        </p:nvSpPr>
        <p:spPr>
          <a:xfrm>
            <a:off x="7967702" y="15438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730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143"/>
          <p:cNvSpPr txBox="1"/>
          <p:nvPr/>
        </p:nvSpPr>
        <p:spPr>
          <a:xfrm>
            <a:off x="6413078" y="1543800"/>
            <a:ext cx="65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720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143"/>
          <p:cNvSpPr txBox="1"/>
          <p:nvPr/>
        </p:nvSpPr>
        <p:spPr>
          <a:xfrm>
            <a:off x="1225524" y="1619850"/>
            <a:ext cx="334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715 is the smallest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724 is the largest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48" name="Google Shape;1748;p143"/>
          <p:cNvGraphicFramePr/>
          <p:nvPr/>
        </p:nvGraphicFramePr>
        <p:xfrm>
          <a:off x="5079150" y="310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{CF82BA3E-BA7D-44CE-8BE9-2DBD2FD8257B}</a:tableStyleId>
              </a:tblPr>
              <a:tblGrid>
                <a:gridCol w="1603125"/>
                <a:gridCol w="16031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9" name="Google Shape;1749;p143"/>
          <p:cNvSpPr txBox="1"/>
          <p:nvPr/>
        </p:nvSpPr>
        <p:spPr>
          <a:xfrm>
            <a:off x="4754424" y="2763000"/>
            <a:ext cx="72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143"/>
          <p:cNvSpPr txBox="1"/>
          <p:nvPr/>
        </p:nvSpPr>
        <p:spPr>
          <a:xfrm>
            <a:off x="7967699" y="2763000"/>
            <a:ext cx="8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160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1" name="Google Shape;1751;p143"/>
          <p:cNvGraphicFramePr/>
          <p:nvPr/>
        </p:nvGraphicFramePr>
        <p:xfrm>
          <a:off x="5079150" y="417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{CF82BA3E-BA7D-44CE-8BE9-2DBD2FD8257B}</a:tableStyleId>
              </a:tblPr>
              <a:tblGrid>
                <a:gridCol w="1603125"/>
                <a:gridCol w="16031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2" name="Google Shape;1752;p143"/>
          <p:cNvSpPr txBox="1"/>
          <p:nvPr/>
        </p:nvSpPr>
        <p:spPr>
          <a:xfrm>
            <a:off x="4754430" y="38298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3" name="Google Shape;1753;p143"/>
          <p:cNvSpPr txBox="1"/>
          <p:nvPr/>
        </p:nvSpPr>
        <p:spPr>
          <a:xfrm>
            <a:off x="7967702" y="38298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143"/>
          <p:cNvSpPr txBox="1"/>
          <p:nvPr/>
        </p:nvSpPr>
        <p:spPr>
          <a:xfrm>
            <a:off x="6413078" y="3829800"/>
            <a:ext cx="65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143"/>
          <p:cNvSpPr txBox="1"/>
          <p:nvPr/>
        </p:nvSpPr>
        <p:spPr>
          <a:xfrm>
            <a:off x="1225524" y="2610450"/>
            <a:ext cx="334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130 is the smallest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149 is the largest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6" name="Google Shape;1756;p143"/>
          <p:cNvSpPr txBox="1"/>
          <p:nvPr/>
        </p:nvSpPr>
        <p:spPr>
          <a:xfrm>
            <a:off x="1301724" y="3677250"/>
            <a:ext cx="334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875 is the smallest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924 is the largest integer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7" name="Google Shape;1757;p143"/>
          <p:cNvSpPr/>
          <p:nvPr/>
        </p:nvSpPr>
        <p:spPr>
          <a:xfrm>
            <a:off x="736406" y="1187938"/>
            <a:ext cx="497700" cy="338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143"/>
          <p:cNvSpPr/>
          <p:nvPr/>
        </p:nvSpPr>
        <p:spPr>
          <a:xfrm>
            <a:off x="4232456" y="2238288"/>
            <a:ext cx="497700" cy="338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9" name="Google Shape;1759;p143"/>
          <p:cNvCxnSpPr/>
          <p:nvPr/>
        </p:nvCxnSpPr>
        <p:spPr>
          <a:xfrm>
            <a:off x="7392025" y="15438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60" name="Google Shape;1760;p143"/>
          <p:cNvCxnSpPr/>
          <p:nvPr/>
        </p:nvCxnSpPr>
        <p:spPr>
          <a:xfrm>
            <a:off x="5868025" y="154380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61" name="Google Shape;1761;p143"/>
          <p:cNvCxnSpPr/>
          <p:nvPr/>
        </p:nvCxnSpPr>
        <p:spPr>
          <a:xfrm>
            <a:off x="7392025" y="279975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62" name="Google Shape;1762;p143"/>
          <p:cNvCxnSpPr/>
          <p:nvPr/>
        </p:nvCxnSpPr>
        <p:spPr>
          <a:xfrm>
            <a:off x="5868025" y="279975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63" name="Google Shape;1763;p143"/>
          <p:cNvCxnSpPr/>
          <p:nvPr/>
        </p:nvCxnSpPr>
        <p:spPr>
          <a:xfrm>
            <a:off x="7392025" y="386655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64" name="Google Shape;1764;p143"/>
          <p:cNvCxnSpPr/>
          <p:nvPr/>
        </p:nvCxnSpPr>
        <p:spPr>
          <a:xfrm>
            <a:off x="5868025" y="3866550"/>
            <a:ext cx="0" cy="65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65" name="Google Shape;1765;p143"/>
          <p:cNvSpPr/>
          <p:nvPr/>
        </p:nvSpPr>
        <p:spPr>
          <a:xfrm>
            <a:off x="4232456" y="3266988"/>
            <a:ext cx="497700" cy="338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143"/>
          <p:cNvSpPr/>
          <p:nvPr/>
        </p:nvSpPr>
        <p:spPr>
          <a:xfrm>
            <a:off x="804031" y="3296238"/>
            <a:ext cx="497700" cy="338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143"/>
          <p:cNvSpPr txBox="1"/>
          <p:nvPr/>
        </p:nvSpPr>
        <p:spPr>
          <a:xfrm>
            <a:off x="5670025" y="1187950"/>
            <a:ext cx="542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715</a:t>
            </a:r>
            <a:endParaRPr/>
          </a:p>
        </p:txBody>
      </p:sp>
      <p:sp>
        <p:nvSpPr>
          <p:cNvPr id="1768" name="Google Shape;1768;p143"/>
          <p:cNvSpPr txBox="1"/>
          <p:nvPr/>
        </p:nvSpPr>
        <p:spPr>
          <a:xfrm>
            <a:off x="7065575" y="1138950"/>
            <a:ext cx="59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725</a:t>
            </a:r>
            <a:endParaRPr/>
          </a:p>
        </p:txBody>
      </p:sp>
      <p:sp>
        <p:nvSpPr>
          <p:cNvPr id="1769" name="Google Shape;1769;p143"/>
          <p:cNvSpPr txBox="1"/>
          <p:nvPr/>
        </p:nvSpPr>
        <p:spPr>
          <a:xfrm>
            <a:off x="5600150" y="2411325"/>
            <a:ext cx="542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130</a:t>
            </a:r>
            <a:endParaRPr/>
          </a:p>
        </p:txBody>
      </p:sp>
      <p:sp>
        <p:nvSpPr>
          <p:cNvPr id="1770" name="Google Shape;1770;p143"/>
          <p:cNvSpPr txBox="1"/>
          <p:nvPr/>
        </p:nvSpPr>
        <p:spPr>
          <a:xfrm>
            <a:off x="7170975" y="2439800"/>
            <a:ext cx="59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150</a:t>
            </a:r>
            <a:endParaRPr/>
          </a:p>
        </p:txBody>
      </p:sp>
      <p:sp>
        <p:nvSpPr>
          <p:cNvPr id="1771" name="Google Shape;1771;p143"/>
          <p:cNvSpPr txBox="1"/>
          <p:nvPr/>
        </p:nvSpPr>
        <p:spPr>
          <a:xfrm>
            <a:off x="5600819" y="3544926"/>
            <a:ext cx="652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875</a:t>
            </a:r>
            <a:endParaRPr/>
          </a:p>
        </p:txBody>
      </p:sp>
      <p:sp>
        <p:nvSpPr>
          <p:cNvPr id="1772" name="Google Shape;1772;p143"/>
          <p:cNvSpPr txBox="1"/>
          <p:nvPr/>
        </p:nvSpPr>
        <p:spPr>
          <a:xfrm>
            <a:off x="7170975" y="3515181"/>
            <a:ext cx="59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925</a:t>
            </a:r>
            <a:endParaRPr/>
          </a:p>
        </p:txBody>
      </p:sp>
      <p:sp>
        <p:nvSpPr>
          <p:cNvPr id="1773" name="Google Shape;1773;p143"/>
          <p:cNvSpPr txBox="1"/>
          <p:nvPr/>
        </p:nvSpPr>
        <p:spPr>
          <a:xfrm>
            <a:off x="6330874" y="2763000"/>
            <a:ext cx="8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140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1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3) In a school, the headteacher says there are 480 pupils rounded to the nearest 10. What is the largest number of pupils in the school?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4) An advert says 56 000 people use their product rounded to the nearest 1000. What is the least amount of people who use their product?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14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lines</a:t>
            </a:r>
            <a:endParaRPr/>
          </a:p>
        </p:txBody>
      </p:sp>
      <p:sp>
        <p:nvSpPr>
          <p:cNvPr id="1780" name="Google Shape;1780;p144"/>
          <p:cNvSpPr txBox="1"/>
          <p:nvPr/>
        </p:nvSpPr>
        <p:spPr>
          <a:xfrm>
            <a:off x="1416601" y="1585175"/>
            <a:ext cx="6918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 largest number of pupils in the school would be 484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1" name="Google Shape;1781;p144"/>
          <p:cNvSpPr txBox="1"/>
          <p:nvPr/>
        </p:nvSpPr>
        <p:spPr>
          <a:xfrm>
            <a:off x="1479301" y="3415400"/>
            <a:ext cx="6918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 smallest number of people would be 55 500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14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lines</a:t>
            </a:r>
            <a:endParaRPr/>
          </a:p>
        </p:txBody>
      </p:sp>
      <p:sp>
        <p:nvSpPr>
          <p:cNvPr id="1787" name="Google Shape;1787;p145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impact of rounding errors</a:t>
            </a:r>
            <a:endParaRPr/>
          </a:p>
        </p:txBody>
      </p:sp>
      <p:sp>
        <p:nvSpPr>
          <p:cNvPr id="1788" name="Google Shape;1788;p145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errors</a:t>
            </a:r>
            <a:endParaRPr/>
          </a:p>
        </p:txBody>
      </p:sp>
      <p:pic>
        <p:nvPicPr>
          <p:cNvPr id="1789" name="Google Shape;1789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462" y="298333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146"/>
          <p:cNvSpPr txBox="1"/>
          <p:nvPr/>
        </p:nvSpPr>
        <p:spPr>
          <a:xfrm>
            <a:off x="3595450" y="1034550"/>
            <a:ext cx="4925400" cy="3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lots of different scientific calculators, but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all have very similar functionality and notation.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They are fantastic instruments and incredibly powerful.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Usually when there are errors with a calculation, it is not the fault of the calculator.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5" name="Google Shape;1795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474" y="810000"/>
            <a:ext cx="2259119" cy="40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6" name="Google Shape;1796;p1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impact of rounding errors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147"/>
          <p:cNvSpPr txBox="1"/>
          <p:nvPr/>
        </p:nvSpPr>
        <p:spPr>
          <a:xfrm>
            <a:off x="324000" y="661775"/>
            <a:ext cx="8557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For example, here are two 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calculations done on a calculator.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Can 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you explain why Laura and Jun get different answers?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2" name="Google Shape;1802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impact of rounding errors</a:t>
            </a:r>
            <a:endParaRPr/>
          </a:p>
        </p:txBody>
      </p:sp>
      <p:sp>
        <p:nvSpPr>
          <p:cNvPr id="1803" name="Google Shape;1803;p147"/>
          <p:cNvSpPr/>
          <p:nvPr/>
        </p:nvSpPr>
        <p:spPr>
          <a:xfrm>
            <a:off x="2797200" y="1832849"/>
            <a:ext cx="1656900" cy="748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4" name="Google Shape;1804;p147"/>
          <p:cNvSpPr txBox="1"/>
          <p:nvPr/>
        </p:nvSpPr>
        <p:spPr>
          <a:xfrm>
            <a:off x="5817275" y="1538463"/>
            <a:ext cx="3152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volume of this cuboid to 1 decimal place.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5" name="Google Shape;1805;p147"/>
          <p:cNvCxnSpPr/>
          <p:nvPr/>
        </p:nvCxnSpPr>
        <p:spPr>
          <a:xfrm rot="10800000">
            <a:off x="2634000" y="1832850"/>
            <a:ext cx="0" cy="80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06" name="Google Shape;1806;p147"/>
          <p:cNvCxnSpPr/>
          <p:nvPr/>
        </p:nvCxnSpPr>
        <p:spPr>
          <a:xfrm>
            <a:off x="2634000" y="2677700"/>
            <a:ext cx="1958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07" name="Google Shape;1807;p147"/>
          <p:cNvSpPr txBox="1"/>
          <p:nvPr/>
        </p:nvSpPr>
        <p:spPr>
          <a:xfrm>
            <a:off x="1570650" y="1995225"/>
            <a:ext cx="1578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4.59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8" name="Google Shape;1808;p147"/>
          <p:cNvSpPr txBox="1"/>
          <p:nvPr/>
        </p:nvSpPr>
        <p:spPr>
          <a:xfrm>
            <a:off x="3225750" y="2677700"/>
            <a:ext cx="1578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.68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9" name="Google Shape;1809;p147"/>
          <p:cNvSpPr txBox="1"/>
          <p:nvPr/>
        </p:nvSpPr>
        <p:spPr>
          <a:xfrm>
            <a:off x="4686475" y="4464475"/>
            <a:ext cx="37803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volume is 348.8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(1 d.p.)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”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0" name="Google Shape;1810;p147"/>
          <p:cNvSpPr txBox="1"/>
          <p:nvPr/>
        </p:nvSpPr>
        <p:spPr>
          <a:xfrm>
            <a:off x="6201375" y="2780824"/>
            <a:ext cx="85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 </a:t>
            </a:r>
            <a:endParaRPr/>
          </a:p>
        </p:txBody>
      </p:sp>
      <p:sp>
        <p:nvSpPr>
          <p:cNvPr id="1811" name="Google Shape;1811;p147"/>
          <p:cNvSpPr txBox="1"/>
          <p:nvPr/>
        </p:nvSpPr>
        <p:spPr>
          <a:xfrm>
            <a:off x="244049" y="4408250"/>
            <a:ext cx="37803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“The volume is 352.5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(1 d.p.)”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2" name="Google Shape;1812;p147"/>
          <p:cNvSpPr txBox="1"/>
          <p:nvPr/>
        </p:nvSpPr>
        <p:spPr>
          <a:xfrm>
            <a:off x="1462580" y="2800800"/>
            <a:ext cx="1188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Laura</a:t>
            </a:r>
            <a:endParaRPr/>
          </a:p>
        </p:txBody>
      </p:sp>
      <p:cxnSp>
        <p:nvCxnSpPr>
          <p:cNvPr id="1813" name="Google Shape;1813;p147"/>
          <p:cNvCxnSpPr/>
          <p:nvPr/>
        </p:nvCxnSpPr>
        <p:spPr>
          <a:xfrm flipH="1" rot="10800000">
            <a:off x="2813775" y="1622675"/>
            <a:ext cx="333300" cy="196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4" name="Google Shape;1814;p147"/>
          <p:cNvCxnSpPr/>
          <p:nvPr/>
        </p:nvCxnSpPr>
        <p:spPr>
          <a:xfrm flipH="1" rot="10800000">
            <a:off x="4454100" y="1622675"/>
            <a:ext cx="333300" cy="196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5" name="Google Shape;1815;p147"/>
          <p:cNvCxnSpPr/>
          <p:nvPr/>
        </p:nvCxnSpPr>
        <p:spPr>
          <a:xfrm flipH="1" rot="10800000">
            <a:off x="4454100" y="2384700"/>
            <a:ext cx="333300" cy="196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6" name="Google Shape;1816;p147"/>
          <p:cNvCxnSpPr/>
          <p:nvPr/>
        </p:nvCxnSpPr>
        <p:spPr>
          <a:xfrm>
            <a:off x="3129900" y="1640450"/>
            <a:ext cx="16575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7" name="Google Shape;1817;p147"/>
          <p:cNvCxnSpPr/>
          <p:nvPr/>
        </p:nvCxnSpPr>
        <p:spPr>
          <a:xfrm>
            <a:off x="4795975" y="1631200"/>
            <a:ext cx="8700" cy="768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8" name="Google Shape;1818;p147"/>
          <p:cNvCxnSpPr/>
          <p:nvPr/>
        </p:nvCxnSpPr>
        <p:spPr>
          <a:xfrm flipH="1" rot="10800000">
            <a:off x="4602750" y="2469075"/>
            <a:ext cx="284400" cy="19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19" name="Google Shape;1819;p147"/>
          <p:cNvSpPr txBox="1"/>
          <p:nvPr/>
        </p:nvSpPr>
        <p:spPr>
          <a:xfrm>
            <a:off x="4686475" y="2446800"/>
            <a:ext cx="1578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7.85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0" name="Google Shape;1820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250" y="3167012"/>
            <a:ext cx="2585550" cy="1225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1" name="Google Shape;1821;p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8925" y="3197325"/>
            <a:ext cx="2937655" cy="131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148"/>
          <p:cNvSpPr txBox="1"/>
          <p:nvPr/>
        </p:nvSpPr>
        <p:spPr>
          <a:xfrm>
            <a:off x="324000" y="661775"/>
            <a:ext cx="8557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For example, here are two calculations done on a calculator.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explain why Laura and Jun get different answers?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7" name="Google Shape;1827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impact of rounding errors</a:t>
            </a:r>
            <a:endParaRPr/>
          </a:p>
        </p:txBody>
      </p:sp>
      <p:sp>
        <p:nvSpPr>
          <p:cNvPr id="1828" name="Google Shape;1828;p148"/>
          <p:cNvSpPr txBox="1"/>
          <p:nvPr/>
        </p:nvSpPr>
        <p:spPr>
          <a:xfrm>
            <a:off x="5466975" y="1558800"/>
            <a:ext cx="3152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volume of this cuboid to 1 decimal place.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148"/>
          <p:cNvSpPr txBox="1"/>
          <p:nvPr/>
        </p:nvSpPr>
        <p:spPr>
          <a:xfrm>
            <a:off x="1462580" y="2800800"/>
            <a:ext cx="1188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Laura</a:t>
            </a:r>
            <a:endParaRPr/>
          </a:p>
        </p:txBody>
      </p:sp>
      <p:sp>
        <p:nvSpPr>
          <p:cNvPr id="1830" name="Google Shape;1830;p148"/>
          <p:cNvSpPr txBox="1"/>
          <p:nvPr/>
        </p:nvSpPr>
        <p:spPr>
          <a:xfrm>
            <a:off x="3826800" y="3165575"/>
            <a:ext cx="46902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She has rounded too early. It is important to keep the values as accurate as possible and round at the end of the calculation.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1" name="Google Shape;1831;p148"/>
          <p:cNvSpPr/>
          <p:nvPr/>
        </p:nvSpPr>
        <p:spPr>
          <a:xfrm>
            <a:off x="2797200" y="1832849"/>
            <a:ext cx="1656900" cy="748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2" name="Google Shape;1832;p148"/>
          <p:cNvCxnSpPr/>
          <p:nvPr/>
        </p:nvCxnSpPr>
        <p:spPr>
          <a:xfrm rot="10800000">
            <a:off x="2634000" y="1832850"/>
            <a:ext cx="0" cy="80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3" name="Google Shape;1833;p148"/>
          <p:cNvCxnSpPr/>
          <p:nvPr/>
        </p:nvCxnSpPr>
        <p:spPr>
          <a:xfrm>
            <a:off x="2634000" y="2677700"/>
            <a:ext cx="1958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34" name="Google Shape;1834;p148"/>
          <p:cNvSpPr txBox="1"/>
          <p:nvPr/>
        </p:nvSpPr>
        <p:spPr>
          <a:xfrm>
            <a:off x="3225750" y="2677700"/>
            <a:ext cx="1578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9.68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5" name="Google Shape;1835;p148"/>
          <p:cNvCxnSpPr/>
          <p:nvPr/>
        </p:nvCxnSpPr>
        <p:spPr>
          <a:xfrm flipH="1" rot="10800000">
            <a:off x="2813775" y="1622675"/>
            <a:ext cx="333300" cy="196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6" name="Google Shape;1836;p148"/>
          <p:cNvCxnSpPr/>
          <p:nvPr/>
        </p:nvCxnSpPr>
        <p:spPr>
          <a:xfrm flipH="1" rot="10800000">
            <a:off x="4454100" y="1622675"/>
            <a:ext cx="333300" cy="196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7" name="Google Shape;1837;p148"/>
          <p:cNvCxnSpPr/>
          <p:nvPr/>
        </p:nvCxnSpPr>
        <p:spPr>
          <a:xfrm flipH="1" rot="10800000">
            <a:off x="4454100" y="2384700"/>
            <a:ext cx="333300" cy="196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8" name="Google Shape;1838;p148"/>
          <p:cNvCxnSpPr/>
          <p:nvPr/>
        </p:nvCxnSpPr>
        <p:spPr>
          <a:xfrm>
            <a:off x="3129900" y="1640450"/>
            <a:ext cx="16575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9" name="Google Shape;1839;p148"/>
          <p:cNvCxnSpPr/>
          <p:nvPr/>
        </p:nvCxnSpPr>
        <p:spPr>
          <a:xfrm>
            <a:off x="4795975" y="1631200"/>
            <a:ext cx="8700" cy="768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0" name="Google Shape;1840;p148"/>
          <p:cNvCxnSpPr/>
          <p:nvPr/>
        </p:nvCxnSpPr>
        <p:spPr>
          <a:xfrm flipH="1" rot="10800000">
            <a:off x="4602750" y="2469075"/>
            <a:ext cx="284400" cy="19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41" name="Google Shape;1841;p148"/>
          <p:cNvSpPr txBox="1"/>
          <p:nvPr/>
        </p:nvSpPr>
        <p:spPr>
          <a:xfrm>
            <a:off x="4686475" y="2446800"/>
            <a:ext cx="1578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7.85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2" name="Google Shape;1842;p148"/>
          <p:cNvSpPr txBox="1"/>
          <p:nvPr/>
        </p:nvSpPr>
        <p:spPr>
          <a:xfrm>
            <a:off x="1462580" y="2800800"/>
            <a:ext cx="1188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Laura</a:t>
            </a:r>
            <a:endParaRPr/>
          </a:p>
        </p:txBody>
      </p:sp>
      <p:sp>
        <p:nvSpPr>
          <p:cNvPr id="1843" name="Google Shape;1843;p148"/>
          <p:cNvSpPr txBox="1"/>
          <p:nvPr/>
        </p:nvSpPr>
        <p:spPr>
          <a:xfrm>
            <a:off x="1570650" y="1995225"/>
            <a:ext cx="1578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4.59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4" name="Google Shape;1844;p148"/>
          <p:cNvSpPr txBox="1"/>
          <p:nvPr/>
        </p:nvSpPr>
        <p:spPr>
          <a:xfrm>
            <a:off x="244049" y="4408250"/>
            <a:ext cx="37803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“The volume is 352.5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(1 d.p.)”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5" name="Google Shape;1845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250" y="3167012"/>
            <a:ext cx="2585550" cy="1225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0" name="Google Shape;1850;p14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174502" y="2700000"/>
            <a:ext cx="3354598" cy="1935351"/>
          </a:xfrm>
          <a:prstGeom prst="rect">
            <a:avLst/>
          </a:prstGeom>
          <a:noFill/>
          <a:ln>
            <a:noFill/>
          </a:ln>
        </p:spPr>
      </p:pic>
      <p:sp>
        <p:nvSpPr>
          <p:cNvPr id="1851" name="Google Shape;1851;p149"/>
          <p:cNvSpPr/>
          <p:nvPr/>
        </p:nvSpPr>
        <p:spPr>
          <a:xfrm>
            <a:off x="5718225" y="783600"/>
            <a:ext cx="2432100" cy="2456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2" name="Google Shape;1852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impact of rounding errors</a:t>
            </a:r>
            <a:endParaRPr/>
          </a:p>
        </p:txBody>
      </p:sp>
      <p:sp>
        <p:nvSpPr>
          <p:cNvPr id="1853" name="Google Shape;1853;p149"/>
          <p:cNvSpPr/>
          <p:nvPr/>
        </p:nvSpPr>
        <p:spPr>
          <a:xfrm>
            <a:off x="7101950" y="1559950"/>
            <a:ext cx="736800" cy="613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4" name="Google Shape;1854;p149"/>
          <p:cNvSpPr txBox="1"/>
          <p:nvPr/>
        </p:nvSpPr>
        <p:spPr>
          <a:xfrm>
            <a:off x="324000" y="810000"/>
            <a:ext cx="5450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area of the circular garden is 120 m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rectangular summer house has been placed in the garden.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remaining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area that is left to 1 d.p.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5" name="Google Shape;1855;p149"/>
          <p:cNvCxnSpPr/>
          <p:nvPr/>
        </p:nvCxnSpPr>
        <p:spPr>
          <a:xfrm rot="10800000">
            <a:off x="7020575" y="1560025"/>
            <a:ext cx="0" cy="60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56" name="Google Shape;1856;p149"/>
          <p:cNvCxnSpPr/>
          <p:nvPr/>
        </p:nvCxnSpPr>
        <p:spPr>
          <a:xfrm>
            <a:off x="7107550" y="2271725"/>
            <a:ext cx="72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57" name="Google Shape;1857;p149"/>
          <p:cNvSpPr txBox="1"/>
          <p:nvPr/>
        </p:nvSpPr>
        <p:spPr>
          <a:xfrm>
            <a:off x="6109722" y="1667061"/>
            <a:ext cx="1251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.24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8" name="Google Shape;1858;p149"/>
          <p:cNvSpPr txBox="1"/>
          <p:nvPr/>
        </p:nvSpPr>
        <p:spPr>
          <a:xfrm>
            <a:off x="7101948" y="2271725"/>
            <a:ext cx="13335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7.15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9" name="Google Shape;1859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52" y="3394475"/>
            <a:ext cx="812400" cy="9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860" name="Google Shape;1860;p149"/>
          <p:cNvSpPr txBox="1"/>
          <p:nvPr/>
        </p:nvSpPr>
        <p:spPr>
          <a:xfrm>
            <a:off x="495138" y="439534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1" name="Google Shape;1861;p149"/>
          <p:cNvSpPr txBox="1"/>
          <p:nvPr/>
        </p:nvSpPr>
        <p:spPr>
          <a:xfrm>
            <a:off x="1411113" y="2823750"/>
            <a:ext cx="31179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Try this question and round answers to calculations to 3 s.f. and then finally round to 1 d.p.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149"/>
          <p:cNvSpPr txBox="1"/>
          <p:nvPr/>
        </p:nvSpPr>
        <p:spPr>
          <a:xfrm>
            <a:off x="4691800" y="3410100"/>
            <a:ext cx="3803400" cy="14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.24 × 7.15 = 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58.916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= 58.9 (3 s.f.)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120 - 58.9 =  61.1 cm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7" name="Google Shape;1867;p15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174502" y="2700000"/>
            <a:ext cx="3354598" cy="1935351"/>
          </a:xfrm>
          <a:prstGeom prst="rect">
            <a:avLst/>
          </a:prstGeom>
          <a:noFill/>
          <a:ln>
            <a:noFill/>
          </a:ln>
        </p:spPr>
      </p:pic>
      <p:sp>
        <p:nvSpPr>
          <p:cNvPr id="1868" name="Google Shape;1868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impact of rounding errors</a:t>
            </a:r>
            <a:endParaRPr/>
          </a:p>
        </p:txBody>
      </p:sp>
      <p:sp>
        <p:nvSpPr>
          <p:cNvPr id="1869" name="Google Shape;1869;p150"/>
          <p:cNvSpPr txBox="1"/>
          <p:nvPr/>
        </p:nvSpPr>
        <p:spPr>
          <a:xfrm>
            <a:off x="1484100" y="2823750"/>
            <a:ext cx="24321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Now let’s try it using the ANS button, then round the final answer to 1 d.p.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0" name="Google Shape;1870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52" y="3394475"/>
            <a:ext cx="812400" cy="9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871" name="Google Shape;1871;p150"/>
          <p:cNvSpPr txBox="1"/>
          <p:nvPr/>
        </p:nvSpPr>
        <p:spPr>
          <a:xfrm>
            <a:off x="495138" y="439534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2" name="Google Shape;1872;p150"/>
          <p:cNvSpPr txBox="1"/>
          <p:nvPr/>
        </p:nvSpPr>
        <p:spPr>
          <a:xfrm>
            <a:off x="324000" y="810000"/>
            <a:ext cx="5450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area of the circular garden is 120 m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rectangular summer house has been placed in the garden.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remaining area that is left to 1 d.p.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3" name="Google Shape;1873;p150"/>
          <p:cNvSpPr/>
          <p:nvPr/>
        </p:nvSpPr>
        <p:spPr>
          <a:xfrm>
            <a:off x="5718225" y="783600"/>
            <a:ext cx="2432100" cy="2456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4" name="Google Shape;1874;p150"/>
          <p:cNvSpPr/>
          <p:nvPr/>
        </p:nvSpPr>
        <p:spPr>
          <a:xfrm>
            <a:off x="7101950" y="1559950"/>
            <a:ext cx="736800" cy="613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5" name="Google Shape;1875;p150"/>
          <p:cNvCxnSpPr/>
          <p:nvPr/>
        </p:nvCxnSpPr>
        <p:spPr>
          <a:xfrm rot="10800000">
            <a:off x="7020575" y="1560025"/>
            <a:ext cx="0" cy="60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6" name="Google Shape;1876;p150"/>
          <p:cNvCxnSpPr/>
          <p:nvPr/>
        </p:nvCxnSpPr>
        <p:spPr>
          <a:xfrm>
            <a:off x="7107550" y="2271725"/>
            <a:ext cx="72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77" name="Google Shape;1877;p150"/>
          <p:cNvSpPr txBox="1"/>
          <p:nvPr/>
        </p:nvSpPr>
        <p:spPr>
          <a:xfrm>
            <a:off x="6109722" y="1667061"/>
            <a:ext cx="1251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8.24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8" name="Google Shape;1878;p150"/>
          <p:cNvSpPr txBox="1"/>
          <p:nvPr/>
        </p:nvSpPr>
        <p:spPr>
          <a:xfrm>
            <a:off x="7101948" y="2271725"/>
            <a:ext cx="13335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7.15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3" name="Google Shape;1883;p15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174502" y="2700000"/>
            <a:ext cx="3354598" cy="193535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Google Shape;1884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impact of rounding errors</a:t>
            </a:r>
            <a:endParaRPr/>
          </a:p>
        </p:txBody>
      </p:sp>
      <p:pic>
        <p:nvPicPr>
          <p:cNvPr id="1885" name="Google Shape;1885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52" y="3394475"/>
            <a:ext cx="812400" cy="9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886" name="Google Shape;1886;p151"/>
          <p:cNvSpPr txBox="1"/>
          <p:nvPr/>
        </p:nvSpPr>
        <p:spPr>
          <a:xfrm>
            <a:off x="495138" y="439534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151"/>
          <p:cNvSpPr txBox="1"/>
          <p:nvPr/>
        </p:nvSpPr>
        <p:spPr>
          <a:xfrm>
            <a:off x="1464400" y="3203125"/>
            <a:ext cx="29922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Input the area of the rectangle and p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ress EXE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8" name="Google Shape;1888;p1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6913" y="3289075"/>
            <a:ext cx="3243624" cy="15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9" name="Google Shape;1889;p151"/>
          <p:cNvSpPr txBox="1"/>
          <p:nvPr/>
        </p:nvSpPr>
        <p:spPr>
          <a:xfrm>
            <a:off x="324000" y="810000"/>
            <a:ext cx="5450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area of the circular garden is 120 m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rectangular summer house has been placed in the garden.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remaining area that is left to 1 d.p.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0" name="Google Shape;1890;p151"/>
          <p:cNvSpPr/>
          <p:nvPr/>
        </p:nvSpPr>
        <p:spPr>
          <a:xfrm>
            <a:off x="5718225" y="783600"/>
            <a:ext cx="2432100" cy="2456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1" name="Google Shape;1891;p151"/>
          <p:cNvSpPr/>
          <p:nvPr/>
        </p:nvSpPr>
        <p:spPr>
          <a:xfrm>
            <a:off x="7101950" y="1559950"/>
            <a:ext cx="736800" cy="613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2" name="Google Shape;1892;p151"/>
          <p:cNvCxnSpPr/>
          <p:nvPr/>
        </p:nvCxnSpPr>
        <p:spPr>
          <a:xfrm rot="10800000">
            <a:off x="7020575" y="1560025"/>
            <a:ext cx="0" cy="60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93" name="Google Shape;1893;p151"/>
          <p:cNvCxnSpPr/>
          <p:nvPr/>
        </p:nvCxnSpPr>
        <p:spPr>
          <a:xfrm>
            <a:off x="7107550" y="2271725"/>
            <a:ext cx="72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94" name="Google Shape;1894;p151"/>
          <p:cNvSpPr txBox="1"/>
          <p:nvPr/>
        </p:nvSpPr>
        <p:spPr>
          <a:xfrm>
            <a:off x="6109722" y="1667061"/>
            <a:ext cx="1251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8.24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5" name="Google Shape;1895;p151"/>
          <p:cNvSpPr txBox="1"/>
          <p:nvPr/>
        </p:nvSpPr>
        <p:spPr>
          <a:xfrm>
            <a:off x="7101948" y="2271725"/>
            <a:ext cx="13335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7.15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0" name="Google Shape;1900;p15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174502" y="2700000"/>
            <a:ext cx="3354598" cy="1935351"/>
          </a:xfrm>
          <a:prstGeom prst="rect">
            <a:avLst/>
          </a:prstGeom>
          <a:noFill/>
          <a:ln>
            <a:noFill/>
          </a:ln>
        </p:spPr>
      </p:pic>
      <p:sp>
        <p:nvSpPr>
          <p:cNvPr id="1901" name="Google Shape;1901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impact of rounding errors</a:t>
            </a:r>
            <a:endParaRPr/>
          </a:p>
        </p:txBody>
      </p:sp>
      <p:pic>
        <p:nvPicPr>
          <p:cNvPr id="1902" name="Google Shape;1902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52" y="3394475"/>
            <a:ext cx="812400" cy="9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903" name="Google Shape;1903;p152"/>
          <p:cNvSpPr txBox="1"/>
          <p:nvPr/>
        </p:nvSpPr>
        <p:spPr>
          <a:xfrm>
            <a:off x="495138" y="439534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4" name="Google Shape;1904;p152"/>
          <p:cNvSpPr txBox="1"/>
          <p:nvPr/>
        </p:nvSpPr>
        <p:spPr>
          <a:xfrm>
            <a:off x="1580350" y="2843050"/>
            <a:ext cx="28770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answer on the screen is now saved as ANS, as it is the last answer on the screen.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5" name="Google Shape;1905;p1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6913" y="3289075"/>
            <a:ext cx="3243624" cy="15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6" name="Google Shape;1906;p152"/>
          <p:cNvSpPr txBox="1"/>
          <p:nvPr/>
        </p:nvSpPr>
        <p:spPr>
          <a:xfrm>
            <a:off x="324000" y="810000"/>
            <a:ext cx="5450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area of the circular garden is 120 m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rectangular summer house has been placed in the garden.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remaining area that is left to 1 d.p.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7" name="Google Shape;1907;p152"/>
          <p:cNvSpPr/>
          <p:nvPr/>
        </p:nvSpPr>
        <p:spPr>
          <a:xfrm>
            <a:off x="5718225" y="783600"/>
            <a:ext cx="2432100" cy="2456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8" name="Google Shape;1908;p152"/>
          <p:cNvSpPr/>
          <p:nvPr/>
        </p:nvSpPr>
        <p:spPr>
          <a:xfrm>
            <a:off x="7101950" y="1559950"/>
            <a:ext cx="736800" cy="613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9" name="Google Shape;1909;p152"/>
          <p:cNvCxnSpPr/>
          <p:nvPr/>
        </p:nvCxnSpPr>
        <p:spPr>
          <a:xfrm rot="10800000">
            <a:off x="7020575" y="1560025"/>
            <a:ext cx="0" cy="60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0" name="Google Shape;1910;p152"/>
          <p:cNvCxnSpPr/>
          <p:nvPr/>
        </p:nvCxnSpPr>
        <p:spPr>
          <a:xfrm>
            <a:off x="7107550" y="2271725"/>
            <a:ext cx="72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11" name="Google Shape;1911;p152"/>
          <p:cNvSpPr txBox="1"/>
          <p:nvPr/>
        </p:nvSpPr>
        <p:spPr>
          <a:xfrm>
            <a:off x="6109722" y="1667061"/>
            <a:ext cx="1251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8.24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2" name="Google Shape;1912;p152"/>
          <p:cNvSpPr txBox="1"/>
          <p:nvPr/>
        </p:nvSpPr>
        <p:spPr>
          <a:xfrm>
            <a:off x="7101948" y="2271725"/>
            <a:ext cx="13335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7.15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7" name="Google Shape;1917;p15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174502" y="2700000"/>
            <a:ext cx="3354598" cy="1935351"/>
          </a:xfrm>
          <a:prstGeom prst="rect">
            <a:avLst/>
          </a:prstGeom>
          <a:noFill/>
          <a:ln>
            <a:noFill/>
          </a:ln>
        </p:spPr>
      </p:pic>
      <p:sp>
        <p:nvSpPr>
          <p:cNvPr id="1918" name="Google Shape;1918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impact of rounding errors</a:t>
            </a:r>
            <a:endParaRPr/>
          </a:p>
        </p:txBody>
      </p:sp>
      <p:pic>
        <p:nvPicPr>
          <p:cNvPr id="1919" name="Google Shape;1919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52" y="3394475"/>
            <a:ext cx="812400" cy="9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920" name="Google Shape;1920;p153"/>
          <p:cNvSpPr txBox="1"/>
          <p:nvPr/>
        </p:nvSpPr>
        <p:spPr>
          <a:xfrm>
            <a:off x="495138" y="439534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53"/>
          <p:cNvSpPr txBox="1"/>
          <p:nvPr/>
        </p:nvSpPr>
        <p:spPr>
          <a:xfrm>
            <a:off x="1621525" y="3169150"/>
            <a:ext cx="27447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Now press 120 </a:t>
            </a:r>
            <a:r>
              <a:rPr b="1"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ANS, then EXE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2" name="Google Shape;1922;p1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0225" y="3310125"/>
            <a:ext cx="3137000" cy="145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3" name="Google Shape;1923;p153"/>
          <p:cNvSpPr txBox="1"/>
          <p:nvPr/>
        </p:nvSpPr>
        <p:spPr>
          <a:xfrm>
            <a:off x="324000" y="810000"/>
            <a:ext cx="5450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area of the circular garden is 120 m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rectangular summer house has been placed in the garden.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remaining area that is left to 1 d.p.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53"/>
          <p:cNvSpPr/>
          <p:nvPr/>
        </p:nvSpPr>
        <p:spPr>
          <a:xfrm>
            <a:off x="5718225" y="783600"/>
            <a:ext cx="2432100" cy="2456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153"/>
          <p:cNvSpPr/>
          <p:nvPr/>
        </p:nvSpPr>
        <p:spPr>
          <a:xfrm>
            <a:off x="7101950" y="1559950"/>
            <a:ext cx="736800" cy="613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6" name="Google Shape;1926;p153"/>
          <p:cNvCxnSpPr/>
          <p:nvPr/>
        </p:nvCxnSpPr>
        <p:spPr>
          <a:xfrm rot="10800000">
            <a:off x="7020575" y="1560025"/>
            <a:ext cx="0" cy="60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7" name="Google Shape;1927;p153"/>
          <p:cNvCxnSpPr/>
          <p:nvPr/>
        </p:nvCxnSpPr>
        <p:spPr>
          <a:xfrm>
            <a:off x="7107550" y="2271725"/>
            <a:ext cx="72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28" name="Google Shape;1928;p153"/>
          <p:cNvSpPr txBox="1"/>
          <p:nvPr/>
        </p:nvSpPr>
        <p:spPr>
          <a:xfrm>
            <a:off x="6109722" y="1667061"/>
            <a:ext cx="1251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8.24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9" name="Google Shape;1929;p153"/>
          <p:cNvSpPr txBox="1"/>
          <p:nvPr/>
        </p:nvSpPr>
        <p:spPr>
          <a:xfrm>
            <a:off x="7101948" y="2271725"/>
            <a:ext cx="13335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7.15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4" name="Google Shape;1934;p154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183098" y="2511225"/>
            <a:ext cx="3879752" cy="728776"/>
          </a:xfrm>
          <a:prstGeom prst="rect">
            <a:avLst/>
          </a:prstGeom>
          <a:noFill/>
          <a:ln>
            <a:noFill/>
          </a:ln>
        </p:spPr>
      </p:pic>
      <p:sp>
        <p:nvSpPr>
          <p:cNvPr id="1935" name="Google Shape;1935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impact of rounding errors</a:t>
            </a:r>
            <a:endParaRPr/>
          </a:p>
        </p:txBody>
      </p:sp>
      <p:sp>
        <p:nvSpPr>
          <p:cNvPr id="1936" name="Google Shape;1936;p154"/>
          <p:cNvSpPr txBox="1"/>
          <p:nvPr/>
        </p:nvSpPr>
        <p:spPr>
          <a:xfrm>
            <a:off x="2022900" y="2646400"/>
            <a:ext cx="25491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same answer.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7" name="Google Shape;1937;p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52" y="3394475"/>
            <a:ext cx="812400" cy="9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8" name="Google Shape;1938;p154"/>
          <p:cNvSpPr txBox="1"/>
          <p:nvPr/>
        </p:nvSpPr>
        <p:spPr>
          <a:xfrm>
            <a:off x="479538" y="430382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9" name="Google Shape;1939;p1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4600" y="3323225"/>
            <a:ext cx="3137000" cy="145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0" name="Google Shape;1940;p154"/>
          <p:cNvSpPr txBox="1"/>
          <p:nvPr/>
        </p:nvSpPr>
        <p:spPr>
          <a:xfrm>
            <a:off x="4853750" y="3486825"/>
            <a:ext cx="3803400" cy="14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8.24 × 7.15 = 58.916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= 58.9 (3 s.f.)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120 - 58.9 =  61.1 m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1" name="Google Shape;1941;p154"/>
          <p:cNvSpPr txBox="1"/>
          <p:nvPr/>
        </p:nvSpPr>
        <p:spPr>
          <a:xfrm>
            <a:off x="324000" y="810000"/>
            <a:ext cx="5450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area of the circular garden is 120 m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rectangular summer house has been placed in the garden.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remaining area that is left to 1 d.p.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2" name="Google Shape;1942;p154"/>
          <p:cNvSpPr/>
          <p:nvPr/>
        </p:nvSpPr>
        <p:spPr>
          <a:xfrm>
            <a:off x="5718225" y="783600"/>
            <a:ext cx="2432100" cy="2456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3" name="Google Shape;1943;p154"/>
          <p:cNvSpPr/>
          <p:nvPr/>
        </p:nvSpPr>
        <p:spPr>
          <a:xfrm>
            <a:off x="7101950" y="1559950"/>
            <a:ext cx="736800" cy="613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4" name="Google Shape;1944;p154"/>
          <p:cNvCxnSpPr/>
          <p:nvPr/>
        </p:nvCxnSpPr>
        <p:spPr>
          <a:xfrm rot="10800000">
            <a:off x="7020575" y="1560025"/>
            <a:ext cx="0" cy="60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45" name="Google Shape;1945;p154"/>
          <p:cNvCxnSpPr/>
          <p:nvPr/>
        </p:nvCxnSpPr>
        <p:spPr>
          <a:xfrm>
            <a:off x="7107550" y="2271725"/>
            <a:ext cx="72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46" name="Google Shape;1946;p154"/>
          <p:cNvSpPr txBox="1"/>
          <p:nvPr/>
        </p:nvSpPr>
        <p:spPr>
          <a:xfrm>
            <a:off x="6109722" y="1667061"/>
            <a:ext cx="1251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8.24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7" name="Google Shape;1947;p154"/>
          <p:cNvSpPr txBox="1"/>
          <p:nvPr/>
        </p:nvSpPr>
        <p:spPr>
          <a:xfrm>
            <a:off x="7101948" y="2271725"/>
            <a:ext cx="13335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7.15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155"/>
          <p:cNvSpPr txBox="1"/>
          <p:nvPr/>
        </p:nvSpPr>
        <p:spPr>
          <a:xfrm>
            <a:off x="4853750" y="3486825"/>
            <a:ext cx="3803400" cy="14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8.24 × 7.15 = 58.916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= 58.9 (3 s.f.)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120 - 58.9 =  61.1 m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3" name="Google Shape;1953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impact of rounding errors</a:t>
            </a:r>
            <a:endParaRPr/>
          </a:p>
        </p:txBody>
      </p:sp>
      <p:pic>
        <p:nvPicPr>
          <p:cNvPr id="1954" name="Google Shape;1954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52" y="3394475"/>
            <a:ext cx="812400" cy="90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5" name="Google Shape;1955;p155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320000" y="876450"/>
            <a:ext cx="2913848" cy="169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6" name="Google Shape;1956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459197" y="1344725"/>
            <a:ext cx="772300" cy="1057901"/>
          </a:xfrm>
          <a:prstGeom prst="rect">
            <a:avLst/>
          </a:prstGeom>
          <a:noFill/>
          <a:ln>
            <a:noFill/>
          </a:ln>
        </p:spPr>
      </p:pic>
      <p:sp>
        <p:nvSpPr>
          <p:cNvPr id="1957" name="Google Shape;1957;p155"/>
          <p:cNvSpPr txBox="1"/>
          <p:nvPr/>
        </p:nvSpPr>
        <p:spPr>
          <a:xfrm>
            <a:off x="7402701" y="230804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8" name="Google Shape;1958;p155"/>
          <p:cNvSpPr txBox="1"/>
          <p:nvPr/>
        </p:nvSpPr>
        <p:spPr>
          <a:xfrm>
            <a:off x="4454050" y="962700"/>
            <a:ext cx="28419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Great! But how do I show my working out when I am using the ANS button?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9" name="Google Shape;1959;p155"/>
          <p:cNvGrpSpPr/>
          <p:nvPr/>
        </p:nvGrpSpPr>
        <p:grpSpPr>
          <a:xfrm>
            <a:off x="1174523" y="2505225"/>
            <a:ext cx="3236152" cy="1806950"/>
            <a:chOff x="1174523" y="2505225"/>
            <a:chExt cx="3236152" cy="1806950"/>
          </a:xfrm>
        </p:grpSpPr>
        <p:pic>
          <p:nvPicPr>
            <p:cNvPr id="1960" name="Google Shape;1960;p155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1174523" y="2505225"/>
              <a:ext cx="3236152" cy="1806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1" name="Google Shape;1961;p155"/>
            <p:cNvSpPr txBox="1"/>
            <p:nvPr/>
          </p:nvSpPr>
          <p:spPr>
            <a:xfrm>
              <a:off x="1431727" y="2578622"/>
              <a:ext cx="2841900" cy="14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Good question, use an </a:t>
              </a: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ellipsis</a:t>
              </a: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“ …” to show you have used the unrounded number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62" name="Google Shape;1962;p155"/>
          <p:cNvSpPr txBox="1"/>
          <p:nvPr/>
        </p:nvSpPr>
        <p:spPr>
          <a:xfrm>
            <a:off x="4853762" y="3470686"/>
            <a:ext cx="3803400" cy="14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8.24 × 7.15 = 58.916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120 - 58.9 … =  61.1 m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3" name="Google Shape;1963;p155"/>
          <p:cNvSpPr/>
          <p:nvPr/>
        </p:nvSpPr>
        <p:spPr>
          <a:xfrm>
            <a:off x="5368200" y="4415625"/>
            <a:ext cx="812400" cy="5082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4" name="Google Shape;1964;p155"/>
          <p:cNvSpPr txBox="1"/>
          <p:nvPr/>
        </p:nvSpPr>
        <p:spPr>
          <a:xfrm>
            <a:off x="479538" y="430382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156"/>
          <p:cNvSpPr txBox="1"/>
          <p:nvPr>
            <p:ph idx="1" type="body"/>
          </p:nvPr>
        </p:nvSpPr>
        <p:spPr>
          <a:xfrm>
            <a:off x="324000" y="683100"/>
            <a:ext cx="5348100" cy="20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 following working out shows the correct answer to this question? Explain the errors.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“The area of the pentagon is 14 m</a:t>
            </a:r>
            <a:r>
              <a:rPr baseline="30000" lang="en-GB" sz="1800"/>
              <a:t>2</a:t>
            </a:r>
            <a:r>
              <a:rPr lang="en-GB" sz="1800"/>
              <a:t>. A triangle has been cut out. Work out the remaining area to 1 d.p.”</a:t>
            </a:r>
            <a:endParaRPr baseline="30000"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aseline="30000" sz="2100"/>
          </a:p>
        </p:txBody>
      </p:sp>
      <p:sp>
        <p:nvSpPr>
          <p:cNvPr id="1970" name="Google Shape;1970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impact of rounding errors</a:t>
            </a:r>
            <a:endParaRPr/>
          </a:p>
        </p:txBody>
      </p:sp>
      <p:sp>
        <p:nvSpPr>
          <p:cNvPr id="1971" name="Google Shape;1971;p156"/>
          <p:cNvSpPr/>
          <p:nvPr/>
        </p:nvSpPr>
        <p:spPr>
          <a:xfrm>
            <a:off x="5722925" y="657600"/>
            <a:ext cx="2712300" cy="2023500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2" name="Google Shape;1972;p156"/>
          <p:cNvSpPr/>
          <p:nvPr/>
        </p:nvSpPr>
        <p:spPr>
          <a:xfrm>
            <a:off x="7000050" y="1089300"/>
            <a:ext cx="918300" cy="918300"/>
          </a:xfrm>
          <a:prstGeom prst="rtTriangl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3" name="Google Shape;1973;p156"/>
          <p:cNvCxnSpPr/>
          <p:nvPr/>
        </p:nvCxnSpPr>
        <p:spPr>
          <a:xfrm rot="10800000">
            <a:off x="6831775" y="1106725"/>
            <a:ext cx="0" cy="86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74" name="Google Shape;1974;p156"/>
          <p:cNvCxnSpPr/>
          <p:nvPr/>
        </p:nvCxnSpPr>
        <p:spPr>
          <a:xfrm>
            <a:off x="7026288" y="2116050"/>
            <a:ext cx="812400" cy="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5" name="Google Shape;1975;p156"/>
          <p:cNvSpPr txBox="1"/>
          <p:nvPr/>
        </p:nvSpPr>
        <p:spPr>
          <a:xfrm>
            <a:off x="5860222" y="1330336"/>
            <a:ext cx="1251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2.98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156"/>
          <p:cNvSpPr txBox="1"/>
          <p:nvPr/>
        </p:nvSpPr>
        <p:spPr>
          <a:xfrm>
            <a:off x="7000048" y="2041200"/>
            <a:ext cx="13335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7" name="Google Shape;1977;p156"/>
          <p:cNvSpPr/>
          <p:nvPr/>
        </p:nvSpPr>
        <p:spPr>
          <a:xfrm>
            <a:off x="374457" y="2818950"/>
            <a:ext cx="2591400" cy="1922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8" name="Google Shape;1978;p156"/>
          <p:cNvSpPr/>
          <p:nvPr/>
        </p:nvSpPr>
        <p:spPr>
          <a:xfrm>
            <a:off x="3223450" y="2818950"/>
            <a:ext cx="2591400" cy="1922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9" name="Google Shape;1979;p156"/>
          <p:cNvSpPr/>
          <p:nvPr/>
        </p:nvSpPr>
        <p:spPr>
          <a:xfrm>
            <a:off x="5992585" y="2828275"/>
            <a:ext cx="2591400" cy="1922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156"/>
          <p:cNvSpPr txBox="1"/>
          <p:nvPr/>
        </p:nvSpPr>
        <p:spPr>
          <a:xfrm>
            <a:off x="348724" y="2878150"/>
            <a:ext cx="24960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of triangle: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 × 3 × 4 = 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Remaining area: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 </a:t>
            </a:r>
            <a:r>
              <a:rPr b="1"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6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(1 d.p.)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1" name="Google Shape;1981;p156"/>
          <p:cNvSpPr txBox="1"/>
          <p:nvPr/>
        </p:nvSpPr>
        <p:spPr>
          <a:xfrm>
            <a:off x="2982114" y="2878143"/>
            <a:ext cx="31104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of triangle: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 × 2.98 × 3.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5.2746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Remaining area: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 </a:t>
            </a:r>
            <a:r>
              <a:rPr b="1"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5.27 …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8.7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(1 d.p.)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2" name="Google Shape;1982;p156"/>
          <p:cNvSpPr txBox="1"/>
          <p:nvPr/>
        </p:nvSpPr>
        <p:spPr>
          <a:xfrm>
            <a:off x="6033598" y="2828275"/>
            <a:ext cx="24960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of triangle: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 × 2.98 × 3.54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5.28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(3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Remaining area: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 </a:t>
            </a:r>
            <a:r>
              <a:rPr b="1"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5.28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8.7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(1 d.p.)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157"/>
          <p:cNvSpPr txBox="1"/>
          <p:nvPr>
            <p:ph idx="1" type="body"/>
          </p:nvPr>
        </p:nvSpPr>
        <p:spPr>
          <a:xfrm>
            <a:off x="324000" y="683100"/>
            <a:ext cx="5348100" cy="20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 following working out shows the correct answer to this question? Explain the errors.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“The area of the pentagon is 14 m</a:t>
            </a:r>
            <a:r>
              <a:rPr baseline="30000" lang="en-GB" sz="1800"/>
              <a:t>2</a:t>
            </a:r>
            <a:r>
              <a:rPr lang="en-GB" sz="1800"/>
              <a:t>. A triangle has been cut out. Work out the remaining area to 1 d.p.”</a:t>
            </a:r>
            <a:endParaRPr baseline="30000"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aseline="30000" sz="2100"/>
          </a:p>
        </p:txBody>
      </p:sp>
      <p:sp>
        <p:nvSpPr>
          <p:cNvPr id="1988" name="Google Shape;1988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impact of rounding errors</a:t>
            </a:r>
            <a:endParaRPr/>
          </a:p>
        </p:txBody>
      </p:sp>
      <p:sp>
        <p:nvSpPr>
          <p:cNvPr id="1989" name="Google Shape;1989;p157"/>
          <p:cNvSpPr/>
          <p:nvPr/>
        </p:nvSpPr>
        <p:spPr>
          <a:xfrm>
            <a:off x="5722925" y="657600"/>
            <a:ext cx="2712300" cy="2023500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0" name="Google Shape;1990;p157"/>
          <p:cNvSpPr/>
          <p:nvPr/>
        </p:nvSpPr>
        <p:spPr>
          <a:xfrm>
            <a:off x="7000050" y="1089300"/>
            <a:ext cx="918300" cy="918300"/>
          </a:xfrm>
          <a:prstGeom prst="rtTriangl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157"/>
          <p:cNvSpPr txBox="1"/>
          <p:nvPr/>
        </p:nvSpPr>
        <p:spPr>
          <a:xfrm>
            <a:off x="5860800" y="1332000"/>
            <a:ext cx="1251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2.98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2" name="Google Shape;1992;p157"/>
          <p:cNvSpPr txBox="1"/>
          <p:nvPr/>
        </p:nvSpPr>
        <p:spPr>
          <a:xfrm>
            <a:off x="7000050" y="2041200"/>
            <a:ext cx="1333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3.54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3" name="Google Shape;1993;p157"/>
          <p:cNvSpPr/>
          <p:nvPr/>
        </p:nvSpPr>
        <p:spPr>
          <a:xfrm>
            <a:off x="374457" y="2818950"/>
            <a:ext cx="2591400" cy="1922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4" name="Google Shape;1994;p157"/>
          <p:cNvSpPr txBox="1"/>
          <p:nvPr/>
        </p:nvSpPr>
        <p:spPr>
          <a:xfrm>
            <a:off x="348724" y="2878150"/>
            <a:ext cx="24960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of triangle: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 × 3 × 4 = 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Remaining area: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 </a:t>
            </a:r>
            <a:r>
              <a:rPr b="1"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6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8.0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(1 d.p.)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157"/>
          <p:cNvSpPr txBox="1"/>
          <p:nvPr/>
        </p:nvSpPr>
        <p:spPr>
          <a:xfrm>
            <a:off x="3183575" y="3303725"/>
            <a:ext cx="4839600" cy="1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They have rounded each measurement to 1 s.f. before any calculating.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96" name="Google Shape;1996;p157"/>
          <p:cNvCxnSpPr/>
          <p:nvPr/>
        </p:nvCxnSpPr>
        <p:spPr>
          <a:xfrm rot="10800000">
            <a:off x="6831775" y="1106725"/>
            <a:ext cx="0" cy="86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97" name="Google Shape;1997;p157"/>
          <p:cNvCxnSpPr/>
          <p:nvPr/>
        </p:nvCxnSpPr>
        <p:spPr>
          <a:xfrm rot="10800000">
            <a:off x="7026288" y="2116051"/>
            <a:ext cx="812400" cy="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158"/>
          <p:cNvSpPr txBox="1"/>
          <p:nvPr>
            <p:ph idx="1" type="body"/>
          </p:nvPr>
        </p:nvSpPr>
        <p:spPr>
          <a:xfrm>
            <a:off x="324000" y="683100"/>
            <a:ext cx="5348100" cy="20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 following working out shows the correct answer to this question? Explain the errors.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“The area of the pentagon is 14 m</a:t>
            </a:r>
            <a:r>
              <a:rPr baseline="30000" lang="en-GB" sz="1800"/>
              <a:t>2</a:t>
            </a:r>
            <a:r>
              <a:rPr lang="en-GB" sz="1800"/>
              <a:t>. A triangle has been cut out. Work out the remaining area to 1 d.p.”</a:t>
            </a:r>
            <a:endParaRPr baseline="30000"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aseline="30000" sz="2100"/>
          </a:p>
        </p:txBody>
      </p:sp>
      <p:sp>
        <p:nvSpPr>
          <p:cNvPr id="2003" name="Google Shape;2003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impact of rounding errors</a:t>
            </a:r>
            <a:endParaRPr/>
          </a:p>
        </p:txBody>
      </p:sp>
      <p:sp>
        <p:nvSpPr>
          <p:cNvPr id="2004" name="Google Shape;2004;p158"/>
          <p:cNvSpPr/>
          <p:nvPr/>
        </p:nvSpPr>
        <p:spPr>
          <a:xfrm>
            <a:off x="5722925" y="657600"/>
            <a:ext cx="2712300" cy="2023500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5" name="Google Shape;2005;p158"/>
          <p:cNvSpPr/>
          <p:nvPr/>
        </p:nvSpPr>
        <p:spPr>
          <a:xfrm>
            <a:off x="7000050" y="1089300"/>
            <a:ext cx="918300" cy="918300"/>
          </a:xfrm>
          <a:prstGeom prst="rtTriangl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6" name="Google Shape;2006;p158"/>
          <p:cNvCxnSpPr/>
          <p:nvPr/>
        </p:nvCxnSpPr>
        <p:spPr>
          <a:xfrm rot="10800000">
            <a:off x="6831775" y="1106725"/>
            <a:ext cx="0" cy="86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07" name="Google Shape;2007;p158"/>
          <p:cNvCxnSpPr/>
          <p:nvPr/>
        </p:nvCxnSpPr>
        <p:spPr>
          <a:xfrm>
            <a:off x="7026288" y="2116050"/>
            <a:ext cx="812400" cy="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08" name="Google Shape;2008;p158"/>
          <p:cNvSpPr txBox="1"/>
          <p:nvPr/>
        </p:nvSpPr>
        <p:spPr>
          <a:xfrm>
            <a:off x="5860222" y="1330336"/>
            <a:ext cx="1251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2.98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9" name="Google Shape;2009;p158"/>
          <p:cNvSpPr txBox="1"/>
          <p:nvPr/>
        </p:nvSpPr>
        <p:spPr>
          <a:xfrm>
            <a:off x="7000048" y="2041200"/>
            <a:ext cx="13335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3.54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0" name="Google Shape;2010;p158"/>
          <p:cNvSpPr/>
          <p:nvPr/>
        </p:nvSpPr>
        <p:spPr>
          <a:xfrm>
            <a:off x="3223450" y="2818950"/>
            <a:ext cx="2591400" cy="1922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1" name="Google Shape;2011;p158"/>
          <p:cNvSpPr txBox="1"/>
          <p:nvPr/>
        </p:nvSpPr>
        <p:spPr>
          <a:xfrm>
            <a:off x="2982114" y="2878143"/>
            <a:ext cx="31104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of triangle: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 × 2.98 × 3.54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5.2746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Remaining area: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 </a:t>
            </a:r>
            <a:r>
              <a:rPr b="1"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5.27 …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8.7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(1 d.p.)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2" name="Google Shape;2012;p158"/>
          <p:cNvSpPr txBox="1"/>
          <p:nvPr/>
        </p:nvSpPr>
        <p:spPr>
          <a:xfrm>
            <a:off x="324000" y="2878150"/>
            <a:ext cx="2899500" cy="1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calculation and working out is correct.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Good use of the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ellipsis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!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159"/>
          <p:cNvSpPr txBox="1"/>
          <p:nvPr>
            <p:ph idx="1" type="body"/>
          </p:nvPr>
        </p:nvSpPr>
        <p:spPr>
          <a:xfrm>
            <a:off x="324000" y="683100"/>
            <a:ext cx="5348100" cy="20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 following working out shows the correct answer to this question? Explain the errors.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“The area of the pentagon is 14 m</a:t>
            </a:r>
            <a:r>
              <a:rPr baseline="30000" lang="en-GB" sz="1800"/>
              <a:t>2</a:t>
            </a:r>
            <a:r>
              <a:rPr lang="en-GB" sz="1800"/>
              <a:t>. A triangle has been cut out. Work out the remaining area to 1 d.p.”</a:t>
            </a:r>
            <a:endParaRPr baseline="30000"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aseline="30000" sz="2100"/>
          </a:p>
        </p:txBody>
      </p:sp>
      <p:sp>
        <p:nvSpPr>
          <p:cNvPr id="2018" name="Google Shape;2018;p15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impact of rounding errors</a:t>
            </a:r>
            <a:endParaRPr/>
          </a:p>
        </p:txBody>
      </p:sp>
      <p:sp>
        <p:nvSpPr>
          <p:cNvPr id="2019" name="Google Shape;2019;p159"/>
          <p:cNvSpPr/>
          <p:nvPr/>
        </p:nvSpPr>
        <p:spPr>
          <a:xfrm>
            <a:off x="5722925" y="657600"/>
            <a:ext cx="2712300" cy="2023500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0" name="Google Shape;2020;p159"/>
          <p:cNvSpPr/>
          <p:nvPr/>
        </p:nvSpPr>
        <p:spPr>
          <a:xfrm>
            <a:off x="7000050" y="1089300"/>
            <a:ext cx="918300" cy="918300"/>
          </a:xfrm>
          <a:prstGeom prst="rtTriangl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1" name="Google Shape;2021;p159"/>
          <p:cNvCxnSpPr/>
          <p:nvPr/>
        </p:nvCxnSpPr>
        <p:spPr>
          <a:xfrm rot="10800000">
            <a:off x="6831775" y="1106725"/>
            <a:ext cx="0" cy="86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2" name="Google Shape;2022;p159"/>
          <p:cNvCxnSpPr/>
          <p:nvPr/>
        </p:nvCxnSpPr>
        <p:spPr>
          <a:xfrm>
            <a:off x="7026288" y="2116050"/>
            <a:ext cx="812400" cy="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23" name="Google Shape;2023;p159"/>
          <p:cNvSpPr txBox="1"/>
          <p:nvPr/>
        </p:nvSpPr>
        <p:spPr>
          <a:xfrm>
            <a:off x="5860222" y="1330336"/>
            <a:ext cx="1251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2.98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4" name="Google Shape;2024;p159"/>
          <p:cNvSpPr txBox="1"/>
          <p:nvPr/>
        </p:nvSpPr>
        <p:spPr>
          <a:xfrm>
            <a:off x="7000048" y="2041200"/>
            <a:ext cx="13335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3.54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5" name="Google Shape;2025;p159"/>
          <p:cNvSpPr/>
          <p:nvPr/>
        </p:nvSpPr>
        <p:spPr>
          <a:xfrm>
            <a:off x="5992585" y="2828275"/>
            <a:ext cx="2591400" cy="1922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6" name="Google Shape;2026;p159"/>
          <p:cNvSpPr txBox="1"/>
          <p:nvPr/>
        </p:nvSpPr>
        <p:spPr>
          <a:xfrm>
            <a:off x="6033598" y="2828275"/>
            <a:ext cx="24960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of triangle: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 × 2.98 × 3.54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5.28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(3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Remaining area: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 </a:t>
            </a:r>
            <a:r>
              <a:rPr b="1"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5.28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8.7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(1 d.p.)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7" name="Google Shape;2027;p159"/>
          <p:cNvSpPr txBox="1"/>
          <p:nvPr/>
        </p:nvSpPr>
        <p:spPr>
          <a:xfrm>
            <a:off x="538525" y="2946625"/>
            <a:ext cx="4653000" cy="1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Although the answer is correct, there is an error in their working out.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They have incorrectly rounded to 3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significant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figures.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should be 5.27 to 3 s.f.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8" name="Google Shape;2028;p159"/>
          <p:cNvSpPr/>
          <p:nvPr/>
        </p:nvSpPr>
        <p:spPr>
          <a:xfrm>
            <a:off x="6319806" y="3442712"/>
            <a:ext cx="719100" cy="3132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9" name="Google Shape;2029;p159"/>
          <p:cNvCxnSpPr>
            <a:endCxn id="2028" idx="2"/>
          </p:cNvCxnSpPr>
          <p:nvPr/>
        </p:nvCxnSpPr>
        <p:spPr>
          <a:xfrm flipH="1" rot="10800000">
            <a:off x="5161206" y="3599312"/>
            <a:ext cx="1158600" cy="718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160"/>
          <p:cNvSpPr txBox="1"/>
          <p:nvPr>
            <p:ph idx="1" type="body"/>
          </p:nvPr>
        </p:nvSpPr>
        <p:spPr>
          <a:xfrm>
            <a:off x="324000" y="759300"/>
            <a:ext cx="47109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1) </a:t>
            </a:r>
            <a:r>
              <a:rPr lang="en-GB" sz="1700"/>
              <a:t>Here is a plot of land. </a:t>
            </a:r>
            <a:r>
              <a:rPr lang="en-GB" sz="1700"/>
              <a:t>Explain if and where students have lost accuracy and resulted in an incorrect answer when finding the area of the rectangle to 2 d.p.</a:t>
            </a:r>
            <a:endParaRPr sz="1700"/>
          </a:p>
        </p:txBody>
      </p:sp>
      <p:sp>
        <p:nvSpPr>
          <p:cNvPr id="2035" name="Google Shape;2035;p1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impact of rounding errors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160"/>
          <p:cNvSpPr/>
          <p:nvPr/>
        </p:nvSpPr>
        <p:spPr>
          <a:xfrm>
            <a:off x="6903325" y="810000"/>
            <a:ext cx="1795500" cy="80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7" name="Google Shape;2037;p160"/>
          <p:cNvCxnSpPr/>
          <p:nvPr/>
        </p:nvCxnSpPr>
        <p:spPr>
          <a:xfrm rot="10800000">
            <a:off x="6741275" y="822900"/>
            <a:ext cx="0" cy="80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38" name="Google Shape;2038;p160"/>
          <p:cNvCxnSpPr/>
          <p:nvPr/>
        </p:nvCxnSpPr>
        <p:spPr>
          <a:xfrm>
            <a:off x="6912250" y="1782000"/>
            <a:ext cx="178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39" name="Google Shape;2039;p160"/>
          <p:cNvSpPr txBox="1"/>
          <p:nvPr/>
        </p:nvSpPr>
        <p:spPr>
          <a:xfrm>
            <a:off x="5498100" y="984850"/>
            <a:ext cx="1578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1.628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km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0" name="Google Shape;2040;p160"/>
          <p:cNvSpPr txBox="1"/>
          <p:nvPr/>
        </p:nvSpPr>
        <p:spPr>
          <a:xfrm>
            <a:off x="7193350" y="1713200"/>
            <a:ext cx="1698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2.685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km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1" name="Google Shape;2041;p160"/>
          <p:cNvSpPr/>
          <p:nvPr/>
        </p:nvSpPr>
        <p:spPr>
          <a:xfrm>
            <a:off x="435150" y="2028600"/>
            <a:ext cx="4208700" cy="86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1.628 × 2.685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4.38 km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2" name="Google Shape;2042;p160"/>
          <p:cNvSpPr/>
          <p:nvPr/>
        </p:nvSpPr>
        <p:spPr>
          <a:xfrm>
            <a:off x="435150" y="2998950"/>
            <a:ext cx="4208700" cy="86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1.628 × 2.685 = 4.37 km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3" name="Google Shape;2043;p160"/>
          <p:cNvSpPr/>
          <p:nvPr/>
        </p:nvSpPr>
        <p:spPr>
          <a:xfrm>
            <a:off x="435150" y="3969300"/>
            <a:ext cx="4208700" cy="86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1.63 × 2.69 = 4.38 km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4" name="Google Shape;2044;p160"/>
          <p:cNvSpPr/>
          <p:nvPr/>
        </p:nvSpPr>
        <p:spPr>
          <a:xfrm>
            <a:off x="5234725" y="2760550"/>
            <a:ext cx="3397800" cy="1384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16.28 × 26.85 = 437.118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437.12 km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baseline="30000"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p161"/>
          <p:cNvSpPr txBox="1"/>
          <p:nvPr>
            <p:ph idx="1" type="body"/>
          </p:nvPr>
        </p:nvSpPr>
        <p:spPr>
          <a:xfrm>
            <a:off x="474900" y="810000"/>
            <a:ext cx="8345100" cy="124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A circular sheet of metal has an area of 25 </a:t>
            </a:r>
            <a:r>
              <a:rPr lang="en-GB" sz="1800"/>
              <a:t>m</a:t>
            </a:r>
            <a:r>
              <a:rPr baseline="30000" lang="en-GB" sz="1800"/>
              <a:t>2</a:t>
            </a:r>
            <a:r>
              <a:rPr lang="en-GB" sz="1800"/>
              <a:t>. It gets </a:t>
            </a:r>
            <a:r>
              <a:rPr lang="en-GB" sz="1800"/>
              <a:t>two square patches with lengths 2.6574 m cut from it using a laser cutter.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pupil has correctly worked</a:t>
            </a:r>
            <a:r>
              <a:rPr lang="en-GB" sz="1800"/>
              <a:t> out the unpatched area to 2 d.p.? Explain the errors from the other pupils.</a:t>
            </a:r>
            <a:endParaRPr sz="1800"/>
          </a:p>
        </p:txBody>
      </p:sp>
      <p:sp>
        <p:nvSpPr>
          <p:cNvPr id="2050" name="Google Shape;2050;p1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impact of rounding errors</a:t>
            </a:r>
            <a:endParaRPr/>
          </a:p>
        </p:txBody>
      </p:sp>
      <p:sp>
        <p:nvSpPr>
          <p:cNvPr id="2051" name="Google Shape;2051;p161"/>
          <p:cNvSpPr/>
          <p:nvPr/>
        </p:nvSpPr>
        <p:spPr>
          <a:xfrm>
            <a:off x="474900" y="2416750"/>
            <a:ext cx="2640900" cy="229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of squares: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2.6574 × 2.6574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14.1 (1 d.p.)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Remaining area: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 </a:t>
            </a:r>
            <a:r>
              <a:rPr b="1"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14.1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10.90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2" name="Google Shape;2052;p161"/>
          <p:cNvSpPr/>
          <p:nvPr/>
        </p:nvSpPr>
        <p:spPr>
          <a:xfrm>
            <a:off x="3260675" y="2416750"/>
            <a:ext cx="2640900" cy="229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of squares: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2.6574 × 2.6574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14.12 (2 d.p.)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Remaining area: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 </a:t>
            </a:r>
            <a:r>
              <a:rPr b="1"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14.12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10.88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3" name="Google Shape;2053;p161"/>
          <p:cNvSpPr/>
          <p:nvPr/>
        </p:nvSpPr>
        <p:spPr>
          <a:xfrm>
            <a:off x="5976950" y="2416750"/>
            <a:ext cx="2640900" cy="229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of squares: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2.6574 × 2.6574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14.123 …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Remaining area: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 </a:t>
            </a:r>
            <a:r>
              <a:rPr b="1"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14.123 …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10.88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16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impact of rounding errors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162"/>
          <p:cNvSpPr txBox="1"/>
          <p:nvPr/>
        </p:nvSpPr>
        <p:spPr>
          <a:xfrm>
            <a:off x="4788000" y="2018550"/>
            <a:ext cx="33939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1.628 × 2.685 = 4.37118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Aisha has incorrectly rounded her answer.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0" name="Google Shape;2060;p162"/>
          <p:cNvSpPr txBox="1"/>
          <p:nvPr>
            <p:ph idx="1" type="body"/>
          </p:nvPr>
        </p:nvSpPr>
        <p:spPr>
          <a:xfrm>
            <a:off x="324000" y="759300"/>
            <a:ext cx="4756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1) </a:t>
            </a:r>
            <a:r>
              <a:rPr lang="en-GB" sz="1700"/>
              <a:t>Here is a plot of land. Explain if and where students have lost accuracy and resulted in an incorrect answer when finding the area of the rectangle to 2 d.p.</a:t>
            </a:r>
            <a:endParaRPr sz="1700"/>
          </a:p>
        </p:txBody>
      </p:sp>
      <p:sp>
        <p:nvSpPr>
          <p:cNvPr id="2061" name="Google Shape;2061;p162"/>
          <p:cNvSpPr/>
          <p:nvPr/>
        </p:nvSpPr>
        <p:spPr>
          <a:xfrm>
            <a:off x="410650" y="2083800"/>
            <a:ext cx="4208700" cy="86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1.628 × 2.685 = 4.38 km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2" name="Google Shape;2062;p162"/>
          <p:cNvSpPr/>
          <p:nvPr/>
        </p:nvSpPr>
        <p:spPr>
          <a:xfrm>
            <a:off x="6979525" y="810000"/>
            <a:ext cx="1795500" cy="80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63" name="Google Shape;2063;p162"/>
          <p:cNvCxnSpPr/>
          <p:nvPr/>
        </p:nvCxnSpPr>
        <p:spPr>
          <a:xfrm rot="10800000">
            <a:off x="6817475" y="822900"/>
            <a:ext cx="0" cy="80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64" name="Google Shape;2064;p162"/>
          <p:cNvSpPr txBox="1"/>
          <p:nvPr/>
        </p:nvSpPr>
        <p:spPr>
          <a:xfrm>
            <a:off x="5574300" y="984850"/>
            <a:ext cx="1578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1.628 km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5" name="Google Shape;2065;p162"/>
          <p:cNvSpPr txBox="1"/>
          <p:nvPr/>
        </p:nvSpPr>
        <p:spPr>
          <a:xfrm>
            <a:off x="7269550" y="1713200"/>
            <a:ext cx="1698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2.685 km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66" name="Google Shape;2066;p162"/>
          <p:cNvCxnSpPr/>
          <p:nvPr/>
        </p:nvCxnSpPr>
        <p:spPr>
          <a:xfrm>
            <a:off x="6988450" y="1782000"/>
            <a:ext cx="178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67" name="Google Shape;2067;p162"/>
          <p:cNvSpPr txBox="1"/>
          <p:nvPr/>
        </p:nvSpPr>
        <p:spPr>
          <a:xfrm>
            <a:off x="4788000" y="2939425"/>
            <a:ext cx="3691200" cy="1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correctly rounded and Jun has used the accurate measurements given.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8" name="Google Shape;2068;p162"/>
          <p:cNvSpPr/>
          <p:nvPr/>
        </p:nvSpPr>
        <p:spPr>
          <a:xfrm>
            <a:off x="423975" y="3014600"/>
            <a:ext cx="4208700" cy="86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1.628 × 2.685 = 4.37 km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9" name="Google Shape;2069;p162"/>
          <p:cNvSpPr/>
          <p:nvPr/>
        </p:nvSpPr>
        <p:spPr>
          <a:xfrm>
            <a:off x="438763" y="3969300"/>
            <a:ext cx="4208700" cy="86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1.63 × 2.69 = 4.38 km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0" name="Google Shape;2070;p162"/>
          <p:cNvSpPr txBox="1"/>
          <p:nvPr/>
        </p:nvSpPr>
        <p:spPr>
          <a:xfrm>
            <a:off x="4788000" y="3849600"/>
            <a:ext cx="40260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Andeep has rounded the measurements before calculating the area. This has resulted in a loss of accuracy.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p16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impact of rounding errors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163"/>
          <p:cNvSpPr txBox="1"/>
          <p:nvPr/>
        </p:nvSpPr>
        <p:spPr>
          <a:xfrm>
            <a:off x="798025" y="2874650"/>
            <a:ext cx="4213200" cy="10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Laura has incorrectly written her values. She has changed the place value of the digits and so her answer is far too big.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7" name="Google Shape;2077;p163"/>
          <p:cNvSpPr txBox="1"/>
          <p:nvPr>
            <p:ph idx="1" type="body"/>
          </p:nvPr>
        </p:nvSpPr>
        <p:spPr>
          <a:xfrm>
            <a:off x="324000" y="759300"/>
            <a:ext cx="47931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1) </a:t>
            </a:r>
            <a:r>
              <a:rPr lang="en-GB" sz="1700"/>
              <a:t>Here is a plot of land. Explain if and where students have lost accuracy and resulted in an incorrect answer when finding the area of the rectangle to 2 d.p.</a:t>
            </a:r>
            <a:endParaRPr sz="1700"/>
          </a:p>
        </p:txBody>
      </p:sp>
      <p:sp>
        <p:nvSpPr>
          <p:cNvPr id="2078" name="Google Shape;2078;p163"/>
          <p:cNvSpPr/>
          <p:nvPr/>
        </p:nvSpPr>
        <p:spPr>
          <a:xfrm>
            <a:off x="6979525" y="810000"/>
            <a:ext cx="1795500" cy="80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9" name="Google Shape;2079;p163"/>
          <p:cNvCxnSpPr/>
          <p:nvPr/>
        </p:nvCxnSpPr>
        <p:spPr>
          <a:xfrm rot="10800000">
            <a:off x="6817475" y="822900"/>
            <a:ext cx="0" cy="80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80" name="Google Shape;2080;p163"/>
          <p:cNvSpPr txBox="1"/>
          <p:nvPr/>
        </p:nvSpPr>
        <p:spPr>
          <a:xfrm>
            <a:off x="5574300" y="984850"/>
            <a:ext cx="1578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1.628 km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1" name="Google Shape;2081;p163"/>
          <p:cNvSpPr txBox="1"/>
          <p:nvPr/>
        </p:nvSpPr>
        <p:spPr>
          <a:xfrm>
            <a:off x="7269550" y="1713200"/>
            <a:ext cx="1698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2.685 km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2" name="Google Shape;2082;p163"/>
          <p:cNvSpPr/>
          <p:nvPr/>
        </p:nvSpPr>
        <p:spPr>
          <a:xfrm>
            <a:off x="5234688" y="2782800"/>
            <a:ext cx="3397800" cy="1384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16.28 × 26.85 = 437.118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437.12 km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baseline="30000"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3" name="Google Shape;2083;p163"/>
          <p:cNvCxnSpPr/>
          <p:nvPr/>
        </p:nvCxnSpPr>
        <p:spPr>
          <a:xfrm>
            <a:off x="6988450" y="1782000"/>
            <a:ext cx="178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p16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impact of rounding errors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164"/>
          <p:cNvSpPr/>
          <p:nvPr/>
        </p:nvSpPr>
        <p:spPr>
          <a:xfrm>
            <a:off x="474900" y="2416750"/>
            <a:ext cx="2640900" cy="229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of squares: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2.6574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2.6574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14.1 (1 d.p.)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Remaining area: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 </a:t>
            </a:r>
            <a:r>
              <a:rPr b="1"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14.1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10.90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0" name="Google Shape;2090;p164"/>
          <p:cNvSpPr txBox="1"/>
          <p:nvPr/>
        </p:nvSpPr>
        <p:spPr>
          <a:xfrm>
            <a:off x="3449125" y="2708350"/>
            <a:ext cx="4470900" cy="17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Aisha has rounded too early.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She rounded her first calculation to 1 d.p. which has meant she has struggled to give the correct accurate answer to 2 d.p.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1" name="Google Shape;2091;p164"/>
          <p:cNvSpPr txBox="1"/>
          <p:nvPr>
            <p:ph idx="1" type="body"/>
          </p:nvPr>
        </p:nvSpPr>
        <p:spPr>
          <a:xfrm>
            <a:off x="324000" y="759300"/>
            <a:ext cx="8237700" cy="17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A circular sheet of metal has an area of 25 m</a:t>
            </a:r>
            <a:r>
              <a:rPr baseline="30000" lang="en-GB" sz="1800"/>
              <a:t>2</a:t>
            </a:r>
            <a:r>
              <a:rPr lang="en-GB" sz="1800"/>
              <a:t>. It gets two square patches with lengths 2.6574 m cut from it using a laser cutter.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pupil has correctly worked out the unpatched area to 2 d.p.? Explain the errors from the other pupils.</a:t>
            </a:r>
            <a:endParaRPr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1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impact of rounding errors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p165"/>
          <p:cNvSpPr/>
          <p:nvPr/>
        </p:nvSpPr>
        <p:spPr>
          <a:xfrm>
            <a:off x="3717875" y="2416750"/>
            <a:ext cx="2640900" cy="229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of squares: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2.6574 × 2.6574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14.12 (2 d.p.)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Remaining area: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 </a:t>
            </a:r>
            <a:r>
              <a:rPr b="1"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14.12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10.88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8" name="Google Shape;2098;p165"/>
          <p:cNvSpPr txBox="1"/>
          <p:nvPr/>
        </p:nvSpPr>
        <p:spPr>
          <a:xfrm>
            <a:off x="278650" y="2798100"/>
            <a:ext cx="3161700" cy="18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Lucas has answered the question correctly.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 did round early, but stated it to 2 d.p. which resulted in less error loss.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9" name="Google Shape;2099;p165"/>
          <p:cNvSpPr txBox="1"/>
          <p:nvPr>
            <p:ph idx="1" type="body"/>
          </p:nvPr>
        </p:nvSpPr>
        <p:spPr>
          <a:xfrm>
            <a:off x="324000" y="759300"/>
            <a:ext cx="8237700" cy="15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A circular sheet of metal has an area of 25 m</a:t>
            </a:r>
            <a:r>
              <a:rPr baseline="30000" lang="en-GB" sz="1800"/>
              <a:t>2</a:t>
            </a:r>
            <a:r>
              <a:rPr lang="en-GB" sz="1800"/>
              <a:t>. It gets two square patches with lengths 2.6574 m cut from it using a laser cutter.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pupil has correctly worked out the unpatched area to 2 d.p.? Explain the errors from the other pupils.</a:t>
            </a: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16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impact of rounding errors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166"/>
          <p:cNvSpPr/>
          <p:nvPr/>
        </p:nvSpPr>
        <p:spPr>
          <a:xfrm>
            <a:off x="5976950" y="2416750"/>
            <a:ext cx="2640900" cy="229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of squares: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2.6574 × 2.6574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14.123 …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Remaining area: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 </a:t>
            </a:r>
            <a:r>
              <a:rPr b="1"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14.123 …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10.88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6" name="Google Shape;2106;p166"/>
          <p:cNvSpPr txBox="1"/>
          <p:nvPr/>
        </p:nvSpPr>
        <p:spPr>
          <a:xfrm>
            <a:off x="716050" y="3240000"/>
            <a:ext cx="44709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Laura has used the ellipsis to show she is using the ANS button on her calculator.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7" name="Google Shape;2107;p1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A circular sheet of metal has an area of 25 m</a:t>
            </a:r>
            <a:r>
              <a:rPr baseline="30000" lang="en-GB" sz="1800"/>
              <a:t>2</a:t>
            </a:r>
            <a:r>
              <a:rPr lang="en-GB" sz="1800"/>
              <a:t>. It gets two square patches with lengths 2.6574 m cut from it using a laser cutter.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pupil has correctly worked out the unpatched area to 2 d.p.? Explain the errors from the other pupils.</a:t>
            </a:r>
            <a:endParaRPr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167"/>
          <p:cNvSpPr txBox="1"/>
          <p:nvPr>
            <p:ph idx="1" type="body"/>
          </p:nvPr>
        </p:nvSpPr>
        <p:spPr>
          <a:xfrm>
            <a:off x="324000" y="810000"/>
            <a:ext cx="8113800" cy="16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round in everyday life to make calculations easier. Sometimes we are given rounded values and must identify the range of values of the unrounded number.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Number lines can help us identify the smallest and largest integers of unrounded numbers.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Scientific calculators are fantastic instruments and incredibly powerful. We have to be careful when to round and choosing our degree of accuracy. Sometimes when there are errors with a calculation, it is not the fault of the calculator.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1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errors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16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19" name="Google Shape;2119;p1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