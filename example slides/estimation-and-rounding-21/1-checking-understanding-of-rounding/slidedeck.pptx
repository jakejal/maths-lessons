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70" r:id="rId4"/>
    <p:sldMasterId id="21474837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6544899-28CE-4B64-812E-1AE840465D4C}">
  <a:tblStyle styleId="{96544899-28CE-4B64-812E-1AE840465D4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4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6" name="Google Shape;1486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2" name="Google Shape;1492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5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0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g2b01953e261_1_7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2" name="Google Shape;1502;g2b01953e261_1_7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5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g2a93c6b8639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7" name="Google Shape;1507;g2a93c6b863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4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Google Shape;1515;g2ace1f6239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6" name="Google Shape;1516;g2ace1f6239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0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g2ace1f6239c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2" name="Google Shape;1522;g2ace1f6239c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7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Google Shape;1538;g2ace1f6239c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9" name="Google Shape;1539;g2ace1f6239c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5" name="Shape 1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Google Shape;1556;g2ace1f6239c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7" name="Google Shape;1557;g2ace1f6239c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" name="Google Shape;1582;g2ace1f6239c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3" name="Google Shape;1583;g2ace1f6239c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8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Google Shape;1599;g2ace1f6239c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0" name="Google Shape;1600;g2ace1f6239c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8" name="Shape 1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9" name="Google Shape;1609;g2b01953e261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0" name="Google Shape;1610;g2b01953e26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8" name="Shape 1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" name="Google Shape;1619;g2ad3907414b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0" name="Google Shape;1620;g2ad3907414b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6" name="Shape 1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7" name="Google Shape;1647;g2ace1f6239c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8" name="Google Shape;1648;g2ace1f6239c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3" name="Shape 1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4" name="Google Shape;1684;g2ace1f6239c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5" name="Google Shape;1685;g2ace1f6239c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2" name="Shape 1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3" name="Google Shape;1693;g2ad3907414b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4" name="Google Shape;1694;g2ad3907414b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7" name="Shape 1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Google Shape;1718;g2ace1f6239c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9" name="Google Shape;1719;g2ace1f6239c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8" name="Shape 1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9" name="Google Shape;1729;g2ad3907414b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0" name="Google Shape;1730;g2ad3907414b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8" name="Shape 1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9" name="Google Shape;1749;g2ace1f6239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0" name="Google Shape;1750;g2ace1f6239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9" name="Shape 1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0" name="Google Shape;1800;g2ace1f6239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1" name="Google Shape;1801;g2ace1f6239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5" name="Shape 1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6" name="Google Shape;1826;g2ad3907414b_0_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7" name="Google Shape;1827;g2ad3907414b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6" name="Shape 1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7" name="Google Shape;1867;g2ad3907414b_0_7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8" name="Google Shape;1868;g2ad3907414b_0_7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2" name="Shape 1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" name="Google Shape;1873;g2ad6ec73570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4" name="Google Shape;1874;g2ad6ec73570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1" name="Shape 1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2" name="Google Shape;1892;g2ad3907414b_0_4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3" name="Google Shape;1893;g2ad3907414b_0_4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0" name="Shape 1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1" name="Google Shape;1911;g2ace1f6239c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2" name="Google Shape;1912;g2ace1f6239c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9" name="Shape 1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0" name="Google Shape;1930;g2ace1f6239c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1" name="Google Shape;1931;g2ace1f6239c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8" name="Shape 1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9" name="Google Shape;1939;g2ad3907414b_0_4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0" name="Google Shape;1940;g2ad3907414b_0_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0" name="Shape 1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1" name="Google Shape;1991;g2ad3907414b_0_5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2" name="Google Shape;1992;g2ad3907414b_0_5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6" name="Shape 2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" name="Google Shape;2017;g2ad3907414b_0_6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8" name="Google Shape;2018;g2ad3907414b_0_6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7" name="Shape 2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" name="Google Shape;2058;g2b0707fa0d6_0_8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9" name="Google Shape;2059;g2b0707fa0d6_0_8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1" name="Shape 2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2" name="Google Shape;2092;g2b0707fa0d6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3" name="Google Shape;2093;g2b0707fa0d6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3" name="Shape 2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4" name="Google Shape;2104;g2ace1f6239c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5" name="Google Shape;2105;g2ace1f6239c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9" name="Shape 2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0" name="Google Shape;2110;g2b0707fa0d6_0_16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1" name="Google Shape;2111;g2b0707fa0d6_0_16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5" name="Shape 2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6" name="Google Shape;2116;g2ad3907414b_0_8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7" name="Google Shape;2117;g2ad3907414b_0_8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8" name="Shape 2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9" name="Google Shape;2139;g2ad3907414b_0_8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0" name="Google Shape;2140;g2ad3907414b_0_8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1" name="Shape 2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2" name="Google Shape;2162;g2ad3907414b_0_8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3" name="Google Shape;2163;g2ad3907414b_0_8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8" name="Shape 2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9" name="Google Shape;2179;g2ad3907414b_0_9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0" name="Google Shape;2180;g2ad3907414b_0_9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4" name="Shape 2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5" name="Google Shape;2185;g2b0707fa0d6_0_16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6" name="Google Shape;2186;g2b0707fa0d6_0_16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0" name="Shape 2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" name="Google Shape;2191;g2ad3907414b_0_9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2" name="Google Shape;2192;g2ad3907414b_0_9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3" name="Shape 2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4" name="Google Shape;2214;g2ad3907414b_0_9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5" name="Google Shape;2215;g2ad3907414b_0_9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8" name="Shape 2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9" name="Google Shape;2239;g2ad3907414b_0_9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0" name="Google Shape;2240;g2ad3907414b_0_9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6" name="Shape 2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7" name="Google Shape;2257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8" name="Google Shape;2258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1" name="Shape 2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2" name="Google Shape;2272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3" name="Google Shape;2273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2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8.png"/><Relationship Id="rId4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21.png"/><Relationship Id="rId5" Type="http://schemas.openxmlformats.org/officeDocument/2006/relationships/image" Target="../media/image1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7.png"/><Relationship Id="rId4" Type="http://schemas.openxmlformats.org/officeDocument/2006/relationships/image" Target="../media/image23.png"/><Relationship Id="rId5" Type="http://schemas.openxmlformats.org/officeDocument/2006/relationships/image" Target="../media/image19.png"/><Relationship Id="rId6" Type="http://schemas.openxmlformats.org/officeDocument/2006/relationships/image" Target="../media/image10.png"/><Relationship Id="rId7" Type="http://schemas.openxmlformats.org/officeDocument/2006/relationships/image" Target="../media/image20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9.png"/><Relationship Id="rId4" Type="http://schemas.openxmlformats.org/officeDocument/2006/relationships/image" Target="../media/image93.png"/><Relationship Id="rId5" Type="http://schemas.openxmlformats.org/officeDocument/2006/relationships/image" Target="../media/image28.png"/><Relationship Id="rId6" Type="http://schemas.openxmlformats.org/officeDocument/2006/relationships/image" Target="../media/image25.png"/><Relationship Id="rId7" Type="http://schemas.openxmlformats.org/officeDocument/2006/relationships/image" Target="../media/image1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93.png"/><Relationship Id="rId4" Type="http://schemas.openxmlformats.org/officeDocument/2006/relationships/image" Target="../media/image24.png"/><Relationship Id="rId9" Type="http://schemas.openxmlformats.org/officeDocument/2006/relationships/image" Target="../media/image14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28.png"/><Relationship Id="rId8" Type="http://schemas.openxmlformats.org/officeDocument/2006/relationships/image" Target="../media/image25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93.png"/><Relationship Id="rId4" Type="http://schemas.openxmlformats.org/officeDocument/2006/relationships/image" Target="../media/image32.png"/><Relationship Id="rId11" Type="http://schemas.openxmlformats.org/officeDocument/2006/relationships/image" Target="../media/image14.png"/><Relationship Id="rId10" Type="http://schemas.openxmlformats.org/officeDocument/2006/relationships/image" Target="../media/image40.png"/><Relationship Id="rId9" Type="http://schemas.openxmlformats.org/officeDocument/2006/relationships/image" Target="../media/image25.png"/><Relationship Id="rId5" Type="http://schemas.openxmlformats.org/officeDocument/2006/relationships/image" Target="../media/image24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28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5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5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51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51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7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7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7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7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22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11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8.png"/><Relationship Id="rId4" Type="http://schemas.openxmlformats.org/officeDocument/2006/relationships/image" Target="../media/image5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21.png"/><Relationship Id="rId5" Type="http://schemas.openxmlformats.org/officeDocument/2006/relationships/image" Target="../media/image13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17.png"/><Relationship Id="rId4" Type="http://schemas.openxmlformats.org/officeDocument/2006/relationships/image" Target="../media/image23.png"/><Relationship Id="rId5" Type="http://schemas.openxmlformats.org/officeDocument/2006/relationships/image" Target="../media/image19.png"/><Relationship Id="rId6" Type="http://schemas.openxmlformats.org/officeDocument/2006/relationships/image" Target="../media/image10.png"/><Relationship Id="rId7" Type="http://schemas.openxmlformats.org/officeDocument/2006/relationships/image" Target="../media/image20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Relationship Id="rId3" Type="http://schemas.openxmlformats.org/officeDocument/2006/relationships/image" Target="../media/image29.png"/><Relationship Id="rId4" Type="http://schemas.openxmlformats.org/officeDocument/2006/relationships/image" Target="../media/image93.png"/><Relationship Id="rId5" Type="http://schemas.openxmlformats.org/officeDocument/2006/relationships/image" Target="../media/image28.png"/><Relationship Id="rId6" Type="http://schemas.openxmlformats.org/officeDocument/2006/relationships/image" Target="../media/image25.png"/><Relationship Id="rId7" Type="http://schemas.openxmlformats.org/officeDocument/2006/relationships/image" Target="../media/image14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93.png"/><Relationship Id="rId4" Type="http://schemas.openxmlformats.org/officeDocument/2006/relationships/image" Target="../media/image24.png"/><Relationship Id="rId9" Type="http://schemas.openxmlformats.org/officeDocument/2006/relationships/image" Target="../media/image14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28.png"/><Relationship Id="rId8" Type="http://schemas.openxmlformats.org/officeDocument/2006/relationships/image" Target="../media/image25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93.png"/><Relationship Id="rId4" Type="http://schemas.openxmlformats.org/officeDocument/2006/relationships/image" Target="../media/image32.png"/><Relationship Id="rId11" Type="http://schemas.openxmlformats.org/officeDocument/2006/relationships/image" Target="../media/image14.png"/><Relationship Id="rId10" Type="http://schemas.openxmlformats.org/officeDocument/2006/relationships/image" Target="../media/image40.png"/><Relationship Id="rId9" Type="http://schemas.openxmlformats.org/officeDocument/2006/relationships/image" Target="../media/image25.png"/><Relationship Id="rId5" Type="http://schemas.openxmlformats.org/officeDocument/2006/relationships/image" Target="../media/image24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28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51.png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51.png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51.png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51.png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7.png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7.png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7.png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7.png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3" name="Google Shape;573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3" name="Google Shape;65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5" name="Google Shape;655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6" name="Google Shape;656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2" name="Google Shape;66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4" name="Google Shape;664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0" name="Google Shape;67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2" name="Google Shape;672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8" name="Google Shape;678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0" name="Google Shape;680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5" name="Google Shape;68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7" name="Google Shape;687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8" name="Google Shape;688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4" name="Google Shape;69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6" name="Google Shape;696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2" name="Google Shape;70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4" name="Google Shape;704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0" name="Google Shape;71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2" name="Google Shape;712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8" name="Google Shape;748;p6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p6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0" name="Google Shape;750;p63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1" name="Google Shape;751;p63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52" name="Google Shape;752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3" name="Google Shape;753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6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6" name="Google Shape;756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7" name="Google Shape;757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8" name="Google Shape;758;p6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9" name="Google Shape;759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0" name="Google Shape;760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6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62" name="Google Shape;762;p64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4" name="Google Shape;764;p6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5" name="Google Shape;765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6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7" name="Google Shape;767;p6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8" name="Google Shape;768;p65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9" name="Google Shape;769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0" name="Google Shape;770;p6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2" name="Google Shape;772;p6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6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4" name="Google Shape;774;p6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5" name="Google Shape;775;p66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76" name="Google Shape;776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7" name="Google Shape;777;p6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78" name="Google Shape;778;p6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79" name="Google Shape;779;p6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0" name="Google Shape;780;p66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81" name="Google Shape;781;p6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3" name="Google Shape;783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84" name="Google Shape;784;p6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5" name="Google Shape;785;p6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6" name="Google Shape;786;p67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87" name="Google Shape;787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88" name="Google Shape;788;p6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89" name="Google Shape;789;p67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6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2" name="Google Shape;792;p6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3" name="Google Shape;793;p68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94" name="Google Shape;794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95" name="Google Shape;795;p6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96" name="Google Shape;796;p68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7" name="Google Shape;797;p6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8" name="Google Shape;798;p6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9" name="Google Shape;799;p68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00" name="Google Shape;800;p6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2" name="Google Shape;802;p6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3" name="Google Shape;803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6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5" name="Google Shape;805;p6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6" name="Google Shape;806;p69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07" name="Google Shape;807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8" name="Google Shape;808;p6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0" name="Google Shape;810;p7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7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2" name="Google Shape;812;p7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70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14" name="Google Shape;814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7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16" name="Google Shape;816;p7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17" name="Google Shape;817;p7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8" name="Google Shape;818;p70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9" name="Google Shape;819;p7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1" name="Google Shape;821;p7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2" name="Google Shape;822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23" name="Google Shape;823;p7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4" name="Google Shape;824;p7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71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26" name="Google Shape;826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71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" name="Google Shape;829;p7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30" name="Google Shape;830;p72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1" name="Google Shape;831;p72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73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4" name="Google Shape;834;p73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5" name="Google Shape;835;p73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6" name="Google Shape;836;p73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7" name="Google Shape;837;p73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38" name="Google Shape;838;p73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839" name="Google Shape;839;p7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0" name="Google Shape;840;p7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1" name="Google Shape;841;p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2" name="Google Shape;842;p7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843" name="Google Shape;843;p73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4" name="Google Shape;844;p7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7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7" name="Google Shape;847;p7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7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74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0" name="Google Shape;850;p74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1" name="Google Shape;851;p74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7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4" name="Google Shape;854;p7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55" name="Google Shape;855;p7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75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7" name="Google Shape;857;p75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8" name="Google Shape;858;p75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7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1" name="Google Shape;861;p7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62" name="Google Shape;862;p76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3" name="Google Shape;863;p76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4" name="Google Shape;864;p76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5" name="Google Shape;865;p76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6" name="Google Shape;866;p7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7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9" name="Google Shape;869;p7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70" name="Google Shape;870;p77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1" name="Google Shape;871;p77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2" name="Google Shape;872;p77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3" name="Google Shape;873;p77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4" name="Google Shape;874;p7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7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7" name="Google Shape;877;p7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78" name="Google Shape;878;p78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9" name="Google Shape;879;p78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0" name="Google Shape;880;p78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1" name="Google Shape;881;p78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2" name="Google Shape;882;p78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3" name="Google Shape;883;p7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7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6" name="Google Shape;886;p7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87" name="Google Shape;887;p79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8" name="Google Shape;888;p79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9" name="Google Shape;889;p79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90" name="Google Shape;890;p79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91" name="Google Shape;891;p79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2" name="Google Shape;892;p79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8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5" name="Google Shape;895;p80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6" name="Google Shape;896;p80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7" name="Google Shape;897;p80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8" name="Google Shape;898;p80"/>
          <p:cNvCxnSpPr>
            <a:endCxn id="899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00" name="Google Shape;900;p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01" name="Google Shape;901;p80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2" name="Google Shape;902;p80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899" name="Google Shape;899;p8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3" name="Google Shape;903;p80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04" name="Google Shape;904;p8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5" name="Google Shape;905;p80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7" name="Google Shape;907;p8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8" name="Google Shape;908;p8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9" name="Google Shape;909;p81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0" name="Google Shape;910;p8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8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2" name="Google Shape;912;p8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3" name="Google Shape;913;p81"/>
          <p:cNvCxnSpPr>
            <a:endCxn id="914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14" name="Google Shape;914;p8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p8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16" name="Google Shape;916;p81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7" name="Google Shape;917;p81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8" name="Google Shape;918;p81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19" name="Google Shape;919;p8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20" name="Google Shape;920;p8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1" name="Google Shape;921;p81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22" name="Google Shape;922;p8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3" name="Google Shape;923;p81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5" name="Google Shape;925;p82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6" name="Google Shape;926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7" name="Google Shape;927;p82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8" name="Google Shape;928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9" name="Google Shape;929;p82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0" name="Google Shape;930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1" name="Google Shape;931;p82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2" name="Google Shape;932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3" name="Google Shape;933;p82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34" name="Google Shape;934;p8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5" name="Google Shape;935;p8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36" name="Google Shape;936;p8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37" name="Google Shape;937;p82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8" name="Google Shape;938;p82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9" name="Google Shape;939;p82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0" name="Google Shape;940;p82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41" name="Google Shape;941;p8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Google Shape;942;p82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3" name="Google Shape;943;p82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44" name="Google Shape;944;p82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5" name="Google Shape;945;p82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7" name="Google Shape;947;p8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48" name="Google Shape;948;p83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8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50" name="Google Shape;950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1" name="Google Shape;951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2" name="Google Shape;952;p8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4" name="Google Shape;954;p8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55" name="Google Shape;955;p8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8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57" name="Google Shape;957;p8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8" name="Google Shape;958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9" name="Google Shape;959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1" name="Google Shape;961;p8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2" name="Google Shape;962;p8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8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64" name="Google Shape;964;p8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5" name="Google Shape;965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66" name="Google Shape;966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8" name="Google Shape;968;p8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9" name="Google Shape;969;p8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8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71" name="Google Shape;971;p86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2" name="Google Shape;972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73" name="Google Shape;973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8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6" name="Google Shape;976;p8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77" name="Google Shape;977;p8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8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79" name="Google Shape;979;p8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0" name="Google Shape;980;p87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81" name="Google Shape;981;p8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82" name="Google Shape;982;p8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3" name="Google Shape;983;p8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84" name="Google Shape;984;p8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85" name="Google Shape;985;p8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6" name="Google Shape;986;p8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88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9" name="Google Shape;989;p8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90" name="Google Shape;990;p8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8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2" name="Google Shape;992;p8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3" name="Google Shape;993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94" name="Google Shape;994;p8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95" name="Google Shape;995;p8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6" name="Google Shape;996;p8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97" name="Google Shape;997;p8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98" name="Google Shape;998;p8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9" name="Google Shape;999;p8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89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02" name="Google Shape;1002;p8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03" name="Google Shape;1003;p8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8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5" name="Google Shape;1005;p8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6" name="Google Shape;1006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07" name="Google Shape;1007;p8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08" name="Google Shape;1008;p8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9" name="Google Shape;1009;p8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10" name="Google Shape;1010;p8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11" name="Google Shape;1011;p8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2" name="Google Shape;1012;p8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90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15" name="Google Shape;1015;p9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16" name="Google Shape;1016;p9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90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8" name="Google Shape;1018;p90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9" name="Google Shape;1019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20" name="Google Shape;1020;p90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21" name="Google Shape;1021;p9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2" name="Google Shape;1022;p90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23" name="Google Shape;1023;p90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24" name="Google Shape;1024;p9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5" name="Google Shape;1025;p90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Google Shape;1027;p9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Google Shape;1028;p9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9" name="Google Shape;1029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30" name="Google Shape;1030;p9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9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2" name="Google Shape;1032;p9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3" name="Google Shape;1033;p9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4" name="Google Shape;1034;p91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5" name="Google Shape;1035;p91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6" name="Google Shape;1036;p9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037" name="Google Shape;1037;p9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8" name="Google Shape;1038;p9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9" name="Google Shape;1039;p9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0" name="Google Shape;1040;p9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1" name="Google Shape;1041;p9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2" name="Google Shape;1042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43" name="Google Shape;1043;p9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44" name="Google Shape;1044;p9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5" name="Google Shape;1045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6" name="Google Shape;1046;p9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47" name="Google Shape;1047;p9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8" name="Google Shape;1048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0" name="Google Shape;1050;p9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51" name="Google Shape;1051;p9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9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3" name="Google Shape;1053;p9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4" name="Google Shape;1054;p9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5" name="Google Shape;1055;p9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56" name="Google Shape;1056;p9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57" name="Google Shape;1057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8" name="Google Shape;1058;p9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9" name="Google Shape;1059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0" name="Google Shape;1060;p9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61" name="Google Shape;1061;p9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62" name="Google Shape;1062;p9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63" name="Google Shape;1063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4" name="Google Shape;1064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65" name="Google Shape;1065;p9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66" name="Google Shape;1066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7" name="Google Shape;1067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68" name="Google Shape;1068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9" name="Google Shape;1069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0" name="Google Shape;1070;p9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1" name="Google Shape;1071;p9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9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74" name="Google Shape;1074;p9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5" name="Google Shape;1075;p9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6" name="Google Shape;1076;p9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7" name="Google Shape;1077;p9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8" name="Google Shape;1078;p9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79" name="Google Shape;1079;p9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80" name="Google Shape;1080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1" name="Google Shape;1081;p9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2" name="Google Shape;1082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3" name="Google Shape;1083;p9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84" name="Google Shape;1084;p9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85" name="Google Shape;1085;p9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86" name="Google Shape;1086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7" name="Google Shape;1087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8" name="Google Shape;1088;p9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89" name="Google Shape;1089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0" name="Google Shape;1090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91" name="Google Shape;1091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2" name="Google Shape;1092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3" name="Google Shape;1093;p9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4" name="Google Shape;1094;p9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6" name="Google Shape;1096;p9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97" name="Google Shape;1097;p9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94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9" name="Google Shape;1099;p94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0" name="Google Shape;1100;p94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1" name="Google Shape;1101;p94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2" name="Google Shape;1102;p94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103" name="Google Shape;1103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4" name="Google Shape;1104;p9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5" name="Google Shape;1105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6" name="Google Shape;1106;p94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7" name="Google Shape;1107;p94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08" name="Google Shape;1108;p94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109" name="Google Shape;1109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0" name="Google Shape;1110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1" name="Google Shape;1111;p94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112" name="Google Shape;1112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3" name="Google Shape;1113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14" name="Google Shape;1114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5" name="Google Shape;1115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6" name="Google Shape;1116;p94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7" name="Google Shape;1117;p94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9" name="Google Shape;1119;p9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20" name="Google Shape;1120;p9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p9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22" name="Google Shape;1122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3" name="Google Shape;1123;p9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4" name="Google Shape;1124;p9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5" name="Google Shape;1125;p9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6" name="Google Shape;1126;p9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7" name="Google Shape;1127;p9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28" name="Google Shape;1128;p9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29" name="Google Shape;1129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0" name="Google Shape;1130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1" name="Google Shape;1131;p9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32" name="Google Shape;1132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3" name="Google Shape;1133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4" name="Google Shape;1134;p9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35" name="Google Shape;1135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6" name="Google Shape;1136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8" name="Google Shape;1138;p9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39" name="Google Shape;1139;p9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9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41" name="Google Shape;1141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2" name="Google Shape;1142;p9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3" name="Google Shape;1143;p9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4" name="Google Shape;1144;p9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5" name="Google Shape;1145;p9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6" name="Google Shape;1146;p9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47" name="Google Shape;1147;p9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48" name="Google Shape;1148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9" name="Google Shape;1149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0" name="Google Shape;1150;p9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51" name="Google Shape;1151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2" name="Google Shape;1152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3" name="Google Shape;1153;p9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54" name="Google Shape;1154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5" name="Google Shape;1155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7" name="Google Shape;1157;p9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58" name="Google Shape;1158;p9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9" name="Google Shape;1159;p9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60" name="Google Shape;1160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1" name="Google Shape;1161;p9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2" name="Google Shape;1162;p9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63" name="Google Shape;1163;p9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4" name="Google Shape;1164;p9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5" name="Google Shape;1165;p9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66" name="Google Shape;1166;p9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67" name="Google Shape;1167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8" name="Google Shape;1168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9" name="Google Shape;1169;p9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70" name="Google Shape;1170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1" name="Google Shape;1171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2" name="Google Shape;1172;p9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73" name="Google Shape;1173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4" name="Google Shape;1174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6" name="Google Shape;1176;p9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7" name="Google Shape;1177;p9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8" name="Google Shape;1178;p9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79" name="Google Shape;1179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0" name="Google Shape;1180;p9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1" name="Google Shape;1181;p9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82" name="Google Shape;1182;p98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3" name="Google Shape;1183;p98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4" name="Google Shape;1184;p98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85" name="Google Shape;1185;p98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86" name="Google Shape;1186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7" name="Google Shape;1187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8" name="Google Shape;1188;p98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89" name="Google Shape;1189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0" name="Google Shape;1190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1" name="Google Shape;1191;p98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92" name="Google Shape;1192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3" name="Google Shape;1193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5" name="Google Shape;1195;p9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96" name="Google Shape;1196;p9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7" name="Google Shape;1197;p9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98" name="Google Shape;1198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9" name="Google Shape;1199;p9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0" name="Google Shape;1200;p9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01" name="Google Shape;1201;p9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2" name="Google Shape;1202;p9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3" name="Google Shape;1203;p9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4" name="Google Shape;1204;p9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05" name="Google Shape;1205;p9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06" name="Google Shape;1206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7" name="Google Shape;1207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8" name="Google Shape;1208;p9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09" name="Google Shape;1209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0" name="Google Shape;1210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1" name="Google Shape;1211;p9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12" name="Google Shape;1212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3" name="Google Shape;1213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4" name="Google Shape;1214;p9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15" name="Google Shape;1215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6" name="Google Shape;1216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8" name="Google Shape;1218;p10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9" name="Google Shape;1219;p10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0" name="Google Shape;1220;p10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21" name="Google Shape;1221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2" name="Google Shape;1222;p10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3" name="Google Shape;1223;p10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4" name="Google Shape;1224;p10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5" name="Google Shape;1225;p10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6" name="Google Shape;1226;p10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7" name="Google Shape;1227;p10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28" name="Google Shape;1228;p10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29" name="Google Shape;1229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0" name="Google Shape;1230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1" name="Google Shape;1231;p10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32" name="Google Shape;1232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3" name="Google Shape;1233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4" name="Google Shape;1234;p10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35" name="Google Shape;1235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6" name="Google Shape;1236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7" name="Google Shape;1237;p10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38" name="Google Shape;1238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9" name="Google Shape;1239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1240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1" name="Google Shape;1241;p10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2" name="Google Shape;1242;p10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10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44" name="Google Shape;1244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5" name="Google Shape;1245;p10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6" name="Google Shape;1246;p10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47" name="Google Shape;1247;p10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8" name="Google Shape;1248;p10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9" name="Google Shape;1249;p10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50" name="Google Shape;1250;p10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51" name="Google Shape;1251;p10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52" name="Google Shape;1252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3" name="Google Shape;1253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4" name="Google Shape;1254;p10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55" name="Google Shape;1255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6" name="Google Shape;1256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7" name="Google Shape;1257;p10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58" name="Google Shape;1258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9" name="Google Shape;1259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0" name="Google Shape;1260;p10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61" name="Google Shape;1261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2" name="Google Shape;1262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4" name="Google Shape;1264;p10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65" name="Google Shape;1265;p10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p102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67" name="Google Shape;1267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8" name="Google Shape;1268;p10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9" name="Google Shape;1269;p10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70" name="Google Shape;1270;p102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1" name="Google Shape;1271;p102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2" name="Google Shape;1272;p102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3" name="Google Shape;1273;p102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74" name="Google Shape;1274;p102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75" name="Google Shape;1275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6" name="Google Shape;1276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7" name="Google Shape;1277;p102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78" name="Google Shape;1278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9" name="Google Shape;1279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0" name="Google Shape;1280;p102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81" name="Google Shape;1281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2" name="Google Shape;1282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3" name="Google Shape;1283;p102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84" name="Google Shape;1284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5" name="Google Shape;1285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7" name="Google Shape;1287;p10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88" name="Google Shape;1288;p10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9" name="Google Shape;1289;p10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90" name="Google Shape;1290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1" name="Google Shape;1291;p10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2" name="Google Shape;1292;p10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3" name="Google Shape;1293;p10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4" name="Google Shape;1294;p10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5" name="Google Shape;1295;p10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296" name="Google Shape;1296;p10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297" name="Google Shape;1297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8" name="Google Shape;1298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9" name="Google Shape;1299;p10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00" name="Google Shape;1300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1" name="Google Shape;1301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2" name="Google Shape;1302;p10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03" name="Google Shape;1303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4" name="Google Shape;1304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1305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6" name="Google Shape;1306;p10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07" name="Google Shape;1307;p10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Google Shape;1308;p10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09" name="Google Shape;1309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0" name="Google Shape;1310;p10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1" name="Google Shape;1311;p10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12" name="Google Shape;1312;p10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13" name="Google Shape;1313;p10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14" name="Google Shape;1314;p10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15" name="Google Shape;1315;p10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16" name="Google Shape;1316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7" name="Google Shape;1317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18" name="Google Shape;1318;p10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19" name="Google Shape;1319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0" name="Google Shape;1320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1" name="Google Shape;1321;p10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22" name="Google Shape;1322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3" name="Google Shape;1323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1324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5" name="Google Shape;1325;p10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6" name="Google Shape;1326;p10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7" name="Google Shape;1327;p10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28" name="Google Shape;1328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9" name="Google Shape;1329;p10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0" name="Google Shape;1330;p10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31" name="Google Shape;1331;p10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32" name="Google Shape;1332;p10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33" name="Google Shape;1333;p10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34" name="Google Shape;1334;p10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35" name="Google Shape;1335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6" name="Google Shape;1336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37" name="Google Shape;1337;p10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38" name="Google Shape;1338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9" name="Google Shape;1339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0" name="Google Shape;1340;p10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41" name="Google Shape;1341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2" name="Google Shape;1342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4" name="Google Shape;1344;p10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45" name="Google Shape;1345;p10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6" name="Google Shape;1346;p10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47" name="Google Shape;1347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8" name="Google Shape;1348;p10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9" name="Google Shape;1349;p10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50" name="Google Shape;1350;p106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51" name="Google Shape;1351;p106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52" name="Google Shape;1352;p106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53" name="Google Shape;1353;p106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54" name="Google Shape;1354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5" name="Google Shape;1355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6" name="Google Shape;1356;p106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57" name="Google Shape;1357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8" name="Google Shape;1358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9" name="Google Shape;1359;p106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60" name="Google Shape;1360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1" name="Google Shape;1361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1362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3" name="Google Shape;1363;p10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64" name="Google Shape;1364;p10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5" name="Google Shape;1365;p10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66" name="Google Shape;1366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7" name="Google Shape;1367;p10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8" name="Google Shape;1368;p10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1369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0" name="Google Shape;1370;p10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1" name="Google Shape;1371;p10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p10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73" name="Google Shape;1373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4" name="Google Shape;1374;p10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5" name="Google Shape;1375;p10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7" name="Google Shape;1377;p10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8" name="Google Shape;1378;p10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9" name="Google Shape;1379;p10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80" name="Google Shape;1380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1" name="Google Shape;1381;p10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2" name="Google Shape;1382;p10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4" name="Google Shape;1384;p11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5" name="Google Shape;1385;p11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6" name="Google Shape;1386;p11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87" name="Google Shape;1387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8" name="Google Shape;1388;p11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9" name="Google Shape;1389;p11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1" name="Google Shape;1391;p1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92" name="Google Shape;1392;p11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3" name="Google Shape;1393;p11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4" name="Google Shape;1394;p11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5" name="Google Shape;1395;p11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396" name="Google Shape;1396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7" name="Google Shape;1397;p11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9" name="Google Shape;1399;p11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0" name="Google Shape;1400;p11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1" name="Google Shape;1401;p11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2" name="Google Shape;1402;p11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3" name="Google Shape;1403;p11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4" name="Google Shape;1404;p11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05" name="Google Shape;1405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1406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7" name="Google Shape;1407;p11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8" name="Google Shape;1408;p11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9" name="Google Shape;1409;p11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0" name="Google Shape;1410;p11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1" name="Google Shape;1411;p11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2" name="Google Shape;1412;p11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13" name="Google Shape;1413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1414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5" name="Google Shape;1415;p11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16" name="Google Shape;1416;p1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7" name="Google Shape;1417;p11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8" name="Google Shape;1418;p11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9" name="Google Shape;1419;p114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0" name="Google Shape;1420;p11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21" name="Google Shape;1421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3" name="Google Shape;1423;p1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4" name="Google Shape;1424;p11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5" name="Google Shape;1425;p11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6" name="Google Shape;1426;p115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7" name="Google Shape;1427;p11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28" name="Google Shape;1428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9" name="Google Shape;1429;p11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1430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1" name="Google Shape;1431;p11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32" name="Google Shape;1432;p11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3" name="Google Shape;1433;p11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4" name="Google Shape;1434;p11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5" name="Google Shape;1435;p11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36" name="Google Shape;1436;p11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37" name="Google Shape;1437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1438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9" name="Google Shape;1439;p11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40" name="Google Shape;1440;p11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1" name="Google Shape;1441;p11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2" name="Google Shape;1442;p11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3" name="Google Shape;1443;p11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4" name="Google Shape;1444;p11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5" name="Google Shape;1445;p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1446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7" name="Google Shape;1447;p11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48" name="Google Shape;1448;p1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9" name="Google Shape;1449;p11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0" name="Google Shape;1450;p118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1" name="Google Shape;1451;p11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52" name="Google Shape;1452;p11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53" name="Google Shape;1453;p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1454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Google Shape;1455;p119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6" name="Google Shape;1456;p11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57" name="Google Shape;1457;p11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8" name="Google Shape;1458;p11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9" name="Google Shape;1459;p119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1460" name="Shape 1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Google Shape;1461;p120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2" name="Google Shape;1462;p120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3" name="Google Shape;1463;p120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64" name="Google Shape;1464;p120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5" name="Google Shape;1465;p120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1466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7" name="Google Shape;1467;p1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1468" name="Google Shape;1468;p121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1469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p122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1" name="Google Shape;1471;p122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2" name="Google Shape;1472;p122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3" name="Google Shape;1473;p122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4" name="Google Shape;1474;p122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5" name="Google Shape;1475;p122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6" name="Google Shape;1476;p122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7" name="Google Shape;1477;p122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8" name="Google Shape;1478;p122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1479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0" name="Google Shape;1480;p1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81" name="Google Shape;1481;p123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1482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p124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theme" Target="../theme/theme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99.xml"/><Relationship Id="rId42" Type="http://schemas.openxmlformats.org/officeDocument/2006/relationships/slideLayout" Target="../slideLayouts/slideLayout101.xml"/><Relationship Id="rId41" Type="http://schemas.openxmlformats.org/officeDocument/2006/relationships/slideLayout" Target="../slideLayouts/slideLayout100.xml"/><Relationship Id="rId44" Type="http://schemas.openxmlformats.org/officeDocument/2006/relationships/slideLayout" Target="../slideLayouts/slideLayout103.xml"/><Relationship Id="rId43" Type="http://schemas.openxmlformats.org/officeDocument/2006/relationships/slideLayout" Target="../slideLayouts/slideLayout102.xml"/><Relationship Id="rId46" Type="http://schemas.openxmlformats.org/officeDocument/2006/relationships/slideLayout" Target="../slideLayouts/slideLayout105.xml"/><Relationship Id="rId45" Type="http://schemas.openxmlformats.org/officeDocument/2006/relationships/slideLayout" Target="../slideLayouts/slideLayout104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Relationship Id="rId48" Type="http://schemas.openxmlformats.org/officeDocument/2006/relationships/slideLayout" Target="../slideLayouts/slideLayout107.xml"/><Relationship Id="rId47" Type="http://schemas.openxmlformats.org/officeDocument/2006/relationships/slideLayout" Target="../slideLayouts/slideLayout106.xml"/><Relationship Id="rId49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31" Type="http://schemas.openxmlformats.org/officeDocument/2006/relationships/slideLayout" Target="../slideLayouts/slideLayout90.xml"/><Relationship Id="rId30" Type="http://schemas.openxmlformats.org/officeDocument/2006/relationships/slideLayout" Target="../slideLayouts/slideLayout89.xml"/><Relationship Id="rId33" Type="http://schemas.openxmlformats.org/officeDocument/2006/relationships/slideLayout" Target="../slideLayouts/slideLayout92.xml"/><Relationship Id="rId32" Type="http://schemas.openxmlformats.org/officeDocument/2006/relationships/slideLayout" Target="../slideLayouts/slideLayout91.xml"/><Relationship Id="rId35" Type="http://schemas.openxmlformats.org/officeDocument/2006/relationships/slideLayout" Target="../slideLayouts/slideLayout94.xml"/><Relationship Id="rId34" Type="http://schemas.openxmlformats.org/officeDocument/2006/relationships/slideLayout" Target="../slideLayouts/slideLayout93.xml"/><Relationship Id="rId37" Type="http://schemas.openxmlformats.org/officeDocument/2006/relationships/slideLayout" Target="../slideLayouts/slideLayout96.xml"/><Relationship Id="rId36" Type="http://schemas.openxmlformats.org/officeDocument/2006/relationships/slideLayout" Target="../slideLayouts/slideLayout95.xml"/><Relationship Id="rId39" Type="http://schemas.openxmlformats.org/officeDocument/2006/relationships/slideLayout" Target="../slideLayouts/slideLayout98.xml"/><Relationship Id="rId38" Type="http://schemas.openxmlformats.org/officeDocument/2006/relationships/slideLayout" Target="../slideLayouts/slideLayout97.xml"/><Relationship Id="rId62" Type="http://schemas.openxmlformats.org/officeDocument/2006/relationships/slideLayout" Target="../slideLayouts/slideLayout121.xml"/><Relationship Id="rId61" Type="http://schemas.openxmlformats.org/officeDocument/2006/relationships/slideLayout" Target="../slideLayouts/slideLayout120.xml"/><Relationship Id="rId20" Type="http://schemas.openxmlformats.org/officeDocument/2006/relationships/slideLayout" Target="../slideLayouts/slideLayout79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122.xml"/><Relationship Id="rId22" Type="http://schemas.openxmlformats.org/officeDocument/2006/relationships/slideLayout" Target="../slideLayouts/slideLayout81.xml"/><Relationship Id="rId21" Type="http://schemas.openxmlformats.org/officeDocument/2006/relationships/slideLayout" Target="../slideLayouts/slideLayout80.xml"/><Relationship Id="rId24" Type="http://schemas.openxmlformats.org/officeDocument/2006/relationships/slideLayout" Target="../slideLayouts/slideLayout83.xml"/><Relationship Id="rId23" Type="http://schemas.openxmlformats.org/officeDocument/2006/relationships/slideLayout" Target="../slideLayouts/slideLayout82.xml"/><Relationship Id="rId60" Type="http://schemas.openxmlformats.org/officeDocument/2006/relationships/slideLayout" Target="../slideLayouts/slideLayout119.xml"/><Relationship Id="rId26" Type="http://schemas.openxmlformats.org/officeDocument/2006/relationships/slideLayout" Target="../slideLayouts/slideLayout85.xml"/><Relationship Id="rId25" Type="http://schemas.openxmlformats.org/officeDocument/2006/relationships/slideLayout" Target="../slideLayouts/slideLayout84.xml"/><Relationship Id="rId28" Type="http://schemas.openxmlformats.org/officeDocument/2006/relationships/slideLayout" Target="../slideLayouts/slideLayout87.xml"/><Relationship Id="rId27" Type="http://schemas.openxmlformats.org/officeDocument/2006/relationships/slideLayout" Target="../slideLayouts/slideLayout86.xml"/><Relationship Id="rId29" Type="http://schemas.openxmlformats.org/officeDocument/2006/relationships/slideLayout" Target="../slideLayouts/slideLayout88.xml"/><Relationship Id="rId51" Type="http://schemas.openxmlformats.org/officeDocument/2006/relationships/slideLayout" Target="../slideLayouts/slideLayout110.xml"/><Relationship Id="rId50" Type="http://schemas.openxmlformats.org/officeDocument/2006/relationships/slideLayout" Target="../slideLayouts/slideLayout109.xml"/><Relationship Id="rId53" Type="http://schemas.openxmlformats.org/officeDocument/2006/relationships/slideLayout" Target="../slideLayouts/slideLayout112.xml"/><Relationship Id="rId52" Type="http://schemas.openxmlformats.org/officeDocument/2006/relationships/slideLayout" Target="../slideLayouts/slideLayout111.xml"/><Relationship Id="rId11" Type="http://schemas.openxmlformats.org/officeDocument/2006/relationships/slideLayout" Target="../slideLayouts/slideLayout70.xml"/><Relationship Id="rId55" Type="http://schemas.openxmlformats.org/officeDocument/2006/relationships/slideLayout" Target="../slideLayouts/slideLayout114.xml"/><Relationship Id="rId10" Type="http://schemas.openxmlformats.org/officeDocument/2006/relationships/slideLayout" Target="../slideLayouts/slideLayout69.xml"/><Relationship Id="rId54" Type="http://schemas.openxmlformats.org/officeDocument/2006/relationships/slideLayout" Target="../slideLayouts/slideLayout113.xml"/><Relationship Id="rId13" Type="http://schemas.openxmlformats.org/officeDocument/2006/relationships/slideLayout" Target="../slideLayouts/slideLayout72.xml"/><Relationship Id="rId57" Type="http://schemas.openxmlformats.org/officeDocument/2006/relationships/slideLayout" Target="../slideLayouts/slideLayout116.xml"/><Relationship Id="rId12" Type="http://schemas.openxmlformats.org/officeDocument/2006/relationships/slideLayout" Target="../slideLayouts/slideLayout71.xml"/><Relationship Id="rId56" Type="http://schemas.openxmlformats.org/officeDocument/2006/relationships/slideLayout" Target="../slideLayouts/slideLayout115.xml"/><Relationship Id="rId15" Type="http://schemas.openxmlformats.org/officeDocument/2006/relationships/slideLayout" Target="../slideLayouts/slideLayout74.xml"/><Relationship Id="rId59" Type="http://schemas.openxmlformats.org/officeDocument/2006/relationships/slideLayout" Target="../slideLayouts/slideLayout118.xml"/><Relationship Id="rId14" Type="http://schemas.openxmlformats.org/officeDocument/2006/relationships/slideLayout" Target="../slideLayouts/slideLayout73.xml"/><Relationship Id="rId58" Type="http://schemas.openxmlformats.org/officeDocument/2006/relationships/slideLayout" Target="../slideLayouts/slideLayout117.xml"/><Relationship Id="rId17" Type="http://schemas.openxmlformats.org/officeDocument/2006/relationships/slideLayout" Target="../slideLayouts/slideLayout76.xml"/><Relationship Id="rId16" Type="http://schemas.openxmlformats.org/officeDocument/2006/relationships/slideLayout" Target="../slideLayouts/slideLayout75.xml"/><Relationship Id="rId19" Type="http://schemas.openxmlformats.org/officeDocument/2006/relationships/slideLayout" Target="../slideLayouts/slideLayout78.xml"/><Relationship Id="rId18" Type="http://schemas.openxmlformats.org/officeDocument/2006/relationships/slideLayout" Target="../slideLayouts/slideLayout7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2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45" name="Google Shape;745;p62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746" name="Google Shape;746;p6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27" r:id="rId21"/>
    <p:sldLayoutId id="2147483728" r:id="rId22"/>
    <p:sldLayoutId id="2147483729" r:id="rId23"/>
    <p:sldLayoutId id="2147483730" r:id="rId24"/>
    <p:sldLayoutId id="2147483731" r:id="rId25"/>
    <p:sldLayoutId id="2147483732" r:id="rId26"/>
    <p:sldLayoutId id="2147483733" r:id="rId27"/>
    <p:sldLayoutId id="2147483734" r:id="rId28"/>
    <p:sldLayoutId id="2147483735" r:id="rId29"/>
    <p:sldLayoutId id="2147483736" r:id="rId30"/>
    <p:sldLayoutId id="2147483737" r:id="rId31"/>
    <p:sldLayoutId id="2147483738" r:id="rId32"/>
    <p:sldLayoutId id="2147483739" r:id="rId33"/>
    <p:sldLayoutId id="2147483740" r:id="rId34"/>
    <p:sldLayoutId id="2147483741" r:id="rId35"/>
    <p:sldLayoutId id="2147483742" r:id="rId36"/>
    <p:sldLayoutId id="2147483743" r:id="rId37"/>
    <p:sldLayoutId id="2147483744" r:id="rId38"/>
    <p:sldLayoutId id="2147483745" r:id="rId39"/>
    <p:sldLayoutId id="2147483746" r:id="rId40"/>
    <p:sldLayoutId id="2147483747" r:id="rId41"/>
    <p:sldLayoutId id="2147483748" r:id="rId42"/>
    <p:sldLayoutId id="2147483749" r:id="rId43"/>
    <p:sldLayoutId id="2147483750" r:id="rId44"/>
    <p:sldLayoutId id="2147483751" r:id="rId45"/>
    <p:sldLayoutId id="2147483752" r:id="rId46"/>
    <p:sldLayoutId id="2147483753" r:id="rId47"/>
    <p:sldLayoutId id="2147483754" r:id="rId48"/>
    <p:sldLayoutId id="2147483755" r:id="rId49"/>
    <p:sldLayoutId id="2147483756" r:id="rId50"/>
    <p:sldLayoutId id="2147483757" r:id="rId51"/>
    <p:sldLayoutId id="2147483758" r:id="rId52"/>
    <p:sldLayoutId id="2147483759" r:id="rId53"/>
    <p:sldLayoutId id="2147483760" r:id="rId54"/>
    <p:sldLayoutId id="2147483761" r:id="rId55"/>
    <p:sldLayoutId id="2147483762" r:id="rId56"/>
    <p:sldLayoutId id="2147483763" r:id="rId57"/>
    <p:sldLayoutId id="2147483764" r:id="rId58"/>
    <p:sldLayoutId id="2147483765" r:id="rId59"/>
    <p:sldLayoutId id="2147483766" r:id="rId60"/>
    <p:sldLayoutId id="2147483767" r:id="rId61"/>
    <p:sldLayoutId id="2147483768" r:id="rId62"/>
    <p:sldLayoutId id="214748376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5.png"/><Relationship Id="rId4" Type="http://schemas.openxmlformats.org/officeDocument/2006/relationships/image" Target="../media/image100.png"/><Relationship Id="rId5" Type="http://schemas.openxmlformats.org/officeDocument/2006/relationships/image" Target="../media/image9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9.png"/><Relationship Id="rId4" Type="http://schemas.openxmlformats.org/officeDocument/2006/relationships/image" Target="../media/image100.png"/><Relationship Id="rId5" Type="http://schemas.openxmlformats.org/officeDocument/2006/relationships/image" Target="../media/image9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5.png"/><Relationship Id="rId4" Type="http://schemas.openxmlformats.org/officeDocument/2006/relationships/image" Target="../media/image9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5.png"/><Relationship Id="rId4" Type="http://schemas.openxmlformats.org/officeDocument/2006/relationships/image" Target="../media/image9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9.png"/><Relationship Id="rId4" Type="http://schemas.openxmlformats.org/officeDocument/2006/relationships/image" Target="../media/image100.png"/><Relationship Id="rId9" Type="http://schemas.openxmlformats.org/officeDocument/2006/relationships/image" Target="../media/image106.png"/><Relationship Id="rId5" Type="http://schemas.openxmlformats.org/officeDocument/2006/relationships/image" Target="../media/image95.png"/><Relationship Id="rId6" Type="http://schemas.openxmlformats.org/officeDocument/2006/relationships/image" Target="../media/image108.png"/><Relationship Id="rId7" Type="http://schemas.openxmlformats.org/officeDocument/2006/relationships/image" Target="../media/image109.png"/><Relationship Id="rId8" Type="http://schemas.openxmlformats.org/officeDocument/2006/relationships/image" Target="../media/image107.png"/><Relationship Id="rId11" Type="http://schemas.openxmlformats.org/officeDocument/2006/relationships/image" Target="../media/image101.png"/><Relationship Id="rId10" Type="http://schemas.openxmlformats.org/officeDocument/2006/relationships/image" Target="../media/image103.png"/><Relationship Id="rId13" Type="http://schemas.openxmlformats.org/officeDocument/2006/relationships/image" Target="../media/image102.png"/><Relationship Id="rId12" Type="http://schemas.openxmlformats.org/officeDocument/2006/relationships/image" Target="../media/image104.png"/><Relationship Id="rId15" Type="http://schemas.openxmlformats.org/officeDocument/2006/relationships/image" Target="../media/image111.png"/><Relationship Id="rId14" Type="http://schemas.openxmlformats.org/officeDocument/2006/relationships/image" Target="../media/image105.png"/><Relationship Id="rId17" Type="http://schemas.openxmlformats.org/officeDocument/2006/relationships/image" Target="../media/image114.png"/><Relationship Id="rId16" Type="http://schemas.openxmlformats.org/officeDocument/2006/relationships/image" Target="../media/image1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0.png"/><Relationship Id="rId4" Type="http://schemas.openxmlformats.org/officeDocument/2006/relationships/image" Target="../media/image95.png"/><Relationship Id="rId5" Type="http://schemas.openxmlformats.org/officeDocument/2006/relationships/image" Target="../media/image9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9.png"/><Relationship Id="rId4" Type="http://schemas.openxmlformats.org/officeDocument/2006/relationships/image" Target="../media/image100.png"/><Relationship Id="rId9" Type="http://schemas.openxmlformats.org/officeDocument/2006/relationships/image" Target="../media/image106.png"/><Relationship Id="rId5" Type="http://schemas.openxmlformats.org/officeDocument/2006/relationships/image" Target="../media/image95.png"/><Relationship Id="rId6" Type="http://schemas.openxmlformats.org/officeDocument/2006/relationships/image" Target="../media/image108.png"/><Relationship Id="rId7" Type="http://schemas.openxmlformats.org/officeDocument/2006/relationships/image" Target="../media/image109.png"/><Relationship Id="rId8" Type="http://schemas.openxmlformats.org/officeDocument/2006/relationships/image" Target="../media/image107.png"/><Relationship Id="rId11" Type="http://schemas.openxmlformats.org/officeDocument/2006/relationships/image" Target="../media/image101.png"/><Relationship Id="rId10" Type="http://schemas.openxmlformats.org/officeDocument/2006/relationships/image" Target="../media/image103.png"/><Relationship Id="rId13" Type="http://schemas.openxmlformats.org/officeDocument/2006/relationships/image" Target="../media/image102.png"/><Relationship Id="rId12" Type="http://schemas.openxmlformats.org/officeDocument/2006/relationships/image" Target="../media/image104.png"/><Relationship Id="rId15" Type="http://schemas.openxmlformats.org/officeDocument/2006/relationships/image" Target="../media/image111.png"/><Relationship Id="rId14" Type="http://schemas.openxmlformats.org/officeDocument/2006/relationships/image" Target="../media/image105.png"/><Relationship Id="rId17" Type="http://schemas.openxmlformats.org/officeDocument/2006/relationships/image" Target="../media/image114.png"/><Relationship Id="rId16" Type="http://schemas.openxmlformats.org/officeDocument/2006/relationships/image" Target="../media/image11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9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15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p12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rounding</a:t>
            </a:r>
            <a:endParaRPr/>
          </a:p>
        </p:txBody>
      </p:sp>
      <p:sp>
        <p:nvSpPr>
          <p:cNvPr id="1489" name="Google Shape;1489;p125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Estimation and rounding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93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p126"/>
          <p:cNvSpPr txBox="1"/>
          <p:nvPr/>
        </p:nvSpPr>
        <p:spPr>
          <a:xfrm>
            <a:off x="5655175" y="9530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8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p127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round to the nearest 100 or 10 or whole number or to 1 or 2 decimal places.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3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p128"/>
          <p:cNvSpPr txBox="1"/>
          <p:nvPr>
            <p:ph idx="1" type="subTitle"/>
          </p:nvPr>
        </p:nvSpPr>
        <p:spPr>
          <a:xfrm>
            <a:off x="306950" y="1065000"/>
            <a:ext cx="7767300" cy="157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Rounding </a:t>
            </a:r>
            <a:r>
              <a:rPr b="0" lang="en-GB"/>
              <a:t>means t</a:t>
            </a:r>
            <a:r>
              <a:rPr b="0" lang="en-GB"/>
              <a:t>o change a number into another number that is approximately the same value but is easier to work with. E.g. </a:t>
            </a:r>
            <a:r>
              <a:rPr lang="en-GB"/>
              <a:t>round</a:t>
            </a:r>
            <a:r>
              <a:rPr b="0" lang="en-GB"/>
              <a:t> 561 to the nearest 10 is 560. </a:t>
            </a:r>
            <a:endParaRPr b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8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Google Shape;1509;p129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10, 100 &amp; 1000</a:t>
            </a:r>
            <a:endParaRPr/>
          </a:p>
        </p:txBody>
      </p:sp>
      <p:sp>
        <p:nvSpPr>
          <p:cNvPr id="1510" name="Google Shape;1510;p129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the nearest whole number</a:t>
            </a:r>
            <a:endParaRPr/>
          </a:p>
        </p:txBody>
      </p:sp>
      <p:sp>
        <p:nvSpPr>
          <p:cNvPr id="1511" name="Google Shape;1511;p129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rounding</a:t>
            </a:r>
            <a:endParaRPr/>
          </a:p>
        </p:txBody>
      </p:sp>
      <p:sp>
        <p:nvSpPr>
          <p:cNvPr id="1512" name="Google Shape;1512;p129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one or two decimal places</a:t>
            </a:r>
            <a:endParaRPr/>
          </a:p>
        </p:txBody>
      </p:sp>
      <p:pic>
        <p:nvPicPr>
          <p:cNvPr id="1513" name="Google Shape;1513;p1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375" y="17410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7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p1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10, 100 &amp; 1000</a:t>
            </a:r>
            <a:endParaRPr/>
          </a:p>
        </p:txBody>
      </p:sp>
      <p:sp>
        <p:nvSpPr>
          <p:cNvPr id="1519" name="Google Shape;1519;p130"/>
          <p:cNvSpPr txBox="1"/>
          <p:nvPr>
            <p:ph idx="1" type="body"/>
          </p:nvPr>
        </p:nvSpPr>
        <p:spPr>
          <a:xfrm>
            <a:off x="324000" y="759300"/>
            <a:ext cx="8237700" cy="337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/>
              <a:t>Rounding</a:t>
            </a:r>
            <a:r>
              <a:rPr lang="en-GB" sz="2000"/>
              <a:t> is useful for showing the </a:t>
            </a:r>
            <a:r>
              <a:rPr lang="en-GB" sz="2000">
                <a:solidFill>
                  <a:schemeClr val="accent4"/>
                </a:solidFill>
              </a:rPr>
              <a:t>approximate</a:t>
            </a:r>
            <a:r>
              <a:rPr lang="en-GB" sz="2000"/>
              <a:t> value of something </a:t>
            </a:r>
            <a:r>
              <a:rPr lang="en-GB" sz="2000">
                <a:solidFill>
                  <a:schemeClr val="accent4"/>
                </a:solidFill>
              </a:rPr>
              <a:t>without</a:t>
            </a:r>
            <a:r>
              <a:rPr lang="en-GB" sz="2000"/>
              <a:t> being </a:t>
            </a:r>
            <a:r>
              <a:rPr lang="en-GB" sz="2000">
                <a:solidFill>
                  <a:schemeClr val="accent4"/>
                </a:solidFill>
              </a:rPr>
              <a:t>exact</a:t>
            </a:r>
            <a:r>
              <a:rPr lang="en-GB" sz="2000"/>
              <a:t>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E.g.	 The number of people living on a street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     </a:t>
            </a:r>
            <a:r>
              <a:rPr lang="en-GB" sz="2000"/>
              <a:t> </a:t>
            </a:r>
            <a:r>
              <a:rPr lang="en-GB" sz="2000"/>
              <a:t>  The number of pupils at a school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     </a:t>
            </a:r>
            <a:r>
              <a:rPr lang="en-GB" sz="2000"/>
              <a:t> </a:t>
            </a:r>
            <a:r>
              <a:rPr lang="en-GB" sz="2000"/>
              <a:t>  The distance between your home and school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     </a:t>
            </a:r>
            <a:r>
              <a:rPr lang="en-GB" sz="2000"/>
              <a:t> </a:t>
            </a:r>
            <a:r>
              <a:rPr lang="en-GB" sz="2000"/>
              <a:t>  The attendance at a pop concert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        The distance between the Earth and the Moon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3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Google Shape;1524;p1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10, 100 &amp; 1000</a:t>
            </a:r>
            <a:endParaRPr/>
          </a:p>
        </p:txBody>
      </p:sp>
      <p:sp>
        <p:nvSpPr>
          <p:cNvPr id="1525" name="Google Shape;1525;p131"/>
          <p:cNvSpPr txBox="1"/>
          <p:nvPr>
            <p:ph idx="1" type="body"/>
          </p:nvPr>
        </p:nvSpPr>
        <p:spPr>
          <a:xfrm>
            <a:off x="324000" y="702475"/>
            <a:ext cx="8237700" cy="218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Rounded</a:t>
            </a:r>
            <a:r>
              <a:rPr lang="en-GB" sz="1800"/>
              <a:t> values make them easier to work with.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 number of people living on a street is 72.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Giving this to the nearest ten gives us an idea of the size of the street but doesn’t need to be exact.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When </a:t>
            </a:r>
            <a:r>
              <a:rPr b="1" lang="en-GB" sz="1800"/>
              <a:t>rounding</a:t>
            </a:r>
            <a:r>
              <a:rPr lang="en-GB" sz="1800"/>
              <a:t> to the nearest ten, firstly we identify the multiples of 10 either side of the number.</a:t>
            </a:r>
            <a:endParaRPr sz="1800"/>
          </a:p>
        </p:txBody>
      </p:sp>
      <p:graphicFrame>
        <p:nvGraphicFramePr>
          <p:cNvPr id="1526" name="Google Shape;1526;p131"/>
          <p:cNvGraphicFramePr/>
          <p:nvPr/>
        </p:nvGraphicFramePr>
        <p:xfrm>
          <a:off x="2181170" y="38399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{96544899-28CE-4B64-812E-1AE840465D4C}</a:tableStyleId>
              </a:tblPr>
              <a:tblGrid>
                <a:gridCol w="478550"/>
                <a:gridCol w="478550"/>
                <a:gridCol w="478550"/>
                <a:gridCol w="478550"/>
                <a:gridCol w="478550"/>
                <a:gridCol w="478550"/>
                <a:gridCol w="478550"/>
                <a:gridCol w="478550"/>
                <a:gridCol w="478550"/>
                <a:gridCol w="478550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27" name="Google Shape;1527;p131"/>
          <p:cNvSpPr txBox="1"/>
          <p:nvPr/>
        </p:nvSpPr>
        <p:spPr>
          <a:xfrm>
            <a:off x="2010116" y="3459582"/>
            <a:ext cx="39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8" name="Google Shape;1528;p131"/>
          <p:cNvSpPr txBox="1"/>
          <p:nvPr/>
        </p:nvSpPr>
        <p:spPr>
          <a:xfrm>
            <a:off x="6810716" y="3459582"/>
            <a:ext cx="39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29" name="Google Shape;1529;p131"/>
          <p:cNvGrpSpPr/>
          <p:nvPr/>
        </p:nvGrpSpPr>
        <p:grpSpPr>
          <a:xfrm>
            <a:off x="2978553" y="3221282"/>
            <a:ext cx="324900" cy="577000"/>
            <a:chOff x="2978553" y="3526082"/>
            <a:chExt cx="324900" cy="577000"/>
          </a:xfrm>
        </p:grpSpPr>
        <p:sp>
          <p:nvSpPr>
            <p:cNvPr id="1530" name="Google Shape;1530;p131"/>
            <p:cNvSpPr/>
            <p:nvPr/>
          </p:nvSpPr>
          <p:spPr>
            <a:xfrm>
              <a:off x="3074270" y="3844482"/>
              <a:ext cx="132900" cy="2586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1" name="Google Shape;1531;p131"/>
            <p:cNvSpPr txBox="1"/>
            <p:nvPr/>
          </p:nvSpPr>
          <p:spPr>
            <a:xfrm>
              <a:off x="2978553" y="3526082"/>
              <a:ext cx="324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72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532" name="Google Shape;1532;p131"/>
          <p:cNvCxnSpPr/>
          <p:nvPr/>
        </p:nvCxnSpPr>
        <p:spPr>
          <a:xfrm rot="10800000">
            <a:off x="2239316" y="3390582"/>
            <a:ext cx="739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33" name="Google Shape;1533;p131"/>
          <p:cNvSpPr txBox="1"/>
          <p:nvPr/>
        </p:nvSpPr>
        <p:spPr>
          <a:xfrm>
            <a:off x="1265020" y="2923332"/>
            <a:ext cx="1742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away from 70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4" name="Google Shape;1534;p131"/>
          <p:cNvSpPr txBox="1"/>
          <p:nvPr/>
        </p:nvSpPr>
        <p:spPr>
          <a:xfrm>
            <a:off x="4239145" y="2923332"/>
            <a:ext cx="1742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away from 80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35" name="Google Shape;1535;p131"/>
          <p:cNvCxnSpPr>
            <a:stCxn id="1531" idx="3"/>
          </p:cNvCxnSpPr>
          <p:nvPr/>
        </p:nvCxnSpPr>
        <p:spPr>
          <a:xfrm>
            <a:off x="3303453" y="3390632"/>
            <a:ext cx="36135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36" name="Google Shape;1536;p131"/>
          <p:cNvSpPr txBox="1"/>
          <p:nvPr/>
        </p:nvSpPr>
        <p:spPr>
          <a:xfrm>
            <a:off x="333825" y="4221575"/>
            <a:ext cx="7433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72 is closer to 70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Therefore, 72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to the nearest 10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is 70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0" name="Shape 1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1" name="Google Shape;1541;p1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10, 100 &amp; 1000</a:t>
            </a:r>
            <a:endParaRPr/>
          </a:p>
        </p:txBody>
      </p:sp>
      <p:sp>
        <p:nvSpPr>
          <p:cNvPr id="1542" name="Google Shape;1542;p132"/>
          <p:cNvSpPr txBox="1"/>
          <p:nvPr>
            <p:ph idx="1" type="body"/>
          </p:nvPr>
        </p:nvSpPr>
        <p:spPr>
          <a:xfrm>
            <a:off x="324000" y="702475"/>
            <a:ext cx="8237700" cy="184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number of people attending a pop concert is 68 562.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Giving this to the nearest thousand gives us an idea of the size of the concert and doesn’t need to be exact.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When </a:t>
            </a:r>
            <a:r>
              <a:rPr b="1" lang="en-GB" sz="1800"/>
              <a:t>rounding</a:t>
            </a:r>
            <a:r>
              <a:rPr lang="en-GB" sz="1800"/>
              <a:t> to the nearest thousand firstly we identify the multiples of 1000 either side of the number.</a:t>
            </a:r>
            <a:endParaRPr sz="1800"/>
          </a:p>
        </p:txBody>
      </p:sp>
      <p:graphicFrame>
        <p:nvGraphicFramePr>
          <p:cNvPr id="1543" name="Google Shape;1543;p132"/>
          <p:cNvGraphicFramePr/>
          <p:nvPr/>
        </p:nvGraphicFramePr>
        <p:xfrm>
          <a:off x="2006600" y="35351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{96544899-28CE-4B64-812E-1AE840465D4C}</a:tableStyleId>
              </a:tblPr>
              <a:tblGrid>
                <a:gridCol w="25699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44" name="Google Shape;1544;p132"/>
          <p:cNvSpPr txBox="1"/>
          <p:nvPr/>
        </p:nvSpPr>
        <p:spPr>
          <a:xfrm>
            <a:off x="1530753" y="3154775"/>
            <a:ext cx="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68 000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5" name="Google Shape;1545;p132"/>
          <p:cNvSpPr txBox="1"/>
          <p:nvPr/>
        </p:nvSpPr>
        <p:spPr>
          <a:xfrm>
            <a:off x="6255155" y="3154775"/>
            <a:ext cx="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69 000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46" name="Google Shape;1546;p132"/>
          <p:cNvGrpSpPr/>
          <p:nvPr/>
        </p:nvGrpSpPr>
        <p:grpSpPr>
          <a:xfrm>
            <a:off x="4504849" y="2916475"/>
            <a:ext cx="886500" cy="577007"/>
            <a:chOff x="2698220" y="3526075"/>
            <a:chExt cx="886500" cy="577007"/>
          </a:xfrm>
        </p:grpSpPr>
        <p:sp>
          <p:nvSpPr>
            <p:cNvPr id="1547" name="Google Shape;1547;p132"/>
            <p:cNvSpPr/>
            <p:nvPr/>
          </p:nvSpPr>
          <p:spPr>
            <a:xfrm>
              <a:off x="3074270" y="3844482"/>
              <a:ext cx="132900" cy="2586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48" name="Google Shape;1548;p132"/>
            <p:cNvSpPr txBox="1"/>
            <p:nvPr/>
          </p:nvSpPr>
          <p:spPr>
            <a:xfrm>
              <a:off x="2698220" y="3526075"/>
              <a:ext cx="886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68 562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549" name="Google Shape;1549;p132"/>
          <p:cNvCxnSpPr/>
          <p:nvPr/>
        </p:nvCxnSpPr>
        <p:spPr>
          <a:xfrm rot="10800000">
            <a:off x="1994749" y="3085825"/>
            <a:ext cx="24339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50" name="Google Shape;1550;p132"/>
          <p:cNvSpPr txBox="1"/>
          <p:nvPr/>
        </p:nvSpPr>
        <p:spPr>
          <a:xfrm>
            <a:off x="1581480" y="2618525"/>
            <a:ext cx="2468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562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away from 68 000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1" name="Google Shape;1551;p132"/>
          <p:cNvSpPr txBox="1"/>
          <p:nvPr/>
        </p:nvSpPr>
        <p:spPr>
          <a:xfrm>
            <a:off x="5055180" y="2618525"/>
            <a:ext cx="2468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438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away from 69 000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52" name="Google Shape;1552;p132"/>
          <p:cNvCxnSpPr>
            <a:stCxn id="1548" idx="3"/>
          </p:cNvCxnSpPr>
          <p:nvPr/>
        </p:nvCxnSpPr>
        <p:spPr>
          <a:xfrm>
            <a:off x="5391349" y="3085825"/>
            <a:ext cx="13965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53" name="Google Shape;1553;p132"/>
          <p:cNvSpPr txBox="1"/>
          <p:nvPr/>
        </p:nvSpPr>
        <p:spPr>
          <a:xfrm>
            <a:off x="333825" y="4221575"/>
            <a:ext cx="8187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68 562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is closer to 69 000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Therefore, 68 562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to the nearest 1000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is 69 000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554" name="Google Shape;1554;p132"/>
          <p:cNvGraphicFramePr/>
          <p:nvPr/>
        </p:nvGraphicFramePr>
        <p:xfrm>
          <a:off x="4577870" y="35351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{96544899-28CE-4B64-812E-1AE840465D4C}</a:tableStyleId>
              </a:tblPr>
              <a:tblGrid>
                <a:gridCol w="2164500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8" name="Shape 1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Google Shape;1559;p1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10, 100 &amp; 1000</a:t>
            </a:r>
            <a:endParaRPr/>
          </a:p>
        </p:txBody>
      </p:sp>
      <p:sp>
        <p:nvSpPr>
          <p:cNvPr id="1560" name="Google Shape;1560;p133"/>
          <p:cNvSpPr txBox="1"/>
          <p:nvPr>
            <p:ph idx="1" type="body"/>
          </p:nvPr>
        </p:nvSpPr>
        <p:spPr>
          <a:xfrm>
            <a:off x="324000" y="778675"/>
            <a:ext cx="8237700" cy="45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What is 135 </a:t>
            </a:r>
            <a:r>
              <a:rPr b="1" lang="en-GB" sz="2000"/>
              <a:t>rounded</a:t>
            </a:r>
            <a:r>
              <a:rPr lang="en-GB" sz="2000"/>
              <a:t> to the nearest 10?</a:t>
            </a:r>
            <a:endParaRPr sz="1800"/>
          </a:p>
        </p:txBody>
      </p:sp>
      <p:graphicFrame>
        <p:nvGraphicFramePr>
          <p:cNvPr id="1561" name="Google Shape;1561;p133"/>
          <p:cNvGraphicFramePr/>
          <p:nvPr/>
        </p:nvGraphicFramePr>
        <p:xfrm>
          <a:off x="2181170" y="21635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{96544899-28CE-4B64-812E-1AE840465D4C}</a:tableStyleId>
              </a:tblPr>
              <a:tblGrid>
                <a:gridCol w="478550"/>
                <a:gridCol w="478550"/>
                <a:gridCol w="478550"/>
                <a:gridCol w="478550"/>
                <a:gridCol w="478550"/>
                <a:gridCol w="478550"/>
                <a:gridCol w="478550"/>
                <a:gridCol w="478550"/>
                <a:gridCol w="478550"/>
                <a:gridCol w="478550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62" name="Google Shape;1562;p133"/>
          <p:cNvSpPr txBox="1"/>
          <p:nvPr/>
        </p:nvSpPr>
        <p:spPr>
          <a:xfrm>
            <a:off x="1943602" y="1783175"/>
            <a:ext cx="45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13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3" name="Google Shape;1563;p133"/>
          <p:cNvSpPr txBox="1"/>
          <p:nvPr/>
        </p:nvSpPr>
        <p:spPr>
          <a:xfrm>
            <a:off x="6722197" y="1783175"/>
            <a:ext cx="495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14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64" name="Google Shape;1564;p133"/>
          <p:cNvGrpSpPr/>
          <p:nvPr/>
        </p:nvGrpSpPr>
        <p:grpSpPr>
          <a:xfrm>
            <a:off x="4347849" y="1544875"/>
            <a:ext cx="495000" cy="577007"/>
            <a:chOff x="2917128" y="3526075"/>
            <a:chExt cx="495000" cy="577007"/>
          </a:xfrm>
        </p:grpSpPr>
        <p:sp>
          <p:nvSpPr>
            <p:cNvPr id="1565" name="Google Shape;1565;p133"/>
            <p:cNvSpPr/>
            <p:nvPr/>
          </p:nvSpPr>
          <p:spPr>
            <a:xfrm>
              <a:off x="3074270" y="3844482"/>
              <a:ext cx="132900" cy="2586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6" name="Google Shape;1566;p133"/>
            <p:cNvSpPr txBox="1"/>
            <p:nvPr/>
          </p:nvSpPr>
          <p:spPr>
            <a:xfrm>
              <a:off x="2917128" y="3526075"/>
              <a:ext cx="495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135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567" name="Google Shape;1567;p133"/>
          <p:cNvCxnSpPr>
            <a:stCxn id="1566" idx="1"/>
          </p:cNvCxnSpPr>
          <p:nvPr/>
        </p:nvCxnSpPr>
        <p:spPr>
          <a:xfrm rot="10800000">
            <a:off x="2177949" y="1714225"/>
            <a:ext cx="21699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68" name="Google Shape;1568;p133"/>
          <p:cNvSpPr txBox="1"/>
          <p:nvPr/>
        </p:nvSpPr>
        <p:spPr>
          <a:xfrm>
            <a:off x="2331826" y="1246925"/>
            <a:ext cx="1938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away from 130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9" name="Google Shape;1569;p133"/>
          <p:cNvSpPr txBox="1"/>
          <p:nvPr/>
        </p:nvSpPr>
        <p:spPr>
          <a:xfrm>
            <a:off x="4848751" y="1246925"/>
            <a:ext cx="1938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away from 140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70" name="Google Shape;1570;p133"/>
          <p:cNvCxnSpPr>
            <a:stCxn id="1566" idx="3"/>
          </p:cNvCxnSpPr>
          <p:nvPr/>
        </p:nvCxnSpPr>
        <p:spPr>
          <a:xfrm>
            <a:off x="4842849" y="1714225"/>
            <a:ext cx="20721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571" name="Google Shape;1571;p1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246" y="3686488"/>
            <a:ext cx="798316" cy="896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2" name="Google Shape;1572;p1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587327" y="3524677"/>
            <a:ext cx="807750" cy="1057915"/>
          </a:xfrm>
          <a:prstGeom prst="rect">
            <a:avLst/>
          </a:prstGeom>
          <a:noFill/>
          <a:ln>
            <a:noFill/>
          </a:ln>
        </p:spPr>
      </p:pic>
      <p:sp>
        <p:nvSpPr>
          <p:cNvPr id="1573" name="Google Shape;1573;p133"/>
          <p:cNvSpPr txBox="1"/>
          <p:nvPr/>
        </p:nvSpPr>
        <p:spPr>
          <a:xfrm>
            <a:off x="385750" y="45222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4" name="Google Shape;1574;p133"/>
          <p:cNvSpPr txBox="1"/>
          <p:nvPr/>
        </p:nvSpPr>
        <p:spPr>
          <a:xfrm>
            <a:off x="7548550" y="45222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75" name="Google Shape;1575;p133"/>
          <p:cNvGrpSpPr/>
          <p:nvPr/>
        </p:nvGrpSpPr>
        <p:grpSpPr>
          <a:xfrm>
            <a:off x="4663150" y="2424575"/>
            <a:ext cx="2985600" cy="1926376"/>
            <a:chOff x="4663150" y="2729375"/>
            <a:chExt cx="2985600" cy="1926376"/>
          </a:xfrm>
        </p:grpSpPr>
        <p:pic>
          <p:nvPicPr>
            <p:cNvPr id="1576" name="Google Shape;1576;p133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>
              <a:off x="4663150" y="2729375"/>
              <a:ext cx="2985600" cy="19263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77" name="Google Shape;1577;p133"/>
            <p:cNvSpPr txBox="1"/>
            <p:nvPr/>
          </p:nvSpPr>
          <p:spPr>
            <a:xfrm>
              <a:off x="4824000" y="2876025"/>
              <a:ext cx="26352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When the number is </a:t>
              </a:r>
              <a:r>
                <a:rPr lang="en-GB" sz="1800">
                  <a:solidFill>
                    <a:schemeClr val="accent4"/>
                  </a:solidFill>
                  <a:latin typeface="Lexend"/>
                  <a:ea typeface="Lexend"/>
                  <a:cs typeface="Lexend"/>
                  <a:sym typeface="Lexend"/>
                </a:rPr>
                <a:t>exactly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halfway between the 2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multiples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we always </a:t>
              </a:r>
              <a:r>
                <a:rPr b="1" lang="en-GB" sz="1800">
                  <a:latin typeface="Lexend"/>
                  <a:ea typeface="Lexend"/>
                  <a:cs typeface="Lexend"/>
                  <a:sym typeface="Lexend"/>
                </a:rPr>
                <a:t>round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800">
                  <a:solidFill>
                    <a:schemeClr val="accent4"/>
                  </a:solidFill>
                  <a:latin typeface="Lexend"/>
                  <a:ea typeface="Lexend"/>
                  <a:cs typeface="Lexend"/>
                  <a:sym typeface="Lexend"/>
                </a:rPr>
                <a:t>up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to the larger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78" name="Google Shape;1578;p133"/>
          <p:cNvGrpSpPr/>
          <p:nvPr/>
        </p:nvGrpSpPr>
        <p:grpSpPr>
          <a:xfrm>
            <a:off x="1188748" y="2960040"/>
            <a:ext cx="2911427" cy="896101"/>
            <a:chOff x="1134723" y="2640640"/>
            <a:chExt cx="2911427" cy="896101"/>
          </a:xfrm>
        </p:grpSpPr>
        <p:pic>
          <p:nvPicPr>
            <p:cNvPr id="1579" name="Google Shape;1579;p133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1134723" y="2640640"/>
              <a:ext cx="2911427" cy="8961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80" name="Google Shape;1580;p133"/>
            <p:cNvSpPr txBox="1"/>
            <p:nvPr/>
          </p:nvSpPr>
          <p:spPr>
            <a:xfrm>
              <a:off x="1332650" y="2742940"/>
              <a:ext cx="26298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So, 135 is 140 to the nearest 10.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4" name="Shape 1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5" name="Google Shape;1585;p13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10, 100 &amp; 1000</a:t>
            </a:r>
            <a:endParaRPr/>
          </a:p>
        </p:txBody>
      </p:sp>
      <p:sp>
        <p:nvSpPr>
          <p:cNvPr id="1586" name="Google Shape;1586;p134"/>
          <p:cNvSpPr txBox="1"/>
          <p:nvPr>
            <p:ph idx="1" type="body"/>
          </p:nvPr>
        </p:nvSpPr>
        <p:spPr>
          <a:xfrm>
            <a:off x="324000" y="759300"/>
            <a:ext cx="8237700" cy="77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We can use Laura’s fact to help us </a:t>
            </a:r>
            <a:r>
              <a:rPr b="1" lang="en-GB" sz="2000"/>
              <a:t>round</a:t>
            </a:r>
            <a:r>
              <a:rPr lang="en-GB" sz="2000"/>
              <a:t> numbers </a:t>
            </a:r>
            <a:r>
              <a:rPr lang="en-GB" sz="2000"/>
              <a:t>without</a:t>
            </a:r>
            <a:r>
              <a:rPr lang="en-GB" sz="2000"/>
              <a:t> having to work out the distance from each multiple. </a:t>
            </a:r>
            <a:endParaRPr sz="2000"/>
          </a:p>
        </p:txBody>
      </p:sp>
      <p:graphicFrame>
        <p:nvGraphicFramePr>
          <p:cNvPr id="1587" name="Google Shape;1587;p134"/>
          <p:cNvGraphicFramePr/>
          <p:nvPr/>
        </p:nvGraphicFramePr>
        <p:xfrm>
          <a:off x="2159000" y="3267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{96544899-28CE-4B64-812E-1AE840465D4C}</a:tableStyleId>
              </a:tblPr>
              <a:tblGrid>
                <a:gridCol w="2413000"/>
                <a:gridCol w="2413000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588" name="Google Shape;1588;p134"/>
          <p:cNvGrpSpPr/>
          <p:nvPr/>
        </p:nvGrpSpPr>
        <p:grpSpPr>
          <a:xfrm>
            <a:off x="1828164" y="2887425"/>
            <a:ext cx="5495367" cy="338700"/>
            <a:chOff x="1828164" y="2887425"/>
            <a:chExt cx="5495367" cy="338700"/>
          </a:xfrm>
        </p:grpSpPr>
        <p:sp>
          <p:nvSpPr>
            <p:cNvPr id="1589" name="Google Shape;1589;p134"/>
            <p:cNvSpPr txBox="1"/>
            <p:nvPr/>
          </p:nvSpPr>
          <p:spPr>
            <a:xfrm>
              <a:off x="1828164" y="2887425"/>
              <a:ext cx="672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3</a:t>
              </a: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50</a:t>
              </a: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90" name="Google Shape;1590;p134"/>
            <p:cNvSpPr txBox="1"/>
            <p:nvPr/>
          </p:nvSpPr>
          <p:spPr>
            <a:xfrm>
              <a:off x="6650931" y="2887425"/>
              <a:ext cx="672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3</a:t>
              </a: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60</a:t>
              </a: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91" name="Google Shape;1591;p134"/>
          <p:cNvSpPr txBox="1"/>
          <p:nvPr/>
        </p:nvSpPr>
        <p:spPr>
          <a:xfrm>
            <a:off x="4231093" y="2887425"/>
            <a:ext cx="672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2" name="Google Shape;1592;p134"/>
          <p:cNvSpPr/>
          <p:nvPr/>
        </p:nvSpPr>
        <p:spPr>
          <a:xfrm rot="10800000">
            <a:off x="5967775" y="2773338"/>
            <a:ext cx="221700" cy="3387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3" name="Google Shape;1593;p134"/>
          <p:cNvSpPr txBox="1"/>
          <p:nvPr/>
        </p:nvSpPr>
        <p:spPr>
          <a:xfrm>
            <a:off x="5760731" y="2459300"/>
            <a:ext cx="672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3587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4" name="Google Shape;1594;p134"/>
          <p:cNvSpPr txBox="1"/>
          <p:nvPr/>
        </p:nvSpPr>
        <p:spPr>
          <a:xfrm>
            <a:off x="294425" y="4499825"/>
            <a:ext cx="5780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3587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rounded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to the nearest hundred is 3600.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95" name="Google Shape;1595;p134"/>
          <p:cNvSpPr txBox="1"/>
          <p:nvPr>
            <p:ph idx="1" type="body"/>
          </p:nvPr>
        </p:nvSpPr>
        <p:spPr>
          <a:xfrm>
            <a:off x="324000" y="1521300"/>
            <a:ext cx="8237700" cy="86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E.g.	What is 3587 to the nearest hundred?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Identify the </a:t>
            </a:r>
            <a:r>
              <a:rPr lang="en-GB" sz="2000"/>
              <a:t>multiples</a:t>
            </a:r>
            <a:r>
              <a:rPr lang="en-GB" sz="2000"/>
              <a:t> of 100 either side of 3587.</a:t>
            </a:r>
            <a:endParaRPr sz="2000"/>
          </a:p>
        </p:txBody>
      </p:sp>
      <p:sp>
        <p:nvSpPr>
          <p:cNvPr id="1596" name="Google Shape;1596;p134"/>
          <p:cNvSpPr txBox="1"/>
          <p:nvPr>
            <p:ph idx="1" type="body"/>
          </p:nvPr>
        </p:nvSpPr>
        <p:spPr>
          <a:xfrm>
            <a:off x="324000" y="3502500"/>
            <a:ext cx="3171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Find the halfway point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1597" name="Google Shape;1597;p134"/>
          <p:cNvSpPr txBox="1"/>
          <p:nvPr>
            <p:ph idx="1" type="body"/>
          </p:nvPr>
        </p:nvSpPr>
        <p:spPr>
          <a:xfrm>
            <a:off x="324000" y="4001163"/>
            <a:ext cx="74430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Decide which </a:t>
            </a:r>
            <a:r>
              <a:rPr lang="en-GB" sz="2000"/>
              <a:t>multiple</a:t>
            </a:r>
            <a:r>
              <a:rPr lang="en-GB" sz="2000"/>
              <a:t> of 100 your number is closer to.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Google Shape;1602;p13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10, 100 &amp; 1000</a:t>
            </a:r>
            <a:endParaRPr/>
          </a:p>
        </p:txBody>
      </p:sp>
      <p:sp>
        <p:nvSpPr>
          <p:cNvPr id="1603" name="Google Shape;1603;p135"/>
          <p:cNvSpPr txBox="1"/>
          <p:nvPr>
            <p:ph idx="1" type="subTitle"/>
          </p:nvPr>
        </p:nvSpPr>
        <p:spPr>
          <a:xfrm>
            <a:off x="980575" y="3196125"/>
            <a:ext cx="783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</a:t>
            </a:r>
            <a:r>
              <a:rPr lang="en-GB" sz="2000"/>
              <a:t>he digit after the 7 in the tens column is less than 5.</a:t>
            </a:r>
            <a:endParaRPr sz="2000"/>
          </a:p>
        </p:txBody>
      </p:sp>
      <p:sp>
        <p:nvSpPr>
          <p:cNvPr id="1604" name="Google Shape;1604;p135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5672 to the nearest ten is 70.</a:t>
            </a:r>
            <a:endParaRPr/>
          </a:p>
        </p:txBody>
      </p:sp>
      <p:sp>
        <p:nvSpPr>
          <p:cNvPr id="1605" name="Google Shape;1605;p135"/>
          <p:cNvSpPr txBox="1"/>
          <p:nvPr>
            <p:ph idx="3" type="subTitle"/>
          </p:nvPr>
        </p:nvSpPr>
        <p:spPr>
          <a:xfrm>
            <a:off x="980575" y="4040350"/>
            <a:ext cx="72285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</a:t>
            </a:r>
            <a:r>
              <a:rPr lang="en-GB" sz="2000"/>
              <a:t>he thousands and hundreds digits have been missed off.</a:t>
            </a:r>
            <a:endParaRPr sz="2000"/>
          </a:p>
        </p:txBody>
      </p:sp>
      <p:pic>
        <p:nvPicPr>
          <p:cNvPr id="1606" name="Google Shape;1606;p1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7533" y="17409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7" name="Google Shape;1607;p1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6708" y="39712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1" name="Shape 1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2" name="Google Shape;1612;p136"/>
          <p:cNvSpPr txBox="1"/>
          <p:nvPr>
            <p:ph idx="1" type="body"/>
          </p:nvPr>
        </p:nvSpPr>
        <p:spPr>
          <a:xfrm>
            <a:off x="324000" y="759300"/>
            <a:ext cx="8237700" cy="7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To show that we have </a:t>
            </a:r>
            <a:r>
              <a:rPr b="1" lang="en-GB" sz="2000"/>
              <a:t>rounded</a:t>
            </a:r>
            <a:r>
              <a:rPr lang="en-GB" sz="2000"/>
              <a:t> numbers we can use the ‘</a:t>
            </a:r>
            <a:r>
              <a:rPr lang="en-GB" sz="2000"/>
              <a:t>approximately</a:t>
            </a:r>
            <a:r>
              <a:rPr lang="en-GB" sz="2000"/>
              <a:t> equal to’ symbol. </a:t>
            </a:r>
            <a:endParaRPr sz="2000"/>
          </a:p>
        </p:txBody>
      </p:sp>
      <p:sp>
        <p:nvSpPr>
          <p:cNvPr id="1613" name="Google Shape;1613;p13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Rounding to 10, 100 &amp; 1000</a:t>
            </a:r>
            <a:endParaRPr/>
          </a:p>
        </p:txBody>
      </p:sp>
      <p:sp>
        <p:nvSpPr>
          <p:cNvPr id="1614" name="Google Shape;1614;p136"/>
          <p:cNvSpPr txBox="1"/>
          <p:nvPr>
            <p:ph idx="1" type="body"/>
          </p:nvPr>
        </p:nvSpPr>
        <p:spPr>
          <a:xfrm>
            <a:off x="324000" y="1689900"/>
            <a:ext cx="8496000" cy="41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For example, if you </a:t>
            </a:r>
            <a:r>
              <a:rPr b="1" lang="en-GB" sz="2000"/>
              <a:t>round </a:t>
            </a:r>
            <a:r>
              <a:rPr lang="en-GB" sz="2000"/>
              <a:t>15 865 to the nearest 10 you could write:</a:t>
            </a:r>
            <a:endParaRPr sz="2000"/>
          </a:p>
        </p:txBody>
      </p:sp>
      <p:sp>
        <p:nvSpPr>
          <p:cNvPr id="1615" name="Google Shape;1615;p136"/>
          <p:cNvSpPr txBox="1"/>
          <p:nvPr>
            <p:ph idx="1" type="body"/>
          </p:nvPr>
        </p:nvSpPr>
        <p:spPr>
          <a:xfrm>
            <a:off x="324000" y="2266950"/>
            <a:ext cx="82377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15 865 ≈ 15 870</a:t>
            </a:r>
            <a:endParaRPr sz="2000"/>
          </a:p>
        </p:txBody>
      </p:sp>
      <p:sp>
        <p:nvSpPr>
          <p:cNvPr id="1616" name="Google Shape;1616;p136"/>
          <p:cNvSpPr txBox="1"/>
          <p:nvPr>
            <p:ph idx="1" type="body"/>
          </p:nvPr>
        </p:nvSpPr>
        <p:spPr>
          <a:xfrm>
            <a:off x="324000" y="2738550"/>
            <a:ext cx="8237700" cy="7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You might see what a number has been rounded to written after the </a:t>
            </a:r>
            <a:r>
              <a:rPr b="1" lang="en-GB" sz="2000"/>
              <a:t>rounded</a:t>
            </a:r>
            <a:r>
              <a:rPr lang="en-GB" sz="2000"/>
              <a:t> number:</a:t>
            </a:r>
            <a:endParaRPr sz="2000"/>
          </a:p>
        </p:txBody>
      </p:sp>
      <p:sp>
        <p:nvSpPr>
          <p:cNvPr id="1617" name="Google Shape;1617;p136"/>
          <p:cNvSpPr txBox="1"/>
          <p:nvPr>
            <p:ph idx="1" type="body"/>
          </p:nvPr>
        </p:nvSpPr>
        <p:spPr>
          <a:xfrm>
            <a:off x="324000" y="3652725"/>
            <a:ext cx="8237700" cy="52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15 865 ≈ 16 000 (to the nearest 1000)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1" name="Shape 1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22" name="Google Shape;1622;p137"/>
          <p:cNvGraphicFramePr/>
          <p:nvPr/>
        </p:nvGraphicFramePr>
        <p:xfrm>
          <a:off x="324000" y="122122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{96544899-28CE-4B64-812E-1AE840465D4C}</a:tableStyleId>
              </a:tblPr>
              <a:tblGrid>
                <a:gridCol w="1155300"/>
                <a:gridCol w="2238250"/>
                <a:gridCol w="2607150"/>
                <a:gridCol w="2495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Rounded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 nearest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82 ≈ 80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65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60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7459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8000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2084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2000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3980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4000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17 856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18 000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24 068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24 000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97 254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98 000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793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800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425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430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185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190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1576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1580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8924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8900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3906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3910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29 856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29 900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58 501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59 000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70 398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70 400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783 010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783 000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1 809 421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1 809 000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470 498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471 000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23" name="Google Shape;1623;p13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10, 100 &amp; 1000</a:t>
            </a:r>
            <a:endParaRPr/>
          </a:p>
        </p:txBody>
      </p:sp>
      <p:sp>
        <p:nvSpPr>
          <p:cNvPr id="1624" name="Google Shape;1624;p137"/>
          <p:cNvSpPr txBox="1"/>
          <p:nvPr>
            <p:ph idx="1" type="body"/>
          </p:nvPr>
        </p:nvSpPr>
        <p:spPr>
          <a:xfrm>
            <a:off x="324000" y="631369"/>
            <a:ext cx="8237700" cy="53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Find the </a:t>
            </a:r>
            <a:r>
              <a:rPr lang="en-GB" sz="1800">
                <a:solidFill>
                  <a:schemeClr val="accent4"/>
                </a:solidFill>
              </a:rPr>
              <a:t>incorrect </a:t>
            </a:r>
            <a:r>
              <a:rPr lang="en-GB" sz="1800"/>
              <a:t>statement in each row.  </a:t>
            </a:r>
            <a:endParaRPr sz="18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Record the letter. When you have all 7, rearrange them into a word.</a:t>
            </a:r>
            <a:endParaRPr sz="1800"/>
          </a:p>
        </p:txBody>
      </p:sp>
      <p:sp>
        <p:nvSpPr>
          <p:cNvPr id="1625" name="Google Shape;1625;p137"/>
          <p:cNvSpPr txBox="1"/>
          <p:nvPr/>
        </p:nvSpPr>
        <p:spPr>
          <a:xfrm>
            <a:off x="3488989" y="2200073"/>
            <a:ext cx="189300" cy="2772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U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6" name="Google Shape;1626;p137"/>
          <p:cNvSpPr txBox="1"/>
          <p:nvPr/>
        </p:nvSpPr>
        <p:spPr>
          <a:xfrm>
            <a:off x="3488989" y="4108195"/>
            <a:ext cx="189300" cy="2772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7" name="Google Shape;1627;p137"/>
          <p:cNvSpPr txBox="1"/>
          <p:nvPr/>
        </p:nvSpPr>
        <p:spPr>
          <a:xfrm>
            <a:off x="3488989" y="2963322"/>
            <a:ext cx="189300" cy="2772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8" name="Google Shape;1628;p137"/>
          <p:cNvSpPr txBox="1"/>
          <p:nvPr/>
        </p:nvSpPr>
        <p:spPr>
          <a:xfrm>
            <a:off x="3488989" y="1818449"/>
            <a:ext cx="189300" cy="2772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9" name="Google Shape;1629;p137"/>
          <p:cNvSpPr txBox="1"/>
          <p:nvPr/>
        </p:nvSpPr>
        <p:spPr>
          <a:xfrm>
            <a:off x="3488989" y="3726570"/>
            <a:ext cx="189300" cy="2772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0" name="Google Shape;1630;p137"/>
          <p:cNvSpPr txBox="1"/>
          <p:nvPr/>
        </p:nvSpPr>
        <p:spPr>
          <a:xfrm>
            <a:off x="3488989" y="3344946"/>
            <a:ext cx="189300" cy="2772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1" name="Google Shape;1631;p137"/>
          <p:cNvSpPr txBox="1"/>
          <p:nvPr/>
        </p:nvSpPr>
        <p:spPr>
          <a:xfrm>
            <a:off x="3488989" y="2581697"/>
            <a:ext cx="189300" cy="2772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2" name="Google Shape;1632;p137"/>
          <p:cNvSpPr txBox="1"/>
          <p:nvPr/>
        </p:nvSpPr>
        <p:spPr>
          <a:xfrm>
            <a:off x="6094569" y="2200073"/>
            <a:ext cx="189300" cy="2772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3" name="Google Shape;1633;p137"/>
          <p:cNvSpPr txBox="1"/>
          <p:nvPr/>
        </p:nvSpPr>
        <p:spPr>
          <a:xfrm>
            <a:off x="6094569" y="4108195"/>
            <a:ext cx="189300" cy="2772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4" name="Google Shape;1634;p137"/>
          <p:cNvSpPr txBox="1"/>
          <p:nvPr/>
        </p:nvSpPr>
        <p:spPr>
          <a:xfrm>
            <a:off x="6094569" y="2963322"/>
            <a:ext cx="189300" cy="2772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K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5" name="Google Shape;1635;p137"/>
          <p:cNvSpPr txBox="1"/>
          <p:nvPr/>
        </p:nvSpPr>
        <p:spPr>
          <a:xfrm>
            <a:off x="6094569" y="1818449"/>
            <a:ext cx="189300" cy="2772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6" name="Google Shape;1636;p137"/>
          <p:cNvSpPr txBox="1"/>
          <p:nvPr/>
        </p:nvSpPr>
        <p:spPr>
          <a:xfrm>
            <a:off x="6094569" y="3726570"/>
            <a:ext cx="189300" cy="2772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7" name="Google Shape;1637;p137"/>
          <p:cNvSpPr txBox="1"/>
          <p:nvPr/>
        </p:nvSpPr>
        <p:spPr>
          <a:xfrm>
            <a:off x="6094569" y="3344946"/>
            <a:ext cx="189300" cy="2772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8" name="Google Shape;1638;p137"/>
          <p:cNvSpPr txBox="1"/>
          <p:nvPr/>
        </p:nvSpPr>
        <p:spPr>
          <a:xfrm>
            <a:off x="6094569" y="2581697"/>
            <a:ext cx="189300" cy="2772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9" name="Google Shape;1639;p137"/>
          <p:cNvSpPr txBox="1"/>
          <p:nvPr/>
        </p:nvSpPr>
        <p:spPr>
          <a:xfrm>
            <a:off x="8594389" y="2200073"/>
            <a:ext cx="189300" cy="2772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0" name="Google Shape;1640;p137"/>
          <p:cNvSpPr txBox="1"/>
          <p:nvPr/>
        </p:nvSpPr>
        <p:spPr>
          <a:xfrm>
            <a:off x="8594389" y="4108195"/>
            <a:ext cx="189300" cy="2772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1" name="Google Shape;1641;p137"/>
          <p:cNvSpPr txBox="1"/>
          <p:nvPr/>
        </p:nvSpPr>
        <p:spPr>
          <a:xfrm>
            <a:off x="8594389" y="2963322"/>
            <a:ext cx="189300" cy="2772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2" name="Google Shape;1642;p137"/>
          <p:cNvSpPr txBox="1"/>
          <p:nvPr/>
        </p:nvSpPr>
        <p:spPr>
          <a:xfrm>
            <a:off x="8594389" y="1818449"/>
            <a:ext cx="189300" cy="2772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3" name="Google Shape;1643;p137"/>
          <p:cNvSpPr txBox="1"/>
          <p:nvPr/>
        </p:nvSpPr>
        <p:spPr>
          <a:xfrm>
            <a:off x="8594389" y="3726570"/>
            <a:ext cx="189300" cy="2772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U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4" name="Google Shape;1644;p137"/>
          <p:cNvSpPr txBox="1"/>
          <p:nvPr/>
        </p:nvSpPr>
        <p:spPr>
          <a:xfrm>
            <a:off x="8594389" y="3344946"/>
            <a:ext cx="189300" cy="2772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V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5" name="Google Shape;1645;p137"/>
          <p:cNvSpPr txBox="1"/>
          <p:nvPr/>
        </p:nvSpPr>
        <p:spPr>
          <a:xfrm>
            <a:off x="8594389" y="2581697"/>
            <a:ext cx="189300" cy="2772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9" name="Shape 1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50" name="Google Shape;1650;p138"/>
          <p:cNvGraphicFramePr/>
          <p:nvPr/>
        </p:nvGraphicFramePr>
        <p:xfrm>
          <a:off x="324000" y="12234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{96544899-28CE-4B64-812E-1AE840465D4C}</a:tableStyleId>
              </a:tblPr>
              <a:tblGrid>
                <a:gridCol w="1155300"/>
                <a:gridCol w="2238250"/>
                <a:gridCol w="2607150"/>
                <a:gridCol w="2495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Rounded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 nearest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82 ≈ 80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65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60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7459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8000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2084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2000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3980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4000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17 856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18 000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24 068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24 000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97 254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98 000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793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800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425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430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185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190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1576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1580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8924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8900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3906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3910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29 856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29 900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58 501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59 000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70 398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70 400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783 010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783 000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1 809 421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1 809 000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470 498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471 000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51" name="Google Shape;1651;p138"/>
          <p:cNvSpPr/>
          <p:nvPr/>
        </p:nvSpPr>
        <p:spPr>
          <a:xfrm>
            <a:off x="3732000" y="3304967"/>
            <a:ext cx="2586600" cy="364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2" name="Google Shape;1652;p13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10, 100 &amp; 1000</a:t>
            </a:r>
            <a:endParaRPr/>
          </a:p>
        </p:txBody>
      </p:sp>
      <p:sp>
        <p:nvSpPr>
          <p:cNvPr id="1653" name="Google Shape;1653;p138"/>
          <p:cNvSpPr txBox="1"/>
          <p:nvPr/>
        </p:nvSpPr>
        <p:spPr>
          <a:xfrm>
            <a:off x="3488989" y="2202266"/>
            <a:ext cx="189300" cy="2772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U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4" name="Google Shape;1654;p138"/>
          <p:cNvSpPr txBox="1"/>
          <p:nvPr/>
        </p:nvSpPr>
        <p:spPr>
          <a:xfrm>
            <a:off x="3488989" y="4110387"/>
            <a:ext cx="189300" cy="2772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5" name="Google Shape;1655;p138"/>
          <p:cNvSpPr txBox="1"/>
          <p:nvPr/>
        </p:nvSpPr>
        <p:spPr>
          <a:xfrm>
            <a:off x="3488989" y="2965514"/>
            <a:ext cx="189300" cy="2772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6" name="Google Shape;1656;p138"/>
          <p:cNvSpPr txBox="1"/>
          <p:nvPr/>
        </p:nvSpPr>
        <p:spPr>
          <a:xfrm>
            <a:off x="3488989" y="1820642"/>
            <a:ext cx="189300" cy="2772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7" name="Google Shape;1657;p138"/>
          <p:cNvSpPr txBox="1"/>
          <p:nvPr/>
        </p:nvSpPr>
        <p:spPr>
          <a:xfrm>
            <a:off x="3488989" y="3728763"/>
            <a:ext cx="189300" cy="2772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8" name="Google Shape;1658;p138"/>
          <p:cNvSpPr txBox="1"/>
          <p:nvPr/>
        </p:nvSpPr>
        <p:spPr>
          <a:xfrm>
            <a:off x="3488989" y="3347139"/>
            <a:ext cx="189300" cy="2772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9" name="Google Shape;1659;p138"/>
          <p:cNvSpPr txBox="1"/>
          <p:nvPr/>
        </p:nvSpPr>
        <p:spPr>
          <a:xfrm>
            <a:off x="3488989" y="2583890"/>
            <a:ext cx="189300" cy="2772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0" name="Google Shape;1660;p138"/>
          <p:cNvSpPr txBox="1"/>
          <p:nvPr/>
        </p:nvSpPr>
        <p:spPr>
          <a:xfrm>
            <a:off x="6094569" y="2202266"/>
            <a:ext cx="189300" cy="2772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1" name="Google Shape;1661;p138"/>
          <p:cNvSpPr txBox="1"/>
          <p:nvPr/>
        </p:nvSpPr>
        <p:spPr>
          <a:xfrm>
            <a:off x="6094569" y="4110387"/>
            <a:ext cx="189300" cy="2772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2" name="Google Shape;1662;p138"/>
          <p:cNvSpPr txBox="1"/>
          <p:nvPr/>
        </p:nvSpPr>
        <p:spPr>
          <a:xfrm>
            <a:off x="6094569" y="2965514"/>
            <a:ext cx="189300" cy="2772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K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3" name="Google Shape;1663;p138"/>
          <p:cNvSpPr txBox="1"/>
          <p:nvPr/>
        </p:nvSpPr>
        <p:spPr>
          <a:xfrm>
            <a:off x="6094569" y="1820642"/>
            <a:ext cx="189300" cy="2772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4" name="Google Shape;1664;p138"/>
          <p:cNvSpPr txBox="1"/>
          <p:nvPr/>
        </p:nvSpPr>
        <p:spPr>
          <a:xfrm>
            <a:off x="6094569" y="3728763"/>
            <a:ext cx="189300" cy="2772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5" name="Google Shape;1665;p138"/>
          <p:cNvSpPr txBox="1"/>
          <p:nvPr/>
        </p:nvSpPr>
        <p:spPr>
          <a:xfrm>
            <a:off x="6094569" y="3347139"/>
            <a:ext cx="189300" cy="2772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6" name="Google Shape;1666;p138"/>
          <p:cNvSpPr txBox="1"/>
          <p:nvPr/>
        </p:nvSpPr>
        <p:spPr>
          <a:xfrm>
            <a:off x="6094569" y="2583890"/>
            <a:ext cx="189300" cy="2772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7" name="Google Shape;1667;p138"/>
          <p:cNvSpPr txBox="1"/>
          <p:nvPr/>
        </p:nvSpPr>
        <p:spPr>
          <a:xfrm>
            <a:off x="8594389" y="2202266"/>
            <a:ext cx="189300" cy="2772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8" name="Google Shape;1668;p138"/>
          <p:cNvSpPr txBox="1"/>
          <p:nvPr/>
        </p:nvSpPr>
        <p:spPr>
          <a:xfrm>
            <a:off x="8594389" y="4110387"/>
            <a:ext cx="189300" cy="2772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9" name="Google Shape;1669;p138"/>
          <p:cNvSpPr txBox="1"/>
          <p:nvPr/>
        </p:nvSpPr>
        <p:spPr>
          <a:xfrm>
            <a:off x="8594389" y="2965514"/>
            <a:ext cx="189300" cy="2772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0" name="Google Shape;1670;p138"/>
          <p:cNvSpPr txBox="1"/>
          <p:nvPr/>
        </p:nvSpPr>
        <p:spPr>
          <a:xfrm>
            <a:off x="8594389" y="1820642"/>
            <a:ext cx="189300" cy="2772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1" name="Google Shape;1671;p138"/>
          <p:cNvSpPr txBox="1"/>
          <p:nvPr/>
        </p:nvSpPr>
        <p:spPr>
          <a:xfrm>
            <a:off x="8594389" y="3728763"/>
            <a:ext cx="189300" cy="2772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U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2" name="Google Shape;1672;p138"/>
          <p:cNvSpPr txBox="1"/>
          <p:nvPr/>
        </p:nvSpPr>
        <p:spPr>
          <a:xfrm>
            <a:off x="8594389" y="3347139"/>
            <a:ext cx="189300" cy="2772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V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3" name="Google Shape;1673;p138"/>
          <p:cNvSpPr txBox="1"/>
          <p:nvPr/>
        </p:nvSpPr>
        <p:spPr>
          <a:xfrm>
            <a:off x="8594389" y="2583890"/>
            <a:ext cx="189300" cy="2772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4" name="Google Shape;1674;p138"/>
          <p:cNvSpPr/>
          <p:nvPr/>
        </p:nvSpPr>
        <p:spPr>
          <a:xfrm>
            <a:off x="3732000" y="1780967"/>
            <a:ext cx="2586600" cy="364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5" name="Google Shape;1675;p138"/>
          <p:cNvSpPr/>
          <p:nvPr/>
        </p:nvSpPr>
        <p:spPr>
          <a:xfrm>
            <a:off x="1479300" y="2158767"/>
            <a:ext cx="2238300" cy="364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6" name="Google Shape;1676;p138"/>
          <p:cNvSpPr/>
          <p:nvPr/>
        </p:nvSpPr>
        <p:spPr>
          <a:xfrm>
            <a:off x="6324700" y="2540392"/>
            <a:ext cx="2495400" cy="364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7" name="Google Shape;1677;p138"/>
          <p:cNvSpPr/>
          <p:nvPr/>
        </p:nvSpPr>
        <p:spPr>
          <a:xfrm>
            <a:off x="1479300" y="2920767"/>
            <a:ext cx="2238300" cy="364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8" name="Google Shape;1678;p138"/>
          <p:cNvSpPr/>
          <p:nvPr/>
        </p:nvSpPr>
        <p:spPr>
          <a:xfrm>
            <a:off x="3732000" y="3685967"/>
            <a:ext cx="2586600" cy="364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9" name="Google Shape;1679;p138"/>
          <p:cNvSpPr txBox="1"/>
          <p:nvPr/>
        </p:nvSpPr>
        <p:spPr>
          <a:xfrm>
            <a:off x="350498" y="4479696"/>
            <a:ext cx="3969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The hidden word is </a:t>
            </a:r>
            <a:r>
              <a:rPr lang="en-GB" sz="22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rPr>
              <a:t>roughly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.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80" name="Google Shape;1680;p138"/>
          <p:cNvSpPr txBox="1"/>
          <p:nvPr>
            <p:ph idx="1" type="body"/>
          </p:nvPr>
        </p:nvSpPr>
        <p:spPr>
          <a:xfrm>
            <a:off x="324000" y="631369"/>
            <a:ext cx="8237700" cy="53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Find the </a:t>
            </a:r>
            <a:r>
              <a:rPr lang="en-GB" sz="1800">
                <a:solidFill>
                  <a:schemeClr val="accent4"/>
                </a:solidFill>
              </a:rPr>
              <a:t>incorrect </a:t>
            </a:r>
            <a:r>
              <a:rPr lang="en-GB" sz="1800"/>
              <a:t>statement in each row.  </a:t>
            </a:r>
            <a:endParaRPr sz="18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Record the letter. When you have all 7, rearrange them into a word.</a:t>
            </a:r>
            <a:endParaRPr sz="1800"/>
          </a:p>
        </p:txBody>
      </p:sp>
      <p:sp>
        <p:nvSpPr>
          <p:cNvPr id="1681" name="Google Shape;1681;p138"/>
          <p:cNvSpPr txBox="1"/>
          <p:nvPr/>
        </p:nvSpPr>
        <p:spPr>
          <a:xfrm>
            <a:off x="4516950" y="1814746"/>
            <a:ext cx="10665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82" name="Google Shape;1682;p138"/>
          <p:cNvSpPr/>
          <p:nvPr/>
        </p:nvSpPr>
        <p:spPr>
          <a:xfrm>
            <a:off x="6324700" y="4066896"/>
            <a:ext cx="2495400" cy="364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6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139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10, 100 &amp; 1000</a:t>
            </a:r>
            <a:endParaRPr/>
          </a:p>
        </p:txBody>
      </p:sp>
      <p:sp>
        <p:nvSpPr>
          <p:cNvPr id="1688" name="Google Shape;1688;p139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the nearest whole number</a:t>
            </a:r>
            <a:endParaRPr/>
          </a:p>
        </p:txBody>
      </p:sp>
      <p:sp>
        <p:nvSpPr>
          <p:cNvPr id="1689" name="Google Shape;1689;p139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rounding</a:t>
            </a:r>
            <a:endParaRPr/>
          </a:p>
        </p:txBody>
      </p:sp>
      <p:sp>
        <p:nvSpPr>
          <p:cNvPr id="1690" name="Google Shape;1690;p139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one or two decimal places</a:t>
            </a:r>
            <a:endParaRPr/>
          </a:p>
        </p:txBody>
      </p:sp>
      <p:pic>
        <p:nvPicPr>
          <p:cNvPr id="1691" name="Google Shape;1691;p1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600" y="27660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5" name="Shape 1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6" name="Google Shape;1696;p14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the nearest whole number</a:t>
            </a:r>
            <a:endParaRPr/>
          </a:p>
        </p:txBody>
      </p:sp>
      <p:graphicFrame>
        <p:nvGraphicFramePr>
          <p:cNvPr id="1697" name="Google Shape;1697;p140"/>
          <p:cNvGraphicFramePr/>
          <p:nvPr/>
        </p:nvGraphicFramePr>
        <p:xfrm>
          <a:off x="2159000" y="3518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{96544899-28CE-4B64-812E-1AE840465D4C}</a:tableStyleId>
              </a:tblPr>
              <a:tblGrid>
                <a:gridCol w="2413000"/>
                <a:gridCol w="2413000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698" name="Google Shape;1698;p140"/>
          <p:cNvGrpSpPr/>
          <p:nvPr/>
        </p:nvGrpSpPr>
        <p:grpSpPr>
          <a:xfrm>
            <a:off x="1996635" y="3138195"/>
            <a:ext cx="5154469" cy="338700"/>
            <a:chOff x="1996635" y="2887425"/>
            <a:chExt cx="5154469" cy="338700"/>
          </a:xfrm>
        </p:grpSpPr>
        <p:sp>
          <p:nvSpPr>
            <p:cNvPr id="1699" name="Google Shape;1699;p140"/>
            <p:cNvSpPr txBox="1"/>
            <p:nvPr/>
          </p:nvSpPr>
          <p:spPr>
            <a:xfrm>
              <a:off x="1996635" y="2887425"/>
              <a:ext cx="333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98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0" name="Google Shape;1700;p140"/>
            <p:cNvSpPr txBox="1"/>
            <p:nvPr/>
          </p:nvSpPr>
          <p:spPr>
            <a:xfrm>
              <a:off x="6818104" y="2887425"/>
              <a:ext cx="333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99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01" name="Google Shape;1701;p140"/>
          <p:cNvSpPr txBox="1"/>
          <p:nvPr/>
        </p:nvSpPr>
        <p:spPr>
          <a:xfrm>
            <a:off x="4290225" y="3138195"/>
            <a:ext cx="57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98.5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2" name="Google Shape;1702;p140"/>
          <p:cNvSpPr/>
          <p:nvPr/>
        </p:nvSpPr>
        <p:spPr>
          <a:xfrm rot="10800000">
            <a:off x="4900975" y="3024108"/>
            <a:ext cx="221700" cy="3387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3" name="Google Shape;1703;p140"/>
          <p:cNvSpPr txBox="1"/>
          <p:nvPr/>
        </p:nvSpPr>
        <p:spPr>
          <a:xfrm>
            <a:off x="4721175" y="2705670"/>
            <a:ext cx="57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98.6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4" name="Google Shape;1704;p140"/>
          <p:cNvSpPr txBox="1"/>
          <p:nvPr>
            <p:ph idx="1" type="body"/>
          </p:nvPr>
        </p:nvSpPr>
        <p:spPr>
          <a:xfrm>
            <a:off x="324000" y="3787922"/>
            <a:ext cx="3171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Find the halfway point.</a:t>
            </a:r>
            <a:endParaRPr sz="2000"/>
          </a:p>
        </p:txBody>
      </p:sp>
      <p:grpSp>
        <p:nvGrpSpPr>
          <p:cNvPr id="1705" name="Google Shape;1705;p140"/>
          <p:cNvGrpSpPr/>
          <p:nvPr/>
        </p:nvGrpSpPr>
        <p:grpSpPr>
          <a:xfrm>
            <a:off x="1134775" y="536448"/>
            <a:ext cx="2493928" cy="1216924"/>
            <a:chOff x="1134723" y="2670200"/>
            <a:chExt cx="2911427" cy="1579600"/>
          </a:xfrm>
        </p:grpSpPr>
        <p:pic>
          <p:nvPicPr>
            <p:cNvPr id="1706" name="Google Shape;1706;p140"/>
            <p:cNvPicPr preferRelativeResize="0"/>
            <p:nvPr/>
          </p:nvPicPr>
          <p:blipFill rotWithShape="1">
            <a:blip r:embed="rId3">
              <a:alphaModFix/>
            </a:blip>
            <a:srcRect b="0" l="0" r="69082" t="56280"/>
            <a:stretch/>
          </p:blipFill>
          <p:spPr>
            <a:xfrm flipH="1">
              <a:off x="1134723" y="2670200"/>
              <a:ext cx="2911427" cy="157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07" name="Google Shape;1707;p140"/>
            <p:cNvSpPr txBox="1"/>
            <p:nvPr/>
          </p:nvSpPr>
          <p:spPr>
            <a:xfrm>
              <a:off x="1332657" y="2772487"/>
              <a:ext cx="25581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The average body temperature is 98.6 ℉.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708" name="Google Shape;1708;p1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528" y="879727"/>
            <a:ext cx="804119" cy="1057915"/>
          </a:xfrm>
          <a:prstGeom prst="rect">
            <a:avLst/>
          </a:prstGeom>
          <a:noFill/>
          <a:ln>
            <a:noFill/>
          </a:ln>
        </p:spPr>
      </p:pic>
      <p:sp>
        <p:nvSpPr>
          <p:cNvPr id="1709" name="Google Shape;1709;p140"/>
          <p:cNvSpPr txBox="1"/>
          <p:nvPr/>
        </p:nvSpPr>
        <p:spPr>
          <a:xfrm>
            <a:off x="324000" y="187725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0" name="Google Shape;1710;p140"/>
          <p:cNvSpPr txBox="1"/>
          <p:nvPr>
            <p:ph idx="1" type="body"/>
          </p:nvPr>
        </p:nvSpPr>
        <p:spPr>
          <a:xfrm>
            <a:off x="324000" y="4209935"/>
            <a:ext cx="7443000" cy="67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Decide which whole number your value is closer to.</a:t>
            </a:r>
            <a:endParaRPr sz="20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98.6 </a:t>
            </a:r>
            <a:r>
              <a:rPr lang="en-GB" sz="2100"/>
              <a:t>℉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</a:t>
            </a:r>
            <a:r>
              <a:rPr b="1" lang="en-GB">
                <a:latin typeface="Kalam"/>
                <a:ea typeface="Kalam"/>
                <a:cs typeface="Kalam"/>
                <a:sym typeface="Kalam"/>
              </a:rPr>
              <a:t>rounded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to the nearest degree is 99 </a:t>
            </a:r>
            <a:r>
              <a:rPr lang="en-GB" sz="2100"/>
              <a:t>℉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.</a:t>
            </a:r>
            <a:endParaRPr/>
          </a:p>
        </p:txBody>
      </p:sp>
      <p:pic>
        <p:nvPicPr>
          <p:cNvPr id="1711" name="Google Shape;1711;p1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940276" y="1019488"/>
            <a:ext cx="794769" cy="896106"/>
          </a:xfrm>
          <a:prstGeom prst="rect">
            <a:avLst/>
          </a:prstGeom>
          <a:noFill/>
          <a:ln>
            <a:noFill/>
          </a:ln>
        </p:spPr>
      </p:pic>
      <p:sp>
        <p:nvSpPr>
          <p:cNvPr id="1712" name="Google Shape;1712;p140"/>
          <p:cNvSpPr txBox="1"/>
          <p:nvPr/>
        </p:nvSpPr>
        <p:spPr>
          <a:xfrm>
            <a:off x="7929550" y="18552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13" name="Google Shape;1713;p140"/>
          <p:cNvGrpSpPr/>
          <p:nvPr/>
        </p:nvGrpSpPr>
        <p:grpSpPr>
          <a:xfrm>
            <a:off x="4663150" y="748151"/>
            <a:ext cx="2985600" cy="1005183"/>
            <a:chOff x="4663150" y="2729375"/>
            <a:chExt cx="2985600" cy="1926376"/>
          </a:xfrm>
        </p:grpSpPr>
        <p:pic>
          <p:nvPicPr>
            <p:cNvPr id="1714" name="Google Shape;1714;p140"/>
            <p:cNvPicPr preferRelativeResize="0"/>
            <p:nvPr/>
          </p:nvPicPr>
          <p:blipFill rotWithShape="1">
            <a:blip r:embed="rId3">
              <a:alphaModFix/>
            </a:blip>
            <a:srcRect b="0" l="0" r="69082" t="56280"/>
            <a:stretch/>
          </p:blipFill>
          <p:spPr>
            <a:xfrm>
              <a:off x="4663150" y="2729375"/>
              <a:ext cx="2985600" cy="19263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15" name="Google Shape;1715;p140"/>
            <p:cNvSpPr txBox="1"/>
            <p:nvPr/>
          </p:nvSpPr>
          <p:spPr>
            <a:xfrm>
              <a:off x="4824000" y="2876025"/>
              <a:ext cx="26352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What is that to the nearest degree?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16" name="Google Shape;1716;p140"/>
          <p:cNvSpPr txBox="1"/>
          <p:nvPr>
            <p:ph idx="1" type="body"/>
          </p:nvPr>
        </p:nvSpPr>
        <p:spPr>
          <a:xfrm>
            <a:off x="324000" y="2320250"/>
            <a:ext cx="6660900" cy="32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Identify the whole numbers either side of 98.6 </a:t>
            </a:r>
            <a:r>
              <a:rPr lang="en-GB" sz="2000"/>
              <a:t>℉</a:t>
            </a:r>
            <a:r>
              <a:rPr lang="en-GB" sz="2000"/>
              <a:t>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0" name="Shape 1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1" name="Google Shape;1721;p14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the nearest whole number</a:t>
            </a:r>
            <a:endParaRPr/>
          </a:p>
        </p:txBody>
      </p:sp>
      <p:sp>
        <p:nvSpPr>
          <p:cNvPr id="1722" name="Google Shape;1722;p141"/>
          <p:cNvSpPr txBox="1"/>
          <p:nvPr>
            <p:ph idx="1" type="body"/>
          </p:nvPr>
        </p:nvSpPr>
        <p:spPr>
          <a:xfrm>
            <a:off x="324000" y="2740500"/>
            <a:ext cx="8496000" cy="207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Do you think that Lucas’ t-shirt was exactly £20?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Often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people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round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values when talking about money.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Lucas actually paid £20.25 for his t-shirt.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We can use a number line to help us </a:t>
            </a:r>
            <a:r>
              <a:rPr b="1" lang="en-GB" sz="2000"/>
              <a:t>round</a:t>
            </a:r>
            <a:r>
              <a:rPr lang="en-GB" sz="2000"/>
              <a:t> to the nearest whole number.</a:t>
            </a:r>
            <a:endParaRPr sz="2000"/>
          </a:p>
        </p:txBody>
      </p:sp>
      <p:pic>
        <p:nvPicPr>
          <p:cNvPr id="1723" name="Google Shape;1723;p1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246" y="1552887"/>
            <a:ext cx="798316" cy="896106"/>
          </a:xfrm>
          <a:prstGeom prst="rect">
            <a:avLst/>
          </a:prstGeom>
          <a:noFill/>
          <a:ln>
            <a:noFill/>
          </a:ln>
        </p:spPr>
      </p:pic>
      <p:sp>
        <p:nvSpPr>
          <p:cNvPr id="1724" name="Google Shape;1724;p141"/>
          <p:cNvSpPr txBox="1"/>
          <p:nvPr/>
        </p:nvSpPr>
        <p:spPr>
          <a:xfrm>
            <a:off x="385750" y="23886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25" name="Google Shape;1725;p141"/>
          <p:cNvGrpSpPr/>
          <p:nvPr/>
        </p:nvGrpSpPr>
        <p:grpSpPr>
          <a:xfrm>
            <a:off x="1134726" y="536447"/>
            <a:ext cx="2911427" cy="1216924"/>
            <a:chOff x="1134723" y="2670200"/>
            <a:chExt cx="2911427" cy="1579600"/>
          </a:xfrm>
        </p:grpSpPr>
        <p:pic>
          <p:nvPicPr>
            <p:cNvPr id="1726" name="Google Shape;1726;p141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 flipH="1">
              <a:off x="1134723" y="2670200"/>
              <a:ext cx="2911427" cy="157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7" name="Google Shape;1727;p141"/>
            <p:cNvSpPr txBox="1"/>
            <p:nvPr/>
          </p:nvSpPr>
          <p:spPr>
            <a:xfrm>
              <a:off x="1332650" y="2772500"/>
              <a:ext cx="26298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bought a t-shirt at the weekend.  It cost me £20.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1" name="Shape 1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2" name="Google Shape;1732;p14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Rounding to the nearest whole number</a:t>
            </a:r>
            <a:endParaRPr/>
          </a:p>
        </p:txBody>
      </p:sp>
      <p:graphicFrame>
        <p:nvGraphicFramePr>
          <p:cNvPr id="1733" name="Google Shape;1733;p142"/>
          <p:cNvGraphicFramePr/>
          <p:nvPr/>
        </p:nvGraphicFramePr>
        <p:xfrm>
          <a:off x="2159000" y="3267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{96544899-28CE-4B64-812E-1AE840465D4C}</a:tableStyleId>
              </a:tblPr>
              <a:tblGrid>
                <a:gridCol w="2413000"/>
                <a:gridCol w="2413000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734" name="Google Shape;1734;p142"/>
          <p:cNvGrpSpPr/>
          <p:nvPr/>
        </p:nvGrpSpPr>
        <p:grpSpPr>
          <a:xfrm>
            <a:off x="1699225" y="2887425"/>
            <a:ext cx="5760250" cy="338700"/>
            <a:chOff x="1699225" y="2887425"/>
            <a:chExt cx="5760250" cy="338700"/>
          </a:xfrm>
        </p:grpSpPr>
        <p:sp>
          <p:nvSpPr>
            <p:cNvPr id="1735" name="Google Shape;1735;p142"/>
            <p:cNvSpPr txBox="1"/>
            <p:nvPr/>
          </p:nvSpPr>
          <p:spPr>
            <a:xfrm>
              <a:off x="1699225" y="2887425"/>
              <a:ext cx="924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£20.00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36" name="Google Shape;1736;p142"/>
            <p:cNvSpPr txBox="1"/>
            <p:nvPr/>
          </p:nvSpPr>
          <p:spPr>
            <a:xfrm>
              <a:off x="6535474" y="2887425"/>
              <a:ext cx="924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£21.00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37" name="Google Shape;1737;p142"/>
          <p:cNvSpPr txBox="1"/>
          <p:nvPr/>
        </p:nvSpPr>
        <p:spPr>
          <a:xfrm>
            <a:off x="4214021" y="2887425"/>
            <a:ext cx="885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£20.50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8" name="Google Shape;1738;p142"/>
          <p:cNvSpPr/>
          <p:nvPr/>
        </p:nvSpPr>
        <p:spPr>
          <a:xfrm rot="10800000">
            <a:off x="3300775" y="2773338"/>
            <a:ext cx="221700" cy="3387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9" name="Google Shape;1739;p142"/>
          <p:cNvSpPr txBox="1"/>
          <p:nvPr/>
        </p:nvSpPr>
        <p:spPr>
          <a:xfrm>
            <a:off x="2931625" y="2454900"/>
            <a:ext cx="885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£20.25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0" name="Google Shape;1740;p142"/>
          <p:cNvSpPr txBox="1"/>
          <p:nvPr>
            <p:ph idx="1" type="body"/>
          </p:nvPr>
        </p:nvSpPr>
        <p:spPr>
          <a:xfrm>
            <a:off x="324000" y="2207100"/>
            <a:ext cx="8237700" cy="32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Identify the whole numbers either side of £20.25.</a:t>
            </a:r>
            <a:endParaRPr sz="2000"/>
          </a:p>
        </p:txBody>
      </p:sp>
      <p:sp>
        <p:nvSpPr>
          <p:cNvPr id="1741" name="Google Shape;1741;p142"/>
          <p:cNvSpPr txBox="1"/>
          <p:nvPr>
            <p:ph idx="1" type="body"/>
          </p:nvPr>
        </p:nvSpPr>
        <p:spPr>
          <a:xfrm>
            <a:off x="324000" y="3578700"/>
            <a:ext cx="3171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Find the halfway point.</a:t>
            </a:r>
            <a:endParaRPr sz="2000"/>
          </a:p>
        </p:txBody>
      </p:sp>
      <p:sp>
        <p:nvSpPr>
          <p:cNvPr id="1742" name="Google Shape;1742;p142"/>
          <p:cNvSpPr txBox="1"/>
          <p:nvPr>
            <p:ph idx="1" type="body"/>
          </p:nvPr>
        </p:nvSpPr>
        <p:spPr>
          <a:xfrm>
            <a:off x="324000" y="4077391"/>
            <a:ext cx="7443000" cy="81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Decide which whole number your value is closer to.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£20.25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rounded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to the nearest pound is £20.</a:t>
            </a:r>
            <a:endParaRPr sz="2000"/>
          </a:p>
        </p:txBody>
      </p:sp>
      <p:pic>
        <p:nvPicPr>
          <p:cNvPr id="1743" name="Google Shape;1743;p1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246" y="1019488"/>
            <a:ext cx="798316" cy="896106"/>
          </a:xfrm>
          <a:prstGeom prst="rect">
            <a:avLst/>
          </a:prstGeom>
          <a:noFill/>
          <a:ln>
            <a:noFill/>
          </a:ln>
        </p:spPr>
      </p:pic>
      <p:sp>
        <p:nvSpPr>
          <p:cNvPr id="1744" name="Google Shape;1744;p142"/>
          <p:cNvSpPr txBox="1"/>
          <p:nvPr/>
        </p:nvSpPr>
        <p:spPr>
          <a:xfrm>
            <a:off x="385750" y="18552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45" name="Google Shape;1745;p142"/>
          <p:cNvGrpSpPr/>
          <p:nvPr/>
        </p:nvGrpSpPr>
        <p:grpSpPr>
          <a:xfrm>
            <a:off x="1134726" y="536447"/>
            <a:ext cx="2911427" cy="1216924"/>
            <a:chOff x="1134723" y="2670200"/>
            <a:chExt cx="2911427" cy="1579600"/>
          </a:xfrm>
        </p:grpSpPr>
        <p:pic>
          <p:nvPicPr>
            <p:cNvPr id="1746" name="Google Shape;1746;p142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 flipH="1">
              <a:off x="1134723" y="2670200"/>
              <a:ext cx="2911427" cy="157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47" name="Google Shape;1747;p142"/>
            <p:cNvSpPr txBox="1"/>
            <p:nvPr/>
          </p:nvSpPr>
          <p:spPr>
            <a:xfrm>
              <a:off x="1332650" y="2772500"/>
              <a:ext cx="26298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My t-shirt cost £20.25, I </a:t>
              </a:r>
              <a:r>
                <a:rPr b="1" lang="en-GB" sz="1800">
                  <a:latin typeface="Lexend"/>
                  <a:ea typeface="Lexend"/>
                  <a:cs typeface="Lexend"/>
                  <a:sym typeface="Lexend"/>
                </a:rPr>
                <a:t>rounded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it to the nearest pound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1" name="Shape 1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2" name="Google Shape;1752;p14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the nearest whole number</a:t>
            </a:r>
            <a:endParaRPr/>
          </a:p>
        </p:txBody>
      </p:sp>
      <p:sp>
        <p:nvSpPr>
          <p:cNvPr id="1753" name="Google Shape;1753;p143"/>
          <p:cNvSpPr txBox="1"/>
          <p:nvPr>
            <p:ph idx="1" type="body"/>
          </p:nvPr>
        </p:nvSpPr>
        <p:spPr>
          <a:xfrm>
            <a:off x="324000" y="2009825"/>
            <a:ext cx="7044000" cy="15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6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means </a:t>
            </a:r>
            <a:r>
              <a:rPr b="1" lang="en-GB" sz="1800"/>
              <a:t>rounding</a:t>
            </a:r>
            <a:r>
              <a:rPr lang="en-GB" sz="1800"/>
              <a:t> to the nearest whole number (one).</a:t>
            </a:r>
            <a:endParaRPr sz="1800"/>
          </a:p>
        </p:txBody>
      </p:sp>
      <p:grpSp>
        <p:nvGrpSpPr>
          <p:cNvPr id="1754" name="Google Shape;1754;p143"/>
          <p:cNvGrpSpPr/>
          <p:nvPr/>
        </p:nvGrpSpPr>
        <p:grpSpPr>
          <a:xfrm>
            <a:off x="1134856" y="536551"/>
            <a:ext cx="3912680" cy="1216750"/>
            <a:chOff x="1134720" y="2670196"/>
            <a:chExt cx="2911437" cy="1311436"/>
          </a:xfrm>
        </p:grpSpPr>
        <p:pic>
          <p:nvPicPr>
            <p:cNvPr id="1755" name="Google Shape;1755;p143"/>
            <p:cNvPicPr preferRelativeResize="0"/>
            <p:nvPr/>
          </p:nvPicPr>
          <p:blipFill rotWithShape="1">
            <a:blip r:embed="rId3">
              <a:alphaModFix/>
            </a:blip>
            <a:srcRect b="0" l="0" r="69082" t="56280"/>
            <a:stretch/>
          </p:blipFill>
          <p:spPr>
            <a:xfrm flipH="1">
              <a:off x="1134720" y="2670196"/>
              <a:ext cx="2911437" cy="131143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56" name="Google Shape;1756;p143"/>
            <p:cNvSpPr txBox="1"/>
            <p:nvPr/>
          </p:nvSpPr>
          <p:spPr>
            <a:xfrm>
              <a:off x="1332647" y="2728667"/>
              <a:ext cx="2631000" cy="64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think I could </a:t>
              </a:r>
              <a:r>
                <a:rPr b="1" lang="en-GB" sz="1800">
                  <a:latin typeface="Lexend"/>
                  <a:ea typeface="Lexend"/>
                  <a:cs typeface="Lexend"/>
                  <a:sym typeface="Lexend"/>
                </a:rPr>
                <a:t>round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to the nearest whole number without drawing a number line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757" name="Google Shape;1757;p1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528" y="651127"/>
            <a:ext cx="804119" cy="1057915"/>
          </a:xfrm>
          <a:prstGeom prst="rect">
            <a:avLst/>
          </a:prstGeom>
          <a:noFill/>
          <a:ln>
            <a:noFill/>
          </a:ln>
        </p:spPr>
      </p:pic>
      <p:sp>
        <p:nvSpPr>
          <p:cNvPr id="1758" name="Google Shape;1758;p143"/>
          <p:cNvSpPr txBox="1"/>
          <p:nvPr/>
        </p:nvSpPr>
        <p:spPr>
          <a:xfrm>
            <a:off x="324000" y="164865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59" name="Google Shape;1759;p1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940276" y="790888"/>
            <a:ext cx="794769" cy="896106"/>
          </a:xfrm>
          <a:prstGeom prst="rect">
            <a:avLst/>
          </a:prstGeom>
          <a:noFill/>
          <a:ln>
            <a:noFill/>
          </a:ln>
        </p:spPr>
      </p:pic>
      <p:sp>
        <p:nvSpPr>
          <p:cNvPr id="1760" name="Google Shape;1760;p143"/>
          <p:cNvSpPr txBox="1"/>
          <p:nvPr/>
        </p:nvSpPr>
        <p:spPr>
          <a:xfrm>
            <a:off x="7929550" y="16266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61" name="Google Shape;1761;p143"/>
          <p:cNvGrpSpPr/>
          <p:nvPr/>
        </p:nvGrpSpPr>
        <p:grpSpPr>
          <a:xfrm>
            <a:off x="5224816" y="595725"/>
            <a:ext cx="2728834" cy="1283275"/>
            <a:chOff x="5387494" y="2437285"/>
            <a:chExt cx="2985595" cy="2459323"/>
          </a:xfrm>
        </p:grpSpPr>
        <p:pic>
          <p:nvPicPr>
            <p:cNvPr id="1762" name="Google Shape;1762;p143"/>
            <p:cNvPicPr preferRelativeResize="0"/>
            <p:nvPr/>
          </p:nvPicPr>
          <p:blipFill rotWithShape="1">
            <a:blip r:embed="rId3">
              <a:alphaModFix/>
            </a:blip>
            <a:srcRect b="0" l="0" r="69082" t="56280"/>
            <a:stretch/>
          </p:blipFill>
          <p:spPr>
            <a:xfrm>
              <a:off x="5387494" y="2437285"/>
              <a:ext cx="2985595" cy="24593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63" name="Google Shape;1763;p143"/>
            <p:cNvSpPr txBox="1"/>
            <p:nvPr/>
          </p:nvSpPr>
          <p:spPr>
            <a:xfrm>
              <a:off x="5548335" y="2583959"/>
              <a:ext cx="26352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Me too. Let’s try </a:t>
              </a:r>
              <a:r>
                <a:rPr b="1" lang="en-GB" sz="1800">
                  <a:latin typeface="Lexend"/>
                  <a:ea typeface="Lexend"/>
                  <a:cs typeface="Lexend"/>
                  <a:sym typeface="Lexend"/>
                </a:rPr>
                <a:t>rounding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£346.38 to the nearest pound.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1764" name="Google Shape;1764;p143"/>
          <p:cNvGraphicFramePr/>
          <p:nvPr/>
        </p:nvGraphicFramePr>
        <p:xfrm>
          <a:off x="1465001" y="22427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{96544899-28CE-4B64-812E-1AE840465D4C}</a:tableStyleId>
              </a:tblPr>
              <a:tblGrid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765" name="Google Shape;1765;p143"/>
          <p:cNvGrpSpPr/>
          <p:nvPr/>
        </p:nvGrpSpPr>
        <p:grpSpPr>
          <a:xfrm>
            <a:off x="1539376" y="2230774"/>
            <a:ext cx="6284584" cy="895379"/>
            <a:chOff x="1539376" y="3091144"/>
            <a:chExt cx="6284584" cy="895379"/>
          </a:xfrm>
        </p:grpSpPr>
        <p:grpSp>
          <p:nvGrpSpPr>
            <p:cNvPr id="1766" name="Google Shape;1766;p143"/>
            <p:cNvGrpSpPr/>
            <p:nvPr/>
          </p:nvGrpSpPr>
          <p:grpSpPr>
            <a:xfrm>
              <a:off x="1539376" y="3103150"/>
              <a:ext cx="6284584" cy="883373"/>
              <a:chOff x="2484575" y="1655350"/>
              <a:chExt cx="6284584" cy="883373"/>
            </a:xfrm>
          </p:grpSpPr>
          <p:pic>
            <p:nvPicPr>
              <p:cNvPr descr="&lt;math xmlns=&quot;http://www.w3.org/1998/Math/MathML&quot; display=&quot;block&quot; data-is-equatio=&quot;1&quot; data-latex=&quot;10^{\ }&quot;&gt;&lt;msup&gt;&lt;mn&gt;10&lt;/mn&gt;&lt;mrow data-mjx-texclass=&quot;ORD&quot;&gt;&lt;mtext&gt;&lt;/mtext&gt;&lt;/mrow&gt;&lt;/msup&gt;&lt;/math&gt;" id="1767" name="Google Shape;1767;p143" title="10 raised to the power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5890349" y="2262830"/>
                <a:ext cx="206250" cy="1663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10^2&quot;&gt;&lt;msup&gt;&lt;mn&gt;10&lt;/mn&gt;&lt;mn&gt;2&lt;/mn&gt;&lt;/msup&gt;&lt;/math&gt;" id="1768" name="Google Shape;1768;p143" title="10 squared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5342799" y="2189371"/>
                <a:ext cx="313981" cy="22894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10^3&quot;&gt;&lt;msup&gt;&lt;mn&gt;10&lt;/mn&gt;&lt;mn&gt;3&lt;/mn&gt;&lt;/msup&gt;&lt;/math&gt;" id="1769" name="Google Shape;1769;p143" title="10 cubed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4889324" y="2189371"/>
                <a:ext cx="300899" cy="22894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10^4&quot;&gt;&lt;msup&gt;&lt;mn&gt;10&lt;/mn&gt;&lt;mn&gt;4&lt;/mn&gt;&lt;/msup&gt;&lt;/math&gt;" id="1770" name="Google Shape;1770;p143" title="10 to the fourth power"/>
              <p:cNvPicPr preferRelativeResize="0"/>
              <p:nvPr/>
            </p:nvPicPr>
            <p:blipFill>
              <a:blip r:embed="rId9">
                <a:alphaModFix/>
              </a:blip>
              <a:stretch>
                <a:fillRect/>
              </a:stretch>
            </p:blipFill>
            <p:spPr>
              <a:xfrm>
                <a:off x="4378765" y="2189363"/>
                <a:ext cx="313981" cy="22894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10^5&quot;&gt;&lt;msup&gt;&lt;mn&gt;10&lt;/mn&gt;&lt;mn&gt;5&lt;/mn&gt;&lt;/msup&gt;&lt;/math&gt;" id="1771" name="Google Shape;1771;p143" title="10 to the fifth power"/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3925488" y="2189372"/>
                <a:ext cx="307440" cy="22894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\frac{1}{10^2}&quot;&gt;&lt;mfrac&gt;&lt;mn&gt;1&lt;/mn&gt;&lt;msup&gt;&lt;mn&gt;10&lt;/mn&gt;&lt;mn&gt;2&lt;/mn&gt;&lt;/msup&gt;&lt;/mfrac&gt;&lt;/math&gt;" id="1772" name="Google Shape;1772;p143" title="the fraction with numerator 1 and denominator 10 squared"/>
              <p:cNvPicPr preferRelativeResize="0"/>
              <p:nvPr/>
            </p:nvPicPr>
            <p:blipFill>
              <a:blip r:embed="rId11">
                <a:alphaModFix/>
              </a:blip>
              <a:stretch>
                <a:fillRect/>
              </a:stretch>
            </p:blipFill>
            <p:spPr>
              <a:xfrm>
                <a:off x="7263899" y="2156141"/>
                <a:ext cx="263983" cy="382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\frac{1}{10^3}&quot;&gt;&lt;mfrac&gt;&lt;mn&gt;1&lt;/mn&gt;&lt;msup&gt;&lt;mn&gt;10&lt;/mn&gt;&lt;mn&gt;3&lt;/mn&gt;&lt;/msup&gt;&lt;/mfrac&gt;&lt;/math&gt;" id="1773" name="Google Shape;1773;p143" title="the fraction with numerator 1 and denominator 10 cubed"/>
              <p:cNvPicPr preferRelativeResize="0"/>
              <p:nvPr/>
            </p:nvPicPr>
            <p:blipFill>
              <a:blip r:embed="rId12">
                <a:alphaModFix/>
              </a:blip>
              <a:stretch>
                <a:fillRect/>
              </a:stretch>
            </p:blipFill>
            <p:spPr>
              <a:xfrm>
                <a:off x="7772333" y="2153303"/>
                <a:ext cx="263983" cy="382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\frac{1}{10^4}&quot;&gt;&lt;mfrac&gt;&lt;mn&gt;1&lt;/mn&gt;&lt;msup&gt;&lt;mn&gt;10&lt;/mn&gt;&lt;mn&gt;4&lt;/mn&gt;&lt;/msup&gt;&lt;/mfrac&gt;&lt;/math&gt;" id="1774" name="Google Shape;1774;p143" title="the fraction with numerator 1 and denominator 10 to the fourth power"/>
              <p:cNvPicPr preferRelativeResize="0"/>
              <p:nvPr/>
            </p:nvPicPr>
            <p:blipFill>
              <a:blip r:embed="rId13">
                <a:alphaModFix/>
              </a:blip>
              <a:stretch>
                <a:fillRect/>
              </a:stretch>
            </p:blipFill>
            <p:spPr>
              <a:xfrm>
                <a:off x="8199808" y="2152373"/>
                <a:ext cx="263983" cy="3787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\frac{1}{10}&quot;&gt;&lt;mfrac&gt;&lt;mn&gt;1&lt;/mn&gt;&lt;mn&gt;10&lt;/mn&gt;&lt;/mfrac&gt;&lt;/math&gt;" id="1775" name="Google Shape;1775;p143" title="one tenth"/>
              <p:cNvPicPr preferRelativeResize="0"/>
              <p:nvPr/>
            </p:nvPicPr>
            <p:blipFill>
              <a:blip r:embed="rId14">
                <a:alphaModFix/>
              </a:blip>
              <a:stretch>
                <a:fillRect/>
              </a:stretch>
            </p:blipFill>
            <p:spPr>
              <a:xfrm>
                <a:off x="6820825" y="2150563"/>
                <a:ext cx="198622" cy="3660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10^{\ }&quot;&gt;&lt;msup&gt;&lt;mn&gt;10&lt;/mn&gt;&lt;mrow data-mjx-texclass=&quot;ORD&quot;&gt;&lt;mtext&gt;&lt;/mtext&gt;&lt;/mrow&gt;&lt;/msup&gt;&lt;/math&gt;" id="1776" name="Google Shape;1776;p143" title="10 raised to the power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55789" t="0"/>
              <a:stretch/>
            </p:blipFill>
            <p:spPr>
              <a:xfrm>
                <a:off x="6393529" y="2238366"/>
                <a:ext cx="89650" cy="163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10^6&quot;&gt;&lt;msup&gt;&lt;mn&gt;10&lt;/mn&gt;&lt;mn&gt;6&lt;/mn&gt;&lt;/msup&gt;&lt;/math&gt;" id="1777" name="Google Shape;1777;p143" title="10 to the sixth power"/>
              <p:cNvPicPr preferRelativeResize="0"/>
              <p:nvPr/>
            </p:nvPicPr>
            <p:blipFill>
              <a:blip r:embed="rId15">
                <a:alphaModFix/>
              </a:blip>
              <a:stretch>
                <a:fillRect/>
              </a:stretch>
            </p:blipFill>
            <p:spPr>
              <a:xfrm>
                <a:off x="3427829" y="2189925"/>
                <a:ext cx="300900" cy="22782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10^7&quot;&gt;&lt;msup&gt;&lt;mn&gt;10&lt;/mn&gt;&lt;mn&gt;7&lt;/mn&gt;&lt;/msup&gt;&lt;/math&gt;" id="1778" name="Google Shape;1778;p143" title="10 to the seventh power"/>
              <p:cNvPicPr preferRelativeResize="0"/>
              <p:nvPr/>
            </p:nvPicPr>
            <p:blipFill>
              <a:blip r:embed="rId16">
                <a:alphaModFix/>
              </a:blip>
              <a:stretch>
                <a:fillRect/>
              </a:stretch>
            </p:blipFill>
            <p:spPr>
              <a:xfrm>
                <a:off x="2968200" y="2207531"/>
                <a:ext cx="300900" cy="22462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10^8&quot;&gt;&lt;msup&gt;&lt;mn&gt;10&lt;/mn&gt;&lt;mn&gt;8&lt;/mn&gt;&lt;/msup&gt;&lt;/math&gt;" id="1779" name="Google Shape;1779;p143" title="10 to the eighth power"/>
              <p:cNvPicPr preferRelativeResize="0"/>
              <p:nvPr/>
            </p:nvPicPr>
            <p:blipFill>
              <a:blip r:embed="rId17">
                <a:alphaModFix/>
              </a:blip>
              <a:stretch>
                <a:fillRect/>
              </a:stretch>
            </p:blipFill>
            <p:spPr>
              <a:xfrm>
                <a:off x="2484575" y="2203850"/>
                <a:ext cx="264000" cy="19990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80" name="Google Shape;1780;p143"/>
              <p:cNvSpPr txBox="1"/>
              <p:nvPr/>
            </p:nvSpPr>
            <p:spPr>
              <a:xfrm>
                <a:off x="6897025" y="1655350"/>
                <a:ext cx="388200" cy="2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/>
                  <a:t>th</a:t>
                </a:r>
                <a:endParaRPr sz="800"/>
              </a:p>
            </p:txBody>
          </p:sp>
          <p:sp>
            <p:nvSpPr>
              <p:cNvPr id="1781" name="Google Shape;1781;p143"/>
              <p:cNvSpPr txBox="1"/>
              <p:nvPr/>
            </p:nvSpPr>
            <p:spPr>
              <a:xfrm>
                <a:off x="7380796" y="1655350"/>
                <a:ext cx="388200" cy="2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/>
                  <a:t>th</a:t>
                </a:r>
                <a:endParaRPr sz="800"/>
              </a:p>
            </p:txBody>
          </p:sp>
          <p:sp>
            <p:nvSpPr>
              <p:cNvPr id="1782" name="Google Shape;1782;p143"/>
              <p:cNvSpPr txBox="1"/>
              <p:nvPr/>
            </p:nvSpPr>
            <p:spPr>
              <a:xfrm>
                <a:off x="7868655" y="1655350"/>
                <a:ext cx="388200" cy="2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/>
                  <a:t>th</a:t>
                </a:r>
                <a:endParaRPr sz="800"/>
              </a:p>
            </p:txBody>
          </p:sp>
          <p:sp>
            <p:nvSpPr>
              <p:cNvPr id="1783" name="Google Shape;1783;p143"/>
              <p:cNvSpPr txBox="1"/>
              <p:nvPr/>
            </p:nvSpPr>
            <p:spPr>
              <a:xfrm>
                <a:off x="8380959" y="1655350"/>
                <a:ext cx="388200" cy="2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/>
                  <a:t>th</a:t>
                </a:r>
                <a:endParaRPr sz="800"/>
              </a:p>
            </p:txBody>
          </p:sp>
        </p:grpSp>
        <p:sp>
          <p:nvSpPr>
            <p:cNvPr id="1784" name="Google Shape;1784;p143"/>
            <p:cNvSpPr txBox="1"/>
            <p:nvPr/>
          </p:nvSpPr>
          <p:spPr>
            <a:xfrm>
              <a:off x="5713350" y="3091144"/>
              <a:ext cx="122100" cy="37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85" name="Google Shape;1785;p143"/>
            <p:cNvSpPr txBox="1"/>
            <p:nvPr/>
          </p:nvSpPr>
          <p:spPr>
            <a:xfrm>
              <a:off x="5713350" y="3523875"/>
              <a:ext cx="122100" cy="37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86" name="Google Shape;1786;p143"/>
          <p:cNvSpPr txBox="1"/>
          <p:nvPr/>
        </p:nvSpPr>
        <p:spPr>
          <a:xfrm>
            <a:off x="5713350" y="3145174"/>
            <a:ext cx="1221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87" name="Google Shape;1787;p143"/>
          <p:cNvGrpSpPr/>
          <p:nvPr/>
        </p:nvGrpSpPr>
        <p:grpSpPr>
          <a:xfrm>
            <a:off x="4411875" y="3270680"/>
            <a:ext cx="2196900" cy="313500"/>
            <a:chOff x="4411875" y="4131050"/>
            <a:chExt cx="2196900" cy="313500"/>
          </a:xfrm>
        </p:grpSpPr>
        <p:sp>
          <p:nvSpPr>
            <p:cNvPr id="1788" name="Google Shape;1788;p143"/>
            <p:cNvSpPr/>
            <p:nvPr/>
          </p:nvSpPr>
          <p:spPr>
            <a:xfrm>
              <a:off x="4411875" y="4131050"/>
              <a:ext cx="273600" cy="3135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89" name="Google Shape;1789;p143"/>
            <p:cNvSpPr/>
            <p:nvPr/>
          </p:nvSpPr>
          <p:spPr>
            <a:xfrm>
              <a:off x="4904225" y="4131050"/>
              <a:ext cx="273600" cy="3135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90" name="Google Shape;1790;p143"/>
            <p:cNvSpPr/>
            <p:nvPr/>
          </p:nvSpPr>
          <p:spPr>
            <a:xfrm>
              <a:off x="5396575" y="4131050"/>
              <a:ext cx="273600" cy="3135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91" name="Google Shape;1791;p143"/>
            <p:cNvSpPr/>
            <p:nvPr/>
          </p:nvSpPr>
          <p:spPr>
            <a:xfrm>
              <a:off x="5835450" y="4131050"/>
              <a:ext cx="273600" cy="3135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92" name="Google Shape;1792;p143"/>
            <p:cNvSpPr/>
            <p:nvPr/>
          </p:nvSpPr>
          <p:spPr>
            <a:xfrm>
              <a:off x="6335175" y="4131050"/>
              <a:ext cx="273600" cy="3135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93" name="Google Shape;1793;p143"/>
          <p:cNvSpPr/>
          <p:nvPr/>
        </p:nvSpPr>
        <p:spPr>
          <a:xfrm>
            <a:off x="5328250" y="2302580"/>
            <a:ext cx="347400" cy="313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4" name="Google Shape;1794;p143"/>
          <p:cNvSpPr/>
          <p:nvPr/>
        </p:nvSpPr>
        <p:spPr>
          <a:xfrm>
            <a:off x="5328250" y="3261320"/>
            <a:ext cx="347400" cy="313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5" name="Google Shape;1795;p143"/>
          <p:cNvSpPr/>
          <p:nvPr/>
        </p:nvSpPr>
        <p:spPr>
          <a:xfrm>
            <a:off x="5824700" y="3261325"/>
            <a:ext cx="286800" cy="313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6" name="Google Shape;1796;p143"/>
          <p:cNvSpPr/>
          <p:nvPr/>
        </p:nvSpPr>
        <p:spPr>
          <a:xfrm>
            <a:off x="5646025" y="3728705"/>
            <a:ext cx="415800" cy="2733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7" name="Google Shape;1797;p143"/>
          <p:cNvSpPr txBox="1"/>
          <p:nvPr/>
        </p:nvSpPr>
        <p:spPr>
          <a:xfrm>
            <a:off x="324000" y="3651730"/>
            <a:ext cx="528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Halfway would show a 5 in this column, 3 is less than 5.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8" name="Google Shape;1798;p143"/>
          <p:cNvSpPr txBox="1"/>
          <p:nvPr/>
        </p:nvSpPr>
        <p:spPr>
          <a:xfrm>
            <a:off x="324000" y="4282025"/>
            <a:ext cx="6284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Therefore, we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round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down to the lower whole number.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£346.38 is £346 to the nearest pound.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2" name="Shape 1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Google Shape;1803;p1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the nearest whole number</a:t>
            </a:r>
            <a:endParaRPr/>
          </a:p>
        </p:txBody>
      </p:sp>
      <p:sp>
        <p:nvSpPr>
          <p:cNvPr id="1804" name="Google Shape;1804;p144"/>
          <p:cNvSpPr txBox="1"/>
          <p:nvPr>
            <p:ph idx="1" type="subTitle"/>
          </p:nvPr>
        </p:nvSpPr>
        <p:spPr>
          <a:xfrm>
            <a:off x="324000" y="810000"/>
            <a:ext cx="3982200" cy="74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Round</a:t>
            </a:r>
            <a:r>
              <a:rPr lang="en-GB"/>
              <a:t> 109.55 to the nearest whole number.</a:t>
            </a:r>
            <a:endParaRPr/>
          </a:p>
        </p:txBody>
      </p:sp>
      <p:graphicFrame>
        <p:nvGraphicFramePr>
          <p:cNvPr id="1805" name="Google Shape;1805;p144"/>
          <p:cNvGraphicFramePr/>
          <p:nvPr/>
        </p:nvGraphicFramePr>
        <p:xfrm>
          <a:off x="1007801" y="16331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{96544899-28CE-4B64-812E-1AE840465D4C}</a:tableStyleId>
              </a:tblPr>
              <a:tblGrid>
                <a:gridCol w="475250"/>
                <a:gridCol w="475250"/>
                <a:gridCol w="475250"/>
                <a:gridCol w="475250"/>
                <a:gridCol w="475250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06" name="Google Shape;1806;p144"/>
          <p:cNvSpPr txBox="1"/>
          <p:nvPr/>
        </p:nvSpPr>
        <p:spPr>
          <a:xfrm>
            <a:off x="2398510" y="1604329"/>
            <a:ext cx="1221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7" name="Google Shape;1807;p144"/>
          <p:cNvSpPr txBox="1"/>
          <p:nvPr/>
        </p:nvSpPr>
        <p:spPr>
          <a:xfrm>
            <a:off x="2398510" y="2113260"/>
            <a:ext cx="1221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08" name="Google Shape;1808;p144"/>
          <p:cNvGrpSpPr/>
          <p:nvPr/>
        </p:nvGrpSpPr>
        <p:grpSpPr>
          <a:xfrm>
            <a:off x="1123275" y="2178655"/>
            <a:ext cx="2169080" cy="347675"/>
            <a:chOff x="1123275" y="2178655"/>
            <a:chExt cx="2169080" cy="347675"/>
          </a:xfrm>
        </p:grpSpPr>
        <p:sp>
          <p:nvSpPr>
            <p:cNvPr id="1809" name="Google Shape;1809;p144"/>
            <p:cNvSpPr/>
            <p:nvPr/>
          </p:nvSpPr>
          <p:spPr>
            <a:xfrm>
              <a:off x="1123275" y="2178655"/>
              <a:ext cx="273600" cy="3135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10" name="Google Shape;1810;p144"/>
            <p:cNvSpPr/>
            <p:nvPr/>
          </p:nvSpPr>
          <p:spPr>
            <a:xfrm>
              <a:off x="1600850" y="2212830"/>
              <a:ext cx="273600" cy="3135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11" name="Google Shape;1811;p144"/>
            <p:cNvSpPr/>
            <p:nvPr/>
          </p:nvSpPr>
          <p:spPr>
            <a:xfrm>
              <a:off x="2078425" y="2178655"/>
              <a:ext cx="273600" cy="3135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12" name="Google Shape;1812;p144"/>
            <p:cNvSpPr/>
            <p:nvPr/>
          </p:nvSpPr>
          <p:spPr>
            <a:xfrm>
              <a:off x="2559685" y="2212830"/>
              <a:ext cx="273600" cy="3135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13" name="Google Shape;1813;p144"/>
            <p:cNvSpPr/>
            <p:nvPr/>
          </p:nvSpPr>
          <p:spPr>
            <a:xfrm>
              <a:off x="3018755" y="2198050"/>
              <a:ext cx="273600" cy="3135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14" name="Google Shape;1814;p144"/>
          <p:cNvSpPr/>
          <p:nvPr/>
        </p:nvSpPr>
        <p:spPr>
          <a:xfrm>
            <a:off x="2537575" y="2195725"/>
            <a:ext cx="286800" cy="313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5" name="Google Shape;1815;p144"/>
          <p:cNvSpPr/>
          <p:nvPr/>
        </p:nvSpPr>
        <p:spPr>
          <a:xfrm>
            <a:off x="2034125" y="2195733"/>
            <a:ext cx="347400" cy="313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6" name="Google Shape;1816;p144"/>
          <p:cNvSpPr/>
          <p:nvPr/>
        </p:nvSpPr>
        <p:spPr>
          <a:xfrm>
            <a:off x="2034113" y="1669730"/>
            <a:ext cx="347400" cy="313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17" name="Google Shape;1817;p144"/>
          <p:cNvGrpSpPr/>
          <p:nvPr/>
        </p:nvGrpSpPr>
        <p:grpSpPr>
          <a:xfrm>
            <a:off x="1119059" y="2667450"/>
            <a:ext cx="3156600" cy="630650"/>
            <a:chOff x="1119059" y="2667450"/>
            <a:chExt cx="3156600" cy="630650"/>
          </a:xfrm>
        </p:grpSpPr>
        <p:sp>
          <p:nvSpPr>
            <p:cNvPr id="1818" name="Google Shape;1818;p144"/>
            <p:cNvSpPr/>
            <p:nvPr/>
          </p:nvSpPr>
          <p:spPr>
            <a:xfrm>
              <a:off x="2581225" y="2667450"/>
              <a:ext cx="199500" cy="2955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19" name="Google Shape;1819;p144"/>
            <p:cNvSpPr txBox="1"/>
            <p:nvPr/>
          </p:nvSpPr>
          <p:spPr>
            <a:xfrm>
              <a:off x="1119059" y="3020900"/>
              <a:ext cx="3156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The digit in this column is 5.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20" name="Google Shape;1820;p144"/>
          <p:cNvSpPr txBox="1"/>
          <p:nvPr/>
        </p:nvSpPr>
        <p:spPr>
          <a:xfrm>
            <a:off x="357048" y="3554300"/>
            <a:ext cx="3949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 will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round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up to the higher whole number.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1" name="Google Shape;1821;p144"/>
          <p:cNvSpPr txBox="1"/>
          <p:nvPr/>
        </p:nvSpPr>
        <p:spPr>
          <a:xfrm>
            <a:off x="357048" y="4240100"/>
            <a:ext cx="3949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109.55 to the nearest whole number is 110.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22" name="Google Shape;1822;p144"/>
          <p:cNvGrpSpPr/>
          <p:nvPr/>
        </p:nvGrpSpPr>
        <p:grpSpPr>
          <a:xfrm>
            <a:off x="2675226" y="1613801"/>
            <a:ext cx="871971" cy="228900"/>
            <a:chOff x="6897025" y="1655350"/>
            <a:chExt cx="871971" cy="228900"/>
          </a:xfrm>
        </p:grpSpPr>
        <p:sp>
          <p:nvSpPr>
            <p:cNvPr id="1823" name="Google Shape;1823;p144"/>
            <p:cNvSpPr txBox="1"/>
            <p:nvPr/>
          </p:nvSpPr>
          <p:spPr>
            <a:xfrm>
              <a:off x="6897025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1824" name="Google Shape;1824;p144"/>
            <p:cNvSpPr txBox="1"/>
            <p:nvPr/>
          </p:nvSpPr>
          <p:spPr>
            <a:xfrm>
              <a:off x="7380796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8" name="Shape 1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29" name="Google Shape;1829;p145"/>
          <p:cNvGraphicFramePr/>
          <p:nvPr/>
        </p:nvGraphicFramePr>
        <p:xfrm>
          <a:off x="5503601" y="16331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{96544899-28CE-4B64-812E-1AE840465D4C}</a:tableStyleId>
              </a:tblPr>
              <a:tblGrid>
                <a:gridCol w="475250"/>
                <a:gridCol w="475250"/>
                <a:gridCol w="475250"/>
                <a:gridCol w="475250"/>
                <a:gridCol w="475250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30" name="Google Shape;1830;p145"/>
          <p:cNvSpPr/>
          <p:nvPr/>
        </p:nvSpPr>
        <p:spPr>
          <a:xfrm>
            <a:off x="6529925" y="2184274"/>
            <a:ext cx="347400" cy="313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1" name="Google Shape;1831;p145"/>
          <p:cNvSpPr/>
          <p:nvPr/>
        </p:nvSpPr>
        <p:spPr>
          <a:xfrm>
            <a:off x="7033375" y="2184266"/>
            <a:ext cx="286800" cy="313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2" name="Google Shape;1832;p1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the nearest whole number</a:t>
            </a:r>
            <a:endParaRPr/>
          </a:p>
        </p:txBody>
      </p:sp>
      <p:sp>
        <p:nvSpPr>
          <p:cNvPr id="1833" name="Google Shape;1833;p145"/>
          <p:cNvSpPr txBox="1"/>
          <p:nvPr>
            <p:ph idx="1" type="subTitle"/>
          </p:nvPr>
        </p:nvSpPr>
        <p:spPr>
          <a:xfrm>
            <a:off x="4819800" y="810000"/>
            <a:ext cx="3982200" cy="74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Round</a:t>
            </a:r>
            <a:r>
              <a:rPr lang="en-GB"/>
              <a:t> 85.28 to the nearest whole number.</a:t>
            </a:r>
            <a:endParaRPr/>
          </a:p>
        </p:txBody>
      </p:sp>
      <p:sp>
        <p:nvSpPr>
          <p:cNvPr id="1834" name="Google Shape;1834;p145"/>
          <p:cNvSpPr txBox="1"/>
          <p:nvPr/>
        </p:nvSpPr>
        <p:spPr>
          <a:xfrm>
            <a:off x="6894310" y="1604329"/>
            <a:ext cx="1221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5" name="Google Shape;1835;p145"/>
          <p:cNvSpPr txBox="1"/>
          <p:nvPr/>
        </p:nvSpPr>
        <p:spPr>
          <a:xfrm>
            <a:off x="6894310" y="2113260"/>
            <a:ext cx="1221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36" name="Google Shape;1836;p145"/>
          <p:cNvGrpSpPr/>
          <p:nvPr/>
        </p:nvGrpSpPr>
        <p:grpSpPr>
          <a:xfrm>
            <a:off x="5619075" y="2198050"/>
            <a:ext cx="2169080" cy="331056"/>
            <a:chOff x="1123275" y="2198050"/>
            <a:chExt cx="2169080" cy="331056"/>
          </a:xfrm>
        </p:grpSpPr>
        <p:sp>
          <p:nvSpPr>
            <p:cNvPr id="1837" name="Google Shape;1837;p145"/>
            <p:cNvSpPr/>
            <p:nvPr/>
          </p:nvSpPr>
          <p:spPr>
            <a:xfrm>
              <a:off x="1123275" y="2215605"/>
              <a:ext cx="273600" cy="313500"/>
            </a:xfrm>
            <a:prstGeom prst="roundRect">
              <a:avLst>
                <a:gd fmla="val 16667" name="adj"/>
              </a:avLst>
            </a:prstGeom>
            <a:solidFill>
              <a:srgbClr val="E6F2F2"/>
            </a:solidFill>
            <a:ln cap="flat" cmpd="sng" w="9525">
              <a:solidFill>
                <a:srgbClr val="E6F2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38" name="Google Shape;1838;p145"/>
            <p:cNvSpPr/>
            <p:nvPr/>
          </p:nvSpPr>
          <p:spPr>
            <a:xfrm>
              <a:off x="1600850" y="2215605"/>
              <a:ext cx="273600" cy="313500"/>
            </a:xfrm>
            <a:prstGeom prst="roundRect">
              <a:avLst>
                <a:gd fmla="val 16667" name="adj"/>
              </a:avLst>
            </a:prstGeom>
            <a:solidFill>
              <a:srgbClr val="E6F2F2"/>
            </a:solidFill>
            <a:ln cap="flat" cmpd="sng" w="9525">
              <a:solidFill>
                <a:srgbClr val="E6F2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39" name="Google Shape;1839;p145"/>
            <p:cNvSpPr/>
            <p:nvPr/>
          </p:nvSpPr>
          <p:spPr>
            <a:xfrm>
              <a:off x="2078425" y="2215605"/>
              <a:ext cx="273600" cy="313500"/>
            </a:xfrm>
            <a:prstGeom prst="roundRect">
              <a:avLst>
                <a:gd fmla="val 16667" name="adj"/>
              </a:avLst>
            </a:prstGeom>
            <a:solidFill>
              <a:srgbClr val="E6F2F2"/>
            </a:solidFill>
            <a:ln cap="flat" cmpd="sng" w="9525">
              <a:solidFill>
                <a:srgbClr val="E6F2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40" name="Google Shape;1840;p145"/>
            <p:cNvSpPr/>
            <p:nvPr/>
          </p:nvSpPr>
          <p:spPr>
            <a:xfrm>
              <a:off x="2559685" y="2215605"/>
              <a:ext cx="273600" cy="313500"/>
            </a:xfrm>
            <a:prstGeom prst="roundRect">
              <a:avLst>
                <a:gd fmla="val 16667" name="adj"/>
              </a:avLst>
            </a:prstGeom>
            <a:solidFill>
              <a:srgbClr val="E6F2F2"/>
            </a:solidFill>
            <a:ln cap="flat" cmpd="sng" w="9525">
              <a:solidFill>
                <a:srgbClr val="E6F2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41" name="Google Shape;1841;p145"/>
            <p:cNvSpPr/>
            <p:nvPr/>
          </p:nvSpPr>
          <p:spPr>
            <a:xfrm>
              <a:off x="3018755" y="2198050"/>
              <a:ext cx="273600" cy="313500"/>
            </a:xfrm>
            <a:prstGeom prst="roundRect">
              <a:avLst>
                <a:gd fmla="val 16667" name="adj"/>
              </a:avLst>
            </a:prstGeom>
            <a:solidFill>
              <a:srgbClr val="E6F2F2"/>
            </a:solidFill>
            <a:ln cap="flat" cmpd="sng" w="9525">
              <a:solidFill>
                <a:srgbClr val="E6F2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42" name="Google Shape;1842;p145"/>
          <p:cNvSpPr/>
          <p:nvPr/>
        </p:nvSpPr>
        <p:spPr>
          <a:xfrm>
            <a:off x="6529913" y="1669730"/>
            <a:ext cx="347400" cy="313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43" name="Google Shape;1843;p145"/>
          <p:cNvGrpSpPr/>
          <p:nvPr/>
        </p:nvGrpSpPr>
        <p:grpSpPr>
          <a:xfrm>
            <a:off x="5614859" y="2667450"/>
            <a:ext cx="3156600" cy="831350"/>
            <a:chOff x="1119059" y="2667450"/>
            <a:chExt cx="3156600" cy="831350"/>
          </a:xfrm>
        </p:grpSpPr>
        <p:sp>
          <p:nvSpPr>
            <p:cNvPr id="1844" name="Google Shape;1844;p145"/>
            <p:cNvSpPr/>
            <p:nvPr/>
          </p:nvSpPr>
          <p:spPr>
            <a:xfrm>
              <a:off x="2581225" y="2667450"/>
              <a:ext cx="199500" cy="2955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845" name="Google Shape;1845;p145"/>
            <p:cNvSpPr txBox="1"/>
            <p:nvPr/>
          </p:nvSpPr>
          <p:spPr>
            <a:xfrm>
              <a:off x="1119059" y="2944700"/>
              <a:ext cx="31566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Kalam"/>
                  <a:ea typeface="Kalam"/>
                  <a:cs typeface="Kalam"/>
                  <a:sym typeface="Kalam"/>
                </a:rPr>
                <a:t>The digit in this column is 2, which is less than 5.</a:t>
              </a:r>
              <a:endParaRPr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sp>
        <p:nvSpPr>
          <p:cNvPr id="1846" name="Google Shape;1846;p145"/>
          <p:cNvSpPr txBox="1"/>
          <p:nvPr/>
        </p:nvSpPr>
        <p:spPr>
          <a:xfrm>
            <a:off x="4852848" y="3562840"/>
            <a:ext cx="3949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We will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round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down to the lower whole number.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47" name="Google Shape;1847;p145"/>
          <p:cNvSpPr txBox="1"/>
          <p:nvPr/>
        </p:nvSpPr>
        <p:spPr>
          <a:xfrm>
            <a:off x="4852848" y="4180979"/>
            <a:ext cx="3949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85.28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to the nearest whole number is 85.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48" name="Google Shape;1848;p145"/>
          <p:cNvSpPr txBox="1"/>
          <p:nvPr>
            <p:ph idx="1" type="subTitle"/>
          </p:nvPr>
        </p:nvSpPr>
        <p:spPr>
          <a:xfrm>
            <a:off x="324000" y="810000"/>
            <a:ext cx="3982200" cy="74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Round</a:t>
            </a:r>
            <a:r>
              <a:rPr lang="en-GB"/>
              <a:t> 109.55 to the nearest whole number.</a:t>
            </a:r>
            <a:endParaRPr/>
          </a:p>
        </p:txBody>
      </p:sp>
      <p:graphicFrame>
        <p:nvGraphicFramePr>
          <p:cNvPr id="1849" name="Google Shape;1849;p145"/>
          <p:cNvGraphicFramePr/>
          <p:nvPr/>
        </p:nvGraphicFramePr>
        <p:xfrm>
          <a:off x="1007801" y="16331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{96544899-28CE-4B64-812E-1AE840465D4C}</a:tableStyleId>
              </a:tblPr>
              <a:tblGrid>
                <a:gridCol w="475250"/>
                <a:gridCol w="475250"/>
                <a:gridCol w="475250"/>
                <a:gridCol w="475250"/>
                <a:gridCol w="475250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50" name="Google Shape;1850;p145"/>
          <p:cNvSpPr txBox="1"/>
          <p:nvPr/>
        </p:nvSpPr>
        <p:spPr>
          <a:xfrm>
            <a:off x="2398510" y="1604329"/>
            <a:ext cx="1221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1" name="Google Shape;1851;p145"/>
          <p:cNvSpPr txBox="1"/>
          <p:nvPr/>
        </p:nvSpPr>
        <p:spPr>
          <a:xfrm>
            <a:off x="2398510" y="2113260"/>
            <a:ext cx="1221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2" name="Google Shape;1852;p145"/>
          <p:cNvSpPr/>
          <p:nvPr/>
        </p:nvSpPr>
        <p:spPr>
          <a:xfrm>
            <a:off x="2537575" y="2195725"/>
            <a:ext cx="286800" cy="313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3" name="Google Shape;1853;p145"/>
          <p:cNvSpPr/>
          <p:nvPr/>
        </p:nvSpPr>
        <p:spPr>
          <a:xfrm>
            <a:off x="2034125" y="2195733"/>
            <a:ext cx="347400" cy="313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4" name="Google Shape;1854;p145"/>
          <p:cNvSpPr/>
          <p:nvPr/>
        </p:nvSpPr>
        <p:spPr>
          <a:xfrm>
            <a:off x="2034113" y="1669730"/>
            <a:ext cx="347400" cy="313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55" name="Google Shape;1855;p145"/>
          <p:cNvGrpSpPr/>
          <p:nvPr/>
        </p:nvGrpSpPr>
        <p:grpSpPr>
          <a:xfrm>
            <a:off x="1119059" y="2667450"/>
            <a:ext cx="3156600" cy="630650"/>
            <a:chOff x="1119059" y="2667450"/>
            <a:chExt cx="3156600" cy="630650"/>
          </a:xfrm>
        </p:grpSpPr>
        <p:sp>
          <p:nvSpPr>
            <p:cNvPr id="1856" name="Google Shape;1856;p145"/>
            <p:cNvSpPr/>
            <p:nvPr/>
          </p:nvSpPr>
          <p:spPr>
            <a:xfrm>
              <a:off x="2581225" y="2667450"/>
              <a:ext cx="199500" cy="2955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57" name="Google Shape;1857;p145"/>
            <p:cNvSpPr txBox="1"/>
            <p:nvPr/>
          </p:nvSpPr>
          <p:spPr>
            <a:xfrm>
              <a:off x="1119059" y="3020900"/>
              <a:ext cx="3156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The digit in this column is 5.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58" name="Google Shape;1858;p145"/>
          <p:cNvSpPr txBox="1"/>
          <p:nvPr/>
        </p:nvSpPr>
        <p:spPr>
          <a:xfrm>
            <a:off x="357048" y="3554300"/>
            <a:ext cx="3949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 will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round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up to the higher whole number.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9" name="Google Shape;1859;p145"/>
          <p:cNvSpPr txBox="1"/>
          <p:nvPr/>
        </p:nvSpPr>
        <p:spPr>
          <a:xfrm>
            <a:off x="357048" y="4240100"/>
            <a:ext cx="3949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109.55 to the nearest whole number is 110.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60" name="Google Shape;1860;p145"/>
          <p:cNvGrpSpPr/>
          <p:nvPr/>
        </p:nvGrpSpPr>
        <p:grpSpPr>
          <a:xfrm>
            <a:off x="2675226" y="1613801"/>
            <a:ext cx="871971" cy="228900"/>
            <a:chOff x="6897025" y="1655350"/>
            <a:chExt cx="871971" cy="228900"/>
          </a:xfrm>
        </p:grpSpPr>
        <p:sp>
          <p:nvSpPr>
            <p:cNvPr id="1861" name="Google Shape;1861;p145"/>
            <p:cNvSpPr txBox="1"/>
            <p:nvPr/>
          </p:nvSpPr>
          <p:spPr>
            <a:xfrm>
              <a:off x="6897025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1862" name="Google Shape;1862;p145"/>
            <p:cNvSpPr txBox="1"/>
            <p:nvPr/>
          </p:nvSpPr>
          <p:spPr>
            <a:xfrm>
              <a:off x="7380796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</p:grpSp>
      <p:grpSp>
        <p:nvGrpSpPr>
          <p:cNvPr id="1863" name="Google Shape;1863;p145"/>
          <p:cNvGrpSpPr/>
          <p:nvPr/>
        </p:nvGrpSpPr>
        <p:grpSpPr>
          <a:xfrm>
            <a:off x="7171026" y="1613801"/>
            <a:ext cx="871971" cy="228900"/>
            <a:chOff x="6897025" y="1655350"/>
            <a:chExt cx="871971" cy="228900"/>
          </a:xfrm>
        </p:grpSpPr>
        <p:sp>
          <p:nvSpPr>
            <p:cNvPr id="1864" name="Google Shape;1864;p145"/>
            <p:cNvSpPr txBox="1"/>
            <p:nvPr/>
          </p:nvSpPr>
          <p:spPr>
            <a:xfrm>
              <a:off x="6897025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1865" name="Google Shape;1865;p145"/>
            <p:cNvSpPr txBox="1"/>
            <p:nvPr/>
          </p:nvSpPr>
          <p:spPr>
            <a:xfrm>
              <a:off x="7380796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9" name="Shape 1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0" name="Google Shape;1870;p1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the nearest whole number</a:t>
            </a:r>
            <a:endParaRPr/>
          </a:p>
        </p:txBody>
      </p:sp>
      <p:sp>
        <p:nvSpPr>
          <p:cNvPr id="1871" name="Google Shape;1871;p1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When </a:t>
            </a:r>
            <a:r>
              <a:rPr b="1" lang="en-GB"/>
              <a:t>rounding,</a:t>
            </a:r>
            <a:r>
              <a:rPr lang="en-GB"/>
              <a:t> identify the column you are </a:t>
            </a:r>
            <a:r>
              <a:rPr b="1" lang="en-GB"/>
              <a:t>rounding</a:t>
            </a:r>
            <a:r>
              <a:rPr lang="en-GB"/>
              <a:t> to.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Look at the digit to the right of this column.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If it is </a:t>
            </a:r>
            <a:r>
              <a:rPr lang="en-GB">
                <a:solidFill>
                  <a:schemeClr val="accent5"/>
                </a:solidFill>
              </a:rPr>
              <a:t>less than 5</a:t>
            </a:r>
            <a:r>
              <a:rPr lang="en-GB"/>
              <a:t>, </a:t>
            </a:r>
            <a:r>
              <a:rPr b="1" lang="en-GB"/>
              <a:t>round</a:t>
            </a:r>
            <a:r>
              <a:rPr lang="en-GB"/>
              <a:t> </a:t>
            </a:r>
            <a:r>
              <a:rPr lang="en-GB">
                <a:solidFill>
                  <a:schemeClr val="accent5"/>
                </a:solidFill>
              </a:rPr>
              <a:t>down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If it is </a:t>
            </a:r>
            <a:r>
              <a:rPr lang="en-GB">
                <a:solidFill>
                  <a:schemeClr val="accent5"/>
                </a:solidFill>
              </a:rPr>
              <a:t>5 or greater</a:t>
            </a:r>
            <a:r>
              <a:rPr lang="en-GB"/>
              <a:t>, </a:t>
            </a:r>
            <a:r>
              <a:rPr b="1" lang="en-GB"/>
              <a:t>round</a:t>
            </a:r>
            <a:r>
              <a:rPr lang="en-GB"/>
              <a:t> </a:t>
            </a:r>
            <a:r>
              <a:rPr lang="en-GB">
                <a:solidFill>
                  <a:schemeClr val="accent5"/>
                </a:solidFill>
              </a:rPr>
              <a:t>up</a:t>
            </a:r>
            <a:r>
              <a:rPr lang="en-GB"/>
              <a:t>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5" name="Shape 1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6" name="Google Shape;1876;p147"/>
          <p:cNvSpPr txBox="1"/>
          <p:nvPr>
            <p:ph idx="1" type="body"/>
          </p:nvPr>
        </p:nvSpPr>
        <p:spPr>
          <a:xfrm>
            <a:off x="324000" y="683100"/>
            <a:ext cx="8237700" cy="123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Laura and Lucas are each given the same number to </a:t>
            </a:r>
            <a:r>
              <a:rPr b="1" lang="en-GB" sz="2000"/>
              <a:t>round</a:t>
            </a:r>
            <a:r>
              <a:rPr lang="en-GB" sz="2000"/>
              <a:t> to the nearest </a:t>
            </a:r>
            <a:r>
              <a:rPr lang="en-GB" sz="2000">
                <a:solidFill>
                  <a:schemeClr val="accent5"/>
                </a:solidFill>
              </a:rPr>
              <a:t>hundred</a:t>
            </a:r>
            <a:r>
              <a:rPr lang="en-GB" sz="2000"/>
              <a:t>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Who do you agree with and why?</a:t>
            </a:r>
            <a:endParaRPr sz="2000"/>
          </a:p>
        </p:txBody>
      </p:sp>
      <p:sp>
        <p:nvSpPr>
          <p:cNvPr id="1877" name="Google Shape;1877;p1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the nearest whole number</a:t>
            </a:r>
            <a:endParaRPr/>
          </a:p>
        </p:txBody>
      </p:sp>
      <p:sp>
        <p:nvSpPr>
          <p:cNvPr id="1878" name="Google Shape;1878;p147"/>
          <p:cNvSpPr/>
          <p:nvPr/>
        </p:nvSpPr>
        <p:spPr>
          <a:xfrm>
            <a:off x="391350" y="3539025"/>
            <a:ext cx="820200" cy="406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452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9" name="Google Shape;1879;p147"/>
          <p:cNvSpPr/>
          <p:nvPr/>
        </p:nvSpPr>
        <p:spPr>
          <a:xfrm>
            <a:off x="7963500" y="3539025"/>
            <a:ext cx="820200" cy="406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452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80" name="Google Shape;1880;p1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528" y="2175127"/>
            <a:ext cx="804119" cy="1057915"/>
          </a:xfrm>
          <a:prstGeom prst="rect">
            <a:avLst/>
          </a:prstGeom>
          <a:noFill/>
          <a:ln>
            <a:noFill/>
          </a:ln>
        </p:spPr>
      </p:pic>
      <p:sp>
        <p:nvSpPr>
          <p:cNvPr id="1881" name="Google Shape;1881;p147"/>
          <p:cNvSpPr txBox="1"/>
          <p:nvPr/>
        </p:nvSpPr>
        <p:spPr>
          <a:xfrm>
            <a:off x="324000" y="317265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82" name="Google Shape;1882;p1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940276" y="2238688"/>
            <a:ext cx="794769" cy="896106"/>
          </a:xfrm>
          <a:prstGeom prst="rect">
            <a:avLst/>
          </a:prstGeom>
          <a:noFill/>
          <a:ln>
            <a:noFill/>
          </a:ln>
        </p:spPr>
      </p:pic>
      <p:sp>
        <p:nvSpPr>
          <p:cNvPr id="1883" name="Google Shape;1883;p147"/>
          <p:cNvSpPr txBox="1"/>
          <p:nvPr/>
        </p:nvSpPr>
        <p:spPr>
          <a:xfrm>
            <a:off x="7929550" y="30744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84" name="Google Shape;1884;p147"/>
          <p:cNvGrpSpPr/>
          <p:nvPr/>
        </p:nvGrpSpPr>
        <p:grpSpPr>
          <a:xfrm>
            <a:off x="1408879" y="2078419"/>
            <a:ext cx="3468686" cy="791320"/>
            <a:chOff x="1134720" y="2670196"/>
            <a:chExt cx="2911437" cy="1311436"/>
          </a:xfrm>
        </p:grpSpPr>
        <p:pic>
          <p:nvPicPr>
            <p:cNvPr id="1885" name="Google Shape;1885;p147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1134720" y="2670196"/>
              <a:ext cx="2911437" cy="131143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6" name="Google Shape;1886;p147"/>
            <p:cNvSpPr txBox="1"/>
            <p:nvPr/>
          </p:nvSpPr>
          <p:spPr>
            <a:xfrm>
              <a:off x="1332647" y="2728667"/>
              <a:ext cx="2631000" cy="64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It ends in a 2 so I need to </a:t>
              </a:r>
              <a:r>
                <a:rPr b="1" lang="en-GB" sz="1800">
                  <a:latin typeface="Lexend"/>
                  <a:ea typeface="Lexend"/>
                  <a:cs typeface="Lexend"/>
                  <a:sym typeface="Lexend"/>
                </a:rPr>
                <a:t>round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down to 400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87" name="Google Shape;1887;p147"/>
          <p:cNvGrpSpPr/>
          <p:nvPr/>
        </p:nvGrpSpPr>
        <p:grpSpPr>
          <a:xfrm>
            <a:off x="5224816" y="1586325"/>
            <a:ext cx="2728834" cy="1283275"/>
            <a:chOff x="5387494" y="100757"/>
            <a:chExt cx="2985595" cy="2459323"/>
          </a:xfrm>
        </p:grpSpPr>
        <p:pic>
          <p:nvPicPr>
            <p:cNvPr id="1888" name="Google Shape;1888;p147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>
              <a:off x="5387494" y="100757"/>
              <a:ext cx="2985595" cy="24593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9" name="Google Shape;1889;p147"/>
            <p:cNvSpPr txBox="1"/>
            <p:nvPr/>
          </p:nvSpPr>
          <p:spPr>
            <a:xfrm>
              <a:off x="5548335" y="247432"/>
              <a:ext cx="26352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The tens digit is 5 so we need to </a:t>
              </a:r>
              <a:r>
                <a:rPr b="1" lang="en-GB" sz="1800">
                  <a:latin typeface="Lexend"/>
                  <a:ea typeface="Lexend"/>
                  <a:cs typeface="Lexend"/>
                  <a:sym typeface="Lexend"/>
                </a:rPr>
                <a:t>round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up to 500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90" name="Google Shape;1890;p147"/>
          <p:cNvSpPr txBox="1"/>
          <p:nvPr/>
        </p:nvSpPr>
        <p:spPr>
          <a:xfrm>
            <a:off x="1408850" y="3663250"/>
            <a:ext cx="6333300" cy="12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Lucas is correct. When considering </a:t>
            </a:r>
            <a:r>
              <a:rPr b="1" lang="en-GB" sz="2200">
                <a:latin typeface="Kalam"/>
                <a:ea typeface="Kalam"/>
                <a:cs typeface="Kalam"/>
                <a:sym typeface="Kalam"/>
              </a:rPr>
              <a:t>rounding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 up or down we must look at the digit in the next column to the right of 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what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 we are </a:t>
            </a:r>
            <a:r>
              <a:rPr b="1" lang="en-GB" sz="2200">
                <a:latin typeface="Kalam"/>
                <a:ea typeface="Kalam"/>
                <a:cs typeface="Kalam"/>
                <a:sym typeface="Kalam"/>
              </a:rPr>
              <a:t>rounding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 to.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4" name="Shape 1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5" name="Google Shape;1895;p1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the nearest whole number</a:t>
            </a:r>
            <a:endParaRPr/>
          </a:p>
        </p:txBody>
      </p:sp>
      <p:sp>
        <p:nvSpPr>
          <p:cNvPr id="1896" name="Google Shape;1896;p148"/>
          <p:cNvSpPr txBox="1"/>
          <p:nvPr>
            <p:ph idx="4294967295" type="body"/>
          </p:nvPr>
        </p:nvSpPr>
        <p:spPr>
          <a:xfrm>
            <a:off x="324000" y="759300"/>
            <a:ext cx="8237700" cy="74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In this task you need to </a:t>
            </a:r>
            <a:r>
              <a:rPr b="1" lang="en-GB" sz="1800"/>
              <a:t>round</a:t>
            </a:r>
            <a:r>
              <a:rPr lang="en-GB" sz="1800"/>
              <a:t> all numbers to the nearest whole number (the first one is done for you).</a:t>
            </a:r>
            <a:endParaRPr sz="1800"/>
          </a:p>
        </p:txBody>
      </p:sp>
      <p:graphicFrame>
        <p:nvGraphicFramePr>
          <p:cNvPr id="1897" name="Google Shape;1897;p148"/>
          <p:cNvGraphicFramePr/>
          <p:nvPr/>
        </p:nvGraphicFramePr>
        <p:xfrm>
          <a:off x="4320000" y="1576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{96544899-28CE-4B64-812E-1AE840465D4C}</a:tableStyleId>
              </a:tblPr>
              <a:tblGrid>
                <a:gridCol w="525375"/>
                <a:gridCol w="525375"/>
                <a:gridCol w="525375"/>
                <a:gridCol w="525375"/>
                <a:gridCol w="525375"/>
                <a:gridCol w="525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solidFill>
                      <a:schemeClr val="dk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solidFill>
                      <a:schemeClr val="dk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898" name="Google Shape;1898;p148"/>
          <p:cNvSpPr txBox="1"/>
          <p:nvPr/>
        </p:nvSpPr>
        <p:spPr>
          <a:xfrm>
            <a:off x="4320000" y="1573050"/>
            <a:ext cx="177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9" name="Google Shape;1899;p148"/>
          <p:cNvSpPr txBox="1"/>
          <p:nvPr/>
        </p:nvSpPr>
        <p:spPr>
          <a:xfrm>
            <a:off x="5386800" y="1573050"/>
            <a:ext cx="177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2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0" name="Google Shape;1900;p148"/>
          <p:cNvSpPr txBox="1"/>
          <p:nvPr/>
        </p:nvSpPr>
        <p:spPr>
          <a:xfrm>
            <a:off x="6453600" y="1573050"/>
            <a:ext cx="177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3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1" name="Google Shape;1901;p148"/>
          <p:cNvSpPr txBox="1"/>
          <p:nvPr/>
        </p:nvSpPr>
        <p:spPr>
          <a:xfrm>
            <a:off x="5386800" y="2091670"/>
            <a:ext cx="177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4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2" name="Google Shape;1902;p148"/>
          <p:cNvSpPr txBox="1"/>
          <p:nvPr/>
        </p:nvSpPr>
        <p:spPr>
          <a:xfrm>
            <a:off x="4320000" y="2612750"/>
            <a:ext cx="177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5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3" name="Google Shape;1903;p148"/>
          <p:cNvSpPr txBox="1"/>
          <p:nvPr/>
        </p:nvSpPr>
        <p:spPr>
          <a:xfrm>
            <a:off x="4845375" y="2612750"/>
            <a:ext cx="177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6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4" name="Google Shape;1904;p148"/>
          <p:cNvSpPr txBox="1"/>
          <p:nvPr/>
        </p:nvSpPr>
        <p:spPr>
          <a:xfrm>
            <a:off x="5896125" y="3130875"/>
            <a:ext cx="177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7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5" name="Google Shape;1905;p148"/>
          <p:cNvSpPr txBox="1"/>
          <p:nvPr/>
        </p:nvSpPr>
        <p:spPr>
          <a:xfrm>
            <a:off x="6946875" y="3130875"/>
            <a:ext cx="177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8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6" name="Google Shape;1906;p148"/>
          <p:cNvSpPr txBox="1"/>
          <p:nvPr/>
        </p:nvSpPr>
        <p:spPr>
          <a:xfrm>
            <a:off x="4320000" y="3652450"/>
            <a:ext cx="177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9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7" name="Google Shape;1907;p148"/>
          <p:cNvSpPr txBox="1"/>
          <p:nvPr/>
        </p:nvSpPr>
        <p:spPr>
          <a:xfrm>
            <a:off x="5896125" y="4167125"/>
            <a:ext cx="230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10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8" name="Google Shape;1908;p148"/>
          <p:cNvSpPr txBox="1"/>
          <p:nvPr/>
        </p:nvSpPr>
        <p:spPr>
          <a:xfrm>
            <a:off x="324000" y="1696200"/>
            <a:ext cx="15633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Across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   318.29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4)    4907.66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5)    61.9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7)    265.49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9)    96.35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10)  391.5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9" name="Google Shape;1909;p148"/>
          <p:cNvSpPr txBox="1"/>
          <p:nvPr/>
        </p:nvSpPr>
        <p:spPr>
          <a:xfrm>
            <a:off x="2381400" y="1696200"/>
            <a:ext cx="16983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Down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  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305.51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2)    83.7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3)    1005.74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6)    2860.49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7)    213.4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8)    551.503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3" name="Shape 1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" name="Google Shape;1914;p1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the nearest whole number</a:t>
            </a:r>
            <a:endParaRPr/>
          </a:p>
        </p:txBody>
      </p:sp>
      <p:graphicFrame>
        <p:nvGraphicFramePr>
          <p:cNvPr id="1915" name="Google Shape;1915;p149"/>
          <p:cNvGraphicFramePr/>
          <p:nvPr/>
        </p:nvGraphicFramePr>
        <p:xfrm>
          <a:off x="4320000" y="1576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{96544899-28CE-4B64-812E-1AE840465D4C}</a:tableStyleId>
              </a:tblPr>
              <a:tblGrid>
                <a:gridCol w="525375"/>
                <a:gridCol w="525375"/>
                <a:gridCol w="525375"/>
                <a:gridCol w="525375"/>
                <a:gridCol w="525375"/>
                <a:gridCol w="525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solidFill>
                      <a:schemeClr val="dk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solidFill>
                      <a:schemeClr val="dk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916" name="Google Shape;1916;p149"/>
          <p:cNvSpPr txBox="1"/>
          <p:nvPr/>
        </p:nvSpPr>
        <p:spPr>
          <a:xfrm>
            <a:off x="4320000" y="1573050"/>
            <a:ext cx="177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7" name="Google Shape;1917;p149"/>
          <p:cNvSpPr txBox="1"/>
          <p:nvPr/>
        </p:nvSpPr>
        <p:spPr>
          <a:xfrm>
            <a:off x="5386800" y="1573050"/>
            <a:ext cx="177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2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8" name="Google Shape;1918;p149"/>
          <p:cNvSpPr txBox="1"/>
          <p:nvPr/>
        </p:nvSpPr>
        <p:spPr>
          <a:xfrm>
            <a:off x="6453600" y="1573050"/>
            <a:ext cx="177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3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9" name="Google Shape;1919;p149"/>
          <p:cNvSpPr txBox="1"/>
          <p:nvPr/>
        </p:nvSpPr>
        <p:spPr>
          <a:xfrm>
            <a:off x="5386800" y="2091670"/>
            <a:ext cx="177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4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0" name="Google Shape;1920;p149"/>
          <p:cNvSpPr txBox="1"/>
          <p:nvPr/>
        </p:nvSpPr>
        <p:spPr>
          <a:xfrm>
            <a:off x="4320000" y="2612750"/>
            <a:ext cx="177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5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1" name="Google Shape;1921;p149"/>
          <p:cNvSpPr txBox="1"/>
          <p:nvPr/>
        </p:nvSpPr>
        <p:spPr>
          <a:xfrm>
            <a:off x="4845375" y="2612750"/>
            <a:ext cx="177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6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2" name="Google Shape;1922;p149"/>
          <p:cNvSpPr txBox="1"/>
          <p:nvPr/>
        </p:nvSpPr>
        <p:spPr>
          <a:xfrm>
            <a:off x="5896125" y="3130875"/>
            <a:ext cx="177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7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3" name="Google Shape;1923;p149"/>
          <p:cNvSpPr txBox="1"/>
          <p:nvPr/>
        </p:nvSpPr>
        <p:spPr>
          <a:xfrm>
            <a:off x="6946875" y="3130875"/>
            <a:ext cx="177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8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4" name="Google Shape;1924;p149"/>
          <p:cNvSpPr txBox="1"/>
          <p:nvPr/>
        </p:nvSpPr>
        <p:spPr>
          <a:xfrm>
            <a:off x="4320000" y="3652450"/>
            <a:ext cx="177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9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5" name="Google Shape;1925;p149"/>
          <p:cNvSpPr txBox="1"/>
          <p:nvPr/>
        </p:nvSpPr>
        <p:spPr>
          <a:xfrm>
            <a:off x="5896125" y="4167125"/>
            <a:ext cx="230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10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6" name="Google Shape;1926;p149"/>
          <p:cNvSpPr txBox="1"/>
          <p:nvPr>
            <p:ph idx="4294967295" type="body"/>
          </p:nvPr>
        </p:nvSpPr>
        <p:spPr>
          <a:xfrm>
            <a:off x="324000" y="759300"/>
            <a:ext cx="8237700" cy="74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In this task you need to </a:t>
            </a:r>
            <a:r>
              <a:rPr b="1" lang="en-GB" sz="1800"/>
              <a:t>round</a:t>
            </a:r>
            <a:r>
              <a:rPr lang="en-GB" sz="1800"/>
              <a:t> all numbers to the nearest whole number (the first one is done for you).</a:t>
            </a:r>
            <a:endParaRPr sz="1800"/>
          </a:p>
        </p:txBody>
      </p:sp>
      <p:sp>
        <p:nvSpPr>
          <p:cNvPr id="1927" name="Google Shape;1927;p149"/>
          <p:cNvSpPr txBox="1"/>
          <p:nvPr/>
        </p:nvSpPr>
        <p:spPr>
          <a:xfrm>
            <a:off x="324000" y="1696200"/>
            <a:ext cx="15633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Across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   318.29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4)    4907.66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5)    61.9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7)    265.49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9)    96.35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10)  391.5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8" name="Google Shape;1928;p149"/>
          <p:cNvSpPr txBox="1"/>
          <p:nvPr/>
        </p:nvSpPr>
        <p:spPr>
          <a:xfrm>
            <a:off x="2381400" y="1696200"/>
            <a:ext cx="16983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Down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   305.51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2)    83.7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3)    1005.74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6)    2860.49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7)    213.4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8)    551.503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2" name="Shape 1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3" name="Google Shape;1933;p15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10, 100 &amp; 1000</a:t>
            </a:r>
            <a:endParaRPr/>
          </a:p>
        </p:txBody>
      </p:sp>
      <p:sp>
        <p:nvSpPr>
          <p:cNvPr id="1934" name="Google Shape;1934;p15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the nearest whole number</a:t>
            </a:r>
            <a:endParaRPr/>
          </a:p>
        </p:txBody>
      </p:sp>
      <p:sp>
        <p:nvSpPr>
          <p:cNvPr id="1935" name="Google Shape;1935;p15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rounding</a:t>
            </a:r>
            <a:endParaRPr/>
          </a:p>
        </p:txBody>
      </p:sp>
      <p:sp>
        <p:nvSpPr>
          <p:cNvPr id="1936" name="Google Shape;1936;p15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one or two decimal places</a:t>
            </a:r>
            <a:endParaRPr/>
          </a:p>
        </p:txBody>
      </p:sp>
      <p:pic>
        <p:nvPicPr>
          <p:cNvPr id="1937" name="Google Shape;1937;p1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000" y="37004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1" name="Shape 1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2" name="Google Shape;1942;p15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Rounding to one or two decimal places</a:t>
            </a:r>
            <a:endParaRPr/>
          </a:p>
        </p:txBody>
      </p:sp>
      <p:sp>
        <p:nvSpPr>
          <p:cNvPr id="1943" name="Google Shape;1943;p151"/>
          <p:cNvSpPr txBox="1"/>
          <p:nvPr>
            <p:ph idx="1" type="body"/>
          </p:nvPr>
        </p:nvSpPr>
        <p:spPr>
          <a:xfrm>
            <a:off x="324000" y="2013244"/>
            <a:ext cx="5537700" cy="26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6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means </a:t>
            </a:r>
            <a:r>
              <a:rPr b="1" lang="en-GB" sz="1800"/>
              <a:t>rounding</a:t>
            </a:r>
            <a:r>
              <a:rPr lang="en-GB" sz="1800"/>
              <a:t> to the nearest tenth (    ).</a:t>
            </a:r>
            <a:endParaRPr sz="1800"/>
          </a:p>
        </p:txBody>
      </p:sp>
      <p:grpSp>
        <p:nvGrpSpPr>
          <p:cNvPr id="1944" name="Google Shape;1944;p151"/>
          <p:cNvGrpSpPr/>
          <p:nvPr/>
        </p:nvGrpSpPr>
        <p:grpSpPr>
          <a:xfrm>
            <a:off x="1134842" y="536446"/>
            <a:ext cx="3078553" cy="1403499"/>
            <a:chOff x="1134720" y="2670196"/>
            <a:chExt cx="2911437" cy="1311436"/>
          </a:xfrm>
        </p:grpSpPr>
        <p:pic>
          <p:nvPicPr>
            <p:cNvPr id="1945" name="Google Shape;1945;p151"/>
            <p:cNvPicPr preferRelativeResize="0"/>
            <p:nvPr/>
          </p:nvPicPr>
          <p:blipFill rotWithShape="1">
            <a:blip r:embed="rId3">
              <a:alphaModFix/>
            </a:blip>
            <a:srcRect b="0" l="0" r="69082" t="56280"/>
            <a:stretch/>
          </p:blipFill>
          <p:spPr>
            <a:xfrm flipH="1">
              <a:off x="1134720" y="2670196"/>
              <a:ext cx="2911437" cy="131143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46" name="Google Shape;1946;p151"/>
            <p:cNvSpPr txBox="1"/>
            <p:nvPr/>
          </p:nvSpPr>
          <p:spPr>
            <a:xfrm>
              <a:off x="1332643" y="2687675"/>
              <a:ext cx="2631000" cy="73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Sometimes I see questions that ask you to </a:t>
              </a:r>
              <a:r>
                <a:rPr b="1"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round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to one decimal place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947" name="Google Shape;1947;p1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528" y="651127"/>
            <a:ext cx="804119" cy="1057915"/>
          </a:xfrm>
          <a:prstGeom prst="rect">
            <a:avLst/>
          </a:prstGeom>
          <a:noFill/>
          <a:ln>
            <a:noFill/>
          </a:ln>
        </p:spPr>
      </p:pic>
      <p:sp>
        <p:nvSpPr>
          <p:cNvPr id="1948" name="Google Shape;1948;p151"/>
          <p:cNvSpPr txBox="1"/>
          <p:nvPr/>
        </p:nvSpPr>
        <p:spPr>
          <a:xfrm>
            <a:off x="324000" y="164865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49" name="Google Shape;1949;p1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940276" y="790888"/>
            <a:ext cx="794769" cy="896106"/>
          </a:xfrm>
          <a:prstGeom prst="rect">
            <a:avLst/>
          </a:prstGeom>
          <a:noFill/>
          <a:ln>
            <a:noFill/>
          </a:ln>
        </p:spPr>
      </p:pic>
      <p:sp>
        <p:nvSpPr>
          <p:cNvPr id="1950" name="Google Shape;1950;p151"/>
          <p:cNvSpPr txBox="1"/>
          <p:nvPr/>
        </p:nvSpPr>
        <p:spPr>
          <a:xfrm>
            <a:off x="7929550" y="16266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51" name="Google Shape;1951;p151"/>
          <p:cNvGrpSpPr/>
          <p:nvPr/>
        </p:nvGrpSpPr>
        <p:grpSpPr>
          <a:xfrm>
            <a:off x="5364043" y="595725"/>
            <a:ext cx="2589917" cy="1283275"/>
            <a:chOff x="4449567" y="2437285"/>
            <a:chExt cx="3923523" cy="2459323"/>
          </a:xfrm>
        </p:grpSpPr>
        <p:pic>
          <p:nvPicPr>
            <p:cNvPr id="1952" name="Google Shape;1952;p151"/>
            <p:cNvPicPr preferRelativeResize="0"/>
            <p:nvPr/>
          </p:nvPicPr>
          <p:blipFill rotWithShape="1">
            <a:blip r:embed="rId3">
              <a:alphaModFix/>
            </a:blip>
            <a:srcRect b="0" l="0" r="69082" t="56280"/>
            <a:stretch/>
          </p:blipFill>
          <p:spPr>
            <a:xfrm>
              <a:off x="4449567" y="2437285"/>
              <a:ext cx="3923523" cy="24593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53" name="Google Shape;1953;p151"/>
            <p:cNvSpPr txBox="1"/>
            <p:nvPr/>
          </p:nvSpPr>
          <p:spPr>
            <a:xfrm>
              <a:off x="4660935" y="2583960"/>
              <a:ext cx="34632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The first decimal place is the tenths column.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1954" name="Google Shape;1954;p151"/>
          <p:cNvGraphicFramePr/>
          <p:nvPr/>
        </p:nvGraphicFramePr>
        <p:xfrm>
          <a:off x="1465001" y="22427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{96544899-28CE-4B64-812E-1AE840465D4C}</a:tableStyleId>
              </a:tblPr>
              <a:tblGrid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955" name="Google Shape;1955;p151"/>
          <p:cNvGrpSpPr/>
          <p:nvPr/>
        </p:nvGrpSpPr>
        <p:grpSpPr>
          <a:xfrm>
            <a:off x="1539376" y="2230774"/>
            <a:ext cx="6284584" cy="895379"/>
            <a:chOff x="1539376" y="3091144"/>
            <a:chExt cx="6284584" cy="895379"/>
          </a:xfrm>
        </p:grpSpPr>
        <p:grpSp>
          <p:nvGrpSpPr>
            <p:cNvPr id="1956" name="Google Shape;1956;p151"/>
            <p:cNvGrpSpPr/>
            <p:nvPr/>
          </p:nvGrpSpPr>
          <p:grpSpPr>
            <a:xfrm>
              <a:off x="1539376" y="3103150"/>
              <a:ext cx="6284584" cy="883373"/>
              <a:chOff x="2484575" y="1655350"/>
              <a:chExt cx="6284584" cy="883373"/>
            </a:xfrm>
          </p:grpSpPr>
          <p:pic>
            <p:nvPicPr>
              <p:cNvPr descr="&lt;math xmlns=&quot;http://www.w3.org/1998/Math/MathML&quot; display=&quot;block&quot; data-is-equatio=&quot;1&quot; data-latex=&quot;10^{\ }&quot;&gt;&lt;msup&gt;&lt;mn&gt;10&lt;/mn&gt;&lt;mrow data-mjx-texclass=&quot;ORD&quot;&gt;&lt;mtext&gt;&lt;/mtext&gt;&lt;/mrow&gt;&lt;/msup&gt;&lt;/math&gt;" id="1957" name="Google Shape;1957;p151" title="10 raised to the power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5890349" y="2262830"/>
                <a:ext cx="206250" cy="1663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10^2&quot;&gt;&lt;msup&gt;&lt;mn&gt;10&lt;/mn&gt;&lt;mn&gt;2&lt;/mn&gt;&lt;/msup&gt;&lt;/math&gt;" id="1958" name="Google Shape;1958;p151" title="10 squared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5342799" y="2189371"/>
                <a:ext cx="313981" cy="22894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10^3&quot;&gt;&lt;msup&gt;&lt;mn&gt;10&lt;/mn&gt;&lt;mn&gt;3&lt;/mn&gt;&lt;/msup&gt;&lt;/math&gt;" id="1959" name="Google Shape;1959;p151" title="10 cubed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4889324" y="2189371"/>
                <a:ext cx="300899" cy="22894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10^4&quot;&gt;&lt;msup&gt;&lt;mn&gt;10&lt;/mn&gt;&lt;mn&gt;4&lt;/mn&gt;&lt;/msup&gt;&lt;/math&gt;" id="1960" name="Google Shape;1960;p151" title="10 to the fourth power"/>
              <p:cNvPicPr preferRelativeResize="0"/>
              <p:nvPr/>
            </p:nvPicPr>
            <p:blipFill>
              <a:blip r:embed="rId9">
                <a:alphaModFix/>
              </a:blip>
              <a:stretch>
                <a:fillRect/>
              </a:stretch>
            </p:blipFill>
            <p:spPr>
              <a:xfrm>
                <a:off x="4378765" y="2189363"/>
                <a:ext cx="313981" cy="22894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10^5&quot;&gt;&lt;msup&gt;&lt;mn&gt;10&lt;/mn&gt;&lt;mn&gt;5&lt;/mn&gt;&lt;/msup&gt;&lt;/math&gt;" id="1961" name="Google Shape;1961;p151" title="10 to the fifth power"/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3925488" y="2189372"/>
                <a:ext cx="307440" cy="22894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\frac{1}{10^2}&quot;&gt;&lt;mfrac&gt;&lt;mn&gt;1&lt;/mn&gt;&lt;msup&gt;&lt;mn&gt;10&lt;/mn&gt;&lt;mn&gt;2&lt;/mn&gt;&lt;/msup&gt;&lt;/mfrac&gt;&lt;/math&gt;" id="1962" name="Google Shape;1962;p151" title="the fraction with numerator 1 and denominator 10 squared"/>
              <p:cNvPicPr preferRelativeResize="0"/>
              <p:nvPr/>
            </p:nvPicPr>
            <p:blipFill>
              <a:blip r:embed="rId11">
                <a:alphaModFix/>
              </a:blip>
              <a:stretch>
                <a:fillRect/>
              </a:stretch>
            </p:blipFill>
            <p:spPr>
              <a:xfrm>
                <a:off x="7263899" y="2156141"/>
                <a:ext cx="263983" cy="382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\frac{1}{10^3}&quot;&gt;&lt;mfrac&gt;&lt;mn&gt;1&lt;/mn&gt;&lt;msup&gt;&lt;mn&gt;10&lt;/mn&gt;&lt;mn&gt;3&lt;/mn&gt;&lt;/msup&gt;&lt;/mfrac&gt;&lt;/math&gt;" id="1963" name="Google Shape;1963;p151" title="the fraction with numerator 1 and denominator 10 cubed"/>
              <p:cNvPicPr preferRelativeResize="0"/>
              <p:nvPr/>
            </p:nvPicPr>
            <p:blipFill>
              <a:blip r:embed="rId12">
                <a:alphaModFix/>
              </a:blip>
              <a:stretch>
                <a:fillRect/>
              </a:stretch>
            </p:blipFill>
            <p:spPr>
              <a:xfrm>
                <a:off x="7772333" y="2153303"/>
                <a:ext cx="263983" cy="382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\frac{1}{10^4}&quot;&gt;&lt;mfrac&gt;&lt;mn&gt;1&lt;/mn&gt;&lt;msup&gt;&lt;mn&gt;10&lt;/mn&gt;&lt;mn&gt;4&lt;/mn&gt;&lt;/msup&gt;&lt;/mfrac&gt;&lt;/math&gt;" id="1964" name="Google Shape;1964;p151" title="the fraction with numerator 1 and denominator 10 to the fourth power"/>
              <p:cNvPicPr preferRelativeResize="0"/>
              <p:nvPr/>
            </p:nvPicPr>
            <p:blipFill>
              <a:blip r:embed="rId13">
                <a:alphaModFix/>
              </a:blip>
              <a:stretch>
                <a:fillRect/>
              </a:stretch>
            </p:blipFill>
            <p:spPr>
              <a:xfrm>
                <a:off x="8199808" y="2152373"/>
                <a:ext cx="263983" cy="3787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\frac{1}{10}&quot;&gt;&lt;mfrac&gt;&lt;mn&gt;1&lt;/mn&gt;&lt;mn&gt;10&lt;/mn&gt;&lt;/mfrac&gt;&lt;/math&gt;" id="1965" name="Google Shape;1965;p151" title="one tenth"/>
              <p:cNvPicPr preferRelativeResize="0"/>
              <p:nvPr/>
            </p:nvPicPr>
            <p:blipFill>
              <a:blip r:embed="rId14">
                <a:alphaModFix/>
              </a:blip>
              <a:stretch>
                <a:fillRect/>
              </a:stretch>
            </p:blipFill>
            <p:spPr>
              <a:xfrm>
                <a:off x="6820825" y="2150563"/>
                <a:ext cx="198622" cy="3660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10^{\ }&quot;&gt;&lt;msup&gt;&lt;mn&gt;10&lt;/mn&gt;&lt;mrow data-mjx-texclass=&quot;ORD&quot;&gt;&lt;mtext&gt;&lt;/mtext&gt;&lt;/mrow&gt;&lt;/msup&gt;&lt;/math&gt;" id="1966" name="Google Shape;1966;p151" title="10 raised to the power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55789" t="0"/>
              <a:stretch/>
            </p:blipFill>
            <p:spPr>
              <a:xfrm>
                <a:off x="6393529" y="2238366"/>
                <a:ext cx="89650" cy="163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10^6&quot;&gt;&lt;msup&gt;&lt;mn&gt;10&lt;/mn&gt;&lt;mn&gt;6&lt;/mn&gt;&lt;/msup&gt;&lt;/math&gt;" id="1967" name="Google Shape;1967;p151" title="10 to the sixth power"/>
              <p:cNvPicPr preferRelativeResize="0"/>
              <p:nvPr/>
            </p:nvPicPr>
            <p:blipFill>
              <a:blip r:embed="rId15">
                <a:alphaModFix/>
              </a:blip>
              <a:stretch>
                <a:fillRect/>
              </a:stretch>
            </p:blipFill>
            <p:spPr>
              <a:xfrm>
                <a:off x="3427829" y="2189925"/>
                <a:ext cx="300900" cy="22782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10^7&quot;&gt;&lt;msup&gt;&lt;mn&gt;10&lt;/mn&gt;&lt;mn&gt;7&lt;/mn&gt;&lt;/msup&gt;&lt;/math&gt;" id="1968" name="Google Shape;1968;p151" title="10 to the seventh power"/>
              <p:cNvPicPr preferRelativeResize="0"/>
              <p:nvPr/>
            </p:nvPicPr>
            <p:blipFill>
              <a:blip r:embed="rId16">
                <a:alphaModFix/>
              </a:blip>
              <a:stretch>
                <a:fillRect/>
              </a:stretch>
            </p:blipFill>
            <p:spPr>
              <a:xfrm>
                <a:off x="2968200" y="2207531"/>
                <a:ext cx="300900" cy="22462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10^8&quot;&gt;&lt;msup&gt;&lt;mn&gt;10&lt;/mn&gt;&lt;mn&gt;8&lt;/mn&gt;&lt;/msup&gt;&lt;/math&gt;" id="1969" name="Google Shape;1969;p151" title="10 to the eighth power"/>
              <p:cNvPicPr preferRelativeResize="0"/>
              <p:nvPr/>
            </p:nvPicPr>
            <p:blipFill>
              <a:blip r:embed="rId17">
                <a:alphaModFix/>
              </a:blip>
              <a:stretch>
                <a:fillRect/>
              </a:stretch>
            </p:blipFill>
            <p:spPr>
              <a:xfrm>
                <a:off x="2484575" y="2203850"/>
                <a:ext cx="264000" cy="19990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70" name="Google Shape;1970;p151"/>
              <p:cNvSpPr txBox="1"/>
              <p:nvPr/>
            </p:nvSpPr>
            <p:spPr>
              <a:xfrm>
                <a:off x="6897025" y="1655350"/>
                <a:ext cx="388200" cy="2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/>
                  <a:t>th</a:t>
                </a:r>
                <a:endParaRPr sz="800"/>
              </a:p>
            </p:txBody>
          </p:sp>
          <p:sp>
            <p:nvSpPr>
              <p:cNvPr id="1971" name="Google Shape;1971;p151"/>
              <p:cNvSpPr txBox="1"/>
              <p:nvPr/>
            </p:nvSpPr>
            <p:spPr>
              <a:xfrm>
                <a:off x="7380796" y="1655350"/>
                <a:ext cx="388200" cy="2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/>
                  <a:t>th</a:t>
                </a:r>
                <a:endParaRPr sz="800"/>
              </a:p>
            </p:txBody>
          </p:sp>
          <p:sp>
            <p:nvSpPr>
              <p:cNvPr id="1972" name="Google Shape;1972;p151"/>
              <p:cNvSpPr txBox="1"/>
              <p:nvPr/>
            </p:nvSpPr>
            <p:spPr>
              <a:xfrm>
                <a:off x="7868655" y="1655350"/>
                <a:ext cx="388200" cy="2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/>
                  <a:t>th</a:t>
                </a:r>
                <a:endParaRPr sz="800"/>
              </a:p>
            </p:txBody>
          </p:sp>
          <p:sp>
            <p:nvSpPr>
              <p:cNvPr id="1973" name="Google Shape;1973;p151"/>
              <p:cNvSpPr txBox="1"/>
              <p:nvPr/>
            </p:nvSpPr>
            <p:spPr>
              <a:xfrm>
                <a:off x="8380959" y="1655350"/>
                <a:ext cx="388200" cy="2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/>
                  <a:t>th</a:t>
                </a:r>
                <a:endParaRPr sz="800"/>
              </a:p>
            </p:txBody>
          </p:sp>
        </p:grpSp>
        <p:sp>
          <p:nvSpPr>
            <p:cNvPr id="1974" name="Google Shape;1974;p151"/>
            <p:cNvSpPr txBox="1"/>
            <p:nvPr/>
          </p:nvSpPr>
          <p:spPr>
            <a:xfrm>
              <a:off x="5713350" y="3091144"/>
              <a:ext cx="122100" cy="37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75" name="Google Shape;1975;p151"/>
            <p:cNvSpPr txBox="1"/>
            <p:nvPr/>
          </p:nvSpPr>
          <p:spPr>
            <a:xfrm>
              <a:off x="5713350" y="3523875"/>
              <a:ext cx="122100" cy="37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76" name="Google Shape;1976;p151"/>
          <p:cNvSpPr txBox="1"/>
          <p:nvPr/>
        </p:nvSpPr>
        <p:spPr>
          <a:xfrm>
            <a:off x="5713350" y="3145174"/>
            <a:ext cx="1221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77" name="Google Shape;1977;p151"/>
          <p:cNvGrpSpPr/>
          <p:nvPr/>
        </p:nvGrpSpPr>
        <p:grpSpPr>
          <a:xfrm>
            <a:off x="4411875" y="3270680"/>
            <a:ext cx="2196900" cy="313500"/>
            <a:chOff x="4411875" y="4131050"/>
            <a:chExt cx="2196900" cy="313500"/>
          </a:xfrm>
        </p:grpSpPr>
        <p:sp>
          <p:nvSpPr>
            <p:cNvPr id="1978" name="Google Shape;1978;p151"/>
            <p:cNvSpPr/>
            <p:nvPr/>
          </p:nvSpPr>
          <p:spPr>
            <a:xfrm>
              <a:off x="4411875" y="4131050"/>
              <a:ext cx="273600" cy="3135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79" name="Google Shape;1979;p151"/>
            <p:cNvSpPr/>
            <p:nvPr/>
          </p:nvSpPr>
          <p:spPr>
            <a:xfrm>
              <a:off x="4904225" y="4131050"/>
              <a:ext cx="273600" cy="3135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80" name="Google Shape;1980;p151"/>
            <p:cNvSpPr/>
            <p:nvPr/>
          </p:nvSpPr>
          <p:spPr>
            <a:xfrm>
              <a:off x="5396575" y="4131050"/>
              <a:ext cx="273600" cy="3135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81" name="Google Shape;1981;p151"/>
            <p:cNvSpPr/>
            <p:nvPr/>
          </p:nvSpPr>
          <p:spPr>
            <a:xfrm>
              <a:off x="5835450" y="4131050"/>
              <a:ext cx="273600" cy="3135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82" name="Google Shape;1982;p151"/>
            <p:cNvSpPr/>
            <p:nvPr/>
          </p:nvSpPr>
          <p:spPr>
            <a:xfrm>
              <a:off x="6335175" y="4131050"/>
              <a:ext cx="273600" cy="3135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83" name="Google Shape;1983;p151"/>
          <p:cNvSpPr/>
          <p:nvPr/>
        </p:nvSpPr>
        <p:spPr>
          <a:xfrm>
            <a:off x="5861650" y="2302580"/>
            <a:ext cx="347400" cy="313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4" name="Google Shape;1984;p151"/>
          <p:cNvSpPr/>
          <p:nvPr/>
        </p:nvSpPr>
        <p:spPr>
          <a:xfrm>
            <a:off x="5847761" y="3261325"/>
            <a:ext cx="286800" cy="313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5" name="Google Shape;1985;p151"/>
          <p:cNvSpPr/>
          <p:nvPr/>
        </p:nvSpPr>
        <p:spPr>
          <a:xfrm>
            <a:off x="6323393" y="3261325"/>
            <a:ext cx="286800" cy="313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6" name="Google Shape;1986;p151"/>
          <p:cNvSpPr/>
          <p:nvPr/>
        </p:nvSpPr>
        <p:spPr>
          <a:xfrm>
            <a:off x="6103225" y="3728705"/>
            <a:ext cx="415800" cy="2733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7" name="Google Shape;1987;p151"/>
          <p:cNvSpPr txBox="1"/>
          <p:nvPr/>
        </p:nvSpPr>
        <p:spPr>
          <a:xfrm>
            <a:off x="1619400" y="3651725"/>
            <a:ext cx="4382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Halfway would show a 5 in this column,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 is greater than 5.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8" name="Google Shape;1988;p151"/>
          <p:cNvSpPr txBox="1"/>
          <p:nvPr/>
        </p:nvSpPr>
        <p:spPr>
          <a:xfrm>
            <a:off x="324000" y="4231371"/>
            <a:ext cx="59328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Therefore, we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round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up to the higher value.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145.66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is 145.7 to one decimal place.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1989" name="Google Shape;1989;p151" title="one tenth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090400" y="1847551"/>
            <a:ext cx="198622" cy="366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3" name="Shape 1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4" name="Google Shape;1994;p15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Rounding to one or two decimal places</a:t>
            </a:r>
            <a:endParaRPr/>
          </a:p>
        </p:txBody>
      </p:sp>
      <p:sp>
        <p:nvSpPr>
          <p:cNvPr id="1995" name="Google Shape;1995;p152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Round</a:t>
            </a:r>
            <a:r>
              <a:rPr lang="en-GB"/>
              <a:t> 65.83 to one decimal place.</a:t>
            </a:r>
            <a:endParaRPr/>
          </a:p>
        </p:txBody>
      </p:sp>
      <p:graphicFrame>
        <p:nvGraphicFramePr>
          <p:cNvPr id="1996" name="Google Shape;1996;p152"/>
          <p:cNvGraphicFramePr/>
          <p:nvPr/>
        </p:nvGraphicFramePr>
        <p:xfrm>
          <a:off x="1007801" y="16331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{96544899-28CE-4B64-812E-1AE840465D4C}</a:tableStyleId>
              </a:tblPr>
              <a:tblGrid>
                <a:gridCol w="475250"/>
                <a:gridCol w="475250"/>
                <a:gridCol w="475250"/>
                <a:gridCol w="475250"/>
                <a:gridCol w="475250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97" name="Google Shape;1997;p152"/>
          <p:cNvSpPr txBox="1"/>
          <p:nvPr/>
        </p:nvSpPr>
        <p:spPr>
          <a:xfrm>
            <a:off x="2398510" y="1604329"/>
            <a:ext cx="1221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8" name="Google Shape;1998;p152"/>
          <p:cNvSpPr txBox="1"/>
          <p:nvPr/>
        </p:nvSpPr>
        <p:spPr>
          <a:xfrm>
            <a:off x="2398510" y="2113260"/>
            <a:ext cx="1221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99" name="Google Shape;1999;p152"/>
          <p:cNvGrpSpPr/>
          <p:nvPr/>
        </p:nvGrpSpPr>
        <p:grpSpPr>
          <a:xfrm>
            <a:off x="1123275" y="2192537"/>
            <a:ext cx="2169080" cy="347675"/>
            <a:chOff x="1123275" y="2178655"/>
            <a:chExt cx="2169080" cy="347675"/>
          </a:xfrm>
        </p:grpSpPr>
        <p:sp>
          <p:nvSpPr>
            <p:cNvPr id="2000" name="Google Shape;2000;p152"/>
            <p:cNvSpPr/>
            <p:nvPr/>
          </p:nvSpPr>
          <p:spPr>
            <a:xfrm>
              <a:off x="1123275" y="2178655"/>
              <a:ext cx="273600" cy="3135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01" name="Google Shape;2001;p152"/>
            <p:cNvSpPr/>
            <p:nvPr/>
          </p:nvSpPr>
          <p:spPr>
            <a:xfrm>
              <a:off x="1600850" y="2212830"/>
              <a:ext cx="273600" cy="3135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02" name="Google Shape;2002;p152"/>
            <p:cNvSpPr/>
            <p:nvPr/>
          </p:nvSpPr>
          <p:spPr>
            <a:xfrm>
              <a:off x="2078425" y="2178655"/>
              <a:ext cx="273600" cy="3135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03" name="Google Shape;2003;p152"/>
            <p:cNvSpPr/>
            <p:nvPr/>
          </p:nvSpPr>
          <p:spPr>
            <a:xfrm>
              <a:off x="2559685" y="2212830"/>
              <a:ext cx="273600" cy="3135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04" name="Google Shape;2004;p152"/>
            <p:cNvSpPr/>
            <p:nvPr/>
          </p:nvSpPr>
          <p:spPr>
            <a:xfrm>
              <a:off x="3018755" y="2198050"/>
              <a:ext cx="273600" cy="3135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05" name="Google Shape;2005;p152"/>
          <p:cNvSpPr/>
          <p:nvPr/>
        </p:nvSpPr>
        <p:spPr>
          <a:xfrm>
            <a:off x="3029481" y="2195725"/>
            <a:ext cx="286800" cy="313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6" name="Google Shape;2006;p152"/>
          <p:cNvSpPr/>
          <p:nvPr/>
        </p:nvSpPr>
        <p:spPr>
          <a:xfrm>
            <a:off x="2526031" y="2195733"/>
            <a:ext cx="347400" cy="313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7" name="Google Shape;2007;p152"/>
          <p:cNvSpPr/>
          <p:nvPr/>
        </p:nvSpPr>
        <p:spPr>
          <a:xfrm>
            <a:off x="2526019" y="1669730"/>
            <a:ext cx="347400" cy="313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08" name="Google Shape;2008;p152"/>
          <p:cNvGrpSpPr/>
          <p:nvPr/>
        </p:nvGrpSpPr>
        <p:grpSpPr>
          <a:xfrm>
            <a:off x="391775" y="2667450"/>
            <a:ext cx="4163400" cy="630650"/>
            <a:chOff x="-100131" y="2667450"/>
            <a:chExt cx="4163400" cy="630650"/>
          </a:xfrm>
        </p:grpSpPr>
        <p:sp>
          <p:nvSpPr>
            <p:cNvPr id="2009" name="Google Shape;2009;p152"/>
            <p:cNvSpPr/>
            <p:nvPr/>
          </p:nvSpPr>
          <p:spPr>
            <a:xfrm>
              <a:off x="2581225" y="2667450"/>
              <a:ext cx="199500" cy="2955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10" name="Google Shape;2010;p152"/>
            <p:cNvSpPr txBox="1"/>
            <p:nvPr/>
          </p:nvSpPr>
          <p:spPr>
            <a:xfrm>
              <a:off x="-100131" y="3020900"/>
              <a:ext cx="4163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The digit in this column is less than 5.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11" name="Google Shape;2011;p152"/>
          <p:cNvSpPr txBox="1"/>
          <p:nvPr/>
        </p:nvSpPr>
        <p:spPr>
          <a:xfrm>
            <a:off x="357048" y="3554300"/>
            <a:ext cx="3949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 will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round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down to the lower value.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2" name="Google Shape;2012;p152"/>
          <p:cNvSpPr txBox="1"/>
          <p:nvPr/>
        </p:nvSpPr>
        <p:spPr>
          <a:xfrm>
            <a:off x="357048" y="4240100"/>
            <a:ext cx="3949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65.83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to one decimal place is 65.8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13" name="Google Shape;2013;p152"/>
          <p:cNvGrpSpPr/>
          <p:nvPr/>
        </p:nvGrpSpPr>
        <p:grpSpPr>
          <a:xfrm>
            <a:off x="2675226" y="1613801"/>
            <a:ext cx="871971" cy="228900"/>
            <a:chOff x="6897025" y="1655350"/>
            <a:chExt cx="871971" cy="228900"/>
          </a:xfrm>
        </p:grpSpPr>
        <p:sp>
          <p:nvSpPr>
            <p:cNvPr id="2014" name="Google Shape;2014;p152"/>
            <p:cNvSpPr txBox="1"/>
            <p:nvPr/>
          </p:nvSpPr>
          <p:spPr>
            <a:xfrm>
              <a:off x="6897025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2015" name="Google Shape;2015;p152"/>
            <p:cNvSpPr txBox="1"/>
            <p:nvPr/>
          </p:nvSpPr>
          <p:spPr>
            <a:xfrm>
              <a:off x="7380796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9" name="Shape 2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0" name="Google Shape;2020;p15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Rounding to one or two decimal places</a:t>
            </a:r>
            <a:endParaRPr/>
          </a:p>
        </p:txBody>
      </p:sp>
      <p:sp>
        <p:nvSpPr>
          <p:cNvPr id="2021" name="Google Shape;2021;p153"/>
          <p:cNvSpPr txBox="1"/>
          <p:nvPr>
            <p:ph idx="1" type="subTitle"/>
          </p:nvPr>
        </p:nvSpPr>
        <p:spPr>
          <a:xfrm>
            <a:off x="48336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Round</a:t>
            </a:r>
            <a:r>
              <a:rPr lang="en-GB"/>
              <a:t> 875.26 </a:t>
            </a:r>
            <a:r>
              <a:rPr lang="en-GB"/>
              <a:t>to one decimal place.</a:t>
            </a:r>
            <a:endParaRPr/>
          </a:p>
        </p:txBody>
      </p:sp>
      <p:graphicFrame>
        <p:nvGraphicFramePr>
          <p:cNvPr id="2022" name="Google Shape;2022;p153"/>
          <p:cNvGraphicFramePr/>
          <p:nvPr/>
        </p:nvGraphicFramePr>
        <p:xfrm>
          <a:off x="5503601" y="16331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{96544899-28CE-4B64-812E-1AE840465D4C}</a:tableStyleId>
              </a:tblPr>
              <a:tblGrid>
                <a:gridCol w="475250"/>
                <a:gridCol w="475250"/>
                <a:gridCol w="475250"/>
                <a:gridCol w="475250"/>
                <a:gridCol w="475250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23" name="Google Shape;2023;p153"/>
          <p:cNvSpPr txBox="1"/>
          <p:nvPr/>
        </p:nvSpPr>
        <p:spPr>
          <a:xfrm>
            <a:off x="6894310" y="1604329"/>
            <a:ext cx="1221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4" name="Google Shape;2024;p153"/>
          <p:cNvSpPr txBox="1"/>
          <p:nvPr/>
        </p:nvSpPr>
        <p:spPr>
          <a:xfrm>
            <a:off x="6894310" y="2113260"/>
            <a:ext cx="1221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25" name="Google Shape;2025;p153"/>
          <p:cNvGrpSpPr/>
          <p:nvPr/>
        </p:nvGrpSpPr>
        <p:grpSpPr>
          <a:xfrm>
            <a:off x="5619075" y="2192537"/>
            <a:ext cx="2169080" cy="347675"/>
            <a:chOff x="1123275" y="2178655"/>
            <a:chExt cx="2169080" cy="347675"/>
          </a:xfrm>
        </p:grpSpPr>
        <p:sp>
          <p:nvSpPr>
            <p:cNvPr id="2026" name="Google Shape;2026;p153"/>
            <p:cNvSpPr/>
            <p:nvPr/>
          </p:nvSpPr>
          <p:spPr>
            <a:xfrm>
              <a:off x="1123275" y="2178655"/>
              <a:ext cx="273600" cy="313500"/>
            </a:xfrm>
            <a:prstGeom prst="roundRect">
              <a:avLst>
                <a:gd fmla="val 16667" name="adj"/>
              </a:avLst>
            </a:prstGeom>
            <a:solidFill>
              <a:srgbClr val="EBEDFE"/>
            </a:solidFill>
            <a:ln cap="flat" cmpd="sng" w="9525">
              <a:solidFill>
                <a:srgbClr val="EBED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27" name="Google Shape;2027;p153"/>
            <p:cNvSpPr/>
            <p:nvPr/>
          </p:nvSpPr>
          <p:spPr>
            <a:xfrm>
              <a:off x="1600850" y="2212830"/>
              <a:ext cx="273600" cy="313500"/>
            </a:xfrm>
            <a:prstGeom prst="roundRect">
              <a:avLst>
                <a:gd fmla="val 16667" name="adj"/>
              </a:avLst>
            </a:prstGeom>
            <a:solidFill>
              <a:srgbClr val="EBEDFE"/>
            </a:solidFill>
            <a:ln cap="flat" cmpd="sng" w="9525">
              <a:solidFill>
                <a:srgbClr val="EBED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28" name="Google Shape;2028;p153"/>
            <p:cNvSpPr/>
            <p:nvPr/>
          </p:nvSpPr>
          <p:spPr>
            <a:xfrm>
              <a:off x="2078425" y="2178655"/>
              <a:ext cx="273600" cy="313500"/>
            </a:xfrm>
            <a:prstGeom prst="roundRect">
              <a:avLst>
                <a:gd fmla="val 16667" name="adj"/>
              </a:avLst>
            </a:prstGeom>
            <a:solidFill>
              <a:srgbClr val="EBEDFE"/>
            </a:solidFill>
            <a:ln cap="flat" cmpd="sng" w="9525">
              <a:solidFill>
                <a:srgbClr val="EBED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29" name="Google Shape;2029;p153"/>
            <p:cNvSpPr/>
            <p:nvPr/>
          </p:nvSpPr>
          <p:spPr>
            <a:xfrm>
              <a:off x="2559685" y="2212830"/>
              <a:ext cx="273600" cy="313500"/>
            </a:xfrm>
            <a:prstGeom prst="roundRect">
              <a:avLst>
                <a:gd fmla="val 16667" name="adj"/>
              </a:avLst>
            </a:prstGeom>
            <a:solidFill>
              <a:srgbClr val="EBEDFE"/>
            </a:solidFill>
            <a:ln cap="flat" cmpd="sng" w="9525">
              <a:solidFill>
                <a:srgbClr val="EBED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30" name="Google Shape;2030;p153"/>
            <p:cNvSpPr/>
            <p:nvPr/>
          </p:nvSpPr>
          <p:spPr>
            <a:xfrm>
              <a:off x="3018755" y="2198050"/>
              <a:ext cx="273600" cy="313500"/>
            </a:xfrm>
            <a:prstGeom prst="roundRect">
              <a:avLst>
                <a:gd fmla="val 16667" name="adj"/>
              </a:avLst>
            </a:prstGeom>
            <a:solidFill>
              <a:srgbClr val="EBEDFE"/>
            </a:solidFill>
            <a:ln cap="flat" cmpd="sng" w="9525">
              <a:solidFill>
                <a:srgbClr val="EBED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31" name="Google Shape;2031;p153"/>
          <p:cNvSpPr/>
          <p:nvPr/>
        </p:nvSpPr>
        <p:spPr>
          <a:xfrm>
            <a:off x="7525276" y="2195725"/>
            <a:ext cx="235200" cy="313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2" name="Google Shape;2032;p153"/>
          <p:cNvSpPr/>
          <p:nvPr/>
        </p:nvSpPr>
        <p:spPr>
          <a:xfrm>
            <a:off x="7021826" y="2195725"/>
            <a:ext cx="286800" cy="313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3" name="Google Shape;2033;p153"/>
          <p:cNvSpPr/>
          <p:nvPr/>
        </p:nvSpPr>
        <p:spPr>
          <a:xfrm>
            <a:off x="7021819" y="1669730"/>
            <a:ext cx="347400" cy="313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34" name="Google Shape;2034;p153"/>
          <p:cNvGrpSpPr/>
          <p:nvPr/>
        </p:nvGrpSpPr>
        <p:grpSpPr>
          <a:xfrm>
            <a:off x="4887575" y="2667450"/>
            <a:ext cx="3949200" cy="907550"/>
            <a:chOff x="-100131" y="2667450"/>
            <a:chExt cx="3949200" cy="907550"/>
          </a:xfrm>
        </p:grpSpPr>
        <p:sp>
          <p:nvSpPr>
            <p:cNvPr id="2035" name="Google Shape;2035;p153"/>
            <p:cNvSpPr/>
            <p:nvPr/>
          </p:nvSpPr>
          <p:spPr>
            <a:xfrm>
              <a:off x="2581225" y="2667450"/>
              <a:ext cx="199500" cy="2955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036" name="Google Shape;2036;p153"/>
            <p:cNvSpPr txBox="1"/>
            <p:nvPr/>
          </p:nvSpPr>
          <p:spPr>
            <a:xfrm>
              <a:off x="-100131" y="3020900"/>
              <a:ext cx="39492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Kalam"/>
                  <a:ea typeface="Kalam"/>
                  <a:cs typeface="Kalam"/>
                  <a:sym typeface="Kalam"/>
                </a:rPr>
                <a:t>The digit in this column is greater than 5.</a:t>
              </a:r>
              <a:endParaRPr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sp>
        <p:nvSpPr>
          <p:cNvPr id="2037" name="Google Shape;2037;p153"/>
          <p:cNvSpPr txBox="1"/>
          <p:nvPr/>
        </p:nvSpPr>
        <p:spPr>
          <a:xfrm>
            <a:off x="4852848" y="3630500"/>
            <a:ext cx="3949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We will </a:t>
            </a:r>
            <a:r>
              <a:rPr b="1" lang="en-GB" sz="1800">
                <a:latin typeface="Kalam"/>
                <a:ea typeface="Kalam"/>
                <a:cs typeface="Kalam"/>
                <a:sym typeface="Kalam"/>
              </a:rPr>
              <a:t>round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up to the higher value.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38" name="Google Shape;2038;p153"/>
          <p:cNvSpPr txBox="1"/>
          <p:nvPr/>
        </p:nvSpPr>
        <p:spPr>
          <a:xfrm>
            <a:off x="4852848" y="4240100"/>
            <a:ext cx="3949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875.26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to one decimal place is 875.3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039" name="Google Shape;2039;p153"/>
          <p:cNvGrpSpPr/>
          <p:nvPr/>
        </p:nvGrpSpPr>
        <p:grpSpPr>
          <a:xfrm>
            <a:off x="7171026" y="1613801"/>
            <a:ext cx="871971" cy="228900"/>
            <a:chOff x="6897025" y="1655350"/>
            <a:chExt cx="871971" cy="228900"/>
          </a:xfrm>
        </p:grpSpPr>
        <p:sp>
          <p:nvSpPr>
            <p:cNvPr id="2040" name="Google Shape;2040;p153"/>
            <p:cNvSpPr txBox="1"/>
            <p:nvPr/>
          </p:nvSpPr>
          <p:spPr>
            <a:xfrm>
              <a:off x="6897025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2041" name="Google Shape;2041;p153"/>
            <p:cNvSpPr txBox="1"/>
            <p:nvPr/>
          </p:nvSpPr>
          <p:spPr>
            <a:xfrm>
              <a:off x="7380796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</p:grpSp>
      <p:sp>
        <p:nvSpPr>
          <p:cNvPr id="2042" name="Google Shape;2042;p153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Round</a:t>
            </a:r>
            <a:r>
              <a:rPr lang="en-GB"/>
              <a:t> 65.83 to </a:t>
            </a:r>
            <a:r>
              <a:rPr lang="en-GB"/>
              <a:t>one decimal place</a:t>
            </a:r>
            <a:r>
              <a:rPr lang="en-GB"/>
              <a:t>.</a:t>
            </a:r>
            <a:endParaRPr/>
          </a:p>
        </p:txBody>
      </p:sp>
      <p:graphicFrame>
        <p:nvGraphicFramePr>
          <p:cNvPr id="2043" name="Google Shape;2043;p153"/>
          <p:cNvGraphicFramePr/>
          <p:nvPr/>
        </p:nvGraphicFramePr>
        <p:xfrm>
          <a:off x="1007801" y="16331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{96544899-28CE-4B64-812E-1AE840465D4C}</a:tableStyleId>
              </a:tblPr>
              <a:tblGrid>
                <a:gridCol w="475250"/>
                <a:gridCol w="475250"/>
                <a:gridCol w="475250"/>
                <a:gridCol w="475250"/>
                <a:gridCol w="475250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44" name="Google Shape;2044;p153"/>
          <p:cNvSpPr txBox="1"/>
          <p:nvPr/>
        </p:nvSpPr>
        <p:spPr>
          <a:xfrm>
            <a:off x="2398510" y="1604329"/>
            <a:ext cx="1221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5" name="Google Shape;2045;p153"/>
          <p:cNvSpPr txBox="1"/>
          <p:nvPr/>
        </p:nvSpPr>
        <p:spPr>
          <a:xfrm>
            <a:off x="2398510" y="2113260"/>
            <a:ext cx="1221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6" name="Google Shape;2046;p153"/>
          <p:cNvSpPr/>
          <p:nvPr/>
        </p:nvSpPr>
        <p:spPr>
          <a:xfrm>
            <a:off x="3029481" y="2195725"/>
            <a:ext cx="286800" cy="313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7" name="Google Shape;2047;p153"/>
          <p:cNvSpPr/>
          <p:nvPr/>
        </p:nvSpPr>
        <p:spPr>
          <a:xfrm>
            <a:off x="2526031" y="2195733"/>
            <a:ext cx="347400" cy="313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8" name="Google Shape;2048;p153"/>
          <p:cNvSpPr/>
          <p:nvPr/>
        </p:nvSpPr>
        <p:spPr>
          <a:xfrm>
            <a:off x="2526019" y="1669730"/>
            <a:ext cx="347400" cy="313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49" name="Google Shape;2049;p153"/>
          <p:cNvGrpSpPr/>
          <p:nvPr/>
        </p:nvGrpSpPr>
        <p:grpSpPr>
          <a:xfrm>
            <a:off x="391775" y="2667450"/>
            <a:ext cx="4163400" cy="630650"/>
            <a:chOff x="-100131" y="2667450"/>
            <a:chExt cx="4163400" cy="630650"/>
          </a:xfrm>
        </p:grpSpPr>
        <p:sp>
          <p:nvSpPr>
            <p:cNvPr id="2050" name="Google Shape;2050;p153"/>
            <p:cNvSpPr/>
            <p:nvPr/>
          </p:nvSpPr>
          <p:spPr>
            <a:xfrm>
              <a:off x="2581225" y="2667450"/>
              <a:ext cx="199500" cy="2955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51" name="Google Shape;2051;p153"/>
            <p:cNvSpPr txBox="1"/>
            <p:nvPr/>
          </p:nvSpPr>
          <p:spPr>
            <a:xfrm>
              <a:off x="-100131" y="3020900"/>
              <a:ext cx="4163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The digit in this column is less than 5.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52" name="Google Shape;2052;p153"/>
          <p:cNvSpPr txBox="1"/>
          <p:nvPr/>
        </p:nvSpPr>
        <p:spPr>
          <a:xfrm>
            <a:off x="357048" y="3554300"/>
            <a:ext cx="3949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 will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round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down to the lower value.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3" name="Google Shape;2053;p153"/>
          <p:cNvSpPr txBox="1"/>
          <p:nvPr/>
        </p:nvSpPr>
        <p:spPr>
          <a:xfrm>
            <a:off x="357048" y="4240100"/>
            <a:ext cx="3949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65.83 to one decimal place is 65.8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54" name="Google Shape;2054;p153"/>
          <p:cNvGrpSpPr/>
          <p:nvPr/>
        </p:nvGrpSpPr>
        <p:grpSpPr>
          <a:xfrm>
            <a:off x="2675226" y="1613801"/>
            <a:ext cx="871971" cy="228900"/>
            <a:chOff x="6897025" y="1655350"/>
            <a:chExt cx="871971" cy="228900"/>
          </a:xfrm>
        </p:grpSpPr>
        <p:sp>
          <p:nvSpPr>
            <p:cNvPr id="2055" name="Google Shape;2055;p153"/>
            <p:cNvSpPr txBox="1"/>
            <p:nvPr/>
          </p:nvSpPr>
          <p:spPr>
            <a:xfrm>
              <a:off x="6897025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2056" name="Google Shape;2056;p153"/>
            <p:cNvSpPr txBox="1"/>
            <p:nvPr/>
          </p:nvSpPr>
          <p:spPr>
            <a:xfrm>
              <a:off x="7380796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0" name="Shape 2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1" name="Google Shape;2061;p15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Rounding to one or two decimal places</a:t>
            </a:r>
            <a:endParaRPr/>
          </a:p>
        </p:txBody>
      </p:sp>
      <p:sp>
        <p:nvSpPr>
          <p:cNvPr id="2062" name="Google Shape;2062;p154"/>
          <p:cNvSpPr txBox="1"/>
          <p:nvPr>
            <p:ph idx="1" type="body"/>
          </p:nvPr>
        </p:nvSpPr>
        <p:spPr>
          <a:xfrm>
            <a:off x="324000" y="683100"/>
            <a:ext cx="8496000" cy="37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000"/>
              <a:t>Round</a:t>
            </a:r>
            <a:r>
              <a:rPr lang="en-GB" sz="2000"/>
              <a:t> 1.9037 to 2 decimal places.</a:t>
            </a:r>
            <a:endParaRPr sz="2000"/>
          </a:p>
        </p:txBody>
      </p:sp>
      <p:graphicFrame>
        <p:nvGraphicFramePr>
          <p:cNvPr id="2063" name="Google Shape;2063;p154"/>
          <p:cNvGraphicFramePr/>
          <p:nvPr/>
        </p:nvGraphicFramePr>
        <p:xfrm>
          <a:off x="1065176" y="10693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{96544899-28CE-4B64-812E-1AE840465D4C}</a:tableStyleId>
              </a:tblPr>
              <a:tblGrid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64" name="Google Shape;2064;p154"/>
          <p:cNvSpPr/>
          <p:nvPr/>
        </p:nvSpPr>
        <p:spPr>
          <a:xfrm>
            <a:off x="5723287" y="1119568"/>
            <a:ext cx="347400" cy="313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5" name="Google Shape;2065;p154"/>
          <p:cNvSpPr/>
          <p:nvPr/>
        </p:nvSpPr>
        <p:spPr>
          <a:xfrm>
            <a:off x="5753586" y="1624800"/>
            <a:ext cx="286800" cy="313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6" name="Google Shape;2066;p154"/>
          <p:cNvSpPr/>
          <p:nvPr/>
        </p:nvSpPr>
        <p:spPr>
          <a:xfrm>
            <a:off x="6186718" y="1624788"/>
            <a:ext cx="286800" cy="313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7" name="Google Shape;2067;p154"/>
          <p:cNvSpPr txBox="1"/>
          <p:nvPr/>
        </p:nvSpPr>
        <p:spPr>
          <a:xfrm>
            <a:off x="5179950" y="1490093"/>
            <a:ext cx="1221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68" name="Google Shape;2068;p154"/>
          <p:cNvGrpSpPr/>
          <p:nvPr/>
        </p:nvGrpSpPr>
        <p:grpSpPr>
          <a:xfrm>
            <a:off x="5179950" y="1057362"/>
            <a:ext cx="2034410" cy="378900"/>
            <a:chOff x="5179950" y="1621174"/>
            <a:chExt cx="2034410" cy="378900"/>
          </a:xfrm>
        </p:grpSpPr>
        <p:sp>
          <p:nvSpPr>
            <p:cNvPr id="2069" name="Google Shape;2069;p154"/>
            <p:cNvSpPr txBox="1"/>
            <p:nvPr/>
          </p:nvSpPr>
          <p:spPr>
            <a:xfrm>
              <a:off x="5179950" y="1621174"/>
              <a:ext cx="122100" cy="37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070" name="Google Shape;2070;p154"/>
            <p:cNvGrpSpPr/>
            <p:nvPr/>
          </p:nvGrpSpPr>
          <p:grpSpPr>
            <a:xfrm>
              <a:off x="5418426" y="1633180"/>
              <a:ext cx="1795934" cy="228900"/>
              <a:chOff x="6744625" y="1655350"/>
              <a:chExt cx="1795934" cy="228900"/>
            </a:xfrm>
          </p:grpSpPr>
          <p:sp>
            <p:nvSpPr>
              <p:cNvPr id="2071" name="Google Shape;2071;p154"/>
              <p:cNvSpPr txBox="1"/>
              <p:nvPr/>
            </p:nvSpPr>
            <p:spPr>
              <a:xfrm>
                <a:off x="6744625" y="1655350"/>
                <a:ext cx="388200" cy="2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/>
                  <a:t>th</a:t>
                </a:r>
                <a:endParaRPr sz="800"/>
              </a:p>
            </p:txBody>
          </p:sp>
          <p:sp>
            <p:nvSpPr>
              <p:cNvPr id="2072" name="Google Shape;2072;p154"/>
              <p:cNvSpPr txBox="1"/>
              <p:nvPr/>
            </p:nvSpPr>
            <p:spPr>
              <a:xfrm>
                <a:off x="7228396" y="1655350"/>
                <a:ext cx="388200" cy="2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/>
                  <a:t>th</a:t>
                </a:r>
                <a:endParaRPr sz="800"/>
              </a:p>
            </p:txBody>
          </p:sp>
          <p:sp>
            <p:nvSpPr>
              <p:cNvPr id="2073" name="Google Shape;2073;p154"/>
              <p:cNvSpPr txBox="1"/>
              <p:nvPr/>
            </p:nvSpPr>
            <p:spPr>
              <a:xfrm>
                <a:off x="7650193" y="1655350"/>
                <a:ext cx="388200" cy="2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/>
                  <a:t>th</a:t>
                </a:r>
                <a:endParaRPr sz="800"/>
              </a:p>
            </p:txBody>
          </p:sp>
          <p:sp>
            <p:nvSpPr>
              <p:cNvPr id="2074" name="Google Shape;2074;p154"/>
              <p:cNvSpPr txBox="1"/>
              <p:nvPr/>
            </p:nvSpPr>
            <p:spPr>
              <a:xfrm>
                <a:off x="8152359" y="1655350"/>
                <a:ext cx="388200" cy="2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/>
                  <a:t>th</a:t>
                </a:r>
                <a:endParaRPr sz="800"/>
              </a:p>
            </p:txBody>
          </p:sp>
        </p:grpSp>
      </p:grpSp>
      <p:grpSp>
        <p:nvGrpSpPr>
          <p:cNvPr id="2075" name="Google Shape;2075;p154"/>
          <p:cNvGrpSpPr/>
          <p:nvPr/>
        </p:nvGrpSpPr>
        <p:grpSpPr>
          <a:xfrm>
            <a:off x="7289193" y="1069368"/>
            <a:ext cx="839567" cy="228900"/>
            <a:chOff x="7700993" y="1655350"/>
            <a:chExt cx="839567" cy="228900"/>
          </a:xfrm>
        </p:grpSpPr>
        <p:sp>
          <p:nvSpPr>
            <p:cNvPr id="2076" name="Google Shape;2076;p154"/>
            <p:cNvSpPr txBox="1"/>
            <p:nvPr/>
          </p:nvSpPr>
          <p:spPr>
            <a:xfrm>
              <a:off x="7700993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2077" name="Google Shape;2077;p154"/>
            <p:cNvSpPr txBox="1"/>
            <p:nvPr/>
          </p:nvSpPr>
          <p:spPr>
            <a:xfrm>
              <a:off x="8152359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</p:grpSp>
      <p:grpSp>
        <p:nvGrpSpPr>
          <p:cNvPr id="2078" name="Google Shape;2078;p154"/>
          <p:cNvGrpSpPr/>
          <p:nvPr/>
        </p:nvGrpSpPr>
        <p:grpSpPr>
          <a:xfrm>
            <a:off x="4747087" y="1640068"/>
            <a:ext cx="2654100" cy="313500"/>
            <a:chOff x="4823287" y="1899080"/>
            <a:chExt cx="2654100" cy="313500"/>
          </a:xfrm>
        </p:grpSpPr>
        <p:grpSp>
          <p:nvGrpSpPr>
            <p:cNvPr id="2079" name="Google Shape;2079;p154"/>
            <p:cNvGrpSpPr/>
            <p:nvPr/>
          </p:nvGrpSpPr>
          <p:grpSpPr>
            <a:xfrm>
              <a:off x="4823287" y="1899080"/>
              <a:ext cx="2196900" cy="313500"/>
              <a:chOff x="4411875" y="4131050"/>
              <a:chExt cx="2196900" cy="313500"/>
            </a:xfrm>
          </p:grpSpPr>
          <p:sp>
            <p:nvSpPr>
              <p:cNvPr id="2080" name="Google Shape;2080;p154"/>
              <p:cNvSpPr/>
              <p:nvPr/>
            </p:nvSpPr>
            <p:spPr>
              <a:xfrm>
                <a:off x="4411875" y="4131050"/>
                <a:ext cx="273600" cy="313500"/>
              </a:xfrm>
              <a:prstGeom prst="roundRect">
                <a:avLst>
                  <a:gd fmla="val 1666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81" name="Google Shape;2081;p154"/>
              <p:cNvSpPr/>
              <p:nvPr/>
            </p:nvSpPr>
            <p:spPr>
              <a:xfrm>
                <a:off x="4904225" y="4131050"/>
                <a:ext cx="273600" cy="313500"/>
              </a:xfrm>
              <a:prstGeom prst="roundRect">
                <a:avLst>
                  <a:gd fmla="val 1666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82" name="Google Shape;2082;p154"/>
              <p:cNvSpPr/>
              <p:nvPr/>
            </p:nvSpPr>
            <p:spPr>
              <a:xfrm>
                <a:off x="5396575" y="4131050"/>
                <a:ext cx="273600" cy="313500"/>
              </a:xfrm>
              <a:prstGeom prst="roundRect">
                <a:avLst>
                  <a:gd fmla="val 1666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83" name="Google Shape;2083;p154"/>
              <p:cNvSpPr/>
              <p:nvPr/>
            </p:nvSpPr>
            <p:spPr>
              <a:xfrm>
                <a:off x="5835450" y="4131050"/>
                <a:ext cx="273600" cy="313500"/>
              </a:xfrm>
              <a:prstGeom prst="roundRect">
                <a:avLst>
                  <a:gd fmla="val 1666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84" name="Google Shape;2084;p154"/>
              <p:cNvSpPr/>
              <p:nvPr/>
            </p:nvSpPr>
            <p:spPr>
              <a:xfrm>
                <a:off x="6335175" y="4131050"/>
                <a:ext cx="273600" cy="313500"/>
              </a:xfrm>
              <a:prstGeom prst="roundRect">
                <a:avLst>
                  <a:gd fmla="val 1666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2085" name="Google Shape;2085;p154"/>
            <p:cNvSpPr/>
            <p:nvPr/>
          </p:nvSpPr>
          <p:spPr>
            <a:xfrm>
              <a:off x="7203787" y="1899080"/>
              <a:ext cx="273600" cy="3135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86" name="Google Shape;2086;p154"/>
          <p:cNvSpPr/>
          <p:nvPr/>
        </p:nvSpPr>
        <p:spPr>
          <a:xfrm>
            <a:off x="5981350" y="2174293"/>
            <a:ext cx="415800" cy="2733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7" name="Google Shape;2087;p154"/>
          <p:cNvSpPr txBox="1"/>
          <p:nvPr/>
        </p:nvSpPr>
        <p:spPr>
          <a:xfrm>
            <a:off x="1421325" y="2173513"/>
            <a:ext cx="4382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Halfway would show a 5 in this column,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 is less than 5.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8" name="Google Shape;2088;p154"/>
          <p:cNvSpPr txBox="1"/>
          <p:nvPr/>
        </p:nvSpPr>
        <p:spPr>
          <a:xfrm>
            <a:off x="324000" y="4129625"/>
            <a:ext cx="6518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Therefore, we r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ound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down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the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low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er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value.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1.9037 = 1.90 (2 d.p.)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89" name="Google Shape;2089;p154"/>
          <p:cNvSpPr txBox="1"/>
          <p:nvPr>
            <p:ph idx="1" type="body"/>
          </p:nvPr>
        </p:nvSpPr>
        <p:spPr>
          <a:xfrm>
            <a:off x="324000" y="2892900"/>
            <a:ext cx="84960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Identify the </a:t>
            </a:r>
            <a:r>
              <a:rPr lang="en-GB" sz="2000">
                <a:solidFill>
                  <a:schemeClr val="accent2"/>
                </a:solidFill>
              </a:rPr>
              <a:t>hundredths</a:t>
            </a:r>
            <a:r>
              <a:rPr lang="en-GB" sz="2000"/>
              <a:t> column as this is the </a:t>
            </a:r>
            <a:r>
              <a:rPr lang="en-GB" sz="2000">
                <a:solidFill>
                  <a:schemeClr val="accent2"/>
                </a:solidFill>
              </a:rPr>
              <a:t>2nd</a:t>
            </a:r>
            <a:r>
              <a:rPr lang="en-GB" sz="2000"/>
              <a:t> decimal place.</a:t>
            </a:r>
            <a:endParaRPr sz="2000"/>
          </a:p>
        </p:txBody>
      </p:sp>
      <p:sp>
        <p:nvSpPr>
          <p:cNvPr id="2090" name="Google Shape;2090;p154"/>
          <p:cNvSpPr txBox="1"/>
          <p:nvPr>
            <p:ph idx="1" type="body"/>
          </p:nvPr>
        </p:nvSpPr>
        <p:spPr>
          <a:xfrm>
            <a:off x="324000" y="3426300"/>
            <a:ext cx="8496000" cy="7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Consider the digit in the </a:t>
            </a:r>
            <a:r>
              <a:rPr lang="en-GB" sz="2000">
                <a:solidFill>
                  <a:schemeClr val="accent2"/>
                </a:solidFill>
              </a:rPr>
              <a:t>thousandths</a:t>
            </a:r>
            <a:r>
              <a:rPr lang="en-GB" sz="2000"/>
              <a:t> column, the column to the </a:t>
            </a:r>
            <a:r>
              <a:rPr lang="en-GB" sz="2000">
                <a:solidFill>
                  <a:schemeClr val="accent2"/>
                </a:solidFill>
              </a:rPr>
              <a:t>right</a:t>
            </a:r>
            <a:r>
              <a:rPr lang="en-GB" sz="2000"/>
              <a:t>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4" name="Shape 2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5" name="Google Shape;2095;p155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0.0729 = 0.073 (2 d.p.)</a:t>
            </a:r>
            <a:endParaRPr/>
          </a:p>
        </p:txBody>
      </p:sp>
      <p:sp>
        <p:nvSpPr>
          <p:cNvPr id="2096" name="Google Shape;2096;p15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Rounding to one or two decimal places</a:t>
            </a:r>
            <a:endParaRPr/>
          </a:p>
        </p:txBody>
      </p:sp>
      <p:sp>
        <p:nvSpPr>
          <p:cNvPr id="2097" name="Google Shape;2097;p155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of the following have been written correctly to 2 decimal places?</a:t>
            </a:r>
            <a:endParaRPr/>
          </a:p>
        </p:txBody>
      </p:sp>
      <p:sp>
        <p:nvSpPr>
          <p:cNvPr id="2098" name="Google Shape;2098;p155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5.028 = 5.03 (2 d.p.)</a:t>
            </a:r>
            <a:endParaRPr/>
          </a:p>
        </p:txBody>
      </p:sp>
      <p:sp>
        <p:nvSpPr>
          <p:cNvPr id="2099" name="Google Shape;2099;p155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8.4589 = 8.5 (2 d.p.)</a:t>
            </a:r>
            <a:endParaRPr/>
          </a:p>
        </p:txBody>
      </p:sp>
      <p:sp>
        <p:nvSpPr>
          <p:cNvPr id="2100" name="Google Shape;2100;p155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45.8752 = 45.88 (2 d.p.)</a:t>
            </a:r>
            <a:endParaRPr/>
          </a:p>
        </p:txBody>
      </p:sp>
      <p:pic>
        <p:nvPicPr>
          <p:cNvPr id="2101" name="Google Shape;2101;p1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4008" y="245032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2" name="Google Shape;2102;p1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0008" y="41104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6" name="Shape 2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7" name="Google Shape;2107;p15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one or two decimal places</a:t>
            </a:r>
            <a:endParaRPr/>
          </a:p>
        </p:txBody>
      </p:sp>
      <p:sp>
        <p:nvSpPr>
          <p:cNvPr id="2108" name="Google Shape;2108;p156"/>
          <p:cNvSpPr txBox="1"/>
          <p:nvPr>
            <p:ph idx="1" type="body"/>
          </p:nvPr>
        </p:nvSpPr>
        <p:spPr>
          <a:xfrm>
            <a:off x="324000" y="759300"/>
            <a:ext cx="8237700" cy="40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</a:t>
            </a:r>
            <a:r>
              <a:rPr b="1" lang="en-GB" sz="1800"/>
              <a:t>   </a:t>
            </a:r>
            <a:r>
              <a:rPr b="1" lang="en-GB" sz="1800"/>
              <a:t>Round</a:t>
            </a:r>
            <a:r>
              <a:rPr lang="en-GB" sz="1800"/>
              <a:t> each of the following to one </a:t>
            </a:r>
            <a:r>
              <a:rPr lang="en-GB" sz="1800"/>
              <a:t>decimal</a:t>
            </a:r>
            <a:r>
              <a:rPr lang="en-GB" sz="1800"/>
              <a:t> place (1 d.p.)</a:t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a)	3.23 = </a:t>
            </a:r>
            <a:r>
              <a:rPr lang="en-GB" sz="1800" u="sng"/>
              <a:t>          </a:t>
            </a:r>
            <a:r>
              <a:rPr lang="en-GB" sz="1800"/>
              <a:t> (1 d.p.)</a:t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b)	3.38 </a:t>
            </a:r>
            <a:r>
              <a:rPr lang="en-GB" sz="1800"/>
              <a:t>= </a:t>
            </a:r>
            <a:r>
              <a:rPr lang="en-GB" sz="1800" u="sng"/>
              <a:t>          </a:t>
            </a:r>
            <a:r>
              <a:rPr lang="en-GB" sz="1800"/>
              <a:t> (1 d.p.)</a:t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c)	13.75 = </a:t>
            </a:r>
            <a:r>
              <a:rPr lang="en-GB" sz="1800" u="sng"/>
              <a:t>          </a:t>
            </a:r>
            <a:r>
              <a:rPr lang="en-GB" sz="1800"/>
              <a:t> (1 d.p.)</a:t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d)	13.72 = </a:t>
            </a:r>
            <a:r>
              <a:rPr lang="en-GB" sz="1800" u="sng"/>
              <a:t>          </a:t>
            </a:r>
            <a:r>
              <a:rPr lang="en-GB" sz="1800"/>
              <a:t> (1 d.p.)</a:t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e)	134.51 = </a:t>
            </a:r>
            <a:r>
              <a:rPr lang="en-GB" sz="1800" u="sng"/>
              <a:t>          </a:t>
            </a:r>
            <a:r>
              <a:rPr lang="en-GB" sz="1800"/>
              <a:t> (1 d.p.)</a:t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f)	134.98 = </a:t>
            </a:r>
            <a:r>
              <a:rPr lang="en-GB" sz="1800" u="sng"/>
              <a:t>          </a:t>
            </a:r>
            <a:r>
              <a:rPr lang="en-GB" sz="1800"/>
              <a:t> (1 d.p.)</a:t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g)	2345.03 = </a:t>
            </a:r>
            <a:r>
              <a:rPr lang="en-GB" sz="1800" u="sng"/>
              <a:t>          </a:t>
            </a:r>
            <a:r>
              <a:rPr lang="en-GB" sz="1800"/>
              <a:t> (1 d.p.)</a:t>
            </a:r>
            <a:endParaRPr sz="1800"/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 </a:t>
            </a:r>
            <a:endParaRPr sz="18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2" name="Shape 2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3" name="Google Shape;2113;p15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one or two decimal places</a:t>
            </a:r>
            <a:endParaRPr/>
          </a:p>
        </p:txBody>
      </p:sp>
      <p:sp>
        <p:nvSpPr>
          <p:cNvPr id="2114" name="Google Shape;2114;p157"/>
          <p:cNvSpPr txBox="1"/>
          <p:nvPr>
            <p:ph idx="1" type="body"/>
          </p:nvPr>
        </p:nvSpPr>
        <p:spPr>
          <a:xfrm>
            <a:off x="324000" y="759300"/>
            <a:ext cx="8496000" cy="40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  </a:t>
            </a:r>
            <a:r>
              <a:rPr b="1" lang="en-GB" sz="1800"/>
              <a:t>Round</a:t>
            </a:r>
            <a:r>
              <a:rPr lang="en-GB" sz="1800"/>
              <a:t> each of the following to two decimal places (2 d.p.)</a:t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a)	4.358 = </a:t>
            </a:r>
            <a:r>
              <a:rPr lang="en-GB" sz="1800" u="sng"/>
              <a:t>          </a:t>
            </a:r>
            <a:r>
              <a:rPr lang="en-GB" sz="1800"/>
              <a:t> (2 d.p.)</a:t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b)	4.352 = </a:t>
            </a:r>
            <a:r>
              <a:rPr lang="en-GB" sz="1800" u="sng"/>
              <a:t>          </a:t>
            </a:r>
            <a:r>
              <a:rPr lang="en-GB" sz="1800"/>
              <a:t> (2 d.p.)</a:t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c)	24.7531 = </a:t>
            </a:r>
            <a:r>
              <a:rPr lang="en-GB" sz="1800" u="sng"/>
              <a:t>          </a:t>
            </a:r>
            <a:r>
              <a:rPr lang="en-GB" sz="1800"/>
              <a:t> (2 d.p.)</a:t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d)	24.75251 = </a:t>
            </a:r>
            <a:r>
              <a:rPr lang="en-GB" sz="1800" u="sng"/>
              <a:t>          </a:t>
            </a:r>
            <a:r>
              <a:rPr lang="en-GB" sz="1800"/>
              <a:t> (2 d.p.)</a:t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e)	224.90753 = </a:t>
            </a:r>
            <a:r>
              <a:rPr lang="en-GB" sz="1800" u="sng"/>
              <a:t>          </a:t>
            </a:r>
            <a:r>
              <a:rPr lang="en-GB" sz="1800"/>
              <a:t> (2 d.p.)</a:t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f)	224.09753 = </a:t>
            </a:r>
            <a:r>
              <a:rPr lang="en-GB" sz="1800" u="sng"/>
              <a:t>          </a:t>
            </a:r>
            <a:r>
              <a:rPr lang="en-GB" sz="1800"/>
              <a:t> (2 d.p.)</a:t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g)	5224.09931 = </a:t>
            </a:r>
            <a:r>
              <a:rPr lang="en-GB" sz="1800" u="sng"/>
              <a:t>          </a:t>
            </a:r>
            <a:r>
              <a:rPr lang="en-GB" sz="1800"/>
              <a:t> (2 d.p.)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 </a:t>
            </a:r>
            <a:endParaRPr sz="18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8" name="Shape 2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" name="Google Shape;2119;p15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one or two decimal places</a:t>
            </a:r>
            <a:endParaRPr/>
          </a:p>
        </p:txBody>
      </p:sp>
      <p:sp>
        <p:nvSpPr>
          <p:cNvPr id="2120" name="Google Shape;2120;p158"/>
          <p:cNvSpPr txBox="1"/>
          <p:nvPr>
            <p:ph idx="1" type="body"/>
          </p:nvPr>
        </p:nvSpPr>
        <p:spPr>
          <a:xfrm>
            <a:off x="324000" y="1543800"/>
            <a:ext cx="8237700" cy="12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3)   </a:t>
            </a:r>
            <a:r>
              <a:rPr lang="en-GB" sz="1800"/>
              <a:t>Using </a:t>
            </a:r>
            <a:r>
              <a:rPr lang="en-GB" sz="1800">
                <a:solidFill>
                  <a:schemeClr val="accent2"/>
                </a:solidFill>
              </a:rPr>
              <a:t>all</a:t>
            </a:r>
            <a:r>
              <a:rPr lang="en-GB" sz="1800"/>
              <a:t> five digits each time, rearrange the cards in the place value grid to create (and if it’s not possible, explain why):</a:t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A number that </a:t>
            </a:r>
            <a:r>
              <a:rPr b="1" lang="en-GB" sz="1800"/>
              <a:t>rounds</a:t>
            </a:r>
            <a:r>
              <a:rPr lang="en-GB" sz="1800"/>
              <a:t> to 4000 to the nearest thousand.</a:t>
            </a:r>
            <a:br>
              <a:rPr lang="en-GB" sz="1800"/>
            </a:br>
            <a:br>
              <a:rPr lang="en-GB" sz="1800"/>
            </a:br>
            <a:br>
              <a:rPr lang="en-GB" sz="1800"/>
            </a:b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A number that </a:t>
            </a:r>
            <a:r>
              <a:rPr b="1" lang="en-GB" sz="1800"/>
              <a:t>rounds</a:t>
            </a:r>
            <a:r>
              <a:rPr lang="en-GB" sz="1800"/>
              <a:t> to 300 to the nearest hundred.</a:t>
            </a:r>
            <a:endParaRPr sz="1800"/>
          </a:p>
        </p:txBody>
      </p:sp>
      <p:sp>
        <p:nvSpPr>
          <p:cNvPr id="2121" name="Google Shape;2121;p158"/>
          <p:cNvSpPr/>
          <p:nvPr/>
        </p:nvSpPr>
        <p:spPr>
          <a:xfrm>
            <a:off x="1991525" y="735925"/>
            <a:ext cx="597000" cy="70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latin typeface="Lexend"/>
                <a:ea typeface="Lexend"/>
                <a:cs typeface="Lexend"/>
                <a:sym typeface="Lexend"/>
              </a:rPr>
              <a:t>3</a:t>
            </a:r>
            <a:endParaRPr sz="3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2" name="Google Shape;2122;p158"/>
          <p:cNvSpPr/>
          <p:nvPr/>
        </p:nvSpPr>
        <p:spPr>
          <a:xfrm>
            <a:off x="3134525" y="735925"/>
            <a:ext cx="597000" cy="70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latin typeface="Lexend"/>
                <a:ea typeface="Lexend"/>
                <a:cs typeface="Lexend"/>
                <a:sym typeface="Lexend"/>
              </a:rPr>
              <a:t>4</a:t>
            </a:r>
            <a:endParaRPr sz="3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3" name="Google Shape;2123;p158"/>
          <p:cNvSpPr/>
          <p:nvPr/>
        </p:nvSpPr>
        <p:spPr>
          <a:xfrm>
            <a:off x="4277525" y="735925"/>
            <a:ext cx="597000" cy="70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latin typeface="Lexend"/>
                <a:ea typeface="Lexend"/>
                <a:cs typeface="Lexend"/>
                <a:sym typeface="Lexend"/>
              </a:rPr>
              <a:t>5</a:t>
            </a:r>
            <a:endParaRPr sz="3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4" name="Google Shape;2124;p158"/>
          <p:cNvSpPr/>
          <p:nvPr/>
        </p:nvSpPr>
        <p:spPr>
          <a:xfrm>
            <a:off x="5420525" y="735925"/>
            <a:ext cx="597000" cy="70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latin typeface="Lexend"/>
                <a:ea typeface="Lexend"/>
                <a:cs typeface="Lexend"/>
                <a:sym typeface="Lexend"/>
              </a:rPr>
              <a:t>6</a:t>
            </a:r>
            <a:endParaRPr sz="3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5" name="Google Shape;2125;p158"/>
          <p:cNvSpPr/>
          <p:nvPr/>
        </p:nvSpPr>
        <p:spPr>
          <a:xfrm>
            <a:off x="6563525" y="735925"/>
            <a:ext cx="597000" cy="70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latin typeface="Lexend"/>
                <a:ea typeface="Lexend"/>
                <a:cs typeface="Lexend"/>
                <a:sym typeface="Lexend"/>
              </a:rPr>
              <a:t>7</a:t>
            </a:r>
            <a:endParaRPr sz="30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126" name="Google Shape;2126;p158"/>
          <p:cNvGraphicFramePr/>
          <p:nvPr/>
        </p:nvGraphicFramePr>
        <p:xfrm>
          <a:off x="779201" y="26237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{96544899-28CE-4B64-812E-1AE840465D4C}</a:tableStyleId>
              </a:tblPr>
              <a:tblGrid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27" name="Google Shape;2127;p158"/>
          <p:cNvSpPr txBox="1"/>
          <p:nvPr/>
        </p:nvSpPr>
        <p:spPr>
          <a:xfrm>
            <a:off x="3107715" y="2600290"/>
            <a:ext cx="1221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28" name="Google Shape;2128;p158"/>
          <p:cNvGrpSpPr/>
          <p:nvPr/>
        </p:nvGrpSpPr>
        <p:grpSpPr>
          <a:xfrm>
            <a:off x="3437226" y="2604401"/>
            <a:ext cx="871971" cy="228900"/>
            <a:chOff x="6897025" y="1655350"/>
            <a:chExt cx="871971" cy="228900"/>
          </a:xfrm>
        </p:grpSpPr>
        <p:sp>
          <p:nvSpPr>
            <p:cNvPr id="2129" name="Google Shape;2129;p158"/>
            <p:cNvSpPr txBox="1"/>
            <p:nvPr/>
          </p:nvSpPr>
          <p:spPr>
            <a:xfrm>
              <a:off x="6897025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2130" name="Google Shape;2130;p158"/>
            <p:cNvSpPr txBox="1"/>
            <p:nvPr/>
          </p:nvSpPr>
          <p:spPr>
            <a:xfrm>
              <a:off x="7380796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</p:grpSp>
      <p:sp>
        <p:nvSpPr>
          <p:cNvPr id="2131" name="Google Shape;2131;p158"/>
          <p:cNvSpPr txBox="1"/>
          <p:nvPr/>
        </p:nvSpPr>
        <p:spPr>
          <a:xfrm>
            <a:off x="3107715" y="3057490"/>
            <a:ext cx="1221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132" name="Google Shape;2132;p158"/>
          <p:cNvGraphicFramePr/>
          <p:nvPr/>
        </p:nvGraphicFramePr>
        <p:xfrm>
          <a:off x="779201" y="38915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{96544899-28CE-4B64-812E-1AE840465D4C}</a:tableStyleId>
              </a:tblPr>
              <a:tblGrid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33" name="Google Shape;2133;p158"/>
          <p:cNvSpPr txBox="1"/>
          <p:nvPr/>
        </p:nvSpPr>
        <p:spPr>
          <a:xfrm>
            <a:off x="3107715" y="3868080"/>
            <a:ext cx="1221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34" name="Google Shape;2134;p158"/>
          <p:cNvGrpSpPr/>
          <p:nvPr/>
        </p:nvGrpSpPr>
        <p:grpSpPr>
          <a:xfrm>
            <a:off x="3437226" y="3872190"/>
            <a:ext cx="871971" cy="228900"/>
            <a:chOff x="6897025" y="1655350"/>
            <a:chExt cx="871971" cy="228900"/>
          </a:xfrm>
        </p:grpSpPr>
        <p:sp>
          <p:nvSpPr>
            <p:cNvPr id="2135" name="Google Shape;2135;p158"/>
            <p:cNvSpPr txBox="1"/>
            <p:nvPr/>
          </p:nvSpPr>
          <p:spPr>
            <a:xfrm>
              <a:off x="6897025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2136" name="Google Shape;2136;p158"/>
            <p:cNvSpPr txBox="1"/>
            <p:nvPr/>
          </p:nvSpPr>
          <p:spPr>
            <a:xfrm>
              <a:off x="7380796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</p:grpSp>
      <p:sp>
        <p:nvSpPr>
          <p:cNvPr id="2137" name="Google Shape;2137;p158"/>
          <p:cNvSpPr txBox="1"/>
          <p:nvPr/>
        </p:nvSpPr>
        <p:spPr>
          <a:xfrm>
            <a:off x="3107715" y="4325280"/>
            <a:ext cx="1221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1" name="Shape 2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2" name="Google Shape;2142;p15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one or two decimal places</a:t>
            </a:r>
            <a:endParaRPr/>
          </a:p>
        </p:txBody>
      </p:sp>
      <p:sp>
        <p:nvSpPr>
          <p:cNvPr id="2143" name="Google Shape;2143;p159"/>
          <p:cNvSpPr txBox="1"/>
          <p:nvPr>
            <p:ph idx="1" type="body"/>
          </p:nvPr>
        </p:nvSpPr>
        <p:spPr>
          <a:xfrm>
            <a:off x="324000" y="1543800"/>
            <a:ext cx="8237700" cy="12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</a:t>
            </a:r>
            <a:r>
              <a:rPr lang="en-GB" sz="1800"/>
              <a:t>)   Using </a:t>
            </a:r>
            <a:r>
              <a:rPr lang="en-GB" sz="1800">
                <a:solidFill>
                  <a:schemeClr val="accent2"/>
                </a:solidFill>
              </a:rPr>
              <a:t>all</a:t>
            </a:r>
            <a:r>
              <a:rPr lang="en-GB" sz="1800"/>
              <a:t> five digits each time, rearrange the cards in the place value grid to create </a:t>
            </a:r>
            <a:r>
              <a:rPr lang="en-GB" sz="1800"/>
              <a:t>(and if it’s not possible, explain why)</a:t>
            </a:r>
            <a:r>
              <a:rPr lang="en-GB" sz="1800"/>
              <a:t>: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c)    A number that </a:t>
            </a:r>
            <a:r>
              <a:rPr b="1" lang="en-GB" sz="1800"/>
              <a:t>rounds</a:t>
            </a:r>
            <a:r>
              <a:rPr lang="en-GB" sz="1800"/>
              <a:t> to 10 to the nearest ten.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d)    A number that </a:t>
            </a:r>
            <a:r>
              <a:rPr b="1" lang="en-GB" sz="1800"/>
              <a:t>rounds</a:t>
            </a:r>
            <a:r>
              <a:rPr lang="en-GB" sz="1800"/>
              <a:t> to 10 to the nearest </a:t>
            </a:r>
            <a:r>
              <a:rPr lang="en-GB" sz="1800"/>
              <a:t>whole</a:t>
            </a:r>
            <a:r>
              <a:rPr lang="en-GB" sz="1800"/>
              <a:t> number.</a:t>
            </a:r>
            <a:endParaRPr sz="1800"/>
          </a:p>
        </p:txBody>
      </p:sp>
      <p:sp>
        <p:nvSpPr>
          <p:cNvPr id="2144" name="Google Shape;2144;p159"/>
          <p:cNvSpPr/>
          <p:nvPr/>
        </p:nvSpPr>
        <p:spPr>
          <a:xfrm>
            <a:off x="1991525" y="735925"/>
            <a:ext cx="597000" cy="70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latin typeface="Lexend"/>
                <a:ea typeface="Lexend"/>
                <a:cs typeface="Lexend"/>
                <a:sym typeface="Lexend"/>
              </a:rPr>
              <a:t>3</a:t>
            </a:r>
            <a:endParaRPr sz="3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5" name="Google Shape;2145;p159"/>
          <p:cNvSpPr/>
          <p:nvPr/>
        </p:nvSpPr>
        <p:spPr>
          <a:xfrm>
            <a:off x="3134525" y="735925"/>
            <a:ext cx="597000" cy="70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latin typeface="Lexend"/>
                <a:ea typeface="Lexend"/>
                <a:cs typeface="Lexend"/>
                <a:sym typeface="Lexend"/>
              </a:rPr>
              <a:t>4</a:t>
            </a:r>
            <a:endParaRPr sz="3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6" name="Google Shape;2146;p159"/>
          <p:cNvSpPr/>
          <p:nvPr/>
        </p:nvSpPr>
        <p:spPr>
          <a:xfrm>
            <a:off x="4277525" y="735925"/>
            <a:ext cx="597000" cy="70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latin typeface="Lexend"/>
                <a:ea typeface="Lexend"/>
                <a:cs typeface="Lexend"/>
                <a:sym typeface="Lexend"/>
              </a:rPr>
              <a:t>5</a:t>
            </a:r>
            <a:endParaRPr sz="3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7" name="Google Shape;2147;p159"/>
          <p:cNvSpPr/>
          <p:nvPr/>
        </p:nvSpPr>
        <p:spPr>
          <a:xfrm>
            <a:off x="5420525" y="735925"/>
            <a:ext cx="597000" cy="70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latin typeface="Lexend"/>
                <a:ea typeface="Lexend"/>
                <a:cs typeface="Lexend"/>
                <a:sym typeface="Lexend"/>
              </a:rPr>
              <a:t>6</a:t>
            </a:r>
            <a:endParaRPr sz="3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8" name="Google Shape;2148;p159"/>
          <p:cNvSpPr/>
          <p:nvPr/>
        </p:nvSpPr>
        <p:spPr>
          <a:xfrm>
            <a:off x="6563525" y="735925"/>
            <a:ext cx="597000" cy="70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latin typeface="Lexend"/>
                <a:ea typeface="Lexend"/>
                <a:cs typeface="Lexend"/>
                <a:sym typeface="Lexend"/>
              </a:rPr>
              <a:t>7</a:t>
            </a:r>
            <a:endParaRPr sz="30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149" name="Google Shape;2149;p159"/>
          <p:cNvGraphicFramePr/>
          <p:nvPr/>
        </p:nvGraphicFramePr>
        <p:xfrm>
          <a:off x="779201" y="26237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{96544899-28CE-4B64-812E-1AE840465D4C}</a:tableStyleId>
              </a:tblPr>
              <a:tblGrid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50" name="Google Shape;2150;p159"/>
          <p:cNvSpPr txBox="1"/>
          <p:nvPr/>
        </p:nvSpPr>
        <p:spPr>
          <a:xfrm>
            <a:off x="3107715" y="2600290"/>
            <a:ext cx="1221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51" name="Google Shape;2151;p159"/>
          <p:cNvGrpSpPr/>
          <p:nvPr/>
        </p:nvGrpSpPr>
        <p:grpSpPr>
          <a:xfrm>
            <a:off x="3437226" y="2604401"/>
            <a:ext cx="871971" cy="228900"/>
            <a:chOff x="6897025" y="1655350"/>
            <a:chExt cx="871971" cy="228900"/>
          </a:xfrm>
        </p:grpSpPr>
        <p:sp>
          <p:nvSpPr>
            <p:cNvPr id="2152" name="Google Shape;2152;p159"/>
            <p:cNvSpPr txBox="1"/>
            <p:nvPr/>
          </p:nvSpPr>
          <p:spPr>
            <a:xfrm>
              <a:off x="6897025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2153" name="Google Shape;2153;p159"/>
            <p:cNvSpPr txBox="1"/>
            <p:nvPr/>
          </p:nvSpPr>
          <p:spPr>
            <a:xfrm>
              <a:off x="7380796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</p:grpSp>
      <p:sp>
        <p:nvSpPr>
          <p:cNvPr id="2154" name="Google Shape;2154;p159"/>
          <p:cNvSpPr txBox="1"/>
          <p:nvPr/>
        </p:nvSpPr>
        <p:spPr>
          <a:xfrm>
            <a:off x="3107715" y="3057490"/>
            <a:ext cx="1221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155" name="Google Shape;2155;p159"/>
          <p:cNvGraphicFramePr/>
          <p:nvPr/>
        </p:nvGraphicFramePr>
        <p:xfrm>
          <a:off x="779201" y="38915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{96544899-28CE-4B64-812E-1AE840465D4C}</a:tableStyleId>
              </a:tblPr>
              <a:tblGrid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56" name="Google Shape;2156;p159"/>
          <p:cNvSpPr txBox="1"/>
          <p:nvPr/>
        </p:nvSpPr>
        <p:spPr>
          <a:xfrm>
            <a:off x="3107715" y="3868080"/>
            <a:ext cx="1221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57" name="Google Shape;2157;p159"/>
          <p:cNvGrpSpPr/>
          <p:nvPr/>
        </p:nvGrpSpPr>
        <p:grpSpPr>
          <a:xfrm>
            <a:off x="3437226" y="3872190"/>
            <a:ext cx="871971" cy="228900"/>
            <a:chOff x="6897025" y="1655350"/>
            <a:chExt cx="871971" cy="228900"/>
          </a:xfrm>
        </p:grpSpPr>
        <p:sp>
          <p:nvSpPr>
            <p:cNvPr id="2158" name="Google Shape;2158;p159"/>
            <p:cNvSpPr txBox="1"/>
            <p:nvPr/>
          </p:nvSpPr>
          <p:spPr>
            <a:xfrm>
              <a:off x="6897025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2159" name="Google Shape;2159;p159"/>
            <p:cNvSpPr txBox="1"/>
            <p:nvPr/>
          </p:nvSpPr>
          <p:spPr>
            <a:xfrm>
              <a:off x="7380796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</p:grpSp>
      <p:sp>
        <p:nvSpPr>
          <p:cNvPr id="2160" name="Google Shape;2160;p159"/>
          <p:cNvSpPr txBox="1"/>
          <p:nvPr/>
        </p:nvSpPr>
        <p:spPr>
          <a:xfrm>
            <a:off x="3107715" y="4325280"/>
            <a:ext cx="1221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4" name="Shape 2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5" name="Google Shape;2165;p16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one or two decimal places</a:t>
            </a:r>
            <a:endParaRPr/>
          </a:p>
        </p:txBody>
      </p:sp>
      <p:sp>
        <p:nvSpPr>
          <p:cNvPr id="2166" name="Google Shape;2166;p160"/>
          <p:cNvSpPr txBox="1"/>
          <p:nvPr>
            <p:ph idx="1" type="body"/>
          </p:nvPr>
        </p:nvSpPr>
        <p:spPr>
          <a:xfrm>
            <a:off x="324000" y="1543800"/>
            <a:ext cx="8237700" cy="12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</a:t>
            </a:r>
            <a:r>
              <a:rPr lang="en-GB" sz="1800"/>
              <a:t>)   Using </a:t>
            </a:r>
            <a:r>
              <a:rPr lang="en-GB" sz="1800">
                <a:solidFill>
                  <a:schemeClr val="accent2"/>
                </a:solidFill>
              </a:rPr>
              <a:t>all</a:t>
            </a:r>
            <a:r>
              <a:rPr lang="en-GB" sz="1800"/>
              <a:t> five digits each time, rearrange the cards in the place value grid to create </a:t>
            </a:r>
            <a:r>
              <a:rPr lang="en-GB" sz="1800"/>
              <a:t>(and if it’s not possible, explain why)</a:t>
            </a:r>
            <a:r>
              <a:rPr lang="en-GB" sz="1800"/>
              <a:t>: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e)    A number that </a:t>
            </a:r>
            <a:r>
              <a:rPr b="1" lang="en-GB" sz="1800"/>
              <a:t>rounds</a:t>
            </a:r>
            <a:r>
              <a:rPr lang="en-GB" sz="1800"/>
              <a:t> to 3.8 to the nearest tenth.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f)    Which part has the most </a:t>
            </a:r>
            <a:r>
              <a:rPr lang="en-GB" sz="1800"/>
              <a:t>possible</a:t>
            </a:r>
            <a:r>
              <a:rPr lang="en-GB" sz="1800"/>
              <a:t> answers?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g)   Which part has the fewest </a:t>
            </a:r>
            <a:r>
              <a:rPr lang="en-GB" sz="1800"/>
              <a:t>possible answers?</a:t>
            </a:r>
            <a:endParaRPr sz="1800"/>
          </a:p>
        </p:txBody>
      </p:sp>
      <p:sp>
        <p:nvSpPr>
          <p:cNvPr id="2167" name="Google Shape;2167;p160"/>
          <p:cNvSpPr/>
          <p:nvPr/>
        </p:nvSpPr>
        <p:spPr>
          <a:xfrm>
            <a:off x="1991525" y="735925"/>
            <a:ext cx="597000" cy="70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latin typeface="Lexend"/>
                <a:ea typeface="Lexend"/>
                <a:cs typeface="Lexend"/>
                <a:sym typeface="Lexend"/>
              </a:rPr>
              <a:t>3</a:t>
            </a:r>
            <a:endParaRPr sz="3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8" name="Google Shape;2168;p160"/>
          <p:cNvSpPr/>
          <p:nvPr/>
        </p:nvSpPr>
        <p:spPr>
          <a:xfrm>
            <a:off x="3134525" y="735925"/>
            <a:ext cx="597000" cy="70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latin typeface="Lexend"/>
                <a:ea typeface="Lexend"/>
                <a:cs typeface="Lexend"/>
                <a:sym typeface="Lexend"/>
              </a:rPr>
              <a:t>4</a:t>
            </a:r>
            <a:endParaRPr sz="3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9" name="Google Shape;2169;p160"/>
          <p:cNvSpPr/>
          <p:nvPr/>
        </p:nvSpPr>
        <p:spPr>
          <a:xfrm>
            <a:off x="4277525" y="735925"/>
            <a:ext cx="597000" cy="70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latin typeface="Lexend"/>
                <a:ea typeface="Lexend"/>
                <a:cs typeface="Lexend"/>
                <a:sym typeface="Lexend"/>
              </a:rPr>
              <a:t>5</a:t>
            </a:r>
            <a:endParaRPr sz="3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0" name="Google Shape;2170;p160"/>
          <p:cNvSpPr/>
          <p:nvPr/>
        </p:nvSpPr>
        <p:spPr>
          <a:xfrm>
            <a:off x="5420525" y="735925"/>
            <a:ext cx="597000" cy="70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latin typeface="Lexend"/>
                <a:ea typeface="Lexend"/>
                <a:cs typeface="Lexend"/>
                <a:sym typeface="Lexend"/>
              </a:rPr>
              <a:t>6</a:t>
            </a:r>
            <a:endParaRPr sz="3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1" name="Google Shape;2171;p160"/>
          <p:cNvSpPr/>
          <p:nvPr/>
        </p:nvSpPr>
        <p:spPr>
          <a:xfrm>
            <a:off x="6563525" y="735925"/>
            <a:ext cx="597000" cy="70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latin typeface="Lexend"/>
                <a:ea typeface="Lexend"/>
                <a:cs typeface="Lexend"/>
                <a:sym typeface="Lexend"/>
              </a:rPr>
              <a:t>7</a:t>
            </a:r>
            <a:endParaRPr sz="30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172" name="Google Shape;2172;p160"/>
          <p:cNvGraphicFramePr/>
          <p:nvPr/>
        </p:nvGraphicFramePr>
        <p:xfrm>
          <a:off x="779201" y="26237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{96544899-28CE-4B64-812E-1AE840465D4C}</a:tableStyleId>
              </a:tblPr>
              <a:tblGrid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73" name="Google Shape;2173;p160"/>
          <p:cNvSpPr txBox="1"/>
          <p:nvPr/>
        </p:nvSpPr>
        <p:spPr>
          <a:xfrm>
            <a:off x="3107715" y="2600290"/>
            <a:ext cx="1221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74" name="Google Shape;2174;p160"/>
          <p:cNvGrpSpPr/>
          <p:nvPr/>
        </p:nvGrpSpPr>
        <p:grpSpPr>
          <a:xfrm>
            <a:off x="3437226" y="2604401"/>
            <a:ext cx="871971" cy="228900"/>
            <a:chOff x="6897025" y="1655350"/>
            <a:chExt cx="871971" cy="228900"/>
          </a:xfrm>
        </p:grpSpPr>
        <p:sp>
          <p:nvSpPr>
            <p:cNvPr id="2175" name="Google Shape;2175;p160"/>
            <p:cNvSpPr txBox="1"/>
            <p:nvPr/>
          </p:nvSpPr>
          <p:spPr>
            <a:xfrm>
              <a:off x="6897025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2176" name="Google Shape;2176;p160"/>
            <p:cNvSpPr txBox="1"/>
            <p:nvPr/>
          </p:nvSpPr>
          <p:spPr>
            <a:xfrm>
              <a:off x="7380796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</p:grpSp>
      <p:sp>
        <p:nvSpPr>
          <p:cNvPr id="2177" name="Google Shape;2177;p160"/>
          <p:cNvSpPr txBox="1"/>
          <p:nvPr/>
        </p:nvSpPr>
        <p:spPr>
          <a:xfrm>
            <a:off x="3107715" y="3057490"/>
            <a:ext cx="1221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1" name="Shape 2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2" name="Google Shape;2182;p16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one or two decimal places</a:t>
            </a:r>
            <a:endParaRPr/>
          </a:p>
        </p:txBody>
      </p:sp>
      <p:sp>
        <p:nvSpPr>
          <p:cNvPr id="2183" name="Google Shape;2183;p161"/>
          <p:cNvSpPr txBox="1"/>
          <p:nvPr>
            <p:ph idx="1" type="body"/>
          </p:nvPr>
        </p:nvSpPr>
        <p:spPr>
          <a:xfrm>
            <a:off x="324000" y="759300"/>
            <a:ext cx="8237700" cy="40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</a:t>
            </a:r>
            <a:r>
              <a:rPr b="1" lang="en-GB" sz="1800"/>
              <a:t>  </a:t>
            </a:r>
            <a:r>
              <a:rPr b="1" lang="en-GB" sz="1800"/>
              <a:t>Round</a:t>
            </a:r>
            <a:r>
              <a:rPr lang="en-GB" sz="1800"/>
              <a:t> each of the following to one decimal place (1 d.p.)</a:t>
            </a:r>
            <a:endParaRPr b="1" sz="18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a)	3.23 =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3.2</a:t>
            </a:r>
            <a:r>
              <a:rPr lang="en-GB" sz="1800"/>
              <a:t> (1 d.p.)</a:t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b)	3.38 =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3.4</a:t>
            </a:r>
            <a:r>
              <a:rPr lang="en-GB" sz="1800"/>
              <a:t> (1 d.p.)</a:t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c)	13.75 =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13.8</a:t>
            </a:r>
            <a:r>
              <a:rPr lang="en-GB" sz="1800"/>
              <a:t> (1 d.p.)</a:t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d)	13.72 =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13.7</a:t>
            </a:r>
            <a:r>
              <a:rPr lang="en-GB" sz="1800"/>
              <a:t> (1 d.p.)</a:t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e)	134.51 =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134.5 </a:t>
            </a:r>
            <a:r>
              <a:rPr lang="en-GB" sz="1800"/>
              <a:t>(1 d.p.)</a:t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f)	</a:t>
            </a:r>
            <a:r>
              <a:rPr lang="en-GB" sz="1800"/>
              <a:t>134.98 =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135.0</a:t>
            </a:r>
            <a:r>
              <a:rPr lang="en-GB" sz="1800"/>
              <a:t> (1 d.p.)</a:t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g)	2345.03 =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2345.0</a:t>
            </a:r>
            <a:r>
              <a:rPr lang="en-GB" sz="1800"/>
              <a:t> (1 d.p.)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 </a:t>
            </a:r>
            <a:endParaRPr sz="18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7" name="Shape 2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8" name="Google Shape;2188;p16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one or two decimal places</a:t>
            </a:r>
            <a:endParaRPr/>
          </a:p>
        </p:txBody>
      </p:sp>
      <p:sp>
        <p:nvSpPr>
          <p:cNvPr id="2189" name="Google Shape;2189;p16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  </a:t>
            </a:r>
            <a:r>
              <a:rPr b="1" lang="en-GB" sz="1800"/>
              <a:t>Round</a:t>
            </a:r>
            <a:r>
              <a:rPr lang="en-GB" sz="1800"/>
              <a:t> each of the following to two decimal places (2 d.p.)</a:t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a)	4.358 =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4.36</a:t>
            </a:r>
            <a:r>
              <a:rPr lang="en-GB" sz="1800"/>
              <a:t> (2 d.p.)</a:t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b)	4.352 =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4.35 </a:t>
            </a:r>
            <a:r>
              <a:rPr lang="en-GB" sz="1800"/>
              <a:t>(2 d.p.)</a:t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c)	24.7531 =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24.75</a:t>
            </a:r>
            <a:r>
              <a:rPr lang="en-GB" sz="1800"/>
              <a:t> (2 d.p.)</a:t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d)	24.75251 =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24.75</a:t>
            </a:r>
            <a:r>
              <a:rPr lang="en-GB" sz="1800"/>
              <a:t> (2 d.p.)</a:t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e)	224.90753 =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224.91</a:t>
            </a:r>
            <a:r>
              <a:rPr lang="en-GB" sz="1800"/>
              <a:t> (2 d.p.)</a:t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f)	224.09753 =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224.10</a:t>
            </a:r>
            <a:r>
              <a:rPr lang="en-GB" sz="1800"/>
              <a:t> (2 d.p.)</a:t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g)	5224.0</a:t>
            </a:r>
            <a:r>
              <a:rPr lang="en-GB" sz="1800"/>
              <a:t>9</a:t>
            </a:r>
            <a:r>
              <a:rPr lang="en-GB" sz="1800"/>
              <a:t>931 =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5224.10</a:t>
            </a:r>
            <a:r>
              <a:rPr lang="en-GB" sz="1800"/>
              <a:t> (2 d.p.)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 </a:t>
            </a:r>
            <a:endParaRPr sz="18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3" name="Shape 2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4" name="Google Shape;2194;p16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one or two decimal places</a:t>
            </a:r>
            <a:endParaRPr/>
          </a:p>
        </p:txBody>
      </p:sp>
      <p:sp>
        <p:nvSpPr>
          <p:cNvPr id="2195" name="Google Shape;2195;p163"/>
          <p:cNvSpPr/>
          <p:nvPr/>
        </p:nvSpPr>
        <p:spPr>
          <a:xfrm>
            <a:off x="1991525" y="735925"/>
            <a:ext cx="597000" cy="70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latin typeface="Lexend"/>
                <a:ea typeface="Lexend"/>
                <a:cs typeface="Lexend"/>
                <a:sym typeface="Lexend"/>
              </a:rPr>
              <a:t>3</a:t>
            </a:r>
            <a:endParaRPr sz="3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6" name="Google Shape;2196;p163"/>
          <p:cNvSpPr/>
          <p:nvPr/>
        </p:nvSpPr>
        <p:spPr>
          <a:xfrm>
            <a:off x="3134525" y="735925"/>
            <a:ext cx="597000" cy="70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latin typeface="Lexend"/>
                <a:ea typeface="Lexend"/>
                <a:cs typeface="Lexend"/>
                <a:sym typeface="Lexend"/>
              </a:rPr>
              <a:t>4</a:t>
            </a:r>
            <a:endParaRPr sz="3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7" name="Google Shape;2197;p163"/>
          <p:cNvSpPr/>
          <p:nvPr/>
        </p:nvSpPr>
        <p:spPr>
          <a:xfrm>
            <a:off x="4277525" y="735925"/>
            <a:ext cx="597000" cy="70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latin typeface="Lexend"/>
                <a:ea typeface="Lexend"/>
                <a:cs typeface="Lexend"/>
                <a:sym typeface="Lexend"/>
              </a:rPr>
              <a:t>5</a:t>
            </a:r>
            <a:endParaRPr sz="3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8" name="Google Shape;2198;p163"/>
          <p:cNvSpPr/>
          <p:nvPr/>
        </p:nvSpPr>
        <p:spPr>
          <a:xfrm>
            <a:off x="5420525" y="735925"/>
            <a:ext cx="597000" cy="70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latin typeface="Lexend"/>
                <a:ea typeface="Lexend"/>
                <a:cs typeface="Lexend"/>
                <a:sym typeface="Lexend"/>
              </a:rPr>
              <a:t>6</a:t>
            </a:r>
            <a:endParaRPr sz="3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9" name="Google Shape;2199;p163"/>
          <p:cNvSpPr/>
          <p:nvPr/>
        </p:nvSpPr>
        <p:spPr>
          <a:xfrm>
            <a:off x="6563525" y="735925"/>
            <a:ext cx="597000" cy="70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latin typeface="Lexend"/>
                <a:ea typeface="Lexend"/>
                <a:cs typeface="Lexend"/>
                <a:sym typeface="Lexend"/>
              </a:rPr>
              <a:t>7</a:t>
            </a:r>
            <a:endParaRPr sz="30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00" name="Google Shape;2200;p163"/>
          <p:cNvGraphicFramePr/>
          <p:nvPr/>
        </p:nvGraphicFramePr>
        <p:xfrm>
          <a:off x="1312601" y="26237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{96544899-28CE-4B64-812E-1AE840465D4C}</a:tableStyleId>
              </a:tblPr>
              <a:tblGrid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01" name="Google Shape;2201;p163"/>
          <p:cNvSpPr txBox="1"/>
          <p:nvPr/>
        </p:nvSpPr>
        <p:spPr>
          <a:xfrm>
            <a:off x="3641115" y="2600290"/>
            <a:ext cx="1221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02" name="Google Shape;2202;p163"/>
          <p:cNvGrpSpPr/>
          <p:nvPr/>
        </p:nvGrpSpPr>
        <p:grpSpPr>
          <a:xfrm>
            <a:off x="3970626" y="2604401"/>
            <a:ext cx="871971" cy="228900"/>
            <a:chOff x="6897025" y="1655350"/>
            <a:chExt cx="871971" cy="228900"/>
          </a:xfrm>
        </p:grpSpPr>
        <p:sp>
          <p:nvSpPr>
            <p:cNvPr id="2203" name="Google Shape;2203;p163"/>
            <p:cNvSpPr txBox="1"/>
            <p:nvPr/>
          </p:nvSpPr>
          <p:spPr>
            <a:xfrm>
              <a:off x="6897025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2204" name="Google Shape;2204;p163"/>
            <p:cNvSpPr txBox="1"/>
            <p:nvPr/>
          </p:nvSpPr>
          <p:spPr>
            <a:xfrm>
              <a:off x="7380796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</p:grpSp>
      <p:sp>
        <p:nvSpPr>
          <p:cNvPr id="2205" name="Google Shape;2205;p163"/>
          <p:cNvSpPr txBox="1"/>
          <p:nvPr/>
        </p:nvSpPr>
        <p:spPr>
          <a:xfrm>
            <a:off x="3641115" y="3057490"/>
            <a:ext cx="1221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06" name="Google Shape;2206;p163"/>
          <p:cNvGraphicFramePr/>
          <p:nvPr/>
        </p:nvGraphicFramePr>
        <p:xfrm>
          <a:off x="1312601" y="38915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{96544899-28CE-4B64-812E-1AE840465D4C}</a:tableStyleId>
              </a:tblPr>
              <a:tblGrid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07" name="Google Shape;2207;p163"/>
          <p:cNvSpPr txBox="1"/>
          <p:nvPr/>
        </p:nvSpPr>
        <p:spPr>
          <a:xfrm>
            <a:off x="3641115" y="3868080"/>
            <a:ext cx="1221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08" name="Google Shape;2208;p163"/>
          <p:cNvGrpSpPr/>
          <p:nvPr/>
        </p:nvGrpSpPr>
        <p:grpSpPr>
          <a:xfrm>
            <a:off x="3970626" y="3872190"/>
            <a:ext cx="871971" cy="228900"/>
            <a:chOff x="6897025" y="1655350"/>
            <a:chExt cx="871971" cy="228900"/>
          </a:xfrm>
        </p:grpSpPr>
        <p:sp>
          <p:nvSpPr>
            <p:cNvPr id="2209" name="Google Shape;2209;p163"/>
            <p:cNvSpPr txBox="1"/>
            <p:nvPr/>
          </p:nvSpPr>
          <p:spPr>
            <a:xfrm>
              <a:off x="6897025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2210" name="Google Shape;2210;p163"/>
            <p:cNvSpPr txBox="1"/>
            <p:nvPr/>
          </p:nvSpPr>
          <p:spPr>
            <a:xfrm>
              <a:off x="7380796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</p:grpSp>
      <p:sp>
        <p:nvSpPr>
          <p:cNvPr id="2211" name="Google Shape;2211;p163"/>
          <p:cNvSpPr txBox="1"/>
          <p:nvPr/>
        </p:nvSpPr>
        <p:spPr>
          <a:xfrm>
            <a:off x="3641115" y="4325280"/>
            <a:ext cx="1221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2" name="Google Shape;2212;p163"/>
          <p:cNvSpPr txBox="1"/>
          <p:nvPr>
            <p:ph idx="1" type="body"/>
          </p:nvPr>
        </p:nvSpPr>
        <p:spPr>
          <a:xfrm>
            <a:off x="324000" y="1543800"/>
            <a:ext cx="8237700" cy="33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3)    Using </a:t>
            </a:r>
            <a:r>
              <a:rPr lang="en-GB" sz="1800">
                <a:solidFill>
                  <a:schemeClr val="accent2"/>
                </a:solidFill>
              </a:rPr>
              <a:t>all</a:t>
            </a:r>
            <a:r>
              <a:rPr lang="en-GB" sz="1800"/>
              <a:t> five digits each time, rearrange the cards in the place value grid to create (and if it’s not possible, explain why):</a:t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A number that </a:t>
            </a:r>
            <a:r>
              <a:rPr b="1" lang="en-GB" sz="1800"/>
              <a:t>rounds</a:t>
            </a:r>
            <a:r>
              <a:rPr lang="en-GB" sz="1800"/>
              <a:t> to 4000 to the nearest thousand.</a:t>
            </a:r>
            <a:br>
              <a:rPr lang="en-GB" sz="1800"/>
            </a:br>
            <a:br>
              <a:rPr lang="en-GB" sz="1800"/>
            </a:br>
            <a:r>
              <a:rPr lang="en-GB" sz="1800">
                <a:latin typeface="Kalam"/>
                <a:ea typeface="Kalam"/>
                <a:cs typeface="Kalam"/>
                <a:sym typeface="Kalam"/>
              </a:rPr>
              <a:t>e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.g.</a:t>
            </a:r>
            <a:br>
              <a:rPr lang="en-GB" sz="1800">
                <a:latin typeface="Kalam"/>
                <a:ea typeface="Kalam"/>
                <a:cs typeface="Kalam"/>
                <a:sym typeface="Kalam"/>
              </a:rPr>
            </a:b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A number that </a:t>
            </a:r>
            <a:r>
              <a:rPr b="1" lang="en-GB" sz="1800"/>
              <a:t>rounds</a:t>
            </a:r>
            <a:r>
              <a:rPr lang="en-GB" sz="1800"/>
              <a:t> to 300 to the nearest hundred.</a:t>
            </a:r>
            <a:br>
              <a:rPr lang="en-GB" sz="1800"/>
            </a:br>
            <a:br>
              <a:rPr lang="en-GB" sz="1800"/>
            </a:br>
            <a:r>
              <a:rPr lang="en-GB" sz="1800">
                <a:latin typeface="Kalam"/>
                <a:ea typeface="Kalam"/>
                <a:cs typeface="Kalam"/>
                <a:sym typeface="Kalam"/>
              </a:rPr>
              <a:t>e.g.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6" name="Shape 2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7" name="Google Shape;2217;p16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one or two decimal places</a:t>
            </a:r>
            <a:endParaRPr/>
          </a:p>
        </p:txBody>
      </p:sp>
      <p:sp>
        <p:nvSpPr>
          <p:cNvPr id="2218" name="Google Shape;2218;p164"/>
          <p:cNvSpPr txBox="1"/>
          <p:nvPr>
            <p:ph idx="1" type="body"/>
          </p:nvPr>
        </p:nvSpPr>
        <p:spPr>
          <a:xfrm>
            <a:off x="324000" y="1547086"/>
            <a:ext cx="8237700" cy="221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</a:t>
            </a:r>
            <a:r>
              <a:rPr lang="en-GB" sz="1800"/>
              <a:t>)    Using </a:t>
            </a:r>
            <a:r>
              <a:rPr lang="en-GB" sz="1800">
                <a:solidFill>
                  <a:schemeClr val="accent2"/>
                </a:solidFill>
              </a:rPr>
              <a:t>all</a:t>
            </a:r>
            <a:r>
              <a:rPr lang="en-GB" sz="1800"/>
              <a:t> five digits each time, rearrange the cards in the place value grid to create </a:t>
            </a:r>
            <a:r>
              <a:rPr lang="en-GB" sz="1800"/>
              <a:t>(and if it’s not possible, explain why)</a:t>
            </a:r>
            <a:r>
              <a:rPr lang="en-GB" sz="1800"/>
              <a:t>: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c)    A number that </a:t>
            </a:r>
            <a:r>
              <a:rPr b="1" lang="en-GB" sz="1800"/>
              <a:t>rounds</a:t>
            </a:r>
            <a:r>
              <a:rPr lang="en-GB" sz="1800"/>
              <a:t> to 10 to the nearest ten.</a:t>
            </a:r>
            <a:br>
              <a:rPr lang="en-GB" sz="1800"/>
            </a:br>
            <a:br>
              <a:rPr lang="en-GB" sz="1800"/>
            </a:br>
            <a:r>
              <a:rPr lang="en-GB" sz="1800">
                <a:latin typeface="Kalam"/>
                <a:ea typeface="Kalam"/>
                <a:cs typeface="Kalam"/>
                <a:sym typeface="Kalam"/>
              </a:rPr>
              <a:t>e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.g.</a:t>
            </a:r>
            <a:br>
              <a:rPr lang="en-GB" sz="1800">
                <a:latin typeface="Kalam"/>
                <a:ea typeface="Kalam"/>
                <a:cs typeface="Kalam"/>
                <a:sym typeface="Kalam"/>
              </a:rPr>
            </a:b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d)    </a:t>
            </a:r>
            <a:r>
              <a:rPr lang="en-GB" sz="1800"/>
              <a:t>A number that </a:t>
            </a:r>
            <a:r>
              <a:rPr b="1" lang="en-GB" sz="1800"/>
              <a:t>rounds</a:t>
            </a:r>
            <a:r>
              <a:rPr lang="en-GB" sz="1800"/>
              <a:t> to 10 to the nearest whole number.</a:t>
            </a:r>
            <a:endParaRPr sz="1800"/>
          </a:p>
        </p:txBody>
      </p:sp>
      <p:sp>
        <p:nvSpPr>
          <p:cNvPr id="2219" name="Google Shape;2219;p164"/>
          <p:cNvSpPr/>
          <p:nvPr/>
        </p:nvSpPr>
        <p:spPr>
          <a:xfrm>
            <a:off x="1991525" y="735925"/>
            <a:ext cx="597000" cy="70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latin typeface="Lexend"/>
                <a:ea typeface="Lexend"/>
                <a:cs typeface="Lexend"/>
                <a:sym typeface="Lexend"/>
              </a:rPr>
              <a:t>3</a:t>
            </a:r>
            <a:endParaRPr sz="3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0" name="Google Shape;2220;p164"/>
          <p:cNvSpPr/>
          <p:nvPr/>
        </p:nvSpPr>
        <p:spPr>
          <a:xfrm>
            <a:off x="3134525" y="735925"/>
            <a:ext cx="597000" cy="70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latin typeface="Lexend"/>
                <a:ea typeface="Lexend"/>
                <a:cs typeface="Lexend"/>
                <a:sym typeface="Lexend"/>
              </a:rPr>
              <a:t>4</a:t>
            </a:r>
            <a:endParaRPr sz="3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1" name="Google Shape;2221;p164"/>
          <p:cNvSpPr/>
          <p:nvPr/>
        </p:nvSpPr>
        <p:spPr>
          <a:xfrm>
            <a:off x="4277525" y="735925"/>
            <a:ext cx="597000" cy="70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latin typeface="Lexend"/>
                <a:ea typeface="Lexend"/>
                <a:cs typeface="Lexend"/>
                <a:sym typeface="Lexend"/>
              </a:rPr>
              <a:t>5</a:t>
            </a:r>
            <a:endParaRPr sz="3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2" name="Google Shape;2222;p164"/>
          <p:cNvSpPr/>
          <p:nvPr/>
        </p:nvSpPr>
        <p:spPr>
          <a:xfrm>
            <a:off x="5420525" y="735925"/>
            <a:ext cx="597000" cy="70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latin typeface="Lexend"/>
                <a:ea typeface="Lexend"/>
                <a:cs typeface="Lexend"/>
                <a:sym typeface="Lexend"/>
              </a:rPr>
              <a:t>6</a:t>
            </a:r>
            <a:endParaRPr sz="3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3" name="Google Shape;2223;p164"/>
          <p:cNvSpPr/>
          <p:nvPr/>
        </p:nvSpPr>
        <p:spPr>
          <a:xfrm>
            <a:off x="6563525" y="735925"/>
            <a:ext cx="597000" cy="70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latin typeface="Lexend"/>
                <a:ea typeface="Lexend"/>
                <a:cs typeface="Lexend"/>
                <a:sym typeface="Lexend"/>
              </a:rPr>
              <a:t>7</a:t>
            </a:r>
            <a:endParaRPr sz="30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24" name="Google Shape;2224;p164"/>
          <p:cNvGraphicFramePr/>
          <p:nvPr/>
        </p:nvGraphicFramePr>
        <p:xfrm>
          <a:off x="779201" y="26237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{96544899-28CE-4B64-812E-1AE840465D4C}</a:tableStyleId>
              </a:tblPr>
              <a:tblGrid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25" name="Google Shape;2225;p164"/>
          <p:cNvSpPr txBox="1"/>
          <p:nvPr/>
        </p:nvSpPr>
        <p:spPr>
          <a:xfrm>
            <a:off x="3107715" y="2600290"/>
            <a:ext cx="1221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26" name="Google Shape;2226;p164"/>
          <p:cNvGrpSpPr/>
          <p:nvPr/>
        </p:nvGrpSpPr>
        <p:grpSpPr>
          <a:xfrm>
            <a:off x="3437226" y="2604401"/>
            <a:ext cx="871971" cy="228900"/>
            <a:chOff x="6897025" y="1655350"/>
            <a:chExt cx="871971" cy="228900"/>
          </a:xfrm>
        </p:grpSpPr>
        <p:sp>
          <p:nvSpPr>
            <p:cNvPr id="2227" name="Google Shape;2227;p164"/>
            <p:cNvSpPr txBox="1"/>
            <p:nvPr/>
          </p:nvSpPr>
          <p:spPr>
            <a:xfrm>
              <a:off x="6897025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2228" name="Google Shape;2228;p164"/>
            <p:cNvSpPr txBox="1"/>
            <p:nvPr/>
          </p:nvSpPr>
          <p:spPr>
            <a:xfrm>
              <a:off x="7380796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</p:grpSp>
      <p:sp>
        <p:nvSpPr>
          <p:cNvPr id="2229" name="Google Shape;2229;p164"/>
          <p:cNvSpPr txBox="1"/>
          <p:nvPr/>
        </p:nvSpPr>
        <p:spPr>
          <a:xfrm>
            <a:off x="3107715" y="3057490"/>
            <a:ext cx="1221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30" name="Google Shape;2230;p164"/>
          <p:cNvGraphicFramePr/>
          <p:nvPr/>
        </p:nvGraphicFramePr>
        <p:xfrm>
          <a:off x="779201" y="38915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{96544899-28CE-4B64-812E-1AE840465D4C}</a:tableStyleId>
              </a:tblPr>
              <a:tblGrid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31" name="Google Shape;2231;p164"/>
          <p:cNvSpPr txBox="1"/>
          <p:nvPr/>
        </p:nvSpPr>
        <p:spPr>
          <a:xfrm>
            <a:off x="3107715" y="3868080"/>
            <a:ext cx="1221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32" name="Google Shape;2232;p164"/>
          <p:cNvGrpSpPr/>
          <p:nvPr/>
        </p:nvGrpSpPr>
        <p:grpSpPr>
          <a:xfrm>
            <a:off x="3437226" y="3872190"/>
            <a:ext cx="871971" cy="228900"/>
            <a:chOff x="6897025" y="1655350"/>
            <a:chExt cx="871971" cy="228900"/>
          </a:xfrm>
        </p:grpSpPr>
        <p:sp>
          <p:nvSpPr>
            <p:cNvPr id="2233" name="Google Shape;2233;p164"/>
            <p:cNvSpPr txBox="1"/>
            <p:nvPr/>
          </p:nvSpPr>
          <p:spPr>
            <a:xfrm>
              <a:off x="6897025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2234" name="Google Shape;2234;p164"/>
            <p:cNvSpPr txBox="1"/>
            <p:nvPr/>
          </p:nvSpPr>
          <p:spPr>
            <a:xfrm>
              <a:off x="7380796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</p:grpSp>
      <p:sp>
        <p:nvSpPr>
          <p:cNvPr id="2235" name="Google Shape;2235;p164"/>
          <p:cNvSpPr txBox="1"/>
          <p:nvPr/>
        </p:nvSpPr>
        <p:spPr>
          <a:xfrm>
            <a:off x="3107715" y="4325280"/>
            <a:ext cx="1221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6" name="Google Shape;2236;p164"/>
          <p:cNvSpPr txBox="1"/>
          <p:nvPr/>
        </p:nvSpPr>
        <p:spPr>
          <a:xfrm>
            <a:off x="4312931" y="3145100"/>
            <a:ext cx="672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5	7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37" name="Google Shape;2237;p164"/>
          <p:cNvSpPr txBox="1"/>
          <p:nvPr/>
        </p:nvSpPr>
        <p:spPr>
          <a:xfrm>
            <a:off x="4312900" y="4135700"/>
            <a:ext cx="41484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Impossible as there is not a 9, 1, or 0 card.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1" name="Shape 2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" name="Google Shape;2242;p16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one or two decimal places</a:t>
            </a:r>
            <a:endParaRPr/>
          </a:p>
        </p:txBody>
      </p:sp>
      <p:sp>
        <p:nvSpPr>
          <p:cNvPr id="2243" name="Google Shape;2243;p165"/>
          <p:cNvSpPr txBox="1"/>
          <p:nvPr>
            <p:ph idx="1" type="body"/>
          </p:nvPr>
        </p:nvSpPr>
        <p:spPr>
          <a:xfrm>
            <a:off x="324000" y="1527075"/>
            <a:ext cx="8496000" cy="225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</a:t>
            </a:r>
            <a:r>
              <a:rPr lang="en-GB" sz="1800"/>
              <a:t>)    Using </a:t>
            </a:r>
            <a:r>
              <a:rPr lang="en-GB" sz="1800">
                <a:solidFill>
                  <a:schemeClr val="accent2"/>
                </a:solidFill>
              </a:rPr>
              <a:t>all</a:t>
            </a:r>
            <a:r>
              <a:rPr lang="en-GB" sz="1800"/>
              <a:t> five digits each time, rearrange the cards in the place value grid to create </a:t>
            </a:r>
            <a:r>
              <a:rPr lang="en-GB" sz="1800"/>
              <a:t>(and if it’s not possible, explain why)</a:t>
            </a:r>
            <a:r>
              <a:rPr lang="en-GB" sz="1800"/>
              <a:t>: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e)    A number that </a:t>
            </a:r>
            <a:r>
              <a:rPr b="1" lang="en-GB" sz="1800"/>
              <a:t>rounds</a:t>
            </a:r>
            <a:r>
              <a:rPr lang="en-GB" sz="1800"/>
              <a:t> to 3.8 to the nearest tenth.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e.g.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f)    Which part has the most possible answers?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Part c has the most possible answers as there are 3 different starting points.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g)    Which part has the fewest possible answers?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Part d has the least as it is impossible.</a:t>
            </a:r>
            <a:endParaRPr sz="1800"/>
          </a:p>
        </p:txBody>
      </p:sp>
      <p:sp>
        <p:nvSpPr>
          <p:cNvPr id="2244" name="Google Shape;2244;p165"/>
          <p:cNvSpPr/>
          <p:nvPr/>
        </p:nvSpPr>
        <p:spPr>
          <a:xfrm>
            <a:off x="1991525" y="735925"/>
            <a:ext cx="597000" cy="70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latin typeface="Lexend"/>
                <a:ea typeface="Lexend"/>
                <a:cs typeface="Lexend"/>
                <a:sym typeface="Lexend"/>
              </a:rPr>
              <a:t>3</a:t>
            </a:r>
            <a:endParaRPr sz="3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5" name="Google Shape;2245;p165"/>
          <p:cNvSpPr/>
          <p:nvPr/>
        </p:nvSpPr>
        <p:spPr>
          <a:xfrm>
            <a:off x="3134525" y="735925"/>
            <a:ext cx="597000" cy="70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latin typeface="Lexend"/>
                <a:ea typeface="Lexend"/>
                <a:cs typeface="Lexend"/>
                <a:sym typeface="Lexend"/>
              </a:rPr>
              <a:t>4</a:t>
            </a:r>
            <a:endParaRPr sz="3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6" name="Google Shape;2246;p165"/>
          <p:cNvSpPr/>
          <p:nvPr/>
        </p:nvSpPr>
        <p:spPr>
          <a:xfrm>
            <a:off x="4277525" y="735925"/>
            <a:ext cx="597000" cy="70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latin typeface="Lexend"/>
                <a:ea typeface="Lexend"/>
                <a:cs typeface="Lexend"/>
                <a:sym typeface="Lexend"/>
              </a:rPr>
              <a:t>5</a:t>
            </a:r>
            <a:endParaRPr sz="3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7" name="Google Shape;2247;p165"/>
          <p:cNvSpPr/>
          <p:nvPr/>
        </p:nvSpPr>
        <p:spPr>
          <a:xfrm>
            <a:off x="5420525" y="735925"/>
            <a:ext cx="597000" cy="70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latin typeface="Lexend"/>
                <a:ea typeface="Lexend"/>
                <a:cs typeface="Lexend"/>
                <a:sym typeface="Lexend"/>
              </a:rPr>
              <a:t>6</a:t>
            </a:r>
            <a:endParaRPr sz="3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8" name="Google Shape;2248;p165"/>
          <p:cNvSpPr/>
          <p:nvPr/>
        </p:nvSpPr>
        <p:spPr>
          <a:xfrm>
            <a:off x="6563525" y="735925"/>
            <a:ext cx="597000" cy="70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latin typeface="Lexend"/>
                <a:ea typeface="Lexend"/>
                <a:cs typeface="Lexend"/>
                <a:sym typeface="Lexend"/>
              </a:rPr>
              <a:t>7</a:t>
            </a:r>
            <a:endParaRPr sz="30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49" name="Google Shape;2249;p165"/>
          <p:cNvGraphicFramePr/>
          <p:nvPr/>
        </p:nvGraphicFramePr>
        <p:xfrm>
          <a:off x="779201" y="253830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{96544899-28CE-4B64-812E-1AE840465D4C}</a:tableStyleId>
              </a:tblPr>
              <a:tblGrid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50" name="Google Shape;2250;p165"/>
          <p:cNvSpPr txBox="1"/>
          <p:nvPr/>
        </p:nvSpPr>
        <p:spPr>
          <a:xfrm>
            <a:off x="3126217" y="2468560"/>
            <a:ext cx="1221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51" name="Google Shape;2251;p165"/>
          <p:cNvGrpSpPr/>
          <p:nvPr/>
        </p:nvGrpSpPr>
        <p:grpSpPr>
          <a:xfrm>
            <a:off x="3437226" y="2472671"/>
            <a:ext cx="871971" cy="228900"/>
            <a:chOff x="6897025" y="1655350"/>
            <a:chExt cx="871971" cy="228900"/>
          </a:xfrm>
        </p:grpSpPr>
        <p:sp>
          <p:nvSpPr>
            <p:cNvPr id="2252" name="Google Shape;2252;p165"/>
            <p:cNvSpPr txBox="1"/>
            <p:nvPr/>
          </p:nvSpPr>
          <p:spPr>
            <a:xfrm>
              <a:off x="6897025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2253" name="Google Shape;2253;p165"/>
            <p:cNvSpPr txBox="1"/>
            <p:nvPr/>
          </p:nvSpPr>
          <p:spPr>
            <a:xfrm>
              <a:off x="7380796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</p:grpSp>
      <p:sp>
        <p:nvSpPr>
          <p:cNvPr id="2254" name="Google Shape;2254;p165"/>
          <p:cNvSpPr txBox="1"/>
          <p:nvPr/>
        </p:nvSpPr>
        <p:spPr>
          <a:xfrm>
            <a:off x="3126217" y="2925760"/>
            <a:ext cx="1221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5" name="Google Shape;2255;p165"/>
          <p:cNvSpPr txBox="1"/>
          <p:nvPr/>
        </p:nvSpPr>
        <p:spPr>
          <a:xfrm>
            <a:off x="4312925" y="3059625"/>
            <a:ext cx="1265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5	4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9" name="Shape 2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0" name="Google Shape;2260;p166"/>
          <p:cNvSpPr txBox="1"/>
          <p:nvPr>
            <p:ph idx="1" type="body"/>
          </p:nvPr>
        </p:nvSpPr>
        <p:spPr>
          <a:xfrm>
            <a:off x="324000" y="682200"/>
            <a:ext cx="8113800" cy="368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Rounding</a:t>
            </a:r>
            <a:r>
              <a:rPr lang="en-GB" sz="1800"/>
              <a:t> is useful for showing the approximate value of something without being exact.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 number line is useful when </a:t>
            </a:r>
            <a:r>
              <a:rPr b="1" lang="en-GB" sz="1800"/>
              <a:t>rounding</a:t>
            </a:r>
            <a:r>
              <a:rPr lang="en-GB" sz="1800"/>
              <a:t>.  E.g.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A place value chart is useful when </a:t>
            </a:r>
            <a:r>
              <a:rPr b="1" lang="en-GB" sz="1800"/>
              <a:t>rounding</a:t>
            </a:r>
            <a:r>
              <a:rPr lang="en-GB" sz="1800"/>
              <a:t>.  E.g. </a:t>
            </a:r>
            <a:endParaRPr sz="1800"/>
          </a:p>
        </p:txBody>
      </p:sp>
      <p:sp>
        <p:nvSpPr>
          <p:cNvPr id="2261" name="Google Shape;2261;p166"/>
          <p:cNvSpPr txBox="1"/>
          <p:nvPr>
            <p:ph type="title"/>
          </p:nvPr>
        </p:nvSpPr>
        <p:spPr>
          <a:xfrm>
            <a:off x="1684800" y="53076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Checking understanding of rounding</a:t>
            </a:r>
            <a:endParaRPr sz="1800"/>
          </a:p>
        </p:txBody>
      </p:sp>
      <p:pic>
        <p:nvPicPr>
          <p:cNvPr descr="Original/editable  on slide 30" id="2262" name="Google Shape;2262;p1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1750" y="3240000"/>
            <a:ext cx="2686100" cy="15339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63" name="Google Shape;2263;p166"/>
          <p:cNvGraphicFramePr/>
          <p:nvPr/>
        </p:nvGraphicFramePr>
        <p:xfrm>
          <a:off x="2072950" y="2863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{96544899-28CE-4B64-812E-1AE840465D4C}</a:tableStyleId>
              </a:tblPr>
              <a:tblGrid>
                <a:gridCol w="2413000"/>
                <a:gridCol w="2413000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264" name="Google Shape;2264;p166"/>
          <p:cNvGrpSpPr/>
          <p:nvPr/>
        </p:nvGrpSpPr>
        <p:grpSpPr>
          <a:xfrm>
            <a:off x="1699225" y="2585850"/>
            <a:ext cx="5760250" cy="277200"/>
            <a:chOff x="1699225" y="2887425"/>
            <a:chExt cx="5760250" cy="277200"/>
          </a:xfrm>
        </p:grpSpPr>
        <p:sp>
          <p:nvSpPr>
            <p:cNvPr id="2265" name="Google Shape;2265;p166"/>
            <p:cNvSpPr txBox="1"/>
            <p:nvPr/>
          </p:nvSpPr>
          <p:spPr>
            <a:xfrm>
              <a:off x="1699225" y="2887425"/>
              <a:ext cx="924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£20.00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66" name="Google Shape;2266;p166"/>
            <p:cNvSpPr txBox="1"/>
            <p:nvPr/>
          </p:nvSpPr>
          <p:spPr>
            <a:xfrm>
              <a:off x="6535474" y="2887425"/>
              <a:ext cx="924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£21.00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267" name="Google Shape;2267;p166"/>
          <p:cNvSpPr txBox="1"/>
          <p:nvPr/>
        </p:nvSpPr>
        <p:spPr>
          <a:xfrm>
            <a:off x="4137821" y="2585850"/>
            <a:ext cx="885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£20.50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8" name="Google Shape;2268;p166"/>
          <p:cNvSpPr/>
          <p:nvPr/>
        </p:nvSpPr>
        <p:spPr>
          <a:xfrm rot="10800000">
            <a:off x="3300775" y="2471763"/>
            <a:ext cx="221700" cy="3387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9" name="Google Shape;2269;p166"/>
          <p:cNvSpPr txBox="1"/>
          <p:nvPr/>
        </p:nvSpPr>
        <p:spPr>
          <a:xfrm>
            <a:off x="2931625" y="2153325"/>
            <a:ext cx="885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£20.25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0" name="Google Shape;2270;p166"/>
          <p:cNvSpPr txBox="1"/>
          <p:nvPr>
            <p:ph idx="1" type="body"/>
          </p:nvPr>
        </p:nvSpPr>
        <p:spPr>
          <a:xfrm>
            <a:off x="324000" y="1829325"/>
            <a:ext cx="8237700" cy="32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Identify the whole numbers either side of £20.25.</a:t>
            </a:r>
            <a:endParaRPr sz="18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4" name="Shape 2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5" name="Google Shape;2275;p167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276" name="Google Shape;2276;p1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