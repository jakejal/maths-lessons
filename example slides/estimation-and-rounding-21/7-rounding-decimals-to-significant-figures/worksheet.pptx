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4"/>
    <p:sldMasterId id="2147483666" r:id="rId5"/>
  </p:sldMasterIdLst>
  <p:notesMasterIdLst>
    <p:notesMasterId r:id="rId6"/>
  </p:notesMasterIdLst>
  <p:sldIdLst>
    <p:sldId id="256" r:id="rId7"/>
    <p:sldId id="257" r:id="rId8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7E91E32-287B-4AE1-9422-5E053AB558ED}">
  <a:tblStyle styleId="{A7E91E32-287B-4AE1-9422-5E053AB558E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7996905f60_0_125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7996905f60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27996905f60_0_130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27996905f60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2" name="Google Shape;32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idx="2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idx="1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idx="1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40" name="Google Shape;140;p18"/>
          <p:cNvSpPr txBox="1"/>
          <p:nvPr>
            <p:ph idx="2" type="subTitle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1" name="Google Shape;141;p18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7" name="Google Shape;14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9" name="Google Shape;149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0" name="Google Shape;150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" name="Google Shape;152;p19"/>
          <p:cNvSpPr txBox="1"/>
          <p:nvPr>
            <p:ph idx="1" type="subTitle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53" name="Google Shape;153;p19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2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60" name="Google Shape;160;p20"/>
          <p:cNvSpPr txBox="1"/>
          <p:nvPr/>
        </p:nvSpPr>
        <p:spPr>
          <a:xfrm>
            <a:off x="468000" y="864000"/>
            <a:ext cx="6624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Rounding decimals to significant figures</a:t>
            </a:r>
            <a:endParaRPr b="1"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61" name="Google Shape;161;p20"/>
          <p:cNvCxnSpPr/>
          <p:nvPr/>
        </p:nvCxnSpPr>
        <p:spPr>
          <a:xfrm>
            <a:off x="480750" y="9972000"/>
            <a:ext cx="6598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2" name="Google Shape;162;p20"/>
          <p:cNvSpPr txBox="1"/>
          <p:nvPr/>
        </p:nvSpPr>
        <p:spPr>
          <a:xfrm>
            <a:off x="468000" y="1406875"/>
            <a:ext cx="66240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Using a number line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20"/>
          <p:cNvSpPr txBox="1"/>
          <p:nvPr/>
        </p:nvSpPr>
        <p:spPr>
          <a:xfrm>
            <a:off x="480750" y="1772300"/>
            <a:ext cx="6598500" cy="164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Underline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first significant figure in each of the following:</a:t>
            </a:r>
            <a:endParaRPr sz="5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0.0040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0.569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0.000000500002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110.00382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9872.00000600845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0.010260323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20"/>
          <p:cNvSpPr txBox="1"/>
          <p:nvPr/>
        </p:nvSpPr>
        <p:spPr>
          <a:xfrm>
            <a:off x="468000" y="4197025"/>
            <a:ext cx="66240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Match the following to the correct number rounded to one significant figure: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" name="Google Shape;165;p20"/>
          <p:cNvSpPr/>
          <p:nvPr/>
        </p:nvSpPr>
        <p:spPr>
          <a:xfrm>
            <a:off x="1101624" y="4579825"/>
            <a:ext cx="2319300" cy="3843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0.0001492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" name="Google Shape;166;p20"/>
          <p:cNvSpPr/>
          <p:nvPr/>
        </p:nvSpPr>
        <p:spPr>
          <a:xfrm>
            <a:off x="1101624" y="5259363"/>
            <a:ext cx="2319300" cy="3843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0.0971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20"/>
          <p:cNvSpPr/>
          <p:nvPr/>
        </p:nvSpPr>
        <p:spPr>
          <a:xfrm>
            <a:off x="1101624" y="5938902"/>
            <a:ext cx="2319300" cy="3843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0.001093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" name="Google Shape;168;p20"/>
          <p:cNvSpPr/>
          <p:nvPr/>
        </p:nvSpPr>
        <p:spPr>
          <a:xfrm>
            <a:off x="1101624" y="6618440"/>
            <a:ext cx="2319300" cy="3843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0.0095028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" name="Google Shape;169;p20"/>
          <p:cNvSpPr/>
          <p:nvPr/>
        </p:nvSpPr>
        <p:spPr>
          <a:xfrm>
            <a:off x="4139075" y="4579825"/>
            <a:ext cx="2319300" cy="3843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0.001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" name="Google Shape;170;p20"/>
          <p:cNvSpPr/>
          <p:nvPr/>
        </p:nvSpPr>
        <p:spPr>
          <a:xfrm>
            <a:off x="4139075" y="5259363"/>
            <a:ext cx="2319300" cy="3843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0.01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" name="Google Shape;171;p20"/>
          <p:cNvSpPr/>
          <p:nvPr/>
        </p:nvSpPr>
        <p:spPr>
          <a:xfrm>
            <a:off x="4139075" y="5938902"/>
            <a:ext cx="2319300" cy="3843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0.1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" name="Google Shape;172;p20"/>
          <p:cNvSpPr/>
          <p:nvPr/>
        </p:nvSpPr>
        <p:spPr>
          <a:xfrm>
            <a:off x="4139075" y="6618440"/>
            <a:ext cx="2319300" cy="3843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0.0001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" name="Google Shape;173;p20"/>
          <p:cNvSpPr txBox="1"/>
          <p:nvPr/>
        </p:nvSpPr>
        <p:spPr>
          <a:xfrm>
            <a:off x="468000" y="7228500"/>
            <a:ext cx="6624000" cy="24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Round each of the following to the number of significant figures given in the brackets.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	0.00087 = </a:t>
            </a:r>
            <a:r>
              <a:rPr lang="en-GB" sz="1200" u="sng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        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(1 s.f.)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	234.0284 = </a:t>
            </a:r>
            <a:r>
              <a:rPr lang="en-GB" sz="1200" u="sng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        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(2 s.f.)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	0.82384 = </a:t>
            </a:r>
            <a:r>
              <a:rPr lang="en-GB" sz="1200" u="sng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        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(3 s.f.)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	1006.00321 = </a:t>
            </a:r>
            <a:r>
              <a:rPr lang="en-GB" sz="1200" u="sng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        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(2 s.f.)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e)	0.009602 = </a:t>
            </a:r>
            <a:r>
              <a:rPr lang="en-GB" sz="1200" u="sng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        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(1 s.f.)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f) 	0.0237952 = </a:t>
            </a:r>
            <a:r>
              <a:rPr lang="en-GB" sz="1200" u="sng">
                <a:latin typeface="Kalam"/>
                <a:ea typeface="Kalam"/>
                <a:cs typeface="Kalam"/>
                <a:sym typeface="Kalam"/>
              </a:rPr>
              <a:t>         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(4 s.f.)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79" name="Google Shape;179;p21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Rounding decimals to significant figures</a:t>
            </a:r>
            <a:endParaRPr/>
          </a:p>
        </p:txBody>
      </p:sp>
      <p:sp>
        <p:nvSpPr>
          <p:cNvPr id="180" name="Google Shape;180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v2.3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" name="Google Shape;181;p21"/>
          <p:cNvSpPr txBox="1"/>
          <p:nvPr>
            <p:ph idx="2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latin typeface="Lexend Light"/>
                <a:ea typeface="Lexend Light"/>
                <a:cs typeface="Lexend Light"/>
                <a:sym typeface="Lexend Light"/>
              </a:rPr>
              <a:t>Mathematics in Education and Industry</a:t>
            </a:r>
            <a:endParaRPr/>
          </a:p>
        </p:txBody>
      </p:sp>
      <p:sp>
        <p:nvSpPr>
          <p:cNvPr id="182" name="Google Shape;182;p21"/>
          <p:cNvSpPr txBox="1"/>
          <p:nvPr/>
        </p:nvSpPr>
        <p:spPr>
          <a:xfrm>
            <a:off x="468005" y="3764850"/>
            <a:ext cx="2481600" cy="221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 s.f.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0.00427	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0.000423	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0.517 		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0.609 		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1.359		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0.00322 	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" name="Google Shape;183;p21"/>
          <p:cNvSpPr txBox="1"/>
          <p:nvPr/>
        </p:nvSpPr>
        <p:spPr>
          <a:xfrm>
            <a:off x="468000" y="720000"/>
            <a:ext cx="66240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B: Rounding decimals to significant figures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" name="Google Shape;184;p21"/>
          <p:cNvSpPr txBox="1"/>
          <p:nvPr/>
        </p:nvSpPr>
        <p:spPr>
          <a:xfrm>
            <a:off x="468000" y="1071475"/>
            <a:ext cx="6209400" cy="4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Round each of the following to the given number of significant figures (s.f.) and find them in the number grid.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1"/>
          <p:cNvSpPr txBox="1"/>
          <p:nvPr/>
        </p:nvSpPr>
        <p:spPr>
          <a:xfrm>
            <a:off x="468000" y="1439550"/>
            <a:ext cx="2722800" cy="24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 s.f.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0.0428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	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0.00068 	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546.483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0.000072	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0.00087	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0.684		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" name="Google Shape;186;p21"/>
          <p:cNvSpPr txBox="1"/>
          <p:nvPr/>
        </p:nvSpPr>
        <p:spPr>
          <a:xfrm>
            <a:off x="468000" y="7922325"/>
            <a:ext cx="2952000" cy="20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 s.f.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0.9058	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0.06329 	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0.06069 	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0.8287 	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0.009064 	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" name="Google Shape;187;p21"/>
          <p:cNvSpPr txBox="1"/>
          <p:nvPr/>
        </p:nvSpPr>
        <p:spPr>
          <a:xfrm>
            <a:off x="468000" y="6085250"/>
            <a:ext cx="2952000" cy="195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76200" lvl="0" marL="1440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rabicParenR" startAt="7"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0.00000731	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76200" lvl="0" marL="1440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rabicParenR" startAt="7"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0.007178	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76200" lvl="0" marL="1440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rabicParenR" startAt="7"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0.45563		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76200" lvl="0" marL="1440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rabicParenR" startAt="7"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0.0001605	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76200" lvl="0" marL="1440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rabicParenR" startAt="7"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81 503.24	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88" name="Google Shape;188;p21"/>
          <p:cNvGraphicFramePr/>
          <p:nvPr/>
        </p:nvGraphicFramePr>
        <p:xfrm>
          <a:off x="2661477" y="366110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{A7E91E32-287B-4AE1-9422-5E053AB558ED}</a:tableStyleId>
              </a:tblPr>
              <a:tblGrid>
                <a:gridCol w="361500"/>
                <a:gridCol w="361500"/>
                <a:gridCol w="361500"/>
                <a:gridCol w="361500"/>
                <a:gridCol w="361500"/>
                <a:gridCol w="361500"/>
                <a:gridCol w="361500"/>
                <a:gridCol w="361500"/>
                <a:gridCol w="361500"/>
                <a:gridCol w="361500"/>
                <a:gridCol w="361500"/>
                <a:gridCol w="361500"/>
              </a:tblGrid>
              <a:tr h="287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</a:tr>
              <a:tr h="287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</a:tr>
              <a:tr h="287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</a:tr>
              <a:tr h="287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</a:tr>
              <a:tr h="287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</a:tr>
              <a:tr h="287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</a:tr>
              <a:tr h="287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</a:tr>
              <a:tr h="287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</a:tr>
              <a:tr h="287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</a:tr>
              <a:tr h="287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</a:tr>
              <a:tr h="287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</a:tr>
              <a:tr h="287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Worksheet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LD THEME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