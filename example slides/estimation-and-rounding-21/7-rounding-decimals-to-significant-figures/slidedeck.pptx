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218128-1500-429E-9906-DA0112ABCD5D}">
  <a:tblStyle styleId="{AC218128-1500-429E-9906-DA0112ABCD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ff0d9e0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ff0d9e0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93c6b8a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a93c6b8a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ef201cefd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ef201cefd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ae1f83b9b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ae1f83b9b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ae1f83b9b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ae1f83b9b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ae1f83b9b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ae1f83b9b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ae1f83b9bb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ae1f83b9b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ef201cefd7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1ef201cefd7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ef201cefd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ef201cefd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b13ea78c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b13ea78c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ae1f83b9bb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ae1f83b9bb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1ef201cefd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1ef201cefd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1ef201cefd7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1ef201cefd7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1ef201cefd7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1ef201cefd7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1ef201cefd7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1ef201cefd7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ef201cefd7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ef201cefd7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ef201cefd7_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ef201cefd7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1ef201cefd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1ef201cefd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1ef201cefd7_2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ef201cefd7_2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ef201cefd7_2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ef201cefd7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1ef201cefd7_2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1ef201cefd7_2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1ef201cefd7_2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1ef201cefd7_2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1ef2058a3a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1ef2058a3a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b1eb0aed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b1eb0aed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b1eb0aed3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b1eb0aed3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0.png"/><Relationship Id="rId4" Type="http://schemas.openxmlformats.org/officeDocument/2006/relationships/image" Target="../media/image83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25.png"/><Relationship Id="rId9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33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62.png"/><Relationship Id="rId8" Type="http://schemas.openxmlformats.org/officeDocument/2006/relationships/image" Target="../media/image65.png"/><Relationship Id="rId11" Type="http://schemas.openxmlformats.org/officeDocument/2006/relationships/image" Target="../media/image64.png"/><Relationship Id="rId10" Type="http://schemas.openxmlformats.org/officeDocument/2006/relationships/image" Target="../media/image58.png"/><Relationship Id="rId13" Type="http://schemas.openxmlformats.org/officeDocument/2006/relationships/image" Target="../media/image57.png"/><Relationship Id="rId12" Type="http://schemas.openxmlformats.org/officeDocument/2006/relationships/image" Target="../media/image63.png"/><Relationship Id="rId15" Type="http://schemas.openxmlformats.org/officeDocument/2006/relationships/image" Target="../media/image59.png"/><Relationship Id="rId14" Type="http://schemas.openxmlformats.org/officeDocument/2006/relationships/image" Target="../media/image60.png"/><Relationship Id="rId17" Type="http://schemas.openxmlformats.org/officeDocument/2006/relationships/image" Target="../media/image67.png"/><Relationship Id="rId16" Type="http://schemas.openxmlformats.org/officeDocument/2006/relationships/image" Target="../media/image6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9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56.png"/><Relationship Id="rId7" Type="http://schemas.openxmlformats.org/officeDocument/2006/relationships/image" Target="../media/image58.png"/><Relationship Id="rId8" Type="http://schemas.openxmlformats.org/officeDocument/2006/relationships/image" Target="../media/image64.png"/><Relationship Id="rId11" Type="http://schemas.openxmlformats.org/officeDocument/2006/relationships/image" Target="../media/image60.png"/><Relationship Id="rId10" Type="http://schemas.openxmlformats.org/officeDocument/2006/relationships/image" Target="../media/image57.png"/><Relationship Id="rId13" Type="http://schemas.openxmlformats.org/officeDocument/2006/relationships/image" Target="../media/image61.png"/><Relationship Id="rId12" Type="http://schemas.openxmlformats.org/officeDocument/2006/relationships/image" Target="../media/image59.png"/><Relationship Id="rId14" Type="http://schemas.openxmlformats.org/officeDocument/2006/relationships/image" Target="../media/image6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9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56.png"/><Relationship Id="rId7" Type="http://schemas.openxmlformats.org/officeDocument/2006/relationships/image" Target="../media/image58.png"/><Relationship Id="rId8" Type="http://schemas.openxmlformats.org/officeDocument/2006/relationships/image" Target="../media/image64.png"/><Relationship Id="rId11" Type="http://schemas.openxmlformats.org/officeDocument/2006/relationships/image" Target="../media/image60.png"/><Relationship Id="rId10" Type="http://schemas.openxmlformats.org/officeDocument/2006/relationships/image" Target="../media/image57.png"/><Relationship Id="rId13" Type="http://schemas.openxmlformats.org/officeDocument/2006/relationships/image" Target="../media/image61.png"/><Relationship Id="rId12" Type="http://schemas.openxmlformats.org/officeDocument/2006/relationships/image" Target="../media/image59.png"/><Relationship Id="rId14" Type="http://schemas.openxmlformats.org/officeDocument/2006/relationships/image" Target="../media/image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9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56.png"/><Relationship Id="rId7" Type="http://schemas.openxmlformats.org/officeDocument/2006/relationships/image" Target="../media/image58.png"/><Relationship Id="rId8" Type="http://schemas.openxmlformats.org/officeDocument/2006/relationships/image" Target="../media/image64.png"/><Relationship Id="rId11" Type="http://schemas.openxmlformats.org/officeDocument/2006/relationships/image" Target="../media/image60.png"/><Relationship Id="rId10" Type="http://schemas.openxmlformats.org/officeDocument/2006/relationships/image" Target="../media/image57.png"/><Relationship Id="rId13" Type="http://schemas.openxmlformats.org/officeDocument/2006/relationships/image" Target="../media/image61.png"/><Relationship Id="rId12" Type="http://schemas.openxmlformats.org/officeDocument/2006/relationships/image" Target="../media/image59.png"/><Relationship Id="rId14" Type="http://schemas.openxmlformats.org/officeDocument/2006/relationships/image" Target="../media/image6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9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56.png"/><Relationship Id="rId7" Type="http://schemas.openxmlformats.org/officeDocument/2006/relationships/image" Target="../media/image58.png"/><Relationship Id="rId8" Type="http://schemas.openxmlformats.org/officeDocument/2006/relationships/image" Target="../media/image64.png"/><Relationship Id="rId11" Type="http://schemas.openxmlformats.org/officeDocument/2006/relationships/image" Target="../media/image60.png"/><Relationship Id="rId10" Type="http://schemas.openxmlformats.org/officeDocument/2006/relationships/image" Target="../media/image57.png"/><Relationship Id="rId13" Type="http://schemas.openxmlformats.org/officeDocument/2006/relationships/image" Target="../media/image61.png"/><Relationship Id="rId12" Type="http://schemas.openxmlformats.org/officeDocument/2006/relationships/image" Target="../media/image59.png"/><Relationship Id="rId14" Type="http://schemas.openxmlformats.org/officeDocument/2006/relationships/image" Target="../media/image6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2.jpg"/><Relationship Id="rId4" Type="http://schemas.openxmlformats.org/officeDocument/2006/relationships/image" Target="../media/image8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round decimals to a required number of significant figures.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06950" y="27414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Round − To change a number into another number that is approximately the same value but is easier to work with. E.g. Round 561 to the nearest 10 is 560.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  <p:sp>
        <p:nvSpPr>
          <p:cNvPr id="771" name="Google Shape;771;p66"/>
          <p:cNvSpPr txBox="1"/>
          <p:nvPr/>
        </p:nvSpPr>
        <p:spPr>
          <a:xfrm>
            <a:off x="306950" y="1066800"/>
            <a:ext cx="78333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Significant figures are the digits in a number that contribute to the accuracy of the number. The first significant figure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is the first non-zero digit. 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6069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average width of human hair is 0.009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digit is the </a:t>
            </a:r>
            <a:r>
              <a:rPr lang="en-GB">
                <a:solidFill>
                  <a:schemeClr val="accent4"/>
                </a:solidFill>
              </a:rPr>
              <a:t>most </a:t>
            </a:r>
            <a:r>
              <a:rPr lang="en-GB">
                <a:solidFill>
                  <a:schemeClr val="accent4"/>
                </a:solidFill>
              </a:rPr>
              <a:t>significant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</a:t>
            </a:r>
            <a:r>
              <a:rPr lang="en-GB"/>
              <a:t>tells us most about the size of the number.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897" y="3534613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3988" y="29393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 txBox="1"/>
          <p:nvPr/>
        </p:nvSpPr>
        <p:spPr>
          <a:xfrm>
            <a:off x="438475" y="3973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/>
        </p:nvSpPr>
        <p:spPr>
          <a:xfrm>
            <a:off x="7748750" y="4430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0" name="Google Shape;790;p68"/>
          <p:cNvGrpSpPr/>
          <p:nvPr/>
        </p:nvGrpSpPr>
        <p:grpSpPr>
          <a:xfrm>
            <a:off x="4923902" y="1891237"/>
            <a:ext cx="3025364" cy="2225153"/>
            <a:chOff x="5004125" y="2195975"/>
            <a:chExt cx="2411802" cy="1875076"/>
          </a:xfrm>
        </p:grpSpPr>
        <p:pic>
          <p:nvPicPr>
            <p:cNvPr id="791" name="Google Shape;791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004125" y="2195975"/>
              <a:ext cx="2411802" cy="1875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68"/>
            <p:cNvSpPr txBox="1"/>
            <p:nvPr/>
          </p:nvSpPr>
          <p:spPr>
            <a:xfrm>
              <a:off x="5163850" y="2298275"/>
              <a:ext cx="2097300" cy="10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When we rounded numbers larger than 1, the first digit was the most significant.  Why has the rule changed now?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3" name="Google Shape;793;p68"/>
          <p:cNvGrpSpPr/>
          <p:nvPr/>
        </p:nvGrpSpPr>
        <p:grpSpPr>
          <a:xfrm>
            <a:off x="1363324" y="2289200"/>
            <a:ext cx="2911427" cy="1573599"/>
            <a:chOff x="1744324" y="2060600"/>
            <a:chExt cx="2911427" cy="1573599"/>
          </a:xfrm>
        </p:grpSpPr>
        <p:pic>
          <p:nvPicPr>
            <p:cNvPr id="794" name="Google Shape;794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744324" y="2060600"/>
              <a:ext cx="2911427" cy="1573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68"/>
            <p:cNvSpPr txBox="1"/>
            <p:nvPr/>
          </p:nvSpPr>
          <p:spPr>
            <a:xfrm>
              <a:off x="1942250" y="216290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is 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 9.  It is the only digit that tells us anything about the width of the hair.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6" name="Google Shape;796;p68"/>
          <p:cNvGrpSpPr/>
          <p:nvPr/>
        </p:nvGrpSpPr>
        <p:grpSpPr>
          <a:xfrm>
            <a:off x="1363326" y="1908197"/>
            <a:ext cx="2911427" cy="1948587"/>
            <a:chOff x="1896724" y="3737000"/>
            <a:chExt cx="2911427" cy="1573599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896724" y="3737000"/>
              <a:ext cx="2911427" cy="1573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 txBox="1"/>
            <p:nvPr/>
          </p:nvSpPr>
          <p:spPr>
            <a:xfrm>
              <a:off x="2094650" y="383930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Actually Alex, if you remember it was the first non-zero digit, not just the first digit.  It isn’t really different.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9" name="Google Shape;799;p68"/>
          <p:cNvSpPr txBox="1"/>
          <p:nvPr>
            <p:ph idx="1" type="body"/>
          </p:nvPr>
        </p:nvSpPr>
        <p:spPr>
          <a:xfrm>
            <a:off x="2457600" y="3959700"/>
            <a:ext cx="3601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might Izzy say that?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take a look.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pic>
        <p:nvPicPr>
          <p:cNvPr id="805" name="Google Shape;80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3988" y="19487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9"/>
          <p:cNvSpPr txBox="1"/>
          <p:nvPr/>
        </p:nvSpPr>
        <p:spPr>
          <a:xfrm>
            <a:off x="438475" y="2982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7" name="Google Shape;807;p69"/>
          <p:cNvGrpSpPr/>
          <p:nvPr/>
        </p:nvGrpSpPr>
        <p:grpSpPr>
          <a:xfrm>
            <a:off x="1363323" y="1146200"/>
            <a:ext cx="2911427" cy="1230350"/>
            <a:chOff x="1744323" y="1603400"/>
            <a:chExt cx="2911427" cy="1230350"/>
          </a:xfrm>
        </p:grpSpPr>
        <p:pic>
          <p:nvPicPr>
            <p:cNvPr id="808" name="Google Shape;808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744323" y="1603400"/>
              <a:ext cx="2911427" cy="123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69"/>
            <p:cNvSpPr txBox="1"/>
            <p:nvPr/>
          </p:nvSpPr>
          <p:spPr>
            <a:xfrm>
              <a:off x="1942250" y="170570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could write any number with zeros in the unused columns.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0" name="Google Shape;81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9097" y="20868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9"/>
          <p:cNvSpPr txBox="1"/>
          <p:nvPr/>
        </p:nvSpPr>
        <p:spPr>
          <a:xfrm>
            <a:off x="7824950" y="2982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2" name="Google Shape;812;p69"/>
          <p:cNvGrpSpPr/>
          <p:nvPr/>
        </p:nvGrpSpPr>
        <p:grpSpPr>
          <a:xfrm>
            <a:off x="4572000" y="519575"/>
            <a:ext cx="2843924" cy="2041226"/>
            <a:chOff x="4572000" y="1738775"/>
            <a:chExt cx="2843924" cy="2041226"/>
          </a:xfrm>
        </p:grpSpPr>
        <p:pic>
          <p:nvPicPr>
            <p:cNvPr id="813" name="Google Shape;813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4572000" y="1738775"/>
              <a:ext cx="2843924" cy="204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p69"/>
            <p:cNvSpPr txBox="1"/>
            <p:nvPr/>
          </p:nvSpPr>
          <p:spPr>
            <a:xfrm>
              <a:off x="4724450" y="1917275"/>
              <a:ext cx="2536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 yes, of course.  We could write 60 as 0060 because there are no hundreds or thousands.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5" name="Google Shape;815;p69"/>
          <p:cNvGrpSpPr/>
          <p:nvPr/>
        </p:nvGrpSpPr>
        <p:grpSpPr>
          <a:xfrm>
            <a:off x="1363324" y="841400"/>
            <a:ext cx="2911427" cy="1573599"/>
            <a:chOff x="1896724" y="2975000"/>
            <a:chExt cx="2911427" cy="1573599"/>
          </a:xfrm>
        </p:grpSpPr>
        <p:pic>
          <p:nvPicPr>
            <p:cNvPr id="816" name="Google Shape;816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96724" y="2975000"/>
              <a:ext cx="2911427" cy="1573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69"/>
            <p:cNvSpPr txBox="1"/>
            <p:nvPr/>
          </p:nvSpPr>
          <p:spPr>
            <a:xfrm>
              <a:off x="2094650" y="307730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in numbers greater than one we can leave off the leading zeros.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8" name="Google Shape;818;p69"/>
          <p:cNvGrpSpPr/>
          <p:nvPr/>
        </p:nvGrpSpPr>
        <p:grpSpPr>
          <a:xfrm>
            <a:off x="4571999" y="900575"/>
            <a:ext cx="2843924" cy="1625125"/>
            <a:chOff x="6019799" y="3491375"/>
            <a:chExt cx="2843924" cy="1625125"/>
          </a:xfrm>
        </p:grpSpPr>
        <p:pic>
          <p:nvPicPr>
            <p:cNvPr id="819" name="Google Shape;819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6019799" y="3491375"/>
              <a:ext cx="2843924" cy="16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0" name="Google Shape;820;p69"/>
            <p:cNvSpPr txBox="1"/>
            <p:nvPr/>
          </p:nvSpPr>
          <p:spPr>
            <a:xfrm>
              <a:off x="6180600" y="3593675"/>
              <a:ext cx="2452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in numbers less than one we have to include the leading zeros.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21" name="Google Shape;821;p69"/>
          <p:cNvGraphicFramePr/>
          <p:nvPr/>
        </p:nvGraphicFramePr>
        <p:xfrm>
          <a:off x="1541201" y="272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22" name="Google Shape;822;p69"/>
          <p:cNvGrpSpPr/>
          <p:nvPr/>
        </p:nvGrpSpPr>
        <p:grpSpPr>
          <a:xfrm>
            <a:off x="1615576" y="27221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23" name="Google Shape;823;p69" title="10 raised to the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824" name="Google Shape;824;p69" title="10 squared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825" name="Google Shape;825;p69" title="10 cub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826" name="Google Shape;826;p69" title="10 to the fourth power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827" name="Google Shape;827;p69" title="10 to the fif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828" name="Google Shape;828;p69" title="the fraction with numerator 1 and denominator 10 squared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829" name="Google Shape;829;p69" title="the fraction with numerator 1 and denominator 10 cubed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830" name="Google Shape;830;p69" title="the fraction with numerator 1 and denominator 10 to the four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831" name="Google Shape;831;p69" title="one tenth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32" name="Google Shape;832;p69" title="10 raised to the power"/>
            <p:cNvPicPr preferRelativeResize="0"/>
            <p:nvPr/>
          </p:nvPicPr>
          <p:blipFill rotWithShape="1">
            <a:blip r:embed="rId6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833" name="Google Shape;833;p69" title="10 to the sixth power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834" name="Google Shape;834;p69" title="10 to the seventh power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835" name="Google Shape;835;p69" title="10 to the eighth power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6" name="Google Shape;836;p69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37" name="Google Shape;837;p69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38" name="Google Shape;838;p69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39" name="Google Shape;839;p69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840" name="Google Shape;840;p69"/>
          <p:cNvSpPr txBox="1"/>
          <p:nvPr/>
        </p:nvSpPr>
        <p:spPr>
          <a:xfrm>
            <a:off x="5786316" y="31434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9"/>
          <p:cNvSpPr txBox="1"/>
          <p:nvPr/>
        </p:nvSpPr>
        <p:spPr>
          <a:xfrm>
            <a:off x="5786316" y="36376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2" name="Google Shape;842;p69"/>
          <p:cNvGrpSpPr/>
          <p:nvPr/>
        </p:nvGrpSpPr>
        <p:grpSpPr>
          <a:xfrm>
            <a:off x="2553275" y="3750412"/>
            <a:ext cx="3124500" cy="313500"/>
            <a:chOff x="2096075" y="4360012"/>
            <a:chExt cx="3124500" cy="313500"/>
          </a:xfrm>
        </p:grpSpPr>
        <p:sp>
          <p:nvSpPr>
            <p:cNvPr id="843" name="Google Shape;843;p69"/>
            <p:cNvSpPr/>
            <p:nvPr/>
          </p:nvSpPr>
          <p:spPr>
            <a:xfrm>
              <a:off x="2096075" y="4360012"/>
              <a:ext cx="3051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69"/>
            <p:cNvSpPr/>
            <p:nvPr/>
          </p:nvSpPr>
          <p:spPr>
            <a:xfrm>
              <a:off x="2553275" y="4360012"/>
              <a:ext cx="3051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69"/>
            <p:cNvSpPr/>
            <p:nvPr/>
          </p:nvSpPr>
          <p:spPr>
            <a:xfrm>
              <a:off x="3010475" y="4360012"/>
              <a:ext cx="3051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69"/>
            <p:cNvSpPr/>
            <p:nvPr/>
          </p:nvSpPr>
          <p:spPr>
            <a:xfrm>
              <a:off x="3543875" y="4360012"/>
              <a:ext cx="3051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69"/>
            <p:cNvSpPr/>
            <p:nvPr/>
          </p:nvSpPr>
          <p:spPr>
            <a:xfrm>
              <a:off x="4001075" y="4360012"/>
              <a:ext cx="3051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69"/>
            <p:cNvSpPr/>
            <p:nvPr/>
          </p:nvSpPr>
          <p:spPr>
            <a:xfrm>
              <a:off x="4458275" y="4360012"/>
              <a:ext cx="3051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9" name="Google Shape;849;p69"/>
            <p:cNvSpPr/>
            <p:nvPr/>
          </p:nvSpPr>
          <p:spPr>
            <a:xfrm>
              <a:off x="4915475" y="4360012"/>
              <a:ext cx="3051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0" name="Google Shape;850;p69"/>
          <p:cNvSpPr/>
          <p:nvPr/>
        </p:nvSpPr>
        <p:spPr>
          <a:xfrm>
            <a:off x="4995950" y="4143425"/>
            <a:ext cx="2289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 txBox="1"/>
          <p:nvPr/>
        </p:nvSpPr>
        <p:spPr>
          <a:xfrm>
            <a:off x="3707726" y="4487625"/>
            <a:ext cx="312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first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non-zero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digit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0"/>
          <p:cNvSpPr txBox="1"/>
          <p:nvPr>
            <p:ph idx="1" type="body"/>
          </p:nvPr>
        </p:nvSpPr>
        <p:spPr>
          <a:xfrm>
            <a:off x="324000" y="759300"/>
            <a:ext cx="83715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rounding to significant figures, t</a:t>
            </a:r>
            <a:r>
              <a:rPr lang="en-GB"/>
              <a:t>he first </a:t>
            </a:r>
            <a:r>
              <a:rPr lang="en-GB"/>
              <a:t>significant figure</a:t>
            </a:r>
            <a:r>
              <a:rPr lang="en-GB"/>
              <a:t> is the first </a:t>
            </a:r>
            <a:r>
              <a:rPr lang="en-GB">
                <a:solidFill>
                  <a:schemeClr val="accent4"/>
                </a:solidFill>
              </a:rPr>
              <a:t>non-zero</a:t>
            </a:r>
            <a:r>
              <a:rPr lang="en-GB"/>
              <a:t> digit in a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		0.00</a:t>
            </a:r>
            <a:r>
              <a:rPr lang="en-GB" sz="2000">
                <a:solidFill>
                  <a:schemeClr val="accent4"/>
                </a:solidFill>
              </a:rPr>
              <a:t>4</a:t>
            </a:r>
            <a:r>
              <a:rPr lang="en-GB" sz="2000"/>
              <a:t>83	The 4 is the first significant figure.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		0.0</a:t>
            </a:r>
            <a:r>
              <a:rPr lang="en-GB" sz="2000">
                <a:solidFill>
                  <a:schemeClr val="accent4"/>
                </a:solidFill>
              </a:rPr>
              <a:t>8</a:t>
            </a:r>
            <a:r>
              <a:rPr lang="en-GB" sz="2000"/>
              <a:t>3904	The 8 is the</a:t>
            </a:r>
            <a:r>
              <a:rPr lang="en-GB" sz="2000"/>
              <a:t> first significant figure.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		</a:t>
            </a:r>
            <a:r>
              <a:rPr lang="en-GB" sz="2000">
                <a:solidFill>
                  <a:schemeClr val="accent4"/>
                </a:solidFill>
              </a:rPr>
              <a:t>1</a:t>
            </a:r>
            <a:r>
              <a:rPr lang="en-GB" sz="2000"/>
              <a:t>.00398	</a:t>
            </a:r>
            <a:r>
              <a:rPr lang="en-GB" sz="2000"/>
              <a:t>The 1 is the first significant figure.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		0.000</a:t>
            </a:r>
            <a:r>
              <a:rPr lang="en-GB" sz="2000">
                <a:solidFill>
                  <a:schemeClr val="accent4"/>
                </a:solidFill>
              </a:rPr>
              <a:t>2</a:t>
            </a:r>
            <a:r>
              <a:rPr lang="en-GB" sz="2000"/>
              <a:t>3	The 2 is the first significant figure.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		</a:t>
            </a:r>
            <a:r>
              <a:rPr lang="en-GB" sz="2000">
                <a:solidFill>
                  <a:schemeClr val="accent4"/>
                </a:solidFill>
              </a:rPr>
              <a:t>3</a:t>
            </a:r>
            <a:r>
              <a:rPr lang="en-GB" sz="2000"/>
              <a:t>10.952		The 3 is the first significant figure.</a:t>
            </a:r>
            <a:endParaRPr sz="2000"/>
          </a:p>
        </p:txBody>
      </p:sp>
      <p:sp>
        <p:nvSpPr>
          <p:cNvPr id="857" name="Google Shape;85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0.0245</a:t>
            </a:r>
            <a:endParaRPr/>
          </a:p>
        </p:txBody>
      </p:sp>
      <p:sp>
        <p:nvSpPr>
          <p:cNvPr id="863" name="Google Shape;863;p7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864" name="Google Shape;864;p7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 which of the following is 4 the first significant figure?</a:t>
            </a:r>
            <a:endParaRPr/>
          </a:p>
        </p:txBody>
      </p:sp>
      <p:sp>
        <p:nvSpPr>
          <p:cNvPr id="865" name="Google Shape;865;p7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0.0000492</a:t>
            </a:r>
            <a:endParaRPr/>
          </a:p>
        </p:txBody>
      </p:sp>
      <p:sp>
        <p:nvSpPr>
          <p:cNvPr id="866" name="Google Shape;866;p7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0.00458</a:t>
            </a:r>
            <a:endParaRPr/>
          </a:p>
        </p:txBody>
      </p:sp>
      <p:sp>
        <p:nvSpPr>
          <p:cNvPr id="867" name="Google Shape;867;p7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0.0000645</a:t>
            </a:r>
            <a:endParaRPr/>
          </a:p>
        </p:txBody>
      </p:sp>
      <p:pic>
        <p:nvPicPr>
          <p:cNvPr id="868" name="Google Shape;86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2395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875" name="Google Shape;875;p72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0.123 rounded to one significant figure?</a:t>
            </a:r>
            <a:endParaRPr/>
          </a:p>
        </p:txBody>
      </p:sp>
      <p:graphicFrame>
        <p:nvGraphicFramePr>
          <p:cNvPr id="876" name="Google Shape;876;p72"/>
          <p:cNvGraphicFramePr/>
          <p:nvPr/>
        </p:nvGraphicFramePr>
        <p:xfrm>
          <a:off x="2159000" y="425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7" name="Google Shape;877;p72"/>
          <p:cNvSpPr txBox="1"/>
          <p:nvPr/>
        </p:nvSpPr>
        <p:spPr>
          <a:xfrm>
            <a:off x="1958401" y="3878025"/>
            <a:ext cx="38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2"/>
          <p:cNvSpPr txBox="1"/>
          <p:nvPr/>
        </p:nvSpPr>
        <p:spPr>
          <a:xfrm>
            <a:off x="6786277" y="3878025"/>
            <a:ext cx="38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2"/>
          <p:cNvSpPr txBox="1"/>
          <p:nvPr/>
        </p:nvSpPr>
        <p:spPr>
          <a:xfrm>
            <a:off x="4275450" y="3878025"/>
            <a:ext cx="59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0" name="Google Shape;880;p72"/>
          <p:cNvGraphicFramePr/>
          <p:nvPr/>
        </p:nvGraphicFramePr>
        <p:xfrm>
          <a:off x="1465001" y="96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81" name="Google Shape;881;p72"/>
          <p:cNvGrpSpPr/>
          <p:nvPr/>
        </p:nvGrpSpPr>
        <p:grpSpPr>
          <a:xfrm>
            <a:off x="1539376" y="9695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82" name="Google Shape;882;p72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883" name="Google Shape;883;p72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884" name="Google Shape;884;p72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885" name="Google Shape;885;p72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886" name="Google Shape;886;p72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887" name="Google Shape;887;p72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888" name="Google Shape;888;p72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889" name="Google Shape;889;p72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890" name="Google Shape;890;p72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91" name="Google Shape;891;p72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892" name="Google Shape;892;p72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893" name="Google Shape;893;p72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894" name="Google Shape;894;p72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96" name="Google Shape;896;p7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97" name="Google Shape;897;p72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98" name="Google Shape;898;p72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899" name="Google Shape;899;p72"/>
          <p:cNvSpPr txBox="1"/>
          <p:nvPr/>
        </p:nvSpPr>
        <p:spPr>
          <a:xfrm>
            <a:off x="5710116" y="13908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2"/>
          <p:cNvSpPr txBox="1"/>
          <p:nvPr/>
        </p:nvSpPr>
        <p:spPr>
          <a:xfrm>
            <a:off x="5710116" y="18850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2"/>
          <p:cNvSpPr txBox="1"/>
          <p:nvPr/>
        </p:nvSpPr>
        <p:spPr>
          <a:xfrm>
            <a:off x="324000" y="2958575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first significant figure is in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tenths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tenth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2"/>
          <p:cNvSpPr/>
          <p:nvPr/>
        </p:nvSpPr>
        <p:spPr>
          <a:xfrm rot="10800000">
            <a:off x="3186630" y="3848013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2"/>
          <p:cNvSpPr txBox="1"/>
          <p:nvPr/>
        </p:nvSpPr>
        <p:spPr>
          <a:xfrm>
            <a:off x="2950486" y="3548750"/>
            <a:ext cx="7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0.123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2"/>
          <p:cNvSpPr txBox="1"/>
          <p:nvPr/>
        </p:nvSpPr>
        <p:spPr>
          <a:xfrm>
            <a:off x="324000" y="4482575"/>
            <a:ext cx="368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0.123 = 0.1 (to 1 s.f.)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05" name="Google Shape;905;p72"/>
          <p:cNvGrpSpPr/>
          <p:nvPr/>
        </p:nvGrpSpPr>
        <p:grpSpPr>
          <a:xfrm>
            <a:off x="5415000" y="2434012"/>
            <a:ext cx="2582700" cy="390800"/>
            <a:chOff x="5415000" y="2449275"/>
            <a:chExt cx="2582700" cy="390800"/>
          </a:xfrm>
        </p:grpSpPr>
        <p:sp>
          <p:nvSpPr>
            <p:cNvPr id="906" name="Google Shape;906;p72"/>
            <p:cNvSpPr txBox="1"/>
            <p:nvPr/>
          </p:nvSpPr>
          <p:spPr>
            <a:xfrm>
              <a:off x="5962800" y="2501375"/>
              <a:ext cx="20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not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significant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72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8" name="Google Shape;908;p72"/>
          <p:cNvGrpSpPr/>
          <p:nvPr/>
        </p:nvGrpSpPr>
        <p:grpSpPr>
          <a:xfrm>
            <a:off x="5948400" y="2434012"/>
            <a:ext cx="2871750" cy="580150"/>
            <a:chOff x="5415000" y="2449275"/>
            <a:chExt cx="2871750" cy="580150"/>
          </a:xfrm>
        </p:grpSpPr>
        <p:sp>
          <p:nvSpPr>
            <p:cNvPr id="909" name="Google Shape;909;p72"/>
            <p:cNvSpPr txBox="1"/>
            <p:nvPr/>
          </p:nvSpPr>
          <p:spPr>
            <a:xfrm>
              <a:off x="5966850" y="2475325"/>
              <a:ext cx="2319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first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significant figure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2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916" name="Google Shape;916;p73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0.0068 rounded to one significant figure?</a:t>
            </a:r>
            <a:endParaRPr/>
          </a:p>
        </p:txBody>
      </p:sp>
      <p:graphicFrame>
        <p:nvGraphicFramePr>
          <p:cNvPr id="917" name="Google Shape;917;p73"/>
          <p:cNvGraphicFramePr/>
          <p:nvPr/>
        </p:nvGraphicFramePr>
        <p:xfrm>
          <a:off x="2159000" y="425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8" name="Google Shape;918;p73"/>
          <p:cNvSpPr txBox="1"/>
          <p:nvPr/>
        </p:nvSpPr>
        <p:spPr>
          <a:xfrm>
            <a:off x="1750500" y="3878025"/>
            <a:ext cx="8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3"/>
          <p:cNvSpPr txBox="1"/>
          <p:nvPr/>
        </p:nvSpPr>
        <p:spPr>
          <a:xfrm>
            <a:off x="6592176" y="3878025"/>
            <a:ext cx="8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3"/>
          <p:cNvSpPr txBox="1"/>
          <p:nvPr/>
        </p:nvSpPr>
        <p:spPr>
          <a:xfrm>
            <a:off x="4105950" y="3878025"/>
            <a:ext cx="97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0.0065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1" name="Google Shape;921;p73"/>
          <p:cNvGraphicFramePr/>
          <p:nvPr/>
        </p:nvGraphicFramePr>
        <p:xfrm>
          <a:off x="779201" y="96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22" name="Google Shape;922;p73"/>
          <p:cNvGrpSpPr/>
          <p:nvPr/>
        </p:nvGrpSpPr>
        <p:grpSpPr>
          <a:xfrm>
            <a:off x="853576" y="9695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23" name="Google Shape;923;p73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924" name="Google Shape;924;p73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925" name="Google Shape;925;p73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926" name="Google Shape;926;p73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927" name="Google Shape;927;p73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928" name="Google Shape;928;p73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929" name="Google Shape;929;p73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930" name="Google Shape;930;p73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31" name="Google Shape;931;p73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32" name="Google Shape;932;p73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933" name="Google Shape;933;p73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934" name="Google Shape;934;p73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935" name="Google Shape;935;p73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" name="Google Shape;936;p73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37" name="Google Shape;937;p73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38" name="Google Shape;938;p73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39" name="Google Shape;939;p73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940" name="Google Shape;940;p73"/>
          <p:cNvSpPr txBox="1"/>
          <p:nvPr/>
        </p:nvSpPr>
        <p:spPr>
          <a:xfrm>
            <a:off x="5024316" y="13908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3"/>
          <p:cNvSpPr txBox="1"/>
          <p:nvPr/>
        </p:nvSpPr>
        <p:spPr>
          <a:xfrm>
            <a:off x="5024316" y="18850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3"/>
          <p:cNvSpPr txBox="1"/>
          <p:nvPr/>
        </p:nvSpPr>
        <p:spPr>
          <a:xfrm>
            <a:off x="324000" y="2958575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first significant figure is in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thousandths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thousandth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3"/>
          <p:cNvSpPr/>
          <p:nvPr/>
        </p:nvSpPr>
        <p:spPr>
          <a:xfrm rot="10800000">
            <a:off x="5929830" y="3848013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>
            <a:off x="5556312" y="3548750"/>
            <a:ext cx="97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0.0068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3"/>
          <p:cNvSpPr txBox="1"/>
          <p:nvPr/>
        </p:nvSpPr>
        <p:spPr>
          <a:xfrm>
            <a:off x="324000" y="4482575"/>
            <a:ext cx="368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0.0068 = 0.007 (to 1 s.f.)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46" name="Google Shape;946;p73"/>
          <p:cNvGrpSpPr/>
          <p:nvPr/>
        </p:nvGrpSpPr>
        <p:grpSpPr>
          <a:xfrm>
            <a:off x="4729200" y="2434012"/>
            <a:ext cx="2582700" cy="390800"/>
            <a:chOff x="5415000" y="2449275"/>
            <a:chExt cx="2582700" cy="390800"/>
          </a:xfrm>
        </p:grpSpPr>
        <p:sp>
          <p:nvSpPr>
            <p:cNvPr id="947" name="Google Shape;947;p73"/>
            <p:cNvSpPr txBox="1"/>
            <p:nvPr/>
          </p:nvSpPr>
          <p:spPr>
            <a:xfrm>
              <a:off x="5962800" y="2501375"/>
              <a:ext cx="20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not significant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73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9" name="Google Shape;949;p73"/>
          <p:cNvGrpSpPr/>
          <p:nvPr/>
        </p:nvGrpSpPr>
        <p:grpSpPr>
          <a:xfrm>
            <a:off x="6177000" y="2434012"/>
            <a:ext cx="2871750" cy="580150"/>
            <a:chOff x="5415000" y="2449275"/>
            <a:chExt cx="2871750" cy="580150"/>
          </a:xfrm>
        </p:grpSpPr>
        <p:sp>
          <p:nvSpPr>
            <p:cNvPr id="950" name="Google Shape;950;p73"/>
            <p:cNvSpPr txBox="1"/>
            <p:nvPr/>
          </p:nvSpPr>
          <p:spPr>
            <a:xfrm>
              <a:off x="5966850" y="2475325"/>
              <a:ext cx="2319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first significant figure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73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2" name="Google Shape;952;p73"/>
          <p:cNvGrpSpPr/>
          <p:nvPr/>
        </p:nvGrpSpPr>
        <p:grpSpPr>
          <a:xfrm>
            <a:off x="5262600" y="2434012"/>
            <a:ext cx="2582700" cy="390800"/>
            <a:chOff x="5415000" y="2449275"/>
            <a:chExt cx="2582700" cy="390800"/>
          </a:xfrm>
        </p:grpSpPr>
        <p:sp>
          <p:nvSpPr>
            <p:cNvPr id="953" name="Google Shape;953;p73"/>
            <p:cNvSpPr txBox="1"/>
            <p:nvPr/>
          </p:nvSpPr>
          <p:spPr>
            <a:xfrm>
              <a:off x="5962800" y="2501375"/>
              <a:ext cx="20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not significant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3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5" name="Google Shape;955;p73"/>
          <p:cNvGrpSpPr/>
          <p:nvPr/>
        </p:nvGrpSpPr>
        <p:grpSpPr>
          <a:xfrm>
            <a:off x="5719800" y="2434012"/>
            <a:ext cx="2582700" cy="390800"/>
            <a:chOff x="5415000" y="2449275"/>
            <a:chExt cx="2582700" cy="390800"/>
          </a:xfrm>
        </p:grpSpPr>
        <p:sp>
          <p:nvSpPr>
            <p:cNvPr id="956" name="Google Shape;956;p73"/>
            <p:cNvSpPr txBox="1"/>
            <p:nvPr/>
          </p:nvSpPr>
          <p:spPr>
            <a:xfrm>
              <a:off x="5962800" y="2501375"/>
              <a:ext cx="20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not significant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3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963" name="Google Shape;963;p74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0.096 to one significant figure?</a:t>
            </a:r>
            <a:endParaRPr/>
          </a:p>
        </p:txBody>
      </p:sp>
      <p:graphicFrame>
        <p:nvGraphicFramePr>
          <p:cNvPr id="964" name="Google Shape;964;p74"/>
          <p:cNvGraphicFramePr/>
          <p:nvPr/>
        </p:nvGraphicFramePr>
        <p:xfrm>
          <a:off x="2159000" y="425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5" name="Google Shape;965;p74"/>
          <p:cNvSpPr txBox="1"/>
          <p:nvPr/>
        </p:nvSpPr>
        <p:spPr>
          <a:xfrm>
            <a:off x="1872488" y="3878025"/>
            <a:ext cx="60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4"/>
          <p:cNvSpPr txBox="1"/>
          <p:nvPr/>
        </p:nvSpPr>
        <p:spPr>
          <a:xfrm>
            <a:off x="6790200" y="3878025"/>
            <a:ext cx="37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4"/>
          <p:cNvSpPr txBox="1"/>
          <p:nvPr/>
        </p:nvSpPr>
        <p:spPr>
          <a:xfrm>
            <a:off x="4105950" y="3878025"/>
            <a:ext cx="97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0.095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8" name="Google Shape;968;p74"/>
          <p:cNvGraphicFramePr/>
          <p:nvPr/>
        </p:nvGraphicFramePr>
        <p:xfrm>
          <a:off x="931601" y="96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69" name="Google Shape;969;p74"/>
          <p:cNvGrpSpPr/>
          <p:nvPr/>
        </p:nvGrpSpPr>
        <p:grpSpPr>
          <a:xfrm>
            <a:off x="1005976" y="9695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70" name="Google Shape;970;p74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971" name="Google Shape;971;p74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972" name="Google Shape;972;p74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973" name="Google Shape;973;p74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974" name="Google Shape;974;p74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975" name="Google Shape;975;p74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976" name="Google Shape;976;p74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977" name="Google Shape;977;p74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78" name="Google Shape;978;p74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79" name="Google Shape;979;p74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980" name="Google Shape;980;p74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981" name="Google Shape;981;p74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982" name="Google Shape;982;p74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74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84" name="Google Shape;984;p74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85" name="Google Shape;985;p74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86" name="Google Shape;986;p74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987" name="Google Shape;987;p74"/>
          <p:cNvSpPr txBox="1"/>
          <p:nvPr/>
        </p:nvSpPr>
        <p:spPr>
          <a:xfrm>
            <a:off x="5176716" y="13908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4"/>
          <p:cNvSpPr txBox="1"/>
          <p:nvPr/>
        </p:nvSpPr>
        <p:spPr>
          <a:xfrm>
            <a:off x="5176716" y="18850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4"/>
          <p:cNvSpPr txBox="1"/>
          <p:nvPr/>
        </p:nvSpPr>
        <p:spPr>
          <a:xfrm>
            <a:off x="324000" y="2958575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first significant figure is in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hundre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dths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hundre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dth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4"/>
          <p:cNvSpPr/>
          <p:nvPr/>
        </p:nvSpPr>
        <p:spPr>
          <a:xfrm rot="10800000">
            <a:off x="4863030" y="3848013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4"/>
          <p:cNvSpPr txBox="1"/>
          <p:nvPr/>
        </p:nvSpPr>
        <p:spPr>
          <a:xfrm>
            <a:off x="4489512" y="3548750"/>
            <a:ext cx="97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0.096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4"/>
          <p:cNvSpPr txBox="1"/>
          <p:nvPr/>
        </p:nvSpPr>
        <p:spPr>
          <a:xfrm>
            <a:off x="324000" y="4482575"/>
            <a:ext cx="368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0.096 = 0.1 (to 1 s.f.)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93" name="Google Shape;993;p74"/>
          <p:cNvGrpSpPr/>
          <p:nvPr/>
        </p:nvGrpSpPr>
        <p:grpSpPr>
          <a:xfrm>
            <a:off x="4881600" y="2434012"/>
            <a:ext cx="2582700" cy="390800"/>
            <a:chOff x="5415000" y="2449275"/>
            <a:chExt cx="2582700" cy="390800"/>
          </a:xfrm>
        </p:grpSpPr>
        <p:sp>
          <p:nvSpPr>
            <p:cNvPr id="994" name="Google Shape;994;p74"/>
            <p:cNvSpPr txBox="1"/>
            <p:nvPr/>
          </p:nvSpPr>
          <p:spPr>
            <a:xfrm>
              <a:off x="5962800" y="2501375"/>
              <a:ext cx="20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not significant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74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74"/>
          <p:cNvGrpSpPr/>
          <p:nvPr/>
        </p:nvGrpSpPr>
        <p:grpSpPr>
          <a:xfrm>
            <a:off x="5872200" y="2434012"/>
            <a:ext cx="2871750" cy="338700"/>
            <a:chOff x="5415000" y="2449275"/>
            <a:chExt cx="2871750" cy="338700"/>
          </a:xfrm>
        </p:grpSpPr>
        <p:sp>
          <p:nvSpPr>
            <p:cNvPr id="997" name="Google Shape;997;p74"/>
            <p:cNvSpPr txBox="1"/>
            <p:nvPr/>
          </p:nvSpPr>
          <p:spPr>
            <a:xfrm>
              <a:off x="5966850" y="2475325"/>
              <a:ext cx="2319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1st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significant figure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8" name="Google Shape;998;p74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9" name="Google Shape;999;p74"/>
          <p:cNvGrpSpPr/>
          <p:nvPr/>
        </p:nvGrpSpPr>
        <p:grpSpPr>
          <a:xfrm>
            <a:off x="5415000" y="2434012"/>
            <a:ext cx="2582700" cy="390800"/>
            <a:chOff x="5415000" y="2982675"/>
            <a:chExt cx="2582700" cy="390800"/>
          </a:xfrm>
        </p:grpSpPr>
        <p:sp>
          <p:nvSpPr>
            <p:cNvPr id="1000" name="Google Shape;1000;p74"/>
            <p:cNvSpPr txBox="1"/>
            <p:nvPr/>
          </p:nvSpPr>
          <p:spPr>
            <a:xfrm>
              <a:off x="5962800" y="3034775"/>
              <a:ext cx="203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not significant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1" name="Google Shape;1001;p74"/>
            <p:cNvSpPr/>
            <p:nvPr/>
          </p:nvSpPr>
          <p:spPr>
            <a:xfrm flipH="1">
              <a:off x="5415000" y="29826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007" name="Google Shape;1007;p75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10.392 to three significant figures?</a:t>
            </a:r>
            <a:endParaRPr/>
          </a:p>
        </p:txBody>
      </p:sp>
      <p:graphicFrame>
        <p:nvGraphicFramePr>
          <p:cNvPr id="1008" name="Google Shape;1008;p75"/>
          <p:cNvGraphicFramePr/>
          <p:nvPr/>
        </p:nvGraphicFramePr>
        <p:xfrm>
          <a:off x="2159000" y="425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9" name="Google Shape;1009;p75"/>
          <p:cNvSpPr txBox="1"/>
          <p:nvPr/>
        </p:nvSpPr>
        <p:spPr>
          <a:xfrm>
            <a:off x="1872488" y="3878025"/>
            <a:ext cx="60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5"/>
          <p:cNvSpPr txBox="1"/>
          <p:nvPr/>
        </p:nvSpPr>
        <p:spPr>
          <a:xfrm>
            <a:off x="6686967" y="3878025"/>
            <a:ext cx="60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5"/>
          <p:cNvSpPr txBox="1"/>
          <p:nvPr/>
        </p:nvSpPr>
        <p:spPr>
          <a:xfrm>
            <a:off x="4195737" y="3878025"/>
            <a:ext cx="75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10.35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2" name="Google Shape;1012;p75"/>
          <p:cNvGraphicFramePr/>
          <p:nvPr/>
        </p:nvGraphicFramePr>
        <p:xfrm>
          <a:off x="931601" y="96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13" name="Google Shape;1013;p75"/>
          <p:cNvGrpSpPr/>
          <p:nvPr/>
        </p:nvGrpSpPr>
        <p:grpSpPr>
          <a:xfrm>
            <a:off x="1005976" y="9695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14" name="Google Shape;1014;p75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1015" name="Google Shape;1015;p75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1016" name="Google Shape;1016;p75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1017" name="Google Shape;1017;p75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1018" name="Google Shape;1018;p75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019" name="Google Shape;1019;p75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020" name="Google Shape;1020;p75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021" name="Google Shape;1021;p75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022" name="Google Shape;1022;p75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23" name="Google Shape;1023;p75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1024" name="Google Shape;1024;p75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1025" name="Google Shape;1025;p75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1026" name="Google Shape;1026;p75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7" name="Google Shape;1027;p75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028" name="Google Shape;1028;p75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029" name="Google Shape;1029;p75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030" name="Google Shape;1030;p75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1031" name="Google Shape;1031;p75"/>
          <p:cNvSpPr txBox="1"/>
          <p:nvPr/>
        </p:nvSpPr>
        <p:spPr>
          <a:xfrm>
            <a:off x="5176716" y="13908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5"/>
          <p:cNvSpPr txBox="1"/>
          <p:nvPr/>
        </p:nvSpPr>
        <p:spPr>
          <a:xfrm>
            <a:off x="5176716" y="18850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5"/>
          <p:cNvSpPr txBox="1"/>
          <p:nvPr/>
        </p:nvSpPr>
        <p:spPr>
          <a:xfrm>
            <a:off x="324000" y="2958575"/>
            <a:ext cx="8496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third significant figure is in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ten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enth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5"/>
          <p:cNvSpPr/>
          <p:nvPr/>
        </p:nvSpPr>
        <p:spPr>
          <a:xfrm rot="10800000">
            <a:off x="6463230" y="3848013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5"/>
          <p:cNvSpPr txBox="1"/>
          <p:nvPr/>
        </p:nvSpPr>
        <p:spPr>
          <a:xfrm>
            <a:off x="6089712" y="3548750"/>
            <a:ext cx="97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10.392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5"/>
          <p:cNvSpPr txBox="1"/>
          <p:nvPr/>
        </p:nvSpPr>
        <p:spPr>
          <a:xfrm>
            <a:off x="324000" y="4482575"/>
            <a:ext cx="368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10.392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= 10.4 (to 3 s.f.)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37" name="Google Shape;1037;p75"/>
          <p:cNvGrpSpPr/>
          <p:nvPr/>
        </p:nvGrpSpPr>
        <p:grpSpPr>
          <a:xfrm>
            <a:off x="4424400" y="2434012"/>
            <a:ext cx="2871750" cy="379450"/>
            <a:chOff x="5415000" y="2449275"/>
            <a:chExt cx="2871750" cy="379450"/>
          </a:xfrm>
        </p:grpSpPr>
        <p:sp>
          <p:nvSpPr>
            <p:cNvPr id="1038" name="Google Shape;1038;p75"/>
            <p:cNvSpPr txBox="1"/>
            <p:nvPr/>
          </p:nvSpPr>
          <p:spPr>
            <a:xfrm>
              <a:off x="5966850" y="2551525"/>
              <a:ext cx="2319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1st significant figure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75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0" name="Google Shape;1040;p75"/>
          <p:cNvGrpSpPr/>
          <p:nvPr/>
        </p:nvGrpSpPr>
        <p:grpSpPr>
          <a:xfrm>
            <a:off x="4893667" y="2434012"/>
            <a:ext cx="3071552" cy="392288"/>
            <a:chOff x="7624800" y="2449275"/>
            <a:chExt cx="3071552" cy="392288"/>
          </a:xfrm>
        </p:grpSpPr>
        <p:sp>
          <p:nvSpPr>
            <p:cNvPr id="1041" name="Google Shape;1041;p75"/>
            <p:cNvSpPr txBox="1"/>
            <p:nvPr/>
          </p:nvSpPr>
          <p:spPr>
            <a:xfrm>
              <a:off x="8176652" y="2564363"/>
              <a:ext cx="2519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2nd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significant figure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5"/>
            <p:cNvSpPr/>
            <p:nvPr/>
          </p:nvSpPr>
          <p:spPr>
            <a:xfrm flipH="1">
              <a:off x="76248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75"/>
          <p:cNvGrpSpPr/>
          <p:nvPr/>
        </p:nvGrpSpPr>
        <p:grpSpPr>
          <a:xfrm>
            <a:off x="5363693" y="2434012"/>
            <a:ext cx="2871750" cy="379450"/>
            <a:chOff x="5415000" y="2449275"/>
            <a:chExt cx="2871750" cy="379450"/>
          </a:xfrm>
        </p:grpSpPr>
        <p:sp>
          <p:nvSpPr>
            <p:cNvPr id="1044" name="Google Shape;1044;p75"/>
            <p:cNvSpPr txBox="1"/>
            <p:nvPr/>
          </p:nvSpPr>
          <p:spPr>
            <a:xfrm>
              <a:off x="5966850" y="2551525"/>
              <a:ext cx="2319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3rd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significant figure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5"/>
            <p:cNvSpPr/>
            <p:nvPr/>
          </p:nvSpPr>
          <p:spPr>
            <a:xfrm flipH="1">
              <a:off x="5415000" y="2449275"/>
              <a:ext cx="430200" cy="338700"/>
            </a:xfrm>
            <a:prstGeom prst="bentUpArrow">
              <a:avLst>
                <a:gd fmla="val 36050" name="adj1"/>
                <a:gd fmla="val 25000" name="adj2"/>
                <a:gd fmla="val 25000" name="adj3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7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0.27 = 0 (to 1 s.f.)</a:t>
            </a:r>
            <a:endParaRPr/>
          </a:p>
        </p:txBody>
      </p:sp>
      <p:sp>
        <p:nvSpPr>
          <p:cNvPr id="1051" name="Google Shape;1051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052" name="Google Shape;1052;p7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correctly rounded to one significant figure?</a:t>
            </a:r>
            <a:endParaRPr/>
          </a:p>
        </p:txBody>
      </p:sp>
      <p:sp>
        <p:nvSpPr>
          <p:cNvPr id="1053" name="Google Shape;1053;p7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0.026803 = 0.03 (to 1 s.f.)</a:t>
            </a:r>
            <a:endParaRPr/>
          </a:p>
        </p:txBody>
      </p:sp>
      <p:sp>
        <p:nvSpPr>
          <p:cNvPr id="1054" name="Google Shape;1054;p7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28</a:t>
            </a:r>
            <a:r>
              <a:rPr lang="en-GB"/>
              <a:t>.00985 = 28 (to 1 s.f.)</a:t>
            </a:r>
            <a:endParaRPr/>
          </a:p>
        </p:txBody>
      </p:sp>
      <p:sp>
        <p:nvSpPr>
          <p:cNvPr id="1055" name="Google Shape;1055;p7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0.00002503 = 0.00003 (to 1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56" name="Google Shape;105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8" y="40486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063" name="Google Shape;1063;p77"/>
          <p:cNvSpPr txBox="1"/>
          <p:nvPr>
            <p:ph idx="1" type="body"/>
          </p:nvPr>
        </p:nvSpPr>
        <p:spPr>
          <a:xfrm>
            <a:off x="399075" y="633675"/>
            <a:ext cx="8331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Underline</a:t>
            </a:r>
            <a:r>
              <a:rPr lang="en-GB" sz="2000"/>
              <a:t> the first significant figure in each of the following: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0.0040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0.569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0.000000500002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110.00382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9872.00000600845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0.010260323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069" name="Google Shape;1069;p78"/>
          <p:cNvSpPr txBox="1"/>
          <p:nvPr>
            <p:ph idx="1" type="body"/>
          </p:nvPr>
        </p:nvSpPr>
        <p:spPr>
          <a:xfrm>
            <a:off x="324000" y="612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</a:t>
            </a:r>
            <a:r>
              <a:rPr lang="en-GB" sz="2000"/>
              <a:t>Match the following to the correct</a:t>
            </a:r>
            <a:r>
              <a:rPr lang="en-GB" sz="2000"/>
              <a:t> number</a:t>
            </a:r>
            <a:r>
              <a:rPr lang="en-GB" sz="2000"/>
              <a:t> rounded to one significant figure:</a:t>
            </a:r>
            <a:endParaRPr sz="2000"/>
          </a:p>
        </p:txBody>
      </p:sp>
      <p:sp>
        <p:nvSpPr>
          <p:cNvPr id="1070" name="Google Shape;1070;p78"/>
          <p:cNvSpPr/>
          <p:nvPr/>
        </p:nvSpPr>
        <p:spPr>
          <a:xfrm>
            <a:off x="86514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0.0001492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8"/>
          <p:cNvSpPr/>
          <p:nvPr/>
        </p:nvSpPr>
        <p:spPr>
          <a:xfrm>
            <a:off x="86514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0.0971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8"/>
          <p:cNvSpPr/>
          <p:nvPr/>
        </p:nvSpPr>
        <p:spPr>
          <a:xfrm>
            <a:off x="86514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0.001093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8"/>
          <p:cNvSpPr/>
          <p:nvPr/>
        </p:nvSpPr>
        <p:spPr>
          <a:xfrm>
            <a:off x="86514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0.0095028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8"/>
          <p:cNvSpPr/>
          <p:nvPr/>
        </p:nvSpPr>
        <p:spPr>
          <a:xfrm>
            <a:off x="507092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8"/>
          <p:cNvSpPr/>
          <p:nvPr/>
        </p:nvSpPr>
        <p:spPr>
          <a:xfrm>
            <a:off x="507092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8"/>
          <p:cNvSpPr/>
          <p:nvPr/>
        </p:nvSpPr>
        <p:spPr>
          <a:xfrm>
            <a:off x="507092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8"/>
          <p:cNvSpPr/>
          <p:nvPr/>
        </p:nvSpPr>
        <p:spPr>
          <a:xfrm>
            <a:off x="507092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0.0001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9"/>
          <p:cNvSpPr txBox="1"/>
          <p:nvPr>
            <p:ph idx="4294967295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3) Round each of the following to the number of significant figures given in the brackets.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a)	0.00087 =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2000"/>
              <a:t>(1 s.f.)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b)	234.0284 =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2000"/>
              <a:t>(2 s.f.)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c)	0.82384 =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2000"/>
              <a:t>(3 s.f.)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d)	1006</a:t>
            </a:r>
            <a:r>
              <a:rPr lang="en-GB" sz="2000"/>
              <a:t>.00321 =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2000"/>
              <a:t>(2 s.f.)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e)	</a:t>
            </a:r>
            <a:r>
              <a:rPr lang="en-GB" sz="2000"/>
              <a:t>0.009602 =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2000"/>
              <a:t>(1 s.f.)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f) 	0.0237952 = </a:t>
            </a:r>
            <a:r>
              <a:rPr lang="en-GB" sz="20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2000"/>
              <a:t>(4 s.f.)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089" name="Google Shape;1089;p80"/>
          <p:cNvSpPr txBox="1"/>
          <p:nvPr>
            <p:ph idx="1" type="body"/>
          </p:nvPr>
        </p:nvSpPr>
        <p:spPr>
          <a:xfrm>
            <a:off x="399075" y="633673"/>
            <a:ext cx="81627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Underline</a:t>
            </a:r>
            <a:r>
              <a:rPr lang="en-GB" sz="2000"/>
              <a:t> the first significant figure in each of the following: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0.00</a:t>
            </a:r>
            <a:r>
              <a:rPr lang="en-GB" sz="2000" u="sng">
                <a:solidFill>
                  <a:schemeClr val="accent4"/>
                </a:solidFill>
              </a:rPr>
              <a:t>4</a:t>
            </a:r>
            <a:r>
              <a:rPr lang="en-GB" sz="2000"/>
              <a:t>0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</a:t>
            </a:r>
            <a:r>
              <a:rPr lang="en-GB" sz="2000" u="sng">
                <a:solidFill>
                  <a:schemeClr val="accent4"/>
                </a:solidFill>
              </a:rPr>
              <a:t>5</a:t>
            </a:r>
            <a:r>
              <a:rPr lang="en-GB" sz="2000"/>
              <a:t>69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0.000000</a:t>
            </a:r>
            <a:r>
              <a:rPr lang="en-GB" sz="2000" u="sng">
                <a:solidFill>
                  <a:schemeClr val="accent4"/>
                </a:solidFill>
              </a:rPr>
              <a:t>5</a:t>
            </a:r>
            <a:r>
              <a:rPr lang="en-GB" sz="2000"/>
              <a:t>00002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 u="sng">
                <a:solidFill>
                  <a:schemeClr val="accent4"/>
                </a:solidFill>
              </a:rPr>
              <a:t>1</a:t>
            </a:r>
            <a:r>
              <a:rPr lang="en-GB" sz="2000"/>
              <a:t>10.00382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 u="sng">
                <a:solidFill>
                  <a:schemeClr val="accent4"/>
                </a:solidFill>
              </a:rPr>
              <a:t>9</a:t>
            </a:r>
            <a:r>
              <a:rPr lang="en-GB" sz="2000"/>
              <a:t>872.00000600845</a:t>
            </a:r>
            <a:endParaRPr sz="2000"/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0.0</a:t>
            </a:r>
            <a:r>
              <a:rPr lang="en-GB" sz="2000" u="sng">
                <a:solidFill>
                  <a:schemeClr val="accent4"/>
                </a:solidFill>
              </a:rPr>
              <a:t>1</a:t>
            </a:r>
            <a:r>
              <a:rPr lang="en-GB" sz="2000"/>
              <a:t>0260323 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095" name="Google Shape;1095;p81"/>
          <p:cNvSpPr txBox="1"/>
          <p:nvPr>
            <p:ph idx="1" type="body"/>
          </p:nvPr>
        </p:nvSpPr>
        <p:spPr>
          <a:xfrm>
            <a:off x="324000" y="612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Match the following to the correct</a:t>
            </a:r>
            <a:r>
              <a:rPr lang="en-GB" sz="2000"/>
              <a:t> number</a:t>
            </a:r>
            <a:r>
              <a:rPr lang="en-GB" sz="2000"/>
              <a:t> rounded to one significant figure:</a:t>
            </a:r>
            <a:endParaRPr sz="2000"/>
          </a:p>
        </p:txBody>
      </p:sp>
      <p:sp>
        <p:nvSpPr>
          <p:cNvPr id="1096" name="Google Shape;1096;p81"/>
          <p:cNvSpPr/>
          <p:nvPr/>
        </p:nvSpPr>
        <p:spPr>
          <a:xfrm>
            <a:off x="86514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0.0001492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1"/>
          <p:cNvSpPr/>
          <p:nvPr/>
        </p:nvSpPr>
        <p:spPr>
          <a:xfrm>
            <a:off x="86514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0.0971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1"/>
          <p:cNvSpPr/>
          <p:nvPr/>
        </p:nvSpPr>
        <p:spPr>
          <a:xfrm>
            <a:off x="86514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0.001093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1"/>
          <p:cNvSpPr/>
          <p:nvPr/>
        </p:nvSpPr>
        <p:spPr>
          <a:xfrm>
            <a:off x="86514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0.0095028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1"/>
          <p:cNvSpPr/>
          <p:nvPr/>
        </p:nvSpPr>
        <p:spPr>
          <a:xfrm>
            <a:off x="507092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1"/>
          <p:cNvSpPr/>
          <p:nvPr/>
        </p:nvSpPr>
        <p:spPr>
          <a:xfrm>
            <a:off x="507092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1"/>
          <p:cNvSpPr/>
          <p:nvPr/>
        </p:nvSpPr>
        <p:spPr>
          <a:xfrm>
            <a:off x="507092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1"/>
          <p:cNvSpPr/>
          <p:nvPr/>
        </p:nvSpPr>
        <p:spPr>
          <a:xfrm>
            <a:off x="507092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0.0001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4" name="Google Shape;1104;p81"/>
          <p:cNvCxnSpPr>
            <a:endCxn id="1102" idx="1"/>
          </p:cNvCxnSpPr>
          <p:nvPr/>
        </p:nvCxnSpPr>
        <p:spPr>
          <a:xfrm>
            <a:off x="4076725" y="2554433"/>
            <a:ext cx="994200" cy="1017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81"/>
          <p:cNvCxnSpPr>
            <a:endCxn id="1103" idx="1"/>
          </p:cNvCxnSpPr>
          <p:nvPr/>
        </p:nvCxnSpPr>
        <p:spPr>
          <a:xfrm>
            <a:off x="4076725" y="1640150"/>
            <a:ext cx="994200" cy="2872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81"/>
          <p:cNvCxnSpPr>
            <a:endCxn id="1100" idx="1"/>
          </p:cNvCxnSpPr>
          <p:nvPr/>
        </p:nvCxnSpPr>
        <p:spPr>
          <a:xfrm flipH="1" rot="10800000">
            <a:off x="4076725" y="1689600"/>
            <a:ext cx="994200" cy="1855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81"/>
          <p:cNvCxnSpPr/>
          <p:nvPr/>
        </p:nvCxnSpPr>
        <p:spPr>
          <a:xfrm flipH="1" rot="10800000">
            <a:off x="4076725" y="2680200"/>
            <a:ext cx="994200" cy="1855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2"/>
          <p:cNvSpPr txBox="1"/>
          <p:nvPr>
            <p:ph idx="4294967295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Round each of the following to the number of significant figures given in the brackets.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	0.00087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0.0009 </a:t>
            </a:r>
            <a:r>
              <a:rPr lang="en-GB"/>
              <a:t>(1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	</a:t>
            </a:r>
            <a:r>
              <a:rPr lang="en-GB"/>
              <a:t>234.0284</a:t>
            </a:r>
            <a:r>
              <a:rPr lang="en-GB"/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230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/>
              <a:t>(2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	0.82384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0.824 </a:t>
            </a:r>
            <a:r>
              <a:rPr lang="en-GB"/>
              <a:t>(3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	</a:t>
            </a:r>
            <a:r>
              <a:rPr lang="en-GB"/>
              <a:t>1006</a:t>
            </a:r>
            <a:r>
              <a:rPr lang="en-GB"/>
              <a:t>.00321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1000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/>
              <a:t>(2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	0.009602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0.01 </a:t>
            </a:r>
            <a:r>
              <a:rPr lang="en-GB"/>
              <a:t>(1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f) 	0.0237952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0.02380 </a:t>
            </a:r>
            <a:r>
              <a:rPr lang="en-GB"/>
              <a:t>(4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</a:t>
            </a:r>
            <a:endParaRPr/>
          </a:p>
        </p:txBody>
      </p:sp>
      <p:sp>
        <p:nvSpPr>
          <p:cNvPr id="1119" name="Google Shape;1119;p8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120" name="Google Shape;1120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pic>
        <p:nvPicPr>
          <p:cNvPr id="1121" name="Google Shape;112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00" y="299691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127" name="Google Shape;1127;p84"/>
          <p:cNvSpPr txBox="1"/>
          <p:nvPr>
            <p:ph idx="1" type="body"/>
          </p:nvPr>
        </p:nvSpPr>
        <p:spPr>
          <a:xfrm>
            <a:off x="324000" y="6069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0.000642 to </a:t>
            </a:r>
            <a:r>
              <a:rPr lang="en-GB" sz="2000"/>
              <a:t>two</a:t>
            </a:r>
            <a:r>
              <a:rPr lang="en-GB" sz="2000"/>
              <a:t> significant figure</a:t>
            </a:r>
            <a:r>
              <a:rPr lang="en-GB" sz="2000"/>
              <a:t>s</a:t>
            </a:r>
            <a:r>
              <a:rPr lang="en-GB" sz="2000"/>
              <a:t>.</a:t>
            </a:r>
            <a:endParaRPr sz="2000"/>
          </a:p>
        </p:txBody>
      </p:sp>
      <p:graphicFrame>
        <p:nvGraphicFramePr>
          <p:cNvPr id="1128" name="Google Shape;1128;p84"/>
          <p:cNvGraphicFramePr/>
          <p:nvPr/>
        </p:nvGraphicFramePr>
        <p:xfrm>
          <a:off x="1065176" y="947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9" name="Google Shape;1129;p84"/>
          <p:cNvSpPr/>
          <p:nvPr/>
        </p:nvSpPr>
        <p:spPr>
          <a:xfrm>
            <a:off x="7079511" y="997241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4"/>
          <p:cNvSpPr/>
          <p:nvPr/>
        </p:nvSpPr>
        <p:spPr>
          <a:xfrm>
            <a:off x="7109810" y="1502473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4"/>
          <p:cNvSpPr/>
          <p:nvPr/>
        </p:nvSpPr>
        <p:spPr>
          <a:xfrm>
            <a:off x="7584988" y="1502461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4"/>
          <p:cNvSpPr txBox="1"/>
          <p:nvPr/>
        </p:nvSpPr>
        <p:spPr>
          <a:xfrm>
            <a:off x="5179950" y="1367766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3" name="Google Shape;1133;p84"/>
          <p:cNvGrpSpPr/>
          <p:nvPr/>
        </p:nvGrpSpPr>
        <p:grpSpPr>
          <a:xfrm>
            <a:off x="5179950" y="935035"/>
            <a:ext cx="2034410" cy="378900"/>
            <a:chOff x="5179950" y="1621174"/>
            <a:chExt cx="2034410" cy="378900"/>
          </a:xfrm>
        </p:grpSpPr>
        <p:sp>
          <p:nvSpPr>
            <p:cNvPr id="1134" name="Google Shape;1134;p84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35" name="Google Shape;1135;p84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136" name="Google Shape;1136;p84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37" name="Google Shape;1137;p84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38" name="Google Shape;1138;p84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39" name="Google Shape;1139;p84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140" name="Google Shape;1140;p84"/>
          <p:cNvGrpSpPr/>
          <p:nvPr/>
        </p:nvGrpSpPr>
        <p:grpSpPr>
          <a:xfrm>
            <a:off x="7289193" y="947041"/>
            <a:ext cx="839567" cy="228900"/>
            <a:chOff x="7700993" y="1655350"/>
            <a:chExt cx="839567" cy="228900"/>
          </a:xfrm>
        </p:grpSpPr>
        <p:sp>
          <p:nvSpPr>
            <p:cNvPr id="1141" name="Google Shape;1141;p84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142" name="Google Shape;1142;p84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143" name="Google Shape;1143;p84"/>
          <p:cNvGrpSpPr/>
          <p:nvPr/>
        </p:nvGrpSpPr>
        <p:grpSpPr>
          <a:xfrm>
            <a:off x="7662013" y="2051868"/>
            <a:ext cx="1157953" cy="589682"/>
            <a:chOff x="3364250" y="2051961"/>
            <a:chExt cx="2466353" cy="589682"/>
          </a:xfrm>
        </p:grpSpPr>
        <p:sp>
          <p:nvSpPr>
            <p:cNvPr id="1144" name="Google Shape;1144;p84"/>
            <p:cNvSpPr/>
            <p:nvPr/>
          </p:nvSpPr>
          <p:spPr>
            <a:xfrm flipH="1">
              <a:off x="3364250" y="2051961"/>
              <a:ext cx="426300" cy="2733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5" name="Google Shape;1145;p84"/>
            <p:cNvSpPr txBox="1"/>
            <p:nvPr/>
          </p:nvSpPr>
          <p:spPr>
            <a:xfrm>
              <a:off x="3865603" y="2087543"/>
              <a:ext cx="196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less than 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6" name="Google Shape;1146;p84"/>
          <p:cNvSpPr txBox="1"/>
          <p:nvPr/>
        </p:nvSpPr>
        <p:spPr>
          <a:xfrm>
            <a:off x="324000" y="3665750"/>
            <a:ext cx="831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digit in the hundred thousandths column stays the same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0.000642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0.00064 (2 s.f.)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84"/>
          <p:cNvSpPr txBox="1"/>
          <p:nvPr/>
        </p:nvSpPr>
        <p:spPr>
          <a:xfrm>
            <a:off x="324000" y="2866886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second significant figure is in the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hundred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thousandths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hundred thousandth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8" name="Google Shape;1148;p84"/>
          <p:cNvGrpSpPr/>
          <p:nvPr/>
        </p:nvGrpSpPr>
        <p:grpSpPr>
          <a:xfrm>
            <a:off x="6719587" y="2016675"/>
            <a:ext cx="1188027" cy="371250"/>
            <a:chOff x="4448850" y="2473875"/>
            <a:chExt cx="1188027" cy="371250"/>
          </a:xfrm>
        </p:grpSpPr>
        <p:sp>
          <p:nvSpPr>
            <p:cNvPr id="1149" name="Google Shape;1149;p84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84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1" name="Google Shape;1151;p84"/>
          <p:cNvGrpSpPr/>
          <p:nvPr/>
        </p:nvGrpSpPr>
        <p:grpSpPr>
          <a:xfrm>
            <a:off x="7176787" y="2031938"/>
            <a:ext cx="1188027" cy="355987"/>
            <a:chOff x="4448850" y="2473875"/>
            <a:chExt cx="1188027" cy="355987"/>
          </a:xfrm>
        </p:grpSpPr>
        <p:sp>
          <p:nvSpPr>
            <p:cNvPr id="1152" name="Google Shape;1152;p84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3" name="Google Shape;1153;p84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159" name="Google Shape;1159;p85"/>
          <p:cNvSpPr txBox="1"/>
          <p:nvPr>
            <p:ph idx="1" type="body"/>
          </p:nvPr>
        </p:nvSpPr>
        <p:spPr>
          <a:xfrm>
            <a:off x="324000" y="6069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0.000095 to </a:t>
            </a:r>
            <a:r>
              <a:rPr lang="en-GB" sz="2000"/>
              <a:t>one</a:t>
            </a:r>
            <a:r>
              <a:rPr lang="en-GB" sz="2000"/>
              <a:t> significant figure.</a:t>
            </a:r>
            <a:endParaRPr sz="2000"/>
          </a:p>
        </p:txBody>
      </p:sp>
      <p:graphicFrame>
        <p:nvGraphicFramePr>
          <p:cNvPr id="1160" name="Google Shape;1160;p85"/>
          <p:cNvGraphicFramePr/>
          <p:nvPr/>
        </p:nvGraphicFramePr>
        <p:xfrm>
          <a:off x="760376" y="1175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1" name="Google Shape;1161;p85"/>
          <p:cNvSpPr/>
          <p:nvPr/>
        </p:nvSpPr>
        <p:spPr>
          <a:xfrm>
            <a:off x="6805350" y="1225841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5"/>
          <p:cNvSpPr/>
          <p:nvPr/>
        </p:nvSpPr>
        <p:spPr>
          <a:xfrm>
            <a:off x="6835648" y="1731073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5"/>
          <p:cNvSpPr/>
          <p:nvPr/>
        </p:nvSpPr>
        <p:spPr>
          <a:xfrm>
            <a:off x="7283931" y="1731061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5"/>
          <p:cNvSpPr txBox="1"/>
          <p:nvPr/>
        </p:nvSpPr>
        <p:spPr>
          <a:xfrm>
            <a:off x="4875150" y="1596366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5" name="Google Shape;1165;p85"/>
          <p:cNvGrpSpPr/>
          <p:nvPr/>
        </p:nvGrpSpPr>
        <p:grpSpPr>
          <a:xfrm>
            <a:off x="4875150" y="1163635"/>
            <a:ext cx="2034410" cy="378900"/>
            <a:chOff x="5179950" y="1621174"/>
            <a:chExt cx="2034410" cy="378900"/>
          </a:xfrm>
        </p:grpSpPr>
        <p:sp>
          <p:nvSpPr>
            <p:cNvPr id="1166" name="Google Shape;1166;p85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67" name="Google Shape;1167;p85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168" name="Google Shape;1168;p85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69" name="Google Shape;1169;p85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70" name="Google Shape;1170;p85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71" name="Google Shape;1171;p85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172" name="Google Shape;1172;p85"/>
          <p:cNvGrpSpPr/>
          <p:nvPr/>
        </p:nvGrpSpPr>
        <p:grpSpPr>
          <a:xfrm>
            <a:off x="6984393" y="1175641"/>
            <a:ext cx="839567" cy="228900"/>
            <a:chOff x="7700993" y="1655350"/>
            <a:chExt cx="839567" cy="228900"/>
          </a:xfrm>
        </p:grpSpPr>
        <p:sp>
          <p:nvSpPr>
            <p:cNvPr id="1173" name="Google Shape;1173;p85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174" name="Google Shape;1174;p85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175" name="Google Shape;1175;p85"/>
          <p:cNvGrpSpPr/>
          <p:nvPr/>
        </p:nvGrpSpPr>
        <p:grpSpPr>
          <a:xfrm>
            <a:off x="7433315" y="2280479"/>
            <a:ext cx="1462788" cy="589689"/>
            <a:chOff x="3928175" y="2051961"/>
            <a:chExt cx="2442050" cy="589689"/>
          </a:xfrm>
        </p:grpSpPr>
        <p:sp>
          <p:nvSpPr>
            <p:cNvPr id="1176" name="Google Shape;1176;p85"/>
            <p:cNvSpPr/>
            <p:nvPr/>
          </p:nvSpPr>
          <p:spPr>
            <a:xfrm flipH="1">
              <a:off x="3928175" y="2051961"/>
              <a:ext cx="426300" cy="2733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85"/>
            <p:cNvSpPr txBox="1"/>
            <p:nvPr/>
          </p:nvSpPr>
          <p:spPr>
            <a:xfrm>
              <a:off x="4505725" y="2087550"/>
              <a:ext cx="1864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exactly halfway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8" name="Google Shape;1178;p85"/>
          <p:cNvSpPr txBox="1"/>
          <p:nvPr/>
        </p:nvSpPr>
        <p:spPr>
          <a:xfrm>
            <a:off x="324000" y="3741949"/>
            <a:ext cx="788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increase the digit in the hundred thousandths column by 1.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0.000095 = 0.0001 (1 s.f.)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5"/>
          <p:cNvSpPr txBox="1"/>
          <p:nvPr/>
        </p:nvSpPr>
        <p:spPr>
          <a:xfrm>
            <a:off x="324000" y="3019286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first significant figure is in the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hundred thousandths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hundred thousandth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0" name="Google Shape;1180;p85"/>
          <p:cNvGrpSpPr/>
          <p:nvPr/>
        </p:nvGrpSpPr>
        <p:grpSpPr>
          <a:xfrm>
            <a:off x="6872100" y="2245275"/>
            <a:ext cx="1188027" cy="371250"/>
            <a:chOff x="4448850" y="2473875"/>
            <a:chExt cx="1188027" cy="371250"/>
          </a:xfrm>
        </p:grpSpPr>
        <p:sp>
          <p:nvSpPr>
            <p:cNvPr id="1181" name="Google Shape;1181;p85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85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188" name="Google Shape;1188;p86"/>
          <p:cNvSpPr txBox="1"/>
          <p:nvPr>
            <p:ph idx="1" type="body"/>
          </p:nvPr>
        </p:nvSpPr>
        <p:spPr>
          <a:xfrm>
            <a:off x="324000" y="6069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0.06076 to three significant figures.</a:t>
            </a:r>
            <a:endParaRPr sz="2000"/>
          </a:p>
        </p:txBody>
      </p:sp>
      <p:graphicFrame>
        <p:nvGraphicFramePr>
          <p:cNvPr id="1189" name="Google Shape;1189;p86"/>
          <p:cNvGraphicFramePr/>
          <p:nvPr/>
        </p:nvGraphicFramePr>
        <p:xfrm>
          <a:off x="1065176" y="1175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0" name="Google Shape;1190;p86"/>
          <p:cNvSpPr/>
          <p:nvPr/>
        </p:nvSpPr>
        <p:spPr>
          <a:xfrm>
            <a:off x="6652950" y="1225841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6"/>
          <p:cNvSpPr/>
          <p:nvPr/>
        </p:nvSpPr>
        <p:spPr>
          <a:xfrm>
            <a:off x="6683248" y="1731073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6"/>
          <p:cNvSpPr/>
          <p:nvPr/>
        </p:nvSpPr>
        <p:spPr>
          <a:xfrm>
            <a:off x="7116381" y="1731061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6"/>
          <p:cNvSpPr txBox="1"/>
          <p:nvPr/>
        </p:nvSpPr>
        <p:spPr>
          <a:xfrm>
            <a:off x="5179950" y="1596366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4" name="Google Shape;1194;p86"/>
          <p:cNvGrpSpPr/>
          <p:nvPr/>
        </p:nvGrpSpPr>
        <p:grpSpPr>
          <a:xfrm>
            <a:off x="5179950" y="1163635"/>
            <a:ext cx="2034410" cy="378900"/>
            <a:chOff x="5179950" y="1621174"/>
            <a:chExt cx="2034410" cy="378900"/>
          </a:xfrm>
        </p:grpSpPr>
        <p:sp>
          <p:nvSpPr>
            <p:cNvPr id="1195" name="Google Shape;1195;p86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96" name="Google Shape;1196;p86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197" name="Google Shape;1197;p86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98" name="Google Shape;1198;p86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99" name="Google Shape;1199;p86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200" name="Google Shape;1200;p86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201" name="Google Shape;1201;p86"/>
          <p:cNvGrpSpPr/>
          <p:nvPr/>
        </p:nvGrpSpPr>
        <p:grpSpPr>
          <a:xfrm>
            <a:off x="7289193" y="1175641"/>
            <a:ext cx="839567" cy="228900"/>
            <a:chOff x="7700993" y="1655350"/>
            <a:chExt cx="839567" cy="228900"/>
          </a:xfrm>
        </p:grpSpPr>
        <p:sp>
          <p:nvSpPr>
            <p:cNvPr id="1202" name="Google Shape;1202;p86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203" name="Google Shape;1203;p86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204" name="Google Shape;1204;p86"/>
          <p:cNvGrpSpPr/>
          <p:nvPr/>
        </p:nvGrpSpPr>
        <p:grpSpPr>
          <a:xfrm>
            <a:off x="7204775" y="2280561"/>
            <a:ext cx="1615250" cy="866889"/>
            <a:chOff x="3928175" y="2051961"/>
            <a:chExt cx="1615250" cy="866889"/>
          </a:xfrm>
        </p:grpSpPr>
        <p:sp>
          <p:nvSpPr>
            <p:cNvPr id="1205" name="Google Shape;1205;p86"/>
            <p:cNvSpPr/>
            <p:nvPr/>
          </p:nvSpPr>
          <p:spPr>
            <a:xfrm flipH="1">
              <a:off x="3928175" y="2051961"/>
              <a:ext cx="426300" cy="2733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86"/>
            <p:cNvSpPr txBox="1"/>
            <p:nvPr/>
          </p:nvSpPr>
          <p:spPr>
            <a:xfrm>
              <a:off x="4429525" y="2087550"/>
              <a:ext cx="11139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is greater than 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7" name="Google Shape;1207;p86"/>
          <p:cNvSpPr txBox="1"/>
          <p:nvPr/>
        </p:nvSpPr>
        <p:spPr>
          <a:xfrm>
            <a:off x="324000" y="3894350"/>
            <a:ext cx="806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digit in the ten thousandths column increases by 1.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0.06076 = 0.0608 (3 s.f.)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Notice that the zero between 6 and 7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is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significant.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8" name="Google Shape;1208;p86"/>
          <p:cNvSpPr txBox="1"/>
          <p:nvPr/>
        </p:nvSpPr>
        <p:spPr>
          <a:xfrm>
            <a:off x="324000" y="3095486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 third significant figure is in the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ten thousandths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ten thousandth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9" name="Google Shape;1209;p86"/>
          <p:cNvGrpSpPr/>
          <p:nvPr/>
        </p:nvGrpSpPr>
        <p:grpSpPr>
          <a:xfrm>
            <a:off x="5820450" y="2245275"/>
            <a:ext cx="1188027" cy="371250"/>
            <a:chOff x="4448850" y="2473875"/>
            <a:chExt cx="1188027" cy="371250"/>
          </a:xfrm>
        </p:grpSpPr>
        <p:sp>
          <p:nvSpPr>
            <p:cNvPr id="1210" name="Google Shape;1210;p86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1" name="Google Shape;1211;p86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2" name="Google Shape;1212;p86"/>
          <p:cNvGrpSpPr/>
          <p:nvPr/>
        </p:nvGrpSpPr>
        <p:grpSpPr>
          <a:xfrm>
            <a:off x="6277650" y="2260538"/>
            <a:ext cx="1188027" cy="355987"/>
            <a:chOff x="4448850" y="2473875"/>
            <a:chExt cx="1188027" cy="355987"/>
          </a:xfrm>
        </p:grpSpPr>
        <p:sp>
          <p:nvSpPr>
            <p:cNvPr id="1213" name="Google Shape;1213;p86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86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86"/>
          <p:cNvGrpSpPr/>
          <p:nvPr/>
        </p:nvGrpSpPr>
        <p:grpSpPr>
          <a:xfrm>
            <a:off x="6750112" y="2260538"/>
            <a:ext cx="1188027" cy="355987"/>
            <a:chOff x="4448850" y="1635675"/>
            <a:chExt cx="1188027" cy="355987"/>
          </a:xfrm>
        </p:grpSpPr>
        <p:sp>
          <p:nvSpPr>
            <p:cNvPr id="1216" name="Google Shape;1216;p86"/>
            <p:cNvSpPr/>
            <p:nvPr/>
          </p:nvSpPr>
          <p:spPr>
            <a:xfrm>
              <a:off x="4448850" y="16356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86"/>
            <p:cNvSpPr txBox="1"/>
            <p:nvPr/>
          </p:nvSpPr>
          <p:spPr>
            <a:xfrm>
              <a:off x="4686477" y="16529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3rd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7"/>
          <p:cNvSpPr txBox="1"/>
          <p:nvPr>
            <p:ph idx="1" type="body"/>
          </p:nvPr>
        </p:nvSpPr>
        <p:spPr>
          <a:xfrm>
            <a:off x="324000" y="626100"/>
            <a:ext cx="8496000" cy="13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 and Alex are </a:t>
            </a:r>
            <a:r>
              <a:rPr lang="en-GB" sz="2000"/>
              <a:t>rounding</a:t>
            </a:r>
            <a:r>
              <a:rPr lang="en-GB" sz="2000"/>
              <a:t> 0.00300858 to 3 </a:t>
            </a:r>
            <a:r>
              <a:rPr lang="en-GB" sz="2000"/>
              <a:t>significant</a:t>
            </a:r>
            <a:r>
              <a:rPr lang="en-GB" sz="2000"/>
              <a:t> figures.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Who is right?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mistake has the other person made?</a:t>
            </a:r>
            <a:endParaRPr sz="2000"/>
          </a:p>
        </p:txBody>
      </p:sp>
      <p:sp>
        <p:nvSpPr>
          <p:cNvPr id="1223" name="Google Shape;122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pic>
        <p:nvPicPr>
          <p:cNvPr id="1224" name="Google Shape;122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3988" y="22535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87"/>
          <p:cNvSpPr txBox="1"/>
          <p:nvPr/>
        </p:nvSpPr>
        <p:spPr>
          <a:xfrm>
            <a:off x="438475" y="3287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6" name="Google Shape;122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9097" y="23916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7"/>
          <p:cNvSpPr txBox="1"/>
          <p:nvPr/>
        </p:nvSpPr>
        <p:spPr>
          <a:xfrm>
            <a:off x="7824950" y="3287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8" name="Google Shape;1228;p87"/>
          <p:cNvGrpSpPr/>
          <p:nvPr/>
        </p:nvGrpSpPr>
        <p:grpSpPr>
          <a:xfrm>
            <a:off x="6004437" y="1662576"/>
            <a:ext cx="1812717" cy="1078326"/>
            <a:chOff x="6819647" y="2576975"/>
            <a:chExt cx="2843924" cy="1078326"/>
          </a:xfrm>
        </p:grpSpPr>
        <p:pic>
          <p:nvPicPr>
            <p:cNvPr id="1229" name="Google Shape;1229;p87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6819647" y="2576975"/>
              <a:ext cx="2843924" cy="1078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87"/>
            <p:cNvSpPr txBox="1"/>
            <p:nvPr/>
          </p:nvSpPr>
          <p:spPr>
            <a:xfrm>
              <a:off x="6995865" y="2679275"/>
              <a:ext cx="2536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 think it is 0.00301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87"/>
          <p:cNvGrpSpPr/>
          <p:nvPr/>
        </p:nvGrpSpPr>
        <p:grpSpPr>
          <a:xfrm>
            <a:off x="1363324" y="2060600"/>
            <a:ext cx="2827726" cy="875100"/>
            <a:chOff x="1896724" y="2975000"/>
            <a:chExt cx="2827726" cy="875100"/>
          </a:xfrm>
        </p:grpSpPr>
        <p:pic>
          <p:nvPicPr>
            <p:cNvPr id="1232" name="Google Shape;1232;p87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896724" y="2975000"/>
              <a:ext cx="2487951" cy="77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87"/>
            <p:cNvSpPr txBox="1"/>
            <p:nvPr/>
          </p:nvSpPr>
          <p:spPr>
            <a:xfrm>
              <a:off x="2094650" y="307730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It is 0.0030086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4" name="Google Shape;1234;p87"/>
          <p:cNvSpPr txBox="1"/>
          <p:nvPr>
            <p:ph idx="1" type="body"/>
          </p:nvPr>
        </p:nvSpPr>
        <p:spPr>
          <a:xfrm>
            <a:off x="1771800" y="3140700"/>
            <a:ext cx="5763600" cy="7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Izzy has forgotten that the zeros after the first significant figure are significant.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zero in the hundred thousandths column is the third significant figure.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decimals to significant figures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decimals to significant figures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graphicFrame>
        <p:nvGraphicFramePr>
          <p:cNvPr id="1240" name="Google Shape;1240;p88"/>
          <p:cNvGraphicFramePr/>
          <p:nvPr/>
        </p:nvGraphicFramePr>
        <p:xfrm>
          <a:off x="4169400" y="123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</a:tbl>
          </a:graphicData>
        </a:graphic>
      </p:graphicFrame>
      <p:sp>
        <p:nvSpPr>
          <p:cNvPr id="1241" name="Google Shape;1241;p88"/>
          <p:cNvSpPr txBox="1"/>
          <p:nvPr>
            <p:ph idx="1" type="body"/>
          </p:nvPr>
        </p:nvSpPr>
        <p:spPr>
          <a:xfrm>
            <a:off x="2382200" y="1105642"/>
            <a:ext cx="1750200" cy="293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 s.f.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0.00427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0.000423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0.517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0.609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1.359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0.00322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0.00000731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0.007178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0.45563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0.0001605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81 503.24</a:t>
            </a:r>
            <a:endParaRPr sz="1800"/>
          </a:p>
        </p:txBody>
      </p:sp>
      <p:sp>
        <p:nvSpPr>
          <p:cNvPr id="1242" name="Google Shape;1242;p88"/>
          <p:cNvSpPr txBox="1"/>
          <p:nvPr>
            <p:ph idx="1" type="body"/>
          </p:nvPr>
        </p:nvSpPr>
        <p:spPr>
          <a:xfrm>
            <a:off x="324000" y="662054"/>
            <a:ext cx="8237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Round each of the following to the given number of significant figures (s.f.) and find them in the number grid.</a:t>
            </a:r>
            <a:endParaRPr sz="1800"/>
          </a:p>
        </p:txBody>
      </p:sp>
      <p:sp>
        <p:nvSpPr>
          <p:cNvPr id="1243" name="Google Shape;1243;p88"/>
          <p:cNvSpPr txBox="1"/>
          <p:nvPr>
            <p:ph idx="1" type="body"/>
          </p:nvPr>
        </p:nvSpPr>
        <p:spPr>
          <a:xfrm>
            <a:off x="324000" y="1102179"/>
            <a:ext cx="1562400" cy="12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s.f.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0.0428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0.00068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546.483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0.000072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0.00087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0.684</a:t>
            </a:r>
            <a:endParaRPr sz="1800"/>
          </a:p>
        </p:txBody>
      </p:sp>
      <p:sp>
        <p:nvSpPr>
          <p:cNvPr id="1244" name="Google Shape;1244;p88"/>
          <p:cNvSpPr txBox="1"/>
          <p:nvPr>
            <p:ph idx="1" type="body"/>
          </p:nvPr>
        </p:nvSpPr>
        <p:spPr>
          <a:xfrm>
            <a:off x="324000" y="3045724"/>
            <a:ext cx="2245500" cy="16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s.f.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0.9058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0.06329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0.06069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0.8287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0.009064</a:t>
            </a:r>
            <a:endParaRPr sz="1800"/>
          </a:p>
        </p:txBody>
      </p:sp>
      <p:cxnSp>
        <p:nvCxnSpPr>
          <p:cNvPr id="1245" name="Google Shape;1245;p88"/>
          <p:cNvCxnSpPr/>
          <p:nvPr/>
        </p:nvCxnSpPr>
        <p:spPr>
          <a:xfrm>
            <a:off x="2211800" y="1113075"/>
            <a:ext cx="0" cy="3705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6" name="Google Shape;1246;p88"/>
          <p:cNvCxnSpPr/>
          <p:nvPr/>
        </p:nvCxnSpPr>
        <p:spPr>
          <a:xfrm>
            <a:off x="272875" y="3057375"/>
            <a:ext cx="1842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89"/>
          <p:cNvSpPr txBox="1"/>
          <p:nvPr>
            <p:ph idx="1" type="body"/>
          </p:nvPr>
        </p:nvSpPr>
        <p:spPr>
          <a:xfrm>
            <a:off x="2642325" y="1108038"/>
            <a:ext cx="1750200" cy="293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 s.f.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0.00427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0.000423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0.517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0.609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1.359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0.00322 </a:t>
            </a:r>
            <a:endParaRPr sz="1800"/>
          </a:p>
        </p:txBody>
      </p:sp>
      <p:sp>
        <p:nvSpPr>
          <p:cNvPr id="1252" name="Google Shape;1252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253" name="Google Shape;1253;p89"/>
          <p:cNvSpPr txBox="1"/>
          <p:nvPr>
            <p:ph idx="1" type="body"/>
          </p:nvPr>
        </p:nvSpPr>
        <p:spPr>
          <a:xfrm>
            <a:off x="324000" y="619727"/>
            <a:ext cx="8237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Round each of the following to the given number of significant figures (s.f.) and find them in the number grid.</a:t>
            </a:r>
            <a:endParaRPr sz="1800"/>
          </a:p>
        </p:txBody>
      </p:sp>
      <p:sp>
        <p:nvSpPr>
          <p:cNvPr id="1254" name="Google Shape;1254;p89"/>
          <p:cNvSpPr txBox="1"/>
          <p:nvPr>
            <p:ph idx="1" type="body"/>
          </p:nvPr>
        </p:nvSpPr>
        <p:spPr>
          <a:xfrm>
            <a:off x="324000" y="1108038"/>
            <a:ext cx="1562400" cy="12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s.f.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0.0428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0.00068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546.483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0.000072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0.00087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0.684</a:t>
            </a:r>
            <a:endParaRPr sz="1800"/>
          </a:p>
        </p:txBody>
      </p:sp>
      <p:sp>
        <p:nvSpPr>
          <p:cNvPr id="1255" name="Google Shape;1255;p89"/>
          <p:cNvSpPr txBox="1"/>
          <p:nvPr>
            <p:ph idx="1" type="body"/>
          </p:nvPr>
        </p:nvSpPr>
        <p:spPr>
          <a:xfrm>
            <a:off x="6866400" y="1108038"/>
            <a:ext cx="2245500" cy="18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s.f.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0.9058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0.06329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0.06069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0.8287 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0.009064 </a:t>
            </a:r>
            <a:endParaRPr sz="1800"/>
          </a:p>
        </p:txBody>
      </p:sp>
      <p:sp>
        <p:nvSpPr>
          <p:cNvPr id="1256" name="Google Shape;1256;p89"/>
          <p:cNvSpPr txBox="1"/>
          <p:nvPr/>
        </p:nvSpPr>
        <p:spPr>
          <a:xfrm>
            <a:off x="4404463" y="1318638"/>
            <a:ext cx="2197500" cy="21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arenR" startAt="7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0.00000731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arenR" startAt="7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0.007178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arenR" startAt="7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0.45563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arenR" startAt="7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0.0001605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rabicParenR" startAt="7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81 503.24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7" name="Google Shape;1257;p89"/>
          <p:cNvCxnSpPr/>
          <p:nvPr/>
        </p:nvCxnSpPr>
        <p:spPr>
          <a:xfrm>
            <a:off x="2211800" y="1113075"/>
            <a:ext cx="0" cy="3705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89"/>
          <p:cNvCxnSpPr/>
          <p:nvPr/>
        </p:nvCxnSpPr>
        <p:spPr>
          <a:xfrm>
            <a:off x="6613925" y="1113075"/>
            <a:ext cx="0" cy="3705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89"/>
          <p:cNvSpPr txBox="1"/>
          <p:nvPr/>
        </p:nvSpPr>
        <p:spPr>
          <a:xfrm>
            <a:off x="711300" y="1596450"/>
            <a:ext cx="14574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0.00007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89"/>
          <p:cNvSpPr txBox="1"/>
          <p:nvPr/>
        </p:nvSpPr>
        <p:spPr>
          <a:xfrm>
            <a:off x="3038000" y="1596450"/>
            <a:ext cx="14574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0.0043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0.00042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0.61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0.0032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1" name="Google Shape;1261;p89"/>
          <p:cNvSpPr txBox="1"/>
          <p:nvPr/>
        </p:nvSpPr>
        <p:spPr>
          <a:xfrm>
            <a:off x="4866150" y="1596450"/>
            <a:ext cx="14574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0.0000073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0.0072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82 000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2" name="Google Shape;1262;p89"/>
          <p:cNvSpPr txBox="1"/>
          <p:nvPr/>
        </p:nvSpPr>
        <p:spPr>
          <a:xfrm>
            <a:off x="7222750" y="1558500"/>
            <a:ext cx="14574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0.906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0.0633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0.0607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0.829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0.00906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7" name="Google Shape;1267;p90"/>
          <p:cNvGraphicFramePr/>
          <p:nvPr/>
        </p:nvGraphicFramePr>
        <p:xfrm>
          <a:off x="4169400" y="123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{AC218128-1500-429E-9906-DA0112ABCD5D}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</a:tbl>
          </a:graphicData>
        </a:graphic>
      </p:graphicFrame>
      <p:sp>
        <p:nvSpPr>
          <p:cNvPr id="1268" name="Google Shape;1268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269" name="Google Shape;1269;p90"/>
          <p:cNvSpPr/>
          <p:nvPr/>
        </p:nvSpPr>
        <p:spPr>
          <a:xfrm>
            <a:off x="4169400" y="1234313"/>
            <a:ext cx="2169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90"/>
          <p:cNvSpPr/>
          <p:nvPr/>
        </p:nvSpPr>
        <p:spPr>
          <a:xfrm>
            <a:off x="4169400" y="1824863"/>
            <a:ext cx="2169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0"/>
          <p:cNvSpPr/>
          <p:nvPr/>
        </p:nvSpPr>
        <p:spPr>
          <a:xfrm>
            <a:off x="4169400" y="2104263"/>
            <a:ext cx="25305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0"/>
          <p:cNvSpPr/>
          <p:nvPr/>
        </p:nvSpPr>
        <p:spPr>
          <a:xfrm>
            <a:off x="4169400" y="2957738"/>
            <a:ext cx="1446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0"/>
          <p:cNvSpPr/>
          <p:nvPr/>
        </p:nvSpPr>
        <p:spPr>
          <a:xfrm>
            <a:off x="4169400" y="3557963"/>
            <a:ext cx="2169000" cy="27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0"/>
          <p:cNvSpPr/>
          <p:nvPr/>
        </p:nvSpPr>
        <p:spPr>
          <a:xfrm>
            <a:off x="4892400" y="4415488"/>
            <a:ext cx="32535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0"/>
          <p:cNvSpPr/>
          <p:nvPr/>
        </p:nvSpPr>
        <p:spPr>
          <a:xfrm>
            <a:off x="5615400" y="4116963"/>
            <a:ext cx="10845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0"/>
          <p:cNvSpPr/>
          <p:nvPr/>
        </p:nvSpPr>
        <p:spPr>
          <a:xfrm>
            <a:off x="6338400" y="3557963"/>
            <a:ext cx="1807500" cy="27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0"/>
          <p:cNvSpPr/>
          <p:nvPr/>
        </p:nvSpPr>
        <p:spPr>
          <a:xfrm>
            <a:off x="6338400" y="2393138"/>
            <a:ext cx="2169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0"/>
          <p:cNvSpPr/>
          <p:nvPr/>
        </p:nvSpPr>
        <p:spPr>
          <a:xfrm rot="-2412569">
            <a:off x="6936138" y="1673689"/>
            <a:ext cx="1765378" cy="3316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0"/>
          <p:cNvSpPr/>
          <p:nvPr/>
        </p:nvSpPr>
        <p:spPr>
          <a:xfrm rot="-8290233">
            <a:off x="4026718" y="2949762"/>
            <a:ext cx="2105664" cy="33165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0"/>
          <p:cNvSpPr/>
          <p:nvPr/>
        </p:nvSpPr>
        <p:spPr>
          <a:xfrm rot="5400000">
            <a:off x="3461250" y="1927813"/>
            <a:ext cx="1748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0"/>
          <p:cNvSpPr/>
          <p:nvPr/>
        </p:nvSpPr>
        <p:spPr>
          <a:xfrm rot="5400000">
            <a:off x="4066475" y="2064313"/>
            <a:ext cx="2021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0"/>
          <p:cNvSpPr/>
          <p:nvPr/>
        </p:nvSpPr>
        <p:spPr>
          <a:xfrm rot="5400000">
            <a:off x="5953250" y="1639288"/>
            <a:ext cx="11310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0"/>
          <p:cNvSpPr/>
          <p:nvPr/>
        </p:nvSpPr>
        <p:spPr>
          <a:xfrm rot="5400000">
            <a:off x="7302000" y="2086474"/>
            <a:ext cx="20196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0"/>
          <p:cNvSpPr/>
          <p:nvPr/>
        </p:nvSpPr>
        <p:spPr>
          <a:xfrm rot="5400000">
            <a:off x="6527575" y="2949213"/>
            <a:ext cx="14535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0"/>
          <p:cNvSpPr/>
          <p:nvPr/>
        </p:nvSpPr>
        <p:spPr>
          <a:xfrm rot="5400000">
            <a:off x="5528450" y="3231813"/>
            <a:ext cx="20187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0"/>
          <p:cNvSpPr/>
          <p:nvPr/>
        </p:nvSpPr>
        <p:spPr>
          <a:xfrm rot="5400000">
            <a:off x="7373600" y="3084463"/>
            <a:ext cx="11577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0"/>
          <p:cNvSpPr/>
          <p:nvPr/>
        </p:nvSpPr>
        <p:spPr>
          <a:xfrm rot="5400000">
            <a:off x="6724900" y="3652563"/>
            <a:ext cx="17439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0"/>
          <p:cNvSpPr/>
          <p:nvPr/>
        </p:nvSpPr>
        <p:spPr>
          <a:xfrm rot="5400000">
            <a:off x="3908850" y="4104280"/>
            <a:ext cx="8529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0"/>
          <p:cNvSpPr/>
          <p:nvPr/>
        </p:nvSpPr>
        <p:spPr>
          <a:xfrm>
            <a:off x="6670225" y="1784225"/>
            <a:ext cx="18075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0"/>
          <p:cNvSpPr/>
          <p:nvPr/>
        </p:nvSpPr>
        <p:spPr>
          <a:xfrm rot="-2412540">
            <a:off x="6215657" y="1505473"/>
            <a:ext cx="1254690" cy="3316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0"/>
          <p:cNvSpPr txBox="1"/>
          <p:nvPr>
            <p:ph idx="1" type="body"/>
          </p:nvPr>
        </p:nvSpPr>
        <p:spPr>
          <a:xfrm>
            <a:off x="2382200" y="1105642"/>
            <a:ext cx="1750200" cy="293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 s.f.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0.00427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0.000423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0.517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0.609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1.359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0.00322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0.00000731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0.007178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0.45563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0.0001605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81 503.24</a:t>
            </a:r>
            <a:endParaRPr sz="1800"/>
          </a:p>
        </p:txBody>
      </p:sp>
      <p:sp>
        <p:nvSpPr>
          <p:cNvPr id="1292" name="Google Shape;1292;p90"/>
          <p:cNvSpPr txBox="1"/>
          <p:nvPr>
            <p:ph idx="1" type="body"/>
          </p:nvPr>
        </p:nvSpPr>
        <p:spPr>
          <a:xfrm>
            <a:off x="324000" y="662054"/>
            <a:ext cx="8237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Round each of the following to the given number of significant figures (s.f.) and find them in the number grid.</a:t>
            </a:r>
            <a:endParaRPr sz="1800"/>
          </a:p>
        </p:txBody>
      </p:sp>
      <p:sp>
        <p:nvSpPr>
          <p:cNvPr id="1293" name="Google Shape;1293;p90"/>
          <p:cNvSpPr txBox="1"/>
          <p:nvPr>
            <p:ph idx="1" type="body"/>
          </p:nvPr>
        </p:nvSpPr>
        <p:spPr>
          <a:xfrm>
            <a:off x="324000" y="1102179"/>
            <a:ext cx="1562400" cy="12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s.f.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0.0428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0.00068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546.483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0.000072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0.00087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0.684</a:t>
            </a:r>
            <a:endParaRPr sz="1800"/>
          </a:p>
        </p:txBody>
      </p:sp>
      <p:cxnSp>
        <p:nvCxnSpPr>
          <p:cNvPr id="1294" name="Google Shape;1294;p90"/>
          <p:cNvCxnSpPr/>
          <p:nvPr/>
        </p:nvCxnSpPr>
        <p:spPr>
          <a:xfrm>
            <a:off x="2211800" y="1113075"/>
            <a:ext cx="0" cy="3705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90"/>
          <p:cNvCxnSpPr/>
          <p:nvPr/>
        </p:nvCxnSpPr>
        <p:spPr>
          <a:xfrm>
            <a:off x="272875" y="3057375"/>
            <a:ext cx="1842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90"/>
          <p:cNvSpPr txBox="1"/>
          <p:nvPr>
            <p:ph idx="1" type="body"/>
          </p:nvPr>
        </p:nvSpPr>
        <p:spPr>
          <a:xfrm>
            <a:off x="324000" y="3045724"/>
            <a:ext cx="2245500" cy="16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 s.f.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0.9058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0.06329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0.06069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0.8287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0.009064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1"/>
          <p:cNvSpPr txBox="1"/>
          <p:nvPr>
            <p:ph idx="1" type="body"/>
          </p:nvPr>
        </p:nvSpPr>
        <p:spPr>
          <a:xfrm>
            <a:off x="324000" y="6228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first significant figure is the first non-zero digit.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Zeros after the first significant figure are significant.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number line is useful when rounding decimals to significant figures.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E.g.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place value chart </a:t>
            </a:r>
            <a:r>
              <a:rPr lang="en-GB" sz="1800"/>
              <a:t>is useful when rounding decimals to significant figures.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E.g.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2" name="Google Shape;1302;p9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pic>
        <p:nvPicPr>
          <p:cNvPr id="1303" name="Google Shape;1303;p91"/>
          <p:cNvPicPr preferRelativeResize="0"/>
          <p:nvPr/>
        </p:nvPicPr>
        <p:blipFill rotWithShape="1">
          <a:blip r:embed="rId3">
            <a:alphaModFix/>
          </a:blip>
          <a:srcRect b="893" l="0" r="0" t="883"/>
          <a:stretch/>
        </p:blipFill>
        <p:spPr>
          <a:xfrm>
            <a:off x="773475" y="1620005"/>
            <a:ext cx="2833597" cy="1378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iginal/editable found on slide 24" id="1304" name="Google Shape;130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75" y="3332860"/>
            <a:ext cx="3546525" cy="1479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9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10" name="Google Shape;13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