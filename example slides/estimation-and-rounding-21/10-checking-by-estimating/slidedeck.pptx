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3"/>
    <p:sldMasterId id="21474837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b01766e4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b01766e4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b01766e4e7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b01766e4e7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c3c9806e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c3c9806e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ac3c9806e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ac3c9806e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ad5079ec3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ad5079ec3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ad5079ec3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ad5079ec3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ad5079ec3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ad5079ec3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2ad5079ec3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2ad5079ec3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ad5079ec3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ad5079ec3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d5079ec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d5079ec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ac3c9806e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ac3c9806e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ac3c9806e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ac3c9806e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ad5079ec3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ad5079ec3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2ac3c9806e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2ac3c9806e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ad5079ec37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2ad5079ec3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2b05778e7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2b05778e7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ad5079ec37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ad5079ec37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adb66c63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adb66c63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adb66c633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adb66c633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2adb66c633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2adb66c633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b05778e7a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b05778e7a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ac3c9806e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ac3c9806e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ac3c9806e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ac3c9806e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ad5079ec3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ad5079ec3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2adb66c633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2adb66c633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adb66c633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adb66c633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ad5079ec37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ad5079ec37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ad5079ec3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ad5079ec3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2ad5079ec3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2ad5079ec3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2ac3c9806e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2ac3c9806e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2adb66c633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2adb66c633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2ac3c9806e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2ac3c9806e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2adb66c633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adb66c633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adb66c6331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adb66c6331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adb66c6331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adb66c6331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2adb66c6331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2adb66c6331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adb66c6331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adb66c6331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adb66c6331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adb66c6331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4.png"/><Relationship Id="rId4" Type="http://schemas.openxmlformats.org/officeDocument/2006/relationships/image" Target="../media/image84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42.png"/><Relationship Id="rId9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4.png"/><Relationship Id="rId4" Type="http://schemas.openxmlformats.org/officeDocument/2006/relationships/image" Target="../media/image84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4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42.png"/><Relationship Id="rId9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0" name="Google Shape;890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81"/>
          <p:cNvCxnSpPr>
            <a:endCxn id="90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82"/>
          <p:cNvCxnSpPr>
            <a:endCxn id="92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5" name="Google Shape;9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6" name="Google Shape;9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1" name="Google Shape;9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7" name="Google Shape;947;p8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8" name="Google Shape;948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0" name="Google Shape;98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8" name="Google Shape;988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9" name="Google Shape;98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2" name="Google Shape;992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4" name="Google Shape;1044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0" name="Google Shape;1050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4" name="Google Shape;10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9" name="Google Shape;1069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6" name="Google Shape;108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1" name="Google Shape;1091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2" name="Google Shape;1092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3" name="Google Shape;109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5" name="Google Shape;1095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6" name="Google Shape;109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9" name="Google Shape;1109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0" name="Google Shape;11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5" name="Google Shape;1115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6" name="Google Shape;11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9" name="Google Shape;11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2" name="Google Shape;1192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9" name="Google Shape;119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5" name="Google Shape;12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2" name="Google Shape;1212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3" name="Google Shape;121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5" name="Google Shape;1235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2" name="Google Shape;124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5" name="Google Shape;124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1" name="Google Shape;125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8" name="Google Shape;1258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7" name="Google Shape;1267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4" name="Google Shape;127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1" name="Google Shape;1281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4" name="Google Shape;135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7" name="Google Shape;1357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9" name="Google Shape;1359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0" name="Google Shape;1360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7" name="Google Shape;136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4" name="Google Shape;139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3" name="Google Shape;140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5" name="Google Shape;14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9" name="Google Shape;145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0" name="Google Shape;146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3" name="Google Shape;146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9" name="Google Shape;146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0.png"/><Relationship Id="rId4" Type="http://schemas.openxmlformats.org/officeDocument/2006/relationships/image" Target="../media/image104.png"/><Relationship Id="rId9" Type="http://schemas.openxmlformats.org/officeDocument/2006/relationships/image" Target="../media/image105.png"/><Relationship Id="rId5" Type="http://schemas.openxmlformats.org/officeDocument/2006/relationships/image" Target="../media/image99.png"/><Relationship Id="rId6" Type="http://schemas.openxmlformats.org/officeDocument/2006/relationships/image" Target="../media/image102.png"/><Relationship Id="rId7" Type="http://schemas.openxmlformats.org/officeDocument/2006/relationships/image" Target="../media/image101.png"/><Relationship Id="rId8" Type="http://schemas.openxmlformats.org/officeDocument/2006/relationships/image" Target="../media/image10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10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5" Type="http://schemas.openxmlformats.org/officeDocument/2006/relationships/image" Target="../media/image10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4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Relationship Id="rId6" Type="http://schemas.openxmlformats.org/officeDocument/2006/relationships/image" Target="../media/image107.png"/><Relationship Id="rId7" Type="http://schemas.openxmlformats.org/officeDocument/2006/relationships/image" Target="../media/image10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8.png"/><Relationship Id="rId4" Type="http://schemas.openxmlformats.org/officeDocument/2006/relationships/image" Target="../media/image9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7.png"/><Relationship Id="rId4" Type="http://schemas.openxmlformats.org/officeDocument/2006/relationships/image" Target="../media/image10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0.png"/><Relationship Id="rId4" Type="http://schemas.openxmlformats.org/officeDocument/2006/relationships/image" Target="../media/image10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0.png"/><Relationship Id="rId4" Type="http://schemas.openxmlformats.org/officeDocument/2006/relationships/image" Target="../media/image10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104.png"/><Relationship Id="rId5" Type="http://schemas.openxmlformats.org/officeDocument/2006/relationships/image" Target="../media/image102.png"/><Relationship Id="rId6" Type="http://schemas.openxmlformats.org/officeDocument/2006/relationships/image" Target="../media/image100.png"/><Relationship Id="rId7" Type="http://schemas.openxmlformats.org/officeDocument/2006/relationships/image" Target="../media/image10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104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5.png"/><Relationship Id="rId4" Type="http://schemas.openxmlformats.org/officeDocument/2006/relationships/image" Target="../media/image119.png"/><Relationship Id="rId5" Type="http://schemas.openxmlformats.org/officeDocument/2006/relationships/image" Target="../media/image102.png"/><Relationship Id="rId6" Type="http://schemas.openxmlformats.org/officeDocument/2006/relationships/image" Target="../media/image10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9.png"/><Relationship Id="rId4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7.png"/><Relationship Id="rId4" Type="http://schemas.openxmlformats.org/officeDocument/2006/relationships/image" Target="../media/image10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8.png"/><Relationship Id="rId4" Type="http://schemas.openxmlformats.org/officeDocument/2006/relationships/image" Target="../media/image1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sp>
        <p:nvSpPr>
          <p:cNvPr id="1496" name="Google Shape;1496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estimate and check if solutions to problems are of the correct magnitude.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/>
        </p:nvSpPr>
        <p:spPr>
          <a:xfrm>
            <a:off x="324000" y="802250"/>
            <a:ext cx="83739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 figures are the digits in a number that contribute to the accuracy of the number.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first significant figure is the first non-zero digit.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lines can be used to round to one significant figure.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7000 (1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6500 (2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6523 = 6520 (3 s.f.)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30"/>
          <p:cNvSpPr txBox="1"/>
          <p:nvPr/>
        </p:nvSpPr>
        <p:spPr>
          <a:xfrm>
            <a:off x="324000" y="802250"/>
            <a:ext cx="77148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quick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a calculation is obtained from using approximate values, often rounded to 1 significant figure.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30"/>
          <p:cNvSpPr txBox="1"/>
          <p:nvPr/>
        </p:nvSpPr>
        <p:spPr>
          <a:xfrm>
            <a:off x="309750" y="1819850"/>
            <a:ext cx="802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18" name="Google Shape;1518;p130"/>
          <p:cNvSpPr txBox="1"/>
          <p:nvPr/>
        </p:nvSpPr>
        <p:spPr>
          <a:xfrm>
            <a:off x="309750" y="1692175"/>
            <a:ext cx="80205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showing estimations we use         to identify that the calculations are approximately the same but not equal.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519" name="Google Shape;1519;p13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968" y="1714441"/>
            <a:ext cx="314800" cy="2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30"/>
          <p:cNvSpPr txBox="1"/>
          <p:nvPr/>
        </p:nvSpPr>
        <p:spPr>
          <a:xfrm>
            <a:off x="309750" y="2638800"/>
            <a:ext cx="80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92\ \times176.9\ \approx900\ \times200&quot;&gt;&lt;mn&gt;892&lt;/mn&gt;&lt;mtext&gt;&lt;/mtext&gt;&lt;mo&gt;×&lt;/mo&gt;&lt;mn&gt;176.9&lt;/mn&gt;&lt;mtext&gt;&lt;/mtext&gt;&lt;mo&gt;≈&lt;/mo&gt;&lt;mn&gt;900&lt;/mn&gt;&lt;mtext&gt;&lt;/mtext&gt;&lt;mo&gt;×&lt;/mo&gt;&lt;mn&gt;200&lt;/mn&gt;&lt;/math&gt;" id="1521" name="Google Shape;1521;p130" title="892 times 176.9 almost equals 900 times 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725" y="3196600"/>
            <a:ext cx="4567280" cy="30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3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527" name="Google Shape;1527;p13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hecking answers</a:t>
            </a:r>
            <a:endParaRPr/>
          </a:p>
        </p:txBody>
      </p:sp>
      <p:sp>
        <p:nvSpPr>
          <p:cNvPr id="1528" name="Google Shape;1528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pic>
        <p:nvPicPr>
          <p:cNvPr id="1529" name="Google Shape;1529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3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32"/>
          <p:cNvSpPr txBox="1"/>
          <p:nvPr>
            <p:ph idx="1" type="body"/>
          </p:nvPr>
        </p:nvSpPr>
        <p:spPr>
          <a:xfrm>
            <a:off x="324000" y="759300"/>
            <a:ext cx="8237700" cy="20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quick estimate for a calculation is obtained from using approximate values, often rounded to 1 significant figure.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In everyday life, it is important to estimate so to know how to quickly calculate a rough answer or to check the accuracy of answers.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33"/>
          <p:cNvSpPr txBox="1"/>
          <p:nvPr>
            <p:ph idx="1" type="body"/>
          </p:nvPr>
        </p:nvSpPr>
        <p:spPr>
          <a:xfrm>
            <a:off x="324000" y="859775"/>
            <a:ext cx="8237700" cy="9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</a:t>
            </a:r>
            <a:r>
              <a:rPr lang="en-GB"/>
              <a:t>or example, here is a calculation and pupil responses.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do you agree with and why?</a:t>
            </a:r>
            <a:endParaRPr/>
          </a:p>
        </p:txBody>
      </p:sp>
      <p:sp>
        <p:nvSpPr>
          <p:cNvPr id="1541" name="Google Shape;1541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pic>
        <p:nvPicPr>
          <p:cNvPr id="1542" name="Google Shape;1542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94673" y="2717649"/>
            <a:ext cx="1974927" cy="190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524775" y="2700000"/>
            <a:ext cx="1605524" cy="14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33"/>
          <p:cNvSpPr txBox="1"/>
          <p:nvPr/>
        </p:nvSpPr>
        <p:spPr>
          <a:xfrm>
            <a:off x="6117978" y="4150650"/>
            <a:ext cx="10545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5" name="Google Shape;1545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1352" y="333112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33"/>
          <p:cNvSpPr txBox="1"/>
          <p:nvPr/>
        </p:nvSpPr>
        <p:spPr>
          <a:xfrm>
            <a:off x="1526975" y="2717650"/>
            <a:ext cx="18264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2700. It is maths so there is only 1 answer.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7" name="Google Shape;1547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6475" y="36663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33"/>
          <p:cNvSpPr txBox="1"/>
          <p:nvPr/>
        </p:nvSpPr>
        <p:spPr>
          <a:xfrm>
            <a:off x="3524785" y="2700000"/>
            <a:ext cx="1511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2500 because  250 ×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9" name="Google Shape;1549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7040174" y="3026625"/>
            <a:ext cx="1657201" cy="139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33"/>
          <p:cNvSpPr txBox="1"/>
          <p:nvPr/>
        </p:nvSpPr>
        <p:spPr>
          <a:xfrm>
            <a:off x="7189725" y="2959150"/>
            <a:ext cx="16056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are all right except Alex’s explanation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1" name="Google Shape;1551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94522" y="3528325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33"/>
          <p:cNvSpPr txBox="1"/>
          <p:nvPr/>
        </p:nvSpPr>
        <p:spPr>
          <a:xfrm>
            <a:off x="201753" y="42347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33"/>
          <p:cNvSpPr txBox="1"/>
          <p:nvPr/>
        </p:nvSpPr>
        <p:spPr>
          <a:xfrm>
            <a:off x="4571453" y="44151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4" name="Google Shape;1554;p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639400" y="2160000"/>
            <a:ext cx="727175" cy="8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133"/>
          <p:cNvSpPr txBox="1"/>
          <p:nvPr/>
        </p:nvSpPr>
        <p:spPr>
          <a:xfrm>
            <a:off x="5299038" y="2878535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6" name="Google Shape;1556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396425" y="1702450"/>
            <a:ext cx="1929175" cy="118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3"/>
          <p:cNvSpPr txBox="1"/>
          <p:nvPr/>
        </p:nvSpPr>
        <p:spPr>
          <a:xfrm>
            <a:off x="6499198" y="1717950"/>
            <a:ext cx="18264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3000 because  300 ×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8" name="Google Shape;1558;p1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30508" y="42340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3"/>
          <p:cNvSpPr/>
          <p:nvPr/>
        </p:nvSpPr>
        <p:spPr>
          <a:xfrm>
            <a:off x="2748188" y="1431613"/>
            <a:ext cx="3365400" cy="55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560" name="Google Shape;1560;p133" title="272.56 times 9.7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58775" y="1523500"/>
            <a:ext cx="3144225" cy="3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34"/>
          <p:cNvSpPr txBox="1"/>
          <p:nvPr>
            <p:ph idx="1" type="body"/>
          </p:nvPr>
        </p:nvSpPr>
        <p:spPr>
          <a:xfrm>
            <a:off x="324000" y="683100"/>
            <a:ext cx="82377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As estimation gives an approximate answer, there is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more than one estimate.</a:t>
            </a:r>
            <a:endParaRPr/>
          </a:p>
        </p:txBody>
      </p:sp>
      <p:sp>
        <p:nvSpPr>
          <p:cNvPr id="1566" name="Google Shape;156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pic>
        <p:nvPicPr>
          <p:cNvPr id="1567" name="Google Shape;1567;p13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94673" y="2705328"/>
            <a:ext cx="1974927" cy="9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34"/>
          <p:cNvSpPr txBox="1"/>
          <p:nvPr/>
        </p:nvSpPr>
        <p:spPr>
          <a:xfrm>
            <a:off x="1526975" y="2717650"/>
            <a:ext cx="18264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2700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9" name="Google Shape;1569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94522" y="3528325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34"/>
          <p:cNvSpPr txBox="1"/>
          <p:nvPr/>
        </p:nvSpPr>
        <p:spPr>
          <a:xfrm>
            <a:off x="201753" y="42347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4"/>
          <p:cNvSpPr txBox="1"/>
          <p:nvPr/>
        </p:nvSpPr>
        <p:spPr>
          <a:xfrm>
            <a:off x="1684800" y="3609525"/>
            <a:ext cx="25215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rounded 272.56 to 2 s.f. and 9.769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1 s.f.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2" name="Google Shape;1572;p134"/>
          <p:cNvSpPr/>
          <p:nvPr/>
        </p:nvSpPr>
        <p:spPr>
          <a:xfrm>
            <a:off x="2748188" y="1507813"/>
            <a:ext cx="3365400" cy="55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573" name="Google Shape;1573;p134" title="272.56 times 9.7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8775" y="1599700"/>
            <a:ext cx="3144225" cy="3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35"/>
          <p:cNvSpPr txBox="1"/>
          <p:nvPr>
            <p:ph idx="1" type="body"/>
          </p:nvPr>
        </p:nvSpPr>
        <p:spPr>
          <a:xfrm>
            <a:off x="324000" y="683100"/>
            <a:ext cx="82377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estimation gives an approximate answer, there is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more than one estimate.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580" name="Google Shape;1580;p135"/>
          <p:cNvSpPr txBox="1"/>
          <p:nvPr/>
        </p:nvSpPr>
        <p:spPr>
          <a:xfrm>
            <a:off x="663025" y="3609525"/>
            <a:ext cx="28617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 rounded 272.56 to the nearest 50 and 9.769 to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s.f.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81" name="Google Shape;1581;p13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524775" y="2700000"/>
            <a:ext cx="1605524" cy="14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475" y="36663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5"/>
          <p:cNvSpPr txBox="1"/>
          <p:nvPr/>
        </p:nvSpPr>
        <p:spPr>
          <a:xfrm>
            <a:off x="4571453" y="44151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5"/>
          <p:cNvSpPr txBox="1"/>
          <p:nvPr/>
        </p:nvSpPr>
        <p:spPr>
          <a:xfrm>
            <a:off x="3524785" y="2700000"/>
            <a:ext cx="1511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2500 because  250 ×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35"/>
          <p:cNvSpPr/>
          <p:nvPr/>
        </p:nvSpPr>
        <p:spPr>
          <a:xfrm>
            <a:off x="2748188" y="1507813"/>
            <a:ext cx="3365400" cy="55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586" name="Google Shape;1586;p135" title="272.56 times 9.7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8775" y="1599700"/>
            <a:ext cx="3144225" cy="3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36"/>
          <p:cNvSpPr txBox="1"/>
          <p:nvPr>
            <p:ph idx="1" type="body"/>
          </p:nvPr>
        </p:nvSpPr>
        <p:spPr>
          <a:xfrm>
            <a:off x="324000" y="683100"/>
            <a:ext cx="82377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estimation gives an approximate answer, there is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more than one estimate.</a:t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593" name="Google Shape;1593;p136"/>
          <p:cNvSpPr txBox="1"/>
          <p:nvPr/>
        </p:nvSpPr>
        <p:spPr>
          <a:xfrm>
            <a:off x="4454054" y="3606675"/>
            <a:ext cx="38556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rounded 272.56 to 1 s.f.  and 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.769 to 1 s.f.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94" name="Google Shape;159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20850" y="2431225"/>
            <a:ext cx="727175" cy="89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3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6177875" y="1973675"/>
            <a:ext cx="1929175" cy="118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36"/>
          <p:cNvSpPr txBox="1"/>
          <p:nvPr/>
        </p:nvSpPr>
        <p:spPr>
          <a:xfrm>
            <a:off x="6280648" y="1989175"/>
            <a:ext cx="18264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3000 because  300 ×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6"/>
          <p:cNvSpPr txBox="1"/>
          <p:nvPr/>
        </p:nvSpPr>
        <p:spPr>
          <a:xfrm>
            <a:off x="5070438" y="316216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6"/>
          <p:cNvSpPr/>
          <p:nvPr/>
        </p:nvSpPr>
        <p:spPr>
          <a:xfrm>
            <a:off x="2748188" y="1507813"/>
            <a:ext cx="3365400" cy="55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599" name="Google Shape;1599;p136" title="272.56 times 9.7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8775" y="1599700"/>
            <a:ext cx="3144225" cy="3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605" name="Google Shape;1605;p137"/>
          <p:cNvSpPr txBox="1"/>
          <p:nvPr/>
        </p:nvSpPr>
        <p:spPr>
          <a:xfrm>
            <a:off x="6117978" y="4150650"/>
            <a:ext cx="10545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6" name="Google Shape;1606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352" y="33311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13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7040174" y="3168475"/>
            <a:ext cx="1657201" cy="12559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137"/>
          <p:cNvSpPr txBox="1"/>
          <p:nvPr/>
        </p:nvSpPr>
        <p:spPr>
          <a:xfrm>
            <a:off x="7189725" y="3331125"/>
            <a:ext cx="16056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are all right.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9" name="Google Shape;1609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0508" y="4234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72.56\ \times8.769\ \approx\ 300\ \times\ 10\\&amp;#13;&amp;#10;272.56\ \times8.769\ \approx\ 270\ \times\ 10\\&amp;#13;&amp;#10;272.56\ \times8.769\ \approx\ 250\ \times\ 10\end{array}&quot;&gt;&lt;mtable columnalign=&quot;left&quot; columnspacing=&quot;1em&quot; rowspacing=&quot;4pt&quot;&gt;&lt;mtr&gt;&lt;mtd&gt;&lt;mn&gt;272.56&lt;/mn&gt;&lt;mtext&gt;&lt;/mtext&gt;&lt;mo&gt;×&lt;/mo&gt;&lt;mn&gt;8.769&lt;/mn&gt;&lt;mtext&gt;&lt;/mtext&gt;&lt;mo&gt;≈&lt;/mo&gt;&lt;mtext&gt;&lt;/mtext&gt;&lt;mn&gt;300&lt;/mn&gt;&lt;mtext&gt;&lt;/mtext&gt;&lt;mo&gt;×&lt;/mo&gt;&lt;mtext&gt;&lt;/mtext&gt;&lt;mn&gt;10&lt;/mn&gt;&lt;/mtd&gt;&lt;/mtr&gt;&lt;mtr&gt;&lt;mtd&gt;&lt;mn&gt;272.56&lt;/mn&gt;&lt;mtext&gt;&lt;/mtext&gt;&lt;mo&gt;×&lt;/mo&gt;&lt;mn&gt;8.769&lt;/mn&gt;&lt;mtext&gt;&lt;/mtext&gt;&lt;mo&gt;≈&lt;/mo&gt;&lt;mtext&gt;&lt;/mtext&gt;&lt;mn&gt;270&lt;/mn&gt;&lt;mtext&gt;&lt;/mtext&gt;&lt;mo&gt;×&lt;/mo&gt;&lt;mtext&gt;&lt;/mtext&gt;&lt;mn&gt;10&lt;/mn&gt;&lt;/mtd&gt;&lt;/mtr&gt;&lt;mtr&gt;&lt;mtd&gt;&lt;mn&gt;272.56&lt;/mn&gt;&lt;mtext&gt;&lt;/mtext&gt;&lt;mo&gt;×&lt;/mo&gt;&lt;mn&gt;8.769&lt;/mn&gt;&lt;mtext&gt;&lt;/mtext&gt;&lt;mo&gt;≈&lt;/mo&gt;&lt;mtext&gt;&lt;/mtext&gt;&lt;mn&gt;250&lt;/mn&gt;&lt;mtext&gt;&lt;/mtext&gt;&lt;mo&gt;×&lt;/mo&gt;&lt;mtext&gt;&lt;/mtext&gt;&lt;mn&gt;10&lt;/mn&gt;&lt;/mtd&gt;&lt;/mtr&gt;&lt;/mtable&gt;&lt;/math&gt;" id="1610" name="Google Shape;1610;p137" title="3 lines Line 1: 272.56 times 8.769 almost equals 300 times 10 Line 2: 272.56 times 8.769 almost equals 270 times 10 Line 3: 272.56 times 8.769 almost equals 250 times 10"/>
          <p:cNvPicPr preferRelativeResize="0"/>
          <p:nvPr/>
        </p:nvPicPr>
        <p:blipFill rotWithShape="1">
          <a:blip r:embed="rId6">
            <a:alphaModFix/>
          </a:blip>
          <a:srcRect b="0" l="55640" r="0" t="0"/>
          <a:stretch/>
        </p:blipFill>
        <p:spPr>
          <a:xfrm>
            <a:off x="3503049" y="2243325"/>
            <a:ext cx="1917300" cy="12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7"/>
          <p:cNvSpPr txBox="1"/>
          <p:nvPr/>
        </p:nvSpPr>
        <p:spPr>
          <a:xfrm>
            <a:off x="256700" y="3675300"/>
            <a:ext cx="5842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Estimation gives a rough answer. The more significant figures we round to, the more accurate the estimation.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7"/>
          <p:cNvSpPr txBox="1"/>
          <p:nvPr>
            <p:ph idx="1" type="body"/>
          </p:nvPr>
        </p:nvSpPr>
        <p:spPr>
          <a:xfrm>
            <a:off x="324000" y="683100"/>
            <a:ext cx="82377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estimation gives an approximate answer, there is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more than one estimate.</a:t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37"/>
          <p:cNvSpPr/>
          <p:nvPr/>
        </p:nvSpPr>
        <p:spPr>
          <a:xfrm>
            <a:off x="2748188" y="1507813"/>
            <a:ext cx="3365400" cy="55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614" name="Google Shape;1614;p137" title="272.56 times 9.7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58775" y="1599700"/>
            <a:ext cx="3144225" cy="36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615" name="Google Shape;1615;p137" title="272.56 times 9.7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838" y="2260410"/>
            <a:ext cx="2421258" cy="28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616" name="Google Shape;1616;p137" title="272.56 times 9.7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838" y="2742960"/>
            <a:ext cx="2421258" cy="28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2.56\ \times9.769&quot;&gt;&lt;mn&gt;272.56&lt;/mn&gt;&lt;mtext&gt;&lt;/mtext&gt;&lt;mo&gt;×&lt;/mo&gt;&lt;mn&gt;9.769&lt;/mn&gt;&lt;/math&gt;" id="1617" name="Google Shape;1617;p137" title="272.56 times 9.7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838" y="3217673"/>
            <a:ext cx="2421258" cy="2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38"/>
          <p:cNvSpPr txBox="1"/>
          <p:nvPr>
            <p:ph idx="1" type="body"/>
          </p:nvPr>
        </p:nvSpPr>
        <p:spPr>
          <a:xfrm>
            <a:off x="344053" y="759300"/>
            <a:ext cx="8237700" cy="12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Knowing how to round so to estimate and </a:t>
            </a:r>
            <a:r>
              <a:rPr lang="en-GB"/>
              <a:t>knowing which sensible units to use </a:t>
            </a:r>
            <a:r>
              <a:rPr lang="en-GB"/>
              <a:t>is as equally important as knowing which operation to apply given the context of the question. </a:t>
            </a:r>
            <a:endParaRPr/>
          </a:p>
        </p:txBody>
      </p:sp>
      <p:sp>
        <p:nvSpPr>
          <p:cNvPr id="1623" name="Google Shape;1623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624" name="Google Shape;1624;p138"/>
          <p:cNvSpPr txBox="1"/>
          <p:nvPr>
            <p:ph idx="1" type="body"/>
          </p:nvPr>
        </p:nvSpPr>
        <p:spPr>
          <a:xfrm>
            <a:off x="344053" y="2117400"/>
            <a:ext cx="8237700" cy="24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 which operation do we tend to use when calculating: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Area of a 2D shape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Perimeter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Difference between values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How many times a number fits into another number?</a:t>
            </a:r>
            <a:endParaRPr/>
          </a:p>
        </p:txBody>
      </p:sp>
      <p:sp>
        <p:nvSpPr>
          <p:cNvPr id="1625" name="Google Shape;1625;p138"/>
          <p:cNvSpPr txBox="1"/>
          <p:nvPr/>
        </p:nvSpPr>
        <p:spPr>
          <a:xfrm>
            <a:off x="3508203" y="2967025"/>
            <a:ext cx="2391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Multiplication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6" name="Google Shape;1626;p138"/>
          <p:cNvSpPr txBox="1"/>
          <p:nvPr/>
        </p:nvSpPr>
        <p:spPr>
          <a:xfrm>
            <a:off x="2073503" y="3307550"/>
            <a:ext cx="2391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Addition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7" name="Google Shape;1627;p138"/>
          <p:cNvSpPr txBox="1"/>
          <p:nvPr/>
        </p:nvSpPr>
        <p:spPr>
          <a:xfrm>
            <a:off x="4444450" y="3729350"/>
            <a:ext cx="2391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Subtraction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8" name="Google Shape;1628;p138"/>
          <p:cNvSpPr txBox="1"/>
          <p:nvPr/>
        </p:nvSpPr>
        <p:spPr>
          <a:xfrm>
            <a:off x="720253" y="4398600"/>
            <a:ext cx="2391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Division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39"/>
          <p:cNvSpPr/>
          <p:nvPr/>
        </p:nvSpPr>
        <p:spPr>
          <a:xfrm>
            <a:off x="2905775" y="1912773"/>
            <a:ext cx="1818600" cy="77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9"/>
          <p:cNvSpPr/>
          <p:nvPr/>
        </p:nvSpPr>
        <p:spPr>
          <a:xfrm>
            <a:off x="5907825" y="1897948"/>
            <a:ext cx="1782000" cy="75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39"/>
          <p:cNvSpPr txBox="1"/>
          <p:nvPr>
            <p:ph idx="1" type="body"/>
          </p:nvPr>
        </p:nvSpPr>
        <p:spPr>
          <a:xfrm>
            <a:off x="324000" y="759300"/>
            <a:ext cx="8237700" cy="9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 following is a sensible measurement for the lengths of an average house?</a:t>
            </a:r>
            <a:endParaRPr sz="1800"/>
          </a:p>
        </p:txBody>
      </p:sp>
      <p:sp>
        <p:nvSpPr>
          <p:cNvPr id="1636" name="Google Shape;1636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pic>
        <p:nvPicPr>
          <p:cNvPr id="1637" name="Google Shape;1637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75" y="1496425"/>
            <a:ext cx="1781855" cy="1271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8" name="Google Shape;1638;p139"/>
          <p:cNvCxnSpPr/>
          <p:nvPr/>
        </p:nvCxnSpPr>
        <p:spPr>
          <a:xfrm flipH="1" rot="10800000">
            <a:off x="1263986" y="2607041"/>
            <a:ext cx="573600" cy="14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9" name="Google Shape;1639;p139"/>
          <p:cNvCxnSpPr>
            <a:endCxn id="1637" idx="2"/>
          </p:cNvCxnSpPr>
          <p:nvPr/>
        </p:nvCxnSpPr>
        <p:spPr>
          <a:xfrm>
            <a:off x="576103" y="2686594"/>
            <a:ext cx="582000" cy="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0" name="Google Shape;1640;p139"/>
          <p:cNvSpPr txBox="1"/>
          <p:nvPr/>
        </p:nvSpPr>
        <p:spPr>
          <a:xfrm>
            <a:off x="428926" y="2748341"/>
            <a:ext cx="87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9"/>
          <p:cNvSpPr txBox="1"/>
          <p:nvPr/>
        </p:nvSpPr>
        <p:spPr>
          <a:xfrm>
            <a:off x="1466917" y="2645518"/>
            <a:ext cx="87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9"/>
          <p:cNvSpPr txBox="1"/>
          <p:nvPr/>
        </p:nvSpPr>
        <p:spPr>
          <a:xfrm>
            <a:off x="5907825" y="1867938"/>
            <a:ext cx="2382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: 8.44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:  5.96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9"/>
          <p:cNvSpPr txBox="1"/>
          <p:nvPr/>
        </p:nvSpPr>
        <p:spPr>
          <a:xfrm>
            <a:off x="5907825" y="1115425"/>
            <a:ext cx="2382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: 0.844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:  0.896 km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9"/>
          <p:cNvSpPr txBox="1"/>
          <p:nvPr/>
        </p:nvSpPr>
        <p:spPr>
          <a:xfrm>
            <a:off x="2887200" y="1940513"/>
            <a:ext cx="2382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: 844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:  596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9"/>
          <p:cNvSpPr txBox="1"/>
          <p:nvPr/>
        </p:nvSpPr>
        <p:spPr>
          <a:xfrm>
            <a:off x="2831525" y="1115425"/>
            <a:ext cx="2382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: 844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:  596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9"/>
          <p:cNvSpPr txBox="1"/>
          <p:nvPr>
            <p:ph idx="1" type="body"/>
          </p:nvPr>
        </p:nvSpPr>
        <p:spPr>
          <a:xfrm>
            <a:off x="324000" y="3210300"/>
            <a:ext cx="8237700" cy="9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this, can you calculate an estimate for the area of the floor of the house?</a:t>
            </a:r>
            <a:endParaRPr sz="1800"/>
          </a:p>
        </p:txBody>
      </p:sp>
      <p:sp>
        <p:nvSpPr>
          <p:cNvPr id="1647" name="Google Shape;1647;p139"/>
          <p:cNvSpPr txBox="1"/>
          <p:nvPr/>
        </p:nvSpPr>
        <p:spPr>
          <a:xfrm>
            <a:off x="1263975" y="3611850"/>
            <a:ext cx="3551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floor     800 × 600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648" name="Google Shape;1648;p139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450" y="3773624"/>
            <a:ext cx="187750" cy="148913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139"/>
          <p:cNvSpPr txBox="1"/>
          <p:nvPr/>
        </p:nvSpPr>
        <p:spPr>
          <a:xfrm>
            <a:off x="2942850" y="387193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480 000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baseline="30000" sz="1800"/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650" name="Google Shape;1650;p139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450" y="4028331"/>
            <a:ext cx="187750" cy="1489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139"/>
          <p:cNvSpPr txBox="1"/>
          <p:nvPr/>
        </p:nvSpPr>
        <p:spPr>
          <a:xfrm>
            <a:off x="4823990" y="3611860"/>
            <a:ext cx="3551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floor     8 × 6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2" name="Google Shape;1652;p139"/>
          <p:cNvSpPr txBox="1"/>
          <p:nvPr/>
        </p:nvSpPr>
        <p:spPr>
          <a:xfrm>
            <a:off x="6500743" y="3864300"/>
            <a:ext cx="10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 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baseline="30000" sz="1800"/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653" name="Google Shape;1653;p139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3000" y="3760737"/>
            <a:ext cx="187750" cy="148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1654" name="Google Shape;1654;p139" title="almost equal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3000" y="4015444"/>
            <a:ext cx="187750" cy="14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40"/>
          <p:cNvSpPr txBox="1"/>
          <p:nvPr>
            <p:ph idx="1" type="body"/>
          </p:nvPr>
        </p:nvSpPr>
        <p:spPr>
          <a:xfrm>
            <a:off x="324000" y="759300"/>
            <a:ext cx="8237700" cy="15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book shop needs to buy the latest Maths Puzzle books. Each book costs £6.89. The book shop only has £279.45 to spend on these puzzle books. Estimate how many books the book shop can buy. Make sure to show your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660" name="Google Shape;1660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661" name="Google Shape;1661;p140"/>
          <p:cNvSpPr txBox="1"/>
          <p:nvPr/>
        </p:nvSpPr>
        <p:spPr>
          <a:xfrm>
            <a:off x="324000" y="289680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279.45 ÷ 6.89 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2" name="Google Shape;1662;p140"/>
          <p:cNvSpPr txBox="1"/>
          <p:nvPr/>
        </p:nvSpPr>
        <p:spPr>
          <a:xfrm>
            <a:off x="2445400" y="289680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3" name="Google Shape;1663;p140"/>
          <p:cNvSpPr txBox="1"/>
          <p:nvPr/>
        </p:nvSpPr>
        <p:spPr>
          <a:xfrm>
            <a:off x="2445400" y="335400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 books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664" name="Google Shape;1664;p14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598" y="3073451"/>
            <a:ext cx="231800" cy="18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1665" name="Google Shape;1665;p14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598" y="3513176"/>
            <a:ext cx="231800" cy="183846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40"/>
          <p:cNvSpPr txBox="1"/>
          <p:nvPr/>
        </p:nvSpPr>
        <p:spPr>
          <a:xfrm>
            <a:off x="247800" y="2418850"/>
            <a:ext cx="3232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may have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chosen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7" name="Google Shape;1667;p140"/>
          <p:cNvSpPr txBox="1"/>
          <p:nvPr/>
        </p:nvSpPr>
        <p:spPr>
          <a:xfrm>
            <a:off x="4548600" y="291605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279.45 ÷ 6.89 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8" name="Google Shape;1668;p140"/>
          <p:cNvSpPr txBox="1"/>
          <p:nvPr/>
        </p:nvSpPr>
        <p:spPr>
          <a:xfrm>
            <a:off x="6670000" y="291605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10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9" name="Google Shape;1669;p140"/>
          <p:cNvSpPr txBox="1"/>
          <p:nvPr/>
        </p:nvSpPr>
        <p:spPr>
          <a:xfrm>
            <a:off x="6670000" y="3373250"/>
            <a:ext cx="20493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books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670" name="Google Shape;1670;p14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198" y="3092701"/>
            <a:ext cx="231800" cy="18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1671" name="Google Shape;1671;p140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198" y="3532426"/>
            <a:ext cx="231800" cy="183846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140"/>
          <p:cNvSpPr txBox="1"/>
          <p:nvPr/>
        </p:nvSpPr>
        <p:spPr>
          <a:xfrm>
            <a:off x="4472400" y="2438100"/>
            <a:ext cx="32322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may have chosen,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73" name="Google Shape;1673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333" y="357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4" name="Google Shape;1674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3208" y="357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40"/>
          <p:cNvSpPr txBox="1"/>
          <p:nvPr/>
        </p:nvSpPr>
        <p:spPr>
          <a:xfrm>
            <a:off x="324000" y="4038450"/>
            <a:ext cx="8237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Estimation gives a rough answer. The more significant figures we round to, the more accurate the estimation.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41"/>
          <p:cNvSpPr txBox="1"/>
          <p:nvPr>
            <p:ph idx="1" type="body"/>
          </p:nvPr>
        </p:nvSpPr>
        <p:spPr>
          <a:xfrm>
            <a:off x="3164450" y="759300"/>
            <a:ext cx="5397300" cy="280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Lucas bought some items in a shop and paid with a £10 note. The receipt was damaged and the total is not seen. He receives £2.12 change.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He quickly knew there is an error.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How did he know there was an error </a:t>
            </a:r>
            <a:r>
              <a:rPr lang="en-GB" sz="1900"/>
              <a:t>without</a:t>
            </a:r>
            <a:r>
              <a:rPr lang="en-GB" sz="1900"/>
              <a:t> calculating the exact change?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81" name="Google Shape;1681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682" name="Google Shape;1682;p141"/>
          <p:cNvSpPr/>
          <p:nvPr/>
        </p:nvSpPr>
        <p:spPr>
          <a:xfrm rot="5400000">
            <a:off x="-210950" y="1401575"/>
            <a:ext cx="3852575" cy="2596875"/>
          </a:xfrm>
          <a:prstGeom prst="flowChartPunchedTap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41"/>
          <p:cNvSpPr txBox="1"/>
          <p:nvPr/>
        </p:nvSpPr>
        <p:spPr>
          <a:xfrm>
            <a:off x="849663" y="759300"/>
            <a:ext cx="18318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Receipt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41"/>
          <p:cNvSpPr txBox="1"/>
          <p:nvPr/>
        </p:nvSpPr>
        <p:spPr>
          <a:xfrm>
            <a:off x="489725" y="1273350"/>
            <a:ext cx="1087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41"/>
          <p:cNvSpPr txBox="1"/>
          <p:nvPr/>
        </p:nvSpPr>
        <p:spPr>
          <a:xfrm>
            <a:off x="1684800" y="1273350"/>
            <a:ext cx="1087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41"/>
          <p:cNvSpPr txBox="1"/>
          <p:nvPr/>
        </p:nvSpPr>
        <p:spPr>
          <a:xfrm>
            <a:off x="570075" y="1639800"/>
            <a:ext cx="1991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           £2.12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1"/>
          <p:cNvSpPr txBox="1"/>
          <p:nvPr/>
        </p:nvSpPr>
        <p:spPr>
          <a:xfrm>
            <a:off x="677650" y="2105250"/>
            <a:ext cx="20946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£0.78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41"/>
          <p:cNvSpPr txBox="1"/>
          <p:nvPr/>
        </p:nvSpPr>
        <p:spPr>
          <a:xfrm>
            <a:off x="1020925" y="2570700"/>
            <a:ext cx="1991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41"/>
          <p:cNvSpPr txBox="1"/>
          <p:nvPr/>
        </p:nvSpPr>
        <p:spPr>
          <a:xfrm>
            <a:off x="1141050" y="3114900"/>
            <a:ext cx="18726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Crisps  £1.12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0" name="Google Shape;1690;p141"/>
          <p:cNvCxnSpPr/>
          <p:nvPr/>
        </p:nvCxnSpPr>
        <p:spPr>
          <a:xfrm>
            <a:off x="1918775" y="3678625"/>
            <a:ext cx="9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1" name="Google Shape;1691;p141"/>
          <p:cNvCxnSpPr/>
          <p:nvPr/>
        </p:nvCxnSpPr>
        <p:spPr>
          <a:xfrm>
            <a:off x="1918775" y="4162525"/>
            <a:ext cx="99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2" name="Google Shape;1692;p141"/>
          <p:cNvSpPr txBox="1"/>
          <p:nvPr/>
        </p:nvSpPr>
        <p:spPr>
          <a:xfrm>
            <a:off x="1020925" y="3713725"/>
            <a:ext cx="1087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41"/>
          <p:cNvSpPr/>
          <p:nvPr/>
        </p:nvSpPr>
        <p:spPr>
          <a:xfrm>
            <a:off x="1918775" y="3659100"/>
            <a:ext cx="923832" cy="613548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41"/>
          <p:cNvSpPr txBox="1"/>
          <p:nvPr>
            <p:ph idx="1" type="body"/>
          </p:nvPr>
        </p:nvSpPr>
        <p:spPr>
          <a:xfrm>
            <a:off x="3164450" y="3399450"/>
            <a:ext cx="5364900" cy="10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first two items are around £3 in total. The next two items are also around £3 in total. His bill will be around £6 so he should get close to £4 in change.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5" name="Google Shape;1695;p141"/>
          <p:cNvCxnSpPr/>
          <p:nvPr/>
        </p:nvCxnSpPr>
        <p:spPr>
          <a:xfrm flipH="1" rot="10800000">
            <a:off x="972975" y="1107150"/>
            <a:ext cx="813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141"/>
          <p:cNvCxnSpPr/>
          <p:nvPr/>
        </p:nvCxnSpPr>
        <p:spPr>
          <a:xfrm>
            <a:off x="605000" y="1623150"/>
            <a:ext cx="63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141"/>
          <p:cNvCxnSpPr/>
          <p:nvPr/>
        </p:nvCxnSpPr>
        <p:spPr>
          <a:xfrm flipH="1" rot="10800000">
            <a:off x="1799550" y="1621050"/>
            <a:ext cx="5556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 rectangle has dimensions 145 m by 18.4 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 sz="1800"/>
              <a:t>Which </a:t>
            </a:r>
            <a:r>
              <a:rPr lang="en-GB" sz="1800"/>
              <a:t>calculation</a:t>
            </a:r>
            <a:r>
              <a:rPr lang="en-GB" sz="1800"/>
              <a:t> would give a suitable estimate for the area of the rectangle? </a:t>
            </a:r>
            <a:r>
              <a:rPr lang="en-GB" sz="1800"/>
              <a:t>Explain</a:t>
            </a:r>
            <a:r>
              <a:rPr lang="en-GB" sz="1800"/>
              <a:t> why you think it is a suitable estimation.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150 × 18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150 × 20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100 × 20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d) 18 × 145</a:t>
            </a:r>
            <a:endParaRPr sz="1800"/>
          </a:p>
        </p:txBody>
      </p:sp>
      <p:sp>
        <p:nvSpPr>
          <p:cNvPr id="1703" name="Google Shape;1703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704" name="Google Shape;1704;p142"/>
          <p:cNvSpPr/>
          <p:nvPr/>
        </p:nvSpPr>
        <p:spPr>
          <a:xfrm>
            <a:off x="3354492" y="1561925"/>
            <a:ext cx="2917800" cy="55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42"/>
          <p:cNvSpPr txBox="1"/>
          <p:nvPr/>
        </p:nvSpPr>
        <p:spPr>
          <a:xfrm>
            <a:off x="4440967" y="1019820"/>
            <a:ext cx="1072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145 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2"/>
          <p:cNvSpPr txBox="1"/>
          <p:nvPr/>
        </p:nvSpPr>
        <p:spPr>
          <a:xfrm>
            <a:off x="2339142" y="1595303"/>
            <a:ext cx="1072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7" name="Google Shape;1707;p142"/>
          <p:cNvCxnSpPr/>
          <p:nvPr/>
        </p:nvCxnSpPr>
        <p:spPr>
          <a:xfrm rot="10800000">
            <a:off x="3224142" y="1561925"/>
            <a:ext cx="0" cy="55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8" name="Google Shape;1708;p142"/>
          <p:cNvCxnSpPr/>
          <p:nvPr/>
        </p:nvCxnSpPr>
        <p:spPr>
          <a:xfrm rot="10800000">
            <a:off x="3359592" y="1421550"/>
            <a:ext cx="290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50" y="2527500"/>
            <a:ext cx="2877149" cy="234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450" y="2483050"/>
            <a:ext cx="2731949" cy="234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716" name="Google Shape;1716;p143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3 damaged receipts. Each pupil pays with a £20.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Aisha gets £12.23 change. Jacob gets £</a:t>
            </a:r>
            <a:r>
              <a:rPr lang="en-GB"/>
              <a:t>6</a:t>
            </a:r>
            <a:r>
              <a:rPr lang="en-GB"/>
              <a:t>.89 change. Sam gets £9.11 change. Only using estimation, which student went to which shop?</a:t>
            </a:r>
            <a:endParaRPr/>
          </a:p>
        </p:txBody>
      </p:sp>
      <p:sp>
        <p:nvSpPr>
          <p:cNvPr id="1717" name="Google Shape;1717;p143"/>
          <p:cNvSpPr txBox="1"/>
          <p:nvPr/>
        </p:nvSpPr>
        <p:spPr>
          <a:xfrm>
            <a:off x="909925" y="2474600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A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3"/>
          <p:cNvSpPr txBox="1"/>
          <p:nvPr/>
        </p:nvSpPr>
        <p:spPr>
          <a:xfrm>
            <a:off x="459187" y="2844866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43"/>
          <p:cNvSpPr txBox="1"/>
          <p:nvPr/>
        </p:nvSpPr>
        <p:spPr>
          <a:xfrm>
            <a:off x="1654262" y="2844866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143"/>
          <p:cNvSpPr txBox="1"/>
          <p:nvPr/>
        </p:nvSpPr>
        <p:spPr>
          <a:xfrm>
            <a:off x="539538" y="3115763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£5.12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143"/>
          <p:cNvSpPr txBox="1"/>
          <p:nvPr/>
        </p:nvSpPr>
        <p:spPr>
          <a:xfrm>
            <a:off x="647113" y="3363058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£0.78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43"/>
          <p:cNvSpPr txBox="1"/>
          <p:nvPr/>
        </p:nvSpPr>
        <p:spPr>
          <a:xfrm>
            <a:off x="990388" y="3610353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43"/>
          <p:cNvSpPr txBox="1"/>
          <p:nvPr/>
        </p:nvSpPr>
        <p:spPr>
          <a:xfrm>
            <a:off x="1110513" y="389948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£3.10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4" name="Google Shape;1724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950" y="2483050"/>
            <a:ext cx="2731949" cy="234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43"/>
          <p:cNvSpPr txBox="1"/>
          <p:nvPr/>
        </p:nvSpPr>
        <p:spPr>
          <a:xfrm>
            <a:off x="3180887" y="2699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43"/>
          <p:cNvSpPr txBox="1"/>
          <p:nvPr/>
        </p:nvSpPr>
        <p:spPr>
          <a:xfrm>
            <a:off x="4375962" y="2699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43"/>
          <p:cNvSpPr txBox="1"/>
          <p:nvPr/>
        </p:nvSpPr>
        <p:spPr>
          <a:xfrm>
            <a:off x="3261238" y="297088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£1.02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43"/>
          <p:cNvSpPr txBox="1"/>
          <p:nvPr/>
        </p:nvSpPr>
        <p:spPr>
          <a:xfrm>
            <a:off x="3368813" y="3218183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Stamps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£7.83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43"/>
          <p:cNvSpPr txBox="1"/>
          <p:nvPr/>
        </p:nvSpPr>
        <p:spPr>
          <a:xfrm>
            <a:off x="3712088" y="346547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£2.99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43"/>
          <p:cNvSpPr txBox="1"/>
          <p:nvPr/>
        </p:nvSpPr>
        <p:spPr>
          <a:xfrm>
            <a:off x="3832213" y="3754613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Crisps  £1.27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3"/>
          <p:cNvSpPr txBox="1"/>
          <p:nvPr/>
        </p:nvSpPr>
        <p:spPr>
          <a:xfrm>
            <a:off x="5772462" y="26410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43"/>
          <p:cNvSpPr txBox="1"/>
          <p:nvPr/>
        </p:nvSpPr>
        <p:spPr>
          <a:xfrm>
            <a:off x="6967537" y="26410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43"/>
          <p:cNvSpPr txBox="1"/>
          <p:nvPr/>
        </p:nvSpPr>
        <p:spPr>
          <a:xfrm>
            <a:off x="5852813" y="291198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USB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£5.03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3"/>
          <p:cNvSpPr txBox="1"/>
          <p:nvPr/>
        </p:nvSpPr>
        <p:spPr>
          <a:xfrm>
            <a:off x="5960388" y="3159283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£0.28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43"/>
          <p:cNvSpPr txBox="1"/>
          <p:nvPr/>
        </p:nvSpPr>
        <p:spPr>
          <a:xfrm>
            <a:off x="6303663" y="340657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£0.91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3"/>
          <p:cNvSpPr txBox="1"/>
          <p:nvPr/>
        </p:nvSpPr>
        <p:spPr>
          <a:xfrm>
            <a:off x="6433788" y="3653851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£0.56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43"/>
          <p:cNvSpPr txBox="1"/>
          <p:nvPr/>
        </p:nvSpPr>
        <p:spPr>
          <a:xfrm>
            <a:off x="3736963" y="41151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3"/>
          <p:cNvSpPr txBox="1"/>
          <p:nvPr/>
        </p:nvSpPr>
        <p:spPr>
          <a:xfrm>
            <a:off x="3712100" y="2450788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3"/>
          <p:cNvSpPr txBox="1"/>
          <p:nvPr/>
        </p:nvSpPr>
        <p:spPr>
          <a:xfrm>
            <a:off x="6444200" y="2442838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C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3"/>
          <p:cNvSpPr txBox="1"/>
          <p:nvPr/>
        </p:nvSpPr>
        <p:spPr>
          <a:xfrm>
            <a:off x="6363413" y="413768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3"/>
          <p:cNvSpPr txBox="1"/>
          <p:nvPr/>
        </p:nvSpPr>
        <p:spPr>
          <a:xfrm>
            <a:off x="6444188" y="39011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Crisps  £0.99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2" name="Google Shape;1742;p143"/>
          <p:cNvCxnSpPr/>
          <p:nvPr/>
        </p:nvCxnSpPr>
        <p:spPr>
          <a:xfrm>
            <a:off x="3881025" y="4163075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143"/>
          <p:cNvCxnSpPr/>
          <p:nvPr/>
        </p:nvCxnSpPr>
        <p:spPr>
          <a:xfrm>
            <a:off x="6608100" y="4234250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143"/>
          <p:cNvSpPr txBox="1"/>
          <p:nvPr/>
        </p:nvSpPr>
        <p:spPr>
          <a:xfrm>
            <a:off x="990388" y="41886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5" name="Google Shape;1745;p143"/>
          <p:cNvCxnSpPr/>
          <p:nvPr/>
        </p:nvCxnSpPr>
        <p:spPr>
          <a:xfrm>
            <a:off x="1164700" y="4281875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143"/>
          <p:cNvCxnSpPr/>
          <p:nvPr/>
        </p:nvCxnSpPr>
        <p:spPr>
          <a:xfrm flipH="1" rot="10800000">
            <a:off x="1018875" y="2826975"/>
            <a:ext cx="813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143"/>
          <p:cNvCxnSpPr/>
          <p:nvPr/>
        </p:nvCxnSpPr>
        <p:spPr>
          <a:xfrm>
            <a:off x="560050" y="3188800"/>
            <a:ext cx="6498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143"/>
          <p:cNvCxnSpPr/>
          <p:nvPr/>
        </p:nvCxnSpPr>
        <p:spPr>
          <a:xfrm>
            <a:off x="1766800" y="3191050"/>
            <a:ext cx="5511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143"/>
          <p:cNvCxnSpPr/>
          <p:nvPr/>
        </p:nvCxnSpPr>
        <p:spPr>
          <a:xfrm flipH="1" rot="10800000">
            <a:off x="3850575" y="2785900"/>
            <a:ext cx="813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143"/>
          <p:cNvCxnSpPr/>
          <p:nvPr/>
        </p:nvCxnSpPr>
        <p:spPr>
          <a:xfrm>
            <a:off x="3293250" y="3054000"/>
            <a:ext cx="6531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143"/>
          <p:cNvCxnSpPr/>
          <p:nvPr/>
        </p:nvCxnSpPr>
        <p:spPr>
          <a:xfrm>
            <a:off x="4476775" y="3051650"/>
            <a:ext cx="5727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143"/>
          <p:cNvCxnSpPr/>
          <p:nvPr/>
        </p:nvCxnSpPr>
        <p:spPr>
          <a:xfrm flipH="1" rot="10800000">
            <a:off x="6559175" y="2785900"/>
            <a:ext cx="813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143"/>
          <p:cNvCxnSpPr/>
          <p:nvPr/>
        </p:nvCxnSpPr>
        <p:spPr>
          <a:xfrm>
            <a:off x="5875975" y="2992375"/>
            <a:ext cx="6612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143"/>
          <p:cNvCxnSpPr/>
          <p:nvPr/>
        </p:nvCxnSpPr>
        <p:spPr>
          <a:xfrm flipH="1" rot="10800000">
            <a:off x="7082975" y="2981200"/>
            <a:ext cx="5376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" name="Google Shape;1759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00" y="1938125"/>
            <a:ext cx="2877149" cy="282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761" name="Google Shape;1761;p144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r>
              <a:rPr lang="en-GB" sz="2000"/>
              <a:t>) Another </a:t>
            </a:r>
            <a:r>
              <a:rPr lang="en-GB" sz="2000"/>
              <a:t>receipt</a:t>
            </a:r>
            <a:r>
              <a:rPr lang="en-GB" sz="2000"/>
              <a:t> was damaged. Jun remembers paying with a £50 note and receiving about £3 back in change. Estimate how much the board game was. You must show your working out.</a:t>
            </a:r>
            <a:endParaRPr sz="2000"/>
          </a:p>
        </p:txBody>
      </p:sp>
      <p:sp>
        <p:nvSpPr>
          <p:cNvPr id="1762" name="Google Shape;1762;p144"/>
          <p:cNvSpPr txBox="1"/>
          <p:nvPr/>
        </p:nvSpPr>
        <p:spPr>
          <a:xfrm>
            <a:off x="527537" y="1887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4"/>
          <p:cNvSpPr txBox="1"/>
          <p:nvPr/>
        </p:nvSpPr>
        <p:spPr>
          <a:xfrm>
            <a:off x="1722612" y="1887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44"/>
          <p:cNvSpPr txBox="1"/>
          <p:nvPr/>
        </p:nvSpPr>
        <p:spPr>
          <a:xfrm>
            <a:off x="527513" y="2421664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          £8.12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44"/>
          <p:cNvSpPr txBox="1"/>
          <p:nvPr/>
        </p:nvSpPr>
        <p:spPr>
          <a:xfrm>
            <a:off x="637488" y="2692584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£0.94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44"/>
          <p:cNvSpPr txBox="1"/>
          <p:nvPr/>
        </p:nvSpPr>
        <p:spPr>
          <a:xfrm>
            <a:off x="766913" y="2937179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44"/>
          <p:cNvSpPr txBox="1"/>
          <p:nvPr/>
        </p:nvSpPr>
        <p:spPr>
          <a:xfrm>
            <a:off x="902663" y="3227827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   £4.50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44"/>
          <p:cNvSpPr txBox="1"/>
          <p:nvPr/>
        </p:nvSpPr>
        <p:spPr>
          <a:xfrm>
            <a:off x="1014588" y="4040413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44"/>
          <p:cNvSpPr txBox="1"/>
          <p:nvPr/>
        </p:nvSpPr>
        <p:spPr>
          <a:xfrm>
            <a:off x="851402" y="3767939"/>
            <a:ext cx="2199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B. Game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44"/>
          <p:cNvSpPr txBox="1"/>
          <p:nvPr/>
        </p:nvSpPr>
        <p:spPr>
          <a:xfrm>
            <a:off x="1108588" y="3495452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USB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£8.59 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44"/>
          <p:cNvSpPr txBox="1"/>
          <p:nvPr/>
        </p:nvSpPr>
        <p:spPr>
          <a:xfrm>
            <a:off x="467713" y="2154839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Stamps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£5.31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2" name="Google Shape;1772;p144"/>
          <p:cNvCxnSpPr/>
          <p:nvPr/>
        </p:nvCxnSpPr>
        <p:spPr>
          <a:xfrm>
            <a:off x="637500" y="2221525"/>
            <a:ext cx="6351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3" name="Google Shape;1773;p144"/>
          <p:cNvCxnSpPr/>
          <p:nvPr/>
        </p:nvCxnSpPr>
        <p:spPr>
          <a:xfrm>
            <a:off x="1824325" y="2219288"/>
            <a:ext cx="6351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 rectangle has dimensions 145 m by 18.4 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 sz="1800"/>
              <a:t>Which calculation would give a suitable estimate for the area of the rectangle? Explain why you think it is a suitable estimation.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150 × 18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150 × 20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100 × 20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18 × 145</a:t>
            </a:r>
            <a:endParaRPr sz="1800"/>
          </a:p>
        </p:txBody>
      </p:sp>
      <p:sp>
        <p:nvSpPr>
          <p:cNvPr id="1779" name="Google Shape;1779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780" name="Google Shape;1780;p145"/>
          <p:cNvSpPr/>
          <p:nvPr/>
        </p:nvSpPr>
        <p:spPr>
          <a:xfrm>
            <a:off x="3354492" y="1561925"/>
            <a:ext cx="2917800" cy="55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45"/>
          <p:cNvSpPr txBox="1"/>
          <p:nvPr/>
        </p:nvSpPr>
        <p:spPr>
          <a:xfrm>
            <a:off x="4440967" y="1019820"/>
            <a:ext cx="1072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145 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45"/>
          <p:cNvSpPr txBox="1"/>
          <p:nvPr/>
        </p:nvSpPr>
        <p:spPr>
          <a:xfrm>
            <a:off x="2339142" y="1595303"/>
            <a:ext cx="1072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 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3" name="Google Shape;1783;p145"/>
          <p:cNvCxnSpPr/>
          <p:nvPr/>
        </p:nvCxnSpPr>
        <p:spPr>
          <a:xfrm rot="10800000">
            <a:off x="3224142" y="1561925"/>
            <a:ext cx="0" cy="55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4" name="Google Shape;1784;p145"/>
          <p:cNvCxnSpPr/>
          <p:nvPr/>
        </p:nvCxnSpPr>
        <p:spPr>
          <a:xfrm rot="10800000">
            <a:off x="3359592" y="1421550"/>
            <a:ext cx="290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5" name="Google Shape;1785;p145"/>
          <p:cNvSpPr txBox="1"/>
          <p:nvPr/>
        </p:nvSpPr>
        <p:spPr>
          <a:xfrm>
            <a:off x="1580167" y="2801084"/>
            <a:ext cx="7025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2 s.f.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6" name="Google Shape;1786;p145"/>
          <p:cNvSpPr txBox="1"/>
          <p:nvPr/>
        </p:nvSpPr>
        <p:spPr>
          <a:xfrm>
            <a:off x="1580167" y="3184909"/>
            <a:ext cx="7025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the nearest 10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7" name="Google Shape;1787;p145"/>
          <p:cNvSpPr txBox="1"/>
          <p:nvPr/>
        </p:nvSpPr>
        <p:spPr>
          <a:xfrm>
            <a:off x="1580167" y="3794509"/>
            <a:ext cx="7371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1 s.f.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8" name="Google Shape;1788;p145"/>
          <p:cNvSpPr txBox="1"/>
          <p:nvPr/>
        </p:nvSpPr>
        <p:spPr>
          <a:xfrm>
            <a:off x="1580167" y="4186934"/>
            <a:ext cx="7371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suitable because each number has been rounded to the nearest integer.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794" name="Google Shape;1794;p146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3 damaged receipts. Each pupil pays with a £20.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Aisha gets £12.23 change. Jacob gets £6.89 change. Sam gets £9.11 change. Only using estimation, which student went to which shop?</a:t>
            </a:r>
            <a:endParaRPr/>
          </a:p>
        </p:txBody>
      </p:sp>
      <p:sp>
        <p:nvSpPr>
          <p:cNvPr id="1795" name="Google Shape;1795;p146"/>
          <p:cNvSpPr txBox="1"/>
          <p:nvPr/>
        </p:nvSpPr>
        <p:spPr>
          <a:xfrm>
            <a:off x="3751875" y="2527500"/>
            <a:ext cx="45828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£5 + £1 + £2 + £3 = £11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Approximate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change expected £9.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 went to Shop 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96" name="Google Shape;1796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50" y="2527500"/>
            <a:ext cx="2877149" cy="234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46"/>
          <p:cNvSpPr txBox="1"/>
          <p:nvPr/>
        </p:nvSpPr>
        <p:spPr>
          <a:xfrm>
            <a:off x="909925" y="2474600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A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46"/>
          <p:cNvSpPr txBox="1"/>
          <p:nvPr/>
        </p:nvSpPr>
        <p:spPr>
          <a:xfrm>
            <a:off x="459187" y="2844866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46"/>
          <p:cNvSpPr txBox="1"/>
          <p:nvPr/>
        </p:nvSpPr>
        <p:spPr>
          <a:xfrm>
            <a:off x="1654262" y="2844866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46"/>
          <p:cNvSpPr txBox="1"/>
          <p:nvPr/>
        </p:nvSpPr>
        <p:spPr>
          <a:xfrm>
            <a:off x="539538" y="3115763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          £5.12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46"/>
          <p:cNvSpPr txBox="1"/>
          <p:nvPr/>
        </p:nvSpPr>
        <p:spPr>
          <a:xfrm>
            <a:off x="647113" y="3363058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£0.78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46"/>
          <p:cNvSpPr txBox="1"/>
          <p:nvPr/>
        </p:nvSpPr>
        <p:spPr>
          <a:xfrm>
            <a:off x="990388" y="3610353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46"/>
          <p:cNvSpPr txBox="1"/>
          <p:nvPr/>
        </p:nvSpPr>
        <p:spPr>
          <a:xfrm>
            <a:off x="1110513" y="389948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   £3.10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6"/>
          <p:cNvSpPr txBox="1"/>
          <p:nvPr/>
        </p:nvSpPr>
        <p:spPr>
          <a:xfrm>
            <a:off x="990388" y="41886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5" name="Google Shape;1805;p146"/>
          <p:cNvCxnSpPr/>
          <p:nvPr/>
        </p:nvCxnSpPr>
        <p:spPr>
          <a:xfrm>
            <a:off x="1164700" y="4281875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6" name="Google Shape;1806;p146"/>
          <p:cNvCxnSpPr/>
          <p:nvPr/>
        </p:nvCxnSpPr>
        <p:spPr>
          <a:xfrm>
            <a:off x="990400" y="2822750"/>
            <a:ext cx="8364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7" name="Google Shape;1807;p146"/>
          <p:cNvCxnSpPr/>
          <p:nvPr/>
        </p:nvCxnSpPr>
        <p:spPr>
          <a:xfrm flipH="1" rot="10800000">
            <a:off x="1779800" y="3189250"/>
            <a:ext cx="5325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146"/>
          <p:cNvCxnSpPr/>
          <p:nvPr/>
        </p:nvCxnSpPr>
        <p:spPr>
          <a:xfrm>
            <a:off x="553975" y="3191650"/>
            <a:ext cx="6705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3" name="Google Shape;1813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450" y="2483050"/>
            <a:ext cx="2731949" cy="234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815" name="Google Shape;1815;p147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3 damaged receipts. Each pupil pays with a £20.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Aisha gets £12.23 change. Jacob gets £6.89 change. Sam gets £9.11 change. Only using estimation, which student went to which shop?</a:t>
            </a:r>
            <a:endParaRPr/>
          </a:p>
        </p:txBody>
      </p:sp>
      <p:sp>
        <p:nvSpPr>
          <p:cNvPr id="1816" name="Google Shape;1816;p147"/>
          <p:cNvSpPr txBox="1"/>
          <p:nvPr/>
        </p:nvSpPr>
        <p:spPr>
          <a:xfrm>
            <a:off x="3180887" y="2699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47"/>
          <p:cNvSpPr txBox="1"/>
          <p:nvPr/>
        </p:nvSpPr>
        <p:spPr>
          <a:xfrm>
            <a:off x="4375962" y="2699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47"/>
          <p:cNvSpPr txBox="1"/>
          <p:nvPr/>
        </p:nvSpPr>
        <p:spPr>
          <a:xfrm>
            <a:off x="3261238" y="297088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£1.02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47"/>
          <p:cNvSpPr txBox="1"/>
          <p:nvPr/>
        </p:nvSpPr>
        <p:spPr>
          <a:xfrm>
            <a:off x="3368813" y="3218183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Stamps   £7.83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47"/>
          <p:cNvSpPr txBox="1"/>
          <p:nvPr/>
        </p:nvSpPr>
        <p:spPr>
          <a:xfrm>
            <a:off x="3712088" y="346547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  £2.99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47"/>
          <p:cNvSpPr txBox="1"/>
          <p:nvPr/>
        </p:nvSpPr>
        <p:spPr>
          <a:xfrm>
            <a:off x="3832213" y="3754613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Crisps  £1.27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47"/>
          <p:cNvSpPr txBox="1"/>
          <p:nvPr/>
        </p:nvSpPr>
        <p:spPr>
          <a:xfrm>
            <a:off x="3736963" y="41151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47"/>
          <p:cNvSpPr txBox="1"/>
          <p:nvPr/>
        </p:nvSpPr>
        <p:spPr>
          <a:xfrm>
            <a:off x="3712100" y="2450788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4" name="Google Shape;1824;p147"/>
          <p:cNvCxnSpPr/>
          <p:nvPr/>
        </p:nvCxnSpPr>
        <p:spPr>
          <a:xfrm>
            <a:off x="3881025" y="4163075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5" name="Google Shape;1825;p147"/>
          <p:cNvSpPr txBox="1"/>
          <p:nvPr/>
        </p:nvSpPr>
        <p:spPr>
          <a:xfrm>
            <a:off x="324000" y="2700000"/>
            <a:ext cx="2856900" cy="20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£1 + £8 + £3 + £1 = £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Approximate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change expected £7.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Jacob went to Shop B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26" name="Google Shape;1826;p147"/>
          <p:cNvCxnSpPr/>
          <p:nvPr/>
        </p:nvCxnSpPr>
        <p:spPr>
          <a:xfrm>
            <a:off x="3791875" y="2785900"/>
            <a:ext cx="8364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7" name="Google Shape;1827;p147"/>
          <p:cNvCxnSpPr/>
          <p:nvPr/>
        </p:nvCxnSpPr>
        <p:spPr>
          <a:xfrm flipH="1" rot="10800000">
            <a:off x="3306425" y="3050700"/>
            <a:ext cx="6252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8" name="Google Shape;1828;p147"/>
          <p:cNvCxnSpPr/>
          <p:nvPr/>
        </p:nvCxnSpPr>
        <p:spPr>
          <a:xfrm>
            <a:off x="4496600" y="3038275"/>
            <a:ext cx="5400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834" name="Google Shape;1834;p148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3 damaged receipts. Each pupil pays with a £20.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Aisha gets £12.23 change. Jacob gets £6.89 change. Sam gets £9.11 change. Only using estimation, which student went to which shop?</a:t>
            </a:r>
            <a:endParaRPr/>
          </a:p>
        </p:txBody>
      </p:sp>
      <p:pic>
        <p:nvPicPr>
          <p:cNvPr id="1835" name="Google Shape;183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950" y="2483050"/>
            <a:ext cx="2731949" cy="234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48"/>
          <p:cNvSpPr txBox="1"/>
          <p:nvPr/>
        </p:nvSpPr>
        <p:spPr>
          <a:xfrm>
            <a:off x="5772462" y="26410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48"/>
          <p:cNvSpPr txBox="1"/>
          <p:nvPr/>
        </p:nvSpPr>
        <p:spPr>
          <a:xfrm>
            <a:off x="6967537" y="26410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48"/>
          <p:cNvSpPr txBox="1"/>
          <p:nvPr/>
        </p:nvSpPr>
        <p:spPr>
          <a:xfrm>
            <a:off x="5852813" y="291198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USB          £5.03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48"/>
          <p:cNvSpPr txBox="1"/>
          <p:nvPr/>
        </p:nvSpPr>
        <p:spPr>
          <a:xfrm>
            <a:off x="5960388" y="3159283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     £0.28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48"/>
          <p:cNvSpPr txBox="1"/>
          <p:nvPr/>
        </p:nvSpPr>
        <p:spPr>
          <a:xfrm>
            <a:off x="6303663" y="3406578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Pens   £0.91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48"/>
          <p:cNvSpPr txBox="1"/>
          <p:nvPr/>
        </p:nvSpPr>
        <p:spPr>
          <a:xfrm>
            <a:off x="6433788" y="3653851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£0.56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8"/>
          <p:cNvSpPr txBox="1"/>
          <p:nvPr/>
        </p:nvSpPr>
        <p:spPr>
          <a:xfrm>
            <a:off x="6444200" y="2442838"/>
            <a:ext cx="1831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Shop C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48"/>
          <p:cNvSpPr txBox="1"/>
          <p:nvPr/>
        </p:nvSpPr>
        <p:spPr>
          <a:xfrm>
            <a:off x="6363413" y="413768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48"/>
          <p:cNvSpPr txBox="1"/>
          <p:nvPr/>
        </p:nvSpPr>
        <p:spPr>
          <a:xfrm>
            <a:off x="6444188" y="3901138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Crisps  £0.99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5" name="Google Shape;1845;p148"/>
          <p:cNvCxnSpPr/>
          <p:nvPr/>
        </p:nvCxnSpPr>
        <p:spPr>
          <a:xfrm>
            <a:off x="6608100" y="4234250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6" name="Google Shape;1846;p148"/>
          <p:cNvSpPr txBox="1"/>
          <p:nvPr/>
        </p:nvSpPr>
        <p:spPr>
          <a:xfrm>
            <a:off x="1021500" y="2901600"/>
            <a:ext cx="46962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£5 + £0.30 + £1 + £0.50 + £1 = £7.80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Approximate change expected £12.20.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went to Shop C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47" name="Google Shape;1847;p148"/>
          <p:cNvCxnSpPr>
            <a:endCxn id="1842" idx="2"/>
          </p:cNvCxnSpPr>
          <p:nvPr/>
        </p:nvCxnSpPr>
        <p:spPr>
          <a:xfrm flipH="1" rot="10800000">
            <a:off x="6554900" y="2777938"/>
            <a:ext cx="8052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148"/>
          <p:cNvCxnSpPr/>
          <p:nvPr/>
        </p:nvCxnSpPr>
        <p:spPr>
          <a:xfrm>
            <a:off x="5885175" y="2992375"/>
            <a:ext cx="6468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148"/>
          <p:cNvCxnSpPr/>
          <p:nvPr/>
        </p:nvCxnSpPr>
        <p:spPr>
          <a:xfrm flipH="1" rot="10800000">
            <a:off x="7093225" y="2991625"/>
            <a:ext cx="5505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4" name="Google Shape;1854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00" y="1938125"/>
            <a:ext cx="2877149" cy="282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856" name="Google Shape;1856;p149"/>
          <p:cNvSpPr txBox="1"/>
          <p:nvPr>
            <p:ph idx="4294967295" type="body"/>
          </p:nvPr>
        </p:nvSpPr>
        <p:spPr>
          <a:xfrm>
            <a:off x="324000" y="759300"/>
            <a:ext cx="82377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Another receipt was damaged. Jun remembers paying with a £50 note and receiving about £3 back in change. Estimate how much the board game was. You must show your working out.</a:t>
            </a:r>
            <a:endParaRPr sz="2000"/>
          </a:p>
        </p:txBody>
      </p:sp>
      <p:sp>
        <p:nvSpPr>
          <p:cNvPr id="1857" name="Google Shape;1857;p149"/>
          <p:cNvSpPr txBox="1"/>
          <p:nvPr/>
        </p:nvSpPr>
        <p:spPr>
          <a:xfrm>
            <a:off x="527537" y="1887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49"/>
          <p:cNvSpPr txBox="1"/>
          <p:nvPr/>
        </p:nvSpPr>
        <p:spPr>
          <a:xfrm>
            <a:off x="1722612" y="1887991"/>
            <a:ext cx="1087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9"/>
          <p:cNvSpPr txBox="1"/>
          <p:nvPr/>
        </p:nvSpPr>
        <p:spPr>
          <a:xfrm>
            <a:off x="527513" y="2421664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          £8.12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9"/>
          <p:cNvSpPr txBox="1"/>
          <p:nvPr/>
        </p:nvSpPr>
        <p:spPr>
          <a:xfrm>
            <a:off x="637488" y="2692584"/>
            <a:ext cx="2094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Pencil      £0.94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9"/>
          <p:cNvSpPr txBox="1"/>
          <p:nvPr/>
        </p:nvSpPr>
        <p:spPr>
          <a:xfrm>
            <a:off x="766913" y="2937179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Ruler   £1.89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49"/>
          <p:cNvSpPr txBox="1"/>
          <p:nvPr/>
        </p:nvSpPr>
        <p:spPr>
          <a:xfrm>
            <a:off x="902663" y="3227827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Paper   £4.50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49"/>
          <p:cNvSpPr txBox="1"/>
          <p:nvPr/>
        </p:nvSpPr>
        <p:spPr>
          <a:xfrm>
            <a:off x="1014588" y="4040413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  tal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49"/>
          <p:cNvSpPr txBox="1"/>
          <p:nvPr/>
        </p:nvSpPr>
        <p:spPr>
          <a:xfrm>
            <a:off x="851402" y="3767939"/>
            <a:ext cx="2199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B. Game   £  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49"/>
          <p:cNvSpPr txBox="1"/>
          <p:nvPr/>
        </p:nvSpPr>
        <p:spPr>
          <a:xfrm>
            <a:off x="1108588" y="3495452"/>
            <a:ext cx="187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USB      £8.59 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49"/>
          <p:cNvSpPr txBox="1"/>
          <p:nvPr/>
        </p:nvSpPr>
        <p:spPr>
          <a:xfrm>
            <a:off x="467713" y="2154839"/>
            <a:ext cx="1991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Stamps   £5.31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49"/>
          <p:cNvSpPr txBox="1"/>
          <p:nvPr/>
        </p:nvSpPr>
        <p:spPr>
          <a:xfrm>
            <a:off x="3487725" y="2297725"/>
            <a:ext cx="46962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Estimating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£5 + £8 + £1 + £2 + £5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£9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£30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Given the change from £50 was £3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£50 - £33 = £17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board game was approximately £17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68" name="Google Shape;1868;p149"/>
          <p:cNvCxnSpPr/>
          <p:nvPr/>
        </p:nvCxnSpPr>
        <p:spPr>
          <a:xfrm flipH="1" rot="10800000">
            <a:off x="1722600" y="2220925"/>
            <a:ext cx="8052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149"/>
          <p:cNvCxnSpPr/>
          <p:nvPr/>
        </p:nvCxnSpPr>
        <p:spPr>
          <a:xfrm flipH="1" rot="10800000">
            <a:off x="562600" y="2220925"/>
            <a:ext cx="8052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5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answers</a:t>
            </a:r>
            <a:endParaRPr/>
          </a:p>
        </p:txBody>
      </p:sp>
      <p:sp>
        <p:nvSpPr>
          <p:cNvPr id="1875" name="Google Shape;1875;p15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sp>
        <p:nvSpPr>
          <p:cNvPr id="1876" name="Google Shape;1876;p15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  <p:pic>
        <p:nvPicPr>
          <p:cNvPr id="1877" name="Google Shape;187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59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sp>
        <p:nvSpPr>
          <p:cNvPr id="1883" name="Google Shape;1883;p151"/>
          <p:cNvSpPr txBox="1"/>
          <p:nvPr>
            <p:ph idx="1" type="body"/>
          </p:nvPr>
        </p:nvSpPr>
        <p:spPr>
          <a:xfrm>
            <a:off x="324000" y="835500"/>
            <a:ext cx="8237700" cy="16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 we are given answers to calculations and the answer just doesn’t seem correct.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 three pupils give an estimate to a calculation.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Immediately</a:t>
            </a:r>
            <a:r>
              <a:rPr lang="en-GB"/>
              <a:t>, the Oak teacher knows who is correct. Who is correct and how can it be seen so quickly?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21\ \times\frac{4}{7}\ \approx\ 150\ \ \ \ \ \ \ \ \ \ 121\ \times\frac{4}{7}\ \approx\ 65\ \ \ \ \ \ \ \ \ \ \ \ 121\ \times\frac{4}{7}\ \approx\ 45&quot;&gt;&lt;mn&gt;121&lt;/mn&gt;&lt;mtext&gt;&lt;/mtext&gt;&lt;mo&gt;×&lt;/mo&gt;&lt;mfrac&gt;&lt;mn&gt;4&lt;/mn&gt;&lt;mn&gt;7&lt;/mn&gt;&lt;/mfrac&gt;&lt;mtext&gt;&lt;/mtext&gt;&lt;mo&gt;≈&lt;/mo&gt;&lt;mtext&gt;&lt;/mtext&gt;&lt;mn&gt;15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65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45&lt;/mn&gt;&lt;/math&gt;" id="1884" name="Google Shape;1884;p151" title="121 times four sevenths almost equals 150 121 times four sevenths almost equals 65 121 times four sevenths almost equals 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500" y="3473250"/>
            <a:ext cx="747669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408" y="378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21\ \times\frac{4}{7}\ \approx\ 150\ \ \ \ \ \ \ \ \ \ 121\ \times\frac{4}{7}\ \approx\ 65\ \ \ \ \ \ \ \ \ \ \ \ 121\ \times\frac{4}{7}\ \approx\ 45&quot;&gt;&lt;mn&gt;121&lt;/mn&gt;&lt;mtext&gt;&lt;/mtext&gt;&lt;mo&gt;×&lt;/mo&gt;&lt;mfrac&gt;&lt;mn&gt;4&lt;/mn&gt;&lt;mn&gt;7&lt;/mn&gt;&lt;/mfrac&gt;&lt;mtext&gt;&lt;/mtext&gt;&lt;mo&gt;≈&lt;/mo&gt;&lt;mtext&gt;&lt;/mtext&gt;&lt;mn&gt;15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65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45&lt;/mn&gt;&lt;/math&gt;" id="1891" name="Google Shape;1891;p152" title="121 times four sevenths almost equals 150 121 times four sevenths almost equals 65 121 times four sevenths almost equals 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500" y="3473250"/>
            <a:ext cx="747669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8408" y="378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152"/>
          <p:cNvSpPr txBox="1"/>
          <p:nvPr/>
        </p:nvSpPr>
        <p:spPr>
          <a:xfrm>
            <a:off x="3640325" y="1249050"/>
            <a:ext cx="27465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is slightly more than a half, so we expect the answer to be slightly more than a half of 121.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4" name="Google Shape;1894;p152"/>
          <p:cNvSpPr txBox="1"/>
          <p:nvPr/>
        </p:nvSpPr>
        <p:spPr>
          <a:xfrm>
            <a:off x="444300" y="1243800"/>
            <a:ext cx="29253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cannot be 150 as this is more than 121. Any number multiplied by a number less than 1 will give a smaller value.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1\ \times\frac{4}{7}\ \approx\ 150\ \ \ \ \ \ \ \ \ \ 121\ \times\frac{4}{7}\ \approx\ 65\ \ \ \ \ \ \ \ \ \ \ \ 121\ \times\frac{4}{7}\ \approx\ 45&quot;&gt;&lt;mn&gt;121&lt;/mn&gt;&lt;mtext&gt;&lt;/mtext&gt;&lt;mo&gt;×&lt;/mo&gt;&lt;mfrac&gt;&lt;mn&gt;4&lt;/mn&gt;&lt;mn&gt;7&lt;/mn&gt;&lt;/mfrac&gt;&lt;mtext&gt;&lt;/mtext&gt;&lt;mo&gt;≈&lt;/mo&gt;&lt;mtext&gt;&lt;/mtext&gt;&lt;mn&gt;15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65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45&lt;/mn&gt;&lt;/math&gt;" id="1895" name="Google Shape;1895;p152" title="121 times four sevenths almost equals 150 121 times four sevenths almost equals 65 121 times four sevenths almost equals 45"/>
          <p:cNvPicPr preferRelativeResize="0"/>
          <p:nvPr/>
        </p:nvPicPr>
        <p:blipFill rotWithShape="1">
          <a:blip r:embed="rId3">
            <a:alphaModFix/>
          </a:blip>
          <a:srcRect b="0" l="47946" r="47493" t="0"/>
          <a:stretch/>
        </p:blipFill>
        <p:spPr>
          <a:xfrm>
            <a:off x="3719800" y="1149275"/>
            <a:ext cx="290750" cy="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6" name="Google Shape;1896;p152"/>
          <p:cNvSpPr txBox="1"/>
          <p:nvPr/>
        </p:nvSpPr>
        <p:spPr>
          <a:xfrm>
            <a:off x="6469750" y="1332163"/>
            <a:ext cx="27465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is slightly more than a half, so we expect the answer to be slightly more than 60.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1\ \times\frac{4}{7}\ \approx\ 150\ \ \ \ \ \ \ \ \ \ 121\ \times\frac{4}{7}\ \approx\ 65\ \ \ \ \ \ \ \ \ \ \ \ 121\ \times\frac{4}{7}\ \approx\ 45&quot;&gt;&lt;mn&gt;121&lt;/mn&gt;&lt;mtext&gt;&lt;/mtext&gt;&lt;mo&gt;×&lt;/mo&gt;&lt;mfrac&gt;&lt;mn&gt;4&lt;/mn&gt;&lt;mn&gt;7&lt;/mn&gt;&lt;/mfrac&gt;&lt;mtext&gt;&lt;/mtext&gt;&lt;mo&gt;≈&lt;/mo&gt;&lt;mtext&gt;&lt;/mtext&gt;&lt;mn&gt;15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65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121&lt;/mn&gt;&lt;mtext&gt;&lt;/mtext&gt;&lt;mo&gt;×&lt;/mo&gt;&lt;mfrac&gt;&lt;mn&gt;4&lt;/mn&gt;&lt;mn&gt;7&lt;/mn&gt;&lt;/mfrac&gt;&lt;mtext&gt;&lt;/mtext&gt;&lt;mo&gt;≈&lt;/mo&gt;&lt;mtext&gt;&lt;/mtext&gt;&lt;mn&gt;45&lt;/mn&gt;&lt;/math&gt;" id="1897" name="Google Shape;1897;p152" title="121 times four sevenths almost equals 150 121 times four sevenths almost equals 65 121 times four sevenths almost equals 45"/>
          <p:cNvPicPr preferRelativeResize="0"/>
          <p:nvPr/>
        </p:nvPicPr>
        <p:blipFill rotWithShape="1">
          <a:blip r:embed="rId3">
            <a:alphaModFix/>
          </a:blip>
          <a:srcRect b="0" l="47946" r="47493" t="0"/>
          <a:stretch/>
        </p:blipFill>
        <p:spPr>
          <a:xfrm>
            <a:off x="6549225" y="1232388"/>
            <a:ext cx="290750" cy="5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53"/>
          <p:cNvSpPr txBox="1"/>
          <p:nvPr>
            <p:ph idx="1" type="body"/>
          </p:nvPr>
        </p:nvSpPr>
        <p:spPr>
          <a:xfrm>
            <a:off x="324000" y="759300"/>
            <a:ext cx="82377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has given this diagram to his friends. Below are their responses. Who do you agree with and why?</a:t>
            </a:r>
            <a:endParaRPr/>
          </a:p>
        </p:txBody>
      </p:sp>
      <p:sp>
        <p:nvSpPr>
          <p:cNvPr id="1903" name="Google Shape;1903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grpSp>
        <p:nvGrpSpPr>
          <p:cNvPr id="1904" name="Google Shape;1904;p153"/>
          <p:cNvGrpSpPr/>
          <p:nvPr/>
        </p:nvGrpSpPr>
        <p:grpSpPr>
          <a:xfrm>
            <a:off x="792466" y="4140875"/>
            <a:ext cx="457200" cy="457200"/>
            <a:chOff x="1020916" y="1442088"/>
            <a:chExt cx="457200" cy="457200"/>
          </a:xfrm>
        </p:grpSpPr>
        <p:pic>
          <p:nvPicPr>
            <p:cNvPr id="1905" name="Google Shape;1905;p1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6" name="Google Shape;1906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7" name="Google Shape;1907;p153"/>
          <p:cNvGrpSpPr/>
          <p:nvPr/>
        </p:nvGrpSpPr>
        <p:grpSpPr>
          <a:xfrm>
            <a:off x="5112066" y="4140875"/>
            <a:ext cx="457200" cy="457200"/>
            <a:chOff x="1020916" y="1442088"/>
            <a:chExt cx="457200" cy="457200"/>
          </a:xfrm>
        </p:grpSpPr>
        <p:pic>
          <p:nvPicPr>
            <p:cNvPr id="1908" name="Google Shape;1908;p1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9" name="Google Shape;1909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10" name="Google Shape;1910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552" y="31977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32572" y="3197688"/>
            <a:ext cx="777007" cy="896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2" name="Google Shape;1912;p153"/>
          <p:cNvCxnSpPr/>
          <p:nvPr/>
        </p:nvCxnSpPr>
        <p:spPr>
          <a:xfrm flipH="1" rot="10800000">
            <a:off x="3179175" y="1644875"/>
            <a:ext cx="872100" cy="87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3" name="Google Shape;1913;p153"/>
          <p:cNvCxnSpPr/>
          <p:nvPr/>
        </p:nvCxnSpPr>
        <p:spPr>
          <a:xfrm>
            <a:off x="3233213" y="2642050"/>
            <a:ext cx="2018100" cy="8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4" name="Google Shape;1914;p153"/>
          <p:cNvCxnSpPr/>
          <p:nvPr/>
        </p:nvCxnSpPr>
        <p:spPr>
          <a:xfrm>
            <a:off x="4154950" y="1635850"/>
            <a:ext cx="1138800" cy="96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5" name="Google Shape;1915;p153"/>
          <p:cNvSpPr txBox="1"/>
          <p:nvPr/>
        </p:nvSpPr>
        <p:spPr>
          <a:xfrm>
            <a:off x="2724900" y="1727100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53"/>
          <p:cNvSpPr txBox="1"/>
          <p:nvPr/>
        </p:nvSpPr>
        <p:spPr>
          <a:xfrm>
            <a:off x="4661700" y="1629700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2.89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53"/>
          <p:cNvSpPr txBox="1"/>
          <p:nvPr/>
        </p:nvSpPr>
        <p:spPr>
          <a:xfrm>
            <a:off x="3780600" y="2555175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53"/>
          <p:cNvSpPr txBox="1"/>
          <p:nvPr/>
        </p:nvSpPr>
        <p:spPr>
          <a:xfrm>
            <a:off x="1731500" y="3148125"/>
            <a:ext cx="27627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Looks good! I will check with my ruler to see if it is right.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53"/>
          <p:cNvSpPr txBox="1"/>
          <p:nvPr/>
        </p:nvSpPr>
        <p:spPr>
          <a:xfrm>
            <a:off x="5985000" y="2961750"/>
            <a:ext cx="2377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Impossible! I don’t even need my ruler to know it is wrong.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0" name="Google Shape;1920;p15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1409573" y="3027738"/>
            <a:ext cx="3106652" cy="13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5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5816982" y="2858288"/>
            <a:ext cx="2459100" cy="173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90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53"/>
          <p:cNvSpPr txBox="1"/>
          <p:nvPr/>
        </p:nvSpPr>
        <p:spPr>
          <a:xfrm>
            <a:off x="136453" y="44255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53"/>
          <p:cNvSpPr txBox="1"/>
          <p:nvPr/>
        </p:nvSpPr>
        <p:spPr>
          <a:xfrm>
            <a:off x="4512078" y="44255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53"/>
          <p:cNvSpPr/>
          <p:nvPr/>
        </p:nvSpPr>
        <p:spPr>
          <a:xfrm>
            <a:off x="3240500" y="1683975"/>
            <a:ext cx="2003525" cy="974850"/>
          </a:xfrm>
          <a:custGeom>
            <a:rect b="b" l="l" r="r" t="t"/>
            <a:pathLst>
              <a:path extrusionOk="0" h="38994" w="80141">
                <a:moveTo>
                  <a:pt x="0" y="35331"/>
                </a:moveTo>
                <a:lnTo>
                  <a:pt x="34685" y="0"/>
                </a:lnTo>
                <a:lnTo>
                  <a:pt x="80141" y="38994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54"/>
          <p:cNvSpPr txBox="1"/>
          <p:nvPr>
            <p:ph idx="1" type="body"/>
          </p:nvPr>
        </p:nvSpPr>
        <p:spPr>
          <a:xfrm>
            <a:off x="324000" y="759300"/>
            <a:ext cx="82377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has given this diagram to his friends. Below are their responses. Who do you agree with and why?</a:t>
            </a:r>
            <a:endParaRPr/>
          </a:p>
        </p:txBody>
      </p:sp>
      <p:sp>
        <p:nvSpPr>
          <p:cNvPr id="1931" name="Google Shape;1931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grpSp>
        <p:nvGrpSpPr>
          <p:cNvPr id="1932" name="Google Shape;1932;p154"/>
          <p:cNvGrpSpPr/>
          <p:nvPr/>
        </p:nvGrpSpPr>
        <p:grpSpPr>
          <a:xfrm>
            <a:off x="5112066" y="4140875"/>
            <a:ext cx="457200" cy="457200"/>
            <a:chOff x="1020916" y="1442088"/>
            <a:chExt cx="457200" cy="457200"/>
          </a:xfrm>
        </p:grpSpPr>
        <p:pic>
          <p:nvPicPr>
            <p:cNvPr id="1933" name="Google Shape;1933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4" name="Google Shape;1934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35" name="Google Shape;1935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552" y="3197702"/>
            <a:ext cx="807750" cy="10579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6" name="Google Shape;1936;p154"/>
          <p:cNvCxnSpPr/>
          <p:nvPr/>
        </p:nvCxnSpPr>
        <p:spPr>
          <a:xfrm flipH="1" rot="10800000">
            <a:off x="3893875" y="1836625"/>
            <a:ext cx="523800" cy="35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154"/>
          <p:cNvCxnSpPr/>
          <p:nvPr/>
        </p:nvCxnSpPr>
        <p:spPr>
          <a:xfrm>
            <a:off x="3150700" y="2618300"/>
            <a:ext cx="22704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154"/>
          <p:cNvCxnSpPr/>
          <p:nvPr/>
        </p:nvCxnSpPr>
        <p:spPr>
          <a:xfrm>
            <a:off x="4397075" y="1839950"/>
            <a:ext cx="1012800" cy="86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9" name="Google Shape;1939;p154"/>
          <p:cNvSpPr txBox="1"/>
          <p:nvPr/>
        </p:nvSpPr>
        <p:spPr>
          <a:xfrm>
            <a:off x="2968800" y="1665500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54"/>
          <p:cNvSpPr txBox="1"/>
          <p:nvPr/>
        </p:nvSpPr>
        <p:spPr>
          <a:xfrm>
            <a:off x="4661700" y="1629700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2.89cm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54"/>
          <p:cNvSpPr txBox="1"/>
          <p:nvPr/>
        </p:nvSpPr>
        <p:spPr>
          <a:xfrm>
            <a:off x="3780600" y="2555175"/>
            <a:ext cx="11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54"/>
          <p:cNvSpPr txBox="1"/>
          <p:nvPr/>
        </p:nvSpPr>
        <p:spPr>
          <a:xfrm>
            <a:off x="5985000" y="2961750"/>
            <a:ext cx="2377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Impossible! I don’t even need my ruler to know it is wrong.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3" name="Google Shape;1943;p154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5816982" y="2858288"/>
            <a:ext cx="2459100" cy="173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" name="Google Shape;1944;p1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90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154"/>
          <p:cNvSpPr txBox="1"/>
          <p:nvPr/>
        </p:nvSpPr>
        <p:spPr>
          <a:xfrm>
            <a:off x="366150" y="3040850"/>
            <a:ext cx="4337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sum of the other two lengths must be longer than the third length for them to connect. Laura has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estimated 2 + 3 &lt; 6 so knows it is impossible.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sp>
        <p:nvSpPr>
          <p:cNvPr id="1951" name="Google Shape;1951;p155"/>
          <p:cNvSpPr txBox="1"/>
          <p:nvPr>
            <p:ph idx="1" type="body"/>
          </p:nvPr>
        </p:nvSpPr>
        <p:spPr>
          <a:xfrm>
            <a:off x="324000" y="835500"/>
            <a:ext cx="8237700" cy="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our common sense when looking at calculations and their answers, but we can also</a:t>
            </a:r>
            <a:r>
              <a:rPr lang="en-GB"/>
              <a:t> use estimation to check the answer as well as identify how the error has come about.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56"/>
          <p:cNvSpPr txBox="1"/>
          <p:nvPr>
            <p:ph idx="1" type="body"/>
          </p:nvPr>
        </p:nvSpPr>
        <p:spPr>
          <a:xfrm>
            <a:off x="324000" y="759300"/>
            <a:ext cx="50505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book shop needs to buy the second </a:t>
            </a:r>
            <a:r>
              <a:rPr lang="en-GB"/>
              <a:t>publication</a:t>
            </a:r>
            <a:r>
              <a:rPr lang="en-GB"/>
              <a:t> of Maths Puzzle books. Each book costs £4.82. The book shop only has £371.02 to spend on these puzzle books. Three Oak pupils worked out an estimate number of books.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Who is correct and what mistake(s) did the other pupil(s) make?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957" name="Google Shape;1957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</a:t>
            </a:r>
            <a:r>
              <a:rPr lang="en-GB"/>
              <a:t> answers</a:t>
            </a:r>
            <a:endParaRPr/>
          </a:p>
        </p:txBody>
      </p:sp>
      <p:pic>
        <p:nvPicPr>
          <p:cNvPr id="1958" name="Google Shape;1958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20674" y="810001"/>
            <a:ext cx="988600" cy="9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60450" y="2441100"/>
            <a:ext cx="638875" cy="79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85897" y="3689588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156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409275" y="720847"/>
            <a:ext cx="1974927" cy="125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156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256802" y="3428825"/>
            <a:ext cx="2041098" cy="115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156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5726149" y="2164975"/>
            <a:ext cx="2128573" cy="107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156"/>
          <p:cNvSpPr txBox="1"/>
          <p:nvPr/>
        </p:nvSpPr>
        <p:spPr>
          <a:xfrm>
            <a:off x="6590100" y="835650"/>
            <a:ext cx="1691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56"/>
          <p:cNvSpPr txBox="1"/>
          <p:nvPr/>
        </p:nvSpPr>
        <p:spPr>
          <a:xfrm>
            <a:off x="6006113" y="2301013"/>
            <a:ext cx="18486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2000 books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56"/>
          <p:cNvSpPr txBox="1"/>
          <p:nvPr/>
        </p:nvSpPr>
        <p:spPr>
          <a:xfrm>
            <a:off x="6750726" y="922375"/>
            <a:ext cx="1450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 books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56"/>
          <p:cNvSpPr txBox="1"/>
          <p:nvPr/>
        </p:nvSpPr>
        <p:spPr>
          <a:xfrm>
            <a:off x="6590088" y="3607788"/>
            <a:ext cx="18486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books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156"/>
          <p:cNvSpPr txBox="1"/>
          <p:nvPr/>
        </p:nvSpPr>
        <p:spPr>
          <a:xfrm>
            <a:off x="6585749" y="1164446"/>
            <a:ext cx="1746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400 ÷ 5 = 80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56"/>
          <p:cNvSpPr txBox="1"/>
          <p:nvPr/>
        </p:nvSpPr>
        <p:spPr>
          <a:xfrm>
            <a:off x="6523287" y="3859808"/>
            <a:ext cx="1746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370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5 = 74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0" name="Google Shape;1970;p156"/>
          <p:cNvSpPr txBox="1"/>
          <p:nvPr/>
        </p:nvSpPr>
        <p:spPr>
          <a:xfrm>
            <a:off x="5916987" y="2563071"/>
            <a:ext cx="1746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400 × 5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1" name="Google Shape;1971;p156"/>
          <p:cNvSpPr txBox="1"/>
          <p:nvPr/>
        </p:nvSpPr>
        <p:spPr>
          <a:xfrm>
            <a:off x="248701" y="4269775"/>
            <a:ext cx="40713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Izzy and Alex are correct.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2" name="Google Shape;1972;p156"/>
          <p:cNvSpPr txBox="1"/>
          <p:nvPr/>
        </p:nvSpPr>
        <p:spPr>
          <a:xfrm>
            <a:off x="7575925" y="197856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6"/>
          <p:cNvSpPr txBox="1"/>
          <p:nvPr/>
        </p:nvSpPr>
        <p:spPr>
          <a:xfrm>
            <a:off x="5086381" y="15716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6"/>
          <p:cNvSpPr txBox="1"/>
          <p:nvPr/>
        </p:nvSpPr>
        <p:spPr>
          <a:xfrm>
            <a:off x="4993128" y="43960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57"/>
          <p:cNvSpPr txBox="1"/>
          <p:nvPr>
            <p:ph idx="1" type="body"/>
          </p:nvPr>
        </p:nvSpPr>
        <p:spPr>
          <a:xfrm>
            <a:off x="400200" y="1445100"/>
            <a:ext cx="458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reflecting on an answer, it is important to ask yourself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“Is the answer realistic?”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2000 books is a lot of books for the amount of money the book shop has. </a:t>
            </a:r>
            <a:endParaRPr/>
          </a:p>
        </p:txBody>
      </p:sp>
      <p:sp>
        <p:nvSpPr>
          <p:cNvPr id="1980" name="Google Shape;1980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</a:t>
            </a:r>
            <a:r>
              <a:rPr lang="en-GB"/>
              <a:t> answers</a:t>
            </a:r>
            <a:endParaRPr/>
          </a:p>
        </p:txBody>
      </p:sp>
      <p:pic>
        <p:nvPicPr>
          <p:cNvPr id="1981" name="Google Shape;1981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60450" y="2441100"/>
            <a:ext cx="638875" cy="79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15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726149" y="2164975"/>
            <a:ext cx="2128573" cy="107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157"/>
          <p:cNvSpPr txBox="1"/>
          <p:nvPr/>
        </p:nvSpPr>
        <p:spPr>
          <a:xfrm>
            <a:off x="6006113" y="2301013"/>
            <a:ext cx="18486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2000 books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57"/>
          <p:cNvSpPr txBox="1"/>
          <p:nvPr/>
        </p:nvSpPr>
        <p:spPr>
          <a:xfrm>
            <a:off x="7575925" y="197856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158"/>
          <p:cNvSpPr txBox="1"/>
          <p:nvPr>
            <p:ph idx="1" type="body"/>
          </p:nvPr>
        </p:nvSpPr>
        <p:spPr>
          <a:xfrm>
            <a:off x="324000" y="759300"/>
            <a:ext cx="8237700" cy="10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estimation only, put a tick with the calculation which gives the approximate </a:t>
            </a:r>
            <a:r>
              <a:rPr lang="en-GB"/>
              <a:t>correct</a:t>
            </a:r>
            <a:r>
              <a:rPr lang="en-GB"/>
              <a:t> answer. Where the answer is incorrect, identify the error.</a:t>
            </a:r>
            <a:endParaRPr/>
          </a:p>
        </p:txBody>
      </p:sp>
      <p:sp>
        <p:nvSpPr>
          <p:cNvPr id="1990" name="Google Shape;1990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sp>
        <p:nvSpPr>
          <p:cNvPr id="1991" name="Google Shape;1991;p158"/>
          <p:cNvSpPr txBox="1"/>
          <p:nvPr/>
        </p:nvSpPr>
        <p:spPr>
          <a:xfrm>
            <a:off x="442475" y="2059963"/>
            <a:ext cx="30615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Buying 34 books each costing £21.32       £700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992" name="Google Shape;1992;p158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500" y="2500350"/>
            <a:ext cx="222850" cy="1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158"/>
          <p:cNvSpPr txBox="1"/>
          <p:nvPr/>
        </p:nvSpPr>
        <p:spPr>
          <a:xfrm>
            <a:off x="378400" y="3514950"/>
            <a:ext cx="3887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square with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8.23 mm has a perimeter       64 mm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58"/>
          <p:cNvSpPr txBox="1"/>
          <p:nvPr/>
        </p:nvSpPr>
        <p:spPr>
          <a:xfrm>
            <a:off x="4186200" y="2045000"/>
            <a:ext cx="43755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rectangle with lengths 3.21 cm by 9.56 cm has an area     30 cm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8"/>
          <p:cNvSpPr txBox="1"/>
          <p:nvPr/>
        </p:nvSpPr>
        <p:spPr>
          <a:xfrm>
            <a:off x="4684450" y="3514938"/>
            <a:ext cx="36849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approximately forty five 50p pieces in £91.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1996" name="Google Shape;1996;p158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675" y="4019875"/>
            <a:ext cx="222850" cy="1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1997" name="Google Shape;1997;p158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600" y="2494975"/>
            <a:ext cx="222850" cy="1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58"/>
          <p:cNvSpPr/>
          <p:nvPr/>
        </p:nvSpPr>
        <p:spPr>
          <a:xfrm>
            <a:off x="442475" y="1974250"/>
            <a:ext cx="33864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58"/>
          <p:cNvSpPr/>
          <p:nvPr/>
        </p:nvSpPr>
        <p:spPr>
          <a:xfrm>
            <a:off x="378400" y="3554700"/>
            <a:ext cx="39417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8"/>
          <p:cNvSpPr/>
          <p:nvPr/>
        </p:nvSpPr>
        <p:spPr>
          <a:xfrm>
            <a:off x="4556050" y="3571950"/>
            <a:ext cx="36849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58"/>
          <p:cNvSpPr/>
          <p:nvPr/>
        </p:nvSpPr>
        <p:spPr>
          <a:xfrm>
            <a:off x="4167050" y="2021775"/>
            <a:ext cx="42417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59"/>
          <p:cNvSpPr txBox="1"/>
          <p:nvPr>
            <p:ph idx="1" type="body"/>
          </p:nvPr>
        </p:nvSpPr>
        <p:spPr>
          <a:xfrm>
            <a:off x="324000" y="759300"/>
            <a:ext cx="8237700" cy="59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Is approximately: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Make sure to show your reasoning or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007" name="Google Shape;2007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.03\times\frac{5}{11}&quot;&gt;&lt;mn&gt;7.03&lt;/mn&gt;&lt;mo&gt;×&lt;/mo&gt;&lt;mfrac&gt;&lt;mn&gt;5&lt;/mn&gt;&lt;mn&gt;11&lt;/mn&gt;&lt;/mfrac&gt;&lt;/math&gt;" id="2008" name="Google Shape;2008;p159" title="7.03 times 5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025" y="759300"/>
            <a:ext cx="1662975" cy="8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59"/>
          <p:cNvSpPr/>
          <p:nvPr/>
        </p:nvSpPr>
        <p:spPr>
          <a:xfrm>
            <a:off x="388500" y="2355250"/>
            <a:ext cx="1090800" cy="100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6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9"/>
          <p:cNvSpPr/>
          <p:nvPr/>
        </p:nvSpPr>
        <p:spPr>
          <a:xfrm>
            <a:off x="1593463" y="2355250"/>
            <a:ext cx="1090800" cy="100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59"/>
          <p:cNvSpPr/>
          <p:nvPr/>
        </p:nvSpPr>
        <p:spPr>
          <a:xfrm>
            <a:off x="2798425" y="2355250"/>
            <a:ext cx="1090800" cy="100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3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59"/>
          <p:cNvSpPr/>
          <p:nvPr/>
        </p:nvSpPr>
        <p:spPr>
          <a:xfrm>
            <a:off x="4003388" y="2355250"/>
            <a:ext cx="1090800" cy="100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159"/>
          <p:cNvSpPr/>
          <p:nvPr/>
        </p:nvSpPr>
        <p:spPr>
          <a:xfrm>
            <a:off x="5208375" y="2355250"/>
            <a:ext cx="1974600" cy="100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Not possible to estimate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60"/>
          <p:cNvSpPr txBox="1"/>
          <p:nvPr>
            <p:ph idx="4294967295" type="body"/>
          </p:nvPr>
        </p:nvSpPr>
        <p:spPr>
          <a:xfrm>
            <a:off x="5292275" y="759300"/>
            <a:ext cx="329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Here is a floor plan of a one bedroom </a:t>
            </a:r>
            <a:r>
              <a:rPr lang="en-GB" sz="1800"/>
              <a:t>apartment</a:t>
            </a:r>
            <a:r>
              <a:rPr lang="en-GB" sz="1800"/>
              <a:t>. The Oak teacher spots an error with a </a:t>
            </a:r>
            <a:r>
              <a:rPr lang="en-GB" sz="1800"/>
              <a:t>measurement given.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Can you find the error? Estimate what the correct measurement should be.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Can you estimate the area of the missing room?</a:t>
            </a:r>
            <a:endParaRPr sz="1800"/>
          </a:p>
        </p:txBody>
      </p:sp>
      <p:sp>
        <p:nvSpPr>
          <p:cNvPr id="2019" name="Google Shape;2019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id="2020" name="Google Shape;2020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88" y="1102775"/>
            <a:ext cx="4060949" cy="306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1" name="Google Shape;2021;p160"/>
          <p:cNvCxnSpPr/>
          <p:nvPr/>
        </p:nvCxnSpPr>
        <p:spPr>
          <a:xfrm>
            <a:off x="797213" y="1080000"/>
            <a:ext cx="0" cy="293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2" name="Google Shape;2022;p160"/>
          <p:cNvCxnSpPr/>
          <p:nvPr/>
        </p:nvCxnSpPr>
        <p:spPr>
          <a:xfrm rot="10800000">
            <a:off x="953463" y="4259350"/>
            <a:ext cx="40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3" name="Google Shape;2023;p160"/>
          <p:cNvSpPr txBox="1"/>
          <p:nvPr/>
        </p:nvSpPr>
        <p:spPr>
          <a:xfrm>
            <a:off x="2025438" y="158967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60"/>
          <p:cNvSpPr txBox="1"/>
          <p:nvPr/>
        </p:nvSpPr>
        <p:spPr>
          <a:xfrm>
            <a:off x="1145138" y="292450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11.18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60"/>
          <p:cNvSpPr txBox="1"/>
          <p:nvPr/>
        </p:nvSpPr>
        <p:spPr>
          <a:xfrm>
            <a:off x="2510738" y="294456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60"/>
          <p:cNvSpPr txBox="1"/>
          <p:nvPr/>
        </p:nvSpPr>
        <p:spPr>
          <a:xfrm>
            <a:off x="4010038" y="132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3.77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60"/>
          <p:cNvSpPr txBox="1"/>
          <p:nvPr/>
        </p:nvSpPr>
        <p:spPr>
          <a:xfrm>
            <a:off x="2570888" y="416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.4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60"/>
          <p:cNvSpPr txBox="1"/>
          <p:nvPr/>
        </p:nvSpPr>
        <p:spPr>
          <a:xfrm rot="-5400000">
            <a:off x="-233812" y="196389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7.03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estimation only, put a tick with the calculation which gives the approximate correct answer. Where the answer is incorrect, identify the error.</a:t>
            </a:r>
            <a:endParaRPr/>
          </a:p>
        </p:txBody>
      </p:sp>
      <p:sp>
        <p:nvSpPr>
          <p:cNvPr id="2034" name="Google Shape;2034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sp>
        <p:nvSpPr>
          <p:cNvPr id="2035" name="Google Shape;2035;p161"/>
          <p:cNvSpPr txBox="1"/>
          <p:nvPr/>
        </p:nvSpPr>
        <p:spPr>
          <a:xfrm>
            <a:off x="442475" y="2059963"/>
            <a:ext cx="30615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Buying 34 books each costing £21.32       £700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036" name="Google Shape;2036;p161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500" y="2500350"/>
            <a:ext cx="222850" cy="1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161"/>
          <p:cNvSpPr txBox="1"/>
          <p:nvPr/>
        </p:nvSpPr>
        <p:spPr>
          <a:xfrm>
            <a:off x="378400" y="3514950"/>
            <a:ext cx="3887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square with length 8.23 mm has a perimeter       64 mm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161"/>
          <p:cNvSpPr txBox="1"/>
          <p:nvPr/>
        </p:nvSpPr>
        <p:spPr>
          <a:xfrm>
            <a:off x="4186200" y="2045000"/>
            <a:ext cx="43755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rectangle with lengths 3.21 cm by 9.56 cm has an area     30 cm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61"/>
          <p:cNvSpPr txBox="1"/>
          <p:nvPr/>
        </p:nvSpPr>
        <p:spPr>
          <a:xfrm>
            <a:off x="4684450" y="3514938"/>
            <a:ext cx="36849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approximately forty five 50p pieces in £91.</a:t>
            </a:r>
            <a:endParaRPr baseline="30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approx &quot;&gt;&lt;mo&gt;≈&lt;/mo&gt;&lt;/math&gt;" id="2040" name="Google Shape;2040;p161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675" y="4019875"/>
            <a:ext cx="222850" cy="1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approx &quot;&gt;&lt;mo&gt;≈&lt;/mo&gt;&lt;/math&gt;" id="2041" name="Google Shape;2041;p161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600" y="2494975"/>
            <a:ext cx="222850" cy="1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61"/>
          <p:cNvSpPr/>
          <p:nvPr/>
        </p:nvSpPr>
        <p:spPr>
          <a:xfrm>
            <a:off x="442475" y="1974250"/>
            <a:ext cx="33864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61"/>
          <p:cNvSpPr/>
          <p:nvPr/>
        </p:nvSpPr>
        <p:spPr>
          <a:xfrm>
            <a:off x="378400" y="3554700"/>
            <a:ext cx="39417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61"/>
          <p:cNvSpPr/>
          <p:nvPr/>
        </p:nvSpPr>
        <p:spPr>
          <a:xfrm>
            <a:off x="4556050" y="3571950"/>
            <a:ext cx="36849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61"/>
          <p:cNvSpPr/>
          <p:nvPr/>
        </p:nvSpPr>
        <p:spPr>
          <a:xfrm>
            <a:off x="4167050" y="2021775"/>
            <a:ext cx="4241700" cy="1265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6" name="Google Shape;2046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8" y="2671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7" name="Google Shape;2047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4958" y="27456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161"/>
          <p:cNvSpPr txBox="1"/>
          <p:nvPr/>
        </p:nvSpPr>
        <p:spPr>
          <a:xfrm>
            <a:off x="971375" y="2715688"/>
            <a:ext cx="2532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 × 20 = 700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9" name="Google Shape;2049;p161"/>
          <p:cNvSpPr txBox="1"/>
          <p:nvPr/>
        </p:nvSpPr>
        <p:spPr>
          <a:xfrm>
            <a:off x="442475" y="4128600"/>
            <a:ext cx="3887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= 8 × 8 = 64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= 8 + 8 + 8 + 8 = 32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0" name="Google Shape;2050;p161"/>
          <p:cNvSpPr txBox="1"/>
          <p:nvPr/>
        </p:nvSpPr>
        <p:spPr>
          <a:xfrm>
            <a:off x="4892250" y="2763825"/>
            <a:ext cx="272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= 3 × 10  = 30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1" name="Google Shape;2051;p161"/>
          <p:cNvSpPr txBox="1"/>
          <p:nvPr/>
        </p:nvSpPr>
        <p:spPr>
          <a:xfrm>
            <a:off x="4833700" y="4153825"/>
            <a:ext cx="3386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0.5 = 45 ÷ 2 = 22.5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2" name="Google Shape;2052;p161"/>
          <p:cNvSpPr txBox="1"/>
          <p:nvPr/>
        </p:nvSpPr>
        <p:spPr>
          <a:xfrm>
            <a:off x="4619650" y="4454850"/>
            <a:ext cx="3386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 ÷ 0.5 = 90 × 2 = 180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62"/>
          <p:cNvSpPr txBox="1"/>
          <p:nvPr>
            <p:ph idx="1" type="body"/>
          </p:nvPr>
        </p:nvSpPr>
        <p:spPr>
          <a:xfrm>
            <a:off x="368825" y="759300"/>
            <a:ext cx="7161600" cy="26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Is approximately: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Make sure to show your reasoning or working out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058" name="Google Shape;2058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.03\times\frac{5}{11}&quot;&gt;&lt;mn&gt;7.03&lt;/mn&gt;&lt;mo&gt;×&lt;/mo&gt;&lt;mfrac&gt;&lt;mn&gt;5&lt;/mn&gt;&lt;mn&gt;11&lt;/mn&gt;&lt;/mfrac&gt;&lt;/math&gt;" id="2059" name="Google Shape;2059;p162" title="7.03 times 5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095" y="759300"/>
            <a:ext cx="1445746" cy="733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62"/>
          <p:cNvSpPr/>
          <p:nvPr/>
        </p:nvSpPr>
        <p:spPr>
          <a:xfrm>
            <a:off x="424900" y="2146771"/>
            <a:ext cx="948300" cy="87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6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62"/>
          <p:cNvSpPr/>
          <p:nvPr/>
        </p:nvSpPr>
        <p:spPr>
          <a:xfrm>
            <a:off x="1472462" y="2146771"/>
            <a:ext cx="948300" cy="87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62"/>
          <p:cNvSpPr/>
          <p:nvPr/>
        </p:nvSpPr>
        <p:spPr>
          <a:xfrm>
            <a:off x="2520025" y="2146771"/>
            <a:ext cx="948300" cy="87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3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162"/>
          <p:cNvSpPr/>
          <p:nvPr/>
        </p:nvSpPr>
        <p:spPr>
          <a:xfrm>
            <a:off x="3567587" y="2146771"/>
            <a:ext cx="948300" cy="87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4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162"/>
          <p:cNvSpPr/>
          <p:nvPr/>
        </p:nvSpPr>
        <p:spPr>
          <a:xfrm>
            <a:off x="4615171" y="2146771"/>
            <a:ext cx="1716600" cy="87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Not possible to estimate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62"/>
          <p:cNvSpPr/>
          <p:nvPr/>
        </p:nvSpPr>
        <p:spPr>
          <a:xfrm>
            <a:off x="2520035" y="2146771"/>
            <a:ext cx="948300" cy="876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3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62"/>
          <p:cNvSpPr txBox="1"/>
          <p:nvPr/>
        </p:nvSpPr>
        <p:spPr>
          <a:xfrm>
            <a:off x="424900" y="3509450"/>
            <a:ext cx="7924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a few ways to determine this approximation.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Example,    is slightly below a half so a little below half of 7 is 3.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is rounding                         giving an approximate answer of 3.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7\times\frac{5}{11}\ =\ \frac{35}{11}\approx\frac{33}{11}&quot;&gt;&lt;mn&gt;7&lt;/mn&gt;&lt;mo&gt;×&lt;/mo&gt;&lt;mfrac&gt;&lt;mn&gt;5&lt;/mn&gt;&lt;mn&gt;11&lt;/mn&gt;&lt;/mfrac&gt;&lt;mtext&gt;&lt;/mtext&gt;&lt;mo&gt;=&lt;/mo&gt;&lt;mtext&gt;&lt;/mtext&gt;&lt;mfrac&gt;&lt;mn&gt;35&lt;/mn&gt;&lt;mn&gt;11&lt;/mn&gt;&lt;/mfrac&gt;&lt;mo&gt;≈&lt;/mo&gt;&lt;mfrac&gt;&lt;mn&gt;33&lt;/mn&gt;&lt;mn&gt;11&lt;/mn&gt;&lt;/mfrac&gt;&lt;/math&gt;" id="2067" name="Google Shape;2067;p162" title="7 times 5 over 11 equals 35 over 11 almost equals 33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017" y="4212692"/>
            <a:ext cx="1988750" cy="48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times\frac{5}{11}\ =\ \frac{35}{11}\approx\frac{33}{11}&quot;&gt;&lt;mn&gt;7&lt;/mn&gt;&lt;mo&gt;×&lt;/mo&gt;&lt;mfrac&gt;&lt;mn&gt;5&lt;/mn&gt;&lt;mn&gt;11&lt;/mn&gt;&lt;/mfrac&gt;&lt;mtext&gt;&lt;/mtext&gt;&lt;mo&gt;=&lt;/mo&gt;&lt;mtext&gt;&lt;/mtext&gt;&lt;mfrac&gt;&lt;mn&gt;35&lt;/mn&gt;&lt;mn&gt;11&lt;/mn&gt;&lt;/mfrac&gt;&lt;mo&gt;≈&lt;/mo&gt;&lt;mfrac&gt;&lt;mn&gt;33&lt;/mn&gt;&lt;mn&gt;11&lt;/mn&gt;&lt;/mfrac&gt;&lt;/math&gt;" id="2068" name="Google Shape;2068;p162" title="7 times 5 over 11 equals 35 over 11 almost equals 33 over 11"/>
          <p:cNvPicPr preferRelativeResize="0"/>
          <p:nvPr/>
        </p:nvPicPr>
        <p:blipFill rotWithShape="1">
          <a:blip r:embed="rId4">
            <a:alphaModFix/>
          </a:blip>
          <a:srcRect b="0" l="18547" r="64253" t="0"/>
          <a:stretch/>
        </p:blipFill>
        <p:spPr>
          <a:xfrm>
            <a:off x="1318714" y="3780000"/>
            <a:ext cx="270786" cy="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63"/>
          <p:cNvSpPr txBox="1"/>
          <p:nvPr>
            <p:ph idx="4294967295" type="body"/>
          </p:nvPr>
        </p:nvSpPr>
        <p:spPr>
          <a:xfrm>
            <a:off x="5292275" y="759300"/>
            <a:ext cx="329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Here is a floor plan of a one bedroom apartment. The Oak teacher spots an error with a measurement given.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Can you find the error? Estimate what the correct measurement should be.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4" name="Google Shape;2074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id="2075" name="Google Shape;2075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88" y="1102775"/>
            <a:ext cx="4060949" cy="306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6" name="Google Shape;2076;p163"/>
          <p:cNvCxnSpPr/>
          <p:nvPr/>
        </p:nvCxnSpPr>
        <p:spPr>
          <a:xfrm>
            <a:off x="797213" y="1080000"/>
            <a:ext cx="0" cy="293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7" name="Google Shape;2077;p163"/>
          <p:cNvCxnSpPr/>
          <p:nvPr/>
        </p:nvCxnSpPr>
        <p:spPr>
          <a:xfrm rot="10800000">
            <a:off x="953463" y="4259350"/>
            <a:ext cx="40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8" name="Google Shape;2078;p163"/>
          <p:cNvSpPr txBox="1"/>
          <p:nvPr/>
        </p:nvSpPr>
        <p:spPr>
          <a:xfrm>
            <a:off x="2025438" y="158967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63"/>
          <p:cNvSpPr txBox="1"/>
          <p:nvPr/>
        </p:nvSpPr>
        <p:spPr>
          <a:xfrm>
            <a:off x="1145138" y="292450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63"/>
          <p:cNvSpPr txBox="1"/>
          <p:nvPr/>
        </p:nvSpPr>
        <p:spPr>
          <a:xfrm>
            <a:off x="2510738" y="294456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63"/>
          <p:cNvSpPr txBox="1"/>
          <p:nvPr/>
        </p:nvSpPr>
        <p:spPr>
          <a:xfrm>
            <a:off x="4010038" y="132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63"/>
          <p:cNvSpPr txBox="1"/>
          <p:nvPr/>
        </p:nvSpPr>
        <p:spPr>
          <a:xfrm>
            <a:off x="2570888" y="416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92.4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63"/>
          <p:cNvSpPr txBox="1"/>
          <p:nvPr/>
        </p:nvSpPr>
        <p:spPr>
          <a:xfrm rot="-5400000">
            <a:off x="-233812" y="196389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63"/>
          <p:cNvSpPr/>
          <p:nvPr/>
        </p:nvSpPr>
        <p:spPr>
          <a:xfrm>
            <a:off x="2454175" y="4103375"/>
            <a:ext cx="1064700" cy="649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63"/>
          <p:cNvSpPr txBox="1"/>
          <p:nvPr/>
        </p:nvSpPr>
        <p:spPr>
          <a:xfrm>
            <a:off x="5554475" y="3633900"/>
            <a:ext cx="30369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Far too big given the areas stated.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164"/>
          <p:cNvSpPr txBox="1"/>
          <p:nvPr>
            <p:ph idx="4294967295" type="body"/>
          </p:nvPr>
        </p:nvSpPr>
        <p:spPr>
          <a:xfrm>
            <a:off x="5292275" y="759300"/>
            <a:ext cx="329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Here is a floor plan of a one bedroom apartment. The Oak teacher spots an error with a measurement given.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Can you find the error? Estimate what the correct measurement should be.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1" name="Google Shape;2091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id="2092" name="Google Shape;2092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88" y="1102775"/>
            <a:ext cx="4060949" cy="306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3" name="Google Shape;2093;p164"/>
          <p:cNvCxnSpPr/>
          <p:nvPr/>
        </p:nvCxnSpPr>
        <p:spPr>
          <a:xfrm>
            <a:off x="797213" y="1080000"/>
            <a:ext cx="0" cy="293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4" name="Google Shape;2094;p164"/>
          <p:cNvCxnSpPr/>
          <p:nvPr/>
        </p:nvCxnSpPr>
        <p:spPr>
          <a:xfrm rot="10800000">
            <a:off x="953463" y="4259350"/>
            <a:ext cx="40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95" name="Google Shape;2095;p164"/>
          <p:cNvSpPr txBox="1"/>
          <p:nvPr/>
        </p:nvSpPr>
        <p:spPr>
          <a:xfrm>
            <a:off x="2025438" y="158967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64"/>
          <p:cNvSpPr txBox="1"/>
          <p:nvPr/>
        </p:nvSpPr>
        <p:spPr>
          <a:xfrm>
            <a:off x="1145138" y="292450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64"/>
          <p:cNvSpPr txBox="1"/>
          <p:nvPr/>
        </p:nvSpPr>
        <p:spPr>
          <a:xfrm>
            <a:off x="2510738" y="294456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64"/>
          <p:cNvSpPr txBox="1"/>
          <p:nvPr/>
        </p:nvSpPr>
        <p:spPr>
          <a:xfrm>
            <a:off x="4010038" y="132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164"/>
          <p:cNvSpPr txBox="1"/>
          <p:nvPr/>
        </p:nvSpPr>
        <p:spPr>
          <a:xfrm>
            <a:off x="2570888" y="416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m</a:t>
            </a:r>
            <a:endParaRPr baseline="30000"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0" name="Google Shape;2100;p164"/>
          <p:cNvSpPr txBox="1"/>
          <p:nvPr/>
        </p:nvSpPr>
        <p:spPr>
          <a:xfrm rot="-5400000">
            <a:off x="-233812" y="196389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1" name="Google Shape;2101;p164"/>
          <p:cNvSpPr txBox="1"/>
          <p:nvPr/>
        </p:nvSpPr>
        <p:spPr>
          <a:xfrm>
            <a:off x="6544250" y="3710125"/>
            <a:ext cx="69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m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2" name="Google Shape;2102;p164"/>
          <p:cNvSpPr txBox="1"/>
          <p:nvPr/>
        </p:nvSpPr>
        <p:spPr>
          <a:xfrm>
            <a:off x="5549075" y="3889900"/>
            <a:ext cx="327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Accept anything between 8 m and 12 m inclusive. </a:t>
            </a:r>
            <a:endParaRPr baseline="30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65"/>
          <p:cNvSpPr txBox="1"/>
          <p:nvPr>
            <p:ph idx="4294967295" type="body"/>
          </p:nvPr>
        </p:nvSpPr>
        <p:spPr>
          <a:xfrm>
            <a:off x="5292275" y="759300"/>
            <a:ext cx="329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Here is a floor plan of a one bedroom apartment. The Oak teacher spots an error with a measurement given.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Can you estimate the area of the missing room?</a:t>
            </a:r>
            <a:endParaRPr sz="1800"/>
          </a:p>
        </p:txBody>
      </p:sp>
      <p:sp>
        <p:nvSpPr>
          <p:cNvPr id="2108" name="Google Shape;2108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id="2109" name="Google Shape;2109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88" y="1102775"/>
            <a:ext cx="4060949" cy="306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0" name="Google Shape;2110;p165"/>
          <p:cNvCxnSpPr/>
          <p:nvPr/>
        </p:nvCxnSpPr>
        <p:spPr>
          <a:xfrm>
            <a:off x="797213" y="1080000"/>
            <a:ext cx="0" cy="293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1" name="Google Shape;2111;p165"/>
          <p:cNvCxnSpPr/>
          <p:nvPr/>
        </p:nvCxnSpPr>
        <p:spPr>
          <a:xfrm rot="10800000">
            <a:off x="953463" y="4259350"/>
            <a:ext cx="40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2" name="Google Shape;2112;p165"/>
          <p:cNvSpPr txBox="1"/>
          <p:nvPr/>
        </p:nvSpPr>
        <p:spPr>
          <a:xfrm>
            <a:off x="2025438" y="158967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65"/>
          <p:cNvSpPr txBox="1"/>
          <p:nvPr/>
        </p:nvSpPr>
        <p:spPr>
          <a:xfrm>
            <a:off x="1145138" y="292450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65"/>
          <p:cNvSpPr txBox="1"/>
          <p:nvPr/>
        </p:nvSpPr>
        <p:spPr>
          <a:xfrm>
            <a:off x="2510738" y="294456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65"/>
          <p:cNvSpPr txBox="1"/>
          <p:nvPr/>
        </p:nvSpPr>
        <p:spPr>
          <a:xfrm>
            <a:off x="4010038" y="132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65"/>
          <p:cNvSpPr txBox="1"/>
          <p:nvPr/>
        </p:nvSpPr>
        <p:spPr>
          <a:xfrm>
            <a:off x="2570888" y="416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m</a:t>
            </a:r>
            <a:endParaRPr baseline="30000"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7" name="Google Shape;2117;p165"/>
          <p:cNvSpPr txBox="1"/>
          <p:nvPr/>
        </p:nvSpPr>
        <p:spPr>
          <a:xfrm rot="-5400000">
            <a:off x="-233812" y="196389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65"/>
          <p:cNvSpPr txBox="1"/>
          <p:nvPr/>
        </p:nvSpPr>
        <p:spPr>
          <a:xfrm>
            <a:off x="5241550" y="3050850"/>
            <a:ext cx="3299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Estimating the length to be 9 m, the total area is expected to be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× 9 = 63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rounding and subtracting the other areas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63 - 20 - 4 - 11 - 11 = 17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9" name="Google Shape;2119;p165"/>
          <p:cNvSpPr txBox="1"/>
          <p:nvPr/>
        </p:nvSpPr>
        <p:spPr>
          <a:xfrm>
            <a:off x="4107900" y="2469150"/>
            <a:ext cx="1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66"/>
          <p:cNvSpPr txBox="1"/>
          <p:nvPr>
            <p:ph idx="4294967295" type="body"/>
          </p:nvPr>
        </p:nvSpPr>
        <p:spPr>
          <a:xfrm>
            <a:off x="5292275" y="759300"/>
            <a:ext cx="329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Here is a floor plan of a one bedroom apartment. The Oak teacher spots an error with a measurement given.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Can you estimate the area of the missing room?</a:t>
            </a:r>
            <a:endParaRPr sz="1800"/>
          </a:p>
        </p:txBody>
      </p:sp>
      <p:sp>
        <p:nvSpPr>
          <p:cNvPr id="2125" name="Google Shape;2125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answers</a:t>
            </a:r>
            <a:endParaRPr/>
          </a:p>
        </p:txBody>
      </p:sp>
      <p:pic>
        <p:nvPicPr>
          <p:cNvPr id="2126" name="Google Shape;2126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88" y="1102775"/>
            <a:ext cx="4060949" cy="306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7" name="Google Shape;2127;p166"/>
          <p:cNvCxnSpPr/>
          <p:nvPr/>
        </p:nvCxnSpPr>
        <p:spPr>
          <a:xfrm>
            <a:off x="797213" y="1080000"/>
            <a:ext cx="0" cy="293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8" name="Google Shape;2128;p166"/>
          <p:cNvCxnSpPr/>
          <p:nvPr/>
        </p:nvCxnSpPr>
        <p:spPr>
          <a:xfrm rot="10800000">
            <a:off x="953463" y="4259350"/>
            <a:ext cx="403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9" name="Google Shape;2129;p166"/>
          <p:cNvSpPr txBox="1"/>
          <p:nvPr/>
        </p:nvSpPr>
        <p:spPr>
          <a:xfrm>
            <a:off x="2025438" y="158967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18.47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66"/>
          <p:cNvSpPr txBox="1"/>
          <p:nvPr/>
        </p:nvSpPr>
        <p:spPr>
          <a:xfrm>
            <a:off x="1145138" y="292450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11.18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66"/>
          <p:cNvSpPr txBox="1"/>
          <p:nvPr/>
        </p:nvSpPr>
        <p:spPr>
          <a:xfrm>
            <a:off x="2510738" y="294456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11.49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66"/>
          <p:cNvSpPr txBox="1"/>
          <p:nvPr/>
        </p:nvSpPr>
        <p:spPr>
          <a:xfrm>
            <a:off x="4010038" y="132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3.77 m</a:t>
            </a:r>
            <a:r>
              <a:rPr baseline="30000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66"/>
          <p:cNvSpPr txBox="1"/>
          <p:nvPr/>
        </p:nvSpPr>
        <p:spPr>
          <a:xfrm>
            <a:off x="2570888" y="4169715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m</a:t>
            </a:r>
            <a:endParaRPr baseline="30000"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4" name="Google Shape;2134;p166"/>
          <p:cNvSpPr txBox="1"/>
          <p:nvPr/>
        </p:nvSpPr>
        <p:spPr>
          <a:xfrm rot="-5400000">
            <a:off x="-233812" y="1963890"/>
            <a:ext cx="16542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7.03 m</a:t>
            </a:r>
            <a:endParaRPr baseline="30000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166"/>
          <p:cNvSpPr txBox="1"/>
          <p:nvPr/>
        </p:nvSpPr>
        <p:spPr>
          <a:xfrm>
            <a:off x="4107900" y="2469150"/>
            <a:ext cx="1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 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/>
          </a:p>
        </p:txBody>
      </p:sp>
      <p:sp>
        <p:nvSpPr>
          <p:cNvPr id="2136" name="Google Shape;2136;p166"/>
          <p:cNvSpPr txBox="1"/>
          <p:nvPr/>
        </p:nvSpPr>
        <p:spPr>
          <a:xfrm>
            <a:off x="5292275" y="3169650"/>
            <a:ext cx="28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Accept anything between 15 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20 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inclusive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 </a:t>
            </a:r>
            <a:endParaRPr baseline="30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67"/>
          <p:cNvSpPr txBox="1"/>
          <p:nvPr>
            <p:ph idx="1" type="body"/>
          </p:nvPr>
        </p:nvSpPr>
        <p:spPr>
          <a:xfrm>
            <a:off x="431175" y="928500"/>
            <a:ext cx="8113800" cy="24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everyday life, it is important to estimate so to know how to quickly calculate a rough answer or to check the accuracy of answers.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Estimation is important because s</a:t>
            </a:r>
            <a:r>
              <a:rPr lang="en-GB"/>
              <a:t>ometimes we are given answers to calculations and the answer just doesn’t seem correct.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reflecting on an answer, it is important to ask yourself, “Is the answer realistic?” and if not, it helps to identify where an error has occurred.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by estimating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48" name="Google Shape;2148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