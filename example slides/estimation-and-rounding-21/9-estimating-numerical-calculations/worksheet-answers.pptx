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53BC05-DC16-4534-8FDF-B2F1A7EA4A2D}">
  <a:tblStyle styleId="{A553BC05-DC16-4534-8FDF-B2F1A7EA4A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04CF5F2-8B06-4906-83CF-007A7EF4D04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b2c92ea247_0_3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b2c92ea24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2c92ea247_0_16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2c92ea24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1" Type="http://schemas.openxmlformats.org/officeDocument/2006/relationships/image" Target="../media/image22.png"/><Relationship Id="rId10" Type="http://schemas.openxmlformats.org/officeDocument/2006/relationships/image" Target="../media/image16.png"/><Relationship Id="rId12" Type="http://schemas.openxmlformats.org/officeDocument/2006/relationships/image" Target="../media/image19.png"/><Relationship Id="rId9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2349040" y="2277234"/>
            <a:ext cx="655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151089" y="2277234"/>
            <a:ext cx="4158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175981" y="2265500"/>
            <a:ext cx="655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946114" y="2277252"/>
            <a:ext cx="4953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542050" y="2277243"/>
            <a:ext cx="4953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522650" y="2267227"/>
            <a:ext cx="655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665548" y="2277252"/>
            <a:ext cx="4158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78" name="Google Shape;178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83745" l="51344" r="39583" t="0"/>
          <a:stretch/>
        </p:blipFill>
        <p:spPr>
          <a:xfrm>
            <a:off x="5608851" y="2325765"/>
            <a:ext cx="359422" cy="269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79" name="Google Shape;179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83745" l="69200" r="12265" t="0"/>
          <a:stretch/>
        </p:blipFill>
        <p:spPr>
          <a:xfrm>
            <a:off x="4167793" y="2325765"/>
            <a:ext cx="734349" cy="269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80" name="Google Shape;180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28380" l="65942" r="18678" t="55365"/>
          <a:stretch/>
        </p:blipFill>
        <p:spPr>
          <a:xfrm>
            <a:off x="2442931" y="2317961"/>
            <a:ext cx="609363" cy="2697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81" name="Google Shape;181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-3318" l="67434" r="17186" t="82528"/>
          <a:stretch/>
        </p:blipFill>
        <p:spPr>
          <a:xfrm>
            <a:off x="1568435" y="2291546"/>
            <a:ext cx="609363" cy="345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82" name="Google Shape;182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-3318" l="90086" r="-5465" t="82528"/>
          <a:stretch/>
        </p:blipFill>
        <p:spPr>
          <a:xfrm>
            <a:off x="4971106" y="2288122"/>
            <a:ext cx="609363" cy="345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83" name="Google Shape;183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28380" l="88775" r="2153" t="55365"/>
          <a:stretch/>
        </p:blipFill>
        <p:spPr>
          <a:xfrm>
            <a:off x="3151087" y="2310132"/>
            <a:ext cx="359422" cy="2697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84" name="Google Shape;184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 rotWithShape="1">
          <a:blip r:embed="rId3">
            <a:alphaModFix/>
          </a:blip>
          <a:srcRect b="28380" l="88775" r="2153" t="55365"/>
          <a:stretch/>
        </p:blipFill>
        <p:spPr>
          <a:xfrm>
            <a:off x="3665546" y="2310149"/>
            <a:ext cx="359422" cy="2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numerical calculations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17896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gaps to make the approximations correct. You can only use each number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14068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Estimating using significant figures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.78\ \times927\ \approx\ 5\ \times\ 900\\&amp;#13;&amp;#10;3.892\ \times893\ \approx4\ \times\ 900\\&amp;#13;&amp;#10;203.38\ \div4.302\ \approx200\ \div\ 4\\&amp;#13;&amp;#10;245.29\ \div\ 47.29\ \approx250\ \div50\end{array}&quot;&gt;&lt;mtable columnalign=&quot;left&quot; columnspacing=&quot;1em&quot; rowspacing=&quot;4pt&quot;&gt;&lt;mtr&gt;&lt;mtd&gt;&lt;mn&gt;4.78&lt;/mn&gt;&lt;mtext&gt;&lt;/mtext&gt;&lt;mo&gt;×&lt;/mo&gt;&lt;mn&gt;927&lt;/mn&gt;&lt;mtext&gt;&lt;/mtext&gt;&lt;mo&gt;≈&lt;/mo&gt;&lt;mtext&gt;&lt;/mtext&gt;&lt;mn&gt;5&lt;/mn&gt;&lt;mtext&gt;&lt;/mtext&gt;&lt;mo&gt;×&lt;/mo&gt;&lt;mtext&gt;&lt;/mtext&gt;&lt;mn&gt;900&lt;/mn&gt;&lt;/mtd&gt;&lt;/mtr&gt;&lt;mtr&gt;&lt;mtd&gt;&lt;mn&gt;3.892&lt;/mn&gt;&lt;mtext&gt;&lt;/mtext&gt;&lt;mo&gt;×&lt;/mo&gt;&lt;mn&gt;893&lt;/mn&gt;&lt;mtext&gt;&lt;/mtext&gt;&lt;mo&gt;≈&lt;/mo&gt;&lt;mn&gt;4&lt;/mn&gt;&lt;mtext&gt;&lt;/mtext&gt;&lt;mo&gt;×&lt;/mo&gt;&lt;mtext&gt;&lt;/mtext&gt;&lt;mn&gt;900&lt;/mn&gt;&lt;/mtd&gt;&lt;/mtr&gt;&lt;mtr&gt;&lt;mtd&gt;&lt;mn&gt;203.38&lt;/mn&gt;&lt;mtext&gt;&lt;/mtext&gt;&lt;mo&gt;÷&lt;/mo&gt;&lt;mn&gt;4.302&lt;/mn&gt;&lt;mtext&gt;&lt;/mtext&gt;&lt;mo&gt;≈&lt;/mo&gt;&lt;mn&gt;200&lt;/mn&gt;&lt;mtext&gt;&lt;/mtext&gt;&lt;mo&gt;÷&lt;/mo&gt;&lt;mtext&gt;&lt;/mtext&gt;&lt;mn&gt;4&lt;/mn&gt;&lt;/mtd&gt;&lt;/mtr&gt;&lt;mtr&gt;&lt;mtd&gt;&lt;mn&gt;245.29&lt;/mn&gt;&lt;mtext&gt;&lt;/mtext&gt;&lt;mo&gt;÷&lt;/mo&gt;&lt;mtext&gt;&lt;/mtext&gt;&lt;mn&gt;47.29&lt;/mn&gt;&lt;mtext&gt;&lt;/mtext&gt;&lt;mo&gt;≈&lt;/mo&gt;&lt;mn&gt;250&lt;/mn&gt;&lt;mtext&gt;&lt;/mtext&gt;&lt;mo&gt;÷&lt;/mo&gt;&lt;mn&gt;50&lt;/mn&gt;&lt;/mtd&gt;&lt;/mtr&gt;&lt;/mtable&gt;&lt;/math&gt;" id="189" name="Google Shape;189;p20" title="4 lines Line 1: 4.78 times 927 almost equals 5 times 900 Line 2: 3.892 times 893 almost equals 4 times 900 Line 3: 203.38 division sign 4.302 almost equals 200 division sign 4 Line 4: 245.29 division sign 47.29 almost equals 250 division sign 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0" y="2919412"/>
            <a:ext cx="3050540" cy="127783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68000" y="2820900"/>
            <a:ext cx="51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11221" y="4500347"/>
            <a:ext cx="63807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this,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calculations would you use?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xplain your choice.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0\ \times\ 350\\&amp;#13;&amp;#10;20\ \times300\\&amp;#13;&amp;#10;19\ \times350\\&amp;#13;&amp;#10;19\ \times300\\&amp;#13;&amp;#10;\end{array}&quot;&gt;&lt;mtable columnalign=&quot;left&quot; columnspacing=&quot;1em&quot; rowspacing=&quot;4pt&quot;&gt;&lt;mtr&gt;&lt;mtd&gt;&lt;mn&gt;20&lt;/mn&gt;&lt;mtext&gt;&lt;/mtext&gt;&lt;mo&gt;×&lt;/mo&gt;&lt;mtext&gt;&lt;/mtext&gt;&lt;mn&gt;350&lt;/mn&gt;&lt;/mtd&gt;&lt;/mtr&gt;&lt;mtr&gt;&lt;mtd&gt;&lt;mn&gt;20&lt;/mn&gt;&lt;mtext&gt;&lt;/mtext&gt;&lt;mo&gt;×&lt;/mo&gt;&lt;mn&gt;300&lt;/mn&gt;&lt;/mtd&gt;&lt;/mtr&gt;&lt;mtr&gt;&lt;mtd&gt;&lt;mn&gt;19&lt;/mn&gt;&lt;mtext&gt;&lt;/mtext&gt;&lt;mo&gt;×&lt;/mo&gt;&lt;mn&gt;350&lt;/mn&gt;&lt;/mtd&gt;&lt;/mtr&gt;&lt;mtr&gt;&lt;mtd&gt;&lt;mn&gt;19&lt;/mn&gt;&lt;mtext&gt;&lt;/mtext&gt;&lt;mo&gt;×&lt;/mo&gt;&lt;mn&gt;300&lt;/mn&gt;&lt;/mtd&gt;&lt;/mtr&gt;&lt;/mtable&gt;&lt;/math&gt;" id="192" name="Google Shape;192;p20" title="4 lines Line 1: 20 times 350 Line 2: 20 times 300 Line 3: 19 times 350 Line 4: 19 times 300"/>
          <p:cNvPicPr preferRelativeResize="0"/>
          <p:nvPr/>
        </p:nvPicPr>
        <p:blipFill rotWithShape="1">
          <a:blip r:embed="rId4">
            <a:alphaModFix/>
          </a:blip>
          <a:srcRect b="82092" l="0" r="0" t="0"/>
          <a:stretch/>
        </p:blipFill>
        <p:spPr>
          <a:xfrm>
            <a:off x="1639255" y="5285467"/>
            <a:ext cx="941010" cy="205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0\ \times\ 350\\&amp;#13;&amp;#10;20\ \times300\\&amp;#13;&amp;#10;19\ \times350\\&amp;#13;&amp;#10;19\ \times300\\&amp;#13;&amp;#10;\end{array}&quot;&gt;&lt;mtable columnalign=&quot;left&quot; columnspacing=&quot;1em&quot; rowspacing=&quot;4pt&quot;&gt;&lt;mtr&gt;&lt;mtd&gt;&lt;mn&gt;20&lt;/mn&gt;&lt;mtext&gt;&lt;/mtext&gt;&lt;mo&gt;×&lt;/mo&gt;&lt;mtext&gt;&lt;/mtext&gt;&lt;mn&gt;350&lt;/mn&gt;&lt;/mtd&gt;&lt;/mtr&gt;&lt;mtr&gt;&lt;mtd&gt;&lt;mn&gt;20&lt;/mn&gt;&lt;mtext&gt;&lt;/mtext&gt;&lt;mo&gt;×&lt;/mo&gt;&lt;mn&gt;300&lt;/mn&gt;&lt;/mtd&gt;&lt;/mtr&gt;&lt;mtr&gt;&lt;mtd&gt;&lt;mn&gt;19&lt;/mn&gt;&lt;mtext&gt;&lt;/mtext&gt;&lt;mo&gt;×&lt;/mo&gt;&lt;mn&gt;350&lt;/mn&gt;&lt;/mtd&gt;&lt;/mtr&gt;&lt;mtr&gt;&lt;mtd&gt;&lt;mn&gt;19&lt;/mn&gt;&lt;mtext&gt;&lt;/mtext&gt;&lt;mo&gt;×&lt;/mo&gt;&lt;mn&gt;300&lt;/mn&gt;&lt;/mtd&gt;&lt;/mtr&gt;&lt;/mtable&gt;&lt;/math&gt;" id="193" name="Google Shape;193;p20" title="4 lines Line 1: 20 times 350 Line 2: 20 times 300 Line 3: 19 times 350 Line 4: 19 times 300"/>
          <p:cNvPicPr preferRelativeResize="0"/>
          <p:nvPr/>
        </p:nvPicPr>
        <p:blipFill rotWithShape="1">
          <a:blip r:embed="rId4">
            <a:alphaModFix/>
          </a:blip>
          <a:srcRect b="49495" l="0" r="0" t="21253"/>
          <a:stretch/>
        </p:blipFill>
        <p:spPr>
          <a:xfrm>
            <a:off x="2781165" y="5215618"/>
            <a:ext cx="941010" cy="335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0\ \times\ 350\\&amp;#13;&amp;#10;20\ \times300\\&amp;#13;&amp;#10;19\ \times350\\&amp;#13;&amp;#10;19\ \times300\\&amp;#13;&amp;#10;\end{array}&quot;&gt;&lt;mtable columnalign=&quot;left&quot; columnspacing=&quot;1em&quot; rowspacing=&quot;4pt&quot;&gt;&lt;mtr&gt;&lt;mtd&gt;&lt;mn&gt;20&lt;/mn&gt;&lt;mtext&gt;&lt;/mtext&gt;&lt;mo&gt;×&lt;/mo&gt;&lt;mtext&gt;&lt;/mtext&gt;&lt;mn&gt;350&lt;/mn&gt;&lt;/mtd&gt;&lt;/mtr&gt;&lt;mtr&gt;&lt;mtd&gt;&lt;mn&gt;20&lt;/mn&gt;&lt;mtext&gt;&lt;/mtext&gt;&lt;mo&gt;×&lt;/mo&gt;&lt;mn&gt;300&lt;/mn&gt;&lt;/mtd&gt;&lt;/mtr&gt;&lt;mtr&gt;&lt;mtd&gt;&lt;mn&gt;19&lt;/mn&gt;&lt;mtext&gt;&lt;/mtext&gt;&lt;mo&gt;×&lt;/mo&gt;&lt;mn&gt;350&lt;/mn&gt;&lt;/mtd&gt;&lt;/mtr&gt;&lt;mtr&gt;&lt;mtd&gt;&lt;mn&gt;19&lt;/mn&gt;&lt;mtext&gt;&lt;/mtext&gt;&lt;mo&gt;×&lt;/mo&gt;&lt;mn&gt;300&lt;/mn&gt;&lt;/mtd&gt;&lt;/mtr&gt;&lt;/mtable&gt;&lt;/math&gt;" id="194" name="Google Shape;194;p20" title="4 lines Line 1: 20 times 350 Line 2: 20 times 300 Line 3: 19 times 350 Line 4: 19 times 300"/>
          <p:cNvPicPr preferRelativeResize="0"/>
          <p:nvPr/>
        </p:nvPicPr>
        <p:blipFill rotWithShape="1">
          <a:blip r:embed="rId4">
            <a:alphaModFix/>
          </a:blip>
          <a:srcRect b="20583" l="0" r="0" t="48082"/>
          <a:stretch/>
        </p:blipFill>
        <p:spPr>
          <a:xfrm>
            <a:off x="3913352" y="5192681"/>
            <a:ext cx="941010" cy="359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0\ \times\ 350\\&amp;#13;&amp;#10;20\ \times300\\&amp;#13;&amp;#10;19\ \times350\\&amp;#13;&amp;#10;19\ \times300\\&amp;#13;&amp;#10;\end{array}&quot;&gt;&lt;mtable columnalign=&quot;left&quot; columnspacing=&quot;1em&quot; rowspacing=&quot;4pt&quot;&gt;&lt;mtr&gt;&lt;mtd&gt;&lt;mn&gt;20&lt;/mn&gt;&lt;mtext&gt;&lt;/mtext&gt;&lt;mo&gt;×&lt;/mo&gt;&lt;mtext&gt;&lt;/mtext&gt;&lt;mn&gt;350&lt;/mn&gt;&lt;/mtd&gt;&lt;/mtr&gt;&lt;mtr&gt;&lt;mtd&gt;&lt;mn&gt;20&lt;/mn&gt;&lt;mtext&gt;&lt;/mtext&gt;&lt;mo&gt;×&lt;/mo&gt;&lt;mn&gt;300&lt;/mn&gt;&lt;/mtd&gt;&lt;/mtr&gt;&lt;mtr&gt;&lt;mtd&gt;&lt;mn&gt;19&lt;/mn&gt;&lt;mtext&gt;&lt;/mtext&gt;&lt;mo&gt;×&lt;/mo&gt;&lt;mn&gt;350&lt;/mn&gt;&lt;/mtd&gt;&lt;/mtr&gt;&lt;mtr&gt;&lt;mtd&gt;&lt;mn&gt;19&lt;/mn&gt;&lt;mtext&gt;&lt;/mtext&gt;&lt;mo&gt;×&lt;/mo&gt;&lt;mn&gt;300&lt;/mn&gt;&lt;/mtd&gt;&lt;/mtr&gt;&lt;/mtable&gt;&lt;/math&gt;" id="195" name="Google Shape;195;p20" title="4 lines Line 1: 20 times 350 Line 2: 20 times 300 Line 3: 19 times 350 Line 4: 19 times 300"/>
          <p:cNvPicPr preferRelativeResize="0"/>
          <p:nvPr/>
        </p:nvPicPr>
        <p:blipFill rotWithShape="1">
          <a:blip r:embed="rId4">
            <a:alphaModFix/>
          </a:blip>
          <a:srcRect b="0" l="0" r="0" t="77096"/>
          <a:stretch/>
        </p:blipFill>
        <p:spPr>
          <a:xfrm>
            <a:off x="5050931" y="5195422"/>
            <a:ext cx="941010" cy="26240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1560790" y="5198714"/>
            <a:ext cx="1092000" cy="33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686412" y="5198714"/>
            <a:ext cx="1092000" cy="33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806995" y="5198714"/>
            <a:ext cx="1092000" cy="33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950518" y="5198714"/>
            <a:ext cx="1092000" cy="33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8000" y="5543132"/>
            <a:ext cx="66240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is no ‘right’ answer to this question. As long as there is justification to the calculation chosen.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example, 20 × 350 is acceptable as 19.173 has been rounded to 1 s.f. and 338 has been rounded to the nearest 50.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× 300 is acceptable as 19.173 has been rounded to 1 s.f. and 338 has been rounded to 1 s.f.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 × 350 is acceptable as 19.173 has been rounded to 2 s.f. and 338 has been rounded to the nearest 50.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 × 300 is acceptable as 19.173 has been rounded to 2 s.f. and 338 has been rounded to 1 s.f.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9.173\ \times\ 338&quot;&gt;&lt;mn&gt;19.173&lt;/mn&gt;&lt;mtext&gt;&lt;/mtext&gt;&lt;mo&gt;×&lt;/mo&gt;&lt;mtext&gt;&lt;/mtext&gt;&lt;mn&gt;338&lt;/mn&gt;&lt;/math&gt;" id="201" name="Google Shape;201;p20" title="19.173 times 3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2514" y="4662214"/>
            <a:ext cx="1918185" cy="24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68000" y="6954325"/>
            <a:ext cx="6624000" cy="1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of these gives the closest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gives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that is furthest away?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45600" y="7596925"/>
            <a:ext cx="6533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 x 350 gives the closest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since 19.173 is closer to 19 than 20 and 338 is closer to 350 than 300.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45600" y="8848300"/>
            <a:ext cx="6533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x 300 gives the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that is furthest away, since 20 is further from 19.173 than 19 and 300 is further from 338 than 350.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numerical calculations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5742\ \times\ 34.7}{875.42}\ \approx\ \frac{6000\ \times30}{900}\\&amp;#13;&amp;#10;\ \ \ \ \ \ \ \ \ \ \ \ \ \ \ \ \ \ \ \ \ \ \approx\frac{180\ 000}{900}\\&amp;#13;&amp;#10;\ \ \ \ \ \ \ \ \ \ \ \ \ \ \ \ \ \ \ \ \ \ \approx\ 200\end{array}&quot;&gt;&lt;mtable columnalign=&quot;left&quot; columnspacing=&quot;1em&quot; rowspacing=&quot;4pt&quot;&gt;&lt;mtr&gt;&lt;mtd&gt;&lt;mfrac&gt;&lt;mrow&gt;&lt;mn&gt;5742&lt;/mn&gt;&lt;mtext&gt;&lt;/mtext&gt;&lt;mo&gt;×&lt;/mo&gt;&lt;mtext&gt;&lt;/mtext&gt;&lt;mn&gt;34.7&lt;/mn&gt;&lt;/mrow&gt;&lt;mn&gt;875.42&lt;/mn&gt;&lt;/mfrac&gt;&lt;mtext&gt;&lt;/mtext&gt;&lt;mo&gt;≈&lt;/mo&gt;&lt;mtext&gt;&lt;/mtext&gt;&lt;mfrac&gt;&lt;mrow&gt;&lt;mn&gt;6000&lt;/mn&gt;&lt;mtext&gt;&lt;/mtext&gt;&lt;mo&gt;×&lt;/mo&gt;&lt;mn&gt;3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frac&gt;&lt;mrow&gt;&lt;mn&gt;180&lt;/mn&gt;&lt;mtext&gt;&lt;/mtext&gt;&lt;mn&gt;00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text&gt;&lt;/mtext&gt;&lt;mn&gt;200&lt;/mn&gt;&lt;/mtd&gt;&lt;/mtr&gt;&lt;/mtable&gt;&lt;/math&gt;" id="210" name="Google Shape;210;p21" title="3 lines Line 1: the fraction with numerator 5742 times 34.7 and denominator 875.42 almost equals the fraction with numerator 6000 times 30 and denominator 900 Line 2: almost equals the fraction with numerator 180 000 and denominator 900 Line 3: almost equals 200"/>
          <p:cNvPicPr preferRelativeResize="0"/>
          <p:nvPr/>
        </p:nvPicPr>
        <p:blipFill rotWithShape="1">
          <a:blip r:embed="rId3">
            <a:alphaModFix/>
          </a:blip>
          <a:srcRect b="0" l="60236" r="0" t="82253"/>
          <a:stretch/>
        </p:blipFill>
        <p:spPr>
          <a:xfrm>
            <a:off x="2028463" y="2677048"/>
            <a:ext cx="1069840" cy="227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742\ \times\ 34.7}{875.42}\ \approx\ \frac{6000\ \times30}{900}\\&amp;#13;&amp;#10;\ \ \ \ \ \ \ \ \ \ \ \ \ \ \ \ \ \ \ \ \ \ \approx\frac{180\ 000}{900}\\&amp;#13;&amp;#10;\ \ \ \ \ \ \ \ \ \ \ \ \ \ \ \ \ \ \ \ \ \ \approx\ 200\end{array}&quot;&gt;&lt;mtable columnalign=&quot;left&quot; columnspacing=&quot;1em&quot; rowspacing=&quot;4pt&quot;&gt;&lt;mtr&gt;&lt;mtd&gt;&lt;mfrac&gt;&lt;mrow&gt;&lt;mn&gt;5742&lt;/mn&gt;&lt;mtext&gt;&lt;/mtext&gt;&lt;mo&gt;×&lt;/mo&gt;&lt;mtext&gt;&lt;/mtext&gt;&lt;mn&gt;34.7&lt;/mn&gt;&lt;/mrow&gt;&lt;mn&gt;875.42&lt;/mn&gt;&lt;/mfrac&gt;&lt;mtext&gt;&lt;/mtext&gt;&lt;mo&gt;≈&lt;/mo&gt;&lt;mtext&gt;&lt;/mtext&gt;&lt;mfrac&gt;&lt;mrow&gt;&lt;mn&gt;6000&lt;/mn&gt;&lt;mtext&gt;&lt;/mtext&gt;&lt;mo&gt;×&lt;/mo&gt;&lt;mn&gt;3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frac&gt;&lt;mrow&gt;&lt;mn&gt;180&lt;/mn&gt;&lt;mtext&gt;&lt;/mtext&gt;&lt;mn&gt;00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text&gt;&lt;/mtext&gt;&lt;mn&gt;200&lt;/mn&gt;&lt;/mtd&gt;&lt;/mtr&gt;&lt;/mtable&gt;&lt;/math&gt;" id="211" name="Google Shape;211;p21" title="3 lines Line 1: the fraction with numerator 5742 times 34.7 and denominator 875.42 almost equals the fraction with numerator 6000 times 30 and denominator 900 Line 2: almost equals the fraction with numerator 180 000 and denominator 900 Line 3: almost equals 200"/>
          <p:cNvPicPr preferRelativeResize="0"/>
          <p:nvPr/>
        </p:nvPicPr>
        <p:blipFill rotWithShape="1">
          <a:blip r:embed="rId3">
            <a:alphaModFix/>
          </a:blip>
          <a:srcRect b="24681" l="60260" r="0" t="37509"/>
          <a:stretch/>
        </p:blipFill>
        <p:spPr>
          <a:xfrm>
            <a:off x="2016811" y="1990373"/>
            <a:ext cx="1042378" cy="471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468000" y="720000"/>
            <a:ext cx="66240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following,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making sure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742\ \times\ 34.7}{875.42}\ \approx\ \frac{6000\ \times30}{900}\\&amp;#13;&amp;#10;\ \ \ \ \ \ \ \ \ \ \ \ \ \ \ \ \ \ \ \ \ \ \approx\frac{18\ 000}{900}\\&amp;#13;&amp;#10;\ \ \ \ \ \ \ \ \ \ \ \ \ \ \ \ \ \ \ \ \ \ \approx\ 20\end{array}&quot;&gt;&lt;mtable columnalign=&quot;left&quot; columnspacing=&quot;1em&quot; rowspacing=&quot;4pt&quot;&gt;&lt;mtr&gt;&lt;mtd&gt;&lt;mfrac&gt;&lt;mrow&gt;&lt;mn&gt;5742&lt;/mn&gt;&lt;mtext&gt;&lt;/mtext&gt;&lt;mo&gt;×&lt;/mo&gt;&lt;mtext&gt;&lt;/mtext&gt;&lt;mn&gt;34.7&lt;/mn&gt;&lt;/mrow&gt;&lt;mn&gt;875.42&lt;/mn&gt;&lt;/mfrac&gt;&lt;mtext&gt;&lt;/mtext&gt;&lt;mo&gt;≈&lt;/mo&gt;&lt;mtext&gt;&lt;/mtext&gt;&lt;mfrac&gt;&lt;mrow&gt;&lt;mn&gt;6000&lt;/mn&gt;&lt;mtext&gt;&lt;/mtext&gt;&lt;mo&gt;×&lt;/mo&gt;&lt;mn&gt;3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frac&gt;&lt;mrow&gt;&lt;mn&gt;18&lt;/mn&gt;&lt;mtext&gt;&lt;/mtext&gt;&lt;mn&gt;00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text&gt;&lt;/mtext&gt;&lt;mn&gt;20&lt;/mn&gt;&lt;/mtd&gt;&lt;/mtr&gt;&lt;/mtable&gt;&lt;/math&gt;" id="213" name="Google Shape;213;p21" title="3 lines Line 1: the fraction with numerator 5742 times 34.7 and denominator 875.42 almost equals the fraction with numerator 6000 times 30 and denominator 900 Line 2: almost equals the fraction with numerator 18 000 and denominator 900 Line 3: almost equals 20"/>
          <p:cNvPicPr preferRelativeResize="0"/>
          <p:nvPr/>
        </p:nvPicPr>
        <p:blipFill rotWithShape="1">
          <a:blip r:embed="rId4">
            <a:alphaModFix/>
          </a:blip>
          <a:srcRect b="55634" l="0" r="53684" t="0"/>
          <a:stretch/>
        </p:blipFill>
        <p:spPr>
          <a:xfrm>
            <a:off x="815554" y="1467689"/>
            <a:ext cx="1189597" cy="562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left(61.35\ -\ 84.2\right)^2\ \approx\ \left(60\ -\ 80\right)^2\\&amp;#13;&amp;#10;\approx\ 20^2\\&amp;#13;&amp;#10;\approx\ 400\end{array}&quot;&gt;&lt;mtable columnalign=&quot;left&quot; columnspacing=&quot;1em&quot; rowspacing=&quot;4pt&quot;&gt;&lt;mtr&gt;&lt;mtd&gt;&lt;msup&gt;&lt;mrow data-mjx-texclass=&quot;INNER&quot;&gt;&lt;mo data-mjx-texclass=&quot;OPEN&quot;&gt;(&lt;/mo&gt;&lt;mn&gt;61.35&lt;/mn&gt;&lt;mtext&gt;&lt;/mtext&gt;&lt;mo&gt;−&lt;/mo&gt;&lt;mtext&gt;&lt;/mtext&gt;&lt;mn&gt;84.2&lt;/mn&gt;&lt;mo data-mjx-texclass=&quot;CLOSE&quot;&gt;)&lt;/mo&gt;&lt;/mrow&gt;&lt;mn&gt;2&lt;/mn&gt;&lt;/msup&gt;&lt;mtext&gt;&lt;/mtext&gt;&lt;mo&gt;≈&lt;/mo&gt;&lt;mtext&gt;&lt;/mtext&gt;&lt;msup&gt;&lt;mrow data-mjx-texclass=&quot;INNER&quot;&gt;&lt;mo data-mjx-texclass=&quot;OPEN&quot;&gt;(&lt;/mo&gt;&lt;mn&gt;60&lt;/mn&gt;&lt;mtext&gt;&lt;/mtext&gt;&lt;mo&gt;−&lt;/mo&gt;&lt;mtext&gt;&lt;/mtext&gt;&lt;mn&gt;80&lt;/mn&gt;&lt;mo data-mjx-texclass=&quot;CLOSE&quot;&gt;)&lt;/mo&gt;&lt;/mrow&gt;&lt;mn&gt;2&lt;/mn&gt;&lt;/msup&gt;&lt;/mtd&gt;&lt;/mtr&gt;&lt;mtr&gt;&lt;mtd&gt;&lt;mo&gt;≈&lt;/mo&gt;&lt;mtext&gt;&lt;/mtext&gt;&lt;msup&gt;&lt;mn&gt;20&lt;/mn&gt;&lt;mn&gt;2&lt;/mn&gt;&lt;/msup&gt;&lt;/mtd&gt;&lt;/mtr&gt;&lt;mtr&gt;&lt;mtd&gt;&lt;mo&gt;≈&lt;/mo&gt;&lt;mtext&gt;&lt;/mtext&gt;&lt;mn&gt;400&lt;/mn&gt;&lt;/mtd&gt;&lt;/mtr&gt;&lt;/mtable&gt;&lt;/math&gt;" id="214" name="Google Shape;214;p21" title="3 lines Line 1: open paren 61.35 minus 84.2 close paren squared almost equals open paren 60 minus 80 close paren squared Line 2: almost equals 20 squared Line 3: almost equals 400"/>
          <p:cNvPicPr preferRelativeResize="0"/>
          <p:nvPr/>
        </p:nvPicPr>
        <p:blipFill rotWithShape="1">
          <a:blip r:embed="rId5">
            <a:alphaModFix/>
          </a:blip>
          <a:srcRect b="65862" l="0" r="48038" t="0"/>
          <a:stretch/>
        </p:blipFill>
        <p:spPr>
          <a:xfrm>
            <a:off x="4051286" y="1467690"/>
            <a:ext cx="1583104" cy="30199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468000" y="1382447"/>
            <a:ext cx="4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648942" y="1382447"/>
            <a:ext cx="4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742\ \times\ 34.7}{875.42}\ \approx\ \frac{6000\ \times30}{900}\\&amp;#13;&amp;#10;\ \ \ \ \ \ \ \ \ \ \ \ \ \ \ \ \ \ \ \ \ \ \approx\frac{18\ 000}{900}\\&amp;#13;&amp;#10;\ \ \ \ \ \ \ \ \ \ \ \ \ \ \ \ \ \ \ \ \ \ \approx\ 20\end{array}&quot;&gt;&lt;mtable columnalign=&quot;left&quot; columnspacing=&quot;1em&quot; rowspacing=&quot;4pt&quot;&gt;&lt;mtr&gt;&lt;mtd&gt;&lt;mfrac&gt;&lt;mrow&gt;&lt;mn&gt;5742&lt;/mn&gt;&lt;mtext&gt;&lt;/mtext&gt;&lt;mo&gt;×&lt;/mo&gt;&lt;mtext&gt;&lt;/mtext&gt;&lt;mn&gt;34.7&lt;/mn&gt;&lt;/mrow&gt;&lt;mn&gt;875.42&lt;/mn&gt;&lt;/mfrac&gt;&lt;mtext&gt;&lt;/mtext&gt;&lt;mo&gt;≈&lt;/mo&gt;&lt;mtext&gt;&lt;/mtext&gt;&lt;mfrac&gt;&lt;mrow&gt;&lt;mn&gt;6000&lt;/mn&gt;&lt;mtext&gt;&lt;/mtext&gt;&lt;mo&gt;×&lt;/mo&gt;&lt;mn&gt;3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frac&gt;&lt;mrow&gt;&lt;mn&gt;18&lt;/mn&gt;&lt;mtext&gt;&lt;/mtext&gt;&lt;mn&gt;000&lt;/mn&gt;&lt;/mrow&gt;&lt;mn&gt;900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≈&lt;/mo&gt;&lt;mtext&gt;&lt;/mtext&gt;&lt;mn&gt;20&lt;/mn&gt;&lt;/mtd&gt;&lt;/mtr&gt;&lt;/mtable&gt;&lt;/math&gt;" id="217" name="Google Shape;217;p21" title="3 lines Line 1: the fraction with numerator 5742 times 34.7 and denominator 875.42 almost equals the fraction with numerator 6000 times 30 and denominator 900 Line 2: almost equals the fraction with numerator 18 000 and denominator 900 Line 3: almost equals 20"/>
          <p:cNvPicPr preferRelativeResize="0"/>
          <p:nvPr/>
        </p:nvPicPr>
        <p:blipFill rotWithShape="1">
          <a:blip r:embed="rId4">
            <a:alphaModFix/>
          </a:blip>
          <a:srcRect b="62814" l="47333" r="-2493" t="0"/>
          <a:stretch/>
        </p:blipFill>
        <p:spPr>
          <a:xfrm>
            <a:off x="2005151" y="1421755"/>
            <a:ext cx="1416704" cy="4717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left(61.35\ -\ 84.2\right)^2\ \approx\ \left(60\ -\ 80\right)^2\\&amp;#13;&amp;#10;\approx\ 20^2\\&amp;#13;&amp;#10;\approx\ 400\end{array}&quot;&gt;&lt;mtable columnalign=&quot;left&quot; columnspacing=&quot;1em&quot; rowspacing=&quot;4pt&quot;&gt;&lt;mtr&gt;&lt;mtd&gt;&lt;msup&gt;&lt;mrow data-mjx-texclass=&quot;INNER&quot;&gt;&lt;mo data-mjx-texclass=&quot;OPEN&quot;&gt;(&lt;/mo&gt;&lt;mn&gt;61.35&lt;/mn&gt;&lt;mtext&gt;&lt;/mtext&gt;&lt;mo&gt;−&lt;/mo&gt;&lt;mtext&gt;&lt;/mtext&gt;&lt;mn&gt;84.2&lt;/mn&gt;&lt;mo data-mjx-texclass=&quot;CLOSE&quot;&gt;)&lt;/mo&gt;&lt;/mrow&gt;&lt;mn&gt;2&lt;/mn&gt;&lt;/msup&gt;&lt;mtext&gt;&lt;/mtext&gt;&lt;mo&gt;≈&lt;/mo&gt;&lt;mtext&gt;&lt;/mtext&gt;&lt;msup&gt;&lt;mrow data-mjx-texclass=&quot;INNER&quot;&gt;&lt;mo data-mjx-texclass=&quot;OPEN&quot;&gt;(&lt;/mo&gt;&lt;mn&gt;60&lt;/mn&gt;&lt;mtext&gt;&lt;/mtext&gt;&lt;mo&gt;−&lt;/mo&gt;&lt;mtext&gt;&lt;/mtext&gt;&lt;mn&gt;80&lt;/mn&gt;&lt;mo data-mjx-texclass=&quot;CLOSE&quot;&gt;)&lt;/mo&gt;&lt;/mrow&gt;&lt;mn&gt;2&lt;/mn&gt;&lt;/msup&gt;&lt;/mtd&gt;&lt;/mtr&gt;&lt;mtr&gt;&lt;mtd&gt;&lt;mo&gt;≈&lt;/mo&gt;&lt;mtext&gt;&lt;/mtext&gt;&lt;msup&gt;&lt;mn&gt;20&lt;/mn&gt;&lt;mn&gt;2&lt;/mn&gt;&lt;/msup&gt;&lt;/mtd&gt;&lt;/mtr&gt;&lt;mtr&gt;&lt;mtd&gt;&lt;mo&gt;≈&lt;/mo&gt;&lt;mtext&gt;&lt;/mtext&gt;&lt;mn&gt;400&lt;/mn&gt;&lt;/mtd&gt;&lt;/mtr&gt;&lt;/mtable&gt;&lt;/math&gt;" id="218" name="Google Shape;218;p21" title="3 lines Line 1: open paren 61.35 minus 84.2 close paren squared almost equals open paren 60 minus 80 close paren squared Line 2: almost equals 20 squared Line 3: almost equals 400"/>
          <p:cNvPicPr preferRelativeResize="0"/>
          <p:nvPr/>
        </p:nvPicPr>
        <p:blipFill rotWithShape="1">
          <a:blip r:embed="rId5">
            <a:alphaModFix/>
          </a:blip>
          <a:srcRect b="65862" l="55417" r="-1915" t="0"/>
          <a:stretch/>
        </p:blipFill>
        <p:spPr>
          <a:xfrm>
            <a:off x="5634391" y="1458617"/>
            <a:ext cx="1416703" cy="301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left(61.35\ -\ 84.2\right)^2\ \approx\ \left(60\ -\ 80\right)^2\\&amp;#13;&amp;#10;\approx\ 20^2\\&amp;#13;&amp;#10;\approx\ 400\end{array}&quot;&gt;&lt;mtable columnalign=&quot;left&quot; columnspacing=&quot;1em&quot; rowspacing=&quot;4pt&quot;&gt;&lt;mtr&gt;&lt;mtd&gt;&lt;msup&gt;&lt;mrow data-mjx-texclass=&quot;INNER&quot;&gt;&lt;mo data-mjx-texclass=&quot;OPEN&quot;&gt;(&lt;/mo&gt;&lt;mn&gt;61.35&lt;/mn&gt;&lt;mtext&gt;&lt;/mtext&gt;&lt;mo&gt;−&lt;/mo&gt;&lt;mtext&gt;&lt;/mtext&gt;&lt;mn&gt;84.2&lt;/mn&gt;&lt;mo data-mjx-texclass=&quot;CLOSE&quot;&gt;)&lt;/mo&gt;&lt;/mrow&gt;&lt;mn&gt;2&lt;/mn&gt;&lt;/msup&gt;&lt;mtext&gt;&lt;/mtext&gt;&lt;mo&gt;≈&lt;/mo&gt;&lt;mtext&gt;&lt;/mtext&gt;&lt;msup&gt;&lt;mrow data-mjx-texclass=&quot;INNER&quot;&gt;&lt;mo data-mjx-texclass=&quot;OPEN&quot;&gt;(&lt;/mo&gt;&lt;mn&gt;60&lt;/mn&gt;&lt;mtext&gt;&lt;/mtext&gt;&lt;mo&gt;−&lt;/mo&gt;&lt;mtext&gt;&lt;/mtext&gt;&lt;mn&gt;80&lt;/mn&gt;&lt;mo data-mjx-texclass=&quot;CLOSE&quot;&gt;)&lt;/mo&gt;&lt;/mrow&gt;&lt;mn&gt;2&lt;/mn&gt;&lt;/msup&gt;&lt;/mtd&gt;&lt;/mtr&gt;&lt;mtr&gt;&lt;mtd&gt;&lt;mo&gt;≈&lt;/mo&gt;&lt;mtext&gt;&lt;/mtext&gt;&lt;msup&gt;&lt;mn&gt;20&lt;/mn&gt;&lt;mn&gt;2&lt;/mn&gt;&lt;/msup&gt;&lt;/mtd&gt;&lt;/mtr&gt;&lt;mtr&gt;&lt;mtd&gt;&lt;mo&gt;≈&lt;/mo&gt;&lt;mtext&gt;&lt;/mtext&gt;&lt;mn&gt;400&lt;/mn&gt;&lt;/mtd&gt;&lt;/mtr&gt;&lt;/mtable&gt;&lt;/math&gt;" id="219" name="Google Shape;219;p21" title="3 lines Line 1: open paren 61.35 minus 84.2 close paren squared almost equals open paren 60 minus 80 close paren squared Line 2: almost equals 20 squared Line 3: almost equals 400"/>
          <p:cNvPicPr preferRelativeResize="0"/>
          <p:nvPr/>
        </p:nvPicPr>
        <p:blipFill rotWithShape="1">
          <a:blip r:embed="rId5">
            <a:alphaModFix/>
          </a:blip>
          <a:srcRect b="-8757" l="-2393" r="74262" t="69522"/>
          <a:stretch/>
        </p:blipFill>
        <p:spPr>
          <a:xfrm>
            <a:off x="5574276" y="2500175"/>
            <a:ext cx="857091" cy="347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\ \left(-20\right)^2&quot;&gt;&lt;mo&gt;≈&lt;/mo&gt;&lt;mtext&gt;&lt;/mtext&gt;&lt;msup&gt;&lt;mrow data-mjx-texclass=&quot;INNER&quot;&gt;&lt;mo data-mjx-texclass=&quot;OPEN&quot;&gt;(&lt;/mo&gt;&lt;mo&gt;−&lt;/mo&gt;&lt;mn&gt;20&lt;/mn&gt;&lt;mo data-mjx-texclass=&quot;CLOSE&quot;&gt;)&lt;/mo&gt;&lt;/mrow&gt;&lt;mn&gt;2&lt;/mn&gt;&lt;/msup&gt;&lt;/math&gt;" id="220" name="Google Shape;220;p21" title="almost equals open paren negative 20 close paren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2458" y="1962789"/>
            <a:ext cx="929138" cy="26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5.3\ -\ 7.81}{0.24}\approx\frac{20\ -\ 10}{0.2}\\&amp;#13;&amp;#10;\approx\frac{10}{0.2}\\&amp;#13;&amp;#10;\approx10\ \div\ \frac{1}{5}\\&amp;#13;&amp;#10;\approx\ 10\ \times5\\&amp;#13;&amp;#10;\approx\ 50\end{array}&quot;&gt;&lt;mtable columnalign=&quot;left&quot; columnspacing=&quot;1em&quot; rowspacing=&quot;4pt&quot;&gt;&lt;mtr&gt;&lt;mtd&gt;&lt;mfrac&gt;&lt;mrow&gt;&lt;mn&gt;15.3&lt;/mn&gt;&lt;mtext&gt;&lt;/mtext&gt;&lt;mo&gt;−&lt;/mo&gt;&lt;mtext&gt;&lt;/mtext&gt;&lt;mn&gt;7.81&lt;/mn&gt;&lt;/mrow&gt;&lt;mn&gt;0.24&lt;/mn&gt;&lt;/mfrac&gt;&lt;mo&gt;≈&lt;/mo&gt;&lt;mfrac&gt;&lt;mrow&gt;&lt;mn&gt;20&lt;/mn&gt;&lt;mtext&gt;&lt;/mtext&gt;&lt;mo&gt;−&lt;/mo&gt;&lt;mtext&gt;&lt;/mtext&gt;&lt;mn&gt;10&lt;/mn&gt;&lt;/mrow&gt;&lt;mn&gt;0.2&lt;/mn&gt;&lt;/mfrac&gt;&lt;/mtd&gt;&lt;/mtr&gt;&lt;mtr&gt;&lt;mtd&gt;&lt;mo&gt;≈&lt;/mo&gt;&lt;mfrac&gt;&lt;mn&gt;10&lt;/mn&gt;&lt;mn&gt;0.2&lt;/mn&gt;&lt;/mfrac&gt;&lt;/mtd&gt;&lt;/mtr&gt;&lt;mtr&gt;&lt;mtd&gt;&lt;mo&gt;≈&lt;/mo&gt;&lt;mn&gt;10&lt;/mn&gt;&lt;mtext&gt;&lt;/mtext&gt;&lt;mo&gt;÷&lt;/mo&gt;&lt;mtext&gt;&lt;/mtext&gt;&lt;mfrac&gt;&lt;mn&gt;1&lt;/mn&gt;&lt;mn&gt;5&lt;/mn&gt;&lt;/mfrac&gt;&lt;/mtd&gt;&lt;/mtr&gt;&lt;mtr&gt;&lt;mtd&gt;&lt;mo&gt;≈&lt;/mo&gt;&lt;mtext&gt;&lt;/mtext&gt;&lt;mn&gt;10&lt;/mn&gt;&lt;mtext&gt;&lt;/mtext&gt;&lt;mo&gt;×&lt;/mo&gt;&lt;mn&gt;5&lt;/mn&gt;&lt;/mtd&gt;&lt;/mtr&gt;&lt;mtr&gt;&lt;mtd&gt;&lt;mo&gt;≈&lt;/mo&gt;&lt;mtext&gt;&lt;/mtext&gt;&lt;mn&gt;50&lt;/mn&gt;&lt;/mtd&gt;&lt;/mtr&gt;&lt;/mtable&gt;&lt;/math&gt;" id="221" name="Google Shape;221;p21" title="5 lines Line 1: the fraction with numerator 15.3 minus 7.81 and denominator 0.24 almost equals the fraction with numerator 20 minus 10 and denominator 0.2 Line 2: almost equals 10 over 0.2 Line 3: almost equals 10 division sign one fifth Line 4: almost equals 10 times 5 Line 5: almost equals 50"/>
          <p:cNvPicPr preferRelativeResize="0"/>
          <p:nvPr/>
        </p:nvPicPr>
        <p:blipFill rotWithShape="1">
          <a:blip r:embed="rId7">
            <a:alphaModFix/>
          </a:blip>
          <a:srcRect b="77263" l="0" r="50631" t="0"/>
          <a:stretch/>
        </p:blipFill>
        <p:spPr>
          <a:xfrm>
            <a:off x="842323" y="3158329"/>
            <a:ext cx="1241053" cy="56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68000" y="3158329"/>
            <a:ext cx="4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647982" y="3158329"/>
            <a:ext cx="4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5.3\ -\ 7.81}{0.24}\approx\frac{20\ -\ 10}{0.2}\\&amp;#13;&amp;#10;\approx\frac{10}{0.2}\\&amp;#13;&amp;#10;\approx10\ \div\ \frac{1}{5}\\&amp;#13;&amp;#10;\approx\ 10\ \times5\\&amp;#13;&amp;#10;\approx\ 50\end{array}&quot;&gt;&lt;mtable columnalign=&quot;left&quot; columnspacing=&quot;1em&quot; rowspacing=&quot;4pt&quot;&gt;&lt;mtr&gt;&lt;mtd&gt;&lt;mfrac&gt;&lt;mrow&gt;&lt;mn&gt;15.3&lt;/mn&gt;&lt;mtext&gt;&lt;/mtext&gt;&lt;mo&gt;−&lt;/mo&gt;&lt;mtext&gt;&lt;/mtext&gt;&lt;mn&gt;7.81&lt;/mn&gt;&lt;/mrow&gt;&lt;mn&gt;0.24&lt;/mn&gt;&lt;/mfrac&gt;&lt;mo&gt;≈&lt;/mo&gt;&lt;mfrac&gt;&lt;mrow&gt;&lt;mn&gt;20&lt;/mn&gt;&lt;mtext&gt;&lt;/mtext&gt;&lt;mo&gt;−&lt;/mo&gt;&lt;mtext&gt;&lt;/mtext&gt;&lt;mn&gt;10&lt;/mn&gt;&lt;/mrow&gt;&lt;mn&gt;0.2&lt;/mn&gt;&lt;/mfrac&gt;&lt;/mtd&gt;&lt;/mtr&gt;&lt;mtr&gt;&lt;mtd&gt;&lt;mo&gt;≈&lt;/mo&gt;&lt;mfrac&gt;&lt;mn&gt;10&lt;/mn&gt;&lt;mn&gt;0.2&lt;/mn&gt;&lt;/mfrac&gt;&lt;/mtd&gt;&lt;/mtr&gt;&lt;mtr&gt;&lt;mtd&gt;&lt;mo&gt;≈&lt;/mo&gt;&lt;mn&gt;10&lt;/mn&gt;&lt;mtext&gt;&lt;/mtext&gt;&lt;mo&gt;÷&lt;/mo&gt;&lt;mtext&gt;&lt;/mtext&gt;&lt;mfrac&gt;&lt;mn&gt;1&lt;/mn&gt;&lt;mn&gt;5&lt;/mn&gt;&lt;/mfrac&gt;&lt;/mtd&gt;&lt;/mtr&gt;&lt;mtr&gt;&lt;mtd&gt;&lt;mo&gt;≈&lt;/mo&gt;&lt;mtext&gt;&lt;/mtext&gt;&lt;mn&gt;10&lt;/mn&gt;&lt;mtext&gt;&lt;/mtext&gt;&lt;mo&gt;×&lt;/mo&gt;&lt;mn&gt;5&lt;/mn&gt;&lt;/mtd&gt;&lt;/mtr&gt;&lt;mtr&gt;&lt;mtd&gt;&lt;mo&gt;≈&lt;/mo&gt;&lt;mtext&gt;&lt;/mtext&gt;&lt;mn&gt;50&lt;/mn&gt;&lt;/mtd&gt;&lt;/mtr&gt;&lt;/mtable&gt;&lt;/math&gt;" id="224" name="Google Shape;224;p21" title="5 lines Line 1: the fraction with numerator 15.3 minus 7.81 and denominator 0.24 almost equals the fraction with numerator 20 minus 10 and denominator 0.2 Line 2: almost equals 10 over 0.2 Line 3: almost equals 10 division sign one fifth Line 4: almost equals 10 times 5 Line 5: almost equals 50"/>
          <p:cNvPicPr preferRelativeResize="0"/>
          <p:nvPr/>
        </p:nvPicPr>
        <p:blipFill rotWithShape="1">
          <a:blip r:embed="rId7">
            <a:alphaModFix/>
          </a:blip>
          <a:srcRect b="77263" l="49677" r="-2565" t="0"/>
          <a:stretch/>
        </p:blipFill>
        <p:spPr>
          <a:xfrm>
            <a:off x="2152326" y="3158329"/>
            <a:ext cx="1329522" cy="562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5.3\ -\ 7.81}{0.24}\approx\frac{20\ -\ 10}{0.2}\\&amp;#13;&amp;#10;\approx\frac{10}{0.2}\\&amp;#13;&amp;#10;\approx10\ \div\ \frac{1}{5}\\&amp;#13;&amp;#10;\approx\ 10\ \times5\\&amp;#13;&amp;#10;\approx\ 50\end{array}&quot;&gt;&lt;mtable columnalign=&quot;left&quot; columnspacing=&quot;1em&quot; rowspacing=&quot;4pt&quot;&gt;&lt;mtr&gt;&lt;mtd&gt;&lt;mfrac&gt;&lt;mrow&gt;&lt;mn&gt;15.3&lt;/mn&gt;&lt;mtext&gt;&lt;/mtext&gt;&lt;mo&gt;−&lt;/mo&gt;&lt;mtext&gt;&lt;/mtext&gt;&lt;mn&gt;7.81&lt;/mn&gt;&lt;/mrow&gt;&lt;mn&gt;0.24&lt;/mn&gt;&lt;/mfrac&gt;&lt;mo&gt;≈&lt;/mo&gt;&lt;mfrac&gt;&lt;mrow&gt;&lt;mn&gt;20&lt;/mn&gt;&lt;mtext&gt;&lt;/mtext&gt;&lt;mo&gt;−&lt;/mo&gt;&lt;mtext&gt;&lt;/mtext&gt;&lt;mn&gt;10&lt;/mn&gt;&lt;/mrow&gt;&lt;mn&gt;0.2&lt;/mn&gt;&lt;/mfrac&gt;&lt;/mtd&gt;&lt;/mtr&gt;&lt;mtr&gt;&lt;mtd&gt;&lt;mo&gt;≈&lt;/mo&gt;&lt;mfrac&gt;&lt;mn&gt;10&lt;/mn&gt;&lt;mn&gt;0.2&lt;/mn&gt;&lt;/mfrac&gt;&lt;/mtd&gt;&lt;/mtr&gt;&lt;mtr&gt;&lt;mtd&gt;&lt;mo&gt;≈&lt;/mo&gt;&lt;mn&gt;10&lt;/mn&gt;&lt;mtext&gt;&lt;/mtext&gt;&lt;mo&gt;÷&lt;/mo&gt;&lt;mtext&gt;&lt;/mtext&gt;&lt;mfrac&gt;&lt;mn&gt;1&lt;/mn&gt;&lt;mn&gt;5&lt;/mn&gt;&lt;/mfrac&gt;&lt;/mtd&gt;&lt;/mtr&gt;&lt;mtr&gt;&lt;mtd&gt;&lt;mo&gt;≈&lt;/mo&gt;&lt;mtext&gt;&lt;/mtext&gt;&lt;mn&gt;10&lt;/mn&gt;&lt;mtext&gt;&lt;/mtext&gt;&lt;mo&gt;×&lt;/mo&gt;&lt;mn&gt;5&lt;/mn&gt;&lt;/mtd&gt;&lt;/mtr&gt;&lt;mtr&gt;&lt;mtd&gt;&lt;mo&gt;≈&lt;/mo&gt;&lt;mtext&gt;&lt;/mtext&gt;&lt;mn&gt;50&lt;/mn&gt;&lt;/mtd&gt;&lt;/mtr&gt;&lt;/mtable&gt;&lt;/math&gt;" id="225" name="Google Shape;225;p21" title="5 lines Line 1: the fraction with numerator 15.3 minus 7.81 and denominator 0.24 almost equals the fraction with numerator 20 minus 10 and denominator 0.2 Line 2: almost equals 10 over 0.2 Line 3: almost equals 10 division sign one fifth Line 4: almost equals 10 times 5 Line 5: almost equals 50"/>
          <p:cNvPicPr preferRelativeResize="0"/>
          <p:nvPr/>
        </p:nvPicPr>
        <p:blipFill rotWithShape="1">
          <a:blip r:embed="rId7">
            <a:alphaModFix/>
          </a:blip>
          <a:srcRect b="54088" l="-1889" r="67783" t="23175"/>
          <a:stretch/>
        </p:blipFill>
        <p:spPr>
          <a:xfrm>
            <a:off x="2205226" y="3705212"/>
            <a:ext cx="857384" cy="562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5.3\ -\ 7.81}{0.24}\approx\frac{20\ -\ 10}{0.2}\\&amp;#13;&amp;#10;\approx\frac{10}{0.2}\\&amp;#13;&amp;#10;\approx10\ \div\ \frac{1}{5}\\&amp;#13;&amp;#10;\approx\ 10\ \times5\\&amp;#13;&amp;#10;\approx\ 50\end{array}&quot;&gt;&lt;mtable columnalign=&quot;left&quot; columnspacing=&quot;1em&quot; rowspacing=&quot;4pt&quot;&gt;&lt;mtr&gt;&lt;mtd&gt;&lt;mfrac&gt;&lt;mrow&gt;&lt;mn&gt;15.3&lt;/mn&gt;&lt;mtext&gt;&lt;/mtext&gt;&lt;mo&gt;−&lt;/mo&gt;&lt;mtext&gt;&lt;/mtext&gt;&lt;mn&gt;7.81&lt;/mn&gt;&lt;/mrow&gt;&lt;mn&gt;0.24&lt;/mn&gt;&lt;/mfrac&gt;&lt;mo&gt;≈&lt;/mo&gt;&lt;mfrac&gt;&lt;mrow&gt;&lt;mn&gt;20&lt;/mn&gt;&lt;mtext&gt;&lt;/mtext&gt;&lt;mo&gt;−&lt;/mo&gt;&lt;mtext&gt;&lt;/mtext&gt;&lt;mn&gt;10&lt;/mn&gt;&lt;/mrow&gt;&lt;mn&gt;0.2&lt;/mn&gt;&lt;/mfrac&gt;&lt;/mtd&gt;&lt;/mtr&gt;&lt;mtr&gt;&lt;mtd&gt;&lt;mo&gt;≈&lt;/mo&gt;&lt;mfrac&gt;&lt;mn&gt;10&lt;/mn&gt;&lt;mn&gt;0.2&lt;/mn&gt;&lt;/mfrac&gt;&lt;/mtd&gt;&lt;/mtr&gt;&lt;mtr&gt;&lt;mtd&gt;&lt;mo&gt;≈&lt;/mo&gt;&lt;mn&gt;10&lt;/mn&gt;&lt;mtext&gt;&lt;/mtext&gt;&lt;mo&gt;÷&lt;/mo&gt;&lt;mtext&gt;&lt;/mtext&gt;&lt;mfrac&gt;&lt;mn&gt;1&lt;/mn&gt;&lt;mn&gt;5&lt;/mn&gt;&lt;/mfrac&gt;&lt;/mtd&gt;&lt;/mtr&gt;&lt;mtr&gt;&lt;mtd&gt;&lt;mo&gt;≈&lt;/mo&gt;&lt;mtext&gt;&lt;/mtext&gt;&lt;mn&gt;10&lt;/mn&gt;&lt;mtext&gt;&lt;/mtext&gt;&lt;mo&gt;×&lt;/mo&gt;&lt;mn&gt;5&lt;/mn&gt;&lt;/mtd&gt;&lt;/mtr&gt;&lt;mtr&gt;&lt;mtd&gt;&lt;mo&gt;≈&lt;/mo&gt;&lt;mtext&gt;&lt;/mtext&gt;&lt;mn&gt;50&lt;/mn&gt;&lt;/mtd&gt;&lt;/mtr&gt;&lt;/mtable&gt;&lt;/math&gt;" id="226" name="Google Shape;226;p21" title="5 lines Line 1: the fraction with numerator 15.3 minus 7.81 and denominator 0.24 almost equals the fraction with numerator 20 minus 10 and denominator 0.2 Line 2: almost equals 10 over 0.2 Line 3: almost equals 10 division sign one fifth Line 4: almost equals 10 times 5 Line 5: almost equals 50"/>
          <p:cNvPicPr preferRelativeResize="0"/>
          <p:nvPr/>
        </p:nvPicPr>
        <p:blipFill rotWithShape="1">
          <a:blip r:embed="rId7">
            <a:alphaModFix/>
          </a:blip>
          <a:srcRect b="31351" l="-1886" r="37718" t="45911"/>
          <a:stretch/>
        </p:blipFill>
        <p:spPr>
          <a:xfrm>
            <a:off x="2205226" y="4267830"/>
            <a:ext cx="1613049" cy="562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5.3\ -\ 7.81}{0.24}\approx\frac{20\ -\ 10}{0.2}\\&amp;#13;&amp;#10;\approx\frac{10}{0.2}\\&amp;#13;&amp;#10;\approx10\ \div\ \frac{1}{5}\\&amp;#13;&amp;#10;\approx\ 10\ \times5\\&amp;#13;&amp;#10;\approx\ 50\end{array}&quot;&gt;&lt;mtable columnalign=&quot;left&quot; columnspacing=&quot;1em&quot; rowspacing=&quot;4pt&quot;&gt;&lt;mtr&gt;&lt;mtd&gt;&lt;mfrac&gt;&lt;mrow&gt;&lt;mn&gt;15.3&lt;/mn&gt;&lt;mtext&gt;&lt;/mtext&gt;&lt;mo&gt;−&lt;/mo&gt;&lt;mtext&gt;&lt;/mtext&gt;&lt;mn&gt;7.81&lt;/mn&gt;&lt;/mrow&gt;&lt;mn&gt;0.24&lt;/mn&gt;&lt;/mfrac&gt;&lt;mo&gt;≈&lt;/mo&gt;&lt;mfrac&gt;&lt;mrow&gt;&lt;mn&gt;20&lt;/mn&gt;&lt;mtext&gt;&lt;/mtext&gt;&lt;mo&gt;−&lt;/mo&gt;&lt;mtext&gt;&lt;/mtext&gt;&lt;mn&gt;10&lt;/mn&gt;&lt;/mrow&gt;&lt;mn&gt;0.2&lt;/mn&gt;&lt;/mfrac&gt;&lt;/mtd&gt;&lt;/mtr&gt;&lt;mtr&gt;&lt;mtd&gt;&lt;mo&gt;≈&lt;/mo&gt;&lt;mfrac&gt;&lt;mn&gt;10&lt;/mn&gt;&lt;mn&gt;0.2&lt;/mn&gt;&lt;/mfrac&gt;&lt;/mtd&gt;&lt;/mtr&gt;&lt;mtr&gt;&lt;mtd&gt;&lt;mo&gt;≈&lt;/mo&gt;&lt;mn&gt;10&lt;/mn&gt;&lt;mtext&gt;&lt;/mtext&gt;&lt;mo&gt;÷&lt;/mo&gt;&lt;mtext&gt;&lt;/mtext&gt;&lt;mfrac&gt;&lt;mn&gt;1&lt;/mn&gt;&lt;mn&gt;5&lt;/mn&gt;&lt;/mfrac&gt;&lt;/mtd&gt;&lt;/mtr&gt;&lt;mtr&gt;&lt;mtd&gt;&lt;mo&gt;≈&lt;/mo&gt;&lt;mtext&gt;&lt;/mtext&gt;&lt;mn&gt;10&lt;/mn&gt;&lt;mtext&gt;&lt;/mtext&gt;&lt;mo&gt;×&lt;/mo&gt;&lt;mn&gt;5&lt;/mn&gt;&lt;/mtd&gt;&lt;/mtr&gt;&lt;mtr&gt;&lt;mtd&gt;&lt;mo&gt;≈&lt;/mo&gt;&lt;mtext&gt;&lt;/mtext&gt;&lt;mn&gt;50&lt;/mn&gt;&lt;/mtd&gt;&lt;/mtr&gt;&lt;/mtable&gt;&lt;/math&gt;" id="227" name="Google Shape;227;p21" title="5 lines Line 1: the fraction with numerator 15.3 minus 7.81 and denominator 0.24 almost equals the fraction with numerator 20 minus 10 and denominator 0.2 Line 2: almost equals 10 over 0.2 Line 3: almost equals 10 division sign one fifth Line 4: almost equals 10 times 5 Line 5: almost equals 50"/>
          <p:cNvPicPr preferRelativeResize="0"/>
          <p:nvPr/>
        </p:nvPicPr>
        <p:blipFill rotWithShape="1">
          <a:blip r:embed="rId7">
            <a:alphaModFix/>
          </a:blip>
          <a:srcRect b="10051" l="-1892" r="37724" t="67211"/>
          <a:stretch/>
        </p:blipFill>
        <p:spPr>
          <a:xfrm>
            <a:off x="2205226" y="4854955"/>
            <a:ext cx="1613049" cy="562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5.3\ -\ 7.81}{0.24}\approx\frac{20\ -\ 10}{0.2}\\&amp;#13;&amp;#10;\approx\frac{10}{0.2}\\&amp;#13;&amp;#10;\approx10\ \div\ \frac{1}{5}\\&amp;#13;&amp;#10;\approx\ 10\ \times5\\&amp;#13;&amp;#10;\approx\ 50\end{array}&quot;&gt;&lt;mtable columnalign=&quot;left&quot; columnspacing=&quot;1em&quot; rowspacing=&quot;4pt&quot;&gt;&lt;mtr&gt;&lt;mtd&gt;&lt;mfrac&gt;&lt;mrow&gt;&lt;mn&gt;15.3&lt;/mn&gt;&lt;mtext&gt;&lt;/mtext&gt;&lt;mo&gt;−&lt;/mo&gt;&lt;mtext&gt;&lt;/mtext&gt;&lt;mn&gt;7.81&lt;/mn&gt;&lt;/mrow&gt;&lt;mn&gt;0.24&lt;/mn&gt;&lt;/mfrac&gt;&lt;mo&gt;≈&lt;/mo&gt;&lt;mfrac&gt;&lt;mrow&gt;&lt;mn&gt;20&lt;/mn&gt;&lt;mtext&gt;&lt;/mtext&gt;&lt;mo&gt;−&lt;/mo&gt;&lt;mtext&gt;&lt;/mtext&gt;&lt;mn&gt;10&lt;/mn&gt;&lt;/mrow&gt;&lt;mn&gt;0.2&lt;/mn&gt;&lt;/mfrac&gt;&lt;/mtd&gt;&lt;/mtr&gt;&lt;mtr&gt;&lt;mtd&gt;&lt;mo&gt;≈&lt;/mo&gt;&lt;mfrac&gt;&lt;mn&gt;10&lt;/mn&gt;&lt;mn&gt;0.2&lt;/mn&gt;&lt;/mfrac&gt;&lt;/mtd&gt;&lt;/mtr&gt;&lt;mtr&gt;&lt;mtd&gt;&lt;mo&gt;≈&lt;/mo&gt;&lt;mn&gt;10&lt;/mn&gt;&lt;mtext&gt;&lt;/mtext&gt;&lt;mo&gt;÷&lt;/mo&gt;&lt;mtext&gt;&lt;/mtext&gt;&lt;mfrac&gt;&lt;mn&gt;1&lt;/mn&gt;&lt;mn&gt;5&lt;/mn&gt;&lt;/mfrac&gt;&lt;/mtd&gt;&lt;/mtr&gt;&lt;mtr&gt;&lt;mtd&gt;&lt;mo&gt;≈&lt;/mo&gt;&lt;mtext&gt;&lt;/mtext&gt;&lt;mn&gt;10&lt;/mn&gt;&lt;mtext&gt;&lt;/mtext&gt;&lt;mo&gt;×&lt;/mo&gt;&lt;mn&gt;5&lt;/mn&gt;&lt;/mtd&gt;&lt;/mtr&gt;&lt;mtr&gt;&lt;mtd&gt;&lt;mo&gt;≈&lt;/mo&gt;&lt;mtext&gt;&lt;/mtext&gt;&lt;mn&gt;50&lt;/mn&gt;&lt;/mtd&gt;&lt;/mtr&gt;&lt;/mtable&gt;&lt;/math&gt;" id="228" name="Google Shape;228;p21" title="5 lines Line 1: the fraction with numerator 15.3 minus 7.81 and denominator 0.24 almost equals the fraction with numerator 20 minus 10 and denominator 0.2 Line 2: almost equals 10 over 0.2 Line 3: almost equals 10 division sign one fifth Line 4: almost equals 10 times 5 Line 5: almost equals 50"/>
          <p:cNvPicPr preferRelativeResize="0"/>
          <p:nvPr/>
        </p:nvPicPr>
        <p:blipFill rotWithShape="1">
          <a:blip r:embed="rId7">
            <a:alphaModFix/>
          </a:blip>
          <a:srcRect b="-5493" l="-1892" r="37724" t="82756"/>
          <a:stretch/>
        </p:blipFill>
        <p:spPr>
          <a:xfrm>
            <a:off x="2205226" y="5317233"/>
            <a:ext cx="1613049" cy="562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.6\ +\ 16.51}{19.3+7.51^2}\approx\frac{10\ +\ 20}{20\ +10^2}\\&amp;#13;&amp;#10;\approx\frac{30}{20+100}\\&amp;#13;&amp;#10;\approx\frac{30}{120}\\&amp;#13;&amp;#10;\approx\frac{1}{4}\end{array}&quot;&gt;&lt;mtable columnalign=&quot;left&quot; columnspacing=&quot;1em&quot; rowspacing=&quot;4pt&quot;&gt;&lt;mtr&gt;&lt;mtd&gt;&lt;mfrac&gt;&lt;mrow&gt;&lt;mn&gt;9.6&lt;/mn&gt;&lt;mtext&gt;&lt;/mtext&gt;&lt;mo&gt;+&lt;/mo&gt;&lt;mtext&gt;&lt;/mtext&gt;&lt;mn&gt;16.51&lt;/mn&gt;&lt;/mrow&gt;&lt;mrow&gt;&lt;mn&gt;19.3&lt;/mn&gt;&lt;mo&gt;+&lt;/mo&gt;&lt;msup&gt;&lt;mn&gt;7.51&lt;/mn&gt;&lt;mn&gt;2&lt;/mn&gt;&lt;/msup&gt;&lt;/mrow&gt;&lt;/mfrac&gt;&lt;mo&gt;≈&lt;/mo&gt;&lt;mfrac&gt;&lt;mrow&gt;&lt;mn&gt;10&lt;/mn&gt;&lt;mtext&gt;&lt;/mtext&gt;&lt;mo&gt;+&lt;/mo&gt;&lt;mtext&gt;&lt;/mtext&gt;&lt;mn&gt;20&lt;/mn&gt;&lt;/mrow&gt;&lt;mrow&gt;&lt;mn&gt;20&lt;/mn&gt;&lt;mtext&gt;&lt;/mtext&gt;&lt;mo&gt;+&lt;/mo&gt;&lt;msup&gt;&lt;mn&gt;10&lt;/mn&gt;&lt;mn&gt;2&lt;/mn&gt;&lt;/msup&gt;&lt;/mrow&gt;&lt;/mfrac&gt;&lt;/mtd&gt;&lt;/mtr&gt;&lt;mtr&gt;&lt;mtd&gt;&lt;mo&gt;≈&lt;/mo&gt;&lt;mfrac&gt;&lt;mn&gt;30&lt;/mn&gt;&lt;mrow&gt;&lt;mn&gt;20&lt;/mn&gt;&lt;mo&gt;+&lt;/mo&gt;&lt;mn&gt;100&lt;/mn&gt;&lt;/mrow&gt;&lt;/mfrac&gt;&lt;/mtd&gt;&lt;/mtr&gt;&lt;mtr&gt;&lt;mtd&gt;&lt;mo&gt;≈&lt;/mo&gt;&lt;mfrac&gt;&lt;mn&gt;30&lt;/mn&gt;&lt;mn&gt;120&lt;/mn&gt;&lt;/mfrac&gt;&lt;/mtd&gt;&lt;/mtr&gt;&lt;mtr&gt;&lt;mtd&gt;&lt;mo&gt;≈&lt;/mo&gt;&lt;mfrac&gt;&lt;mn&gt;1&lt;/mn&gt;&lt;mn&gt;4&lt;/mn&gt;&lt;/mfrac&gt;&lt;/mtd&gt;&lt;/mtr&gt;&lt;/mtable&gt;&lt;/math&gt;" id="229" name="Google Shape;229;p21" title="4 lines Line 1: the fraction with numerator 9.6 plus 16.51 and denominator 19.3 plus 7.51 squared almost equals the fraction with numerator 10 plus 20 and denominator 20 positive 10 squared Line 2: almost equals the fraction with numerator 30 and denominator 20 plus 100 Line 3: almost equals 30 over 120 Line 4: almost equals one fourth"/>
          <p:cNvPicPr preferRelativeResize="0"/>
          <p:nvPr/>
        </p:nvPicPr>
        <p:blipFill rotWithShape="1">
          <a:blip r:embed="rId8">
            <a:alphaModFix/>
          </a:blip>
          <a:srcRect b="73384" l="48391" r="-5141" t="0"/>
          <a:stretch/>
        </p:blipFill>
        <p:spPr>
          <a:xfrm>
            <a:off x="5484482" y="3119132"/>
            <a:ext cx="1538679" cy="640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.6\ +\ 16.51}{19.3+7.51^2}\approx\frac{10\ +\ 20}{20\ +10^2}\\&amp;#13;&amp;#10;\approx\frac{30}{20+100}\\&amp;#13;&amp;#10;\approx\frac{30}{120}\\&amp;#13;&amp;#10;\approx\frac{1}{4}\end{array}&quot;&gt;&lt;mtable columnalign=&quot;left&quot; columnspacing=&quot;1em&quot; rowspacing=&quot;4pt&quot;&gt;&lt;mtr&gt;&lt;mtd&gt;&lt;mfrac&gt;&lt;mrow&gt;&lt;mn&gt;9.6&lt;/mn&gt;&lt;mtext&gt;&lt;/mtext&gt;&lt;mo&gt;+&lt;/mo&gt;&lt;mtext&gt;&lt;/mtext&gt;&lt;mn&gt;16.51&lt;/mn&gt;&lt;/mrow&gt;&lt;mrow&gt;&lt;mn&gt;19.3&lt;/mn&gt;&lt;mo&gt;+&lt;/mo&gt;&lt;msup&gt;&lt;mn&gt;7.51&lt;/mn&gt;&lt;mn&gt;2&lt;/mn&gt;&lt;/msup&gt;&lt;/mrow&gt;&lt;/mfrac&gt;&lt;mo&gt;≈&lt;/mo&gt;&lt;mfrac&gt;&lt;mrow&gt;&lt;mn&gt;10&lt;/mn&gt;&lt;mtext&gt;&lt;/mtext&gt;&lt;mo&gt;+&lt;/mo&gt;&lt;mtext&gt;&lt;/mtext&gt;&lt;mn&gt;20&lt;/mn&gt;&lt;/mrow&gt;&lt;mrow&gt;&lt;mn&gt;20&lt;/mn&gt;&lt;mtext&gt;&lt;/mtext&gt;&lt;mo&gt;+&lt;/mo&gt;&lt;msup&gt;&lt;mn&gt;10&lt;/mn&gt;&lt;mn&gt;2&lt;/mn&gt;&lt;/msup&gt;&lt;/mrow&gt;&lt;/mfrac&gt;&lt;/mtd&gt;&lt;/mtr&gt;&lt;mtr&gt;&lt;mtd&gt;&lt;mo&gt;≈&lt;/mo&gt;&lt;mfrac&gt;&lt;mn&gt;30&lt;/mn&gt;&lt;mrow&gt;&lt;mn&gt;20&lt;/mn&gt;&lt;mo&gt;+&lt;/mo&gt;&lt;mn&gt;100&lt;/mn&gt;&lt;/mrow&gt;&lt;/mfrac&gt;&lt;/mtd&gt;&lt;/mtr&gt;&lt;mtr&gt;&lt;mtd&gt;&lt;mo&gt;≈&lt;/mo&gt;&lt;mfrac&gt;&lt;mn&gt;30&lt;/mn&gt;&lt;mn&gt;120&lt;/mn&gt;&lt;/mfrac&gt;&lt;/mtd&gt;&lt;/mtr&gt;&lt;mtr&gt;&lt;mtd&gt;&lt;mo&gt;≈&lt;/mo&gt;&lt;mfrac&gt;&lt;mn&gt;1&lt;/mn&gt;&lt;mn&gt;4&lt;/mn&gt;&lt;/mfrac&gt;&lt;/mtd&gt;&lt;/mtr&gt;&lt;/mtable&gt;&lt;/math&gt;" id="230" name="Google Shape;230;p21" title="4 lines Line 1: the fraction with numerator 9.6 plus 16.51 and denominator 19.3 plus 7.51 squared almost equals the fraction with numerator 10 plus 20 and denominator 20 positive 10 squared Line 2: almost equals the fraction with numerator 30 and denominator 20 plus 100 Line 3: almost equals 30 over 120 Line 4: almost equals one fourth"/>
          <p:cNvPicPr preferRelativeResize="0"/>
          <p:nvPr/>
        </p:nvPicPr>
        <p:blipFill rotWithShape="1">
          <a:blip r:embed="rId8">
            <a:alphaModFix/>
          </a:blip>
          <a:srcRect b="46170" l="-2582" r="45831" t="27214"/>
          <a:stretch/>
        </p:blipFill>
        <p:spPr>
          <a:xfrm>
            <a:off x="5544579" y="3880317"/>
            <a:ext cx="1538679" cy="640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.6\ +\ 16.51}{19.3+7.51^2}\approx\frac{10\ +\ 20}{20\ +10^2}\\&amp;#13;&amp;#10;\approx\frac{30}{20+100}\\&amp;#13;&amp;#10;\approx\frac{30}{120}\\&amp;#13;&amp;#10;\approx\frac{1}{4}\end{array}&quot;&gt;&lt;mtable columnalign=&quot;left&quot; columnspacing=&quot;1em&quot; rowspacing=&quot;4pt&quot;&gt;&lt;mtr&gt;&lt;mtd&gt;&lt;mfrac&gt;&lt;mrow&gt;&lt;mn&gt;9.6&lt;/mn&gt;&lt;mtext&gt;&lt;/mtext&gt;&lt;mo&gt;+&lt;/mo&gt;&lt;mtext&gt;&lt;/mtext&gt;&lt;mn&gt;16.51&lt;/mn&gt;&lt;/mrow&gt;&lt;mrow&gt;&lt;mn&gt;19.3&lt;/mn&gt;&lt;mo&gt;+&lt;/mo&gt;&lt;msup&gt;&lt;mn&gt;7.51&lt;/mn&gt;&lt;mn&gt;2&lt;/mn&gt;&lt;/msup&gt;&lt;/mrow&gt;&lt;/mfrac&gt;&lt;mo&gt;≈&lt;/mo&gt;&lt;mfrac&gt;&lt;mrow&gt;&lt;mn&gt;10&lt;/mn&gt;&lt;mtext&gt;&lt;/mtext&gt;&lt;mo&gt;+&lt;/mo&gt;&lt;mtext&gt;&lt;/mtext&gt;&lt;mn&gt;20&lt;/mn&gt;&lt;/mrow&gt;&lt;mrow&gt;&lt;mn&gt;20&lt;/mn&gt;&lt;mtext&gt;&lt;/mtext&gt;&lt;mo&gt;+&lt;/mo&gt;&lt;msup&gt;&lt;mn&gt;10&lt;/mn&gt;&lt;mn&gt;2&lt;/mn&gt;&lt;/msup&gt;&lt;/mrow&gt;&lt;/mfrac&gt;&lt;/mtd&gt;&lt;/mtr&gt;&lt;mtr&gt;&lt;mtd&gt;&lt;mo&gt;≈&lt;/mo&gt;&lt;mfrac&gt;&lt;mn&gt;30&lt;/mn&gt;&lt;mrow&gt;&lt;mn&gt;20&lt;/mn&gt;&lt;mo&gt;+&lt;/mo&gt;&lt;mn&gt;100&lt;/mn&gt;&lt;/mrow&gt;&lt;/mfrac&gt;&lt;/mtd&gt;&lt;/mtr&gt;&lt;mtr&gt;&lt;mtd&gt;&lt;mo&gt;≈&lt;/mo&gt;&lt;mfrac&gt;&lt;mn&gt;30&lt;/mn&gt;&lt;mn&gt;120&lt;/mn&gt;&lt;/mfrac&gt;&lt;/mtd&gt;&lt;/mtr&gt;&lt;mtr&gt;&lt;mtd&gt;&lt;mo&gt;≈&lt;/mo&gt;&lt;mfrac&gt;&lt;mn&gt;1&lt;/mn&gt;&lt;mn&gt;4&lt;/mn&gt;&lt;/mfrac&gt;&lt;/mtd&gt;&lt;/mtr&gt;&lt;/mtable&gt;&lt;/math&gt;" id="231" name="Google Shape;231;p21" title="4 lines Line 1: the fraction with numerator 9.6 plus 16.51 and denominator 19.3 plus 7.51 squared almost equals the fraction with numerator 10 plus 20 and denominator 20 positive 10 squared Line 2: almost equals the fraction with numerator 30 and denominator 20 plus 100 Line 3: almost equals 30 over 120 Line 4: almost equals one fourth"/>
          <p:cNvPicPr preferRelativeResize="0"/>
          <p:nvPr/>
        </p:nvPicPr>
        <p:blipFill rotWithShape="1">
          <a:blip r:embed="rId8">
            <a:alphaModFix/>
          </a:blip>
          <a:srcRect b="19535" l="-2258" r="45508" t="52396"/>
          <a:stretch/>
        </p:blipFill>
        <p:spPr>
          <a:xfrm>
            <a:off x="5553322" y="4596125"/>
            <a:ext cx="1538679" cy="675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.6\ +\ 16.51}{19.3+7.51^2}\approx\frac{10\ +\ 20}{20\ +10^2}\\&amp;#13;&amp;#10;\approx\frac{30}{20+100}\\&amp;#13;&amp;#10;\approx\frac{30}{120}\\&amp;#13;&amp;#10;\approx\frac{1}{4}\end{array}&quot;&gt;&lt;mtable columnalign=&quot;left&quot; columnspacing=&quot;1em&quot; rowspacing=&quot;4pt&quot;&gt;&lt;mtr&gt;&lt;mtd&gt;&lt;mfrac&gt;&lt;mrow&gt;&lt;mn&gt;9.6&lt;/mn&gt;&lt;mtext&gt;&lt;/mtext&gt;&lt;mo&gt;+&lt;/mo&gt;&lt;mtext&gt;&lt;/mtext&gt;&lt;mn&gt;16.51&lt;/mn&gt;&lt;/mrow&gt;&lt;mrow&gt;&lt;mn&gt;19.3&lt;/mn&gt;&lt;mo&gt;+&lt;/mo&gt;&lt;msup&gt;&lt;mn&gt;7.51&lt;/mn&gt;&lt;mn&gt;2&lt;/mn&gt;&lt;/msup&gt;&lt;/mrow&gt;&lt;/mfrac&gt;&lt;mo&gt;≈&lt;/mo&gt;&lt;mfrac&gt;&lt;mrow&gt;&lt;mn&gt;10&lt;/mn&gt;&lt;mtext&gt;&lt;/mtext&gt;&lt;mo&gt;+&lt;/mo&gt;&lt;mtext&gt;&lt;/mtext&gt;&lt;mn&gt;20&lt;/mn&gt;&lt;/mrow&gt;&lt;mrow&gt;&lt;mn&gt;20&lt;/mn&gt;&lt;mtext&gt;&lt;/mtext&gt;&lt;mo&gt;+&lt;/mo&gt;&lt;msup&gt;&lt;mn&gt;10&lt;/mn&gt;&lt;mn&gt;2&lt;/mn&gt;&lt;/msup&gt;&lt;/mrow&gt;&lt;/mfrac&gt;&lt;/mtd&gt;&lt;/mtr&gt;&lt;mtr&gt;&lt;mtd&gt;&lt;mo&gt;≈&lt;/mo&gt;&lt;mfrac&gt;&lt;mn&gt;30&lt;/mn&gt;&lt;mrow&gt;&lt;mn&gt;20&lt;/mn&gt;&lt;mo&gt;+&lt;/mo&gt;&lt;mn&gt;100&lt;/mn&gt;&lt;/mrow&gt;&lt;/mfrac&gt;&lt;/mtd&gt;&lt;/mtr&gt;&lt;mtr&gt;&lt;mtd&gt;&lt;mo&gt;≈&lt;/mo&gt;&lt;mfrac&gt;&lt;mn&gt;30&lt;/mn&gt;&lt;mn&gt;120&lt;/mn&gt;&lt;/mfrac&gt;&lt;/mtd&gt;&lt;/mtr&gt;&lt;mtr&gt;&lt;mtd&gt;&lt;mo&gt;≈&lt;/mo&gt;&lt;mfrac&gt;&lt;mn&gt;1&lt;/mn&gt;&lt;mn&gt;4&lt;/mn&gt;&lt;/mfrac&gt;&lt;/mtd&gt;&lt;/mtr&gt;&lt;/mtable&gt;&lt;/math&gt;" id="232" name="Google Shape;232;p21" title="4 lines Line 1: the fraction with numerator 9.6 plus 16.51 and denominator 19.3 plus 7.51 squared almost equals the fraction with numerator 10 plus 20 and denominator 20 positive 10 squared Line 2: almost equals the fraction with numerator 30 and denominator 20 plus 100 Line 3: almost equals 30 over 120 Line 4: almost equals one fourth"/>
          <p:cNvPicPr preferRelativeResize="0"/>
          <p:nvPr/>
        </p:nvPicPr>
        <p:blipFill rotWithShape="1">
          <a:blip r:embed="rId8">
            <a:alphaModFix/>
          </a:blip>
          <a:srcRect b="-2969" l="0" r="70987" t="74901"/>
          <a:stretch/>
        </p:blipFill>
        <p:spPr>
          <a:xfrm>
            <a:off x="5622161" y="5137062"/>
            <a:ext cx="786620" cy="675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.6\ +\ 16.51}{19.3+9.51^2}\end{array}&quot;&gt;&lt;mtable columnalign=&quot;left&quot; columnspacing=&quot;1em&quot; rowspacing=&quot;4pt&quot;&gt;&lt;mtr&gt;&lt;mtd&gt;&lt;mfrac&gt;&lt;mrow&gt;&lt;mn&gt;9.6&lt;/mn&gt;&lt;mtext&gt;&lt;/mtext&gt;&lt;mo&gt;+&lt;/mo&gt;&lt;mtext&gt;&lt;/mtext&gt;&lt;mn&gt;16.51&lt;/mn&gt;&lt;/mrow&gt;&lt;mrow&gt;&lt;mn&gt;19.3&lt;/mn&gt;&lt;mo&gt;+&lt;/mo&gt;&lt;msup&gt;&lt;mn&gt;9.51&lt;/mn&gt;&lt;mn&gt;2&lt;/mn&gt;&lt;/msup&gt;&lt;/mrow&gt;&lt;/mfrac&gt;&lt;/mtd&gt;&lt;/mtr&gt;&lt;/mtable&gt;&lt;/math&gt;" id="233" name="Google Shape;233;p21" title="1 lines Line 1: the fraction with numerator 9.6 plus 16.51 and denominator 19.3 plus 9.51 squar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42213" y="3119122"/>
            <a:ext cx="1250264" cy="56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468000" y="5879850"/>
            <a:ext cx="40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748416" y="5879850"/>
            <a:ext cx="40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4^2-\sqrt{139.82}\approx30^2-\sqrt{144}\approx900\ -\ 12\ \approx888&quot;&gt;&lt;msup&gt;&lt;mn&gt;34&lt;/mn&gt;&lt;mn&gt;2&lt;/mn&gt;&lt;/msup&gt;&lt;mo&gt;−&lt;/mo&gt;&lt;msqrt&gt;&lt;mn&gt;139.82&lt;/mn&gt;&lt;/msqrt&gt;&lt;mo&gt;≈&lt;/mo&gt;&lt;msup&gt;&lt;mn&gt;30&lt;/mn&gt;&lt;mn&gt;2&lt;/mn&gt;&lt;/msup&gt;&lt;mo&gt;−&lt;/mo&gt;&lt;msqrt&gt;&lt;mn&gt;144&lt;/mn&gt;&lt;/msqrt&gt;&lt;mo&gt;≈&lt;/mo&gt;&lt;mn&gt;900&lt;/mn&gt;&lt;mtext&gt;&lt;/mtext&gt;&lt;mo&gt;−&lt;/mo&gt;&lt;mtext&gt;&lt;/mtext&gt;&lt;mn&gt;12&lt;/mn&gt;&lt;mtext&gt;&lt;/mtext&gt;&lt;mo&gt;≈&lt;/mo&gt;&lt;mn&gt;888&lt;/mn&gt;&lt;/math&gt;" id="236" name="Google Shape;236;p21" title="34 squared minus the square root of 139.82 almost equals 30 squared minus the square root of 144 almost equals 900 minus 12 almost equals 888"/>
          <p:cNvPicPr preferRelativeResize="0"/>
          <p:nvPr/>
        </p:nvPicPr>
        <p:blipFill rotWithShape="1">
          <a:blip r:embed="rId10">
            <a:alphaModFix/>
          </a:blip>
          <a:srcRect b="0" l="0" r="68900" t="0"/>
          <a:stretch/>
        </p:blipFill>
        <p:spPr>
          <a:xfrm>
            <a:off x="4033949" y="5910357"/>
            <a:ext cx="1559250" cy="305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.049+4.21}{0.82\ -\ 0.301}\approx\frac{10-4}{0.8-0.3}\ \approx\frac{6}{0.5}\approx6\ \div\frac{1}{2}\approx6\ \times2\ \approx12&quot;&gt;&lt;mfrac&gt;&lt;mrow&gt;&lt;mn&gt;11.049&lt;/mn&gt;&lt;mo&gt;+&lt;/mo&gt;&lt;mn&gt;4.21&lt;/mn&gt;&lt;/mrow&gt;&lt;mrow&gt;&lt;mn&gt;0.82&lt;/mn&gt;&lt;mtext&gt;&lt;/mtext&gt;&lt;mo&gt;−&lt;/mo&gt;&lt;mtext&gt;&lt;/mtext&gt;&lt;mn&gt;0.301&lt;/mn&gt;&lt;/mrow&gt;&lt;/mfrac&gt;&lt;mo&gt;≈&lt;/mo&gt;&lt;mfrac&gt;&lt;mrow&gt;&lt;mn&gt;10&lt;/mn&gt;&lt;mo&gt;−&lt;/mo&gt;&lt;mn&gt;4&lt;/mn&gt;&lt;/mrow&gt;&lt;mrow&gt;&lt;mn&gt;0.8&lt;/mn&gt;&lt;mo&gt;−&lt;/mo&gt;&lt;mn&gt;0.3&lt;/mn&gt;&lt;/mrow&gt;&lt;/mfrac&gt;&lt;mtext&gt;&lt;/mtext&gt;&lt;mo&gt;≈&lt;/mo&gt;&lt;mfrac&gt;&lt;mn&gt;6&lt;/mn&gt;&lt;mn&gt;0.5&lt;/mn&gt;&lt;/mfrac&gt;&lt;mo&gt;≈&lt;/mo&gt;&lt;mn&gt;6&lt;/mn&gt;&lt;mtext&gt;&lt;/mtext&gt;&lt;mo&gt;÷&lt;/mo&gt;&lt;mfrac&gt;&lt;mn&gt;1&lt;/mn&gt;&lt;mn&gt;2&lt;/mn&gt;&lt;/mfrac&gt;&lt;mo&gt;≈&lt;/mo&gt;&lt;mn&gt;6&lt;/mn&gt;&lt;mtext&gt;&lt;/mtext&gt;&lt;mo&gt;×&lt;/mo&gt;&lt;mn&gt;2&lt;/mn&gt;&lt;mtext&gt;&lt;/mtext&gt;&lt;mo&gt;≈&lt;/mo&gt;&lt;mn&gt;12&lt;/mn&gt;&lt;/math&gt;" id="237" name="Google Shape;237;p21" title="the fraction with numerator 11.049 plus 4.21 and denominator 0.82 minus 0.301 almost equals the fraction with numerator 10 minus 4 and denominator 0.8 minus 0.3 almost equals 6 over 0.5 almost equals 6 division sign one half almost equals 6 times 2 almost equals 12"/>
          <p:cNvPicPr preferRelativeResize="0"/>
          <p:nvPr/>
        </p:nvPicPr>
        <p:blipFill rotWithShape="1">
          <a:blip r:embed="rId11">
            <a:alphaModFix/>
          </a:blip>
          <a:srcRect b="0" l="46957" r="41065" t="0"/>
          <a:stretch/>
        </p:blipFill>
        <p:spPr>
          <a:xfrm>
            <a:off x="2360240" y="6640372"/>
            <a:ext cx="717343" cy="519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.049+4.21}{0.82\ -\ 0.301}\approx\frac{10-4}{0.8-0.3}\ \approx\frac{6}{0.5}\approx6\ \div\frac{1}{2}\approx6\ \times2\ \approx12&quot;&gt;&lt;mfrac&gt;&lt;mrow&gt;&lt;mn&gt;11.049&lt;/mn&gt;&lt;mo&gt;+&lt;/mo&gt;&lt;mn&gt;4.21&lt;/mn&gt;&lt;/mrow&gt;&lt;mrow&gt;&lt;mn&gt;0.82&lt;/mn&gt;&lt;mtext&gt;&lt;/mtext&gt;&lt;mo&gt;−&lt;/mo&gt;&lt;mtext&gt;&lt;/mtext&gt;&lt;mn&gt;0.301&lt;/mn&gt;&lt;/mrow&gt;&lt;/mfrac&gt;&lt;mo&gt;≈&lt;/mo&gt;&lt;mfrac&gt;&lt;mrow&gt;&lt;mn&gt;10&lt;/mn&gt;&lt;mo&gt;−&lt;/mo&gt;&lt;mn&gt;4&lt;/mn&gt;&lt;/mrow&gt;&lt;mrow&gt;&lt;mn&gt;0.8&lt;/mn&gt;&lt;mo&gt;−&lt;/mo&gt;&lt;mn&gt;0.3&lt;/mn&gt;&lt;/mrow&gt;&lt;/mfrac&gt;&lt;mtext&gt;&lt;/mtext&gt;&lt;mo&gt;≈&lt;/mo&gt;&lt;mfrac&gt;&lt;mn&gt;6&lt;/mn&gt;&lt;mn&gt;0.5&lt;/mn&gt;&lt;/mfrac&gt;&lt;mo&gt;≈&lt;/mo&gt;&lt;mn&gt;6&lt;/mn&gt;&lt;mtext&gt;&lt;/mtext&gt;&lt;mo&gt;÷&lt;/mo&gt;&lt;mfrac&gt;&lt;mn&gt;1&lt;/mn&gt;&lt;mn&gt;2&lt;/mn&gt;&lt;/mfrac&gt;&lt;mo&gt;≈&lt;/mo&gt;&lt;mn&gt;6&lt;/mn&gt;&lt;mtext&gt;&lt;/mtext&gt;&lt;mo&gt;×&lt;/mo&gt;&lt;mn&gt;2&lt;/mn&gt;&lt;mtext&gt;&lt;/mtext&gt;&lt;mo&gt;≈&lt;/mo&gt;&lt;mn&gt;12&lt;/mn&gt;&lt;/math&gt;" id="238" name="Google Shape;238;p21" title="the fraction with numerator 11.049 plus 4.21 and denominator 0.82 minus 0.301 almost equals the fraction with numerator 10 minus 4 and denominator 0.8 minus 0.3 almost equals 6 over 0.5 almost equals 6 division sign one half almost equals 6 times 2 almost equals 12"/>
          <p:cNvPicPr preferRelativeResize="0"/>
          <p:nvPr/>
        </p:nvPicPr>
        <p:blipFill rotWithShape="1">
          <a:blip r:embed="rId11">
            <a:alphaModFix/>
          </a:blip>
          <a:srcRect b="0" l="24389" r="53042" t="0"/>
          <a:stretch/>
        </p:blipFill>
        <p:spPr>
          <a:xfrm>
            <a:off x="2360242" y="5982436"/>
            <a:ext cx="1351662" cy="519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.049+4.21}{0.82\ -\ 0.301}\approx\frac{10-4}{0.8-0.3}\ \approx\frac{6}{0.5}\approx6\ \div\frac{1}{2}\approx6\ \times2\ \approx12&quot;&gt;&lt;mfrac&gt;&lt;mrow&gt;&lt;mn&gt;11.049&lt;/mn&gt;&lt;mo&gt;+&lt;/mo&gt;&lt;mn&gt;4.21&lt;/mn&gt;&lt;/mrow&gt;&lt;mrow&gt;&lt;mn&gt;0.82&lt;/mn&gt;&lt;mtext&gt;&lt;/mtext&gt;&lt;mo&gt;−&lt;/mo&gt;&lt;mtext&gt;&lt;/mtext&gt;&lt;mn&gt;0.301&lt;/mn&gt;&lt;/mrow&gt;&lt;/mfrac&gt;&lt;mo&gt;≈&lt;/mo&gt;&lt;mfrac&gt;&lt;mrow&gt;&lt;mn&gt;10&lt;/mn&gt;&lt;mo&gt;−&lt;/mo&gt;&lt;mn&gt;4&lt;/mn&gt;&lt;/mrow&gt;&lt;mrow&gt;&lt;mn&gt;0.8&lt;/mn&gt;&lt;mo&gt;−&lt;/mo&gt;&lt;mn&gt;0.3&lt;/mn&gt;&lt;/mrow&gt;&lt;/mfrac&gt;&lt;mtext&gt;&lt;/mtext&gt;&lt;mo&gt;≈&lt;/mo&gt;&lt;mfrac&gt;&lt;mn&gt;6&lt;/mn&gt;&lt;mn&gt;0.5&lt;/mn&gt;&lt;/mfrac&gt;&lt;mo&gt;≈&lt;/mo&gt;&lt;mn&gt;6&lt;/mn&gt;&lt;mtext&gt;&lt;/mtext&gt;&lt;mo&gt;÷&lt;/mo&gt;&lt;mfrac&gt;&lt;mn&gt;1&lt;/mn&gt;&lt;mn&gt;2&lt;/mn&gt;&lt;/mfrac&gt;&lt;mo&gt;≈&lt;/mo&gt;&lt;mn&gt;6&lt;/mn&gt;&lt;mtext&gt;&lt;/mtext&gt;&lt;mo&gt;×&lt;/mo&gt;&lt;mn&gt;2&lt;/mn&gt;&lt;mtext&gt;&lt;/mtext&gt;&lt;mo&gt;≈&lt;/mo&gt;&lt;mn&gt;12&lt;/mn&gt;&lt;/math&gt;" id="239" name="Google Shape;239;p21" title="the fraction with numerator 11.049 plus 4.21 and denominator 0.82 minus 0.301 almost equals the fraction with numerator 10 minus 4 and denominator 0.8 minus 0.3 almost equals 6 over 0.5 almost equals 6 division sign one half almost equals 6 times 2 almost equals 12"/>
          <p:cNvPicPr preferRelativeResize="0"/>
          <p:nvPr/>
        </p:nvPicPr>
        <p:blipFill rotWithShape="1">
          <a:blip r:embed="rId11">
            <a:alphaModFix/>
          </a:blip>
          <a:srcRect b="0" l="59556" r="25078" t="0"/>
          <a:stretch/>
        </p:blipFill>
        <p:spPr>
          <a:xfrm>
            <a:off x="2421087" y="7253632"/>
            <a:ext cx="920239" cy="519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.049+4.21}{0.82\ -\ 0.301}\approx\frac{10-4}{0.8-0.3}\ \approx\frac{6}{0.5}\approx6\ \div\frac{1}{2}\approx6\ \times2\ \approx12&quot;&gt;&lt;mfrac&gt;&lt;mrow&gt;&lt;mn&gt;11.049&lt;/mn&gt;&lt;mo&gt;+&lt;/mo&gt;&lt;mn&gt;4.21&lt;/mn&gt;&lt;/mrow&gt;&lt;mrow&gt;&lt;mn&gt;0.82&lt;/mn&gt;&lt;mtext&gt;&lt;/mtext&gt;&lt;mo&gt;−&lt;/mo&gt;&lt;mtext&gt;&lt;/mtext&gt;&lt;mn&gt;0.301&lt;/mn&gt;&lt;/mrow&gt;&lt;/mfrac&gt;&lt;mo&gt;≈&lt;/mo&gt;&lt;mfrac&gt;&lt;mrow&gt;&lt;mn&gt;10&lt;/mn&gt;&lt;mo&gt;−&lt;/mo&gt;&lt;mn&gt;4&lt;/mn&gt;&lt;/mrow&gt;&lt;mrow&gt;&lt;mn&gt;0.8&lt;/mn&gt;&lt;mo&gt;−&lt;/mo&gt;&lt;mn&gt;0.3&lt;/mn&gt;&lt;/mrow&gt;&lt;/mfrac&gt;&lt;mtext&gt;&lt;/mtext&gt;&lt;mo&gt;≈&lt;/mo&gt;&lt;mfrac&gt;&lt;mn&gt;6&lt;/mn&gt;&lt;mn&gt;0.5&lt;/mn&gt;&lt;/mfrac&gt;&lt;mo&gt;≈&lt;/mo&gt;&lt;mn&gt;6&lt;/mn&gt;&lt;mtext&gt;&lt;/mtext&gt;&lt;mo&gt;÷&lt;/mo&gt;&lt;mfrac&gt;&lt;mn&gt;1&lt;/mn&gt;&lt;mn&gt;2&lt;/mn&gt;&lt;/mfrac&gt;&lt;mo&gt;≈&lt;/mo&gt;&lt;mn&gt;6&lt;/mn&gt;&lt;mtext&gt;&lt;/mtext&gt;&lt;mo&gt;×&lt;/mo&gt;&lt;mn&gt;2&lt;/mn&gt;&lt;mtext&gt;&lt;/mtext&gt;&lt;mo&gt;≈&lt;/mo&gt;&lt;mn&gt;12&lt;/mn&gt;&lt;/math&gt;" id="240" name="Google Shape;240;p21" title="the fraction with numerator 11.049 plus 4.21 and denominator 0.82 minus 0.301 almost equals the fraction with numerator 10 minus 4 and denominator 0.8 minus 0.3 almost equals 6 over 0.5 almost equals 6 division sign one half almost equals 6 times 2 almost equals 12"/>
          <p:cNvPicPr preferRelativeResize="0"/>
          <p:nvPr/>
        </p:nvPicPr>
        <p:blipFill rotWithShape="1">
          <a:blip r:embed="rId11">
            <a:alphaModFix/>
          </a:blip>
          <a:srcRect b="0" l="74921" r="7929" t="0"/>
          <a:stretch/>
        </p:blipFill>
        <p:spPr>
          <a:xfrm>
            <a:off x="2386352" y="7745202"/>
            <a:ext cx="1027059" cy="519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.049+4.21}{0.82\ -\ 0.301}\approx\frac{10-4}{0.8-0.3}\ \approx\frac{6}{0.5}\approx6\ \div\frac{1}{2}\approx6\ \times2\ \approx12&quot;&gt;&lt;mfrac&gt;&lt;mrow&gt;&lt;mn&gt;11.049&lt;/mn&gt;&lt;mo&gt;+&lt;/mo&gt;&lt;mn&gt;4.21&lt;/mn&gt;&lt;/mrow&gt;&lt;mrow&gt;&lt;mn&gt;0.82&lt;/mn&gt;&lt;mtext&gt;&lt;/mtext&gt;&lt;mo&gt;−&lt;/mo&gt;&lt;mtext&gt;&lt;/mtext&gt;&lt;mn&gt;0.301&lt;/mn&gt;&lt;/mrow&gt;&lt;/mfrac&gt;&lt;mo&gt;≈&lt;/mo&gt;&lt;mfrac&gt;&lt;mrow&gt;&lt;mn&gt;10&lt;/mn&gt;&lt;mo&gt;−&lt;/mo&gt;&lt;mn&gt;4&lt;/mn&gt;&lt;/mrow&gt;&lt;mrow&gt;&lt;mn&gt;0.8&lt;/mn&gt;&lt;mo&gt;−&lt;/mo&gt;&lt;mn&gt;0.3&lt;/mn&gt;&lt;/mrow&gt;&lt;/mfrac&gt;&lt;mtext&gt;&lt;/mtext&gt;&lt;mo&gt;≈&lt;/mo&gt;&lt;mfrac&gt;&lt;mn&gt;6&lt;/mn&gt;&lt;mn&gt;0.5&lt;/mn&gt;&lt;/mfrac&gt;&lt;mo&gt;≈&lt;/mo&gt;&lt;mn&gt;6&lt;/mn&gt;&lt;mtext&gt;&lt;/mtext&gt;&lt;mo&gt;÷&lt;/mo&gt;&lt;mfrac&gt;&lt;mn&gt;1&lt;/mn&gt;&lt;mn&gt;2&lt;/mn&gt;&lt;/mfrac&gt;&lt;mo&gt;≈&lt;/mo&gt;&lt;mn&gt;6&lt;/mn&gt;&lt;mtext&gt;&lt;/mtext&gt;&lt;mo&gt;×&lt;/mo&gt;&lt;mn&gt;2&lt;/mn&gt;&lt;mtext&gt;&lt;/mtext&gt;&lt;mo&gt;≈&lt;/mo&gt;&lt;mn&gt;12&lt;/mn&gt;&lt;/math&gt;" id="241" name="Google Shape;241;p21" title="the fraction with numerator 11.049 plus 4.21 and denominator 0.82 minus 0.301 almost equals the fraction with numerator 10 minus 4 and denominator 0.8 minus 0.3 almost equals 6 over 0.5 almost equals 6 division sign one half almost equals 6 times 2 almost equals 12"/>
          <p:cNvPicPr preferRelativeResize="0"/>
          <p:nvPr/>
        </p:nvPicPr>
        <p:blipFill rotWithShape="1">
          <a:blip r:embed="rId11">
            <a:alphaModFix/>
          </a:blip>
          <a:srcRect b="0" l="90909" r="-2886" t="0"/>
          <a:stretch/>
        </p:blipFill>
        <p:spPr>
          <a:xfrm>
            <a:off x="2405599" y="8246677"/>
            <a:ext cx="717343" cy="519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4^2-\sqrt{139.82}\approx30^2-\sqrt{144}\approx900\ -\ 12\ \approx888&quot;&gt;&lt;msup&gt;&lt;mn&gt;34&lt;/mn&gt;&lt;mn&gt;2&lt;/mn&gt;&lt;/msup&gt;&lt;mo&gt;−&lt;/mo&gt;&lt;msqrt&gt;&lt;mn&gt;139.82&lt;/mn&gt;&lt;/msqrt&gt;&lt;mo&gt;≈&lt;/mo&gt;&lt;msup&gt;&lt;mn&gt;30&lt;/mn&gt;&lt;mn&gt;2&lt;/mn&gt;&lt;/msup&gt;&lt;mo&gt;−&lt;/mo&gt;&lt;msqrt&gt;&lt;mn&gt;144&lt;/mn&gt;&lt;/msqrt&gt;&lt;mo&gt;≈&lt;/mo&gt;&lt;mn&gt;900&lt;/mn&gt;&lt;mtext&gt;&lt;/mtext&gt;&lt;mo&gt;−&lt;/mo&gt;&lt;mtext&gt;&lt;/mtext&gt;&lt;mn&gt;12&lt;/mn&gt;&lt;mtext&gt;&lt;/mtext&gt;&lt;mo&gt;≈&lt;/mo&gt;&lt;mn&gt;888&lt;/mn&gt;&lt;/math&gt;" id="242" name="Google Shape;242;p21" title="34 squared minus the square root of 139.82 almost equals 30 squared minus the square root of 144 almost equals 900 minus 12 almost equals 888"/>
          <p:cNvPicPr preferRelativeResize="0"/>
          <p:nvPr/>
        </p:nvPicPr>
        <p:blipFill rotWithShape="1">
          <a:blip r:embed="rId10">
            <a:alphaModFix/>
          </a:blip>
          <a:srcRect b="0" l="30113" r="38787" t="0"/>
          <a:stretch/>
        </p:blipFill>
        <p:spPr>
          <a:xfrm>
            <a:off x="5532749" y="5894499"/>
            <a:ext cx="1559250" cy="305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4^2-\sqrt{139.82}\approx30^2-\sqrt{144}\approx900\ -\ 12\ \approx888&quot;&gt;&lt;msup&gt;&lt;mn&gt;34&lt;/mn&gt;&lt;mn&gt;2&lt;/mn&gt;&lt;/msup&gt;&lt;mo&gt;−&lt;/mo&gt;&lt;msqrt&gt;&lt;mn&gt;139.82&lt;/mn&gt;&lt;/msqrt&gt;&lt;mo&gt;≈&lt;/mo&gt;&lt;msup&gt;&lt;mn&gt;30&lt;/mn&gt;&lt;mn&gt;2&lt;/mn&gt;&lt;/msup&gt;&lt;mo&gt;−&lt;/mo&gt;&lt;msqrt&gt;&lt;mn&gt;144&lt;/mn&gt;&lt;/msqrt&gt;&lt;mo&gt;≈&lt;/mo&gt;&lt;mn&gt;900&lt;/mn&gt;&lt;mtext&gt;&lt;/mtext&gt;&lt;mo&gt;−&lt;/mo&gt;&lt;mtext&gt;&lt;/mtext&gt;&lt;mn&gt;12&lt;/mn&gt;&lt;mtext&gt;&lt;/mtext&gt;&lt;mo&gt;≈&lt;/mo&gt;&lt;mn&gt;888&lt;/mn&gt;&lt;/math&gt;" id="243" name="Google Shape;243;p21" title="34 squared minus the square root of 139.82 almost equals 30 squared minus the square root of 144 almost equals 900 minus 12 almost equals 888"/>
          <p:cNvPicPr preferRelativeResize="0"/>
          <p:nvPr/>
        </p:nvPicPr>
        <p:blipFill rotWithShape="1">
          <a:blip r:embed="rId10">
            <a:alphaModFix/>
          </a:blip>
          <a:srcRect b="0" l="61321" r="13433" t="0"/>
          <a:stretch/>
        </p:blipFill>
        <p:spPr>
          <a:xfrm>
            <a:off x="5575716" y="6327807"/>
            <a:ext cx="1265727" cy="305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4^2-\sqrt{139.82}\approx30^2-\sqrt{144}\approx900\ -\ 12\ \approx888&quot;&gt;&lt;msup&gt;&lt;mn&gt;34&lt;/mn&gt;&lt;mn&gt;2&lt;/mn&gt;&lt;/msup&gt;&lt;mo&gt;−&lt;/mo&gt;&lt;msqrt&gt;&lt;mn&gt;139.82&lt;/mn&gt;&lt;/msqrt&gt;&lt;mo&gt;≈&lt;/mo&gt;&lt;msup&gt;&lt;mn&gt;30&lt;/mn&gt;&lt;mn&gt;2&lt;/mn&gt;&lt;/msup&gt;&lt;mo&gt;−&lt;/mo&gt;&lt;msqrt&gt;&lt;mn&gt;144&lt;/mn&gt;&lt;/msqrt&gt;&lt;mo&gt;≈&lt;/mo&gt;&lt;mn&gt;900&lt;/mn&gt;&lt;mtext&gt;&lt;/mtext&gt;&lt;mo&gt;−&lt;/mo&gt;&lt;mtext&gt;&lt;/mtext&gt;&lt;mn&gt;12&lt;/mn&gt;&lt;mtext&gt;&lt;/mtext&gt;&lt;mo&gt;≈&lt;/mo&gt;&lt;mn&gt;888&lt;/mn&gt;&lt;/math&gt;" id="244" name="Google Shape;244;p21" title="34 squared minus the square root of 139.82 almost equals 30 squared minus the square root of 144 almost equals 900 minus 12 almost equals 888"/>
          <p:cNvPicPr preferRelativeResize="0"/>
          <p:nvPr/>
        </p:nvPicPr>
        <p:blipFill rotWithShape="1">
          <a:blip r:embed="rId10">
            <a:alphaModFix/>
          </a:blip>
          <a:srcRect b="0" l="86566" r="-1701" t="0"/>
          <a:stretch/>
        </p:blipFill>
        <p:spPr>
          <a:xfrm>
            <a:off x="5502859" y="6745258"/>
            <a:ext cx="758805" cy="305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.049-4.21}{0.82\ -\ 0.301}&quot;&gt;&lt;mfrac&gt;&lt;mrow&gt;&lt;mn&gt;11.049&lt;/mn&gt;&lt;mo&gt;−&lt;/mo&gt;&lt;mn&gt;4.21&lt;/mn&gt;&lt;/mrow&gt;&lt;mrow&gt;&lt;mn&gt;0.82&lt;/mn&gt;&lt;mtext&gt;&lt;/mtext&gt;&lt;mo&gt;−&lt;/mo&gt;&lt;mtext&gt;&lt;/mtext&gt;&lt;mn&gt;0.301&lt;/mn&gt;&lt;/mrow&gt;&lt;/mfrac&gt;&lt;/math&gt;" id="245" name="Google Shape;245;p21" title="the fraction with numerator 11.049 minus 4.21 and denominator 0.82 minus 0.30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86299" y="5920759"/>
            <a:ext cx="1485011" cy="5333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21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numerical calculations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68000" y="997200"/>
            <a:ext cx="6624000" cy="2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science textbook uses comparisons with humans to show the sizes of different animals.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is a good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the width of the hand?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10 cm		25 cm		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your answer to part a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size of the animals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Estimation in context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6050" y="1368575"/>
            <a:ext cx="703800" cy="851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22"/>
          <p:cNvCxnSpPr/>
          <p:nvPr/>
        </p:nvCxnSpPr>
        <p:spPr>
          <a:xfrm>
            <a:off x="6029694" y="1841873"/>
            <a:ext cx="476400" cy="2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7" name="Google Shape;257;p22"/>
          <p:cNvSpPr/>
          <p:nvPr/>
        </p:nvSpPr>
        <p:spPr>
          <a:xfrm>
            <a:off x="2821982" y="1677791"/>
            <a:ext cx="615000" cy="417000"/>
          </a:xfrm>
          <a:prstGeom prst="ellipse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1317673" y="2703963"/>
            <a:ext cx="9852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🐀</a:t>
            </a:r>
            <a:endParaRPr sz="2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9" name="Google Shape;259;p22"/>
          <p:cNvCxnSpPr/>
          <p:nvPr/>
        </p:nvCxnSpPr>
        <p:spPr>
          <a:xfrm rot="10800000">
            <a:off x="1455825" y="2827950"/>
            <a:ext cx="602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260" name="Google Shape;2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39" y="2714865"/>
            <a:ext cx="477309" cy="57733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467997" y="2586459"/>
            <a:ext cx="37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62" name="Google Shape;262;p22"/>
          <p:cNvSpPr txBox="1"/>
          <p:nvPr/>
        </p:nvSpPr>
        <p:spPr>
          <a:xfrm>
            <a:off x="3734345" y="2772848"/>
            <a:ext cx="37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63" name="Google Shape;263;p22"/>
          <p:cNvSpPr txBox="1"/>
          <p:nvPr/>
        </p:nvSpPr>
        <p:spPr>
          <a:xfrm>
            <a:off x="1180175" y="3512607"/>
            <a:ext cx="1269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64" name="Google Shape;264;p22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4793" y="3638495"/>
            <a:ext cx="145011" cy="11501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2128273" y="3512589"/>
            <a:ext cx="771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6" name="Google Shape;26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1632" y="3069625"/>
            <a:ext cx="245198" cy="304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283" y="2530862"/>
            <a:ext cx="703793" cy="8512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22"/>
          <p:cNvCxnSpPr/>
          <p:nvPr/>
        </p:nvCxnSpPr>
        <p:spPr>
          <a:xfrm rot="10800000">
            <a:off x="5090878" y="3099948"/>
            <a:ext cx="0" cy="27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9" name="Google Shape;269;p22"/>
          <p:cNvSpPr txBox="1"/>
          <p:nvPr/>
        </p:nvSpPr>
        <p:spPr>
          <a:xfrm>
            <a:off x="4262188" y="3523205"/>
            <a:ext cx="126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70" name="Google Shape;270;p22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6995" y="3649344"/>
            <a:ext cx="145011" cy="11501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5147672" y="3512599"/>
            <a:ext cx="771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2379975" y="2775400"/>
            <a:ext cx="12384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rodent is approximately 1.5 times the width of a hand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5313987" y="2645896"/>
            <a:ext cx="1527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spider is approximately a third of the width of a hand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68000" y="4552375"/>
            <a:ext cx="6624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What would be a sensible unit of mass to measure each of the items in the table?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Each of the values below matches one of the six items. Which is which?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5" name="Google Shape;275;p22"/>
          <p:cNvGraphicFramePr/>
          <p:nvPr/>
        </p:nvGraphicFramePr>
        <p:xfrm>
          <a:off x="971125" y="496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{A553BC05-DC16-4534-8FDF-B2F1A7EA4A2D}</a:tableStyleId>
              </a:tblPr>
              <a:tblGrid>
                <a:gridCol w="1872575"/>
                <a:gridCol w="1872575"/>
                <a:gridCol w="1872575"/>
              </a:tblGrid>
              <a:tr h="54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baby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3.2 kg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elephant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4000 kg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Full suitcase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 kg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Cargo ship container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2797 kg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newborn puppy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120 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Packet of crisps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28 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6" name="Google Shape;276;p22"/>
          <p:cNvGraphicFramePr/>
          <p:nvPr/>
        </p:nvGraphicFramePr>
        <p:xfrm>
          <a:off x="469588" y="6676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{104CF5F2-8B06-4906-83CF-007A7EF4D04A}</a:tableStyleId>
              </a:tblPr>
              <a:tblGrid>
                <a:gridCol w="1104000"/>
                <a:gridCol w="1104000"/>
                <a:gridCol w="1104000"/>
                <a:gridCol w="1104000"/>
                <a:gridCol w="1104000"/>
                <a:gridCol w="1104000"/>
              </a:tblGrid>
              <a:tr h="391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4000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3.2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2797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p22"/>
          <p:cNvSpPr txBox="1"/>
          <p:nvPr/>
        </p:nvSpPr>
        <p:spPr>
          <a:xfrm>
            <a:off x="469600" y="7511650"/>
            <a:ext cx="6624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An orange weighs approximately 120 g. How many oranges do you think would be the equivalent of one of each of the things in part 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468000" y="7985600"/>
            <a:ext cx="34686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Baby: approximately 25 oranges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Elephant: approximately 32 000 oranges.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Full suitcase: approximately 160 oranges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3420001" y="7985600"/>
            <a:ext cx="36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Cargo ship container: approximately 24 000 oranges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Newborn puppy: approximately 1 orange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Packet of crisps: approximately ¼ orange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6" name="Google Shape;286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numerical calculations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468000" y="3302377"/>
            <a:ext cx="6624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From left to right: 9 hands and 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hands. Answers will vary depending on the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for the width of a hand: 9 × their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their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 So, for example, if hand is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as 10 cm the answers will be 90 cm and 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cm.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468000" y="4446175"/>
            <a:ext cx="662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standard metric equivalent for a hand is 10.2 cm. Does this mean your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will be too big, too small or just right?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How many hands high are you to the top of your head?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Answers will vary.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some other objects using hands as a unit.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Answers will vary.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468000" y="49653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you used an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length of a hand to be less than 10.2 then your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will be too small, if you used a length greater than 10.2 cm then your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will be too big. </a:t>
            </a:r>
            <a:endParaRPr sz="1200"/>
          </a:p>
        </p:txBody>
      </p:sp>
      <p:sp>
        <p:nvSpPr>
          <p:cNvPr id="292" name="Google Shape;292;p23"/>
          <p:cNvSpPr txBox="1"/>
          <p:nvPr/>
        </p:nvSpPr>
        <p:spPr>
          <a:xfrm>
            <a:off x="468000" y="720000"/>
            <a:ext cx="6624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Horses are measured using ‘hands’ as a unit, as shown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height in centimetres of each of the horses.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3" name="Google Shape;293;p23"/>
          <p:cNvPicPr preferRelativeResize="0"/>
          <p:nvPr/>
        </p:nvPicPr>
        <p:blipFill rotWithShape="1">
          <a:blip r:embed="rId3">
            <a:alphaModFix/>
          </a:blip>
          <a:srcRect b="16007" l="0" r="0" t="19183"/>
          <a:stretch/>
        </p:blipFill>
        <p:spPr>
          <a:xfrm>
            <a:off x="1647075" y="1723046"/>
            <a:ext cx="1320631" cy="127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4677" y="920953"/>
            <a:ext cx="1893800" cy="2109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23"/>
          <p:cNvGrpSpPr/>
          <p:nvPr/>
        </p:nvGrpSpPr>
        <p:grpSpPr>
          <a:xfrm>
            <a:off x="2999550" y="1737284"/>
            <a:ext cx="177370" cy="1248649"/>
            <a:chOff x="2793225" y="1342551"/>
            <a:chExt cx="177370" cy="1248649"/>
          </a:xfrm>
        </p:grpSpPr>
        <p:pic>
          <p:nvPicPr>
            <p:cNvPr id="296" name="Google Shape;296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07539" y="2440411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2982" y="2303924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0267" y="2173110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5709" y="2036623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1624" y="1879050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7067" y="1742564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4351" y="1611749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9794" y="1475263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2819806" y="1328236"/>
              <a:ext cx="136475" cy="1651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" name="Google Shape;305;p23"/>
          <p:cNvGrpSpPr/>
          <p:nvPr/>
        </p:nvGrpSpPr>
        <p:grpSpPr>
          <a:xfrm>
            <a:off x="4498685" y="920965"/>
            <a:ext cx="146419" cy="2071603"/>
            <a:chOff x="5880125" y="365238"/>
            <a:chExt cx="177370" cy="2509513"/>
          </a:xfrm>
        </p:grpSpPr>
        <p:grpSp>
          <p:nvGrpSpPr>
            <p:cNvPr id="306" name="Google Shape;306;p23"/>
            <p:cNvGrpSpPr/>
            <p:nvPr/>
          </p:nvGrpSpPr>
          <p:grpSpPr>
            <a:xfrm>
              <a:off x="5880125" y="1626102"/>
              <a:ext cx="177370" cy="1248649"/>
              <a:chOff x="2793225" y="1342551"/>
              <a:chExt cx="177370" cy="1248649"/>
            </a:xfrm>
          </p:grpSpPr>
          <p:pic>
            <p:nvPicPr>
              <p:cNvPr id="307" name="Google Shape;307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07539" y="2440411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8" name="Google Shape;308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2982" y="2303924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0267" y="2173110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0" name="Google Shape;310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5709" y="2036623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" name="Google Shape;311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1624" y="1879050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" name="Google Shape;312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7067" y="1742564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" name="Google Shape;313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4351" y="1611749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4" name="Google Shape;314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9794" y="1475263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5" name="Google Shape;315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9806" y="1328236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6" name="Google Shape;316;p23"/>
            <p:cNvGrpSpPr/>
            <p:nvPr/>
          </p:nvGrpSpPr>
          <p:grpSpPr>
            <a:xfrm>
              <a:off x="5880125" y="365238"/>
              <a:ext cx="177370" cy="1248649"/>
              <a:chOff x="2793225" y="1342551"/>
              <a:chExt cx="177370" cy="1248649"/>
            </a:xfrm>
          </p:grpSpPr>
          <p:pic>
            <p:nvPicPr>
              <p:cNvPr id="317" name="Google Shape;317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07539" y="2440411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8" name="Google Shape;318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2982" y="2303924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9" name="Google Shape;319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0267" y="2173110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0" name="Google Shape;320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5709" y="2036623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1" name="Google Shape;321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1624" y="1879050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2" name="Google Shape;322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7067" y="1742564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3" name="Google Shape;323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4351" y="1611749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4" name="Google Shape;324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9794" y="1475263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5" name="Google Shape;325;p2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-5400000">
                <a:off x="2819806" y="1328236"/>
                <a:ext cx="136475" cy="165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