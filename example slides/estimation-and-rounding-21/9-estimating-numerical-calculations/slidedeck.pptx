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70" r:id="rId4"/>
    <p:sldMasterId id="21474837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FFFE55-71C9-467E-8D29-FAD3E99BDCF0}">
  <a:tblStyle styleId="{F6FFFE55-71C9-467E-8D29-FAD3E99BDCF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8BF9AAA-E96C-4867-8E7D-F547205E6F8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7" name="Google Shape;1497;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2b01b6726dc_0_1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2b01b6726dc_0_1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2b01b6726dc_0_7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2b01b6726dc_0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2ac3877adb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2ac3877adb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2ac3877adb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2ac3877adb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2ac47fce220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2ac47fce220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2ac47fce220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2ac47fce220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2ac3877adb0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2ac3877adb0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g2ac3877adb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2" name="Google Shape;1582;g2ac3877adb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2ac3877adb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2ac3877adb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2ac3877adb0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2" name="Google Shape;1622;g2ac3877adb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g2ac3877adb0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9" name="Google Shape;1629;g2ac3877adb0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g2ac47fce22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1" name="Google Shape;1651;g2ac47fce22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2ac47fce22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2ac47fce22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2ac3877adb0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9" name="Google Shape;1699;g2ac3877adb0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2ac3877adb0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2ac3877adb0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2ac47fce220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2ac47fce220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2acded2857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2acded2857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g2acded2857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5" name="Google Shape;1795;g2acded2857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2acded2857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2acded2857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2acded2857d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3" name="Google Shape;1833;g2acded2857d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2acded2857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9" name="Google Shape;1849;g2acded2857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2acded2857d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2acded2857d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2acded2857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2acded2857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2acded2857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2acded2857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2ac3877adb0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2ac3877adb0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g2ac3877adb0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8" name="Google Shape;1928;g2ac3877adb0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g2ac3877adb0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g2ac3877adb0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2ac3877adb0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2ac3877adb0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2ad4e9e60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2ad4e9e60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4" name="Shape 1984"/>
        <p:cNvGrpSpPr/>
        <p:nvPr/>
      </p:nvGrpSpPr>
      <p:grpSpPr>
        <a:xfrm>
          <a:off x="0" y="0"/>
          <a:ext cx="0" cy="0"/>
          <a:chOff x="0" y="0"/>
          <a:chExt cx="0" cy="0"/>
        </a:xfrm>
      </p:grpSpPr>
      <p:sp>
        <p:nvSpPr>
          <p:cNvPr id="1985" name="Google Shape;1985;g2ac3877adb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6" name="Google Shape;1986;g2ac3877ad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g2ad4e9e606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5" name="Google Shape;1995;g2ad4e9e606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2ad4e9e606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2ad4e9e606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2ad4e9e606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5" name="Google Shape;2035;g2ad4e9e606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1" name="Shape 2041"/>
        <p:cNvGrpSpPr/>
        <p:nvPr/>
      </p:nvGrpSpPr>
      <p:grpSpPr>
        <a:xfrm>
          <a:off x="0" y="0"/>
          <a:ext cx="0" cy="0"/>
          <a:chOff x="0" y="0"/>
          <a:chExt cx="0" cy="0"/>
        </a:xfrm>
      </p:grpSpPr>
      <p:sp>
        <p:nvSpPr>
          <p:cNvPr id="2042" name="Google Shape;2042;g2ad4e9e6065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3" name="Google Shape;2043;g2ad4e9e6065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g2ad4e9e606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2" name="Google Shape;2082;g2ad4e9e606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g2ad4e9e6065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3" name="Google Shape;2103;g2ad4e9e6065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g2ad4e9e606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5" name="Google Shape;2125;g2ad4e9e606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2ad4e9e606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2ad4e9e606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2ad4e9e6065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2ad4e9e6065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3" name="Google Shape;2233;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4.png"/><Relationship Id="rId7"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image" Target="../media/image87.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7.png"/><Relationship Id="rId4" Type="http://schemas.openxmlformats.org/officeDocument/2006/relationships/image" Target="../media/image24.png"/><Relationship Id="rId9"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3.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7.png"/><Relationship Id="rId4" Type="http://schemas.openxmlformats.org/officeDocument/2006/relationships/image" Target="../media/image31.png"/><Relationship Id="rId11" Type="http://schemas.openxmlformats.org/officeDocument/2006/relationships/image" Target="../media/image20.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33.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5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2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4.png"/><Relationship Id="rId7" Type="http://schemas.openxmlformats.org/officeDocument/2006/relationships/image" Target="../media/image1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image" Target="../media/image87.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0.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7.png"/><Relationship Id="rId4" Type="http://schemas.openxmlformats.org/officeDocument/2006/relationships/image" Target="../media/image24.png"/><Relationship Id="rId9"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3.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7.png"/><Relationship Id="rId4" Type="http://schemas.openxmlformats.org/officeDocument/2006/relationships/image" Target="../media/image31.png"/><Relationship Id="rId11" Type="http://schemas.openxmlformats.org/officeDocument/2006/relationships/image" Target="../media/image20.png"/><Relationship Id="rId10" Type="http://schemas.openxmlformats.org/officeDocument/2006/relationships/image" Target="../media/image36.png"/><Relationship Id="rId9" Type="http://schemas.openxmlformats.org/officeDocument/2006/relationships/image" Target="../media/image29.pn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image" Target="../media/image33.png"/><Relationship Id="rId8" Type="http://schemas.openxmlformats.org/officeDocument/2006/relationships/image" Target="../media/image2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5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5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5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5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747" name="Shape 747"/>
        <p:cNvGrpSpPr/>
        <p:nvPr/>
      </p:nvGrpSpPr>
      <p:grpSpPr>
        <a:xfrm>
          <a:off x="0" y="0"/>
          <a:ext cx="0" cy="0"/>
          <a:chOff x="0" y="0"/>
          <a:chExt cx="0" cy="0"/>
        </a:xfrm>
      </p:grpSpPr>
      <p:pic>
        <p:nvPicPr>
          <p:cNvPr id="748" name="Google Shape;748;p6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49" name="Google Shape;749;p6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50" name="Google Shape;750;p63"/>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1" name="Google Shape;751;p63"/>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52" name="Google Shape;752;p6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53" name="Google Shape;753;p63"/>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4" name="Google Shape;754;p6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755" name="Shape 755"/>
        <p:cNvGrpSpPr/>
        <p:nvPr/>
      </p:nvGrpSpPr>
      <p:grpSpPr>
        <a:xfrm>
          <a:off x="0" y="0"/>
          <a:ext cx="0" cy="0"/>
          <a:chOff x="0" y="0"/>
          <a:chExt cx="0" cy="0"/>
        </a:xfrm>
      </p:grpSpPr>
      <p:pic>
        <p:nvPicPr>
          <p:cNvPr id="756" name="Google Shape;756;p6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57" name="Google Shape;757;p6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8" name="Google Shape;758;p6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759" name="Google Shape;759;p64"/>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0" name="Google Shape;760;p6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61" name="Google Shape;761;p6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62" name="Google Shape;762;p64"/>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763" name="Shape 763"/>
        <p:cNvGrpSpPr/>
        <p:nvPr/>
      </p:nvGrpSpPr>
      <p:grpSpPr>
        <a:xfrm>
          <a:off x="0" y="0"/>
          <a:ext cx="0" cy="0"/>
          <a:chOff x="0" y="0"/>
          <a:chExt cx="0" cy="0"/>
        </a:xfrm>
      </p:grpSpPr>
      <p:pic>
        <p:nvPicPr>
          <p:cNvPr id="764" name="Google Shape;764;p65"/>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765" name="Google Shape;765;p65"/>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766" name="Google Shape;766;p6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7" name="Google Shape;767;p6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768" name="Google Shape;768;p65"/>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9" name="Google Shape;769;p65"/>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70" name="Google Shape;770;p6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771" name="Shape 771"/>
        <p:cNvGrpSpPr/>
        <p:nvPr/>
      </p:nvGrpSpPr>
      <p:grpSpPr>
        <a:xfrm>
          <a:off x="0" y="0"/>
          <a:ext cx="0" cy="0"/>
          <a:chOff x="0" y="0"/>
          <a:chExt cx="0" cy="0"/>
        </a:xfrm>
      </p:grpSpPr>
      <p:pic>
        <p:nvPicPr>
          <p:cNvPr id="772" name="Google Shape;772;p6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73" name="Google Shape;773;p6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4" name="Google Shape;774;p6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775" name="Google Shape;775;p66"/>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76" name="Google Shape;776;p6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7" name="Google Shape;777;p6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78" name="Google Shape;778;p66"/>
          <p:cNvGrpSpPr/>
          <p:nvPr/>
        </p:nvGrpSpPr>
        <p:grpSpPr>
          <a:xfrm>
            <a:off x="6156975" y="0"/>
            <a:ext cx="2987025" cy="3854074"/>
            <a:chOff x="6156975" y="0"/>
            <a:chExt cx="2987025" cy="3854074"/>
          </a:xfrm>
        </p:grpSpPr>
        <p:pic>
          <p:nvPicPr>
            <p:cNvPr id="779" name="Google Shape;779;p6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80" name="Google Shape;780;p66"/>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1" name="Google Shape;781;p66"/>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782" name="Shape 782"/>
        <p:cNvGrpSpPr/>
        <p:nvPr/>
      </p:nvGrpSpPr>
      <p:grpSpPr>
        <a:xfrm>
          <a:off x="0" y="0"/>
          <a:ext cx="0" cy="0"/>
          <a:chOff x="0" y="0"/>
          <a:chExt cx="0" cy="0"/>
        </a:xfrm>
      </p:grpSpPr>
      <p:pic>
        <p:nvPicPr>
          <p:cNvPr id="783" name="Google Shape;783;p67"/>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784" name="Google Shape;784;p6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5" name="Google Shape;785;p6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786" name="Google Shape;786;p67"/>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87" name="Google Shape;787;p6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88" name="Google Shape;788;p6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89" name="Google Shape;789;p67"/>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790" name="Shape 790"/>
        <p:cNvGrpSpPr/>
        <p:nvPr/>
      </p:nvGrpSpPr>
      <p:grpSpPr>
        <a:xfrm>
          <a:off x="0" y="0"/>
          <a:ext cx="0" cy="0"/>
          <a:chOff x="0" y="0"/>
          <a:chExt cx="0" cy="0"/>
        </a:xfrm>
      </p:grpSpPr>
      <p:sp>
        <p:nvSpPr>
          <p:cNvPr id="791" name="Google Shape;791;p6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2" name="Google Shape;792;p6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793" name="Google Shape;793;p68"/>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94" name="Google Shape;794;p6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795" name="Google Shape;795;p6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796" name="Google Shape;796;p68"/>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797" name="Google Shape;797;p68"/>
          <p:cNvGrpSpPr/>
          <p:nvPr/>
        </p:nvGrpSpPr>
        <p:grpSpPr>
          <a:xfrm>
            <a:off x="6156975" y="0"/>
            <a:ext cx="2987025" cy="3854074"/>
            <a:chOff x="6156975" y="0"/>
            <a:chExt cx="2987025" cy="3854074"/>
          </a:xfrm>
        </p:grpSpPr>
        <p:pic>
          <p:nvPicPr>
            <p:cNvPr id="798" name="Google Shape;798;p6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99" name="Google Shape;799;p68"/>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0" name="Google Shape;800;p68"/>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801" name="Shape 801"/>
        <p:cNvGrpSpPr/>
        <p:nvPr/>
      </p:nvGrpSpPr>
      <p:grpSpPr>
        <a:xfrm>
          <a:off x="0" y="0"/>
          <a:ext cx="0" cy="0"/>
          <a:chOff x="0" y="0"/>
          <a:chExt cx="0" cy="0"/>
        </a:xfrm>
      </p:grpSpPr>
      <p:pic>
        <p:nvPicPr>
          <p:cNvPr id="802" name="Google Shape;802;p6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803" name="Google Shape;803;p69"/>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04" name="Google Shape;804;p6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5" name="Google Shape;805;p6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806" name="Google Shape;806;p69"/>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07" name="Google Shape;807;p69"/>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08" name="Google Shape;808;p6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809" name="Shape 809"/>
        <p:cNvGrpSpPr/>
        <p:nvPr/>
      </p:nvGrpSpPr>
      <p:grpSpPr>
        <a:xfrm>
          <a:off x="0" y="0"/>
          <a:ext cx="0" cy="0"/>
          <a:chOff x="0" y="0"/>
          <a:chExt cx="0" cy="0"/>
        </a:xfrm>
      </p:grpSpPr>
      <p:pic>
        <p:nvPicPr>
          <p:cNvPr id="810" name="Google Shape;810;p70"/>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11" name="Google Shape;811;p7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2" name="Google Shape;812;p7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813" name="Google Shape;813;p70"/>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14" name="Google Shape;814;p7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815" name="Google Shape;815;p7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816" name="Google Shape;816;p70"/>
          <p:cNvGrpSpPr/>
          <p:nvPr/>
        </p:nvGrpSpPr>
        <p:grpSpPr>
          <a:xfrm>
            <a:off x="6156975" y="0"/>
            <a:ext cx="2987025" cy="3854074"/>
            <a:chOff x="6156975" y="0"/>
            <a:chExt cx="2987025" cy="3854074"/>
          </a:xfrm>
        </p:grpSpPr>
        <p:pic>
          <p:nvPicPr>
            <p:cNvPr id="817" name="Google Shape;817;p7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18" name="Google Shape;818;p70"/>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9" name="Google Shape;819;p70"/>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0" name="Shape 820"/>
        <p:cNvGrpSpPr/>
        <p:nvPr/>
      </p:nvGrpSpPr>
      <p:grpSpPr>
        <a:xfrm>
          <a:off x="0" y="0"/>
          <a:ext cx="0" cy="0"/>
          <a:chOff x="0" y="0"/>
          <a:chExt cx="0" cy="0"/>
        </a:xfrm>
      </p:grpSpPr>
      <p:pic>
        <p:nvPicPr>
          <p:cNvPr id="821" name="Google Shape;821;p71"/>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22" name="Google Shape;822;p7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23" name="Google Shape;823;p7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4" name="Google Shape;824;p7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25" name="Google Shape;825;p71"/>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26" name="Google Shape;826;p7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27" name="Google Shape;827;p7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828" name="Shape 828"/>
        <p:cNvGrpSpPr/>
        <p:nvPr/>
      </p:nvGrpSpPr>
      <p:grpSpPr>
        <a:xfrm>
          <a:off x="0" y="0"/>
          <a:ext cx="0" cy="0"/>
          <a:chOff x="0" y="0"/>
          <a:chExt cx="0" cy="0"/>
        </a:xfrm>
      </p:grpSpPr>
      <p:pic>
        <p:nvPicPr>
          <p:cNvPr id="829" name="Google Shape;829;p7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830" name="Google Shape;830;p7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831" name="Google Shape;831;p7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2000"/>
              <a:buNone/>
              <a:defRPr sz="20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832" name="Shape 832"/>
        <p:cNvGrpSpPr/>
        <p:nvPr/>
      </p:nvGrpSpPr>
      <p:grpSpPr>
        <a:xfrm>
          <a:off x="0" y="0"/>
          <a:ext cx="0" cy="0"/>
          <a:chOff x="0" y="0"/>
          <a:chExt cx="0" cy="0"/>
        </a:xfrm>
      </p:grpSpPr>
      <p:sp>
        <p:nvSpPr>
          <p:cNvPr id="833" name="Google Shape;833;p73"/>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834" name="Google Shape;834;p73"/>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835" name="Google Shape;835;p73"/>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836" name="Google Shape;836;p73"/>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837" name="Google Shape;837;p73"/>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838" name="Google Shape;838;p73"/>
          <p:cNvGrpSpPr/>
          <p:nvPr/>
        </p:nvGrpSpPr>
        <p:grpSpPr>
          <a:xfrm>
            <a:off x="2498516" y="1415817"/>
            <a:ext cx="1745270" cy="1430724"/>
            <a:chOff x="2642961" y="1644312"/>
            <a:chExt cx="1454634" cy="1195657"/>
          </a:xfrm>
        </p:grpSpPr>
        <p:pic>
          <p:nvPicPr>
            <p:cNvPr id="839" name="Google Shape;839;p7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840" name="Google Shape;840;p7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841" name="Google Shape;841;p7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842" name="Google Shape;842;p7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843" name="Google Shape;843;p73"/>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844" name="Google Shape;844;p73"/>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845" name="Shape 845"/>
        <p:cNvGrpSpPr/>
        <p:nvPr/>
      </p:nvGrpSpPr>
      <p:grpSpPr>
        <a:xfrm>
          <a:off x="0" y="0"/>
          <a:ext cx="0" cy="0"/>
          <a:chOff x="0" y="0"/>
          <a:chExt cx="0" cy="0"/>
        </a:xfrm>
      </p:grpSpPr>
      <p:sp>
        <p:nvSpPr>
          <p:cNvPr id="846" name="Google Shape;846;p7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47" name="Google Shape;847;p7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48" name="Google Shape;848;p7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49" name="Google Shape;849;p74"/>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0" name="Google Shape;850;p74"/>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1" name="Google Shape;851;p74"/>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852" name="Shape 852"/>
        <p:cNvGrpSpPr/>
        <p:nvPr/>
      </p:nvGrpSpPr>
      <p:grpSpPr>
        <a:xfrm>
          <a:off x="0" y="0"/>
          <a:ext cx="0" cy="0"/>
          <a:chOff x="0" y="0"/>
          <a:chExt cx="0" cy="0"/>
        </a:xfrm>
      </p:grpSpPr>
      <p:sp>
        <p:nvSpPr>
          <p:cNvPr id="853" name="Google Shape;853;p7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54" name="Google Shape;854;p7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55" name="Google Shape;855;p7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56" name="Google Shape;856;p75"/>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7" name="Google Shape;857;p75"/>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58" name="Google Shape;858;p75"/>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859" name="Shape 859"/>
        <p:cNvGrpSpPr/>
        <p:nvPr/>
      </p:nvGrpSpPr>
      <p:grpSpPr>
        <a:xfrm>
          <a:off x="0" y="0"/>
          <a:ext cx="0" cy="0"/>
          <a:chOff x="0" y="0"/>
          <a:chExt cx="0" cy="0"/>
        </a:xfrm>
      </p:grpSpPr>
      <p:sp>
        <p:nvSpPr>
          <p:cNvPr id="860" name="Google Shape;860;p7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1" name="Google Shape;861;p7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62" name="Google Shape;862;p76"/>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3" name="Google Shape;863;p76"/>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4" name="Google Shape;864;p76"/>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5" name="Google Shape;865;p76"/>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66" name="Google Shape;866;p7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867" name="Shape 867"/>
        <p:cNvGrpSpPr/>
        <p:nvPr/>
      </p:nvGrpSpPr>
      <p:grpSpPr>
        <a:xfrm>
          <a:off x="0" y="0"/>
          <a:ext cx="0" cy="0"/>
          <a:chOff x="0" y="0"/>
          <a:chExt cx="0" cy="0"/>
        </a:xfrm>
      </p:grpSpPr>
      <p:sp>
        <p:nvSpPr>
          <p:cNvPr id="868" name="Google Shape;868;p7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69" name="Google Shape;869;p7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70" name="Google Shape;870;p77"/>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1" name="Google Shape;871;p77"/>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2" name="Google Shape;872;p77"/>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3" name="Google Shape;873;p77"/>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4" name="Google Shape;874;p7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875" name="Shape 875"/>
        <p:cNvGrpSpPr/>
        <p:nvPr/>
      </p:nvGrpSpPr>
      <p:grpSpPr>
        <a:xfrm>
          <a:off x="0" y="0"/>
          <a:ext cx="0" cy="0"/>
          <a:chOff x="0" y="0"/>
          <a:chExt cx="0" cy="0"/>
        </a:xfrm>
      </p:grpSpPr>
      <p:sp>
        <p:nvSpPr>
          <p:cNvPr id="876" name="Google Shape;876;p7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7" name="Google Shape;877;p7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78" name="Google Shape;878;p78"/>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79" name="Google Shape;879;p78"/>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0" name="Google Shape;880;p78"/>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1" name="Google Shape;881;p78"/>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2" name="Google Shape;882;p78"/>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3" name="Google Shape;883;p7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884" name="Shape 884"/>
        <p:cNvGrpSpPr/>
        <p:nvPr/>
      </p:nvGrpSpPr>
      <p:grpSpPr>
        <a:xfrm>
          <a:off x="0" y="0"/>
          <a:ext cx="0" cy="0"/>
          <a:chOff x="0" y="0"/>
          <a:chExt cx="0" cy="0"/>
        </a:xfrm>
      </p:grpSpPr>
      <p:sp>
        <p:nvSpPr>
          <p:cNvPr id="885" name="Google Shape;885;p7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6" name="Google Shape;886;p7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87" name="Google Shape;887;p79"/>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8" name="Google Shape;888;p79"/>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89" name="Google Shape;889;p79"/>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0" name="Google Shape;890;p79"/>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891" name="Google Shape;891;p79"/>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892" name="Google Shape;892;p7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893" name="Shape 893"/>
        <p:cNvGrpSpPr/>
        <p:nvPr/>
      </p:nvGrpSpPr>
      <p:grpSpPr>
        <a:xfrm>
          <a:off x="0" y="0"/>
          <a:ext cx="0" cy="0"/>
          <a:chOff x="0" y="0"/>
          <a:chExt cx="0" cy="0"/>
        </a:xfrm>
      </p:grpSpPr>
      <p:sp>
        <p:nvSpPr>
          <p:cNvPr id="894" name="Google Shape;894;p8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5" name="Google Shape;895;p80"/>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896" name="Google Shape;896;p80"/>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897" name="Google Shape;897;p80"/>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898" name="Google Shape;898;p80"/>
          <p:cNvCxnSpPr>
            <a:endCxn id="899"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900" name="Google Shape;900;p80"/>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901" name="Google Shape;901;p80"/>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02" name="Google Shape;902;p8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899" name="Google Shape;899;p80"/>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903" name="Google Shape;903;p80"/>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904" name="Google Shape;904;p8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05" name="Google Shape;905;p8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906" name="Shape 906"/>
        <p:cNvGrpSpPr/>
        <p:nvPr/>
      </p:nvGrpSpPr>
      <p:grpSpPr>
        <a:xfrm>
          <a:off x="0" y="0"/>
          <a:ext cx="0" cy="0"/>
          <a:chOff x="0" y="0"/>
          <a:chExt cx="0" cy="0"/>
        </a:xfrm>
      </p:grpSpPr>
      <p:pic>
        <p:nvPicPr>
          <p:cNvPr id="907" name="Google Shape;907;p81"/>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908" name="Google Shape;908;p81"/>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909" name="Google Shape;909;p81"/>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910" name="Google Shape;910;p81"/>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911" name="Google Shape;911;p81"/>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912" name="Google Shape;912;p81"/>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913" name="Google Shape;913;p81"/>
          <p:cNvCxnSpPr>
            <a:endCxn id="914"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914" name="Google Shape;914;p81"/>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915" name="Google Shape;915;p81"/>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916" name="Google Shape;916;p81"/>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7" name="Google Shape;917;p8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8" name="Google Shape;918;p8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19" name="Google Shape;919;p81"/>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920" name="Google Shape;920;p8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1" name="Google Shape;921;p81"/>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922" name="Google Shape;922;p8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23" name="Google Shape;923;p8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924" name="Shape 924"/>
        <p:cNvGrpSpPr/>
        <p:nvPr/>
      </p:nvGrpSpPr>
      <p:grpSpPr>
        <a:xfrm>
          <a:off x="0" y="0"/>
          <a:ext cx="0" cy="0"/>
          <a:chOff x="0" y="0"/>
          <a:chExt cx="0" cy="0"/>
        </a:xfrm>
      </p:grpSpPr>
      <p:pic>
        <p:nvPicPr>
          <p:cNvPr id="925" name="Google Shape;925;p82"/>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926" name="Google Shape;926;p82"/>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927" name="Google Shape;927;p82"/>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928" name="Google Shape;928;p82"/>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929" name="Google Shape;929;p82"/>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930" name="Google Shape;930;p82"/>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931" name="Google Shape;931;p82"/>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932" name="Google Shape;932;p82"/>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933" name="Google Shape;933;p82"/>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934" name="Google Shape;934;p82"/>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935" name="Google Shape;935;p82"/>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936" name="Google Shape;936;p82"/>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937" name="Google Shape;937;p82"/>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38" name="Google Shape;938;p82"/>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39" name="Google Shape;939;p82"/>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0" name="Google Shape;940;p82"/>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941" name="Google Shape;941;p82"/>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942" name="Google Shape;942;p8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3" name="Google Shape;943;p82"/>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944" name="Google Shape;944;p8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945" name="Google Shape;945;p82"/>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946" name="Shape 946"/>
        <p:cNvGrpSpPr/>
        <p:nvPr/>
      </p:nvGrpSpPr>
      <p:grpSpPr>
        <a:xfrm>
          <a:off x="0" y="0"/>
          <a:ext cx="0" cy="0"/>
          <a:chOff x="0" y="0"/>
          <a:chExt cx="0" cy="0"/>
        </a:xfrm>
      </p:grpSpPr>
      <p:pic>
        <p:nvPicPr>
          <p:cNvPr id="947" name="Google Shape;947;p83"/>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48" name="Google Shape;948;p83"/>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8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0" name="Google Shape;950;p8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51" name="Google Shape;951;p8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952" name="Google Shape;952;p8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953" name="Shape 953"/>
        <p:cNvGrpSpPr/>
        <p:nvPr/>
      </p:nvGrpSpPr>
      <p:grpSpPr>
        <a:xfrm>
          <a:off x="0" y="0"/>
          <a:ext cx="0" cy="0"/>
          <a:chOff x="0" y="0"/>
          <a:chExt cx="0" cy="0"/>
        </a:xfrm>
      </p:grpSpPr>
      <p:pic>
        <p:nvPicPr>
          <p:cNvPr id="954" name="Google Shape;954;p8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55" name="Google Shape;955;p8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57" name="Google Shape;957;p8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958" name="Google Shape;958;p8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59" name="Google Shape;959;p8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960" name="Shape 960"/>
        <p:cNvGrpSpPr/>
        <p:nvPr/>
      </p:nvGrpSpPr>
      <p:grpSpPr>
        <a:xfrm>
          <a:off x="0" y="0"/>
          <a:ext cx="0" cy="0"/>
          <a:chOff x="0" y="0"/>
          <a:chExt cx="0" cy="0"/>
        </a:xfrm>
      </p:grpSpPr>
      <p:pic>
        <p:nvPicPr>
          <p:cNvPr id="961" name="Google Shape;961;p8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2" name="Google Shape;962;p8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64" name="Google Shape;964;p8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965" name="Google Shape;965;p8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66" name="Google Shape;966;p8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967" name="Shape 967"/>
        <p:cNvGrpSpPr/>
        <p:nvPr/>
      </p:nvGrpSpPr>
      <p:grpSpPr>
        <a:xfrm>
          <a:off x="0" y="0"/>
          <a:ext cx="0" cy="0"/>
          <a:chOff x="0" y="0"/>
          <a:chExt cx="0" cy="0"/>
        </a:xfrm>
      </p:grpSpPr>
      <p:pic>
        <p:nvPicPr>
          <p:cNvPr id="968" name="Google Shape;968;p8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69" name="Google Shape;969;p8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971" name="Google Shape;971;p8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972" name="Google Shape;972;p8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73" name="Google Shape;973;p8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974" name="Shape 974"/>
        <p:cNvGrpSpPr/>
        <p:nvPr/>
      </p:nvGrpSpPr>
      <p:grpSpPr>
        <a:xfrm>
          <a:off x="0" y="0"/>
          <a:ext cx="0" cy="0"/>
          <a:chOff x="0" y="0"/>
          <a:chExt cx="0" cy="0"/>
        </a:xfrm>
      </p:grpSpPr>
      <p:sp>
        <p:nvSpPr>
          <p:cNvPr id="975" name="Google Shape;975;p8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6" name="Google Shape;976;p87"/>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977" name="Google Shape;977;p8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8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79" name="Google Shape;979;p8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80" name="Google Shape;980;p87"/>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81" name="Google Shape;981;p87"/>
          <p:cNvGrpSpPr/>
          <p:nvPr/>
        </p:nvGrpSpPr>
        <p:grpSpPr>
          <a:xfrm>
            <a:off x="7834231" y="1285"/>
            <a:ext cx="828900" cy="576065"/>
            <a:chOff x="7801496" y="1285"/>
            <a:chExt cx="828900" cy="576065"/>
          </a:xfrm>
        </p:grpSpPr>
        <p:pic>
          <p:nvPicPr>
            <p:cNvPr id="982" name="Google Shape;982;p8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83" name="Google Shape;983;p8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984" name="Google Shape;984;p87"/>
          <p:cNvGrpSpPr/>
          <p:nvPr/>
        </p:nvGrpSpPr>
        <p:grpSpPr>
          <a:xfrm>
            <a:off x="8635663" y="1285"/>
            <a:ext cx="499700" cy="576065"/>
            <a:chOff x="8635663" y="1285"/>
            <a:chExt cx="499700" cy="576065"/>
          </a:xfrm>
        </p:grpSpPr>
        <p:pic>
          <p:nvPicPr>
            <p:cNvPr id="985" name="Google Shape;985;p8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86" name="Google Shape;986;p8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987" name="Shape 987"/>
        <p:cNvGrpSpPr/>
        <p:nvPr/>
      </p:nvGrpSpPr>
      <p:grpSpPr>
        <a:xfrm>
          <a:off x="0" y="0"/>
          <a:ext cx="0" cy="0"/>
          <a:chOff x="0" y="0"/>
          <a:chExt cx="0" cy="0"/>
        </a:xfrm>
      </p:grpSpPr>
      <p:sp>
        <p:nvSpPr>
          <p:cNvPr id="988" name="Google Shape;988;p8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9" name="Google Shape;989;p8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990" name="Google Shape;990;p8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2" name="Google Shape;992;p8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993" name="Google Shape;993;p8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94" name="Google Shape;994;p88"/>
          <p:cNvGrpSpPr/>
          <p:nvPr/>
        </p:nvGrpSpPr>
        <p:grpSpPr>
          <a:xfrm>
            <a:off x="7834231" y="1285"/>
            <a:ext cx="828900" cy="576065"/>
            <a:chOff x="7801496" y="1285"/>
            <a:chExt cx="828900" cy="576065"/>
          </a:xfrm>
        </p:grpSpPr>
        <p:pic>
          <p:nvPicPr>
            <p:cNvPr id="995" name="Google Shape;995;p8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996" name="Google Shape;996;p8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997" name="Google Shape;997;p88"/>
          <p:cNvGrpSpPr/>
          <p:nvPr/>
        </p:nvGrpSpPr>
        <p:grpSpPr>
          <a:xfrm>
            <a:off x="8635663" y="1285"/>
            <a:ext cx="499700" cy="576065"/>
            <a:chOff x="8635663" y="1285"/>
            <a:chExt cx="499700" cy="576065"/>
          </a:xfrm>
        </p:grpSpPr>
        <p:pic>
          <p:nvPicPr>
            <p:cNvPr id="998" name="Google Shape;998;p8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999" name="Google Shape;999;p8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000" name="Shape 1000"/>
        <p:cNvGrpSpPr/>
        <p:nvPr/>
      </p:nvGrpSpPr>
      <p:grpSpPr>
        <a:xfrm>
          <a:off x="0" y="0"/>
          <a:ext cx="0" cy="0"/>
          <a:chOff x="0" y="0"/>
          <a:chExt cx="0" cy="0"/>
        </a:xfrm>
      </p:grpSpPr>
      <p:sp>
        <p:nvSpPr>
          <p:cNvPr id="1001" name="Google Shape;1001;p89"/>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02" name="Google Shape;1002;p8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03" name="Google Shape;1003;p8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8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5" name="Google Shape;1005;p8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06" name="Google Shape;1006;p8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07" name="Google Shape;1007;p89"/>
          <p:cNvGrpSpPr/>
          <p:nvPr/>
        </p:nvGrpSpPr>
        <p:grpSpPr>
          <a:xfrm>
            <a:off x="7834231" y="1285"/>
            <a:ext cx="828900" cy="576065"/>
            <a:chOff x="7801496" y="1285"/>
            <a:chExt cx="828900" cy="576065"/>
          </a:xfrm>
        </p:grpSpPr>
        <p:pic>
          <p:nvPicPr>
            <p:cNvPr id="1008" name="Google Shape;1008;p8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09" name="Google Shape;1009;p8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010" name="Google Shape;1010;p89"/>
          <p:cNvGrpSpPr/>
          <p:nvPr/>
        </p:nvGrpSpPr>
        <p:grpSpPr>
          <a:xfrm>
            <a:off x="8635663" y="1285"/>
            <a:ext cx="499700" cy="576065"/>
            <a:chOff x="8635663" y="1285"/>
            <a:chExt cx="499700" cy="576065"/>
          </a:xfrm>
        </p:grpSpPr>
        <p:pic>
          <p:nvPicPr>
            <p:cNvPr id="1011" name="Google Shape;1011;p8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12" name="Google Shape;1012;p8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013" name="Shape 1013"/>
        <p:cNvGrpSpPr/>
        <p:nvPr/>
      </p:nvGrpSpPr>
      <p:grpSpPr>
        <a:xfrm>
          <a:off x="0" y="0"/>
          <a:ext cx="0" cy="0"/>
          <a:chOff x="0" y="0"/>
          <a:chExt cx="0" cy="0"/>
        </a:xfrm>
      </p:grpSpPr>
      <p:sp>
        <p:nvSpPr>
          <p:cNvPr id="1014" name="Google Shape;1014;p90"/>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5" name="Google Shape;1015;p9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16" name="Google Shape;1016;p9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9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8" name="Google Shape;1018;p9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19" name="Google Shape;1019;p9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20" name="Google Shape;1020;p90"/>
          <p:cNvGrpSpPr/>
          <p:nvPr/>
        </p:nvGrpSpPr>
        <p:grpSpPr>
          <a:xfrm>
            <a:off x="7834231" y="1285"/>
            <a:ext cx="828900" cy="576065"/>
            <a:chOff x="7801496" y="1285"/>
            <a:chExt cx="828900" cy="576065"/>
          </a:xfrm>
        </p:grpSpPr>
        <p:pic>
          <p:nvPicPr>
            <p:cNvPr id="1021" name="Google Shape;1021;p9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022" name="Google Shape;1022;p9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023" name="Google Shape;1023;p90"/>
          <p:cNvGrpSpPr/>
          <p:nvPr/>
        </p:nvGrpSpPr>
        <p:grpSpPr>
          <a:xfrm>
            <a:off x="8635663" y="1285"/>
            <a:ext cx="499700" cy="576065"/>
            <a:chOff x="8635663" y="1285"/>
            <a:chExt cx="499700" cy="576065"/>
          </a:xfrm>
        </p:grpSpPr>
        <p:pic>
          <p:nvPicPr>
            <p:cNvPr id="1024" name="Google Shape;1024;p9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025" name="Google Shape;1025;p9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026" name="Shape 1026"/>
        <p:cNvGrpSpPr/>
        <p:nvPr/>
      </p:nvGrpSpPr>
      <p:grpSpPr>
        <a:xfrm>
          <a:off x="0" y="0"/>
          <a:ext cx="0" cy="0"/>
          <a:chOff x="0" y="0"/>
          <a:chExt cx="0" cy="0"/>
        </a:xfrm>
      </p:grpSpPr>
      <p:pic>
        <p:nvPicPr>
          <p:cNvPr id="1027" name="Google Shape;1027;p91"/>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028" name="Google Shape;1028;p91"/>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029" name="Google Shape;1029;p91"/>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030" name="Google Shape;1030;p9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9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32" name="Google Shape;1032;p9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33" name="Google Shape;1033;p9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34" name="Google Shape;1034;p91"/>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35" name="Google Shape;1035;p9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36" name="Google Shape;1036;p9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037" name="Google Shape;1037;p9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38" name="Google Shape;1038;p9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39" name="Google Shape;1039;p9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040" name="Google Shape;1040;p91"/>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041" name="Google Shape;1041;p9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042" name="Google Shape;1042;p9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43" name="Google Shape;1043;p91"/>
          <p:cNvGrpSpPr/>
          <p:nvPr/>
        </p:nvGrpSpPr>
        <p:grpSpPr>
          <a:xfrm>
            <a:off x="324128" y="3139463"/>
            <a:ext cx="457200" cy="457200"/>
            <a:chOff x="1020916" y="1442088"/>
            <a:chExt cx="457200" cy="457200"/>
          </a:xfrm>
        </p:grpSpPr>
        <p:pic>
          <p:nvPicPr>
            <p:cNvPr id="1044" name="Google Shape;1044;p91"/>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45" name="Google Shape;1045;p9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46" name="Google Shape;1046;p91"/>
          <p:cNvGrpSpPr/>
          <p:nvPr/>
        </p:nvGrpSpPr>
        <p:grpSpPr>
          <a:xfrm>
            <a:off x="324128" y="3987825"/>
            <a:ext cx="457200" cy="457200"/>
            <a:chOff x="1020916" y="1442088"/>
            <a:chExt cx="457200" cy="457200"/>
          </a:xfrm>
        </p:grpSpPr>
        <p:pic>
          <p:nvPicPr>
            <p:cNvPr id="1047" name="Google Shape;1047;p91"/>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048" name="Google Shape;1048;p9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049" name="Shape 1049"/>
        <p:cNvGrpSpPr/>
        <p:nvPr/>
      </p:nvGrpSpPr>
      <p:grpSpPr>
        <a:xfrm>
          <a:off x="0" y="0"/>
          <a:ext cx="0" cy="0"/>
          <a:chOff x="0" y="0"/>
          <a:chExt cx="0" cy="0"/>
        </a:xfrm>
      </p:grpSpPr>
      <p:pic>
        <p:nvPicPr>
          <p:cNvPr id="1050" name="Google Shape;1050;p9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51" name="Google Shape;1051;p9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53" name="Google Shape;1053;p9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54" name="Google Shape;1054;p9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55" name="Google Shape;1055;p9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56" name="Google Shape;1056;p9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57" name="Google Shape;1057;p9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58" name="Google Shape;1058;p9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059" name="Google Shape;1059;p9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0" name="Google Shape;1060;p9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61" name="Google Shape;1061;p9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62" name="Google Shape;1062;p92"/>
          <p:cNvGrpSpPr/>
          <p:nvPr/>
        </p:nvGrpSpPr>
        <p:grpSpPr>
          <a:xfrm>
            <a:off x="324128" y="3139463"/>
            <a:ext cx="457200" cy="457200"/>
            <a:chOff x="1020916" y="1442088"/>
            <a:chExt cx="457200" cy="457200"/>
          </a:xfrm>
        </p:grpSpPr>
        <p:pic>
          <p:nvPicPr>
            <p:cNvPr id="1063" name="Google Shape;1063;p9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64" name="Google Shape;1064;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65" name="Google Shape;1065;p92"/>
          <p:cNvGrpSpPr/>
          <p:nvPr/>
        </p:nvGrpSpPr>
        <p:grpSpPr>
          <a:xfrm>
            <a:off x="324128" y="3987825"/>
            <a:ext cx="457200" cy="457200"/>
            <a:chOff x="1020916" y="1442088"/>
            <a:chExt cx="457200" cy="457200"/>
          </a:xfrm>
        </p:grpSpPr>
        <p:pic>
          <p:nvPicPr>
            <p:cNvPr id="1066" name="Google Shape;1066;p9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67" name="Google Shape;1067;p9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68" name="Google Shape;1068;p9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69" name="Google Shape;1069;p9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70" name="Google Shape;1070;p9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71" name="Google Shape;1071;p9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072" name="Shape 1072"/>
        <p:cNvGrpSpPr/>
        <p:nvPr/>
      </p:nvGrpSpPr>
      <p:grpSpPr>
        <a:xfrm>
          <a:off x="0" y="0"/>
          <a:ext cx="0" cy="0"/>
          <a:chOff x="0" y="0"/>
          <a:chExt cx="0" cy="0"/>
        </a:xfrm>
      </p:grpSpPr>
      <p:pic>
        <p:nvPicPr>
          <p:cNvPr id="1073" name="Google Shape;1073;p9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74" name="Google Shape;1074;p9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9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76" name="Google Shape;1076;p9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077" name="Google Shape;1077;p9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078" name="Google Shape;1078;p9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79" name="Google Shape;1079;p9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080" name="Google Shape;1080;p9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081" name="Google Shape;1081;p9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082" name="Google Shape;1082;p9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83" name="Google Shape;1083;p9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084" name="Google Shape;1084;p9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085" name="Google Shape;1085;p93"/>
          <p:cNvGrpSpPr/>
          <p:nvPr/>
        </p:nvGrpSpPr>
        <p:grpSpPr>
          <a:xfrm>
            <a:off x="324128" y="3139463"/>
            <a:ext cx="457200" cy="457200"/>
            <a:chOff x="1020916" y="1442088"/>
            <a:chExt cx="457200" cy="457200"/>
          </a:xfrm>
        </p:grpSpPr>
        <p:pic>
          <p:nvPicPr>
            <p:cNvPr id="1086" name="Google Shape;1086;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87" name="Google Shape;1087;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88" name="Google Shape;1088;p93"/>
          <p:cNvGrpSpPr/>
          <p:nvPr/>
        </p:nvGrpSpPr>
        <p:grpSpPr>
          <a:xfrm>
            <a:off x="324128" y="3987825"/>
            <a:ext cx="457200" cy="457200"/>
            <a:chOff x="1020916" y="1442088"/>
            <a:chExt cx="457200" cy="457200"/>
          </a:xfrm>
        </p:grpSpPr>
        <p:pic>
          <p:nvPicPr>
            <p:cNvPr id="1089" name="Google Shape;1089;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0" name="Google Shape;1090;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91" name="Google Shape;1091;p9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092" name="Google Shape;1092;p9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093" name="Google Shape;1093;p9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094" name="Google Shape;1094;p9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095" name="Shape 1095"/>
        <p:cNvGrpSpPr/>
        <p:nvPr/>
      </p:nvGrpSpPr>
      <p:grpSpPr>
        <a:xfrm>
          <a:off x="0" y="0"/>
          <a:ext cx="0" cy="0"/>
          <a:chOff x="0" y="0"/>
          <a:chExt cx="0" cy="0"/>
        </a:xfrm>
      </p:grpSpPr>
      <p:pic>
        <p:nvPicPr>
          <p:cNvPr id="1096" name="Google Shape;1096;p9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097" name="Google Shape;1097;p9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9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099" name="Google Shape;1099;p9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100" name="Google Shape;1100;p9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101" name="Google Shape;1101;p94"/>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02" name="Google Shape;1102;p9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103" name="Google Shape;1103;p9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04" name="Google Shape;1104;p9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05" name="Google Shape;1105;p9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6" name="Google Shape;1106;p94"/>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07" name="Google Shape;1107;p9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08" name="Google Shape;1108;p94"/>
          <p:cNvGrpSpPr/>
          <p:nvPr/>
        </p:nvGrpSpPr>
        <p:grpSpPr>
          <a:xfrm>
            <a:off x="324128" y="3139463"/>
            <a:ext cx="457200" cy="457200"/>
            <a:chOff x="1020916" y="1442088"/>
            <a:chExt cx="457200" cy="457200"/>
          </a:xfrm>
        </p:grpSpPr>
        <p:pic>
          <p:nvPicPr>
            <p:cNvPr id="1109" name="Google Shape;1109;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10" name="Google Shape;1110;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11" name="Google Shape;1111;p94"/>
          <p:cNvGrpSpPr/>
          <p:nvPr/>
        </p:nvGrpSpPr>
        <p:grpSpPr>
          <a:xfrm>
            <a:off x="324128" y="3987825"/>
            <a:ext cx="457200" cy="457200"/>
            <a:chOff x="1020916" y="1442088"/>
            <a:chExt cx="457200" cy="457200"/>
          </a:xfrm>
        </p:grpSpPr>
        <p:pic>
          <p:nvPicPr>
            <p:cNvPr id="1112" name="Google Shape;1112;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13" name="Google Shape;1113;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114" name="Google Shape;1114;p94"/>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115" name="Google Shape;1115;p94"/>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116" name="Google Shape;1116;p9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117" name="Google Shape;1117;p9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118" name="Shape 1118"/>
        <p:cNvGrpSpPr/>
        <p:nvPr/>
      </p:nvGrpSpPr>
      <p:grpSpPr>
        <a:xfrm>
          <a:off x="0" y="0"/>
          <a:ext cx="0" cy="0"/>
          <a:chOff x="0" y="0"/>
          <a:chExt cx="0" cy="0"/>
        </a:xfrm>
      </p:grpSpPr>
      <p:pic>
        <p:nvPicPr>
          <p:cNvPr id="1119" name="Google Shape;1119;p9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20" name="Google Shape;1120;p9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9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22" name="Google Shape;1122;p9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23" name="Google Shape;1123;p9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24" name="Google Shape;1124;p9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25" name="Google Shape;1125;p9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26" name="Google Shape;1126;p9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27" name="Google Shape;1127;p9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28" name="Google Shape;1128;p95"/>
          <p:cNvGrpSpPr/>
          <p:nvPr/>
        </p:nvGrpSpPr>
        <p:grpSpPr>
          <a:xfrm>
            <a:off x="323653" y="1804438"/>
            <a:ext cx="457200" cy="457200"/>
            <a:chOff x="1020916" y="1442088"/>
            <a:chExt cx="457200" cy="457200"/>
          </a:xfrm>
        </p:grpSpPr>
        <p:pic>
          <p:nvPicPr>
            <p:cNvPr id="1129" name="Google Shape;1129;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0" name="Google Shape;1130;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31" name="Google Shape;1131;p95"/>
          <p:cNvGrpSpPr/>
          <p:nvPr/>
        </p:nvGrpSpPr>
        <p:grpSpPr>
          <a:xfrm>
            <a:off x="323653" y="2766575"/>
            <a:ext cx="457200" cy="457200"/>
            <a:chOff x="1020916" y="1442088"/>
            <a:chExt cx="457200" cy="457200"/>
          </a:xfrm>
        </p:grpSpPr>
        <p:pic>
          <p:nvPicPr>
            <p:cNvPr id="1132" name="Google Shape;1132;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3" name="Google Shape;1133;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34" name="Google Shape;1134;p95"/>
          <p:cNvGrpSpPr/>
          <p:nvPr/>
        </p:nvGrpSpPr>
        <p:grpSpPr>
          <a:xfrm>
            <a:off x="323641" y="3729038"/>
            <a:ext cx="457200" cy="457200"/>
            <a:chOff x="1020916" y="1442088"/>
            <a:chExt cx="457200" cy="457200"/>
          </a:xfrm>
        </p:grpSpPr>
        <p:pic>
          <p:nvPicPr>
            <p:cNvPr id="1135" name="Google Shape;1135;p9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6" name="Google Shape;1136;p9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137" name="Shape 1137"/>
        <p:cNvGrpSpPr/>
        <p:nvPr/>
      </p:nvGrpSpPr>
      <p:grpSpPr>
        <a:xfrm>
          <a:off x="0" y="0"/>
          <a:ext cx="0" cy="0"/>
          <a:chOff x="0" y="0"/>
          <a:chExt cx="0" cy="0"/>
        </a:xfrm>
      </p:grpSpPr>
      <p:pic>
        <p:nvPicPr>
          <p:cNvPr id="1138" name="Google Shape;1138;p9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39" name="Google Shape;1139;p9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41" name="Google Shape;1141;p9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42" name="Google Shape;1142;p9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143" name="Google Shape;1143;p9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44" name="Google Shape;1144;p9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45" name="Google Shape;1145;p9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46" name="Google Shape;1146;p9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47" name="Google Shape;1147;p96"/>
          <p:cNvGrpSpPr/>
          <p:nvPr/>
        </p:nvGrpSpPr>
        <p:grpSpPr>
          <a:xfrm>
            <a:off x="323653" y="1804438"/>
            <a:ext cx="457200" cy="457200"/>
            <a:chOff x="1020916" y="1442088"/>
            <a:chExt cx="457200" cy="457200"/>
          </a:xfrm>
        </p:grpSpPr>
        <p:pic>
          <p:nvPicPr>
            <p:cNvPr id="1148" name="Google Shape;1148;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49" name="Google Shape;1149;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50" name="Google Shape;1150;p96"/>
          <p:cNvGrpSpPr/>
          <p:nvPr/>
        </p:nvGrpSpPr>
        <p:grpSpPr>
          <a:xfrm>
            <a:off x="323653" y="2766575"/>
            <a:ext cx="457200" cy="457200"/>
            <a:chOff x="1020916" y="1442088"/>
            <a:chExt cx="457200" cy="457200"/>
          </a:xfrm>
        </p:grpSpPr>
        <p:pic>
          <p:nvPicPr>
            <p:cNvPr id="1151" name="Google Shape;1151;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2" name="Google Shape;1152;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53" name="Google Shape;1153;p96"/>
          <p:cNvGrpSpPr/>
          <p:nvPr/>
        </p:nvGrpSpPr>
        <p:grpSpPr>
          <a:xfrm>
            <a:off x="323641" y="3729038"/>
            <a:ext cx="457200" cy="457200"/>
            <a:chOff x="1020916" y="1442088"/>
            <a:chExt cx="457200" cy="457200"/>
          </a:xfrm>
        </p:grpSpPr>
        <p:pic>
          <p:nvPicPr>
            <p:cNvPr id="1154" name="Google Shape;1154;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55" name="Google Shape;1155;p9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156" name="Shape 1156"/>
        <p:cNvGrpSpPr/>
        <p:nvPr/>
      </p:nvGrpSpPr>
      <p:grpSpPr>
        <a:xfrm>
          <a:off x="0" y="0"/>
          <a:ext cx="0" cy="0"/>
          <a:chOff x="0" y="0"/>
          <a:chExt cx="0" cy="0"/>
        </a:xfrm>
      </p:grpSpPr>
      <p:pic>
        <p:nvPicPr>
          <p:cNvPr id="1157" name="Google Shape;1157;p9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58" name="Google Shape;1158;p9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9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60" name="Google Shape;1160;p9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61" name="Google Shape;1161;p9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162" name="Google Shape;1162;p9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3" name="Google Shape;1163;p9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64" name="Google Shape;1164;p9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65" name="Google Shape;1165;p9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66" name="Google Shape;1166;p97"/>
          <p:cNvGrpSpPr/>
          <p:nvPr/>
        </p:nvGrpSpPr>
        <p:grpSpPr>
          <a:xfrm>
            <a:off x="323653" y="1804438"/>
            <a:ext cx="457200" cy="457200"/>
            <a:chOff x="1020916" y="1442088"/>
            <a:chExt cx="457200" cy="457200"/>
          </a:xfrm>
        </p:grpSpPr>
        <p:pic>
          <p:nvPicPr>
            <p:cNvPr id="1167" name="Google Shape;1167;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68" name="Google Shape;1168;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69" name="Google Shape;1169;p97"/>
          <p:cNvGrpSpPr/>
          <p:nvPr/>
        </p:nvGrpSpPr>
        <p:grpSpPr>
          <a:xfrm>
            <a:off x="323653" y="2766575"/>
            <a:ext cx="457200" cy="457200"/>
            <a:chOff x="1020916" y="1442088"/>
            <a:chExt cx="457200" cy="457200"/>
          </a:xfrm>
        </p:grpSpPr>
        <p:pic>
          <p:nvPicPr>
            <p:cNvPr id="1170" name="Google Shape;1170;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1" name="Google Shape;1171;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72" name="Google Shape;1172;p97"/>
          <p:cNvGrpSpPr/>
          <p:nvPr/>
        </p:nvGrpSpPr>
        <p:grpSpPr>
          <a:xfrm>
            <a:off x="323641" y="3729038"/>
            <a:ext cx="457200" cy="457200"/>
            <a:chOff x="1020916" y="1442088"/>
            <a:chExt cx="457200" cy="457200"/>
          </a:xfrm>
        </p:grpSpPr>
        <p:pic>
          <p:nvPicPr>
            <p:cNvPr id="1173" name="Google Shape;1173;p9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74" name="Google Shape;1174;p9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175" name="Shape 1175"/>
        <p:cNvGrpSpPr/>
        <p:nvPr/>
      </p:nvGrpSpPr>
      <p:grpSpPr>
        <a:xfrm>
          <a:off x="0" y="0"/>
          <a:ext cx="0" cy="0"/>
          <a:chOff x="0" y="0"/>
          <a:chExt cx="0" cy="0"/>
        </a:xfrm>
      </p:grpSpPr>
      <p:pic>
        <p:nvPicPr>
          <p:cNvPr id="1176" name="Google Shape;1176;p9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77" name="Google Shape;1177;p9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9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79" name="Google Shape;1179;p9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80" name="Google Shape;1180;p9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181" name="Google Shape;1181;p9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2" name="Google Shape;1182;p9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83" name="Google Shape;1183;p9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184" name="Google Shape;1184;p9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185" name="Google Shape;1185;p98"/>
          <p:cNvGrpSpPr/>
          <p:nvPr/>
        </p:nvGrpSpPr>
        <p:grpSpPr>
          <a:xfrm>
            <a:off x="323653" y="1804438"/>
            <a:ext cx="457200" cy="457200"/>
            <a:chOff x="1020916" y="1442088"/>
            <a:chExt cx="457200" cy="457200"/>
          </a:xfrm>
        </p:grpSpPr>
        <p:pic>
          <p:nvPicPr>
            <p:cNvPr id="1186" name="Google Shape;1186;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87" name="Google Shape;1187;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88" name="Google Shape;1188;p98"/>
          <p:cNvGrpSpPr/>
          <p:nvPr/>
        </p:nvGrpSpPr>
        <p:grpSpPr>
          <a:xfrm>
            <a:off x="323653" y="2766575"/>
            <a:ext cx="457200" cy="457200"/>
            <a:chOff x="1020916" y="1442088"/>
            <a:chExt cx="457200" cy="457200"/>
          </a:xfrm>
        </p:grpSpPr>
        <p:pic>
          <p:nvPicPr>
            <p:cNvPr id="1189" name="Google Shape;1189;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0" name="Google Shape;1190;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91" name="Google Shape;1191;p98"/>
          <p:cNvGrpSpPr/>
          <p:nvPr/>
        </p:nvGrpSpPr>
        <p:grpSpPr>
          <a:xfrm>
            <a:off x="323641" y="3729038"/>
            <a:ext cx="457200" cy="457200"/>
            <a:chOff x="1020916" y="1442088"/>
            <a:chExt cx="457200" cy="457200"/>
          </a:xfrm>
        </p:grpSpPr>
        <p:pic>
          <p:nvPicPr>
            <p:cNvPr id="1192" name="Google Shape;1192;p9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3" name="Google Shape;1193;p9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194" name="Shape 1194"/>
        <p:cNvGrpSpPr/>
        <p:nvPr/>
      </p:nvGrpSpPr>
      <p:grpSpPr>
        <a:xfrm>
          <a:off x="0" y="0"/>
          <a:ext cx="0" cy="0"/>
          <a:chOff x="0" y="0"/>
          <a:chExt cx="0" cy="0"/>
        </a:xfrm>
      </p:grpSpPr>
      <p:pic>
        <p:nvPicPr>
          <p:cNvPr id="1195" name="Google Shape;1195;p9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196" name="Google Shape;1196;p9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9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98" name="Google Shape;1198;p9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199" name="Google Shape;1199;p9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00" name="Google Shape;1200;p9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1" name="Google Shape;1201;p9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02" name="Google Shape;1202;p9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03" name="Google Shape;1203;p9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04" name="Google Shape;1204;p9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05" name="Google Shape;1205;p99"/>
          <p:cNvGrpSpPr/>
          <p:nvPr/>
        </p:nvGrpSpPr>
        <p:grpSpPr>
          <a:xfrm>
            <a:off x="323653" y="1652038"/>
            <a:ext cx="457200" cy="457200"/>
            <a:chOff x="1020916" y="1442088"/>
            <a:chExt cx="457200" cy="457200"/>
          </a:xfrm>
        </p:grpSpPr>
        <p:pic>
          <p:nvPicPr>
            <p:cNvPr id="1206" name="Google Shape;1206;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7" name="Google Shape;1207;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08" name="Google Shape;1208;p99"/>
          <p:cNvGrpSpPr/>
          <p:nvPr/>
        </p:nvGrpSpPr>
        <p:grpSpPr>
          <a:xfrm>
            <a:off x="323653" y="2461775"/>
            <a:ext cx="457200" cy="457200"/>
            <a:chOff x="1020916" y="1442088"/>
            <a:chExt cx="457200" cy="457200"/>
          </a:xfrm>
        </p:grpSpPr>
        <p:pic>
          <p:nvPicPr>
            <p:cNvPr id="1209" name="Google Shape;1209;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0" name="Google Shape;1210;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11" name="Google Shape;1211;p99"/>
          <p:cNvGrpSpPr/>
          <p:nvPr/>
        </p:nvGrpSpPr>
        <p:grpSpPr>
          <a:xfrm>
            <a:off x="323641" y="3271838"/>
            <a:ext cx="457200" cy="457200"/>
            <a:chOff x="1020916" y="1442088"/>
            <a:chExt cx="457200" cy="457200"/>
          </a:xfrm>
        </p:grpSpPr>
        <p:pic>
          <p:nvPicPr>
            <p:cNvPr id="1212" name="Google Shape;1212;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3" name="Google Shape;1213;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14" name="Google Shape;1214;p99"/>
          <p:cNvGrpSpPr/>
          <p:nvPr/>
        </p:nvGrpSpPr>
        <p:grpSpPr>
          <a:xfrm>
            <a:off x="323641" y="4081763"/>
            <a:ext cx="457200" cy="457200"/>
            <a:chOff x="1020916" y="1442088"/>
            <a:chExt cx="457200" cy="457200"/>
          </a:xfrm>
        </p:grpSpPr>
        <p:pic>
          <p:nvPicPr>
            <p:cNvPr id="1215" name="Google Shape;1215;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6" name="Google Shape;1216;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217" name="Shape 1217"/>
        <p:cNvGrpSpPr/>
        <p:nvPr/>
      </p:nvGrpSpPr>
      <p:grpSpPr>
        <a:xfrm>
          <a:off x="0" y="0"/>
          <a:ext cx="0" cy="0"/>
          <a:chOff x="0" y="0"/>
          <a:chExt cx="0" cy="0"/>
        </a:xfrm>
      </p:grpSpPr>
      <p:pic>
        <p:nvPicPr>
          <p:cNvPr id="1218" name="Google Shape;1218;p10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19" name="Google Shape;1219;p10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0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1" name="Google Shape;1221;p10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22" name="Google Shape;1222;p10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23" name="Google Shape;1223;p10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24" name="Google Shape;1224;p10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25" name="Google Shape;1225;p10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26" name="Google Shape;1226;p10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27" name="Google Shape;1227;p10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28" name="Google Shape;1228;p100"/>
          <p:cNvGrpSpPr/>
          <p:nvPr/>
        </p:nvGrpSpPr>
        <p:grpSpPr>
          <a:xfrm>
            <a:off x="323653" y="1652038"/>
            <a:ext cx="457200" cy="457200"/>
            <a:chOff x="1020916" y="1442088"/>
            <a:chExt cx="457200" cy="457200"/>
          </a:xfrm>
        </p:grpSpPr>
        <p:pic>
          <p:nvPicPr>
            <p:cNvPr id="1229" name="Google Shape;1229;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0" name="Google Shape;1230;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31" name="Google Shape;1231;p100"/>
          <p:cNvGrpSpPr/>
          <p:nvPr/>
        </p:nvGrpSpPr>
        <p:grpSpPr>
          <a:xfrm>
            <a:off x="323653" y="2461775"/>
            <a:ext cx="457200" cy="457200"/>
            <a:chOff x="1020916" y="1442088"/>
            <a:chExt cx="457200" cy="457200"/>
          </a:xfrm>
        </p:grpSpPr>
        <p:pic>
          <p:nvPicPr>
            <p:cNvPr id="1232" name="Google Shape;1232;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3" name="Google Shape;1233;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34" name="Google Shape;1234;p100"/>
          <p:cNvGrpSpPr/>
          <p:nvPr/>
        </p:nvGrpSpPr>
        <p:grpSpPr>
          <a:xfrm>
            <a:off x="323641" y="3271838"/>
            <a:ext cx="457200" cy="457200"/>
            <a:chOff x="1020916" y="1442088"/>
            <a:chExt cx="457200" cy="457200"/>
          </a:xfrm>
        </p:grpSpPr>
        <p:pic>
          <p:nvPicPr>
            <p:cNvPr id="1235" name="Google Shape;1235;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6" name="Google Shape;1236;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37" name="Google Shape;1237;p100"/>
          <p:cNvGrpSpPr/>
          <p:nvPr/>
        </p:nvGrpSpPr>
        <p:grpSpPr>
          <a:xfrm>
            <a:off x="323641" y="4081763"/>
            <a:ext cx="457200" cy="457200"/>
            <a:chOff x="1020916" y="1442088"/>
            <a:chExt cx="457200" cy="457200"/>
          </a:xfrm>
        </p:grpSpPr>
        <p:pic>
          <p:nvPicPr>
            <p:cNvPr id="1238" name="Google Shape;1238;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9" name="Google Shape;1239;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240" name="Shape 1240"/>
        <p:cNvGrpSpPr/>
        <p:nvPr/>
      </p:nvGrpSpPr>
      <p:grpSpPr>
        <a:xfrm>
          <a:off x="0" y="0"/>
          <a:ext cx="0" cy="0"/>
          <a:chOff x="0" y="0"/>
          <a:chExt cx="0" cy="0"/>
        </a:xfrm>
      </p:grpSpPr>
      <p:pic>
        <p:nvPicPr>
          <p:cNvPr id="1241" name="Google Shape;1241;p10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42" name="Google Shape;1242;p10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0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4" name="Google Shape;1244;p10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45" name="Google Shape;1245;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46" name="Google Shape;1246;p10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7" name="Google Shape;1247;p10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48" name="Google Shape;1248;p10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49" name="Google Shape;1249;p10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50" name="Google Shape;1250;p10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51" name="Google Shape;1251;p101"/>
          <p:cNvGrpSpPr/>
          <p:nvPr/>
        </p:nvGrpSpPr>
        <p:grpSpPr>
          <a:xfrm>
            <a:off x="323653" y="1652038"/>
            <a:ext cx="457200" cy="457200"/>
            <a:chOff x="1020916" y="1442088"/>
            <a:chExt cx="457200" cy="457200"/>
          </a:xfrm>
        </p:grpSpPr>
        <p:pic>
          <p:nvPicPr>
            <p:cNvPr id="1252" name="Google Shape;1252;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3" name="Google Shape;1253;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54" name="Google Shape;1254;p101"/>
          <p:cNvGrpSpPr/>
          <p:nvPr/>
        </p:nvGrpSpPr>
        <p:grpSpPr>
          <a:xfrm>
            <a:off x="323653" y="2461775"/>
            <a:ext cx="457200" cy="457200"/>
            <a:chOff x="1020916" y="1442088"/>
            <a:chExt cx="457200" cy="457200"/>
          </a:xfrm>
        </p:grpSpPr>
        <p:pic>
          <p:nvPicPr>
            <p:cNvPr id="1255" name="Google Shape;1255;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6" name="Google Shape;1256;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57" name="Google Shape;1257;p101"/>
          <p:cNvGrpSpPr/>
          <p:nvPr/>
        </p:nvGrpSpPr>
        <p:grpSpPr>
          <a:xfrm>
            <a:off x="323641" y="3271838"/>
            <a:ext cx="457200" cy="457200"/>
            <a:chOff x="1020916" y="1442088"/>
            <a:chExt cx="457200" cy="457200"/>
          </a:xfrm>
        </p:grpSpPr>
        <p:pic>
          <p:nvPicPr>
            <p:cNvPr id="1258" name="Google Shape;1258;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9" name="Google Shape;1259;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60" name="Google Shape;1260;p101"/>
          <p:cNvGrpSpPr/>
          <p:nvPr/>
        </p:nvGrpSpPr>
        <p:grpSpPr>
          <a:xfrm>
            <a:off x="323641" y="4081763"/>
            <a:ext cx="457200" cy="457200"/>
            <a:chOff x="1020916" y="1442088"/>
            <a:chExt cx="457200" cy="457200"/>
          </a:xfrm>
        </p:grpSpPr>
        <p:pic>
          <p:nvPicPr>
            <p:cNvPr id="1261" name="Google Shape;1261;p10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62" name="Google Shape;1262;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263" name="Shape 1263"/>
        <p:cNvGrpSpPr/>
        <p:nvPr/>
      </p:nvGrpSpPr>
      <p:grpSpPr>
        <a:xfrm>
          <a:off x="0" y="0"/>
          <a:ext cx="0" cy="0"/>
          <a:chOff x="0" y="0"/>
          <a:chExt cx="0" cy="0"/>
        </a:xfrm>
      </p:grpSpPr>
      <p:pic>
        <p:nvPicPr>
          <p:cNvPr id="1264" name="Google Shape;1264;p10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65" name="Google Shape;1265;p10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0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67" name="Google Shape;1267;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68" name="Google Shape;1268;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269" name="Google Shape;1269;p10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0" name="Google Shape;1270;p10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1" name="Google Shape;1271;p10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2" name="Google Shape;1272;p10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1273" name="Google Shape;1273;p10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1274" name="Google Shape;1274;p102"/>
          <p:cNvGrpSpPr/>
          <p:nvPr/>
        </p:nvGrpSpPr>
        <p:grpSpPr>
          <a:xfrm>
            <a:off x="323653" y="1652038"/>
            <a:ext cx="457200" cy="457200"/>
            <a:chOff x="1020916" y="1442088"/>
            <a:chExt cx="457200" cy="457200"/>
          </a:xfrm>
        </p:grpSpPr>
        <p:pic>
          <p:nvPicPr>
            <p:cNvPr id="1275" name="Google Shape;1275;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6" name="Google Shape;1276;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77" name="Google Shape;1277;p102"/>
          <p:cNvGrpSpPr/>
          <p:nvPr/>
        </p:nvGrpSpPr>
        <p:grpSpPr>
          <a:xfrm>
            <a:off x="323653" y="2461775"/>
            <a:ext cx="457200" cy="457200"/>
            <a:chOff x="1020916" y="1442088"/>
            <a:chExt cx="457200" cy="457200"/>
          </a:xfrm>
        </p:grpSpPr>
        <p:pic>
          <p:nvPicPr>
            <p:cNvPr id="1278" name="Google Shape;1278;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9" name="Google Shape;1279;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80" name="Google Shape;1280;p102"/>
          <p:cNvGrpSpPr/>
          <p:nvPr/>
        </p:nvGrpSpPr>
        <p:grpSpPr>
          <a:xfrm>
            <a:off x="323641" y="3271838"/>
            <a:ext cx="457200" cy="457200"/>
            <a:chOff x="1020916" y="1442088"/>
            <a:chExt cx="457200" cy="457200"/>
          </a:xfrm>
        </p:grpSpPr>
        <p:pic>
          <p:nvPicPr>
            <p:cNvPr id="1281" name="Google Shape;1281;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2" name="Google Shape;1282;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83" name="Google Shape;1283;p102"/>
          <p:cNvGrpSpPr/>
          <p:nvPr/>
        </p:nvGrpSpPr>
        <p:grpSpPr>
          <a:xfrm>
            <a:off x="323641" y="4081763"/>
            <a:ext cx="457200" cy="457200"/>
            <a:chOff x="1020916" y="1442088"/>
            <a:chExt cx="457200" cy="457200"/>
          </a:xfrm>
        </p:grpSpPr>
        <p:pic>
          <p:nvPicPr>
            <p:cNvPr id="1284" name="Google Shape;1284;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85" name="Google Shape;1285;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286" name="Shape 1286"/>
        <p:cNvGrpSpPr/>
        <p:nvPr/>
      </p:nvGrpSpPr>
      <p:grpSpPr>
        <a:xfrm>
          <a:off x="0" y="0"/>
          <a:ext cx="0" cy="0"/>
          <a:chOff x="0" y="0"/>
          <a:chExt cx="0" cy="0"/>
        </a:xfrm>
      </p:grpSpPr>
      <p:pic>
        <p:nvPicPr>
          <p:cNvPr id="1287" name="Google Shape;1287;p10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88" name="Google Shape;1288;p10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0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90" name="Google Shape;1290;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91" name="Google Shape;1291;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92" name="Google Shape;1292;p10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3" name="Google Shape;1293;p103"/>
          <p:cNvSpPr/>
          <p:nvPr>
            <p:ph idx="3" type="pic"/>
          </p:nvPr>
        </p:nvSpPr>
        <p:spPr>
          <a:xfrm>
            <a:off x="324000" y="1893950"/>
            <a:ext cx="2555400" cy="1939500"/>
          </a:xfrm>
          <a:prstGeom prst="rect">
            <a:avLst/>
          </a:prstGeom>
          <a:noFill/>
          <a:ln>
            <a:noFill/>
          </a:ln>
        </p:spPr>
      </p:sp>
      <p:sp>
        <p:nvSpPr>
          <p:cNvPr id="1294" name="Google Shape;1294;p103"/>
          <p:cNvSpPr/>
          <p:nvPr>
            <p:ph idx="4" type="pic"/>
          </p:nvPr>
        </p:nvSpPr>
        <p:spPr>
          <a:xfrm>
            <a:off x="6256800" y="1893950"/>
            <a:ext cx="2555400" cy="1939500"/>
          </a:xfrm>
          <a:prstGeom prst="rect">
            <a:avLst/>
          </a:prstGeom>
          <a:noFill/>
          <a:ln>
            <a:noFill/>
          </a:ln>
        </p:spPr>
      </p:sp>
      <p:sp>
        <p:nvSpPr>
          <p:cNvPr id="1295" name="Google Shape;1295;p103"/>
          <p:cNvSpPr/>
          <p:nvPr>
            <p:ph idx="5" type="pic"/>
          </p:nvPr>
        </p:nvSpPr>
        <p:spPr>
          <a:xfrm>
            <a:off x="3294300" y="1893950"/>
            <a:ext cx="2555400" cy="1939500"/>
          </a:xfrm>
          <a:prstGeom prst="rect">
            <a:avLst/>
          </a:prstGeom>
          <a:noFill/>
          <a:ln>
            <a:noFill/>
          </a:ln>
        </p:spPr>
      </p:sp>
      <p:grpSp>
        <p:nvGrpSpPr>
          <p:cNvPr id="1296" name="Google Shape;1296;p103"/>
          <p:cNvGrpSpPr/>
          <p:nvPr/>
        </p:nvGrpSpPr>
        <p:grpSpPr>
          <a:xfrm>
            <a:off x="1381028" y="4148538"/>
            <a:ext cx="457200" cy="457200"/>
            <a:chOff x="1020916" y="1442088"/>
            <a:chExt cx="457200" cy="457200"/>
          </a:xfrm>
        </p:grpSpPr>
        <p:pic>
          <p:nvPicPr>
            <p:cNvPr id="1297" name="Google Shape;1297;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8" name="Google Shape;1298;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99" name="Google Shape;1299;p103"/>
          <p:cNvGrpSpPr/>
          <p:nvPr/>
        </p:nvGrpSpPr>
        <p:grpSpPr>
          <a:xfrm>
            <a:off x="4331066" y="4148550"/>
            <a:ext cx="457200" cy="457200"/>
            <a:chOff x="1020916" y="1442088"/>
            <a:chExt cx="457200" cy="457200"/>
          </a:xfrm>
        </p:grpSpPr>
        <p:pic>
          <p:nvPicPr>
            <p:cNvPr id="1300" name="Google Shape;1300;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1" name="Google Shape;1301;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02" name="Google Shape;1302;p103"/>
          <p:cNvGrpSpPr/>
          <p:nvPr/>
        </p:nvGrpSpPr>
        <p:grpSpPr>
          <a:xfrm>
            <a:off x="7305791" y="4148538"/>
            <a:ext cx="457200" cy="457200"/>
            <a:chOff x="1020916" y="1442088"/>
            <a:chExt cx="457200" cy="457200"/>
          </a:xfrm>
        </p:grpSpPr>
        <p:pic>
          <p:nvPicPr>
            <p:cNvPr id="1303" name="Google Shape;1303;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04" name="Google Shape;1304;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305" name="Shape 1305"/>
        <p:cNvGrpSpPr/>
        <p:nvPr/>
      </p:nvGrpSpPr>
      <p:grpSpPr>
        <a:xfrm>
          <a:off x="0" y="0"/>
          <a:ext cx="0" cy="0"/>
          <a:chOff x="0" y="0"/>
          <a:chExt cx="0" cy="0"/>
        </a:xfrm>
      </p:grpSpPr>
      <p:pic>
        <p:nvPicPr>
          <p:cNvPr id="1306" name="Google Shape;1306;p10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07" name="Google Shape;1307;p10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0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09" name="Google Shape;1309;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10" name="Google Shape;1310;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11" name="Google Shape;1311;p10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12" name="Google Shape;1312;p104"/>
          <p:cNvSpPr/>
          <p:nvPr>
            <p:ph idx="3" type="pic"/>
          </p:nvPr>
        </p:nvSpPr>
        <p:spPr>
          <a:xfrm>
            <a:off x="324000" y="1893950"/>
            <a:ext cx="2555400" cy="1939500"/>
          </a:xfrm>
          <a:prstGeom prst="rect">
            <a:avLst/>
          </a:prstGeom>
          <a:noFill/>
          <a:ln>
            <a:noFill/>
          </a:ln>
        </p:spPr>
      </p:sp>
      <p:sp>
        <p:nvSpPr>
          <p:cNvPr id="1313" name="Google Shape;1313;p104"/>
          <p:cNvSpPr/>
          <p:nvPr>
            <p:ph idx="4" type="pic"/>
          </p:nvPr>
        </p:nvSpPr>
        <p:spPr>
          <a:xfrm>
            <a:off x="6256800" y="1893950"/>
            <a:ext cx="2555400" cy="1939500"/>
          </a:xfrm>
          <a:prstGeom prst="rect">
            <a:avLst/>
          </a:prstGeom>
          <a:noFill/>
          <a:ln>
            <a:noFill/>
          </a:ln>
        </p:spPr>
      </p:sp>
      <p:sp>
        <p:nvSpPr>
          <p:cNvPr id="1314" name="Google Shape;1314;p104"/>
          <p:cNvSpPr/>
          <p:nvPr>
            <p:ph idx="5" type="pic"/>
          </p:nvPr>
        </p:nvSpPr>
        <p:spPr>
          <a:xfrm>
            <a:off x="3294300" y="1893950"/>
            <a:ext cx="2555400" cy="1939500"/>
          </a:xfrm>
          <a:prstGeom prst="rect">
            <a:avLst/>
          </a:prstGeom>
          <a:noFill/>
          <a:ln>
            <a:noFill/>
          </a:ln>
        </p:spPr>
      </p:sp>
      <p:grpSp>
        <p:nvGrpSpPr>
          <p:cNvPr id="1315" name="Google Shape;1315;p104"/>
          <p:cNvGrpSpPr/>
          <p:nvPr/>
        </p:nvGrpSpPr>
        <p:grpSpPr>
          <a:xfrm>
            <a:off x="1381028" y="4148538"/>
            <a:ext cx="457200" cy="457200"/>
            <a:chOff x="1020916" y="1442088"/>
            <a:chExt cx="457200" cy="457200"/>
          </a:xfrm>
        </p:grpSpPr>
        <p:pic>
          <p:nvPicPr>
            <p:cNvPr id="1316" name="Google Shape;1316;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7" name="Google Shape;1317;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18" name="Google Shape;1318;p104"/>
          <p:cNvGrpSpPr/>
          <p:nvPr/>
        </p:nvGrpSpPr>
        <p:grpSpPr>
          <a:xfrm>
            <a:off x="4331066" y="4148550"/>
            <a:ext cx="457200" cy="457200"/>
            <a:chOff x="1020916" y="1442088"/>
            <a:chExt cx="457200" cy="457200"/>
          </a:xfrm>
        </p:grpSpPr>
        <p:pic>
          <p:nvPicPr>
            <p:cNvPr id="1319" name="Google Shape;1319;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0" name="Google Shape;1320;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21" name="Google Shape;1321;p104"/>
          <p:cNvGrpSpPr/>
          <p:nvPr/>
        </p:nvGrpSpPr>
        <p:grpSpPr>
          <a:xfrm>
            <a:off x="7305791" y="4148538"/>
            <a:ext cx="457200" cy="457200"/>
            <a:chOff x="1020916" y="1442088"/>
            <a:chExt cx="457200" cy="457200"/>
          </a:xfrm>
        </p:grpSpPr>
        <p:pic>
          <p:nvPicPr>
            <p:cNvPr id="1322" name="Google Shape;1322;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23" name="Google Shape;132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324" name="Shape 1324"/>
        <p:cNvGrpSpPr/>
        <p:nvPr/>
      </p:nvGrpSpPr>
      <p:grpSpPr>
        <a:xfrm>
          <a:off x="0" y="0"/>
          <a:ext cx="0" cy="0"/>
          <a:chOff x="0" y="0"/>
          <a:chExt cx="0" cy="0"/>
        </a:xfrm>
      </p:grpSpPr>
      <p:pic>
        <p:nvPicPr>
          <p:cNvPr id="1325" name="Google Shape;1325;p10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26" name="Google Shape;1326;p10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0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28" name="Google Shape;1328;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29" name="Google Shape;1329;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30" name="Google Shape;1330;p10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1" name="Google Shape;1331;p105"/>
          <p:cNvSpPr/>
          <p:nvPr>
            <p:ph idx="3" type="pic"/>
          </p:nvPr>
        </p:nvSpPr>
        <p:spPr>
          <a:xfrm>
            <a:off x="324000" y="1893950"/>
            <a:ext cx="2555400" cy="1939500"/>
          </a:xfrm>
          <a:prstGeom prst="rect">
            <a:avLst/>
          </a:prstGeom>
          <a:noFill/>
          <a:ln>
            <a:noFill/>
          </a:ln>
        </p:spPr>
      </p:sp>
      <p:sp>
        <p:nvSpPr>
          <p:cNvPr id="1332" name="Google Shape;1332;p105"/>
          <p:cNvSpPr/>
          <p:nvPr>
            <p:ph idx="4" type="pic"/>
          </p:nvPr>
        </p:nvSpPr>
        <p:spPr>
          <a:xfrm>
            <a:off x="6256800" y="1893950"/>
            <a:ext cx="2555400" cy="1939500"/>
          </a:xfrm>
          <a:prstGeom prst="rect">
            <a:avLst/>
          </a:prstGeom>
          <a:noFill/>
          <a:ln>
            <a:noFill/>
          </a:ln>
        </p:spPr>
      </p:sp>
      <p:sp>
        <p:nvSpPr>
          <p:cNvPr id="1333" name="Google Shape;1333;p105"/>
          <p:cNvSpPr/>
          <p:nvPr>
            <p:ph idx="5" type="pic"/>
          </p:nvPr>
        </p:nvSpPr>
        <p:spPr>
          <a:xfrm>
            <a:off x="3294300" y="1893950"/>
            <a:ext cx="2555400" cy="1939500"/>
          </a:xfrm>
          <a:prstGeom prst="rect">
            <a:avLst/>
          </a:prstGeom>
          <a:noFill/>
          <a:ln>
            <a:noFill/>
          </a:ln>
        </p:spPr>
      </p:sp>
      <p:grpSp>
        <p:nvGrpSpPr>
          <p:cNvPr id="1334" name="Google Shape;1334;p105"/>
          <p:cNvGrpSpPr/>
          <p:nvPr/>
        </p:nvGrpSpPr>
        <p:grpSpPr>
          <a:xfrm>
            <a:off x="1381028" y="4148538"/>
            <a:ext cx="457200" cy="457200"/>
            <a:chOff x="1020916" y="1442088"/>
            <a:chExt cx="457200" cy="457200"/>
          </a:xfrm>
        </p:grpSpPr>
        <p:pic>
          <p:nvPicPr>
            <p:cNvPr id="1335" name="Google Shape;1335;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6" name="Google Shape;1336;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37" name="Google Shape;1337;p105"/>
          <p:cNvGrpSpPr/>
          <p:nvPr/>
        </p:nvGrpSpPr>
        <p:grpSpPr>
          <a:xfrm>
            <a:off x="4331066" y="4148550"/>
            <a:ext cx="457200" cy="457200"/>
            <a:chOff x="1020916" y="1442088"/>
            <a:chExt cx="457200" cy="457200"/>
          </a:xfrm>
        </p:grpSpPr>
        <p:pic>
          <p:nvPicPr>
            <p:cNvPr id="1338" name="Google Shape;1338;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9" name="Google Shape;1339;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40" name="Google Shape;1340;p105"/>
          <p:cNvGrpSpPr/>
          <p:nvPr/>
        </p:nvGrpSpPr>
        <p:grpSpPr>
          <a:xfrm>
            <a:off x="7305791" y="4148538"/>
            <a:ext cx="457200" cy="457200"/>
            <a:chOff x="1020916" y="1442088"/>
            <a:chExt cx="457200" cy="457200"/>
          </a:xfrm>
        </p:grpSpPr>
        <p:pic>
          <p:nvPicPr>
            <p:cNvPr id="1341" name="Google Shape;1341;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2" name="Google Shape;1342;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343" name="Shape 1343"/>
        <p:cNvGrpSpPr/>
        <p:nvPr/>
      </p:nvGrpSpPr>
      <p:grpSpPr>
        <a:xfrm>
          <a:off x="0" y="0"/>
          <a:ext cx="0" cy="0"/>
          <a:chOff x="0" y="0"/>
          <a:chExt cx="0" cy="0"/>
        </a:xfrm>
      </p:grpSpPr>
      <p:pic>
        <p:nvPicPr>
          <p:cNvPr id="1344" name="Google Shape;1344;p10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45" name="Google Shape;1345;p10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0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47" name="Google Shape;1347;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48" name="Google Shape;1348;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49" name="Google Shape;1349;p10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0" name="Google Shape;1350;p106"/>
          <p:cNvSpPr/>
          <p:nvPr>
            <p:ph idx="3" type="pic"/>
          </p:nvPr>
        </p:nvSpPr>
        <p:spPr>
          <a:xfrm>
            <a:off x="324000" y="1893950"/>
            <a:ext cx="2555400" cy="1939500"/>
          </a:xfrm>
          <a:prstGeom prst="rect">
            <a:avLst/>
          </a:prstGeom>
          <a:noFill/>
          <a:ln>
            <a:noFill/>
          </a:ln>
        </p:spPr>
      </p:sp>
      <p:sp>
        <p:nvSpPr>
          <p:cNvPr id="1351" name="Google Shape;1351;p106"/>
          <p:cNvSpPr/>
          <p:nvPr>
            <p:ph idx="4" type="pic"/>
          </p:nvPr>
        </p:nvSpPr>
        <p:spPr>
          <a:xfrm>
            <a:off x="6256800" y="1893950"/>
            <a:ext cx="2555400" cy="1939500"/>
          </a:xfrm>
          <a:prstGeom prst="rect">
            <a:avLst/>
          </a:prstGeom>
          <a:noFill/>
          <a:ln>
            <a:noFill/>
          </a:ln>
        </p:spPr>
      </p:sp>
      <p:sp>
        <p:nvSpPr>
          <p:cNvPr id="1352" name="Google Shape;1352;p106"/>
          <p:cNvSpPr/>
          <p:nvPr>
            <p:ph idx="5" type="pic"/>
          </p:nvPr>
        </p:nvSpPr>
        <p:spPr>
          <a:xfrm>
            <a:off x="3294300" y="1893950"/>
            <a:ext cx="2555400" cy="1939500"/>
          </a:xfrm>
          <a:prstGeom prst="rect">
            <a:avLst/>
          </a:prstGeom>
          <a:noFill/>
          <a:ln>
            <a:noFill/>
          </a:ln>
        </p:spPr>
      </p:sp>
      <p:grpSp>
        <p:nvGrpSpPr>
          <p:cNvPr id="1353" name="Google Shape;1353;p106"/>
          <p:cNvGrpSpPr/>
          <p:nvPr/>
        </p:nvGrpSpPr>
        <p:grpSpPr>
          <a:xfrm>
            <a:off x="1381028" y="4148538"/>
            <a:ext cx="457200" cy="457200"/>
            <a:chOff x="1020916" y="1442088"/>
            <a:chExt cx="457200" cy="457200"/>
          </a:xfrm>
        </p:grpSpPr>
        <p:pic>
          <p:nvPicPr>
            <p:cNvPr id="1354" name="Google Shape;1354;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5" name="Google Shape;1355;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56" name="Google Shape;1356;p106"/>
          <p:cNvGrpSpPr/>
          <p:nvPr/>
        </p:nvGrpSpPr>
        <p:grpSpPr>
          <a:xfrm>
            <a:off x="4331066" y="4148550"/>
            <a:ext cx="457200" cy="457200"/>
            <a:chOff x="1020916" y="1442088"/>
            <a:chExt cx="457200" cy="457200"/>
          </a:xfrm>
        </p:grpSpPr>
        <p:pic>
          <p:nvPicPr>
            <p:cNvPr id="1357" name="Google Shape;1357;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8" name="Google Shape;1358;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59" name="Google Shape;1359;p106"/>
          <p:cNvGrpSpPr/>
          <p:nvPr/>
        </p:nvGrpSpPr>
        <p:grpSpPr>
          <a:xfrm>
            <a:off x="7305791" y="4148538"/>
            <a:ext cx="457200" cy="457200"/>
            <a:chOff x="1020916" y="1442088"/>
            <a:chExt cx="457200" cy="457200"/>
          </a:xfrm>
        </p:grpSpPr>
        <p:pic>
          <p:nvPicPr>
            <p:cNvPr id="1360" name="Google Shape;1360;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1" name="Google Shape;1361;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362" name="Shape 1362"/>
        <p:cNvGrpSpPr/>
        <p:nvPr/>
      </p:nvGrpSpPr>
      <p:grpSpPr>
        <a:xfrm>
          <a:off x="0" y="0"/>
          <a:ext cx="0" cy="0"/>
          <a:chOff x="0" y="0"/>
          <a:chExt cx="0" cy="0"/>
        </a:xfrm>
      </p:grpSpPr>
      <p:pic>
        <p:nvPicPr>
          <p:cNvPr id="1363" name="Google Shape;1363;p10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64" name="Google Shape;1364;p10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0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66" name="Google Shape;1366;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67" name="Google Shape;1367;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68" name="Google Shape;1368;p10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369" name="Shape 1369"/>
        <p:cNvGrpSpPr/>
        <p:nvPr/>
      </p:nvGrpSpPr>
      <p:grpSpPr>
        <a:xfrm>
          <a:off x="0" y="0"/>
          <a:ext cx="0" cy="0"/>
          <a:chOff x="0" y="0"/>
          <a:chExt cx="0" cy="0"/>
        </a:xfrm>
      </p:grpSpPr>
      <p:pic>
        <p:nvPicPr>
          <p:cNvPr id="1370" name="Google Shape;1370;p10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71" name="Google Shape;1371;p10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0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73" name="Google Shape;1373;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74" name="Google Shape;1374;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75" name="Google Shape;1375;p10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376" name="Shape 1376"/>
        <p:cNvGrpSpPr/>
        <p:nvPr/>
      </p:nvGrpSpPr>
      <p:grpSpPr>
        <a:xfrm>
          <a:off x="0" y="0"/>
          <a:ext cx="0" cy="0"/>
          <a:chOff x="0" y="0"/>
          <a:chExt cx="0" cy="0"/>
        </a:xfrm>
      </p:grpSpPr>
      <p:pic>
        <p:nvPicPr>
          <p:cNvPr id="1377" name="Google Shape;1377;p10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78" name="Google Shape;1378;p10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0" name="Google Shape;1380;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1" name="Google Shape;1381;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82" name="Google Shape;1382;p10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383" name="Shape 1383"/>
        <p:cNvGrpSpPr/>
        <p:nvPr/>
      </p:nvGrpSpPr>
      <p:grpSpPr>
        <a:xfrm>
          <a:off x="0" y="0"/>
          <a:ext cx="0" cy="0"/>
          <a:chOff x="0" y="0"/>
          <a:chExt cx="0" cy="0"/>
        </a:xfrm>
      </p:grpSpPr>
      <p:pic>
        <p:nvPicPr>
          <p:cNvPr id="1384" name="Google Shape;1384;p11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85" name="Google Shape;1385;p11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1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1387" name="Google Shape;1387;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8" name="Google Shape;1388;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89" name="Google Shape;1389;p11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390" name="Shape 1390"/>
        <p:cNvGrpSpPr/>
        <p:nvPr/>
      </p:nvGrpSpPr>
      <p:grpSpPr>
        <a:xfrm>
          <a:off x="0" y="0"/>
          <a:ext cx="0" cy="0"/>
          <a:chOff x="0" y="0"/>
          <a:chExt cx="0" cy="0"/>
        </a:xfrm>
      </p:grpSpPr>
      <p:pic>
        <p:nvPicPr>
          <p:cNvPr id="1391" name="Google Shape;1391;p11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92" name="Google Shape;1392;p11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1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394" name="Google Shape;1394;p11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395" name="Google Shape;1395;p11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396" name="Google Shape;1396;p11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397" name="Google Shape;1397;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398" name="Shape 1398"/>
        <p:cNvGrpSpPr/>
        <p:nvPr/>
      </p:nvGrpSpPr>
      <p:grpSpPr>
        <a:xfrm>
          <a:off x="0" y="0"/>
          <a:ext cx="0" cy="0"/>
          <a:chOff x="0" y="0"/>
          <a:chExt cx="0" cy="0"/>
        </a:xfrm>
      </p:grpSpPr>
      <p:pic>
        <p:nvPicPr>
          <p:cNvPr id="1399" name="Google Shape;1399;p11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0" name="Google Shape;1400;p11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1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02" name="Google Shape;1402;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1403" name="Google Shape;1403;p11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04" name="Google Shape;1404;p11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05" name="Google Shape;1405;p11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406" name="Shape 1406"/>
        <p:cNvGrpSpPr/>
        <p:nvPr/>
      </p:nvGrpSpPr>
      <p:grpSpPr>
        <a:xfrm>
          <a:off x="0" y="0"/>
          <a:ext cx="0" cy="0"/>
          <a:chOff x="0" y="0"/>
          <a:chExt cx="0" cy="0"/>
        </a:xfrm>
      </p:grpSpPr>
      <p:pic>
        <p:nvPicPr>
          <p:cNvPr id="1407" name="Google Shape;1407;p11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8" name="Google Shape;1408;p11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1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10" name="Google Shape;1410;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1411" name="Google Shape;1411;p11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12" name="Google Shape;1412;p11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13" name="Google Shape;1413;p11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414" name="Shape 1414"/>
        <p:cNvGrpSpPr/>
        <p:nvPr/>
      </p:nvGrpSpPr>
      <p:grpSpPr>
        <a:xfrm>
          <a:off x="0" y="0"/>
          <a:ext cx="0" cy="0"/>
          <a:chOff x="0" y="0"/>
          <a:chExt cx="0" cy="0"/>
        </a:xfrm>
      </p:grpSpPr>
      <p:pic>
        <p:nvPicPr>
          <p:cNvPr id="1415" name="Google Shape;1415;p11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16" name="Google Shape;1416;p11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1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18" name="Google Shape;1418;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1419" name="Google Shape;1419;p114"/>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20" name="Google Shape;1420;p11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1" name="Google Shape;1421;p11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422" name="Shape 1422"/>
        <p:cNvGrpSpPr/>
        <p:nvPr/>
      </p:nvGrpSpPr>
      <p:grpSpPr>
        <a:xfrm>
          <a:off x="0" y="0"/>
          <a:ext cx="0" cy="0"/>
          <a:chOff x="0" y="0"/>
          <a:chExt cx="0" cy="0"/>
        </a:xfrm>
      </p:grpSpPr>
      <p:pic>
        <p:nvPicPr>
          <p:cNvPr id="1423" name="Google Shape;1423;p11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424" name="Google Shape;1424;p11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1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26" name="Google Shape;1426;p115"/>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1427" name="Google Shape;1427;p11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1428" name="Google Shape;1428;p11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29" name="Google Shape;1429;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430" name="Shape 1430"/>
        <p:cNvGrpSpPr/>
        <p:nvPr/>
      </p:nvGrpSpPr>
      <p:grpSpPr>
        <a:xfrm>
          <a:off x="0" y="0"/>
          <a:ext cx="0" cy="0"/>
          <a:chOff x="0" y="0"/>
          <a:chExt cx="0" cy="0"/>
        </a:xfrm>
      </p:grpSpPr>
      <p:pic>
        <p:nvPicPr>
          <p:cNvPr id="1431" name="Google Shape;1431;p11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32" name="Google Shape;1432;p11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1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34" name="Google Shape;1434;p11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1435" name="Google Shape;1435;p11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36" name="Google Shape;1436;p11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37" name="Google Shape;1437;p11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438" name="Shape 1438"/>
        <p:cNvGrpSpPr/>
        <p:nvPr/>
      </p:nvGrpSpPr>
      <p:grpSpPr>
        <a:xfrm>
          <a:off x="0" y="0"/>
          <a:ext cx="0" cy="0"/>
          <a:chOff x="0" y="0"/>
          <a:chExt cx="0" cy="0"/>
        </a:xfrm>
      </p:grpSpPr>
      <p:pic>
        <p:nvPicPr>
          <p:cNvPr id="1439" name="Google Shape;1439;p11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40" name="Google Shape;1440;p11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1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42" name="Google Shape;1442;p11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1443" name="Google Shape;1443;p11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44" name="Google Shape;1444;p1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445" name="Google Shape;1445;p1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446" name="Shape 1446"/>
        <p:cNvGrpSpPr/>
        <p:nvPr/>
      </p:nvGrpSpPr>
      <p:grpSpPr>
        <a:xfrm>
          <a:off x="0" y="0"/>
          <a:ext cx="0" cy="0"/>
          <a:chOff x="0" y="0"/>
          <a:chExt cx="0" cy="0"/>
        </a:xfrm>
      </p:grpSpPr>
      <p:pic>
        <p:nvPicPr>
          <p:cNvPr id="1447" name="Google Shape;1447;p11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48" name="Google Shape;1448;p11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1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50" name="Google Shape;1450;p118"/>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451" name="Google Shape;1451;p11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1452" name="Google Shape;1452;p1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1453" name="Google Shape;1453;p1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1454" name="Shape 1454"/>
        <p:cNvGrpSpPr/>
        <p:nvPr/>
      </p:nvGrpSpPr>
      <p:grpSpPr>
        <a:xfrm>
          <a:off x="0" y="0"/>
          <a:ext cx="0" cy="0"/>
          <a:chOff x="0" y="0"/>
          <a:chExt cx="0" cy="0"/>
        </a:xfrm>
      </p:grpSpPr>
      <p:sp>
        <p:nvSpPr>
          <p:cNvPr id="1455" name="Google Shape;1455;p119"/>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6" name="Google Shape;1456;p119"/>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1457" name="Google Shape;1457;p11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58" name="Google Shape;1458;p11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59" name="Google Shape;1459;p119"/>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460" name="Shape 1460"/>
        <p:cNvGrpSpPr/>
        <p:nvPr/>
      </p:nvGrpSpPr>
      <p:grpSpPr>
        <a:xfrm>
          <a:off x="0" y="0"/>
          <a:ext cx="0" cy="0"/>
          <a:chOff x="0" y="0"/>
          <a:chExt cx="0" cy="0"/>
        </a:xfrm>
      </p:grpSpPr>
      <p:sp>
        <p:nvSpPr>
          <p:cNvPr id="1461" name="Google Shape;1461;p120"/>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2" name="Google Shape;1462;p120"/>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1463" name="Google Shape;1463;p12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1464" name="Google Shape;1464;p120"/>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465" name="Google Shape;1465;p120"/>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466" name="Shape 1466"/>
        <p:cNvGrpSpPr/>
        <p:nvPr/>
      </p:nvGrpSpPr>
      <p:grpSpPr>
        <a:xfrm>
          <a:off x="0" y="0"/>
          <a:ext cx="0" cy="0"/>
          <a:chOff x="0" y="0"/>
          <a:chExt cx="0" cy="0"/>
        </a:xfrm>
      </p:grpSpPr>
      <p:pic>
        <p:nvPicPr>
          <p:cNvPr id="1467" name="Google Shape;1467;p121"/>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1468" name="Google Shape;1468;p121"/>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469" name="Shape 1469"/>
        <p:cNvGrpSpPr/>
        <p:nvPr/>
      </p:nvGrpSpPr>
      <p:grpSpPr>
        <a:xfrm>
          <a:off x="0" y="0"/>
          <a:ext cx="0" cy="0"/>
          <a:chOff x="0" y="0"/>
          <a:chExt cx="0" cy="0"/>
        </a:xfrm>
      </p:grpSpPr>
      <p:sp>
        <p:nvSpPr>
          <p:cNvPr id="1470" name="Google Shape;1470;p122"/>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1471" name="Google Shape;1471;p122"/>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472" name="Google Shape;1472;p122"/>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1473" name="Google Shape;1473;p122"/>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474" name="Google Shape;1474;p122"/>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1475" name="Google Shape;1475;p122"/>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1476" name="Google Shape;1476;p122"/>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1477" name="Google Shape;1477;p122"/>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1478" name="Google Shape;1478;p122"/>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479" name="Shape 1479"/>
        <p:cNvGrpSpPr/>
        <p:nvPr/>
      </p:nvGrpSpPr>
      <p:grpSpPr>
        <a:xfrm>
          <a:off x="0" y="0"/>
          <a:ext cx="0" cy="0"/>
          <a:chOff x="0" y="0"/>
          <a:chExt cx="0" cy="0"/>
        </a:xfrm>
      </p:grpSpPr>
      <p:pic>
        <p:nvPicPr>
          <p:cNvPr id="1480" name="Google Shape;1480;p123"/>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1481" name="Google Shape;1481;p123"/>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482" name="Shape 1482"/>
        <p:cNvGrpSpPr/>
        <p:nvPr/>
      </p:nvGrpSpPr>
      <p:grpSpPr>
        <a:xfrm>
          <a:off x="0" y="0"/>
          <a:ext cx="0" cy="0"/>
          <a:chOff x="0" y="0"/>
          <a:chExt cx="0" cy="0"/>
        </a:xfrm>
      </p:grpSpPr>
      <p:sp>
        <p:nvSpPr>
          <p:cNvPr id="1483" name="Google Shape;1483;p124"/>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rtl="0">
              <a:spcBef>
                <a:spcPts val="0"/>
              </a:spcBef>
              <a:spcAft>
                <a:spcPts val="0"/>
              </a:spcAft>
              <a:buSzPts val="2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9.xml"/><Relationship Id="rId42" Type="http://schemas.openxmlformats.org/officeDocument/2006/relationships/slideLayout" Target="../slideLayouts/slideLayout101.xml"/><Relationship Id="rId41" Type="http://schemas.openxmlformats.org/officeDocument/2006/relationships/slideLayout" Target="../slideLayouts/slideLayout100.xml"/><Relationship Id="rId44" Type="http://schemas.openxmlformats.org/officeDocument/2006/relationships/slideLayout" Target="../slideLayouts/slideLayout103.xml"/><Relationship Id="rId43" Type="http://schemas.openxmlformats.org/officeDocument/2006/relationships/slideLayout" Target="../slideLayouts/slideLayout102.xml"/><Relationship Id="rId46" Type="http://schemas.openxmlformats.org/officeDocument/2006/relationships/slideLayout" Target="../slideLayouts/slideLayout105.xml"/><Relationship Id="rId45" Type="http://schemas.openxmlformats.org/officeDocument/2006/relationships/slideLayout" Target="../slideLayouts/slideLayout104.xml"/><Relationship Id="rId1" Type="http://schemas.openxmlformats.org/officeDocument/2006/relationships/image" Target="../media/image9.png"/><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48" Type="http://schemas.openxmlformats.org/officeDocument/2006/relationships/slideLayout" Target="../slideLayouts/slideLayout107.xml"/><Relationship Id="rId47" Type="http://schemas.openxmlformats.org/officeDocument/2006/relationships/slideLayout" Target="../slideLayouts/slideLayout106.xml"/><Relationship Id="rId49" Type="http://schemas.openxmlformats.org/officeDocument/2006/relationships/slideLayout" Target="../slideLayouts/slideLayout10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31" Type="http://schemas.openxmlformats.org/officeDocument/2006/relationships/slideLayout" Target="../slideLayouts/slideLayout90.xml"/><Relationship Id="rId30" Type="http://schemas.openxmlformats.org/officeDocument/2006/relationships/slideLayout" Target="../slideLayouts/slideLayout89.xml"/><Relationship Id="rId33" Type="http://schemas.openxmlformats.org/officeDocument/2006/relationships/slideLayout" Target="../slideLayouts/slideLayout92.xml"/><Relationship Id="rId32" Type="http://schemas.openxmlformats.org/officeDocument/2006/relationships/slideLayout" Target="../slideLayouts/slideLayout91.xml"/><Relationship Id="rId35" Type="http://schemas.openxmlformats.org/officeDocument/2006/relationships/slideLayout" Target="../slideLayouts/slideLayout94.xml"/><Relationship Id="rId34" Type="http://schemas.openxmlformats.org/officeDocument/2006/relationships/slideLayout" Target="../slideLayouts/slideLayout93.xml"/><Relationship Id="rId37" Type="http://schemas.openxmlformats.org/officeDocument/2006/relationships/slideLayout" Target="../slideLayouts/slideLayout96.xml"/><Relationship Id="rId36" Type="http://schemas.openxmlformats.org/officeDocument/2006/relationships/slideLayout" Target="../slideLayouts/slideLayout95.xml"/><Relationship Id="rId39" Type="http://schemas.openxmlformats.org/officeDocument/2006/relationships/slideLayout" Target="../slideLayouts/slideLayout98.xml"/><Relationship Id="rId38" Type="http://schemas.openxmlformats.org/officeDocument/2006/relationships/slideLayout" Target="../slideLayouts/slideLayout97.xml"/><Relationship Id="rId62" Type="http://schemas.openxmlformats.org/officeDocument/2006/relationships/slideLayout" Target="../slideLayouts/slideLayout121.xml"/><Relationship Id="rId61" Type="http://schemas.openxmlformats.org/officeDocument/2006/relationships/slideLayout" Target="../slideLayouts/slideLayout120.xml"/><Relationship Id="rId20" Type="http://schemas.openxmlformats.org/officeDocument/2006/relationships/slideLayout" Target="../slideLayouts/slideLayout79.xml"/><Relationship Id="rId64" Type="http://schemas.openxmlformats.org/officeDocument/2006/relationships/theme" Target="../theme/theme3.xml"/><Relationship Id="rId63" Type="http://schemas.openxmlformats.org/officeDocument/2006/relationships/slideLayout" Target="../slideLayouts/slideLayout12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60" Type="http://schemas.openxmlformats.org/officeDocument/2006/relationships/slideLayout" Target="../slideLayouts/slideLayout119.xml"/><Relationship Id="rId26" Type="http://schemas.openxmlformats.org/officeDocument/2006/relationships/slideLayout" Target="../slideLayouts/slideLayout85.xml"/><Relationship Id="rId25" Type="http://schemas.openxmlformats.org/officeDocument/2006/relationships/slideLayout" Target="../slideLayouts/slideLayout84.xml"/><Relationship Id="rId28" Type="http://schemas.openxmlformats.org/officeDocument/2006/relationships/slideLayout" Target="../slideLayouts/slideLayout87.xml"/><Relationship Id="rId27" Type="http://schemas.openxmlformats.org/officeDocument/2006/relationships/slideLayout" Target="../slideLayouts/slideLayout86.xml"/><Relationship Id="rId29" Type="http://schemas.openxmlformats.org/officeDocument/2006/relationships/slideLayout" Target="../slideLayouts/slideLayout88.xml"/><Relationship Id="rId51" Type="http://schemas.openxmlformats.org/officeDocument/2006/relationships/slideLayout" Target="../slideLayouts/slideLayout110.xml"/><Relationship Id="rId50" Type="http://schemas.openxmlformats.org/officeDocument/2006/relationships/slideLayout" Target="../slideLayouts/slideLayout109.xml"/><Relationship Id="rId53" Type="http://schemas.openxmlformats.org/officeDocument/2006/relationships/slideLayout" Target="../slideLayouts/slideLayout112.xml"/><Relationship Id="rId52" Type="http://schemas.openxmlformats.org/officeDocument/2006/relationships/slideLayout" Target="../slideLayouts/slideLayout111.xml"/><Relationship Id="rId11" Type="http://schemas.openxmlformats.org/officeDocument/2006/relationships/slideLayout" Target="../slideLayouts/slideLayout70.xml"/><Relationship Id="rId55" Type="http://schemas.openxmlformats.org/officeDocument/2006/relationships/slideLayout" Target="../slideLayouts/slideLayout114.xml"/><Relationship Id="rId10" Type="http://schemas.openxmlformats.org/officeDocument/2006/relationships/slideLayout" Target="../slideLayouts/slideLayout69.xml"/><Relationship Id="rId54" Type="http://schemas.openxmlformats.org/officeDocument/2006/relationships/slideLayout" Target="../slideLayouts/slideLayout113.xml"/><Relationship Id="rId13" Type="http://schemas.openxmlformats.org/officeDocument/2006/relationships/slideLayout" Target="../slideLayouts/slideLayout72.xml"/><Relationship Id="rId57" Type="http://schemas.openxmlformats.org/officeDocument/2006/relationships/slideLayout" Target="../slideLayouts/slideLayout116.xml"/><Relationship Id="rId12" Type="http://schemas.openxmlformats.org/officeDocument/2006/relationships/slideLayout" Target="../slideLayouts/slideLayout71.xml"/><Relationship Id="rId56" Type="http://schemas.openxmlformats.org/officeDocument/2006/relationships/slideLayout" Target="../slideLayouts/slideLayout115.xml"/><Relationship Id="rId15" Type="http://schemas.openxmlformats.org/officeDocument/2006/relationships/slideLayout" Target="../slideLayouts/slideLayout74.xml"/><Relationship Id="rId59" Type="http://schemas.openxmlformats.org/officeDocument/2006/relationships/slideLayout" Target="../slideLayouts/slideLayout118.xml"/><Relationship Id="rId14" Type="http://schemas.openxmlformats.org/officeDocument/2006/relationships/slideLayout" Target="../slideLayouts/slideLayout73.xml"/><Relationship Id="rId58" Type="http://schemas.openxmlformats.org/officeDocument/2006/relationships/slideLayout" Target="../slideLayouts/slideLayout11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43" name="Shape 743"/>
        <p:cNvGrpSpPr/>
        <p:nvPr/>
      </p:nvGrpSpPr>
      <p:grpSpPr>
        <a:xfrm>
          <a:off x="0" y="0"/>
          <a:ext cx="0" cy="0"/>
          <a:chOff x="0" y="0"/>
          <a:chExt cx="0" cy="0"/>
        </a:xfrm>
      </p:grpSpPr>
      <p:sp>
        <p:nvSpPr>
          <p:cNvPr id="744" name="Google Shape;744;p62"/>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45" name="Google Shape;745;p62"/>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746" name="Google Shape;746;p62"/>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 id="2147483755" r:id="rId49"/>
    <p:sldLayoutId id="2147483756" r:id="rId50"/>
    <p:sldLayoutId id="2147483757" r:id="rId51"/>
    <p:sldLayoutId id="2147483758" r:id="rId52"/>
    <p:sldLayoutId id="2147483759" r:id="rId53"/>
    <p:sldLayoutId id="2147483760" r:id="rId54"/>
    <p:sldLayoutId id="2147483761" r:id="rId55"/>
    <p:sldLayoutId id="2147483762" r:id="rId56"/>
    <p:sldLayoutId id="2147483763" r:id="rId57"/>
    <p:sldLayoutId id="2147483764" r:id="rId58"/>
    <p:sldLayoutId id="2147483765" r:id="rId59"/>
    <p:sldLayoutId id="2147483766" r:id="rId60"/>
    <p:sldLayoutId id="2147483767" r:id="rId61"/>
    <p:sldLayoutId id="2147483768" r:id="rId62"/>
    <p:sldLayoutId id="214748376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5.xml"/><Relationship Id="rId3" Type="http://schemas.openxmlformats.org/officeDocument/2006/relationships/image" Target="../media/image9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9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96.png"/><Relationship Id="rId4" Type="http://schemas.openxmlformats.org/officeDocument/2006/relationships/image" Target="../media/image98.png"/><Relationship Id="rId5" Type="http://schemas.openxmlformats.org/officeDocument/2006/relationships/image" Target="../media/image10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01.png"/><Relationship Id="rId4" Type="http://schemas.openxmlformats.org/officeDocument/2006/relationships/image" Target="../media/image104.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3.png"/><Relationship Id="rId8" Type="http://schemas.openxmlformats.org/officeDocument/2006/relationships/image" Target="../media/image10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01.png"/><Relationship Id="rId4" Type="http://schemas.openxmlformats.org/officeDocument/2006/relationships/image" Target="../media/image104.png"/><Relationship Id="rId9" Type="http://schemas.openxmlformats.org/officeDocument/2006/relationships/image" Target="../media/image105.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3.png"/><Relationship Id="rId8" Type="http://schemas.openxmlformats.org/officeDocument/2006/relationships/image" Target="../media/image10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01.png"/><Relationship Id="rId4" Type="http://schemas.openxmlformats.org/officeDocument/2006/relationships/image" Target="../media/image104.png"/><Relationship Id="rId9" Type="http://schemas.openxmlformats.org/officeDocument/2006/relationships/image" Target="../media/image105.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3.png"/><Relationship Id="rId8" Type="http://schemas.openxmlformats.org/officeDocument/2006/relationships/image" Target="../media/image10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01.png"/><Relationship Id="rId4" Type="http://schemas.openxmlformats.org/officeDocument/2006/relationships/image" Target="../media/image104.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3.png"/><Relationship Id="rId8" Type="http://schemas.openxmlformats.org/officeDocument/2006/relationships/image" Target="../media/image10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 Id="rId3" Type="http://schemas.openxmlformats.org/officeDocument/2006/relationships/image" Target="../media/image10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 Id="rId3" Type="http://schemas.openxmlformats.org/officeDocument/2006/relationships/image" Target="../media/image10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 Id="rId3" Type="http://schemas.openxmlformats.org/officeDocument/2006/relationships/image" Target="../media/image108.png"/><Relationship Id="rId4" Type="http://schemas.openxmlformats.org/officeDocument/2006/relationships/image" Target="../media/image110.png"/><Relationship Id="rId5" Type="http://schemas.openxmlformats.org/officeDocument/2006/relationships/image" Target="../media/image10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12.png"/><Relationship Id="rId4" Type="http://schemas.openxmlformats.org/officeDocument/2006/relationships/image" Target="../media/image115.png"/><Relationship Id="rId5" Type="http://schemas.openxmlformats.org/officeDocument/2006/relationships/image" Target="../media/image111.png"/><Relationship Id="rId6" Type="http://schemas.openxmlformats.org/officeDocument/2006/relationships/image" Target="../media/image116.png"/><Relationship Id="rId7" Type="http://schemas.openxmlformats.org/officeDocument/2006/relationships/image" Target="../media/image114.png"/><Relationship Id="rId8" Type="http://schemas.openxmlformats.org/officeDocument/2006/relationships/image" Target="../media/image1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1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119.png"/><Relationship Id="rId4" Type="http://schemas.openxmlformats.org/officeDocument/2006/relationships/image" Target="../media/image1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126.png"/><Relationship Id="rId4" Type="http://schemas.openxmlformats.org/officeDocument/2006/relationships/image" Target="../media/image123.png"/><Relationship Id="rId5" Type="http://schemas.openxmlformats.org/officeDocument/2006/relationships/image" Target="../media/image122.png"/><Relationship Id="rId6" Type="http://schemas.openxmlformats.org/officeDocument/2006/relationships/image" Target="../media/image1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124.png"/><Relationship Id="rId4" Type="http://schemas.openxmlformats.org/officeDocument/2006/relationships/image" Target="../media/image1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1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119.png"/><Relationship Id="rId4" Type="http://schemas.openxmlformats.org/officeDocument/2006/relationships/image" Target="../media/image1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 Id="rId3" Type="http://schemas.openxmlformats.org/officeDocument/2006/relationships/image" Target="../media/image120.png"/><Relationship Id="rId4" Type="http://schemas.openxmlformats.org/officeDocument/2006/relationships/image" Target="../media/image1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 Id="rId3" Type="http://schemas.openxmlformats.org/officeDocument/2006/relationships/image" Target="../media/image127.png"/><Relationship Id="rId4" Type="http://schemas.openxmlformats.org/officeDocument/2006/relationships/image" Target="../media/image126.png"/><Relationship Id="rId5" Type="http://schemas.openxmlformats.org/officeDocument/2006/relationships/image" Target="../media/image123.png"/><Relationship Id="rId6" Type="http://schemas.openxmlformats.org/officeDocument/2006/relationships/image" Target="../media/image1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122.png"/><Relationship Id="rId4" Type="http://schemas.openxmlformats.org/officeDocument/2006/relationships/image" Target="../media/image129.png"/><Relationship Id="rId5" Type="http://schemas.openxmlformats.org/officeDocument/2006/relationships/image" Target="../media/image1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 Id="rId3" Type="http://schemas.openxmlformats.org/officeDocument/2006/relationships/image" Target="../media/image124.png"/><Relationship Id="rId4" Type="http://schemas.openxmlformats.org/officeDocument/2006/relationships/image" Target="../media/image132.png"/><Relationship Id="rId5" Type="http://schemas.openxmlformats.org/officeDocument/2006/relationships/image" Target="../media/image1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 Id="rId3" Type="http://schemas.openxmlformats.org/officeDocument/2006/relationships/image" Target="../media/image9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131.png"/><Relationship Id="rId4" Type="http://schemas.openxmlformats.org/officeDocument/2006/relationships/image" Target="../media/image1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131.png"/><Relationship Id="rId4" Type="http://schemas.openxmlformats.org/officeDocument/2006/relationships/image" Target="../media/image1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131.png"/><Relationship Id="rId4" Type="http://schemas.openxmlformats.org/officeDocument/2006/relationships/image" Target="../media/image1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2.xml"/><Relationship Id="rId3" Type="http://schemas.openxmlformats.org/officeDocument/2006/relationships/image" Target="../media/image140.png"/><Relationship Id="rId4" Type="http://schemas.openxmlformats.org/officeDocument/2006/relationships/image" Target="../media/image134.png"/><Relationship Id="rId5" Type="http://schemas.openxmlformats.org/officeDocument/2006/relationships/image" Target="../media/image1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133.png"/><Relationship Id="rId4" Type="http://schemas.openxmlformats.org/officeDocument/2006/relationships/image" Target="../media/image136.png"/><Relationship Id="rId5" Type="http://schemas.openxmlformats.org/officeDocument/2006/relationships/image" Target="../media/image1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133.png"/><Relationship Id="rId4" Type="http://schemas.openxmlformats.org/officeDocument/2006/relationships/image" Target="../media/image136.png"/><Relationship Id="rId5" Type="http://schemas.openxmlformats.org/officeDocument/2006/relationships/image" Target="../media/image1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137.png"/><Relationship Id="rId4" Type="http://schemas.openxmlformats.org/officeDocument/2006/relationships/image" Target="../media/image138.png"/><Relationship Id="rId5" Type="http://schemas.openxmlformats.org/officeDocument/2006/relationships/image" Target="../media/image1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125"/>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Estimating numerical calculations</a:t>
            </a:r>
            <a:endParaRPr/>
          </a:p>
        </p:txBody>
      </p:sp>
      <p:sp>
        <p:nvSpPr>
          <p:cNvPr id="1489" name="Google Shape;1489;p125"/>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Estimation and rounding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93" name="Shape 1493"/>
        <p:cNvGrpSpPr/>
        <p:nvPr/>
      </p:nvGrpSpPr>
      <p:grpSpPr>
        <a:xfrm>
          <a:off x="0" y="0"/>
          <a:ext cx="0" cy="0"/>
          <a:chOff x="0" y="0"/>
          <a:chExt cx="0" cy="0"/>
        </a:xfrm>
      </p:grpSpPr>
      <p:sp>
        <p:nvSpPr>
          <p:cNvPr id="1494" name="Google Shape;1494;p126"/>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8" name="Shape 1498"/>
        <p:cNvGrpSpPr/>
        <p:nvPr/>
      </p:nvGrpSpPr>
      <p:grpSpPr>
        <a:xfrm>
          <a:off x="0" y="0"/>
          <a:ext cx="0" cy="0"/>
          <a:chOff x="0" y="0"/>
          <a:chExt cx="0" cy="0"/>
        </a:xfrm>
      </p:grpSpPr>
      <p:sp>
        <p:nvSpPr>
          <p:cNvPr id="1499" name="Google Shape;1499;p127"/>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estimate numerical calculations.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p128"/>
          <p:cNvSpPr txBox="1"/>
          <p:nvPr/>
        </p:nvSpPr>
        <p:spPr>
          <a:xfrm>
            <a:off x="324000" y="802250"/>
            <a:ext cx="8373900" cy="21540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sz="2100">
                <a:solidFill>
                  <a:schemeClr val="dk1"/>
                </a:solidFill>
                <a:latin typeface="Lexend"/>
                <a:ea typeface="Lexend"/>
                <a:cs typeface="Lexend"/>
                <a:sym typeface="Lexend"/>
              </a:rPr>
              <a:t>Significant figures are the digits in a number that contribute to the accuracy of the number. </a:t>
            </a:r>
            <a:endParaRPr sz="21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lang="en-GB" sz="2100">
                <a:solidFill>
                  <a:schemeClr val="dk1"/>
                </a:solidFill>
                <a:latin typeface="Lexend"/>
                <a:ea typeface="Lexend"/>
                <a:cs typeface="Lexend"/>
                <a:sym typeface="Lexend"/>
              </a:rPr>
              <a:t>The first significant figure is the first non-zero digit.</a:t>
            </a:r>
            <a:endParaRPr sz="21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lang="en-GB" sz="2000">
                <a:solidFill>
                  <a:schemeClr val="dk1"/>
                </a:solidFill>
                <a:latin typeface="Lexend"/>
                <a:ea typeface="Lexend"/>
                <a:cs typeface="Lexend"/>
                <a:sym typeface="Lexend"/>
              </a:rPr>
              <a:t>Number lines can be used to round to one significant figure.</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Example</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6523 = 7000 (1 s.f.)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6523 = 6500 (2 s.f.)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6523 = 6520 (3 s.f.)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100">
              <a:solidFill>
                <a:schemeClr val="dk1"/>
              </a:solidFill>
              <a:latin typeface="Lexend"/>
              <a:ea typeface="Lexend"/>
              <a:cs typeface="Lexend"/>
              <a:sym typeface="Lexend"/>
            </a:endParaRPr>
          </a:p>
          <a:p>
            <a:pPr indent="0" lvl="0" marL="0" rtl="0" algn="l">
              <a:spcBef>
                <a:spcPts val="0"/>
              </a:spcBef>
              <a:spcAft>
                <a:spcPts val="0"/>
              </a:spcAft>
              <a:buNone/>
            </a:pPr>
            <a:r>
              <a:t/>
            </a:r>
            <a:endParaRPr sz="21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29"/>
          <p:cNvSpPr txBox="1"/>
          <p:nvPr/>
        </p:nvSpPr>
        <p:spPr>
          <a:xfrm>
            <a:off x="324000" y="802250"/>
            <a:ext cx="7714800" cy="107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100">
                <a:solidFill>
                  <a:schemeClr val="dk1"/>
                </a:solidFill>
                <a:latin typeface="Lexend"/>
                <a:ea typeface="Lexend"/>
                <a:cs typeface="Lexend"/>
                <a:sym typeface="Lexend"/>
              </a:rPr>
              <a:t>A quick </a:t>
            </a:r>
            <a:r>
              <a:rPr b="1" lang="en-GB" sz="2100">
                <a:solidFill>
                  <a:schemeClr val="dk1"/>
                </a:solidFill>
                <a:latin typeface="Lexend"/>
                <a:ea typeface="Lexend"/>
                <a:cs typeface="Lexend"/>
                <a:sym typeface="Lexend"/>
              </a:rPr>
              <a:t>estimate</a:t>
            </a:r>
            <a:r>
              <a:rPr lang="en-GB" sz="2100">
                <a:solidFill>
                  <a:schemeClr val="dk1"/>
                </a:solidFill>
                <a:latin typeface="Lexend"/>
                <a:ea typeface="Lexend"/>
                <a:cs typeface="Lexend"/>
                <a:sym typeface="Lexend"/>
              </a:rPr>
              <a:t> for a calculation is obtained from using approximate values, often rounded to 1 significant figure.</a:t>
            </a:r>
            <a:endParaRPr sz="2100">
              <a:solidFill>
                <a:schemeClr val="dk1"/>
              </a:solidFill>
              <a:latin typeface="Lexend"/>
              <a:ea typeface="Lexend"/>
              <a:cs typeface="Lexend"/>
              <a:sym typeface="Lexend"/>
            </a:endParaRPr>
          </a:p>
          <a:p>
            <a:pPr indent="0" lvl="0" marL="0" rtl="0" algn="l">
              <a:spcBef>
                <a:spcPts val="0"/>
              </a:spcBef>
              <a:spcAft>
                <a:spcPts val="0"/>
              </a:spcAft>
              <a:buNone/>
            </a:pPr>
            <a:r>
              <a:t/>
            </a:r>
            <a:endParaRPr sz="2100">
              <a:solidFill>
                <a:schemeClr val="dk1"/>
              </a:solidFill>
              <a:latin typeface="Lexend"/>
              <a:ea typeface="Lexend"/>
              <a:cs typeface="Lexend"/>
              <a:sym typeface="Lexend"/>
            </a:endParaRPr>
          </a:p>
        </p:txBody>
      </p:sp>
      <p:sp>
        <p:nvSpPr>
          <p:cNvPr id="1510" name="Google Shape;1510;p129"/>
          <p:cNvSpPr txBox="1"/>
          <p:nvPr/>
        </p:nvSpPr>
        <p:spPr>
          <a:xfrm>
            <a:off x="309750" y="1819850"/>
            <a:ext cx="8020500" cy="307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sz="2000"/>
          </a:p>
        </p:txBody>
      </p:sp>
      <p:sp>
        <p:nvSpPr>
          <p:cNvPr id="1511" name="Google Shape;1511;p129"/>
          <p:cNvSpPr txBox="1"/>
          <p:nvPr/>
        </p:nvSpPr>
        <p:spPr>
          <a:xfrm>
            <a:off x="309750" y="1692175"/>
            <a:ext cx="8020500" cy="1179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000">
                <a:solidFill>
                  <a:srgbClr val="000000"/>
                </a:solidFill>
                <a:latin typeface="Lexend"/>
                <a:ea typeface="Lexend"/>
                <a:cs typeface="Lexend"/>
                <a:sym typeface="Lexend"/>
              </a:rPr>
              <a:t>When showing </a:t>
            </a:r>
            <a:r>
              <a:rPr b="1" lang="en-GB" sz="2000">
                <a:solidFill>
                  <a:srgbClr val="000000"/>
                </a:solidFill>
                <a:latin typeface="Lexend"/>
                <a:ea typeface="Lexend"/>
                <a:cs typeface="Lexend"/>
                <a:sym typeface="Lexend"/>
              </a:rPr>
              <a:t>estimations</a:t>
            </a:r>
            <a:r>
              <a:rPr lang="en-GB" sz="2000">
                <a:solidFill>
                  <a:srgbClr val="000000"/>
                </a:solidFill>
                <a:latin typeface="Lexend"/>
                <a:ea typeface="Lexend"/>
                <a:cs typeface="Lexend"/>
                <a:sym typeface="Lexend"/>
              </a:rPr>
              <a:t> we use </a:t>
            </a:r>
            <a:r>
              <a:rPr b="1" lang="en-GB" sz="2200">
                <a:solidFill>
                  <a:srgbClr val="222222"/>
                </a:solidFill>
                <a:latin typeface="Times New Roman"/>
                <a:ea typeface="Times New Roman"/>
                <a:cs typeface="Times New Roman"/>
                <a:sym typeface="Times New Roman"/>
              </a:rPr>
              <a:t>≈</a:t>
            </a:r>
            <a:r>
              <a:rPr lang="en-GB" sz="2000">
                <a:solidFill>
                  <a:srgbClr val="000000"/>
                </a:solidFill>
                <a:latin typeface="Lexend"/>
                <a:ea typeface="Lexend"/>
                <a:cs typeface="Lexend"/>
                <a:sym typeface="Lexend"/>
              </a:rPr>
              <a:t> to identify that the calculations are approximately the same but not equal. </a:t>
            </a:r>
            <a:endParaRPr sz="20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000">
              <a:solidFill>
                <a:srgbClr val="000000"/>
              </a:solidFill>
              <a:latin typeface="Lexend"/>
              <a:ea typeface="Lexend"/>
              <a:cs typeface="Lexend"/>
              <a:sym typeface="Lexend"/>
            </a:endParaRPr>
          </a:p>
        </p:txBody>
      </p:sp>
      <p:sp>
        <p:nvSpPr>
          <p:cNvPr id="1512" name="Google Shape;1512;p129"/>
          <p:cNvSpPr txBox="1"/>
          <p:nvPr/>
        </p:nvSpPr>
        <p:spPr>
          <a:xfrm>
            <a:off x="309750" y="2638800"/>
            <a:ext cx="80205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For example,</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1513" name="Google Shape;1513;p129" title="892 times 176.9 almost equals 900 times 200"/>
          <p:cNvPicPr preferRelativeResize="0"/>
          <p:nvPr/>
        </p:nvPicPr>
        <p:blipFill>
          <a:blip r:embed="rId3">
            <a:alphaModFix/>
          </a:blip>
          <a:stretch>
            <a:fillRect/>
          </a:stretch>
        </p:blipFill>
        <p:spPr>
          <a:xfrm>
            <a:off x="2144725" y="3196600"/>
            <a:ext cx="4567280" cy="3037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3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519" name="Google Shape;1519;p13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1520" name="Google Shape;1520;p13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Estimating numerical calculations</a:t>
            </a:r>
            <a:endParaRPr/>
          </a:p>
        </p:txBody>
      </p:sp>
      <p:pic>
        <p:nvPicPr>
          <p:cNvPr id="1521" name="Google Shape;1521;p130"/>
          <p:cNvPicPr preferRelativeResize="0"/>
          <p:nvPr/>
        </p:nvPicPr>
        <p:blipFill>
          <a:blip r:embed="rId3">
            <a:alphaModFix/>
          </a:blip>
          <a:stretch>
            <a:fillRect/>
          </a:stretch>
        </p:blipFill>
        <p:spPr>
          <a:xfrm>
            <a:off x="415017"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31"/>
          <p:cNvSpPr txBox="1"/>
          <p:nvPr>
            <p:ph idx="1" type="body"/>
          </p:nvPr>
        </p:nvSpPr>
        <p:spPr>
          <a:xfrm>
            <a:off x="324000" y="759300"/>
            <a:ext cx="8237700" cy="1124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a:t>
            </a:r>
            <a:r>
              <a:rPr lang="en-GB"/>
              <a:t> quick</a:t>
            </a:r>
            <a:r>
              <a:rPr b="1" lang="en-GB"/>
              <a:t> estimate</a:t>
            </a:r>
            <a:r>
              <a:rPr lang="en-GB"/>
              <a:t> for a calculation is obtained from using approximate values, often rounded to 1 significant figure.</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When we </a:t>
            </a:r>
            <a:r>
              <a:rPr b="1" lang="en-GB"/>
              <a:t>estimate</a:t>
            </a:r>
            <a:r>
              <a:rPr lang="en-GB"/>
              <a:t>, it is not required to be exact, but why do we </a:t>
            </a:r>
            <a:r>
              <a:rPr b="1" lang="en-GB"/>
              <a:t>estimate</a:t>
            </a:r>
            <a:r>
              <a:rPr lang="en-GB"/>
              <a:t>?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To make it easier and quicker to do calculations where the answer is very close to the actual answer.</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527" name="Google Shape;1527;p13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pic>
        <p:nvPicPr>
          <p:cNvPr descr="&lt;math xmlns=&quot;http://www.w3.org/1998/Math/MathML&quot; display=&quot;block&quot; data-is-equatio=&quot;1&quot; data-latex=&quot;892\ \times176.9\ \approx890\ \times180&quot;&gt;&lt;mn&gt;892&lt;/mn&gt;&lt;mtext&gt;&lt;/mtext&gt;&lt;mo&gt;×&lt;/mo&gt;&lt;mn&gt;176.9&lt;/mn&gt;&lt;mtext&gt;&lt;/mtext&gt;&lt;mo&gt;≈&lt;/mo&gt;&lt;mn&gt;890&lt;/mn&gt;&lt;mtext&gt;&lt;/mtext&gt;&lt;mo&gt;×&lt;/mo&gt;&lt;mn&gt;180&lt;/mn&gt;&lt;/math&gt;" id="1532" name="Google Shape;1532;p132" title="892 times 176.9 almost equals 890 times 180"/>
          <p:cNvPicPr preferRelativeResize="0"/>
          <p:nvPr/>
        </p:nvPicPr>
        <p:blipFill>
          <a:blip r:embed="rId3">
            <a:alphaModFix/>
          </a:blip>
          <a:stretch>
            <a:fillRect/>
          </a:stretch>
        </p:blipFill>
        <p:spPr>
          <a:xfrm>
            <a:off x="2047050" y="2816825"/>
            <a:ext cx="4536801" cy="303750"/>
          </a:xfrm>
          <a:prstGeom prst="rect">
            <a:avLst/>
          </a:prstGeom>
          <a:noFill/>
          <a:ln>
            <a:noFill/>
          </a:ln>
        </p:spPr>
      </p:pic>
      <p:sp>
        <p:nvSpPr>
          <p:cNvPr id="1533" name="Google Shape;1533;p13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534" name="Google Shape;1534;p132"/>
          <p:cNvSpPr txBox="1"/>
          <p:nvPr/>
        </p:nvSpPr>
        <p:spPr>
          <a:xfrm>
            <a:off x="478050" y="9376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1535" name="Google Shape;1535;p132"/>
          <p:cNvSpPr txBox="1"/>
          <p:nvPr/>
        </p:nvSpPr>
        <p:spPr>
          <a:xfrm>
            <a:off x="309750" y="810000"/>
            <a:ext cx="8020500" cy="1245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When showing estimations we use </a:t>
            </a:r>
            <a:r>
              <a:rPr b="1" lang="en-GB" sz="2200">
                <a:solidFill>
                  <a:srgbClr val="222222"/>
                </a:solidFill>
                <a:latin typeface="Times New Roman"/>
                <a:ea typeface="Times New Roman"/>
                <a:cs typeface="Times New Roman"/>
                <a:sym typeface="Times New Roman"/>
              </a:rPr>
              <a:t>≈</a:t>
            </a:r>
            <a:r>
              <a:rPr lang="en-GB" sz="2200">
                <a:solidFill>
                  <a:schemeClr val="dk1"/>
                </a:solidFill>
                <a:latin typeface="Lexend"/>
                <a:ea typeface="Lexend"/>
                <a:cs typeface="Lexend"/>
                <a:sym typeface="Lexend"/>
              </a:rPr>
              <a:t> to identify that the </a:t>
            </a:r>
            <a:r>
              <a:rPr lang="en-GB" sz="2200">
                <a:solidFill>
                  <a:schemeClr val="dk1"/>
                </a:solidFill>
                <a:latin typeface="Lexend"/>
                <a:ea typeface="Lexend"/>
                <a:cs typeface="Lexend"/>
                <a:sym typeface="Lexend"/>
              </a:rPr>
              <a:t>calculations</a:t>
            </a:r>
            <a:r>
              <a:rPr lang="en-GB" sz="2200">
                <a:solidFill>
                  <a:schemeClr val="dk1"/>
                </a:solidFill>
                <a:latin typeface="Lexend"/>
                <a:ea typeface="Lexend"/>
                <a:cs typeface="Lexend"/>
                <a:sym typeface="Lexend"/>
              </a:rPr>
              <a:t> are approximately the same but not equal.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chemeClr val="dk1"/>
              </a:solidFill>
              <a:latin typeface="Lexend"/>
              <a:ea typeface="Lexend"/>
              <a:cs typeface="Lexend"/>
              <a:sym typeface="Lexend"/>
            </a:endParaRPr>
          </a:p>
        </p:txBody>
      </p:sp>
      <p:sp>
        <p:nvSpPr>
          <p:cNvPr id="1536" name="Google Shape;1536;p132"/>
          <p:cNvSpPr txBox="1"/>
          <p:nvPr/>
        </p:nvSpPr>
        <p:spPr>
          <a:xfrm>
            <a:off x="478050" y="16996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1537" name="Google Shape;1537;p132"/>
          <p:cNvSpPr txBox="1"/>
          <p:nvPr/>
        </p:nvSpPr>
        <p:spPr>
          <a:xfrm>
            <a:off x="309750" y="1724400"/>
            <a:ext cx="8020500" cy="338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For example,</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892\ \times176.9\ \approx900\ \times200&quot;&gt;&lt;mn&gt;892&lt;/mn&gt;&lt;mtext&gt;&lt;/mtext&gt;&lt;mo&gt;×&lt;/mo&gt;&lt;mn&gt;176.9&lt;/mn&gt;&lt;mtext&gt;&lt;/mtext&gt;&lt;mo&gt;≈&lt;/mo&gt;&lt;mn&gt;900&lt;/mn&gt;&lt;mtext&gt;&lt;/mtext&gt;&lt;mo&gt;×&lt;/mo&gt;&lt;mn&gt;200&lt;/mn&gt;&lt;/math&gt;" id="1538" name="Google Shape;1538;p132" title="892 times 176.9 almost equals 900 times 200"/>
          <p:cNvPicPr preferRelativeResize="0"/>
          <p:nvPr/>
        </p:nvPicPr>
        <p:blipFill>
          <a:blip r:embed="rId4">
            <a:alphaModFix/>
          </a:blip>
          <a:stretch>
            <a:fillRect/>
          </a:stretch>
        </p:blipFill>
        <p:spPr>
          <a:xfrm>
            <a:off x="2016575" y="2282200"/>
            <a:ext cx="4567280" cy="303736"/>
          </a:xfrm>
          <a:prstGeom prst="rect">
            <a:avLst/>
          </a:prstGeom>
          <a:noFill/>
          <a:ln>
            <a:noFill/>
          </a:ln>
        </p:spPr>
      </p:pic>
      <p:pic>
        <p:nvPicPr>
          <p:cNvPr descr="&lt;math xmlns=&quot;http://www.w3.org/1998/Math/MathML&quot; display=&quot;block&quot; data-is-equatio=&quot;1&quot; data-latex=&quot;892\ \times176.9\ \approx890\ \times200&quot;&gt;&lt;mn&gt;892&lt;/mn&gt;&lt;mtext&gt;&lt;/mtext&gt;&lt;mo&gt;×&lt;/mo&gt;&lt;mn&gt;176.9&lt;/mn&gt;&lt;mtext&gt;&lt;/mtext&gt;&lt;mo&gt;≈&lt;/mo&gt;&lt;mn&gt;890&lt;/mn&gt;&lt;mtext&gt;&lt;/mtext&gt;&lt;mo&gt;×&lt;/mo&gt;&lt;mn&gt;200&lt;/mn&gt;&lt;/math&gt;" id="1539" name="Google Shape;1539;p132" title="892 times 176.9 almost equals 890 times 200"/>
          <p:cNvPicPr preferRelativeResize="0"/>
          <p:nvPr/>
        </p:nvPicPr>
        <p:blipFill>
          <a:blip r:embed="rId5">
            <a:alphaModFix/>
          </a:blip>
          <a:stretch>
            <a:fillRect/>
          </a:stretch>
        </p:blipFill>
        <p:spPr>
          <a:xfrm>
            <a:off x="2070520" y="3359364"/>
            <a:ext cx="4567280" cy="303736"/>
          </a:xfrm>
          <a:prstGeom prst="rect">
            <a:avLst/>
          </a:prstGeom>
          <a:noFill/>
          <a:ln>
            <a:noFill/>
          </a:ln>
        </p:spPr>
      </p:pic>
      <p:sp>
        <p:nvSpPr>
          <p:cNvPr id="1540" name="Google Shape;1540;p132"/>
          <p:cNvSpPr txBox="1"/>
          <p:nvPr/>
        </p:nvSpPr>
        <p:spPr>
          <a:xfrm>
            <a:off x="309750" y="3934200"/>
            <a:ext cx="80205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All of these calculations will give an approximate answer to the calculation 892 × 176.9</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cxnSp>
        <p:nvCxnSpPr>
          <p:cNvPr id="1545" name="Google Shape;1545;p133"/>
          <p:cNvCxnSpPr/>
          <p:nvPr/>
        </p:nvCxnSpPr>
        <p:spPr>
          <a:xfrm flipH="1" rot="10800000">
            <a:off x="186300" y="3834900"/>
            <a:ext cx="8551200" cy="42300"/>
          </a:xfrm>
          <a:prstGeom prst="straightConnector1">
            <a:avLst/>
          </a:prstGeom>
          <a:noFill/>
          <a:ln cap="flat" cmpd="sng" w="9525">
            <a:solidFill>
              <a:schemeClr val="dk2"/>
            </a:solidFill>
            <a:prstDash val="solid"/>
            <a:round/>
            <a:headEnd len="med" w="med" type="none"/>
            <a:tailEnd len="med" w="med" type="none"/>
          </a:ln>
        </p:spPr>
      </p:cxnSp>
      <p:sp>
        <p:nvSpPr>
          <p:cNvPr id="1546" name="Google Shape;1546;p133"/>
          <p:cNvSpPr txBox="1"/>
          <p:nvPr>
            <p:ph idx="1" type="body"/>
          </p:nvPr>
        </p:nvSpPr>
        <p:spPr>
          <a:xfrm>
            <a:off x="324000" y="759300"/>
            <a:ext cx="7962900" cy="90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 a typical car in the UK measures around 4.399 m long. Assuming the cars are bumper to bumper, what would the calculation be to work out an </a:t>
            </a:r>
            <a:r>
              <a:rPr b="1" lang="en-GB"/>
              <a:t>estimate </a:t>
            </a:r>
            <a:r>
              <a:rPr lang="en-GB"/>
              <a:t>length of the traffic jam?</a:t>
            </a:r>
            <a:r>
              <a:rPr lang="en-GB"/>
              <a:t> </a:t>
            </a:r>
            <a:endParaRPr/>
          </a:p>
          <a:p>
            <a:pPr indent="0" lvl="0" marL="0" rtl="0" algn="l">
              <a:spcBef>
                <a:spcPts val="1000"/>
              </a:spcBef>
              <a:spcAft>
                <a:spcPts val="1000"/>
              </a:spcAft>
              <a:buNone/>
            </a:pPr>
            <a:r>
              <a:t/>
            </a:r>
            <a:endParaRPr/>
          </a:p>
        </p:txBody>
      </p:sp>
      <p:sp>
        <p:nvSpPr>
          <p:cNvPr id="1547" name="Google Shape;1547;p13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id="1548" name="Google Shape;1548;p133"/>
          <p:cNvPicPr preferRelativeResize="0"/>
          <p:nvPr/>
        </p:nvPicPr>
        <p:blipFill>
          <a:blip r:embed="rId3">
            <a:alphaModFix/>
          </a:blip>
          <a:stretch>
            <a:fillRect/>
          </a:stretch>
        </p:blipFill>
        <p:spPr>
          <a:xfrm flipH="1">
            <a:off x="3908033" y="3781672"/>
            <a:ext cx="1394515" cy="493901"/>
          </a:xfrm>
          <a:prstGeom prst="rect">
            <a:avLst/>
          </a:prstGeom>
          <a:noFill/>
          <a:ln>
            <a:noFill/>
          </a:ln>
        </p:spPr>
      </p:pic>
      <p:pic>
        <p:nvPicPr>
          <p:cNvPr id="1549" name="Google Shape;1549;p133"/>
          <p:cNvPicPr preferRelativeResize="0"/>
          <p:nvPr/>
        </p:nvPicPr>
        <p:blipFill>
          <a:blip r:embed="rId4">
            <a:alphaModFix/>
          </a:blip>
          <a:stretch>
            <a:fillRect/>
          </a:stretch>
        </p:blipFill>
        <p:spPr>
          <a:xfrm flipH="1">
            <a:off x="6718471" y="3771600"/>
            <a:ext cx="1394515" cy="493901"/>
          </a:xfrm>
          <a:prstGeom prst="rect">
            <a:avLst/>
          </a:prstGeom>
          <a:noFill/>
          <a:ln>
            <a:noFill/>
          </a:ln>
        </p:spPr>
      </p:pic>
      <p:pic>
        <p:nvPicPr>
          <p:cNvPr id="1550" name="Google Shape;1550;p133"/>
          <p:cNvPicPr preferRelativeResize="0"/>
          <p:nvPr/>
        </p:nvPicPr>
        <p:blipFill>
          <a:blip r:embed="rId5">
            <a:alphaModFix/>
          </a:blip>
          <a:stretch>
            <a:fillRect/>
          </a:stretch>
        </p:blipFill>
        <p:spPr>
          <a:xfrm flipH="1">
            <a:off x="5296036" y="3745646"/>
            <a:ext cx="1428948" cy="521991"/>
          </a:xfrm>
          <a:prstGeom prst="rect">
            <a:avLst/>
          </a:prstGeom>
          <a:noFill/>
          <a:ln>
            <a:noFill/>
          </a:ln>
        </p:spPr>
      </p:pic>
      <p:pic>
        <p:nvPicPr>
          <p:cNvPr id="1551" name="Google Shape;1551;p133"/>
          <p:cNvPicPr preferRelativeResize="0"/>
          <p:nvPr/>
        </p:nvPicPr>
        <p:blipFill>
          <a:blip r:embed="rId6">
            <a:alphaModFix/>
          </a:blip>
          <a:stretch>
            <a:fillRect/>
          </a:stretch>
        </p:blipFill>
        <p:spPr>
          <a:xfrm flipH="1">
            <a:off x="1018311" y="3761527"/>
            <a:ext cx="1428948" cy="506110"/>
          </a:xfrm>
          <a:prstGeom prst="rect">
            <a:avLst/>
          </a:prstGeom>
          <a:noFill/>
          <a:ln>
            <a:noFill/>
          </a:ln>
        </p:spPr>
      </p:pic>
      <p:pic>
        <p:nvPicPr>
          <p:cNvPr id="1552" name="Google Shape;1552;p133"/>
          <p:cNvPicPr preferRelativeResize="0"/>
          <p:nvPr/>
        </p:nvPicPr>
        <p:blipFill>
          <a:blip r:embed="rId7">
            <a:alphaModFix/>
          </a:blip>
          <a:stretch>
            <a:fillRect/>
          </a:stretch>
        </p:blipFill>
        <p:spPr>
          <a:xfrm flipH="1">
            <a:off x="2440747" y="3763663"/>
            <a:ext cx="1473799" cy="521983"/>
          </a:xfrm>
          <a:prstGeom prst="rect">
            <a:avLst/>
          </a:prstGeom>
          <a:noFill/>
          <a:ln>
            <a:noFill/>
          </a:ln>
        </p:spPr>
      </p:pic>
      <p:cxnSp>
        <p:nvCxnSpPr>
          <p:cNvPr id="1553" name="Google Shape;1553;p133"/>
          <p:cNvCxnSpPr/>
          <p:nvPr/>
        </p:nvCxnSpPr>
        <p:spPr>
          <a:xfrm flipH="1" rot="10800000">
            <a:off x="186300" y="4368300"/>
            <a:ext cx="8551200" cy="42300"/>
          </a:xfrm>
          <a:prstGeom prst="straightConnector1">
            <a:avLst/>
          </a:prstGeom>
          <a:noFill/>
          <a:ln cap="flat" cmpd="sng" w="9525">
            <a:solidFill>
              <a:schemeClr val="dk2"/>
            </a:solidFill>
            <a:prstDash val="solid"/>
            <a:round/>
            <a:headEnd len="med" w="med" type="none"/>
            <a:tailEnd len="med" w="med" type="none"/>
          </a:ln>
        </p:spPr>
      </p:cxnSp>
      <p:pic>
        <p:nvPicPr>
          <p:cNvPr id="1554" name="Google Shape;1554;p133"/>
          <p:cNvPicPr preferRelativeResize="0"/>
          <p:nvPr/>
        </p:nvPicPr>
        <p:blipFill>
          <a:blip r:embed="rId8">
            <a:alphaModFix/>
          </a:blip>
          <a:stretch>
            <a:fillRect/>
          </a:stretch>
        </p:blipFill>
        <p:spPr>
          <a:xfrm>
            <a:off x="419525" y="2377973"/>
            <a:ext cx="210300" cy="1586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cxnSp>
        <p:nvCxnSpPr>
          <p:cNvPr id="1559" name="Google Shape;1559;p134"/>
          <p:cNvCxnSpPr/>
          <p:nvPr/>
        </p:nvCxnSpPr>
        <p:spPr>
          <a:xfrm flipH="1" rot="10800000">
            <a:off x="186300" y="3834900"/>
            <a:ext cx="8551200" cy="42300"/>
          </a:xfrm>
          <a:prstGeom prst="straightConnector1">
            <a:avLst/>
          </a:prstGeom>
          <a:noFill/>
          <a:ln cap="flat" cmpd="sng" w="9525">
            <a:solidFill>
              <a:schemeClr val="dk2"/>
            </a:solidFill>
            <a:prstDash val="solid"/>
            <a:round/>
            <a:headEnd len="med" w="med" type="none"/>
            <a:tailEnd len="med" w="med" type="none"/>
          </a:ln>
        </p:spPr>
      </p:cxnSp>
      <p:sp>
        <p:nvSpPr>
          <p:cNvPr id="1560" name="Google Shape;1560;p13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id="1561" name="Google Shape;1561;p134"/>
          <p:cNvPicPr preferRelativeResize="0"/>
          <p:nvPr/>
        </p:nvPicPr>
        <p:blipFill>
          <a:blip r:embed="rId3">
            <a:alphaModFix/>
          </a:blip>
          <a:stretch>
            <a:fillRect/>
          </a:stretch>
        </p:blipFill>
        <p:spPr>
          <a:xfrm flipH="1">
            <a:off x="3908033" y="3781672"/>
            <a:ext cx="1394515" cy="493901"/>
          </a:xfrm>
          <a:prstGeom prst="rect">
            <a:avLst/>
          </a:prstGeom>
          <a:noFill/>
          <a:ln>
            <a:noFill/>
          </a:ln>
        </p:spPr>
      </p:pic>
      <p:pic>
        <p:nvPicPr>
          <p:cNvPr id="1562" name="Google Shape;1562;p134"/>
          <p:cNvPicPr preferRelativeResize="0"/>
          <p:nvPr/>
        </p:nvPicPr>
        <p:blipFill>
          <a:blip r:embed="rId4">
            <a:alphaModFix/>
          </a:blip>
          <a:stretch>
            <a:fillRect/>
          </a:stretch>
        </p:blipFill>
        <p:spPr>
          <a:xfrm flipH="1">
            <a:off x="6718471" y="3771600"/>
            <a:ext cx="1394515" cy="493901"/>
          </a:xfrm>
          <a:prstGeom prst="rect">
            <a:avLst/>
          </a:prstGeom>
          <a:noFill/>
          <a:ln>
            <a:noFill/>
          </a:ln>
        </p:spPr>
      </p:pic>
      <p:pic>
        <p:nvPicPr>
          <p:cNvPr id="1563" name="Google Shape;1563;p134"/>
          <p:cNvPicPr preferRelativeResize="0"/>
          <p:nvPr/>
        </p:nvPicPr>
        <p:blipFill>
          <a:blip r:embed="rId5">
            <a:alphaModFix/>
          </a:blip>
          <a:stretch>
            <a:fillRect/>
          </a:stretch>
        </p:blipFill>
        <p:spPr>
          <a:xfrm flipH="1">
            <a:off x="5296036" y="3745646"/>
            <a:ext cx="1428948" cy="521991"/>
          </a:xfrm>
          <a:prstGeom prst="rect">
            <a:avLst/>
          </a:prstGeom>
          <a:noFill/>
          <a:ln>
            <a:noFill/>
          </a:ln>
        </p:spPr>
      </p:pic>
      <p:pic>
        <p:nvPicPr>
          <p:cNvPr id="1564" name="Google Shape;1564;p134"/>
          <p:cNvPicPr preferRelativeResize="0"/>
          <p:nvPr/>
        </p:nvPicPr>
        <p:blipFill>
          <a:blip r:embed="rId6">
            <a:alphaModFix/>
          </a:blip>
          <a:stretch>
            <a:fillRect/>
          </a:stretch>
        </p:blipFill>
        <p:spPr>
          <a:xfrm flipH="1">
            <a:off x="1018311" y="3761527"/>
            <a:ext cx="1428948" cy="506110"/>
          </a:xfrm>
          <a:prstGeom prst="rect">
            <a:avLst/>
          </a:prstGeom>
          <a:noFill/>
          <a:ln>
            <a:noFill/>
          </a:ln>
        </p:spPr>
      </p:pic>
      <p:pic>
        <p:nvPicPr>
          <p:cNvPr id="1565" name="Google Shape;1565;p134"/>
          <p:cNvPicPr preferRelativeResize="0"/>
          <p:nvPr/>
        </p:nvPicPr>
        <p:blipFill>
          <a:blip r:embed="rId7">
            <a:alphaModFix/>
          </a:blip>
          <a:stretch>
            <a:fillRect/>
          </a:stretch>
        </p:blipFill>
        <p:spPr>
          <a:xfrm flipH="1">
            <a:off x="2440747" y="3763663"/>
            <a:ext cx="1473799" cy="521983"/>
          </a:xfrm>
          <a:prstGeom prst="rect">
            <a:avLst/>
          </a:prstGeom>
          <a:noFill/>
          <a:ln>
            <a:noFill/>
          </a:ln>
        </p:spPr>
      </p:pic>
      <p:cxnSp>
        <p:nvCxnSpPr>
          <p:cNvPr id="1566" name="Google Shape;1566;p134"/>
          <p:cNvCxnSpPr/>
          <p:nvPr/>
        </p:nvCxnSpPr>
        <p:spPr>
          <a:xfrm flipH="1" rot="10800000">
            <a:off x="186300" y="4368300"/>
            <a:ext cx="8551200" cy="42300"/>
          </a:xfrm>
          <a:prstGeom prst="straightConnector1">
            <a:avLst/>
          </a:prstGeom>
          <a:noFill/>
          <a:ln cap="flat" cmpd="sng" w="9525">
            <a:solidFill>
              <a:schemeClr val="dk2"/>
            </a:solidFill>
            <a:prstDash val="solid"/>
            <a:round/>
            <a:headEnd len="med" w="med" type="none"/>
            <a:tailEnd len="med" w="med" type="none"/>
          </a:ln>
        </p:spPr>
      </p:cxnSp>
      <p:cxnSp>
        <p:nvCxnSpPr>
          <p:cNvPr id="1567" name="Google Shape;1567;p134"/>
          <p:cNvCxnSpPr/>
          <p:nvPr/>
        </p:nvCxnSpPr>
        <p:spPr>
          <a:xfrm>
            <a:off x="1060483"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68" name="Google Shape;1568;p134"/>
          <p:cNvSpPr txBox="1"/>
          <p:nvPr/>
        </p:nvSpPr>
        <p:spPr>
          <a:xfrm>
            <a:off x="1464758"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m</a:t>
            </a:r>
            <a:endParaRPr sz="2200">
              <a:solidFill>
                <a:schemeClr val="dk1"/>
              </a:solidFill>
              <a:latin typeface="Lexend"/>
              <a:ea typeface="Lexend"/>
              <a:cs typeface="Lexend"/>
              <a:sym typeface="Lexend"/>
            </a:endParaRPr>
          </a:p>
        </p:txBody>
      </p:sp>
      <p:cxnSp>
        <p:nvCxnSpPr>
          <p:cNvPr id="1569" name="Google Shape;1569;p134"/>
          <p:cNvCxnSpPr/>
          <p:nvPr/>
        </p:nvCxnSpPr>
        <p:spPr>
          <a:xfrm>
            <a:off x="2421500"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70" name="Google Shape;1570;p134"/>
          <p:cNvSpPr txBox="1"/>
          <p:nvPr/>
        </p:nvSpPr>
        <p:spPr>
          <a:xfrm>
            <a:off x="2825775"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m</a:t>
            </a:r>
            <a:endParaRPr sz="2200">
              <a:solidFill>
                <a:schemeClr val="dk1"/>
              </a:solidFill>
              <a:latin typeface="Lexend"/>
              <a:ea typeface="Lexend"/>
              <a:cs typeface="Lexend"/>
              <a:sym typeface="Lexend"/>
            </a:endParaRPr>
          </a:p>
        </p:txBody>
      </p:sp>
      <p:cxnSp>
        <p:nvCxnSpPr>
          <p:cNvPr id="1571" name="Google Shape;1571;p134"/>
          <p:cNvCxnSpPr/>
          <p:nvPr/>
        </p:nvCxnSpPr>
        <p:spPr>
          <a:xfrm>
            <a:off x="3826967"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72" name="Google Shape;1572;p134"/>
          <p:cNvSpPr txBox="1"/>
          <p:nvPr/>
        </p:nvSpPr>
        <p:spPr>
          <a:xfrm>
            <a:off x="4231242"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m</a:t>
            </a:r>
            <a:endParaRPr sz="2200">
              <a:solidFill>
                <a:schemeClr val="dk1"/>
              </a:solidFill>
              <a:latin typeface="Lexend"/>
              <a:ea typeface="Lexend"/>
              <a:cs typeface="Lexend"/>
              <a:sym typeface="Lexend"/>
            </a:endParaRPr>
          </a:p>
        </p:txBody>
      </p:sp>
      <p:cxnSp>
        <p:nvCxnSpPr>
          <p:cNvPr id="1573" name="Google Shape;1573;p134"/>
          <p:cNvCxnSpPr/>
          <p:nvPr/>
        </p:nvCxnSpPr>
        <p:spPr>
          <a:xfrm>
            <a:off x="5221850"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74" name="Google Shape;1574;p134"/>
          <p:cNvSpPr txBox="1"/>
          <p:nvPr/>
        </p:nvSpPr>
        <p:spPr>
          <a:xfrm>
            <a:off x="5626125"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m</a:t>
            </a:r>
            <a:endParaRPr sz="2200">
              <a:solidFill>
                <a:schemeClr val="dk1"/>
              </a:solidFill>
              <a:latin typeface="Lexend"/>
              <a:ea typeface="Lexend"/>
              <a:cs typeface="Lexend"/>
              <a:sym typeface="Lexend"/>
            </a:endParaRPr>
          </a:p>
        </p:txBody>
      </p:sp>
      <p:cxnSp>
        <p:nvCxnSpPr>
          <p:cNvPr id="1575" name="Google Shape;1575;p134"/>
          <p:cNvCxnSpPr/>
          <p:nvPr/>
        </p:nvCxnSpPr>
        <p:spPr>
          <a:xfrm>
            <a:off x="6604033"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76" name="Google Shape;1576;p134"/>
          <p:cNvSpPr txBox="1"/>
          <p:nvPr/>
        </p:nvSpPr>
        <p:spPr>
          <a:xfrm>
            <a:off x="7008308"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m</a:t>
            </a:r>
            <a:endParaRPr sz="2200">
              <a:solidFill>
                <a:schemeClr val="dk1"/>
              </a:solidFill>
              <a:latin typeface="Lexend"/>
              <a:ea typeface="Lexend"/>
              <a:cs typeface="Lexend"/>
              <a:sym typeface="Lexend"/>
            </a:endParaRPr>
          </a:p>
        </p:txBody>
      </p:sp>
      <p:sp>
        <p:nvSpPr>
          <p:cNvPr id="1577" name="Google Shape;1577;p134"/>
          <p:cNvSpPr txBox="1"/>
          <p:nvPr/>
        </p:nvSpPr>
        <p:spPr>
          <a:xfrm>
            <a:off x="309750" y="810000"/>
            <a:ext cx="80205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You would be correct if you rounded 4.</a:t>
            </a:r>
            <a:r>
              <a:rPr lang="en-GB" sz="2200">
                <a:solidFill>
                  <a:schemeClr val="dk1"/>
                </a:solidFill>
                <a:latin typeface="Lexend"/>
                <a:ea typeface="Lexend"/>
                <a:cs typeface="Lexend"/>
                <a:sym typeface="Lexend"/>
              </a:rPr>
              <a:t>3</a:t>
            </a:r>
            <a:r>
              <a:rPr lang="en-GB" sz="2200">
                <a:solidFill>
                  <a:schemeClr val="dk1"/>
                </a:solidFill>
                <a:latin typeface="Lexend"/>
                <a:ea typeface="Lexend"/>
                <a:cs typeface="Lexend"/>
                <a:sym typeface="Lexend"/>
              </a:rPr>
              <a:t>99 m to 1 s.f. to make 4 m giving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answer of 20 m.</a:t>
            </a:r>
            <a:endParaRPr/>
          </a:p>
        </p:txBody>
      </p:sp>
      <p:pic>
        <p:nvPicPr>
          <p:cNvPr descr="&lt;math xmlns=&quot;http://www.w3.org/1998/Math/MathML&quot; display=&quot;block&quot; data-is-equatio=&quot;1&quot; data-latex=&quot;4.399\ \times5\ \approx\ 4\ \times5&quot;&gt;&lt;mn&gt;4.399&lt;/mn&gt;&lt;mtext&gt;&lt;/mtext&gt;&lt;mo&gt;×&lt;/mo&gt;&lt;mn&gt;5&lt;/mn&gt;&lt;mtext&gt;&lt;/mtext&gt;&lt;mo&gt;≈&lt;/mo&gt;&lt;mtext&gt;&lt;/mtext&gt;&lt;mn&gt;4&lt;/mn&gt;&lt;mtext&gt;&lt;/mtext&gt;&lt;mo&gt;×&lt;/mo&gt;&lt;mn&gt;5&lt;/mn&gt;&lt;/math&gt;" id="1578" name="Google Shape;1578;p134" title="4.399 times 5 almost equals 4 times 5"/>
          <p:cNvPicPr preferRelativeResize="0"/>
          <p:nvPr/>
        </p:nvPicPr>
        <p:blipFill>
          <a:blip r:embed="rId8">
            <a:alphaModFix/>
          </a:blip>
          <a:stretch>
            <a:fillRect/>
          </a:stretch>
        </p:blipFill>
        <p:spPr>
          <a:xfrm>
            <a:off x="3198913" y="1935875"/>
            <a:ext cx="3250170" cy="294800"/>
          </a:xfrm>
          <a:prstGeom prst="rect">
            <a:avLst/>
          </a:prstGeom>
          <a:noFill/>
          <a:ln>
            <a:noFill/>
          </a:ln>
        </p:spPr>
      </p:pic>
      <p:pic>
        <p:nvPicPr>
          <p:cNvPr id="1579" name="Google Shape;1579;p134"/>
          <p:cNvPicPr preferRelativeResize="0"/>
          <p:nvPr/>
        </p:nvPicPr>
        <p:blipFill>
          <a:blip r:embed="rId9">
            <a:alphaModFix/>
          </a:blip>
          <a:stretch>
            <a:fillRect/>
          </a:stretch>
        </p:blipFill>
        <p:spPr>
          <a:xfrm>
            <a:off x="419525" y="2377973"/>
            <a:ext cx="210300" cy="1586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cxnSp>
        <p:nvCxnSpPr>
          <p:cNvPr id="1584" name="Google Shape;1584;p135"/>
          <p:cNvCxnSpPr/>
          <p:nvPr/>
        </p:nvCxnSpPr>
        <p:spPr>
          <a:xfrm flipH="1" rot="10800000">
            <a:off x="186300" y="3834900"/>
            <a:ext cx="8551200" cy="42300"/>
          </a:xfrm>
          <a:prstGeom prst="straightConnector1">
            <a:avLst/>
          </a:prstGeom>
          <a:noFill/>
          <a:ln cap="flat" cmpd="sng" w="9525">
            <a:solidFill>
              <a:schemeClr val="dk2"/>
            </a:solidFill>
            <a:prstDash val="solid"/>
            <a:round/>
            <a:headEnd len="med" w="med" type="none"/>
            <a:tailEnd len="med" w="med" type="none"/>
          </a:ln>
        </p:spPr>
      </p:cxnSp>
      <p:sp>
        <p:nvSpPr>
          <p:cNvPr id="1585" name="Google Shape;1585;p13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id="1586" name="Google Shape;1586;p135"/>
          <p:cNvPicPr preferRelativeResize="0"/>
          <p:nvPr/>
        </p:nvPicPr>
        <p:blipFill>
          <a:blip r:embed="rId3">
            <a:alphaModFix/>
          </a:blip>
          <a:stretch>
            <a:fillRect/>
          </a:stretch>
        </p:blipFill>
        <p:spPr>
          <a:xfrm flipH="1">
            <a:off x="3908033" y="3781672"/>
            <a:ext cx="1394515" cy="493901"/>
          </a:xfrm>
          <a:prstGeom prst="rect">
            <a:avLst/>
          </a:prstGeom>
          <a:noFill/>
          <a:ln>
            <a:noFill/>
          </a:ln>
        </p:spPr>
      </p:pic>
      <p:pic>
        <p:nvPicPr>
          <p:cNvPr id="1587" name="Google Shape;1587;p135"/>
          <p:cNvPicPr preferRelativeResize="0"/>
          <p:nvPr/>
        </p:nvPicPr>
        <p:blipFill>
          <a:blip r:embed="rId4">
            <a:alphaModFix/>
          </a:blip>
          <a:stretch>
            <a:fillRect/>
          </a:stretch>
        </p:blipFill>
        <p:spPr>
          <a:xfrm flipH="1">
            <a:off x="6718471" y="3771600"/>
            <a:ext cx="1394515" cy="493901"/>
          </a:xfrm>
          <a:prstGeom prst="rect">
            <a:avLst/>
          </a:prstGeom>
          <a:noFill/>
          <a:ln>
            <a:noFill/>
          </a:ln>
        </p:spPr>
      </p:pic>
      <p:pic>
        <p:nvPicPr>
          <p:cNvPr id="1588" name="Google Shape;1588;p135"/>
          <p:cNvPicPr preferRelativeResize="0"/>
          <p:nvPr/>
        </p:nvPicPr>
        <p:blipFill>
          <a:blip r:embed="rId5">
            <a:alphaModFix/>
          </a:blip>
          <a:stretch>
            <a:fillRect/>
          </a:stretch>
        </p:blipFill>
        <p:spPr>
          <a:xfrm flipH="1">
            <a:off x="5296036" y="3745646"/>
            <a:ext cx="1428948" cy="521991"/>
          </a:xfrm>
          <a:prstGeom prst="rect">
            <a:avLst/>
          </a:prstGeom>
          <a:noFill/>
          <a:ln>
            <a:noFill/>
          </a:ln>
        </p:spPr>
      </p:pic>
      <p:pic>
        <p:nvPicPr>
          <p:cNvPr id="1589" name="Google Shape;1589;p135"/>
          <p:cNvPicPr preferRelativeResize="0"/>
          <p:nvPr/>
        </p:nvPicPr>
        <p:blipFill>
          <a:blip r:embed="rId6">
            <a:alphaModFix/>
          </a:blip>
          <a:stretch>
            <a:fillRect/>
          </a:stretch>
        </p:blipFill>
        <p:spPr>
          <a:xfrm flipH="1">
            <a:off x="1018311" y="3761527"/>
            <a:ext cx="1428948" cy="506110"/>
          </a:xfrm>
          <a:prstGeom prst="rect">
            <a:avLst/>
          </a:prstGeom>
          <a:noFill/>
          <a:ln>
            <a:noFill/>
          </a:ln>
        </p:spPr>
      </p:pic>
      <p:pic>
        <p:nvPicPr>
          <p:cNvPr id="1590" name="Google Shape;1590;p135"/>
          <p:cNvPicPr preferRelativeResize="0"/>
          <p:nvPr/>
        </p:nvPicPr>
        <p:blipFill>
          <a:blip r:embed="rId7">
            <a:alphaModFix/>
          </a:blip>
          <a:stretch>
            <a:fillRect/>
          </a:stretch>
        </p:blipFill>
        <p:spPr>
          <a:xfrm flipH="1">
            <a:off x="2440747" y="3763663"/>
            <a:ext cx="1473799" cy="521983"/>
          </a:xfrm>
          <a:prstGeom prst="rect">
            <a:avLst/>
          </a:prstGeom>
          <a:noFill/>
          <a:ln>
            <a:noFill/>
          </a:ln>
        </p:spPr>
      </p:pic>
      <p:cxnSp>
        <p:nvCxnSpPr>
          <p:cNvPr id="1591" name="Google Shape;1591;p135"/>
          <p:cNvCxnSpPr/>
          <p:nvPr/>
        </p:nvCxnSpPr>
        <p:spPr>
          <a:xfrm flipH="1" rot="10800000">
            <a:off x="186300" y="4368300"/>
            <a:ext cx="8551200" cy="42300"/>
          </a:xfrm>
          <a:prstGeom prst="straightConnector1">
            <a:avLst/>
          </a:prstGeom>
          <a:noFill/>
          <a:ln cap="flat" cmpd="sng" w="9525">
            <a:solidFill>
              <a:schemeClr val="dk2"/>
            </a:solidFill>
            <a:prstDash val="solid"/>
            <a:round/>
            <a:headEnd len="med" w="med" type="none"/>
            <a:tailEnd len="med" w="med" type="none"/>
          </a:ln>
        </p:spPr>
      </p:cxnSp>
      <p:cxnSp>
        <p:nvCxnSpPr>
          <p:cNvPr id="1592" name="Google Shape;1592;p135"/>
          <p:cNvCxnSpPr/>
          <p:nvPr/>
        </p:nvCxnSpPr>
        <p:spPr>
          <a:xfrm>
            <a:off x="1060483"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93" name="Google Shape;1593;p135"/>
          <p:cNvSpPr txBox="1"/>
          <p:nvPr/>
        </p:nvSpPr>
        <p:spPr>
          <a:xfrm>
            <a:off x="1464758"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4.4 m</a:t>
            </a:r>
            <a:endParaRPr sz="2200">
              <a:solidFill>
                <a:schemeClr val="dk1"/>
              </a:solidFill>
              <a:latin typeface="Lexend"/>
              <a:ea typeface="Lexend"/>
              <a:cs typeface="Lexend"/>
              <a:sym typeface="Lexend"/>
            </a:endParaRPr>
          </a:p>
        </p:txBody>
      </p:sp>
      <p:cxnSp>
        <p:nvCxnSpPr>
          <p:cNvPr id="1594" name="Google Shape;1594;p135"/>
          <p:cNvCxnSpPr/>
          <p:nvPr/>
        </p:nvCxnSpPr>
        <p:spPr>
          <a:xfrm>
            <a:off x="2421500"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95" name="Google Shape;1595;p135"/>
          <p:cNvSpPr txBox="1"/>
          <p:nvPr/>
        </p:nvSpPr>
        <p:spPr>
          <a:xfrm>
            <a:off x="2825775"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4.4 m</a:t>
            </a:r>
            <a:endParaRPr sz="2200">
              <a:solidFill>
                <a:schemeClr val="dk1"/>
              </a:solidFill>
              <a:latin typeface="Lexend"/>
              <a:ea typeface="Lexend"/>
              <a:cs typeface="Lexend"/>
              <a:sym typeface="Lexend"/>
            </a:endParaRPr>
          </a:p>
        </p:txBody>
      </p:sp>
      <p:cxnSp>
        <p:nvCxnSpPr>
          <p:cNvPr id="1596" name="Google Shape;1596;p135"/>
          <p:cNvCxnSpPr/>
          <p:nvPr/>
        </p:nvCxnSpPr>
        <p:spPr>
          <a:xfrm>
            <a:off x="3826967"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97" name="Google Shape;1597;p135"/>
          <p:cNvSpPr txBox="1"/>
          <p:nvPr/>
        </p:nvSpPr>
        <p:spPr>
          <a:xfrm>
            <a:off x="4231242"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4.4 m</a:t>
            </a:r>
            <a:endParaRPr sz="2200">
              <a:solidFill>
                <a:schemeClr val="dk1"/>
              </a:solidFill>
              <a:latin typeface="Lexend"/>
              <a:ea typeface="Lexend"/>
              <a:cs typeface="Lexend"/>
              <a:sym typeface="Lexend"/>
            </a:endParaRPr>
          </a:p>
        </p:txBody>
      </p:sp>
      <p:cxnSp>
        <p:nvCxnSpPr>
          <p:cNvPr id="1598" name="Google Shape;1598;p135"/>
          <p:cNvCxnSpPr/>
          <p:nvPr/>
        </p:nvCxnSpPr>
        <p:spPr>
          <a:xfrm>
            <a:off x="5221850"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599" name="Google Shape;1599;p135"/>
          <p:cNvSpPr txBox="1"/>
          <p:nvPr/>
        </p:nvSpPr>
        <p:spPr>
          <a:xfrm>
            <a:off x="5626125"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4.4 m</a:t>
            </a:r>
            <a:endParaRPr sz="2200">
              <a:solidFill>
                <a:schemeClr val="dk1"/>
              </a:solidFill>
              <a:latin typeface="Lexend"/>
              <a:ea typeface="Lexend"/>
              <a:cs typeface="Lexend"/>
              <a:sym typeface="Lexend"/>
            </a:endParaRPr>
          </a:p>
        </p:txBody>
      </p:sp>
      <p:cxnSp>
        <p:nvCxnSpPr>
          <p:cNvPr id="1600" name="Google Shape;1600;p135"/>
          <p:cNvCxnSpPr/>
          <p:nvPr/>
        </p:nvCxnSpPr>
        <p:spPr>
          <a:xfrm>
            <a:off x="6604033" y="3453150"/>
            <a:ext cx="1447800" cy="0"/>
          </a:xfrm>
          <a:prstGeom prst="straightConnector1">
            <a:avLst/>
          </a:prstGeom>
          <a:noFill/>
          <a:ln cap="flat" cmpd="sng" w="19050">
            <a:solidFill>
              <a:schemeClr val="dk1"/>
            </a:solidFill>
            <a:prstDash val="solid"/>
            <a:round/>
            <a:headEnd len="med" w="med" type="triangle"/>
            <a:tailEnd len="med" w="med" type="triangle"/>
          </a:ln>
        </p:spPr>
      </p:cxnSp>
      <p:sp>
        <p:nvSpPr>
          <p:cNvPr id="1601" name="Google Shape;1601;p135"/>
          <p:cNvSpPr txBox="1"/>
          <p:nvPr/>
        </p:nvSpPr>
        <p:spPr>
          <a:xfrm>
            <a:off x="7008308" y="3029825"/>
            <a:ext cx="10266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4.4 m</a:t>
            </a:r>
            <a:endParaRPr sz="2200">
              <a:solidFill>
                <a:schemeClr val="dk1"/>
              </a:solidFill>
              <a:latin typeface="Lexend"/>
              <a:ea typeface="Lexend"/>
              <a:cs typeface="Lexend"/>
              <a:sym typeface="Lexend"/>
            </a:endParaRPr>
          </a:p>
        </p:txBody>
      </p:sp>
      <p:sp>
        <p:nvSpPr>
          <p:cNvPr id="1602" name="Google Shape;1602;p135"/>
          <p:cNvSpPr txBox="1"/>
          <p:nvPr/>
        </p:nvSpPr>
        <p:spPr>
          <a:xfrm>
            <a:off x="309750" y="810000"/>
            <a:ext cx="80205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You would also be correct if you </a:t>
            </a:r>
            <a:r>
              <a:rPr lang="en-GB" sz="2200">
                <a:solidFill>
                  <a:schemeClr val="dk1"/>
                </a:solidFill>
                <a:latin typeface="Lexend"/>
                <a:ea typeface="Lexend"/>
                <a:cs typeface="Lexend"/>
                <a:sym typeface="Lexend"/>
              </a:rPr>
              <a:t>rounded 4.</a:t>
            </a:r>
            <a:r>
              <a:rPr lang="en-GB" sz="2200">
                <a:solidFill>
                  <a:schemeClr val="dk1"/>
                </a:solidFill>
                <a:latin typeface="Lexend"/>
                <a:ea typeface="Lexend"/>
                <a:cs typeface="Lexend"/>
                <a:sym typeface="Lexend"/>
              </a:rPr>
              <a:t>399</a:t>
            </a:r>
            <a:r>
              <a:rPr lang="en-GB" sz="2200">
                <a:solidFill>
                  <a:schemeClr val="dk1"/>
                </a:solidFill>
                <a:latin typeface="Lexend"/>
                <a:ea typeface="Lexend"/>
                <a:cs typeface="Lexend"/>
                <a:sym typeface="Lexend"/>
              </a:rPr>
              <a:t> m to 2 s.f. to make 4.4 m giving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answer of 22 m.</a:t>
            </a:r>
            <a:endParaRPr/>
          </a:p>
        </p:txBody>
      </p:sp>
      <p:pic>
        <p:nvPicPr>
          <p:cNvPr descr="&lt;math xmlns=&quot;http://www.w3.org/1998/Math/MathML&quot; display=&quot;block&quot; data-is-equatio=&quot;1&quot; data-latex=&quot;4.399\ \times5\ \approx\ 4.4\ \times5&quot;&gt;&lt;mn&gt;4.399&lt;/mn&gt;&lt;mtext&gt;&lt;/mtext&gt;&lt;mo&gt;×&lt;/mo&gt;&lt;mn&gt;5&lt;/mn&gt;&lt;mtext&gt;&lt;/mtext&gt;&lt;mo&gt;≈&lt;/mo&gt;&lt;mtext&gt;&lt;/mtext&gt;&lt;mn&gt;4.4&lt;/mn&gt;&lt;mtext&gt;&lt;/mtext&gt;&lt;mo&gt;×&lt;/mo&gt;&lt;mn&gt;5&lt;/mn&gt;&lt;/math&gt;" id="1603" name="Google Shape;1603;p135" title="4.399 times 5 almost equals 4.4 times 5"/>
          <p:cNvPicPr preferRelativeResize="0"/>
          <p:nvPr/>
        </p:nvPicPr>
        <p:blipFill>
          <a:blip r:embed="rId8">
            <a:alphaModFix/>
          </a:blip>
          <a:stretch>
            <a:fillRect/>
          </a:stretch>
        </p:blipFill>
        <p:spPr>
          <a:xfrm>
            <a:off x="3203913" y="1940800"/>
            <a:ext cx="3544970" cy="294800"/>
          </a:xfrm>
          <a:prstGeom prst="rect">
            <a:avLst/>
          </a:prstGeom>
          <a:noFill/>
          <a:ln>
            <a:noFill/>
          </a:ln>
        </p:spPr>
      </p:pic>
      <p:pic>
        <p:nvPicPr>
          <p:cNvPr id="1604" name="Google Shape;1604;p135"/>
          <p:cNvPicPr preferRelativeResize="0"/>
          <p:nvPr/>
        </p:nvPicPr>
        <p:blipFill>
          <a:blip r:embed="rId9">
            <a:alphaModFix/>
          </a:blip>
          <a:stretch>
            <a:fillRect/>
          </a:stretch>
        </p:blipFill>
        <p:spPr>
          <a:xfrm>
            <a:off x="419525" y="2377973"/>
            <a:ext cx="210300" cy="1586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cxnSp>
        <p:nvCxnSpPr>
          <p:cNvPr id="1609" name="Google Shape;1609;p136"/>
          <p:cNvCxnSpPr/>
          <p:nvPr/>
        </p:nvCxnSpPr>
        <p:spPr>
          <a:xfrm flipH="1" rot="10800000">
            <a:off x="186300" y="3834900"/>
            <a:ext cx="8551200" cy="42300"/>
          </a:xfrm>
          <a:prstGeom prst="straightConnector1">
            <a:avLst/>
          </a:prstGeom>
          <a:noFill/>
          <a:ln cap="flat" cmpd="sng" w="9525">
            <a:solidFill>
              <a:schemeClr val="dk2"/>
            </a:solidFill>
            <a:prstDash val="solid"/>
            <a:round/>
            <a:headEnd len="med" w="med" type="none"/>
            <a:tailEnd len="med" w="med" type="none"/>
          </a:ln>
        </p:spPr>
      </p:cxnSp>
      <p:sp>
        <p:nvSpPr>
          <p:cNvPr id="1610" name="Google Shape;1610;p13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id="1611" name="Google Shape;1611;p136"/>
          <p:cNvPicPr preferRelativeResize="0"/>
          <p:nvPr/>
        </p:nvPicPr>
        <p:blipFill>
          <a:blip r:embed="rId3">
            <a:alphaModFix/>
          </a:blip>
          <a:stretch>
            <a:fillRect/>
          </a:stretch>
        </p:blipFill>
        <p:spPr>
          <a:xfrm flipH="1">
            <a:off x="3908033" y="3781672"/>
            <a:ext cx="1394515" cy="493901"/>
          </a:xfrm>
          <a:prstGeom prst="rect">
            <a:avLst/>
          </a:prstGeom>
          <a:noFill/>
          <a:ln>
            <a:noFill/>
          </a:ln>
        </p:spPr>
      </p:pic>
      <p:pic>
        <p:nvPicPr>
          <p:cNvPr id="1612" name="Google Shape;1612;p136"/>
          <p:cNvPicPr preferRelativeResize="0"/>
          <p:nvPr/>
        </p:nvPicPr>
        <p:blipFill>
          <a:blip r:embed="rId4">
            <a:alphaModFix/>
          </a:blip>
          <a:stretch>
            <a:fillRect/>
          </a:stretch>
        </p:blipFill>
        <p:spPr>
          <a:xfrm flipH="1">
            <a:off x="6718471" y="3771600"/>
            <a:ext cx="1394515" cy="493901"/>
          </a:xfrm>
          <a:prstGeom prst="rect">
            <a:avLst/>
          </a:prstGeom>
          <a:noFill/>
          <a:ln>
            <a:noFill/>
          </a:ln>
        </p:spPr>
      </p:pic>
      <p:pic>
        <p:nvPicPr>
          <p:cNvPr id="1613" name="Google Shape;1613;p136"/>
          <p:cNvPicPr preferRelativeResize="0"/>
          <p:nvPr/>
        </p:nvPicPr>
        <p:blipFill>
          <a:blip r:embed="rId5">
            <a:alphaModFix/>
          </a:blip>
          <a:stretch>
            <a:fillRect/>
          </a:stretch>
        </p:blipFill>
        <p:spPr>
          <a:xfrm flipH="1">
            <a:off x="5296036" y="3745646"/>
            <a:ext cx="1428948" cy="521991"/>
          </a:xfrm>
          <a:prstGeom prst="rect">
            <a:avLst/>
          </a:prstGeom>
          <a:noFill/>
          <a:ln>
            <a:noFill/>
          </a:ln>
        </p:spPr>
      </p:pic>
      <p:pic>
        <p:nvPicPr>
          <p:cNvPr id="1614" name="Google Shape;1614;p136"/>
          <p:cNvPicPr preferRelativeResize="0"/>
          <p:nvPr/>
        </p:nvPicPr>
        <p:blipFill>
          <a:blip r:embed="rId6">
            <a:alphaModFix/>
          </a:blip>
          <a:stretch>
            <a:fillRect/>
          </a:stretch>
        </p:blipFill>
        <p:spPr>
          <a:xfrm flipH="1">
            <a:off x="1018311" y="3761527"/>
            <a:ext cx="1428948" cy="506110"/>
          </a:xfrm>
          <a:prstGeom prst="rect">
            <a:avLst/>
          </a:prstGeom>
          <a:noFill/>
          <a:ln>
            <a:noFill/>
          </a:ln>
        </p:spPr>
      </p:pic>
      <p:pic>
        <p:nvPicPr>
          <p:cNvPr id="1615" name="Google Shape;1615;p136"/>
          <p:cNvPicPr preferRelativeResize="0"/>
          <p:nvPr/>
        </p:nvPicPr>
        <p:blipFill>
          <a:blip r:embed="rId7">
            <a:alphaModFix/>
          </a:blip>
          <a:stretch>
            <a:fillRect/>
          </a:stretch>
        </p:blipFill>
        <p:spPr>
          <a:xfrm flipH="1">
            <a:off x="2440747" y="3763663"/>
            <a:ext cx="1473799" cy="521983"/>
          </a:xfrm>
          <a:prstGeom prst="rect">
            <a:avLst/>
          </a:prstGeom>
          <a:noFill/>
          <a:ln>
            <a:noFill/>
          </a:ln>
        </p:spPr>
      </p:pic>
      <p:cxnSp>
        <p:nvCxnSpPr>
          <p:cNvPr id="1616" name="Google Shape;1616;p136"/>
          <p:cNvCxnSpPr/>
          <p:nvPr/>
        </p:nvCxnSpPr>
        <p:spPr>
          <a:xfrm flipH="1" rot="10800000">
            <a:off x="186300" y="4368300"/>
            <a:ext cx="8551200" cy="42300"/>
          </a:xfrm>
          <a:prstGeom prst="straightConnector1">
            <a:avLst/>
          </a:prstGeom>
          <a:noFill/>
          <a:ln cap="flat" cmpd="sng" w="9525">
            <a:solidFill>
              <a:schemeClr val="dk2"/>
            </a:solidFill>
            <a:prstDash val="solid"/>
            <a:round/>
            <a:headEnd len="med" w="med" type="none"/>
            <a:tailEnd len="med" w="med" type="none"/>
          </a:ln>
        </p:spPr>
      </p:cxnSp>
      <p:sp>
        <p:nvSpPr>
          <p:cNvPr id="1617" name="Google Shape;1617;p136"/>
          <p:cNvSpPr txBox="1"/>
          <p:nvPr/>
        </p:nvSpPr>
        <p:spPr>
          <a:xfrm>
            <a:off x="478050" y="9376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1618" name="Google Shape;1618;p136"/>
          <p:cNvSpPr txBox="1"/>
          <p:nvPr/>
        </p:nvSpPr>
        <p:spPr>
          <a:xfrm>
            <a:off x="309750" y="810000"/>
            <a:ext cx="8020500" cy="1506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Rounding to 1 s.f. gave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length of 20 m and rounding to 2 s.f. gave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length of 22 m. Both are correct estimations, but what is the benefit to rounding to 1 s.f. or 2 s.f. ?</a:t>
            </a:r>
            <a:endParaRPr/>
          </a:p>
        </p:txBody>
      </p:sp>
      <p:pic>
        <p:nvPicPr>
          <p:cNvPr id="1619" name="Google Shape;1619;p136"/>
          <p:cNvPicPr preferRelativeResize="0"/>
          <p:nvPr/>
        </p:nvPicPr>
        <p:blipFill>
          <a:blip r:embed="rId8">
            <a:alphaModFix/>
          </a:blip>
          <a:stretch>
            <a:fillRect/>
          </a:stretch>
        </p:blipFill>
        <p:spPr>
          <a:xfrm>
            <a:off x="419525" y="2377973"/>
            <a:ext cx="210300" cy="1586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13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625" name="Google Shape;1625;p137"/>
          <p:cNvSpPr txBox="1"/>
          <p:nvPr/>
        </p:nvSpPr>
        <p:spPr>
          <a:xfrm>
            <a:off x="478050" y="9376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1626" name="Google Shape;1626;p137"/>
          <p:cNvSpPr txBox="1"/>
          <p:nvPr/>
        </p:nvSpPr>
        <p:spPr>
          <a:xfrm>
            <a:off x="309750" y="810000"/>
            <a:ext cx="8020500" cy="2931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Rounding to 1 s.f. gave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length of 20 m and rounding to 2 s.f. gave an </a:t>
            </a:r>
            <a:r>
              <a:rPr b="1" lang="en-GB" sz="2200">
                <a:solidFill>
                  <a:schemeClr val="dk1"/>
                </a:solidFill>
                <a:latin typeface="Lexend"/>
                <a:ea typeface="Lexend"/>
                <a:cs typeface="Lexend"/>
                <a:sym typeface="Lexend"/>
              </a:rPr>
              <a:t>estimated</a:t>
            </a:r>
            <a:r>
              <a:rPr lang="en-GB" sz="2200">
                <a:solidFill>
                  <a:schemeClr val="dk1"/>
                </a:solidFill>
                <a:latin typeface="Lexend"/>
                <a:ea typeface="Lexend"/>
                <a:cs typeface="Lexend"/>
                <a:sym typeface="Lexend"/>
              </a:rPr>
              <a:t> length of 22 m. Both are correct estimations, but what is the benefit to rounding to 1 s.f. or 2 s.f.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22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rPr lang="en-GB" sz="2200">
                <a:solidFill>
                  <a:schemeClr val="dk1"/>
                </a:solidFill>
                <a:latin typeface="Lexend"/>
                <a:ea typeface="Lexend"/>
                <a:cs typeface="Lexend"/>
                <a:sym typeface="Lexend"/>
              </a:rPr>
              <a:t>Rounding to 1 s.f. was quicker. Rounding to 2 s.f. was more accurate but perhaps took a little longer. </a:t>
            </a:r>
            <a:endParaRPr sz="2200">
              <a:solidFill>
                <a:schemeClr val="dk1"/>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138"/>
          <p:cNvSpPr/>
          <p:nvPr/>
        </p:nvSpPr>
        <p:spPr>
          <a:xfrm>
            <a:off x="311750" y="25240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2" name="Google Shape;1632;p13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633" name="Google Shape;1633;p138"/>
          <p:cNvSpPr txBox="1"/>
          <p:nvPr>
            <p:ph idx="1" type="body"/>
          </p:nvPr>
        </p:nvSpPr>
        <p:spPr>
          <a:xfrm>
            <a:off x="372350" y="606900"/>
            <a:ext cx="8496000" cy="5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Izzy</a:t>
            </a:r>
            <a:r>
              <a:rPr lang="en-GB"/>
              <a:t>, Laura and Alex are given this calculation.</a:t>
            </a:r>
            <a:endParaRPr/>
          </a:p>
          <a:p>
            <a:pPr indent="0" lvl="0" marL="0" rtl="0" algn="l">
              <a:spcBef>
                <a:spcPts val="1000"/>
              </a:spcBef>
              <a:spcAft>
                <a:spcPts val="0"/>
              </a:spcAft>
              <a:buNone/>
            </a:pPr>
            <a:r>
              <a:t/>
            </a:r>
            <a:endParaRPr sz="1400"/>
          </a:p>
          <a:p>
            <a:pPr indent="0" lvl="0" marL="0" rtl="0" algn="l">
              <a:spcBef>
                <a:spcPts val="1000"/>
              </a:spcBef>
              <a:spcAft>
                <a:spcPts val="0"/>
              </a:spcAft>
              <a:buNone/>
            </a:pPr>
            <a:r>
              <a:t/>
            </a:r>
            <a:endParaRPr sz="600"/>
          </a:p>
          <a:p>
            <a:pPr indent="0" lvl="0" marL="0" rtl="0" algn="l">
              <a:spcBef>
                <a:spcPts val="1000"/>
              </a:spcBef>
              <a:spcAft>
                <a:spcPts val="1000"/>
              </a:spcAft>
              <a:buNone/>
            </a:pPr>
            <a:r>
              <a:rPr lang="en-GB"/>
              <a:t>Who has correctly </a:t>
            </a:r>
            <a:r>
              <a:rPr b="1" lang="en-GB"/>
              <a:t>estimated</a:t>
            </a:r>
            <a:r>
              <a:rPr lang="en-GB"/>
              <a:t> the answer to the </a:t>
            </a:r>
            <a:r>
              <a:rPr lang="en-GB"/>
              <a:t>calculation</a:t>
            </a:r>
            <a:r>
              <a:rPr lang="en-GB"/>
              <a:t>?</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34" name="Google Shape;1634;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78215" l="0" r="76347" t="0"/>
          <a:stretch/>
        </p:blipFill>
        <p:spPr>
          <a:xfrm>
            <a:off x="3760650" y="1080000"/>
            <a:ext cx="1460476" cy="617307"/>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35" name="Google Shape;1635;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32312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36" name="Google Shape;1636;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1468840" y="3516580"/>
            <a:ext cx="1213893"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37" name="Google Shape;1637;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58443" r="17904" t="24975"/>
          <a:stretch/>
        </p:blipFill>
        <p:spPr>
          <a:xfrm>
            <a:off x="1468825" y="4175500"/>
            <a:ext cx="1362225" cy="661375"/>
          </a:xfrm>
          <a:prstGeom prst="rect">
            <a:avLst/>
          </a:prstGeom>
          <a:noFill/>
          <a:ln>
            <a:noFill/>
          </a:ln>
        </p:spPr>
      </p:pic>
      <p:sp>
        <p:nvSpPr>
          <p:cNvPr id="1638" name="Google Shape;1638;p138"/>
          <p:cNvSpPr txBox="1"/>
          <p:nvPr/>
        </p:nvSpPr>
        <p:spPr>
          <a:xfrm>
            <a:off x="1268347" y="2053799"/>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Izzy</a:t>
            </a:r>
            <a:endParaRPr/>
          </a:p>
        </p:txBody>
      </p:sp>
      <p:sp>
        <p:nvSpPr>
          <p:cNvPr id="1639" name="Google Shape;1639;p138"/>
          <p:cNvSpPr/>
          <p:nvPr/>
        </p:nvSpPr>
        <p:spPr>
          <a:xfrm>
            <a:off x="3071475"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0" name="Google Shape;1640;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4108" l="-1631" r="59464" t="49110"/>
          <a:stretch/>
        </p:blipFill>
        <p:spPr>
          <a:xfrm>
            <a:off x="3082851"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1" name="Google Shape;1641;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3628" l="81348" r="-4999" t="49590"/>
          <a:stretch/>
        </p:blipFill>
        <p:spPr>
          <a:xfrm>
            <a:off x="4249093" y="4175506"/>
            <a:ext cx="1362218" cy="661367"/>
          </a:xfrm>
          <a:prstGeom prst="rect">
            <a:avLst/>
          </a:prstGeom>
          <a:noFill/>
          <a:ln>
            <a:noFill/>
          </a:ln>
        </p:spPr>
      </p:pic>
      <p:sp>
        <p:nvSpPr>
          <p:cNvPr id="1642" name="Google Shape;1642;p138"/>
          <p:cNvSpPr txBox="1"/>
          <p:nvPr/>
        </p:nvSpPr>
        <p:spPr>
          <a:xfrm>
            <a:off x="3928517" y="2054980"/>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Laura</a:t>
            </a:r>
            <a:endParaRPr/>
          </a:p>
        </p:txBody>
      </p:sp>
      <p:sp>
        <p:nvSpPr>
          <p:cNvPr id="1643" name="Google Shape;1643;p138"/>
          <p:cNvSpPr/>
          <p:nvPr/>
        </p:nvSpPr>
        <p:spPr>
          <a:xfrm>
            <a:off x="5831200"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4" name="Google Shape;1644;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584257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5" name="Google Shape;1645;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6988290" y="3516580"/>
            <a:ext cx="1213893"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6" name="Google Shape;1646;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516" l="57932" r="18415" t="73735"/>
          <a:stretch/>
        </p:blipFill>
        <p:spPr>
          <a:xfrm>
            <a:off x="6988283" y="4130973"/>
            <a:ext cx="1362218" cy="661367"/>
          </a:xfrm>
          <a:prstGeom prst="rect">
            <a:avLst/>
          </a:prstGeom>
          <a:noFill/>
          <a:ln>
            <a:noFill/>
          </a:ln>
        </p:spPr>
      </p:pic>
      <p:sp>
        <p:nvSpPr>
          <p:cNvPr id="1647" name="Google Shape;1647;p138"/>
          <p:cNvSpPr txBox="1"/>
          <p:nvPr/>
        </p:nvSpPr>
        <p:spPr>
          <a:xfrm>
            <a:off x="6755694" y="2056716"/>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Alex</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48" name="Google Shape;1648;p138"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2769" l="65023" r="17437" t="50449"/>
          <a:stretch/>
        </p:blipFill>
        <p:spPr>
          <a:xfrm>
            <a:off x="4353950" y="3527700"/>
            <a:ext cx="1126251" cy="737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139"/>
          <p:cNvSpPr/>
          <p:nvPr/>
        </p:nvSpPr>
        <p:spPr>
          <a:xfrm>
            <a:off x="311750" y="25240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4" name="Google Shape;1654;p13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655" name="Google Shape;1655;p139"/>
          <p:cNvSpPr txBox="1"/>
          <p:nvPr>
            <p:ph idx="1" type="body"/>
          </p:nvPr>
        </p:nvSpPr>
        <p:spPr>
          <a:xfrm>
            <a:off x="372350" y="606900"/>
            <a:ext cx="8496000" cy="50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Izzy, Laura and Alex are given this calculation.</a:t>
            </a:r>
            <a:endParaRPr/>
          </a:p>
          <a:p>
            <a:pPr indent="0" lvl="0" marL="0" rtl="0" algn="l">
              <a:spcBef>
                <a:spcPts val="1000"/>
              </a:spcBef>
              <a:spcAft>
                <a:spcPts val="0"/>
              </a:spcAft>
              <a:buNone/>
            </a:pPr>
            <a:r>
              <a:t/>
            </a:r>
            <a:endParaRPr sz="1400"/>
          </a:p>
          <a:p>
            <a:pPr indent="0" lvl="0" marL="0" rtl="0" algn="l">
              <a:spcBef>
                <a:spcPts val="1000"/>
              </a:spcBef>
              <a:spcAft>
                <a:spcPts val="0"/>
              </a:spcAft>
              <a:buNone/>
            </a:pPr>
            <a:r>
              <a:t/>
            </a:r>
            <a:endParaRPr sz="600"/>
          </a:p>
          <a:p>
            <a:pPr indent="0" lvl="0" marL="0" rtl="0" algn="l">
              <a:spcBef>
                <a:spcPts val="1000"/>
              </a:spcBef>
              <a:spcAft>
                <a:spcPts val="1000"/>
              </a:spcAft>
              <a:buNone/>
            </a:pPr>
            <a:r>
              <a:rPr lang="en-GB"/>
              <a:t>Who has correctly </a:t>
            </a:r>
            <a:r>
              <a:rPr b="1" lang="en-GB"/>
              <a:t>estimated</a:t>
            </a:r>
            <a:r>
              <a:rPr lang="en-GB"/>
              <a:t> the answer to the calculation?</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56" name="Google Shape;1656;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78215" l="0" r="76347" t="0"/>
          <a:stretch/>
        </p:blipFill>
        <p:spPr>
          <a:xfrm>
            <a:off x="3760650" y="1080000"/>
            <a:ext cx="1460476" cy="617307"/>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57" name="Google Shape;1657;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32312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58" name="Google Shape;1658;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1468840" y="3516580"/>
            <a:ext cx="1213893" cy="737375"/>
          </a:xfrm>
          <a:prstGeom prst="rect">
            <a:avLst/>
          </a:prstGeom>
          <a:noFill/>
          <a:ln>
            <a:noFill/>
          </a:ln>
        </p:spPr>
      </p:pic>
      <p:sp>
        <p:nvSpPr>
          <p:cNvPr id="1659" name="Google Shape;1659;p139"/>
          <p:cNvSpPr txBox="1"/>
          <p:nvPr/>
        </p:nvSpPr>
        <p:spPr>
          <a:xfrm>
            <a:off x="1268347" y="2053799"/>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Izzy</a:t>
            </a:r>
            <a:endParaRPr/>
          </a:p>
        </p:txBody>
      </p:sp>
      <p:sp>
        <p:nvSpPr>
          <p:cNvPr id="1660" name="Google Shape;1660;p139"/>
          <p:cNvSpPr/>
          <p:nvPr/>
        </p:nvSpPr>
        <p:spPr>
          <a:xfrm>
            <a:off x="3071475"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61" name="Google Shape;1661;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4108" l="-1631" r="59464" t="49110"/>
          <a:stretch/>
        </p:blipFill>
        <p:spPr>
          <a:xfrm>
            <a:off x="3082851" y="2607485"/>
            <a:ext cx="2707698" cy="737375"/>
          </a:xfrm>
          <a:prstGeom prst="rect">
            <a:avLst/>
          </a:prstGeom>
          <a:noFill/>
          <a:ln>
            <a:noFill/>
          </a:ln>
        </p:spPr>
      </p:pic>
      <p:sp>
        <p:nvSpPr>
          <p:cNvPr id="1662" name="Google Shape;1662;p139"/>
          <p:cNvSpPr txBox="1"/>
          <p:nvPr/>
        </p:nvSpPr>
        <p:spPr>
          <a:xfrm>
            <a:off x="3928517" y="2054980"/>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Laura</a:t>
            </a:r>
            <a:endParaRPr/>
          </a:p>
        </p:txBody>
      </p:sp>
      <p:sp>
        <p:nvSpPr>
          <p:cNvPr id="1663" name="Google Shape;1663;p139"/>
          <p:cNvSpPr/>
          <p:nvPr/>
        </p:nvSpPr>
        <p:spPr>
          <a:xfrm>
            <a:off x="5831200"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64" name="Google Shape;1664;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584257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65" name="Google Shape;1665;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6988290" y="3516580"/>
            <a:ext cx="1213893" cy="737375"/>
          </a:xfrm>
          <a:prstGeom prst="rect">
            <a:avLst/>
          </a:prstGeom>
          <a:noFill/>
          <a:ln>
            <a:noFill/>
          </a:ln>
        </p:spPr>
      </p:pic>
      <p:sp>
        <p:nvSpPr>
          <p:cNvPr id="1666" name="Google Shape;1666;p139"/>
          <p:cNvSpPr txBox="1"/>
          <p:nvPr/>
        </p:nvSpPr>
        <p:spPr>
          <a:xfrm>
            <a:off x="6755694" y="2056716"/>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Alex</a:t>
            </a:r>
            <a:endParaRPr/>
          </a:p>
        </p:txBody>
      </p:sp>
      <p:sp>
        <p:nvSpPr>
          <p:cNvPr id="1667" name="Google Shape;1667;p139"/>
          <p:cNvSpPr txBox="1"/>
          <p:nvPr/>
        </p:nvSpPr>
        <p:spPr>
          <a:xfrm>
            <a:off x="969350" y="4325850"/>
            <a:ext cx="7135500" cy="523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Kalam"/>
                <a:ea typeface="Kalam"/>
                <a:cs typeface="Kalam"/>
                <a:sym typeface="Kalam"/>
              </a:rPr>
              <a:t>The rounded numbers by all three students are correct.</a:t>
            </a:r>
            <a:endParaRPr>
              <a:latin typeface="Kalam"/>
              <a:ea typeface="Kalam"/>
              <a:cs typeface="Kalam"/>
              <a:sym typeface="Kalam"/>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68" name="Google Shape;1668;p139"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2769" l="65023" r="17437" t="50449"/>
          <a:stretch/>
        </p:blipFill>
        <p:spPr>
          <a:xfrm>
            <a:off x="4353950" y="3527700"/>
            <a:ext cx="1126251" cy="737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p140"/>
          <p:cNvSpPr/>
          <p:nvPr/>
        </p:nvSpPr>
        <p:spPr>
          <a:xfrm>
            <a:off x="3071475"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74" name="Google Shape;1674;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2769" l="65023" r="17437" t="50449"/>
          <a:stretch/>
        </p:blipFill>
        <p:spPr>
          <a:xfrm>
            <a:off x="4353950" y="3527700"/>
            <a:ext cx="1126251" cy="737375"/>
          </a:xfrm>
          <a:prstGeom prst="rect">
            <a:avLst/>
          </a:prstGeom>
          <a:noFill/>
          <a:ln>
            <a:noFill/>
          </a:ln>
        </p:spPr>
      </p:pic>
      <p:sp>
        <p:nvSpPr>
          <p:cNvPr id="1675" name="Google Shape;1675;p140"/>
          <p:cNvSpPr/>
          <p:nvPr/>
        </p:nvSpPr>
        <p:spPr>
          <a:xfrm>
            <a:off x="311750" y="25240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6" name="Google Shape;1676;p14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77" name="Google Shape;1677;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32312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78" name="Google Shape;1678;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1468840" y="3516580"/>
            <a:ext cx="1213893"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79" name="Google Shape;1679;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58443" r="17904" t="24975"/>
          <a:stretch/>
        </p:blipFill>
        <p:spPr>
          <a:xfrm>
            <a:off x="1468833" y="4175506"/>
            <a:ext cx="1362218" cy="661367"/>
          </a:xfrm>
          <a:prstGeom prst="rect">
            <a:avLst/>
          </a:prstGeom>
          <a:noFill/>
          <a:ln>
            <a:noFill/>
          </a:ln>
        </p:spPr>
      </p:pic>
      <p:sp>
        <p:nvSpPr>
          <p:cNvPr id="1680" name="Google Shape;1680;p140"/>
          <p:cNvSpPr txBox="1"/>
          <p:nvPr/>
        </p:nvSpPr>
        <p:spPr>
          <a:xfrm>
            <a:off x="1268347" y="2053799"/>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Izzy</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81" name="Google Shape;1681;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4108" l="-1631" r="59464" t="49110"/>
          <a:stretch/>
        </p:blipFill>
        <p:spPr>
          <a:xfrm>
            <a:off x="3082851"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82" name="Google Shape;1682;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23628" l="81348" r="-4999" t="49590"/>
          <a:stretch/>
        </p:blipFill>
        <p:spPr>
          <a:xfrm>
            <a:off x="4249093" y="4175506"/>
            <a:ext cx="1362218" cy="661367"/>
          </a:xfrm>
          <a:prstGeom prst="rect">
            <a:avLst/>
          </a:prstGeom>
          <a:noFill/>
          <a:ln>
            <a:noFill/>
          </a:ln>
        </p:spPr>
      </p:pic>
      <p:sp>
        <p:nvSpPr>
          <p:cNvPr id="1683" name="Google Shape;1683;p140"/>
          <p:cNvSpPr txBox="1"/>
          <p:nvPr/>
        </p:nvSpPr>
        <p:spPr>
          <a:xfrm>
            <a:off x="3928517" y="2054980"/>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Laura</a:t>
            </a:r>
            <a:endParaRPr/>
          </a:p>
        </p:txBody>
      </p:sp>
      <p:sp>
        <p:nvSpPr>
          <p:cNvPr id="1684" name="Google Shape;1684;p140"/>
          <p:cNvSpPr txBox="1"/>
          <p:nvPr/>
        </p:nvSpPr>
        <p:spPr>
          <a:xfrm>
            <a:off x="324000" y="724050"/>
            <a:ext cx="8496000" cy="1066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100">
                <a:solidFill>
                  <a:schemeClr val="dk1"/>
                </a:solidFill>
                <a:latin typeface="Kalam"/>
                <a:ea typeface="Kalam"/>
                <a:cs typeface="Kalam"/>
                <a:sym typeface="Kalam"/>
              </a:rPr>
              <a:t>Izzy and Laura have made the same error when calculating the answer. When dividing by a number, it is the same as multiplying by </a:t>
            </a:r>
            <a:r>
              <a:rPr lang="en-GB" sz="2100">
                <a:solidFill>
                  <a:schemeClr val="dk1"/>
                </a:solidFill>
                <a:latin typeface="Kalam"/>
                <a:ea typeface="Kalam"/>
                <a:cs typeface="Kalam"/>
                <a:sym typeface="Kalam"/>
              </a:rPr>
              <a:t>its</a:t>
            </a:r>
            <a:r>
              <a:rPr lang="en-GB" sz="2100">
                <a:solidFill>
                  <a:schemeClr val="dk1"/>
                </a:solidFill>
                <a:latin typeface="Kalam"/>
                <a:ea typeface="Kalam"/>
                <a:cs typeface="Kalam"/>
                <a:sym typeface="Kalam"/>
              </a:rPr>
              <a:t> reciprocal.</a:t>
            </a:r>
            <a:endParaRPr sz="1300">
              <a:latin typeface="Kalam"/>
              <a:ea typeface="Kalam"/>
              <a:cs typeface="Kalam"/>
              <a:sym typeface="Kalam"/>
            </a:endParaRPr>
          </a:p>
        </p:txBody>
      </p:sp>
      <p:sp>
        <p:nvSpPr>
          <p:cNvPr id="1685" name="Google Shape;1685;p140"/>
          <p:cNvSpPr/>
          <p:nvPr/>
        </p:nvSpPr>
        <p:spPr>
          <a:xfrm>
            <a:off x="1948325" y="3809550"/>
            <a:ext cx="723600" cy="423000"/>
          </a:xfrm>
          <a:prstGeom prst="ellipse">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6" name="Google Shape;1686;p140"/>
          <p:cNvSpPr/>
          <p:nvPr/>
        </p:nvSpPr>
        <p:spPr>
          <a:xfrm>
            <a:off x="4756592" y="3831816"/>
            <a:ext cx="723600" cy="423000"/>
          </a:xfrm>
          <a:prstGeom prst="ellipse">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87" name="Google Shape;1687;p140"/>
          <p:cNvGrpSpPr/>
          <p:nvPr/>
        </p:nvGrpSpPr>
        <p:grpSpPr>
          <a:xfrm>
            <a:off x="1372874" y="1387925"/>
            <a:ext cx="7545000" cy="1008000"/>
            <a:chOff x="1372874" y="1387925"/>
            <a:chExt cx="7545000" cy="1008000"/>
          </a:xfrm>
        </p:grpSpPr>
        <p:sp>
          <p:nvSpPr>
            <p:cNvPr id="1688" name="Google Shape;1688;p140"/>
            <p:cNvSpPr txBox="1"/>
            <p:nvPr/>
          </p:nvSpPr>
          <p:spPr>
            <a:xfrm>
              <a:off x="1372874" y="1387925"/>
              <a:ext cx="7545000" cy="100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100">
                  <a:solidFill>
                    <a:schemeClr val="dk1"/>
                  </a:solidFill>
                  <a:latin typeface="Kalam"/>
                  <a:ea typeface="Kalam"/>
                  <a:cs typeface="Kalam"/>
                  <a:sym typeface="Kalam"/>
                </a:rPr>
                <a:t>Therefore when       it is the same as     , so Alex is correct.</a:t>
              </a:r>
              <a:endParaRPr sz="2100">
                <a:solidFill>
                  <a:schemeClr val="dk1"/>
                </a:solidFill>
                <a:latin typeface="Kalam"/>
                <a:ea typeface="Kalam"/>
                <a:cs typeface="Kalam"/>
                <a:sym typeface="Kalam"/>
              </a:endParaRPr>
            </a:p>
            <a:p>
              <a:pPr indent="0" lvl="0" marL="0" rtl="0" algn="l">
                <a:lnSpc>
                  <a:spcPct val="115000"/>
                </a:lnSpc>
                <a:spcBef>
                  <a:spcPts val="1000"/>
                </a:spcBef>
                <a:spcAft>
                  <a:spcPts val="1000"/>
                </a:spcAft>
                <a:buNone/>
              </a:pPr>
              <a:r>
                <a:t/>
              </a:r>
              <a:endParaRPr sz="2100">
                <a:solidFill>
                  <a:schemeClr val="dk1"/>
                </a:solidFill>
                <a:latin typeface="Kalam"/>
                <a:ea typeface="Kalam"/>
                <a:cs typeface="Kalam"/>
                <a:sym typeface="Kalam"/>
              </a:endParaRPr>
            </a:p>
          </p:txBody>
        </p:sp>
        <p:pic>
          <p:nvPicPr>
            <p:cNvPr descr="&lt;math xmlns=&quot;http://www.w3.org/1998/Math/MathML&quot; display=&quot;block&quot; data-is-equatio=&quot;1&quot; data-latex=&quot;\div\frac{1}{2}\ \ \ \ \times2&quot;&gt;&lt;mo&gt;÷&lt;/mo&gt;&lt;mfrac&gt;&lt;mn&gt;1&lt;/mn&gt;&lt;mn&gt;2&lt;/mn&gt;&lt;/mfrac&gt;&lt;mtext&gt;&lt;/mtext&gt;&lt;mtext&gt;&lt;/mtext&gt;&lt;mtext&gt;&lt;/mtext&gt;&lt;mtext&gt;&lt;/mtext&gt;&lt;mo&gt;×&lt;/mo&gt;&lt;mn&gt;2&lt;/mn&gt;&lt;/math&gt;" id="1689" name="Google Shape;1689;p140" title="division sign one half times 2"/>
            <p:cNvPicPr preferRelativeResize="0"/>
            <p:nvPr/>
          </p:nvPicPr>
          <p:blipFill rotWithShape="1">
            <a:blip r:embed="rId4">
              <a:alphaModFix/>
            </a:blip>
            <a:srcRect b="0" l="0" r="55842" t="0"/>
            <a:stretch/>
          </p:blipFill>
          <p:spPr>
            <a:xfrm>
              <a:off x="3390426" y="1464126"/>
              <a:ext cx="430075" cy="505425"/>
            </a:xfrm>
            <a:prstGeom prst="rect">
              <a:avLst/>
            </a:prstGeom>
            <a:noFill/>
            <a:ln>
              <a:noFill/>
            </a:ln>
          </p:spPr>
        </p:pic>
        <p:pic>
          <p:nvPicPr>
            <p:cNvPr descr="&lt;math xmlns=&quot;http://www.w3.org/1998/Math/MathML&quot; display=&quot;block&quot; data-is-equatio=&quot;1&quot; data-latex=&quot;\div\frac{1}{2}\ \ \ \ \times2&quot;&gt;&lt;mo&gt;÷&lt;/mo&gt;&lt;mfrac&gt;&lt;mn&gt;1&lt;/mn&gt;&lt;mn&gt;2&lt;/mn&gt;&lt;/mfrac&gt;&lt;mtext&gt;&lt;/mtext&gt;&lt;mtext&gt;&lt;/mtext&gt;&lt;mtext&gt;&lt;/mtext&gt;&lt;mtext&gt;&lt;/mtext&gt;&lt;mo&gt;×&lt;/mo&gt;&lt;mn&gt;2&lt;/mn&gt;&lt;/math&gt;" id="1690" name="Google Shape;1690;p140" title="division sign one half times 2"/>
            <p:cNvPicPr preferRelativeResize="0"/>
            <p:nvPr/>
          </p:nvPicPr>
          <p:blipFill rotWithShape="1">
            <a:blip r:embed="rId4">
              <a:alphaModFix/>
            </a:blip>
            <a:srcRect b="0" l="57923" r="-7978" t="0"/>
            <a:stretch/>
          </p:blipFill>
          <p:spPr>
            <a:xfrm>
              <a:off x="5977258" y="1412976"/>
              <a:ext cx="504675" cy="523175"/>
            </a:xfrm>
            <a:prstGeom prst="rect">
              <a:avLst/>
            </a:prstGeom>
            <a:noFill/>
            <a:ln>
              <a:noFill/>
            </a:ln>
          </p:spPr>
        </p:pic>
      </p:grpSp>
      <p:sp>
        <p:nvSpPr>
          <p:cNvPr id="1691" name="Google Shape;1691;p140"/>
          <p:cNvSpPr/>
          <p:nvPr/>
        </p:nvSpPr>
        <p:spPr>
          <a:xfrm>
            <a:off x="5831200" y="2524150"/>
            <a:ext cx="2707500" cy="2172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92" name="Google Shape;1692;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9997" l="-1286" r="59118" t="23221"/>
          <a:stretch/>
        </p:blipFill>
        <p:spPr>
          <a:xfrm>
            <a:off x="5842576" y="2607485"/>
            <a:ext cx="2707698" cy="737375"/>
          </a:xfrm>
          <a:prstGeom prst="rect">
            <a:avLst/>
          </a:prstGeom>
          <a:noFill/>
          <a:ln>
            <a:noFill/>
          </a:ln>
        </p:spPr>
      </p:pic>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93" name="Google Shape;1693;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48243" l="39927" r="41169" t="24975"/>
          <a:stretch/>
        </p:blipFill>
        <p:spPr>
          <a:xfrm>
            <a:off x="6988290" y="3516580"/>
            <a:ext cx="1213893" cy="737375"/>
          </a:xfrm>
          <a:prstGeom prst="rect">
            <a:avLst/>
          </a:prstGeom>
          <a:noFill/>
          <a:ln>
            <a:noFill/>
          </a:ln>
        </p:spPr>
      </p:pic>
      <p:sp>
        <p:nvSpPr>
          <p:cNvPr id="1694" name="Google Shape;1694;p140"/>
          <p:cNvSpPr txBox="1"/>
          <p:nvPr/>
        </p:nvSpPr>
        <p:spPr>
          <a:xfrm>
            <a:off x="6755694" y="2056716"/>
            <a:ext cx="12138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Alex</a:t>
            </a:r>
            <a:endParaRPr/>
          </a:p>
        </p:txBody>
      </p:sp>
      <p:pic>
        <p:nvPicPr>
          <p:cNvPr descr="&lt;math xmlns=&quot;http://www.w3.org/1998/Math/MathML&quot; display=&quot;block&quot; data-is-equatio=&quot;1&quot; data-latex=&quot;\begin{array}{l}\frac{32.9\ \times8.56}{0.498}\\&amp;#13;&amp;#10;\frac{30\ \times10}{0.5}=\frac{30\times10}{0.5}=\frac{300}{0.5}=\ 150\\&amp;#13;&amp;#10;\frac{32\ \times10}{0.5}=\frac{32\times10}{0.5}=\frac{32\times10}{0.5}=\frac{320}{0.5}=160\\&amp;#13;&amp;#10;\frac{30\ \times10}{0.5}=\frac{30\times10}{0.5}=\frac{300}{0.5}=\ 600\end{array}&quot;&gt;&lt;mtable columnalign=&quot;left&quot; columnspacing=&quot;1em&quot; rowspacing=&quot;4pt&quot;&gt;&lt;mtr&gt;&lt;mtd&gt;&lt;mfrac&gt;&lt;mrow&gt;&lt;mn&gt;32.9&lt;/mn&gt;&lt;mtext&gt;&lt;/mtext&gt;&lt;mo&gt;×&lt;/mo&gt;&lt;mn&gt;8.56&lt;/mn&gt;&lt;/mrow&gt;&lt;mn&gt;0.498&lt;/mn&gt;&lt;/mfrac&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150&lt;/mn&gt;&lt;/mtd&gt;&lt;/mtr&gt;&lt;mtr&gt;&lt;mtd&gt;&lt;mfrac&gt;&lt;mrow&gt;&lt;mn&gt;32&lt;/mn&gt;&lt;mtext&gt;&lt;/mtext&gt;&lt;mo&gt;×&lt;/mo&gt;&lt;mn&gt;10&lt;/mn&gt;&lt;/mrow&gt;&lt;mn&gt;0.5&lt;/mn&gt;&lt;/mfrac&gt;&lt;mo&gt;=&lt;/mo&gt;&lt;mfrac&gt;&lt;mrow&gt;&lt;mn&gt;32&lt;/mn&gt;&lt;mo&gt;×&lt;/mo&gt;&lt;mn&gt;10&lt;/mn&gt;&lt;/mrow&gt;&lt;mn&gt;0.5&lt;/mn&gt;&lt;/mfrac&gt;&lt;mo&gt;=&lt;/mo&gt;&lt;mfrac&gt;&lt;mrow&gt;&lt;mn&gt;32&lt;/mn&gt;&lt;mo&gt;×&lt;/mo&gt;&lt;mn&gt;10&lt;/mn&gt;&lt;/mrow&gt;&lt;mn&gt;0.5&lt;/mn&gt;&lt;/mfrac&gt;&lt;mo&gt;=&lt;/mo&gt;&lt;mfrac&gt;&lt;mn&gt;320&lt;/mn&gt;&lt;mn&gt;0.5&lt;/mn&gt;&lt;/mfrac&gt;&lt;mo&gt;=&lt;/mo&gt;&lt;mn&gt;160&lt;/mn&gt;&lt;/mtd&gt;&lt;/mtr&gt;&lt;mtr&gt;&lt;mtd&gt;&lt;mfrac&gt;&lt;mrow&gt;&lt;mn&gt;30&lt;/mn&gt;&lt;mtext&gt;&lt;/mtext&gt;&lt;mo&gt;×&lt;/mo&gt;&lt;mn&gt;10&lt;/mn&gt;&lt;/mrow&gt;&lt;mn&gt;0.5&lt;/mn&gt;&lt;/mfrac&gt;&lt;mo&gt;=&lt;/mo&gt;&lt;mfrac&gt;&lt;mrow&gt;&lt;mn&gt;30&lt;/mn&gt;&lt;mo&gt;×&lt;/mo&gt;&lt;mn&gt;10&lt;/mn&gt;&lt;/mrow&gt;&lt;mn&gt;0.5&lt;/mn&gt;&lt;/mfrac&gt;&lt;mo&gt;=&lt;/mo&gt;&lt;mfrac&gt;&lt;mn&gt;300&lt;/mn&gt;&lt;mn&gt;0.5&lt;/mn&gt;&lt;/mfrac&gt;&lt;mo&gt;=&lt;/mo&gt;&lt;mtext&gt;&lt;/mtext&gt;&lt;mn&gt;600&lt;/mn&gt;&lt;/mtd&gt;&lt;/mtr&gt;&lt;/mtable&gt;&lt;/math&gt;" id="1695" name="Google Shape;1695;p140" title="4 lines Line 1: the fraction with numerator 32.9 times 8.56 and denominator 0.498 Line 2: the fraction with numerator 30 times 10 and denominator 0.5 equals the fraction with numerator 30 times 10 and denominator 0.5 equals 300 over 0.5 equals 150 Line 3: the fraction with numerator 32 times 10 and denominator 0.5 equals the fraction with numerator 32 times 10 and denominator 0.5 equals the fraction with numerator 32 times 10 and denominator 0.5 equals 320 over 0.5 equals 160 Line 4: the fraction with numerator 30 times 10 and denominator 0.5 equals the fraction with numerator 30 times 10 and denominator 0.5 equals 300 over 0.5 equals 600"/>
          <p:cNvPicPr preferRelativeResize="0"/>
          <p:nvPr/>
        </p:nvPicPr>
        <p:blipFill rotWithShape="1">
          <a:blip r:embed="rId3">
            <a:alphaModFix/>
          </a:blip>
          <a:srcRect b="-516" l="57932" r="18415" t="73735"/>
          <a:stretch/>
        </p:blipFill>
        <p:spPr>
          <a:xfrm>
            <a:off x="6988283" y="4130973"/>
            <a:ext cx="1362218" cy="661367"/>
          </a:xfrm>
          <a:prstGeom prst="rect">
            <a:avLst/>
          </a:prstGeom>
          <a:noFill/>
          <a:ln>
            <a:noFill/>
          </a:ln>
        </p:spPr>
      </p:pic>
      <p:pic>
        <p:nvPicPr>
          <p:cNvPr id="1696" name="Google Shape;1696;p140"/>
          <p:cNvPicPr preferRelativeResize="0"/>
          <p:nvPr/>
        </p:nvPicPr>
        <p:blipFill>
          <a:blip r:embed="rId5">
            <a:alphaModFix/>
          </a:blip>
          <a:stretch>
            <a:fillRect/>
          </a:stretch>
        </p:blipFill>
        <p:spPr>
          <a:xfrm>
            <a:off x="6592308" y="41755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0" name="Shape 1700"/>
        <p:cNvGrpSpPr/>
        <p:nvPr/>
      </p:nvGrpSpPr>
      <p:grpSpPr>
        <a:xfrm>
          <a:off x="0" y="0"/>
          <a:ext cx="0" cy="0"/>
          <a:chOff x="0" y="0"/>
          <a:chExt cx="0" cy="0"/>
        </a:xfrm>
      </p:grpSpPr>
      <p:sp>
        <p:nvSpPr>
          <p:cNvPr id="1701" name="Google Shape;1701;p14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702" name="Google Shape;1702;p141"/>
          <p:cNvSpPr txBox="1"/>
          <p:nvPr/>
        </p:nvSpPr>
        <p:spPr>
          <a:xfrm>
            <a:off x="478050" y="9376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1703" name="Google Shape;1703;p141"/>
          <p:cNvSpPr txBox="1"/>
          <p:nvPr/>
        </p:nvSpPr>
        <p:spPr>
          <a:xfrm>
            <a:off x="309750" y="733800"/>
            <a:ext cx="80205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It is </a:t>
            </a:r>
            <a:r>
              <a:rPr lang="en-GB" sz="2200">
                <a:solidFill>
                  <a:schemeClr val="dk1"/>
                </a:solidFill>
                <a:latin typeface="Lexend"/>
                <a:ea typeface="Lexend"/>
                <a:cs typeface="Lexend"/>
                <a:sym typeface="Lexend"/>
              </a:rPr>
              <a:t>important</a:t>
            </a:r>
            <a:r>
              <a:rPr lang="en-GB" sz="2200">
                <a:solidFill>
                  <a:schemeClr val="dk1"/>
                </a:solidFill>
                <a:latin typeface="Lexend"/>
                <a:ea typeface="Lexend"/>
                <a:cs typeface="Lexend"/>
                <a:sym typeface="Lexend"/>
              </a:rPr>
              <a:t> to remember that the priority of operations still applies, even when we </a:t>
            </a:r>
            <a:r>
              <a:rPr b="1" lang="en-GB" sz="2200">
                <a:solidFill>
                  <a:schemeClr val="dk1"/>
                </a:solidFill>
                <a:latin typeface="Lexend"/>
                <a:ea typeface="Lexend"/>
                <a:cs typeface="Lexend"/>
                <a:sym typeface="Lexend"/>
              </a:rPr>
              <a:t>estimate</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grpSp>
        <p:nvGrpSpPr>
          <p:cNvPr id="1704" name="Google Shape;1704;p141"/>
          <p:cNvGrpSpPr/>
          <p:nvPr/>
        </p:nvGrpSpPr>
        <p:grpSpPr>
          <a:xfrm>
            <a:off x="449784" y="2186277"/>
            <a:ext cx="3131902" cy="2310490"/>
            <a:chOff x="700147" y="1855128"/>
            <a:chExt cx="3916346" cy="2889197"/>
          </a:xfrm>
        </p:grpSpPr>
        <p:grpSp>
          <p:nvGrpSpPr>
            <p:cNvPr id="1705" name="Google Shape;1705;p141"/>
            <p:cNvGrpSpPr/>
            <p:nvPr/>
          </p:nvGrpSpPr>
          <p:grpSpPr>
            <a:xfrm>
              <a:off x="700147" y="1855128"/>
              <a:ext cx="3916346" cy="2889197"/>
              <a:chOff x="2529025" y="1931250"/>
              <a:chExt cx="3584100" cy="2617500"/>
            </a:xfrm>
          </p:grpSpPr>
          <p:sp>
            <p:nvSpPr>
              <p:cNvPr id="1706" name="Google Shape;1706;p141"/>
              <p:cNvSpPr/>
              <p:nvPr/>
            </p:nvSpPr>
            <p:spPr>
              <a:xfrm>
                <a:off x="2529025" y="1931250"/>
                <a:ext cx="3584100" cy="2617500"/>
              </a:xfrm>
              <a:prstGeom prst="triangle">
                <a:avLst>
                  <a:gd fmla="val 50000" name="adj"/>
                </a:avLst>
              </a:prstGeom>
              <a:noFill/>
              <a:ln cap="flat" cmpd="sng" w="3810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07" name="Google Shape;1707;p141"/>
              <p:cNvCxnSpPr/>
              <p:nvPr/>
            </p:nvCxnSpPr>
            <p:spPr>
              <a:xfrm>
                <a:off x="3766742" y="2706800"/>
                <a:ext cx="1095900" cy="0"/>
              </a:xfrm>
              <a:prstGeom prst="straightConnector1">
                <a:avLst/>
              </a:prstGeom>
              <a:noFill/>
              <a:ln cap="flat" cmpd="sng" w="38100">
                <a:solidFill>
                  <a:srgbClr val="845AD9"/>
                </a:solidFill>
                <a:prstDash val="solid"/>
                <a:round/>
                <a:headEnd len="med" w="med" type="none"/>
                <a:tailEnd len="med" w="med" type="none"/>
              </a:ln>
            </p:spPr>
          </p:cxnSp>
          <p:cxnSp>
            <p:nvCxnSpPr>
              <p:cNvPr id="1708" name="Google Shape;1708;p141"/>
              <p:cNvCxnSpPr/>
              <p:nvPr/>
            </p:nvCxnSpPr>
            <p:spPr>
              <a:xfrm>
                <a:off x="3369600" y="3320300"/>
                <a:ext cx="1899300" cy="0"/>
              </a:xfrm>
              <a:prstGeom prst="straightConnector1">
                <a:avLst/>
              </a:prstGeom>
              <a:noFill/>
              <a:ln cap="flat" cmpd="sng" w="38100">
                <a:solidFill>
                  <a:srgbClr val="845AD9"/>
                </a:solidFill>
                <a:prstDash val="solid"/>
                <a:round/>
                <a:headEnd len="med" w="med" type="none"/>
                <a:tailEnd len="med" w="med" type="none"/>
              </a:ln>
            </p:spPr>
          </p:cxnSp>
          <p:cxnSp>
            <p:nvCxnSpPr>
              <p:cNvPr id="1709" name="Google Shape;1709;p141"/>
              <p:cNvCxnSpPr/>
              <p:nvPr/>
            </p:nvCxnSpPr>
            <p:spPr>
              <a:xfrm flipH="1" rot="10800000">
                <a:off x="2996850" y="3910986"/>
                <a:ext cx="2653800" cy="3900"/>
              </a:xfrm>
              <a:prstGeom prst="straightConnector1">
                <a:avLst/>
              </a:prstGeom>
              <a:noFill/>
              <a:ln cap="flat" cmpd="sng" w="38100">
                <a:solidFill>
                  <a:srgbClr val="845AD9"/>
                </a:solidFill>
                <a:prstDash val="solid"/>
                <a:round/>
                <a:headEnd len="med" w="med" type="none"/>
                <a:tailEnd len="med" w="med" type="none"/>
              </a:ln>
            </p:spPr>
          </p:cxnSp>
        </p:grpSp>
        <p:sp>
          <p:nvSpPr>
            <p:cNvPr id="1710" name="Google Shape;1710;p141"/>
            <p:cNvSpPr txBox="1"/>
            <p:nvPr/>
          </p:nvSpPr>
          <p:spPr>
            <a:xfrm>
              <a:off x="2223184" y="2145282"/>
              <a:ext cx="12471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 …. )</a:t>
              </a:r>
              <a:endParaRPr sz="2000">
                <a:latin typeface="Lexend"/>
                <a:ea typeface="Lexend"/>
                <a:cs typeface="Lexend"/>
                <a:sym typeface="Lexend"/>
              </a:endParaRPr>
            </a:p>
          </p:txBody>
        </p:sp>
        <p:grpSp>
          <p:nvGrpSpPr>
            <p:cNvPr id="1711" name="Google Shape;1711;p141"/>
            <p:cNvGrpSpPr/>
            <p:nvPr/>
          </p:nvGrpSpPr>
          <p:grpSpPr>
            <a:xfrm>
              <a:off x="2537340" y="2581822"/>
              <a:ext cx="844893" cy="669996"/>
              <a:chOff x="1411338" y="2440722"/>
              <a:chExt cx="844893" cy="669996"/>
            </a:xfrm>
          </p:grpSpPr>
          <p:sp>
            <p:nvSpPr>
              <p:cNvPr id="1712" name="Google Shape;1712;p141"/>
              <p:cNvSpPr txBox="1"/>
              <p:nvPr/>
            </p:nvSpPr>
            <p:spPr>
              <a:xfrm>
                <a:off x="1765730" y="2440722"/>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000">
                    <a:latin typeface="Lexend"/>
                    <a:ea typeface="Lexend"/>
                    <a:cs typeface="Lexend"/>
                    <a:sym typeface="Lexend"/>
                  </a:rPr>
                  <a:t>⬚</a:t>
                </a:r>
                <a:endParaRPr b="1" sz="2000">
                  <a:latin typeface="Lexend"/>
                  <a:ea typeface="Lexend"/>
                  <a:cs typeface="Lexend"/>
                  <a:sym typeface="Lexend"/>
                </a:endParaRPr>
              </a:p>
            </p:txBody>
          </p:sp>
          <p:sp>
            <p:nvSpPr>
              <p:cNvPr id="1713" name="Google Shape;1713;p141"/>
              <p:cNvSpPr txBox="1"/>
              <p:nvPr/>
            </p:nvSpPr>
            <p:spPr>
              <a:xfrm>
                <a:off x="1411338" y="2573718"/>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3100">
                    <a:latin typeface="Lexend"/>
                    <a:ea typeface="Lexend"/>
                    <a:cs typeface="Lexend"/>
                    <a:sym typeface="Lexend"/>
                  </a:rPr>
                  <a:t>⬚</a:t>
                </a:r>
                <a:endParaRPr b="1" sz="3100">
                  <a:latin typeface="Lexend"/>
                  <a:ea typeface="Lexend"/>
                  <a:cs typeface="Lexend"/>
                  <a:sym typeface="Lexend"/>
                </a:endParaRPr>
              </a:p>
            </p:txBody>
          </p:sp>
        </p:grpSp>
        <p:grpSp>
          <p:nvGrpSpPr>
            <p:cNvPr id="1714" name="Google Shape;1714;p141"/>
            <p:cNvGrpSpPr/>
            <p:nvPr/>
          </p:nvGrpSpPr>
          <p:grpSpPr>
            <a:xfrm>
              <a:off x="1905848" y="2700785"/>
              <a:ext cx="627511" cy="537000"/>
              <a:chOff x="3734648" y="2776985"/>
              <a:chExt cx="627511" cy="537000"/>
            </a:xfrm>
          </p:grpSpPr>
          <p:pic>
            <p:nvPicPr>
              <p:cNvPr descr="&lt;math xmlns=&quot;http://www.w3.org/1998/Math/MathML&quot; display=&quot;block&quot; data-is-equatio=&quot;1&quot; data-latex=&quot;\begin{array}{l}\sqrt[\ \ ]{\ \ \ }\\&amp;#13;&amp;#10;\end{array}&quot;&gt;&lt;mtable columnalign=&quot;left&quot; columnspacing=&quot;1em&quot; rowspacing=&quot;4pt&quot;&gt;&lt;mtr&gt;&lt;mtd&gt;&lt;mroot&gt;&lt;mrow&gt;&lt;mtext&gt;&lt;/mtext&gt;&lt;mtext&gt;&lt;/mtext&gt;&lt;mtext&gt;&lt;/mtext&gt;&lt;/mrow&gt;&lt;mrow&gt;&lt;mtext&gt;&lt;/mtext&gt;&lt;mtext&gt;&lt;/mtext&gt;&lt;/mrow&gt;&lt;/mroot&gt;&lt;/mtd&gt;&lt;/mtr&gt;&lt;/mtable&gt;&lt;/math&gt;" id="1715" name="Google Shape;1715;p141" title="1 lines Line 1: the root of"/>
              <p:cNvPicPr preferRelativeResize="0"/>
              <p:nvPr/>
            </p:nvPicPr>
            <p:blipFill>
              <a:blip r:embed="rId3">
                <a:alphaModFix/>
              </a:blip>
              <a:stretch>
                <a:fillRect/>
              </a:stretch>
            </p:blipFill>
            <p:spPr>
              <a:xfrm>
                <a:off x="3871597" y="2929810"/>
                <a:ext cx="490562" cy="384175"/>
              </a:xfrm>
              <a:prstGeom prst="rect">
                <a:avLst/>
              </a:prstGeom>
              <a:noFill/>
              <a:ln>
                <a:noFill/>
              </a:ln>
            </p:spPr>
          </p:pic>
          <p:sp>
            <p:nvSpPr>
              <p:cNvPr id="1716" name="Google Shape;1716;p141"/>
              <p:cNvSpPr txBox="1"/>
              <p:nvPr/>
            </p:nvSpPr>
            <p:spPr>
              <a:xfrm>
                <a:off x="3734648" y="2776985"/>
                <a:ext cx="490500" cy="5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Lexend"/>
                    <a:ea typeface="Lexend"/>
                    <a:cs typeface="Lexend"/>
                    <a:sym typeface="Lexend"/>
                  </a:rPr>
                  <a:t>⬚</a:t>
                </a:r>
                <a:endParaRPr sz="1700">
                  <a:latin typeface="Lexend"/>
                  <a:ea typeface="Lexend"/>
                  <a:cs typeface="Lexend"/>
                  <a:sym typeface="Lexend"/>
                </a:endParaRPr>
              </a:p>
            </p:txBody>
          </p:sp>
        </p:grpSp>
        <p:sp>
          <p:nvSpPr>
            <p:cNvPr id="1717" name="Google Shape;1717;p141"/>
            <p:cNvSpPr txBox="1"/>
            <p:nvPr/>
          </p:nvSpPr>
          <p:spPr>
            <a:xfrm>
              <a:off x="1862700" y="3156872"/>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sp>
          <p:nvSpPr>
            <p:cNvPr id="1718" name="Google Shape;1718;p141"/>
            <p:cNvSpPr txBox="1"/>
            <p:nvPr/>
          </p:nvSpPr>
          <p:spPr>
            <a:xfrm>
              <a:off x="1808950" y="3826756"/>
              <a:ext cx="2082900" cy="6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4700">
                  <a:latin typeface="Lexend"/>
                  <a:ea typeface="Lexend"/>
                  <a:cs typeface="Lexend"/>
                  <a:sym typeface="Lexend"/>
                </a:rPr>
                <a:t>+    −</a:t>
              </a:r>
              <a:endParaRPr sz="4700">
                <a:latin typeface="Lexend"/>
                <a:ea typeface="Lexend"/>
                <a:cs typeface="Lexend"/>
                <a:sym typeface="Lexend"/>
              </a:endParaRPr>
            </a:p>
          </p:txBody>
        </p:sp>
      </p:grpSp>
      <p:sp>
        <p:nvSpPr>
          <p:cNvPr id="1719" name="Google Shape;1719;p141"/>
          <p:cNvSpPr txBox="1"/>
          <p:nvPr/>
        </p:nvSpPr>
        <p:spPr>
          <a:xfrm>
            <a:off x="309750" y="1600163"/>
            <a:ext cx="3636000" cy="378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latin typeface="Lexend"/>
                <a:ea typeface="Lexend"/>
                <a:cs typeface="Lexend"/>
                <a:sym typeface="Lexend"/>
              </a:rPr>
              <a:t>For example, </a:t>
            </a:r>
            <a:r>
              <a:rPr b="1" lang="en-GB" sz="2200">
                <a:latin typeface="Lexend"/>
                <a:ea typeface="Lexend"/>
                <a:cs typeface="Lexend"/>
                <a:sym typeface="Lexend"/>
              </a:rPr>
              <a:t>estimate</a:t>
            </a:r>
            <a:endParaRPr b="1" sz="2200">
              <a:solidFill>
                <a:srgbClr val="000000"/>
              </a:solidFill>
              <a:latin typeface="Lexend"/>
              <a:ea typeface="Lexend"/>
              <a:cs typeface="Lexend"/>
              <a:sym typeface="Lexend"/>
            </a:endParaRPr>
          </a:p>
        </p:txBody>
      </p:sp>
      <p:sp>
        <p:nvSpPr>
          <p:cNvPr id="1720" name="Google Shape;1720;p141"/>
          <p:cNvSpPr/>
          <p:nvPr/>
        </p:nvSpPr>
        <p:spPr>
          <a:xfrm>
            <a:off x="6647400" y="1626625"/>
            <a:ext cx="2020200" cy="572400"/>
          </a:xfrm>
          <a:prstGeom prst="roundRect">
            <a:avLst>
              <a:gd fmla="val 16667" name="adj"/>
            </a:avLst>
          </a:prstGeom>
          <a:solidFill>
            <a:srgbClr val="F3EEFB"/>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Suitably round</a:t>
            </a:r>
            <a:endParaRPr sz="1800">
              <a:latin typeface="Lexend"/>
              <a:ea typeface="Lexend"/>
              <a:cs typeface="Lexend"/>
              <a:sym typeface="Lexend"/>
            </a:endParaRPr>
          </a:p>
        </p:txBody>
      </p:sp>
      <p:sp>
        <p:nvSpPr>
          <p:cNvPr id="1721" name="Google Shape;1721;p141"/>
          <p:cNvSpPr/>
          <p:nvPr/>
        </p:nvSpPr>
        <p:spPr>
          <a:xfrm>
            <a:off x="6647400" y="2398163"/>
            <a:ext cx="2020200" cy="572400"/>
          </a:xfrm>
          <a:prstGeom prst="roundRect">
            <a:avLst>
              <a:gd fmla="val 16667" name="adj"/>
            </a:avLst>
          </a:prstGeom>
          <a:solidFill>
            <a:srgbClr val="F3EEFB"/>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Implicit</a:t>
            </a:r>
            <a:r>
              <a:rPr lang="en-GB" sz="1800">
                <a:latin typeface="Lexend"/>
                <a:ea typeface="Lexend"/>
                <a:cs typeface="Lexend"/>
                <a:sym typeface="Lexend"/>
              </a:rPr>
              <a:t> brackets</a:t>
            </a:r>
            <a:endParaRPr sz="1800">
              <a:latin typeface="Lexend"/>
              <a:ea typeface="Lexend"/>
              <a:cs typeface="Lexend"/>
              <a:sym typeface="Lexend"/>
            </a:endParaRPr>
          </a:p>
        </p:txBody>
      </p:sp>
      <p:pic>
        <p:nvPicPr>
          <p:cNvPr descr="&lt;math xmlns=&quot;http://www.w3.org/1998/Math/MathML&quot; display=&quot;block&quot; data-is-equatio=&quot;1&quot; data-latex=&quot;\frac{39.7\ \times9.7}{0.779\ -\ 0.601}&quot;&gt;&lt;mfrac&gt;&lt;mrow&gt;&lt;mn&gt;39.7&lt;/mn&gt;&lt;mtext&gt;&lt;/mtext&gt;&lt;mo&gt;×&lt;/mo&gt;&lt;mn&gt;9.7&lt;/mn&gt;&lt;/mrow&gt;&lt;mrow&gt;&lt;mn&gt;0.779&lt;/mn&gt;&lt;mtext&gt;&lt;/mtext&gt;&lt;mo&gt;−&lt;/mo&gt;&lt;mtext&gt;&lt;/mtext&gt;&lt;mn&gt;0.601&lt;/mn&gt;&lt;/mrow&gt;&lt;/mfrac&gt;&lt;/math&gt;" id="1722" name="Google Shape;1722;p141" title="the fraction with numerator 39.7 times 9.7 and denominator 0.779 minus 0.601"/>
          <p:cNvPicPr preferRelativeResize="0"/>
          <p:nvPr/>
        </p:nvPicPr>
        <p:blipFill>
          <a:blip r:embed="rId4">
            <a:alphaModFix/>
          </a:blip>
          <a:stretch>
            <a:fillRect/>
          </a:stretch>
        </p:blipFill>
        <p:spPr>
          <a:xfrm>
            <a:off x="3048263" y="2067927"/>
            <a:ext cx="1717229" cy="572400"/>
          </a:xfrm>
          <a:prstGeom prst="rect">
            <a:avLst/>
          </a:prstGeom>
          <a:noFill/>
          <a:ln>
            <a:noFill/>
          </a:ln>
        </p:spPr>
      </p:pic>
      <p:pic>
        <p:nvPicPr>
          <p:cNvPr descr="&lt;math xmlns=&quot;http://www.w3.org/1998/Math/MathML&quot; display=&quot;block&quot; data-is-equatio=&quot;1&quot; data-latex=&quot;\frac{40\ \times10}{0.8\ -\ 0.6}&quot;&gt;&lt;mfrac&gt;&lt;mrow&gt;&lt;mn&gt;40&lt;/mn&gt;&lt;mtext&gt;&lt;/mtext&gt;&lt;mo&gt;×&lt;/mo&gt;&lt;mn&gt;10&lt;/mn&gt;&lt;/mrow&gt;&lt;mrow&gt;&lt;mn&gt;0.8&lt;/mn&gt;&lt;mtext&gt;&lt;/mtext&gt;&lt;mo&gt;−&lt;/mo&gt;&lt;mtext&gt;&lt;/mtext&gt;&lt;mn&gt;0.6&lt;/mn&gt;&lt;/mrow&gt;&lt;/mfrac&gt;&lt;/math&gt;" id="1723" name="Google Shape;1723;p141" title="the fraction with numerator 40 times 10 and denominator 0.8 minus 0.6"/>
          <p:cNvPicPr preferRelativeResize="0"/>
          <p:nvPr/>
        </p:nvPicPr>
        <p:blipFill>
          <a:blip r:embed="rId5">
            <a:alphaModFix/>
          </a:blip>
          <a:stretch>
            <a:fillRect/>
          </a:stretch>
        </p:blipFill>
        <p:spPr>
          <a:xfrm>
            <a:off x="5205375" y="2067925"/>
            <a:ext cx="1169334" cy="572400"/>
          </a:xfrm>
          <a:prstGeom prst="rect">
            <a:avLst/>
          </a:prstGeom>
          <a:noFill/>
          <a:ln>
            <a:noFill/>
          </a:ln>
        </p:spPr>
      </p:pic>
      <p:pic>
        <p:nvPicPr>
          <p:cNvPr descr="&lt;math xmlns=&quot;http://www.w3.org/1998/Math/MathML&quot; display=&quot;block&quot; data-is-equatio=&quot;1&quot; data-latex=&quot;\frac{400}{0.2}=400\ \div\frac{1}{5}=\ 400\ \times5\ =\ 2000&quot;&gt;&lt;mfrac&gt;&lt;mn&gt;400&lt;/mn&gt;&lt;mn&gt;0.2&lt;/mn&gt;&lt;/mfrac&gt;&lt;mo&gt;=&lt;/mo&gt;&lt;mn&gt;400&lt;/mn&gt;&lt;mtext&gt;&lt;/mtext&gt;&lt;mo&gt;÷&lt;/mo&gt;&lt;mfrac&gt;&lt;mn&gt;1&lt;/mn&gt;&lt;mn&gt;5&lt;/mn&gt;&lt;/mfrac&gt;&lt;mo&gt;=&lt;/mo&gt;&lt;mtext&gt;&lt;/mtext&gt;&lt;mn&gt;400&lt;/mn&gt;&lt;mtext&gt;&lt;/mtext&gt;&lt;mo&gt;×&lt;/mo&gt;&lt;mn&gt;5&lt;/mn&gt;&lt;mtext&gt;&lt;/mtext&gt;&lt;mo&gt;=&lt;/mo&gt;&lt;mtext&gt;&lt;/mtext&gt;&lt;mn&gt;2000&lt;/mn&gt;&lt;/math&gt;" id="1724" name="Google Shape;1724;p141" title="400 over 0.2 equals 400 division sign one fifth equals 400 times 5 equals 2000"/>
          <p:cNvPicPr preferRelativeResize="0"/>
          <p:nvPr/>
        </p:nvPicPr>
        <p:blipFill rotWithShape="1">
          <a:blip r:embed="rId6">
            <a:alphaModFix/>
          </a:blip>
          <a:srcRect b="0" l="18496" r="55293" t="0"/>
          <a:stretch/>
        </p:blipFill>
        <p:spPr>
          <a:xfrm>
            <a:off x="5205375" y="3703800"/>
            <a:ext cx="1169324" cy="613500"/>
          </a:xfrm>
          <a:prstGeom prst="rect">
            <a:avLst/>
          </a:prstGeom>
          <a:noFill/>
          <a:ln>
            <a:noFill/>
          </a:ln>
        </p:spPr>
      </p:pic>
      <p:sp>
        <p:nvSpPr>
          <p:cNvPr id="1725" name="Google Shape;1725;p141"/>
          <p:cNvSpPr/>
          <p:nvPr/>
        </p:nvSpPr>
        <p:spPr>
          <a:xfrm>
            <a:off x="6647400" y="3202512"/>
            <a:ext cx="2020200" cy="1087500"/>
          </a:xfrm>
          <a:prstGeom prst="roundRect">
            <a:avLst>
              <a:gd fmla="val 16667" name="adj"/>
            </a:avLst>
          </a:prstGeom>
          <a:solidFill>
            <a:srgbClr val="F3EEFB"/>
          </a:solidFill>
          <a:ln cap="flat" cmpd="sng" w="19050">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Division is the multiplication by the reciprocal.</a:t>
            </a:r>
            <a:endParaRPr sz="1800">
              <a:latin typeface="Lexend"/>
              <a:ea typeface="Lexend"/>
              <a:cs typeface="Lexend"/>
              <a:sym typeface="Lexend"/>
            </a:endParaRPr>
          </a:p>
        </p:txBody>
      </p:sp>
      <p:pic>
        <p:nvPicPr>
          <p:cNvPr descr="&lt;math xmlns=&quot;http://www.w3.org/1998/Math/MathML&quot; display=&quot;block&quot; data-is-equatio=&quot;1&quot; data-latex=&quot;\approx &quot;&gt;&lt;mo&gt;≈&lt;/mo&gt;&lt;/math&gt;" id="1726" name="Google Shape;1726;p141" title="almost equals"/>
          <p:cNvPicPr preferRelativeResize="0"/>
          <p:nvPr/>
        </p:nvPicPr>
        <p:blipFill>
          <a:blip r:embed="rId7">
            <a:alphaModFix/>
          </a:blip>
          <a:stretch>
            <a:fillRect/>
          </a:stretch>
        </p:blipFill>
        <p:spPr>
          <a:xfrm>
            <a:off x="4835250" y="2257800"/>
            <a:ext cx="261212" cy="207162"/>
          </a:xfrm>
          <a:prstGeom prst="rect">
            <a:avLst/>
          </a:prstGeom>
          <a:noFill/>
          <a:ln>
            <a:noFill/>
          </a:ln>
        </p:spPr>
      </p:pic>
      <p:pic>
        <p:nvPicPr>
          <p:cNvPr descr="&lt;math xmlns=&quot;http://www.w3.org/1998/Math/MathML&quot; display=&quot;block&quot; data-is-equatio=&quot;1&quot; data-latex=&quot;\frac{400}{0.2}=400\ \div\frac{1}{5}=\ 400\ \times5\ =\ 2000&quot;&gt;&lt;mfrac&gt;&lt;mn&gt;400&lt;/mn&gt;&lt;mn&gt;0.2&lt;/mn&gt;&lt;/mfrac&gt;&lt;mo&gt;=&lt;/mo&gt;&lt;mn&gt;400&lt;/mn&gt;&lt;mtext&gt;&lt;/mtext&gt;&lt;mo&gt;÷&lt;/mo&gt;&lt;mfrac&gt;&lt;mn&gt;1&lt;/mn&gt;&lt;mn&gt;5&lt;/mn&gt;&lt;/mfrac&gt;&lt;mo&gt;=&lt;/mo&gt;&lt;mtext&gt;&lt;/mtext&gt;&lt;mn&gt;400&lt;/mn&gt;&lt;mtext&gt;&lt;/mtext&gt;&lt;mo&gt;×&lt;/mo&gt;&lt;mn&gt;5&lt;/mn&gt;&lt;mtext&gt;&lt;/mtext&gt;&lt;mo&gt;=&lt;/mo&gt;&lt;mtext&gt;&lt;/mtext&gt;&lt;mn&gt;2000&lt;/mn&gt;&lt;/math&gt;" id="1727" name="Google Shape;1727;p141" title="400 over 0.2 equals 400 division sign one fifth equals 400 times 5 equals 2000"/>
          <p:cNvPicPr preferRelativeResize="0"/>
          <p:nvPr/>
        </p:nvPicPr>
        <p:blipFill rotWithShape="1">
          <a:blip r:embed="rId6">
            <a:alphaModFix/>
          </a:blip>
          <a:srcRect b="0" l="51528" r="-2395" t="0"/>
          <a:stretch/>
        </p:blipFill>
        <p:spPr>
          <a:xfrm>
            <a:off x="5194184" y="4342266"/>
            <a:ext cx="2269426" cy="613500"/>
          </a:xfrm>
          <a:prstGeom prst="rect">
            <a:avLst/>
          </a:prstGeom>
          <a:noFill/>
          <a:ln>
            <a:noFill/>
          </a:ln>
        </p:spPr>
      </p:pic>
      <p:grpSp>
        <p:nvGrpSpPr>
          <p:cNvPr id="1728" name="Google Shape;1728;p141"/>
          <p:cNvGrpSpPr/>
          <p:nvPr/>
        </p:nvGrpSpPr>
        <p:grpSpPr>
          <a:xfrm>
            <a:off x="4835250" y="2958575"/>
            <a:ext cx="847777" cy="613500"/>
            <a:chOff x="4835250" y="2958575"/>
            <a:chExt cx="847777" cy="613500"/>
          </a:xfrm>
        </p:grpSpPr>
        <p:pic>
          <p:nvPicPr>
            <p:cNvPr descr="&lt;math xmlns=&quot;http://www.w3.org/1998/Math/MathML&quot; display=&quot;block&quot; data-is-equatio=&quot;1&quot; data-latex=&quot;\frac{400}{0.2}&quot;&gt;&lt;mfrac&gt;&lt;mn&gt;400&lt;/mn&gt;&lt;mn&gt;0.2&lt;/mn&gt;&lt;/mfrac&gt;&lt;/math&gt;" id="1729" name="Google Shape;1729;p141" title="400 over 0.2"/>
            <p:cNvPicPr preferRelativeResize="0"/>
            <p:nvPr/>
          </p:nvPicPr>
          <p:blipFill>
            <a:blip r:embed="rId8">
              <a:alphaModFix/>
            </a:blip>
            <a:stretch>
              <a:fillRect/>
            </a:stretch>
          </p:blipFill>
          <p:spPr>
            <a:xfrm>
              <a:off x="5205375" y="2958575"/>
              <a:ext cx="477652" cy="613500"/>
            </a:xfrm>
            <a:prstGeom prst="rect">
              <a:avLst/>
            </a:prstGeom>
            <a:noFill/>
            <a:ln>
              <a:noFill/>
            </a:ln>
          </p:spPr>
        </p:pic>
        <p:pic>
          <p:nvPicPr>
            <p:cNvPr descr="&lt;math xmlns=&quot;http://www.w3.org/1998/Math/MathML&quot; display=&quot;block&quot; data-is-equatio=&quot;1&quot; data-latex=&quot;\approx &quot;&gt;&lt;mo&gt;≈&lt;/mo&gt;&lt;/math&gt;" id="1730" name="Google Shape;1730;p141" title="almost equals"/>
            <p:cNvPicPr preferRelativeResize="0"/>
            <p:nvPr/>
          </p:nvPicPr>
          <p:blipFill>
            <a:blip r:embed="rId7">
              <a:alphaModFix/>
            </a:blip>
            <a:stretch>
              <a:fillRect/>
            </a:stretch>
          </p:blipFill>
          <p:spPr>
            <a:xfrm>
              <a:off x="4835250" y="3031820"/>
              <a:ext cx="261212" cy="207162"/>
            </a:xfrm>
            <a:prstGeom prst="rect">
              <a:avLst/>
            </a:prstGeom>
            <a:noFill/>
            <a:ln>
              <a:noFill/>
            </a:ln>
          </p:spPr>
        </p:pic>
      </p:grpSp>
      <p:pic>
        <p:nvPicPr>
          <p:cNvPr descr="&lt;math xmlns=&quot;http://www.w3.org/1998/Math/MathML&quot; display=&quot;block&quot; data-is-equatio=&quot;1&quot; data-latex=&quot;\approx &quot;&gt;&lt;mo&gt;≈&lt;/mo&gt;&lt;/math&gt;" id="1731" name="Google Shape;1731;p141" title="almost equals"/>
          <p:cNvPicPr preferRelativeResize="0"/>
          <p:nvPr/>
        </p:nvPicPr>
        <p:blipFill>
          <a:blip r:embed="rId7">
            <a:alphaModFix/>
          </a:blip>
          <a:stretch>
            <a:fillRect/>
          </a:stretch>
        </p:blipFill>
        <p:spPr>
          <a:xfrm>
            <a:off x="4835250" y="3840877"/>
            <a:ext cx="261212" cy="207162"/>
          </a:xfrm>
          <a:prstGeom prst="rect">
            <a:avLst/>
          </a:prstGeom>
          <a:noFill/>
          <a:ln>
            <a:noFill/>
          </a:ln>
        </p:spPr>
      </p:pic>
      <p:pic>
        <p:nvPicPr>
          <p:cNvPr descr="&lt;math xmlns=&quot;http://www.w3.org/1998/Math/MathML&quot; display=&quot;block&quot; data-is-equatio=&quot;1&quot; data-latex=&quot;\approx &quot;&gt;&lt;mo&gt;≈&lt;/mo&gt;&lt;/math&gt;" id="1732" name="Google Shape;1732;p141" title="almost equals"/>
          <p:cNvPicPr preferRelativeResize="0"/>
          <p:nvPr/>
        </p:nvPicPr>
        <p:blipFill>
          <a:blip r:embed="rId7">
            <a:alphaModFix/>
          </a:blip>
          <a:stretch>
            <a:fillRect/>
          </a:stretch>
        </p:blipFill>
        <p:spPr>
          <a:xfrm>
            <a:off x="4835250" y="4500448"/>
            <a:ext cx="261212" cy="207162"/>
          </a:xfrm>
          <a:prstGeom prst="rect">
            <a:avLst/>
          </a:prstGeom>
          <a:noFill/>
          <a:ln>
            <a:noFill/>
          </a:ln>
        </p:spPr>
      </p:pic>
      <p:grpSp>
        <p:nvGrpSpPr>
          <p:cNvPr id="1733" name="Google Shape;1733;p141"/>
          <p:cNvGrpSpPr/>
          <p:nvPr/>
        </p:nvGrpSpPr>
        <p:grpSpPr>
          <a:xfrm>
            <a:off x="5017694" y="1891867"/>
            <a:ext cx="2055331" cy="759900"/>
            <a:chOff x="5017694" y="1891867"/>
            <a:chExt cx="2055331" cy="759900"/>
          </a:xfrm>
        </p:grpSpPr>
        <p:sp>
          <p:nvSpPr>
            <p:cNvPr id="1734" name="Google Shape;1734;p141"/>
            <p:cNvSpPr txBox="1"/>
            <p:nvPr/>
          </p:nvSpPr>
          <p:spPr>
            <a:xfrm>
              <a:off x="5052826" y="1891867"/>
              <a:ext cx="2020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accent4"/>
                  </a:solidFill>
                  <a:latin typeface="Lexend"/>
                  <a:ea typeface="Lexend"/>
                  <a:cs typeface="Lexend"/>
                  <a:sym typeface="Lexend"/>
                </a:rPr>
                <a:t>(             )</a:t>
              </a:r>
              <a:endParaRPr b="1" sz="2200">
                <a:solidFill>
                  <a:schemeClr val="accent4"/>
                </a:solidFill>
                <a:latin typeface="Lexend"/>
                <a:ea typeface="Lexend"/>
                <a:cs typeface="Lexend"/>
                <a:sym typeface="Lexend"/>
              </a:endParaRPr>
            </a:p>
          </p:txBody>
        </p:sp>
        <p:sp>
          <p:nvSpPr>
            <p:cNvPr id="1735" name="Google Shape;1735;p141"/>
            <p:cNvSpPr txBox="1"/>
            <p:nvPr/>
          </p:nvSpPr>
          <p:spPr>
            <a:xfrm>
              <a:off x="5017694" y="2272867"/>
              <a:ext cx="2020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chemeClr val="accent4"/>
                  </a:solidFill>
                  <a:latin typeface="Lexend"/>
                  <a:ea typeface="Lexend"/>
                  <a:cs typeface="Lexend"/>
                  <a:sym typeface="Lexend"/>
                </a:rPr>
                <a:t>(              )</a:t>
              </a:r>
              <a:endParaRPr b="1" sz="2200">
                <a:solidFill>
                  <a:schemeClr val="accent4"/>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42"/>
          <p:cNvSpPr/>
          <p:nvPr/>
        </p:nvSpPr>
        <p:spPr>
          <a:xfrm>
            <a:off x="2229875" y="152620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1" name="Google Shape;1741;p142"/>
          <p:cNvSpPr/>
          <p:nvPr/>
        </p:nvSpPr>
        <p:spPr>
          <a:xfrm>
            <a:off x="3356363" y="1526225"/>
            <a:ext cx="5898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2" name="Google Shape;1742;p142"/>
          <p:cNvSpPr/>
          <p:nvPr/>
        </p:nvSpPr>
        <p:spPr>
          <a:xfrm>
            <a:off x="4822200" y="150955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3" name="Google Shape;1743;p142"/>
          <p:cNvSpPr/>
          <p:nvPr/>
        </p:nvSpPr>
        <p:spPr>
          <a:xfrm>
            <a:off x="5914975" y="1526225"/>
            <a:ext cx="7029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4" name="Google Shape;1744;p142"/>
          <p:cNvSpPr/>
          <p:nvPr/>
        </p:nvSpPr>
        <p:spPr>
          <a:xfrm>
            <a:off x="6760575" y="1526213"/>
            <a:ext cx="7029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5" name="Google Shape;1745;p142"/>
          <p:cNvSpPr/>
          <p:nvPr/>
        </p:nvSpPr>
        <p:spPr>
          <a:xfrm>
            <a:off x="1057275" y="151200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6" name="Google Shape;1746;p142"/>
          <p:cNvSpPr txBox="1"/>
          <p:nvPr>
            <p:ph idx="1" type="body"/>
          </p:nvPr>
        </p:nvSpPr>
        <p:spPr>
          <a:xfrm>
            <a:off x="324000" y="683100"/>
            <a:ext cx="8237700" cy="4896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Fill in the gaps to make the approximations correct. You can only use each number once.</a:t>
            </a:r>
            <a:endParaRPr sz="2000"/>
          </a:p>
        </p:txBody>
      </p:sp>
      <p:sp>
        <p:nvSpPr>
          <p:cNvPr id="1747" name="Google Shape;1747;p14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48" name="Google Shape;1748;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a:blip r:embed="rId3">
            <a:alphaModFix/>
          </a:blip>
          <a:stretch>
            <a:fillRect/>
          </a:stretch>
        </p:blipFill>
        <p:spPr>
          <a:xfrm>
            <a:off x="1904850" y="2362125"/>
            <a:ext cx="5622000" cy="2354978"/>
          </a:xfrm>
          <a:prstGeom prst="rect">
            <a:avLst/>
          </a:prstGeom>
          <a:noFill/>
          <a:ln>
            <a:noFill/>
          </a:ln>
        </p:spPr>
      </p:pic>
      <p:sp>
        <p:nvSpPr>
          <p:cNvPr id="1749" name="Google Shape;1749;p142"/>
          <p:cNvSpPr txBox="1"/>
          <p:nvPr/>
        </p:nvSpPr>
        <p:spPr>
          <a:xfrm>
            <a:off x="1250400" y="2236200"/>
            <a:ext cx="510000" cy="25551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1750" name="Google Shape;1750;p142"/>
          <p:cNvSpPr/>
          <p:nvPr/>
        </p:nvSpPr>
        <p:spPr>
          <a:xfrm>
            <a:off x="4824000" y="2236200"/>
            <a:ext cx="5100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1" name="Google Shape;1751;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83745" l="51344" r="39583" t="0"/>
          <a:stretch/>
        </p:blipFill>
        <p:spPr>
          <a:xfrm>
            <a:off x="6855362" y="1595063"/>
            <a:ext cx="509999" cy="3828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2" name="Google Shape;1752;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83745" l="69200" r="12265" t="0"/>
          <a:stretch/>
        </p:blipFill>
        <p:spPr>
          <a:xfrm>
            <a:off x="4810582" y="1595063"/>
            <a:ext cx="1041999" cy="3828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3" name="Google Shape;1753;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65942" r="18678" t="55365"/>
          <a:stretch/>
        </p:blipFill>
        <p:spPr>
          <a:xfrm>
            <a:off x="2363101" y="1583990"/>
            <a:ext cx="864651" cy="382775"/>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4" name="Google Shape;1754;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3318" l="67434" r="17186" t="82528"/>
          <a:stretch/>
        </p:blipFill>
        <p:spPr>
          <a:xfrm>
            <a:off x="1122242" y="1546507"/>
            <a:ext cx="864651" cy="4896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5" name="Google Shape;1755;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3318" l="90086" r="-5465" t="82528"/>
          <a:stretch/>
        </p:blipFill>
        <p:spPr>
          <a:xfrm>
            <a:off x="5950438" y="1541650"/>
            <a:ext cx="864651" cy="4896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56" name="Google Shape;1756;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88775" r="2153" t="55365"/>
          <a:stretch/>
        </p:blipFill>
        <p:spPr>
          <a:xfrm>
            <a:off x="3356360" y="1572905"/>
            <a:ext cx="509999" cy="382775"/>
          </a:xfrm>
          <a:prstGeom prst="rect">
            <a:avLst/>
          </a:prstGeom>
          <a:noFill/>
          <a:ln>
            <a:noFill/>
          </a:ln>
        </p:spPr>
      </p:pic>
      <p:sp>
        <p:nvSpPr>
          <p:cNvPr id="1757" name="Google Shape;1757;p142"/>
          <p:cNvSpPr/>
          <p:nvPr/>
        </p:nvSpPr>
        <p:spPr>
          <a:xfrm>
            <a:off x="4924175" y="2962850"/>
            <a:ext cx="5100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8" name="Google Shape;1758;p142"/>
          <p:cNvSpPr/>
          <p:nvPr/>
        </p:nvSpPr>
        <p:spPr>
          <a:xfrm>
            <a:off x="5950475" y="2960700"/>
            <a:ext cx="8646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9" name="Google Shape;1759;p142"/>
          <p:cNvSpPr/>
          <p:nvPr/>
        </p:nvSpPr>
        <p:spPr>
          <a:xfrm>
            <a:off x="5537525" y="3600850"/>
            <a:ext cx="8646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0" name="Google Shape;1760;p142"/>
          <p:cNvSpPr/>
          <p:nvPr/>
        </p:nvSpPr>
        <p:spPr>
          <a:xfrm>
            <a:off x="7065375" y="4261800"/>
            <a:ext cx="5898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1" name="Google Shape;1761;p142"/>
          <p:cNvSpPr/>
          <p:nvPr/>
        </p:nvSpPr>
        <p:spPr>
          <a:xfrm>
            <a:off x="6982850" y="3600850"/>
            <a:ext cx="5898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2" name="Google Shape;1762;p142"/>
          <p:cNvSpPr/>
          <p:nvPr/>
        </p:nvSpPr>
        <p:spPr>
          <a:xfrm>
            <a:off x="4085547" y="1526225"/>
            <a:ext cx="5898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763" name="Google Shape;1763;p142"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88775" r="2153" t="55365"/>
          <a:stretch/>
        </p:blipFill>
        <p:spPr>
          <a:xfrm>
            <a:off x="4085544" y="1572905"/>
            <a:ext cx="509999" cy="382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143"/>
          <p:cNvSpPr txBox="1"/>
          <p:nvPr>
            <p:ph idx="1" type="body"/>
          </p:nvPr>
        </p:nvSpPr>
        <p:spPr>
          <a:xfrm>
            <a:off x="324000" y="759300"/>
            <a:ext cx="83667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a:t>
            </a:r>
            <a:r>
              <a:rPr lang="en-GB" sz="2000"/>
              <a:t>) </a:t>
            </a:r>
            <a:r>
              <a:rPr lang="en-GB" sz="2000"/>
              <a:t>T</a:t>
            </a:r>
            <a:r>
              <a:rPr lang="en-GB" sz="2000"/>
              <a:t>o </a:t>
            </a:r>
            <a:r>
              <a:rPr b="1" lang="en-GB" sz="2000"/>
              <a:t>estimate</a:t>
            </a:r>
            <a:r>
              <a:rPr lang="en-GB" sz="2000"/>
              <a:t> this, </a:t>
            </a:r>
            <a:endParaRPr sz="20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2000"/>
              <a:t>a) </a:t>
            </a:r>
            <a:r>
              <a:rPr lang="en-GB" sz="2000"/>
              <a:t>Which of these calculations would you use? Explain your choice.</a:t>
            </a:r>
            <a:endParaRPr sz="2000"/>
          </a:p>
          <a:p>
            <a:pPr indent="0" lvl="0" marL="457200" rtl="0" algn="l">
              <a:spcBef>
                <a:spcPts val="1000"/>
              </a:spcBef>
              <a:spcAft>
                <a:spcPts val="0"/>
              </a:spcAft>
              <a:buNone/>
            </a:pPr>
            <a:r>
              <a:t/>
            </a:r>
            <a:endParaRPr sz="1800"/>
          </a:p>
          <a:p>
            <a:pPr indent="0" lvl="0" marL="0" rtl="0" algn="l">
              <a:spcBef>
                <a:spcPts val="1000"/>
              </a:spcBef>
              <a:spcAft>
                <a:spcPts val="0"/>
              </a:spcAft>
              <a:buNone/>
            </a:pPr>
            <a:br>
              <a:rPr lang="en-GB" sz="1800"/>
            </a:br>
            <a:endParaRPr sz="1800"/>
          </a:p>
          <a:p>
            <a:pPr indent="0" lvl="0" marL="0" rtl="0" algn="l">
              <a:spcBef>
                <a:spcPts val="1000"/>
              </a:spcBef>
              <a:spcAft>
                <a:spcPts val="0"/>
              </a:spcAft>
              <a:buNone/>
            </a:pPr>
            <a:r>
              <a:rPr lang="en-GB" sz="2000"/>
              <a:t>b) Which of these gives the closest </a:t>
            </a:r>
            <a:r>
              <a:rPr b="1" lang="en-GB" sz="2000"/>
              <a:t>estimate</a:t>
            </a:r>
            <a:r>
              <a:rPr lang="en-GB" sz="2000"/>
              <a:t>? </a:t>
            </a:r>
            <a:endParaRPr sz="2000"/>
          </a:p>
          <a:p>
            <a:pPr indent="0" lvl="0" marL="457200" rtl="0" algn="l">
              <a:spcBef>
                <a:spcPts val="1000"/>
              </a:spcBef>
              <a:spcAft>
                <a:spcPts val="0"/>
              </a:spcAft>
              <a:buNone/>
            </a:pPr>
            <a:r>
              <a:t/>
            </a:r>
            <a:endParaRPr sz="1800"/>
          </a:p>
          <a:p>
            <a:pPr indent="0" lvl="0" marL="0" rtl="0" algn="l">
              <a:spcBef>
                <a:spcPts val="1000"/>
              </a:spcBef>
              <a:spcAft>
                <a:spcPts val="0"/>
              </a:spcAft>
              <a:buNone/>
            </a:pPr>
            <a:r>
              <a:rPr lang="en-GB" sz="2000"/>
              <a:t>c) Which gives the </a:t>
            </a:r>
            <a:r>
              <a:rPr b="1" lang="en-GB" sz="2000"/>
              <a:t>estimate</a:t>
            </a:r>
            <a:r>
              <a:rPr lang="en-GB" sz="2000"/>
              <a:t> that is furthest away?</a:t>
            </a:r>
            <a:endParaRPr sz="2000"/>
          </a:p>
          <a:p>
            <a:pPr indent="0" lvl="0" marL="0" rtl="0" algn="l">
              <a:spcBef>
                <a:spcPts val="1000"/>
              </a:spcBef>
              <a:spcAft>
                <a:spcPts val="1000"/>
              </a:spcAft>
              <a:buNone/>
            </a:pPr>
            <a:r>
              <a:t/>
            </a:r>
            <a:endParaRPr sz="1800"/>
          </a:p>
        </p:txBody>
      </p:sp>
      <p:sp>
        <p:nvSpPr>
          <p:cNvPr id="1769" name="Google Shape;1769;p14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770" name="Google Shape;1770;p143" title="4 lines Line 1: 20 times 350 Line 2: 20 times 300 Line 3: 19 times 350 Line 4: 19 times 300"/>
          <p:cNvPicPr preferRelativeResize="0"/>
          <p:nvPr/>
        </p:nvPicPr>
        <p:blipFill rotWithShape="1">
          <a:blip r:embed="rId3">
            <a:alphaModFix/>
          </a:blip>
          <a:srcRect b="82092" l="0" r="0" t="0"/>
          <a:stretch/>
        </p:blipFill>
        <p:spPr>
          <a:xfrm>
            <a:off x="569500" y="2279190"/>
            <a:ext cx="1755750" cy="382800"/>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771" name="Google Shape;1771;p143" title="4 lines Line 1: 20 times 350 Line 2: 20 times 300 Line 3: 19 times 350 Line 4: 19 times 300"/>
          <p:cNvPicPr preferRelativeResize="0"/>
          <p:nvPr/>
        </p:nvPicPr>
        <p:blipFill rotWithShape="1">
          <a:blip r:embed="rId3">
            <a:alphaModFix/>
          </a:blip>
          <a:srcRect b="49495" l="0" r="0" t="21253"/>
          <a:stretch/>
        </p:blipFill>
        <p:spPr>
          <a:xfrm>
            <a:off x="2700092" y="2148866"/>
            <a:ext cx="1755750" cy="625300"/>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772" name="Google Shape;1772;p143" title="4 lines Line 1: 20 times 350 Line 2: 20 times 300 Line 3: 19 times 350 Line 4: 19 times 300"/>
          <p:cNvPicPr preferRelativeResize="0"/>
          <p:nvPr/>
        </p:nvPicPr>
        <p:blipFill rotWithShape="1">
          <a:blip r:embed="rId3">
            <a:alphaModFix/>
          </a:blip>
          <a:srcRect b="20583" l="0" r="0" t="48082"/>
          <a:stretch/>
        </p:blipFill>
        <p:spPr>
          <a:xfrm>
            <a:off x="4812541" y="2106069"/>
            <a:ext cx="1755750" cy="669850"/>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773" name="Google Shape;1773;p143" title="4 lines Line 1: 20 times 350 Line 2: 20 times 300 Line 3: 19 times 350 Line 4: 19 times 300"/>
          <p:cNvPicPr preferRelativeResize="0"/>
          <p:nvPr/>
        </p:nvPicPr>
        <p:blipFill rotWithShape="1">
          <a:blip r:embed="rId3">
            <a:alphaModFix/>
          </a:blip>
          <a:srcRect b="0" l="0" r="0" t="77096"/>
          <a:stretch/>
        </p:blipFill>
        <p:spPr>
          <a:xfrm>
            <a:off x="6935050" y="2111184"/>
            <a:ext cx="1755750" cy="489600"/>
          </a:xfrm>
          <a:prstGeom prst="rect">
            <a:avLst/>
          </a:prstGeom>
          <a:noFill/>
          <a:ln>
            <a:noFill/>
          </a:ln>
        </p:spPr>
      </p:pic>
      <p:sp>
        <p:nvSpPr>
          <p:cNvPr id="1774" name="Google Shape;1774;p143"/>
          <p:cNvSpPr/>
          <p:nvPr/>
        </p:nvSpPr>
        <p:spPr>
          <a:xfrm>
            <a:off x="423099" y="2117325"/>
            <a:ext cx="2037300" cy="62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5" name="Google Shape;1775;p143"/>
          <p:cNvSpPr/>
          <p:nvPr/>
        </p:nvSpPr>
        <p:spPr>
          <a:xfrm>
            <a:off x="2523299" y="2117325"/>
            <a:ext cx="2037300" cy="62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6" name="Google Shape;1776;p143"/>
          <p:cNvSpPr/>
          <p:nvPr/>
        </p:nvSpPr>
        <p:spPr>
          <a:xfrm>
            <a:off x="4614099" y="2117325"/>
            <a:ext cx="2037300" cy="62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7" name="Google Shape;1777;p143"/>
          <p:cNvSpPr/>
          <p:nvPr/>
        </p:nvSpPr>
        <p:spPr>
          <a:xfrm>
            <a:off x="6747699" y="2117325"/>
            <a:ext cx="2037300" cy="6252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19.173\ \times\ 338&quot;&gt;&lt;mn&gt;19.173&lt;/mn&gt;&lt;mtext&gt;&lt;/mtext&gt;&lt;mo&gt;×&lt;/mo&gt;&lt;mtext&gt;&lt;/mtext&gt;&lt;mn&gt;338&lt;/mn&gt;&lt;/math&gt;" id="1778" name="Google Shape;1778;p143" title="19.173 times 338"/>
          <p:cNvPicPr preferRelativeResize="0"/>
          <p:nvPr/>
        </p:nvPicPr>
        <p:blipFill>
          <a:blip r:embed="rId4">
            <a:alphaModFix/>
          </a:blip>
          <a:stretch>
            <a:fillRect/>
          </a:stretch>
        </p:blipFill>
        <p:spPr>
          <a:xfrm>
            <a:off x="2779575" y="1154725"/>
            <a:ext cx="2933700" cy="371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144"/>
          <p:cNvSpPr txBox="1"/>
          <p:nvPr>
            <p:ph idx="1" type="body"/>
          </p:nvPr>
        </p:nvSpPr>
        <p:spPr>
          <a:xfrm>
            <a:off x="324000" y="759300"/>
            <a:ext cx="8337300" cy="48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a:t>
            </a:r>
            <a:r>
              <a:rPr b="1" lang="en-GB" sz="2000"/>
              <a:t>Estimate</a:t>
            </a:r>
            <a:r>
              <a:rPr lang="en-GB" sz="2000"/>
              <a:t> the following, making sure to show your working out.</a:t>
            </a:r>
            <a:endParaRPr sz="2000"/>
          </a:p>
        </p:txBody>
      </p:sp>
      <p:sp>
        <p:nvSpPr>
          <p:cNvPr id="1784" name="Google Shape;1784;p14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frac{5742\ \times\ 34.7}{875.42}\ \approx\ \frac{6000\ \times30}{900}\\&amp;#13;&amp;#10;\ \ \ \ \ \ \ \ \ \ \ \ \ \ \ \ \ \ \ \ \ \ \approx\frac{18\ 000}{900}\\&amp;#13;&amp;#10;\ \ \ \ \ \ \ \ \ \ \ \ \ \ \ \ \ \ \ \ \ \ \approx\ 20\end{array}&quot;&gt;&lt;mtable columnalign=&quot;left&quot; columnspacing=&quot;1em&quot; rowspacing=&quot;4pt&quot;&gt;&lt;mtr&gt;&lt;mtd&gt;&lt;mfrac&gt;&lt;mrow&gt;&lt;mn&gt;5742&lt;/mn&gt;&lt;mtext&gt;&lt;/mtext&gt;&lt;mo&gt;×&lt;/mo&gt;&lt;mtext&gt;&lt;/mtext&gt;&lt;mn&gt;34.7&lt;/mn&gt;&lt;/mrow&gt;&lt;mn&gt;875.42&lt;/mn&gt;&lt;/mfrac&gt;&lt;mtext&gt;&lt;/mtext&gt;&lt;mo&gt;≈&lt;/mo&gt;&lt;mtext&gt;&lt;/mtext&gt;&lt;mfrac&gt;&lt;mrow&gt;&lt;mn&gt;6000&lt;/mn&gt;&lt;mtext&gt;&lt;/mtext&gt;&lt;mo&gt;×&lt;/mo&gt;&lt;mn&gt;3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frac&gt;&lt;mrow&gt;&lt;mn&gt;18&lt;/mn&gt;&lt;mtext&gt;&lt;/mtext&gt;&lt;mn&gt;00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text&gt;&lt;/mtext&gt;&lt;mn&gt;20&lt;/mn&gt;&lt;/mtd&gt;&lt;/mtr&gt;&lt;/mtable&gt;&lt;/math&gt;" id="1785" name="Google Shape;1785;p144" title="3 lines Line 1: the fraction with numerator 5742 times 34.7 and denominator 875.42 almost equals the fraction with numerator 6000 times 30 and denominator 900 Line 2: almost equals the fraction with numerator 18 000 and denominator 900 Line 3: almost equals 20"/>
          <p:cNvPicPr preferRelativeResize="0"/>
          <p:nvPr/>
        </p:nvPicPr>
        <p:blipFill rotWithShape="1">
          <a:blip r:embed="rId3">
            <a:alphaModFix/>
          </a:blip>
          <a:srcRect b="55634" l="0" r="53684" t="0"/>
          <a:stretch/>
        </p:blipFill>
        <p:spPr>
          <a:xfrm>
            <a:off x="764550" y="1402250"/>
            <a:ext cx="1507900" cy="713375"/>
          </a:xfrm>
          <a:prstGeom prst="rect">
            <a:avLst/>
          </a:prstGeom>
          <a:noFill/>
          <a:ln>
            <a:noFill/>
          </a:ln>
        </p:spPr>
      </p:pic>
      <p:pic>
        <p:nvPicPr>
          <p:cNvPr descr="&lt;math xmlns=&quot;http://www.w3.org/1998/Math/MathML&quot; display=&quot;block&quot; data-is-equatio=&quot;1&quot; data-latex=&quot;\begin{array}{l}\left(61.35\ -\ 84.2\right)^2\ \approx\ \left(60\ -\ 80\right)^2\\&amp;#13;&amp;#10;\approx\ 20^2\\&amp;#13;&amp;#10;\approx\ 400\end{array}&quot;&gt;&lt;mtable columnalign=&quot;left&quot; columnspacing=&quot;1em&quot; rowspacing=&quot;4pt&quot;&gt;&lt;mtr&gt;&lt;mtd&gt;&lt;msup&gt;&lt;mrow data-mjx-texclass=&quot;INNER&quot;&gt;&lt;mo data-mjx-texclass=&quot;OPEN&quot;&gt;(&lt;/mo&gt;&lt;mn&gt;61.35&lt;/mn&gt;&lt;mtext&gt;&lt;/mtext&gt;&lt;mo&gt;−&lt;/mo&gt;&lt;mtext&gt;&lt;/mtext&gt;&lt;mn&gt;84.2&lt;/mn&gt;&lt;mo data-mjx-texclass=&quot;CLOSE&quot;&gt;)&lt;/mo&gt;&lt;/mrow&gt;&lt;mn&gt;2&lt;/mn&gt;&lt;/msup&gt;&lt;mtext&gt;&lt;/mtext&gt;&lt;mo&gt;≈&lt;/mo&gt;&lt;mtext&gt;&lt;/mtext&gt;&lt;msup&gt;&lt;mrow data-mjx-texclass=&quot;INNER&quot;&gt;&lt;mo data-mjx-texclass=&quot;OPEN&quot;&gt;(&lt;/mo&gt;&lt;mn&gt;60&lt;/mn&gt;&lt;mtext&gt;&lt;/mtext&gt;&lt;mo&gt;−&lt;/mo&gt;&lt;mtext&gt;&lt;/mtext&gt;&lt;mn&gt;80&lt;/mn&gt;&lt;mo data-mjx-texclass=&quot;CLOSE&quot;&gt;)&lt;/mo&gt;&lt;/mrow&gt;&lt;mn&gt;2&lt;/mn&gt;&lt;/msup&gt;&lt;/mtd&gt;&lt;/mtr&gt;&lt;mtr&gt;&lt;mtd&gt;&lt;mo&gt;≈&lt;/mo&gt;&lt;mtext&gt;&lt;/mtext&gt;&lt;msup&gt;&lt;mn&gt;20&lt;/mn&gt;&lt;mn&gt;2&lt;/mn&gt;&lt;/msup&gt;&lt;/mtd&gt;&lt;/mtr&gt;&lt;mtr&gt;&lt;mtd&gt;&lt;mo&gt;≈&lt;/mo&gt;&lt;mtext&gt;&lt;/mtext&gt;&lt;mn&gt;400&lt;/mn&gt;&lt;/mtd&gt;&lt;/mtr&gt;&lt;/mtable&gt;&lt;/math&gt;" id="1786" name="Google Shape;1786;p144" title="3 lines Line 1: open paren 61.35 minus 84.2 close paren squared almost equals open paren 60 minus 80 close paren squared Line 2: almost equals 20 squared Line 3: almost equals 400"/>
          <p:cNvPicPr preferRelativeResize="0"/>
          <p:nvPr/>
        </p:nvPicPr>
        <p:blipFill rotWithShape="1">
          <a:blip r:embed="rId4">
            <a:alphaModFix/>
          </a:blip>
          <a:srcRect b="65862" l="0" r="48038" t="0"/>
          <a:stretch/>
        </p:blipFill>
        <p:spPr>
          <a:xfrm>
            <a:off x="4866075" y="1402251"/>
            <a:ext cx="2006699" cy="382800"/>
          </a:xfrm>
          <a:prstGeom prst="rect">
            <a:avLst/>
          </a:prstGeom>
          <a:noFill/>
          <a:ln>
            <a:noFill/>
          </a:ln>
        </p:spPr>
      </p:pic>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787" name="Google Shape;1787;p144"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5">
            <a:alphaModFix/>
          </a:blip>
          <a:srcRect b="77263" l="0" r="50631" t="0"/>
          <a:stretch/>
        </p:blipFill>
        <p:spPr>
          <a:xfrm>
            <a:off x="798625" y="3368225"/>
            <a:ext cx="1573600" cy="713375"/>
          </a:xfrm>
          <a:prstGeom prst="rect">
            <a:avLst/>
          </a:prstGeom>
          <a:noFill/>
          <a:ln>
            <a:noFill/>
          </a:ln>
        </p:spPr>
      </p:pic>
      <p:sp>
        <p:nvSpPr>
          <p:cNvPr id="1788" name="Google Shape;1788;p144"/>
          <p:cNvSpPr txBox="1"/>
          <p:nvPr/>
        </p:nvSpPr>
        <p:spPr>
          <a:xfrm>
            <a:off x="324000"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789" name="Google Shape;1789;p144"/>
          <p:cNvSpPr txBox="1"/>
          <p:nvPr/>
        </p:nvSpPr>
        <p:spPr>
          <a:xfrm>
            <a:off x="4356075"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b</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790" name="Google Shape;1790;p144"/>
          <p:cNvSpPr txBox="1"/>
          <p:nvPr/>
        </p:nvSpPr>
        <p:spPr>
          <a:xfrm>
            <a:off x="324000" y="3368225"/>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791" name="Google Shape;1791;p144"/>
          <p:cNvSpPr txBox="1"/>
          <p:nvPr/>
        </p:nvSpPr>
        <p:spPr>
          <a:xfrm>
            <a:off x="4356075" y="3368225"/>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d</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frac{9.6\ +\ 16.51}{19.3+9.51^2}\end{array}&quot;&gt;&lt;mtable columnalign=&quot;left&quot; columnspacing=&quot;1em&quot; rowspacing=&quot;4pt&quot;&gt;&lt;mtr&gt;&lt;mtd&gt;&lt;mfrac&gt;&lt;mrow&gt;&lt;mn&gt;9.6&lt;/mn&gt;&lt;mtext&gt;&lt;/mtext&gt;&lt;mo&gt;+&lt;/mo&gt;&lt;mtext&gt;&lt;/mtext&gt;&lt;mn&gt;16.51&lt;/mn&gt;&lt;/mrow&gt;&lt;mrow&gt;&lt;mn&gt;19.3&lt;/mn&gt;&lt;mo&gt;+&lt;/mo&gt;&lt;msup&gt;&lt;mn&gt;9.51&lt;/mn&gt;&lt;mn&gt;2&lt;/mn&gt;&lt;/msup&gt;&lt;/mrow&gt;&lt;/mfrac&gt;&lt;/mtd&gt;&lt;/mtr&gt;&lt;/mtable&gt;&lt;/math&gt;" id="1792" name="Google Shape;1792;p144" title="1 lines Line 1: the fraction with numerator 9.6 plus 16.51 and denominator 19.3 plus 9.51 squared"/>
          <p:cNvPicPr preferRelativeResize="0"/>
          <p:nvPr/>
        </p:nvPicPr>
        <p:blipFill>
          <a:blip r:embed="rId6">
            <a:alphaModFix/>
          </a:blip>
          <a:stretch>
            <a:fillRect/>
          </a:stretch>
        </p:blipFill>
        <p:spPr>
          <a:xfrm>
            <a:off x="4824000" y="3368213"/>
            <a:ext cx="1585278" cy="713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145"/>
          <p:cNvSpPr txBox="1"/>
          <p:nvPr>
            <p:ph idx="1" type="body"/>
          </p:nvPr>
        </p:nvSpPr>
        <p:spPr>
          <a:xfrm>
            <a:off x="324000" y="759300"/>
            <a:ext cx="8388900" cy="48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a:t>
            </a:r>
            <a:r>
              <a:rPr b="1" lang="en-GB" sz="2000"/>
              <a:t>Estimate</a:t>
            </a:r>
            <a:r>
              <a:rPr lang="en-GB" sz="2000"/>
              <a:t> the following, making sure to show your working out.</a:t>
            </a:r>
            <a:endParaRPr sz="2000"/>
          </a:p>
        </p:txBody>
      </p:sp>
      <p:sp>
        <p:nvSpPr>
          <p:cNvPr id="1798" name="Google Shape;1798;p14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799" name="Google Shape;1799;p145"/>
          <p:cNvSpPr txBox="1"/>
          <p:nvPr/>
        </p:nvSpPr>
        <p:spPr>
          <a:xfrm>
            <a:off x="324000"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e</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800" name="Google Shape;1800;p145"/>
          <p:cNvSpPr txBox="1"/>
          <p:nvPr/>
        </p:nvSpPr>
        <p:spPr>
          <a:xfrm>
            <a:off x="4432275"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f</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34^2-\sqrt{139.82}\approx30^2-\sqrt{144}\approx900\ -\ 12\ \approx888&quot;&gt;&lt;msup&gt;&lt;mn&gt;34&lt;/mn&gt;&lt;mn&gt;2&lt;/mn&gt;&lt;/msup&gt;&lt;mo&gt;−&lt;/mo&gt;&lt;msqrt&gt;&lt;mn&gt;139.82&lt;/mn&gt;&lt;/msqrt&gt;&lt;mo&gt;≈&lt;/mo&gt;&lt;msup&gt;&lt;mn&gt;30&lt;/mn&gt;&lt;mn&gt;2&lt;/mn&gt;&lt;/msup&gt;&lt;mo&gt;−&lt;/mo&gt;&lt;msqrt&gt;&lt;mn&gt;144&lt;/mn&gt;&lt;/msqrt&gt;&lt;mo&gt;≈&lt;/mo&gt;&lt;mn&gt;900&lt;/mn&gt;&lt;mtext&gt;&lt;/mtext&gt;&lt;mo&gt;−&lt;/mo&gt;&lt;mtext&gt;&lt;/mtext&gt;&lt;mn&gt;12&lt;/mn&gt;&lt;mtext&gt;&lt;/mtext&gt;&lt;mo&gt;≈&lt;/mo&gt;&lt;mn&gt;888&lt;/mn&gt;&lt;/math&gt;" id="1801" name="Google Shape;1801;p145" title="34 squared minus the square root of 139.82 almost equals 30 squared minus the square root of 144 almost equals 900 minus 12 almost equals 888"/>
          <p:cNvPicPr preferRelativeResize="0"/>
          <p:nvPr/>
        </p:nvPicPr>
        <p:blipFill rotWithShape="1">
          <a:blip r:embed="rId3">
            <a:alphaModFix/>
          </a:blip>
          <a:srcRect b="0" l="0" r="68900" t="0"/>
          <a:stretch/>
        </p:blipFill>
        <p:spPr>
          <a:xfrm>
            <a:off x="4789867" y="1428600"/>
            <a:ext cx="1952750" cy="382800"/>
          </a:xfrm>
          <a:prstGeom prst="rect">
            <a:avLst/>
          </a:prstGeom>
          <a:noFill/>
          <a:ln>
            <a:noFill/>
          </a:ln>
        </p:spPr>
      </p:pic>
      <p:pic>
        <p:nvPicPr>
          <p:cNvPr descr="&lt;math xmlns=&quot;http://www.w3.org/1998/Math/MathML&quot; display=&quot;block&quot; data-is-equatio=&quot;1&quot; data-latex=&quot;\frac{11.049-4.21}{0.82\ -\ 0.301}&quot;&gt;&lt;mfrac&gt;&lt;mrow&gt;&lt;mn&gt;11.049&lt;/mn&gt;&lt;mo&gt;−&lt;/mo&gt;&lt;mn&gt;4.21&lt;/mn&gt;&lt;/mrow&gt;&lt;mrow&gt;&lt;mn&gt;0.82&lt;/mn&gt;&lt;mtext&gt;&lt;/mtext&gt;&lt;mo&gt;−&lt;/mo&gt;&lt;mtext&gt;&lt;/mtext&gt;&lt;mn&gt;0.301&lt;/mn&gt;&lt;/mrow&gt;&lt;/mfrac&gt;&lt;/math&gt;" id="1802" name="Google Shape;1802;p145" title="the fraction with numerator 11.049 minus 4.21 and denominator 0.82 minus 0.301"/>
          <p:cNvPicPr preferRelativeResize="0"/>
          <p:nvPr/>
        </p:nvPicPr>
        <p:blipFill>
          <a:blip r:embed="rId4">
            <a:alphaModFix/>
          </a:blip>
          <a:stretch>
            <a:fillRect/>
          </a:stretch>
        </p:blipFill>
        <p:spPr>
          <a:xfrm>
            <a:off x="847863" y="1345433"/>
            <a:ext cx="1859775" cy="66798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46"/>
          <p:cNvSpPr/>
          <p:nvPr/>
        </p:nvSpPr>
        <p:spPr>
          <a:xfrm>
            <a:off x="2229875" y="152620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8" name="Google Shape;1808;p146"/>
          <p:cNvSpPr/>
          <p:nvPr/>
        </p:nvSpPr>
        <p:spPr>
          <a:xfrm>
            <a:off x="3367938" y="1526200"/>
            <a:ext cx="5898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9" name="Google Shape;1809;p146"/>
          <p:cNvSpPr/>
          <p:nvPr/>
        </p:nvSpPr>
        <p:spPr>
          <a:xfrm>
            <a:off x="4822200" y="150955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0" name="Google Shape;1810;p146"/>
          <p:cNvSpPr/>
          <p:nvPr/>
        </p:nvSpPr>
        <p:spPr>
          <a:xfrm>
            <a:off x="5914975" y="1526225"/>
            <a:ext cx="7029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1" name="Google Shape;1811;p146"/>
          <p:cNvSpPr/>
          <p:nvPr/>
        </p:nvSpPr>
        <p:spPr>
          <a:xfrm>
            <a:off x="6760575" y="1526213"/>
            <a:ext cx="7029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2" name="Google Shape;1812;p146"/>
          <p:cNvSpPr/>
          <p:nvPr/>
        </p:nvSpPr>
        <p:spPr>
          <a:xfrm>
            <a:off x="1057275" y="1512000"/>
            <a:ext cx="9297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3" name="Google Shape;1813;p146"/>
          <p:cNvSpPr txBox="1"/>
          <p:nvPr>
            <p:ph idx="1" type="body"/>
          </p:nvPr>
        </p:nvSpPr>
        <p:spPr>
          <a:xfrm>
            <a:off x="324000" y="683100"/>
            <a:ext cx="8237700" cy="720000"/>
          </a:xfrm>
          <a:prstGeom prst="rect">
            <a:avLst/>
          </a:prstGeom>
        </p:spPr>
        <p:txBody>
          <a:bodyPr anchorCtr="0" anchor="t" bIns="0" lIns="0" spcFirstLastPara="1" rIns="0" wrap="square" tIns="0">
            <a:noAutofit/>
          </a:bodyPr>
          <a:lstStyle/>
          <a:p>
            <a:pPr indent="-355600" lvl="0" marL="457200" rtl="0" algn="l">
              <a:spcBef>
                <a:spcPts val="0"/>
              </a:spcBef>
              <a:spcAft>
                <a:spcPts val="0"/>
              </a:spcAft>
              <a:buSzPts val="2000"/>
              <a:buAutoNum type="arabicParenR"/>
            </a:pPr>
            <a:r>
              <a:rPr lang="en-GB" sz="2000"/>
              <a:t>Fill in the gaps to make the approximations correct. You can only use each number once.</a:t>
            </a:r>
            <a:endParaRPr sz="2000"/>
          </a:p>
        </p:txBody>
      </p:sp>
      <p:sp>
        <p:nvSpPr>
          <p:cNvPr id="1814" name="Google Shape;1814;p14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15" name="Google Shape;1815;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a:blip r:embed="rId3">
            <a:alphaModFix/>
          </a:blip>
          <a:stretch>
            <a:fillRect/>
          </a:stretch>
        </p:blipFill>
        <p:spPr>
          <a:xfrm>
            <a:off x="1904850" y="2362125"/>
            <a:ext cx="5622000" cy="2354978"/>
          </a:xfrm>
          <a:prstGeom prst="rect">
            <a:avLst/>
          </a:prstGeom>
          <a:noFill/>
          <a:ln>
            <a:noFill/>
          </a:ln>
        </p:spPr>
      </p:pic>
      <p:sp>
        <p:nvSpPr>
          <p:cNvPr id="1816" name="Google Shape;1816;p146"/>
          <p:cNvSpPr txBox="1"/>
          <p:nvPr/>
        </p:nvSpPr>
        <p:spPr>
          <a:xfrm>
            <a:off x="1250400" y="2236200"/>
            <a:ext cx="510000" cy="25551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1817" name="Google Shape;1817;p146"/>
          <p:cNvSpPr/>
          <p:nvPr/>
        </p:nvSpPr>
        <p:spPr>
          <a:xfrm>
            <a:off x="4824000" y="2236200"/>
            <a:ext cx="5100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18" name="Google Shape;1818;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83745" l="51344" r="39583" t="0"/>
          <a:stretch/>
        </p:blipFill>
        <p:spPr>
          <a:xfrm>
            <a:off x="6855362" y="1595063"/>
            <a:ext cx="509999" cy="3828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19" name="Google Shape;1819;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83745" l="69200" r="12265" t="0"/>
          <a:stretch/>
        </p:blipFill>
        <p:spPr>
          <a:xfrm>
            <a:off x="4810582" y="1595063"/>
            <a:ext cx="1041999" cy="3828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20" name="Google Shape;1820;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65942" r="18678" t="55365"/>
          <a:stretch/>
        </p:blipFill>
        <p:spPr>
          <a:xfrm>
            <a:off x="2363101" y="1583990"/>
            <a:ext cx="864651" cy="382775"/>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21" name="Google Shape;1821;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3318" l="67434" r="17186" t="82528"/>
          <a:stretch/>
        </p:blipFill>
        <p:spPr>
          <a:xfrm>
            <a:off x="1122242" y="1546507"/>
            <a:ext cx="864651" cy="4896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22" name="Google Shape;1822;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3318" l="90086" r="-5465" t="82528"/>
          <a:stretch/>
        </p:blipFill>
        <p:spPr>
          <a:xfrm>
            <a:off x="5950438" y="1541650"/>
            <a:ext cx="864651" cy="489600"/>
          </a:xfrm>
          <a:prstGeom prst="rect">
            <a:avLst/>
          </a:prstGeom>
          <a:noFill/>
          <a:ln>
            <a:noFill/>
          </a:ln>
        </p:spPr>
      </p:pic>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23" name="Google Shape;1823;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88775" r="2153" t="55365"/>
          <a:stretch/>
        </p:blipFill>
        <p:spPr>
          <a:xfrm>
            <a:off x="3367935" y="1572880"/>
            <a:ext cx="509999" cy="382775"/>
          </a:xfrm>
          <a:prstGeom prst="rect">
            <a:avLst/>
          </a:prstGeom>
          <a:noFill/>
          <a:ln>
            <a:noFill/>
          </a:ln>
        </p:spPr>
      </p:pic>
      <p:sp>
        <p:nvSpPr>
          <p:cNvPr id="1824" name="Google Shape;1824;p146"/>
          <p:cNvSpPr/>
          <p:nvPr/>
        </p:nvSpPr>
        <p:spPr>
          <a:xfrm>
            <a:off x="4924175" y="2962850"/>
            <a:ext cx="5100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5" name="Google Shape;1825;p146"/>
          <p:cNvSpPr/>
          <p:nvPr/>
        </p:nvSpPr>
        <p:spPr>
          <a:xfrm>
            <a:off x="5950475" y="2960700"/>
            <a:ext cx="8646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6" name="Google Shape;1826;p146"/>
          <p:cNvSpPr/>
          <p:nvPr/>
        </p:nvSpPr>
        <p:spPr>
          <a:xfrm>
            <a:off x="5537525" y="3600850"/>
            <a:ext cx="8646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7" name="Google Shape;1827;p146"/>
          <p:cNvSpPr/>
          <p:nvPr/>
        </p:nvSpPr>
        <p:spPr>
          <a:xfrm>
            <a:off x="7065375" y="4261800"/>
            <a:ext cx="5898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8" name="Google Shape;1828;p146"/>
          <p:cNvSpPr/>
          <p:nvPr/>
        </p:nvSpPr>
        <p:spPr>
          <a:xfrm>
            <a:off x="6982850" y="3600850"/>
            <a:ext cx="589800" cy="558600"/>
          </a:xfrm>
          <a:prstGeom prst="roundRect">
            <a:avLst>
              <a:gd fmla="val 16667" name="adj"/>
            </a:avLst>
          </a:prstGeom>
          <a:solidFill>
            <a:schemeClr val="lt1"/>
          </a:solidFill>
          <a:ln cap="flat" cmpd="sng" w="2857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9" name="Google Shape;1829;p146"/>
          <p:cNvSpPr/>
          <p:nvPr/>
        </p:nvSpPr>
        <p:spPr>
          <a:xfrm>
            <a:off x="4097925" y="1526225"/>
            <a:ext cx="589800" cy="558600"/>
          </a:xfrm>
          <a:prstGeom prst="roundRect">
            <a:avLst>
              <a:gd fmla="val 16667"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4.78\ \times927\ \approx\ 5\ \times\ 900\\&amp;#13;&amp;#10;3.892\ \times893\ \approx4\ \times\ 900\\&amp;#13;&amp;#10;203.38\ \div4.302\ \approx200\ \div\ 4\\&amp;#13;&amp;#10;245.29\ \div\ 47.29\ \approx250\ \div50\end{array}&quot;&gt;&lt;mtable columnalign=&quot;left&quot; columnspacing=&quot;1em&quot; rowspacing=&quot;4pt&quot;&gt;&lt;mtr&gt;&lt;mtd&gt;&lt;mn&gt;4.78&lt;/mn&gt;&lt;mtext&gt;&lt;/mtext&gt;&lt;mo&gt;×&lt;/mo&gt;&lt;mn&gt;927&lt;/mn&gt;&lt;mtext&gt;&lt;/mtext&gt;&lt;mo&gt;≈&lt;/mo&gt;&lt;mtext&gt;&lt;/mtext&gt;&lt;mn&gt;5&lt;/mn&gt;&lt;mtext&gt;&lt;/mtext&gt;&lt;mo&gt;×&lt;/mo&gt;&lt;mtext&gt;&lt;/mtext&gt;&lt;mn&gt;900&lt;/mn&gt;&lt;/mtd&gt;&lt;/mtr&gt;&lt;mtr&gt;&lt;mtd&gt;&lt;mn&gt;3.892&lt;/mn&gt;&lt;mtext&gt;&lt;/mtext&gt;&lt;mo&gt;×&lt;/mo&gt;&lt;mn&gt;893&lt;/mn&gt;&lt;mtext&gt;&lt;/mtext&gt;&lt;mo&gt;≈&lt;/mo&gt;&lt;mn&gt;4&lt;/mn&gt;&lt;mtext&gt;&lt;/mtext&gt;&lt;mo&gt;×&lt;/mo&gt;&lt;mtext&gt;&lt;/mtext&gt;&lt;mn&gt;900&lt;/mn&gt;&lt;/mtd&gt;&lt;/mtr&gt;&lt;mtr&gt;&lt;mtd&gt;&lt;mn&gt;203.38&lt;/mn&gt;&lt;mtext&gt;&lt;/mtext&gt;&lt;mo&gt;÷&lt;/mo&gt;&lt;mn&gt;4.302&lt;/mn&gt;&lt;mtext&gt;&lt;/mtext&gt;&lt;mo&gt;≈&lt;/mo&gt;&lt;mn&gt;200&lt;/mn&gt;&lt;mtext&gt;&lt;/mtext&gt;&lt;mo&gt;÷&lt;/mo&gt;&lt;mtext&gt;&lt;/mtext&gt;&lt;mn&gt;4&lt;/mn&gt;&lt;/mtd&gt;&lt;/mtr&gt;&lt;mtr&gt;&lt;mtd&gt;&lt;mn&gt;245.29&lt;/mn&gt;&lt;mtext&gt;&lt;/mtext&gt;&lt;mo&gt;÷&lt;/mo&gt;&lt;mtext&gt;&lt;/mtext&gt;&lt;mn&gt;47.29&lt;/mn&gt;&lt;mtext&gt;&lt;/mtext&gt;&lt;mo&gt;≈&lt;/mo&gt;&lt;mn&gt;250&lt;/mn&gt;&lt;mtext&gt;&lt;/mtext&gt;&lt;mo&gt;÷&lt;/mo&gt;&lt;mn&gt;50&lt;/mn&gt;&lt;/mtd&gt;&lt;/mtr&gt;&lt;/mtable&gt;&lt;/math&gt;" id="1830" name="Google Shape;1830;p146" title="4 lines Line 1: 4.78 times 927 almost equals 5 times 900 Line 2: 3.892 times 893 almost equals 4 times 900 Line 3: 203.38 division sign 4.302 almost equals 200 division sign 4 Line 4: 245.29 division sign 47.29 almost equals 250 division sign 50"/>
          <p:cNvPicPr preferRelativeResize="0"/>
          <p:nvPr/>
        </p:nvPicPr>
        <p:blipFill rotWithShape="1">
          <a:blip r:embed="rId3">
            <a:alphaModFix/>
          </a:blip>
          <a:srcRect b="28380" l="88775" r="2153" t="55365"/>
          <a:stretch/>
        </p:blipFill>
        <p:spPr>
          <a:xfrm>
            <a:off x="4097922" y="1572905"/>
            <a:ext cx="509999" cy="382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147"/>
          <p:cNvSpPr txBox="1"/>
          <p:nvPr>
            <p:ph idx="1" type="body"/>
          </p:nvPr>
        </p:nvSpPr>
        <p:spPr>
          <a:xfrm>
            <a:off x="324000" y="650650"/>
            <a:ext cx="8432700" cy="134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a:t>
            </a:r>
            <a:r>
              <a:rPr lang="en-GB" sz="2000"/>
              <a:t>) To </a:t>
            </a:r>
            <a:r>
              <a:rPr b="1" lang="en-GB" sz="2000"/>
              <a:t>estimate</a:t>
            </a:r>
            <a:r>
              <a:rPr lang="en-GB" sz="2000"/>
              <a:t> this, </a:t>
            </a:r>
            <a:endParaRPr sz="2000"/>
          </a:p>
          <a:p>
            <a:pPr indent="0" lvl="0" marL="0" rtl="0" algn="l">
              <a:spcBef>
                <a:spcPts val="1000"/>
              </a:spcBef>
              <a:spcAft>
                <a:spcPts val="0"/>
              </a:spcAft>
              <a:buNone/>
            </a:pPr>
            <a:r>
              <a:t/>
            </a:r>
            <a:endParaRPr sz="300"/>
          </a:p>
          <a:p>
            <a:pPr indent="-355600" lvl="0" marL="457200" rtl="0" algn="l">
              <a:spcBef>
                <a:spcPts val="1000"/>
              </a:spcBef>
              <a:spcAft>
                <a:spcPts val="0"/>
              </a:spcAft>
              <a:buSzPts val="2000"/>
              <a:buAutoNum type="alphaLcParenR"/>
            </a:pPr>
            <a:r>
              <a:rPr lang="en-GB" sz="2000"/>
              <a:t>Which of these calculations would you use? Explain your choice.</a:t>
            </a:r>
            <a:endParaRPr sz="2000"/>
          </a:p>
          <a:p>
            <a:pPr indent="0" lvl="0" marL="45720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836" name="Google Shape;1836;p14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37" name="Google Shape;1837;p147" title="4 lines Line 1: 20 times 350 Line 2: 20 times 300 Line 3: 19 times 350 Line 4: 19 times 300"/>
          <p:cNvPicPr preferRelativeResize="0"/>
          <p:nvPr/>
        </p:nvPicPr>
        <p:blipFill rotWithShape="1">
          <a:blip r:embed="rId3">
            <a:alphaModFix/>
          </a:blip>
          <a:srcRect b="82092" l="0" r="0" t="0"/>
          <a:stretch/>
        </p:blipFill>
        <p:spPr>
          <a:xfrm>
            <a:off x="1780328" y="1721791"/>
            <a:ext cx="1214875" cy="264877"/>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38" name="Google Shape;1838;p147" title="4 lines Line 1: 20 times 350 Line 2: 20 times 300 Line 3: 19 times 350 Line 4: 19 times 300"/>
          <p:cNvPicPr preferRelativeResize="0"/>
          <p:nvPr/>
        </p:nvPicPr>
        <p:blipFill rotWithShape="1">
          <a:blip r:embed="rId3">
            <a:alphaModFix/>
          </a:blip>
          <a:srcRect b="49495" l="0" r="0" t="21253"/>
          <a:stretch/>
        </p:blipFill>
        <p:spPr>
          <a:xfrm>
            <a:off x="3254572" y="1631613"/>
            <a:ext cx="1214875" cy="432674"/>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39" name="Google Shape;1839;p147" title="4 lines Line 1: 20 times 350 Line 2: 20 times 300 Line 3: 19 times 350 Line 4: 19 times 300"/>
          <p:cNvPicPr preferRelativeResize="0"/>
          <p:nvPr/>
        </p:nvPicPr>
        <p:blipFill rotWithShape="1">
          <a:blip r:embed="rId3">
            <a:alphaModFix/>
          </a:blip>
          <a:srcRect b="20583" l="0" r="0" t="48082"/>
          <a:stretch/>
        </p:blipFill>
        <p:spPr>
          <a:xfrm>
            <a:off x="4716262" y="1602000"/>
            <a:ext cx="1214875" cy="463500"/>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40" name="Google Shape;1840;p147" title="4 lines Line 1: 20 times 350 Line 2: 20 times 300 Line 3: 19 times 350 Line 4: 19 times 300"/>
          <p:cNvPicPr preferRelativeResize="0"/>
          <p:nvPr/>
        </p:nvPicPr>
        <p:blipFill rotWithShape="1">
          <a:blip r:embed="rId3">
            <a:alphaModFix/>
          </a:blip>
          <a:srcRect b="0" l="0" r="0" t="77096"/>
          <a:stretch/>
        </p:blipFill>
        <p:spPr>
          <a:xfrm>
            <a:off x="6184913" y="1605539"/>
            <a:ext cx="1214875" cy="338777"/>
          </a:xfrm>
          <a:prstGeom prst="rect">
            <a:avLst/>
          </a:prstGeom>
          <a:noFill/>
          <a:ln>
            <a:noFill/>
          </a:ln>
        </p:spPr>
      </p:pic>
      <p:sp>
        <p:nvSpPr>
          <p:cNvPr id="1841" name="Google Shape;1841;p147"/>
          <p:cNvSpPr/>
          <p:nvPr/>
        </p:nvSpPr>
        <p:spPr>
          <a:xfrm>
            <a:off x="1679027" y="1620000"/>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2" name="Google Shape;1842;p147"/>
          <p:cNvSpPr/>
          <p:nvPr/>
        </p:nvSpPr>
        <p:spPr>
          <a:xfrm>
            <a:off x="3132242" y="1620000"/>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3" name="Google Shape;1843;p147"/>
          <p:cNvSpPr/>
          <p:nvPr/>
        </p:nvSpPr>
        <p:spPr>
          <a:xfrm>
            <a:off x="4578952" y="1620000"/>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4" name="Google Shape;1844;p147"/>
          <p:cNvSpPr/>
          <p:nvPr/>
        </p:nvSpPr>
        <p:spPr>
          <a:xfrm>
            <a:off x="6055277" y="1620000"/>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5" name="Google Shape;1845;p147"/>
          <p:cNvSpPr txBox="1"/>
          <p:nvPr/>
        </p:nvSpPr>
        <p:spPr>
          <a:xfrm>
            <a:off x="268200" y="1996950"/>
            <a:ext cx="85518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There is no ‘right’ answer to this question, as long as there is justification to the calculation chosen.</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For example, 20 × 350 is </a:t>
            </a:r>
            <a:r>
              <a:rPr lang="en-GB" sz="1800">
                <a:solidFill>
                  <a:schemeClr val="dk1"/>
                </a:solidFill>
                <a:latin typeface="Kalam"/>
                <a:ea typeface="Kalam"/>
                <a:cs typeface="Kalam"/>
                <a:sym typeface="Kalam"/>
              </a:rPr>
              <a:t>acceptable</a:t>
            </a:r>
            <a:r>
              <a:rPr lang="en-GB" sz="1800">
                <a:solidFill>
                  <a:schemeClr val="dk1"/>
                </a:solidFill>
                <a:latin typeface="Kalam"/>
                <a:ea typeface="Kalam"/>
                <a:cs typeface="Kalam"/>
                <a:sym typeface="Kalam"/>
              </a:rPr>
              <a:t> as 19.173 has been rounded to 1 s.f. and 338 has been rounded to the nearest 50.</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20 × 300 is acceptable as 19.173 has been rounded to 1 s.f. and 338 has been rounded to 1 s.f.</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19 × 350 is acceptable as 19.173 has been rounded to 2 s.f. and 338 has been rounded to the nearest 50.</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19 × 300 is acceptable as 19.173 has been rounded to 2 s.f. and 338 has been rounded to 1 s.f.</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19.173\ \times\ 338&quot;&gt;&lt;mn&gt;19.173&lt;/mn&gt;&lt;mtext&gt;&lt;/mtext&gt;&lt;mo&gt;×&lt;/mo&gt;&lt;mtext&gt;&lt;/mtext&gt;&lt;mn&gt;338&lt;/mn&gt;&lt;/math&gt;" id="1846" name="Google Shape;1846;p147" title="19.173 times 338"/>
          <p:cNvPicPr preferRelativeResize="0"/>
          <p:nvPr/>
        </p:nvPicPr>
        <p:blipFill>
          <a:blip r:embed="rId4">
            <a:alphaModFix/>
          </a:blip>
          <a:stretch>
            <a:fillRect/>
          </a:stretch>
        </p:blipFill>
        <p:spPr>
          <a:xfrm>
            <a:off x="3333775" y="859625"/>
            <a:ext cx="2476439" cy="3135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
        <p:nvSpPr>
          <p:cNvPr id="1851" name="Google Shape;1851;p148"/>
          <p:cNvSpPr txBox="1"/>
          <p:nvPr>
            <p:ph idx="1" type="body"/>
          </p:nvPr>
        </p:nvSpPr>
        <p:spPr>
          <a:xfrm>
            <a:off x="324000" y="1929150"/>
            <a:ext cx="8160000" cy="19686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t/>
            </a:r>
            <a:endParaRPr sz="1800"/>
          </a:p>
          <a:p>
            <a:pPr indent="0" lvl="0" marL="0" rtl="0" algn="l">
              <a:spcBef>
                <a:spcPts val="1000"/>
              </a:spcBef>
              <a:spcAft>
                <a:spcPts val="0"/>
              </a:spcAft>
              <a:buNone/>
            </a:pPr>
            <a:r>
              <a:rPr lang="en-GB" sz="2000"/>
              <a:t>b) Which of these gives the closest </a:t>
            </a:r>
            <a:r>
              <a:rPr b="1" lang="en-GB" sz="2000"/>
              <a:t>estimate</a:t>
            </a:r>
            <a:r>
              <a:rPr lang="en-GB" sz="2000"/>
              <a:t>? </a:t>
            </a:r>
            <a:endParaRPr sz="2000"/>
          </a:p>
          <a:p>
            <a:pPr indent="0" lvl="0" marL="457200" rtl="0" algn="l">
              <a:spcBef>
                <a:spcPts val="1000"/>
              </a:spcBef>
              <a:spcAft>
                <a:spcPts val="0"/>
              </a:spcAft>
              <a:buNone/>
            </a:pPr>
            <a:r>
              <a:t/>
            </a:r>
            <a:endParaRPr sz="1800"/>
          </a:p>
          <a:p>
            <a:pPr indent="0" lvl="0" marL="457200" rtl="0" algn="l">
              <a:spcBef>
                <a:spcPts val="1000"/>
              </a:spcBef>
              <a:spcAft>
                <a:spcPts val="0"/>
              </a:spcAft>
              <a:buNone/>
            </a:pPr>
            <a:r>
              <a:t/>
            </a:r>
            <a:endParaRPr sz="1800"/>
          </a:p>
          <a:p>
            <a:pPr indent="0" lvl="0" marL="0" rtl="0" algn="l">
              <a:spcBef>
                <a:spcPts val="1000"/>
              </a:spcBef>
              <a:spcAft>
                <a:spcPts val="0"/>
              </a:spcAft>
              <a:buNone/>
            </a:pPr>
            <a:r>
              <a:rPr lang="en-GB" sz="2000"/>
              <a:t>c) Which gives the </a:t>
            </a:r>
            <a:r>
              <a:rPr b="1" lang="en-GB" sz="2000"/>
              <a:t>estimate</a:t>
            </a:r>
            <a:r>
              <a:rPr lang="en-GB" sz="2000"/>
              <a:t> that is furthest away?</a:t>
            </a:r>
            <a:endParaRPr sz="2000"/>
          </a:p>
          <a:p>
            <a:pPr indent="0" lvl="0" marL="0" rtl="0" algn="l">
              <a:spcBef>
                <a:spcPts val="1000"/>
              </a:spcBef>
              <a:spcAft>
                <a:spcPts val="1000"/>
              </a:spcAft>
              <a:buNone/>
            </a:pPr>
            <a:r>
              <a:t/>
            </a:r>
            <a:endParaRPr sz="1800"/>
          </a:p>
        </p:txBody>
      </p:sp>
      <p:sp>
        <p:nvSpPr>
          <p:cNvPr id="1852" name="Google Shape;1852;p14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853" name="Google Shape;1853;p148"/>
          <p:cNvSpPr txBox="1"/>
          <p:nvPr/>
        </p:nvSpPr>
        <p:spPr>
          <a:xfrm>
            <a:off x="324000" y="2647950"/>
            <a:ext cx="8237700" cy="3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19 x 350 gives the closest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since 19.173 is closer to 19 than 20 and 338 is closer to 350 than 300.</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p:txBody>
      </p:sp>
      <p:sp>
        <p:nvSpPr>
          <p:cNvPr id="1854" name="Google Shape;1854;p148"/>
          <p:cNvSpPr txBox="1"/>
          <p:nvPr>
            <p:ph idx="1" type="body"/>
          </p:nvPr>
        </p:nvSpPr>
        <p:spPr>
          <a:xfrm>
            <a:off x="324000" y="650650"/>
            <a:ext cx="8237700" cy="134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a:t>
            </a:r>
            <a:r>
              <a:rPr lang="en-GB" sz="2000"/>
              <a:t>) To </a:t>
            </a:r>
            <a:r>
              <a:rPr b="1" lang="en-GB" sz="2000"/>
              <a:t>estimate</a:t>
            </a:r>
            <a:r>
              <a:rPr lang="en-GB" sz="2000"/>
              <a:t> this, </a:t>
            </a:r>
            <a:endParaRPr sz="20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pic>
        <p:nvPicPr>
          <p:cNvPr descr="&lt;math xmlns=&quot;http://www.w3.org/1998/Math/MathML&quot; display=&quot;block&quot; data-is-equatio=&quot;1&quot; data-latex=&quot;19.173\ \times\ 338&quot;&gt;&lt;mn&gt;19.173&lt;/mn&gt;&lt;mtext&gt;&lt;/mtext&gt;&lt;mo&gt;×&lt;/mo&gt;&lt;mtext&gt;&lt;/mtext&gt;&lt;mn&gt;338&lt;/mn&gt;&lt;/math&gt;" id="1855" name="Google Shape;1855;p148" title="19.173 times 338"/>
          <p:cNvPicPr preferRelativeResize="0"/>
          <p:nvPr/>
        </p:nvPicPr>
        <p:blipFill>
          <a:blip r:embed="rId3">
            <a:alphaModFix/>
          </a:blip>
          <a:stretch>
            <a:fillRect/>
          </a:stretch>
        </p:blipFill>
        <p:spPr>
          <a:xfrm>
            <a:off x="3333775" y="859625"/>
            <a:ext cx="2476439" cy="313575"/>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56" name="Google Shape;1856;p148" title="4 lines Line 1: 20 times 350 Line 2: 20 times 300 Line 3: 19 times 350 Line 4: 19 times 300"/>
          <p:cNvPicPr preferRelativeResize="0"/>
          <p:nvPr/>
        </p:nvPicPr>
        <p:blipFill rotWithShape="1">
          <a:blip r:embed="rId4">
            <a:alphaModFix/>
          </a:blip>
          <a:srcRect b="82092" l="0" r="0" t="0"/>
          <a:stretch/>
        </p:blipFill>
        <p:spPr>
          <a:xfrm>
            <a:off x="1780328" y="1664266"/>
            <a:ext cx="1214875" cy="264877"/>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57" name="Google Shape;1857;p148" title="4 lines Line 1: 20 times 350 Line 2: 20 times 300 Line 3: 19 times 350 Line 4: 19 times 300"/>
          <p:cNvPicPr preferRelativeResize="0"/>
          <p:nvPr/>
        </p:nvPicPr>
        <p:blipFill rotWithShape="1">
          <a:blip r:embed="rId4">
            <a:alphaModFix/>
          </a:blip>
          <a:srcRect b="49495" l="0" r="0" t="21253"/>
          <a:stretch/>
        </p:blipFill>
        <p:spPr>
          <a:xfrm>
            <a:off x="3254572" y="1574088"/>
            <a:ext cx="1214875" cy="432674"/>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58" name="Google Shape;1858;p148" title="4 lines Line 1: 20 times 350 Line 2: 20 times 300 Line 3: 19 times 350 Line 4: 19 times 300"/>
          <p:cNvPicPr preferRelativeResize="0"/>
          <p:nvPr/>
        </p:nvPicPr>
        <p:blipFill rotWithShape="1">
          <a:blip r:embed="rId4">
            <a:alphaModFix/>
          </a:blip>
          <a:srcRect b="20583" l="0" r="0" t="48082"/>
          <a:stretch/>
        </p:blipFill>
        <p:spPr>
          <a:xfrm>
            <a:off x="4716262" y="1544475"/>
            <a:ext cx="1214875" cy="463500"/>
          </a:xfrm>
          <a:prstGeom prst="rect">
            <a:avLst/>
          </a:prstGeom>
          <a:noFill/>
          <a:ln>
            <a:noFill/>
          </a:ln>
        </p:spPr>
      </p:pic>
      <p:pic>
        <p:nvPicPr>
          <p:cNvPr descr="&lt;math xmlns=&quot;http://www.w3.org/1998/Math/MathML&quot; display=&quot;block&quot; data-is-equatio=&quot;1&quot; data-latex=&quot;\begin{array}{l}20\ \times\ 350\\&amp;#13;&amp;#10;20\ \times300\\&amp;#13;&amp;#10;19\ \times350\\&amp;#13;&amp;#10;19\ \times300\\&amp;#13;&amp;#10;\end{array}&quot;&gt;&lt;mtable columnalign=&quot;left&quot; columnspacing=&quot;1em&quot; rowspacing=&quot;4pt&quot;&gt;&lt;mtr&gt;&lt;mtd&gt;&lt;mn&gt;20&lt;/mn&gt;&lt;mtext&gt;&lt;/mtext&gt;&lt;mo&gt;×&lt;/mo&gt;&lt;mtext&gt;&lt;/mtext&gt;&lt;mn&gt;350&lt;/mn&gt;&lt;/mtd&gt;&lt;/mtr&gt;&lt;mtr&gt;&lt;mtd&gt;&lt;mn&gt;20&lt;/mn&gt;&lt;mtext&gt;&lt;/mtext&gt;&lt;mo&gt;×&lt;/mo&gt;&lt;mn&gt;300&lt;/mn&gt;&lt;/mtd&gt;&lt;/mtr&gt;&lt;mtr&gt;&lt;mtd&gt;&lt;mn&gt;19&lt;/mn&gt;&lt;mtext&gt;&lt;/mtext&gt;&lt;mo&gt;×&lt;/mo&gt;&lt;mn&gt;350&lt;/mn&gt;&lt;/mtd&gt;&lt;/mtr&gt;&lt;mtr&gt;&lt;mtd&gt;&lt;mn&gt;19&lt;/mn&gt;&lt;mtext&gt;&lt;/mtext&gt;&lt;mo&gt;×&lt;/mo&gt;&lt;mn&gt;300&lt;/mn&gt;&lt;/mtd&gt;&lt;/mtr&gt;&lt;/mtable&gt;&lt;/math&gt;" id="1859" name="Google Shape;1859;p148" title="4 lines Line 1: 20 times 350 Line 2: 20 times 300 Line 3: 19 times 350 Line 4: 19 times 300"/>
          <p:cNvPicPr preferRelativeResize="0"/>
          <p:nvPr/>
        </p:nvPicPr>
        <p:blipFill rotWithShape="1">
          <a:blip r:embed="rId4">
            <a:alphaModFix/>
          </a:blip>
          <a:srcRect b="0" l="0" r="0" t="77096"/>
          <a:stretch/>
        </p:blipFill>
        <p:spPr>
          <a:xfrm>
            <a:off x="6184913" y="1548014"/>
            <a:ext cx="1214875" cy="338777"/>
          </a:xfrm>
          <a:prstGeom prst="rect">
            <a:avLst/>
          </a:prstGeom>
          <a:noFill/>
          <a:ln>
            <a:noFill/>
          </a:ln>
        </p:spPr>
      </p:pic>
      <p:sp>
        <p:nvSpPr>
          <p:cNvPr id="1860" name="Google Shape;1860;p148"/>
          <p:cNvSpPr/>
          <p:nvPr/>
        </p:nvSpPr>
        <p:spPr>
          <a:xfrm>
            <a:off x="1679027" y="1552264"/>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1" name="Google Shape;1861;p148"/>
          <p:cNvSpPr/>
          <p:nvPr/>
        </p:nvSpPr>
        <p:spPr>
          <a:xfrm>
            <a:off x="3132242" y="1552264"/>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2" name="Google Shape;1862;p148"/>
          <p:cNvSpPr/>
          <p:nvPr/>
        </p:nvSpPr>
        <p:spPr>
          <a:xfrm>
            <a:off x="4578952" y="1552264"/>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3" name="Google Shape;1863;p148"/>
          <p:cNvSpPr/>
          <p:nvPr/>
        </p:nvSpPr>
        <p:spPr>
          <a:xfrm>
            <a:off x="6055277" y="1552264"/>
            <a:ext cx="1409700" cy="432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4" name="Google Shape;1864;p148"/>
          <p:cNvSpPr txBox="1"/>
          <p:nvPr/>
        </p:nvSpPr>
        <p:spPr>
          <a:xfrm>
            <a:off x="324000" y="3975525"/>
            <a:ext cx="8237700" cy="3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20 x 300 gives the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that is furthest away, since 20 is further from 19.173 than 19 and 300 is further from 338 than 350. </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pic>
        <p:nvPicPr>
          <p:cNvPr descr="&lt;math xmlns=&quot;http://www.w3.org/1998/Math/MathML&quot; display=&quot;block&quot; data-is-equatio=&quot;1&quot; data-latex=&quot;\begin{array}{l}\frac{5742\ \times\ 34.7}{875.42}\ \approx\ \frac{6000\ \times30}{900}\\&amp;#13;&amp;#10;\ \ \ \ \ \ \ \ \ \ \ \ \ \ \ \ \ \ \ \ \ \ \approx\frac{180\ 000}{900}\\&amp;#13;&amp;#10;\ \ \ \ \ \ \ \ \ \ \ \ \ \ \ \ \ \ \ \ \ \ \approx\ 200\end{array}&quot;&gt;&lt;mtable columnalign=&quot;left&quot; columnspacing=&quot;1em&quot; rowspacing=&quot;4pt&quot;&gt;&lt;mtr&gt;&lt;mtd&gt;&lt;mfrac&gt;&lt;mrow&gt;&lt;mn&gt;5742&lt;/mn&gt;&lt;mtext&gt;&lt;/mtext&gt;&lt;mo&gt;×&lt;/mo&gt;&lt;mtext&gt;&lt;/mtext&gt;&lt;mn&gt;34.7&lt;/mn&gt;&lt;/mrow&gt;&lt;mn&gt;875.42&lt;/mn&gt;&lt;/mfrac&gt;&lt;mtext&gt;&lt;/mtext&gt;&lt;mo&gt;≈&lt;/mo&gt;&lt;mtext&gt;&lt;/mtext&gt;&lt;mfrac&gt;&lt;mrow&gt;&lt;mn&gt;6000&lt;/mn&gt;&lt;mtext&gt;&lt;/mtext&gt;&lt;mo&gt;×&lt;/mo&gt;&lt;mn&gt;3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frac&gt;&lt;mrow&gt;&lt;mn&gt;180&lt;/mn&gt;&lt;mtext&gt;&lt;/mtext&gt;&lt;mn&gt;00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text&gt;&lt;/mtext&gt;&lt;mn&gt;200&lt;/mn&gt;&lt;/mtd&gt;&lt;/mtr&gt;&lt;/mtable&gt;&lt;/math&gt;" id="1869" name="Google Shape;1869;p149" title="3 lines Line 1: the fraction with numerator 5742 times 34.7 and denominator 875.42 almost equals the fraction with numerator 6000 times 30 and denominator 900 Line 2: almost equals the fraction with numerator 180 000 and denominator 900 Line 3: almost equals 200"/>
          <p:cNvPicPr preferRelativeResize="0"/>
          <p:nvPr/>
        </p:nvPicPr>
        <p:blipFill rotWithShape="1">
          <a:blip r:embed="rId3">
            <a:alphaModFix/>
          </a:blip>
          <a:srcRect b="0" l="60236" r="0" t="82253"/>
          <a:stretch/>
        </p:blipFill>
        <p:spPr>
          <a:xfrm>
            <a:off x="2302000" y="3240000"/>
            <a:ext cx="1356100" cy="287875"/>
          </a:xfrm>
          <a:prstGeom prst="rect">
            <a:avLst/>
          </a:prstGeom>
          <a:noFill/>
          <a:ln>
            <a:noFill/>
          </a:ln>
        </p:spPr>
      </p:pic>
      <p:pic>
        <p:nvPicPr>
          <p:cNvPr descr="&lt;math xmlns=&quot;http://www.w3.org/1998/Math/MathML&quot; display=&quot;block&quot; data-is-equatio=&quot;1&quot; data-latex=&quot;\begin{array}{l}\frac{5742\ \times\ 34.7}{875.42}\ \approx\ \frac{6000\ \times30}{900}\\&amp;#13;&amp;#10;\ \ \ \ \ \ \ \ \ \ \ \ \ \ \ \ \ \ \ \ \ \ \approx\frac{180\ 000}{900}\\&amp;#13;&amp;#10;\ \ \ \ \ \ \ \ \ \ \ \ \ \ \ \ \ \ \ \ \ \ \approx\ 200\end{array}&quot;&gt;&lt;mtable columnalign=&quot;left&quot; columnspacing=&quot;1em&quot; rowspacing=&quot;4pt&quot;&gt;&lt;mtr&gt;&lt;mtd&gt;&lt;mfrac&gt;&lt;mrow&gt;&lt;mn&gt;5742&lt;/mn&gt;&lt;mtext&gt;&lt;/mtext&gt;&lt;mo&gt;×&lt;/mo&gt;&lt;mtext&gt;&lt;/mtext&gt;&lt;mn&gt;34.7&lt;/mn&gt;&lt;/mrow&gt;&lt;mn&gt;875.42&lt;/mn&gt;&lt;/mfrac&gt;&lt;mtext&gt;&lt;/mtext&gt;&lt;mo&gt;≈&lt;/mo&gt;&lt;mtext&gt;&lt;/mtext&gt;&lt;mfrac&gt;&lt;mrow&gt;&lt;mn&gt;6000&lt;/mn&gt;&lt;mtext&gt;&lt;/mtext&gt;&lt;mo&gt;×&lt;/mo&gt;&lt;mn&gt;3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frac&gt;&lt;mrow&gt;&lt;mn&gt;180&lt;/mn&gt;&lt;mtext&gt;&lt;/mtext&gt;&lt;mn&gt;00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text&gt;&lt;/mtext&gt;&lt;mn&gt;200&lt;/mn&gt;&lt;/mtd&gt;&lt;/mtr&gt;&lt;/mtable&gt;&lt;/math&gt;" id="1870" name="Google Shape;1870;p149" title="3 lines Line 1: the fraction with numerator 5742 times 34.7 and denominator 875.42 almost equals the fraction with numerator 6000 times 30 and denominator 900 Line 2: almost equals the fraction with numerator 180 000 and denominator 900 Line 3: almost equals 200"/>
          <p:cNvPicPr preferRelativeResize="0"/>
          <p:nvPr/>
        </p:nvPicPr>
        <p:blipFill rotWithShape="1">
          <a:blip r:embed="rId3">
            <a:alphaModFix/>
          </a:blip>
          <a:srcRect b="24681" l="60260" r="0" t="37509"/>
          <a:stretch/>
        </p:blipFill>
        <p:spPr>
          <a:xfrm>
            <a:off x="2287230" y="2369590"/>
            <a:ext cx="1321290" cy="597925"/>
          </a:xfrm>
          <a:prstGeom prst="rect">
            <a:avLst/>
          </a:prstGeom>
          <a:noFill/>
          <a:ln>
            <a:noFill/>
          </a:ln>
        </p:spPr>
      </p:pic>
      <p:sp>
        <p:nvSpPr>
          <p:cNvPr id="1871" name="Google Shape;1871;p149"/>
          <p:cNvSpPr txBox="1"/>
          <p:nvPr>
            <p:ph idx="1" type="body"/>
          </p:nvPr>
        </p:nvSpPr>
        <p:spPr>
          <a:xfrm>
            <a:off x="324000" y="759300"/>
            <a:ext cx="8396400" cy="52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 </a:t>
            </a:r>
            <a:r>
              <a:rPr b="1" lang="en-GB" sz="2000"/>
              <a:t>Estimate</a:t>
            </a:r>
            <a:r>
              <a:rPr lang="en-GB" sz="2000"/>
              <a:t> the following, making sure to show your working out.</a:t>
            </a:r>
            <a:endParaRPr sz="2000"/>
          </a:p>
          <a:p>
            <a:pPr indent="0" lvl="0" marL="0" rtl="0" algn="l">
              <a:spcBef>
                <a:spcPts val="1000"/>
              </a:spcBef>
              <a:spcAft>
                <a:spcPts val="1000"/>
              </a:spcAft>
              <a:buNone/>
            </a:pPr>
            <a:r>
              <a:rPr lang="en-GB">
                <a:latin typeface="Kalam"/>
                <a:ea typeface="Kalam"/>
                <a:cs typeface="Kalam"/>
                <a:sym typeface="Kalam"/>
              </a:rPr>
              <a:t>e.g.</a:t>
            </a:r>
            <a:endParaRPr>
              <a:latin typeface="Kalam"/>
              <a:ea typeface="Kalam"/>
              <a:cs typeface="Kalam"/>
              <a:sym typeface="Kalam"/>
            </a:endParaRPr>
          </a:p>
        </p:txBody>
      </p:sp>
      <p:sp>
        <p:nvSpPr>
          <p:cNvPr id="1872" name="Google Shape;1872;p14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frac{5742\ \times\ 34.7}{875.42}\ \approx\ \frac{6000\ \times30}{900}\\&amp;#13;&amp;#10;\ \ \ \ \ \ \ \ \ \ \ \ \ \ \ \ \ \ \ \ \ \ \approx\frac{18\ 000}{900}\\&amp;#13;&amp;#10;\ \ \ \ \ \ \ \ \ \ \ \ \ \ \ \ \ \ \ \ \ \ \approx\ 20\end{array}&quot;&gt;&lt;mtable columnalign=&quot;left&quot; columnspacing=&quot;1em&quot; rowspacing=&quot;4pt&quot;&gt;&lt;mtr&gt;&lt;mtd&gt;&lt;mfrac&gt;&lt;mrow&gt;&lt;mn&gt;5742&lt;/mn&gt;&lt;mtext&gt;&lt;/mtext&gt;&lt;mo&gt;×&lt;/mo&gt;&lt;mtext&gt;&lt;/mtext&gt;&lt;mn&gt;34.7&lt;/mn&gt;&lt;/mrow&gt;&lt;mn&gt;875.42&lt;/mn&gt;&lt;/mfrac&gt;&lt;mtext&gt;&lt;/mtext&gt;&lt;mo&gt;≈&lt;/mo&gt;&lt;mtext&gt;&lt;/mtext&gt;&lt;mfrac&gt;&lt;mrow&gt;&lt;mn&gt;6000&lt;/mn&gt;&lt;mtext&gt;&lt;/mtext&gt;&lt;mo&gt;×&lt;/mo&gt;&lt;mn&gt;3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frac&gt;&lt;mrow&gt;&lt;mn&gt;18&lt;/mn&gt;&lt;mtext&gt;&lt;/mtext&gt;&lt;mn&gt;00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text&gt;&lt;/mtext&gt;&lt;mn&gt;20&lt;/mn&gt;&lt;/mtd&gt;&lt;/mtr&gt;&lt;/mtable&gt;&lt;/math&gt;" id="1873" name="Google Shape;1873;p149" title="3 lines Line 1: the fraction with numerator 5742 times 34.7 and denominator 875.42 almost equals the fraction with numerator 6000 times 30 and denominator 900 Line 2: almost equals the fraction with numerator 18 000 and denominator 900 Line 3: almost equals 20"/>
          <p:cNvPicPr preferRelativeResize="0"/>
          <p:nvPr/>
        </p:nvPicPr>
        <p:blipFill rotWithShape="1">
          <a:blip r:embed="rId4">
            <a:alphaModFix/>
          </a:blip>
          <a:srcRect b="55634" l="0" r="53684" t="0"/>
          <a:stretch/>
        </p:blipFill>
        <p:spPr>
          <a:xfrm>
            <a:off x="764550" y="1707050"/>
            <a:ext cx="1507900" cy="713375"/>
          </a:xfrm>
          <a:prstGeom prst="rect">
            <a:avLst/>
          </a:prstGeom>
          <a:noFill/>
          <a:ln>
            <a:noFill/>
          </a:ln>
        </p:spPr>
      </p:pic>
      <p:pic>
        <p:nvPicPr>
          <p:cNvPr descr="&lt;math xmlns=&quot;http://www.w3.org/1998/Math/MathML&quot; display=&quot;block&quot; data-is-equatio=&quot;1&quot; data-latex=&quot;\begin{array}{l}\left(61.35\ -\ 84.2\right)^2\ \approx\ \left(60\ -\ 80\right)^2\\&amp;#13;&amp;#10;\approx\ 20^2\\&amp;#13;&amp;#10;\approx\ 400\end{array}&quot;&gt;&lt;mtable columnalign=&quot;left&quot; columnspacing=&quot;1em&quot; rowspacing=&quot;4pt&quot;&gt;&lt;mtr&gt;&lt;mtd&gt;&lt;msup&gt;&lt;mrow data-mjx-texclass=&quot;INNER&quot;&gt;&lt;mo data-mjx-texclass=&quot;OPEN&quot;&gt;(&lt;/mo&gt;&lt;mn&gt;61.35&lt;/mn&gt;&lt;mtext&gt;&lt;/mtext&gt;&lt;mo&gt;−&lt;/mo&gt;&lt;mtext&gt;&lt;/mtext&gt;&lt;mn&gt;84.2&lt;/mn&gt;&lt;mo data-mjx-texclass=&quot;CLOSE&quot;&gt;)&lt;/mo&gt;&lt;/mrow&gt;&lt;mn&gt;2&lt;/mn&gt;&lt;/msup&gt;&lt;mtext&gt;&lt;/mtext&gt;&lt;mo&gt;≈&lt;/mo&gt;&lt;mtext&gt;&lt;/mtext&gt;&lt;msup&gt;&lt;mrow data-mjx-texclass=&quot;INNER&quot;&gt;&lt;mo data-mjx-texclass=&quot;OPEN&quot;&gt;(&lt;/mo&gt;&lt;mn&gt;60&lt;/mn&gt;&lt;mtext&gt;&lt;/mtext&gt;&lt;mo&gt;−&lt;/mo&gt;&lt;mtext&gt;&lt;/mtext&gt;&lt;mn&gt;80&lt;/mn&gt;&lt;mo data-mjx-texclass=&quot;CLOSE&quot;&gt;)&lt;/mo&gt;&lt;/mrow&gt;&lt;mn&gt;2&lt;/mn&gt;&lt;/msup&gt;&lt;/mtd&gt;&lt;/mtr&gt;&lt;mtr&gt;&lt;mtd&gt;&lt;mo&gt;≈&lt;/mo&gt;&lt;mtext&gt;&lt;/mtext&gt;&lt;msup&gt;&lt;mn&gt;20&lt;/mn&gt;&lt;mn&gt;2&lt;/mn&gt;&lt;/msup&gt;&lt;/mtd&gt;&lt;/mtr&gt;&lt;mtr&gt;&lt;mtd&gt;&lt;mo&gt;≈&lt;/mo&gt;&lt;mtext&gt;&lt;/mtext&gt;&lt;mn&gt;400&lt;/mn&gt;&lt;/mtd&gt;&lt;/mtr&gt;&lt;/mtable&gt;&lt;/math&gt;" id="1874" name="Google Shape;1874;p149" title="3 lines Line 1: open paren 61.35 minus 84.2 close paren squared almost equals open paren 60 minus 80 close paren squared Line 2: almost equals 20 squared Line 3: almost equals 400"/>
          <p:cNvPicPr preferRelativeResize="0"/>
          <p:nvPr/>
        </p:nvPicPr>
        <p:blipFill rotWithShape="1">
          <a:blip r:embed="rId5">
            <a:alphaModFix/>
          </a:blip>
          <a:srcRect b="65862" l="0" r="48038" t="0"/>
          <a:stretch/>
        </p:blipFill>
        <p:spPr>
          <a:xfrm>
            <a:off x="4866075" y="1707051"/>
            <a:ext cx="2006699" cy="382800"/>
          </a:xfrm>
          <a:prstGeom prst="rect">
            <a:avLst/>
          </a:prstGeom>
          <a:noFill/>
          <a:ln>
            <a:noFill/>
          </a:ln>
        </p:spPr>
      </p:pic>
      <p:sp>
        <p:nvSpPr>
          <p:cNvPr id="1875" name="Google Shape;1875;p149"/>
          <p:cNvSpPr txBox="1"/>
          <p:nvPr/>
        </p:nvSpPr>
        <p:spPr>
          <a:xfrm>
            <a:off x="324000" y="15990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876" name="Google Shape;1876;p149"/>
          <p:cNvSpPr txBox="1"/>
          <p:nvPr/>
        </p:nvSpPr>
        <p:spPr>
          <a:xfrm>
            <a:off x="4356075" y="15990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frac{5742\ \times\ 34.7}{875.42}\ \approx\ \frac{6000\ \times30}{900}\\&amp;#13;&amp;#10;\ \ \ \ \ \ \ \ \ \ \ \ \ \ \ \ \ \ \ \ \ \ \approx\frac{18\ 000}{900}\\&amp;#13;&amp;#10;\ \ \ \ \ \ \ \ \ \ \ \ \ \ \ \ \ \ \ \ \ \ \approx\ 20\end{array}&quot;&gt;&lt;mtable columnalign=&quot;left&quot; columnspacing=&quot;1em&quot; rowspacing=&quot;4pt&quot;&gt;&lt;mtr&gt;&lt;mtd&gt;&lt;mfrac&gt;&lt;mrow&gt;&lt;mn&gt;5742&lt;/mn&gt;&lt;mtext&gt;&lt;/mtext&gt;&lt;mo&gt;×&lt;/mo&gt;&lt;mtext&gt;&lt;/mtext&gt;&lt;mn&gt;34.7&lt;/mn&gt;&lt;/mrow&gt;&lt;mn&gt;875.42&lt;/mn&gt;&lt;/mfrac&gt;&lt;mtext&gt;&lt;/mtext&gt;&lt;mo&gt;≈&lt;/mo&gt;&lt;mtext&gt;&lt;/mtext&gt;&lt;mfrac&gt;&lt;mrow&gt;&lt;mn&gt;6000&lt;/mn&gt;&lt;mtext&gt;&lt;/mtext&gt;&lt;mo&gt;×&lt;/mo&gt;&lt;mn&gt;3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frac&gt;&lt;mrow&gt;&lt;mn&gt;18&lt;/mn&gt;&lt;mtext&gt;&lt;/mtext&gt;&lt;mn&gt;000&lt;/mn&gt;&lt;/mrow&gt;&lt;mn&gt;900&lt;/mn&gt;&lt;/mfrac&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o&gt;≈&lt;/mo&gt;&lt;mtext&gt;&lt;/mtext&gt;&lt;mn&gt;20&lt;/mn&gt;&lt;/mtd&gt;&lt;/mtr&gt;&lt;/mtable&gt;&lt;/math&gt;" id="1877" name="Google Shape;1877;p149" title="3 lines Line 1: the fraction with numerator 5742 times 34.7 and denominator 875.42 almost equals the fraction with numerator 6000 times 30 and denominator 900 Line 2: almost equals the fraction with numerator 18 000 and denominator 900 Line 3: almost equals 20"/>
          <p:cNvPicPr preferRelativeResize="0"/>
          <p:nvPr/>
        </p:nvPicPr>
        <p:blipFill rotWithShape="1">
          <a:blip r:embed="rId4">
            <a:alphaModFix/>
          </a:blip>
          <a:srcRect b="62814" l="47333" r="-2493" t="0"/>
          <a:stretch/>
        </p:blipFill>
        <p:spPr>
          <a:xfrm>
            <a:off x="2272450" y="1648825"/>
            <a:ext cx="1795775" cy="597925"/>
          </a:xfrm>
          <a:prstGeom prst="rect">
            <a:avLst/>
          </a:prstGeom>
          <a:noFill/>
          <a:ln>
            <a:noFill/>
          </a:ln>
        </p:spPr>
      </p:pic>
      <p:pic>
        <p:nvPicPr>
          <p:cNvPr descr="&lt;math xmlns=&quot;http://www.w3.org/1998/Math/MathML&quot; display=&quot;block&quot; data-is-equatio=&quot;1&quot; data-latex=&quot;\begin{array}{l}\left(61.35\ -\ 84.2\right)^2\ \approx\ \left(60\ -\ 80\right)^2\\&amp;#13;&amp;#10;\approx\ 20^2\\&amp;#13;&amp;#10;\approx\ 400\end{array}&quot;&gt;&lt;mtable columnalign=&quot;left&quot; columnspacing=&quot;1em&quot; rowspacing=&quot;4pt&quot;&gt;&lt;mtr&gt;&lt;mtd&gt;&lt;msup&gt;&lt;mrow data-mjx-texclass=&quot;INNER&quot;&gt;&lt;mo data-mjx-texclass=&quot;OPEN&quot;&gt;(&lt;/mo&gt;&lt;mn&gt;61.35&lt;/mn&gt;&lt;mtext&gt;&lt;/mtext&gt;&lt;mo&gt;−&lt;/mo&gt;&lt;mtext&gt;&lt;/mtext&gt;&lt;mn&gt;84.2&lt;/mn&gt;&lt;mo data-mjx-texclass=&quot;CLOSE&quot;&gt;)&lt;/mo&gt;&lt;/mrow&gt;&lt;mn&gt;2&lt;/mn&gt;&lt;/msup&gt;&lt;mtext&gt;&lt;/mtext&gt;&lt;mo&gt;≈&lt;/mo&gt;&lt;mtext&gt;&lt;/mtext&gt;&lt;msup&gt;&lt;mrow data-mjx-texclass=&quot;INNER&quot;&gt;&lt;mo data-mjx-texclass=&quot;OPEN&quot;&gt;(&lt;/mo&gt;&lt;mn&gt;60&lt;/mn&gt;&lt;mtext&gt;&lt;/mtext&gt;&lt;mo&gt;−&lt;/mo&gt;&lt;mtext&gt;&lt;/mtext&gt;&lt;mn&gt;80&lt;/mn&gt;&lt;mo data-mjx-texclass=&quot;CLOSE&quot;&gt;)&lt;/mo&gt;&lt;/mrow&gt;&lt;mn&gt;2&lt;/mn&gt;&lt;/msup&gt;&lt;/mtd&gt;&lt;/mtr&gt;&lt;mtr&gt;&lt;mtd&gt;&lt;mo&gt;≈&lt;/mo&gt;&lt;mtext&gt;&lt;/mtext&gt;&lt;msup&gt;&lt;mn&gt;20&lt;/mn&gt;&lt;mn&gt;2&lt;/mn&gt;&lt;/msup&gt;&lt;/mtd&gt;&lt;/mtr&gt;&lt;mtr&gt;&lt;mtd&gt;&lt;mo&gt;≈&lt;/mo&gt;&lt;mtext&gt;&lt;/mtext&gt;&lt;mn&gt;400&lt;/mn&gt;&lt;/mtd&gt;&lt;/mtr&gt;&lt;/mtable&gt;&lt;/math&gt;" id="1878" name="Google Shape;1878;p149" title="3 lines Line 1: open paren 61.35 minus 84.2 close paren squared almost equals open paren 60 minus 80 close paren squared Line 2: almost equals 20 squared Line 3: almost equals 400"/>
          <p:cNvPicPr preferRelativeResize="0"/>
          <p:nvPr/>
        </p:nvPicPr>
        <p:blipFill rotWithShape="1">
          <a:blip r:embed="rId5">
            <a:alphaModFix/>
          </a:blip>
          <a:srcRect b="65862" l="55417" r="-1915" t="0"/>
          <a:stretch/>
        </p:blipFill>
        <p:spPr>
          <a:xfrm>
            <a:off x="6872775" y="1695550"/>
            <a:ext cx="1795775" cy="382800"/>
          </a:xfrm>
          <a:prstGeom prst="rect">
            <a:avLst/>
          </a:prstGeom>
          <a:noFill/>
          <a:ln>
            <a:noFill/>
          </a:ln>
        </p:spPr>
      </p:pic>
      <p:pic>
        <p:nvPicPr>
          <p:cNvPr descr="&lt;math xmlns=&quot;http://www.w3.org/1998/Math/MathML&quot; display=&quot;block&quot; data-is-equatio=&quot;1&quot; data-latex=&quot;\begin{array}{l}\left(61.35\ -\ 84.2\right)^2\ \approx\ \left(60\ -\ 80\right)^2\\&amp;#13;&amp;#10;\approx\ 20^2\\&amp;#13;&amp;#10;\approx\ 400\end{array}&quot;&gt;&lt;mtable columnalign=&quot;left&quot; columnspacing=&quot;1em&quot; rowspacing=&quot;4pt&quot;&gt;&lt;mtr&gt;&lt;mtd&gt;&lt;msup&gt;&lt;mrow data-mjx-texclass=&quot;INNER&quot;&gt;&lt;mo data-mjx-texclass=&quot;OPEN&quot;&gt;(&lt;/mo&gt;&lt;mn&gt;61.35&lt;/mn&gt;&lt;mtext&gt;&lt;/mtext&gt;&lt;mo&gt;−&lt;/mo&gt;&lt;mtext&gt;&lt;/mtext&gt;&lt;mn&gt;84.2&lt;/mn&gt;&lt;mo data-mjx-texclass=&quot;CLOSE&quot;&gt;)&lt;/mo&gt;&lt;/mrow&gt;&lt;mn&gt;2&lt;/mn&gt;&lt;/msup&gt;&lt;mtext&gt;&lt;/mtext&gt;&lt;mo&gt;≈&lt;/mo&gt;&lt;mtext&gt;&lt;/mtext&gt;&lt;msup&gt;&lt;mrow data-mjx-texclass=&quot;INNER&quot;&gt;&lt;mo data-mjx-texclass=&quot;OPEN&quot;&gt;(&lt;/mo&gt;&lt;mn&gt;60&lt;/mn&gt;&lt;mtext&gt;&lt;/mtext&gt;&lt;mo&gt;−&lt;/mo&gt;&lt;mtext&gt;&lt;/mtext&gt;&lt;mn&gt;80&lt;/mn&gt;&lt;mo data-mjx-texclass=&quot;CLOSE&quot;&gt;)&lt;/mo&gt;&lt;/mrow&gt;&lt;mn&gt;2&lt;/mn&gt;&lt;/msup&gt;&lt;/mtd&gt;&lt;/mtr&gt;&lt;mtr&gt;&lt;mtd&gt;&lt;mo&gt;≈&lt;/mo&gt;&lt;mtext&gt;&lt;/mtext&gt;&lt;msup&gt;&lt;mn&gt;20&lt;/mn&gt;&lt;mn&gt;2&lt;/mn&gt;&lt;/msup&gt;&lt;/mtd&gt;&lt;/mtr&gt;&lt;mtr&gt;&lt;mtd&gt;&lt;mo&gt;≈&lt;/mo&gt;&lt;mtext&gt;&lt;/mtext&gt;&lt;mn&gt;400&lt;/mn&gt;&lt;/mtd&gt;&lt;/mtr&gt;&lt;/mtable&gt;&lt;/math&gt;" id="1879" name="Google Shape;1879;p149" title="3 lines Line 1: open paren 61.35 minus 84.2 close paren squared almost equals open paren 60 minus 80 close paren squared Line 2: almost equals 20 squared Line 3: almost equals 400"/>
          <p:cNvPicPr preferRelativeResize="0"/>
          <p:nvPr/>
        </p:nvPicPr>
        <p:blipFill rotWithShape="1">
          <a:blip r:embed="rId5">
            <a:alphaModFix/>
          </a:blip>
          <a:srcRect b="-8757" l="-2393" r="74262" t="69522"/>
          <a:stretch/>
        </p:blipFill>
        <p:spPr>
          <a:xfrm>
            <a:off x="6796575" y="3015800"/>
            <a:ext cx="1086424" cy="439950"/>
          </a:xfrm>
          <a:prstGeom prst="rect">
            <a:avLst/>
          </a:prstGeom>
          <a:noFill/>
          <a:ln>
            <a:noFill/>
          </a:ln>
        </p:spPr>
      </p:pic>
      <p:pic>
        <p:nvPicPr>
          <p:cNvPr descr="&lt;math xmlns=&quot;http://www.w3.org/1998/Math/MathML&quot; display=&quot;block&quot; data-is-equatio=&quot;1&quot; data-latex=&quot;\approx\ \left(-20\right)^2&quot;&gt;&lt;mo&gt;≈&lt;/mo&gt;&lt;mtext&gt;&lt;/mtext&gt;&lt;msup&gt;&lt;mrow data-mjx-texclass=&quot;INNER&quot;&gt;&lt;mo data-mjx-texclass=&quot;OPEN&quot;&gt;(&lt;/mo&gt;&lt;mo&gt;−&lt;/mo&gt;&lt;mn&gt;20&lt;/mn&gt;&lt;mo data-mjx-texclass=&quot;CLOSE&quot;&gt;)&lt;/mo&gt;&lt;/mrow&gt;&lt;mn&gt;2&lt;/mn&gt;&lt;/msup&gt;&lt;/math&gt;" id="1880" name="Google Shape;1880;p149" title="almost equals open paren negative 20 close paren squared"/>
          <p:cNvPicPr preferRelativeResize="0"/>
          <p:nvPr/>
        </p:nvPicPr>
        <p:blipFill>
          <a:blip r:embed="rId6">
            <a:alphaModFix/>
          </a:blip>
          <a:stretch>
            <a:fillRect/>
          </a:stretch>
        </p:blipFill>
        <p:spPr>
          <a:xfrm>
            <a:off x="6870325" y="2334625"/>
            <a:ext cx="1177750" cy="33067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
        <p:nvSpPr>
          <p:cNvPr id="1885" name="Google Shape;1885;p150"/>
          <p:cNvSpPr txBox="1"/>
          <p:nvPr>
            <p:ph idx="1" type="body"/>
          </p:nvPr>
        </p:nvSpPr>
        <p:spPr>
          <a:xfrm>
            <a:off x="324000" y="759300"/>
            <a:ext cx="8455500" cy="52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a:t>
            </a:r>
            <a:r>
              <a:rPr b="1" lang="en-GB" sz="2000"/>
              <a:t>Estimate</a:t>
            </a:r>
            <a:r>
              <a:rPr lang="en-GB" sz="2000"/>
              <a:t> the following, making sure to show your working out.</a:t>
            </a:r>
            <a:endParaRPr sz="2000"/>
          </a:p>
        </p:txBody>
      </p:sp>
      <p:sp>
        <p:nvSpPr>
          <p:cNvPr id="1886" name="Google Shape;1886;p15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87" name="Google Shape;1887;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77263" l="0" r="50631" t="0"/>
          <a:stretch/>
        </p:blipFill>
        <p:spPr>
          <a:xfrm>
            <a:off x="798625" y="1241150"/>
            <a:ext cx="1573600" cy="713375"/>
          </a:xfrm>
          <a:prstGeom prst="rect">
            <a:avLst/>
          </a:prstGeom>
          <a:noFill/>
          <a:ln>
            <a:noFill/>
          </a:ln>
        </p:spPr>
      </p:pic>
      <p:sp>
        <p:nvSpPr>
          <p:cNvPr id="1888" name="Google Shape;1888;p150"/>
          <p:cNvSpPr txBox="1"/>
          <p:nvPr/>
        </p:nvSpPr>
        <p:spPr>
          <a:xfrm>
            <a:off x="324000" y="124115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1889" name="Google Shape;1889;p150"/>
          <p:cNvSpPr txBox="1"/>
          <p:nvPr/>
        </p:nvSpPr>
        <p:spPr>
          <a:xfrm>
            <a:off x="4356075" y="124115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90" name="Google Shape;1890;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77263" l="49677" r="-2565" t="0"/>
          <a:stretch/>
        </p:blipFill>
        <p:spPr>
          <a:xfrm>
            <a:off x="2459650" y="1241150"/>
            <a:ext cx="1685775" cy="713375"/>
          </a:xfrm>
          <a:prstGeom prst="rect">
            <a:avLst/>
          </a:prstGeom>
          <a:noFill/>
          <a:ln>
            <a:noFill/>
          </a:ln>
        </p:spPr>
      </p:pic>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91" name="Google Shape;1891;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54088" l="-1889" r="67783" t="23175"/>
          <a:stretch/>
        </p:blipFill>
        <p:spPr>
          <a:xfrm>
            <a:off x="2526725" y="1934575"/>
            <a:ext cx="1087124" cy="713375"/>
          </a:xfrm>
          <a:prstGeom prst="rect">
            <a:avLst/>
          </a:prstGeom>
          <a:noFill/>
          <a:ln>
            <a:noFill/>
          </a:ln>
        </p:spPr>
      </p:pic>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92" name="Google Shape;1892;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31351" l="-1886" r="37718" t="45911"/>
          <a:stretch/>
        </p:blipFill>
        <p:spPr>
          <a:xfrm>
            <a:off x="2526725" y="2647950"/>
            <a:ext cx="2045275" cy="713375"/>
          </a:xfrm>
          <a:prstGeom prst="rect">
            <a:avLst/>
          </a:prstGeom>
          <a:noFill/>
          <a:ln>
            <a:noFill/>
          </a:ln>
        </p:spPr>
      </p:pic>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93" name="Google Shape;1893;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10051" l="-1892" r="37724" t="67211"/>
          <a:stretch/>
        </p:blipFill>
        <p:spPr>
          <a:xfrm>
            <a:off x="2526725" y="3392400"/>
            <a:ext cx="2045275" cy="713375"/>
          </a:xfrm>
          <a:prstGeom prst="rect">
            <a:avLst/>
          </a:prstGeom>
          <a:noFill/>
          <a:ln>
            <a:noFill/>
          </a:ln>
        </p:spPr>
      </p:pic>
      <p:pic>
        <p:nvPicPr>
          <p:cNvPr descr="&lt;math xmlns=&quot;http://www.w3.org/1998/Math/MathML&quot; display=&quot;block&quot; data-is-equatio=&quot;1&quot; data-latex=&quot;\begin{array}{l}\frac{15.3\ -\ 7.81}{0.24}\approx\frac{20\ -\ 10}{0.2}\\&amp;#13;&amp;#10;\approx\frac{10}{0.2}\\&amp;#13;&amp;#10;\approx10\ \div\ \frac{1}{5}\\&amp;#13;&amp;#10;\approx\ 10\ \times5\\&amp;#13;&amp;#10;\approx\ 50\end{array}&quot;&gt;&lt;mtable columnalign=&quot;left&quot; columnspacing=&quot;1em&quot; rowspacing=&quot;4pt&quot;&gt;&lt;mtr&gt;&lt;mtd&gt;&lt;mfrac&gt;&lt;mrow&gt;&lt;mn&gt;15.3&lt;/mn&gt;&lt;mtext&gt;&lt;/mtext&gt;&lt;mo&gt;−&lt;/mo&gt;&lt;mtext&gt;&lt;/mtext&gt;&lt;mn&gt;7.81&lt;/mn&gt;&lt;/mrow&gt;&lt;mn&gt;0.24&lt;/mn&gt;&lt;/mfrac&gt;&lt;mo&gt;≈&lt;/mo&gt;&lt;mfrac&gt;&lt;mrow&gt;&lt;mn&gt;20&lt;/mn&gt;&lt;mtext&gt;&lt;/mtext&gt;&lt;mo&gt;−&lt;/mo&gt;&lt;mtext&gt;&lt;/mtext&gt;&lt;mn&gt;10&lt;/mn&gt;&lt;/mrow&gt;&lt;mn&gt;0.2&lt;/mn&gt;&lt;/mfrac&gt;&lt;/mtd&gt;&lt;/mtr&gt;&lt;mtr&gt;&lt;mtd&gt;&lt;mo&gt;≈&lt;/mo&gt;&lt;mfrac&gt;&lt;mn&gt;10&lt;/mn&gt;&lt;mn&gt;0.2&lt;/mn&gt;&lt;/mfrac&gt;&lt;/mtd&gt;&lt;/mtr&gt;&lt;mtr&gt;&lt;mtd&gt;&lt;mo&gt;≈&lt;/mo&gt;&lt;mn&gt;10&lt;/mn&gt;&lt;mtext&gt;&lt;/mtext&gt;&lt;mo&gt;÷&lt;/mo&gt;&lt;mtext&gt;&lt;/mtext&gt;&lt;mfrac&gt;&lt;mn&gt;1&lt;/mn&gt;&lt;mn&gt;5&lt;/mn&gt;&lt;/mfrac&gt;&lt;/mtd&gt;&lt;/mtr&gt;&lt;mtr&gt;&lt;mtd&gt;&lt;mo&gt;≈&lt;/mo&gt;&lt;mtext&gt;&lt;/mtext&gt;&lt;mn&gt;10&lt;/mn&gt;&lt;mtext&gt;&lt;/mtext&gt;&lt;mo&gt;×&lt;/mo&gt;&lt;mn&gt;5&lt;/mn&gt;&lt;/mtd&gt;&lt;/mtr&gt;&lt;mtr&gt;&lt;mtd&gt;&lt;mo&gt;≈&lt;/mo&gt;&lt;mtext&gt;&lt;/mtext&gt;&lt;mn&gt;50&lt;/mn&gt;&lt;/mtd&gt;&lt;/mtr&gt;&lt;/mtable&gt;&lt;/math&gt;" id="1894" name="Google Shape;1894;p150" title="5 lines Line 1: the fraction with numerator 15.3 minus 7.81 and denominator 0.24 almost equals the fraction with numerator 20 minus 10 and denominator 0.2 Line 2: almost equals 10 over 0.2 Line 3: almost equals 10 division sign one fifth Line 4: almost equals 10 times 5 Line 5: almost equals 50"/>
          <p:cNvPicPr preferRelativeResize="0"/>
          <p:nvPr/>
        </p:nvPicPr>
        <p:blipFill rotWithShape="1">
          <a:blip r:embed="rId3">
            <a:alphaModFix/>
          </a:blip>
          <a:srcRect b="-5493" l="-1892" r="37724" t="82756"/>
          <a:stretch/>
        </p:blipFill>
        <p:spPr>
          <a:xfrm>
            <a:off x="2526725" y="3978550"/>
            <a:ext cx="2045275" cy="713375"/>
          </a:xfrm>
          <a:prstGeom prst="rect">
            <a:avLst/>
          </a:prstGeom>
          <a:noFill/>
          <a:ln>
            <a:noFill/>
          </a:ln>
        </p:spPr>
      </p:pic>
      <p:pic>
        <p:nvPicPr>
          <p:cNvPr descr="&lt;math xmlns=&quot;http://www.w3.org/1998/Math/MathML&quot; display=&quot;block&quot; data-is-equatio=&quot;1&quot; data-latex=&quot;\begin{array}{l}\frac{9.6\ +\ 16.51}{19.3+7.51^2}\approx\frac{10\ +\ 20}{20\ +10^2}\\&amp;#13;&amp;#10;\approx\frac{30}{20+100}\\&amp;#13;&amp;#10;\approx\frac{30}{120}\\&amp;#13;&amp;#10;\approx\frac{1}{4}\end{array}&quot;&gt;&lt;mtable columnalign=&quot;left&quot; columnspacing=&quot;1em&quot; rowspacing=&quot;4pt&quot;&gt;&lt;mtr&gt;&lt;mtd&gt;&lt;mfrac&gt;&lt;mrow&gt;&lt;mn&gt;9.6&lt;/mn&gt;&lt;mtext&gt;&lt;/mtext&gt;&lt;mo&gt;+&lt;/mo&gt;&lt;mtext&gt;&lt;/mtext&gt;&lt;mn&gt;16.51&lt;/mn&gt;&lt;/mrow&gt;&lt;mrow&gt;&lt;mn&gt;19.3&lt;/mn&gt;&lt;mo&gt;+&lt;/mo&gt;&lt;msup&gt;&lt;mn&gt;7.51&lt;/mn&gt;&lt;mn&gt;2&lt;/mn&gt;&lt;/msup&gt;&lt;/mrow&gt;&lt;/mfrac&gt;&lt;mo&gt;≈&lt;/mo&gt;&lt;mfrac&gt;&lt;mrow&gt;&lt;mn&gt;10&lt;/mn&gt;&lt;mtext&gt;&lt;/mtext&gt;&lt;mo&gt;+&lt;/mo&gt;&lt;mtext&gt;&lt;/mtext&gt;&lt;mn&gt;20&lt;/mn&gt;&lt;/mrow&gt;&lt;mrow&gt;&lt;mn&gt;20&lt;/mn&gt;&lt;mtext&gt;&lt;/mtext&gt;&lt;mo&gt;+&lt;/mo&gt;&lt;msup&gt;&lt;mn&gt;10&lt;/mn&gt;&lt;mn&gt;2&lt;/mn&gt;&lt;/msup&gt;&lt;/mrow&gt;&lt;/mfrac&gt;&lt;/mtd&gt;&lt;/mtr&gt;&lt;mtr&gt;&lt;mtd&gt;&lt;mo&gt;≈&lt;/mo&gt;&lt;mfrac&gt;&lt;mn&gt;30&lt;/mn&gt;&lt;mrow&gt;&lt;mn&gt;20&lt;/mn&gt;&lt;mo&gt;+&lt;/mo&gt;&lt;mn&gt;100&lt;/mn&gt;&lt;/mrow&gt;&lt;/mfrac&gt;&lt;/mtd&gt;&lt;/mtr&gt;&lt;mtr&gt;&lt;mtd&gt;&lt;mo&gt;≈&lt;/mo&gt;&lt;mfrac&gt;&lt;mn&gt;30&lt;/mn&gt;&lt;mn&gt;120&lt;/mn&gt;&lt;/mfrac&gt;&lt;/mtd&gt;&lt;/mtr&gt;&lt;mtr&gt;&lt;mtd&gt;&lt;mo&gt;≈&lt;/mo&gt;&lt;mfrac&gt;&lt;mn&gt;1&lt;/mn&gt;&lt;mn&gt;4&lt;/mn&gt;&lt;/mfrac&gt;&lt;/mtd&gt;&lt;/mtr&gt;&lt;/mtable&gt;&lt;/math&gt;" id="1895" name="Google Shape;1895;p150" title="4 lines Line 1: the fraction with numerator 9.6 plus 16.51 and denominator 19.3 plus 7.51 squared almost equals the fraction with numerator 10 plus 20 and denominator 20 positive 10 squared Line 2: almost equals the fraction with numerator 30 and denominator 20 plus 100 Line 3: almost equals 30 over 120 Line 4: almost equals one fourth"/>
          <p:cNvPicPr preferRelativeResize="0"/>
          <p:nvPr/>
        </p:nvPicPr>
        <p:blipFill rotWithShape="1">
          <a:blip r:embed="rId4">
            <a:alphaModFix/>
          </a:blip>
          <a:srcRect b="73384" l="48391" r="-5141" t="0"/>
          <a:stretch/>
        </p:blipFill>
        <p:spPr>
          <a:xfrm>
            <a:off x="6684675" y="1191450"/>
            <a:ext cx="1950975" cy="812750"/>
          </a:xfrm>
          <a:prstGeom prst="rect">
            <a:avLst/>
          </a:prstGeom>
          <a:noFill/>
          <a:ln>
            <a:noFill/>
          </a:ln>
        </p:spPr>
      </p:pic>
      <p:pic>
        <p:nvPicPr>
          <p:cNvPr descr="&lt;math xmlns=&quot;http://www.w3.org/1998/Math/MathML&quot; display=&quot;block&quot; data-is-equatio=&quot;1&quot; data-latex=&quot;\begin{array}{l}\frac{9.6\ +\ 16.51}{19.3+7.51^2}\approx\frac{10\ +\ 20}{20\ +10^2}\\&amp;#13;&amp;#10;\approx\frac{30}{20+100}\\&amp;#13;&amp;#10;\approx\frac{30}{120}\\&amp;#13;&amp;#10;\approx\frac{1}{4}\end{array}&quot;&gt;&lt;mtable columnalign=&quot;left&quot; columnspacing=&quot;1em&quot; rowspacing=&quot;4pt&quot;&gt;&lt;mtr&gt;&lt;mtd&gt;&lt;mfrac&gt;&lt;mrow&gt;&lt;mn&gt;9.6&lt;/mn&gt;&lt;mtext&gt;&lt;/mtext&gt;&lt;mo&gt;+&lt;/mo&gt;&lt;mtext&gt;&lt;/mtext&gt;&lt;mn&gt;16.51&lt;/mn&gt;&lt;/mrow&gt;&lt;mrow&gt;&lt;mn&gt;19.3&lt;/mn&gt;&lt;mo&gt;+&lt;/mo&gt;&lt;msup&gt;&lt;mn&gt;7.51&lt;/mn&gt;&lt;mn&gt;2&lt;/mn&gt;&lt;/msup&gt;&lt;/mrow&gt;&lt;/mfrac&gt;&lt;mo&gt;≈&lt;/mo&gt;&lt;mfrac&gt;&lt;mrow&gt;&lt;mn&gt;10&lt;/mn&gt;&lt;mtext&gt;&lt;/mtext&gt;&lt;mo&gt;+&lt;/mo&gt;&lt;mtext&gt;&lt;/mtext&gt;&lt;mn&gt;20&lt;/mn&gt;&lt;/mrow&gt;&lt;mrow&gt;&lt;mn&gt;20&lt;/mn&gt;&lt;mtext&gt;&lt;/mtext&gt;&lt;mo&gt;+&lt;/mo&gt;&lt;msup&gt;&lt;mn&gt;10&lt;/mn&gt;&lt;mn&gt;2&lt;/mn&gt;&lt;/msup&gt;&lt;/mrow&gt;&lt;/mfrac&gt;&lt;/mtd&gt;&lt;/mtr&gt;&lt;mtr&gt;&lt;mtd&gt;&lt;mo&gt;≈&lt;/mo&gt;&lt;mfrac&gt;&lt;mn&gt;30&lt;/mn&gt;&lt;mrow&gt;&lt;mn&gt;20&lt;/mn&gt;&lt;mo&gt;+&lt;/mo&gt;&lt;mn&gt;100&lt;/mn&gt;&lt;/mrow&gt;&lt;/mfrac&gt;&lt;/mtd&gt;&lt;/mtr&gt;&lt;mtr&gt;&lt;mtd&gt;&lt;mo&gt;≈&lt;/mo&gt;&lt;mfrac&gt;&lt;mn&gt;30&lt;/mn&gt;&lt;mn&gt;120&lt;/mn&gt;&lt;/mfrac&gt;&lt;/mtd&gt;&lt;/mtr&gt;&lt;mtr&gt;&lt;mtd&gt;&lt;mo&gt;≈&lt;/mo&gt;&lt;mfrac&gt;&lt;mn&gt;1&lt;/mn&gt;&lt;mn&gt;4&lt;/mn&gt;&lt;/mfrac&gt;&lt;/mtd&gt;&lt;/mtr&gt;&lt;/mtable&gt;&lt;/math&gt;" id="1896" name="Google Shape;1896;p150" title="4 lines Line 1: the fraction with numerator 9.6 plus 16.51 and denominator 19.3 plus 7.51 squared almost equals the fraction with numerator 10 plus 20 and denominator 20 positive 10 squared Line 2: almost equals the fraction with numerator 30 and denominator 20 plus 100 Line 3: almost equals 30 over 120 Line 4: almost equals one fourth"/>
          <p:cNvPicPr preferRelativeResize="0"/>
          <p:nvPr/>
        </p:nvPicPr>
        <p:blipFill rotWithShape="1">
          <a:blip r:embed="rId4">
            <a:alphaModFix/>
          </a:blip>
          <a:srcRect b="46170" l="-2582" r="45831" t="27214"/>
          <a:stretch/>
        </p:blipFill>
        <p:spPr>
          <a:xfrm>
            <a:off x="6760875" y="2156600"/>
            <a:ext cx="1950975" cy="812750"/>
          </a:xfrm>
          <a:prstGeom prst="rect">
            <a:avLst/>
          </a:prstGeom>
          <a:noFill/>
          <a:ln>
            <a:noFill/>
          </a:ln>
        </p:spPr>
      </p:pic>
      <p:pic>
        <p:nvPicPr>
          <p:cNvPr descr="&lt;math xmlns=&quot;http://www.w3.org/1998/Math/MathML&quot; display=&quot;block&quot; data-is-equatio=&quot;1&quot; data-latex=&quot;\begin{array}{l}\frac{9.6\ +\ 16.51}{19.3+7.51^2}\approx\frac{10\ +\ 20}{20\ +10^2}\\&amp;#13;&amp;#10;\approx\frac{30}{20+100}\\&amp;#13;&amp;#10;\approx\frac{30}{120}\\&amp;#13;&amp;#10;\approx\frac{1}{4}\end{array}&quot;&gt;&lt;mtable columnalign=&quot;left&quot; columnspacing=&quot;1em&quot; rowspacing=&quot;4pt&quot;&gt;&lt;mtr&gt;&lt;mtd&gt;&lt;mfrac&gt;&lt;mrow&gt;&lt;mn&gt;9.6&lt;/mn&gt;&lt;mtext&gt;&lt;/mtext&gt;&lt;mo&gt;+&lt;/mo&gt;&lt;mtext&gt;&lt;/mtext&gt;&lt;mn&gt;16.51&lt;/mn&gt;&lt;/mrow&gt;&lt;mrow&gt;&lt;mn&gt;19.3&lt;/mn&gt;&lt;mo&gt;+&lt;/mo&gt;&lt;msup&gt;&lt;mn&gt;7.51&lt;/mn&gt;&lt;mn&gt;2&lt;/mn&gt;&lt;/msup&gt;&lt;/mrow&gt;&lt;/mfrac&gt;&lt;mo&gt;≈&lt;/mo&gt;&lt;mfrac&gt;&lt;mrow&gt;&lt;mn&gt;10&lt;/mn&gt;&lt;mtext&gt;&lt;/mtext&gt;&lt;mo&gt;+&lt;/mo&gt;&lt;mtext&gt;&lt;/mtext&gt;&lt;mn&gt;20&lt;/mn&gt;&lt;/mrow&gt;&lt;mrow&gt;&lt;mn&gt;20&lt;/mn&gt;&lt;mtext&gt;&lt;/mtext&gt;&lt;mo&gt;+&lt;/mo&gt;&lt;msup&gt;&lt;mn&gt;10&lt;/mn&gt;&lt;mn&gt;2&lt;/mn&gt;&lt;/msup&gt;&lt;/mrow&gt;&lt;/mfrac&gt;&lt;/mtd&gt;&lt;/mtr&gt;&lt;mtr&gt;&lt;mtd&gt;&lt;mo&gt;≈&lt;/mo&gt;&lt;mfrac&gt;&lt;mn&gt;30&lt;/mn&gt;&lt;mrow&gt;&lt;mn&gt;20&lt;/mn&gt;&lt;mo&gt;+&lt;/mo&gt;&lt;mn&gt;100&lt;/mn&gt;&lt;/mrow&gt;&lt;/mfrac&gt;&lt;/mtd&gt;&lt;/mtr&gt;&lt;mtr&gt;&lt;mtd&gt;&lt;mo&gt;≈&lt;/mo&gt;&lt;mfrac&gt;&lt;mn&gt;30&lt;/mn&gt;&lt;mn&gt;120&lt;/mn&gt;&lt;/mfrac&gt;&lt;/mtd&gt;&lt;/mtr&gt;&lt;mtr&gt;&lt;mtd&gt;&lt;mo&gt;≈&lt;/mo&gt;&lt;mfrac&gt;&lt;mn&gt;1&lt;/mn&gt;&lt;mn&gt;4&lt;/mn&gt;&lt;/mfrac&gt;&lt;/mtd&gt;&lt;/mtr&gt;&lt;/mtable&gt;&lt;/math&gt;" id="1897" name="Google Shape;1897;p150" title="4 lines Line 1: the fraction with numerator 9.6 plus 16.51 and denominator 19.3 plus 7.51 squared almost equals the fraction with numerator 10 plus 20 and denominator 20 positive 10 squared Line 2: almost equals the fraction with numerator 30 and denominator 20 plus 100 Line 3: almost equals 30 over 120 Line 4: almost equals one fourth"/>
          <p:cNvPicPr preferRelativeResize="0"/>
          <p:nvPr/>
        </p:nvPicPr>
        <p:blipFill rotWithShape="1">
          <a:blip r:embed="rId4">
            <a:alphaModFix/>
          </a:blip>
          <a:srcRect b="19535" l="-2258" r="45508" t="52396"/>
          <a:stretch/>
        </p:blipFill>
        <p:spPr>
          <a:xfrm>
            <a:off x="6771960" y="3064215"/>
            <a:ext cx="1950975" cy="857100"/>
          </a:xfrm>
          <a:prstGeom prst="rect">
            <a:avLst/>
          </a:prstGeom>
          <a:noFill/>
          <a:ln>
            <a:noFill/>
          </a:ln>
        </p:spPr>
      </p:pic>
      <p:pic>
        <p:nvPicPr>
          <p:cNvPr descr="&lt;math xmlns=&quot;http://www.w3.org/1998/Math/MathML&quot; display=&quot;block&quot; data-is-equatio=&quot;1&quot; data-latex=&quot;\begin{array}{l}\frac{9.6\ +\ 16.51}{19.3+7.51^2}\approx\frac{10\ +\ 20}{20\ +10^2}\\&amp;#13;&amp;#10;\approx\frac{30}{20+100}\\&amp;#13;&amp;#10;\approx\frac{30}{120}\\&amp;#13;&amp;#10;\approx\frac{1}{4}\end{array}&quot;&gt;&lt;mtable columnalign=&quot;left&quot; columnspacing=&quot;1em&quot; rowspacing=&quot;4pt&quot;&gt;&lt;mtr&gt;&lt;mtd&gt;&lt;mfrac&gt;&lt;mrow&gt;&lt;mn&gt;9.6&lt;/mn&gt;&lt;mtext&gt;&lt;/mtext&gt;&lt;mo&gt;+&lt;/mo&gt;&lt;mtext&gt;&lt;/mtext&gt;&lt;mn&gt;16.51&lt;/mn&gt;&lt;/mrow&gt;&lt;mrow&gt;&lt;mn&gt;19.3&lt;/mn&gt;&lt;mo&gt;+&lt;/mo&gt;&lt;msup&gt;&lt;mn&gt;7.51&lt;/mn&gt;&lt;mn&gt;2&lt;/mn&gt;&lt;/msup&gt;&lt;/mrow&gt;&lt;/mfrac&gt;&lt;mo&gt;≈&lt;/mo&gt;&lt;mfrac&gt;&lt;mrow&gt;&lt;mn&gt;10&lt;/mn&gt;&lt;mtext&gt;&lt;/mtext&gt;&lt;mo&gt;+&lt;/mo&gt;&lt;mtext&gt;&lt;/mtext&gt;&lt;mn&gt;20&lt;/mn&gt;&lt;/mrow&gt;&lt;mrow&gt;&lt;mn&gt;20&lt;/mn&gt;&lt;mtext&gt;&lt;/mtext&gt;&lt;mo&gt;+&lt;/mo&gt;&lt;msup&gt;&lt;mn&gt;10&lt;/mn&gt;&lt;mn&gt;2&lt;/mn&gt;&lt;/msup&gt;&lt;/mrow&gt;&lt;/mfrac&gt;&lt;/mtd&gt;&lt;/mtr&gt;&lt;mtr&gt;&lt;mtd&gt;&lt;mo&gt;≈&lt;/mo&gt;&lt;mfrac&gt;&lt;mn&gt;30&lt;/mn&gt;&lt;mrow&gt;&lt;mn&gt;20&lt;/mn&gt;&lt;mo&gt;+&lt;/mo&gt;&lt;mn&gt;100&lt;/mn&gt;&lt;/mrow&gt;&lt;/mfrac&gt;&lt;/mtd&gt;&lt;/mtr&gt;&lt;mtr&gt;&lt;mtd&gt;&lt;mo&gt;≈&lt;/mo&gt;&lt;mfrac&gt;&lt;mn&gt;30&lt;/mn&gt;&lt;mn&gt;120&lt;/mn&gt;&lt;/mfrac&gt;&lt;/mtd&gt;&lt;/mtr&gt;&lt;mtr&gt;&lt;mtd&gt;&lt;mo&gt;≈&lt;/mo&gt;&lt;mfrac&gt;&lt;mn&gt;1&lt;/mn&gt;&lt;mn&gt;4&lt;/mn&gt;&lt;/mfrac&gt;&lt;/mtd&gt;&lt;/mtr&gt;&lt;/mtable&gt;&lt;/math&gt;" id="1898" name="Google Shape;1898;p150" title="4 lines Line 1: the fraction with numerator 9.6 plus 16.51 and denominator 19.3 plus 7.51 squared almost equals the fraction with numerator 10 plus 20 and denominator 20 positive 10 squared Line 2: almost equals the fraction with numerator 30 and denominator 20 plus 100 Line 3: almost equals 30 over 120 Line 4: almost equals one fourth"/>
          <p:cNvPicPr preferRelativeResize="0"/>
          <p:nvPr/>
        </p:nvPicPr>
        <p:blipFill rotWithShape="1">
          <a:blip r:embed="rId4">
            <a:alphaModFix/>
          </a:blip>
          <a:srcRect b="-2969" l="0" r="70987" t="74901"/>
          <a:stretch/>
        </p:blipFill>
        <p:spPr>
          <a:xfrm>
            <a:off x="6859245" y="3750100"/>
            <a:ext cx="997400" cy="857100"/>
          </a:xfrm>
          <a:prstGeom prst="rect">
            <a:avLst/>
          </a:prstGeom>
          <a:noFill/>
          <a:ln>
            <a:noFill/>
          </a:ln>
        </p:spPr>
      </p:pic>
      <p:pic>
        <p:nvPicPr>
          <p:cNvPr descr="&lt;math xmlns=&quot;http://www.w3.org/1998/Math/MathML&quot; display=&quot;block&quot; data-is-equatio=&quot;1&quot; data-latex=&quot;\begin{array}{l}\frac{9.6\ +\ 16.51}{19.3+9.51^2}\end{array}&quot;&gt;&lt;mtable columnalign=&quot;left&quot; columnspacing=&quot;1em&quot; rowspacing=&quot;4pt&quot;&gt;&lt;mtr&gt;&lt;mtd&gt;&lt;mfrac&gt;&lt;mrow&gt;&lt;mn&gt;9.6&lt;/mn&gt;&lt;mtext&gt;&lt;/mtext&gt;&lt;mo&gt;+&lt;/mo&gt;&lt;mtext&gt;&lt;/mtext&gt;&lt;mn&gt;16.51&lt;/mn&gt;&lt;/mrow&gt;&lt;mrow&gt;&lt;mn&gt;19.3&lt;/mn&gt;&lt;mo&gt;+&lt;/mo&gt;&lt;msup&gt;&lt;mn&gt;9.51&lt;/mn&gt;&lt;mn&gt;2&lt;/mn&gt;&lt;/msup&gt;&lt;/mrow&gt;&lt;/mfrac&gt;&lt;/mtd&gt;&lt;/mtr&gt;&lt;/mtable&gt;&lt;/math&gt;" id="1899" name="Google Shape;1899;p150" title="1 lines Line 1: the fraction with numerator 9.6 plus 16.51 and denominator 19.3 plus 9.51 squared"/>
          <p:cNvPicPr preferRelativeResize="0"/>
          <p:nvPr/>
        </p:nvPicPr>
        <p:blipFill>
          <a:blip r:embed="rId5">
            <a:alphaModFix/>
          </a:blip>
          <a:stretch>
            <a:fillRect/>
          </a:stretch>
        </p:blipFill>
        <p:spPr>
          <a:xfrm>
            <a:off x="4982738" y="1191438"/>
            <a:ext cx="1585278" cy="713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151"/>
          <p:cNvSpPr txBox="1"/>
          <p:nvPr>
            <p:ph idx="1" type="body"/>
          </p:nvPr>
        </p:nvSpPr>
        <p:spPr>
          <a:xfrm>
            <a:off x="324000" y="759300"/>
            <a:ext cx="84960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a:t>
            </a:r>
            <a:r>
              <a:rPr b="1" lang="en-GB" sz="2000"/>
              <a:t>Estimate</a:t>
            </a:r>
            <a:r>
              <a:rPr lang="en-GB" sz="2000"/>
              <a:t> the following, making sure to show your working out.</a:t>
            </a:r>
            <a:endParaRPr sz="2000"/>
          </a:p>
        </p:txBody>
      </p:sp>
      <p:sp>
        <p:nvSpPr>
          <p:cNvPr id="1905" name="Google Shape;1905;p15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906" name="Google Shape;1906;p151"/>
          <p:cNvSpPr txBox="1"/>
          <p:nvPr/>
        </p:nvSpPr>
        <p:spPr>
          <a:xfrm>
            <a:off x="324000"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1907" name="Google Shape;1907;p151"/>
          <p:cNvSpPr txBox="1"/>
          <p:nvPr/>
        </p:nvSpPr>
        <p:spPr>
          <a:xfrm>
            <a:off x="4432275" y="1294200"/>
            <a:ext cx="51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34^2-\sqrt{139.82}\approx30^2-\sqrt{144}\approx900\ -\ 12\ \approx888&quot;&gt;&lt;msup&gt;&lt;mn&gt;34&lt;/mn&gt;&lt;mn&gt;2&lt;/mn&gt;&lt;/msup&gt;&lt;mo&gt;−&lt;/mo&gt;&lt;msqrt&gt;&lt;mn&gt;139.82&lt;/mn&gt;&lt;/msqrt&gt;&lt;mo&gt;≈&lt;/mo&gt;&lt;msup&gt;&lt;mn&gt;30&lt;/mn&gt;&lt;mn&gt;2&lt;/mn&gt;&lt;/msup&gt;&lt;mo&gt;−&lt;/mo&gt;&lt;msqrt&gt;&lt;mn&gt;144&lt;/mn&gt;&lt;/msqrt&gt;&lt;mo&gt;≈&lt;/mo&gt;&lt;mn&gt;900&lt;/mn&gt;&lt;mtext&gt;&lt;/mtext&gt;&lt;mo&gt;−&lt;/mo&gt;&lt;mtext&gt;&lt;/mtext&gt;&lt;mn&gt;12&lt;/mn&gt;&lt;mtext&gt;&lt;/mtext&gt;&lt;mo&gt;≈&lt;/mo&gt;&lt;mn&gt;888&lt;/mn&gt;&lt;/math&gt;" id="1908" name="Google Shape;1908;p151" title="34 squared minus the square root of 139.82 almost equals 30 squared minus the square root of 144 almost equals 900 minus 12 almost equals 888"/>
          <p:cNvPicPr preferRelativeResize="0"/>
          <p:nvPr/>
        </p:nvPicPr>
        <p:blipFill rotWithShape="1">
          <a:blip r:embed="rId3">
            <a:alphaModFix/>
          </a:blip>
          <a:srcRect b="0" l="0" r="68900" t="0"/>
          <a:stretch/>
        </p:blipFill>
        <p:spPr>
          <a:xfrm>
            <a:off x="4789867" y="1428600"/>
            <a:ext cx="1952750" cy="382800"/>
          </a:xfrm>
          <a:prstGeom prst="rect">
            <a:avLst/>
          </a:prstGeom>
          <a:noFill/>
          <a:ln>
            <a:noFill/>
          </a:ln>
        </p:spPr>
      </p:pic>
      <p:pic>
        <p:nvPicPr>
          <p:cNvPr descr="&lt;math xmlns=&quot;http://www.w3.org/1998/Math/MathML&quot; display=&quot;block&quot; data-is-equatio=&quot;1&quot; data-latex=&quot;\frac{11.049+4.21}{0.82\ -\ 0.301}\approx\frac{10-4}{0.8-0.3}\ \approx\frac{6}{0.5}\approx6\ \div\frac{1}{2}\approx6\ \times2\ \approx12&quot;&gt;&lt;mfrac&gt;&lt;mrow&gt;&lt;mn&gt;11.049&lt;/mn&gt;&lt;mo&gt;+&lt;/mo&gt;&lt;mn&gt;4.21&lt;/mn&gt;&lt;/mrow&gt;&lt;mrow&gt;&lt;mn&gt;0.82&lt;/mn&gt;&lt;mtext&gt;&lt;/mtext&gt;&lt;mo&gt;−&lt;/mo&gt;&lt;mtext&gt;&lt;/mtext&gt;&lt;mn&gt;0.301&lt;/mn&gt;&lt;/mrow&gt;&lt;/mfrac&gt;&lt;mo&gt;≈&lt;/mo&gt;&lt;mfrac&gt;&lt;mrow&gt;&lt;mn&gt;10&lt;/mn&gt;&lt;mo&gt;−&lt;/mo&gt;&lt;mn&gt;4&lt;/mn&gt;&lt;/mrow&gt;&lt;mrow&gt;&lt;mn&gt;0.8&lt;/mn&gt;&lt;mo&gt;−&lt;/mo&gt;&lt;mn&gt;0.3&lt;/mn&gt;&lt;/mrow&gt;&lt;/mfrac&gt;&lt;mtext&gt;&lt;/mtext&gt;&lt;mo&gt;≈&lt;/mo&gt;&lt;mfrac&gt;&lt;mn&gt;6&lt;/mn&gt;&lt;mn&gt;0.5&lt;/mn&gt;&lt;/mfrac&gt;&lt;mo&gt;≈&lt;/mo&gt;&lt;mn&gt;6&lt;/mn&gt;&lt;mtext&gt;&lt;/mtext&gt;&lt;mo&gt;÷&lt;/mo&gt;&lt;mfrac&gt;&lt;mn&gt;1&lt;/mn&gt;&lt;mn&gt;2&lt;/mn&gt;&lt;/mfrac&gt;&lt;mo&gt;≈&lt;/mo&gt;&lt;mn&gt;6&lt;/mn&gt;&lt;mtext&gt;&lt;/mtext&gt;&lt;mo&gt;×&lt;/mo&gt;&lt;mn&gt;2&lt;/mn&gt;&lt;mtext&gt;&lt;/mtext&gt;&lt;mo&gt;≈&lt;/mo&gt;&lt;mn&gt;12&lt;/mn&gt;&lt;/math&gt;" id="1909" name="Google Shape;1909;p151" title="the fraction with numerator 11.049 plus 4.21 and denominator 0.82 minus 0.301 almost equals the fraction with numerator 10 minus 4 and denominator 0.8 minus 0.3 almost equals 6 over 0.5 almost equals 6 division sign one half almost equals 6 times 2 almost equals 12"/>
          <p:cNvPicPr preferRelativeResize="0"/>
          <p:nvPr/>
        </p:nvPicPr>
        <p:blipFill rotWithShape="1">
          <a:blip r:embed="rId4">
            <a:alphaModFix/>
          </a:blip>
          <a:srcRect b="0" l="46957" r="41065" t="0"/>
          <a:stretch/>
        </p:blipFill>
        <p:spPr>
          <a:xfrm>
            <a:off x="2693774" y="2246650"/>
            <a:ext cx="898376" cy="650200"/>
          </a:xfrm>
          <a:prstGeom prst="rect">
            <a:avLst/>
          </a:prstGeom>
          <a:noFill/>
          <a:ln>
            <a:noFill/>
          </a:ln>
        </p:spPr>
      </p:pic>
      <p:pic>
        <p:nvPicPr>
          <p:cNvPr descr="&lt;math xmlns=&quot;http://www.w3.org/1998/Math/MathML&quot; display=&quot;block&quot; data-is-equatio=&quot;1&quot; data-latex=&quot;\frac{11.049+4.21}{0.82\ -\ 0.301}\approx\frac{10-4}{0.8-0.3}\ \approx\frac{6}{0.5}\approx6\ \div\frac{1}{2}\approx6\ \times2\ \approx12&quot;&gt;&lt;mfrac&gt;&lt;mrow&gt;&lt;mn&gt;11.049&lt;/mn&gt;&lt;mo&gt;+&lt;/mo&gt;&lt;mn&gt;4.21&lt;/mn&gt;&lt;/mrow&gt;&lt;mrow&gt;&lt;mn&gt;0.82&lt;/mn&gt;&lt;mtext&gt;&lt;/mtext&gt;&lt;mo&gt;−&lt;/mo&gt;&lt;mtext&gt;&lt;/mtext&gt;&lt;mn&gt;0.301&lt;/mn&gt;&lt;/mrow&gt;&lt;/mfrac&gt;&lt;mo&gt;≈&lt;/mo&gt;&lt;mfrac&gt;&lt;mrow&gt;&lt;mn&gt;10&lt;/mn&gt;&lt;mo&gt;−&lt;/mo&gt;&lt;mn&gt;4&lt;/mn&gt;&lt;/mrow&gt;&lt;mrow&gt;&lt;mn&gt;0.8&lt;/mn&gt;&lt;mo&gt;−&lt;/mo&gt;&lt;mn&gt;0.3&lt;/mn&gt;&lt;/mrow&gt;&lt;/mfrac&gt;&lt;mtext&gt;&lt;/mtext&gt;&lt;mo&gt;≈&lt;/mo&gt;&lt;mfrac&gt;&lt;mn&gt;6&lt;/mn&gt;&lt;mn&gt;0.5&lt;/mn&gt;&lt;/mfrac&gt;&lt;mo&gt;≈&lt;/mo&gt;&lt;mn&gt;6&lt;/mn&gt;&lt;mtext&gt;&lt;/mtext&gt;&lt;mo&gt;÷&lt;/mo&gt;&lt;mfrac&gt;&lt;mn&gt;1&lt;/mn&gt;&lt;mn&gt;2&lt;/mn&gt;&lt;/mfrac&gt;&lt;mo&gt;≈&lt;/mo&gt;&lt;mn&gt;6&lt;/mn&gt;&lt;mtext&gt;&lt;/mtext&gt;&lt;mo&gt;×&lt;/mo&gt;&lt;mn&gt;2&lt;/mn&gt;&lt;mtext&gt;&lt;/mtext&gt;&lt;mo&gt;≈&lt;/mo&gt;&lt;mn&gt;12&lt;/mn&gt;&lt;/math&gt;" id="1910" name="Google Shape;1910;p151" title="the fraction with numerator 11.049 plus 4.21 and denominator 0.82 minus 0.301 almost equals the fraction with numerator 10 minus 4 and denominator 0.8 minus 0.3 almost equals 6 over 0.5 almost equals 6 division sign one half almost equals 6 times 2 almost equals 12"/>
          <p:cNvPicPr preferRelativeResize="0"/>
          <p:nvPr/>
        </p:nvPicPr>
        <p:blipFill rotWithShape="1">
          <a:blip r:embed="rId4">
            <a:alphaModFix/>
          </a:blip>
          <a:srcRect b="0" l="24389" r="53042" t="0"/>
          <a:stretch/>
        </p:blipFill>
        <p:spPr>
          <a:xfrm>
            <a:off x="2693776" y="1422675"/>
            <a:ext cx="1692774" cy="650200"/>
          </a:xfrm>
          <a:prstGeom prst="rect">
            <a:avLst/>
          </a:prstGeom>
          <a:noFill/>
          <a:ln>
            <a:noFill/>
          </a:ln>
        </p:spPr>
      </p:pic>
      <p:pic>
        <p:nvPicPr>
          <p:cNvPr descr="&lt;math xmlns=&quot;http://www.w3.org/1998/Math/MathML&quot; display=&quot;block&quot; data-is-equatio=&quot;1&quot; data-latex=&quot;\frac{11.049+4.21}{0.82\ -\ 0.301}\approx\frac{10-4}{0.8-0.3}\ \approx\frac{6}{0.5}\approx6\ \div\frac{1}{2}\approx6\ \times2\ \approx12&quot;&gt;&lt;mfrac&gt;&lt;mrow&gt;&lt;mn&gt;11.049&lt;/mn&gt;&lt;mo&gt;+&lt;/mo&gt;&lt;mn&gt;4.21&lt;/mn&gt;&lt;/mrow&gt;&lt;mrow&gt;&lt;mn&gt;0.82&lt;/mn&gt;&lt;mtext&gt;&lt;/mtext&gt;&lt;mo&gt;−&lt;/mo&gt;&lt;mtext&gt;&lt;/mtext&gt;&lt;mn&gt;0.301&lt;/mn&gt;&lt;/mrow&gt;&lt;/mfrac&gt;&lt;mo&gt;≈&lt;/mo&gt;&lt;mfrac&gt;&lt;mrow&gt;&lt;mn&gt;10&lt;/mn&gt;&lt;mo&gt;−&lt;/mo&gt;&lt;mn&gt;4&lt;/mn&gt;&lt;/mrow&gt;&lt;mrow&gt;&lt;mn&gt;0.8&lt;/mn&gt;&lt;mo&gt;−&lt;/mo&gt;&lt;mn&gt;0.3&lt;/mn&gt;&lt;/mrow&gt;&lt;/mfrac&gt;&lt;mtext&gt;&lt;/mtext&gt;&lt;mo&gt;≈&lt;/mo&gt;&lt;mfrac&gt;&lt;mn&gt;6&lt;/mn&gt;&lt;mn&gt;0.5&lt;/mn&gt;&lt;/mfrac&gt;&lt;mo&gt;≈&lt;/mo&gt;&lt;mn&gt;6&lt;/mn&gt;&lt;mtext&gt;&lt;/mtext&gt;&lt;mo&gt;÷&lt;/mo&gt;&lt;mfrac&gt;&lt;mn&gt;1&lt;/mn&gt;&lt;mn&gt;2&lt;/mn&gt;&lt;/mfrac&gt;&lt;mo&gt;≈&lt;/mo&gt;&lt;mn&gt;6&lt;/mn&gt;&lt;mtext&gt;&lt;/mtext&gt;&lt;mo&gt;×&lt;/mo&gt;&lt;mn&gt;2&lt;/mn&gt;&lt;mtext&gt;&lt;/mtext&gt;&lt;mo&gt;≈&lt;/mo&gt;&lt;mn&gt;12&lt;/mn&gt;&lt;/math&gt;" id="1911" name="Google Shape;1911;p151" title="the fraction with numerator 11.049 plus 4.21 and denominator 0.82 minus 0.301 almost equals the fraction with numerator 10 minus 4 and denominator 0.8 minus 0.3 almost equals 6 over 0.5 almost equals 6 division sign one half almost equals 6 times 2 almost equals 12"/>
          <p:cNvPicPr preferRelativeResize="0"/>
          <p:nvPr/>
        </p:nvPicPr>
        <p:blipFill rotWithShape="1">
          <a:blip r:embed="rId4">
            <a:alphaModFix/>
          </a:blip>
          <a:srcRect b="0" l="59556" r="25078" t="0"/>
          <a:stretch/>
        </p:blipFill>
        <p:spPr>
          <a:xfrm>
            <a:off x="2769976" y="3014675"/>
            <a:ext cx="1152476" cy="650200"/>
          </a:xfrm>
          <a:prstGeom prst="rect">
            <a:avLst/>
          </a:prstGeom>
          <a:noFill/>
          <a:ln>
            <a:noFill/>
          </a:ln>
        </p:spPr>
      </p:pic>
      <p:pic>
        <p:nvPicPr>
          <p:cNvPr descr="&lt;math xmlns=&quot;http://www.w3.org/1998/Math/MathML&quot; display=&quot;block&quot; data-is-equatio=&quot;1&quot; data-latex=&quot;\frac{11.049+4.21}{0.82\ -\ 0.301}\approx\frac{10-4}{0.8-0.3}\ \approx\frac{6}{0.5}\approx6\ \div\frac{1}{2}\approx6\ \times2\ \approx12&quot;&gt;&lt;mfrac&gt;&lt;mrow&gt;&lt;mn&gt;11.049&lt;/mn&gt;&lt;mo&gt;+&lt;/mo&gt;&lt;mn&gt;4.21&lt;/mn&gt;&lt;/mrow&gt;&lt;mrow&gt;&lt;mn&gt;0.82&lt;/mn&gt;&lt;mtext&gt;&lt;/mtext&gt;&lt;mo&gt;−&lt;/mo&gt;&lt;mtext&gt;&lt;/mtext&gt;&lt;mn&gt;0.301&lt;/mn&gt;&lt;/mrow&gt;&lt;/mfrac&gt;&lt;mo&gt;≈&lt;/mo&gt;&lt;mfrac&gt;&lt;mrow&gt;&lt;mn&gt;10&lt;/mn&gt;&lt;mo&gt;−&lt;/mo&gt;&lt;mn&gt;4&lt;/mn&gt;&lt;/mrow&gt;&lt;mrow&gt;&lt;mn&gt;0.8&lt;/mn&gt;&lt;mo&gt;−&lt;/mo&gt;&lt;mn&gt;0.3&lt;/mn&gt;&lt;/mrow&gt;&lt;/mfrac&gt;&lt;mtext&gt;&lt;/mtext&gt;&lt;mo&gt;≈&lt;/mo&gt;&lt;mfrac&gt;&lt;mn&gt;6&lt;/mn&gt;&lt;mn&gt;0.5&lt;/mn&gt;&lt;/mfrac&gt;&lt;mo&gt;≈&lt;/mo&gt;&lt;mn&gt;6&lt;/mn&gt;&lt;mtext&gt;&lt;/mtext&gt;&lt;mo&gt;÷&lt;/mo&gt;&lt;mfrac&gt;&lt;mn&gt;1&lt;/mn&gt;&lt;mn&gt;2&lt;/mn&gt;&lt;/mfrac&gt;&lt;mo&gt;≈&lt;/mo&gt;&lt;mn&gt;6&lt;/mn&gt;&lt;mtext&gt;&lt;/mtext&gt;&lt;mo&gt;×&lt;/mo&gt;&lt;mn&gt;2&lt;/mn&gt;&lt;mtext&gt;&lt;/mtext&gt;&lt;mo&gt;≈&lt;/mo&gt;&lt;mn&gt;12&lt;/mn&gt;&lt;/math&gt;" id="1912" name="Google Shape;1912;p151" title="the fraction with numerator 11.049 plus 4.21 and denominator 0.82 minus 0.301 almost equals the fraction with numerator 10 minus 4 and denominator 0.8 minus 0.3 almost equals 6 over 0.5 almost equals 6 division sign one half almost equals 6 times 2 almost equals 12"/>
          <p:cNvPicPr preferRelativeResize="0"/>
          <p:nvPr/>
        </p:nvPicPr>
        <p:blipFill rotWithShape="1">
          <a:blip r:embed="rId4">
            <a:alphaModFix/>
          </a:blip>
          <a:srcRect b="0" l="74921" r="7929" t="0"/>
          <a:stretch/>
        </p:blipFill>
        <p:spPr>
          <a:xfrm>
            <a:off x="2726475" y="3630300"/>
            <a:ext cx="1286251" cy="650200"/>
          </a:xfrm>
          <a:prstGeom prst="rect">
            <a:avLst/>
          </a:prstGeom>
          <a:noFill/>
          <a:ln>
            <a:noFill/>
          </a:ln>
        </p:spPr>
      </p:pic>
      <p:pic>
        <p:nvPicPr>
          <p:cNvPr descr="&lt;math xmlns=&quot;http://www.w3.org/1998/Math/MathML&quot; display=&quot;block&quot; data-is-equatio=&quot;1&quot; data-latex=&quot;\frac{11.049+4.21}{0.82\ -\ 0.301}\approx\frac{10-4}{0.8-0.3}\ \approx\frac{6}{0.5}\approx6\ \div\frac{1}{2}\approx6\ \times2\ \approx12&quot;&gt;&lt;mfrac&gt;&lt;mrow&gt;&lt;mn&gt;11.049&lt;/mn&gt;&lt;mo&gt;+&lt;/mo&gt;&lt;mn&gt;4.21&lt;/mn&gt;&lt;/mrow&gt;&lt;mrow&gt;&lt;mn&gt;0.82&lt;/mn&gt;&lt;mtext&gt;&lt;/mtext&gt;&lt;mo&gt;−&lt;/mo&gt;&lt;mtext&gt;&lt;/mtext&gt;&lt;mn&gt;0.301&lt;/mn&gt;&lt;/mrow&gt;&lt;/mfrac&gt;&lt;mo&gt;≈&lt;/mo&gt;&lt;mfrac&gt;&lt;mrow&gt;&lt;mn&gt;10&lt;/mn&gt;&lt;mo&gt;−&lt;/mo&gt;&lt;mn&gt;4&lt;/mn&gt;&lt;/mrow&gt;&lt;mrow&gt;&lt;mn&gt;0.8&lt;/mn&gt;&lt;mo&gt;−&lt;/mo&gt;&lt;mn&gt;0.3&lt;/mn&gt;&lt;/mrow&gt;&lt;/mfrac&gt;&lt;mtext&gt;&lt;/mtext&gt;&lt;mo&gt;≈&lt;/mo&gt;&lt;mfrac&gt;&lt;mn&gt;6&lt;/mn&gt;&lt;mn&gt;0.5&lt;/mn&gt;&lt;/mfrac&gt;&lt;mo&gt;≈&lt;/mo&gt;&lt;mn&gt;6&lt;/mn&gt;&lt;mtext&gt;&lt;/mtext&gt;&lt;mo&gt;÷&lt;/mo&gt;&lt;mfrac&gt;&lt;mn&gt;1&lt;/mn&gt;&lt;mn&gt;2&lt;/mn&gt;&lt;/mfrac&gt;&lt;mo&gt;≈&lt;/mo&gt;&lt;mn&gt;6&lt;/mn&gt;&lt;mtext&gt;&lt;/mtext&gt;&lt;mo&gt;×&lt;/mo&gt;&lt;mn&gt;2&lt;/mn&gt;&lt;mtext&gt;&lt;/mtext&gt;&lt;mo&gt;≈&lt;/mo&gt;&lt;mn&gt;12&lt;/mn&gt;&lt;/math&gt;" id="1913" name="Google Shape;1913;p151" title="the fraction with numerator 11.049 plus 4.21 and denominator 0.82 minus 0.301 almost equals the fraction with numerator 10 minus 4 and denominator 0.8 minus 0.3 almost equals 6 over 0.5 almost equals 6 division sign one half almost equals 6 times 2 almost equals 12"/>
          <p:cNvPicPr preferRelativeResize="0"/>
          <p:nvPr/>
        </p:nvPicPr>
        <p:blipFill rotWithShape="1">
          <a:blip r:embed="rId4">
            <a:alphaModFix/>
          </a:blip>
          <a:srcRect b="0" l="90909" r="-2886" t="0"/>
          <a:stretch/>
        </p:blipFill>
        <p:spPr>
          <a:xfrm>
            <a:off x="2750580" y="4258330"/>
            <a:ext cx="898376" cy="650200"/>
          </a:xfrm>
          <a:prstGeom prst="rect">
            <a:avLst/>
          </a:prstGeom>
          <a:noFill/>
          <a:ln>
            <a:noFill/>
          </a:ln>
        </p:spPr>
      </p:pic>
      <p:pic>
        <p:nvPicPr>
          <p:cNvPr descr="&lt;math xmlns=&quot;http://www.w3.org/1998/Math/MathML&quot; display=&quot;block&quot; data-is-equatio=&quot;1&quot; data-latex=&quot;34^2-\sqrt{139.82}\approx30^2-\sqrt{144}\approx900\ -\ 12\ \approx888&quot;&gt;&lt;msup&gt;&lt;mn&gt;34&lt;/mn&gt;&lt;mn&gt;2&lt;/mn&gt;&lt;/msup&gt;&lt;mo&gt;−&lt;/mo&gt;&lt;msqrt&gt;&lt;mn&gt;139.82&lt;/mn&gt;&lt;/msqrt&gt;&lt;mo&gt;≈&lt;/mo&gt;&lt;msup&gt;&lt;mn&gt;30&lt;/mn&gt;&lt;mn&gt;2&lt;/mn&gt;&lt;/msup&gt;&lt;mo&gt;−&lt;/mo&gt;&lt;msqrt&gt;&lt;mn&gt;144&lt;/mn&gt;&lt;/msqrt&gt;&lt;mo&gt;≈&lt;/mo&gt;&lt;mn&gt;900&lt;/mn&gt;&lt;mtext&gt;&lt;/mtext&gt;&lt;mo&gt;−&lt;/mo&gt;&lt;mtext&gt;&lt;/mtext&gt;&lt;mn&gt;12&lt;/mn&gt;&lt;mtext&gt;&lt;/mtext&gt;&lt;mo&gt;≈&lt;/mo&gt;&lt;mn&gt;888&lt;/mn&gt;&lt;/math&gt;" id="1914" name="Google Shape;1914;p151" title="34 squared minus the square root of 139.82 almost equals 30 squared minus the square root of 144 almost equals 900 minus 12 almost equals 888"/>
          <p:cNvPicPr preferRelativeResize="0"/>
          <p:nvPr/>
        </p:nvPicPr>
        <p:blipFill rotWithShape="1">
          <a:blip r:embed="rId3">
            <a:alphaModFix/>
          </a:blip>
          <a:srcRect b="0" l="30113" r="38787" t="0"/>
          <a:stretch/>
        </p:blipFill>
        <p:spPr>
          <a:xfrm>
            <a:off x="6666910" y="1408741"/>
            <a:ext cx="1952750" cy="382800"/>
          </a:xfrm>
          <a:prstGeom prst="rect">
            <a:avLst/>
          </a:prstGeom>
          <a:noFill/>
          <a:ln>
            <a:noFill/>
          </a:ln>
        </p:spPr>
      </p:pic>
      <p:pic>
        <p:nvPicPr>
          <p:cNvPr descr="&lt;math xmlns=&quot;http://www.w3.org/1998/Math/MathML&quot; display=&quot;block&quot; data-is-equatio=&quot;1&quot; data-latex=&quot;34^2-\sqrt{139.82}\approx30^2-\sqrt{144}\approx900\ -\ 12\ \approx888&quot;&gt;&lt;msup&gt;&lt;mn&gt;34&lt;/mn&gt;&lt;mn&gt;2&lt;/mn&gt;&lt;/msup&gt;&lt;mo&gt;−&lt;/mo&gt;&lt;msqrt&gt;&lt;mn&gt;139.82&lt;/mn&gt;&lt;/msqrt&gt;&lt;mo&gt;≈&lt;/mo&gt;&lt;msup&gt;&lt;mn&gt;30&lt;/mn&gt;&lt;mn&gt;2&lt;/mn&gt;&lt;/msup&gt;&lt;mo&gt;−&lt;/mo&gt;&lt;msqrt&gt;&lt;mn&gt;144&lt;/mn&gt;&lt;/msqrt&gt;&lt;mo&gt;≈&lt;/mo&gt;&lt;mn&gt;900&lt;/mn&gt;&lt;mtext&gt;&lt;/mtext&gt;&lt;mo&gt;−&lt;/mo&gt;&lt;mtext&gt;&lt;/mtext&gt;&lt;mn&gt;12&lt;/mn&gt;&lt;mtext&gt;&lt;/mtext&gt;&lt;mo&gt;≈&lt;/mo&gt;&lt;mn&gt;888&lt;/mn&gt;&lt;/math&gt;" id="1915" name="Google Shape;1915;p151" title="34 squared minus the square root of 139.82 almost equals 30 squared minus the square root of 144 almost equals 900 minus 12 almost equals 888"/>
          <p:cNvPicPr preferRelativeResize="0"/>
          <p:nvPr/>
        </p:nvPicPr>
        <p:blipFill rotWithShape="1">
          <a:blip r:embed="rId3">
            <a:alphaModFix/>
          </a:blip>
          <a:srcRect b="0" l="61321" r="13433" t="0"/>
          <a:stretch/>
        </p:blipFill>
        <p:spPr>
          <a:xfrm>
            <a:off x="6720721" y="1951400"/>
            <a:ext cx="1585151" cy="382800"/>
          </a:xfrm>
          <a:prstGeom prst="rect">
            <a:avLst/>
          </a:prstGeom>
          <a:noFill/>
          <a:ln>
            <a:noFill/>
          </a:ln>
        </p:spPr>
      </p:pic>
      <p:pic>
        <p:nvPicPr>
          <p:cNvPr descr="&lt;math xmlns=&quot;http://www.w3.org/1998/Math/MathML&quot; display=&quot;block&quot; data-is-equatio=&quot;1&quot; data-latex=&quot;34^2-\sqrt{139.82}\approx30^2-\sqrt{144}\approx900\ -\ 12\ \approx888&quot;&gt;&lt;msup&gt;&lt;mn&gt;34&lt;/mn&gt;&lt;mn&gt;2&lt;/mn&gt;&lt;/msup&gt;&lt;mo&gt;−&lt;/mo&gt;&lt;msqrt&gt;&lt;mn&gt;139.82&lt;/mn&gt;&lt;/msqrt&gt;&lt;mo&gt;≈&lt;/mo&gt;&lt;msup&gt;&lt;mn&gt;30&lt;/mn&gt;&lt;mn&gt;2&lt;/mn&gt;&lt;/msup&gt;&lt;mo&gt;−&lt;/mo&gt;&lt;msqrt&gt;&lt;mn&gt;144&lt;/mn&gt;&lt;/msqrt&gt;&lt;mo&gt;≈&lt;/mo&gt;&lt;mn&gt;900&lt;/mn&gt;&lt;mtext&gt;&lt;/mtext&gt;&lt;mo&gt;−&lt;/mo&gt;&lt;mtext&gt;&lt;/mtext&gt;&lt;mn&gt;12&lt;/mn&gt;&lt;mtext&gt;&lt;/mtext&gt;&lt;mo&gt;≈&lt;/mo&gt;&lt;mn&gt;888&lt;/mn&gt;&lt;/math&gt;" id="1916" name="Google Shape;1916;p151" title="34 squared minus the square root of 139.82 almost equals 30 squared minus the square root of 144 almost equals 900 minus 12 almost equals 888"/>
          <p:cNvPicPr preferRelativeResize="0"/>
          <p:nvPr/>
        </p:nvPicPr>
        <p:blipFill rotWithShape="1">
          <a:blip r:embed="rId3">
            <a:alphaModFix/>
          </a:blip>
          <a:srcRect b="0" l="86566" r="-1701" t="0"/>
          <a:stretch/>
        </p:blipFill>
        <p:spPr>
          <a:xfrm>
            <a:off x="6629477" y="2474200"/>
            <a:ext cx="950300" cy="382800"/>
          </a:xfrm>
          <a:prstGeom prst="rect">
            <a:avLst/>
          </a:prstGeom>
          <a:noFill/>
          <a:ln>
            <a:noFill/>
          </a:ln>
        </p:spPr>
      </p:pic>
      <p:pic>
        <p:nvPicPr>
          <p:cNvPr descr="&lt;math xmlns=&quot;http://www.w3.org/1998/Math/MathML&quot; display=&quot;block&quot; data-is-equatio=&quot;1&quot; data-latex=&quot;\frac{11.049-4.21}{0.82\ -\ 0.301}&quot;&gt;&lt;mfrac&gt;&lt;mrow&gt;&lt;mn&gt;11.049&lt;/mn&gt;&lt;mo&gt;−&lt;/mo&gt;&lt;mn&gt;4.21&lt;/mn&gt;&lt;/mrow&gt;&lt;mrow&gt;&lt;mn&gt;0.82&lt;/mn&gt;&lt;mtext&gt;&lt;/mtext&gt;&lt;mo&gt;−&lt;/mo&gt;&lt;mtext&gt;&lt;/mtext&gt;&lt;mn&gt;0.301&lt;/mn&gt;&lt;/mrow&gt;&lt;/mfrac&gt;&lt;/math&gt;" id="1917" name="Google Shape;1917;p151" title="the fraction with numerator 11.049 minus 4.21 and denominator 0.82 minus 0.301"/>
          <p:cNvPicPr preferRelativeResize="0"/>
          <p:nvPr/>
        </p:nvPicPr>
        <p:blipFill>
          <a:blip r:embed="rId5">
            <a:alphaModFix/>
          </a:blip>
          <a:stretch>
            <a:fillRect/>
          </a:stretch>
        </p:blipFill>
        <p:spPr>
          <a:xfrm>
            <a:off x="847863" y="1345433"/>
            <a:ext cx="1859775" cy="6679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152"/>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Estimating using significant figures</a:t>
            </a:r>
            <a:endParaRPr/>
          </a:p>
        </p:txBody>
      </p:sp>
      <p:sp>
        <p:nvSpPr>
          <p:cNvPr id="1923" name="Google Shape;1923;p152"/>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1924" name="Google Shape;1924;p152"/>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Estimating numerical calculations</a:t>
            </a:r>
            <a:endParaRPr/>
          </a:p>
        </p:txBody>
      </p:sp>
      <p:pic>
        <p:nvPicPr>
          <p:cNvPr id="1925" name="Google Shape;1925;p152"/>
          <p:cNvPicPr preferRelativeResize="0"/>
          <p:nvPr/>
        </p:nvPicPr>
        <p:blipFill>
          <a:blip r:embed="rId3">
            <a:alphaModFix/>
          </a:blip>
          <a:stretch>
            <a:fillRect/>
          </a:stretch>
        </p:blipFill>
        <p:spPr>
          <a:xfrm>
            <a:off x="425600" y="2984875"/>
            <a:ext cx="450575" cy="446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1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Having a general </a:t>
            </a:r>
            <a:r>
              <a:rPr b="1" lang="en-GB"/>
              <a:t>estimate</a:t>
            </a:r>
            <a:r>
              <a:rPr lang="en-GB"/>
              <a:t> of everyday things, can allow us to </a:t>
            </a:r>
            <a:r>
              <a:rPr b="1" lang="en-GB"/>
              <a:t>estimate </a:t>
            </a:r>
            <a:r>
              <a:rPr lang="en-GB"/>
              <a:t>other calculations. </a:t>
            </a:r>
            <a:endParaRPr/>
          </a:p>
          <a:p>
            <a:pPr indent="0" lvl="0" marL="0" rtl="0" algn="l">
              <a:spcBef>
                <a:spcPts val="1000"/>
              </a:spcBef>
              <a:spcAft>
                <a:spcPts val="1000"/>
              </a:spcAft>
              <a:buNone/>
            </a:pPr>
            <a:r>
              <a:t/>
            </a:r>
            <a:endParaRPr/>
          </a:p>
        </p:txBody>
      </p:sp>
      <p:sp>
        <p:nvSpPr>
          <p:cNvPr id="1931" name="Google Shape;1931;p15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1932" name="Google Shape;1932;p153"/>
          <p:cNvSpPr txBox="1"/>
          <p:nvPr>
            <p:ph idx="1" type="body"/>
          </p:nvPr>
        </p:nvSpPr>
        <p:spPr>
          <a:xfrm>
            <a:off x="324000" y="1672200"/>
            <a:ext cx="4585800" cy="2816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a:t>
            </a:r>
            <a:endParaRPr/>
          </a:p>
          <a:p>
            <a:pPr indent="0" lvl="0" marL="0" rtl="0" algn="l">
              <a:spcBef>
                <a:spcPts val="1000"/>
              </a:spcBef>
              <a:spcAft>
                <a:spcPts val="0"/>
              </a:spcAft>
              <a:buNone/>
            </a:pPr>
            <a:r>
              <a:rPr lang="en-GB"/>
              <a:t>A standard full size guitar is always considered to be generally 1 m in length.</a:t>
            </a:r>
            <a:endParaRPr/>
          </a:p>
          <a:p>
            <a:pPr indent="0" lvl="0" marL="0" rtl="0" algn="l">
              <a:spcBef>
                <a:spcPts val="1000"/>
              </a:spcBef>
              <a:spcAft>
                <a:spcPts val="0"/>
              </a:spcAft>
              <a:buNone/>
            </a:pPr>
            <a:r>
              <a:rPr lang="en-GB"/>
              <a:t>Using this, can you </a:t>
            </a:r>
            <a:r>
              <a:rPr b="1" lang="en-GB"/>
              <a:t>estimate</a:t>
            </a:r>
            <a:r>
              <a:rPr lang="en-GB"/>
              <a:t> the height of the cat?</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cxnSp>
        <p:nvCxnSpPr>
          <p:cNvPr id="1933" name="Google Shape;1933;p153"/>
          <p:cNvCxnSpPr/>
          <p:nvPr/>
        </p:nvCxnSpPr>
        <p:spPr>
          <a:xfrm flipH="1" rot="10800000">
            <a:off x="5802875" y="1777950"/>
            <a:ext cx="22200" cy="2571600"/>
          </a:xfrm>
          <a:prstGeom prst="straightConnector1">
            <a:avLst/>
          </a:prstGeom>
          <a:noFill/>
          <a:ln cap="flat" cmpd="sng" w="28575">
            <a:solidFill>
              <a:schemeClr val="dk1"/>
            </a:solidFill>
            <a:prstDash val="solid"/>
            <a:round/>
            <a:headEnd len="med" w="med" type="triangle"/>
            <a:tailEnd len="med" w="med" type="triangle"/>
          </a:ln>
        </p:spPr>
      </p:cxnSp>
      <p:sp>
        <p:nvSpPr>
          <p:cNvPr id="1934" name="Google Shape;1934;p153"/>
          <p:cNvSpPr txBox="1"/>
          <p:nvPr/>
        </p:nvSpPr>
        <p:spPr>
          <a:xfrm>
            <a:off x="5205000" y="2761050"/>
            <a:ext cx="868500" cy="3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m</a:t>
            </a:r>
            <a:endParaRPr sz="2200">
              <a:solidFill>
                <a:schemeClr val="dk1"/>
              </a:solidFill>
              <a:latin typeface="Lexend"/>
              <a:ea typeface="Lexend"/>
              <a:cs typeface="Lexend"/>
              <a:sym typeface="Lexend"/>
            </a:endParaRPr>
          </a:p>
        </p:txBody>
      </p:sp>
      <p:pic>
        <p:nvPicPr>
          <p:cNvPr id="1935" name="Google Shape;1935;p153"/>
          <p:cNvPicPr preferRelativeResize="0"/>
          <p:nvPr/>
        </p:nvPicPr>
        <p:blipFill>
          <a:blip r:embed="rId3">
            <a:alphaModFix/>
          </a:blip>
          <a:stretch>
            <a:fillRect/>
          </a:stretch>
        </p:blipFill>
        <p:spPr>
          <a:xfrm>
            <a:off x="7772000" y="3497521"/>
            <a:ext cx="589100" cy="933781"/>
          </a:xfrm>
          <a:prstGeom prst="rect">
            <a:avLst/>
          </a:prstGeom>
          <a:noFill/>
          <a:ln>
            <a:noFill/>
          </a:ln>
        </p:spPr>
      </p:pic>
      <p:pic>
        <p:nvPicPr>
          <p:cNvPr id="1936" name="Google Shape;1936;p153"/>
          <p:cNvPicPr preferRelativeResize="0"/>
          <p:nvPr/>
        </p:nvPicPr>
        <p:blipFill>
          <a:blip r:embed="rId4">
            <a:alphaModFix/>
          </a:blip>
          <a:stretch>
            <a:fillRect/>
          </a:stretch>
        </p:blipFill>
        <p:spPr>
          <a:xfrm>
            <a:off x="6073500" y="1796075"/>
            <a:ext cx="1051471" cy="2523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154"/>
          <p:cNvSpPr txBox="1"/>
          <p:nvPr>
            <p:ph idx="1" type="body"/>
          </p:nvPr>
        </p:nvSpPr>
        <p:spPr>
          <a:xfrm>
            <a:off x="324000" y="759300"/>
            <a:ext cx="8237700" cy="144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How did you decide on this </a:t>
            </a:r>
            <a:r>
              <a:rPr b="1" lang="en-GB"/>
              <a:t>estimate</a:t>
            </a:r>
            <a:r>
              <a:rPr lang="en-GB"/>
              <a:t>?</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There are lots of different ways. </a:t>
            </a:r>
            <a:endParaRPr/>
          </a:p>
          <a:p>
            <a:pPr indent="0" lvl="0" marL="0" rtl="0" algn="l">
              <a:spcBef>
                <a:spcPts val="1000"/>
              </a:spcBef>
              <a:spcAft>
                <a:spcPts val="1000"/>
              </a:spcAft>
              <a:buNone/>
            </a:pPr>
            <a:r>
              <a:t/>
            </a:r>
            <a:endParaRPr/>
          </a:p>
        </p:txBody>
      </p:sp>
      <p:sp>
        <p:nvSpPr>
          <p:cNvPr id="1942" name="Google Shape;1942;p15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Estimation in context</a:t>
            </a:r>
            <a:endParaRPr/>
          </a:p>
        </p:txBody>
      </p:sp>
      <p:cxnSp>
        <p:nvCxnSpPr>
          <p:cNvPr id="1943" name="Google Shape;1943;p154"/>
          <p:cNvCxnSpPr/>
          <p:nvPr/>
        </p:nvCxnSpPr>
        <p:spPr>
          <a:xfrm flipH="1" rot="10800000">
            <a:off x="5802875" y="1777950"/>
            <a:ext cx="22200" cy="2571600"/>
          </a:xfrm>
          <a:prstGeom prst="straightConnector1">
            <a:avLst/>
          </a:prstGeom>
          <a:noFill/>
          <a:ln cap="flat" cmpd="sng" w="28575">
            <a:solidFill>
              <a:schemeClr val="dk1"/>
            </a:solidFill>
            <a:prstDash val="solid"/>
            <a:round/>
            <a:headEnd len="med" w="med" type="triangle"/>
            <a:tailEnd len="med" w="med" type="triangle"/>
          </a:ln>
        </p:spPr>
      </p:cxnSp>
      <p:sp>
        <p:nvSpPr>
          <p:cNvPr id="1944" name="Google Shape;1944;p154"/>
          <p:cNvSpPr txBox="1"/>
          <p:nvPr/>
        </p:nvSpPr>
        <p:spPr>
          <a:xfrm>
            <a:off x="5205000" y="2761050"/>
            <a:ext cx="868500" cy="3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m</a:t>
            </a:r>
            <a:endParaRPr sz="2200">
              <a:solidFill>
                <a:schemeClr val="dk1"/>
              </a:solidFill>
              <a:latin typeface="Lexend"/>
              <a:ea typeface="Lexend"/>
              <a:cs typeface="Lexend"/>
              <a:sym typeface="Lexend"/>
            </a:endParaRPr>
          </a:p>
        </p:txBody>
      </p:sp>
      <p:cxnSp>
        <p:nvCxnSpPr>
          <p:cNvPr id="1945" name="Google Shape;1945;p154"/>
          <p:cNvCxnSpPr/>
          <p:nvPr/>
        </p:nvCxnSpPr>
        <p:spPr>
          <a:xfrm>
            <a:off x="5827600" y="3085900"/>
            <a:ext cx="2533500" cy="0"/>
          </a:xfrm>
          <a:prstGeom prst="straightConnector1">
            <a:avLst/>
          </a:prstGeom>
          <a:noFill/>
          <a:ln cap="flat" cmpd="sng" w="28575">
            <a:solidFill>
              <a:schemeClr val="dk2"/>
            </a:solidFill>
            <a:prstDash val="dash"/>
            <a:round/>
            <a:headEnd len="med" w="med" type="none"/>
            <a:tailEnd len="med" w="med" type="none"/>
          </a:ln>
        </p:spPr>
      </p:cxnSp>
      <p:sp>
        <p:nvSpPr>
          <p:cNvPr id="1946" name="Google Shape;1946;p154"/>
          <p:cNvSpPr txBox="1"/>
          <p:nvPr/>
        </p:nvSpPr>
        <p:spPr>
          <a:xfrm>
            <a:off x="324000" y="2700000"/>
            <a:ext cx="4248000" cy="1117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Perhaps </a:t>
            </a:r>
            <a:r>
              <a:rPr b="1" lang="en-GB" sz="2200">
                <a:solidFill>
                  <a:schemeClr val="dk1"/>
                </a:solidFill>
                <a:latin typeface="Lexend"/>
                <a:ea typeface="Lexend"/>
                <a:cs typeface="Lexend"/>
                <a:sym typeface="Lexend"/>
              </a:rPr>
              <a:t>estimate</a:t>
            </a:r>
            <a:r>
              <a:rPr lang="en-GB" sz="2200">
                <a:solidFill>
                  <a:schemeClr val="dk1"/>
                </a:solidFill>
                <a:latin typeface="Lexend"/>
                <a:ea typeface="Lexend"/>
                <a:cs typeface="Lexend"/>
                <a:sym typeface="Lexend"/>
              </a:rPr>
              <a:t> where the middle of 1 m would be and see that the cat is below it.</a:t>
            </a:r>
            <a:endParaRPr/>
          </a:p>
        </p:txBody>
      </p:sp>
      <p:pic>
        <p:nvPicPr>
          <p:cNvPr id="1947" name="Google Shape;1947;p154"/>
          <p:cNvPicPr preferRelativeResize="0"/>
          <p:nvPr/>
        </p:nvPicPr>
        <p:blipFill>
          <a:blip r:embed="rId3">
            <a:alphaModFix/>
          </a:blip>
          <a:stretch>
            <a:fillRect/>
          </a:stretch>
        </p:blipFill>
        <p:spPr>
          <a:xfrm>
            <a:off x="7772000" y="3497521"/>
            <a:ext cx="589100" cy="933781"/>
          </a:xfrm>
          <a:prstGeom prst="rect">
            <a:avLst/>
          </a:prstGeom>
          <a:noFill/>
          <a:ln>
            <a:noFill/>
          </a:ln>
        </p:spPr>
      </p:pic>
      <p:pic>
        <p:nvPicPr>
          <p:cNvPr id="1948" name="Google Shape;1948;p154"/>
          <p:cNvPicPr preferRelativeResize="0"/>
          <p:nvPr/>
        </p:nvPicPr>
        <p:blipFill>
          <a:blip r:embed="rId4">
            <a:alphaModFix/>
          </a:blip>
          <a:stretch>
            <a:fillRect/>
          </a:stretch>
        </p:blipFill>
        <p:spPr>
          <a:xfrm>
            <a:off x="6073500" y="1796075"/>
            <a:ext cx="1051471" cy="2523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1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How did you decide on this </a:t>
            </a:r>
            <a:r>
              <a:rPr b="1" lang="en-GB"/>
              <a:t>estimate</a:t>
            </a:r>
            <a:r>
              <a:rPr lang="en-GB"/>
              <a:t>?</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There are lots of different ways. </a:t>
            </a:r>
            <a:endParaRPr/>
          </a:p>
          <a:p>
            <a:pPr indent="0" lvl="0" marL="0" rtl="0" algn="l">
              <a:spcBef>
                <a:spcPts val="1000"/>
              </a:spcBef>
              <a:spcAft>
                <a:spcPts val="1000"/>
              </a:spcAft>
              <a:buNone/>
            </a:pPr>
            <a:r>
              <a:t/>
            </a:r>
            <a:endParaRPr/>
          </a:p>
        </p:txBody>
      </p:sp>
      <p:sp>
        <p:nvSpPr>
          <p:cNvPr id="1954" name="Google Shape;1954;p15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Estimation in context</a:t>
            </a:r>
            <a:endParaRPr/>
          </a:p>
        </p:txBody>
      </p:sp>
      <p:cxnSp>
        <p:nvCxnSpPr>
          <p:cNvPr id="1955" name="Google Shape;1955;p155"/>
          <p:cNvCxnSpPr/>
          <p:nvPr/>
        </p:nvCxnSpPr>
        <p:spPr>
          <a:xfrm flipH="1" rot="10800000">
            <a:off x="5802875" y="1777950"/>
            <a:ext cx="22200" cy="2571600"/>
          </a:xfrm>
          <a:prstGeom prst="straightConnector1">
            <a:avLst/>
          </a:prstGeom>
          <a:noFill/>
          <a:ln cap="flat" cmpd="sng" w="28575">
            <a:solidFill>
              <a:schemeClr val="dk1"/>
            </a:solidFill>
            <a:prstDash val="solid"/>
            <a:round/>
            <a:headEnd len="med" w="med" type="triangle"/>
            <a:tailEnd len="med" w="med" type="triangle"/>
          </a:ln>
        </p:spPr>
      </p:cxnSp>
      <p:sp>
        <p:nvSpPr>
          <p:cNvPr id="1956" name="Google Shape;1956;p155"/>
          <p:cNvSpPr txBox="1"/>
          <p:nvPr/>
        </p:nvSpPr>
        <p:spPr>
          <a:xfrm>
            <a:off x="5205000" y="2761050"/>
            <a:ext cx="868500" cy="3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 m</a:t>
            </a:r>
            <a:endParaRPr sz="2200">
              <a:solidFill>
                <a:schemeClr val="dk1"/>
              </a:solidFill>
              <a:latin typeface="Lexend"/>
              <a:ea typeface="Lexend"/>
              <a:cs typeface="Lexend"/>
              <a:sym typeface="Lexend"/>
            </a:endParaRPr>
          </a:p>
        </p:txBody>
      </p:sp>
      <p:sp>
        <p:nvSpPr>
          <p:cNvPr id="1957" name="Google Shape;1957;p155"/>
          <p:cNvSpPr txBox="1"/>
          <p:nvPr/>
        </p:nvSpPr>
        <p:spPr>
          <a:xfrm>
            <a:off x="324000" y="2700000"/>
            <a:ext cx="4248000" cy="728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Perhaps imagine, how many cats would make 1 m.</a:t>
            </a:r>
            <a:endParaRPr/>
          </a:p>
        </p:txBody>
      </p:sp>
      <p:pic>
        <p:nvPicPr>
          <p:cNvPr id="1958" name="Google Shape;1958;p155"/>
          <p:cNvPicPr preferRelativeResize="0"/>
          <p:nvPr/>
        </p:nvPicPr>
        <p:blipFill>
          <a:blip r:embed="rId3">
            <a:alphaModFix/>
          </a:blip>
          <a:stretch>
            <a:fillRect/>
          </a:stretch>
        </p:blipFill>
        <p:spPr>
          <a:xfrm>
            <a:off x="7772000" y="3497521"/>
            <a:ext cx="589100" cy="933781"/>
          </a:xfrm>
          <a:prstGeom prst="rect">
            <a:avLst/>
          </a:prstGeom>
          <a:noFill/>
          <a:ln>
            <a:noFill/>
          </a:ln>
        </p:spPr>
      </p:pic>
      <p:pic>
        <p:nvPicPr>
          <p:cNvPr id="1959" name="Google Shape;1959;p155"/>
          <p:cNvPicPr preferRelativeResize="0"/>
          <p:nvPr/>
        </p:nvPicPr>
        <p:blipFill>
          <a:blip r:embed="rId3">
            <a:alphaModFix/>
          </a:blip>
          <a:stretch>
            <a:fillRect/>
          </a:stretch>
        </p:blipFill>
        <p:spPr>
          <a:xfrm>
            <a:off x="7752950" y="2596859"/>
            <a:ext cx="589100" cy="933781"/>
          </a:xfrm>
          <a:prstGeom prst="rect">
            <a:avLst/>
          </a:prstGeom>
          <a:noFill/>
          <a:ln>
            <a:noFill/>
          </a:ln>
        </p:spPr>
      </p:pic>
      <p:pic>
        <p:nvPicPr>
          <p:cNvPr id="1960" name="Google Shape;1960;p155"/>
          <p:cNvPicPr preferRelativeResize="0"/>
          <p:nvPr/>
        </p:nvPicPr>
        <p:blipFill>
          <a:blip r:embed="rId3">
            <a:alphaModFix/>
          </a:blip>
          <a:stretch>
            <a:fillRect/>
          </a:stretch>
        </p:blipFill>
        <p:spPr>
          <a:xfrm>
            <a:off x="7752950" y="1758659"/>
            <a:ext cx="589100" cy="933781"/>
          </a:xfrm>
          <a:prstGeom prst="rect">
            <a:avLst/>
          </a:prstGeom>
          <a:noFill/>
          <a:ln>
            <a:noFill/>
          </a:ln>
        </p:spPr>
      </p:pic>
      <p:pic>
        <p:nvPicPr>
          <p:cNvPr id="1961" name="Google Shape;1961;p155"/>
          <p:cNvPicPr preferRelativeResize="0"/>
          <p:nvPr/>
        </p:nvPicPr>
        <p:blipFill>
          <a:blip r:embed="rId4">
            <a:alphaModFix/>
          </a:blip>
          <a:stretch>
            <a:fillRect/>
          </a:stretch>
        </p:blipFill>
        <p:spPr>
          <a:xfrm>
            <a:off x="6073500" y="1796075"/>
            <a:ext cx="1051471" cy="2523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156"/>
          <p:cNvSpPr txBox="1"/>
          <p:nvPr>
            <p:ph idx="1" type="body"/>
          </p:nvPr>
        </p:nvSpPr>
        <p:spPr>
          <a:xfrm>
            <a:off x="324000" y="759300"/>
            <a:ext cx="71352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science textbook uses comparisons with humans to show the sizes of different animals.</a:t>
            </a:r>
            <a:endParaRPr sz="1800"/>
          </a:p>
          <a:p>
            <a:pPr indent="-342900" lvl="0" marL="457200" rtl="0" algn="l">
              <a:spcBef>
                <a:spcPts val="1000"/>
              </a:spcBef>
              <a:spcAft>
                <a:spcPts val="0"/>
              </a:spcAft>
              <a:buSzPts val="1800"/>
              <a:buAutoNum type="alphaLcParenR"/>
            </a:pPr>
            <a:r>
              <a:rPr lang="en-GB" sz="1800"/>
              <a:t>Alex is of average height for a pupil in secondary school. Which of these is a good </a:t>
            </a:r>
            <a:r>
              <a:rPr b="1" lang="en-GB" sz="1800"/>
              <a:t>estimate</a:t>
            </a:r>
            <a:r>
              <a:rPr lang="en-GB" sz="1800"/>
              <a:t> for Alex’s height?</a:t>
            </a:r>
            <a:endParaRPr sz="1800"/>
          </a:p>
          <a:p>
            <a:pPr indent="0" lvl="0" marL="0" rtl="0" algn="l">
              <a:spcBef>
                <a:spcPts val="1000"/>
              </a:spcBef>
              <a:spcAft>
                <a:spcPts val="0"/>
              </a:spcAft>
              <a:buNone/>
            </a:pPr>
            <a:r>
              <a:rPr lang="en-GB" sz="1800"/>
              <a:t>                    1.5 m		1.9 m		2.5 m</a:t>
            </a:r>
            <a:endParaRPr sz="1800"/>
          </a:p>
          <a:p>
            <a:pPr indent="0" lvl="0" marL="0" rtl="0" algn="l">
              <a:spcBef>
                <a:spcPts val="1000"/>
              </a:spcBef>
              <a:spcAft>
                <a:spcPts val="0"/>
              </a:spcAft>
              <a:buNone/>
            </a:pPr>
            <a:r>
              <a:rPr lang="en-GB" sz="1800"/>
              <a:t>Use your answer to part a to </a:t>
            </a:r>
            <a:r>
              <a:rPr b="1" lang="en-GB" sz="1800"/>
              <a:t>estimate</a:t>
            </a:r>
            <a:r>
              <a:rPr lang="en-GB" sz="1800"/>
              <a:t> the height of the animals below.</a:t>
            </a:r>
            <a:endParaRPr sz="1800"/>
          </a:p>
          <a:p>
            <a:pPr indent="0" lvl="0" marL="0" rtl="0" algn="ctr">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967" name="Google Shape;1967;p15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Estimation in context</a:t>
            </a:r>
            <a:endParaRPr/>
          </a:p>
        </p:txBody>
      </p:sp>
      <p:pic>
        <p:nvPicPr>
          <p:cNvPr id="1968" name="Google Shape;1968;p156"/>
          <p:cNvPicPr preferRelativeResize="0"/>
          <p:nvPr/>
        </p:nvPicPr>
        <p:blipFill>
          <a:blip r:embed="rId3">
            <a:alphaModFix/>
          </a:blip>
          <a:stretch>
            <a:fillRect/>
          </a:stretch>
        </p:blipFill>
        <p:spPr>
          <a:xfrm>
            <a:off x="7559400" y="836475"/>
            <a:ext cx="649800" cy="2206961"/>
          </a:xfrm>
          <a:prstGeom prst="rect">
            <a:avLst/>
          </a:prstGeom>
          <a:noFill/>
          <a:ln>
            <a:noFill/>
          </a:ln>
        </p:spPr>
      </p:pic>
      <p:pic>
        <p:nvPicPr>
          <p:cNvPr id="1969" name="Google Shape;1969;p156"/>
          <p:cNvPicPr preferRelativeResize="0"/>
          <p:nvPr/>
        </p:nvPicPr>
        <p:blipFill>
          <a:blip r:embed="rId4">
            <a:alphaModFix/>
          </a:blip>
          <a:stretch>
            <a:fillRect/>
          </a:stretch>
        </p:blipFill>
        <p:spPr>
          <a:xfrm>
            <a:off x="1918625" y="3043424"/>
            <a:ext cx="809050" cy="1618074"/>
          </a:xfrm>
          <a:prstGeom prst="rect">
            <a:avLst/>
          </a:prstGeom>
          <a:noFill/>
          <a:ln>
            <a:noFill/>
          </a:ln>
        </p:spPr>
      </p:pic>
      <p:pic>
        <p:nvPicPr>
          <p:cNvPr id="1970" name="Google Shape;1970;p156"/>
          <p:cNvPicPr preferRelativeResize="0"/>
          <p:nvPr/>
        </p:nvPicPr>
        <p:blipFill>
          <a:blip r:embed="rId3">
            <a:alphaModFix/>
          </a:blip>
          <a:stretch>
            <a:fillRect/>
          </a:stretch>
        </p:blipFill>
        <p:spPr>
          <a:xfrm>
            <a:off x="1684788" y="3753875"/>
            <a:ext cx="265525" cy="901827"/>
          </a:xfrm>
          <a:prstGeom prst="rect">
            <a:avLst/>
          </a:prstGeom>
          <a:noFill/>
          <a:ln>
            <a:noFill/>
          </a:ln>
        </p:spPr>
      </p:pic>
      <p:cxnSp>
        <p:nvCxnSpPr>
          <p:cNvPr id="1971" name="Google Shape;1971;p156"/>
          <p:cNvCxnSpPr/>
          <p:nvPr/>
        </p:nvCxnSpPr>
        <p:spPr>
          <a:xfrm flipH="1" rot="10800000">
            <a:off x="1547525" y="4655707"/>
            <a:ext cx="1692300" cy="11100"/>
          </a:xfrm>
          <a:prstGeom prst="straightConnector1">
            <a:avLst/>
          </a:prstGeom>
          <a:noFill/>
          <a:ln cap="flat" cmpd="sng" w="28575">
            <a:solidFill>
              <a:schemeClr val="dk2"/>
            </a:solidFill>
            <a:prstDash val="solid"/>
            <a:round/>
            <a:headEnd len="med" w="med" type="none"/>
            <a:tailEnd len="med" w="med" type="none"/>
          </a:ln>
        </p:spPr>
      </p:cxnSp>
      <p:sp>
        <p:nvSpPr>
          <p:cNvPr id="1972" name="Google Shape;1972;p156"/>
          <p:cNvSpPr txBox="1"/>
          <p:nvPr/>
        </p:nvSpPr>
        <p:spPr>
          <a:xfrm>
            <a:off x="760200" y="3392125"/>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a:t>
            </a:r>
            <a:endParaRPr/>
          </a:p>
        </p:txBody>
      </p:sp>
      <p:sp>
        <p:nvSpPr>
          <p:cNvPr id="1973" name="Google Shape;1973;p156"/>
          <p:cNvSpPr txBox="1"/>
          <p:nvPr/>
        </p:nvSpPr>
        <p:spPr>
          <a:xfrm>
            <a:off x="5027400" y="3410500"/>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a:t>
            </a:r>
            <a:endParaRPr/>
          </a:p>
        </p:txBody>
      </p:sp>
      <p:pic>
        <p:nvPicPr>
          <p:cNvPr id="1974" name="Google Shape;1974;p156"/>
          <p:cNvPicPr preferRelativeResize="0"/>
          <p:nvPr/>
        </p:nvPicPr>
        <p:blipFill>
          <a:blip r:embed="rId3">
            <a:alphaModFix/>
          </a:blip>
          <a:stretch>
            <a:fillRect/>
          </a:stretch>
        </p:blipFill>
        <p:spPr>
          <a:xfrm>
            <a:off x="5545800" y="3239999"/>
            <a:ext cx="419549" cy="1424952"/>
          </a:xfrm>
          <a:prstGeom prst="rect">
            <a:avLst/>
          </a:prstGeom>
          <a:noFill/>
          <a:ln>
            <a:noFill/>
          </a:ln>
        </p:spPr>
      </p:pic>
      <p:cxnSp>
        <p:nvCxnSpPr>
          <p:cNvPr id="1975" name="Google Shape;1975;p156"/>
          <p:cNvCxnSpPr/>
          <p:nvPr/>
        </p:nvCxnSpPr>
        <p:spPr>
          <a:xfrm flipH="1" rot="10800000">
            <a:off x="5182050" y="4655707"/>
            <a:ext cx="1692300" cy="11100"/>
          </a:xfrm>
          <a:prstGeom prst="straightConnector1">
            <a:avLst/>
          </a:prstGeom>
          <a:noFill/>
          <a:ln cap="flat" cmpd="sng" w="28575">
            <a:solidFill>
              <a:schemeClr val="dk2"/>
            </a:solidFill>
            <a:prstDash val="solid"/>
            <a:round/>
            <a:headEnd len="med" w="med" type="none"/>
            <a:tailEnd len="med" w="med" type="none"/>
          </a:ln>
        </p:spPr>
      </p:cxnSp>
      <p:cxnSp>
        <p:nvCxnSpPr>
          <p:cNvPr id="1976" name="Google Shape;1976;p156"/>
          <p:cNvCxnSpPr/>
          <p:nvPr/>
        </p:nvCxnSpPr>
        <p:spPr>
          <a:xfrm rot="10800000">
            <a:off x="2808150" y="3024302"/>
            <a:ext cx="0" cy="1631400"/>
          </a:xfrm>
          <a:prstGeom prst="straightConnector1">
            <a:avLst/>
          </a:prstGeom>
          <a:noFill/>
          <a:ln cap="flat" cmpd="sng" w="19050">
            <a:solidFill>
              <a:schemeClr val="dk1"/>
            </a:solidFill>
            <a:prstDash val="solid"/>
            <a:round/>
            <a:headEnd len="med" w="med" type="triangle"/>
            <a:tailEnd len="med" w="med" type="triangle"/>
          </a:ln>
        </p:spPr>
      </p:cxnSp>
      <p:cxnSp>
        <p:nvCxnSpPr>
          <p:cNvPr id="1977" name="Google Shape;1977;p156"/>
          <p:cNvCxnSpPr/>
          <p:nvPr/>
        </p:nvCxnSpPr>
        <p:spPr>
          <a:xfrm rot="10800000">
            <a:off x="6389850" y="4322268"/>
            <a:ext cx="4800" cy="333300"/>
          </a:xfrm>
          <a:prstGeom prst="straightConnector1">
            <a:avLst/>
          </a:prstGeom>
          <a:noFill/>
          <a:ln cap="flat" cmpd="sng" w="9525">
            <a:solidFill>
              <a:schemeClr val="dk1"/>
            </a:solidFill>
            <a:prstDash val="solid"/>
            <a:round/>
            <a:headEnd len="med" w="med" type="triangle"/>
            <a:tailEnd len="med" w="med" type="triangle"/>
          </a:ln>
        </p:spPr>
      </p:cxnSp>
      <p:sp>
        <p:nvSpPr>
          <p:cNvPr id="1978" name="Google Shape;1978;p156"/>
          <p:cNvSpPr txBox="1"/>
          <p:nvPr/>
        </p:nvSpPr>
        <p:spPr>
          <a:xfrm>
            <a:off x="2888625" y="3181900"/>
            <a:ext cx="15951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Height </a:t>
            </a:r>
            <a:r>
              <a:rPr b="1" lang="en-GB" sz="2200">
                <a:solidFill>
                  <a:srgbClr val="222222"/>
                </a:solidFill>
                <a:latin typeface="Times New Roman"/>
                <a:ea typeface="Times New Roman"/>
                <a:cs typeface="Times New Roman"/>
                <a:sym typeface="Times New Roman"/>
              </a:rPr>
              <a:t>≈ </a:t>
            </a:r>
            <a:r>
              <a:rPr lang="en-GB" sz="1800">
                <a:solidFill>
                  <a:srgbClr val="222222"/>
                </a:solidFill>
                <a:latin typeface="Lexend"/>
                <a:ea typeface="Lexend"/>
                <a:cs typeface="Lexend"/>
                <a:sym typeface="Lexend"/>
              </a:rPr>
              <a:t>3m</a:t>
            </a:r>
            <a:endParaRPr sz="1800">
              <a:solidFill>
                <a:schemeClr val="dk1"/>
              </a:solidFill>
              <a:latin typeface="Lexend"/>
              <a:ea typeface="Lexend"/>
              <a:cs typeface="Lexend"/>
              <a:sym typeface="Lexend"/>
            </a:endParaRPr>
          </a:p>
        </p:txBody>
      </p:sp>
      <p:sp>
        <p:nvSpPr>
          <p:cNvPr id="1979" name="Google Shape;1979;p156"/>
          <p:cNvSpPr txBox="1"/>
          <p:nvPr/>
        </p:nvSpPr>
        <p:spPr>
          <a:xfrm>
            <a:off x="6249275" y="3119175"/>
            <a:ext cx="20832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Height </a:t>
            </a:r>
            <a:r>
              <a:rPr b="1" lang="en-GB" sz="2200">
                <a:solidFill>
                  <a:srgbClr val="222222"/>
                </a:solidFill>
                <a:latin typeface="Times New Roman"/>
                <a:ea typeface="Times New Roman"/>
                <a:cs typeface="Times New Roman"/>
                <a:sym typeface="Times New Roman"/>
              </a:rPr>
              <a:t>≈</a:t>
            </a:r>
            <a:r>
              <a:rPr lang="en-GB" sz="1800">
                <a:solidFill>
                  <a:srgbClr val="222222"/>
                </a:solidFill>
                <a:latin typeface="Lexend"/>
                <a:ea typeface="Lexend"/>
                <a:cs typeface="Lexend"/>
                <a:sym typeface="Lexend"/>
              </a:rPr>
              <a:t> 30 cm</a:t>
            </a:r>
            <a:endParaRPr sz="1800">
              <a:solidFill>
                <a:schemeClr val="dk1"/>
              </a:solidFill>
              <a:latin typeface="Lexend"/>
              <a:ea typeface="Lexend"/>
              <a:cs typeface="Lexend"/>
              <a:sym typeface="Lexend"/>
            </a:endParaRPr>
          </a:p>
        </p:txBody>
      </p:sp>
      <p:sp>
        <p:nvSpPr>
          <p:cNvPr id="1980" name="Google Shape;1980;p156"/>
          <p:cNvSpPr/>
          <p:nvPr/>
        </p:nvSpPr>
        <p:spPr>
          <a:xfrm>
            <a:off x="1504500" y="2160000"/>
            <a:ext cx="773100" cy="524100"/>
          </a:xfrm>
          <a:prstGeom prst="ellipse">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81" name="Google Shape;1981;p156"/>
          <p:cNvSpPr txBox="1"/>
          <p:nvPr/>
        </p:nvSpPr>
        <p:spPr>
          <a:xfrm>
            <a:off x="2888625" y="3701875"/>
            <a:ext cx="20832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giraffe is approximately twice the height of Alex.</a:t>
            </a:r>
            <a:endParaRPr sz="1800">
              <a:solidFill>
                <a:schemeClr val="dk1"/>
              </a:solidFill>
              <a:latin typeface="Kalam"/>
              <a:ea typeface="Kalam"/>
              <a:cs typeface="Kalam"/>
              <a:sym typeface="Kalam"/>
            </a:endParaRPr>
          </a:p>
        </p:txBody>
      </p:sp>
      <p:sp>
        <p:nvSpPr>
          <p:cNvPr id="1982" name="Google Shape;1982;p156"/>
          <p:cNvSpPr txBox="1"/>
          <p:nvPr/>
        </p:nvSpPr>
        <p:spPr>
          <a:xfrm>
            <a:off x="6563725" y="3458126"/>
            <a:ext cx="19194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duck is approximately a fifth the height of Alex.</a:t>
            </a:r>
            <a:endParaRPr sz="1800">
              <a:solidFill>
                <a:schemeClr val="dk1"/>
              </a:solidFill>
              <a:latin typeface="Kalam"/>
              <a:ea typeface="Kalam"/>
              <a:cs typeface="Kalam"/>
              <a:sym typeface="Kalam"/>
            </a:endParaRPr>
          </a:p>
        </p:txBody>
      </p:sp>
      <p:pic>
        <p:nvPicPr>
          <p:cNvPr id="1983" name="Google Shape;1983;p156"/>
          <p:cNvPicPr preferRelativeResize="0"/>
          <p:nvPr/>
        </p:nvPicPr>
        <p:blipFill>
          <a:blip r:embed="rId5">
            <a:alphaModFix/>
          </a:blip>
          <a:stretch>
            <a:fillRect/>
          </a:stretch>
        </p:blipFill>
        <p:spPr>
          <a:xfrm flipH="1">
            <a:off x="5965350" y="4349126"/>
            <a:ext cx="287395" cy="333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7" name="Shape 1987"/>
        <p:cNvGrpSpPr/>
        <p:nvPr/>
      </p:nvGrpSpPr>
      <p:grpSpPr>
        <a:xfrm>
          <a:off x="0" y="0"/>
          <a:ext cx="0" cy="0"/>
          <a:chOff x="0" y="0"/>
          <a:chExt cx="0" cy="0"/>
        </a:xfrm>
      </p:grpSpPr>
      <p:sp>
        <p:nvSpPr>
          <p:cNvPr id="1988" name="Google Shape;1988;p157"/>
          <p:cNvSpPr txBox="1"/>
          <p:nvPr>
            <p:ph idx="1" type="body"/>
          </p:nvPr>
        </p:nvSpPr>
        <p:spPr>
          <a:xfrm>
            <a:off x="324000" y="759300"/>
            <a:ext cx="82377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Alongside the general </a:t>
            </a:r>
            <a:r>
              <a:rPr lang="en-GB"/>
              <a:t>knowledge</a:t>
            </a:r>
            <a:r>
              <a:rPr lang="en-GB"/>
              <a:t> of approximate sizes of everyday things, it is also important to know the most </a:t>
            </a:r>
            <a:r>
              <a:rPr lang="en-GB"/>
              <a:t>appropriate</a:t>
            </a:r>
            <a:r>
              <a:rPr lang="en-GB"/>
              <a:t> unit of measure.</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GB"/>
              <a:t>Can you name as many metric units of measure for length, mass and capacity as you can?</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989" name="Google Shape;1989;p15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Estimation in context</a:t>
            </a:r>
            <a:endParaRPr/>
          </a:p>
        </p:txBody>
      </p:sp>
      <p:sp>
        <p:nvSpPr>
          <p:cNvPr id="1990" name="Google Shape;1990;p157"/>
          <p:cNvSpPr txBox="1"/>
          <p:nvPr/>
        </p:nvSpPr>
        <p:spPr>
          <a:xfrm>
            <a:off x="377650" y="3587700"/>
            <a:ext cx="2838600" cy="116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Length: </a:t>
            </a:r>
            <a:endParaRPr sz="2200">
              <a:solidFill>
                <a:schemeClr val="dk1"/>
              </a:solidFill>
              <a:latin typeface="Lexend"/>
              <a:ea typeface="Lexend"/>
              <a:cs typeface="Lexend"/>
              <a:sym typeface="Lexend"/>
            </a:endParaRPr>
          </a:p>
          <a:p>
            <a:pPr indent="0" lvl="0" marL="0" rtl="0" algn="ctr">
              <a:spcBef>
                <a:spcPts val="0"/>
              </a:spcBef>
              <a:spcAft>
                <a:spcPts val="0"/>
              </a:spcAft>
              <a:buNone/>
            </a:pPr>
            <a:r>
              <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mm, cm, m, km …</a:t>
            </a:r>
            <a:endParaRPr sz="2200">
              <a:solidFill>
                <a:schemeClr val="dk1"/>
              </a:solidFill>
              <a:latin typeface="Lexend"/>
              <a:ea typeface="Lexend"/>
              <a:cs typeface="Lexend"/>
              <a:sym typeface="Lexend"/>
            </a:endParaRPr>
          </a:p>
        </p:txBody>
      </p:sp>
      <p:sp>
        <p:nvSpPr>
          <p:cNvPr id="1991" name="Google Shape;1991;p157"/>
          <p:cNvSpPr txBox="1"/>
          <p:nvPr/>
        </p:nvSpPr>
        <p:spPr>
          <a:xfrm>
            <a:off x="3152700" y="3587700"/>
            <a:ext cx="2838600" cy="116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Mass</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a:p>
            <a:pPr indent="0" lvl="0" marL="0" rtl="0" algn="ctr">
              <a:spcBef>
                <a:spcPts val="0"/>
              </a:spcBef>
              <a:spcAft>
                <a:spcPts val="0"/>
              </a:spcAft>
              <a:buNone/>
            </a:pPr>
            <a:r>
              <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m</a:t>
            </a:r>
            <a:r>
              <a:rPr lang="en-GB" sz="2200">
                <a:solidFill>
                  <a:schemeClr val="dk1"/>
                </a:solidFill>
                <a:latin typeface="Lexend"/>
                <a:ea typeface="Lexend"/>
                <a:cs typeface="Lexend"/>
                <a:sym typeface="Lexend"/>
              </a:rPr>
              <a:t>g, g, kg …</a:t>
            </a:r>
            <a:endParaRPr sz="2200">
              <a:solidFill>
                <a:schemeClr val="dk1"/>
              </a:solidFill>
              <a:latin typeface="Lexend"/>
              <a:ea typeface="Lexend"/>
              <a:cs typeface="Lexend"/>
              <a:sym typeface="Lexend"/>
            </a:endParaRPr>
          </a:p>
        </p:txBody>
      </p:sp>
      <p:sp>
        <p:nvSpPr>
          <p:cNvPr id="1992" name="Google Shape;1992;p157"/>
          <p:cNvSpPr txBox="1"/>
          <p:nvPr/>
        </p:nvSpPr>
        <p:spPr>
          <a:xfrm>
            <a:off x="5916050" y="3587700"/>
            <a:ext cx="2838600" cy="116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GB" sz="2200">
                <a:solidFill>
                  <a:schemeClr val="dk1"/>
                </a:solidFill>
                <a:latin typeface="Lexend"/>
                <a:ea typeface="Lexend"/>
                <a:cs typeface="Lexend"/>
                <a:sym typeface="Lexend"/>
              </a:rPr>
              <a:t>Capacity:</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a:p>
            <a:pPr indent="0" lvl="0" marL="0" rtl="0" algn="ctr">
              <a:spcBef>
                <a:spcPts val="0"/>
              </a:spcBef>
              <a:spcAft>
                <a:spcPts val="0"/>
              </a:spcAft>
              <a:buNone/>
            </a:pPr>
            <a:r>
              <a:t/>
            </a:r>
            <a:endParaRPr sz="1000">
              <a:solidFill>
                <a:schemeClr val="dk1"/>
              </a:solidFill>
              <a:latin typeface="Lexend"/>
              <a:ea typeface="Lexend"/>
              <a:cs typeface="Lexend"/>
              <a:sym typeface="Lexend"/>
            </a:endParaRPr>
          </a:p>
          <a:p>
            <a:pPr indent="0" lvl="0" marL="0" rtl="0" algn="ctr">
              <a:spcBef>
                <a:spcPts val="0"/>
              </a:spcBef>
              <a:spcAft>
                <a:spcPts val="0"/>
              </a:spcAft>
              <a:buNone/>
            </a:pPr>
            <a:r>
              <a:rPr lang="en-GB" sz="2200">
                <a:solidFill>
                  <a:schemeClr val="dk1"/>
                </a:solidFill>
                <a:latin typeface="Lexend"/>
                <a:ea typeface="Lexend"/>
                <a:cs typeface="Lexend"/>
                <a:sym typeface="Lexend"/>
              </a:rPr>
              <a:t>ml, cl, l,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1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a:t>
            </a:r>
            <a:r>
              <a:rPr lang="en-GB"/>
              <a:t>What would be a sensible unit of capacity to measure each of the items in the table?</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sz="2600"/>
          </a:p>
          <a:p>
            <a:pPr indent="0" lvl="0" marL="0" rtl="0" algn="l">
              <a:spcBef>
                <a:spcPts val="1000"/>
              </a:spcBef>
              <a:spcAft>
                <a:spcPts val="0"/>
              </a:spcAft>
              <a:buNone/>
            </a:pPr>
            <a:r>
              <a:t/>
            </a:r>
            <a:endParaRPr sz="2600"/>
          </a:p>
          <a:p>
            <a:pPr indent="0" lvl="0" marL="0" rtl="0" algn="l">
              <a:spcBef>
                <a:spcPts val="1000"/>
              </a:spcBef>
              <a:spcAft>
                <a:spcPts val="0"/>
              </a:spcAft>
              <a:buNone/>
            </a:pPr>
            <a:r>
              <a:rPr lang="en-GB"/>
              <a:t>b) Each of the values below matches one of the six items. Which is which?</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1998" name="Google Shape;1998;p15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Estimation in context</a:t>
            </a:r>
            <a:endParaRPr/>
          </a:p>
        </p:txBody>
      </p:sp>
      <p:graphicFrame>
        <p:nvGraphicFramePr>
          <p:cNvPr id="1999" name="Google Shape;1999;p158"/>
          <p:cNvGraphicFramePr/>
          <p:nvPr/>
        </p:nvGraphicFramePr>
        <p:xfrm>
          <a:off x="1271738" y="1620000"/>
          <a:ext cx="3000000" cy="3000000"/>
        </p:xfrm>
        <a:graphic>
          <a:graphicData uri="http://schemas.openxmlformats.org/drawingml/2006/table">
            <a:tbl>
              <a:tblPr>
                <a:noFill/>
                <a:tableStyleId>{F6FFFE55-71C9-467E-8D29-FAD3E99BDCF0}</a:tableStyleId>
              </a:tblPr>
              <a:tblGrid>
                <a:gridCol w="2200175"/>
                <a:gridCol w="2200175"/>
                <a:gridCol w="2200175"/>
              </a:tblGrid>
              <a:tr h="812150">
                <a:tc>
                  <a:txBody>
                    <a:bodyPr/>
                    <a:lstStyle/>
                    <a:p>
                      <a:pPr indent="0" lvl="0" marL="0" rtl="0" algn="ctr">
                        <a:spcBef>
                          <a:spcPts val="0"/>
                        </a:spcBef>
                        <a:spcAft>
                          <a:spcPts val="0"/>
                        </a:spcAft>
                        <a:buNone/>
                      </a:pPr>
                      <a:r>
                        <a:rPr lang="en-GB" sz="1800">
                          <a:latin typeface="Lexend"/>
                          <a:ea typeface="Lexend"/>
                          <a:cs typeface="Lexend"/>
                          <a:sym typeface="Lexend"/>
                        </a:rPr>
                        <a:t>drink bottle</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pond</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swimming pool</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12150">
                <a:tc>
                  <a:txBody>
                    <a:bodyPr/>
                    <a:lstStyle/>
                    <a:p>
                      <a:pPr indent="0" lvl="0" marL="0" rtl="0" algn="ctr">
                        <a:spcBef>
                          <a:spcPts val="0"/>
                        </a:spcBef>
                        <a:spcAft>
                          <a:spcPts val="0"/>
                        </a:spcAft>
                        <a:buNone/>
                      </a:pPr>
                      <a:r>
                        <a:rPr lang="en-GB" sz="1800">
                          <a:latin typeface="Lexend"/>
                          <a:ea typeface="Lexend"/>
                          <a:cs typeface="Lexend"/>
                          <a:sym typeface="Lexend"/>
                        </a:rPr>
                        <a:t>petrol tank</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cup of tea</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dose of medicine</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000" name="Google Shape;2000;p158"/>
          <p:cNvGraphicFramePr/>
          <p:nvPr/>
        </p:nvGraphicFramePr>
        <p:xfrm>
          <a:off x="1153163" y="4163700"/>
          <a:ext cx="3000000" cy="3000000"/>
        </p:xfrm>
        <a:graphic>
          <a:graphicData uri="http://schemas.openxmlformats.org/drawingml/2006/table">
            <a:tbl>
              <a:tblPr>
                <a:noFill/>
                <a:tableStyleId>{C8BF9AAA-E96C-4867-8E7D-F547205E6F83}</a:tableStyleId>
              </a:tblPr>
              <a:tblGrid>
                <a:gridCol w="1151550"/>
                <a:gridCol w="1151550"/>
                <a:gridCol w="1151550"/>
                <a:gridCol w="1151550"/>
                <a:gridCol w="1151550"/>
                <a:gridCol w="1151550"/>
              </a:tblGrid>
              <a:tr h="408200">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375 000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5</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55</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500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1 500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300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001" name="Google Shape;2001;p158"/>
          <p:cNvSpPr txBox="1"/>
          <p:nvPr/>
        </p:nvSpPr>
        <p:spPr>
          <a:xfrm>
            <a:off x="6183325" y="20208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GB" sz="1900">
                <a:solidFill>
                  <a:schemeClr val="dk1"/>
                </a:solidFill>
                <a:latin typeface="Kalam"/>
                <a:ea typeface="Kalam"/>
                <a:cs typeface="Kalam"/>
                <a:sym typeface="Kalam"/>
              </a:rPr>
              <a:t>375 000</a:t>
            </a:r>
            <a:endParaRPr sz="2200">
              <a:solidFill>
                <a:schemeClr val="dk1"/>
              </a:solidFill>
              <a:latin typeface="Kalam"/>
              <a:ea typeface="Kalam"/>
              <a:cs typeface="Kalam"/>
              <a:sym typeface="Kalam"/>
            </a:endParaRPr>
          </a:p>
        </p:txBody>
      </p:sp>
      <p:sp>
        <p:nvSpPr>
          <p:cNvPr id="2002" name="Google Shape;2002;p158"/>
          <p:cNvSpPr txBox="1"/>
          <p:nvPr/>
        </p:nvSpPr>
        <p:spPr>
          <a:xfrm>
            <a:off x="6183325" y="27586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5</a:t>
            </a:r>
            <a:endParaRPr sz="2200">
              <a:solidFill>
                <a:schemeClr val="dk1"/>
              </a:solidFill>
              <a:latin typeface="Kalam"/>
              <a:ea typeface="Kalam"/>
              <a:cs typeface="Kalam"/>
              <a:sym typeface="Kalam"/>
            </a:endParaRPr>
          </a:p>
        </p:txBody>
      </p:sp>
      <p:sp>
        <p:nvSpPr>
          <p:cNvPr id="2003" name="Google Shape;2003;p158"/>
          <p:cNvSpPr txBox="1"/>
          <p:nvPr/>
        </p:nvSpPr>
        <p:spPr>
          <a:xfrm>
            <a:off x="1772975" y="277620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55</a:t>
            </a:r>
            <a:endParaRPr sz="2200">
              <a:solidFill>
                <a:schemeClr val="dk1"/>
              </a:solidFill>
              <a:latin typeface="Kalam"/>
              <a:ea typeface="Kalam"/>
              <a:cs typeface="Kalam"/>
              <a:sym typeface="Kalam"/>
            </a:endParaRPr>
          </a:p>
        </p:txBody>
      </p:sp>
      <p:sp>
        <p:nvSpPr>
          <p:cNvPr id="2004" name="Google Shape;2004;p158"/>
          <p:cNvSpPr txBox="1"/>
          <p:nvPr/>
        </p:nvSpPr>
        <p:spPr>
          <a:xfrm>
            <a:off x="1620850" y="20208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500</a:t>
            </a:r>
            <a:endParaRPr sz="2200">
              <a:solidFill>
                <a:schemeClr val="dk1"/>
              </a:solidFill>
              <a:latin typeface="Kalam"/>
              <a:ea typeface="Kalam"/>
              <a:cs typeface="Kalam"/>
              <a:sym typeface="Kalam"/>
            </a:endParaRPr>
          </a:p>
        </p:txBody>
      </p:sp>
      <p:sp>
        <p:nvSpPr>
          <p:cNvPr id="2005" name="Google Shape;2005;p158"/>
          <p:cNvSpPr txBox="1"/>
          <p:nvPr/>
        </p:nvSpPr>
        <p:spPr>
          <a:xfrm>
            <a:off x="4038613" y="19543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1500</a:t>
            </a:r>
            <a:endParaRPr sz="2200">
              <a:solidFill>
                <a:schemeClr val="dk1"/>
              </a:solidFill>
              <a:latin typeface="Kalam"/>
              <a:ea typeface="Kalam"/>
              <a:cs typeface="Kalam"/>
              <a:sym typeface="Kalam"/>
            </a:endParaRPr>
          </a:p>
        </p:txBody>
      </p:sp>
      <p:sp>
        <p:nvSpPr>
          <p:cNvPr id="2006" name="Google Shape;2006;p158"/>
          <p:cNvSpPr txBox="1"/>
          <p:nvPr/>
        </p:nvSpPr>
        <p:spPr>
          <a:xfrm>
            <a:off x="4085925" y="27655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300</a:t>
            </a:r>
            <a:endParaRPr sz="2200">
              <a:solidFill>
                <a:schemeClr val="dk1"/>
              </a:solidFill>
              <a:latin typeface="Kalam"/>
              <a:ea typeface="Kalam"/>
              <a:cs typeface="Kalam"/>
              <a:sym typeface="Kalam"/>
            </a:endParaRPr>
          </a:p>
        </p:txBody>
      </p:sp>
      <p:sp>
        <p:nvSpPr>
          <p:cNvPr id="2007" name="Google Shape;2007;p158"/>
          <p:cNvSpPr txBox="1"/>
          <p:nvPr/>
        </p:nvSpPr>
        <p:spPr>
          <a:xfrm>
            <a:off x="2342366" y="20208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ml</a:t>
            </a:r>
            <a:endParaRPr sz="2200">
              <a:solidFill>
                <a:schemeClr val="dk1"/>
              </a:solidFill>
              <a:latin typeface="Kalam"/>
              <a:ea typeface="Kalam"/>
              <a:cs typeface="Kalam"/>
              <a:sym typeface="Kalam"/>
            </a:endParaRPr>
          </a:p>
        </p:txBody>
      </p:sp>
      <p:sp>
        <p:nvSpPr>
          <p:cNvPr id="2008" name="Google Shape;2008;p158"/>
          <p:cNvSpPr txBox="1"/>
          <p:nvPr/>
        </p:nvSpPr>
        <p:spPr>
          <a:xfrm>
            <a:off x="2650050" y="2020857"/>
            <a:ext cx="4743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sz="2200">
              <a:solidFill>
                <a:schemeClr val="dk1"/>
              </a:solidFill>
              <a:latin typeface="Kalam"/>
              <a:ea typeface="Kalam"/>
              <a:cs typeface="Kalam"/>
              <a:sym typeface="Kalam"/>
            </a:endParaRPr>
          </a:p>
        </p:txBody>
      </p:sp>
      <p:sp>
        <p:nvSpPr>
          <p:cNvPr id="2009" name="Google Shape;2009;p158"/>
          <p:cNvSpPr txBox="1"/>
          <p:nvPr/>
        </p:nvSpPr>
        <p:spPr>
          <a:xfrm>
            <a:off x="4796422" y="19543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L</a:t>
            </a:r>
            <a:endParaRPr sz="2200">
              <a:solidFill>
                <a:schemeClr val="dk1"/>
              </a:solidFill>
              <a:latin typeface="Kalam"/>
              <a:ea typeface="Kalam"/>
              <a:cs typeface="Kalam"/>
              <a:sym typeface="Kalam"/>
            </a:endParaRPr>
          </a:p>
        </p:txBody>
      </p:sp>
      <p:sp>
        <p:nvSpPr>
          <p:cNvPr id="2010" name="Google Shape;2010;p158"/>
          <p:cNvSpPr txBox="1"/>
          <p:nvPr/>
        </p:nvSpPr>
        <p:spPr>
          <a:xfrm>
            <a:off x="7118547" y="20208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L</a:t>
            </a:r>
            <a:endParaRPr sz="2200">
              <a:solidFill>
                <a:schemeClr val="dk1"/>
              </a:solidFill>
              <a:latin typeface="Kalam"/>
              <a:ea typeface="Kalam"/>
              <a:cs typeface="Kalam"/>
              <a:sym typeface="Kalam"/>
            </a:endParaRPr>
          </a:p>
        </p:txBody>
      </p:sp>
      <p:sp>
        <p:nvSpPr>
          <p:cNvPr id="2011" name="Google Shape;2011;p158"/>
          <p:cNvSpPr txBox="1"/>
          <p:nvPr/>
        </p:nvSpPr>
        <p:spPr>
          <a:xfrm>
            <a:off x="4910416" y="27586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ml</a:t>
            </a:r>
            <a:endParaRPr sz="2200">
              <a:solidFill>
                <a:schemeClr val="dk1"/>
              </a:solidFill>
              <a:latin typeface="Kalam"/>
              <a:ea typeface="Kalam"/>
              <a:cs typeface="Kalam"/>
              <a:sym typeface="Kalam"/>
            </a:endParaRPr>
          </a:p>
        </p:txBody>
      </p:sp>
      <p:sp>
        <p:nvSpPr>
          <p:cNvPr id="2012" name="Google Shape;2012;p158"/>
          <p:cNvSpPr txBox="1"/>
          <p:nvPr/>
        </p:nvSpPr>
        <p:spPr>
          <a:xfrm>
            <a:off x="6838166" y="27655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ml</a:t>
            </a:r>
            <a:endParaRPr sz="2200">
              <a:solidFill>
                <a:schemeClr val="dk1"/>
              </a:solidFill>
              <a:latin typeface="Kalam"/>
              <a:ea typeface="Kalam"/>
              <a:cs typeface="Kalam"/>
              <a:sym typeface="Kalam"/>
            </a:endParaRPr>
          </a:p>
        </p:txBody>
      </p:sp>
      <p:sp>
        <p:nvSpPr>
          <p:cNvPr id="2013" name="Google Shape;2013;p158"/>
          <p:cNvSpPr txBox="1"/>
          <p:nvPr/>
        </p:nvSpPr>
        <p:spPr>
          <a:xfrm>
            <a:off x="2419902" y="2781062"/>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L</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0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pic>
        <p:nvPicPr>
          <p:cNvPr id="2018" name="Google Shape;2018;p159"/>
          <p:cNvPicPr preferRelativeResize="0"/>
          <p:nvPr/>
        </p:nvPicPr>
        <p:blipFill>
          <a:blip r:embed="rId3">
            <a:alphaModFix/>
          </a:blip>
          <a:stretch>
            <a:fillRect/>
          </a:stretch>
        </p:blipFill>
        <p:spPr>
          <a:xfrm>
            <a:off x="7134750" y="1226146"/>
            <a:ext cx="1112460" cy="1345600"/>
          </a:xfrm>
          <a:prstGeom prst="rect">
            <a:avLst/>
          </a:prstGeom>
          <a:noFill/>
          <a:ln>
            <a:noFill/>
          </a:ln>
        </p:spPr>
      </p:pic>
      <p:sp>
        <p:nvSpPr>
          <p:cNvPr id="2019" name="Google Shape;2019;p159"/>
          <p:cNvSpPr txBox="1"/>
          <p:nvPr>
            <p:ph idx="4294967295" type="body"/>
          </p:nvPr>
        </p:nvSpPr>
        <p:spPr>
          <a:xfrm>
            <a:off x="324000" y="759300"/>
            <a:ext cx="6971100" cy="268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A science textbook uses comparisons with humans to show the sizes of different animals.</a:t>
            </a:r>
            <a:endParaRPr sz="1800"/>
          </a:p>
          <a:p>
            <a:pPr indent="-342900" lvl="0" marL="457200" rtl="0" algn="l">
              <a:spcBef>
                <a:spcPts val="0"/>
              </a:spcBef>
              <a:spcAft>
                <a:spcPts val="0"/>
              </a:spcAft>
              <a:buSzPts val="1800"/>
              <a:buAutoNum type="alphaLcParenR"/>
            </a:pPr>
            <a:r>
              <a:rPr lang="en-GB" sz="1800"/>
              <a:t>Which of these is a good </a:t>
            </a:r>
            <a:r>
              <a:rPr b="1" lang="en-GB" sz="1800"/>
              <a:t>estimate</a:t>
            </a:r>
            <a:r>
              <a:rPr lang="en-GB" sz="1800"/>
              <a:t> for the width of the hand? </a:t>
            </a:r>
            <a:endParaRPr sz="1800"/>
          </a:p>
          <a:p>
            <a:pPr indent="0" lvl="0" marL="0" rtl="0" algn="ctr">
              <a:spcBef>
                <a:spcPts val="1000"/>
              </a:spcBef>
              <a:spcAft>
                <a:spcPts val="0"/>
              </a:spcAft>
              <a:buNone/>
            </a:pPr>
            <a:r>
              <a:rPr lang="en-GB" sz="1800"/>
              <a:t>	10 cm		25 cm		5 cm</a:t>
            </a:r>
            <a:endParaRPr sz="1800"/>
          </a:p>
          <a:p>
            <a:pPr indent="0" lvl="0" marL="0" rtl="0" algn="l">
              <a:spcBef>
                <a:spcPts val="1000"/>
              </a:spcBef>
              <a:spcAft>
                <a:spcPts val="0"/>
              </a:spcAft>
              <a:buNone/>
            </a:pPr>
            <a:r>
              <a:rPr lang="en-GB" sz="1800"/>
              <a:t>Use your answer to part a to </a:t>
            </a:r>
            <a:r>
              <a:rPr b="1" lang="en-GB" sz="1800"/>
              <a:t>estimate</a:t>
            </a:r>
            <a:r>
              <a:rPr lang="en-GB" sz="1800"/>
              <a:t> the size of the animals below.</a:t>
            </a:r>
            <a:endParaRPr sz="1800"/>
          </a:p>
          <a:p>
            <a:pPr indent="0" lvl="0" marL="0" rtl="0" algn="ctr">
              <a:spcBef>
                <a:spcPts val="1000"/>
              </a:spcBef>
              <a:spcAft>
                <a:spcPts val="0"/>
              </a:spcAft>
              <a:buNone/>
            </a:pPr>
            <a:r>
              <a:t/>
            </a:r>
            <a:endParaRPr sz="1800"/>
          </a:p>
          <a:p>
            <a:pPr indent="0" lvl="0" marL="0" rtl="0" algn="l">
              <a:spcBef>
                <a:spcPts val="1000"/>
              </a:spcBef>
              <a:spcAft>
                <a:spcPts val="0"/>
              </a:spcAft>
              <a:buNone/>
            </a:pPr>
            <a:r>
              <a:t/>
            </a:r>
            <a:endParaRPr sz="3900"/>
          </a:p>
          <a:p>
            <a:pPr indent="0" lvl="0" marL="0" rtl="0" algn="l">
              <a:spcBef>
                <a:spcPts val="1000"/>
              </a:spcBef>
              <a:spcAft>
                <a:spcPts val="1000"/>
              </a:spcAft>
              <a:buNone/>
            </a:pPr>
            <a:r>
              <a:t/>
            </a:r>
            <a:endParaRPr sz="1800"/>
          </a:p>
        </p:txBody>
      </p:sp>
      <p:sp>
        <p:nvSpPr>
          <p:cNvPr id="2020" name="Google Shape;2020;p15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cxnSp>
        <p:nvCxnSpPr>
          <p:cNvPr id="2021" name="Google Shape;2021;p159"/>
          <p:cNvCxnSpPr/>
          <p:nvPr/>
        </p:nvCxnSpPr>
        <p:spPr>
          <a:xfrm>
            <a:off x="7361800" y="1974250"/>
            <a:ext cx="753600" cy="3900"/>
          </a:xfrm>
          <a:prstGeom prst="straightConnector1">
            <a:avLst/>
          </a:prstGeom>
          <a:noFill/>
          <a:ln cap="flat" cmpd="sng" w="28575">
            <a:solidFill>
              <a:schemeClr val="dk1"/>
            </a:solidFill>
            <a:prstDash val="solid"/>
            <a:round/>
            <a:headEnd len="med" w="med" type="triangle"/>
            <a:tailEnd len="med" w="med" type="triangle"/>
          </a:ln>
        </p:spPr>
      </p:cxnSp>
      <p:sp>
        <p:nvSpPr>
          <p:cNvPr id="2022" name="Google Shape;2022;p159"/>
          <p:cNvSpPr txBox="1"/>
          <p:nvPr/>
        </p:nvSpPr>
        <p:spPr>
          <a:xfrm>
            <a:off x="1910025" y="3627600"/>
            <a:ext cx="1238400" cy="8286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1000"/>
              </a:spcAft>
              <a:buClr>
                <a:schemeClr val="dk1"/>
              </a:buClr>
              <a:buSzPts val="1100"/>
              <a:buFont typeface="Arial"/>
              <a:buNone/>
            </a:pPr>
            <a:r>
              <a:t/>
            </a:r>
            <a:endParaRPr sz="2700">
              <a:solidFill>
                <a:schemeClr val="dk1"/>
              </a:solidFill>
              <a:latin typeface="Lexend"/>
              <a:ea typeface="Lexend"/>
              <a:cs typeface="Lexend"/>
              <a:sym typeface="Lexend"/>
            </a:endParaRPr>
          </a:p>
        </p:txBody>
      </p:sp>
      <p:cxnSp>
        <p:nvCxnSpPr>
          <p:cNvPr id="2023" name="Google Shape;2023;p159"/>
          <p:cNvCxnSpPr/>
          <p:nvPr/>
        </p:nvCxnSpPr>
        <p:spPr>
          <a:xfrm rot="10800000">
            <a:off x="2020350" y="3769750"/>
            <a:ext cx="600000" cy="0"/>
          </a:xfrm>
          <a:prstGeom prst="straightConnector1">
            <a:avLst/>
          </a:prstGeom>
          <a:noFill/>
          <a:ln cap="flat" cmpd="sng" w="9525">
            <a:solidFill>
              <a:schemeClr val="dk1"/>
            </a:solidFill>
            <a:prstDash val="solid"/>
            <a:round/>
            <a:headEnd len="med" w="med" type="triangle"/>
            <a:tailEnd len="med" w="med" type="triangle"/>
          </a:ln>
        </p:spPr>
      </p:cxnSp>
      <p:pic>
        <p:nvPicPr>
          <p:cNvPr id="2024" name="Google Shape;2024;p159"/>
          <p:cNvPicPr preferRelativeResize="0"/>
          <p:nvPr/>
        </p:nvPicPr>
        <p:blipFill>
          <a:blip r:embed="rId3">
            <a:alphaModFix/>
          </a:blip>
          <a:stretch>
            <a:fillRect/>
          </a:stretch>
        </p:blipFill>
        <p:spPr>
          <a:xfrm>
            <a:off x="1420350" y="3627600"/>
            <a:ext cx="600000" cy="725731"/>
          </a:xfrm>
          <a:prstGeom prst="rect">
            <a:avLst/>
          </a:prstGeom>
          <a:noFill/>
          <a:ln>
            <a:noFill/>
          </a:ln>
        </p:spPr>
      </p:pic>
      <p:sp>
        <p:nvSpPr>
          <p:cNvPr id="2025" name="Google Shape;2025;p159"/>
          <p:cNvSpPr txBox="1"/>
          <p:nvPr/>
        </p:nvSpPr>
        <p:spPr>
          <a:xfrm>
            <a:off x="836400" y="3466188"/>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a:t>
            </a:r>
            <a:endParaRPr/>
          </a:p>
        </p:txBody>
      </p:sp>
      <p:sp>
        <p:nvSpPr>
          <p:cNvPr id="2026" name="Google Shape;2026;p159"/>
          <p:cNvSpPr txBox="1"/>
          <p:nvPr/>
        </p:nvSpPr>
        <p:spPr>
          <a:xfrm>
            <a:off x="4942350" y="3700488"/>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c)</a:t>
            </a:r>
            <a:endParaRPr/>
          </a:p>
        </p:txBody>
      </p:sp>
      <p:sp>
        <p:nvSpPr>
          <p:cNvPr id="2027" name="Google Shape;2027;p159"/>
          <p:cNvSpPr txBox="1"/>
          <p:nvPr/>
        </p:nvSpPr>
        <p:spPr>
          <a:xfrm>
            <a:off x="1972725" y="3307625"/>
            <a:ext cx="15951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a:t>
            </a:r>
            <a:endParaRPr sz="1800">
              <a:solidFill>
                <a:schemeClr val="dk1"/>
              </a:solidFill>
              <a:latin typeface="Lexend"/>
              <a:ea typeface="Lexend"/>
              <a:cs typeface="Lexend"/>
              <a:sym typeface="Lexend"/>
            </a:endParaRPr>
          </a:p>
        </p:txBody>
      </p:sp>
      <p:pic>
        <p:nvPicPr>
          <p:cNvPr id="2028" name="Google Shape;2028;p159"/>
          <p:cNvPicPr preferRelativeResize="0"/>
          <p:nvPr/>
        </p:nvPicPr>
        <p:blipFill>
          <a:blip r:embed="rId4">
            <a:alphaModFix/>
          </a:blip>
          <a:stretch>
            <a:fillRect/>
          </a:stretch>
        </p:blipFill>
        <p:spPr>
          <a:xfrm>
            <a:off x="6296550" y="4073550"/>
            <a:ext cx="308227" cy="382802"/>
          </a:xfrm>
          <a:prstGeom prst="rect">
            <a:avLst/>
          </a:prstGeom>
          <a:noFill/>
          <a:ln>
            <a:noFill/>
          </a:ln>
        </p:spPr>
      </p:pic>
      <p:pic>
        <p:nvPicPr>
          <p:cNvPr id="2029" name="Google Shape;2029;p159"/>
          <p:cNvPicPr preferRelativeResize="0"/>
          <p:nvPr/>
        </p:nvPicPr>
        <p:blipFill>
          <a:blip r:embed="rId3">
            <a:alphaModFix/>
          </a:blip>
          <a:stretch>
            <a:fillRect/>
          </a:stretch>
        </p:blipFill>
        <p:spPr>
          <a:xfrm>
            <a:off x="5419950" y="3396300"/>
            <a:ext cx="884700" cy="1070100"/>
          </a:xfrm>
          <a:prstGeom prst="rect">
            <a:avLst/>
          </a:prstGeom>
          <a:noFill/>
          <a:ln>
            <a:noFill/>
          </a:ln>
        </p:spPr>
      </p:pic>
      <p:cxnSp>
        <p:nvCxnSpPr>
          <p:cNvPr id="2030" name="Google Shape;2030;p159"/>
          <p:cNvCxnSpPr/>
          <p:nvPr/>
        </p:nvCxnSpPr>
        <p:spPr>
          <a:xfrm rot="10800000">
            <a:off x="6647575" y="4111650"/>
            <a:ext cx="0" cy="344700"/>
          </a:xfrm>
          <a:prstGeom prst="straightConnector1">
            <a:avLst/>
          </a:prstGeom>
          <a:noFill/>
          <a:ln cap="flat" cmpd="sng" w="9525">
            <a:solidFill>
              <a:schemeClr val="dk1"/>
            </a:solidFill>
            <a:prstDash val="solid"/>
            <a:round/>
            <a:headEnd len="med" w="med" type="triangle"/>
            <a:tailEnd len="med" w="med" type="triangle"/>
          </a:ln>
        </p:spPr>
      </p:cxnSp>
      <p:sp>
        <p:nvSpPr>
          <p:cNvPr id="2031" name="Google Shape;2031;p159"/>
          <p:cNvSpPr txBox="1"/>
          <p:nvPr/>
        </p:nvSpPr>
        <p:spPr>
          <a:xfrm>
            <a:off x="6304650" y="3237888"/>
            <a:ext cx="15951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a:t>
            </a:r>
            <a:endParaRPr sz="1800">
              <a:solidFill>
                <a:schemeClr val="dk1"/>
              </a:solidFill>
              <a:latin typeface="Lexend"/>
              <a:ea typeface="Lexend"/>
              <a:cs typeface="Lexend"/>
              <a:sym typeface="Lexend"/>
            </a:endParaRPr>
          </a:p>
        </p:txBody>
      </p:sp>
      <p:pic>
        <p:nvPicPr>
          <p:cNvPr id="2032" name="Google Shape;2032;p159"/>
          <p:cNvPicPr preferRelativeResize="0"/>
          <p:nvPr/>
        </p:nvPicPr>
        <p:blipFill>
          <a:blip r:embed="rId5">
            <a:alphaModFix/>
          </a:blip>
          <a:stretch>
            <a:fillRect/>
          </a:stretch>
        </p:blipFill>
        <p:spPr>
          <a:xfrm flipH="1">
            <a:off x="1940100" y="3835937"/>
            <a:ext cx="760500" cy="41193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6" name="Shape 2036"/>
        <p:cNvGrpSpPr/>
        <p:nvPr/>
      </p:nvGrpSpPr>
      <p:grpSpPr>
        <a:xfrm>
          <a:off x="0" y="0"/>
          <a:ext cx="0" cy="0"/>
          <a:chOff x="0" y="0"/>
          <a:chExt cx="0" cy="0"/>
        </a:xfrm>
      </p:grpSpPr>
      <p:sp>
        <p:nvSpPr>
          <p:cNvPr id="2037" name="Google Shape;2037;p16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038" name="Google Shape;2038;p160"/>
          <p:cNvSpPr txBox="1"/>
          <p:nvPr>
            <p:ph idx="4294967295" type="body"/>
          </p:nvPr>
        </p:nvSpPr>
        <p:spPr>
          <a:xfrm>
            <a:off x="324000" y="759300"/>
            <a:ext cx="8237700" cy="279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a) </a:t>
            </a:r>
            <a:r>
              <a:rPr lang="en-GB" sz="1800"/>
              <a:t>What would be a sensible unit of mass to measure each of the items in the table?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200"/>
          </a:p>
          <a:p>
            <a:pPr indent="0" lvl="0" marL="0" rtl="0" algn="l">
              <a:spcBef>
                <a:spcPts val="1000"/>
              </a:spcBef>
              <a:spcAft>
                <a:spcPts val="0"/>
              </a:spcAft>
              <a:buNone/>
            </a:pPr>
            <a:r>
              <a:rPr lang="en-GB" sz="1800"/>
              <a:t>b) Each of the values below matches one of the six items. Which is which?</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500"/>
          </a:p>
          <a:p>
            <a:pPr indent="0" lvl="0" marL="0" rtl="0" algn="l">
              <a:spcBef>
                <a:spcPts val="1000"/>
              </a:spcBef>
              <a:spcAft>
                <a:spcPts val="0"/>
              </a:spcAft>
              <a:buNone/>
            </a:pPr>
            <a:r>
              <a:rPr lang="en-GB" sz="1800"/>
              <a:t>c) An orange weighs approximately 120 g. How many oranges do you think would be the equivalent of one of each of the things in part 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graphicFrame>
        <p:nvGraphicFramePr>
          <p:cNvPr id="2039" name="Google Shape;2039;p160"/>
          <p:cNvGraphicFramePr/>
          <p:nvPr/>
        </p:nvGraphicFramePr>
        <p:xfrm>
          <a:off x="1805138" y="1162800"/>
          <a:ext cx="3000000" cy="3000000"/>
        </p:xfrm>
        <a:graphic>
          <a:graphicData uri="http://schemas.openxmlformats.org/drawingml/2006/table">
            <a:tbl>
              <a:tblPr>
                <a:noFill/>
                <a:tableStyleId>{F6FFFE55-71C9-467E-8D29-FAD3E99BDCF0}</a:tableStyleId>
              </a:tblPr>
              <a:tblGrid>
                <a:gridCol w="2200175"/>
                <a:gridCol w="2200175"/>
                <a:gridCol w="2200175"/>
              </a:tblGrid>
              <a:tr h="812150">
                <a:tc>
                  <a:txBody>
                    <a:bodyPr/>
                    <a:lstStyle/>
                    <a:p>
                      <a:pPr indent="0" lvl="0" marL="0" rtl="0" algn="ctr">
                        <a:spcBef>
                          <a:spcPts val="0"/>
                        </a:spcBef>
                        <a:spcAft>
                          <a:spcPts val="0"/>
                        </a:spcAft>
                        <a:buNone/>
                      </a:pPr>
                      <a:r>
                        <a:rPr lang="en-GB" sz="1800">
                          <a:latin typeface="Lexend"/>
                          <a:ea typeface="Lexend"/>
                          <a:cs typeface="Lexend"/>
                          <a:sym typeface="Lexend"/>
                        </a:rPr>
                        <a:t>baby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elephant</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full suitcase</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12150">
                <a:tc>
                  <a:txBody>
                    <a:bodyPr/>
                    <a:lstStyle/>
                    <a:p>
                      <a:pPr indent="0" lvl="0" marL="0" rtl="0" algn="ctr">
                        <a:spcBef>
                          <a:spcPts val="0"/>
                        </a:spcBef>
                        <a:spcAft>
                          <a:spcPts val="0"/>
                        </a:spcAft>
                        <a:buNone/>
                      </a:pPr>
                      <a:r>
                        <a:rPr lang="en-GB" sz="1500">
                          <a:latin typeface="Lexend"/>
                          <a:ea typeface="Lexend"/>
                          <a:cs typeface="Lexend"/>
                          <a:sym typeface="Lexend"/>
                        </a:rPr>
                        <a:t>cargo ship container</a:t>
                      </a:r>
                      <a:endParaRPr sz="15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newborn puppy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packet of crisps</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040" name="Google Shape;2040;p160"/>
          <p:cNvGraphicFramePr/>
          <p:nvPr/>
        </p:nvGraphicFramePr>
        <p:xfrm>
          <a:off x="1117338" y="3345350"/>
          <a:ext cx="3000000" cy="3000000"/>
        </p:xfrm>
        <a:graphic>
          <a:graphicData uri="http://schemas.openxmlformats.org/drawingml/2006/table">
            <a:tbl>
              <a:tblPr>
                <a:noFill/>
                <a:tableStyleId>{C8BF9AAA-E96C-4867-8E7D-F547205E6F83}</a:tableStyleId>
              </a:tblPr>
              <a:tblGrid>
                <a:gridCol w="1151550"/>
                <a:gridCol w="1151550"/>
                <a:gridCol w="1151550"/>
                <a:gridCol w="1151550"/>
                <a:gridCol w="1151550"/>
                <a:gridCol w="1151550"/>
              </a:tblGrid>
              <a:tr h="408200">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4000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3.2</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120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28</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19</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2797</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4" name="Shape 2044"/>
        <p:cNvGrpSpPr/>
        <p:nvPr/>
      </p:nvGrpSpPr>
      <p:grpSpPr>
        <a:xfrm>
          <a:off x="0" y="0"/>
          <a:ext cx="0" cy="0"/>
          <a:chOff x="0" y="0"/>
          <a:chExt cx="0" cy="0"/>
        </a:xfrm>
      </p:grpSpPr>
      <p:sp>
        <p:nvSpPr>
          <p:cNvPr id="2045" name="Google Shape;2045;p16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046" name="Google Shape;2046;p161"/>
          <p:cNvSpPr txBox="1"/>
          <p:nvPr>
            <p:ph idx="1" type="body"/>
          </p:nvPr>
        </p:nvSpPr>
        <p:spPr>
          <a:xfrm>
            <a:off x="324000" y="759300"/>
            <a:ext cx="8496000" cy="48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100"/>
              <a:t>3) </a:t>
            </a:r>
            <a:r>
              <a:rPr lang="en-GB" sz="2100"/>
              <a:t>Horses are measured using ‘hands’ as a unit, as shown below.</a:t>
            </a:r>
            <a:endParaRPr sz="2100"/>
          </a:p>
          <a:p>
            <a:pPr indent="0" lvl="0" marL="0" rtl="0" algn="l">
              <a:spcBef>
                <a:spcPts val="1000"/>
              </a:spcBef>
              <a:spcAft>
                <a:spcPts val="0"/>
              </a:spcAft>
              <a:buNone/>
            </a:pPr>
            <a:r>
              <a:t/>
            </a:r>
            <a:endParaRPr sz="2100"/>
          </a:p>
          <a:p>
            <a:pPr indent="0" lvl="0" marL="0" rtl="0" algn="l">
              <a:spcBef>
                <a:spcPts val="1000"/>
              </a:spcBef>
              <a:spcAft>
                <a:spcPts val="0"/>
              </a:spcAft>
              <a:buNone/>
            </a:pPr>
            <a:r>
              <a:t/>
            </a:r>
            <a:endParaRPr sz="3000"/>
          </a:p>
          <a:p>
            <a:pPr indent="0" lvl="0" marL="0" rtl="0" algn="l">
              <a:spcBef>
                <a:spcPts val="1000"/>
              </a:spcBef>
              <a:spcAft>
                <a:spcPts val="0"/>
              </a:spcAft>
              <a:buNone/>
            </a:pPr>
            <a:r>
              <a:t/>
            </a:r>
            <a:endParaRPr sz="2100"/>
          </a:p>
          <a:p>
            <a:pPr indent="0" lvl="0" marL="0" rtl="0" algn="l">
              <a:spcBef>
                <a:spcPts val="1000"/>
              </a:spcBef>
              <a:spcAft>
                <a:spcPts val="0"/>
              </a:spcAft>
              <a:buNone/>
            </a:pPr>
            <a:r>
              <a:t/>
            </a:r>
            <a:endParaRPr sz="2000"/>
          </a:p>
          <a:p>
            <a:pPr indent="0" lvl="0" marL="0" rtl="0" algn="l">
              <a:spcBef>
                <a:spcPts val="0"/>
              </a:spcBef>
              <a:spcAft>
                <a:spcPts val="0"/>
              </a:spcAft>
              <a:buNone/>
            </a:pPr>
            <a:r>
              <a:rPr lang="en-GB" sz="2000"/>
              <a:t>a)</a:t>
            </a:r>
            <a:r>
              <a:rPr b="1" lang="en-GB" sz="2000"/>
              <a:t> </a:t>
            </a:r>
            <a:r>
              <a:rPr b="1" lang="en-GB" sz="2000"/>
              <a:t>Estimate</a:t>
            </a:r>
            <a:r>
              <a:rPr lang="en-GB" sz="2000"/>
              <a:t> the height in centimetres of each of the horses.</a:t>
            </a:r>
            <a:endParaRPr sz="2000"/>
          </a:p>
          <a:p>
            <a:pPr indent="0" lvl="0" marL="0" rtl="0" algn="l">
              <a:spcBef>
                <a:spcPts val="0"/>
              </a:spcBef>
              <a:spcAft>
                <a:spcPts val="0"/>
              </a:spcAft>
              <a:buNone/>
            </a:pPr>
            <a:r>
              <a:rPr lang="en-GB" sz="2000"/>
              <a:t>b) The standard metric equivalent for a hand is 10.2 cm. Does this mean your </a:t>
            </a:r>
            <a:r>
              <a:rPr b="1" lang="en-GB" sz="2000"/>
              <a:t>estimate</a:t>
            </a:r>
            <a:r>
              <a:rPr lang="en-GB" sz="2000"/>
              <a:t> will be too big, too small or just right?</a:t>
            </a:r>
            <a:endParaRPr sz="2000"/>
          </a:p>
          <a:p>
            <a:pPr indent="0" lvl="0" marL="0" rtl="0" algn="l">
              <a:spcBef>
                <a:spcPts val="0"/>
              </a:spcBef>
              <a:spcAft>
                <a:spcPts val="0"/>
              </a:spcAft>
              <a:buNone/>
            </a:pPr>
            <a:r>
              <a:rPr lang="en-GB" sz="2000"/>
              <a:t>c) How many hands high are you to the top of your head?</a:t>
            </a:r>
            <a:endParaRPr sz="2000"/>
          </a:p>
          <a:p>
            <a:pPr indent="0" lvl="0" marL="0" rtl="0" algn="l">
              <a:spcBef>
                <a:spcPts val="0"/>
              </a:spcBef>
              <a:spcAft>
                <a:spcPts val="0"/>
              </a:spcAft>
              <a:buNone/>
            </a:pPr>
            <a:r>
              <a:rPr lang="en-GB" sz="2000"/>
              <a:t>d) </a:t>
            </a:r>
            <a:r>
              <a:rPr b="1" lang="en-GB" sz="2000"/>
              <a:t>Estimate</a:t>
            </a:r>
            <a:r>
              <a:rPr lang="en-GB" sz="2000"/>
              <a:t> some other objects using hands as a unit.</a:t>
            </a:r>
            <a:r>
              <a:rPr lang="en-GB"/>
              <a:t> </a:t>
            </a:r>
            <a:endParaRPr/>
          </a:p>
          <a:p>
            <a:pPr indent="0" lvl="0" marL="457200" rtl="0" algn="l">
              <a:spcBef>
                <a:spcPts val="0"/>
              </a:spcBef>
              <a:spcAft>
                <a:spcPts val="0"/>
              </a:spcAft>
              <a:buNone/>
            </a:pPr>
            <a:r>
              <a:t/>
            </a:r>
            <a:endParaRPr/>
          </a:p>
          <a:p>
            <a:pPr indent="0" lvl="0" marL="0" rtl="0" algn="l">
              <a:spcBef>
                <a:spcPts val="1000"/>
              </a:spcBef>
              <a:spcAft>
                <a:spcPts val="1000"/>
              </a:spcAft>
              <a:buNone/>
            </a:pPr>
            <a:r>
              <a:t/>
            </a:r>
            <a:endParaRPr/>
          </a:p>
        </p:txBody>
      </p:sp>
      <p:pic>
        <p:nvPicPr>
          <p:cNvPr id="2047" name="Google Shape;2047;p161"/>
          <p:cNvPicPr preferRelativeResize="0"/>
          <p:nvPr/>
        </p:nvPicPr>
        <p:blipFill rotWithShape="1">
          <a:blip r:embed="rId3">
            <a:alphaModFix/>
          </a:blip>
          <a:srcRect b="16007" l="0" r="0" t="19183"/>
          <a:stretch/>
        </p:blipFill>
        <p:spPr>
          <a:xfrm>
            <a:off x="1083550" y="1935217"/>
            <a:ext cx="1320631" cy="1277126"/>
          </a:xfrm>
          <a:prstGeom prst="rect">
            <a:avLst/>
          </a:prstGeom>
          <a:noFill/>
          <a:ln>
            <a:noFill/>
          </a:ln>
        </p:spPr>
      </p:pic>
      <p:pic>
        <p:nvPicPr>
          <p:cNvPr id="2048" name="Google Shape;2048;p161"/>
          <p:cNvPicPr preferRelativeResize="0"/>
          <p:nvPr/>
        </p:nvPicPr>
        <p:blipFill>
          <a:blip r:embed="rId4">
            <a:alphaModFix/>
          </a:blip>
          <a:stretch>
            <a:fillRect/>
          </a:stretch>
        </p:blipFill>
        <p:spPr>
          <a:xfrm>
            <a:off x="6086025" y="1133124"/>
            <a:ext cx="1893800" cy="2109899"/>
          </a:xfrm>
          <a:prstGeom prst="rect">
            <a:avLst/>
          </a:prstGeom>
          <a:noFill/>
          <a:ln>
            <a:noFill/>
          </a:ln>
        </p:spPr>
      </p:pic>
      <p:grpSp>
        <p:nvGrpSpPr>
          <p:cNvPr id="2049" name="Google Shape;2049;p161"/>
          <p:cNvGrpSpPr/>
          <p:nvPr/>
        </p:nvGrpSpPr>
        <p:grpSpPr>
          <a:xfrm>
            <a:off x="2436025" y="1949455"/>
            <a:ext cx="177370" cy="1248649"/>
            <a:chOff x="2793225" y="1342551"/>
            <a:chExt cx="177370" cy="1248649"/>
          </a:xfrm>
        </p:grpSpPr>
        <p:pic>
          <p:nvPicPr>
            <p:cNvPr id="2050" name="Google Shape;2050;p161"/>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051" name="Google Shape;2051;p161"/>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052" name="Google Shape;2052;p161"/>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053" name="Google Shape;2053;p161"/>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054" name="Google Shape;2054;p161"/>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055" name="Google Shape;2055;p161"/>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056" name="Google Shape;2056;p161"/>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057" name="Google Shape;2057;p161"/>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058" name="Google Shape;2058;p161"/>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059" name="Google Shape;2059;p161"/>
          <p:cNvGrpSpPr/>
          <p:nvPr/>
        </p:nvGrpSpPr>
        <p:grpSpPr>
          <a:xfrm>
            <a:off x="5880033" y="1133135"/>
            <a:ext cx="146419" cy="2071603"/>
            <a:chOff x="5880125" y="365238"/>
            <a:chExt cx="177370" cy="2509513"/>
          </a:xfrm>
        </p:grpSpPr>
        <p:grpSp>
          <p:nvGrpSpPr>
            <p:cNvPr id="2060" name="Google Shape;2060;p161"/>
            <p:cNvGrpSpPr/>
            <p:nvPr/>
          </p:nvGrpSpPr>
          <p:grpSpPr>
            <a:xfrm>
              <a:off x="5880125" y="1626102"/>
              <a:ext cx="177370" cy="1248649"/>
              <a:chOff x="2793225" y="1342551"/>
              <a:chExt cx="177370" cy="1248649"/>
            </a:xfrm>
          </p:grpSpPr>
          <p:pic>
            <p:nvPicPr>
              <p:cNvPr id="2061" name="Google Shape;2061;p161"/>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062" name="Google Shape;2062;p161"/>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063" name="Google Shape;2063;p161"/>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064" name="Google Shape;2064;p161"/>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065" name="Google Shape;2065;p161"/>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066" name="Google Shape;2066;p161"/>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067" name="Google Shape;2067;p161"/>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068" name="Google Shape;2068;p161"/>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069" name="Google Shape;2069;p161"/>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070" name="Google Shape;2070;p161"/>
            <p:cNvGrpSpPr/>
            <p:nvPr/>
          </p:nvGrpSpPr>
          <p:grpSpPr>
            <a:xfrm>
              <a:off x="5880125" y="365238"/>
              <a:ext cx="177370" cy="1248649"/>
              <a:chOff x="2793225" y="1342551"/>
              <a:chExt cx="177370" cy="1248649"/>
            </a:xfrm>
          </p:grpSpPr>
          <p:pic>
            <p:nvPicPr>
              <p:cNvPr id="2071" name="Google Shape;2071;p161"/>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072" name="Google Shape;2072;p161"/>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073" name="Google Shape;2073;p161"/>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074" name="Google Shape;2074;p161"/>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075" name="Google Shape;2075;p161"/>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076" name="Google Shape;2076;p161"/>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077" name="Google Shape;2077;p161"/>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078" name="Google Shape;2078;p161"/>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079" name="Google Shape;2079;p161"/>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pic>
        <p:nvPicPr>
          <p:cNvPr id="2084" name="Google Shape;2084;p162"/>
          <p:cNvPicPr preferRelativeResize="0"/>
          <p:nvPr/>
        </p:nvPicPr>
        <p:blipFill>
          <a:blip r:embed="rId3">
            <a:alphaModFix/>
          </a:blip>
          <a:stretch>
            <a:fillRect/>
          </a:stretch>
        </p:blipFill>
        <p:spPr>
          <a:xfrm>
            <a:off x="7134750" y="1226146"/>
            <a:ext cx="1112460" cy="1345600"/>
          </a:xfrm>
          <a:prstGeom prst="rect">
            <a:avLst/>
          </a:prstGeom>
          <a:noFill/>
          <a:ln>
            <a:noFill/>
          </a:ln>
        </p:spPr>
      </p:pic>
      <p:sp>
        <p:nvSpPr>
          <p:cNvPr id="2085" name="Google Shape;2085;p162"/>
          <p:cNvSpPr txBox="1"/>
          <p:nvPr>
            <p:ph idx="4294967295" type="body"/>
          </p:nvPr>
        </p:nvSpPr>
        <p:spPr>
          <a:xfrm>
            <a:off x="324000" y="759300"/>
            <a:ext cx="6971100" cy="268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arenR"/>
            </a:pPr>
            <a:r>
              <a:rPr lang="en-GB" sz="1800"/>
              <a:t>A science textbook uses comparisons with humans to show the sizes of different animals.</a:t>
            </a:r>
            <a:endParaRPr sz="1800"/>
          </a:p>
          <a:p>
            <a:pPr indent="-342900" lvl="0" marL="457200" rtl="0" algn="l">
              <a:spcBef>
                <a:spcPts val="0"/>
              </a:spcBef>
              <a:spcAft>
                <a:spcPts val="0"/>
              </a:spcAft>
              <a:buSzPts val="1800"/>
              <a:buAutoNum type="alphaLcParenR"/>
            </a:pPr>
            <a:r>
              <a:rPr lang="en-GB" sz="1800"/>
              <a:t>Which of these is a good </a:t>
            </a:r>
            <a:r>
              <a:rPr b="1" lang="en-GB" sz="1800"/>
              <a:t>estimate</a:t>
            </a:r>
            <a:r>
              <a:rPr lang="en-GB" sz="1800"/>
              <a:t> for the width of the hand? </a:t>
            </a:r>
            <a:endParaRPr sz="1800"/>
          </a:p>
          <a:p>
            <a:pPr indent="0" lvl="0" marL="0" rtl="0" algn="l">
              <a:spcBef>
                <a:spcPts val="1000"/>
              </a:spcBef>
              <a:spcAft>
                <a:spcPts val="0"/>
              </a:spcAft>
              <a:buNone/>
            </a:pPr>
            <a:r>
              <a:rPr lang="en-GB" sz="1800"/>
              <a:t>                   10 cm		25 cm		5 cm</a:t>
            </a:r>
            <a:endParaRPr sz="1800"/>
          </a:p>
          <a:p>
            <a:pPr indent="0" lvl="0" marL="0" rtl="0" algn="l">
              <a:spcBef>
                <a:spcPts val="1000"/>
              </a:spcBef>
              <a:spcAft>
                <a:spcPts val="0"/>
              </a:spcAft>
              <a:buNone/>
            </a:pPr>
            <a:r>
              <a:rPr lang="en-GB" sz="1800"/>
              <a:t>Use your answer to part a to </a:t>
            </a:r>
            <a:r>
              <a:rPr b="1" lang="en-GB" sz="1800"/>
              <a:t>estimate</a:t>
            </a:r>
            <a:r>
              <a:rPr lang="en-GB" sz="1800"/>
              <a:t> the size of the animals below.</a:t>
            </a:r>
            <a:endParaRPr sz="1800"/>
          </a:p>
          <a:p>
            <a:pPr indent="0" lvl="0" marL="0" rtl="0" algn="ctr">
              <a:spcBef>
                <a:spcPts val="1000"/>
              </a:spcBef>
              <a:spcAft>
                <a:spcPts val="0"/>
              </a:spcAft>
              <a:buNone/>
            </a:pPr>
            <a:r>
              <a:t/>
            </a:r>
            <a:endParaRPr sz="1800"/>
          </a:p>
          <a:p>
            <a:pPr indent="0" lvl="0" marL="0" rtl="0" algn="l">
              <a:spcBef>
                <a:spcPts val="1000"/>
              </a:spcBef>
              <a:spcAft>
                <a:spcPts val="0"/>
              </a:spcAft>
              <a:buNone/>
            </a:pPr>
            <a:r>
              <a:t/>
            </a:r>
            <a:endParaRPr sz="3900"/>
          </a:p>
          <a:p>
            <a:pPr indent="0" lvl="0" marL="0" rtl="0" algn="l">
              <a:spcBef>
                <a:spcPts val="1000"/>
              </a:spcBef>
              <a:spcAft>
                <a:spcPts val="1000"/>
              </a:spcAft>
              <a:buNone/>
            </a:pPr>
            <a:r>
              <a:t/>
            </a:r>
            <a:endParaRPr sz="1800"/>
          </a:p>
        </p:txBody>
      </p:sp>
      <p:sp>
        <p:nvSpPr>
          <p:cNvPr id="2086" name="Google Shape;2086;p16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cxnSp>
        <p:nvCxnSpPr>
          <p:cNvPr id="2087" name="Google Shape;2087;p162"/>
          <p:cNvCxnSpPr/>
          <p:nvPr/>
        </p:nvCxnSpPr>
        <p:spPr>
          <a:xfrm>
            <a:off x="7361800" y="1974250"/>
            <a:ext cx="753600" cy="3900"/>
          </a:xfrm>
          <a:prstGeom prst="straightConnector1">
            <a:avLst/>
          </a:prstGeom>
          <a:noFill/>
          <a:ln cap="flat" cmpd="sng" w="28575">
            <a:solidFill>
              <a:schemeClr val="dk1"/>
            </a:solidFill>
            <a:prstDash val="solid"/>
            <a:round/>
            <a:headEnd len="med" w="med" type="triangle"/>
            <a:tailEnd len="med" w="med" type="triangle"/>
          </a:ln>
        </p:spPr>
      </p:cxnSp>
      <p:sp>
        <p:nvSpPr>
          <p:cNvPr id="2088" name="Google Shape;2088;p162"/>
          <p:cNvSpPr/>
          <p:nvPr/>
        </p:nvSpPr>
        <p:spPr>
          <a:xfrm>
            <a:off x="1504500" y="2160000"/>
            <a:ext cx="773100" cy="524100"/>
          </a:xfrm>
          <a:prstGeom prst="ellipse">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89" name="Google Shape;2089;p162"/>
          <p:cNvCxnSpPr/>
          <p:nvPr/>
        </p:nvCxnSpPr>
        <p:spPr>
          <a:xfrm rot="10800000">
            <a:off x="2020350" y="3769750"/>
            <a:ext cx="600000" cy="0"/>
          </a:xfrm>
          <a:prstGeom prst="straightConnector1">
            <a:avLst/>
          </a:prstGeom>
          <a:noFill/>
          <a:ln cap="flat" cmpd="sng" w="9525">
            <a:solidFill>
              <a:schemeClr val="dk1"/>
            </a:solidFill>
            <a:prstDash val="solid"/>
            <a:round/>
            <a:headEnd len="med" w="med" type="triangle"/>
            <a:tailEnd len="med" w="med" type="triangle"/>
          </a:ln>
        </p:spPr>
      </p:cxnSp>
      <p:pic>
        <p:nvPicPr>
          <p:cNvPr id="2090" name="Google Shape;2090;p162"/>
          <p:cNvPicPr preferRelativeResize="0"/>
          <p:nvPr/>
        </p:nvPicPr>
        <p:blipFill>
          <a:blip r:embed="rId3">
            <a:alphaModFix/>
          </a:blip>
          <a:stretch>
            <a:fillRect/>
          </a:stretch>
        </p:blipFill>
        <p:spPr>
          <a:xfrm>
            <a:off x="1420350" y="3627600"/>
            <a:ext cx="600000" cy="725731"/>
          </a:xfrm>
          <a:prstGeom prst="rect">
            <a:avLst/>
          </a:prstGeom>
          <a:noFill/>
          <a:ln>
            <a:noFill/>
          </a:ln>
        </p:spPr>
      </p:pic>
      <p:sp>
        <p:nvSpPr>
          <p:cNvPr id="2091" name="Google Shape;2091;p162"/>
          <p:cNvSpPr txBox="1"/>
          <p:nvPr/>
        </p:nvSpPr>
        <p:spPr>
          <a:xfrm>
            <a:off x="836400" y="3466188"/>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a:t>
            </a:r>
            <a:endParaRPr/>
          </a:p>
        </p:txBody>
      </p:sp>
      <p:sp>
        <p:nvSpPr>
          <p:cNvPr id="2092" name="Google Shape;2092;p162"/>
          <p:cNvSpPr txBox="1"/>
          <p:nvPr/>
        </p:nvSpPr>
        <p:spPr>
          <a:xfrm>
            <a:off x="4942350" y="3700488"/>
            <a:ext cx="477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c)</a:t>
            </a:r>
            <a:endParaRPr/>
          </a:p>
        </p:txBody>
      </p:sp>
      <p:sp>
        <p:nvSpPr>
          <p:cNvPr id="2093" name="Google Shape;2093;p162"/>
          <p:cNvSpPr txBox="1"/>
          <p:nvPr/>
        </p:nvSpPr>
        <p:spPr>
          <a:xfrm>
            <a:off x="1972725" y="3307625"/>
            <a:ext cx="21243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 </a:t>
            </a:r>
            <a:r>
              <a:rPr b="1" lang="en-GB" sz="2200">
                <a:solidFill>
                  <a:srgbClr val="222222"/>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15 cm</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b="1" sz="2200">
              <a:solidFill>
                <a:srgbClr val="222222"/>
              </a:solidFill>
              <a:latin typeface="Times New Roman"/>
              <a:ea typeface="Times New Roman"/>
              <a:cs typeface="Times New Roman"/>
              <a:sym typeface="Times New Roman"/>
            </a:endParaRPr>
          </a:p>
        </p:txBody>
      </p:sp>
      <p:pic>
        <p:nvPicPr>
          <p:cNvPr id="2094" name="Google Shape;2094;p162"/>
          <p:cNvPicPr preferRelativeResize="0"/>
          <p:nvPr/>
        </p:nvPicPr>
        <p:blipFill>
          <a:blip r:embed="rId4">
            <a:alphaModFix/>
          </a:blip>
          <a:stretch>
            <a:fillRect/>
          </a:stretch>
        </p:blipFill>
        <p:spPr>
          <a:xfrm>
            <a:off x="6296550" y="4073550"/>
            <a:ext cx="308227" cy="382802"/>
          </a:xfrm>
          <a:prstGeom prst="rect">
            <a:avLst/>
          </a:prstGeom>
          <a:noFill/>
          <a:ln>
            <a:noFill/>
          </a:ln>
        </p:spPr>
      </p:pic>
      <p:pic>
        <p:nvPicPr>
          <p:cNvPr id="2095" name="Google Shape;2095;p162"/>
          <p:cNvPicPr preferRelativeResize="0"/>
          <p:nvPr/>
        </p:nvPicPr>
        <p:blipFill>
          <a:blip r:embed="rId3">
            <a:alphaModFix/>
          </a:blip>
          <a:stretch>
            <a:fillRect/>
          </a:stretch>
        </p:blipFill>
        <p:spPr>
          <a:xfrm>
            <a:off x="5419950" y="3396300"/>
            <a:ext cx="884700" cy="1070100"/>
          </a:xfrm>
          <a:prstGeom prst="rect">
            <a:avLst/>
          </a:prstGeom>
          <a:noFill/>
          <a:ln>
            <a:noFill/>
          </a:ln>
        </p:spPr>
      </p:pic>
      <p:cxnSp>
        <p:nvCxnSpPr>
          <p:cNvPr id="2096" name="Google Shape;2096;p162"/>
          <p:cNvCxnSpPr/>
          <p:nvPr/>
        </p:nvCxnSpPr>
        <p:spPr>
          <a:xfrm rot="10800000">
            <a:off x="6647575" y="4111650"/>
            <a:ext cx="0" cy="344700"/>
          </a:xfrm>
          <a:prstGeom prst="straightConnector1">
            <a:avLst/>
          </a:prstGeom>
          <a:noFill/>
          <a:ln cap="flat" cmpd="sng" w="9525">
            <a:solidFill>
              <a:schemeClr val="dk1"/>
            </a:solidFill>
            <a:prstDash val="solid"/>
            <a:round/>
            <a:headEnd len="med" w="med" type="triangle"/>
            <a:tailEnd len="med" w="med" type="triangle"/>
          </a:ln>
        </p:spPr>
      </p:cxnSp>
      <p:sp>
        <p:nvSpPr>
          <p:cNvPr id="2097" name="Google Shape;2097;p162"/>
          <p:cNvSpPr txBox="1"/>
          <p:nvPr/>
        </p:nvSpPr>
        <p:spPr>
          <a:xfrm>
            <a:off x="6304650" y="3237900"/>
            <a:ext cx="2083200" cy="2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Length </a:t>
            </a:r>
            <a:r>
              <a:rPr b="1" lang="en-GB" sz="2200">
                <a:solidFill>
                  <a:srgbClr val="222222"/>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3 cm</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2098" name="Google Shape;2098;p162"/>
          <p:cNvSpPr txBox="1"/>
          <p:nvPr/>
        </p:nvSpPr>
        <p:spPr>
          <a:xfrm>
            <a:off x="2793450" y="3621300"/>
            <a:ext cx="20832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rodent is approximately 1.5 times the width of a hand</a:t>
            </a:r>
            <a:endParaRPr sz="1800">
              <a:solidFill>
                <a:schemeClr val="dk1"/>
              </a:solidFill>
              <a:latin typeface="Kalam"/>
              <a:ea typeface="Kalam"/>
              <a:cs typeface="Kalam"/>
              <a:sym typeface="Kalam"/>
            </a:endParaRPr>
          </a:p>
        </p:txBody>
      </p:sp>
      <p:sp>
        <p:nvSpPr>
          <p:cNvPr id="2099" name="Google Shape;2099;p162"/>
          <p:cNvSpPr txBox="1"/>
          <p:nvPr/>
        </p:nvSpPr>
        <p:spPr>
          <a:xfrm>
            <a:off x="6731275" y="3529951"/>
            <a:ext cx="19194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spider is approximately a third of the width of a hand</a:t>
            </a:r>
            <a:endParaRPr sz="1800">
              <a:solidFill>
                <a:schemeClr val="dk1"/>
              </a:solidFill>
              <a:latin typeface="Kalam"/>
              <a:ea typeface="Kalam"/>
              <a:cs typeface="Kalam"/>
              <a:sym typeface="Kalam"/>
            </a:endParaRPr>
          </a:p>
        </p:txBody>
      </p:sp>
      <p:pic>
        <p:nvPicPr>
          <p:cNvPr id="2100" name="Google Shape;2100;p162"/>
          <p:cNvPicPr preferRelativeResize="0"/>
          <p:nvPr/>
        </p:nvPicPr>
        <p:blipFill>
          <a:blip r:embed="rId5">
            <a:alphaModFix/>
          </a:blip>
          <a:stretch>
            <a:fillRect/>
          </a:stretch>
        </p:blipFill>
        <p:spPr>
          <a:xfrm flipH="1">
            <a:off x="2020350" y="3835937"/>
            <a:ext cx="760500" cy="41193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sp>
        <p:nvSpPr>
          <p:cNvPr id="2105" name="Google Shape;2105;p16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106" name="Google Shape;2106;p163"/>
          <p:cNvSpPr txBox="1"/>
          <p:nvPr>
            <p:ph idx="4294967295" type="body"/>
          </p:nvPr>
        </p:nvSpPr>
        <p:spPr>
          <a:xfrm>
            <a:off x="324000" y="759300"/>
            <a:ext cx="8237700" cy="279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a) What would be a sensible unit of mass to measure each of the items in the table?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200"/>
          </a:p>
          <a:p>
            <a:pPr indent="0" lvl="0" marL="0" rtl="0" algn="l">
              <a:spcBef>
                <a:spcPts val="1000"/>
              </a:spcBef>
              <a:spcAft>
                <a:spcPts val="0"/>
              </a:spcAft>
              <a:buNone/>
            </a:pPr>
            <a:r>
              <a:t/>
            </a:r>
            <a:endParaRPr sz="1200"/>
          </a:p>
          <a:p>
            <a:pPr indent="0" lvl="0" marL="0" rtl="0" algn="l">
              <a:spcBef>
                <a:spcPts val="1000"/>
              </a:spcBef>
              <a:spcAft>
                <a:spcPts val="0"/>
              </a:spcAft>
              <a:buNone/>
            </a:pPr>
            <a:r>
              <a:rPr lang="en-GB" sz="1800"/>
              <a:t>b) Each of the values below matches one of the six items. Which is which?</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5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graphicFrame>
        <p:nvGraphicFramePr>
          <p:cNvPr id="2107" name="Google Shape;2107;p163"/>
          <p:cNvGraphicFramePr/>
          <p:nvPr/>
        </p:nvGraphicFramePr>
        <p:xfrm>
          <a:off x="1805138" y="1162800"/>
          <a:ext cx="3000000" cy="3000000"/>
        </p:xfrm>
        <a:graphic>
          <a:graphicData uri="http://schemas.openxmlformats.org/drawingml/2006/table">
            <a:tbl>
              <a:tblPr>
                <a:noFill/>
                <a:tableStyleId>{F6FFFE55-71C9-467E-8D29-FAD3E99BDCF0}</a:tableStyleId>
              </a:tblPr>
              <a:tblGrid>
                <a:gridCol w="2200175"/>
                <a:gridCol w="2200175"/>
                <a:gridCol w="2200175"/>
              </a:tblGrid>
              <a:tr h="812150">
                <a:tc>
                  <a:txBody>
                    <a:bodyPr/>
                    <a:lstStyle/>
                    <a:p>
                      <a:pPr indent="0" lvl="0" marL="0" rtl="0" algn="ctr">
                        <a:spcBef>
                          <a:spcPts val="0"/>
                        </a:spcBef>
                        <a:spcAft>
                          <a:spcPts val="0"/>
                        </a:spcAft>
                        <a:buNone/>
                      </a:pPr>
                      <a:r>
                        <a:rPr lang="en-GB" sz="1800">
                          <a:latin typeface="Lexend"/>
                          <a:ea typeface="Lexend"/>
                          <a:cs typeface="Lexend"/>
                          <a:sym typeface="Lexend"/>
                        </a:rPr>
                        <a:t>baby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elephant</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f</a:t>
                      </a:r>
                      <a:r>
                        <a:rPr lang="en-GB" sz="1800">
                          <a:latin typeface="Lexend"/>
                          <a:ea typeface="Lexend"/>
                          <a:cs typeface="Lexend"/>
                          <a:sym typeface="Lexend"/>
                        </a:rPr>
                        <a:t>ull suitcase</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12150">
                <a:tc>
                  <a:txBody>
                    <a:bodyPr/>
                    <a:lstStyle/>
                    <a:p>
                      <a:pPr indent="0" lvl="0" marL="0" rtl="0" algn="ctr">
                        <a:spcBef>
                          <a:spcPts val="0"/>
                        </a:spcBef>
                        <a:spcAft>
                          <a:spcPts val="0"/>
                        </a:spcAft>
                        <a:buNone/>
                      </a:pPr>
                      <a:r>
                        <a:rPr lang="en-GB" sz="1500">
                          <a:latin typeface="Lexend"/>
                          <a:ea typeface="Lexend"/>
                          <a:cs typeface="Lexend"/>
                          <a:sym typeface="Lexend"/>
                        </a:rPr>
                        <a:t>c</a:t>
                      </a:r>
                      <a:r>
                        <a:rPr lang="en-GB" sz="1500">
                          <a:latin typeface="Lexend"/>
                          <a:ea typeface="Lexend"/>
                          <a:cs typeface="Lexend"/>
                          <a:sym typeface="Lexend"/>
                        </a:rPr>
                        <a:t>argo ship container</a:t>
                      </a:r>
                      <a:endParaRPr sz="15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newborn puppy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p</a:t>
                      </a:r>
                      <a:r>
                        <a:rPr lang="en-GB" sz="1800">
                          <a:latin typeface="Lexend"/>
                          <a:ea typeface="Lexend"/>
                          <a:cs typeface="Lexend"/>
                          <a:sym typeface="Lexend"/>
                        </a:rPr>
                        <a:t>acket of crisps</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108" name="Google Shape;2108;p163"/>
          <p:cNvGraphicFramePr/>
          <p:nvPr/>
        </p:nvGraphicFramePr>
        <p:xfrm>
          <a:off x="1117338" y="3802550"/>
          <a:ext cx="3000000" cy="3000000"/>
        </p:xfrm>
        <a:graphic>
          <a:graphicData uri="http://schemas.openxmlformats.org/drawingml/2006/table">
            <a:tbl>
              <a:tblPr>
                <a:noFill/>
                <a:tableStyleId>{C8BF9AAA-E96C-4867-8E7D-F547205E6F83}</a:tableStyleId>
              </a:tblPr>
              <a:tblGrid>
                <a:gridCol w="1151550"/>
                <a:gridCol w="1151550"/>
                <a:gridCol w="1151550"/>
                <a:gridCol w="1151550"/>
                <a:gridCol w="1151550"/>
                <a:gridCol w="1151550"/>
              </a:tblGrid>
              <a:tr h="408200">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4000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3.2</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120</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28</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19</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900">
                          <a:solidFill>
                            <a:schemeClr val="dk1"/>
                          </a:solidFill>
                          <a:latin typeface="Lexend"/>
                          <a:ea typeface="Lexend"/>
                          <a:cs typeface="Lexend"/>
                          <a:sym typeface="Lexend"/>
                        </a:rPr>
                        <a:t>2797</a:t>
                      </a:r>
                      <a:endParaRPr sz="19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09" name="Google Shape;2109;p163"/>
          <p:cNvSpPr txBox="1"/>
          <p:nvPr/>
        </p:nvSpPr>
        <p:spPr>
          <a:xfrm>
            <a:off x="6411925" y="15636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19</a:t>
            </a:r>
            <a:endParaRPr sz="2200">
              <a:solidFill>
                <a:schemeClr val="dk1"/>
              </a:solidFill>
              <a:latin typeface="Kalam"/>
              <a:ea typeface="Kalam"/>
              <a:cs typeface="Kalam"/>
              <a:sym typeface="Kalam"/>
            </a:endParaRPr>
          </a:p>
        </p:txBody>
      </p:sp>
      <p:sp>
        <p:nvSpPr>
          <p:cNvPr id="2110" name="Google Shape;2110;p163"/>
          <p:cNvSpPr txBox="1"/>
          <p:nvPr/>
        </p:nvSpPr>
        <p:spPr>
          <a:xfrm>
            <a:off x="6411925" y="23014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28</a:t>
            </a:r>
            <a:endParaRPr sz="2200">
              <a:solidFill>
                <a:schemeClr val="dk1"/>
              </a:solidFill>
              <a:latin typeface="Kalam"/>
              <a:ea typeface="Kalam"/>
              <a:cs typeface="Kalam"/>
              <a:sym typeface="Kalam"/>
            </a:endParaRPr>
          </a:p>
        </p:txBody>
      </p:sp>
      <p:sp>
        <p:nvSpPr>
          <p:cNvPr id="2111" name="Google Shape;2111;p163"/>
          <p:cNvSpPr txBox="1"/>
          <p:nvPr/>
        </p:nvSpPr>
        <p:spPr>
          <a:xfrm>
            <a:off x="1707900" y="2319000"/>
            <a:ext cx="15354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2797</a:t>
            </a:r>
            <a:endParaRPr sz="2200">
              <a:solidFill>
                <a:schemeClr val="dk1"/>
              </a:solidFill>
              <a:latin typeface="Kalam"/>
              <a:ea typeface="Kalam"/>
              <a:cs typeface="Kalam"/>
              <a:sym typeface="Kalam"/>
            </a:endParaRPr>
          </a:p>
        </p:txBody>
      </p:sp>
      <p:sp>
        <p:nvSpPr>
          <p:cNvPr id="2112" name="Google Shape;2112;p163"/>
          <p:cNvSpPr txBox="1"/>
          <p:nvPr/>
        </p:nvSpPr>
        <p:spPr>
          <a:xfrm>
            <a:off x="1862865" y="1523404"/>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3.2</a:t>
            </a:r>
            <a:endParaRPr sz="2200">
              <a:solidFill>
                <a:schemeClr val="dk1"/>
              </a:solidFill>
              <a:latin typeface="Kalam"/>
              <a:ea typeface="Kalam"/>
              <a:cs typeface="Kalam"/>
              <a:sym typeface="Kalam"/>
            </a:endParaRPr>
          </a:p>
        </p:txBody>
      </p:sp>
      <p:sp>
        <p:nvSpPr>
          <p:cNvPr id="2113" name="Google Shape;2113;p163"/>
          <p:cNvSpPr txBox="1"/>
          <p:nvPr/>
        </p:nvSpPr>
        <p:spPr>
          <a:xfrm>
            <a:off x="4209807" y="14971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4000</a:t>
            </a:r>
            <a:endParaRPr sz="2200">
              <a:solidFill>
                <a:schemeClr val="dk1"/>
              </a:solidFill>
              <a:latin typeface="Kalam"/>
              <a:ea typeface="Kalam"/>
              <a:cs typeface="Kalam"/>
              <a:sym typeface="Kalam"/>
            </a:endParaRPr>
          </a:p>
        </p:txBody>
      </p:sp>
      <p:sp>
        <p:nvSpPr>
          <p:cNvPr id="2114" name="Google Shape;2114;p163"/>
          <p:cNvSpPr txBox="1"/>
          <p:nvPr/>
        </p:nvSpPr>
        <p:spPr>
          <a:xfrm>
            <a:off x="4085925" y="23083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120</a:t>
            </a:r>
            <a:endParaRPr sz="2200">
              <a:solidFill>
                <a:schemeClr val="dk1"/>
              </a:solidFill>
              <a:latin typeface="Kalam"/>
              <a:ea typeface="Kalam"/>
              <a:cs typeface="Kalam"/>
              <a:sym typeface="Kalam"/>
            </a:endParaRPr>
          </a:p>
        </p:txBody>
      </p:sp>
      <p:sp>
        <p:nvSpPr>
          <p:cNvPr id="2115" name="Google Shape;2115;p163"/>
          <p:cNvSpPr txBox="1"/>
          <p:nvPr/>
        </p:nvSpPr>
        <p:spPr>
          <a:xfrm>
            <a:off x="4964533" y="1497148"/>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a:t>
            </a:r>
            <a:r>
              <a:rPr lang="en-GB" sz="1900">
                <a:solidFill>
                  <a:schemeClr val="dk1"/>
                </a:solidFill>
                <a:latin typeface="Kalam"/>
                <a:ea typeface="Kalam"/>
                <a:cs typeface="Kalam"/>
                <a:sym typeface="Kalam"/>
              </a:rPr>
              <a:t>g</a:t>
            </a:r>
            <a:endParaRPr sz="2200">
              <a:solidFill>
                <a:schemeClr val="dk1"/>
              </a:solidFill>
              <a:latin typeface="Kalam"/>
              <a:ea typeface="Kalam"/>
              <a:cs typeface="Kalam"/>
              <a:sym typeface="Kalam"/>
            </a:endParaRPr>
          </a:p>
        </p:txBody>
      </p:sp>
      <p:sp>
        <p:nvSpPr>
          <p:cNvPr id="2116" name="Google Shape;2116;p163"/>
          <p:cNvSpPr txBox="1"/>
          <p:nvPr/>
        </p:nvSpPr>
        <p:spPr>
          <a:xfrm>
            <a:off x="4826054" y="1496575"/>
            <a:ext cx="1317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sz="2200">
              <a:solidFill>
                <a:schemeClr val="dk1"/>
              </a:solidFill>
              <a:latin typeface="Kalam"/>
              <a:ea typeface="Kalam"/>
              <a:cs typeface="Kalam"/>
              <a:sym typeface="Kalam"/>
            </a:endParaRPr>
          </a:p>
        </p:txBody>
      </p:sp>
      <p:sp>
        <p:nvSpPr>
          <p:cNvPr id="2117" name="Google Shape;2117;p163"/>
          <p:cNvSpPr txBox="1"/>
          <p:nvPr/>
        </p:nvSpPr>
        <p:spPr>
          <a:xfrm>
            <a:off x="4765942" y="1496580"/>
            <a:ext cx="4743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t/>
            </a:r>
            <a:endParaRPr sz="2200">
              <a:solidFill>
                <a:schemeClr val="dk1"/>
              </a:solidFill>
              <a:latin typeface="Kalam"/>
              <a:ea typeface="Kalam"/>
              <a:cs typeface="Kalam"/>
              <a:sym typeface="Kalam"/>
            </a:endParaRPr>
          </a:p>
        </p:txBody>
      </p:sp>
      <p:sp>
        <p:nvSpPr>
          <p:cNvPr id="2118" name="Google Shape;2118;p163"/>
          <p:cNvSpPr txBox="1"/>
          <p:nvPr/>
        </p:nvSpPr>
        <p:spPr>
          <a:xfrm>
            <a:off x="2600037" y="1533104"/>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19" name="Google Shape;2119;p163"/>
          <p:cNvSpPr txBox="1"/>
          <p:nvPr/>
        </p:nvSpPr>
        <p:spPr>
          <a:xfrm>
            <a:off x="7064885" y="1550235"/>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20" name="Google Shape;2120;p163"/>
          <p:cNvSpPr txBox="1"/>
          <p:nvPr/>
        </p:nvSpPr>
        <p:spPr>
          <a:xfrm>
            <a:off x="4834216" y="23014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g</a:t>
            </a:r>
            <a:endParaRPr sz="2200">
              <a:solidFill>
                <a:schemeClr val="dk1"/>
              </a:solidFill>
              <a:latin typeface="Kalam"/>
              <a:ea typeface="Kalam"/>
              <a:cs typeface="Kalam"/>
              <a:sym typeface="Kalam"/>
            </a:endParaRPr>
          </a:p>
        </p:txBody>
      </p:sp>
      <p:sp>
        <p:nvSpPr>
          <p:cNvPr id="2121" name="Google Shape;2121;p163"/>
          <p:cNvSpPr txBox="1"/>
          <p:nvPr/>
        </p:nvSpPr>
        <p:spPr>
          <a:xfrm>
            <a:off x="7066766" y="23083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g</a:t>
            </a:r>
            <a:endParaRPr sz="2200">
              <a:solidFill>
                <a:schemeClr val="dk1"/>
              </a:solidFill>
              <a:latin typeface="Kalam"/>
              <a:ea typeface="Kalam"/>
              <a:cs typeface="Kalam"/>
              <a:sym typeface="Kalam"/>
            </a:endParaRPr>
          </a:p>
        </p:txBody>
      </p:sp>
      <p:sp>
        <p:nvSpPr>
          <p:cNvPr id="2122" name="Google Shape;2122;p163"/>
          <p:cNvSpPr txBox="1"/>
          <p:nvPr/>
        </p:nvSpPr>
        <p:spPr>
          <a:xfrm>
            <a:off x="2724702" y="2323862"/>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p16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128" name="Google Shape;2128;p164"/>
          <p:cNvSpPr txBox="1"/>
          <p:nvPr>
            <p:ph idx="4294967295" type="body"/>
          </p:nvPr>
        </p:nvSpPr>
        <p:spPr>
          <a:xfrm>
            <a:off x="324000" y="759300"/>
            <a:ext cx="8237700" cy="279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What would be a sensible unit of mass to measure each of the items in the table?</a:t>
            </a:r>
            <a:endParaRPr sz="1800"/>
          </a:p>
          <a:p>
            <a:pPr indent="0" lvl="0" marL="0" rtl="0" algn="l">
              <a:spcBef>
                <a:spcPts val="1000"/>
              </a:spcBef>
              <a:spcAft>
                <a:spcPts val="0"/>
              </a:spcAft>
              <a:buNone/>
            </a:pPr>
            <a:r>
              <a:t/>
            </a:r>
            <a:endParaRPr sz="2100"/>
          </a:p>
          <a:p>
            <a:pPr indent="0" lvl="0" marL="0" rtl="0" algn="l">
              <a:spcBef>
                <a:spcPts val="1000"/>
              </a:spcBef>
              <a:spcAft>
                <a:spcPts val="0"/>
              </a:spcAft>
              <a:buNone/>
            </a:pPr>
            <a:r>
              <a:t/>
            </a:r>
            <a:endParaRPr sz="1200"/>
          </a:p>
          <a:p>
            <a:pPr indent="0" lvl="0" marL="0" rtl="0" algn="l">
              <a:spcBef>
                <a:spcPts val="1000"/>
              </a:spcBef>
              <a:spcAft>
                <a:spcPts val="0"/>
              </a:spcAft>
              <a:buNone/>
            </a:pPr>
            <a:r>
              <a:t/>
            </a:r>
            <a:endParaRPr sz="1200"/>
          </a:p>
          <a:p>
            <a:pPr indent="0" lvl="0" marL="0" rtl="0" algn="l">
              <a:spcBef>
                <a:spcPts val="1000"/>
              </a:spcBef>
              <a:spcAft>
                <a:spcPts val="0"/>
              </a:spcAft>
              <a:buNone/>
            </a:pPr>
            <a:r>
              <a:rPr lang="en-GB" sz="1800"/>
              <a:t>c) An orange weighs approximately 120 g. How many oranges do you think would be the equivalent of one of each of the things in part 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graphicFrame>
        <p:nvGraphicFramePr>
          <p:cNvPr id="2129" name="Google Shape;2129;p164"/>
          <p:cNvGraphicFramePr/>
          <p:nvPr/>
        </p:nvGraphicFramePr>
        <p:xfrm>
          <a:off x="1576538" y="1162800"/>
          <a:ext cx="3000000" cy="3000000"/>
        </p:xfrm>
        <a:graphic>
          <a:graphicData uri="http://schemas.openxmlformats.org/drawingml/2006/table">
            <a:tbl>
              <a:tblPr>
                <a:noFill/>
                <a:tableStyleId>{F6FFFE55-71C9-467E-8D29-FAD3E99BDCF0}</a:tableStyleId>
              </a:tblPr>
              <a:tblGrid>
                <a:gridCol w="2200175"/>
                <a:gridCol w="2200175"/>
                <a:gridCol w="2200175"/>
              </a:tblGrid>
              <a:tr h="812150">
                <a:tc>
                  <a:txBody>
                    <a:bodyPr/>
                    <a:lstStyle/>
                    <a:p>
                      <a:pPr indent="0" lvl="0" marL="0" rtl="0" algn="ctr">
                        <a:spcBef>
                          <a:spcPts val="0"/>
                        </a:spcBef>
                        <a:spcAft>
                          <a:spcPts val="0"/>
                        </a:spcAft>
                        <a:buNone/>
                      </a:pPr>
                      <a:r>
                        <a:rPr lang="en-GB" sz="1800">
                          <a:latin typeface="Lexend"/>
                          <a:ea typeface="Lexend"/>
                          <a:cs typeface="Lexend"/>
                          <a:sym typeface="Lexend"/>
                        </a:rPr>
                        <a:t>baby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elephant</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f</a:t>
                      </a:r>
                      <a:r>
                        <a:rPr lang="en-GB" sz="1800">
                          <a:latin typeface="Lexend"/>
                          <a:ea typeface="Lexend"/>
                          <a:cs typeface="Lexend"/>
                          <a:sym typeface="Lexend"/>
                        </a:rPr>
                        <a:t>ull suitcase</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12150">
                <a:tc>
                  <a:txBody>
                    <a:bodyPr/>
                    <a:lstStyle/>
                    <a:p>
                      <a:pPr indent="0" lvl="0" marL="0" rtl="0" algn="ctr">
                        <a:spcBef>
                          <a:spcPts val="0"/>
                        </a:spcBef>
                        <a:spcAft>
                          <a:spcPts val="0"/>
                        </a:spcAft>
                        <a:buNone/>
                      </a:pPr>
                      <a:r>
                        <a:rPr lang="en-GB" sz="1500">
                          <a:latin typeface="Lexend"/>
                          <a:ea typeface="Lexend"/>
                          <a:cs typeface="Lexend"/>
                          <a:sym typeface="Lexend"/>
                        </a:rPr>
                        <a:t>c</a:t>
                      </a:r>
                      <a:r>
                        <a:rPr lang="en-GB" sz="1500">
                          <a:latin typeface="Lexend"/>
                          <a:ea typeface="Lexend"/>
                          <a:cs typeface="Lexend"/>
                          <a:sym typeface="Lexend"/>
                        </a:rPr>
                        <a:t>argo ship container</a:t>
                      </a:r>
                      <a:endParaRPr sz="15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newborn puppy</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p</a:t>
                      </a:r>
                      <a:r>
                        <a:rPr lang="en-GB" sz="1800">
                          <a:latin typeface="Lexend"/>
                          <a:ea typeface="Lexend"/>
                          <a:cs typeface="Lexend"/>
                          <a:sym typeface="Lexend"/>
                        </a:rPr>
                        <a:t>acket of crisps</a:t>
                      </a:r>
                      <a:endParaRPr sz="18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30" name="Google Shape;2130;p164"/>
          <p:cNvSpPr txBox="1"/>
          <p:nvPr/>
        </p:nvSpPr>
        <p:spPr>
          <a:xfrm>
            <a:off x="6411925" y="15636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19</a:t>
            </a:r>
            <a:endParaRPr sz="2200">
              <a:solidFill>
                <a:schemeClr val="dk1"/>
              </a:solidFill>
              <a:latin typeface="Kalam"/>
              <a:ea typeface="Kalam"/>
              <a:cs typeface="Kalam"/>
              <a:sym typeface="Kalam"/>
            </a:endParaRPr>
          </a:p>
        </p:txBody>
      </p:sp>
      <p:sp>
        <p:nvSpPr>
          <p:cNvPr id="2131" name="Google Shape;2131;p164"/>
          <p:cNvSpPr txBox="1"/>
          <p:nvPr/>
        </p:nvSpPr>
        <p:spPr>
          <a:xfrm>
            <a:off x="6411925" y="23014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28</a:t>
            </a:r>
            <a:endParaRPr sz="2200">
              <a:solidFill>
                <a:schemeClr val="dk1"/>
              </a:solidFill>
              <a:latin typeface="Kalam"/>
              <a:ea typeface="Kalam"/>
              <a:cs typeface="Kalam"/>
              <a:sym typeface="Kalam"/>
            </a:endParaRPr>
          </a:p>
        </p:txBody>
      </p:sp>
      <p:sp>
        <p:nvSpPr>
          <p:cNvPr id="2132" name="Google Shape;2132;p164"/>
          <p:cNvSpPr txBox="1"/>
          <p:nvPr/>
        </p:nvSpPr>
        <p:spPr>
          <a:xfrm>
            <a:off x="1707900" y="2319000"/>
            <a:ext cx="15354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2797</a:t>
            </a:r>
            <a:endParaRPr sz="2200">
              <a:solidFill>
                <a:schemeClr val="dk1"/>
              </a:solidFill>
              <a:latin typeface="Kalam"/>
              <a:ea typeface="Kalam"/>
              <a:cs typeface="Kalam"/>
              <a:sym typeface="Kalam"/>
            </a:endParaRPr>
          </a:p>
        </p:txBody>
      </p:sp>
      <p:sp>
        <p:nvSpPr>
          <p:cNvPr id="2133" name="Google Shape;2133;p164"/>
          <p:cNvSpPr txBox="1"/>
          <p:nvPr/>
        </p:nvSpPr>
        <p:spPr>
          <a:xfrm>
            <a:off x="1862865" y="1523404"/>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3.2</a:t>
            </a:r>
            <a:endParaRPr sz="2200">
              <a:solidFill>
                <a:schemeClr val="dk1"/>
              </a:solidFill>
              <a:latin typeface="Kalam"/>
              <a:ea typeface="Kalam"/>
              <a:cs typeface="Kalam"/>
              <a:sym typeface="Kalam"/>
            </a:endParaRPr>
          </a:p>
        </p:txBody>
      </p:sp>
      <p:sp>
        <p:nvSpPr>
          <p:cNvPr id="2134" name="Google Shape;2134;p164"/>
          <p:cNvSpPr txBox="1"/>
          <p:nvPr/>
        </p:nvSpPr>
        <p:spPr>
          <a:xfrm>
            <a:off x="4011782" y="14971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4000</a:t>
            </a:r>
            <a:endParaRPr sz="2200">
              <a:solidFill>
                <a:schemeClr val="dk1"/>
              </a:solidFill>
              <a:latin typeface="Kalam"/>
              <a:ea typeface="Kalam"/>
              <a:cs typeface="Kalam"/>
              <a:sym typeface="Kalam"/>
            </a:endParaRPr>
          </a:p>
        </p:txBody>
      </p:sp>
      <p:sp>
        <p:nvSpPr>
          <p:cNvPr id="2135" name="Google Shape;2135;p164"/>
          <p:cNvSpPr txBox="1"/>
          <p:nvPr/>
        </p:nvSpPr>
        <p:spPr>
          <a:xfrm>
            <a:off x="4085925" y="2308350"/>
            <a:ext cx="11655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120</a:t>
            </a:r>
            <a:endParaRPr sz="2200">
              <a:solidFill>
                <a:schemeClr val="dk1"/>
              </a:solidFill>
              <a:latin typeface="Kalam"/>
              <a:ea typeface="Kalam"/>
              <a:cs typeface="Kalam"/>
              <a:sym typeface="Kalam"/>
            </a:endParaRPr>
          </a:p>
        </p:txBody>
      </p:sp>
      <p:sp>
        <p:nvSpPr>
          <p:cNvPr id="2136" name="Google Shape;2136;p164"/>
          <p:cNvSpPr txBox="1"/>
          <p:nvPr/>
        </p:nvSpPr>
        <p:spPr>
          <a:xfrm>
            <a:off x="4839258" y="1496573"/>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37" name="Google Shape;2137;p164"/>
          <p:cNvSpPr txBox="1"/>
          <p:nvPr/>
        </p:nvSpPr>
        <p:spPr>
          <a:xfrm>
            <a:off x="2600037" y="1533104"/>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38" name="Google Shape;2138;p164"/>
          <p:cNvSpPr txBox="1"/>
          <p:nvPr/>
        </p:nvSpPr>
        <p:spPr>
          <a:xfrm>
            <a:off x="7087055" y="1565015"/>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39" name="Google Shape;2139;p164"/>
          <p:cNvSpPr txBox="1"/>
          <p:nvPr/>
        </p:nvSpPr>
        <p:spPr>
          <a:xfrm>
            <a:off x="4834216" y="23014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g</a:t>
            </a:r>
            <a:endParaRPr sz="2200">
              <a:solidFill>
                <a:schemeClr val="dk1"/>
              </a:solidFill>
              <a:latin typeface="Kalam"/>
              <a:ea typeface="Kalam"/>
              <a:cs typeface="Kalam"/>
              <a:sym typeface="Kalam"/>
            </a:endParaRPr>
          </a:p>
        </p:txBody>
      </p:sp>
      <p:sp>
        <p:nvSpPr>
          <p:cNvPr id="2140" name="Google Shape;2140;p164"/>
          <p:cNvSpPr txBox="1"/>
          <p:nvPr/>
        </p:nvSpPr>
        <p:spPr>
          <a:xfrm>
            <a:off x="7066766" y="2308350"/>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g</a:t>
            </a:r>
            <a:endParaRPr sz="2200">
              <a:solidFill>
                <a:schemeClr val="dk1"/>
              </a:solidFill>
              <a:latin typeface="Kalam"/>
              <a:ea typeface="Kalam"/>
              <a:cs typeface="Kalam"/>
              <a:sym typeface="Kalam"/>
            </a:endParaRPr>
          </a:p>
        </p:txBody>
      </p:sp>
      <p:sp>
        <p:nvSpPr>
          <p:cNvPr id="2141" name="Google Shape;2141;p164"/>
          <p:cNvSpPr txBox="1"/>
          <p:nvPr/>
        </p:nvSpPr>
        <p:spPr>
          <a:xfrm>
            <a:off x="2724702" y="2323862"/>
            <a:ext cx="483900" cy="411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1900">
                <a:solidFill>
                  <a:schemeClr val="dk1"/>
                </a:solidFill>
                <a:latin typeface="Kalam"/>
                <a:ea typeface="Kalam"/>
                <a:cs typeface="Kalam"/>
                <a:sym typeface="Kalam"/>
              </a:rPr>
              <a:t>kg</a:t>
            </a:r>
            <a:endParaRPr sz="2200">
              <a:solidFill>
                <a:schemeClr val="dk1"/>
              </a:solidFill>
              <a:latin typeface="Kalam"/>
              <a:ea typeface="Kalam"/>
              <a:cs typeface="Kalam"/>
              <a:sym typeface="Kalam"/>
            </a:endParaRPr>
          </a:p>
        </p:txBody>
      </p:sp>
      <p:sp>
        <p:nvSpPr>
          <p:cNvPr id="2142" name="Google Shape;2142;p164"/>
          <p:cNvSpPr txBox="1"/>
          <p:nvPr/>
        </p:nvSpPr>
        <p:spPr>
          <a:xfrm>
            <a:off x="244975" y="3528000"/>
            <a:ext cx="4450500" cy="11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Baby: approximately 25 oranges</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Elephant: approximately 32 000 oranges.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Full suitcase: approximately 160 oranges</a:t>
            </a:r>
            <a:endParaRPr sz="1800">
              <a:solidFill>
                <a:schemeClr val="dk1"/>
              </a:solidFill>
              <a:latin typeface="Kalam"/>
              <a:ea typeface="Kalam"/>
              <a:cs typeface="Kalam"/>
              <a:sym typeface="Kalam"/>
            </a:endParaRPr>
          </a:p>
        </p:txBody>
      </p:sp>
      <p:sp>
        <p:nvSpPr>
          <p:cNvPr id="2143" name="Google Shape;2143;p164"/>
          <p:cNvSpPr txBox="1"/>
          <p:nvPr/>
        </p:nvSpPr>
        <p:spPr>
          <a:xfrm>
            <a:off x="4382050" y="3528000"/>
            <a:ext cx="43617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Cargo ship container: approximately       24 000 oranges</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Newborn puppy: approximately 1 orange </a:t>
            </a:r>
            <a:endParaRPr sz="1800">
              <a:solidFill>
                <a:schemeClr val="dk1"/>
              </a:solidFill>
              <a:latin typeface="Kalam"/>
              <a:ea typeface="Kalam"/>
              <a:cs typeface="Kalam"/>
              <a:sym typeface="Kalam"/>
            </a:endParaRPr>
          </a:p>
          <a:p>
            <a:pPr indent="0" lvl="0" marL="0" rtl="0" algn="l">
              <a:spcBef>
                <a:spcPts val="0"/>
              </a:spcBef>
              <a:spcAft>
                <a:spcPts val="0"/>
              </a:spcAft>
              <a:buNone/>
            </a:pPr>
            <a:r>
              <a:rPr lang="en-GB" sz="1800">
                <a:solidFill>
                  <a:schemeClr val="dk1"/>
                </a:solidFill>
                <a:latin typeface="Kalam"/>
                <a:ea typeface="Kalam"/>
                <a:cs typeface="Kalam"/>
                <a:sym typeface="Kalam"/>
              </a:rPr>
              <a:t>Packet of crisps: approximately ¼ orange</a:t>
            </a:r>
            <a:endParaRPr sz="1800">
              <a:solidFill>
                <a:schemeClr val="dk1"/>
              </a:solidFill>
              <a:latin typeface="Kalam"/>
              <a:ea typeface="Kalam"/>
              <a:cs typeface="Kalam"/>
              <a:sym typeface="Kalam"/>
            </a:endParaRPr>
          </a:p>
          <a:p>
            <a:pPr indent="0" lvl="0" marL="0" rtl="0" algn="l">
              <a:spcBef>
                <a:spcPts val="0"/>
              </a:spcBef>
              <a:spcAft>
                <a:spcPts val="0"/>
              </a:spcAft>
              <a:buNone/>
            </a:pPr>
            <a:r>
              <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16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149" name="Google Shape;2149;p1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Horses are measured using ‘hands’ as a unit, as shown below.</a:t>
            </a:r>
            <a:endParaRPr sz="1800"/>
          </a:p>
          <a:p>
            <a:pPr indent="0" lvl="0" marL="0" rtl="0" algn="l">
              <a:spcBef>
                <a:spcPts val="1000"/>
              </a:spcBef>
              <a:spcAft>
                <a:spcPts val="0"/>
              </a:spcAft>
              <a:buNone/>
            </a:pPr>
            <a:r>
              <a:t/>
            </a:r>
            <a:endParaRPr sz="2100"/>
          </a:p>
          <a:p>
            <a:pPr indent="0" lvl="0" marL="0" rtl="0" algn="l">
              <a:spcBef>
                <a:spcPts val="1000"/>
              </a:spcBef>
              <a:spcAft>
                <a:spcPts val="0"/>
              </a:spcAft>
              <a:buNone/>
            </a:pPr>
            <a:r>
              <a:t/>
            </a:r>
            <a:endParaRPr sz="3000"/>
          </a:p>
          <a:p>
            <a:pPr indent="0" lvl="0" marL="0" rtl="0" algn="l">
              <a:spcBef>
                <a:spcPts val="1000"/>
              </a:spcBef>
              <a:spcAft>
                <a:spcPts val="0"/>
              </a:spcAft>
              <a:buNone/>
            </a:pPr>
            <a:r>
              <a:t/>
            </a:r>
            <a:endParaRPr sz="300"/>
          </a:p>
          <a:p>
            <a:pPr indent="0" lvl="0" marL="0" rtl="0" algn="l">
              <a:spcBef>
                <a:spcPts val="1000"/>
              </a:spcBef>
              <a:spcAft>
                <a:spcPts val="0"/>
              </a:spcAft>
              <a:buNone/>
            </a:pPr>
            <a:r>
              <a:t/>
            </a:r>
            <a:endParaRPr sz="1400"/>
          </a:p>
          <a:p>
            <a:pPr indent="0" lvl="0" marL="0" rtl="0" algn="l">
              <a:spcBef>
                <a:spcPts val="1000"/>
              </a:spcBef>
              <a:spcAft>
                <a:spcPts val="0"/>
              </a:spcAft>
              <a:buNone/>
            </a:pPr>
            <a:r>
              <a:t/>
            </a:r>
            <a:endParaRPr sz="1400"/>
          </a:p>
          <a:p>
            <a:pPr indent="0" lvl="0" marL="0" rtl="0" algn="l">
              <a:spcBef>
                <a:spcPts val="1000"/>
              </a:spcBef>
              <a:spcAft>
                <a:spcPts val="1000"/>
              </a:spcAft>
              <a:buNone/>
            </a:pPr>
            <a:r>
              <a:rPr lang="en-GB" sz="1800"/>
              <a:t>a) </a:t>
            </a:r>
            <a:r>
              <a:rPr b="1" lang="en-GB" sz="1800"/>
              <a:t>Estimate</a:t>
            </a:r>
            <a:r>
              <a:rPr lang="en-GB" sz="1800"/>
              <a:t> the height in centimetres of each of the horses.</a:t>
            </a:r>
            <a:endParaRPr sz="1800"/>
          </a:p>
        </p:txBody>
      </p:sp>
      <p:sp>
        <p:nvSpPr>
          <p:cNvPr id="2150" name="Google Shape;2150;p165"/>
          <p:cNvSpPr txBox="1"/>
          <p:nvPr/>
        </p:nvSpPr>
        <p:spPr>
          <a:xfrm>
            <a:off x="324000" y="3563423"/>
            <a:ext cx="8496000" cy="11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From left to right: 9 hands and 17 hands. Answers will vary depending on the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for the width of a hand: 9 × their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17 × their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So, for example, if  hand is </a:t>
            </a:r>
            <a:r>
              <a:rPr b="1" lang="en-GB" sz="1800">
                <a:solidFill>
                  <a:schemeClr val="dk1"/>
                </a:solidFill>
                <a:latin typeface="Kalam"/>
                <a:ea typeface="Kalam"/>
                <a:cs typeface="Kalam"/>
                <a:sym typeface="Kalam"/>
              </a:rPr>
              <a:t>estimated</a:t>
            </a:r>
            <a:r>
              <a:rPr lang="en-GB" sz="1800">
                <a:solidFill>
                  <a:schemeClr val="dk1"/>
                </a:solidFill>
                <a:latin typeface="Kalam"/>
                <a:ea typeface="Kalam"/>
                <a:cs typeface="Kalam"/>
                <a:sym typeface="Kalam"/>
              </a:rPr>
              <a:t> as 10 cm the answers will be 90 cm and 170 cm.</a:t>
            </a:r>
            <a:endParaRPr sz="1800">
              <a:solidFill>
                <a:schemeClr val="dk1"/>
              </a:solidFill>
              <a:latin typeface="Kalam"/>
              <a:ea typeface="Kalam"/>
              <a:cs typeface="Kalam"/>
              <a:sym typeface="Kalam"/>
            </a:endParaRPr>
          </a:p>
        </p:txBody>
      </p:sp>
      <p:pic>
        <p:nvPicPr>
          <p:cNvPr id="2151" name="Google Shape;2151;p165"/>
          <p:cNvPicPr preferRelativeResize="0"/>
          <p:nvPr/>
        </p:nvPicPr>
        <p:blipFill rotWithShape="1">
          <a:blip r:embed="rId3">
            <a:alphaModFix/>
          </a:blip>
          <a:srcRect b="16007" l="0" r="0" t="19183"/>
          <a:stretch/>
        </p:blipFill>
        <p:spPr>
          <a:xfrm>
            <a:off x="1083550" y="1935217"/>
            <a:ext cx="1320631" cy="1277126"/>
          </a:xfrm>
          <a:prstGeom prst="rect">
            <a:avLst/>
          </a:prstGeom>
          <a:noFill/>
          <a:ln>
            <a:noFill/>
          </a:ln>
        </p:spPr>
      </p:pic>
      <p:pic>
        <p:nvPicPr>
          <p:cNvPr id="2152" name="Google Shape;2152;p165"/>
          <p:cNvPicPr preferRelativeResize="0"/>
          <p:nvPr/>
        </p:nvPicPr>
        <p:blipFill>
          <a:blip r:embed="rId4">
            <a:alphaModFix/>
          </a:blip>
          <a:stretch>
            <a:fillRect/>
          </a:stretch>
        </p:blipFill>
        <p:spPr>
          <a:xfrm>
            <a:off x="6086025" y="1133124"/>
            <a:ext cx="1893800" cy="2109899"/>
          </a:xfrm>
          <a:prstGeom prst="rect">
            <a:avLst/>
          </a:prstGeom>
          <a:noFill/>
          <a:ln>
            <a:noFill/>
          </a:ln>
        </p:spPr>
      </p:pic>
      <p:grpSp>
        <p:nvGrpSpPr>
          <p:cNvPr id="2153" name="Google Shape;2153;p165"/>
          <p:cNvGrpSpPr/>
          <p:nvPr/>
        </p:nvGrpSpPr>
        <p:grpSpPr>
          <a:xfrm>
            <a:off x="2436025" y="1949455"/>
            <a:ext cx="177370" cy="1248649"/>
            <a:chOff x="2793225" y="1342551"/>
            <a:chExt cx="177370" cy="1248649"/>
          </a:xfrm>
        </p:grpSpPr>
        <p:pic>
          <p:nvPicPr>
            <p:cNvPr id="2154" name="Google Shape;2154;p165"/>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155" name="Google Shape;2155;p165"/>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156" name="Google Shape;2156;p165"/>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157" name="Google Shape;2157;p165"/>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158" name="Google Shape;2158;p165"/>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159" name="Google Shape;2159;p165"/>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160" name="Google Shape;2160;p165"/>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161" name="Google Shape;2161;p165"/>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162" name="Google Shape;2162;p165"/>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163" name="Google Shape;2163;p165"/>
          <p:cNvGrpSpPr/>
          <p:nvPr/>
        </p:nvGrpSpPr>
        <p:grpSpPr>
          <a:xfrm>
            <a:off x="5880033" y="1133135"/>
            <a:ext cx="146419" cy="2071603"/>
            <a:chOff x="5880125" y="365238"/>
            <a:chExt cx="177370" cy="2509513"/>
          </a:xfrm>
        </p:grpSpPr>
        <p:grpSp>
          <p:nvGrpSpPr>
            <p:cNvPr id="2164" name="Google Shape;2164;p165"/>
            <p:cNvGrpSpPr/>
            <p:nvPr/>
          </p:nvGrpSpPr>
          <p:grpSpPr>
            <a:xfrm>
              <a:off x="5880125" y="1626102"/>
              <a:ext cx="177370" cy="1248649"/>
              <a:chOff x="2793225" y="1342551"/>
              <a:chExt cx="177370" cy="1248649"/>
            </a:xfrm>
          </p:grpSpPr>
          <p:pic>
            <p:nvPicPr>
              <p:cNvPr id="2165" name="Google Shape;2165;p165"/>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166" name="Google Shape;2166;p165"/>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167" name="Google Shape;2167;p165"/>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168" name="Google Shape;2168;p165"/>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169" name="Google Shape;2169;p165"/>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170" name="Google Shape;2170;p165"/>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171" name="Google Shape;2171;p165"/>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172" name="Google Shape;2172;p165"/>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173" name="Google Shape;2173;p165"/>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174" name="Google Shape;2174;p165"/>
            <p:cNvGrpSpPr/>
            <p:nvPr/>
          </p:nvGrpSpPr>
          <p:grpSpPr>
            <a:xfrm>
              <a:off x="5880125" y="365238"/>
              <a:ext cx="177370" cy="1248649"/>
              <a:chOff x="2793225" y="1342551"/>
              <a:chExt cx="177370" cy="1248649"/>
            </a:xfrm>
          </p:grpSpPr>
          <p:pic>
            <p:nvPicPr>
              <p:cNvPr id="2175" name="Google Shape;2175;p165"/>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176" name="Google Shape;2176;p165"/>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177" name="Google Shape;2177;p165"/>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178" name="Google Shape;2178;p165"/>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179" name="Google Shape;2179;p165"/>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180" name="Google Shape;2180;p165"/>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181" name="Google Shape;2181;p165"/>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182" name="Google Shape;2182;p165"/>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183" name="Google Shape;2183;p165"/>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16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Estimation in context</a:t>
            </a:r>
            <a:endParaRPr/>
          </a:p>
        </p:txBody>
      </p:sp>
      <p:sp>
        <p:nvSpPr>
          <p:cNvPr id="2189" name="Google Shape;2189;p1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Horses are measured using ‘hands’ as a unit, as shown below.</a:t>
            </a:r>
            <a:endParaRPr sz="1800"/>
          </a:p>
          <a:p>
            <a:pPr indent="0" lvl="0" marL="0" rtl="0" algn="l">
              <a:spcBef>
                <a:spcPts val="1000"/>
              </a:spcBef>
              <a:spcAft>
                <a:spcPts val="0"/>
              </a:spcAft>
              <a:buNone/>
            </a:pPr>
            <a:r>
              <a:t/>
            </a:r>
            <a:endParaRPr sz="2100"/>
          </a:p>
          <a:p>
            <a:pPr indent="0" lvl="0" marL="0" rtl="0" algn="l">
              <a:spcBef>
                <a:spcPts val="1000"/>
              </a:spcBef>
              <a:spcAft>
                <a:spcPts val="0"/>
              </a:spcAft>
              <a:buNone/>
            </a:pPr>
            <a:r>
              <a:t/>
            </a:r>
            <a:endParaRPr sz="3000"/>
          </a:p>
          <a:p>
            <a:pPr indent="0" lvl="0" marL="0" rtl="0" algn="l">
              <a:spcBef>
                <a:spcPts val="1000"/>
              </a:spcBef>
              <a:spcAft>
                <a:spcPts val="0"/>
              </a:spcAft>
              <a:buNone/>
            </a:pPr>
            <a:r>
              <a:t/>
            </a:r>
            <a:endParaRPr sz="1100"/>
          </a:p>
          <a:p>
            <a:pPr indent="0" lvl="0" marL="0" rtl="0" algn="l">
              <a:spcBef>
                <a:spcPts val="1000"/>
              </a:spcBef>
              <a:spcAft>
                <a:spcPts val="0"/>
              </a:spcAft>
              <a:buNone/>
            </a:pPr>
            <a:r>
              <a:t/>
            </a:r>
            <a:endParaRPr sz="300"/>
          </a:p>
          <a:p>
            <a:pPr indent="0" lvl="0" marL="0" rtl="0" algn="l">
              <a:spcBef>
                <a:spcPts val="1000"/>
              </a:spcBef>
              <a:spcAft>
                <a:spcPts val="0"/>
              </a:spcAft>
              <a:buNone/>
            </a:pPr>
            <a:r>
              <a:t/>
            </a:r>
            <a:endParaRPr sz="1400"/>
          </a:p>
          <a:p>
            <a:pPr indent="0" lvl="0" marL="0" rtl="0" algn="l">
              <a:spcBef>
                <a:spcPts val="1000"/>
              </a:spcBef>
              <a:spcAft>
                <a:spcPts val="1000"/>
              </a:spcAft>
              <a:buNone/>
            </a:pPr>
            <a:r>
              <a:rPr lang="en-GB" sz="1800"/>
              <a:t>b) </a:t>
            </a:r>
            <a:r>
              <a:rPr lang="en-GB" sz="1800"/>
              <a:t>The standard metric equivalent for a hand is 10.2 cm. Does this mean your </a:t>
            </a:r>
            <a:r>
              <a:rPr b="1" lang="en-GB" sz="1800"/>
              <a:t>estimate</a:t>
            </a:r>
            <a:r>
              <a:rPr lang="en-GB" sz="1800"/>
              <a:t> will be too big, too small or just right?</a:t>
            </a:r>
            <a:endParaRPr sz="1800"/>
          </a:p>
        </p:txBody>
      </p:sp>
      <p:sp>
        <p:nvSpPr>
          <p:cNvPr id="2190" name="Google Shape;2190;p166"/>
          <p:cNvSpPr txBox="1"/>
          <p:nvPr/>
        </p:nvSpPr>
        <p:spPr>
          <a:xfrm>
            <a:off x="278400" y="3765525"/>
            <a:ext cx="8328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If you used an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length of a hand to be less than 10.2 then your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will be too small, if you used a length greater than 10.2 cm then your </a:t>
            </a:r>
            <a:r>
              <a:rPr b="1" lang="en-GB" sz="1800">
                <a:solidFill>
                  <a:schemeClr val="dk1"/>
                </a:solidFill>
                <a:latin typeface="Kalam"/>
                <a:ea typeface="Kalam"/>
                <a:cs typeface="Kalam"/>
                <a:sym typeface="Kalam"/>
              </a:rPr>
              <a:t>estimate</a:t>
            </a:r>
            <a:r>
              <a:rPr lang="en-GB" sz="1800">
                <a:solidFill>
                  <a:schemeClr val="dk1"/>
                </a:solidFill>
                <a:latin typeface="Kalam"/>
                <a:ea typeface="Kalam"/>
                <a:cs typeface="Kalam"/>
                <a:sym typeface="Kalam"/>
              </a:rPr>
              <a:t> will be too big. </a:t>
            </a:r>
            <a:endParaRPr/>
          </a:p>
        </p:txBody>
      </p:sp>
      <p:pic>
        <p:nvPicPr>
          <p:cNvPr id="2191" name="Google Shape;2191;p166"/>
          <p:cNvPicPr preferRelativeResize="0"/>
          <p:nvPr/>
        </p:nvPicPr>
        <p:blipFill rotWithShape="1">
          <a:blip r:embed="rId3">
            <a:alphaModFix/>
          </a:blip>
          <a:srcRect b="16007" l="0" r="0" t="19183"/>
          <a:stretch/>
        </p:blipFill>
        <p:spPr>
          <a:xfrm>
            <a:off x="1083550" y="1935217"/>
            <a:ext cx="1320631" cy="1277126"/>
          </a:xfrm>
          <a:prstGeom prst="rect">
            <a:avLst/>
          </a:prstGeom>
          <a:noFill/>
          <a:ln>
            <a:noFill/>
          </a:ln>
        </p:spPr>
      </p:pic>
      <p:pic>
        <p:nvPicPr>
          <p:cNvPr id="2192" name="Google Shape;2192;p166"/>
          <p:cNvPicPr preferRelativeResize="0"/>
          <p:nvPr/>
        </p:nvPicPr>
        <p:blipFill>
          <a:blip r:embed="rId4">
            <a:alphaModFix/>
          </a:blip>
          <a:stretch>
            <a:fillRect/>
          </a:stretch>
        </p:blipFill>
        <p:spPr>
          <a:xfrm>
            <a:off x="6086025" y="1133124"/>
            <a:ext cx="1893800" cy="2109899"/>
          </a:xfrm>
          <a:prstGeom prst="rect">
            <a:avLst/>
          </a:prstGeom>
          <a:noFill/>
          <a:ln>
            <a:noFill/>
          </a:ln>
        </p:spPr>
      </p:pic>
      <p:grpSp>
        <p:nvGrpSpPr>
          <p:cNvPr id="2193" name="Google Shape;2193;p166"/>
          <p:cNvGrpSpPr/>
          <p:nvPr/>
        </p:nvGrpSpPr>
        <p:grpSpPr>
          <a:xfrm>
            <a:off x="2436025" y="1949455"/>
            <a:ext cx="177370" cy="1248649"/>
            <a:chOff x="2793225" y="1342551"/>
            <a:chExt cx="177370" cy="1248649"/>
          </a:xfrm>
        </p:grpSpPr>
        <p:pic>
          <p:nvPicPr>
            <p:cNvPr id="2194" name="Google Shape;2194;p166"/>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195" name="Google Shape;2195;p166"/>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196" name="Google Shape;2196;p166"/>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197" name="Google Shape;2197;p166"/>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198" name="Google Shape;2198;p166"/>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199" name="Google Shape;2199;p166"/>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200" name="Google Shape;2200;p166"/>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201" name="Google Shape;2201;p166"/>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202" name="Google Shape;2202;p166"/>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203" name="Google Shape;2203;p166"/>
          <p:cNvGrpSpPr/>
          <p:nvPr/>
        </p:nvGrpSpPr>
        <p:grpSpPr>
          <a:xfrm>
            <a:off x="5880033" y="1133135"/>
            <a:ext cx="146419" cy="2071603"/>
            <a:chOff x="5880125" y="365238"/>
            <a:chExt cx="177370" cy="2509513"/>
          </a:xfrm>
        </p:grpSpPr>
        <p:grpSp>
          <p:nvGrpSpPr>
            <p:cNvPr id="2204" name="Google Shape;2204;p166"/>
            <p:cNvGrpSpPr/>
            <p:nvPr/>
          </p:nvGrpSpPr>
          <p:grpSpPr>
            <a:xfrm>
              <a:off x="5880125" y="1626102"/>
              <a:ext cx="177370" cy="1248649"/>
              <a:chOff x="2793225" y="1342551"/>
              <a:chExt cx="177370" cy="1248649"/>
            </a:xfrm>
          </p:grpSpPr>
          <p:pic>
            <p:nvPicPr>
              <p:cNvPr id="2205" name="Google Shape;2205;p166"/>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206" name="Google Shape;2206;p166"/>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207" name="Google Shape;2207;p166"/>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208" name="Google Shape;2208;p166"/>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209" name="Google Shape;2209;p166"/>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210" name="Google Shape;2210;p166"/>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211" name="Google Shape;2211;p166"/>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212" name="Google Shape;2212;p166"/>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213" name="Google Shape;2213;p166"/>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nvGrpSpPr>
            <p:cNvPr id="2214" name="Google Shape;2214;p166"/>
            <p:cNvGrpSpPr/>
            <p:nvPr/>
          </p:nvGrpSpPr>
          <p:grpSpPr>
            <a:xfrm>
              <a:off x="5880125" y="365238"/>
              <a:ext cx="177370" cy="1248649"/>
              <a:chOff x="2793225" y="1342551"/>
              <a:chExt cx="177370" cy="1248649"/>
            </a:xfrm>
          </p:grpSpPr>
          <p:pic>
            <p:nvPicPr>
              <p:cNvPr id="2215" name="Google Shape;2215;p166"/>
              <p:cNvPicPr preferRelativeResize="0"/>
              <p:nvPr/>
            </p:nvPicPr>
            <p:blipFill>
              <a:blip r:embed="rId5">
                <a:alphaModFix/>
              </a:blip>
              <a:stretch>
                <a:fillRect/>
              </a:stretch>
            </p:blipFill>
            <p:spPr>
              <a:xfrm rot="-5400000">
                <a:off x="2807539" y="2440411"/>
                <a:ext cx="136475" cy="165104"/>
              </a:xfrm>
              <a:prstGeom prst="rect">
                <a:avLst/>
              </a:prstGeom>
              <a:noFill/>
              <a:ln>
                <a:noFill/>
              </a:ln>
            </p:spPr>
          </p:pic>
          <p:pic>
            <p:nvPicPr>
              <p:cNvPr id="2216" name="Google Shape;2216;p166"/>
              <p:cNvPicPr preferRelativeResize="0"/>
              <p:nvPr/>
            </p:nvPicPr>
            <p:blipFill>
              <a:blip r:embed="rId5">
                <a:alphaModFix/>
              </a:blip>
              <a:stretch>
                <a:fillRect/>
              </a:stretch>
            </p:blipFill>
            <p:spPr>
              <a:xfrm rot="-5400000">
                <a:off x="2812982" y="2303924"/>
                <a:ext cx="136475" cy="165104"/>
              </a:xfrm>
              <a:prstGeom prst="rect">
                <a:avLst/>
              </a:prstGeom>
              <a:noFill/>
              <a:ln>
                <a:noFill/>
              </a:ln>
            </p:spPr>
          </p:pic>
          <p:pic>
            <p:nvPicPr>
              <p:cNvPr id="2217" name="Google Shape;2217;p166"/>
              <p:cNvPicPr preferRelativeResize="0"/>
              <p:nvPr/>
            </p:nvPicPr>
            <p:blipFill>
              <a:blip r:embed="rId5">
                <a:alphaModFix/>
              </a:blip>
              <a:stretch>
                <a:fillRect/>
              </a:stretch>
            </p:blipFill>
            <p:spPr>
              <a:xfrm rot="-5400000">
                <a:off x="2810267" y="2173110"/>
                <a:ext cx="136475" cy="165104"/>
              </a:xfrm>
              <a:prstGeom prst="rect">
                <a:avLst/>
              </a:prstGeom>
              <a:noFill/>
              <a:ln>
                <a:noFill/>
              </a:ln>
            </p:spPr>
          </p:pic>
          <p:pic>
            <p:nvPicPr>
              <p:cNvPr id="2218" name="Google Shape;2218;p166"/>
              <p:cNvPicPr preferRelativeResize="0"/>
              <p:nvPr/>
            </p:nvPicPr>
            <p:blipFill>
              <a:blip r:embed="rId5">
                <a:alphaModFix/>
              </a:blip>
              <a:stretch>
                <a:fillRect/>
              </a:stretch>
            </p:blipFill>
            <p:spPr>
              <a:xfrm rot="-5400000">
                <a:off x="2815709" y="2036623"/>
                <a:ext cx="136475" cy="165104"/>
              </a:xfrm>
              <a:prstGeom prst="rect">
                <a:avLst/>
              </a:prstGeom>
              <a:noFill/>
              <a:ln>
                <a:noFill/>
              </a:ln>
            </p:spPr>
          </p:pic>
          <p:pic>
            <p:nvPicPr>
              <p:cNvPr id="2219" name="Google Shape;2219;p166"/>
              <p:cNvPicPr preferRelativeResize="0"/>
              <p:nvPr/>
            </p:nvPicPr>
            <p:blipFill>
              <a:blip r:embed="rId5">
                <a:alphaModFix/>
              </a:blip>
              <a:stretch>
                <a:fillRect/>
              </a:stretch>
            </p:blipFill>
            <p:spPr>
              <a:xfrm rot="-5400000">
                <a:off x="2811624" y="1879050"/>
                <a:ext cx="136475" cy="165104"/>
              </a:xfrm>
              <a:prstGeom prst="rect">
                <a:avLst/>
              </a:prstGeom>
              <a:noFill/>
              <a:ln>
                <a:noFill/>
              </a:ln>
            </p:spPr>
          </p:pic>
          <p:pic>
            <p:nvPicPr>
              <p:cNvPr id="2220" name="Google Shape;2220;p166"/>
              <p:cNvPicPr preferRelativeResize="0"/>
              <p:nvPr/>
            </p:nvPicPr>
            <p:blipFill>
              <a:blip r:embed="rId5">
                <a:alphaModFix/>
              </a:blip>
              <a:stretch>
                <a:fillRect/>
              </a:stretch>
            </p:blipFill>
            <p:spPr>
              <a:xfrm rot="-5400000">
                <a:off x="2817067" y="1742564"/>
                <a:ext cx="136475" cy="165104"/>
              </a:xfrm>
              <a:prstGeom prst="rect">
                <a:avLst/>
              </a:prstGeom>
              <a:noFill/>
              <a:ln>
                <a:noFill/>
              </a:ln>
            </p:spPr>
          </p:pic>
          <p:pic>
            <p:nvPicPr>
              <p:cNvPr id="2221" name="Google Shape;2221;p166"/>
              <p:cNvPicPr preferRelativeResize="0"/>
              <p:nvPr/>
            </p:nvPicPr>
            <p:blipFill>
              <a:blip r:embed="rId5">
                <a:alphaModFix/>
              </a:blip>
              <a:stretch>
                <a:fillRect/>
              </a:stretch>
            </p:blipFill>
            <p:spPr>
              <a:xfrm rot="-5400000">
                <a:off x="2814351" y="1611749"/>
                <a:ext cx="136475" cy="165104"/>
              </a:xfrm>
              <a:prstGeom prst="rect">
                <a:avLst/>
              </a:prstGeom>
              <a:noFill/>
              <a:ln>
                <a:noFill/>
              </a:ln>
            </p:spPr>
          </p:pic>
          <p:pic>
            <p:nvPicPr>
              <p:cNvPr id="2222" name="Google Shape;2222;p166"/>
              <p:cNvPicPr preferRelativeResize="0"/>
              <p:nvPr/>
            </p:nvPicPr>
            <p:blipFill>
              <a:blip r:embed="rId5">
                <a:alphaModFix/>
              </a:blip>
              <a:stretch>
                <a:fillRect/>
              </a:stretch>
            </p:blipFill>
            <p:spPr>
              <a:xfrm rot="-5400000">
                <a:off x="2819794" y="1475263"/>
                <a:ext cx="136475" cy="165104"/>
              </a:xfrm>
              <a:prstGeom prst="rect">
                <a:avLst/>
              </a:prstGeom>
              <a:noFill/>
              <a:ln>
                <a:noFill/>
              </a:ln>
            </p:spPr>
          </p:pic>
          <p:pic>
            <p:nvPicPr>
              <p:cNvPr id="2223" name="Google Shape;2223;p166"/>
              <p:cNvPicPr preferRelativeResize="0"/>
              <p:nvPr/>
            </p:nvPicPr>
            <p:blipFill>
              <a:blip r:embed="rId5">
                <a:alphaModFix/>
              </a:blip>
              <a:stretch>
                <a:fillRect/>
              </a:stretch>
            </p:blipFill>
            <p:spPr>
              <a:xfrm rot="-5400000">
                <a:off x="2819806" y="1328236"/>
                <a:ext cx="136475" cy="165104"/>
              </a:xfrm>
              <a:prstGeom prst="rect">
                <a:avLst/>
              </a:prstGeom>
              <a:noFill/>
              <a:ln>
                <a:noFill/>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167"/>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Estimating numerical calculations</a:t>
            </a:r>
            <a:endParaRPr/>
          </a:p>
        </p:txBody>
      </p:sp>
      <p:sp>
        <p:nvSpPr>
          <p:cNvPr id="2229" name="Google Shape;2229;p167"/>
          <p:cNvSpPr txBox="1"/>
          <p:nvPr/>
        </p:nvSpPr>
        <p:spPr>
          <a:xfrm>
            <a:off x="454800" y="2076475"/>
            <a:ext cx="80205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t/>
            </a:r>
            <a:endParaRPr/>
          </a:p>
        </p:txBody>
      </p:sp>
      <p:sp>
        <p:nvSpPr>
          <p:cNvPr id="2230" name="Google Shape;2230;p167"/>
          <p:cNvSpPr txBox="1"/>
          <p:nvPr/>
        </p:nvSpPr>
        <p:spPr>
          <a:xfrm>
            <a:off x="324000" y="810000"/>
            <a:ext cx="8486700" cy="4409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2000">
                <a:solidFill>
                  <a:schemeClr val="dk1"/>
                </a:solidFill>
                <a:latin typeface="Lexend"/>
                <a:ea typeface="Lexend"/>
                <a:cs typeface="Lexend"/>
                <a:sym typeface="Lexend"/>
              </a:rPr>
              <a:t>A quick </a:t>
            </a:r>
            <a:r>
              <a:rPr b="1" lang="en-GB" sz="2000">
                <a:solidFill>
                  <a:schemeClr val="dk1"/>
                </a:solidFill>
                <a:latin typeface="Lexend"/>
                <a:ea typeface="Lexend"/>
                <a:cs typeface="Lexend"/>
                <a:sym typeface="Lexend"/>
              </a:rPr>
              <a:t>estimate </a:t>
            </a:r>
            <a:r>
              <a:rPr lang="en-GB" sz="2000">
                <a:solidFill>
                  <a:schemeClr val="dk1"/>
                </a:solidFill>
                <a:latin typeface="Lexend"/>
                <a:ea typeface="Lexend"/>
                <a:cs typeface="Lexend"/>
                <a:sym typeface="Lexend"/>
              </a:rPr>
              <a:t>for a calculation is obtained from using approximate values, often rounded to 1 significant figure.</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1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When showing estimations we use </a:t>
            </a:r>
            <a:r>
              <a:rPr b="1" lang="en-GB" sz="2200">
                <a:solidFill>
                  <a:srgbClr val="222222"/>
                </a:solidFill>
                <a:latin typeface="Times New Roman"/>
                <a:ea typeface="Times New Roman"/>
                <a:cs typeface="Times New Roman"/>
                <a:sym typeface="Times New Roman"/>
              </a:rPr>
              <a:t>≈</a:t>
            </a:r>
            <a:r>
              <a:rPr lang="en-GB" sz="2000">
                <a:solidFill>
                  <a:schemeClr val="dk1"/>
                </a:solidFill>
                <a:latin typeface="Lexend"/>
                <a:ea typeface="Lexend"/>
                <a:cs typeface="Lexend"/>
                <a:sym typeface="Lexend"/>
              </a:rPr>
              <a:t> to identify that the calculations are approximately the same but not equal.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7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rPr lang="en-GB" sz="2000">
                <a:solidFill>
                  <a:schemeClr val="dk1"/>
                </a:solidFill>
                <a:latin typeface="Lexend"/>
                <a:ea typeface="Lexend"/>
                <a:cs typeface="Lexend"/>
                <a:sym typeface="Lexend"/>
              </a:rPr>
              <a:t>Rounding to 1 s.f is general practice and quicker. Rounding to 2 s.f or more is more accurate but perhaps takes a little longer.</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0"/>
              </a:spcAft>
              <a:buNone/>
            </a:pPr>
            <a:r>
              <a:t/>
            </a:r>
            <a:endParaRPr sz="800">
              <a:solidFill>
                <a:schemeClr val="dk1"/>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2000">
                <a:solidFill>
                  <a:schemeClr val="dk1"/>
                </a:solidFill>
                <a:latin typeface="Lexend"/>
                <a:ea typeface="Lexend"/>
                <a:cs typeface="Lexend"/>
                <a:sym typeface="Lexend"/>
              </a:rPr>
              <a:t>Having a general </a:t>
            </a:r>
            <a:r>
              <a:rPr b="1" lang="en-GB" sz="2000">
                <a:solidFill>
                  <a:schemeClr val="dk1"/>
                </a:solidFill>
                <a:latin typeface="Lexend"/>
                <a:ea typeface="Lexend"/>
                <a:cs typeface="Lexend"/>
                <a:sym typeface="Lexend"/>
              </a:rPr>
              <a:t>estimate</a:t>
            </a:r>
            <a:r>
              <a:rPr lang="en-GB" sz="2000">
                <a:solidFill>
                  <a:schemeClr val="dk1"/>
                </a:solidFill>
                <a:latin typeface="Lexend"/>
                <a:ea typeface="Lexend"/>
                <a:cs typeface="Lexend"/>
                <a:sym typeface="Lexend"/>
              </a:rPr>
              <a:t> of everyday things can allow us to </a:t>
            </a:r>
            <a:r>
              <a:rPr b="1" lang="en-GB" sz="2000">
                <a:solidFill>
                  <a:schemeClr val="dk1"/>
                </a:solidFill>
                <a:latin typeface="Lexend"/>
                <a:ea typeface="Lexend"/>
                <a:cs typeface="Lexend"/>
                <a:sym typeface="Lexend"/>
              </a:rPr>
              <a:t>estimate </a:t>
            </a:r>
            <a:r>
              <a:rPr lang="en-GB" sz="2000">
                <a:solidFill>
                  <a:schemeClr val="dk1"/>
                </a:solidFill>
                <a:latin typeface="Lexend"/>
                <a:ea typeface="Lexend"/>
                <a:cs typeface="Lexend"/>
                <a:sym typeface="Lexend"/>
              </a:rPr>
              <a:t>other calculations. </a:t>
            </a:r>
            <a:endParaRPr sz="2000">
              <a:solidFill>
                <a:schemeClr val="dk1"/>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chemeClr val="dk1"/>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sp>
        <p:nvSpPr>
          <p:cNvPr id="2235" name="Google Shape;2235;p16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236" name="Google Shape;2236;p16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