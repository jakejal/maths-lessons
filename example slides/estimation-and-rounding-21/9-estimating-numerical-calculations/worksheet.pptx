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F77DD4-3A6E-4DCF-AF12-C6D27EBDA1BD}">
  <a:tblStyle styleId="{5CF77DD4-3A6E-4DCF-AF12-C6D27EBDA1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5F4F601-79A1-4C8A-80FA-521667FF8C8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2db1418e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2db1418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2db1418ea_0_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2db1418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Estimating numerical calculations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349040" y="2277234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151089" y="2277234"/>
            <a:ext cx="4158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175981" y="2265500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946114" y="2277252"/>
            <a:ext cx="4953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542050" y="2277243"/>
            <a:ext cx="4953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522650" y="2267227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3665548" y="2277252"/>
            <a:ext cx="4158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68" name="Google Shape;168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83745" l="51344" r="39583" t="0"/>
          <a:stretch/>
        </p:blipFill>
        <p:spPr>
          <a:xfrm>
            <a:off x="5608851" y="2325765"/>
            <a:ext cx="359422" cy="269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69" name="Google Shape;169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83745" l="69200" r="12265" t="0"/>
          <a:stretch/>
        </p:blipFill>
        <p:spPr>
          <a:xfrm>
            <a:off x="4167793" y="2325765"/>
            <a:ext cx="734349" cy="269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0" name="Google Shape;170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65942" r="18678" t="55365"/>
          <a:stretch/>
        </p:blipFill>
        <p:spPr>
          <a:xfrm>
            <a:off x="2442931" y="2317961"/>
            <a:ext cx="609363" cy="269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1" name="Google Shape;171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-3318" l="67434" r="17186" t="82528"/>
          <a:stretch/>
        </p:blipFill>
        <p:spPr>
          <a:xfrm>
            <a:off x="1568435" y="2291546"/>
            <a:ext cx="609363" cy="345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2" name="Google Shape;172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-3318" l="90086" r="-5465" t="82528"/>
          <a:stretch/>
        </p:blipFill>
        <p:spPr>
          <a:xfrm>
            <a:off x="4971106" y="2288122"/>
            <a:ext cx="609363" cy="345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3" name="Google Shape;173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88775" r="2153" t="55365"/>
          <a:stretch/>
        </p:blipFill>
        <p:spPr>
          <a:xfrm>
            <a:off x="3151087" y="2310132"/>
            <a:ext cx="359422" cy="269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4" name="Google Shape;174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88775" r="2153" t="55365"/>
          <a:stretch/>
        </p:blipFill>
        <p:spPr>
          <a:xfrm>
            <a:off x="3665546" y="2310149"/>
            <a:ext cx="359422" cy="2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7896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 to make the approximations correct. You can only use each number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06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Estimating using significant figures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7" name="Google Shape;177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0" y="2919412"/>
            <a:ext cx="3050540" cy="127783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68000" y="2820900"/>
            <a:ext cx="51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488803" y="2851084"/>
            <a:ext cx="2766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543159" y="3245372"/>
            <a:ext cx="2766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100037" y="3244205"/>
            <a:ext cx="4692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875967" y="3591557"/>
            <a:ext cx="4692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704990" y="3950196"/>
            <a:ext cx="3201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660212" y="3591557"/>
            <a:ext cx="320100" cy="3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1221" y="4500347"/>
            <a:ext cx="63807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this,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calculations would you use?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your choice.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86" name="Google Shape;186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82092" l="0" r="0" t="0"/>
          <a:stretch/>
        </p:blipFill>
        <p:spPr>
          <a:xfrm>
            <a:off x="1639255" y="5285467"/>
            <a:ext cx="941010" cy="205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87" name="Google Shape;187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49495" l="0" r="0" t="21253"/>
          <a:stretch/>
        </p:blipFill>
        <p:spPr>
          <a:xfrm>
            <a:off x="2781165" y="5215618"/>
            <a:ext cx="941010" cy="335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88" name="Google Shape;188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20583" l="0" r="0" t="48082"/>
          <a:stretch/>
        </p:blipFill>
        <p:spPr>
          <a:xfrm>
            <a:off x="3913352" y="5192681"/>
            <a:ext cx="941010" cy="359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89" name="Google Shape;189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0" l="0" r="0" t="77096"/>
          <a:stretch/>
        </p:blipFill>
        <p:spPr>
          <a:xfrm>
            <a:off x="5050931" y="5195422"/>
            <a:ext cx="941010" cy="26240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1560790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686412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806995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950518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9.173\ \times\ 338&quot;&gt;&lt;mn&gt;19.173&lt;/mn&gt;&lt;mtext&gt;&lt;/mtext&gt;&lt;mo&gt;×&lt;/mo&gt;&lt;mtext&gt;&lt;/mtext&gt;&lt;mn&gt;338&lt;/mn&gt;&lt;/math&gt;" id="194" name="Google Shape;194;p20" title="19.173 times 3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514" y="4662214"/>
            <a:ext cx="1918185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68000" y="6954325"/>
            <a:ext cx="66240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of these gives the closest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gives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that is furthest away?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720000"/>
            <a:ext cx="66240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making sure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742\ \times\ 34.7}{875.42}\ \approx\ \frac{6000\ \times30}{900}\\&amp;#13;&amp;#10;\ \ \ \ \ \ \ \ \ \ \ \ \ \ \ \ \ \ \ \ \ \ \approx\frac{18\ 000}{900}\\&amp;#13;&amp;#10;\ \ \ \ \ \ \ \ \ \ \ \ \ \ \ \ \ \ \ \ \ \ \approx\ 20\end{array}&quot;&gt;&lt;mtable columnalign=&quot;left&quot; columnspacing=&quot;1em&quot; rowspacing=&quot;4pt&quot;&gt;&lt;mtr&gt;&lt;mtd&gt;&lt;mfrac&gt;&lt;mrow&gt;&lt;mn&gt;5742&lt;/mn&gt;&lt;mtext&gt;&lt;/mtext&gt;&lt;mo&gt;×&lt;/mo&gt;&lt;mtext&gt;&lt;/mtext&gt;&lt;mn&gt;34.7&lt;/mn&gt;&lt;/mrow&gt;&lt;mn&gt;875.42&lt;/mn&gt;&lt;/mfrac&gt;&lt;mtext&gt;&lt;/mtext&gt;&lt;mo&gt;≈&lt;/mo&gt;&lt;mtext&gt;&lt;/mtext&gt;&lt;mfrac&gt;&lt;mrow&gt;&lt;mn&gt;6000&lt;/mn&gt;&lt;mtext&gt;&lt;/mtext&gt;&lt;mo&gt;×&lt;/mo&gt;&lt;mn&gt;3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frac&gt;&lt;mrow&gt;&lt;mn&gt;18&lt;/mn&gt;&lt;mtext&gt;&lt;/mtext&gt;&lt;mn&gt;00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text&gt;&lt;/mtext&gt;&lt;mn&gt;20&lt;/mn&gt;&lt;/mtd&gt;&lt;/mtr&gt;&lt;/mtable&gt;&lt;/math&gt;" id="202" name="Google Shape;202;p21" title="3 lines Line 1: the fraction with numerator 5742 times 34.7 and denominator 875.42 almost equals the fraction with numerator 6000 times 30 and denominator 900 Line 2: almost equals the fraction with numerator 18 000 and denominator 900 Line 3: almost equals 20"/>
          <p:cNvPicPr preferRelativeResize="0"/>
          <p:nvPr/>
        </p:nvPicPr>
        <p:blipFill rotWithShape="1">
          <a:blip r:embed="rId3">
            <a:alphaModFix/>
          </a:blip>
          <a:srcRect b="55634" l="0" r="53684" t="0"/>
          <a:stretch/>
        </p:blipFill>
        <p:spPr>
          <a:xfrm>
            <a:off x="815554" y="1467689"/>
            <a:ext cx="1189597" cy="562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left(61.35\ -\ 84.2\right)^2\ \approx\ \left(60\ -\ 80\right)^2\\&amp;#13;&amp;#10;\approx\ 20^2\\&amp;#13;&amp;#10;\approx\ 400\end{array}&quot;&gt;&lt;mtable columnalign=&quot;left&quot; columnspacing=&quot;1em&quot; rowspacing=&quot;4pt&quot;&gt;&lt;mtr&gt;&lt;mtd&gt;&lt;msup&gt;&lt;mrow data-mjx-texclass=&quot;INNER&quot;&gt;&lt;mo data-mjx-texclass=&quot;OPEN&quot;&gt;(&lt;/mo&gt;&lt;mn&gt;61.35&lt;/mn&gt;&lt;mtext&gt;&lt;/mtext&gt;&lt;mo&gt;−&lt;/mo&gt;&lt;mtext&gt;&lt;/mtext&gt;&lt;mn&gt;84.2&lt;/mn&gt;&lt;mo data-mjx-texclass=&quot;CLOSE&quot;&gt;)&lt;/mo&gt;&lt;/mrow&gt;&lt;mn&gt;2&lt;/mn&gt;&lt;/msup&gt;&lt;mtext&gt;&lt;/mtext&gt;&lt;mo&gt;≈&lt;/mo&gt;&lt;mtext&gt;&lt;/mtext&gt;&lt;msup&gt;&lt;mrow data-mjx-texclass=&quot;INNER&quot;&gt;&lt;mo data-mjx-texclass=&quot;OPEN&quot;&gt;(&lt;/mo&gt;&lt;mn&gt;60&lt;/mn&gt;&lt;mtext&gt;&lt;/mtext&gt;&lt;mo&gt;−&lt;/mo&gt;&lt;mtext&gt;&lt;/mtext&gt;&lt;mn&gt;80&lt;/mn&gt;&lt;mo data-mjx-texclass=&quot;CLOSE&quot;&gt;)&lt;/mo&gt;&lt;/mrow&gt;&lt;mn&gt;2&lt;/mn&gt;&lt;/msup&gt;&lt;/mtd&gt;&lt;/mtr&gt;&lt;mtr&gt;&lt;mtd&gt;&lt;mo&gt;≈&lt;/mo&gt;&lt;mtext&gt;&lt;/mtext&gt;&lt;msup&gt;&lt;mn&gt;20&lt;/mn&gt;&lt;mn&gt;2&lt;/mn&gt;&lt;/msup&gt;&lt;/mtd&gt;&lt;/mtr&gt;&lt;mtr&gt;&lt;mtd&gt;&lt;mo&gt;≈&lt;/mo&gt;&lt;mtext&gt;&lt;/mtext&gt;&lt;mn&gt;400&lt;/mn&gt;&lt;/mtd&gt;&lt;/mtr&gt;&lt;/mtable&gt;&lt;/math&gt;" id="203" name="Google Shape;203;p21" title="3 lines Line 1: open paren 61.35 minus 84.2 close paren squared almost equals open paren 60 minus 80 close paren squared Line 2: almost equals 20 squared Line 3: almost equals 400"/>
          <p:cNvPicPr preferRelativeResize="0"/>
          <p:nvPr/>
        </p:nvPicPr>
        <p:blipFill rotWithShape="1">
          <a:blip r:embed="rId4">
            <a:alphaModFix/>
          </a:blip>
          <a:srcRect b="65862" l="0" r="48038" t="0"/>
          <a:stretch/>
        </p:blipFill>
        <p:spPr>
          <a:xfrm>
            <a:off x="4051286" y="1467690"/>
            <a:ext cx="1583104" cy="30199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8000" y="1382447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648942" y="1382447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06" name="Google Shape;206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5">
            <a:alphaModFix/>
          </a:blip>
          <a:srcRect b="77263" l="0" r="50631" t="0"/>
          <a:stretch/>
        </p:blipFill>
        <p:spPr>
          <a:xfrm>
            <a:off x="842323" y="3158329"/>
            <a:ext cx="1241053" cy="56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68000" y="3158329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647982" y="3158329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9.6\ +\ 16.51}{19.3+9.51^2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9.51&lt;/mn&gt;&lt;mn&gt;2&lt;/mn&gt;&lt;/msup&gt;&lt;/mrow&gt;&lt;/mfrac&gt;&lt;/mtd&gt;&lt;/mtr&gt;&lt;/mtable&gt;&lt;/math&gt;" id="209" name="Google Shape;209;p21" title="1 lines Line 1: the fraction with numerator 9.6 plus 16.51 and denominator 19.3 plus 9.51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2213" y="3119122"/>
            <a:ext cx="1250264" cy="56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5879850"/>
            <a:ext cx="4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748416" y="5879850"/>
            <a:ext cx="4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4^2-\sqrt{139.82}\approx30^2-\sqrt{144}\approx900\ -\ 12\ \approx888&quot;&gt;&lt;msup&gt;&lt;mn&gt;34&lt;/mn&gt;&lt;mn&gt;2&lt;/mn&gt;&lt;/msup&gt;&lt;mo&gt;−&lt;/mo&gt;&lt;msqrt&gt;&lt;mn&gt;139.82&lt;/mn&gt;&lt;/msqrt&gt;&lt;mo&gt;≈&lt;/mo&gt;&lt;msup&gt;&lt;mn&gt;30&lt;/mn&gt;&lt;mn&gt;2&lt;/mn&gt;&lt;/msup&gt;&lt;mo&gt;−&lt;/mo&gt;&lt;msqrt&gt;&lt;mn&gt;144&lt;/mn&gt;&lt;/msqrt&gt;&lt;mo&gt;≈&lt;/mo&gt;&lt;mn&gt;900&lt;/mn&gt;&lt;mtext&gt;&lt;/mtext&gt;&lt;mo&gt;−&lt;/mo&gt;&lt;mtext&gt;&lt;/mtext&gt;&lt;mn&gt;12&lt;/mn&gt;&lt;mtext&gt;&lt;/mtext&gt;&lt;mo&gt;≈&lt;/mo&gt;&lt;mn&gt;888&lt;/mn&gt;&lt;/math&gt;" id="212" name="Google Shape;212;p21" title="34 squared minus the square root of 139.82 almost equals 30 squared minus the square root of 144 almost equals 900 minus 12 almost equals 888"/>
          <p:cNvPicPr preferRelativeResize="0"/>
          <p:nvPr/>
        </p:nvPicPr>
        <p:blipFill rotWithShape="1">
          <a:blip r:embed="rId7">
            <a:alphaModFix/>
          </a:blip>
          <a:srcRect b="0" l="0" r="68900" t="0"/>
          <a:stretch/>
        </p:blipFill>
        <p:spPr>
          <a:xfrm>
            <a:off x="4033949" y="5910357"/>
            <a:ext cx="1559250" cy="30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-4.21}{0.82\ -\ 0.301}&quot;&gt;&lt;mfrac&gt;&lt;mrow&gt;&lt;mn&gt;11.049&lt;/mn&gt;&lt;mo&gt;−&lt;/mo&gt;&lt;mn&gt;4.21&lt;/mn&gt;&lt;/mrow&gt;&lt;mrow&gt;&lt;mn&gt;0.82&lt;/mn&gt;&lt;mtext&gt;&lt;/mtext&gt;&lt;mo&gt;−&lt;/mo&gt;&lt;mtext&gt;&lt;/mtext&gt;&lt;mn&gt;0.301&lt;/mn&gt;&lt;/mrow&gt;&lt;/mfrac&gt;&lt;/math&gt;" id="213" name="Google Shape;213;p21" title="the fraction with numerator 11.049 minus 4.21 and denominator 0.82 minus 0.3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6299" y="5920759"/>
            <a:ext cx="1485011" cy="5333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21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468000" y="997200"/>
            <a:ext cx="6624000" cy="2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science textbook uses comparisons with humans to show the sizes of different animals.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is a good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the width of the hand?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10 cm		25 cm		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your answer to part a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size of the animals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Estimation in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050" y="1368575"/>
            <a:ext cx="703800" cy="851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22"/>
          <p:cNvCxnSpPr/>
          <p:nvPr/>
        </p:nvCxnSpPr>
        <p:spPr>
          <a:xfrm>
            <a:off x="6029694" y="1841873"/>
            <a:ext cx="476400" cy="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" name="Google Shape;225;p22"/>
          <p:cNvSpPr txBox="1"/>
          <p:nvPr/>
        </p:nvSpPr>
        <p:spPr>
          <a:xfrm>
            <a:off x="1317675" y="2703977"/>
            <a:ext cx="9852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🐀</a:t>
            </a:r>
            <a:endParaRPr sz="2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2"/>
          <p:cNvCxnSpPr/>
          <p:nvPr/>
        </p:nvCxnSpPr>
        <p:spPr>
          <a:xfrm rot="10800000">
            <a:off x="1455825" y="2827950"/>
            <a:ext cx="602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227" name="Google Shape;2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39" y="2714865"/>
            <a:ext cx="477309" cy="5773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467997" y="2586459"/>
            <a:ext cx="3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29" name="Google Shape;229;p22"/>
          <p:cNvSpPr txBox="1"/>
          <p:nvPr/>
        </p:nvSpPr>
        <p:spPr>
          <a:xfrm>
            <a:off x="3734345" y="2772848"/>
            <a:ext cx="3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1180175" y="3512607"/>
            <a:ext cx="1269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31" name="Google Shape;231;p22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793" y="3638495"/>
            <a:ext cx="145011" cy="11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632" y="3069625"/>
            <a:ext cx="245198" cy="304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283" y="2530862"/>
            <a:ext cx="703793" cy="8512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22"/>
          <p:cNvCxnSpPr/>
          <p:nvPr/>
        </p:nvCxnSpPr>
        <p:spPr>
          <a:xfrm rot="10800000">
            <a:off x="5090878" y="3099948"/>
            <a:ext cx="0" cy="27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5" name="Google Shape;235;p22"/>
          <p:cNvSpPr txBox="1"/>
          <p:nvPr/>
        </p:nvSpPr>
        <p:spPr>
          <a:xfrm>
            <a:off x="4262188" y="3523205"/>
            <a:ext cx="126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36" name="Google Shape;236;p22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995" y="3649344"/>
            <a:ext cx="145011" cy="115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468000" y="4552375"/>
            <a:ext cx="662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What would be a sensible unit of mass to measure each of the items in the table?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Each of the values below matches one of the six items. Which is which?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8" name="Google Shape;238;p22"/>
          <p:cNvGraphicFramePr/>
          <p:nvPr/>
        </p:nvGraphicFramePr>
        <p:xfrm>
          <a:off x="971125" y="49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{5CF77DD4-3A6E-4DCF-AF12-C6D27EBDA1BD}</a:tableStyleId>
              </a:tblPr>
              <a:tblGrid>
                <a:gridCol w="1872575"/>
                <a:gridCol w="1872575"/>
                <a:gridCol w="1872575"/>
              </a:tblGrid>
              <a:tr h="54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baby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elephant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ull suitcase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argo ship container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newborn puppy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acket of crisps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9" name="Google Shape;239;p22"/>
          <p:cNvGraphicFramePr/>
          <p:nvPr/>
        </p:nvGraphicFramePr>
        <p:xfrm>
          <a:off x="469588" y="6676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{95F4F601-79A1-4C8A-80FA-521667FF8C85}</a:tableStyleId>
              </a:tblPr>
              <a:tblGrid>
                <a:gridCol w="1104000"/>
                <a:gridCol w="1104000"/>
                <a:gridCol w="1104000"/>
                <a:gridCol w="1104000"/>
                <a:gridCol w="1104000"/>
                <a:gridCol w="1104000"/>
              </a:tblGrid>
              <a:tr h="391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2797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2"/>
          <p:cNvSpPr txBox="1"/>
          <p:nvPr/>
        </p:nvSpPr>
        <p:spPr>
          <a:xfrm>
            <a:off x="469600" y="7511650"/>
            <a:ext cx="6624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 orange weighs approximately 120 g. How many oranges do you think would be the equivalent of one of each of the things in part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" name="Google Shape;247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68000" y="4446175"/>
            <a:ext cx="662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standard metric equivalent for a hand is 10.2 cm. Does this mean your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will be too big, too small or just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How many hands high are you to the top of your head?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some other objects using hands as a unit.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468000" y="720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Horses are measured using ‘hands’ as a unit, as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height in centimetres of each of the horses.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2" name="Google Shape;252;p23"/>
          <p:cNvPicPr preferRelativeResize="0"/>
          <p:nvPr/>
        </p:nvPicPr>
        <p:blipFill rotWithShape="1">
          <a:blip r:embed="rId3">
            <a:alphaModFix/>
          </a:blip>
          <a:srcRect b="16007" l="0" r="0" t="19183"/>
          <a:stretch/>
        </p:blipFill>
        <p:spPr>
          <a:xfrm>
            <a:off x="1647075" y="1803842"/>
            <a:ext cx="1320631" cy="127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677" y="1001749"/>
            <a:ext cx="1893800" cy="2109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3"/>
          <p:cNvGrpSpPr/>
          <p:nvPr/>
        </p:nvGrpSpPr>
        <p:grpSpPr>
          <a:xfrm>
            <a:off x="2999550" y="1818080"/>
            <a:ext cx="177370" cy="1248649"/>
            <a:chOff x="2793225" y="1342551"/>
            <a:chExt cx="177370" cy="1248649"/>
          </a:xfrm>
        </p:grpSpPr>
        <p:pic>
          <p:nvPicPr>
            <p:cNvPr id="255" name="Google Shape;255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07539" y="2440411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2982" y="2303924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0267" y="2173110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5709" y="2036623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1624" y="1879050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7067" y="1742564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4351" y="1611749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9794" y="1475263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9806" y="1328236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23"/>
          <p:cNvGrpSpPr/>
          <p:nvPr/>
        </p:nvGrpSpPr>
        <p:grpSpPr>
          <a:xfrm>
            <a:off x="4498685" y="1001760"/>
            <a:ext cx="146419" cy="2071603"/>
            <a:chOff x="5880125" y="365238"/>
            <a:chExt cx="177370" cy="2509513"/>
          </a:xfrm>
        </p:grpSpPr>
        <p:grpSp>
          <p:nvGrpSpPr>
            <p:cNvPr id="265" name="Google Shape;265;p23"/>
            <p:cNvGrpSpPr/>
            <p:nvPr/>
          </p:nvGrpSpPr>
          <p:grpSpPr>
            <a:xfrm>
              <a:off x="5880125" y="1626102"/>
              <a:ext cx="177370" cy="1248649"/>
              <a:chOff x="2793225" y="1342551"/>
              <a:chExt cx="177370" cy="1248649"/>
            </a:xfrm>
          </p:grpSpPr>
          <p:pic>
            <p:nvPicPr>
              <p:cNvPr id="266" name="Google Shape;266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07539" y="2440411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7" name="Google Shape;267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2982" y="230392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" name="Google Shape;268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0267" y="217311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9" name="Google Shape;269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5709" y="203662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" name="Google Shape;270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1624" y="187905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7067" y="174256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" name="Google Shape;272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4351" y="1611749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3" name="Google Shape;273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794" y="147526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806" y="1328236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5" name="Google Shape;275;p23"/>
            <p:cNvGrpSpPr/>
            <p:nvPr/>
          </p:nvGrpSpPr>
          <p:grpSpPr>
            <a:xfrm>
              <a:off x="5880125" y="365238"/>
              <a:ext cx="177370" cy="1248649"/>
              <a:chOff x="2793225" y="1342551"/>
              <a:chExt cx="177370" cy="1248649"/>
            </a:xfrm>
          </p:grpSpPr>
          <p:pic>
            <p:nvPicPr>
              <p:cNvPr id="276" name="Google Shape;276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07539" y="2440411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" name="Google Shape;277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2982" y="230392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8" name="Google Shape;278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0267" y="217311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9" name="Google Shape;279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5709" y="203662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" name="Google Shape;280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1624" y="187905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" name="Google Shape;281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7067" y="174256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" name="Google Shape;282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4351" y="1611749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" name="Google Shape;283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794" y="147526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806" y="1328236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