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4D94C6-C006-4A16-A1A0-25B4A0B41EB0}">
  <a:tblStyle styleId="{1B4D94C6-C006-4A16-A1A0-25B4A0B41E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b012d8ebef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b012d8ebef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a93c6b86e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a93c6b86e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ac78981bb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ac78981bb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ac78981bb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ac78981bb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ad64aa501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ad64aa501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ac78981bb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ac78981bb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ac78981bba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ac78981bba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ac78981bb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ac78981bb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2adb936414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2adb936414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adb936414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adb936414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2adb936414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2adb936414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adb936414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adb936414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adb936414f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adb936414f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2adb936414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2adb936414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adb936414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adb936414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adb936414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adb936414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2adb936414f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2adb936414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2adb936414f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2adb936414f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2ac78981bba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2ac78981bba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2ac78981bba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ac78981bba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afb9600d67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afb9600d67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afb9600d67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afb9600d67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2afb9600d67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2afb9600d67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2afb9600d67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2afb9600d67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2afb9600d67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2afb9600d67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ac78981bba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2ac78981bb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2afb9600d6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2afb9600d6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2ac78981bba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2ac78981bba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2b00901feb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2b00901feb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2b00901feb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2b00901feb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2b00901feb9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2b00901feb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2b00901feb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2b00901feb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ac78981bba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ac78981bba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2afb9600d67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2afb9600d67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2afb9600d67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2afb9600d67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g2b00901feb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2b00901feb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9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25.png"/><Relationship Id="rId9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29.png"/><Relationship Id="rId11" Type="http://schemas.openxmlformats.org/officeDocument/2006/relationships/image" Target="../media/image16.png"/><Relationship Id="rId10" Type="http://schemas.openxmlformats.org/officeDocument/2006/relationships/image" Target="../media/image38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9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1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25.png"/><Relationship Id="rId9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29.png"/><Relationship Id="rId11" Type="http://schemas.openxmlformats.org/officeDocument/2006/relationships/image" Target="../media/image16.png"/><Relationship Id="rId10" Type="http://schemas.openxmlformats.org/officeDocument/2006/relationships/image" Target="../media/image38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9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3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9.png"/><Relationship Id="rId4" Type="http://schemas.openxmlformats.org/officeDocument/2006/relationships/image" Target="../media/image98.png"/><Relationship Id="rId5" Type="http://schemas.openxmlformats.org/officeDocument/2006/relationships/image" Target="../media/image9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9.png"/><Relationship Id="rId4" Type="http://schemas.openxmlformats.org/officeDocument/2006/relationships/image" Target="../media/image98.png"/><Relationship Id="rId5" Type="http://schemas.openxmlformats.org/officeDocument/2006/relationships/image" Target="../media/image9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9.png"/><Relationship Id="rId4" Type="http://schemas.openxmlformats.org/officeDocument/2006/relationships/image" Target="../media/image98.png"/><Relationship Id="rId5" Type="http://schemas.openxmlformats.org/officeDocument/2006/relationships/image" Target="../media/image9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4.png"/><Relationship Id="rId4" Type="http://schemas.openxmlformats.org/officeDocument/2006/relationships/image" Target="../media/image102.png"/><Relationship Id="rId9" Type="http://schemas.openxmlformats.org/officeDocument/2006/relationships/image" Target="../media/image108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101.png"/><Relationship Id="rId8" Type="http://schemas.openxmlformats.org/officeDocument/2006/relationships/image" Target="../media/image105.png"/><Relationship Id="rId11" Type="http://schemas.openxmlformats.org/officeDocument/2006/relationships/image" Target="../media/image107.png"/><Relationship Id="rId10" Type="http://schemas.openxmlformats.org/officeDocument/2006/relationships/image" Target="../media/image106.png"/><Relationship Id="rId13" Type="http://schemas.openxmlformats.org/officeDocument/2006/relationships/image" Target="../media/image109.png"/><Relationship Id="rId12" Type="http://schemas.openxmlformats.org/officeDocument/2006/relationships/image" Target="../media/image110.png"/><Relationship Id="rId14" Type="http://schemas.openxmlformats.org/officeDocument/2006/relationships/image" Target="../media/image1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3.png"/><Relationship Id="rId4" Type="http://schemas.openxmlformats.org/officeDocument/2006/relationships/image" Target="../media/image9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3.png"/><Relationship Id="rId4" Type="http://schemas.openxmlformats.org/officeDocument/2006/relationships/image" Target="../media/image9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3.png"/><Relationship Id="rId4" Type="http://schemas.openxmlformats.org/officeDocument/2006/relationships/image" Target="../media/image9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3.png"/><Relationship Id="rId4" Type="http://schemas.openxmlformats.org/officeDocument/2006/relationships/image" Target="../media/image9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6.png"/><Relationship Id="rId4" Type="http://schemas.openxmlformats.org/officeDocument/2006/relationships/image" Target="../media/image119.png"/><Relationship Id="rId5" Type="http://schemas.openxmlformats.org/officeDocument/2006/relationships/image" Target="../media/image118.png"/><Relationship Id="rId6" Type="http://schemas.openxmlformats.org/officeDocument/2006/relationships/image" Target="../media/image9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6.png"/><Relationship Id="rId4" Type="http://schemas.openxmlformats.org/officeDocument/2006/relationships/image" Target="../media/image119.png"/><Relationship Id="rId5" Type="http://schemas.openxmlformats.org/officeDocument/2006/relationships/image" Target="../media/image118.png"/><Relationship Id="rId6" Type="http://schemas.openxmlformats.org/officeDocument/2006/relationships/image" Target="../media/image9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7.png"/><Relationship Id="rId4" Type="http://schemas.openxmlformats.org/officeDocument/2006/relationships/image" Target="../media/image1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rounding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Estimation and rounding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when values have been rounded and state sensible suggestions of what the unrounded value could have been.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A </a:t>
            </a:r>
            <a:r>
              <a:rPr lang="en-GB"/>
              <a:t>conjec</a:t>
            </a:r>
            <a:r>
              <a:rPr lang="en-GB"/>
              <a:t>ture</a:t>
            </a:r>
            <a:r>
              <a:rPr b="0" lang="en-GB"/>
              <a:t> is a (mathematical) statement that is thought to be true but has not been proved yet. 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  <p:sp>
        <p:nvSpPr>
          <p:cNvPr id="1505" name="Google Shape;1505;p128"/>
          <p:cNvSpPr txBox="1"/>
          <p:nvPr>
            <p:ph idx="1" type="subTitle"/>
          </p:nvPr>
        </p:nvSpPr>
        <p:spPr>
          <a:xfrm>
            <a:off x="306950" y="24366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A </a:t>
            </a:r>
            <a:r>
              <a:rPr lang="en-GB"/>
              <a:t>degree of accuracy</a:t>
            </a:r>
            <a:r>
              <a:rPr b="0" lang="en-GB"/>
              <a:t> shows how precise a number or measurement is.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E.g. to the nearest cm, nearest 10, 1 d.p., etc.</a:t>
            </a:r>
            <a:r>
              <a:rPr b="0" lang="en-GB"/>
              <a:t>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511" name="Google Shape;1511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512" name="Google Shape;1512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rounding</a:t>
            </a:r>
            <a:endParaRPr/>
          </a:p>
        </p:txBody>
      </p:sp>
      <p:pic>
        <p:nvPicPr>
          <p:cNvPr id="1513" name="Google Shape;151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519" name="Google Shape;1519;p130"/>
          <p:cNvSpPr/>
          <p:nvPr/>
        </p:nvSpPr>
        <p:spPr>
          <a:xfrm>
            <a:off x="1458960" y="682505"/>
            <a:ext cx="28527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Attendance at the 1966 World Cup: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97 000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30"/>
          <p:cNvSpPr/>
          <p:nvPr/>
        </p:nvSpPr>
        <p:spPr>
          <a:xfrm>
            <a:off x="4782210" y="682505"/>
            <a:ext cx="29118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Steps taken to get to the moon: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400 000 000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30"/>
          <p:cNvSpPr/>
          <p:nvPr/>
        </p:nvSpPr>
        <p:spPr>
          <a:xfrm>
            <a:off x="1458960" y="1646936"/>
            <a:ext cx="28527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The government spent £172 billion on grants in 2021 to 2022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30"/>
          <p:cNvSpPr/>
          <p:nvPr/>
        </p:nvSpPr>
        <p:spPr>
          <a:xfrm>
            <a:off x="4782210" y="1620664"/>
            <a:ext cx="2911800" cy="92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Population of the UK: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67.33 million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3" name="Google Shape;1523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12" y="36643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305" y="36108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130"/>
          <p:cNvSpPr txBox="1"/>
          <p:nvPr/>
        </p:nvSpPr>
        <p:spPr>
          <a:xfrm>
            <a:off x="318750" y="453875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30"/>
          <p:cNvSpPr txBox="1"/>
          <p:nvPr/>
        </p:nvSpPr>
        <p:spPr>
          <a:xfrm>
            <a:off x="7794541" y="453875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130"/>
          <p:cNvSpPr txBox="1"/>
          <p:nvPr/>
        </p:nvSpPr>
        <p:spPr>
          <a:xfrm>
            <a:off x="318750" y="2587025"/>
            <a:ext cx="620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and Sofia are talking about these facts.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8" name="Google Shape;1528;p130"/>
          <p:cNvGrpSpPr/>
          <p:nvPr/>
        </p:nvGrpSpPr>
        <p:grpSpPr>
          <a:xfrm>
            <a:off x="5448198" y="2782375"/>
            <a:ext cx="1955251" cy="1316250"/>
            <a:chOff x="5448198" y="3239575"/>
            <a:chExt cx="1955251" cy="1316250"/>
          </a:xfrm>
        </p:grpSpPr>
        <p:pic>
          <p:nvPicPr>
            <p:cNvPr id="1529" name="Google Shape;1529;p13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48198" y="32395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0" name="Google Shape;1530;p130"/>
            <p:cNvSpPr txBox="1"/>
            <p:nvPr/>
          </p:nvSpPr>
          <p:spPr>
            <a:xfrm>
              <a:off x="5569925" y="3494275"/>
              <a:ext cx="1659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It seems very </a:t>
              </a: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unlikely</a:t>
              </a: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1" name="Google Shape;1531;p130"/>
          <p:cNvGrpSpPr/>
          <p:nvPr/>
        </p:nvGrpSpPr>
        <p:grpSpPr>
          <a:xfrm>
            <a:off x="921899" y="2782375"/>
            <a:ext cx="2549627" cy="1316250"/>
            <a:chOff x="921899" y="3239575"/>
            <a:chExt cx="2549627" cy="1316250"/>
          </a:xfrm>
        </p:grpSpPr>
        <p:pic>
          <p:nvPicPr>
            <p:cNvPr id="1532" name="Google Shape;1532;p13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921899" y="3239575"/>
              <a:ext cx="2549627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30"/>
            <p:cNvSpPr txBox="1"/>
            <p:nvPr/>
          </p:nvSpPr>
          <p:spPr>
            <a:xfrm>
              <a:off x="1170675" y="3393600"/>
              <a:ext cx="2204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 you think these are the exact values?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4" name="Google Shape;1534;p130"/>
          <p:cNvSpPr txBox="1"/>
          <p:nvPr/>
        </p:nvSpPr>
        <p:spPr>
          <a:xfrm>
            <a:off x="1755313" y="3808759"/>
            <a:ext cx="59700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 you think these are the exact figures?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does seem very unlikely that they are the exact actual figures.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540" name="Google Shape;1540;p131"/>
          <p:cNvSpPr txBox="1"/>
          <p:nvPr>
            <p:ph idx="1" type="body"/>
          </p:nvPr>
        </p:nvSpPr>
        <p:spPr>
          <a:xfrm>
            <a:off x="324000" y="759300"/>
            <a:ext cx="8237700" cy="11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certain situations it is not necessary to know the exact value unless you are working within a given </a:t>
            </a:r>
            <a:r>
              <a:rPr b="1" lang="en-GB"/>
              <a:t>degree of accuracy</a:t>
            </a:r>
            <a:r>
              <a:rPr lang="en-GB"/>
              <a:t>.</a:t>
            </a:r>
            <a:endParaRPr/>
          </a:p>
        </p:txBody>
      </p:sp>
      <p:sp>
        <p:nvSpPr>
          <p:cNvPr id="1541" name="Google Shape;1541;p131"/>
          <p:cNvSpPr/>
          <p:nvPr/>
        </p:nvSpPr>
        <p:spPr>
          <a:xfrm>
            <a:off x="3135360" y="1673105"/>
            <a:ext cx="28527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Attendance at the 1966 World Cup: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97 000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2" name="Google Shape;154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12" y="36643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305" y="36108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31"/>
          <p:cNvSpPr txBox="1"/>
          <p:nvPr/>
        </p:nvSpPr>
        <p:spPr>
          <a:xfrm>
            <a:off x="318750" y="453875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1"/>
          <p:cNvSpPr txBox="1"/>
          <p:nvPr/>
        </p:nvSpPr>
        <p:spPr>
          <a:xfrm>
            <a:off x="7794541" y="453875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6" name="Google Shape;1546;p131"/>
          <p:cNvGrpSpPr/>
          <p:nvPr/>
        </p:nvGrpSpPr>
        <p:grpSpPr>
          <a:xfrm>
            <a:off x="5261529" y="2547500"/>
            <a:ext cx="2601671" cy="1402150"/>
            <a:chOff x="5470418" y="3233300"/>
            <a:chExt cx="1955261" cy="1402150"/>
          </a:xfrm>
        </p:grpSpPr>
        <p:pic>
          <p:nvPicPr>
            <p:cNvPr id="1547" name="Google Shape;1547;p13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70418" y="3233300"/>
              <a:ext cx="1955261" cy="1402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8" name="Google Shape;1548;p131"/>
            <p:cNvSpPr txBox="1"/>
            <p:nvPr/>
          </p:nvSpPr>
          <p:spPr>
            <a:xfrm>
              <a:off x="5569918" y="3319705"/>
              <a:ext cx="1700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I think that this number has been given to the nearest thousand.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9" name="Google Shape;1549;p131"/>
          <p:cNvGrpSpPr/>
          <p:nvPr/>
        </p:nvGrpSpPr>
        <p:grpSpPr>
          <a:xfrm>
            <a:off x="921926" y="2553735"/>
            <a:ext cx="3704353" cy="1525534"/>
            <a:chOff x="921899" y="3239575"/>
            <a:chExt cx="2549627" cy="1316250"/>
          </a:xfrm>
        </p:grpSpPr>
        <p:pic>
          <p:nvPicPr>
            <p:cNvPr id="1550" name="Google Shape;1550;p13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921899" y="3239575"/>
              <a:ext cx="2549627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1" name="Google Shape;1551;p131"/>
            <p:cNvSpPr txBox="1"/>
            <p:nvPr/>
          </p:nvSpPr>
          <p:spPr>
            <a:xfrm>
              <a:off x="1170675" y="3327854"/>
              <a:ext cx="2204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did not need to know the exact value to get a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sense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of the number of people at the match.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2" name="Google Shape;1552;p131"/>
          <p:cNvSpPr txBox="1"/>
          <p:nvPr/>
        </p:nvSpPr>
        <p:spPr>
          <a:xfrm>
            <a:off x="1907713" y="3862789"/>
            <a:ext cx="59700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 you agree with Sofia?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certainly looks as though it has been rounded to the nearest thousand.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558" name="Google Shape;1558;p132"/>
          <p:cNvSpPr/>
          <p:nvPr/>
        </p:nvSpPr>
        <p:spPr>
          <a:xfrm>
            <a:off x="3135360" y="682505"/>
            <a:ext cx="28527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Attendance at the 1966 World Cup: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97 000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9" name="Google Shape;1559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12" y="26737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0" name="Google Shape;1560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305" y="26202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132"/>
          <p:cNvSpPr txBox="1"/>
          <p:nvPr/>
        </p:nvSpPr>
        <p:spPr>
          <a:xfrm>
            <a:off x="318750" y="354815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32"/>
          <p:cNvSpPr txBox="1"/>
          <p:nvPr/>
        </p:nvSpPr>
        <p:spPr>
          <a:xfrm>
            <a:off x="7794541" y="354815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3" name="Google Shape;1563;p132"/>
          <p:cNvGrpSpPr/>
          <p:nvPr/>
        </p:nvGrpSpPr>
        <p:grpSpPr>
          <a:xfrm>
            <a:off x="4823848" y="1556755"/>
            <a:ext cx="3039258" cy="1739227"/>
            <a:chOff x="5470418" y="3233300"/>
            <a:chExt cx="1955261" cy="1402150"/>
          </a:xfrm>
        </p:grpSpPr>
        <p:pic>
          <p:nvPicPr>
            <p:cNvPr id="1564" name="Google Shape;1564;p13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70418" y="3233300"/>
              <a:ext cx="1955261" cy="1402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5" name="Google Shape;1565;p132"/>
            <p:cNvSpPr txBox="1"/>
            <p:nvPr/>
          </p:nvSpPr>
          <p:spPr>
            <a:xfrm>
              <a:off x="5569918" y="3319705"/>
              <a:ext cx="1700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Jun, remember when we drew out number lines we went to the multiple above </a:t>
              </a:r>
              <a:r>
                <a:rPr lang="en-GB" sz="17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and below</a:t>
              </a: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 the value.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6" name="Google Shape;1566;p132"/>
          <p:cNvGrpSpPr/>
          <p:nvPr/>
        </p:nvGrpSpPr>
        <p:grpSpPr>
          <a:xfrm>
            <a:off x="921926" y="1563132"/>
            <a:ext cx="3704353" cy="1110652"/>
            <a:chOff x="921899" y="3239575"/>
            <a:chExt cx="2549627" cy="1316250"/>
          </a:xfrm>
        </p:grpSpPr>
        <p:pic>
          <p:nvPicPr>
            <p:cNvPr id="1567" name="Google Shape;1567;p13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921899" y="3239575"/>
              <a:ext cx="2549627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8" name="Google Shape;1568;p132"/>
            <p:cNvSpPr txBox="1"/>
            <p:nvPr/>
          </p:nvSpPr>
          <p:spPr>
            <a:xfrm>
              <a:off x="1135070" y="3292821"/>
              <a:ext cx="2204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There must have been more than 97 000 people at the match.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569" name="Google Shape;1569;p132"/>
          <p:cNvGraphicFramePr/>
          <p:nvPr/>
        </p:nvGraphicFramePr>
        <p:xfrm>
          <a:off x="2159000" y="380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{1B4D94C6-C006-4A16-A1A0-25B4A0B41EB0}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70" name="Google Shape;1570;p132"/>
          <p:cNvGrpSpPr/>
          <p:nvPr/>
        </p:nvGrpSpPr>
        <p:grpSpPr>
          <a:xfrm>
            <a:off x="1683166" y="3420825"/>
            <a:ext cx="5779559" cy="338700"/>
            <a:chOff x="1683166" y="2887425"/>
            <a:chExt cx="5779559" cy="338700"/>
          </a:xfrm>
        </p:grpSpPr>
        <p:sp>
          <p:nvSpPr>
            <p:cNvPr id="1571" name="Google Shape;1571;p132"/>
            <p:cNvSpPr txBox="1"/>
            <p:nvPr/>
          </p:nvSpPr>
          <p:spPr>
            <a:xfrm>
              <a:off x="1683166" y="2887425"/>
              <a:ext cx="964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96 000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132"/>
            <p:cNvSpPr txBox="1"/>
            <p:nvPr/>
          </p:nvSpPr>
          <p:spPr>
            <a:xfrm>
              <a:off x="6498525" y="2887425"/>
              <a:ext cx="964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98 000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3" name="Google Shape;1573;p132"/>
          <p:cNvSpPr txBox="1"/>
          <p:nvPr/>
        </p:nvSpPr>
        <p:spPr>
          <a:xfrm>
            <a:off x="4078700" y="3420825"/>
            <a:ext cx="96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97 000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2"/>
          <p:cNvSpPr txBox="1"/>
          <p:nvPr/>
        </p:nvSpPr>
        <p:spPr>
          <a:xfrm>
            <a:off x="344900" y="4106625"/>
            <a:ext cx="7291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could make a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conjecture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about the exact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attendance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 E.g. 96 782, 97 005, 97 499.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580" name="Google Shape;1580;p133"/>
          <p:cNvSpPr txBox="1"/>
          <p:nvPr>
            <p:ph idx="1" type="body"/>
          </p:nvPr>
        </p:nvSpPr>
        <p:spPr>
          <a:xfrm>
            <a:off x="324000" y="2479775"/>
            <a:ext cx="82377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think each of the above has most likely been </a:t>
            </a:r>
            <a:r>
              <a:rPr lang="en-GB"/>
              <a:t>rounded</a:t>
            </a:r>
            <a:r>
              <a:rPr lang="en-GB"/>
              <a:t> to?</a:t>
            </a:r>
            <a:endParaRPr/>
          </a:p>
        </p:txBody>
      </p:sp>
      <p:sp>
        <p:nvSpPr>
          <p:cNvPr id="1581" name="Google Shape;1581;p133"/>
          <p:cNvSpPr/>
          <p:nvPr/>
        </p:nvSpPr>
        <p:spPr>
          <a:xfrm>
            <a:off x="3156433" y="682500"/>
            <a:ext cx="2776800" cy="123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Steps taken to get to the moon: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400 000 000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33"/>
          <p:cNvSpPr/>
          <p:nvPr/>
        </p:nvSpPr>
        <p:spPr>
          <a:xfrm>
            <a:off x="392150" y="682500"/>
            <a:ext cx="2720400" cy="123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The government spent £172 billion on grants in 2021 to 2022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3"/>
          <p:cNvSpPr/>
          <p:nvPr/>
        </p:nvSpPr>
        <p:spPr>
          <a:xfrm>
            <a:off x="5977115" y="682500"/>
            <a:ext cx="2776800" cy="127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Population of the UK: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67.33 million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3"/>
          <p:cNvSpPr txBox="1"/>
          <p:nvPr>
            <p:ph idx="1" type="body"/>
          </p:nvPr>
        </p:nvSpPr>
        <p:spPr>
          <a:xfrm>
            <a:off x="1320750" y="2000250"/>
            <a:ext cx="7281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billion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5" name="Google Shape;1585;p133"/>
          <p:cNvSpPr txBox="1"/>
          <p:nvPr>
            <p:ph idx="1" type="body"/>
          </p:nvPr>
        </p:nvSpPr>
        <p:spPr>
          <a:xfrm>
            <a:off x="3887175" y="2000250"/>
            <a:ext cx="12636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 million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6" name="Google Shape;1586;p133"/>
          <p:cNvSpPr txBox="1"/>
          <p:nvPr>
            <p:ph idx="1" type="body"/>
          </p:nvPr>
        </p:nvSpPr>
        <p:spPr>
          <a:xfrm>
            <a:off x="6739275" y="2027400"/>
            <a:ext cx="14484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thousand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87" name="Google Shape;1587;p133"/>
          <p:cNvGraphicFramePr/>
          <p:nvPr/>
        </p:nvGraphicFramePr>
        <p:xfrm>
          <a:off x="1465001" y="3233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{1B4D94C6-C006-4A16-A1A0-25B4A0B41EB0}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88" name="Google Shape;1588;p133"/>
          <p:cNvGrpSpPr/>
          <p:nvPr/>
        </p:nvGrpSpPr>
        <p:grpSpPr>
          <a:xfrm>
            <a:off x="1539376" y="323338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589" name="Google Shape;1589;p133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1590" name="Google Shape;1590;p133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1591" name="Google Shape;1591;p133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1592" name="Google Shape;1592;p133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1593" name="Google Shape;1593;p133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594" name="Google Shape;1594;p133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595" name="Google Shape;1595;p133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596" name="Google Shape;1596;p133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597" name="Google Shape;1597;p133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598" name="Google Shape;1598;p133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1599" name="Google Shape;1599;p133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1600" name="Google Shape;1600;p133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1601" name="Google Shape;1601;p133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2" name="Google Shape;1602;p133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603" name="Google Shape;1603;p133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604" name="Google Shape;1604;p133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605" name="Google Shape;1605;p133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1606" name="Google Shape;1606;p133"/>
          <p:cNvSpPr/>
          <p:nvPr/>
        </p:nvSpPr>
        <p:spPr>
          <a:xfrm>
            <a:off x="2483050" y="3307955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33"/>
          <p:cNvSpPr txBox="1"/>
          <p:nvPr/>
        </p:nvSpPr>
        <p:spPr>
          <a:xfrm>
            <a:off x="2855701" y="416009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8" name="Google Shape;1608;p133"/>
          <p:cNvGrpSpPr/>
          <p:nvPr/>
        </p:nvGrpSpPr>
        <p:grpSpPr>
          <a:xfrm>
            <a:off x="2048850" y="4255280"/>
            <a:ext cx="3585350" cy="313500"/>
            <a:chOff x="2048850" y="4255280"/>
            <a:chExt cx="3585350" cy="313500"/>
          </a:xfrm>
        </p:grpSpPr>
        <p:sp>
          <p:nvSpPr>
            <p:cNvPr id="1609" name="Google Shape;1609;p133"/>
            <p:cNvSpPr/>
            <p:nvPr/>
          </p:nvSpPr>
          <p:spPr>
            <a:xfrm>
              <a:off x="204885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0" name="Google Shape;1610;p133"/>
            <p:cNvSpPr/>
            <p:nvPr/>
          </p:nvSpPr>
          <p:spPr>
            <a:xfrm>
              <a:off x="251995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1" name="Google Shape;1611;p133"/>
            <p:cNvSpPr/>
            <p:nvPr/>
          </p:nvSpPr>
          <p:spPr>
            <a:xfrm>
              <a:off x="299105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2" name="Google Shape;1612;p133"/>
            <p:cNvSpPr/>
            <p:nvPr/>
          </p:nvSpPr>
          <p:spPr>
            <a:xfrm>
              <a:off x="346215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3" name="Google Shape;1613;p133"/>
            <p:cNvSpPr/>
            <p:nvPr/>
          </p:nvSpPr>
          <p:spPr>
            <a:xfrm>
              <a:off x="393325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4" name="Google Shape;1614;p133"/>
            <p:cNvSpPr/>
            <p:nvPr/>
          </p:nvSpPr>
          <p:spPr>
            <a:xfrm>
              <a:off x="443520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5" name="Google Shape;1615;p133"/>
            <p:cNvSpPr/>
            <p:nvPr/>
          </p:nvSpPr>
          <p:spPr>
            <a:xfrm>
              <a:off x="489790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133"/>
            <p:cNvSpPr/>
            <p:nvPr/>
          </p:nvSpPr>
          <p:spPr>
            <a:xfrm>
              <a:off x="5360600" y="42552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7" name="Google Shape;1617;p133"/>
          <p:cNvSpPr/>
          <p:nvPr/>
        </p:nvSpPr>
        <p:spPr>
          <a:xfrm>
            <a:off x="3445800" y="42552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623" name="Google Shape;1623;p134"/>
          <p:cNvSpPr txBox="1"/>
          <p:nvPr>
            <p:ph idx="1" type="body"/>
          </p:nvPr>
        </p:nvSpPr>
        <p:spPr>
          <a:xfrm>
            <a:off x="324000" y="750833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is thinking of a number. He uses rounding to give clues.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each clue Sofia writes down her guess of the number.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Will her answer change each time?</a:t>
            </a:r>
            <a:endParaRPr/>
          </a:p>
        </p:txBody>
      </p:sp>
      <p:sp>
        <p:nvSpPr>
          <p:cNvPr id="1624" name="Google Shape;1624;p134"/>
          <p:cNvSpPr/>
          <p:nvPr/>
        </p:nvSpPr>
        <p:spPr>
          <a:xfrm>
            <a:off x="406475" y="193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5000 to the nearest thousand.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134"/>
          <p:cNvSpPr/>
          <p:nvPr/>
        </p:nvSpPr>
        <p:spPr>
          <a:xfrm>
            <a:off x="2428575" y="26475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4500 to the nearest hundred.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34"/>
          <p:cNvSpPr/>
          <p:nvPr/>
        </p:nvSpPr>
        <p:spPr>
          <a:xfrm>
            <a:off x="4622425" y="1763725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4530 to the nearest ten.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34"/>
          <p:cNvSpPr/>
          <p:nvPr/>
        </p:nvSpPr>
        <p:spPr>
          <a:xfrm>
            <a:off x="6684325" y="2632475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4528 to the nearest whole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4"/>
          <p:cNvSpPr txBox="1"/>
          <p:nvPr/>
        </p:nvSpPr>
        <p:spPr>
          <a:xfrm>
            <a:off x="268700" y="3801825"/>
            <a:ext cx="1596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Sofia guesses 4800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9" name="Google Shape;1629;p134"/>
          <p:cNvSpPr txBox="1"/>
          <p:nvPr/>
        </p:nvSpPr>
        <p:spPr>
          <a:xfrm>
            <a:off x="2554700" y="1973025"/>
            <a:ext cx="1596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Sofia guesses 4550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0" name="Google Shape;1630;p134"/>
          <p:cNvSpPr txBox="1"/>
          <p:nvPr/>
        </p:nvSpPr>
        <p:spPr>
          <a:xfrm>
            <a:off x="4789250" y="3685800"/>
            <a:ext cx="1596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Sofia guesses 4528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1" name="Google Shape;1631;p134"/>
          <p:cNvSpPr txBox="1"/>
          <p:nvPr/>
        </p:nvSpPr>
        <p:spPr>
          <a:xfrm>
            <a:off x="6965400" y="1834975"/>
            <a:ext cx="1596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Sofia guesses 4528.4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2" name="Google Shape;1632;p134"/>
          <p:cNvSpPr txBox="1"/>
          <p:nvPr/>
        </p:nvSpPr>
        <p:spPr>
          <a:xfrm>
            <a:off x="344900" y="4487625"/>
            <a:ext cx="703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Sofia’s guess changed each time. Did yours?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638" name="Google Shape;1638;p135"/>
          <p:cNvSpPr txBox="1"/>
          <p:nvPr>
            <p:ph idx="1" type="body"/>
          </p:nvPr>
        </p:nvSpPr>
        <p:spPr>
          <a:xfrm>
            <a:off x="324000" y="759300"/>
            <a:ext cx="82377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number am I? (you will get 5 clues)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1 − when rounded to the nearest thousand I am 2000.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2 − when rounded to the nearest hundred I am 2000.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3 − when rounded to the nearest ten I am 1980.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4 − I am a multiple of 5.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5 − I am not any of the rounded values.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 am 1975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3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644" name="Google Shape;1644;p13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Sofia is thinking of some numbers. She uses rounding to give two clues. After each clue, guess her number and write it down. Does your guess change each time?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645" name="Google Shape;1645;p136"/>
          <p:cNvSpPr/>
          <p:nvPr/>
        </p:nvSpPr>
        <p:spPr>
          <a:xfrm>
            <a:off x="8253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36"/>
          <p:cNvSpPr txBox="1"/>
          <p:nvPr/>
        </p:nvSpPr>
        <p:spPr>
          <a:xfrm>
            <a:off x="8253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6"/>
          <p:cNvSpPr/>
          <p:nvPr/>
        </p:nvSpPr>
        <p:spPr>
          <a:xfrm>
            <a:off x="32637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290 to the nearest ten.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36"/>
          <p:cNvSpPr txBox="1"/>
          <p:nvPr/>
        </p:nvSpPr>
        <p:spPr>
          <a:xfrm>
            <a:off x="32637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3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654" name="Google Shape;1654;p13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Sofia is thinking of some numbers. She uses rounding to give two clues. After each clue, guess her number and write it down. Does your guess change each time?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655" name="Google Shape;1655;p137"/>
          <p:cNvSpPr/>
          <p:nvPr/>
        </p:nvSpPr>
        <p:spPr>
          <a:xfrm>
            <a:off x="8253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37"/>
          <p:cNvSpPr txBox="1"/>
          <p:nvPr/>
        </p:nvSpPr>
        <p:spPr>
          <a:xfrm>
            <a:off x="8253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37"/>
          <p:cNvSpPr/>
          <p:nvPr/>
        </p:nvSpPr>
        <p:spPr>
          <a:xfrm>
            <a:off x="32637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320 to the nearest ten.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37"/>
          <p:cNvSpPr txBox="1"/>
          <p:nvPr/>
        </p:nvSpPr>
        <p:spPr>
          <a:xfrm>
            <a:off x="32637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3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664" name="Google Shape;1664;p13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Sofia is thinking of some numbers. She uses rounding to give two clues. After each clue, guess her number and write it down. Does your guess change each time?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665" name="Google Shape;1665;p138"/>
          <p:cNvSpPr/>
          <p:nvPr/>
        </p:nvSpPr>
        <p:spPr>
          <a:xfrm>
            <a:off x="8253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8"/>
          <p:cNvSpPr txBox="1"/>
          <p:nvPr/>
        </p:nvSpPr>
        <p:spPr>
          <a:xfrm>
            <a:off x="8253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8"/>
          <p:cNvSpPr/>
          <p:nvPr/>
        </p:nvSpPr>
        <p:spPr>
          <a:xfrm>
            <a:off x="32637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250 to the nearest ten.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8"/>
          <p:cNvSpPr txBox="1"/>
          <p:nvPr/>
        </p:nvSpPr>
        <p:spPr>
          <a:xfrm>
            <a:off x="32637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39"/>
          <p:cNvSpPr txBox="1"/>
          <p:nvPr>
            <p:ph idx="1" type="body"/>
          </p:nvPr>
        </p:nvSpPr>
        <p:spPr>
          <a:xfrm>
            <a:off x="385025" y="740800"/>
            <a:ext cx="8176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Jun’s homework has been damaged by his dog!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His answers are still there but some of the numbers are missing from the questions.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could the missing numbers be?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331 to the </a:t>
            </a:r>
            <a:r>
              <a:rPr lang="en-GB"/>
              <a:t>nearest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hundred</a:t>
            </a:r>
            <a:r>
              <a:rPr lang="en-GB"/>
              <a:t>    is 300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478 to the </a:t>
            </a:r>
            <a:r>
              <a:rPr lang="en-GB"/>
              <a:t>nearest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thousand</a:t>
            </a:r>
            <a:r>
              <a:rPr lang="en-GB"/>
              <a:t> is 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785</a:t>
            </a:r>
            <a:r>
              <a:rPr lang="en-GB"/>
              <a:t> to the nearest hundred is 1800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4995 to the nearest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thousand</a:t>
            </a:r>
            <a:r>
              <a:rPr lang="en-GB"/>
              <a:t> is 5000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AutoNum type="alphaLcParenR"/>
            </a:pP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39</a:t>
            </a:r>
            <a:r>
              <a:rPr lang="en-GB"/>
              <a:t>7 to the nearest ten is 400</a:t>
            </a:r>
            <a:endParaRPr/>
          </a:p>
        </p:txBody>
      </p:sp>
      <p:sp>
        <p:nvSpPr>
          <p:cNvPr id="1674" name="Google Shape;1674;p13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pic>
        <p:nvPicPr>
          <p:cNvPr id="1675" name="Google Shape;1675;p139"/>
          <p:cNvPicPr preferRelativeResize="0"/>
          <p:nvPr/>
        </p:nvPicPr>
        <p:blipFill rotWithShape="1">
          <a:blip r:embed="rId3">
            <a:alphaModFix/>
          </a:blip>
          <a:srcRect b="0" l="5186" r="6302" t="0"/>
          <a:stretch/>
        </p:blipFill>
        <p:spPr>
          <a:xfrm>
            <a:off x="3228850" y="2341200"/>
            <a:ext cx="1170950" cy="9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139"/>
          <p:cNvPicPr preferRelativeResize="0"/>
          <p:nvPr/>
        </p:nvPicPr>
        <p:blipFill rotWithShape="1">
          <a:blip r:embed="rId3">
            <a:alphaModFix/>
          </a:blip>
          <a:srcRect b="0" l="5186" r="6302" t="0"/>
          <a:stretch/>
        </p:blipFill>
        <p:spPr>
          <a:xfrm>
            <a:off x="909700" y="3459450"/>
            <a:ext cx="484175" cy="32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139"/>
          <p:cNvPicPr preferRelativeResize="0"/>
          <p:nvPr/>
        </p:nvPicPr>
        <p:blipFill rotWithShape="1">
          <a:blip r:embed="rId3">
            <a:alphaModFix/>
          </a:blip>
          <a:srcRect b="0" l="5186" r="6302" t="0"/>
          <a:stretch/>
        </p:blipFill>
        <p:spPr>
          <a:xfrm>
            <a:off x="3426775" y="3999450"/>
            <a:ext cx="1145225" cy="32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139"/>
          <p:cNvPicPr preferRelativeResize="0"/>
          <p:nvPr/>
        </p:nvPicPr>
        <p:blipFill rotWithShape="1">
          <a:blip r:embed="rId3">
            <a:alphaModFix/>
          </a:blip>
          <a:srcRect b="0" l="5186" r="6302" t="0"/>
          <a:stretch/>
        </p:blipFill>
        <p:spPr>
          <a:xfrm>
            <a:off x="668408" y="4564867"/>
            <a:ext cx="484175" cy="3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40"/>
          <p:cNvSpPr txBox="1"/>
          <p:nvPr>
            <p:ph idx="1" type="body"/>
          </p:nvPr>
        </p:nvSpPr>
        <p:spPr>
          <a:xfrm>
            <a:off x="324000" y="8355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lang="en-GB" sz="2000"/>
              <a:t>) a) Are these statements always, sometimes or never true?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   Give some examples to show why.</a:t>
            </a:r>
            <a:endParaRPr sz="2000"/>
          </a:p>
        </p:txBody>
      </p:sp>
      <p:sp>
        <p:nvSpPr>
          <p:cNvPr id="1684" name="Google Shape;1684;p14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685" name="Google Shape;1685;p140"/>
          <p:cNvSpPr/>
          <p:nvPr/>
        </p:nvSpPr>
        <p:spPr>
          <a:xfrm>
            <a:off x="330275" y="1373477"/>
            <a:ext cx="2781600" cy="16800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number rounded to the nearest 10 will have two digits.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40"/>
          <p:cNvSpPr/>
          <p:nvPr/>
        </p:nvSpPr>
        <p:spPr>
          <a:xfrm>
            <a:off x="3164174" y="1719147"/>
            <a:ext cx="2781600" cy="16800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number rounded to the nearest 10 will end in one zero.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40"/>
          <p:cNvSpPr/>
          <p:nvPr/>
        </p:nvSpPr>
        <p:spPr>
          <a:xfrm>
            <a:off x="6017475" y="1230325"/>
            <a:ext cx="2650500" cy="21657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number rounded to the nearest 10 will be less than 5 away from the original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4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693" name="Google Shape;1693;p141"/>
          <p:cNvSpPr txBox="1"/>
          <p:nvPr>
            <p:ph idx="1" type="body"/>
          </p:nvPr>
        </p:nvSpPr>
        <p:spPr>
          <a:xfrm>
            <a:off x="324000" y="759300"/>
            <a:ext cx="8237700" cy="17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Sofia is thinking of some numbers. She uses rounding to give two clues. After each clue, guess her number and write it down. Does your guess change each time?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694" name="Google Shape;1694;p141"/>
          <p:cNvSpPr/>
          <p:nvPr/>
        </p:nvSpPr>
        <p:spPr>
          <a:xfrm>
            <a:off x="8253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41"/>
          <p:cNvSpPr txBox="1"/>
          <p:nvPr/>
        </p:nvSpPr>
        <p:spPr>
          <a:xfrm>
            <a:off x="8253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41"/>
          <p:cNvSpPr/>
          <p:nvPr/>
        </p:nvSpPr>
        <p:spPr>
          <a:xfrm>
            <a:off x="32637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290 to the nearest ten.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41"/>
          <p:cNvSpPr txBox="1"/>
          <p:nvPr/>
        </p:nvSpPr>
        <p:spPr>
          <a:xfrm>
            <a:off x="32637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41"/>
          <p:cNvSpPr txBox="1"/>
          <p:nvPr/>
        </p:nvSpPr>
        <p:spPr>
          <a:xfrm>
            <a:off x="5778300" y="2309250"/>
            <a:ext cx="13068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.g. 282</a:t>
            </a:r>
            <a:br>
              <a:rPr lang="en-GB" sz="2200">
                <a:latin typeface="Kalam"/>
                <a:ea typeface="Kalam"/>
                <a:cs typeface="Kalam"/>
                <a:sym typeface="Kalam"/>
              </a:rPr>
            </a:b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 292</a:t>
            </a:r>
            <a:br>
              <a:rPr lang="en-GB" sz="2200">
                <a:latin typeface="Kalam"/>
                <a:ea typeface="Kalam"/>
                <a:cs typeface="Kalam"/>
                <a:sym typeface="Kalam"/>
              </a:rPr>
            </a:b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 Yes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704" name="Google Shape;1704;p1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Sofia is thinking of some numbers. She uses rounding to give two clues. After each clue, guess her number and write it down. Does your guess change each time?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705" name="Google Shape;1705;p142"/>
          <p:cNvSpPr/>
          <p:nvPr/>
        </p:nvSpPr>
        <p:spPr>
          <a:xfrm>
            <a:off x="8253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42"/>
          <p:cNvSpPr txBox="1"/>
          <p:nvPr/>
        </p:nvSpPr>
        <p:spPr>
          <a:xfrm>
            <a:off x="8253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42"/>
          <p:cNvSpPr/>
          <p:nvPr/>
        </p:nvSpPr>
        <p:spPr>
          <a:xfrm>
            <a:off x="32637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320 to the nearest ten.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2"/>
          <p:cNvSpPr txBox="1"/>
          <p:nvPr/>
        </p:nvSpPr>
        <p:spPr>
          <a:xfrm>
            <a:off x="32637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42"/>
          <p:cNvSpPr txBox="1"/>
          <p:nvPr/>
        </p:nvSpPr>
        <p:spPr>
          <a:xfrm>
            <a:off x="5778300" y="2309250"/>
            <a:ext cx="13068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.g.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329</a:t>
            </a:r>
            <a:br>
              <a:rPr lang="en-GB" sz="2200">
                <a:latin typeface="Kalam"/>
                <a:ea typeface="Kalam"/>
                <a:cs typeface="Kalam"/>
                <a:sym typeface="Kalam"/>
              </a:rPr>
            </a:b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 317</a:t>
            </a:r>
            <a:br>
              <a:rPr lang="en-GB" sz="2200">
                <a:latin typeface="Kalam"/>
                <a:ea typeface="Kalam"/>
                <a:cs typeface="Kalam"/>
                <a:sym typeface="Kalam"/>
              </a:rPr>
            </a:b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 Yes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715" name="Google Shape;1715;p1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Sofia is thinking of some numbers. She uses rounding to give two clues. After each clue, guess her number and write it down. Does your guess change each time?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716" name="Google Shape;1716;p143"/>
          <p:cNvSpPr/>
          <p:nvPr/>
        </p:nvSpPr>
        <p:spPr>
          <a:xfrm>
            <a:off x="8253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143"/>
          <p:cNvSpPr txBox="1"/>
          <p:nvPr/>
        </p:nvSpPr>
        <p:spPr>
          <a:xfrm>
            <a:off x="8253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43"/>
          <p:cNvSpPr/>
          <p:nvPr/>
        </p:nvSpPr>
        <p:spPr>
          <a:xfrm>
            <a:off x="3263700" y="2471400"/>
            <a:ext cx="2061900" cy="1655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250 to the nearest ten.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43"/>
          <p:cNvSpPr txBox="1"/>
          <p:nvPr/>
        </p:nvSpPr>
        <p:spPr>
          <a:xfrm>
            <a:off x="3263700" y="2156850"/>
            <a:ext cx="99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143"/>
          <p:cNvSpPr txBox="1"/>
          <p:nvPr/>
        </p:nvSpPr>
        <p:spPr>
          <a:xfrm>
            <a:off x="5778300" y="2309250"/>
            <a:ext cx="13068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.g.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254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254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No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44"/>
          <p:cNvSpPr txBox="1"/>
          <p:nvPr>
            <p:ph idx="1" type="body"/>
          </p:nvPr>
        </p:nvSpPr>
        <p:spPr>
          <a:xfrm>
            <a:off x="357867" y="723322"/>
            <a:ext cx="8237700" cy="42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</a:t>
            </a:r>
            <a:r>
              <a:rPr lang="en-GB"/>
              <a:t>Jun’s homework has been damaged by his dog!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His answers are still there but some of the numbers are missing from the questions.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could the missing numbers be?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331 to the nearest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hundred</a:t>
            </a:r>
            <a:r>
              <a:rPr lang="en-GB"/>
              <a:t> is 300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478 to the nearest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thousand</a:t>
            </a:r>
            <a:r>
              <a:rPr lang="en-GB"/>
              <a:t> is 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</a:t>
            </a:r>
            <a:r>
              <a:rPr lang="en-GB"/>
              <a:t>  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785</a:t>
            </a:r>
            <a:r>
              <a:rPr lang="en-GB"/>
              <a:t> to the nearest hundred is 1800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4995 to the nearest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thousand/hundred/ten</a:t>
            </a:r>
            <a:r>
              <a:rPr lang="en-GB"/>
              <a:t> is 5000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39</a:t>
            </a:r>
            <a:r>
              <a:rPr lang="en-GB"/>
              <a:t>7 to the nearest ten is 400</a:t>
            </a:r>
            <a:endParaRPr/>
          </a:p>
        </p:txBody>
      </p:sp>
      <p:sp>
        <p:nvSpPr>
          <p:cNvPr id="1726" name="Google Shape;1726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45"/>
          <p:cNvSpPr txBox="1"/>
          <p:nvPr>
            <p:ph idx="1" type="body"/>
          </p:nvPr>
        </p:nvSpPr>
        <p:spPr>
          <a:xfrm>
            <a:off x="324000" y="706324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lang="en-GB" sz="2000"/>
              <a:t>) a) Are these statements always, sometimes or never true?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  Give some examples to show why.</a:t>
            </a:r>
            <a:endParaRPr sz="2000"/>
          </a:p>
        </p:txBody>
      </p:sp>
      <p:sp>
        <p:nvSpPr>
          <p:cNvPr id="1732" name="Google Shape;1732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733" name="Google Shape;1733;p145"/>
          <p:cNvSpPr/>
          <p:nvPr/>
        </p:nvSpPr>
        <p:spPr>
          <a:xfrm>
            <a:off x="330275" y="1117401"/>
            <a:ext cx="2781600" cy="16800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number rounded to the nearest 10 will have two digits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45"/>
          <p:cNvSpPr/>
          <p:nvPr/>
        </p:nvSpPr>
        <p:spPr>
          <a:xfrm>
            <a:off x="3170863" y="1243630"/>
            <a:ext cx="2781600" cy="16800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number rounded to the nearest 10 will end in one zero.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45"/>
          <p:cNvSpPr/>
          <p:nvPr/>
        </p:nvSpPr>
        <p:spPr>
          <a:xfrm>
            <a:off x="6017476" y="1279049"/>
            <a:ext cx="2781600" cy="21657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number rounded to the nearest 10 will be less than 5 away from the original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45"/>
          <p:cNvSpPr txBox="1"/>
          <p:nvPr/>
        </p:nvSpPr>
        <p:spPr>
          <a:xfrm>
            <a:off x="324000" y="3062624"/>
            <a:ext cx="499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All statements are sometimes true.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7" name="Google Shape;1737;p145"/>
          <p:cNvSpPr txBox="1"/>
          <p:nvPr/>
        </p:nvSpPr>
        <p:spPr>
          <a:xfrm>
            <a:off x="324000" y="3824624"/>
            <a:ext cx="256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192 to the nearest 10 is 190 and has 3 digits.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8" name="Google Shape;1738;p145"/>
          <p:cNvSpPr txBox="1"/>
          <p:nvPr/>
        </p:nvSpPr>
        <p:spPr>
          <a:xfrm>
            <a:off x="3067200" y="3824624"/>
            <a:ext cx="263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1995 to the nearest 10 is 2000 and ends in 3 zeros.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9" name="Google Shape;1739;p145"/>
          <p:cNvSpPr txBox="1"/>
          <p:nvPr/>
        </p:nvSpPr>
        <p:spPr>
          <a:xfrm>
            <a:off x="5941275" y="3824625"/>
            <a:ext cx="291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195 to the nearest 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is 200 and is 5 away from the original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14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Unrounded numbers</a:t>
            </a:r>
            <a:endParaRPr/>
          </a:p>
        </p:txBody>
      </p:sp>
      <p:sp>
        <p:nvSpPr>
          <p:cNvPr id="1745" name="Google Shape;1745;p14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746" name="Google Shape;1746;p14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rounding</a:t>
            </a:r>
            <a:endParaRPr/>
          </a:p>
        </p:txBody>
      </p:sp>
      <p:pic>
        <p:nvPicPr>
          <p:cNvPr id="1747" name="Google Shape;1747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37" y="299099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753" name="Google Shape;1753;p147"/>
          <p:cNvSpPr txBox="1"/>
          <p:nvPr>
            <p:ph idx="1" type="body"/>
          </p:nvPr>
        </p:nvSpPr>
        <p:spPr>
          <a:xfrm>
            <a:off x="324000" y="759300"/>
            <a:ext cx="8237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degree of accuracy</a:t>
            </a:r>
            <a:r>
              <a:rPr lang="en-GB"/>
              <a:t> we choose is often dependent on the context.</a:t>
            </a:r>
            <a:endParaRPr/>
          </a:p>
        </p:txBody>
      </p:sp>
      <p:sp>
        <p:nvSpPr>
          <p:cNvPr id="1754" name="Google Shape;1754;p147"/>
          <p:cNvSpPr/>
          <p:nvPr/>
        </p:nvSpPr>
        <p:spPr>
          <a:xfrm>
            <a:off x="1458960" y="1596905"/>
            <a:ext cx="28527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Attendance at the 1966 World Cup: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97 000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47"/>
          <p:cNvSpPr/>
          <p:nvPr/>
        </p:nvSpPr>
        <p:spPr>
          <a:xfrm>
            <a:off x="4782210" y="1596905"/>
            <a:ext cx="29118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Steps taken to get to the moon: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448 000 000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47"/>
          <p:cNvSpPr/>
          <p:nvPr/>
        </p:nvSpPr>
        <p:spPr>
          <a:xfrm>
            <a:off x="1458960" y="3170936"/>
            <a:ext cx="2852700" cy="90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The government spent £172 billion on grants in 2021 to 2022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47"/>
          <p:cNvSpPr/>
          <p:nvPr/>
        </p:nvSpPr>
        <p:spPr>
          <a:xfrm>
            <a:off x="4782210" y="3144664"/>
            <a:ext cx="2911800" cy="92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Population of the UK: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67.33 million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47"/>
          <p:cNvSpPr txBox="1"/>
          <p:nvPr/>
        </p:nvSpPr>
        <p:spPr>
          <a:xfrm>
            <a:off x="1855174" y="2588675"/>
            <a:ext cx="20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nearest thousand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9" name="Google Shape;1759;p147"/>
          <p:cNvSpPr txBox="1"/>
          <p:nvPr/>
        </p:nvSpPr>
        <p:spPr>
          <a:xfrm>
            <a:off x="2037987" y="4188875"/>
            <a:ext cx="17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nearest billion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0" name="Google Shape;1760;p147"/>
          <p:cNvSpPr txBox="1"/>
          <p:nvPr/>
        </p:nvSpPr>
        <p:spPr>
          <a:xfrm>
            <a:off x="5345339" y="2588675"/>
            <a:ext cx="183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nearest million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1" name="Google Shape;1761;p147"/>
          <p:cNvSpPr txBox="1"/>
          <p:nvPr/>
        </p:nvSpPr>
        <p:spPr>
          <a:xfrm>
            <a:off x="4963163" y="4188875"/>
            <a:ext cx="261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nearest ten thousand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pic>
        <p:nvPicPr>
          <p:cNvPr id="1767" name="Google Shape;1767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39" y="2647944"/>
            <a:ext cx="503119" cy="181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148"/>
          <p:cNvSpPr txBox="1"/>
          <p:nvPr/>
        </p:nvSpPr>
        <p:spPr>
          <a:xfrm>
            <a:off x="-78567" y="43941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9" name="Google Shape;1769;p148"/>
          <p:cNvGrpSpPr/>
          <p:nvPr/>
        </p:nvGrpSpPr>
        <p:grpSpPr>
          <a:xfrm>
            <a:off x="631887" y="1045107"/>
            <a:ext cx="2070106" cy="1817292"/>
            <a:chOff x="1513691" y="2340427"/>
            <a:chExt cx="1982100" cy="1012250"/>
          </a:xfrm>
        </p:grpSpPr>
        <p:pic>
          <p:nvPicPr>
            <p:cNvPr id="1770" name="Google Shape;1770;p14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513691" y="2340427"/>
              <a:ext cx="1982100" cy="101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1" name="Google Shape;1771;p148"/>
            <p:cNvSpPr txBox="1"/>
            <p:nvPr/>
          </p:nvSpPr>
          <p:spPr>
            <a:xfrm>
              <a:off x="1700074" y="2398699"/>
              <a:ext cx="1680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The number of pupils at my school.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2" name="Google Shape;1772;p148"/>
          <p:cNvSpPr txBox="1"/>
          <p:nvPr>
            <p:ph idx="1" type="body"/>
          </p:nvPr>
        </p:nvSpPr>
        <p:spPr>
          <a:xfrm>
            <a:off x="2739725" y="1277325"/>
            <a:ext cx="6080400" cy="12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could be given the exact number of pupils.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Rounding to the nearest 10 would also be appropriate. </a:t>
            </a:r>
            <a:endParaRPr sz="2100"/>
          </a:p>
        </p:txBody>
      </p:sp>
      <p:sp>
        <p:nvSpPr>
          <p:cNvPr id="1773" name="Google Shape;1773;p148"/>
          <p:cNvSpPr txBox="1"/>
          <p:nvPr>
            <p:ph idx="1" type="body"/>
          </p:nvPr>
        </p:nvSpPr>
        <p:spPr>
          <a:xfrm>
            <a:off x="324000" y="835500"/>
            <a:ext cx="82377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would be the appropriate </a:t>
            </a:r>
            <a:r>
              <a:rPr b="1" lang="en-GB" sz="2100"/>
              <a:t>degree of accuracy</a:t>
            </a:r>
            <a:r>
              <a:rPr lang="en-GB" sz="2100"/>
              <a:t>?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pic>
        <p:nvPicPr>
          <p:cNvPr id="1779" name="Google Shape;1779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39" y="2647944"/>
            <a:ext cx="503119" cy="181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149"/>
          <p:cNvSpPr txBox="1"/>
          <p:nvPr/>
        </p:nvSpPr>
        <p:spPr>
          <a:xfrm>
            <a:off x="-78567" y="43941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1" name="Google Shape;1781;p149"/>
          <p:cNvGrpSpPr/>
          <p:nvPr/>
        </p:nvGrpSpPr>
        <p:grpSpPr>
          <a:xfrm>
            <a:off x="719790" y="1045057"/>
            <a:ext cx="2649672" cy="1817292"/>
            <a:chOff x="1513691" y="2340427"/>
            <a:chExt cx="1982100" cy="1012250"/>
          </a:xfrm>
        </p:grpSpPr>
        <p:pic>
          <p:nvPicPr>
            <p:cNvPr id="1782" name="Google Shape;1782;p14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513691" y="2340427"/>
              <a:ext cx="1982100" cy="101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3" name="Google Shape;1783;p149"/>
            <p:cNvSpPr txBox="1"/>
            <p:nvPr/>
          </p:nvSpPr>
          <p:spPr>
            <a:xfrm>
              <a:off x="1700074" y="2398699"/>
              <a:ext cx="1680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population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of my village.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4" name="Google Shape;1784;p149"/>
          <p:cNvSpPr txBox="1"/>
          <p:nvPr>
            <p:ph idx="1" type="body"/>
          </p:nvPr>
        </p:nvSpPr>
        <p:spPr>
          <a:xfrm>
            <a:off x="3554050" y="1429725"/>
            <a:ext cx="5265900" cy="78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Rounding this to the nearest 100 would give us an idea of the size of the village.</a:t>
            </a:r>
            <a:r>
              <a:rPr lang="en-GB"/>
              <a:t> </a:t>
            </a:r>
            <a:endParaRPr/>
          </a:p>
        </p:txBody>
      </p:sp>
      <p:sp>
        <p:nvSpPr>
          <p:cNvPr id="1785" name="Google Shape;1785;p149"/>
          <p:cNvSpPr txBox="1"/>
          <p:nvPr>
            <p:ph idx="1" type="body"/>
          </p:nvPr>
        </p:nvSpPr>
        <p:spPr>
          <a:xfrm>
            <a:off x="324000" y="835500"/>
            <a:ext cx="82377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would be the appropriate </a:t>
            </a:r>
            <a:r>
              <a:rPr b="1" lang="en-GB" sz="2100"/>
              <a:t>degree of accuracy</a:t>
            </a:r>
            <a:r>
              <a:rPr lang="en-GB" sz="2100"/>
              <a:t>?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pic>
        <p:nvPicPr>
          <p:cNvPr id="1791" name="Google Shape;1791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39" y="2647944"/>
            <a:ext cx="503119" cy="181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150"/>
          <p:cNvSpPr txBox="1"/>
          <p:nvPr/>
        </p:nvSpPr>
        <p:spPr>
          <a:xfrm>
            <a:off x="-78567" y="43941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3" name="Google Shape;1793;p150"/>
          <p:cNvGrpSpPr/>
          <p:nvPr/>
        </p:nvGrpSpPr>
        <p:grpSpPr>
          <a:xfrm>
            <a:off x="719765" y="1045082"/>
            <a:ext cx="2649870" cy="1817292"/>
            <a:chOff x="1513691" y="2340427"/>
            <a:chExt cx="1982100" cy="1012250"/>
          </a:xfrm>
        </p:grpSpPr>
        <p:pic>
          <p:nvPicPr>
            <p:cNvPr id="1794" name="Google Shape;1794;p15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513691" y="2340427"/>
              <a:ext cx="1982100" cy="101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5" name="Google Shape;1795;p150"/>
            <p:cNvSpPr txBox="1"/>
            <p:nvPr/>
          </p:nvSpPr>
          <p:spPr>
            <a:xfrm>
              <a:off x="1700074" y="2398699"/>
              <a:ext cx="1680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The number of people attending a music festival.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6" name="Google Shape;1796;p150"/>
          <p:cNvSpPr txBox="1"/>
          <p:nvPr>
            <p:ph idx="1" type="body"/>
          </p:nvPr>
        </p:nvSpPr>
        <p:spPr>
          <a:xfrm>
            <a:off x="3553950" y="1429725"/>
            <a:ext cx="5266200" cy="10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Rounding this to the nearest 1000 would give us an idea of the size of the festival.</a:t>
            </a:r>
            <a:endParaRPr/>
          </a:p>
        </p:txBody>
      </p:sp>
      <p:sp>
        <p:nvSpPr>
          <p:cNvPr id="1797" name="Google Shape;1797;p150"/>
          <p:cNvSpPr txBox="1"/>
          <p:nvPr>
            <p:ph idx="1" type="body"/>
          </p:nvPr>
        </p:nvSpPr>
        <p:spPr>
          <a:xfrm>
            <a:off x="324000" y="835500"/>
            <a:ext cx="82377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would be the appropriate </a:t>
            </a:r>
            <a:r>
              <a:rPr b="1" lang="en-GB" sz="2100"/>
              <a:t>degree of accuracy</a:t>
            </a:r>
            <a:r>
              <a:rPr lang="en-GB" sz="2100"/>
              <a:t>?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803" name="Google Shape;1803;p151"/>
          <p:cNvSpPr txBox="1"/>
          <p:nvPr>
            <p:ph idx="1" type="body"/>
          </p:nvPr>
        </p:nvSpPr>
        <p:spPr>
          <a:xfrm>
            <a:off x="324000" y="759300"/>
            <a:ext cx="8237700" cy="10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would be the appropriate </a:t>
            </a:r>
            <a:r>
              <a:rPr b="1" lang="en-GB"/>
              <a:t>degree of accuracy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often depends on what units we are using to measure.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804" name="Google Shape;1804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565" y="2647944"/>
            <a:ext cx="503119" cy="181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805" name="Google Shape;1805;p151"/>
          <p:cNvSpPr txBox="1"/>
          <p:nvPr/>
        </p:nvSpPr>
        <p:spPr>
          <a:xfrm>
            <a:off x="-47842" y="43941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6" name="Google Shape;1806;p151"/>
          <p:cNvGrpSpPr/>
          <p:nvPr/>
        </p:nvGrpSpPr>
        <p:grpSpPr>
          <a:xfrm>
            <a:off x="902945" y="1883225"/>
            <a:ext cx="1407977" cy="1012250"/>
            <a:chOff x="1513698" y="2340425"/>
            <a:chExt cx="1644064" cy="1012250"/>
          </a:xfrm>
        </p:grpSpPr>
        <p:pic>
          <p:nvPicPr>
            <p:cNvPr id="1807" name="Google Shape;1807;p15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513698" y="2340425"/>
              <a:ext cx="1373501" cy="101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8" name="Google Shape;1808;p151"/>
            <p:cNvSpPr txBox="1"/>
            <p:nvPr/>
          </p:nvSpPr>
          <p:spPr>
            <a:xfrm>
              <a:off x="1700063" y="2398700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My height.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9" name="Google Shape;1809;p151"/>
          <p:cNvSpPr txBox="1"/>
          <p:nvPr>
            <p:ph idx="1" type="body"/>
          </p:nvPr>
        </p:nvSpPr>
        <p:spPr>
          <a:xfrm>
            <a:off x="2218600" y="1582125"/>
            <a:ext cx="6449100" cy="24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is the smallest unit of length we can reasonably measure to?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Centimetre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What would an appropriate </a:t>
            </a:r>
            <a:r>
              <a:rPr b="1" lang="en-GB" sz="2000"/>
              <a:t>degree of accuracy</a:t>
            </a:r>
            <a:r>
              <a:rPr lang="en-GB" sz="2000"/>
              <a:t> if we measure in centimetres?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nearest centimetre (integer).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What about if we measure in metres?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nearest centimetre, which would be 2 decimal places.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15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Nearest billion</a:t>
            </a:r>
            <a:endParaRPr/>
          </a:p>
        </p:txBody>
      </p:sp>
      <p:sp>
        <p:nvSpPr>
          <p:cNvPr id="1815" name="Google Shape;1815;p1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816" name="Google Shape;1816;p15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would be an appropriate </a:t>
            </a:r>
            <a:r>
              <a:rPr b="1" lang="en-GB"/>
              <a:t>degree of accuracy</a:t>
            </a:r>
            <a:r>
              <a:rPr lang="en-GB"/>
              <a:t> for the population of London?</a:t>
            </a:r>
            <a:endParaRPr/>
          </a:p>
        </p:txBody>
      </p:sp>
      <p:sp>
        <p:nvSpPr>
          <p:cNvPr id="1817" name="Google Shape;1817;p15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Nearest m</a:t>
            </a:r>
            <a:r>
              <a:rPr lang="en-GB"/>
              <a:t>illion</a:t>
            </a:r>
            <a:endParaRPr/>
          </a:p>
        </p:txBody>
      </p:sp>
      <p:sp>
        <p:nvSpPr>
          <p:cNvPr id="1818" name="Google Shape;1818;p15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Nearest hundred thousand</a:t>
            </a:r>
            <a:endParaRPr/>
          </a:p>
        </p:txBody>
      </p:sp>
      <p:sp>
        <p:nvSpPr>
          <p:cNvPr id="1819" name="Google Shape;1819;p15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Nearest ten</a:t>
            </a:r>
            <a:endParaRPr/>
          </a:p>
        </p:txBody>
      </p:sp>
      <p:pic>
        <p:nvPicPr>
          <p:cNvPr id="1820" name="Google Shape;1820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8" y="324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827" name="Google Shape;1827;p153"/>
          <p:cNvSpPr txBox="1"/>
          <p:nvPr>
            <p:ph idx="1" type="body"/>
          </p:nvPr>
        </p:nvSpPr>
        <p:spPr>
          <a:xfrm>
            <a:off x="324000" y="759300"/>
            <a:ext cx="8237700" cy="17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</a:t>
            </a:r>
            <a:r>
              <a:rPr lang="en-GB"/>
              <a:t>will</a:t>
            </a:r>
            <a:r>
              <a:rPr lang="en-GB"/>
              <a:t> now look at some other contexts when an appropriate </a:t>
            </a:r>
            <a:r>
              <a:rPr b="1" lang="en-GB"/>
              <a:t>degree of accuracy</a:t>
            </a:r>
            <a:r>
              <a:rPr lang="en-GB"/>
              <a:t> is important.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Laura, Sam and Jacob decide to buy their teacher a gift to say thank you.</a:t>
            </a:r>
            <a:endParaRPr/>
          </a:p>
        </p:txBody>
      </p:sp>
      <p:pic>
        <p:nvPicPr>
          <p:cNvPr id="1828" name="Google Shape;1828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850" y="35208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02" y="34134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0" name="Google Shape;1830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811032" y="345535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53"/>
          <p:cNvSpPr txBox="1"/>
          <p:nvPr/>
        </p:nvSpPr>
        <p:spPr>
          <a:xfrm>
            <a:off x="74723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153"/>
          <p:cNvSpPr txBox="1"/>
          <p:nvPr/>
        </p:nvSpPr>
        <p:spPr>
          <a:xfrm>
            <a:off x="385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53"/>
          <p:cNvSpPr txBox="1"/>
          <p:nvPr/>
        </p:nvSpPr>
        <p:spPr>
          <a:xfrm>
            <a:off x="4911962" y="4522200"/>
            <a:ext cx="525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4" name="Google Shape;1834;p153"/>
          <p:cNvGrpSpPr/>
          <p:nvPr/>
        </p:nvGrpSpPr>
        <p:grpSpPr>
          <a:xfrm>
            <a:off x="2774750" y="1928925"/>
            <a:ext cx="2061001" cy="1835751"/>
            <a:chOff x="3612952" y="2131243"/>
            <a:chExt cx="1563615" cy="1112307"/>
          </a:xfrm>
        </p:grpSpPr>
        <p:pic>
          <p:nvPicPr>
            <p:cNvPr id="1835" name="Google Shape;1835;p153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>
              <a:off x="3612952" y="2131243"/>
              <a:ext cx="1508818" cy="1112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6" name="Google Shape;1836;p153"/>
            <p:cNvSpPr txBox="1"/>
            <p:nvPr/>
          </p:nvSpPr>
          <p:spPr>
            <a:xfrm>
              <a:off x="3753666" y="2187381"/>
              <a:ext cx="1422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We each have to pay the same amount.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7" name="Google Shape;1837;p153"/>
          <p:cNvGrpSpPr/>
          <p:nvPr/>
        </p:nvGrpSpPr>
        <p:grpSpPr>
          <a:xfrm>
            <a:off x="1184275" y="2821150"/>
            <a:ext cx="1457700" cy="1016574"/>
            <a:chOff x="1412875" y="3125950"/>
            <a:chExt cx="1457700" cy="1016574"/>
          </a:xfrm>
        </p:grpSpPr>
        <p:pic>
          <p:nvPicPr>
            <p:cNvPr id="1838" name="Google Shape;1838;p153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412875" y="3125950"/>
              <a:ext cx="1457700" cy="1016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9" name="Google Shape;1839;p153"/>
            <p:cNvSpPr txBox="1"/>
            <p:nvPr/>
          </p:nvSpPr>
          <p:spPr>
            <a:xfrm>
              <a:off x="1546375" y="3174313"/>
              <a:ext cx="1324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The gift cost £10.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0" name="Google Shape;1840;p153"/>
          <p:cNvGrpSpPr/>
          <p:nvPr/>
        </p:nvGrpSpPr>
        <p:grpSpPr>
          <a:xfrm>
            <a:off x="5646875" y="2318050"/>
            <a:ext cx="1908900" cy="1738800"/>
            <a:chOff x="6925019" y="1965001"/>
            <a:chExt cx="1621422" cy="1738800"/>
          </a:xfrm>
        </p:grpSpPr>
        <p:pic>
          <p:nvPicPr>
            <p:cNvPr id="1841" name="Google Shape;1841;p153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>
              <a:off x="6925019" y="1965001"/>
              <a:ext cx="1621422" cy="173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153"/>
            <p:cNvSpPr txBox="1"/>
            <p:nvPr/>
          </p:nvSpPr>
          <p:spPr>
            <a:xfrm>
              <a:off x="7101175" y="2046475"/>
              <a:ext cx="1222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I’ll work it out, I need to do 10 ÷ 3.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pic>
        <p:nvPicPr>
          <p:cNvPr id="1848" name="Google Shape;1848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8650" y="25302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02" y="12798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811032" y="261715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54"/>
          <p:cNvSpPr txBox="1"/>
          <p:nvPr/>
        </p:nvSpPr>
        <p:spPr>
          <a:xfrm>
            <a:off x="7777150" y="3531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54"/>
          <p:cNvSpPr txBox="1"/>
          <p:nvPr/>
        </p:nvSpPr>
        <p:spPr>
          <a:xfrm>
            <a:off x="3857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54"/>
          <p:cNvSpPr txBox="1"/>
          <p:nvPr/>
        </p:nvSpPr>
        <p:spPr>
          <a:xfrm>
            <a:off x="4911962" y="3684000"/>
            <a:ext cx="525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4" name="Google Shape;1854;p154"/>
          <p:cNvGrpSpPr/>
          <p:nvPr/>
        </p:nvGrpSpPr>
        <p:grpSpPr>
          <a:xfrm>
            <a:off x="2241400" y="2005126"/>
            <a:ext cx="2587531" cy="1368080"/>
            <a:chOff x="3285438" y="2685290"/>
            <a:chExt cx="1588807" cy="828939"/>
          </a:xfrm>
        </p:grpSpPr>
        <p:pic>
          <p:nvPicPr>
            <p:cNvPr id="1855" name="Google Shape;1855;p154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>
              <a:off x="3285438" y="2685290"/>
              <a:ext cx="1508813" cy="6962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6" name="Google Shape;1856;p154"/>
            <p:cNvSpPr txBox="1"/>
            <p:nvPr/>
          </p:nvSpPr>
          <p:spPr>
            <a:xfrm>
              <a:off x="3426145" y="2741429"/>
              <a:ext cx="1448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We pay £3.33 each then.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7" name="Google Shape;1857;p154"/>
          <p:cNvGrpSpPr/>
          <p:nvPr/>
        </p:nvGrpSpPr>
        <p:grpSpPr>
          <a:xfrm>
            <a:off x="1184220" y="687322"/>
            <a:ext cx="2850095" cy="1472507"/>
            <a:chOff x="1412875" y="3125950"/>
            <a:chExt cx="1457700" cy="1016574"/>
          </a:xfrm>
        </p:grpSpPr>
        <p:pic>
          <p:nvPicPr>
            <p:cNvPr id="1858" name="Google Shape;1858;p154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412875" y="3125950"/>
              <a:ext cx="1457700" cy="1016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9" name="Google Shape;1859;p154"/>
            <p:cNvSpPr txBox="1"/>
            <p:nvPr/>
          </p:nvSpPr>
          <p:spPr>
            <a:xfrm>
              <a:off x="1515150" y="3189593"/>
              <a:ext cx="1324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What does that work out as each Jacob?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0" name="Google Shape;1860;p154"/>
          <p:cNvGrpSpPr/>
          <p:nvPr/>
        </p:nvGrpSpPr>
        <p:grpSpPr>
          <a:xfrm>
            <a:off x="5722730" y="717850"/>
            <a:ext cx="2347495" cy="2270899"/>
            <a:chOff x="6989743" y="593401"/>
            <a:chExt cx="1621422" cy="2270899"/>
          </a:xfrm>
        </p:grpSpPr>
        <p:pic>
          <p:nvPicPr>
            <p:cNvPr id="1861" name="Google Shape;1861;p154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>
              <a:off x="6989743" y="593401"/>
              <a:ext cx="1621422" cy="2270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2" name="Google Shape;1862;p154"/>
            <p:cNvSpPr txBox="1"/>
            <p:nvPr/>
          </p:nvSpPr>
          <p:spPr>
            <a:xfrm>
              <a:off x="7165899" y="751075"/>
              <a:ext cx="1222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The calculator gave me an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answer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of 3.3333333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3" name="Google Shape;1863;p154"/>
          <p:cNvSpPr txBox="1"/>
          <p:nvPr/>
        </p:nvSpPr>
        <p:spPr>
          <a:xfrm>
            <a:off x="381000" y="4036475"/>
            <a:ext cx="8460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they each pay £3.33 have they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covered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the cost of the gift?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No, 3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£3.33 = £9.99.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8" name="Google Shape;1868;p155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1470950" y="2170589"/>
            <a:ext cx="6738248" cy="1431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870" name="Google Shape;1870;p155"/>
          <p:cNvSpPr txBox="1"/>
          <p:nvPr>
            <p:ph idx="1" type="body"/>
          </p:nvPr>
        </p:nvSpPr>
        <p:spPr>
          <a:xfrm>
            <a:off x="324000" y="826341"/>
            <a:ext cx="8237700" cy="15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Year 8 from Oak Academy are going on a school trip.</a:t>
            </a:r>
            <a:endParaRPr sz="21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162 pupils and 15 members of staff are going on the trip.</a:t>
            </a:r>
            <a:endParaRPr sz="21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Each coach can carry 52 people.</a:t>
            </a:r>
            <a:endParaRPr sz="21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How many coaches are needed?</a:t>
            </a:r>
            <a:endParaRPr sz="2100"/>
          </a:p>
        </p:txBody>
      </p:sp>
      <p:sp>
        <p:nvSpPr>
          <p:cNvPr id="1871" name="Google Shape;1871;p155"/>
          <p:cNvSpPr txBox="1"/>
          <p:nvPr>
            <p:ph idx="1" type="body"/>
          </p:nvPr>
        </p:nvSpPr>
        <p:spPr>
          <a:xfrm>
            <a:off x="1743600" y="2351275"/>
            <a:ext cx="5996700" cy="9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 need to give my </a:t>
            </a:r>
            <a:r>
              <a:rPr lang="en-GB" sz="2000"/>
              <a:t>answer</a:t>
            </a:r>
            <a:r>
              <a:rPr lang="en-GB" sz="2000"/>
              <a:t> to the nearest integer.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177 ÷ 52 = 3.4…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You need 3 coaches as 3.4 rounds to 3.</a:t>
            </a:r>
            <a:endParaRPr sz="2000"/>
          </a:p>
        </p:txBody>
      </p:sp>
      <p:pic>
        <p:nvPicPr>
          <p:cNvPr id="1872" name="Google Shape;1872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6250" y="35208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3" name="Google Shape;1873;p155"/>
          <p:cNvSpPr txBox="1"/>
          <p:nvPr/>
        </p:nvSpPr>
        <p:spPr>
          <a:xfrm>
            <a:off x="7624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55"/>
          <p:cNvSpPr txBox="1"/>
          <p:nvPr/>
        </p:nvSpPr>
        <p:spPr>
          <a:xfrm>
            <a:off x="357444" y="3473098"/>
            <a:ext cx="554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Do you agree with Jacob?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If you don’t what mistake has he made?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55"/>
          <p:cNvSpPr txBox="1"/>
          <p:nvPr/>
        </p:nvSpPr>
        <p:spPr>
          <a:xfrm>
            <a:off x="357444" y="4158898"/>
            <a:ext cx="554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Jacob’s calculation is correct but he needs to round up to have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enough seats for everyone.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156"/>
          <p:cNvSpPr/>
          <p:nvPr/>
        </p:nvSpPr>
        <p:spPr>
          <a:xfrm>
            <a:off x="324000" y="1620000"/>
            <a:ext cx="39939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number of sweets in a bag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56"/>
          <p:cNvSpPr/>
          <p:nvPr/>
        </p:nvSpPr>
        <p:spPr>
          <a:xfrm>
            <a:off x="4821642" y="3320813"/>
            <a:ext cx="35130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ten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56"/>
          <p:cNvSpPr/>
          <p:nvPr/>
        </p:nvSpPr>
        <p:spPr>
          <a:xfrm>
            <a:off x="324000" y="2470406"/>
            <a:ext cx="39939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population of the UK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56"/>
          <p:cNvSpPr/>
          <p:nvPr/>
        </p:nvSpPr>
        <p:spPr>
          <a:xfrm>
            <a:off x="4821642" y="1620000"/>
            <a:ext cx="35130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million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56"/>
          <p:cNvSpPr/>
          <p:nvPr/>
        </p:nvSpPr>
        <p:spPr>
          <a:xfrm>
            <a:off x="324000" y="3320813"/>
            <a:ext cx="39939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number of people at a national sporting event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156"/>
          <p:cNvSpPr/>
          <p:nvPr/>
        </p:nvSpPr>
        <p:spPr>
          <a:xfrm>
            <a:off x="4821642" y="4171219"/>
            <a:ext cx="35130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thousand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56"/>
          <p:cNvSpPr/>
          <p:nvPr/>
        </p:nvSpPr>
        <p:spPr>
          <a:xfrm>
            <a:off x="324000" y="4171219"/>
            <a:ext cx="39939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 of a holiday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56"/>
          <p:cNvSpPr/>
          <p:nvPr/>
        </p:nvSpPr>
        <p:spPr>
          <a:xfrm>
            <a:off x="4821642" y="2470406"/>
            <a:ext cx="3513000" cy="6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hundred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15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889" name="Google Shape;1889;p156"/>
          <p:cNvSpPr txBox="1"/>
          <p:nvPr>
            <p:ph idx="1" type="body"/>
          </p:nvPr>
        </p:nvSpPr>
        <p:spPr>
          <a:xfrm>
            <a:off x="324000" y="759300"/>
            <a:ext cx="8237700" cy="6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each statement to the most appropriate </a:t>
            </a:r>
            <a:r>
              <a:rPr b="1" lang="en-GB"/>
              <a:t>degree of accuracy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157"/>
          <p:cNvSpPr/>
          <p:nvPr/>
        </p:nvSpPr>
        <p:spPr>
          <a:xfrm>
            <a:off x="324000" y="1566125"/>
            <a:ext cx="40125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Length of a pencil in centimetres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57"/>
          <p:cNvSpPr/>
          <p:nvPr/>
        </p:nvSpPr>
        <p:spPr>
          <a:xfrm>
            <a:off x="4914926" y="1566125"/>
            <a:ext cx="35292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integer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157"/>
          <p:cNvSpPr/>
          <p:nvPr/>
        </p:nvSpPr>
        <p:spPr>
          <a:xfrm>
            <a:off x="324000" y="2430874"/>
            <a:ext cx="40125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length of a piece of ribbon in metres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157"/>
          <p:cNvSpPr/>
          <p:nvPr/>
        </p:nvSpPr>
        <p:spPr>
          <a:xfrm>
            <a:off x="4914926" y="2430874"/>
            <a:ext cx="35292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 decimal place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57"/>
          <p:cNvSpPr/>
          <p:nvPr/>
        </p:nvSpPr>
        <p:spPr>
          <a:xfrm>
            <a:off x="324000" y="3295623"/>
            <a:ext cx="40125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Width of a doorway in metres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57"/>
          <p:cNvSpPr/>
          <p:nvPr/>
        </p:nvSpPr>
        <p:spPr>
          <a:xfrm>
            <a:off x="4914926" y="3295623"/>
            <a:ext cx="35292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decimal places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57"/>
          <p:cNvSpPr/>
          <p:nvPr/>
        </p:nvSpPr>
        <p:spPr>
          <a:xfrm>
            <a:off x="324000" y="4160373"/>
            <a:ext cx="40125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Capacity of a mug in millilitres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157"/>
          <p:cNvSpPr/>
          <p:nvPr/>
        </p:nvSpPr>
        <p:spPr>
          <a:xfrm>
            <a:off x="4914926" y="4160373"/>
            <a:ext cx="3529200" cy="65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decimal places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15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903" name="Google Shape;1903;p157"/>
          <p:cNvSpPr txBox="1"/>
          <p:nvPr>
            <p:ph idx="1" type="body"/>
          </p:nvPr>
        </p:nvSpPr>
        <p:spPr>
          <a:xfrm>
            <a:off x="324000" y="759300"/>
            <a:ext cx="8237700" cy="6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Match each statement to the most appropriate </a:t>
            </a:r>
            <a:r>
              <a:rPr b="1" lang="en-GB"/>
              <a:t>degree of accuracy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909" name="Google Shape;1909;p158"/>
          <p:cNvSpPr txBox="1"/>
          <p:nvPr>
            <p:ph idx="1" type="body"/>
          </p:nvPr>
        </p:nvSpPr>
        <p:spPr>
          <a:xfrm>
            <a:off x="369793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 Answer the following, making sure that you carefully consider the appropriate </a:t>
            </a:r>
            <a:r>
              <a:rPr b="1" lang="en-GB"/>
              <a:t>degree of accuracy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Izzy collects 100 eggs.  Boxes hold 6 eggs.  How many boxes does Izzy need for all her eggs? </a:t>
            </a:r>
            <a:br>
              <a:rPr lang="en-GB"/>
            </a:b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Jun decides to share his bag of 200 sweets with Sofia and Sam.  They each get the same number of sweets.  How many do they each get?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915" name="Google Shape;1915;p1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 Answer the following, making sure that you carefully consider the appropriate </a:t>
            </a:r>
            <a:r>
              <a:rPr b="1" lang="en-GB"/>
              <a:t>degree of accuracy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 Aisha has baked 150 cookies for the school fete. She is putting them into boxes of 4. How many boxes can Aisha make?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  A group of 56 scouts are going on a camping trip. Each tent sleeps 6. How many tents are needed for the scouts?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160"/>
          <p:cNvSpPr/>
          <p:nvPr/>
        </p:nvSpPr>
        <p:spPr>
          <a:xfrm>
            <a:off x="324000" y="1620000"/>
            <a:ext cx="39939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number of sweets in a bag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60"/>
          <p:cNvSpPr/>
          <p:nvPr/>
        </p:nvSpPr>
        <p:spPr>
          <a:xfrm>
            <a:off x="4821641" y="3320808"/>
            <a:ext cx="35130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ten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60"/>
          <p:cNvSpPr/>
          <p:nvPr/>
        </p:nvSpPr>
        <p:spPr>
          <a:xfrm>
            <a:off x="324000" y="2470404"/>
            <a:ext cx="39939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population of the UK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60"/>
          <p:cNvSpPr/>
          <p:nvPr/>
        </p:nvSpPr>
        <p:spPr>
          <a:xfrm>
            <a:off x="4821641" y="1620000"/>
            <a:ext cx="35130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million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60"/>
          <p:cNvSpPr/>
          <p:nvPr/>
        </p:nvSpPr>
        <p:spPr>
          <a:xfrm>
            <a:off x="324000" y="3320808"/>
            <a:ext cx="39939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number of people at a national sporting event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60"/>
          <p:cNvSpPr/>
          <p:nvPr/>
        </p:nvSpPr>
        <p:spPr>
          <a:xfrm>
            <a:off x="4821641" y="4171211"/>
            <a:ext cx="35130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thousand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60"/>
          <p:cNvSpPr/>
          <p:nvPr/>
        </p:nvSpPr>
        <p:spPr>
          <a:xfrm>
            <a:off x="324000" y="4171211"/>
            <a:ext cx="39939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 of a holiday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60"/>
          <p:cNvSpPr/>
          <p:nvPr/>
        </p:nvSpPr>
        <p:spPr>
          <a:xfrm>
            <a:off x="4821641" y="2470404"/>
            <a:ext cx="3513000" cy="64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hundred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929" name="Google Shape;1929;p160"/>
          <p:cNvSpPr txBox="1"/>
          <p:nvPr>
            <p:ph idx="1" type="body"/>
          </p:nvPr>
        </p:nvSpPr>
        <p:spPr>
          <a:xfrm>
            <a:off x="324000" y="759300"/>
            <a:ext cx="82377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</a:t>
            </a:r>
            <a:r>
              <a:rPr lang="en-GB"/>
              <a:t> each statement to the most appropriate </a:t>
            </a:r>
            <a:r>
              <a:rPr b="1" lang="en-GB"/>
              <a:t>degree of accuracy</a:t>
            </a:r>
            <a:r>
              <a:rPr lang="en-GB"/>
              <a:t>.</a:t>
            </a:r>
            <a:r>
              <a:rPr lang="en-GB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holiday could be nearest hundred or thousand.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30" name="Google Shape;1930;p160"/>
          <p:cNvCxnSpPr>
            <a:endCxn id="1921" idx="1"/>
          </p:cNvCxnSpPr>
          <p:nvPr/>
        </p:nvCxnSpPr>
        <p:spPr>
          <a:xfrm>
            <a:off x="4317941" y="1941558"/>
            <a:ext cx="503700" cy="1700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160"/>
          <p:cNvCxnSpPr>
            <a:endCxn id="1923" idx="1"/>
          </p:cNvCxnSpPr>
          <p:nvPr/>
        </p:nvCxnSpPr>
        <p:spPr>
          <a:xfrm flipH="1" rot="10800000">
            <a:off x="4317941" y="1941450"/>
            <a:ext cx="503700" cy="850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2" name="Google Shape;1932;p160"/>
          <p:cNvCxnSpPr>
            <a:stCxn id="1924" idx="3"/>
            <a:endCxn id="1925" idx="1"/>
          </p:cNvCxnSpPr>
          <p:nvPr/>
        </p:nvCxnSpPr>
        <p:spPr>
          <a:xfrm>
            <a:off x="4317900" y="3642258"/>
            <a:ext cx="503700" cy="85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3" name="Google Shape;1933;p160"/>
          <p:cNvCxnSpPr>
            <a:stCxn id="1926" idx="3"/>
          </p:cNvCxnSpPr>
          <p:nvPr/>
        </p:nvCxnSpPr>
        <p:spPr>
          <a:xfrm flipH="1" rot="10800000">
            <a:off x="4317900" y="2765561"/>
            <a:ext cx="503700" cy="1727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160"/>
          <p:cNvCxnSpPr>
            <a:stCxn id="1926" idx="3"/>
            <a:endCxn id="1925" idx="1"/>
          </p:cNvCxnSpPr>
          <p:nvPr/>
        </p:nvCxnSpPr>
        <p:spPr>
          <a:xfrm>
            <a:off x="4317900" y="4492661"/>
            <a:ext cx="503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161"/>
          <p:cNvSpPr/>
          <p:nvPr/>
        </p:nvSpPr>
        <p:spPr>
          <a:xfrm>
            <a:off x="324000" y="1563250"/>
            <a:ext cx="40170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Length of a pencil in centimetres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61"/>
          <p:cNvSpPr/>
          <p:nvPr/>
        </p:nvSpPr>
        <p:spPr>
          <a:xfrm>
            <a:off x="4920099" y="1563250"/>
            <a:ext cx="35334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Nearest integer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61"/>
          <p:cNvSpPr/>
          <p:nvPr/>
        </p:nvSpPr>
        <p:spPr>
          <a:xfrm>
            <a:off x="324000" y="2428765"/>
            <a:ext cx="40170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length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of a piece of ribbon in metres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61"/>
          <p:cNvSpPr/>
          <p:nvPr/>
        </p:nvSpPr>
        <p:spPr>
          <a:xfrm>
            <a:off x="4920099" y="2428765"/>
            <a:ext cx="35334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 decimal place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61"/>
          <p:cNvSpPr/>
          <p:nvPr/>
        </p:nvSpPr>
        <p:spPr>
          <a:xfrm>
            <a:off x="324000" y="3294279"/>
            <a:ext cx="40170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Width of a doorway in metres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61"/>
          <p:cNvSpPr/>
          <p:nvPr/>
        </p:nvSpPr>
        <p:spPr>
          <a:xfrm>
            <a:off x="4920099" y="3294279"/>
            <a:ext cx="35334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decimal places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61"/>
          <p:cNvSpPr/>
          <p:nvPr/>
        </p:nvSpPr>
        <p:spPr>
          <a:xfrm>
            <a:off x="324000" y="4159794"/>
            <a:ext cx="40170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Capacity of a mug in millilitres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161"/>
          <p:cNvSpPr/>
          <p:nvPr/>
        </p:nvSpPr>
        <p:spPr>
          <a:xfrm>
            <a:off x="4920099" y="4159794"/>
            <a:ext cx="3533400" cy="65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decimal places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cxnSp>
        <p:nvCxnSpPr>
          <p:cNvPr id="1948" name="Google Shape;1948;p161"/>
          <p:cNvCxnSpPr>
            <a:stCxn id="1939" idx="3"/>
            <a:endCxn id="1942" idx="1"/>
          </p:cNvCxnSpPr>
          <p:nvPr/>
        </p:nvCxnSpPr>
        <p:spPr>
          <a:xfrm>
            <a:off x="4341000" y="1890550"/>
            <a:ext cx="579000" cy="865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9" name="Google Shape;1949;p161"/>
          <p:cNvCxnSpPr/>
          <p:nvPr/>
        </p:nvCxnSpPr>
        <p:spPr>
          <a:xfrm>
            <a:off x="4341063" y="2756030"/>
            <a:ext cx="579000" cy="865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0" name="Google Shape;1950;p161"/>
          <p:cNvCxnSpPr/>
          <p:nvPr/>
        </p:nvCxnSpPr>
        <p:spPr>
          <a:xfrm>
            <a:off x="4341063" y="3621545"/>
            <a:ext cx="579000" cy="865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161"/>
          <p:cNvCxnSpPr>
            <a:endCxn id="1940" idx="1"/>
          </p:cNvCxnSpPr>
          <p:nvPr/>
        </p:nvCxnSpPr>
        <p:spPr>
          <a:xfrm flipH="1" rot="10800000">
            <a:off x="4341099" y="1890550"/>
            <a:ext cx="579000" cy="2596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2" name="Google Shape;1952;p161"/>
          <p:cNvSpPr txBox="1"/>
          <p:nvPr>
            <p:ph idx="1" type="body"/>
          </p:nvPr>
        </p:nvSpPr>
        <p:spPr>
          <a:xfrm>
            <a:off x="324000" y="759300"/>
            <a:ext cx="82377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Match each statement to the most appropriate </a:t>
            </a:r>
            <a:r>
              <a:rPr b="1" lang="en-GB"/>
              <a:t>degree of accuracy</a:t>
            </a:r>
            <a:r>
              <a:rPr lang="en-GB"/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958" name="Google Shape;1958;p162"/>
          <p:cNvSpPr txBox="1"/>
          <p:nvPr>
            <p:ph idx="1" type="body"/>
          </p:nvPr>
        </p:nvSpPr>
        <p:spPr>
          <a:xfrm>
            <a:off x="324000" y="812217"/>
            <a:ext cx="8237700" cy="4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 Answer the following, making sure that you carefully consider the appropriate </a:t>
            </a:r>
            <a:r>
              <a:rPr b="1" lang="en-GB"/>
              <a:t>degree of accuracy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Izzy collects 100 eggs. Boxes hold 6 eggs. How many boxes does Izzy need for all her eggs?  </a:t>
            </a:r>
            <a:br>
              <a:rPr lang="en-GB"/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100 ÷ 6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16.667, Izzy needs 17 boxes.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Jun decides to share his bag of 200 sweets with Sofia and Sam. They each get the same number of sweets.  How </a:t>
            </a:r>
            <a:r>
              <a:rPr lang="en-GB"/>
              <a:t>many do they each get?</a:t>
            </a:r>
            <a:br>
              <a:rPr lang="en-GB"/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200 ÷ 3 = 66.667, they each get 66 sweets.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964" name="Google Shape;1964;p163"/>
          <p:cNvSpPr txBox="1"/>
          <p:nvPr>
            <p:ph idx="1" type="body"/>
          </p:nvPr>
        </p:nvSpPr>
        <p:spPr>
          <a:xfrm>
            <a:off x="324000" y="835500"/>
            <a:ext cx="8237700" cy="36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 Answer the following, making sure that you carefully consider the appropriate </a:t>
            </a:r>
            <a:r>
              <a:rPr b="1" lang="en-GB"/>
              <a:t>degree of accuracy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 Aisha has baked 150 cookies for the school fete. She is putting them into boxes of 4. How many boxes can Aisha make?  </a:t>
            </a:r>
            <a:br>
              <a:rPr lang="en-GB"/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150 ÷ 4 =37.5, Aisha can make 37 boxes of cookies.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d)   A group of 56 scouts are going on a camping trip. Each tent sleeps 6. How many tents are needed for the scouts</a:t>
            </a:r>
            <a:r>
              <a:rPr lang="en-GB"/>
              <a:t>?  </a:t>
            </a:r>
            <a:br>
              <a:rPr lang="en-GB"/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÷ 6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9.333, they will need 10 tents.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64"/>
          <p:cNvSpPr txBox="1"/>
          <p:nvPr>
            <p:ph idx="1" type="body"/>
          </p:nvPr>
        </p:nvSpPr>
        <p:spPr>
          <a:xfrm>
            <a:off x="324000" y="8514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Using our method of rounding we are able to make </a:t>
            </a:r>
            <a:r>
              <a:rPr b="1" lang="en-GB" sz="1900"/>
              <a:t>conjectures</a:t>
            </a:r>
            <a:r>
              <a:rPr lang="en-GB" sz="1900"/>
              <a:t> about the unrounded numbers.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 </a:t>
            </a:r>
            <a:r>
              <a:rPr b="1" lang="en-GB" sz="1900"/>
              <a:t>degree of accuracy</a:t>
            </a:r>
            <a:r>
              <a:rPr lang="en-GB" sz="1900"/>
              <a:t> often depends on the context of the question.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In some contexts, numbers which would normally round down have to round up. E.g. To pay for a £10 gift you would round up.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                               £10 </a:t>
            </a:r>
            <a:r>
              <a:rPr lang="en-GB" sz="1900"/>
              <a:t>÷ 3 = 3.333333, rounds up to £3.34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In some contexts, numbers which would normally round up have to round down.  E.g. To make necklaces of 15 beads you would round down.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                               100 ÷ 15 = 6.667, rounds down to 6 necklaces</a:t>
            </a:r>
            <a:endParaRPr sz="1900"/>
          </a:p>
        </p:txBody>
      </p:sp>
      <p:sp>
        <p:nvSpPr>
          <p:cNvPr id="1970" name="Google Shape;1970;p16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Securing understanding of rounding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16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76" name="Google Shape;1976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