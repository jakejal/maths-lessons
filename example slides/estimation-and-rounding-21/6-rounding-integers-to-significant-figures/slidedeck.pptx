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0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D09EF18-5ACF-4CC7-AAE3-DCCC7F87C52F}">
  <a:tblStyle styleId="{7D09EF18-5ACF-4CC7-AAE3-DCCC7F87C52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8" name="Google Shape;758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3" name="Google Shape;763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g2afc9fd27b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8" name="Google Shape;768;g2afc9fd27b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a93c6b89d6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a93c6b89d6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0" name="Shape 7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1" name="Google Shape;781;g2ae1ecc7660_0_7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2" name="Google Shape;782;g2ae1ecc7660_0_7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g2ae1ecc7660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4" name="Google Shape;804;g2ae1ecc7660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ae1ecc7660_0_7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ae1ecc7660_0_7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0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Google Shape;841;g2ae1ecc7660_0_8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ae1ecc7660_0_8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6" name="Shape 8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7" name="Google Shape;857;g2ae1ecc7660_0_8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8" name="Google Shape;858;g2ae1ecc7660_0_8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8" name="Shape 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9" name="Google Shape;879;g2ae1ecc7660_0_8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0" name="Google Shape;880;g2ae1ecc7660_0_8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2ae1ecc7660_0_16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2ae1ecc7660_0_1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ae1ecc7660_0_1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ae1ecc7660_0_1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9" name="Shape 9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Google Shape;950;g2ae1ecc7660_0_16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1" name="Google Shape;951;g2ae1ecc7660_0_16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g2ae1ecc7660_0_16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6" name="Google Shape;996;g2ae1ecc7660_0_16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9" name="Shape 1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Google Shape;1040;g2ae1ecc894a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1" name="Google Shape;1041;g2ae1ecc894a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2ae1ecc894a_2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2ae1ecc894a_2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2ae1ecc894a_0_16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2ae1ecc894a_0_16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6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Google Shape;1077;g2ae1ecc894a_0_16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8" name="Google Shape;1078;g2ae1ecc894a_0_16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3" name="Shape 1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4" name="Google Shape;1084;g2ae1ecc894a_2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5" name="Google Shape;1085;g2ae1ecc894a_2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2ae1ecc894a_0_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2ae1ecc894a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2ae1ecc894a_0_1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2ae1ecc894a_0_1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5" name="Shape 1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" name="Google Shape;1116;g2acea828afc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7" name="Google Shape;1117;g2acea828af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3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2ae1ecc894a_0_16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2ae1ecc894a_0_16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9" name="Shape 1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" name="Google Shape;1160;g2ae1ecc894a_0_25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1" name="Google Shape;1161;g2ae1ecc894a_0_25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2" name="Shape 1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3" name="Google Shape;1193;g2ae1ecc894a_0_26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4" name="Google Shape;1194;g2ae1ecc894a_0_26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8" name="Shape 1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" name="Google Shape;1229;g2ae1ecc894a_0_1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0" name="Google Shape;1230;g2ae1ecc894a_0_1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g2ae1ecc894a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0" name="Google Shape;1250;g2ae1ecc894a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g2ae1ecc894a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2ae1ecc894a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3" name="Shape 1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4" name="Google Shape;1304;g2ae1ecc894a_1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5" name="Google Shape;1305;g2ae1ecc894a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4" name="Shape 1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5" name="Google Shape;1325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6" name="Google Shape;1326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8" name="Shape 1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9" name="Google Shape;1339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0" name="Google Shape;1340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4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1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6.png"/><Relationship Id="rId4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25.png"/><Relationship Id="rId5" Type="http://schemas.openxmlformats.org/officeDocument/2006/relationships/image" Target="../media/image1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4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5.png"/><Relationship Id="rId6" Type="http://schemas.openxmlformats.org/officeDocument/2006/relationships/image" Target="../media/image20.png"/><Relationship Id="rId7" Type="http://schemas.openxmlformats.org/officeDocument/2006/relationships/image" Target="../media/image23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Relationship Id="rId3" Type="http://schemas.openxmlformats.org/officeDocument/2006/relationships/image" Target="../media/image21.png"/><Relationship Id="rId4" Type="http://schemas.openxmlformats.org/officeDocument/2006/relationships/image" Target="../media/image72.png"/><Relationship Id="rId5" Type="http://schemas.openxmlformats.org/officeDocument/2006/relationships/image" Target="../media/image26.png"/><Relationship Id="rId6" Type="http://schemas.openxmlformats.org/officeDocument/2006/relationships/image" Target="../media/image34.png"/><Relationship Id="rId7" Type="http://schemas.openxmlformats.org/officeDocument/2006/relationships/image" Target="../media/image14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72.png"/><Relationship Id="rId4" Type="http://schemas.openxmlformats.org/officeDocument/2006/relationships/image" Target="../media/image19.png"/><Relationship Id="rId9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30.png"/><Relationship Id="rId7" Type="http://schemas.openxmlformats.org/officeDocument/2006/relationships/image" Target="../media/image26.png"/><Relationship Id="rId8" Type="http://schemas.openxmlformats.org/officeDocument/2006/relationships/image" Target="../media/image34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2.png"/><Relationship Id="rId3" Type="http://schemas.openxmlformats.org/officeDocument/2006/relationships/image" Target="../media/image72.png"/><Relationship Id="rId4" Type="http://schemas.openxmlformats.org/officeDocument/2006/relationships/image" Target="../media/image27.png"/><Relationship Id="rId11" Type="http://schemas.openxmlformats.org/officeDocument/2006/relationships/image" Target="../media/image14.png"/><Relationship Id="rId10" Type="http://schemas.openxmlformats.org/officeDocument/2006/relationships/image" Target="../media/image38.png"/><Relationship Id="rId9" Type="http://schemas.openxmlformats.org/officeDocument/2006/relationships/image" Target="../media/image34.png"/><Relationship Id="rId5" Type="http://schemas.openxmlformats.org/officeDocument/2006/relationships/image" Target="../media/image19.png"/><Relationship Id="rId6" Type="http://schemas.openxmlformats.org/officeDocument/2006/relationships/image" Target="../media/image21.png"/><Relationship Id="rId7" Type="http://schemas.openxmlformats.org/officeDocument/2006/relationships/image" Target="../media/image30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5.png"/><Relationship Id="rId4" Type="http://schemas.openxmlformats.org/officeDocument/2006/relationships/image" Target="../media/image41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6.png"/><Relationship Id="rId4" Type="http://schemas.openxmlformats.org/officeDocument/2006/relationships/image" Target="../media/image41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1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1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1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1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47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47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4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7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Relationship Id="rId3" Type="http://schemas.openxmlformats.org/officeDocument/2006/relationships/image" Target="../media/image50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50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50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50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767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53" name="Google Shape;653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5" name="Google Shape;655;p4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6" name="Google Shape;656;p4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2" name="Google Shape;662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63" name="Google Shape;663;p4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64" name="Google Shape;664;p4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0" name="Google Shape;670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1" name="Google Shape;671;p5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72" name="Google Shape;672;p5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78" name="Google Shape;678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9" name="Google Shape;679;p5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0" name="Google Shape;680;p5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85" name="Google Shape;685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7" name="Google Shape;687;p5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88" name="Google Shape;688;p5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4" name="Google Shape;694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6" name="Google Shape;696;p5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2" name="Google Shape;702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03" name="Google Shape;703;p5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4" name="Google Shape;704;p5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0" name="Google Shape;710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2" name="Google Shape;712;p5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3" Type="http://schemas.openxmlformats.org/officeDocument/2006/relationships/theme" Target="../theme/theme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2.png"/><Relationship Id="rId4" Type="http://schemas.openxmlformats.org/officeDocument/2006/relationships/image" Target="../media/image54.png"/><Relationship Id="rId5" Type="http://schemas.openxmlformats.org/officeDocument/2006/relationships/image" Target="../media/image5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4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4.png"/><Relationship Id="rId4" Type="http://schemas.openxmlformats.org/officeDocument/2006/relationships/image" Target="../media/image53.png"/><Relationship Id="rId5" Type="http://schemas.openxmlformats.org/officeDocument/2006/relationships/image" Target="../media/image5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8.png"/><Relationship Id="rId5" Type="http://schemas.openxmlformats.org/officeDocument/2006/relationships/image" Target="../media/image60.png"/><Relationship Id="rId6" Type="http://schemas.openxmlformats.org/officeDocument/2006/relationships/image" Target="../media/image63.png"/><Relationship Id="rId7" Type="http://schemas.openxmlformats.org/officeDocument/2006/relationships/image" Target="../media/image57.png"/><Relationship Id="rId8" Type="http://schemas.openxmlformats.org/officeDocument/2006/relationships/image" Target="../media/image65.png"/><Relationship Id="rId11" Type="http://schemas.openxmlformats.org/officeDocument/2006/relationships/image" Target="../media/image59.png"/><Relationship Id="rId10" Type="http://schemas.openxmlformats.org/officeDocument/2006/relationships/image" Target="../media/image62.png"/><Relationship Id="rId13" Type="http://schemas.openxmlformats.org/officeDocument/2006/relationships/image" Target="../media/image64.png"/><Relationship Id="rId12" Type="http://schemas.openxmlformats.org/officeDocument/2006/relationships/image" Target="../media/image61.png"/><Relationship Id="rId14" Type="http://schemas.openxmlformats.org/officeDocument/2006/relationships/image" Target="../media/image6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8.png"/><Relationship Id="rId5" Type="http://schemas.openxmlformats.org/officeDocument/2006/relationships/image" Target="../media/image60.png"/><Relationship Id="rId6" Type="http://schemas.openxmlformats.org/officeDocument/2006/relationships/image" Target="../media/image63.png"/><Relationship Id="rId7" Type="http://schemas.openxmlformats.org/officeDocument/2006/relationships/image" Target="../media/image57.png"/><Relationship Id="rId8" Type="http://schemas.openxmlformats.org/officeDocument/2006/relationships/image" Target="../media/image65.png"/><Relationship Id="rId11" Type="http://schemas.openxmlformats.org/officeDocument/2006/relationships/image" Target="../media/image59.png"/><Relationship Id="rId10" Type="http://schemas.openxmlformats.org/officeDocument/2006/relationships/image" Target="../media/image62.png"/><Relationship Id="rId13" Type="http://schemas.openxmlformats.org/officeDocument/2006/relationships/image" Target="../media/image64.png"/><Relationship Id="rId12" Type="http://schemas.openxmlformats.org/officeDocument/2006/relationships/image" Target="../media/image61.png"/><Relationship Id="rId14" Type="http://schemas.openxmlformats.org/officeDocument/2006/relationships/image" Target="../media/image6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58.png"/><Relationship Id="rId5" Type="http://schemas.openxmlformats.org/officeDocument/2006/relationships/image" Target="../media/image60.png"/><Relationship Id="rId6" Type="http://schemas.openxmlformats.org/officeDocument/2006/relationships/image" Target="../media/image63.png"/><Relationship Id="rId7" Type="http://schemas.openxmlformats.org/officeDocument/2006/relationships/image" Target="../media/image57.png"/><Relationship Id="rId8" Type="http://schemas.openxmlformats.org/officeDocument/2006/relationships/image" Target="../media/image65.png"/><Relationship Id="rId11" Type="http://schemas.openxmlformats.org/officeDocument/2006/relationships/image" Target="../media/image59.png"/><Relationship Id="rId10" Type="http://schemas.openxmlformats.org/officeDocument/2006/relationships/image" Target="../media/image62.png"/><Relationship Id="rId13" Type="http://schemas.openxmlformats.org/officeDocument/2006/relationships/image" Target="../media/image64.png"/><Relationship Id="rId12" Type="http://schemas.openxmlformats.org/officeDocument/2006/relationships/image" Target="../media/image61.png"/><Relationship Id="rId14" Type="http://schemas.openxmlformats.org/officeDocument/2006/relationships/image" Target="../media/image6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2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2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7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6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integers to significant figures</a:t>
            </a:r>
            <a:endParaRPr/>
          </a:p>
        </p:txBody>
      </p:sp>
      <p:sp>
        <p:nvSpPr>
          <p:cNvPr id="755" name="Google Shape;755;p6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Estimation and rounding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64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p65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round integers to a required number of significant figures.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66"/>
          <p:cNvSpPr txBox="1"/>
          <p:nvPr>
            <p:ph idx="1" type="subTitle"/>
          </p:nvPr>
        </p:nvSpPr>
        <p:spPr>
          <a:xfrm>
            <a:off x="306950" y="2741400"/>
            <a:ext cx="7767300" cy="1578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Round − To change a number into another number that is approximately the same value but is easier to work with. E.g. Round 561 to the nearest 10 is 560. 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-GB"/>
              <a:t> </a:t>
            </a:r>
            <a:endParaRPr b="0"/>
          </a:p>
        </p:txBody>
      </p:sp>
      <p:sp>
        <p:nvSpPr>
          <p:cNvPr id="771" name="Google Shape;771;p66"/>
          <p:cNvSpPr txBox="1"/>
          <p:nvPr/>
        </p:nvSpPr>
        <p:spPr>
          <a:xfrm>
            <a:off x="306950" y="1066800"/>
            <a:ext cx="7833300" cy="11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Significant figures are the digits in a number that contribute to the accuracy of the number. The first significant figure</a:t>
            </a:r>
            <a:r>
              <a:rPr lang="en-GB"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 is the first non-zero digit. 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6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777" name="Google Shape;777;p6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significant figures</a:t>
            </a:r>
            <a:endParaRPr/>
          </a:p>
        </p:txBody>
      </p:sp>
      <p:sp>
        <p:nvSpPr>
          <p:cNvPr id="778" name="Google Shape;778;p6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integers to significant figures</a:t>
            </a:r>
            <a:endParaRPr/>
          </a:p>
        </p:txBody>
      </p:sp>
      <p:pic>
        <p:nvPicPr>
          <p:cNvPr id="779" name="Google Shape;779;p6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40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3" name="Shape 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4" name="Google Shape;784;p6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785" name="Google Shape;785;p68"/>
          <p:cNvSpPr txBox="1"/>
          <p:nvPr>
            <p:ph idx="1" type="body"/>
          </p:nvPr>
        </p:nvSpPr>
        <p:spPr>
          <a:xfrm>
            <a:off x="324000" y="606900"/>
            <a:ext cx="8237700" cy="219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Andeep and Laura know how to round to one significant figure.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They are now looking at how to round to more than one </a:t>
            </a:r>
            <a:r>
              <a:rPr lang="en-GB">
                <a:solidFill>
                  <a:srgbClr val="000000"/>
                </a:solidFill>
              </a:rPr>
              <a:t>significant figure.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solidFill>
                  <a:srgbClr val="000000"/>
                </a:solidFill>
              </a:rPr>
              <a:t>They are going to round 34 702 to two significant figures.</a:t>
            </a:r>
            <a:endParaRPr>
              <a:solidFill>
                <a:srgbClr val="000000"/>
              </a:solidFill>
            </a:endParaRPr>
          </a:p>
        </p:txBody>
      </p:sp>
      <p:grpSp>
        <p:nvGrpSpPr>
          <p:cNvPr id="786" name="Google Shape;786;p68"/>
          <p:cNvGrpSpPr/>
          <p:nvPr/>
        </p:nvGrpSpPr>
        <p:grpSpPr>
          <a:xfrm>
            <a:off x="4405600" y="2797275"/>
            <a:ext cx="3220849" cy="1576075"/>
            <a:chOff x="7987000" y="1501875"/>
            <a:chExt cx="3220849" cy="1576075"/>
          </a:xfrm>
        </p:grpSpPr>
        <p:pic>
          <p:nvPicPr>
            <p:cNvPr id="787" name="Google Shape;787;p68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7987000" y="1501875"/>
              <a:ext cx="3220849" cy="15760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8" name="Google Shape;788;p68"/>
            <p:cNvSpPr txBox="1"/>
            <p:nvPr/>
          </p:nvSpPr>
          <p:spPr>
            <a:xfrm>
              <a:off x="8184925" y="1604175"/>
              <a:ext cx="2641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agree Andeep, and the second significant figure is in the thousands column.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89" name="Google Shape;789;p68"/>
          <p:cNvGrpSpPr/>
          <p:nvPr/>
        </p:nvGrpSpPr>
        <p:grpSpPr>
          <a:xfrm>
            <a:off x="1337148" y="2747175"/>
            <a:ext cx="2415852" cy="1692400"/>
            <a:chOff x="-2091852" y="1756575"/>
            <a:chExt cx="2415852" cy="1692400"/>
          </a:xfrm>
        </p:grpSpPr>
        <p:pic>
          <p:nvPicPr>
            <p:cNvPr id="790" name="Google Shape;790;p68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-2091852" y="1756575"/>
              <a:ext cx="2415852" cy="169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1" name="Google Shape;791;p68"/>
            <p:cNvSpPr txBox="1"/>
            <p:nvPr/>
          </p:nvSpPr>
          <p:spPr>
            <a:xfrm>
              <a:off x="-1862808" y="1935188"/>
              <a:ext cx="2109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that the second significant figure is 4 as the first one is the 3.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792" name="Google Shape;792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325351" y="3490324"/>
            <a:ext cx="788350" cy="101656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6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497977" y="3448973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68"/>
          <p:cNvSpPr txBox="1"/>
          <p:nvPr/>
        </p:nvSpPr>
        <p:spPr>
          <a:xfrm>
            <a:off x="4292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95" name="Google Shape;795;p68"/>
          <p:cNvSpPr txBox="1"/>
          <p:nvPr/>
        </p:nvSpPr>
        <p:spPr>
          <a:xfrm>
            <a:off x="745920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796" name="Google Shape;796;p68"/>
          <p:cNvGrpSpPr/>
          <p:nvPr/>
        </p:nvGrpSpPr>
        <p:grpSpPr>
          <a:xfrm>
            <a:off x="1337149" y="2594765"/>
            <a:ext cx="2415852" cy="2040865"/>
            <a:chOff x="-2091852" y="1756575"/>
            <a:chExt cx="2415852" cy="1692400"/>
          </a:xfrm>
        </p:grpSpPr>
        <p:pic>
          <p:nvPicPr>
            <p:cNvPr id="797" name="Google Shape;797;p68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-2091852" y="1756575"/>
              <a:ext cx="2415852" cy="169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8" name="Google Shape;798;p68"/>
            <p:cNvSpPr txBox="1"/>
            <p:nvPr/>
          </p:nvSpPr>
          <p:spPr>
            <a:xfrm>
              <a:off x="-1862808" y="1935188"/>
              <a:ext cx="2109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 means we are going to round to the nearest thousand then?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99" name="Google Shape;799;p68"/>
          <p:cNvGrpSpPr/>
          <p:nvPr/>
        </p:nvGrpSpPr>
        <p:grpSpPr>
          <a:xfrm>
            <a:off x="5015200" y="3178275"/>
            <a:ext cx="2839425" cy="875100"/>
            <a:chOff x="7987000" y="1501875"/>
            <a:chExt cx="2839425" cy="875100"/>
          </a:xfrm>
        </p:grpSpPr>
        <p:pic>
          <p:nvPicPr>
            <p:cNvPr id="800" name="Google Shape;800;p68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7987000" y="1501875"/>
              <a:ext cx="2168177" cy="616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1" name="Google Shape;801;p68"/>
            <p:cNvSpPr txBox="1"/>
            <p:nvPr/>
          </p:nvSpPr>
          <p:spPr>
            <a:xfrm>
              <a:off x="8184925" y="1604175"/>
              <a:ext cx="2641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 that is right.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69"/>
          <p:cNvSpPr txBox="1"/>
          <p:nvPr>
            <p:ph idx="1" type="body"/>
          </p:nvPr>
        </p:nvSpPr>
        <p:spPr>
          <a:xfrm>
            <a:off x="1958700" y="1216500"/>
            <a:ext cx="52197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The 3</a:t>
            </a:r>
            <a:r>
              <a:rPr baseline="30000" lang="en-GB"/>
              <a:t>rd</a:t>
            </a:r>
            <a:r>
              <a:rPr lang="en-GB"/>
              <a:t> significant figure of 5678 is …</a:t>
            </a:r>
            <a:endParaRPr/>
          </a:p>
        </p:txBody>
      </p:sp>
      <p:pic>
        <p:nvPicPr>
          <p:cNvPr id="807" name="Google Shape;807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5351" y="34903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08" name="Google Shape;808;p69"/>
          <p:cNvSpPr txBox="1"/>
          <p:nvPr/>
        </p:nvSpPr>
        <p:spPr>
          <a:xfrm>
            <a:off x="4292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09" name="Google Shape;809;p69"/>
          <p:cNvGrpSpPr/>
          <p:nvPr/>
        </p:nvGrpSpPr>
        <p:grpSpPr>
          <a:xfrm>
            <a:off x="1238373" y="2224566"/>
            <a:ext cx="3053153" cy="2040865"/>
            <a:chOff x="-2091852" y="1756575"/>
            <a:chExt cx="2415852" cy="1692400"/>
          </a:xfrm>
        </p:grpSpPr>
        <p:pic>
          <p:nvPicPr>
            <p:cNvPr id="810" name="Google Shape;810;p6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-2091852" y="1756575"/>
              <a:ext cx="2415852" cy="169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1" name="Google Shape;811;p69"/>
            <p:cNvSpPr txBox="1"/>
            <p:nvPr/>
          </p:nvSpPr>
          <p:spPr>
            <a:xfrm>
              <a:off x="-1862808" y="1935188"/>
              <a:ext cx="2109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would like to practise identifying the correct digit in a number for different significant figures.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12" name="Google Shape;812;p69"/>
          <p:cNvGrpSpPr/>
          <p:nvPr/>
        </p:nvGrpSpPr>
        <p:grpSpPr>
          <a:xfrm>
            <a:off x="5625225" y="3025875"/>
            <a:ext cx="1832025" cy="875099"/>
            <a:chOff x="7986994" y="1501875"/>
            <a:chExt cx="3220859" cy="875099"/>
          </a:xfrm>
        </p:grpSpPr>
        <p:pic>
          <p:nvPicPr>
            <p:cNvPr id="813" name="Google Shape;813;p6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7986994" y="1501875"/>
              <a:ext cx="3220859" cy="875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4" name="Google Shape;814;p69"/>
            <p:cNvSpPr txBox="1"/>
            <p:nvPr/>
          </p:nvSpPr>
          <p:spPr>
            <a:xfrm>
              <a:off x="8184925" y="1543125"/>
              <a:ext cx="26415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Try these Andeep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15" name="Google Shape;815;p6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497977" y="3448973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745920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17" name="Google Shape;817;p69"/>
          <p:cNvGrpSpPr/>
          <p:nvPr/>
        </p:nvGrpSpPr>
        <p:grpSpPr>
          <a:xfrm>
            <a:off x="1440274" y="3393764"/>
            <a:ext cx="2415852" cy="507212"/>
            <a:chOff x="-2091852" y="1756575"/>
            <a:chExt cx="2415852" cy="1692400"/>
          </a:xfrm>
        </p:grpSpPr>
        <p:pic>
          <p:nvPicPr>
            <p:cNvPr id="818" name="Google Shape;818;p6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-2091852" y="1756575"/>
              <a:ext cx="2415852" cy="169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19" name="Google Shape;819;p69"/>
            <p:cNvSpPr txBox="1"/>
            <p:nvPr/>
          </p:nvSpPr>
          <p:spPr>
            <a:xfrm>
              <a:off x="-1862808" y="1782409"/>
              <a:ext cx="2109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it is the 7.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20" name="Google Shape;820;p69"/>
          <p:cNvGrpSpPr/>
          <p:nvPr/>
        </p:nvGrpSpPr>
        <p:grpSpPr>
          <a:xfrm>
            <a:off x="5331906" y="3057298"/>
            <a:ext cx="2243978" cy="875099"/>
            <a:chOff x="7986994" y="1501875"/>
            <a:chExt cx="3220867" cy="875099"/>
          </a:xfrm>
        </p:grpSpPr>
        <p:pic>
          <p:nvPicPr>
            <p:cNvPr id="821" name="Google Shape;821;p69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7986994" y="1501875"/>
              <a:ext cx="3220859" cy="875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2" name="Google Shape;822;p69"/>
            <p:cNvSpPr txBox="1"/>
            <p:nvPr/>
          </p:nvSpPr>
          <p:spPr>
            <a:xfrm>
              <a:off x="8185062" y="1553014"/>
              <a:ext cx="3022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Yes, that is right.  Well done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23" name="Google Shape;823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70"/>
          <p:cNvSpPr txBox="1"/>
          <p:nvPr>
            <p:ph idx="1" type="body"/>
          </p:nvPr>
        </p:nvSpPr>
        <p:spPr>
          <a:xfrm>
            <a:off x="1763400" y="1216500"/>
            <a:ext cx="5617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The 2</a:t>
            </a:r>
            <a:r>
              <a:rPr baseline="30000" lang="en-GB"/>
              <a:t>nd</a:t>
            </a:r>
            <a:r>
              <a:rPr lang="en-GB"/>
              <a:t> significant figure of 12 345 is …</a:t>
            </a:r>
            <a:endParaRPr/>
          </a:p>
        </p:txBody>
      </p:sp>
      <p:pic>
        <p:nvPicPr>
          <p:cNvPr id="829" name="Google Shape;829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5351" y="34903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30" name="Google Shape;830;p70"/>
          <p:cNvSpPr txBox="1"/>
          <p:nvPr/>
        </p:nvSpPr>
        <p:spPr>
          <a:xfrm>
            <a:off x="4292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31" name="Google Shape;831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497977" y="3448973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70"/>
          <p:cNvSpPr txBox="1"/>
          <p:nvPr/>
        </p:nvSpPr>
        <p:spPr>
          <a:xfrm>
            <a:off x="745920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33" name="Google Shape;833;p70"/>
          <p:cNvGrpSpPr/>
          <p:nvPr/>
        </p:nvGrpSpPr>
        <p:grpSpPr>
          <a:xfrm>
            <a:off x="1440274" y="3393764"/>
            <a:ext cx="2415852" cy="507212"/>
            <a:chOff x="-2091852" y="1756575"/>
            <a:chExt cx="2415852" cy="1692400"/>
          </a:xfrm>
        </p:grpSpPr>
        <p:pic>
          <p:nvPicPr>
            <p:cNvPr id="834" name="Google Shape;834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-2091852" y="1756575"/>
              <a:ext cx="2415852" cy="169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5" name="Google Shape;835;p70"/>
            <p:cNvSpPr txBox="1"/>
            <p:nvPr/>
          </p:nvSpPr>
          <p:spPr>
            <a:xfrm>
              <a:off x="-1862808" y="1782409"/>
              <a:ext cx="2109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it is the 2.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36" name="Google Shape;836;p70"/>
          <p:cNvGrpSpPr/>
          <p:nvPr/>
        </p:nvGrpSpPr>
        <p:grpSpPr>
          <a:xfrm>
            <a:off x="5712602" y="2904898"/>
            <a:ext cx="1571779" cy="875099"/>
            <a:chOff x="7986994" y="1501875"/>
            <a:chExt cx="3220859" cy="875099"/>
          </a:xfrm>
        </p:grpSpPr>
        <p:pic>
          <p:nvPicPr>
            <p:cNvPr id="837" name="Google Shape;837;p70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7986994" y="1501875"/>
              <a:ext cx="3220859" cy="875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8" name="Google Shape;838;p70"/>
            <p:cNvSpPr txBox="1"/>
            <p:nvPr/>
          </p:nvSpPr>
          <p:spPr>
            <a:xfrm>
              <a:off x="8184918" y="1543126"/>
              <a:ext cx="3022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Well done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Andeep.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39" name="Google Shape;83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3" name="Shape 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4" name="Google Shape;844;p71"/>
          <p:cNvSpPr txBox="1"/>
          <p:nvPr>
            <p:ph idx="1" type="body"/>
          </p:nvPr>
        </p:nvSpPr>
        <p:spPr>
          <a:xfrm>
            <a:off x="1763400" y="1216500"/>
            <a:ext cx="5617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The 1</a:t>
            </a:r>
            <a:r>
              <a:rPr baseline="30000" lang="en-GB"/>
              <a:t>st</a:t>
            </a:r>
            <a:r>
              <a:rPr lang="en-GB"/>
              <a:t> significant figure of 67 is …</a:t>
            </a:r>
            <a:endParaRPr/>
          </a:p>
        </p:txBody>
      </p:sp>
      <p:pic>
        <p:nvPicPr>
          <p:cNvPr id="845" name="Google Shape;845;p7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5351" y="34903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46" name="Google Shape;846;p71"/>
          <p:cNvSpPr txBox="1"/>
          <p:nvPr/>
        </p:nvSpPr>
        <p:spPr>
          <a:xfrm>
            <a:off x="4292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7" name="Google Shape;847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497977" y="3448973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848" name="Google Shape;848;p71"/>
          <p:cNvSpPr txBox="1"/>
          <p:nvPr/>
        </p:nvSpPr>
        <p:spPr>
          <a:xfrm>
            <a:off x="745920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9" name="Google Shape;849;p71"/>
          <p:cNvGrpSpPr/>
          <p:nvPr/>
        </p:nvGrpSpPr>
        <p:grpSpPr>
          <a:xfrm>
            <a:off x="1440274" y="3393764"/>
            <a:ext cx="2415852" cy="507212"/>
            <a:chOff x="-2091852" y="1756575"/>
            <a:chExt cx="2415852" cy="1692400"/>
          </a:xfrm>
        </p:grpSpPr>
        <p:pic>
          <p:nvPicPr>
            <p:cNvPr id="850" name="Google Shape;850;p7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-2091852" y="1756575"/>
              <a:ext cx="2415852" cy="169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1" name="Google Shape;851;p71"/>
            <p:cNvSpPr txBox="1"/>
            <p:nvPr/>
          </p:nvSpPr>
          <p:spPr>
            <a:xfrm>
              <a:off x="-1862808" y="1782409"/>
              <a:ext cx="2109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think it is the 6.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52" name="Google Shape;852;p71"/>
          <p:cNvGrpSpPr/>
          <p:nvPr/>
        </p:nvGrpSpPr>
        <p:grpSpPr>
          <a:xfrm>
            <a:off x="5643121" y="2904870"/>
            <a:ext cx="1666769" cy="507207"/>
            <a:chOff x="7986994" y="1501875"/>
            <a:chExt cx="3271381" cy="875099"/>
          </a:xfrm>
        </p:grpSpPr>
        <p:pic>
          <p:nvPicPr>
            <p:cNvPr id="853" name="Google Shape;853;p71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7986994" y="1501875"/>
              <a:ext cx="3220859" cy="875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4" name="Google Shape;854;p71"/>
            <p:cNvSpPr txBox="1"/>
            <p:nvPr/>
          </p:nvSpPr>
          <p:spPr>
            <a:xfrm>
              <a:off x="8235575" y="1526776"/>
              <a:ext cx="30228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Right again.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5" name="Google Shape;855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9" name="Shape 8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Google Shape;860;p72"/>
          <p:cNvSpPr txBox="1"/>
          <p:nvPr>
            <p:ph idx="1" type="body"/>
          </p:nvPr>
        </p:nvSpPr>
        <p:spPr>
          <a:xfrm>
            <a:off x="1763400" y="1216500"/>
            <a:ext cx="56172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 The 3</a:t>
            </a:r>
            <a:r>
              <a:rPr baseline="30000" lang="en-GB"/>
              <a:t>rd</a:t>
            </a:r>
            <a:r>
              <a:rPr lang="en-GB"/>
              <a:t> significant figure of 203 568 is …</a:t>
            </a:r>
            <a:endParaRPr/>
          </a:p>
        </p:txBody>
      </p:sp>
      <p:pic>
        <p:nvPicPr>
          <p:cNvPr id="861" name="Google Shape;861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5351" y="3490324"/>
            <a:ext cx="788350" cy="1016564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2"/>
          <p:cNvSpPr txBox="1"/>
          <p:nvPr/>
        </p:nvSpPr>
        <p:spPr>
          <a:xfrm>
            <a:off x="4292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Andeep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3" name="Google Shape;863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497977" y="3448973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72"/>
          <p:cNvSpPr txBox="1"/>
          <p:nvPr/>
        </p:nvSpPr>
        <p:spPr>
          <a:xfrm>
            <a:off x="7459200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Laura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65" name="Google Shape;865;p72"/>
          <p:cNvGrpSpPr/>
          <p:nvPr/>
        </p:nvGrpSpPr>
        <p:grpSpPr>
          <a:xfrm>
            <a:off x="1364074" y="2327059"/>
            <a:ext cx="2415852" cy="1670907"/>
            <a:chOff x="-2091852" y="1756575"/>
            <a:chExt cx="2415852" cy="1692400"/>
          </a:xfrm>
        </p:grpSpPr>
        <p:pic>
          <p:nvPicPr>
            <p:cNvPr id="866" name="Google Shape;866;p7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-2091852" y="1756575"/>
              <a:ext cx="2415852" cy="169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67" name="Google Shape;867;p72"/>
            <p:cNvSpPr txBox="1"/>
            <p:nvPr/>
          </p:nvSpPr>
          <p:spPr>
            <a:xfrm>
              <a:off x="-1878171" y="1936770"/>
              <a:ext cx="2109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I’m not so sure on this one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 Does the zero count as significant?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68" name="Google Shape;868;p72"/>
          <p:cNvGrpSpPr/>
          <p:nvPr/>
        </p:nvGrpSpPr>
        <p:grpSpPr>
          <a:xfrm>
            <a:off x="4812490" y="2173651"/>
            <a:ext cx="2649866" cy="1760349"/>
            <a:chOff x="6057598" y="1441386"/>
            <a:chExt cx="5200914" cy="875099"/>
          </a:xfrm>
        </p:grpSpPr>
        <p:pic>
          <p:nvPicPr>
            <p:cNvPr id="869" name="Google Shape;869;p7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6057598" y="1441386"/>
              <a:ext cx="5120118" cy="875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0" name="Google Shape;870;p72"/>
            <p:cNvSpPr txBox="1"/>
            <p:nvPr/>
          </p:nvSpPr>
          <p:spPr>
            <a:xfrm>
              <a:off x="6379312" y="1526772"/>
              <a:ext cx="48792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 it does Andeep.  Any digit after the first significant figure is significant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1" name="Google Shape;871;p72"/>
          <p:cNvGrpSpPr/>
          <p:nvPr/>
        </p:nvGrpSpPr>
        <p:grpSpPr>
          <a:xfrm>
            <a:off x="1364074" y="3241328"/>
            <a:ext cx="2415852" cy="770550"/>
            <a:chOff x="-2091852" y="1756575"/>
            <a:chExt cx="2415852" cy="1692400"/>
          </a:xfrm>
        </p:grpSpPr>
        <p:pic>
          <p:nvPicPr>
            <p:cNvPr id="872" name="Google Shape;872;p7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-2091852" y="1756575"/>
              <a:ext cx="2415852" cy="1692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3" name="Google Shape;873;p72"/>
            <p:cNvSpPr txBox="1"/>
            <p:nvPr/>
          </p:nvSpPr>
          <p:spPr>
            <a:xfrm>
              <a:off x="-1862808" y="1782409"/>
              <a:ext cx="21096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 in this one it is the 3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4" name="Google Shape;874;p72"/>
          <p:cNvGrpSpPr/>
          <p:nvPr/>
        </p:nvGrpSpPr>
        <p:grpSpPr>
          <a:xfrm>
            <a:off x="4485116" y="2173650"/>
            <a:ext cx="3129596" cy="1760349"/>
            <a:chOff x="5265499" y="570139"/>
            <a:chExt cx="6142485" cy="875099"/>
          </a:xfrm>
        </p:grpSpPr>
        <p:pic>
          <p:nvPicPr>
            <p:cNvPr id="875" name="Google Shape;875;p72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265499" y="570139"/>
              <a:ext cx="6002698" cy="8750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6" name="Google Shape;876;p72"/>
            <p:cNvSpPr txBox="1"/>
            <p:nvPr/>
          </p:nvSpPr>
          <p:spPr>
            <a:xfrm>
              <a:off x="5585584" y="665531"/>
              <a:ext cx="5822400" cy="613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0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Andeep, you are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definitely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ready to start rounding to any number of significant figures.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77" name="Google Shape;877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883" name="Google Shape;883;p73"/>
          <p:cNvSpPr txBox="1"/>
          <p:nvPr>
            <p:ph idx="1" type="body"/>
          </p:nvPr>
        </p:nvSpPr>
        <p:spPr>
          <a:xfrm>
            <a:off x="324000" y="606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547 to two significant figures?</a:t>
            </a:r>
            <a:endParaRPr/>
          </a:p>
        </p:txBody>
      </p:sp>
      <p:graphicFrame>
        <p:nvGraphicFramePr>
          <p:cNvPr id="884" name="Google Shape;884;p73"/>
          <p:cNvGraphicFramePr/>
          <p:nvPr/>
        </p:nvGraphicFramePr>
        <p:xfrm>
          <a:off x="2159000" y="418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5" name="Google Shape;885;p73"/>
          <p:cNvSpPr txBox="1"/>
          <p:nvPr/>
        </p:nvSpPr>
        <p:spPr>
          <a:xfrm>
            <a:off x="1887840" y="3801825"/>
            <a:ext cx="5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54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6" name="Google Shape;886;p73"/>
          <p:cNvSpPr txBox="1"/>
          <p:nvPr/>
        </p:nvSpPr>
        <p:spPr>
          <a:xfrm>
            <a:off x="6734552" y="3801825"/>
            <a:ext cx="5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55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7" name="Google Shape;887;p73"/>
          <p:cNvSpPr txBox="1"/>
          <p:nvPr/>
        </p:nvSpPr>
        <p:spPr>
          <a:xfrm>
            <a:off x="4305512" y="3801825"/>
            <a:ext cx="5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54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8" name="Google Shape;888;p73"/>
          <p:cNvGraphicFramePr/>
          <p:nvPr/>
        </p:nvGraphicFramePr>
        <p:xfrm>
          <a:off x="1465001" y="96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89" name="Google Shape;889;p73"/>
          <p:cNvGrpSpPr/>
          <p:nvPr/>
        </p:nvGrpSpPr>
        <p:grpSpPr>
          <a:xfrm>
            <a:off x="1539376" y="969550"/>
            <a:ext cx="6284584" cy="883373"/>
            <a:chOff x="2484575" y="1655350"/>
            <a:chExt cx="6284584" cy="883373"/>
          </a:xfrm>
        </p:grpSpPr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90" name="Google Shape;890;p73" title="10 raised to the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90349" y="2262830"/>
              <a:ext cx="206250" cy="166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891" name="Google Shape;891;p73" title="10 square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42799" y="2189371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892" name="Google Shape;892;p73" title="10 cub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9324" y="2189371"/>
              <a:ext cx="300899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893" name="Google Shape;893;p73" title="10 to the fourth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78765" y="2189363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5&quot;&gt;&lt;msup&gt;&lt;mn&gt;10&lt;/mn&gt;&lt;mn&gt;5&lt;/mn&gt;&lt;/msup&gt;&lt;/math&gt;" id="894" name="Google Shape;894;p73" title="10 to the fifth power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925488" y="2189372"/>
              <a:ext cx="307440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895" name="Google Shape;895;p73" title="the fraction with numerator 1 and denominator 10 squared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263899" y="2156141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896" name="Google Shape;896;p73" title="the fraction with numerator 1 and denominator 10 cube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772333" y="2153303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897" name="Google Shape;897;p73" title="the fraction with numerator 1 and denominator 10 to the fourth power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199808" y="2152373"/>
              <a:ext cx="263983" cy="378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898" name="Google Shape;898;p73" title="one tenth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820825" y="2150563"/>
              <a:ext cx="198622" cy="366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899" name="Google Shape;899;p73" title="10 raised to the power"/>
            <p:cNvPicPr preferRelativeResize="0"/>
            <p:nvPr/>
          </p:nvPicPr>
          <p:blipFill rotWithShape="1">
            <a:blip r:embed="rId3">
              <a:alphaModFix/>
            </a:blip>
            <a:srcRect b="0" l="0" r="55789" t="0"/>
            <a:stretch/>
          </p:blipFill>
          <p:spPr>
            <a:xfrm>
              <a:off x="6393529" y="2238366"/>
              <a:ext cx="89650" cy="16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6&quot;&gt;&lt;msup&gt;&lt;mn&gt;10&lt;/mn&gt;&lt;mn&gt;6&lt;/mn&gt;&lt;/msup&gt;&lt;/math&gt;" id="900" name="Google Shape;900;p73" title="10 to the sixth power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427829" y="2189925"/>
              <a:ext cx="300900" cy="227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7&quot;&gt;&lt;msup&gt;&lt;mn&gt;10&lt;/mn&gt;&lt;mn&gt;7&lt;/mn&gt;&lt;/msup&gt;&lt;/math&gt;" id="901" name="Google Shape;901;p73" title="10 to the seventh power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2968200" y="2207531"/>
              <a:ext cx="300900" cy="224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8&quot;&gt;&lt;msup&gt;&lt;mn&gt;10&lt;/mn&gt;&lt;mn&gt;8&lt;/mn&gt;&lt;/msup&gt;&lt;/math&gt;" id="902" name="Google Shape;902;p73" title="10 to the eighth power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484575" y="2203850"/>
              <a:ext cx="264000" cy="19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3" name="Google Shape;903;p73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04" name="Google Shape;904;p73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05" name="Google Shape;905;p73"/>
            <p:cNvSpPr txBox="1"/>
            <p:nvPr/>
          </p:nvSpPr>
          <p:spPr>
            <a:xfrm>
              <a:off x="786865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06" name="Google Shape;906;p73"/>
            <p:cNvSpPr txBox="1"/>
            <p:nvPr/>
          </p:nvSpPr>
          <p:spPr>
            <a:xfrm>
              <a:off x="83809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907" name="Google Shape;907;p73"/>
          <p:cNvSpPr txBox="1"/>
          <p:nvPr/>
        </p:nvSpPr>
        <p:spPr>
          <a:xfrm>
            <a:off x="5710116" y="1390849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8" name="Google Shape;908;p73"/>
          <p:cNvSpPr txBox="1"/>
          <p:nvPr/>
        </p:nvSpPr>
        <p:spPr>
          <a:xfrm>
            <a:off x="5710116" y="1885000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9" name="Google Shape;909;p73"/>
          <p:cNvSpPr txBox="1"/>
          <p:nvPr/>
        </p:nvSpPr>
        <p:spPr>
          <a:xfrm>
            <a:off x="324000" y="2882375"/>
            <a:ext cx="6893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second significant figure is in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tens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Therefore, we round to the nearest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0" name="Google Shape;910;p73"/>
          <p:cNvSpPr/>
          <p:nvPr/>
        </p:nvSpPr>
        <p:spPr>
          <a:xfrm rot="10800000">
            <a:off x="5511850" y="393898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1" name="Google Shape;911;p73"/>
          <p:cNvSpPr txBox="1"/>
          <p:nvPr/>
        </p:nvSpPr>
        <p:spPr>
          <a:xfrm>
            <a:off x="5350749" y="3624950"/>
            <a:ext cx="52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547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2" name="Google Shape;912;p73"/>
          <p:cNvSpPr txBox="1"/>
          <p:nvPr/>
        </p:nvSpPr>
        <p:spPr>
          <a:xfrm>
            <a:off x="324000" y="4482575"/>
            <a:ext cx="6178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547 rounded to two significant figures is 550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13" name="Google Shape;913;p73"/>
          <p:cNvGrpSpPr/>
          <p:nvPr/>
        </p:nvGrpSpPr>
        <p:grpSpPr>
          <a:xfrm>
            <a:off x="4448850" y="2473875"/>
            <a:ext cx="1188027" cy="371250"/>
            <a:chOff x="4448850" y="2473875"/>
            <a:chExt cx="1188027" cy="371250"/>
          </a:xfrm>
        </p:grpSpPr>
        <p:sp>
          <p:nvSpPr>
            <p:cNvPr id="914" name="Google Shape;914;p73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5" name="Google Shape;915;p73"/>
            <p:cNvSpPr txBox="1"/>
            <p:nvPr/>
          </p:nvSpPr>
          <p:spPr>
            <a:xfrm>
              <a:off x="4686477" y="2506425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1st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6" name="Google Shape;916;p73"/>
          <p:cNvGrpSpPr/>
          <p:nvPr/>
        </p:nvGrpSpPr>
        <p:grpSpPr>
          <a:xfrm>
            <a:off x="4906050" y="2473875"/>
            <a:ext cx="1188027" cy="355987"/>
            <a:chOff x="4448850" y="2473875"/>
            <a:chExt cx="1188027" cy="355987"/>
          </a:xfrm>
        </p:grpSpPr>
        <p:sp>
          <p:nvSpPr>
            <p:cNvPr id="917" name="Google Shape;917;p73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18" name="Google Shape;918;p73"/>
            <p:cNvSpPr txBox="1"/>
            <p:nvPr/>
          </p:nvSpPr>
          <p:spPr>
            <a:xfrm>
              <a:off x="4686477" y="2491162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2nd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19" name="Google Shape;919;p73"/>
          <p:cNvSpPr/>
          <p:nvPr/>
        </p:nvSpPr>
        <p:spPr>
          <a:xfrm>
            <a:off x="4869157" y="1034217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4" name="Google Shape;924;p74"/>
          <p:cNvSpPr txBox="1"/>
          <p:nvPr/>
        </p:nvSpPr>
        <p:spPr>
          <a:xfrm>
            <a:off x="324000" y="1757986"/>
            <a:ext cx="7695300" cy="318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50.00000000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50 000 000.00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5.0000000005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5.00050005000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5000.0500000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50000.000005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5" name="Google Shape;925;p74"/>
          <p:cNvSpPr txBox="1"/>
          <p:nvPr>
            <p:ph idx="1" type="body"/>
          </p:nvPr>
        </p:nvSpPr>
        <p:spPr>
          <a:xfrm>
            <a:off x="324000" y="700574"/>
            <a:ext cx="8496000" cy="68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All of the numbers below have nine zeros.</a:t>
            </a:r>
            <a:endParaRPr sz="1900"/>
          </a:p>
          <a:p>
            <a:pPr indent="0" lvl="0" marL="0" rtl="0" algn="l">
              <a:lnSpc>
                <a:spcPct val="8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900"/>
              <a:t>How many zeros does each number actually need to preserve the place value of the other digits?</a:t>
            </a:r>
            <a:endParaRPr sz="2300"/>
          </a:p>
        </p:txBody>
      </p:sp>
      <p:sp>
        <p:nvSpPr>
          <p:cNvPr id="926" name="Google Shape;926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927" name="Google Shape;927;p74"/>
          <p:cNvSpPr/>
          <p:nvPr/>
        </p:nvSpPr>
        <p:spPr>
          <a:xfrm>
            <a:off x="712511" y="1780472"/>
            <a:ext cx="1376100" cy="29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28" name="Google Shape;928;p74"/>
          <p:cNvSpPr txBox="1"/>
          <p:nvPr/>
        </p:nvSpPr>
        <p:spPr>
          <a:xfrm>
            <a:off x="2826952" y="1675283"/>
            <a:ext cx="59931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 zero is needed,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trailing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zeros after the decimal point are not needed.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9" name="Google Shape;929;p74"/>
          <p:cNvSpPr/>
          <p:nvPr/>
        </p:nvSpPr>
        <p:spPr>
          <a:xfrm>
            <a:off x="1880258" y="2330731"/>
            <a:ext cx="395400" cy="29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0" name="Google Shape;930;p74"/>
          <p:cNvSpPr txBox="1"/>
          <p:nvPr/>
        </p:nvSpPr>
        <p:spPr>
          <a:xfrm>
            <a:off x="2826952" y="2351832"/>
            <a:ext cx="599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zeros are needed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1" name="Google Shape;931;p74"/>
          <p:cNvSpPr txBox="1"/>
          <p:nvPr/>
        </p:nvSpPr>
        <p:spPr>
          <a:xfrm>
            <a:off x="2826952" y="2882157"/>
            <a:ext cx="599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9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zeros are needed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2" name="Google Shape;932;p74"/>
          <p:cNvSpPr txBox="1"/>
          <p:nvPr/>
        </p:nvSpPr>
        <p:spPr>
          <a:xfrm>
            <a:off x="2826952" y="3482355"/>
            <a:ext cx="599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6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zeros are needed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3" name="Google Shape;933;p74"/>
          <p:cNvSpPr/>
          <p:nvPr/>
        </p:nvSpPr>
        <p:spPr>
          <a:xfrm>
            <a:off x="1872339" y="3484661"/>
            <a:ext cx="603600" cy="29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4" name="Google Shape;934;p74"/>
          <p:cNvSpPr/>
          <p:nvPr/>
        </p:nvSpPr>
        <p:spPr>
          <a:xfrm>
            <a:off x="1386425" y="3997786"/>
            <a:ext cx="887700" cy="294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5" name="Google Shape;935;p74"/>
          <p:cNvSpPr txBox="1"/>
          <p:nvPr/>
        </p:nvSpPr>
        <p:spPr>
          <a:xfrm>
            <a:off x="2826952" y="4016789"/>
            <a:ext cx="599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zeros are needed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36" name="Google Shape;936;p74"/>
          <p:cNvSpPr txBox="1"/>
          <p:nvPr/>
        </p:nvSpPr>
        <p:spPr>
          <a:xfrm>
            <a:off x="2826952" y="4575875"/>
            <a:ext cx="5993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9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zeros are needed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75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9000900</a:t>
            </a:r>
            <a:endParaRPr/>
          </a:p>
        </p:txBody>
      </p:sp>
      <p:sp>
        <p:nvSpPr>
          <p:cNvPr id="942" name="Google Shape;942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943" name="Google Shape;943;p75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Which of the following have zeros which are </a:t>
            </a:r>
            <a:r>
              <a:rPr lang="en-GB">
                <a:solidFill>
                  <a:schemeClr val="accent4"/>
                </a:solidFill>
              </a:rPr>
              <a:t>not </a:t>
            </a:r>
            <a:r>
              <a:rPr lang="en-GB"/>
              <a:t>needed to preserve the place value of other digits?</a:t>
            </a:r>
            <a:endParaRPr/>
          </a:p>
        </p:txBody>
      </p:sp>
      <p:sp>
        <p:nvSpPr>
          <p:cNvPr id="944" name="Google Shape;944;p75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99000909.9900</a:t>
            </a:r>
            <a:endParaRPr/>
          </a:p>
        </p:txBody>
      </p:sp>
      <p:sp>
        <p:nvSpPr>
          <p:cNvPr id="945" name="Google Shape;945;p75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9009.000090</a:t>
            </a:r>
            <a:endParaRPr/>
          </a:p>
        </p:txBody>
      </p:sp>
      <p:sp>
        <p:nvSpPr>
          <p:cNvPr id="946" name="Google Shape;946;p75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9999000.99</a:t>
            </a:r>
            <a:endParaRPr/>
          </a:p>
        </p:txBody>
      </p:sp>
      <p:pic>
        <p:nvPicPr>
          <p:cNvPr id="947" name="Google Shape;947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9708" y="245032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8" name="Google Shape;948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8708" y="32123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954" name="Google Shape;954;p76"/>
          <p:cNvSpPr txBox="1"/>
          <p:nvPr>
            <p:ph idx="1" type="body"/>
          </p:nvPr>
        </p:nvSpPr>
        <p:spPr>
          <a:xfrm>
            <a:off x="324000" y="606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23 924 to three significant figures?</a:t>
            </a:r>
            <a:endParaRPr/>
          </a:p>
        </p:txBody>
      </p:sp>
      <p:graphicFrame>
        <p:nvGraphicFramePr>
          <p:cNvPr id="955" name="Google Shape;955;p76"/>
          <p:cNvGraphicFramePr/>
          <p:nvPr/>
        </p:nvGraphicFramePr>
        <p:xfrm>
          <a:off x="2159000" y="418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6" name="Google Shape;956;p76"/>
          <p:cNvSpPr txBox="1"/>
          <p:nvPr/>
        </p:nvSpPr>
        <p:spPr>
          <a:xfrm>
            <a:off x="1646498" y="3801825"/>
            <a:ext cx="101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23 900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7" name="Google Shape;957;p76"/>
          <p:cNvSpPr txBox="1"/>
          <p:nvPr/>
        </p:nvSpPr>
        <p:spPr>
          <a:xfrm>
            <a:off x="6520700" y="3801825"/>
            <a:ext cx="118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24 000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8" name="Google Shape;958;p76"/>
          <p:cNvSpPr txBox="1"/>
          <p:nvPr/>
        </p:nvSpPr>
        <p:spPr>
          <a:xfrm>
            <a:off x="4122385" y="3801825"/>
            <a:ext cx="9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23 950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959" name="Google Shape;959;p76"/>
          <p:cNvGraphicFramePr/>
          <p:nvPr/>
        </p:nvGraphicFramePr>
        <p:xfrm>
          <a:off x="1465001" y="96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960" name="Google Shape;960;p76"/>
          <p:cNvGrpSpPr/>
          <p:nvPr/>
        </p:nvGrpSpPr>
        <p:grpSpPr>
          <a:xfrm>
            <a:off x="1539376" y="969550"/>
            <a:ext cx="6284584" cy="883373"/>
            <a:chOff x="2484575" y="1655350"/>
            <a:chExt cx="6284584" cy="883373"/>
          </a:xfrm>
        </p:grpSpPr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961" name="Google Shape;961;p76" title="10 raised to the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90349" y="2262830"/>
              <a:ext cx="206250" cy="166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962" name="Google Shape;962;p76" title="10 square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42799" y="2189371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963" name="Google Shape;963;p76" title="10 cub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9324" y="2189371"/>
              <a:ext cx="300899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964" name="Google Shape;964;p76" title="10 to the fourth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78765" y="2189363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5&quot;&gt;&lt;msup&gt;&lt;mn&gt;10&lt;/mn&gt;&lt;mn&gt;5&lt;/mn&gt;&lt;/msup&gt;&lt;/math&gt;" id="965" name="Google Shape;965;p76" title="10 to the fifth power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925488" y="2189372"/>
              <a:ext cx="307440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966" name="Google Shape;966;p76" title="the fraction with numerator 1 and denominator 10 squared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263899" y="2156141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967" name="Google Shape;967;p76" title="the fraction with numerator 1 and denominator 10 cube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772333" y="2153303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968" name="Google Shape;968;p76" title="the fraction with numerator 1 and denominator 10 to the fourth power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199808" y="2152373"/>
              <a:ext cx="263983" cy="378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969" name="Google Shape;969;p76" title="one tenth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820825" y="2150563"/>
              <a:ext cx="198622" cy="366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970" name="Google Shape;970;p76" title="10 raised to the power"/>
            <p:cNvPicPr preferRelativeResize="0"/>
            <p:nvPr/>
          </p:nvPicPr>
          <p:blipFill rotWithShape="1">
            <a:blip r:embed="rId3">
              <a:alphaModFix/>
            </a:blip>
            <a:srcRect b="0" l="0" r="55789" t="0"/>
            <a:stretch/>
          </p:blipFill>
          <p:spPr>
            <a:xfrm>
              <a:off x="6393529" y="2238366"/>
              <a:ext cx="89650" cy="16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6&quot;&gt;&lt;msup&gt;&lt;mn&gt;10&lt;/mn&gt;&lt;mn&gt;6&lt;/mn&gt;&lt;/msup&gt;&lt;/math&gt;" id="971" name="Google Shape;971;p76" title="10 to the sixth power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427829" y="2189925"/>
              <a:ext cx="300900" cy="227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7&quot;&gt;&lt;msup&gt;&lt;mn&gt;10&lt;/mn&gt;&lt;mn&gt;7&lt;/mn&gt;&lt;/msup&gt;&lt;/math&gt;" id="972" name="Google Shape;972;p76" title="10 to the seventh power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2968200" y="2207531"/>
              <a:ext cx="300900" cy="224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8&quot;&gt;&lt;msup&gt;&lt;mn&gt;10&lt;/mn&gt;&lt;mn&gt;8&lt;/mn&gt;&lt;/msup&gt;&lt;/math&gt;" id="973" name="Google Shape;973;p76" title="10 to the eighth power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484575" y="2203850"/>
              <a:ext cx="264000" cy="19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4" name="Google Shape;974;p76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75" name="Google Shape;975;p76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76" name="Google Shape;976;p76"/>
            <p:cNvSpPr txBox="1"/>
            <p:nvPr/>
          </p:nvSpPr>
          <p:spPr>
            <a:xfrm>
              <a:off x="786865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977" name="Google Shape;977;p76"/>
            <p:cNvSpPr txBox="1"/>
            <p:nvPr/>
          </p:nvSpPr>
          <p:spPr>
            <a:xfrm>
              <a:off x="83809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978" name="Google Shape;978;p76"/>
          <p:cNvSpPr txBox="1"/>
          <p:nvPr/>
        </p:nvSpPr>
        <p:spPr>
          <a:xfrm>
            <a:off x="5710116" y="1390849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9" name="Google Shape;979;p76"/>
          <p:cNvSpPr txBox="1"/>
          <p:nvPr/>
        </p:nvSpPr>
        <p:spPr>
          <a:xfrm>
            <a:off x="5710116" y="1885000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0" name="Google Shape;980;p76"/>
          <p:cNvSpPr txBox="1"/>
          <p:nvPr/>
        </p:nvSpPr>
        <p:spPr>
          <a:xfrm>
            <a:off x="324000" y="2882375"/>
            <a:ext cx="73194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third significant figure is in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hundred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Therefore, we round to the nearest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1" name="Google Shape;981;p76"/>
          <p:cNvSpPr/>
          <p:nvPr/>
        </p:nvSpPr>
        <p:spPr>
          <a:xfrm rot="10800000">
            <a:off x="3149650" y="393898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2" name="Google Shape;982;p76"/>
          <p:cNvSpPr txBox="1"/>
          <p:nvPr/>
        </p:nvSpPr>
        <p:spPr>
          <a:xfrm>
            <a:off x="2836151" y="3624950"/>
            <a:ext cx="86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23 924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3" name="Google Shape;983;p76"/>
          <p:cNvSpPr txBox="1"/>
          <p:nvPr/>
        </p:nvSpPr>
        <p:spPr>
          <a:xfrm>
            <a:off x="324000" y="4482575"/>
            <a:ext cx="684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23 924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rounded to three significant figures is 23 900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984" name="Google Shape;984;p76"/>
          <p:cNvGrpSpPr/>
          <p:nvPr/>
        </p:nvGrpSpPr>
        <p:grpSpPr>
          <a:xfrm>
            <a:off x="3534450" y="2473875"/>
            <a:ext cx="1188027" cy="371250"/>
            <a:chOff x="4448850" y="2473875"/>
            <a:chExt cx="1188027" cy="371250"/>
          </a:xfrm>
        </p:grpSpPr>
        <p:sp>
          <p:nvSpPr>
            <p:cNvPr id="985" name="Google Shape;985;p76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6" name="Google Shape;986;p76"/>
            <p:cNvSpPr txBox="1"/>
            <p:nvPr/>
          </p:nvSpPr>
          <p:spPr>
            <a:xfrm>
              <a:off x="4686477" y="2506425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1st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87" name="Google Shape;987;p76"/>
          <p:cNvGrpSpPr/>
          <p:nvPr/>
        </p:nvGrpSpPr>
        <p:grpSpPr>
          <a:xfrm>
            <a:off x="3991650" y="2489138"/>
            <a:ext cx="1188027" cy="355987"/>
            <a:chOff x="4448850" y="2473875"/>
            <a:chExt cx="1188027" cy="355987"/>
          </a:xfrm>
        </p:grpSpPr>
        <p:sp>
          <p:nvSpPr>
            <p:cNvPr id="988" name="Google Shape;988;p76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9" name="Google Shape;989;p76"/>
            <p:cNvSpPr txBox="1"/>
            <p:nvPr/>
          </p:nvSpPr>
          <p:spPr>
            <a:xfrm>
              <a:off x="4686477" y="2491162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2nd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90" name="Google Shape;990;p76"/>
          <p:cNvGrpSpPr/>
          <p:nvPr/>
        </p:nvGrpSpPr>
        <p:grpSpPr>
          <a:xfrm>
            <a:off x="4448850" y="2489138"/>
            <a:ext cx="1188027" cy="355987"/>
            <a:chOff x="4448850" y="2473875"/>
            <a:chExt cx="1188027" cy="355987"/>
          </a:xfrm>
        </p:grpSpPr>
        <p:sp>
          <p:nvSpPr>
            <p:cNvPr id="991" name="Google Shape;991;p76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92" name="Google Shape;992;p76"/>
            <p:cNvSpPr txBox="1"/>
            <p:nvPr/>
          </p:nvSpPr>
          <p:spPr>
            <a:xfrm>
              <a:off x="4686477" y="2491162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3r</a:t>
              </a: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d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93" name="Google Shape;993;p76"/>
          <p:cNvSpPr/>
          <p:nvPr/>
        </p:nvSpPr>
        <p:spPr>
          <a:xfrm>
            <a:off x="4396694" y="1034217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7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Google Shape;998;p7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999" name="Google Shape;999;p77"/>
          <p:cNvSpPr txBox="1"/>
          <p:nvPr>
            <p:ph idx="1" type="body"/>
          </p:nvPr>
        </p:nvSpPr>
        <p:spPr>
          <a:xfrm>
            <a:off x="324000" y="606900"/>
            <a:ext cx="8237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60 062.84 to three significant figures? </a:t>
            </a:r>
            <a:endParaRPr/>
          </a:p>
        </p:txBody>
      </p:sp>
      <p:graphicFrame>
        <p:nvGraphicFramePr>
          <p:cNvPr id="1000" name="Google Shape;1000;p77"/>
          <p:cNvGraphicFramePr/>
          <p:nvPr/>
        </p:nvGraphicFramePr>
        <p:xfrm>
          <a:off x="2159000" y="4182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2413000"/>
                <a:gridCol w="2413000"/>
              </a:tblGrid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"/>
                    </a:p>
                  </a:txBody>
                  <a:tcPr marT="0" marB="0" marR="0" marL="0">
                    <a:lnL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01" name="Google Shape;1001;p77"/>
          <p:cNvSpPr txBox="1"/>
          <p:nvPr/>
        </p:nvSpPr>
        <p:spPr>
          <a:xfrm>
            <a:off x="1646498" y="3801825"/>
            <a:ext cx="1012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60 000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7"/>
          <p:cNvSpPr txBox="1"/>
          <p:nvPr/>
        </p:nvSpPr>
        <p:spPr>
          <a:xfrm>
            <a:off x="6520699" y="3801825"/>
            <a:ext cx="9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60 1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3" name="Google Shape;1003;p77"/>
          <p:cNvSpPr txBox="1"/>
          <p:nvPr/>
        </p:nvSpPr>
        <p:spPr>
          <a:xfrm>
            <a:off x="4122385" y="3801825"/>
            <a:ext cx="908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60 050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004" name="Google Shape;1004;p77"/>
          <p:cNvGraphicFramePr/>
          <p:nvPr/>
        </p:nvGraphicFramePr>
        <p:xfrm>
          <a:off x="1465001" y="969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05" name="Google Shape;1005;p77"/>
          <p:cNvGrpSpPr/>
          <p:nvPr/>
        </p:nvGrpSpPr>
        <p:grpSpPr>
          <a:xfrm>
            <a:off x="1539376" y="969550"/>
            <a:ext cx="6284584" cy="883373"/>
            <a:chOff x="2484575" y="1655350"/>
            <a:chExt cx="6284584" cy="883373"/>
          </a:xfrm>
        </p:grpSpPr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006" name="Google Shape;1006;p77" title="10 raised to the power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890349" y="2262830"/>
              <a:ext cx="206250" cy="16632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2&quot;&gt;&lt;msup&gt;&lt;mn&gt;10&lt;/mn&gt;&lt;mn&gt;2&lt;/mn&gt;&lt;/msup&gt;&lt;/math&gt;" id="1007" name="Google Shape;1007;p77" title="10 squared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342799" y="2189371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3&quot;&gt;&lt;msup&gt;&lt;mn&gt;10&lt;/mn&gt;&lt;mn&gt;3&lt;/mn&gt;&lt;/msup&gt;&lt;/math&gt;" id="1008" name="Google Shape;1008;p77" title="10 cubed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4889324" y="2189371"/>
              <a:ext cx="300899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4&quot;&gt;&lt;msup&gt;&lt;mn&gt;10&lt;/mn&gt;&lt;mn&gt;4&lt;/mn&gt;&lt;/msup&gt;&lt;/math&gt;" id="1009" name="Google Shape;1009;p77" title="10 to the fourth power"/>
            <p:cNvPicPr preferRelativeResize="0"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4378765" y="2189363"/>
              <a:ext cx="313981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5&quot;&gt;&lt;msup&gt;&lt;mn&gt;10&lt;/mn&gt;&lt;mn&gt;5&lt;/mn&gt;&lt;/msup&gt;&lt;/math&gt;" id="1010" name="Google Shape;1010;p77" title="10 to the fifth power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3925488" y="2189372"/>
              <a:ext cx="307440" cy="22894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2}&quot;&gt;&lt;mfrac&gt;&lt;mn&gt;1&lt;/mn&gt;&lt;msup&gt;&lt;mn&gt;10&lt;/mn&gt;&lt;mn&gt;2&lt;/mn&gt;&lt;/msup&gt;&lt;/mfrac&gt;&lt;/math&gt;" id="1011" name="Google Shape;1011;p77" title="the fraction with numerator 1 and denominator 10 squared"/>
            <p:cNvPicPr preferRelativeResize="0"/>
            <p:nvPr/>
          </p:nvPicPr>
          <p:blipFill>
            <a:blip r:embed="rId8">
              <a:alphaModFix/>
            </a:blip>
            <a:stretch>
              <a:fillRect/>
            </a:stretch>
          </p:blipFill>
          <p:spPr>
            <a:xfrm>
              <a:off x="7263899" y="2156141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3}&quot;&gt;&lt;mfrac&gt;&lt;mn&gt;1&lt;/mn&gt;&lt;msup&gt;&lt;mn&gt;10&lt;/mn&gt;&lt;mn&gt;3&lt;/mn&gt;&lt;/msup&gt;&lt;/mfrac&gt;&lt;/math&gt;" id="1012" name="Google Shape;1012;p77" title="the fraction with numerator 1 and denominator 10 cubed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7772333" y="2153303"/>
              <a:ext cx="263983" cy="38258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^4}&quot;&gt;&lt;mfrac&gt;&lt;mn&gt;1&lt;/mn&gt;&lt;msup&gt;&lt;mn&gt;10&lt;/mn&gt;&lt;mn&gt;4&lt;/mn&gt;&lt;/msup&gt;&lt;/mfrac&gt;&lt;/math&gt;" id="1013" name="Google Shape;1013;p77" title="the fraction with numerator 1 and denominator 10 to the fourth power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199808" y="2152373"/>
              <a:ext cx="263983" cy="37875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}{10}&quot;&gt;&lt;mfrac&gt;&lt;mn&gt;1&lt;/mn&gt;&lt;mn&gt;10&lt;/mn&gt;&lt;/mfrac&gt;&lt;/math&gt;" id="1014" name="Google Shape;1014;p77" title="one tenth"/>
            <p:cNvPicPr preferRelativeResize="0"/>
            <p:nvPr/>
          </p:nvPicPr>
          <p:blipFill>
            <a:blip r:embed="rId11">
              <a:alphaModFix/>
            </a:blip>
            <a:stretch>
              <a:fillRect/>
            </a:stretch>
          </p:blipFill>
          <p:spPr>
            <a:xfrm>
              <a:off x="6820825" y="2150563"/>
              <a:ext cx="198622" cy="3660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{\ }&quot;&gt;&lt;msup&gt;&lt;mn&gt;10&lt;/mn&gt;&lt;mrow data-mjx-texclass=&quot;ORD&quot;&gt;&lt;mtext&gt;&lt;/mtext&gt;&lt;/mrow&gt;&lt;/msup&gt;&lt;/math&gt;" id="1015" name="Google Shape;1015;p77" title="10 raised to the power"/>
            <p:cNvPicPr preferRelativeResize="0"/>
            <p:nvPr/>
          </p:nvPicPr>
          <p:blipFill rotWithShape="1">
            <a:blip r:embed="rId3">
              <a:alphaModFix/>
            </a:blip>
            <a:srcRect b="0" l="0" r="55789" t="0"/>
            <a:stretch/>
          </p:blipFill>
          <p:spPr>
            <a:xfrm>
              <a:off x="6393529" y="2238366"/>
              <a:ext cx="89650" cy="1635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6&quot;&gt;&lt;msup&gt;&lt;mn&gt;10&lt;/mn&gt;&lt;mn&gt;6&lt;/mn&gt;&lt;/msup&gt;&lt;/math&gt;" id="1016" name="Google Shape;1016;p77" title="10 to the sixth power"/>
            <p:cNvPicPr preferRelativeResize="0"/>
            <p:nvPr/>
          </p:nvPicPr>
          <p:blipFill>
            <a:blip r:embed="rId12">
              <a:alphaModFix/>
            </a:blip>
            <a:stretch>
              <a:fillRect/>
            </a:stretch>
          </p:blipFill>
          <p:spPr>
            <a:xfrm>
              <a:off x="3427829" y="2189925"/>
              <a:ext cx="300900" cy="22782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7&quot;&gt;&lt;msup&gt;&lt;mn&gt;10&lt;/mn&gt;&lt;mn&gt;7&lt;/mn&gt;&lt;/msup&gt;&lt;/math&gt;" id="1017" name="Google Shape;1017;p77" title="10 to the seventh power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2968200" y="2207531"/>
              <a:ext cx="300900" cy="2246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10^8&quot;&gt;&lt;msup&gt;&lt;mn&gt;10&lt;/mn&gt;&lt;mn&gt;8&lt;/mn&gt;&lt;/msup&gt;&lt;/math&gt;" id="1018" name="Google Shape;1018;p77" title="10 to the eighth power"/>
            <p:cNvPicPr preferRelativeResize="0"/>
            <p:nvPr/>
          </p:nvPicPr>
          <p:blipFill>
            <a:blip r:embed="rId14">
              <a:alphaModFix/>
            </a:blip>
            <a:stretch>
              <a:fillRect/>
            </a:stretch>
          </p:blipFill>
          <p:spPr>
            <a:xfrm>
              <a:off x="2484575" y="2203850"/>
              <a:ext cx="264000" cy="19990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19" name="Google Shape;1019;p77"/>
            <p:cNvSpPr txBox="1"/>
            <p:nvPr/>
          </p:nvSpPr>
          <p:spPr>
            <a:xfrm>
              <a:off x="689702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020" name="Google Shape;1020;p77"/>
            <p:cNvSpPr txBox="1"/>
            <p:nvPr/>
          </p:nvSpPr>
          <p:spPr>
            <a:xfrm>
              <a:off x="7380796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021" name="Google Shape;1021;p77"/>
            <p:cNvSpPr txBox="1"/>
            <p:nvPr/>
          </p:nvSpPr>
          <p:spPr>
            <a:xfrm>
              <a:off x="7868655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022" name="Google Shape;1022;p77"/>
            <p:cNvSpPr txBox="1"/>
            <p:nvPr/>
          </p:nvSpPr>
          <p:spPr>
            <a:xfrm>
              <a:off x="83809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sp>
        <p:nvSpPr>
          <p:cNvPr id="1023" name="Google Shape;1023;p77"/>
          <p:cNvSpPr txBox="1"/>
          <p:nvPr/>
        </p:nvSpPr>
        <p:spPr>
          <a:xfrm>
            <a:off x="5710116" y="1390849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4" name="Google Shape;1024;p77"/>
          <p:cNvSpPr txBox="1"/>
          <p:nvPr/>
        </p:nvSpPr>
        <p:spPr>
          <a:xfrm>
            <a:off x="5710116" y="1885000"/>
            <a:ext cx="9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5" name="Google Shape;1025;p77"/>
          <p:cNvSpPr txBox="1"/>
          <p:nvPr/>
        </p:nvSpPr>
        <p:spPr>
          <a:xfrm>
            <a:off x="324000" y="2806175"/>
            <a:ext cx="82377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 third significant figure is in the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hundre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ds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Therefore, we round to the nearest </a:t>
            </a:r>
            <a:r>
              <a:rPr lang="en-GB" sz="22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.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6" name="Google Shape;1026;p77"/>
          <p:cNvSpPr/>
          <p:nvPr/>
        </p:nvSpPr>
        <p:spPr>
          <a:xfrm rot="10800000">
            <a:off x="5054650" y="3786588"/>
            <a:ext cx="221700" cy="338700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4"/>
          </a:solidFill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7" name="Google Shape;1027;p77"/>
          <p:cNvSpPr txBox="1"/>
          <p:nvPr/>
        </p:nvSpPr>
        <p:spPr>
          <a:xfrm>
            <a:off x="4512550" y="3472550"/>
            <a:ext cx="140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60 062.84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28" name="Google Shape;1028;p77"/>
          <p:cNvSpPr txBox="1"/>
          <p:nvPr/>
        </p:nvSpPr>
        <p:spPr>
          <a:xfrm>
            <a:off x="324000" y="4482575"/>
            <a:ext cx="721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60 062.84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 rounded to three significant figures is 60 100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029" name="Google Shape;1029;p77"/>
          <p:cNvGrpSpPr/>
          <p:nvPr/>
        </p:nvGrpSpPr>
        <p:grpSpPr>
          <a:xfrm>
            <a:off x="3473399" y="2473875"/>
            <a:ext cx="1188027" cy="371250"/>
            <a:chOff x="4448850" y="2473875"/>
            <a:chExt cx="1188027" cy="371250"/>
          </a:xfrm>
        </p:grpSpPr>
        <p:sp>
          <p:nvSpPr>
            <p:cNvPr id="1030" name="Google Shape;1030;p77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1" name="Google Shape;1031;p77"/>
            <p:cNvSpPr txBox="1"/>
            <p:nvPr/>
          </p:nvSpPr>
          <p:spPr>
            <a:xfrm>
              <a:off x="4686477" y="2506425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1st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2" name="Google Shape;1032;p77"/>
          <p:cNvGrpSpPr/>
          <p:nvPr/>
        </p:nvGrpSpPr>
        <p:grpSpPr>
          <a:xfrm>
            <a:off x="3930599" y="2489138"/>
            <a:ext cx="1188027" cy="355987"/>
            <a:chOff x="4448850" y="2473875"/>
            <a:chExt cx="1188027" cy="355987"/>
          </a:xfrm>
        </p:grpSpPr>
        <p:sp>
          <p:nvSpPr>
            <p:cNvPr id="1033" name="Google Shape;1033;p77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4" name="Google Shape;1034;p77"/>
            <p:cNvSpPr txBox="1"/>
            <p:nvPr/>
          </p:nvSpPr>
          <p:spPr>
            <a:xfrm>
              <a:off x="4686477" y="2491162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2nd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35" name="Google Shape;1035;p77"/>
          <p:cNvGrpSpPr/>
          <p:nvPr/>
        </p:nvGrpSpPr>
        <p:grpSpPr>
          <a:xfrm>
            <a:off x="4387799" y="2489138"/>
            <a:ext cx="1188027" cy="355987"/>
            <a:chOff x="4448850" y="1635675"/>
            <a:chExt cx="1188027" cy="355987"/>
          </a:xfrm>
        </p:grpSpPr>
        <p:sp>
          <p:nvSpPr>
            <p:cNvPr id="1036" name="Google Shape;1036;p77"/>
            <p:cNvSpPr/>
            <p:nvPr/>
          </p:nvSpPr>
          <p:spPr>
            <a:xfrm>
              <a:off x="4448850" y="16356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4"/>
            </a:solidFill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037" name="Google Shape;1037;p77"/>
            <p:cNvSpPr txBox="1"/>
            <p:nvPr/>
          </p:nvSpPr>
          <p:spPr>
            <a:xfrm>
              <a:off x="4686477" y="1652962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3rd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38" name="Google Shape;1038;p77"/>
          <p:cNvSpPr/>
          <p:nvPr/>
        </p:nvSpPr>
        <p:spPr>
          <a:xfrm>
            <a:off x="4341628" y="1034225"/>
            <a:ext cx="4353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78"/>
          <p:cNvSpPr txBox="1"/>
          <p:nvPr>
            <p:ph idx="1" type="body"/>
          </p:nvPr>
        </p:nvSpPr>
        <p:spPr>
          <a:xfrm>
            <a:off x="324000" y="606900"/>
            <a:ext cx="8237700" cy="9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Whose answer is correct?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Round 7 003 729 to 4 significant figures.</a:t>
            </a:r>
            <a:endParaRPr/>
          </a:p>
        </p:txBody>
      </p:sp>
      <p:sp>
        <p:nvSpPr>
          <p:cNvPr id="1044" name="Google Shape;1044;p7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 number line for significant figures</a:t>
            </a:r>
            <a:endParaRPr/>
          </a:p>
        </p:txBody>
      </p:sp>
      <p:grpSp>
        <p:nvGrpSpPr>
          <p:cNvPr id="1045" name="Google Shape;1045;p78"/>
          <p:cNvGrpSpPr/>
          <p:nvPr/>
        </p:nvGrpSpPr>
        <p:grpSpPr>
          <a:xfrm>
            <a:off x="1225751" y="1501650"/>
            <a:ext cx="2885699" cy="1927626"/>
            <a:chOff x="1225751" y="1501650"/>
            <a:chExt cx="2885699" cy="1927626"/>
          </a:xfrm>
        </p:grpSpPr>
        <p:pic>
          <p:nvPicPr>
            <p:cNvPr id="1046" name="Google Shape;1046;p78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225751" y="1501650"/>
              <a:ext cx="2885699" cy="19276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47" name="Google Shape;1047;p78"/>
            <p:cNvSpPr txBox="1"/>
            <p:nvPr/>
          </p:nvSpPr>
          <p:spPr>
            <a:xfrm>
              <a:off x="1519987" y="1731525"/>
              <a:ext cx="2437800" cy="13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4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th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s.f. i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 2, I look to the right and round up as it is a 9.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answer is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7 003 730.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048" name="Google Shape;1048;p78"/>
          <p:cNvGrpSpPr/>
          <p:nvPr/>
        </p:nvGrpSpPr>
        <p:grpSpPr>
          <a:xfrm>
            <a:off x="4507350" y="1522938"/>
            <a:ext cx="3037798" cy="1927638"/>
            <a:chOff x="4812150" y="1675338"/>
            <a:chExt cx="3037798" cy="1927638"/>
          </a:xfrm>
        </p:grpSpPr>
        <p:pic>
          <p:nvPicPr>
            <p:cNvPr id="1049" name="Google Shape;1049;p78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4812150" y="1675338"/>
              <a:ext cx="3037798" cy="192763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0" name="Google Shape;1050;p78"/>
            <p:cNvSpPr txBox="1"/>
            <p:nvPr/>
          </p:nvSpPr>
          <p:spPr>
            <a:xfrm>
              <a:off x="4964250" y="1884050"/>
              <a:ext cx="2534400" cy="13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4</a:t>
              </a:r>
              <a:r>
                <a:rPr baseline="30000" lang="en-GB" sz="1800">
                  <a:latin typeface="Lexend"/>
                  <a:ea typeface="Lexend"/>
                  <a:cs typeface="Lexend"/>
                  <a:sym typeface="Lexend"/>
                </a:rPr>
                <a:t>th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s.f. is 3, I look to the right and round up as it is a 7.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answer is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7 004 000.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051" name="Google Shape;1051;p78"/>
          <p:cNvSpPr txBox="1"/>
          <p:nvPr/>
        </p:nvSpPr>
        <p:spPr>
          <a:xfrm>
            <a:off x="2034774" y="3469950"/>
            <a:ext cx="47448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Jacob is correct. Sofia has not counted the zeros in the hundred thousand and ten thousand columns as significant figures.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052" name="Google Shape;1052;p7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22375" y="2855550"/>
            <a:ext cx="732250" cy="895749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78"/>
          <p:cNvSpPr txBox="1"/>
          <p:nvPr/>
        </p:nvSpPr>
        <p:spPr>
          <a:xfrm>
            <a:off x="154663" y="3667973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54" name="Google Shape;1054;p7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477315" y="2935738"/>
            <a:ext cx="807760" cy="896090"/>
          </a:xfrm>
          <a:prstGeom prst="rect">
            <a:avLst/>
          </a:prstGeom>
          <a:noFill/>
          <a:ln>
            <a:noFill/>
          </a:ln>
        </p:spPr>
      </p:pic>
      <p:sp>
        <p:nvSpPr>
          <p:cNvPr id="1055" name="Google Shape;1055;p78"/>
          <p:cNvSpPr txBox="1"/>
          <p:nvPr/>
        </p:nvSpPr>
        <p:spPr>
          <a:xfrm>
            <a:off x="7084538" y="3558135"/>
            <a:ext cx="1407900" cy="5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Jacob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7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1061" name="Google Shape;1061;p79"/>
          <p:cNvSpPr txBox="1"/>
          <p:nvPr>
            <p:ph idx="1" type="body"/>
          </p:nvPr>
        </p:nvSpPr>
        <p:spPr>
          <a:xfrm>
            <a:off x="372447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  </a:t>
            </a:r>
            <a:r>
              <a:rPr lang="en-GB"/>
              <a:t>Complete these sentences: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 u="sng"/>
              <a:t>          </a:t>
            </a:r>
            <a:r>
              <a:rPr lang="en-GB"/>
              <a:t> is the 3</a:t>
            </a:r>
            <a:r>
              <a:rPr baseline="30000" lang="en-GB"/>
              <a:t>rd</a:t>
            </a:r>
            <a:r>
              <a:rPr lang="en-GB"/>
              <a:t> significant figure of 39 271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u="sng"/>
              <a:t>          </a:t>
            </a:r>
            <a:r>
              <a:rPr lang="en-GB"/>
              <a:t> is the 2</a:t>
            </a:r>
            <a:r>
              <a:rPr baseline="30000" lang="en-GB"/>
              <a:t>nd</a:t>
            </a:r>
            <a:r>
              <a:rPr lang="en-GB"/>
              <a:t> significant figure of 1842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u="sng"/>
              <a:t>          </a:t>
            </a:r>
            <a:r>
              <a:rPr lang="en-GB"/>
              <a:t> is the 1</a:t>
            </a:r>
            <a:r>
              <a:rPr baseline="30000" lang="en-GB"/>
              <a:t>st</a:t>
            </a:r>
            <a:r>
              <a:rPr lang="en-GB"/>
              <a:t> significant figure of 390 482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u="sng"/>
              <a:t>          </a:t>
            </a:r>
            <a:r>
              <a:rPr lang="en-GB"/>
              <a:t> is the 4</a:t>
            </a:r>
            <a:r>
              <a:rPr baseline="30000" lang="en-GB"/>
              <a:t>th</a:t>
            </a:r>
            <a:r>
              <a:rPr lang="en-GB"/>
              <a:t> significant figure of 13 456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u="sng"/>
              <a:t>          </a:t>
            </a:r>
            <a:r>
              <a:rPr lang="en-GB"/>
              <a:t> is the 2</a:t>
            </a:r>
            <a:r>
              <a:rPr baseline="30000" lang="en-GB"/>
              <a:t>nd</a:t>
            </a:r>
            <a:r>
              <a:rPr lang="en-GB"/>
              <a:t> significant figure of 2035	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u="sng"/>
              <a:t>          </a:t>
            </a:r>
            <a:r>
              <a:rPr lang="en-GB"/>
              <a:t> is the 3</a:t>
            </a:r>
            <a:r>
              <a:rPr baseline="30000" lang="en-GB"/>
              <a:t>rd</a:t>
            </a:r>
            <a:r>
              <a:rPr lang="en-GB"/>
              <a:t> significant figure of 507 836	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 u="sng"/>
              <a:t>          </a:t>
            </a:r>
            <a:r>
              <a:rPr lang="en-GB"/>
              <a:t> is the 5</a:t>
            </a:r>
            <a:r>
              <a:rPr baseline="30000" lang="en-GB"/>
              <a:t>th</a:t>
            </a:r>
            <a:r>
              <a:rPr lang="en-GB"/>
              <a:t> significant figure of 1 007 832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8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1067" name="Google Shape;1067;p80"/>
          <p:cNvSpPr txBox="1"/>
          <p:nvPr>
            <p:ph idx="1" type="body"/>
          </p:nvPr>
        </p:nvSpPr>
        <p:spPr>
          <a:xfrm>
            <a:off x="324000" y="759300"/>
            <a:ext cx="82377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 </a:t>
            </a:r>
            <a:r>
              <a:rPr lang="en-GB"/>
              <a:t>Match the following to the correctly rounded figure:</a:t>
            </a:r>
            <a:endParaRPr/>
          </a:p>
        </p:txBody>
      </p:sp>
      <p:sp>
        <p:nvSpPr>
          <p:cNvPr id="1068" name="Google Shape;1068;p80"/>
          <p:cNvSpPr/>
          <p:nvPr/>
        </p:nvSpPr>
        <p:spPr>
          <a:xfrm>
            <a:off x="865145" y="142350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87 995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9" name="Google Shape;1069;p80"/>
          <p:cNvSpPr/>
          <p:nvPr/>
        </p:nvSpPr>
        <p:spPr>
          <a:xfrm>
            <a:off x="865145" y="2364417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86 952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0" name="Google Shape;1070;p80"/>
          <p:cNvSpPr/>
          <p:nvPr/>
        </p:nvSpPr>
        <p:spPr>
          <a:xfrm>
            <a:off x="865145" y="3305333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88 145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1" name="Google Shape;1071;p80"/>
          <p:cNvSpPr/>
          <p:nvPr/>
        </p:nvSpPr>
        <p:spPr>
          <a:xfrm>
            <a:off x="865145" y="424625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87 492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2" name="Google Shape;1072;p80"/>
          <p:cNvSpPr/>
          <p:nvPr/>
        </p:nvSpPr>
        <p:spPr>
          <a:xfrm>
            <a:off x="5070925" y="142350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88 000 (3 s.f.)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0"/>
          <p:cNvSpPr/>
          <p:nvPr/>
        </p:nvSpPr>
        <p:spPr>
          <a:xfrm>
            <a:off x="5070925" y="2364417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88 000 (2 s.f.)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4" name="Google Shape;1074;p80"/>
          <p:cNvSpPr/>
          <p:nvPr/>
        </p:nvSpPr>
        <p:spPr>
          <a:xfrm>
            <a:off x="5070925" y="3305333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87 000 (2 s.f.)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80"/>
          <p:cNvSpPr/>
          <p:nvPr/>
        </p:nvSpPr>
        <p:spPr>
          <a:xfrm>
            <a:off x="5070925" y="424625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87 000 (3 s.f.)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p81"/>
          <p:cNvSpPr txBox="1"/>
          <p:nvPr>
            <p:ph idx="1" type="body"/>
          </p:nvPr>
        </p:nvSpPr>
        <p:spPr>
          <a:xfrm>
            <a:off x="324000" y="759300"/>
            <a:ext cx="8237700" cy="56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</a:t>
            </a:r>
            <a:r>
              <a:rPr lang="en-GB"/>
              <a:t>)   Round each of the following to the number of significant figures given in the brackets.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 1672 = </a:t>
            </a:r>
            <a:r>
              <a:rPr lang="en-GB" u="sng"/>
              <a:t>               </a:t>
            </a:r>
            <a:r>
              <a:rPr lang="en-GB"/>
              <a:t>(2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 1672 = </a:t>
            </a:r>
            <a:r>
              <a:rPr lang="en-GB" u="sng"/>
              <a:t>               </a:t>
            </a:r>
            <a:r>
              <a:rPr lang="en-GB"/>
              <a:t>(3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 23 937 = </a:t>
            </a:r>
            <a:r>
              <a:rPr lang="en-GB" u="sng"/>
              <a:t>               </a:t>
            </a:r>
            <a:r>
              <a:rPr lang="en-GB"/>
              <a:t>(2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  23 937 = </a:t>
            </a:r>
            <a:r>
              <a:rPr lang="en-GB" u="sng"/>
              <a:t>               </a:t>
            </a:r>
            <a:r>
              <a:rPr lang="en-GB"/>
              <a:t>(3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e)  175 302 = </a:t>
            </a:r>
            <a:r>
              <a:rPr lang="en-GB" u="sng"/>
              <a:t>               </a:t>
            </a:r>
            <a:r>
              <a:rPr lang="en-GB"/>
              <a:t>(1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f)   175 302 = </a:t>
            </a:r>
            <a:r>
              <a:rPr lang="en-GB" u="sng"/>
              <a:t>               </a:t>
            </a:r>
            <a:r>
              <a:rPr lang="en-GB"/>
              <a:t>(4 s.f.)</a:t>
            </a:r>
            <a:endParaRPr/>
          </a:p>
        </p:txBody>
      </p:sp>
      <p:sp>
        <p:nvSpPr>
          <p:cNvPr id="1081" name="Google Shape;1081;p8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1082" name="Google Shape;1082;p81"/>
          <p:cNvSpPr txBox="1"/>
          <p:nvPr/>
        </p:nvSpPr>
        <p:spPr>
          <a:xfrm>
            <a:off x="4819800" y="1677450"/>
            <a:ext cx="40002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g)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407 =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 s.f.)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  407 =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i)   50 376 =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j)   50 376 =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(3 s.f.)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k)  730 095 =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(4 s.f.)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l)   730 095 = </a:t>
            </a:r>
            <a:r>
              <a:rPr lang="en-GB" sz="22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         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(5 s.f.)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6" name="Shape 10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7" name="Google Shape;1087;p8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1088" name="Google Shape;1088;p82"/>
          <p:cNvSpPr txBox="1"/>
          <p:nvPr>
            <p:ph idx="1" type="body"/>
          </p:nvPr>
        </p:nvSpPr>
        <p:spPr>
          <a:xfrm>
            <a:off x="370254" y="759300"/>
            <a:ext cx="8237700" cy="42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1)   </a:t>
            </a:r>
            <a:r>
              <a:rPr lang="en-GB"/>
              <a:t>Complete these sentences: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2</a:t>
            </a:r>
            <a:r>
              <a:rPr lang="en-GB"/>
              <a:t> is the 3</a:t>
            </a:r>
            <a:r>
              <a:rPr baseline="30000" lang="en-GB"/>
              <a:t>rd</a:t>
            </a:r>
            <a:r>
              <a:rPr lang="en-GB"/>
              <a:t> significant figure of </a:t>
            </a:r>
            <a:r>
              <a:rPr lang="en-GB"/>
              <a:t>39 271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/>
              <a:t> is the 2</a:t>
            </a:r>
            <a:r>
              <a:rPr baseline="30000" lang="en-GB"/>
              <a:t>nd</a:t>
            </a:r>
            <a:r>
              <a:rPr lang="en-GB"/>
              <a:t> significant figure of 1842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3</a:t>
            </a:r>
            <a:r>
              <a:rPr lang="en-GB"/>
              <a:t> is the 1</a:t>
            </a:r>
            <a:r>
              <a:rPr baseline="30000" lang="en-GB"/>
              <a:t>st</a:t>
            </a:r>
            <a:r>
              <a:rPr lang="en-GB"/>
              <a:t> significant figure of 390 482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5</a:t>
            </a:r>
            <a:r>
              <a:rPr lang="en-GB"/>
              <a:t> is the 4</a:t>
            </a:r>
            <a:r>
              <a:rPr baseline="30000" lang="en-GB"/>
              <a:t>th</a:t>
            </a:r>
            <a:r>
              <a:rPr lang="en-GB"/>
              <a:t> significant figure of 13 456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0</a:t>
            </a:r>
            <a:r>
              <a:rPr lang="en-GB"/>
              <a:t> is the 2</a:t>
            </a:r>
            <a:r>
              <a:rPr baseline="30000" lang="en-GB"/>
              <a:t>nd</a:t>
            </a:r>
            <a:r>
              <a:rPr lang="en-GB"/>
              <a:t> significant figure of 2035</a:t>
            </a:r>
            <a:endParaRPr/>
          </a:p>
          <a:p>
            <a:pPr indent="-3683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/>
              <a:t> is the 3</a:t>
            </a:r>
            <a:r>
              <a:rPr baseline="30000" lang="en-GB"/>
              <a:t>rd</a:t>
            </a:r>
            <a:r>
              <a:rPr lang="en-GB"/>
              <a:t> significant figure of 507 836</a:t>
            </a:r>
            <a:endParaRPr/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8</a:t>
            </a:r>
            <a:r>
              <a:rPr lang="en-GB"/>
              <a:t> is the 5</a:t>
            </a:r>
            <a:r>
              <a:rPr baseline="30000" lang="en-GB"/>
              <a:t>th</a:t>
            </a:r>
            <a:r>
              <a:rPr lang="en-GB"/>
              <a:t> significant figure of 1 007 832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8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1094" name="Google Shape;1094;p83"/>
          <p:cNvSpPr/>
          <p:nvPr/>
        </p:nvSpPr>
        <p:spPr>
          <a:xfrm>
            <a:off x="865145" y="142350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87 995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5" name="Google Shape;1095;p83"/>
          <p:cNvSpPr/>
          <p:nvPr/>
        </p:nvSpPr>
        <p:spPr>
          <a:xfrm>
            <a:off x="865145" y="2364417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86 952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6" name="Google Shape;1096;p83"/>
          <p:cNvSpPr/>
          <p:nvPr/>
        </p:nvSpPr>
        <p:spPr>
          <a:xfrm>
            <a:off x="865145" y="3305333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88 145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7" name="Google Shape;1097;p83"/>
          <p:cNvSpPr/>
          <p:nvPr/>
        </p:nvSpPr>
        <p:spPr>
          <a:xfrm>
            <a:off x="865145" y="424625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87 492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8" name="Google Shape;1098;p83"/>
          <p:cNvSpPr/>
          <p:nvPr/>
        </p:nvSpPr>
        <p:spPr>
          <a:xfrm>
            <a:off x="5070925" y="142350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88 000 (3 s.f.)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99" name="Google Shape;1099;p83"/>
          <p:cNvSpPr/>
          <p:nvPr/>
        </p:nvSpPr>
        <p:spPr>
          <a:xfrm>
            <a:off x="5070925" y="2364417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88 000 (2 s.f.)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3"/>
          <p:cNvSpPr/>
          <p:nvPr/>
        </p:nvSpPr>
        <p:spPr>
          <a:xfrm>
            <a:off x="5070925" y="3305333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87 000 (2 s.f.) 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3"/>
          <p:cNvSpPr/>
          <p:nvPr/>
        </p:nvSpPr>
        <p:spPr>
          <a:xfrm>
            <a:off x="5070925" y="4246250"/>
            <a:ext cx="3211500" cy="5322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8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7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00 (3 s.f.)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02" name="Google Shape;1102;p83"/>
          <p:cNvCxnSpPr/>
          <p:nvPr/>
        </p:nvCxnSpPr>
        <p:spPr>
          <a:xfrm>
            <a:off x="4074925" y="1654800"/>
            <a:ext cx="996000" cy="696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3" name="Google Shape;1103;p83"/>
          <p:cNvCxnSpPr>
            <a:endCxn id="1099" idx="1"/>
          </p:cNvCxnSpPr>
          <p:nvPr/>
        </p:nvCxnSpPr>
        <p:spPr>
          <a:xfrm flipH="1" rot="10800000">
            <a:off x="4074925" y="2630517"/>
            <a:ext cx="996000" cy="8721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4" name="Google Shape;1104;p83"/>
          <p:cNvCxnSpPr>
            <a:endCxn id="1101" idx="1"/>
          </p:cNvCxnSpPr>
          <p:nvPr/>
        </p:nvCxnSpPr>
        <p:spPr>
          <a:xfrm>
            <a:off x="4054825" y="2590850"/>
            <a:ext cx="1016100" cy="19215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5" name="Google Shape;1105;p83"/>
          <p:cNvCxnSpPr>
            <a:endCxn id="1100" idx="1"/>
          </p:cNvCxnSpPr>
          <p:nvPr/>
        </p:nvCxnSpPr>
        <p:spPr>
          <a:xfrm flipH="1" rot="10800000">
            <a:off x="4074925" y="3571433"/>
            <a:ext cx="996000" cy="10674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6" name="Google Shape;1106;p83"/>
          <p:cNvCxnSpPr>
            <a:stCxn id="1094" idx="3"/>
            <a:endCxn id="1099" idx="1"/>
          </p:cNvCxnSpPr>
          <p:nvPr/>
        </p:nvCxnSpPr>
        <p:spPr>
          <a:xfrm>
            <a:off x="4076645" y="1689600"/>
            <a:ext cx="994200" cy="94080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1107" name="Google Shape;1107;p83"/>
          <p:cNvSpPr txBox="1"/>
          <p:nvPr>
            <p:ph idx="1" type="body"/>
          </p:nvPr>
        </p:nvSpPr>
        <p:spPr>
          <a:xfrm>
            <a:off x="324000" y="759300"/>
            <a:ext cx="8237700" cy="434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2)   Match the following to the correctly rounded figure: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8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3)   </a:t>
            </a:r>
            <a:r>
              <a:rPr lang="en-GB"/>
              <a:t>Round</a:t>
            </a:r>
            <a:r>
              <a:rPr lang="en-GB"/>
              <a:t> each of the following to the number of significant figures given in the brackets.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a)  1672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1700 </a:t>
            </a:r>
            <a:r>
              <a:rPr lang="en-GB"/>
              <a:t>(2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b)  </a:t>
            </a:r>
            <a:r>
              <a:rPr lang="en-GB"/>
              <a:t>1672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1670 </a:t>
            </a:r>
            <a:r>
              <a:rPr lang="en-GB"/>
              <a:t>(3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c)  23 937</a:t>
            </a:r>
            <a:r>
              <a:rPr lang="en-GB"/>
              <a:t>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24 000 </a:t>
            </a:r>
            <a:r>
              <a:rPr lang="en-GB"/>
              <a:t>(2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d)  </a:t>
            </a:r>
            <a:r>
              <a:rPr lang="en-GB"/>
              <a:t>23 937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23 900 </a:t>
            </a:r>
            <a:r>
              <a:rPr lang="en-GB"/>
              <a:t>(3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e)  </a:t>
            </a:r>
            <a:r>
              <a:rPr lang="en-GB"/>
              <a:t>175 302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200 000 </a:t>
            </a:r>
            <a:r>
              <a:rPr lang="en-GB"/>
              <a:t>(1 s.f.)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f)   </a:t>
            </a:r>
            <a:r>
              <a:rPr lang="en-GB"/>
              <a:t>175 302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175 300</a:t>
            </a:r>
            <a:r>
              <a:rPr lang="en-GB"/>
              <a:t>(4 s.f.)</a:t>
            </a:r>
            <a:endParaRPr/>
          </a:p>
        </p:txBody>
      </p:sp>
      <p:sp>
        <p:nvSpPr>
          <p:cNvPr id="1113" name="Google Shape;1113;p8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1114" name="Google Shape;1114;p84"/>
          <p:cNvSpPr txBox="1"/>
          <p:nvPr/>
        </p:nvSpPr>
        <p:spPr>
          <a:xfrm>
            <a:off x="4819800" y="1677450"/>
            <a:ext cx="4000200" cy="283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g) 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407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400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(1 s.f.)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h)  407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410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i)   50 376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50 000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(2 s.f.)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j)   50 376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50 400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(3 s.f.)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k)  730 095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730 100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(4 s.f.)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l)   730 095 = </a:t>
            </a: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730 100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(5 s.f.)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8" name="Shape 1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9" name="Google Shape;1119;p85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number line for significant figures</a:t>
            </a:r>
            <a:endParaRPr/>
          </a:p>
        </p:txBody>
      </p:sp>
      <p:sp>
        <p:nvSpPr>
          <p:cNvPr id="1120" name="Google Shape;1120;p85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significant figures</a:t>
            </a:r>
            <a:endParaRPr/>
          </a:p>
        </p:txBody>
      </p:sp>
      <p:sp>
        <p:nvSpPr>
          <p:cNvPr id="1121" name="Google Shape;1121;p85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integers to significant figures</a:t>
            </a:r>
            <a:endParaRPr/>
          </a:p>
        </p:txBody>
      </p:sp>
      <p:pic>
        <p:nvPicPr>
          <p:cNvPr id="1122" name="Google Shape;1122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4225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/>
              <a:t>Rounding to a given number of significant figures</a:t>
            </a:r>
            <a:endParaRPr/>
          </a:p>
        </p:txBody>
      </p:sp>
      <p:sp>
        <p:nvSpPr>
          <p:cNvPr id="1128" name="Google Shape;1128;p86"/>
          <p:cNvSpPr txBox="1"/>
          <p:nvPr>
            <p:ph idx="1" type="body"/>
          </p:nvPr>
        </p:nvSpPr>
        <p:spPr>
          <a:xfrm>
            <a:off x="324000" y="6069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Round 5784 to three significant figures.</a:t>
            </a:r>
            <a:endParaRPr sz="2000"/>
          </a:p>
        </p:txBody>
      </p:sp>
      <p:graphicFrame>
        <p:nvGraphicFramePr>
          <p:cNvPr id="1129" name="Google Shape;1129;p86"/>
          <p:cNvGraphicFramePr/>
          <p:nvPr/>
        </p:nvGraphicFramePr>
        <p:xfrm>
          <a:off x="1065176" y="9470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30" name="Google Shape;1130;p86"/>
          <p:cNvSpPr/>
          <p:nvPr/>
        </p:nvSpPr>
        <p:spPr>
          <a:xfrm>
            <a:off x="4351687" y="997241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6"/>
          <p:cNvSpPr/>
          <p:nvPr/>
        </p:nvSpPr>
        <p:spPr>
          <a:xfrm>
            <a:off x="4381986" y="1502473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6"/>
          <p:cNvSpPr/>
          <p:nvPr/>
        </p:nvSpPr>
        <p:spPr>
          <a:xfrm>
            <a:off x="4815118" y="1502461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6"/>
          <p:cNvSpPr txBox="1"/>
          <p:nvPr/>
        </p:nvSpPr>
        <p:spPr>
          <a:xfrm>
            <a:off x="5179950" y="1367766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34" name="Google Shape;1134;p86"/>
          <p:cNvGrpSpPr/>
          <p:nvPr/>
        </p:nvGrpSpPr>
        <p:grpSpPr>
          <a:xfrm>
            <a:off x="5179950" y="935035"/>
            <a:ext cx="2034410" cy="378900"/>
            <a:chOff x="5179950" y="1621174"/>
            <a:chExt cx="2034410" cy="378900"/>
          </a:xfrm>
        </p:grpSpPr>
        <p:sp>
          <p:nvSpPr>
            <p:cNvPr id="1135" name="Google Shape;1135;p86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36" name="Google Shape;1136;p86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1137" name="Google Shape;1137;p86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38" name="Google Shape;1138;p86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39" name="Google Shape;1139;p86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40" name="Google Shape;1140;p86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1141" name="Google Shape;1141;p86"/>
          <p:cNvGrpSpPr/>
          <p:nvPr/>
        </p:nvGrpSpPr>
        <p:grpSpPr>
          <a:xfrm>
            <a:off x="7289193" y="947041"/>
            <a:ext cx="839567" cy="228900"/>
            <a:chOff x="7700993" y="1655350"/>
            <a:chExt cx="839567" cy="228900"/>
          </a:xfrm>
        </p:grpSpPr>
        <p:sp>
          <p:nvSpPr>
            <p:cNvPr id="1142" name="Google Shape;1142;p86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143" name="Google Shape;1143;p86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grpSp>
        <p:nvGrpSpPr>
          <p:cNvPr id="1144" name="Google Shape;1144;p86"/>
          <p:cNvGrpSpPr/>
          <p:nvPr/>
        </p:nvGrpSpPr>
        <p:grpSpPr>
          <a:xfrm>
            <a:off x="4918775" y="2051961"/>
            <a:ext cx="4883450" cy="312788"/>
            <a:chOff x="3928175" y="2051961"/>
            <a:chExt cx="4883450" cy="312788"/>
          </a:xfrm>
        </p:grpSpPr>
        <p:sp>
          <p:nvSpPr>
            <p:cNvPr id="1145" name="Google Shape;1145;p86"/>
            <p:cNvSpPr/>
            <p:nvPr/>
          </p:nvSpPr>
          <p:spPr>
            <a:xfrm flipH="1">
              <a:off x="3928175" y="2051961"/>
              <a:ext cx="426300" cy="2733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46" name="Google Shape;1146;p86"/>
            <p:cNvSpPr txBox="1"/>
            <p:nvPr/>
          </p:nvSpPr>
          <p:spPr>
            <a:xfrm>
              <a:off x="4429525" y="2087548"/>
              <a:ext cx="438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4 is less than 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47" name="Google Shape;1147;p86"/>
          <p:cNvSpPr txBox="1"/>
          <p:nvPr/>
        </p:nvSpPr>
        <p:spPr>
          <a:xfrm>
            <a:off x="324000" y="3208549"/>
            <a:ext cx="78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digit in the tens column stays the same.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5784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5780 (3 s.f.)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8" name="Google Shape;1148;p86"/>
          <p:cNvSpPr txBox="1"/>
          <p:nvPr/>
        </p:nvSpPr>
        <p:spPr>
          <a:xfrm>
            <a:off x="324000" y="2485886"/>
            <a:ext cx="84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third significant figure is in the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ten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Therefore, we round to the nearest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10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9" name="Google Shape;1149;p86"/>
          <p:cNvSpPr txBox="1"/>
          <p:nvPr/>
        </p:nvSpPr>
        <p:spPr>
          <a:xfrm>
            <a:off x="354412" y="3931211"/>
            <a:ext cx="803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Ensure that a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placeholder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used in the ones column to maintain the place value of the 8.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50" name="Google Shape;1150;p86"/>
          <p:cNvGrpSpPr/>
          <p:nvPr/>
        </p:nvGrpSpPr>
        <p:grpSpPr>
          <a:xfrm>
            <a:off x="3458250" y="2016675"/>
            <a:ext cx="1188027" cy="371250"/>
            <a:chOff x="4448850" y="2473875"/>
            <a:chExt cx="1188027" cy="371250"/>
          </a:xfrm>
        </p:grpSpPr>
        <p:sp>
          <p:nvSpPr>
            <p:cNvPr id="1151" name="Google Shape;1151;p86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2" name="Google Shape;1152;p86"/>
            <p:cNvSpPr txBox="1"/>
            <p:nvPr/>
          </p:nvSpPr>
          <p:spPr>
            <a:xfrm>
              <a:off x="4686477" y="2506425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1st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3" name="Google Shape;1153;p86"/>
          <p:cNvGrpSpPr/>
          <p:nvPr/>
        </p:nvGrpSpPr>
        <p:grpSpPr>
          <a:xfrm>
            <a:off x="3915450" y="2031938"/>
            <a:ext cx="1188027" cy="355987"/>
            <a:chOff x="4448850" y="2473875"/>
            <a:chExt cx="1188027" cy="355987"/>
          </a:xfrm>
        </p:grpSpPr>
        <p:sp>
          <p:nvSpPr>
            <p:cNvPr id="1154" name="Google Shape;1154;p86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5" name="Google Shape;1155;p86"/>
            <p:cNvSpPr txBox="1"/>
            <p:nvPr/>
          </p:nvSpPr>
          <p:spPr>
            <a:xfrm>
              <a:off x="4686477" y="2491162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2nd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56" name="Google Shape;1156;p86"/>
          <p:cNvGrpSpPr/>
          <p:nvPr/>
        </p:nvGrpSpPr>
        <p:grpSpPr>
          <a:xfrm>
            <a:off x="4387912" y="2031938"/>
            <a:ext cx="1188027" cy="355987"/>
            <a:chOff x="4448850" y="1635675"/>
            <a:chExt cx="1188027" cy="355987"/>
          </a:xfrm>
        </p:grpSpPr>
        <p:sp>
          <p:nvSpPr>
            <p:cNvPr id="1157" name="Google Shape;1157;p86"/>
            <p:cNvSpPr/>
            <p:nvPr/>
          </p:nvSpPr>
          <p:spPr>
            <a:xfrm>
              <a:off x="4448850" y="16356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58" name="Google Shape;1158;p86"/>
            <p:cNvSpPr txBox="1"/>
            <p:nvPr/>
          </p:nvSpPr>
          <p:spPr>
            <a:xfrm>
              <a:off x="4686477" y="1652962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3rd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2" name="Shape 1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" name="Google Shape;1163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significant figures</a:t>
            </a:r>
            <a:endParaRPr/>
          </a:p>
        </p:txBody>
      </p:sp>
      <p:sp>
        <p:nvSpPr>
          <p:cNvPr id="1164" name="Google Shape;1164;p87"/>
          <p:cNvSpPr txBox="1"/>
          <p:nvPr>
            <p:ph idx="1" type="body"/>
          </p:nvPr>
        </p:nvSpPr>
        <p:spPr>
          <a:xfrm>
            <a:off x="324000" y="6069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Round 145 508 to two significant figures.</a:t>
            </a:r>
            <a:endParaRPr sz="2000"/>
          </a:p>
        </p:txBody>
      </p:sp>
      <p:graphicFrame>
        <p:nvGraphicFramePr>
          <p:cNvPr id="1165" name="Google Shape;1165;p87"/>
          <p:cNvGraphicFramePr/>
          <p:nvPr/>
        </p:nvGraphicFramePr>
        <p:xfrm>
          <a:off x="1065176" y="9470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6" name="Google Shape;1166;p87"/>
          <p:cNvSpPr/>
          <p:nvPr/>
        </p:nvSpPr>
        <p:spPr>
          <a:xfrm>
            <a:off x="2964711" y="997241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7" name="Google Shape;1167;p87"/>
          <p:cNvSpPr/>
          <p:nvPr/>
        </p:nvSpPr>
        <p:spPr>
          <a:xfrm>
            <a:off x="2995010" y="1502473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8" name="Google Shape;1168;p87"/>
          <p:cNvSpPr/>
          <p:nvPr/>
        </p:nvSpPr>
        <p:spPr>
          <a:xfrm>
            <a:off x="3428143" y="1502461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9" name="Google Shape;1169;p87"/>
          <p:cNvSpPr txBox="1"/>
          <p:nvPr/>
        </p:nvSpPr>
        <p:spPr>
          <a:xfrm>
            <a:off x="5179950" y="1367766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70" name="Google Shape;1170;p87"/>
          <p:cNvGrpSpPr/>
          <p:nvPr/>
        </p:nvGrpSpPr>
        <p:grpSpPr>
          <a:xfrm>
            <a:off x="5179950" y="935035"/>
            <a:ext cx="2034410" cy="378900"/>
            <a:chOff x="5179950" y="1621174"/>
            <a:chExt cx="2034410" cy="378900"/>
          </a:xfrm>
        </p:grpSpPr>
        <p:sp>
          <p:nvSpPr>
            <p:cNvPr id="1171" name="Google Shape;1171;p87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172" name="Google Shape;1172;p87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1173" name="Google Shape;1173;p87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74" name="Google Shape;1174;p87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75" name="Google Shape;1175;p87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176" name="Google Shape;1176;p87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1177" name="Google Shape;1177;p87"/>
          <p:cNvGrpSpPr/>
          <p:nvPr/>
        </p:nvGrpSpPr>
        <p:grpSpPr>
          <a:xfrm>
            <a:off x="7289193" y="947041"/>
            <a:ext cx="839567" cy="228900"/>
            <a:chOff x="7700993" y="1655350"/>
            <a:chExt cx="839567" cy="228900"/>
          </a:xfrm>
        </p:grpSpPr>
        <p:sp>
          <p:nvSpPr>
            <p:cNvPr id="1178" name="Google Shape;1178;p87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179" name="Google Shape;1179;p87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grpSp>
        <p:nvGrpSpPr>
          <p:cNvPr id="1180" name="Google Shape;1180;p87"/>
          <p:cNvGrpSpPr/>
          <p:nvPr/>
        </p:nvGrpSpPr>
        <p:grpSpPr>
          <a:xfrm>
            <a:off x="3516650" y="2051961"/>
            <a:ext cx="4883450" cy="312788"/>
            <a:chOff x="3364250" y="2051961"/>
            <a:chExt cx="4883450" cy="312788"/>
          </a:xfrm>
        </p:grpSpPr>
        <p:sp>
          <p:nvSpPr>
            <p:cNvPr id="1181" name="Google Shape;1181;p87"/>
            <p:cNvSpPr/>
            <p:nvPr/>
          </p:nvSpPr>
          <p:spPr>
            <a:xfrm flipH="1">
              <a:off x="3364250" y="2051961"/>
              <a:ext cx="426300" cy="2733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2" name="Google Shape;1182;p87"/>
            <p:cNvSpPr txBox="1"/>
            <p:nvPr/>
          </p:nvSpPr>
          <p:spPr>
            <a:xfrm>
              <a:off x="3865600" y="2087548"/>
              <a:ext cx="438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5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is greater than or equal to 5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83" name="Google Shape;1183;p87"/>
          <p:cNvSpPr txBox="1"/>
          <p:nvPr/>
        </p:nvSpPr>
        <p:spPr>
          <a:xfrm>
            <a:off x="324000" y="3208549"/>
            <a:ext cx="78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we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increase the digit in the 10 000 column by 1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145 508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150 000 (2 s.f.)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84" name="Google Shape;1184;p87"/>
          <p:cNvSpPr txBox="1"/>
          <p:nvPr/>
        </p:nvSpPr>
        <p:spPr>
          <a:xfrm>
            <a:off x="324000" y="2485886"/>
            <a:ext cx="84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second significant figure is in the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ten thousand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Therefore, we round to the nearest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10 000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.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5" name="Google Shape;1185;p87"/>
          <p:cNvSpPr txBox="1"/>
          <p:nvPr/>
        </p:nvSpPr>
        <p:spPr>
          <a:xfrm>
            <a:off x="354412" y="3931211"/>
            <a:ext cx="8030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Ensure that the place holders are used in the thousands, hundreds, tens and ones columns to maintain the place value of the other digits.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186" name="Google Shape;1186;p87"/>
          <p:cNvGrpSpPr/>
          <p:nvPr/>
        </p:nvGrpSpPr>
        <p:grpSpPr>
          <a:xfrm>
            <a:off x="2574262" y="2016675"/>
            <a:ext cx="1188027" cy="371250"/>
            <a:chOff x="4448850" y="2473875"/>
            <a:chExt cx="1188027" cy="371250"/>
          </a:xfrm>
        </p:grpSpPr>
        <p:sp>
          <p:nvSpPr>
            <p:cNvPr id="1187" name="Google Shape;1187;p87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8" name="Google Shape;1188;p87"/>
            <p:cNvSpPr txBox="1"/>
            <p:nvPr/>
          </p:nvSpPr>
          <p:spPr>
            <a:xfrm>
              <a:off x="4686477" y="2506425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1st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9" name="Google Shape;1189;p87"/>
          <p:cNvGrpSpPr/>
          <p:nvPr/>
        </p:nvGrpSpPr>
        <p:grpSpPr>
          <a:xfrm>
            <a:off x="3031462" y="2031938"/>
            <a:ext cx="1188027" cy="355987"/>
            <a:chOff x="4448850" y="2473875"/>
            <a:chExt cx="1188027" cy="355987"/>
          </a:xfrm>
        </p:grpSpPr>
        <p:sp>
          <p:nvSpPr>
            <p:cNvPr id="1190" name="Google Shape;1190;p87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1" name="Google Shape;1191;p87"/>
            <p:cNvSpPr txBox="1"/>
            <p:nvPr/>
          </p:nvSpPr>
          <p:spPr>
            <a:xfrm>
              <a:off x="4686477" y="2491162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2nd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5" name="Shape 1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6" name="Google Shape;1196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significant figures</a:t>
            </a:r>
            <a:endParaRPr/>
          </a:p>
        </p:txBody>
      </p:sp>
      <p:sp>
        <p:nvSpPr>
          <p:cNvPr id="1197" name="Google Shape;1197;p88"/>
          <p:cNvSpPr txBox="1"/>
          <p:nvPr>
            <p:ph idx="1" type="body"/>
          </p:nvPr>
        </p:nvSpPr>
        <p:spPr>
          <a:xfrm>
            <a:off x="324000" y="606900"/>
            <a:ext cx="8237700" cy="27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Round 30 559 to three significant figures.</a:t>
            </a:r>
            <a:endParaRPr sz="2000"/>
          </a:p>
        </p:txBody>
      </p:sp>
      <p:graphicFrame>
        <p:nvGraphicFramePr>
          <p:cNvPr id="1198" name="Google Shape;1198;p88"/>
          <p:cNvGraphicFramePr/>
          <p:nvPr/>
        </p:nvGraphicFramePr>
        <p:xfrm>
          <a:off x="1065176" y="94704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  <a:gridCol w="4588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Mn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Mh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9" name="Google Shape;1199;p88"/>
          <p:cNvSpPr/>
          <p:nvPr/>
        </p:nvSpPr>
        <p:spPr>
          <a:xfrm>
            <a:off x="3879224" y="997241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0" name="Google Shape;1200;p88"/>
          <p:cNvSpPr/>
          <p:nvPr/>
        </p:nvSpPr>
        <p:spPr>
          <a:xfrm>
            <a:off x="3909523" y="1502473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1" name="Google Shape;1201;p88"/>
          <p:cNvSpPr/>
          <p:nvPr/>
        </p:nvSpPr>
        <p:spPr>
          <a:xfrm>
            <a:off x="4342656" y="1502461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2" name="Google Shape;1202;p88"/>
          <p:cNvSpPr txBox="1"/>
          <p:nvPr/>
        </p:nvSpPr>
        <p:spPr>
          <a:xfrm>
            <a:off x="5179950" y="1367766"/>
            <a:ext cx="122100" cy="3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03" name="Google Shape;1203;p88"/>
          <p:cNvGrpSpPr/>
          <p:nvPr/>
        </p:nvGrpSpPr>
        <p:grpSpPr>
          <a:xfrm>
            <a:off x="5179950" y="935035"/>
            <a:ext cx="2034410" cy="378900"/>
            <a:chOff x="5179950" y="1621174"/>
            <a:chExt cx="2034410" cy="378900"/>
          </a:xfrm>
        </p:grpSpPr>
        <p:sp>
          <p:nvSpPr>
            <p:cNvPr id="1204" name="Google Shape;1204;p88"/>
            <p:cNvSpPr txBox="1"/>
            <p:nvPr/>
          </p:nvSpPr>
          <p:spPr>
            <a:xfrm>
              <a:off x="5179950" y="1621174"/>
              <a:ext cx="122100" cy="37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  <a:buNone/>
              </a:pPr>
              <a:r>
                <a:rPr lang="en-GB" sz="2200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205" name="Google Shape;1205;p88"/>
            <p:cNvGrpSpPr/>
            <p:nvPr/>
          </p:nvGrpSpPr>
          <p:grpSpPr>
            <a:xfrm>
              <a:off x="5418426" y="1633180"/>
              <a:ext cx="1795934" cy="228900"/>
              <a:chOff x="6744625" y="1655350"/>
              <a:chExt cx="1795934" cy="228900"/>
            </a:xfrm>
          </p:grpSpPr>
          <p:sp>
            <p:nvSpPr>
              <p:cNvPr id="1206" name="Google Shape;1206;p88"/>
              <p:cNvSpPr txBox="1"/>
              <p:nvPr/>
            </p:nvSpPr>
            <p:spPr>
              <a:xfrm>
                <a:off x="6744625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207" name="Google Shape;1207;p88"/>
              <p:cNvSpPr txBox="1"/>
              <p:nvPr/>
            </p:nvSpPr>
            <p:spPr>
              <a:xfrm>
                <a:off x="7228396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208" name="Google Shape;1208;p88"/>
              <p:cNvSpPr txBox="1"/>
              <p:nvPr/>
            </p:nvSpPr>
            <p:spPr>
              <a:xfrm>
                <a:off x="7650193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  <p:sp>
            <p:nvSpPr>
              <p:cNvPr id="1209" name="Google Shape;1209;p88"/>
              <p:cNvSpPr txBox="1"/>
              <p:nvPr/>
            </p:nvSpPr>
            <p:spPr>
              <a:xfrm>
                <a:off x="8152359" y="1655350"/>
                <a:ext cx="388200" cy="228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GB" sz="800"/>
                  <a:t>th</a:t>
                </a:r>
                <a:endParaRPr sz="800"/>
              </a:p>
            </p:txBody>
          </p:sp>
        </p:grpSp>
      </p:grpSp>
      <p:grpSp>
        <p:nvGrpSpPr>
          <p:cNvPr id="1210" name="Google Shape;1210;p88"/>
          <p:cNvGrpSpPr/>
          <p:nvPr/>
        </p:nvGrpSpPr>
        <p:grpSpPr>
          <a:xfrm>
            <a:off x="7289193" y="947041"/>
            <a:ext cx="839567" cy="228900"/>
            <a:chOff x="7700993" y="1655350"/>
            <a:chExt cx="839567" cy="228900"/>
          </a:xfrm>
        </p:grpSpPr>
        <p:sp>
          <p:nvSpPr>
            <p:cNvPr id="1211" name="Google Shape;1211;p88"/>
            <p:cNvSpPr txBox="1"/>
            <p:nvPr/>
          </p:nvSpPr>
          <p:spPr>
            <a:xfrm>
              <a:off x="7700993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  <p:sp>
          <p:nvSpPr>
            <p:cNvPr id="1212" name="Google Shape;1212;p88"/>
            <p:cNvSpPr txBox="1"/>
            <p:nvPr/>
          </p:nvSpPr>
          <p:spPr>
            <a:xfrm>
              <a:off x="8152359" y="1655350"/>
              <a:ext cx="388200" cy="2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800"/>
                <a:t>th</a:t>
              </a:r>
              <a:endParaRPr sz="800"/>
            </a:p>
          </p:txBody>
        </p:sp>
      </p:grpSp>
      <p:grpSp>
        <p:nvGrpSpPr>
          <p:cNvPr id="1213" name="Google Shape;1213;p88"/>
          <p:cNvGrpSpPr/>
          <p:nvPr/>
        </p:nvGrpSpPr>
        <p:grpSpPr>
          <a:xfrm>
            <a:off x="4385375" y="2051961"/>
            <a:ext cx="4883450" cy="312788"/>
            <a:chOff x="3928175" y="2051961"/>
            <a:chExt cx="4883450" cy="312788"/>
          </a:xfrm>
        </p:grpSpPr>
        <p:sp>
          <p:nvSpPr>
            <p:cNvPr id="1214" name="Google Shape;1214;p88"/>
            <p:cNvSpPr/>
            <p:nvPr/>
          </p:nvSpPr>
          <p:spPr>
            <a:xfrm flipH="1">
              <a:off x="3928175" y="2051961"/>
              <a:ext cx="426300" cy="273300"/>
            </a:xfrm>
            <a:prstGeom prst="bentUpArrow">
              <a:avLst>
                <a:gd fmla="val 25000" name="adj1"/>
                <a:gd fmla="val 25000" name="adj2"/>
                <a:gd fmla="val 25000" name="adj3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5" name="Google Shape;1215;p88"/>
            <p:cNvSpPr txBox="1"/>
            <p:nvPr/>
          </p:nvSpPr>
          <p:spPr>
            <a:xfrm>
              <a:off x="4429525" y="2087548"/>
              <a:ext cx="43821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exactly halfway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216" name="Google Shape;1216;p88"/>
          <p:cNvSpPr txBox="1"/>
          <p:nvPr/>
        </p:nvSpPr>
        <p:spPr>
          <a:xfrm>
            <a:off x="324000" y="3208549"/>
            <a:ext cx="788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Therefore, we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increase the digit in the 100 column by 1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30 559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= 30 600 (3 s.f.)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7" name="Google Shape;1217;p88"/>
          <p:cNvSpPr txBox="1"/>
          <p:nvPr/>
        </p:nvSpPr>
        <p:spPr>
          <a:xfrm>
            <a:off x="324000" y="2485886"/>
            <a:ext cx="8496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 third significant figure is in the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hundreds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column.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Therefore, we round to the nearest </a:t>
            </a:r>
            <a:r>
              <a:rPr lang="en-GB" sz="20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100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8" name="Google Shape;1218;p88"/>
          <p:cNvSpPr txBox="1"/>
          <p:nvPr/>
        </p:nvSpPr>
        <p:spPr>
          <a:xfrm>
            <a:off x="354412" y="3931211"/>
            <a:ext cx="8030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Ensure that the place holders are used in the tens and ones columns to maintain the place value of the other digits.</a:t>
            </a:r>
            <a:endParaRPr sz="20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19" name="Google Shape;1219;p88"/>
          <p:cNvGrpSpPr/>
          <p:nvPr/>
        </p:nvGrpSpPr>
        <p:grpSpPr>
          <a:xfrm>
            <a:off x="3001050" y="2016675"/>
            <a:ext cx="1188027" cy="371250"/>
            <a:chOff x="4448850" y="2473875"/>
            <a:chExt cx="1188027" cy="371250"/>
          </a:xfrm>
        </p:grpSpPr>
        <p:sp>
          <p:nvSpPr>
            <p:cNvPr id="1220" name="Google Shape;1220;p88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1" name="Google Shape;1221;p88"/>
            <p:cNvSpPr txBox="1"/>
            <p:nvPr/>
          </p:nvSpPr>
          <p:spPr>
            <a:xfrm>
              <a:off x="4686477" y="2506425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1st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88"/>
          <p:cNvGrpSpPr/>
          <p:nvPr/>
        </p:nvGrpSpPr>
        <p:grpSpPr>
          <a:xfrm>
            <a:off x="3458250" y="2031938"/>
            <a:ext cx="1188027" cy="355987"/>
            <a:chOff x="4448850" y="2473875"/>
            <a:chExt cx="1188027" cy="355987"/>
          </a:xfrm>
        </p:grpSpPr>
        <p:sp>
          <p:nvSpPr>
            <p:cNvPr id="1223" name="Google Shape;1223;p88"/>
            <p:cNvSpPr/>
            <p:nvPr/>
          </p:nvSpPr>
          <p:spPr>
            <a:xfrm>
              <a:off x="4448850" y="24738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4" name="Google Shape;1224;p88"/>
            <p:cNvSpPr txBox="1"/>
            <p:nvPr/>
          </p:nvSpPr>
          <p:spPr>
            <a:xfrm>
              <a:off x="4686477" y="2491162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2nd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5" name="Google Shape;1225;p88"/>
          <p:cNvGrpSpPr/>
          <p:nvPr/>
        </p:nvGrpSpPr>
        <p:grpSpPr>
          <a:xfrm>
            <a:off x="3930712" y="2031938"/>
            <a:ext cx="1188027" cy="355987"/>
            <a:chOff x="4448850" y="1635675"/>
            <a:chExt cx="1188027" cy="355987"/>
          </a:xfrm>
        </p:grpSpPr>
        <p:sp>
          <p:nvSpPr>
            <p:cNvPr id="1226" name="Google Shape;1226;p88"/>
            <p:cNvSpPr/>
            <p:nvPr/>
          </p:nvSpPr>
          <p:spPr>
            <a:xfrm>
              <a:off x="4448850" y="1635675"/>
              <a:ext cx="221700" cy="3387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7" name="Google Shape;1227;p88"/>
            <p:cNvSpPr txBox="1"/>
            <p:nvPr/>
          </p:nvSpPr>
          <p:spPr>
            <a:xfrm>
              <a:off x="4686477" y="1652962"/>
              <a:ext cx="9504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latin typeface="Lexend"/>
                  <a:ea typeface="Lexend"/>
                  <a:cs typeface="Lexend"/>
                  <a:sym typeface="Lexend"/>
                </a:rPr>
                <a:t>3rd s.f.</a:t>
              </a:r>
              <a:endParaRPr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significant figures</a:t>
            </a:r>
            <a:endParaRPr/>
          </a:p>
        </p:txBody>
      </p:sp>
      <p:sp>
        <p:nvSpPr>
          <p:cNvPr id="1233" name="Google Shape;1233;p89"/>
          <p:cNvSpPr txBox="1"/>
          <p:nvPr/>
        </p:nvSpPr>
        <p:spPr>
          <a:xfrm>
            <a:off x="337825" y="657600"/>
            <a:ext cx="3982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50 608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significant figures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34" name="Google Shape;1234;p89"/>
          <p:cNvGraphicFramePr/>
          <p:nvPr/>
        </p:nvGraphicFramePr>
        <p:xfrm>
          <a:off x="1007801" y="2014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</a:t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5" name="Google Shape;1235;p89"/>
          <p:cNvSpPr/>
          <p:nvPr/>
        </p:nvSpPr>
        <p:spPr>
          <a:xfrm>
            <a:off x="2069407" y="2576725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89"/>
          <p:cNvSpPr/>
          <p:nvPr/>
        </p:nvSpPr>
        <p:spPr>
          <a:xfrm>
            <a:off x="1565957" y="2576733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89"/>
          <p:cNvSpPr/>
          <p:nvPr/>
        </p:nvSpPr>
        <p:spPr>
          <a:xfrm>
            <a:off x="1565944" y="2081255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89"/>
          <p:cNvSpPr txBox="1"/>
          <p:nvPr/>
        </p:nvSpPr>
        <p:spPr>
          <a:xfrm>
            <a:off x="357048" y="4087700"/>
            <a:ext cx="394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we will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round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up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50 608 = 51 000 (2 s.f.)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39" name="Google Shape;1239;p89"/>
          <p:cNvGrpSpPr/>
          <p:nvPr/>
        </p:nvGrpSpPr>
        <p:grpSpPr>
          <a:xfrm>
            <a:off x="966648" y="1344500"/>
            <a:ext cx="498300" cy="657950"/>
            <a:chOff x="966648" y="1344500"/>
            <a:chExt cx="498300" cy="657950"/>
          </a:xfrm>
        </p:grpSpPr>
        <p:sp>
          <p:nvSpPr>
            <p:cNvPr id="1240" name="Google Shape;1240;p89"/>
            <p:cNvSpPr/>
            <p:nvPr/>
          </p:nvSpPr>
          <p:spPr>
            <a:xfrm>
              <a:off x="1134525" y="1688950"/>
              <a:ext cx="168000" cy="3135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1" name="Google Shape;1241;p89"/>
            <p:cNvSpPr txBox="1"/>
            <p:nvPr/>
          </p:nvSpPr>
          <p:spPr>
            <a:xfrm>
              <a:off x="966648" y="1344500"/>
              <a:ext cx="498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1 s.f.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2" name="Google Shape;1242;p89"/>
          <p:cNvGrpSpPr/>
          <p:nvPr/>
        </p:nvGrpSpPr>
        <p:grpSpPr>
          <a:xfrm>
            <a:off x="879500" y="3048450"/>
            <a:ext cx="3692519" cy="907550"/>
            <a:chOff x="-100131" y="2667450"/>
            <a:chExt cx="4163400" cy="907550"/>
          </a:xfrm>
        </p:grpSpPr>
        <p:sp>
          <p:nvSpPr>
            <p:cNvPr id="1243" name="Google Shape;1243;p89"/>
            <p:cNvSpPr/>
            <p:nvPr/>
          </p:nvSpPr>
          <p:spPr>
            <a:xfrm>
              <a:off x="1322468" y="2667450"/>
              <a:ext cx="199500" cy="2955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4" name="Google Shape;1244;p89"/>
            <p:cNvSpPr txBox="1"/>
            <p:nvPr/>
          </p:nvSpPr>
          <p:spPr>
            <a:xfrm>
              <a:off x="-100131" y="3020900"/>
              <a:ext cx="4163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digit in this column is greater than 5.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5" name="Google Shape;1245;p89"/>
          <p:cNvGrpSpPr/>
          <p:nvPr/>
        </p:nvGrpSpPr>
        <p:grpSpPr>
          <a:xfrm>
            <a:off x="1469523" y="1344500"/>
            <a:ext cx="498300" cy="657950"/>
            <a:chOff x="966648" y="1344500"/>
            <a:chExt cx="498300" cy="657950"/>
          </a:xfrm>
        </p:grpSpPr>
        <p:sp>
          <p:nvSpPr>
            <p:cNvPr id="1246" name="Google Shape;1246;p89"/>
            <p:cNvSpPr/>
            <p:nvPr/>
          </p:nvSpPr>
          <p:spPr>
            <a:xfrm>
              <a:off x="1134525" y="1688950"/>
              <a:ext cx="168000" cy="3135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7" name="Google Shape;1247;p89"/>
            <p:cNvSpPr txBox="1"/>
            <p:nvPr/>
          </p:nvSpPr>
          <p:spPr>
            <a:xfrm>
              <a:off x="966648" y="1344500"/>
              <a:ext cx="498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s.f.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2" name="Google Shape;1252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significant figures</a:t>
            </a:r>
            <a:endParaRPr/>
          </a:p>
        </p:txBody>
      </p:sp>
      <p:sp>
        <p:nvSpPr>
          <p:cNvPr id="1253" name="Google Shape;1253;p90"/>
          <p:cNvSpPr txBox="1"/>
          <p:nvPr/>
        </p:nvSpPr>
        <p:spPr>
          <a:xfrm>
            <a:off x="4986025" y="657600"/>
            <a:ext cx="3982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46 327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three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significant figures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54" name="Google Shape;1254;p90"/>
          <p:cNvGraphicFramePr/>
          <p:nvPr/>
        </p:nvGraphicFramePr>
        <p:xfrm>
          <a:off x="5656001" y="2014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Kalam"/>
                          <a:ea typeface="Kalam"/>
                          <a:cs typeface="Kalam"/>
                          <a:sym typeface="Kalam"/>
                        </a:rPr>
                        <a:t>TTh</a:t>
                      </a:r>
                      <a:endParaRPr sz="13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Th</a:t>
                      </a:r>
                      <a:endParaRPr>
                        <a:solidFill>
                          <a:srgbClr val="000000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Kalam"/>
                          <a:ea typeface="Kalam"/>
                          <a:cs typeface="Kalam"/>
                          <a:sym typeface="Kalam"/>
                        </a:rPr>
                        <a:t>H</a:t>
                      </a:r>
                      <a:endParaRPr sz="13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Kalam"/>
                          <a:ea typeface="Kalam"/>
                          <a:cs typeface="Kalam"/>
                          <a:sym typeface="Kalam"/>
                        </a:rPr>
                        <a:t>T</a:t>
                      </a:r>
                      <a:endParaRPr sz="13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Kalam"/>
                          <a:ea typeface="Kalam"/>
                          <a:cs typeface="Kalam"/>
                          <a:sym typeface="Kalam"/>
                        </a:rPr>
                        <a:t>O</a:t>
                      </a:r>
                      <a:endParaRPr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55" name="Google Shape;1255;p90"/>
          <p:cNvSpPr/>
          <p:nvPr/>
        </p:nvSpPr>
        <p:spPr>
          <a:xfrm>
            <a:off x="7190069" y="2576725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6" name="Google Shape;1256;p90"/>
          <p:cNvSpPr/>
          <p:nvPr/>
        </p:nvSpPr>
        <p:spPr>
          <a:xfrm>
            <a:off x="6686619" y="2576733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7" name="Google Shape;1257;p90"/>
          <p:cNvSpPr/>
          <p:nvPr/>
        </p:nvSpPr>
        <p:spPr>
          <a:xfrm>
            <a:off x="6686607" y="2081255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58" name="Google Shape;1258;p90"/>
          <p:cNvSpPr txBox="1"/>
          <p:nvPr/>
        </p:nvSpPr>
        <p:spPr>
          <a:xfrm>
            <a:off x="5005248" y="4087700"/>
            <a:ext cx="394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Therefore we will round down.</a:t>
            </a:r>
            <a:endParaRPr sz="18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46 327</a:t>
            </a:r>
            <a:r>
              <a:rPr lang="en-GB"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46 300 (3 s.f.)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grpSp>
        <p:nvGrpSpPr>
          <p:cNvPr id="1259" name="Google Shape;1259;p90"/>
          <p:cNvGrpSpPr/>
          <p:nvPr/>
        </p:nvGrpSpPr>
        <p:grpSpPr>
          <a:xfrm>
            <a:off x="5614848" y="1344500"/>
            <a:ext cx="498300" cy="657950"/>
            <a:chOff x="966648" y="1344500"/>
            <a:chExt cx="498300" cy="657950"/>
          </a:xfrm>
        </p:grpSpPr>
        <p:sp>
          <p:nvSpPr>
            <p:cNvPr id="1260" name="Google Shape;1260;p90"/>
            <p:cNvSpPr/>
            <p:nvPr/>
          </p:nvSpPr>
          <p:spPr>
            <a:xfrm>
              <a:off x="1134525" y="1688950"/>
              <a:ext cx="168000" cy="3135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61" name="Google Shape;1261;p90"/>
            <p:cNvSpPr txBox="1"/>
            <p:nvPr/>
          </p:nvSpPr>
          <p:spPr>
            <a:xfrm>
              <a:off x="966648" y="1344500"/>
              <a:ext cx="498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1 s.f.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262" name="Google Shape;1262;p90"/>
          <p:cNvGrpSpPr/>
          <p:nvPr/>
        </p:nvGrpSpPr>
        <p:grpSpPr>
          <a:xfrm>
            <a:off x="5451500" y="3048450"/>
            <a:ext cx="3283836" cy="907550"/>
            <a:chOff x="-186048" y="2667450"/>
            <a:chExt cx="3702600" cy="907550"/>
          </a:xfrm>
        </p:grpSpPr>
        <p:sp>
          <p:nvSpPr>
            <p:cNvPr id="1263" name="Google Shape;1263;p90"/>
            <p:cNvSpPr/>
            <p:nvPr/>
          </p:nvSpPr>
          <p:spPr>
            <a:xfrm>
              <a:off x="1837972" y="2667450"/>
              <a:ext cx="199500" cy="2955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64" name="Google Shape;1264;p90"/>
            <p:cNvSpPr txBox="1"/>
            <p:nvPr/>
          </p:nvSpPr>
          <p:spPr>
            <a:xfrm>
              <a:off x="-186048" y="3020900"/>
              <a:ext cx="3702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The digit in this column is less than 5.</a:t>
              </a:r>
              <a:endParaRPr sz="18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grpSp>
        <p:nvGrpSpPr>
          <p:cNvPr id="1265" name="Google Shape;1265;p90"/>
          <p:cNvGrpSpPr/>
          <p:nvPr/>
        </p:nvGrpSpPr>
        <p:grpSpPr>
          <a:xfrm>
            <a:off x="6102421" y="1344500"/>
            <a:ext cx="599854" cy="657950"/>
            <a:chOff x="966648" y="1344500"/>
            <a:chExt cx="498300" cy="657950"/>
          </a:xfrm>
        </p:grpSpPr>
        <p:sp>
          <p:nvSpPr>
            <p:cNvPr id="1266" name="Google Shape;1266;p90"/>
            <p:cNvSpPr/>
            <p:nvPr/>
          </p:nvSpPr>
          <p:spPr>
            <a:xfrm>
              <a:off x="1134525" y="1688950"/>
              <a:ext cx="168000" cy="3135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67" name="Google Shape;1267;p90"/>
            <p:cNvSpPr txBox="1"/>
            <p:nvPr/>
          </p:nvSpPr>
          <p:spPr>
            <a:xfrm>
              <a:off x="966648" y="1344500"/>
              <a:ext cx="498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2 s.f.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  <p:sp>
        <p:nvSpPr>
          <p:cNvPr id="1268" name="Google Shape;1268;p90"/>
          <p:cNvSpPr txBox="1"/>
          <p:nvPr/>
        </p:nvSpPr>
        <p:spPr>
          <a:xfrm>
            <a:off x="337825" y="657600"/>
            <a:ext cx="39822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Round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50 608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two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significant figures</a:t>
            </a: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69" name="Google Shape;1269;p90"/>
          <p:cNvGraphicFramePr/>
          <p:nvPr/>
        </p:nvGraphicFramePr>
        <p:xfrm>
          <a:off x="1007801" y="20141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475250"/>
                <a:gridCol w="475250"/>
                <a:gridCol w="475250"/>
                <a:gridCol w="475250"/>
                <a:gridCol w="475250"/>
              </a:tblGrid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TTh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Th</a:t>
                      </a:r>
                      <a:endParaRPr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H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>
                          <a:latin typeface="Lexend"/>
                          <a:ea typeface="Lexend"/>
                          <a:cs typeface="Lexend"/>
                          <a:sym typeface="Lexend"/>
                        </a:rPr>
                        <a:t>T</a:t>
                      </a:r>
                      <a:endParaRPr sz="13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</a:t>
                      </a:r>
                      <a:endParaRPr/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0" marL="0" anchor="ctr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0" name="Google Shape;1270;p90"/>
          <p:cNvSpPr/>
          <p:nvPr/>
        </p:nvSpPr>
        <p:spPr>
          <a:xfrm>
            <a:off x="2069407" y="2576725"/>
            <a:ext cx="286800" cy="3135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1" name="Google Shape;1271;p90"/>
          <p:cNvSpPr/>
          <p:nvPr/>
        </p:nvSpPr>
        <p:spPr>
          <a:xfrm>
            <a:off x="1565957" y="2576733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2" name="Google Shape;1272;p90"/>
          <p:cNvSpPr/>
          <p:nvPr/>
        </p:nvSpPr>
        <p:spPr>
          <a:xfrm>
            <a:off x="1565944" y="2081255"/>
            <a:ext cx="347400" cy="3135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73" name="Google Shape;1273;p90"/>
          <p:cNvSpPr txBox="1"/>
          <p:nvPr/>
        </p:nvSpPr>
        <p:spPr>
          <a:xfrm>
            <a:off x="357048" y="4087700"/>
            <a:ext cx="39492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Therefore we will round up.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50 608 = 51 000 (2 s.f.)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74" name="Google Shape;1274;p90"/>
          <p:cNvGrpSpPr/>
          <p:nvPr/>
        </p:nvGrpSpPr>
        <p:grpSpPr>
          <a:xfrm>
            <a:off x="879500" y="3048450"/>
            <a:ext cx="3692519" cy="907550"/>
            <a:chOff x="-100131" y="2667450"/>
            <a:chExt cx="4163400" cy="907550"/>
          </a:xfrm>
        </p:grpSpPr>
        <p:sp>
          <p:nvSpPr>
            <p:cNvPr id="1275" name="Google Shape;1275;p90"/>
            <p:cNvSpPr/>
            <p:nvPr/>
          </p:nvSpPr>
          <p:spPr>
            <a:xfrm>
              <a:off x="1322468" y="2667450"/>
              <a:ext cx="199500" cy="295500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6" name="Google Shape;1276;p90"/>
            <p:cNvSpPr txBox="1"/>
            <p:nvPr/>
          </p:nvSpPr>
          <p:spPr>
            <a:xfrm>
              <a:off x="-100131" y="3020900"/>
              <a:ext cx="4163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The digit in this column is greater than 5.</a:t>
              </a:r>
              <a:endParaRPr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7" name="Google Shape;1277;p90"/>
          <p:cNvGrpSpPr/>
          <p:nvPr/>
        </p:nvGrpSpPr>
        <p:grpSpPr>
          <a:xfrm>
            <a:off x="1469523" y="1344500"/>
            <a:ext cx="498300" cy="657950"/>
            <a:chOff x="966648" y="1344500"/>
            <a:chExt cx="498300" cy="657950"/>
          </a:xfrm>
        </p:grpSpPr>
        <p:sp>
          <p:nvSpPr>
            <p:cNvPr id="1278" name="Google Shape;1278;p90"/>
            <p:cNvSpPr/>
            <p:nvPr/>
          </p:nvSpPr>
          <p:spPr>
            <a:xfrm>
              <a:off x="1134525" y="1688950"/>
              <a:ext cx="168000" cy="3135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79" name="Google Shape;1279;p90"/>
            <p:cNvSpPr txBox="1"/>
            <p:nvPr/>
          </p:nvSpPr>
          <p:spPr>
            <a:xfrm>
              <a:off x="966648" y="1344500"/>
              <a:ext cx="498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2 s.f.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80" name="Google Shape;1280;p90"/>
          <p:cNvGrpSpPr/>
          <p:nvPr/>
        </p:nvGrpSpPr>
        <p:grpSpPr>
          <a:xfrm>
            <a:off x="6559621" y="1344500"/>
            <a:ext cx="599854" cy="657950"/>
            <a:chOff x="966648" y="1344500"/>
            <a:chExt cx="498300" cy="657950"/>
          </a:xfrm>
        </p:grpSpPr>
        <p:sp>
          <p:nvSpPr>
            <p:cNvPr id="1281" name="Google Shape;1281;p90"/>
            <p:cNvSpPr/>
            <p:nvPr/>
          </p:nvSpPr>
          <p:spPr>
            <a:xfrm>
              <a:off x="1134525" y="1688950"/>
              <a:ext cx="168000" cy="313500"/>
            </a:xfrm>
            <a:prstGeom prst="downArrow">
              <a:avLst>
                <a:gd fmla="val 50000" name="adj1"/>
                <a:gd fmla="val 50000" name="adj2"/>
              </a:avLst>
            </a:prstGeom>
            <a:solidFill>
              <a:schemeClr val="accent5"/>
            </a:solidFill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Kalam"/>
                <a:ea typeface="Kalam"/>
                <a:cs typeface="Kalam"/>
                <a:sym typeface="Kalam"/>
              </a:endParaRPr>
            </a:p>
          </p:txBody>
        </p:sp>
        <p:sp>
          <p:nvSpPr>
            <p:cNvPr id="1282" name="Google Shape;1282;p90"/>
            <p:cNvSpPr txBox="1"/>
            <p:nvPr/>
          </p:nvSpPr>
          <p:spPr>
            <a:xfrm>
              <a:off x="966648" y="1344500"/>
              <a:ext cx="498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3</a:t>
              </a:r>
              <a:r>
                <a:rPr lang="en-GB" sz="1800">
                  <a:latin typeface="Kalam"/>
                  <a:ea typeface="Kalam"/>
                  <a:cs typeface="Kalam"/>
                  <a:sym typeface="Kalam"/>
                </a:rPr>
                <a:t> s.f.</a:t>
              </a:r>
              <a:endParaRPr sz="1800">
                <a:latin typeface="Kalam"/>
                <a:ea typeface="Kalam"/>
                <a:cs typeface="Kalam"/>
                <a:sym typeface="Kalam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6" name="Shape 1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7" name="Google Shape;1287;p91"/>
          <p:cNvSpPr txBox="1"/>
          <p:nvPr>
            <p:ph idx="1" type="body"/>
          </p:nvPr>
        </p:nvSpPr>
        <p:spPr>
          <a:xfrm>
            <a:off x="324000" y="759300"/>
            <a:ext cx="8237700" cy="67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Round each number to the given number of significant figures in brackets and complete the cross number puzzle.</a:t>
            </a:r>
            <a:endParaRPr sz="1800"/>
          </a:p>
        </p:txBody>
      </p:sp>
      <p:graphicFrame>
        <p:nvGraphicFramePr>
          <p:cNvPr id="1288" name="Google Shape;1288;p91"/>
          <p:cNvGraphicFramePr/>
          <p:nvPr/>
        </p:nvGraphicFramePr>
        <p:xfrm>
          <a:off x="5238500" y="12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89" name="Google Shape;1289;p91"/>
          <p:cNvSpPr txBox="1"/>
          <p:nvPr>
            <p:ph type="title"/>
          </p:nvPr>
        </p:nvSpPr>
        <p:spPr>
          <a:xfrm>
            <a:off x="1470049" y="48901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significant figures</a:t>
            </a:r>
            <a:endParaRPr/>
          </a:p>
        </p:txBody>
      </p:sp>
      <p:sp>
        <p:nvSpPr>
          <p:cNvPr id="1290" name="Google Shape;1290;p91"/>
          <p:cNvSpPr txBox="1"/>
          <p:nvPr/>
        </p:nvSpPr>
        <p:spPr>
          <a:xfrm>
            <a:off x="6663650" y="125295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1" name="Google Shape;1291;p91"/>
          <p:cNvSpPr txBox="1"/>
          <p:nvPr/>
        </p:nvSpPr>
        <p:spPr>
          <a:xfrm>
            <a:off x="5253950" y="163395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2" name="Google Shape;1292;p91"/>
          <p:cNvSpPr txBox="1"/>
          <p:nvPr/>
        </p:nvSpPr>
        <p:spPr>
          <a:xfrm>
            <a:off x="5960187" y="163395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1"/>
          <p:cNvSpPr txBox="1"/>
          <p:nvPr/>
        </p:nvSpPr>
        <p:spPr>
          <a:xfrm>
            <a:off x="8080970" y="163395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4" name="Google Shape;1294;p91"/>
          <p:cNvSpPr txBox="1"/>
          <p:nvPr/>
        </p:nvSpPr>
        <p:spPr>
          <a:xfrm>
            <a:off x="7365642" y="2013998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5" name="Google Shape;1295;p91"/>
          <p:cNvSpPr txBox="1"/>
          <p:nvPr/>
        </p:nvSpPr>
        <p:spPr>
          <a:xfrm>
            <a:off x="5965467" y="238928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6" name="Google Shape;1296;p91"/>
          <p:cNvSpPr txBox="1"/>
          <p:nvPr/>
        </p:nvSpPr>
        <p:spPr>
          <a:xfrm>
            <a:off x="5960705" y="315128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7" name="Google Shape;1297;p91"/>
          <p:cNvSpPr txBox="1"/>
          <p:nvPr/>
        </p:nvSpPr>
        <p:spPr>
          <a:xfrm>
            <a:off x="6656030" y="3156045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8" name="Google Shape;1298;p91"/>
          <p:cNvSpPr txBox="1"/>
          <p:nvPr/>
        </p:nvSpPr>
        <p:spPr>
          <a:xfrm>
            <a:off x="5244425" y="353514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91"/>
          <p:cNvSpPr txBox="1"/>
          <p:nvPr/>
        </p:nvSpPr>
        <p:spPr>
          <a:xfrm>
            <a:off x="5579705" y="3532282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91"/>
          <p:cNvSpPr txBox="1"/>
          <p:nvPr/>
        </p:nvSpPr>
        <p:spPr>
          <a:xfrm>
            <a:off x="6303605" y="391328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91"/>
          <p:cNvSpPr txBox="1"/>
          <p:nvPr/>
        </p:nvSpPr>
        <p:spPr>
          <a:xfrm>
            <a:off x="324000" y="1543800"/>
            <a:ext cx="2280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Across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   9324 (1 s.f.)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  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34 605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5)    8408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6)    32 047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7)    45 452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10)  365.92 (2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12)  1 530 204 (1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2" name="Google Shape;1302;p91"/>
          <p:cNvSpPr txBox="1"/>
          <p:nvPr/>
        </p:nvSpPr>
        <p:spPr>
          <a:xfrm>
            <a:off x="2944900" y="1543800"/>
            <a:ext cx="2184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Down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   9078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   250.02 (1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   693 638 (5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   7118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5)    7950 (2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8)    565.45 (2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9)    499.53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11)  78.498 (2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6" name="Shape 1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7" name="Google Shape;1307;p92"/>
          <p:cNvGraphicFramePr/>
          <p:nvPr/>
        </p:nvGraphicFramePr>
        <p:xfrm>
          <a:off x="5238500" y="1272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{7D09EF18-5ACF-4CC7-AAE3-DCCC7F87C52F}</a:tableStyleId>
              </a:tblPr>
              <a:tblGrid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  <a:gridCol w="3537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9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1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6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5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3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8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2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18000" marB="18000" marR="18000" marL="18000" anchor="ctr">
                    <a:lnL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8" name="Google Shape;1308;p92"/>
          <p:cNvSpPr txBox="1"/>
          <p:nvPr/>
        </p:nvSpPr>
        <p:spPr>
          <a:xfrm>
            <a:off x="6663650" y="125295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92"/>
          <p:cNvSpPr txBox="1"/>
          <p:nvPr/>
        </p:nvSpPr>
        <p:spPr>
          <a:xfrm>
            <a:off x="5253950" y="163395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92"/>
          <p:cNvSpPr txBox="1"/>
          <p:nvPr/>
        </p:nvSpPr>
        <p:spPr>
          <a:xfrm>
            <a:off x="5960187" y="163395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92"/>
          <p:cNvSpPr txBox="1"/>
          <p:nvPr/>
        </p:nvSpPr>
        <p:spPr>
          <a:xfrm>
            <a:off x="8080970" y="1633950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92"/>
          <p:cNvSpPr txBox="1"/>
          <p:nvPr/>
        </p:nvSpPr>
        <p:spPr>
          <a:xfrm>
            <a:off x="7365642" y="2013998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92"/>
          <p:cNvSpPr txBox="1"/>
          <p:nvPr/>
        </p:nvSpPr>
        <p:spPr>
          <a:xfrm>
            <a:off x="5965467" y="238928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92"/>
          <p:cNvSpPr txBox="1"/>
          <p:nvPr/>
        </p:nvSpPr>
        <p:spPr>
          <a:xfrm>
            <a:off x="5960705" y="315128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92"/>
          <p:cNvSpPr txBox="1"/>
          <p:nvPr/>
        </p:nvSpPr>
        <p:spPr>
          <a:xfrm>
            <a:off x="6656030" y="3156045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92"/>
          <p:cNvSpPr txBox="1"/>
          <p:nvPr/>
        </p:nvSpPr>
        <p:spPr>
          <a:xfrm>
            <a:off x="8430044" y="3156439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92"/>
          <p:cNvSpPr txBox="1"/>
          <p:nvPr/>
        </p:nvSpPr>
        <p:spPr>
          <a:xfrm>
            <a:off x="5232042" y="3532282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92"/>
          <p:cNvSpPr txBox="1"/>
          <p:nvPr/>
        </p:nvSpPr>
        <p:spPr>
          <a:xfrm>
            <a:off x="6303605" y="3913283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12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92"/>
          <p:cNvSpPr txBox="1"/>
          <p:nvPr/>
        </p:nvSpPr>
        <p:spPr>
          <a:xfrm>
            <a:off x="2944900" y="1543800"/>
            <a:ext cx="2184000" cy="24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Down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1)    9078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   250.02 (1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3)    693 638 (5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4)    7118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5)    7950 (2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8)    565.45 (2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9)    499.53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11)  78.498 (2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92"/>
          <p:cNvSpPr txBox="1"/>
          <p:nvPr/>
        </p:nvSpPr>
        <p:spPr>
          <a:xfrm>
            <a:off x="5579705" y="3532282"/>
            <a:ext cx="177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92"/>
          <p:cNvSpPr txBox="1"/>
          <p:nvPr>
            <p:ph idx="1" type="body"/>
          </p:nvPr>
        </p:nvSpPr>
        <p:spPr>
          <a:xfrm>
            <a:off x="324000" y="759300"/>
            <a:ext cx="8237700" cy="73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Round each number to the given number of significant figures in brackets and complete the cross number puzzle.</a:t>
            </a:r>
            <a:endParaRPr sz="1800"/>
          </a:p>
        </p:txBody>
      </p:sp>
      <p:sp>
        <p:nvSpPr>
          <p:cNvPr id="1322" name="Google Shape;1322;p92"/>
          <p:cNvSpPr txBox="1"/>
          <p:nvPr>
            <p:ph type="title"/>
          </p:nvPr>
        </p:nvSpPr>
        <p:spPr>
          <a:xfrm>
            <a:off x="1470049" y="48901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Rounding to a given number of significant figures</a:t>
            </a:r>
            <a:endParaRPr/>
          </a:p>
        </p:txBody>
      </p:sp>
      <p:sp>
        <p:nvSpPr>
          <p:cNvPr id="1323" name="Google Shape;1323;p92"/>
          <p:cNvSpPr txBox="1"/>
          <p:nvPr/>
        </p:nvSpPr>
        <p:spPr>
          <a:xfrm>
            <a:off x="324000" y="1543800"/>
            <a:ext cx="22809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Across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1)    9324 (1 s.f.)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2)    34 605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5)    8408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6)    32 047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7)    45 452 (3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10)  365.92 (2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12)  1 530 204 (1 s.f.)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7" name="Shape 1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8" name="Google Shape;1328;p93"/>
          <p:cNvSpPr txBox="1"/>
          <p:nvPr>
            <p:ph idx="1" type="body"/>
          </p:nvPr>
        </p:nvSpPr>
        <p:spPr>
          <a:xfrm>
            <a:off x="324000" y="610319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Rounding to significant figures is the same as rounding to the nearest 10, 100, 1000, etc.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The first significant figure is the first non-zero digit.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Zeros between other significant figures are significant and should be counted.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E.g. 500.500005		500.5005000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Number lines and place value grids can be used to round to significant figures.</a:t>
            </a:r>
            <a:endParaRPr sz="20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329" name="Google Shape;1329;p93"/>
          <p:cNvSpPr txBox="1"/>
          <p:nvPr>
            <p:ph type="title"/>
          </p:nvPr>
        </p:nvSpPr>
        <p:spPr>
          <a:xfrm>
            <a:off x="1684800" y="53076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Rounding integers to significant figures</a:t>
            </a:r>
            <a:endParaRPr sz="1800"/>
          </a:p>
        </p:txBody>
      </p:sp>
      <p:cxnSp>
        <p:nvCxnSpPr>
          <p:cNvPr id="1330" name="Google Shape;1330;p93"/>
          <p:cNvCxnSpPr/>
          <p:nvPr/>
        </p:nvCxnSpPr>
        <p:spPr>
          <a:xfrm rot="10800000">
            <a:off x="1217125" y="2900150"/>
            <a:ext cx="206700" cy="384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1" name="Google Shape;1331;p93"/>
          <p:cNvCxnSpPr/>
          <p:nvPr/>
        </p:nvCxnSpPr>
        <p:spPr>
          <a:xfrm flipH="1" rot="10800000">
            <a:off x="1453375" y="2900150"/>
            <a:ext cx="344700" cy="384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2" name="Google Shape;1332;p93"/>
          <p:cNvSpPr txBox="1"/>
          <p:nvPr/>
        </p:nvSpPr>
        <p:spPr>
          <a:xfrm>
            <a:off x="793876" y="3225029"/>
            <a:ext cx="132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all significant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333" name="Google Shape;1333;p93"/>
          <p:cNvCxnSpPr/>
          <p:nvPr/>
        </p:nvCxnSpPr>
        <p:spPr>
          <a:xfrm rot="10800000">
            <a:off x="3350725" y="2900150"/>
            <a:ext cx="206700" cy="384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4" name="Google Shape;1334;p93"/>
          <p:cNvCxnSpPr/>
          <p:nvPr/>
        </p:nvCxnSpPr>
        <p:spPr>
          <a:xfrm flipH="1" rot="10800000">
            <a:off x="3586975" y="2900150"/>
            <a:ext cx="344700" cy="384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5" name="Google Shape;1335;p93"/>
          <p:cNvCxnSpPr/>
          <p:nvPr/>
        </p:nvCxnSpPr>
        <p:spPr>
          <a:xfrm rot="10800000">
            <a:off x="4493725" y="2823950"/>
            <a:ext cx="206700" cy="3840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36" name="Google Shape;1336;p93"/>
          <p:cNvSpPr txBox="1"/>
          <p:nvPr/>
        </p:nvSpPr>
        <p:spPr>
          <a:xfrm>
            <a:off x="2887201" y="3284154"/>
            <a:ext cx="1323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significant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7" name="Google Shape;1337;p93"/>
          <p:cNvSpPr txBox="1"/>
          <p:nvPr/>
        </p:nvSpPr>
        <p:spPr>
          <a:xfrm>
            <a:off x="4487401" y="3131754"/>
            <a:ext cx="132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not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significant</a:t>
            </a:r>
            <a:endParaRPr sz="20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1" name="Shape 1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2" name="Google Shape;1342;p94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</a:t>
            </a:r>
            <a:r>
              <a:rPr lang="en-GB"/>
              <a:t>Mathematics in Education and Industry</a:t>
            </a:r>
            <a:r>
              <a:rPr lang="en-GB"/>
              <a:t>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343" name="Google Shape;1343;p9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