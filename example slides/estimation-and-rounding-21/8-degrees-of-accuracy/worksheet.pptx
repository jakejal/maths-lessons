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680E73E-8E98-41C1-9892-360FA93FC8B3}">
  <a:tblStyle styleId="{8680E73E-8E98-41C1-9892-360FA93FC8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b2c353493c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b2c35349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Degrees of accuracy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375591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Understanding degrees of accuracy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2" name="Google Shape;162;p20"/>
          <p:cNvGraphicFramePr/>
          <p:nvPr/>
        </p:nvGraphicFramePr>
        <p:xfrm>
          <a:off x="468000" y="205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{8680E73E-8E98-41C1-9892-360FA93FC8B3}</a:tableStyleId>
              </a:tblPr>
              <a:tblGrid>
                <a:gridCol w="3280850"/>
                <a:gridCol w="817275"/>
                <a:gridCol w="795000"/>
                <a:gridCol w="860300"/>
                <a:gridCol w="870575"/>
              </a:tblGrid>
              <a:tr h="44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Nearest integer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Nearest ten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Nearest hundred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Nearest thousand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number of baked beans in a tin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height at which a plane flies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seats in 5 cinema screens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number of people living in a street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pages in a book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buckets of water to fill a paddling pool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number of grains of rice in 1 kg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" name="Google Shape;163;p20"/>
          <p:cNvSpPr txBox="1"/>
          <p:nvPr/>
        </p:nvSpPr>
        <p:spPr>
          <a:xfrm>
            <a:off x="468000" y="1681800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table to show the  most appropriate degree of accuracy:</a:t>
            </a:r>
            <a:endParaRPr sz="1200"/>
          </a:p>
        </p:txBody>
      </p:sp>
      <p:graphicFrame>
        <p:nvGraphicFramePr>
          <p:cNvPr id="164" name="Google Shape;164;p20"/>
          <p:cNvGraphicFramePr/>
          <p:nvPr/>
        </p:nvGraphicFramePr>
        <p:xfrm>
          <a:off x="468000" y="5799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{8680E73E-8E98-41C1-9892-360FA93FC8B3}</a:tableStyleId>
              </a:tblPr>
              <a:tblGrid>
                <a:gridCol w="4611950"/>
                <a:gridCol w="503000"/>
                <a:gridCol w="503000"/>
                <a:gridCol w="503000"/>
                <a:gridCol w="503000"/>
              </a:tblGrid>
              <a:tr h="31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s.f.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s.f.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s.f.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s.f.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population of a town is 12 000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length of a plank of wood is 6.24 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width of a blade of grass is 1.6 mm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attendance at a pop concert is 30 000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62% of UK homes own a pet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width of a human hair is 0.009 cm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distance from Earth to the Moon is 384 400 km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5" name="Google Shape;165;p20"/>
          <p:cNvSpPr txBox="1"/>
          <p:nvPr/>
        </p:nvSpPr>
        <p:spPr>
          <a:xfrm>
            <a:off x="468000" y="5220675"/>
            <a:ext cx="66240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table to show which degree of accuracy is most likely to have been used: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Degrees of accuracy</a:t>
            </a:r>
            <a:endParaRPr/>
          </a:p>
        </p:txBody>
      </p:sp>
      <p:sp>
        <p:nvSpPr>
          <p:cNvPr id="171" name="Google Shape;171;p21"/>
          <p:cNvSpPr txBox="1"/>
          <p:nvPr/>
        </p:nvSpPr>
        <p:spPr>
          <a:xfrm>
            <a:off x="468000" y="720000"/>
            <a:ext cx="6624000" cy="13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Rewrite the story below rounding each of the numbers to an appropriate degree of accuracy.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 belongs to a supporters club for her favourite football team.  They decide to organise coaches to watch an away match.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19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coaches of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people set off for the match.  The coach travels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26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2.504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km to the match which takes them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hours, 5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 minutes and 15 seconds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 Whilst at the match Sofia and her mum buy some lunch which costs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£18.97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 During the match there was an announcement that the attendance at the match is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51 699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 The average speed of the coach on the way home is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54.89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mph. And they arrive home at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23:58:42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2" name="Google Shape;172;p21"/>
          <p:cNvCxnSpPr/>
          <p:nvPr/>
        </p:nvCxnSpPr>
        <p:spPr>
          <a:xfrm>
            <a:off x="480750" y="300995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21"/>
          <p:cNvSpPr txBox="1"/>
          <p:nvPr/>
        </p:nvSpPr>
        <p:spPr>
          <a:xfrm>
            <a:off x="468000" y="318567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Answers to an appropriate degree of accuracy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468350" y="3499200"/>
            <a:ext cx="6624000" cy="3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each of the following questions give your answers to an appropriate degree of accuracy.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area and perimeter of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1340455" y="4401348"/>
            <a:ext cx="930600" cy="1065000"/>
          </a:xfrm>
          <a:prstGeom prst="triangle">
            <a:avLst>
              <a:gd fmla="val 50000" name="adj"/>
            </a:avLst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913037" y="4753483"/>
            <a:ext cx="56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5.2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" name="Google Shape;177;p21"/>
          <p:cNvCxnSpPr>
            <a:stCxn id="175" idx="1"/>
            <a:endCxn id="175" idx="1"/>
          </p:cNvCxnSpPr>
          <p:nvPr/>
        </p:nvCxnSpPr>
        <p:spPr>
          <a:xfrm>
            <a:off x="1573105" y="4933848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1"/>
          <p:cNvCxnSpPr>
            <a:stCxn id="175" idx="1"/>
            <a:endCxn id="175" idx="1"/>
          </p:cNvCxnSpPr>
          <p:nvPr/>
        </p:nvCxnSpPr>
        <p:spPr>
          <a:xfrm>
            <a:off x="1573105" y="4933848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21"/>
          <p:cNvSpPr txBox="1"/>
          <p:nvPr/>
        </p:nvSpPr>
        <p:spPr>
          <a:xfrm>
            <a:off x="1832349" y="5059351"/>
            <a:ext cx="56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4.9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1561489" y="5508476"/>
            <a:ext cx="56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" name="Google Shape;181;p21"/>
          <p:cNvCxnSpPr>
            <a:stCxn id="175" idx="0"/>
          </p:cNvCxnSpPr>
          <p:nvPr/>
        </p:nvCxnSpPr>
        <p:spPr>
          <a:xfrm>
            <a:off x="1805755" y="4401348"/>
            <a:ext cx="0" cy="106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182" name="Google Shape;182;p21"/>
          <p:cNvCxnSpPr/>
          <p:nvPr/>
        </p:nvCxnSpPr>
        <p:spPr>
          <a:xfrm>
            <a:off x="1527947" y="4932922"/>
            <a:ext cx="84000" cy="372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21"/>
          <p:cNvCxnSpPr/>
          <p:nvPr/>
        </p:nvCxnSpPr>
        <p:spPr>
          <a:xfrm flipH="1">
            <a:off x="1998774" y="4914040"/>
            <a:ext cx="105000" cy="684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21"/>
          <p:cNvSpPr/>
          <p:nvPr/>
        </p:nvSpPr>
        <p:spPr>
          <a:xfrm>
            <a:off x="1273215" y="5929278"/>
            <a:ext cx="1442100" cy="45330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685952" y="6047615"/>
            <a:ext cx="56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1.28m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1709966" y="6460266"/>
            <a:ext cx="56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3.65m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7" name="Google Shape;187;p21"/>
          <p:cNvCxnSpPr/>
          <p:nvPr/>
        </p:nvCxnSpPr>
        <p:spPr>
          <a:xfrm flipH="1">
            <a:off x="1273223" y="4375175"/>
            <a:ext cx="473100" cy="1073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8" name="Google Shape;188;p21"/>
          <p:cNvCxnSpPr/>
          <p:nvPr/>
        </p:nvCxnSpPr>
        <p:spPr>
          <a:xfrm rot="10800000">
            <a:off x="1338311" y="5517487"/>
            <a:ext cx="938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9" name="Google Shape;189;p21"/>
          <p:cNvCxnSpPr/>
          <p:nvPr/>
        </p:nvCxnSpPr>
        <p:spPr>
          <a:xfrm>
            <a:off x="1284474" y="6439644"/>
            <a:ext cx="141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0" name="Google Shape;190;p21"/>
          <p:cNvCxnSpPr/>
          <p:nvPr/>
        </p:nvCxnSpPr>
        <p:spPr>
          <a:xfrm>
            <a:off x="1215220" y="5924235"/>
            <a:ext cx="0" cy="463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1" name="Google Shape;191;p21"/>
          <p:cNvSpPr txBox="1"/>
          <p:nvPr/>
        </p:nvSpPr>
        <p:spPr>
          <a:xfrm>
            <a:off x="468000" y="6722775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Convert the following from dollars into pounds: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exchange rate £1 : $1.27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992" y="7389950"/>
            <a:ext cx="486826" cy="1138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025" y="9017339"/>
            <a:ext cx="759441" cy="681667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/>
          <p:nvPr/>
        </p:nvSpPr>
        <p:spPr>
          <a:xfrm flipH="1" rot="-1419534">
            <a:off x="1363938" y="7699927"/>
            <a:ext cx="1000272" cy="285206"/>
          </a:xfrm>
          <a:prstGeom prst="homePlate">
            <a:avLst>
              <a:gd fmla="val 50000" name="adj"/>
            </a:avLst>
          </a:prstGeom>
          <a:solidFill>
            <a:srgbClr val="EEEEEE"/>
          </a:solidFill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$2.95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/>
          <p:nvPr/>
        </p:nvSpPr>
        <p:spPr>
          <a:xfrm flipH="1" rot="-1419534">
            <a:off x="1590926" y="8969423"/>
            <a:ext cx="1000272" cy="285206"/>
          </a:xfrm>
          <a:prstGeom prst="homePlate">
            <a:avLst>
              <a:gd fmla="val 50000" name="adj"/>
            </a:avLst>
          </a:prstGeom>
          <a:solidFill>
            <a:srgbClr val="EEEEEE"/>
          </a:solidFill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$5.70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/>
          <p:nvPr/>
        </p:nvSpPr>
        <p:spPr>
          <a:xfrm flipH="1" rot="-1419534">
            <a:off x="1363938" y="7699927"/>
            <a:ext cx="1000272" cy="285206"/>
          </a:xfrm>
          <a:prstGeom prst="homePlate">
            <a:avLst>
              <a:gd fmla="val 50000" name="adj"/>
            </a:avLst>
          </a:prstGeom>
          <a:solidFill>
            <a:srgbClr val="EEEEEE"/>
          </a:solidFill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$2.95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466825" y="360000"/>
            <a:ext cx="5779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Lexend"/>
                <a:ea typeface="Lexend"/>
                <a:cs typeface="Lexend"/>
                <a:sym typeface="Lexend"/>
              </a:rPr>
              <a:t>Degrees of accuracy</a:t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469078" y="720000"/>
            <a:ext cx="66228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	Answer the following.  At each stage give your answer to an appropriate degree of accuracy.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much will it cost to paint this wall?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tin of paint covers 25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7" name="Google Shape;207;p22"/>
          <p:cNvPicPr preferRelativeResize="0"/>
          <p:nvPr/>
        </p:nvPicPr>
        <p:blipFill rotWithShape="1">
          <a:blip r:embed="rId3">
            <a:alphaModFix/>
          </a:blip>
          <a:srcRect b="0" l="51634" r="0" t="38736"/>
          <a:stretch/>
        </p:blipFill>
        <p:spPr>
          <a:xfrm>
            <a:off x="5410913" y="1194325"/>
            <a:ext cx="723768" cy="81831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/>
          <p:nvPr/>
        </p:nvSpPr>
        <p:spPr>
          <a:xfrm rot="843052">
            <a:off x="4593132" y="1386558"/>
            <a:ext cx="855084" cy="301811"/>
          </a:xfrm>
          <a:prstGeom prst="homePlate">
            <a:avLst>
              <a:gd fmla="val 50000" name="adj"/>
            </a:avLst>
          </a:prstGeom>
          <a:solidFill>
            <a:srgbClr val="F0F0F0"/>
          </a:solidFill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£19.50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5564704" y="1712642"/>
            <a:ext cx="399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2.5 L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4392861" y="2083456"/>
            <a:ext cx="723600" cy="11652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5083086" y="2430474"/>
            <a:ext cx="723600" cy="8184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4930047" y="3283725"/>
            <a:ext cx="56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8.25m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5888996" y="2744375"/>
            <a:ext cx="56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5.35m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3827175" y="2589978"/>
            <a:ext cx="487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6.84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5329477" y="2183225"/>
            <a:ext cx="56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6" name="Google Shape;216;p22"/>
          <p:cNvCxnSpPr/>
          <p:nvPr/>
        </p:nvCxnSpPr>
        <p:spPr>
          <a:xfrm>
            <a:off x="4432298" y="3224393"/>
            <a:ext cx="1407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7" name="Google Shape;217;p22"/>
          <p:cNvCxnSpPr/>
          <p:nvPr/>
        </p:nvCxnSpPr>
        <p:spPr>
          <a:xfrm>
            <a:off x="4348537" y="2085104"/>
            <a:ext cx="0" cy="1161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8" name="Google Shape;218;p22"/>
          <p:cNvCxnSpPr/>
          <p:nvPr/>
        </p:nvCxnSpPr>
        <p:spPr>
          <a:xfrm>
            <a:off x="5123462" y="2394773"/>
            <a:ext cx="683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9" name="Google Shape;219;p22"/>
          <p:cNvCxnSpPr/>
          <p:nvPr/>
        </p:nvCxnSpPr>
        <p:spPr>
          <a:xfrm>
            <a:off x="5847898" y="2433852"/>
            <a:ext cx="0" cy="811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0" name="Google Shape;220;p22"/>
          <p:cNvSpPr txBox="1"/>
          <p:nvPr/>
        </p:nvSpPr>
        <p:spPr>
          <a:xfrm>
            <a:off x="468000" y="4362975"/>
            <a:ext cx="66228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	Use you calculator to answer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1" name="Google Shape;221;p22"/>
          <p:cNvCxnSpPr/>
          <p:nvPr/>
        </p:nvCxnSpPr>
        <p:spPr>
          <a:xfrm>
            <a:off x="1820325" y="6309288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22"/>
          <p:cNvCxnSpPr/>
          <p:nvPr/>
        </p:nvCxnSpPr>
        <p:spPr>
          <a:xfrm>
            <a:off x="1820325" y="6309288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\sqrt{22}+3.8}{380\ -\ 0.54}&quot;&gt;&lt;mfrac&gt;&lt;mrow&gt;&lt;msqrt&gt;&lt;mn&gt;22&lt;/mn&gt;&lt;/msqrt&gt;&lt;mo&gt;+&lt;/mo&gt;&lt;mn&gt;3.8&lt;/mn&gt;&lt;/mrow&gt;&lt;mrow&gt;&lt;mn&gt;380&lt;/mn&gt;&lt;mtext&gt;&lt;/mtext&gt;&lt;mo&gt;−&lt;/mo&gt;&lt;mtext&gt;&lt;/mtext&gt;&lt;mn&gt;0.54&lt;/mn&gt;&lt;/mrow&gt;&lt;/mfrac&gt;&lt;/math&gt;" id="223" name="Google Shape;223;p22" title="the fraction with numerator the square root of 22 plus 3.8 and denominator 380 minus 0.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8725" y="4665549"/>
            <a:ext cx="1215151" cy="603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.28\ +\left(11.05\right)^2}{0.07\ \times3.92}&quot;&gt;&lt;mfrac&gt;&lt;mrow&gt;&lt;mn&gt;1.28&lt;/mn&gt;&lt;mtext&gt;&lt;/mtext&gt;&lt;mo&gt;+&lt;/mo&gt;&lt;msup&gt;&lt;mrow data-mjx-texclass=&quot;INNER&quot;&gt;&lt;mo data-mjx-texclass=&quot;OPEN&quot;&gt;(&lt;/mo&gt;&lt;mn&gt;11.05&lt;/mn&gt;&lt;mo data-mjx-texclass=&quot;CLOSE&quot;&gt;)&lt;/mo&gt;&lt;/mrow&gt;&lt;mn&gt;2&lt;/mn&gt;&lt;/msup&gt;&lt;/mrow&gt;&lt;mrow&gt;&lt;mn&gt;0.07&lt;/mn&gt;&lt;mtext&gt;&lt;/mtext&gt;&lt;mo&gt;×&lt;/mo&gt;&lt;mn&gt;3.92&lt;/mn&gt;&lt;/mrow&gt;&lt;/mfrac&gt;&lt;/math&gt;" id="224" name="Google Shape;224;p22" title="the fraction with numerator 1.28 positive 11.05 squared and denominator 0.07 times 3.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8726" y="5945553"/>
            <a:ext cx="1717674" cy="603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