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FC9C7A-5D17-4F1A-B51F-8DA83240D084}">
  <a:tblStyle styleId="{2EFC9C7A-5D17-4F1A-B51F-8DA83240D0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b2c66c9c74_0_5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b2c66c9c7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75591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Understanding degrees of accuracy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468000" y="205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{2EFC9C7A-5D17-4F1A-B51F-8DA83240D084}</a:tableStyleId>
              </a:tblPr>
              <a:tblGrid>
                <a:gridCol w="3280850"/>
                <a:gridCol w="817275"/>
                <a:gridCol w="795000"/>
                <a:gridCol w="860300"/>
                <a:gridCol w="870575"/>
              </a:tblGrid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integer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ten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hundred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thousand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baked beans in a tin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height at which a plane flies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seats in 5 cinema screens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people living in a street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pages in a book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buckets of water to fill a paddling pool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grains of rice in 1 kg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16818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to show the  most appropriate degree of accuracy:</a:t>
            </a:r>
            <a:endParaRPr sz="1200"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401" y="2523398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447" y="2838037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7460" y="3215603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401" y="3656097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7460" y="4050505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401" y="4050505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623" y="4428072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7460" y="4803204"/>
            <a:ext cx="234208" cy="2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447" y="4800750"/>
            <a:ext cx="234208" cy="2478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20"/>
          <p:cNvGraphicFramePr/>
          <p:nvPr/>
        </p:nvGraphicFramePr>
        <p:xfrm>
          <a:off x="468000" y="579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{2EFC9C7A-5D17-4F1A-B51F-8DA83240D084}</a:tableStyleId>
              </a:tblPr>
              <a:tblGrid>
                <a:gridCol w="4611950"/>
                <a:gridCol w="503000"/>
                <a:gridCol w="503000"/>
                <a:gridCol w="503000"/>
                <a:gridCol w="503000"/>
              </a:tblGrid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s.f.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s.f.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s.f.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s.f.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population of a town is 12 000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length of a plank of wood is 6.24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width of a blade of grass is 1.6 mm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attendance at a pop concert is 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62% of UK homes own a pet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width of a human hair is 0.009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distance from Earth to the Moon is 384 400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0"/>
          <p:cNvSpPr txBox="1"/>
          <p:nvPr/>
        </p:nvSpPr>
        <p:spPr>
          <a:xfrm>
            <a:off x="468000" y="5220675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to show which degree of accuracy is most likely to have been used:</a:t>
            </a:r>
            <a:endParaRPr sz="1200"/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797" y="6110502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140" y="6417988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42" y="6751035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798" y="7071254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42" y="7391473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798" y="7711691"/>
            <a:ext cx="238360" cy="2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044" y="8031910"/>
            <a:ext cx="238360" cy="252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Rewrite the story below rounding each of the numbers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belongs to a supporters club for her favourite football team.  They decide to organise coaches to watch an away match.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coaches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people set off for the match.  The coach travels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km to the match which takes them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hours.  Whilst at the match Sofia and her mum buy some lunch which costs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During the match there was an announcement that the attendance at the match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52 000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The average speed of the coach on the way home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mph. And they arrive home at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688675" y="1449275"/>
            <a:ext cx="8892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770837" y="1449275"/>
            <a:ext cx="7440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268525" y="1683875"/>
            <a:ext cx="5625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850900" y="2294825"/>
            <a:ext cx="4176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509000" y="1861000"/>
            <a:ext cx="3300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493800" y="2119500"/>
            <a:ext cx="562500" cy="1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412000" y="2294825"/>
            <a:ext cx="5625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356200" y="1683875"/>
            <a:ext cx="562500" cy="23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80750" y="26289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1"/>
          <p:cNvSpPr txBox="1"/>
          <p:nvPr/>
        </p:nvSpPr>
        <p:spPr>
          <a:xfrm>
            <a:off x="468000" y="27284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Answers to an appropriate degree of accuracy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350" y="3042000"/>
            <a:ext cx="66240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of the following questions give your answers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area and perimeter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155958" y="4125522"/>
            <a:ext cx="393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	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5.2 + 3.4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			= 13.8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	= ½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3.4 × 4.9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		= 8.3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(to 1 d.p.)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155958" y="5269447"/>
            <a:ext cx="393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	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(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1.28 + 3.65)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			= 9.86 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	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1.28 × 3.65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		= 4.67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(to 2 d.p.)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340455" y="3944148"/>
            <a:ext cx="930600" cy="1065000"/>
          </a:xfrm>
          <a:prstGeom prst="triangle">
            <a:avLst>
              <a:gd fmla="val 50000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913037" y="4296283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>
            <a:stCxn id="213" idx="1"/>
            <a:endCxn id="213" idx="1"/>
          </p:cNvCxnSpPr>
          <p:nvPr/>
        </p:nvCxnSpPr>
        <p:spPr>
          <a:xfrm>
            <a:off x="1573105" y="447664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1"/>
          <p:cNvCxnSpPr>
            <a:stCxn id="213" idx="1"/>
            <a:endCxn id="213" idx="1"/>
          </p:cNvCxnSpPr>
          <p:nvPr/>
        </p:nvCxnSpPr>
        <p:spPr>
          <a:xfrm>
            <a:off x="1573105" y="447664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1"/>
          <p:cNvSpPr txBox="1"/>
          <p:nvPr/>
        </p:nvSpPr>
        <p:spPr>
          <a:xfrm>
            <a:off x="1832349" y="4602151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561489" y="5051276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1"/>
          <p:cNvCxnSpPr>
            <a:stCxn id="213" idx="0"/>
          </p:cNvCxnSpPr>
          <p:nvPr/>
        </p:nvCxnSpPr>
        <p:spPr>
          <a:xfrm>
            <a:off x="1805755" y="3944148"/>
            <a:ext cx="0" cy="106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1527947" y="4475722"/>
            <a:ext cx="84000" cy="372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1"/>
          <p:cNvCxnSpPr/>
          <p:nvPr/>
        </p:nvCxnSpPr>
        <p:spPr>
          <a:xfrm flipH="1">
            <a:off x="1998774" y="4456840"/>
            <a:ext cx="105000" cy="684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1273215" y="5472078"/>
            <a:ext cx="1442100" cy="4533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85952" y="5590415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1.28m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709966" y="6003066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3.65m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 flipH="1">
            <a:off x="1273223" y="3917975"/>
            <a:ext cx="473100" cy="107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1"/>
          <p:cNvCxnSpPr/>
          <p:nvPr/>
        </p:nvCxnSpPr>
        <p:spPr>
          <a:xfrm rot="10800000">
            <a:off x="1338311" y="5060287"/>
            <a:ext cx="938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1"/>
          <p:cNvCxnSpPr/>
          <p:nvPr/>
        </p:nvCxnSpPr>
        <p:spPr>
          <a:xfrm>
            <a:off x="1284474" y="5982444"/>
            <a:ext cx="141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1"/>
          <p:cNvCxnSpPr/>
          <p:nvPr/>
        </p:nvCxnSpPr>
        <p:spPr>
          <a:xfrm>
            <a:off x="1215220" y="5467035"/>
            <a:ext cx="0" cy="46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9" name="Google Shape;229;p21"/>
          <p:cNvSpPr txBox="1"/>
          <p:nvPr/>
        </p:nvSpPr>
        <p:spPr>
          <a:xfrm>
            <a:off x="468000" y="62655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from dollars into pounds: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exchange rate £1 : $1.27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992" y="6932750"/>
            <a:ext cx="486826" cy="113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25" y="8560139"/>
            <a:ext cx="759441" cy="68166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 flipH="1" rot="-1419534">
            <a:off x="1363938" y="7242727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$2.95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 flipH="1" rot="-1419534">
            <a:off x="1590926" y="8512223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$5.70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 flipH="1" rot="-1419534">
            <a:off x="1363938" y="7242727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$2.95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1"/>
          <p:cNvGraphicFramePr/>
          <p:nvPr/>
        </p:nvGraphicFramePr>
        <p:xfrm>
          <a:off x="3488420" y="69604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{2EFC9C7A-5D17-4F1A-B51F-8DA83240D084}</a:tableStyleId>
              </a:tblPr>
              <a:tblGrid>
                <a:gridCol w="1153275"/>
                <a:gridCol w="1153275"/>
              </a:tblGrid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$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2.95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21"/>
          <p:cNvGraphicFramePr/>
          <p:nvPr/>
        </p:nvGraphicFramePr>
        <p:xfrm>
          <a:off x="3488420" y="8309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{2EFC9C7A-5D17-4F1A-B51F-8DA83240D084}</a:tableStyleId>
              </a:tblPr>
              <a:tblGrid>
                <a:gridCol w="1153275"/>
                <a:gridCol w="1153275"/>
              </a:tblGrid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$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4.49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5.70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9078" y="720000"/>
            <a:ext cx="6622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Answer the following.  At each stage give your answer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will it cost to paint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tin of paint covers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51634" r="0" t="38736"/>
          <a:stretch/>
        </p:blipFill>
        <p:spPr>
          <a:xfrm>
            <a:off x="5410913" y="1194325"/>
            <a:ext cx="723768" cy="81831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 rot="843052">
            <a:off x="4593132" y="1386558"/>
            <a:ext cx="855084" cy="301811"/>
          </a:xfrm>
          <a:prstGeom prst="homePlate">
            <a:avLst>
              <a:gd fmla="val 50000" name="adj"/>
            </a:avLst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£19.50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5564704" y="1712642"/>
            <a:ext cx="39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2.5 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9077" y="2660700"/>
            <a:ext cx="358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of wall	= 50.47 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 of tins of paint	= 50.47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2.018…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3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Cost of paint	=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19.50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				= £58.50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392861" y="2083456"/>
            <a:ext cx="723600" cy="1165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083086" y="2430474"/>
            <a:ext cx="723600" cy="8184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930047" y="328372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8.25m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888996" y="274437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5.35m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3827175" y="2589978"/>
            <a:ext cx="48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5329477" y="218322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2"/>
          <p:cNvCxnSpPr/>
          <p:nvPr/>
        </p:nvCxnSpPr>
        <p:spPr>
          <a:xfrm>
            <a:off x="4432298" y="3224393"/>
            <a:ext cx="140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4348537" y="2085104"/>
            <a:ext cx="0" cy="116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9" name="Google Shape;259;p22"/>
          <p:cNvCxnSpPr/>
          <p:nvPr/>
        </p:nvCxnSpPr>
        <p:spPr>
          <a:xfrm>
            <a:off x="5123462" y="2394773"/>
            <a:ext cx="683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0" name="Google Shape;260;p22"/>
          <p:cNvCxnSpPr/>
          <p:nvPr/>
        </p:nvCxnSpPr>
        <p:spPr>
          <a:xfrm>
            <a:off x="5847898" y="2433852"/>
            <a:ext cx="0" cy="81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1" name="Google Shape;261;p22"/>
          <p:cNvSpPr txBox="1"/>
          <p:nvPr/>
        </p:nvSpPr>
        <p:spPr>
          <a:xfrm>
            <a:off x="468000" y="4362975"/>
            <a:ext cx="6622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	Use you calculator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2"/>
          <p:cNvCxnSpPr/>
          <p:nvPr/>
        </p:nvCxnSpPr>
        <p:spPr>
          <a:xfrm>
            <a:off x="1820325" y="630928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2"/>
          <p:cNvCxnSpPr/>
          <p:nvPr/>
        </p:nvCxnSpPr>
        <p:spPr>
          <a:xfrm>
            <a:off x="1820325" y="630928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2"/>
          <p:cNvSpPr txBox="1"/>
          <p:nvPr/>
        </p:nvSpPr>
        <p:spPr>
          <a:xfrm>
            <a:off x="3159027" y="4833488"/>
            <a:ext cx="237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0.022 (to 2 s.f.)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3159027" y="6296560"/>
            <a:ext cx="237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449.64 (to 2 d.p.)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sqrt{22}+3.8}{380\ -\ 0.54}&quot;&gt;&lt;mfrac&gt;&lt;mrow&gt;&lt;msqrt&gt;&lt;mn&gt;22&lt;/mn&gt;&lt;/msqrt&gt;&lt;mo&gt;+&lt;/mo&gt;&lt;mn&gt;3.8&lt;/mn&gt;&lt;/mrow&gt;&lt;mrow&gt;&lt;mn&gt;380&lt;/mn&gt;&lt;mtext&gt;&lt;/mtext&gt;&lt;mo&gt;−&lt;/mo&gt;&lt;mtext&gt;&lt;/mtext&gt;&lt;mn&gt;0.54&lt;/mn&gt;&lt;/mrow&gt;&lt;/mfrac&gt;&lt;/math&gt;" id="266" name="Google Shape;266;p22" title="the fraction with numerator the square root of 22 plus 3.8 and denominator 380 minus 0.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25" y="4665549"/>
            <a:ext cx="1215151" cy="603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8\ +\left(11.05\right)^2}{0.07\ \times3.92}&quot;&gt;&lt;mfrac&gt;&lt;mrow&gt;&lt;mn&gt;1.28&lt;/mn&gt;&lt;mtext&gt;&lt;/mtext&gt;&lt;mo&gt;+&lt;/mo&gt;&lt;msup&gt;&lt;mrow data-mjx-texclass=&quot;INNER&quot;&gt;&lt;mo data-mjx-texclass=&quot;OPEN&quot;&gt;(&lt;/mo&gt;&lt;mn&gt;11.05&lt;/mn&gt;&lt;mo data-mjx-texclass=&quot;CLOSE&quot;&gt;)&lt;/mo&gt;&lt;/mrow&gt;&lt;mn&gt;2&lt;/mn&gt;&lt;/msup&gt;&lt;/mrow&gt;&lt;mrow&gt;&lt;mn&gt;0.07&lt;/mn&gt;&lt;mtext&gt;&lt;/mtext&gt;&lt;mo&gt;×&lt;/mo&gt;&lt;mn&gt;3.92&lt;/mn&gt;&lt;/mrow&gt;&lt;/mfrac&gt;&lt;/math&gt;" id="267" name="Google Shape;267;p22" title="the fraction with numerator 1.28 positive 11.05 squared and denominator 0.07 times 3.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726" y="5945553"/>
            <a:ext cx="1717674" cy="603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