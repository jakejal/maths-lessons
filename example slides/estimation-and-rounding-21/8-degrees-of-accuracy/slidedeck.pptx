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F0EA7B0-5CE6-43D2-91B7-8B6C7CCF27BC}">
  <a:tblStyle styleId="{8F0EA7B0-5CE6-43D2-91B7-8B6C7CCF27B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265dcd07b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265dcd07b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2a93c6b8af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2a93c6b8af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265dcd07b7a_0_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265dcd07b7a_0_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265dcd07b7a_0_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265dcd07b7a_0_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265dcd07b7a_0_8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265dcd07b7a_0_8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g265dcd07b7a_0_8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8" name="Google Shape;818;g265dcd07b7a_0_8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265dcd07b7a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265dcd07b7a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265dcd07b7a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265dcd07b7a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265dcd07b7a_0_8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265dcd07b7a_0_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265dcd07b7a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265dcd07b7a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265dcd07b7a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9" name="Google Shape;859;g265dcd07b7a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265dcd07b7a_0_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265dcd07b7a_0_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265dcd07b7a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265dcd07b7a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265dcd07b7a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8" name="Google Shape;888;g265dcd07b7a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265dcd07b7a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2" name="Google Shape;902;g265dcd07b7a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g2b067c22510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7" name="Google Shape;917;g2b067c22510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28eabfa37a2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28eabfa37a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28eabfa37a2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6" name="Google Shape;946;g28eabfa37a2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g265dcd07b7a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7" name="Google Shape;967;g265dcd07b7a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265dcd07b7a_1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9" name="Google Shape;979;g265dcd07b7a_1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2b067c2251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5" name="Google Shape;995;g2b067c2251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2b067c2251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0" name="Google Shape;1010;g2b067c2251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g2b067c2251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7" name="Google Shape;1037;g2b067c2251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2b067c22510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3" name="Google Shape;1053;g2b067c22510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2b067c22510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1" name="Google Shape;1061;g2b067c22510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2b067c22510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1" name="Google Shape;1071;g2b067c2251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2b067c22510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2b067c22510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2b067c22510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2" name="Google Shape;1112;g2b067c22510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2b067c22510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3" name="Google Shape;1123;g2b067c22510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g2b067c22510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2" name="Google Shape;1142;g2b067c22510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g2b067c22510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3" name="Google Shape;1153;g2b067c22510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g2b067c22510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7" name="Google Shape;1177;g2b067c22510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8" name="Shape 1198"/>
        <p:cNvGrpSpPr/>
        <p:nvPr/>
      </p:nvGrpSpPr>
      <p:grpSpPr>
        <a:xfrm>
          <a:off x="0" y="0"/>
          <a:ext cx="0" cy="0"/>
          <a:chOff x="0" y="0"/>
          <a:chExt cx="0" cy="0"/>
        </a:xfrm>
      </p:grpSpPr>
      <p:sp>
        <p:nvSpPr>
          <p:cNvPr id="1199" name="Google Shape;1199;g2b067c22510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0" name="Google Shape;1200;g2b067c22510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g2b067c22510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0" name="Google Shape;1220;g2b067c22510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2" name="Google Shape;1232;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8" name="Google Shape;1238;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10.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2.png"/><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17.png"/><Relationship Id="rId5" Type="http://schemas.openxmlformats.org/officeDocument/2006/relationships/image" Target="../media/image1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3.pn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8.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0.png"/><Relationship Id="rId7" Type="http://schemas.openxmlformats.org/officeDocument/2006/relationships/image" Target="../media/image1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24.png"/><Relationship Id="rId4" Type="http://schemas.openxmlformats.org/officeDocument/2006/relationships/image" Target="../media/image69.png"/><Relationship Id="rId5" Type="http://schemas.openxmlformats.org/officeDocument/2006/relationships/image" Target="../media/image25.png"/><Relationship Id="rId6" Type="http://schemas.openxmlformats.org/officeDocument/2006/relationships/image" Target="../media/image32.png"/><Relationship Id="rId7" Type="http://schemas.openxmlformats.org/officeDocument/2006/relationships/image" Target="../media/image2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69.png"/><Relationship Id="rId4" Type="http://schemas.openxmlformats.org/officeDocument/2006/relationships/image" Target="../media/image26.png"/><Relationship Id="rId9"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34.png"/><Relationship Id="rId7" Type="http://schemas.openxmlformats.org/officeDocument/2006/relationships/image" Target="../media/image25.png"/><Relationship Id="rId8" Type="http://schemas.openxmlformats.org/officeDocument/2006/relationships/image" Target="../media/image3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69.png"/><Relationship Id="rId4" Type="http://schemas.openxmlformats.org/officeDocument/2006/relationships/image" Target="../media/image28.png"/><Relationship Id="rId11" Type="http://schemas.openxmlformats.org/officeDocument/2006/relationships/image" Target="../media/image23.png"/><Relationship Id="rId10" Type="http://schemas.openxmlformats.org/officeDocument/2006/relationships/image" Target="../media/image37.png"/><Relationship Id="rId9" Type="http://schemas.openxmlformats.org/officeDocument/2006/relationships/image" Target="../media/image32.png"/><Relationship Id="rId5" Type="http://schemas.openxmlformats.org/officeDocument/2006/relationships/image" Target="../media/image26.png"/><Relationship Id="rId6" Type="http://schemas.openxmlformats.org/officeDocument/2006/relationships/image" Target="../media/image24.png"/><Relationship Id="rId7" Type="http://schemas.openxmlformats.org/officeDocument/2006/relationships/image" Target="../media/image34.png"/><Relationship Id="rId8" Type="http://schemas.openxmlformats.org/officeDocument/2006/relationships/image" Target="../media/image2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3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36.png"/><Relationship Id="rId4" Type="http://schemas.openxmlformats.org/officeDocument/2006/relationships/image" Target="../media/image4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6.png"/><Relationship Id="rId4" Type="http://schemas.openxmlformats.org/officeDocument/2006/relationships/image" Target="../media/image4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6.png"/><Relationship Id="rId4" Type="http://schemas.openxmlformats.org/officeDocument/2006/relationships/image" Target="../media/image4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6.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901925" y="9534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                                          to </a:t>
            </a:r>
            <a:r>
              <a:rPr lang="en-GB" sz="1200">
                <a:solidFill>
                  <a:srgbClr val="000000"/>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650916" y="16444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7" name="Google Shape;107;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8" name="Shape 108"/>
        <p:cNvGrpSpPr/>
        <p:nvPr/>
      </p:nvGrpSpPr>
      <p:grpSpPr>
        <a:xfrm>
          <a:off x="0" y="0"/>
          <a:ext cx="0" cy="0"/>
          <a:chOff x="0" y="0"/>
          <a:chExt cx="0" cy="0"/>
        </a:xfrm>
      </p:grpSpPr>
      <p:sp>
        <p:nvSpPr>
          <p:cNvPr id="109" name="Google Shape;109;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1" name="Google Shape;111;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2" name="Google Shape;112;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3" name="Google Shape;113;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4" name="Google Shape;114;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5" name="Google Shape;115;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6" name="Google Shape;116;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7" name="Google Shape;117;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8" name="Shape 118"/>
        <p:cNvGrpSpPr/>
        <p:nvPr/>
      </p:nvGrpSpPr>
      <p:grpSpPr>
        <a:xfrm>
          <a:off x="0" y="0"/>
          <a:ext cx="0" cy="0"/>
          <a:chOff x="0" y="0"/>
          <a:chExt cx="0" cy="0"/>
        </a:xfrm>
      </p:grpSpPr>
      <p:sp>
        <p:nvSpPr>
          <p:cNvPr id="119" name="Google Shape;119;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1" name="Google Shape;121;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2" name="Google Shape;122;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3" name="Google Shape;123;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4" name="Google Shape;124;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5" name="Google Shape;125;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6" name="Google Shape;126;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7" name="Google Shape;127;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8" name="Google Shape;128;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9" name="Google Shape;129;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30" name="Shape 130"/>
        <p:cNvGrpSpPr/>
        <p:nvPr/>
      </p:nvGrpSpPr>
      <p:grpSpPr>
        <a:xfrm>
          <a:off x="0" y="0"/>
          <a:ext cx="0" cy="0"/>
          <a:chOff x="0" y="0"/>
          <a:chExt cx="0" cy="0"/>
        </a:xfrm>
      </p:grpSpPr>
      <p:sp>
        <p:nvSpPr>
          <p:cNvPr id="131" name="Google Shape;131;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 name="Google Shape;132;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3" name="Google Shape;133;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4" name="Google Shape;134;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6" name="Google Shape;136;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7" name="Google Shape;137;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8" name="Google Shape;138;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9" name="Google Shape;139;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0" name="Google Shape;140;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2" name="Google Shape;142;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4" name="Shape 144"/>
        <p:cNvGrpSpPr/>
        <p:nvPr/>
      </p:nvGrpSpPr>
      <p:grpSpPr>
        <a:xfrm>
          <a:off x="0" y="0"/>
          <a:ext cx="0" cy="0"/>
          <a:chOff x="0" y="0"/>
          <a:chExt cx="0" cy="0"/>
        </a:xfrm>
      </p:grpSpPr>
      <p:sp>
        <p:nvSpPr>
          <p:cNvPr id="145" name="Google Shape;145;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 name="Google Shape;146;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7" name="Google Shape;147;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8" name="Google Shape;148;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9" name="Google Shape;149;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0" name="Google Shape;150;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2" name="Shape 152"/>
        <p:cNvGrpSpPr/>
        <p:nvPr/>
      </p:nvGrpSpPr>
      <p:grpSpPr>
        <a:xfrm>
          <a:off x="0" y="0"/>
          <a:ext cx="0" cy="0"/>
          <a:chOff x="0" y="0"/>
          <a:chExt cx="0" cy="0"/>
        </a:xfrm>
      </p:grpSpPr>
      <p:sp>
        <p:nvSpPr>
          <p:cNvPr id="153" name="Google Shape;153;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 name="Google Shape;154;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5" name="Google Shape;155;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6" name="Google Shape;156;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7" name="Google Shape;157;p17"/>
          <p:cNvCxnSpPr>
            <a:endCxn id="15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9" name="Google Shape;159;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0" name="Google Shape;160;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1" name="Google Shape;161;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2" name="Google Shape;162;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3" name="Google Shape;163;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4" name="Google Shape;164;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5" name="Shape 165"/>
        <p:cNvGrpSpPr/>
        <p:nvPr/>
      </p:nvGrpSpPr>
      <p:grpSpPr>
        <a:xfrm>
          <a:off x="0" y="0"/>
          <a:ext cx="0" cy="0"/>
          <a:chOff x="0" y="0"/>
          <a:chExt cx="0" cy="0"/>
        </a:xfrm>
      </p:grpSpPr>
      <p:pic>
        <p:nvPicPr>
          <p:cNvPr id="166" name="Google Shape;166;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7" name="Google Shape;167;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8" name="Google Shape;168;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9" name="Google Shape;169;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0" name="Google Shape;170;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1" name="Google Shape;171;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2" name="Google Shape;172;p18"/>
          <p:cNvCxnSpPr>
            <a:endCxn id="17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3" name="Google Shape;173;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4" name="Google Shape;174;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5" name="Google Shape;175;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7" name="Google Shape;177;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8" name="Google Shape;178;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9" name="Google Shape;179;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0" name="Google Shape;180;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1" name="Google Shape;181;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2" name="Google Shape;182;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3" name="Shape 183"/>
        <p:cNvGrpSpPr/>
        <p:nvPr/>
      </p:nvGrpSpPr>
      <p:grpSpPr>
        <a:xfrm>
          <a:off x="0" y="0"/>
          <a:ext cx="0" cy="0"/>
          <a:chOff x="0" y="0"/>
          <a:chExt cx="0" cy="0"/>
        </a:xfrm>
      </p:grpSpPr>
      <p:pic>
        <p:nvPicPr>
          <p:cNvPr id="184" name="Google Shape;184;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5" name="Google Shape;185;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6" name="Google Shape;186;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7" name="Google Shape;187;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8" name="Google Shape;188;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9" name="Google Shape;189;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0" name="Google Shape;190;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1" name="Google Shape;191;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2" name="Google Shape;192;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3" name="Google Shape;193;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4" name="Google Shape;194;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5" name="Google Shape;195;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6" name="Google Shape;196;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9" name="Google Shape;199;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0" name="Google Shape;200;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1" name="Google Shape;201;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 name="Google Shape;202;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3" name="Google Shape;203;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4" name="Google Shape;204;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5" name="Shape 205"/>
        <p:cNvGrpSpPr/>
        <p:nvPr/>
      </p:nvGrpSpPr>
      <p:grpSpPr>
        <a:xfrm>
          <a:off x="0" y="0"/>
          <a:ext cx="0" cy="0"/>
          <a:chOff x="0" y="0"/>
          <a:chExt cx="0" cy="0"/>
        </a:xfrm>
      </p:grpSpPr>
      <p:pic>
        <p:nvPicPr>
          <p:cNvPr id="206" name="Google Shape;206;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7" name="Google Shape;207;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9" name="Google Shape;209;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0" name="Google Shape;210;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1" name="Google Shape;211;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2" name="Shape 212"/>
        <p:cNvGrpSpPr/>
        <p:nvPr/>
      </p:nvGrpSpPr>
      <p:grpSpPr>
        <a:xfrm>
          <a:off x="0" y="0"/>
          <a:ext cx="0" cy="0"/>
          <a:chOff x="0" y="0"/>
          <a:chExt cx="0" cy="0"/>
        </a:xfrm>
      </p:grpSpPr>
      <p:pic>
        <p:nvPicPr>
          <p:cNvPr id="213" name="Google Shape;213;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4" name="Google Shape;214;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6" name="Google Shape;216;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7" name="Google Shape;217;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8" name="Google Shape;218;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9" name="Shape 219"/>
        <p:cNvGrpSpPr/>
        <p:nvPr/>
      </p:nvGrpSpPr>
      <p:grpSpPr>
        <a:xfrm>
          <a:off x="0" y="0"/>
          <a:ext cx="0" cy="0"/>
          <a:chOff x="0" y="0"/>
          <a:chExt cx="0" cy="0"/>
        </a:xfrm>
      </p:grpSpPr>
      <p:pic>
        <p:nvPicPr>
          <p:cNvPr id="220" name="Google Shape;220;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1" name="Google Shape;221;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3" name="Google Shape;223;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4" name="Google Shape;224;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5" name="Google Shape;225;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6" name="Shape 226"/>
        <p:cNvGrpSpPr/>
        <p:nvPr/>
      </p:nvGrpSpPr>
      <p:grpSpPr>
        <a:xfrm>
          <a:off x="0" y="0"/>
          <a:ext cx="0" cy="0"/>
          <a:chOff x="0" y="0"/>
          <a:chExt cx="0" cy="0"/>
        </a:xfrm>
      </p:grpSpPr>
      <p:pic>
        <p:nvPicPr>
          <p:cNvPr id="227" name="Google Shape;227;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8" name="Google Shape;228;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0" name="Google Shape;230;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1" name="Google Shape;231;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2" name="Google Shape;232;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3" name="Shape 233"/>
        <p:cNvGrpSpPr/>
        <p:nvPr/>
      </p:nvGrpSpPr>
      <p:grpSpPr>
        <a:xfrm>
          <a:off x="0" y="0"/>
          <a:ext cx="0" cy="0"/>
          <a:chOff x="0" y="0"/>
          <a:chExt cx="0" cy="0"/>
        </a:xfrm>
      </p:grpSpPr>
      <p:sp>
        <p:nvSpPr>
          <p:cNvPr id="234" name="Google Shape;234;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5" name="Google Shape;235;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6" name="Google Shape;236;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9" name="Google Shape;239;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0" name="Google Shape;240;p24"/>
          <p:cNvGrpSpPr/>
          <p:nvPr/>
        </p:nvGrpSpPr>
        <p:grpSpPr>
          <a:xfrm>
            <a:off x="7834231" y="1285"/>
            <a:ext cx="828900" cy="576065"/>
            <a:chOff x="7801496" y="1285"/>
            <a:chExt cx="828900" cy="576065"/>
          </a:xfrm>
        </p:grpSpPr>
        <p:pic>
          <p:nvPicPr>
            <p:cNvPr id="241" name="Google Shape;241;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2" name="Google Shape;242;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3" name="Google Shape;243;p24"/>
          <p:cNvGrpSpPr/>
          <p:nvPr/>
        </p:nvGrpSpPr>
        <p:grpSpPr>
          <a:xfrm>
            <a:off x="8635663" y="1285"/>
            <a:ext cx="499700" cy="576065"/>
            <a:chOff x="8635663" y="1285"/>
            <a:chExt cx="499700" cy="576065"/>
          </a:xfrm>
        </p:grpSpPr>
        <p:pic>
          <p:nvPicPr>
            <p:cNvPr id="244" name="Google Shape;244;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5" name="Google Shape;245;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6" name="Shape 246"/>
        <p:cNvGrpSpPr/>
        <p:nvPr/>
      </p:nvGrpSpPr>
      <p:grpSpPr>
        <a:xfrm>
          <a:off x="0" y="0"/>
          <a:ext cx="0" cy="0"/>
          <a:chOff x="0" y="0"/>
          <a:chExt cx="0" cy="0"/>
        </a:xfrm>
      </p:grpSpPr>
      <p:sp>
        <p:nvSpPr>
          <p:cNvPr id="247" name="Google Shape;247;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8" name="Google Shape;248;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9" name="Google Shape;249;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2" name="Google Shape;252;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3" name="Google Shape;253;p25"/>
          <p:cNvGrpSpPr/>
          <p:nvPr/>
        </p:nvGrpSpPr>
        <p:grpSpPr>
          <a:xfrm>
            <a:off x="7834231" y="1285"/>
            <a:ext cx="828900" cy="576065"/>
            <a:chOff x="7801496" y="1285"/>
            <a:chExt cx="828900" cy="576065"/>
          </a:xfrm>
        </p:grpSpPr>
        <p:pic>
          <p:nvPicPr>
            <p:cNvPr id="254" name="Google Shape;254;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5" name="Google Shape;255;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6" name="Google Shape;256;p25"/>
          <p:cNvGrpSpPr/>
          <p:nvPr/>
        </p:nvGrpSpPr>
        <p:grpSpPr>
          <a:xfrm>
            <a:off x="8635663" y="1285"/>
            <a:ext cx="499700" cy="576065"/>
            <a:chOff x="8635663" y="1285"/>
            <a:chExt cx="499700" cy="576065"/>
          </a:xfrm>
        </p:grpSpPr>
        <p:pic>
          <p:nvPicPr>
            <p:cNvPr id="257" name="Google Shape;257;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8" name="Google Shape;258;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9" name="Shape 259"/>
        <p:cNvGrpSpPr/>
        <p:nvPr/>
      </p:nvGrpSpPr>
      <p:grpSpPr>
        <a:xfrm>
          <a:off x="0" y="0"/>
          <a:ext cx="0" cy="0"/>
          <a:chOff x="0" y="0"/>
          <a:chExt cx="0" cy="0"/>
        </a:xfrm>
      </p:grpSpPr>
      <p:sp>
        <p:nvSpPr>
          <p:cNvPr id="260" name="Google Shape;260;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1" name="Google Shape;261;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2" name="Google Shape;262;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5" name="Google Shape;265;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6" name="Google Shape;266;p26"/>
          <p:cNvGrpSpPr/>
          <p:nvPr/>
        </p:nvGrpSpPr>
        <p:grpSpPr>
          <a:xfrm>
            <a:off x="7834231" y="1285"/>
            <a:ext cx="828900" cy="576065"/>
            <a:chOff x="7801496" y="1285"/>
            <a:chExt cx="828900" cy="576065"/>
          </a:xfrm>
        </p:grpSpPr>
        <p:pic>
          <p:nvPicPr>
            <p:cNvPr id="267" name="Google Shape;267;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8" name="Google Shape;268;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9" name="Google Shape;269;p26"/>
          <p:cNvGrpSpPr/>
          <p:nvPr/>
        </p:nvGrpSpPr>
        <p:grpSpPr>
          <a:xfrm>
            <a:off x="8635663" y="1285"/>
            <a:ext cx="499700" cy="576065"/>
            <a:chOff x="8635663" y="1285"/>
            <a:chExt cx="499700" cy="576065"/>
          </a:xfrm>
        </p:grpSpPr>
        <p:pic>
          <p:nvPicPr>
            <p:cNvPr id="270" name="Google Shape;270;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1" name="Google Shape;271;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2" name="Shape 272"/>
        <p:cNvGrpSpPr/>
        <p:nvPr/>
      </p:nvGrpSpPr>
      <p:grpSpPr>
        <a:xfrm>
          <a:off x="0" y="0"/>
          <a:ext cx="0" cy="0"/>
          <a:chOff x="0" y="0"/>
          <a:chExt cx="0" cy="0"/>
        </a:xfrm>
      </p:grpSpPr>
      <p:sp>
        <p:nvSpPr>
          <p:cNvPr id="273" name="Google Shape;273;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5" name="Google Shape;275;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8" name="Google Shape;278;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9" name="Google Shape;279;p27"/>
          <p:cNvGrpSpPr/>
          <p:nvPr/>
        </p:nvGrpSpPr>
        <p:grpSpPr>
          <a:xfrm>
            <a:off x="7834231" y="1285"/>
            <a:ext cx="828900" cy="576065"/>
            <a:chOff x="7801496" y="1285"/>
            <a:chExt cx="828900" cy="576065"/>
          </a:xfrm>
        </p:grpSpPr>
        <p:pic>
          <p:nvPicPr>
            <p:cNvPr id="280" name="Google Shape;280;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1" name="Google Shape;281;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2" name="Google Shape;282;p27"/>
          <p:cNvGrpSpPr/>
          <p:nvPr/>
        </p:nvGrpSpPr>
        <p:grpSpPr>
          <a:xfrm>
            <a:off x="8635663" y="1285"/>
            <a:ext cx="499700" cy="576065"/>
            <a:chOff x="8635663" y="1285"/>
            <a:chExt cx="499700" cy="576065"/>
          </a:xfrm>
        </p:grpSpPr>
        <p:pic>
          <p:nvPicPr>
            <p:cNvPr id="283" name="Google Shape;283;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4" name="Google Shape;284;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5" name="Shape 285"/>
        <p:cNvGrpSpPr/>
        <p:nvPr/>
      </p:nvGrpSpPr>
      <p:grpSpPr>
        <a:xfrm>
          <a:off x="0" y="0"/>
          <a:ext cx="0" cy="0"/>
          <a:chOff x="0" y="0"/>
          <a:chExt cx="0" cy="0"/>
        </a:xfrm>
      </p:grpSpPr>
      <p:pic>
        <p:nvPicPr>
          <p:cNvPr id="286" name="Google Shape;286;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7" name="Google Shape;287;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8" name="Google Shape;288;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9" name="Google Shape;289;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1" name="Google Shape;291;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2" name="Google Shape;292;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3" name="Google Shape;293;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5" name="Google Shape;295;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6" name="Google Shape;296;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8" name="Google Shape;298;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9" name="Google Shape;299;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0" name="Google Shape;300;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1" name="Google Shape;301;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2" name="Google Shape;302;p28"/>
          <p:cNvGrpSpPr/>
          <p:nvPr/>
        </p:nvGrpSpPr>
        <p:grpSpPr>
          <a:xfrm>
            <a:off x="324128" y="3139463"/>
            <a:ext cx="457200" cy="457200"/>
            <a:chOff x="1020916" y="1442088"/>
            <a:chExt cx="457200" cy="457200"/>
          </a:xfrm>
        </p:grpSpPr>
        <p:pic>
          <p:nvPicPr>
            <p:cNvPr id="303" name="Google Shape;303;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4" name="Google Shape;304;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5" name="Google Shape;305;p28"/>
          <p:cNvGrpSpPr/>
          <p:nvPr/>
        </p:nvGrpSpPr>
        <p:grpSpPr>
          <a:xfrm>
            <a:off x="324128" y="3987825"/>
            <a:ext cx="457200" cy="457200"/>
            <a:chOff x="1020916" y="1442088"/>
            <a:chExt cx="457200" cy="457200"/>
          </a:xfrm>
        </p:grpSpPr>
        <p:pic>
          <p:nvPicPr>
            <p:cNvPr id="306" name="Google Shape;306;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8" name="Shape 308"/>
        <p:cNvGrpSpPr/>
        <p:nvPr/>
      </p:nvGrpSpPr>
      <p:grpSpPr>
        <a:xfrm>
          <a:off x="0" y="0"/>
          <a:ext cx="0" cy="0"/>
          <a:chOff x="0" y="0"/>
          <a:chExt cx="0" cy="0"/>
        </a:xfrm>
      </p:grpSpPr>
      <p:pic>
        <p:nvPicPr>
          <p:cNvPr id="309" name="Google Shape;309;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0" name="Google Shape;310;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2" name="Google Shape;312;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3" name="Google Shape;313;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4" name="Google Shape;314;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5" name="Google Shape;315;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6" name="Google Shape;316;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7" name="Google Shape;317;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8" name="Google Shape;318;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9" name="Google Shape;319;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0" name="Google Shape;320;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1" name="Google Shape;321;p29"/>
          <p:cNvGrpSpPr/>
          <p:nvPr/>
        </p:nvGrpSpPr>
        <p:grpSpPr>
          <a:xfrm>
            <a:off x="324128" y="3139463"/>
            <a:ext cx="457200" cy="457200"/>
            <a:chOff x="1020916" y="1442088"/>
            <a:chExt cx="457200" cy="457200"/>
          </a:xfrm>
        </p:grpSpPr>
        <p:pic>
          <p:nvPicPr>
            <p:cNvPr id="322" name="Google Shape;322;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3" name="Google Shape;323;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4" name="Google Shape;324;p29"/>
          <p:cNvGrpSpPr/>
          <p:nvPr/>
        </p:nvGrpSpPr>
        <p:grpSpPr>
          <a:xfrm>
            <a:off x="324128" y="3987825"/>
            <a:ext cx="457200" cy="457200"/>
            <a:chOff x="1020916" y="1442088"/>
            <a:chExt cx="457200" cy="457200"/>
          </a:xfrm>
        </p:grpSpPr>
        <p:pic>
          <p:nvPicPr>
            <p:cNvPr id="325" name="Google Shape;325;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7" name="Google Shape;327;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8" name="Google Shape;328;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9" name="Google Shape;329;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0" name="Google Shape;330;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1" name="Shape 331"/>
        <p:cNvGrpSpPr/>
        <p:nvPr/>
      </p:nvGrpSpPr>
      <p:grpSpPr>
        <a:xfrm>
          <a:off x="0" y="0"/>
          <a:ext cx="0" cy="0"/>
          <a:chOff x="0" y="0"/>
          <a:chExt cx="0" cy="0"/>
        </a:xfrm>
      </p:grpSpPr>
      <p:pic>
        <p:nvPicPr>
          <p:cNvPr id="332" name="Google Shape;332;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3" name="Google Shape;333;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5" name="Google Shape;335;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6" name="Google Shape;336;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7" name="Google Shape;337;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8" name="Google Shape;33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9" name="Google Shape;339;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0" name="Google Shape;340;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1" name="Google Shape;341;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2" name="Google Shape;342;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3" name="Google Shape;343;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4" name="Google Shape;344;p30"/>
          <p:cNvGrpSpPr/>
          <p:nvPr/>
        </p:nvGrpSpPr>
        <p:grpSpPr>
          <a:xfrm>
            <a:off x="324128" y="3139463"/>
            <a:ext cx="457200" cy="457200"/>
            <a:chOff x="1020916" y="1442088"/>
            <a:chExt cx="457200" cy="457200"/>
          </a:xfrm>
        </p:grpSpPr>
        <p:pic>
          <p:nvPicPr>
            <p:cNvPr id="345" name="Google Shape;345;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6" name="Google Shape;346;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7" name="Google Shape;347;p30"/>
          <p:cNvGrpSpPr/>
          <p:nvPr/>
        </p:nvGrpSpPr>
        <p:grpSpPr>
          <a:xfrm>
            <a:off x="324128" y="3987825"/>
            <a:ext cx="457200" cy="457200"/>
            <a:chOff x="1020916" y="1442088"/>
            <a:chExt cx="457200" cy="457200"/>
          </a:xfrm>
        </p:grpSpPr>
        <p:pic>
          <p:nvPicPr>
            <p:cNvPr id="348" name="Google Shape;348;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0" name="Google Shape;350;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1" name="Google Shape;351;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2" name="Google Shape;352;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3" name="Google Shape;353;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4" name="Shape 354"/>
        <p:cNvGrpSpPr/>
        <p:nvPr/>
      </p:nvGrpSpPr>
      <p:grpSpPr>
        <a:xfrm>
          <a:off x="0" y="0"/>
          <a:ext cx="0" cy="0"/>
          <a:chOff x="0" y="0"/>
          <a:chExt cx="0" cy="0"/>
        </a:xfrm>
      </p:grpSpPr>
      <p:pic>
        <p:nvPicPr>
          <p:cNvPr id="355" name="Google Shape;355;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6" name="Google Shape;356;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8" name="Google Shape;358;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9" name="Google Shape;359;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0" name="Google Shape;360;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1" name="Google Shape;361;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2" name="Google Shape;362;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3" name="Google Shape;363;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4" name="Google Shape;364;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6" name="Google Shape;366;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7" name="Google Shape;367;p31"/>
          <p:cNvGrpSpPr/>
          <p:nvPr/>
        </p:nvGrpSpPr>
        <p:grpSpPr>
          <a:xfrm>
            <a:off x="324128" y="3139463"/>
            <a:ext cx="457200" cy="457200"/>
            <a:chOff x="1020916" y="1442088"/>
            <a:chExt cx="457200" cy="457200"/>
          </a:xfrm>
        </p:grpSpPr>
        <p:pic>
          <p:nvPicPr>
            <p:cNvPr id="368" name="Google Shape;36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9" name="Google Shape;36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0" name="Google Shape;370;p31"/>
          <p:cNvGrpSpPr/>
          <p:nvPr/>
        </p:nvGrpSpPr>
        <p:grpSpPr>
          <a:xfrm>
            <a:off x="324128" y="3987825"/>
            <a:ext cx="457200" cy="457200"/>
            <a:chOff x="1020916" y="1442088"/>
            <a:chExt cx="457200" cy="457200"/>
          </a:xfrm>
        </p:grpSpPr>
        <p:pic>
          <p:nvPicPr>
            <p:cNvPr id="371" name="Google Shape;371;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3" name="Google Shape;373;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4" name="Google Shape;374;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5" name="Google Shape;375;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6" name="Google Shape;376;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7" name="Shape 377"/>
        <p:cNvGrpSpPr/>
        <p:nvPr/>
      </p:nvGrpSpPr>
      <p:grpSpPr>
        <a:xfrm>
          <a:off x="0" y="0"/>
          <a:ext cx="0" cy="0"/>
          <a:chOff x="0" y="0"/>
          <a:chExt cx="0" cy="0"/>
        </a:xfrm>
      </p:grpSpPr>
      <p:pic>
        <p:nvPicPr>
          <p:cNvPr id="378" name="Google Shape;378;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9" name="Google Shape;379;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2" name="Google Shape;382;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3" name="Google Shape;383;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4" name="Google Shape;384;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6" name="Google Shape;386;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7" name="Google Shape;387;p32"/>
          <p:cNvGrpSpPr/>
          <p:nvPr/>
        </p:nvGrpSpPr>
        <p:grpSpPr>
          <a:xfrm>
            <a:off x="323653" y="1804438"/>
            <a:ext cx="457200" cy="457200"/>
            <a:chOff x="1020916" y="1442088"/>
            <a:chExt cx="457200" cy="457200"/>
          </a:xfrm>
        </p:grpSpPr>
        <p:pic>
          <p:nvPicPr>
            <p:cNvPr id="388" name="Google Shape;38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9" name="Google Shape;38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0" name="Google Shape;390;p32"/>
          <p:cNvGrpSpPr/>
          <p:nvPr/>
        </p:nvGrpSpPr>
        <p:grpSpPr>
          <a:xfrm>
            <a:off x="323653" y="2766575"/>
            <a:ext cx="457200" cy="457200"/>
            <a:chOff x="1020916" y="1442088"/>
            <a:chExt cx="457200" cy="457200"/>
          </a:xfrm>
        </p:grpSpPr>
        <p:pic>
          <p:nvPicPr>
            <p:cNvPr id="391" name="Google Shape;39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3" name="Google Shape;393;p32"/>
          <p:cNvGrpSpPr/>
          <p:nvPr/>
        </p:nvGrpSpPr>
        <p:grpSpPr>
          <a:xfrm>
            <a:off x="323641" y="3729038"/>
            <a:ext cx="457200" cy="457200"/>
            <a:chOff x="1020916" y="1442088"/>
            <a:chExt cx="457200" cy="457200"/>
          </a:xfrm>
        </p:grpSpPr>
        <p:pic>
          <p:nvPicPr>
            <p:cNvPr id="394" name="Google Shape;394;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6" name="Shape 396"/>
        <p:cNvGrpSpPr/>
        <p:nvPr/>
      </p:nvGrpSpPr>
      <p:grpSpPr>
        <a:xfrm>
          <a:off x="0" y="0"/>
          <a:ext cx="0" cy="0"/>
          <a:chOff x="0" y="0"/>
          <a:chExt cx="0" cy="0"/>
        </a:xfrm>
      </p:grpSpPr>
      <p:pic>
        <p:nvPicPr>
          <p:cNvPr id="397" name="Google Shape;397;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8" name="Google Shape;398;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1" name="Google Shape;401;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2" name="Google Shape;402;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3" name="Google Shape;403;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5" name="Google Shape;405;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6" name="Google Shape;406;p33"/>
          <p:cNvGrpSpPr/>
          <p:nvPr/>
        </p:nvGrpSpPr>
        <p:grpSpPr>
          <a:xfrm>
            <a:off x="323653" y="1804438"/>
            <a:ext cx="457200" cy="457200"/>
            <a:chOff x="1020916" y="1442088"/>
            <a:chExt cx="457200" cy="457200"/>
          </a:xfrm>
        </p:grpSpPr>
        <p:pic>
          <p:nvPicPr>
            <p:cNvPr id="407" name="Google Shape;407;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8" name="Google Shape;408;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9" name="Google Shape;409;p33"/>
          <p:cNvGrpSpPr/>
          <p:nvPr/>
        </p:nvGrpSpPr>
        <p:grpSpPr>
          <a:xfrm>
            <a:off x="323653" y="2766575"/>
            <a:ext cx="457200" cy="457200"/>
            <a:chOff x="1020916" y="1442088"/>
            <a:chExt cx="457200" cy="457200"/>
          </a:xfrm>
        </p:grpSpPr>
        <p:pic>
          <p:nvPicPr>
            <p:cNvPr id="410" name="Google Shape;410;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2" name="Google Shape;412;p33"/>
          <p:cNvGrpSpPr/>
          <p:nvPr/>
        </p:nvGrpSpPr>
        <p:grpSpPr>
          <a:xfrm>
            <a:off x="323641" y="3729038"/>
            <a:ext cx="457200" cy="457200"/>
            <a:chOff x="1020916" y="1442088"/>
            <a:chExt cx="457200" cy="457200"/>
          </a:xfrm>
        </p:grpSpPr>
        <p:pic>
          <p:nvPicPr>
            <p:cNvPr id="413" name="Google Shape;413;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5" name="Shape 415"/>
        <p:cNvGrpSpPr/>
        <p:nvPr/>
      </p:nvGrpSpPr>
      <p:grpSpPr>
        <a:xfrm>
          <a:off x="0" y="0"/>
          <a:ext cx="0" cy="0"/>
          <a:chOff x="0" y="0"/>
          <a:chExt cx="0" cy="0"/>
        </a:xfrm>
      </p:grpSpPr>
      <p:pic>
        <p:nvPicPr>
          <p:cNvPr id="416" name="Google Shape;416;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7" name="Google Shape;417;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9" name="Google Shape;419;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0" name="Google Shape;420;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1" name="Google Shape;421;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4" name="Google Shape;424;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5" name="Google Shape;425;p34"/>
          <p:cNvGrpSpPr/>
          <p:nvPr/>
        </p:nvGrpSpPr>
        <p:grpSpPr>
          <a:xfrm>
            <a:off x="323653" y="1804438"/>
            <a:ext cx="457200" cy="457200"/>
            <a:chOff x="1020916" y="1442088"/>
            <a:chExt cx="457200" cy="457200"/>
          </a:xfrm>
        </p:grpSpPr>
        <p:pic>
          <p:nvPicPr>
            <p:cNvPr id="426" name="Google Shape;426;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7" name="Google Shape;427;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8" name="Google Shape;428;p34"/>
          <p:cNvGrpSpPr/>
          <p:nvPr/>
        </p:nvGrpSpPr>
        <p:grpSpPr>
          <a:xfrm>
            <a:off x="323653" y="2766575"/>
            <a:ext cx="457200" cy="457200"/>
            <a:chOff x="1020916" y="1442088"/>
            <a:chExt cx="457200" cy="457200"/>
          </a:xfrm>
        </p:grpSpPr>
        <p:pic>
          <p:nvPicPr>
            <p:cNvPr id="429" name="Google Shape;429;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1" name="Google Shape;431;p34"/>
          <p:cNvGrpSpPr/>
          <p:nvPr/>
        </p:nvGrpSpPr>
        <p:grpSpPr>
          <a:xfrm>
            <a:off x="323641" y="3729038"/>
            <a:ext cx="457200" cy="457200"/>
            <a:chOff x="1020916" y="1442088"/>
            <a:chExt cx="457200" cy="457200"/>
          </a:xfrm>
        </p:grpSpPr>
        <p:pic>
          <p:nvPicPr>
            <p:cNvPr id="432" name="Google Shape;432;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4" name="Shape 434"/>
        <p:cNvGrpSpPr/>
        <p:nvPr/>
      </p:nvGrpSpPr>
      <p:grpSpPr>
        <a:xfrm>
          <a:off x="0" y="0"/>
          <a:ext cx="0" cy="0"/>
          <a:chOff x="0" y="0"/>
          <a:chExt cx="0" cy="0"/>
        </a:xfrm>
      </p:grpSpPr>
      <p:pic>
        <p:nvPicPr>
          <p:cNvPr id="435" name="Google Shape;435;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6" name="Google Shape;436;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8" name="Google Shape;438;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0" name="Google Shape;440;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1" name="Google Shape;441;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3" name="Google Shape;443;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4" name="Google Shape;444;p35"/>
          <p:cNvGrpSpPr/>
          <p:nvPr/>
        </p:nvGrpSpPr>
        <p:grpSpPr>
          <a:xfrm>
            <a:off x="323653" y="1804438"/>
            <a:ext cx="457200" cy="457200"/>
            <a:chOff x="1020916" y="1442088"/>
            <a:chExt cx="457200" cy="457200"/>
          </a:xfrm>
        </p:grpSpPr>
        <p:pic>
          <p:nvPicPr>
            <p:cNvPr id="445" name="Google Shape;445;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6" name="Google Shape;446;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7" name="Google Shape;447;p35"/>
          <p:cNvGrpSpPr/>
          <p:nvPr/>
        </p:nvGrpSpPr>
        <p:grpSpPr>
          <a:xfrm>
            <a:off x="323653" y="2766575"/>
            <a:ext cx="457200" cy="457200"/>
            <a:chOff x="1020916" y="1442088"/>
            <a:chExt cx="457200" cy="457200"/>
          </a:xfrm>
        </p:grpSpPr>
        <p:pic>
          <p:nvPicPr>
            <p:cNvPr id="448" name="Google Shape;448;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0" name="Google Shape;450;p35"/>
          <p:cNvGrpSpPr/>
          <p:nvPr/>
        </p:nvGrpSpPr>
        <p:grpSpPr>
          <a:xfrm>
            <a:off x="323641" y="3729038"/>
            <a:ext cx="457200" cy="457200"/>
            <a:chOff x="1020916" y="1442088"/>
            <a:chExt cx="457200" cy="457200"/>
          </a:xfrm>
        </p:grpSpPr>
        <p:pic>
          <p:nvPicPr>
            <p:cNvPr id="451" name="Google Shape;451;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3" name="Shape 453"/>
        <p:cNvGrpSpPr/>
        <p:nvPr/>
      </p:nvGrpSpPr>
      <p:grpSpPr>
        <a:xfrm>
          <a:off x="0" y="0"/>
          <a:ext cx="0" cy="0"/>
          <a:chOff x="0" y="0"/>
          <a:chExt cx="0" cy="0"/>
        </a:xfrm>
      </p:grpSpPr>
      <p:pic>
        <p:nvPicPr>
          <p:cNvPr id="454" name="Google Shape;454;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5" name="Google Shape;455;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7" name="Google Shape;457;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8" name="Google Shape;458;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9" name="Google Shape;459;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0" name="Google Shape;460;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3" name="Google Shape;463;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4" name="Google Shape;464;p36"/>
          <p:cNvGrpSpPr/>
          <p:nvPr/>
        </p:nvGrpSpPr>
        <p:grpSpPr>
          <a:xfrm>
            <a:off x="323653" y="1652038"/>
            <a:ext cx="457200" cy="457200"/>
            <a:chOff x="1020916" y="1442088"/>
            <a:chExt cx="457200" cy="457200"/>
          </a:xfrm>
        </p:grpSpPr>
        <p:pic>
          <p:nvPicPr>
            <p:cNvPr id="465" name="Google Shape;46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6" name="Google Shape;46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7" name="Google Shape;467;p36"/>
          <p:cNvGrpSpPr/>
          <p:nvPr/>
        </p:nvGrpSpPr>
        <p:grpSpPr>
          <a:xfrm>
            <a:off x="323653" y="2461775"/>
            <a:ext cx="457200" cy="457200"/>
            <a:chOff x="1020916" y="1442088"/>
            <a:chExt cx="457200" cy="457200"/>
          </a:xfrm>
        </p:grpSpPr>
        <p:pic>
          <p:nvPicPr>
            <p:cNvPr id="468" name="Google Shape;468;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0" name="Google Shape;470;p36"/>
          <p:cNvGrpSpPr/>
          <p:nvPr/>
        </p:nvGrpSpPr>
        <p:grpSpPr>
          <a:xfrm>
            <a:off x="323641" y="3271838"/>
            <a:ext cx="457200" cy="457200"/>
            <a:chOff x="1020916" y="1442088"/>
            <a:chExt cx="457200" cy="457200"/>
          </a:xfrm>
        </p:grpSpPr>
        <p:pic>
          <p:nvPicPr>
            <p:cNvPr id="471" name="Google Shape;471;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3" name="Google Shape;473;p36"/>
          <p:cNvGrpSpPr/>
          <p:nvPr/>
        </p:nvGrpSpPr>
        <p:grpSpPr>
          <a:xfrm>
            <a:off x="323641" y="4081763"/>
            <a:ext cx="457200" cy="457200"/>
            <a:chOff x="1020916" y="1442088"/>
            <a:chExt cx="457200" cy="457200"/>
          </a:xfrm>
        </p:grpSpPr>
        <p:pic>
          <p:nvPicPr>
            <p:cNvPr id="474" name="Google Shape;47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6" name="Shape 476"/>
        <p:cNvGrpSpPr/>
        <p:nvPr/>
      </p:nvGrpSpPr>
      <p:grpSpPr>
        <a:xfrm>
          <a:off x="0" y="0"/>
          <a:ext cx="0" cy="0"/>
          <a:chOff x="0" y="0"/>
          <a:chExt cx="0" cy="0"/>
        </a:xfrm>
      </p:grpSpPr>
      <p:pic>
        <p:nvPicPr>
          <p:cNvPr id="477" name="Google Shape;477;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8" name="Google Shape;478;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0" name="Google Shape;480;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1" name="Google Shape;481;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2" name="Google Shape;482;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3" name="Google Shape;483;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6" name="Google Shape;486;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7" name="Google Shape;487;p37"/>
          <p:cNvGrpSpPr/>
          <p:nvPr/>
        </p:nvGrpSpPr>
        <p:grpSpPr>
          <a:xfrm>
            <a:off x="323653" y="1652038"/>
            <a:ext cx="457200" cy="457200"/>
            <a:chOff x="1020916" y="1442088"/>
            <a:chExt cx="457200" cy="457200"/>
          </a:xfrm>
        </p:grpSpPr>
        <p:pic>
          <p:nvPicPr>
            <p:cNvPr id="488" name="Google Shape;48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9" name="Google Shape;48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0" name="Google Shape;490;p37"/>
          <p:cNvGrpSpPr/>
          <p:nvPr/>
        </p:nvGrpSpPr>
        <p:grpSpPr>
          <a:xfrm>
            <a:off x="323653" y="2461775"/>
            <a:ext cx="457200" cy="457200"/>
            <a:chOff x="1020916" y="1442088"/>
            <a:chExt cx="457200" cy="457200"/>
          </a:xfrm>
        </p:grpSpPr>
        <p:pic>
          <p:nvPicPr>
            <p:cNvPr id="491" name="Google Shape;49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3" name="Google Shape;493;p37"/>
          <p:cNvGrpSpPr/>
          <p:nvPr/>
        </p:nvGrpSpPr>
        <p:grpSpPr>
          <a:xfrm>
            <a:off x="323641" y="3271838"/>
            <a:ext cx="457200" cy="457200"/>
            <a:chOff x="1020916" y="1442088"/>
            <a:chExt cx="457200" cy="457200"/>
          </a:xfrm>
        </p:grpSpPr>
        <p:pic>
          <p:nvPicPr>
            <p:cNvPr id="494" name="Google Shape;49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6" name="Google Shape;496;p37"/>
          <p:cNvGrpSpPr/>
          <p:nvPr/>
        </p:nvGrpSpPr>
        <p:grpSpPr>
          <a:xfrm>
            <a:off x="323641" y="4081763"/>
            <a:ext cx="457200" cy="457200"/>
            <a:chOff x="1020916" y="1442088"/>
            <a:chExt cx="457200" cy="457200"/>
          </a:xfrm>
        </p:grpSpPr>
        <p:pic>
          <p:nvPicPr>
            <p:cNvPr id="497" name="Google Shape;49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9" name="Shape 499"/>
        <p:cNvGrpSpPr/>
        <p:nvPr/>
      </p:nvGrpSpPr>
      <p:grpSpPr>
        <a:xfrm>
          <a:off x="0" y="0"/>
          <a:ext cx="0" cy="0"/>
          <a:chOff x="0" y="0"/>
          <a:chExt cx="0" cy="0"/>
        </a:xfrm>
      </p:grpSpPr>
      <p:pic>
        <p:nvPicPr>
          <p:cNvPr id="500" name="Google Shape;500;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1" name="Google Shape;501;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3" name="Google Shape;503;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4" name="Google Shape;504;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5" name="Google Shape;505;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6" name="Google Shape;506;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9" name="Google Shape;509;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0" name="Google Shape;510;p38"/>
          <p:cNvGrpSpPr/>
          <p:nvPr/>
        </p:nvGrpSpPr>
        <p:grpSpPr>
          <a:xfrm>
            <a:off x="323653" y="1652038"/>
            <a:ext cx="457200" cy="457200"/>
            <a:chOff x="1020916" y="1442088"/>
            <a:chExt cx="457200" cy="457200"/>
          </a:xfrm>
        </p:grpSpPr>
        <p:pic>
          <p:nvPicPr>
            <p:cNvPr id="511" name="Google Shape;51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2" name="Google Shape;51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3" name="Google Shape;513;p38"/>
          <p:cNvGrpSpPr/>
          <p:nvPr/>
        </p:nvGrpSpPr>
        <p:grpSpPr>
          <a:xfrm>
            <a:off x="323653" y="2461775"/>
            <a:ext cx="457200" cy="457200"/>
            <a:chOff x="1020916" y="1442088"/>
            <a:chExt cx="457200" cy="457200"/>
          </a:xfrm>
        </p:grpSpPr>
        <p:pic>
          <p:nvPicPr>
            <p:cNvPr id="514" name="Google Shape;51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6" name="Google Shape;516;p38"/>
          <p:cNvGrpSpPr/>
          <p:nvPr/>
        </p:nvGrpSpPr>
        <p:grpSpPr>
          <a:xfrm>
            <a:off x="323641" y="3271838"/>
            <a:ext cx="457200" cy="457200"/>
            <a:chOff x="1020916" y="1442088"/>
            <a:chExt cx="457200" cy="457200"/>
          </a:xfrm>
        </p:grpSpPr>
        <p:pic>
          <p:nvPicPr>
            <p:cNvPr id="517" name="Google Shape;51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9" name="Google Shape;519;p38"/>
          <p:cNvGrpSpPr/>
          <p:nvPr/>
        </p:nvGrpSpPr>
        <p:grpSpPr>
          <a:xfrm>
            <a:off x="323641" y="4081763"/>
            <a:ext cx="457200" cy="457200"/>
            <a:chOff x="1020916" y="1442088"/>
            <a:chExt cx="457200" cy="457200"/>
          </a:xfrm>
        </p:grpSpPr>
        <p:pic>
          <p:nvPicPr>
            <p:cNvPr id="520" name="Google Shape;52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2" name="Shape 522"/>
        <p:cNvGrpSpPr/>
        <p:nvPr/>
      </p:nvGrpSpPr>
      <p:grpSpPr>
        <a:xfrm>
          <a:off x="0" y="0"/>
          <a:ext cx="0" cy="0"/>
          <a:chOff x="0" y="0"/>
          <a:chExt cx="0" cy="0"/>
        </a:xfrm>
      </p:grpSpPr>
      <p:pic>
        <p:nvPicPr>
          <p:cNvPr id="523" name="Google Shape;523;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2" name="Google Shape;532;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3" name="Google Shape;533;p39"/>
          <p:cNvGrpSpPr/>
          <p:nvPr/>
        </p:nvGrpSpPr>
        <p:grpSpPr>
          <a:xfrm>
            <a:off x="323653" y="1652038"/>
            <a:ext cx="457200" cy="457200"/>
            <a:chOff x="1020916" y="1442088"/>
            <a:chExt cx="457200" cy="457200"/>
          </a:xfrm>
        </p:grpSpPr>
        <p:pic>
          <p:nvPicPr>
            <p:cNvPr id="534" name="Google Shape;53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5" name="Google Shape;53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6" name="Google Shape;536;p39"/>
          <p:cNvGrpSpPr/>
          <p:nvPr/>
        </p:nvGrpSpPr>
        <p:grpSpPr>
          <a:xfrm>
            <a:off x="323653" y="2461775"/>
            <a:ext cx="457200" cy="457200"/>
            <a:chOff x="1020916" y="1442088"/>
            <a:chExt cx="457200" cy="457200"/>
          </a:xfrm>
        </p:grpSpPr>
        <p:pic>
          <p:nvPicPr>
            <p:cNvPr id="537" name="Google Shape;53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9" name="Google Shape;539;p39"/>
          <p:cNvGrpSpPr/>
          <p:nvPr/>
        </p:nvGrpSpPr>
        <p:grpSpPr>
          <a:xfrm>
            <a:off x="323641" y="3271838"/>
            <a:ext cx="457200" cy="457200"/>
            <a:chOff x="1020916" y="1442088"/>
            <a:chExt cx="457200" cy="457200"/>
          </a:xfrm>
        </p:grpSpPr>
        <p:pic>
          <p:nvPicPr>
            <p:cNvPr id="540" name="Google Shape;54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2" name="Google Shape;542;p39"/>
          <p:cNvGrpSpPr/>
          <p:nvPr/>
        </p:nvGrpSpPr>
        <p:grpSpPr>
          <a:xfrm>
            <a:off x="323641" y="4081763"/>
            <a:ext cx="457200" cy="457200"/>
            <a:chOff x="1020916" y="1442088"/>
            <a:chExt cx="457200" cy="457200"/>
          </a:xfrm>
        </p:grpSpPr>
        <p:pic>
          <p:nvPicPr>
            <p:cNvPr id="543" name="Google Shape;54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5" name="Shape 545"/>
        <p:cNvGrpSpPr/>
        <p:nvPr/>
      </p:nvGrpSpPr>
      <p:grpSpPr>
        <a:xfrm>
          <a:off x="0" y="0"/>
          <a:ext cx="0" cy="0"/>
          <a:chOff x="0" y="0"/>
          <a:chExt cx="0" cy="0"/>
        </a:xfrm>
      </p:grpSpPr>
      <p:pic>
        <p:nvPicPr>
          <p:cNvPr id="546" name="Google Shape;546;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7" name="Google Shape;547;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9" name="Google Shape;549;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0" name="Google Shape;550;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1" name="Google Shape;551;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2" name="Google Shape;552;p40"/>
          <p:cNvSpPr/>
          <p:nvPr>
            <p:ph idx="3" type="pic"/>
          </p:nvPr>
        </p:nvSpPr>
        <p:spPr>
          <a:xfrm>
            <a:off x="324000" y="1893950"/>
            <a:ext cx="2555400" cy="1939500"/>
          </a:xfrm>
          <a:prstGeom prst="rect">
            <a:avLst/>
          </a:prstGeom>
          <a:noFill/>
          <a:ln>
            <a:noFill/>
          </a:ln>
        </p:spPr>
      </p:sp>
      <p:sp>
        <p:nvSpPr>
          <p:cNvPr id="553" name="Google Shape;553;p40"/>
          <p:cNvSpPr/>
          <p:nvPr>
            <p:ph idx="4" type="pic"/>
          </p:nvPr>
        </p:nvSpPr>
        <p:spPr>
          <a:xfrm>
            <a:off x="6256800" y="1893950"/>
            <a:ext cx="2555400" cy="1939500"/>
          </a:xfrm>
          <a:prstGeom prst="rect">
            <a:avLst/>
          </a:prstGeom>
          <a:noFill/>
          <a:ln>
            <a:noFill/>
          </a:ln>
        </p:spPr>
      </p:sp>
      <p:sp>
        <p:nvSpPr>
          <p:cNvPr id="554" name="Google Shape;554;p40"/>
          <p:cNvSpPr/>
          <p:nvPr>
            <p:ph idx="5" type="pic"/>
          </p:nvPr>
        </p:nvSpPr>
        <p:spPr>
          <a:xfrm>
            <a:off x="3294300" y="1893950"/>
            <a:ext cx="2555400" cy="1939500"/>
          </a:xfrm>
          <a:prstGeom prst="rect">
            <a:avLst/>
          </a:prstGeom>
          <a:noFill/>
          <a:ln>
            <a:noFill/>
          </a:ln>
        </p:spPr>
      </p:sp>
      <p:grpSp>
        <p:nvGrpSpPr>
          <p:cNvPr id="555" name="Google Shape;555;p40"/>
          <p:cNvGrpSpPr/>
          <p:nvPr/>
        </p:nvGrpSpPr>
        <p:grpSpPr>
          <a:xfrm>
            <a:off x="1381028" y="4148538"/>
            <a:ext cx="457200" cy="457200"/>
            <a:chOff x="1020916" y="1442088"/>
            <a:chExt cx="457200" cy="457200"/>
          </a:xfrm>
        </p:grpSpPr>
        <p:pic>
          <p:nvPicPr>
            <p:cNvPr id="556" name="Google Shape;556;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8" name="Google Shape;558;p40"/>
          <p:cNvGrpSpPr/>
          <p:nvPr/>
        </p:nvGrpSpPr>
        <p:grpSpPr>
          <a:xfrm>
            <a:off x="4331066" y="4148550"/>
            <a:ext cx="457200" cy="457200"/>
            <a:chOff x="1020916" y="1442088"/>
            <a:chExt cx="457200" cy="457200"/>
          </a:xfrm>
        </p:grpSpPr>
        <p:pic>
          <p:nvPicPr>
            <p:cNvPr id="559" name="Google Shape;559;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1" name="Google Shape;561;p40"/>
          <p:cNvGrpSpPr/>
          <p:nvPr/>
        </p:nvGrpSpPr>
        <p:grpSpPr>
          <a:xfrm>
            <a:off x="7305791" y="4148538"/>
            <a:ext cx="457200" cy="457200"/>
            <a:chOff x="1020916" y="1442088"/>
            <a:chExt cx="457200" cy="457200"/>
          </a:xfrm>
        </p:grpSpPr>
        <p:pic>
          <p:nvPicPr>
            <p:cNvPr id="562" name="Google Shape;562;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4" name="Shape 564"/>
        <p:cNvGrpSpPr/>
        <p:nvPr/>
      </p:nvGrpSpPr>
      <p:grpSpPr>
        <a:xfrm>
          <a:off x="0" y="0"/>
          <a:ext cx="0" cy="0"/>
          <a:chOff x="0" y="0"/>
          <a:chExt cx="0" cy="0"/>
        </a:xfrm>
      </p:grpSpPr>
      <p:pic>
        <p:nvPicPr>
          <p:cNvPr id="565" name="Google Shape;565;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1"/>
          <p:cNvSpPr/>
          <p:nvPr>
            <p:ph idx="3" type="pic"/>
          </p:nvPr>
        </p:nvSpPr>
        <p:spPr>
          <a:xfrm>
            <a:off x="324000" y="1893950"/>
            <a:ext cx="2555400" cy="1939500"/>
          </a:xfrm>
          <a:prstGeom prst="rect">
            <a:avLst/>
          </a:prstGeom>
          <a:noFill/>
          <a:ln>
            <a:noFill/>
          </a:ln>
        </p:spPr>
      </p:sp>
      <p:sp>
        <p:nvSpPr>
          <p:cNvPr id="572" name="Google Shape;572;p41"/>
          <p:cNvSpPr/>
          <p:nvPr>
            <p:ph idx="4" type="pic"/>
          </p:nvPr>
        </p:nvSpPr>
        <p:spPr>
          <a:xfrm>
            <a:off x="6256800" y="1893950"/>
            <a:ext cx="2555400" cy="1939500"/>
          </a:xfrm>
          <a:prstGeom prst="rect">
            <a:avLst/>
          </a:prstGeom>
          <a:noFill/>
          <a:ln>
            <a:noFill/>
          </a:ln>
        </p:spPr>
      </p:sp>
      <p:sp>
        <p:nvSpPr>
          <p:cNvPr id="573" name="Google Shape;573;p41"/>
          <p:cNvSpPr/>
          <p:nvPr>
            <p:ph idx="5" type="pic"/>
          </p:nvPr>
        </p:nvSpPr>
        <p:spPr>
          <a:xfrm>
            <a:off x="3294300" y="1893950"/>
            <a:ext cx="2555400" cy="1939500"/>
          </a:xfrm>
          <a:prstGeom prst="rect">
            <a:avLst/>
          </a:prstGeom>
          <a:noFill/>
          <a:ln>
            <a:noFill/>
          </a:ln>
        </p:spPr>
      </p:sp>
      <p:grpSp>
        <p:nvGrpSpPr>
          <p:cNvPr id="574" name="Google Shape;574;p41"/>
          <p:cNvGrpSpPr/>
          <p:nvPr/>
        </p:nvGrpSpPr>
        <p:grpSpPr>
          <a:xfrm>
            <a:off x="1381028" y="4148538"/>
            <a:ext cx="457200" cy="457200"/>
            <a:chOff x="1020916" y="1442088"/>
            <a:chExt cx="457200" cy="457200"/>
          </a:xfrm>
        </p:grpSpPr>
        <p:pic>
          <p:nvPicPr>
            <p:cNvPr id="575" name="Google Shape;575;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6" name="Google Shape;576;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7" name="Google Shape;577;p41"/>
          <p:cNvGrpSpPr/>
          <p:nvPr/>
        </p:nvGrpSpPr>
        <p:grpSpPr>
          <a:xfrm>
            <a:off x="4331066" y="4148550"/>
            <a:ext cx="457200" cy="457200"/>
            <a:chOff x="1020916" y="1442088"/>
            <a:chExt cx="457200" cy="457200"/>
          </a:xfrm>
        </p:grpSpPr>
        <p:pic>
          <p:nvPicPr>
            <p:cNvPr id="578" name="Google Shape;578;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0" name="Google Shape;580;p41"/>
          <p:cNvGrpSpPr/>
          <p:nvPr/>
        </p:nvGrpSpPr>
        <p:grpSpPr>
          <a:xfrm>
            <a:off x="7305791" y="4148538"/>
            <a:ext cx="457200" cy="457200"/>
            <a:chOff x="1020916" y="1442088"/>
            <a:chExt cx="457200" cy="457200"/>
          </a:xfrm>
        </p:grpSpPr>
        <p:pic>
          <p:nvPicPr>
            <p:cNvPr id="581" name="Google Shape;581;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3" name="Shape 583"/>
        <p:cNvGrpSpPr/>
        <p:nvPr/>
      </p:nvGrpSpPr>
      <p:grpSpPr>
        <a:xfrm>
          <a:off x="0" y="0"/>
          <a:ext cx="0" cy="0"/>
          <a:chOff x="0" y="0"/>
          <a:chExt cx="0" cy="0"/>
        </a:xfrm>
      </p:grpSpPr>
      <p:pic>
        <p:nvPicPr>
          <p:cNvPr id="584" name="Google Shape;584;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5" name="Google Shape;585;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7" name="Google Shape;587;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8" name="Google Shape;588;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9" name="Google Shape;589;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0" name="Google Shape;590;p42"/>
          <p:cNvSpPr/>
          <p:nvPr>
            <p:ph idx="3" type="pic"/>
          </p:nvPr>
        </p:nvSpPr>
        <p:spPr>
          <a:xfrm>
            <a:off x="324000" y="1893950"/>
            <a:ext cx="2555400" cy="1939500"/>
          </a:xfrm>
          <a:prstGeom prst="rect">
            <a:avLst/>
          </a:prstGeom>
          <a:noFill/>
          <a:ln>
            <a:noFill/>
          </a:ln>
        </p:spPr>
      </p:sp>
      <p:sp>
        <p:nvSpPr>
          <p:cNvPr id="591" name="Google Shape;591;p42"/>
          <p:cNvSpPr/>
          <p:nvPr>
            <p:ph idx="4" type="pic"/>
          </p:nvPr>
        </p:nvSpPr>
        <p:spPr>
          <a:xfrm>
            <a:off x="6256800" y="1893950"/>
            <a:ext cx="2555400" cy="1939500"/>
          </a:xfrm>
          <a:prstGeom prst="rect">
            <a:avLst/>
          </a:prstGeom>
          <a:noFill/>
          <a:ln>
            <a:noFill/>
          </a:ln>
        </p:spPr>
      </p:sp>
      <p:sp>
        <p:nvSpPr>
          <p:cNvPr id="592" name="Google Shape;592;p42"/>
          <p:cNvSpPr/>
          <p:nvPr>
            <p:ph idx="5" type="pic"/>
          </p:nvPr>
        </p:nvSpPr>
        <p:spPr>
          <a:xfrm>
            <a:off x="3294300" y="1893950"/>
            <a:ext cx="2555400" cy="1939500"/>
          </a:xfrm>
          <a:prstGeom prst="rect">
            <a:avLst/>
          </a:prstGeom>
          <a:noFill/>
          <a:ln>
            <a:noFill/>
          </a:ln>
        </p:spPr>
      </p:sp>
      <p:grpSp>
        <p:nvGrpSpPr>
          <p:cNvPr id="593" name="Google Shape;593;p42"/>
          <p:cNvGrpSpPr/>
          <p:nvPr/>
        </p:nvGrpSpPr>
        <p:grpSpPr>
          <a:xfrm>
            <a:off x="1381028" y="4148538"/>
            <a:ext cx="457200" cy="457200"/>
            <a:chOff x="1020916" y="1442088"/>
            <a:chExt cx="457200" cy="457200"/>
          </a:xfrm>
        </p:grpSpPr>
        <p:pic>
          <p:nvPicPr>
            <p:cNvPr id="594" name="Google Shape;594;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5" name="Google Shape;595;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6" name="Google Shape;596;p42"/>
          <p:cNvGrpSpPr/>
          <p:nvPr/>
        </p:nvGrpSpPr>
        <p:grpSpPr>
          <a:xfrm>
            <a:off x="4331066" y="4148550"/>
            <a:ext cx="457200" cy="457200"/>
            <a:chOff x="1020916" y="1442088"/>
            <a:chExt cx="457200" cy="457200"/>
          </a:xfrm>
        </p:grpSpPr>
        <p:pic>
          <p:nvPicPr>
            <p:cNvPr id="597" name="Google Shape;597;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9" name="Google Shape;599;p42"/>
          <p:cNvGrpSpPr/>
          <p:nvPr/>
        </p:nvGrpSpPr>
        <p:grpSpPr>
          <a:xfrm>
            <a:off x="7305791" y="4148538"/>
            <a:ext cx="457200" cy="457200"/>
            <a:chOff x="1020916" y="1442088"/>
            <a:chExt cx="457200" cy="457200"/>
          </a:xfrm>
        </p:grpSpPr>
        <p:pic>
          <p:nvPicPr>
            <p:cNvPr id="600" name="Google Shape;600;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2" name="Shape 602"/>
        <p:cNvGrpSpPr/>
        <p:nvPr/>
      </p:nvGrpSpPr>
      <p:grpSpPr>
        <a:xfrm>
          <a:off x="0" y="0"/>
          <a:ext cx="0" cy="0"/>
          <a:chOff x="0" y="0"/>
          <a:chExt cx="0" cy="0"/>
        </a:xfrm>
      </p:grpSpPr>
      <p:pic>
        <p:nvPicPr>
          <p:cNvPr id="603" name="Google Shape;603;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4" name="Google Shape;604;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6" name="Google Shape;606;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7" name="Google Shape;607;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8" name="Google Shape;608;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9" name="Google Shape;609;p43"/>
          <p:cNvSpPr/>
          <p:nvPr>
            <p:ph idx="3" type="pic"/>
          </p:nvPr>
        </p:nvSpPr>
        <p:spPr>
          <a:xfrm>
            <a:off x="324000" y="1893950"/>
            <a:ext cx="2555400" cy="1939500"/>
          </a:xfrm>
          <a:prstGeom prst="rect">
            <a:avLst/>
          </a:prstGeom>
          <a:noFill/>
          <a:ln>
            <a:noFill/>
          </a:ln>
        </p:spPr>
      </p:sp>
      <p:sp>
        <p:nvSpPr>
          <p:cNvPr id="610" name="Google Shape;610;p43"/>
          <p:cNvSpPr/>
          <p:nvPr>
            <p:ph idx="4" type="pic"/>
          </p:nvPr>
        </p:nvSpPr>
        <p:spPr>
          <a:xfrm>
            <a:off x="6256800" y="1893950"/>
            <a:ext cx="2555400" cy="1939500"/>
          </a:xfrm>
          <a:prstGeom prst="rect">
            <a:avLst/>
          </a:prstGeom>
          <a:noFill/>
          <a:ln>
            <a:noFill/>
          </a:ln>
        </p:spPr>
      </p:sp>
      <p:sp>
        <p:nvSpPr>
          <p:cNvPr id="611" name="Google Shape;611;p43"/>
          <p:cNvSpPr/>
          <p:nvPr>
            <p:ph idx="5" type="pic"/>
          </p:nvPr>
        </p:nvSpPr>
        <p:spPr>
          <a:xfrm>
            <a:off x="3294300" y="1893950"/>
            <a:ext cx="2555400" cy="1939500"/>
          </a:xfrm>
          <a:prstGeom prst="rect">
            <a:avLst/>
          </a:prstGeom>
          <a:noFill/>
          <a:ln>
            <a:noFill/>
          </a:ln>
        </p:spPr>
      </p:sp>
      <p:grpSp>
        <p:nvGrpSpPr>
          <p:cNvPr id="612" name="Google Shape;612;p43"/>
          <p:cNvGrpSpPr/>
          <p:nvPr/>
        </p:nvGrpSpPr>
        <p:grpSpPr>
          <a:xfrm>
            <a:off x="1381028" y="4148538"/>
            <a:ext cx="457200" cy="457200"/>
            <a:chOff x="1020916" y="1442088"/>
            <a:chExt cx="457200" cy="457200"/>
          </a:xfrm>
        </p:grpSpPr>
        <p:pic>
          <p:nvPicPr>
            <p:cNvPr id="613" name="Google Shape;613;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4" name="Google Shape;614;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5" name="Google Shape;615;p43"/>
          <p:cNvGrpSpPr/>
          <p:nvPr/>
        </p:nvGrpSpPr>
        <p:grpSpPr>
          <a:xfrm>
            <a:off x="4331066" y="4148550"/>
            <a:ext cx="457200" cy="457200"/>
            <a:chOff x="1020916" y="1442088"/>
            <a:chExt cx="457200" cy="457200"/>
          </a:xfrm>
        </p:grpSpPr>
        <p:pic>
          <p:nvPicPr>
            <p:cNvPr id="616" name="Google Shape;61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8" name="Google Shape;618;p43"/>
          <p:cNvGrpSpPr/>
          <p:nvPr/>
        </p:nvGrpSpPr>
        <p:grpSpPr>
          <a:xfrm>
            <a:off x="7305791" y="4148538"/>
            <a:ext cx="457200" cy="457200"/>
            <a:chOff x="1020916" y="1442088"/>
            <a:chExt cx="457200" cy="457200"/>
          </a:xfrm>
        </p:grpSpPr>
        <p:pic>
          <p:nvPicPr>
            <p:cNvPr id="619" name="Google Shape;61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1" name="Shape 621"/>
        <p:cNvGrpSpPr/>
        <p:nvPr/>
      </p:nvGrpSpPr>
      <p:grpSpPr>
        <a:xfrm>
          <a:off x="0" y="0"/>
          <a:ext cx="0" cy="0"/>
          <a:chOff x="0" y="0"/>
          <a:chExt cx="0" cy="0"/>
        </a:xfrm>
      </p:grpSpPr>
      <p:pic>
        <p:nvPicPr>
          <p:cNvPr id="622" name="Google Shape;622;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3" name="Google Shape;623;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5" name="Google Shape;625;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6" name="Google Shape;626;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7" name="Google Shape;627;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8" name="Shape 628"/>
        <p:cNvGrpSpPr/>
        <p:nvPr/>
      </p:nvGrpSpPr>
      <p:grpSpPr>
        <a:xfrm>
          <a:off x="0" y="0"/>
          <a:ext cx="0" cy="0"/>
          <a:chOff x="0" y="0"/>
          <a:chExt cx="0" cy="0"/>
        </a:xfrm>
      </p:grpSpPr>
      <p:pic>
        <p:nvPicPr>
          <p:cNvPr id="629" name="Google Shape;629;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0" name="Google Shape;630;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2" name="Google Shape;632;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3" name="Google Shape;633;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4" name="Google Shape;634;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5" name="Shape 635"/>
        <p:cNvGrpSpPr/>
        <p:nvPr/>
      </p:nvGrpSpPr>
      <p:grpSpPr>
        <a:xfrm>
          <a:off x="0" y="0"/>
          <a:ext cx="0" cy="0"/>
          <a:chOff x="0" y="0"/>
          <a:chExt cx="0" cy="0"/>
        </a:xfrm>
      </p:grpSpPr>
      <p:pic>
        <p:nvPicPr>
          <p:cNvPr id="636" name="Google Shape;636;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7" name="Google Shape;637;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9" name="Google Shape;639;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0" name="Google Shape;640;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1" name="Google Shape;641;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2" name="Shape 642"/>
        <p:cNvGrpSpPr/>
        <p:nvPr/>
      </p:nvGrpSpPr>
      <p:grpSpPr>
        <a:xfrm>
          <a:off x="0" y="0"/>
          <a:ext cx="0" cy="0"/>
          <a:chOff x="0" y="0"/>
          <a:chExt cx="0" cy="0"/>
        </a:xfrm>
      </p:grpSpPr>
      <p:pic>
        <p:nvPicPr>
          <p:cNvPr id="643" name="Google Shape;643;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4" name="Google Shape;644;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6" name="Google Shape;646;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7" name="Google Shape;647;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8" name="Google Shape;648;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9" name="Shape 649"/>
        <p:cNvGrpSpPr/>
        <p:nvPr/>
      </p:nvGrpSpPr>
      <p:grpSpPr>
        <a:xfrm>
          <a:off x="0" y="0"/>
          <a:ext cx="0" cy="0"/>
          <a:chOff x="0" y="0"/>
          <a:chExt cx="0" cy="0"/>
        </a:xfrm>
      </p:grpSpPr>
      <p:pic>
        <p:nvPicPr>
          <p:cNvPr id="650" name="Google Shape;650;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1" name="Google Shape;651;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3" name="Google Shape;653;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4" name="Google Shape;654;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5" name="Google Shape;655;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6" name="Google Shape;656;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7" name="Shape 657"/>
        <p:cNvGrpSpPr/>
        <p:nvPr/>
      </p:nvGrpSpPr>
      <p:grpSpPr>
        <a:xfrm>
          <a:off x="0" y="0"/>
          <a:ext cx="0" cy="0"/>
          <a:chOff x="0" y="0"/>
          <a:chExt cx="0" cy="0"/>
        </a:xfrm>
      </p:grpSpPr>
      <p:pic>
        <p:nvPicPr>
          <p:cNvPr id="658" name="Google Shape;65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9" name="Google Shape;659;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1" name="Google Shape;661;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2" name="Google Shape;662;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3" name="Google Shape;663;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4" name="Google Shape;664;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5" name="Shape 665"/>
        <p:cNvGrpSpPr/>
        <p:nvPr/>
      </p:nvGrpSpPr>
      <p:grpSpPr>
        <a:xfrm>
          <a:off x="0" y="0"/>
          <a:ext cx="0" cy="0"/>
          <a:chOff x="0" y="0"/>
          <a:chExt cx="0" cy="0"/>
        </a:xfrm>
      </p:grpSpPr>
      <p:pic>
        <p:nvPicPr>
          <p:cNvPr id="666" name="Google Shape;666;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7" name="Google Shape;667;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9" name="Google Shape;66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70" name="Google Shape;670;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1" name="Google Shape;671;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2" name="Google Shape;672;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3" name="Shape 673"/>
        <p:cNvGrpSpPr/>
        <p:nvPr/>
      </p:nvGrpSpPr>
      <p:grpSpPr>
        <a:xfrm>
          <a:off x="0" y="0"/>
          <a:ext cx="0" cy="0"/>
          <a:chOff x="0" y="0"/>
          <a:chExt cx="0" cy="0"/>
        </a:xfrm>
      </p:grpSpPr>
      <p:pic>
        <p:nvPicPr>
          <p:cNvPr id="674" name="Google Shape;674;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5" name="Google Shape;675;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7" name="Google Shape;677;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8" name="Google Shape;678;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9" name="Google Shape;679;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0" name="Google Shape;680;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1" name="Shape 681"/>
        <p:cNvGrpSpPr/>
        <p:nvPr/>
      </p:nvGrpSpPr>
      <p:grpSpPr>
        <a:xfrm>
          <a:off x="0" y="0"/>
          <a:ext cx="0" cy="0"/>
          <a:chOff x="0" y="0"/>
          <a:chExt cx="0" cy="0"/>
        </a:xfrm>
      </p:grpSpPr>
      <p:pic>
        <p:nvPicPr>
          <p:cNvPr id="682" name="Google Shape;682;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3" name="Google Shape;683;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5" name="Google Shape;685;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6" name="Google Shape;686;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7" name="Google Shape;687;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8" name="Google Shape;688;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9" name="Shape 689"/>
        <p:cNvGrpSpPr/>
        <p:nvPr/>
      </p:nvGrpSpPr>
      <p:grpSpPr>
        <a:xfrm>
          <a:off x="0" y="0"/>
          <a:ext cx="0" cy="0"/>
          <a:chOff x="0" y="0"/>
          <a:chExt cx="0" cy="0"/>
        </a:xfrm>
      </p:grpSpPr>
      <p:pic>
        <p:nvPicPr>
          <p:cNvPr id="690" name="Google Shape;690;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1" name="Google Shape;691;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3" name="Google Shape;693;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4" name="Google Shape;694;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6" name="Google Shape;696;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7" name="Shape 697"/>
        <p:cNvGrpSpPr/>
        <p:nvPr/>
      </p:nvGrpSpPr>
      <p:grpSpPr>
        <a:xfrm>
          <a:off x="0" y="0"/>
          <a:ext cx="0" cy="0"/>
          <a:chOff x="0" y="0"/>
          <a:chExt cx="0" cy="0"/>
        </a:xfrm>
      </p:grpSpPr>
      <p:pic>
        <p:nvPicPr>
          <p:cNvPr id="698" name="Google Shape;698;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9" name="Google Shape;699;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1" name="Google Shape;70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2" name="Google Shape;702;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3" name="Google Shape;703;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4" name="Google Shape;704;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5" name="Shape 705"/>
        <p:cNvGrpSpPr/>
        <p:nvPr/>
      </p:nvGrpSpPr>
      <p:grpSpPr>
        <a:xfrm>
          <a:off x="0" y="0"/>
          <a:ext cx="0" cy="0"/>
          <a:chOff x="0" y="0"/>
          <a:chExt cx="0" cy="0"/>
        </a:xfrm>
      </p:grpSpPr>
      <p:pic>
        <p:nvPicPr>
          <p:cNvPr id="706" name="Google Shape;706;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7" name="Google Shape;707;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9" name="Google Shape;709;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0" name="Google Shape;710;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1" name="Google Shape;711;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2" name="Google Shape;712;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3" name="Shape 713"/>
        <p:cNvGrpSpPr/>
        <p:nvPr/>
      </p:nvGrpSpPr>
      <p:grpSpPr>
        <a:xfrm>
          <a:off x="0" y="0"/>
          <a:ext cx="0" cy="0"/>
          <a:chOff x="0" y="0"/>
          <a:chExt cx="0" cy="0"/>
        </a:xfrm>
      </p:grpSpPr>
      <p:sp>
        <p:nvSpPr>
          <p:cNvPr id="714" name="Google Shape;714;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5" name="Google Shape;715;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6" name="Google Shape;716;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7" name="Google Shape;717;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8" name="Google Shape;718;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9" name="Shape 719"/>
        <p:cNvGrpSpPr/>
        <p:nvPr/>
      </p:nvGrpSpPr>
      <p:grpSpPr>
        <a:xfrm>
          <a:off x="0" y="0"/>
          <a:ext cx="0" cy="0"/>
          <a:chOff x="0" y="0"/>
          <a:chExt cx="0" cy="0"/>
        </a:xfrm>
      </p:grpSpPr>
      <p:sp>
        <p:nvSpPr>
          <p:cNvPr id="720" name="Google Shape;720;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1" name="Google Shape;721;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2" name="Google Shape;722;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3" name="Google Shape;723;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4" name="Google Shape;724;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5" name="Shape 725"/>
        <p:cNvGrpSpPr/>
        <p:nvPr/>
      </p:nvGrpSpPr>
      <p:grpSpPr>
        <a:xfrm>
          <a:off x="0" y="0"/>
          <a:ext cx="0" cy="0"/>
          <a:chOff x="0" y="0"/>
          <a:chExt cx="0" cy="0"/>
        </a:xfrm>
      </p:grpSpPr>
      <p:pic>
        <p:nvPicPr>
          <p:cNvPr id="726" name="Google Shape;726;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7" name="Google Shape;727;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8" name="Shape 728"/>
        <p:cNvGrpSpPr/>
        <p:nvPr/>
      </p:nvGrpSpPr>
      <p:grpSpPr>
        <a:xfrm>
          <a:off x="0" y="0"/>
          <a:ext cx="0" cy="0"/>
          <a:chOff x="0" y="0"/>
          <a:chExt cx="0" cy="0"/>
        </a:xfrm>
      </p:grpSpPr>
      <p:sp>
        <p:nvSpPr>
          <p:cNvPr id="729" name="Google Shape;729;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0" name="Google Shape;730;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1" name="Google Shape;731;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2" name="Google Shape;732;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3" name="Google Shape;733;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7" name="Google Shape;737;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8" name="Shape 738"/>
        <p:cNvGrpSpPr/>
        <p:nvPr/>
      </p:nvGrpSpPr>
      <p:grpSpPr>
        <a:xfrm>
          <a:off x="0" y="0"/>
          <a:ext cx="0" cy="0"/>
          <a:chOff x="0" y="0"/>
          <a:chExt cx="0" cy="0"/>
        </a:xfrm>
      </p:grpSpPr>
      <p:pic>
        <p:nvPicPr>
          <p:cNvPr id="739" name="Google Shape;739;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0" name="Google Shape;740;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1" name="Shape 741"/>
        <p:cNvGrpSpPr/>
        <p:nvPr/>
      </p:nvGrpSpPr>
      <p:grpSpPr>
        <a:xfrm>
          <a:off x="0" y="0"/>
          <a:ext cx="0" cy="0"/>
          <a:chOff x="0" y="0"/>
          <a:chExt cx="0" cy="0"/>
        </a:xfrm>
      </p:grpSpPr>
      <p:sp>
        <p:nvSpPr>
          <p:cNvPr id="742" name="Google Shape;742;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743" name="Shape 743"/>
        <p:cNvGrpSpPr/>
        <p:nvPr/>
      </p:nvGrpSpPr>
      <p:grpSpPr>
        <a:xfrm>
          <a:off x="0" y="0"/>
          <a:ext cx="0" cy="0"/>
          <a:chOff x="0" y="0"/>
          <a:chExt cx="0" cy="0"/>
        </a:xfrm>
      </p:grpSpPr>
      <p:sp>
        <p:nvSpPr>
          <p:cNvPr id="744" name="Google Shape;744;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5" name="Google Shape;745;p62"/>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746" name="Google Shape;746;p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747" name="Google Shape;747;p62"/>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8" name="Google Shape;748;p62"/>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9" name="Google Shape;749;p62"/>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3" Type="http://schemas.openxmlformats.org/officeDocument/2006/relationships/theme" Target="../theme/theme1.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5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56.png"/><Relationship Id="rId4" Type="http://schemas.openxmlformats.org/officeDocument/2006/relationships/image" Target="../media/image54.png"/><Relationship Id="rId5" Type="http://schemas.openxmlformats.org/officeDocument/2006/relationships/image" Target="../media/image51.png"/><Relationship Id="rId6" Type="http://schemas.openxmlformats.org/officeDocument/2006/relationships/image" Target="../media/image5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2.xml"/><Relationship Id="rId3" Type="http://schemas.openxmlformats.org/officeDocument/2006/relationships/image" Target="../media/image5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6.xml"/><Relationship Id="rId3" Type="http://schemas.openxmlformats.org/officeDocument/2006/relationships/image" Target="../media/image5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7.xml"/><Relationship Id="rId3" Type="http://schemas.openxmlformats.org/officeDocument/2006/relationships/image" Target="../media/image5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5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0.xml"/><Relationship Id="rId3" Type="http://schemas.openxmlformats.org/officeDocument/2006/relationships/image" Target="../media/image54.png"/><Relationship Id="rId4" Type="http://schemas.openxmlformats.org/officeDocument/2006/relationships/image" Target="../media/image56.png"/><Relationship Id="rId5" Type="http://schemas.openxmlformats.org/officeDocument/2006/relationships/image" Target="../media/image5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1.xml"/><Relationship Id="rId3" Type="http://schemas.openxmlformats.org/officeDocument/2006/relationships/image" Target="../media/image56.png"/><Relationship Id="rId4" Type="http://schemas.openxmlformats.org/officeDocument/2006/relationships/image" Target="../media/image54.png"/><Relationship Id="rId5" Type="http://schemas.openxmlformats.org/officeDocument/2006/relationships/image" Target="../media/image5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3.xml"/><Relationship Id="rId3" Type="http://schemas.openxmlformats.org/officeDocument/2006/relationships/image" Target="../media/image62.png"/><Relationship Id="rId4" Type="http://schemas.openxmlformats.org/officeDocument/2006/relationships/image" Target="../media/image6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7.xml"/><Relationship Id="rId3" Type="http://schemas.openxmlformats.org/officeDocument/2006/relationships/image" Target="../media/image6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 Id="rId3" Type="http://schemas.openxmlformats.org/officeDocument/2006/relationships/image" Target="../media/image59.png"/><Relationship Id="rId4" Type="http://schemas.openxmlformats.org/officeDocument/2006/relationships/image" Target="../media/image63.png"/><Relationship Id="rId5" Type="http://schemas.openxmlformats.org/officeDocument/2006/relationships/image" Target="../media/image6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9.xml"/><Relationship Id="rId3" Type="http://schemas.openxmlformats.org/officeDocument/2006/relationships/image" Target="../media/image6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1.xml"/><Relationship Id="rId3" Type="http://schemas.openxmlformats.org/officeDocument/2006/relationships/image" Target="../media/image57.png"/><Relationship Id="rId4" Type="http://schemas.openxmlformats.org/officeDocument/2006/relationships/image" Target="../media/image6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2.xml"/><Relationship Id="rId3" Type="http://schemas.openxmlformats.org/officeDocument/2006/relationships/image" Target="../media/image5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3.xml"/><Relationship Id="rId3" Type="http://schemas.openxmlformats.org/officeDocument/2006/relationships/image" Target="../media/image67.png"/><Relationship Id="rId4" Type="http://schemas.openxmlformats.org/officeDocument/2006/relationships/image" Target="../media/image6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5.xml"/><Relationship Id="rId3" Type="http://schemas.openxmlformats.org/officeDocument/2006/relationships/image" Target="../media/image57.png"/><Relationship Id="rId4" Type="http://schemas.openxmlformats.org/officeDocument/2006/relationships/image" Target="../media/image6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6.xml"/><Relationship Id="rId3" Type="http://schemas.openxmlformats.org/officeDocument/2006/relationships/image" Target="../media/image5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7.xml"/><Relationship Id="rId3" Type="http://schemas.openxmlformats.org/officeDocument/2006/relationships/image" Target="../media/image67.png"/><Relationship Id="rId4" Type="http://schemas.openxmlformats.org/officeDocument/2006/relationships/image" Target="../media/image6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39.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63"/>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Degrees of accuracy</a:t>
            </a:r>
            <a:endParaRPr/>
          </a:p>
        </p:txBody>
      </p:sp>
      <p:sp>
        <p:nvSpPr>
          <p:cNvPr id="755" name="Google Shape;755;p63"/>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Estimation and rounding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9" name="Shape 759"/>
        <p:cNvGrpSpPr/>
        <p:nvPr/>
      </p:nvGrpSpPr>
      <p:grpSpPr>
        <a:xfrm>
          <a:off x="0" y="0"/>
          <a:ext cx="0" cy="0"/>
          <a:chOff x="0" y="0"/>
          <a:chExt cx="0" cy="0"/>
        </a:xfrm>
      </p:grpSpPr>
      <p:sp>
        <p:nvSpPr>
          <p:cNvPr id="760" name="Google Shape;760;p64"/>
          <p:cNvSpPr txBox="1"/>
          <p:nvPr/>
        </p:nvSpPr>
        <p:spPr>
          <a:xfrm>
            <a:off x="5655175" y="9530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65"/>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appreciate what is meant by a suitable degree of accuracy.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66"/>
          <p:cNvSpPr txBox="1"/>
          <p:nvPr/>
        </p:nvSpPr>
        <p:spPr>
          <a:xfrm>
            <a:off x="306950" y="1066800"/>
            <a:ext cx="7833300" cy="1763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en-GB" sz="2200">
                <a:solidFill>
                  <a:srgbClr val="282828"/>
                </a:solidFill>
                <a:latin typeface="Lexend"/>
                <a:ea typeface="Lexend"/>
                <a:cs typeface="Lexend"/>
                <a:sym typeface="Lexend"/>
              </a:rPr>
              <a:t>A degree of accuracy shows how precise a number or measurement is. </a:t>
            </a:r>
            <a:endParaRPr sz="2200">
              <a:solidFill>
                <a:srgbClr val="282828"/>
              </a:solidFill>
              <a:latin typeface="Lexend"/>
              <a:ea typeface="Lexend"/>
              <a:cs typeface="Lexend"/>
              <a:sym typeface="Lexend"/>
            </a:endParaRPr>
          </a:p>
          <a:p>
            <a:pPr indent="0" lvl="0" marL="0" rtl="0" algn="l">
              <a:lnSpc>
                <a:spcPct val="115000"/>
              </a:lnSpc>
              <a:spcBef>
                <a:spcPts val="1000"/>
              </a:spcBef>
              <a:spcAft>
                <a:spcPts val="0"/>
              </a:spcAft>
              <a:buClr>
                <a:schemeClr val="dk1"/>
              </a:buClr>
              <a:buSzPts val="1100"/>
              <a:buFont typeface="Arial"/>
              <a:buNone/>
            </a:pPr>
            <a:r>
              <a:rPr lang="en-GB" sz="2200">
                <a:solidFill>
                  <a:srgbClr val="282828"/>
                </a:solidFill>
                <a:latin typeface="Lexend"/>
                <a:ea typeface="Lexend"/>
                <a:cs typeface="Lexend"/>
                <a:sym typeface="Lexend"/>
              </a:rPr>
              <a:t>E.g. to the nearest cm, nearest 10, 1 s.f., etc.  </a:t>
            </a:r>
            <a:endParaRPr sz="2200">
              <a:solidFill>
                <a:srgbClr val="282828"/>
              </a:solidFill>
              <a:latin typeface="Lexend"/>
              <a:ea typeface="Lexend"/>
              <a:cs typeface="Lexend"/>
              <a:sym typeface="Lexend"/>
            </a:endParaRPr>
          </a:p>
          <a:p>
            <a:pPr indent="0" lvl="0" marL="0" rtl="0" algn="l">
              <a:lnSpc>
                <a:spcPct val="115000"/>
              </a:lnSpc>
              <a:spcBef>
                <a:spcPts val="1000"/>
              </a:spcBef>
              <a:spcAft>
                <a:spcPts val="1000"/>
              </a:spcAft>
              <a:buNone/>
            </a:pPr>
            <a:r>
              <a:t/>
            </a:r>
            <a:endParaRPr b="1" sz="2200">
              <a:solidFill>
                <a:srgbClr val="282828"/>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67"/>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Understanding degrees of accuracy</a:t>
            </a:r>
            <a:endParaRPr/>
          </a:p>
        </p:txBody>
      </p:sp>
      <p:sp>
        <p:nvSpPr>
          <p:cNvPr id="776" name="Google Shape;776;p6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Answers to an </a:t>
            </a:r>
            <a:r>
              <a:rPr lang="en-GB"/>
              <a:t>appropriate</a:t>
            </a:r>
            <a:r>
              <a:rPr lang="en-GB"/>
              <a:t> degree of accuracy</a:t>
            </a:r>
            <a:endParaRPr/>
          </a:p>
        </p:txBody>
      </p:sp>
      <p:sp>
        <p:nvSpPr>
          <p:cNvPr id="777" name="Google Shape;777;p6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Degrees of accuracy</a:t>
            </a:r>
            <a:endParaRPr/>
          </a:p>
        </p:txBody>
      </p:sp>
      <p:pic>
        <p:nvPicPr>
          <p:cNvPr id="778" name="Google Shape;778;p67"/>
          <p:cNvPicPr preferRelativeResize="0"/>
          <p:nvPr/>
        </p:nvPicPr>
        <p:blipFill>
          <a:blip r:embed="rId3">
            <a:alphaModFix/>
          </a:blip>
          <a:stretch>
            <a:fillRect/>
          </a:stretch>
        </p:blipFill>
        <p:spPr>
          <a:xfrm>
            <a:off x="411162" y="206255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6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Understanding degrees of accuracy</a:t>
            </a:r>
            <a:endParaRPr/>
          </a:p>
        </p:txBody>
      </p:sp>
      <p:sp>
        <p:nvSpPr>
          <p:cNvPr id="784" name="Google Shape;784;p68"/>
          <p:cNvSpPr txBox="1"/>
          <p:nvPr>
            <p:ph idx="1" type="body"/>
          </p:nvPr>
        </p:nvSpPr>
        <p:spPr>
          <a:xfrm>
            <a:off x="324000" y="606900"/>
            <a:ext cx="8237700" cy="3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Jun, Alex and Aisha</a:t>
            </a:r>
            <a:r>
              <a:rPr lang="en-GB" sz="1800"/>
              <a:t> are discussing the following statement.</a:t>
            </a:r>
            <a:endParaRPr sz="1800"/>
          </a:p>
        </p:txBody>
      </p:sp>
      <p:pic>
        <p:nvPicPr>
          <p:cNvPr id="785" name="Google Shape;785;p68"/>
          <p:cNvPicPr preferRelativeResize="0"/>
          <p:nvPr/>
        </p:nvPicPr>
        <p:blipFill>
          <a:blip r:embed="rId3">
            <a:alphaModFix/>
          </a:blip>
          <a:stretch>
            <a:fillRect/>
          </a:stretch>
        </p:blipFill>
        <p:spPr>
          <a:xfrm flipH="1">
            <a:off x="7179471" y="2856672"/>
            <a:ext cx="623342" cy="1177024"/>
          </a:xfrm>
          <a:prstGeom prst="rect">
            <a:avLst/>
          </a:prstGeom>
          <a:noFill/>
          <a:ln>
            <a:noFill/>
          </a:ln>
        </p:spPr>
      </p:pic>
      <p:sp>
        <p:nvSpPr>
          <p:cNvPr id="786" name="Google Shape;786;p68"/>
          <p:cNvSpPr txBox="1"/>
          <p:nvPr/>
        </p:nvSpPr>
        <p:spPr>
          <a:xfrm>
            <a:off x="7031100" y="4072066"/>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 </a:t>
            </a:r>
            <a:endParaRPr sz="1800">
              <a:latin typeface="Lexend"/>
              <a:ea typeface="Lexend"/>
              <a:cs typeface="Lexend"/>
              <a:sym typeface="Lexend"/>
            </a:endParaRPr>
          </a:p>
        </p:txBody>
      </p:sp>
      <p:pic>
        <p:nvPicPr>
          <p:cNvPr id="787" name="Google Shape;787;p68"/>
          <p:cNvPicPr preferRelativeResize="0"/>
          <p:nvPr/>
        </p:nvPicPr>
        <p:blipFill>
          <a:blip r:embed="rId4">
            <a:alphaModFix/>
          </a:blip>
          <a:stretch>
            <a:fillRect/>
          </a:stretch>
        </p:blipFill>
        <p:spPr>
          <a:xfrm>
            <a:off x="388605" y="2025116"/>
            <a:ext cx="727191" cy="909325"/>
          </a:xfrm>
          <a:prstGeom prst="rect">
            <a:avLst/>
          </a:prstGeom>
          <a:noFill/>
          <a:ln>
            <a:noFill/>
          </a:ln>
        </p:spPr>
      </p:pic>
      <p:sp>
        <p:nvSpPr>
          <p:cNvPr id="788" name="Google Shape;788;p68"/>
          <p:cNvSpPr txBox="1"/>
          <p:nvPr/>
        </p:nvSpPr>
        <p:spPr>
          <a:xfrm>
            <a:off x="375575" y="3038341"/>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Jun</a:t>
            </a:r>
            <a:endParaRPr sz="1800">
              <a:latin typeface="Lexend"/>
              <a:ea typeface="Lexend"/>
              <a:cs typeface="Lexend"/>
              <a:sym typeface="Lexend"/>
            </a:endParaRPr>
          </a:p>
        </p:txBody>
      </p:sp>
      <p:sp>
        <p:nvSpPr>
          <p:cNvPr id="789" name="Google Shape;789;p68"/>
          <p:cNvSpPr/>
          <p:nvPr/>
        </p:nvSpPr>
        <p:spPr>
          <a:xfrm>
            <a:off x="356800" y="979275"/>
            <a:ext cx="8427300" cy="313500"/>
          </a:xfrm>
          <a:prstGeom prst="roundRect">
            <a:avLst>
              <a:gd fmla="val 16667" name="adj"/>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In 2022 the attendance at Glastonbury Music Festival was 210 000.</a:t>
            </a:r>
            <a:endParaRPr sz="1900">
              <a:latin typeface="Lexend"/>
              <a:ea typeface="Lexend"/>
              <a:cs typeface="Lexend"/>
              <a:sym typeface="Lexend"/>
            </a:endParaRPr>
          </a:p>
        </p:txBody>
      </p:sp>
      <p:grpSp>
        <p:nvGrpSpPr>
          <p:cNvPr id="790" name="Google Shape;790;p68"/>
          <p:cNvGrpSpPr/>
          <p:nvPr/>
        </p:nvGrpSpPr>
        <p:grpSpPr>
          <a:xfrm>
            <a:off x="5651413" y="1446016"/>
            <a:ext cx="2444099" cy="1316250"/>
            <a:chOff x="5118013" y="1965675"/>
            <a:chExt cx="2444099" cy="1316250"/>
          </a:xfrm>
        </p:grpSpPr>
        <p:pic>
          <p:nvPicPr>
            <p:cNvPr id="791" name="Google Shape;791;p68"/>
            <p:cNvPicPr preferRelativeResize="0"/>
            <p:nvPr/>
          </p:nvPicPr>
          <p:blipFill rotWithShape="1">
            <a:blip r:embed="rId5">
              <a:alphaModFix/>
            </a:blip>
            <a:srcRect b="0" l="0" r="69082" t="56280"/>
            <a:stretch/>
          </p:blipFill>
          <p:spPr>
            <a:xfrm>
              <a:off x="5118013" y="1965675"/>
              <a:ext cx="2444099" cy="1316250"/>
            </a:xfrm>
            <a:prstGeom prst="rect">
              <a:avLst/>
            </a:prstGeom>
            <a:noFill/>
            <a:ln>
              <a:noFill/>
            </a:ln>
          </p:spPr>
        </p:pic>
        <p:sp>
          <p:nvSpPr>
            <p:cNvPr id="792" name="Google Shape;792;p68"/>
            <p:cNvSpPr txBox="1"/>
            <p:nvPr/>
          </p:nvSpPr>
          <p:spPr>
            <a:xfrm>
              <a:off x="5283588" y="2107025"/>
              <a:ext cx="2053500" cy="7728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latin typeface="Lexend"/>
                  <a:ea typeface="Lexend"/>
                  <a:cs typeface="Lexend"/>
                  <a:sym typeface="Lexend"/>
                </a:rPr>
                <a:t>I don’t think the attendance has been rounded.</a:t>
              </a:r>
              <a:endParaRPr sz="1800">
                <a:latin typeface="Lexend"/>
                <a:ea typeface="Lexend"/>
                <a:cs typeface="Lexend"/>
                <a:sym typeface="Lexend"/>
              </a:endParaRPr>
            </a:p>
          </p:txBody>
        </p:sp>
      </p:grpSp>
      <p:grpSp>
        <p:nvGrpSpPr>
          <p:cNvPr id="793" name="Google Shape;793;p68"/>
          <p:cNvGrpSpPr/>
          <p:nvPr/>
        </p:nvGrpSpPr>
        <p:grpSpPr>
          <a:xfrm>
            <a:off x="1109552" y="1326966"/>
            <a:ext cx="4435923" cy="1469576"/>
            <a:chOff x="1109540" y="1770425"/>
            <a:chExt cx="3785887" cy="1469576"/>
          </a:xfrm>
        </p:grpSpPr>
        <p:pic>
          <p:nvPicPr>
            <p:cNvPr id="794" name="Google Shape;794;p68"/>
            <p:cNvPicPr preferRelativeResize="0"/>
            <p:nvPr/>
          </p:nvPicPr>
          <p:blipFill rotWithShape="1">
            <a:blip r:embed="rId5">
              <a:alphaModFix/>
            </a:blip>
            <a:srcRect b="0" l="0" r="69082" t="56280"/>
            <a:stretch/>
          </p:blipFill>
          <p:spPr>
            <a:xfrm flipH="1">
              <a:off x="1109540" y="1770425"/>
              <a:ext cx="3785887" cy="1469576"/>
            </a:xfrm>
            <a:prstGeom prst="rect">
              <a:avLst/>
            </a:prstGeom>
            <a:noFill/>
            <a:ln>
              <a:noFill/>
            </a:ln>
          </p:spPr>
        </p:pic>
        <p:sp>
          <p:nvSpPr>
            <p:cNvPr id="795" name="Google Shape;795;p68"/>
            <p:cNvSpPr txBox="1"/>
            <p:nvPr/>
          </p:nvSpPr>
          <p:spPr>
            <a:xfrm>
              <a:off x="1426419" y="1842199"/>
              <a:ext cx="3265200" cy="7728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latin typeface="Lexend"/>
                  <a:ea typeface="Lexend"/>
                  <a:cs typeface="Lexend"/>
                  <a:sym typeface="Lexend"/>
                </a:rPr>
                <a:t>The first digit is in the hundred thousands column, it must have been rounded to the nearest hundred thousand.</a:t>
              </a:r>
              <a:endParaRPr sz="1800">
                <a:latin typeface="Lexend"/>
                <a:ea typeface="Lexend"/>
                <a:cs typeface="Lexend"/>
                <a:sym typeface="Lexend"/>
              </a:endParaRPr>
            </a:p>
          </p:txBody>
        </p:sp>
      </p:grpSp>
      <p:pic>
        <p:nvPicPr>
          <p:cNvPr id="796" name="Google Shape;796;p68"/>
          <p:cNvPicPr preferRelativeResize="0"/>
          <p:nvPr/>
        </p:nvPicPr>
        <p:blipFill>
          <a:blip r:embed="rId6">
            <a:alphaModFix/>
          </a:blip>
          <a:stretch>
            <a:fillRect/>
          </a:stretch>
        </p:blipFill>
        <p:spPr>
          <a:xfrm>
            <a:off x="8013297" y="2265691"/>
            <a:ext cx="777007" cy="896096"/>
          </a:xfrm>
          <a:prstGeom prst="rect">
            <a:avLst/>
          </a:prstGeom>
          <a:noFill/>
          <a:ln>
            <a:noFill/>
          </a:ln>
        </p:spPr>
      </p:pic>
      <p:sp>
        <p:nvSpPr>
          <p:cNvPr id="797" name="Google Shape;797;p68"/>
          <p:cNvSpPr txBox="1"/>
          <p:nvPr/>
        </p:nvSpPr>
        <p:spPr>
          <a:xfrm>
            <a:off x="7898700" y="3161228"/>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sz="1800">
              <a:latin typeface="Lexend"/>
              <a:ea typeface="Lexend"/>
              <a:cs typeface="Lexend"/>
              <a:sym typeface="Lexend"/>
            </a:endParaRPr>
          </a:p>
        </p:txBody>
      </p:sp>
      <p:grpSp>
        <p:nvGrpSpPr>
          <p:cNvPr id="798" name="Google Shape;798;p68"/>
          <p:cNvGrpSpPr/>
          <p:nvPr/>
        </p:nvGrpSpPr>
        <p:grpSpPr>
          <a:xfrm>
            <a:off x="2143123" y="2551954"/>
            <a:ext cx="5036447" cy="1200645"/>
            <a:chOff x="2312525" y="2995325"/>
            <a:chExt cx="4257352" cy="1528900"/>
          </a:xfrm>
        </p:grpSpPr>
        <p:pic>
          <p:nvPicPr>
            <p:cNvPr id="799" name="Google Shape;799;p68"/>
            <p:cNvPicPr preferRelativeResize="0"/>
            <p:nvPr/>
          </p:nvPicPr>
          <p:blipFill rotWithShape="1">
            <a:blip r:embed="rId5">
              <a:alphaModFix/>
            </a:blip>
            <a:srcRect b="0" l="0" r="69082" t="56280"/>
            <a:stretch/>
          </p:blipFill>
          <p:spPr>
            <a:xfrm>
              <a:off x="2312525" y="2995325"/>
              <a:ext cx="4257352" cy="1528900"/>
            </a:xfrm>
            <a:prstGeom prst="rect">
              <a:avLst/>
            </a:prstGeom>
            <a:noFill/>
            <a:ln>
              <a:noFill/>
            </a:ln>
          </p:spPr>
        </p:pic>
        <p:sp>
          <p:nvSpPr>
            <p:cNvPr id="800" name="Google Shape;800;p68"/>
            <p:cNvSpPr txBox="1"/>
            <p:nvPr/>
          </p:nvSpPr>
          <p:spPr>
            <a:xfrm>
              <a:off x="2563462" y="3097625"/>
              <a:ext cx="3708000" cy="7728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latin typeface="Lexend"/>
                  <a:ea typeface="Lexend"/>
                  <a:cs typeface="Lexend"/>
                  <a:sym typeface="Lexend"/>
                </a:rPr>
                <a:t>The last non-zero digit is in the ten thousands column.  I think it has been </a:t>
              </a:r>
              <a:r>
                <a:rPr lang="en-GB" sz="1800">
                  <a:latin typeface="Lexend"/>
                  <a:ea typeface="Lexend"/>
                  <a:cs typeface="Lexend"/>
                  <a:sym typeface="Lexend"/>
                </a:rPr>
                <a:t>rounded</a:t>
              </a:r>
              <a:r>
                <a:rPr lang="en-GB" sz="1800">
                  <a:latin typeface="Lexend"/>
                  <a:ea typeface="Lexend"/>
                  <a:cs typeface="Lexend"/>
                  <a:sym typeface="Lexend"/>
                </a:rPr>
                <a:t> to the nearest ten thousand.</a:t>
              </a:r>
              <a:endParaRPr sz="1800">
                <a:latin typeface="Lexend"/>
                <a:ea typeface="Lexend"/>
                <a:cs typeface="Lexend"/>
                <a:sym typeface="Lexend"/>
              </a:endParaRPr>
            </a:p>
          </p:txBody>
        </p:sp>
      </p:grpSp>
      <p:sp>
        <p:nvSpPr>
          <p:cNvPr id="801" name="Google Shape;801;p68"/>
          <p:cNvSpPr txBox="1"/>
          <p:nvPr/>
        </p:nvSpPr>
        <p:spPr>
          <a:xfrm>
            <a:off x="356800" y="3611511"/>
            <a:ext cx="6674400" cy="1200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Who do you agree with?</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Kalam"/>
                <a:ea typeface="Kalam"/>
                <a:cs typeface="Kalam"/>
                <a:sym typeface="Kalam"/>
              </a:rPr>
              <a:t>Aisha is correct.  It could also have been rounded to the nearest 1000, 100 or 10 and could be the exact value but that is very unlikely.</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1">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Understanding degrees of accuracy</a:t>
            </a:r>
            <a:endParaRPr/>
          </a:p>
        </p:txBody>
      </p:sp>
      <p:sp>
        <p:nvSpPr>
          <p:cNvPr id="807" name="Google Shape;807;p69"/>
          <p:cNvSpPr/>
          <p:nvPr/>
        </p:nvSpPr>
        <p:spPr>
          <a:xfrm>
            <a:off x="741000" y="1360275"/>
            <a:ext cx="7662000" cy="640800"/>
          </a:xfrm>
          <a:prstGeom prst="roundRect">
            <a:avLst>
              <a:gd fmla="val 16667" name="adj"/>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In 2022 the average cost of a house in the UK was £294 000.</a:t>
            </a:r>
            <a:endParaRPr sz="2200">
              <a:latin typeface="Lexend"/>
              <a:ea typeface="Lexend"/>
              <a:cs typeface="Lexend"/>
              <a:sym typeface="Lexend"/>
            </a:endParaRPr>
          </a:p>
        </p:txBody>
      </p:sp>
      <p:sp>
        <p:nvSpPr>
          <p:cNvPr id="808" name="Google Shape;808;p69"/>
          <p:cNvSpPr txBox="1"/>
          <p:nvPr/>
        </p:nvSpPr>
        <p:spPr>
          <a:xfrm>
            <a:off x="324000" y="2639700"/>
            <a:ext cx="8496000" cy="1693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degree of accuracy is most likely to have been used here?</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Kalam"/>
                <a:ea typeface="Kalam"/>
                <a:cs typeface="Kalam"/>
                <a:sym typeface="Kalam"/>
              </a:rPr>
              <a:t>The last non-zero digit is in the thousands column.  Therefore, it is most likely to have been </a:t>
            </a:r>
            <a:r>
              <a:rPr lang="en-GB" sz="2200">
                <a:solidFill>
                  <a:schemeClr val="dk1"/>
                </a:solidFill>
                <a:latin typeface="Kalam"/>
                <a:ea typeface="Kalam"/>
                <a:cs typeface="Kalam"/>
                <a:sym typeface="Kalam"/>
              </a:rPr>
              <a:t>rounded</a:t>
            </a:r>
            <a:r>
              <a:rPr lang="en-GB" sz="2200">
                <a:solidFill>
                  <a:schemeClr val="dk1"/>
                </a:solidFill>
                <a:latin typeface="Kalam"/>
                <a:ea typeface="Kalam"/>
                <a:cs typeface="Kalam"/>
                <a:sym typeface="Kalam"/>
              </a:rPr>
              <a:t> to the nearest thousand.</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8">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Understanding degrees of accuracy</a:t>
            </a:r>
            <a:endParaRPr/>
          </a:p>
        </p:txBody>
      </p:sp>
      <p:sp>
        <p:nvSpPr>
          <p:cNvPr id="814" name="Google Shape;814;p70"/>
          <p:cNvSpPr/>
          <p:nvPr/>
        </p:nvSpPr>
        <p:spPr>
          <a:xfrm>
            <a:off x="741000" y="1360275"/>
            <a:ext cx="7662000" cy="640800"/>
          </a:xfrm>
          <a:prstGeom prst="roundRect">
            <a:avLst>
              <a:gd fmla="val 16667" name="adj"/>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In 2022 the average number of people in each household in the UK was 2.36</a:t>
            </a:r>
            <a:endParaRPr sz="2200">
              <a:latin typeface="Lexend"/>
              <a:ea typeface="Lexend"/>
              <a:cs typeface="Lexend"/>
              <a:sym typeface="Lexend"/>
            </a:endParaRPr>
          </a:p>
        </p:txBody>
      </p:sp>
      <p:sp>
        <p:nvSpPr>
          <p:cNvPr id="815" name="Google Shape;815;p70"/>
          <p:cNvSpPr txBox="1"/>
          <p:nvPr/>
        </p:nvSpPr>
        <p:spPr>
          <a:xfrm>
            <a:off x="324000" y="2639700"/>
            <a:ext cx="8496000" cy="1354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Lexend"/>
                <a:ea typeface="Lexend"/>
                <a:cs typeface="Lexend"/>
                <a:sym typeface="Lexend"/>
              </a:rPr>
              <a:t>What degree of accuracy is most likely to have been used here?</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Kalam"/>
                <a:ea typeface="Kalam"/>
                <a:cs typeface="Kalam"/>
                <a:sym typeface="Kalam"/>
              </a:rPr>
              <a:t>I</a:t>
            </a:r>
            <a:r>
              <a:rPr lang="en-GB" sz="2200">
                <a:solidFill>
                  <a:schemeClr val="dk1"/>
                </a:solidFill>
                <a:latin typeface="Kalam"/>
                <a:ea typeface="Kalam"/>
                <a:cs typeface="Kalam"/>
                <a:sym typeface="Kalam"/>
              </a:rPr>
              <a:t>t is most likely to have been rounded to 2 decimal places.</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5">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Understanding degrees of accuracy</a:t>
            </a:r>
            <a:endParaRPr/>
          </a:p>
        </p:txBody>
      </p:sp>
      <p:sp>
        <p:nvSpPr>
          <p:cNvPr id="821" name="Google Shape;821;p71"/>
          <p:cNvSpPr/>
          <p:nvPr/>
        </p:nvSpPr>
        <p:spPr>
          <a:xfrm>
            <a:off x="741000" y="1360275"/>
            <a:ext cx="7662000" cy="640800"/>
          </a:xfrm>
          <a:prstGeom prst="roundRect">
            <a:avLst>
              <a:gd fmla="val 16667" name="adj"/>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In 2022 the average UK salary was £33 061</a:t>
            </a:r>
            <a:endParaRPr sz="2200">
              <a:latin typeface="Lexend"/>
              <a:ea typeface="Lexend"/>
              <a:cs typeface="Lexend"/>
              <a:sym typeface="Lexend"/>
            </a:endParaRPr>
          </a:p>
        </p:txBody>
      </p:sp>
      <p:sp>
        <p:nvSpPr>
          <p:cNvPr id="822" name="Google Shape;822;p71"/>
          <p:cNvSpPr txBox="1"/>
          <p:nvPr/>
        </p:nvSpPr>
        <p:spPr>
          <a:xfrm>
            <a:off x="324000" y="2639700"/>
            <a:ext cx="8496000" cy="1354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degree of accuracy is most likely to have been used here?</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Kalam"/>
                <a:ea typeface="Kalam"/>
                <a:cs typeface="Kalam"/>
                <a:sym typeface="Kalam"/>
              </a:rPr>
              <a:t>It is most likely to have been rounded to the nearest integer (pound).</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2">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Understanding degrees of accuracy</a:t>
            </a:r>
            <a:endParaRPr/>
          </a:p>
        </p:txBody>
      </p:sp>
      <p:sp>
        <p:nvSpPr>
          <p:cNvPr id="828" name="Google Shape;828;p72"/>
          <p:cNvSpPr/>
          <p:nvPr/>
        </p:nvSpPr>
        <p:spPr>
          <a:xfrm>
            <a:off x="741000" y="1360275"/>
            <a:ext cx="7662000" cy="640800"/>
          </a:xfrm>
          <a:prstGeom prst="roundRect">
            <a:avLst>
              <a:gd fmla="val 16667" name="adj"/>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In 2023 the world record for the men’s 100m sprint is 9.58 seconds</a:t>
            </a:r>
            <a:r>
              <a:rPr lang="en-GB" sz="2200">
                <a:latin typeface="Lexend"/>
                <a:ea typeface="Lexend"/>
                <a:cs typeface="Lexend"/>
                <a:sym typeface="Lexend"/>
              </a:rPr>
              <a:t>.</a:t>
            </a:r>
            <a:endParaRPr sz="2200">
              <a:latin typeface="Lexend"/>
              <a:ea typeface="Lexend"/>
              <a:cs typeface="Lexend"/>
              <a:sym typeface="Lexend"/>
            </a:endParaRPr>
          </a:p>
        </p:txBody>
      </p:sp>
      <p:sp>
        <p:nvSpPr>
          <p:cNvPr id="829" name="Google Shape;829;p72"/>
          <p:cNvSpPr txBox="1"/>
          <p:nvPr/>
        </p:nvSpPr>
        <p:spPr>
          <a:xfrm>
            <a:off x="324000" y="2639700"/>
            <a:ext cx="8496000" cy="1693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degree of accuracy is most likely to have been used here?</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Kalam"/>
                <a:ea typeface="Kalam"/>
                <a:cs typeface="Kalam"/>
                <a:sym typeface="Kalam"/>
              </a:rPr>
              <a:t>It is most likely to have been rounded to 2 decimal places</a:t>
            </a:r>
            <a:endParaRPr sz="2200">
              <a:solidFill>
                <a:schemeClr val="dk1"/>
              </a:solidFill>
              <a:latin typeface="Kalam"/>
              <a:ea typeface="Kalam"/>
              <a:cs typeface="Kalam"/>
              <a:sym typeface="Kalam"/>
            </a:endParaRPr>
          </a:p>
          <a:p>
            <a:pPr indent="0" lvl="0" marL="0" rtl="0" algn="l">
              <a:spcBef>
                <a:spcPts val="0"/>
              </a:spcBef>
              <a:spcAft>
                <a:spcPts val="0"/>
              </a:spcAft>
              <a:buNone/>
            </a:pPr>
            <a:r>
              <a:rPr lang="en-GB" sz="2200">
                <a:solidFill>
                  <a:schemeClr val="dk1"/>
                </a:solidFill>
                <a:latin typeface="Kalam"/>
                <a:ea typeface="Kalam"/>
                <a:cs typeface="Kalam"/>
                <a:sym typeface="Kalam"/>
              </a:rPr>
              <a:t>(1 hundredth of a second).</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9">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Understanding degrees of accuracy</a:t>
            </a:r>
            <a:endParaRPr/>
          </a:p>
        </p:txBody>
      </p:sp>
      <p:sp>
        <p:nvSpPr>
          <p:cNvPr id="835" name="Google Shape;835;p73"/>
          <p:cNvSpPr/>
          <p:nvPr/>
        </p:nvSpPr>
        <p:spPr>
          <a:xfrm>
            <a:off x="741000" y="1360275"/>
            <a:ext cx="7662000" cy="640800"/>
          </a:xfrm>
          <a:prstGeom prst="roundRect">
            <a:avLst>
              <a:gd fmla="val 16667" name="adj"/>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The average speed of a plane is 550 mph.</a:t>
            </a:r>
            <a:endParaRPr sz="2200">
              <a:latin typeface="Lexend"/>
              <a:ea typeface="Lexend"/>
              <a:cs typeface="Lexend"/>
              <a:sym typeface="Lexend"/>
            </a:endParaRPr>
          </a:p>
        </p:txBody>
      </p:sp>
      <p:sp>
        <p:nvSpPr>
          <p:cNvPr id="836" name="Google Shape;836;p73"/>
          <p:cNvSpPr txBox="1"/>
          <p:nvPr/>
        </p:nvSpPr>
        <p:spPr>
          <a:xfrm>
            <a:off x="324000" y="2639700"/>
            <a:ext cx="8496000" cy="1354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What degree of accuracy is most likely to have been used here?</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Kalam"/>
                <a:ea typeface="Kalam"/>
                <a:cs typeface="Kalam"/>
                <a:sym typeface="Kalam"/>
              </a:rPr>
              <a:t>It is most likely to have been rounded to the nearest ten or fifty.</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6">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74"/>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Understanding degrees of accuracy</a:t>
            </a:r>
            <a:endParaRPr/>
          </a:p>
        </p:txBody>
      </p:sp>
      <p:sp>
        <p:nvSpPr>
          <p:cNvPr id="842" name="Google Shape;842;p74"/>
          <p:cNvSpPr txBox="1"/>
          <p:nvPr>
            <p:ph type="title"/>
          </p:nvPr>
        </p:nvSpPr>
        <p:spPr>
          <a:xfrm>
            <a:off x="324000" y="611800"/>
            <a:ext cx="8179200" cy="489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Which of the following could be considered an appropriate degree of accuracy for the following?</a:t>
            </a:r>
            <a:endParaRPr/>
          </a:p>
          <a:p>
            <a:pPr indent="0" lvl="0" marL="0" rtl="0" algn="l">
              <a:lnSpc>
                <a:spcPct val="100000"/>
              </a:lnSpc>
              <a:spcBef>
                <a:spcPts val="0"/>
              </a:spcBef>
              <a:spcAft>
                <a:spcPts val="0"/>
              </a:spcAft>
              <a:buNone/>
            </a:pPr>
            <a:r>
              <a:rPr lang="en-GB"/>
              <a:t>The size of a town is 100 000.</a:t>
            </a:r>
            <a:endParaRPr/>
          </a:p>
        </p:txBody>
      </p:sp>
      <p:sp>
        <p:nvSpPr>
          <p:cNvPr id="843" name="Google Shape;843;p74"/>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nearest hundred thousand</a:t>
            </a:r>
            <a:endParaRPr/>
          </a:p>
        </p:txBody>
      </p:sp>
      <p:sp>
        <p:nvSpPr>
          <p:cNvPr id="844" name="Google Shape;844;p74"/>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nearest ten</a:t>
            </a:r>
            <a:endParaRPr/>
          </a:p>
        </p:txBody>
      </p:sp>
      <p:sp>
        <p:nvSpPr>
          <p:cNvPr id="845" name="Google Shape;845;p74"/>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 significant figure</a:t>
            </a:r>
            <a:endParaRPr/>
          </a:p>
        </p:txBody>
      </p:sp>
      <p:sp>
        <p:nvSpPr>
          <p:cNvPr id="846" name="Google Shape;846;p74"/>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ten thousand</a:t>
            </a:r>
            <a:endParaRPr/>
          </a:p>
        </p:txBody>
      </p:sp>
      <p:pic>
        <p:nvPicPr>
          <p:cNvPr id="847" name="Google Shape;847;p74"/>
          <p:cNvPicPr preferRelativeResize="0"/>
          <p:nvPr/>
        </p:nvPicPr>
        <p:blipFill>
          <a:blip r:embed="rId3">
            <a:alphaModFix/>
          </a:blip>
          <a:stretch>
            <a:fillRect/>
          </a:stretch>
        </p:blipFill>
        <p:spPr>
          <a:xfrm>
            <a:off x="4824008" y="1639125"/>
            <a:ext cx="396000" cy="419100"/>
          </a:xfrm>
          <a:prstGeom prst="rect">
            <a:avLst/>
          </a:prstGeom>
          <a:noFill/>
          <a:ln>
            <a:noFill/>
          </a:ln>
        </p:spPr>
      </p:pic>
      <p:pic>
        <p:nvPicPr>
          <p:cNvPr id="848" name="Google Shape;848;p74"/>
          <p:cNvPicPr preferRelativeResize="0"/>
          <p:nvPr/>
        </p:nvPicPr>
        <p:blipFill>
          <a:blip r:embed="rId3">
            <a:alphaModFix/>
          </a:blip>
          <a:stretch>
            <a:fillRect/>
          </a:stretch>
        </p:blipFill>
        <p:spPr>
          <a:xfrm>
            <a:off x="3757208" y="3315525"/>
            <a:ext cx="396000" cy="419100"/>
          </a:xfrm>
          <a:prstGeom prst="rect">
            <a:avLst/>
          </a:prstGeom>
          <a:noFill/>
          <a:ln>
            <a:noFill/>
          </a:ln>
        </p:spPr>
      </p:pic>
      <p:pic>
        <p:nvPicPr>
          <p:cNvPr id="849" name="Google Shape;849;p74"/>
          <p:cNvPicPr preferRelativeResize="0"/>
          <p:nvPr/>
        </p:nvPicPr>
        <p:blipFill>
          <a:blip r:embed="rId3">
            <a:alphaModFix/>
          </a:blip>
          <a:stretch>
            <a:fillRect/>
          </a:stretch>
        </p:blipFill>
        <p:spPr>
          <a:xfrm>
            <a:off x="3071408" y="4077525"/>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7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Understanding degrees of accuracy</a:t>
            </a:r>
            <a:endParaRPr/>
          </a:p>
        </p:txBody>
      </p:sp>
      <p:graphicFrame>
        <p:nvGraphicFramePr>
          <p:cNvPr id="855" name="Google Shape;855;p75"/>
          <p:cNvGraphicFramePr/>
          <p:nvPr/>
        </p:nvGraphicFramePr>
        <p:xfrm>
          <a:off x="400200" y="1085850"/>
          <a:ext cx="3000000" cy="3000000"/>
        </p:xfrm>
        <a:graphic>
          <a:graphicData uri="http://schemas.openxmlformats.org/drawingml/2006/table">
            <a:tbl>
              <a:tblPr>
                <a:noFill/>
                <a:tableStyleId>{8F0EA7B0-5CE6-43D2-91B7-8B6C7CCF27BC}</a:tableStyleId>
              </a:tblPr>
              <a:tblGrid>
                <a:gridCol w="4025350"/>
                <a:gridCol w="1002725"/>
                <a:gridCol w="975400"/>
                <a:gridCol w="1055525"/>
                <a:gridCol w="1068125"/>
              </a:tblGrid>
              <a:tr h="381000">
                <a:tc>
                  <a:txBody>
                    <a:bodyPr/>
                    <a:lstStyle/>
                    <a:p>
                      <a:pPr indent="0" lvl="0" marL="0" rtl="0" algn="l">
                        <a:spcBef>
                          <a:spcPts val="0"/>
                        </a:spcBef>
                        <a:spcAft>
                          <a:spcPts val="0"/>
                        </a:spcAft>
                        <a:buNone/>
                      </a:pPr>
                      <a:r>
                        <a:t/>
                      </a:r>
                      <a:endParaRPr sz="1800">
                        <a:solidFill>
                          <a:schemeClr val="lt1"/>
                        </a:solidFill>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Nearest </a:t>
                      </a:r>
                      <a:r>
                        <a:rPr lang="en-GB" sz="1800">
                          <a:solidFill>
                            <a:schemeClr val="lt1"/>
                          </a:solidFill>
                          <a:latin typeface="Lexend"/>
                          <a:ea typeface="Lexend"/>
                          <a:cs typeface="Lexend"/>
                          <a:sym typeface="Lexend"/>
                        </a:rPr>
                        <a:t>integer</a:t>
                      </a:r>
                      <a:endParaRPr sz="1800">
                        <a:solidFill>
                          <a:schemeClr val="lt1"/>
                        </a:solidFill>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Nearest ten</a:t>
                      </a:r>
                      <a:endParaRPr sz="1800">
                        <a:solidFill>
                          <a:schemeClr val="lt1"/>
                        </a:solidFill>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Nearest hundred</a:t>
                      </a:r>
                      <a:endParaRPr sz="1800">
                        <a:solidFill>
                          <a:schemeClr val="lt1"/>
                        </a:solidFill>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Nearest thousand</a:t>
                      </a:r>
                      <a:endParaRPr sz="1800">
                        <a:solidFill>
                          <a:schemeClr val="lt1"/>
                        </a:solidFill>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r>
              <a:tr h="381000">
                <a:tc>
                  <a:txBody>
                    <a:bodyPr/>
                    <a:lstStyle/>
                    <a:p>
                      <a:pPr indent="0" lvl="0" marL="0" rtl="0" algn="l">
                        <a:spcBef>
                          <a:spcPts val="0"/>
                        </a:spcBef>
                        <a:spcAft>
                          <a:spcPts val="0"/>
                        </a:spcAft>
                        <a:buNone/>
                      </a:pPr>
                      <a:r>
                        <a:rPr lang="en-GB" sz="1800">
                          <a:latin typeface="Lexend"/>
                          <a:ea typeface="Lexend"/>
                          <a:cs typeface="Lexend"/>
                          <a:sym typeface="Lexend"/>
                        </a:rPr>
                        <a:t>The number of baked beans in a tin</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The height at </a:t>
                      </a:r>
                      <a:r>
                        <a:rPr lang="en-GB" sz="1800">
                          <a:latin typeface="Lexend"/>
                          <a:ea typeface="Lexend"/>
                          <a:cs typeface="Lexend"/>
                          <a:sym typeface="Lexend"/>
                        </a:rPr>
                        <a:t>which</a:t>
                      </a:r>
                      <a:r>
                        <a:rPr lang="en-GB" sz="1800">
                          <a:latin typeface="Lexend"/>
                          <a:ea typeface="Lexend"/>
                          <a:cs typeface="Lexend"/>
                          <a:sym typeface="Lexend"/>
                        </a:rPr>
                        <a:t> a plane flies</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Number of seats in 5 cinema screens</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The number of people living in a street</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Number of pages in a book</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Number of buckets of water to fill a paddling pool</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The number of grains of rice in 1 kg</a:t>
                      </a:r>
                      <a:endParaRPr sz="1800">
                        <a:solidFill>
                          <a:schemeClr val="dk1"/>
                        </a:solidFill>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856" name="Google Shape;856;p75"/>
          <p:cNvSpPr txBox="1"/>
          <p:nvPr/>
        </p:nvSpPr>
        <p:spPr>
          <a:xfrm>
            <a:off x="324000" y="704302"/>
            <a:ext cx="8496000" cy="4617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1) </a:t>
            </a:r>
            <a:r>
              <a:rPr lang="en-GB" sz="1800">
                <a:solidFill>
                  <a:schemeClr val="dk1"/>
                </a:solidFill>
                <a:latin typeface="Lexend"/>
                <a:ea typeface="Lexend"/>
                <a:cs typeface="Lexend"/>
                <a:sym typeface="Lexend"/>
              </a:rPr>
              <a:t>Complete the table to show the most appropriate degree of accuracy:</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7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Understanding degrees of accuracy</a:t>
            </a:r>
            <a:endParaRPr/>
          </a:p>
        </p:txBody>
      </p:sp>
      <p:graphicFrame>
        <p:nvGraphicFramePr>
          <p:cNvPr id="862" name="Google Shape;862;p76"/>
          <p:cNvGraphicFramePr/>
          <p:nvPr/>
        </p:nvGraphicFramePr>
        <p:xfrm>
          <a:off x="508475" y="1466850"/>
          <a:ext cx="3000000" cy="3000000"/>
        </p:xfrm>
        <a:graphic>
          <a:graphicData uri="http://schemas.openxmlformats.org/drawingml/2006/table">
            <a:tbl>
              <a:tblPr>
                <a:noFill/>
                <a:tableStyleId>{8F0EA7B0-5CE6-43D2-91B7-8B6C7CCF27BC}</a:tableStyleId>
              </a:tblPr>
              <a:tblGrid>
                <a:gridCol w="5658450"/>
                <a:gridCol w="617150"/>
                <a:gridCol w="617150"/>
                <a:gridCol w="617150"/>
                <a:gridCol w="617150"/>
              </a:tblGrid>
              <a:tr h="381000">
                <a:tc>
                  <a:txBody>
                    <a:bodyPr/>
                    <a:lstStyle/>
                    <a:p>
                      <a:pPr indent="0" lvl="0" marL="0" rtl="0" algn="l">
                        <a:spcBef>
                          <a:spcPts val="0"/>
                        </a:spcBef>
                        <a:spcAft>
                          <a:spcPts val="0"/>
                        </a:spcAft>
                        <a:buNone/>
                      </a:pPr>
                      <a:r>
                        <a:t/>
                      </a:r>
                      <a:endParaRPr sz="1800">
                        <a:solidFill>
                          <a:schemeClr val="lt1"/>
                        </a:solidFill>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1 s.f.</a:t>
                      </a:r>
                      <a:endParaRPr sz="1800">
                        <a:solidFill>
                          <a:schemeClr val="lt1"/>
                        </a:solidFill>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2 s.f. </a:t>
                      </a:r>
                      <a:endParaRPr sz="1800">
                        <a:solidFill>
                          <a:schemeClr val="lt1"/>
                        </a:solidFill>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3 s.f. </a:t>
                      </a:r>
                      <a:endParaRPr sz="1800">
                        <a:solidFill>
                          <a:schemeClr val="lt1"/>
                        </a:solidFill>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4 s.f.</a:t>
                      </a:r>
                      <a:endParaRPr sz="1800">
                        <a:solidFill>
                          <a:schemeClr val="lt1"/>
                        </a:solidFill>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r>
              <a:tr h="381000">
                <a:tc>
                  <a:txBody>
                    <a:bodyPr/>
                    <a:lstStyle/>
                    <a:p>
                      <a:pPr indent="0" lvl="0" marL="0" rtl="0" algn="l">
                        <a:spcBef>
                          <a:spcPts val="0"/>
                        </a:spcBef>
                        <a:spcAft>
                          <a:spcPts val="0"/>
                        </a:spcAft>
                        <a:buNone/>
                      </a:pPr>
                      <a:r>
                        <a:rPr lang="en-GB" sz="1800">
                          <a:latin typeface="Lexend"/>
                          <a:ea typeface="Lexend"/>
                          <a:cs typeface="Lexend"/>
                          <a:sym typeface="Lexend"/>
                        </a:rPr>
                        <a:t>The population of a town is 12 000</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The length of a plank of wood is 6.24 m</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The width of a blade of grass is 1.6 mm</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The </a:t>
                      </a:r>
                      <a:r>
                        <a:rPr lang="en-GB" sz="1800">
                          <a:latin typeface="Lexend"/>
                          <a:ea typeface="Lexend"/>
                          <a:cs typeface="Lexend"/>
                          <a:sym typeface="Lexend"/>
                        </a:rPr>
                        <a:t>attendance</a:t>
                      </a:r>
                      <a:r>
                        <a:rPr lang="en-GB" sz="1800">
                          <a:latin typeface="Lexend"/>
                          <a:ea typeface="Lexend"/>
                          <a:cs typeface="Lexend"/>
                          <a:sym typeface="Lexend"/>
                        </a:rPr>
                        <a:t> at a pop concert is 30 000</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62% of UK homes own a pet</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The </a:t>
                      </a:r>
                      <a:r>
                        <a:rPr lang="en-GB" sz="1800">
                          <a:latin typeface="Lexend"/>
                          <a:ea typeface="Lexend"/>
                          <a:cs typeface="Lexend"/>
                          <a:sym typeface="Lexend"/>
                        </a:rPr>
                        <a:t>width</a:t>
                      </a:r>
                      <a:r>
                        <a:rPr lang="en-GB" sz="1800">
                          <a:latin typeface="Lexend"/>
                          <a:ea typeface="Lexend"/>
                          <a:cs typeface="Lexend"/>
                          <a:sym typeface="Lexend"/>
                        </a:rPr>
                        <a:t> of a </a:t>
                      </a:r>
                      <a:r>
                        <a:rPr lang="en-GB" sz="1800">
                          <a:latin typeface="Lexend"/>
                          <a:ea typeface="Lexend"/>
                          <a:cs typeface="Lexend"/>
                          <a:sym typeface="Lexend"/>
                        </a:rPr>
                        <a:t>human</a:t>
                      </a:r>
                      <a:r>
                        <a:rPr lang="en-GB" sz="1800">
                          <a:latin typeface="Lexend"/>
                          <a:ea typeface="Lexend"/>
                          <a:cs typeface="Lexend"/>
                          <a:sym typeface="Lexend"/>
                        </a:rPr>
                        <a:t> hair is 0.009 cm</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The distance from Earth to the Moon is 384 400 km</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863" name="Google Shape;863;p76"/>
          <p:cNvSpPr txBox="1"/>
          <p:nvPr/>
        </p:nvSpPr>
        <p:spPr>
          <a:xfrm>
            <a:off x="324000" y="685800"/>
            <a:ext cx="8496000" cy="7803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2</a:t>
            </a:r>
            <a:r>
              <a:rPr lang="en-GB" sz="1800">
                <a:solidFill>
                  <a:schemeClr val="dk1"/>
                </a:solidFill>
                <a:latin typeface="Lexend"/>
                <a:ea typeface="Lexend"/>
                <a:cs typeface="Lexend"/>
                <a:sym typeface="Lexend"/>
              </a:rPr>
              <a:t>) Complete the table to show which degree of accuracy is most likely to have been used:</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7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Understanding degrees of accuracy</a:t>
            </a:r>
            <a:endParaRPr/>
          </a:p>
        </p:txBody>
      </p:sp>
      <p:sp>
        <p:nvSpPr>
          <p:cNvPr id="869" name="Google Shape;869;p77"/>
          <p:cNvSpPr txBox="1"/>
          <p:nvPr>
            <p:ph idx="1" type="body"/>
          </p:nvPr>
        </p:nvSpPr>
        <p:spPr>
          <a:xfrm>
            <a:off x="324000" y="759300"/>
            <a:ext cx="8237700" cy="656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 </a:t>
            </a:r>
            <a:r>
              <a:rPr lang="en-GB" sz="1800"/>
              <a:t>Rewrite the story below, rounding each of the numbers to an appropriate degree of accuracy.</a:t>
            </a:r>
            <a:endParaRPr sz="1800"/>
          </a:p>
          <a:p>
            <a:pPr indent="0" lvl="0" marL="0" rtl="0" algn="l">
              <a:spcBef>
                <a:spcPts val="1000"/>
              </a:spcBef>
              <a:spcAft>
                <a:spcPts val="1000"/>
              </a:spcAft>
              <a:buNone/>
            </a:pPr>
            <a:r>
              <a:rPr lang="en-GB" sz="2100"/>
              <a:t>Sofia </a:t>
            </a:r>
            <a:r>
              <a:rPr lang="en-GB" sz="2100"/>
              <a:t>belongs</a:t>
            </a:r>
            <a:r>
              <a:rPr lang="en-GB" sz="2100"/>
              <a:t> to a supporters club for her favourite football team.  They decide to organise coaches to watch an away match.  19 coaches of 52 people set off for the match.  The coach travels 262.504 km to the match which takes them 3 hours, 53 minutes and 15 seconds.  Whilst at the match Sofia and her mum buy some lunch which costs £18.97.  During the match there was an announcement that the attendance at the </a:t>
            </a:r>
            <a:r>
              <a:rPr lang="en-GB" sz="2100"/>
              <a:t>match</a:t>
            </a:r>
            <a:r>
              <a:rPr lang="en-GB" sz="2100"/>
              <a:t> is 51 699.  The average speed of the coach on the way home is 54.89 mph. A</a:t>
            </a:r>
            <a:r>
              <a:rPr lang="en-GB" sz="2100"/>
              <a:t>nd they arrive home at 23:58:42.</a:t>
            </a:r>
            <a:endParaRPr sz="2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7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Understanding degrees of accuracy</a:t>
            </a:r>
            <a:endParaRPr/>
          </a:p>
        </p:txBody>
      </p:sp>
      <p:pic>
        <p:nvPicPr>
          <p:cNvPr id="875" name="Google Shape;875;p78"/>
          <p:cNvPicPr preferRelativeResize="0"/>
          <p:nvPr/>
        </p:nvPicPr>
        <p:blipFill>
          <a:blip r:embed="rId3">
            <a:alphaModFix/>
          </a:blip>
          <a:stretch>
            <a:fillRect/>
          </a:stretch>
        </p:blipFill>
        <p:spPr>
          <a:xfrm>
            <a:off x="5804928" y="1665675"/>
            <a:ext cx="283607" cy="300150"/>
          </a:xfrm>
          <a:prstGeom prst="rect">
            <a:avLst/>
          </a:prstGeom>
          <a:noFill/>
          <a:ln>
            <a:noFill/>
          </a:ln>
        </p:spPr>
      </p:pic>
      <p:pic>
        <p:nvPicPr>
          <p:cNvPr id="876" name="Google Shape;876;p78"/>
          <p:cNvPicPr preferRelativeResize="0"/>
          <p:nvPr/>
        </p:nvPicPr>
        <p:blipFill>
          <a:blip r:embed="rId3">
            <a:alphaModFix/>
          </a:blip>
          <a:stretch>
            <a:fillRect/>
          </a:stretch>
        </p:blipFill>
        <p:spPr>
          <a:xfrm>
            <a:off x="7862328" y="2046675"/>
            <a:ext cx="283607" cy="300150"/>
          </a:xfrm>
          <a:prstGeom prst="rect">
            <a:avLst/>
          </a:prstGeom>
          <a:noFill/>
          <a:ln>
            <a:noFill/>
          </a:ln>
        </p:spPr>
      </p:pic>
      <p:pic>
        <p:nvPicPr>
          <p:cNvPr id="877" name="Google Shape;877;p78"/>
          <p:cNvPicPr preferRelativeResize="0"/>
          <p:nvPr/>
        </p:nvPicPr>
        <p:blipFill>
          <a:blip r:embed="rId3">
            <a:alphaModFix/>
          </a:blip>
          <a:stretch>
            <a:fillRect/>
          </a:stretch>
        </p:blipFill>
        <p:spPr>
          <a:xfrm>
            <a:off x="6795528" y="2503875"/>
            <a:ext cx="283607" cy="300150"/>
          </a:xfrm>
          <a:prstGeom prst="rect">
            <a:avLst/>
          </a:prstGeom>
          <a:noFill/>
          <a:ln>
            <a:noFill/>
          </a:ln>
        </p:spPr>
      </p:pic>
      <p:pic>
        <p:nvPicPr>
          <p:cNvPr id="878" name="Google Shape;878;p78"/>
          <p:cNvPicPr preferRelativeResize="0"/>
          <p:nvPr/>
        </p:nvPicPr>
        <p:blipFill>
          <a:blip r:embed="rId3">
            <a:alphaModFix/>
          </a:blip>
          <a:stretch>
            <a:fillRect/>
          </a:stretch>
        </p:blipFill>
        <p:spPr>
          <a:xfrm>
            <a:off x="5804928" y="3037275"/>
            <a:ext cx="283607" cy="300150"/>
          </a:xfrm>
          <a:prstGeom prst="rect">
            <a:avLst/>
          </a:prstGeom>
          <a:noFill/>
          <a:ln>
            <a:noFill/>
          </a:ln>
        </p:spPr>
      </p:pic>
      <p:pic>
        <p:nvPicPr>
          <p:cNvPr id="879" name="Google Shape;879;p78"/>
          <p:cNvPicPr preferRelativeResize="0"/>
          <p:nvPr/>
        </p:nvPicPr>
        <p:blipFill>
          <a:blip r:embed="rId3">
            <a:alphaModFix/>
          </a:blip>
          <a:stretch>
            <a:fillRect/>
          </a:stretch>
        </p:blipFill>
        <p:spPr>
          <a:xfrm>
            <a:off x="6795528" y="3570675"/>
            <a:ext cx="283607" cy="300150"/>
          </a:xfrm>
          <a:prstGeom prst="rect">
            <a:avLst/>
          </a:prstGeom>
          <a:noFill/>
          <a:ln>
            <a:noFill/>
          </a:ln>
        </p:spPr>
      </p:pic>
      <p:pic>
        <p:nvPicPr>
          <p:cNvPr id="880" name="Google Shape;880;p78"/>
          <p:cNvPicPr preferRelativeResize="0"/>
          <p:nvPr/>
        </p:nvPicPr>
        <p:blipFill>
          <a:blip r:embed="rId3">
            <a:alphaModFix/>
          </a:blip>
          <a:stretch>
            <a:fillRect/>
          </a:stretch>
        </p:blipFill>
        <p:spPr>
          <a:xfrm>
            <a:off x="5804928" y="3570675"/>
            <a:ext cx="283607" cy="300150"/>
          </a:xfrm>
          <a:prstGeom prst="rect">
            <a:avLst/>
          </a:prstGeom>
          <a:noFill/>
          <a:ln>
            <a:noFill/>
          </a:ln>
        </p:spPr>
      </p:pic>
      <p:pic>
        <p:nvPicPr>
          <p:cNvPr id="881" name="Google Shape;881;p78"/>
          <p:cNvPicPr preferRelativeResize="0"/>
          <p:nvPr/>
        </p:nvPicPr>
        <p:blipFill>
          <a:blip r:embed="rId3">
            <a:alphaModFix/>
          </a:blip>
          <a:stretch>
            <a:fillRect/>
          </a:stretch>
        </p:blipFill>
        <p:spPr>
          <a:xfrm>
            <a:off x="4768653" y="4027875"/>
            <a:ext cx="283607" cy="300150"/>
          </a:xfrm>
          <a:prstGeom prst="rect">
            <a:avLst/>
          </a:prstGeom>
          <a:noFill/>
          <a:ln>
            <a:noFill/>
          </a:ln>
        </p:spPr>
      </p:pic>
      <p:pic>
        <p:nvPicPr>
          <p:cNvPr id="882" name="Google Shape;882;p78"/>
          <p:cNvPicPr preferRelativeResize="0"/>
          <p:nvPr/>
        </p:nvPicPr>
        <p:blipFill>
          <a:blip r:embed="rId3">
            <a:alphaModFix/>
          </a:blip>
          <a:stretch>
            <a:fillRect/>
          </a:stretch>
        </p:blipFill>
        <p:spPr>
          <a:xfrm>
            <a:off x="6795528" y="4463525"/>
            <a:ext cx="283607" cy="300150"/>
          </a:xfrm>
          <a:prstGeom prst="rect">
            <a:avLst/>
          </a:prstGeom>
          <a:noFill/>
          <a:ln>
            <a:noFill/>
          </a:ln>
        </p:spPr>
      </p:pic>
      <p:pic>
        <p:nvPicPr>
          <p:cNvPr id="883" name="Google Shape;883;p78"/>
          <p:cNvPicPr preferRelativeResize="0"/>
          <p:nvPr/>
        </p:nvPicPr>
        <p:blipFill>
          <a:blip r:embed="rId3">
            <a:alphaModFix/>
          </a:blip>
          <a:stretch>
            <a:fillRect/>
          </a:stretch>
        </p:blipFill>
        <p:spPr>
          <a:xfrm>
            <a:off x="7862328" y="4423350"/>
            <a:ext cx="283607" cy="300150"/>
          </a:xfrm>
          <a:prstGeom prst="rect">
            <a:avLst/>
          </a:prstGeom>
          <a:noFill/>
          <a:ln>
            <a:noFill/>
          </a:ln>
        </p:spPr>
      </p:pic>
      <p:graphicFrame>
        <p:nvGraphicFramePr>
          <p:cNvPr id="884" name="Google Shape;884;p78"/>
          <p:cNvGraphicFramePr/>
          <p:nvPr/>
        </p:nvGraphicFramePr>
        <p:xfrm>
          <a:off x="400200" y="1085850"/>
          <a:ext cx="3000000" cy="3000000"/>
        </p:xfrm>
        <a:graphic>
          <a:graphicData uri="http://schemas.openxmlformats.org/drawingml/2006/table">
            <a:tbl>
              <a:tblPr>
                <a:noFill/>
                <a:tableStyleId>{8F0EA7B0-5CE6-43D2-91B7-8B6C7CCF27BC}</a:tableStyleId>
              </a:tblPr>
              <a:tblGrid>
                <a:gridCol w="4025350"/>
                <a:gridCol w="1002725"/>
                <a:gridCol w="975400"/>
                <a:gridCol w="1055525"/>
                <a:gridCol w="1068125"/>
              </a:tblGrid>
              <a:tr h="381000">
                <a:tc>
                  <a:txBody>
                    <a:bodyPr/>
                    <a:lstStyle/>
                    <a:p>
                      <a:pPr indent="0" lvl="0" marL="0" rtl="0" algn="l">
                        <a:spcBef>
                          <a:spcPts val="0"/>
                        </a:spcBef>
                        <a:spcAft>
                          <a:spcPts val="0"/>
                        </a:spcAft>
                        <a:buNone/>
                      </a:pPr>
                      <a:r>
                        <a:t/>
                      </a:r>
                      <a:endParaRPr sz="1800">
                        <a:solidFill>
                          <a:schemeClr val="lt1"/>
                        </a:solidFill>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Nearest integer</a:t>
                      </a:r>
                      <a:endParaRPr sz="1800">
                        <a:solidFill>
                          <a:schemeClr val="lt1"/>
                        </a:solidFill>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Nearest ten</a:t>
                      </a:r>
                      <a:endParaRPr sz="1800">
                        <a:solidFill>
                          <a:schemeClr val="lt1"/>
                        </a:solidFill>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Nearest hundred</a:t>
                      </a:r>
                      <a:endParaRPr sz="1800">
                        <a:solidFill>
                          <a:schemeClr val="lt1"/>
                        </a:solidFill>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Nearest thousand</a:t>
                      </a:r>
                      <a:endParaRPr sz="1800">
                        <a:solidFill>
                          <a:schemeClr val="lt1"/>
                        </a:solidFill>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r>
              <a:tr h="381000">
                <a:tc>
                  <a:txBody>
                    <a:bodyPr/>
                    <a:lstStyle/>
                    <a:p>
                      <a:pPr indent="0" lvl="0" marL="0" rtl="0" algn="l">
                        <a:spcBef>
                          <a:spcPts val="0"/>
                        </a:spcBef>
                        <a:spcAft>
                          <a:spcPts val="0"/>
                        </a:spcAft>
                        <a:buNone/>
                      </a:pPr>
                      <a:r>
                        <a:rPr lang="en-GB" sz="1800">
                          <a:latin typeface="Lexend"/>
                          <a:ea typeface="Lexend"/>
                          <a:cs typeface="Lexend"/>
                          <a:sym typeface="Lexend"/>
                        </a:rPr>
                        <a:t>The number of baked beans in a tin</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The height at which a plane flies</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Number of seats in 5 cinema screens</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The number of people living in a street</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Number of pages in a book</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Number of buckets of water to fill a paddling pool</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The number of grains of rice in 1 kg</a:t>
                      </a:r>
                      <a:endParaRPr sz="1800">
                        <a:solidFill>
                          <a:schemeClr val="dk1"/>
                        </a:solidFill>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885" name="Google Shape;885;p78"/>
          <p:cNvSpPr txBox="1"/>
          <p:nvPr/>
        </p:nvSpPr>
        <p:spPr>
          <a:xfrm>
            <a:off x="324000" y="704302"/>
            <a:ext cx="8496000" cy="4617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1) Complete the table to show the most appropriate degree of accuracy:</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7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Understanding degrees of accuracy</a:t>
            </a:r>
            <a:endParaRPr/>
          </a:p>
        </p:txBody>
      </p:sp>
      <p:pic>
        <p:nvPicPr>
          <p:cNvPr id="891" name="Google Shape;891;p79"/>
          <p:cNvPicPr preferRelativeResize="0"/>
          <p:nvPr/>
        </p:nvPicPr>
        <p:blipFill>
          <a:blip r:embed="rId3">
            <a:alphaModFix/>
          </a:blip>
          <a:stretch>
            <a:fillRect/>
          </a:stretch>
        </p:blipFill>
        <p:spPr>
          <a:xfrm>
            <a:off x="6951215" y="1868229"/>
            <a:ext cx="283607" cy="300150"/>
          </a:xfrm>
          <a:prstGeom prst="rect">
            <a:avLst/>
          </a:prstGeom>
          <a:noFill/>
          <a:ln>
            <a:noFill/>
          </a:ln>
        </p:spPr>
      </p:pic>
      <p:pic>
        <p:nvPicPr>
          <p:cNvPr id="892" name="Google Shape;892;p79"/>
          <p:cNvPicPr preferRelativeResize="0"/>
          <p:nvPr/>
        </p:nvPicPr>
        <p:blipFill>
          <a:blip r:embed="rId3">
            <a:alphaModFix/>
          </a:blip>
          <a:stretch>
            <a:fillRect/>
          </a:stretch>
        </p:blipFill>
        <p:spPr>
          <a:xfrm>
            <a:off x="7560815" y="2234080"/>
            <a:ext cx="283607" cy="300150"/>
          </a:xfrm>
          <a:prstGeom prst="rect">
            <a:avLst/>
          </a:prstGeom>
          <a:noFill/>
          <a:ln>
            <a:noFill/>
          </a:ln>
        </p:spPr>
      </p:pic>
      <p:pic>
        <p:nvPicPr>
          <p:cNvPr id="893" name="Google Shape;893;p79"/>
          <p:cNvPicPr preferRelativeResize="0"/>
          <p:nvPr/>
        </p:nvPicPr>
        <p:blipFill>
          <a:blip r:embed="rId3">
            <a:alphaModFix/>
          </a:blip>
          <a:stretch>
            <a:fillRect/>
          </a:stretch>
        </p:blipFill>
        <p:spPr>
          <a:xfrm>
            <a:off x="6920690" y="2630342"/>
            <a:ext cx="283607" cy="300150"/>
          </a:xfrm>
          <a:prstGeom prst="rect">
            <a:avLst/>
          </a:prstGeom>
          <a:noFill/>
          <a:ln>
            <a:noFill/>
          </a:ln>
        </p:spPr>
      </p:pic>
      <p:pic>
        <p:nvPicPr>
          <p:cNvPr id="894" name="Google Shape;894;p79"/>
          <p:cNvPicPr preferRelativeResize="0"/>
          <p:nvPr/>
        </p:nvPicPr>
        <p:blipFill>
          <a:blip r:embed="rId3">
            <a:alphaModFix/>
          </a:blip>
          <a:stretch>
            <a:fillRect/>
          </a:stretch>
        </p:blipFill>
        <p:spPr>
          <a:xfrm>
            <a:off x="6311090" y="3011342"/>
            <a:ext cx="283607" cy="300150"/>
          </a:xfrm>
          <a:prstGeom prst="rect">
            <a:avLst/>
          </a:prstGeom>
          <a:noFill/>
          <a:ln>
            <a:noFill/>
          </a:ln>
        </p:spPr>
      </p:pic>
      <p:pic>
        <p:nvPicPr>
          <p:cNvPr id="895" name="Google Shape;895;p79"/>
          <p:cNvPicPr preferRelativeResize="0"/>
          <p:nvPr/>
        </p:nvPicPr>
        <p:blipFill>
          <a:blip r:embed="rId3">
            <a:alphaModFix/>
          </a:blip>
          <a:stretch>
            <a:fillRect/>
          </a:stretch>
        </p:blipFill>
        <p:spPr>
          <a:xfrm>
            <a:off x="6920690" y="3392342"/>
            <a:ext cx="283607" cy="300150"/>
          </a:xfrm>
          <a:prstGeom prst="rect">
            <a:avLst/>
          </a:prstGeom>
          <a:noFill/>
          <a:ln>
            <a:noFill/>
          </a:ln>
        </p:spPr>
      </p:pic>
      <p:pic>
        <p:nvPicPr>
          <p:cNvPr id="896" name="Google Shape;896;p79"/>
          <p:cNvPicPr preferRelativeResize="0"/>
          <p:nvPr/>
        </p:nvPicPr>
        <p:blipFill>
          <a:blip r:embed="rId3">
            <a:alphaModFix/>
          </a:blip>
          <a:stretch>
            <a:fillRect/>
          </a:stretch>
        </p:blipFill>
        <p:spPr>
          <a:xfrm>
            <a:off x="6311090" y="3773342"/>
            <a:ext cx="283607" cy="300150"/>
          </a:xfrm>
          <a:prstGeom prst="rect">
            <a:avLst/>
          </a:prstGeom>
          <a:noFill/>
          <a:ln>
            <a:noFill/>
          </a:ln>
        </p:spPr>
      </p:pic>
      <p:pic>
        <p:nvPicPr>
          <p:cNvPr id="897" name="Google Shape;897;p79"/>
          <p:cNvPicPr preferRelativeResize="0"/>
          <p:nvPr/>
        </p:nvPicPr>
        <p:blipFill>
          <a:blip r:embed="rId3">
            <a:alphaModFix/>
          </a:blip>
          <a:stretch>
            <a:fillRect/>
          </a:stretch>
        </p:blipFill>
        <p:spPr>
          <a:xfrm>
            <a:off x="8200828" y="4154342"/>
            <a:ext cx="283607" cy="300150"/>
          </a:xfrm>
          <a:prstGeom prst="rect">
            <a:avLst/>
          </a:prstGeom>
          <a:noFill/>
          <a:ln>
            <a:noFill/>
          </a:ln>
        </p:spPr>
      </p:pic>
      <p:graphicFrame>
        <p:nvGraphicFramePr>
          <p:cNvPr id="898" name="Google Shape;898;p79"/>
          <p:cNvGraphicFramePr/>
          <p:nvPr/>
        </p:nvGraphicFramePr>
        <p:xfrm>
          <a:off x="508475" y="1466850"/>
          <a:ext cx="3000000" cy="3000000"/>
        </p:xfrm>
        <a:graphic>
          <a:graphicData uri="http://schemas.openxmlformats.org/drawingml/2006/table">
            <a:tbl>
              <a:tblPr>
                <a:noFill/>
                <a:tableStyleId>{8F0EA7B0-5CE6-43D2-91B7-8B6C7CCF27BC}</a:tableStyleId>
              </a:tblPr>
              <a:tblGrid>
                <a:gridCol w="5658450"/>
                <a:gridCol w="617150"/>
                <a:gridCol w="617150"/>
                <a:gridCol w="617150"/>
                <a:gridCol w="617150"/>
              </a:tblGrid>
              <a:tr h="381000">
                <a:tc>
                  <a:txBody>
                    <a:bodyPr/>
                    <a:lstStyle/>
                    <a:p>
                      <a:pPr indent="0" lvl="0" marL="0" rtl="0" algn="l">
                        <a:spcBef>
                          <a:spcPts val="0"/>
                        </a:spcBef>
                        <a:spcAft>
                          <a:spcPts val="0"/>
                        </a:spcAft>
                        <a:buNone/>
                      </a:pPr>
                      <a:r>
                        <a:t/>
                      </a:r>
                      <a:endParaRPr sz="1800">
                        <a:solidFill>
                          <a:schemeClr val="lt1"/>
                        </a:solidFill>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1 s.f.</a:t>
                      </a:r>
                      <a:endParaRPr sz="1800">
                        <a:solidFill>
                          <a:schemeClr val="lt1"/>
                        </a:solidFill>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2 s.f. </a:t>
                      </a:r>
                      <a:endParaRPr sz="1800">
                        <a:solidFill>
                          <a:schemeClr val="lt1"/>
                        </a:solidFill>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3 s.f. </a:t>
                      </a:r>
                      <a:endParaRPr sz="1800">
                        <a:solidFill>
                          <a:schemeClr val="lt1"/>
                        </a:solidFill>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4 s.f.</a:t>
                      </a:r>
                      <a:endParaRPr sz="1800">
                        <a:solidFill>
                          <a:schemeClr val="lt1"/>
                        </a:solidFill>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r>
              <a:tr h="381000">
                <a:tc>
                  <a:txBody>
                    <a:bodyPr/>
                    <a:lstStyle/>
                    <a:p>
                      <a:pPr indent="0" lvl="0" marL="0" rtl="0" algn="l">
                        <a:spcBef>
                          <a:spcPts val="0"/>
                        </a:spcBef>
                        <a:spcAft>
                          <a:spcPts val="0"/>
                        </a:spcAft>
                        <a:buNone/>
                      </a:pPr>
                      <a:r>
                        <a:rPr lang="en-GB" sz="1800">
                          <a:latin typeface="Lexend"/>
                          <a:ea typeface="Lexend"/>
                          <a:cs typeface="Lexend"/>
                          <a:sym typeface="Lexend"/>
                        </a:rPr>
                        <a:t>The population of a town is 12 000</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The length of a plank of wood is 6.24 m</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The width of a blade of grass is 1.6 mm</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The attendance at a pop concert is 30 000</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62% of UK homes own a pet</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The width of a human hair is 0.009 cm</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The distance from Earth to the Moon is 384 400 km</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899" name="Google Shape;899;p79"/>
          <p:cNvSpPr txBox="1"/>
          <p:nvPr/>
        </p:nvSpPr>
        <p:spPr>
          <a:xfrm>
            <a:off x="324000" y="685800"/>
            <a:ext cx="8496000" cy="7803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2) Complete the table to show which degree of accuracy is most likely to have been used:</a:t>
            </a:r>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8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Understanding degrees of accuracy</a:t>
            </a:r>
            <a:endParaRPr/>
          </a:p>
        </p:txBody>
      </p:sp>
      <p:sp>
        <p:nvSpPr>
          <p:cNvPr id="905" name="Google Shape;905;p80"/>
          <p:cNvSpPr txBox="1"/>
          <p:nvPr>
            <p:ph idx="1" type="body"/>
          </p:nvPr>
        </p:nvSpPr>
        <p:spPr>
          <a:xfrm>
            <a:off x="324000" y="1445100"/>
            <a:ext cx="84960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Sofia belongs to a supporters club for her favourite football team.  They decide to organise coaches to watch an away match.  </a:t>
            </a:r>
            <a:r>
              <a:rPr lang="en-GB">
                <a:latin typeface="Kalam"/>
                <a:ea typeface="Kalam"/>
                <a:cs typeface="Kalam"/>
                <a:sym typeface="Kalam"/>
              </a:rPr>
              <a:t>20</a:t>
            </a:r>
            <a:r>
              <a:rPr lang="en-GB" sz="2100"/>
              <a:t> coaches of </a:t>
            </a:r>
            <a:r>
              <a:rPr lang="en-GB">
                <a:latin typeface="Kalam"/>
                <a:ea typeface="Kalam"/>
                <a:cs typeface="Kalam"/>
                <a:sym typeface="Kalam"/>
              </a:rPr>
              <a:t>50</a:t>
            </a:r>
            <a:r>
              <a:rPr lang="en-GB" sz="2100"/>
              <a:t> people set off for the match.  The coach travels </a:t>
            </a:r>
            <a:r>
              <a:rPr lang="en-GB">
                <a:latin typeface="Kalam"/>
                <a:ea typeface="Kalam"/>
                <a:cs typeface="Kalam"/>
                <a:sym typeface="Kalam"/>
              </a:rPr>
              <a:t>260</a:t>
            </a:r>
            <a:r>
              <a:rPr lang="en-GB" sz="2100"/>
              <a:t> km to the match which takes them </a:t>
            </a:r>
            <a:r>
              <a:rPr lang="en-GB">
                <a:latin typeface="Kalam"/>
                <a:ea typeface="Kalam"/>
                <a:cs typeface="Kalam"/>
                <a:sym typeface="Kalam"/>
              </a:rPr>
              <a:t>4</a:t>
            </a:r>
            <a:r>
              <a:rPr lang="en-GB" sz="2100"/>
              <a:t> hours.  Whilst at the match Sofia and her mum buy some lunch which costs </a:t>
            </a:r>
            <a:r>
              <a:rPr lang="en-GB" sz="2100">
                <a:latin typeface="Kalam"/>
                <a:ea typeface="Kalam"/>
                <a:cs typeface="Kalam"/>
                <a:sym typeface="Kalam"/>
              </a:rPr>
              <a:t>£20</a:t>
            </a:r>
            <a:r>
              <a:rPr lang="en-GB" sz="2100"/>
              <a:t>.  During the match there was an announcement that the attendance at the match is </a:t>
            </a:r>
            <a:r>
              <a:rPr lang="en-GB">
                <a:latin typeface="Kalam"/>
                <a:ea typeface="Kalam"/>
                <a:cs typeface="Kalam"/>
                <a:sym typeface="Kalam"/>
              </a:rPr>
              <a:t>52 000</a:t>
            </a:r>
            <a:r>
              <a:rPr lang="en-GB" sz="2100"/>
              <a:t>.  The average speed of the coach on the way home is </a:t>
            </a:r>
            <a:r>
              <a:rPr lang="en-GB">
                <a:latin typeface="Kalam"/>
                <a:ea typeface="Kalam"/>
                <a:cs typeface="Kalam"/>
                <a:sym typeface="Kalam"/>
              </a:rPr>
              <a:t>55</a:t>
            </a:r>
            <a:r>
              <a:rPr lang="en-GB" sz="2100"/>
              <a:t> mph. And they arrive home at </a:t>
            </a:r>
            <a:r>
              <a:rPr lang="en-GB">
                <a:latin typeface="Kalam"/>
                <a:ea typeface="Kalam"/>
                <a:cs typeface="Kalam"/>
                <a:sym typeface="Kalam"/>
              </a:rPr>
              <a:t>12am</a:t>
            </a:r>
            <a:r>
              <a:rPr lang="en-GB" sz="2100"/>
              <a:t>.</a:t>
            </a:r>
            <a:endParaRPr sz="2100"/>
          </a:p>
        </p:txBody>
      </p:sp>
      <p:sp>
        <p:nvSpPr>
          <p:cNvPr id="906" name="Google Shape;906;p80"/>
          <p:cNvSpPr/>
          <p:nvPr/>
        </p:nvSpPr>
        <p:spPr>
          <a:xfrm>
            <a:off x="324000" y="2211800"/>
            <a:ext cx="1483800" cy="3600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7" name="Google Shape;907;p80"/>
          <p:cNvSpPr/>
          <p:nvPr/>
        </p:nvSpPr>
        <p:spPr>
          <a:xfrm>
            <a:off x="324000" y="2595800"/>
            <a:ext cx="966900" cy="3600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8" name="Google Shape;908;p80"/>
          <p:cNvSpPr/>
          <p:nvPr/>
        </p:nvSpPr>
        <p:spPr>
          <a:xfrm>
            <a:off x="2162175" y="2211800"/>
            <a:ext cx="1277700" cy="3600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9" name="Google Shape;909;p80"/>
          <p:cNvSpPr/>
          <p:nvPr/>
        </p:nvSpPr>
        <p:spPr>
          <a:xfrm>
            <a:off x="5384500" y="2595800"/>
            <a:ext cx="966900" cy="3600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0" name="Google Shape;910;p80"/>
          <p:cNvSpPr/>
          <p:nvPr/>
        </p:nvSpPr>
        <p:spPr>
          <a:xfrm>
            <a:off x="7389650" y="2955800"/>
            <a:ext cx="617400" cy="3600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1" name="Google Shape;911;p80"/>
          <p:cNvSpPr/>
          <p:nvPr/>
        </p:nvSpPr>
        <p:spPr>
          <a:xfrm>
            <a:off x="3836550" y="3711650"/>
            <a:ext cx="966900" cy="3600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2" name="Google Shape;912;p80"/>
          <p:cNvSpPr/>
          <p:nvPr/>
        </p:nvSpPr>
        <p:spPr>
          <a:xfrm>
            <a:off x="3725225" y="4095650"/>
            <a:ext cx="1015200" cy="3600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3" name="Google Shape;913;p80"/>
          <p:cNvSpPr/>
          <p:nvPr/>
        </p:nvSpPr>
        <p:spPr>
          <a:xfrm>
            <a:off x="8007050" y="4071650"/>
            <a:ext cx="813000" cy="360000"/>
          </a:xfrm>
          <a:prstGeom prst="roundRect">
            <a:avLst>
              <a:gd fmla="val 16667"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4" name="Google Shape;914;p80"/>
          <p:cNvSpPr txBox="1"/>
          <p:nvPr>
            <p:ph idx="1" type="body"/>
          </p:nvPr>
        </p:nvSpPr>
        <p:spPr>
          <a:xfrm>
            <a:off x="324000" y="759300"/>
            <a:ext cx="8237700" cy="656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 Rewrite the story below, rounding each of the numbers to an appropriate degree of accuracy.</a:t>
            </a:r>
            <a:endParaRPr sz="21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81"/>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Understanding degrees of accuracy</a:t>
            </a:r>
            <a:endParaRPr/>
          </a:p>
        </p:txBody>
      </p:sp>
      <p:sp>
        <p:nvSpPr>
          <p:cNvPr id="920" name="Google Shape;920;p81"/>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a:t>
            </a:r>
            <a:r>
              <a:rPr lang="en-GB"/>
              <a:t>nswers to an appropriate degree of accuracy</a:t>
            </a:r>
            <a:endParaRPr/>
          </a:p>
        </p:txBody>
      </p:sp>
      <p:sp>
        <p:nvSpPr>
          <p:cNvPr id="921" name="Google Shape;921;p81"/>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Degrees of accuracy</a:t>
            </a:r>
            <a:endParaRPr/>
          </a:p>
        </p:txBody>
      </p:sp>
      <p:pic>
        <p:nvPicPr>
          <p:cNvPr id="922" name="Google Shape;922;p81"/>
          <p:cNvPicPr preferRelativeResize="0"/>
          <p:nvPr/>
        </p:nvPicPr>
        <p:blipFill>
          <a:blip r:embed="rId3">
            <a:alphaModFix/>
          </a:blip>
          <a:stretch>
            <a:fillRect/>
          </a:stretch>
        </p:blipFill>
        <p:spPr>
          <a:xfrm>
            <a:off x="415962" y="2988375"/>
            <a:ext cx="450575" cy="4467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a:t>
            </a:r>
            <a:r>
              <a:rPr lang="en-GB"/>
              <a:t>nswers to an appropriate degree of accuracy</a:t>
            </a:r>
            <a:endParaRPr/>
          </a:p>
        </p:txBody>
      </p:sp>
      <p:sp>
        <p:nvSpPr>
          <p:cNvPr id="928" name="Google Shape;928;p82"/>
          <p:cNvSpPr txBox="1"/>
          <p:nvPr>
            <p:ph idx="1" type="body"/>
          </p:nvPr>
        </p:nvSpPr>
        <p:spPr>
          <a:xfrm>
            <a:off x="324000" y="606900"/>
            <a:ext cx="8237700" cy="8121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None/>
            </a:pPr>
            <a:r>
              <a:rPr lang="en-GB"/>
              <a:t>Calculate the area and perimeter of this shape.</a:t>
            </a:r>
            <a:endParaRPr/>
          </a:p>
          <a:p>
            <a:pPr indent="0" lvl="0" marL="0" rtl="0" algn="l">
              <a:lnSpc>
                <a:spcPct val="80000"/>
              </a:lnSpc>
              <a:spcBef>
                <a:spcPts val="1000"/>
              </a:spcBef>
              <a:spcAft>
                <a:spcPts val="1000"/>
              </a:spcAft>
              <a:buNone/>
            </a:pPr>
            <a:r>
              <a:rPr lang="en-GB"/>
              <a:t>Give your answer to an appropriate degree of accuracy.</a:t>
            </a:r>
            <a:endParaRPr/>
          </a:p>
        </p:txBody>
      </p:sp>
      <p:pic>
        <p:nvPicPr>
          <p:cNvPr id="929" name="Google Shape;929;p82"/>
          <p:cNvPicPr preferRelativeResize="0"/>
          <p:nvPr/>
        </p:nvPicPr>
        <p:blipFill>
          <a:blip r:embed="rId3">
            <a:alphaModFix/>
          </a:blip>
          <a:stretch>
            <a:fillRect/>
          </a:stretch>
        </p:blipFill>
        <p:spPr>
          <a:xfrm flipH="1">
            <a:off x="5570433" y="3507700"/>
            <a:ext cx="727191" cy="909325"/>
          </a:xfrm>
          <a:prstGeom prst="rect">
            <a:avLst/>
          </a:prstGeom>
          <a:noFill/>
          <a:ln>
            <a:noFill/>
          </a:ln>
        </p:spPr>
      </p:pic>
      <p:sp>
        <p:nvSpPr>
          <p:cNvPr id="930" name="Google Shape;930;p82"/>
          <p:cNvSpPr/>
          <p:nvPr/>
        </p:nvSpPr>
        <p:spPr>
          <a:xfrm rot="-5400000">
            <a:off x="6171825" y="1231200"/>
            <a:ext cx="1358400" cy="2329200"/>
          </a:xfrm>
          <a:prstGeom prst="rect">
            <a:avLst/>
          </a:prstGeom>
          <a:solidFill>
            <a:srgbClr val="F0F0F0"/>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1" name="Google Shape;931;p82"/>
          <p:cNvSpPr txBox="1"/>
          <p:nvPr/>
        </p:nvSpPr>
        <p:spPr>
          <a:xfrm>
            <a:off x="8196000" y="2226450"/>
            <a:ext cx="948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3.7 cm</a:t>
            </a:r>
            <a:endParaRPr sz="1800">
              <a:solidFill>
                <a:srgbClr val="000000"/>
              </a:solidFill>
              <a:latin typeface="Lexend"/>
              <a:ea typeface="Lexend"/>
              <a:cs typeface="Lexend"/>
              <a:sym typeface="Lexend"/>
            </a:endParaRPr>
          </a:p>
        </p:txBody>
      </p:sp>
      <p:sp>
        <p:nvSpPr>
          <p:cNvPr id="932" name="Google Shape;932;p82"/>
          <p:cNvSpPr txBox="1"/>
          <p:nvPr/>
        </p:nvSpPr>
        <p:spPr>
          <a:xfrm>
            <a:off x="6487425" y="1363700"/>
            <a:ext cx="727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8.4 cm</a:t>
            </a:r>
            <a:endParaRPr sz="1800">
              <a:solidFill>
                <a:srgbClr val="000000"/>
              </a:solidFill>
              <a:latin typeface="Lexend"/>
              <a:ea typeface="Lexend"/>
              <a:cs typeface="Lexend"/>
              <a:sym typeface="Lexend"/>
            </a:endParaRPr>
          </a:p>
        </p:txBody>
      </p:sp>
      <p:pic>
        <p:nvPicPr>
          <p:cNvPr id="933" name="Google Shape;933;p82"/>
          <p:cNvPicPr preferRelativeResize="0"/>
          <p:nvPr/>
        </p:nvPicPr>
        <p:blipFill>
          <a:blip r:embed="rId4">
            <a:alphaModFix/>
          </a:blip>
          <a:stretch>
            <a:fillRect/>
          </a:stretch>
        </p:blipFill>
        <p:spPr>
          <a:xfrm>
            <a:off x="506554" y="2325606"/>
            <a:ext cx="623342" cy="1177024"/>
          </a:xfrm>
          <a:prstGeom prst="rect">
            <a:avLst/>
          </a:prstGeom>
          <a:noFill/>
          <a:ln>
            <a:noFill/>
          </a:ln>
        </p:spPr>
      </p:pic>
      <p:sp>
        <p:nvSpPr>
          <p:cNvPr id="934" name="Google Shape;934;p82"/>
          <p:cNvSpPr txBox="1"/>
          <p:nvPr/>
        </p:nvSpPr>
        <p:spPr>
          <a:xfrm>
            <a:off x="375575" y="35925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 </a:t>
            </a:r>
            <a:endParaRPr sz="1800">
              <a:latin typeface="Lexend"/>
              <a:ea typeface="Lexend"/>
              <a:cs typeface="Lexend"/>
              <a:sym typeface="Lexend"/>
            </a:endParaRPr>
          </a:p>
        </p:txBody>
      </p:sp>
      <p:sp>
        <p:nvSpPr>
          <p:cNvPr id="935" name="Google Shape;935;p82"/>
          <p:cNvSpPr txBox="1"/>
          <p:nvPr/>
        </p:nvSpPr>
        <p:spPr>
          <a:xfrm>
            <a:off x="5491375" y="45069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Jun</a:t>
            </a:r>
            <a:endParaRPr sz="1800">
              <a:latin typeface="Lexend"/>
              <a:ea typeface="Lexend"/>
              <a:cs typeface="Lexend"/>
              <a:sym typeface="Lexend"/>
            </a:endParaRPr>
          </a:p>
        </p:txBody>
      </p:sp>
      <p:grpSp>
        <p:nvGrpSpPr>
          <p:cNvPr id="936" name="Google Shape;936;p82"/>
          <p:cNvGrpSpPr/>
          <p:nvPr/>
        </p:nvGrpSpPr>
        <p:grpSpPr>
          <a:xfrm>
            <a:off x="1261939" y="1360071"/>
            <a:ext cx="2604311" cy="1469576"/>
            <a:chOff x="1109540" y="1465625"/>
            <a:chExt cx="3785887" cy="1469576"/>
          </a:xfrm>
        </p:grpSpPr>
        <p:pic>
          <p:nvPicPr>
            <p:cNvPr id="937" name="Google Shape;937;p82"/>
            <p:cNvPicPr preferRelativeResize="0"/>
            <p:nvPr/>
          </p:nvPicPr>
          <p:blipFill rotWithShape="1">
            <a:blip r:embed="rId5">
              <a:alphaModFix/>
            </a:blip>
            <a:srcRect b="0" l="0" r="69082" t="56280"/>
            <a:stretch/>
          </p:blipFill>
          <p:spPr>
            <a:xfrm flipH="1">
              <a:off x="1109540" y="1465625"/>
              <a:ext cx="3785887" cy="1469576"/>
            </a:xfrm>
            <a:prstGeom prst="rect">
              <a:avLst/>
            </a:prstGeom>
            <a:noFill/>
            <a:ln>
              <a:noFill/>
            </a:ln>
          </p:spPr>
        </p:pic>
        <p:sp>
          <p:nvSpPr>
            <p:cNvPr id="938" name="Google Shape;938;p82"/>
            <p:cNvSpPr txBox="1"/>
            <p:nvPr/>
          </p:nvSpPr>
          <p:spPr>
            <a:xfrm>
              <a:off x="1426419" y="1537399"/>
              <a:ext cx="3265200" cy="7728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latin typeface="Lexend"/>
                  <a:ea typeface="Lexend"/>
                  <a:cs typeface="Lexend"/>
                  <a:sym typeface="Lexend"/>
                </a:rPr>
                <a:t>What does it mean by an appropriate degree of accuracy?</a:t>
              </a:r>
              <a:endParaRPr sz="1800">
                <a:latin typeface="Lexend"/>
                <a:ea typeface="Lexend"/>
                <a:cs typeface="Lexend"/>
                <a:sym typeface="Lexend"/>
              </a:endParaRPr>
            </a:p>
          </p:txBody>
        </p:sp>
      </p:grpSp>
      <p:grpSp>
        <p:nvGrpSpPr>
          <p:cNvPr id="939" name="Google Shape;939;p82"/>
          <p:cNvGrpSpPr/>
          <p:nvPr/>
        </p:nvGrpSpPr>
        <p:grpSpPr>
          <a:xfrm>
            <a:off x="3078152" y="2664712"/>
            <a:ext cx="2329197" cy="1528900"/>
            <a:chOff x="10355387" y="3426513"/>
            <a:chExt cx="4257352" cy="1528900"/>
          </a:xfrm>
        </p:grpSpPr>
        <p:pic>
          <p:nvPicPr>
            <p:cNvPr id="940" name="Google Shape;940;p82"/>
            <p:cNvPicPr preferRelativeResize="0"/>
            <p:nvPr/>
          </p:nvPicPr>
          <p:blipFill rotWithShape="1">
            <a:blip r:embed="rId5">
              <a:alphaModFix/>
            </a:blip>
            <a:srcRect b="0" l="0" r="69082" t="56280"/>
            <a:stretch/>
          </p:blipFill>
          <p:spPr>
            <a:xfrm>
              <a:off x="10355387" y="3426513"/>
              <a:ext cx="4257352" cy="1528900"/>
            </a:xfrm>
            <a:prstGeom prst="rect">
              <a:avLst/>
            </a:prstGeom>
            <a:noFill/>
            <a:ln>
              <a:noFill/>
            </a:ln>
          </p:spPr>
        </p:pic>
        <p:sp>
          <p:nvSpPr>
            <p:cNvPr id="941" name="Google Shape;941;p82"/>
            <p:cNvSpPr txBox="1"/>
            <p:nvPr/>
          </p:nvSpPr>
          <p:spPr>
            <a:xfrm>
              <a:off x="10630063" y="3526825"/>
              <a:ext cx="3708000" cy="7728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latin typeface="Lexend"/>
                  <a:ea typeface="Lexend"/>
                  <a:cs typeface="Lexend"/>
                  <a:sym typeface="Lexend"/>
                </a:rPr>
                <a:t>If it was money, 2 decimal places would be appropriate.</a:t>
              </a:r>
              <a:endParaRPr sz="1800">
                <a:latin typeface="Lexend"/>
                <a:ea typeface="Lexend"/>
                <a:cs typeface="Lexend"/>
                <a:sym typeface="Lexend"/>
              </a:endParaRPr>
            </a:p>
          </p:txBody>
        </p:sp>
      </p:grpSp>
      <p:cxnSp>
        <p:nvCxnSpPr>
          <p:cNvPr id="942" name="Google Shape;942;p82"/>
          <p:cNvCxnSpPr/>
          <p:nvPr/>
        </p:nvCxnSpPr>
        <p:spPr>
          <a:xfrm>
            <a:off x="5687625" y="1620000"/>
            <a:ext cx="2326800" cy="0"/>
          </a:xfrm>
          <a:prstGeom prst="straightConnector1">
            <a:avLst/>
          </a:prstGeom>
          <a:noFill/>
          <a:ln cap="flat" cmpd="sng" w="19050">
            <a:solidFill>
              <a:schemeClr val="dk1"/>
            </a:solidFill>
            <a:prstDash val="solid"/>
            <a:round/>
            <a:headEnd len="med" w="med" type="triangle"/>
            <a:tailEnd len="med" w="med" type="triangle"/>
          </a:ln>
        </p:spPr>
      </p:cxnSp>
      <p:cxnSp>
        <p:nvCxnSpPr>
          <p:cNvPr id="943" name="Google Shape;943;p82"/>
          <p:cNvCxnSpPr/>
          <p:nvPr/>
        </p:nvCxnSpPr>
        <p:spPr>
          <a:xfrm>
            <a:off x="8114700" y="1711800"/>
            <a:ext cx="0" cy="1368000"/>
          </a:xfrm>
          <a:prstGeom prst="straightConnector1">
            <a:avLst/>
          </a:prstGeom>
          <a:noFill/>
          <a:ln cap="flat" cmpd="sng" w="19050">
            <a:solidFill>
              <a:schemeClr val="dk1"/>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a:t>
            </a:r>
            <a:r>
              <a:rPr lang="en-GB"/>
              <a:t>nswers to an appropriate degree of accuracy</a:t>
            </a:r>
            <a:endParaRPr/>
          </a:p>
        </p:txBody>
      </p:sp>
      <p:sp>
        <p:nvSpPr>
          <p:cNvPr id="949" name="Google Shape;949;p83"/>
          <p:cNvSpPr txBox="1"/>
          <p:nvPr>
            <p:ph idx="1" type="body"/>
          </p:nvPr>
        </p:nvSpPr>
        <p:spPr>
          <a:xfrm>
            <a:off x="324000" y="606900"/>
            <a:ext cx="8237700" cy="8121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None/>
            </a:pPr>
            <a:r>
              <a:rPr lang="en-GB"/>
              <a:t>Calculate the area and perimeter of this shape.</a:t>
            </a:r>
            <a:endParaRPr/>
          </a:p>
          <a:p>
            <a:pPr indent="0" lvl="0" marL="0" rtl="0" algn="l">
              <a:lnSpc>
                <a:spcPct val="80000"/>
              </a:lnSpc>
              <a:spcBef>
                <a:spcPts val="1000"/>
              </a:spcBef>
              <a:spcAft>
                <a:spcPts val="1000"/>
              </a:spcAft>
              <a:buNone/>
            </a:pPr>
            <a:r>
              <a:rPr lang="en-GB"/>
              <a:t>Give your answer to an appropriate degree of accuracy.</a:t>
            </a:r>
            <a:endParaRPr/>
          </a:p>
        </p:txBody>
      </p:sp>
      <p:pic>
        <p:nvPicPr>
          <p:cNvPr id="950" name="Google Shape;950;p83"/>
          <p:cNvPicPr preferRelativeResize="0"/>
          <p:nvPr/>
        </p:nvPicPr>
        <p:blipFill>
          <a:blip r:embed="rId3">
            <a:alphaModFix/>
          </a:blip>
          <a:stretch>
            <a:fillRect/>
          </a:stretch>
        </p:blipFill>
        <p:spPr>
          <a:xfrm>
            <a:off x="506554" y="2325606"/>
            <a:ext cx="623342" cy="1177024"/>
          </a:xfrm>
          <a:prstGeom prst="rect">
            <a:avLst/>
          </a:prstGeom>
          <a:noFill/>
          <a:ln>
            <a:noFill/>
          </a:ln>
        </p:spPr>
      </p:pic>
      <p:sp>
        <p:nvSpPr>
          <p:cNvPr id="951" name="Google Shape;951;p83"/>
          <p:cNvSpPr txBox="1"/>
          <p:nvPr/>
        </p:nvSpPr>
        <p:spPr>
          <a:xfrm>
            <a:off x="375575" y="35925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 </a:t>
            </a:r>
            <a:endParaRPr sz="1800">
              <a:latin typeface="Lexend"/>
              <a:ea typeface="Lexend"/>
              <a:cs typeface="Lexend"/>
              <a:sym typeface="Lexend"/>
            </a:endParaRPr>
          </a:p>
        </p:txBody>
      </p:sp>
      <p:pic>
        <p:nvPicPr>
          <p:cNvPr id="952" name="Google Shape;952;p83"/>
          <p:cNvPicPr preferRelativeResize="0"/>
          <p:nvPr/>
        </p:nvPicPr>
        <p:blipFill>
          <a:blip r:embed="rId4">
            <a:alphaModFix/>
          </a:blip>
          <a:stretch>
            <a:fillRect/>
          </a:stretch>
        </p:blipFill>
        <p:spPr>
          <a:xfrm flipH="1">
            <a:off x="5570433" y="3507700"/>
            <a:ext cx="727191" cy="909325"/>
          </a:xfrm>
          <a:prstGeom prst="rect">
            <a:avLst/>
          </a:prstGeom>
          <a:noFill/>
          <a:ln>
            <a:noFill/>
          </a:ln>
        </p:spPr>
      </p:pic>
      <p:sp>
        <p:nvSpPr>
          <p:cNvPr id="953" name="Google Shape;953;p83"/>
          <p:cNvSpPr txBox="1"/>
          <p:nvPr/>
        </p:nvSpPr>
        <p:spPr>
          <a:xfrm>
            <a:off x="5491375" y="45069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Jun</a:t>
            </a:r>
            <a:endParaRPr sz="1800">
              <a:latin typeface="Lexend"/>
              <a:ea typeface="Lexend"/>
              <a:cs typeface="Lexend"/>
              <a:sym typeface="Lexend"/>
            </a:endParaRPr>
          </a:p>
        </p:txBody>
      </p:sp>
      <p:sp>
        <p:nvSpPr>
          <p:cNvPr id="954" name="Google Shape;954;p83"/>
          <p:cNvSpPr/>
          <p:nvPr/>
        </p:nvSpPr>
        <p:spPr>
          <a:xfrm rot="-5400000">
            <a:off x="6171825" y="1231200"/>
            <a:ext cx="1358400" cy="2329200"/>
          </a:xfrm>
          <a:prstGeom prst="rect">
            <a:avLst/>
          </a:prstGeom>
          <a:solidFill>
            <a:srgbClr val="F0F0F0"/>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5" name="Google Shape;955;p83"/>
          <p:cNvSpPr txBox="1"/>
          <p:nvPr/>
        </p:nvSpPr>
        <p:spPr>
          <a:xfrm>
            <a:off x="8213775" y="2226450"/>
            <a:ext cx="948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3.7 cm</a:t>
            </a:r>
            <a:endParaRPr sz="1800">
              <a:solidFill>
                <a:srgbClr val="000000"/>
              </a:solidFill>
              <a:latin typeface="Lexend"/>
              <a:ea typeface="Lexend"/>
              <a:cs typeface="Lexend"/>
              <a:sym typeface="Lexend"/>
            </a:endParaRPr>
          </a:p>
        </p:txBody>
      </p:sp>
      <p:sp>
        <p:nvSpPr>
          <p:cNvPr id="956" name="Google Shape;956;p83"/>
          <p:cNvSpPr txBox="1"/>
          <p:nvPr/>
        </p:nvSpPr>
        <p:spPr>
          <a:xfrm>
            <a:off x="6487425" y="1342800"/>
            <a:ext cx="727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8.4 cm</a:t>
            </a:r>
            <a:endParaRPr sz="1800">
              <a:solidFill>
                <a:srgbClr val="000000"/>
              </a:solidFill>
              <a:latin typeface="Lexend"/>
              <a:ea typeface="Lexend"/>
              <a:cs typeface="Lexend"/>
              <a:sym typeface="Lexend"/>
            </a:endParaRPr>
          </a:p>
        </p:txBody>
      </p:sp>
      <p:grpSp>
        <p:nvGrpSpPr>
          <p:cNvPr id="957" name="Google Shape;957;p83"/>
          <p:cNvGrpSpPr/>
          <p:nvPr/>
        </p:nvGrpSpPr>
        <p:grpSpPr>
          <a:xfrm>
            <a:off x="1053698" y="1146432"/>
            <a:ext cx="3674552" cy="1670926"/>
            <a:chOff x="574099" y="-48014"/>
            <a:chExt cx="3785856" cy="1670926"/>
          </a:xfrm>
        </p:grpSpPr>
        <p:pic>
          <p:nvPicPr>
            <p:cNvPr id="958" name="Google Shape;958;p83"/>
            <p:cNvPicPr preferRelativeResize="0"/>
            <p:nvPr/>
          </p:nvPicPr>
          <p:blipFill rotWithShape="1">
            <a:blip r:embed="rId5">
              <a:alphaModFix/>
            </a:blip>
            <a:srcRect b="0" l="0" r="69082" t="56280"/>
            <a:stretch/>
          </p:blipFill>
          <p:spPr>
            <a:xfrm flipH="1">
              <a:off x="574099" y="-48014"/>
              <a:ext cx="3785856" cy="1670926"/>
            </a:xfrm>
            <a:prstGeom prst="rect">
              <a:avLst/>
            </a:prstGeom>
            <a:noFill/>
            <a:ln>
              <a:noFill/>
            </a:ln>
          </p:spPr>
        </p:pic>
        <p:sp>
          <p:nvSpPr>
            <p:cNvPr id="959" name="Google Shape;959;p83"/>
            <p:cNvSpPr txBox="1"/>
            <p:nvPr/>
          </p:nvSpPr>
          <p:spPr>
            <a:xfrm>
              <a:off x="862164" y="113774"/>
              <a:ext cx="3265200" cy="7728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latin typeface="Lexend"/>
                  <a:ea typeface="Lexend"/>
                  <a:cs typeface="Lexend"/>
                  <a:sym typeface="Lexend"/>
                </a:rPr>
                <a:t>Yes, that’s right and if not, give it to the same degree of accuracy as the values  in the question.</a:t>
              </a:r>
              <a:endParaRPr sz="1800">
                <a:latin typeface="Lexend"/>
                <a:ea typeface="Lexend"/>
                <a:cs typeface="Lexend"/>
                <a:sym typeface="Lexend"/>
              </a:endParaRPr>
            </a:p>
          </p:txBody>
        </p:sp>
      </p:grpSp>
      <p:grpSp>
        <p:nvGrpSpPr>
          <p:cNvPr id="960" name="Google Shape;960;p83"/>
          <p:cNvGrpSpPr/>
          <p:nvPr/>
        </p:nvGrpSpPr>
        <p:grpSpPr>
          <a:xfrm>
            <a:off x="1343925" y="2781325"/>
            <a:ext cx="4342498" cy="1624150"/>
            <a:chOff x="2312514" y="2873451"/>
            <a:chExt cx="4233692" cy="1624150"/>
          </a:xfrm>
        </p:grpSpPr>
        <p:pic>
          <p:nvPicPr>
            <p:cNvPr id="961" name="Google Shape;961;p83"/>
            <p:cNvPicPr preferRelativeResize="0"/>
            <p:nvPr/>
          </p:nvPicPr>
          <p:blipFill rotWithShape="1">
            <a:blip r:embed="rId5">
              <a:alphaModFix/>
            </a:blip>
            <a:srcRect b="0" l="0" r="69082" t="56280"/>
            <a:stretch/>
          </p:blipFill>
          <p:spPr>
            <a:xfrm>
              <a:off x="2312514" y="2873451"/>
              <a:ext cx="4233692" cy="1624150"/>
            </a:xfrm>
            <a:prstGeom prst="rect">
              <a:avLst/>
            </a:prstGeom>
            <a:noFill/>
            <a:ln>
              <a:noFill/>
            </a:ln>
          </p:spPr>
        </p:pic>
        <p:sp>
          <p:nvSpPr>
            <p:cNvPr id="962" name="Google Shape;962;p83"/>
            <p:cNvSpPr txBox="1"/>
            <p:nvPr/>
          </p:nvSpPr>
          <p:spPr>
            <a:xfrm>
              <a:off x="2504052" y="3021425"/>
              <a:ext cx="3708000" cy="7728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latin typeface="Lexend"/>
                  <a:ea typeface="Lexend"/>
                  <a:cs typeface="Lexend"/>
                  <a:sym typeface="Lexend"/>
                </a:rPr>
                <a:t>Here the dimensions are given to 1 decimal place,  Therefore, we will give our answers to 1 decimal place.</a:t>
              </a:r>
              <a:endParaRPr sz="1800">
                <a:latin typeface="Lexend"/>
                <a:ea typeface="Lexend"/>
                <a:cs typeface="Lexend"/>
                <a:sym typeface="Lexend"/>
              </a:endParaRPr>
            </a:p>
          </p:txBody>
        </p:sp>
      </p:grpSp>
      <p:cxnSp>
        <p:nvCxnSpPr>
          <p:cNvPr id="963" name="Google Shape;963;p83"/>
          <p:cNvCxnSpPr/>
          <p:nvPr/>
        </p:nvCxnSpPr>
        <p:spPr>
          <a:xfrm>
            <a:off x="5687625" y="1620000"/>
            <a:ext cx="2326800" cy="0"/>
          </a:xfrm>
          <a:prstGeom prst="straightConnector1">
            <a:avLst/>
          </a:prstGeom>
          <a:noFill/>
          <a:ln cap="flat" cmpd="sng" w="19050">
            <a:solidFill>
              <a:schemeClr val="dk1"/>
            </a:solidFill>
            <a:prstDash val="solid"/>
            <a:round/>
            <a:headEnd len="med" w="med" type="triangle"/>
            <a:tailEnd len="med" w="med" type="triangle"/>
          </a:ln>
        </p:spPr>
      </p:cxnSp>
      <p:cxnSp>
        <p:nvCxnSpPr>
          <p:cNvPr id="964" name="Google Shape;964;p83"/>
          <p:cNvCxnSpPr/>
          <p:nvPr/>
        </p:nvCxnSpPr>
        <p:spPr>
          <a:xfrm>
            <a:off x="8114700" y="1711800"/>
            <a:ext cx="0" cy="1368000"/>
          </a:xfrm>
          <a:prstGeom prst="straightConnector1">
            <a:avLst/>
          </a:prstGeom>
          <a:noFill/>
          <a:ln cap="flat" cmpd="sng" w="19050">
            <a:solidFill>
              <a:schemeClr val="dk1"/>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a:t>
            </a:r>
            <a:r>
              <a:rPr lang="en-GB"/>
              <a:t>nswers to an appropriate degree of accuracy</a:t>
            </a:r>
            <a:endParaRPr/>
          </a:p>
        </p:txBody>
      </p:sp>
      <p:sp>
        <p:nvSpPr>
          <p:cNvPr id="970" name="Google Shape;970;p84"/>
          <p:cNvSpPr txBox="1"/>
          <p:nvPr>
            <p:ph idx="1" type="body"/>
          </p:nvPr>
        </p:nvSpPr>
        <p:spPr>
          <a:xfrm>
            <a:off x="324000" y="606900"/>
            <a:ext cx="8237700" cy="8121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None/>
            </a:pPr>
            <a:r>
              <a:rPr lang="en-GB"/>
              <a:t>Calculate the area and perimeter of this shape.</a:t>
            </a:r>
            <a:endParaRPr/>
          </a:p>
          <a:p>
            <a:pPr indent="0" lvl="0" marL="0" rtl="0" algn="l">
              <a:lnSpc>
                <a:spcPct val="80000"/>
              </a:lnSpc>
              <a:spcBef>
                <a:spcPts val="1000"/>
              </a:spcBef>
              <a:spcAft>
                <a:spcPts val="1000"/>
              </a:spcAft>
              <a:buNone/>
            </a:pPr>
            <a:r>
              <a:rPr lang="en-GB"/>
              <a:t>Give your answer to an appropriate degree of accuracy.</a:t>
            </a:r>
            <a:endParaRPr/>
          </a:p>
        </p:txBody>
      </p:sp>
      <p:sp>
        <p:nvSpPr>
          <p:cNvPr id="971" name="Google Shape;971;p84"/>
          <p:cNvSpPr/>
          <p:nvPr/>
        </p:nvSpPr>
        <p:spPr>
          <a:xfrm rot="-5400000">
            <a:off x="6171825" y="1231200"/>
            <a:ext cx="1358400" cy="2329200"/>
          </a:xfrm>
          <a:prstGeom prst="rect">
            <a:avLst/>
          </a:prstGeom>
          <a:solidFill>
            <a:srgbClr val="F0F0F0"/>
          </a:solidFill>
          <a:ln cap="flat" cmpd="sng" w="38100">
            <a:solidFill>
              <a:srgbClr val="037B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2" name="Google Shape;972;p84"/>
          <p:cNvSpPr txBox="1"/>
          <p:nvPr/>
        </p:nvSpPr>
        <p:spPr>
          <a:xfrm>
            <a:off x="8165750" y="2210275"/>
            <a:ext cx="948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3.7 cm</a:t>
            </a:r>
            <a:endParaRPr sz="1800">
              <a:solidFill>
                <a:srgbClr val="000000"/>
              </a:solidFill>
              <a:latin typeface="Lexend"/>
              <a:ea typeface="Lexend"/>
              <a:cs typeface="Lexend"/>
              <a:sym typeface="Lexend"/>
            </a:endParaRPr>
          </a:p>
        </p:txBody>
      </p:sp>
      <p:sp>
        <p:nvSpPr>
          <p:cNvPr id="973" name="Google Shape;973;p84"/>
          <p:cNvSpPr txBox="1"/>
          <p:nvPr/>
        </p:nvSpPr>
        <p:spPr>
          <a:xfrm>
            <a:off x="6487425" y="1300525"/>
            <a:ext cx="727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8.4 cm</a:t>
            </a:r>
            <a:endParaRPr sz="1800">
              <a:solidFill>
                <a:srgbClr val="000000"/>
              </a:solidFill>
              <a:latin typeface="Lexend"/>
              <a:ea typeface="Lexend"/>
              <a:cs typeface="Lexend"/>
              <a:sym typeface="Lexend"/>
            </a:endParaRPr>
          </a:p>
        </p:txBody>
      </p:sp>
      <p:sp>
        <p:nvSpPr>
          <p:cNvPr id="974" name="Google Shape;974;p84"/>
          <p:cNvSpPr txBox="1"/>
          <p:nvPr>
            <p:ph idx="1" type="body"/>
          </p:nvPr>
        </p:nvSpPr>
        <p:spPr>
          <a:xfrm>
            <a:off x="324000" y="1705950"/>
            <a:ext cx="4959000" cy="30681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a:t>Area	= 8.4 × 3.7 </a:t>
            </a:r>
            <a:endParaRPr/>
          </a:p>
          <a:p>
            <a:pPr indent="0" lvl="0" marL="0" rtl="0" algn="l">
              <a:lnSpc>
                <a:spcPct val="115000"/>
              </a:lnSpc>
              <a:spcBef>
                <a:spcPts val="1000"/>
              </a:spcBef>
              <a:spcAft>
                <a:spcPts val="0"/>
              </a:spcAft>
              <a:buNone/>
            </a:pPr>
            <a:r>
              <a:rPr lang="en-GB"/>
              <a:t>		= 31.08</a:t>
            </a:r>
            <a:endParaRPr/>
          </a:p>
          <a:p>
            <a:pPr indent="0" lvl="0" marL="0" rtl="0" algn="l">
              <a:lnSpc>
                <a:spcPct val="115000"/>
              </a:lnSpc>
              <a:spcBef>
                <a:spcPts val="1000"/>
              </a:spcBef>
              <a:spcAft>
                <a:spcPts val="0"/>
              </a:spcAft>
              <a:buNone/>
            </a:pPr>
            <a:r>
              <a:rPr lang="en-GB"/>
              <a:t>		= 31.1 cm</a:t>
            </a:r>
            <a:r>
              <a:rPr baseline="30000" lang="en-GB"/>
              <a:t>2</a:t>
            </a:r>
            <a:r>
              <a:rPr lang="en-GB"/>
              <a:t> (to 1 d.p.)</a:t>
            </a:r>
            <a:endParaRPr/>
          </a:p>
          <a:p>
            <a:pPr indent="0" lvl="0" marL="0" rtl="0" algn="l">
              <a:lnSpc>
                <a:spcPct val="115000"/>
              </a:lnSpc>
              <a:spcBef>
                <a:spcPts val="1000"/>
              </a:spcBef>
              <a:spcAft>
                <a:spcPts val="0"/>
              </a:spcAft>
              <a:buNone/>
            </a:pPr>
            <a:r>
              <a:rPr lang="en-GB"/>
              <a:t>Perimeter		= 2(8.4 + 3.7)</a:t>
            </a:r>
            <a:endParaRPr/>
          </a:p>
          <a:p>
            <a:pPr indent="0" lvl="0" marL="0" rtl="0" algn="l">
              <a:lnSpc>
                <a:spcPct val="115000"/>
              </a:lnSpc>
              <a:spcBef>
                <a:spcPts val="1000"/>
              </a:spcBef>
              <a:spcAft>
                <a:spcPts val="0"/>
              </a:spcAft>
              <a:buNone/>
            </a:pPr>
            <a:r>
              <a:rPr lang="en-GB"/>
              <a:t>				= 2 × 12.1</a:t>
            </a:r>
            <a:endParaRPr/>
          </a:p>
          <a:p>
            <a:pPr indent="0" lvl="0" marL="0" rtl="0" algn="l">
              <a:lnSpc>
                <a:spcPct val="115000"/>
              </a:lnSpc>
              <a:spcBef>
                <a:spcPts val="1000"/>
              </a:spcBef>
              <a:spcAft>
                <a:spcPts val="0"/>
              </a:spcAft>
              <a:buNone/>
            </a:pPr>
            <a:r>
              <a:rPr lang="en-GB"/>
              <a:t>				= 24.2 cm</a:t>
            </a:r>
            <a:endParaRPr/>
          </a:p>
          <a:p>
            <a:pPr indent="0" lvl="0" marL="0" rtl="0" algn="l">
              <a:lnSpc>
                <a:spcPct val="115000"/>
              </a:lnSpc>
              <a:spcBef>
                <a:spcPts val="1000"/>
              </a:spcBef>
              <a:spcAft>
                <a:spcPts val="1000"/>
              </a:spcAft>
              <a:buNone/>
            </a:pPr>
            <a:r>
              <a:t/>
            </a:r>
            <a:endParaRPr/>
          </a:p>
        </p:txBody>
      </p:sp>
      <p:cxnSp>
        <p:nvCxnSpPr>
          <p:cNvPr id="975" name="Google Shape;975;p84"/>
          <p:cNvCxnSpPr/>
          <p:nvPr/>
        </p:nvCxnSpPr>
        <p:spPr>
          <a:xfrm>
            <a:off x="5687625" y="1620000"/>
            <a:ext cx="2326800" cy="0"/>
          </a:xfrm>
          <a:prstGeom prst="straightConnector1">
            <a:avLst/>
          </a:prstGeom>
          <a:noFill/>
          <a:ln cap="flat" cmpd="sng" w="19050">
            <a:solidFill>
              <a:schemeClr val="dk1"/>
            </a:solidFill>
            <a:prstDash val="solid"/>
            <a:round/>
            <a:headEnd len="med" w="med" type="triangle"/>
            <a:tailEnd len="med" w="med" type="triangle"/>
          </a:ln>
        </p:spPr>
      </p:cxnSp>
      <p:cxnSp>
        <p:nvCxnSpPr>
          <p:cNvPr id="976" name="Google Shape;976;p84"/>
          <p:cNvCxnSpPr/>
          <p:nvPr/>
        </p:nvCxnSpPr>
        <p:spPr>
          <a:xfrm>
            <a:off x="8114700" y="1711800"/>
            <a:ext cx="0" cy="1368000"/>
          </a:xfrm>
          <a:prstGeom prst="straightConnector1">
            <a:avLst/>
          </a:prstGeom>
          <a:noFill/>
          <a:ln cap="flat" cmpd="sng" w="19050">
            <a:solidFill>
              <a:schemeClr val="dk1"/>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4">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a:t>
            </a:r>
            <a:r>
              <a:rPr lang="en-GB"/>
              <a:t>nswers to an appropriate degree of accuracy</a:t>
            </a:r>
            <a:endParaRPr/>
          </a:p>
        </p:txBody>
      </p:sp>
      <p:sp>
        <p:nvSpPr>
          <p:cNvPr id="982" name="Google Shape;982;p85"/>
          <p:cNvSpPr txBox="1"/>
          <p:nvPr>
            <p:ph idx="1" type="body"/>
          </p:nvPr>
        </p:nvSpPr>
        <p:spPr>
          <a:xfrm>
            <a:off x="324000" y="651870"/>
            <a:ext cx="8237700" cy="11406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None/>
            </a:pPr>
            <a:r>
              <a:rPr lang="en-GB"/>
              <a:t>The </a:t>
            </a:r>
            <a:r>
              <a:rPr lang="en-GB"/>
              <a:t>exchange</a:t>
            </a:r>
            <a:r>
              <a:rPr lang="en-GB"/>
              <a:t> rate of pounds to </a:t>
            </a:r>
            <a:r>
              <a:rPr lang="en-GB"/>
              <a:t>euros</a:t>
            </a:r>
            <a:r>
              <a:rPr lang="en-GB"/>
              <a:t> is £1 : €1.16</a:t>
            </a:r>
            <a:endParaRPr/>
          </a:p>
          <a:p>
            <a:pPr indent="0" lvl="0" marL="0" rtl="0" algn="l">
              <a:lnSpc>
                <a:spcPct val="80000"/>
              </a:lnSpc>
              <a:spcBef>
                <a:spcPts val="1000"/>
              </a:spcBef>
              <a:spcAft>
                <a:spcPts val="0"/>
              </a:spcAft>
              <a:buNone/>
            </a:pPr>
            <a:r>
              <a:rPr lang="en-GB"/>
              <a:t>Convert the price of ice-cream into pounds.</a:t>
            </a:r>
            <a:endParaRPr/>
          </a:p>
          <a:p>
            <a:pPr indent="0" lvl="0" marL="0" rtl="0" algn="l">
              <a:lnSpc>
                <a:spcPct val="80000"/>
              </a:lnSpc>
              <a:spcBef>
                <a:spcPts val="1000"/>
              </a:spcBef>
              <a:spcAft>
                <a:spcPts val="1000"/>
              </a:spcAft>
              <a:buNone/>
            </a:pPr>
            <a:r>
              <a:rPr lang="en-GB"/>
              <a:t>Give your answer to an appropriate degree of accuracy.</a:t>
            </a:r>
            <a:endParaRPr/>
          </a:p>
        </p:txBody>
      </p:sp>
      <p:pic>
        <p:nvPicPr>
          <p:cNvPr id="983" name="Google Shape;983;p85"/>
          <p:cNvPicPr preferRelativeResize="0"/>
          <p:nvPr/>
        </p:nvPicPr>
        <p:blipFill>
          <a:blip r:embed="rId3">
            <a:alphaModFix/>
          </a:blip>
          <a:stretch>
            <a:fillRect/>
          </a:stretch>
        </p:blipFill>
        <p:spPr>
          <a:xfrm>
            <a:off x="8092130" y="795720"/>
            <a:ext cx="690440" cy="1473825"/>
          </a:xfrm>
          <a:prstGeom prst="rect">
            <a:avLst/>
          </a:prstGeom>
          <a:noFill/>
          <a:ln>
            <a:noFill/>
          </a:ln>
        </p:spPr>
      </p:pic>
      <p:sp>
        <p:nvSpPr>
          <p:cNvPr id="984" name="Google Shape;984;p85"/>
          <p:cNvSpPr/>
          <p:nvPr/>
        </p:nvSpPr>
        <p:spPr>
          <a:xfrm rot="-1253945">
            <a:off x="6982939" y="1881029"/>
            <a:ext cx="1337172" cy="625573"/>
          </a:xfrm>
          <a:prstGeom prst="homePlate">
            <a:avLst>
              <a:gd fmla="val 50000" name="adj"/>
            </a:avLst>
          </a:prstGeom>
          <a:solidFill>
            <a:schemeClr val="lt2"/>
          </a:solidFill>
          <a:ln cap="flat" cmpd="sng" w="38100">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15000"/>
              </a:lnSpc>
              <a:spcBef>
                <a:spcPts val="0"/>
              </a:spcBef>
              <a:spcAft>
                <a:spcPts val="1000"/>
              </a:spcAft>
              <a:buNone/>
            </a:pPr>
            <a:r>
              <a:rPr lang="en-GB" sz="2200">
                <a:solidFill>
                  <a:schemeClr val="dk1"/>
                </a:solidFill>
                <a:latin typeface="Lexend"/>
                <a:ea typeface="Lexend"/>
                <a:cs typeface="Lexend"/>
                <a:sym typeface="Lexend"/>
              </a:rPr>
              <a:t>€2.20</a:t>
            </a:r>
            <a:endParaRPr>
              <a:latin typeface="Lexend"/>
              <a:ea typeface="Lexend"/>
              <a:cs typeface="Lexend"/>
              <a:sym typeface="Lexend"/>
            </a:endParaRPr>
          </a:p>
        </p:txBody>
      </p:sp>
      <p:graphicFrame>
        <p:nvGraphicFramePr>
          <p:cNvPr id="985" name="Google Shape;985;p85"/>
          <p:cNvGraphicFramePr/>
          <p:nvPr/>
        </p:nvGraphicFramePr>
        <p:xfrm>
          <a:off x="2988720" y="1824308"/>
          <a:ext cx="3000000" cy="3000000"/>
        </p:xfrm>
        <a:graphic>
          <a:graphicData uri="http://schemas.openxmlformats.org/drawingml/2006/table">
            <a:tbl>
              <a:tblPr>
                <a:noFill/>
                <a:tableStyleId>{8F0EA7B0-5CE6-43D2-91B7-8B6C7CCF27BC}</a:tableStyleId>
              </a:tblPr>
              <a:tblGrid>
                <a:gridCol w="1571275"/>
                <a:gridCol w="1571275"/>
              </a:tblGrid>
              <a:tr h="381000">
                <a:tc>
                  <a:txBody>
                    <a:bodyPr/>
                    <a:lstStyle/>
                    <a:p>
                      <a:pPr indent="0" lvl="0" marL="0" rtl="0" algn="ctr">
                        <a:spcBef>
                          <a:spcPts val="0"/>
                        </a:spcBef>
                        <a:spcAft>
                          <a:spcPts val="0"/>
                        </a:spcAft>
                        <a:buNone/>
                      </a:pPr>
                      <a:r>
                        <a:rPr lang="en-GB" sz="2200">
                          <a:solidFill>
                            <a:schemeClr val="lt1"/>
                          </a:solidFill>
                          <a:latin typeface="Lexend"/>
                          <a:ea typeface="Lexend"/>
                          <a:cs typeface="Lexend"/>
                          <a:sym typeface="Lexend"/>
                        </a:rPr>
                        <a:t>£</a:t>
                      </a:r>
                      <a:endParaRPr sz="2200">
                        <a:solidFill>
                          <a:schemeClr val="lt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5"/>
                    </a:solidFill>
                  </a:tcPr>
                </a:tc>
                <a:tc>
                  <a:txBody>
                    <a:bodyPr/>
                    <a:lstStyle/>
                    <a:p>
                      <a:pPr indent="0" lvl="0" marL="0" rtl="0" algn="ctr">
                        <a:lnSpc>
                          <a:spcPct val="80000"/>
                        </a:lnSpc>
                        <a:spcBef>
                          <a:spcPts val="0"/>
                        </a:spcBef>
                        <a:spcAft>
                          <a:spcPts val="1000"/>
                        </a:spcAft>
                        <a:buClr>
                          <a:schemeClr val="dk1"/>
                        </a:buClr>
                        <a:buSzPts val="1100"/>
                        <a:buFont typeface="Arial"/>
                        <a:buNone/>
                      </a:pPr>
                      <a:r>
                        <a:rPr lang="en-GB" sz="2200">
                          <a:solidFill>
                            <a:schemeClr val="lt1"/>
                          </a:solidFill>
                          <a:latin typeface="Lexend"/>
                          <a:ea typeface="Lexend"/>
                          <a:cs typeface="Lexend"/>
                          <a:sym typeface="Lexend"/>
                        </a:rPr>
                        <a:t>€</a:t>
                      </a:r>
                      <a:endParaRPr sz="2200">
                        <a:solidFill>
                          <a:schemeClr val="lt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5"/>
                    </a:solidFill>
                  </a:tcPr>
                </a:tc>
              </a:tr>
              <a:tr h="381000">
                <a:tc>
                  <a:txBody>
                    <a:bodyPr/>
                    <a:lstStyle/>
                    <a:p>
                      <a:pPr indent="0" lvl="0" marL="0" rtl="0" algn="ctr">
                        <a:spcBef>
                          <a:spcPts val="0"/>
                        </a:spcBef>
                        <a:spcAft>
                          <a:spcPts val="0"/>
                        </a:spcAft>
                        <a:buNone/>
                      </a:pPr>
                      <a:r>
                        <a:rPr lang="en-GB" sz="2200">
                          <a:latin typeface="Lexend"/>
                          <a:ea typeface="Lexend"/>
                          <a:cs typeface="Lexend"/>
                          <a:sym typeface="Lexend"/>
                        </a:rPr>
                        <a:t>1</a:t>
                      </a:r>
                      <a:endParaRPr sz="22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1.16</a:t>
                      </a:r>
                      <a:endParaRPr sz="22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2.20</a:t>
                      </a:r>
                      <a:endParaRPr sz="22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986" name="Google Shape;986;p85"/>
          <p:cNvGraphicFramePr/>
          <p:nvPr/>
        </p:nvGraphicFramePr>
        <p:xfrm>
          <a:off x="2988720" y="1824308"/>
          <a:ext cx="3000000" cy="3000000"/>
        </p:xfrm>
        <a:graphic>
          <a:graphicData uri="http://schemas.openxmlformats.org/drawingml/2006/table">
            <a:tbl>
              <a:tblPr>
                <a:noFill/>
                <a:tableStyleId>{8F0EA7B0-5CE6-43D2-91B7-8B6C7CCF27BC}</a:tableStyleId>
              </a:tblPr>
              <a:tblGrid>
                <a:gridCol w="1571275"/>
                <a:gridCol w="1571275"/>
              </a:tblGrid>
              <a:tr h="381000">
                <a:tc>
                  <a:txBody>
                    <a:bodyPr/>
                    <a:lstStyle/>
                    <a:p>
                      <a:pPr indent="0" lvl="0" marL="0" rtl="0" algn="ctr">
                        <a:spcBef>
                          <a:spcPts val="0"/>
                        </a:spcBef>
                        <a:spcAft>
                          <a:spcPts val="0"/>
                        </a:spcAft>
                        <a:buNone/>
                      </a:pPr>
                      <a:r>
                        <a:rPr lang="en-GB" sz="2200">
                          <a:solidFill>
                            <a:schemeClr val="lt1"/>
                          </a:solidFill>
                          <a:latin typeface="Lexend"/>
                          <a:ea typeface="Lexend"/>
                          <a:cs typeface="Lexend"/>
                          <a:sym typeface="Lexend"/>
                        </a:rPr>
                        <a:t>£</a:t>
                      </a:r>
                      <a:endParaRPr sz="2200">
                        <a:solidFill>
                          <a:schemeClr val="lt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5"/>
                    </a:solidFill>
                  </a:tcPr>
                </a:tc>
                <a:tc>
                  <a:txBody>
                    <a:bodyPr/>
                    <a:lstStyle/>
                    <a:p>
                      <a:pPr indent="0" lvl="0" marL="0" rtl="0" algn="ctr">
                        <a:lnSpc>
                          <a:spcPct val="80000"/>
                        </a:lnSpc>
                        <a:spcBef>
                          <a:spcPts val="0"/>
                        </a:spcBef>
                        <a:spcAft>
                          <a:spcPts val="1000"/>
                        </a:spcAft>
                        <a:buClr>
                          <a:schemeClr val="dk1"/>
                        </a:buClr>
                        <a:buSzPts val="1100"/>
                        <a:buFont typeface="Arial"/>
                        <a:buNone/>
                      </a:pPr>
                      <a:r>
                        <a:rPr lang="en-GB" sz="2200">
                          <a:solidFill>
                            <a:schemeClr val="lt1"/>
                          </a:solidFill>
                          <a:latin typeface="Lexend"/>
                          <a:ea typeface="Lexend"/>
                          <a:cs typeface="Lexend"/>
                          <a:sym typeface="Lexend"/>
                        </a:rPr>
                        <a:t>€</a:t>
                      </a:r>
                      <a:endParaRPr sz="2200">
                        <a:solidFill>
                          <a:schemeClr val="lt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5"/>
                    </a:solidFill>
                  </a:tcPr>
                </a:tc>
              </a:tr>
              <a:tr h="381000">
                <a:tc>
                  <a:txBody>
                    <a:bodyPr/>
                    <a:lstStyle/>
                    <a:p>
                      <a:pPr indent="0" lvl="0" marL="0" rtl="0" algn="ctr">
                        <a:spcBef>
                          <a:spcPts val="0"/>
                        </a:spcBef>
                        <a:spcAft>
                          <a:spcPts val="0"/>
                        </a:spcAft>
                        <a:buNone/>
                      </a:pPr>
                      <a:r>
                        <a:rPr lang="en-GB" sz="2200">
                          <a:latin typeface="Lexend"/>
                          <a:ea typeface="Lexend"/>
                          <a:cs typeface="Lexend"/>
                          <a:sym typeface="Lexend"/>
                        </a:rPr>
                        <a:t>1</a:t>
                      </a:r>
                      <a:endParaRPr sz="22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1.16</a:t>
                      </a:r>
                      <a:endParaRPr sz="22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2200">
                          <a:latin typeface="Kalam"/>
                          <a:ea typeface="Kalam"/>
                          <a:cs typeface="Kalam"/>
                          <a:sym typeface="Kalam"/>
                        </a:rPr>
                        <a:t>1.90</a:t>
                      </a:r>
                      <a:endParaRPr sz="2200">
                        <a:latin typeface="Kalam"/>
                        <a:ea typeface="Kalam"/>
                        <a:cs typeface="Kalam"/>
                        <a:sym typeface="Kala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2.20</a:t>
                      </a:r>
                      <a:endParaRPr sz="22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987" name="Google Shape;987;p85"/>
          <p:cNvSpPr txBox="1"/>
          <p:nvPr/>
        </p:nvSpPr>
        <p:spPr>
          <a:xfrm>
            <a:off x="4210334" y="2174546"/>
            <a:ext cx="699300" cy="277200"/>
          </a:xfrm>
          <a:prstGeom prst="rect">
            <a:avLst/>
          </a:prstGeom>
          <a:solidFill>
            <a:srgbClr val="E6F2F2"/>
          </a:solidFill>
          <a:ln>
            <a:noFill/>
          </a:ln>
        </p:spPr>
        <p:txBody>
          <a:bodyPr anchorCtr="0" anchor="t" bIns="0" lIns="0" spcFirstLastPara="1" rIns="0" wrap="square" tIns="0">
            <a:spAutoFit/>
          </a:bodyPr>
          <a:lstStyle/>
          <a:p>
            <a:pPr indent="0" lvl="0" marL="0" rtl="0" algn="ctr">
              <a:lnSpc>
                <a:spcPct val="115000"/>
              </a:lnSpc>
              <a:spcBef>
                <a:spcPts val="0"/>
              </a:spcBef>
              <a:spcAft>
                <a:spcPts val="1000"/>
              </a:spcAft>
              <a:buNone/>
            </a:pPr>
            <a:r>
              <a:rPr lang="en-GB" sz="1800">
                <a:solidFill>
                  <a:srgbClr val="000000"/>
                </a:solidFill>
                <a:latin typeface="Lexend"/>
                <a:ea typeface="Lexend"/>
                <a:cs typeface="Lexend"/>
                <a:sym typeface="Lexend"/>
              </a:rPr>
              <a:t>× 1.</a:t>
            </a:r>
            <a:r>
              <a:rPr lang="en-GB" sz="1800">
                <a:latin typeface="Lexend"/>
                <a:ea typeface="Lexend"/>
                <a:cs typeface="Lexend"/>
                <a:sym typeface="Lexend"/>
              </a:rPr>
              <a:t>16</a:t>
            </a:r>
            <a:endParaRPr sz="1800">
              <a:solidFill>
                <a:srgbClr val="000000"/>
              </a:solidFill>
              <a:latin typeface="Lexend"/>
              <a:ea typeface="Lexend"/>
              <a:cs typeface="Lexend"/>
              <a:sym typeface="Lexend"/>
            </a:endParaRPr>
          </a:p>
        </p:txBody>
      </p:sp>
      <p:cxnSp>
        <p:nvCxnSpPr>
          <p:cNvPr id="988" name="Google Shape;988;p85"/>
          <p:cNvCxnSpPr/>
          <p:nvPr/>
        </p:nvCxnSpPr>
        <p:spPr>
          <a:xfrm>
            <a:off x="4267795" y="2609133"/>
            <a:ext cx="549600" cy="0"/>
          </a:xfrm>
          <a:prstGeom prst="straightConnector1">
            <a:avLst/>
          </a:prstGeom>
          <a:noFill/>
          <a:ln cap="flat" cmpd="sng" w="38100">
            <a:solidFill>
              <a:srgbClr val="037B7D"/>
            </a:solidFill>
            <a:prstDash val="solid"/>
            <a:round/>
            <a:headEnd len="med" w="med" type="none"/>
            <a:tailEnd len="med" w="med" type="triangle"/>
          </a:ln>
        </p:spPr>
      </p:cxnSp>
      <p:cxnSp>
        <p:nvCxnSpPr>
          <p:cNvPr id="989" name="Google Shape;989;p85"/>
          <p:cNvCxnSpPr/>
          <p:nvPr/>
        </p:nvCxnSpPr>
        <p:spPr>
          <a:xfrm rot="10800000">
            <a:off x="4273920" y="3170758"/>
            <a:ext cx="558600" cy="10800"/>
          </a:xfrm>
          <a:prstGeom prst="straightConnector1">
            <a:avLst/>
          </a:prstGeom>
          <a:noFill/>
          <a:ln cap="flat" cmpd="sng" w="38100">
            <a:solidFill>
              <a:srgbClr val="037B7D"/>
            </a:solidFill>
            <a:prstDash val="solid"/>
            <a:round/>
            <a:headEnd len="med" w="med" type="none"/>
            <a:tailEnd len="med" w="med" type="triangle"/>
          </a:ln>
        </p:spPr>
      </p:cxnSp>
      <p:sp>
        <p:nvSpPr>
          <p:cNvPr id="990" name="Google Shape;990;p85"/>
          <p:cNvSpPr txBox="1"/>
          <p:nvPr/>
        </p:nvSpPr>
        <p:spPr>
          <a:xfrm>
            <a:off x="4210334" y="2791833"/>
            <a:ext cx="699300" cy="277200"/>
          </a:xfrm>
          <a:prstGeom prst="rect">
            <a:avLst/>
          </a:prstGeom>
          <a:solidFill>
            <a:srgbClr val="E6F2F2"/>
          </a:solidFill>
          <a:ln>
            <a:noFill/>
          </a:ln>
        </p:spPr>
        <p:txBody>
          <a:bodyPr anchorCtr="0" anchor="t" bIns="0" lIns="0" spcFirstLastPara="1" rIns="0" wrap="square" tIns="0">
            <a:spAutoFit/>
          </a:bodyPr>
          <a:lstStyle/>
          <a:p>
            <a:pPr indent="0" lvl="0" marL="0" rtl="0" algn="ctr">
              <a:lnSpc>
                <a:spcPct val="115000"/>
              </a:lnSpc>
              <a:spcBef>
                <a:spcPts val="0"/>
              </a:spcBef>
              <a:spcAft>
                <a:spcPts val="1000"/>
              </a:spcAft>
              <a:buNone/>
            </a:pPr>
            <a:r>
              <a:rPr lang="en-GB" sz="1800">
                <a:solidFill>
                  <a:srgbClr val="000000"/>
                </a:solidFill>
                <a:latin typeface="Lexend"/>
                <a:ea typeface="Lexend"/>
                <a:cs typeface="Lexend"/>
                <a:sym typeface="Lexend"/>
              </a:rPr>
              <a:t>÷ 1.</a:t>
            </a:r>
            <a:r>
              <a:rPr lang="en-GB" sz="1800">
                <a:latin typeface="Lexend"/>
                <a:ea typeface="Lexend"/>
                <a:cs typeface="Lexend"/>
                <a:sym typeface="Lexend"/>
              </a:rPr>
              <a:t>16</a:t>
            </a:r>
            <a:endParaRPr sz="1800">
              <a:solidFill>
                <a:srgbClr val="000000"/>
              </a:solidFill>
              <a:latin typeface="Lexend"/>
              <a:ea typeface="Lexend"/>
              <a:cs typeface="Lexend"/>
              <a:sym typeface="Lexend"/>
            </a:endParaRPr>
          </a:p>
        </p:txBody>
      </p:sp>
      <p:pic>
        <p:nvPicPr>
          <p:cNvPr id="991" name="Google Shape;991;p85"/>
          <p:cNvPicPr preferRelativeResize="0"/>
          <p:nvPr/>
        </p:nvPicPr>
        <p:blipFill>
          <a:blip r:embed="rId4">
            <a:alphaModFix/>
          </a:blip>
          <a:stretch>
            <a:fillRect/>
          </a:stretch>
        </p:blipFill>
        <p:spPr>
          <a:xfrm>
            <a:off x="324000" y="2004238"/>
            <a:ext cx="2815356" cy="1302975"/>
          </a:xfrm>
          <a:prstGeom prst="rect">
            <a:avLst/>
          </a:prstGeom>
          <a:noFill/>
          <a:ln>
            <a:noFill/>
          </a:ln>
        </p:spPr>
      </p:pic>
      <p:sp>
        <p:nvSpPr>
          <p:cNvPr id="992" name="Google Shape;992;p85"/>
          <p:cNvSpPr txBox="1"/>
          <p:nvPr>
            <p:ph idx="1" type="body"/>
          </p:nvPr>
        </p:nvSpPr>
        <p:spPr>
          <a:xfrm>
            <a:off x="324000" y="3776072"/>
            <a:ext cx="8237700" cy="4440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None/>
            </a:pPr>
            <a:r>
              <a:rPr lang="en-GB">
                <a:latin typeface="Kalam"/>
                <a:ea typeface="Kalam"/>
                <a:cs typeface="Kalam"/>
                <a:sym typeface="Kalam"/>
              </a:rPr>
              <a:t>Since we are talking about an amount of money, the appropriate degree of accuracy would be 2 decimal places.</a:t>
            </a:r>
            <a:endParaRPr>
              <a:latin typeface="Kalam"/>
              <a:ea typeface="Kalam"/>
              <a:cs typeface="Kalam"/>
              <a:sym typeface="Kalam"/>
            </a:endParaRPr>
          </a:p>
          <a:p>
            <a:pPr indent="0" lvl="0" marL="0" rtl="0" algn="l">
              <a:lnSpc>
                <a:spcPct val="80000"/>
              </a:lnSpc>
              <a:spcBef>
                <a:spcPts val="1000"/>
              </a:spcBef>
              <a:spcAft>
                <a:spcPts val="1000"/>
              </a:spcAft>
              <a:buNone/>
            </a:pPr>
            <a:r>
              <a:rPr lang="en-GB">
                <a:latin typeface="Kalam"/>
                <a:ea typeface="Kalam"/>
                <a:cs typeface="Kalam"/>
                <a:sym typeface="Kalam"/>
              </a:rPr>
              <a:t>The equivalent cost of the ice-cream in </a:t>
            </a:r>
            <a:r>
              <a:rPr lang="en-GB">
                <a:latin typeface="Kalam"/>
                <a:ea typeface="Kalam"/>
                <a:cs typeface="Kalam"/>
                <a:sym typeface="Kalam"/>
              </a:rPr>
              <a:t>pounds is £1.90</a:t>
            </a:r>
            <a:endParaRPr>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9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a:t>
            </a:r>
            <a:r>
              <a:rPr lang="en-GB"/>
              <a:t>nswers to an appropriate degree of accuracy</a:t>
            </a:r>
            <a:endParaRPr/>
          </a:p>
        </p:txBody>
      </p:sp>
      <p:sp>
        <p:nvSpPr>
          <p:cNvPr id="998" name="Google Shape;998;p86"/>
          <p:cNvSpPr txBox="1"/>
          <p:nvPr>
            <p:ph idx="1" type="body"/>
          </p:nvPr>
        </p:nvSpPr>
        <p:spPr>
          <a:xfrm>
            <a:off x="324000" y="759300"/>
            <a:ext cx="5932800" cy="366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Andeep is helping his uncle work out how many boxes of grass seed are needed to cover this piece of his garden.</a:t>
            </a:r>
            <a:endParaRPr/>
          </a:p>
          <a:p>
            <a:pPr indent="0" lvl="0" marL="0" rtl="0" algn="l">
              <a:spcBef>
                <a:spcPts val="1000"/>
              </a:spcBef>
              <a:spcAft>
                <a:spcPts val="0"/>
              </a:spcAft>
              <a:buNone/>
            </a:pPr>
            <a:r>
              <a:rPr lang="en-GB"/>
              <a:t>1 box of grass seed covers approximately 10 m</a:t>
            </a:r>
            <a:r>
              <a:rPr baseline="30000" lang="en-GB"/>
              <a:t>2</a:t>
            </a:r>
            <a:r>
              <a:rPr lang="en-GB"/>
              <a:t> and costs £7.</a:t>
            </a:r>
            <a:endParaRPr/>
          </a:p>
          <a:p>
            <a:pPr indent="0" lvl="0" marL="0" rtl="0" algn="l">
              <a:spcBef>
                <a:spcPts val="1000"/>
              </a:spcBef>
              <a:spcAft>
                <a:spcPts val="0"/>
              </a:spcAft>
              <a:buNone/>
            </a:pPr>
            <a:r>
              <a:rPr lang="en-GB"/>
              <a:t>How many boxes do they need?</a:t>
            </a:r>
            <a:endParaRPr/>
          </a:p>
          <a:p>
            <a:pPr indent="0" lvl="0" marL="0" rtl="0" algn="l">
              <a:spcBef>
                <a:spcPts val="1000"/>
              </a:spcBef>
              <a:spcAft>
                <a:spcPts val="1000"/>
              </a:spcAft>
              <a:buNone/>
            </a:pPr>
            <a:r>
              <a:rPr lang="en-GB"/>
              <a:t>Firstly we need to calculate the area of the garden.</a:t>
            </a:r>
            <a:endParaRPr/>
          </a:p>
        </p:txBody>
      </p:sp>
      <p:sp>
        <p:nvSpPr>
          <p:cNvPr id="999" name="Google Shape;999;p86"/>
          <p:cNvSpPr/>
          <p:nvPr/>
        </p:nvSpPr>
        <p:spPr>
          <a:xfrm>
            <a:off x="7080862" y="1053750"/>
            <a:ext cx="1485300" cy="1460100"/>
          </a:xfrm>
          <a:prstGeom prst="corner">
            <a:avLst>
              <a:gd fmla="val 50000" name="adj1"/>
              <a:gd fmla="val 50000" name="adj2"/>
            </a:avLst>
          </a:prstGeom>
          <a:solidFill>
            <a:srgbClr val="BF9000"/>
          </a:solidFill>
          <a:ln cap="flat" cmpd="sng" w="9525">
            <a:solidFill>
              <a:srgbClr val="BF9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00" name="Google Shape;1000;p86"/>
          <p:cNvSpPr txBox="1"/>
          <p:nvPr/>
        </p:nvSpPr>
        <p:spPr>
          <a:xfrm>
            <a:off x="7193250" y="660375"/>
            <a:ext cx="629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a:t>
            </a:r>
            <a:r>
              <a:rPr lang="en-GB" sz="1800">
                <a:latin typeface="Lexend"/>
                <a:ea typeface="Lexend"/>
                <a:cs typeface="Lexend"/>
                <a:sym typeface="Lexend"/>
              </a:rPr>
              <a:t>.4 m</a:t>
            </a:r>
            <a:endParaRPr sz="1800">
              <a:solidFill>
                <a:srgbClr val="000000"/>
              </a:solidFill>
              <a:latin typeface="Lexend"/>
              <a:ea typeface="Lexend"/>
              <a:cs typeface="Lexend"/>
              <a:sym typeface="Lexend"/>
            </a:endParaRPr>
          </a:p>
        </p:txBody>
      </p:sp>
      <p:sp>
        <p:nvSpPr>
          <p:cNvPr id="1001" name="Google Shape;1001;p86"/>
          <p:cNvSpPr txBox="1"/>
          <p:nvPr/>
        </p:nvSpPr>
        <p:spPr>
          <a:xfrm>
            <a:off x="6353362" y="1645200"/>
            <a:ext cx="727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4.8</a:t>
            </a:r>
            <a:r>
              <a:rPr lang="en-GB" sz="1800">
                <a:latin typeface="Lexend"/>
                <a:ea typeface="Lexend"/>
                <a:cs typeface="Lexend"/>
                <a:sym typeface="Lexend"/>
              </a:rPr>
              <a:t> m</a:t>
            </a:r>
            <a:endParaRPr sz="1800">
              <a:solidFill>
                <a:srgbClr val="000000"/>
              </a:solidFill>
              <a:latin typeface="Lexend"/>
              <a:ea typeface="Lexend"/>
              <a:cs typeface="Lexend"/>
              <a:sym typeface="Lexend"/>
            </a:endParaRPr>
          </a:p>
        </p:txBody>
      </p:sp>
      <p:cxnSp>
        <p:nvCxnSpPr>
          <p:cNvPr id="1002" name="Google Shape;1002;p86"/>
          <p:cNvCxnSpPr/>
          <p:nvPr/>
        </p:nvCxnSpPr>
        <p:spPr>
          <a:xfrm>
            <a:off x="7717299" y="1410000"/>
            <a:ext cx="212400" cy="0"/>
          </a:xfrm>
          <a:prstGeom prst="straightConnector1">
            <a:avLst/>
          </a:prstGeom>
          <a:noFill/>
          <a:ln cap="flat" cmpd="sng" w="38100">
            <a:solidFill>
              <a:schemeClr val="dk1"/>
            </a:solidFill>
            <a:prstDash val="solid"/>
            <a:round/>
            <a:headEnd len="med" w="med" type="none"/>
            <a:tailEnd len="med" w="med" type="none"/>
          </a:ln>
        </p:spPr>
      </p:cxnSp>
      <p:cxnSp>
        <p:nvCxnSpPr>
          <p:cNvPr id="1003" name="Google Shape;1003;p86"/>
          <p:cNvCxnSpPr/>
          <p:nvPr/>
        </p:nvCxnSpPr>
        <p:spPr>
          <a:xfrm>
            <a:off x="8453646" y="2160000"/>
            <a:ext cx="212400" cy="0"/>
          </a:xfrm>
          <a:prstGeom prst="straightConnector1">
            <a:avLst/>
          </a:prstGeom>
          <a:noFill/>
          <a:ln cap="flat" cmpd="sng" w="38100">
            <a:solidFill>
              <a:schemeClr val="dk1"/>
            </a:solidFill>
            <a:prstDash val="solid"/>
            <a:round/>
            <a:headEnd len="med" w="med" type="none"/>
            <a:tailEnd len="med" w="med" type="none"/>
          </a:ln>
        </p:spPr>
      </p:cxnSp>
      <p:sp>
        <p:nvSpPr>
          <p:cNvPr id="1004" name="Google Shape;1004;p86"/>
          <p:cNvSpPr txBox="1"/>
          <p:nvPr/>
        </p:nvSpPr>
        <p:spPr>
          <a:xfrm>
            <a:off x="7955925" y="1446725"/>
            <a:ext cx="629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2.4 m</a:t>
            </a:r>
            <a:endParaRPr sz="1800">
              <a:solidFill>
                <a:srgbClr val="000000"/>
              </a:solidFill>
              <a:latin typeface="Lexend"/>
              <a:ea typeface="Lexend"/>
              <a:cs typeface="Lexend"/>
              <a:sym typeface="Lexend"/>
            </a:endParaRPr>
          </a:p>
        </p:txBody>
      </p:sp>
      <p:cxnSp>
        <p:nvCxnSpPr>
          <p:cNvPr id="1005" name="Google Shape;1005;p86"/>
          <p:cNvCxnSpPr/>
          <p:nvPr/>
        </p:nvCxnSpPr>
        <p:spPr>
          <a:xfrm>
            <a:off x="7095750" y="984450"/>
            <a:ext cx="726900" cy="0"/>
          </a:xfrm>
          <a:prstGeom prst="straightConnector1">
            <a:avLst/>
          </a:prstGeom>
          <a:noFill/>
          <a:ln cap="flat" cmpd="sng" w="19050">
            <a:solidFill>
              <a:schemeClr val="dk1"/>
            </a:solidFill>
            <a:prstDash val="solid"/>
            <a:round/>
            <a:headEnd len="med" w="med" type="triangle"/>
            <a:tailEnd len="med" w="med" type="triangle"/>
          </a:ln>
        </p:spPr>
      </p:cxnSp>
      <p:cxnSp>
        <p:nvCxnSpPr>
          <p:cNvPr id="1006" name="Google Shape;1006;p86"/>
          <p:cNvCxnSpPr/>
          <p:nvPr/>
        </p:nvCxnSpPr>
        <p:spPr>
          <a:xfrm>
            <a:off x="7019650" y="1041600"/>
            <a:ext cx="0" cy="1484400"/>
          </a:xfrm>
          <a:prstGeom prst="straightConnector1">
            <a:avLst/>
          </a:prstGeom>
          <a:noFill/>
          <a:ln cap="flat" cmpd="sng" w="19050">
            <a:solidFill>
              <a:schemeClr val="dk1"/>
            </a:solidFill>
            <a:prstDash val="solid"/>
            <a:round/>
            <a:headEnd len="med" w="med" type="triangle"/>
            <a:tailEnd len="med" w="med" type="triangle"/>
          </a:ln>
        </p:spPr>
      </p:cxnSp>
      <p:cxnSp>
        <p:nvCxnSpPr>
          <p:cNvPr id="1007" name="Google Shape;1007;p86"/>
          <p:cNvCxnSpPr/>
          <p:nvPr/>
        </p:nvCxnSpPr>
        <p:spPr>
          <a:xfrm>
            <a:off x="7841250" y="1723925"/>
            <a:ext cx="726900" cy="0"/>
          </a:xfrm>
          <a:prstGeom prst="straightConnector1">
            <a:avLst/>
          </a:prstGeom>
          <a:noFill/>
          <a:ln cap="flat" cmpd="sng" w="19050">
            <a:solidFill>
              <a:schemeClr val="dk1"/>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8">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a:t>
            </a:r>
            <a:r>
              <a:rPr lang="en-GB"/>
              <a:t>nswers to an appropriate degree of accuracy</a:t>
            </a:r>
            <a:endParaRPr/>
          </a:p>
        </p:txBody>
      </p:sp>
      <p:cxnSp>
        <p:nvCxnSpPr>
          <p:cNvPr id="1013" name="Google Shape;1013;p87"/>
          <p:cNvCxnSpPr/>
          <p:nvPr/>
        </p:nvCxnSpPr>
        <p:spPr>
          <a:xfrm>
            <a:off x="2843925" y="1399075"/>
            <a:ext cx="1587300" cy="0"/>
          </a:xfrm>
          <a:prstGeom prst="straightConnector1">
            <a:avLst/>
          </a:prstGeom>
          <a:noFill/>
          <a:ln cap="flat" cmpd="sng" w="38100">
            <a:solidFill>
              <a:schemeClr val="accent5"/>
            </a:solidFill>
            <a:prstDash val="dash"/>
            <a:round/>
            <a:headEnd len="med" w="med" type="none"/>
            <a:tailEnd len="med" w="med" type="none"/>
          </a:ln>
        </p:spPr>
      </p:cxnSp>
      <p:cxnSp>
        <p:nvCxnSpPr>
          <p:cNvPr id="1014" name="Google Shape;1014;p87"/>
          <p:cNvCxnSpPr/>
          <p:nvPr/>
        </p:nvCxnSpPr>
        <p:spPr>
          <a:xfrm rot="10800000">
            <a:off x="4431225" y="1414225"/>
            <a:ext cx="0" cy="1541400"/>
          </a:xfrm>
          <a:prstGeom prst="straightConnector1">
            <a:avLst/>
          </a:prstGeom>
          <a:noFill/>
          <a:ln cap="flat" cmpd="sng" w="38100">
            <a:solidFill>
              <a:schemeClr val="accent5"/>
            </a:solidFill>
            <a:prstDash val="dash"/>
            <a:round/>
            <a:headEnd len="med" w="med" type="none"/>
            <a:tailEnd len="med" w="med" type="none"/>
          </a:ln>
        </p:spPr>
      </p:cxnSp>
      <p:sp>
        <p:nvSpPr>
          <p:cNvPr id="1015" name="Google Shape;1015;p87"/>
          <p:cNvSpPr txBox="1"/>
          <p:nvPr/>
        </p:nvSpPr>
        <p:spPr>
          <a:xfrm>
            <a:off x="4824017" y="622800"/>
            <a:ext cx="3996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Find missing dimensions</a:t>
            </a:r>
            <a:endParaRPr sz="2200">
              <a:solidFill>
                <a:srgbClr val="000000"/>
              </a:solidFill>
              <a:latin typeface="Lexend"/>
              <a:ea typeface="Lexend"/>
              <a:cs typeface="Lexend"/>
              <a:sym typeface="Lexend"/>
            </a:endParaRPr>
          </a:p>
        </p:txBody>
      </p:sp>
      <p:sp>
        <p:nvSpPr>
          <p:cNvPr id="1016" name="Google Shape;1016;p87"/>
          <p:cNvSpPr txBox="1"/>
          <p:nvPr/>
        </p:nvSpPr>
        <p:spPr>
          <a:xfrm>
            <a:off x="4824017" y="1021925"/>
            <a:ext cx="3996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Complete the square</a:t>
            </a:r>
            <a:endParaRPr sz="2200">
              <a:solidFill>
                <a:srgbClr val="000000"/>
              </a:solidFill>
              <a:latin typeface="Lexend"/>
              <a:ea typeface="Lexend"/>
              <a:cs typeface="Lexend"/>
              <a:sym typeface="Lexend"/>
            </a:endParaRPr>
          </a:p>
        </p:txBody>
      </p:sp>
      <p:sp>
        <p:nvSpPr>
          <p:cNvPr id="1017" name="Google Shape;1017;p87"/>
          <p:cNvSpPr txBox="1"/>
          <p:nvPr/>
        </p:nvSpPr>
        <p:spPr>
          <a:xfrm>
            <a:off x="1947875" y="4550425"/>
            <a:ext cx="1842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2.4 m + 2.4 m</a:t>
            </a:r>
            <a:endParaRPr sz="2200">
              <a:solidFill>
                <a:srgbClr val="000000"/>
              </a:solidFill>
              <a:latin typeface="Kalam"/>
              <a:ea typeface="Kalam"/>
              <a:cs typeface="Kalam"/>
              <a:sym typeface="Kalam"/>
            </a:endParaRPr>
          </a:p>
        </p:txBody>
      </p:sp>
      <p:sp>
        <p:nvSpPr>
          <p:cNvPr id="1018" name="Google Shape;1018;p87"/>
          <p:cNvSpPr txBox="1"/>
          <p:nvPr/>
        </p:nvSpPr>
        <p:spPr>
          <a:xfrm>
            <a:off x="2470055" y="4550425"/>
            <a:ext cx="834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4.8 m</a:t>
            </a:r>
            <a:endParaRPr sz="2200">
              <a:solidFill>
                <a:srgbClr val="000000"/>
              </a:solidFill>
              <a:latin typeface="Kalam"/>
              <a:ea typeface="Kalam"/>
              <a:cs typeface="Kalam"/>
              <a:sym typeface="Kalam"/>
            </a:endParaRPr>
          </a:p>
        </p:txBody>
      </p:sp>
      <p:sp>
        <p:nvSpPr>
          <p:cNvPr id="1019" name="Google Shape;1019;p87"/>
          <p:cNvSpPr txBox="1"/>
          <p:nvPr/>
        </p:nvSpPr>
        <p:spPr>
          <a:xfrm>
            <a:off x="3167075" y="1979425"/>
            <a:ext cx="1842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4.8</a:t>
            </a:r>
            <a:r>
              <a:rPr lang="en-GB" sz="2200">
                <a:latin typeface="Kalam"/>
                <a:ea typeface="Kalam"/>
                <a:cs typeface="Kalam"/>
                <a:sym typeface="Kalam"/>
              </a:rPr>
              <a:t> m ÷ 2</a:t>
            </a:r>
            <a:endParaRPr sz="2200">
              <a:solidFill>
                <a:srgbClr val="000000"/>
              </a:solidFill>
              <a:latin typeface="Kalam"/>
              <a:ea typeface="Kalam"/>
              <a:cs typeface="Kalam"/>
              <a:sym typeface="Kalam"/>
            </a:endParaRPr>
          </a:p>
        </p:txBody>
      </p:sp>
      <p:sp>
        <p:nvSpPr>
          <p:cNvPr id="1020" name="Google Shape;1020;p87"/>
          <p:cNvSpPr txBox="1"/>
          <p:nvPr/>
        </p:nvSpPr>
        <p:spPr>
          <a:xfrm>
            <a:off x="3175282" y="1987862"/>
            <a:ext cx="834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2.4 m</a:t>
            </a:r>
            <a:endParaRPr sz="2200">
              <a:solidFill>
                <a:srgbClr val="000000"/>
              </a:solidFill>
              <a:latin typeface="Kalam"/>
              <a:ea typeface="Kalam"/>
              <a:cs typeface="Kalam"/>
              <a:sym typeface="Kalam"/>
            </a:endParaRPr>
          </a:p>
        </p:txBody>
      </p:sp>
      <p:sp>
        <p:nvSpPr>
          <p:cNvPr id="1021" name="Google Shape;1021;p87"/>
          <p:cNvSpPr txBox="1"/>
          <p:nvPr/>
        </p:nvSpPr>
        <p:spPr>
          <a:xfrm>
            <a:off x="4824017" y="1421050"/>
            <a:ext cx="3996000" cy="1015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Area	= 4.8 </a:t>
            </a:r>
            <a:r>
              <a:rPr lang="en-GB" sz="2200">
                <a:solidFill>
                  <a:schemeClr val="dk1"/>
                </a:solidFill>
                <a:latin typeface="Kalam"/>
                <a:ea typeface="Kalam"/>
                <a:cs typeface="Kalam"/>
                <a:sym typeface="Kalam"/>
              </a:rPr>
              <a:t>× 4.8 − 2.4 × 2.4</a:t>
            </a:r>
            <a:endParaRPr sz="2200">
              <a:solidFill>
                <a:schemeClr val="dk1"/>
              </a:solidFill>
              <a:latin typeface="Kalam"/>
              <a:ea typeface="Kalam"/>
              <a:cs typeface="Kalam"/>
              <a:sym typeface="Kalam"/>
            </a:endParaRPr>
          </a:p>
          <a:p>
            <a:pPr indent="457200" lvl="0" marL="457200" rtl="0" algn="l">
              <a:spcBef>
                <a:spcPts val="0"/>
              </a:spcBef>
              <a:spcAft>
                <a:spcPts val="0"/>
              </a:spcAft>
              <a:buNone/>
            </a:pPr>
            <a:r>
              <a:rPr lang="en-GB" sz="2200">
                <a:solidFill>
                  <a:schemeClr val="dk1"/>
                </a:solidFill>
                <a:latin typeface="Kalam"/>
                <a:ea typeface="Kalam"/>
                <a:cs typeface="Kalam"/>
                <a:sym typeface="Kalam"/>
              </a:rPr>
              <a:t>= 23.04 −  5.76</a:t>
            </a:r>
            <a:endParaRPr sz="2200">
              <a:solidFill>
                <a:schemeClr val="dk1"/>
              </a:solidFill>
              <a:latin typeface="Kalam"/>
              <a:ea typeface="Kalam"/>
              <a:cs typeface="Kalam"/>
              <a:sym typeface="Kalam"/>
            </a:endParaRPr>
          </a:p>
          <a:p>
            <a:pPr indent="457200" lvl="0" marL="457200" rtl="0" algn="l">
              <a:spcBef>
                <a:spcPts val="0"/>
              </a:spcBef>
              <a:spcAft>
                <a:spcPts val="0"/>
              </a:spcAft>
              <a:buNone/>
            </a:pPr>
            <a:r>
              <a:rPr lang="en-GB" sz="2200">
                <a:solidFill>
                  <a:schemeClr val="dk1"/>
                </a:solidFill>
                <a:latin typeface="Kalam"/>
                <a:ea typeface="Kalam"/>
                <a:cs typeface="Kalam"/>
                <a:sym typeface="Kalam"/>
              </a:rPr>
              <a:t>= 17.28 m</a:t>
            </a:r>
            <a:r>
              <a:rPr baseline="30000" lang="en-GB" sz="2200">
                <a:solidFill>
                  <a:schemeClr val="dk1"/>
                </a:solidFill>
                <a:latin typeface="Kalam"/>
                <a:ea typeface="Kalam"/>
                <a:cs typeface="Kalam"/>
                <a:sym typeface="Kalam"/>
              </a:rPr>
              <a:t>2</a:t>
            </a:r>
            <a:endParaRPr sz="2200">
              <a:solidFill>
                <a:schemeClr val="dk1"/>
              </a:solidFill>
              <a:latin typeface="Kalam"/>
              <a:ea typeface="Kalam"/>
              <a:cs typeface="Kalam"/>
              <a:sym typeface="Kalam"/>
            </a:endParaRPr>
          </a:p>
        </p:txBody>
      </p:sp>
      <p:sp>
        <p:nvSpPr>
          <p:cNvPr id="1022" name="Google Shape;1022;p87"/>
          <p:cNvSpPr txBox="1"/>
          <p:nvPr/>
        </p:nvSpPr>
        <p:spPr>
          <a:xfrm>
            <a:off x="5439099" y="2497275"/>
            <a:ext cx="3381000" cy="1939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Although this is to a greater degree of accuracy than the values in the question, we would </a:t>
            </a:r>
            <a:r>
              <a:rPr lang="en-GB" sz="1800">
                <a:solidFill>
                  <a:schemeClr val="accent5"/>
                </a:solidFill>
                <a:latin typeface="Lexend"/>
                <a:ea typeface="Lexend"/>
                <a:cs typeface="Lexend"/>
                <a:sym typeface="Lexend"/>
              </a:rPr>
              <a:t>not</a:t>
            </a:r>
            <a:r>
              <a:rPr lang="en-GB" sz="1800">
                <a:latin typeface="Lexend"/>
                <a:ea typeface="Lexend"/>
                <a:cs typeface="Lexend"/>
                <a:sym typeface="Lexend"/>
              </a:rPr>
              <a:t> round at this point.  Rounding should only take place when giving the </a:t>
            </a:r>
            <a:r>
              <a:rPr lang="en-GB" sz="1800">
                <a:solidFill>
                  <a:schemeClr val="accent5"/>
                </a:solidFill>
                <a:latin typeface="Lexend"/>
                <a:ea typeface="Lexend"/>
                <a:cs typeface="Lexend"/>
                <a:sym typeface="Lexend"/>
              </a:rPr>
              <a:t>final</a:t>
            </a:r>
            <a:r>
              <a:rPr lang="en-GB" sz="1800">
                <a:latin typeface="Lexend"/>
                <a:ea typeface="Lexend"/>
                <a:cs typeface="Lexend"/>
                <a:sym typeface="Lexend"/>
              </a:rPr>
              <a:t> answer.</a:t>
            </a:r>
            <a:endParaRPr sz="1800">
              <a:solidFill>
                <a:srgbClr val="000000"/>
              </a:solidFill>
              <a:latin typeface="Lexend"/>
              <a:ea typeface="Lexend"/>
              <a:cs typeface="Lexend"/>
              <a:sym typeface="Lexend"/>
            </a:endParaRPr>
          </a:p>
        </p:txBody>
      </p:sp>
      <p:sp>
        <p:nvSpPr>
          <p:cNvPr id="1023" name="Google Shape;1023;p87"/>
          <p:cNvSpPr txBox="1"/>
          <p:nvPr/>
        </p:nvSpPr>
        <p:spPr>
          <a:xfrm>
            <a:off x="4572007" y="3826037"/>
            <a:ext cx="834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2.4 m</a:t>
            </a:r>
            <a:endParaRPr sz="2200">
              <a:solidFill>
                <a:srgbClr val="000000"/>
              </a:solidFill>
              <a:latin typeface="Kalam"/>
              <a:ea typeface="Kalam"/>
              <a:cs typeface="Kalam"/>
              <a:sym typeface="Kalam"/>
            </a:endParaRPr>
          </a:p>
        </p:txBody>
      </p:sp>
      <p:cxnSp>
        <p:nvCxnSpPr>
          <p:cNvPr id="1024" name="Google Shape;1024;p87"/>
          <p:cNvCxnSpPr/>
          <p:nvPr/>
        </p:nvCxnSpPr>
        <p:spPr>
          <a:xfrm>
            <a:off x="1281225" y="1323750"/>
            <a:ext cx="1571400" cy="0"/>
          </a:xfrm>
          <a:prstGeom prst="straightConnector1">
            <a:avLst/>
          </a:prstGeom>
          <a:noFill/>
          <a:ln cap="flat" cmpd="sng" w="19050">
            <a:solidFill>
              <a:schemeClr val="dk1"/>
            </a:solidFill>
            <a:prstDash val="solid"/>
            <a:round/>
            <a:headEnd len="med" w="med" type="triangle"/>
            <a:tailEnd len="med" w="med" type="triangle"/>
          </a:ln>
        </p:spPr>
      </p:cxnSp>
      <p:cxnSp>
        <p:nvCxnSpPr>
          <p:cNvPr id="1025" name="Google Shape;1025;p87"/>
          <p:cNvCxnSpPr/>
          <p:nvPr/>
        </p:nvCxnSpPr>
        <p:spPr>
          <a:xfrm>
            <a:off x="1205125" y="1380900"/>
            <a:ext cx="0" cy="3125400"/>
          </a:xfrm>
          <a:prstGeom prst="straightConnector1">
            <a:avLst/>
          </a:prstGeom>
          <a:noFill/>
          <a:ln cap="flat" cmpd="sng" w="19050">
            <a:solidFill>
              <a:schemeClr val="dk1"/>
            </a:solidFill>
            <a:prstDash val="solid"/>
            <a:round/>
            <a:headEnd len="med" w="med" type="triangle"/>
            <a:tailEnd len="med" w="med" type="triangle"/>
          </a:ln>
        </p:spPr>
      </p:cxnSp>
      <p:cxnSp>
        <p:nvCxnSpPr>
          <p:cNvPr id="1026" name="Google Shape;1026;p87"/>
          <p:cNvCxnSpPr/>
          <p:nvPr/>
        </p:nvCxnSpPr>
        <p:spPr>
          <a:xfrm>
            <a:off x="2852725" y="2860325"/>
            <a:ext cx="1578600" cy="0"/>
          </a:xfrm>
          <a:prstGeom prst="straightConnector1">
            <a:avLst/>
          </a:prstGeom>
          <a:noFill/>
          <a:ln cap="flat" cmpd="sng" w="19050">
            <a:solidFill>
              <a:schemeClr val="dk1"/>
            </a:solidFill>
            <a:prstDash val="solid"/>
            <a:round/>
            <a:headEnd len="med" w="med" type="triangle"/>
            <a:tailEnd len="med" w="med" type="triangle"/>
          </a:ln>
        </p:spPr>
      </p:cxnSp>
      <p:cxnSp>
        <p:nvCxnSpPr>
          <p:cNvPr id="1027" name="Google Shape;1027;p87"/>
          <p:cNvCxnSpPr/>
          <p:nvPr/>
        </p:nvCxnSpPr>
        <p:spPr>
          <a:xfrm>
            <a:off x="1286225" y="4585425"/>
            <a:ext cx="3165600" cy="0"/>
          </a:xfrm>
          <a:prstGeom prst="straightConnector1">
            <a:avLst/>
          </a:prstGeom>
          <a:noFill/>
          <a:ln cap="flat" cmpd="sng" w="19050">
            <a:solidFill>
              <a:schemeClr val="dk1"/>
            </a:solidFill>
            <a:prstDash val="solid"/>
            <a:round/>
            <a:headEnd len="med" w="med" type="triangle"/>
            <a:tailEnd len="med" w="med" type="triangle"/>
          </a:ln>
        </p:spPr>
      </p:cxnSp>
      <p:grpSp>
        <p:nvGrpSpPr>
          <p:cNvPr id="1028" name="Google Shape;1028;p87"/>
          <p:cNvGrpSpPr/>
          <p:nvPr/>
        </p:nvGrpSpPr>
        <p:grpSpPr>
          <a:xfrm>
            <a:off x="418905" y="994100"/>
            <a:ext cx="4162549" cy="3503394"/>
            <a:chOff x="6675165" y="869914"/>
            <a:chExt cx="1953240" cy="1643937"/>
          </a:xfrm>
        </p:grpSpPr>
        <p:sp>
          <p:nvSpPr>
            <p:cNvPr id="1029" name="Google Shape;1029;p87"/>
            <p:cNvSpPr/>
            <p:nvPr/>
          </p:nvSpPr>
          <p:spPr>
            <a:xfrm>
              <a:off x="7080862" y="1053750"/>
              <a:ext cx="1485300" cy="1460100"/>
            </a:xfrm>
            <a:prstGeom prst="corner">
              <a:avLst>
                <a:gd fmla="val 50000" name="adj1"/>
                <a:gd fmla="val 50000" name="adj2"/>
              </a:avLst>
            </a:prstGeom>
            <a:solidFill>
              <a:srgbClr val="BF9000"/>
            </a:solidFill>
            <a:ln cap="flat" cmpd="sng" w="9525">
              <a:solidFill>
                <a:srgbClr val="BF9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0" name="Google Shape;1030;p87"/>
            <p:cNvSpPr txBox="1"/>
            <p:nvPr/>
          </p:nvSpPr>
          <p:spPr>
            <a:xfrm>
              <a:off x="7306783" y="869914"/>
              <a:ext cx="358800" cy="159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2.4 m</a:t>
              </a:r>
              <a:endParaRPr sz="2200">
                <a:solidFill>
                  <a:srgbClr val="000000"/>
                </a:solidFill>
                <a:latin typeface="Lexend"/>
                <a:ea typeface="Lexend"/>
                <a:cs typeface="Lexend"/>
                <a:sym typeface="Lexend"/>
              </a:endParaRPr>
            </a:p>
          </p:txBody>
        </p:sp>
        <p:sp>
          <p:nvSpPr>
            <p:cNvPr id="1031" name="Google Shape;1031;p87"/>
            <p:cNvSpPr txBox="1"/>
            <p:nvPr/>
          </p:nvSpPr>
          <p:spPr>
            <a:xfrm>
              <a:off x="6675165" y="1680962"/>
              <a:ext cx="391500" cy="159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4.8 m</a:t>
              </a:r>
              <a:endParaRPr sz="2200">
                <a:solidFill>
                  <a:srgbClr val="000000"/>
                </a:solidFill>
                <a:latin typeface="Lexend"/>
                <a:ea typeface="Lexend"/>
                <a:cs typeface="Lexend"/>
                <a:sym typeface="Lexend"/>
              </a:endParaRPr>
            </a:p>
          </p:txBody>
        </p:sp>
        <p:cxnSp>
          <p:nvCxnSpPr>
            <p:cNvPr id="1032" name="Google Shape;1032;p87"/>
            <p:cNvCxnSpPr/>
            <p:nvPr/>
          </p:nvCxnSpPr>
          <p:spPr>
            <a:xfrm>
              <a:off x="7728750" y="1415571"/>
              <a:ext cx="131400" cy="0"/>
            </a:xfrm>
            <a:prstGeom prst="straightConnector1">
              <a:avLst/>
            </a:prstGeom>
            <a:noFill/>
            <a:ln cap="flat" cmpd="sng" w="38100">
              <a:solidFill>
                <a:schemeClr val="dk1"/>
              </a:solidFill>
              <a:prstDash val="solid"/>
              <a:round/>
              <a:headEnd len="med" w="med" type="none"/>
              <a:tailEnd len="med" w="med" type="none"/>
            </a:ln>
          </p:spPr>
        </p:cxnSp>
        <p:sp>
          <p:nvSpPr>
            <p:cNvPr id="1033" name="Google Shape;1033;p87"/>
            <p:cNvSpPr txBox="1"/>
            <p:nvPr/>
          </p:nvSpPr>
          <p:spPr>
            <a:xfrm>
              <a:off x="8052560" y="1575265"/>
              <a:ext cx="391500" cy="159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Lexend"/>
                  <a:ea typeface="Lexend"/>
                  <a:cs typeface="Lexend"/>
                  <a:sym typeface="Lexend"/>
                </a:rPr>
                <a:t>2.4 m</a:t>
              </a:r>
              <a:endParaRPr sz="2200">
                <a:solidFill>
                  <a:srgbClr val="000000"/>
                </a:solidFill>
                <a:latin typeface="Lexend"/>
                <a:ea typeface="Lexend"/>
                <a:cs typeface="Lexend"/>
                <a:sym typeface="Lexend"/>
              </a:endParaRPr>
            </a:p>
          </p:txBody>
        </p:sp>
        <p:cxnSp>
          <p:nvCxnSpPr>
            <p:cNvPr id="1034" name="Google Shape;1034;p87"/>
            <p:cNvCxnSpPr/>
            <p:nvPr/>
          </p:nvCxnSpPr>
          <p:spPr>
            <a:xfrm>
              <a:off x="8484405" y="2163213"/>
              <a:ext cx="144000" cy="0"/>
            </a:xfrm>
            <a:prstGeom prst="straightConnector1">
              <a:avLst/>
            </a:prstGeom>
            <a:noFill/>
            <a:ln cap="flat" cmpd="sng" w="38100">
              <a:solidFill>
                <a:schemeClr val="dk1"/>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1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a:t>
            </a:r>
            <a:r>
              <a:rPr lang="en-GB"/>
              <a:t>nswers to an appropriate degree of accuracy</a:t>
            </a:r>
            <a:endParaRPr/>
          </a:p>
        </p:txBody>
      </p:sp>
      <p:sp>
        <p:nvSpPr>
          <p:cNvPr id="1040" name="Google Shape;1040;p88"/>
          <p:cNvSpPr txBox="1"/>
          <p:nvPr>
            <p:ph idx="1" type="body"/>
          </p:nvPr>
        </p:nvSpPr>
        <p:spPr>
          <a:xfrm>
            <a:off x="324000" y="759300"/>
            <a:ext cx="5932800" cy="1812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1 box of grass seed covers approximately 10 m</a:t>
            </a:r>
            <a:r>
              <a:rPr baseline="30000" lang="en-GB"/>
              <a:t>2</a:t>
            </a:r>
            <a:r>
              <a:rPr lang="en-GB"/>
              <a:t> and costs £7.</a:t>
            </a:r>
            <a:endParaRPr/>
          </a:p>
          <a:p>
            <a:pPr indent="0" lvl="0" marL="0" rtl="0" algn="l">
              <a:spcBef>
                <a:spcPts val="1000"/>
              </a:spcBef>
              <a:spcAft>
                <a:spcPts val="0"/>
              </a:spcAft>
              <a:buNone/>
            </a:pPr>
            <a:r>
              <a:rPr lang="en-GB"/>
              <a:t>How many boxes do they need?</a:t>
            </a:r>
            <a:endParaRPr/>
          </a:p>
          <a:p>
            <a:pPr indent="0" lvl="0" marL="0" rtl="0" algn="l">
              <a:spcBef>
                <a:spcPts val="1000"/>
              </a:spcBef>
              <a:spcAft>
                <a:spcPts val="1000"/>
              </a:spcAft>
              <a:buNone/>
            </a:pPr>
            <a:r>
              <a:rPr lang="en-GB"/>
              <a:t>Area of the garden = </a:t>
            </a:r>
            <a:r>
              <a:rPr lang="en-GB"/>
              <a:t>17.28 m</a:t>
            </a:r>
            <a:r>
              <a:rPr baseline="30000" lang="en-GB"/>
              <a:t>2</a:t>
            </a:r>
            <a:endParaRPr/>
          </a:p>
        </p:txBody>
      </p:sp>
      <p:sp>
        <p:nvSpPr>
          <p:cNvPr id="1041" name="Google Shape;1041;p88"/>
          <p:cNvSpPr/>
          <p:nvPr/>
        </p:nvSpPr>
        <p:spPr>
          <a:xfrm>
            <a:off x="7080862" y="1053750"/>
            <a:ext cx="1485300" cy="1460100"/>
          </a:xfrm>
          <a:prstGeom prst="corner">
            <a:avLst>
              <a:gd fmla="val 50000" name="adj1"/>
              <a:gd fmla="val 50000" name="adj2"/>
            </a:avLst>
          </a:prstGeom>
          <a:solidFill>
            <a:srgbClr val="BF9000"/>
          </a:solidFill>
          <a:ln cap="flat" cmpd="sng" w="9525">
            <a:solidFill>
              <a:srgbClr val="BF9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42" name="Google Shape;1042;p88"/>
          <p:cNvSpPr txBox="1"/>
          <p:nvPr/>
        </p:nvSpPr>
        <p:spPr>
          <a:xfrm>
            <a:off x="7144500" y="660375"/>
            <a:ext cx="629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2.4 m</a:t>
            </a:r>
            <a:endParaRPr sz="1800">
              <a:solidFill>
                <a:srgbClr val="000000"/>
              </a:solidFill>
              <a:latin typeface="Lexend"/>
              <a:ea typeface="Lexend"/>
              <a:cs typeface="Lexend"/>
              <a:sym typeface="Lexend"/>
            </a:endParaRPr>
          </a:p>
        </p:txBody>
      </p:sp>
      <p:sp>
        <p:nvSpPr>
          <p:cNvPr id="1043" name="Google Shape;1043;p88"/>
          <p:cNvSpPr txBox="1"/>
          <p:nvPr/>
        </p:nvSpPr>
        <p:spPr>
          <a:xfrm>
            <a:off x="6353362" y="1645200"/>
            <a:ext cx="727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4.8 m</a:t>
            </a:r>
            <a:endParaRPr sz="1800">
              <a:solidFill>
                <a:srgbClr val="000000"/>
              </a:solidFill>
              <a:latin typeface="Lexend"/>
              <a:ea typeface="Lexend"/>
              <a:cs typeface="Lexend"/>
              <a:sym typeface="Lexend"/>
            </a:endParaRPr>
          </a:p>
        </p:txBody>
      </p:sp>
      <p:cxnSp>
        <p:nvCxnSpPr>
          <p:cNvPr id="1044" name="Google Shape;1044;p88"/>
          <p:cNvCxnSpPr/>
          <p:nvPr/>
        </p:nvCxnSpPr>
        <p:spPr>
          <a:xfrm>
            <a:off x="7696437" y="1415575"/>
            <a:ext cx="259500" cy="0"/>
          </a:xfrm>
          <a:prstGeom prst="straightConnector1">
            <a:avLst/>
          </a:prstGeom>
          <a:noFill/>
          <a:ln cap="flat" cmpd="sng" w="38100">
            <a:solidFill>
              <a:schemeClr val="dk1"/>
            </a:solidFill>
            <a:prstDash val="solid"/>
            <a:round/>
            <a:headEnd len="med" w="med" type="none"/>
            <a:tailEnd len="med" w="med" type="none"/>
          </a:ln>
        </p:spPr>
      </p:cxnSp>
      <p:cxnSp>
        <p:nvCxnSpPr>
          <p:cNvPr id="1045" name="Google Shape;1045;p88"/>
          <p:cNvCxnSpPr/>
          <p:nvPr/>
        </p:nvCxnSpPr>
        <p:spPr>
          <a:xfrm>
            <a:off x="8444062" y="2163212"/>
            <a:ext cx="259500" cy="0"/>
          </a:xfrm>
          <a:prstGeom prst="straightConnector1">
            <a:avLst/>
          </a:prstGeom>
          <a:noFill/>
          <a:ln cap="flat" cmpd="sng" w="38100">
            <a:solidFill>
              <a:schemeClr val="dk1"/>
            </a:solidFill>
            <a:prstDash val="solid"/>
            <a:round/>
            <a:headEnd len="med" w="med" type="none"/>
            <a:tailEnd len="med" w="med" type="none"/>
          </a:ln>
        </p:spPr>
      </p:cxnSp>
      <p:sp>
        <p:nvSpPr>
          <p:cNvPr id="1046" name="Google Shape;1046;p88"/>
          <p:cNvSpPr txBox="1"/>
          <p:nvPr/>
        </p:nvSpPr>
        <p:spPr>
          <a:xfrm>
            <a:off x="7955925" y="1446725"/>
            <a:ext cx="629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2.4 m</a:t>
            </a:r>
            <a:endParaRPr sz="1800">
              <a:solidFill>
                <a:srgbClr val="000000"/>
              </a:solidFill>
              <a:latin typeface="Lexend"/>
              <a:ea typeface="Lexend"/>
              <a:cs typeface="Lexend"/>
              <a:sym typeface="Lexend"/>
            </a:endParaRPr>
          </a:p>
        </p:txBody>
      </p:sp>
      <p:sp>
        <p:nvSpPr>
          <p:cNvPr id="1047" name="Google Shape;1047;p88"/>
          <p:cNvSpPr txBox="1"/>
          <p:nvPr/>
        </p:nvSpPr>
        <p:spPr>
          <a:xfrm>
            <a:off x="324000" y="2820600"/>
            <a:ext cx="4733100" cy="1693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Number of boxes 	= 17.28 ÷ 10</a:t>
            </a:r>
            <a:endParaRPr sz="2200">
              <a:latin typeface="Kalam"/>
              <a:ea typeface="Kalam"/>
              <a:cs typeface="Kalam"/>
              <a:sym typeface="Kalam"/>
            </a:endParaRPr>
          </a:p>
          <a:p>
            <a:pPr indent="457200" lvl="0" marL="2286000" rtl="0" algn="l">
              <a:spcBef>
                <a:spcPts val="0"/>
              </a:spcBef>
              <a:spcAft>
                <a:spcPts val="0"/>
              </a:spcAft>
              <a:buNone/>
            </a:pPr>
            <a:r>
              <a:rPr lang="en-GB" sz="2200">
                <a:latin typeface="Kalam"/>
                <a:ea typeface="Kalam"/>
                <a:cs typeface="Kalam"/>
                <a:sym typeface="Kalam"/>
              </a:rPr>
              <a:t>= 1.728</a:t>
            </a:r>
            <a:endParaRPr sz="2200">
              <a:latin typeface="Kalam"/>
              <a:ea typeface="Kalam"/>
              <a:cs typeface="Kalam"/>
              <a:sym typeface="Kalam"/>
            </a:endParaRPr>
          </a:p>
          <a:p>
            <a:pPr indent="457200" lvl="0" marL="2286000" rtl="0" algn="l">
              <a:spcBef>
                <a:spcPts val="0"/>
              </a:spcBef>
              <a:spcAft>
                <a:spcPts val="0"/>
              </a:spcAft>
              <a:buNone/>
            </a:pPr>
            <a:r>
              <a:rPr lang="en-GB" sz="2200">
                <a:latin typeface="Kalam"/>
                <a:ea typeface="Kalam"/>
                <a:cs typeface="Kalam"/>
                <a:sym typeface="Kalam"/>
              </a:rPr>
              <a:t>= 2 </a:t>
            </a:r>
            <a:endParaRPr sz="2200">
              <a:latin typeface="Kalam"/>
              <a:ea typeface="Kalam"/>
              <a:cs typeface="Kalam"/>
              <a:sym typeface="Kalam"/>
            </a:endParaRPr>
          </a:p>
          <a:p>
            <a:pPr indent="0" lvl="0" marL="0" rtl="0" algn="l">
              <a:spcBef>
                <a:spcPts val="0"/>
              </a:spcBef>
              <a:spcAft>
                <a:spcPts val="0"/>
              </a:spcAft>
              <a:buNone/>
            </a:pPr>
            <a:r>
              <a:rPr lang="en-GB" sz="2200">
                <a:latin typeface="Kalam"/>
                <a:ea typeface="Kalam"/>
                <a:cs typeface="Kalam"/>
                <a:sym typeface="Kalam"/>
              </a:rPr>
              <a:t>Cost	= 2 </a:t>
            </a:r>
            <a:r>
              <a:rPr lang="en-GB" sz="2200">
                <a:solidFill>
                  <a:schemeClr val="dk1"/>
                </a:solidFill>
                <a:latin typeface="Kalam"/>
                <a:ea typeface="Kalam"/>
                <a:cs typeface="Kalam"/>
                <a:sym typeface="Kalam"/>
              </a:rPr>
              <a:t>× 7</a:t>
            </a:r>
            <a:endParaRPr sz="2200">
              <a:solidFill>
                <a:schemeClr val="dk1"/>
              </a:solidFill>
              <a:latin typeface="Kalam"/>
              <a:ea typeface="Kalam"/>
              <a:cs typeface="Kalam"/>
              <a:sym typeface="Kalam"/>
            </a:endParaRPr>
          </a:p>
          <a:p>
            <a:pPr indent="0" lvl="0" marL="0" rtl="0" algn="l">
              <a:spcBef>
                <a:spcPts val="0"/>
              </a:spcBef>
              <a:spcAft>
                <a:spcPts val="0"/>
              </a:spcAft>
              <a:buNone/>
            </a:pPr>
            <a:r>
              <a:rPr lang="en-GB" sz="2200">
                <a:solidFill>
                  <a:schemeClr val="dk1"/>
                </a:solidFill>
                <a:latin typeface="Kalam"/>
                <a:ea typeface="Kalam"/>
                <a:cs typeface="Kalam"/>
                <a:sym typeface="Kalam"/>
              </a:rPr>
              <a:t>        = £14</a:t>
            </a:r>
            <a:endParaRPr sz="2200">
              <a:solidFill>
                <a:schemeClr val="dk1"/>
              </a:solidFill>
              <a:latin typeface="Kalam"/>
              <a:ea typeface="Kalam"/>
              <a:cs typeface="Kalam"/>
              <a:sym typeface="Kalam"/>
            </a:endParaRPr>
          </a:p>
        </p:txBody>
      </p:sp>
      <p:cxnSp>
        <p:nvCxnSpPr>
          <p:cNvPr id="1048" name="Google Shape;1048;p88"/>
          <p:cNvCxnSpPr/>
          <p:nvPr/>
        </p:nvCxnSpPr>
        <p:spPr>
          <a:xfrm>
            <a:off x="7095750" y="984450"/>
            <a:ext cx="726900" cy="0"/>
          </a:xfrm>
          <a:prstGeom prst="straightConnector1">
            <a:avLst/>
          </a:prstGeom>
          <a:noFill/>
          <a:ln cap="flat" cmpd="sng" w="19050">
            <a:solidFill>
              <a:schemeClr val="dk1"/>
            </a:solidFill>
            <a:prstDash val="solid"/>
            <a:round/>
            <a:headEnd len="med" w="med" type="triangle"/>
            <a:tailEnd len="med" w="med" type="triangle"/>
          </a:ln>
        </p:spPr>
      </p:cxnSp>
      <p:cxnSp>
        <p:nvCxnSpPr>
          <p:cNvPr id="1049" name="Google Shape;1049;p88"/>
          <p:cNvCxnSpPr/>
          <p:nvPr/>
        </p:nvCxnSpPr>
        <p:spPr>
          <a:xfrm>
            <a:off x="7019650" y="1041600"/>
            <a:ext cx="0" cy="1484400"/>
          </a:xfrm>
          <a:prstGeom prst="straightConnector1">
            <a:avLst/>
          </a:prstGeom>
          <a:noFill/>
          <a:ln cap="flat" cmpd="sng" w="19050">
            <a:solidFill>
              <a:schemeClr val="dk1"/>
            </a:solidFill>
            <a:prstDash val="solid"/>
            <a:round/>
            <a:headEnd len="med" w="med" type="triangle"/>
            <a:tailEnd len="med" w="med" type="triangle"/>
          </a:ln>
        </p:spPr>
      </p:cxnSp>
      <p:cxnSp>
        <p:nvCxnSpPr>
          <p:cNvPr id="1050" name="Google Shape;1050;p88"/>
          <p:cNvCxnSpPr/>
          <p:nvPr/>
        </p:nvCxnSpPr>
        <p:spPr>
          <a:xfrm>
            <a:off x="7841250" y="1723925"/>
            <a:ext cx="726900" cy="0"/>
          </a:xfrm>
          <a:prstGeom prst="straightConnector1">
            <a:avLst/>
          </a:prstGeom>
          <a:noFill/>
          <a:ln cap="flat" cmpd="sng" w="19050">
            <a:solidFill>
              <a:schemeClr val="dk1"/>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7">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89"/>
          <p:cNvSpPr txBox="1"/>
          <p:nvPr>
            <p:ph idx="1" type="body"/>
          </p:nvPr>
        </p:nvSpPr>
        <p:spPr>
          <a:xfrm>
            <a:off x="324000" y="759300"/>
            <a:ext cx="8237700" cy="79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Calculate the following giving your </a:t>
            </a:r>
            <a:r>
              <a:rPr lang="en-GB"/>
              <a:t>answer</a:t>
            </a:r>
            <a:r>
              <a:rPr lang="en-GB"/>
              <a:t> to an appropriate degree of accuracy.</a:t>
            </a:r>
            <a:endParaRPr/>
          </a:p>
        </p:txBody>
      </p:sp>
      <p:sp>
        <p:nvSpPr>
          <p:cNvPr id="1056" name="Google Shape;1056;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a:t>
            </a:r>
            <a:r>
              <a:rPr lang="en-GB"/>
              <a:t>nswers to an appropriate degree of accuracy</a:t>
            </a:r>
            <a:endParaRPr/>
          </a:p>
        </p:txBody>
      </p:sp>
      <p:sp>
        <p:nvSpPr>
          <p:cNvPr id="1057" name="Google Shape;1057;p89"/>
          <p:cNvSpPr txBox="1"/>
          <p:nvPr/>
        </p:nvSpPr>
        <p:spPr>
          <a:xfrm>
            <a:off x="2887227" y="1795675"/>
            <a:ext cx="5932800" cy="3047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Firstly, we will decide on an appropriate degree of accuracy.</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What do you think an appropriate degree of accuracy is here?</a:t>
            </a:r>
            <a:br>
              <a:rPr lang="en-GB" sz="2200">
                <a:solidFill>
                  <a:schemeClr val="dk1"/>
                </a:solidFill>
                <a:latin typeface="Lexend"/>
                <a:ea typeface="Lexend"/>
                <a:cs typeface="Lexend"/>
                <a:sym typeface="Lexend"/>
              </a:rPr>
            </a:b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Kalam"/>
                <a:ea typeface="Kalam"/>
                <a:cs typeface="Kalam"/>
                <a:sym typeface="Kalam"/>
              </a:rPr>
              <a:t>They do not have the same number of decimal places.  But, they do each have 3 significant figures.  Therefore, we will give our answer to 3 significant figures.</a:t>
            </a:r>
            <a:endParaRPr sz="2200">
              <a:solidFill>
                <a:schemeClr val="dk1"/>
              </a:solidFill>
              <a:latin typeface="Kalam"/>
              <a:ea typeface="Kalam"/>
              <a:cs typeface="Kalam"/>
              <a:sym typeface="Kalam"/>
            </a:endParaRPr>
          </a:p>
        </p:txBody>
      </p:sp>
      <p:pic>
        <p:nvPicPr>
          <p:cNvPr descr="&lt;math xmlns=&quot;http://www.w3.org/1998/Math/MathML&quot; display=&quot;block&quot; data-is-equatio=&quot;1&quot; data-latex=&quot;\frac{17.2-\ 5.68}{254}&quot;&gt;&lt;mfrac&gt;&lt;mrow&gt;&lt;mn&gt;17.2&lt;/mn&gt;&lt;mo&gt;−&lt;/mo&gt;&lt;mtext&gt;&lt;/mtext&gt;&lt;mn&gt;5.68&lt;/mn&gt;&lt;/mrow&gt;&lt;mn&gt;254&lt;/mn&gt;&lt;/mfrac&gt;&lt;/math&gt;" id="1058" name="Google Shape;1058;p89" title="the fraction with numerator 17.2 minus 5.68 and denominator 254"/>
          <p:cNvPicPr preferRelativeResize="0"/>
          <p:nvPr/>
        </p:nvPicPr>
        <p:blipFill>
          <a:blip r:embed="rId3">
            <a:alphaModFix/>
          </a:blip>
          <a:stretch>
            <a:fillRect/>
          </a:stretch>
        </p:blipFill>
        <p:spPr>
          <a:xfrm>
            <a:off x="628800" y="1926000"/>
            <a:ext cx="1894376" cy="792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7">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90"/>
          <p:cNvSpPr txBox="1"/>
          <p:nvPr>
            <p:ph idx="1" type="body"/>
          </p:nvPr>
        </p:nvSpPr>
        <p:spPr>
          <a:xfrm>
            <a:off x="324000" y="606900"/>
            <a:ext cx="8237700" cy="79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Calculate the following giving your answer to an appropriate degree of accuracy.</a:t>
            </a:r>
            <a:endParaRPr/>
          </a:p>
        </p:txBody>
      </p:sp>
      <p:sp>
        <p:nvSpPr>
          <p:cNvPr id="1064" name="Google Shape;1064;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a:t>
            </a:r>
            <a:r>
              <a:rPr lang="en-GB"/>
              <a:t>nswers to an appropriate degree of accuracy</a:t>
            </a:r>
            <a:endParaRPr/>
          </a:p>
        </p:txBody>
      </p:sp>
      <p:pic>
        <p:nvPicPr>
          <p:cNvPr id="1065" name="Google Shape;1065;p90"/>
          <p:cNvPicPr preferRelativeResize="0"/>
          <p:nvPr/>
        </p:nvPicPr>
        <p:blipFill>
          <a:blip r:embed="rId3">
            <a:alphaModFix/>
          </a:blip>
          <a:stretch>
            <a:fillRect/>
          </a:stretch>
        </p:blipFill>
        <p:spPr>
          <a:xfrm>
            <a:off x="2502850" y="1399188"/>
            <a:ext cx="5584106" cy="1694487"/>
          </a:xfrm>
          <a:prstGeom prst="rect">
            <a:avLst/>
          </a:prstGeom>
          <a:noFill/>
          <a:ln>
            <a:noFill/>
          </a:ln>
        </p:spPr>
      </p:pic>
      <p:pic>
        <p:nvPicPr>
          <p:cNvPr id="1066" name="Google Shape;1066;p90"/>
          <p:cNvPicPr preferRelativeResize="0"/>
          <p:nvPr/>
        </p:nvPicPr>
        <p:blipFill>
          <a:blip r:embed="rId4">
            <a:alphaModFix/>
          </a:blip>
          <a:stretch>
            <a:fillRect/>
          </a:stretch>
        </p:blipFill>
        <p:spPr>
          <a:xfrm>
            <a:off x="2574000" y="3047825"/>
            <a:ext cx="4499999" cy="1348375"/>
          </a:xfrm>
          <a:prstGeom prst="rect">
            <a:avLst/>
          </a:prstGeom>
          <a:noFill/>
          <a:ln>
            <a:noFill/>
          </a:ln>
        </p:spPr>
      </p:pic>
      <p:sp>
        <p:nvSpPr>
          <p:cNvPr id="1067" name="Google Shape;1067;p90"/>
          <p:cNvSpPr txBox="1"/>
          <p:nvPr/>
        </p:nvSpPr>
        <p:spPr>
          <a:xfrm>
            <a:off x="324000" y="4481700"/>
            <a:ext cx="38823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0.04535… = 0.0454 (to 3 s.f.)</a:t>
            </a:r>
            <a:endParaRPr sz="2200">
              <a:solidFill>
                <a:srgbClr val="000000"/>
              </a:solidFill>
              <a:latin typeface="Kalam"/>
              <a:ea typeface="Kalam"/>
              <a:cs typeface="Kalam"/>
              <a:sym typeface="Kalam"/>
            </a:endParaRPr>
          </a:p>
        </p:txBody>
      </p:sp>
      <p:pic>
        <p:nvPicPr>
          <p:cNvPr descr="&lt;math xmlns=&quot;http://www.w3.org/1998/Math/MathML&quot; display=&quot;block&quot; data-is-equatio=&quot;1&quot; data-latex=&quot;\frac{17.2-\ 5.68}{254}&quot;&gt;&lt;mfrac&gt;&lt;mrow&gt;&lt;mn&gt;17.2&lt;/mn&gt;&lt;mo&gt;−&lt;/mo&gt;&lt;mtext&gt;&lt;/mtext&gt;&lt;mn&gt;5.68&lt;/mn&gt;&lt;/mrow&gt;&lt;mn&gt;254&lt;/mn&gt;&lt;/mfrac&gt;&lt;/math&gt;" id="1068" name="Google Shape;1068;p90" title="the fraction with numerator 17.2 minus 5.68 and denominator 254"/>
          <p:cNvPicPr preferRelativeResize="0"/>
          <p:nvPr/>
        </p:nvPicPr>
        <p:blipFill>
          <a:blip r:embed="rId5">
            <a:alphaModFix/>
          </a:blip>
          <a:stretch>
            <a:fillRect/>
          </a:stretch>
        </p:blipFill>
        <p:spPr>
          <a:xfrm>
            <a:off x="476400" y="1468800"/>
            <a:ext cx="1894376" cy="792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p91"/>
          <p:cNvSpPr txBox="1"/>
          <p:nvPr>
            <p:ph idx="1" type="body"/>
          </p:nvPr>
        </p:nvSpPr>
        <p:spPr>
          <a:xfrm>
            <a:off x="324000" y="759300"/>
            <a:ext cx="8237700" cy="746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Match each problem to the most appropriate degree of accuracy:</a:t>
            </a:r>
            <a:endParaRPr/>
          </a:p>
        </p:txBody>
      </p:sp>
      <p:sp>
        <p:nvSpPr>
          <p:cNvPr id="1074" name="Google Shape;1074;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a:t>
            </a:r>
            <a:r>
              <a:rPr lang="en-GB"/>
              <a:t>nswers to an appropriate degree of accuracy</a:t>
            </a:r>
            <a:endParaRPr/>
          </a:p>
        </p:txBody>
      </p:sp>
      <p:sp>
        <p:nvSpPr>
          <p:cNvPr id="1075" name="Google Shape;1075;p91"/>
          <p:cNvSpPr/>
          <p:nvPr/>
        </p:nvSpPr>
        <p:spPr>
          <a:xfrm>
            <a:off x="6399900" y="1505001"/>
            <a:ext cx="2029800" cy="6717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1 s.f.</a:t>
            </a:r>
            <a:endParaRPr sz="2200">
              <a:latin typeface="Lexend"/>
              <a:ea typeface="Lexend"/>
              <a:cs typeface="Lexend"/>
              <a:sym typeface="Lexend"/>
            </a:endParaRPr>
          </a:p>
        </p:txBody>
      </p:sp>
      <p:sp>
        <p:nvSpPr>
          <p:cNvPr id="1076" name="Google Shape;1076;p91"/>
          <p:cNvSpPr/>
          <p:nvPr/>
        </p:nvSpPr>
        <p:spPr>
          <a:xfrm>
            <a:off x="6399900" y="2363091"/>
            <a:ext cx="2029800" cy="6717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2</a:t>
            </a:r>
            <a:r>
              <a:rPr lang="en-GB" sz="2200">
                <a:latin typeface="Lexend"/>
                <a:ea typeface="Lexend"/>
                <a:cs typeface="Lexend"/>
                <a:sym typeface="Lexend"/>
              </a:rPr>
              <a:t> s.f.</a:t>
            </a:r>
            <a:endParaRPr sz="2200">
              <a:latin typeface="Lexend"/>
              <a:ea typeface="Lexend"/>
              <a:cs typeface="Lexend"/>
              <a:sym typeface="Lexend"/>
            </a:endParaRPr>
          </a:p>
        </p:txBody>
      </p:sp>
      <p:sp>
        <p:nvSpPr>
          <p:cNvPr id="1077" name="Google Shape;1077;p91"/>
          <p:cNvSpPr/>
          <p:nvPr/>
        </p:nvSpPr>
        <p:spPr>
          <a:xfrm>
            <a:off x="6399900" y="3221181"/>
            <a:ext cx="2029800" cy="6717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1 d.p.</a:t>
            </a:r>
            <a:endParaRPr sz="2200">
              <a:latin typeface="Lexend"/>
              <a:ea typeface="Lexend"/>
              <a:cs typeface="Lexend"/>
              <a:sym typeface="Lexend"/>
            </a:endParaRPr>
          </a:p>
        </p:txBody>
      </p:sp>
      <p:sp>
        <p:nvSpPr>
          <p:cNvPr id="1078" name="Google Shape;1078;p91"/>
          <p:cNvSpPr/>
          <p:nvPr/>
        </p:nvSpPr>
        <p:spPr>
          <a:xfrm>
            <a:off x="6399900" y="4079271"/>
            <a:ext cx="2029800" cy="6717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2 d.p.</a:t>
            </a:r>
            <a:endParaRPr sz="2200">
              <a:latin typeface="Lexend"/>
              <a:ea typeface="Lexend"/>
              <a:cs typeface="Lexend"/>
              <a:sym typeface="Lexend"/>
            </a:endParaRPr>
          </a:p>
        </p:txBody>
      </p:sp>
      <p:sp>
        <p:nvSpPr>
          <p:cNvPr id="1079" name="Google Shape;1079;p91"/>
          <p:cNvSpPr/>
          <p:nvPr/>
        </p:nvSpPr>
        <p:spPr>
          <a:xfrm>
            <a:off x="608700" y="1505000"/>
            <a:ext cx="4215300" cy="6717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Converting $ into £</a:t>
            </a:r>
            <a:endParaRPr sz="2200">
              <a:latin typeface="Lexend"/>
              <a:ea typeface="Lexend"/>
              <a:cs typeface="Lexend"/>
              <a:sym typeface="Lexend"/>
            </a:endParaRPr>
          </a:p>
        </p:txBody>
      </p:sp>
      <p:sp>
        <p:nvSpPr>
          <p:cNvPr id="1080" name="Google Shape;1080;p91"/>
          <p:cNvSpPr/>
          <p:nvPr/>
        </p:nvSpPr>
        <p:spPr>
          <a:xfrm>
            <a:off x="608700" y="2363091"/>
            <a:ext cx="4215300" cy="6717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The area of a square with sides 5.6 cm</a:t>
            </a:r>
            <a:endParaRPr sz="2200">
              <a:latin typeface="Lexend"/>
              <a:ea typeface="Lexend"/>
              <a:cs typeface="Lexend"/>
              <a:sym typeface="Lexend"/>
            </a:endParaRPr>
          </a:p>
        </p:txBody>
      </p:sp>
      <p:sp>
        <p:nvSpPr>
          <p:cNvPr id="1081" name="Google Shape;1081;p91"/>
          <p:cNvSpPr/>
          <p:nvPr/>
        </p:nvSpPr>
        <p:spPr>
          <a:xfrm>
            <a:off x="608700" y="3221183"/>
            <a:ext cx="4215300" cy="6717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The number of boxes needed for 95 eggs</a:t>
            </a:r>
            <a:endParaRPr sz="2200">
              <a:latin typeface="Lexend"/>
              <a:ea typeface="Lexend"/>
              <a:cs typeface="Lexend"/>
              <a:sym typeface="Lexend"/>
            </a:endParaRPr>
          </a:p>
        </p:txBody>
      </p:sp>
      <p:sp>
        <p:nvSpPr>
          <p:cNvPr id="1082" name="Google Shape;1082;p91"/>
          <p:cNvSpPr/>
          <p:nvPr/>
        </p:nvSpPr>
        <p:spPr>
          <a:xfrm>
            <a:off x="608700" y="4079274"/>
            <a:ext cx="4215300" cy="6717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200">
              <a:latin typeface="Lexend"/>
              <a:ea typeface="Lexend"/>
              <a:cs typeface="Lexend"/>
              <a:sym typeface="Lexend"/>
            </a:endParaRPr>
          </a:p>
        </p:txBody>
      </p:sp>
      <p:pic>
        <p:nvPicPr>
          <p:cNvPr descr="&lt;math xmlns=&quot;http://www.w3.org/1998/Math/MathML&quot; display=&quot;block&quot; data-is-equatio=&quot;1&quot; data-latex=&quot;\frac{9.8-\ 0.52}{320}&quot;&gt;&lt;mfrac&gt;&lt;mrow&gt;&lt;mn&gt;9.8&lt;/mn&gt;&lt;mo&gt;−&lt;/mo&gt;&lt;mtext&gt;&lt;/mtext&gt;&lt;mn&gt;0.52&lt;/mn&gt;&lt;/mrow&gt;&lt;mn&gt;320&lt;/mn&gt;&lt;/mfrac&gt;&lt;/math&gt;" id="1083" name="Google Shape;1083;p91" title="the fraction with numerator 9.8 minus 0.52 and denominator 320"/>
          <p:cNvPicPr preferRelativeResize="0"/>
          <p:nvPr/>
        </p:nvPicPr>
        <p:blipFill>
          <a:blip r:embed="rId3">
            <a:alphaModFix/>
          </a:blip>
          <a:stretch>
            <a:fillRect/>
          </a:stretch>
        </p:blipFill>
        <p:spPr>
          <a:xfrm>
            <a:off x="2052863" y="4137469"/>
            <a:ext cx="1326978" cy="613500"/>
          </a:xfrm>
          <a:prstGeom prst="rect">
            <a:avLst/>
          </a:prstGeom>
          <a:noFill/>
          <a:ln>
            <a:noFill/>
          </a:ln>
        </p:spPr>
      </p:pic>
      <p:cxnSp>
        <p:nvCxnSpPr>
          <p:cNvPr id="1084" name="Google Shape;1084;p91"/>
          <p:cNvCxnSpPr>
            <a:stCxn id="1079" idx="3"/>
            <a:endCxn id="1078" idx="1"/>
          </p:cNvCxnSpPr>
          <p:nvPr/>
        </p:nvCxnSpPr>
        <p:spPr>
          <a:xfrm>
            <a:off x="4824000" y="1840850"/>
            <a:ext cx="1575900" cy="2574300"/>
          </a:xfrm>
          <a:prstGeom prst="straightConnector1">
            <a:avLst/>
          </a:prstGeom>
          <a:noFill/>
          <a:ln cap="flat" cmpd="sng" w="38100">
            <a:solidFill>
              <a:schemeClr val="accent5"/>
            </a:solidFill>
            <a:prstDash val="solid"/>
            <a:round/>
            <a:headEnd len="med" w="med" type="none"/>
            <a:tailEnd len="med" w="med" type="none"/>
          </a:ln>
        </p:spPr>
      </p:cxnSp>
      <p:cxnSp>
        <p:nvCxnSpPr>
          <p:cNvPr id="1085" name="Google Shape;1085;p91"/>
          <p:cNvCxnSpPr>
            <a:endCxn id="1077" idx="1"/>
          </p:cNvCxnSpPr>
          <p:nvPr/>
        </p:nvCxnSpPr>
        <p:spPr>
          <a:xfrm>
            <a:off x="4824000" y="2634231"/>
            <a:ext cx="1575900" cy="922800"/>
          </a:xfrm>
          <a:prstGeom prst="straightConnector1">
            <a:avLst/>
          </a:prstGeom>
          <a:noFill/>
          <a:ln cap="flat" cmpd="sng" w="38100">
            <a:solidFill>
              <a:schemeClr val="accent5"/>
            </a:solidFill>
            <a:prstDash val="solid"/>
            <a:round/>
            <a:headEnd len="med" w="med" type="none"/>
            <a:tailEnd len="med" w="med" type="none"/>
          </a:ln>
        </p:spPr>
      </p:cxnSp>
      <p:cxnSp>
        <p:nvCxnSpPr>
          <p:cNvPr id="1086" name="Google Shape;1086;p91"/>
          <p:cNvCxnSpPr>
            <a:stCxn id="1081" idx="3"/>
            <a:endCxn id="1075" idx="1"/>
          </p:cNvCxnSpPr>
          <p:nvPr/>
        </p:nvCxnSpPr>
        <p:spPr>
          <a:xfrm flipH="1" rot="10800000">
            <a:off x="4824000" y="1840733"/>
            <a:ext cx="1575900" cy="1716300"/>
          </a:xfrm>
          <a:prstGeom prst="straightConnector1">
            <a:avLst/>
          </a:prstGeom>
          <a:noFill/>
          <a:ln cap="flat" cmpd="sng" w="38100">
            <a:solidFill>
              <a:schemeClr val="accent5"/>
            </a:solidFill>
            <a:prstDash val="solid"/>
            <a:round/>
            <a:headEnd len="med" w="med" type="none"/>
            <a:tailEnd len="med" w="med" type="none"/>
          </a:ln>
        </p:spPr>
      </p:cxnSp>
      <p:cxnSp>
        <p:nvCxnSpPr>
          <p:cNvPr id="1087" name="Google Shape;1087;p91"/>
          <p:cNvCxnSpPr/>
          <p:nvPr/>
        </p:nvCxnSpPr>
        <p:spPr>
          <a:xfrm flipH="1" rot="10800000">
            <a:off x="4824000" y="2771533"/>
            <a:ext cx="1575900" cy="1716300"/>
          </a:xfrm>
          <a:prstGeom prst="straightConnector1">
            <a:avLst/>
          </a:prstGeom>
          <a:noFill/>
          <a:ln cap="flat" cmpd="sng" w="38100">
            <a:solidFill>
              <a:schemeClr val="accent5"/>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9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a:t>
            </a:r>
            <a:r>
              <a:rPr lang="en-GB"/>
              <a:t>nswers to an appropriate degree of accuracy</a:t>
            </a:r>
            <a:endParaRPr/>
          </a:p>
        </p:txBody>
      </p:sp>
      <p:sp>
        <p:nvSpPr>
          <p:cNvPr id="1093" name="Google Shape;1093;p9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In each of the following questions give your answers to an appropriate degree of accuracy.</a:t>
            </a:r>
            <a:endParaRPr sz="1800"/>
          </a:p>
          <a:p>
            <a:pPr indent="-342900" lvl="0" marL="457200" rtl="0" algn="l">
              <a:spcBef>
                <a:spcPts val="1000"/>
              </a:spcBef>
              <a:spcAft>
                <a:spcPts val="0"/>
              </a:spcAft>
              <a:buSzPts val="1800"/>
              <a:buAutoNum type="arabicParenR"/>
            </a:pPr>
            <a:r>
              <a:rPr lang="en-GB" sz="1800"/>
              <a:t>Calculate the area and perimeter of the following:</a:t>
            </a:r>
            <a:endParaRPr sz="1800"/>
          </a:p>
          <a:p>
            <a:pPr indent="0" lvl="0" marL="0" rtl="0" algn="l">
              <a:spcBef>
                <a:spcPts val="1000"/>
              </a:spcBef>
              <a:spcAft>
                <a:spcPts val="0"/>
              </a:spcAft>
              <a:buNone/>
            </a:pPr>
            <a:r>
              <a:rPr lang="en-GB" sz="1800"/>
              <a:t>a)</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GB" sz="1800"/>
              <a:t>b)</a:t>
            </a:r>
            <a:endParaRPr sz="1800"/>
          </a:p>
        </p:txBody>
      </p:sp>
      <p:sp>
        <p:nvSpPr>
          <p:cNvPr id="1094" name="Google Shape;1094;p92"/>
          <p:cNvSpPr/>
          <p:nvPr/>
        </p:nvSpPr>
        <p:spPr>
          <a:xfrm>
            <a:off x="1378725" y="1872225"/>
            <a:ext cx="1190400" cy="13620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5" name="Google Shape;1095;p92"/>
          <p:cNvSpPr txBox="1"/>
          <p:nvPr/>
        </p:nvSpPr>
        <p:spPr>
          <a:xfrm>
            <a:off x="832062" y="2322600"/>
            <a:ext cx="727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5.2 cm</a:t>
            </a:r>
            <a:endParaRPr sz="1800">
              <a:solidFill>
                <a:srgbClr val="000000"/>
              </a:solidFill>
              <a:latin typeface="Lexend"/>
              <a:ea typeface="Lexend"/>
              <a:cs typeface="Lexend"/>
              <a:sym typeface="Lexend"/>
            </a:endParaRPr>
          </a:p>
        </p:txBody>
      </p:sp>
      <p:cxnSp>
        <p:nvCxnSpPr>
          <p:cNvPr id="1096" name="Google Shape;1096;p92"/>
          <p:cNvCxnSpPr>
            <a:stCxn id="1094" idx="1"/>
            <a:endCxn id="1094" idx="1"/>
          </p:cNvCxnSpPr>
          <p:nvPr/>
        </p:nvCxnSpPr>
        <p:spPr>
          <a:xfrm>
            <a:off x="1676325" y="2553225"/>
            <a:ext cx="0" cy="0"/>
          </a:xfrm>
          <a:prstGeom prst="straightConnector1">
            <a:avLst/>
          </a:prstGeom>
          <a:noFill/>
          <a:ln cap="flat" cmpd="sng" w="9525">
            <a:solidFill>
              <a:schemeClr val="dk2"/>
            </a:solidFill>
            <a:prstDash val="solid"/>
            <a:round/>
            <a:headEnd len="med" w="med" type="none"/>
            <a:tailEnd len="med" w="med" type="none"/>
          </a:ln>
        </p:spPr>
      </p:cxnSp>
      <p:cxnSp>
        <p:nvCxnSpPr>
          <p:cNvPr id="1097" name="Google Shape;1097;p92"/>
          <p:cNvCxnSpPr>
            <a:stCxn id="1094" idx="1"/>
            <a:endCxn id="1094" idx="1"/>
          </p:cNvCxnSpPr>
          <p:nvPr/>
        </p:nvCxnSpPr>
        <p:spPr>
          <a:xfrm>
            <a:off x="1676325" y="2553225"/>
            <a:ext cx="0" cy="0"/>
          </a:xfrm>
          <a:prstGeom prst="straightConnector1">
            <a:avLst/>
          </a:prstGeom>
          <a:noFill/>
          <a:ln cap="flat" cmpd="sng" w="9525">
            <a:solidFill>
              <a:schemeClr val="dk2"/>
            </a:solidFill>
            <a:prstDash val="solid"/>
            <a:round/>
            <a:headEnd len="med" w="med" type="none"/>
            <a:tailEnd len="med" w="med" type="none"/>
          </a:ln>
        </p:spPr>
      </p:cxnSp>
      <p:sp>
        <p:nvSpPr>
          <p:cNvPr id="1098" name="Google Shape;1098;p92"/>
          <p:cNvSpPr txBox="1"/>
          <p:nvPr/>
        </p:nvSpPr>
        <p:spPr>
          <a:xfrm>
            <a:off x="2007850" y="2713800"/>
            <a:ext cx="727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4.9 cm</a:t>
            </a:r>
            <a:endParaRPr sz="1800">
              <a:solidFill>
                <a:srgbClr val="000000"/>
              </a:solidFill>
              <a:latin typeface="Lexend"/>
              <a:ea typeface="Lexend"/>
              <a:cs typeface="Lexend"/>
              <a:sym typeface="Lexend"/>
            </a:endParaRPr>
          </a:p>
        </p:txBody>
      </p:sp>
      <p:sp>
        <p:nvSpPr>
          <p:cNvPr id="1099" name="Google Shape;1099;p92"/>
          <p:cNvSpPr txBox="1"/>
          <p:nvPr/>
        </p:nvSpPr>
        <p:spPr>
          <a:xfrm>
            <a:off x="1661424" y="3288225"/>
            <a:ext cx="727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3.4 cm</a:t>
            </a:r>
            <a:endParaRPr sz="1800">
              <a:solidFill>
                <a:srgbClr val="000000"/>
              </a:solidFill>
              <a:latin typeface="Lexend"/>
              <a:ea typeface="Lexend"/>
              <a:cs typeface="Lexend"/>
              <a:sym typeface="Lexend"/>
            </a:endParaRPr>
          </a:p>
        </p:txBody>
      </p:sp>
      <p:cxnSp>
        <p:nvCxnSpPr>
          <p:cNvPr id="1100" name="Google Shape;1100;p92"/>
          <p:cNvCxnSpPr>
            <a:stCxn id="1094" idx="0"/>
          </p:cNvCxnSpPr>
          <p:nvPr/>
        </p:nvCxnSpPr>
        <p:spPr>
          <a:xfrm>
            <a:off x="1973925" y="1872225"/>
            <a:ext cx="0" cy="1365900"/>
          </a:xfrm>
          <a:prstGeom prst="straightConnector1">
            <a:avLst/>
          </a:prstGeom>
          <a:noFill/>
          <a:ln cap="flat" cmpd="sng" w="19050">
            <a:solidFill>
              <a:schemeClr val="dk1"/>
            </a:solidFill>
            <a:prstDash val="dash"/>
            <a:round/>
            <a:headEnd len="med" w="med" type="triangle"/>
            <a:tailEnd len="med" w="med" type="triangle"/>
          </a:ln>
        </p:spPr>
      </p:cxnSp>
      <p:cxnSp>
        <p:nvCxnSpPr>
          <p:cNvPr id="1101" name="Google Shape;1101;p92"/>
          <p:cNvCxnSpPr/>
          <p:nvPr/>
        </p:nvCxnSpPr>
        <p:spPr>
          <a:xfrm>
            <a:off x="1618525" y="2552100"/>
            <a:ext cx="107400" cy="47700"/>
          </a:xfrm>
          <a:prstGeom prst="straightConnector1">
            <a:avLst/>
          </a:prstGeom>
          <a:noFill/>
          <a:ln cap="flat" cmpd="sng" w="38100">
            <a:solidFill>
              <a:schemeClr val="dk2"/>
            </a:solidFill>
            <a:prstDash val="solid"/>
            <a:round/>
            <a:headEnd len="med" w="med" type="none"/>
            <a:tailEnd len="med" w="med" type="none"/>
          </a:ln>
        </p:spPr>
      </p:cxnSp>
      <p:cxnSp>
        <p:nvCxnSpPr>
          <p:cNvPr id="1102" name="Google Shape;1102;p92"/>
          <p:cNvCxnSpPr/>
          <p:nvPr/>
        </p:nvCxnSpPr>
        <p:spPr>
          <a:xfrm flipH="1">
            <a:off x="2220600" y="2527950"/>
            <a:ext cx="134400" cy="87600"/>
          </a:xfrm>
          <a:prstGeom prst="straightConnector1">
            <a:avLst/>
          </a:prstGeom>
          <a:noFill/>
          <a:ln cap="flat" cmpd="sng" w="38100">
            <a:solidFill>
              <a:schemeClr val="dk2"/>
            </a:solidFill>
            <a:prstDash val="solid"/>
            <a:round/>
            <a:headEnd len="med" w="med" type="none"/>
            <a:tailEnd len="med" w="med" type="none"/>
          </a:ln>
        </p:spPr>
      </p:cxnSp>
      <p:sp>
        <p:nvSpPr>
          <p:cNvPr id="1103" name="Google Shape;1103;p92"/>
          <p:cNvSpPr/>
          <p:nvPr/>
        </p:nvSpPr>
        <p:spPr>
          <a:xfrm>
            <a:off x="1292725" y="3826425"/>
            <a:ext cx="1844400" cy="57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4" name="Google Shape;1104;p92"/>
          <p:cNvSpPr txBox="1"/>
          <p:nvPr/>
        </p:nvSpPr>
        <p:spPr>
          <a:xfrm>
            <a:off x="477750" y="3977775"/>
            <a:ext cx="791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1.28 m</a:t>
            </a:r>
            <a:endParaRPr sz="1800">
              <a:solidFill>
                <a:srgbClr val="000000"/>
              </a:solidFill>
              <a:latin typeface="Lexend"/>
              <a:ea typeface="Lexend"/>
              <a:cs typeface="Lexend"/>
              <a:sym typeface="Lexend"/>
            </a:endParaRPr>
          </a:p>
        </p:txBody>
      </p:sp>
      <p:sp>
        <p:nvSpPr>
          <p:cNvPr id="1105" name="Google Shape;1105;p92"/>
          <p:cNvSpPr txBox="1"/>
          <p:nvPr/>
        </p:nvSpPr>
        <p:spPr>
          <a:xfrm>
            <a:off x="1851325" y="4505550"/>
            <a:ext cx="883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3.65 m</a:t>
            </a:r>
            <a:endParaRPr sz="1800">
              <a:solidFill>
                <a:srgbClr val="000000"/>
              </a:solidFill>
              <a:latin typeface="Lexend"/>
              <a:ea typeface="Lexend"/>
              <a:cs typeface="Lexend"/>
              <a:sym typeface="Lexend"/>
            </a:endParaRPr>
          </a:p>
        </p:txBody>
      </p:sp>
      <p:cxnSp>
        <p:nvCxnSpPr>
          <p:cNvPr id="1106" name="Google Shape;1106;p92"/>
          <p:cNvCxnSpPr/>
          <p:nvPr/>
        </p:nvCxnSpPr>
        <p:spPr>
          <a:xfrm flipH="1">
            <a:off x="1292725" y="1838750"/>
            <a:ext cx="605100" cy="1373400"/>
          </a:xfrm>
          <a:prstGeom prst="straightConnector1">
            <a:avLst/>
          </a:prstGeom>
          <a:noFill/>
          <a:ln cap="flat" cmpd="sng" w="9525">
            <a:solidFill>
              <a:schemeClr val="dk1"/>
            </a:solidFill>
            <a:prstDash val="solid"/>
            <a:round/>
            <a:headEnd len="med" w="med" type="triangle"/>
            <a:tailEnd len="med" w="med" type="triangle"/>
          </a:ln>
        </p:spPr>
      </p:cxnSp>
      <p:cxnSp>
        <p:nvCxnSpPr>
          <p:cNvPr id="1107" name="Google Shape;1107;p92"/>
          <p:cNvCxnSpPr/>
          <p:nvPr/>
        </p:nvCxnSpPr>
        <p:spPr>
          <a:xfrm rot="10800000">
            <a:off x="1376100" y="3299750"/>
            <a:ext cx="1199700" cy="0"/>
          </a:xfrm>
          <a:prstGeom prst="straightConnector1">
            <a:avLst/>
          </a:prstGeom>
          <a:noFill/>
          <a:ln cap="flat" cmpd="sng" w="9525">
            <a:solidFill>
              <a:schemeClr val="dk1"/>
            </a:solidFill>
            <a:prstDash val="solid"/>
            <a:round/>
            <a:headEnd len="med" w="med" type="triangle"/>
            <a:tailEnd len="med" w="med" type="triangle"/>
          </a:ln>
        </p:spPr>
      </p:cxnSp>
      <p:cxnSp>
        <p:nvCxnSpPr>
          <p:cNvPr id="1108" name="Google Shape;1108;p92"/>
          <p:cNvCxnSpPr/>
          <p:nvPr/>
        </p:nvCxnSpPr>
        <p:spPr>
          <a:xfrm>
            <a:off x="1307125" y="4479175"/>
            <a:ext cx="1815600" cy="0"/>
          </a:xfrm>
          <a:prstGeom prst="straightConnector1">
            <a:avLst/>
          </a:prstGeom>
          <a:noFill/>
          <a:ln cap="flat" cmpd="sng" w="19050">
            <a:solidFill>
              <a:schemeClr val="dk1"/>
            </a:solidFill>
            <a:prstDash val="solid"/>
            <a:round/>
            <a:headEnd len="med" w="med" type="triangle"/>
            <a:tailEnd len="med" w="med" type="triangle"/>
          </a:ln>
        </p:spPr>
      </p:cxnSp>
      <p:cxnSp>
        <p:nvCxnSpPr>
          <p:cNvPr id="1109" name="Google Shape;1109;p92"/>
          <p:cNvCxnSpPr/>
          <p:nvPr/>
        </p:nvCxnSpPr>
        <p:spPr>
          <a:xfrm>
            <a:off x="1218550" y="3819975"/>
            <a:ext cx="0" cy="592800"/>
          </a:xfrm>
          <a:prstGeom prst="straightConnector1">
            <a:avLst/>
          </a:prstGeom>
          <a:noFill/>
          <a:ln cap="flat" cmpd="sng" w="19050">
            <a:solidFill>
              <a:schemeClr val="dk1"/>
            </a:solidFill>
            <a:prstDash val="solid"/>
            <a:round/>
            <a:headEnd len="med" w="med" type="triangle"/>
            <a:tailEnd len="med" w="med" type="triangl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9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In each of the following questions give your answers to an appropriate degree of accuracy.</a:t>
            </a:r>
            <a:endParaRPr sz="1800"/>
          </a:p>
          <a:p>
            <a:pPr indent="0" lvl="0" marL="0" rtl="0" algn="l">
              <a:spcBef>
                <a:spcPts val="1000"/>
              </a:spcBef>
              <a:spcAft>
                <a:spcPts val="0"/>
              </a:spcAft>
              <a:buNone/>
            </a:pPr>
            <a:r>
              <a:rPr lang="en-GB" sz="1800"/>
              <a:t>2)    Convert the following from dollars into pounds:</a:t>
            </a:r>
            <a:endParaRPr sz="1800"/>
          </a:p>
          <a:p>
            <a:pPr indent="0" lvl="0" marL="0" rtl="0" algn="l">
              <a:spcBef>
                <a:spcPts val="1000"/>
              </a:spcBef>
              <a:spcAft>
                <a:spcPts val="0"/>
              </a:spcAft>
              <a:buNone/>
            </a:pPr>
            <a:r>
              <a:rPr lang="en-GB" sz="1800"/>
              <a:t>Using the exchange rate £1 : $1.27</a:t>
            </a:r>
            <a:endParaRPr sz="1800"/>
          </a:p>
          <a:p>
            <a:pPr indent="0" lvl="0" marL="0" rtl="0" algn="l">
              <a:spcBef>
                <a:spcPts val="1000"/>
              </a:spcBef>
              <a:spcAft>
                <a:spcPts val="0"/>
              </a:spcAft>
              <a:buNone/>
            </a:pPr>
            <a:r>
              <a:rPr lang="en-GB" sz="1800"/>
              <a:t>a)</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GB" sz="1800"/>
              <a:t>b)</a:t>
            </a:r>
            <a:endParaRPr sz="1800"/>
          </a:p>
        </p:txBody>
      </p:sp>
      <p:sp>
        <p:nvSpPr>
          <p:cNvPr id="1115" name="Google Shape;1115;p9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a:t>
            </a:r>
            <a:r>
              <a:rPr lang="en-GB"/>
              <a:t>nswers to an appropriate degree of accuracy</a:t>
            </a:r>
            <a:endParaRPr/>
          </a:p>
        </p:txBody>
      </p:sp>
      <p:pic>
        <p:nvPicPr>
          <p:cNvPr id="1116" name="Google Shape;1116;p93"/>
          <p:cNvPicPr preferRelativeResize="0"/>
          <p:nvPr/>
        </p:nvPicPr>
        <p:blipFill>
          <a:blip r:embed="rId3">
            <a:alphaModFix/>
          </a:blip>
          <a:stretch>
            <a:fillRect/>
          </a:stretch>
        </p:blipFill>
        <p:spPr>
          <a:xfrm>
            <a:off x="736149" y="2198375"/>
            <a:ext cx="653711" cy="1528550"/>
          </a:xfrm>
          <a:prstGeom prst="rect">
            <a:avLst/>
          </a:prstGeom>
          <a:noFill/>
          <a:ln>
            <a:noFill/>
          </a:ln>
        </p:spPr>
      </p:pic>
      <p:pic>
        <p:nvPicPr>
          <p:cNvPr id="1117" name="Google Shape;1117;p93"/>
          <p:cNvPicPr preferRelativeResize="0"/>
          <p:nvPr/>
        </p:nvPicPr>
        <p:blipFill>
          <a:blip r:embed="rId4">
            <a:alphaModFix/>
          </a:blip>
          <a:stretch>
            <a:fillRect/>
          </a:stretch>
        </p:blipFill>
        <p:spPr>
          <a:xfrm>
            <a:off x="665025" y="3888254"/>
            <a:ext cx="1019779" cy="915346"/>
          </a:xfrm>
          <a:prstGeom prst="rect">
            <a:avLst/>
          </a:prstGeom>
          <a:noFill/>
          <a:ln>
            <a:noFill/>
          </a:ln>
        </p:spPr>
      </p:pic>
      <p:sp>
        <p:nvSpPr>
          <p:cNvPr id="1118" name="Google Shape;1118;p93"/>
          <p:cNvSpPr/>
          <p:nvPr/>
        </p:nvSpPr>
        <p:spPr>
          <a:xfrm flipH="1" rot="-1419741">
            <a:off x="1410178" y="2528531"/>
            <a:ext cx="1343230" cy="382862"/>
          </a:xfrm>
          <a:prstGeom prst="homePlate">
            <a:avLst>
              <a:gd fmla="val 50000" name="adj"/>
            </a:avLst>
          </a:prstGeom>
          <a:solidFill>
            <a:srgbClr val="EEEEEE"/>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Lexend"/>
                <a:ea typeface="Lexend"/>
                <a:cs typeface="Lexend"/>
                <a:sym typeface="Lexend"/>
              </a:rPr>
              <a:t>$2.95</a:t>
            </a:r>
            <a:endParaRPr sz="2000">
              <a:latin typeface="Lexend"/>
              <a:ea typeface="Lexend"/>
              <a:cs typeface="Lexend"/>
              <a:sym typeface="Lexend"/>
            </a:endParaRPr>
          </a:p>
        </p:txBody>
      </p:sp>
      <p:sp>
        <p:nvSpPr>
          <p:cNvPr id="1119" name="Google Shape;1119;p93"/>
          <p:cNvSpPr/>
          <p:nvPr/>
        </p:nvSpPr>
        <p:spPr>
          <a:xfrm flipH="1" rot="-1419741">
            <a:off x="1714978" y="3823931"/>
            <a:ext cx="1343230" cy="382862"/>
          </a:xfrm>
          <a:prstGeom prst="homePlate">
            <a:avLst>
              <a:gd fmla="val 50000" name="adj"/>
            </a:avLst>
          </a:prstGeom>
          <a:solidFill>
            <a:srgbClr val="EEEEEE"/>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Lexend"/>
                <a:ea typeface="Lexend"/>
                <a:cs typeface="Lexend"/>
                <a:sym typeface="Lexend"/>
              </a:rPr>
              <a:t>$5.70</a:t>
            </a:r>
            <a:endParaRPr sz="2000">
              <a:latin typeface="Lexend"/>
              <a:ea typeface="Lexend"/>
              <a:cs typeface="Lexend"/>
              <a:sym typeface="Lexend"/>
            </a:endParaRPr>
          </a:p>
        </p:txBody>
      </p:sp>
      <p:sp>
        <p:nvSpPr>
          <p:cNvPr id="1120" name="Google Shape;1120;p93"/>
          <p:cNvSpPr/>
          <p:nvPr/>
        </p:nvSpPr>
        <p:spPr>
          <a:xfrm flipH="1" rot="-1419741">
            <a:off x="1410178" y="2528531"/>
            <a:ext cx="1343230" cy="382862"/>
          </a:xfrm>
          <a:prstGeom prst="homePlate">
            <a:avLst>
              <a:gd fmla="val 50000" name="adj"/>
            </a:avLst>
          </a:prstGeom>
          <a:solidFill>
            <a:srgbClr val="EEEEEE"/>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Lexend"/>
                <a:ea typeface="Lexend"/>
                <a:cs typeface="Lexend"/>
                <a:sym typeface="Lexend"/>
              </a:rPr>
              <a:t>$2.95</a:t>
            </a:r>
            <a:endParaRPr sz="2000">
              <a:latin typeface="Lexend"/>
              <a:ea typeface="Lexend"/>
              <a:cs typeface="Lexend"/>
              <a:sym typeface="Lexen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94"/>
          <p:cNvSpPr txBox="1"/>
          <p:nvPr>
            <p:ph idx="1" type="body"/>
          </p:nvPr>
        </p:nvSpPr>
        <p:spPr>
          <a:xfrm>
            <a:off x="324000" y="759300"/>
            <a:ext cx="84960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    Answer the following.  At each stage give your answer to an appropriate degree of accuracy.</a:t>
            </a:r>
            <a:endParaRPr sz="1800"/>
          </a:p>
          <a:p>
            <a:pPr indent="0" lvl="0" marL="0" rtl="0" algn="l">
              <a:spcBef>
                <a:spcPts val="1000"/>
              </a:spcBef>
              <a:spcAft>
                <a:spcPts val="0"/>
              </a:spcAft>
              <a:buNone/>
            </a:pPr>
            <a:r>
              <a:rPr lang="en-GB" sz="1800"/>
              <a:t>How much will it cost to paint this wall?</a:t>
            </a:r>
            <a:endParaRPr sz="1800"/>
          </a:p>
          <a:p>
            <a:pPr indent="0" lvl="0" marL="0" rtl="0" algn="l">
              <a:spcBef>
                <a:spcPts val="1000"/>
              </a:spcBef>
              <a:spcAft>
                <a:spcPts val="0"/>
              </a:spcAft>
              <a:buNone/>
            </a:pPr>
            <a:r>
              <a:rPr lang="en-GB" sz="1800"/>
              <a:t>1 tin of paint covers 25 m</a:t>
            </a:r>
            <a:r>
              <a:rPr baseline="30000" lang="en-GB" sz="1800"/>
              <a:t>2</a:t>
            </a:r>
            <a:r>
              <a:rPr lang="en-GB" sz="1900"/>
              <a:t>.</a:t>
            </a:r>
            <a:endParaRPr sz="1900"/>
          </a:p>
          <a:p>
            <a:pPr indent="0" lvl="0" marL="0" rtl="0" algn="l">
              <a:spcBef>
                <a:spcPts val="1000"/>
              </a:spcBef>
              <a:spcAft>
                <a:spcPts val="1000"/>
              </a:spcAft>
              <a:buNone/>
            </a:pPr>
            <a:r>
              <a:t/>
            </a:r>
            <a:endParaRPr sz="1800">
              <a:latin typeface="Kalam"/>
              <a:ea typeface="Kalam"/>
              <a:cs typeface="Kalam"/>
              <a:sym typeface="Kalam"/>
            </a:endParaRPr>
          </a:p>
        </p:txBody>
      </p:sp>
      <p:sp>
        <p:nvSpPr>
          <p:cNvPr id="1126" name="Google Shape;1126;p9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a:t>
            </a:r>
            <a:r>
              <a:rPr lang="en-GB"/>
              <a:t>nswers to an appropriate degree of accuracy</a:t>
            </a:r>
            <a:endParaRPr/>
          </a:p>
        </p:txBody>
      </p:sp>
      <p:pic>
        <p:nvPicPr>
          <p:cNvPr id="1127" name="Google Shape;1127;p94"/>
          <p:cNvPicPr preferRelativeResize="0"/>
          <p:nvPr/>
        </p:nvPicPr>
        <p:blipFill rotWithShape="1">
          <a:blip r:embed="rId3">
            <a:alphaModFix/>
          </a:blip>
          <a:srcRect b="0" l="51634" r="0" t="38736"/>
          <a:stretch/>
        </p:blipFill>
        <p:spPr>
          <a:xfrm>
            <a:off x="7458975" y="1156200"/>
            <a:ext cx="1317734" cy="1489876"/>
          </a:xfrm>
          <a:prstGeom prst="rect">
            <a:avLst/>
          </a:prstGeom>
          <a:noFill/>
          <a:ln>
            <a:noFill/>
          </a:ln>
        </p:spPr>
      </p:pic>
      <p:sp>
        <p:nvSpPr>
          <p:cNvPr id="1128" name="Google Shape;1128;p94"/>
          <p:cNvSpPr/>
          <p:nvPr/>
        </p:nvSpPr>
        <p:spPr>
          <a:xfrm rot="842496">
            <a:off x="5970143" y="1506065"/>
            <a:ext cx="1556715" cy="549489"/>
          </a:xfrm>
          <a:prstGeom prst="homePlate">
            <a:avLst>
              <a:gd fmla="val 50000" name="adj"/>
            </a:avLst>
          </a:prstGeom>
          <a:solidFill>
            <a:srgbClr val="F0F0F0"/>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£19.50</a:t>
            </a:r>
            <a:endParaRPr sz="2200">
              <a:latin typeface="Lexend"/>
              <a:ea typeface="Lexend"/>
              <a:cs typeface="Lexend"/>
              <a:sym typeface="Lexend"/>
            </a:endParaRPr>
          </a:p>
        </p:txBody>
      </p:sp>
      <p:sp>
        <p:nvSpPr>
          <p:cNvPr id="1129" name="Google Shape;1129;p94"/>
          <p:cNvSpPr txBox="1"/>
          <p:nvPr/>
        </p:nvSpPr>
        <p:spPr>
          <a:xfrm>
            <a:off x="7738975" y="2099875"/>
            <a:ext cx="727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lt1"/>
                </a:solidFill>
                <a:latin typeface="Lexend"/>
                <a:ea typeface="Lexend"/>
                <a:cs typeface="Lexend"/>
                <a:sym typeface="Lexend"/>
              </a:rPr>
              <a:t>2.5 L</a:t>
            </a:r>
            <a:endParaRPr sz="1800">
              <a:solidFill>
                <a:schemeClr val="lt1"/>
              </a:solidFill>
              <a:latin typeface="Lexend"/>
              <a:ea typeface="Lexend"/>
              <a:cs typeface="Lexend"/>
              <a:sym typeface="Lexend"/>
            </a:endParaRPr>
          </a:p>
        </p:txBody>
      </p:sp>
      <p:sp>
        <p:nvSpPr>
          <p:cNvPr id="1130" name="Google Shape;1130;p94"/>
          <p:cNvSpPr/>
          <p:nvPr/>
        </p:nvSpPr>
        <p:spPr>
          <a:xfrm>
            <a:off x="5376850" y="2698800"/>
            <a:ext cx="1317600" cy="2121600"/>
          </a:xfrm>
          <a:prstGeom prst="rect">
            <a:avLst/>
          </a:prstGeom>
          <a:solidFill>
            <a:srgbClr val="B7B7B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1" name="Google Shape;1131;p94"/>
          <p:cNvSpPr/>
          <p:nvPr/>
        </p:nvSpPr>
        <p:spPr>
          <a:xfrm>
            <a:off x="6633513" y="3330600"/>
            <a:ext cx="1317600" cy="1489800"/>
          </a:xfrm>
          <a:prstGeom prst="rect">
            <a:avLst/>
          </a:prstGeom>
          <a:solidFill>
            <a:srgbClr val="B7B7B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2" name="Google Shape;1132;p94"/>
          <p:cNvSpPr txBox="1"/>
          <p:nvPr/>
        </p:nvSpPr>
        <p:spPr>
          <a:xfrm>
            <a:off x="6354900" y="4467875"/>
            <a:ext cx="762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8.25 m</a:t>
            </a:r>
            <a:endParaRPr sz="1800">
              <a:solidFill>
                <a:srgbClr val="000000"/>
              </a:solidFill>
              <a:latin typeface="Lexend"/>
              <a:ea typeface="Lexend"/>
              <a:cs typeface="Lexend"/>
              <a:sym typeface="Lexend"/>
            </a:endParaRPr>
          </a:p>
        </p:txBody>
      </p:sp>
      <p:sp>
        <p:nvSpPr>
          <p:cNvPr id="1133" name="Google Shape;1133;p94"/>
          <p:cNvSpPr txBox="1"/>
          <p:nvPr/>
        </p:nvSpPr>
        <p:spPr>
          <a:xfrm>
            <a:off x="8065275" y="3902100"/>
            <a:ext cx="762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5.35 m</a:t>
            </a:r>
            <a:endParaRPr sz="1800">
              <a:solidFill>
                <a:srgbClr val="000000"/>
              </a:solidFill>
              <a:latin typeface="Lexend"/>
              <a:ea typeface="Lexend"/>
              <a:cs typeface="Lexend"/>
              <a:sym typeface="Lexend"/>
            </a:endParaRPr>
          </a:p>
        </p:txBody>
      </p:sp>
      <p:sp>
        <p:nvSpPr>
          <p:cNvPr id="1134" name="Google Shape;1134;p94"/>
          <p:cNvSpPr txBox="1"/>
          <p:nvPr/>
        </p:nvSpPr>
        <p:spPr>
          <a:xfrm>
            <a:off x="4485662" y="3621000"/>
            <a:ext cx="886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6.84 m</a:t>
            </a:r>
            <a:endParaRPr sz="1800">
              <a:solidFill>
                <a:srgbClr val="000000"/>
              </a:solidFill>
              <a:latin typeface="Lexend"/>
              <a:ea typeface="Lexend"/>
              <a:cs typeface="Lexend"/>
              <a:sym typeface="Lexend"/>
            </a:endParaRPr>
          </a:p>
        </p:txBody>
      </p:sp>
      <p:sp>
        <p:nvSpPr>
          <p:cNvPr id="1135" name="Google Shape;1135;p94"/>
          <p:cNvSpPr txBox="1"/>
          <p:nvPr/>
        </p:nvSpPr>
        <p:spPr>
          <a:xfrm>
            <a:off x="7082100" y="3019200"/>
            <a:ext cx="443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4 m</a:t>
            </a:r>
            <a:endParaRPr sz="1800">
              <a:solidFill>
                <a:srgbClr val="000000"/>
              </a:solidFill>
              <a:latin typeface="Lexend"/>
              <a:ea typeface="Lexend"/>
              <a:cs typeface="Lexend"/>
              <a:sym typeface="Lexend"/>
            </a:endParaRPr>
          </a:p>
        </p:txBody>
      </p:sp>
      <p:cxnSp>
        <p:nvCxnSpPr>
          <p:cNvPr id="1136" name="Google Shape;1136;p94"/>
          <p:cNvCxnSpPr/>
          <p:nvPr/>
        </p:nvCxnSpPr>
        <p:spPr>
          <a:xfrm>
            <a:off x="5448650" y="4776050"/>
            <a:ext cx="2561400" cy="0"/>
          </a:xfrm>
          <a:prstGeom prst="straightConnector1">
            <a:avLst/>
          </a:prstGeom>
          <a:noFill/>
          <a:ln cap="flat" cmpd="sng" w="19050">
            <a:solidFill>
              <a:schemeClr val="dk1"/>
            </a:solidFill>
            <a:prstDash val="solid"/>
            <a:round/>
            <a:headEnd len="med" w="med" type="triangle"/>
            <a:tailEnd len="med" w="med" type="triangle"/>
          </a:ln>
        </p:spPr>
      </p:cxnSp>
      <p:cxnSp>
        <p:nvCxnSpPr>
          <p:cNvPr id="1137" name="Google Shape;1137;p94"/>
          <p:cNvCxnSpPr/>
          <p:nvPr/>
        </p:nvCxnSpPr>
        <p:spPr>
          <a:xfrm>
            <a:off x="5296150" y="2701800"/>
            <a:ext cx="0" cy="2115600"/>
          </a:xfrm>
          <a:prstGeom prst="straightConnector1">
            <a:avLst/>
          </a:prstGeom>
          <a:noFill/>
          <a:ln cap="flat" cmpd="sng" w="19050">
            <a:solidFill>
              <a:schemeClr val="dk1"/>
            </a:solidFill>
            <a:prstDash val="solid"/>
            <a:round/>
            <a:headEnd len="med" w="med" type="triangle"/>
            <a:tailEnd len="med" w="med" type="triangle"/>
          </a:ln>
        </p:spPr>
      </p:cxnSp>
      <p:cxnSp>
        <p:nvCxnSpPr>
          <p:cNvPr id="1138" name="Google Shape;1138;p94"/>
          <p:cNvCxnSpPr/>
          <p:nvPr/>
        </p:nvCxnSpPr>
        <p:spPr>
          <a:xfrm>
            <a:off x="6707025" y="3265600"/>
            <a:ext cx="1244100" cy="0"/>
          </a:xfrm>
          <a:prstGeom prst="straightConnector1">
            <a:avLst/>
          </a:prstGeom>
          <a:noFill/>
          <a:ln cap="flat" cmpd="sng" w="19050">
            <a:solidFill>
              <a:schemeClr val="dk1"/>
            </a:solidFill>
            <a:prstDash val="solid"/>
            <a:round/>
            <a:headEnd len="med" w="med" type="triangle"/>
            <a:tailEnd len="med" w="med" type="triangle"/>
          </a:ln>
        </p:spPr>
      </p:cxnSp>
      <p:cxnSp>
        <p:nvCxnSpPr>
          <p:cNvPr id="1139" name="Google Shape;1139;p94"/>
          <p:cNvCxnSpPr/>
          <p:nvPr/>
        </p:nvCxnSpPr>
        <p:spPr>
          <a:xfrm>
            <a:off x="8025975" y="3336750"/>
            <a:ext cx="0" cy="1477500"/>
          </a:xfrm>
          <a:prstGeom prst="straightConnector1">
            <a:avLst/>
          </a:prstGeom>
          <a:noFill/>
          <a:ln cap="flat" cmpd="sng" w="19050">
            <a:solidFill>
              <a:schemeClr val="dk1"/>
            </a:solidFill>
            <a:prstDash val="solid"/>
            <a:round/>
            <a:headEnd len="med" w="med" type="triangle"/>
            <a:tailEnd len="med" w="med" type="triangl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9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a:t>
            </a:r>
            <a:r>
              <a:rPr lang="en-GB"/>
              <a:t>nswers to an appropriate degree of accuracy</a:t>
            </a:r>
            <a:endParaRPr/>
          </a:p>
        </p:txBody>
      </p:sp>
      <p:sp>
        <p:nvSpPr>
          <p:cNvPr id="1145" name="Google Shape;1145;p9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In each of the following questions give your answers to an appropriate degree of accuracy.</a:t>
            </a:r>
            <a:endParaRPr sz="1800"/>
          </a:p>
          <a:p>
            <a:pPr indent="0" lvl="0" marL="0" rtl="0" algn="l">
              <a:spcBef>
                <a:spcPts val="1000"/>
              </a:spcBef>
              <a:spcAft>
                <a:spcPts val="0"/>
              </a:spcAft>
              <a:buNone/>
            </a:pPr>
            <a:r>
              <a:rPr lang="en-GB" sz="1800"/>
              <a:t>4)    Use you calculator to answer the following:</a:t>
            </a:r>
            <a:endParaRPr sz="1800"/>
          </a:p>
          <a:p>
            <a:pPr indent="0" lvl="0" marL="0" rtl="0" algn="l">
              <a:spcBef>
                <a:spcPts val="1000"/>
              </a:spcBef>
              <a:spcAft>
                <a:spcPts val="0"/>
              </a:spcAft>
              <a:buNone/>
            </a:pPr>
            <a:r>
              <a:rPr lang="en-GB" sz="1800"/>
              <a:t>a)</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GB" sz="1800"/>
              <a:t>b)</a:t>
            </a:r>
            <a:endParaRPr sz="1800"/>
          </a:p>
        </p:txBody>
      </p:sp>
      <p:cxnSp>
        <p:nvCxnSpPr>
          <p:cNvPr id="1146" name="Google Shape;1146;p95"/>
          <p:cNvCxnSpPr>
            <a:stCxn id="1147" idx="1"/>
            <a:endCxn id="1147" idx="1"/>
          </p:cNvCxnSpPr>
          <p:nvPr/>
        </p:nvCxnSpPr>
        <p:spPr>
          <a:xfrm>
            <a:off x="1676325" y="2553225"/>
            <a:ext cx="0" cy="0"/>
          </a:xfrm>
          <a:prstGeom prst="straightConnector1">
            <a:avLst/>
          </a:prstGeom>
          <a:noFill/>
          <a:ln cap="flat" cmpd="sng" w="9525">
            <a:solidFill>
              <a:schemeClr val="dk2"/>
            </a:solidFill>
            <a:prstDash val="solid"/>
            <a:round/>
            <a:headEnd len="med" w="med" type="none"/>
            <a:tailEnd len="med" w="med" type="none"/>
          </a:ln>
        </p:spPr>
      </p:cxnSp>
      <p:cxnSp>
        <p:nvCxnSpPr>
          <p:cNvPr id="1148" name="Google Shape;1148;p95"/>
          <p:cNvCxnSpPr>
            <a:stCxn id="1147" idx="1"/>
            <a:endCxn id="1147" idx="1"/>
          </p:cNvCxnSpPr>
          <p:nvPr/>
        </p:nvCxnSpPr>
        <p:spPr>
          <a:xfrm>
            <a:off x="1676325" y="2553225"/>
            <a:ext cx="0" cy="0"/>
          </a:xfrm>
          <a:prstGeom prst="straightConnector1">
            <a:avLst/>
          </a:prstGeom>
          <a:noFill/>
          <a:ln cap="flat" cmpd="sng" w="9525">
            <a:solidFill>
              <a:schemeClr val="dk2"/>
            </a:solidFill>
            <a:prstDash val="solid"/>
            <a:round/>
            <a:headEnd len="med" w="med" type="none"/>
            <a:tailEnd len="med" w="med" type="none"/>
          </a:ln>
        </p:spPr>
      </p:cxnSp>
      <p:pic>
        <p:nvPicPr>
          <p:cNvPr descr="&lt;math xmlns=&quot;http://www.w3.org/1998/Math/MathML&quot; display=&quot;block&quot; data-is-equatio=&quot;1&quot; data-latex=&quot;\frac{\sqrt{22}+3.8}{380\ -\ 0.54}&quot;&gt;&lt;mfrac&gt;&lt;mrow&gt;&lt;msqrt&gt;&lt;mn&gt;22&lt;/mn&gt;&lt;/msqrt&gt;&lt;mo&gt;+&lt;/mo&gt;&lt;mn&gt;3.8&lt;/mn&gt;&lt;/mrow&gt;&lt;mrow&gt;&lt;mn&gt;380&lt;/mn&gt;&lt;mtext&gt;&lt;/mtext&gt;&lt;mo&gt;−&lt;/mo&gt;&lt;mtext&gt;&lt;/mtext&gt;&lt;mn&gt;0.54&lt;/mn&gt;&lt;/mrow&gt;&lt;/mfrac&gt;&lt;/math&gt;" id="1149" name="Google Shape;1149;p95" title="the fraction with numerator the square root of 22 plus 3.8 and denominator 380 minus 0.54"/>
          <p:cNvPicPr preferRelativeResize="0"/>
          <p:nvPr/>
        </p:nvPicPr>
        <p:blipFill>
          <a:blip r:embed="rId3">
            <a:alphaModFix/>
          </a:blip>
          <a:stretch>
            <a:fillRect/>
          </a:stretch>
        </p:blipFill>
        <p:spPr>
          <a:xfrm>
            <a:off x="790800" y="1925857"/>
            <a:ext cx="1558234" cy="774150"/>
          </a:xfrm>
          <a:prstGeom prst="rect">
            <a:avLst/>
          </a:prstGeom>
          <a:noFill/>
          <a:ln>
            <a:noFill/>
          </a:ln>
        </p:spPr>
      </p:pic>
      <p:pic>
        <p:nvPicPr>
          <p:cNvPr descr="&lt;math xmlns=&quot;http://www.w3.org/1998/Math/MathML&quot; display=&quot;block&quot; data-is-equatio=&quot;1&quot; data-latex=&quot;\frac{1.28\ +\left(11.05\right)^2}{0.07\ \times3.92}&quot;&gt;&lt;mfrac&gt;&lt;mrow&gt;&lt;mn&gt;1.28&lt;/mn&gt;&lt;mtext&gt;&lt;/mtext&gt;&lt;mo&gt;+&lt;/mo&gt;&lt;msup&gt;&lt;mrow data-mjx-texclass=&quot;INNER&quot;&gt;&lt;mo data-mjx-texclass=&quot;OPEN&quot;&gt;(&lt;/mo&gt;&lt;mn&gt;11.05&lt;/mn&gt;&lt;mo data-mjx-texclass=&quot;CLOSE&quot;&gt;)&lt;/mo&gt;&lt;/mrow&gt;&lt;mn&gt;2&lt;/mn&gt;&lt;/msup&gt;&lt;/mrow&gt;&lt;mrow&gt;&lt;mn&gt;0.07&lt;/mn&gt;&lt;mtext&gt;&lt;/mtext&gt;&lt;mo&gt;×&lt;/mo&gt;&lt;mn&gt;3.92&lt;/mn&gt;&lt;/mrow&gt;&lt;/mfrac&gt;&lt;/math&gt;" id="1150" name="Google Shape;1150;p95" title="the fraction with numerator 1.28 positive 11.05 squared and denominator 0.07 times 3.92"/>
          <p:cNvPicPr preferRelativeResize="0"/>
          <p:nvPr/>
        </p:nvPicPr>
        <p:blipFill>
          <a:blip r:embed="rId4">
            <a:alphaModFix/>
          </a:blip>
          <a:stretch>
            <a:fillRect/>
          </a:stretch>
        </p:blipFill>
        <p:spPr>
          <a:xfrm>
            <a:off x="790801" y="3567274"/>
            <a:ext cx="2202640" cy="7741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9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a:t>
            </a:r>
            <a:r>
              <a:rPr lang="en-GB"/>
              <a:t>nswers to an appropriate degree of accuracy</a:t>
            </a:r>
            <a:endParaRPr/>
          </a:p>
        </p:txBody>
      </p:sp>
      <p:sp>
        <p:nvSpPr>
          <p:cNvPr id="1156" name="Google Shape;1156;p9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In each of the following questions give your answers to an appropriate degree of accuracy.</a:t>
            </a:r>
            <a:endParaRPr sz="1800"/>
          </a:p>
          <a:p>
            <a:pPr indent="-342900" lvl="0" marL="457200" rtl="0" algn="l">
              <a:spcBef>
                <a:spcPts val="0"/>
              </a:spcBef>
              <a:spcAft>
                <a:spcPts val="0"/>
              </a:spcAft>
              <a:buSzPts val="1800"/>
              <a:buAutoNum type="arabicParenR"/>
            </a:pPr>
            <a:r>
              <a:rPr lang="en-GB" sz="1800"/>
              <a:t>Calculate the area and perimeter of the following:</a:t>
            </a:r>
            <a:endParaRPr sz="1800"/>
          </a:p>
          <a:p>
            <a:pPr indent="0" lvl="0" marL="0" rtl="0" algn="l">
              <a:spcBef>
                <a:spcPts val="1000"/>
              </a:spcBef>
              <a:spcAft>
                <a:spcPts val="0"/>
              </a:spcAft>
              <a:buNone/>
            </a:pPr>
            <a:r>
              <a:rPr lang="en-GB" sz="1800"/>
              <a:t>a)</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GB" sz="1800"/>
              <a:t>b)</a:t>
            </a:r>
            <a:endParaRPr sz="1800"/>
          </a:p>
        </p:txBody>
      </p:sp>
      <p:sp>
        <p:nvSpPr>
          <p:cNvPr id="1157" name="Google Shape;1157;p96"/>
          <p:cNvSpPr txBox="1"/>
          <p:nvPr/>
        </p:nvSpPr>
        <p:spPr>
          <a:xfrm>
            <a:off x="3700730" y="2104200"/>
            <a:ext cx="5034600" cy="1231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Perimeter	= 2 </a:t>
            </a:r>
            <a:r>
              <a:rPr lang="en-GB" sz="2000">
                <a:solidFill>
                  <a:schemeClr val="dk1"/>
                </a:solidFill>
                <a:latin typeface="Kalam"/>
                <a:ea typeface="Kalam"/>
                <a:cs typeface="Kalam"/>
                <a:sym typeface="Kalam"/>
              </a:rPr>
              <a:t>× </a:t>
            </a:r>
            <a:r>
              <a:rPr lang="en-GB" sz="2000">
                <a:latin typeface="Kalam"/>
                <a:ea typeface="Kalam"/>
                <a:cs typeface="Kalam"/>
                <a:sym typeface="Kalam"/>
              </a:rPr>
              <a:t>5.2 + 3.4</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			= 13.8 cm</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Area	= ½ </a:t>
            </a:r>
            <a:r>
              <a:rPr lang="en-GB" sz="2000">
                <a:solidFill>
                  <a:schemeClr val="dk1"/>
                </a:solidFill>
                <a:latin typeface="Kalam"/>
                <a:ea typeface="Kalam"/>
                <a:cs typeface="Kalam"/>
                <a:sym typeface="Kalam"/>
              </a:rPr>
              <a:t>× 3.4 × 4.9</a:t>
            </a:r>
            <a:r>
              <a:rPr lang="en-GB" sz="2000">
                <a:latin typeface="Kalam"/>
                <a:ea typeface="Kalam"/>
                <a:cs typeface="Kalam"/>
                <a:sym typeface="Kalam"/>
              </a:rPr>
              <a:t>  </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		= 8.3 </a:t>
            </a:r>
            <a:r>
              <a:rPr lang="en-GB" sz="2000">
                <a:solidFill>
                  <a:schemeClr val="dk1"/>
                </a:solidFill>
                <a:latin typeface="Kalam"/>
                <a:ea typeface="Kalam"/>
                <a:cs typeface="Kalam"/>
                <a:sym typeface="Kalam"/>
              </a:rPr>
              <a:t>cm</a:t>
            </a:r>
            <a:r>
              <a:rPr baseline="30000" lang="en-GB" sz="2000">
                <a:solidFill>
                  <a:schemeClr val="dk1"/>
                </a:solidFill>
                <a:latin typeface="Kalam"/>
                <a:ea typeface="Kalam"/>
                <a:cs typeface="Kalam"/>
                <a:sym typeface="Kalam"/>
              </a:rPr>
              <a:t>2 </a:t>
            </a:r>
            <a:r>
              <a:rPr lang="en-GB" sz="2000">
                <a:latin typeface="Kalam"/>
                <a:ea typeface="Kalam"/>
                <a:cs typeface="Kalam"/>
                <a:sym typeface="Kalam"/>
              </a:rPr>
              <a:t>(to 1 d.p.)</a:t>
            </a:r>
            <a:endParaRPr sz="2000">
              <a:latin typeface="Kalam"/>
              <a:ea typeface="Kalam"/>
              <a:cs typeface="Kalam"/>
              <a:sym typeface="Kalam"/>
            </a:endParaRPr>
          </a:p>
        </p:txBody>
      </p:sp>
      <p:sp>
        <p:nvSpPr>
          <p:cNvPr id="1158" name="Google Shape;1158;p96"/>
          <p:cNvSpPr txBox="1"/>
          <p:nvPr/>
        </p:nvSpPr>
        <p:spPr>
          <a:xfrm>
            <a:off x="3700730" y="3567263"/>
            <a:ext cx="5034600" cy="1231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Perimeter	= 2 </a:t>
            </a:r>
            <a:r>
              <a:rPr lang="en-GB" sz="2000">
                <a:solidFill>
                  <a:schemeClr val="dk1"/>
                </a:solidFill>
                <a:latin typeface="Kalam"/>
                <a:ea typeface="Kalam"/>
                <a:cs typeface="Kalam"/>
                <a:sym typeface="Kalam"/>
              </a:rPr>
              <a:t>× (</a:t>
            </a:r>
            <a:r>
              <a:rPr lang="en-GB" sz="2000">
                <a:latin typeface="Kalam"/>
                <a:ea typeface="Kalam"/>
                <a:cs typeface="Kalam"/>
                <a:sym typeface="Kalam"/>
              </a:rPr>
              <a:t>1.28</a:t>
            </a:r>
            <a:r>
              <a:rPr lang="en-GB" sz="2000">
                <a:latin typeface="Kalam"/>
                <a:ea typeface="Kalam"/>
                <a:cs typeface="Kalam"/>
                <a:sym typeface="Kalam"/>
              </a:rPr>
              <a:t> + 3.65)</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			= 9.86 m</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Area	= </a:t>
            </a:r>
            <a:r>
              <a:rPr lang="en-GB" sz="2000">
                <a:solidFill>
                  <a:schemeClr val="dk1"/>
                </a:solidFill>
                <a:latin typeface="Kalam"/>
                <a:ea typeface="Kalam"/>
                <a:cs typeface="Kalam"/>
                <a:sym typeface="Kalam"/>
              </a:rPr>
              <a:t>1.28</a:t>
            </a:r>
            <a:r>
              <a:rPr lang="en-GB" sz="2000">
                <a:solidFill>
                  <a:schemeClr val="dk1"/>
                </a:solidFill>
                <a:latin typeface="Kalam"/>
                <a:ea typeface="Kalam"/>
                <a:cs typeface="Kalam"/>
                <a:sym typeface="Kalam"/>
              </a:rPr>
              <a:t> × 3.65</a:t>
            </a:r>
            <a:r>
              <a:rPr lang="en-GB" sz="2000">
                <a:latin typeface="Kalam"/>
                <a:ea typeface="Kalam"/>
                <a:cs typeface="Kalam"/>
                <a:sym typeface="Kalam"/>
              </a:rPr>
              <a:t>  </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		= 4.67 </a:t>
            </a:r>
            <a:r>
              <a:rPr lang="en-GB" sz="2000">
                <a:solidFill>
                  <a:schemeClr val="dk1"/>
                </a:solidFill>
                <a:latin typeface="Kalam"/>
                <a:ea typeface="Kalam"/>
                <a:cs typeface="Kalam"/>
                <a:sym typeface="Kalam"/>
              </a:rPr>
              <a:t>m</a:t>
            </a:r>
            <a:r>
              <a:rPr baseline="30000" lang="en-GB" sz="2000">
                <a:solidFill>
                  <a:schemeClr val="dk1"/>
                </a:solidFill>
                <a:latin typeface="Kalam"/>
                <a:ea typeface="Kalam"/>
                <a:cs typeface="Kalam"/>
                <a:sym typeface="Kalam"/>
              </a:rPr>
              <a:t>2</a:t>
            </a:r>
            <a:r>
              <a:rPr lang="en-GB" sz="2000">
                <a:latin typeface="Kalam"/>
                <a:ea typeface="Kalam"/>
                <a:cs typeface="Kalam"/>
                <a:sym typeface="Kalam"/>
              </a:rPr>
              <a:t> (to 2 d.p.)</a:t>
            </a:r>
            <a:endParaRPr sz="2000">
              <a:latin typeface="Kalam"/>
              <a:ea typeface="Kalam"/>
              <a:cs typeface="Kalam"/>
              <a:sym typeface="Kalam"/>
            </a:endParaRPr>
          </a:p>
        </p:txBody>
      </p:sp>
      <p:sp>
        <p:nvSpPr>
          <p:cNvPr id="1159" name="Google Shape;1159;p96"/>
          <p:cNvSpPr/>
          <p:nvPr/>
        </p:nvSpPr>
        <p:spPr>
          <a:xfrm>
            <a:off x="1378725" y="1872225"/>
            <a:ext cx="1190400" cy="13620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0" name="Google Shape;1160;p96"/>
          <p:cNvSpPr txBox="1"/>
          <p:nvPr/>
        </p:nvSpPr>
        <p:spPr>
          <a:xfrm>
            <a:off x="832062" y="2322600"/>
            <a:ext cx="727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5.2 cm</a:t>
            </a:r>
            <a:endParaRPr sz="1800">
              <a:solidFill>
                <a:srgbClr val="000000"/>
              </a:solidFill>
              <a:latin typeface="Lexend"/>
              <a:ea typeface="Lexend"/>
              <a:cs typeface="Lexend"/>
              <a:sym typeface="Lexend"/>
            </a:endParaRPr>
          </a:p>
        </p:txBody>
      </p:sp>
      <p:cxnSp>
        <p:nvCxnSpPr>
          <p:cNvPr id="1161" name="Google Shape;1161;p96"/>
          <p:cNvCxnSpPr>
            <a:stCxn id="1159" idx="1"/>
            <a:endCxn id="1159" idx="1"/>
          </p:cNvCxnSpPr>
          <p:nvPr/>
        </p:nvCxnSpPr>
        <p:spPr>
          <a:xfrm>
            <a:off x="1676325" y="2553225"/>
            <a:ext cx="0" cy="0"/>
          </a:xfrm>
          <a:prstGeom prst="straightConnector1">
            <a:avLst/>
          </a:prstGeom>
          <a:noFill/>
          <a:ln cap="flat" cmpd="sng" w="9525">
            <a:solidFill>
              <a:schemeClr val="dk2"/>
            </a:solidFill>
            <a:prstDash val="solid"/>
            <a:round/>
            <a:headEnd len="med" w="med" type="none"/>
            <a:tailEnd len="med" w="med" type="none"/>
          </a:ln>
        </p:spPr>
      </p:cxnSp>
      <p:cxnSp>
        <p:nvCxnSpPr>
          <p:cNvPr id="1162" name="Google Shape;1162;p96"/>
          <p:cNvCxnSpPr>
            <a:stCxn id="1159" idx="1"/>
            <a:endCxn id="1159" idx="1"/>
          </p:cNvCxnSpPr>
          <p:nvPr/>
        </p:nvCxnSpPr>
        <p:spPr>
          <a:xfrm>
            <a:off x="1676325" y="2553225"/>
            <a:ext cx="0" cy="0"/>
          </a:xfrm>
          <a:prstGeom prst="straightConnector1">
            <a:avLst/>
          </a:prstGeom>
          <a:noFill/>
          <a:ln cap="flat" cmpd="sng" w="9525">
            <a:solidFill>
              <a:schemeClr val="dk2"/>
            </a:solidFill>
            <a:prstDash val="solid"/>
            <a:round/>
            <a:headEnd len="med" w="med" type="none"/>
            <a:tailEnd len="med" w="med" type="none"/>
          </a:ln>
        </p:spPr>
      </p:cxnSp>
      <p:sp>
        <p:nvSpPr>
          <p:cNvPr id="1163" name="Google Shape;1163;p96"/>
          <p:cNvSpPr txBox="1"/>
          <p:nvPr/>
        </p:nvSpPr>
        <p:spPr>
          <a:xfrm>
            <a:off x="2007850" y="2713800"/>
            <a:ext cx="727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4.9 cm</a:t>
            </a:r>
            <a:endParaRPr sz="1800">
              <a:solidFill>
                <a:srgbClr val="000000"/>
              </a:solidFill>
              <a:latin typeface="Lexend"/>
              <a:ea typeface="Lexend"/>
              <a:cs typeface="Lexend"/>
              <a:sym typeface="Lexend"/>
            </a:endParaRPr>
          </a:p>
        </p:txBody>
      </p:sp>
      <p:sp>
        <p:nvSpPr>
          <p:cNvPr id="1164" name="Google Shape;1164;p96"/>
          <p:cNvSpPr txBox="1"/>
          <p:nvPr/>
        </p:nvSpPr>
        <p:spPr>
          <a:xfrm>
            <a:off x="1661424" y="3288225"/>
            <a:ext cx="727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3.4 cm</a:t>
            </a:r>
            <a:endParaRPr sz="1800">
              <a:solidFill>
                <a:srgbClr val="000000"/>
              </a:solidFill>
              <a:latin typeface="Lexend"/>
              <a:ea typeface="Lexend"/>
              <a:cs typeface="Lexend"/>
              <a:sym typeface="Lexend"/>
            </a:endParaRPr>
          </a:p>
        </p:txBody>
      </p:sp>
      <p:cxnSp>
        <p:nvCxnSpPr>
          <p:cNvPr id="1165" name="Google Shape;1165;p96"/>
          <p:cNvCxnSpPr>
            <a:stCxn id="1159" idx="0"/>
          </p:cNvCxnSpPr>
          <p:nvPr/>
        </p:nvCxnSpPr>
        <p:spPr>
          <a:xfrm>
            <a:off x="1973925" y="1872225"/>
            <a:ext cx="0" cy="1365900"/>
          </a:xfrm>
          <a:prstGeom prst="straightConnector1">
            <a:avLst/>
          </a:prstGeom>
          <a:noFill/>
          <a:ln cap="flat" cmpd="sng" w="19050">
            <a:solidFill>
              <a:schemeClr val="dk1"/>
            </a:solidFill>
            <a:prstDash val="dash"/>
            <a:round/>
            <a:headEnd len="med" w="med" type="triangle"/>
            <a:tailEnd len="med" w="med" type="triangle"/>
          </a:ln>
        </p:spPr>
      </p:cxnSp>
      <p:cxnSp>
        <p:nvCxnSpPr>
          <p:cNvPr id="1166" name="Google Shape;1166;p96"/>
          <p:cNvCxnSpPr/>
          <p:nvPr/>
        </p:nvCxnSpPr>
        <p:spPr>
          <a:xfrm>
            <a:off x="1618525" y="2552100"/>
            <a:ext cx="107400" cy="47700"/>
          </a:xfrm>
          <a:prstGeom prst="straightConnector1">
            <a:avLst/>
          </a:prstGeom>
          <a:noFill/>
          <a:ln cap="flat" cmpd="sng" w="38100">
            <a:solidFill>
              <a:schemeClr val="dk2"/>
            </a:solidFill>
            <a:prstDash val="solid"/>
            <a:round/>
            <a:headEnd len="med" w="med" type="none"/>
            <a:tailEnd len="med" w="med" type="none"/>
          </a:ln>
        </p:spPr>
      </p:cxnSp>
      <p:cxnSp>
        <p:nvCxnSpPr>
          <p:cNvPr id="1167" name="Google Shape;1167;p96"/>
          <p:cNvCxnSpPr/>
          <p:nvPr/>
        </p:nvCxnSpPr>
        <p:spPr>
          <a:xfrm flipH="1">
            <a:off x="2220600" y="2527950"/>
            <a:ext cx="134400" cy="87600"/>
          </a:xfrm>
          <a:prstGeom prst="straightConnector1">
            <a:avLst/>
          </a:prstGeom>
          <a:noFill/>
          <a:ln cap="flat" cmpd="sng" w="38100">
            <a:solidFill>
              <a:schemeClr val="dk2"/>
            </a:solidFill>
            <a:prstDash val="solid"/>
            <a:round/>
            <a:headEnd len="med" w="med" type="none"/>
            <a:tailEnd len="med" w="med" type="none"/>
          </a:ln>
        </p:spPr>
      </p:cxnSp>
      <p:sp>
        <p:nvSpPr>
          <p:cNvPr id="1168" name="Google Shape;1168;p96"/>
          <p:cNvSpPr/>
          <p:nvPr/>
        </p:nvSpPr>
        <p:spPr>
          <a:xfrm>
            <a:off x="1292725" y="3826425"/>
            <a:ext cx="1844400" cy="579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9" name="Google Shape;1169;p96"/>
          <p:cNvSpPr txBox="1"/>
          <p:nvPr/>
        </p:nvSpPr>
        <p:spPr>
          <a:xfrm>
            <a:off x="452200" y="3977775"/>
            <a:ext cx="816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1.28 m</a:t>
            </a:r>
            <a:endParaRPr sz="1800">
              <a:solidFill>
                <a:srgbClr val="000000"/>
              </a:solidFill>
              <a:latin typeface="Lexend"/>
              <a:ea typeface="Lexend"/>
              <a:cs typeface="Lexend"/>
              <a:sym typeface="Lexend"/>
            </a:endParaRPr>
          </a:p>
        </p:txBody>
      </p:sp>
      <p:sp>
        <p:nvSpPr>
          <p:cNvPr id="1170" name="Google Shape;1170;p96"/>
          <p:cNvSpPr txBox="1"/>
          <p:nvPr/>
        </p:nvSpPr>
        <p:spPr>
          <a:xfrm>
            <a:off x="1851325" y="4505550"/>
            <a:ext cx="816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3.65 m</a:t>
            </a:r>
            <a:endParaRPr sz="1800">
              <a:solidFill>
                <a:srgbClr val="000000"/>
              </a:solidFill>
              <a:latin typeface="Lexend"/>
              <a:ea typeface="Lexend"/>
              <a:cs typeface="Lexend"/>
              <a:sym typeface="Lexend"/>
            </a:endParaRPr>
          </a:p>
        </p:txBody>
      </p:sp>
      <p:cxnSp>
        <p:nvCxnSpPr>
          <p:cNvPr id="1171" name="Google Shape;1171;p96"/>
          <p:cNvCxnSpPr/>
          <p:nvPr/>
        </p:nvCxnSpPr>
        <p:spPr>
          <a:xfrm flipH="1">
            <a:off x="1292725" y="1838750"/>
            <a:ext cx="605100" cy="1373400"/>
          </a:xfrm>
          <a:prstGeom prst="straightConnector1">
            <a:avLst/>
          </a:prstGeom>
          <a:noFill/>
          <a:ln cap="flat" cmpd="sng" w="9525">
            <a:solidFill>
              <a:schemeClr val="dk1"/>
            </a:solidFill>
            <a:prstDash val="solid"/>
            <a:round/>
            <a:headEnd len="med" w="med" type="triangle"/>
            <a:tailEnd len="med" w="med" type="triangle"/>
          </a:ln>
        </p:spPr>
      </p:cxnSp>
      <p:cxnSp>
        <p:nvCxnSpPr>
          <p:cNvPr id="1172" name="Google Shape;1172;p96"/>
          <p:cNvCxnSpPr/>
          <p:nvPr/>
        </p:nvCxnSpPr>
        <p:spPr>
          <a:xfrm rot="10800000">
            <a:off x="1376100" y="3299750"/>
            <a:ext cx="1199700" cy="0"/>
          </a:xfrm>
          <a:prstGeom prst="straightConnector1">
            <a:avLst/>
          </a:prstGeom>
          <a:noFill/>
          <a:ln cap="flat" cmpd="sng" w="9525">
            <a:solidFill>
              <a:schemeClr val="dk1"/>
            </a:solidFill>
            <a:prstDash val="solid"/>
            <a:round/>
            <a:headEnd len="med" w="med" type="triangle"/>
            <a:tailEnd len="med" w="med" type="triangle"/>
          </a:ln>
        </p:spPr>
      </p:cxnSp>
      <p:cxnSp>
        <p:nvCxnSpPr>
          <p:cNvPr id="1173" name="Google Shape;1173;p96"/>
          <p:cNvCxnSpPr/>
          <p:nvPr/>
        </p:nvCxnSpPr>
        <p:spPr>
          <a:xfrm>
            <a:off x="1307125" y="4479175"/>
            <a:ext cx="1815600" cy="0"/>
          </a:xfrm>
          <a:prstGeom prst="straightConnector1">
            <a:avLst/>
          </a:prstGeom>
          <a:noFill/>
          <a:ln cap="flat" cmpd="sng" w="19050">
            <a:solidFill>
              <a:schemeClr val="dk1"/>
            </a:solidFill>
            <a:prstDash val="solid"/>
            <a:round/>
            <a:headEnd len="med" w="med" type="triangle"/>
            <a:tailEnd len="med" w="med" type="triangle"/>
          </a:ln>
        </p:spPr>
      </p:cxnSp>
      <p:cxnSp>
        <p:nvCxnSpPr>
          <p:cNvPr id="1174" name="Google Shape;1174;p96"/>
          <p:cNvCxnSpPr/>
          <p:nvPr/>
        </p:nvCxnSpPr>
        <p:spPr>
          <a:xfrm>
            <a:off x="1218550" y="3819975"/>
            <a:ext cx="0" cy="592800"/>
          </a:xfrm>
          <a:prstGeom prst="straightConnector1">
            <a:avLst/>
          </a:prstGeom>
          <a:noFill/>
          <a:ln cap="flat" cmpd="sng" w="19050">
            <a:solidFill>
              <a:schemeClr val="dk1"/>
            </a:solidFill>
            <a:prstDash val="solid"/>
            <a:round/>
            <a:headEnd len="med" w="med" type="triangle"/>
            <a:tailEnd len="med" w="med" type="triangl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8" name="Shape 1178"/>
        <p:cNvGrpSpPr/>
        <p:nvPr/>
      </p:nvGrpSpPr>
      <p:grpSpPr>
        <a:xfrm>
          <a:off x="0" y="0"/>
          <a:ext cx="0" cy="0"/>
          <a:chOff x="0" y="0"/>
          <a:chExt cx="0" cy="0"/>
        </a:xfrm>
      </p:grpSpPr>
      <p:sp>
        <p:nvSpPr>
          <p:cNvPr id="1179" name="Google Shape;1179;p9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In each of the following questions give your answers to an appropriate degree of accuracy.</a:t>
            </a:r>
            <a:endParaRPr sz="1800"/>
          </a:p>
          <a:p>
            <a:pPr indent="0" lvl="0" marL="0" rtl="0" algn="l">
              <a:spcBef>
                <a:spcPts val="0"/>
              </a:spcBef>
              <a:spcAft>
                <a:spcPts val="0"/>
              </a:spcAft>
              <a:buNone/>
            </a:pPr>
            <a:r>
              <a:rPr lang="en-GB" sz="1800"/>
              <a:t>2)	Convert the </a:t>
            </a:r>
            <a:r>
              <a:rPr lang="en-GB" sz="1800"/>
              <a:t>following</a:t>
            </a:r>
            <a:r>
              <a:rPr lang="en-GB" sz="1800"/>
              <a:t> from </a:t>
            </a:r>
            <a:r>
              <a:rPr lang="en-GB" sz="1800"/>
              <a:t>dollars into pounds</a:t>
            </a:r>
            <a:r>
              <a:rPr lang="en-GB" sz="1800"/>
              <a:t>:</a:t>
            </a:r>
            <a:endParaRPr sz="1800"/>
          </a:p>
          <a:p>
            <a:pPr indent="0" lvl="0" marL="0" rtl="0" algn="l">
              <a:spcBef>
                <a:spcPts val="1000"/>
              </a:spcBef>
              <a:spcAft>
                <a:spcPts val="0"/>
              </a:spcAft>
              <a:buNone/>
            </a:pPr>
            <a:r>
              <a:rPr lang="en-GB" sz="1800"/>
              <a:t>Using the exchange rate £1 : $1.27</a:t>
            </a:r>
            <a:endParaRPr sz="1800"/>
          </a:p>
          <a:p>
            <a:pPr indent="0" lvl="0" marL="0" rtl="0" algn="l">
              <a:spcBef>
                <a:spcPts val="1000"/>
              </a:spcBef>
              <a:spcAft>
                <a:spcPts val="0"/>
              </a:spcAft>
              <a:buNone/>
            </a:pPr>
            <a:r>
              <a:rPr lang="en-GB" sz="1800"/>
              <a:t>a)</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GB" sz="1800"/>
              <a:t>b)</a:t>
            </a:r>
            <a:endParaRPr sz="1800"/>
          </a:p>
        </p:txBody>
      </p:sp>
      <p:sp>
        <p:nvSpPr>
          <p:cNvPr id="1180" name="Google Shape;1180;p9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a:t>
            </a:r>
            <a:r>
              <a:rPr lang="en-GB"/>
              <a:t>nswers to an appropriate degree of accuracy</a:t>
            </a:r>
            <a:endParaRPr/>
          </a:p>
        </p:txBody>
      </p:sp>
      <p:pic>
        <p:nvPicPr>
          <p:cNvPr id="1181" name="Google Shape;1181;p97"/>
          <p:cNvPicPr preferRelativeResize="0"/>
          <p:nvPr/>
        </p:nvPicPr>
        <p:blipFill>
          <a:blip r:embed="rId3">
            <a:alphaModFix/>
          </a:blip>
          <a:stretch>
            <a:fillRect/>
          </a:stretch>
        </p:blipFill>
        <p:spPr>
          <a:xfrm>
            <a:off x="736149" y="2112275"/>
            <a:ext cx="653711" cy="1528550"/>
          </a:xfrm>
          <a:prstGeom prst="rect">
            <a:avLst/>
          </a:prstGeom>
          <a:noFill/>
          <a:ln>
            <a:noFill/>
          </a:ln>
        </p:spPr>
      </p:pic>
      <p:pic>
        <p:nvPicPr>
          <p:cNvPr id="1182" name="Google Shape;1182;p97"/>
          <p:cNvPicPr preferRelativeResize="0"/>
          <p:nvPr/>
        </p:nvPicPr>
        <p:blipFill>
          <a:blip r:embed="rId4">
            <a:alphaModFix/>
          </a:blip>
          <a:stretch>
            <a:fillRect/>
          </a:stretch>
        </p:blipFill>
        <p:spPr>
          <a:xfrm>
            <a:off x="665025" y="3888254"/>
            <a:ext cx="1019779" cy="915346"/>
          </a:xfrm>
          <a:prstGeom prst="rect">
            <a:avLst/>
          </a:prstGeom>
          <a:noFill/>
          <a:ln>
            <a:noFill/>
          </a:ln>
        </p:spPr>
      </p:pic>
      <p:sp>
        <p:nvSpPr>
          <p:cNvPr id="1183" name="Google Shape;1183;p97"/>
          <p:cNvSpPr/>
          <p:nvPr/>
        </p:nvSpPr>
        <p:spPr>
          <a:xfrm flipH="1" rot="-1419741">
            <a:off x="1410178" y="2528531"/>
            <a:ext cx="1343230" cy="382862"/>
          </a:xfrm>
          <a:prstGeom prst="homePlate">
            <a:avLst>
              <a:gd fmla="val 50000" name="adj"/>
            </a:avLst>
          </a:prstGeom>
          <a:solidFill>
            <a:srgbClr val="EEEEEE"/>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Lexend"/>
                <a:ea typeface="Lexend"/>
                <a:cs typeface="Lexend"/>
                <a:sym typeface="Lexend"/>
              </a:rPr>
              <a:t>$2.95</a:t>
            </a:r>
            <a:endParaRPr sz="2000">
              <a:latin typeface="Lexend"/>
              <a:ea typeface="Lexend"/>
              <a:cs typeface="Lexend"/>
              <a:sym typeface="Lexend"/>
            </a:endParaRPr>
          </a:p>
        </p:txBody>
      </p:sp>
      <p:sp>
        <p:nvSpPr>
          <p:cNvPr id="1184" name="Google Shape;1184;p97"/>
          <p:cNvSpPr/>
          <p:nvPr/>
        </p:nvSpPr>
        <p:spPr>
          <a:xfrm flipH="1" rot="-1419741">
            <a:off x="1714978" y="3823931"/>
            <a:ext cx="1343230" cy="382862"/>
          </a:xfrm>
          <a:prstGeom prst="homePlate">
            <a:avLst>
              <a:gd fmla="val 50000" name="adj"/>
            </a:avLst>
          </a:prstGeom>
          <a:solidFill>
            <a:srgbClr val="EEEEEE"/>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Lexend"/>
                <a:ea typeface="Lexend"/>
                <a:cs typeface="Lexend"/>
                <a:sym typeface="Lexend"/>
              </a:rPr>
              <a:t>$5.70</a:t>
            </a:r>
            <a:endParaRPr sz="2000">
              <a:latin typeface="Lexend"/>
              <a:ea typeface="Lexend"/>
              <a:cs typeface="Lexend"/>
              <a:sym typeface="Lexend"/>
            </a:endParaRPr>
          </a:p>
        </p:txBody>
      </p:sp>
      <p:sp>
        <p:nvSpPr>
          <p:cNvPr id="1185" name="Google Shape;1185;p97"/>
          <p:cNvSpPr/>
          <p:nvPr/>
        </p:nvSpPr>
        <p:spPr>
          <a:xfrm flipH="1" rot="-1419741">
            <a:off x="1410178" y="2528531"/>
            <a:ext cx="1343230" cy="382862"/>
          </a:xfrm>
          <a:prstGeom prst="homePlate">
            <a:avLst>
              <a:gd fmla="val 50000" name="adj"/>
            </a:avLst>
          </a:prstGeom>
          <a:solidFill>
            <a:srgbClr val="EEEEEE"/>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Lexend"/>
                <a:ea typeface="Lexend"/>
                <a:cs typeface="Lexend"/>
                <a:sym typeface="Lexend"/>
              </a:rPr>
              <a:t>$2.95</a:t>
            </a:r>
            <a:endParaRPr sz="2000">
              <a:latin typeface="Lexend"/>
              <a:ea typeface="Lexend"/>
              <a:cs typeface="Lexend"/>
              <a:sym typeface="Lexend"/>
            </a:endParaRPr>
          </a:p>
        </p:txBody>
      </p:sp>
      <p:graphicFrame>
        <p:nvGraphicFramePr>
          <p:cNvPr id="1186" name="Google Shape;1186;p97"/>
          <p:cNvGraphicFramePr/>
          <p:nvPr/>
        </p:nvGraphicFramePr>
        <p:xfrm>
          <a:off x="4817520" y="2052908"/>
          <a:ext cx="3000000" cy="3000000"/>
        </p:xfrm>
        <a:graphic>
          <a:graphicData uri="http://schemas.openxmlformats.org/drawingml/2006/table">
            <a:tbl>
              <a:tblPr>
                <a:noFill/>
                <a:tableStyleId>{8F0EA7B0-5CE6-43D2-91B7-8B6C7CCF27BC}</a:tableStyleId>
              </a:tblPr>
              <a:tblGrid>
                <a:gridCol w="1571275"/>
                <a:gridCol w="1571275"/>
              </a:tblGrid>
              <a:tr h="414900">
                <a:tc>
                  <a:txBody>
                    <a:bodyPr/>
                    <a:lstStyle/>
                    <a:p>
                      <a:pPr indent="0" lvl="0" marL="0" rtl="0" algn="ctr">
                        <a:spcBef>
                          <a:spcPts val="0"/>
                        </a:spcBef>
                        <a:spcAft>
                          <a:spcPts val="0"/>
                        </a:spcAft>
                        <a:buNone/>
                      </a:pPr>
                      <a:r>
                        <a:rPr lang="en-GB" sz="2000">
                          <a:solidFill>
                            <a:schemeClr val="lt1"/>
                          </a:solidFill>
                          <a:latin typeface="Kalam"/>
                          <a:ea typeface="Kalam"/>
                          <a:cs typeface="Kalam"/>
                          <a:sym typeface="Kalam"/>
                        </a:rPr>
                        <a:t>£</a:t>
                      </a:r>
                      <a:endParaRPr sz="2000">
                        <a:solidFill>
                          <a:schemeClr val="lt1"/>
                        </a:solidFill>
                        <a:latin typeface="Kalam"/>
                        <a:ea typeface="Kalam"/>
                        <a:cs typeface="Kalam"/>
                        <a:sym typeface="Kalam"/>
                      </a:endParaRPr>
                    </a:p>
                  </a:txBody>
                  <a:tcPr marT="18000" marB="180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5"/>
                    </a:solidFill>
                  </a:tcPr>
                </a:tc>
                <a:tc>
                  <a:txBody>
                    <a:bodyPr/>
                    <a:lstStyle/>
                    <a:p>
                      <a:pPr indent="0" lvl="0" marL="0" rtl="0" algn="ctr">
                        <a:lnSpc>
                          <a:spcPct val="80000"/>
                        </a:lnSpc>
                        <a:spcBef>
                          <a:spcPts val="0"/>
                        </a:spcBef>
                        <a:spcAft>
                          <a:spcPts val="1000"/>
                        </a:spcAft>
                        <a:buClr>
                          <a:schemeClr val="dk1"/>
                        </a:buClr>
                        <a:buSzPts val="1100"/>
                        <a:buFont typeface="Arial"/>
                        <a:buNone/>
                      </a:pPr>
                      <a:r>
                        <a:rPr lang="en-GB" sz="2000">
                          <a:solidFill>
                            <a:schemeClr val="lt1"/>
                          </a:solidFill>
                          <a:latin typeface="Kalam"/>
                          <a:ea typeface="Kalam"/>
                          <a:cs typeface="Kalam"/>
                          <a:sym typeface="Kalam"/>
                        </a:rPr>
                        <a:t>$</a:t>
                      </a:r>
                      <a:endParaRPr sz="2000">
                        <a:solidFill>
                          <a:schemeClr val="lt1"/>
                        </a:solidFill>
                        <a:latin typeface="Kalam"/>
                        <a:ea typeface="Kalam"/>
                        <a:cs typeface="Kalam"/>
                        <a:sym typeface="Kalam"/>
                      </a:endParaRPr>
                    </a:p>
                  </a:txBody>
                  <a:tcPr marT="18000" marB="180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5"/>
                    </a:solidFill>
                  </a:tcPr>
                </a:tc>
              </a:tr>
              <a:tr h="414900">
                <a:tc>
                  <a:txBody>
                    <a:bodyPr/>
                    <a:lstStyle/>
                    <a:p>
                      <a:pPr indent="0" lvl="0" marL="0" rtl="0" algn="ctr">
                        <a:spcBef>
                          <a:spcPts val="0"/>
                        </a:spcBef>
                        <a:spcAft>
                          <a:spcPts val="0"/>
                        </a:spcAft>
                        <a:buNone/>
                      </a:pPr>
                      <a:r>
                        <a:rPr lang="en-GB" sz="2000">
                          <a:latin typeface="Kalam"/>
                          <a:ea typeface="Kalam"/>
                          <a:cs typeface="Kalam"/>
                          <a:sym typeface="Kalam"/>
                        </a:rPr>
                        <a:t>1</a:t>
                      </a:r>
                      <a:endParaRPr sz="2000">
                        <a:latin typeface="Kalam"/>
                        <a:ea typeface="Kalam"/>
                        <a:cs typeface="Kalam"/>
                        <a:sym typeface="Kalam"/>
                      </a:endParaRPr>
                    </a:p>
                  </a:txBody>
                  <a:tcPr marT="18000" marB="180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1.27</a:t>
                      </a:r>
                      <a:endParaRPr sz="2000">
                        <a:latin typeface="Kalam"/>
                        <a:ea typeface="Kalam"/>
                        <a:cs typeface="Kalam"/>
                        <a:sym typeface="Kalam"/>
                      </a:endParaRPr>
                    </a:p>
                  </a:txBody>
                  <a:tcPr marT="18000" marB="180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21450">
                <a:tc>
                  <a:txBody>
                    <a:bodyPr/>
                    <a:lstStyle/>
                    <a:p>
                      <a:pPr indent="0" lvl="0" marL="0" rtl="0" algn="ctr">
                        <a:spcBef>
                          <a:spcPts val="0"/>
                        </a:spcBef>
                        <a:spcAft>
                          <a:spcPts val="0"/>
                        </a:spcAft>
                        <a:buNone/>
                      </a:pPr>
                      <a:r>
                        <a:rPr lang="en-GB" sz="2000">
                          <a:latin typeface="Kalam"/>
                          <a:ea typeface="Kalam"/>
                          <a:cs typeface="Kalam"/>
                          <a:sym typeface="Kalam"/>
                        </a:rPr>
                        <a:t>2.32</a:t>
                      </a:r>
                      <a:endParaRPr sz="2000">
                        <a:latin typeface="Kalam"/>
                        <a:ea typeface="Kalam"/>
                        <a:cs typeface="Kalam"/>
                        <a:sym typeface="Kalam"/>
                      </a:endParaRPr>
                    </a:p>
                  </a:txBody>
                  <a:tcPr marT="18000" marB="180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2.95</a:t>
                      </a:r>
                      <a:endParaRPr sz="2000">
                        <a:latin typeface="Kalam"/>
                        <a:ea typeface="Kalam"/>
                        <a:cs typeface="Kalam"/>
                        <a:sym typeface="Kalam"/>
                      </a:endParaRPr>
                    </a:p>
                  </a:txBody>
                  <a:tcPr marT="18000" marB="180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187" name="Google Shape;1187;p97"/>
          <p:cNvSpPr txBox="1"/>
          <p:nvPr/>
        </p:nvSpPr>
        <p:spPr>
          <a:xfrm>
            <a:off x="6039134" y="2403259"/>
            <a:ext cx="699300" cy="277200"/>
          </a:xfrm>
          <a:prstGeom prst="rect">
            <a:avLst/>
          </a:prstGeom>
          <a:solidFill>
            <a:srgbClr val="E6F2F2"/>
          </a:solidFill>
          <a:ln>
            <a:noFill/>
          </a:ln>
        </p:spPr>
        <p:txBody>
          <a:bodyPr anchorCtr="0" anchor="t" bIns="0" lIns="0" spcFirstLastPara="1" rIns="0" wrap="square" tIns="0">
            <a:spAutoFit/>
          </a:bodyPr>
          <a:lstStyle/>
          <a:p>
            <a:pPr indent="0" lvl="0" marL="0" rtl="0" algn="ctr">
              <a:lnSpc>
                <a:spcPct val="115000"/>
              </a:lnSpc>
              <a:spcBef>
                <a:spcPts val="0"/>
              </a:spcBef>
              <a:spcAft>
                <a:spcPts val="1000"/>
              </a:spcAft>
              <a:buNone/>
            </a:pPr>
            <a:r>
              <a:rPr lang="en-GB" sz="1800">
                <a:solidFill>
                  <a:srgbClr val="000000"/>
                </a:solidFill>
                <a:latin typeface="Kalam"/>
                <a:ea typeface="Kalam"/>
                <a:cs typeface="Kalam"/>
                <a:sym typeface="Kalam"/>
              </a:rPr>
              <a:t>× 1.</a:t>
            </a:r>
            <a:r>
              <a:rPr lang="en-GB" sz="1800">
                <a:latin typeface="Kalam"/>
                <a:ea typeface="Kalam"/>
                <a:cs typeface="Kalam"/>
                <a:sym typeface="Kalam"/>
              </a:rPr>
              <a:t>27</a:t>
            </a:r>
            <a:endParaRPr sz="1800">
              <a:solidFill>
                <a:srgbClr val="000000"/>
              </a:solidFill>
              <a:latin typeface="Kalam"/>
              <a:ea typeface="Kalam"/>
              <a:cs typeface="Kalam"/>
              <a:sym typeface="Kalam"/>
            </a:endParaRPr>
          </a:p>
        </p:txBody>
      </p:sp>
      <p:cxnSp>
        <p:nvCxnSpPr>
          <p:cNvPr id="1188" name="Google Shape;1188;p97"/>
          <p:cNvCxnSpPr/>
          <p:nvPr/>
        </p:nvCxnSpPr>
        <p:spPr>
          <a:xfrm>
            <a:off x="6096595" y="2761533"/>
            <a:ext cx="549600" cy="0"/>
          </a:xfrm>
          <a:prstGeom prst="straightConnector1">
            <a:avLst/>
          </a:prstGeom>
          <a:noFill/>
          <a:ln cap="flat" cmpd="sng" w="38100">
            <a:solidFill>
              <a:srgbClr val="037B7D"/>
            </a:solidFill>
            <a:prstDash val="solid"/>
            <a:round/>
            <a:headEnd len="med" w="med" type="none"/>
            <a:tailEnd len="med" w="med" type="triangle"/>
          </a:ln>
        </p:spPr>
      </p:cxnSp>
      <p:cxnSp>
        <p:nvCxnSpPr>
          <p:cNvPr id="1189" name="Google Shape;1189;p97"/>
          <p:cNvCxnSpPr/>
          <p:nvPr/>
        </p:nvCxnSpPr>
        <p:spPr>
          <a:xfrm rot="10800000">
            <a:off x="6102720" y="3155383"/>
            <a:ext cx="558600" cy="10800"/>
          </a:xfrm>
          <a:prstGeom prst="straightConnector1">
            <a:avLst/>
          </a:prstGeom>
          <a:noFill/>
          <a:ln cap="flat" cmpd="sng" w="38100">
            <a:solidFill>
              <a:srgbClr val="037B7D"/>
            </a:solidFill>
            <a:prstDash val="solid"/>
            <a:round/>
            <a:headEnd len="med" w="med" type="none"/>
            <a:tailEnd len="med" w="med" type="triangle"/>
          </a:ln>
        </p:spPr>
      </p:cxnSp>
      <p:sp>
        <p:nvSpPr>
          <p:cNvPr id="1190" name="Google Shape;1190;p97"/>
          <p:cNvSpPr txBox="1"/>
          <p:nvPr/>
        </p:nvSpPr>
        <p:spPr>
          <a:xfrm>
            <a:off x="6039134" y="2806983"/>
            <a:ext cx="699300" cy="277200"/>
          </a:xfrm>
          <a:prstGeom prst="rect">
            <a:avLst/>
          </a:prstGeom>
          <a:solidFill>
            <a:srgbClr val="E6F2F2"/>
          </a:solidFill>
          <a:ln>
            <a:noFill/>
          </a:ln>
        </p:spPr>
        <p:txBody>
          <a:bodyPr anchorCtr="0" anchor="t" bIns="0" lIns="0" spcFirstLastPara="1" rIns="0" wrap="square" tIns="0">
            <a:spAutoFit/>
          </a:bodyPr>
          <a:lstStyle/>
          <a:p>
            <a:pPr indent="0" lvl="0" marL="0" rtl="0" algn="ctr">
              <a:lnSpc>
                <a:spcPct val="115000"/>
              </a:lnSpc>
              <a:spcBef>
                <a:spcPts val="0"/>
              </a:spcBef>
              <a:spcAft>
                <a:spcPts val="1000"/>
              </a:spcAft>
              <a:buNone/>
            </a:pPr>
            <a:r>
              <a:rPr lang="en-GB" sz="1800">
                <a:solidFill>
                  <a:srgbClr val="000000"/>
                </a:solidFill>
                <a:latin typeface="Kalam"/>
                <a:ea typeface="Kalam"/>
                <a:cs typeface="Kalam"/>
                <a:sym typeface="Kalam"/>
              </a:rPr>
              <a:t>÷ 1.</a:t>
            </a:r>
            <a:r>
              <a:rPr lang="en-GB" sz="1800">
                <a:latin typeface="Kalam"/>
                <a:ea typeface="Kalam"/>
                <a:cs typeface="Kalam"/>
                <a:sym typeface="Kalam"/>
              </a:rPr>
              <a:t>27</a:t>
            </a:r>
            <a:endParaRPr sz="1800">
              <a:solidFill>
                <a:srgbClr val="000000"/>
              </a:solidFill>
              <a:latin typeface="Kalam"/>
              <a:ea typeface="Kalam"/>
              <a:cs typeface="Kalam"/>
              <a:sym typeface="Kalam"/>
            </a:endParaRPr>
          </a:p>
        </p:txBody>
      </p:sp>
      <p:graphicFrame>
        <p:nvGraphicFramePr>
          <p:cNvPr id="1191" name="Google Shape;1191;p97"/>
          <p:cNvGraphicFramePr/>
          <p:nvPr/>
        </p:nvGraphicFramePr>
        <p:xfrm>
          <a:off x="4817520" y="3424508"/>
          <a:ext cx="3000000" cy="3000000"/>
        </p:xfrm>
        <a:graphic>
          <a:graphicData uri="http://schemas.openxmlformats.org/drawingml/2006/table">
            <a:tbl>
              <a:tblPr>
                <a:noFill/>
                <a:tableStyleId>{8F0EA7B0-5CE6-43D2-91B7-8B6C7CCF27BC}</a:tableStyleId>
              </a:tblPr>
              <a:tblGrid>
                <a:gridCol w="1571275"/>
                <a:gridCol w="1571275"/>
              </a:tblGrid>
              <a:tr h="414900">
                <a:tc>
                  <a:txBody>
                    <a:bodyPr/>
                    <a:lstStyle/>
                    <a:p>
                      <a:pPr indent="0" lvl="0" marL="0" rtl="0" algn="ctr">
                        <a:spcBef>
                          <a:spcPts val="0"/>
                        </a:spcBef>
                        <a:spcAft>
                          <a:spcPts val="0"/>
                        </a:spcAft>
                        <a:buNone/>
                      </a:pPr>
                      <a:r>
                        <a:rPr lang="en-GB" sz="2000">
                          <a:solidFill>
                            <a:schemeClr val="lt1"/>
                          </a:solidFill>
                          <a:latin typeface="Kalam"/>
                          <a:ea typeface="Kalam"/>
                          <a:cs typeface="Kalam"/>
                          <a:sym typeface="Kalam"/>
                        </a:rPr>
                        <a:t>£</a:t>
                      </a:r>
                      <a:endParaRPr sz="2000">
                        <a:solidFill>
                          <a:schemeClr val="lt1"/>
                        </a:solidFill>
                        <a:latin typeface="Kalam"/>
                        <a:ea typeface="Kalam"/>
                        <a:cs typeface="Kalam"/>
                        <a:sym typeface="Kalam"/>
                      </a:endParaRPr>
                    </a:p>
                  </a:txBody>
                  <a:tcPr marT="18000" marB="180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5"/>
                    </a:solidFill>
                  </a:tcPr>
                </a:tc>
                <a:tc>
                  <a:txBody>
                    <a:bodyPr/>
                    <a:lstStyle/>
                    <a:p>
                      <a:pPr indent="0" lvl="0" marL="0" rtl="0" algn="ctr">
                        <a:lnSpc>
                          <a:spcPct val="80000"/>
                        </a:lnSpc>
                        <a:spcBef>
                          <a:spcPts val="0"/>
                        </a:spcBef>
                        <a:spcAft>
                          <a:spcPts val="1000"/>
                        </a:spcAft>
                        <a:buClr>
                          <a:schemeClr val="dk1"/>
                        </a:buClr>
                        <a:buSzPts val="1100"/>
                        <a:buFont typeface="Arial"/>
                        <a:buNone/>
                      </a:pPr>
                      <a:r>
                        <a:rPr lang="en-GB" sz="2000">
                          <a:solidFill>
                            <a:schemeClr val="lt1"/>
                          </a:solidFill>
                          <a:latin typeface="Kalam"/>
                          <a:ea typeface="Kalam"/>
                          <a:cs typeface="Kalam"/>
                          <a:sym typeface="Kalam"/>
                        </a:rPr>
                        <a:t>$</a:t>
                      </a:r>
                      <a:endParaRPr sz="2000">
                        <a:solidFill>
                          <a:schemeClr val="lt1"/>
                        </a:solidFill>
                        <a:latin typeface="Kalam"/>
                        <a:ea typeface="Kalam"/>
                        <a:cs typeface="Kalam"/>
                        <a:sym typeface="Kalam"/>
                      </a:endParaRPr>
                    </a:p>
                  </a:txBody>
                  <a:tcPr marT="18000" marB="180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5"/>
                    </a:solidFill>
                  </a:tcPr>
                </a:tc>
              </a:tr>
              <a:tr h="414900">
                <a:tc>
                  <a:txBody>
                    <a:bodyPr/>
                    <a:lstStyle/>
                    <a:p>
                      <a:pPr indent="0" lvl="0" marL="0" rtl="0" algn="ctr">
                        <a:spcBef>
                          <a:spcPts val="0"/>
                        </a:spcBef>
                        <a:spcAft>
                          <a:spcPts val="0"/>
                        </a:spcAft>
                        <a:buNone/>
                      </a:pPr>
                      <a:r>
                        <a:rPr lang="en-GB" sz="2000">
                          <a:latin typeface="Kalam"/>
                          <a:ea typeface="Kalam"/>
                          <a:cs typeface="Kalam"/>
                          <a:sym typeface="Kalam"/>
                        </a:rPr>
                        <a:t>1</a:t>
                      </a:r>
                      <a:endParaRPr sz="2000">
                        <a:latin typeface="Kalam"/>
                        <a:ea typeface="Kalam"/>
                        <a:cs typeface="Kalam"/>
                        <a:sym typeface="Kalam"/>
                      </a:endParaRPr>
                    </a:p>
                  </a:txBody>
                  <a:tcPr marT="18000" marB="180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1.27</a:t>
                      </a:r>
                      <a:endParaRPr sz="2000">
                        <a:latin typeface="Kalam"/>
                        <a:ea typeface="Kalam"/>
                        <a:cs typeface="Kalam"/>
                        <a:sym typeface="Kalam"/>
                      </a:endParaRPr>
                    </a:p>
                  </a:txBody>
                  <a:tcPr marT="18000" marB="180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14900">
                <a:tc>
                  <a:txBody>
                    <a:bodyPr/>
                    <a:lstStyle/>
                    <a:p>
                      <a:pPr indent="0" lvl="0" marL="0" rtl="0" algn="ctr">
                        <a:spcBef>
                          <a:spcPts val="0"/>
                        </a:spcBef>
                        <a:spcAft>
                          <a:spcPts val="0"/>
                        </a:spcAft>
                        <a:buNone/>
                      </a:pPr>
                      <a:r>
                        <a:rPr lang="en-GB" sz="2000">
                          <a:latin typeface="Kalam"/>
                          <a:ea typeface="Kalam"/>
                          <a:cs typeface="Kalam"/>
                          <a:sym typeface="Kalam"/>
                        </a:rPr>
                        <a:t>4.49</a:t>
                      </a:r>
                      <a:endParaRPr sz="2000">
                        <a:latin typeface="Kalam"/>
                        <a:ea typeface="Kalam"/>
                        <a:cs typeface="Kalam"/>
                        <a:sym typeface="Kalam"/>
                      </a:endParaRPr>
                    </a:p>
                  </a:txBody>
                  <a:tcPr marT="18000" marB="180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5.70</a:t>
                      </a:r>
                      <a:endParaRPr sz="2000">
                        <a:latin typeface="Kalam"/>
                        <a:ea typeface="Kalam"/>
                        <a:cs typeface="Kalam"/>
                        <a:sym typeface="Kalam"/>
                      </a:endParaRPr>
                    </a:p>
                  </a:txBody>
                  <a:tcPr marT="18000" marB="1800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192" name="Google Shape;1192;p97"/>
          <p:cNvSpPr txBox="1"/>
          <p:nvPr/>
        </p:nvSpPr>
        <p:spPr>
          <a:xfrm>
            <a:off x="6039134" y="3774859"/>
            <a:ext cx="699300" cy="277200"/>
          </a:xfrm>
          <a:prstGeom prst="rect">
            <a:avLst/>
          </a:prstGeom>
          <a:solidFill>
            <a:srgbClr val="E6F2F2"/>
          </a:solidFill>
          <a:ln>
            <a:noFill/>
          </a:ln>
        </p:spPr>
        <p:txBody>
          <a:bodyPr anchorCtr="0" anchor="t" bIns="0" lIns="0" spcFirstLastPara="1" rIns="0" wrap="square" tIns="0">
            <a:spAutoFit/>
          </a:bodyPr>
          <a:lstStyle/>
          <a:p>
            <a:pPr indent="0" lvl="0" marL="0" rtl="0" algn="ctr">
              <a:lnSpc>
                <a:spcPct val="115000"/>
              </a:lnSpc>
              <a:spcBef>
                <a:spcPts val="0"/>
              </a:spcBef>
              <a:spcAft>
                <a:spcPts val="1000"/>
              </a:spcAft>
              <a:buNone/>
            </a:pPr>
            <a:r>
              <a:rPr lang="en-GB" sz="1800">
                <a:solidFill>
                  <a:srgbClr val="000000"/>
                </a:solidFill>
                <a:latin typeface="Kalam"/>
                <a:ea typeface="Kalam"/>
                <a:cs typeface="Kalam"/>
                <a:sym typeface="Kalam"/>
              </a:rPr>
              <a:t>× 1.</a:t>
            </a:r>
            <a:r>
              <a:rPr lang="en-GB" sz="1800">
                <a:latin typeface="Kalam"/>
                <a:ea typeface="Kalam"/>
                <a:cs typeface="Kalam"/>
                <a:sym typeface="Kalam"/>
              </a:rPr>
              <a:t>27</a:t>
            </a:r>
            <a:endParaRPr sz="1800">
              <a:solidFill>
                <a:srgbClr val="000000"/>
              </a:solidFill>
              <a:latin typeface="Kalam"/>
              <a:ea typeface="Kalam"/>
              <a:cs typeface="Kalam"/>
              <a:sym typeface="Kalam"/>
            </a:endParaRPr>
          </a:p>
        </p:txBody>
      </p:sp>
      <p:cxnSp>
        <p:nvCxnSpPr>
          <p:cNvPr id="1193" name="Google Shape;1193;p97"/>
          <p:cNvCxnSpPr/>
          <p:nvPr/>
        </p:nvCxnSpPr>
        <p:spPr>
          <a:xfrm>
            <a:off x="6096595" y="4133133"/>
            <a:ext cx="549600" cy="0"/>
          </a:xfrm>
          <a:prstGeom prst="straightConnector1">
            <a:avLst/>
          </a:prstGeom>
          <a:noFill/>
          <a:ln cap="flat" cmpd="sng" w="38100">
            <a:solidFill>
              <a:srgbClr val="037B7D"/>
            </a:solidFill>
            <a:prstDash val="solid"/>
            <a:round/>
            <a:headEnd len="med" w="med" type="none"/>
            <a:tailEnd len="med" w="med" type="triangle"/>
          </a:ln>
        </p:spPr>
      </p:cxnSp>
      <p:cxnSp>
        <p:nvCxnSpPr>
          <p:cNvPr id="1194" name="Google Shape;1194;p97"/>
          <p:cNvCxnSpPr/>
          <p:nvPr/>
        </p:nvCxnSpPr>
        <p:spPr>
          <a:xfrm rot="10800000">
            <a:off x="6102720" y="4603183"/>
            <a:ext cx="558600" cy="10800"/>
          </a:xfrm>
          <a:prstGeom prst="straightConnector1">
            <a:avLst/>
          </a:prstGeom>
          <a:noFill/>
          <a:ln cap="flat" cmpd="sng" w="38100">
            <a:solidFill>
              <a:srgbClr val="037B7D"/>
            </a:solidFill>
            <a:prstDash val="solid"/>
            <a:round/>
            <a:headEnd len="med" w="med" type="none"/>
            <a:tailEnd len="med" w="med" type="triangle"/>
          </a:ln>
        </p:spPr>
      </p:cxnSp>
      <p:sp>
        <p:nvSpPr>
          <p:cNvPr id="1195" name="Google Shape;1195;p97"/>
          <p:cNvSpPr txBox="1"/>
          <p:nvPr/>
        </p:nvSpPr>
        <p:spPr>
          <a:xfrm>
            <a:off x="6039134" y="4254783"/>
            <a:ext cx="699300" cy="277200"/>
          </a:xfrm>
          <a:prstGeom prst="rect">
            <a:avLst/>
          </a:prstGeom>
          <a:solidFill>
            <a:srgbClr val="E6F2F2"/>
          </a:solidFill>
          <a:ln>
            <a:noFill/>
          </a:ln>
        </p:spPr>
        <p:txBody>
          <a:bodyPr anchorCtr="0" anchor="t" bIns="0" lIns="0" spcFirstLastPara="1" rIns="0" wrap="square" tIns="0">
            <a:spAutoFit/>
          </a:bodyPr>
          <a:lstStyle/>
          <a:p>
            <a:pPr indent="0" lvl="0" marL="0" rtl="0" algn="ctr">
              <a:lnSpc>
                <a:spcPct val="115000"/>
              </a:lnSpc>
              <a:spcBef>
                <a:spcPts val="0"/>
              </a:spcBef>
              <a:spcAft>
                <a:spcPts val="1000"/>
              </a:spcAft>
              <a:buNone/>
            </a:pPr>
            <a:r>
              <a:rPr lang="en-GB" sz="1800">
                <a:solidFill>
                  <a:srgbClr val="000000"/>
                </a:solidFill>
                <a:latin typeface="Kalam"/>
                <a:ea typeface="Kalam"/>
                <a:cs typeface="Kalam"/>
                <a:sym typeface="Kalam"/>
              </a:rPr>
              <a:t>÷ 1.</a:t>
            </a:r>
            <a:r>
              <a:rPr lang="en-GB" sz="1800">
                <a:latin typeface="Kalam"/>
                <a:ea typeface="Kalam"/>
                <a:cs typeface="Kalam"/>
                <a:sym typeface="Kalam"/>
              </a:rPr>
              <a:t>27</a:t>
            </a:r>
            <a:endParaRPr sz="1800">
              <a:solidFill>
                <a:srgbClr val="000000"/>
              </a:solidFill>
              <a:latin typeface="Kalam"/>
              <a:ea typeface="Kalam"/>
              <a:cs typeface="Kalam"/>
              <a:sym typeface="Kalam"/>
            </a:endParaRPr>
          </a:p>
        </p:txBody>
      </p:sp>
      <p:sp>
        <p:nvSpPr>
          <p:cNvPr id="1196" name="Google Shape;1196;p97"/>
          <p:cNvSpPr/>
          <p:nvPr/>
        </p:nvSpPr>
        <p:spPr>
          <a:xfrm>
            <a:off x="5232263" y="2912087"/>
            <a:ext cx="699300" cy="277200"/>
          </a:xfrm>
          <a:prstGeom prst="roundRect">
            <a:avLst>
              <a:gd fmla="val 16667" name="adj"/>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7" name="Google Shape;1197;p97"/>
          <p:cNvSpPr/>
          <p:nvPr/>
        </p:nvSpPr>
        <p:spPr>
          <a:xfrm>
            <a:off x="5270688" y="4296938"/>
            <a:ext cx="699300" cy="277200"/>
          </a:xfrm>
          <a:prstGeom prst="roundRect">
            <a:avLst>
              <a:gd fmla="val 16667" name="adj"/>
            </a:avLst>
          </a:prstGeom>
          <a:noFill/>
          <a:ln cap="flat" cmpd="sng" w="38100">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1" name="Shape 1201"/>
        <p:cNvGrpSpPr/>
        <p:nvPr/>
      </p:nvGrpSpPr>
      <p:grpSpPr>
        <a:xfrm>
          <a:off x="0" y="0"/>
          <a:ext cx="0" cy="0"/>
          <a:chOff x="0" y="0"/>
          <a:chExt cx="0" cy="0"/>
        </a:xfrm>
      </p:grpSpPr>
      <p:sp>
        <p:nvSpPr>
          <p:cNvPr id="1202" name="Google Shape;1202;p98"/>
          <p:cNvSpPr txBox="1"/>
          <p:nvPr>
            <p:ph idx="1" type="body"/>
          </p:nvPr>
        </p:nvSpPr>
        <p:spPr>
          <a:xfrm>
            <a:off x="324000" y="759300"/>
            <a:ext cx="8496000" cy="792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    Answer the following.  At each stage give your answer to an appropriate degree of accuracy.</a:t>
            </a:r>
            <a:endParaRPr sz="1800"/>
          </a:p>
          <a:p>
            <a:pPr indent="0" lvl="0" marL="0" rtl="0" algn="l">
              <a:spcBef>
                <a:spcPts val="1000"/>
              </a:spcBef>
              <a:spcAft>
                <a:spcPts val="0"/>
              </a:spcAft>
              <a:buNone/>
            </a:pPr>
            <a:r>
              <a:rPr lang="en-GB" sz="1800"/>
              <a:t>How much will it cost to paint this wall?</a:t>
            </a:r>
            <a:endParaRPr sz="1800"/>
          </a:p>
          <a:p>
            <a:pPr indent="0" lvl="0" marL="0" rtl="0" algn="l">
              <a:spcBef>
                <a:spcPts val="1000"/>
              </a:spcBef>
              <a:spcAft>
                <a:spcPts val="0"/>
              </a:spcAft>
              <a:buNone/>
            </a:pPr>
            <a:r>
              <a:rPr lang="en-GB" sz="1800"/>
              <a:t>1 tin of </a:t>
            </a:r>
            <a:r>
              <a:rPr lang="en-GB" sz="1800"/>
              <a:t>paint</a:t>
            </a:r>
            <a:r>
              <a:rPr lang="en-GB" sz="1800"/>
              <a:t> covers 25 m</a:t>
            </a:r>
            <a:r>
              <a:rPr baseline="30000" lang="en-GB" sz="1800"/>
              <a:t>2</a:t>
            </a:r>
            <a:r>
              <a:rPr lang="en-GB" sz="1800"/>
              <a:t>.</a:t>
            </a:r>
            <a:endParaRPr sz="1800"/>
          </a:p>
          <a:p>
            <a:pPr indent="0" lvl="0" marL="0" rtl="0" algn="l">
              <a:spcBef>
                <a:spcPts val="1000"/>
              </a:spcBef>
              <a:spcAft>
                <a:spcPts val="1000"/>
              </a:spcAft>
              <a:buNone/>
            </a:pPr>
            <a:r>
              <a:t/>
            </a:r>
            <a:endParaRPr sz="1800">
              <a:latin typeface="Kalam"/>
              <a:ea typeface="Kalam"/>
              <a:cs typeface="Kalam"/>
              <a:sym typeface="Kalam"/>
            </a:endParaRPr>
          </a:p>
        </p:txBody>
      </p:sp>
      <p:sp>
        <p:nvSpPr>
          <p:cNvPr id="1203" name="Google Shape;1203;p9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a:t>
            </a:r>
            <a:r>
              <a:rPr lang="en-GB"/>
              <a:t>nswers to an appropriate degree of accuracy</a:t>
            </a:r>
            <a:endParaRPr/>
          </a:p>
        </p:txBody>
      </p:sp>
      <p:pic>
        <p:nvPicPr>
          <p:cNvPr id="1204" name="Google Shape;1204;p98"/>
          <p:cNvPicPr preferRelativeResize="0"/>
          <p:nvPr/>
        </p:nvPicPr>
        <p:blipFill rotWithShape="1">
          <a:blip r:embed="rId3">
            <a:alphaModFix/>
          </a:blip>
          <a:srcRect b="0" l="51634" r="0" t="38736"/>
          <a:stretch/>
        </p:blipFill>
        <p:spPr>
          <a:xfrm>
            <a:off x="7458975" y="1156200"/>
            <a:ext cx="1317734" cy="1489876"/>
          </a:xfrm>
          <a:prstGeom prst="rect">
            <a:avLst/>
          </a:prstGeom>
          <a:noFill/>
          <a:ln>
            <a:noFill/>
          </a:ln>
        </p:spPr>
      </p:pic>
      <p:sp>
        <p:nvSpPr>
          <p:cNvPr id="1205" name="Google Shape;1205;p98"/>
          <p:cNvSpPr/>
          <p:nvPr/>
        </p:nvSpPr>
        <p:spPr>
          <a:xfrm rot="842496">
            <a:off x="5970143" y="1506065"/>
            <a:ext cx="1556715" cy="549489"/>
          </a:xfrm>
          <a:prstGeom prst="homePlate">
            <a:avLst>
              <a:gd fmla="val 50000" name="adj"/>
            </a:avLst>
          </a:prstGeom>
          <a:solidFill>
            <a:srgbClr val="F0F0F0"/>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200">
                <a:latin typeface="Lexend"/>
                <a:ea typeface="Lexend"/>
                <a:cs typeface="Lexend"/>
                <a:sym typeface="Lexend"/>
              </a:rPr>
              <a:t>£19.50</a:t>
            </a:r>
            <a:endParaRPr sz="2200">
              <a:latin typeface="Lexend"/>
              <a:ea typeface="Lexend"/>
              <a:cs typeface="Lexend"/>
              <a:sym typeface="Lexend"/>
            </a:endParaRPr>
          </a:p>
        </p:txBody>
      </p:sp>
      <p:sp>
        <p:nvSpPr>
          <p:cNvPr id="1206" name="Google Shape;1206;p98"/>
          <p:cNvSpPr txBox="1"/>
          <p:nvPr/>
        </p:nvSpPr>
        <p:spPr>
          <a:xfrm>
            <a:off x="7738975" y="2099875"/>
            <a:ext cx="727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lt1"/>
                </a:solidFill>
                <a:latin typeface="Lexend"/>
                <a:ea typeface="Lexend"/>
                <a:cs typeface="Lexend"/>
                <a:sym typeface="Lexend"/>
              </a:rPr>
              <a:t>2.5 L</a:t>
            </a:r>
            <a:endParaRPr sz="1800">
              <a:solidFill>
                <a:schemeClr val="lt1"/>
              </a:solidFill>
              <a:latin typeface="Lexend"/>
              <a:ea typeface="Lexend"/>
              <a:cs typeface="Lexend"/>
              <a:sym typeface="Lexend"/>
            </a:endParaRPr>
          </a:p>
        </p:txBody>
      </p:sp>
      <p:sp>
        <p:nvSpPr>
          <p:cNvPr id="1207" name="Google Shape;1207;p98"/>
          <p:cNvSpPr txBox="1"/>
          <p:nvPr/>
        </p:nvSpPr>
        <p:spPr>
          <a:xfrm>
            <a:off x="324000" y="2700000"/>
            <a:ext cx="4456500" cy="1939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100">
                <a:latin typeface="Kalam"/>
                <a:ea typeface="Kalam"/>
                <a:cs typeface="Kalam"/>
                <a:sym typeface="Kalam"/>
              </a:rPr>
              <a:t>Area of wall	= 50.47 m</a:t>
            </a:r>
            <a:r>
              <a:rPr baseline="30000" lang="en-GB" sz="2100">
                <a:latin typeface="Kalam"/>
                <a:ea typeface="Kalam"/>
                <a:cs typeface="Kalam"/>
                <a:sym typeface="Kalam"/>
              </a:rPr>
              <a:t>2</a:t>
            </a:r>
            <a:endParaRPr baseline="30000" sz="2100">
              <a:latin typeface="Kalam"/>
              <a:ea typeface="Kalam"/>
              <a:cs typeface="Kalam"/>
              <a:sym typeface="Kalam"/>
            </a:endParaRPr>
          </a:p>
          <a:p>
            <a:pPr indent="0" lvl="0" marL="0" rtl="0" algn="l">
              <a:spcBef>
                <a:spcPts val="0"/>
              </a:spcBef>
              <a:spcAft>
                <a:spcPts val="0"/>
              </a:spcAft>
              <a:buNone/>
            </a:pPr>
            <a:r>
              <a:rPr lang="en-GB" sz="2100">
                <a:latin typeface="Kalam"/>
                <a:ea typeface="Kalam"/>
                <a:cs typeface="Kalam"/>
                <a:sym typeface="Kalam"/>
              </a:rPr>
              <a:t>Number of tins of paint	= 50.47 </a:t>
            </a:r>
            <a:r>
              <a:rPr lang="en-GB" sz="2100">
                <a:solidFill>
                  <a:schemeClr val="dk1"/>
                </a:solidFill>
                <a:latin typeface="Kalam"/>
                <a:ea typeface="Kalam"/>
                <a:cs typeface="Kalam"/>
                <a:sym typeface="Kalam"/>
              </a:rPr>
              <a:t>÷ 25</a:t>
            </a:r>
            <a:endParaRPr sz="2100">
              <a:solidFill>
                <a:schemeClr val="dk1"/>
              </a:solidFill>
              <a:latin typeface="Kalam"/>
              <a:ea typeface="Kalam"/>
              <a:cs typeface="Kalam"/>
              <a:sym typeface="Kalam"/>
            </a:endParaRPr>
          </a:p>
          <a:p>
            <a:pPr indent="457200" lvl="0" marL="2286000" rtl="0" algn="l">
              <a:spcBef>
                <a:spcPts val="0"/>
              </a:spcBef>
              <a:spcAft>
                <a:spcPts val="0"/>
              </a:spcAft>
              <a:buNone/>
            </a:pPr>
            <a:r>
              <a:rPr lang="en-GB" sz="2100">
                <a:latin typeface="Kalam"/>
                <a:ea typeface="Kalam"/>
                <a:cs typeface="Kalam"/>
                <a:sym typeface="Kalam"/>
              </a:rPr>
              <a:t>= 2.018…</a:t>
            </a:r>
            <a:endParaRPr sz="2100">
              <a:latin typeface="Kalam"/>
              <a:ea typeface="Kalam"/>
              <a:cs typeface="Kalam"/>
              <a:sym typeface="Kalam"/>
            </a:endParaRPr>
          </a:p>
          <a:p>
            <a:pPr indent="0" lvl="0" marL="2743200" rtl="0" algn="l">
              <a:spcBef>
                <a:spcPts val="0"/>
              </a:spcBef>
              <a:spcAft>
                <a:spcPts val="0"/>
              </a:spcAft>
              <a:buNone/>
            </a:pPr>
            <a:r>
              <a:rPr lang="en-GB" sz="2100">
                <a:latin typeface="Kalam"/>
                <a:ea typeface="Kalam"/>
                <a:cs typeface="Kalam"/>
                <a:sym typeface="Kalam"/>
              </a:rPr>
              <a:t>= 3</a:t>
            </a:r>
            <a:endParaRPr sz="2100">
              <a:latin typeface="Kalam"/>
              <a:ea typeface="Kalam"/>
              <a:cs typeface="Kalam"/>
              <a:sym typeface="Kalam"/>
            </a:endParaRPr>
          </a:p>
          <a:p>
            <a:pPr indent="0" lvl="0" marL="0" rtl="0" algn="l">
              <a:spcBef>
                <a:spcPts val="0"/>
              </a:spcBef>
              <a:spcAft>
                <a:spcPts val="0"/>
              </a:spcAft>
              <a:buNone/>
            </a:pPr>
            <a:r>
              <a:rPr lang="en-GB" sz="2100">
                <a:latin typeface="Kalam"/>
                <a:ea typeface="Kalam"/>
                <a:cs typeface="Kalam"/>
                <a:sym typeface="Kalam"/>
              </a:rPr>
              <a:t>Cost of paint	= 3 </a:t>
            </a:r>
            <a:r>
              <a:rPr lang="en-GB" sz="2100">
                <a:solidFill>
                  <a:schemeClr val="dk1"/>
                </a:solidFill>
                <a:latin typeface="Kalam"/>
                <a:ea typeface="Kalam"/>
                <a:cs typeface="Kalam"/>
                <a:sym typeface="Kalam"/>
              </a:rPr>
              <a:t>×</a:t>
            </a:r>
            <a:r>
              <a:rPr lang="en-GB" sz="2100">
                <a:latin typeface="Kalam"/>
                <a:ea typeface="Kalam"/>
                <a:cs typeface="Kalam"/>
                <a:sym typeface="Kalam"/>
              </a:rPr>
              <a:t> 19.50</a:t>
            </a:r>
            <a:endParaRPr sz="2100">
              <a:latin typeface="Kalam"/>
              <a:ea typeface="Kalam"/>
              <a:cs typeface="Kalam"/>
              <a:sym typeface="Kalam"/>
            </a:endParaRPr>
          </a:p>
          <a:p>
            <a:pPr indent="0" lvl="0" marL="0" rtl="0" algn="l">
              <a:spcBef>
                <a:spcPts val="0"/>
              </a:spcBef>
              <a:spcAft>
                <a:spcPts val="0"/>
              </a:spcAft>
              <a:buNone/>
            </a:pPr>
            <a:r>
              <a:rPr lang="en-GB" sz="2100">
                <a:latin typeface="Kalam"/>
                <a:ea typeface="Kalam"/>
                <a:cs typeface="Kalam"/>
                <a:sym typeface="Kalam"/>
              </a:rPr>
              <a:t>                 = £58.50</a:t>
            </a:r>
            <a:endParaRPr sz="2100">
              <a:latin typeface="Kalam"/>
              <a:ea typeface="Kalam"/>
              <a:cs typeface="Kalam"/>
              <a:sym typeface="Kalam"/>
            </a:endParaRPr>
          </a:p>
        </p:txBody>
      </p:sp>
      <p:sp>
        <p:nvSpPr>
          <p:cNvPr id="1208" name="Google Shape;1208;p98"/>
          <p:cNvSpPr/>
          <p:nvPr/>
        </p:nvSpPr>
        <p:spPr>
          <a:xfrm>
            <a:off x="5376850" y="2698800"/>
            <a:ext cx="1317600" cy="2121600"/>
          </a:xfrm>
          <a:prstGeom prst="rect">
            <a:avLst/>
          </a:prstGeom>
          <a:solidFill>
            <a:srgbClr val="B7B7B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9" name="Google Shape;1209;p98"/>
          <p:cNvSpPr/>
          <p:nvPr/>
        </p:nvSpPr>
        <p:spPr>
          <a:xfrm>
            <a:off x="6633513" y="3330600"/>
            <a:ext cx="1317600" cy="1489800"/>
          </a:xfrm>
          <a:prstGeom prst="rect">
            <a:avLst/>
          </a:prstGeom>
          <a:solidFill>
            <a:srgbClr val="B7B7B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0" name="Google Shape;1210;p98"/>
          <p:cNvSpPr txBox="1"/>
          <p:nvPr/>
        </p:nvSpPr>
        <p:spPr>
          <a:xfrm>
            <a:off x="6354900" y="4467875"/>
            <a:ext cx="804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8.25 m</a:t>
            </a:r>
            <a:endParaRPr sz="1800">
              <a:solidFill>
                <a:srgbClr val="000000"/>
              </a:solidFill>
              <a:latin typeface="Lexend"/>
              <a:ea typeface="Lexend"/>
              <a:cs typeface="Lexend"/>
              <a:sym typeface="Lexend"/>
            </a:endParaRPr>
          </a:p>
        </p:txBody>
      </p:sp>
      <p:sp>
        <p:nvSpPr>
          <p:cNvPr id="1211" name="Google Shape;1211;p98"/>
          <p:cNvSpPr txBox="1"/>
          <p:nvPr/>
        </p:nvSpPr>
        <p:spPr>
          <a:xfrm>
            <a:off x="8100825" y="3902100"/>
            <a:ext cx="727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5.35 m</a:t>
            </a:r>
            <a:endParaRPr sz="1800">
              <a:solidFill>
                <a:srgbClr val="000000"/>
              </a:solidFill>
              <a:latin typeface="Lexend"/>
              <a:ea typeface="Lexend"/>
              <a:cs typeface="Lexend"/>
              <a:sym typeface="Lexend"/>
            </a:endParaRPr>
          </a:p>
        </p:txBody>
      </p:sp>
      <p:sp>
        <p:nvSpPr>
          <p:cNvPr id="1212" name="Google Shape;1212;p98"/>
          <p:cNvSpPr txBox="1"/>
          <p:nvPr/>
        </p:nvSpPr>
        <p:spPr>
          <a:xfrm>
            <a:off x="4485662" y="3621000"/>
            <a:ext cx="886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6.84 m</a:t>
            </a:r>
            <a:endParaRPr sz="1800">
              <a:solidFill>
                <a:srgbClr val="000000"/>
              </a:solidFill>
              <a:latin typeface="Lexend"/>
              <a:ea typeface="Lexend"/>
              <a:cs typeface="Lexend"/>
              <a:sym typeface="Lexend"/>
            </a:endParaRPr>
          </a:p>
        </p:txBody>
      </p:sp>
      <p:sp>
        <p:nvSpPr>
          <p:cNvPr id="1213" name="Google Shape;1213;p98"/>
          <p:cNvSpPr txBox="1"/>
          <p:nvPr/>
        </p:nvSpPr>
        <p:spPr>
          <a:xfrm>
            <a:off x="7082100" y="3019200"/>
            <a:ext cx="443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4 m</a:t>
            </a:r>
            <a:endParaRPr sz="1800">
              <a:solidFill>
                <a:srgbClr val="000000"/>
              </a:solidFill>
              <a:latin typeface="Lexend"/>
              <a:ea typeface="Lexend"/>
              <a:cs typeface="Lexend"/>
              <a:sym typeface="Lexend"/>
            </a:endParaRPr>
          </a:p>
        </p:txBody>
      </p:sp>
      <p:cxnSp>
        <p:nvCxnSpPr>
          <p:cNvPr id="1214" name="Google Shape;1214;p98"/>
          <p:cNvCxnSpPr/>
          <p:nvPr/>
        </p:nvCxnSpPr>
        <p:spPr>
          <a:xfrm>
            <a:off x="5448650" y="4776050"/>
            <a:ext cx="2561400" cy="0"/>
          </a:xfrm>
          <a:prstGeom prst="straightConnector1">
            <a:avLst/>
          </a:prstGeom>
          <a:noFill/>
          <a:ln cap="flat" cmpd="sng" w="19050">
            <a:solidFill>
              <a:schemeClr val="dk1"/>
            </a:solidFill>
            <a:prstDash val="solid"/>
            <a:round/>
            <a:headEnd len="med" w="med" type="triangle"/>
            <a:tailEnd len="med" w="med" type="triangle"/>
          </a:ln>
        </p:spPr>
      </p:cxnSp>
      <p:cxnSp>
        <p:nvCxnSpPr>
          <p:cNvPr id="1215" name="Google Shape;1215;p98"/>
          <p:cNvCxnSpPr/>
          <p:nvPr/>
        </p:nvCxnSpPr>
        <p:spPr>
          <a:xfrm>
            <a:off x="5296150" y="2701800"/>
            <a:ext cx="0" cy="2115600"/>
          </a:xfrm>
          <a:prstGeom prst="straightConnector1">
            <a:avLst/>
          </a:prstGeom>
          <a:noFill/>
          <a:ln cap="flat" cmpd="sng" w="19050">
            <a:solidFill>
              <a:schemeClr val="dk1"/>
            </a:solidFill>
            <a:prstDash val="solid"/>
            <a:round/>
            <a:headEnd len="med" w="med" type="triangle"/>
            <a:tailEnd len="med" w="med" type="triangle"/>
          </a:ln>
        </p:spPr>
      </p:cxnSp>
      <p:cxnSp>
        <p:nvCxnSpPr>
          <p:cNvPr id="1216" name="Google Shape;1216;p98"/>
          <p:cNvCxnSpPr/>
          <p:nvPr/>
        </p:nvCxnSpPr>
        <p:spPr>
          <a:xfrm>
            <a:off x="6707025" y="3265600"/>
            <a:ext cx="1244100" cy="0"/>
          </a:xfrm>
          <a:prstGeom prst="straightConnector1">
            <a:avLst/>
          </a:prstGeom>
          <a:noFill/>
          <a:ln cap="flat" cmpd="sng" w="19050">
            <a:solidFill>
              <a:schemeClr val="dk1"/>
            </a:solidFill>
            <a:prstDash val="solid"/>
            <a:round/>
            <a:headEnd len="med" w="med" type="triangle"/>
            <a:tailEnd len="med" w="med" type="triangle"/>
          </a:ln>
        </p:spPr>
      </p:cxnSp>
      <p:cxnSp>
        <p:nvCxnSpPr>
          <p:cNvPr id="1217" name="Google Shape;1217;p98"/>
          <p:cNvCxnSpPr/>
          <p:nvPr/>
        </p:nvCxnSpPr>
        <p:spPr>
          <a:xfrm>
            <a:off x="8025975" y="3336750"/>
            <a:ext cx="0" cy="1477500"/>
          </a:xfrm>
          <a:prstGeom prst="straightConnector1">
            <a:avLst/>
          </a:prstGeom>
          <a:noFill/>
          <a:ln cap="flat" cmpd="sng" w="19050">
            <a:solidFill>
              <a:schemeClr val="dk1"/>
            </a:solidFill>
            <a:prstDash val="solid"/>
            <a:round/>
            <a:headEnd len="med" w="med" type="triangle"/>
            <a:tailEnd len="med" w="med" type="triangl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1" name="Shape 1221"/>
        <p:cNvGrpSpPr/>
        <p:nvPr/>
      </p:nvGrpSpPr>
      <p:grpSpPr>
        <a:xfrm>
          <a:off x="0" y="0"/>
          <a:ext cx="0" cy="0"/>
          <a:chOff x="0" y="0"/>
          <a:chExt cx="0" cy="0"/>
        </a:xfrm>
      </p:grpSpPr>
      <p:sp>
        <p:nvSpPr>
          <p:cNvPr id="1222" name="Google Shape;1222;p9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a:t>
            </a:r>
            <a:r>
              <a:rPr lang="en-GB"/>
              <a:t>nswers to an appropriate degree of accuracy</a:t>
            </a:r>
            <a:endParaRPr/>
          </a:p>
        </p:txBody>
      </p:sp>
      <p:sp>
        <p:nvSpPr>
          <p:cNvPr id="1223" name="Google Shape;1223;p99"/>
          <p:cNvSpPr txBox="1"/>
          <p:nvPr>
            <p:ph idx="1" type="body"/>
          </p:nvPr>
        </p:nvSpPr>
        <p:spPr>
          <a:xfrm>
            <a:off x="324000" y="8355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In each of the following questions give your answers to an appropriate degree of accuracy.</a:t>
            </a:r>
            <a:endParaRPr sz="1800"/>
          </a:p>
          <a:p>
            <a:pPr indent="0" lvl="0" marL="0" rtl="0" algn="l">
              <a:spcBef>
                <a:spcPts val="1000"/>
              </a:spcBef>
              <a:spcAft>
                <a:spcPts val="0"/>
              </a:spcAft>
              <a:buNone/>
            </a:pPr>
            <a:r>
              <a:rPr lang="en-GB" sz="1800"/>
              <a:t>4)	Use you calculator to answer the following:</a:t>
            </a:r>
            <a:endParaRPr sz="1800"/>
          </a:p>
          <a:p>
            <a:pPr indent="0" lvl="0" marL="0" rtl="0" algn="l">
              <a:spcBef>
                <a:spcPts val="1000"/>
              </a:spcBef>
              <a:spcAft>
                <a:spcPts val="0"/>
              </a:spcAft>
              <a:buNone/>
            </a:pPr>
            <a:r>
              <a:rPr lang="en-GB" sz="1800"/>
              <a:t>a)</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GB" sz="1800"/>
              <a:t>b)</a:t>
            </a:r>
            <a:endParaRPr sz="1800"/>
          </a:p>
        </p:txBody>
      </p:sp>
      <p:cxnSp>
        <p:nvCxnSpPr>
          <p:cNvPr id="1224" name="Google Shape;1224;p99"/>
          <p:cNvCxnSpPr/>
          <p:nvPr/>
        </p:nvCxnSpPr>
        <p:spPr>
          <a:xfrm>
            <a:off x="1676325" y="2781825"/>
            <a:ext cx="0" cy="0"/>
          </a:xfrm>
          <a:prstGeom prst="straightConnector1">
            <a:avLst/>
          </a:prstGeom>
          <a:noFill/>
          <a:ln cap="flat" cmpd="sng" w="9525">
            <a:solidFill>
              <a:schemeClr val="dk2"/>
            </a:solidFill>
            <a:prstDash val="solid"/>
            <a:round/>
            <a:headEnd len="med" w="med" type="none"/>
            <a:tailEnd len="med" w="med" type="none"/>
          </a:ln>
        </p:spPr>
      </p:cxnSp>
      <p:cxnSp>
        <p:nvCxnSpPr>
          <p:cNvPr id="1225" name="Google Shape;1225;p99"/>
          <p:cNvCxnSpPr/>
          <p:nvPr/>
        </p:nvCxnSpPr>
        <p:spPr>
          <a:xfrm>
            <a:off x="1676325" y="2781825"/>
            <a:ext cx="0" cy="0"/>
          </a:xfrm>
          <a:prstGeom prst="straightConnector1">
            <a:avLst/>
          </a:prstGeom>
          <a:noFill/>
          <a:ln cap="flat" cmpd="sng" w="9525">
            <a:solidFill>
              <a:schemeClr val="dk2"/>
            </a:solidFill>
            <a:prstDash val="solid"/>
            <a:round/>
            <a:headEnd len="med" w="med" type="none"/>
            <a:tailEnd len="med" w="med" type="none"/>
          </a:ln>
        </p:spPr>
      </p:cxnSp>
      <p:sp>
        <p:nvSpPr>
          <p:cNvPr id="1226" name="Google Shape;1226;p99"/>
          <p:cNvSpPr txBox="1"/>
          <p:nvPr/>
        </p:nvSpPr>
        <p:spPr>
          <a:xfrm>
            <a:off x="3700727" y="2332800"/>
            <a:ext cx="2379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0.022 (to 2 s.f.)</a:t>
            </a:r>
            <a:endParaRPr sz="2200">
              <a:latin typeface="Kalam"/>
              <a:ea typeface="Kalam"/>
              <a:cs typeface="Kalam"/>
              <a:sym typeface="Kalam"/>
            </a:endParaRPr>
          </a:p>
        </p:txBody>
      </p:sp>
      <p:sp>
        <p:nvSpPr>
          <p:cNvPr id="1227" name="Google Shape;1227;p99"/>
          <p:cNvSpPr txBox="1"/>
          <p:nvPr/>
        </p:nvSpPr>
        <p:spPr>
          <a:xfrm>
            <a:off x="3700727" y="3795873"/>
            <a:ext cx="2379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latin typeface="Kalam"/>
                <a:ea typeface="Kalam"/>
                <a:cs typeface="Kalam"/>
                <a:sym typeface="Kalam"/>
              </a:rPr>
              <a:t>449.64 (to 2 d.p.)</a:t>
            </a:r>
            <a:endParaRPr sz="2200">
              <a:latin typeface="Kalam"/>
              <a:ea typeface="Kalam"/>
              <a:cs typeface="Kalam"/>
              <a:sym typeface="Kalam"/>
            </a:endParaRPr>
          </a:p>
        </p:txBody>
      </p:sp>
      <p:pic>
        <p:nvPicPr>
          <p:cNvPr descr="&lt;math xmlns=&quot;http://www.w3.org/1998/Math/MathML&quot; display=&quot;block&quot; data-is-equatio=&quot;1&quot; data-latex=&quot;\frac{\sqrt{22}+3.8}{380\ -\ 0.54}&quot;&gt;&lt;mfrac&gt;&lt;mrow&gt;&lt;msqrt&gt;&lt;mn&gt;22&lt;/mn&gt;&lt;/msqrt&gt;&lt;mo&gt;+&lt;/mo&gt;&lt;mn&gt;3.8&lt;/mn&gt;&lt;/mrow&gt;&lt;mrow&gt;&lt;mn&gt;380&lt;/mn&gt;&lt;mtext&gt;&lt;/mtext&gt;&lt;mo&gt;−&lt;/mo&gt;&lt;mtext&gt;&lt;/mtext&gt;&lt;mn&gt;0.54&lt;/mn&gt;&lt;/mrow&gt;&lt;/mfrac&gt;&lt;/math&gt;" id="1228" name="Google Shape;1228;p99" title="the fraction with numerator the square root of 22 plus 3.8 and denominator 380 minus 0.54"/>
          <p:cNvPicPr preferRelativeResize="0"/>
          <p:nvPr/>
        </p:nvPicPr>
        <p:blipFill>
          <a:blip r:embed="rId3">
            <a:alphaModFix/>
          </a:blip>
          <a:stretch>
            <a:fillRect/>
          </a:stretch>
        </p:blipFill>
        <p:spPr>
          <a:xfrm>
            <a:off x="790800" y="2154457"/>
            <a:ext cx="1558234" cy="774150"/>
          </a:xfrm>
          <a:prstGeom prst="rect">
            <a:avLst/>
          </a:prstGeom>
          <a:noFill/>
          <a:ln>
            <a:noFill/>
          </a:ln>
        </p:spPr>
      </p:pic>
      <p:pic>
        <p:nvPicPr>
          <p:cNvPr descr="&lt;math xmlns=&quot;http://www.w3.org/1998/Math/MathML&quot; display=&quot;block&quot; data-is-equatio=&quot;1&quot; data-latex=&quot;\frac{1.28\ +\left(11.05\right)^2}{0.07\ \times3.92}&quot;&gt;&lt;mfrac&gt;&lt;mrow&gt;&lt;mn&gt;1.28&lt;/mn&gt;&lt;mtext&gt;&lt;/mtext&gt;&lt;mo&gt;+&lt;/mo&gt;&lt;msup&gt;&lt;mrow data-mjx-texclass=&quot;INNER&quot;&gt;&lt;mo data-mjx-texclass=&quot;OPEN&quot;&gt;(&lt;/mo&gt;&lt;mn&gt;11.05&lt;/mn&gt;&lt;mo data-mjx-texclass=&quot;CLOSE&quot;&gt;)&lt;/mo&gt;&lt;/mrow&gt;&lt;mn&gt;2&lt;/mn&gt;&lt;/msup&gt;&lt;/mrow&gt;&lt;mrow&gt;&lt;mn&gt;0.07&lt;/mn&gt;&lt;mtext&gt;&lt;/mtext&gt;&lt;mo&gt;×&lt;/mo&gt;&lt;mn&gt;3.92&lt;/mn&gt;&lt;/mrow&gt;&lt;/mfrac&gt;&lt;/math&gt;" id="1229" name="Google Shape;1229;p99" title="the fraction with numerator 1.28 positive 11.05 squared and denominator 0.07 times 3.92"/>
          <p:cNvPicPr preferRelativeResize="0"/>
          <p:nvPr/>
        </p:nvPicPr>
        <p:blipFill>
          <a:blip r:embed="rId4">
            <a:alphaModFix/>
          </a:blip>
          <a:stretch>
            <a:fillRect/>
          </a:stretch>
        </p:blipFill>
        <p:spPr>
          <a:xfrm>
            <a:off x="790801" y="3795874"/>
            <a:ext cx="2202640" cy="7741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3" name="Shape 1233"/>
        <p:cNvGrpSpPr/>
        <p:nvPr/>
      </p:nvGrpSpPr>
      <p:grpSpPr>
        <a:xfrm>
          <a:off x="0" y="0"/>
          <a:ext cx="0" cy="0"/>
          <a:chOff x="0" y="0"/>
          <a:chExt cx="0" cy="0"/>
        </a:xfrm>
      </p:grpSpPr>
      <p:sp>
        <p:nvSpPr>
          <p:cNvPr id="1234" name="Google Shape;1234;p100"/>
          <p:cNvSpPr txBox="1"/>
          <p:nvPr>
            <p:ph idx="1" type="body"/>
          </p:nvPr>
        </p:nvSpPr>
        <p:spPr>
          <a:xfrm>
            <a:off x="324000" y="851400"/>
            <a:ext cx="81138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Degrees of accuracy show how precise a number or measurement is.</a:t>
            </a:r>
            <a:endParaRPr/>
          </a:p>
          <a:p>
            <a:pPr indent="0" lvl="0" marL="0" rtl="0" algn="l">
              <a:spcBef>
                <a:spcPts val="1000"/>
              </a:spcBef>
              <a:spcAft>
                <a:spcPts val="0"/>
              </a:spcAft>
              <a:buNone/>
            </a:pPr>
            <a:r>
              <a:rPr lang="en-GB"/>
              <a:t>If the degree of accuracy is not stated you can make a conjecture about what you think it is.</a:t>
            </a:r>
            <a:endParaRPr/>
          </a:p>
          <a:p>
            <a:pPr indent="0" lvl="0" marL="0" rtl="0" algn="l">
              <a:spcBef>
                <a:spcPts val="1000"/>
              </a:spcBef>
              <a:spcAft>
                <a:spcPts val="0"/>
              </a:spcAft>
              <a:buNone/>
            </a:pPr>
            <a:r>
              <a:rPr lang="en-GB"/>
              <a:t>When working with money, answers should be given to 2 decimal places.</a:t>
            </a:r>
            <a:endParaRPr/>
          </a:p>
          <a:p>
            <a:pPr indent="0" lvl="0" marL="0" rtl="0" algn="l">
              <a:spcBef>
                <a:spcPts val="1000"/>
              </a:spcBef>
              <a:spcAft>
                <a:spcPts val="1000"/>
              </a:spcAft>
              <a:buNone/>
            </a:pPr>
            <a:r>
              <a:rPr lang="en-GB"/>
              <a:t>If the degree of accuracy required is not stated in a question, you should give your answer to the degree of accuracy of the values in the question.</a:t>
            </a:r>
            <a:endParaRPr/>
          </a:p>
        </p:txBody>
      </p:sp>
      <p:sp>
        <p:nvSpPr>
          <p:cNvPr id="1235" name="Google Shape;1235;p100"/>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sz="1800"/>
              <a:t>Degrees of accuracy</a:t>
            </a:r>
            <a:endParaRPr sz="18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sp>
        <p:nvSpPr>
          <p:cNvPr id="1240" name="Google Shape;1240;p101"/>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a:t>
            </a:r>
            <a:r>
              <a:rPr lang="en-GB"/>
              <a:t>Mathematics in Education and Industry</a:t>
            </a:r>
            <a:r>
              <a:rPr lang="en-GB"/>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241" name="Google Shape;1241;p101"/>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