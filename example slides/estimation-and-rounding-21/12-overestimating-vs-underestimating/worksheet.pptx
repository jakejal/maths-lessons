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3233dd262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b3233dd2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Overestimating vs underestimating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73189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86275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if the following gives an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underestimate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if it is hard to determine.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568.5445 + 453. 56       570 + 500				</a:t>
            </a:r>
            <a:endParaRPr b="1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45.215 × 62.123      50 × 60  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5321 × 4236       5000 × 4000 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2455 + 2362 × 5466      2500 + 2400 × 5500  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0.565 + 0.461 × 0.31       0.6 + 0.5 × 0.2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953 + 56.56 + 0.665 × 0.6       1000 + 60 + 0.5 × 0.5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56.2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+ 54.3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60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+ 50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79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Estimating with multiplication and addition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&quot;&gt;&lt;mo&gt;≈&lt;/mo&gt;&lt;/math&gt;" id="164" name="Google Shape;164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982" y="2428980"/>
            <a:ext cx="143473" cy="113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&quot;&gt;&lt;mo&gt;≈&lt;/mo&gt;&lt;/math&gt;" id="165" name="Google Shape;165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907" y="2704176"/>
            <a:ext cx="143473" cy="113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&quot;&gt;&lt;mo&gt;≈&lt;/mo&gt;&lt;/math&gt;" id="166" name="Google Shape;166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452" y="2984981"/>
            <a:ext cx="143473" cy="113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&quot;&gt;&lt;mo&gt;≈&lt;/mo&gt;&lt;/math&gt;" id="167" name="Google Shape;167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938" y="3257132"/>
            <a:ext cx="143473" cy="113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&quot;&gt;&lt;mo&gt;≈&lt;/mo&gt;&lt;/math&gt;" id="168" name="Google Shape;168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990" y="3532348"/>
            <a:ext cx="143473" cy="113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&quot;&gt;&lt;mo&gt;≈&lt;/mo&gt;&lt;/math&gt;" id="169" name="Google Shape;169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132" y="3819747"/>
            <a:ext cx="143473" cy="113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&quot;&gt;&lt;mo&gt;≈&lt;/mo&gt;&lt;/math&gt;" id="170" name="Google Shape;170;p2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133" y="4103792"/>
            <a:ext cx="143473" cy="11380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68000" y="4435825"/>
            <a:ext cx="6624000" cy="27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8 467 × 13.92 = 117 860.64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multiplication that gives a product close to, but a little more than, 117 860.64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multiplication that gives a product close to, but a little less than, 117 860.64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7839325"/>
            <a:ext cx="6624000" cy="21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Without calculating,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15.99 ÷ 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this a little more than 4, a little less than 4 or exactly 4?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Without calculating,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÷ 3.99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this a little more than 4, a little less than 4 or exactly 4?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7456526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Estimating with division and subtraction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Overestimating vs underestimating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720000"/>
            <a:ext cx="6624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if the following gives an overestimate, underestimate or if it is hard to determine.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80" name="Google Shape;180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93777" l="0" r="0" t="0"/>
          <a:stretch/>
        </p:blipFill>
        <p:spPr>
          <a:xfrm>
            <a:off x="901140" y="1308263"/>
            <a:ext cx="3380370" cy="265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81" name="Google Shape;181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82407" l="0" r="58876" t="6230"/>
          <a:stretch/>
        </p:blipFill>
        <p:spPr>
          <a:xfrm>
            <a:off x="873000" y="1753087"/>
            <a:ext cx="1819731" cy="634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82" name="Google Shape;182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72691" l="0" r="-1729" t="18000"/>
          <a:stretch/>
        </p:blipFill>
        <p:spPr>
          <a:xfrm>
            <a:off x="929924" y="2544223"/>
            <a:ext cx="3322799" cy="383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83" name="Google Shape;183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62714" l="0" r="49842" t="25965"/>
          <a:stretch/>
        </p:blipFill>
        <p:spPr>
          <a:xfrm>
            <a:off x="904983" y="3109497"/>
            <a:ext cx="1819731" cy="51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84" name="Google Shape;184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51508" l="0" r="44258" t="36170"/>
          <a:stretch/>
        </p:blipFill>
        <p:spPr>
          <a:xfrm>
            <a:off x="904983" y="3843813"/>
            <a:ext cx="2022296" cy="56416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52750" y="13205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52750" y="19301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52750" y="26159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52750" y="32255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52750" y="39875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90" name="Google Shape;190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40218" l="0" r="44258" t="48462"/>
          <a:stretch/>
        </p:blipFill>
        <p:spPr>
          <a:xfrm>
            <a:off x="929925" y="4506819"/>
            <a:ext cx="1894882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91" name="Google Shape;191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29283" l="0" r="44258" t="59397"/>
          <a:stretch/>
        </p:blipFill>
        <p:spPr>
          <a:xfrm>
            <a:off x="929925" y="5158816"/>
            <a:ext cx="1894882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92" name="Google Shape;192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21587" l="0" r="11582" t="69104"/>
          <a:stretch/>
        </p:blipFill>
        <p:spPr>
          <a:xfrm>
            <a:off x="929925" y="5773703"/>
            <a:ext cx="2706009" cy="359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93" name="Google Shape;193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9291" l="-2693" r="31625" t="78386"/>
          <a:stretch/>
        </p:blipFill>
        <p:spPr>
          <a:xfrm>
            <a:off x="929925" y="6410162"/>
            <a:ext cx="2415876" cy="528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6.2-24.3\ \approx\ 60\ -\ 20\\&amp;#13;&amp;#10;\frac{865}{123}\ \approx\ \frac{900}{100}\\&amp;#13;&amp;#10;788.621-132.2\ \approx\ 800\ -\ 130\\&amp;#13;&amp;#10;\frac{56+19}{0.36}\ \approx\ \frac{60+20}{0.2}\\&amp;#13;&amp;#10;\frac{545+164}{14.5}\approx\frac{550+160}{15}\\&amp;#13;&amp;#10;\frac{256}{573+546}\approx\frac{250}{575+550}\\&amp;#13;&amp;#10;\frac{58-52}{0.59}\approx\frac{60-50}{0.5}\\&amp;#13;&amp;#10;26.5^2+23.1^2\ \approx\ 30^2+25^2\\&amp;#13;&amp;#10;\frac{256}{573-546}\approx\frac{300}{570-550}\\&amp;#13;&amp;#10;\frac{26-5.6}{56-45}\approx\frac{30-6}{60-50}\end{array}&quot;&gt;&lt;mtable columnalign=&quot;left&quot; columnspacing=&quot;1em&quot; rowspacing=&quot;4pt&quot;&gt;&lt;mtr&gt;&lt;mtd&gt;&lt;mn&gt;56.2&lt;/mn&gt;&lt;mo&gt;−&lt;/mo&gt;&lt;mn&gt;24.3&lt;/mn&gt;&lt;mtext&gt;&lt;/mtext&gt;&lt;mo&gt;≈&lt;/mo&gt;&lt;mtext&gt;&lt;/mtext&gt;&lt;mn&gt;60&lt;/mn&gt;&lt;mtext&gt;&lt;/mtext&gt;&lt;mo&gt;−&lt;/mo&gt;&lt;mtext&gt;&lt;/mtext&gt;&lt;mn&gt;20&lt;/mn&gt;&lt;/mtd&gt;&lt;/mtr&gt;&lt;mtr&gt;&lt;mtd&gt;&lt;mfrac&gt;&lt;mn&gt;865&lt;/mn&gt;&lt;mn&gt;123&lt;/mn&gt;&lt;/mfrac&gt;&lt;mtext&gt;&lt;/mtext&gt;&lt;mo&gt;≈&lt;/mo&gt;&lt;mtext&gt;&lt;/mtext&gt;&lt;mfrac&gt;&lt;mn&gt;900&lt;/mn&gt;&lt;mn&gt;100&lt;/mn&gt;&lt;/mfrac&gt;&lt;/mtd&gt;&lt;/mtr&gt;&lt;mtr&gt;&lt;mtd&gt;&lt;mn&gt;788.621&lt;/mn&gt;&lt;mo&gt;−&lt;/mo&gt;&lt;mn&gt;132.2&lt;/mn&gt;&lt;mtext&gt;&lt;/mtext&gt;&lt;mo&gt;≈&lt;/mo&gt;&lt;mtext&gt;&lt;/mtext&gt;&lt;mn&gt;800&lt;/mn&gt;&lt;mtext&gt;&lt;/mtext&gt;&lt;mo&gt;−&lt;/mo&gt;&lt;mtext&gt;&lt;/mtext&gt;&lt;mn&gt;130&lt;/mn&gt;&lt;/mtd&gt;&lt;/mtr&gt;&lt;mtr&gt;&lt;mtd&gt;&lt;mfrac&gt;&lt;mrow&gt;&lt;mn&gt;56&lt;/mn&gt;&lt;mo&gt;+&lt;/mo&gt;&lt;mn&gt;19&lt;/mn&gt;&lt;/mrow&gt;&lt;mn&gt;0.36&lt;/mn&gt;&lt;/mfrac&gt;&lt;mtext&gt;&lt;/mtext&gt;&lt;mo&gt;≈&lt;/mo&gt;&lt;mtext&gt;&lt;/mtext&gt;&lt;mfrac&gt;&lt;mrow&gt;&lt;mn&gt;60&lt;/mn&gt;&lt;mo&gt;+&lt;/mo&gt;&lt;mn&gt;20&lt;/mn&gt;&lt;/mrow&gt;&lt;mn&gt;0.2&lt;/mn&gt;&lt;/mfrac&gt;&lt;/mtd&gt;&lt;/mtr&gt;&lt;mtr&gt;&lt;mtd&gt;&lt;mfrac&gt;&lt;mrow&gt;&lt;mn&gt;545&lt;/mn&gt;&lt;mo&gt;+&lt;/mo&gt;&lt;mn&gt;164&lt;/mn&gt;&lt;/mrow&gt;&lt;mn&gt;14.5&lt;/mn&gt;&lt;/mfrac&gt;&lt;mo&gt;≈&lt;/mo&gt;&lt;mfrac&gt;&lt;mrow&gt;&lt;mn&gt;550&lt;/mn&gt;&lt;mo&gt;+&lt;/mo&gt;&lt;mn&gt;160&lt;/mn&gt;&lt;/mrow&gt;&lt;mn&gt;15&lt;/mn&gt;&lt;/mfrac&gt;&lt;/mtd&gt;&lt;/mtr&gt;&lt;mtr&gt;&lt;mtd&gt;&lt;mfrac&gt;&lt;mn&gt;256&lt;/mn&gt;&lt;mrow&gt;&lt;mn&gt;573&lt;/mn&gt;&lt;mo&gt;+&lt;/mo&gt;&lt;mn&gt;546&lt;/mn&gt;&lt;/mrow&gt;&lt;/mfrac&gt;&lt;mo&gt;≈&lt;/mo&gt;&lt;mfrac&gt;&lt;mn&gt;250&lt;/mn&gt;&lt;mrow&gt;&lt;mn&gt;575&lt;/mn&gt;&lt;mo&gt;+&lt;/mo&gt;&lt;mn&gt;550&lt;/mn&gt;&lt;/mrow&gt;&lt;/mfrac&gt;&lt;/mtd&gt;&lt;/mtr&gt;&lt;mtr&gt;&lt;mtd&gt;&lt;mfrac&gt;&lt;mrow&gt;&lt;mn&gt;58&lt;/mn&gt;&lt;mo&gt;−&lt;/mo&gt;&lt;mn&gt;52&lt;/mn&gt;&lt;/mrow&gt;&lt;mn&gt;0.59&lt;/mn&gt;&lt;/mfrac&gt;&lt;mo&gt;≈&lt;/mo&gt;&lt;mfrac&gt;&lt;mrow&gt;&lt;mn&gt;60&lt;/mn&gt;&lt;mo&gt;−&lt;/mo&gt;&lt;mn&gt;50&lt;/mn&gt;&lt;/mrow&gt;&lt;mn&gt;0.5&lt;/mn&gt;&lt;/mfrac&gt;&lt;/mtd&gt;&lt;/mtr&gt;&lt;mtr&gt;&lt;mtd&gt;&lt;msup&gt;&lt;mn&gt;26.5&lt;/mn&gt;&lt;mn&gt;2&lt;/mn&gt;&lt;/msup&gt;&lt;mo&gt;+&lt;/mo&gt;&lt;msup&gt;&lt;mn&gt;23.1&lt;/mn&gt;&lt;mn&gt;2&lt;/mn&gt;&lt;/msup&gt;&lt;mtext&gt;&lt;/mtext&gt;&lt;mo&gt;≈&lt;/mo&gt;&lt;mtext&gt;&lt;/mtext&gt;&lt;msup&gt;&lt;mn&gt;30&lt;/mn&gt;&lt;mn&gt;2&lt;/mn&gt;&lt;/msup&gt;&lt;mo&gt;+&lt;/mo&gt;&lt;msup&gt;&lt;mn&gt;25&lt;/mn&gt;&lt;mn&gt;2&lt;/mn&gt;&lt;/msup&gt;&lt;/mtd&gt;&lt;/mtr&gt;&lt;mtr&gt;&lt;mtd&gt;&lt;mfrac&gt;&lt;mn&gt;256&lt;/mn&gt;&lt;mrow&gt;&lt;mn&gt;573&lt;/mn&gt;&lt;mo&gt;−&lt;/mo&gt;&lt;mn&gt;546&lt;/mn&gt;&lt;/mrow&gt;&lt;/mfrac&gt;&lt;mo&gt;≈&lt;/mo&gt;&lt;mfrac&gt;&lt;mn&gt;300&lt;/mn&gt;&lt;mrow&gt;&lt;mn&gt;570&lt;/mn&gt;&lt;mo&gt;−&lt;/mo&gt;&lt;mn&gt;550&lt;/mn&gt;&lt;/mrow&gt;&lt;/mfrac&gt;&lt;/mtd&gt;&lt;/mtr&gt;&lt;mtr&gt;&lt;mtd&gt;&lt;mfrac&gt;&lt;mrow&gt;&lt;mn&gt;26&lt;/mn&gt;&lt;mo&gt;−&lt;/mo&gt;&lt;mn&gt;5.6&lt;/mn&gt;&lt;/mrow&gt;&lt;mrow&gt;&lt;mn&gt;56&lt;/mn&gt;&lt;mo&gt;−&lt;/mo&gt;&lt;mn&gt;45&lt;/mn&gt;&lt;/mrow&gt;&lt;/mfrac&gt;&lt;mo&gt;≈&lt;/mo&gt;&lt;mfrac&gt;&lt;mrow&gt;&lt;mn&gt;30&lt;/mn&gt;&lt;mo&gt;−&lt;/mo&gt;&lt;mn&gt;6&lt;/mn&gt;&lt;/mrow&gt;&lt;mrow&gt;&lt;mn&gt;60&lt;/mn&gt;&lt;mo&gt;−&lt;/mo&gt;&lt;mn&gt;50&lt;/mn&gt;&lt;/mrow&gt;&lt;/mfrac&gt;&lt;/mtd&gt;&lt;/mtr&gt;&lt;/mtable&gt;&lt;/math&gt;" id="194" name="Google Shape;194;p21" title="10 lines Line 1: 56.2 minus 24.3 almost equals 60 minus 20 Line 2: 865 over 123 almost equals 900 over 100 Line 3: 788.621 minus 132.2 almost equals 800 minus 130 Line 4: the fraction with numerator 56 plus 19 and denominator 0.36 almost equals the fraction with numerator 60 plus 20 and denominator 0.2 Line 5: the fraction with numerator 545 plus 164 and denominator 14.5 almost equals the fraction with numerator 550 plus 160 and denominator 15 Line 6: the fraction with numerator 256 and denominator 573 plus 546 almost equals the fraction with numerator 250 and denominator 575 plus 550 Line 7: the fraction with numerator 58 minus 52 and denominator 0.59 almost equals the fraction with numerator 60 minus 50 and denominator 0.5 Line 8: 26.5 squared plus 23.1 squared almost equals 30 squared plus 25 squared Line 9: the fraction with numerator 256 and denominator 573 minus 546 almost equals the fraction with numerator 300 and denominator 570 minus 550 Line 10: the fraction with numerator 26 minus 5.6 and denominator 56 minus 45 almost equals the fraction with numerator 30 minus 6 and denominator 60 minus 50"/>
          <p:cNvPicPr preferRelativeResize="0"/>
          <p:nvPr/>
        </p:nvPicPr>
        <p:blipFill rotWithShape="1">
          <a:blip r:embed="rId3">
            <a:alphaModFix/>
          </a:blip>
          <a:srcRect b="-2754" l="-2670" r="46928" t="88897"/>
          <a:stretch/>
        </p:blipFill>
        <p:spPr>
          <a:xfrm>
            <a:off x="929925" y="7158039"/>
            <a:ext cx="1894882" cy="59450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44200" y="45957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44200" y="52053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44200" y="58911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44200" y="65007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44200" y="7262750"/>
            <a:ext cx="675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1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Overestimating vs underestimating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68000" y="766375"/>
            <a:ext cx="6624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Overestimating vs underestimating in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85550" y="1186375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two signs on the left are from different lifts. Each lift can carry a different number of people.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372425" y="1897575"/>
            <a:ext cx="1278300" cy="1395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629831" y="2000323"/>
            <a:ext cx="779700" cy="39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🠋 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521819" y="2436126"/>
            <a:ext cx="1193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Max load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persons or 630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844468" y="1897575"/>
            <a:ext cx="1278300" cy="1395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101875" y="2000323"/>
            <a:ext cx="779700" cy="39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▲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993863" y="2436126"/>
            <a:ext cx="1193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Capacity 1000 kg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persons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2667606" y="1578588"/>
            <a:ext cx="7089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Lift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114276" y="1578588"/>
            <a:ext cx="7089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Lift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35417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lift assumes that people are heavier? 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468000" y="49094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lift is easier to estimate? Why?</a:t>
            </a:r>
            <a:endParaRPr sz="1200"/>
          </a:p>
        </p:txBody>
      </p:sp>
      <p:sp>
        <p:nvSpPr>
          <p:cNvPr id="222" name="Google Shape;222;p22"/>
          <p:cNvSpPr txBox="1"/>
          <p:nvPr/>
        </p:nvSpPr>
        <p:spPr>
          <a:xfrm>
            <a:off x="468000" y="6124725"/>
            <a:ext cx="6641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Nine identical boxes are under the weight limit for one lift, but over it for the other lift. What do you know about the weight of the boxes?</a:t>
            </a:r>
            <a:endParaRPr sz="1200"/>
          </a:p>
        </p:txBody>
      </p:sp>
      <p:sp>
        <p:nvSpPr>
          <p:cNvPr id="223" name="Google Shape;223;p22"/>
          <p:cNvSpPr txBox="1"/>
          <p:nvPr/>
        </p:nvSpPr>
        <p:spPr>
          <a:xfrm>
            <a:off x="468000" y="7096525"/>
            <a:ext cx="6641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Five boxes weighing 23 kg each are put into each lift. Approximately how many people can safely get in the lifts with them?</a:t>
            </a:r>
            <a:endParaRPr sz="1200"/>
          </a:p>
        </p:txBody>
      </p:sp>
      <p:sp>
        <p:nvSpPr>
          <p:cNvPr id="224" name="Google Shape;224;p22"/>
          <p:cNvSpPr txBox="1"/>
          <p:nvPr/>
        </p:nvSpPr>
        <p:spPr>
          <a:xfrm>
            <a:off x="468000" y="87379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Explain why it is better to overestimate all the scenarios above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