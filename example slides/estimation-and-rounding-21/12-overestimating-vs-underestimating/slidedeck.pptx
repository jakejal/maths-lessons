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841332-CA88-4483-9286-93B5146B880D}">
  <a:tblStyle styleId="{BF841332-CA88-4483-9286-93B5146B880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2687eeaed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2687eeaed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2687eeaed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32687eeaed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2687eeaed2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2687eeaed2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2687eeaed2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2687eeaed2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2687eeaed2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2687eeaed2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2687eeaed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2687eeaed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2687eeaed2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2687eeaed2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2687eeaed2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2687eeaed2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2687eeaed2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2687eeaed2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2687eeaed2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2687eeaed2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2687eeaed2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2687eeaed2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2687eeaed2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2687eeaed2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2687eeaed2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32687eeaed2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2687eeaed2_1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2687eeaed2_1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2687eeaed2_1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2687eeaed2_1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2687eeaed2_1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32687eeaed2_1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2687eeaed2_1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2687eeaed2_1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2687eeaed2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32687eeaed2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2687eeaed2_1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32687eeaed2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2687eeaed2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2687eeaed2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2687eeaed2_1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32687eeaed2_1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2687eeaed2_1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2687eeaed2_1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2687eeaed2_1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2687eeaed2_1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2687eeaed2_1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32687eeaed2_1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2687eeaed2_1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2687eeaed2_1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2687eeaed2_1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2687eeaed2_1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2687eeaed2_1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2687eeaed2_1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2687eeaed2_1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32687eeaed2_1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2687eeaed2_1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32687eeaed2_1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2687eeaed2_1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32687eeaed2_1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2687eeaed2_1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9" name="Google Shape;1159;g32687eeaed2_1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2687eeaed2_1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32687eeaed2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2687eeaed2_1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32687eeaed2_1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2687eeaed2_1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32687eeaed2_1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32687eeaed2_1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32687eeaed2_1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2687eeaed2_1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32687eeaed2_1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2687eeaed2_1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32687eeaed2_1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2687eeaed2_1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32687eeaed2_1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32687eeaed2_1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32687eeaed2_1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32687eeaed2_1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2" name="Google Shape;1272;g32687eeaed2_1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32687eeaed2_1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32687eeaed2_1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32687eeaed2_1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32687eeaed2_1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32687eeaed2_1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32687eeaed2_1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2687eeaed2_1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32687eeaed2_1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32687eeaed2_1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g32687eeaed2_1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32687eeaed2_1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32687eeaed2_1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32687eeaed2_1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32687eeaed2_1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32687eeaed2_1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g32687eeaed2_1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image" Target="../media/image71.png"/><Relationship Id="rId5" Type="http://schemas.openxmlformats.org/officeDocument/2006/relationships/image" Target="../media/image26.png"/><Relationship Id="rId6" Type="http://schemas.openxmlformats.org/officeDocument/2006/relationships/image" Target="../media/image28.png"/><Relationship Id="rId7" Type="http://schemas.openxmlformats.org/officeDocument/2006/relationships/image" Target="../media/image2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71.png"/><Relationship Id="rId4" Type="http://schemas.openxmlformats.org/officeDocument/2006/relationships/image" Target="../media/image23.png"/><Relationship Id="rId9"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30.png"/><Relationship Id="rId7" Type="http://schemas.openxmlformats.org/officeDocument/2006/relationships/image" Target="../media/image26.png"/><Relationship Id="rId8" Type="http://schemas.openxmlformats.org/officeDocument/2006/relationships/image" Target="../media/image2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71.png"/><Relationship Id="rId4" Type="http://schemas.openxmlformats.org/officeDocument/2006/relationships/image" Target="../media/image33.png"/><Relationship Id="rId11" Type="http://schemas.openxmlformats.org/officeDocument/2006/relationships/image" Target="../media/image24.png"/><Relationship Id="rId10" Type="http://schemas.openxmlformats.org/officeDocument/2006/relationships/image" Target="../media/image38.png"/><Relationship Id="rId9" Type="http://schemas.openxmlformats.org/officeDocument/2006/relationships/image" Target="../media/image28.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30.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5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5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5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4.png"/><Relationship Id="rId4" Type="http://schemas.openxmlformats.org/officeDocument/2006/relationships/image" Target="../media/image5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52.png"/><Relationship Id="rId4"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 Id="rId3" Type="http://schemas.openxmlformats.org/officeDocument/2006/relationships/image" Target="../media/image55.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 Id="rId3" Type="http://schemas.openxmlformats.org/officeDocument/2006/relationships/image" Target="../media/image57.png"/><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 Id="rId3" Type="http://schemas.openxmlformats.org/officeDocument/2006/relationships/image" Target="../media/image6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 Id="rId3" Type="http://schemas.openxmlformats.org/officeDocument/2006/relationships/image" Target="../media/image59.png"/><Relationship Id="rId4" Type="http://schemas.openxmlformats.org/officeDocument/2006/relationships/image" Target="../media/image53.png"/><Relationship Id="rId5"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59.png"/><Relationship Id="rId4" Type="http://schemas.openxmlformats.org/officeDocument/2006/relationships/image" Target="../media/image53.png"/><Relationship Id="rId5"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4.xml"/><Relationship Id="rId3" Type="http://schemas.openxmlformats.org/officeDocument/2006/relationships/image" Target="../media/image58.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53.png"/><Relationship Id="rId4" Type="http://schemas.openxmlformats.org/officeDocument/2006/relationships/image" Target="../media/image62.png"/><Relationship Id="rId5" Type="http://schemas.openxmlformats.org/officeDocument/2006/relationships/image" Target="../media/image5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6.xml"/><Relationship Id="rId3" Type="http://schemas.openxmlformats.org/officeDocument/2006/relationships/image" Target="../media/image6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6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0.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 Id="rId3" Type="http://schemas.openxmlformats.org/officeDocument/2006/relationships/image" Target="../media/image6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 Id="rId3" Type="http://schemas.openxmlformats.org/officeDocument/2006/relationships/image" Target="../media/image6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 Id="rId3" Type="http://schemas.openxmlformats.org/officeDocument/2006/relationships/image" Target="../media/image6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6.xml"/><Relationship Id="rId3" Type="http://schemas.openxmlformats.org/officeDocument/2006/relationships/image" Target="../media/image6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9.xml"/><Relationship Id="rId3" Type="http://schemas.openxmlformats.org/officeDocument/2006/relationships/image" Target="../media/image7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0.xml"/><Relationship Id="rId3" Type="http://schemas.openxmlformats.org/officeDocument/2006/relationships/image" Target="../media/image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8.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Overestimating vs underestimating</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Estimation and rounding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determine whether calculations using rounding or truncating will give an underestimate or overestimate.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nvSpPr>
        <p:spPr>
          <a:xfrm>
            <a:off x="324000" y="802250"/>
            <a:ext cx="7135200" cy="258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solidFill>
                  <a:srgbClr val="282828"/>
                </a:solidFill>
                <a:latin typeface="Lexend"/>
                <a:ea typeface="Lexend"/>
                <a:cs typeface="Lexend"/>
                <a:sym typeface="Lexend"/>
              </a:rPr>
              <a:t>An</a:t>
            </a:r>
            <a:r>
              <a:rPr b="1" lang="en-GB" sz="2000">
                <a:solidFill>
                  <a:srgbClr val="282828"/>
                </a:solidFill>
                <a:latin typeface="Lexend"/>
                <a:ea typeface="Lexend"/>
                <a:cs typeface="Lexend"/>
                <a:sym typeface="Lexend"/>
              </a:rPr>
              <a:t> overestimate </a:t>
            </a:r>
            <a:r>
              <a:rPr lang="en-GB" sz="2000">
                <a:solidFill>
                  <a:srgbClr val="282828"/>
                </a:solidFill>
                <a:latin typeface="Lexend"/>
                <a:ea typeface="Lexend"/>
                <a:cs typeface="Lexend"/>
                <a:sym typeface="Lexend"/>
              </a:rPr>
              <a:t>is an estimate for a calculation which is greater than the exact answer.</a:t>
            </a:r>
            <a:endParaRPr sz="2000">
              <a:solidFill>
                <a:srgbClr val="282828"/>
              </a:solidFill>
              <a:latin typeface="Lexend"/>
              <a:ea typeface="Lexend"/>
              <a:cs typeface="Lexend"/>
              <a:sym typeface="Lexend"/>
            </a:endParaRPr>
          </a:p>
          <a:p>
            <a:pPr indent="0" lvl="0" marL="0" rtl="0" algn="l">
              <a:lnSpc>
                <a:spcPct val="115000"/>
              </a:lnSpc>
              <a:spcBef>
                <a:spcPts val="1000"/>
              </a:spcBef>
              <a:spcAft>
                <a:spcPts val="0"/>
              </a:spcAft>
              <a:buNone/>
            </a:pPr>
            <a:r>
              <a:t/>
            </a:r>
            <a:endParaRPr sz="2000">
              <a:solidFill>
                <a:srgbClr val="282828"/>
              </a:solidFill>
              <a:latin typeface="Lexend"/>
              <a:ea typeface="Lexend"/>
              <a:cs typeface="Lexend"/>
              <a:sym typeface="Lexend"/>
            </a:endParaRPr>
          </a:p>
          <a:p>
            <a:pPr indent="0" lvl="0" marL="0" rtl="0" algn="l">
              <a:lnSpc>
                <a:spcPct val="115000"/>
              </a:lnSpc>
              <a:spcBef>
                <a:spcPts val="1000"/>
              </a:spcBef>
              <a:spcAft>
                <a:spcPts val="0"/>
              </a:spcAft>
              <a:buNone/>
            </a:pPr>
            <a:r>
              <a:rPr lang="en-GB" sz="2000">
                <a:solidFill>
                  <a:srgbClr val="282828"/>
                </a:solidFill>
                <a:latin typeface="Lexend"/>
                <a:ea typeface="Lexend"/>
                <a:cs typeface="Lexend"/>
                <a:sym typeface="Lexend"/>
              </a:rPr>
              <a:t>An</a:t>
            </a:r>
            <a:r>
              <a:rPr b="1" lang="en-GB" sz="2000">
                <a:solidFill>
                  <a:srgbClr val="282828"/>
                </a:solidFill>
                <a:latin typeface="Lexend"/>
                <a:ea typeface="Lexend"/>
                <a:cs typeface="Lexend"/>
                <a:sym typeface="Lexend"/>
              </a:rPr>
              <a:t> underestimate</a:t>
            </a:r>
            <a:r>
              <a:rPr lang="en-GB" sz="2000">
                <a:solidFill>
                  <a:srgbClr val="282828"/>
                </a:solidFill>
                <a:latin typeface="Lexend"/>
                <a:ea typeface="Lexend"/>
                <a:cs typeface="Lexend"/>
                <a:sym typeface="Lexend"/>
              </a:rPr>
              <a:t> is an estimate for a calculation which is less than the exact answer.</a:t>
            </a:r>
            <a:endParaRPr sz="2000">
              <a:solidFill>
                <a:srgbClr val="282828"/>
              </a:solidFill>
              <a:latin typeface="Lexend"/>
              <a:ea typeface="Lexend"/>
              <a:cs typeface="Lexend"/>
              <a:sym typeface="Lexend"/>
            </a:endParaRPr>
          </a:p>
          <a:p>
            <a:pPr indent="0" lvl="0" marL="0" rtl="0" algn="l">
              <a:lnSpc>
                <a:spcPct val="115000"/>
              </a:lnSpc>
              <a:spcBef>
                <a:spcPts val="1000"/>
              </a:spcBef>
              <a:spcAft>
                <a:spcPts val="0"/>
              </a:spcAft>
              <a:buNone/>
            </a:pPr>
            <a:r>
              <a:t/>
            </a:r>
            <a:endParaRPr b="1" sz="2000">
              <a:solidFill>
                <a:srgbClr val="282828"/>
              </a:solidFill>
              <a:latin typeface="Lexend"/>
              <a:ea typeface="Lexend"/>
              <a:cs typeface="Lexend"/>
              <a:sym typeface="Lexend"/>
            </a:endParaRPr>
          </a:p>
          <a:p>
            <a:pPr indent="0" lvl="0" marL="0" rtl="0" algn="l">
              <a:lnSpc>
                <a:spcPct val="115000"/>
              </a:lnSpc>
              <a:spcBef>
                <a:spcPts val="1000"/>
              </a:spcBef>
              <a:spcAft>
                <a:spcPts val="0"/>
              </a:spcAft>
              <a:buNone/>
            </a:pPr>
            <a:r>
              <a:t/>
            </a:r>
            <a:endParaRPr sz="1800">
              <a:solidFill>
                <a:srgbClr val="282828"/>
              </a:solidFill>
              <a:latin typeface="Lexend"/>
              <a:ea typeface="Lexend"/>
              <a:cs typeface="Lexend"/>
              <a:sym typeface="Lexend"/>
            </a:endParaRPr>
          </a:p>
          <a:p>
            <a:pPr indent="0" lvl="0" marL="0" rtl="0" algn="l">
              <a:lnSpc>
                <a:spcPct val="115000"/>
              </a:lnSpc>
              <a:spcBef>
                <a:spcPts val="1000"/>
              </a:spcBef>
              <a:spcAft>
                <a:spcPts val="0"/>
              </a:spcAft>
              <a:buNone/>
            </a:pPr>
            <a:r>
              <a:t/>
            </a:r>
            <a:endParaRPr sz="1800">
              <a:solidFill>
                <a:srgbClr val="282828"/>
              </a:solidFill>
              <a:latin typeface="Lexend"/>
              <a:ea typeface="Lexend"/>
              <a:cs typeface="Lexend"/>
              <a:sym typeface="Lexend"/>
            </a:endParaRPr>
          </a:p>
          <a:p>
            <a:pPr indent="0" lvl="0" marL="0" rtl="0" algn="l">
              <a:lnSpc>
                <a:spcPct val="115000"/>
              </a:lnSpc>
              <a:spcBef>
                <a:spcPts val="1000"/>
              </a:spcBef>
              <a:spcAft>
                <a:spcPts val="1000"/>
              </a:spcAft>
              <a:buClr>
                <a:schemeClr val="dk1"/>
              </a:buClr>
              <a:buSzPts val="1100"/>
              <a:buFont typeface="Arial"/>
              <a:buNone/>
            </a:pPr>
            <a:r>
              <a:rPr b="1" lang="en-GB" sz="2000">
                <a:solidFill>
                  <a:srgbClr val="282828"/>
                </a:solidFill>
                <a:latin typeface="Lexend"/>
                <a:ea typeface="Lexend"/>
                <a:cs typeface="Lexend"/>
                <a:sym typeface="Lexend"/>
              </a:rPr>
              <a:t> </a:t>
            </a:r>
            <a:endParaRPr sz="21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67"/>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sp>
        <p:nvSpPr>
          <p:cNvPr id="776" name="Google Shape;776;p67"/>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777" name="Google Shape;777;p67"/>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778" name="Google Shape;778;p67"/>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Overestimating vs underestimating</a:t>
            </a:r>
            <a:endParaRPr/>
          </a:p>
        </p:txBody>
      </p:sp>
      <p:pic>
        <p:nvPicPr>
          <p:cNvPr id="779" name="Google Shape;779;p67"/>
          <p:cNvPicPr preferRelativeResize="0"/>
          <p:nvPr/>
        </p:nvPicPr>
        <p:blipFill>
          <a:blip r:embed="rId3">
            <a:alphaModFix/>
          </a:blip>
          <a:stretch>
            <a:fillRect/>
          </a:stretch>
        </p:blipFill>
        <p:spPr>
          <a:xfrm>
            <a:off x="410275" y="17410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8"/>
          <p:cNvSpPr txBox="1"/>
          <p:nvPr>
            <p:ph idx="1" type="body"/>
          </p:nvPr>
        </p:nvSpPr>
        <p:spPr>
          <a:xfrm>
            <a:off x="324000" y="759300"/>
            <a:ext cx="8237700" cy="169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We round to help estimate an answer to a calculation. The answer is never exact and gives us a rough idea of the answer. As a result of rounding, the answer can sometimes be an </a:t>
            </a:r>
            <a:r>
              <a:rPr b="1" lang="en-GB"/>
              <a:t>overestimate</a:t>
            </a:r>
            <a:r>
              <a:rPr lang="en-GB"/>
              <a:t> or </a:t>
            </a:r>
            <a:r>
              <a:rPr b="1" lang="en-GB"/>
              <a:t>underestimate.</a:t>
            </a:r>
            <a:r>
              <a:rPr lang="en-GB"/>
              <a:t> </a:t>
            </a:r>
            <a:endParaRPr/>
          </a:p>
        </p:txBody>
      </p:sp>
      <p:sp>
        <p:nvSpPr>
          <p:cNvPr id="785" name="Google Shape;785;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9"/>
          <p:cNvSpPr txBox="1"/>
          <p:nvPr>
            <p:ph idx="1" type="body"/>
          </p:nvPr>
        </p:nvSpPr>
        <p:spPr>
          <a:xfrm>
            <a:off x="363200" y="1288725"/>
            <a:ext cx="4631400" cy="61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Estimate the answer to 4.6 + 2.7</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791" name="Google Shape;791;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pic>
        <p:nvPicPr>
          <p:cNvPr id="792" name="Google Shape;792;p69"/>
          <p:cNvPicPr preferRelativeResize="0"/>
          <p:nvPr/>
        </p:nvPicPr>
        <p:blipFill>
          <a:blip r:embed="rId3">
            <a:alphaModFix/>
          </a:blip>
          <a:stretch>
            <a:fillRect/>
          </a:stretch>
        </p:blipFill>
        <p:spPr>
          <a:xfrm flipH="1">
            <a:off x="363188" y="1931400"/>
            <a:ext cx="1114250" cy="1078300"/>
          </a:xfrm>
          <a:prstGeom prst="rect">
            <a:avLst/>
          </a:prstGeom>
          <a:noFill/>
          <a:ln>
            <a:noFill/>
          </a:ln>
        </p:spPr>
      </p:pic>
      <p:sp>
        <p:nvSpPr>
          <p:cNvPr id="793" name="Google Shape;793;p69"/>
          <p:cNvSpPr txBox="1"/>
          <p:nvPr/>
        </p:nvSpPr>
        <p:spPr>
          <a:xfrm>
            <a:off x="592150" y="308748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pic>
        <p:nvPicPr>
          <p:cNvPr id="794" name="Google Shape;794;p69"/>
          <p:cNvPicPr preferRelativeResize="0"/>
          <p:nvPr/>
        </p:nvPicPr>
        <p:blipFill rotWithShape="1">
          <a:blip r:embed="rId4">
            <a:alphaModFix/>
          </a:blip>
          <a:srcRect b="0" l="0" r="69082" t="56280"/>
          <a:stretch/>
        </p:blipFill>
        <p:spPr>
          <a:xfrm flipH="1">
            <a:off x="1532339" y="1766325"/>
            <a:ext cx="2415524" cy="931201"/>
          </a:xfrm>
          <a:prstGeom prst="rect">
            <a:avLst/>
          </a:prstGeom>
          <a:noFill/>
          <a:ln>
            <a:noFill/>
          </a:ln>
        </p:spPr>
      </p:pic>
      <p:sp>
        <p:nvSpPr>
          <p:cNvPr id="795" name="Google Shape;795;p69"/>
          <p:cNvSpPr txBox="1"/>
          <p:nvPr/>
        </p:nvSpPr>
        <p:spPr>
          <a:xfrm>
            <a:off x="1654100" y="1923200"/>
            <a:ext cx="2172000" cy="8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 would use  5 + 3</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grpSp>
        <p:nvGrpSpPr>
          <p:cNvPr id="801" name="Google Shape;801;p70"/>
          <p:cNvGrpSpPr/>
          <p:nvPr/>
        </p:nvGrpSpPr>
        <p:grpSpPr>
          <a:xfrm>
            <a:off x="896100" y="1559023"/>
            <a:ext cx="6347700" cy="131700"/>
            <a:chOff x="1404950" y="4254150"/>
            <a:chExt cx="6347700" cy="131700"/>
          </a:xfrm>
        </p:grpSpPr>
        <p:cxnSp>
          <p:nvCxnSpPr>
            <p:cNvPr id="802" name="Google Shape;802;p70"/>
            <p:cNvCxnSpPr/>
            <p:nvPr/>
          </p:nvCxnSpPr>
          <p:spPr>
            <a:xfrm>
              <a:off x="7700200" y="4254150"/>
              <a:ext cx="0" cy="131700"/>
            </a:xfrm>
            <a:prstGeom prst="straightConnector1">
              <a:avLst/>
            </a:prstGeom>
            <a:noFill/>
            <a:ln cap="flat" cmpd="sng" w="28575">
              <a:solidFill>
                <a:srgbClr val="878787"/>
              </a:solidFill>
              <a:prstDash val="solid"/>
              <a:round/>
              <a:headEnd len="med" w="med" type="none"/>
              <a:tailEnd len="med" w="med" type="none"/>
            </a:ln>
          </p:spPr>
        </p:cxnSp>
        <p:cxnSp>
          <p:nvCxnSpPr>
            <p:cNvPr id="803" name="Google Shape;803;p70"/>
            <p:cNvCxnSpPr/>
            <p:nvPr/>
          </p:nvCxnSpPr>
          <p:spPr>
            <a:xfrm flipH="1" rot="10800000">
              <a:off x="1404950" y="4312725"/>
              <a:ext cx="6347700" cy="2100"/>
            </a:xfrm>
            <a:prstGeom prst="straightConnector1">
              <a:avLst/>
            </a:prstGeom>
            <a:noFill/>
            <a:ln cap="flat" cmpd="sng" w="28575">
              <a:solidFill>
                <a:srgbClr val="878787"/>
              </a:solidFill>
              <a:prstDash val="solid"/>
              <a:round/>
              <a:headEnd len="med" w="med" type="none"/>
              <a:tailEnd len="med" w="med" type="none"/>
            </a:ln>
          </p:spPr>
        </p:cxnSp>
        <p:cxnSp>
          <p:nvCxnSpPr>
            <p:cNvPr id="804" name="Google Shape;804;p70"/>
            <p:cNvCxnSpPr/>
            <p:nvPr/>
          </p:nvCxnSpPr>
          <p:spPr>
            <a:xfrm>
              <a:off x="1454117" y="4254150"/>
              <a:ext cx="0" cy="131700"/>
            </a:xfrm>
            <a:prstGeom prst="straightConnector1">
              <a:avLst/>
            </a:prstGeom>
            <a:noFill/>
            <a:ln cap="flat" cmpd="sng" w="28575">
              <a:solidFill>
                <a:srgbClr val="878787"/>
              </a:solidFill>
              <a:prstDash val="solid"/>
              <a:round/>
              <a:headEnd len="med" w="med" type="none"/>
              <a:tailEnd len="med" w="med" type="none"/>
            </a:ln>
          </p:spPr>
        </p:cxnSp>
      </p:grpSp>
      <p:sp>
        <p:nvSpPr>
          <p:cNvPr id="805" name="Google Shape;805;p70"/>
          <p:cNvSpPr txBox="1"/>
          <p:nvPr/>
        </p:nvSpPr>
        <p:spPr>
          <a:xfrm>
            <a:off x="855678" y="1156876"/>
            <a:ext cx="363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4</a:t>
            </a:r>
            <a:endParaRPr sz="2200">
              <a:solidFill>
                <a:srgbClr val="000000"/>
              </a:solidFill>
              <a:latin typeface="Lexend"/>
              <a:ea typeface="Lexend"/>
              <a:cs typeface="Lexend"/>
              <a:sym typeface="Lexend"/>
            </a:endParaRPr>
          </a:p>
        </p:txBody>
      </p:sp>
      <p:cxnSp>
        <p:nvCxnSpPr>
          <p:cNvPr id="806" name="Google Shape;806;p70"/>
          <p:cNvCxnSpPr/>
          <p:nvPr/>
        </p:nvCxnSpPr>
        <p:spPr>
          <a:xfrm>
            <a:off x="5194075" y="1723775"/>
            <a:ext cx="590400" cy="0"/>
          </a:xfrm>
          <a:prstGeom prst="straightConnector1">
            <a:avLst/>
          </a:prstGeom>
          <a:noFill/>
          <a:ln cap="flat" cmpd="sng" w="28575">
            <a:solidFill>
              <a:schemeClr val="accent4"/>
            </a:solidFill>
            <a:prstDash val="solid"/>
            <a:round/>
            <a:headEnd len="med" w="med" type="none"/>
            <a:tailEnd len="med" w="med" type="triangle"/>
          </a:ln>
        </p:spPr>
      </p:cxnSp>
      <p:cxnSp>
        <p:nvCxnSpPr>
          <p:cNvPr id="807" name="Google Shape;807;p70"/>
          <p:cNvCxnSpPr/>
          <p:nvPr/>
        </p:nvCxnSpPr>
        <p:spPr>
          <a:xfrm>
            <a:off x="5784475" y="1723775"/>
            <a:ext cx="590400" cy="0"/>
          </a:xfrm>
          <a:prstGeom prst="straightConnector1">
            <a:avLst/>
          </a:prstGeom>
          <a:noFill/>
          <a:ln cap="flat" cmpd="sng" w="28575">
            <a:solidFill>
              <a:schemeClr val="accent4"/>
            </a:solidFill>
            <a:prstDash val="solid"/>
            <a:round/>
            <a:headEnd len="med" w="med" type="none"/>
            <a:tailEnd len="med" w="med" type="triangle"/>
          </a:ln>
        </p:spPr>
      </p:cxnSp>
      <p:sp>
        <p:nvSpPr>
          <p:cNvPr id="808" name="Google Shape;808;p70"/>
          <p:cNvSpPr txBox="1"/>
          <p:nvPr/>
        </p:nvSpPr>
        <p:spPr>
          <a:xfrm>
            <a:off x="5956475" y="791803"/>
            <a:ext cx="2172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Estimated answer</a:t>
            </a:r>
            <a:endParaRPr sz="2200">
              <a:latin typeface="Lexend"/>
              <a:ea typeface="Lexend"/>
              <a:cs typeface="Lexend"/>
              <a:sym typeface="Lexend"/>
            </a:endParaRPr>
          </a:p>
        </p:txBody>
      </p:sp>
      <p:sp>
        <p:nvSpPr>
          <p:cNvPr id="809" name="Google Shape;809;p70"/>
          <p:cNvSpPr txBox="1"/>
          <p:nvPr/>
        </p:nvSpPr>
        <p:spPr>
          <a:xfrm>
            <a:off x="675450" y="2272150"/>
            <a:ext cx="3794400" cy="8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Rounding the starting number up has made this increase from the exact value.</a:t>
            </a:r>
            <a:endParaRPr sz="2200">
              <a:solidFill>
                <a:schemeClr val="dk1"/>
              </a:solidFill>
              <a:latin typeface="Lexend"/>
              <a:ea typeface="Lexend"/>
              <a:cs typeface="Lexend"/>
              <a:sym typeface="Lexend"/>
            </a:endParaRPr>
          </a:p>
        </p:txBody>
      </p:sp>
      <p:sp>
        <p:nvSpPr>
          <p:cNvPr id="810" name="Google Shape;810;p70"/>
          <p:cNvSpPr txBox="1"/>
          <p:nvPr/>
        </p:nvSpPr>
        <p:spPr>
          <a:xfrm>
            <a:off x="5035500" y="2399025"/>
            <a:ext cx="3794400" cy="8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Rounding the addend up has made this increase from the exact value.</a:t>
            </a:r>
            <a:endParaRPr sz="2200">
              <a:solidFill>
                <a:schemeClr val="dk1"/>
              </a:solidFill>
              <a:latin typeface="Lexend"/>
              <a:ea typeface="Lexend"/>
              <a:cs typeface="Lexend"/>
              <a:sym typeface="Lexend"/>
            </a:endParaRPr>
          </a:p>
        </p:txBody>
      </p:sp>
      <p:cxnSp>
        <p:nvCxnSpPr>
          <p:cNvPr id="811" name="Google Shape;811;p70"/>
          <p:cNvCxnSpPr/>
          <p:nvPr/>
        </p:nvCxnSpPr>
        <p:spPr>
          <a:xfrm flipH="1">
            <a:off x="2944150" y="1857775"/>
            <a:ext cx="2503200" cy="456600"/>
          </a:xfrm>
          <a:prstGeom prst="straightConnector1">
            <a:avLst/>
          </a:prstGeom>
          <a:noFill/>
          <a:ln cap="flat" cmpd="sng" w="28575">
            <a:solidFill>
              <a:schemeClr val="dk2"/>
            </a:solidFill>
            <a:prstDash val="solid"/>
            <a:round/>
            <a:headEnd len="med" w="med" type="none"/>
            <a:tailEnd len="med" w="med" type="none"/>
          </a:ln>
        </p:spPr>
      </p:cxnSp>
      <p:cxnSp>
        <p:nvCxnSpPr>
          <p:cNvPr id="812" name="Google Shape;812;p70"/>
          <p:cNvCxnSpPr>
            <a:stCxn id="810" idx="0"/>
          </p:cNvCxnSpPr>
          <p:nvPr/>
        </p:nvCxnSpPr>
        <p:spPr>
          <a:xfrm rot="10800000">
            <a:off x="6353700" y="1852125"/>
            <a:ext cx="579000" cy="546900"/>
          </a:xfrm>
          <a:prstGeom prst="straightConnector1">
            <a:avLst/>
          </a:prstGeom>
          <a:noFill/>
          <a:ln cap="flat" cmpd="sng" w="28575">
            <a:solidFill>
              <a:schemeClr val="dk2"/>
            </a:solidFill>
            <a:prstDash val="solid"/>
            <a:round/>
            <a:headEnd len="med" w="med" type="none"/>
            <a:tailEnd len="med" w="med" type="none"/>
          </a:ln>
        </p:spPr>
      </p:cxnSp>
      <p:sp>
        <p:nvSpPr>
          <p:cNvPr id="813" name="Google Shape;813;p70"/>
          <p:cNvSpPr txBox="1"/>
          <p:nvPr/>
        </p:nvSpPr>
        <p:spPr>
          <a:xfrm>
            <a:off x="675450" y="3889650"/>
            <a:ext cx="7541100" cy="8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This is an </a:t>
            </a:r>
            <a:r>
              <a:rPr b="1" lang="en-GB" sz="2200">
                <a:solidFill>
                  <a:schemeClr val="dk1"/>
                </a:solidFill>
                <a:latin typeface="Lexend"/>
                <a:ea typeface="Lexend"/>
                <a:cs typeface="Lexend"/>
                <a:sym typeface="Lexend"/>
              </a:rPr>
              <a:t>overestimate</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cxnSp>
        <p:nvCxnSpPr>
          <p:cNvPr id="814" name="Google Shape;814;p70"/>
          <p:cNvCxnSpPr/>
          <p:nvPr/>
        </p:nvCxnSpPr>
        <p:spPr>
          <a:xfrm>
            <a:off x="1833700" y="1479575"/>
            <a:ext cx="0" cy="119100"/>
          </a:xfrm>
          <a:prstGeom prst="straightConnector1">
            <a:avLst/>
          </a:prstGeom>
          <a:noFill/>
          <a:ln cap="flat" cmpd="sng" w="28575">
            <a:solidFill>
              <a:schemeClr val="dk2"/>
            </a:solidFill>
            <a:prstDash val="solid"/>
            <a:round/>
            <a:headEnd len="med" w="med" type="none"/>
            <a:tailEnd len="med" w="med" type="none"/>
          </a:ln>
        </p:spPr>
      </p:cxnSp>
      <p:cxnSp>
        <p:nvCxnSpPr>
          <p:cNvPr id="815" name="Google Shape;815;p70"/>
          <p:cNvCxnSpPr/>
          <p:nvPr/>
        </p:nvCxnSpPr>
        <p:spPr>
          <a:xfrm>
            <a:off x="2519500" y="1479575"/>
            <a:ext cx="0" cy="119100"/>
          </a:xfrm>
          <a:prstGeom prst="straightConnector1">
            <a:avLst/>
          </a:prstGeom>
          <a:noFill/>
          <a:ln cap="flat" cmpd="sng" w="28575">
            <a:solidFill>
              <a:schemeClr val="dk2"/>
            </a:solidFill>
            <a:prstDash val="solid"/>
            <a:round/>
            <a:headEnd len="med" w="med" type="none"/>
            <a:tailEnd len="med" w="med" type="none"/>
          </a:ln>
        </p:spPr>
      </p:cxnSp>
      <p:sp>
        <p:nvSpPr>
          <p:cNvPr id="816" name="Google Shape;816;p70"/>
          <p:cNvSpPr txBox="1"/>
          <p:nvPr/>
        </p:nvSpPr>
        <p:spPr>
          <a:xfrm>
            <a:off x="1629897" y="1156876"/>
            <a:ext cx="590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4.6</a:t>
            </a:r>
            <a:endParaRPr sz="2200">
              <a:solidFill>
                <a:srgbClr val="000000"/>
              </a:solidFill>
              <a:latin typeface="Lexend"/>
              <a:ea typeface="Lexend"/>
              <a:cs typeface="Lexend"/>
              <a:sym typeface="Lexend"/>
            </a:endParaRPr>
          </a:p>
        </p:txBody>
      </p:sp>
      <p:sp>
        <p:nvSpPr>
          <p:cNvPr id="817" name="Google Shape;817;p70"/>
          <p:cNvSpPr txBox="1"/>
          <p:nvPr/>
        </p:nvSpPr>
        <p:spPr>
          <a:xfrm>
            <a:off x="2455872" y="1156876"/>
            <a:ext cx="590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endParaRPr sz="2200">
              <a:solidFill>
                <a:srgbClr val="000000"/>
              </a:solidFill>
              <a:latin typeface="Lexend"/>
              <a:ea typeface="Lexend"/>
              <a:cs typeface="Lexend"/>
              <a:sym typeface="Lexend"/>
            </a:endParaRPr>
          </a:p>
        </p:txBody>
      </p:sp>
      <p:cxnSp>
        <p:nvCxnSpPr>
          <p:cNvPr id="818" name="Google Shape;818;p70"/>
          <p:cNvCxnSpPr/>
          <p:nvPr/>
        </p:nvCxnSpPr>
        <p:spPr>
          <a:xfrm>
            <a:off x="5186500" y="1271350"/>
            <a:ext cx="0" cy="327300"/>
          </a:xfrm>
          <a:prstGeom prst="straightConnector1">
            <a:avLst/>
          </a:prstGeom>
          <a:noFill/>
          <a:ln cap="flat" cmpd="sng" w="28575">
            <a:solidFill>
              <a:schemeClr val="dk2"/>
            </a:solidFill>
            <a:prstDash val="solid"/>
            <a:round/>
            <a:headEnd len="med" w="med" type="none"/>
            <a:tailEnd len="med" w="med" type="none"/>
          </a:ln>
        </p:spPr>
      </p:cxnSp>
      <p:cxnSp>
        <p:nvCxnSpPr>
          <p:cNvPr id="819" name="Google Shape;819;p70"/>
          <p:cNvCxnSpPr/>
          <p:nvPr/>
        </p:nvCxnSpPr>
        <p:spPr>
          <a:xfrm>
            <a:off x="5756574" y="1479575"/>
            <a:ext cx="0" cy="119100"/>
          </a:xfrm>
          <a:prstGeom prst="straightConnector1">
            <a:avLst/>
          </a:prstGeom>
          <a:noFill/>
          <a:ln cap="flat" cmpd="sng" w="28575">
            <a:solidFill>
              <a:schemeClr val="dk2"/>
            </a:solidFill>
            <a:prstDash val="solid"/>
            <a:round/>
            <a:headEnd len="med" w="med" type="none"/>
            <a:tailEnd len="med" w="med" type="none"/>
          </a:ln>
        </p:spPr>
      </p:cxnSp>
      <p:cxnSp>
        <p:nvCxnSpPr>
          <p:cNvPr id="820" name="Google Shape;820;p70"/>
          <p:cNvCxnSpPr/>
          <p:nvPr/>
        </p:nvCxnSpPr>
        <p:spPr>
          <a:xfrm>
            <a:off x="6289975" y="1124675"/>
            <a:ext cx="0" cy="474000"/>
          </a:xfrm>
          <a:prstGeom prst="straightConnector1">
            <a:avLst/>
          </a:prstGeom>
          <a:noFill/>
          <a:ln cap="flat" cmpd="sng" w="28575">
            <a:solidFill>
              <a:schemeClr val="dk2"/>
            </a:solidFill>
            <a:prstDash val="solid"/>
            <a:round/>
            <a:headEnd len="med" w="med" type="none"/>
            <a:tailEnd len="med" w="med" type="none"/>
          </a:ln>
        </p:spPr>
      </p:cxnSp>
      <p:sp>
        <p:nvSpPr>
          <p:cNvPr id="821" name="Google Shape;821;p70"/>
          <p:cNvSpPr txBox="1"/>
          <p:nvPr/>
        </p:nvSpPr>
        <p:spPr>
          <a:xfrm>
            <a:off x="4187400" y="1007238"/>
            <a:ext cx="161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Exact answer</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7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Without calculating the answers, which of the following will be an </a:t>
            </a:r>
            <a:r>
              <a:rPr b="1" lang="en-GB" sz="1800"/>
              <a:t>overestimate</a:t>
            </a:r>
            <a:r>
              <a:rPr lang="en-GB" sz="1800"/>
              <a:t> or </a:t>
            </a:r>
            <a:r>
              <a:rPr b="1" lang="en-GB" sz="1800"/>
              <a:t>underestimate</a:t>
            </a:r>
            <a:r>
              <a:rPr lang="en-GB" sz="1800"/>
              <a:t>?</a:t>
            </a:r>
            <a:endParaRPr sz="1800"/>
          </a:p>
          <a:p>
            <a:pPr indent="-342900" lvl="0" marL="457200" rtl="0" algn="l">
              <a:spcBef>
                <a:spcPts val="1000"/>
              </a:spcBef>
              <a:spcAft>
                <a:spcPts val="0"/>
              </a:spcAft>
              <a:buSzPts val="1800"/>
              <a:buAutoNum type="alphaLcParenR"/>
            </a:pPr>
            <a:r>
              <a:rPr lang="en-GB" sz="1800"/>
              <a:t>158.953 + 236.12 </a:t>
            </a:r>
            <a:r>
              <a:rPr b="1" lang="en-GB" sz="1900">
                <a:solidFill>
                  <a:srgbClr val="222222"/>
                </a:solidFill>
                <a:latin typeface="Times New Roman"/>
                <a:ea typeface="Times New Roman"/>
                <a:cs typeface="Times New Roman"/>
                <a:sym typeface="Times New Roman"/>
              </a:rPr>
              <a:t>≈ </a:t>
            </a:r>
            <a:r>
              <a:rPr lang="en-GB" sz="1800"/>
              <a:t>160 + 240</a:t>
            </a:r>
            <a:endParaRPr sz="1800"/>
          </a:p>
          <a:p>
            <a:pPr indent="-342900" lvl="0" marL="457200" rtl="0" algn="l">
              <a:lnSpc>
                <a:spcPct val="115000"/>
              </a:lnSpc>
              <a:spcBef>
                <a:spcPts val="1000"/>
              </a:spcBef>
              <a:spcAft>
                <a:spcPts val="0"/>
              </a:spcAft>
              <a:buSzPts val="1800"/>
              <a:buAutoNum type="alphaLcParenR"/>
            </a:pPr>
            <a:r>
              <a:rPr lang="en-GB" sz="1800"/>
              <a:t>9.45 + 12.21 </a:t>
            </a:r>
            <a:r>
              <a:rPr b="1" lang="en-GB" sz="1900">
                <a:solidFill>
                  <a:srgbClr val="222222"/>
                </a:solidFill>
                <a:latin typeface="Times New Roman"/>
                <a:ea typeface="Times New Roman"/>
                <a:cs typeface="Times New Roman"/>
                <a:sym typeface="Times New Roman"/>
              </a:rPr>
              <a:t>≈</a:t>
            </a:r>
            <a:r>
              <a:rPr lang="en-GB" sz="1800"/>
              <a:t> 9 + 12</a:t>
            </a:r>
            <a:endParaRPr sz="1800"/>
          </a:p>
          <a:p>
            <a:pPr indent="-342900" lvl="0" marL="457200" rtl="0" algn="l">
              <a:lnSpc>
                <a:spcPct val="115000"/>
              </a:lnSpc>
              <a:spcBef>
                <a:spcPts val="1000"/>
              </a:spcBef>
              <a:spcAft>
                <a:spcPts val="1000"/>
              </a:spcAft>
              <a:buSzPts val="1800"/>
              <a:buAutoNum type="alphaLcParenR"/>
            </a:pPr>
            <a:r>
              <a:rPr lang="en-GB" sz="1800"/>
              <a:t>When using addition, how are you able to identify if an estimate will be an </a:t>
            </a:r>
            <a:r>
              <a:rPr b="1" lang="en-GB" sz="1800"/>
              <a:t>overestimate</a:t>
            </a:r>
            <a:r>
              <a:rPr lang="en-GB" sz="1800"/>
              <a:t> or </a:t>
            </a:r>
            <a:r>
              <a:rPr b="1" lang="en-GB" sz="1800"/>
              <a:t>underestimate</a:t>
            </a:r>
            <a:r>
              <a:rPr lang="en-GB" sz="1800"/>
              <a:t>?</a:t>
            </a:r>
            <a:endParaRPr sz="1800"/>
          </a:p>
        </p:txBody>
      </p:sp>
      <p:sp>
        <p:nvSpPr>
          <p:cNvPr id="827" name="Google Shape;827;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sp>
        <p:nvSpPr>
          <p:cNvPr id="828" name="Google Shape;828;p71"/>
          <p:cNvSpPr txBox="1"/>
          <p:nvPr/>
        </p:nvSpPr>
        <p:spPr>
          <a:xfrm>
            <a:off x="3997653" y="1877616"/>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Underestimate</a:t>
            </a:r>
            <a:endParaRPr b="1" sz="1300">
              <a:latin typeface="Kalam"/>
              <a:ea typeface="Kalam"/>
              <a:cs typeface="Kalam"/>
              <a:sym typeface="Kalam"/>
            </a:endParaRPr>
          </a:p>
        </p:txBody>
      </p:sp>
      <p:sp>
        <p:nvSpPr>
          <p:cNvPr id="829" name="Google Shape;829;p71"/>
          <p:cNvSpPr txBox="1"/>
          <p:nvPr/>
        </p:nvSpPr>
        <p:spPr>
          <a:xfrm>
            <a:off x="3984178" y="1390203"/>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830" name="Google Shape;830;p71"/>
          <p:cNvSpPr txBox="1"/>
          <p:nvPr/>
        </p:nvSpPr>
        <p:spPr>
          <a:xfrm>
            <a:off x="1423977" y="3647450"/>
            <a:ext cx="6585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700">
                <a:solidFill>
                  <a:schemeClr val="dk1"/>
                </a:solidFill>
                <a:latin typeface="Kalam"/>
                <a:ea typeface="Kalam"/>
                <a:cs typeface="Kalam"/>
                <a:sym typeface="Kalam"/>
              </a:rPr>
              <a:t>Rounding a value up + Rounding a value up = </a:t>
            </a: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831" name="Google Shape;831;p71"/>
          <p:cNvSpPr txBox="1"/>
          <p:nvPr/>
        </p:nvSpPr>
        <p:spPr>
          <a:xfrm>
            <a:off x="1279352" y="4096800"/>
            <a:ext cx="6585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700">
                <a:solidFill>
                  <a:schemeClr val="dk1"/>
                </a:solidFill>
                <a:latin typeface="Kalam"/>
                <a:ea typeface="Kalam"/>
                <a:cs typeface="Kalam"/>
                <a:sym typeface="Kalam"/>
              </a:rPr>
              <a:t>Rounding a value down + Rounding a value down = </a:t>
            </a:r>
            <a:r>
              <a:rPr b="1" lang="en-GB" sz="1700">
                <a:solidFill>
                  <a:schemeClr val="dk1"/>
                </a:solidFill>
                <a:latin typeface="Kalam"/>
                <a:ea typeface="Kalam"/>
                <a:cs typeface="Kalam"/>
                <a:sym typeface="Kalam"/>
              </a:rPr>
              <a:t>Underestimate</a:t>
            </a:r>
            <a:endParaRPr b="1" sz="13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2"/>
          <p:cNvSpPr txBox="1"/>
          <p:nvPr>
            <p:ph idx="1" type="body"/>
          </p:nvPr>
        </p:nvSpPr>
        <p:spPr>
          <a:xfrm>
            <a:off x="363200" y="831525"/>
            <a:ext cx="4631400" cy="61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Estimate the answer to 5.6 × 6.9</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837" name="Google Shape;837;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pic>
        <p:nvPicPr>
          <p:cNvPr id="838" name="Google Shape;838;p72"/>
          <p:cNvPicPr preferRelativeResize="0"/>
          <p:nvPr/>
        </p:nvPicPr>
        <p:blipFill>
          <a:blip r:embed="rId3">
            <a:alphaModFix/>
          </a:blip>
          <a:stretch>
            <a:fillRect/>
          </a:stretch>
        </p:blipFill>
        <p:spPr>
          <a:xfrm>
            <a:off x="7367396" y="1822488"/>
            <a:ext cx="798316" cy="896106"/>
          </a:xfrm>
          <a:prstGeom prst="rect">
            <a:avLst/>
          </a:prstGeom>
          <a:noFill/>
          <a:ln>
            <a:noFill/>
          </a:ln>
        </p:spPr>
      </p:pic>
      <p:sp>
        <p:nvSpPr>
          <p:cNvPr id="839" name="Google Shape;839;p72"/>
          <p:cNvSpPr txBox="1"/>
          <p:nvPr/>
        </p:nvSpPr>
        <p:spPr>
          <a:xfrm>
            <a:off x="7323900" y="26582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840" name="Google Shape;840;p72"/>
          <p:cNvPicPr preferRelativeResize="0"/>
          <p:nvPr/>
        </p:nvPicPr>
        <p:blipFill rotWithShape="1">
          <a:blip r:embed="rId4">
            <a:alphaModFix/>
          </a:blip>
          <a:srcRect b="0" l="0" r="69082" t="56280"/>
          <a:stretch/>
        </p:blipFill>
        <p:spPr>
          <a:xfrm>
            <a:off x="4893625" y="577100"/>
            <a:ext cx="2560174" cy="1694701"/>
          </a:xfrm>
          <a:prstGeom prst="rect">
            <a:avLst/>
          </a:prstGeom>
          <a:noFill/>
          <a:ln>
            <a:noFill/>
          </a:ln>
        </p:spPr>
      </p:pic>
      <p:sp>
        <p:nvSpPr>
          <p:cNvPr id="841" name="Google Shape;841;p72"/>
          <p:cNvSpPr txBox="1"/>
          <p:nvPr/>
        </p:nvSpPr>
        <p:spPr>
          <a:xfrm>
            <a:off x="5070803" y="748628"/>
            <a:ext cx="2172000" cy="10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What calculation would you use to estimate this answer?</a:t>
            </a:r>
            <a:endParaRPr sz="1800">
              <a:solidFill>
                <a:schemeClr val="dk1"/>
              </a:solidFill>
              <a:latin typeface="Lexend"/>
              <a:ea typeface="Lexend"/>
              <a:cs typeface="Lexend"/>
              <a:sym typeface="Lexend"/>
            </a:endParaRPr>
          </a:p>
        </p:txBody>
      </p:sp>
      <p:sp>
        <p:nvSpPr>
          <p:cNvPr id="842" name="Google Shape;842;p72"/>
          <p:cNvSpPr/>
          <p:nvPr/>
        </p:nvSpPr>
        <p:spPr>
          <a:xfrm>
            <a:off x="4551625" y="2721663"/>
            <a:ext cx="1425300" cy="1078200"/>
          </a:xfrm>
          <a:prstGeom prst="rect">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43" name="Google Shape;843;p72"/>
          <p:cNvCxnSpPr/>
          <p:nvPr/>
        </p:nvCxnSpPr>
        <p:spPr>
          <a:xfrm>
            <a:off x="4388100" y="2700000"/>
            <a:ext cx="0" cy="1102200"/>
          </a:xfrm>
          <a:prstGeom prst="straightConnector1">
            <a:avLst/>
          </a:prstGeom>
          <a:noFill/>
          <a:ln cap="flat" cmpd="sng" w="28575">
            <a:solidFill>
              <a:schemeClr val="dk1"/>
            </a:solidFill>
            <a:prstDash val="solid"/>
            <a:round/>
            <a:headEnd len="med" w="med" type="triangle"/>
            <a:tailEnd len="med" w="med" type="triangle"/>
          </a:ln>
        </p:spPr>
      </p:cxnSp>
      <p:sp>
        <p:nvSpPr>
          <p:cNvPr id="844" name="Google Shape;844;p72"/>
          <p:cNvSpPr txBox="1"/>
          <p:nvPr/>
        </p:nvSpPr>
        <p:spPr>
          <a:xfrm>
            <a:off x="3762550" y="3079753"/>
            <a:ext cx="675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5.6</a:t>
            </a:r>
            <a:endParaRPr/>
          </a:p>
        </p:txBody>
      </p:sp>
      <p:cxnSp>
        <p:nvCxnSpPr>
          <p:cNvPr id="845" name="Google Shape;845;p72"/>
          <p:cNvCxnSpPr/>
          <p:nvPr/>
        </p:nvCxnSpPr>
        <p:spPr>
          <a:xfrm rot="10800000">
            <a:off x="4551775" y="4046850"/>
            <a:ext cx="1436100" cy="0"/>
          </a:xfrm>
          <a:prstGeom prst="straightConnector1">
            <a:avLst/>
          </a:prstGeom>
          <a:noFill/>
          <a:ln cap="flat" cmpd="sng" w="28575">
            <a:solidFill>
              <a:schemeClr val="dk1"/>
            </a:solidFill>
            <a:prstDash val="solid"/>
            <a:round/>
            <a:headEnd len="med" w="med" type="triangle"/>
            <a:tailEnd len="med" w="med" type="triangle"/>
          </a:ln>
        </p:spPr>
      </p:cxnSp>
      <p:sp>
        <p:nvSpPr>
          <p:cNvPr id="846" name="Google Shape;846;p72"/>
          <p:cNvSpPr txBox="1"/>
          <p:nvPr/>
        </p:nvSpPr>
        <p:spPr>
          <a:xfrm>
            <a:off x="4889209" y="3976475"/>
            <a:ext cx="74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3"/>
          <p:cNvSpPr txBox="1"/>
          <p:nvPr>
            <p:ph idx="1" type="body"/>
          </p:nvPr>
        </p:nvSpPr>
        <p:spPr>
          <a:xfrm>
            <a:off x="363200" y="831525"/>
            <a:ext cx="4631400" cy="61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Estimate the answer to 5.6 × 6.9</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852" name="Google Shape;852;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pic>
        <p:nvPicPr>
          <p:cNvPr id="853" name="Google Shape;853;p73"/>
          <p:cNvPicPr preferRelativeResize="0"/>
          <p:nvPr/>
        </p:nvPicPr>
        <p:blipFill>
          <a:blip r:embed="rId3">
            <a:alphaModFix/>
          </a:blip>
          <a:stretch>
            <a:fillRect/>
          </a:stretch>
        </p:blipFill>
        <p:spPr>
          <a:xfrm>
            <a:off x="7367396" y="1822488"/>
            <a:ext cx="798316" cy="896106"/>
          </a:xfrm>
          <a:prstGeom prst="rect">
            <a:avLst/>
          </a:prstGeom>
          <a:noFill/>
          <a:ln>
            <a:noFill/>
          </a:ln>
        </p:spPr>
      </p:pic>
      <p:sp>
        <p:nvSpPr>
          <p:cNvPr id="854" name="Google Shape;854;p73"/>
          <p:cNvSpPr txBox="1"/>
          <p:nvPr/>
        </p:nvSpPr>
        <p:spPr>
          <a:xfrm>
            <a:off x="7323900" y="26582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855" name="Google Shape;855;p73"/>
          <p:cNvPicPr preferRelativeResize="0"/>
          <p:nvPr/>
        </p:nvPicPr>
        <p:blipFill rotWithShape="1">
          <a:blip r:embed="rId4">
            <a:alphaModFix/>
          </a:blip>
          <a:srcRect b="0" l="0" r="69082" t="56280"/>
          <a:stretch/>
        </p:blipFill>
        <p:spPr>
          <a:xfrm>
            <a:off x="4893625" y="577100"/>
            <a:ext cx="2560174" cy="1694701"/>
          </a:xfrm>
          <a:prstGeom prst="rect">
            <a:avLst/>
          </a:prstGeom>
          <a:noFill/>
          <a:ln>
            <a:noFill/>
          </a:ln>
        </p:spPr>
      </p:pic>
      <p:sp>
        <p:nvSpPr>
          <p:cNvPr id="856" name="Google Shape;856;p73"/>
          <p:cNvSpPr txBox="1"/>
          <p:nvPr/>
        </p:nvSpPr>
        <p:spPr>
          <a:xfrm>
            <a:off x="5120153" y="824828"/>
            <a:ext cx="2172000" cy="10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Good! To something roughly like this.</a:t>
            </a:r>
            <a:endParaRPr sz="1800">
              <a:solidFill>
                <a:schemeClr val="dk1"/>
              </a:solidFill>
              <a:latin typeface="Lexend"/>
              <a:ea typeface="Lexend"/>
              <a:cs typeface="Lexend"/>
              <a:sym typeface="Lexend"/>
            </a:endParaRPr>
          </a:p>
        </p:txBody>
      </p:sp>
      <p:grpSp>
        <p:nvGrpSpPr>
          <p:cNvPr id="857" name="Google Shape;857;p73"/>
          <p:cNvGrpSpPr/>
          <p:nvPr/>
        </p:nvGrpSpPr>
        <p:grpSpPr>
          <a:xfrm>
            <a:off x="3762550" y="2700000"/>
            <a:ext cx="2219850" cy="1799675"/>
            <a:chOff x="3000550" y="2700000"/>
            <a:chExt cx="2219850" cy="1799675"/>
          </a:xfrm>
        </p:grpSpPr>
        <p:sp>
          <p:nvSpPr>
            <p:cNvPr id="858" name="Google Shape;858;p73"/>
            <p:cNvSpPr/>
            <p:nvPr/>
          </p:nvSpPr>
          <p:spPr>
            <a:xfrm>
              <a:off x="3789625" y="2721663"/>
              <a:ext cx="1425300" cy="10782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59" name="Google Shape;859;p73"/>
            <p:cNvCxnSpPr/>
            <p:nvPr/>
          </p:nvCxnSpPr>
          <p:spPr>
            <a:xfrm>
              <a:off x="3626100" y="2700000"/>
              <a:ext cx="0" cy="1102200"/>
            </a:xfrm>
            <a:prstGeom prst="straightConnector1">
              <a:avLst/>
            </a:prstGeom>
            <a:noFill/>
            <a:ln cap="flat" cmpd="sng" w="28575">
              <a:solidFill>
                <a:schemeClr val="dk1"/>
              </a:solidFill>
              <a:prstDash val="solid"/>
              <a:round/>
              <a:headEnd len="med" w="med" type="triangle"/>
              <a:tailEnd len="med" w="med" type="triangle"/>
            </a:ln>
          </p:spPr>
        </p:cxnSp>
        <p:sp>
          <p:nvSpPr>
            <p:cNvPr id="860" name="Google Shape;860;p73"/>
            <p:cNvSpPr txBox="1"/>
            <p:nvPr/>
          </p:nvSpPr>
          <p:spPr>
            <a:xfrm>
              <a:off x="3000550" y="3079753"/>
              <a:ext cx="675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5.6</a:t>
              </a:r>
              <a:endParaRPr/>
            </a:p>
          </p:txBody>
        </p:sp>
        <p:cxnSp>
          <p:nvCxnSpPr>
            <p:cNvPr id="861" name="Google Shape;861;p73"/>
            <p:cNvCxnSpPr/>
            <p:nvPr/>
          </p:nvCxnSpPr>
          <p:spPr>
            <a:xfrm rot="10800000">
              <a:off x="3789700" y="4046700"/>
              <a:ext cx="1430700" cy="11700"/>
            </a:xfrm>
            <a:prstGeom prst="straightConnector1">
              <a:avLst/>
            </a:prstGeom>
            <a:noFill/>
            <a:ln cap="flat" cmpd="sng" w="28575">
              <a:solidFill>
                <a:schemeClr val="dk1"/>
              </a:solidFill>
              <a:prstDash val="solid"/>
              <a:round/>
              <a:headEnd len="med" w="med" type="triangle"/>
              <a:tailEnd len="med" w="med" type="triangle"/>
            </a:ln>
          </p:spPr>
        </p:cxnSp>
        <p:sp>
          <p:nvSpPr>
            <p:cNvPr id="862" name="Google Shape;862;p73"/>
            <p:cNvSpPr txBox="1"/>
            <p:nvPr/>
          </p:nvSpPr>
          <p:spPr>
            <a:xfrm>
              <a:off x="4127209" y="3976475"/>
              <a:ext cx="74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6.9</a:t>
              </a:r>
              <a:endParaRPr/>
            </a:p>
          </p:txBody>
        </p:sp>
      </p:grpSp>
      <p:grpSp>
        <p:nvGrpSpPr>
          <p:cNvPr id="863" name="Google Shape;863;p73"/>
          <p:cNvGrpSpPr/>
          <p:nvPr/>
        </p:nvGrpSpPr>
        <p:grpSpPr>
          <a:xfrm>
            <a:off x="3891680" y="2668765"/>
            <a:ext cx="2108370" cy="2028275"/>
            <a:chOff x="767500" y="3034282"/>
            <a:chExt cx="2108370" cy="2028275"/>
          </a:xfrm>
        </p:grpSpPr>
        <p:sp>
          <p:nvSpPr>
            <p:cNvPr id="864" name="Google Shape;864;p73"/>
            <p:cNvSpPr/>
            <p:nvPr/>
          </p:nvSpPr>
          <p:spPr>
            <a:xfrm>
              <a:off x="1427425" y="4172832"/>
              <a:ext cx="1425300" cy="313500"/>
            </a:xfrm>
            <a:prstGeom prst="rect">
              <a:avLst/>
            </a:prstGeom>
            <a:solidFill>
              <a:srgbClr val="845AD9">
                <a:alpha val="48100"/>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65" name="Google Shape;865;p73"/>
            <p:cNvCxnSpPr/>
            <p:nvPr/>
          </p:nvCxnSpPr>
          <p:spPr>
            <a:xfrm>
              <a:off x="1263900" y="3034282"/>
              <a:ext cx="0" cy="1452000"/>
            </a:xfrm>
            <a:prstGeom prst="straightConnector1">
              <a:avLst/>
            </a:prstGeom>
            <a:noFill/>
            <a:ln cap="flat" cmpd="sng" w="28575">
              <a:solidFill>
                <a:schemeClr val="dk1"/>
              </a:solidFill>
              <a:prstDash val="solid"/>
              <a:round/>
              <a:headEnd len="med" w="med" type="triangle"/>
              <a:tailEnd len="med" w="med" type="triangle"/>
            </a:ln>
          </p:spPr>
        </p:cxnSp>
        <p:sp>
          <p:nvSpPr>
            <p:cNvPr id="866" name="Google Shape;866;p73"/>
            <p:cNvSpPr txBox="1"/>
            <p:nvPr/>
          </p:nvSpPr>
          <p:spPr>
            <a:xfrm>
              <a:off x="767500" y="3521461"/>
              <a:ext cx="675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a:t>
              </a:r>
              <a:endParaRPr/>
            </a:p>
          </p:txBody>
        </p:sp>
        <p:cxnSp>
          <p:nvCxnSpPr>
            <p:cNvPr id="867" name="Google Shape;867;p73"/>
            <p:cNvCxnSpPr/>
            <p:nvPr/>
          </p:nvCxnSpPr>
          <p:spPr>
            <a:xfrm flipH="1">
              <a:off x="1427470" y="4607517"/>
              <a:ext cx="1448400" cy="2100"/>
            </a:xfrm>
            <a:prstGeom prst="straightConnector1">
              <a:avLst/>
            </a:prstGeom>
            <a:noFill/>
            <a:ln cap="flat" cmpd="sng" w="28575">
              <a:solidFill>
                <a:schemeClr val="dk1"/>
              </a:solidFill>
              <a:prstDash val="solid"/>
              <a:round/>
              <a:headEnd len="med" w="med" type="triangle"/>
              <a:tailEnd len="med" w="med" type="triangle"/>
            </a:ln>
          </p:spPr>
        </p:cxnSp>
        <p:sp>
          <p:nvSpPr>
            <p:cNvPr id="868" name="Google Shape;868;p73"/>
            <p:cNvSpPr txBox="1"/>
            <p:nvPr/>
          </p:nvSpPr>
          <p:spPr>
            <a:xfrm>
              <a:off x="1765009" y="4539357"/>
              <a:ext cx="74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6.9</a:t>
              </a:r>
              <a:endParaRPr/>
            </a:p>
          </p:txBody>
        </p:sp>
      </p:grpSp>
      <p:sp>
        <p:nvSpPr>
          <p:cNvPr id="869" name="Google Shape;869;p73"/>
          <p:cNvSpPr/>
          <p:nvPr/>
        </p:nvSpPr>
        <p:spPr>
          <a:xfrm>
            <a:off x="4551625" y="2721663"/>
            <a:ext cx="1425300" cy="1078200"/>
          </a:xfrm>
          <a:prstGeom prst="rect">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70" name="Google Shape;870;p73"/>
          <p:cNvGrpSpPr/>
          <p:nvPr/>
        </p:nvGrpSpPr>
        <p:grpSpPr>
          <a:xfrm>
            <a:off x="3878062" y="2720875"/>
            <a:ext cx="2425933" cy="2083312"/>
            <a:chOff x="767500" y="3006645"/>
            <a:chExt cx="2425933" cy="2083312"/>
          </a:xfrm>
        </p:grpSpPr>
        <p:sp>
          <p:nvSpPr>
            <p:cNvPr id="871" name="Google Shape;871;p73"/>
            <p:cNvSpPr/>
            <p:nvPr/>
          </p:nvSpPr>
          <p:spPr>
            <a:xfrm rot="5401474">
              <a:off x="2326363" y="3549495"/>
              <a:ext cx="1399200" cy="313500"/>
            </a:xfrm>
            <a:prstGeom prst="rect">
              <a:avLst/>
            </a:prstGeom>
            <a:solidFill>
              <a:srgbClr val="845AD9">
                <a:alpha val="48100"/>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72" name="Google Shape;872;p73"/>
            <p:cNvCxnSpPr/>
            <p:nvPr/>
          </p:nvCxnSpPr>
          <p:spPr>
            <a:xfrm>
              <a:off x="1263900" y="3034282"/>
              <a:ext cx="0" cy="1452000"/>
            </a:xfrm>
            <a:prstGeom prst="straightConnector1">
              <a:avLst/>
            </a:prstGeom>
            <a:noFill/>
            <a:ln cap="flat" cmpd="sng" w="28575">
              <a:solidFill>
                <a:schemeClr val="dk1"/>
              </a:solidFill>
              <a:prstDash val="solid"/>
              <a:round/>
              <a:headEnd len="med" w="med" type="triangle"/>
              <a:tailEnd len="med" w="med" type="triangle"/>
            </a:ln>
          </p:spPr>
        </p:cxnSp>
        <p:sp>
          <p:nvSpPr>
            <p:cNvPr id="873" name="Google Shape;873;p73"/>
            <p:cNvSpPr txBox="1"/>
            <p:nvPr/>
          </p:nvSpPr>
          <p:spPr>
            <a:xfrm>
              <a:off x="767500" y="3521461"/>
              <a:ext cx="675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a:t>
              </a:r>
              <a:endParaRPr/>
            </a:p>
          </p:txBody>
        </p:sp>
        <p:cxnSp>
          <p:nvCxnSpPr>
            <p:cNvPr id="874" name="Google Shape;874;p73"/>
            <p:cNvCxnSpPr/>
            <p:nvPr/>
          </p:nvCxnSpPr>
          <p:spPr>
            <a:xfrm rot="10800000">
              <a:off x="1425233" y="4667705"/>
              <a:ext cx="1768200" cy="0"/>
            </a:xfrm>
            <a:prstGeom prst="straightConnector1">
              <a:avLst/>
            </a:prstGeom>
            <a:noFill/>
            <a:ln cap="flat" cmpd="sng" w="28575">
              <a:solidFill>
                <a:schemeClr val="dk1"/>
              </a:solidFill>
              <a:prstDash val="solid"/>
              <a:round/>
              <a:headEnd len="med" w="med" type="triangle"/>
              <a:tailEnd len="med" w="med" type="triangle"/>
            </a:ln>
          </p:spPr>
        </p:cxnSp>
        <p:sp>
          <p:nvSpPr>
            <p:cNvPr id="875" name="Google Shape;875;p73"/>
            <p:cNvSpPr txBox="1"/>
            <p:nvPr/>
          </p:nvSpPr>
          <p:spPr>
            <a:xfrm>
              <a:off x="2106034" y="4566757"/>
              <a:ext cx="74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7</a:t>
              </a:r>
              <a:endParaRPr/>
            </a:p>
          </p:txBody>
        </p:sp>
      </p:grpSp>
      <p:grpSp>
        <p:nvGrpSpPr>
          <p:cNvPr id="876" name="Google Shape;876;p73"/>
          <p:cNvGrpSpPr/>
          <p:nvPr/>
        </p:nvGrpSpPr>
        <p:grpSpPr>
          <a:xfrm>
            <a:off x="4550905" y="3805340"/>
            <a:ext cx="1426746" cy="313500"/>
            <a:chOff x="3531230" y="3574515"/>
            <a:chExt cx="1426746" cy="313500"/>
          </a:xfrm>
        </p:grpSpPr>
        <p:sp>
          <p:nvSpPr>
            <p:cNvPr id="877" name="Google Shape;877;p73"/>
            <p:cNvSpPr/>
            <p:nvPr/>
          </p:nvSpPr>
          <p:spPr>
            <a:xfrm>
              <a:off x="3531230" y="3574515"/>
              <a:ext cx="1425300" cy="313500"/>
            </a:xfrm>
            <a:prstGeom prst="rect">
              <a:avLst/>
            </a:prstGeom>
            <a:solidFill>
              <a:srgbClr val="845AD9">
                <a:alpha val="48100"/>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78" name="Google Shape;878;p73"/>
            <p:cNvCxnSpPr/>
            <p:nvPr/>
          </p:nvCxnSpPr>
          <p:spPr>
            <a:xfrm>
              <a:off x="4957976" y="3587191"/>
              <a:ext cx="0" cy="284700"/>
            </a:xfrm>
            <a:prstGeom prst="straightConnector1">
              <a:avLst/>
            </a:prstGeom>
            <a:noFill/>
            <a:ln cap="flat" cmpd="sng" w="38100">
              <a:solidFill>
                <a:srgbClr val="C3AFEC"/>
              </a:solidFill>
              <a:prstDash val="solid"/>
              <a:round/>
              <a:headEnd len="med" w="med" type="none"/>
              <a:tailEnd len="med" w="med" type="none"/>
            </a:ln>
          </p:spPr>
        </p:cxnSp>
      </p:grpSp>
      <p:pic>
        <p:nvPicPr>
          <p:cNvPr id="879" name="Google Shape;879;p73"/>
          <p:cNvPicPr preferRelativeResize="0"/>
          <p:nvPr/>
        </p:nvPicPr>
        <p:blipFill>
          <a:blip r:embed="rId5">
            <a:alphaModFix/>
          </a:blip>
          <a:stretch>
            <a:fillRect/>
          </a:stretch>
        </p:blipFill>
        <p:spPr>
          <a:xfrm flipH="1">
            <a:off x="363188" y="1321800"/>
            <a:ext cx="1114250" cy="1078300"/>
          </a:xfrm>
          <a:prstGeom prst="rect">
            <a:avLst/>
          </a:prstGeom>
          <a:noFill/>
          <a:ln>
            <a:noFill/>
          </a:ln>
        </p:spPr>
      </p:pic>
      <p:sp>
        <p:nvSpPr>
          <p:cNvPr id="880" name="Google Shape;880;p73"/>
          <p:cNvSpPr txBox="1"/>
          <p:nvPr/>
        </p:nvSpPr>
        <p:spPr>
          <a:xfrm>
            <a:off x="592150" y="232548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pic>
        <p:nvPicPr>
          <p:cNvPr id="881" name="Google Shape;881;p73"/>
          <p:cNvPicPr preferRelativeResize="0"/>
          <p:nvPr/>
        </p:nvPicPr>
        <p:blipFill rotWithShape="1">
          <a:blip r:embed="rId4">
            <a:alphaModFix/>
          </a:blip>
          <a:srcRect b="0" l="0" r="69082" t="56280"/>
          <a:stretch/>
        </p:blipFill>
        <p:spPr>
          <a:xfrm flipH="1">
            <a:off x="1532351" y="1156725"/>
            <a:ext cx="2415524" cy="1419076"/>
          </a:xfrm>
          <a:prstGeom prst="rect">
            <a:avLst/>
          </a:prstGeom>
          <a:noFill/>
          <a:ln>
            <a:noFill/>
          </a:ln>
        </p:spPr>
      </p:pic>
      <p:sp>
        <p:nvSpPr>
          <p:cNvPr id="882" name="Google Shape;882;p73"/>
          <p:cNvSpPr txBox="1"/>
          <p:nvPr/>
        </p:nvSpPr>
        <p:spPr>
          <a:xfrm>
            <a:off x="1684800" y="1389800"/>
            <a:ext cx="2172000" cy="8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I would use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6 × 7</a:t>
            </a:r>
            <a:endParaRPr sz="19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5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74"/>
          <p:cNvSpPr txBox="1"/>
          <p:nvPr>
            <p:ph idx="1" type="body"/>
          </p:nvPr>
        </p:nvSpPr>
        <p:spPr>
          <a:xfrm>
            <a:off x="363200" y="831525"/>
            <a:ext cx="4631400" cy="61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Estimate the answer to 5.6 × 6.9</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888" name="Google Shape;888;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pic>
        <p:nvPicPr>
          <p:cNvPr id="889" name="Google Shape;889;p74"/>
          <p:cNvPicPr preferRelativeResize="0"/>
          <p:nvPr/>
        </p:nvPicPr>
        <p:blipFill>
          <a:blip r:embed="rId3">
            <a:alphaModFix/>
          </a:blip>
          <a:stretch>
            <a:fillRect/>
          </a:stretch>
        </p:blipFill>
        <p:spPr>
          <a:xfrm>
            <a:off x="7367396" y="1822488"/>
            <a:ext cx="798316" cy="896106"/>
          </a:xfrm>
          <a:prstGeom prst="rect">
            <a:avLst/>
          </a:prstGeom>
          <a:noFill/>
          <a:ln>
            <a:noFill/>
          </a:ln>
        </p:spPr>
      </p:pic>
      <p:sp>
        <p:nvSpPr>
          <p:cNvPr id="890" name="Google Shape;890;p74"/>
          <p:cNvSpPr txBox="1"/>
          <p:nvPr/>
        </p:nvSpPr>
        <p:spPr>
          <a:xfrm>
            <a:off x="7323900" y="26582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891" name="Google Shape;891;p74"/>
          <p:cNvPicPr preferRelativeResize="0"/>
          <p:nvPr/>
        </p:nvPicPr>
        <p:blipFill rotWithShape="1">
          <a:blip r:embed="rId4">
            <a:alphaModFix/>
          </a:blip>
          <a:srcRect b="0" l="0" r="69082" t="56280"/>
          <a:stretch/>
        </p:blipFill>
        <p:spPr>
          <a:xfrm>
            <a:off x="4893625" y="577100"/>
            <a:ext cx="2560174" cy="1694701"/>
          </a:xfrm>
          <a:prstGeom prst="rect">
            <a:avLst/>
          </a:prstGeom>
          <a:noFill/>
          <a:ln>
            <a:noFill/>
          </a:ln>
        </p:spPr>
      </p:pic>
      <p:sp>
        <p:nvSpPr>
          <p:cNvPr id="892" name="Google Shape;892;p74"/>
          <p:cNvSpPr txBox="1"/>
          <p:nvPr/>
        </p:nvSpPr>
        <p:spPr>
          <a:xfrm>
            <a:off x="4994603" y="779703"/>
            <a:ext cx="2172000" cy="10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So this was the original area model and here is your estimate.</a:t>
            </a:r>
            <a:endParaRPr sz="1800">
              <a:solidFill>
                <a:schemeClr val="dk1"/>
              </a:solidFill>
              <a:latin typeface="Lexend"/>
              <a:ea typeface="Lexend"/>
              <a:cs typeface="Lexend"/>
              <a:sym typeface="Lexend"/>
            </a:endParaRPr>
          </a:p>
        </p:txBody>
      </p:sp>
      <p:pic>
        <p:nvPicPr>
          <p:cNvPr id="893" name="Google Shape;893;p74"/>
          <p:cNvPicPr preferRelativeResize="0"/>
          <p:nvPr/>
        </p:nvPicPr>
        <p:blipFill>
          <a:blip r:embed="rId5">
            <a:alphaModFix/>
          </a:blip>
          <a:stretch>
            <a:fillRect/>
          </a:stretch>
        </p:blipFill>
        <p:spPr>
          <a:xfrm flipH="1">
            <a:off x="363188" y="1321800"/>
            <a:ext cx="1114250" cy="1078300"/>
          </a:xfrm>
          <a:prstGeom prst="rect">
            <a:avLst/>
          </a:prstGeom>
          <a:noFill/>
          <a:ln>
            <a:noFill/>
          </a:ln>
        </p:spPr>
      </p:pic>
      <p:pic>
        <p:nvPicPr>
          <p:cNvPr id="894" name="Google Shape;894;p74"/>
          <p:cNvPicPr preferRelativeResize="0"/>
          <p:nvPr/>
        </p:nvPicPr>
        <p:blipFill rotWithShape="1">
          <a:blip r:embed="rId4">
            <a:alphaModFix/>
          </a:blip>
          <a:srcRect b="0" l="0" r="69082" t="56280"/>
          <a:stretch/>
        </p:blipFill>
        <p:spPr>
          <a:xfrm flipH="1">
            <a:off x="1477452" y="1018700"/>
            <a:ext cx="3094548" cy="1620299"/>
          </a:xfrm>
          <a:prstGeom prst="rect">
            <a:avLst/>
          </a:prstGeom>
          <a:noFill/>
          <a:ln>
            <a:noFill/>
          </a:ln>
        </p:spPr>
      </p:pic>
      <p:sp>
        <p:nvSpPr>
          <p:cNvPr id="895" name="Google Shape;895;p74"/>
          <p:cNvSpPr txBox="1"/>
          <p:nvPr/>
        </p:nvSpPr>
        <p:spPr>
          <a:xfrm>
            <a:off x="1684800" y="1179925"/>
            <a:ext cx="2752800" cy="12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Clearly 6 × 7 would give an </a:t>
            </a:r>
            <a:r>
              <a:rPr b="1" lang="en-GB" sz="1800">
                <a:solidFill>
                  <a:schemeClr val="dk1"/>
                </a:solidFill>
                <a:latin typeface="Lexend"/>
                <a:ea typeface="Lexend"/>
                <a:cs typeface="Lexend"/>
                <a:sym typeface="Lexend"/>
              </a:rPr>
              <a:t>overestimate </a:t>
            </a:r>
            <a:r>
              <a:rPr lang="en-GB" sz="1800">
                <a:solidFill>
                  <a:schemeClr val="dk1"/>
                </a:solidFill>
                <a:latin typeface="Lexend"/>
                <a:ea typeface="Lexend"/>
                <a:cs typeface="Lexend"/>
                <a:sym typeface="Lexend"/>
              </a:rPr>
              <a:t>as I have increased the area.</a:t>
            </a:r>
            <a:endParaRPr sz="1800">
              <a:solidFill>
                <a:schemeClr val="dk1"/>
              </a:solidFill>
              <a:latin typeface="Lexend"/>
              <a:ea typeface="Lexend"/>
              <a:cs typeface="Lexend"/>
              <a:sym typeface="Lexend"/>
            </a:endParaRPr>
          </a:p>
        </p:txBody>
      </p:sp>
      <p:sp>
        <p:nvSpPr>
          <p:cNvPr id="896" name="Google Shape;896;p74"/>
          <p:cNvSpPr txBox="1"/>
          <p:nvPr/>
        </p:nvSpPr>
        <p:spPr>
          <a:xfrm>
            <a:off x="3891680" y="3155944"/>
            <a:ext cx="675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a:t>
            </a:r>
            <a:endParaRPr/>
          </a:p>
        </p:txBody>
      </p:sp>
      <p:grpSp>
        <p:nvGrpSpPr>
          <p:cNvPr id="897" name="Google Shape;897;p74"/>
          <p:cNvGrpSpPr/>
          <p:nvPr/>
        </p:nvGrpSpPr>
        <p:grpSpPr>
          <a:xfrm>
            <a:off x="4374462" y="2720875"/>
            <a:ext cx="1929533" cy="2083312"/>
            <a:chOff x="1263900" y="3006645"/>
            <a:chExt cx="1929533" cy="2083312"/>
          </a:xfrm>
        </p:grpSpPr>
        <p:sp>
          <p:nvSpPr>
            <p:cNvPr id="898" name="Google Shape;898;p74"/>
            <p:cNvSpPr/>
            <p:nvPr/>
          </p:nvSpPr>
          <p:spPr>
            <a:xfrm rot="5401474">
              <a:off x="2326363" y="3549495"/>
              <a:ext cx="1399200" cy="313500"/>
            </a:xfrm>
            <a:prstGeom prst="rect">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99" name="Google Shape;899;p74"/>
            <p:cNvCxnSpPr/>
            <p:nvPr/>
          </p:nvCxnSpPr>
          <p:spPr>
            <a:xfrm>
              <a:off x="1263900" y="3034282"/>
              <a:ext cx="0" cy="1452000"/>
            </a:xfrm>
            <a:prstGeom prst="straightConnector1">
              <a:avLst/>
            </a:prstGeom>
            <a:noFill/>
            <a:ln cap="flat" cmpd="sng" w="28575">
              <a:solidFill>
                <a:schemeClr val="dk1"/>
              </a:solidFill>
              <a:prstDash val="solid"/>
              <a:round/>
              <a:headEnd len="med" w="med" type="triangle"/>
              <a:tailEnd len="med" w="med" type="triangle"/>
            </a:ln>
          </p:spPr>
        </p:cxnSp>
        <p:cxnSp>
          <p:nvCxnSpPr>
            <p:cNvPr id="900" name="Google Shape;900;p74"/>
            <p:cNvCxnSpPr/>
            <p:nvPr/>
          </p:nvCxnSpPr>
          <p:spPr>
            <a:xfrm rot="10800000">
              <a:off x="1425233" y="4667705"/>
              <a:ext cx="1768200" cy="0"/>
            </a:xfrm>
            <a:prstGeom prst="straightConnector1">
              <a:avLst/>
            </a:prstGeom>
            <a:noFill/>
            <a:ln cap="flat" cmpd="sng" w="28575">
              <a:solidFill>
                <a:schemeClr val="dk1"/>
              </a:solidFill>
              <a:prstDash val="solid"/>
              <a:round/>
              <a:headEnd len="med" w="med" type="triangle"/>
              <a:tailEnd len="med" w="med" type="triangle"/>
            </a:ln>
          </p:spPr>
        </p:cxnSp>
        <p:sp>
          <p:nvSpPr>
            <p:cNvPr id="901" name="Google Shape;901;p74"/>
            <p:cNvSpPr txBox="1"/>
            <p:nvPr/>
          </p:nvSpPr>
          <p:spPr>
            <a:xfrm>
              <a:off x="2106034" y="4566757"/>
              <a:ext cx="74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7</a:t>
              </a:r>
              <a:endParaRPr/>
            </a:p>
          </p:txBody>
        </p:sp>
      </p:grpSp>
      <p:sp>
        <p:nvSpPr>
          <p:cNvPr id="902" name="Google Shape;902;p74"/>
          <p:cNvSpPr/>
          <p:nvPr/>
        </p:nvSpPr>
        <p:spPr>
          <a:xfrm>
            <a:off x="4551625" y="2721663"/>
            <a:ext cx="1425300" cy="1078200"/>
          </a:xfrm>
          <a:prstGeom prst="rect">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03" name="Google Shape;903;p74"/>
          <p:cNvGrpSpPr/>
          <p:nvPr/>
        </p:nvGrpSpPr>
        <p:grpSpPr>
          <a:xfrm>
            <a:off x="4550905" y="3805340"/>
            <a:ext cx="1426746" cy="313500"/>
            <a:chOff x="3531230" y="3574515"/>
            <a:chExt cx="1426746" cy="313500"/>
          </a:xfrm>
        </p:grpSpPr>
        <p:sp>
          <p:nvSpPr>
            <p:cNvPr id="904" name="Google Shape;904;p74"/>
            <p:cNvSpPr/>
            <p:nvPr/>
          </p:nvSpPr>
          <p:spPr>
            <a:xfrm>
              <a:off x="3531230" y="3574515"/>
              <a:ext cx="1425300" cy="313500"/>
            </a:xfrm>
            <a:prstGeom prst="rect">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5" name="Google Shape;905;p74"/>
            <p:cNvCxnSpPr/>
            <p:nvPr/>
          </p:nvCxnSpPr>
          <p:spPr>
            <a:xfrm>
              <a:off x="4957976" y="3587191"/>
              <a:ext cx="0" cy="284700"/>
            </a:xfrm>
            <a:prstGeom prst="straightConnector1">
              <a:avLst/>
            </a:prstGeom>
            <a:noFill/>
            <a:ln cap="flat" cmpd="sng" w="38100">
              <a:solidFill>
                <a:schemeClr val="lt2"/>
              </a:solidFill>
              <a:prstDash val="solid"/>
              <a:round/>
              <a:headEnd len="med" w="med" type="none"/>
              <a:tailEnd len="med" w="med" type="none"/>
            </a:ln>
          </p:spPr>
        </p:cxnSp>
      </p:grpSp>
      <p:sp>
        <p:nvSpPr>
          <p:cNvPr id="906" name="Google Shape;906;p74"/>
          <p:cNvSpPr/>
          <p:nvPr/>
        </p:nvSpPr>
        <p:spPr>
          <a:xfrm>
            <a:off x="2123200" y="2749850"/>
            <a:ext cx="1425300" cy="1078200"/>
          </a:xfrm>
          <a:prstGeom prst="rect">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7" name="Google Shape;907;p74"/>
          <p:cNvCxnSpPr/>
          <p:nvPr/>
        </p:nvCxnSpPr>
        <p:spPr>
          <a:xfrm>
            <a:off x="1959675" y="2728188"/>
            <a:ext cx="0" cy="1102200"/>
          </a:xfrm>
          <a:prstGeom prst="straightConnector1">
            <a:avLst/>
          </a:prstGeom>
          <a:noFill/>
          <a:ln cap="flat" cmpd="sng" w="28575">
            <a:solidFill>
              <a:schemeClr val="dk1"/>
            </a:solidFill>
            <a:prstDash val="solid"/>
            <a:round/>
            <a:headEnd len="med" w="med" type="triangle"/>
            <a:tailEnd len="med" w="med" type="triangle"/>
          </a:ln>
        </p:spPr>
      </p:cxnSp>
      <p:sp>
        <p:nvSpPr>
          <p:cNvPr id="908" name="Google Shape;908;p74"/>
          <p:cNvSpPr txBox="1"/>
          <p:nvPr/>
        </p:nvSpPr>
        <p:spPr>
          <a:xfrm>
            <a:off x="1334125" y="3107941"/>
            <a:ext cx="675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5.6</a:t>
            </a:r>
            <a:endParaRPr/>
          </a:p>
        </p:txBody>
      </p:sp>
      <p:cxnSp>
        <p:nvCxnSpPr>
          <p:cNvPr id="909" name="Google Shape;909;p74"/>
          <p:cNvCxnSpPr/>
          <p:nvPr/>
        </p:nvCxnSpPr>
        <p:spPr>
          <a:xfrm rot="10800000">
            <a:off x="2123350" y="4075038"/>
            <a:ext cx="1436100" cy="0"/>
          </a:xfrm>
          <a:prstGeom prst="straightConnector1">
            <a:avLst/>
          </a:prstGeom>
          <a:noFill/>
          <a:ln cap="flat" cmpd="sng" w="28575">
            <a:solidFill>
              <a:schemeClr val="dk1"/>
            </a:solidFill>
            <a:prstDash val="solid"/>
            <a:round/>
            <a:headEnd len="med" w="med" type="triangle"/>
            <a:tailEnd len="med" w="med" type="triangle"/>
          </a:ln>
        </p:spPr>
      </p:cxnSp>
      <p:sp>
        <p:nvSpPr>
          <p:cNvPr id="910" name="Google Shape;910;p74"/>
          <p:cNvSpPr txBox="1"/>
          <p:nvPr/>
        </p:nvSpPr>
        <p:spPr>
          <a:xfrm>
            <a:off x="2460784" y="4004663"/>
            <a:ext cx="746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6.9</a:t>
            </a:r>
            <a:endParaRPr/>
          </a:p>
        </p:txBody>
      </p:sp>
      <p:sp>
        <p:nvSpPr>
          <p:cNvPr id="911" name="Google Shape;911;p74"/>
          <p:cNvSpPr txBox="1"/>
          <p:nvPr/>
        </p:nvSpPr>
        <p:spPr>
          <a:xfrm>
            <a:off x="592150" y="232548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75"/>
          <p:cNvSpPr txBox="1"/>
          <p:nvPr>
            <p:ph idx="1" type="body"/>
          </p:nvPr>
        </p:nvSpPr>
        <p:spPr>
          <a:xfrm>
            <a:off x="324000" y="759300"/>
            <a:ext cx="8343000" cy="706500"/>
          </a:xfrm>
          <a:prstGeom prst="rect">
            <a:avLst/>
          </a:prstGeom>
        </p:spPr>
        <p:txBody>
          <a:bodyPr anchorCtr="0" anchor="t" bIns="0" lIns="0" spcFirstLastPara="1" rIns="0" wrap="square" tIns="0">
            <a:noAutofit/>
          </a:bodyPr>
          <a:lstStyle/>
          <a:p>
            <a:pPr indent="0" lvl="0" marL="0" rtl="0" algn="l">
              <a:lnSpc>
                <a:spcPct val="100000"/>
              </a:lnSpc>
              <a:spcBef>
                <a:spcPts val="1000"/>
              </a:spcBef>
              <a:spcAft>
                <a:spcPts val="0"/>
              </a:spcAft>
              <a:buNone/>
            </a:pPr>
            <a:r>
              <a:rPr lang="en-GB" sz="1900"/>
              <a:t>1) Identify if the following gives an </a:t>
            </a:r>
            <a:r>
              <a:rPr b="1" lang="en-GB" sz="1900"/>
              <a:t>overestimate</a:t>
            </a:r>
            <a:r>
              <a:rPr lang="en-GB" sz="1900"/>
              <a:t>, </a:t>
            </a:r>
            <a:r>
              <a:rPr b="1" lang="en-GB" sz="1900"/>
              <a:t>underestimate </a:t>
            </a:r>
            <a:r>
              <a:rPr lang="en-GB" sz="1900"/>
              <a:t>or if it is hard to determine.</a:t>
            </a:r>
            <a:endParaRPr sz="1900"/>
          </a:p>
          <a:p>
            <a:pPr indent="-349250" lvl="0" marL="457200" rtl="0" algn="l">
              <a:lnSpc>
                <a:spcPct val="100000"/>
              </a:lnSpc>
              <a:spcBef>
                <a:spcPts val="1000"/>
              </a:spcBef>
              <a:spcAft>
                <a:spcPts val="0"/>
              </a:spcAft>
              <a:buSzPts val="1900"/>
              <a:buAutoNum type="alphaLcParenR"/>
            </a:pPr>
            <a:r>
              <a:rPr lang="en-GB" sz="1900"/>
              <a:t>568.5445 + 453.56</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570 + 500</a:t>
            </a:r>
            <a:endParaRPr sz="1900"/>
          </a:p>
          <a:p>
            <a:pPr indent="-349250" lvl="0" marL="457200" rtl="0" algn="l">
              <a:lnSpc>
                <a:spcPct val="100000"/>
              </a:lnSpc>
              <a:spcBef>
                <a:spcPts val="1000"/>
              </a:spcBef>
              <a:spcAft>
                <a:spcPts val="0"/>
              </a:spcAft>
              <a:buSzPts val="1900"/>
              <a:buAutoNum type="alphaLcParenR"/>
            </a:pPr>
            <a:r>
              <a:rPr lang="en-GB" sz="1900"/>
              <a:t>45.215 × 62.123</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50 × 60  </a:t>
            </a:r>
            <a:endParaRPr sz="1900"/>
          </a:p>
          <a:p>
            <a:pPr indent="-349250" lvl="0" marL="457200" rtl="0" algn="l">
              <a:lnSpc>
                <a:spcPct val="100000"/>
              </a:lnSpc>
              <a:spcBef>
                <a:spcPts val="1000"/>
              </a:spcBef>
              <a:spcAft>
                <a:spcPts val="0"/>
              </a:spcAft>
              <a:buSzPts val="1900"/>
              <a:buAutoNum type="alphaLcParenR"/>
            </a:pPr>
            <a:r>
              <a:rPr lang="en-GB" sz="1900"/>
              <a:t>5321 × 4236</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5000 × 4000 </a:t>
            </a:r>
            <a:endParaRPr sz="1900"/>
          </a:p>
          <a:p>
            <a:pPr indent="-349250" lvl="0" marL="457200" rtl="0" algn="l">
              <a:lnSpc>
                <a:spcPct val="100000"/>
              </a:lnSpc>
              <a:spcBef>
                <a:spcPts val="1000"/>
              </a:spcBef>
              <a:spcAft>
                <a:spcPts val="0"/>
              </a:spcAft>
              <a:buSzPts val="1900"/>
              <a:buAutoNum type="alphaLcParenR"/>
            </a:pPr>
            <a:r>
              <a:rPr lang="en-GB" sz="1900"/>
              <a:t>2455 + 2362 × 5466</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2500 + 2400 × 5500  </a:t>
            </a:r>
            <a:endParaRPr sz="1900"/>
          </a:p>
          <a:p>
            <a:pPr indent="-349250" lvl="0" marL="457200" rtl="0" algn="l">
              <a:lnSpc>
                <a:spcPct val="100000"/>
              </a:lnSpc>
              <a:spcBef>
                <a:spcPts val="1000"/>
              </a:spcBef>
              <a:spcAft>
                <a:spcPts val="0"/>
              </a:spcAft>
              <a:buSzPts val="1900"/>
              <a:buAutoNum type="alphaLcParenR"/>
            </a:pPr>
            <a:r>
              <a:rPr lang="en-GB" sz="1900"/>
              <a:t>0.565 + 0.461 × 0.31</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0.6 + 0.5 × 0.2</a:t>
            </a:r>
            <a:endParaRPr sz="1900"/>
          </a:p>
          <a:p>
            <a:pPr indent="-349250" lvl="0" marL="457200" rtl="0" algn="l">
              <a:lnSpc>
                <a:spcPct val="100000"/>
              </a:lnSpc>
              <a:spcBef>
                <a:spcPts val="1000"/>
              </a:spcBef>
              <a:spcAft>
                <a:spcPts val="0"/>
              </a:spcAft>
              <a:buSzPts val="1900"/>
              <a:buAutoNum type="alphaLcParenR"/>
            </a:pPr>
            <a:r>
              <a:rPr lang="en-GB" sz="1900"/>
              <a:t>953 + 56.56 + 0.665 × 0.6</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1000 + 60 + 0.5 × 0.5</a:t>
            </a:r>
            <a:endParaRPr sz="1900"/>
          </a:p>
          <a:p>
            <a:pPr indent="-349250" lvl="0" marL="457200" rtl="0" algn="l">
              <a:lnSpc>
                <a:spcPct val="100000"/>
              </a:lnSpc>
              <a:spcBef>
                <a:spcPts val="1000"/>
              </a:spcBef>
              <a:spcAft>
                <a:spcPts val="1000"/>
              </a:spcAft>
              <a:buSzPts val="1900"/>
              <a:buAutoNum type="alphaLcParenR"/>
            </a:pPr>
            <a:r>
              <a:rPr lang="en-GB" sz="1900"/>
              <a:t>56.2</a:t>
            </a:r>
            <a:r>
              <a:rPr baseline="30000" lang="en-GB" sz="1900"/>
              <a:t>2</a:t>
            </a:r>
            <a:r>
              <a:rPr lang="en-GB" sz="1900"/>
              <a:t> + 54.3</a:t>
            </a:r>
            <a:r>
              <a:rPr baseline="30000" lang="en-GB" sz="1900"/>
              <a:t>2</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60</a:t>
            </a:r>
            <a:r>
              <a:rPr baseline="30000" lang="en-GB" sz="1900"/>
              <a:t>2</a:t>
            </a:r>
            <a:r>
              <a:rPr lang="en-GB" sz="1900"/>
              <a:t> + 50</a:t>
            </a:r>
            <a:r>
              <a:rPr baseline="30000" lang="en-GB" sz="1900"/>
              <a:t>2</a:t>
            </a:r>
            <a:r>
              <a:rPr lang="en-GB" sz="1900"/>
              <a:t>   </a:t>
            </a:r>
            <a:endParaRPr sz="1900"/>
          </a:p>
        </p:txBody>
      </p:sp>
      <p:sp>
        <p:nvSpPr>
          <p:cNvPr id="917" name="Google Shape;917;p7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7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Here is a calculation</a:t>
            </a:r>
            <a:endParaRPr/>
          </a:p>
          <a:p>
            <a:pPr indent="0" lvl="0" marL="0" rtl="0" algn="ctr">
              <a:spcBef>
                <a:spcPts val="1000"/>
              </a:spcBef>
              <a:spcAft>
                <a:spcPts val="0"/>
              </a:spcAft>
              <a:buNone/>
            </a:pPr>
            <a:r>
              <a:rPr lang="en-GB"/>
              <a:t>8467 × 13.92 = 117 860.64</a:t>
            </a:r>
            <a:endParaRPr/>
          </a:p>
          <a:p>
            <a:pPr indent="0" lvl="0" marL="0" rtl="0" algn="l">
              <a:spcBef>
                <a:spcPts val="1000"/>
              </a:spcBef>
              <a:spcAft>
                <a:spcPts val="0"/>
              </a:spcAft>
              <a:buNone/>
            </a:pPr>
            <a:r>
              <a:rPr lang="en-GB"/>
              <a:t>a) Write a multiplication that gives a product close to, but a little more than, 117 860.64</a:t>
            </a:r>
            <a:endParaRPr/>
          </a:p>
          <a:p>
            <a:pPr indent="0" lvl="0" marL="457200" rtl="0" algn="l">
              <a:spcBef>
                <a:spcPts val="1000"/>
              </a:spcBef>
              <a:spcAft>
                <a:spcPts val="0"/>
              </a:spcAft>
              <a:buNone/>
            </a:pPr>
            <a:r>
              <a:t/>
            </a:r>
            <a:endParaRPr/>
          </a:p>
          <a:p>
            <a:pPr indent="0" lvl="0" marL="0" rtl="0" algn="l">
              <a:spcBef>
                <a:spcPts val="1000"/>
              </a:spcBef>
              <a:spcAft>
                <a:spcPts val="0"/>
              </a:spcAft>
              <a:buNone/>
            </a:pPr>
            <a:r>
              <a:rPr lang="en-GB"/>
              <a:t>b) Write a multiplication that gives a product close to, but a little less than, 117 860.64</a:t>
            </a:r>
            <a:endParaRPr/>
          </a:p>
          <a:p>
            <a:pPr indent="0" lvl="0" marL="0" rtl="0" algn="l">
              <a:spcBef>
                <a:spcPts val="1000"/>
              </a:spcBef>
              <a:spcAft>
                <a:spcPts val="1000"/>
              </a:spcAft>
              <a:buNone/>
            </a:pPr>
            <a:r>
              <a:t/>
            </a:r>
            <a:endParaRPr/>
          </a:p>
        </p:txBody>
      </p:sp>
      <p:sp>
        <p:nvSpPr>
          <p:cNvPr id="923" name="Google Shape;923;p7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7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lnSpc>
                <a:spcPct val="100000"/>
              </a:lnSpc>
              <a:spcBef>
                <a:spcPts val="1000"/>
              </a:spcBef>
              <a:spcAft>
                <a:spcPts val="0"/>
              </a:spcAft>
              <a:buNone/>
            </a:pPr>
            <a:r>
              <a:rPr lang="en-GB" sz="1900"/>
              <a:t>1) Identify if the following gives an </a:t>
            </a:r>
            <a:r>
              <a:rPr b="1" lang="en-GB" sz="1900"/>
              <a:t>overestimate</a:t>
            </a:r>
            <a:r>
              <a:rPr lang="en-GB" sz="1900"/>
              <a:t>, </a:t>
            </a:r>
            <a:r>
              <a:rPr b="1" lang="en-GB" sz="1900"/>
              <a:t>underestimate </a:t>
            </a:r>
            <a:r>
              <a:rPr lang="en-GB" sz="1900"/>
              <a:t>or if it is hard to determine.</a:t>
            </a:r>
            <a:endParaRPr sz="1900"/>
          </a:p>
          <a:p>
            <a:pPr indent="-349250" lvl="0" marL="457200" rtl="0" algn="l">
              <a:lnSpc>
                <a:spcPct val="100000"/>
              </a:lnSpc>
              <a:spcBef>
                <a:spcPts val="1000"/>
              </a:spcBef>
              <a:spcAft>
                <a:spcPts val="0"/>
              </a:spcAft>
              <a:buSzPts val="1900"/>
              <a:buAutoNum type="alphaLcParenR"/>
            </a:pPr>
            <a:r>
              <a:rPr lang="en-GB" sz="1900"/>
              <a:t>568.5445 + 453.56 </a:t>
            </a:r>
            <a:r>
              <a:rPr b="1" lang="en-GB">
                <a:solidFill>
                  <a:srgbClr val="222222"/>
                </a:solidFill>
                <a:latin typeface="Times New Roman"/>
                <a:ea typeface="Times New Roman"/>
                <a:cs typeface="Times New Roman"/>
                <a:sym typeface="Times New Roman"/>
              </a:rPr>
              <a:t>≈</a:t>
            </a:r>
            <a:r>
              <a:rPr lang="en-GB" sz="1900"/>
              <a:t> 570 + 500</a:t>
            </a:r>
            <a:endParaRPr sz="1900"/>
          </a:p>
          <a:p>
            <a:pPr indent="-349250" lvl="0" marL="457200" rtl="0" algn="l">
              <a:lnSpc>
                <a:spcPct val="100000"/>
              </a:lnSpc>
              <a:spcBef>
                <a:spcPts val="1000"/>
              </a:spcBef>
              <a:spcAft>
                <a:spcPts val="0"/>
              </a:spcAft>
              <a:buSzPts val="1900"/>
              <a:buAutoNum type="alphaLcParenR"/>
            </a:pPr>
            <a:r>
              <a:rPr lang="en-GB" sz="1900"/>
              <a:t>45.215 × 62.123</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50 × 60  </a:t>
            </a:r>
            <a:endParaRPr sz="1900"/>
          </a:p>
          <a:p>
            <a:pPr indent="-349250" lvl="0" marL="457200" rtl="0" algn="l">
              <a:lnSpc>
                <a:spcPct val="100000"/>
              </a:lnSpc>
              <a:spcBef>
                <a:spcPts val="1000"/>
              </a:spcBef>
              <a:spcAft>
                <a:spcPts val="0"/>
              </a:spcAft>
              <a:buSzPts val="1900"/>
              <a:buAutoNum type="alphaLcParenR"/>
            </a:pPr>
            <a:r>
              <a:rPr lang="en-GB" sz="1900"/>
              <a:t>5321 × 4236</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5000 × 4000 </a:t>
            </a:r>
            <a:endParaRPr sz="1900"/>
          </a:p>
          <a:p>
            <a:pPr indent="-349250" lvl="0" marL="457200" rtl="0" algn="l">
              <a:lnSpc>
                <a:spcPct val="100000"/>
              </a:lnSpc>
              <a:spcBef>
                <a:spcPts val="1000"/>
              </a:spcBef>
              <a:spcAft>
                <a:spcPts val="0"/>
              </a:spcAft>
              <a:buSzPts val="1900"/>
              <a:buAutoNum type="alphaLcParenR"/>
            </a:pPr>
            <a:r>
              <a:rPr lang="en-GB" sz="1900"/>
              <a:t>2455 + 2362 × 5466</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2500 + 2400 × 5500  </a:t>
            </a:r>
            <a:endParaRPr sz="1900"/>
          </a:p>
          <a:p>
            <a:pPr indent="-349250" lvl="0" marL="457200" rtl="0" algn="l">
              <a:lnSpc>
                <a:spcPct val="100000"/>
              </a:lnSpc>
              <a:spcBef>
                <a:spcPts val="1000"/>
              </a:spcBef>
              <a:spcAft>
                <a:spcPts val="0"/>
              </a:spcAft>
              <a:buSzPts val="1900"/>
              <a:buAutoNum type="alphaLcParenR"/>
            </a:pPr>
            <a:r>
              <a:rPr lang="en-GB" sz="1900"/>
              <a:t>0.565 + 0.461 × 0.31</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0.6 + 0.5 × 0.2</a:t>
            </a:r>
            <a:endParaRPr sz="1900"/>
          </a:p>
          <a:p>
            <a:pPr indent="-349250" lvl="0" marL="457200" rtl="0" algn="l">
              <a:lnSpc>
                <a:spcPct val="100000"/>
              </a:lnSpc>
              <a:spcBef>
                <a:spcPts val="1000"/>
              </a:spcBef>
              <a:spcAft>
                <a:spcPts val="0"/>
              </a:spcAft>
              <a:buSzPts val="1900"/>
              <a:buAutoNum type="alphaLcParenR"/>
            </a:pPr>
            <a:r>
              <a:rPr lang="en-GB" sz="1900"/>
              <a:t>953 + 56.56 + 0.665 × 0.6</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1000 + 60 + 0.5 × 0.5</a:t>
            </a:r>
            <a:endParaRPr sz="1900"/>
          </a:p>
          <a:p>
            <a:pPr indent="-349250" lvl="0" marL="457200" rtl="0" algn="l">
              <a:lnSpc>
                <a:spcPct val="100000"/>
              </a:lnSpc>
              <a:spcBef>
                <a:spcPts val="1000"/>
              </a:spcBef>
              <a:spcAft>
                <a:spcPts val="1000"/>
              </a:spcAft>
              <a:buSzPts val="1900"/>
              <a:buAutoNum type="alphaLcParenR"/>
            </a:pPr>
            <a:r>
              <a:rPr lang="en-GB" sz="1900"/>
              <a:t>56.2</a:t>
            </a:r>
            <a:r>
              <a:rPr baseline="30000" lang="en-GB" sz="1900"/>
              <a:t>2</a:t>
            </a:r>
            <a:r>
              <a:rPr lang="en-GB" sz="1900"/>
              <a:t> + 54.3</a:t>
            </a:r>
            <a:r>
              <a:rPr baseline="30000" lang="en-GB" sz="1900"/>
              <a:t>2 </a:t>
            </a:r>
            <a:r>
              <a:rPr lang="en-GB" sz="1900"/>
              <a:t> </a:t>
            </a:r>
            <a:r>
              <a:rPr b="1" lang="en-GB">
                <a:solidFill>
                  <a:srgbClr val="222222"/>
                </a:solidFill>
                <a:latin typeface="Times New Roman"/>
                <a:ea typeface="Times New Roman"/>
                <a:cs typeface="Times New Roman"/>
                <a:sym typeface="Times New Roman"/>
              </a:rPr>
              <a:t>≈</a:t>
            </a:r>
            <a:r>
              <a:rPr lang="en-GB" sz="1900"/>
              <a:t> </a:t>
            </a:r>
            <a:r>
              <a:rPr lang="en-GB" sz="1900"/>
              <a:t>60</a:t>
            </a:r>
            <a:r>
              <a:rPr baseline="30000" lang="en-GB" sz="1900"/>
              <a:t>2</a:t>
            </a:r>
            <a:r>
              <a:rPr lang="en-GB" sz="1900"/>
              <a:t> + 50</a:t>
            </a:r>
            <a:r>
              <a:rPr baseline="30000" lang="en-GB" sz="1900"/>
              <a:t>2</a:t>
            </a:r>
            <a:r>
              <a:rPr lang="en-GB" sz="1900"/>
              <a:t>   </a:t>
            </a:r>
            <a:endParaRPr sz="1900"/>
          </a:p>
        </p:txBody>
      </p:sp>
      <p:sp>
        <p:nvSpPr>
          <p:cNvPr id="929" name="Google Shape;929;p7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sp>
        <p:nvSpPr>
          <p:cNvPr id="930" name="Google Shape;930;p77"/>
          <p:cNvSpPr txBox="1"/>
          <p:nvPr/>
        </p:nvSpPr>
        <p:spPr>
          <a:xfrm>
            <a:off x="4015353" y="2500941"/>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Underestimate</a:t>
            </a:r>
            <a:endParaRPr b="1" sz="1300">
              <a:latin typeface="Kalam"/>
              <a:ea typeface="Kalam"/>
              <a:cs typeface="Kalam"/>
              <a:sym typeface="Kalam"/>
            </a:endParaRPr>
          </a:p>
        </p:txBody>
      </p:sp>
      <p:sp>
        <p:nvSpPr>
          <p:cNvPr id="931" name="Google Shape;931;p77"/>
          <p:cNvSpPr txBox="1"/>
          <p:nvPr/>
        </p:nvSpPr>
        <p:spPr>
          <a:xfrm>
            <a:off x="4610616" y="1575741"/>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932" name="Google Shape;932;p77"/>
          <p:cNvSpPr txBox="1"/>
          <p:nvPr/>
        </p:nvSpPr>
        <p:spPr>
          <a:xfrm>
            <a:off x="3717741" y="2052114"/>
            <a:ext cx="22125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700">
                <a:solidFill>
                  <a:schemeClr val="dk1"/>
                </a:solidFill>
                <a:latin typeface="Kalam"/>
                <a:ea typeface="Kalam"/>
                <a:cs typeface="Kalam"/>
                <a:sym typeface="Kalam"/>
              </a:rPr>
              <a:t>Hard to determine</a:t>
            </a:r>
            <a:endParaRPr sz="1300">
              <a:latin typeface="Kalam"/>
              <a:ea typeface="Kalam"/>
              <a:cs typeface="Kalam"/>
              <a:sym typeface="Kalam"/>
            </a:endParaRPr>
          </a:p>
        </p:txBody>
      </p:sp>
      <p:sp>
        <p:nvSpPr>
          <p:cNvPr id="933" name="Google Shape;933;p77"/>
          <p:cNvSpPr txBox="1"/>
          <p:nvPr/>
        </p:nvSpPr>
        <p:spPr>
          <a:xfrm>
            <a:off x="5632641" y="3008641"/>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934" name="Google Shape;934;p77"/>
          <p:cNvSpPr txBox="1"/>
          <p:nvPr/>
        </p:nvSpPr>
        <p:spPr>
          <a:xfrm>
            <a:off x="5070827" y="3458125"/>
            <a:ext cx="2046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700">
                <a:solidFill>
                  <a:schemeClr val="dk1"/>
                </a:solidFill>
                <a:latin typeface="Kalam"/>
                <a:ea typeface="Kalam"/>
                <a:cs typeface="Kalam"/>
                <a:sym typeface="Kalam"/>
              </a:rPr>
              <a:t>Hard to determine</a:t>
            </a:r>
            <a:endParaRPr sz="1300">
              <a:latin typeface="Kalam"/>
              <a:ea typeface="Kalam"/>
              <a:cs typeface="Kalam"/>
              <a:sym typeface="Kalam"/>
            </a:endParaRPr>
          </a:p>
        </p:txBody>
      </p:sp>
      <p:sp>
        <p:nvSpPr>
          <p:cNvPr id="935" name="Google Shape;935;p77"/>
          <p:cNvSpPr txBox="1"/>
          <p:nvPr/>
        </p:nvSpPr>
        <p:spPr>
          <a:xfrm>
            <a:off x="6353016" y="3918954"/>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936" name="Google Shape;936;p77"/>
          <p:cNvSpPr txBox="1"/>
          <p:nvPr/>
        </p:nvSpPr>
        <p:spPr>
          <a:xfrm>
            <a:off x="3586659" y="4365343"/>
            <a:ext cx="2046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700">
                <a:solidFill>
                  <a:schemeClr val="dk1"/>
                </a:solidFill>
                <a:latin typeface="Kalam"/>
                <a:ea typeface="Kalam"/>
                <a:cs typeface="Kalam"/>
                <a:sym typeface="Kalam"/>
              </a:rPr>
              <a:t>Hard to determine</a:t>
            </a:r>
            <a:endParaRPr sz="13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7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Here is a calculation</a:t>
            </a:r>
            <a:endParaRPr/>
          </a:p>
          <a:p>
            <a:pPr indent="0" lvl="0" marL="0" rtl="0" algn="ctr">
              <a:spcBef>
                <a:spcPts val="1000"/>
              </a:spcBef>
              <a:spcAft>
                <a:spcPts val="0"/>
              </a:spcAft>
              <a:buNone/>
            </a:pPr>
            <a:r>
              <a:rPr lang="en-GB"/>
              <a:t>8467 × 13.92 = 117 860.64</a:t>
            </a:r>
            <a:endParaRPr/>
          </a:p>
          <a:p>
            <a:pPr indent="0" lvl="0" marL="0" rtl="0" algn="l">
              <a:spcBef>
                <a:spcPts val="1000"/>
              </a:spcBef>
              <a:spcAft>
                <a:spcPts val="0"/>
              </a:spcAft>
              <a:buNone/>
            </a:pPr>
            <a:r>
              <a:rPr lang="en-GB"/>
              <a:t>a) Write a multiplication that gives a product close to, but a little more than, 117 860.64</a:t>
            </a:r>
            <a:endParaRPr/>
          </a:p>
          <a:p>
            <a:pPr indent="0" lvl="0" marL="457200" rtl="0" algn="l">
              <a:spcBef>
                <a:spcPts val="1000"/>
              </a:spcBef>
              <a:spcAft>
                <a:spcPts val="0"/>
              </a:spcAft>
              <a:buNone/>
            </a:pPr>
            <a:r>
              <a:t/>
            </a:r>
            <a:endParaRPr/>
          </a:p>
          <a:p>
            <a:pPr indent="0" lvl="0" marL="0" rtl="0" algn="l">
              <a:spcBef>
                <a:spcPts val="1000"/>
              </a:spcBef>
              <a:spcAft>
                <a:spcPts val="0"/>
              </a:spcAft>
              <a:buNone/>
            </a:pPr>
            <a:r>
              <a:rPr lang="en-GB"/>
              <a:t>b) Write a multiplication that gives a product close to, but a little less than, 117 860.64</a:t>
            </a:r>
            <a:endParaRPr/>
          </a:p>
          <a:p>
            <a:pPr indent="0" lvl="0" marL="0" rtl="0" algn="l">
              <a:spcBef>
                <a:spcPts val="1000"/>
              </a:spcBef>
              <a:spcAft>
                <a:spcPts val="1000"/>
              </a:spcAft>
              <a:buNone/>
            </a:pPr>
            <a:r>
              <a:t/>
            </a:r>
            <a:endParaRPr/>
          </a:p>
        </p:txBody>
      </p:sp>
      <p:sp>
        <p:nvSpPr>
          <p:cNvPr id="942" name="Google Shape;942;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sp>
        <p:nvSpPr>
          <p:cNvPr id="943" name="Google Shape;943;p78"/>
          <p:cNvSpPr txBox="1"/>
          <p:nvPr/>
        </p:nvSpPr>
        <p:spPr>
          <a:xfrm>
            <a:off x="382950" y="2443050"/>
            <a:ext cx="8119800" cy="117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700">
                <a:solidFill>
                  <a:schemeClr val="dk1"/>
                </a:solidFill>
                <a:latin typeface="Kalam"/>
                <a:ea typeface="Kalam"/>
                <a:cs typeface="Kalam"/>
                <a:sym typeface="Kalam"/>
              </a:rPr>
              <a:t>Any values where the multiplier and/or multiplicand have been shifted upwards slightly. E.g. 8500 × 15 </a:t>
            </a:r>
            <a:endParaRPr sz="17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t/>
            </a:r>
            <a:endParaRPr sz="1700">
              <a:solidFill>
                <a:schemeClr val="dk1"/>
              </a:solidFill>
              <a:latin typeface="Kalam"/>
              <a:ea typeface="Kalam"/>
              <a:cs typeface="Kalam"/>
              <a:sym typeface="Kalam"/>
            </a:endParaRPr>
          </a:p>
        </p:txBody>
      </p:sp>
      <p:sp>
        <p:nvSpPr>
          <p:cNvPr id="944" name="Google Shape;944;p78"/>
          <p:cNvSpPr txBox="1"/>
          <p:nvPr/>
        </p:nvSpPr>
        <p:spPr>
          <a:xfrm>
            <a:off x="477775" y="3966900"/>
            <a:ext cx="8119800" cy="7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700">
                <a:solidFill>
                  <a:schemeClr val="dk1"/>
                </a:solidFill>
                <a:latin typeface="Kalam"/>
                <a:ea typeface="Kalam"/>
                <a:cs typeface="Kalam"/>
                <a:sym typeface="Kalam"/>
              </a:rPr>
              <a:t>Any values where the multiplier and/or multiplicand have been shifted downwards slightly. E.g.  8400 × 10</a:t>
            </a:r>
            <a:endParaRPr sz="17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79"/>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sp>
        <p:nvSpPr>
          <p:cNvPr id="950" name="Google Shape;950;p7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951" name="Google Shape;951;p7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952" name="Google Shape;952;p7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Overestimating vs underestimating</a:t>
            </a:r>
            <a:endParaRPr/>
          </a:p>
        </p:txBody>
      </p:sp>
      <p:pic>
        <p:nvPicPr>
          <p:cNvPr id="953" name="Google Shape;953;p79"/>
          <p:cNvPicPr preferRelativeResize="0"/>
          <p:nvPr/>
        </p:nvPicPr>
        <p:blipFill>
          <a:blip r:embed="rId3">
            <a:alphaModFix/>
          </a:blip>
          <a:stretch>
            <a:fillRect/>
          </a:stretch>
        </p:blipFill>
        <p:spPr>
          <a:xfrm>
            <a:off x="418875" y="2766075"/>
            <a:ext cx="450575" cy="446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80"/>
          <p:cNvSpPr/>
          <p:nvPr/>
        </p:nvSpPr>
        <p:spPr>
          <a:xfrm>
            <a:off x="368975" y="1806500"/>
            <a:ext cx="14589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9" name="Google Shape;959;p80"/>
          <p:cNvSpPr txBox="1"/>
          <p:nvPr>
            <p:ph idx="1" type="body"/>
          </p:nvPr>
        </p:nvSpPr>
        <p:spPr>
          <a:xfrm>
            <a:off x="324000" y="3177800"/>
            <a:ext cx="8237700" cy="93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As we make the divisor smaller, what do you notice about the answer to the calculation? Can you explain why?</a:t>
            </a:r>
            <a:endParaRPr/>
          </a:p>
        </p:txBody>
      </p:sp>
      <p:sp>
        <p:nvSpPr>
          <p:cNvPr id="960" name="Google Shape;960;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pic>
        <p:nvPicPr>
          <p:cNvPr descr="&lt;math xmlns=&quot;http://www.w3.org/1998/Math/MathML&quot; display=&quot;block&quot; data-is-equatio=&quot;1&quot; data-latex=&quot;\frac{24}{12}=2\ \ \ \ \frac{24}{8}=3\ \ \ \ \frac{24}{4}=6\ \ \ \frac{24}{1}=24\ \ \ \ \frac{24}{0.5}=48&quot;&gt;&lt;mfrac&gt;&lt;mn&gt;24&lt;/mn&gt;&lt;mn&gt;12&lt;/mn&gt;&lt;/mfrac&gt;&lt;mo&gt;=&lt;/mo&gt;&lt;mn&gt;2&lt;/mn&gt;&lt;mtext&gt;&lt;/mtext&gt;&lt;mtext&gt;&lt;/mtext&gt;&lt;mtext&gt;&lt;/mtext&gt;&lt;mtext&gt;&lt;/mtext&gt;&lt;mfrac&gt;&lt;mn&gt;24&lt;/mn&gt;&lt;mn&gt;8&lt;/mn&gt;&lt;/mfrac&gt;&lt;mo&gt;=&lt;/mo&gt;&lt;mn&gt;3&lt;/mn&gt;&lt;mtext&gt;&lt;/mtext&gt;&lt;mtext&gt;&lt;/mtext&gt;&lt;mtext&gt;&lt;/mtext&gt;&lt;mtext&gt;&lt;/mtext&gt;&lt;mfrac&gt;&lt;mn&gt;24&lt;/mn&gt;&lt;mn&gt;4&lt;/mn&gt;&lt;/mfrac&gt;&lt;mo&gt;=&lt;/mo&gt;&lt;mn&gt;6&lt;/mn&gt;&lt;mtext&gt;&lt;/mtext&gt;&lt;mtext&gt;&lt;/mtext&gt;&lt;mtext&gt;&lt;/mtext&gt;&lt;mfrac&gt;&lt;mn&gt;24&lt;/mn&gt;&lt;mn&gt;1&lt;/mn&gt;&lt;/mfrac&gt;&lt;mo&gt;=&lt;/mo&gt;&lt;mn&gt;24&lt;/mn&gt;&lt;mtext&gt;&lt;/mtext&gt;&lt;mtext&gt;&lt;/mtext&gt;&lt;mtext&gt;&lt;/mtext&gt;&lt;mtext&gt;&lt;/mtext&gt;&lt;mfrac&gt;&lt;mn&gt;24&lt;/mn&gt;&lt;mn&gt;0.5&lt;/mn&gt;&lt;/mfrac&gt;&lt;mo&gt;=&lt;/mo&gt;&lt;mn&gt;48&lt;/mn&gt;&lt;/math&gt;" id="961" name="Google Shape;961;p80" title="24 over 12 equals 2 24 over 8 equals 3 24 over 4 equals 6 24 over 1 equals 24 24 over 0.5 equals 48"/>
          <p:cNvPicPr preferRelativeResize="0"/>
          <p:nvPr/>
        </p:nvPicPr>
        <p:blipFill>
          <a:blip r:embed="rId3">
            <a:alphaModFix/>
          </a:blip>
          <a:stretch>
            <a:fillRect/>
          </a:stretch>
        </p:blipFill>
        <p:spPr>
          <a:xfrm>
            <a:off x="546013" y="1924800"/>
            <a:ext cx="7930975" cy="812825"/>
          </a:xfrm>
          <a:prstGeom prst="rect">
            <a:avLst/>
          </a:prstGeom>
          <a:noFill/>
          <a:ln>
            <a:noFill/>
          </a:ln>
        </p:spPr>
      </p:pic>
      <p:sp>
        <p:nvSpPr>
          <p:cNvPr id="962" name="Google Shape;962;p80"/>
          <p:cNvSpPr/>
          <p:nvPr/>
        </p:nvSpPr>
        <p:spPr>
          <a:xfrm>
            <a:off x="1868600" y="1796163"/>
            <a:ext cx="14589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3" name="Google Shape;963;p80"/>
          <p:cNvSpPr/>
          <p:nvPr/>
        </p:nvSpPr>
        <p:spPr>
          <a:xfrm>
            <a:off x="3498875" y="1796150"/>
            <a:ext cx="14589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4" name="Google Shape;964;p80"/>
          <p:cNvSpPr/>
          <p:nvPr/>
        </p:nvSpPr>
        <p:spPr>
          <a:xfrm>
            <a:off x="5067175" y="1776943"/>
            <a:ext cx="16860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5" name="Google Shape;965;p80"/>
          <p:cNvSpPr/>
          <p:nvPr/>
        </p:nvSpPr>
        <p:spPr>
          <a:xfrm>
            <a:off x="6862575" y="1776950"/>
            <a:ext cx="17613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66" name="Google Shape;966;p80"/>
          <p:cNvGrpSpPr/>
          <p:nvPr/>
        </p:nvGrpSpPr>
        <p:grpSpPr>
          <a:xfrm>
            <a:off x="1096325" y="2073600"/>
            <a:ext cx="7452250" cy="462425"/>
            <a:chOff x="1096325" y="1845000"/>
            <a:chExt cx="7452250" cy="462425"/>
          </a:xfrm>
        </p:grpSpPr>
        <p:pic>
          <p:nvPicPr>
            <p:cNvPr id="967" name="Google Shape;967;p80"/>
            <p:cNvPicPr preferRelativeResize="0"/>
            <p:nvPr/>
          </p:nvPicPr>
          <p:blipFill>
            <a:blip r:embed="rId4">
              <a:alphaModFix/>
            </a:blip>
            <a:stretch>
              <a:fillRect/>
            </a:stretch>
          </p:blipFill>
          <p:spPr>
            <a:xfrm>
              <a:off x="1096325" y="1897838"/>
              <a:ext cx="685800" cy="409575"/>
            </a:xfrm>
            <a:prstGeom prst="rect">
              <a:avLst/>
            </a:prstGeom>
            <a:noFill/>
            <a:ln>
              <a:noFill/>
            </a:ln>
          </p:spPr>
        </p:pic>
        <p:pic>
          <p:nvPicPr>
            <p:cNvPr id="968" name="Google Shape;968;p80"/>
            <p:cNvPicPr preferRelativeResize="0"/>
            <p:nvPr/>
          </p:nvPicPr>
          <p:blipFill>
            <a:blip r:embed="rId4">
              <a:alphaModFix/>
            </a:blip>
            <a:stretch>
              <a:fillRect/>
            </a:stretch>
          </p:blipFill>
          <p:spPr>
            <a:xfrm>
              <a:off x="2598800" y="1845000"/>
              <a:ext cx="685800" cy="409575"/>
            </a:xfrm>
            <a:prstGeom prst="rect">
              <a:avLst/>
            </a:prstGeom>
            <a:noFill/>
            <a:ln>
              <a:noFill/>
            </a:ln>
          </p:spPr>
        </p:pic>
        <p:pic>
          <p:nvPicPr>
            <p:cNvPr id="969" name="Google Shape;969;p80"/>
            <p:cNvPicPr preferRelativeResize="0"/>
            <p:nvPr/>
          </p:nvPicPr>
          <p:blipFill>
            <a:blip r:embed="rId4">
              <a:alphaModFix/>
            </a:blip>
            <a:stretch>
              <a:fillRect/>
            </a:stretch>
          </p:blipFill>
          <p:spPr>
            <a:xfrm>
              <a:off x="4168600" y="1897850"/>
              <a:ext cx="748350" cy="409575"/>
            </a:xfrm>
            <a:prstGeom prst="rect">
              <a:avLst/>
            </a:prstGeom>
            <a:noFill/>
            <a:ln>
              <a:noFill/>
            </a:ln>
          </p:spPr>
        </p:pic>
        <p:pic>
          <p:nvPicPr>
            <p:cNvPr id="970" name="Google Shape;970;p80"/>
            <p:cNvPicPr preferRelativeResize="0"/>
            <p:nvPr/>
          </p:nvPicPr>
          <p:blipFill>
            <a:blip r:embed="rId4">
              <a:alphaModFix/>
            </a:blip>
            <a:stretch>
              <a:fillRect/>
            </a:stretch>
          </p:blipFill>
          <p:spPr>
            <a:xfrm>
              <a:off x="5800950" y="1897800"/>
              <a:ext cx="866550" cy="409575"/>
            </a:xfrm>
            <a:prstGeom prst="rect">
              <a:avLst/>
            </a:prstGeom>
            <a:noFill/>
            <a:ln>
              <a:noFill/>
            </a:ln>
          </p:spPr>
        </p:pic>
        <p:pic>
          <p:nvPicPr>
            <p:cNvPr id="971" name="Google Shape;971;p80"/>
            <p:cNvPicPr preferRelativeResize="0"/>
            <p:nvPr/>
          </p:nvPicPr>
          <p:blipFill>
            <a:blip r:embed="rId4">
              <a:alphaModFix/>
            </a:blip>
            <a:stretch>
              <a:fillRect/>
            </a:stretch>
          </p:blipFill>
          <p:spPr>
            <a:xfrm>
              <a:off x="7682025" y="1897800"/>
              <a:ext cx="866550" cy="409575"/>
            </a:xfrm>
            <a:prstGeom prst="rect">
              <a:avLst/>
            </a:prstGeom>
            <a:noFill/>
            <a:ln>
              <a:noFill/>
            </a:ln>
          </p:spPr>
        </p:pic>
      </p:grpSp>
      <p:sp>
        <p:nvSpPr>
          <p:cNvPr id="972" name="Google Shape;972;p80"/>
          <p:cNvSpPr txBox="1"/>
          <p:nvPr>
            <p:ph idx="1" type="body"/>
          </p:nvPr>
        </p:nvSpPr>
        <p:spPr>
          <a:xfrm>
            <a:off x="324000" y="759300"/>
            <a:ext cx="8237700" cy="93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Here is a list of calculations. Work out the answers and put them in ascending order, smallest to largest.</a:t>
            </a:r>
            <a:endParaRPr/>
          </a:p>
        </p:txBody>
      </p:sp>
      <p:sp>
        <p:nvSpPr>
          <p:cNvPr id="973" name="Google Shape;973;p80"/>
          <p:cNvSpPr txBox="1"/>
          <p:nvPr>
            <p:ph idx="1" type="body"/>
          </p:nvPr>
        </p:nvSpPr>
        <p:spPr>
          <a:xfrm>
            <a:off x="324000" y="4069600"/>
            <a:ext cx="8237700" cy="93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As the divisor gets smaller, the answer gets bigger. This is because the divisor fits more times into the dividend.</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81"/>
          <p:cNvSpPr/>
          <p:nvPr/>
        </p:nvSpPr>
        <p:spPr>
          <a:xfrm>
            <a:off x="368975" y="1806500"/>
            <a:ext cx="14589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9" name="Google Shape;979;p81"/>
          <p:cNvSpPr/>
          <p:nvPr/>
        </p:nvSpPr>
        <p:spPr>
          <a:xfrm>
            <a:off x="1868600" y="1796163"/>
            <a:ext cx="14589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0" name="Google Shape;980;p81"/>
          <p:cNvSpPr/>
          <p:nvPr/>
        </p:nvSpPr>
        <p:spPr>
          <a:xfrm>
            <a:off x="3498875" y="1796150"/>
            <a:ext cx="14589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1" name="Google Shape;981;p81"/>
          <p:cNvSpPr/>
          <p:nvPr/>
        </p:nvSpPr>
        <p:spPr>
          <a:xfrm>
            <a:off x="5067175" y="1776943"/>
            <a:ext cx="16860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2" name="Google Shape;982;p81"/>
          <p:cNvSpPr/>
          <p:nvPr/>
        </p:nvSpPr>
        <p:spPr>
          <a:xfrm>
            <a:off x="6862575" y="1776950"/>
            <a:ext cx="17613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3" name="Google Shape;983;p81"/>
          <p:cNvSpPr txBox="1"/>
          <p:nvPr>
            <p:ph idx="1" type="body"/>
          </p:nvPr>
        </p:nvSpPr>
        <p:spPr>
          <a:xfrm>
            <a:off x="324000" y="3177800"/>
            <a:ext cx="8237700" cy="93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Also, since division by a number is the same as multiplying by the reciprocal of that number, these are the equivalent calculations.</a:t>
            </a:r>
            <a:endParaRPr>
              <a:latin typeface="Kalam"/>
              <a:ea typeface="Kalam"/>
              <a:cs typeface="Kalam"/>
              <a:sym typeface="Kalam"/>
            </a:endParaRPr>
          </a:p>
        </p:txBody>
      </p:sp>
      <p:sp>
        <p:nvSpPr>
          <p:cNvPr id="984" name="Google Shape;984;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985" name="Google Shape;985;p81"/>
          <p:cNvSpPr txBox="1"/>
          <p:nvPr>
            <p:ph idx="1" type="body"/>
          </p:nvPr>
        </p:nvSpPr>
        <p:spPr>
          <a:xfrm>
            <a:off x="324000" y="759300"/>
            <a:ext cx="8237700" cy="93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Here is a list of calculations. Work out the answers and put them in ascending order, smallest to largest.</a:t>
            </a:r>
            <a:endParaRPr/>
          </a:p>
        </p:txBody>
      </p:sp>
      <p:pic>
        <p:nvPicPr>
          <p:cNvPr descr="&lt;math xmlns=&quot;http://www.w3.org/1998/Math/MathML&quot; display=&quot;block&quot; data-is-equatio=&quot;1&quot; data-latex=&quot;24\ \times\frac{1}{12}\ \ \ \ 24\times\frac{1}{8}\ \ \ \ 24\times\frac{1}{4}\ \ \ 24\times\frac{1}{1}\ \ \ 24\times2&quot;&gt;&lt;mn&gt;24&lt;/mn&gt;&lt;mtext&gt;&lt;/mtext&gt;&lt;mo&gt;×&lt;/mo&gt;&lt;mfrac&gt;&lt;mn&gt;1&lt;/mn&gt;&lt;mn&gt;12&lt;/mn&gt;&lt;/mfrac&gt;&lt;mtext&gt;&lt;/mtext&gt;&lt;mtext&gt;&lt;/mtext&gt;&lt;mtext&gt;&lt;/mtext&gt;&lt;mtext&gt;&lt;/mtext&gt;&lt;mn&gt;24&lt;/mn&gt;&lt;mo&gt;×&lt;/mo&gt;&lt;mfrac&gt;&lt;mn&gt;1&lt;/mn&gt;&lt;mn&gt;8&lt;/mn&gt;&lt;/mfrac&gt;&lt;mtext&gt;&lt;/mtext&gt;&lt;mtext&gt;&lt;/mtext&gt;&lt;mtext&gt;&lt;/mtext&gt;&lt;mtext&gt;&lt;/mtext&gt;&lt;mn&gt;24&lt;/mn&gt;&lt;mo&gt;×&lt;/mo&gt;&lt;mfrac&gt;&lt;mn&gt;1&lt;/mn&gt;&lt;mn&gt;4&lt;/mn&gt;&lt;/mfrac&gt;&lt;mtext&gt;&lt;/mtext&gt;&lt;mtext&gt;&lt;/mtext&gt;&lt;mtext&gt;&lt;/mtext&gt;&lt;mn&gt;24&lt;/mn&gt;&lt;mo&gt;×&lt;/mo&gt;&lt;mfrac&gt;&lt;mn&gt;1&lt;/mn&gt;&lt;mn&gt;1&lt;/mn&gt;&lt;/mfrac&gt;&lt;mtext&gt;&lt;/mtext&gt;&lt;mtext&gt;&lt;/mtext&gt;&lt;mtext&gt;&lt;/mtext&gt;&lt;mn&gt;24&lt;/mn&gt;&lt;mo&gt;×&lt;/mo&gt;&lt;mn&gt;2&lt;/mn&gt;&lt;/math&gt;" id="986" name="Google Shape;986;p81" title="24 times 1 over 12 24 times one eighth 24 times one fourth 24 times one oneth 24 times 2"/>
          <p:cNvPicPr preferRelativeResize="0"/>
          <p:nvPr/>
        </p:nvPicPr>
        <p:blipFill rotWithShape="1">
          <a:blip r:embed="rId3">
            <a:alphaModFix/>
          </a:blip>
          <a:srcRect b="0" l="0" r="79004" t="0"/>
          <a:stretch/>
        </p:blipFill>
        <p:spPr>
          <a:xfrm>
            <a:off x="422125" y="1951500"/>
            <a:ext cx="1352600" cy="721000"/>
          </a:xfrm>
          <a:prstGeom prst="rect">
            <a:avLst/>
          </a:prstGeom>
          <a:noFill/>
          <a:ln>
            <a:noFill/>
          </a:ln>
        </p:spPr>
      </p:pic>
      <p:pic>
        <p:nvPicPr>
          <p:cNvPr descr="&lt;math xmlns=&quot;http://www.w3.org/1998/Math/MathML&quot; display=&quot;block&quot; data-is-equatio=&quot;1&quot; data-latex=&quot;24\ \times\frac{1}{12}\ \ \ \ 24\times\frac{1}{8}\ \ \ \ 24\times\frac{1}{4}\ \ \ 24\times\frac{1}{1}\ \ \ 24\times2&quot;&gt;&lt;mn&gt;24&lt;/mn&gt;&lt;mtext&gt;&lt;/mtext&gt;&lt;mo&gt;×&lt;/mo&gt;&lt;mfrac&gt;&lt;mn&gt;1&lt;/mn&gt;&lt;mn&gt;12&lt;/mn&gt;&lt;/mfrac&gt;&lt;mtext&gt;&lt;/mtext&gt;&lt;mtext&gt;&lt;/mtext&gt;&lt;mtext&gt;&lt;/mtext&gt;&lt;mtext&gt;&lt;/mtext&gt;&lt;mn&gt;24&lt;/mn&gt;&lt;mo&gt;×&lt;/mo&gt;&lt;mfrac&gt;&lt;mn&gt;1&lt;/mn&gt;&lt;mn&gt;8&lt;/mn&gt;&lt;/mfrac&gt;&lt;mtext&gt;&lt;/mtext&gt;&lt;mtext&gt;&lt;/mtext&gt;&lt;mtext&gt;&lt;/mtext&gt;&lt;mtext&gt;&lt;/mtext&gt;&lt;mn&gt;24&lt;/mn&gt;&lt;mo&gt;×&lt;/mo&gt;&lt;mfrac&gt;&lt;mn&gt;1&lt;/mn&gt;&lt;mn&gt;4&lt;/mn&gt;&lt;/mfrac&gt;&lt;mtext&gt;&lt;/mtext&gt;&lt;mtext&gt;&lt;/mtext&gt;&lt;mtext&gt;&lt;/mtext&gt;&lt;mn&gt;24&lt;/mn&gt;&lt;mo&gt;×&lt;/mo&gt;&lt;mfrac&gt;&lt;mn&gt;1&lt;/mn&gt;&lt;mn&gt;1&lt;/mn&gt;&lt;/mfrac&gt;&lt;mtext&gt;&lt;/mtext&gt;&lt;mtext&gt;&lt;/mtext&gt;&lt;mtext&gt;&lt;/mtext&gt;&lt;mn&gt;24&lt;/mn&gt;&lt;mo&gt;×&lt;/mo&gt;&lt;mn&gt;2&lt;/mn&gt;&lt;/math&gt;" id="987" name="Google Shape;987;p81" title="24 times 1 over 12 24 times one eighth 24 times one fourth 24 times one oneth 24 times 2"/>
          <p:cNvPicPr preferRelativeResize="0"/>
          <p:nvPr/>
        </p:nvPicPr>
        <p:blipFill rotWithShape="1">
          <a:blip r:embed="rId3">
            <a:alphaModFix/>
          </a:blip>
          <a:srcRect b="0" l="24613" r="58253" t="0"/>
          <a:stretch/>
        </p:blipFill>
        <p:spPr>
          <a:xfrm>
            <a:off x="1981748" y="1951500"/>
            <a:ext cx="1103750" cy="721000"/>
          </a:xfrm>
          <a:prstGeom prst="rect">
            <a:avLst/>
          </a:prstGeom>
          <a:noFill/>
          <a:ln>
            <a:noFill/>
          </a:ln>
        </p:spPr>
      </p:pic>
      <p:pic>
        <p:nvPicPr>
          <p:cNvPr descr="&lt;math xmlns=&quot;http://www.w3.org/1998/Math/MathML&quot; display=&quot;block&quot; data-is-equatio=&quot;1&quot; data-latex=&quot;24\ \times\frac{1}{12}\ \ \ \ 24\times\frac{1}{8}\ \ \ \ 24\times\frac{1}{4}\ \ \ 24\times\frac{1}{1}\ \ \ 24\times2&quot;&gt;&lt;mn&gt;24&lt;/mn&gt;&lt;mtext&gt;&lt;/mtext&gt;&lt;mo&gt;×&lt;/mo&gt;&lt;mfrac&gt;&lt;mn&gt;1&lt;/mn&gt;&lt;mn&gt;12&lt;/mn&gt;&lt;/mfrac&gt;&lt;mtext&gt;&lt;/mtext&gt;&lt;mtext&gt;&lt;/mtext&gt;&lt;mtext&gt;&lt;/mtext&gt;&lt;mtext&gt;&lt;/mtext&gt;&lt;mn&gt;24&lt;/mn&gt;&lt;mo&gt;×&lt;/mo&gt;&lt;mfrac&gt;&lt;mn&gt;1&lt;/mn&gt;&lt;mn&gt;8&lt;/mn&gt;&lt;/mfrac&gt;&lt;mtext&gt;&lt;/mtext&gt;&lt;mtext&gt;&lt;/mtext&gt;&lt;mtext&gt;&lt;/mtext&gt;&lt;mtext&gt;&lt;/mtext&gt;&lt;mn&gt;24&lt;/mn&gt;&lt;mo&gt;×&lt;/mo&gt;&lt;mfrac&gt;&lt;mn&gt;1&lt;/mn&gt;&lt;mn&gt;4&lt;/mn&gt;&lt;/mfrac&gt;&lt;mtext&gt;&lt;/mtext&gt;&lt;mtext&gt;&lt;/mtext&gt;&lt;mtext&gt;&lt;/mtext&gt;&lt;mn&gt;24&lt;/mn&gt;&lt;mo&gt;×&lt;/mo&gt;&lt;mfrac&gt;&lt;mn&gt;1&lt;/mn&gt;&lt;mn&gt;1&lt;/mn&gt;&lt;/mfrac&gt;&lt;mtext&gt;&lt;/mtext&gt;&lt;mtext&gt;&lt;/mtext&gt;&lt;mtext&gt;&lt;/mtext&gt;&lt;mn&gt;24&lt;/mn&gt;&lt;mo&gt;×&lt;/mo&gt;&lt;mn&gt;2&lt;/mn&gt;&lt;/math&gt;" id="988" name="Google Shape;988;p81" title="24 times 1 over 12 24 times one eighth 24 times one fourth 24 times one oneth 24 times 2"/>
          <p:cNvPicPr preferRelativeResize="0"/>
          <p:nvPr/>
        </p:nvPicPr>
        <p:blipFill rotWithShape="1">
          <a:blip r:embed="rId3">
            <a:alphaModFix/>
          </a:blip>
          <a:srcRect b="0" l="44718" r="35927" t="0"/>
          <a:stretch/>
        </p:blipFill>
        <p:spPr>
          <a:xfrm>
            <a:off x="3579989" y="1951500"/>
            <a:ext cx="1246875" cy="721000"/>
          </a:xfrm>
          <a:prstGeom prst="rect">
            <a:avLst/>
          </a:prstGeom>
          <a:noFill/>
          <a:ln>
            <a:noFill/>
          </a:ln>
        </p:spPr>
      </p:pic>
      <p:pic>
        <p:nvPicPr>
          <p:cNvPr descr="&lt;math xmlns=&quot;http://www.w3.org/1998/Math/MathML&quot; display=&quot;block&quot; data-is-equatio=&quot;1&quot; data-latex=&quot;24\ \times\frac{1}{12}\ \ \ \ 24\times\frac{1}{8}\ \ \ \ 24\times\frac{1}{4}\ \ \ 24\times\frac{1}{1}\ \ \ 24\times2&quot;&gt;&lt;mn&gt;24&lt;/mn&gt;&lt;mtext&gt;&lt;/mtext&gt;&lt;mo&gt;×&lt;/mo&gt;&lt;mfrac&gt;&lt;mn&gt;1&lt;/mn&gt;&lt;mn&gt;12&lt;/mn&gt;&lt;/mfrac&gt;&lt;mtext&gt;&lt;/mtext&gt;&lt;mtext&gt;&lt;/mtext&gt;&lt;mtext&gt;&lt;/mtext&gt;&lt;mtext&gt;&lt;/mtext&gt;&lt;mn&gt;24&lt;/mn&gt;&lt;mo&gt;×&lt;/mo&gt;&lt;mfrac&gt;&lt;mn&gt;1&lt;/mn&gt;&lt;mn&gt;8&lt;/mn&gt;&lt;/mfrac&gt;&lt;mtext&gt;&lt;/mtext&gt;&lt;mtext&gt;&lt;/mtext&gt;&lt;mtext&gt;&lt;/mtext&gt;&lt;mtext&gt;&lt;/mtext&gt;&lt;mn&gt;24&lt;/mn&gt;&lt;mo&gt;×&lt;/mo&gt;&lt;mfrac&gt;&lt;mn&gt;1&lt;/mn&gt;&lt;mn&gt;4&lt;/mn&gt;&lt;/mfrac&gt;&lt;mtext&gt;&lt;/mtext&gt;&lt;mtext&gt;&lt;/mtext&gt;&lt;mtext&gt;&lt;/mtext&gt;&lt;mn&gt;24&lt;/mn&gt;&lt;mo&gt;×&lt;/mo&gt;&lt;mfrac&gt;&lt;mn&gt;1&lt;/mn&gt;&lt;mn&gt;1&lt;/mn&gt;&lt;/mfrac&gt;&lt;mtext&gt;&lt;/mtext&gt;&lt;mtext&gt;&lt;/mtext&gt;&lt;mtext&gt;&lt;/mtext&gt;&lt;mn&gt;24&lt;/mn&gt;&lt;mo&gt;×&lt;/mo&gt;&lt;mn&gt;2&lt;/mn&gt;&lt;/math&gt;" id="989" name="Google Shape;989;p81" title="24 times 1 over 12 24 times one eighth 24 times one fourth 24 times one oneth 24 times 2"/>
          <p:cNvPicPr preferRelativeResize="0"/>
          <p:nvPr/>
        </p:nvPicPr>
        <p:blipFill rotWithShape="1">
          <a:blip r:embed="rId3">
            <a:alphaModFix/>
          </a:blip>
          <a:srcRect b="0" l="63873" r="16772" t="0"/>
          <a:stretch/>
        </p:blipFill>
        <p:spPr>
          <a:xfrm>
            <a:off x="5286743" y="1845000"/>
            <a:ext cx="1246875" cy="721000"/>
          </a:xfrm>
          <a:prstGeom prst="rect">
            <a:avLst/>
          </a:prstGeom>
          <a:noFill/>
          <a:ln>
            <a:noFill/>
          </a:ln>
        </p:spPr>
      </p:pic>
      <p:pic>
        <p:nvPicPr>
          <p:cNvPr descr="&lt;math xmlns=&quot;http://www.w3.org/1998/Math/MathML&quot; display=&quot;block&quot; data-is-equatio=&quot;1&quot; data-latex=&quot;24\ \times\frac{1}{12}\ \ \ \ 24\times\frac{1}{8}\ \ \ \ 24\times\frac{1}{4}\ \ \ 24\times\frac{1}{1}\ \ \ 24\times2&quot;&gt;&lt;mn&gt;24&lt;/mn&gt;&lt;mtext&gt;&lt;/mtext&gt;&lt;mo&gt;×&lt;/mo&gt;&lt;mfrac&gt;&lt;mn&gt;1&lt;/mn&gt;&lt;mn&gt;12&lt;/mn&gt;&lt;/mfrac&gt;&lt;mtext&gt;&lt;/mtext&gt;&lt;mtext&gt;&lt;/mtext&gt;&lt;mtext&gt;&lt;/mtext&gt;&lt;mtext&gt;&lt;/mtext&gt;&lt;mn&gt;24&lt;/mn&gt;&lt;mo&gt;×&lt;/mo&gt;&lt;mfrac&gt;&lt;mn&gt;1&lt;/mn&gt;&lt;mn&gt;8&lt;/mn&gt;&lt;/mfrac&gt;&lt;mtext&gt;&lt;/mtext&gt;&lt;mtext&gt;&lt;/mtext&gt;&lt;mtext&gt;&lt;/mtext&gt;&lt;mtext&gt;&lt;/mtext&gt;&lt;mn&gt;24&lt;/mn&gt;&lt;mo&gt;×&lt;/mo&gt;&lt;mfrac&gt;&lt;mn&gt;1&lt;/mn&gt;&lt;mn&gt;4&lt;/mn&gt;&lt;/mfrac&gt;&lt;mtext&gt;&lt;/mtext&gt;&lt;mtext&gt;&lt;/mtext&gt;&lt;mtext&gt;&lt;/mtext&gt;&lt;mn&gt;24&lt;/mn&gt;&lt;mo&gt;×&lt;/mo&gt;&lt;mfrac&gt;&lt;mn&gt;1&lt;/mn&gt;&lt;mn&gt;1&lt;/mn&gt;&lt;/mfrac&gt;&lt;mtext&gt;&lt;/mtext&gt;&lt;mtext&gt;&lt;/mtext&gt;&lt;mtext&gt;&lt;/mtext&gt;&lt;mn&gt;24&lt;/mn&gt;&lt;mo&gt;×&lt;/mo&gt;&lt;mn&gt;2&lt;/mn&gt;&lt;/math&gt;" id="990" name="Google Shape;990;p81" title="24 times 1 over 12 24 times one eighth 24 times one fourth 24 times one oneth 24 times 2"/>
          <p:cNvPicPr preferRelativeResize="0"/>
          <p:nvPr/>
        </p:nvPicPr>
        <p:blipFill rotWithShape="1">
          <a:blip r:embed="rId3">
            <a:alphaModFix/>
          </a:blip>
          <a:srcRect b="0" l="84860" r="-1992" t="0"/>
          <a:stretch/>
        </p:blipFill>
        <p:spPr>
          <a:xfrm>
            <a:off x="7191347" y="1924800"/>
            <a:ext cx="1103750" cy="721000"/>
          </a:xfrm>
          <a:prstGeom prst="rect">
            <a:avLst/>
          </a:prstGeom>
          <a:noFill/>
          <a:ln>
            <a:noFill/>
          </a:ln>
        </p:spPr>
      </p:pic>
      <p:pic>
        <p:nvPicPr>
          <p:cNvPr descr="&lt;math xmlns=&quot;http://www.w3.org/1998/Math/MathML&quot; display=&quot;block&quot; data-is-equatio=&quot;1&quot; data-latex=&quot;\frac{24}{12}=2\ \ \ \ \frac{24}{8}=3\ \ \ \ \frac{24}{4}=6\ \ \ \frac{24}{1}=24\ \ \ \ \frac{24}{0.5}=48&quot;&gt;&lt;mfrac&gt;&lt;mn&gt;24&lt;/mn&gt;&lt;mn&gt;12&lt;/mn&gt;&lt;/mfrac&gt;&lt;mo&gt;=&lt;/mo&gt;&lt;mn&gt;2&lt;/mn&gt;&lt;mtext&gt;&lt;/mtext&gt;&lt;mtext&gt;&lt;/mtext&gt;&lt;mtext&gt;&lt;/mtext&gt;&lt;mtext&gt;&lt;/mtext&gt;&lt;mfrac&gt;&lt;mn&gt;24&lt;/mn&gt;&lt;mn&gt;8&lt;/mn&gt;&lt;/mfrac&gt;&lt;mo&gt;=&lt;/mo&gt;&lt;mn&gt;3&lt;/mn&gt;&lt;mtext&gt;&lt;/mtext&gt;&lt;mtext&gt;&lt;/mtext&gt;&lt;mtext&gt;&lt;/mtext&gt;&lt;mtext&gt;&lt;/mtext&gt;&lt;mfrac&gt;&lt;mn&gt;24&lt;/mn&gt;&lt;mn&gt;4&lt;/mn&gt;&lt;/mfrac&gt;&lt;mo&gt;=&lt;/mo&gt;&lt;mn&gt;6&lt;/mn&gt;&lt;mtext&gt;&lt;/mtext&gt;&lt;mtext&gt;&lt;/mtext&gt;&lt;mtext&gt;&lt;/mtext&gt;&lt;mfrac&gt;&lt;mn&gt;24&lt;/mn&gt;&lt;mn&gt;1&lt;/mn&gt;&lt;/mfrac&gt;&lt;mo&gt;=&lt;/mo&gt;&lt;mn&gt;24&lt;/mn&gt;&lt;mtext&gt;&lt;/mtext&gt;&lt;mtext&gt;&lt;/mtext&gt;&lt;mtext&gt;&lt;/mtext&gt;&lt;mtext&gt;&lt;/mtext&gt;&lt;mfrac&gt;&lt;mn&gt;24&lt;/mn&gt;&lt;mn&gt;0.5&lt;/mn&gt;&lt;/mfrac&gt;&lt;mo&gt;=&lt;/mo&gt;&lt;mn&gt;48&lt;/mn&gt;&lt;/math&gt;" id="991" name="Google Shape;991;p81" title="24 over 12 equals 2 24 over 8 equals 3 24 over 4 equals 6 24 over 1 equals 24 24 over 0.5 equals 48"/>
          <p:cNvPicPr preferRelativeResize="0"/>
          <p:nvPr/>
        </p:nvPicPr>
        <p:blipFill rotWithShape="1">
          <a:blip r:embed="rId4">
            <a:alphaModFix/>
          </a:blip>
          <a:srcRect b="0" l="0" r="84278" t="0"/>
          <a:stretch/>
        </p:blipFill>
        <p:spPr>
          <a:xfrm>
            <a:off x="546014" y="1924800"/>
            <a:ext cx="1246876" cy="812825"/>
          </a:xfrm>
          <a:prstGeom prst="rect">
            <a:avLst/>
          </a:prstGeom>
          <a:noFill/>
          <a:ln>
            <a:noFill/>
          </a:ln>
        </p:spPr>
      </p:pic>
      <p:pic>
        <p:nvPicPr>
          <p:cNvPr descr="&lt;math xmlns=&quot;http://www.w3.org/1998/Math/MathML&quot; display=&quot;block&quot; data-is-equatio=&quot;1&quot; data-latex=&quot;\frac{24}{12}=2\ \ \ \ \frac{24}{8}=3\ \ \ \ \frac{24}{4}=6\ \ \ \frac{24}{1}=24\ \ \ \ \frac{24}{0.5}=48&quot;&gt;&lt;mfrac&gt;&lt;mn&gt;24&lt;/mn&gt;&lt;mn&gt;12&lt;/mn&gt;&lt;/mfrac&gt;&lt;mo&gt;=&lt;/mo&gt;&lt;mn&gt;2&lt;/mn&gt;&lt;mtext&gt;&lt;/mtext&gt;&lt;mtext&gt;&lt;/mtext&gt;&lt;mtext&gt;&lt;/mtext&gt;&lt;mtext&gt;&lt;/mtext&gt;&lt;mfrac&gt;&lt;mn&gt;24&lt;/mn&gt;&lt;mn&gt;8&lt;/mn&gt;&lt;/mfrac&gt;&lt;mo&gt;=&lt;/mo&gt;&lt;mn&gt;3&lt;/mn&gt;&lt;mtext&gt;&lt;/mtext&gt;&lt;mtext&gt;&lt;/mtext&gt;&lt;mtext&gt;&lt;/mtext&gt;&lt;mtext&gt;&lt;/mtext&gt;&lt;mfrac&gt;&lt;mn&gt;24&lt;/mn&gt;&lt;mn&gt;4&lt;/mn&gt;&lt;/mfrac&gt;&lt;mo&gt;=&lt;/mo&gt;&lt;mn&gt;6&lt;/mn&gt;&lt;mtext&gt;&lt;/mtext&gt;&lt;mtext&gt;&lt;/mtext&gt;&lt;mtext&gt;&lt;/mtext&gt;&lt;mfrac&gt;&lt;mn&gt;24&lt;/mn&gt;&lt;mn&gt;1&lt;/mn&gt;&lt;/mfrac&gt;&lt;mo&gt;=&lt;/mo&gt;&lt;mn&gt;24&lt;/mn&gt;&lt;mtext&gt;&lt;/mtext&gt;&lt;mtext&gt;&lt;/mtext&gt;&lt;mtext&gt;&lt;/mtext&gt;&lt;mtext&gt;&lt;/mtext&gt;&lt;mfrac&gt;&lt;mn&gt;24&lt;/mn&gt;&lt;mn&gt;0.5&lt;/mn&gt;&lt;/mfrac&gt;&lt;mo&gt;=&lt;/mo&gt;&lt;mn&gt;48&lt;/mn&gt;&lt;/math&gt;" id="992" name="Google Shape;992;p81" title="24 over 12 equals 2 24 over 8 equals 3 24 over 4 equals 6 24 over 1 equals 24 24 over 0.5 equals 48"/>
          <p:cNvPicPr preferRelativeResize="0"/>
          <p:nvPr/>
        </p:nvPicPr>
        <p:blipFill rotWithShape="1">
          <a:blip r:embed="rId4">
            <a:alphaModFix/>
          </a:blip>
          <a:srcRect b="-6047" l="18108" r="64836" t="-9586"/>
          <a:stretch/>
        </p:blipFill>
        <p:spPr>
          <a:xfrm>
            <a:off x="1987063" y="1845000"/>
            <a:ext cx="1352601" cy="939900"/>
          </a:xfrm>
          <a:prstGeom prst="rect">
            <a:avLst/>
          </a:prstGeom>
          <a:noFill/>
          <a:ln>
            <a:noFill/>
          </a:ln>
        </p:spPr>
      </p:pic>
      <p:pic>
        <p:nvPicPr>
          <p:cNvPr descr="&lt;math xmlns=&quot;http://www.w3.org/1998/Math/MathML&quot; display=&quot;block&quot; data-is-equatio=&quot;1&quot; data-latex=&quot;\frac{24}{12}=2\ \ \ \ \frac{24}{8}=3\ \ \ \ \frac{24}{4}=6\ \ \ \frac{24}{1}=24\ \ \ \ \frac{24}{0.5}=48&quot;&gt;&lt;mfrac&gt;&lt;mn&gt;24&lt;/mn&gt;&lt;mn&gt;12&lt;/mn&gt;&lt;/mfrac&gt;&lt;mo&gt;=&lt;/mo&gt;&lt;mn&gt;2&lt;/mn&gt;&lt;mtext&gt;&lt;/mtext&gt;&lt;mtext&gt;&lt;/mtext&gt;&lt;mtext&gt;&lt;/mtext&gt;&lt;mtext&gt;&lt;/mtext&gt;&lt;mfrac&gt;&lt;mn&gt;24&lt;/mn&gt;&lt;mn&gt;8&lt;/mn&gt;&lt;/mfrac&gt;&lt;mo&gt;=&lt;/mo&gt;&lt;mn&gt;3&lt;/mn&gt;&lt;mtext&gt;&lt;/mtext&gt;&lt;mtext&gt;&lt;/mtext&gt;&lt;mtext&gt;&lt;/mtext&gt;&lt;mtext&gt;&lt;/mtext&gt;&lt;mfrac&gt;&lt;mn&gt;24&lt;/mn&gt;&lt;mn&gt;4&lt;/mn&gt;&lt;/mfrac&gt;&lt;mo&gt;=&lt;/mo&gt;&lt;mn&gt;6&lt;/mn&gt;&lt;mtext&gt;&lt;/mtext&gt;&lt;mtext&gt;&lt;/mtext&gt;&lt;mtext&gt;&lt;/mtext&gt;&lt;mfrac&gt;&lt;mn&gt;24&lt;/mn&gt;&lt;mn&gt;1&lt;/mn&gt;&lt;/mfrac&gt;&lt;mo&gt;=&lt;/mo&gt;&lt;mn&gt;24&lt;/mn&gt;&lt;mtext&gt;&lt;/mtext&gt;&lt;mtext&gt;&lt;/mtext&gt;&lt;mtext&gt;&lt;/mtext&gt;&lt;mtext&gt;&lt;/mtext&gt;&lt;mfrac&gt;&lt;mn&gt;24&lt;/mn&gt;&lt;mn&gt;0.5&lt;/mn&gt;&lt;/mfrac&gt;&lt;mo&gt;=&lt;/mo&gt;&lt;mn&gt;48&lt;/mn&gt;&lt;/math&gt;" id="993" name="Google Shape;993;p81" title="24 over 12 equals 2 24 over 8 equals 3 24 over 4 equals 6 24 over 1 equals 24 24 over 0.5 equals 48"/>
          <p:cNvPicPr preferRelativeResize="0"/>
          <p:nvPr/>
        </p:nvPicPr>
        <p:blipFill rotWithShape="1">
          <a:blip r:embed="rId4">
            <a:alphaModFix/>
          </a:blip>
          <a:srcRect b="-7816" l="39164" r="43781" t="-7816"/>
          <a:stretch/>
        </p:blipFill>
        <p:spPr>
          <a:xfrm>
            <a:off x="3659179" y="1856133"/>
            <a:ext cx="1352601" cy="939900"/>
          </a:xfrm>
          <a:prstGeom prst="rect">
            <a:avLst/>
          </a:prstGeom>
          <a:noFill/>
          <a:ln>
            <a:noFill/>
          </a:ln>
        </p:spPr>
      </p:pic>
      <p:pic>
        <p:nvPicPr>
          <p:cNvPr descr="&lt;math xmlns=&quot;http://www.w3.org/1998/Math/MathML&quot; display=&quot;block&quot; data-is-equatio=&quot;1&quot; data-latex=&quot;\frac{24}{12}=2\ \ \ \ \frac{24}{8}=3\ \ \ \ \frac{24}{4}=6\ \ \ \frac{24}{1}=24\ \ \ \ \frac{24}{0.5}=48&quot;&gt;&lt;mfrac&gt;&lt;mn&gt;24&lt;/mn&gt;&lt;mn&gt;12&lt;/mn&gt;&lt;/mfrac&gt;&lt;mo&gt;=&lt;/mo&gt;&lt;mn&gt;2&lt;/mn&gt;&lt;mtext&gt;&lt;/mtext&gt;&lt;mtext&gt;&lt;/mtext&gt;&lt;mtext&gt;&lt;/mtext&gt;&lt;mtext&gt;&lt;/mtext&gt;&lt;mfrac&gt;&lt;mn&gt;24&lt;/mn&gt;&lt;mn&gt;8&lt;/mn&gt;&lt;/mfrac&gt;&lt;mo&gt;=&lt;/mo&gt;&lt;mn&gt;3&lt;/mn&gt;&lt;mtext&gt;&lt;/mtext&gt;&lt;mtext&gt;&lt;/mtext&gt;&lt;mtext&gt;&lt;/mtext&gt;&lt;mtext&gt;&lt;/mtext&gt;&lt;mfrac&gt;&lt;mn&gt;24&lt;/mn&gt;&lt;mn&gt;4&lt;/mn&gt;&lt;/mfrac&gt;&lt;mo&gt;=&lt;/mo&gt;&lt;mn&gt;6&lt;/mn&gt;&lt;mtext&gt;&lt;/mtext&gt;&lt;mtext&gt;&lt;/mtext&gt;&lt;mtext&gt;&lt;/mtext&gt;&lt;mfrac&gt;&lt;mn&gt;24&lt;/mn&gt;&lt;mn&gt;1&lt;/mn&gt;&lt;/mfrac&gt;&lt;mo&gt;=&lt;/mo&gt;&lt;mn&gt;24&lt;/mn&gt;&lt;mtext&gt;&lt;/mtext&gt;&lt;mtext&gt;&lt;/mtext&gt;&lt;mtext&gt;&lt;/mtext&gt;&lt;mtext&gt;&lt;/mtext&gt;&lt;mfrac&gt;&lt;mn&gt;24&lt;/mn&gt;&lt;mn&gt;0.5&lt;/mn&gt;&lt;/mfrac&gt;&lt;mo&gt;=&lt;/mo&gt;&lt;mn&gt;48&lt;/mn&gt;&lt;/math&gt;" id="994" name="Google Shape;994;p81" title="24 over 12 equals 2 24 over 8 equals 3 24 over 4 equals 6 24 over 1 equals 24 24 over 0.5 equals 48"/>
          <p:cNvPicPr preferRelativeResize="0"/>
          <p:nvPr/>
        </p:nvPicPr>
        <p:blipFill rotWithShape="1">
          <a:blip r:embed="rId4">
            <a:alphaModFix/>
          </a:blip>
          <a:srcRect b="-7816" l="58994" r="22610" t="-7816"/>
          <a:stretch/>
        </p:blipFill>
        <p:spPr>
          <a:xfrm>
            <a:off x="5233876" y="1842050"/>
            <a:ext cx="1458900" cy="939900"/>
          </a:xfrm>
          <a:prstGeom prst="rect">
            <a:avLst/>
          </a:prstGeom>
          <a:noFill/>
          <a:ln>
            <a:noFill/>
          </a:ln>
        </p:spPr>
      </p:pic>
      <p:pic>
        <p:nvPicPr>
          <p:cNvPr descr="&lt;math xmlns=&quot;http://www.w3.org/1998/Math/MathML&quot; display=&quot;block&quot; data-is-equatio=&quot;1&quot; data-latex=&quot;\frac{24}{12}=2\ \ \ \ \frac{24}{8}=3\ \ \ \ \frac{24}{4}=6\ \ \ \frac{24}{1}=24\ \ \ \ \frac{24}{0.5}=48&quot;&gt;&lt;mfrac&gt;&lt;mn&gt;24&lt;/mn&gt;&lt;mn&gt;12&lt;/mn&gt;&lt;/mfrac&gt;&lt;mo&gt;=&lt;/mo&gt;&lt;mn&gt;2&lt;/mn&gt;&lt;mtext&gt;&lt;/mtext&gt;&lt;mtext&gt;&lt;/mtext&gt;&lt;mtext&gt;&lt;/mtext&gt;&lt;mtext&gt;&lt;/mtext&gt;&lt;mfrac&gt;&lt;mn&gt;24&lt;/mn&gt;&lt;mn&gt;8&lt;/mn&gt;&lt;/mfrac&gt;&lt;mo&gt;=&lt;/mo&gt;&lt;mn&gt;3&lt;/mn&gt;&lt;mtext&gt;&lt;/mtext&gt;&lt;mtext&gt;&lt;/mtext&gt;&lt;mtext&gt;&lt;/mtext&gt;&lt;mtext&gt;&lt;/mtext&gt;&lt;mfrac&gt;&lt;mn&gt;24&lt;/mn&gt;&lt;mn&gt;4&lt;/mn&gt;&lt;/mfrac&gt;&lt;mo&gt;=&lt;/mo&gt;&lt;mn&gt;6&lt;/mn&gt;&lt;mtext&gt;&lt;/mtext&gt;&lt;mtext&gt;&lt;/mtext&gt;&lt;mtext&gt;&lt;/mtext&gt;&lt;mfrac&gt;&lt;mn&gt;24&lt;/mn&gt;&lt;mn&gt;1&lt;/mn&gt;&lt;/mfrac&gt;&lt;mo&gt;=&lt;/mo&gt;&lt;mn&gt;24&lt;/mn&gt;&lt;mtext&gt;&lt;/mtext&gt;&lt;mtext&gt;&lt;/mtext&gt;&lt;mtext&gt;&lt;/mtext&gt;&lt;mtext&gt;&lt;/mtext&gt;&lt;mfrac&gt;&lt;mn&gt;24&lt;/mn&gt;&lt;mn&gt;0.5&lt;/mn&gt;&lt;/mfrac&gt;&lt;mo&gt;=&lt;/mo&gt;&lt;mn&gt;48&lt;/mn&gt;&lt;/math&gt;" id="995" name="Google Shape;995;p81" title="24 over 12 equals 2 24 over 8 equals 3 24 over 4 equals 6 24 over 1 equals 24 24 over 0.5 equals 48"/>
          <p:cNvPicPr preferRelativeResize="0"/>
          <p:nvPr/>
        </p:nvPicPr>
        <p:blipFill rotWithShape="1">
          <a:blip r:embed="rId4">
            <a:alphaModFix/>
          </a:blip>
          <a:srcRect b="-7816" l="80673" r="-965" t="-7816"/>
          <a:stretch/>
        </p:blipFill>
        <p:spPr>
          <a:xfrm>
            <a:off x="6968875" y="1845000"/>
            <a:ext cx="1609425" cy="939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9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1001" name="Google Shape;1001;p82"/>
          <p:cNvSpPr txBox="1"/>
          <p:nvPr>
            <p:ph idx="1" type="body"/>
          </p:nvPr>
        </p:nvSpPr>
        <p:spPr>
          <a:xfrm>
            <a:off x="324000" y="759300"/>
            <a:ext cx="8237700" cy="93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Let’s increase the dividend. What do you think happens to the answers as we increase the dividend?</a:t>
            </a:r>
            <a:endParaRPr/>
          </a:p>
        </p:txBody>
      </p:sp>
      <p:sp>
        <p:nvSpPr>
          <p:cNvPr id="1002" name="Google Shape;1002;p82"/>
          <p:cNvSpPr txBox="1"/>
          <p:nvPr>
            <p:ph idx="1" type="body"/>
          </p:nvPr>
        </p:nvSpPr>
        <p:spPr>
          <a:xfrm>
            <a:off x="324000" y="3155200"/>
            <a:ext cx="8237700" cy="93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As the dividend gets larger, the answer gets bigger. This is because we have more to share.</a:t>
            </a:r>
            <a:endParaRPr/>
          </a:p>
        </p:txBody>
      </p:sp>
      <p:sp>
        <p:nvSpPr>
          <p:cNvPr id="1003" name="Google Shape;1003;p82"/>
          <p:cNvSpPr/>
          <p:nvPr/>
        </p:nvSpPr>
        <p:spPr>
          <a:xfrm>
            <a:off x="3406700" y="1796150"/>
            <a:ext cx="13419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4" name="Google Shape;1004;p82"/>
          <p:cNvSpPr/>
          <p:nvPr/>
        </p:nvSpPr>
        <p:spPr>
          <a:xfrm>
            <a:off x="4989300" y="1796150"/>
            <a:ext cx="15702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5" name="Google Shape;1005;p82"/>
          <p:cNvSpPr/>
          <p:nvPr/>
        </p:nvSpPr>
        <p:spPr>
          <a:xfrm>
            <a:off x="1641250" y="1769750"/>
            <a:ext cx="12936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24}{2}\ \ \ \ \ \ \ \ \ \frac{240}{2}\ \ \ \ \ \ \ \ \ \frac{2400}{2}\ \ \ \ \ \ \ \ \frac{2400}{2}\ \ \ \ \ \ \ \ \ \frac{24\ 000}{2}\ \ &quot;&gt;&lt;mfrac&gt;&lt;mn&gt;24&lt;/mn&gt;&lt;mn&gt;2&lt;/mn&gt;&lt;/mfrac&gt;&lt;mtext&gt;&lt;/mtext&gt;&lt;mtext&gt;&lt;/mtext&gt;&lt;mtext&gt;&lt;/mtext&gt;&lt;mtext&gt;&lt;/mtext&gt;&lt;mtext&gt;&lt;/mtext&gt;&lt;mtext&gt;&lt;/mtext&gt;&lt;mtext&gt;&lt;/mtext&gt;&lt;mtext&gt;&lt;/mtext&gt;&lt;mtext&gt;&lt;/mtext&gt;&lt;mfrac&gt;&lt;mn&gt;240&lt;/mn&gt;&lt;mn&gt;2&lt;/mn&gt;&lt;/mfrac&gt;&lt;mtext&gt;&lt;/mtext&gt;&lt;mtext&gt;&lt;/mtext&gt;&lt;mtext&gt;&lt;/mtext&gt;&lt;mtext&gt;&lt;/mtext&gt;&lt;mtext&gt;&lt;/mtext&gt;&lt;mtext&gt;&lt;/mtext&gt;&lt;mtext&gt;&lt;/mtext&gt;&lt;mtext&gt;&lt;/mtext&gt;&lt;mtext&gt;&lt;/mtext&gt;&lt;mfrac&gt;&lt;mn&gt;2400&lt;/mn&gt;&lt;mn&gt;2&lt;/mn&gt;&lt;/mfrac&gt;&lt;mtext&gt;&lt;/mtext&gt;&lt;mtext&gt;&lt;/mtext&gt;&lt;mtext&gt;&lt;/mtext&gt;&lt;mtext&gt;&lt;/mtext&gt;&lt;mtext&gt;&lt;/mtext&gt;&lt;mtext&gt;&lt;/mtext&gt;&lt;mtext&gt;&lt;/mtext&gt;&lt;mtext&gt;&lt;/mtext&gt;&lt;mfrac&gt;&lt;mn&gt;2400&lt;/mn&gt;&lt;mn&gt;2&lt;/mn&gt;&lt;/mfrac&gt;&lt;mtext&gt;&lt;/mtext&gt;&lt;mtext&gt;&lt;/mtext&gt;&lt;mtext&gt;&lt;/mtext&gt;&lt;mtext&gt;&lt;/mtext&gt;&lt;mtext&gt;&lt;/mtext&gt;&lt;mtext&gt;&lt;/mtext&gt;&lt;mtext&gt;&lt;/mtext&gt;&lt;mtext&gt;&lt;/mtext&gt;&lt;mtext&gt;&lt;/mtext&gt;&lt;mfrac&gt;&lt;mrow&gt;&lt;mn&gt;24&lt;/mn&gt;&lt;mtext&gt;&lt;/mtext&gt;&lt;mn&gt;000&lt;/mn&gt;&lt;/mrow&gt;&lt;mn&gt;2&lt;/mn&gt;&lt;/mfrac&gt;&lt;mtext&gt;&lt;/mtext&gt;&lt;mtext&gt;&lt;/mtext&gt;&lt;/math&gt;" id="1006" name="Google Shape;1006;p82" title="24 over 2 240 over 2 2400 over 2 2400 over 2 the fraction with numerator 24 000 and denominator 2"/>
          <p:cNvPicPr preferRelativeResize="0"/>
          <p:nvPr/>
        </p:nvPicPr>
        <p:blipFill rotWithShape="1">
          <a:blip r:embed="rId3">
            <a:alphaModFix/>
          </a:blip>
          <a:srcRect b="0" l="0" r="47930" t="0"/>
          <a:stretch/>
        </p:blipFill>
        <p:spPr>
          <a:xfrm>
            <a:off x="513725" y="1918525"/>
            <a:ext cx="4112375" cy="832350"/>
          </a:xfrm>
          <a:prstGeom prst="rect">
            <a:avLst/>
          </a:prstGeom>
          <a:noFill/>
          <a:ln>
            <a:noFill/>
          </a:ln>
        </p:spPr>
      </p:pic>
      <p:sp>
        <p:nvSpPr>
          <p:cNvPr id="1007" name="Google Shape;1007;p82"/>
          <p:cNvSpPr/>
          <p:nvPr/>
        </p:nvSpPr>
        <p:spPr>
          <a:xfrm>
            <a:off x="324000" y="1769763"/>
            <a:ext cx="971700" cy="10701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24}{2}\ \ \ \ \ \ \ \ \ \frac{240}{2}\ \ \ \ \ \ \ \ \ \frac{2400}{2}\ \ \ \ \ \ \ \ \frac{2400}{2}\ \ \ \ \ \ \ \ \ \frac{24\ 000}{2}\ \ &quot;&gt;&lt;mfrac&gt;&lt;mn&gt;24&lt;/mn&gt;&lt;mn&gt;2&lt;/mn&gt;&lt;/mfrac&gt;&lt;mtext&gt;&lt;/mtext&gt;&lt;mtext&gt;&lt;/mtext&gt;&lt;mtext&gt;&lt;/mtext&gt;&lt;mtext&gt;&lt;/mtext&gt;&lt;mtext&gt;&lt;/mtext&gt;&lt;mtext&gt;&lt;/mtext&gt;&lt;mtext&gt;&lt;/mtext&gt;&lt;mtext&gt;&lt;/mtext&gt;&lt;mtext&gt;&lt;/mtext&gt;&lt;mfrac&gt;&lt;mn&gt;240&lt;/mn&gt;&lt;mn&gt;2&lt;/mn&gt;&lt;/mfrac&gt;&lt;mtext&gt;&lt;/mtext&gt;&lt;mtext&gt;&lt;/mtext&gt;&lt;mtext&gt;&lt;/mtext&gt;&lt;mtext&gt;&lt;/mtext&gt;&lt;mtext&gt;&lt;/mtext&gt;&lt;mtext&gt;&lt;/mtext&gt;&lt;mtext&gt;&lt;/mtext&gt;&lt;mtext&gt;&lt;/mtext&gt;&lt;mtext&gt;&lt;/mtext&gt;&lt;mfrac&gt;&lt;mn&gt;2400&lt;/mn&gt;&lt;mn&gt;2&lt;/mn&gt;&lt;/mfrac&gt;&lt;mtext&gt;&lt;/mtext&gt;&lt;mtext&gt;&lt;/mtext&gt;&lt;mtext&gt;&lt;/mtext&gt;&lt;mtext&gt;&lt;/mtext&gt;&lt;mtext&gt;&lt;/mtext&gt;&lt;mtext&gt;&lt;/mtext&gt;&lt;mtext&gt;&lt;/mtext&gt;&lt;mtext&gt;&lt;/mtext&gt;&lt;mfrac&gt;&lt;mn&gt;2400&lt;/mn&gt;&lt;mn&gt;2&lt;/mn&gt;&lt;/mfrac&gt;&lt;mtext&gt;&lt;/mtext&gt;&lt;mtext&gt;&lt;/mtext&gt;&lt;mtext&gt;&lt;/mtext&gt;&lt;mtext&gt;&lt;/mtext&gt;&lt;mtext&gt;&lt;/mtext&gt;&lt;mtext&gt;&lt;/mtext&gt;&lt;mtext&gt;&lt;/mtext&gt;&lt;mtext&gt;&lt;/mtext&gt;&lt;mtext&gt;&lt;/mtext&gt;&lt;mfrac&gt;&lt;mrow&gt;&lt;mn&gt;24&lt;/mn&gt;&lt;mtext&gt;&lt;/mtext&gt;&lt;mn&gt;000&lt;/mn&gt;&lt;/mrow&gt;&lt;mn&gt;2&lt;/mn&gt;&lt;/mfrac&gt;&lt;mtext&gt;&lt;/mtext&gt;&lt;mtext&gt;&lt;/mtext&gt;&lt;/math&gt;" id="1008" name="Google Shape;1008;p82" title="24 over 2 240 over 2 2400 over 2 2400 over 2 the fraction with numerator 24 000 and denominator 2"/>
          <p:cNvPicPr preferRelativeResize="0"/>
          <p:nvPr/>
        </p:nvPicPr>
        <p:blipFill rotWithShape="1">
          <a:blip r:embed="rId3">
            <a:alphaModFix/>
          </a:blip>
          <a:srcRect b="0" l="84436" r="-815" t="-8412"/>
          <a:stretch/>
        </p:blipFill>
        <p:spPr>
          <a:xfrm>
            <a:off x="5127600" y="1883513"/>
            <a:ext cx="1293601" cy="902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1014" name="Google Shape;1014;p83"/>
          <p:cNvSpPr txBox="1"/>
          <p:nvPr>
            <p:ph idx="1" type="body"/>
          </p:nvPr>
        </p:nvSpPr>
        <p:spPr>
          <a:xfrm>
            <a:off x="1684800" y="1501850"/>
            <a:ext cx="3284700" cy="93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So when the dividend gets bigger, the answer gets bigger.</a:t>
            </a:r>
            <a:endParaRPr sz="1800"/>
          </a:p>
          <a:p>
            <a:pPr indent="0" lvl="0" marL="0" rtl="0" algn="l">
              <a:spcBef>
                <a:spcPts val="1000"/>
              </a:spcBef>
              <a:spcAft>
                <a:spcPts val="1000"/>
              </a:spcAft>
              <a:buNone/>
            </a:pPr>
            <a:r>
              <a:rPr lang="en-GB" sz="1800"/>
              <a:t>When the divisor gets bigger, the answer gets smaller?</a:t>
            </a:r>
            <a:endParaRPr sz="1800"/>
          </a:p>
        </p:txBody>
      </p:sp>
      <p:pic>
        <p:nvPicPr>
          <p:cNvPr id="1015" name="Google Shape;1015;p83"/>
          <p:cNvPicPr preferRelativeResize="0"/>
          <p:nvPr/>
        </p:nvPicPr>
        <p:blipFill>
          <a:blip r:embed="rId3">
            <a:alphaModFix/>
          </a:blip>
          <a:stretch>
            <a:fillRect/>
          </a:stretch>
        </p:blipFill>
        <p:spPr>
          <a:xfrm flipH="1">
            <a:off x="598237" y="2754562"/>
            <a:ext cx="727175" cy="895749"/>
          </a:xfrm>
          <a:prstGeom prst="rect">
            <a:avLst/>
          </a:prstGeom>
          <a:noFill/>
          <a:ln>
            <a:noFill/>
          </a:ln>
        </p:spPr>
      </p:pic>
      <p:sp>
        <p:nvSpPr>
          <p:cNvPr id="1016" name="Google Shape;1016;p83"/>
          <p:cNvSpPr txBox="1"/>
          <p:nvPr/>
        </p:nvSpPr>
        <p:spPr>
          <a:xfrm>
            <a:off x="547125" y="373672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sz="1800">
              <a:latin typeface="Lexend"/>
              <a:ea typeface="Lexend"/>
              <a:cs typeface="Lexend"/>
              <a:sym typeface="Lexend"/>
            </a:endParaRPr>
          </a:p>
        </p:txBody>
      </p:sp>
      <p:pic>
        <p:nvPicPr>
          <p:cNvPr id="1017" name="Google Shape;1017;p83"/>
          <p:cNvPicPr preferRelativeResize="0"/>
          <p:nvPr/>
        </p:nvPicPr>
        <p:blipFill rotWithShape="1">
          <a:blip r:embed="rId4">
            <a:alphaModFix/>
          </a:blip>
          <a:srcRect b="0" l="0" r="69082" t="56280"/>
          <a:stretch/>
        </p:blipFill>
        <p:spPr>
          <a:xfrm>
            <a:off x="6479613" y="2050138"/>
            <a:ext cx="1415875" cy="1043226"/>
          </a:xfrm>
          <a:prstGeom prst="rect">
            <a:avLst/>
          </a:prstGeom>
          <a:noFill/>
          <a:ln>
            <a:noFill/>
          </a:ln>
        </p:spPr>
      </p:pic>
      <p:sp>
        <p:nvSpPr>
          <p:cNvPr id="1018" name="Google Shape;1018;p83"/>
          <p:cNvSpPr txBox="1"/>
          <p:nvPr>
            <p:ph idx="1" type="body"/>
          </p:nvPr>
        </p:nvSpPr>
        <p:spPr>
          <a:xfrm>
            <a:off x="6700625" y="2392013"/>
            <a:ext cx="1080300" cy="3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Exactly.</a:t>
            </a:r>
            <a:endParaRPr sz="1800"/>
          </a:p>
        </p:txBody>
      </p:sp>
      <p:pic>
        <p:nvPicPr>
          <p:cNvPr id="1019" name="Google Shape;1019;p83"/>
          <p:cNvPicPr preferRelativeResize="0"/>
          <p:nvPr/>
        </p:nvPicPr>
        <p:blipFill rotWithShape="1">
          <a:blip r:embed="rId4">
            <a:alphaModFix/>
          </a:blip>
          <a:srcRect b="0" l="0" r="69082" t="56280"/>
          <a:stretch/>
        </p:blipFill>
        <p:spPr>
          <a:xfrm flipH="1">
            <a:off x="1209298" y="1146900"/>
            <a:ext cx="3983002" cy="2475225"/>
          </a:xfrm>
          <a:prstGeom prst="rect">
            <a:avLst/>
          </a:prstGeom>
          <a:noFill/>
          <a:ln>
            <a:noFill/>
          </a:ln>
        </p:spPr>
      </p:pic>
      <p:pic>
        <p:nvPicPr>
          <p:cNvPr id="1020" name="Google Shape;1020;p83"/>
          <p:cNvPicPr preferRelativeResize="0"/>
          <p:nvPr/>
        </p:nvPicPr>
        <p:blipFill>
          <a:blip r:embed="rId5">
            <a:alphaModFix/>
          </a:blip>
          <a:stretch>
            <a:fillRect/>
          </a:stretch>
        </p:blipFill>
        <p:spPr>
          <a:xfrm>
            <a:off x="7978196" y="2454263"/>
            <a:ext cx="798316" cy="896106"/>
          </a:xfrm>
          <a:prstGeom prst="rect">
            <a:avLst/>
          </a:prstGeom>
          <a:noFill/>
          <a:ln>
            <a:noFill/>
          </a:ln>
        </p:spPr>
      </p:pic>
      <p:sp>
        <p:nvSpPr>
          <p:cNvPr id="1021" name="Google Shape;1021;p83"/>
          <p:cNvSpPr txBox="1"/>
          <p:nvPr/>
        </p:nvSpPr>
        <p:spPr>
          <a:xfrm>
            <a:off x="7934700" y="328997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pic>
        <p:nvPicPr>
          <p:cNvPr id="1026" name="Google Shape;1026;p84"/>
          <p:cNvPicPr preferRelativeResize="0"/>
          <p:nvPr/>
        </p:nvPicPr>
        <p:blipFill rotWithShape="1">
          <a:blip r:embed="rId3">
            <a:alphaModFix/>
          </a:blip>
          <a:srcRect b="0" l="0" r="69082" t="56280"/>
          <a:stretch/>
        </p:blipFill>
        <p:spPr>
          <a:xfrm>
            <a:off x="5478550" y="1583300"/>
            <a:ext cx="2537201" cy="2248774"/>
          </a:xfrm>
          <a:prstGeom prst="rect">
            <a:avLst/>
          </a:prstGeom>
          <a:noFill/>
          <a:ln>
            <a:noFill/>
          </a:ln>
        </p:spPr>
      </p:pic>
      <p:sp>
        <p:nvSpPr>
          <p:cNvPr id="1027" name="Google Shape;1027;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1028" name="Google Shape;1028;p84"/>
          <p:cNvSpPr txBox="1"/>
          <p:nvPr>
            <p:ph idx="1" type="body"/>
          </p:nvPr>
        </p:nvSpPr>
        <p:spPr>
          <a:xfrm>
            <a:off x="5662500" y="1892925"/>
            <a:ext cx="2196000" cy="93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Do you think this is an </a:t>
            </a:r>
            <a:r>
              <a:rPr b="1" lang="en-GB" sz="2100"/>
              <a:t>overestimate</a:t>
            </a:r>
            <a:r>
              <a:rPr lang="en-GB" sz="2100"/>
              <a:t> or </a:t>
            </a:r>
            <a:r>
              <a:rPr b="1" lang="en-GB" sz="2100"/>
              <a:t>underestimate</a:t>
            </a:r>
            <a:r>
              <a:rPr lang="en-GB" sz="2100"/>
              <a:t>?</a:t>
            </a:r>
            <a:endParaRPr sz="2100"/>
          </a:p>
        </p:txBody>
      </p:sp>
      <p:pic>
        <p:nvPicPr>
          <p:cNvPr id="1029" name="Google Shape;1029;p84"/>
          <p:cNvPicPr preferRelativeResize="0"/>
          <p:nvPr/>
        </p:nvPicPr>
        <p:blipFill>
          <a:blip r:embed="rId4">
            <a:alphaModFix/>
          </a:blip>
          <a:stretch>
            <a:fillRect/>
          </a:stretch>
        </p:blipFill>
        <p:spPr>
          <a:xfrm>
            <a:off x="7978196" y="3063863"/>
            <a:ext cx="798316" cy="896106"/>
          </a:xfrm>
          <a:prstGeom prst="rect">
            <a:avLst/>
          </a:prstGeom>
          <a:noFill/>
          <a:ln>
            <a:noFill/>
          </a:ln>
        </p:spPr>
      </p:pic>
      <p:sp>
        <p:nvSpPr>
          <p:cNvPr id="1030" name="Google Shape;1030;p84"/>
          <p:cNvSpPr txBox="1"/>
          <p:nvPr/>
        </p:nvSpPr>
        <p:spPr>
          <a:xfrm>
            <a:off x="7934700" y="389957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descr="&lt;math xmlns=&quot;http://www.w3.org/1998/Math/MathML&quot; display=&quot;block&quot; data-is-equatio=&quot;1&quot; data-latex=&quot;\frac{489}{0.61}\ \approx\frac{490}{0.5}&quot;&gt;&lt;mfrac&gt;&lt;mn&gt;489&lt;/mn&gt;&lt;mn&gt;0.61&lt;/mn&gt;&lt;/mfrac&gt;&lt;mtext&gt;&lt;/mtext&gt;&lt;mo&gt;≈&lt;/mo&gt;&lt;mfrac&gt;&lt;mn&gt;490&lt;/mn&gt;&lt;mn&gt;0.5&lt;/mn&gt;&lt;/mfrac&gt;&lt;/math&gt;" id="1031" name="Google Shape;1031;p84" title="489 over 0.61 almost equals 490 over 0.5"/>
          <p:cNvPicPr preferRelativeResize="0"/>
          <p:nvPr/>
        </p:nvPicPr>
        <p:blipFill>
          <a:blip r:embed="rId5">
            <a:alphaModFix/>
          </a:blip>
          <a:stretch>
            <a:fillRect/>
          </a:stretch>
        </p:blipFill>
        <p:spPr>
          <a:xfrm>
            <a:off x="3316238" y="894725"/>
            <a:ext cx="2087875" cy="832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pic>
        <p:nvPicPr>
          <p:cNvPr id="1037" name="Google Shape;1037;p85"/>
          <p:cNvPicPr preferRelativeResize="0"/>
          <p:nvPr/>
        </p:nvPicPr>
        <p:blipFill>
          <a:blip r:embed="rId3">
            <a:alphaModFix/>
          </a:blip>
          <a:stretch>
            <a:fillRect/>
          </a:stretch>
        </p:blipFill>
        <p:spPr>
          <a:xfrm flipH="1">
            <a:off x="598237" y="3440362"/>
            <a:ext cx="727175" cy="895749"/>
          </a:xfrm>
          <a:prstGeom prst="rect">
            <a:avLst/>
          </a:prstGeom>
          <a:noFill/>
          <a:ln>
            <a:noFill/>
          </a:ln>
        </p:spPr>
      </p:pic>
      <p:sp>
        <p:nvSpPr>
          <p:cNvPr id="1038" name="Google Shape;1038;p85"/>
          <p:cNvSpPr txBox="1"/>
          <p:nvPr/>
        </p:nvSpPr>
        <p:spPr>
          <a:xfrm>
            <a:off x="547125" y="442252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sz="1800">
              <a:latin typeface="Lexend"/>
              <a:ea typeface="Lexend"/>
              <a:cs typeface="Lexend"/>
              <a:sym typeface="Lexend"/>
            </a:endParaRPr>
          </a:p>
        </p:txBody>
      </p:sp>
      <p:pic>
        <p:nvPicPr>
          <p:cNvPr id="1039" name="Google Shape;1039;p85"/>
          <p:cNvPicPr preferRelativeResize="0"/>
          <p:nvPr/>
        </p:nvPicPr>
        <p:blipFill rotWithShape="1">
          <a:blip r:embed="rId4">
            <a:alphaModFix/>
          </a:blip>
          <a:srcRect b="0" l="0" r="69082" t="56280"/>
          <a:stretch/>
        </p:blipFill>
        <p:spPr>
          <a:xfrm flipH="1">
            <a:off x="1325423" y="1695350"/>
            <a:ext cx="3282627" cy="2733525"/>
          </a:xfrm>
          <a:prstGeom prst="rect">
            <a:avLst/>
          </a:prstGeom>
          <a:noFill/>
          <a:ln>
            <a:noFill/>
          </a:ln>
        </p:spPr>
      </p:pic>
      <p:pic>
        <p:nvPicPr>
          <p:cNvPr descr="&lt;math xmlns=&quot;http://www.w3.org/1998/Math/MathML&quot; display=&quot;block&quot; data-is-equatio=&quot;1&quot; data-latex=&quot;\frac{489}{0.61}\ \approx\frac{490}{0.5}&quot;&gt;&lt;mfrac&gt;&lt;mn&gt;489&lt;/mn&gt;&lt;mn&gt;0.61&lt;/mn&gt;&lt;/mfrac&gt;&lt;mtext&gt;&lt;/mtext&gt;&lt;mo&gt;≈&lt;/mo&gt;&lt;mfrac&gt;&lt;mn&gt;490&lt;/mn&gt;&lt;mn&gt;0.5&lt;/mn&gt;&lt;/mfrac&gt;&lt;/math&gt;" id="1040" name="Google Shape;1040;p85" title="489 over 0.61 almost equals 490 over 0.5"/>
          <p:cNvPicPr preferRelativeResize="0"/>
          <p:nvPr/>
        </p:nvPicPr>
        <p:blipFill>
          <a:blip r:embed="rId5">
            <a:alphaModFix/>
          </a:blip>
          <a:stretch>
            <a:fillRect/>
          </a:stretch>
        </p:blipFill>
        <p:spPr>
          <a:xfrm>
            <a:off x="3316238" y="894725"/>
            <a:ext cx="2087875" cy="832700"/>
          </a:xfrm>
          <a:prstGeom prst="rect">
            <a:avLst/>
          </a:prstGeom>
          <a:noFill/>
          <a:ln>
            <a:noFill/>
          </a:ln>
        </p:spPr>
      </p:pic>
      <p:sp>
        <p:nvSpPr>
          <p:cNvPr id="1041" name="Google Shape;1041;p85"/>
          <p:cNvSpPr txBox="1"/>
          <p:nvPr>
            <p:ph idx="1" type="body"/>
          </p:nvPr>
        </p:nvSpPr>
        <p:spPr>
          <a:xfrm>
            <a:off x="1596725" y="2083800"/>
            <a:ext cx="2829600" cy="1786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dividend of 489 is now bigger, so possibly an </a:t>
            </a:r>
            <a:r>
              <a:rPr b="1" lang="en-GB" sz="1800"/>
              <a:t>overestimate. </a:t>
            </a:r>
            <a:r>
              <a:rPr lang="en-GB" sz="1800"/>
              <a:t>The divisor of 0.61 has got smaller, so I am thinking </a:t>
            </a:r>
            <a:r>
              <a:rPr b="1" lang="en-GB" sz="1800"/>
              <a:t>overestimate</a:t>
            </a:r>
            <a:r>
              <a:rPr lang="en-GB" sz="1800"/>
              <a:t>.</a:t>
            </a:r>
            <a:r>
              <a:rPr b="1" lang="en-GB" sz="1800"/>
              <a:t> </a:t>
            </a:r>
            <a:endParaRPr b="1"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86"/>
          <p:cNvSpPr/>
          <p:nvPr/>
        </p:nvSpPr>
        <p:spPr>
          <a:xfrm>
            <a:off x="532043" y="1611419"/>
            <a:ext cx="4044600" cy="2868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7" name="Google Shape;1047;p86"/>
          <p:cNvSpPr/>
          <p:nvPr/>
        </p:nvSpPr>
        <p:spPr>
          <a:xfrm>
            <a:off x="4683900" y="1620000"/>
            <a:ext cx="4044600" cy="2868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8" name="Google Shape;1048;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1049" name="Google Shape;1049;p86"/>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Which calculation shows an </a:t>
            </a:r>
            <a:r>
              <a:rPr b="1" lang="en-GB" sz="2100"/>
              <a:t>overestimate</a:t>
            </a:r>
            <a:r>
              <a:rPr lang="en-GB" sz="2100"/>
              <a:t>? Explain.</a:t>
            </a:r>
            <a:endParaRPr sz="2100"/>
          </a:p>
        </p:txBody>
      </p:sp>
      <p:sp>
        <p:nvSpPr>
          <p:cNvPr id="1050" name="Google Shape;1050;p86"/>
          <p:cNvSpPr txBox="1"/>
          <p:nvPr/>
        </p:nvSpPr>
        <p:spPr>
          <a:xfrm>
            <a:off x="792500" y="1616875"/>
            <a:ext cx="37584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Overall dividend has been rounded up. Expect an </a:t>
            </a:r>
            <a:r>
              <a:rPr b="1" lang="en-GB" sz="1900">
                <a:solidFill>
                  <a:schemeClr val="dk1"/>
                </a:solidFill>
                <a:latin typeface="Kalam"/>
                <a:ea typeface="Kalam"/>
                <a:cs typeface="Kalam"/>
                <a:sym typeface="Kalam"/>
              </a:rPr>
              <a:t>overestimate</a:t>
            </a:r>
            <a:r>
              <a:rPr lang="en-GB" sz="1900">
                <a:solidFill>
                  <a:schemeClr val="dk1"/>
                </a:solidFill>
                <a:latin typeface="Kalam"/>
                <a:ea typeface="Kalam"/>
                <a:cs typeface="Kalam"/>
                <a:sym typeface="Kalam"/>
              </a:rPr>
              <a:t>.</a:t>
            </a:r>
            <a:endParaRPr sz="1900">
              <a:solidFill>
                <a:schemeClr val="dk1"/>
              </a:solidFill>
              <a:latin typeface="Kalam"/>
              <a:ea typeface="Kalam"/>
              <a:cs typeface="Kalam"/>
              <a:sym typeface="Kalam"/>
            </a:endParaRPr>
          </a:p>
        </p:txBody>
      </p:sp>
      <p:pic>
        <p:nvPicPr>
          <p:cNvPr id="1051" name="Google Shape;1051;p86"/>
          <p:cNvPicPr preferRelativeResize="0"/>
          <p:nvPr/>
        </p:nvPicPr>
        <p:blipFill rotWithShape="1">
          <a:blip r:embed="rId3">
            <a:alphaModFix/>
          </a:blip>
          <a:srcRect b="36882" l="61925" r="14808" t="50044"/>
          <a:stretch/>
        </p:blipFill>
        <p:spPr>
          <a:xfrm>
            <a:off x="1999394" y="2288364"/>
            <a:ext cx="1401524" cy="308100"/>
          </a:xfrm>
          <a:prstGeom prst="rect">
            <a:avLst/>
          </a:prstGeom>
          <a:noFill/>
          <a:ln>
            <a:noFill/>
          </a:ln>
        </p:spPr>
      </p:pic>
      <p:pic>
        <p:nvPicPr>
          <p:cNvPr id="1052" name="Google Shape;1052;p86"/>
          <p:cNvPicPr preferRelativeResize="0"/>
          <p:nvPr/>
        </p:nvPicPr>
        <p:blipFill rotWithShape="1">
          <a:blip r:embed="rId3">
            <a:alphaModFix/>
          </a:blip>
          <a:srcRect b="36882" l="61925" r="14808" t="50044"/>
          <a:stretch/>
        </p:blipFill>
        <p:spPr>
          <a:xfrm flipH="1" rot="10800000">
            <a:off x="2196275" y="3240004"/>
            <a:ext cx="1113252" cy="308100"/>
          </a:xfrm>
          <a:prstGeom prst="rect">
            <a:avLst/>
          </a:prstGeom>
          <a:noFill/>
          <a:ln>
            <a:noFill/>
          </a:ln>
        </p:spPr>
      </p:pic>
      <p:sp>
        <p:nvSpPr>
          <p:cNvPr id="1053" name="Google Shape;1053;p86"/>
          <p:cNvSpPr txBox="1"/>
          <p:nvPr/>
        </p:nvSpPr>
        <p:spPr>
          <a:xfrm>
            <a:off x="4827000" y="1655256"/>
            <a:ext cx="37584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Overall dividend has been rounded down. Expect an </a:t>
            </a:r>
            <a:r>
              <a:rPr b="1" lang="en-GB" sz="1900">
                <a:solidFill>
                  <a:schemeClr val="dk1"/>
                </a:solidFill>
                <a:latin typeface="Kalam"/>
                <a:ea typeface="Kalam"/>
                <a:cs typeface="Kalam"/>
                <a:sym typeface="Kalam"/>
              </a:rPr>
              <a:t>underestimate</a:t>
            </a:r>
            <a:r>
              <a:rPr lang="en-GB" sz="1900">
                <a:solidFill>
                  <a:schemeClr val="dk1"/>
                </a:solidFill>
                <a:latin typeface="Kalam"/>
                <a:ea typeface="Kalam"/>
                <a:cs typeface="Kalam"/>
                <a:sym typeface="Kalam"/>
              </a:rPr>
              <a:t>. </a:t>
            </a:r>
            <a:endParaRPr b="1" sz="1900">
              <a:solidFill>
                <a:schemeClr val="dk1"/>
              </a:solidFill>
              <a:latin typeface="Kalam"/>
              <a:ea typeface="Kalam"/>
              <a:cs typeface="Kalam"/>
              <a:sym typeface="Kalam"/>
            </a:endParaRPr>
          </a:p>
        </p:txBody>
      </p:sp>
      <p:pic>
        <p:nvPicPr>
          <p:cNvPr id="1054" name="Google Shape;1054;p86"/>
          <p:cNvPicPr preferRelativeResize="0"/>
          <p:nvPr/>
        </p:nvPicPr>
        <p:blipFill rotWithShape="1">
          <a:blip r:embed="rId3">
            <a:alphaModFix/>
          </a:blip>
          <a:srcRect b="36882" l="61925" r="14808" t="50044"/>
          <a:stretch/>
        </p:blipFill>
        <p:spPr>
          <a:xfrm>
            <a:off x="6207542" y="2282789"/>
            <a:ext cx="1632648" cy="308100"/>
          </a:xfrm>
          <a:prstGeom prst="rect">
            <a:avLst/>
          </a:prstGeom>
          <a:noFill/>
          <a:ln>
            <a:noFill/>
          </a:ln>
        </p:spPr>
      </p:pic>
      <p:sp>
        <p:nvSpPr>
          <p:cNvPr id="1055" name="Google Shape;1055;p86"/>
          <p:cNvSpPr txBox="1"/>
          <p:nvPr/>
        </p:nvSpPr>
        <p:spPr>
          <a:xfrm>
            <a:off x="649400" y="3493050"/>
            <a:ext cx="37584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The divisor has been rounded down. Expect an </a:t>
            </a:r>
            <a:r>
              <a:rPr b="1" lang="en-GB" sz="1900">
                <a:solidFill>
                  <a:schemeClr val="dk1"/>
                </a:solidFill>
                <a:latin typeface="Kalam"/>
                <a:ea typeface="Kalam"/>
                <a:cs typeface="Kalam"/>
                <a:sym typeface="Kalam"/>
              </a:rPr>
              <a:t>overestimate.</a:t>
            </a:r>
            <a:endParaRPr b="1" sz="1900">
              <a:solidFill>
                <a:schemeClr val="dk1"/>
              </a:solidFill>
              <a:latin typeface="Kalam"/>
              <a:ea typeface="Kalam"/>
              <a:cs typeface="Kalam"/>
              <a:sym typeface="Kalam"/>
            </a:endParaRPr>
          </a:p>
        </p:txBody>
      </p:sp>
      <p:sp>
        <p:nvSpPr>
          <p:cNvPr id="1056" name="Google Shape;1056;p86"/>
          <p:cNvSpPr txBox="1"/>
          <p:nvPr/>
        </p:nvSpPr>
        <p:spPr>
          <a:xfrm>
            <a:off x="4992081" y="3469531"/>
            <a:ext cx="37584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The divisor has been rounded up. Expect an </a:t>
            </a:r>
            <a:r>
              <a:rPr b="1" lang="en-GB" sz="1900">
                <a:solidFill>
                  <a:schemeClr val="dk1"/>
                </a:solidFill>
                <a:latin typeface="Kalam"/>
                <a:ea typeface="Kalam"/>
                <a:cs typeface="Kalam"/>
                <a:sym typeface="Kalam"/>
              </a:rPr>
              <a:t>underestimate.</a:t>
            </a:r>
            <a:endParaRPr b="1" sz="1900">
              <a:solidFill>
                <a:schemeClr val="dk1"/>
              </a:solidFill>
              <a:latin typeface="Kalam"/>
              <a:ea typeface="Kalam"/>
              <a:cs typeface="Kalam"/>
              <a:sym typeface="Kalam"/>
            </a:endParaRPr>
          </a:p>
        </p:txBody>
      </p:sp>
      <p:pic>
        <p:nvPicPr>
          <p:cNvPr id="1057" name="Google Shape;1057;p86"/>
          <p:cNvPicPr preferRelativeResize="0"/>
          <p:nvPr/>
        </p:nvPicPr>
        <p:blipFill rotWithShape="1">
          <a:blip r:embed="rId3">
            <a:alphaModFix/>
          </a:blip>
          <a:srcRect b="36882" l="61925" r="14808" t="50044"/>
          <a:stretch/>
        </p:blipFill>
        <p:spPr>
          <a:xfrm flipH="1" rot="10800000">
            <a:off x="6401875" y="3258900"/>
            <a:ext cx="1230152" cy="308100"/>
          </a:xfrm>
          <a:prstGeom prst="rect">
            <a:avLst/>
          </a:prstGeom>
          <a:noFill/>
          <a:ln>
            <a:noFill/>
          </a:ln>
        </p:spPr>
      </p:pic>
      <p:sp>
        <p:nvSpPr>
          <p:cNvPr id="1058" name="Google Shape;1058;p86"/>
          <p:cNvSpPr txBox="1"/>
          <p:nvPr/>
        </p:nvSpPr>
        <p:spPr>
          <a:xfrm>
            <a:off x="357400" y="1208088"/>
            <a:ext cx="47910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This calculation shows an </a:t>
            </a:r>
            <a:r>
              <a:rPr b="1" lang="en-GB" sz="1900">
                <a:solidFill>
                  <a:schemeClr val="dk1"/>
                </a:solidFill>
                <a:latin typeface="Kalam"/>
                <a:ea typeface="Kalam"/>
                <a:cs typeface="Kalam"/>
                <a:sym typeface="Kalam"/>
              </a:rPr>
              <a:t>overestimate</a:t>
            </a:r>
            <a:r>
              <a:rPr lang="en-GB" sz="1900">
                <a:solidFill>
                  <a:schemeClr val="dk1"/>
                </a:solidFill>
                <a:latin typeface="Kalam"/>
                <a:ea typeface="Kalam"/>
                <a:cs typeface="Kalam"/>
                <a:sym typeface="Kalam"/>
              </a:rPr>
              <a:t>.</a:t>
            </a:r>
            <a:endParaRPr sz="19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56.9+\ 19.8}{17.1}\ \approx\frac{60+20}{15}\ \ \ \ \ \ \ \frac{56.9+\ 23.2}{17.1}\ \approx\frac{50+\ 20}{20}\ &quot;&gt;&lt;mfrac&gt;&lt;mrow&gt;&lt;mn&gt;56.9&lt;/mn&gt;&lt;mo&gt;+&lt;/mo&gt;&lt;mtext&gt;&lt;/mtext&gt;&lt;mn&gt;19.8&lt;/mn&gt;&lt;/mrow&gt;&lt;mn&gt;17.1&lt;/mn&gt;&lt;/mfrac&gt;&lt;mtext&gt;&lt;/mtext&gt;&lt;mo&gt;≈&lt;/mo&gt;&lt;mfrac&gt;&lt;mrow&gt;&lt;mn&gt;60&lt;/mn&gt;&lt;mo&gt;+&lt;/mo&gt;&lt;mn&gt;20&lt;/mn&gt;&lt;/mrow&gt;&lt;mn&gt;15&lt;/mn&gt;&lt;/mfrac&gt;&lt;mtext&gt;&lt;/mtext&gt;&lt;mtext&gt;&lt;/mtext&gt;&lt;mtext&gt;&lt;/mtext&gt;&lt;mtext&gt;&lt;/mtext&gt;&lt;mtext&gt;&lt;/mtext&gt;&lt;mtext&gt;&lt;/mtext&gt;&lt;mtext&gt;&lt;/mtext&gt;&lt;mfrac&gt;&lt;mrow&gt;&lt;mn&gt;56.9&lt;/mn&gt;&lt;mo&gt;+&lt;/mo&gt;&lt;mtext&gt;&lt;/mtext&gt;&lt;mn&gt;23.2&lt;/mn&gt;&lt;/mrow&gt;&lt;mn&gt;17.1&lt;/mn&gt;&lt;/mfrac&gt;&lt;mtext&gt;&lt;/mtext&gt;&lt;mo&gt;≈&lt;/mo&gt;&lt;mfrac&gt;&lt;mrow&gt;&lt;mn&gt;50&lt;/mn&gt;&lt;mo&gt;+&lt;/mo&gt;&lt;mtext&gt;&lt;/mtext&gt;&lt;mn&gt;20&lt;/mn&gt;&lt;/mrow&gt;&lt;mn&gt;20&lt;/mn&gt;&lt;/mfrac&gt;&lt;mtext&gt;&lt;/mtext&gt;&lt;/math&gt;" id="1059" name="Google Shape;1059;p86" title="the fraction with numerator 56.9 plus 19.8 and denominator 17.1 almost equals the fraction with numerator 60 plus 20 and denominator 15 the fraction with numerator 56.9 plus 23.2 and denominator 17.1 almost equals the fraction with numerator 50 plus 20 and denominator 20"/>
          <p:cNvPicPr preferRelativeResize="0"/>
          <p:nvPr/>
        </p:nvPicPr>
        <p:blipFill>
          <a:blip r:embed="rId4">
            <a:alphaModFix/>
          </a:blip>
          <a:stretch>
            <a:fillRect/>
          </a:stretch>
        </p:blipFill>
        <p:spPr>
          <a:xfrm>
            <a:off x="700350" y="2657190"/>
            <a:ext cx="7895697" cy="746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pic>
        <p:nvPicPr>
          <p:cNvPr id="1065" name="Google Shape;1065;p87"/>
          <p:cNvPicPr preferRelativeResize="0"/>
          <p:nvPr/>
        </p:nvPicPr>
        <p:blipFill rotWithShape="1">
          <a:blip r:embed="rId3">
            <a:alphaModFix/>
          </a:blip>
          <a:srcRect b="0" l="0" r="69082" t="56280"/>
          <a:stretch/>
        </p:blipFill>
        <p:spPr>
          <a:xfrm flipH="1">
            <a:off x="1465251" y="655150"/>
            <a:ext cx="3752049" cy="2455026"/>
          </a:xfrm>
          <a:prstGeom prst="rect">
            <a:avLst/>
          </a:prstGeom>
          <a:noFill/>
          <a:ln>
            <a:noFill/>
          </a:ln>
        </p:spPr>
      </p:pic>
      <p:pic>
        <p:nvPicPr>
          <p:cNvPr id="1066" name="Google Shape;1066;p87"/>
          <p:cNvPicPr preferRelativeResize="0"/>
          <p:nvPr/>
        </p:nvPicPr>
        <p:blipFill>
          <a:blip r:embed="rId4">
            <a:alphaModFix/>
          </a:blip>
          <a:stretch>
            <a:fillRect/>
          </a:stretch>
        </p:blipFill>
        <p:spPr>
          <a:xfrm flipH="1">
            <a:off x="600701" y="1947124"/>
            <a:ext cx="788350" cy="1016564"/>
          </a:xfrm>
          <a:prstGeom prst="rect">
            <a:avLst/>
          </a:prstGeom>
          <a:noFill/>
          <a:ln>
            <a:noFill/>
          </a:ln>
        </p:spPr>
      </p:pic>
      <p:sp>
        <p:nvSpPr>
          <p:cNvPr id="1067" name="Google Shape;1067;p87"/>
          <p:cNvSpPr txBox="1"/>
          <p:nvPr/>
        </p:nvSpPr>
        <p:spPr>
          <a:xfrm>
            <a:off x="657500" y="29717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sp>
        <p:nvSpPr>
          <p:cNvPr id="1068" name="Google Shape;1068;p87"/>
          <p:cNvSpPr txBox="1"/>
          <p:nvPr/>
        </p:nvSpPr>
        <p:spPr>
          <a:xfrm>
            <a:off x="1684800" y="907200"/>
            <a:ext cx="3352200" cy="82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Let me guess, when we round the dividend up and round the divisor up or vice versa, it is difficult to tell if it is an </a:t>
            </a:r>
            <a:r>
              <a:rPr b="1" lang="en-GB" sz="1800">
                <a:solidFill>
                  <a:schemeClr val="dk1"/>
                </a:solidFill>
                <a:latin typeface="Lexend"/>
                <a:ea typeface="Lexend"/>
                <a:cs typeface="Lexend"/>
                <a:sym typeface="Lexend"/>
              </a:rPr>
              <a:t>overestimate</a:t>
            </a:r>
            <a:r>
              <a:rPr lang="en-GB" sz="1800">
                <a:solidFill>
                  <a:schemeClr val="dk1"/>
                </a:solidFill>
                <a:latin typeface="Lexend"/>
                <a:ea typeface="Lexend"/>
                <a:cs typeface="Lexend"/>
                <a:sym typeface="Lexend"/>
              </a:rPr>
              <a:t> or </a:t>
            </a:r>
            <a:r>
              <a:rPr b="1" lang="en-GB" sz="1800">
                <a:solidFill>
                  <a:schemeClr val="dk1"/>
                </a:solidFill>
                <a:latin typeface="Lexend"/>
                <a:ea typeface="Lexend"/>
                <a:cs typeface="Lexend"/>
                <a:sym typeface="Lexend"/>
              </a:rPr>
              <a:t>underestimate</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pic>
        <p:nvPicPr>
          <p:cNvPr id="1069" name="Google Shape;1069;p87"/>
          <p:cNvPicPr preferRelativeResize="0"/>
          <p:nvPr/>
        </p:nvPicPr>
        <p:blipFill>
          <a:blip r:embed="rId5">
            <a:alphaModFix/>
          </a:blip>
          <a:stretch>
            <a:fillRect/>
          </a:stretch>
        </p:blipFill>
        <p:spPr>
          <a:xfrm>
            <a:off x="7553321" y="1898075"/>
            <a:ext cx="798316" cy="896106"/>
          </a:xfrm>
          <a:prstGeom prst="rect">
            <a:avLst/>
          </a:prstGeom>
          <a:noFill/>
          <a:ln>
            <a:noFill/>
          </a:ln>
        </p:spPr>
      </p:pic>
      <p:sp>
        <p:nvSpPr>
          <p:cNvPr id="1070" name="Google Shape;1070;p87"/>
          <p:cNvSpPr txBox="1"/>
          <p:nvPr/>
        </p:nvSpPr>
        <p:spPr>
          <a:xfrm>
            <a:off x="7509825" y="273378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grpSp>
        <p:nvGrpSpPr>
          <p:cNvPr id="1071" name="Google Shape;1071;p87"/>
          <p:cNvGrpSpPr/>
          <p:nvPr/>
        </p:nvGrpSpPr>
        <p:grpSpPr>
          <a:xfrm>
            <a:off x="5856787" y="1080001"/>
            <a:ext cx="1755994" cy="1461018"/>
            <a:chOff x="5054247" y="557274"/>
            <a:chExt cx="2399555" cy="1428728"/>
          </a:xfrm>
        </p:grpSpPr>
        <p:pic>
          <p:nvPicPr>
            <p:cNvPr id="1072" name="Google Shape;1072;p87"/>
            <p:cNvPicPr preferRelativeResize="0"/>
            <p:nvPr/>
          </p:nvPicPr>
          <p:blipFill rotWithShape="1">
            <a:blip r:embed="rId3">
              <a:alphaModFix/>
            </a:blip>
            <a:srcRect b="0" l="0" r="69082" t="56280"/>
            <a:stretch/>
          </p:blipFill>
          <p:spPr>
            <a:xfrm>
              <a:off x="5054247" y="557274"/>
              <a:ext cx="2399555" cy="1428728"/>
            </a:xfrm>
            <a:prstGeom prst="rect">
              <a:avLst/>
            </a:prstGeom>
            <a:noFill/>
            <a:ln>
              <a:noFill/>
            </a:ln>
          </p:spPr>
        </p:pic>
        <p:sp>
          <p:nvSpPr>
            <p:cNvPr id="1073" name="Google Shape;1073;p87"/>
            <p:cNvSpPr txBox="1"/>
            <p:nvPr/>
          </p:nvSpPr>
          <p:spPr>
            <a:xfrm>
              <a:off x="5165613" y="793821"/>
              <a:ext cx="2176800" cy="7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Lexend"/>
                  <a:ea typeface="Lexend"/>
                  <a:cs typeface="Lexend"/>
                  <a:sym typeface="Lexend"/>
                </a:rPr>
                <a:t>You are right again Andeep!</a:t>
              </a:r>
              <a:endParaRPr sz="1700">
                <a:solidFill>
                  <a:schemeClr val="dk1"/>
                </a:solidFill>
                <a:latin typeface="Lexend"/>
                <a:ea typeface="Lexend"/>
                <a:cs typeface="Lexend"/>
                <a:sym typeface="Lexend"/>
              </a:endParaRPr>
            </a:p>
          </p:txBody>
        </p:sp>
      </p:grpSp>
      <p:sp>
        <p:nvSpPr>
          <p:cNvPr id="1074" name="Google Shape;1074;p87"/>
          <p:cNvSpPr txBox="1"/>
          <p:nvPr/>
        </p:nvSpPr>
        <p:spPr>
          <a:xfrm>
            <a:off x="600700" y="3477600"/>
            <a:ext cx="7541100" cy="8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Do you think you can explain why? </a:t>
            </a:r>
            <a:endParaRPr b="1" sz="2200">
              <a:solidFill>
                <a:schemeClr val="dk1"/>
              </a:solidFill>
              <a:latin typeface="Lexend"/>
              <a:ea typeface="Lexend"/>
              <a:cs typeface="Lexend"/>
              <a:sym typeface="Lexend"/>
            </a:endParaRPr>
          </a:p>
        </p:txBody>
      </p:sp>
      <p:sp>
        <p:nvSpPr>
          <p:cNvPr id="1075" name="Google Shape;1075;p87"/>
          <p:cNvSpPr txBox="1"/>
          <p:nvPr/>
        </p:nvSpPr>
        <p:spPr>
          <a:xfrm>
            <a:off x="489125" y="3780000"/>
            <a:ext cx="7885200" cy="11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As a result of rounding or truncating, it is unclear how much the difference is between the </a:t>
            </a:r>
            <a:r>
              <a:rPr b="1" lang="en-GB" sz="1900">
                <a:solidFill>
                  <a:schemeClr val="dk1"/>
                </a:solidFill>
                <a:latin typeface="Kalam"/>
                <a:ea typeface="Kalam"/>
                <a:cs typeface="Kalam"/>
                <a:sym typeface="Kalam"/>
              </a:rPr>
              <a:t>overestimate </a:t>
            </a:r>
            <a:r>
              <a:rPr lang="en-GB" sz="1900">
                <a:solidFill>
                  <a:schemeClr val="dk1"/>
                </a:solidFill>
                <a:latin typeface="Kalam"/>
                <a:ea typeface="Kalam"/>
                <a:cs typeface="Kalam"/>
                <a:sym typeface="Kalam"/>
              </a:rPr>
              <a:t>and </a:t>
            </a:r>
            <a:r>
              <a:rPr b="1" lang="en-GB" sz="1900">
                <a:solidFill>
                  <a:schemeClr val="dk1"/>
                </a:solidFill>
                <a:latin typeface="Kalam"/>
                <a:ea typeface="Kalam"/>
                <a:cs typeface="Kalam"/>
                <a:sym typeface="Kalam"/>
              </a:rPr>
              <a:t>underestimate </a:t>
            </a:r>
            <a:r>
              <a:rPr lang="en-GB" sz="1900">
                <a:solidFill>
                  <a:schemeClr val="dk1"/>
                </a:solidFill>
                <a:latin typeface="Kalam"/>
                <a:ea typeface="Kalam"/>
                <a:cs typeface="Kalam"/>
                <a:sym typeface="Kalam"/>
              </a:rPr>
              <a:t>of a divisor or dividend will be. </a:t>
            </a:r>
            <a:endParaRPr b="1" sz="19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88"/>
          <p:cNvSpPr txBox="1"/>
          <p:nvPr>
            <p:ph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Put a tick if the the statement is true.</a:t>
            </a:r>
            <a:endParaRPr/>
          </a:p>
        </p:txBody>
      </p:sp>
      <p:sp>
        <p:nvSpPr>
          <p:cNvPr id="1081" name="Google Shape;1081;p88"/>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1082" name="Google Shape;1082;p88"/>
          <p:cNvSpPr txBox="1"/>
          <p:nvPr/>
        </p:nvSpPr>
        <p:spPr>
          <a:xfrm>
            <a:off x="849525" y="1407300"/>
            <a:ext cx="5963700" cy="9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Rounded up        gives an </a:t>
            </a:r>
            <a:r>
              <a:rPr b="1" lang="en-GB" sz="2200">
                <a:solidFill>
                  <a:schemeClr val="dk1"/>
                </a:solidFill>
                <a:latin typeface="Lexend"/>
                <a:ea typeface="Lexend"/>
                <a:cs typeface="Lexend"/>
                <a:sym typeface="Lexend"/>
              </a:rPr>
              <a:t>overestimate </a:t>
            </a:r>
            <a:r>
              <a:rPr lang="en-GB" sz="2200">
                <a:solidFill>
                  <a:schemeClr val="dk1"/>
                </a:solidFill>
                <a:latin typeface="Lexend"/>
                <a:ea typeface="Lexend"/>
                <a:cs typeface="Lexend"/>
                <a:sym typeface="Lexend"/>
              </a:rPr>
              <a:t>Rounded down</a:t>
            </a:r>
            <a:endParaRPr sz="2200">
              <a:solidFill>
                <a:schemeClr val="dk1"/>
              </a:solidFill>
              <a:latin typeface="Lexend"/>
              <a:ea typeface="Lexend"/>
              <a:cs typeface="Lexend"/>
              <a:sym typeface="Lexend"/>
            </a:endParaRPr>
          </a:p>
        </p:txBody>
      </p:sp>
      <p:cxnSp>
        <p:nvCxnSpPr>
          <p:cNvPr id="1083" name="Google Shape;1083;p88"/>
          <p:cNvCxnSpPr/>
          <p:nvPr/>
        </p:nvCxnSpPr>
        <p:spPr>
          <a:xfrm>
            <a:off x="849525" y="1844995"/>
            <a:ext cx="2025000" cy="0"/>
          </a:xfrm>
          <a:prstGeom prst="straightConnector1">
            <a:avLst/>
          </a:prstGeom>
          <a:noFill/>
          <a:ln cap="flat" cmpd="sng" w="19050">
            <a:solidFill>
              <a:schemeClr val="dk1"/>
            </a:solidFill>
            <a:prstDash val="solid"/>
            <a:round/>
            <a:headEnd len="med" w="med" type="none"/>
            <a:tailEnd len="med" w="med" type="none"/>
          </a:ln>
        </p:spPr>
      </p:cxnSp>
      <p:sp>
        <p:nvSpPr>
          <p:cNvPr id="1084" name="Google Shape;1084;p88"/>
          <p:cNvSpPr txBox="1"/>
          <p:nvPr/>
        </p:nvSpPr>
        <p:spPr>
          <a:xfrm>
            <a:off x="849525" y="2278800"/>
            <a:ext cx="7359600" cy="9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Rounded down       gives an </a:t>
            </a:r>
            <a:r>
              <a:rPr b="1" lang="en-GB" sz="2200">
                <a:solidFill>
                  <a:schemeClr val="dk1"/>
                </a:solidFill>
                <a:latin typeface="Lexend"/>
                <a:ea typeface="Lexend"/>
                <a:cs typeface="Lexend"/>
                <a:sym typeface="Lexend"/>
              </a:rPr>
              <a:t>underestimate </a:t>
            </a:r>
            <a:endParaRPr b="1"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Rounded up</a:t>
            </a:r>
            <a:endParaRPr sz="2200">
              <a:solidFill>
                <a:schemeClr val="dk1"/>
              </a:solidFill>
              <a:latin typeface="Lexend"/>
              <a:ea typeface="Lexend"/>
              <a:cs typeface="Lexend"/>
              <a:sym typeface="Lexend"/>
            </a:endParaRPr>
          </a:p>
        </p:txBody>
      </p:sp>
      <p:cxnSp>
        <p:nvCxnSpPr>
          <p:cNvPr id="1085" name="Google Shape;1085;p88"/>
          <p:cNvCxnSpPr/>
          <p:nvPr/>
        </p:nvCxnSpPr>
        <p:spPr>
          <a:xfrm>
            <a:off x="875268" y="2716495"/>
            <a:ext cx="2025000" cy="0"/>
          </a:xfrm>
          <a:prstGeom prst="straightConnector1">
            <a:avLst/>
          </a:prstGeom>
          <a:noFill/>
          <a:ln cap="flat" cmpd="sng" w="19050">
            <a:solidFill>
              <a:schemeClr val="dk1"/>
            </a:solidFill>
            <a:prstDash val="solid"/>
            <a:round/>
            <a:headEnd len="med" w="med" type="none"/>
            <a:tailEnd len="med" w="med" type="none"/>
          </a:ln>
        </p:spPr>
      </p:cxnSp>
      <p:sp>
        <p:nvSpPr>
          <p:cNvPr id="1086" name="Google Shape;1086;p88"/>
          <p:cNvSpPr txBox="1"/>
          <p:nvPr/>
        </p:nvSpPr>
        <p:spPr>
          <a:xfrm>
            <a:off x="849525" y="3097800"/>
            <a:ext cx="7359600" cy="9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Rounded down      is hard to tell</a:t>
            </a:r>
            <a:r>
              <a:rPr b="1" lang="en-GB" sz="2200">
                <a:solidFill>
                  <a:schemeClr val="dk1"/>
                </a:solidFill>
                <a:latin typeface="Lexend"/>
                <a:ea typeface="Lexend"/>
                <a:cs typeface="Lexend"/>
                <a:sym typeface="Lexend"/>
              </a:rPr>
              <a:t> </a:t>
            </a:r>
            <a:endParaRPr b="1"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Rounded down</a:t>
            </a:r>
            <a:endParaRPr sz="2200">
              <a:solidFill>
                <a:schemeClr val="dk1"/>
              </a:solidFill>
              <a:latin typeface="Lexend"/>
              <a:ea typeface="Lexend"/>
              <a:cs typeface="Lexend"/>
              <a:sym typeface="Lexend"/>
            </a:endParaRPr>
          </a:p>
        </p:txBody>
      </p:sp>
      <p:cxnSp>
        <p:nvCxnSpPr>
          <p:cNvPr id="1087" name="Google Shape;1087;p88"/>
          <p:cNvCxnSpPr/>
          <p:nvPr/>
        </p:nvCxnSpPr>
        <p:spPr>
          <a:xfrm>
            <a:off x="917943" y="3535489"/>
            <a:ext cx="2025000" cy="0"/>
          </a:xfrm>
          <a:prstGeom prst="straightConnector1">
            <a:avLst/>
          </a:prstGeom>
          <a:noFill/>
          <a:ln cap="flat" cmpd="sng" w="19050">
            <a:solidFill>
              <a:schemeClr val="dk1"/>
            </a:solidFill>
            <a:prstDash val="solid"/>
            <a:round/>
            <a:headEnd len="med" w="med" type="none"/>
            <a:tailEnd len="med" w="med" type="none"/>
          </a:ln>
        </p:spPr>
      </p:cxnSp>
      <p:sp>
        <p:nvSpPr>
          <p:cNvPr id="1088" name="Google Shape;1088;p88"/>
          <p:cNvSpPr txBox="1"/>
          <p:nvPr/>
        </p:nvSpPr>
        <p:spPr>
          <a:xfrm>
            <a:off x="849525" y="3916800"/>
            <a:ext cx="7359600" cy="9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Rounded up      is hard to tell</a:t>
            </a:r>
            <a:r>
              <a:rPr b="1" lang="en-GB" sz="2200">
                <a:solidFill>
                  <a:schemeClr val="dk1"/>
                </a:solidFill>
                <a:latin typeface="Lexend"/>
                <a:ea typeface="Lexend"/>
                <a:cs typeface="Lexend"/>
                <a:sym typeface="Lexend"/>
              </a:rPr>
              <a:t> </a:t>
            </a:r>
            <a:endParaRPr b="1"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Rounded up</a:t>
            </a:r>
            <a:endParaRPr sz="2200">
              <a:solidFill>
                <a:schemeClr val="dk1"/>
              </a:solidFill>
              <a:latin typeface="Lexend"/>
              <a:ea typeface="Lexend"/>
              <a:cs typeface="Lexend"/>
              <a:sym typeface="Lexend"/>
            </a:endParaRPr>
          </a:p>
        </p:txBody>
      </p:sp>
      <p:cxnSp>
        <p:nvCxnSpPr>
          <p:cNvPr id="1089" name="Google Shape;1089;p88"/>
          <p:cNvCxnSpPr/>
          <p:nvPr/>
        </p:nvCxnSpPr>
        <p:spPr>
          <a:xfrm>
            <a:off x="976981" y="4348976"/>
            <a:ext cx="1668000" cy="0"/>
          </a:xfrm>
          <a:prstGeom prst="straightConnector1">
            <a:avLst/>
          </a:prstGeom>
          <a:noFill/>
          <a:ln cap="flat" cmpd="sng" w="19050">
            <a:solidFill>
              <a:schemeClr val="dk1"/>
            </a:solidFill>
            <a:prstDash val="solid"/>
            <a:round/>
            <a:headEnd len="med" w="med" type="none"/>
            <a:tailEnd len="med" w="med" type="none"/>
          </a:ln>
        </p:spPr>
      </p:cxnSp>
      <p:pic>
        <p:nvPicPr>
          <p:cNvPr id="1090" name="Google Shape;1090;p88"/>
          <p:cNvPicPr preferRelativeResize="0"/>
          <p:nvPr/>
        </p:nvPicPr>
        <p:blipFill>
          <a:blip r:embed="rId3">
            <a:alphaModFix/>
          </a:blip>
          <a:stretch>
            <a:fillRect/>
          </a:stretch>
        </p:blipFill>
        <p:spPr>
          <a:xfrm>
            <a:off x="6417233" y="1410450"/>
            <a:ext cx="396000" cy="419100"/>
          </a:xfrm>
          <a:prstGeom prst="rect">
            <a:avLst/>
          </a:prstGeom>
          <a:noFill/>
          <a:ln>
            <a:noFill/>
          </a:ln>
        </p:spPr>
      </p:pic>
      <p:pic>
        <p:nvPicPr>
          <p:cNvPr id="1091" name="Google Shape;1091;p88"/>
          <p:cNvPicPr preferRelativeResize="0"/>
          <p:nvPr/>
        </p:nvPicPr>
        <p:blipFill>
          <a:blip r:embed="rId3">
            <a:alphaModFix/>
          </a:blip>
          <a:stretch>
            <a:fillRect/>
          </a:stretch>
        </p:blipFill>
        <p:spPr>
          <a:xfrm>
            <a:off x="6813233" y="2297400"/>
            <a:ext cx="396000" cy="419100"/>
          </a:xfrm>
          <a:prstGeom prst="rect">
            <a:avLst/>
          </a:prstGeom>
          <a:noFill/>
          <a:ln>
            <a:noFill/>
          </a:ln>
        </p:spPr>
      </p:pic>
      <p:pic>
        <p:nvPicPr>
          <p:cNvPr id="1092" name="Google Shape;1092;p88"/>
          <p:cNvPicPr preferRelativeResize="0"/>
          <p:nvPr/>
        </p:nvPicPr>
        <p:blipFill>
          <a:blip r:embed="rId3">
            <a:alphaModFix/>
          </a:blip>
          <a:stretch>
            <a:fillRect/>
          </a:stretch>
        </p:blipFill>
        <p:spPr>
          <a:xfrm>
            <a:off x="5283758" y="3097800"/>
            <a:ext cx="396000" cy="419100"/>
          </a:xfrm>
          <a:prstGeom prst="rect">
            <a:avLst/>
          </a:prstGeom>
          <a:noFill/>
          <a:ln>
            <a:noFill/>
          </a:ln>
        </p:spPr>
      </p:pic>
      <p:pic>
        <p:nvPicPr>
          <p:cNvPr id="1093" name="Google Shape;1093;p88"/>
          <p:cNvPicPr preferRelativeResize="0"/>
          <p:nvPr/>
        </p:nvPicPr>
        <p:blipFill>
          <a:blip r:embed="rId3">
            <a:alphaModFix/>
          </a:blip>
          <a:stretch>
            <a:fillRect/>
          </a:stretch>
        </p:blipFill>
        <p:spPr>
          <a:xfrm>
            <a:off x="5341758" y="39710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89"/>
          <p:cNvSpPr txBox="1"/>
          <p:nvPr>
            <p:ph idx="1" type="body"/>
          </p:nvPr>
        </p:nvSpPr>
        <p:spPr>
          <a:xfrm>
            <a:off x="324000" y="865065"/>
            <a:ext cx="8237700" cy="49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Estimate the answer to 23.6 − 5.8</a:t>
            </a:r>
            <a:endParaRPr/>
          </a:p>
          <a:p>
            <a:pPr indent="0" lvl="0" marL="0" rtl="0" algn="ctr">
              <a:spcBef>
                <a:spcPts val="1000"/>
              </a:spcBef>
              <a:spcAft>
                <a:spcPts val="0"/>
              </a:spcAft>
              <a:buNone/>
            </a:pPr>
            <a:r>
              <a:t/>
            </a:r>
            <a:endParaRPr/>
          </a:p>
          <a:p>
            <a:pPr indent="0" lvl="0" marL="0" rtl="0" algn="ctr">
              <a:spcBef>
                <a:spcPts val="1000"/>
              </a:spcBef>
              <a:spcAft>
                <a:spcPts val="1000"/>
              </a:spcAft>
              <a:buNone/>
            </a:pPr>
            <a:r>
              <a:t/>
            </a:r>
            <a:endParaRPr/>
          </a:p>
        </p:txBody>
      </p:sp>
      <p:sp>
        <p:nvSpPr>
          <p:cNvPr id="1099" name="Google Shape;1099;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pic>
        <p:nvPicPr>
          <p:cNvPr id="1100" name="Google Shape;1100;p89"/>
          <p:cNvPicPr preferRelativeResize="0"/>
          <p:nvPr/>
        </p:nvPicPr>
        <p:blipFill>
          <a:blip r:embed="rId3">
            <a:alphaModFix/>
          </a:blip>
          <a:stretch>
            <a:fillRect/>
          </a:stretch>
        </p:blipFill>
        <p:spPr>
          <a:xfrm>
            <a:off x="7367396" y="2203488"/>
            <a:ext cx="798316" cy="896106"/>
          </a:xfrm>
          <a:prstGeom prst="rect">
            <a:avLst/>
          </a:prstGeom>
          <a:noFill/>
          <a:ln>
            <a:noFill/>
          </a:ln>
        </p:spPr>
      </p:pic>
      <p:sp>
        <p:nvSpPr>
          <p:cNvPr id="1101" name="Google Shape;1101;p89"/>
          <p:cNvSpPr txBox="1"/>
          <p:nvPr/>
        </p:nvSpPr>
        <p:spPr>
          <a:xfrm>
            <a:off x="7323900" y="30392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1102" name="Google Shape;1102;p89"/>
          <p:cNvPicPr preferRelativeResize="0"/>
          <p:nvPr/>
        </p:nvPicPr>
        <p:blipFill rotWithShape="1">
          <a:blip r:embed="rId4">
            <a:alphaModFix/>
          </a:blip>
          <a:srcRect b="0" l="0" r="69082" t="56280"/>
          <a:stretch/>
        </p:blipFill>
        <p:spPr>
          <a:xfrm>
            <a:off x="4893625" y="958100"/>
            <a:ext cx="2560174" cy="1694701"/>
          </a:xfrm>
          <a:prstGeom prst="rect">
            <a:avLst/>
          </a:prstGeom>
          <a:noFill/>
          <a:ln>
            <a:noFill/>
          </a:ln>
        </p:spPr>
      </p:pic>
      <p:pic>
        <p:nvPicPr>
          <p:cNvPr id="1103" name="Google Shape;1103;p89"/>
          <p:cNvPicPr preferRelativeResize="0"/>
          <p:nvPr/>
        </p:nvPicPr>
        <p:blipFill>
          <a:blip r:embed="rId5">
            <a:alphaModFix/>
          </a:blip>
          <a:stretch>
            <a:fillRect/>
          </a:stretch>
        </p:blipFill>
        <p:spPr>
          <a:xfrm flipH="1">
            <a:off x="363188" y="1931400"/>
            <a:ext cx="1114250" cy="1078300"/>
          </a:xfrm>
          <a:prstGeom prst="rect">
            <a:avLst/>
          </a:prstGeom>
          <a:noFill/>
          <a:ln>
            <a:noFill/>
          </a:ln>
        </p:spPr>
      </p:pic>
      <p:sp>
        <p:nvSpPr>
          <p:cNvPr id="1104" name="Google Shape;1104;p89"/>
          <p:cNvSpPr txBox="1"/>
          <p:nvPr/>
        </p:nvSpPr>
        <p:spPr>
          <a:xfrm>
            <a:off x="592150" y="308748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
        <p:nvSpPr>
          <p:cNvPr id="1105" name="Google Shape;1105;p89"/>
          <p:cNvSpPr txBox="1"/>
          <p:nvPr/>
        </p:nvSpPr>
        <p:spPr>
          <a:xfrm>
            <a:off x="5055363" y="1161876"/>
            <a:ext cx="2172000" cy="7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What calculation would you use to estimate the answer?</a:t>
            </a:r>
            <a:endParaRPr sz="1800">
              <a:solidFill>
                <a:schemeClr val="dk1"/>
              </a:solidFill>
              <a:latin typeface="Lexend"/>
              <a:ea typeface="Lexend"/>
              <a:cs typeface="Lexend"/>
              <a:sym typeface="Lexend"/>
            </a:endParaRPr>
          </a:p>
        </p:txBody>
      </p:sp>
      <p:sp>
        <p:nvSpPr>
          <p:cNvPr id="1106" name="Google Shape;1106;p89"/>
          <p:cNvSpPr txBox="1"/>
          <p:nvPr/>
        </p:nvSpPr>
        <p:spPr>
          <a:xfrm>
            <a:off x="1594200" y="1602838"/>
            <a:ext cx="2415600" cy="8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 would round up 23.6 to 25 and round down 5.8 to 5 so 25 </a:t>
            </a:r>
            <a:r>
              <a:rPr lang="en-GB" sz="2200">
                <a:solidFill>
                  <a:schemeClr val="dk1"/>
                </a:solidFill>
                <a:latin typeface="Lexend"/>
                <a:ea typeface="Lexend"/>
                <a:cs typeface="Lexend"/>
                <a:sym typeface="Lexend"/>
              </a:rPr>
              <a:t>−</a:t>
            </a:r>
            <a:r>
              <a:rPr lang="en-GB" sz="1800">
                <a:solidFill>
                  <a:schemeClr val="dk1"/>
                </a:solidFill>
                <a:latin typeface="Lexend"/>
                <a:ea typeface="Lexend"/>
                <a:cs typeface="Lexend"/>
                <a:sym typeface="Lexend"/>
              </a:rPr>
              <a:t> 5</a:t>
            </a:r>
            <a:endParaRPr sz="1800">
              <a:solidFill>
                <a:schemeClr val="dk1"/>
              </a:solidFill>
              <a:latin typeface="Lexend"/>
              <a:ea typeface="Lexend"/>
              <a:cs typeface="Lexend"/>
              <a:sym typeface="Lexend"/>
            </a:endParaRPr>
          </a:p>
        </p:txBody>
      </p:sp>
      <p:pic>
        <p:nvPicPr>
          <p:cNvPr id="1107" name="Google Shape;1107;p89"/>
          <p:cNvPicPr preferRelativeResize="0"/>
          <p:nvPr/>
        </p:nvPicPr>
        <p:blipFill rotWithShape="1">
          <a:blip r:embed="rId4">
            <a:alphaModFix/>
          </a:blip>
          <a:srcRect b="0" l="0" r="69082" t="56280"/>
          <a:stretch/>
        </p:blipFill>
        <p:spPr>
          <a:xfrm flipH="1">
            <a:off x="1385655" y="1427476"/>
            <a:ext cx="2691471" cy="17880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grpSp>
        <p:nvGrpSpPr>
          <p:cNvPr id="1113" name="Google Shape;1113;p90"/>
          <p:cNvGrpSpPr/>
          <p:nvPr/>
        </p:nvGrpSpPr>
        <p:grpSpPr>
          <a:xfrm>
            <a:off x="896100" y="3006823"/>
            <a:ext cx="6347700" cy="131700"/>
            <a:chOff x="1404950" y="4254150"/>
            <a:chExt cx="6347700" cy="131700"/>
          </a:xfrm>
        </p:grpSpPr>
        <p:cxnSp>
          <p:nvCxnSpPr>
            <p:cNvPr id="1114" name="Google Shape;1114;p90"/>
            <p:cNvCxnSpPr/>
            <p:nvPr/>
          </p:nvCxnSpPr>
          <p:spPr>
            <a:xfrm>
              <a:off x="7700200" y="4254150"/>
              <a:ext cx="0" cy="131700"/>
            </a:xfrm>
            <a:prstGeom prst="straightConnector1">
              <a:avLst/>
            </a:prstGeom>
            <a:noFill/>
            <a:ln cap="flat" cmpd="sng" w="28575">
              <a:solidFill>
                <a:srgbClr val="878787"/>
              </a:solidFill>
              <a:prstDash val="solid"/>
              <a:round/>
              <a:headEnd len="med" w="med" type="none"/>
              <a:tailEnd len="med" w="med" type="none"/>
            </a:ln>
          </p:spPr>
        </p:cxnSp>
        <p:cxnSp>
          <p:nvCxnSpPr>
            <p:cNvPr id="1115" name="Google Shape;1115;p90"/>
            <p:cNvCxnSpPr/>
            <p:nvPr/>
          </p:nvCxnSpPr>
          <p:spPr>
            <a:xfrm flipH="1" rot="10800000">
              <a:off x="1404950" y="4312725"/>
              <a:ext cx="6347700" cy="2100"/>
            </a:xfrm>
            <a:prstGeom prst="straightConnector1">
              <a:avLst/>
            </a:prstGeom>
            <a:noFill/>
            <a:ln cap="flat" cmpd="sng" w="28575">
              <a:solidFill>
                <a:srgbClr val="878787"/>
              </a:solidFill>
              <a:prstDash val="solid"/>
              <a:round/>
              <a:headEnd len="med" w="med" type="none"/>
              <a:tailEnd len="med" w="med" type="none"/>
            </a:ln>
          </p:spPr>
        </p:cxnSp>
        <p:cxnSp>
          <p:nvCxnSpPr>
            <p:cNvPr id="1116" name="Google Shape;1116;p90"/>
            <p:cNvCxnSpPr/>
            <p:nvPr/>
          </p:nvCxnSpPr>
          <p:spPr>
            <a:xfrm>
              <a:off x="1454117" y="4254150"/>
              <a:ext cx="0" cy="131700"/>
            </a:xfrm>
            <a:prstGeom prst="straightConnector1">
              <a:avLst/>
            </a:prstGeom>
            <a:noFill/>
            <a:ln cap="flat" cmpd="sng" w="28575">
              <a:solidFill>
                <a:srgbClr val="878787"/>
              </a:solidFill>
              <a:prstDash val="solid"/>
              <a:round/>
              <a:headEnd len="med" w="med" type="none"/>
              <a:tailEnd len="med" w="med" type="none"/>
            </a:ln>
          </p:spPr>
        </p:cxnSp>
      </p:grpSp>
      <p:sp>
        <p:nvSpPr>
          <p:cNvPr id="1117" name="Google Shape;1117;p90"/>
          <p:cNvSpPr txBox="1"/>
          <p:nvPr/>
        </p:nvSpPr>
        <p:spPr>
          <a:xfrm>
            <a:off x="5427672" y="2528475"/>
            <a:ext cx="676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23.6</a:t>
            </a:r>
            <a:endParaRPr sz="2200">
              <a:solidFill>
                <a:srgbClr val="000000"/>
              </a:solidFill>
              <a:latin typeface="Lexend"/>
              <a:ea typeface="Lexend"/>
              <a:cs typeface="Lexend"/>
              <a:sym typeface="Lexend"/>
            </a:endParaRPr>
          </a:p>
        </p:txBody>
      </p:sp>
      <p:sp>
        <p:nvSpPr>
          <p:cNvPr id="1118" name="Google Shape;1118;p90"/>
          <p:cNvSpPr txBox="1"/>
          <p:nvPr/>
        </p:nvSpPr>
        <p:spPr>
          <a:xfrm>
            <a:off x="5956475" y="-732197"/>
            <a:ext cx="2172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Estimated answer</a:t>
            </a:r>
            <a:endParaRPr sz="2200">
              <a:latin typeface="Lexend"/>
              <a:ea typeface="Lexend"/>
              <a:cs typeface="Lexend"/>
              <a:sym typeface="Lexend"/>
            </a:endParaRPr>
          </a:p>
        </p:txBody>
      </p:sp>
      <p:cxnSp>
        <p:nvCxnSpPr>
          <p:cNvPr id="1119" name="Google Shape;1119;p90"/>
          <p:cNvCxnSpPr/>
          <p:nvPr/>
        </p:nvCxnSpPr>
        <p:spPr>
          <a:xfrm>
            <a:off x="5756574" y="2927375"/>
            <a:ext cx="0" cy="119100"/>
          </a:xfrm>
          <a:prstGeom prst="straightConnector1">
            <a:avLst/>
          </a:prstGeom>
          <a:noFill/>
          <a:ln cap="flat" cmpd="sng" w="28575">
            <a:solidFill>
              <a:schemeClr val="dk2"/>
            </a:solidFill>
            <a:prstDash val="solid"/>
            <a:round/>
            <a:headEnd len="med" w="med" type="none"/>
            <a:tailEnd len="med" w="med" type="none"/>
          </a:ln>
        </p:spPr>
      </p:cxnSp>
      <p:sp>
        <p:nvSpPr>
          <p:cNvPr id="1120" name="Google Shape;1120;p90"/>
          <p:cNvSpPr txBox="1"/>
          <p:nvPr/>
        </p:nvSpPr>
        <p:spPr>
          <a:xfrm>
            <a:off x="4187400" y="-516762"/>
            <a:ext cx="161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Exact answer</a:t>
            </a:r>
            <a:endParaRPr sz="1800">
              <a:solidFill>
                <a:srgbClr val="000000"/>
              </a:solidFill>
              <a:latin typeface="Lexend"/>
              <a:ea typeface="Lexend"/>
              <a:cs typeface="Lexend"/>
              <a:sym typeface="Lexend"/>
            </a:endParaRPr>
          </a:p>
        </p:txBody>
      </p:sp>
      <p:sp>
        <p:nvSpPr>
          <p:cNvPr id="1121" name="Google Shape;1121;p90"/>
          <p:cNvSpPr txBox="1"/>
          <p:nvPr/>
        </p:nvSpPr>
        <p:spPr>
          <a:xfrm>
            <a:off x="6518921" y="2528475"/>
            <a:ext cx="676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25</a:t>
            </a:r>
            <a:endParaRPr sz="2200">
              <a:solidFill>
                <a:srgbClr val="000000"/>
              </a:solidFill>
              <a:latin typeface="Lexend"/>
              <a:ea typeface="Lexend"/>
              <a:cs typeface="Lexend"/>
              <a:sym typeface="Lexend"/>
            </a:endParaRPr>
          </a:p>
        </p:txBody>
      </p:sp>
      <p:cxnSp>
        <p:nvCxnSpPr>
          <p:cNvPr id="1122" name="Google Shape;1122;p90"/>
          <p:cNvCxnSpPr/>
          <p:nvPr/>
        </p:nvCxnSpPr>
        <p:spPr>
          <a:xfrm>
            <a:off x="6670974" y="2927375"/>
            <a:ext cx="0" cy="119100"/>
          </a:xfrm>
          <a:prstGeom prst="straightConnector1">
            <a:avLst/>
          </a:prstGeom>
          <a:noFill/>
          <a:ln cap="flat" cmpd="sng" w="28575">
            <a:solidFill>
              <a:schemeClr val="dk2"/>
            </a:solidFill>
            <a:prstDash val="solid"/>
            <a:round/>
            <a:headEnd len="med" w="med" type="none"/>
            <a:tailEnd len="med" w="med" type="none"/>
          </a:ln>
        </p:spPr>
      </p:cxnSp>
      <p:sp>
        <p:nvSpPr>
          <p:cNvPr id="1123" name="Google Shape;1123;p90"/>
          <p:cNvSpPr txBox="1"/>
          <p:nvPr/>
        </p:nvSpPr>
        <p:spPr>
          <a:xfrm>
            <a:off x="2832275" y="3154003"/>
            <a:ext cx="2172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Estimated answer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(overestimate)</a:t>
            </a:r>
            <a:endParaRPr sz="1800">
              <a:solidFill>
                <a:schemeClr val="dk1"/>
              </a:solidFill>
              <a:latin typeface="Lexend"/>
              <a:ea typeface="Lexend"/>
              <a:cs typeface="Lexend"/>
              <a:sym typeface="Lexend"/>
            </a:endParaRPr>
          </a:p>
        </p:txBody>
      </p:sp>
      <p:sp>
        <p:nvSpPr>
          <p:cNvPr id="1124" name="Google Shape;1124;p90"/>
          <p:cNvSpPr txBox="1"/>
          <p:nvPr/>
        </p:nvSpPr>
        <p:spPr>
          <a:xfrm>
            <a:off x="3675072" y="2528475"/>
            <a:ext cx="676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20</a:t>
            </a:r>
            <a:endParaRPr sz="2200">
              <a:solidFill>
                <a:srgbClr val="000000"/>
              </a:solidFill>
              <a:latin typeface="Lexend"/>
              <a:ea typeface="Lexend"/>
              <a:cs typeface="Lexend"/>
              <a:sym typeface="Lexend"/>
            </a:endParaRPr>
          </a:p>
        </p:txBody>
      </p:sp>
      <p:cxnSp>
        <p:nvCxnSpPr>
          <p:cNvPr id="1125" name="Google Shape;1125;p90"/>
          <p:cNvCxnSpPr/>
          <p:nvPr/>
        </p:nvCxnSpPr>
        <p:spPr>
          <a:xfrm>
            <a:off x="3851574" y="2927375"/>
            <a:ext cx="0" cy="119100"/>
          </a:xfrm>
          <a:prstGeom prst="straightConnector1">
            <a:avLst/>
          </a:prstGeom>
          <a:noFill/>
          <a:ln cap="flat" cmpd="sng" w="28575">
            <a:solidFill>
              <a:schemeClr val="dk2"/>
            </a:solidFill>
            <a:prstDash val="solid"/>
            <a:round/>
            <a:headEnd len="med" w="med" type="none"/>
            <a:tailEnd len="med" w="med" type="none"/>
          </a:ln>
        </p:spPr>
      </p:cxnSp>
      <p:cxnSp>
        <p:nvCxnSpPr>
          <p:cNvPr id="1126" name="Google Shape;1126;p90"/>
          <p:cNvCxnSpPr/>
          <p:nvPr/>
        </p:nvCxnSpPr>
        <p:spPr>
          <a:xfrm>
            <a:off x="2251374" y="2927375"/>
            <a:ext cx="0" cy="119100"/>
          </a:xfrm>
          <a:prstGeom prst="straightConnector1">
            <a:avLst/>
          </a:prstGeom>
          <a:noFill/>
          <a:ln cap="flat" cmpd="sng" w="28575">
            <a:solidFill>
              <a:schemeClr val="dk2"/>
            </a:solidFill>
            <a:prstDash val="solid"/>
            <a:round/>
            <a:headEnd len="med" w="med" type="none"/>
            <a:tailEnd len="med" w="med" type="none"/>
          </a:ln>
        </p:spPr>
      </p:cxnSp>
      <p:sp>
        <p:nvSpPr>
          <p:cNvPr id="1127" name="Google Shape;1127;p90"/>
          <p:cNvSpPr txBox="1"/>
          <p:nvPr/>
        </p:nvSpPr>
        <p:spPr>
          <a:xfrm>
            <a:off x="1460675" y="2544403"/>
            <a:ext cx="2172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Exact answer</a:t>
            </a:r>
            <a:endParaRPr sz="2200">
              <a:latin typeface="Lexend"/>
              <a:ea typeface="Lexend"/>
              <a:cs typeface="Lexend"/>
              <a:sym typeface="Lexend"/>
            </a:endParaRPr>
          </a:p>
        </p:txBody>
      </p:sp>
      <p:sp>
        <p:nvSpPr>
          <p:cNvPr id="1128" name="Google Shape;1128;p90"/>
          <p:cNvSpPr/>
          <p:nvPr/>
        </p:nvSpPr>
        <p:spPr>
          <a:xfrm flipH="1">
            <a:off x="2251500" y="1710300"/>
            <a:ext cx="3438600" cy="414900"/>
          </a:xfrm>
          <a:prstGeom prst="arc">
            <a:avLst>
              <a:gd fmla="val 10781249" name="adj1"/>
              <a:gd fmla="val 17845"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90"/>
          <p:cNvSpPr/>
          <p:nvPr/>
        </p:nvSpPr>
        <p:spPr>
          <a:xfrm flipH="1">
            <a:off x="3924150" y="2277600"/>
            <a:ext cx="2547000" cy="277200"/>
          </a:xfrm>
          <a:prstGeom prst="arc">
            <a:avLst>
              <a:gd fmla="val 10781249" name="adj1"/>
              <a:gd fmla="val 56954" name="adj2"/>
            </a:avLst>
          </a:prstGeom>
          <a:noFill/>
          <a:ln cap="flat" cmpd="sng" w="1905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90"/>
          <p:cNvSpPr txBox="1"/>
          <p:nvPr/>
        </p:nvSpPr>
        <p:spPr>
          <a:xfrm>
            <a:off x="4994921" y="1943324"/>
            <a:ext cx="676800" cy="338700"/>
          </a:xfrm>
          <a:prstGeom prst="rect">
            <a:avLst/>
          </a:prstGeom>
          <a:noFill/>
          <a:ln>
            <a:noFill/>
          </a:ln>
        </p:spPr>
        <p:txBody>
          <a:bodyPr anchorCtr="0" anchor="t" bIns="0" lIns="0" spcFirstLastPara="1" rIns="0" wrap="square" tIns="0">
            <a:spAutoFit/>
          </a:bodyPr>
          <a:lstStyle/>
          <a:p>
            <a:pPr indent="-368300" lvl="0" marL="457200" rtl="0" algn="l">
              <a:spcBef>
                <a:spcPts val="0"/>
              </a:spcBef>
              <a:spcAft>
                <a:spcPts val="0"/>
              </a:spcAft>
              <a:buSzPts val="2200"/>
              <a:buFont typeface="Lexend"/>
              <a:buChar char="-"/>
            </a:pPr>
            <a:r>
              <a:rPr lang="en-GB" sz="2200">
                <a:latin typeface="Lexend"/>
                <a:ea typeface="Lexend"/>
                <a:cs typeface="Lexend"/>
                <a:sym typeface="Lexend"/>
              </a:rPr>
              <a:t>5</a:t>
            </a:r>
            <a:endParaRPr sz="2200">
              <a:solidFill>
                <a:srgbClr val="000000"/>
              </a:solidFill>
              <a:latin typeface="Lexend"/>
              <a:ea typeface="Lexend"/>
              <a:cs typeface="Lexend"/>
              <a:sym typeface="Lexend"/>
            </a:endParaRPr>
          </a:p>
        </p:txBody>
      </p:sp>
      <p:sp>
        <p:nvSpPr>
          <p:cNvPr id="1131" name="Google Shape;1131;p90"/>
          <p:cNvSpPr txBox="1"/>
          <p:nvPr/>
        </p:nvSpPr>
        <p:spPr>
          <a:xfrm>
            <a:off x="3013728" y="1309275"/>
            <a:ext cx="1314300" cy="338700"/>
          </a:xfrm>
          <a:prstGeom prst="rect">
            <a:avLst/>
          </a:prstGeom>
          <a:noFill/>
          <a:ln>
            <a:noFill/>
          </a:ln>
        </p:spPr>
        <p:txBody>
          <a:bodyPr anchorCtr="0" anchor="t" bIns="0" lIns="0" spcFirstLastPara="1" rIns="0" wrap="square" tIns="0">
            <a:spAutoFit/>
          </a:bodyPr>
          <a:lstStyle/>
          <a:p>
            <a:pPr indent="-368300" lvl="0" marL="457200" rtl="0" algn="l">
              <a:spcBef>
                <a:spcPts val="0"/>
              </a:spcBef>
              <a:spcAft>
                <a:spcPts val="0"/>
              </a:spcAft>
              <a:buSzPts val="2200"/>
              <a:buFont typeface="Lexend"/>
              <a:buChar char="-"/>
            </a:pPr>
            <a:r>
              <a:rPr lang="en-GB" sz="2200">
                <a:latin typeface="Lexend"/>
                <a:ea typeface="Lexend"/>
                <a:cs typeface="Lexend"/>
                <a:sym typeface="Lexend"/>
              </a:rPr>
              <a:t>5.8</a:t>
            </a:r>
            <a:endParaRPr sz="22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91"/>
          <p:cNvSpPr txBox="1"/>
          <p:nvPr>
            <p:ph idx="1" type="body"/>
          </p:nvPr>
        </p:nvSpPr>
        <p:spPr>
          <a:xfrm>
            <a:off x="324000" y="745555"/>
            <a:ext cx="8237700" cy="113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Using number lines, investigate if you get an </a:t>
            </a:r>
            <a:r>
              <a:rPr b="1" lang="en-GB" sz="1900"/>
              <a:t>overestimate</a:t>
            </a:r>
            <a:r>
              <a:rPr lang="en-GB" sz="1900"/>
              <a:t>, </a:t>
            </a:r>
            <a:r>
              <a:rPr b="1" lang="en-GB" sz="1900"/>
              <a:t>underestimate</a:t>
            </a:r>
            <a:r>
              <a:rPr lang="en-GB" sz="1900"/>
              <a:t> or hard to tell when subtracting and rounding up or down. You can use number lines to help. Fill in the table.</a:t>
            </a:r>
            <a:endParaRPr sz="1900"/>
          </a:p>
        </p:txBody>
      </p:sp>
      <p:sp>
        <p:nvSpPr>
          <p:cNvPr id="1137" name="Google Shape;1137;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graphicFrame>
        <p:nvGraphicFramePr>
          <p:cNvPr id="1138" name="Google Shape;1138;p91"/>
          <p:cNvGraphicFramePr/>
          <p:nvPr/>
        </p:nvGraphicFramePr>
        <p:xfrm>
          <a:off x="324000" y="1839700"/>
          <a:ext cx="3000000" cy="3000000"/>
        </p:xfrm>
        <a:graphic>
          <a:graphicData uri="http://schemas.openxmlformats.org/drawingml/2006/table">
            <a:tbl>
              <a:tblPr>
                <a:noFill/>
                <a:tableStyleId>{BF841332-CA88-4483-9286-93B5146B880D}</a:tableStyleId>
              </a:tblPr>
              <a:tblGrid>
                <a:gridCol w="3658450"/>
                <a:gridCol w="1626100"/>
                <a:gridCol w="1787950"/>
                <a:gridCol w="1051300"/>
              </a:tblGrid>
              <a:tr h="566175">
                <a:tc>
                  <a:txBody>
                    <a:bodyPr/>
                    <a:lstStyle/>
                    <a:p>
                      <a:pPr indent="0" lvl="0" marL="0" rtl="0" algn="ctr">
                        <a:spcBef>
                          <a:spcPts val="0"/>
                        </a:spcBef>
                        <a:spcAft>
                          <a:spcPts val="0"/>
                        </a:spcAft>
                        <a:buNone/>
                      </a:pPr>
                      <a:r>
                        <a:rPr lang="en-GB" sz="1700">
                          <a:solidFill>
                            <a:schemeClr val="lt1"/>
                          </a:solidFill>
                          <a:latin typeface="Lexend"/>
                          <a:ea typeface="Lexend"/>
                          <a:cs typeface="Lexend"/>
                          <a:sym typeface="Lexend"/>
                        </a:rPr>
                        <a:t>Subtraction </a:t>
                      </a:r>
                      <a:endParaRPr sz="1700">
                        <a:solidFill>
                          <a:schemeClr val="lt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GB" sz="1700">
                          <a:solidFill>
                            <a:schemeClr val="lt1"/>
                          </a:solidFill>
                          <a:latin typeface="Lexend"/>
                          <a:ea typeface="Lexend"/>
                          <a:cs typeface="Lexend"/>
                          <a:sym typeface="Lexend"/>
                        </a:rPr>
                        <a:t>Overestimate</a:t>
                      </a:r>
                      <a:endParaRPr b="1" sz="1700">
                        <a:solidFill>
                          <a:schemeClr val="lt1"/>
                        </a:solidFill>
                        <a:latin typeface="Lexend"/>
                        <a:ea typeface="Lexend"/>
                        <a:cs typeface="Lexend"/>
                        <a:sym typeface="Lexend"/>
                      </a:endParaRPr>
                    </a:p>
                  </a:txBody>
                  <a:tcPr marT="91425" marB="91425" marR="54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GB" sz="1700">
                          <a:solidFill>
                            <a:schemeClr val="lt1"/>
                          </a:solidFill>
                          <a:latin typeface="Lexend"/>
                          <a:ea typeface="Lexend"/>
                          <a:cs typeface="Lexend"/>
                          <a:sym typeface="Lexend"/>
                        </a:rPr>
                        <a:t>Underestimate</a:t>
                      </a:r>
                      <a:endParaRPr b="1" sz="1700">
                        <a:solidFill>
                          <a:schemeClr val="lt1"/>
                        </a:solidFill>
                        <a:latin typeface="Lexend"/>
                        <a:ea typeface="Lexend"/>
                        <a:cs typeface="Lexend"/>
                        <a:sym typeface="Lexend"/>
                      </a:endParaRPr>
                    </a:p>
                  </a:txBody>
                  <a:tcPr marT="91425" marB="91425" marR="54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700">
                          <a:solidFill>
                            <a:schemeClr val="lt1"/>
                          </a:solidFill>
                          <a:latin typeface="Lexend"/>
                          <a:ea typeface="Lexend"/>
                          <a:cs typeface="Lexend"/>
                          <a:sym typeface="Lexend"/>
                        </a:rPr>
                        <a:t>Hard to tell</a:t>
                      </a:r>
                      <a:endParaRPr sz="1700">
                        <a:solidFill>
                          <a:schemeClr val="lt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r>
              <a:tr h="488700">
                <a:tc>
                  <a:txBody>
                    <a:bodyPr/>
                    <a:lstStyle/>
                    <a:p>
                      <a:pPr indent="0" lvl="0" marL="0" rtl="0" algn="l">
                        <a:spcBef>
                          <a:spcPts val="0"/>
                        </a:spcBef>
                        <a:spcAft>
                          <a:spcPts val="0"/>
                        </a:spcAft>
                        <a:buNone/>
                      </a:pPr>
                      <a:r>
                        <a:rPr lang="en-GB" sz="1800">
                          <a:latin typeface="Lexend"/>
                          <a:ea typeface="Lexend"/>
                          <a:cs typeface="Lexend"/>
                          <a:sym typeface="Lexend"/>
                        </a:rPr>
                        <a:t>Rounded up </a:t>
                      </a:r>
                      <a:r>
                        <a:rPr lang="en-GB" sz="1800">
                          <a:solidFill>
                            <a:schemeClr val="dk1"/>
                          </a:solidFill>
                          <a:latin typeface="Lexend"/>
                          <a:ea typeface="Lexend"/>
                          <a:cs typeface="Lexend"/>
                          <a:sym typeface="Lexend"/>
                        </a:rPr>
                        <a:t>−</a:t>
                      </a:r>
                      <a:r>
                        <a:rPr lang="en-GB" sz="1800">
                          <a:latin typeface="Lexend"/>
                          <a:ea typeface="Lexend"/>
                          <a:cs typeface="Lexend"/>
                          <a:sym typeface="Lexend"/>
                        </a:rPr>
                        <a:t> Rounded down</a:t>
                      </a:r>
                      <a:endParaRPr sz="1800">
                        <a:latin typeface="Lexend"/>
                        <a:ea typeface="Lexend"/>
                        <a:cs typeface="Lexend"/>
                        <a:sym typeface="Lexend"/>
                      </a:endParaRPr>
                    </a:p>
                  </a:txBody>
                  <a:tcPr marT="91425" marB="91425" marR="54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8700">
                <a:tc>
                  <a:txBody>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Rounded up − Rounded up</a:t>
                      </a:r>
                      <a:endParaRPr sz="1800">
                        <a:latin typeface="Lexend"/>
                        <a:ea typeface="Lexend"/>
                        <a:cs typeface="Lexend"/>
                        <a:sym typeface="Lexend"/>
                      </a:endParaRPr>
                    </a:p>
                  </a:txBody>
                  <a:tcPr marT="91425" marB="91425" marR="54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8700">
                <a:tc>
                  <a:txBody>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Rounded down − Rounded up</a:t>
                      </a:r>
                      <a:endParaRPr sz="1800">
                        <a:latin typeface="Lexend"/>
                        <a:ea typeface="Lexend"/>
                        <a:cs typeface="Lexend"/>
                        <a:sym typeface="Lexend"/>
                      </a:endParaRPr>
                    </a:p>
                  </a:txBody>
                  <a:tcPr marT="91425" marB="91425" marR="54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8700">
                <a:tc>
                  <a:txBody>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Rounded down − Rounded down</a:t>
                      </a:r>
                      <a:endParaRPr sz="1800">
                        <a:latin typeface="Lexend"/>
                        <a:ea typeface="Lexend"/>
                        <a:cs typeface="Lexend"/>
                        <a:sym typeface="Lexend"/>
                      </a:endParaRPr>
                    </a:p>
                  </a:txBody>
                  <a:tcPr marT="91425" marB="91425" marR="54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1139" name="Google Shape;1139;p91"/>
          <p:cNvPicPr preferRelativeResize="0"/>
          <p:nvPr/>
        </p:nvPicPr>
        <p:blipFill>
          <a:blip r:embed="rId3">
            <a:alphaModFix/>
          </a:blip>
          <a:stretch>
            <a:fillRect/>
          </a:stretch>
        </p:blipFill>
        <p:spPr>
          <a:xfrm>
            <a:off x="4535758" y="2571750"/>
            <a:ext cx="396000" cy="419100"/>
          </a:xfrm>
          <a:prstGeom prst="rect">
            <a:avLst/>
          </a:prstGeom>
          <a:noFill/>
          <a:ln>
            <a:noFill/>
          </a:ln>
        </p:spPr>
      </p:pic>
      <p:pic>
        <p:nvPicPr>
          <p:cNvPr id="1140" name="Google Shape;1140;p91"/>
          <p:cNvPicPr preferRelativeResize="0"/>
          <p:nvPr/>
        </p:nvPicPr>
        <p:blipFill>
          <a:blip r:embed="rId3">
            <a:alphaModFix/>
          </a:blip>
          <a:stretch>
            <a:fillRect/>
          </a:stretch>
        </p:blipFill>
        <p:spPr>
          <a:xfrm>
            <a:off x="7695633" y="3099000"/>
            <a:ext cx="396000" cy="419100"/>
          </a:xfrm>
          <a:prstGeom prst="rect">
            <a:avLst/>
          </a:prstGeom>
          <a:noFill/>
          <a:ln>
            <a:noFill/>
          </a:ln>
        </p:spPr>
      </p:pic>
      <p:pic>
        <p:nvPicPr>
          <p:cNvPr id="1141" name="Google Shape;1141;p91"/>
          <p:cNvPicPr preferRelativeResize="0"/>
          <p:nvPr/>
        </p:nvPicPr>
        <p:blipFill>
          <a:blip r:embed="rId3">
            <a:alphaModFix/>
          </a:blip>
          <a:stretch>
            <a:fillRect/>
          </a:stretch>
        </p:blipFill>
        <p:spPr>
          <a:xfrm>
            <a:off x="6256808" y="3570450"/>
            <a:ext cx="396000" cy="419100"/>
          </a:xfrm>
          <a:prstGeom prst="rect">
            <a:avLst/>
          </a:prstGeom>
          <a:noFill/>
          <a:ln>
            <a:noFill/>
          </a:ln>
        </p:spPr>
      </p:pic>
      <p:pic>
        <p:nvPicPr>
          <p:cNvPr id="1142" name="Google Shape;1142;p91"/>
          <p:cNvPicPr preferRelativeResize="0"/>
          <p:nvPr/>
        </p:nvPicPr>
        <p:blipFill>
          <a:blip r:embed="rId3">
            <a:alphaModFix/>
          </a:blip>
          <a:stretch>
            <a:fillRect/>
          </a:stretch>
        </p:blipFill>
        <p:spPr>
          <a:xfrm>
            <a:off x="7695633" y="40068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92"/>
          <p:cNvSpPr txBox="1"/>
          <p:nvPr>
            <p:ph idx="1" type="body"/>
          </p:nvPr>
        </p:nvSpPr>
        <p:spPr>
          <a:xfrm>
            <a:off x="324000" y="759300"/>
            <a:ext cx="8540400" cy="76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Identify if the estimate calculations will give an </a:t>
            </a:r>
            <a:r>
              <a:rPr b="1" lang="en-GB"/>
              <a:t>overestimate</a:t>
            </a:r>
            <a:r>
              <a:rPr lang="en-GB"/>
              <a:t>, </a:t>
            </a:r>
            <a:r>
              <a:rPr b="1" lang="en-GB"/>
              <a:t>under</a:t>
            </a:r>
            <a:r>
              <a:rPr b="1" lang="en-GB"/>
              <a:t>estimate</a:t>
            </a:r>
            <a:r>
              <a:rPr lang="en-GB"/>
              <a:t> or is hard to tell.</a:t>
            </a:r>
            <a:endParaRPr/>
          </a:p>
          <a:p>
            <a:pPr indent="0" lvl="0" marL="0" rtl="0" algn="l">
              <a:lnSpc>
                <a:spcPct val="200000"/>
              </a:lnSpc>
              <a:spcBef>
                <a:spcPts val="1000"/>
              </a:spcBef>
              <a:spcAft>
                <a:spcPts val="0"/>
              </a:spcAft>
              <a:buNone/>
            </a:pPr>
            <a:r>
              <a:rPr lang="en-GB"/>
              <a:t>a) </a:t>
            </a:r>
            <a:endParaRPr/>
          </a:p>
          <a:p>
            <a:pPr indent="0" lvl="0" marL="0" rtl="0" algn="l">
              <a:lnSpc>
                <a:spcPct val="200000"/>
              </a:lnSpc>
              <a:spcBef>
                <a:spcPts val="1000"/>
              </a:spcBef>
              <a:spcAft>
                <a:spcPts val="0"/>
              </a:spcAft>
              <a:buNone/>
            </a:pPr>
            <a:r>
              <a:rPr lang="en-GB"/>
              <a:t>b)</a:t>
            </a:r>
            <a:endParaRPr/>
          </a:p>
          <a:p>
            <a:pPr indent="0" lvl="0" marL="0" rtl="0" algn="l">
              <a:lnSpc>
                <a:spcPct val="200000"/>
              </a:lnSpc>
              <a:spcBef>
                <a:spcPts val="1000"/>
              </a:spcBef>
              <a:spcAft>
                <a:spcPts val="0"/>
              </a:spcAft>
              <a:buNone/>
            </a:pPr>
            <a:r>
              <a:rPr lang="en-GB"/>
              <a:t>c)</a:t>
            </a:r>
            <a:endParaRPr/>
          </a:p>
          <a:p>
            <a:pPr indent="0" lvl="0" marL="0" rtl="0" algn="l">
              <a:lnSpc>
                <a:spcPct val="200000"/>
              </a:lnSpc>
              <a:spcBef>
                <a:spcPts val="1000"/>
              </a:spcBef>
              <a:spcAft>
                <a:spcPts val="0"/>
              </a:spcAft>
              <a:buNone/>
            </a:pPr>
            <a:r>
              <a:rPr lang="en-GB"/>
              <a:t>d)</a:t>
            </a:r>
            <a:endParaRPr/>
          </a:p>
          <a:p>
            <a:pPr indent="0" lvl="0" marL="0" rtl="0" algn="l">
              <a:spcBef>
                <a:spcPts val="1000"/>
              </a:spcBef>
              <a:spcAft>
                <a:spcPts val="1000"/>
              </a:spcAft>
              <a:buNone/>
            </a:pPr>
            <a:r>
              <a:t/>
            </a:r>
            <a:endParaRPr/>
          </a:p>
        </p:txBody>
      </p:sp>
      <p:sp>
        <p:nvSpPr>
          <p:cNvPr id="1148" name="Google Shape;1148;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pic>
        <p:nvPicPr>
          <p:cNvPr descr="&lt;math xmlns=&quot;http://www.w3.org/1998/Math/MathML&quot; display=&quot;block&quot; data-is-equatio=&quot;1&quot; data-latex=&quot;\begin{array}{l}\frac{87}{0.8}\approx\frac{90}{0.75}\\&amp;#13;&amp;#10;\frac{244}{36}\approx\frac{200}{35}\\&amp;#13;&amp;#10;\frac{451}{12.5+21.3}\approx\frac{450}{10+20}\\&amp;#13;&amp;#10;\frac{890+56.2}{15.6+10.9}\approx\frac{900+50}{20+10}\end{array}&quot;&gt;&lt;mtable columnalign=&quot;left&quot; columnspacing=&quot;1em&quot; rowspacing=&quot;4pt&quot;&gt;&lt;mtr&gt;&lt;mtd&gt;&lt;mfrac&gt;&lt;mn&gt;87&lt;/mn&gt;&lt;mn&gt;0.8&lt;/mn&gt;&lt;/mfrac&gt;&lt;mo&gt;≈&lt;/mo&gt;&lt;mfrac&gt;&lt;mn&gt;90&lt;/mn&gt;&lt;mn&gt;0.75&lt;/mn&gt;&lt;/mfrac&gt;&lt;/mtd&gt;&lt;/mtr&gt;&lt;mtr&gt;&lt;mtd&gt;&lt;mfrac&gt;&lt;mn&gt;244&lt;/mn&gt;&lt;mn&gt;36&lt;/mn&gt;&lt;/mfrac&gt;&lt;mo&gt;≈&lt;/mo&gt;&lt;mfrac&gt;&lt;mn&gt;200&lt;/mn&gt;&lt;mn&gt;35&lt;/mn&gt;&lt;/mfrac&gt;&lt;/mtd&gt;&lt;/mtr&gt;&lt;mtr&gt;&lt;mtd&gt;&lt;mfrac&gt;&lt;mn&gt;451&lt;/mn&gt;&lt;mrow&gt;&lt;mn&gt;12.5&lt;/mn&gt;&lt;mo&gt;+&lt;/mo&gt;&lt;mn&gt;21.3&lt;/mn&gt;&lt;/mrow&gt;&lt;/mfrac&gt;&lt;mo&gt;≈&lt;/mo&gt;&lt;mfrac&gt;&lt;mn&gt;450&lt;/mn&gt;&lt;mrow&gt;&lt;mn&gt;10&lt;/mn&gt;&lt;mo&gt;+&lt;/mo&gt;&lt;mn&gt;20&lt;/mn&gt;&lt;/mrow&gt;&lt;/mfrac&gt;&lt;/mtd&gt;&lt;/mtr&gt;&lt;mtr&gt;&lt;mtd&gt;&lt;mfrac&gt;&lt;mrow&gt;&lt;mn&gt;890&lt;/mn&gt;&lt;mo&gt;+&lt;/mo&gt;&lt;mn&gt;56.2&lt;/mn&gt;&lt;/mrow&gt;&lt;mrow&gt;&lt;mn&gt;15.6&lt;/mn&gt;&lt;mo&gt;+&lt;/mo&gt;&lt;mn&gt;10.9&lt;/mn&gt;&lt;/mrow&gt;&lt;/mfrac&gt;&lt;mo&gt;≈&lt;/mo&gt;&lt;mfrac&gt;&lt;mrow&gt;&lt;mn&gt;900&lt;/mn&gt;&lt;mo&gt;+&lt;/mo&gt;&lt;mn&gt;50&lt;/mn&gt;&lt;/mrow&gt;&lt;mrow&gt;&lt;mn&gt;20&lt;/mn&gt;&lt;mo&gt;+&lt;/mo&gt;&lt;mn&gt;10&lt;/mn&gt;&lt;/mrow&gt;&lt;/mfrac&gt;&lt;/mtd&gt;&lt;/mtr&gt;&lt;/mtable&gt;&lt;/math&gt;" id="1149" name="Google Shape;1149;p92" title="4 lines Line 1: 87 over 0.8 almost equals 90 over 0.75 Line 2: 244 over 36 almost equals 200 over 35 Line 3: the fraction with numerator 451 and denominator 12.5 plus 21.3 almost equals the fraction with numerator 450 and denominator 10 plus 20 Line 4: the fraction with numerator 890 plus 56.2 and denominator 15.6 plus 10.9 almost equals the fraction with numerator 900 plus 50 and denominator 20 plus 10"/>
          <p:cNvPicPr preferRelativeResize="0"/>
          <p:nvPr/>
        </p:nvPicPr>
        <p:blipFill rotWithShape="1">
          <a:blip r:embed="rId3">
            <a:alphaModFix/>
          </a:blip>
          <a:srcRect b="76410" l="0" r="0" t="0"/>
          <a:stretch/>
        </p:blipFill>
        <p:spPr>
          <a:xfrm>
            <a:off x="830275" y="1620000"/>
            <a:ext cx="3045375" cy="700925"/>
          </a:xfrm>
          <a:prstGeom prst="rect">
            <a:avLst/>
          </a:prstGeom>
          <a:noFill/>
          <a:ln>
            <a:noFill/>
          </a:ln>
        </p:spPr>
      </p:pic>
      <p:pic>
        <p:nvPicPr>
          <p:cNvPr descr="&lt;math xmlns=&quot;http://www.w3.org/1998/Math/MathML&quot; display=&quot;block&quot; data-is-equatio=&quot;1&quot; data-latex=&quot;\begin{array}{l}\frac{87}{0.8}\approx\frac{90}{0.75}\\&amp;#13;&amp;#10;\frac{244}{36}\approx\frac{200}{35}\\&amp;#13;&amp;#10;\frac{451}{12.5+21.3}\approx\frac{450}{10+20}\\&amp;#13;&amp;#10;\frac{890+56.2}{15.6+10.9}\approx\frac{900+50}{20+10}\end{array}&quot;&gt;&lt;mtable columnalign=&quot;left&quot; columnspacing=&quot;1em&quot; rowspacing=&quot;4pt&quot;&gt;&lt;mtr&gt;&lt;mtd&gt;&lt;mfrac&gt;&lt;mn&gt;87&lt;/mn&gt;&lt;mn&gt;0.8&lt;/mn&gt;&lt;/mfrac&gt;&lt;mo&gt;≈&lt;/mo&gt;&lt;mfrac&gt;&lt;mn&gt;90&lt;/mn&gt;&lt;mn&gt;0.75&lt;/mn&gt;&lt;/mfrac&gt;&lt;/mtd&gt;&lt;/mtr&gt;&lt;mtr&gt;&lt;mtd&gt;&lt;mfrac&gt;&lt;mn&gt;244&lt;/mn&gt;&lt;mn&gt;36&lt;/mn&gt;&lt;/mfrac&gt;&lt;mo&gt;≈&lt;/mo&gt;&lt;mfrac&gt;&lt;mn&gt;200&lt;/mn&gt;&lt;mn&gt;35&lt;/mn&gt;&lt;/mfrac&gt;&lt;/mtd&gt;&lt;/mtr&gt;&lt;mtr&gt;&lt;mtd&gt;&lt;mfrac&gt;&lt;mn&gt;451&lt;/mn&gt;&lt;mrow&gt;&lt;mn&gt;12.5&lt;/mn&gt;&lt;mo&gt;+&lt;/mo&gt;&lt;mn&gt;21.3&lt;/mn&gt;&lt;/mrow&gt;&lt;/mfrac&gt;&lt;mo&gt;≈&lt;/mo&gt;&lt;mfrac&gt;&lt;mn&gt;450&lt;/mn&gt;&lt;mrow&gt;&lt;mn&gt;10&lt;/mn&gt;&lt;mo&gt;+&lt;/mo&gt;&lt;mn&gt;20&lt;/mn&gt;&lt;/mrow&gt;&lt;/mfrac&gt;&lt;/mtd&gt;&lt;/mtr&gt;&lt;mtr&gt;&lt;mtd&gt;&lt;mfrac&gt;&lt;mrow&gt;&lt;mn&gt;890&lt;/mn&gt;&lt;mo&gt;+&lt;/mo&gt;&lt;mn&gt;56.2&lt;/mn&gt;&lt;/mrow&gt;&lt;mrow&gt;&lt;mn&gt;15.6&lt;/mn&gt;&lt;mo&gt;+&lt;/mo&gt;&lt;mn&gt;10.9&lt;/mn&gt;&lt;/mrow&gt;&lt;/mfrac&gt;&lt;mo&gt;≈&lt;/mo&gt;&lt;mfrac&gt;&lt;mrow&gt;&lt;mn&gt;900&lt;/mn&gt;&lt;mo&gt;+&lt;/mo&gt;&lt;mn&gt;50&lt;/mn&gt;&lt;/mrow&gt;&lt;mrow&gt;&lt;mn&gt;20&lt;/mn&gt;&lt;mo&gt;+&lt;/mo&gt;&lt;mn&gt;10&lt;/mn&gt;&lt;/mrow&gt;&lt;/mfrac&gt;&lt;/mtd&gt;&lt;/mtr&gt;&lt;/mtable&gt;&lt;/math&gt;" id="1150" name="Google Shape;1150;p92" title="4 lines Line 1: 87 over 0.8 almost equals 90 over 0.75 Line 2: 244 over 36 almost equals 200 over 35 Line 3: the fraction with numerator 451 and denominator 12.5 plus 21.3 almost equals the fraction with numerator 450 and denominator 10 plus 20 Line 4: the fraction with numerator 890 plus 56.2 and denominator 15.6 plus 10.9 almost equals the fraction with numerator 900 plus 50 and denominator 20 plus 10"/>
          <p:cNvPicPr preferRelativeResize="0"/>
          <p:nvPr/>
        </p:nvPicPr>
        <p:blipFill rotWithShape="1">
          <a:blip r:embed="rId3">
            <a:alphaModFix/>
          </a:blip>
          <a:srcRect b="-4897" l="0" r="-4047" t="75729"/>
          <a:stretch/>
        </p:blipFill>
        <p:spPr>
          <a:xfrm>
            <a:off x="768725" y="3870075"/>
            <a:ext cx="3168475" cy="866675"/>
          </a:xfrm>
          <a:prstGeom prst="rect">
            <a:avLst/>
          </a:prstGeom>
          <a:noFill/>
          <a:ln>
            <a:noFill/>
          </a:ln>
        </p:spPr>
      </p:pic>
      <p:sp>
        <p:nvSpPr>
          <p:cNvPr id="1151" name="Google Shape;1151;p92"/>
          <p:cNvSpPr txBox="1"/>
          <p:nvPr/>
        </p:nvSpPr>
        <p:spPr>
          <a:xfrm>
            <a:off x="2792400" y="1527300"/>
            <a:ext cx="24936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chemeClr val="dk1"/>
                </a:solidFill>
                <a:latin typeface="Kalam"/>
                <a:ea typeface="Kalam"/>
                <a:cs typeface="Kalam"/>
                <a:sym typeface="Kalam"/>
              </a:rPr>
              <a:t>overestimate</a:t>
            </a:r>
            <a:endParaRPr b="1"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sp>
        <p:nvSpPr>
          <p:cNvPr id="1152" name="Google Shape;1152;p92"/>
          <p:cNvSpPr txBox="1"/>
          <p:nvPr/>
        </p:nvSpPr>
        <p:spPr>
          <a:xfrm>
            <a:off x="2850425" y="2391925"/>
            <a:ext cx="24936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chemeClr val="dk1"/>
                </a:solidFill>
                <a:latin typeface="Kalam"/>
                <a:ea typeface="Kalam"/>
                <a:cs typeface="Kalam"/>
                <a:sym typeface="Kalam"/>
              </a:rPr>
              <a:t>overestimate</a:t>
            </a:r>
            <a:endParaRPr b="1"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sp>
        <p:nvSpPr>
          <p:cNvPr id="1153" name="Google Shape;1153;p92"/>
          <p:cNvSpPr txBox="1"/>
          <p:nvPr/>
        </p:nvSpPr>
        <p:spPr>
          <a:xfrm>
            <a:off x="3937200" y="3256550"/>
            <a:ext cx="24936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chemeClr val="dk1"/>
                </a:solidFill>
                <a:latin typeface="Kalam"/>
                <a:ea typeface="Kalam"/>
                <a:cs typeface="Kalam"/>
                <a:sym typeface="Kalam"/>
              </a:rPr>
              <a:t>underestimate</a:t>
            </a:r>
            <a:endParaRPr b="1"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sp>
        <p:nvSpPr>
          <p:cNvPr id="1154" name="Google Shape;1154;p92"/>
          <p:cNvSpPr txBox="1"/>
          <p:nvPr/>
        </p:nvSpPr>
        <p:spPr>
          <a:xfrm>
            <a:off x="4158250" y="4026775"/>
            <a:ext cx="24936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hard to tell</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begin{array}{l}\frac{244}{36}\approx\frac{250}{35}\\&amp;#13;&amp;#10;\\&amp;#13;&amp;#10;\end{array}&quot;&gt;&lt;mtable columnalign=&quot;left&quot; columnspacing=&quot;1em&quot; rowspacing=&quot;4pt&quot;&gt;&lt;mtr&gt;&lt;mtd&gt;&lt;mfrac&gt;&lt;mn&gt;244&lt;/mn&gt;&lt;mn&gt;36&lt;/mn&gt;&lt;/mfrac&gt;&lt;mo&gt;≈&lt;/mo&gt;&lt;mfrac&gt;&lt;mn&gt;250&lt;/mn&gt;&lt;mn&gt;35&lt;/mn&gt;&lt;/mfrac&gt;&lt;/mtd&gt;&lt;/mtr&gt;&lt;mtr&gt;&lt;mtd/&gt;&lt;/mtr&gt;&lt;/mtable&gt;&lt;/math&gt;" id="1155" name="Google Shape;1155;p92" title="2 lines Line 1: 244 over 36 almost equals 250 over 35 Line 2: blank"/>
          <p:cNvPicPr preferRelativeResize="0"/>
          <p:nvPr/>
        </p:nvPicPr>
        <p:blipFill>
          <a:blip r:embed="rId4">
            <a:alphaModFix/>
          </a:blip>
          <a:stretch>
            <a:fillRect/>
          </a:stretch>
        </p:blipFill>
        <p:spPr>
          <a:xfrm>
            <a:off x="768725" y="2328022"/>
            <a:ext cx="1698926" cy="613500"/>
          </a:xfrm>
          <a:prstGeom prst="rect">
            <a:avLst/>
          </a:prstGeom>
          <a:noFill/>
          <a:ln>
            <a:noFill/>
          </a:ln>
        </p:spPr>
      </p:pic>
      <p:pic>
        <p:nvPicPr>
          <p:cNvPr descr="&lt;math xmlns=&quot;http://www.w3.org/1998/Math/MathML&quot; display=&quot;block&quot; data-is-equatio=&quot;1&quot; data-latex=&quot;\begin{array}{l}\frac{451}{12.5+21.3}\approx\frac{450}{15+25}\end{array}&quot;&gt;&lt;mtable columnalign=&quot;left&quot; columnspacing=&quot;1em&quot; rowspacing=&quot;4pt&quot;&gt;&lt;mtr&gt;&lt;mtd&gt;&lt;mfrac&gt;&lt;mn&gt;451&lt;/mn&gt;&lt;mrow&gt;&lt;mn&gt;12.5&lt;/mn&gt;&lt;mo&gt;+&lt;/mo&gt;&lt;mn&gt;21.3&lt;/mn&gt;&lt;/mrow&gt;&lt;/mfrac&gt;&lt;mo&gt;≈&lt;/mo&gt;&lt;mfrac&gt;&lt;mn&gt;450&lt;/mn&gt;&lt;mrow&gt;&lt;mn&gt;15&lt;/mn&gt;&lt;mo&gt;+&lt;/mo&gt;&lt;mn&gt;25&lt;/mn&gt;&lt;/mrow&gt;&lt;/mfrac&gt;&lt;/mtd&gt;&lt;/mtr&gt;&lt;/mtable&gt;&lt;/math&gt;" id="1156" name="Google Shape;1156;p92" title="1 lines Line 1: the fraction with numerator 451 and denominator 12.5 plus 21.3 almost equals the fraction with numerator 450 and denominator 15 plus 25"/>
          <p:cNvPicPr preferRelativeResize="0"/>
          <p:nvPr/>
        </p:nvPicPr>
        <p:blipFill>
          <a:blip r:embed="rId5">
            <a:alphaModFix/>
          </a:blip>
          <a:stretch>
            <a:fillRect/>
          </a:stretch>
        </p:blipFill>
        <p:spPr>
          <a:xfrm>
            <a:off x="705975" y="3128750"/>
            <a:ext cx="2873324" cy="61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9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1a) Without calculating, </a:t>
            </a:r>
            <a:endParaRPr sz="1900"/>
          </a:p>
          <a:p>
            <a:pPr indent="0" lvl="0" marL="0" rtl="0" algn="ctr">
              <a:spcBef>
                <a:spcPts val="1000"/>
              </a:spcBef>
              <a:spcAft>
                <a:spcPts val="0"/>
              </a:spcAft>
              <a:buNone/>
            </a:pPr>
            <a:r>
              <a:rPr lang="en-GB" sz="1900"/>
              <a:t>15.99 ÷ 4 </a:t>
            </a:r>
            <a:endParaRPr sz="1900"/>
          </a:p>
          <a:p>
            <a:pPr indent="0" lvl="0" marL="0" rtl="0" algn="l">
              <a:spcBef>
                <a:spcPts val="1000"/>
              </a:spcBef>
              <a:spcAft>
                <a:spcPts val="0"/>
              </a:spcAft>
              <a:buNone/>
            </a:pPr>
            <a:r>
              <a:rPr lang="en-GB" sz="1900"/>
              <a:t>is this a little more than 4, a little less than 4 or exactly 4?</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200"/>
          </a:p>
          <a:p>
            <a:pPr indent="0" lvl="0" marL="0" rtl="0" algn="l">
              <a:spcBef>
                <a:spcPts val="1000"/>
              </a:spcBef>
              <a:spcAft>
                <a:spcPts val="0"/>
              </a:spcAft>
              <a:buNone/>
            </a:pPr>
            <a:r>
              <a:rPr lang="en-GB" sz="1900"/>
              <a:t>b) Without calculating, </a:t>
            </a:r>
            <a:endParaRPr sz="1900"/>
          </a:p>
          <a:p>
            <a:pPr indent="0" lvl="0" marL="0" rtl="0" algn="ctr">
              <a:spcBef>
                <a:spcPts val="1000"/>
              </a:spcBef>
              <a:spcAft>
                <a:spcPts val="0"/>
              </a:spcAft>
              <a:buNone/>
            </a:pPr>
            <a:r>
              <a:rPr lang="en-GB" sz="1900"/>
              <a:t>16 ÷ 3.99 </a:t>
            </a:r>
            <a:endParaRPr sz="1900"/>
          </a:p>
          <a:p>
            <a:pPr indent="0" lvl="0" marL="0" rtl="0" algn="l">
              <a:spcBef>
                <a:spcPts val="1000"/>
              </a:spcBef>
              <a:spcAft>
                <a:spcPts val="0"/>
              </a:spcAft>
              <a:buClr>
                <a:schemeClr val="dk1"/>
              </a:buClr>
              <a:buSzPts val="1100"/>
              <a:buFont typeface="Arial"/>
              <a:buNone/>
            </a:pPr>
            <a:r>
              <a:rPr lang="en-GB" sz="1900"/>
              <a:t>is this a little more than 4, a little less than 4 or exactly 4?</a:t>
            </a:r>
            <a:endParaRPr sz="1900"/>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162" name="Google Shape;1162;p9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94"/>
          <p:cNvSpPr txBox="1"/>
          <p:nvPr>
            <p:ph idx="1" type="body"/>
          </p:nvPr>
        </p:nvSpPr>
        <p:spPr>
          <a:xfrm>
            <a:off x="324000" y="759300"/>
            <a:ext cx="8237700" cy="99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2) Identify if the following gives an </a:t>
            </a:r>
            <a:r>
              <a:rPr b="1" lang="en-GB" sz="1900"/>
              <a:t>overestimate</a:t>
            </a:r>
            <a:r>
              <a:rPr lang="en-GB" sz="1900"/>
              <a:t>, </a:t>
            </a:r>
            <a:r>
              <a:rPr b="1" lang="en-GB" sz="1900"/>
              <a:t>underestimate </a:t>
            </a:r>
            <a:r>
              <a:rPr lang="en-GB" sz="1900"/>
              <a:t>or if it is hard to determine.</a:t>
            </a:r>
            <a:endParaRPr sz="1900"/>
          </a:p>
          <a:p>
            <a:pPr indent="0" lvl="0" marL="0" rtl="0" algn="l">
              <a:lnSpc>
                <a:spcPct val="150000"/>
              </a:lnSpc>
              <a:spcBef>
                <a:spcPts val="1000"/>
              </a:spcBef>
              <a:spcAft>
                <a:spcPts val="1000"/>
              </a:spcAft>
              <a:buNone/>
            </a:pPr>
            <a:r>
              <a:rPr lang="en-GB" sz="1900"/>
              <a:t> </a:t>
            </a:r>
            <a:endParaRPr sz="1900"/>
          </a:p>
        </p:txBody>
      </p:sp>
      <p:sp>
        <p:nvSpPr>
          <p:cNvPr id="1168" name="Google Shape;1168;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69" name="Google Shape;1169;p94"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93777" l="0" r="0" t="0"/>
          <a:stretch/>
        </p:blipFill>
        <p:spPr>
          <a:xfrm>
            <a:off x="758475" y="1553025"/>
            <a:ext cx="3540716" cy="278039"/>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70" name="Google Shape;1170;p94"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82407" l="0" r="58876" t="6230"/>
          <a:stretch/>
        </p:blipFill>
        <p:spPr>
          <a:xfrm>
            <a:off x="729000" y="2018950"/>
            <a:ext cx="1906050" cy="664574"/>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71" name="Google Shape;1171;p94"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72691" l="0" r="-1729" t="18000"/>
          <a:stretch/>
        </p:blipFill>
        <p:spPr>
          <a:xfrm>
            <a:off x="788624" y="2847616"/>
            <a:ext cx="3480417" cy="401900"/>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72" name="Google Shape;1172;p94"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62714" l="0" r="49842" t="25965"/>
          <a:stretch/>
        </p:blipFill>
        <p:spPr>
          <a:xfrm>
            <a:off x="762500" y="3384125"/>
            <a:ext cx="1906050" cy="542875"/>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73" name="Google Shape;1173;p94"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51508" l="0" r="44258" t="36170"/>
          <a:stretch/>
        </p:blipFill>
        <p:spPr>
          <a:xfrm>
            <a:off x="762500" y="4153275"/>
            <a:ext cx="2118224" cy="590924"/>
          </a:xfrm>
          <a:prstGeom prst="rect">
            <a:avLst/>
          </a:prstGeom>
          <a:noFill/>
          <a:ln>
            <a:noFill/>
          </a:ln>
        </p:spPr>
      </p:pic>
      <p:sp>
        <p:nvSpPr>
          <p:cNvPr id="1174" name="Google Shape;1174;p94"/>
          <p:cNvSpPr txBox="1"/>
          <p:nvPr/>
        </p:nvSpPr>
        <p:spPr>
          <a:xfrm>
            <a:off x="408750" y="1512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a)</a:t>
            </a:r>
            <a:endParaRPr sz="1900">
              <a:solidFill>
                <a:schemeClr val="dk1"/>
              </a:solidFill>
              <a:latin typeface="Lexend"/>
              <a:ea typeface="Lexend"/>
              <a:cs typeface="Lexend"/>
              <a:sym typeface="Lexend"/>
            </a:endParaRPr>
          </a:p>
        </p:txBody>
      </p:sp>
      <p:sp>
        <p:nvSpPr>
          <p:cNvPr id="1175" name="Google Shape;1175;p94"/>
          <p:cNvSpPr txBox="1"/>
          <p:nvPr/>
        </p:nvSpPr>
        <p:spPr>
          <a:xfrm>
            <a:off x="408750" y="21218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b)</a:t>
            </a:r>
            <a:endParaRPr sz="1900">
              <a:solidFill>
                <a:schemeClr val="dk1"/>
              </a:solidFill>
              <a:latin typeface="Lexend"/>
              <a:ea typeface="Lexend"/>
              <a:cs typeface="Lexend"/>
              <a:sym typeface="Lexend"/>
            </a:endParaRPr>
          </a:p>
        </p:txBody>
      </p:sp>
      <p:sp>
        <p:nvSpPr>
          <p:cNvPr id="1176" name="Google Shape;1176;p94"/>
          <p:cNvSpPr txBox="1"/>
          <p:nvPr/>
        </p:nvSpPr>
        <p:spPr>
          <a:xfrm>
            <a:off x="408750" y="28076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c)</a:t>
            </a:r>
            <a:endParaRPr sz="1900">
              <a:solidFill>
                <a:schemeClr val="dk1"/>
              </a:solidFill>
              <a:latin typeface="Lexend"/>
              <a:ea typeface="Lexend"/>
              <a:cs typeface="Lexend"/>
              <a:sym typeface="Lexend"/>
            </a:endParaRPr>
          </a:p>
        </p:txBody>
      </p:sp>
      <p:sp>
        <p:nvSpPr>
          <p:cNvPr id="1177" name="Google Shape;1177;p94"/>
          <p:cNvSpPr txBox="1"/>
          <p:nvPr/>
        </p:nvSpPr>
        <p:spPr>
          <a:xfrm>
            <a:off x="408750" y="3417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d)</a:t>
            </a:r>
            <a:endParaRPr sz="1900">
              <a:solidFill>
                <a:schemeClr val="dk1"/>
              </a:solidFill>
              <a:latin typeface="Lexend"/>
              <a:ea typeface="Lexend"/>
              <a:cs typeface="Lexend"/>
              <a:sym typeface="Lexend"/>
            </a:endParaRPr>
          </a:p>
        </p:txBody>
      </p:sp>
      <p:sp>
        <p:nvSpPr>
          <p:cNvPr id="1178" name="Google Shape;1178;p94"/>
          <p:cNvSpPr txBox="1"/>
          <p:nvPr/>
        </p:nvSpPr>
        <p:spPr>
          <a:xfrm>
            <a:off x="408750" y="4179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e)</a:t>
            </a:r>
            <a:endParaRPr sz="1900">
              <a:solidFill>
                <a:schemeClr val="dk1"/>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95"/>
          <p:cNvSpPr txBox="1"/>
          <p:nvPr>
            <p:ph idx="1" type="body"/>
          </p:nvPr>
        </p:nvSpPr>
        <p:spPr>
          <a:xfrm>
            <a:off x="324000" y="759300"/>
            <a:ext cx="8237700" cy="99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2) Identify if the following gives an </a:t>
            </a:r>
            <a:r>
              <a:rPr b="1" lang="en-GB" sz="1900"/>
              <a:t>overestimate</a:t>
            </a:r>
            <a:r>
              <a:rPr lang="en-GB" sz="1900"/>
              <a:t>, </a:t>
            </a:r>
            <a:r>
              <a:rPr b="1" lang="en-GB" sz="1900"/>
              <a:t>underestimate </a:t>
            </a:r>
            <a:r>
              <a:rPr lang="en-GB" sz="1900"/>
              <a:t>or if it is hard to determine.</a:t>
            </a:r>
            <a:endParaRPr sz="1900"/>
          </a:p>
          <a:p>
            <a:pPr indent="0" lvl="0" marL="0" rtl="0" algn="l">
              <a:lnSpc>
                <a:spcPct val="150000"/>
              </a:lnSpc>
              <a:spcBef>
                <a:spcPts val="1000"/>
              </a:spcBef>
              <a:spcAft>
                <a:spcPts val="1000"/>
              </a:spcAft>
              <a:buNone/>
            </a:pPr>
            <a:r>
              <a:rPr lang="en-GB" sz="1900"/>
              <a:t> </a:t>
            </a:r>
            <a:endParaRPr sz="1900"/>
          </a:p>
        </p:txBody>
      </p:sp>
      <p:sp>
        <p:nvSpPr>
          <p:cNvPr id="1184" name="Google Shape;1184;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85" name="Google Shape;1185;p95"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40218" l="0" r="44258" t="48462"/>
          <a:stretch/>
        </p:blipFill>
        <p:spPr>
          <a:xfrm>
            <a:off x="632675" y="1425650"/>
            <a:ext cx="2118224" cy="542875"/>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86" name="Google Shape;1186;p95"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29283" l="0" r="44258" t="59397"/>
          <a:stretch/>
        </p:blipFill>
        <p:spPr>
          <a:xfrm>
            <a:off x="607050" y="2184150"/>
            <a:ext cx="2118224" cy="542875"/>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87" name="Google Shape;1187;p95"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21587" l="0" r="11582" t="69104"/>
          <a:stretch/>
        </p:blipFill>
        <p:spPr>
          <a:xfrm>
            <a:off x="665573" y="2871509"/>
            <a:ext cx="3024953" cy="401900"/>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88" name="Google Shape;1188;p95"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9291" l="-2693" r="31625" t="78386"/>
          <a:stretch/>
        </p:blipFill>
        <p:spPr>
          <a:xfrm>
            <a:off x="530150" y="3464350"/>
            <a:ext cx="2700625" cy="590924"/>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189" name="Google Shape;1189;p95"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2754" l="-2670" r="46928" t="88897"/>
          <a:stretch/>
        </p:blipFill>
        <p:spPr>
          <a:xfrm>
            <a:off x="504525" y="4155875"/>
            <a:ext cx="2118224" cy="664574"/>
          </a:xfrm>
          <a:prstGeom prst="rect">
            <a:avLst/>
          </a:prstGeom>
          <a:noFill/>
          <a:ln>
            <a:noFill/>
          </a:ln>
        </p:spPr>
      </p:pic>
      <p:sp>
        <p:nvSpPr>
          <p:cNvPr id="1190" name="Google Shape;1190;p95"/>
          <p:cNvSpPr txBox="1"/>
          <p:nvPr/>
        </p:nvSpPr>
        <p:spPr>
          <a:xfrm>
            <a:off x="332550" y="1512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a:t>
            </a:r>
            <a:endParaRPr sz="1900">
              <a:solidFill>
                <a:schemeClr val="dk1"/>
              </a:solidFill>
              <a:latin typeface="Lexend"/>
              <a:ea typeface="Lexend"/>
              <a:cs typeface="Lexend"/>
              <a:sym typeface="Lexend"/>
            </a:endParaRPr>
          </a:p>
        </p:txBody>
      </p:sp>
      <p:sp>
        <p:nvSpPr>
          <p:cNvPr id="1191" name="Google Shape;1191;p95"/>
          <p:cNvSpPr txBox="1"/>
          <p:nvPr/>
        </p:nvSpPr>
        <p:spPr>
          <a:xfrm>
            <a:off x="332550" y="21218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g)</a:t>
            </a:r>
            <a:endParaRPr sz="1900">
              <a:solidFill>
                <a:schemeClr val="dk1"/>
              </a:solidFill>
              <a:latin typeface="Lexend"/>
              <a:ea typeface="Lexend"/>
              <a:cs typeface="Lexend"/>
              <a:sym typeface="Lexend"/>
            </a:endParaRPr>
          </a:p>
        </p:txBody>
      </p:sp>
      <p:sp>
        <p:nvSpPr>
          <p:cNvPr id="1192" name="Google Shape;1192;p95"/>
          <p:cNvSpPr txBox="1"/>
          <p:nvPr/>
        </p:nvSpPr>
        <p:spPr>
          <a:xfrm>
            <a:off x="332550" y="28076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h)</a:t>
            </a:r>
            <a:endParaRPr sz="1900">
              <a:solidFill>
                <a:schemeClr val="dk1"/>
              </a:solidFill>
              <a:latin typeface="Lexend"/>
              <a:ea typeface="Lexend"/>
              <a:cs typeface="Lexend"/>
              <a:sym typeface="Lexend"/>
            </a:endParaRPr>
          </a:p>
        </p:txBody>
      </p:sp>
      <p:sp>
        <p:nvSpPr>
          <p:cNvPr id="1193" name="Google Shape;1193;p95"/>
          <p:cNvSpPr txBox="1"/>
          <p:nvPr/>
        </p:nvSpPr>
        <p:spPr>
          <a:xfrm>
            <a:off x="332550" y="3417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i)</a:t>
            </a:r>
            <a:endParaRPr sz="1900">
              <a:solidFill>
                <a:schemeClr val="dk1"/>
              </a:solidFill>
              <a:latin typeface="Lexend"/>
              <a:ea typeface="Lexend"/>
              <a:cs typeface="Lexend"/>
              <a:sym typeface="Lexend"/>
            </a:endParaRPr>
          </a:p>
        </p:txBody>
      </p:sp>
      <p:sp>
        <p:nvSpPr>
          <p:cNvPr id="1194" name="Google Shape;1194;p95"/>
          <p:cNvSpPr txBox="1"/>
          <p:nvPr/>
        </p:nvSpPr>
        <p:spPr>
          <a:xfrm>
            <a:off x="332550" y="4179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j)</a:t>
            </a:r>
            <a:endParaRPr sz="1900">
              <a:solidFill>
                <a:schemeClr val="dk1"/>
              </a:solidFill>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9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1a) Without calculating, </a:t>
            </a:r>
            <a:endParaRPr sz="1900"/>
          </a:p>
          <a:p>
            <a:pPr indent="0" lvl="0" marL="0" rtl="0" algn="ctr">
              <a:spcBef>
                <a:spcPts val="1000"/>
              </a:spcBef>
              <a:spcAft>
                <a:spcPts val="0"/>
              </a:spcAft>
              <a:buNone/>
            </a:pPr>
            <a:r>
              <a:rPr lang="en-GB" sz="1900"/>
              <a:t>15.99 ÷ 4 </a:t>
            </a:r>
            <a:endParaRPr sz="1900"/>
          </a:p>
          <a:p>
            <a:pPr indent="0" lvl="0" marL="0" rtl="0" algn="l">
              <a:spcBef>
                <a:spcPts val="1000"/>
              </a:spcBef>
              <a:spcAft>
                <a:spcPts val="0"/>
              </a:spcAft>
              <a:buNone/>
            </a:pPr>
            <a:r>
              <a:rPr lang="en-GB" sz="1900"/>
              <a:t>is this a little more than 4, a little less than 4 or exactly 4?</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200"/>
          </a:p>
          <a:p>
            <a:pPr indent="0" lvl="0" marL="0" rtl="0" algn="l">
              <a:spcBef>
                <a:spcPts val="1000"/>
              </a:spcBef>
              <a:spcAft>
                <a:spcPts val="0"/>
              </a:spcAft>
              <a:buNone/>
            </a:pPr>
            <a:r>
              <a:rPr lang="en-GB" sz="1900"/>
              <a:t>b) Without calculating, </a:t>
            </a:r>
            <a:endParaRPr sz="1900"/>
          </a:p>
          <a:p>
            <a:pPr indent="0" lvl="0" marL="0" rtl="0" algn="ctr">
              <a:spcBef>
                <a:spcPts val="1000"/>
              </a:spcBef>
              <a:spcAft>
                <a:spcPts val="0"/>
              </a:spcAft>
              <a:buNone/>
            </a:pPr>
            <a:r>
              <a:rPr lang="en-GB" sz="1900"/>
              <a:t>16 ÷ 3.99 </a:t>
            </a:r>
            <a:endParaRPr sz="1900"/>
          </a:p>
          <a:p>
            <a:pPr indent="0" lvl="0" marL="0" rtl="0" algn="l">
              <a:spcBef>
                <a:spcPts val="1000"/>
              </a:spcBef>
              <a:spcAft>
                <a:spcPts val="0"/>
              </a:spcAft>
              <a:buNone/>
            </a:pPr>
            <a:r>
              <a:rPr lang="en-GB" sz="1900"/>
              <a:t>is this a little more than 4, a little less than 4 or exactly 4?</a:t>
            </a:r>
            <a:endParaRPr sz="1900"/>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200" name="Google Shape;1200;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1201" name="Google Shape;1201;p96"/>
          <p:cNvSpPr txBox="1"/>
          <p:nvPr/>
        </p:nvSpPr>
        <p:spPr>
          <a:xfrm>
            <a:off x="3586500" y="2134050"/>
            <a:ext cx="2640900" cy="87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700">
                <a:solidFill>
                  <a:schemeClr val="dk1"/>
                </a:solidFill>
                <a:latin typeface="Kalam"/>
                <a:ea typeface="Kalam"/>
                <a:cs typeface="Kalam"/>
                <a:sym typeface="Kalam"/>
              </a:rPr>
              <a:t>A little less than 4</a:t>
            </a:r>
            <a:endParaRPr sz="17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t/>
            </a:r>
            <a:endParaRPr sz="1700">
              <a:solidFill>
                <a:schemeClr val="dk1"/>
              </a:solidFill>
              <a:latin typeface="Kalam"/>
              <a:ea typeface="Kalam"/>
              <a:cs typeface="Kalam"/>
              <a:sym typeface="Kalam"/>
            </a:endParaRPr>
          </a:p>
        </p:txBody>
      </p:sp>
      <p:sp>
        <p:nvSpPr>
          <p:cNvPr id="1202" name="Google Shape;1202;p96"/>
          <p:cNvSpPr txBox="1"/>
          <p:nvPr/>
        </p:nvSpPr>
        <p:spPr>
          <a:xfrm>
            <a:off x="3586500" y="4029425"/>
            <a:ext cx="2640900" cy="87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700">
                <a:solidFill>
                  <a:schemeClr val="dk1"/>
                </a:solidFill>
                <a:latin typeface="Kalam"/>
                <a:ea typeface="Kalam"/>
                <a:cs typeface="Kalam"/>
                <a:sym typeface="Kalam"/>
              </a:rPr>
              <a:t>A little more than 4</a:t>
            </a:r>
            <a:endParaRPr sz="17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t/>
            </a:r>
            <a:endParaRPr sz="17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9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2) Identify if the following gives an </a:t>
            </a:r>
            <a:r>
              <a:rPr b="1" lang="en-GB" sz="1900"/>
              <a:t>overestimate</a:t>
            </a:r>
            <a:r>
              <a:rPr lang="en-GB" sz="1900"/>
              <a:t>, </a:t>
            </a:r>
            <a:r>
              <a:rPr b="1" lang="en-GB" sz="1900"/>
              <a:t>underestimate</a:t>
            </a:r>
            <a:r>
              <a:rPr lang="en-GB" sz="1900"/>
              <a:t> or if it is hard to determine.</a:t>
            </a:r>
            <a:endParaRPr sz="1900"/>
          </a:p>
          <a:p>
            <a:pPr indent="0" lvl="0" marL="0" rtl="0" algn="l">
              <a:lnSpc>
                <a:spcPct val="150000"/>
              </a:lnSpc>
              <a:spcBef>
                <a:spcPts val="1000"/>
              </a:spcBef>
              <a:spcAft>
                <a:spcPts val="1000"/>
              </a:spcAft>
              <a:buNone/>
            </a:pPr>
            <a:r>
              <a:rPr lang="en-GB" sz="1900"/>
              <a:t> </a:t>
            </a:r>
            <a:endParaRPr sz="1900"/>
          </a:p>
        </p:txBody>
      </p:sp>
      <p:sp>
        <p:nvSpPr>
          <p:cNvPr id="1208" name="Google Shape;1208;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1209" name="Google Shape;1209;p97"/>
          <p:cNvSpPr txBox="1"/>
          <p:nvPr/>
        </p:nvSpPr>
        <p:spPr>
          <a:xfrm>
            <a:off x="3810716" y="1411841"/>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10" name="Google Shape;1210;p97"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93777" l="0" r="0" t="0"/>
          <a:stretch/>
        </p:blipFill>
        <p:spPr>
          <a:xfrm>
            <a:off x="758475" y="1553025"/>
            <a:ext cx="3540716" cy="278039"/>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11" name="Google Shape;1211;p97"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82407" l="0" r="58876" t="6230"/>
          <a:stretch/>
        </p:blipFill>
        <p:spPr>
          <a:xfrm>
            <a:off x="729000" y="2018950"/>
            <a:ext cx="1906050" cy="664574"/>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12" name="Google Shape;1212;p97"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72691" l="0" r="-1729" t="18000"/>
          <a:stretch/>
        </p:blipFill>
        <p:spPr>
          <a:xfrm>
            <a:off x="788624" y="2847616"/>
            <a:ext cx="3480417" cy="401900"/>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13" name="Google Shape;1213;p97"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62714" l="0" r="49842" t="25965"/>
          <a:stretch/>
        </p:blipFill>
        <p:spPr>
          <a:xfrm>
            <a:off x="762500" y="3384125"/>
            <a:ext cx="1906050" cy="542875"/>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14" name="Google Shape;1214;p97"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51508" l="0" r="44258" t="36170"/>
          <a:stretch/>
        </p:blipFill>
        <p:spPr>
          <a:xfrm>
            <a:off x="762500" y="4153275"/>
            <a:ext cx="2118224" cy="590924"/>
          </a:xfrm>
          <a:prstGeom prst="rect">
            <a:avLst/>
          </a:prstGeom>
          <a:noFill/>
          <a:ln>
            <a:noFill/>
          </a:ln>
        </p:spPr>
      </p:pic>
      <p:sp>
        <p:nvSpPr>
          <p:cNvPr id="1215" name="Google Shape;1215;p97"/>
          <p:cNvSpPr txBox="1"/>
          <p:nvPr/>
        </p:nvSpPr>
        <p:spPr>
          <a:xfrm>
            <a:off x="408750" y="1512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a)</a:t>
            </a:r>
            <a:endParaRPr sz="1900">
              <a:solidFill>
                <a:schemeClr val="dk1"/>
              </a:solidFill>
              <a:latin typeface="Lexend"/>
              <a:ea typeface="Lexend"/>
              <a:cs typeface="Lexend"/>
              <a:sym typeface="Lexend"/>
            </a:endParaRPr>
          </a:p>
        </p:txBody>
      </p:sp>
      <p:sp>
        <p:nvSpPr>
          <p:cNvPr id="1216" name="Google Shape;1216;p97"/>
          <p:cNvSpPr txBox="1"/>
          <p:nvPr/>
        </p:nvSpPr>
        <p:spPr>
          <a:xfrm>
            <a:off x="408750" y="21218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b)</a:t>
            </a:r>
            <a:endParaRPr sz="1900">
              <a:solidFill>
                <a:schemeClr val="dk1"/>
              </a:solidFill>
              <a:latin typeface="Lexend"/>
              <a:ea typeface="Lexend"/>
              <a:cs typeface="Lexend"/>
              <a:sym typeface="Lexend"/>
            </a:endParaRPr>
          </a:p>
        </p:txBody>
      </p:sp>
      <p:sp>
        <p:nvSpPr>
          <p:cNvPr id="1217" name="Google Shape;1217;p97"/>
          <p:cNvSpPr txBox="1"/>
          <p:nvPr/>
        </p:nvSpPr>
        <p:spPr>
          <a:xfrm>
            <a:off x="408750" y="28076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c)</a:t>
            </a:r>
            <a:endParaRPr sz="1900">
              <a:solidFill>
                <a:schemeClr val="dk1"/>
              </a:solidFill>
              <a:latin typeface="Lexend"/>
              <a:ea typeface="Lexend"/>
              <a:cs typeface="Lexend"/>
              <a:sym typeface="Lexend"/>
            </a:endParaRPr>
          </a:p>
        </p:txBody>
      </p:sp>
      <p:sp>
        <p:nvSpPr>
          <p:cNvPr id="1218" name="Google Shape;1218;p97"/>
          <p:cNvSpPr txBox="1"/>
          <p:nvPr/>
        </p:nvSpPr>
        <p:spPr>
          <a:xfrm>
            <a:off x="408750" y="3417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d)</a:t>
            </a:r>
            <a:endParaRPr sz="1900">
              <a:solidFill>
                <a:schemeClr val="dk1"/>
              </a:solidFill>
              <a:latin typeface="Lexend"/>
              <a:ea typeface="Lexend"/>
              <a:cs typeface="Lexend"/>
              <a:sym typeface="Lexend"/>
            </a:endParaRPr>
          </a:p>
        </p:txBody>
      </p:sp>
      <p:sp>
        <p:nvSpPr>
          <p:cNvPr id="1219" name="Google Shape;1219;p97"/>
          <p:cNvSpPr txBox="1"/>
          <p:nvPr/>
        </p:nvSpPr>
        <p:spPr>
          <a:xfrm>
            <a:off x="408750" y="4179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e)</a:t>
            </a:r>
            <a:endParaRPr sz="1900">
              <a:solidFill>
                <a:schemeClr val="dk1"/>
              </a:solidFill>
              <a:latin typeface="Lexend"/>
              <a:ea typeface="Lexend"/>
              <a:cs typeface="Lexend"/>
              <a:sym typeface="Lexend"/>
            </a:endParaRPr>
          </a:p>
        </p:txBody>
      </p:sp>
      <p:sp>
        <p:nvSpPr>
          <p:cNvPr id="1220" name="Google Shape;1220;p97"/>
          <p:cNvSpPr txBox="1"/>
          <p:nvPr/>
        </p:nvSpPr>
        <p:spPr>
          <a:xfrm>
            <a:off x="2741316" y="2129728"/>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1221" name="Google Shape;1221;p97"/>
          <p:cNvSpPr txBox="1"/>
          <p:nvPr/>
        </p:nvSpPr>
        <p:spPr>
          <a:xfrm>
            <a:off x="4448716" y="2700003"/>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1222" name="Google Shape;1222;p97"/>
          <p:cNvSpPr txBox="1"/>
          <p:nvPr/>
        </p:nvSpPr>
        <p:spPr>
          <a:xfrm>
            <a:off x="2954691" y="3384128"/>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1223" name="Google Shape;1223;p97"/>
          <p:cNvSpPr txBox="1"/>
          <p:nvPr/>
        </p:nvSpPr>
        <p:spPr>
          <a:xfrm>
            <a:off x="3320691" y="4153278"/>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Underestimate</a:t>
            </a:r>
            <a:endParaRPr b="1" sz="13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9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2) Identify if the following gives an </a:t>
            </a:r>
            <a:r>
              <a:rPr b="1" lang="en-GB" sz="1900"/>
              <a:t>overestimate</a:t>
            </a:r>
            <a:r>
              <a:rPr lang="en-GB" sz="1900"/>
              <a:t>, </a:t>
            </a:r>
            <a:r>
              <a:rPr b="1" lang="en-GB" sz="1900"/>
              <a:t>underestimate</a:t>
            </a:r>
            <a:r>
              <a:rPr lang="en-GB" sz="1900"/>
              <a:t> or if it is hard to determine.</a:t>
            </a:r>
            <a:endParaRPr sz="1900"/>
          </a:p>
          <a:p>
            <a:pPr indent="0" lvl="0" marL="0" rtl="0" algn="l">
              <a:lnSpc>
                <a:spcPct val="150000"/>
              </a:lnSpc>
              <a:spcBef>
                <a:spcPts val="1000"/>
              </a:spcBef>
              <a:spcAft>
                <a:spcPts val="1000"/>
              </a:spcAft>
              <a:buNone/>
            </a:pPr>
            <a:r>
              <a:rPr lang="en-GB" sz="1900"/>
              <a:t> </a:t>
            </a:r>
            <a:endParaRPr sz="1900"/>
          </a:p>
        </p:txBody>
      </p:sp>
      <p:sp>
        <p:nvSpPr>
          <p:cNvPr id="1229" name="Google Shape;1229;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30" name="Google Shape;1230;p98"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40218" l="0" r="44258" t="48462"/>
          <a:stretch/>
        </p:blipFill>
        <p:spPr>
          <a:xfrm>
            <a:off x="632675" y="1425650"/>
            <a:ext cx="2118224" cy="542875"/>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31" name="Google Shape;1231;p98"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29283" l="0" r="44258" t="59397"/>
          <a:stretch/>
        </p:blipFill>
        <p:spPr>
          <a:xfrm>
            <a:off x="607050" y="2184150"/>
            <a:ext cx="2118224" cy="542875"/>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32" name="Google Shape;1232;p98"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21587" l="0" r="11582" t="69104"/>
          <a:stretch/>
        </p:blipFill>
        <p:spPr>
          <a:xfrm>
            <a:off x="665573" y="2871509"/>
            <a:ext cx="3024953" cy="401900"/>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33" name="Google Shape;1233;p98"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9291" l="-2693" r="31625" t="78386"/>
          <a:stretch/>
        </p:blipFill>
        <p:spPr>
          <a:xfrm>
            <a:off x="530150" y="3464350"/>
            <a:ext cx="2700625" cy="590924"/>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234" name="Google Shape;1234;p98"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2754" l="-2670" r="46928" t="88897"/>
          <a:stretch/>
        </p:blipFill>
        <p:spPr>
          <a:xfrm>
            <a:off x="504525" y="4155875"/>
            <a:ext cx="2118224" cy="664574"/>
          </a:xfrm>
          <a:prstGeom prst="rect">
            <a:avLst/>
          </a:prstGeom>
          <a:noFill/>
          <a:ln>
            <a:noFill/>
          </a:ln>
        </p:spPr>
      </p:pic>
      <p:sp>
        <p:nvSpPr>
          <p:cNvPr id="1235" name="Google Shape;1235;p98"/>
          <p:cNvSpPr txBox="1"/>
          <p:nvPr/>
        </p:nvSpPr>
        <p:spPr>
          <a:xfrm>
            <a:off x="332550" y="1512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a:t>
            </a:r>
            <a:endParaRPr sz="1900">
              <a:solidFill>
                <a:schemeClr val="dk1"/>
              </a:solidFill>
              <a:latin typeface="Lexend"/>
              <a:ea typeface="Lexend"/>
              <a:cs typeface="Lexend"/>
              <a:sym typeface="Lexend"/>
            </a:endParaRPr>
          </a:p>
        </p:txBody>
      </p:sp>
      <p:sp>
        <p:nvSpPr>
          <p:cNvPr id="1236" name="Google Shape;1236;p98"/>
          <p:cNvSpPr txBox="1"/>
          <p:nvPr/>
        </p:nvSpPr>
        <p:spPr>
          <a:xfrm>
            <a:off x="332550" y="21218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g)</a:t>
            </a:r>
            <a:endParaRPr sz="1900">
              <a:solidFill>
                <a:schemeClr val="dk1"/>
              </a:solidFill>
              <a:latin typeface="Lexend"/>
              <a:ea typeface="Lexend"/>
              <a:cs typeface="Lexend"/>
              <a:sym typeface="Lexend"/>
            </a:endParaRPr>
          </a:p>
        </p:txBody>
      </p:sp>
      <p:sp>
        <p:nvSpPr>
          <p:cNvPr id="1237" name="Google Shape;1237;p98"/>
          <p:cNvSpPr txBox="1"/>
          <p:nvPr/>
        </p:nvSpPr>
        <p:spPr>
          <a:xfrm>
            <a:off x="332550" y="28076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h)</a:t>
            </a:r>
            <a:endParaRPr sz="1900">
              <a:solidFill>
                <a:schemeClr val="dk1"/>
              </a:solidFill>
              <a:latin typeface="Lexend"/>
              <a:ea typeface="Lexend"/>
              <a:cs typeface="Lexend"/>
              <a:sym typeface="Lexend"/>
            </a:endParaRPr>
          </a:p>
        </p:txBody>
      </p:sp>
      <p:sp>
        <p:nvSpPr>
          <p:cNvPr id="1238" name="Google Shape;1238;p98"/>
          <p:cNvSpPr txBox="1"/>
          <p:nvPr/>
        </p:nvSpPr>
        <p:spPr>
          <a:xfrm>
            <a:off x="332550" y="3417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i)</a:t>
            </a:r>
            <a:endParaRPr sz="1900">
              <a:solidFill>
                <a:schemeClr val="dk1"/>
              </a:solidFill>
              <a:latin typeface="Lexend"/>
              <a:ea typeface="Lexend"/>
              <a:cs typeface="Lexend"/>
              <a:sym typeface="Lexend"/>
            </a:endParaRPr>
          </a:p>
        </p:txBody>
      </p:sp>
      <p:sp>
        <p:nvSpPr>
          <p:cNvPr id="1239" name="Google Shape;1239;p98"/>
          <p:cNvSpPr txBox="1"/>
          <p:nvPr/>
        </p:nvSpPr>
        <p:spPr>
          <a:xfrm>
            <a:off x="332550" y="41792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j)</a:t>
            </a:r>
            <a:endParaRPr sz="1900">
              <a:solidFill>
                <a:schemeClr val="dk1"/>
              </a:solidFill>
              <a:latin typeface="Lexend"/>
              <a:ea typeface="Lexend"/>
              <a:cs typeface="Lexend"/>
              <a:sym typeface="Lexend"/>
            </a:endParaRPr>
          </a:p>
        </p:txBody>
      </p:sp>
      <p:sp>
        <p:nvSpPr>
          <p:cNvPr id="1240" name="Google Shape;1240;p98"/>
          <p:cNvSpPr txBox="1"/>
          <p:nvPr/>
        </p:nvSpPr>
        <p:spPr>
          <a:xfrm>
            <a:off x="2972516" y="1411841"/>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Underestimate</a:t>
            </a:r>
            <a:endParaRPr b="1" sz="1300">
              <a:latin typeface="Kalam"/>
              <a:ea typeface="Kalam"/>
              <a:cs typeface="Kalam"/>
              <a:sym typeface="Kalam"/>
            </a:endParaRPr>
          </a:p>
        </p:txBody>
      </p:sp>
      <p:sp>
        <p:nvSpPr>
          <p:cNvPr id="1241" name="Google Shape;1241;p98"/>
          <p:cNvSpPr txBox="1"/>
          <p:nvPr/>
        </p:nvSpPr>
        <p:spPr>
          <a:xfrm>
            <a:off x="2741316" y="2129728"/>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1242" name="Google Shape;1242;p98"/>
          <p:cNvSpPr txBox="1"/>
          <p:nvPr/>
        </p:nvSpPr>
        <p:spPr>
          <a:xfrm>
            <a:off x="4098291" y="2847603"/>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1243" name="Google Shape;1243;p98"/>
          <p:cNvSpPr txBox="1"/>
          <p:nvPr/>
        </p:nvSpPr>
        <p:spPr>
          <a:xfrm>
            <a:off x="2954691" y="3384128"/>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700">
                <a:solidFill>
                  <a:schemeClr val="dk1"/>
                </a:solidFill>
                <a:latin typeface="Kalam"/>
                <a:ea typeface="Kalam"/>
                <a:cs typeface="Kalam"/>
                <a:sym typeface="Kalam"/>
              </a:rPr>
              <a:t>Overestimate</a:t>
            </a:r>
            <a:endParaRPr b="1" sz="1300">
              <a:latin typeface="Kalam"/>
              <a:ea typeface="Kalam"/>
              <a:cs typeface="Kalam"/>
              <a:sym typeface="Kalam"/>
            </a:endParaRPr>
          </a:p>
        </p:txBody>
      </p:sp>
      <p:sp>
        <p:nvSpPr>
          <p:cNvPr id="1244" name="Google Shape;1244;p98"/>
          <p:cNvSpPr txBox="1"/>
          <p:nvPr/>
        </p:nvSpPr>
        <p:spPr>
          <a:xfrm>
            <a:off x="2560941" y="4246228"/>
            <a:ext cx="1617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700">
                <a:solidFill>
                  <a:schemeClr val="dk1"/>
                </a:solidFill>
                <a:latin typeface="Kalam"/>
                <a:ea typeface="Kalam"/>
                <a:cs typeface="Kalam"/>
                <a:sym typeface="Kalam"/>
              </a:rPr>
              <a:t>Hard to tell</a:t>
            </a:r>
            <a:endParaRPr sz="13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99"/>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multiplication and addition</a:t>
            </a:r>
            <a:endParaRPr/>
          </a:p>
        </p:txBody>
      </p:sp>
      <p:sp>
        <p:nvSpPr>
          <p:cNvPr id="1250" name="Google Shape;1250;p9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with division and subtraction</a:t>
            </a:r>
            <a:endParaRPr/>
          </a:p>
        </p:txBody>
      </p:sp>
      <p:sp>
        <p:nvSpPr>
          <p:cNvPr id="1251" name="Google Shape;1251;p9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1252" name="Google Shape;1252;p9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Overestimating vs underestimating</a:t>
            </a:r>
            <a:endParaRPr/>
          </a:p>
        </p:txBody>
      </p:sp>
      <p:pic>
        <p:nvPicPr>
          <p:cNvPr id="1253" name="Google Shape;1253;p99"/>
          <p:cNvPicPr preferRelativeResize="0"/>
          <p:nvPr/>
        </p:nvPicPr>
        <p:blipFill>
          <a:blip r:embed="rId3">
            <a:alphaModFix/>
          </a:blip>
          <a:stretch>
            <a:fillRect/>
          </a:stretch>
        </p:blipFill>
        <p:spPr>
          <a:xfrm>
            <a:off x="427356" y="3700475"/>
            <a:ext cx="450575" cy="446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0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operation and the rounding play an important part when identifying if a number will be an </a:t>
            </a:r>
            <a:r>
              <a:rPr b="1" lang="en-GB"/>
              <a:t>overestimate </a:t>
            </a:r>
            <a:r>
              <a:rPr lang="en-GB"/>
              <a:t>or </a:t>
            </a:r>
            <a:r>
              <a:rPr b="1" lang="en-GB"/>
              <a:t>underestimate</a:t>
            </a:r>
            <a:r>
              <a:rPr lang="en-GB"/>
              <a:t>. </a:t>
            </a:r>
            <a:endParaRPr/>
          </a:p>
          <a:p>
            <a:pPr indent="0" lvl="0" marL="0" rtl="0" algn="l">
              <a:spcBef>
                <a:spcPts val="1000"/>
              </a:spcBef>
              <a:spcAft>
                <a:spcPts val="1000"/>
              </a:spcAft>
              <a:buNone/>
            </a:pPr>
            <a:r>
              <a:rPr b="1" lang="en-GB"/>
              <a:t>Overestimating </a:t>
            </a:r>
            <a:r>
              <a:rPr lang="en-GB"/>
              <a:t>and </a:t>
            </a:r>
            <a:r>
              <a:rPr b="1" lang="en-GB"/>
              <a:t>underestimating </a:t>
            </a:r>
            <a:r>
              <a:rPr lang="en-GB"/>
              <a:t>have a practical role in real life.</a:t>
            </a:r>
            <a:endParaRPr/>
          </a:p>
        </p:txBody>
      </p:sp>
      <p:sp>
        <p:nvSpPr>
          <p:cNvPr id="1259" name="Google Shape;1259;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10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1265" name="Google Shape;1265;p101"/>
          <p:cNvSpPr txBox="1"/>
          <p:nvPr/>
        </p:nvSpPr>
        <p:spPr>
          <a:xfrm>
            <a:off x="324000" y="3754950"/>
            <a:ext cx="7678800" cy="595800"/>
          </a:xfrm>
          <a:prstGeom prst="rect">
            <a:avLst/>
          </a:prstGeom>
          <a:noFill/>
          <a:ln>
            <a:noFill/>
          </a:ln>
        </p:spPr>
        <p:txBody>
          <a:bodyPr anchorCtr="0" anchor="t" bIns="0" lIns="0" spcFirstLastPara="1" rIns="0" wrap="square" tIns="0">
            <a:spAutoFit/>
          </a:bodyPr>
          <a:lstStyle/>
          <a:p>
            <a:pPr indent="-12700" lvl="0" marL="12700" rtl="0" algn="l">
              <a:lnSpc>
                <a:spcPct val="115000"/>
              </a:lnSpc>
              <a:spcBef>
                <a:spcPts val="500"/>
              </a:spcBef>
              <a:spcAft>
                <a:spcPts val="0"/>
              </a:spcAft>
              <a:buNone/>
            </a:pPr>
            <a:r>
              <a:rPr lang="en-GB" sz="1800">
                <a:solidFill>
                  <a:schemeClr val="dk1"/>
                </a:solidFill>
                <a:latin typeface="Lexend"/>
                <a:ea typeface="Lexend"/>
                <a:cs typeface="Lexend"/>
                <a:sym typeface="Lexend"/>
              </a:rPr>
              <a:t>Choose and justify which estimate would be most appropriate in this scenario.</a:t>
            </a:r>
            <a:endParaRPr sz="1800">
              <a:solidFill>
                <a:schemeClr val="dk1"/>
              </a:solidFill>
              <a:latin typeface="Lexend"/>
              <a:ea typeface="Lexend"/>
              <a:cs typeface="Lexend"/>
              <a:sym typeface="Lexend"/>
            </a:endParaRPr>
          </a:p>
        </p:txBody>
      </p:sp>
      <p:pic>
        <p:nvPicPr>
          <p:cNvPr id="1266" name="Google Shape;1266;p101"/>
          <p:cNvPicPr preferRelativeResize="0"/>
          <p:nvPr/>
        </p:nvPicPr>
        <p:blipFill>
          <a:blip r:embed="rId3">
            <a:alphaModFix/>
          </a:blip>
          <a:stretch>
            <a:fillRect/>
          </a:stretch>
        </p:blipFill>
        <p:spPr>
          <a:xfrm>
            <a:off x="324000" y="925850"/>
            <a:ext cx="2820200" cy="1476175"/>
          </a:xfrm>
          <a:prstGeom prst="rect">
            <a:avLst/>
          </a:prstGeom>
          <a:noFill/>
          <a:ln>
            <a:noFill/>
          </a:ln>
        </p:spPr>
      </p:pic>
      <p:sp>
        <p:nvSpPr>
          <p:cNvPr id="1267" name="Google Shape;1267;p101"/>
          <p:cNvSpPr txBox="1"/>
          <p:nvPr>
            <p:ph idx="1" type="body"/>
          </p:nvPr>
        </p:nvSpPr>
        <p:spPr>
          <a:xfrm>
            <a:off x="3326875" y="733800"/>
            <a:ext cx="5528100" cy="2273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Three friends are going on holiday. The total cost of the holiday is £1784, which they are going to share equally.</a:t>
            </a:r>
            <a:endParaRPr sz="1800"/>
          </a:p>
          <a:p>
            <a:pPr indent="0" lvl="0" marL="0" rtl="0" algn="l">
              <a:lnSpc>
                <a:spcPct val="100000"/>
              </a:lnSpc>
              <a:spcBef>
                <a:spcPts val="1000"/>
              </a:spcBef>
              <a:spcAft>
                <a:spcPts val="0"/>
              </a:spcAft>
              <a:buNone/>
            </a:pPr>
            <a:r>
              <a:rPr lang="en-GB" sz="1800"/>
              <a:t>Aisha uses a calculator to work out 1784 ÷ 3 </a:t>
            </a:r>
            <a:endParaRPr sz="1800"/>
          </a:p>
          <a:p>
            <a:pPr indent="0" lvl="0" marL="0" rtl="0" algn="l">
              <a:lnSpc>
                <a:spcPct val="100000"/>
              </a:lnSpc>
              <a:spcBef>
                <a:spcPts val="1000"/>
              </a:spcBef>
              <a:spcAft>
                <a:spcPts val="0"/>
              </a:spcAft>
              <a:buNone/>
            </a:pPr>
            <a:r>
              <a:rPr lang="en-GB" sz="1800"/>
              <a:t>She thinks of six different ways to tell her friends how much they will each pay.</a:t>
            </a:r>
            <a:endParaRPr sz="1800"/>
          </a:p>
          <a:p>
            <a:pPr indent="0" lvl="0" marL="0" rtl="0" algn="l">
              <a:spcBef>
                <a:spcPts val="1000"/>
              </a:spcBef>
              <a:spcAft>
                <a:spcPts val="1000"/>
              </a:spcAft>
              <a:buNone/>
            </a:pPr>
            <a:r>
              <a:t/>
            </a:r>
            <a:endParaRPr sz="1800"/>
          </a:p>
        </p:txBody>
      </p:sp>
      <p:sp>
        <p:nvSpPr>
          <p:cNvPr id="1268" name="Google Shape;1268;p101"/>
          <p:cNvSpPr txBox="1"/>
          <p:nvPr/>
        </p:nvSpPr>
        <p:spPr>
          <a:xfrm>
            <a:off x="1882500" y="2681150"/>
            <a:ext cx="5576700" cy="1068000"/>
          </a:xfrm>
          <a:prstGeom prst="rect">
            <a:avLst/>
          </a:prstGeom>
          <a:noFill/>
          <a:ln>
            <a:noFill/>
          </a:ln>
        </p:spPr>
        <p:txBody>
          <a:bodyPr anchorCtr="0" anchor="t" bIns="91425" lIns="91425" spcFirstLastPara="1" rIns="91425" wrap="square" tIns="91425">
            <a:noAutofit/>
          </a:bodyPr>
          <a:lstStyle/>
          <a:p>
            <a:pPr indent="-12700" lvl="0" marL="12700" rtl="0" algn="l">
              <a:lnSpc>
                <a:spcPct val="115000"/>
              </a:lnSpc>
              <a:spcBef>
                <a:spcPts val="500"/>
              </a:spcBef>
              <a:spcAft>
                <a:spcPts val="0"/>
              </a:spcAft>
              <a:buNone/>
            </a:pPr>
            <a:r>
              <a:rPr lang="en-GB" sz="1800">
                <a:solidFill>
                  <a:schemeClr val="dk1"/>
                </a:solidFill>
                <a:latin typeface="Lexend"/>
                <a:ea typeface="Lexend"/>
                <a:cs typeface="Lexend"/>
                <a:sym typeface="Lexend"/>
              </a:rPr>
              <a:t>●about £600    ●about £1000   ●about £590</a:t>
            </a:r>
            <a:endParaRPr sz="1800">
              <a:solidFill>
                <a:schemeClr val="dk1"/>
              </a:solidFill>
              <a:latin typeface="Lexend"/>
              <a:ea typeface="Lexend"/>
              <a:cs typeface="Lexend"/>
              <a:sym typeface="Lexend"/>
            </a:endParaRPr>
          </a:p>
          <a:p>
            <a:pPr indent="-12700" lvl="0" marL="12700" rtl="0" algn="l">
              <a:lnSpc>
                <a:spcPct val="115000"/>
              </a:lnSpc>
              <a:spcBef>
                <a:spcPts val="500"/>
              </a:spcBef>
              <a:spcAft>
                <a:spcPts val="0"/>
              </a:spcAft>
              <a:buNone/>
            </a:pPr>
            <a:r>
              <a:t/>
            </a:r>
            <a:endParaRPr sz="1800">
              <a:solidFill>
                <a:srgbClr val="585858"/>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1269" name="Google Shape;1269;p101"/>
          <p:cNvSpPr txBox="1"/>
          <p:nvPr/>
        </p:nvSpPr>
        <p:spPr>
          <a:xfrm>
            <a:off x="1882500" y="3114988"/>
            <a:ext cx="5679300" cy="461700"/>
          </a:xfrm>
          <a:prstGeom prst="rect">
            <a:avLst/>
          </a:prstGeom>
          <a:noFill/>
          <a:ln>
            <a:noFill/>
          </a:ln>
        </p:spPr>
        <p:txBody>
          <a:bodyPr anchorCtr="0" anchor="t" bIns="91425" lIns="91425" spcFirstLastPara="1" rIns="91425" wrap="square" tIns="91425">
            <a:spAutoFit/>
          </a:bodyPr>
          <a:lstStyle/>
          <a:p>
            <a:pPr indent="-12700" lvl="0" marL="12700" rtl="0" algn="l">
              <a:lnSpc>
                <a:spcPct val="115000"/>
              </a:lnSpc>
              <a:spcBef>
                <a:spcPts val="500"/>
              </a:spcBef>
              <a:spcAft>
                <a:spcPts val="0"/>
              </a:spcAft>
              <a:buNone/>
            </a:pPr>
            <a:r>
              <a:rPr lang="en-GB" sz="1800">
                <a:solidFill>
                  <a:schemeClr val="dk1"/>
                </a:solidFill>
                <a:latin typeface="Lexend"/>
                <a:ea typeface="Lexend"/>
                <a:cs typeface="Lexend"/>
                <a:sym typeface="Lexend"/>
              </a:rPr>
              <a:t>●about £594    ●about £595     ●about £594.66</a:t>
            </a:r>
            <a:endParaRPr sz="1800">
              <a:solidFill>
                <a:schemeClr val="dk1"/>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10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1275" name="Google Shape;1275;p102"/>
          <p:cNvSpPr txBox="1"/>
          <p:nvPr>
            <p:ph idx="1" type="body"/>
          </p:nvPr>
        </p:nvSpPr>
        <p:spPr>
          <a:xfrm>
            <a:off x="3326875" y="657600"/>
            <a:ext cx="5528100" cy="2273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Three friends are going on holiday. The total cost of the holiday is £1784, which they are going to share equally.</a:t>
            </a:r>
            <a:endParaRPr sz="1800"/>
          </a:p>
          <a:p>
            <a:pPr indent="0" lvl="0" marL="0" rtl="0" algn="l">
              <a:lnSpc>
                <a:spcPct val="100000"/>
              </a:lnSpc>
              <a:spcBef>
                <a:spcPts val="1000"/>
              </a:spcBef>
              <a:spcAft>
                <a:spcPts val="0"/>
              </a:spcAft>
              <a:buNone/>
            </a:pPr>
            <a:r>
              <a:rPr lang="en-GB" sz="1800"/>
              <a:t>Aisha uses a calculator to work out 1784 ÷ 3 </a:t>
            </a:r>
            <a:endParaRPr sz="1800"/>
          </a:p>
          <a:p>
            <a:pPr indent="0" lvl="0" marL="0" rtl="0" algn="l">
              <a:lnSpc>
                <a:spcPct val="100000"/>
              </a:lnSpc>
              <a:spcBef>
                <a:spcPts val="1000"/>
              </a:spcBef>
              <a:spcAft>
                <a:spcPts val="0"/>
              </a:spcAft>
              <a:buNone/>
            </a:pPr>
            <a:r>
              <a:rPr lang="en-GB" sz="1800"/>
              <a:t>She thinks of six different ways to tell her friends how much they will each pay.</a:t>
            </a:r>
            <a:endParaRPr sz="1800"/>
          </a:p>
          <a:p>
            <a:pPr indent="0" lvl="0" marL="0" rtl="0" algn="l">
              <a:spcBef>
                <a:spcPts val="1000"/>
              </a:spcBef>
              <a:spcAft>
                <a:spcPts val="1000"/>
              </a:spcAft>
              <a:buNone/>
            </a:pPr>
            <a:r>
              <a:t/>
            </a:r>
            <a:endParaRPr sz="1800"/>
          </a:p>
        </p:txBody>
      </p:sp>
      <p:sp>
        <p:nvSpPr>
          <p:cNvPr id="1276" name="Google Shape;1276;p102"/>
          <p:cNvSpPr txBox="1"/>
          <p:nvPr/>
        </p:nvSpPr>
        <p:spPr>
          <a:xfrm>
            <a:off x="324000" y="3639350"/>
            <a:ext cx="8531100" cy="914400"/>
          </a:xfrm>
          <a:prstGeom prst="rect">
            <a:avLst/>
          </a:prstGeom>
          <a:noFill/>
          <a:ln>
            <a:noFill/>
          </a:ln>
        </p:spPr>
        <p:txBody>
          <a:bodyPr anchorCtr="0" anchor="t" bIns="0" lIns="0" spcFirstLastPara="1" rIns="0" wrap="square" tIns="0">
            <a:spAutoFit/>
          </a:bodyPr>
          <a:lstStyle/>
          <a:p>
            <a:pPr indent="-12700" lvl="0" marL="12700" rtl="0" algn="l">
              <a:lnSpc>
                <a:spcPct val="115000"/>
              </a:lnSpc>
              <a:spcBef>
                <a:spcPts val="500"/>
              </a:spcBef>
              <a:spcAft>
                <a:spcPts val="0"/>
              </a:spcAft>
              <a:buNone/>
            </a:pPr>
            <a:r>
              <a:rPr lang="en-GB" sz="1800">
                <a:solidFill>
                  <a:schemeClr val="dk1"/>
                </a:solidFill>
                <a:latin typeface="Kalam"/>
                <a:ea typeface="Kalam"/>
                <a:cs typeface="Kalam"/>
                <a:sym typeface="Kalam"/>
              </a:rPr>
              <a:t>£595 might be is best as it doesn’t involve dealing with small coins and doesn’t end up short of the total. Given money is always dealt with to two decimal places, £594.66 should be rounded to 594.67. Using £594.66 leaves them 2 p short.</a:t>
            </a:r>
            <a:endParaRPr sz="1800">
              <a:solidFill>
                <a:schemeClr val="dk1"/>
              </a:solidFill>
              <a:latin typeface="Kalam"/>
              <a:ea typeface="Kalam"/>
              <a:cs typeface="Kalam"/>
              <a:sym typeface="Kalam"/>
            </a:endParaRPr>
          </a:p>
        </p:txBody>
      </p:sp>
      <p:pic>
        <p:nvPicPr>
          <p:cNvPr id="1277" name="Google Shape;1277;p102"/>
          <p:cNvPicPr preferRelativeResize="0"/>
          <p:nvPr/>
        </p:nvPicPr>
        <p:blipFill>
          <a:blip r:embed="rId3">
            <a:alphaModFix/>
          </a:blip>
          <a:stretch>
            <a:fillRect/>
          </a:stretch>
        </p:blipFill>
        <p:spPr>
          <a:xfrm>
            <a:off x="324000" y="925850"/>
            <a:ext cx="2820200" cy="1476175"/>
          </a:xfrm>
          <a:prstGeom prst="rect">
            <a:avLst/>
          </a:prstGeom>
          <a:noFill/>
          <a:ln>
            <a:noFill/>
          </a:ln>
        </p:spPr>
      </p:pic>
      <p:sp>
        <p:nvSpPr>
          <p:cNvPr id="1278" name="Google Shape;1278;p102"/>
          <p:cNvSpPr txBox="1"/>
          <p:nvPr/>
        </p:nvSpPr>
        <p:spPr>
          <a:xfrm>
            <a:off x="1882500" y="2604950"/>
            <a:ext cx="5576700" cy="1068000"/>
          </a:xfrm>
          <a:prstGeom prst="rect">
            <a:avLst/>
          </a:prstGeom>
          <a:noFill/>
          <a:ln>
            <a:noFill/>
          </a:ln>
        </p:spPr>
        <p:txBody>
          <a:bodyPr anchorCtr="0" anchor="t" bIns="91425" lIns="91425" spcFirstLastPara="1" rIns="91425" wrap="square" tIns="91425">
            <a:noAutofit/>
          </a:bodyPr>
          <a:lstStyle/>
          <a:p>
            <a:pPr indent="-12700" lvl="0" marL="12700" rtl="0" algn="l">
              <a:lnSpc>
                <a:spcPct val="115000"/>
              </a:lnSpc>
              <a:spcBef>
                <a:spcPts val="500"/>
              </a:spcBef>
              <a:spcAft>
                <a:spcPts val="0"/>
              </a:spcAft>
              <a:buNone/>
            </a:pPr>
            <a:r>
              <a:rPr lang="en-GB" sz="1800">
                <a:solidFill>
                  <a:schemeClr val="dk1"/>
                </a:solidFill>
                <a:latin typeface="Lexend"/>
                <a:ea typeface="Lexend"/>
                <a:cs typeface="Lexend"/>
                <a:sym typeface="Lexend"/>
              </a:rPr>
              <a:t>●about £600    ●about £1000   ●about £590</a:t>
            </a:r>
            <a:endParaRPr sz="1800">
              <a:solidFill>
                <a:schemeClr val="dk1"/>
              </a:solidFill>
              <a:latin typeface="Lexend"/>
              <a:ea typeface="Lexend"/>
              <a:cs typeface="Lexend"/>
              <a:sym typeface="Lexend"/>
            </a:endParaRPr>
          </a:p>
          <a:p>
            <a:pPr indent="-12700" lvl="0" marL="12700" rtl="0" algn="l">
              <a:lnSpc>
                <a:spcPct val="115000"/>
              </a:lnSpc>
              <a:spcBef>
                <a:spcPts val="500"/>
              </a:spcBef>
              <a:spcAft>
                <a:spcPts val="0"/>
              </a:spcAft>
              <a:buNone/>
            </a:pPr>
            <a:r>
              <a:t/>
            </a:r>
            <a:endParaRPr sz="1800">
              <a:solidFill>
                <a:srgbClr val="585858"/>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1279" name="Google Shape;1279;p102"/>
          <p:cNvSpPr txBox="1"/>
          <p:nvPr/>
        </p:nvSpPr>
        <p:spPr>
          <a:xfrm>
            <a:off x="1882500" y="3038788"/>
            <a:ext cx="5679300" cy="461700"/>
          </a:xfrm>
          <a:prstGeom prst="rect">
            <a:avLst/>
          </a:prstGeom>
          <a:noFill/>
          <a:ln>
            <a:noFill/>
          </a:ln>
        </p:spPr>
        <p:txBody>
          <a:bodyPr anchorCtr="0" anchor="t" bIns="91425" lIns="91425" spcFirstLastPara="1" rIns="91425" wrap="square" tIns="91425">
            <a:spAutoFit/>
          </a:bodyPr>
          <a:lstStyle/>
          <a:p>
            <a:pPr indent="-12700" lvl="0" marL="12700" rtl="0" algn="l">
              <a:lnSpc>
                <a:spcPct val="115000"/>
              </a:lnSpc>
              <a:spcBef>
                <a:spcPts val="500"/>
              </a:spcBef>
              <a:spcAft>
                <a:spcPts val="0"/>
              </a:spcAft>
              <a:buNone/>
            </a:pPr>
            <a:r>
              <a:rPr lang="en-GB" sz="1800">
                <a:solidFill>
                  <a:schemeClr val="dk1"/>
                </a:solidFill>
                <a:latin typeface="Lexend"/>
                <a:ea typeface="Lexend"/>
                <a:cs typeface="Lexend"/>
                <a:sym typeface="Lexend"/>
              </a:rPr>
              <a:t>●about £594    ●about £595     ●about £594.66</a:t>
            </a:r>
            <a:endParaRPr sz="1800">
              <a:solidFill>
                <a:schemeClr val="dk1"/>
              </a:solidFill>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1285" name="Google Shape;1285;p103"/>
          <p:cNvSpPr txBox="1"/>
          <p:nvPr>
            <p:ph idx="1" type="body"/>
          </p:nvPr>
        </p:nvSpPr>
        <p:spPr>
          <a:xfrm>
            <a:off x="4320000" y="741675"/>
            <a:ext cx="4500000" cy="221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two signs on the left are from different lifts. Each lift can carry a different number of people.</a:t>
            </a:r>
            <a:endParaRPr sz="1800"/>
          </a:p>
          <a:p>
            <a:pPr indent="-342900" lvl="0" marL="457200" rtl="0" algn="l">
              <a:spcBef>
                <a:spcPts val="1000"/>
              </a:spcBef>
              <a:spcAft>
                <a:spcPts val="0"/>
              </a:spcAft>
              <a:buSzPts val="1800"/>
              <a:buAutoNum type="alphaLcParenR"/>
            </a:pPr>
            <a:r>
              <a:rPr lang="en-GB" sz="1800"/>
              <a:t>Which lift assumes that people are heavier? </a:t>
            </a:r>
            <a:endParaRPr sz="1800"/>
          </a:p>
          <a:p>
            <a:pPr indent="-342900" lvl="0" marL="457200" rtl="0" algn="l">
              <a:spcBef>
                <a:spcPts val="0"/>
              </a:spcBef>
              <a:spcAft>
                <a:spcPts val="0"/>
              </a:spcAft>
              <a:buSzPts val="1800"/>
              <a:buAutoNum type="alphaLcParenR"/>
            </a:pPr>
            <a:r>
              <a:rPr lang="en-GB" sz="1800"/>
              <a:t>Which lift is easier to estimate? Why?</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286" name="Google Shape;1286;p103"/>
          <p:cNvSpPr/>
          <p:nvPr/>
        </p:nvSpPr>
        <p:spPr>
          <a:xfrm>
            <a:off x="546825"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7" name="Google Shape;1287;p103"/>
          <p:cNvSpPr/>
          <p:nvPr/>
        </p:nvSpPr>
        <p:spPr>
          <a:xfrm>
            <a:off x="885782"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G</a:t>
            </a:r>
            <a:endParaRPr sz="2800">
              <a:latin typeface="Lexend"/>
              <a:ea typeface="Lexend"/>
              <a:cs typeface="Lexend"/>
              <a:sym typeface="Lexend"/>
            </a:endParaRPr>
          </a:p>
        </p:txBody>
      </p:sp>
      <p:sp>
        <p:nvSpPr>
          <p:cNvPr id="1288" name="Google Shape;1288;p103"/>
          <p:cNvSpPr txBox="1"/>
          <p:nvPr/>
        </p:nvSpPr>
        <p:spPr>
          <a:xfrm>
            <a:off x="743550"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Max load</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8 persons or 630 kg</a:t>
            </a:r>
            <a:endParaRPr sz="1900">
              <a:solidFill>
                <a:schemeClr val="dk1"/>
              </a:solidFill>
              <a:latin typeface="Lexend"/>
              <a:ea typeface="Lexend"/>
              <a:cs typeface="Lexend"/>
              <a:sym typeface="Lexend"/>
            </a:endParaRPr>
          </a:p>
        </p:txBody>
      </p:sp>
      <p:sp>
        <p:nvSpPr>
          <p:cNvPr id="1289" name="Google Shape;1289;p103"/>
          <p:cNvSpPr/>
          <p:nvPr/>
        </p:nvSpPr>
        <p:spPr>
          <a:xfrm>
            <a:off x="2485238"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0" name="Google Shape;1290;p103"/>
          <p:cNvSpPr/>
          <p:nvPr/>
        </p:nvSpPr>
        <p:spPr>
          <a:xfrm>
            <a:off x="2824195"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4</a:t>
            </a:r>
            <a:endParaRPr sz="2800">
              <a:latin typeface="Lexend"/>
              <a:ea typeface="Lexend"/>
              <a:cs typeface="Lexend"/>
              <a:sym typeface="Lexend"/>
            </a:endParaRPr>
          </a:p>
        </p:txBody>
      </p:sp>
      <p:sp>
        <p:nvSpPr>
          <p:cNvPr id="1291" name="Google Shape;1291;p103"/>
          <p:cNvSpPr txBox="1"/>
          <p:nvPr/>
        </p:nvSpPr>
        <p:spPr>
          <a:xfrm>
            <a:off x="2681963"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Capacity 1000 kg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13 persons</a:t>
            </a:r>
            <a:endParaRPr sz="1900">
              <a:solidFill>
                <a:schemeClr val="dk1"/>
              </a:solidFill>
              <a:latin typeface="Lexend"/>
              <a:ea typeface="Lexend"/>
              <a:cs typeface="Lexend"/>
              <a:sym typeface="Lexend"/>
            </a:endParaRPr>
          </a:p>
        </p:txBody>
      </p:sp>
      <p:sp>
        <p:nvSpPr>
          <p:cNvPr id="1292" name="Google Shape;1292;p103"/>
          <p:cNvSpPr txBox="1"/>
          <p:nvPr/>
        </p:nvSpPr>
        <p:spPr>
          <a:xfrm>
            <a:off x="935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A</a:t>
            </a:r>
            <a:endParaRPr sz="1900">
              <a:solidFill>
                <a:schemeClr val="dk1"/>
              </a:solidFill>
              <a:latin typeface="Lexend"/>
              <a:ea typeface="Lexend"/>
              <a:cs typeface="Lexend"/>
              <a:sym typeface="Lexend"/>
            </a:endParaRPr>
          </a:p>
        </p:txBody>
      </p:sp>
      <p:sp>
        <p:nvSpPr>
          <p:cNvPr id="1293" name="Google Shape;1293;p103"/>
          <p:cNvSpPr txBox="1"/>
          <p:nvPr/>
        </p:nvSpPr>
        <p:spPr>
          <a:xfrm>
            <a:off x="2840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B</a:t>
            </a:r>
            <a:endParaRPr sz="1900">
              <a:solidFill>
                <a:schemeClr val="dk1"/>
              </a:solidFill>
              <a:latin typeface="Lexend"/>
              <a:ea typeface="Lexend"/>
              <a:cs typeface="Lexend"/>
              <a:sym typeface="Lexend"/>
            </a:endParaRPr>
          </a:p>
        </p:txBody>
      </p:sp>
      <p:sp>
        <p:nvSpPr>
          <p:cNvPr id="1294" name="Google Shape;1294;p103"/>
          <p:cNvSpPr txBox="1"/>
          <p:nvPr>
            <p:ph idx="1" type="body"/>
          </p:nvPr>
        </p:nvSpPr>
        <p:spPr>
          <a:xfrm>
            <a:off x="324000" y="3037075"/>
            <a:ext cx="8496000" cy="1159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c) Nine identical boxes are under the weight limit for one lift, but over it for the other lift. What do you know about the weight of the boxes?</a:t>
            </a:r>
            <a:endParaRPr sz="1800"/>
          </a:p>
          <a:p>
            <a:pPr indent="0" lvl="0" marL="0" rtl="0" algn="l">
              <a:spcBef>
                <a:spcPts val="1000"/>
              </a:spcBef>
              <a:spcAft>
                <a:spcPts val="0"/>
              </a:spcAft>
              <a:buNone/>
            </a:pPr>
            <a:r>
              <a:rPr lang="en-GB" sz="1800"/>
              <a:t>d) Five boxes weighing 23 kg each are put into each lift. Approximately how many people can safely get in the lifts with them?</a:t>
            </a:r>
            <a:endParaRPr sz="1800"/>
          </a:p>
          <a:p>
            <a:pPr indent="0" lvl="0" marL="0" rtl="0" algn="l">
              <a:spcBef>
                <a:spcPts val="1000"/>
              </a:spcBef>
              <a:spcAft>
                <a:spcPts val="0"/>
              </a:spcAft>
              <a:buNone/>
            </a:pPr>
            <a:r>
              <a:rPr lang="en-GB" sz="1800"/>
              <a:t>e) Explain why it is better to </a:t>
            </a:r>
            <a:r>
              <a:rPr b="1" lang="en-GB" sz="1800"/>
              <a:t>overestimate </a:t>
            </a:r>
            <a:r>
              <a:rPr lang="en-GB" sz="1800"/>
              <a:t>all the scenarios above.</a:t>
            </a:r>
            <a:endParaRPr sz="1800"/>
          </a:p>
          <a:p>
            <a:pPr indent="0" lvl="0" marL="0" rtl="0" algn="l">
              <a:spcBef>
                <a:spcPts val="1000"/>
              </a:spcBef>
              <a:spcAft>
                <a:spcPts val="1000"/>
              </a:spcAft>
              <a:buNone/>
            </a:pPr>
            <a:r>
              <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1300" name="Google Shape;1300;p104"/>
          <p:cNvSpPr txBox="1"/>
          <p:nvPr>
            <p:ph idx="1" type="body"/>
          </p:nvPr>
        </p:nvSpPr>
        <p:spPr>
          <a:xfrm>
            <a:off x="4320000" y="759300"/>
            <a:ext cx="4241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two signs on the left are from different lifts. Each lift can carry a different number of people.</a:t>
            </a:r>
            <a:endParaRPr sz="1800"/>
          </a:p>
          <a:p>
            <a:pPr indent="-342900" lvl="0" marL="457200" rtl="0" algn="l">
              <a:spcBef>
                <a:spcPts val="1000"/>
              </a:spcBef>
              <a:spcAft>
                <a:spcPts val="0"/>
              </a:spcAft>
              <a:buSzPts val="1800"/>
              <a:buAutoNum type="alphaLcParenR"/>
            </a:pPr>
            <a:r>
              <a:rPr lang="en-GB" sz="1800"/>
              <a:t>Which lift assumes that people are heavier? </a:t>
            </a:r>
            <a:endParaRPr sz="1800"/>
          </a:p>
          <a:p>
            <a:pPr indent="0" lvl="0" marL="45720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01" name="Google Shape;1301;p104"/>
          <p:cNvSpPr txBox="1"/>
          <p:nvPr/>
        </p:nvSpPr>
        <p:spPr>
          <a:xfrm>
            <a:off x="324000" y="3099075"/>
            <a:ext cx="8496000" cy="123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800">
                <a:solidFill>
                  <a:schemeClr val="dk1"/>
                </a:solidFill>
                <a:latin typeface="Kalam"/>
                <a:ea typeface="Kalam"/>
                <a:cs typeface="Kalam"/>
                <a:sym typeface="Kalam"/>
              </a:rPr>
              <a:t>Lift A assumes people are heavier.  A likely estimation might be 640 ÷ 8 = 80 kg for Lift A and 1040 ÷ 13 = 80 kg Lift B. As these give the same answer, the actual weight is closer to 80 for the first lift than it is for the second. The actual assumed weights are 78.75 kg and 76.92 kg (to 2 d.p.) respectively.</a:t>
            </a:r>
            <a:endParaRPr sz="1800">
              <a:solidFill>
                <a:schemeClr val="dk1"/>
              </a:solidFill>
              <a:latin typeface="Kalam"/>
              <a:ea typeface="Kalam"/>
              <a:cs typeface="Kalam"/>
              <a:sym typeface="Kalam"/>
            </a:endParaRPr>
          </a:p>
        </p:txBody>
      </p:sp>
      <p:sp>
        <p:nvSpPr>
          <p:cNvPr id="1302" name="Google Shape;1302;p104"/>
          <p:cNvSpPr/>
          <p:nvPr/>
        </p:nvSpPr>
        <p:spPr>
          <a:xfrm>
            <a:off x="546825"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3" name="Google Shape;1303;p104"/>
          <p:cNvSpPr/>
          <p:nvPr/>
        </p:nvSpPr>
        <p:spPr>
          <a:xfrm>
            <a:off x="885782"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G</a:t>
            </a:r>
            <a:endParaRPr sz="2800">
              <a:latin typeface="Lexend"/>
              <a:ea typeface="Lexend"/>
              <a:cs typeface="Lexend"/>
              <a:sym typeface="Lexend"/>
            </a:endParaRPr>
          </a:p>
        </p:txBody>
      </p:sp>
      <p:sp>
        <p:nvSpPr>
          <p:cNvPr id="1304" name="Google Shape;1304;p104"/>
          <p:cNvSpPr txBox="1"/>
          <p:nvPr/>
        </p:nvSpPr>
        <p:spPr>
          <a:xfrm>
            <a:off x="743550"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Max load</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8 persons or 630 kg</a:t>
            </a:r>
            <a:endParaRPr sz="1900">
              <a:solidFill>
                <a:schemeClr val="dk1"/>
              </a:solidFill>
              <a:latin typeface="Lexend"/>
              <a:ea typeface="Lexend"/>
              <a:cs typeface="Lexend"/>
              <a:sym typeface="Lexend"/>
            </a:endParaRPr>
          </a:p>
        </p:txBody>
      </p:sp>
      <p:sp>
        <p:nvSpPr>
          <p:cNvPr id="1305" name="Google Shape;1305;p104"/>
          <p:cNvSpPr/>
          <p:nvPr/>
        </p:nvSpPr>
        <p:spPr>
          <a:xfrm>
            <a:off x="2485238"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6" name="Google Shape;1306;p104"/>
          <p:cNvSpPr/>
          <p:nvPr/>
        </p:nvSpPr>
        <p:spPr>
          <a:xfrm>
            <a:off x="2824195"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4</a:t>
            </a:r>
            <a:endParaRPr sz="2800">
              <a:latin typeface="Lexend"/>
              <a:ea typeface="Lexend"/>
              <a:cs typeface="Lexend"/>
              <a:sym typeface="Lexend"/>
            </a:endParaRPr>
          </a:p>
        </p:txBody>
      </p:sp>
      <p:sp>
        <p:nvSpPr>
          <p:cNvPr id="1307" name="Google Shape;1307;p104"/>
          <p:cNvSpPr txBox="1"/>
          <p:nvPr/>
        </p:nvSpPr>
        <p:spPr>
          <a:xfrm>
            <a:off x="2681963"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Capacity 1000 kg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13 persons</a:t>
            </a:r>
            <a:endParaRPr sz="1900">
              <a:solidFill>
                <a:schemeClr val="dk1"/>
              </a:solidFill>
              <a:latin typeface="Lexend"/>
              <a:ea typeface="Lexend"/>
              <a:cs typeface="Lexend"/>
              <a:sym typeface="Lexend"/>
            </a:endParaRPr>
          </a:p>
        </p:txBody>
      </p:sp>
      <p:sp>
        <p:nvSpPr>
          <p:cNvPr id="1308" name="Google Shape;1308;p104"/>
          <p:cNvSpPr txBox="1"/>
          <p:nvPr/>
        </p:nvSpPr>
        <p:spPr>
          <a:xfrm>
            <a:off x="935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A</a:t>
            </a:r>
            <a:endParaRPr sz="1900">
              <a:solidFill>
                <a:schemeClr val="dk1"/>
              </a:solidFill>
              <a:latin typeface="Lexend"/>
              <a:ea typeface="Lexend"/>
              <a:cs typeface="Lexend"/>
              <a:sym typeface="Lexend"/>
            </a:endParaRPr>
          </a:p>
        </p:txBody>
      </p:sp>
      <p:sp>
        <p:nvSpPr>
          <p:cNvPr id="1309" name="Google Shape;1309;p104"/>
          <p:cNvSpPr txBox="1"/>
          <p:nvPr/>
        </p:nvSpPr>
        <p:spPr>
          <a:xfrm>
            <a:off x="2840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B</a:t>
            </a:r>
            <a:endParaRPr sz="1900">
              <a:solidFill>
                <a:schemeClr val="dk1"/>
              </a:solidFill>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1315" name="Google Shape;1315;p105"/>
          <p:cNvSpPr txBox="1"/>
          <p:nvPr>
            <p:ph idx="1" type="body"/>
          </p:nvPr>
        </p:nvSpPr>
        <p:spPr>
          <a:xfrm>
            <a:off x="4320000" y="759300"/>
            <a:ext cx="4241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two signs on the left are from different lifts. Each lift can carry a different number of people.</a:t>
            </a:r>
            <a:endParaRPr sz="1800"/>
          </a:p>
          <a:p>
            <a:pPr indent="0" lvl="0" marL="0" rtl="0" algn="l">
              <a:spcBef>
                <a:spcPts val="1000"/>
              </a:spcBef>
              <a:spcAft>
                <a:spcPts val="0"/>
              </a:spcAft>
              <a:buNone/>
            </a:pPr>
            <a:r>
              <a:rPr lang="en-GB" sz="1800"/>
              <a:t>b) Which lift is easier to estimate? Why?</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16" name="Google Shape;1316;p105"/>
          <p:cNvSpPr txBox="1"/>
          <p:nvPr>
            <p:ph idx="1" type="body"/>
          </p:nvPr>
        </p:nvSpPr>
        <p:spPr>
          <a:xfrm>
            <a:off x="324000" y="3240000"/>
            <a:ext cx="8496000" cy="110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latin typeface="Kalam"/>
                <a:ea typeface="Kalam"/>
                <a:cs typeface="Kalam"/>
                <a:sym typeface="Kalam"/>
              </a:rPr>
              <a:t>Answers can vary. Some may argue that the first lift is easiest, as 630 is close to 640, which is a multiple of 8, so 640 ÷ 80 is a straightforward calculation. You may find the second lift easier may also use the strategy of finding a ‘nearby’ multiplication fact such as 960 ÷ 12 or 1040 ÷ 13</a:t>
            </a:r>
            <a:endParaRPr sz="1800">
              <a:latin typeface="Kalam"/>
              <a:ea typeface="Kalam"/>
              <a:cs typeface="Kalam"/>
              <a:sym typeface="Kalam"/>
            </a:endParaRPr>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17" name="Google Shape;1317;p105"/>
          <p:cNvSpPr/>
          <p:nvPr/>
        </p:nvSpPr>
        <p:spPr>
          <a:xfrm>
            <a:off x="546825"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8" name="Google Shape;1318;p105"/>
          <p:cNvSpPr/>
          <p:nvPr/>
        </p:nvSpPr>
        <p:spPr>
          <a:xfrm>
            <a:off x="885782"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G</a:t>
            </a:r>
            <a:endParaRPr sz="2800">
              <a:latin typeface="Lexend"/>
              <a:ea typeface="Lexend"/>
              <a:cs typeface="Lexend"/>
              <a:sym typeface="Lexend"/>
            </a:endParaRPr>
          </a:p>
        </p:txBody>
      </p:sp>
      <p:sp>
        <p:nvSpPr>
          <p:cNvPr id="1319" name="Google Shape;1319;p105"/>
          <p:cNvSpPr txBox="1"/>
          <p:nvPr/>
        </p:nvSpPr>
        <p:spPr>
          <a:xfrm>
            <a:off x="743550"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Max load</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8 persons or 630 kg</a:t>
            </a:r>
            <a:endParaRPr sz="1900">
              <a:solidFill>
                <a:schemeClr val="dk1"/>
              </a:solidFill>
              <a:latin typeface="Lexend"/>
              <a:ea typeface="Lexend"/>
              <a:cs typeface="Lexend"/>
              <a:sym typeface="Lexend"/>
            </a:endParaRPr>
          </a:p>
        </p:txBody>
      </p:sp>
      <p:sp>
        <p:nvSpPr>
          <p:cNvPr id="1320" name="Google Shape;1320;p105"/>
          <p:cNvSpPr/>
          <p:nvPr/>
        </p:nvSpPr>
        <p:spPr>
          <a:xfrm>
            <a:off x="2485238"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1" name="Google Shape;1321;p105"/>
          <p:cNvSpPr/>
          <p:nvPr/>
        </p:nvSpPr>
        <p:spPr>
          <a:xfrm>
            <a:off x="2824195"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4</a:t>
            </a:r>
            <a:endParaRPr sz="2800">
              <a:latin typeface="Lexend"/>
              <a:ea typeface="Lexend"/>
              <a:cs typeface="Lexend"/>
              <a:sym typeface="Lexend"/>
            </a:endParaRPr>
          </a:p>
        </p:txBody>
      </p:sp>
      <p:sp>
        <p:nvSpPr>
          <p:cNvPr id="1322" name="Google Shape;1322;p105"/>
          <p:cNvSpPr txBox="1"/>
          <p:nvPr/>
        </p:nvSpPr>
        <p:spPr>
          <a:xfrm>
            <a:off x="2681963"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Capacity 1000 kg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13 persons</a:t>
            </a:r>
            <a:endParaRPr sz="1900">
              <a:solidFill>
                <a:schemeClr val="dk1"/>
              </a:solidFill>
              <a:latin typeface="Lexend"/>
              <a:ea typeface="Lexend"/>
              <a:cs typeface="Lexend"/>
              <a:sym typeface="Lexend"/>
            </a:endParaRPr>
          </a:p>
        </p:txBody>
      </p:sp>
      <p:sp>
        <p:nvSpPr>
          <p:cNvPr id="1323" name="Google Shape;1323;p105"/>
          <p:cNvSpPr txBox="1"/>
          <p:nvPr/>
        </p:nvSpPr>
        <p:spPr>
          <a:xfrm>
            <a:off x="935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A</a:t>
            </a:r>
            <a:endParaRPr sz="1900">
              <a:solidFill>
                <a:schemeClr val="dk1"/>
              </a:solidFill>
              <a:latin typeface="Lexend"/>
              <a:ea typeface="Lexend"/>
              <a:cs typeface="Lexend"/>
              <a:sym typeface="Lexend"/>
            </a:endParaRPr>
          </a:p>
        </p:txBody>
      </p:sp>
      <p:sp>
        <p:nvSpPr>
          <p:cNvPr id="1324" name="Google Shape;1324;p105"/>
          <p:cNvSpPr txBox="1"/>
          <p:nvPr/>
        </p:nvSpPr>
        <p:spPr>
          <a:xfrm>
            <a:off x="2840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B</a:t>
            </a:r>
            <a:endParaRPr sz="1900">
              <a:solidFill>
                <a:schemeClr val="dk1"/>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10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1330" name="Google Shape;1330;p106"/>
          <p:cNvSpPr txBox="1"/>
          <p:nvPr>
            <p:ph idx="1" type="body"/>
          </p:nvPr>
        </p:nvSpPr>
        <p:spPr>
          <a:xfrm>
            <a:off x="4320000" y="759300"/>
            <a:ext cx="4241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two signs on the left are from different lifts. Each lift can carry a different number of people.</a:t>
            </a:r>
            <a:endParaRPr sz="1800"/>
          </a:p>
          <a:p>
            <a:pPr indent="0" lvl="0" marL="0" rtl="0" algn="l">
              <a:spcBef>
                <a:spcPts val="1000"/>
              </a:spcBef>
              <a:spcAft>
                <a:spcPts val="0"/>
              </a:spcAft>
              <a:buNone/>
            </a:pPr>
            <a:r>
              <a:rPr lang="en-GB" sz="1800"/>
              <a:t>c) Nine identical boxes are under the weight limit for one lift, but over it for the other lift. What do you know about the weight of the boxes?</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31" name="Google Shape;1331;p106"/>
          <p:cNvSpPr txBox="1"/>
          <p:nvPr>
            <p:ph idx="1" type="body"/>
          </p:nvPr>
        </p:nvSpPr>
        <p:spPr>
          <a:xfrm>
            <a:off x="324000" y="3383400"/>
            <a:ext cx="8496000" cy="96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latin typeface="Kalam"/>
                <a:ea typeface="Kalam"/>
                <a:cs typeface="Kalam"/>
                <a:sym typeface="Kalam"/>
              </a:rPr>
              <a:t>The boxes must weigh between 70 kg and approximately 111 kg.</a:t>
            </a:r>
            <a:endParaRPr sz="1800">
              <a:latin typeface="Kalam"/>
              <a:ea typeface="Kalam"/>
              <a:cs typeface="Kalam"/>
              <a:sym typeface="Kalam"/>
            </a:endParaRPr>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32" name="Google Shape;1332;p106"/>
          <p:cNvSpPr/>
          <p:nvPr/>
        </p:nvSpPr>
        <p:spPr>
          <a:xfrm>
            <a:off x="546825"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3" name="Google Shape;1333;p106"/>
          <p:cNvSpPr/>
          <p:nvPr/>
        </p:nvSpPr>
        <p:spPr>
          <a:xfrm>
            <a:off x="885782"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G</a:t>
            </a:r>
            <a:endParaRPr sz="2800">
              <a:latin typeface="Lexend"/>
              <a:ea typeface="Lexend"/>
              <a:cs typeface="Lexend"/>
              <a:sym typeface="Lexend"/>
            </a:endParaRPr>
          </a:p>
        </p:txBody>
      </p:sp>
      <p:sp>
        <p:nvSpPr>
          <p:cNvPr id="1334" name="Google Shape;1334;p106"/>
          <p:cNvSpPr txBox="1"/>
          <p:nvPr/>
        </p:nvSpPr>
        <p:spPr>
          <a:xfrm>
            <a:off x="743550"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Max load</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8 persons or 630 kg</a:t>
            </a:r>
            <a:endParaRPr sz="1900">
              <a:solidFill>
                <a:schemeClr val="dk1"/>
              </a:solidFill>
              <a:latin typeface="Lexend"/>
              <a:ea typeface="Lexend"/>
              <a:cs typeface="Lexend"/>
              <a:sym typeface="Lexend"/>
            </a:endParaRPr>
          </a:p>
        </p:txBody>
      </p:sp>
      <p:sp>
        <p:nvSpPr>
          <p:cNvPr id="1335" name="Google Shape;1335;p106"/>
          <p:cNvSpPr/>
          <p:nvPr/>
        </p:nvSpPr>
        <p:spPr>
          <a:xfrm>
            <a:off x="2485238"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6" name="Google Shape;1336;p106"/>
          <p:cNvSpPr/>
          <p:nvPr/>
        </p:nvSpPr>
        <p:spPr>
          <a:xfrm>
            <a:off x="2824195"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4</a:t>
            </a:r>
            <a:endParaRPr sz="2800">
              <a:latin typeface="Lexend"/>
              <a:ea typeface="Lexend"/>
              <a:cs typeface="Lexend"/>
              <a:sym typeface="Lexend"/>
            </a:endParaRPr>
          </a:p>
        </p:txBody>
      </p:sp>
      <p:sp>
        <p:nvSpPr>
          <p:cNvPr id="1337" name="Google Shape;1337;p106"/>
          <p:cNvSpPr txBox="1"/>
          <p:nvPr/>
        </p:nvSpPr>
        <p:spPr>
          <a:xfrm>
            <a:off x="2681963"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Capacity 1000 kg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13 persons</a:t>
            </a:r>
            <a:endParaRPr sz="1900">
              <a:solidFill>
                <a:schemeClr val="dk1"/>
              </a:solidFill>
              <a:latin typeface="Lexend"/>
              <a:ea typeface="Lexend"/>
              <a:cs typeface="Lexend"/>
              <a:sym typeface="Lexend"/>
            </a:endParaRPr>
          </a:p>
        </p:txBody>
      </p:sp>
      <p:sp>
        <p:nvSpPr>
          <p:cNvPr id="1338" name="Google Shape;1338;p106"/>
          <p:cNvSpPr txBox="1"/>
          <p:nvPr/>
        </p:nvSpPr>
        <p:spPr>
          <a:xfrm>
            <a:off x="935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A</a:t>
            </a:r>
            <a:endParaRPr sz="1900">
              <a:solidFill>
                <a:schemeClr val="dk1"/>
              </a:solidFill>
              <a:latin typeface="Lexend"/>
              <a:ea typeface="Lexend"/>
              <a:cs typeface="Lexend"/>
              <a:sym typeface="Lexend"/>
            </a:endParaRPr>
          </a:p>
        </p:txBody>
      </p:sp>
      <p:sp>
        <p:nvSpPr>
          <p:cNvPr id="1339" name="Google Shape;1339;p106"/>
          <p:cNvSpPr txBox="1"/>
          <p:nvPr/>
        </p:nvSpPr>
        <p:spPr>
          <a:xfrm>
            <a:off x="2840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B</a:t>
            </a:r>
            <a:endParaRPr sz="1900">
              <a:solidFill>
                <a:schemeClr val="dk1"/>
              </a:solidFill>
              <a:latin typeface="Lexend"/>
              <a:ea typeface="Lexend"/>
              <a:cs typeface="Lexend"/>
              <a:sym typeface="Lexen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10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1345" name="Google Shape;1345;p107"/>
          <p:cNvSpPr txBox="1"/>
          <p:nvPr>
            <p:ph idx="1" type="body"/>
          </p:nvPr>
        </p:nvSpPr>
        <p:spPr>
          <a:xfrm>
            <a:off x="4320000" y="759300"/>
            <a:ext cx="4241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two signs on the left are from different lifts. Each lift can carry a different number of people.</a:t>
            </a:r>
            <a:endParaRPr sz="1800"/>
          </a:p>
          <a:p>
            <a:pPr indent="0" lvl="0" marL="0" rtl="0" algn="l">
              <a:spcBef>
                <a:spcPts val="1000"/>
              </a:spcBef>
              <a:spcAft>
                <a:spcPts val="0"/>
              </a:spcAft>
              <a:buClr>
                <a:schemeClr val="dk1"/>
              </a:buClr>
              <a:buSzPts val="1100"/>
              <a:buFont typeface="Arial"/>
              <a:buNone/>
            </a:pPr>
            <a:r>
              <a:rPr lang="en-GB" sz="1800"/>
              <a:t>d) Five boxes weighing 23 kg each are put into each lift. Approximately how many people can safely get in the lifts with them?</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46" name="Google Shape;1346;p107"/>
          <p:cNvSpPr txBox="1"/>
          <p:nvPr>
            <p:ph idx="1" type="body"/>
          </p:nvPr>
        </p:nvSpPr>
        <p:spPr>
          <a:xfrm>
            <a:off x="324000" y="3240000"/>
            <a:ext cx="8496000" cy="96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latin typeface="Kalam"/>
                <a:ea typeface="Kalam"/>
                <a:cs typeface="Kalam"/>
                <a:sym typeface="Kalam"/>
              </a:rPr>
              <a:t>Answers will depend on how to estimate or calculate with 23. You might take the total weight of the boxes to be 100 (rounding 23 to 20), 115 (using 23) or 125 (rounding 23 to 25). Approximately six people can get into the first lift with the boxes; approximately 11 people can get into the second lift with the boxes.</a:t>
            </a:r>
            <a:endParaRPr sz="1800">
              <a:latin typeface="Kalam"/>
              <a:ea typeface="Kalam"/>
              <a:cs typeface="Kalam"/>
              <a:sym typeface="Kalam"/>
            </a:endParaRPr>
          </a:p>
          <a:p>
            <a:pPr indent="0" lvl="0" marL="0" rtl="0" algn="l">
              <a:spcBef>
                <a:spcPts val="1000"/>
              </a:spcBef>
              <a:spcAft>
                <a:spcPts val="0"/>
              </a:spcAft>
              <a:buNone/>
            </a:pPr>
            <a:r>
              <a:t/>
            </a:r>
            <a:endParaRPr sz="1800">
              <a:latin typeface="Kalam"/>
              <a:ea typeface="Kalam"/>
              <a:cs typeface="Kalam"/>
              <a:sym typeface="Kalam"/>
            </a:endParaRPr>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47" name="Google Shape;1347;p107"/>
          <p:cNvSpPr/>
          <p:nvPr/>
        </p:nvSpPr>
        <p:spPr>
          <a:xfrm>
            <a:off x="546825"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8" name="Google Shape;1348;p107"/>
          <p:cNvSpPr/>
          <p:nvPr/>
        </p:nvSpPr>
        <p:spPr>
          <a:xfrm>
            <a:off x="885782"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G</a:t>
            </a:r>
            <a:endParaRPr sz="2800">
              <a:latin typeface="Lexend"/>
              <a:ea typeface="Lexend"/>
              <a:cs typeface="Lexend"/>
              <a:sym typeface="Lexend"/>
            </a:endParaRPr>
          </a:p>
        </p:txBody>
      </p:sp>
      <p:sp>
        <p:nvSpPr>
          <p:cNvPr id="1349" name="Google Shape;1349;p107"/>
          <p:cNvSpPr txBox="1"/>
          <p:nvPr/>
        </p:nvSpPr>
        <p:spPr>
          <a:xfrm>
            <a:off x="743550"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Max load</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8 persons or 630 kg</a:t>
            </a:r>
            <a:endParaRPr sz="1900">
              <a:solidFill>
                <a:schemeClr val="dk1"/>
              </a:solidFill>
              <a:latin typeface="Lexend"/>
              <a:ea typeface="Lexend"/>
              <a:cs typeface="Lexend"/>
              <a:sym typeface="Lexend"/>
            </a:endParaRPr>
          </a:p>
        </p:txBody>
      </p:sp>
      <p:sp>
        <p:nvSpPr>
          <p:cNvPr id="1350" name="Google Shape;1350;p107"/>
          <p:cNvSpPr/>
          <p:nvPr/>
        </p:nvSpPr>
        <p:spPr>
          <a:xfrm>
            <a:off x="2485238"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1" name="Google Shape;1351;p107"/>
          <p:cNvSpPr/>
          <p:nvPr/>
        </p:nvSpPr>
        <p:spPr>
          <a:xfrm>
            <a:off x="2824195"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4</a:t>
            </a:r>
            <a:endParaRPr sz="2800">
              <a:latin typeface="Lexend"/>
              <a:ea typeface="Lexend"/>
              <a:cs typeface="Lexend"/>
              <a:sym typeface="Lexend"/>
            </a:endParaRPr>
          </a:p>
        </p:txBody>
      </p:sp>
      <p:sp>
        <p:nvSpPr>
          <p:cNvPr id="1352" name="Google Shape;1352;p107"/>
          <p:cNvSpPr txBox="1"/>
          <p:nvPr/>
        </p:nvSpPr>
        <p:spPr>
          <a:xfrm>
            <a:off x="2681963"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Capacity 1000 kg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13 persons</a:t>
            </a:r>
            <a:endParaRPr sz="1900">
              <a:solidFill>
                <a:schemeClr val="dk1"/>
              </a:solidFill>
              <a:latin typeface="Lexend"/>
              <a:ea typeface="Lexend"/>
              <a:cs typeface="Lexend"/>
              <a:sym typeface="Lexend"/>
            </a:endParaRPr>
          </a:p>
        </p:txBody>
      </p:sp>
      <p:sp>
        <p:nvSpPr>
          <p:cNvPr id="1353" name="Google Shape;1353;p107"/>
          <p:cNvSpPr txBox="1"/>
          <p:nvPr/>
        </p:nvSpPr>
        <p:spPr>
          <a:xfrm>
            <a:off x="935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A</a:t>
            </a:r>
            <a:endParaRPr sz="1900">
              <a:solidFill>
                <a:schemeClr val="dk1"/>
              </a:solidFill>
              <a:latin typeface="Lexend"/>
              <a:ea typeface="Lexend"/>
              <a:cs typeface="Lexend"/>
              <a:sym typeface="Lexend"/>
            </a:endParaRPr>
          </a:p>
        </p:txBody>
      </p:sp>
      <p:sp>
        <p:nvSpPr>
          <p:cNvPr id="1354" name="Google Shape;1354;p107"/>
          <p:cNvSpPr txBox="1"/>
          <p:nvPr/>
        </p:nvSpPr>
        <p:spPr>
          <a:xfrm>
            <a:off x="2840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B</a:t>
            </a:r>
            <a:endParaRPr sz="1900">
              <a:solidFill>
                <a:schemeClr val="dk1"/>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0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Overestimating vs underestimating in context</a:t>
            </a:r>
            <a:endParaRPr/>
          </a:p>
        </p:txBody>
      </p:sp>
      <p:sp>
        <p:nvSpPr>
          <p:cNvPr id="1360" name="Google Shape;1360;p108"/>
          <p:cNvSpPr txBox="1"/>
          <p:nvPr>
            <p:ph idx="1" type="body"/>
          </p:nvPr>
        </p:nvSpPr>
        <p:spPr>
          <a:xfrm>
            <a:off x="4320000" y="759300"/>
            <a:ext cx="4241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two signs on the left are from different lifts. Each lift can carry a different number of people.</a:t>
            </a:r>
            <a:endParaRPr sz="1800"/>
          </a:p>
          <a:p>
            <a:pPr indent="0" lvl="0" marL="0" rtl="0" algn="l">
              <a:spcBef>
                <a:spcPts val="1000"/>
              </a:spcBef>
              <a:spcAft>
                <a:spcPts val="0"/>
              </a:spcAft>
              <a:buClr>
                <a:schemeClr val="dk1"/>
              </a:buClr>
              <a:buSzPts val="1100"/>
              <a:buFont typeface="Arial"/>
              <a:buNone/>
            </a:pPr>
            <a:r>
              <a:rPr lang="en-GB" sz="1800"/>
              <a:t>e) Explain why it is better to </a:t>
            </a:r>
            <a:r>
              <a:rPr b="1" lang="en-GB" sz="1800"/>
              <a:t>overestimate</a:t>
            </a:r>
            <a:r>
              <a:rPr lang="en-GB" sz="1800"/>
              <a:t> all the scenarios above.</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61" name="Google Shape;1361;p108"/>
          <p:cNvSpPr txBox="1"/>
          <p:nvPr>
            <p:ph idx="1" type="body"/>
          </p:nvPr>
        </p:nvSpPr>
        <p:spPr>
          <a:xfrm>
            <a:off x="324000" y="3240000"/>
            <a:ext cx="8496000" cy="96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latin typeface="Kalam"/>
                <a:ea typeface="Kalam"/>
                <a:cs typeface="Kalam"/>
                <a:sym typeface="Kalam"/>
              </a:rPr>
              <a:t>For estimating weight in a lift, it is better to </a:t>
            </a:r>
            <a:r>
              <a:rPr b="1" lang="en-GB" sz="1800">
                <a:latin typeface="Kalam"/>
                <a:ea typeface="Kalam"/>
                <a:cs typeface="Kalam"/>
                <a:sym typeface="Kalam"/>
              </a:rPr>
              <a:t>overestimate</a:t>
            </a:r>
            <a:r>
              <a:rPr lang="en-GB" sz="1800">
                <a:latin typeface="Kalam"/>
                <a:ea typeface="Kalam"/>
                <a:cs typeface="Kalam"/>
                <a:sym typeface="Kalam"/>
              </a:rPr>
              <a:t>. If we </a:t>
            </a:r>
            <a:r>
              <a:rPr b="1" lang="en-GB" sz="1800">
                <a:latin typeface="Kalam"/>
                <a:ea typeface="Kalam"/>
                <a:cs typeface="Kalam"/>
                <a:sym typeface="Kalam"/>
              </a:rPr>
              <a:t>underestimate</a:t>
            </a:r>
            <a:r>
              <a:rPr lang="en-GB" sz="1800">
                <a:latin typeface="Kalam"/>
                <a:ea typeface="Kalam"/>
                <a:cs typeface="Kalam"/>
                <a:sym typeface="Kalam"/>
              </a:rPr>
              <a:t>, then the lift is in danger of exceeding capacity and breaking. </a:t>
            </a:r>
            <a:endParaRPr sz="1800">
              <a:latin typeface="Kalam"/>
              <a:ea typeface="Kalam"/>
              <a:cs typeface="Kalam"/>
              <a:sym typeface="Kalam"/>
            </a:endParaRPr>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62" name="Google Shape;1362;p108"/>
          <p:cNvSpPr/>
          <p:nvPr/>
        </p:nvSpPr>
        <p:spPr>
          <a:xfrm>
            <a:off x="546825"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3" name="Google Shape;1363;p108"/>
          <p:cNvSpPr/>
          <p:nvPr/>
        </p:nvSpPr>
        <p:spPr>
          <a:xfrm>
            <a:off x="885782"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G</a:t>
            </a:r>
            <a:endParaRPr sz="2800">
              <a:latin typeface="Lexend"/>
              <a:ea typeface="Lexend"/>
              <a:cs typeface="Lexend"/>
              <a:sym typeface="Lexend"/>
            </a:endParaRPr>
          </a:p>
        </p:txBody>
      </p:sp>
      <p:sp>
        <p:nvSpPr>
          <p:cNvPr id="1364" name="Google Shape;1364;p108"/>
          <p:cNvSpPr txBox="1"/>
          <p:nvPr/>
        </p:nvSpPr>
        <p:spPr>
          <a:xfrm>
            <a:off x="743550"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Max load</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8 persons or 630 kg</a:t>
            </a:r>
            <a:endParaRPr sz="1900">
              <a:solidFill>
                <a:schemeClr val="dk1"/>
              </a:solidFill>
              <a:latin typeface="Lexend"/>
              <a:ea typeface="Lexend"/>
              <a:cs typeface="Lexend"/>
              <a:sym typeface="Lexend"/>
            </a:endParaRPr>
          </a:p>
        </p:txBody>
      </p:sp>
      <p:sp>
        <p:nvSpPr>
          <p:cNvPr id="1365" name="Google Shape;1365;p108"/>
          <p:cNvSpPr/>
          <p:nvPr/>
        </p:nvSpPr>
        <p:spPr>
          <a:xfrm>
            <a:off x="2485238" y="1060150"/>
            <a:ext cx="1683300" cy="183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6" name="Google Shape;1366;p108"/>
          <p:cNvSpPr/>
          <p:nvPr/>
        </p:nvSpPr>
        <p:spPr>
          <a:xfrm>
            <a:off x="2824195" y="1195450"/>
            <a:ext cx="1026600" cy="51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 4</a:t>
            </a:r>
            <a:endParaRPr sz="2800">
              <a:latin typeface="Lexend"/>
              <a:ea typeface="Lexend"/>
              <a:cs typeface="Lexend"/>
              <a:sym typeface="Lexend"/>
            </a:endParaRPr>
          </a:p>
        </p:txBody>
      </p:sp>
      <p:sp>
        <p:nvSpPr>
          <p:cNvPr id="1367" name="Google Shape;1367;p108"/>
          <p:cNvSpPr txBox="1"/>
          <p:nvPr/>
        </p:nvSpPr>
        <p:spPr>
          <a:xfrm>
            <a:off x="2681963" y="1769325"/>
            <a:ext cx="1572000" cy="9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Capacity 1000 kg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13 persons</a:t>
            </a:r>
            <a:endParaRPr sz="1900">
              <a:solidFill>
                <a:schemeClr val="dk1"/>
              </a:solidFill>
              <a:latin typeface="Lexend"/>
              <a:ea typeface="Lexend"/>
              <a:cs typeface="Lexend"/>
              <a:sym typeface="Lexend"/>
            </a:endParaRPr>
          </a:p>
        </p:txBody>
      </p:sp>
      <p:sp>
        <p:nvSpPr>
          <p:cNvPr id="1368" name="Google Shape;1368;p108"/>
          <p:cNvSpPr txBox="1"/>
          <p:nvPr/>
        </p:nvSpPr>
        <p:spPr>
          <a:xfrm>
            <a:off x="935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A</a:t>
            </a:r>
            <a:endParaRPr sz="1900">
              <a:solidFill>
                <a:schemeClr val="dk1"/>
              </a:solidFill>
              <a:latin typeface="Lexend"/>
              <a:ea typeface="Lexend"/>
              <a:cs typeface="Lexend"/>
              <a:sym typeface="Lexend"/>
            </a:endParaRPr>
          </a:p>
        </p:txBody>
      </p:sp>
      <p:sp>
        <p:nvSpPr>
          <p:cNvPr id="1369" name="Google Shape;1369;p108"/>
          <p:cNvSpPr txBox="1"/>
          <p:nvPr/>
        </p:nvSpPr>
        <p:spPr>
          <a:xfrm>
            <a:off x="2840525" y="640100"/>
            <a:ext cx="9336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Lift B</a:t>
            </a:r>
            <a:endParaRPr sz="1900">
              <a:solidFill>
                <a:schemeClr val="dk1"/>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109"/>
          <p:cNvSpPr txBox="1"/>
          <p:nvPr>
            <p:ph idx="1" type="body"/>
          </p:nvPr>
        </p:nvSpPr>
        <p:spPr>
          <a:xfrm>
            <a:off x="324000" y="810000"/>
            <a:ext cx="8113800" cy="168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 round to help estimate an answer to a calculation. The answer is never exact and gives us a rough idea of the answer. As a result of rounding, the answer can sometimes be an </a:t>
            </a:r>
            <a:r>
              <a:rPr b="1" lang="en-GB"/>
              <a:t>overestimate</a:t>
            </a:r>
            <a:r>
              <a:rPr lang="en-GB"/>
              <a:t>, </a:t>
            </a:r>
            <a:r>
              <a:rPr b="1" lang="en-GB"/>
              <a:t>underestimate</a:t>
            </a:r>
            <a:r>
              <a:rPr lang="en-GB"/>
              <a:t> or it is hard to tell.</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The operations we use and the type or rounding e.g. rounding up, rounding down or truncating will also play an important role in an</a:t>
            </a:r>
            <a:r>
              <a:rPr b="1" lang="en-GB"/>
              <a:t> overestimate</a:t>
            </a:r>
            <a:r>
              <a:rPr lang="en-GB"/>
              <a:t> or </a:t>
            </a:r>
            <a:r>
              <a:rPr b="1" lang="en-GB"/>
              <a:t>underestimate.</a:t>
            </a:r>
            <a:endParaRPr b="1"/>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375" name="Google Shape;1375;p109"/>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Overestimating vs underestimating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110"/>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381" name="Google Shape;1381;p110"/>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