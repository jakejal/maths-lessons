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4"/>
    <p:sldMasterId id="2147483666" r:id="rId5"/>
  </p:sldMasterIdLst>
  <p:notesMasterIdLst>
    <p:notesMasterId r:id="rId6"/>
  </p:notesMasterIdLst>
  <p:sldIdLst>
    <p:sldId id="256" r:id="rId7"/>
    <p:sldId id="257" r:id="rId8"/>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09AAC8C-B052-443E-9B33-C11A615EBD4A}">
  <a:tblStyle styleId="{109AAC8C-B052-443E-9B33-C11A615EBD4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79934fec8d_0_131: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79934fec8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79934fec8d_0_136: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79934fec8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Answers 1">
  <p:cSld name="SECTION_HEADER_1_1_1_1_1_1_1_1_1_2_2">
    <p:spTree>
      <p:nvGrpSpPr>
        <p:cNvPr id="9" name="Shape 9"/>
        <p:cNvGrpSpPr/>
        <p:nvPr/>
      </p:nvGrpSpPr>
      <p:grpSpPr>
        <a:xfrm>
          <a:off x="0" y="0"/>
          <a:ext cx="0" cy="0"/>
          <a:chOff x="0" y="0"/>
          <a:chExt cx="0" cy="0"/>
        </a:xfrm>
      </p:grpSpPr>
      <p:sp>
        <p:nvSpPr>
          <p:cNvPr id="10" name="Google Shape;10;p2"/>
          <p:cNvSpPr txBox="1"/>
          <p:nvPr>
            <p:ph type="title"/>
          </p:nvPr>
        </p:nvSpPr>
        <p:spPr>
          <a:xfrm>
            <a:off x="468000" y="266700"/>
            <a:ext cx="5577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 name="Google Shape;11;p2"/>
          <p:cNvSpPr txBox="1"/>
          <p:nvPr>
            <p:ph idx="1"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2" name="Google Shape;12;p2"/>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pic>
        <p:nvPicPr>
          <p:cNvPr id="14" name="Google Shape;14;p2"/>
          <p:cNvPicPr preferRelativeResize="0"/>
          <p:nvPr/>
        </p:nvPicPr>
        <p:blipFill>
          <a:blip r:embed="rId4">
            <a:alphaModFix/>
          </a:blip>
          <a:stretch>
            <a:fillRect/>
          </a:stretch>
        </p:blipFill>
        <p:spPr>
          <a:xfrm>
            <a:off x="6261625" y="161271"/>
            <a:ext cx="805956" cy="498600"/>
          </a:xfrm>
          <a:prstGeom prst="rect">
            <a:avLst/>
          </a:prstGeom>
          <a:noFill/>
          <a:ln>
            <a:noFill/>
          </a:ln>
        </p:spPr>
      </p:pic>
    </p:spTree>
  </p:cSld>
  <p:clrMapOvr>
    <a:masterClrMapping/>
  </p:clrMapOvr>
  <p:extLst>
    <p:ext uri="{DCECCB84-F9BA-43D5-87BE-67443E8EF086}">
      <p15:sldGuideLst>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Answers 1 1">
  <p:cSld name="SECTION_HEADER_1_1_1_1_1_1_1_1_1_2_1">
    <p:spTree>
      <p:nvGrpSpPr>
        <p:cNvPr id="15" name="Shape 15"/>
        <p:cNvGrpSpPr/>
        <p:nvPr/>
      </p:nvGrpSpPr>
      <p:grpSpPr>
        <a:xfrm>
          <a:off x="0" y="0"/>
          <a:ext cx="0" cy="0"/>
          <a:chOff x="0" y="0"/>
          <a:chExt cx="0" cy="0"/>
        </a:xfrm>
      </p:grpSpPr>
      <p:sp>
        <p:nvSpPr>
          <p:cNvPr id="16" name="Google Shape;16;p3"/>
          <p:cNvSpPr txBox="1"/>
          <p:nvPr>
            <p:ph type="title"/>
          </p:nvPr>
        </p:nvSpPr>
        <p:spPr>
          <a:xfrm>
            <a:off x="468000" y="266700"/>
            <a:ext cx="5577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 name="Google Shape;17;p3"/>
          <p:cNvSpPr txBox="1"/>
          <p:nvPr>
            <p:ph idx="1" type="subTitle"/>
          </p:nvPr>
        </p:nvSpPr>
        <p:spPr>
          <a:xfrm>
            <a:off x="466825" y="17801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 name="Google Shape;18;p3"/>
          <p:cNvSpPr txBox="1"/>
          <p:nvPr>
            <p:ph idx="2" type="subTitle"/>
          </p:nvPr>
        </p:nvSpPr>
        <p:spPr>
          <a:xfrm>
            <a:off x="2807400"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 name="Google Shape;19;p3"/>
          <p:cNvSpPr txBox="1"/>
          <p:nvPr>
            <p:ph idx="3"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 name="Google Shape;20;p3"/>
          <p:cNvSpPr txBox="1"/>
          <p:nvPr>
            <p:ph idx="4" type="subTitle"/>
          </p:nvPr>
        </p:nvSpPr>
        <p:spPr>
          <a:xfrm>
            <a:off x="4127250"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p:nvPr>
            <p:ph idx="5" type="subTitle"/>
          </p:nvPr>
        </p:nvSpPr>
        <p:spPr>
          <a:xfrm>
            <a:off x="468000" y="5866375"/>
            <a:ext cx="65817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2" name="Google Shape;22;p3"/>
          <p:cNvSpPr txBox="1"/>
          <p:nvPr>
            <p:ph idx="6" type="subTitle"/>
          </p:nvPr>
        </p:nvSpPr>
        <p:spPr>
          <a:xfrm>
            <a:off x="466825"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3" name="Google Shape;23;p3"/>
          <p:cNvSpPr txBox="1"/>
          <p:nvPr>
            <p:ph idx="7" type="subTitle"/>
          </p:nvPr>
        </p:nvSpPr>
        <p:spPr>
          <a:xfrm>
            <a:off x="46682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4" name="Google Shape;24;p3"/>
          <p:cNvSpPr txBox="1"/>
          <p:nvPr>
            <p:ph idx="8" type="subTitle"/>
          </p:nvPr>
        </p:nvSpPr>
        <p:spPr>
          <a:xfrm>
            <a:off x="514797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25" name="Google Shape;25;p3"/>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26" name="Google Shape;26;p3"/>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grpSp>
        <p:nvGrpSpPr>
          <p:cNvPr id="27" name="Google Shape;27;p3"/>
          <p:cNvGrpSpPr/>
          <p:nvPr/>
        </p:nvGrpSpPr>
        <p:grpSpPr>
          <a:xfrm>
            <a:off x="466900" y="962525"/>
            <a:ext cx="2953200" cy="162000"/>
            <a:chOff x="466900" y="962525"/>
            <a:chExt cx="2953200" cy="162000"/>
          </a:xfrm>
        </p:grpSpPr>
        <p:sp>
          <p:nvSpPr>
            <p:cNvPr id="28" name="Google Shape;28;p3"/>
            <p:cNvSpPr txBox="1"/>
            <p:nvPr/>
          </p:nvSpPr>
          <p:spPr>
            <a:xfrm>
              <a:off x="466900" y="962525"/>
              <a:ext cx="29532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000">
                  <a:solidFill>
                    <a:schemeClr val="dk2"/>
                  </a:solidFill>
                  <a:latin typeface="Lexend"/>
                  <a:ea typeface="Lexend"/>
                  <a:cs typeface="Lexend"/>
                  <a:sym typeface="Lexend"/>
                </a:rPr>
                <a:t>Name</a:t>
              </a:r>
              <a:r>
                <a:rPr b="1" lang="en-GB" sz="1000">
                  <a:solidFill>
                    <a:schemeClr val="dk2"/>
                  </a:solidFill>
                  <a:latin typeface="Lexend"/>
                  <a:ea typeface="Lexend"/>
                  <a:cs typeface="Lexend"/>
                  <a:sym typeface="Lexend"/>
                </a:rPr>
                <a:t>: </a:t>
              </a:r>
              <a:endParaRPr b="1" sz="1000">
                <a:solidFill>
                  <a:schemeClr val="dk2"/>
                </a:solidFill>
                <a:latin typeface="Lexend"/>
                <a:ea typeface="Lexend"/>
                <a:cs typeface="Lexend"/>
                <a:sym typeface="Lexend"/>
              </a:endParaRPr>
            </a:p>
          </p:txBody>
        </p:sp>
        <p:cxnSp>
          <p:nvCxnSpPr>
            <p:cNvPr id="29" name="Google Shape;29;p3"/>
            <p:cNvCxnSpPr/>
            <p:nvPr/>
          </p:nvCxnSpPr>
          <p:spPr>
            <a:xfrm flipH="1" rot="10800000">
              <a:off x="943904" y="1116425"/>
              <a:ext cx="1998900" cy="8100"/>
            </a:xfrm>
            <a:prstGeom prst="straightConnector1">
              <a:avLst/>
            </a:prstGeom>
            <a:noFill/>
            <a:ln cap="flat" cmpd="sng" w="9525">
              <a:solidFill>
                <a:schemeClr val="dk2"/>
              </a:solidFill>
              <a:prstDash val="solid"/>
              <a:round/>
              <a:headEnd len="med" w="med" type="none"/>
              <a:tailEnd len="med" w="med" type="none"/>
            </a:ln>
          </p:spPr>
        </p:cxnSp>
      </p:grpSp>
      <p:pic>
        <p:nvPicPr>
          <p:cNvPr id="30" name="Google Shape;30;p3"/>
          <p:cNvPicPr preferRelativeResize="0"/>
          <p:nvPr/>
        </p:nvPicPr>
        <p:blipFill>
          <a:blip r:embed="rId4">
            <a:alphaModFix/>
          </a:blip>
          <a:stretch>
            <a:fillRect/>
          </a:stretch>
        </p:blipFill>
        <p:spPr>
          <a:xfrm>
            <a:off x="6261625" y="161271"/>
            <a:ext cx="805956" cy="498600"/>
          </a:xfrm>
          <a:prstGeom prst="rect">
            <a:avLst/>
          </a:prstGeom>
          <a:noFill/>
          <a:ln>
            <a:noFill/>
          </a:ln>
        </p:spPr>
      </p:pic>
      <p:sp>
        <p:nvSpPr>
          <p:cNvPr id="31" name="Google Shape;31;p3"/>
          <p:cNvSpPr txBox="1"/>
          <p:nvPr>
            <p:ph idx="9" type="subTitle"/>
          </p:nvPr>
        </p:nvSpPr>
        <p:spPr>
          <a:xfrm>
            <a:off x="466825" y="13698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1">
  <p:cSld name="SECTION_HEADER_1_1_1_1_1_1_1_1_1_1">
    <p:spTree>
      <p:nvGrpSpPr>
        <p:cNvPr id="32" name="Shape 32"/>
        <p:cNvGrpSpPr/>
        <p:nvPr/>
      </p:nvGrpSpPr>
      <p:grpSpPr>
        <a:xfrm>
          <a:off x="0" y="0"/>
          <a:ext cx="0" cy="0"/>
          <a:chOff x="0" y="0"/>
          <a:chExt cx="0" cy="0"/>
        </a:xfrm>
      </p:grpSpPr>
      <p:sp>
        <p:nvSpPr>
          <p:cNvPr id="33" name="Google Shape;33;p4"/>
          <p:cNvSpPr txBox="1"/>
          <p:nvPr>
            <p:ph idx="1" type="subTitle"/>
          </p:nvPr>
        </p:nvSpPr>
        <p:spPr>
          <a:xfrm>
            <a:off x="466825" y="16277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4" name="Google Shape;34;p4"/>
          <p:cNvSpPr txBox="1"/>
          <p:nvPr>
            <p:ph idx="2" type="subTitle"/>
          </p:nvPr>
        </p:nvSpPr>
        <p:spPr>
          <a:xfrm>
            <a:off x="4127250"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5" name="Google Shape;35;p4"/>
          <p:cNvSpPr txBox="1"/>
          <p:nvPr>
            <p:ph idx="3" type="subTitle"/>
          </p:nvPr>
        </p:nvSpPr>
        <p:spPr>
          <a:xfrm>
            <a:off x="466825"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36" name="Google Shape;36;p4"/>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37" name="Google Shape;37;p4"/>
          <p:cNvSpPr txBox="1"/>
          <p:nvPr>
            <p:ph idx="4"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2">
  <p:cSld name="SECTION_HEADER_1_1_1_1_1_1_1_1_1_1_1">
    <p:spTree>
      <p:nvGrpSpPr>
        <p:cNvPr id="38" name="Shape 38"/>
        <p:cNvGrpSpPr/>
        <p:nvPr/>
      </p:nvGrpSpPr>
      <p:grpSpPr>
        <a:xfrm>
          <a:off x="0" y="0"/>
          <a:ext cx="0" cy="0"/>
          <a:chOff x="0" y="0"/>
          <a:chExt cx="0" cy="0"/>
        </a:xfrm>
      </p:grpSpPr>
      <p:sp>
        <p:nvSpPr>
          <p:cNvPr id="39" name="Google Shape;39;p5"/>
          <p:cNvSpPr txBox="1"/>
          <p:nvPr>
            <p:ph idx="1" type="subTitle"/>
          </p:nvPr>
        </p:nvSpPr>
        <p:spPr>
          <a:xfrm>
            <a:off x="2807400"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5"/>
          <p:cNvSpPr txBox="1"/>
          <p:nvPr>
            <p:ph idx="2" type="subTitle"/>
          </p:nvPr>
        </p:nvSpPr>
        <p:spPr>
          <a:xfrm>
            <a:off x="467950" y="2493013"/>
            <a:ext cx="66240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1" name="Google Shape;41;p5"/>
          <p:cNvSpPr txBox="1"/>
          <p:nvPr>
            <p:ph idx="3" type="subTitle"/>
          </p:nvPr>
        </p:nvSpPr>
        <p:spPr>
          <a:xfrm>
            <a:off x="46682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 name="Google Shape;42;p5"/>
          <p:cNvSpPr txBox="1"/>
          <p:nvPr>
            <p:ph idx="4" type="subTitle"/>
          </p:nvPr>
        </p:nvSpPr>
        <p:spPr>
          <a:xfrm>
            <a:off x="514797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43" name="Google Shape;43;p5"/>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44" name="Google Shape;44;p5"/>
          <p:cNvSpPr txBox="1"/>
          <p:nvPr>
            <p:ph idx="5"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3">
  <p:cSld name="SECTION_HEADER_1_1_1_1_1_1_1_1_1_1_1_2">
    <p:spTree>
      <p:nvGrpSpPr>
        <p:cNvPr id="45" name="Shape 45"/>
        <p:cNvGrpSpPr/>
        <p:nvPr/>
      </p:nvGrpSpPr>
      <p:grpSpPr>
        <a:xfrm>
          <a:off x="0" y="0"/>
          <a:ext cx="0" cy="0"/>
          <a:chOff x="0" y="0"/>
          <a:chExt cx="0" cy="0"/>
        </a:xfrm>
      </p:grpSpPr>
      <p:sp>
        <p:nvSpPr>
          <p:cNvPr id="46" name="Google Shape;46;p6"/>
          <p:cNvSpPr txBox="1"/>
          <p:nvPr>
            <p:ph idx="1" type="subTitle"/>
          </p:nvPr>
        </p:nvSpPr>
        <p:spPr>
          <a:xfrm>
            <a:off x="46682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7" name="Google Shape;47;p6"/>
          <p:cNvSpPr txBox="1"/>
          <p:nvPr>
            <p:ph idx="2" type="subTitle"/>
          </p:nvPr>
        </p:nvSpPr>
        <p:spPr>
          <a:xfrm>
            <a:off x="2807400"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8" name="Google Shape;48;p6"/>
          <p:cNvSpPr txBox="1"/>
          <p:nvPr>
            <p:ph idx="3" type="subTitle"/>
          </p:nvPr>
        </p:nvSpPr>
        <p:spPr>
          <a:xfrm>
            <a:off x="514797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6"/>
          <p:cNvSpPr txBox="1"/>
          <p:nvPr>
            <p:ph idx="4" type="subTitle"/>
          </p:nvPr>
        </p:nvSpPr>
        <p:spPr>
          <a:xfrm>
            <a:off x="466825" y="170220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0" name="Google Shape;50;p6"/>
          <p:cNvSpPr txBox="1"/>
          <p:nvPr>
            <p:ph idx="5" type="subTitle"/>
          </p:nvPr>
        </p:nvSpPr>
        <p:spPr>
          <a:xfrm>
            <a:off x="466825"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1" name="Google Shape;51;p6"/>
          <p:cNvSpPr txBox="1"/>
          <p:nvPr>
            <p:ph idx="6" type="subTitle"/>
          </p:nvPr>
        </p:nvSpPr>
        <p:spPr>
          <a:xfrm>
            <a:off x="4127250"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2" name="Google Shape;52;p6"/>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3" name="Google Shape;53;p6"/>
          <p:cNvSpPr txBox="1"/>
          <p:nvPr>
            <p:ph idx="7"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4">
  <p:cSld name="SECTION_HEADER_1_1_1_1_1_1_1_1_1_1_1_2_1">
    <p:spTree>
      <p:nvGrpSpPr>
        <p:cNvPr id="54" name="Shape 54"/>
        <p:cNvGrpSpPr/>
        <p:nvPr/>
      </p:nvGrpSpPr>
      <p:grpSpPr>
        <a:xfrm>
          <a:off x="0" y="0"/>
          <a:ext cx="0" cy="0"/>
          <a:chOff x="0" y="0"/>
          <a:chExt cx="0" cy="0"/>
        </a:xfrm>
      </p:grpSpPr>
      <p:sp>
        <p:nvSpPr>
          <p:cNvPr id="55" name="Google Shape;55;p7"/>
          <p:cNvSpPr txBox="1"/>
          <p:nvPr>
            <p:ph idx="1" type="subTitle"/>
          </p:nvPr>
        </p:nvSpPr>
        <p:spPr>
          <a:xfrm>
            <a:off x="468000" y="1327649"/>
            <a:ext cx="6624000" cy="38436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6" name="Google Shape;56;p7"/>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7" name="Google Shape;57;p7"/>
          <p:cNvSpPr txBox="1"/>
          <p:nvPr>
            <p:ph idx="2"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lements to copy and paste">
  <p:cSld name="SECTION_HEADER_1_1_1_1_1_1_1_1_1_1_1_2_1_1">
    <p:spTree>
      <p:nvGrpSpPr>
        <p:cNvPr id="58" name="Shape 58"/>
        <p:cNvGrpSpPr/>
        <p:nvPr/>
      </p:nvGrpSpPr>
      <p:grpSpPr>
        <a:xfrm>
          <a:off x="0" y="0"/>
          <a:ext cx="0" cy="0"/>
          <a:chOff x="0" y="0"/>
          <a:chExt cx="0" cy="0"/>
        </a:xfrm>
      </p:grpSpPr>
      <p:sp>
        <p:nvSpPr>
          <p:cNvPr id="59" name="Google Shape;59;p8"/>
          <p:cNvSpPr txBox="1"/>
          <p:nvPr/>
        </p:nvSpPr>
        <p:spPr>
          <a:xfrm>
            <a:off x="493450" y="416654"/>
            <a:ext cx="6624000" cy="2154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rPr b="1" lang="en-GB">
                <a:latin typeface="Lexend"/>
                <a:ea typeface="Lexend"/>
                <a:cs typeface="Lexend"/>
                <a:sym typeface="Lexend"/>
              </a:rPr>
              <a:t>Elements to copy and paste</a:t>
            </a:r>
            <a:endParaRPr sz="1100">
              <a:latin typeface="Lexend"/>
              <a:ea typeface="Lexend"/>
              <a:cs typeface="Lexend"/>
              <a:sym typeface="Lexend"/>
            </a:endParaRPr>
          </a:p>
        </p:txBody>
      </p:sp>
      <p:pic>
        <p:nvPicPr>
          <p:cNvPr id="60" name="Google Shape;60;p8"/>
          <p:cNvPicPr preferRelativeResize="0"/>
          <p:nvPr/>
        </p:nvPicPr>
        <p:blipFill>
          <a:blip r:embed="rId2">
            <a:alphaModFix/>
          </a:blip>
          <a:stretch>
            <a:fillRect/>
          </a:stretch>
        </p:blipFill>
        <p:spPr>
          <a:xfrm>
            <a:off x="6886512" y="10041210"/>
            <a:ext cx="181075" cy="246288"/>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itle page">
  <p:cSld name="SECTION_HEADER_1_1_1_1_1_1_1_1_1_1_1_2_1_1_1_1_1_2">
    <p:bg>
      <p:bgPr>
        <a:solidFill>
          <a:schemeClr val="lt1"/>
        </a:solidFill>
      </p:bgPr>
    </p:bg>
    <p:spTree>
      <p:nvGrpSpPr>
        <p:cNvPr id="65" name="Shape 65"/>
        <p:cNvGrpSpPr/>
        <p:nvPr/>
      </p:nvGrpSpPr>
      <p:grpSpPr>
        <a:xfrm>
          <a:off x="0" y="0"/>
          <a:ext cx="0" cy="0"/>
          <a:chOff x="0" y="0"/>
          <a:chExt cx="0" cy="0"/>
        </a:xfrm>
      </p:grpSpPr>
      <p:pic>
        <p:nvPicPr>
          <p:cNvPr id="66" name="Google Shape;66;p10"/>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67" name="Google Shape;67;p1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68" name="Google Shape;68;p10"/>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69" name="Google Shape;69;p10"/>
          <p:cNvPicPr preferRelativeResize="0"/>
          <p:nvPr/>
        </p:nvPicPr>
        <p:blipFill>
          <a:blip r:embed="rId3">
            <a:alphaModFix/>
          </a:blip>
          <a:stretch>
            <a:fillRect/>
          </a:stretch>
        </p:blipFill>
        <p:spPr>
          <a:xfrm>
            <a:off x="5722275" y="215699"/>
            <a:ext cx="504000" cy="504000"/>
          </a:xfrm>
          <a:prstGeom prst="rect">
            <a:avLst/>
          </a:prstGeom>
          <a:noFill/>
          <a:ln>
            <a:noFill/>
          </a:ln>
        </p:spPr>
      </p:pic>
      <p:pic>
        <p:nvPicPr>
          <p:cNvPr id="70" name="Google Shape;70;p10"/>
          <p:cNvPicPr preferRelativeResize="0"/>
          <p:nvPr/>
        </p:nvPicPr>
        <p:blipFill>
          <a:blip r:embed="rId4">
            <a:alphaModFix/>
          </a:blip>
          <a:stretch>
            <a:fillRect/>
          </a:stretch>
        </p:blipFill>
        <p:spPr>
          <a:xfrm>
            <a:off x="468000" y="1242003"/>
            <a:ext cx="6624000" cy="66240"/>
          </a:xfrm>
          <a:prstGeom prst="rect">
            <a:avLst/>
          </a:prstGeom>
          <a:noFill/>
          <a:ln>
            <a:noFill/>
          </a:ln>
        </p:spPr>
      </p:pic>
      <p:sp>
        <p:nvSpPr>
          <p:cNvPr id="71" name="Google Shape;71;p10"/>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72" name="Google Shape;72;p10"/>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73" name="Google Shape;73;p10"/>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Title page with long title">
  <p:cSld name="SECTION_HEADER_1_1_1_1_1_1_1_1_1_1_1_2_1_1_1_1_1_1_2">
    <p:bg>
      <p:bgPr>
        <a:solidFill>
          <a:schemeClr val="lt1"/>
        </a:solidFill>
      </p:bgPr>
    </p:bg>
    <p:spTree>
      <p:nvGrpSpPr>
        <p:cNvPr id="74" name="Shape 74"/>
        <p:cNvGrpSpPr/>
        <p:nvPr/>
      </p:nvGrpSpPr>
      <p:grpSpPr>
        <a:xfrm>
          <a:off x="0" y="0"/>
          <a:ext cx="0" cy="0"/>
          <a:chOff x="0" y="0"/>
          <a:chExt cx="0" cy="0"/>
        </a:xfrm>
      </p:grpSpPr>
      <p:pic>
        <p:nvPicPr>
          <p:cNvPr id="75" name="Google Shape;75;p11"/>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76" name="Google Shape;76;p1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77" name="Google Shape;77;p11"/>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8" name="Google Shape;78;p11"/>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79" name="Google Shape;79;p11"/>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80" name="Google Shape;80;p11"/>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81" name="Google Shape;81;p11"/>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82" name="Google Shape;82;p11"/>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iddle page">
  <p:cSld name="SECTION_HEADER_1_1_1_1_1_1_1_1_1_1_1_2_1_1_1_1_1_1_1_1_2">
    <p:bg>
      <p:bgPr>
        <a:solidFill>
          <a:schemeClr val="lt1"/>
        </a:solidFill>
      </p:bgPr>
    </p:bg>
    <p:spTree>
      <p:nvGrpSpPr>
        <p:cNvPr id="83" name="Shape 83"/>
        <p:cNvGrpSpPr/>
        <p:nvPr/>
      </p:nvGrpSpPr>
      <p:grpSpPr>
        <a:xfrm>
          <a:off x="0" y="0"/>
          <a:ext cx="0" cy="0"/>
          <a:chOff x="0" y="0"/>
          <a:chExt cx="0" cy="0"/>
        </a:xfrm>
      </p:grpSpPr>
      <p:pic>
        <p:nvPicPr>
          <p:cNvPr id="84" name="Google Shape;84;p12"/>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85" name="Google Shape;85;p1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86" name="Google Shape;86;p12"/>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87" name="Google Shape;87;p12"/>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88" name="Google Shape;88;p12"/>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89" name="Google Shape;89;p12"/>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Last page">
  <p:cSld name="SECTION_HEADER_1_1_1_1_1_1_1_1_1_1_1_2_1_1_1_1_1_1_1_1_1_3">
    <p:bg>
      <p:bgPr>
        <a:solidFill>
          <a:schemeClr val="lt1"/>
        </a:solidFill>
      </p:bgPr>
    </p:bg>
    <p:spTree>
      <p:nvGrpSpPr>
        <p:cNvPr id="90" name="Shape 90"/>
        <p:cNvGrpSpPr/>
        <p:nvPr/>
      </p:nvGrpSpPr>
      <p:grpSpPr>
        <a:xfrm>
          <a:off x="0" y="0"/>
          <a:ext cx="0" cy="0"/>
          <a:chOff x="0" y="0"/>
          <a:chExt cx="0" cy="0"/>
        </a:xfrm>
      </p:grpSpPr>
      <p:pic>
        <p:nvPicPr>
          <p:cNvPr id="91" name="Google Shape;91;p13"/>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92" name="Google Shape;92;p1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93" name="Google Shape;93;p13"/>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94" name="Google Shape;94;p13"/>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95" name="Google Shape;95;p13"/>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96" name="Google Shape;96;p13"/>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97" name="Google Shape;97;p13"/>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98" name="Google Shape;98;p13"/>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99" name="Google Shape;99;p13"/>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00" name="Google Shape;100;p13"/>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lvl1pPr lv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ingle page worksheet">
  <p:cSld name="SECTION_HEADER_1_1_1_1_1_1_1_1_1_1_1_2_1_1_1_1_1_2_1">
    <p:bg>
      <p:bgPr>
        <a:solidFill>
          <a:schemeClr val="lt1"/>
        </a:solidFill>
      </p:bgPr>
    </p:bg>
    <p:spTree>
      <p:nvGrpSpPr>
        <p:cNvPr id="101" name="Shape 101"/>
        <p:cNvGrpSpPr/>
        <p:nvPr/>
      </p:nvGrpSpPr>
      <p:grpSpPr>
        <a:xfrm>
          <a:off x="0" y="0"/>
          <a:ext cx="0" cy="0"/>
          <a:chOff x="0" y="0"/>
          <a:chExt cx="0" cy="0"/>
        </a:xfrm>
      </p:grpSpPr>
      <p:pic>
        <p:nvPicPr>
          <p:cNvPr id="102" name="Google Shape;102;p14"/>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03" name="Google Shape;103;p1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04" name="Google Shape;104;p14"/>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05" name="Google Shape;105;p14"/>
          <p:cNvPicPr preferRelativeResize="0"/>
          <p:nvPr/>
        </p:nvPicPr>
        <p:blipFill>
          <a:blip r:embed="rId3">
            <a:alphaModFix/>
          </a:blip>
          <a:stretch>
            <a:fillRect/>
          </a:stretch>
        </p:blipFill>
        <p:spPr>
          <a:xfrm>
            <a:off x="468000" y="1242003"/>
            <a:ext cx="6624000" cy="66240"/>
          </a:xfrm>
          <a:prstGeom prst="rect">
            <a:avLst/>
          </a:prstGeom>
          <a:noFill/>
          <a:ln>
            <a:noFill/>
          </a:ln>
        </p:spPr>
      </p:pic>
      <p:pic>
        <p:nvPicPr>
          <p:cNvPr id="106" name="Google Shape;106;p14"/>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07" name="Google Shape;107;p14"/>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08" name="Google Shape;108;p14"/>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109" name="Google Shape;109;p14"/>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10" name="Google Shape;110;p14"/>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11" name="Google Shape;111;p14"/>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12" name="Google Shape;112;p14"/>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13" name="Google Shape;113;p14"/>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ingle page worksheet with long title">
  <p:cSld name="SECTION_HEADER_1_1_1_1_1_1_1_1_1_1_1_2_1_1_1_1_1_1_1">
    <p:bg>
      <p:bgPr>
        <a:solidFill>
          <a:schemeClr val="lt1"/>
        </a:solidFill>
      </p:bgPr>
    </p:bg>
    <p:spTree>
      <p:nvGrpSpPr>
        <p:cNvPr id="114" name="Shape 114"/>
        <p:cNvGrpSpPr/>
        <p:nvPr/>
      </p:nvGrpSpPr>
      <p:grpSpPr>
        <a:xfrm>
          <a:off x="0" y="0"/>
          <a:ext cx="0" cy="0"/>
          <a:chOff x="0" y="0"/>
          <a:chExt cx="0" cy="0"/>
        </a:xfrm>
      </p:grpSpPr>
      <p:pic>
        <p:nvPicPr>
          <p:cNvPr id="115" name="Google Shape;115;p15"/>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16" name="Google Shape;116;p1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17" name="Google Shape;117;p15"/>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18" name="Google Shape;118;p15"/>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119" name="Google Shape;119;p15"/>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20" name="Google Shape;120;p15"/>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21" name="Google Shape;121;p15"/>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122" name="Google Shape;122;p15"/>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23" name="Google Shape;123;p15"/>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24" name="Google Shape;124;p15"/>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25" name="Google Shape;125;p15"/>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26" name="Google Shape;126;p15"/>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andscape title page">
  <p:cSld name="SECTION_HEADER_1_1_1_1_1_1_1_1_1_1_1_2_1_1_1_1_1_1_1_1_1_1">
    <p:bg>
      <p:bgPr>
        <a:solidFill>
          <a:schemeClr val="lt1"/>
        </a:solidFill>
      </p:bgPr>
    </p:bg>
    <p:spTree>
      <p:nvGrpSpPr>
        <p:cNvPr id="127" name="Shape 127"/>
        <p:cNvGrpSpPr/>
        <p:nvPr/>
      </p:nvGrpSpPr>
      <p:grpSpPr>
        <a:xfrm>
          <a:off x="0" y="0"/>
          <a:ext cx="0" cy="0"/>
          <a:chOff x="0" y="0"/>
          <a:chExt cx="0" cy="0"/>
        </a:xfrm>
      </p:grpSpPr>
      <p:pic>
        <p:nvPicPr>
          <p:cNvPr id="128" name="Google Shape;128;p16"/>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29" name="Google Shape;129;p16"/>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0" name="Google Shape;130;p16"/>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31" name="Google Shape;131;p16"/>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132" name="Google Shape;132;p16"/>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33" name="Google Shape;133;p16"/>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34" name="Google Shape;134;p16"/>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135" name="Google Shape;135;p16"/>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Landscape middle page">
  <p:cSld name="SECTION_HEADER_1_1_1_1_1_1_1_1_1_1_1_2_1_1_1_1_1_1_1_1_1_1_1_2">
    <p:bg>
      <p:bgPr>
        <a:solidFill>
          <a:schemeClr val="lt1"/>
        </a:solidFill>
      </p:bgPr>
    </p:bg>
    <p:spTree>
      <p:nvGrpSpPr>
        <p:cNvPr id="136" name="Shape 136"/>
        <p:cNvGrpSpPr/>
        <p:nvPr/>
      </p:nvGrpSpPr>
      <p:grpSpPr>
        <a:xfrm>
          <a:off x="0" y="0"/>
          <a:ext cx="0" cy="0"/>
          <a:chOff x="0" y="0"/>
          <a:chExt cx="0" cy="0"/>
        </a:xfrm>
      </p:grpSpPr>
      <p:pic>
        <p:nvPicPr>
          <p:cNvPr id="137" name="Google Shape;137;p17"/>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38" name="Google Shape;138;p17"/>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9" name="Google Shape;139;p17"/>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pic>
        <p:nvPicPr>
          <p:cNvPr id="140" name="Google Shape;140;p17"/>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141" name="Google Shape;141;p17"/>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42" name="Google Shape;142;p17"/>
          <p:cNvSpPr txBox="1"/>
          <p:nvPr>
            <p:ph idx="1"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Landscape last page">
  <p:cSld name="SECTION_HEADER_1_1_1_1_1_1_1_1_1_1_1_2_1_1_1_1_1_1_1_1_1_1_1_1_1">
    <p:bg>
      <p:bgPr>
        <a:solidFill>
          <a:schemeClr val="lt1"/>
        </a:solidFill>
      </p:bgPr>
    </p:bg>
    <p:spTree>
      <p:nvGrpSpPr>
        <p:cNvPr id="143" name="Shape 143"/>
        <p:cNvGrpSpPr/>
        <p:nvPr/>
      </p:nvGrpSpPr>
      <p:grpSpPr>
        <a:xfrm>
          <a:off x="0" y="0"/>
          <a:ext cx="0" cy="0"/>
          <a:chOff x="0" y="0"/>
          <a:chExt cx="0" cy="0"/>
        </a:xfrm>
      </p:grpSpPr>
      <p:pic>
        <p:nvPicPr>
          <p:cNvPr id="144" name="Google Shape;144;p18"/>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45" name="Google Shape;145;p18"/>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46" name="Google Shape;146;p18"/>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pic>
        <p:nvPicPr>
          <p:cNvPr id="147" name="Google Shape;147;p18"/>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148" name="Google Shape;148;p18"/>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49" name="Google Shape;149;p18"/>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50" name="Google Shape;150;p18"/>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51" name="Google Shape;151;p18"/>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52" name="Google Shape;152;p18"/>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3" name="Google Shape;153;p18"/>
          <p:cNvSpPr txBox="1"/>
          <p:nvPr>
            <p:ph idx="2"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Landscape single page worksheet">
  <p:cSld name="SECTION_HEADER_1_1_1_1_1_1_1_1_1_1_1_2_1_1_1_1_1_1_1_1_1_1_2">
    <p:bg>
      <p:bgPr>
        <a:solidFill>
          <a:schemeClr val="lt1"/>
        </a:solidFill>
      </p:bgPr>
    </p:bg>
    <p:spTree>
      <p:nvGrpSpPr>
        <p:cNvPr id="154" name="Shape 154"/>
        <p:cNvGrpSpPr/>
        <p:nvPr/>
      </p:nvGrpSpPr>
      <p:grpSpPr>
        <a:xfrm>
          <a:off x="0" y="0"/>
          <a:ext cx="0" cy="0"/>
          <a:chOff x="0" y="0"/>
          <a:chExt cx="0" cy="0"/>
        </a:xfrm>
      </p:grpSpPr>
      <p:pic>
        <p:nvPicPr>
          <p:cNvPr id="155" name="Google Shape;155;p19"/>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56" name="Google Shape;156;p19"/>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57" name="Google Shape;157;p19"/>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9"/>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159" name="Google Shape;159;p19"/>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60" name="Google Shape;160;p19"/>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61" name="Google Shape;161;p19"/>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162" name="Google Shape;162;p19"/>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63" name="Google Shape;163;p19"/>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64" name="Google Shape;164;p19"/>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65" name="Google Shape;165;p19"/>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66" name="Google Shape;166;p19"/>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11" Type="http://schemas.openxmlformats.org/officeDocument/2006/relationships/theme" Target="../theme/theme2.xml"/><Relationship Id="rId10" Type="http://schemas.openxmlformats.org/officeDocument/2006/relationships/slideLayout" Target="../slideLayouts/slideLayout17.xml"/><Relationship Id="rId9" Type="http://schemas.openxmlformats.org/officeDocument/2006/relationships/slideLayout" Target="../slideLayouts/slideLayout16.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1" name="Shape 61"/>
        <p:cNvGrpSpPr/>
        <p:nvPr/>
      </p:nvGrpSpPr>
      <p:grpSpPr>
        <a:xfrm>
          <a:off x="0" y="0"/>
          <a:ext cx="0" cy="0"/>
          <a:chOff x="0" y="0"/>
          <a:chExt cx="0" cy="0"/>
        </a:xfrm>
      </p:grpSpPr>
      <p:sp>
        <p:nvSpPr>
          <p:cNvPr id="62" name="Google Shape;62;p9"/>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63" name="Google Shape;63;p9"/>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64" name="Google Shape;64;p9"/>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0"/>
          <p:cNvSpPr txBox="1"/>
          <p:nvPr/>
        </p:nvSpPr>
        <p:spPr>
          <a:xfrm>
            <a:off x="552364" y="3171024"/>
            <a:ext cx="6624000" cy="2772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200">
                <a:latin typeface="Lexend"/>
                <a:ea typeface="Lexend"/>
                <a:cs typeface="Lexend"/>
                <a:sym typeface="Lexend"/>
              </a:rPr>
              <a:t>d)    </a:t>
            </a:r>
            <a:r>
              <a:rPr lang="en-GB" sz="1200">
                <a:solidFill>
                  <a:srgbClr val="000000"/>
                </a:solidFill>
                <a:latin typeface="Lexend"/>
                <a:ea typeface="Lexend"/>
                <a:cs typeface="Lexend"/>
                <a:sym typeface="Lexend"/>
              </a:rPr>
              <a:t>187</a:t>
            </a:r>
            <a:endParaRPr sz="1200">
              <a:solidFill>
                <a:srgbClr val="000000"/>
              </a:solidFill>
              <a:latin typeface="Lexend"/>
              <a:ea typeface="Lexend"/>
              <a:cs typeface="Lexend"/>
              <a:sym typeface="Lexend"/>
            </a:endParaRPr>
          </a:p>
        </p:txBody>
      </p:sp>
      <p:sp>
        <p:nvSpPr>
          <p:cNvPr id="172" name="Google Shape;172;p2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3" name="Google Shape;173;p20"/>
          <p:cNvSpPr txBox="1"/>
          <p:nvPr>
            <p:ph type="title"/>
          </p:nvPr>
        </p:nvSpPr>
        <p:spPr>
          <a:xfrm>
            <a:off x="468000" y="864000"/>
            <a:ext cx="66240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Rounding integers to one significant figure</a:t>
            </a:r>
            <a:endParaRPr/>
          </a:p>
        </p:txBody>
      </p:sp>
      <p:cxnSp>
        <p:nvCxnSpPr>
          <p:cNvPr id="174" name="Google Shape;174;p20"/>
          <p:cNvCxnSpPr/>
          <p:nvPr/>
        </p:nvCxnSpPr>
        <p:spPr>
          <a:xfrm>
            <a:off x="480750" y="4224378"/>
            <a:ext cx="6598500" cy="0"/>
          </a:xfrm>
          <a:prstGeom prst="straightConnector1">
            <a:avLst/>
          </a:prstGeom>
          <a:noFill/>
          <a:ln cap="flat" cmpd="sng" w="38100">
            <a:solidFill>
              <a:srgbClr val="000000"/>
            </a:solidFill>
            <a:prstDash val="solid"/>
            <a:round/>
            <a:headEnd len="med" w="med" type="none"/>
            <a:tailEnd len="med" w="med" type="none"/>
          </a:ln>
        </p:spPr>
      </p:cxnSp>
      <p:sp>
        <p:nvSpPr>
          <p:cNvPr id="175" name="Google Shape;175;p20"/>
          <p:cNvSpPr txBox="1"/>
          <p:nvPr/>
        </p:nvSpPr>
        <p:spPr>
          <a:xfrm>
            <a:off x="468000" y="1376125"/>
            <a:ext cx="6624000" cy="38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a:solidFill>
                  <a:schemeClr val="dk1"/>
                </a:solidFill>
                <a:latin typeface="Lexend"/>
                <a:ea typeface="Lexend"/>
                <a:cs typeface="Lexend"/>
                <a:sym typeface="Lexend"/>
              </a:rPr>
              <a:t>Task A: </a:t>
            </a:r>
            <a:r>
              <a:rPr b="1" lang="en-GB">
                <a:solidFill>
                  <a:schemeClr val="dk1"/>
                </a:solidFill>
                <a:latin typeface="Lexend"/>
                <a:ea typeface="Lexend"/>
                <a:cs typeface="Lexend"/>
                <a:sym typeface="Lexend"/>
              </a:rPr>
              <a:t>Identifying significant figures</a:t>
            </a:r>
            <a:endParaRPr b="1">
              <a:solidFill>
                <a:schemeClr val="dk1"/>
              </a:solidFill>
              <a:latin typeface="Lexend"/>
              <a:ea typeface="Lexend"/>
              <a:cs typeface="Lexend"/>
              <a:sym typeface="Lexend"/>
            </a:endParaRPr>
          </a:p>
        </p:txBody>
      </p:sp>
      <p:sp>
        <p:nvSpPr>
          <p:cNvPr id="176" name="Google Shape;176;p20"/>
          <p:cNvSpPr txBox="1"/>
          <p:nvPr/>
        </p:nvSpPr>
        <p:spPr>
          <a:xfrm>
            <a:off x="468000" y="1758924"/>
            <a:ext cx="6624000" cy="603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200">
                <a:solidFill>
                  <a:srgbClr val="000000"/>
                </a:solidFill>
                <a:latin typeface="Lexend"/>
                <a:ea typeface="Lexend"/>
                <a:cs typeface="Lexend"/>
                <a:sym typeface="Lexend"/>
              </a:rPr>
              <a:t>Circle the first </a:t>
            </a:r>
            <a:r>
              <a:rPr b="1" lang="en-GB" sz="1200">
                <a:solidFill>
                  <a:srgbClr val="000000"/>
                </a:solidFill>
                <a:latin typeface="Lexend"/>
                <a:ea typeface="Lexend"/>
                <a:cs typeface="Lexend"/>
                <a:sym typeface="Lexend"/>
              </a:rPr>
              <a:t>significant figure</a:t>
            </a:r>
            <a:r>
              <a:rPr lang="en-GB" sz="1200">
                <a:solidFill>
                  <a:srgbClr val="000000"/>
                </a:solidFill>
                <a:latin typeface="Lexend"/>
                <a:ea typeface="Lexend"/>
                <a:cs typeface="Lexend"/>
                <a:sym typeface="Lexend"/>
              </a:rPr>
              <a:t> in each of the following:</a:t>
            </a:r>
            <a:br>
              <a:rPr lang="en-GB" sz="1200">
                <a:solidFill>
                  <a:srgbClr val="000000"/>
                </a:solidFill>
                <a:latin typeface="Lexend"/>
                <a:ea typeface="Lexend"/>
                <a:cs typeface="Lexend"/>
                <a:sym typeface="Lexend"/>
              </a:rPr>
            </a:br>
            <a:endParaRPr sz="1200">
              <a:solidFill>
                <a:srgbClr val="000000"/>
              </a:solidFill>
              <a:latin typeface="Lexend"/>
              <a:ea typeface="Lexend"/>
              <a:cs typeface="Lexend"/>
              <a:sym typeface="Lexend"/>
            </a:endParaRPr>
          </a:p>
          <a:p>
            <a:pPr indent="0" lvl="0" marL="0" rtl="0" algn="l">
              <a:lnSpc>
                <a:spcPct val="100000"/>
              </a:lnSpc>
              <a:spcBef>
                <a:spcPts val="0"/>
              </a:spcBef>
              <a:spcAft>
                <a:spcPts val="0"/>
              </a:spcAft>
              <a:buNone/>
            </a:pPr>
            <a:r>
              <a:rPr lang="en-GB" sz="1200">
                <a:latin typeface="Lexend"/>
                <a:ea typeface="Lexend"/>
                <a:cs typeface="Lexend"/>
                <a:sym typeface="Lexend"/>
              </a:rPr>
              <a:t>  a)     </a:t>
            </a:r>
            <a:r>
              <a:rPr lang="en-GB" sz="1200">
                <a:solidFill>
                  <a:srgbClr val="000000"/>
                </a:solidFill>
                <a:latin typeface="Lexend"/>
                <a:ea typeface="Lexend"/>
                <a:cs typeface="Lexend"/>
                <a:sym typeface="Lexend"/>
              </a:rPr>
              <a:t>150 267</a:t>
            </a:r>
            <a:endParaRPr sz="1200">
              <a:solidFill>
                <a:srgbClr val="000000"/>
              </a:solidFill>
              <a:latin typeface="Lexend"/>
              <a:ea typeface="Lexend"/>
              <a:cs typeface="Lexend"/>
              <a:sym typeface="Lexend"/>
            </a:endParaRPr>
          </a:p>
        </p:txBody>
      </p:sp>
      <p:sp>
        <p:nvSpPr>
          <p:cNvPr id="177" name="Google Shape;177;p20"/>
          <p:cNvSpPr/>
          <p:nvPr/>
        </p:nvSpPr>
        <p:spPr>
          <a:xfrm>
            <a:off x="889387" y="2058688"/>
            <a:ext cx="132300" cy="236400"/>
          </a:xfrm>
          <a:prstGeom prst="ellipse">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sz="1200">
              <a:latin typeface="Lexend"/>
              <a:ea typeface="Lexend"/>
              <a:cs typeface="Lexend"/>
              <a:sym typeface="Lexend"/>
            </a:endParaRPr>
          </a:p>
        </p:txBody>
      </p:sp>
      <p:sp>
        <p:nvSpPr>
          <p:cNvPr id="178" name="Google Shape;178;p20"/>
          <p:cNvSpPr/>
          <p:nvPr/>
        </p:nvSpPr>
        <p:spPr>
          <a:xfrm>
            <a:off x="881828" y="2420410"/>
            <a:ext cx="132300" cy="236400"/>
          </a:xfrm>
          <a:prstGeom prst="ellipse">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sz="1200">
              <a:latin typeface="Lexend"/>
              <a:ea typeface="Lexend"/>
              <a:cs typeface="Lexend"/>
              <a:sym typeface="Lexend"/>
            </a:endParaRPr>
          </a:p>
        </p:txBody>
      </p:sp>
      <p:sp>
        <p:nvSpPr>
          <p:cNvPr id="179" name="Google Shape;179;p20"/>
          <p:cNvSpPr/>
          <p:nvPr/>
        </p:nvSpPr>
        <p:spPr>
          <a:xfrm>
            <a:off x="893793" y="2790279"/>
            <a:ext cx="132300" cy="236400"/>
          </a:xfrm>
          <a:prstGeom prst="ellipse">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sz="1200">
              <a:latin typeface="Lexend"/>
              <a:ea typeface="Lexend"/>
              <a:cs typeface="Lexend"/>
              <a:sym typeface="Lexend"/>
            </a:endParaRPr>
          </a:p>
        </p:txBody>
      </p:sp>
      <p:sp>
        <p:nvSpPr>
          <p:cNvPr id="180" name="Google Shape;180;p20"/>
          <p:cNvSpPr/>
          <p:nvPr/>
        </p:nvSpPr>
        <p:spPr>
          <a:xfrm>
            <a:off x="856429" y="3140712"/>
            <a:ext cx="132300" cy="236400"/>
          </a:xfrm>
          <a:prstGeom prst="ellipse">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sz="1200">
              <a:latin typeface="Lexend"/>
              <a:ea typeface="Lexend"/>
              <a:cs typeface="Lexend"/>
              <a:sym typeface="Lexend"/>
            </a:endParaRPr>
          </a:p>
        </p:txBody>
      </p:sp>
      <p:sp>
        <p:nvSpPr>
          <p:cNvPr id="181" name="Google Shape;181;p20"/>
          <p:cNvSpPr/>
          <p:nvPr/>
        </p:nvSpPr>
        <p:spPr>
          <a:xfrm>
            <a:off x="891581" y="3509313"/>
            <a:ext cx="132300" cy="236400"/>
          </a:xfrm>
          <a:prstGeom prst="ellipse">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sz="1200">
              <a:latin typeface="Lexend"/>
              <a:ea typeface="Lexend"/>
              <a:cs typeface="Lexend"/>
              <a:sym typeface="Lexend"/>
            </a:endParaRPr>
          </a:p>
        </p:txBody>
      </p:sp>
      <p:sp>
        <p:nvSpPr>
          <p:cNvPr id="182" name="Google Shape;182;p20"/>
          <p:cNvSpPr/>
          <p:nvPr/>
        </p:nvSpPr>
        <p:spPr>
          <a:xfrm>
            <a:off x="906524" y="3897686"/>
            <a:ext cx="132300" cy="236400"/>
          </a:xfrm>
          <a:prstGeom prst="ellipse">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sz="1200">
              <a:latin typeface="Lexend"/>
              <a:ea typeface="Lexend"/>
              <a:cs typeface="Lexend"/>
              <a:sym typeface="Lexend"/>
            </a:endParaRPr>
          </a:p>
        </p:txBody>
      </p:sp>
      <p:sp>
        <p:nvSpPr>
          <p:cNvPr id="183" name="Google Shape;183;p20"/>
          <p:cNvSpPr txBox="1"/>
          <p:nvPr/>
        </p:nvSpPr>
        <p:spPr>
          <a:xfrm>
            <a:off x="468000" y="4305741"/>
            <a:ext cx="6624000" cy="38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a:solidFill>
                  <a:schemeClr val="dk1"/>
                </a:solidFill>
                <a:latin typeface="Lexend"/>
                <a:ea typeface="Lexend"/>
                <a:cs typeface="Lexend"/>
                <a:sym typeface="Lexend"/>
              </a:rPr>
              <a:t>Task B: </a:t>
            </a:r>
            <a:r>
              <a:rPr b="1" lang="en-GB">
                <a:solidFill>
                  <a:schemeClr val="dk1"/>
                </a:solidFill>
                <a:latin typeface="Lexend"/>
                <a:ea typeface="Lexend"/>
                <a:cs typeface="Lexend"/>
                <a:sym typeface="Lexend"/>
              </a:rPr>
              <a:t>Using a number line for significant figures</a:t>
            </a:r>
            <a:endParaRPr b="1">
              <a:solidFill>
                <a:schemeClr val="dk1"/>
              </a:solidFill>
              <a:latin typeface="Lexend"/>
              <a:ea typeface="Lexend"/>
              <a:cs typeface="Lexend"/>
              <a:sym typeface="Lexend"/>
            </a:endParaRPr>
          </a:p>
        </p:txBody>
      </p:sp>
      <p:sp>
        <p:nvSpPr>
          <p:cNvPr id="184" name="Google Shape;184;p20"/>
          <p:cNvSpPr txBox="1"/>
          <p:nvPr/>
        </p:nvSpPr>
        <p:spPr>
          <a:xfrm>
            <a:off x="468000" y="4601590"/>
            <a:ext cx="6624000" cy="6036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rgbClr val="000000"/>
              </a:buClr>
              <a:buSzPts val="1200"/>
              <a:buFont typeface="Lexend"/>
              <a:buAutoNum type="arabicParenR"/>
            </a:pPr>
            <a:r>
              <a:rPr lang="en-GB" sz="1200">
                <a:solidFill>
                  <a:srgbClr val="000000"/>
                </a:solidFill>
                <a:latin typeface="Lexend"/>
                <a:ea typeface="Lexend"/>
                <a:cs typeface="Lexend"/>
                <a:sym typeface="Lexend"/>
              </a:rPr>
              <a:t>Match the following to the correct rounded to one significant figure number:</a:t>
            </a:r>
            <a:endParaRPr sz="1200">
              <a:solidFill>
                <a:srgbClr val="000000"/>
              </a:solidFill>
              <a:latin typeface="Lexend"/>
              <a:ea typeface="Lexend"/>
              <a:cs typeface="Lexend"/>
              <a:sym typeface="Lexend"/>
            </a:endParaRPr>
          </a:p>
        </p:txBody>
      </p:sp>
      <p:sp>
        <p:nvSpPr>
          <p:cNvPr id="185" name="Google Shape;185;p20"/>
          <p:cNvSpPr/>
          <p:nvPr/>
        </p:nvSpPr>
        <p:spPr>
          <a:xfrm>
            <a:off x="1367698" y="4967789"/>
            <a:ext cx="2088900" cy="346200"/>
          </a:xfrm>
          <a:prstGeom prst="roundRect">
            <a:avLst>
              <a:gd fmla="val 16667" name="adj"/>
            </a:avLst>
          </a:prstGeom>
          <a:no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3 487 925</a:t>
            </a:r>
            <a:endParaRPr sz="1200">
              <a:latin typeface="Lexend"/>
              <a:ea typeface="Lexend"/>
              <a:cs typeface="Lexend"/>
              <a:sym typeface="Lexend"/>
            </a:endParaRPr>
          </a:p>
        </p:txBody>
      </p:sp>
      <p:sp>
        <p:nvSpPr>
          <p:cNvPr id="186" name="Google Shape;186;p20"/>
          <p:cNvSpPr/>
          <p:nvPr/>
        </p:nvSpPr>
        <p:spPr>
          <a:xfrm>
            <a:off x="1367698" y="5579820"/>
            <a:ext cx="2088900" cy="346200"/>
          </a:xfrm>
          <a:prstGeom prst="roundRect">
            <a:avLst>
              <a:gd fmla="val 16667" name="adj"/>
            </a:avLst>
          </a:prstGeom>
          <a:no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28 021</a:t>
            </a:r>
            <a:endParaRPr sz="1200">
              <a:latin typeface="Lexend"/>
              <a:ea typeface="Lexend"/>
              <a:cs typeface="Lexend"/>
              <a:sym typeface="Lexend"/>
            </a:endParaRPr>
          </a:p>
        </p:txBody>
      </p:sp>
      <p:sp>
        <p:nvSpPr>
          <p:cNvPr id="187" name="Google Shape;187;p20"/>
          <p:cNvSpPr/>
          <p:nvPr/>
        </p:nvSpPr>
        <p:spPr>
          <a:xfrm>
            <a:off x="1367698" y="6191851"/>
            <a:ext cx="2088900" cy="346200"/>
          </a:xfrm>
          <a:prstGeom prst="roundRect">
            <a:avLst>
              <a:gd fmla="val 16667" name="adj"/>
            </a:avLst>
          </a:prstGeom>
          <a:no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28</a:t>
            </a:r>
            <a:endParaRPr sz="1200">
              <a:latin typeface="Lexend"/>
              <a:ea typeface="Lexend"/>
              <a:cs typeface="Lexend"/>
              <a:sym typeface="Lexend"/>
            </a:endParaRPr>
          </a:p>
        </p:txBody>
      </p:sp>
      <p:sp>
        <p:nvSpPr>
          <p:cNvPr id="188" name="Google Shape;188;p20"/>
          <p:cNvSpPr/>
          <p:nvPr/>
        </p:nvSpPr>
        <p:spPr>
          <a:xfrm>
            <a:off x="1367698" y="6803881"/>
            <a:ext cx="2088900" cy="346200"/>
          </a:xfrm>
          <a:prstGeom prst="roundRect">
            <a:avLst>
              <a:gd fmla="val 16667" name="adj"/>
            </a:avLst>
          </a:prstGeom>
          <a:no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348.7925</a:t>
            </a:r>
            <a:endParaRPr sz="1200">
              <a:latin typeface="Lexend"/>
              <a:ea typeface="Lexend"/>
              <a:cs typeface="Lexend"/>
              <a:sym typeface="Lexend"/>
            </a:endParaRPr>
          </a:p>
        </p:txBody>
      </p:sp>
      <p:sp>
        <p:nvSpPr>
          <p:cNvPr id="189" name="Google Shape;189;p20"/>
          <p:cNvSpPr/>
          <p:nvPr/>
        </p:nvSpPr>
        <p:spPr>
          <a:xfrm>
            <a:off x="4103404" y="4967789"/>
            <a:ext cx="2088900" cy="346200"/>
          </a:xfrm>
          <a:prstGeom prst="roundRect">
            <a:avLst>
              <a:gd fmla="val 16667" name="adj"/>
            </a:avLst>
          </a:prstGeom>
          <a:no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thirty</a:t>
            </a:r>
            <a:endParaRPr sz="1200">
              <a:latin typeface="Lexend"/>
              <a:ea typeface="Lexend"/>
              <a:cs typeface="Lexend"/>
              <a:sym typeface="Lexend"/>
            </a:endParaRPr>
          </a:p>
        </p:txBody>
      </p:sp>
      <p:sp>
        <p:nvSpPr>
          <p:cNvPr id="190" name="Google Shape;190;p20"/>
          <p:cNvSpPr/>
          <p:nvPr/>
        </p:nvSpPr>
        <p:spPr>
          <a:xfrm>
            <a:off x="4103404" y="5579820"/>
            <a:ext cx="2088900" cy="346200"/>
          </a:xfrm>
          <a:prstGeom prst="roundRect">
            <a:avLst>
              <a:gd fmla="val 16667" name="adj"/>
            </a:avLst>
          </a:prstGeom>
          <a:no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three hundred</a:t>
            </a:r>
            <a:endParaRPr sz="1200">
              <a:latin typeface="Lexend"/>
              <a:ea typeface="Lexend"/>
              <a:cs typeface="Lexend"/>
              <a:sym typeface="Lexend"/>
            </a:endParaRPr>
          </a:p>
        </p:txBody>
      </p:sp>
      <p:sp>
        <p:nvSpPr>
          <p:cNvPr id="191" name="Google Shape;191;p20"/>
          <p:cNvSpPr/>
          <p:nvPr/>
        </p:nvSpPr>
        <p:spPr>
          <a:xfrm>
            <a:off x="4103404" y="6191851"/>
            <a:ext cx="2088900" cy="346200"/>
          </a:xfrm>
          <a:prstGeom prst="roundRect">
            <a:avLst>
              <a:gd fmla="val 16667" name="adj"/>
            </a:avLst>
          </a:prstGeom>
          <a:no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thirty thousand</a:t>
            </a:r>
            <a:endParaRPr sz="1200">
              <a:latin typeface="Lexend"/>
              <a:ea typeface="Lexend"/>
              <a:cs typeface="Lexend"/>
              <a:sym typeface="Lexend"/>
            </a:endParaRPr>
          </a:p>
        </p:txBody>
      </p:sp>
      <p:sp>
        <p:nvSpPr>
          <p:cNvPr id="192" name="Google Shape;192;p20"/>
          <p:cNvSpPr/>
          <p:nvPr/>
        </p:nvSpPr>
        <p:spPr>
          <a:xfrm>
            <a:off x="4103404" y="6803881"/>
            <a:ext cx="2088900" cy="346200"/>
          </a:xfrm>
          <a:prstGeom prst="roundRect">
            <a:avLst>
              <a:gd fmla="val 16667" name="adj"/>
            </a:avLst>
          </a:prstGeom>
          <a:no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three million</a:t>
            </a:r>
            <a:endParaRPr sz="1200">
              <a:latin typeface="Lexend"/>
              <a:ea typeface="Lexend"/>
              <a:cs typeface="Lexend"/>
              <a:sym typeface="Lexend"/>
            </a:endParaRPr>
          </a:p>
        </p:txBody>
      </p:sp>
      <p:cxnSp>
        <p:nvCxnSpPr>
          <p:cNvPr id="193" name="Google Shape;193;p20"/>
          <p:cNvCxnSpPr>
            <a:stCxn id="185" idx="3"/>
            <a:endCxn id="192" idx="1"/>
          </p:cNvCxnSpPr>
          <p:nvPr/>
        </p:nvCxnSpPr>
        <p:spPr>
          <a:xfrm>
            <a:off x="3456598" y="5140889"/>
            <a:ext cx="646800" cy="1836000"/>
          </a:xfrm>
          <a:prstGeom prst="straightConnector1">
            <a:avLst/>
          </a:prstGeom>
          <a:noFill/>
          <a:ln cap="flat" cmpd="sng" w="38100">
            <a:solidFill>
              <a:srgbClr val="037B7D"/>
            </a:solidFill>
            <a:prstDash val="solid"/>
            <a:round/>
            <a:headEnd len="med" w="med" type="none"/>
            <a:tailEnd len="med" w="med" type="none"/>
          </a:ln>
        </p:spPr>
      </p:cxnSp>
      <p:cxnSp>
        <p:nvCxnSpPr>
          <p:cNvPr id="194" name="Google Shape;194;p20"/>
          <p:cNvCxnSpPr>
            <a:stCxn id="186" idx="3"/>
            <a:endCxn id="191" idx="1"/>
          </p:cNvCxnSpPr>
          <p:nvPr/>
        </p:nvCxnSpPr>
        <p:spPr>
          <a:xfrm>
            <a:off x="3456598" y="5752920"/>
            <a:ext cx="646800" cy="612000"/>
          </a:xfrm>
          <a:prstGeom prst="straightConnector1">
            <a:avLst/>
          </a:prstGeom>
          <a:noFill/>
          <a:ln cap="flat" cmpd="sng" w="38100">
            <a:solidFill>
              <a:srgbClr val="037B7D"/>
            </a:solidFill>
            <a:prstDash val="solid"/>
            <a:round/>
            <a:headEnd len="med" w="med" type="none"/>
            <a:tailEnd len="med" w="med" type="none"/>
          </a:ln>
        </p:spPr>
      </p:cxnSp>
      <p:cxnSp>
        <p:nvCxnSpPr>
          <p:cNvPr id="195" name="Google Shape;195;p20"/>
          <p:cNvCxnSpPr>
            <a:stCxn id="187" idx="3"/>
            <a:endCxn id="189" idx="1"/>
          </p:cNvCxnSpPr>
          <p:nvPr/>
        </p:nvCxnSpPr>
        <p:spPr>
          <a:xfrm flipH="1" rot="10800000">
            <a:off x="3456598" y="5140951"/>
            <a:ext cx="646800" cy="1224000"/>
          </a:xfrm>
          <a:prstGeom prst="straightConnector1">
            <a:avLst/>
          </a:prstGeom>
          <a:noFill/>
          <a:ln cap="flat" cmpd="sng" w="38100">
            <a:solidFill>
              <a:srgbClr val="037B7D"/>
            </a:solidFill>
            <a:prstDash val="solid"/>
            <a:round/>
            <a:headEnd len="med" w="med" type="none"/>
            <a:tailEnd len="med" w="med" type="none"/>
          </a:ln>
        </p:spPr>
      </p:cxnSp>
      <p:cxnSp>
        <p:nvCxnSpPr>
          <p:cNvPr id="196" name="Google Shape;196;p20"/>
          <p:cNvCxnSpPr/>
          <p:nvPr/>
        </p:nvCxnSpPr>
        <p:spPr>
          <a:xfrm flipH="1" rot="10800000">
            <a:off x="3456661" y="5752991"/>
            <a:ext cx="646800" cy="1224000"/>
          </a:xfrm>
          <a:prstGeom prst="straightConnector1">
            <a:avLst/>
          </a:prstGeom>
          <a:noFill/>
          <a:ln cap="flat" cmpd="sng" w="38100">
            <a:solidFill>
              <a:srgbClr val="037B7D"/>
            </a:solidFill>
            <a:prstDash val="solid"/>
            <a:round/>
            <a:headEnd len="med" w="med" type="none"/>
            <a:tailEnd len="med" w="med" type="none"/>
          </a:ln>
        </p:spPr>
      </p:cxnSp>
      <p:sp>
        <p:nvSpPr>
          <p:cNvPr id="197" name="Google Shape;197;p20"/>
          <p:cNvSpPr txBox="1"/>
          <p:nvPr/>
        </p:nvSpPr>
        <p:spPr>
          <a:xfrm>
            <a:off x="468000" y="7266141"/>
            <a:ext cx="6624000" cy="364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2)  Complete the following:</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graphicFrame>
        <p:nvGraphicFramePr>
          <p:cNvPr id="198" name="Google Shape;198;p20"/>
          <p:cNvGraphicFramePr/>
          <p:nvPr/>
        </p:nvGraphicFramePr>
        <p:xfrm>
          <a:off x="468000" y="7630791"/>
          <a:ext cx="3000000" cy="3000000"/>
        </p:xfrm>
        <a:graphic>
          <a:graphicData uri="http://schemas.openxmlformats.org/drawingml/2006/table">
            <a:tbl>
              <a:tblPr>
                <a:noFill/>
                <a:tableStyleId>{109AAC8C-B052-443E-9B33-C11A615EBD4A}</a:tableStyleId>
              </a:tblPr>
              <a:tblGrid>
                <a:gridCol w="780900"/>
                <a:gridCol w="1492000"/>
                <a:gridCol w="708825"/>
                <a:gridCol w="2133575"/>
                <a:gridCol w="1075675"/>
              </a:tblGrid>
              <a:tr h="718925">
                <a:tc>
                  <a:txBody>
                    <a:bodyPr/>
                    <a:lstStyle/>
                    <a:p>
                      <a:pPr indent="0" lvl="0" marL="0" rtl="0" algn="l">
                        <a:spcBef>
                          <a:spcPts val="0"/>
                        </a:spcBef>
                        <a:spcAft>
                          <a:spcPts val="0"/>
                        </a:spcAft>
                        <a:buNone/>
                      </a:pPr>
                      <a:r>
                        <a:rPr lang="en-GB" sz="1200">
                          <a:latin typeface="Lexend"/>
                          <a:ea typeface="Lexend"/>
                          <a:cs typeface="Lexend"/>
                          <a:sym typeface="Lexend"/>
                        </a:rPr>
                        <a:t>Number</a:t>
                      </a:r>
                      <a:endParaRPr sz="1200">
                        <a:latin typeface="Lexend"/>
                        <a:ea typeface="Lexend"/>
                        <a:cs typeface="Lexend"/>
                        <a:sym typeface="Lexend"/>
                      </a:endParaRPr>
                    </a:p>
                  </a:txBody>
                  <a:tcPr marT="18000" marB="18000" marR="18000" marL="18000">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Lexend"/>
                          <a:ea typeface="Lexend"/>
                          <a:cs typeface="Lexend"/>
                          <a:sym typeface="Lexend"/>
                        </a:rPr>
                        <a:t>The 1st significant figure is in the </a:t>
                      </a:r>
                      <a:r>
                        <a:rPr lang="en-GB" sz="1200" u="sng">
                          <a:latin typeface="Lexend"/>
                          <a:ea typeface="Lexend"/>
                          <a:cs typeface="Lexend"/>
                          <a:sym typeface="Lexend"/>
                        </a:rPr>
                        <a:t>_____</a:t>
                      </a:r>
                      <a:r>
                        <a:rPr lang="en-GB" sz="1200">
                          <a:latin typeface="Lexend"/>
                          <a:ea typeface="Lexend"/>
                          <a:cs typeface="Lexend"/>
                          <a:sym typeface="Lexend"/>
                        </a:rPr>
                        <a:t> column.</a:t>
                      </a:r>
                      <a:endParaRPr sz="1200">
                        <a:latin typeface="Lexend"/>
                        <a:ea typeface="Lexend"/>
                        <a:cs typeface="Lexend"/>
                        <a:sym typeface="Lexend"/>
                      </a:endParaRPr>
                    </a:p>
                  </a:txBody>
                  <a:tcPr marT="18000" marB="18000" marR="18000" marL="18000"/>
                </a:tc>
                <a:tc>
                  <a:txBody>
                    <a:bodyPr/>
                    <a:lstStyle/>
                    <a:p>
                      <a:pPr indent="0" lvl="0" marL="0" rtl="0" algn="l">
                        <a:spcBef>
                          <a:spcPts val="0"/>
                        </a:spcBef>
                        <a:spcAft>
                          <a:spcPts val="0"/>
                        </a:spcAft>
                        <a:buNone/>
                      </a:pPr>
                      <a:r>
                        <a:rPr lang="en-GB" sz="1200">
                          <a:latin typeface="Lexend"/>
                          <a:ea typeface="Lexend"/>
                          <a:cs typeface="Lexend"/>
                          <a:sym typeface="Lexend"/>
                        </a:rPr>
                        <a:t>Round to the nearest </a:t>
                      </a:r>
                      <a:r>
                        <a:rPr lang="en-GB" sz="1200" u="sng">
                          <a:solidFill>
                            <a:srgbClr val="000000"/>
                          </a:solidFill>
                          <a:latin typeface="Lexend"/>
                          <a:ea typeface="Lexend"/>
                          <a:cs typeface="Lexend"/>
                          <a:sym typeface="Lexend"/>
                        </a:rPr>
                        <a:t>_____ </a:t>
                      </a:r>
                      <a:r>
                        <a:rPr lang="en-GB" sz="1200">
                          <a:solidFill>
                            <a:srgbClr val="000000"/>
                          </a:solidFill>
                          <a:latin typeface="Lexend"/>
                          <a:ea typeface="Lexend"/>
                          <a:cs typeface="Lexend"/>
                          <a:sym typeface="Lexend"/>
                        </a:rPr>
                        <a:t>.</a:t>
                      </a:r>
                      <a:endParaRPr sz="1200">
                        <a:latin typeface="Lexend"/>
                        <a:ea typeface="Lexend"/>
                        <a:cs typeface="Lexend"/>
                        <a:sym typeface="Lexend"/>
                      </a:endParaRPr>
                    </a:p>
                  </a:txBody>
                  <a:tcPr marT="18000" marB="18000" marR="18000" marL="18000"/>
                </a:tc>
                <a:tc>
                  <a:txBody>
                    <a:bodyPr/>
                    <a:lstStyle/>
                    <a:p>
                      <a:pPr indent="0" lvl="0" marL="0" rtl="0" algn="l">
                        <a:spcBef>
                          <a:spcPts val="0"/>
                        </a:spcBef>
                        <a:spcAft>
                          <a:spcPts val="0"/>
                        </a:spcAft>
                        <a:buNone/>
                      </a:pPr>
                      <a:r>
                        <a:rPr lang="en-GB" sz="1200">
                          <a:latin typeface="Lexend"/>
                          <a:ea typeface="Lexend"/>
                          <a:cs typeface="Lexend"/>
                          <a:sym typeface="Lexend"/>
                        </a:rPr>
                        <a:t>Number line</a:t>
                      </a:r>
                      <a:endParaRPr sz="1200">
                        <a:latin typeface="Lexend"/>
                        <a:ea typeface="Lexend"/>
                        <a:cs typeface="Lexend"/>
                        <a:sym typeface="Lexend"/>
                      </a:endParaRPr>
                    </a:p>
                  </a:txBody>
                  <a:tcPr marT="18000" marB="18000" marR="18000" marL="18000"/>
                </a:tc>
                <a:tc>
                  <a:txBody>
                    <a:bodyPr/>
                    <a:lstStyle/>
                    <a:p>
                      <a:pPr indent="0" lvl="0" marL="0" rtl="0" algn="l">
                        <a:spcBef>
                          <a:spcPts val="0"/>
                        </a:spcBef>
                        <a:spcAft>
                          <a:spcPts val="0"/>
                        </a:spcAft>
                        <a:buNone/>
                      </a:pPr>
                      <a:r>
                        <a:rPr lang="en-GB" sz="1200">
                          <a:latin typeface="Lexend"/>
                          <a:ea typeface="Lexend"/>
                          <a:cs typeface="Lexend"/>
                          <a:sym typeface="Lexend"/>
                        </a:rPr>
                        <a:t>To 1 s.f.</a:t>
                      </a:r>
                      <a:endParaRPr sz="1200">
                        <a:latin typeface="Lexend"/>
                        <a:ea typeface="Lexend"/>
                        <a:cs typeface="Lexend"/>
                        <a:sym typeface="Lexend"/>
                      </a:endParaRPr>
                    </a:p>
                  </a:txBody>
                  <a:tcPr marT="18000" marB="18000" marR="18000" marL="18000"/>
                </a:tc>
              </a:tr>
              <a:tr h="272475">
                <a:tc>
                  <a:txBody>
                    <a:bodyPr/>
                    <a:lstStyle/>
                    <a:p>
                      <a:pPr indent="0" lvl="0" marL="0" rtl="0" algn="l">
                        <a:spcBef>
                          <a:spcPts val="0"/>
                        </a:spcBef>
                        <a:spcAft>
                          <a:spcPts val="0"/>
                        </a:spcAft>
                        <a:buNone/>
                      </a:pPr>
                      <a:r>
                        <a:rPr lang="en-GB" sz="1200">
                          <a:latin typeface="Lexend"/>
                          <a:ea typeface="Lexend"/>
                          <a:cs typeface="Lexend"/>
                          <a:sym typeface="Lexend"/>
                        </a:rPr>
                        <a:t>36</a:t>
                      </a:r>
                      <a:endParaRPr sz="1200">
                        <a:latin typeface="Lexend"/>
                        <a:ea typeface="Lexend"/>
                        <a:cs typeface="Lexend"/>
                        <a:sym typeface="Lexend"/>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Kalam"/>
                          <a:ea typeface="Kalam"/>
                          <a:cs typeface="Kalam"/>
                          <a:sym typeface="Kalam"/>
                        </a:rPr>
                        <a:t>tens</a:t>
                      </a:r>
                      <a:endParaRPr sz="1200">
                        <a:latin typeface="Kalam"/>
                        <a:ea typeface="Kalam"/>
                        <a:cs typeface="Kalam"/>
                        <a:sym typeface="Kalam"/>
                      </a:endParaRPr>
                    </a:p>
                  </a:txBody>
                  <a:tcPr marT="18000" marB="18000" marR="18000" marL="18000"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GB" sz="1200">
                          <a:latin typeface="Kalam"/>
                          <a:ea typeface="Kalam"/>
                          <a:cs typeface="Kalam"/>
                          <a:sym typeface="Kalam"/>
                        </a:rPr>
                        <a:t>10</a:t>
                      </a:r>
                      <a:endParaRPr sz="1200">
                        <a:latin typeface="Kalam"/>
                        <a:ea typeface="Kalam"/>
                        <a:cs typeface="Kalam"/>
                        <a:sym typeface="Kalam"/>
                      </a:endParaRPr>
                    </a:p>
                  </a:txBody>
                  <a:tcPr marT="18000" marB="18000" marR="18000" marL="18000" anchor="ctr"/>
                </a:tc>
                <a:tc>
                  <a:txBody>
                    <a:bodyPr/>
                    <a:lstStyle/>
                    <a:p>
                      <a:pPr indent="0" lvl="0" marL="0" rtl="0" algn="l">
                        <a:spcBef>
                          <a:spcPts val="0"/>
                        </a:spcBef>
                        <a:spcAft>
                          <a:spcPts val="0"/>
                        </a:spcAft>
                        <a:buNone/>
                      </a:pPr>
                      <a:r>
                        <a:rPr lang="en-GB" sz="1200">
                          <a:latin typeface="Kalam"/>
                          <a:ea typeface="Kalam"/>
                          <a:cs typeface="Kalam"/>
                          <a:sym typeface="Kalam"/>
                        </a:rPr>
                        <a:t> 30         35        40</a:t>
                      </a:r>
                      <a:endParaRPr sz="1200">
                        <a:latin typeface="Kalam"/>
                        <a:ea typeface="Kalam"/>
                        <a:cs typeface="Kalam"/>
                        <a:sym typeface="Kalam"/>
                      </a:endParaRPr>
                    </a:p>
                  </a:txBody>
                  <a:tcPr marT="18000" marB="90000" marR="18000" marL="18000" anchor="ctr"/>
                </a:tc>
                <a:tc>
                  <a:txBody>
                    <a:bodyPr/>
                    <a:lstStyle/>
                    <a:p>
                      <a:pPr indent="0" lvl="0" marL="0" rtl="0" algn="l">
                        <a:spcBef>
                          <a:spcPts val="0"/>
                        </a:spcBef>
                        <a:spcAft>
                          <a:spcPts val="0"/>
                        </a:spcAft>
                        <a:buNone/>
                      </a:pPr>
                      <a:r>
                        <a:rPr lang="en-GB" sz="1200">
                          <a:latin typeface="Kalam"/>
                          <a:ea typeface="Kalam"/>
                          <a:cs typeface="Kalam"/>
                          <a:sym typeface="Kalam"/>
                        </a:rPr>
                        <a:t>40</a:t>
                      </a:r>
                      <a:endParaRPr sz="1200">
                        <a:latin typeface="Kalam"/>
                        <a:ea typeface="Kalam"/>
                        <a:cs typeface="Kalam"/>
                        <a:sym typeface="Kalam"/>
                      </a:endParaRPr>
                    </a:p>
                  </a:txBody>
                  <a:tcPr marT="18000" marB="18000" marR="18000" marL="18000" anchor="ctr"/>
                </a:tc>
              </a:tr>
              <a:tr h="272475">
                <a:tc>
                  <a:txBody>
                    <a:bodyPr/>
                    <a:lstStyle/>
                    <a:p>
                      <a:pPr indent="0" lvl="0" marL="0" rtl="0" algn="l">
                        <a:spcBef>
                          <a:spcPts val="0"/>
                        </a:spcBef>
                        <a:spcAft>
                          <a:spcPts val="0"/>
                        </a:spcAft>
                        <a:buNone/>
                      </a:pPr>
                      <a:r>
                        <a:rPr lang="en-GB" sz="1200">
                          <a:latin typeface="Lexend"/>
                          <a:ea typeface="Lexend"/>
                          <a:cs typeface="Lexend"/>
                          <a:sym typeface="Lexend"/>
                        </a:rPr>
                        <a:t>832</a:t>
                      </a:r>
                      <a:endParaRPr sz="1200">
                        <a:latin typeface="Lexend"/>
                        <a:ea typeface="Lexend"/>
                        <a:cs typeface="Lexend"/>
                        <a:sym typeface="Lexend"/>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Kalam"/>
                          <a:ea typeface="Kalam"/>
                          <a:cs typeface="Kalam"/>
                          <a:sym typeface="Kalam"/>
                        </a:rPr>
                        <a:t>hundreds</a:t>
                      </a:r>
                      <a:endParaRPr sz="1200">
                        <a:latin typeface="Kalam"/>
                        <a:ea typeface="Kalam"/>
                        <a:cs typeface="Kalam"/>
                        <a:sym typeface="Kalam"/>
                      </a:endParaRPr>
                    </a:p>
                  </a:txBody>
                  <a:tcPr marT="18000" marB="18000" marR="18000" marL="18000"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GB" sz="1200">
                          <a:latin typeface="Kalam"/>
                          <a:ea typeface="Kalam"/>
                          <a:cs typeface="Kalam"/>
                          <a:sym typeface="Kalam"/>
                        </a:rPr>
                        <a:t>100</a:t>
                      </a:r>
                      <a:endParaRPr sz="1200">
                        <a:latin typeface="Kalam"/>
                        <a:ea typeface="Kalam"/>
                        <a:cs typeface="Kalam"/>
                        <a:sym typeface="Kalam"/>
                      </a:endParaRPr>
                    </a:p>
                  </a:txBody>
                  <a:tcPr marT="18000" marB="18000" marR="18000" marL="18000" anchor="ctr"/>
                </a:tc>
                <a:tc>
                  <a:txBody>
                    <a:bodyPr/>
                    <a:lstStyle/>
                    <a:p>
                      <a:pPr indent="0" lvl="0" marL="0" rtl="0" algn="l">
                        <a:spcBef>
                          <a:spcPts val="0"/>
                        </a:spcBef>
                        <a:spcAft>
                          <a:spcPts val="0"/>
                        </a:spcAft>
                        <a:buNone/>
                      </a:pPr>
                      <a:r>
                        <a:rPr lang="en-GB" sz="1200">
                          <a:latin typeface="Kalam"/>
                          <a:ea typeface="Kalam"/>
                          <a:cs typeface="Kalam"/>
                          <a:sym typeface="Kalam"/>
                        </a:rPr>
                        <a:t> 800        850       900   </a:t>
                      </a:r>
                      <a:endParaRPr sz="1200">
                        <a:latin typeface="Kalam"/>
                        <a:ea typeface="Kalam"/>
                        <a:cs typeface="Kalam"/>
                        <a:sym typeface="Kalam"/>
                      </a:endParaRPr>
                    </a:p>
                  </a:txBody>
                  <a:tcPr marT="18000" marB="90000" marR="18000" marL="18000" anchor="ctr"/>
                </a:tc>
                <a:tc>
                  <a:txBody>
                    <a:bodyPr/>
                    <a:lstStyle/>
                    <a:p>
                      <a:pPr indent="0" lvl="0" marL="0" rtl="0" algn="l">
                        <a:spcBef>
                          <a:spcPts val="0"/>
                        </a:spcBef>
                        <a:spcAft>
                          <a:spcPts val="0"/>
                        </a:spcAft>
                        <a:buNone/>
                      </a:pPr>
                      <a:r>
                        <a:rPr lang="en-GB" sz="1200">
                          <a:latin typeface="Kalam"/>
                          <a:ea typeface="Kalam"/>
                          <a:cs typeface="Kalam"/>
                          <a:sym typeface="Kalam"/>
                        </a:rPr>
                        <a:t>800</a:t>
                      </a:r>
                      <a:endParaRPr sz="1200">
                        <a:latin typeface="Kalam"/>
                        <a:ea typeface="Kalam"/>
                        <a:cs typeface="Kalam"/>
                        <a:sym typeface="Kalam"/>
                      </a:endParaRPr>
                    </a:p>
                  </a:txBody>
                  <a:tcPr marT="18000" marB="18000" marR="18000" marL="18000" anchor="ctr"/>
                </a:tc>
              </a:tr>
              <a:tr h="272475">
                <a:tc>
                  <a:txBody>
                    <a:bodyPr/>
                    <a:lstStyle/>
                    <a:p>
                      <a:pPr indent="0" lvl="0" marL="0" rtl="0" algn="l">
                        <a:spcBef>
                          <a:spcPts val="0"/>
                        </a:spcBef>
                        <a:spcAft>
                          <a:spcPts val="0"/>
                        </a:spcAft>
                        <a:buNone/>
                      </a:pPr>
                      <a:r>
                        <a:rPr lang="en-GB" sz="1200">
                          <a:latin typeface="Lexend"/>
                          <a:ea typeface="Lexend"/>
                          <a:cs typeface="Lexend"/>
                          <a:sym typeface="Lexend"/>
                        </a:rPr>
                        <a:t>3519</a:t>
                      </a:r>
                      <a:endParaRPr sz="1200">
                        <a:latin typeface="Lexend"/>
                        <a:ea typeface="Lexend"/>
                        <a:cs typeface="Lexend"/>
                        <a:sym typeface="Lexend"/>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Kalam"/>
                          <a:ea typeface="Kalam"/>
                          <a:cs typeface="Kalam"/>
                          <a:sym typeface="Kalam"/>
                        </a:rPr>
                        <a:t>thousands</a:t>
                      </a:r>
                      <a:endParaRPr sz="1200">
                        <a:latin typeface="Kalam"/>
                        <a:ea typeface="Kalam"/>
                        <a:cs typeface="Kalam"/>
                        <a:sym typeface="Kalam"/>
                      </a:endParaRPr>
                    </a:p>
                  </a:txBody>
                  <a:tcPr marT="18000" marB="18000" marR="18000" marL="18000"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GB" sz="1200">
                          <a:latin typeface="Kalam"/>
                          <a:ea typeface="Kalam"/>
                          <a:cs typeface="Kalam"/>
                          <a:sym typeface="Kalam"/>
                        </a:rPr>
                        <a:t>1000</a:t>
                      </a:r>
                      <a:endParaRPr sz="1200">
                        <a:latin typeface="Kalam"/>
                        <a:ea typeface="Kalam"/>
                        <a:cs typeface="Kalam"/>
                        <a:sym typeface="Kalam"/>
                      </a:endParaRPr>
                    </a:p>
                  </a:txBody>
                  <a:tcPr marT="18000" marB="18000" marR="18000" marL="18000" anchor="ctr"/>
                </a:tc>
                <a:tc>
                  <a:txBody>
                    <a:bodyPr/>
                    <a:lstStyle/>
                    <a:p>
                      <a:pPr indent="0" lvl="0" marL="0" rtl="0" algn="l">
                        <a:spcBef>
                          <a:spcPts val="0"/>
                        </a:spcBef>
                        <a:spcAft>
                          <a:spcPts val="0"/>
                        </a:spcAft>
                        <a:buNone/>
                      </a:pPr>
                      <a:r>
                        <a:rPr lang="en-GB" sz="1200">
                          <a:latin typeface="Kalam"/>
                          <a:ea typeface="Kalam"/>
                          <a:cs typeface="Kalam"/>
                          <a:sym typeface="Kalam"/>
                        </a:rPr>
                        <a:t>3000       3500      4000</a:t>
                      </a:r>
                      <a:endParaRPr sz="1200">
                        <a:latin typeface="Kalam"/>
                        <a:ea typeface="Kalam"/>
                        <a:cs typeface="Kalam"/>
                        <a:sym typeface="Kalam"/>
                      </a:endParaRPr>
                    </a:p>
                  </a:txBody>
                  <a:tcPr marT="18000" marB="90000" marR="18000" marL="18000" anchor="ctr"/>
                </a:tc>
                <a:tc>
                  <a:txBody>
                    <a:bodyPr/>
                    <a:lstStyle/>
                    <a:p>
                      <a:pPr indent="0" lvl="0" marL="0" rtl="0" algn="l">
                        <a:spcBef>
                          <a:spcPts val="0"/>
                        </a:spcBef>
                        <a:spcAft>
                          <a:spcPts val="0"/>
                        </a:spcAft>
                        <a:buNone/>
                      </a:pPr>
                      <a:r>
                        <a:rPr lang="en-GB" sz="1200">
                          <a:latin typeface="Kalam"/>
                          <a:ea typeface="Kalam"/>
                          <a:cs typeface="Kalam"/>
                          <a:sym typeface="Kalam"/>
                        </a:rPr>
                        <a:t>4000</a:t>
                      </a:r>
                      <a:endParaRPr sz="1200">
                        <a:latin typeface="Kalam"/>
                        <a:ea typeface="Kalam"/>
                        <a:cs typeface="Kalam"/>
                        <a:sym typeface="Kalam"/>
                      </a:endParaRPr>
                    </a:p>
                  </a:txBody>
                  <a:tcPr marT="18000" marB="18000" marR="18000" marL="18000" anchor="ctr"/>
                </a:tc>
              </a:tr>
              <a:tr h="272475">
                <a:tc>
                  <a:txBody>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43 867.09</a:t>
                      </a:r>
                      <a:endParaRPr sz="1200">
                        <a:latin typeface="Lexend"/>
                        <a:ea typeface="Lexend"/>
                        <a:cs typeface="Lexend"/>
                        <a:sym typeface="Lexend"/>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Kalam"/>
                          <a:ea typeface="Kalam"/>
                          <a:cs typeface="Kalam"/>
                          <a:sym typeface="Kalam"/>
                        </a:rPr>
                        <a:t>10 thousands</a:t>
                      </a:r>
                      <a:endParaRPr sz="1200">
                        <a:latin typeface="Kalam"/>
                        <a:ea typeface="Kalam"/>
                        <a:cs typeface="Kalam"/>
                        <a:sym typeface="Kalam"/>
                      </a:endParaRPr>
                    </a:p>
                  </a:txBody>
                  <a:tcPr marT="18000" marB="18000" marR="18000" marL="18000"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GB" sz="1200">
                          <a:latin typeface="Kalam"/>
                          <a:ea typeface="Kalam"/>
                          <a:cs typeface="Kalam"/>
                          <a:sym typeface="Kalam"/>
                        </a:rPr>
                        <a:t>10 000</a:t>
                      </a:r>
                      <a:endParaRPr sz="1200">
                        <a:latin typeface="Kalam"/>
                        <a:ea typeface="Kalam"/>
                        <a:cs typeface="Kalam"/>
                        <a:sym typeface="Kalam"/>
                      </a:endParaRPr>
                    </a:p>
                  </a:txBody>
                  <a:tcPr marT="18000" marB="18000" marR="18000" marL="18000" anchor="ctr"/>
                </a:tc>
                <a:tc>
                  <a:txBody>
                    <a:bodyPr/>
                    <a:lstStyle/>
                    <a:p>
                      <a:pPr indent="0" lvl="0" marL="0" rtl="0" algn="l">
                        <a:spcBef>
                          <a:spcPts val="0"/>
                        </a:spcBef>
                        <a:spcAft>
                          <a:spcPts val="0"/>
                        </a:spcAft>
                        <a:buNone/>
                      </a:pPr>
                      <a:r>
                        <a:rPr lang="en-GB" sz="1200">
                          <a:latin typeface="Kalam"/>
                          <a:ea typeface="Kalam"/>
                          <a:cs typeface="Kalam"/>
                          <a:sym typeface="Kalam"/>
                        </a:rPr>
                        <a:t>40 000     45 000   50 000</a:t>
                      </a:r>
                      <a:endParaRPr sz="1200">
                        <a:latin typeface="Kalam"/>
                        <a:ea typeface="Kalam"/>
                        <a:cs typeface="Kalam"/>
                        <a:sym typeface="Kalam"/>
                      </a:endParaRPr>
                    </a:p>
                  </a:txBody>
                  <a:tcPr marT="18000" marB="90000" marR="18000" marL="18000" anchor="ctr"/>
                </a:tc>
                <a:tc>
                  <a:txBody>
                    <a:bodyPr/>
                    <a:lstStyle/>
                    <a:p>
                      <a:pPr indent="0" lvl="0" marL="0" rtl="0" algn="l">
                        <a:spcBef>
                          <a:spcPts val="0"/>
                        </a:spcBef>
                        <a:spcAft>
                          <a:spcPts val="0"/>
                        </a:spcAft>
                        <a:buNone/>
                      </a:pPr>
                      <a:r>
                        <a:rPr lang="en-GB" sz="1200">
                          <a:latin typeface="Kalam"/>
                          <a:ea typeface="Kalam"/>
                          <a:cs typeface="Kalam"/>
                          <a:sym typeface="Kalam"/>
                        </a:rPr>
                        <a:t>40 000</a:t>
                      </a:r>
                      <a:endParaRPr sz="1200">
                        <a:latin typeface="Kalam"/>
                        <a:ea typeface="Kalam"/>
                        <a:cs typeface="Kalam"/>
                        <a:sym typeface="Kalam"/>
                      </a:endParaRPr>
                    </a:p>
                  </a:txBody>
                  <a:tcPr marT="18000" marB="18000" marR="18000" marL="18000" anchor="ctr"/>
                </a:tc>
              </a:tr>
              <a:tr h="272475">
                <a:tc>
                  <a:txBody>
                    <a:bodyPr/>
                    <a:lstStyle/>
                    <a:p>
                      <a:pPr indent="0" lvl="0" marL="0" rtl="0" algn="l">
                        <a:spcBef>
                          <a:spcPts val="0"/>
                        </a:spcBef>
                        <a:spcAft>
                          <a:spcPts val="0"/>
                        </a:spcAft>
                        <a:buNone/>
                      </a:pPr>
                      <a:r>
                        <a:rPr lang="en-GB" sz="1200">
                          <a:latin typeface="Lexend"/>
                          <a:ea typeface="Lexend"/>
                          <a:cs typeface="Lexend"/>
                          <a:sym typeface="Lexend"/>
                        </a:rPr>
                        <a:t>992 782</a:t>
                      </a:r>
                      <a:endParaRPr sz="1200">
                        <a:latin typeface="Lexend"/>
                        <a:ea typeface="Lexend"/>
                        <a:cs typeface="Lexend"/>
                        <a:sym typeface="Lexend"/>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Kalam"/>
                          <a:ea typeface="Kalam"/>
                          <a:cs typeface="Kalam"/>
                          <a:sym typeface="Kalam"/>
                        </a:rPr>
                        <a:t>100 thousands</a:t>
                      </a:r>
                      <a:endParaRPr sz="1200">
                        <a:latin typeface="Kalam"/>
                        <a:ea typeface="Kalam"/>
                        <a:cs typeface="Kalam"/>
                        <a:sym typeface="Kalam"/>
                      </a:endParaRPr>
                    </a:p>
                  </a:txBody>
                  <a:tcPr marT="18000" marB="18000" marR="18000" marL="18000"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GB" sz="1200">
                          <a:latin typeface="Kalam"/>
                          <a:ea typeface="Kalam"/>
                          <a:cs typeface="Kalam"/>
                          <a:sym typeface="Kalam"/>
                        </a:rPr>
                        <a:t>100 000</a:t>
                      </a:r>
                      <a:endParaRPr sz="1200">
                        <a:latin typeface="Kalam"/>
                        <a:ea typeface="Kalam"/>
                        <a:cs typeface="Kalam"/>
                        <a:sym typeface="Kalam"/>
                      </a:endParaRPr>
                    </a:p>
                  </a:txBody>
                  <a:tcPr marT="18000" marB="18000" marR="18000" marL="18000" anchor="ctr"/>
                </a:tc>
                <a:tc>
                  <a:txBody>
                    <a:bodyPr/>
                    <a:lstStyle/>
                    <a:p>
                      <a:pPr indent="0" lvl="0" marL="0" rtl="0" algn="l">
                        <a:spcBef>
                          <a:spcPts val="0"/>
                        </a:spcBef>
                        <a:spcAft>
                          <a:spcPts val="0"/>
                        </a:spcAft>
                        <a:buNone/>
                      </a:pPr>
                      <a:r>
                        <a:rPr lang="en-GB" sz="1200">
                          <a:latin typeface="Kalam"/>
                          <a:ea typeface="Kalam"/>
                          <a:cs typeface="Kalam"/>
                          <a:sym typeface="Kalam"/>
                        </a:rPr>
                        <a:t>900 000   950 000 1 000 000</a:t>
                      </a:r>
                      <a:endParaRPr sz="1200">
                        <a:latin typeface="Kalam"/>
                        <a:ea typeface="Kalam"/>
                        <a:cs typeface="Kalam"/>
                        <a:sym typeface="Kalam"/>
                      </a:endParaRPr>
                    </a:p>
                  </a:txBody>
                  <a:tcPr marT="18000" marB="90000" marR="18000" marL="18000" anchor="ctr"/>
                </a:tc>
                <a:tc>
                  <a:txBody>
                    <a:bodyPr/>
                    <a:lstStyle/>
                    <a:p>
                      <a:pPr indent="0" lvl="0" marL="0" rtl="0" algn="l">
                        <a:spcBef>
                          <a:spcPts val="0"/>
                        </a:spcBef>
                        <a:spcAft>
                          <a:spcPts val="0"/>
                        </a:spcAft>
                        <a:buNone/>
                      </a:pPr>
                      <a:r>
                        <a:rPr lang="en-GB" sz="1200">
                          <a:latin typeface="Kalam"/>
                          <a:ea typeface="Kalam"/>
                          <a:cs typeface="Kalam"/>
                          <a:sym typeface="Kalam"/>
                        </a:rPr>
                        <a:t>1 000 0000</a:t>
                      </a:r>
                      <a:endParaRPr sz="1200">
                        <a:latin typeface="Kalam"/>
                        <a:ea typeface="Kalam"/>
                        <a:cs typeface="Kalam"/>
                        <a:sym typeface="Kalam"/>
                      </a:endParaRPr>
                    </a:p>
                  </a:txBody>
                  <a:tcPr marT="18000" marB="18000" marR="18000" marL="18000" anchor="ctr"/>
                </a:tc>
              </a:tr>
            </a:tbl>
          </a:graphicData>
        </a:graphic>
      </p:graphicFrame>
      <p:graphicFrame>
        <p:nvGraphicFramePr>
          <p:cNvPr id="199" name="Google Shape;199;p20"/>
          <p:cNvGraphicFramePr/>
          <p:nvPr/>
        </p:nvGraphicFramePr>
        <p:xfrm>
          <a:off x="3620880" y="8531852"/>
          <a:ext cx="3000000" cy="3000000"/>
        </p:xfrm>
        <a:graphic>
          <a:graphicData uri="http://schemas.openxmlformats.org/drawingml/2006/table">
            <a:tbl>
              <a:tblPr>
                <a:noFill/>
                <a:tableStyleId>{109AAC8C-B052-443E-9B33-C11A615EBD4A}</a:tableStyleId>
              </a:tblPr>
              <a:tblGrid>
                <a:gridCol w="666375"/>
                <a:gridCol w="666375"/>
              </a:tblGrid>
              <a:tr h="123750">
                <a:tc>
                  <a:txBody>
                    <a:bodyPr/>
                    <a:lstStyle/>
                    <a:p>
                      <a:pPr indent="0" lvl="0" marL="0" rtl="0" algn="l">
                        <a:spcBef>
                          <a:spcPts val="0"/>
                        </a:spcBef>
                        <a:spcAft>
                          <a:spcPts val="0"/>
                        </a:spcAft>
                        <a:buNone/>
                      </a:pPr>
                      <a:r>
                        <a:t/>
                      </a:r>
                      <a:endParaRPr sz="1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200" name="Google Shape;200;p20"/>
          <p:cNvSpPr/>
          <p:nvPr/>
        </p:nvSpPr>
        <p:spPr>
          <a:xfrm>
            <a:off x="4456841" y="8358741"/>
            <a:ext cx="71400" cy="195300"/>
          </a:xfrm>
          <a:prstGeom prst="downArrow">
            <a:avLst>
              <a:gd fmla="val 50000" name="adj1"/>
              <a:gd fmla="val 50000" name="adj2"/>
            </a:avLst>
          </a:prstGeom>
          <a:solidFill>
            <a:srgbClr val="037B7D"/>
          </a:solidFill>
          <a:ln cap="flat" cmpd="sng" w="9525">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201" name="Google Shape;201;p20"/>
          <p:cNvSpPr/>
          <p:nvPr/>
        </p:nvSpPr>
        <p:spPr>
          <a:xfrm>
            <a:off x="4127249" y="8654742"/>
            <a:ext cx="71400" cy="195300"/>
          </a:xfrm>
          <a:prstGeom prst="downArrow">
            <a:avLst>
              <a:gd fmla="val 50000" name="adj1"/>
              <a:gd fmla="val 50000" name="adj2"/>
            </a:avLst>
          </a:prstGeom>
          <a:solidFill>
            <a:srgbClr val="037B7D"/>
          </a:solidFill>
          <a:ln cap="flat" cmpd="sng" w="9525">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202" name="Google Shape;202;p20"/>
          <p:cNvSpPr/>
          <p:nvPr/>
        </p:nvSpPr>
        <p:spPr>
          <a:xfrm>
            <a:off x="4512388" y="8964247"/>
            <a:ext cx="71400" cy="195300"/>
          </a:xfrm>
          <a:prstGeom prst="downArrow">
            <a:avLst>
              <a:gd fmla="val 50000" name="adj1"/>
              <a:gd fmla="val 50000" name="adj2"/>
            </a:avLst>
          </a:prstGeom>
          <a:solidFill>
            <a:srgbClr val="037B7D"/>
          </a:solidFill>
          <a:ln cap="flat" cmpd="sng" w="9525">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203" name="Google Shape;203;p20"/>
          <p:cNvSpPr/>
          <p:nvPr/>
        </p:nvSpPr>
        <p:spPr>
          <a:xfrm>
            <a:off x="4051602" y="9265427"/>
            <a:ext cx="71400" cy="195300"/>
          </a:xfrm>
          <a:prstGeom prst="downArrow">
            <a:avLst>
              <a:gd fmla="val 50000" name="adj1"/>
              <a:gd fmla="val 50000" name="adj2"/>
            </a:avLst>
          </a:prstGeom>
          <a:solidFill>
            <a:srgbClr val="037B7D"/>
          </a:solidFill>
          <a:ln cap="flat" cmpd="sng" w="9525">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204" name="Google Shape;204;p20"/>
          <p:cNvSpPr/>
          <p:nvPr/>
        </p:nvSpPr>
        <p:spPr>
          <a:xfrm flipH="1">
            <a:off x="4908708" y="9603266"/>
            <a:ext cx="71400" cy="195300"/>
          </a:xfrm>
          <a:prstGeom prst="downArrow">
            <a:avLst>
              <a:gd fmla="val 50000" name="adj1"/>
              <a:gd fmla="val 50000" name="adj2"/>
            </a:avLst>
          </a:prstGeom>
          <a:solidFill>
            <a:srgbClr val="037B7D"/>
          </a:solidFill>
          <a:ln cap="flat" cmpd="sng" w="9525">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graphicFrame>
        <p:nvGraphicFramePr>
          <p:cNvPr id="205" name="Google Shape;205;p20"/>
          <p:cNvGraphicFramePr/>
          <p:nvPr/>
        </p:nvGraphicFramePr>
        <p:xfrm>
          <a:off x="3696480" y="8810250"/>
          <a:ext cx="3000000" cy="3000000"/>
        </p:xfrm>
        <a:graphic>
          <a:graphicData uri="http://schemas.openxmlformats.org/drawingml/2006/table">
            <a:tbl>
              <a:tblPr>
                <a:noFill/>
                <a:tableStyleId>{109AAC8C-B052-443E-9B33-C11A615EBD4A}</a:tableStyleId>
              </a:tblPr>
              <a:tblGrid>
                <a:gridCol w="666375"/>
                <a:gridCol w="666375"/>
              </a:tblGrid>
              <a:tr h="123750">
                <a:tc>
                  <a:txBody>
                    <a:bodyPr/>
                    <a:lstStyle/>
                    <a:p>
                      <a:pPr indent="0" lvl="0" marL="0" rtl="0" algn="l">
                        <a:spcBef>
                          <a:spcPts val="0"/>
                        </a:spcBef>
                        <a:spcAft>
                          <a:spcPts val="0"/>
                        </a:spcAft>
                        <a:buNone/>
                      </a:pPr>
                      <a:r>
                        <a:t/>
                      </a:r>
                      <a:endParaRPr sz="1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graphicFrame>
        <p:nvGraphicFramePr>
          <p:cNvPr id="206" name="Google Shape;206;p20"/>
          <p:cNvGraphicFramePr/>
          <p:nvPr/>
        </p:nvGraphicFramePr>
        <p:xfrm>
          <a:off x="3681718" y="9110728"/>
          <a:ext cx="3000000" cy="3000000"/>
        </p:xfrm>
        <a:graphic>
          <a:graphicData uri="http://schemas.openxmlformats.org/drawingml/2006/table">
            <a:tbl>
              <a:tblPr>
                <a:noFill/>
                <a:tableStyleId>{109AAC8C-B052-443E-9B33-C11A615EBD4A}</a:tableStyleId>
              </a:tblPr>
              <a:tblGrid>
                <a:gridCol w="666375"/>
                <a:gridCol w="666375"/>
              </a:tblGrid>
              <a:tr h="123750">
                <a:tc>
                  <a:txBody>
                    <a:bodyPr/>
                    <a:lstStyle/>
                    <a:p>
                      <a:pPr indent="0" lvl="0" marL="0" rtl="0" algn="l">
                        <a:spcBef>
                          <a:spcPts val="0"/>
                        </a:spcBef>
                        <a:spcAft>
                          <a:spcPts val="0"/>
                        </a:spcAft>
                        <a:buNone/>
                      </a:pPr>
                      <a:r>
                        <a:t/>
                      </a:r>
                      <a:endParaRPr sz="1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graphicFrame>
        <p:nvGraphicFramePr>
          <p:cNvPr id="207" name="Google Shape;207;p20"/>
          <p:cNvGraphicFramePr/>
          <p:nvPr/>
        </p:nvGraphicFramePr>
        <p:xfrm>
          <a:off x="3773280" y="9415528"/>
          <a:ext cx="3000000" cy="3000000"/>
        </p:xfrm>
        <a:graphic>
          <a:graphicData uri="http://schemas.openxmlformats.org/drawingml/2006/table">
            <a:tbl>
              <a:tblPr>
                <a:noFill/>
                <a:tableStyleId>{109AAC8C-B052-443E-9B33-C11A615EBD4A}</a:tableStyleId>
              </a:tblPr>
              <a:tblGrid>
                <a:gridCol w="666375"/>
                <a:gridCol w="666375"/>
              </a:tblGrid>
              <a:tr h="123750">
                <a:tc>
                  <a:txBody>
                    <a:bodyPr/>
                    <a:lstStyle/>
                    <a:p>
                      <a:pPr indent="0" lvl="0" marL="0" rtl="0" algn="l">
                        <a:spcBef>
                          <a:spcPts val="0"/>
                        </a:spcBef>
                        <a:spcAft>
                          <a:spcPts val="0"/>
                        </a:spcAft>
                        <a:buNone/>
                      </a:pPr>
                      <a:r>
                        <a:t/>
                      </a:r>
                      <a:endParaRPr sz="1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graphicFrame>
        <p:nvGraphicFramePr>
          <p:cNvPr id="208" name="Google Shape;208;p20"/>
          <p:cNvGraphicFramePr/>
          <p:nvPr/>
        </p:nvGraphicFramePr>
        <p:xfrm>
          <a:off x="3773280" y="9690214"/>
          <a:ext cx="3000000" cy="3000000"/>
        </p:xfrm>
        <a:graphic>
          <a:graphicData uri="http://schemas.openxmlformats.org/drawingml/2006/table">
            <a:tbl>
              <a:tblPr>
                <a:noFill/>
                <a:tableStyleId>{109AAC8C-B052-443E-9B33-C11A615EBD4A}</a:tableStyleId>
              </a:tblPr>
              <a:tblGrid>
                <a:gridCol w="666375"/>
                <a:gridCol w="666375"/>
              </a:tblGrid>
              <a:tr h="123750">
                <a:tc>
                  <a:txBody>
                    <a:bodyPr/>
                    <a:lstStyle/>
                    <a:p>
                      <a:pPr indent="0" lvl="0" marL="0" rtl="0" algn="l">
                        <a:spcBef>
                          <a:spcPts val="0"/>
                        </a:spcBef>
                        <a:spcAft>
                          <a:spcPts val="0"/>
                        </a:spcAft>
                        <a:buNone/>
                      </a:pPr>
                      <a:r>
                        <a:t/>
                      </a:r>
                      <a:endParaRPr sz="1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cxnSp>
        <p:nvCxnSpPr>
          <p:cNvPr id="209" name="Google Shape;209;p20"/>
          <p:cNvCxnSpPr/>
          <p:nvPr/>
        </p:nvCxnSpPr>
        <p:spPr>
          <a:xfrm>
            <a:off x="480750" y="9972000"/>
            <a:ext cx="6598500" cy="0"/>
          </a:xfrm>
          <a:prstGeom prst="straightConnector1">
            <a:avLst/>
          </a:prstGeom>
          <a:noFill/>
          <a:ln cap="flat" cmpd="sng" w="38100">
            <a:solidFill>
              <a:srgbClr val="000000"/>
            </a:solidFill>
            <a:prstDash val="solid"/>
            <a:round/>
            <a:headEnd len="med" w="med" type="none"/>
            <a:tailEnd len="med" w="med" type="none"/>
          </a:ln>
        </p:spPr>
      </p:cxnSp>
      <p:sp>
        <p:nvSpPr>
          <p:cNvPr id="210" name="Google Shape;210;p20"/>
          <p:cNvSpPr txBox="1"/>
          <p:nvPr/>
        </p:nvSpPr>
        <p:spPr>
          <a:xfrm>
            <a:off x="544319" y="2465450"/>
            <a:ext cx="6624000" cy="2772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200">
                <a:latin typeface="Lexend"/>
                <a:ea typeface="Lexend"/>
                <a:cs typeface="Lexend"/>
                <a:sym typeface="Lexend"/>
              </a:rPr>
              <a:t>b)     </a:t>
            </a:r>
            <a:r>
              <a:rPr lang="en-GB" sz="1200">
                <a:solidFill>
                  <a:srgbClr val="000000"/>
                </a:solidFill>
                <a:latin typeface="Lexend"/>
                <a:ea typeface="Lexend"/>
                <a:cs typeface="Lexend"/>
                <a:sym typeface="Lexend"/>
              </a:rPr>
              <a:t>3560</a:t>
            </a:r>
            <a:endParaRPr sz="1200">
              <a:solidFill>
                <a:srgbClr val="000000"/>
              </a:solidFill>
              <a:latin typeface="Lexend"/>
              <a:ea typeface="Lexend"/>
              <a:cs typeface="Lexend"/>
              <a:sym typeface="Lexend"/>
            </a:endParaRPr>
          </a:p>
          <a:p>
            <a:pPr indent="0" lvl="0" marL="0" rtl="0" algn="l">
              <a:lnSpc>
                <a:spcPct val="100000"/>
              </a:lnSpc>
              <a:spcBef>
                <a:spcPts val="0"/>
              </a:spcBef>
              <a:spcAft>
                <a:spcPts val="0"/>
              </a:spcAft>
              <a:buNone/>
            </a:pPr>
            <a:r>
              <a:t/>
            </a:r>
            <a:endParaRPr sz="1200">
              <a:solidFill>
                <a:srgbClr val="000000"/>
              </a:solidFill>
              <a:latin typeface="Lexend"/>
              <a:ea typeface="Lexend"/>
              <a:cs typeface="Lexend"/>
              <a:sym typeface="Lexend"/>
            </a:endParaRPr>
          </a:p>
        </p:txBody>
      </p:sp>
      <p:sp>
        <p:nvSpPr>
          <p:cNvPr id="211" name="Google Shape;211;p20"/>
          <p:cNvSpPr txBox="1"/>
          <p:nvPr/>
        </p:nvSpPr>
        <p:spPr>
          <a:xfrm>
            <a:off x="559450" y="2828789"/>
            <a:ext cx="6624000" cy="2772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200">
                <a:latin typeface="Lexend"/>
                <a:ea typeface="Lexend"/>
                <a:cs typeface="Lexend"/>
                <a:sym typeface="Lexend"/>
              </a:rPr>
              <a:t>c)     </a:t>
            </a:r>
            <a:r>
              <a:rPr lang="en-GB" sz="1200">
                <a:solidFill>
                  <a:srgbClr val="000000"/>
                </a:solidFill>
                <a:latin typeface="Lexend"/>
                <a:ea typeface="Lexend"/>
                <a:cs typeface="Lexend"/>
                <a:sym typeface="Lexend"/>
              </a:rPr>
              <a:t>60 253 461</a:t>
            </a:r>
            <a:endParaRPr sz="1200">
              <a:solidFill>
                <a:srgbClr val="000000"/>
              </a:solidFill>
              <a:latin typeface="Lexend"/>
              <a:ea typeface="Lexend"/>
              <a:cs typeface="Lexend"/>
              <a:sym typeface="Lexend"/>
            </a:endParaRPr>
          </a:p>
        </p:txBody>
      </p:sp>
      <p:sp>
        <p:nvSpPr>
          <p:cNvPr id="212" name="Google Shape;212;p20"/>
          <p:cNvSpPr txBox="1"/>
          <p:nvPr/>
        </p:nvSpPr>
        <p:spPr>
          <a:xfrm>
            <a:off x="567481" y="3537189"/>
            <a:ext cx="6624000" cy="2772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200">
                <a:latin typeface="Lexend"/>
                <a:ea typeface="Lexend"/>
                <a:cs typeface="Lexend"/>
                <a:sym typeface="Lexend"/>
              </a:rPr>
              <a:t>e)     </a:t>
            </a:r>
            <a:r>
              <a:rPr lang="en-GB" sz="1200">
                <a:solidFill>
                  <a:srgbClr val="000000"/>
                </a:solidFill>
                <a:latin typeface="Lexend"/>
                <a:ea typeface="Lexend"/>
                <a:cs typeface="Lexend"/>
                <a:sym typeface="Lexend"/>
              </a:rPr>
              <a:t>98 200</a:t>
            </a:r>
            <a:endParaRPr sz="1200">
              <a:solidFill>
                <a:srgbClr val="000000"/>
              </a:solidFill>
              <a:latin typeface="Lexend"/>
              <a:ea typeface="Lexend"/>
              <a:cs typeface="Lexend"/>
              <a:sym typeface="Lexend"/>
            </a:endParaRPr>
          </a:p>
        </p:txBody>
      </p:sp>
      <p:sp>
        <p:nvSpPr>
          <p:cNvPr id="213" name="Google Shape;213;p20"/>
          <p:cNvSpPr txBox="1"/>
          <p:nvPr/>
        </p:nvSpPr>
        <p:spPr>
          <a:xfrm>
            <a:off x="1230000" y="2520924"/>
            <a:ext cx="6624000" cy="245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200">
                <a:latin typeface="Lexend"/>
                <a:ea typeface="Lexend"/>
                <a:cs typeface="Lexend"/>
                <a:sym typeface="Lexend"/>
              </a:rPr>
              <a:t>f)</a:t>
            </a:r>
            <a:r>
              <a:rPr lang="en-GB" sz="1200">
                <a:solidFill>
                  <a:srgbClr val="000000"/>
                </a:solidFill>
                <a:latin typeface="Lexend"/>
                <a:ea typeface="Lexend"/>
                <a:cs typeface="Lexend"/>
                <a:sym typeface="Lexend"/>
              </a:rPr>
              <a:t>4 987 932</a:t>
            </a:r>
            <a:endParaRPr sz="1200">
              <a:solidFill>
                <a:srgbClr val="000000"/>
              </a:solidFill>
              <a:latin typeface="Lexend"/>
              <a:ea typeface="Lexend"/>
              <a:cs typeface="Lexend"/>
              <a:sym typeface="Lexend"/>
            </a:endParaRPr>
          </a:p>
        </p:txBody>
      </p:sp>
      <p:sp>
        <p:nvSpPr>
          <p:cNvPr id="214" name="Google Shape;214;p20"/>
          <p:cNvSpPr txBox="1"/>
          <p:nvPr/>
        </p:nvSpPr>
        <p:spPr>
          <a:xfrm>
            <a:off x="590154" y="3921736"/>
            <a:ext cx="6624000" cy="195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200">
                <a:latin typeface="Lexend"/>
                <a:ea typeface="Lexend"/>
                <a:cs typeface="Lexend"/>
                <a:sym typeface="Lexend"/>
              </a:rPr>
              <a:t>f)     </a:t>
            </a:r>
            <a:r>
              <a:rPr lang="en-GB" sz="1200">
                <a:solidFill>
                  <a:srgbClr val="000000"/>
                </a:solidFill>
                <a:latin typeface="Lexend"/>
                <a:ea typeface="Lexend"/>
                <a:cs typeface="Lexend"/>
                <a:sym typeface="Lexend"/>
              </a:rPr>
              <a:t>4 987 932</a:t>
            </a:r>
            <a:endParaRPr sz="1200">
              <a:solidFill>
                <a:srgbClr val="000000"/>
              </a:solidFill>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1"/>
          <p:cNvSpPr/>
          <p:nvPr/>
        </p:nvSpPr>
        <p:spPr>
          <a:xfrm>
            <a:off x="4848825" y="3131100"/>
            <a:ext cx="2223600" cy="755400"/>
          </a:xfrm>
          <a:prstGeom prst="roundRect">
            <a:avLst>
              <a:gd fmla="val 16667" name="adj"/>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220" name="Google Shape;220;p21"/>
          <p:cNvSpPr txBox="1"/>
          <p:nvPr/>
        </p:nvSpPr>
        <p:spPr>
          <a:xfrm>
            <a:off x="4987875" y="3122050"/>
            <a:ext cx="21039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14)   75 001 ≈</a:t>
            </a:r>
            <a:r>
              <a:rPr lang="en-GB" sz="1200">
                <a:solidFill>
                  <a:srgbClr val="000000"/>
                </a:solidFill>
                <a:latin typeface="Kalam"/>
                <a:ea typeface="Kalam"/>
                <a:cs typeface="Kalam"/>
                <a:sym typeface="Kalam"/>
              </a:rPr>
              <a:t> 80 000  M</a:t>
            </a:r>
            <a:endParaRPr sz="1200">
              <a:solidFill>
                <a:srgbClr val="000000"/>
              </a:solidFill>
              <a:latin typeface="Kalam"/>
              <a:ea typeface="Kalam"/>
              <a:cs typeface="Kalam"/>
              <a:sym typeface="Kalam"/>
            </a:endParaRPr>
          </a:p>
          <a:p>
            <a:pPr indent="0" lvl="0" marL="0" rtl="0" algn="l">
              <a:spcBef>
                <a:spcPts val="0"/>
              </a:spcBef>
              <a:spcAft>
                <a:spcPts val="0"/>
              </a:spcAft>
              <a:buNone/>
            </a:pPr>
            <a:r>
              <a:rPr lang="en-GB" sz="1200">
                <a:solidFill>
                  <a:srgbClr val="000000"/>
                </a:solidFill>
                <a:latin typeface="Lexend"/>
                <a:ea typeface="Lexend"/>
                <a:cs typeface="Lexend"/>
                <a:sym typeface="Lexend"/>
              </a:rPr>
              <a:t>15)   94 ≈</a:t>
            </a:r>
            <a:r>
              <a:rPr lang="en-GB" sz="1200">
                <a:solidFill>
                  <a:srgbClr val="000000"/>
                </a:solidFill>
                <a:latin typeface="Kalam"/>
                <a:ea typeface="Kalam"/>
                <a:cs typeface="Kalam"/>
                <a:sym typeface="Kalam"/>
              </a:rPr>
              <a:t> 90            H</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a:p>
            <a:pPr indent="0" lvl="0" marL="0" rtl="0" algn="l">
              <a:spcBef>
                <a:spcPts val="0"/>
              </a:spcBef>
              <a:spcAft>
                <a:spcPts val="0"/>
              </a:spcAft>
              <a:buNone/>
            </a:pPr>
            <a:r>
              <a:rPr lang="en-GB" sz="1200">
                <a:solidFill>
                  <a:srgbClr val="000000"/>
                </a:solidFill>
                <a:latin typeface="Lexend"/>
                <a:ea typeface="Lexend"/>
                <a:cs typeface="Lexend"/>
                <a:sym typeface="Lexend"/>
              </a:rPr>
              <a:t>16)   9810 ≈</a:t>
            </a:r>
            <a:r>
              <a:rPr lang="en-GB" sz="1200">
                <a:solidFill>
                  <a:srgbClr val="000000"/>
                </a:solidFill>
                <a:latin typeface="Kalam"/>
                <a:ea typeface="Kalam"/>
                <a:cs typeface="Kalam"/>
                <a:sym typeface="Kalam"/>
              </a:rPr>
              <a:t> 10 000     T</a:t>
            </a:r>
            <a:endParaRPr sz="1200">
              <a:solidFill>
                <a:srgbClr val="000000"/>
              </a:solidFill>
              <a:latin typeface="Kalam"/>
              <a:ea typeface="Kalam"/>
              <a:cs typeface="Kalam"/>
              <a:sym typeface="Kalam"/>
            </a:endParaRPr>
          </a:p>
          <a:p>
            <a:pPr indent="0" lvl="0" marL="0" rtl="0" algn="l">
              <a:spcBef>
                <a:spcPts val="0"/>
              </a:spcBef>
              <a:spcAft>
                <a:spcPts val="0"/>
              </a:spcAft>
              <a:buClr>
                <a:srgbClr val="000000"/>
              </a:buClr>
              <a:buSzPts val="1100"/>
              <a:buFont typeface="Arial"/>
              <a:buNone/>
            </a:pPr>
            <a:r>
              <a:rPr lang="en-GB" sz="1200">
                <a:solidFill>
                  <a:srgbClr val="000000"/>
                </a:solidFill>
                <a:latin typeface="Lexend"/>
                <a:ea typeface="Lexend"/>
                <a:cs typeface="Lexend"/>
                <a:sym typeface="Lexend"/>
              </a:rPr>
              <a:t>17)   13 ≈</a:t>
            </a:r>
            <a:r>
              <a:rPr lang="en-GB" sz="1200">
                <a:solidFill>
                  <a:srgbClr val="000000"/>
                </a:solidFill>
                <a:latin typeface="Kalam"/>
                <a:ea typeface="Kalam"/>
                <a:cs typeface="Kalam"/>
                <a:sym typeface="Kalam"/>
              </a:rPr>
              <a:t> 10             E</a:t>
            </a:r>
            <a:endParaRPr sz="1200">
              <a:solidFill>
                <a:srgbClr val="000000"/>
              </a:solidFill>
              <a:latin typeface="Lexend"/>
              <a:ea typeface="Lexend"/>
              <a:cs typeface="Lexend"/>
              <a:sym typeface="Lexend"/>
            </a:endParaRPr>
          </a:p>
          <a:p>
            <a:pPr indent="0" lvl="0" marL="0" rtl="0" algn="l">
              <a:spcBef>
                <a:spcPts val="0"/>
              </a:spcBef>
              <a:spcAft>
                <a:spcPts val="0"/>
              </a:spcAft>
              <a:buNone/>
            </a:pPr>
            <a:r>
              <a:rPr lang="en-GB" sz="1200">
                <a:solidFill>
                  <a:srgbClr val="000000"/>
                </a:solidFill>
                <a:latin typeface="Lexend"/>
                <a:ea typeface="Lexend"/>
                <a:cs typeface="Lexend"/>
                <a:sym typeface="Lexend"/>
              </a:rPr>
              <a:t>18)   7459 ≈</a:t>
            </a:r>
            <a:r>
              <a:rPr lang="en-GB" sz="1200">
                <a:solidFill>
                  <a:srgbClr val="000000"/>
                </a:solidFill>
                <a:latin typeface="Kalam"/>
                <a:ea typeface="Kalam"/>
                <a:cs typeface="Kalam"/>
                <a:sym typeface="Kalam"/>
              </a:rPr>
              <a:t> 7000       P</a:t>
            </a:r>
            <a:endParaRPr sz="1200">
              <a:solidFill>
                <a:srgbClr val="000000"/>
              </a:solidFill>
              <a:latin typeface="Kalam"/>
              <a:ea typeface="Kalam"/>
              <a:cs typeface="Kalam"/>
              <a:sym typeface="Kalam"/>
            </a:endParaRPr>
          </a:p>
          <a:p>
            <a:pPr indent="0" lvl="0" marL="0" rtl="0" algn="l">
              <a:spcBef>
                <a:spcPts val="0"/>
              </a:spcBef>
              <a:spcAft>
                <a:spcPts val="0"/>
              </a:spcAft>
              <a:buClr>
                <a:srgbClr val="000000"/>
              </a:buClr>
              <a:buSzPts val="1100"/>
              <a:buFont typeface="Arial"/>
              <a:buNone/>
            </a:pPr>
            <a:r>
              <a:rPr lang="en-GB" sz="1200">
                <a:solidFill>
                  <a:srgbClr val="000000"/>
                </a:solidFill>
                <a:latin typeface="Lexend"/>
                <a:ea typeface="Lexend"/>
                <a:cs typeface="Lexend"/>
                <a:sym typeface="Lexend"/>
              </a:rPr>
              <a:t>19)   762 ≈</a:t>
            </a:r>
            <a:r>
              <a:rPr lang="en-GB" sz="1200">
                <a:solidFill>
                  <a:srgbClr val="000000"/>
                </a:solidFill>
                <a:latin typeface="Kalam"/>
                <a:ea typeface="Kalam"/>
                <a:cs typeface="Kalam"/>
                <a:sym typeface="Kalam"/>
              </a:rPr>
              <a:t> 800         U</a:t>
            </a:r>
            <a:endParaRPr sz="1200">
              <a:solidFill>
                <a:srgbClr val="000000"/>
              </a:solidFill>
              <a:latin typeface="Kalam"/>
              <a:ea typeface="Kalam"/>
              <a:cs typeface="Kalam"/>
              <a:sym typeface="Kalam"/>
            </a:endParaRPr>
          </a:p>
        </p:txBody>
      </p:sp>
      <p:sp>
        <p:nvSpPr>
          <p:cNvPr id="221" name="Google Shape;221;p2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22" name="Google Shape;222;p21"/>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Rounding integers to one significant figure</a:t>
            </a:r>
            <a:endParaRPr/>
          </a:p>
        </p:txBody>
      </p:sp>
      <p:sp>
        <p:nvSpPr>
          <p:cNvPr id="223" name="Google Shape;223;p21"/>
          <p:cNvSpPr txBox="1"/>
          <p:nvPr/>
        </p:nvSpPr>
        <p:spPr>
          <a:xfrm>
            <a:off x="6744600" y="10447800"/>
            <a:ext cx="815400" cy="244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chemeClr val="lt1"/>
                </a:solidFill>
                <a:latin typeface="Lexend"/>
                <a:ea typeface="Lexend"/>
                <a:cs typeface="Lexend"/>
                <a:sym typeface="Lexend"/>
              </a:rPr>
              <a:t>v2</a:t>
            </a:r>
            <a:r>
              <a:rPr lang="en-GB" sz="1000">
                <a:solidFill>
                  <a:schemeClr val="lt1"/>
                </a:solidFill>
                <a:latin typeface="Lexend"/>
                <a:ea typeface="Lexend"/>
                <a:cs typeface="Lexend"/>
                <a:sym typeface="Lexend"/>
              </a:rPr>
              <a:t>.3</a:t>
            </a:r>
            <a:endParaRPr sz="1000">
              <a:solidFill>
                <a:schemeClr val="lt1"/>
              </a:solidFill>
              <a:latin typeface="Lexend"/>
              <a:ea typeface="Lexend"/>
              <a:cs typeface="Lexend"/>
              <a:sym typeface="Lexend"/>
            </a:endParaRPr>
          </a:p>
        </p:txBody>
      </p:sp>
      <p:sp>
        <p:nvSpPr>
          <p:cNvPr id="224" name="Google Shape;224;p21"/>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p>
            <a:pPr indent="0" lvl="0" marL="0" rtl="0" algn="l">
              <a:spcBef>
                <a:spcPts val="0"/>
              </a:spcBef>
              <a:spcAft>
                <a:spcPts val="0"/>
              </a:spcAft>
              <a:buClr>
                <a:schemeClr val="dk1"/>
              </a:buClr>
              <a:buSzPts val="1100"/>
              <a:buFont typeface="Arial"/>
              <a:buNone/>
            </a:pPr>
            <a:r>
              <a:rPr lang="en-GB"/>
              <a:t>Mathematics in Education and Industry</a:t>
            </a:r>
            <a:endParaRPr/>
          </a:p>
        </p:txBody>
      </p:sp>
      <p:sp>
        <p:nvSpPr>
          <p:cNvPr id="225" name="Google Shape;225;p21"/>
          <p:cNvSpPr/>
          <p:nvPr/>
        </p:nvSpPr>
        <p:spPr>
          <a:xfrm>
            <a:off x="4868325" y="3881950"/>
            <a:ext cx="2223600" cy="434700"/>
          </a:xfrm>
          <a:prstGeom prst="roundRect">
            <a:avLst>
              <a:gd fmla="val 16667" name="adj"/>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226" name="Google Shape;226;p21"/>
          <p:cNvSpPr/>
          <p:nvPr/>
        </p:nvSpPr>
        <p:spPr>
          <a:xfrm>
            <a:off x="482227" y="3131104"/>
            <a:ext cx="1743600" cy="210300"/>
          </a:xfrm>
          <a:prstGeom prst="roundRect">
            <a:avLst>
              <a:gd fmla="val 16667" name="adj"/>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227" name="Google Shape;227;p21"/>
          <p:cNvSpPr/>
          <p:nvPr/>
        </p:nvSpPr>
        <p:spPr>
          <a:xfrm>
            <a:off x="2475850" y="3122050"/>
            <a:ext cx="2223600" cy="1302000"/>
          </a:xfrm>
          <a:prstGeom prst="roundRect">
            <a:avLst>
              <a:gd fmla="val 16667" name="adj"/>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228" name="Google Shape;228;p21"/>
          <p:cNvSpPr/>
          <p:nvPr/>
        </p:nvSpPr>
        <p:spPr>
          <a:xfrm>
            <a:off x="482225" y="3341353"/>
            <a:ext cx="1743600" cy="684000"/>
          </a:xfrm>
          <a:prstGeom prst="roundRect">
            <a:avLst>
              <a:gd fmla="val 16667" name="adj"/>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229" name="Google Shape;229;p21"/>
          <p:cNvSpPr txBox="1"/>
          <p:nvPr/>
        </p:nvSpPr>
        <p:spPr>
          <a:xfrm>
            <a:off x="468075" y="1102800"/>
            <a:ext cx="6621300" cy="9975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None/>
            </a:pPr>
            <a:r>
              <a:rPr lang="en-GB" sz="1200">
                <a:solidFill>
                  <a:srgbClr val="000000"/>
                </a:solidFill>
                <a:latin typeface="Lexend"/>
                <a:ea typeface="Lexend"/>
                <a:cs typeface="Lexend"/>
                <a:sym typeface="Lexend"/>
              </a:rPr>
              <a:t>1</a:t>
            </a:r>
            <a:r>
              <a:rPr lang="en-GB" sz="1200">
                <a:latin typeface="Lexend"/>
                <a:ea typeface="Lexend"/>
                <a:cs typeface="Lexend"/>
                <a:sym typeface="Lexend"/>
              </a:rPr>
              <a:t>) </a:t>
            </a:r>
            <a:r>
              <a:rPr lang="en-GB" sz="1200">
                <a:solidFill>
                  <a:srgbClr val="000000"/>
                </a:solidFill>
                <a:latin typeface="Lexend"/>
                <a:ea typeface="Lexend"/>
                <a:cs typeface="Lexend"/>
                <a:sym typeface="Lexend"/>
              </a:rPr>
              <a:t>Write each of the numbers below to one significant figure, find the answer in the grid to complete this joke:</a:t>
            </a:r>
            <a:endParaRPr sz="1200">
              <a:solidFill>
                <a:srgbClr val="000000"/>
              </a:solidFill>
              <a:latin typeface="Lexend"/>
              <a:ea typeface="Lexend"/>
              <a:cs typeface="Lexend"/>
              <a:sym typeface="Lexend"/>
            </a:endParaRPr>
          </a:p>
          <a:p>
            <a:pPr indent="0" lvl="0" marL="0" rtl="0" algn="l">
              <a:lnSpc>
                <a:spcPct val="80000"/>
              </a:lnSpc>
              <a:spcBef>
                <a:spcPts val="1000"/>
              </a:spcBef>
              <a:spcAft>
                <a:spcPts val="0"/>
              </a:spcAft>
              <a:buNone/>
            </a:pPr>
            <a:r>
              <a:rPr lang="en-GB" sz="1200">
                <a:solidFill>
                  <a:srgbClr val="000000"/>
                </a:solidFill>
                <a:latin typeface="Lexend"/>
                <a:ea typeface="Lexend"/>
                <a:cs typeface="Lexend"/>
                <a:sym typeface="Lexend"/>
              </a:rPr>
              <a:t>A sheepdog goes out to get the farmer’s sheep in. He comes back and says to the farmer, ‘that’s all 100 sheep in the barn’  The farmer says, ‘that’s odd we only had 97 this morning’. The sheepdog replies …</a:t>
            </a:r>
            <a:endParaRPr sz="1200">
              <a:solidFill>
                <a:srgbClr val="000000"/>
              </a:solidFill>
              <a:latin typeface="Lexend"/>
              <a:ea typeface="Lexend"/>
              <a:cs typeface="Lexend"/>
              <a:sym typeface="Lexend"/>
            </a:endParaRPr>
          </a:p>
          <a:p>
            <a:pPr indent="0" lvl="0" marL="0" rtl="0" algn="l">
              <a:lnSpc>
                <a:spcPct val="80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230" name="Google Shape;230;p21"/>
          <p:cNvSpPr txBox="1"/>
          <p:nvPr/>
        </p:nvSpPr>
        <p:spPr>
          <a:xfrm>
            <a:off x="470600" y="720000"/>
            <a:ext cx="6621300" cy="38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a:solidFill>
                  <a:schemeClr val="dk1"/>
                </a:solidFill>
                <a:latin typeface="Lexend"/>
                <a:ea typeface="Lexend"/>
                <a:cs typeface="Lexend"/>
                <a:sym typeface="Lexend"/>
              </a:rPr>
              <a:t>Task C: </a:t>
            </a:r>
            <a:r>
              <a:rPr b="1" lang="en-GB">
                <a:solidFill>
                  <a:schemeClr val="dk1"/>
                </a:solidFill>
                <a:latin typeface="Lexend"/>
                <a:ea typeface="Lexend"/>
                <a:cs typeface="Lexend"/>
                <a:sym typeface="Lexend"/>
              </a:rPr>
              <a:t>Rounding to one significant figure</a:t>
            </a:r>
            <a:endParaRPr b="1">
              <a:solidFill>
                <a:schemeClr val="dk1"/>
              </a:solidFill>
              <a:latin typeface="Lexend"/>
              <a:ea typeface="Lexend"/>
              <a:cs typeface="Lexend"/>
              <a:sym typeface="Lexend"/>
            </a:endParaRPr>
          </a:p>
        </p:txBody>
      </p:sp>
      <p:graphicFrame>
        <p:nvGraphicFramePr>
          <p:cNvPr id="231" name="Google Shape;231;p21"/>
          <p:cNvGraphicFramePr/>
          <p:nvPr/>
        </p:nvGraphicFramePr>
        <p:xfrm>
          <a:off x="468000" y="2103213"/>
          <a:ext cx="3000000" cy="3000000"/>
        </p:xfrm>
        <a:graphic>
          <a:graphicData uri="http://schemas.openxmlformats.org/drawingml/2006/table">
            <a:tbl>
              <a:tblPr>
                <a:noFill/>
                <a:tableStyleId>{109AAC8C-B052-443E-9B33-C11A615EBD4A}</a:tableStyleId>
              </a:tblPr>
              <a:tblGrid>
                <a:gridCol w="509325"/>
                <a:gridCol w="509325"/>
                <a:gridCol w="509325"/>
                <a:gridCol w="509325"/>
                <a:gridCol w="509325"/>
                <a:gridCol w="509325"/>
                <a:gridCol w="509325"/>
                <a:gridCol w="509325"/>
                <a:gridCol w="509325"/>
                <a:gridCol w="509325"/>
                <a:gridCol w="509325"/>
                <a:gridCol w="509325"/>
                <a:gridCol w="509325"/>
              </a:tblGrid>
              <a:tr h="194325">
                <a:tc>
                  <a:txBody>
                    <a:bodyPr/>
                    <a:lstStyle/>
                    <a:p>
                      <a:pPr indent="0" lvl="0" marL="0" rtl="0" algn="ctr">
                        <a:spcBef>
                          <a:spcPts val="0"/>
                        </a:spcBef>
                        <a:spcAft>
                          <a:spcPts val="0"/>
                        </a:spcAft>
                        <a:buNone/>
                      </a:pPr>
                      <a:r>
                        <a:rPr lang="en-GB" sz="1200">
                          <a:latin typeface="Lexend"/>
                          <a:ea typeface="Lexend"/>
                          <a:cs typeface="Lexend"/>
                          <a:sym typeface="Lexend"/>
                        </a:rPr>
                        <a:t>A</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B</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C</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D</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E</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F</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G</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H</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I</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J</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K</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L</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M</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194325">
                <a:tc>
                  <a:txBody>
                    <a:bodyPr/>
                    <a:lstStyle/>
                    <a:p>
                      <a:pPr indent="0" lvl="0" marL="0" rtl="0" algn="ctr">
                        <a:spcBef>
                          <a:spcPts val="0"/>
                        </a:spcBef>
                        <a:spcAft>
                          <a:spcPts val="0"/>
                        </a:spcAft>
                        <a:buNone/>
                      </a:pPr>
                      <a:r>
                        <a:rPr lang="en-GB" sz="1200">
                          <a:latin typeface="Lexend"/>
                          <a:ea typeface="Lexend"/>
                          <a:cs typeface="Lexend"/>
                          <a:sym typeface="Lexend"/>
                        </a:rPr>
                        <a:t>200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60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400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100">
                          <a:latin typeface="Lexend"/>
                          <a:ea typeface="Lexend"/>
                          <a:cs typeface="Lexend"/>
                          <a:sym typeface="Lexend"/>
                        </a:rPr>
                        <a:t>30 000</a:t>
                      </a:r>
                      <a:endParaRPr sz="11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100">
                          <a:latin typeface="Lexend"/>
                          <a:ea typeface="Lexend"/>
                          <a:cs typeface="Lexend"/>
                          <a:sym typeface="Lexend"/>
                        </a:rPr>
                        <a:t>20 000</a:t>
                      </a:r>
                      <a:endParaRPr sz="11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700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90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5000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100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9000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100">
                          <a:latin typeface="Lexend"/>
                          <a:ea typeface="Lexend"/>
                          <a:cs typeface="Lexend"/>
                          <a:sym typeface="Lexend"/>
                        </a:rPr>
                        <a:t>80 000</a:t>
                      </a:r>
                      <a:endParaRPr sz="11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194325">
                <a:tc>
                  <a:txBody>
                    <a:bodyPr/>
                    <a:lstStyle/>
                    <a:p>
                      <a:pPr indent="0" lvl="0" marL="0" rtl="0" algn="ctr">
                        <a:spcBef>
                          <a:spcPts val="0"/>
                        </a:spcBef>
                        <a:spcAft>
                          <a:spcPts val="0"/>
                        </a:spcAft>
                        <a:buNone/>
                      </a:pPr>
                      <a:r>
                        <a:rPr lang="en-GB" sz="1200">
                          <a:latin typeface="Lexend"/>
                          <a:ea typeface="Lexend"/>
                          <a:cs typeface="Lexend"/>
                          <a:sym typeface="Lexend"/>
                        </a:rPr>
                        <a:t>N</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O</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P</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Q</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R</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S</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T</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U</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V</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W</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X</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Y</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Z</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194325">
                <a:tc>
                  <a:txBody>
                    <a:bodyPr/>
                    <a:lstStyle/>
                    <a:p>
                      <a:pPr indent="0" lvl="0" marL="0" rtl="0" algn="ctr">
                        <a:spcBef>
                          <a:spcPts val="0"/>
                        </a:spcBef>
                        <a:spcAft>
                          <a:spcPts val="0"/>
                        </a:spcAft>
                        <a:buNone/>
                      </a:pPr>
                      <a:r>
                        <a:rPr lang="en-GB" sz="1200">
                          <a:latin typeface="Lexend"/>
                          <a:ea typeface="Lexend"/>
                          <a:cs typeface="Lexend"/>
                          <a:sym typeface="Lexend"/>
                        </a:rPr>
                        <a:t>70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2000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7000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40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8000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300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100">
                          <a:latin typeface="Lexend"/>
                          <a:ea typeface="Lexend"/>
                          <a:cs typeface="Lexend"/>
                          <a:sym typeface="Lexend"/>
                        </a:rPr>
                        <a:t>10 000</a:t>
                      </a:r>
                      <a:endParaRPr sz="11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800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900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1000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100">
                          <a:latin typeface="Lexend"/>
                          <a:ea typeface="Lexend"/>
                          <a:cs typeface="Lexend"/>
                          <a:sym typeface="Lexend"/>
                        </a:rPr>
                        <a:t>50 000</a:t>
                      </a:r>
                      <a:endParaRPr sz="11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40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600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232" name="Google Shape;232;p21"/>
          <p:cNvSpPr txBox="1"/>
          <p:nvPr/>
        </p:nvSpPr>
        <p:spPr>
          <a:xfrm>
            <a:off x="470600" y="3122050"/>
            <a:ext cx="1779900" cy="903300"/>
          </a:xfrm>
          <a:prstGeom prst="rect">
            <a:avLst/>
          </a:prstGeom>
          <a:noFill/>
          <a:ln>
            <a:noFill/>
          </a:ln>
        </p:spPr>
        <p:txBody>
          <a:bodyPr anchorCtr="0" anchor="t" bIns="0" lIns="0" spcFirstLastPara="1" rIns="0" wrap="square" tIns="0">
            <a:noAutofit/>
          </a:bodyPr>
          <a:lstStyle/>
          <a:p>
            <a:pPr indent="-304800" lvl="0" marL="457200" rtl="0" algn="just">
              <a:spcBef>
                <a:spcPts val="0"/>
              </a:spcBef>
              <a:spcAft>
                <a:spcPts val="0"/>
              </a:spcAft>
              <a:buClr>
                <a:srgbClr val="000000"/>
              </a:buClr>
              <a:buSzPts val="1200"/>
              <a:buFont typeface="Lexend"/>
              <a:buAutoNum type="arabicParenR"/>
            </a:pPr>
            <a:r>
              <a:rPr lang="en-GB" sz="1200">
                <a:latin typeface="Lexend"/>
                <a:ea typeface="Lexend"/>
                <a:cs typeface="Lexend"/>
                <a:sym typeface="Lexend"/>
              </a:rPr>
              <a:t>4682 ≈</a:t>
            </a:r>
            <a:r>
              <a:rPr lang="en-GB" sz="1200">
                <a:latin typeface="Kalam"/>
                <a:ea typeface="Kalam"/>
                <a:cs typeface="Kalam"/>
                <a:sym typeface="Kalam"/>
              </a:rPr>
              <a:t> 5000   I</a:t>
            </a:r>
            <a:endParaRPr sz="1200">
              <a:latin typeface="Kalam"/>
              <a:ea typeface="Kalam"/>
              <a:cs typeface="Kalam"/>
              <a:sym typeface="Kalam"/>
            </a:endParaRPr>
          </a:p>
          <a:p>
            <a:pPr indent="-304800" lvl="0" marL="457200" rtl="0" algn="l">
              <a:spcBef>
                <a:spcPts val="0"/>
              </a:spcBef>
              <a:spcAft>
                <a:spcPts val="0"/>
              </a:spcAft>
              <a:buSzPts val="1200"/>
              <a:buFont typeface="Lexend"/>
              <a:buAutoNum type="arabicParenR"/>
            </a:pPr>
            <a:r>
              <a:rPr lang="en-GB" sz="1200">
                <a:solidFill>
                  <a:srgbClr val="000000"/>
                </a:solidFill>
                <a:latin typeface="Lexend"/>
                <a:ea typeface="Lexend"/>
                <a:cs typeface="Lexend"/>
                <a:sym typeface="Lexend"/>
              </a:rPr>
              <a:t>1800 ≈</a:t>
            </a:r>
            <a:r>
              <a:rPr lang="en-GB" sz="1200">
                <a:solidFill>
                  <a:srgbClr val="000000"/>
                </a:solidFill>
                <a:latin typeface="Kalam"/>
                <a:ea typeface="Kalam"/>
                <a:cs typeface="Kalam"/>
                <a:sym typeface="Kalam"/>
              </a:rPr>
              <a:t> 2000</a:t>
            </a:r>
            <a:r>
              <a:rPr lang="en-GB" sz="1200">
                <a:latin typeface="Lexend"/>
                <a:ea typeface="Lexend"/>
                <a:cs typeface="Lexend"/>
                <a:sym typeface="Lexend"/>
              </a:rPr>
              <a:t> </a:t>
            </a:r>
            <a:r>
              <a:rPr lang="en-GB" sz="1200">
                <a:latin typeface="Kalam"/>
                <a:ea typeface="Kalam"/>
                <a:cs typeface="Kalam"/>
                <a:sym typeface="Kalam"/>
              </a:rPr>
              <a:t>  0   </a:t>
            </a:r>
            <a:endParaRPr sz="1200">
              <a:latin typeface="Kalam"/>
              <a:ea typeface="Kalam"/>
              <a:cs typeface="Kalam"/>
              <a:sym typeface="Kalam"/>
            </a:endParaRPr>
          </a:p>
          <a:p>
            <a:pPr indent="-306600" lvl="0" marL="460800" rtl="0" algn="l">
              <a:spcBef>
                <a:spcPts val="0"/>
              </a:spcBef>
              <a:spcAft>
                <a:spcPts val="0"/>
              </a:spcAft>
              <a:buSzPts val="1200"/>
              <a:buFont typeface="Lexend"/>
              <a:buAutoNum type="arabicParenR"/>
            </a:pPr>
            <a:r>
              <a:rPr lang="en-GB" sz="1200">
                <a:solidFill>
                  <a:srgbClr val="000000"/>
                </a:solidFill>
                <a:latin typeface="Lexend"/>
                <a:ea typeface="Lexend"/>
                <a:cs typeface="Lexend"/>
                <a:sym typeface="Lexend"/>
              </a:rPr>
              <a:t>1499 ≈</a:t>
            </a:r>
            <a:r>
              <a:rPr lang="en-GB" sz="1200">
                <a:solidFill>
                  <a:srgbClr val="000000"/>
                </a:solidFill>
                <a:latin typeface="Kalam"/>
                <a:ea typeface="Kalam"/>
                <a:cs typeface="Kalam"/>
                <a:sym typeface="Kalam"/>
              </a:rPr>
              <a:t> 1000   W</a:t>
            </a:r>
            <a:endParaRPr sz="1200">
              <a:latin typeface="Lexend"/>
              <a:ea typeface="Lexend"/>
              <a:cs typeface="Lexend"/>
              <a:sym typeface="Lexend"/>
            </a:endParaRPr>
          </a:p>
          <a:p>
            <a:pPr indent="-304800" lvl="0" marL="457200" rtl="0" algn="l">
              <a:spcBef>
                <a:spcPts val="0"/>
              </a:spcBef>
              <a:spcAft>
                <a:spcPts val="0"/>
              </a:spcAft>
              <a:buSzPts val="1200"/>
              <a:buFont typeface="Lexend"/>
              <a:buAutoNum type="arabicParenR"/>
            </a:pPr>
            <a:r>
              <a:rPr lang="en-GB" sz="1200">
                <a:latin typeface="Lexend"/>
                <a:ea typeface="Lexend"/>
                <a:cs typeface="Lexend"/>
                <a:sym typeface="Lexend"/>
              </a:rPr>
              <a:t>71 </a:t>
            </a:r>
            <a:r>
              <a:rPr lang="en-GB" sz="1200">
                <a:solidFill>
                  <a:srgbClr val="000000"/>
                </a:solidFill>
                <a:latin typeface="Lexend"/>
                <a:ea typeface="Lexend"/>
                <a:cs typeface="Lexend"/>
                <a:sym typeface="Lexend"/>
              </a:rPr>
              <a:t>≈</a:t>
            </a:r>
            <a:r>
              <a:rPr lang="en-GB" sz="1200">
                <a:solidFill>
                  <a:srgbClr val="000000"/>
                </a:solidFill>
                <a:latin typeface="Kalam"/>
                <a:ea typeface="Kalam"/>
                <a:cs typeface="Kalam"/>
                <a:sym typeface="Kalam"/>
              </a:rPr>
              <a:t> 70        N </a:t>
            </a:r>
            <a:endParaRPr sz="1200">
              <a:latin typeface="Lexend"/>
              <a:ea typeface="Lexend"/>
              <a:cs typeface="Lexend"/>
              <a:sym typeface="Lexend"/>
            </a:endParaRPr>
          </a:p>
          <a:p>
            <a:pPr indent="-304800" lvl="0" marL="457200" rtl="0" algn="l">
              <a:spcBef>
                <a:spcPts val="0"/>
              </a:spcBef>
              <a:spcAft>
                <a:spcPts val="0"/>
              </a:spcAft>
              <a:buSzPts val="1200"/>
              <a:buFont typeface="Lexend"/>
              <a:buAutoNum type="arabicParenR"/>
            </a:pPr>
            <a:r>
              <a:rPr lang="en-GB" sz="1200">
                <a:solidFill>
                  <a:srgbClr val="000000"/>
                </a:solidFill>
                <a:latin typeface="Lexend"/>
                <a:ea typeface="Lexend"/>
                <a:cs typeface="Lexend"/>
                <a:sym typeface="Lexend"/>
              </a:rPr>
              <a:t>104 ≈</a:t>
            </a:r>
            <a:r>
              <a:rPr lang="en-GB" sz="1200">
                <a:solidFill>
                  <a:srgbClr val="000000"/>
                </a:solidFill>
                <a:latin typeface="Kalam"/>
                <a:ea typeface="Kalam"/>
                <a:cs typeface="Kalam"/>
                <a:sym typeface="Kalam"/>
              </a:rPr>
              <a:t> 100      K</a:t>
            </a:r>
            <a:endParaRPr sz="1200">
              <a:solidFill>
                <a:srgbClr val="000000"/>
              </a:solidFill>
              <a:latin typeface="Kalam"/>
              <a:ea typeface="Kalam"/>
              <a:cs typeface="Kalam"/>
              <a:sym typeface="Kalam"/>
            </a:endParaRPr>
          </a:p>
          <a:p>
            <a:pPr indent="0" lvl="0" marL="72000" rtl="0" algn="l">
              <a:spcBef>
                <a:spcPts val="0"/>
              </a:spcBef>
              <a:spcAft>
                <a:spcPts val="0"/>
              </a:spcAft>
              <a:buNone/>
            </a:pPr>
            <a:r>
              <a:rPr lang="en-GB" sz="1200">
                <a:solidFill>
                  <a:srgbClr val="000000"/>
                </a:solidFill>
                <a:latin typeface="Lexend"/>
                <a:ea typeface="Lexend"/>
                <a:cs typeface="Lexend"/>
                <a:sym typeface="Lexend"/>
              </a:rPr>
              <a:t>6)    5498 ≈</a:t>
            </a:r>
            <a:r>
              <a:rPr lang="en-GB" sz="1200">
                <a:solidFill>
                  <a:srgbClr val="000000"/>
                </a:solidFill>
                <a:latin typeface="Kalam"/>
                <a:ea typeface="Kalam"/>
                <a:cs typeface="Kalam"/>
                <a:sym typeface="Kalam"/>
              </a:rPr>
              <a:t> 5000   I</a:t>
            </a:r>
            <a:endParaRPr sz="1200">
              <a:solidFill>
                <a:srgbClr val="000000"/>
              </a:solidFill>
              <a:latin typeface="Kalam"/>
              <a:ea typeface="Kalam"/>
              <a:cs typeface="Kalam"/>
              <a:sym typeface="Kalam"/>
            </a:endParaRPr>
          </a:p>
          <a:p>
            <a:pPr indent="0" lvl="0" marL="0" rtl="0" algn="l">
              <a:spcBef>
                <a:spcPts val="0"/>
              </a:spcBef>
              <a:spcAft>
                <a:spcPts val="0"/>
              </a:spcAft>
              <a:buClr>
                <a:srgbClr val="000000"/>
              </a:buClr>
              <a:buSzPts val="1100"/>
              <a:buFont typeface="Arial"/>
              <a:buNone/>
            </a:pPr>
            <a:r>
              <a:t/>
            </a:r>
            <a:endParaRPr sz="1200">
              <a:solidFill>
                <a:srgbClr val="000000"/>
              </a:solidFill>
              <a:latin typeface="Kalam"/>
              <a:ea typeface="Kalam"/>
              <a:cs typeface="Kalam"/>
              <a:sym typeface="Kalam"/>
            </a:endParaRPr>
          </a:p>
        </p:txBody>
      </p:sp>
      <p:sp>
        <p:nvSpPr>
          <p:cNvPr id="233" name="Google Shape;233;p21"/>
          <p:cNvSpPr txBox="1"/>
          <p:nvPr/>
        </p:nvSpPr>
        <p:spPr>
          <a:xfrm>
            <a:off x="2595468" y="3122050"/>
            <a:ext cx="2103900" cy="1293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200">
                <a:solidFill>
                  <a:srgbClr val="000000"/>
                </a:solidFill>
                <a:latin typeface="Lexend"/>
                <a:ea typeface="Lexend"/>
                <a:cs typeface="Lexend"/>
                <a:sym typeface="Lexend"/>
              </a:rPr>
              <a:t>7)    65 ≈</a:t>
            </a:r>
            <a:r>
              <a:rPr lang="en-GB" sz="1200">
                <a:solidFill>
                  <a:srgbClr val="000000"/>
                </a:solidFill>
                <a:latin typeface="Kalam"/>
                <a:ea typeface="Kalam"/>
                <a:cs typeface="Kalam"/>
                <a:sym typeface="Kalam"/>
              </a:rPr>
              <a:t> 70              N</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8)    </a:t>
            </a:r>
            <a:r>
              <a:rPr lang="en-GB" sz="1200">
                <a:solidFill>
                  <a:srgbClr val="000000"/>
                </a:solidFill>
                <a:latin typeface="Lexend"/>
                <a:ea typeface="Lexend"/>
                <a:cs typeface="Lexend"/>
                <a:sym typeface="Lexend"/>
              </a:rPr>
              <a:t>13 ≈</a:t>
            </a:r>
            <a:r>
              <a:rPr lang="en-GB" sz="1200">
                <a:solidFill>
                  <a:srgbClr val="000000"/>
                </a:solidFill>
                <a:latin typeface="Kalam"/>
                <a:ea typeface="Kalam"/>
                <a:cs typeface="Kalam"/>
                <a:sym typeface="Kalam"/>
              </a:rPr>
              <a:t> 10               E</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9)    840 </a:t>
            </a:r>
            <a:r>
              <a:rPr lang="en-GB" sz="1200">
                <a:solidFill>
                  <a:srgbClr val="000000"/>
                </a:solidFill>
                <a:latin typeface="Lexend"/>
                <a:ea typeface="Lexend"/>
                <a:cs typeface="Lexend"/>
                <a:sym typeface="Lexend"/>
              </a:rPr>
              <a:t>≈</a:t>
            </a:r>
            <a:r>
              <a:rPr lang="en-GB" sz="1200">
                <a:solidFill>
                  <a:srgbClr val="000000"/>
                </a:solidFill>
                <a:latin typeface="Kalam"/>
                <a:ea typeface="Kalam"/>
                <a:cs typeface="Kalam"/>
                <a:sym typeface="Kalam"/>
              </a:rPr>
              <a:t> 800           U </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10)  </a:t>
            </a:r>
            <a:r>
              <a:rPr lang="en-GB" sz="1200">
                <a:solidFill>
                  <a:srgbClr val="000000"/>
                </a:solidFill>
                <a:latin typeface="Lexend"/>
                <a:ea typeface="Lexend"/>
                <a:cs typeface="Lexend"/>
                <a:sym typeface="Lexend"/>
              </a:rPr>
              <a:t>8287 ≈</a:t>
            </a:r>
            <a:r>
              <a:rPr lang="en-GB" sz="1200">
                <a:solidFill>
                  <a:srgbClr val="000000"/>
                </a:solidFill>
                <a:latin typeface="Kalam"/>
                <a:ea typeface="Kalam"/>
                <a:cs typeface="Kalam"/>
                <a:sym typeface="Kalam"/>
              </a:rPr>
              <a:t> 8000         R</a:t>
            </a:r>
            <a:r>
              <a:rPr lang="en-GB" sz="1200">
                <a:latin typeface="Lexend"/>
                <a:ea typeface="Lexend"/>
                <a:cs typeface="Lexend"/>
                <a:sym typeface="Lexend"/>
              </a:rPr>
              <a:t> </a:t>
            </a:r>
            <a:endParaRPr sz="1200">
              <a:solidFill>
                <a:srgbClr val="000000"/>
              </a:solidFill>
              <a:latin typeface="Kalam"/>
              <a:ea typeface="Kalam"/>
              <a:cs typeface="Kalam"/>
              <a:sym typeface="Kalam"/>
            </a:endParaRPr>
          </a:p>
          <a:p>
            <a:pPr indent="0" lvl="0" marL="0" rtl="0" algn="l">
              <a:spcBef>
                <a:spcPts val="0"/>
              </a:spcBef>
              <a:spcAft>
                <a:spcPts val="0"/>
              </a:spcAft>
              <a:buClr>
                <a:srgbClr val="000000"/>
              </a:buClr>
              <a:buSzPts val="1100"/>
              <a:buFont typeface="Arial"/>
              <a:buNone/>
            </a:pPr>
            <a:r>
              <a:rPr lang="en-GB" sz="1200">
                <a:solidFill>
                  <a:srgbClr val="000000"/>
                </a:solidFill>
                <a:latin typeface="Lexend"/>
                <a:ea typeface="Lexend"/>
                <a:cs typeface="Lexend"/>
                <a:sym typeface="Lexend"/>
              </a:rPr>
              <a:t>11)   34 999 ≈</a:t>
            </a:r>
            <a:r>
              <a:rPr lang="en-GB" sz="1200">
                <a:solidFill>
                  <a:srgbClr val="000000"/>
                </a:solidFill>
                <a:latin typeface="Kalam"/>
                <a:ea typeface="Kalam"/>
                <a:cs typeface="Kalam"/>
                <a:sym typeface="Kalam"/>
              </a:rPr>
              <a:t> 30 000    D</a:t>
            </a:r>
            <a:endParaRPr sz="1200">
              <a:solidFill>
                <a:srgbClr val="000000"/>
              </a:solidFill>
              <a:latin typeface="Lexend"/>
              <a:ea typeface="Lexend"/>
              <a:cs typeface="Lexend"/>
              <a:sym typeface="Lexend"/>
            </a:endParaRPr>
          </a:p>
          <a:p>
            <a:pPr indent="0" lvl="0" marL="0" rtl="0" algn="l">
              <a:spcBef>
                <a:spcPts val="0"/>
              </a:spcBef>
              <a:spcAft>
                <a:spcPts val="0"/>
              </a:spcAft>
              <a:buNone/>
            </a:pPr>
            <a:r>
              <a:rPr lang="en-GB" sz="1200">
                <a:solidFill>
                  <a:srgbClr val="000000"/>
                </a:solidFill>
                <a:latin typeface="Lexend"/>
                <a:ea typeface="Lexend"/>
                <a:cs typeface="Lexend"/>
                <a:sym typeface="Lexend"/>
              </a:rPr>
              <a:t>12)  1560 ≈</a:t>
            </a:r>
            <a:r>
              <a:rPr lang="en-GB" sz="1200">
                <a:solidFill>
                  <a:srgbClr val="000000"/>
                </a:solidFill>
                <a:latin typeface="Kalam"/>
                <a:ea typeface="Kalam"/>
                <a:cs typeface="Kalam"/>
                <a:sym typeface="Kalam"/>
              </a:rPr>
              <a:t> 2000         0 </a:t>
            </a:r>
            <a:r>
              <a:rPr lang="en-GB" sz="1200">
                <a:solidFill>
                  <a:srgbClr val="000000"/>
                </a:solidFill>
                <a:latin typeface="Lexend"/>
                <a:ea typeface="Lexend"/>
                <a:cs typeface="Lexend"/>
                <a:sym typeface="Lexend"/>
              </a:rPr>
              <a:t>  </a:t>
            </a:r>
            <a:endParaRPr sz="1200">
              <a:solidFill>
                <a:srgbClr val="000000"/>
              </a:solidFill>
              <a:latin typeface="Kalam"/>
              <a:ea typeface="Kalam"/>
              <a:cs typeface="Kalam"/>
              <a:sym typeface="Kalam"/>
            </a:endParaRPr>
          </a:p>
          <a:p>
            <a:pPr indent="0" lvl="0" marL="0" rtl="0" algn="l">
              <a:spcBef>
                <a:spcPts val="0"/>
              </a:spcBef>
              <a:spcAft>
                <a:spcPts val="0"/>
              </a:spcAft>
              <a:buClr>
                <a:srgbClr val="000000"/>
              </a:buClr>
              <a:buSzPts val="1100"/>
              <a:buFont typeface="Arial"/>
              <a:buNone/>
            </a:pPr>
            <a:r>
              <a:rPr lang="en-GB" sz="1200">
                <a:solidFill>
                  <a:srgbClr val="000000"/>
                </a:solidFill>
                <a:latin typeface="Lexend"/>
                <a:ea typeface="Lexend"/>
                <a:cs typeface="Lexend"/>
                <a:sym typeface="Lexend"/>
              </a:rPr>
              <a:t>13)   25 873 ≈</a:t>
            </a:r>
            <a:r>
              <a:rPr lang="en-GB" sz="1200">
                <a:solidFill>
                  <a:srgbClr val="000000"/>
                </a:solidFill>
                <a:latin typeface="Kalam"/>
                <a:ea typeface="Kalam"/>
                <a:cs typeface="Kalam"/>
                <a:sym typeface="Kalam"/>
              </a:rPr>
              <a:t> 30 000     D</a:t>
            </a:r>
            <a:endParaRPr sz="1200">
              <a:solidFill>
                <a:srgbClr val="000000"/>
              </a:solidFill>
              <a:latin typeface="Kalam"/>
              <a:ea typeface="Kalam"/>
              <a:cs typeface="Kalam"/>
              <a:sym typeface="Kalam"/>
            </a:endParaRPr>
          </a:p>
        </p:txBody>
      </p:sp>
      <p:sp>
        <p:nvSpPr>
          <p:cNvPr id="234" name="Google Shape;234;p21"/>
          <p:cNvSpPr/>
          <p:nvPr/>
        </p:nvSpPr>
        <p:spPr>
          <a:xfrm>
            <a:off x="482227" y="4013826"/>
            <a:ext cx="1743600" cy="210300"/>
          </a:xfrm>
          <a:prstGeom prst="roundRect">
            <a:avLst>
              <a:gd fmla="val 16667" name="adj"/>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235" name="Google Shape;235;p21"/>
          <p:cNvSpPr txBox="1"/>
          <p:nvPr/>
        </p:nvSpPr>
        <p:spPr>
          <a:xfrm>
            <a:off x="4790452" y="4452571"/>
            <a:ext cx="22890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Kalam"/>
                <a:ea typeface="Kalam"/>
                <a:cs typeface="Kalam"/>
                <a:sym typeface="Kalam"/>
              </a:rPr>
              <a:t>‘I know, I rounded them up!’</a:t>
            </a:r>
            <a:endParaRPr sz="1200">
              <a:solidFill>
                <a:srgbClr val="000000"/>
              </a:solidFill>
              <a:latin typeface="Kalam"/>
              <a:ea typeface="Kalam"/>
              <a:cs typeface="Kalam"/>
              <a:sym typeface="Kalam"/>
            </a:endParaRPr>
          </a:p>
        </p:txBody>
      </p:sp>
      <p:sp>
        <p:nvSpPr>
          <p:cNvPr id="236" name="Google Shape;236;p21"/>
          <p:cNvSpPr txBox="1"/>
          <p:nvPr/>
        </p:nvSpPr>
        <p:spPr>
          <a:xfrm>
            <a:off x="468000" y="4991300"/>
            <a:ext cx="6621300" cy="29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2)	What values can the missing digit take?</a:t>
            </a:r>
            <a:endParaRPr sz="1200">
              <a:solidFill>
                <a:srgbClr val="000000"/>
              </a:solidFill>
              <a:latin typeface="Lexend"/>
              <a:ea typeface="Lexend"/>
              <a:cs typeface="Lexend"/>
              <a:sym typeface="Lexend"/>
            </a:endParaRPr>
          </a:p>
          <a:p>
            <a:pPr indent="-304800" lvl="0" marL="457200" rtl="0" algn="l">
              <a:spcBef>
                <a:spcPts val="100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4?90 = 4000 (1 s.f.)</a:t>
            </a:r>
            <a:endParaRPr sz="1200">
              <a:solidFill>
                <a:srgbClr val="000000"/>
              </a:solidFill>
              <a:latin typeface="Lexend"/>
              <a:ea typeface="Lexend"/>
              <a:cs typeface="Lexend"/>
              <a:sym typeface="Lexend"/>
            </a:endParaRPr>
          </a:p>
          <a:p>
            <a:pPr indent="0" lvl="0" marL="457200" rtl="0" algn="l">
              <a:spcBef>
                <a:spcPts val="1000"/>
              </a:spcBef>
              <a:spcAft>
                <a:spcPts val="0"/>
              </a:spcAft>
              <a:buNone/>
            </a:pPr>
            <a:r>
              <a:rPr lang="en-GB" sz="1200">
                <a:solidFill>
                  <a:srgbClr val="000000"/>
                </a:solidFill>
                <a:latin typeface="Kalam"/>
                <a:ea typeface="Kalam"/>
                <a:cs typeface="Kalam"/>
                <a:sym typeface="Kalam"/>
              </a:rPr>
              <a:t>0, 1, 2, 3 or 4 </a:t>
            </a:r>
            <a:endParaRPr sz="1200">
              <a:solidFill>
                <a:srgbClr val="000000"/>
              </a:solidFill>
              <a:latin typeface="Kalam"/>
              <a:ea typeface="Kalam"/>
              <a:cs typeface="Kalam"/>
              <a:sym typeface="Kalam"/>
            </a:endParaRPr>
          </a:p>
          <a:p>
            <a:pPr indent="-304800" lvl="0" marL="457200" rtl="0" algn="l">
              <a:spcBef>
                <a:spcPts val="100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9?12 = 10 000  (1 s.f.)</a:t>
            </a:r>
            <a:endParaRPr sz="1200">
              <a:solidFill>
                <a:srgbClr val="000000"/>
              </a:solidFill>
              <a:latin typeface="Lexend"/>
              <a:ea typeface="Lexend"/>
              <a:cs typeface="Lexend"/>
              <a:sym typeface="Lexend"/>
            </a:endParaRPr>
          </a:p>
          <a:p>
            <a:pPr indent="0" lvl="0" marL="0" rtl="0" algn="l">
              <a:spcBef>
                <a:spcPts val="1000"/>
              </a:spcBef>
              <a:spcAft>
                <a:spcPts val="0"/>
              </a:spcAft>
              <a:buNone/>
            </a:pPr>
            <a:r>
              <a:rPr lang="en-GB" sz="1200">
                <a:solidFill>
                  <a:srgbClr val="000000"/>
                </a:solidFill>
                <a:latin typeface="Lexend"/>
                <a:ea typeface="Lexend"/>
                <a:cs typeface="Lexend"/>
                <a:sym typeface="Lexend"/>
              </a:rPr>
              <a:t>	</a:t>
            </a:r>
            <a:r>
              <a:rPr lang="en-GB" sz="1200">
                <a:solidFill>
                  <a:srgbClr val="000000"/>
                </a:solidFill>
                <a:latin typeface="Kalam"/>
                <a:ea typeface="Kalam"/>
                <a:cs typeface="Kalam"/>
                <a:sym typeface="Kalam"/>
              </a:rPr>
              <a:t>5, 6, 7, 8, or 9</a:t>
            </a:r>
            <a:endParaRPr sz="1200">
              <a:solidFill>
                <a:srgbClr val="000000"/>
              </a:solidFill>
              <a:latin typeface="Kalam"/>
              <a:ea typeface="Kalam"/>
              <a:cs typeface="Kalam"/>
              <a:sym typeface="Kalam"/>
            </a:endParaRPr>
          </a:p>
          <a:p>
            <a:pPr indent="-304800" lvl="0" marL="457200" rtl="0" algn="l">
              <a:spcBef>
                <a:spcPts val="100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34 ?90 = 30 000 (1 s.f.)</a:t>
            </a:r>
            <a:endParaRPr sz="1200">
              <a:solidFill>
                <a:srgbClr val="000000"/>
              </a:solidFill>
              <a:latin typeface="Lexend"/>
              <a:ea typeface="Lexend"/>
              <a:cs typeface="Lexend"/>
              <a:sym typeface="Lexend"/>
            </a:endParaRPr>
          </a:p>
          <a:p>
            <a:pPr indent="0" lvl="0" marL="457200" rtl="0" algn="l">
              <a:spcBef>
                <a:spcPts val="1000"/>
              </a:spcBef>
              <a:spcAft>
                <a:spcPts val="0"/>
              </a:spcAft>
              <a:buNone/>
            </a:pPr>
            <a:r>
              <a:rPr lang="en-GB" sz="1200">
                <a:solidFill>
                  <a:srgbClr val="000000"/>
                </a:solidFill>
                <a:latin typeface="Kalam"/>
                <a:ea typeface="Kalam"/>
                <a:cs typeface="Kalam"/>
                <a:sym typeface="Kalam"/>
              </a:rPr>
              <a:t>any digit</a:t>
            </a:r>
            <a:endParaRPr sz="1200">
              <a:solidFill>
                <a:srgbClr val="000000"/>
              </a:solidFill>
              <a:latin typeface="Kalam"/>
              <a:ea typeface="Kalam"/>
              <a:cs typeface="Kalam"/>
              <a:sym typeface="Kalam"/>
            </a:endParaRPr>
          </a:p>
          <a:p>
            <a:pPr indent="-304800" lvl="0" marL="457200" rtl="0" algn="l">
              <a:spcBef>
                <a:spcPts val="100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678? = 7000 (1 s.f.)</a:t>
            </a:r>
            <a:endParaRPr sz="1200">
              <a:solidFill>
                <a:srgbClr val="000000"/>
              </a:solidFill>
              <a:latin typeface="Lexend"/>
              <a:ea typeface="Lexend"/>
              <a:cs typeface="Lexend"/>
              <a:sym typeface="Lexend"/>
            </a:endParaRPr>
          </a:p>
          <a:p>
            <a:pPr indent="0" lvl="0" marL="457200" rtl="0" algn="l">
              <a:spcBef>
                <a:spcPts val="1000"/>
              </a:spcBef>
              <a:spcAft>
                <a:spcPts val="1000"/>
              </a:spcAft>
              <a:buNone/>
            </a:pPr>
            <a:r>
              <a:rPr lang="en-GB" sz="1200">
                <a:solidFill>
                  <a:srgbClr val="000000"/>
                </a:solidFill>
                <a:latin typeface="Kalam"/>
                <a:ea typeface="Kalam"/>
                <a:cs typeface="Kalam"/>
                <a:sym typeface="Kalam"/>
              </a:rPr>
              <a:t>any digit</a:t>
            </a:r>
            <a:endParaRPr sz="1200">
              <a:solidFill>
                <a:srgbClr val="000000"/>
              </a:solidFill>
              <a:latin typeface="Kalam"/>
              <a:ea typeface="Kalam"/>
              <a:cs typeface="Kalam"/>
              <a:sym typeface="Kalam"/>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orksheet Answers September 2023">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LD">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