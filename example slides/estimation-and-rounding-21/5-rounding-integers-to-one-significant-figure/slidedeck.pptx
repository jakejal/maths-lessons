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1769C70-3405-48C6-B967-3B8FA869652B}">
  <a:tblStyle styleId="{A1769C70-3405-48C6-B967-3B8FA869652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1" Type="http://schemas.openxmlformats.org/officeDocument/2006/relationships/slide" Target="slides/slide3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2b002820d3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2b002820d3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2a93c6b894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2a93c6b894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2acea5fe41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3" name="Google Shape;783;g2acea5fe41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2acea5fe419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2acea5fe41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2acea5fe419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2acea5fe419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2b1e54098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2b1e54098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2acea5fe419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2acea5fe419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2acea5fe419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3" name="Google Shape;853;g2acea5fe419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2acea5fe419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4" name="Google Shape;864;g2acea5fe419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2acea5fe41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1" name="Google Shape;881;g2acea5fe41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2acea5fe419_0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0" name="Google Shape;890;g2acea5fe419_0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2acea5fe419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2acea5fe419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2acea5fe419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0" name="Google Shape;950;g2acea5fe419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2acea5fe419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5" name="Google Shape;985;g2acea5fe419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2acea5fe419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1" name="Google Shape;1021;g2acea5fe419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2acea5fe419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7" name="Google Shape;1057;g2acea5fe419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2acea5fe419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3" name="Google Shape;1093;g2acea5fe419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2acea5fe419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5" name="Google Shape;1105;g2acea5fe419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2acea5fe419_0_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9" name="Google Shape;1119;g2acea5fe419_0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2acea5fe419_0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1" name="Google Shape;1131;g2acea5fe419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2acea5fe419_0_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9" name="Google Shape;1149;g2acea5fe419_0_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2acea5fe41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6" name="Google Shape;1166;g2acea5fe41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g2add378569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5" name="Google Shape;1175;g2add37856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2ae1e6599c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9" name="Google Shape;1209;g2ae1e6599c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1" name="Shape 1241"/>
        <p:cNvGrpSpPr/>
        <p:nvPr/>
      </p:nvGrpSpPr>
      <p:grpSpPr>
        <a:xfrm>
          <a:off x="0" y="0"/>
          <a:ext cx="0" cy="0"/>
          <a:chOff x="0" y="0"/>
          <a:chExt cx="0" cy="0"/>
        </a:xfrm>
      </p:grpSpPr>
      <p:sp>
        <p:nvSpPr>
          <p:cNvPr id="1242" name="Google Shape;1242;g2ae1e6599c5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3" name="Google Shape;1243;g2ae1e6599c5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2add3785690_0_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6" name="Google Shape;1256;g2add3785690_0_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g2add3785690_0_9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2" name="Google Shape;1282;g2add3785690_0_9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g2add3785690_0_10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8" name="Google Shape;1328;g2add3785690_0_10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5" name="Shape 1345"/>
        <p:cNvGrpSpPr/>
        <p:nvPr/>
      </p:nvGrpSpPr>
      <p:grpSpPr>
        <a:xfrm>
          <a:off x="0" y="0"/>
          <a:ext cx="0" cy="0"/>
          <a:chOff x="0" y="0"/>
          <a:chExt cx="0" cy="0"/>
        </a:xfrm>
      </p:grpSpPr>
      <p:sp>
        <p:nvSpPr>
          <p:cNvPr id="1346" name="Google Shape;1346;g2ae1e6599c5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7" name="Google Shape;1347;g2ae1e6599c5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1" name="Shape 1351"/>
        <p:cNvGrpSpPr/>
        <p:nvPr/>
      </p:nvGrpSpPr>
      <p:grpSpPr>
        <a:xfrm>
          <a:off x="0" y="0"/>
          <a:ext cx="0" cy="0"/>
          <a:chOff x="0" y="0"/>
          <a:chExt cx="0" cy="0"/>
        </a:xfrm>
      </p:grpSpPr>
      <p:sp>
        <p:nvSpPr>
          <p:cNvPr id="1352" name="Google Shape;1352;g2add3785690_0_10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3" name="Google Shape;1353;g2add3785690_0_10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1" name="Shape 1371"/>
        <p:cNvGrpSpPr/>
        <p:nvPr/>
      </p:nvGrpSpPr>
      <p:grpSpPr>
        <a:xfrm>
          <a:off x="0" y="0"/>
          <a:ext cx="0" cy="0"/>
          <a:chOff x="0" y="0"/>
          <a:chExt cx="0" cy="0"/>
        </a:xfrm>
      </p:grpSpPr>
      <p:sp>
        <p:nvSpPr>
          <p:cNvPr id="1372" name="Google Shape;1372;g2ae1e6599c5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3" name="Google Shape;1373;g2ae1e6599c5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9" name="Google Shape;1379;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5" name="Shape 1385"/>
        <p:cNvGrpSpPr/>
        <p:nvPr/>
      </p:nvGrpSpPr>
      <p:grpSpPr>
        <a:xfrm>
          <a:off x="0" y="0"/>
          <a:ext cx="0" cy="0"/>
          <a:chOff x="0" y="0"/>
          <a:chExt cx="0" cy="0"/>
        </a:xfrm>
      </p:grpSpPr>
      <p:sp>
        <p:nvSpPr>
          <p:cNvPr id="1386" name="Google Shape;1386;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7" name="Google Shape;1387;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8.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1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20.pn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6.png"/><Relationship Id="rId4" Type="http://schemas.openxmlformats.org/officeDocument/2006/relationships/image" Target="../media/image17.png"/><Relationship Id="rId5" Type="http://schemas.openxmlformats.org/officeDocument/2006/relationships/image" Target="../media/image21.png"/><Relationship Id="rId6" Type="http://schemas.openxmlformats.org/officeDocument/2006/relationships/image" Target="../media/image19.png"/><Relationship Id="rId7" Type="http://schemas.openxmlformats.org/officeDocument/2006/relationships/image" Target="../media/image2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2.png"/><Relationship Id="rId4" Type="http://schemas.openxmlformats.org/officeDocument/2006/relationships/image" Target="../media/image71.png"/><Relationship Id="rId5" Type="http://schemas.openxmlformats.org/officeDocument/2006/relationships/image" Target="../media/image25.png"/><Relationship Id="rId6" Type="http://schemas.openxmlformats.org/officeDocument/2006/relationships/image" Target="../media/image33.png"/><Relationship Id="rId7" Type="http://schemas.openxmlformats.org/officeDocument/2006/relationships/image" Target="../media/image1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71.png"/><Relationship Id="rId4" Type="http://schemas.openxmlformats.org/officeDocument/2006/relationships/image" Target="../media/image15.png"/><Relationship Id="rId9" Type="http://schemas.openxmlformats.org/officeDocument/2006/relationships/image" Target="../media/image14.png"/><Relationship Id="rId5" Type="http://schemas.openxmlformats.org/officeDocument/2006/relationships/image" Target="../media/image22.png"/><Relationship Id="rId6" Type="http://schemas.openxmlformats.org/officeDocument/2006/relationships/image" Target="../media/image34.png"/><Relationship Id="rId7" Type="http://schemas.openxmlformats.org/officeDocument/2006/relationships/image" Target="../media/image25.png"/><Relationship Id="rId8" Type="http://schemas.openxmlformats.org/officeDocument/2006/relationships/image" Target="../media/image3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71.png"/><Relationship Id="rId4" Type="http://schemas.openxmlformats.org/officeDocument/2006/relationships/image" Target="../media/image29.png"/><Relationship Id="rId11" Type="http://schemas.openxmlformats.org/officeDocument/2006/relationships/image" Target="../media/image14.png"/><Relationship Id="rId10" Type="http://schemas.openxmlformats.org/officeDocument/2006/relationships/image" Target="../media/image38.png"/><Relationship Id="rId9" Type="http://schemas.openxmlformats.org/officeDocument/2006/relationships/image" Target="../media/image33.png"/><Relationship Id="rId5" Type="http://schemas.openxmlformats.org/officeDocument/2006/relationships/image" Target="../media/image15.png"/><Relationship Id="rId6" Type="http://schemas.openxmlformats.org/officeDocument/2006/relationships/image" Target="../media/image22.png"/><Relationship Id="rId7" Type="http://schemas.openxmlformats.org/officeDocument/2006/relationships/image" Target="../media/image34.png"/><Relationship Id="rId8" Type="http://schemas.openxmlformats.org/officeDocument/2006/relationships/image" Target="../media/image2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9.png"/><Relationship Id="rId4" Type="http://schemas.openxmlformats.org/officeDocument/2006/relationships/image" Target="../media/image4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9.png"/><Relationship Id="rId4"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9.png"/><Relationship Id="rId4" Type="http://schemas.openxmlformats.org/officeDocument/2006/relationships/image" Target="../media/image4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9.png"/><Relationship Id="rId4" Type="http://schemas.openxmlformats.org/officeDocument/2006/relationships/image" Target="../media/image4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5.png"/><Relationship Id="rId4" Type="http://schemas.openxmlformats.org/officeDocument/2006/relationships/image" Target="../media/image42.png"/><Relationship Id="rId5" Type="http://schemas.openxmlformats.org/officeDocument/2006/relationships/image" Target="../media/image4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9.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9.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9.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9.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8.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8.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8.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8.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615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901925" y="9534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                                          to </a:t>
            </a:r>
            <a:r>
              <a:rPr lang="en-GB" sz="1200">
                <a:solidFill>
                  <a:srgbClr val="000000"/>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650916" y="16444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7" name="Google Shape;107;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8" name="Shape 108"/>
        <p:cNvGrpSpPr/>
        <p:nvPr/>
      </p:nvGrpSpPr>
      <p:grpSpPr>
        <a:xfrm>
          <a:off x="0" y="0"/>
          <a:ext cx="0" cy="0"/>
          <a:chOff x="0" y="0"/>
          <a:chExt cx="0" cy="0"/>
        </a:xfrm>
      </p:grpSpPr>
      <p:sp>
        <p:nvSpPr>
          <p:cNvPr id="109" name="Google Shape;109;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1" name="Google Shape;111;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2" name="Google Shape;112;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3" name="Google Shape;113;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4" name="Google Shape;114;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5" name="Google Shape;115;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6" name="Google Shape;116;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7" name="Google Shape;117;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8" name="Shape 118"/>
        <p:cNvGrpSpPr/>
        <p:nvPr/>
      </p:nvGrpSpPr>
      <p:grpSpPr>
        <a:xfrm>
          <a:off x="0" y="0"/>
          <a:ext cx="0" cy="0"/>
          <a:chOff x="0" y="0"/>
          <a:chExt cx="0" cy="0"/>
        </a:xfrm>
      </p:grpSpPr>
      <p:sp>
        <p:nvSpPr>
          <p:cNvPr id="119" name="Google Shape;119;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1" name="Google Shape;121;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2" name="Google Shape;122;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3" name="Google Shape;123;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4" name="Google Shape;124;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5" name="Google Shape;125;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6" name="Google Shape;126;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7" name="Google Shape;127;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8" name="Google Shape;128;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9" name="Google Shape;129;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30" name="Shape 130"/>
        <p:cNvGrpSpPr/>
        <p:nvPr/>
      </p:nvGrpSpPr>
      <p:grpSpPr>
        <a:xfrm>
          <a:off x="0" y="0"/>
          <a:ext cx="0" cy="0"/>
          <a:chOff x="0" y="0"/>
          <a:chExt cx="0" cy="0"/>
        </a:xfrm>
      </p:grpSpPr>
      <p:sp>
        <p:nvSpPr>
          <p:cNvPr id="131" name="Google Shape;131;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 name="Google Shape;132;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3" name="Google Shape;133;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4" name="Google Shape;134;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6" name="Google Shape;136;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7" name="Google Shape;137;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8" name="Google Shape;138;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9" name="Google Shape;139;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0" name="Google Shape;140;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2" name="Google Shape;142;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4" name="Shape 144"/>
        <p:cNvGrpSpPr/>
        <p:nvPr/>
      </p:nvGrpSpPr>
      <p:grpSpPr>
        <a:xfrm>
          <a:off x="0" y="0"/>
          <a:ext cx="0" cy="0"/>
          <a:chOff x="0" y="0"/>
          <a:chExt cx="0" cy="0"/>
        </a:xfrm>
      </p:grpSpPr>
      <p:sp>
        <p:nvSpPr>
          <p:cNvPr id="145" name="Google Shape;145;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 name="Google Shape;146;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7" name="Google Shape;147;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8" name="Google Shape;148;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9" name="Google Shape;149;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0" name="Google Shape;150;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2" name="Shape 152"/>
        <p:cNvGrpSpPr/>
        <p:nvPr/>
      </p:nvGrpSpPr>
      <p:grpSpPr>
        <a:xfrm>
          <a:off x="0" y="0"/>
          <a:ext cx="0" cy="0"/>
          <a:chOff x="0" y="0"/>
          <a:chExt cx="0" cy="0"/>
        </a:xfrm>
      </p:grpSpPr>
      <p:sp>
        <p:nvSpPr>
          <p:cNvPr id="153" name="Google Shape;153;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 name="Google Shape;154;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5" name="Google Shape;155;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6" name="Google Shape;156;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7" name="Google Shape;157;p17"/>
          <p:cNvCxnSpPr>
            <a:endCxn id="15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9" name="Google Shape;159;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0" name="Google Shape;160;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1" name="Google Shape;161;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2" name="Google Shape;162;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3" name="Google Shape;163;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4" name="Google Shape;164;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5" name="Shape 165"/>
        <p:cNvGrpSpPr/>
        <p:nvPr/>
      </p:nvGrpSpPr>
      <p:grpSpPr>
        <a:xfrm>
          <a:off x="0" y="0"/>
          <a:ext cx="0" cy="0"/>
          <a:chOff x="0" y="0"/>
          <a:chExt cx="0" cy="0"/>
        </a:xfrm>
      </p:grpSpPr>
      <p:pic>
        <p:nvPicPr>
          <p:cNvPr id="166" name="Google Shape;166;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7" name="Google Shape;167;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8" name="Google Shape;168;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9" name="Google Shape;169;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0" name="Google Shape;170;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1" name="Google Shape;171;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2" name="Google Shape;172;p18"/>
          <p:cNvCxnSpPr>
            <a:endCxn id="17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3" name="Google Shape;173;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4" name="Google Shape;174;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5" name="Google Shape;175;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7" name="Google Shape;177;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8" name="Google Shape;178;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9" name="Google Shape;179;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0" name="Google Shape;180;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1" name="Google Shape;181;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2" name="Google Shape;182;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3" name="Shape 183"/>
        <p:cNvGrpSpPr/>
        <p:nvPr/>
      </p:nvGrpSpPr>
      <p:grpSpPr>
        <a:xfrm>
          <a:off x="0" y="0"/>
          <a:ext cx="0" cy="0"/>
          <a:chOff x="0" y="0"/>
          <a:chExt cx="0" cy="0"/>
        </a:xfrm>
      </p:grpSpPr>
      <p:pic>
        <p:nvPicPr>
          <p:cNvPr id="184" name="Google Shape;184;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5" name="Google Shape;185;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6" name="Google Shape;186;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7" name="Google Shape;187;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8" name="Google Shape;188;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9" name="Google Shape;189;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0" name="Google Shape;190;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1" name="Google Shape;191;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2" name="Google Shape;192;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3" name="Google Shape;193;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4" name="Google Shape;194;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5" name="Google Shape;195;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6" name="Google Shape;196;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9" name="Google Shape;199;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0" name="Google Shape;200;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1" name="Google Shape;201;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 name="Google Shape;202;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3" name="Google Shape;203;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4" name="Google Shape;204;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5" name="Shape 205"/>
        <p:cNvGrpSpPr/>
        <p:nvPr/>
      </p:nvGrpSpPr>
      <p:grpSpPr>
        <a:xfrm>
          <a:off x="0" y="0"/>
          <a:ext cx="0" cy="0"/>
          <a:chOff x="0" y="0"/>
          <a:chExt cx="0" cy="0"/>
        </a:xfrm>
      </p:grpSpPr>
      <p:pic>
        <p:nvPicPr>
          <p:cNvPr id="206" name="Google Shape;206;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7" name="Google Shape;207;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9" name="Google Shape;209;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0" name="Google Shape;210;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1" name="Google Shape;211;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2" name="Shape 212"/>
        <p:cNvGrpSpPr/>
        <p:nvPr/>
      </p:nvGrpSpPr>
      <p:grpSpPr>
        <a:xfrm>
          <a:off x="0" y="0"/>
          <a:ext cx="0" cy="0"/>
          <a:chOff x="0" y="0"/>
          <a:chExt cx="0" cy="0"/>
        </a:xfrm>
      </p:grpSpPr>
      <p:pic>
        <p:nvPicPr>
          <p:cNvPr id="213" name="Google Shape;213;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4" name="Google Shape;214;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6" name="Google Shape;216;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7" name="Google Shape;217;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8" name="Google Shape;218;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9" name="Shape 219"/>
        <p:cNvGrpSpPr/>
        <p:nvPr/>
      </p:nvGrpSpPr>
      <p:grpSpPr>
        <a:xfrm>
          <a:off x="0" y="0"/>
          <a:ext cx="0" cy="0"/>
          <a:chOff x="0" y="0"/>
          <a:chExt cx="0" cy="0"/>
        </a:xfrm>
      </p:grpSpPr>
      <p:pic>
        <p:nvPicPr>
          <p:cNvPr id="220" name="Google Shape;220;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1" name="Google Shape;221;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3" name="Google Shape;223;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4" name="Google Shape;224;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5" name="Google Shape;225;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6" name="Shape 226"/>
        <p:cNvGrpSpPr/>
        <p:nvPr/>
      </p:nvGrpSpPr>
      <p:grpSpPr>
        <a:xfrm>
          <a:off x="0" y="0"/>
          <a:ext cx="0" cy="0"/>
          <a:chOff x="0" y="0"/>
          <a:chExt cx="0" cy="0"/>
        </a:xfrm>
      </p:grpSpPr>
      <p:pic>
        <p:nvPicPr>
          <p:cNvPr id="227" name="Google Shape;227;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8" name="Google Shape;228;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0" name="Google Shape;230;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1" name="Google Shape;231;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2" name="Google Shape;232;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3" name="Shape 233"/>
        <p:cNvGrpSpPr/>
        <p:nvPr/>
      </p:nvGrpSpPr>
      <p:grpSpPr>
        <a:xfrm>
          <a:off x="0" y="0"/>
          <a:ext cx="0" cy="0"/>
          <a:chOff x="0" y="0"/>
          <a:chExt cx="0" cy="0"/>
        </a:xfrm>
      </p:grpSpPr>
      <p:sp>
        <p:nvSpPr>
          <p:cNvPr id="234" name="Google Shape;234;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5" name="Google Shape;235;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6" name="Google Shape;236;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9" name="Google Shape;239;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0" name="Google Shape;240;p24"/>
          <p:cNvGrpSpPr/>
          <p:nvPr/>
        </p:nvGrpSpPr>
        <p:grpSpPr>
          <a:xfrm>
            <a:off x="7834231" y="1285"/>
            <a:ext cx="828900" cy="576065"/>
            <a:chOff x="7801496" y="1285"/>
            <a:chExt cx="828900" cy="576065"/>
          </a:xfrm>
        </p:grpSpPr>
        <p:pic>
          <p:nvPicPr>
            <p:cNvPr id="241" name="Google Shape;241;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2" name="Google Shape;242;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3" name="Google Shape;243;p24"/>
          <p:cNvGrpSpPr/>
          <p:nvPr/>
        </p:nvGrpSpPr>
        <p:grpSpPr>
          <a:xfrm>
            <a:off x="8635663" y="1285"/>
            <a:ext cx="499700" cy="576065"/>
            <a:chOff x="8635663" y="1285"/>
            <a:chExt cx="499700" cy="576065"/>
          </a:xfrm>
        </p:grpSpPr>
        <p:pic>
          <p:nvPicPr>
            <p:cNvPr id="244" name="Google Shape;244;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5" name="Google Shape;245;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6" name="Shape 246"/>
        <p:cNvGrpSpPr/>
        <p:nvPr/>
      </p:nvGrpSpPr>
      <p:grpSpPr>
        <a:xfrm>
          <a:off x="0" y="0"/>
          <a:ext cx="0" cy="0"/>
          <a:chOff x="0" y="0"/>
          <a:chExt cx="0" cy="0"/>
        </a:xfrm>
      </p:grpSpPr>
      <p:sp>
        <p:nvSpPr>
          <p:cNvPr id="247" name="Google Shape;247;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8" name="Google Shape;248;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9" name="Google Shape;249;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2" name="Google Shape;252;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3" name="Google Shape;253;p25"/>
          <p:cNvGrpSpPr/>
          <p:nvPr/>
        </p:nvGrpSpPr>
        <p:grpSpPr>
          <a:xfrm>
            <a:off x="7834231" y="1285"/>
            <a:ext cx="828900" cy="576065"/>
            <a:chOff x="7801496" y="1285"/>
            <a:chExt cx="828900" cy="576065"/>
          </a:xfrm>
        </p:grpSpPr>
        <p:pic>
          <p:nvPicPr>
            <p:cNvPr id="254" name="Google Shape;254;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5" name="Google Shape;255;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6" name="Google Shape;256;p25"/>
          <p:cNvGrpSpPr/>
          <p:nvPr/>
        </p:nvGrpSpPr>
        <p:grpSpPr>
          <a:xfrm>
            <a:off x="8635663" y="1285"/>
            <a:ext cx="499700" cy="576065"/>
            <a:chOff x="8635663" y="1285"/>
            <a:chExt cx="499700" cy="576065"/>
          </a:xfrm>
        </p:grpSpPr>
        <p:pic>
          <p:nvPicPr>
            <p:cNvPr id="257" name="Google Shape;257;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8" name="Google Shape;258;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9" name="Shape 259"/>
        <p:cNvGrpSpPr/>
        <p:nvPr/>
      </p:nvGrpSpPr>
      <p:grpSpPr>
        <a:xfrm>
          <a:off x="0" y="0"/>
          <a:ext cx="0" cy="0"/>
          <a:chOff x="0" y="0"/>
          <a:chExt cx="0" cy="0"/>
        </a:xfrm>
      </p:grpSpPr>
      <p:sp>
        <p:nvSpPr>
          <p:cNvPr id="260" name="Google Shape;260;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1" name="Google Shape;261;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2" name="Google Shape;262;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5" name="Google Shape;265;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6" name="Google Shape;266;p26"/>
          <p:cNvGrpSpPr/>
          <p:nvPr/>
        </p:nvGrpSpPr>
        <p:grpSpPr>
          <a:xfrm>
            <a:off x="7834231" y="1285"/>
            <a:ext cx="828900" cy="576065"/>
            <a:chOff x="7801496" y="1285"/>
            <a:chExt cx="828900" cy="576065"/>
          </a:xfrm>
        </p:grpSpPr>
        <p:pic>
          <p:nvPicPr>
            <p:cNvPr id="267" name="Google Shape;267;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8" name="Google Shape;268;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9" name="Google Shape;269;p26"/>
          <p:cNvGrpSpPr/>
          <p:nvPr/>
        </p:nvGrpSpPr>
        <p:grpSpPr>
          <a:xfrm>
            <a:off x="8635663" y="1285"/>
            <a:ext cx="499700" cy="576065"/>
            <a:chOff x="8635663" y="1285"/>
            <a:chExt cx="499700" cy="576065"/>
          </a:xfrm>
        </p:grpSpPr>
        <p:pic>
          <p:nvPicPr>
            <p:cNvPr id="270" name="Google Shape;270;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1" name="Google Shape;271;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2" name="Shape 272"/>
        <p:cNvGrpSpPr/>
        <p:nvPr/>
      </p:nvGrpSpPr>
      <p:grpSpPr>
        <a:xfrm>
          <a:off x="0" y="0"/>
          <a:ext cx="0" cy="0"/>
          <a:chOff x="0" y="0"/>
          <a:chExt cx="0" cy="0"/>
        </a:xfrm>
      </p:grpSpPr>
      <p:sp>
        <p:nvSpPr>
          <p:cNvPr id="273" name="Google Shape;273;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5" name="Google Shape;275;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8" name="Google Shape;278;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9" name="Google Shape;279;p27"/>
          <p:cNvGrpSpPr/>
          <p:nvPr/>
        </p:nvGrpSpPr>
        <p:grpSpPr>
          <a:xfrm>
            <a:off x="7834231" y="1285"/>
            <a:ext cx="828900" cy="576065"/>
            <a:chOff x="7801496" y="1285"/>
            <a:chExt cx="828900" cy="576065"/>
          </a:xfrm>
        </p:grpSpPr>
        <p:pic>
          <p:nvPicPr>
            <p:cNvPr id="280" name="Google Shape;280;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1" name="Google Shape;281;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2" name="Google Shape;282;p27"/>
          <p:cNvGrpSpPr/>
          <p:nvPr/>
        </p:nvGrpSpPr>
        <p:grpSpPr>
          <a:xfrm>
            <a:off x="8635663" y="1285"/>
            <a:ext cx="499700" cy="576065"/>
            <a:chOff x="8635663" y="1285"/>
            <a:chExt cx="499700" cy="576065"/>
          </a:xfrm>
        </p:grpSpPr>
        <p:pic>
          <p:nvPicPr>
            <p:cNvPr id="283" name="Google Shape;283;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4" name="Google Shape;284;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5" name="Shape 285"/>
        <p:cNvGrpSpPr/>
        <p:nvPr/>
      </p:nvGrpSpPr>
      <p:grpSpPr>
        <a:xfrm>
          <a:off x="0" y="0"/>
          <a:ext cx="0" cy="0"/>
          <a:chOff x="0" y="0"/>
          <a:chExt cx="0" cy="0"/>
        </a:xfrm>
      </p:grpSpPr>
      <p:pic>
        <p:nvPicPr>
          <p:cNvPr id="286" name="Google Shape;286;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7" name="Google Shape;287;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8" name="Google Shape;288;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9" name="Google Shape;289;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1" name="Google Shape;291;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2" name="Google Shape;292;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3" name="Google Shape;293;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5" name="Google Shape;295;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6" name="Google Shape;296;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8" name="Google Shape;298;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9" name="Google Shape;299;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0" name="Google Shape;300;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1" name="Google Shape;301;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2" name="Google Shape;302;p28"/>
          <p:cNvGrpSpPr/>
          <p:nvPr/>
        </p:nvGrpSpPr>
        <p:grpSpPr>
          <a:xfrm>
            <a:off x="324128" y="3139463"/>
            <a:ext cx="457200" cy="457200"/>
            <a:chOff x="1020916" y="1442088"/>
            <a:chExt cx="457200" cy="457200"/>
          </a:xfrm>
        </p:grpSpPr>
        <p:pic>
          <p:nvPicPr>
            <p:cNvPr id="303" name="Google Shape;303;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4" name="Google Shape;304;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5" name="Google Shape;305;p28"/>
          <p:cNvGrpSpPr/>
          <p:nvPr/>
        </p:nvGrpSpPr>
        <p:grpSpPr>
          <a:xfrm>
            <a:off x="324128" y="3987825"/>
            <a:ext cx="457200" cy="457200"/>
            <a:chOff x="1020916" y="1442088"/>
            <a:chExt cx="457200" cy="457200"/>
          </a:xfrm>
        </p:grpSpPr>
        <p:pic>
          <p:nvPicPr>
            <p:cNvPr id="306" name="Google Shape;306;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8" name="Shape 308"/>
        <p:cNvGrpSpPr/>
        <p:nvPr/>
      </p:nvGrpSpPr>
      <p:grpSpPr>
        <a:xfrm>
          <a:off x="0" y="0"/>
          <a:ext cx="0" cy="0"/>
          <a:chOff x="0" y="0"/>
          <a:chExt cx="0" cy="0"/>
        </a:xfrm>
      </p:grpSpPr>
      <p:pic>
        <p:nvPicPr>
          <p:cNvPr id="309" name="Google Shape;309;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0" name="Google Shape;310;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2" name="Google Shape;312;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3" name="Google Shape;313;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4" name="Google Shape;314;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5" name="Google Shape;315;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6" name="Google Shape;316;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7" name="Google Shape;317;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8" name="Google Shape;318;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9" name="Google Shape;319;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0" name="Google Shape;320;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1" name="Google Shape;321;p29"/>
          <p:cNvGrpSpPr/>
          <p:nvPr/>
        </p:nvGrpSpPr>
        <p:grpSpPr>
          <a:xfrm>
            <a:off x="324128" y="3139463"/>
            <a:ext cx="457200" cy="457200"/>
            <a:chOff x="1020916" y="1442088"/>
            <a:chExt cx="457200" cy="457200"/>
          </a:xfrm>
        </p:grpSpPr>
        <p:pic>
          <p:nvPicPr>
            <p:cNvPr id="322" name="Google Shape;322;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3" name="Google Shape;323;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4" name="Google Shape;324;p29"/>
          <p:cNvGrpSpPr/>
          <p:nvPr/>
        </p:nvGrpSpPr>
        <p:grpSpPr>
          <a:xfrm>
            <a:off x="324128" y="3987825"/>
            <a:ext cx="457200" cy="457200"/>
            <a:chOff x="1020916" y="1442088"/>
            <a:chExt cx="457200" cy="457200"/>
          </a:xfrm>
        </p:grpSpPr>
        <p:pic>
          <p:nvPicPr>
            <p:cNvPr id="325" name="Google Shape;325;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7" name="Google Shape;327;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8" name="Google Shape;328;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9" name="Google Shape;329;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0" name="Google Shape;330;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1" name="Shape 331"/>
        <p:cNvGrpSpPr/>
        <p:nvPr/>
      </p:nvGrpSpPr>
      <p:grpSpPr>
        <a:xfrm>
          <a:off x="0" y="0"/>
          <a:ext cx="0" cy="0"/>
          <a:chOff x="0" y="0"/>
          <a:chExt cx="0" cy="0"/>
        </a:xfrm>
      </p:grpSpPr>
      <p:pic>
        <p:nvPicPr>
          <p:cNvPr id="332" name="Google Shape;332;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3" name="Google Shape;333;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5" name="Google Shape;335;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6" name="Google Shape;336;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7" name="Google Shape;337;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8" name="Google Shape;33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9" name="Google Shape;339;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0" name="Google Shape;340;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1" name="Google Shape;341;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2" name="Google Shape;342;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3" name="Google Shape;343;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4" name="Google Shape;344;p30"/>
          <p:cNvGrpSpPr/>
          <p:nvPr/>
        </p:nvGrpSpPr>
        <p:grpSpPr>
          <a:xfrm>
            <a:off x="324128" y="3139463"/>
            <a:ext cx="457200" cy="457200"/>
            <a:chOff x="1020916" y="1442088"/>
            <a:chExt cx="457200" cy="457200"/>
          </a:xfrm>
        </p:grpSpPr>
        <p:pic>
          <p:nvPicPr>
            <p:cNvPr id="345" name="Google Shape;345;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6" name="Google Shape;346;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7" name="Google Shape;347;p30"/>
          <p:cNvGrpSpPr/>
          <p:nvPr/>
        </p:nvGrpSpPr>
        <p:grpSpPr>
          <a:xfrm>
            <a:off x="324128" y="3987825"/>
            <a:ext cx="457200" cy="457200"/>
            <a:chOff x="1020916" y="1442088"/>
            <a:chExt cx="457200" cy="457200"/>
          </a:xfrm>
        </p:grpSpPr>
        <p:pic>
          <p:nvPicPr>
            <p:cNvPr id="348" name="Google Shape;348;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0" name="Google Shape;350;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1" name="Google Shape;351;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2" name="Google Shape;352;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3" name="Google Shape;353;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4" name="Shape 354"/>
        <p:cNvGrpSpPr/>
        <p:nvPr/>
      </p:nvGrpSpPr>
      <p:grpSpPr>
        <a:xfrm>
          <a:off x="0" y="0"/>
          <a:ext cx="0" cy="0"/>
          <a:chOff x="0" y="0"/>
          <a:chExt cx="0" cy="0"/>
        </a:xfrm>
      </p:grpSpPr>
      <p:pic>
        <p:nvPicPr>
          <p:cNvPr id="355" name="Google Shape;355;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6" name="Google Shape;356;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8" name="Google Shape;358;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9" name="Google Shape;359;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0" name="Google Shape;360;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1" name="Google Shape;361;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2" name="Google Shape;362;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3" name="Google Shape;363;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4" name="Google Shape;364;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6" name="Google Shape;366;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7" name="Google Shape;367;p31"/>
          <p:cNvGrpSpPr/>
          <p:nvPr/>
        </p:nvGrpSpPr>
        <p:grpSpPr>
          <a:xfrm>
            <a:off x="324128" y="3139463"/>
            <a:ext cx="457200" cy="457200"/>
            <a:chOff x="1020916" y="1442088"/>
            <a:chExt cx="457200" cy="457200"/>
          </a:xfrm>
        </p:grpSpPr>
        <p:pic>
          <p:nvPicPr>
            <p:cNvPr id="368" name="Google Shape;36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9" name="Google Shape;36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0" name="Google Shape;370;p31"/>
          <p:cNvGrpSpPr/>
          <p:nvPr/>
        </p:nvGrpSpPr>
        <p:grpSpPr>
          <a:xfrm>
            <a:off x="324128" y="3987825"/>
            <a:ext cx="457200" cy="457200"/>
            <a:chOff x="1020916" y="1442088"/>
            <a:chExt cx="457200" cy="457200"/>
          </a:xfrm>
        </p:grpSpPr>
        <p:pic>
          <p:nvPicPr>
            <p:cNvPr id="371" name="Google Shape;371;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3" name="Google Shape;373;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4" name="Google Shape;374;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5" name="Google Shape;375;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6" name="Google Shape;376;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7" name="Shape 377"/>
        <p:cNvGrpSpPr/>
        <p:nvPr/>
      </p:nvGrpSpPr>
      <p:grpSpPr>
        <a:xfrm>
          <a:off x="0" y="0"/>
          <a:ext cx="0" cy="0"/>
          <a:chOff x="0" y="0"/>
          <a:chExt cx="0" cy="0"/>
        </a:xfrm>
      </p:grpSpPr>
      <p:pic>
        <p:nvPicPr>
          <p:cNvPr id="378" name="Google Shape;378;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9" name="Google Shape;379;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2" name="Google Shape;382;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3" name="Google Shape;383;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4" name="Google Shape;384;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6" name="Google Shape;386;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7" name="Google Shape;387;p32"/>
          <p:cNvGrpSpPr/>
          <p:nvPr/>
        </p:nvGrpSpPr>
        <p:grpSpPr>
          <a:xfrm>
            <a:off x="323653" y="1804438"/>
            <a:ext cx="457200" cy="457200"/>
            <a:chOff x="1020916" y="1442088"/>
            <a:chExt cx="457200" cy="457200"/>
          </a:xfrm>
        </p:grpSpPr>
        <p:pic>
          <p:nvPicPr>
            <p:cNvPr id="388" name="Google Shape;38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9" name="Google Shape;38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0" name="Google Shape;390;p32"/>
          <p:cNvGrpSpPr/>
          <p:nvPr/>
        </p:nvGrpSpPr>
        <p:grpSpPr>
          <a:xfrm>
            <a:off x="323653" y="2766575"/>
            <a:ext cx="457200" cy="457200"/>
            <a:chOff x="1020916" y="1442088"/>
            <a:chExt cx="457200" cy="457200"/>
          </a:xfrm>
        </p:grpSpPr>
        <p:pic>
          <p:nvPicPr>
            <p:cNvPr id="391" name="Google Shape;39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3" name="Google Shape;393;p32"/>
          <p:cNvGrpSpPr/>
          <p:nvPr/>
        </p:nvGrpSpPr>
        <p:grpSpPr>
          <a:xfrm>
            <a:off x="323641" y="3729038"/>
            <a:ext cx="457200" cy="457200"/>
            <a:chOff x="1020916" y="1442088"/>
            <a:chExt cx="457200" cy="457200"/>
          </a:xfrm>
        </p:grpSpPr>
        <p:pic>
          <p:nvPicPr>
            <p:cNvPr id="394" name="Google Shape;394;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6" name="Shape 396"/>
        <p:cNvGrpSpPr/>
        <p:nvPr/>
      </p:nvGrpSpPr>
      <p:grpSpPr>
        <a:xfrm>
          <a:off x="0" y="0"/>
          <a:ext cx="0" cy="0"/>
          <a:chOff x="0" y="0"/>
          <a:chExt cx="0" cy="0"/>
        </a:xfrm>
      </p:grpSpPr>
      <p:pic>
        <p:nvPicPr>
          <p:cNvPr id="397" name="Google Shape;397;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8" name="Google Shape;398;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1" name="Google Shape;401;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2" name="Google Shape;402;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3" name="Google Shape;403;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5" name="Google Shape;405;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6" name="Google Shape;406;p33"/>
          <p:cNvGrpSpPr/>
          <p:nvPr/>
        </p:nvGrpSpPr>
        <p:grpSpPr>
          <a:xfrm>
            <a:off x="323653" y="1804438"/>
            <a:ext cx="457200" cy="457200"/>
            <a:chOff x="1020916" y="1442088"/>
            <a:chExt cx="457200" cy="457200"/>
          </a:xfrm>
        </p:grpSpPr>
        <p:pic>
          <p:nvPicPr>
            <p:cNvPr id="407" name="Google Shape;407;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8" name="Google Shape;408;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9" name="Google Shape;409;p33"/>
          <p:cNvGrpSpPr/>
          <p:nvPr/>
        </p:nvGrpSpPr>
        <p:grpSpPr>
          <a:xfrm>
            <a:off x="323653" y="2766575"/>
            <a:ext cx="457200" cy="457200"/>
            <a:chOff x="1020916" y="1442088"/>
            <a:chExt cx="457200" cy="457200"/>
          </a:xfrm>
        </p:grpSpPr>
        <p:pic>
          <p:nvPicPr>
            <p:cNvPr id="410" name="Google Shape;410;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2" name="Google Shape;412;p33"/>
          <p:cNvGrpSpPr/>
          <p:nvPr/>
        </p:nvGrpSpPr>
        <p:grpSpPr>
          <a:xfrm>
            <a:off x="323641" y="3729038"/>
            <a:ext cx="457200" cy="457200"/>
            <a:chOff x="1020916" y="1442088"/>
            <a:chExt cx="457200" cy="457200"/>
          </a:xfrm>
        </p:grpSpPr>
        <p:pic>
          <p:nvPicPr>
            <p:cNvPr id="413" name="Google Shape;413;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5" name="Shape 415"/>
        <p:cNvGrpSpPr/>
        <p:nvPr/>
      </p:nvGrpSpPr>
      <p:grpSpPr>
        <a:xfrm>
          <a:off x="0" y="0"/>
          <a:ext cx="0" cy="0"/>
          <a:chOff x="0" y="0"/>
          <a:chExt cx="0" cy="0"/>
        </a:xfrm>
      </p:grpSpPr>
      <p:pic>
        <p:nvPicPr>
          <p:cNvPr id="416" name="Google Shape;416;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7" name="Google Shape;417;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9" name="Google Shape;419;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0" name="Google Shape;420;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1" name="Google Shape;421;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4" name="Google Shape;424;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5" name="Google Shape;425;p34"/>
          <p:cNvGrpSpPr/>
          <p:nvPr/>
        </p:nvGrpSpPr>
        <p:grpSpPr>
          <a:xfrm>
            <a:off x="323653" y="1804438"/>
            <a:ext cx="457200" cy="457200"/>
            <a:chOff x="1020916" y="1442088"/>
            <a:chExt cx="457200" cy="457200"/>
          </a:xfrm>
        </p:grpSpPr>
        <p:pic>
          <p:nvPicPr>
            <p:cNvPr id="426" name="Google Shape;426;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7" name="Google Shape;427;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8" name="Google Shape;428;p34"/>
          <p:cNvGrpSpPr/>
          <p:nvPr/>
        </p:nvGrpSpPr>
        <p:grpSpPr>
          <a:xfrm>
            <a:off x="323653" y="2766575"/>
            <a:ext cx="457200" cy="457200"/>
            <a:chOff x="1020916" y="1442088"/>
            <a:chExt cx="457200" cy="457200"/>
          </a:xfrm>
        </p:grpSpPr>
        <p:pic>
          <p:nvPicPr>
            <p:cNvPr id="429" name="Google Shape;429;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1" name="Google Shape;431;p34"/>
          <p:cNvGrpSpPr/>
          <p:nvPr/>
        </p:nvGrpSpPr>
        <p:grpSpPr>
          <a:xfrm>
            <a:off x="323641" y="3729038"/>
            <a:ext cx="457200" cy="457200"/>
            <a:chOff x="1020916" y="1442088"/>
            <a:chExt cx="457200" cy="457200"/>
          </a:xfrm>
        </p:grpSpPr>
        <p:pic>
          <p:nvPicPr>
            <p:cNvPr id="432" name="Google Shape;432;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4" name="Shape 434"/>
        <p:cNvGrpSpPr/>
        <p:nvPr/>
      </p:nvGrpSpPr>
      <p:grpSpPr>
        <a:xfrm>
          <a:off x="0" y="0"/>
          <a:ext cx="0" cy="0"/>
          <a:chOff x="0" y="0"/>
          <a:chExt cx="0" cy="0"/>
        </a:xfrm>
      </p:grpSpPr>
      <p:pic>
        <p:nvPicPr>
          <p:cNvPr id="435" name="Google Shape;435;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6" name="Google Shape;436;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8" name="Google Shape;438;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0" name="Google Shape;440;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1" name="Google Shape;441;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3" name="Google Shape;443;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4" name="Google Shape;444;p35"/>
          <p:cNvGrpSpPr/>
          <p:nvPr/>
        </p:nvGrpSpPr>
        <p:grpSpPr>
          <a:xfrm>
            <a:off x="323653" y="1804438"/>
            <a:ext cx="457200" cy="457200"/>
            <a:chOff x="1020916" y="1442088"/>
            <a:chExt cx="457200" cy="457200"/>
          </a:xfrm>
        </p:grpSpPr>
        <p:pic>
          <p:nvPicPr>
            <p:cNvPr id="445" name="Google Shape;445;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6" name="Google Shape;446;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7" name="Google Shape;447;p35"/>
          <p:cNvGrpSpPr/>
          <p:nvPr/>
        </p:nvGrpSpPr>
        <p:grpSpPr>
          <a:xfrm>
            <a:off x="323653" y="2766575"/>
            <a:ext cx="457200" cy="457200"/>
            <a:chOff x="1020916" y="1442088"/>
            <a:chExt cx="457200" cy="457200"/>
          </a:xfrm>
        </p:grpSpPr>
        <p:pic>
          <p:nvPicPr>
            <p:cNvPr id="448" name="Google Shape;448;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0" name="Google Shape;450;p35"/>
          <p:cNvGrpSpPr/>
          <p:nvPr/>
        </p:nvGrpSpPr>
        <p:grpSpPr>
          <a:xfrm>
            <a:off x="323641" y="3729038"/>
            <a:ext cx="457200" cy="457200"/>
            <a:chOff x="1020916" y="1442088"/>
            <a:chExt cx="457200" cy="457200"/>
          </a:xfrm>
        </p:grpSpPr>
        <p:pic>
          <p:nvPicPr>
            <p:cNvPr id="451" name="Google Shape;451;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3" name="Shape 453"/>
        <p:cNvGrpSpPr/>
        <p:nvPr/>
      </p:nvGrpSpPr>
      <p:grpSpPr>
        <a:xfrm>
          <a:off x="0" y="0"/>
          <a:ext cx="0" cy="0"/>
          <a:chOff x="0" y="0"/>
          <a:chExt cx="0" cy="0"/>
        </a:xfrm>
      </p:grpSpPr>
      <p:pic>
        <p:nvPicPr>
          <p:cNvPr id="454" name="Google Shape;454;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5" name="Google Shape;455;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7" name="Google Shape;457;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8" name="Google Shape;458;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9" name="Google Shape;459;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0" name="Google Shape;460;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3" name="Google Shape;463;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4" name="Google Shape;464;p36"/>
          <p:cNvGrpSpPr/>
          <p:nvPr/>
        </p:nvGrpSpPr>
        <p:grpSpPr>
          <a:xfrm>
            <a:off x="323653" y="1652038"/>
            <a:ext cx="457200" cy="457200"/>
            <a:chOff x="1020916" y="1442088"/>
            <a:chExt cx="457200" cy="457200"/>
          </a:xfrm>
        </p:grpSpPr>
        <p:pic>
          <p:nvPicPr>
            <p:cNvPr id="465" name="Google Shape;46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6" name="Google Shape;46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7" name="Google Shape;467;p36"/>
          <p:cNvGrpSpPr/>
          <p:nvPr/>
        </p:nvGrpSpPr>
        <p:grpSpPr>
          <a:xfrm>
            <a:off x="323653" y="2461775"/>
            <a:ext cx="457200" cy="457200"/>
            <a:chOff x="1020916" y="1442088"/>
            <a:chExt cx="457200" cy="457200"/>
          </a:xfrm>
        </p:grpSpPr>
        <p:pic>
          <p:nvPicPr>
            <p:cNvPr id="468" name="Google Shape;468;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0" name="Google Shape;470;p36"/>
          <p:cNvGrpSpPr/>
          <p:nvPr/>
        </p:nvGrpSpPr>
        <p:grpSpPr>
          <a:xfrm>
            <a:off x="323641" y="3271838"/>
            <a:ext cx="457200" cy="457200"/>
            <a:chOff x="1020916" y="1442088"/>
            <a:chExt cx="457200" cy="457200"/>
          </a:xfrm>
        </p:grpSpPr>
        <p:pic>
          <p:nvPicPr>
            <p:cNvPr id="471" name="Google Shape;471;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3" name="Google Shape;473;p36"/>
          <p:cNvGrpSpPr/>
          <p:nvPr/>
        </p:nvGrpSpPr>
        <p:grpSpPr>
          <a:xfrm>
            <a:off x="323641" y="4081763"/>
            <a:ext cx="457200" cy="457200"/>
            <a:chOff x="1020916" y="1442088"/>
            <a:chExt cx="457200" cy="457200"/>
          </a:xfrm>
        </p:grpSpPr>
        <p:pic>
          <p:nvPicPr>
            <p:cNvPr id="474" name="Google Shape;47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6" name="Shape 476"/>
        <p:cNvGrpSpPr/>
        <p:nvPr/>
      </p:nvGrpSpPr>
      <p:grpSpPr>
        <a:xfrm>
          <a:off x="0" y="0"/>
          <a:ext cx="0" cy="0"/>
          <a:chOff x="0" y="0"/>
          <a:chExt cx="0" cy="0"/>
        </a:xfrm>
      </p:grpSpPr>
      <p:pic>
        <p:nvPicPr>
          <p:cNvPr id="477" name="Google Shape;477;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8" name="Google Shape;478;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0" name="Google Shape;480;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1" name="Google Shape;481;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2" name="Google Shape;482;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3" name="Google Shape;483;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6" name="Google Shape;486;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7" name="Google Shape;487;p37"/>
          <p:cNvGrpSpPr/>
          <p:nvPr/>
        </p:nvGrpSpPr>
        <p:grpSpPr>
          <a:xfrm>
            <a:off x="323653" y="1652038"/>
            <a:ext cx="457200" cy="457200"/>
            <a:chOff x="1020916" y="1442088"/>
            <a:chExt cx="457200" cy="457200"/>
          </a:xfrm>
        </p:grpSpPr>
        <p:pic>
          <p:nvPicPr>
            <p:cNvPr id="488" name="Google Shape;48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9" name="Google Shape;48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0" name="Google Shape;490;p37"/>
          <p:cNvGrpSpPr/>
          <p:nvPr/>
        </p:nvGrpSpPr>
        <p:grpSpPr>
          <a:xfrm>
            <a:off x="323653" y="2461775"/>
            <a:ext cx="457200" cy="457200"/>
            <a:chOff x="1020916" y="1442088"/>
            <a:chExt cx="457200" cy="457200"/>
          </a:xfrm>
        </p:grpSpPr>
        <p:pic>
          <p:nvPicPr>
            <p:cNvPr id="491" name="Google Shape;49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3" name="Google Shape;493;p37"/>
          <p:cNvGrpSpPr/>
          <p:nvPr/>
        </p:nvGrpSpPr>
        <p:grpSpPr>
          <a:xfrm>
            <a:off x="323641" y="3271838"/>
            <a:ext cx="457200" cy="457200"/>
            <a:chOff x="1020916" y="1442088"/>
            <a:chExt cx="457200" cy="457200"/>
          </a:xfrm>
        </p:grpSpPr>
        <p:pic>
          <p:nvPicPr>
            <p:cNvPr id="494" name="Google Shape;49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6" name="Google Shape;496;p37"/>
          <p:cNvGrpSpPr/>
          <p:nvPr/>
        </p:nvGrpSpPr>
        <p:grpSpPr>
          <a:xfrm>
            <a:off x="323641" y="4081763"/>
            <a:ext cx="457200" cy="457200"/>
            <a:chOff x="1020916" y="1442088"/>
            <a:chExt cx="457200" cy="457200"/>
          </a:xfrm>
        </p:grpSpPr>
        <p:pic>
          <p:nvPicPr>
            <p:cNvPr id="497" name="Google Shape;49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9" name="Shape 499"/>
        <p:cNvGrpSpPr/>
        <p:nvPr/>
      </p:nvGrpSpPr>
      <p:grpSpPr>
        <a:xfrm>
          <a:off x="0" y="0"/>
          <a:ext cx="0" cy="0"/>
          <a:chOff x="0" y="0"/>
          <a:chExt cx="0" cy="0"/>
        </a:xfrm>
      </p:grpSpPr>
      <p:pic>
        <p:nvPicPr>
          <p:cNvPr id="500" name="Google Shape;500;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1" name="Google Shape;501;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3" name="Google Shape;503;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4" name="Google Shape;504;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5" name="Google Shape;505;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6" name="Google Shape;506;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9" name="Google Shape;509;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0" name="Google Shape;510;p38"/>
          <p:cNvGrpSpPr/>
          <p:nvPr/>
        </p:nvGrpSpPr>
        <p:grpSpPr>
          <a:xfrm>
            <a:off x="323653" y="1652038"/>
            <a:ext cx="457200" cy="457200"/>
            <a:chOff x="1020916" y="1442088"/>
            <a:chExt cx="457200" cy="457200"/>
          </a:xfrm>
        </p:grpSpPr>
        <p:pic>
          <p:nvPicPr>
            <p:cNvPr id="511" name="Google Shape;51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2" name="Google Shape;51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3" name="Google Shape;513;p38"/>
          <p:cNvGrpSpPr/>
          <p:nvPr/>
        </p:nvGrpSpPr>
        <p:grpSpPr>
          <a:xfrm>
            <a:off x="323653" y="2461775"/>
            <a:ext cx="457200" cy="457200"/>
            <a:chOff x="1020916" y="1442088"/>
            <a:chExt cx="457200" cy="457200"/>
          </a:xfrm>
        </p:grpSpPr>
        <p:pic>
          <p:nvPicPr>
            <p:cNvPr id="514" name="Google Shape;51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6" name="Google Shape;516;p38"/>
          <p:cNvGrpSpPr/>
          <p:nvPr/>
        </p:nvGrpSpPr>
        <p:grpSpPr>
          <a:xfrm>
            <a:off x="323641" y="3271838"/>
            <a:ext cx="457200" cy="457200"/>
            <a:chOff x="1020916" y="1442088"/>
            <a:chExt cx="457200" cy="457200"/>
          </a:xfrm>
        </p:grpSpPr>
        <p:pic>
          <p:nvPicPr>
            <p:cNvPr id="517" name="Google Shape;51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9" name="Google Shape;519;p38"/>
          <p:cNvGrpSpPr/>
          <p:nvPr/>
        </p:nvGrpSpPr>
        <p:grpSpPr>
          <a:xfrm>
            <a:off x="323641" y="4081763"/>
            <a:ext cx="457200" cy="457200"/>
            <a:chOff x="1020916" y="1442088"/>
            <a:chExt cx="457200" cy="457200"/>
          </a:xfrm>
        </p:grpSpPr>
        <p:pic>
          <p:nvPicPr>
            <p:cNvPr id="520" name="Google Shape;52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2" name="Shape 522"/>
        <p:cNvGrpSpPr/>
        <p:nvPr/>
      </p:nvGrpSpPr>
      <p:grpSpPr>
        <a:xfrm>
          <a:off x="0" y="0"/>
          <a:ext cx="0" cy="0"/>
          <a:chOff x="0" y="0"/>
          <a:chExt cx="0" cy="0"/>
        </a:xfrm>
      </p:grpSpPr>
      <p:pic>
        <p:nvPicPr>
          <p:cNvPr id="523" name="Google Shape;523;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2" name="Google Shape;532;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3" name="Google Shape;533;p39"/>
          <p:cNvGrpSpPr/>
          <p:nvPr/>
        </p:nvGrpSpPr>
        <p:grpSpPr>
          <a:xfrm>
            <a:off x="323653" y="1652038"/>
            <a:ext cx="457200" cy="457200"/>
            <a:chOff x="1020916" y="1442088"/>
            <a:chExt cx="457200" cy="457200"/>
          </a:xfrm>
        </p:grpSpPr>
        <p:pic>
          <p:nvPicPr>
            <p:cNvPr id="534" name="Google Shape;53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5" name="Google Shape;53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6" name="Google Shape;536;p39"/>
          <p:cNvGrpSpPr/>
          <p:nvPr/>
        </p:nvGrpSpPr>
        <p:grpSpPr>
          <a:xfrm>
            <a:off x="323653" y="2461775"/>
            <a:ext cx="457200" cy="457200"/>
            <a:chOff x="1020916" y="1442088"/>
            <a:chExt cx="457200" cy="457200"/>
          </a:xfrm>
        </p:grpSpPr>
        <p:pic>
          <p:nvPicPr>
            <p:cNvPr id="537" name="Google Shape;53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9" name="Google Shape;539;p39"/>
          <p:cNvGrpSpPr/>
          <p:nvPr/>
        </p:nvGrpSpPr>
        <p:grpSpPr>
          <a:xfrm>
            <a:off x="323641" y="3271838"/>
            <a:ext cx="457200" cy="457200"/>
            <a:chOff x="1020916" y="1442088"/>
            <a:chExt cx="457200" cy="457200"/>
          </a:xfrm>
        </p:grpSpPr>
        <p:pic>
          <p:nvPicPr>
            <p:cNvPr id="540" name="Google Shape;54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2" name="Google Shape;542;p39"/>
          <p:cNvGrpSpPr/>
          <p:nvPr/>
        </p:nvGrpSpPr>
        <p:grpSpPr>
          <a:xfrm>
            <a:off x="323641" y="4081763"/>
            <a:ext cx="457200" cy="457200"/>
            <a:chOff x="1020916" y="1442088"/>
            <a:chExt cx="457200" cy="457200"/>
          </a:xfrm>
        </p:grpSpPr>
        <p:pic>
          <p:nvPicPr>
            <p:cNvPr id="543" name="Google Shape;54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5" name="Shape 545"/>
        <p:cNvGrpSpPr/>
        <p:nvPr/>
      </p:nvGrpSpPr>
      <p:grpSpPr>
        <a:xfrm>
          <a:off x="0" y="0"/>
          <a:ext cx="0" cy="0"/>
          <a:chOff x="0" y="0"/>
          <a:chExt cx="0" cy="0"/>
        </a:xfrm>
      </p:grpSpPr>
      <p:pic>
        <p:nvPicPr>
          <p:cNvPr id="546" name="Google Shape;546;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7" name="Google Shape;547;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9" name="Google Shape;549;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0" name="Google Shape;550;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1" name="Google Shape;551;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2" name="Google Shape;552;p40"/>
          <p:cNvSpPr/>
          <p:nvPr>
            <p:ph idx="3" type="pic"/>
          </p:nvPr>
        </p:nvSpPr>
        <p:spPr>
          <a:xfrm>
            <a:off x="324000" y="1893950"/>
            <a:ext cx="2555400" cy="1939500"/>
          </a:xfrm>
          <a:prstGeom prst="rect">
            <a:avLst/>
          </a:prstGeom>
          <a:noFill/>
          <a:ln>
            <a:noFill/>
          </a:ln>
        </p:spPr>
      </p:sp>
      <p:sp>
        <p:nvSpPr>
          <p:cNvPr id="553" name="Google Shape;553;p40"/>
          <p:cNvSpPr/>
          <p:nvPr>
            <p:ph idx="4" type="pic"/>
          </p:nvPr>
        </p:nvSpPr>
        <p:spPr>
          <a:xfrm>
            <a:off x="6256800" y="1893950"/>
            <a:ext cx="2555400" cy="1939500"/>
          </a:xfrm>
          <a:prstGeom prst="rect">
            <a:avLst/>
          </a:prstGeom>
          <a:noFill/>
          <a:ln>
            <a:noFill/>
          </a:ln>
        </p:spPr>
      </p:sp>
      <p:sp>
        <p:nvSpPr>
          <p:cNvPr id="554" name="Google Shape;554;p40"/>
          <p:cNvSpPr/>
          <p:nvPr>
            <p:ph idx="5" type="pic"/>
          </p:nvPr>
        </p:nvSpPr>
        <p:spPr>
          <a:xfrm>
            <a:off x="3294300" y="1893950"/>
            <a:ext cx="2555400" cy="1939500"/>
          </a:xfrm>
          <a:prstGeom prst="rect">
            <a:avLst/>
          </a:prstGeom>
          <a:noFill/>
          <a:ln>
            <a:noFill/>
          </a:ln>
        </p:spPr>
      </p:sp>
      <p:grpSp>
        <p:nvGrpSpPr>
          <p:cNvPr id="555" name="Google Shape;555;p40"/>
          <p:cNvGrpSpPr/>
          <p:nvPr/>
        </p:nvGrpSpPr>
        <p:grpSpPr>
          <a:xfrm>
            <a:off x="1381028" y="4148538"/>
            <a:ext cx="457200" cy="457200"/>
            <a:chOff x="1020916" y="1442088"/>
            <a:chExt cx="457200" cy="457200"/>
          </a:xfrm>
        </p:grpSpPr>
        <p:pic>
          <p:nvPicPr>
            <p:cNvPr id="556" name="Google Shape;556;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8" name="Google Shape;558;p40"/>
          <p:cNvGrpSpPr/>
          <p:nvPr/>
        </p:nvGrpSpPr>
        <p:grpSpPr>
          <a:xfrm>
            <a:off x="4331066" y="4148550"/>
            <a:ext cx="457200" cy="457200"/>
            <a:chOff x="1020916" y="1442088"/>
            <a:chExt cx="457200" cy="457200"/>
          </a:xfrm>
        </p:grpSpPr>
        <p:pic>
          <p:nvPicPr>
            <p:cNvPr id="559" name="Google Shape;559;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1" name="Google Shape;561;p40"/>
          <p:cNvGrpSpPr/>
          <p:nvPr/>
        </p:nvGrpSpPr>
        <p:grpSpPr>
          <a:xfrm>
            <a:off x="7305791" y="4148538"/>
            <a:ext cx="457200" cy="457200"/>
            <a:chOff x="1020916" y="1442088"/>
            <a:chExt cx="457200" cy="457200"/>
          </a:xfrm>
        </p:grpSpPr>
        <p:pic>
          <p:nvPicPr>
            <p:cNvPr id="562" name="Google Shape;562;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4" name="Shape 564"/>
        <p:cNvGrpSpPr/>
        <p:nvPr/>
      </p:nvGrpSpPr>
      <p:grpSpPr>
        <a:xfrm>
          <a:off x="0" y="0"/>
          <a:ext cx="0" cy="0"/>
          <a:chOff x="0" y="0"/>
          <a:chExt cx="0" cy="0"/>
        </a:xfrm>
      </p:grpSpPr>
      <p:pic>
        <p:nvPicPr>
          <p:cNvPr id="565" name="Google Shape;565;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1"/>
          <p:cNvSpPr/>
          <p:nvPr>
            <p:ph idx="3" type="pic"/>
          </p:nvPr>
        </p:nvSpPr>
        <p:spPr>
          <a:xfrm>
            <a:off x="324000" y="1893950"/>
            <a:ext cx="2555400" cy="1939500"/>
          </a:xfrm>
          <a:prstGeom prst="rect">
            <a:avLst/>
          </a:prstGeom>
          <a:noFill/>
          <a:ln>
            <a:noFill/>
          </a:ln>
        </p:spPr>
      </p:sp>
      <p:sp>
        <p:nvSpPr>
          <p:cNvPr id="572" name="Google Shape;572;p41"/>
          <p:cNvSpPr/>
          <p:nvPr>
            <p:ph idx="4" type="pic"/>
          </p:nvPr>
        </p:nvSpPr>
        <p:spPr>
          <a:xfrm>
            <a:off x="6256800" y="1893950"/>
            <a:ext cx="2555400" cy="1939500"/>
          </a:xfrm>
          <a:prstGeom prst="rect">
            <a:avLst/>
          </a:prstGeom>
          <a:noFill/>
          <a:ln>
            <a:noFill/>
          </a:ln>
        </p:spPr>
      </p:sp>
      <p:sp>
        <p:nvSpPr>
          <p:cNvPr id="573" name="Google Shape;573;p41"/>
          <p:cNvSpPr/>
          <p:nvPr>
            <p:ph idx="5" type="pic"/>
          </p:nvPr>
        </p:nvSpPr>
        <p:spPr>
          <a:xfrm>
            <a:off x="3294300" y="1893950"/>
            <a:ext cx="2555400" cy="1939500"/>
          </a:xfrm>
          <a:prstGeom prst="rect">
            <a:avLst/>
          </a:prstGeom>
          <a:noFill/>
          <a:ln>
            <a:noFill/>
          </a:ln>
        </p:spPr>
      </p:sp>
      <p:grpSp>
        <p:nvGrpSpPr>
          <p:cNvPr id="574" name="Google Shape;574;p41"/>
          <p:cNvGrpSpPr/>
          <p:nvPr/>
        </p:nvGrpSpPr>
        <p:grpSpPr>
          <a:xfrm>
            <a:off x="1381028" y="4148538"/>
            <a:ext cx="457200" cy="457200"/>
            <a:chOff x="1020916" y="1442088"/>
            <a:chExt cx="457200" cy="457200"/>
          </a:xfrm>
        </p:grpSpPr>
        <p:pic>
          <p:nvPicPr>
            <p:cNvPr id="575" name="Google Shape;575;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6" name="Google Shape;576;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7" name="Google Shape;577;p41"/>
          <p:cNvGrpSpPr/>
          <p:nvPr/>
        </p:nvGrpSpPr>
        <p:grpSpPr>
          <a:xfrm>
            <a:off x="4331066" y="4148550"/>
            <a:ext cx="457200" cy="457200"/>
            <a:chOff x="1020916" y="1442088"/>
            <a:chExt cx="457200" cy="457200"/>
          </a:xfrm>
        </p:grpSpPr>
        <p:pic>
          <p:nvPicPr>
            <p:cNvPr id="578" name="Google Shape;578;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0" name="Google Shape;580;p41"/>
          <p:cNvGrpSpPr/>
          <p:nvPr/>
        </p:nvGrpSpPr>
        <p:grpSpPr>
          <a:xfrm>
            <a:off x="7305791" y="4148538"/>
            <a:ext cx="457200" cy="457200"/>
            <a:chOff x="1020916" y="1442088"/>
            <a:chExt cx="457200" cy="457200"/>
          </a:xfrm>
        </p:grpSpPr>
        <p:pic>
          <p:nvPicPr>
            <p:cNvPr id="581" name="Google Shape;581;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3" name="Shape 583"/>
        <p:cNvGrpSpPr/>
        <p:nvPr/>
      </p:nvGrpSpPr>
      <p:grpSpPr>
        <a:xfrm>
          <a:off x="0" y="0"/>
          <a:ext cx="0" cy="0"/>
          <a:chOff x="0" y="0"/>
          <a:chExt cx="0" cy="0"/>
        </a:xfrm>
      </p:grpSpPr>
      <p:pic>
        <p:nvPicPr>
          <p:cNvPr id="584" name="Google Shape;584;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5" name="Google Shape;585;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7" name="Google Shape;587;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8" name="Google Shape;588;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9" name="Google Shape;589;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0" name="Google Shape;590;p42"/>
          <p:cNvSpPr/>
          <p:nvPr>
            <p:ph idx="3" type="pic"/>
          </p:nvPr>
        </p:nvSpPr>
        <p:spPr>
          <a:xfrm>
            <a:off x="324000" y="1893950"/>
            <a:ext cx="2555400" cy="1939500"/>
          </a:xfrm>
          <a:prstGeom prst="rect">
            <a:avLst/>
          </a:prstGeom>
          <a:noFill/>
          <a:ln>
            <a:noFill/>
          </a:ln>
        </p:spPr>
      </p:sp>
      <p:sp>
        <p:nvSpPr>
          <p:cNvPr id="591" name="Google Shape;591;p42"/>
          <p:cNvSpPr/>
          <p:nvPr>
            <p:ph idx="4" type="pic"/>
          </p:nvPr>
        </p:nvSpPr>
        <p:spPr>
          <a:xfrm>
            <a:off x="6256800" y="1893950"/>
            <a:ext cx="2555400" cy="1939500"/>
          </a:xfrm>
          <a:prstGeom prst="rect">
            <a:avLst/>
          </a:prstGeom>
          <a:noFill/>
          <a:ln>
            <a:noFill/>
          </a:ln>
        </p:spPr>
      </p:sp>
      <p:sp>
        <p:nvSpPr>
          <p:cNvPr id="592" name="Google Shape;592;p42"/>
          <p:cNvSpPr/>
          <p:nvPr>
            <p:ph idx="5" type="pic"/>
          </p:nvPr>
        </p:nvSpPr>
        <p:spPr>
          <a:xfrm>
            <a:off x="3294300" y="1893950"/>
            <a:ext cx="2555400" cy="1939500"/>
          </a:xfrm>
          <a:prstGeom prst="rect">
            <a:avLst/>
          </a:prstGeom>
          <a:noFill/>
          <a:ln>
            <a:noFill/>
          </a:ln>
        </p:spPr>
      </p:sp>
      <p:grpSp>
        <p:nvGrpSpPr>
          <p:cNvPr id="593" name="Google Shape;593;p42"/>
          <p:cNvGrpSpPr/>
          <p:nvPr/>
        </p:nvGrpSpPr>
        <p:grpSpPr>
          <a:xfrm>
            <a:off x="1381028" y="4148538"/>
            <a:ext cx="457200" cy="457200"/>
            <a:chOff x="1020916" y="1442088"/>
            <a:chExt cx="457200" cy="457200"/>
          </a:xfrm>
        </p:grpSpPr>
        <p:pic>
          <p:nvPicPr>
            <p:cNvPr id="594" name="Google Shape;594;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5" name="Google Shape;595;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6" name="Google Shape;596;p42"/>
          <p:cNvGrpSpPr/>
          <p:nvPr/>
        </p:nvGrpSpPr>
        <p:grpSpPr>
          <a:xfrm>
            <a:off x="4331066" y="4148550"/>
            <a:ext cx="457200" cy="457200"/>
            <a:chOff x="1020916" y="1442088"/>
            <a:chExt cx="457200" cy="457200"/>
          </a:xfrm>
        </p:grpSpPr>
        <p:pic>
          <p:nvPicPr>
            <p:cNvPr id="597" name="Google Shape;597;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9" name="Google Shape;599;p42"/>
          <p:cNvGrpSpPr/>
          <p:nvPr/>
        </p:nvGrpSpPr>
        <p:grpSpPr>
          <a:xfrm>
            <a:off x="7305791" y="4148538"/>
            <a:ext cx="457200" cy="457200"/>
            <a:chOff x="1020916" y="1442088"/>
            <a:chExt cx="457200" cy="457200"/>
          </a:xfrm>
        </p:grpSpPr>
        <p:pic>
          <p:nvPicPr>
            <p:cNvPr id="600" name="Google Shape;600;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2" name="Shape 602"/>
        <p:cNvGrpSpPr/>
        <p:nvPr/>
      </p:nvGrpSpPr>
      <p:grpSpPr>
        <a:xfrm>
          <a:off x="0" y="0"/>
          <a:ext cx="0" cy="0"/>
          <a:chOff x="0" y="0"/>
          <a:chExt cx="0" cy="0"/>
        </a:xfrm>
      </p:grpSpPr>
      <p:pic>
        <p:nvPicPr>
          <p:cNvPr id="603" name="Google Shape;603;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4" name="Google Shape;604;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6" name="Google Shape;606;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7" name="Google Shape;607;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8" name="Google Shape;608;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9" name="Google Shape;609;p43"/>
          <p:cNvSpPr/>
          <p:nvPr>
            <p:ph idx="3" type="pic"/>
          </p:nvPr>
        </p:nvSpPr>
        <p:spPr>
          <a:xfrm>
            <a:off x="324000" y="1893950"/>
            <a:ext cx="2555400" cy="1939500"/>
          </a:xfrm>
          <a:prstGeom prst="rect">
            <a:avLst/>
          </a:prstGeom>
          <a:noFill/>
          <a:ln>
            <a:noFill/>
          </a:ln>
        </p:spPr>
      </p:sp>
      <p:sp>
        <p:nvSpPr>
          <p:cNvPr id="610" name="Google Shape;610;p43"/>
          <p:cNvSpPr/>
          <p:nvPr>
            <p:ph idx="4" type="pic"/>
          </p:nvPr>
        </p:nvSpPr>
        <p:spPr>
          <a:xfrm>
            <a:off x="6256800" y="1893950"/>
            <a:ext cx="2555400" cy="1939500"/>
          </a:xfrm>
          <a:prstGeom prst="rect">
            <a:avLst/>
          </a:prstGeom>
          <a:noFill/>
          <a:ln>
            <a:noFill/>
          </a:ln>
        </p:spPr>
      </p:sp>
      <p:sp>
        <p:nvSpPr>
          <p:cNvPr id="611" name="Google Shape;611;p43"/>
          <p:cNvSpPr/>
          <p:nvPr>
            <p:ph idx="5" type="pic"/>
          </p:nvPr>
        </p:nvSpPr>
        <p:spPr>
          <a:xfrm>
            <a:off x="3294300" y="1893950"/>
            <a:ext cx="2555400" cy="1939500"/>
          </a:xfrm>
          <a:prstGeom prst="rect">
            <a:avLst/>
          </a:prstGeom>
          <a:noFill/>
          <a:ln>
            <a:noFill/>
          </a:ln>
        </p:spPr>
      </p:sp>
      <p:grpSp>
        <p:nvGrpSpPr>
          <p:cNvPr id="612" name="Google Shape;612;p43"/>
          <p:cNvGrpSpPr/>
          <p:nvPr/>
        </p:nvGrpSpPr>
        <p:grpSpPr>
          <a:xfrm>
            <a:off x="1381028" y="4148538"/>
            <a:ext cx="457200" cy="457200"/>
            <a:chOff x="1020916" y="1442088"/>
            <a:chExt cx="457200" cy="457200"/>
          </a:xfrm>
        </p:grpSpPr>
        <p:pic>
          <p:nvPicPr>
            <p:cNvPr id="613" name="Google Shape;613;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4" name="Google Shape;614;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5" name="Google Shape;615;p43"/>
          <p:cNvGrpSpPr/>
          <p:nvPr/>
        </p:nvGrpSpPr>
        <p:grpSpPr>
          <a:xfrm>
            <a:off x="4331066" y="4148550"/>
            <a:ext cx="457200" cy="457200"/>
            <a:chOff x="1020916" y="1442088"/>
            <a:chExt cx="457200" cy="457200"/>
          </a:xfrm>
        </p:grpSpPr>
        <p:pic>
          <p:nvPicPr>
            <p:cNvPr id="616" name="Google Shape;61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8" name="Google Shape;618;p43"/>
          <p:cNvGrpSpPr/>
          <p:nvPr/>
        </p:nvGrpSpPr>
        <p:grpSpPr>
          <a:xfrm>
            <a:off x="7305791" y="4148538"/>
            <a:ext cx="457200" cy="457200"/>
            <a:chOff x="1020916" y="1442088"/>
            <a:chExt cx="457200" cy="457200"/>
          </a:xfrm>
        </p:grpSpPr>
        <p:pic>
          <p:nvPicPr>
            <p:cNvPr id="619" name="Google Shape;61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1" name="Shape 621"/>
        <p:cNvGrpSpPr/>
        <p:nvPr/>
      </p:nvGrpSpPr>
      <p:grpSpPr>
        <a:xfrm>
          <a:off x="0" y="0"/>
          <a:ext cx="0" cy="0"/>
          <a:chOff x="0" y="0"/>
          <a:chExt cx="0" cy="0"/>
        </a:xfrm>
      </p:grpSpPr>
      <p:pic>
        <p:nvPicPr>
          <p:cNvPr id="622" name="Google Shape;622;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3" name="Google Shape;623;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5" name="Google Shape;625;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6" name="Google Shape;626;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7" name="Google Shape;627;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8" name="Shape 628"/>
        <p:cNvGrpSpPr/>
        <p:nvPr/>
      </p:nvGrpSpPr>
      <p:grpSpPr>
        <a:xfrm>
          <a:off x="0" y="0"/>
          <a:ext cx="0" cy="0"/>
          <a:chOff x="0" y="0"/>
          <a:chExt cx="0" cy="0"/>
        </a:xfrm>
      </p:grpSpPr>
      <p:pic>
        <p:nvPicPr>
          <p:cNvPr id="629" name="Google Shape;629;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0" name="Google Shape;630;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2" name="Google Shape;632;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3" name="Google Shape;633;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4" name="Google Shape;634;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5" name="Shape 635"/>
        <p:cNvGrpSpPr/>
        <p:nvPr/>
      </p:nvGrpSpPr>
      <p:grpSpPr>
        <a:xfrm>
          <a:off x="0" y="0"/>
          <a:ext cx="0" cy="0"/>
          <a:chOff x="0" y="0"/>
          <a:chExt cx="0" cy="0"/>
        </a:xfrm>
      </p:grpSpPr>
      <p:pic>
        <p:nvPicPr>
          <p:cNvPr id="636" name="Google Shape;636;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7" name="Google Shape;637;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9" name="Google Shape;639;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0" name="Google Shape;640;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1" name="Google Shape;641;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2" name="Shape 642"/>
        <p:cNvGrpSpPr/>
        <p:nvPr/>
      </p:nvGrpSpPr>
      <p:grpSpPr>
        <a:xfrm>
          <a:off x="0" y="0"/>
          <a:ext cx="0" cy="0"/>
          <a:chOff x="0" y="0"/>
          <a:chExt cx="0" cy="0"/>
        </a:xfrm>
      </p:grpSpPr>
      <p:pic>
        <p:nvPicPr>
          <p:cNvPr id="643" name="Google Shape;643;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4" name="Google Shape;644;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6" name="Google Shape;646;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7" name="Google Shape;647;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8" name="Google Shape;648;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9" name="Shape 649"/>
        <p:cNvGrpSpPr/>
        <p:nvPr/>
      </p:nvGrpSpPr>
      <p:grpSpPr>
        <a:xfrm>
          <a:off x="0" y="0"/>
          <a:ext cx="0" cy="0"/>
          <a:chOff x="0" y="0"/>
          <a:chExt cx="0" cy="0"/>
        </a:xfrm>
      </p:grpSpPr>
      <p:pic>
        <p:nvPicPr>
          <p:cNvPr id="650" name="Google Shape;650;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1" name="Google Shape;651;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3" name="Google Shape;653;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4" name="Google Shape;654;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5" name="Google Shape;655;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6" name="Google Shape;656;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7" name="Shape 657"/>
        <p:cNvGrpSpPr/>
        <p:nvPr/>
      </p:nvGrpSpPr>
      <p:grpSpPr>
        <a:xfrm>
          <a:off x="0" y="0"/>
          <a:ext cx="0" cy="0"/>
          <a:chOff x="0" y="0"/>
          <a:chExt cx="0" cy="0"/>
        </a:xfrm>
      </p:grpSpPr>
      <p:pic>
        <p:nvPicPr>
          <p:cNvPr id="658" name="Google Shape;65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9" name="Google Shape;659;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1" name="Google Shape;661;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2" name="Google Shape;662;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3" name="Google Shape;663;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4" name="Google Shape;664;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5" name="Shape 665"/>
        <p:cNvGrpSpPr/>
        <p:nvPr/>
      </p:nvGrpSpPr>
      <p:grpSpPr>
        <a:xfrm>
          <a:off x="0" y="0"/>
          <a:ext cx="0" cy="0"/>
          <a:chOff x="0" y="0"/>
          <a:chExt cx="0" cy="0"/>
        </a:xfrm>
      </p:grpSpPr>
      <p:pic>
        <p:nvPicPr>
          <p:cNvPr id="666" name="Google Shape;666;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7" name="Google Shape;667;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9" name="Google Shape;66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70" name="Google Shape;670;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1" name="Google Shape;671;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2" name="Google Shape;672;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3" name="Shape 673"/>
        <p:cNvGrpSpPr/>
        <p:nvPr/>
      </p:nvGrpSpPr>
      <p:grpSpPr>
        <a:xfrm>
          <a:off x="0" y="0"/>
          <a:ext cx="0" cy="0"/>
          <a:chOff x="0" y="0"/>
          <a:chExt cx="0" cy="0"/>
        </a:xfrm>
      </p:grpSpPr>
      <p:pic>
        <p:nvPicPr>
          <p:cNvPr id="674" name="Google Shape;674;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5" name="Google Shape;675;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7" name="Google Shape;677;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8" name="Google Shape;678;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9" name="Google Shape;679;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0" name="Google Shape;680;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1" name="Shape 681"/>
        <p:cNvGrpSpPr/>
        <p:nvPr/>
      </p:nvGrpSpPr>
      <p:grpSpPr>
        <a:xfrm>
          <a:off x="0" y="0"/>
          <a:ext cx="0" cy="0"/>
          <a:chOff x="0" y="0"/>
          <a:chExt cx="0" cy="0"/>
        </a:xfrm>
      </p:grpSpPr>
      <p:pic>
        <p:nvPicPr>
          <p:cNvPr id="682" name="Google Shape;682;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3" name="Google Shape;683;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5" name="Google Shape;685;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6" name="Google Shape;686;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7" name="Google Shape;687;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8" name="Google Shape;688;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9" name="Shape 689"/>
        <p:cNvGrpSpPr/>
        <p:nvPr/>
      </p:nvGrpSpPr>
      <p:grpSpPr>
        <a:xfrm>
          <a:off x="0" y="0"/>
          <a:ext cx="0" cy="0"/>
          <a:chOff x="0" y="0"/>
          <a:chExt cx="0" cy="0"/>
        </a:xfrm>
      </p:grpSpPr>
      <p:pic>
        <p:nvPicPr>
          <p:cNvPr id="690" name="Google Shape;690;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1" name="Google Shape;691;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3" name="Google Shape;693;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4" name="Google Shape;694;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6" name="Google Shape;696;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7" name="Shape 697"/>
        <p:cNvGrpSpPr/>
        <p:nvPr/>
      </p:nvGrpSpPr>
      <p:grpSpPr>
        <a:xfrm>
          <a:off x="0" y="0"/>
          <a:ext cx="0" cy="0"/>
          <a:chOff x="0" y="0"/>
          <a:chExt cx="0" cy="0"/>
        </a:xfrm>
      </p:grpSpPr>
      <p:pic>
        <p:nvPicPr>
          <p:cNvPr id="698" name="Google Shape;698;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9" name="Google Shape;699;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1" name="Google Shape;70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2" name="Google Shape;702;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3" name="Google Shape;703;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4" name="Google Shape;704;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5" name="Shape 705"/>
        <p:cNvGrpSpPr/>
        <p:nvPr/>
      </p:nvGrpSpPr>
      <p:grpSpPr>
        <a:xfrm>
          <a:off x="0" y="0"/>
          <a:ext cx="0" cy="0"/>
          <a:chOff x="0" y="0"/>
          <a:chExt cx="0" cy="0"/>
        </a:xfrm>
      </p:grpSpPr>
      <p:pic>
        <p:nvPicPr>
          <p:cNvPr id="706" name="Google Shape;706;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7" name="Google Shape;707;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9" name="Google Shape;709;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0" name="Google Shape;710;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1" name="Google Shape;711;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2" name="Google Shape;712;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3" name="Shape 713"/>
        <p:cNvGrpSpPr/>
        <p:nvPr/>
      </p:nvGrpSpPr>
      <p:grpSpPr>
        <a:xfrm>
          <a:off x="0" y="0"/>
          <a:ext cx="0" cy="0"/>
          <a:chOff x="0" y="0"/>
          <a:chExt cx="0" cy="0"/>
        </a:xfrm>
      </p:grpSpPr>
      <p:sp>
        <p:nvSpPr>
          <p:cNvPr id="714" name="Google Shape;714;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5" name="Google Shape;715;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6" name="Google Shape;716;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7" name="Google Shape;717;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8" name="Google Shape;718;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9" name="Shape 719"/>
        <p:cNvGrpSpPr/>
        <p:nvPr/>
      </p:nvGrpSpPr>
      <p:grpSpPr>
        <a:xfrm>
          <a:off x="0" y="0"/>
          <a:ext cx="0" cy="0"/>
          <a:chOff x="0" y="0"/>
          <a:chExt cx="0" cy="0"/>
        </a:xfrm>
      </p:grpSpPr>
      <p:sp>
        <p:nvSpPr>
          <p:cNvPr id="720" name="Google Shape;720;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1" name="Google Shape;721;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2" name="Google Shape;722;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3" name="Google Shape;723;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4" name="Google Shape;724;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5" name="Shape 725"/>
        <p:cNvGrpSpPr/>
        <p:nvPr/>
      </p:nvGrpSpPr>
      <p:grpSpPr>
        <a:xfrm>
          <a:off x="0" y="0"/>
          <a:ext cx="0" cy="0"/>
          <a:chOff x="0" y="0"/>
          <a:chExt cx="0" cy="0"/>
        </a:xfrm>
      </p:grpSpPr>
      <p:pic>
        <p:nvPicPr>
          <p:cNvPr id="726" name="Google Shape;726;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7" name="Google Shape;727;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8" name="Shape 728"/>
        <p:cNvGrpSpPr/>
        <p:nvPr/>
      </p:nvGrpSpPr>
      <p:grpSpPr>
        <a:xfrm>
          <a:off x="0" y="0"/>
          <a:ext cx="0" cy="0"/>
          <a:chOff x="0" y="0"/>
          <a:chExt cx="0" cy="0"/>
        </a:xfrm>
      </p:grpSpPr>
      <p:sp>
        <p:nvSpPr>
          <p:cNvPr id="729" name="Google Shape;729;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0" name="Google Shape;730;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1" name="Google Shape;731;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2" name="Google Shape;732;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3" name="Google Shape;733;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7" name="Google Shape;737;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8" name="Shape 738"/>
        <p:cNvGrpSpPr/>
        <p:nvPr/>
      </p:nvGrpSpPr>
      <p:grpSpPr>
        <a:xfrm>
          <a:off x="0" y="0"/>
          <a:ext cx="0" cy="0"/>
          <a:chOff x="0" y="0"/>
          <a:chExt cx="0" cy="0"/>
        </a:xfrm>
      </p:grpSpPr>
      <p:pic>
        <p:nvPicPr>
          <p:cNvPr id="739" name="Google Shape;739;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0" name="Google Shape;740;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1" name="Shape 741"/>
        <p:cNvGrpSpPr/>
        <p:nvPr/>
      </p:nvGrpSpPr>
      <p:grpSpPr>
        <a:xfrm>
          <a:off x="0" y="0"/>
          <a:ext cx="0" cy="0"/>
          <a:chOff x="0" y="0"/>
          <a:chExt cx="0" cy="0"/>
        </a:xfrm>
      </p:grpSpPr>
      <p:sp>
        <p:nvSpPr>
          <p:cNvPr id="742" name="Google Shape;742;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743" name="Shape 743"/>
        <p:cNvGrpSpPr/>
        <p:nvPr/>
      </p:nvGrpSpPr>
      <p:grpSpPr>
        <a:xfrm>
          <a:off x="0" y="0"/>
          <a:ext cx="0" cy="0"/>
          <a:chOff x="0" y="0"/>
          <a:chExt cx="0" cy="0"/>
        </a:xfrm>
      </p:grpSpPr>
      <p:sp>
        <p:nvSpPr>
          <p:cNvPr id="744" name="Google Shape;744;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5" name="Google Shape;745;p62"/>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746" name="Google Shape;746;p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747" name="Google Shape;747;p62"/>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8" name="Google Shape;748;p62"/>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9" name="Google Shape;749;p62"/>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3" Type="http://schemas.openxmlformats.org/officeDocument/2006/relationships/theme" Target="../theme/theme1.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5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52.png"/><Relationship Id="rId4" Type="http://schemas.openxmlformats.org/officeDocument/2006/relationships/image" Target="../media/image54.png"/><Relationship Id="rId5" Type="http://schemas.openxmlformats.org/officeDocument/2006/relationships/image" Target="../media/image5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52.png"/><Relationship Id="rId4" Type="http://schemas.openxmlformats.org/officeDocument/2006/relationships/image" Target="../media/image54.png"/><Relationship Id="rId5" Type="http://schemas.openxmlformats.org/officeDocument/2006/relationships/image" Target="../media/image5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52.png"/><Relationship Id="rId4" Type="http://schemas.openxmlformats.org/officeDocument/2006/relationships/image" Target="../media/image54.png"/><Relationship Id="rId5" Type="http://schemas.openxmlformats.org/officeDocument/2006/relationships/image" Target="../media/image5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0.xml"/><Relationship Id="rId3" Type="http://schemas.openxmlformats.org/officeDocument/2006/relationships/image" Target="../media/image5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 Id="rId3" Type="http://schemas.openxmlformats.org/officeDocument/2006/relationships/image" Target="../media/image5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4.xml"/><Relationship Id="rId3" Type="http://schemas.openxmlformats.org/officeDocument/2006/relationships/image" Target="../media/image54.png"/><Relationship Id="rId4" Type="http://schemas.openxmlformats.org/officeDocument/2006/relationships/image" Target="../media/image53.png"/><Relationship Id="rId5" Type="http://schemas.openxmlformats.org/officeDocument/2006/relationships/image" Target="../media/image5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5.xml"/><Relationship Id="rId3"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0.png"/><Relationship Id="rId5" Type="http://schemas.openxmlformats.org/officeDocument/2006/relationships/image" Target="../media/image62.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1.png"/><Relationship Id="rId11" Type="http://schemas.openxmlformats.org/officeDocument/2006/relationships/image" Target="../media/image56.png"/><Relationship Id="rId10" Type="http://schemas.openxmlformats.org/officeDocument/2006/relationships/image" Target="../media/image64.png"/><Relationship Id="rId13" Type="http://schemas.openxmlformats.org/officeDocument/2006/relationships/image" Target="../media/image65.png"/><Relationship Id="rId12" Type="http://schemas.openxmlformats.org/officeDocument/2006/relationships/image" Target="../media/image66.png"/><Relationship Id="rId14" Type="http://schemas.openxmlformats.org/officeDocument/2006/relationships/image" Target="../media/image6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6.xml"/><Relationship Id="rId3"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0.png"/><Relationship Id="rId5" Type="http://schemas.openxmlformats.org/officeDocument/2006/relationships/image" Target="../media/image62.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1.png"/><Relationship Id="rId11" Type="http://schemas.openxmlformats.org/officeDocument/2006/relationships/image" Target="../media/image56.png"/><Relationship Id="rId10" Type="http://schemas.openxmlformats.org/officeDocument/2006/relationships/image" Target="../media/image64.png"/><Relationship Id="rId13" Type="http://schemas.openxmlformats.org/officeDocument/2006/relationships/image" Target="../media/image65.png"/><Relationship Id="rId12" Type="http://schemas.openxmlformats.org/officeDocument/2006/relationships/image" Target="../media/image66.png"/><Relationship Id="rId14" Type="http://schemas.openxmlformats.org/officeDocument/2006/relationships/image" Target="../media/image6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7.xml"/><Relationship Id="rId3"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0.png"/><Relationship Id="rId5" Type="http://schemas.openxmlformats.org/officeDocument/2006/relationships/image" Target="../media/image62.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1.png"/><Relationship Id="rId11" Type="http://schemas.openxmlformats.org/officeDocument/2006/relationships/image" Target="../media/image56.png"/><Relationship Id="rId10" Type="http://schemas.openxmlformats.org/officeDocument/2006/relationships/image" Target="../media/image64.png"/><Relationship Id="rId13" Type="http://schemas.openxmlformats.org/officeDocument/2006/relationships/image" Target="../media/image65.png"/><Relationship Id="rId12" Type="http://schemas.openxmlformats.org/officeDocument/2006/relationships/image" Target="../media/image66.png"/><Relationship Id="rId14" Type="http://schemas.openxmlformats.org/officeDocument/2006/relationships/image" Target="../media/image6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8.xml"/><Relationship Id="rId3"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0.png"/><Relationship Id="rId5" Type="http://schemas.openxmlformats.org/officeDocument/2006/relationships/image" Target="../media/image62.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1.png"/><Relationship Id="rId11" Type="http://schemas.openxmlformats.org/officeDocument/2006/relationships/image" Target="../media/image56.png"/><Relationship Id="rId10" Type="http://schemas.openxmlformats.org/officeDocument/2006/relationships/image" Target="../media/image64.png"/><Relationship Id="rId13" Type="http://schemas.openxmlformats.org/officeDocument/2006/relationships/image" Target="../media/image65.png"/><Relationship Id="rId12" Type="http://schemas.openxmlformats.org/officeDocument/2006/relationships/image" Target="../media/image66.png"/><Relationship Id="rId14" Type="http://schemas.openxmlformats.org/officeDocument/2006/relationships/image" Target="../media/image6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 Id="rId3"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0.png"/><Relationship Id="rId5" Type="http://schemas.openxmlformats.org/officeDocument/2006/relationships/image" Target="../media/image62.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1.png"/><Relationship Id="rId11" Type="http://schemas.openxmlformats.org/officeDocument/2006/relationships/image" Target="../media/image56.png"/><Relationship Id="rId10" Type="http://schemas.openxmlformats.org/officeDocument/2006/relationships/image" Target="../media/image64.png"/><Relationship Id="rId13" Type="http://schemas.openxmlformats.org/officeDocument/2006/relationships/image" Target="../media/image65.png"/><Relationship Id="rId12" Type="http://schemas.openxmlformats.org/officeDocument/2006/relationships/image" Target="../media/image66.png"/><Relationship Id="rId14" Type="http://schemas.openxmlformats.org/officeDocument/2006/relationships/image" Target="../media/image6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0.xml"/><Relationship Id="rId3" Type="http://schemas.openxmlformats.org/officeDocument/2006/relationships/image" Target="../media/image5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 Id="rId3" Type="http://schemas.openxmlformats.org/officeDocument/2006/relationships/image" Target="../media/image5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28.xml"/><Relationship Id="rId3" Type="http://schemas.openxmlformats.org/officeDocument/2006/relationships/image" Target="../media/image52.png"/><Relationship Id="rId4" Type="http://schemas.openxmlformats.org/officeDocument/2006/relationships/image" Target="../media/image5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5.xml"/><Relationship Id="rId3" Type="http://schemas.openxmlformats.org/officeDocument/2006/relationships/image" Target="../media/image70.png"/><Relationship Id="rId4" Type="http://schemas.openxmlformats.org/officeDocument/2006/relationships/image" Target="../media/image6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36.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6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63"/>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Rounding integers to one significant figure</a:t>
            </a:r>
            <a:endParaRPr/>
          </a:p>
        </p:txBody>
      </p:sp>
      <p:sp>
        <p:nvSpPr>
          <p:cNvPr id="755" name="Google Shape;755;p63"/>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Estimation and rounding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9" name="Shape 759"/>
        <p:cNvGrpSpPr/>
        <p:nvPr/>
      </p:nvGrpSpPr>
      <p:grpSpPr>
        <a:xfrm>
          <a:off x="0" y="0"/>
          <a:ext cx="0" cy="0"/>
          <a:chOff x="0" y="0"/>
          <a:chExt cx="0" cy="0"/>
        </a:xfrm>
      </p:grpSpPr>
      <p:sp>
        <p:nvSpPr>
          <p:cNvPr id="760" name="Google Shape;760;p64"/>
          <p:cNvSpPr txBox="1"/>
          <p:nvPr/>
        </p:nvSpPr>
        <p:spPr>
          <a:xfrm>
            <a:off x="5655175" y="9530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65"/>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round integers to one significant figure.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66"/>
          <p:cNvSpPr txBox="1"/>
          <p:nvPr>
            <p:ph idx="1" type="subTitle"/>
          </p:nvPr>
        </p:nvSpPr>
        <p:spPr>
          <a:xfrm>
            <a:off x="306950" y="2741400"/>
            <a:ext cx="7767300" cy="15783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0" lang="en-GB"/>
              <a:t>Round − To change a number into another number that is approximately the same value but is easier to work with. E.g. Round 561 to the nearest 10 is 560. </a:t>
            </a:r>
            <a:endParaRPr b="0"/>
          </a:p>
          <a:p>
            <a:pPr indent="0" lvl="0" marL="0" rtl="0" algn="l">
              <a:spcBef>
                <a:spcPts val="1000"/>
              </a:spcBef>
              <a:spcAft>
                <a:spcPts val="0"/>
              </a:spcAft>
              <a:buClr>
                <a:schemeClr val="dk1"/>
              </a:buClr>
              <a:buSzPts val="1100"/>
              <a:buFont typeface="Arial"/>
              <a:buNone/>
            </a:pPr>
            <a:r>
              <a:t/>
            </a:r>
            <a:endParaRPr b="0"/>
          </a:p>
          <a:p>
            <a:pPr indent="0" lvl="0" marL="0" rtl="0" algn="l">
              <a:spcBef>
                <a:spcPts val="1000"/>
              </a:spcBef>
              <a:spcAft>
                <a:spcPts val="1000"/>
              </a:spcAft>
              <a:buClr>
                <a:schemeClr val="dk1"/>
              </a:buClr>
              <a:buSzPts val="1100"/>
              <a:buFont typeface="Arial"/>
              <a:buNone/>
            </a:pPr>
            <a:r>
              <a:rPr b="0" lang="en-GB"/>
              <a:t> </a:t>
            </a:r>
            <a:endParaRPr b="0"/>
          </a:p>
        </p:txBody>
      </p:sp>
      <p:sp>
        <p:nvSpPr>
          <p:cNvPr id="771" name="Google Shape;771;p66"/>
          <p:cNvSpPr txBox="1"/>
          <p:nvPr/>
        </p:nvSpPr>
        <p:spPr>
          <a:xfrm>
            <a:off x="306950" y="1066800"/>
            <a:ext cx="7833300" cy="1117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b="1" lang="en-GB" sz="2200">
                <a:solidFill>
                  <a:srgbClr val="282828"/>
                </a:solidFill>
                <a:latin typeface="Lexend"/>
                <a:ea typeface="Lexend"/>
                <a:cs typeface="Lexend"/>
                <a:sym typeface="Lexend"/>
              </a:rPr>
              <a:t>Significant figures</a:t>
            </a:r>
            <a:r>
              <a:rPr lang="en-GB" sz="2200">
                <a:solidFill>
                  <a:srgbClr val="282828"/>
                </a:solidFill>
                <a:latin typeface="Lexend"/>
                <a:ea typeface="Lexend"/>
                <a:cs typeface="Lexend"/>
                <a:sym typeface="Lexend"/>
              </a:rPr>
              <a:t> are the digits in a number that contribute to the accuracy of the number. The first </a:t>
            </a:r>
            <a:r>
              <a:rPr b="1" lang="en-GB" sz="2200">
                <a:solidFill>
                  <a:srgbClr val="282828"/>
                </a:solidFill>
                <a:latin typeface="Lexend"/>
                <a:ea typeface="Lexend"/>
                <a:cs typeface="Lexend"/>
                <a:sym typeface="Lexend"/>
              </a:rPr>
              <a:t>significant figure</a:t>
            </a:r>
            <a:r>
              <a:rPr lang="en-GB" sz="2200">
                <a:solidFill>
                  <a:srgbClr val="282828"/>
                </a:solidFill>
                <a:latin typeface="Lexend"/>
                <a:ea typeface="Lexend"/>
                <a:cs typeface="Lexend"/>
                <a:sym typeface="Lexend"/>
              </a:rPr>
              <a:t> is the first non-zero digit. </a:t>
            </a:r>
            <a:endParaRPr sz="2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67"/>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Identifying significant figures</a:t>
            </a:r>
            <a:endParaRPr/>
          </a:p>
        </p:txBody>
      </p:sp>
      <p:sp>
        <p:nvSpPr>
          <p:cNvPr id="777" name="Google Shape;777;p67"/>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number line for significant figures</a:t>
            </a:r>
            <a:endParaRPr/>
          </a:p>
        </p:txBody>
      </p:sp>
      <p:sp>
        <p:nvSpPr>
          <p:cNvPr id="778" name="Google Shape;778;p67"/>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Rounding integers to one significant figure</a:t>
            </a:r>
            <a:endParaRPr/>
          </a:p>
        </p:txBody>
      </p:sp>
      <p:pic>
        <p:nvPicPr>
          <p:cNvPr id="779" name="Google Shape;779;p67"/>
          <p:cNvPicPr preferRelativeResize="0"/>
          <p:nvPr/>
        </p:nvPicPr>
        <p:blipFill>
          <a:blip r:embed="rId3">
            <a:alphaModFix/>
          </a:blip>
          <a:stretch>
            <a:fillRect/>
          </a:stretch>
        </p:blipFill>
        <p:spPr>
          <a:xfrm>
            <a:off x="410975" y="1741000"/>
            <a:ext cx="450575" cy="446750"/>
          </a:xfrm>
          <a:prstGeom prst="rect">
            <a:avLst/>
          </a:prstGeom>
          <a:noFill/>
          <a:ln>
            <a:noFill/>
          </a:ln>
        </p:spPr>
      </p:pic>
      <p:sp>
        <p:nvSpPr>
          <p:cNvPr id="780" name="Google Shape;780;p67"/>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Rounding to one significant figure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6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Identifying significant figures</a:t>
            </a:r>
            <a:endParaRPr/>
          </a:p>
        </p:txBody>
      </p:sp>
      <p:sp>
        <p:nvSpPr>
          <p:cNvPr id="786" name="Google Shape;786;p68"/>
          <p:cNvSpPr txBox="1"/>
          <p:nvPr>
            <p:ph idx="1" type="body"/>
          </p:nvPr>
        </p:nvSpPr>
        <p:spPr>
          <a:xfrm>
            <a:off x="324000" y="606900"/>
            <a:ext cx="8237700" cy="82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Izzy and Alex are discussing </a:t>
            </a:r>
            <a:r>
              <a:rPr lang="en-GB" sz="2000"/>
              <a:t>which</a:t>
            </a:r>
            <a:r>
              <a:rPr lang="en-GB" sz="2000"/>
              <a:t> digit they think is the most </a:t>
            </a:r>
            <a:r>
              <a:rPr lang="en-GB" sz="2000"/>
              <a:t>significant</a:t>
            </a:r>
            <a:r>
              <a:rPr lang="en-GB" sz="2000"/>
              <a:t> in 123 456 789.</a:t>
            </a:r>
            <a:endParaRPr sz="2000"/>
          </a:p>
        </p:txBody>
      </p:sp>
      <p:pic>
        <p:nvPicPr>
          <p:cNvPr id="787" name="Google Shape;787;p68"/>
          <p:cNvPicPr preferRelativeResize="0"/>
          <p:nvPr/>
        </p:nvPicPr>
        <p:blipFill>
          <a:blip r:embed="rId3">
            <a:alphaModFix/>
          </a:blip>
          <a:stretch>
            <a:fillRect/>
          </a:stretch>
        </p:blipFill>
        <p:spPr>
          <a:xfrm>
            <a:off x="7574297" y="1782013"/>
            <a:ext cx="777007" cy="896096"/>
          </a:xfrm>
          <a:prstGeom prst="rect">
            <a:avLst/>
          </a:prstGeom>
          <a:noFill/>
          <a:ln>
            <a:noFill/>
          </a:ln>
        </p:spPr>
      </p:pic>
      <p:pic>
        <p:nvPicPr>
          <p:cNvPr id="788" name="Google Shape;788;p68"/>
          <p:cNvPicPr preferRelativeResize="0"/>
          <p:nvPr/>
        </p:nvPicPr>
        <p:blipFill>
          <a:blip r:embed="rId4">
            <a:alphaModFix/>
          </a:blip>
          <a:stretch>
            <a:fillRect/>
          </a:stretch>
        </p:blipFill>
        <p:spPr>
          <a:xfrm flipH="1">
            <a:off x="323988" y="1643987"/>
            <a:ext cx="1114250" cy="1078300"/>
          </a:xfrm>
          <a:prstGeom prst="rect">
            <a:avLst/>
          </a:prstGeom>
          <a:noFill/>
          <a:ln>
            <a:noFill/>
          </a:ln>
        </p:spPr>
      </p:pic>
      <p:sp>
        <p:nvSpPr>
          <p:cNvPr id="789" name="Google Shape;789;p68"/>
          <p:cNvSpPr txBox="1"/>
          <p:nvPr/>
        </p:nvSpPr>
        <p:spPr>
          <a:xfrm>
            <a:off x="438475" y="26781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sz="1800">
              <a:latin typeface="Lexend"/>
              <a:ea typeface="Lexend"/>
              <a:cs typeface="Lexend"/>
              <a:sym typeface="Lexend"/>
            </a:endParaRPr>
          </a:p>
        </p:txBody>
      </p:sp>
      <p:sp>
        <p:nvSpPr>
          <p:cNvPr id="790" name="Google Shape;790;p68"/>
          <p:cNvSpPr txBox="1"/>
          <p:nvPr/>
        </p:nvSpPr>
        <p:spPr>
          <a:xfrm>
            <a:off x="7520150" y="26781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sz="1800">
              <a:latin typeface="Lexend"/>
              <a:ea typeface="Lexend"/>
              <a:cs typeface="Lexend"/>
              <a:sym typeface="Lexend"/>
            </a:endParaRPr>
          </a:p>
        </p:txBody>
      </p:sp>
      <p:grpSp>
        <p:nvGrpSpPr>
          <p:cNvPr id="791" name="Google Shape;791;p68"/>
          <p:cNvGrpSpPr/>
          <p:nvPr/>
        </p:nvGrpSpPr>
        <p:grpSpPr>
          <a:xfrm>
            <a:off x="5460675" y="976778"/>
            <a:ext cx="1955251" cy="1625125"/>
            <a:chOff x="5460675" y="1510178"/>
            <a:chExt cx="1955251" cy="1625125"/>
          </a:xfrm>
        </p:grpSpPr>
        <p:pic>
          <p:nvPicPr>
            <p:cNvPr id="792" name="Google Shape;792;p68"/>
            <p:cNvPicPr preferRelativeResize="0"/>
            <p:nvPr/>
          </p:nvPicPr>
          <p:blipFill rotWithShape="1">
            <a:blip r:embed="rId5">
              <a:alphaModFix/>
            </a:blip>
            <a:srcRect b="0" l="0" r="69082" t="56280"/>
            <a:stretch/>
          </p:blipFill>
          <p:spPr>
            <a:xfrm>
              <a:off x="5460675" y="1510178"/>
              <a:ext cx="1955251" cy="1625125"/>
            </a:xfrm>
            <a:prstGeom prst="rect">
              <a:avLst/>
            </a:prstGeom>
            <a:noFill/>
            <a:ln>
              <a:noFill/>
            </a:ln>
          </p:spPr>
        </p:pic>
        <p:sp>
          <p:nvSpPr>
            <p:cNvPr id="793" name="Google Shape;793;p68"/>
            <p:cNvSpPr txBox="1"/>
            <p:nvPr/>
          </p:nvSpPr>
          <p:spPr>
            <a:xfrm>
              <a:off x="5582400" y="1612475"/>
              <a:ext cx="1678800" cy="7728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latin typeface="Lexend"/>
                  <a:ea typeface="Lexend"/>
                  <a:cs typeface="Lexend"/>
                  <a:sym typeface="Lexend"/>
                </a:rPr>
                <a:t>I think it is the 1 as that is the first digit.</a:t>
              </a:r>
              <a:endParaRPr sz="1800">
                <a:latin typeface="Lexend"/>
                <a:ea typeface="Lexend"/>
                <a:cs typeface="Lexend"/>
                <a:sym typeface="Lexend"/>
              </a:endParaRPr>
            </a:p>
          </p:txBody>
        </p:sp>
      </p:grpSp>
      <p:grpSp>
        <p:nvGrpSpPr>
          <p:cNvPr id="794" name="Google Shape;794;p68"/>
          <p:cNvGrpSpPr/>
          <p:nvPr/>
        </p:nvGrpSpPr>
        <p:grpSpPr>
          <a:xfrm>
            <a:off x="1744324" y="1146200"/>
            <a:ext cx="1955251" cy="1573599"/>
            <a:chOff x="1744324" y="1374800"/>
            <a:chExt cx="1955251" cy="1573599"/>
          </a:xfrm>
        </p:grpSpPr>
        <p:pic>
          <p:nvPicPr>
            <p:cNvPr id="795" name="Google Shape;795;p68"/>
            <p:cNvPicPr preferRelativeResize="0"/>
            <p:nvPr/>
          </p:nvPicPr>
          <p:blipFill rotWithShape="1">
            <a:blip r:embed="rId5">
              <a:alphaModFix/>
            </a:blip>
            <a:srcRect b="0" l="0" r="69082" t="56280"/>
            <a:stretch/>
          </p:blipFill>
          <p:spPr>
            <a:xfrm flipH="1">
              <a:off x="1744324" y="1374800"/>
              <a:ext cx="1955251" cy="1573599"/>
            </a:xfrm>
            <a:prstGeom prst="rect">
              <a:avLst/>
            </a:prstGeom>
            <a:noFill/>
            <a:ln>
              <a:noFill/>
            </a:ln>
          </p:spPr>
        </p:pic>
        <p:sp>
          <p:nvSpPr>
            <p:cNvPr id="796" name="Google Shape;796;p68"/>
            <p:cNvSpPr txBox="1"/>
            <p:nvPr/>
          </p:nvSpPr>
          <p:spPr>
            <a:xfrm>
              <a:off x="1942250" y="1477100"/>
              <a:ext cx="1678800" cy="7728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latin typeface="Lexend"/>
                  <a:ea typeface="Lexend"/>
                  <a:cs typeface="Lexend"/>
                  <a:sym typeface="Lexend"/>
                </a:rPr>
                <a:t>I think it is the 9 as that is the highest number.</a:t>
              </a:r>
              <a:endParaRPr sz="1800">
                <a:latin typeface="Lexend"/>
                <a:ea typeface="Lexend"/>
                <a:cs typeface="Lexend"/>
                <a:sym typeface="Lexend"/>
              </a:endParaRPr>
            </a:p>
          </p:txBody>
        </p:sp>
      </p:grpSp>
      <p:sp>
        <p:nvSpPr>
          <p:cNvPr id="797" name="Google Shape;797;p68"/>
          <p:cNvSpPr txBox="1"/>
          <p:nvPr>
            <p:ph idx="1" type="body"/>
          </p:nvPr>
        </p:nvSpPr>
        <p:spPr>
          <a:xfrm>
            <a:off x="324000" y="3075825"/>
            <a:ext cx="8237700" cy="1625100"/>
          </a:xfrm>
          <a:prstGeom prst="rect">
            <a:avLst/>
          </a:prstGeom>
        </p:spPr>
        <p:txBody>
          <a:bodyPr anchorCtr="0" anchor="t" bIns="0" lIns="0" spcFirstLastPara="1" rIns="0" wrap="square" tIns="0">
            <a:noAutofit/>
          </a:bodyPr>
          <a:lstStyle/>
          <a:p>
            <a:pPr indent="0" lvl="0" marL="0" rtl="0" algn="l">
              <a:lnSpc>
                <a:spcPct val="90000"/>
              </a:lnSpc>
              <a:spcBef>
                <a:spcPts val="0"/>
              </a:spcBef>
              <a:spcAft>
                <a:spcPts val="0"/>
              </a:spcAft>
              <a:buNone/>
            </a:pPr>
            <a:r>
              <a:rPr lang="en-GB" sz="2000"/>
              <a:t>One of them is correct.</a:t>
            </a:r>
            <a:endParaRPr sz="2000"/>
          </a:p>
          <a:p>
            <a:pPr indent="0" lvl="0" marL="0" rtl="0" algn="l">
              <a:lnSpc>
                <a:spcPct val="90000"/>
              </a:lnSpc>
              <a:spcBef>
                <a:spcPts val="1000"/>
              </a:spcBef>
              <a:spcAft>
                <a:spcPts val="0"/>
              </a:spcAft>
              <a:buNone/>
            </a:pPr>
            <a:r>
              <a:rPr lang="en-GB" sz="2000"/>
              <a:t>Who do you think is correct?</a:t>
            </a:r>
            <a:endParaRPr sz="2000"/>
          </a:p>
          <a:p>
            <a:pPr indent="0" lvl="0" marL="0" rtl="0" algn="l">
              <a:lnSpc>
                <a:spcPct val="90000"/>
              </a:lnSpc>
              <a:spcBef>
                <a:spcPts val="1000"/>
              </a:spcBef>
              <a:spcAft>
                <a:spcPts val="0"/>
              </a:spcAft>
              <a:buNone/>
            </a:pPr>
            <a:r>
              <a:rPr lang="en-GB" sz="2000">
                <a:latin typeface="Kalam"/>
                <a:ea typeface="Kalam"/>
                <a:cs typeface="Kalam"/>
                <a:sym typeface="Kalam"/>
              </a:rPr>
              <a:t>The most </a:t>
            </a:r>
            <a:r>
              <a:rPr b="1" lang="en-GB" sz="2000">
                <a:latin typeface="Kalam"/>
                <a:ea typeface="Kalam"/>
                <a:cs typeface="Kalam"/>
                <a:sym typeface="Kalam"/>
              </a:rPr>
              <a:t>significant</a:t>
            </a:r>
            <a:r>
              <a:rPr b="1" lang="en-GB" sz="2000">
                <a:latin typeface="Kalam"/>
                <a:ea typeface="Kalam"/>
                <a:cs typeface="Kalam"/>
                <a:sym typeface="Kalam"/>
              </a:rPr>
              <a:t> figure</a:t>
            </a:r>
            <a:r>
              <a:rPr lang="en-GB" sz="2000">
                <a:latin typeface="Kalam"/>
                <a:ea typeface="Kalam"/>
                <a:cs typeface="Kalam"/>
                <a:sym typeface="Kalam"/>
              </a:rPr>
              <a:t> is the figure that shows us the </a:t>
            </a:r>
            <a:r>
              <a:rPr lang="en-GB" sz="2000">
                <a:solidFill>
                  <a:schemeClr val="accent4"/>
                </a:solidFill>
                <a:latin typeface="Kalam"/>
                <a:ea typeface="Kalam"/>
                <a:cs typeface="Kalam"/>
                <a:sym typeface="Kalam"/>
              </a:rPr>
              <a:t>approximate</a:t>
            </a:r>
            <a:r>
              <a:rPr lang="en-GB" sz="2000">
                <a:latin typeface="Kalam"/>
                <a:ea typeface="Kalam"/>
                <a:cs typeface="Kalam"/>
                <a:sym typeface="Kalam"/>
              </a:rPr>
              <a:t> size of the number.</a:t>
            </a:r>
            <a:endParaRPr sz="2000">
              <a:latin typeface="Kalam"/>
              <a:ea typeface="Kalam"/>
              <a:cs typeface="Kalam"/>
              <a:sym typeface="Kalam"/>
            </a:endParaRPr>
          </a:p>
          <a:p>
            <a:pPr indent="0" lvl="0" marL="0" rtl="0" algn="l">
              <a:lnSpc>
                <a:spcPct val="90000"/>
              </a:lnSpc>
              <a:spcBef>
                <a:spcPts val="1000"/>
              </a:spcBef>
              <a:spcAft>
                <a:spcPts val="1000"/>
              </a:spcAft>
              <a:buNone/>
            </a:pPr>
            <a:r>
              <a:rPr lang="en-GB" sz="2000">
                <a:latin typeface="Kalam"/>
                <a:ea typeface="Kalam"/>
                <a:cs typeface="Kalam"/>
                <a:sym typeface="Kalam"/>
              </a:rPr>
              <a:t>Therefore, Alex is correct. </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Identifying significant figures</a:t>
            </a:r>
            <a:endParaRPr/>
          </a:p>
        </p:txBody>
      </p:sp>
      <p:sp>
        <p:nvSpPr>
          <p:cNvPr id="803" name="Google Shape;803;p69"/>
          <p:cNvSpPr txBox="1"/>
          <p:nvPr>
            <p:ph idx="1" type="body"/>
          </p:nvPr>
        </p:nvSpPr>
        <p:spPr>
          <a:xfrm>
            <a:off x="324000" y="2740500"/>
            <a:ext cx="8237700" cy="821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Which is the most </a:t>
            </a:r>
            <a:r>
              <a:rPr b="1" lang="en-GB"/>
              <a:t>significant figure</a:t>
            </a:r>
            <a:r>
              <a:rPr lang="en-GB"/>
              <a:t> in 3456?</a:t>
            </a:r>
            <a:endParaRPr/>
          </a:p>
          <a:p>
            <a:pPr indent="0" lvl="0" marL="0" rtl="0" algn="l">
              <a:spcBef>
                <a:spcPts val="1000"/>
              </a:spcBef>
              <a:spcAft>
                <a:spcPts val="1000"/>
              </a:spcAft>
              <a:buNone/>
            </a:pPr>
            <a:r>
              <a:rPr lang="en-GB"/>
              <a:t> </a:t>
            </a:r>
            <a:r>
              <a:rPr lang="en-GB">
                <a:latin typeface="Kalam"/>
                <a:ea typeface="Kalam"/>
                <a:cs typeface="Kalam"/>
                <a:sym typeface="Kalam"/>
              </a:rPr>
              <a:t>3 is the most significant figure in 3456.</a:t>
            </a:r>
            <a:endParaRPr>
              <a:latin typeface="Kalam"/>
              <a:ea typeface="Kalam"/>
              <a:cs typeface="Kalam"/>
              <a:sym typeface="Kalam"/>
            </a:endParaRPr>
          </a:p>
        </p:txBody>
      </p:sp>
      <p:pic>
        <p:nvPicPr>
          <p:cNvPr id="804" name="Google Shape;804;p69"/>
          <p:cNvPicPr preferRelativeResize="0"/>
          <p:nvPr/>
        </p:nvPicPr>
        <p:blipFill>
          <a:blip r:embed="rId3">
            <a:alphaModFix/>
          </a:blip>
          <a:stretch>
            <a:fillRect/>
          </a:stretch>
        </p:blipFill>
        <p:spPr>
          <a:xfrm>
            <a:off x="7574297" y="1401012"/>
            <a:ext cx="777007" cy="896096"/>
          </a:xfrm>
          <a:prstGeom prst="rect">
            <a:avLst/>
          </a:prstGeom>
          <a:noFill/>
          <a:ln>
            <a:noFill/>
          </a:ln>
        </p:spPr>
      </p:pic>
      <p:pic>
        <p:nvPicPr>
          <p:cNvPr id="805" name="Google Shape;805;p69"/>
          <p:cNvPicPr preferRelativeResize="0"/>
          <p:nvPr/>
        </p:nvPicPr>
        <p:blipFill>
          <a:blip r:embed="rId4">
            <a:alphaModFix/>
          </a:blip>
          <a:stretch>
            <a:fillRect/>
          </a:stretch>
        </p:blipFill>
        <p:spPr>
          <a:xfrm flipH="1">
            <a:off x="323988" y="1262987"/>
            <a:ext cx="1114250" cy="1078300"/>
          </a:xfrm>
          <a:prstGeom prst="rect">
            <a:avLst/>
          </a:prstGeom>
          <a:noFill/>
          <a:ln>
            <a:noFill/>
          </a:ln>
        </p:spPr>
      </p:pic>
      <p:sp>
        <p:nvSpPr>
          <p:cNvPr id="806" name="Google Shape;806;p69"/>
          <p:cNvSpPr txBox="1"/>
          <p:nvPr/>
        </p:nvSpPr>
        <p:spPr>
          <a:xfrm>
            <a:off x="438475" y="22971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sz="1800">
              <a:latin typeface="Lexend"/>
              <a:ea typeface="Lexend"/>
              <a:cs typeface="Lexend"/>
              <a:sym typeface="Lexend"/>
            </a:endParaRPr>
          </a:p>
        </p:txBody>
      </p:sp>
      <p:sp>
        <p:nvSpPr>
          <p:cNvPr id="807" name="Google Shape;807;p69"/>
          <p:cNvSpPr txBox="1"/>
          <p:nvPr/>
        </p:nvSpPr>
        <p:spPr>
          <a:xfrm>
            <a:off x="7520150" y="22971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sz="1800">
              <a:latin typeface="Lexend"/>
              <a:ea typeface="Lexend"/>
              <a:cs typeface="Lexend"/>
              <a:sym typeface="Lexend"/>
            </a:endParaRPr>
          </a:p>
        </p:txBody>
      </p:sp>
      <p:grpSp>
        <p:nvGrpSpPr>
          <p:cNvPr id="808" name="Google Shape;808;p69"/>
          <p:cNvGrpSpPr/>
          <p:nvPr/>
        </p:nvGrpSpPr>
        <p:grpSpPr>
          <a:xfrm>
            <a:off x="5460675" y="671976"/>
            <a:ext cx="1955251" cy="896076"/>
            <a:chOff x="5460675" y="671976"/>
            <a:chExt cx="1955251" cy="896076"/>
          </a:xfrm>
        </p:grpSpPr>
        <p:pic>
          <p:nvPicPr>
            <p:cNvPr id="809" name="Google Shape;809;p69"/>
            <p:cNvPicPr preferRelativeResize="0"/>
            <p:nvPr/>
          </p:nvPicPr>
          <p:blipFill rotWithShape="1">
            <a:blip r:embed="rId5">
              <a:alphaModFix/>
            </a:blip>
            <a:srcRect b="0" l="0" r="69082" t="56280"/>
            <a:stretch/>
          </p:blipFill>
          <p:spPr>
            <a:xfrm>
              <a:off x="5460675" y="671976"/>
              <a:ext cx="1955251" cy="896076"/>
            </a:xfrm>
            <a:prstGeom prst="rect">
              <a:avLst/>
            </a:prstGeom>
            <a:noFill/>
            <a:ln>
              <a:noFill/>
            </a:ln>
          </p:spPr>
        </p:pic>
        <p:sp>
          <p:nvSpPr>
            <p:cNvPr id="810" name="Google Shape;810;p69"/>
            <p:cNvSpPr txBox="1"/>
            <p:nvPr/>
          </p:nvSpPr>
          <p:spPr>
            <a:xfrm>
              <a:off x="5582400" y="774275"/>
              <a:ext cx="1678800" cy="7728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latin typeface="Lexend"/>
                  <a:ea typeface="Lexend"/>
                  <a:cs typeface="Lexend"/>
                  <a:sym typeface="Lexend"/>
                </a:rPr>
                <a:t>Yes, I think so.</a:t>
              </a:r>
              <a:endParaRPr sz="1800">
                <a:latin typeface="Lexend"/>
                <a:ea typeface="Lexend"/>
                <a:cs typeface="Lexend"/>
                <a:sym typeface="Lexend"/>
              </a:endParaRPr>
            </a:p>
          </p:txBody>
        </p:sp>
      </p:grpSp>
      <p:grpSp>
        <p:nvGrpSpPr>
          <p:cNvPr id="811" name="Google Shape;811;p69"/>
          <p:cNvGrpSpPr/>
          <p:nvPr/>
        </p:nvGrpSpPr>
        <p:grpSpPr>
          <a:xfrm>
            <a:off x="1744324" y="536600"/>
            <a:ext cx="1955251" cy="1573599"/>
            <a:chOff x="1744324" y="536600"/>
            <a:chExt cx="1955251" cy="1573599"/>
          </a:xfrm>
        </p:grpSpPr>
        <p:pic>
          <p:nvPicPr>
            <p:cNvPr id="812" name="Google Shape;812;p69"/>
            <p:cNvPicPr preferRelativeResize="0"/>
            <p:nvPr/>
          </p:nvPicPr>
          <p:blipFill rotWithShape="1">
            <a:blip r:embed="rId5">
              <a:alphaModFix/>
            </a:blip>
            <a:srcRect b="0" l="0" r="69082" t="56280"/>
            <a:stretch/>
          </p:blipFill>
          <p:spPr>
            <a:xfrm flipH="1">
              <a:off x="1744324" y="536600"/>
              <a:ext cx="1955251" cy="1573599"/>
            </a:xfrm>
            <a:prstGeom prst="rect">
              <a:avLst/>
            </a:prstGeom>
            <a:noFill/>
            <a:ln>
              <a:noFill/>
            </a:ln>
          </p:spPr>
        </p:pic>
        <p:sp>
          <p:nvSpPr>
            <p:cNvPr id="813" name="Google Shape;813;p69"/>
            <p:cNvSpPr txBox="1"/>
            <p:nvPr/>
          </p:nvSpPr>
          <p:spPr>
            <a:xfrm>
              <a:off x="1942250" y="638900"/>
              <a:ext cx="1678800" cy="7728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latin typeface="Lexend"/>
                  <a:ea typeface="Lexend"/>
                  <a:cs typeface="Lexend"/>
                  <a:sym typeface="Lexend"/>
                </a:rPr>
                <a:t>So the first digit is the most significant.</a:t>
              </a:r>
              <a:endParaRPr sz="18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Identifying significant figures</a:t>
            </a:r>
            <a:endParaRPr/>
          </a:p>
        </p:txBody>
      </p:sp>
      <p:sp>
        <p:nvSpPr>
          <p:cNvPr id="819" name="Google Shape;819;p70"/>
          <p:cNvSpPr txBox="1"/>
          <p:nvPr>
            <p:ph idx="1" type="body"/>
          </p:nvPr>
        </p:nvSpPr>
        <p:spPr>
          <a:xfrm>
            <a:off x="324000" y="759300"/>
            <a:ext cx="8237700" cy="282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The first </a:t>
            </a:r>
            <a:r>
              <a:rPr b="1" lang="en-GB"/>
              <a:t>significant figure</a:t>
            </a:r>
            <a:r>
              <a:rPr lang="en-GB"/>
              <a:t> is the </a:t>
            </a:r>
            <a:r>
              <a:rPr lang="en-GB">
                <a:solidFill>
                  <a:schemeClr val="accent4"/>
                </a:solidFill>
              </a:rPr>
              <a:t>first</a:t>
            </a:r>
            <a:r>
              <a:rPr lang="en-GB"/>
              <a:t> </a:t>
            </a:r>
            <a:r>
              <a:rPr lang="en-GB">
                <a:solidFill>
                  <a:schemeClr val="accent4"/>
                </a:solidFill>
              </a:rPr>
              <a:t>non-zero</a:t>
            </a:r>
            <a:r>
              <a:rPr lang="en-GB"/>
              <a:t> digit in a number.</a:t>
            </a:r>
            <a:endParaRPr/>
          </a:p>
          <a:p>
            <a:pPr indent="0" lvl="0" marL="0" rtl="0" algn="l">
              <a:spcBef>
                <a:spcPts val="1000"/>
              </a:spcBef>
              <a:spcAft>
                <a:spcPts val="0"/>
              </a:spcAft>
              <a:buNone/>
            </a:pPr>
            <a:r>
              <a:rPr lang="en-GB"/>
              <a:t>E.g.	</a:t>
            </a:r>
            <a:r>
              <a:rPr lang="en-GB">
                <a:solidFill>
                  <a:schemeClr val="accent4"/>
                </a:solidFill>
              </a:rPr>
              <a:t>1</a:t>
            </a:r>
            <a:r>
              <a:rPr lang="en-GB"/>
              <a:t>8 the 1 is the most </a:t>
            </a:r>
            <a:r>
              <a:rPr b="1" lang="en-GB"/>
              <a:t>significant figure</a:t>
            </a:r>
            <a:endParaRPr b="1"/>
          </a:p>
          <a:p>
            <a:pPr indent="457200" lvl="0" marL="457200" rtl="0" algn="l">
              <a:spcBef>
                <a:spcPts val="1000"/>
              </a:spcBef>
              <a:spcAft>
                <a:spcPts val="0"/>
              </a:spcAft>
              <a:buNone/>
            </a:pPr>
            <a:r>
              <a:rPr lang="en-GB">
                <a:solidFill>
                  <a:schemeClr val="accent4"/>
                </a:solidFill>
              </a:rPr>
              <a:t>2</a:t>
            </a:r>
            <a:r>
              <a:rPr lang="en-GB"/>
              <a:t>93</a:t>
            </a:r>
            <a:r>
              <a:rPr lang="en-GB"/>
              <a:t> the 2 is the most </a:t>
            </a:r>
            <a:r>
              <a:rPr b="1" lang="en-GB"/>
              <a:t>significant figure</a:t>
            </a:r>
            <a:endParaRPr b="1"/>
          </a:p>
          <a:p>
            <a:pPr indent="457200" lvl="0" marL="457200" rtl="0" algn="l">
              <a:spcBef>
                <a:spcPts val="1000"/>
              </a:spcBef>
              <a:spcAft>
                <a:spcPts val="0"/>
              </a:spcAft>
              <a:buNone/>
            </a:pPr>
            <a:r>
              <a:rPr lang="en-GB">
                <a:solidFill>
                  <a:schemeClr val="accent4"/>
                </a:solidFill>
              </a:rPr>
              <a:t>5</a:t>
            </a:r>
            <a:r>
              <a:rPr lang="en-GB"/>
              <a:t>678 the 5 is the most </a:t>
            </a:r>
            <a:r>
              <a:rPr b="1" lang="en-GB"/>
              <a:t>significant figure</a:t>
            </a:r>
            <a:endParaRPr b="1"/>
          </a:p>
          <a:p>
            <a:pPr indent="457200" lvl="0" marL="457200" rtl="0" algn="l">
              <a:spcBef>
                <a:spcPts val="1000"/>
              </a:spcBef>
              <a:spcAft>
                <a:spcPts val="1000"/>
              </a:spcAft>
              <a:buClr>
                <a:schemeClr val="dk1"/>
              </a:buClr>
              <a:buSzPts val="1100"/>
              <a:buFont typeface="Arial"/>
              <a:buNone/>
            </a:pPr>
            <a:r>
              <a:rPr lang="en-GB">
                <a:solidFill>
                  <a:schemeClr val="accent4"/>
                </a:solidFill>
              </a:rPr>
              <a:t>9</a:t>
            </a:r>
            <a:r>
              <a:rPr lang="en-GB"/>
              <a:t>3 592 the 9 is the most </a:t>
            </a:r>
            <a:r>
              <a:rPr b="1" lang="en-GB"/>
              <a:t>significant figure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Identifying significant figures</a:t>
            </a:r>
            <a:endParaRPr/>
          </a:p>
        </p:txBody>
      </p:sp>
      <p:sp>
        <p:nvSpPr>
          <p:cNvPr id="825" name="Google Shape;825;p71"/>
          <p:cNvSpPr txBox="1"/>
          <p:nvPr>
            <p:ph idx="1" type="body"/>
          </p:nvPr>
        </p:nvSpPr>
        <p:spPr>
          <a:xfrm>
            <a:off x="5540275" y="3283575"/>
            <a:ext cx="2946000" cy="143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Alex is correct. </a:t>
            </a:r>
            <a:endParaRPr sz="2000"/>
          </a:p>
          <a:p>
            <a:pPr indent="0" lvl="0" marL="0" rtl="0" algn="l">
              <a:spcBef>
                <a:spcPts val="1000"/>
              </a:spcBef>
              <a:spcAft>
                <a:spcPts val="1000"/>
              </a:spcAft>
              <a:buNone/>
            </a:pPr>
            <a:r>
              <a:rPr lang="en-GB" sz="2000"/>
              <a:t>The first </a:t>
            </a:r>
            <a:r>
              <a:rPr b="1" lang="en-GB" sz="2000"/>
              <a:t>significant figure</a:t>
            </a:r>
            <a:r>
              <a:rPr lang="en-GB" sz="2000"/>
              <a:t> in an integer is the first non-zero digit.</a:t>
            </a:r>
            <a:endParaRPr sz="2000"/>
          </a:p>
        </p:txBody>
      </p:sp>
      <p:pic>
        <p:nvPicPr>
          <p:cNvPr id="826" name="Google Shape;826;p71"/>
          <p:cNvPicPr preferRelativeResize="0"/>
          <p:nvPr/>
        </p:nvPicPr>
        <p:blipFill>
          <a:blip r:embed="rId3">
            <a:alphaModFix/>
          </a:blip>
          <a:stretch>
            <a:fillRect/>
          </a:stretch>
        </p:blipFill>
        <p:spPr>
          <a:xfrm>
            <a:off x="7470072" y="1460262"/>
            <a:ext cx="777007" cy="896096"/>
          </a:xfrm>
          <a:prstGeom prst="rect">
            <a:avLst/>
          </a:prstGeom>
          <a:noFill/>
          <a:ln>
            <a:noFill/>
          </a:ln>
        </p:spPr>
      </p:pic>
      <p:pic>
        <p:nvPicPr>
          <p:cNvPr id="827" name="Google Shape;827;p71"/>
          <p:cNvPicPr preferRelativeResize="0"/>
          <p:nvPr/>
        </p:nvPicPr>
        <p:blipFill>
          <a:blip r:embed="rId4">
            <a:alphaModFix/>
          </a:blip>
          <a:stretch>
            <a:fillRect/>
          </a:stretch>
        </p:blipFill>
        <p:spPr>
          <a:xfrm flipH="1">
            <a:off x="323988" y="1780050"/>
            <a:ext cx="1114250" cy="1078300"/>
          </a:xfrm>
          <a:prstGeom prst="rect">
            <a:avLst/>
          </a:prstGeom>
          <a:noFill/>
          <a:ln>
            <a:noFill/>
          </a:ln>
        </p:spPr>
      </p:pic>
      <p:sp>
        <p:nvSpPr>
          <p:cNvPr id="828" name="Google Shape;828;p71"/>
          <p:cNvSpPr txBox="1"/>
          <p:nvPr/>
        </p:nvSpPr>
        <p:spPr>
          <a:xfrm>
            <a:off x="438475" y="2814163"/>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sz="1800">
              <a:latin typeface="Lexend"/>
              <a:ea typeface="Lexend"/>
              <a:cs typeface="Lexend"/>
              <a:sym typeface="Lexend"/>
            </a:endParaRPr>
          </a:p>
        </p:txBody>
      </p:sp>
      <p:sp>
        <p:nvSpPr>
          <p:cNvPr id="829" name="Google Shape;829;p71"/>
          <p:cNvSpPr txBox="1"/>
          <p:nvPr/>
        </p:nvSpPr>
        <p:spPr>
          <a:xfrm>
            <a:off x="7415925" y="235635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sz="1800">
              <a:latin typeface="Lexend"/>
              <a:ea typeface="Lexend"/>
              <a:cs typeface="Lexend"/>
              <a:sym typeface="Lexend"/>
            </a:endParaRPr>
          </a:p>
        </p:txBody>
      </p:sp>
      <p:grpSp>
        <p:nvGrpSpPr>
          <p:cNvPr id="830" name="Google Shape;830;p71"/>
          <p:cNvGrpSpPr/>
          <p:nvPr/>
        </p:nvGrpSpPr>
        <p:grpSpPr>
          <a:xfrm>
            <a:off x="5460675" y="671975"/>
            <a:ext cx="1955251" cy="1275900"/>
            <a:chOff x="5460675" y="671975"/>
            <a:chExt cx="1955251" cy="1275900"/>
          </a:xfrm>
        </p:grpSpPr>
        <p:pic>
          <p:nvPicPr>
            <p:cNvPr id="831" name="Google Shape;831;p71"/>
            <p:cNvPicPr preferRelativeResize="0"/>
            <p:nvPr/>
          </p:nvPicPr>
          <p:blipFill rotWithShape="1">
            <a:blip r:embed="rId5">
              <a:alphaModFix/>
            </a:blip>
            <a:srcRect b="0" l="0" r="69082" t="56280"/>
            <a:stretch/>
          </p:blipFill>
          <p:spPr>
            <a:xfrm>
              <a:off x="5460675" y="671975"/>
              <a:ext cx="1955251" cy="1275900"/>
            </a:xfrm>
            <a:prstGeom prst="rect">
              <a:avLst/>
            </a:prstGeom>
            <a:noFill/>
            <a:ln>
              <a:noFill/>
            </a:ln>
          </p:spPr>
        </p:pic>
        <p:sp>
          <p:nvSpPr>
            <p:cNvPr id="832" name="Google Shape;832;p71"/>
            <p:cNvSpPr txBox="1"/>
            <p:nvPr/>
          </p:nvSpPr>
          <p:spPr>
            <a:xfrm>
              <a:off x="5582400" y="774275"/>
              <a:ext cx="1678800" cy="10497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latin typeface="Lexend"/>
                  <a:ea typeface="Lexend"/>
                  <a:cs typeface="Lexend"/>
                  <a:sym typeface="Lexend"/>
                </a:rPr>
                <a:t>No, it is the first </a:t>
              </a:r>
              <a:r>
                <a:rPr lang="en-GB" sz="1800">
                  <a:solidFill>
                    <a:schemeClr val="accent4"/>
                  </a:solidFill>
                  <a:latin typeface="Lexend"/>
                  <a:ea typeface="Lexend"/>
                  <a:cs typeface="Lexend"/>
                  <a:sym typeface="Lexend"/>
                </a:rPr>
                <a:t>non-zero </a:t>
              </a:r>
              <a:r>
                <a:rPr lang="en-GB" sz="1800">
                  <a:latin typeface="Lexend"/>
                  <a:ea typeface="Lexend"/>
                  <a:cs typeface="Lexend"/>
                  <a:sym typeface="Lexend"/>
                </a:rPr>
                <a:t>digit.</a:t>
              </a:r>
              <a:endParaRPr sz="1800">
                <a:latin typeface="Lexend"/>
                <a:ea typeface="Lexend"/>
                <a:cs typeface="Lexend"/>
                <a:sym typeface="Lexend"/>
              </a:endParaRPr>
            </a:p>
          </p:txBody>
        </p:sp>
      </p:grpSp>
      <p:grpSp>
        <p:nvGrpSpPr>
          <p:cNvPr id="833" name="Google Shape;833;p71"/>
          <p:cNvGrpSpPr/>
          <p:nvPr/>
        </p:nvGrpSpPr>
        <p:grpSpPr>
          <a:xfrm>
            <a:off x="1290652" y="466603"/>
            <a:ext cx="3106503" cy="2105160"/>
            <a:chOff x="1458810" y="487792"/>
            <a:chExt cx="1955251" cy="1573599"/>
          </a:xfrm>
        </p:grpSpPr>
        <p:pic>
          <p:nvPicPr>
            <p:cNvPr id="834" name="Google Shape;834;p71"/>
            <p:cNvPicPr preferRelativeResize="0"/>
            <p:nvPr/>
          </p:nvPicPr>
          <p:blipFill rotWithShape="1">
            <a:blip r:embed="rId5">
              <a:alphaModFix/>
            </a:blip>
            <a:srcRect b="0" l="0" r="69082" t="56280"/>
            <a:stretch/>
          </p:blipFill>
          <p:spPr>
            <a:xfrm flipH="1">
              <a:off x="1458810" y="487792"/>
              <a:ext cx="1955251" cy="1573599"/>
            </a:xfrm>
            <a:prstGeom prst="rect">
              <a:avLst/>
            </a:prstGeom>
            <a:noFill/>
            <a:ln>
              <a:noFill/>
            </a:ln>
          </p:spPr>
        </p:pic>
        <p:sp>
          <p:nvSpPr>
            <p:cNvPr id="835" name="Google Shape;835;p71"/>
            <p:cNvSpPr txBox="1"/>
            <p:nvPr/>
          </p:nvSpPr>
          <p:spPr>
            <a:xfrm>
              <a:off x="1646748" y="670913"/>
              <a:ext cx="1688100" cy="7728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latin typeface="Lexend"/>
                  <a:ea typeface="Lexend"/>
                  <a:cs typeface="Lexend"/>
                  <a:sym typeface="Lexend"/>
                </a:rPr>
                <a:t>I see what’s going on here, the first </a:t>
              </a:r>
              <a:r>
                <a:rPr b="1" lang="en-GB" sz="1800">
                  <a:latin typeface="Lexend"/>
                  <a:ea typeface="Lexend"/>
                  <a:cs typeface="Lexend"/>
                  <a:sym typeface="Lexend"/>
                </a:rPr>
                <a:t>significant figure</a:t>
              </a:r>
              <a:r>
                <a:rPr lang="en-GB" sz="1800">
                  <a:latin typeface="Lexend"/>
                  <a:ea typeface="Lexend"/>
                  <a:cs typeface="Lexend"/>
                  <a:sym typeface="Lexend"/>
                </a:rPr>
                <a:t> in a number is just the first digit. </a:t>
              </a:r>
              <a:endParaRPr sz="1800">
                <a:latin typeface="Lexend"/>
                <a:ea typeface="Lexend"/>
                <a:cs typeface="Lexend"/>
                <a:sym typeface="Lexend"/>
              </a:endParaRPr>
            </a:p>
          </p:txBody>
        </p:sp>
      </p:grpSp>
      <p:grpSp>
        <p:nvGrpSpPr>
          <p:cNvPr id="836" name="Google Shape;836;p71"/>
          <p:cNvGrpSpPr/>
          <p:nvPr/>
        </p:nvGrpSpPr>
        <p:grpSpPr>
          <a:xfrm>
            <a:off x="1044250" y="2698849"/>
            <a:ext cx="4416425" cy="2015101"/>
            <a:chOff x="1044250" y="2698849"/>
            <a:chExt cx="4416425" cy="2015101"/>
          </a:xfrm>
        </p:grpSpPr>
        <p:pic>
          <p:nvPicPr>
            <p:cNvPr id="837" name="Google Shape;837;p71"/>
            <p:cNvPicPr preferRelativeResize="0"/>
            <p:nvPr/>
          </p:nvPicPr>
          <p:blipFill rotWithShape="1">
            <a:blip r:embed="rId5">
              <a:alphaModFix/>
            </a:blip>
            <a:srcRect b="0" l="0" r="69082" t="56280"/>
            <a:stretch/>
          </p:blipFill>
          <p:spPr>
            <a:xfrm rot="10800000">
              <a:off x="1044250" y="2698849"/>
              <a:ext cx="4416425" cy="2015101"/>
            </a:xfrm>
            <a:prstGeom prst="rect">
              <a:avLst/>
            </a:prstGeom>
            <a:noFill/>
            <a:ln>
              <a:noFill/>
            </a:ln>
          </p:spPr>
        </p:pic>
        <p:sp>
          <p:nvSpPr>
            <p:cNvPr id="838" name="Google Shape;838;p71"/>
            <p:cNvSpPr txBox="1"/>
            <p:nvPr/>
          </p:nvSpPr>
          <p:spPr>
            <a:xfrm>
              <a:off x="1323763" y="2980188"/>
              <a:ext cx="3951300" cy="1384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800">
                  <a:solidFill>
                    <a:schemeClr val="dk1"/>
                  </a:solidFill>
                  <a:latin typeface="Lexend"/>
                  <a:ea typeface="Lexend"/>
                  <a:cs typeface="Lexend"/>
                  <a:sym typeface="Lexend"/>
                </a:rPr>
                <a:t>If I write the number 573 like this: </a:t>
              </a:r>
              <a:endParaRPr sz="1800">
                <a:solidFill>
                  <a:schemeClr val="dk1"/>
                </a:solidFill>
                <a:latin typeface="Lexend"/>
                <a:ea typeface="Lexend"/>
                <a:cs typeface="Lexend"/>
                <a:sym typeface="Lexend"/>
              </a:endParaRPr>
            </a:p>
            <a:p>
              <a:pPr indent="0" lvl="0" marL="0" rtl="0" algn="l">
                <a:lnSpc>
                  <a:spcPct val="100000"/>
                </a:lnSpc>
                <a:spcBef>
                  <a:spcPts val="1000"/>
                </a:spcBef>
                <a:spcAft>
                  <a:spcPts val="0"/>
                </a:spcAft>
                <a:buNone/>
              </a:pPr>
              <a:r>
                <a:rPr lang="en-GB" sz="1800">
                  <a:solidFill>
                    <a:schemeClr val="dk1"/>
                  </a:solidFill>
                  <a:latin typeface="Lexend"/>
                  <a:ea typeface="Lexend"/>
                  <a:cs typeface="Lexend"/>
                  <a:sym typeface="Lexend"/>
                </a:rPr>
                <a:t>0573 </a:t>
              </a:r>
              <a:endParaRPr sz="1800">
                <a:solidFill>
                  <a:schemeClr val="dk1"/>
                </a:solidFill>
                <a:latin typeface="Lexend"/>
                <a:ea typeface="Lexend"/>
                <a:cs typeface="Lexend"/>
                <a:sym typeface="Lexend"/>
              </a:endParaRPr>
            </a:p>
            <a:p>
              <a:pPr indent="0" lvl="0" marL="0" rtl="0" algn="l">
                <a:lnSpc>
                  <a:spcPct val="100000"/>
                </a:lnSpc>
                <a:spcBef>
                  <a:spcPts val="1000"/>
                </a:spcBef>
                <a:spcAft>
                  <a:spcPts val="0"/>
                </a:spcAft>
                <a:buNone/>
              </a:pPr>
              <a:r>
                <a:rPr lang="en-GB" sz="1800">
                  <a:solidFill>
                    <a:schemeClr val="dk1"/>
                  </a:solidFill>
                  <a:latin typeface="Lexend"/>
                  <a:ea typeface="Lexend"/>
                  <a:cs typeface="Lexend"/>
                  <a:sym typeface="Lexend"/>
                </a:rPr>
                <a:t>is zero now the first </a:t>
              </a:r>
              <a:r>
                <a:rPr b="1" lang="en-GB" sz="1800">
                  <a:solidFill>
                    <a:schemeClr val="dk1"/>
                  </a:solidFill>
                  <a:latin typeface="Lexend"/>
                  <a:ea typeface="Lexend"/>
                  <a:cs typeface="Lexend"/>
                  <a:sym typeface="Lexend"/>
                </a:rPr>
                <a:t>significant figure</a:t>
              </a: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p>
              <a:pPr indent="0" lvl="0" marL="0" rtl="0" algn="l">
                <a:lnSpc>
                  <a:spcPct val="100000"/>
                </a:lnSpc>
                <a:spcBef>
                  <a:spcPts val="1000"/>
                </a:spcBef>
                <a:spcAft>
                  <a:spcPts val="0"/>
                </a:spcAft>
                <a:buNone/>
              </a:pPr>
              <a:r>
                <a:t/>
              </a:r>
              <a:endParaRPr sz="1800">
                <a:solidFill>
                  <a:schemeClr val="dk1"/>
                </a:solidFill>
                <a:latin typeface="Lexend"/>
                <a:ea typeface="Lexend"/>
                <a:cs typeface="Lexend"/>
                <a:sym typeface="Lexend"/>
              </a:endParaRPr>
            </a:p>
            <a:p>
              <a:pPr indent="0" lvl="0" marL="0" rtl="0" algn="l">
                <a:lnSpc>
                  <a:spcPct val="100000"/>
                </a:lnSpc>
                <a:spcBef>
                  <a:spcPts val="1000"/>
                </a:spcBef>
                <a:spcAft>
                  <a:spcPts val="0"/>
                </a:spcAft>
                <a:buClr>
                  <a:schemeClr val="dk1"/>
                </a:buClr>
                <a:buSzPts val="1100"/>
                <a:buFont typeface="Arial"/>
                <a:buNone/>
              </a:pPr>
              <a:r>
                <a:t/>
              </a:r>
              <a:endParaRPr sz="1800">
                <a:solidFill>
                  <a:schemeClr val="dk1"/>
                </a:solidFill>
                <a:latin typeface="Lexend"/>
                <a:ea typeface="Lexend"/>
                <a:cs typeface="Lexend"/>
                <a:sym typeface="Lexend"/>
              </a:endParaRPr>
            </a:p>
            <a:p>
              <a:pPr indent="0" lvl="0" marL="0" rtl="0" algn="l">
                <a:lnSpc>
                  <a:spcPct val="100000"/>
                </a:lnSpc>
                <a:spcBef>
                  <a:spcPts val="1000"/>
                </a:spcBef>
                <a:spcAft>
                  <a:spcPts val="0"/>
                </a:spcAft>
                <a:buNone/>
              </a:pPr>
              <a:r>
                <a:t/>
              </a:r>
              <a:endParaRPr sz="1800">
                <a:solidFill>
                  <a:schemeClr val="dk1"/>
                </a:solidFill>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72"/>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924 305</a:t>
            </a:r>
            <a:endParaRPr/>
          </a:p>
        </p:txBody>
      </p:sp>
      <p:sp>
        <p:nvSpPr>
          <p:cNvPr id="844" name="Google Shape;844;p72"/>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Identifying significant figures</a:t>
            </a:r>
            <a:endParaRPr/>
          </a:p>
        </p:txBody>
      </p:sp>
      <p:sp>
        <p:nvSpPr>
          <p:cNvPr id="845" name="Google Shape;845;p72"/>
          <p:cNvSpPr txBox="1"/>
          <p:nvPr>
            <p:ph type="title"/>
          </p:nvPr>
        </p:nvSpPr>
        <p:spPr>
          <a:xfrm>
            <a:off x="324000" y="809988"/>
            <a:ext cx="8179200" cy="489600"/>
          </a:xfrm>
          <a:prstGeom prst="rect">
            <a:avLst/>
          </a:prstGeom>
        </p:spPr>
        <p:txBody>
          <a:bodyPr anchorCtr="0" anchor="t" bIns="0" lIns="0" spcFirstLastPara="1" rIns="0" wrap="square" tIns="0">
            <a:noAutofit/>
          </a:bodyPr>
          <a:lstStyle/>
          <a:p>
            <a:pPr indent="0" lvl="0" marL="0" rtl="0" algn="l">
              <a:lnSpc>
                <a:spcPct val="130000"/>
              </a:lnSpc>
              <a:spcBef>
                <a:spcPts val="0"/>
              </a:spcBef>
              <a:spcAft>
                <a:spcPts val="1000"/>
              </a:spcAft>
              <a:buClr>
                <a:schemeClr val="dk1"/>
              </a:buClr>
              <a:buSzPts val="1100"/>
              <a:buFont typeface="Arial"/>
              <a:buNone/>
            </a:pPr>
            <a:r>
              <a:rPr lang="en-GB"/>
              <a:t>In which of the following is 4 the first significant figure?</a:t>
            </a:r>
            <a:endParaRPr/>
          </a:p>
        </p:txBody>
      </p:sp>
      <p:sp>
        <p:nvSpPr>
          <p:cNvPr id="846" name="Google Shape;846;p72"/>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44 058</a:t>
            </a:r>
            <a:endParaRPr/>
          </a:p>
        </p:txBody>
      </p:sp>
      <p:sp>
        <p:nvSpPr>
          <p:cNvPr id="847" name="Google Shape;847;p72"/>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400 498</a:t>
            </a:r>
            <a:endParaRPr/>
          </a:p>
        </p:txBody>
      </p:sp>
      <p:sp>
        <p:nvSpPr>
          <p:cNvPr id="848" name="Google Shape;848;p72"/>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54 124</a:t>
            </a:r>
            <a:endParaRPr/>
          </a:p>
        </p:txBody>
      </p:sp>
      <p:pic>
        <p:nvPicPr>
          <p:cNvPr id="849" name="Google Shape;849;p72"/>
          <p:cNvPicPr preferRelativeResize="0"/>
          <p:nvPr/>
        </p:nvPicPr>
        <p:blipFill>
          <a:blip r:embed="rId3">
            <a:alphaModFix/>
          </a:blip>
          <a:stretch>
            <a:fillRect/>
          </a:stretch>
        </p:blipFill>
        <p:spPr>
          <a:xfrm>
            <a:off x="2491208" y="2395750"/>
            <a:ext cx="396000" cy="419100"/>
          </a:xfrm>
          <a:prstGeom prst="rect">
            <a:avLst/>
          </a:prstGeom>
          <a:noFill/>
          <a:ln>
            <a:noFill/>
          </a:ln>
        </p:spPr>
      </p:pic>
      <p:pic>
        <p:nvPicPr>
          <p:cNvPr id="850" name="Google Shape;850;p72"/>
          <p:cNvPicPr preferRelativeResize="0"/>
          <p:nvPr/>
        </p:nvPicPr>
        <p:blipFill>
          <a:blip r:embed="rId3">
            <a:alphaModFix/>
          </a:blip>
          <a:stretch>
            <a:fillRect/>
          </a:stretch>
        </p:blipFill>
        <p:spPr>
          <a:xfrm>
            <a:off x="2491208" y="3286638"/>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7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Identifying significant figures</a:t>
            </a:r>
            <a:endParaRPr/>
          </a:p>
        </p:txBody>
      </p:sp>
      <p:sp>
        <p:nvSpPr>
          <p:cNvPr id="856" name="Google Shape;856;p73"/>
          <p:cNvSpPr txBox="1"/>
          <p:nvPr>
            <p:ph idx="1" type="body"/>
          </p:nvPr>
        </p:nvSpPr>
        <p:spPr>
          <a:xfrm>
            <a:off x="400200" y="2473507"/>
            <a:ext cx="8162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c)  60 253 461</a:t>
            </a:r>
            <a:endParaRPr/>
          </a:p>
        </p:txBody>
      </p:sp>
      <p:sp>
        <p:nvSpPr>
          <p:cNvPr id="857" name="Google Shape;857;p73"/>
          <p:cNvSpPr txBox="1"/>
          <p:nvPr>
            <p:ph idx="1" type="body"/>
          </p:nvPr>
        </p:nvSpPr>
        <p:spPr>
          <a:xfrm>
            <a:off x="381698" y="3124507"/>
            <a:ext cx="8162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d)  187</a:t>
            </a:r>
            <a:endParaRPr/>
          </a:p>
        </p:txBody>
      </p:sp>
      <p:sp>
        <p:nvSpPr>
          <p:cNvPr id="858" name="Google Shape;858;p73"/>
          <p:cNvSpPr txBox="1"/>
          <p:nvPr>
            <p:ph idx="1" type="body"/>
          </p:nvPr>
        </p:nvSpPr>
        <p:spPr>
          <a:xfrm>
            <a:off x="380575" y="633674"/>
            <a:ext cx="8162700" cy="986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Circle the first </a:t>
            </a:r>
            <a:r>
              <a:rPr b="1" lang="en-GB"/>
              <a:t>significant figure</a:t>
            </a:r>
            <a:r>
              <a:rPr lang="en-GB"/>
              <a:t> in each of the following:</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GB"/>
              <a:t>a)  150 267</a:t>
            </a:r>
            <a:endParaRPr/>
          </a:p>
        </p:txBody>
      </p:sp>
      <p:sp>
        <p:nvSpPr>
          <p:cNvPr id="859" name="Google Shape;859;p73"/>
          <p:cNvSpPr txBox="1"/>
          <p:nvPr>
            <p:ph idx="1" type="body"/>
          </p:nvPr>
        </p:nvSpPr>
        <p:spPr>
          <a:xfrm>
            <a:off x="400200" y="1886461"/>
            <a:ext cx="8162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b)  3560</a:t>
            </a:r>
            <a:endParaRPr/>
          </a:p>
        </p:txBody>
      </p:sp>
      <p:sp>
        <p:nvSpPr>
          <p:cNvPr id="860" name="Google Shape;860;p73"/>
          <p:cNvSpPr txBox="1"/>
          <p:nvPr>
            <p:ph idx="1" type="body"/>
          </p:nvPr>
        </p:nvSpPr>
        <p:spPr>
          <a:xfrm>
            <a:off x="400198" y="3798457"/>
            <a:ext cx="8162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e)  98 200</a:t>
            </a:r>
            <a:endParaRPr/>
          </a:p>
        </p:txBody>
      </p:sp>
      <p:sp>
        <p:nvSpPr>
          <p:cNvPr id="861" name="Google Shape;861;p73"/>
          <p:cNvSpPr txBox="1"/>
          <p:nvPr>
            <p:ph idx="1" type="body"/>
          </p:nvPr>
        </p:nvSpPr>
        <p:spPr>
          <a:xfrm>
            <a:off x="448646" y="4444207"/>
            <a:ext cx="8162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f)  4 987 932</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74"/>
          <p:cNvSpPr txBox="1"/>
          <p:nvPr>
            <p:ph idx="1" type="body"/>
          </p:nvPr>
        </p:nvSpPr>
        <p:spPr>
          <a:xfrm>
            <a:off x="400200" y="2473507"/>
            <a:ext cx="8162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c</a:t>
            </a:r>
            <a:r>
              <a:rPr lang="en-GB"/>
              <a:t>)  </a:t>
            </a:r>
            <a:r>
              <a:rPr lang="en-GB"/>
              <a:t>60 253 461</a:t>
            </a:r>
            <a:endParaRPr/>
          </a:p>
        </p:txBody>
      </p:sp>
      <p:sp>
        <p:nvSpPr>
          <p:cNvPr id="867" name="Google Shape;867;p74"/>
          <p:cNvSpPr txBox="1"/>
          <p:nvPr>
            <p:ph idx="1" type="body"/>
          </p:nvPr>
        </p:nvSpPr>
        <p:spPr>
          <a:xfrm>
            <a:off x="381698" y="3124507"/>
            <a:ext cx="8162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d</a:t>
            </a:r>
            <a:r>
              <a:rPr lang="en-GB"/>
              <a:t>)  </a:t>
            </a:r>
            <a:r>
              <a:rPr lang="en-GB"/>
              <a:t>187</a:t>
            </a:r>
            <a:endParaRPr/>
          </a:p>
        </p:txBody>
      </p:sp>
      <p:sp>
        <p:nvSpPr>
          <p:cNvPr id="868" name="Google Shape;868;p7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Identifying significant figures</a:t>
            </a:r>
            <a:endParaRPr/>
          </a:p>
        </p:txBody>
      </p:sp>
      <p:sp>
        <p:nvSpPr>
          <p:cNvPr id="869" name="Google Shape;869;p74"/>
          <p:cNvSpPr txBox="1"/>
          <p:nvPr>
            <p:ph idx="1" type="body"/>
          </p:nvPr>
        </p:nvSpPr>
        <p:spPr>
          <a:xfrm>
            <a:off x="380575" y="633674"/>
            <a:ext cx="8162700" cy="986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Circle the first </a:t>
            </a:r>
            <a:r>
              <a:rPr b="1" lang="en-GB"/>
              <a:t>significant figure</a:t>
            </a:r>
            <a:r>
              <a:rPr lang="en-GB"/>
              <a:t> in each of the following:</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GB"/>
              <a:t>a)  150 267</a:t>
            </a:r>
            <a:endParaRPr/>
          </a:p>
        </p:txBody>
      </p:sp>
      <p:sp>
        <p:nvSpPr>
          <p:cNvPr id="870" name="Google Shape;870;p74"/>
          <p:cNvSpPr/>
          <p:nvPr/>
        </p:nvSpPr>
        <p:spPr>
          <a:xfrm>
            <a:off x="787023" y="1180656"/>
            <a:ext cx="221700" cy="4287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latin typeface="Lexend"/>
              <a:ea typeface="Lexend"/>
              <a:cs typeface="Lexend"/>
              <a:sym typeface="Lexend"/>
            </a:endParaRPr>
          </a:p>
        </p:txBody>
      </p:sp>
      <p:sp>
        <p:nvSpPr>
          <p:cNvPr id="871" name="Google Shape;871;p74"/>
          <p:cNvSpPr/>
          <p:nvPr/>
        </p:nvSpPr>
        <p:spPr>
          <a:xfrm>
            <a:off x="805525" y="1809143"/>
            <a:ext cx="221700" cy="4287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latin typeface="Lexend"/>
              <a:ea typeface="Lexend"/>
              <a:cs typeface="Lexend"/>
              <a:sym typeface="Lexend"/>
            </a:endParaRPr>
          </a:p>
        </p:txBody>
      </p:sp>
      <p:sp>
        <p:nvSpPr>
          <p:cNvPr id="872" name="Google Shape;872;p74"/>
          <p:cNvSpPr/>
          <p:nvPr/>
        </p:nvSpPr>
        <p:spPr>
          <a:xfrm>
            <a:off x="785162" y="2443159"/>
            <a:ext cx="221700" cy="4287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latin typeface="Lexend"/>
              <a:ea typeface="Lexend"/>
              <a:cs typeface="Lexend"/>
              <a:sym typeface="Lexend"/>
            </a:endParaRPr>
          </a:p>
        </p:txBody>
      </p:sp>
      <p:sp>
        <p:nvSpPr>
          <p:cNvPr id="873" name="Google Shape;873;p74"/>
          <p:cNvSpPr/>
          <p:nvPr/>
        </p:nvSpPr>
        <p:spPr>
          <a:xfrm>
            <a:off x="789727" y="3106789"/>
            <a:ext cx="221700" cy="4287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latin typeface="Lexend"/>
              <a:ea typeface="Lexend"/>
              <a:cs typeface="Lexend"/>
              <a:sym typeface="Lexend"/>
            </a:endParaRPr>
          </a:p>
        </p:txBody>
      </p:sp>
      <p:sp>
        <p:nvSpPr>
          <p:cNvPr id="874" name="Google Shape;874;p74"/>
          <p:cNvSpPr/>
          <p:nvPr/>
        </p:nvSpPr>
        <p:spPr>
          <a:xfrm>
            <a:off x="816472" y="3775500"/>
            <a:ext cx="192300" cy="4287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latin typeface="Lexend"/>
              <a:ea typeface="Lexend"/>
              <a:cs typeface="Lexend"/>
              <a:sym typeface="Lexend"/>
            </a:endParaRPr>
          </a:p>
        </p:txBody>
      </p:sp>
      <p:sp>
        <p:nvSpPr>
          <p:cNvPr id="875" name="Google Shape;875;p74"/>
          <p:cNvSpPr/>
          <p:nvPr/>
        </p:nvSpPr>
        <p:spPr>
          <a:xfrm>
            <a:off x="832284" y="4424359"/>
            <a:ext cx="221700" cy="4287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latin typeface="Lexend"/>
              <a:ea typeface="Lexend"/>
              <a:cs typeface="Lexend"/>
              <a:sym typeface="Lexend"/>
            </a:endParaRPr>
          </a:p>
        </p:txBody>
      </p:sp>
      <p:sp>
        <p:nvSpPr>
          <p:cNvPr id="876" name="Google Shape;876;p74"/>
          <p:cNvSpPr txBox="1"/>
          <p:nvPr>
            <p:ph idx="1" type="body"/>
          </p:nvPr>
        </p:nvSpPr>
        <p:spPr>
          <a:xfrm>
            <a:off x="400200" y="1877210"/>
            <a:ext cx="8162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b)  3560</a:t>
            </a:r>
            <a:endParaRPr/>
          </a:p>
        </p:txBody>
      </p:sp>
      <p:sp>
        <p:nvSpPr>
          <p:cNvPr id="877" name="Google Shape;877;p74"/>
          <p:cNvSpPr txBox="1"/>
          <p:nvPr>
            <p:ph idx="1" type="body"/>
          </p:nvPr>
        </p:nvSpPr>
        <p:spPr>
          <a:xfrm>
            <a:off x="400198" y="3798457"/>
            <a:ext cx="8162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e</a:t>
            </a:r>
            <a:r>
              <a:rPr lang="en-GB"/>
              <a:t>)  </a:t>
            </a:r>
            <a:r>
              <a:rPr lang="en-GB"/>
              <a:t>98 200</a:t>
            </a:r>
            <a:endParaRPr/>
          </a:p>
        </p:txBody>
      </p:sp>
      <p:sp>
        <p:nvSpPr>
          <p:cNvPr id="878" name="Google Shape;878;p74"/>
          <p:cNvSpPr txBox="1"/>
          <p:nvPr>
            <p:ph idx="1" type="body"/>
          </p:nvPr>
        </p:nvSpPr>
        <p:spPr>
          <a:xfrm>
            <a:off x="448646" y="4444207"/>
            <a:ext cx="8162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f</a:t>
            </a:r>
            <a:r>
              <a:rPr lang="en-GB"/>
              <a:t>)  </a:t>
            </a:r>
            <a:r>
              <a:rPr lang="en-GB"/>
              <a:t>4 987 932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75"/>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Identifying significant figures</a:t>
            </a:r>
            <a:endParaRPr/>
          </a:p>
        </p:txBody>
      </p:sp>
      <p:sp>
        <p:nvSpPr>
          <p:cNvPr id="884" name="Google Shape;884;p75"/>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number line for significant figures</a:t>
            </a:r>
            <a:endParaRPr/>
          </a:p>
        </p:txBody>
      </p:sp>
      <p:sp>
        <p:nvSpPr>
          <p:cNvPr id="885" name="Google Shape;885;p75"/>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Rounding integers to one significant figure</a:t>
            </a:r>
            <a:endParaRPr/>
          </a:p>
        </p:txBody>
      </p:sp>
      <p:pic>
        <p:nvPicPr>
          <p:cNvPr id="886" name="Google Shape;886;p75"/>
          <p:cNvPicPr preferRelativeResize="0"/>
          <p:nvPr/>
        </p:nvPicPr>
        <p:blipFill>
          <a:blip r:embed="rId3">
            <a:alphaModFix/>
          </a:blip>
          <a:stretch>
            <a:fillRect/>
          </a:stretch>
        </p:blipFill>
        <p:spPr>
          <a:xfrm>
            <a:off x="418380" y="2771690"/>
            <a:ext cx="450575" cy="446750"/>
          </a:xfrm>
          <a:prstGeom prst="rect">
            <a:avLst/>
          </a:prstGeom>
          <a:noFill/>
          <a:ln>
            <a:noFill/>
          </a:ln>
        </p:spPr>
      </p:pic>
      <p:sp>
        <p:nvSpPr>
          <p:cNvPr id="887" name="Google Shape;887;p75"/>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Rounding to one significant figure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7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number line for significant figures</a:t>
            </a:r>
            <a:endParaRPr/>
          </a:p>
        </p:txBody>
      </p:sp>
      <p:pic>
        <p:nvPicPr>
          <p:cNvPr id="893" name="Google Shape;893;p76"/>
          <p:cNvPicPr preferRelativeResize="0"/>
          <p:nvPr/>
        </p:nvPicPr>
        <p:blipFill>
          <a:blip r:embed="rId3">
            <a:alphaModFix/>
          </a:blip>
          <a:stretch>
            <a:fillRect/>
          </a:stretch>
        </p:blipFill>
        <p:spPr>
          <a:xfrm flipH="1">
            <a:off x="323988" y="2329787"/>
            <a:ext cx="1114250" cy="1078300"/>
          </a:xfrm>
          <a:prstGeom prst="rect">
            <a:avLst/>
          </a:prstGeom>
          <a:noFill/>
          <a:ln>
            <a:noFill/>
          </a:ln>
        </p:spPr>
      </p:pic>
      <p:sp>
        <p:nvSpPr>
          <p:cNvPr id="894" name="Google Shape;894;p76"/>
          <p:cNvSpPr txBox="1"/>
          <p:nvPr/>
        </p:nvSpPr>
        <p:spPr>
          <a:xfrm>
            <a:off x="438475" y="33639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sz="1800">
              <a:latin typeface="Lexend"/>
              <a:ea typeface="Lexend"/>
              <a:cs typeface="Lexend"/>
              <a:sym typeface="Lexend"/>
            </a:endParaRPr>
          </a:p>
        </p:txBody>
      </p:sp>
      <p:grpSp>
        <p:nvGrpSpPr>
          <p:cNvPr id="895" name="Google Shape;895;p76"/>
          <p:cNvGrpSpPr/>
          <p:nvPr/>
        </p:nvGrpSpPr>
        <p:grpSpPr>
          <a:xfrm>
            <a:off x="1744323" y="1603400"/>
            <a:ext cx="2911427" cy="1241775"/>
            <a:chOff x="1744323" y="1603400"/>
            <a:chExt cx="2911427" cy="1241775"/>
          </a:xfrm>
        </p:grpSpPr>
        <p:pic>
          <p:nvPicPr>
            <p:cNvPr id="896" name="Google Shape;896;p76"/>
            <p:cNvPicPr preferRelativeResize="0"/>
            <p:nvPr/>
          </p:nvPicPr>
          <p:blipFill rotWithShape="1">
            <a:blip r:embed="rId4">
              <a:alphaModFix/>
            </a:blip>
            <a:srcRect b="0" l="0" r="69082" t="56280"/>
            <a:stretch/>
          </p:blipFill>
          <p:spPr>
            <a:xfrm flipH="1">
              <a:off x="1744323" y="1603400"/>
              <a:ext cx="2911427" cy="1241775"/>
            </a:xfrm>
            <a:prstGeom prst="rect">
              <a:avLst/>
            </a:prstGeom>
            <a:noFill/>
            <a:ln>
              <a:noFill/>
            </a:ln>
          </p:spPr>
        </p:pic>
        <p:sp>
          <p:nvSpPr>
            <p:cNvPr id="897" name="Google Shape;897;p76"/>
            <p:cNvSpPr txBox="1"/>
            <p:nvPr/>
          </p:nvSpPr>
          <p:spPr>
            <a:xfrm>
              <a:off x="1942250" y="1705700"/>
              <a:ext cx="2629800" cy="7728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latin typeface="Lexend"/>
                  <a:ea typeface="Lexend"/>
                  <a:cs typeface="Lexend"/>
                  <a:sym typeface="Lexend"/>
                </a:rPr>
                <a:t>I know that 4567 to one </a:t>
              </a:r>
              <a:r>
                <a:rPr b="1" lang="en-GB" sz="1800">
                  <a:latin typeface="Lexend"/>
                  <a:ea typeface="Lexend"/>
                  <a:cs typeface="Lexend"/>
                  <a:sym typeface="Lexend"/>
                </a:rPr>
                <a:t>significant figure</a:t>
              </a:r>
              <a:r>
                <a:rPr lang="en-GB" sz="1800">
                  <a:latin typeface="Lexend"/>
                  <a:ea typeface="Lexend"/>
                  <a:cs typeface="Lexend"/>
                  <a:sym typeface="Lexend"/>
                </a:rPr>
                <a:t> is 5000</a:t>
              </a:r>
              <a:r>
                <a:rPr lang="en-GB" sz="1800">
                  <a:latin typeface="Lexend"/>
                  <a:ea typeface="Lexend"/>
                  <a:cs typeface="Lexend"/>
                  <a:sym typeface="Lexend"/>
                </a:rPr>
                <a:t>.</a:t>
              </a:r>
              <a:endParaRPr sz="1800">
                <a:latin typeface="Lexend"/>
                <a:ea typeface="Lexend"/>
                <a:cs typeface="Lexend"/>
                <a:sym typeface="Lexend"/>
              </a:endParaRPr>
            </a:p>
          </p:txBody>
        </p:sp>
      </p:grpSp>
      <p:pic>
        <p:nvPicPr>
          <p:cNvPr id="898" name="Google Shape;898;p76"/>
          <p:cNvPicPr preferRelativeResize="0"/>
          <p:nvPr/>
        </p:nvPicPr>
        <p:blipFill>
          <a:blip r:embed="rId5">
            <a:alphaModFix/>
          </a:blip>
          <a:stretch>
            <a:fillRect/>
          </a:stretch>
        </p:blipFill>
        <p:spPr>
          <a:xfrm>
            <a:off x="7574297" y="2467813"/>
            <a:ext cx="777007" cy="896096"/>
          </a:xfrm>
          <a:prstGeom prst="rect">
            <a:avLst/>
          </a:prstGeom>
          <a:noFill/>
          <a:ln>
            <a:noFill/>
          </a:ln>
        </p:spPr>
      </p:pic>
      <p:sp>
        <p:nvSpPr>
          <p:cNvPr id="899" name="Google Shape;899;p76"/>
          <p:cNvSpPr txBox="1"/>
          <p:nvPr/>
        </p:nvSpPr>
        <p:spPr>
          <a:xfrm>
            <a:off x="7520150" y="33639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sz="1800">
              <a:latin typeface="Lexend"/>
              <a:ea typeface="Lexend"/>
              <a:cs typeface="Lexend"/>
              <a:sym typeface="Lexend"/>
            </a:endParaRPr>
          </a:p>
        </p:txBody>
      </p:sp>
      <p:grpSp>
        <p:nvGrpSpPr>
          <p:cNvPr id="900" name="Google Shape;900;p76"/>
          <p:cNvGrpSpPr/>
          <p:nvPr/>
        </p:nvGrpSpPr>
        <p:grpSpPr>
          <a:xfrm>
            <a:off x="5460675" y="1738778"/>
            <a:ext cx="1955251" cy="1625125"/>
            <a:chOff x="5460675" y="1738778"/>
            <a:chExt cx="1955251" cy="1625125"/>
          </a:xfrm>
        </p:grpSpPr>
        <p:pic>
          <p:nvPicPr>
            <p:cNvPr id="901" name="Google Shape;901;p76"/>
            <p:cNvPicPr preferRelativeResize="0"/>
            <p:nvPr/>
          </p:nvPicPr>
          <p:blipFill rotWithShape="1">
            <a:blip r:embed="rId4">
              <a:alphaModFix/>
            </a:blip>
            <a:srcRect b="0" l="0" r="69082" t="56280"/>
            <a:stretch/>
          </p:blipFill>
          <p:spPr>
            <a:xfrm>
              <a:off x="5460675" y="1738778"/>
              <a:ext cx="1955251" cy="1625125"/>
            </a:xfrm>
            <a:prstGeom prst="rect">
              <a:avLst/>
            </a:prstGeom>
            <a:noFill/>
            <a:ln>
              <a:noFill/>
            </a:ln>
          </p:spPr>
        </p:pic>
        <p:sp>
          <p:nvSpPr>
            <p:cNvPr id="902" name="Google Shape;902;p76"/>
            <p:cNvSpPr txBox="1"/>
            <p:nvPr/>
          </p:nvSpPr>
          <p:spPr>
            <a:xfrm>
              <a:off x="5582400" y="1841075"/>
              <a:ext cx="1678800" cy="7728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latin typeface="Lexend"/>
                  <a:ea typeface="Lexend"/>
                  <a:cs typeface="Lexend"/>
                  <a:sym typeface="Lexend"/>
                </a:rPr>
                <a:t>That is the same as 4567 to the nearest </a:t>
              </a:r>
              <a:r>
                <a:rPr lang="en-GB" sz="1800">
                  <a:solidFill>
                    <a:schemeClr val="accent5"/>
                  </a:solidFill>
                  <a:latin typeface="Lexend"/>
                  <a:ea typeface="Lexend"/>
                  <a:cs typeface="Lexend"/>
                  <a:sym typeface="Lexend"/>
                </a:rPr>
                <a:t>thousand</a:t>
              </a:r>
              <a:r>
                <a:rPr lang="en-GB" sz="1800">
                  <a:latin typeface="Lexend"/>
                  <a:ea typeface="Lexend"/>
                  <a:cs typeface="Lexend"/>
                  <a:sym typeface="Lexend"/>
                </a:rPr>
                <a:t>.</a:t>
              </a:r>
              <a:endParaRPr sz="1800">
                <a:latin typeface="Lexend"/>
                <a:ea typeface="Lexend"/>
                <a:cs typeface="Lexend"/>
                <a:sym typeface="Lexend"/>
              </a:endParaRPr>
            </a:p>
          </p:txBody>
        </p:sp>
      </p:grpSp>
      <p:grpSp>
        <p:nvGrpSpPr>
          <p:cNvPr id="903" name="Google Shape;903;p76"/>
          <p:cNvGrpSpPr/>
          <p:nvPr/>
        </p:nvGrpSpPr>
        <p:grpSpPr>
          <a:xfrm>
            <a:off x="1744323" y="1603400"/>
            <a:ext cx="2911427" cy="1241775"/>
            <a:chOff x="1896723" y="2975000"/>
            <a:chExt cx="2911427" cy="1241775"/>
          </a:xfrm>
        </p:grpSpPr>
        <p:pic>
          <p:nvPicPr>
            <p:cNvPr id="904" name="Google Shape;904;p76"/>
            <p:cNvPicPr preferRelativeResize="0"/>
            <p:nvPr/>
          </p:nvPicPr>
          <p:blipFill rotWithShape="1">
            <a:blip r:embed="rId4">
              <a:alphaModFix/>
            </a:blip>
            <a:srcRect b="0" l="0" r="69082" t="56280"/>
            <a:stretch/>
          </p:blipFill>
          <p:spPr>
            <a:xfrm flipH="1">
              <a:off x="1896723" y="2975000"/>
              <a:ext cx="2911427" cy="1241775"/>
            </a:xfrm>
            <a:prstGeom prst="rect">
              <a:avLst/>
            </a:prstGeom>
            <a:noFill/>
            <a:ln>
              <a:noFill/>
            </a:ln>
          </p:spPr>
        </p:pic>
        <p:sp>
          <p:nvSpPr>
            <p:cNvPr id="905" name="Google Shape;905;p76"/>
            <p:cNvSpPr txBox="1"/>
            <p:nvPr/>
          </p:nvSpPr>
          <p:spPr>
            <a:xfrm>
              <a:off x="2094650" y="3077300"/>
              <a:ext cx="2629800" cy="7728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latin typeface="Lexend"/>
                  <a:ea typeface="Lexend"/>
                  <a:cs typeface="Lexend"/>
                  <a:sym typeface="Lexend"/>
                </a:rPr>
                <a:t>The first </a:t>
              </a:r>
              <a:r>
                <a:rPr b="1" lang="en-GB" sz="1800">
                  <a:latin typeface="Lexend"/>
                  <a:ea typeface="Lexend"/>
                  <a:cs typeface="Lexend"/>
                  <a:sym typeface="Lexend"/>
                </a:rPr>
                <a:t>significant figure</a:t>
              </a:r>
              <a:r>
                <a:rPr lang="en-GB" sz="1800">
                  <a:latin typeface="Lexend"/>
                  <a:ea typeface="Lexend"/>
                  <a:cs typeface="Lexend"/>
                  <a:sym typeface="Lexend"/>
                </a:rPr>
                <a:t> is in the </a:t>
              </a:r>
              <a:r>
                <a:rPr lang="en-GB" sz="1800">
                  <a:solidFill>
                    <a:schemeClr val="accent5"/>
                  </a:solidFill>
                  <a:latin typeface="Lexend"/>
                  <a:ea typeface="Lexend"/>
                  <a:cs typeface="Lexend"/>
                  <a:sym typeface="Lexend"/>
                </a:rPr>
                <a:t>thousands</a:t>
              </a:r>
              <a:r>
                <a:rPr lang="en-GB" sz="1800">
                  <a:latin typeface="Lexend"/>
                  <a:ea typeface="Lexend"/>
                  <a:cs typeface="Lexend"/>
                  <a:sym typeface="Lexend"/>
                </a:rPr>
                <a:t> column.</a:t>
              </a:r>
              <a:endParaRPr sz="1800">
                <a:latin typeface="Lexend"/>
                <a:ea typeface="Lexend"/>
                <a:cs typeface="Lexend"/>
                <a:sym typeface="Lexend"/>
              </a:endParaRPr>
            </a:p>
          </p:txBody>
        </p:sp>
      </p:grpSp>
      <p:grpSp>
        <p:nvGrpSpPr>
          <p:cNvPr id="906" name="Google Shape;906;p76"/>
          <p:cNvGrpSpPr/>
          <p:nvPr/>
        </p:nvGrpSpPr>
        <p:grpSpPr>
          <a:xfrm>
            <a:off x="4938525" y="1281575"/>
            <a:ext cx="2629801" cy="2120074"/>
            <a:chOff x="4938525" y="3415175"/>
            <a:chExt cx="2629801" cy="2120074"/>
          </a:xfrm>
        </p:grpSpPr>
        <p:pic>
          <p:nvPicPr>
            <p:cNvPr id="907" name="Google Shape;907;p76"/>
            <p:cNvPicPr preferRelativeResize="0"/>
            <p:nvPr/>
          </p:nvPicPr>
          <p:blipFill rotWithShape="1">
            <a:blip r:embed="rId4">
              <a:alphaModFix/>
            </a:blip>
            <a:srcRect b="0" l="0" r="69082" t="56280"/>
            <a:stretch/>
          </p:blipFill>
          <p:spPr>
            <a:xfrm>
              <a:off x="4938525" y="3415175"/>
              <a:ext cx="2629801" cy="2120074"/>
            </a:xfrm>
            <a:prstGeom prst="rect">
              <a:avLst/>
            </a:prstGeom>
            <a:noFill/>
            <a:ln>
              <a:noFill/>
            </a:ln>
          </p:spPr>
        </p:pic>
        <p:sp>
          <p:nvSpPr>
            <p:cNvPr id="908" name="Google Shape;908;p76"/>
            <p:cNvSpPr txBox="1"/>
            <p:nvPr/>
          </p:nvSpPr>
          <p:spPr>
            <a:xfrm>
              <a:off x="5107788" y="3669875"/>
              <a:ext cx="2382000" cy="7728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latin typeface="Lexend"/>
                  <a:ea typeface="Lexend"/>
                  <a:cs typeface="Lexend"/>
                  <a:sym typeface="Lexend"/>
                </a:rPr>
                <a:t>That means we look at the column the </a:t>
              </a:r>
              <a:r>
                <a:rPr b="1" lang="en-GB" sz="1800">
                  <a:latin typeface="Lexend"/>
                  <a:ea typeface="Lexend"/>
                  <a:cs typeface="Lexend"/>
                  <a:sym typeface="Lexend"/>
                </a:rPr>
                <a:t>first significant</a:t>
              </a:r>
              <a:r>
                <a:rPr lang="en-GB" sz="1800">
                  <a:latin typeface="Lexend"/>
                  <a:ea typeface="Lexend"/>
                  <a:cs typeface="Lexend"/>
                  <a:sym typeface="Lexend"/>
                </a:rPr>
                <a:t> figure is in and then round to that.</a:t>
              </a:r>
              <a:endParaRPr sz="1800">
                <a:latin typeface="Lexend"/>
                <a:ea typeface="Lexend"/>
                <a:cs typeface="Lexend"/>
                <a:sym typeface="Lexend"/>
              </a:endParaRPr>
            </a:p>
          </p:txBody>
        </p:sp>
      </p:grpSp>
      <p:grpSp>
        <p:nvGrpSpPr>
          <p:cNvPr id="909" name="Google Shape;909;p76"/>
          <p:cNvGrpSpPr/>
          <p:nvPr/>
        </p:nvGrpSpPr>
        <p:grpSpPr>
          <a:xfrm>
            <a:off x="1744323" y="1603400"/>
            <a:ext cx="2911427" cy="1241775"/>
            <a:chOff x="1972923" y="4194200"/>
            <a:chExt cx="2911427" cy="1241775"/>
          </a:xfrm>
        </p:grpSpPr>
        <p:pic>
          <p:nvPicPr>
            <p:cNvPr id="910" name="Google Shape;910;p76"/>
            <p:cNvPicPr preferRelativeResize="0"/>
            <p:nvPr/>
          </p:nvPicPr>
          <p:blipFill rotWithShape="1">
            <a:blip r:embed="rId4">
              <a:alphaModFix/>
            </a:blip>
            <a:srcRect b="0" l="0" r="69082" t="56280"/>
            <a:stretch/>
          </p:blipFill>
          <p:spPr>
            <a:xfrm flipH="1">
              <a:off x="1972923" y="4194200"/>
              <a:ext cx="2911427" cy="1241775"/>
            </a:xfrm>
            <a:prstGeom prst="rect">
              <a:avLst/>
            </a:prstGeom>
            <a:noFill/>
            <a:ln>
              <a:noFill/>
            </a:ln>
          </p:spPr>
        </p:pic>
        <p:sp>
          <p:nvSpPr>
            <p:cNvPr id="911" name="Google Shape;911;p76"/>
            <p:cNvSpPr txBox="1"/>
            <p:nvPr/>
          </p:nvSpPr>
          <p:spPr>
            <a:xfrm>
              <a:off x="2170850" y="4296500"/>
              <a:ext cx="2629800" cy="7728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latin typeface="Lexend"/>
                  <a:ea typeface="Lexend"/>
                  <a:cs typeface="Lexend"/>
                  <a:sym typeface="Lexend"/>
                </a:rPr>
                <a:t>Yes, and we are already super confident with that</a:t>
              </a:r>
              <a:r>
                <a:rPr lang="en-GB" sz="1800">
                  <a:latin typeface="Lexend"/>
                  <a:ea typeface="Lexend"/>
                  <a:cs typeface="Lexend"/>
                  <a:sym typeface="Lexend"/>
                </a:rPr>
                <a:t>.</a:t>
              </a:r>
              <a:endParaRPr sz="18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9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0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0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7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number line for significant figures</a:t>
            </a:r>
            <a:endParaRPr/>
          </a:p>
        </p:txBody>
      </p:sp>
      <p:sp>
        <p:nvSpPr>
          <p:cNvPr id="917" name="Google Shape;917;p77"/>
          <p:cNvSpPr txBox="1"/>
          <p:nvPr>
            <p:ph idx="1" type="body"/>
          </p:nvPr>
        </p:nvSpPr>
        <p:spPr>
          <a:xfrm>
            <a:off x="324000" y="6069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What is 54 to one </a:t>
            </a:r>
            <a:r>
              <a:rPr b="1" lang="en-GB" sz="2000"/>
              <a:t>significant</a:t>
            </a:r>
            <a:r>
              <a:rPr b="1" lang="en-GB" sz="2000"/>
              <a:t> figure</a:t>
            </a:r>
            <a:r>
              <a:rPr lang="en-GB" sz="2000"/>
              <a:t>?</a:t>
            </a:r>
            <a:endParaRPr sz="2000"/>
          </a:p>
        </p:txBody>
      </p:sp>
      <p:graphicFrame>
        <p:nvGraphicFramePr>
          <p:cNvPr id="918" name="Google Shape;918;p77"/>
          <p:cNvGraphicFramePr/>
          <p:nvPr/>
        </p:nvGraphicFramePr>
        <p:xfrm>
          <a:off x="2159000" y="4182150"/>
          <a:ext cx="3000000" cy="3000000"/>
        </p:xfrm>
        <a:graphic>
          <a:graphicData uri="http://schemas.openxmlformats.org/drawingml/2006/table">
            <a:tbl>
              <a:tblPr>
                <a:noFill/>
                <a:tableStyleId>{A1769C70-3405-48C6-B967-3B8FA869652B}</a:tableStyleId>
              </a:tblPr>
              <a:tblGrid>
                <a:gridCol w="2413000"/>
                <a:gridCol w="2413000"/>
              </a:tblGrid>
              <a:tr h="190500">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919" name="Google Shape;919;p77"/>
          <p:cNvSpPr txBox="1"/>
          <p:nvPr/>
        </p:nvSpPr>
        <p:spPr>
          <a:xfrm>
            <a:off x="2010116" y="3801825"/>
            <a:ext cx="391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5</a:t>
            </a:r>
            <a:r>
              <a:rPr lang="en-GB" sz="2200">
                <a:solidFill>
                  <a:srgbClr val="000000"/>
                </a:solidFill>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920" name="Google Shape;920;p77"/>
          <p:cNvSpPr txBox="1"/>
          <p:nvPr/>
        </p:nvSpPr>
        <p:spPr>
          <a:xfrm>
            <a:off x="6825496" y="3801825"/>
            <a:ext cx="391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6</a:t>
            </a:r>
            <a:r>
              <a:rPr lang="en-GB" sz="2200">
                <a:solidFill>
                  <a:srgbClr val="000000"/>
                </a:solidFill>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921" name="Google Shape;921;p77"/>
          <p:cNvSpPr txBox="1"/>
          <p:nvPr/>
        </p:nvSpPr>
        <p:spPr>
          <a:xfrm>
            <a:off x="4413046" y="3801825"/>
            <a:ext cx="391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5</a:t>
            </a:r>
            <a:r>
              <a:rPr lang="en-GB" sz="2200">
                <a:solidFill>
                  <a:srgbClr val="000000"/>
                </a:solidFill>
                <a:latin typeface="Lexend"/>
                <a:ea typeface="Lexend"/>
                <a:cs typeface="Lexend"/>
                <a:sym typeface="Lexend"/>
              </a:rPr>
              <a:t>5</a:t>
            </a:r>
            <a:endParaRPr sz="2200">
              <a:solidFill>
                <a:srgbClr val="000000"/>
              </a:solidFill>
              <a:latin typeface="Lexend"/>
              <a:ea typeface="Lexend"/>
              <a:cs typeface="Lexend"/>
              <a:sym typeface="Lexend"/>
            </a:endParaRPr>
          </a:p>
        </p:txBody>
      </p:sp>
      <p:graphicFrame>
        <p:nvGraphicFramePr>
          <p:cNvPr id="922" name="Google Shape;922;p77"/>
          <p:cNvGraphicFramePr/>
          <p:nvPr/>
        </p:nvGraphicFramePr>
        <p:xfrm>
          <a:off x="1465001" y="969550"/>
          <a:ext cx="3000000" cy="3000000"/>
        </p:xfrm>
        <a:graphic>
          <a:graphicData uri="http://schemas.openxmlformats.org/drawingml/2006/table">
            <a:tbl>
              <a:tblPr>
                <a:noFill/>
                <a:tableStyleId>{A1769C70-3405-48C6-B967-3B8FA869652B}</a:tableStyleId>
              </a:tblPr>
              <a:tblGrid>
                <a:gridCol w="475250"/>
                <a:gridCol w="475250"/>
                <a:gridCol w="475250"/>
                <a:gridCol w="475250"/>
                <a:gridCol w="475250"/>
                <a:gridCol w="475250"/>
                <a:gridCol w="475250"/>
                <a:gridCol w="475250"/>
                <a:gridCol w="475250"/>
                <a:gridCol w="475250"/>
                <a:gridCol w="475250"/>
                <a:gridCol w="475250"/>
                <a:gridCol w="475250"/>
              </a:tblGrid>
              <a:tr h="458200">
                <a:tc>
                  <a:txBody>
                    <a:bodyPr/>
                    <a:lstStyle/>
                    <a:p>
                      <a:pPr indent="0" lvl="0" marL="0" rtl="0" algn="ctr">
                        <a:spcBef>
                          <a:spcPts val="0"/>
                        </a:spcBef>
                        <a:spcAft>
                          <a:spcPts val="0"/>
                        </a:spcAft>
                        <a:buNone/>
                      </a:pPr>
                      <a:r>
                        <a:rPr lang="en-GB" sz="1300">
                          <a:latin typeface="Lexend"/>
                          <a:ea typeface="Lexend"/>
                          <a:cs typeface="Lexend"/>
                          <a:sym typeface="Lexend"/>
                        </a:rPr>
                        <a:t>HMn</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TMn</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Mn</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solidFill>
                            <a:srgbClr val="000000"/>
                          </a:solidFill>
                          <a:latin typeface="Lexend"/>
                          <a:ea typeface="Lexend"/>
                          <a:cs typeface="Lexend"/>
                          <a:sym typeface="Lexend"/>
                        </a:rPr>
                        <a:t>T</a:t>
                      </a:r>
                      <a:endParaRPr>
                        <a:solidFill>
                          <a:srgbClr val="000000"/>
                        </a:solidFill>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O</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8200">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rgbClr val="000000"/>
                        </a:solidFill>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82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4</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pSp>
        <p:nvGrpSpPr>
          <p:cNvPr id="923" name="Google Shape;923;p77"/>
          <p:cNvGrpSpPr/>
          <p:nvPr/>
        </p:nvGrpSpPr>
        <p:grpSpPr>
          <a:xfrm>
            <a:off x="1539376" y="969550"/>
            <a:ext cx="6284584" cy="883373"/>
            <a:chOff x="2484575" y="1655350"/>
            <a:chExt cx="6284584" cy="883373"/>
          </a:xfrm>
        </p:grpSpPr>
        <p:pic>
          <p:nvPicPr>
            <p:cNvPr descr="&lt;math xmlns=&quot;http://www.w3.org/1998/Math/MathML&quot; display=&quot;block&quot; data-is-equatio=&quot;1&quot; data-latex=&quot;10^{\ }&quot;&gt;&lt;msup&gt;&lt;mn&gt;10&lt;/mn&gt;&lt;mrow data-mjx-texclass=&quot;ORD&quot;&gt;&lt;mtext&gt;&lt;/mtext&gt;&lt;/mrow&gt;&lt;/msup&gt;&lt;/math&gt;" id="924" name="Google Shape;924;p77" title="10 raised to the power"/>
            <p:cNvPicPr preferRelativeResize="0"/>
            <p:nvPr/>
          </p:nvPicPr>
          <p:blipFill>
            <a:blip r:embed="rId3">
              <a:alphaModFix/>
            </a:blip>
            <a:stretch>
              <a:fillRect/>
            </a:stretch>
          </p:blipFill>
          <p:spPr>
            <a:xfrm>
              <a:off x="5890349" y="2262830"/>
              <a:ext cx="206250" cy="166327"/>
            </a:xfrm>
            <a:prstGeom prst="rect">
              <a:avLst/>
            </a:prstGeom>
            <a:noFill/>
            <a:ln>
              <a:noFill/>
            </a:ln>
          </p:spPr>
        </p:pic>
        <p:pic>
          <p:nvPicPr>
            <p:cNvPr descr="&lt;math xmlns=&quot;http://www.w3.org/1998/Math/MathML&quot; display=&quot;block&quot; data-is-equatio=&quot;1&quot; data-latex=&quot;10^2&quot;&gt;&lt;msup&gt;&lt;mn&gt;10&lt;/mn&gt;&lt;mn&gt;2&lt;/mn&gt;&lt;/msup&gt;&lt;/math&gt;" id="925" name="Google Shape;925;p77" title="10 squared"/>
            <p:cNvPicPr preferRelativeResize="0"/>
            <p:nvPr/>
          </p:nvPicPr>
          <p:blipFill>
            <a:blip r:embed="rId4">
              <a:alphaModFix/>
            </a:blip>
            <a:stretch>
              <a:fillRect/>
            </a:stretch>
          </p:blipFill>
          <p:spPr>
            <a:xfrm>
              <a:off x="5342799" y="2189371"/>
              <a:ext cx="313981" cy="228942"/>
            </a:xfrm>
            <a:prstGeom prst="rect">
              <a:avLst/>
            </a:prstGeom>
            <a:noFill/>
            <a:ln>
              <a:noFill/>
            </a:ln>
          </p:spPr>
        </p:pic>
        <p:pic>
          <p:nvPicPr>
            <p:cNvPr descr="&lt;math xmlns=&quot;http://www.w3.org/1998/Math/MathML&quot; display=&quot;block&quot; data-is-equatio=&quot;1&quot; data-latex=&quot;10^3&quot;&gt;&lt;msup&gt;&lt;mn&gt;10&lt;/mn&gt;&lt;mn&gt;3&lt;/mn&gt;&lt;/msup&gt;&lt;/math&gt;" id="926" name="Google Shape;926;p77" title="10 cubed"/>
            <p:cNvPicPr preferRelativeResize="0"/>
            <p:nvPr/>
          </p:nvPicPr>
          <p:blipFill>
            <a:blip r:embed="rId5">
              <a:alphaModFix/>
            </a:blip>
            <a:stretch>
              <a:fillRect/>
            </a:stretch>
          </p:blipFill>
          <p:spPr>
            <a:xfrm>
              <a:off x="4889324" y="2189371"/>
              <a:ext cx="300899" cy="228942"/>
            </a:xfrm>
            <a:prstGeom prst="rect">
              <a:avLst/>
            </a:prstGeom>
            <a:noFill/>
            <a:ln>
              <a:noFill/>
            </a:ln>
          </p:spPr>
        </p:pic>
        <p:pic>
          <p:nvPicPr>
            <p:cNvPr descr="&lt;math xmlns=&quot;http://www.w3.org/1998/Math/MathML&quot; display=&quot;block&quot; data-is-equatio=&quot;1&quot; data-latex=&quot;10^4&quot;&gt;&lt;msup&gt;&lt;mn&gt;10&lt;/mn&gt;&lt;mn&gt;4&lt;/mn&gt;&lt;/msup&gt;&lt;/math&gt;" id="927" name="Google Shape;927;p77" title="10 to the fourth power"/>
            <p:cNvPicPr preferRelativeResize="0"/>
            <p:nvPr/>
          </p:nvPicPr>
          <p:blipFill>
            <a:blip r:embed="rId6">
              <a:alphaModFix/>
            </a:blip>
            <a:stretch>
              <a:fillRect/>
            </a:stretch>
          </p:blipFill>
          <p:spPr>
            <a:xfrm>
              <a:off x="4378765" y="2189363"/>
              <a:ext cx="313981" cy="228942"/>
            </a:xfrm>
            <a:prstGeom prst="rect">
              <a:avLst/>
            </a:prstGeom>
            <a:noFill/>
            <a:ln>
              <a:noFill/>
            </a:ln>
          </p:spPr>
        </p:pic>
        <p:pic>
          <p:nvPicPr>
            <p:cNvPr descr="&lt;math xmlns=&quot;http://www.w3.org/1998/Math/MathML&quot; display=&quot;block&quot; data-is-equatio=&quot;1&quot; data-latex=&quot;10^5&quot;&gt;&lt;msup&gt;&lt;mn&gt;10&lt;/mn&gt;&lt;mn&gt;5&lt;/mn&gt;&lt;/msup&gt;&lt;/math&gt;" id="928" name="Google Shape;928;p77" title="10 to the fifth power"/>
            <p:cNvPicPr preferRelativeResize="0"/>
            <p:nvPr/>
          </p:nvPicPr>
          <p:blipFill>
            <a:blip r:embed="rId7">
              <a:alphaModFix/>
            </a:blip>
            <a:stretch>
              <a:fillRect/>
            </a:stretch>
          </p:blipFill>
          <p:spPr>
            <a:xfrm>
              <a:off x="3925488" y="2189372"/>
              <a:ext cx="307440" cy="228942"/>
            </a:xfrm>
            <a:prstGeom prst="rect">
              <a:avLst/>
            </a:prstGeom>
            <a:noFill/>
            <a:ln>
              <a:noFill/>
            </a:ln>
          </p:spPr>
        </p:pic>
        <p:pic>
          <p:nvPicPr>
            <p:cNvPr descr="&lt;math xmlns=&quot;http://www.w3.org/1998/Math/MathML&quot; display=&quot;block&quot; data-is-equatio=&quot;1&quot; data-latex=&quot;\frac{1}{10^2}&quot;&gt;&lt;mfrac&gt;&lt;mn&gt;1&lt;/mn&gt;&lt;msup&gt;&lt;mn&gt;10&lt;/mn&gt;&lt;mn&gt;2&lt;/mn&gt;&lt;/msup&gt;&lt;/mfrac&gt;&lt;/math&gt;" id="929" name="Google Shape;929;p77" title="the fraction with numerator 1 and denominator 10 squared"/>
            <p:cNvPicPr preferRelativeResize="0"/>
            <p:nvPr/>
          </p:nvPicPr>
          <p:blipFill>
            <a:blip r:embed="rId8">
              <a:alphaModFix/>
            </a:blip>
            <a:stretch>
              <a:fillRect/>
            </a:stretch>
          </p:blipFill>
          <p:spPr>
            <a:xfrm>
              <a:off x="7263899" y="2156141"/>
              <a:ext cx="263983" cy="382583"/>
            </a:xfrm>
            <a:prstGeom prst="rect">
              <a:avLst/>
            </a:prstGeom>
            <a:noFill/>
            <a:ln>
              <a:noFill/>
            </a:ln>
          </p:spPr>
        </p:pic>
        <p:pic>
          <p:nvPicPr>
            <p:cNvPr descr="&lt;math xmlns=&quot;http://www.w3.org/1998/Math/MathML&quot; display=&quot;block&quot; data-is-equatio=&quot;1&quot; data-latex=&quot;\frac{1}{10^3}&quot;&gt;&lt;mfrac&gt;&lt;mn&gt;1&lt;/mn&gt;&lt;msup&gt;&lt;mn&gt;10&lt;/mn&gt;&lt;mn&gt;3&lt;/mn&gt;&lt;/msup&gt;&lt;/mfrac&gt;&lt;/math&gt;" id="930" name="Google Shape;930;p77" title="the fraction with numerator 1 and denominator 10 cubed"/>
            <p:cNvPicPr preferRelativeResize="0"/>
            <p:nvPr/>
          </p:nvPicPr>
          <p:blipFill>
            <a:blip r:embed="rId9">
              <a:alphaModFix/>
            </a:blip>
            <a:stretch>
              <a:fillRect/>
            </a:stretch>
          </p:blipFill>
          <p:spPr>
            <a:xfrm>
              <a:off x="7772333" y="2153303"/>
              <a:ext cx="263983" cy="382583"/>
            </a:xfrm>
            <a:prstGeom prst="rect">
              <a:avLst/>
            </a:prstGeom>
            <a:noFill/>
            <a:ln>
              <a:noFill/>
            </a:ln>
          </p:spPr>
        </p:pic>
        <p:pic>
          <p:nvPicPr>
            <p:cNvPr descr="&lt;math xmlns=&quot;http://www.w3.org/1998/Math/MathML&quot; display=&quot;block&quot; data-is-equatio=&quot;1&quot; data-latex=&quot;\frac{1}{10^4}&quot;&gt;&lt;mfrac&gt;&lt;mn&gt;1&lt;/mn&gt;&lt;msup&gt;&lt;mn&gt;10&lt;/mn&gt;&lt;mn&gt;4&lt;/mn&gt;&lt;/msup&gt;&lt;/mfrac&gt;&lt;/math&gt;" id="931" name="Google Shape;931;p77" title="the fraction with numerator 1 and denominator 10 to the fourth power"/>
            <p:cNvPicPr preferRelativeResize="0"/>
            <p:nvPr/>
          </p:nvPicPr>
          <p:blipFill>
            <a:blip r:embed="rId10">
              <a:alphaModFix/>
            </a:blip>
            <a:stretch>
              <a:fillRect/>
            </a:stretch>
          </p:blipFill>
          <p:spPr>
            <a:xfrm>
              <a:off x="8199808" y="2152373"/>
              <a:ext cx="263983" cy="378757"/>
            </a:xfrm>
            <a:prstGeom prst="rect">
              <a:avLst/>
            </a:prstGeom>
            <a:noFill/>
            <a:ln>
              <a:noFill/>
            </a:ln>
          </p:spPr>
        </p:pic>
        <p:pic>
          <p:nvPicPr>
            <p:cNvPr descr="&lt;math xmlns=&quot;http://www.w3.org/1998/Math/MathML&quot; display=&quot;block&quot; data-is-equatio=&quot;1&quot; data-latex=&quot;\frac{1}{10}&quot;&gt;&lt;mfrac&gt;&lt;mn&gt;1&lt;/mn&gt;&lt;mn&gt;10&lt;/mn&gt;&lt;/mfrac&gt;&lt;/math&gt;" id="932" name="Google Shape;932;p77" title="one tenth"/>
            <p:cNvPicPr preferRelativeResize="0"/>
            <p:nvPr/>
          </p:nvPicPr>
          <p:blipFill>
            <a:blip r:embed="rId11">
              <a:alphaModFix/>
            </a:blip>
            <a:stretch>
              <a:fillRect/>
            </a:stretch>
          </p:blipFill>
          <p:spPr>
            <a:xfrm>
              <a:off x="6820825" y="2150563"/>
              <a:ext cx="198622" cy="366074"/>
            </a:xfrm>
            <a:prstGeom prst="rect">
              <a:avLst/>
            </a:prstGeom>
            <a:noFill/>
            <a:ln>
              <a:noFill/>
            </a:ln>
          </p:spPr>
        </p:pic>
        <p:pic>
          <p:nvPicPr>
            <p:cNvPr descr="&lt;math xmlns=&quot;http://www.w3.org/1998/Math/MathML&quot; display=&quot;block&quot; data-is-equatio=&quot;1&quot; data-latex=&quot;10^{\ }&quot;&gt;&lt;msup&gt;&lt;mn&gt;10&lt;/mn&gt;&lt;mrow data-mjx-texclass=&quot;ORD&quot;&gt;&lt;mtext&gt;&lt;/mtext&gt;&lt;/mrow&gt;&lt;/msup&gt;&lt;/math&gt;" id="933" name="Google Shape;933;p77" title="10 raised to the power"/>
            <p:cNvPicPr preferRelativeResize="0"/>
            <p:nvPr/>
          </p:nvPicPr>
          <p:blipFill rotWithShape="1">
            <a:blip r:embed="rId3">
              <a:alphaModFix/>
            </a:blip>
            <a:srcRect b="0" l="0" r="55789" t="0"/>
            <a:stretch/>
          </p:blipFill>
          <p:spPr>
            <a:xfrm>
              <a:off x="6393529" y="2238366"/>
              <a:ext cx="89650" cy="163525"/>
            </a:xfrm>
            <a:prstGeom prst="rect">
              <a:avLst/>
            </a:prstGeom>
            <a:noFill/>
            <a:ln>
              <a:noFill/>
            </a:ln>
          </p:spPr>
        </p:pic>
        <p:pic>
          <p:nvPicPr>
            <p:cNvPr descr="&lt;math xmlns=&quot;http://www.w3.org/1998/Math/MathML&quot; display=&quot;block&quot; data-is-equatio=&quot;1&quot; data-latex=&quot;10^6&quot;&gt;&lt;msup&gt;&lt;mn&gt;10&lt;/mn&gt;&lt;mn&gt;6&lt;/mn&gt;&lt;/msup&gt;&lt;/math&gt;" id="934" name="Google Shape;934;p77" title="10 to the sixth power"/>
            <p:cNvPicPr preferRelativeResize="0"/>
            <p:nvPr/>
          </p:nvPicPr>
          <p:blipFill>
            <a:blip r:embed="rId12">
              <a:alphaModFix/>
            </a:blip>
            <a:stretch>
              <a:fillRect/>
            </a:stretch>
          </p:blipFill>
          <p:spPr>
            <a:xfrm>
              <a:off x="3427829" y="2189925"/>
              <a:ext cx="300900" cy="227820"/>
            </a:xfrm>
            <a:prstGeom prst="rect">
              <a:avLst/>
            </a:prstGeom>
            <a:noFill/>
            <a:ln>
              <a:noFill/>
            </a:ln>
          </p:spPr>
        </p:pic>
        <p:pic>
          <p:nvPicPr>
            <p:cNvPr descr="&lt;math xmlns=&quot;http://www.w3.org/1998/Math/MathML&quot; display=&quot;block&quot; data-is-equatio=&quot;1&quot; data-latex=&quot;10^7&quot;&gt;&lt;msup&gt;&lt;mn&gt;10&lt;/mn&gt;&lt;mn&gt;7&lt;/mn&gt;&lt;/msup&gt;&lt;/math&gt;" id="935" name="Google Shape;935;p77" title="10 to the seventh power"/>
            <p:cNvPicPr preferRelativeResize="0"/>
            <p:nvPr/>
          </p:nvPicPr>
          <p:blipFill>
            <a:blip r:embed="rId13">
              <a:alphaModFix/>
            </a:blip>
            <a:stretch>
              <a:fillRect/>
            </a:stretch>
          </p:blipFill>
          <p:spPr>
            <a:xfrm>
              <a:off x="2968200" y="2207531"/>
              <a:ext cx="300900" cy="224621"/>
            </a:xfrm>
            <a:prstGeom prst="rect">
              <a:avLst/>
            </a:prstGeom>
            <a:noFill/>
            <a:ln>
              <a:noFill/>
            </a:ln>
          </p:spPr>
        </p:pic>
        <p:pic>
          <p:nvPicPr>
            <p:cNvPr descr="&lt;math xmlns=&quot;http://www.w3.org/1998/Math/MathML&quot; display=&quot;block&quot; data-is-equatio=&quot;1&quot; data-latex=&quot;10^8&quot;&gt;&lt;msup&gt;&lt;mn&gt;10&lt;/mn&gt;&lt;mn&gt;8&lt;/mn&gt;&lt;/msup&gt;&lt;/math&gt;" id="936" name="Google Shape;936;p77" title="10 to the eighth power"/>
            <p:cNvPicPr preferRelativeResize="0"/>
            <p:nvPr/>
          </p:nvPicPr>
          <p:blipFill>
            <a:blip r:embed="rId14">
              <a:alphaModFix/>
            </a:blip>
            <a:stretch>
              <a:fillRect/>
            </a:stretch>
          </p:blipFill>
          <p:spPr>
            <a:xfrm>
              <a:off x="2484575" y="2203850"/>
              <a:ext cx="264000" cy="199908"/>
            </a:xfrm>
            <a:prstGeom prst="rect">
              <a:avLst/>
            </a:prstGeom>
            <a:noFill/>
            <a:ln>
              <a:noFill/>
            </a:ln>
          </p:spPr>
        </p:pic>
        <p:sp>
          <p:nvSpPr>
            <p:cNvPr id="937" name="Google Shape;937;p77"/>
            <p:cNvSpPr txBox="1"/>
            <p:nvPr/>
          </p:nvSpPr>
          <p:spPr>
            <a:xfrm>
              <a:off x="6897025"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938" name="Google Shape;938;p77"/>
            <p:cNvSpPr txBox="1"/>
            <p:nvPr/>
          </p:nvSpPr>
          <p:spPr>
            <a:xfrm>
              <a:off x="7380796"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939" name="Google Shape;939;p77"/>
            <p:cNvSpPr txBox="1"/>
            <p:nvPr/>
          </p:nvSpPr>
          <p:spPr>
            <a:xfrm>
              <a:off x="7868655"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940" name="Google Shape;940;p77"/>
            <p:cNvSpPr txBox="1"/>
            <p:nvPr/>
          </p:nvSpPr>
          <p:spPr>
            <a:xfrm>
              <a:off x="8380959"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grpSp>
      <p:sp>
        <p:nvSpPr>
          <p:cNvPr id="941" name="Google Shape;941;p77"/>
          <p:cNvSpPr txBox="1"/>
          <p:nvPr/>
        </p:nvSpPr>
        <p:spPr>
          <a:xfrm>
            <a:off x="5710116" y="1390849"/>
            <a:ext cx="99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solidFill>
                <a:srgbClr val="000000"/>
              </a:solidFill>
              <a:latin typeface="Lexend"/>
              <a:ea typeface="Lexend"/>
              <a:cs typeface="Lexend"/>
              <a:sym typeface="Lexend"/>
            </a:endParaRPr>
          </a:p>
        </p:txBody>
      </p:sp>
      <p:sp>
        <p:nvSpPr>
          <p:cNvPr id="942" name="Google Shape;942;p77"/>
          <p:cNvSpPr txBox="1"/>
          <p:nvPr/>
        </p:nvSpPr>
        <p:spPr>
          <a:xfrm>
            <a:off x="5710116" y="1885000"/>
            <a:ext cx="99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solidFill>
                <a:srgbClr val="000000"/>
              </a:solidFill>
              <a:latin typeface="Lexend"/>
              <a:ea typeface="Lexend"/>
              <a:cs typeface="Lexend"/>
              <a:sym typeface="Lexend"/>
            </a:endParaRPr>
          </a:p>
        </p:txBody>
      </p:sp>
      <p:sp>
        <p:nvSpPr>
          <p:cNvPr id="943" name="Google Shape;943;p77"/>
          <p:cNvSpPr/>
          <p:nvPr/>
        </p:nvSpPr>
        <p:spPr>
          <a:xfrm>
            <a:off x="4936575" y="2473875"/>
            <a:ext cx="221700" cy="338700"/>
          </a:xfrm>
          <a:prstGeom prst="upArrow">
            <a:avLst>
              <a:gd fmla="val 50000" name="adj1"/>
              <a:gd fmla="val 50000" name="adj2"/>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4" name="Google Shape;944;p77"/>
          <p:cNvSpPr txBox="1"/>
          <p:nvPr/>
        </p:nvSpPr>
        <p:spPr>
          <a:xfrm>
            <a:off x="324000" y="2882375"/>
            <a:ext cx="73194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Lexend"/>
                <a:ea typeface="Lexend"/>
                <a:cs typeface="Lexend"/>
                <a:sym typeface="Lexend"/>
              </a:rPr>
              <a:t>The first </a:t>
            </a:r>
            <a:r>
              <a:rPr b="1" lang="en-GB" sz="2000">
                <a:latin typeface="Lexend"/>
                <a:ea typeface="Lexend"/>
                <a:cs typeface="Lexend"/>
                <a:sym typeface="Lexend"/>
              </a:rPr>
              <a:t>significant figure</a:t>
            </a:r>
            <a:r>
              <a:rPr lang="en-GB" sz="2000">
                <a:latin typeface="Lexend"/>
                <a:ea typeface="Lexend"/>
                <a:cs typeface="Lexend"/>
                <a:sym typeface="Lexend"/>
              </a:rPr>
              <a:t> is in the </a:t>
            </a:r>
            <a:r>
              <a:rPr lang="en-GB" sz="2000">
                <a:solidFill>
                  <a:schemeClr val="accent5"/>
                </a:solidFill>
                <a:latin typeface="Lexend"/>
                <a:ea typeface="Lexend"/>
                <a:cs typeface="Lexend"/>
                <a:sym typeface="Lexend"/>
              </a:rPr>
              <a:t>tens</a:t>
            </a:r>
            <a:r>
              <a:rPr lang="en-GB" sz="2000">
                <a:latin typeface="Lexend"/>
                <a:ea typeface="Lexend"/>
                <a:cs typeface="Lexend"/>
                <a:sym typeface="Lexend"/>
              </a:rPr>
              <a:t> column.</a:t>
            </a:r>
            <a:endParaRPr sz="2000">
              <a:latin typeface="Lexend"/>
              <a:ea typeface="Lexend"/>
              <a:cs typeface="Lexend"/>
              <a:sym typeface="Lexend"/>
            </a:endParaRPr>
          </a:p>
          <a:p>
            <a:pPr indent="0" lvl="0" marL="0" rtl="0" algn="l">
              <a:spcBef>
                <a:spcPts val="0"/>
              </a:spcBef>
              <a:spcAft>
                <a:spcPts val="0"/>
              </a:spcAft>
              <a:buNone/>
            </a:pPr>
            <a:r>
              <a:rPr lang="en-GB" sz="2000">
                <a:latin typeface="Lexend"/>
                <a:ea typeface="Lexend"/>
                <a:cs typeface="Lexend"/>
                <a:sym typeface="Lexend"/>
              </a:rPr>
              <a:t>Therefore, we round to the nearest </a:t>
            </a:r>
            <a:r>
              <a:rPr lang="en-GB" sz="2000">
                <a:solidFill>
                  <a:schemeClr val="accent5"/>
                </a:solidFill>
                <a:latin typeface="Lexend"/>
                <a:ea typeface="Lexend"/>
                <a:cs typeface="Lexend"/>
                <a:sym typeface="Lexend"/>
              </a:rPr>
              <a:t>10</a:t>
            </a:r>
            <a:r>
              <a:rPr lang="en-GB" sz="2000">
                <a:solidFill>
                  <a:schemeClr val="dk1"/>
                </a:solidFill>
                <a:latin typeface="Lexend"/>
                <a:ea typeface="Lexend"/>
                <a:cs typeface="Lexend"/>
                <a:sym typeface="Lexend"/>
              </a:rPr>
              <a:t>.</a:t>
            </a:r>
            <a:r>
              <a:rPr lang="en-GB" sz="2000">
                <a:latin typeface="Lexend"/>
                <a:ea typeface="Lexend"/>
                <a:cs typeface="Lexend"/>
                <a:sym typeface="Lexend"/>
              </a:rPr>
              <a:t> </a:t>
            </a:r>
            <a:endParaRPr sz="2000">
              <a:solidFill>
                <a:srgbClr val="000000"/>
              </a:solidFill>
              <a:latin typeface="Lexend"/>
              <a:ea typeface="Lexend"/>
              <a:cs typeface="Lexend"/>
              <a:sym typeface="Lexend"/>
            </a:endParaRPr>
          </a:p>
        </p:txBody>
      </p:sp>
      <p:sp>
        <p:nvSpPr>
          <p:cNvPr id="945" name="Google Shape;945;p77"/>
          <p:cNvSpPr/>
          <p:nvPr/>
        </p:nvSpPr>
        <p:spPr>
          <a:xfrm rot="10800000">
            <a:off x="3987850" y="3938988"/>
            <a:ext cx="221700" cy="338700"/>
          </a:xfrm>
          <a:prstGeom prst="upArrow">
            <a:avLst>
              <a:gd fmla="val 50000" name="adj1"/>
              <a:gd fmla="val 50000" name="adj2"/>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6" name="Google Shape;946;p77"/>
          <p:cNvSpPr txBox="1"/>
          <p:nvPr/>
        </p:nvSpPr>
        <p:spPr>
          <a:xfrm>
            <a:off x="3933675" y="3624956"/>
            <a:ext cx="391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54</a:t>
            </a:r>
            <a:endParaRPr sz="2200">
              <a:solidFill>
                <a:srgbClr val="000000"/>
              </a:solidFill>
              <a:latin typeface="Lexend"/>
              <a:ea typeface="Lexend"/>
              <a:cs typeface="Lexend"/>
              <a:sym typeface="Lexend"/>
            </a:endParaRPr>
          </a:p>
        </p:txBody>
      </p:sp>
      <p:sp>
        <p:nvSpPr>
          <p:cNvPr id="947" name="Google Shape;947;p77"/>
          <p:cNvSpPr txBox="1"/>
          <p:nvPr/>
        </p:nvSpPr>
        <p:spPr>
          <a:xfrm>
            <a:off x="324000" y="4482575"/>
            <a:ext cx="5100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54 rounded to one </a:t>
            </a:r>
            <a:r>
              <a:rPr b="1" lang="en-GB" sz="2200">
                <a:latin typeface="Kalam"/>
                <a:ea typeface="Kalam"/>
                <a:cs typeface="Kalam"/>
                <a:sym typeface="Kalam"/>
              </a:rPr>
              <a:t>significant</a:t>
            </a:r>
            <a:r>
              <a:rPr b="1" lang="en-GB" sz="2200">
                <a:latin typeface="Kalam"/>
                <a:ea typeface="Kalam"/>
                <a:cs typeface="Kalam"/>
                <a:sym typeface="Kalam"/>
              </a:rPr>
              <a:t> figure</a:t>
            </a:r>
            <a:r>
              <a:rPr lang="en-GB" sz="2200">
                <a:latin typeface="Kalam"/>
                <a:ea typeface="Kalam"/>
                <a:cs typeface="Kalam"/>
                <a:sym typeface="Kalam"/>
              </a:rPr>
              <a:t> is 50</a:t>
            </a:r>
            <a:endParaRPr sz="2200">
              <a:solidFill>
                <a:srgbClr val="000000"/>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number line for significant figures</a:t>
            </a:r>
            <a:endParaRPr/>
          </a:p>
        </p:txBody>
      </p:sp>
      <p:sp>
        <p:nvSpPr>
          <p:cNvPr id="953" name="Google Shape;953;p78"/>
          <p:cNvSpPr txBox="1"/>
          <p:nvPr>
            <p:ph idx="1" type="body"/>
          </p:nvPr>
        </p:nvSpPr>
        <p:spPr>
          <a:xfrm>
            <a:off x="324000" y="606900"/>
            <a:ext cx="51804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What is 650 to one </a:t>
            </a:r>
            <a:r>
              <a:rPr b="1" lang="en-GB" sz="2000"/>
              <a:t>significant figure</a:t>
            </a:r>
            <a:r>
              <a:rPr lang="en-GB" sz="2000"/>
              <a:t>?</a:t>
            </a:r>
            <a:endParaRPr sz="2000"/>
          </a:p>
        </p:txBody>
      </p:sp>
      <p:graphicFrame>
        <p:nvGraphicFramePr>
          <p:cNvPr id="954" name="Google Shape;954;p78"/>
          <p:cNvGraphicFramePr/>
          <p:nvPr/>
        </p:nvGraphicFramePr>
        <p:xfrm>
          <a:off x="2159000" y="3944299"/>
          <a:ext cx="3000000" cy="3000000"/>
        </p:xfrm>
        <a:graphic>
          <a:graphicData uri="http://schemas.openxmlformats.org/drawingml/2006/table">
            <a:tbl>
              <a:tblPr>
                <a:noFill/>
                <a:tableStyleId>{A1769C70-3405-48C6-B967-3B8FA869652B}</a:tableStyleId>
              </a:tblPr>
              <a:tblGrid>
                <a:gridCol w="2413000"/>
                <a:gridCol w="2413000"/>
              </a:tblGrid>
              <a:tr h="190500">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955" name="Google Shape;955;p78"/>
          <p:cNvSpPr txBox="1"/>
          <p:nvPr/>
        </p:nvSpPr>
        <p:spPr>
          <a:xfrm>
            <a:off x="1901601" y="3563974"/>
            <a:ext cx="513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600</a:t>
            </a:r>
            <a:endParaRPr sz="2200">
              <a:solidFill>
                <a:srgbClr val="000000"/>
              </a:solidFill>
              <a:latin typeface="Lexend"/>
              <a:ea typeface="Lexend"/>
              <a:cs typeface="Lexend"/>
              <a:sym typeface="Lexend"/>
            </a:endParaRPr>
          </a:p>
        </p:txBody>
      </p:sp>
      <p:sp>
        <p:nvSpPr>
          <p:cNvPr id="956" name="Google Shape;956;p78"/>
          <p:cNvSpPr txBox="1"/>
          <p:nvPr/>
        </p:nvSpPr>
        <p:spPr>
          <a:xfrm>
            <a:off x="6724142" y="3563974"/>
            <a:ext cx="513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7</a:t>
            </a:r>
            <a:r>
              <a:rPr lang="en-GB" sz="2200">
                <a:latin typeface="Lexend"/>
                <a:ea typeface="Lexend"/>
                <a:cs typeface="Lexend"/>
                <a:sym typeface="Lexend"/>
              </a:rPr>
              <a:t>00</a:t>
            </a:r>
            <a:endParaRPr sz="2200">
              <a:solidFill>
                <a:srgbClr val="000000"/>
              </a:solidFill>
              <a:latin typeface="Lexend"/>
              <a:ea typeface="Lexend"/>
              <a:cs typeface="Lexend"/>
              <a:sym typeface="Lexend"/>
            </a:endParaRPr>
          </a:p>
        </p:txBody>
      </p:sp>
      <p:sp>
        <p:nvSpPr>
          <p:cNvPr id="957" name="Google Shape;957;p78"/>
          <p:cNvSpPr txBox="1"/>
          <p:nvPr/>
        </p:nvSpPr>
        <p:spPr>
          <a:xfrm>
            <a:off x="4319780" y="3563974"/>
            <a:ext cx="513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650</a:t>
            </a:r>
            <a:endParaRPr sz="2200">
              <a:solidFill>
                <a:srgbClr val="000000"/>
              </a:solidFill>
              <a:latin typeface="Lexend"/>
              <a:ea typeface="Lexend"/>
              <a:cs typeface="Lexend"/>
              <a:sym typeface="Lexend"/>
            </a:endParaRPr>
          </a:p>
        </p:txBody>
      </p:sp>
      <p:graphicFrame>
        <p:nvGraphicFramePr>
          <p:cNvPr id="958" name="Google Shape;958;p78"/>
          <p:cNvGraphicFramePr/>
          <p:nvPr/>
        </p:nvGraphicFramePr>
        <p:xfrm>
          <a:off x="1465001" y="932546"/>
          <a:ext cx="3000000" cy="3000000"/>
        </p:xfrm>
        <a:graphic>
          <a:graphicData uri="http://schemas.openxmlformats.org/drawingml/2006/table">
            <a:tbl>
              <a:tblPr>
                <a:noFill/>
                <a:tableStyleId>{A1769C70-3405-48C6-B967-3B8FA869652B}</a:tableStyleId>
              </a:tblPr>
              <a:tblGrid>
                <a:gridCol w="475250"/>
                <a:gridCol w="475250"/>
                <a:gridCol w="475250"/>
                <a:gridCol w="475250"/>
                <a:gridCol w="475250"/>
                <a:gridCol w="475250"/>
                <a:gridCol w="475250"/>
                <a:gridCol w="475250"/>
                <a:gridCol w="475250"/>
                <a:gridCol w="475250"/>
                <a:gridCol w="475250"/>
                <a:gridCol w="475250"/>
                <a:gridCol w="475250"/>
              </a:tblGrid>
              <a:tr h="458200">
                <a:tc>
                  <a:txBody>
                    <a:bodyPr/>
                    <a:lstStyle/>
                    <a:p>
                      <a:pPr indent="0" lvl="0" marL="0" rtl="0" algn="ctr">
                        <a:spcBef>
                          <a:spcPts val="0"/>
                        </a:spcBef>
                        <a:spcAft>
                          <a:spcPts val="0"/>
                        </a:spcAft>
                        <a:buNone/>
                      </a:pPr>
                      <a:r>
                        <a:rPr lang="en-GB" sz="1300">
                          <a:latin typeface="Lexend"/>
                          <a:ea typeface="Lexend"/>
                          <a:cs typeface="Lexend"/>
                          <a:sym typeface="Lexend"/>
                        </a:rPr>
                        <a:t>HMn</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TMn</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Mn</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solidFill>
                            <a:srgbClr val="000000"/>
                          </a:solidFill>
                          <a:latin typeface="Lexend"/>
                          <a:ea typeface="Lexend"/>
                          <a:cs typeface="Lexend"/>
                          <a:sym typeface="Lexend"/>
                        </a:rPr>
                        <a:t>T</a:t>
                      </a:r>
                      <a:endParaRPr>
                        <a:solidFill>
                          <a:srgbClr val="000000"/>
                        </a:solidFill>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O</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8200">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rgbClr val="000000"/>
                        </a:solidFill>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82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6</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0</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pSp>
        <p:nvGrpSpPr>
          <p:cNvPr id="959" name="Google Shape;959;p78"/>
          <p:cNvGrpSpPr/>
          <p:nvPr/>
        </p:nvGrpSpPr>
        <p:grpSpPr>
          <a:xfrm>
            <a:off x="1539376" y="932546"/>
            <a:ext cx="6284584" cy="883373"/>
            <a:chOff x="2484575" y="1655350"/>
            <a:chExt cx="6284584" cy="883373"/>
          </a:xfrm>
        </p:grpSpPr>
        <p:pic>
          <p:nvPicPr>
            <p:cNvPr descr="&lt;math xmlns=&quot;http://www.w3.org/1998/Math/MathML&quot; display=&quot;block&quot; data-is-equatio=&quot;1&quot; data-latex=&quot;10^{\ }&quot;&gt;&lt;msup&gt;&lt;mn&gt;10&lt;/mn&gt;&lt;mrow data-mjx-texclass=&quot;ORD&quot;&gt;&lt;mtext&gt;&lt;/mtext&gt;&lt;/mrow&gt;&lt;/msup&gt;&lt;/math&gt;" id="960" name="Google Shape;960;p78" title="10 raised to the power"/>
            <p:cNvPicPr preferRelativeResize="0"/>
            <p:nvPr/>
          </p:nvPicPr>
          <p:blipFill>
            <a:blip r:embed="rId3">
              <a:alphaModFix/>
            </a:blip>
            <a:stretch>
              <a:fillRect/>
            </a:stretch>
          </p:blipFill>
          <p:spPr>
            <a:xfrm>
              <a:off x="5890349" y="2262830"/>
              <a:ext cx="206250" cy="166327"/>
            </a:xfrm>
            <a:prstGeom prst="rect">
              <a:avLst/>
            </a:prstGeom>
            <a:noFill/>
            <a:ln>
              <a:noFill/>
            </a:ln>
          </p:spPr>
        </p:pic>
        <p:pic>
          <p:nvPicPr>
            <p:cNvPr descr="&lt;math xmlns=&quot;http://www.w3.org/1998/Math/MathML&quot; display=&quot;block&quot; data-is-equatio=&quot;1&quot; data-latex=&quot;10^2&quot;&gt;&lt;msup&gt;&lt;mn&gt;10&lt;/mn&gt;&lt;mn&gt;2&lt;/mn&gt;&lt;/msup&gt;&lt;/math&gt;" id="961" name="Google Shape;961;p78" title="10 squared"/>
            <p:cNvPicPr preferRelativeResize="0"/>
            <p:nvPr/>
          </p:nvPicPr>
          <p:blipFill>
            <a:blip r:embed="rId4">
              <a:alphaModFix/>
            </a:blip>
            <a:stretch>
              <a:fillRect/>
            </a:stretch>
          </p:blipFill>
          <p:spPr>
            <a:xfrm>
              <a:off x="5342799" y="2189371"/>
              <a:ext cx="313981" cy="228942"/>
            </a:xfrm>
            <a:prstGeom prst="rect">
              <a:avLst/>
            </a:prstGeom>
            <a:noFill/>
            <a:ln>
              <a:noFill/>
            </a:ln>
          </p:spPr>
        </p:pic>
        <p:pic>
          <p:nvPicPr>
            <p:cNvPr descr="&lt;math xmlns=&quot;http://www.w3.org/1998/Math/MathML&quot; display=&quot;block&quot; data-is-equatio=&quot;1&quot; data-latex=&quot;10^3&quot;&gt;&lt;msup&gt;&lt;mn&gt;10&lt;/mn&gt;&lt;mn&gt;3&lt;/mn&gt;&lt;/msup&gt;&lt;/math&gt;" id="962" name="Google Shape;962;p78" title="10 cubed"/>
            <p:cNvPicPr preferRelativeResize="0"/>
            <p:nvPr/>
          </p:nvPicPr>
          <p:blipFill>
            <a:blip r:embed="rId5">
              <a:alphaModFix/>
            </a:blip>
            <a:stretch>
              <a:fillRect/>
            </a:stretch>
          </p:blipFill>
          <p:spPr>
            <a:xfrm>
              <a:off x="4889324" y="2189371"/>
              <a:ext cx="300899" cy="228942"/>
            </a:xfrm>
            <a:prstGeom prst="rect">
              <a:avLst/>
            </a:prstGeom>
            <a:noFill/>
            <a:ln>
              <a:noFill/>
            </a:ln>
          </p:spPr>
        </p:pic>
        <p:pic>
          <p:nvPicPr>
            <p:cNvPr descr="&lt;math xmlns=&quot;http://www.w3.org/1998/Math/MathML&quot; display=&quot;block&quot; data-is-equatio=&quot;1&quot; data-latex=&quot;10^4&quot;&gt;&lt;msup&gt;&lt;mn&gt;10&lt;/mn&gt;&lt;mn&gt;4&lt;/mn&gt;&lt;/msup&gt;&lt;/math&gt;" id="963" name="Google Shape;963;p78" title="10 to the fourth power"/>
            <p:cNvPicPr preferRelativeResize="0"/>
            <p:nvPr/>
          </p:nvPicPr>
          <p:blipFill>
            <a:blip r:embed="rId6">
              <a:alphaModFix/>
            </a:blip>
            <a:stretch>
              <a:fillRect/>
            </a:stretch>
          </p:blipFill>
          <p:spPr>
            <a:xfrm>
              <a:off x="4378765" y="2189363"/>
              <a:ext cx="313981" cy="228942"/>
            </a:xfrm>
            <a:prstGeom prst="rect">
              <a:avLst/>
            </a:prstGeom>
            <a:noFill/>
            <a:ln>
              <a:noFill/>
            </a:ln>
          </p:spPr>
        </p:pic>
        <p:pic>
          <p:nvPicPr>
            <p:cNvPr descr="&lt;math xmlns=&quot;http://www.w3.org/1998/Math/MathML&quot; display=&quot;block&quot; data-is-equatio=&quot;1&quot; data-latex=&quot;10^5&quot;&gt;&lt;msup&gt;&lt;mn&gt;10&lt;/mn&gt;&lt;mn&gt;5&lt;/mn&gt;&lt;/msup&gt;&lt;/math&gt;" id="964" name="Google Shape;964;p78" title="10 to the fifth power"/>
            <p:cNvPicPr preferRelativeResize="0"/>
            <p:nvPr/>
          </p:nvPicPr>
          <p:blipFill>
            <a:blip r:embed="rId7">
              <a:alphaModFix/>
            </a:blip>
            <a:stretch>
              <a:fillRect/>
            </a:stretch>
          </p:blipFill>
          <p:spPr>
            <a:xfrm>
              <a:off x="3925488" y="2189372"/>
              <a:ext cx="307440" cy="228942"/>
            </a:xfrm>
            <a:prstGeom prst="rect">
              <a:avLst/>
            </a:prstGeom>
            <a:noFill/>
            <a:ln>
              <a:noFill/>
            </a:ln>
          </p:spPr>
        </p:pic>
        <p:pic>
          <p:nvPicPr>
            <p:cNvPr descr="&lt;math xmlns=&quot;http://www.w3.org/1998/Math/MathML&quot; display=&quot;block&quot; data-is-equatio=&quot;1&quot; data-latex=&quot;\frac{1}{10^2}&quot;&gt;&lt;mfrac&gt;&lt;mn&gt;1&lt;/mn&gt;&lt;msup&gt;&lt;mn&gt;10&lt;/mn&gt;&lt;mn&gt;2&lt;/mn&gt;&lt;/msup&gt;&lt;/mfrac&gt;&lt;/math&gt;" id="965" name="Google Shape;965;p78" title="the fraction with numerator 1 and denominator 10 squared"/>
            <p:cNvPicPr preferRelativeResize="0"/>
            <p:nvPr/>
          </p:nvPicPr>
          <p:blipFill>
            <a:blip r:embed="rId8">
              <a:alphaModFix/>
            </a:blip>
            <a:stretch>
              <a:fillRect/>
            </a:stretch>
          </p:blipFill>
          <p:spPr>
            <a:xfrm>
              <a:off x="7263899" y="2156141"/>
              <a:ext cx="263983" cy="382583"/>
            </a:xfrm>
            <a:prstGeom prst="rect">
              <a:avLst/>
            </a:prstGeom>
            <a:noFill/>
            <a:ln>
              <a:noFill/>
            </a:ln>
          </p:spPr>
        </p:pic>
        <p:pic>
          <p:nvPicPr>
            <p:cNvPr descr="&lt;math xmlns=&quot;http://www.w3.org/1998/Math/MathML&quot; display=&quot;block&quot; data-is-equatio=&quot;1&quot; data-latex=&quot;\frac{1}{10^3}&quot;&gt;&lt;mfrac&gt;&lt;mn&gt;1&lt;/mn&gt;&lt;msup&gt;&lt;mn&gt;10&lt;/mn&gt;&lt;mn&gt;3&lt;/mn&gt;&lt;/msup&gt;&lt;/mfrac&gt;&lt;/math&gt;" id="966" name="Google Shape;966;p78" title="the fraction with numerator 1 and denominator 10 cubed"/>
            <p:cNvPicPr preferRelativeResize="0"/>
            <p:nvPr/>
          </p:nvPicPr>
          <p:blipFill>
            <a:blip r:embed="rId9">
              <a:alphaModFix/>
            </a:blip>
            <a:stretch>
              <a:fillRect/>
            </a:stretch>
          </p:blipFill>
          <p:spPr>
            <a:xfrm>
              <a:off x="7772333" y="2153303"/>
              <a:ext cx="263983" cy="382583"/>
            </a:xfrm>
            <a:prstGeom prst="rect">
              <a:avLst/>
            </a:prstGeom>
            <a:noFill/>
            <a:ln>
              <a:noFill/>
            </a:ln>
          </p:spPr>
        </p:pic>
        <p:pic>
          <p:nvPicPr>
            <p:cNvPr descr="&lt;math xmlns=&quot;http://www.w3.org/1998/Math/MathML&quot; display=&quot;block&quot; data-is-equatio=&quot;1&quot; data-latex=&quot;\frac{1}{10^4}&quot;&gt;&lt;mfrac&gt;&lt;mn&gt;1&lt;/mn&gt;&lt;msup&gt;&lt;mn&gt;10&lt;/mn&gt;&lt;mn&gt;4&lt;/mn&gt;&lt;/msup&gt;&lt;/mfrac&gt;&lt;/math&gt;" id="967" name="Google Shape;967;p78" title="the fraction with numerator 1 and denominator 10 to the fourth power"/>
            <p:cNvPicPr preferRelativeResize="0"/>
            <p:nvPr/>
          </p:nvPicPr>
          <p:blipFill>
            <a:blip r:embed="rId10">
              <a:alphaModFix/>
            </a:blip>
            <a:stretch>
              <a:fillRect/>
            </a:stretch>
          </p:blipFill>
          <p:spPr>
            <a:xfrm>
              <a:off x="8199808" y="2152373"/>
              <a:ext cx="263983" cy="378757"/>
            </a:xfrm>
            <a:prstGeom prst="rect">
              <a:avLst/>
            </a:prstGeom>
            <a:noFill/>
            <a:ln>
              <a:noFill/>
            </a:ln>
          </p:spPr>
        </p:pic>
        <p:pic>
          <p:nvPicPr>
            <p:cNvPr descr="&lt;math xmlns=&quot;http://www.w3.org/1998/Math/MathML&quot; display=&quot;block&quot; data-is-equatio=&quot;1&quot; data-latex=&quot;\frac{1}{10}&quot;&gt;&lt;mfrac&gt;&lt;mn&gt;1&lt;/mn&gt;&lt;mn&gt;10&lt;/mn&gt;&lt;/mfrac&gt;&lt;/math&gt;" id="968" name="Google Shape;968;p78" title="one tenth"/>
            <p:cNvPicPr preferRelativeResize="0"/>
            <p:nvPr/>
          </p:nvPicPr>
          <p:blipFill>
            <a:blip r:embed="rId11">
              <a:alphaModFix/>
            </a:blip>
            <a:stretch>
              <a:fillRect/>
            </a:stretch>
          </p:blipFill>
          <p:spPr>
            <a:xfrm>
              <a:off x="6820825" y="2150563"/>
              <a:ext cx="198622" cy="366074"/>
            </a:xfrm>
            <a:prstGeom prst="rect">
              <a:avLst/>
            </a:prstGeom>
            <a:noFill/>
            <a:ln>
              <a:noFill/>
            </a:ln>
          </p:spPr>
        </p:pic>
        <p:pic>
          <p:nvPicPr>
            <p:cNvPr descr="&lt;math xmlns=&quot;http://www.w3.org/1998/Math/MathML&quot; display=&quot;block&quot; data-is-equatio=&quot;1&quot; data-latex=&quot;10^{\ }&quot;&gt;&lt;msup&gt;&lt;mn&gt;10&lt;/mn&gt;&lt;mrow data-mjx-texclass=&quot;ORD&quot;&gt;&lt;mtext&gt;&lt;/mtext&gt;&lt;/mrow&gt;&lt;/msup&gt;&lt;/math&gt;" id="969" name="Google Shape;969;p78" title="10 raised to the power"/>
            <p:cNvPicPr preferRelativeResize="0"/>
            <p:nvPr/>
          </p:nvPicPr>
          <p:blipFill rotWithShape="1">
            <a:blip r:embed="rId3">
              <a:alphaModFix/>
            </a:blip>
            <a:srcRect b="0" l="0" r="55789" t="0"/>
            <a:stretch/>
          </p:blipFill>
          <p:spPr>
            <a:xfrm>
              <a:off x="6393529" y="2238366"/>
              <a:ext cx="89650" cy="163525"/>
            </a:xfrm>
            <a:prstGeom prst="rect">
              <a:avLst/>
            </a:prstGeom>
            <a:noFill/>
            <a:ln>
              <a:noFill/>
            </a:ln>
          </p:spPr>
        </p:pic>
        <p:pic>
          <p:nvPicPr>
            <p:cNvPr descr="&lt;math xmlns=&quot;http://www.w3.org/1998/Math/MathML&quot; display=&quot;block&quot; data-is-equatio=&quot;1&quot; data-latex=&quot;10^6&quot;&gt;&lt;msup&gt;&lt;mn&gt;10&lt;/mn&gt;&lt;mn&gt;6&lt;/mn&gt;&lt;/msup&gt;&lt;/math&gt;" id="970" name="Google Shape;970;p78" title="10 to the sixth power"/>
            <p:cNvPicPr preferRelativeResize="0"/>
            <p:nvPr/>
          </p:nvPicPr>
          <p:blipFill>
            <a:blip r:embed="rId12">
              <a:alphaModFix/>
            </a:blip>
            <a:stretch>
              <a:fillRect/>
            </a:stretch>
          </p:blipFill>
          <p:spPr>
            <a:xfrm>
              <a:off x="3427829" y="2189925"/>
              <a:ext cx="300900" cy="227820"/>
            </a:xfrm>
            <a:prstGeom prst="rect">
              <a:avLst/>
            </a:prstGeom>
            <a:noFill/>
            <a:ln>
              <a:noFill/>
            </a:ln>
          </p:spPr>
        </p:pic>
        <p:pic>
          <p:nvPicPr>
            <p:cNvPr descr="&lt;math xmlns=&quot;http://www.w3.org/1998/Math/MathML&quot; display=&quot;block&quot; data-is-equatio=&quot;1&quot; data-latex=&quot;10^7&quot;&gt;&lt;msup&gt;&lt;mn&gt;10&lt;/mn&gt;&lt;mn&gt;7&lt;/mn&gt;&lt;/msup&gt;&lt;/math&gt;" id="971" name="Google Shape;971;p78" title="10 to the seventh power"/>
            <p:cNvPicPr preferRelativeResize="0"/>
            <p:nvPr/>
          </p:nvPicPr>
          <p:blipFill>
            <a:blip r:embed="rId13">
              <a:alphaModFix/>
            </a:blip>
            <a:stretch>
              <a:fillRect/>
            </a:stretch>
          </p:blipFill>
          <p:spPr>
            <a:xfrm>
              <a:off x="2968200" y="2207531"/>
              <a:ext cx="300900" cy="224621"/>
            </a:xfrm>
            <a:prstGeom prst="rect">
              <a:avLst/>
            </a:prstGeom>
            <a:noFill/>
            <a:ln>
              <a:noFill/>
            </a:ln>
          </p:spPr>
        </p:pic>
        <p:pic>
          <p:nvPicPr>
            <p:cNvPr descr="&lt;math xmlns=&quot;http://www.w3.org/1998/Math/MathML&quot; display=&quot;block&quot; data-is-equatio=&quot;1&quot; data-latex=&quot;10^8&quot;&gt;&lt;msup&gt;&lt;mn&gt;10&lt;/mn&gt;&lt;mn&gt;8&lt;/mn&gt;&lt;/msup&gt;&lt;/math&gt;" id="972" name="Google Shape;972;p78" title="10 to the eighth power"/>
            <p:cNvPicPr preferRelativeResize="0"/>
            <p:nvPr/>
          </p:nvPicPr>
          <p:blipFill>
            <a:blip r:embed="rId14">
              <a:alphaModFix/>
            </a:blip>
            <a:stretch>
              <a:fillRect/>
            </a:stretch>
          </p:blipFill>
          <p:spPr>
            <a:xfrm>
              <a:off x="2484575" y="2203850"/>
              <a:ext cx="264000" cy="199908"/>
            </a:xfrm>
            <a:prstGeom prst="rect">
              <a:avLst/>
            </a:prstGeom>
            <a:noFill/>
            <a:ln>
              <a:noFill/>
            </a:ln>
          </p:spPr>
        </p:pic>
        <p:sp>
          <p:nvSpPr>
            <p:cNvPr id="973" name="Google Shape;973;p78"/>
            <p:cNvSpPr txBox="1"/>
            <p:nvPr/>
          </p:nvSpPr>
          <p:spPr>
            <a:xfrm>
              <a:off x="6897025"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974" name="Google Shape;974;p78"/>
            <p:cNvSpPr txBox="1"/>
            <p:nvPr/>
          </p:nvSpPr>
          <p:spPr>
            <a:xfrm>
              <a:off x="7380796"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975" name="Google Shape;975;p78"/>
            <p:cNvSpPr txBox="1"/>
            <p:nvPr/>
          </p:nvSpPr>
          <p:spPr>
            <a:xfrm>
              <a:off x="7868655"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976" name="Google Shape;976;p78"/>
            <p:cNvSpPr txBox="1"/>
            <p:nvPr/>
          </p:nvSpPr>
          <p:spPr>
            <a:xfrm>
              <a:off x="8380959"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grpSp>
      <p:sp>
        <p:nvSpPr>
          <p:cNvPr id="977" name="Google Shape;977;p78"/>
          <p:cNvSpPr txBox="1"/>
          <p:nvPr/>
        </p:nvSpPr>
        <p:spPr>
          <a:xfrm>
            <a:off x="5710116" y="1353846"/>
            <a:ext cx="99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solidFill>
                <a:srgbClr val="000000"/>
              </a:solidFill>
              <a:latin typeface="Lexend"/>
              <a:ea typeface="Lexend"/>
              <a:cs typeface="Lexend"/>
              <a:sym typeface="Lexend"/>
            </a:endParaRPr>
          </a:p>
        </p:txBody>
      </p:sp>
      <p:sp>
        <p:nvSpPr>
          <p:cNvPr id="978" name="Google Shape;978;p78"/>
          <p:cNvSpPr txBox="1"/>
          <p:nvPr/>
        </p:nvSpPr>
        <p:spPr>
          <a:xfrm>
            <a:off x="5710116" y="1847996"/>
            <a:ext cx="99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solidFill>
                <a:srgbClr val="000000"/>
              </a:solidFill>
              <a:latin typeface="Lexend"/>
              <a:ea typeface="Lexend"/>
              <a:cs typeface="Lexend"/>
              <a:sym typeface="Lexend"/>
            </a:endParaRPr>
          </a:p>
        </p:txBody>
      </p:sp>
      <p:sp>
        <p:nvSpPr>
          <p:cNvPr id="979" name="Google Shape;979;p78"/>
          <p:cNvSpPr/>
          <p:nvPr/>
        </p:nvSpPr>
        <p:spPr>
          <a:xfrm>
            <a:off x="4452114" y="2284471"/>
            <a:ext cx="221700" cy="338700"/>
          </a:xfrm>
          <a:prstGeom prst="upArrow">
            <a:avLst>
              <a:gd fmla="val 50000" name="adj1"/>
              <a:gd fmla="val 50000" name="adj2"/>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0" name="Google Shape;980;p78"/>
          <p:cNvSpPr txBox="1"/>
          <p:nvPr/>
        </p:nvSpPr>
        <p:spPr>
          <a:xfrm>
            <a:off x="324000" y="2658375"/>
            <a:ext cx="77889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Lexend"/>
                <a:ea typeface="Lexend"/>
                <a:cs typeface="Lexend"/>
                <a:sym typeface="Lexend"/>
              </a:rPr>
              <a:t>The first </a:t>
            </a:r>
            <a:r>
              <a:rPr b="1" lang="en-GB" sz="2000">
                <a:latin typeface="Lexend"/>
                <a:ea typeface="Lexend"/>
                <a:cs typeface="Lexend"/>
                <a:sym typeface="Lexend"/>
              </a:rPr>
              <a:t>significant figure</a:t>
            </a:r>
            <a:r>
              <a:rPr lang="en-GB" sz="2000">
                <a:latin typeface="Lexend"/>
                <a:ea typeface="Lexend"/>
                <a:cs typeface="Lexend"/>
                <a:sym typeface="Lexend"/>
              </a:rPr>
              <a:t> is in the </a:t>
            </a:r>
            <a:r>
              <a:rPr lang="en-GB" sz="2000">
                <a:solidFill>
                  <a:schemeClr val="accent5"/>
                </a:solidFill>
                <a:latin typeface="Lexend"/>
                <a:ea typeface="Lexend"/>
                <a:cs typeface="Lexend"/>
                <a:sym typeface="Lexend"/>
              </a:rPr>
              <a:t>hundred</a:t>
            </a:r>
            <a:r>
              <a:rPr lang="en-GB" sz="2000">
                <a:solidFill>
                  <a:schemeClr val="accent5"/>
                </a:solidFill>
                <a:latin typeface="Lexend"/>
                <a:ea typeface="Lexend"/>
                <a:cs typeface="Lexend"/>
                <a:sym typeface="Lexend"/>
              </a:rPr>
              <a:t>s</a:t>
            </a:r>
            <a:r>
              <a:rPr lang="en-GB" sz="2000">
                <a:latin typeface="Lexend"/>
                <a:ea typeface="Lexend"/>
                <a:cs typeface="Lexend"/>
                <a:sym typeface="Lexend"/>
              </a:rPr>
              <a:t> column.</a:t>
            </a:r>
            <a:endParaRPr sz="2000">
              <a:latin typeface="Lexend"/>
              <a:ea typeface="Lexend"/>
              <a:cs typeface="Lexend"/>
              <a:sym typeface="Lexend"/>
            </a:endParaRPr>
          </a:p>
          <a:p>
            <a:pPr indent="0" lvl="0" marL="0" rtl="0" algn="l">
              <a:spcBef>
                <a:spcPts val="0"/>
              </a:spcBef>
              <a:spcAft>
                <a:spcPts val="0"/>
              </a:spcAft>
              <a:buNone/>
            </a:pPr>
            <a:r>
              <a:rPr lang="en-GB" sz="2000">
                <a:latin typeface="Lexend"/>
                <a:ea typeface="Lexend"/>
                <a:cs typeface="Lexend"/>
                <a:sym typeface="Lexend"/>
              </a:rPr>
              <a:t>Therefore, we round to the nearest </a:t>
            </a:r>
            <a:r>
              <a:rPr lang="en-GB" sz="2000">
                <a:solidFill>
                  <a:schemeClr val="accent5"/>
                </a:solidFill>
                <a:latin typeface="Lexend"/>
                <a:ea typeface="Lexend"/>
                <a:cs typeface="Lexend"/>
                <a:sym typeface="Lexend"/>
              </a:rPr>
              <a:t>100</a:t>
            </a:r>
            <a:r>
              <a:rPr lang="en-GB" sz="2000">
                <a:solidFill>
                  <a:schemeClr val="dk1"/>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981" name="Google Shape;981;p78"/>
          <p:cNvSpPr/>
          <p:nvPr/>
        </p:nvSpPr>
        <p:spPr>
          <a:xfrm rot="10800000">
            <a:off x="4458975" y="3277163"/>
            <a:ext cx="221700" cy="338700"/>
          </a:xfrm>
          <a:prstGeom prst="upArrow">
            <a:avLst>
              <a:gd fmla="val 50000" name="adj1"/>
              <a:gd fmla="val 50000" name="adj2"/>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2" name="Google Shape;982;p78"/>
          <p:cNvSpPr txBox="1"/>
          <p:nvPr/>
        </p:nvSpPr>
        <p:spPr>
          <a:xfrm>
            <a:off x="324000" y="4207721"/>
            <a:ext cx="64380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650</a:t>
            </a:r>
            <a:r>
              <a:rPr lang="en-GB" sz="2000">
                <a:latin typeface="Kalam"/>
                <a:ea typeface="Kalam"/>
                <a:cs typeface="Kalam"/>
                <a:sym typeface="Kalam"/>
              </a:rPr>
              <a:t> rounded to one </a:t>
            </a:r>
            <a:r>
              <a:rPr b="1" lang="en-GB" sz="2000">
                <a:latin typeface="Kalam"/>
                <a:ea typeface="Kalam"/>
                <a:cs typeface="Kalam"/>
                <a:sym typeface="Kalam"/>
              </a:rPr>
              <a:t>significant figure</a:t>
            </a:r>
            <a:r>
              <a:rPr lang="en-GB" sz="2000">
                <a:latin typeface="Kalam"/>
                <a:ea typeface="Kalam"/>
                <a:cs typeface="Kalam"/>
                <a:sym typeface="Kalam"/>
              </a:rPr>
              <a:t> is 700</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If the number is exactly halfway we round up.</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number line for significant figures</a:t>
            </a:r>
            <a:endParaRPr/>
          </a:p>
        </p:txBody>
      </p:sp>
      <p:sp>
        <p:nvSpPr>
          <p:cNvPr id="988" name="Google Shape;988;p79"/>
          <p:cNvSpPr txBox="1"/>
          <p:nvPr>
            <p:ph idx="1" type="body"/>
          </p:nvPr>
        </p:nvSpPr>
        <p:spPr>
          <a:xfrm>
            <a:off x="324000" y="6069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What is 2795 to one </a:t>
            </a:r>
            <a:r>
              <a:rPr b="1" lang="en-GB" sz="2000"/>
              <a:t>significant figure</a:t>
            </a:r>
            <a:r>
              <a:rPr lang="en-GB" sz="2000"/>
              <a:t>?</a:t>
            </a:r>
            <a:endParaRPr sz="2000"/>
          </a:p>
        </p:txBody>
      </p:sp>
      <p:graphicFrame>
        <p:nvGraphicFramePr>
          <p:cNvPr id="989" name="Google Shape;989;p79"/>
          <p:cNvGraphicFramePr/>
          <p:nvPr/>
        </p:nvGraphicFramePr>
        <p:xfrm>
          <a:off x="2159000" y="4182150"/>
          <a:ext cx="3000000" cy="3000000"/>
        </p:xfrm>
        <a:graphic>
          <a:graphicData uri="http://schemas.openxmlformats.org/drawingml/2006/table">
            <a:tbl>
              <a:tblPr>
                <a:noFill/>
                <a:tableStyleId>{A1769C70-3405-48C6-B967-3B8FA869652B}</a:tableStyleId>
              </a:tblPr>
              <a:tblGrid>
                <a:gridCol w="2413000"/>
                <a:gridCol w="2413000"/>
              </a:tblGrid>
              <a:tr h="190500">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990" name="Google Shape;990;p79"/>
          <p:cNvSpPr txBox="1"/>
          <p:nvPr/>
        </p:nvSpPr>
        <p:spPr>
          <a:xfrm>
            <a:off x="1828171" y="3801825"/>
            <a:ext cx="672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2000</a:t>
            </a:r>
            <a:endParaRPr sz="2200">
              <a:solidFill>
                <a:srgbClr val="000000"/>
              </a:solidFill>
              <a:latin typeface="Lexend"/>
              <a:ea typeface="Lexend"/>
              <a:cs typeface="Lexend"/>
              <a:sym typeface="Lexend"/>
            </a:endParaRPr>
          </a:p>
        </p:txBody>
      </p:sp>
      <p:sp>
        <p:nvSpPr>
          <p:cNvPr id="991" name="Google Shape;991;p79"/>
          <p:cNvSpPr txBox="1"/>
          <p:nvPr/>
        </p:nvSpPr>
        <p:spPr>
          <a:xfrm>
            <a:off x="6641243" y="3801825"/>
            <a:ext cx="672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300</a:t>
            </a:r>
            <a:r>
              <a:rPr lang="en-GB" sz="2200">
                <a:solidFill>
                  <a:srgbClr val="000000"/>
                </a:solidFill>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992" name="Google Shape;992;p79"/>
          <p:cNvSpPr txBox="1"/>
          <p:nvPr/>
        </p:nvSpPr>
        <p:spPr>
          <a:xfrm>
            <a:off x="4206624" y="3801825"/>
            <a:ext cx="745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2500</a:t>
            </a:r>
            <a:endParaRPr sz="2200">
              <a:solidFill>
                <a:srgbClr val="000000"/>
              </a:solidFill>
              <a:latin typeface="Lexend"/>
              <a:ea typeface="Lexend"/>
              <a:cs typeface="Lexend"/>
              <a:sym typeface="Lexend"/>
            </a:endParaRPr>
          </a:p>
        </p:txBody>
      </p:sp>
      <p:graphicFrame>
        <p:nvGraphicFramePr>
          <p:cNvPr id="993" name="Google Shape;993;p79"/>
          <p:cNvGraphicFramePr/>
          <p:nvPr/>
        </p:nvGraphicFramePr>
        <p:xfrm>
          <a:off x="1465001" y="969550"/>
          <a:ext cx="3000000" cy="3000000"/>
        </p:xfrm>
        <a:graphic>
          <a:graphicData uri="http://schemas.openxmlformats.org/drawingml/2006/table">
            <a:tbl>
              <a:tblPr>
                <a:noFill/>
                <a:tableStyleId>{A1769C70-3405-48C6-B967-3B8FA869652B}</a:tableStyleId>
              </a:tblPr>
              <a:tblGrid>
                <a:gridCol w="475250"/>
                <a:gridCol w="475250"/>
                <a:gridCol w="475250"/>
                <a:gridCol w="475250"/>
                <a:gridCol w="475250"/>
                <a:gridCol w="475250"/>
                <a:gridCol w="475250"/>
                <a:gridCol w="475250"/>
                <a:gridCol w="475250"/>
                <a:gridCol w="475250"/>
                <a:gridCol w="475250"/>
                <a:gridCol w="475250"/>
                <a:gridCol w="475250"/>
              </a:tblGrid>
              <a:tr h="458200">
                <a:tc>
                  <a:txBody>
                    <a:bodyPr/>
                    <a:lstStyle/>
                    <a:p>
                      <a:pPr indent="0" lvl="0" marL="0" rtl="0" algn="ctr">
                        <a:spcBef>
                          <a:spcPts val="0"/>
                        </a:spcBef>
                        <a:spcAft>
                          <a:spcPts val="0"/>
                        </a:spcAft>
                        <a:buNone/>
                      </a:pPr>
                      <a:r>
                        <a:rPr lang="en-GB" sz="1300">
                          <a:latin typeface="Lexend"/>
                          <a:ea typeface="Lexend"/>
                          <a:cs typeface="Lexend"/>
                          <a:sym typeface="Lexend"/>
                        </a:rPr>
                        <a:t>HMn</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TMn</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Mn</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solidFill>
                            <a:srgbClr val="000000"/>
                          </a:solidFill>
                          <a:latin typeface="Lexend"/>
                          <a:ea typeface="Lexend"/>
                          <a:cs typeface="Lexend"/>
                          <a:sym typeface="Lexend"/>
                        </a:rPr>
                        <a:t>T</a:t>
                      </a:r>
                      <a:endParaRPr>
                        <a:solidFill>
                          <a:srgbClr val="000000"/>
                        </a:solidFill>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O</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8200">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rgbClr val="000000"/>
                        </a:solidFill>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82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7</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9</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pSp>
        <p:nvGrpSpPr>
          <p:cNvPr id="994" name="Google Shape;994;p79"/>
          <p:cNvGrpSpPr/>
          <p:nvPr/>
        </p:nvGrpSpPr>
        <p:grpSpPr>
          <a:xfrm>
            <a:off x="1539376" y="969550"/>
            <a:ext cx="6284584" cy="883373"/>
            <a:chOff x="2484575" y="1655350"/>
            <a:chExt cx="6284584" cy="883373"/>
          </a:xfrm>
        </p:grpSpPr>
        <p:pic>
          <p:nvPicPr>
            <p:cNvPr descr="&lt;math xmlns=&quot;http://www.w3.org/1998/Math/MathML&quot; display=&quot;block&quot; data-is-equatio=&quot;1&quot; data-latex=&quot;10^{\ }&quot;&gt;&lt;msup&gt;&lt;mn&gt;10&lt;/mn&gt;&lt;mrow data-mjx-texclass=&quot;ORD&quot;&gt;&lt;mtext&gt;&lt;/mtext&gt;&lt;/mrow&gt;&lt;/msup&gt;&lt;/math&gt;" id="995" name="Google Shape;995;p79" title="10 raised to the power"/>
            <p:cNvPicPr preferRelativeResize="0"/>
            <p:nvPr/>
          </p:nvPicPr>
          <p:blipFill>
            <a:blip r:embed="rId3">
              <a:alphaModFix/>
            </a:blip>
            <a:stretch>
              <a:fillRect/>
            </a:stretch>
          </p:blipFill>
          <p:spPr>
            <a:xfrm>
              <a:off x="5890349" y="2262830"/>
              <a:ext cx="206250" cy="166327"/>
            </a:xfrm>
            <a:prstGeom prst="rect">
              <a:avLst/>
            </a:prstGeom>
            <a:noFill/>
            <a:ln>
              <a:noFill/>
            </a:ln>
          </p:spPr>
        </p:pic>
        <p:pic>
          <p:nvPicPr>
            <p:cNvPr descr="&lt;math xmlns=&quot;http://www.w3.org/1998/Math/MathML&quot; display=&quot;block&quot; data-is-equatio=&quot;1&quot; data-latex=&quot;10^2&quot;&gt;&lt;msup&gt;&lt;mn&gt;10&lt;/mn&gt;&lt;mn&gt;2&lt;/mn&gt;&lt;/msup&gt;&lt;/math&gt;" id="996" name="Google Shape;996;p79" title="10 squared"/>
            <p:cNvPicPr preferRelativeResize="0"/>
            <p:nvPr/>
          </p:nvPicPr>
          <p:blipFill>
            <a:blip r:embed="rId4">
              <a:alphaModFix/>
            </a:blip>
            <a:stretch>
              <a:fillRect/>
            </a:stretch>
          </p:blipFill>
          <p:spPr>
            <a:xfrm>
              <a:off x="5342799" y="2189371"/>
              <a:ext cx="313981" cy="228942"/>
            </a:xfrm>
            <a:prstGeom prst="rect">
              <a:avLst/>
            </a:prstGeom>
            <a:noFill/>
            <a:ln>
              <a:noFill/>
            </a:ln>
          </p:spPr>
        </p:pic>
        <p:pic>
          <p:nvPicPr>
            <p:cNvPr descr="&lt;math xmlns=&quot;http://www.w3.org/1998/Math/MathML&quot; display=&quot;block&quot; data-is-equatio=&quot;1&quot; data-latex=&quot;10^3&quot;&gt;&lt;msup&gt;&lt;mn&gt;10&lt;/mn&gt;&lt;mn&gt;3&lt;/mn&gt;&lt;/msup&gt;&lt;/math&gt;" id="997" name="Google Shape;997;p79" title="10 cubed"/>
            <p:cNvPicPr preferRelativeResize="0"/>
            <p:nvPr/>
          </p:nvPicPr>
          <p:blipFill>
            <a:blip r:embed="rId5">
              <a:alphaModFix/>
            </a:blip>
            <a:stretch>
              <a:fillRect/>
            </a:stretch>
          </p:blipFill>
          <p:spPr>
            <a:xfrm>
              <a:off x="4889324" y="2189371"/>
              <a:ext cx="300899" cy="228942"/>
            </a:xfrm>
            <a:prstGeom prst="rect">
              <a:avLst/>
            </a:prstGeom>
            <a:noFill/>
            <a:ln>
              <a:noFill/>
            </a:ln>
          </p:spPr>
        </p:pic>
        <p:pic>
          <p:nvPicPr>
            <p:cNvPr descr="&lt;math xmlns=&quot;http://www.w3.org/1998/Math/MathML&quot; display=&quot;block&quot; data-is-equatio=&quot;1&quot; data-latex=&quot;10^4&quot;&gt;&lt;msup&gt;&lt;mn&gt;10&lt;/mn&gt;&lt;mn&gt;4&lt;/mn&gt;&lt;/msup&gt;&lt;/math&gt;" id="998" name="Google Shape;998;p79" title="10 to the fourth power"/>
            <p:cNvPicPr preferRelativeResize="0"/>
            <p:nvPr/>
          </p:nvPicPr>
          <p:blipFill>
            <a:blip r:embed="rId6">
              <a:alphaModFix/>
            </a:blip>
            <a:stretch>
              <a:fillRect/>
            </a:stretch>
          </p:blipFill>
          <p:spPr>
            <a:xfrm>
              <a:off x="4378765" y="2189363"/>
              <a:ext cx="313981" cy="228942"/>
            </a:xfrm>
            <a:prstGeom prst="rect">
              <a:avLst/>
            </a:prstGeom>
            <a:noFill/>
            <a:ln>
              <a:noFill/>
            </a:ln>
          </p:spPr>
        </p:pic>
        <p:pic>
          <p:nvPicPr>
            <p:cNvPr descr="&lt;math xmlns=&quot;http://www.w3.org/1998/Math/MathML&quot; display=&quot;block&quot; data-is-equatio=&quot;1&quot; data-latex=&quot;10^5&quot;&gt;&lt;msup&gt;&lt;mn&gt;10&lt;/mn&gt;&lt;mn&gt;5&lt;/mn&gt;&lt;/msup&gt;&lt;/math&gt;" id="999" name="Google Shape;999;p79" title="10 to the fifth power"/>
            <p:cNvPicPr preferRelativeResize="0"/>
            <p:nvPr/>
          </p:nvPicPr>
          <p:blipFill>
            <a:blip r:embed="rId7">
              <a:alphaModFix/>
            </a:blip>
            <a:stretch>
              <a:fillRect/>
            </a:stretch>
          </p:blipFill>
          <p:spPr>
            <a:xfrm>
              <a:off x="3925488" y="2189372"/>
              <a:ext cx="307440" cy="228942"/>
            </a:xfrm>
            <a:prstGeom prst="rect">
              <a:avLst/>
            </a:prstGeom>
            <a:noFill/>
            <a:ln>
              <a:noFill/>
            </a:ln>
          </p:spPr>
        </p:pic>
        <p:pic>
          <p:nvPicPr>
            <p:cNvPr descr="&lt;math xmlns=&quot;http://www.w3.org/1998/Math/MathML&quot; display=&quot;block&quot; data-is-equatio=&quot;1&quot; data-latex=&quot;\frac{1}{10^2}&quot;&gt;&lt;mfrac&gt;&lt;mn&gt;1&lt;/mn&gt;&lt;msup&gt;&lt;mn&gt;10&lt;/mn&gt;&lt;mn&gt;2&lt;/mn&gt;&lt;/msup&gt;&lt;/mfrac&gt;&lt;/math&gt;" id="1000" name="Google Shape;1000;p79" title="the fraction with numerator 1 and denominator 10 squared"/>
            <p:cNvPicPr preferRelativeResize="0"/>
            <p:nvPr/>
          </p:nvPicPr>
          <p:blipFill>
            <a:blip r:embed="rId8">
              <a:alphaModFix/>
            </a:blip>
            <a:stretch>
              <a:fillRect/>
            </a:stretch>
          </p:blipFill>
          <p:spPr>
            <a:xfrm>
              <a:off x="7263899" y="2156141"/>
              <a:ext cx="263983" cy="382583"/>
            </a:xfrm>
            <a:prstGeom prst="rect">
              <a:avLst/>
            </a:prstGeom>
            <a:noFill/>
            <a:ln>
              <a:noFill/>
            </a:ln>
          </p:spPr>
        </p:pic>
        <p:pic>
          <p:nvPicPr>
            <p:cNvPr descr="&lt;math xmlns=&quot;http://www.w3.org/1998/Math/MathML&quot; display=&quot;block&quot; data-is-equatio=&quot;1&quot; data-latex=&quot;\frac{1}{10^3}&quot;&gt;&lt;mfrac&gt;&lt;mn&gt;1&lt;/mn&gt;&lt;msup&gt;&lt;mn&gt;10&lt;/mn&gt;&lt;mn&gt;3&lt;/mn&gt;&lt;/msup&gt;&lt;/mfrac&gt;&lt;/math&gt;" id="1001" name="Google Shape;1001;p79" title="the fraction with numerator 1 and denominator 10 cubed"/>
            <p:cNvPicPr preferRelativeResize="0"/>
            <p:nvPr/>
          </p:nvPicPr>
          <p:blipFill>
            <a:blip r:embed="rId9">
              <a:alphaModFix/>
            </a:blip>
            <a:stretch>
              <a:fillRect/>
            </a:stretch>
          </p:blipFill>
          <p:spPr>
            <a:xfrm>
              <a:off x="7772333" y="2153303"/>
              <a:ext cx="263983" cy="382583"/>
            </a:xfrm>
            <a:prstGeom prst="rect">
              <a:avLst/>
            </a:prstGeom>
            <a:noFill/>
            <a:ln>
              <a:noFill/>
            </a:ln>
          </p:spPr>
        </p:pic>
        <p:pic>
          <p:nvPicPr>
            <p:cNvPr descr="&lt;math xmlns=&quot;http://www.w3.org/1998/Math/MathML&quot; display=&quot;block&quot; data-is-equatio=&quot;1&quot; data-latex=&quot;\frac{1}{10^4}&quot;&gt;&lt;mfrac&gt;&lt;mn&gt;1&lt;/mn&gt;&lt;msup&gt;&lt;mn&gt;10&lt;/mn&gt;&lt;mn&gt;4&lt;/mn&gt;&lt;/msup&gt;&lt;/mfrac&gt;&lt;/math&gt;" id="1002" name="Google Shape;1002;p79" title="the fraction with numerator 1 and denominator 10 to the fourth power"/>
            <p:cNvPicPr preferRelativeResize="0"/>
            <p:nvPr/>
          </p:nvPicPr>
          <p:blipFill>
            <a:blip r:embed="rId10">
              <a:alphaModFix/>
            </a:blip>
            <a:stretch>
              <a:fillRect/>
            </a:stretch>
          </p:blipFill>
          <p:spPr>
            <a:xfrm>
              <a:off x="8199808" y="2152373"/>
              <a:ext cx="263983" cy="378757"/>
            </a:xfrm>
            <a:prstGeom prst="rect">
              <a:avLst/>
            </a:prstGeom>
            <a:noFill/>
            <a:ln>
              <a:noFill/>
            </a:ln>
          </p:spPr>
        </p:pic>
        <p:pic>
          <p:nvPicPr>
            <p:cNvPr descr="&lt;math xmlns=&quot;http://www.w3.org/1998/Math/MathML&quot; display=&quot;block&quot; data-is-equatio=&quot;1&quot; data-latex=&quot;\frac{1}{10}&quot;&gt;&lt;mfrac&gt;&lt;mn&gt;1&lt;/mn&gt;&lt;mn&gt;10&lt;/mn&gt;&lt;/mfrac&gt;&lt;/math&gt;" id="1003" name="Google Shape;1003;p79" title="one tenth"/>
            <p:cNvPicPr preferRelativeResize="0"/>
            <p:nvPr/>
          </p:nvPicPr>
          <p:blipFill>
            <a:blip r:embed="rId11">
              <a:alphaModFix/>
            </a:blip>
            <a:stretch>
              <a:fillRect/>
            </a:stretch>
          </p:blipFill>
          <p:spPr>
            <a:xfrm>
              <a:off x="6820825" y="2150563"/>
              <a:ext cx="198622" cy="366074"/>
            </a:xfrm>
            <a:prstGeom prst="rect">
              <a:avLst/>
            </a:prstGeom>
            <a:noFill/>
            <a:ln>
              <a:noFill/>
            </a:ln>
          </p:spPr>
        </p:pic>
        <p:pic>
          <p:nvPicPr>
            <p:cNvPr descr="&lt;math xmlns=&quot;http://www.w3.org/1998/Math/MathML&quot; display=&quot;block&quot; data-is-equatio=&quot;1&quot; data-latex=&quot;10^{\ }&quot;&gt;&lt;msup&gt;&lt;mn&gt;10&lt;/mn&gt;&lt;mrow data-mjx-texclass=&quot;ORD&quot;&gt;&lt;mtext&gt;&lt;/mtext&gt;&lt;/mrow&gt;&lt;/msup&gt;&lt;/math&gt;" id="1004" name="Google Shape;1004;p79" title="10 raised to the power"/>
            <p:cNvPicPr preferRelativeResize="0"/>
            <p:nvPr/>
          </p:nvPicPr>
          <p:blipFill rotWithShape="1">
            <a:blip r:embed="rId3">
              <a:alphaModFix/>
            </a:blip>
            <a:srcRect b="0" l="0" r="55789" t="0"/>
            <a:stretch/>
          </p:blipFill>
          <p:spPr>
            <a:xfrm>
              <a:off x="6393529" y="2238366"/>
              <a:ext cx="89650" cy="163525"/>
            </a:xfrm>
            <a:prstGeom prst="rect">
              <a:avLst/>
            </a:prstGeom>
            <a:noFill/>
            <a:ln>
              <a:noFill/>
            </a:ln>
          </p:spPr>
        </p:pic>
        <p:pic>
          <p:nvPicPr>
            <p:cNvPr descr="&lt;math xmlns=&quot;http://www.w3.org/1998/Math/MathML&quot; display=&quot;block&quot; data-is-equatio=&quot;1&quot; data-latex=&quot;10^6&quot;&gt;&lt;msup&gt;&lt;mn&gt;10&lt;/mn&gt;&lt;mn&gt;6&lt;/mn&gt;&lt;/msup&gt;&lt;/math&gt;" id="1005" name="Google Shape;1005;p79" title="10 to the sixth power"/>
            <p:cNvPicPr preferRelativeResize="0"/>
            <p:nvPr/>
          </p:nvPicPr>
          <p:blipFill>
            <a:blip r:embed="rId12">
              <a:alphaModFix/>
            </a:blip>
            <a:stretch>
              <a:fillRect/>
            </a:stretch>
          </p:blipFill>
          <p:spPr>
            <a:xfrm>
              <a:off x="3427829" y="2189925"/>
              <a:ext cx="300900" cy="227820"/>
            </a:xfrm>
            <a:prstGeom prst="rect">
              <a:avLst/>
            </a:prstGeom>
            <a:noFill/>
            <a:ln>
              <a:noFill/>
            </a:ln>
          </p:spPr>
        </p:pic>
        <p:pic>
          <p:nvPicPr>
            <p:cNvPr descr="&lt;math xmlns=&quot;http://www.w3.org/1998/Math/MathML&quot; display=&quot;block&quot; data-is-equatio=&quot;1&quot; data-latex=&quot;10^7&quot;&gt;&lt;msup&gt;&lt;mn&gt;10&lt;/mn&gt;&lt;mn&gt;7&lt;/mn&gt;&lt;/msup&gt;&lt;/math&gt;" id="1006" name="Google Shape;1006;p79" title="10 to the seventh power"/>
            <p:cNvPicPr preferRelativeResize="0"/>
            <p:nvPr/>
          </p:nvPicPr>
          <p:blipFill>
            <a:blip r:embed="rId13">
              <a:alphaModFix/>
            </a:blip>
            <a:stretch>
              <a:fillRect/>
            </a:stretch>
          </p:blipFill>
          <p:spPr>
            <a:xfrm>
              <a:off x="2968200" y="2207531"/>
              <a:ext cx="300900" cy="224621"/>
            </a:xfrm>
            <a:prstGeom prst="rect">
              <a:avLst/>
            </a:prstGeom>
            <a:noFill/>
            <a:ln>
              <a:noFill/>
            </a:ln>
          </p:spPr>
        </p:pic>
        <p:pic>
          <p:nvPicPr>
            <p:cNvPr descr="&lt;math xmlns=&quot;http://www.w3.org/1998/Math/MathML&quot; display=&quot;block&quot; data-is-equatio=&quot;1&quot; data-latex=&quot;10^8&quot;&gt;&lt;msup&gt;&lt;mn&gt;10&lt;/mn&gt;&lt;mn&gt;8&lt;/mn&gt;&lt;/msup&gt;&lt;/math&gt;" id="1007" name="Google Shape;1007;p79" title="10 to the eighth power"/>
            <p:cNvPicPr preferRelativeResize="0"/>
            <p:nvPr/>
          </p:nvPicPr>
          <p:blipFill>
            <a:blip r:embed="rId14">
              <a:alphaModFix/>
            </a:blip>
            <a:stretch>
              <a:fillRect/>
            </a:stretch>
          </p:blipFill>
          <p:spPr>
            <a:xfrm>
              <a:off x="2484575" y="2203850"/>
              <a:ext cx="264000" cy="199908"/>
            </a:xfrm>
            <a:prstGeom prst="rect">
              <a:avLst/>
            </a:prstGeom>
            <a:noFill/>
            <a:ln>
              <a:noFill/>
            </a:ln>
          </p:spPr>
        </p:pic>
        <p:sp>
          <p:nvSpPr>
            <p:cNvPr id="1008" name="Google Shape;1008;p79"/>
            <p:cNvSpPr txBox="1"/>
            <p:nvPr/>
          </p:nvSpPr>
          <p:spPr>
            <a:xfrm>
              <a:off x="6897025"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1009" name="Google Shape;1009;p79"/>
            <p:cNvSpPr txBox="1"/>
            <p:nvPr/>
          </p:nvSpPr>
          <p:spPr>
            <a:xfrm>
              <a:off x="7380796"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1010" name="Google Shape;1010;p79"/>
            <p:cNvSpPr txBox="1"/>
            <p:nvPr/>
          </p:nvSpPr>
          <p:spPr>
            <a:xfrm>
              <a:off x="7868655"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1011" name="Google Shape;1011;p79"/>
            <p:cNvSpPr txBox="1"/>
            <p:nvPr/>
          </p:nvSpPr>
          <p:spPr>
            <a:xfrm>
              <a:off x="8380959"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grpSp>
      <p:sp>
        <p:nvSpPr>
          <p:cNvPr id="1012" name="Google Shape;1012;p79"/>
          <p:cNvSpPr txBox="1"/>
          <p:nvPr/>
        </p:nvSpPr>
        <p:spPr>
          <a:xfrm>
            <a:off x="5710116" y="1390849"/>
            <a:ext cx="99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solidFill>
                <a:srgbClr val="000000"/>
              </a:solidFill>
              <a:latin typeface="Lexend"/>
              <a:ea typeface="Lexend"/>
              <a:cs typeface="Lexend"/>
              <a:sym typeface="Lexend"/>
            </a:endParaRPr>
          </a:p>
        </p:txBody>
      </p:sp>
      <p:sp>
        <p:nvSpPr>
          <p:cNvPr id="1013" name="Google Shape;1013;p79"/>
          <p:cNvSpPr txBox="1"/>
          <p:nvPr/>
        </p:nvSpPr>
        <p:spPr>
          <a:xfrm>
            <a:off x="5710116" y="1885000"/>
            <a:ext cx="99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solidFill>
                <a:srgbClr val="000000"/>
              </a:solidFill>
              <a:latin typeface="Lexend"/>
              <a:ea typeface="Lexend"/>
              <a:cs typeface="Lexend"/>
              <a:sym typeface="Lexend"/>
            </a:endParaRPr>
          </a:p>
        </p:txBody>
      </p:sp>
      <p:sp>
        <p:nvSpPr>
          <p:cNvPr id="1014" name="Google Shape;1014;p79"/>
          <p:cNvSpPr/>
          <p:nvPr/>
        </p:nvSpPr>
        <p:spPr>
          <a:xfrm>
            <a:off x="3970444" y="2473875"/>
            <a:ext cx="221700" cy="338700"/>
          </a:xfrm>
          <a:prstGeom prst="upArrow">
            <a:avLst>
              <a:gd fmla="val 50000" name="adj1"/>
              <a:gd fmla="val 50000" name="adj2"/>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5" name="Google Shape;1015;p79"/>
          <p:cNvSpPr txBox="1"/>
          <p:nvPr/>
        </p:nvSpPr>
        <p:spPr>
          <a:xfrm>
            <a:off x="324000" y="2882375"/>
            <a:ext cx="73914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Lexend"/>
                <a:ea typeface="Lexend"/>
                <a:cs typeface="Lexend"/>
                <a:sym typeface="Lexend"/>
              </a:rPr>
              <a:t>The first </a:t>
            </a:r>
            <a:r>
              <a:rPr b="1" lang="en-GB" sz="2000">
                <a:latin typeface="Lexend"/>
                <a:ea typeface="Lexend"/>
                <a:cs typeface="Lexend"/>
                <a:sym typeface="Lexend"/>
              </a:rPr>
              <a:t>significant figure</a:t>
            </a:r>
            <a:r>
              <a:rPr lang="en-GB" sz="2000">
                <a:latin typeface="Lexend"/>
                <a:ea typeface="Lexend"/>
                <a:cs typeface="Lexend"/>
                <a:sym typeface="Lexend"/>
              </a:rPr>
              <a:t> is in the </a:t>
            </a:r>
            <a:r>
              <a:rPr lang="en-GB" sz="2000">
                <a:solidFill>
                  <a:schemeClr val="accent5"/>
                </a:solidFill>
                <a:latin typeface="Lexend"/>
                <a:ea typeface="Lexend"/>
                <a:cs typeface="Lexend"/>
                <a:sym typeface="Lexend"/>
              </a:rPr>
              <a:t>thousands</a:t>
            </a:r>
            <a:r>
              <a:rPr lang="en-GB" sz="2000">
                <a:latin typeface="Lexend"/>
                <a:ea typeface="Lexend"/>
                <a:cs typeface="Lexend"/>
                <a:sym typeface="Lexend"/>
              </a:rPr>
              <a:t> column.</a:t>
            </a:r>
            <a:endParaRPr sz="2000">
              <a:latin typeface="Lexend"/>
              <a:ea typeface="Lexend"/>
              <a:cs typeface="Lexend"/>
              <a:sym typeface="Lexend"/>
            </a:endParaRPr>
          </a:p>
          <a:p>
            <a:pPr indent="0" lvl="0" marL="0" rtl="0" algn="l">
              <a:spcBef>
                <a:spcPts val="0"/>
              </a:spcBef>
              <a:spcAft>
                <a:spcPts val="0"/>
              </a:spcAft>
              <a:buNone/>
            </a:pPr>
            <a:r>
              <a:rPr lang="en-GB" sz="2000">
                <a:latin typeface="Lexend"/>
                <a:ea typeface="Lexend"/>
                <a:cs typeface="Lexend"/>
                <a:sym typeface="Lexend"/>
              </a:rPr>
              <a:t>Therefore, we round to the nearest </a:t>
            </a:r>
            <a:r>
              <a:rPr lang="en-GB" sz="2000">
                <a:solidFill>
                  <a:schemeClr val="accent5"/>
                </a:solidFill>
                <a:latin typeface="Lexend"/>
                <a:ea typeface="Lexend"/>
                <a:cs typeface="Lexend"/>
                <a:sym typeface="Lexend"/>
              </a:rPr>
              <a:t>1000</a:t>
            </a:r>
            <a:r>
              <a:rPr lang="en-GB" sz="2000">
                <a:solidFill>
                  <a:schemeClr val="dk1"/>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016" name="Google Shape;1016;p79"/>
          <p:cNvSpPr/>
          <p:nvPr/>
        </p:nvSpPr>
        <p:spPr>
          <a:xfrm rot="10800000">
            <a:off x="6256800" y="3771813"/>
            <a:ext cx="221700" cy="338700"/>
          </a:xfrm>
          <a:prstGeom prst="upArrow">
            <a:avLst>
              <a:gd fmla="val 50000" name="adj1"/>
              <a:gd fmla="val 50000" name="adj2"/>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7" name="Google Shape;1017;p79"/>
          <p:cNvSpPr txBox="1"/>
          <p:nvPr/>
        </p:nvSpPr>
        <p:spPr>
          <a:xfrm>
            <a:off x="6037725" y="3472550"/>
            <a:ext cx="726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2795</a:t>
            </a:r>
            <a:endParaRPr sz="2200">
              <a:solidFill>
                <a:srgbClr val="000000"/>
              </a:solidFill>
              <a:latin typeface="Lexend"/>
              <a:ea typeface="Lexend"/>
              <a:cs typeface="Lexend"/>
              <a:sym typeface="Lexend"/>
            </a:endParaRPr>
          </a:p>
        </p:txBody>
      </p:sp>
      <p:sp>
        <p:nvSpPr>
          <p:cNvPr id="1018" name="Google Shape;1018;p79"/>
          <p:cNvSpPr txBox="1"/>
          <p:nvPr/>
        </p:nvSpPr>
        <p:spPr>
          <a:xfrm>
            <a:off x="324000" y="4482575"/>
            <a:ext cx="5932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2795</a:t>
            </a:r>
            <a:r>
              <a:rPr lang="en-GB" sz="2200">
                <a:latin typeface="Kalam"/>
                <a:ea typeface="Kalam"/>
                <a:cs typeface="Kalam"/>
                <a:sym typeface="Kalam"/>
              </a:rPr>
              <a:t> rounded to one </a:t>
            </a:r>
            <a:r>
              <a:rPr b="1" lang="en-GB" sz="2200">
                <a:latin typeface="Kalam"/>
                <a:ea typeface="Kalam"/>
                <a:cs typeface="Kalam"/>
                <a:sym typeface="Kalam"/>
              </a:rPr>
              <a:t>significant figure</a:t>
            </a:r>
            <a:r>
              <a:rPr lang="en-GB" sz="2200">
                <a:latin typeface="Kalam"/>
                <a:ea typeface="Kalam"/>
                <a:cs typeface="Kalam"/>
                <a:sym typeface="Kalam"/>
              </a:rPr>
              <a:t> is 3000</a:t>
            </a:r>
            <a:endParaRPr sz="2200">
              <a:solidFill>
                <a:srgbClr val="000000"/>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number line for significant figures</a:t>
            </a:r>
            <a:endParaRPr/>
          </a:p>
        </p:txBody>
      </p:sp>
      <p:sp>
        <p:nvSpPr>
          <p:cNvPr id="1024" name="Google Shape;1024;p80"/>
          <p:cNvSpPr txBox="1"/>
          <p:nvPr>
            <p:ph idx="1" type="body"/>
          </p:nvPr>
        </p:nvSpPr>
        <p:spPr>
          <a:xfrm>
            <a:off x="324000" y="6069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What is 772 162 to one </a:t>
            </a:r>
            <a:r>
              <a:rPr b="1" lang="en-GB" sz="2000"/>
              <a:t>significant figure</a:t>
            </a:r>
            <a:r>
              <a:rPr lang="en-GB" sz="2000"/>
              <a:t>?</a:t>
            </a:r>
            <a:endParaRPr sz="2000"/>
          </a:p>
        </p:txBody>
      </p:sp>
      <p:graphicFrame>
        <p:nvGraphicFramePr>
          <p:cNvPr id="1025" name="Google Shape;1025;p80"/>
          <p:cNvGraphicFramePr/>
          <p:nvPr/>
        </p:nvGraphicFramePr>
        <p:xfrm>
          <a:off x="2159000" y="4182150"/>
          <a:ext cx="3000000" cy="3000000"/>
        </p:xfrm>
        <a:graphic>
          <a:graphicData uri="http://schemas.openxmlformats.org/drawingml/2006/table">
            <a:tbl>
              <a:tblPr>
                <a:noFill/>
                <a:tableStyleId>{A1769C70-3405-48C6-B967-3B8FA869652B}</a:tableStyleId>
              </a:tblPr>
              <a:tblGrid>
                <a:gridCol w="2413000"/>
                <a:gridCol w="2413000"/>
              </a:tblGrid>
              <a:tr h="190500">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1026" name="Google Shape;1026;p80"/>
          <p:cNvSpPr txBox="1"/>
          <p:nvPr/>
        </p:nvSpPr>
        <p:spPr>
          <a:xfrm>
            <a:off x="1599577" y="3801825"/>
            <a:ext cx="1127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700 000</a:t>
            </a:r>
            <a:endParaRPr sz="2200">
              <a:solidFill>
                <a:srgbClr val="000000"/>
              </a:solidFill>
              <a:latin typeface="Lexend"/>
              <a:ea typeface="Lexend"/>
              <a:cs typeface="Lexend"/>
              <a:sym typeface="Lexend"/>
            </a:endParaRPr>
          </a:p>
        </p:txBody>
      </p:sp>
      <p:sp>
        <p:nvSpPr>
          <p:cNvPr id="1027" name="Google Shape;1027;p80"/>
          <p:cNvSpPr txBox="1"/>
          <p:nvPr/>
        </p:nvSpPr>
        <p:spPr>
          <a:xfrm>
            <a:off x="6275038" y="3801825"/>
            <a:ext cx="1428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800 0</a:t>
            </a:r>
            <a:r>
              <a:rPr lang="en-GB" sz="2200">
                <a:latin typeface="Lexend"/>
                <a:ea typeface="Lexend"/>
                <a:cs typeface="Lexend"/>
                <a:sym typeface="Lexend"/>
              </a:rPr>
              <a:t>0</a:t>
            </a:r>
            <a:r>
              <a:rPr lang="en-GB" sz="2200">
                <a:solidFill>
                  <a:srgbClr val="000000"/>
                </a:solidFill>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1028" name="Google Shape;1028;p80"/>
          <p:cNvSpPr txBox="1"/>
          <p:nvPr/>
        </p:nvSpPr>
        <p:spPr>
          <a:xfrm>
            <a:off x="4007595" y="3801825"/>
            <a:ext cx="1127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750 000</a:t>
            </a:r>
            <a:endParaRPr sz="2200">
              <a:solidFill>
                <a:srgbClr val="000000"/>
              </a:solidFill>
              <a:latin typeface="Lexend"/>
              <a:ea typeface="Lexend"/>
              <a:cs typeface="Lexend"/>
              <a:sym typeface="Lexend"/>
            </a:endParaRPr>
          </a:p>
        </p:txBody>
      </p:sp>
      <p:graphicFrame>
        <p:nvGraphicFramePr>
          <p:cNvPr id="1029" name="Google Shape;1029;p80"/>
          <p:cNvGraphicFramePr/>
          <p:nvPr/>
        </p:nvGraphicFramePr>
        <p:xfrm>
          <a:off x="1465001" y="969550"/>
          <a:ext cx="3000000" cy="3000000"/>
        </p:xfrm>
        <a:graphic>
          <a:graphicData uri="http://schemas.openxmlformats.org/drawingml/2006/table">
            <a:tbl>
              <a:tblPr>
                <a:noFill/>
                <a:tableStyleId>{A1769C70-3405-48C6-B967-3B8FA869652B}</a:tableStyleId>
              </a:tblPr>
              <a:tblGrid>
                <a:gridCol w="475250"/>
                <a:gridCol w="475250"/>
                <a:gridCol w="475250"/>
                <a:gridCol w="475250"/>
                <a:gridCol w="475250"/>
                <a:gridCol w="475250"/>
                <a:gridCol w="475250"/>
                <a:gridCol w="475250"/>
                <a:gridCol w="475250"/>
                <a:gridCol w="475250"/>
                <a:gridCol w="475250"/>
                <a:gridCol w="475250"/>
                <a:gridCol w="475250"/>
              </a:tblGrid>
              <a:tr h="458200">
                <a:tc>
                  <a:txBody>
                    <a:bodyPr/>
                    <a:lstStyle/>
                    <a:p>
                      <a:pPr indent="0" lvl="0" marL="0" rtl="0" algn="ctr">
                        <a:spcBef>
                          <a:spcPts val="0"/>
                        </a:spcBef>
                        <a:spcAft>
                          <a:spcPts val="0"/>
                        </a:spcAft>
                        <a:buNone/>
                      </a:pPr>
                      <a:r>
                        <a:rPr lang="en-GB" sz="1300">
                          <a:latin typeface="Lexend"/>
                          <a:ea typeface="Lexend"/>
                          <a:cs typeface="Lexend"/>
                          <a:sym typeface="Lexend"/>
                        </a:rPr>
                        <a:t>HMn</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TMn</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Mn</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solidFill>
                            <a:srgbClr val="000000"/>
                          </a:solidFill>
                          <a:latin typeface="Lexend"/>
                          <a:ea typeface="Lexend"/>
                          <a:cs typeface="Lexend"/>
                          <a:sym typeface="Lexend"/>
                        </a:rPr>
                        <a:t>T</a:t>
                      </a:r>
                      <a:endParaRPr>
                        <a:solidFill>
                          <a:srgbClr val="000000"/>
                        </a:solidFill>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O</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8200">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rgbClr val="000000"/>
                        </a:solidFill>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82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7</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7</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6</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pSp>
        <p:nvGrpSpPr>
          <p:cNvPr id="1030" name="Google Shape;1030;p80"/>
          <p:cNvGrpSpPr/>
          <p:nvPr/>
        </p:nvGrpSpPr>
        <p:grpSpPr>
          <a:xfrm>
            <a:off x="1539376" y="969550"/>
            <a:ext cx="6284584" cy="883373"/>
            <a:chOff x="2484575" y="1655350"/>
            <a:chExt cx="6284584" cy="883373"/>
          </a:xfrm>
        </p:grpSpPr>
        <p:pic>
          <p:nvPicPr>
            <p:cNvPr descr="&lt;math xmlns=&quot;http://www.w3.org/1998/Math/MathML&quot; display=&quot;block&quot; data-is-equatio=&quot;1&quot; data-latex=&quot;10^{\ }&quot;&gt;&lt;msup&gt;&lt;mn&gt;10&lt;/mn&gt;&lt;mrow data-mjx-texclass=&quot;ORD&quot;&gt;&lt;mtext&gt;&lt;/mtext&gt;&lt;/mrow&gt;&lt;/msup&gt;&lt;/math&gt;" id="1031" name="Google Shape;1031;p80" title="10 raised to the power"/>
            <p:cNvPicPr preferRelativeResize="0"/>
            <p:nvPr/>
          </p:nvPicPr>
          <p:blipFill>
            <a:blip r:embed="rId3">
              <a:alphaModFix/>
            </a:blip>
            <a:stretch>
              <a:fillRect/>
            </a:stretch>
          </p:blipFill>
          <p:spPr>
            <a:xfrm>
              <a:off x="5890349" y="2262830"/>
              <a:ext cx="206250" cy="166327"/>
            </a:xfrm>
            <a:prstGeom prst="rect">
              <a:avLst/>
            </a:prstGeom>
            <a:noFill/>
            <a:ln>
              <a:noFill/>
            </a:ln>
          </p:spPr>
        </p:pic>
        <p:pic>
          <p:nvPicPr>
            <p:cNvPr descr="&lt;math xmlns=&quot;http://www.w3.org/1998/Math/MathML&quot; display=&quot;block&quot; data-is-equatio=&quot;1&quot; data-latex=&quot;10^2&quot;&gt;&lt;msup&gt;&lt;mn&gt;10&lt;/mn&gt;&lt;mn&gt;2&lt;/mn&gt;&lt;/msup&gt;&lt;/math&gt;" id="1032" name="Google Shape;1032;p80" title="10 squared"/>
            <p:cNvPicPr preferRelativeResize="0"/>
            <p:nvPr/>
          </p:nvPicPr>
          <p:blipFill>
            <a:blip r:embed="rId4">
              <a:alphaModFix/>
            </a:blip>
            <a:stretch>
              <a:fillRect/>
            </a:stretch>
          </p:blipFill>
          <p:spPr>
            <a:xfrm>
              <a:off x="5342799" y="2189371"/>
              <a:ext cx="313981" cy="228942"/>
            </a:xfrm>
            <a:prstGeom prst="rect">
              <a:avLst/>
            </a:prstGeom>
            <a:noFill/>
            <a:ln>
              <a:noFill/>
            </a:ln>
          </p:spPr>
        </p:pic>
        <p:pic>
          <p:nvPicPr>
            <p:cNvPr descr="&lt;math xmlns=&quot;http://www.w3.org/1998/Math/MathML&quot; display=&quot;block&quot; data-is-equatio=&quot;1&quot; data-latex=&quot;10^3&quot;&gt;&lt;msup&gt;&lt;mn&gt;10&lt;/mn&gt;&lt;mn&gt;3&lt;/mn&gt;&lt;/msup&gt;&lt;/math&gt;" id="1033" name="Google Shape;1033;p80" title="10 cubed"/>
            <p:cNvPicPr preferRelativeResize="0"/>
            <p:nvPr/>
          </p:nvPicPr>
          <p:blipFill>
            <a:blip r:embed="rId5">
              <a:alphaModFix/>
            </a:blip>
            <a:stretch>
              <a:fillRect/>
            </a:stretch>
          </p:blipFill>
          <p:spPr>
            <a:xfrm>
              <a:off x="4889324" y="2189371"/>
              <a:ext cx="300899" cy="228942"/>
            </a:xfrm>
            <a:prstGeom prst="rect">
              <a:avLst/>
            </a:prstGeom>
            <a:noFill/>
            <a:ln>
              <a:noFill/>
            </a:ln>
          </p:spPr>
        </p:pic>
        <p:pic>
          <p:nvPicPr>
            <p:cNvPr descr="&lt;math xmlns=&quot;http://www.w3.org/1998/Math/MathML&quot; display=&quot;block&quot; data-is-equatio=&quot;1&quot; data-latex=&quot;10^4&quot;&gt;&lt;msup&gt;&lt;mn&gt;10&lt;/mn&gt;&lt;mn&gt;4&lt;/mn&gt;&lt;/msup&gt;&lt;/math&gt;" id="1034" name="Google Shape;1034;p80" title="10 to the fourth power"/>
            <p:cNvPicPr preferRelativeResize="0"/>
            <p:nvPr/>
          </p:nvPicPr>
          <p:blipFill>
            <a:blip r:embed="rId6">
              <a:alphaModFix/>
            </a:blip>
            <a:stretch>
              <a:fillRect/>
            </a:stretch>
          </p:blipFill>
          <p:spPr>
            <a:xfrm>
              <a:off x="4378765" y="2189363"/>
              <a:ext cx="313981" cy="228942"/>
            </a:xfrm>
            <a:prstGeom prst="rect">
              <a:avLst/>
            </a:prstGeom>
            <a:noFill/>
            <a:ln>
              <a:noFill/>
            </a:ln>
          </p:spPr>
        </p:pic>
        <p:pic>
          <p:nvPicPr>
            <p:cNvPr descr="&lt;math xmlns=&quot;http://www.w3.org/1998/Math/MathML&quot; display=&quot;block&quot; data-is-equatio=&quot;1&quot; data-latex=&quot;10^5&quot;&gt;&lt;msup&gt;&lt;mn&gt;10&lt;/mn&gt;&lt;mn&gt;5&lt;/mn&gt;&lt;/msup&gt;&lt;/math&gt;" id="1035" name="Google Shape;1035;p80" title="10 to the fifth power"/>
            <p:cNvPicPr preferRelativeResize="0"/>
            <p:nvPr/>
          </p:nvPicPr>
          <p:blipFill>
            <a:blip r:embed="rId7">
              <a:alphaModFix/>
            </a:blip>
            <a:stretch>
              <a:fillRect/>
            </a:stretch>
          </p:blipFill>
          <p:spPr>
            <a:xfrm>
              <a:off x="3925488" y="2189372"/>
              <a:ext cx="307440" cy="228942"/>
            </a:xfrm>
            <a:prstGeom prst="rect">
              <a:avLst/>
            </a:prstGeom>
            <a:noFill/>
            <a:ln>
              <a:noFill/>
            </a:ln>
          </p:spPr>
        </p:pic>
        <p:pic>
          <p:nvPicPr>
            <p:cNvPr descr="&lt;math xmlns=&quot;http://www.w3.org/1998/Math/MathML&quot; display=&quot;block&quot; data-is-equatio=&quot;1&quot; data-latex=&quot;\frac{1}{10^2}&quot;&gt;&lt;mfrac&gt;&lt;mn&gt;1&lt;/mn&gt;&lt;msup&gt;&lt;mn&gt;10&lt;/mn&gt;&lt;mn&gt;2&lt;/mn&gt;&lt;/msup&gt;&lt;/mfrac&gt;&lt;/math&gt;" id="1036" name="Google Shape;1036;p80" title="the fraction with numerator 1 and denominator 10 squared"/>
            <p:cNvPicPr preferRelativeResize="0"/>
            <p:nvPr/>
          </p:nvPicPr>
          <p:blipFill>
            <a:blip r:embed="rId8">
              <a:alphaModFix/>
            </a:blip>
            <a:stretch>
              <a:fillRect/>
            </a:stretch>
          </p:blipFill>
          <p:spPr>
            <a:xfrm>
              <a:off x="7263899" y="2156141"/>
              <a:ext cx="263983" cy="382583"/>
            </a:xfrm>
            <a:prstGeom prst="rect">
              <a:avLst/>
            </a:prstGeom>
            <a:noFill/>
            <a:ln>
              <a:noFill/>
            </a:ln>
          </p:spPr>
        </p:pic>
        <p:pic>
          <p:nvPicPr>
            <p:cNvPr descr="&lt;math xmlns=&quot;http://www.w3.org/1998/Math/MathML&quot; display=&quot;block&quot; data-is-equatio=&quot;1&quot; data-latex=&quot;\frac{1}{10^3}&quot;&gt;&lt;mfrac&gt;&lt;mn&gt;1&lt;/mn&gt;&lt;msup&gt;&lt;mn&gt;10&lt;/mn&gt;&lt;mn&gt;3&lt;/mn&gt;&lt;/msup&gt;&lt;/mfrac&gt;&lt;/math&gt;" id="1037" name="Google Shape;1037;p80" title="the fraction with numerator 1 and denominator 10 cubed"/>
            <p:cNvPicPr preferRelativeResize="0"/>
            <p:nvPr/>
          </p:nvPicPr>
          <p:blipFill>
            <a:blip r:embed="rId9">
              <a:alphaModFix/>
            </a:blip>
            <a:stretch>
              <a:fillRect/>
            </a:stretch>
          </p:blipFill>
          <p:spPr>
            <a:xfrm>
              <a:off x="7772333" y="2153303"/>
              <a:ext cx="263983" cy="382583"/>
            </a:xfrm>
            <a:prstGeom prst="rect">
              <a:avLst/>
            </a:prstGeom>
            <a:noFill/>
            <a:ln>
              <a:noFill/>
            </a:ln>
          </p:spPr>
        </p:pic>
        <p:pic>
          <p:nvPicPr>
            <p:cNvPr descr="&lt;math xmlns=&quot;http://www.w3.org/1998/Math/MathML&quot; display=&quot;block&quot; data-is-equatio=&quot;1&quot; data-latex=&quot;\frac{1}{10^4}&quot;&gt;&lt;mfrac&gt;&lt;mn&gt;1&lt;/mn&gt;&lt;msup&gt;&lt;mn&gt;10&lt;/mn&gt;&lt;mn&gt;4&lt;/mn&gt;&lt;/msup&gt;&lt;/mfrac&gt;&lt;/math&gt;" id="1038" name="Google Shape;1038;p80" title="the fraction with numerator 1 and denominator 10 to the fourth power"/>
            <p:cNvPicPr preferRelativeResize="0"/>
            <p:nvPr/>
          </p:nvPicPr>
          <p:blipFill>
            <a:blip r:embed="rId10">
              <a:alphaModFix/>
            </a:blip>
            <a:stretch>
              <a:fillRect/>
            </a:stretch>
          </p:blipFill>
          <p:spPr>
            <a:xfrm>
              <a:off x="8199808" y="2152373"/>
              <a:ext cx="263983" cy="378757"/>
            </a:xfrm>
            <a:prstGeom prst="rect">
              <a:avLst/>
            </a:prstGeom>
            <a:noFill/>
            <a:ln>
              <a:noFill/>
            </a:ln>
          </p:spPr>
        </p:pic>
        <p:pic>
          <p:nvPicPr>
            <p:cNvPr descr="&lt;math xmlns=&quot;http://www.w3.org/1998/Math/MathML&quot; display=&quot;block&quot; data-is-equatio=&quot;1&quot; data-latex=&quot;\frac{1}{10}&quot;&gt;&lt;mfrac&gt;&lt;mn&gt;1&lt;/mn&gt;&lt;mn&gt;10&lt;/mn&gt;&lt;/mfrac&gt;&lt;/math&gt;" id="1039" name="Google Shape;1039;p80" title="one tenth"/>
            <p:cNvPicPr preferRelativeResize="0"/>
            <p:nvPr/>
          </p:nvPicPr>
          <p:blipFill>
            <a:blip r:embed="rId11">
              <a:alphaModFix/>
            </a:blip>
            <a:stretch>
              <a:fillRect/>
            </a:stretch>
          </p:blipFill>
          <p:spPr>
            <a:xfrm>
              <a:off x="6820825" y="2150563"/>
              <a:ext cx="198622" cy="366074"/>
            </a:xfrm>
            <a:prstGeom prst="rect">
              <a:avLst/>
            </a:prstGeom>
            <a:noFill/>
            <a:ln>
              <a:noFill/>
            </a:ln>
          </p:spPr>
        </p:pic>
        <p:pic>
          <p:nvPicPr>
            <p:cNvPr descr="&lt;math xmlns=&quot;http://www.w3.org/1998/Math/MathML&quot; display=&quot;block&quot; data-is-equatio=&quot;1&quot; data-latex=&quot;10^{\ }&quot;&gt;&lt;msup&gt;&lt;mn&gt;10&lt;/mn&gt;&lt;mrow data-mjx-texclass=&quot;ORD&quot;&gt;&lt;mtext&gt;&lt;/mtext&gt;&lt;/mrow&gt;&lt;/msup&gt;&lt;/math&gt;" id="1040" name="Google Shape;1040;p80" title="10 raised to the power"/>
            <p:cNvPicPr preferRelativeResize="0"/>
            <p:nvPr/>
          </p:nvPicPr>
          <p:blipFill rotWithShape="1">
            <a:blip r:embed="rId3">
              <a:alphaModFix/>
            </a:blip>
            <a:srcRect b="0" l="0" r="55789" t="0"/>
            <a:stretch/>
          </p:blipFill>
          <p:spPr>
            <a:xfrm>
              <a:off x="6393529" y="2238366"/>
              <a:ext cx="89650" cy="163525"/>
            </a:xfrm>
            <a:prstGeom prst="rect">
              <a:avLst/>
            </a:prstGeom>
            <a:noFill/>
            <a:ln>
              <a:noFill/>
            </a:ln>
          </p:spPr>
        </p:pic>
        <p:pic>
          <p:nvPicPr>
            <p:cNvPr descr="&lt;math xmlns=&quot;http://www.w3.org/1998/Math/MathML&quot; display=&quot;block&quot; data-is-equatio=&quot;1&quot; data-latex=&quot;10^6&quot;&gt;&lt;msup&gt;&lt;mn&gt;10&lt;/mn&gt;&lt;mn&gt;6&lt;/mn&gt;&lt;/msup&gt;&lt;/math&gt;" id="1041" name="Google Shape;1041;p80" title="10 to the sixth power"/>
            <p:cNvPicPr preferRelativeResize="0"/>
            <p:nvPr/>
          </p:nvPicPr>
          <p:blipFill>
            <a:blip r:embed="rId12">
              <a:alphaModFix/>
            </a:blip>
            <a:stretch>
              <a:fillRect/>
            </a:stretch>
          </p:blipFill>
          <p:spPr>
            <a:xfrm>
              <a:off x="3427829" y="2189925"/>
              <a:ext cx="300900" cy="227820"/>
            </a:xfrm>
            <a:prstGeom prst="rect">
              <a:avLst/>
            </a:prstGeom>
            <a:noFill/>
            <a:ln>
              <a:noFill/>
            </a:ln>
          </p:spPr>
        </p:pic>
        <p:pic>
          <p:nvPicPr>
            <p:cNvPr descr="&lt;math xmlns=&quot;http://www.w3.org/1998/Math/MathML&quot; display=&quot;block&quot; data-is-equatio=&quot;1&quot; data-latex=&quot;10^7&quot;&gt;&lt;msup&gt;&lt;mn&gt;10&lt;/mn&gt;&lt;mn&gt;7&lt;/mn&gt;&lt;/msup&gt;&lt;/math&gt;" id="1042" name="Google Shape;1042;p80" title="10 to the seventh power"/>
            <p:cNvPicPr preferRelativeResize="0"/>
            <p:nvPr/>
          </p:nvPicPr>
          <p:blipFill>
            <a:blip r:embed="rId13">
              <a:alphaModFix/>
            </a:blip>
            <a:stretch>
              <a:fillRect/>
            </a:stretch>
          </p:blipFill>
          <p:spPr>
            <a:xfrm>
              <a:off x="2968200" y="2207531"/>
              <a:ext cx="300900" cy="224621"/>
            </a:xfrm>
            <a:prstGeom prst="rect">
              <a:avLst/>
            </a:prstGeom>
            <a:noFill/>
            <a:ln>
              <a:noFill/>
            </a:ln>
          </p:spPr>
        </p:pic>
        <p:pic>
          <p:nvPicPr>
            <p:cNvPr descr="&lt;math xmlns=&quot;http://www.w3.org/1998/Math/MathML&quot; display=&quot;block&quot; data-is-equatio=&quot;1&quot; data-latex=&quot;10^8&quot;&gt;&lt;msup&gt;&lt;mn&gt;10&lt;/mn&gt;&lt;mn&gt;8&lt;/mn&gt;&lt;/msup&gt;&lt;/math&gt;" id="1043" name="Google Shape;1043;p80" title="10 to the eighth power"/>
            <p:cNvPicPr preferRelativeResize="0"/>
            <p:nvPr/>
          </p:nvPicPr>
          <p:blipFill>
            <a:blip r:embed="rId14">
              <a:alphaModFix/>
            </a:blip>
            <a:stretch>
              <a:fillRect/>
            </a:stretch>
          </p:blipFill>
          <p:spPr>
            <a:xfrm>
              <a:off x="2484575" y="2203850"/>
              <a:ext cx="264000" cy="199908"/>
            </a:xfrm>
            <a:prstGeom prst="rect">
              <a:avLst/>
            </a:prstGeom>
            <a:noFill/>
            <a:ln>
              <a:noFill/>
            </a:ln>
          </p:spPr>
        </p:pic>
        <p:sp>
          <p:nvSpPr>
            <p:cNvPr id="1044" name="Google Shape;1044;p80"/>
            <p:cNvSpPr txBox="1"/>
            <p:nvPr/>
          </p:nvSpPr>
          <p:spPr>
            <a:xfrm>
              <a:off x="6897025"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1045" name="Google Shape;1045;p80"/>
            <p:cNvSpPr txBox="1"/>
            <p:nvPr/>
          </p:nvSpPr>
          <p:spPr>
            <a:xfrm>
              <a:off x="7380796"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1046" name="Google Shape;1046;p80"/>
            <p:cNvSpPr txBox="1"/>
            <p:nvPr/>
          </p:nvSpPr>
          <p:spPr>
            <a:xfrm>
              <a:off x="7868655"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1047" name="Google Shape;1047;p80"/>
            <p:cNvSpPr txBox="1"/>
            <p:nvPr/>
          </p:nvSpPr>
          <p:spPr>
            <a:xfrm>
              <a:off x="8380959"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grpSp>
      <p:sp>
        <p:nvSpPr>
          <p:cNvPr id="1048" name="Google Shape;1048;p80"/>
          <p:cNvSpPr txBox="1"/>
          <p:nvPr/>
        </p:nvSpPr>
        <p:spPr>
          <a:xfrm>
            <a:off x="5710116" y="1390849"/>
            <a:ext cx="99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solidFill>
                <a:srgbClr val="000000"/>
              </a:solidFill>
              <a:latin typeface="Lexend"/>
              <a:ea typeface="Lexend"/>
              <a:cs typeface="Lexend"/>
              <a:sym typeface="Lexend"/>
            </a:endParaRPr>
          </a:p>
        </p:txBody>
      </p:sp>
      <p:sp>
        <p:nvSpPr>
          <p:cNvPr id="1049" name="Google Shape;1049;p80"/>
          <p:cNvSpPr txBox="1"/>
          <p:nvPr/>
        </p:nvSpPr>
        <p:spPr>
          <a:xfrm>
            <a:off x="5710116" y="1885000"/>
            <a:ext cx="99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solidFill>
                <a:srgbClr val="000000"/>
              </a:solidFill>
              <a:latin typeface="Lexend"/>
              <a:ea typeface="Lexend"/>
              <a:cs typeface="Lexend"/>
              <a:sym typeface="Lexend"/>
            </a:endParaRPr>
          </a:p>
        </p:txBody>
      </p:sp>
      <p:sp>
        <p:nvSpPr>
          <p:cNvPr id="1050" name="Google Shape;1050;p80"/>
          <p:cNvSpPr/>
          <p:nvPr/>
        </p:nvSpPr>
        <p:spPr>
          <a:xfrm>
            <a:off x="3004314" y="2473875"/>
            <a:ext cx="221700" cy="338700"/>
          </a:xfrm>
          <a:prstGeom prst="upArrow">
            <a:avLst>
              <a:gd fmla="val 50000" name="adj1"/>
              <a:gd fmla="val 50000" name="adj2"/>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1" name="Google Shape;1051;p80"/>
          <p:cNvSpPr txBox="1"/>
          <p:nvPr/>
        </p:nvSpPr>
        <p:spPr>
          <a:xfrm>
            <a:off x="324000" y="2882375"/>
            <a:ext cx="86310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Lexend"/>
                <a:ea typeface="Lexend"/>
                <a:cs typeface="Lexend"/>
                <a:sym typeface="Lexend"/>
              </a:rPr>
              <a:t>The first </a:t>
            </a:r>
            <a:r>
              <a:rPr b="1" lang="en-GB" sz="2000">
                <a:latin typeface="Lexend"/>
                <a:ea typeface="Lexend"/>
                <a:cs typeface="Lexend"/>
                <a:sym typeface="Lexend"/>
              </a:rPr>
              <a:t>significant figure</a:t>
            </a:r>
            <a:r>
              <a:rPr lang="en-GB" sz="2000">
                <a:latin typeface="Lexend"/>
                <a:ea typeface="Lexend"/>
                <a:cs typeface="Lexend"/>
                <a:sym typeface="Lexend"/>
              </a:rPr>
              <a:t> is in the </a:t>
            </a:r>
            <a:r>
              <a:rPr lang="en-GB" sz="2000">
                <a:solidFill>
                  <a:schemeClr val="accent5"/>
                </a:solidFill>
                <a:latin typeface="Lexend"/>
                <a:ea typeface="Lexend"/>
                <a:cs typeface="Lexend"/>
                <a:sym typeface="Lexend"/>
              </a:rPr>
              <a:t>hundred</a:t>
            </a:r>
            <a:r>
              <a:rPr lang="en-GB" sz="2000">
                <a:latin typeface="Lexend"/>
                <a:ea typeface="Lexend"/>
                <a:cs typeface="Lexend"/>
                <a:sym typeface="Lexend"/>
              </a:rPr>
              <a:t> </a:t>
            </a:r>
            <a:r>
              <a:rPr lang="en-GB" sz="2000">
                <a:solidFill>
                  <a:schemeClr val="accent5"/>
                </a:solidFill>
                <a:latin typeface="Lexend"/>
                <a:ea typeface="Lexend"/>
                <a:cs typeface="Lexend"/>
                <a:sym typeface="Lexend"/>
              </a:rPr>
              <a:t>thousands</a:t>
            </a:r>
            <a:r>
              <a:rPr lang="en-GB" sz="2000">
                <a:latin typeface="Lexend"/>
                <a:ea typeface="Lexend"/>
                <a:cs typeface="Lexend"/>
                <a:sym typeface="Lexend"/>
              </a:rPr>
              <a:t> column.</a:t>
            </a:r>
            <a:endParaRPr sz="2000">
              <a:latin typeface="Lexend"/>
              <a:ea typeface="Lexend"/>
              <a:cs typeface="Lexend"/>
              <a:sym typeface="Lexend"/>
            </a:endParaRPr>
          </a:p>
          <a:p>
            <a:pPr indent="0" lvl="0" marL="0" rtl="0" algn="l">
              <a:spcBef>
                <a:spcPts val="0"/>
              </a:spcBef>
              <a:spcAft>
                <a:spcPts val="0"/>
              </a:spcAft>
              <a:buNone/>
            </a:pPr>
            <a:r>
              <a:rPr lang="en-GB" sz="2000">
                <a:latin typeface="Lexend"/>
                <a:ea typeface="Lexend"/>
                <a:cs typeface="Lexend"/>
                <a:sym typeface="Lexend"/>
              </a:rPr>
              <a:t>Therefore, we round to the nearest </a:t>
            </a:r>
            <a:r>
              <a:rPr lang="en-GB" sz="2000">
                <a:solidFill>
                  <a:schemeClr val="accent5"/>
                </a:solidFill>
                <a:latin typeface="Lexend"/>
                <a:ea typeface="Lexend"/>
                <a:cs typeface="Lexend"/>
                <a:sym typeface="Lexend"/>
              </a:rPr>
              <a:t>100 000</a:t>
            </a:r>
            <a:r>
              <a:rPr lang="en-GB" sz="2000">
                <a:solidFill>
                  <a:schemeClr val="dk1"/>
                </a:solidFill>
                <a:latin typeface="Lexend"/>
                <a:ea typeface="Lexend"/>
                <a:cs typeface="Lexend"/>
                <a:sym typeface="Lexend"/>
              </a:rPr>
              <a:t>.</a:t>
            </a:r>
            <a:r>
              <a:rPr lang="en-GB" sz="2000">
                <a:latin typeface="Lexend"/>
                <a:ea typeface="Lexend"/>
                <a:cs typeface="Lexend"/>
                <a:sym typeface="Lexend"/>
              </a:rPr>
              <a:t> </a:t>
            </a:r>
            <a:endParaRPr sz="2000">
              <a:solidFill>
                <a:srgbClr val="000000"/>
              </a:solidFill>
              <a:latin typeface="Lexend"/>
              <a:ea typeface="Lexend"/>
              <a:cs typeface="Lexend"/>
              <a:sym typeface="Lexend"/>
            </a:endParaRPr>
          </a:p>
        </p:txBody>
      </p:sp>
      <p:sp>
        <p:nvSpPr>
          <p:cNvPr id="1052" name="Google Shape;1052;p80"/>
          <p:cNvSpPr/>
          <p:nvPr/>
        </p:nvSpPr>
        <p:spPr>
          <a:xfrm rot="10800000">
            <a:off x="5418600" y="3771813"/>
            <a:ext cx="221700" cy="338700"/>
          </a:xfrm>
          <a:prstGeom prst="upArrow">
            <a:avLst>
              <a:gd fmla="val 50000" name="adj1"/>
              <a:gd fmla="val 50000" name="adj2"/>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3" name="Google Shape;1053;p80"/>
          <p:cNvSpPr txBox="1"/>
          <p:nvPr/>
        </p:nvSpPr>
        <p:spPr>
          <a:xfrm>
            <a:off x="5017565" y="3472550"/>
            <a:ext cx="1024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772 162</a:t>
            </a:r>
            <a:endParaRPr sz="2200">
              <a:solidFill>
                <a:srgbClr val="000000"/>
              </a:solidFill>
              <a:latin typeface="Lexend"/>
              <a:ea typeface="Lexend"/>
              <a:cs typeface="Lexend"/>
              <a:sym typeface="Lexend"/>
            </a:endParaRPr>
          </a:p>
        </p:txBody>
      </p:sp>
      <p:sp>
        <p:nvSpPr>
          <p:cNvPr id="1054" name="Google Shape;1054;p80"/>
          <p:cNvSpPr txBox="1"/>
          <p:nvPr/>
        </p:nvSpPr>
        <p:spPr>
          <a:xfrm>
            <a:off x="324000" y="4482575"/>
            <a:ext cx="3683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772 162</a:t>
            </a:r>
            <a:r>
              <a:rPr lang="en-GB" sz="2200">
                <a:latin typeface="Kalam"/>
                <a:ea typeface="Kalam"/>
                <a:cs typeface="Kalam"/>
                <a:sym typeface="Kalam"/>
              </a:rPr>
              <a:t> = 800 000 (to 1 s.f.)</a:t>
            </a:r>
            <a:endParaRPr sz="2200">
              <a:solidFill>
                <a:srgbClr val="000000"/>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number line for significant figures</a:t>
            </a:r>
            <a:endParaRPr/>
          </a:p>
        </p:txBody>
      </p:sp>
      <p:sp>
        <p:nvSpPr>
          <p:cNvPr id="1060" name="Google Shape;1060;p81"/>
          <p:cNvSpPr txBox="1"/>
          <p:nvPr>
            <p:ph idx="1" type="body"/>
          </p:nvPr>
        </p:nvSpPr>
        <p:spPr>
          <a:xfrm>
            <a:off x="324000" y="6069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What is 968 to one </a:t>
            </a:r>
            <a:r>
              <a:rPr b="1" lang="en-GB" sz="2000"/>
              <a:t>significant figure</a:t>
            </a:r>
            <a:r>
              <a:rPr lang="en-GB" sz="2000"/>
              <a:t>?</a:t>
            </a:r>
            <a:endParaRPr sz="2000"/>
          </a:p>
        </p:txBody>
      </p:sp>
      <p:graphicFrame>
        <p:nvGraphicFramePr>
          <p:cNvPr id="1061" name="Google Shape;1061;p81"/>
          <p:cNvGraphicFramePr/>
          <p:nvPr/>
        </p:nvGraphicFramePr>
        <p:xfrm>
          <a:off x="2159000" y="4182150"/>
          <a:ext cx="3000000" cy="3000000"/>
        </p:xfrm>
        <a:graphic>
          <a:graphicData uri="http://schemas.openxmlformats.org/drawingml/2006/table">
            <a:tbl>
              <a:tblPr>
                <a:noFill/>
                <a:tableStyleId>{A1769C70-3405-48C6-B967-3B8FA869652B}</a:tableStyleId>
              </a:tblPr>
              <a:tblGrid>
                <a:gridCol w="2413000"/>
                <a:gridCol w="2413000"/>
              </a:tblGrid>
              <a:tr h="190500">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1062" name="Google Shape;1062;p81"/>
          <p:cNvSpPr txBox="1"/>
          <p:nvPr/>
        </p:nvSpPr>
        <p:spPr>
          <a:xfrm>
            <a:off x="1882205" y="3801825"/>
            <a:ext cx="5595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900</a:t>
            </a:r>
            <a:endParaRPr sz="2200">
              <a:solidFill>
                <a:srgbClr val="000000"/>
              </a:solidFill>
              <a:latin typeface="Lexend"/>
              <a:ea typeface="Lexend"/>
              <a:cs typeface="Lexend"/>
              <a:sym typeface="Lexend"/>
            </a:endParaRPr>
          </a:p>
        </p:txBody>
      </p:sp>
      <p:sp>
        <p:nvSpPr>
          <p:cNvPr id="1063" name="Google Shape;1063;p81"/>
          <p:cNvSpPr txBox="1"/>
          <p:nvPr/>
        </p:nvSpPr>
        <p:spPr>
          <a:xfrm>
            <a:off x="6656043" y="3801825"/>
            <a:ext cx="657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1000</a:t>
            </a:r>
            <a:endParaRPr sz="2200">
              <a:solidFill>
                <a:srgbClr val="000000"/>
              </a:solidFill>
              <a:latin typeface="Lexend"/>
              <a:ea typeface="Lexend"/>
              <a:cs typeface="Lexend"/>
              <a:sym typeface="Lexend"/>
            </a:endParaRPr>
          </a:p>
        </p:txBody>
      </p:sp>
      <p:sp>
        <p:nvSpPr>
          <p:cNvPr id="1064" name="Google Shape;1064;p81"/>
          <p:cNvSpPr txBox="1"/>
          <p:nvPr/>
        </p:nvSpPr>
        <p:spPr>
          <a:xfrm>
            <a:off x="4312397" y="3801825"/>
            <a:ext cx="515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950</a:t>
            </a:r>
            <a:endParaRPr sz="2200">
              <a:solidFill>
                <a:srgbClr val="000000"/>
              </a:solidFill>
              <a:latin typeface="Lexend"/>
              <a:ea typeface="Lexend"/>
              <a:cs typeface="Lexend"/>
              <a:sym typeface="Lexend"/>
            </a:endParaRPr>
          </a:p>
        </p:txBody>
      </p:sp>
      <p:graphicFrame>
        <p:nvGraphicFramePr>
          <p:cNvPr id="1065" name="Google Shape;1065;p81"/>
          <p:cNvGraphicFramePr/>
          <p:nvPr/>
        </p:nvGraphicFramePr>
        <p:xfrm>
          <a:off x="1465001" y="969550"/>
          <a:ext cx="3000000" cy="3000000"/>
        </p:xfrm>
        <a:graphic>
          <a:graphicData uri="http://schemas.openxmlformats.org/drawingml/2006/table">
            <a:tbl>
              <a:tblPr>
                <a:noFill/>
                <a:tableStyleId>{A1769C70-3405-48C6-B967-3B8FA869652B}</a:tableStyleId>
              </a:tblPr>
              <a:tblGrid>
                <a:gridCol w="475250"/>
                <a:gridCol w="475250"/>
                <a:gridCol w="475250"/>
                <a:gridCol w="475250"/>
                <a:gridCol w="475250"/>
                <a:gridCol w="475250"/>
                <a:gridCol w="475250"/>
                <a:gridCol w="475250"/>
                <a:gridCol w="475250"/>
                <a:gridCol w="475250"/>
                <a:gridCol w="475250"/>
                <a:gridCol w="475250"/>
                <a:gridCol w="475250"/>
              </a:tblGrid>
              <a:tr h="458200">
                <a:tc>
                  <a:txBody>
                    <a:bodyPr/>
                    <a:lstStyle/>
                    <a:p>
                      <a:pPr indent="0" lvl="0" marL="0" rtl="0" algn="ctr">
                        <a:spcBef>
                          <a:spcPts val="0"/>
                        </a:spcBef>
                        <a:spcAft>
                          <a:spcPts val="0"/>
                        </a:spcAft>
                        <a:buNone/>
                      </a:pPr>
                      <a:r>
                        <a:rPr lang="en-GB" sz="1300">
                          <a:latin typeface="Lexend"/>
                          <a:ea typeface="Lexend"/>
                          <a:cs typeface="Lexend"/>
                          <a:sym typeface="Lexend"/>
                        </a:rPr>
                        <a:t>HMn</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TMn</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Mn</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solidFill>
                            <a:srgbClr val="000000"/>
                          </a:solidFill>
                          <a:latin typeface="Lexend"/>
                          <a:ea typeface="Lexend"/>
                          <a:cs typeface="Lexend"/>
                          <a:sym typeface="Lexend"/>
                        </a:rPr>
                        <a:t>T</a:t>
                      </a:r>
                      <a:endParaRPr>
                        <a:solidFill>
                          <a:srgbClr val="000000"/>
                        </a:solidFill>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O</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8200">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rgbClr val="000000"/>
                        </a:solidFill>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82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9</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6</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8</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pSp>
        <p:nvGrpSpPr>
          <p:cNvPr id="1066" name="Google Shape;1066;p81"/>
          <p:cNvGrpSpPr/>
          <p:nvPr/>
        </p:nvGrpSpPr>
        <p:grpSpPr>
          <a:xfrm>
            <a:off x="1539376" y="969550"/>
            <a:ext cx="6284584" cy="883373"/>
            <a:chOff x="2484575" y="1655350"/>
            <a:chExt cx="6284584" cy="883373"/>
          </a:xfrm>
        </p:grpSpPr>
        <p:pic>
          <p:nvPicPr>
            <p:cNvPr descr="&lt;math xmlns=&quot;http://www.w3.org/1998/Math/MathML&quot; display=&quot;block&quot; data-is-equatio=&quot;1&quot; data-latex=&quot;10^{\ }&quot;&gt;&lt;msup&gt;&lt;mn&gt;10&lt;/mn&gt;&lt;mrow data-mjx-texclass=&quot;ORD&quot;&gt;&lt;mtext&gt;&lt;/mtext&gt;&lt;/mrow&gt;&lt;/msup&gt;&lt;/math&gt;" id="1067" name="Google Shape;1067;p81" title="10 raised to the power"/>
            <p:cNvPicPr preferRelativeResize="0"/>
            <p:nvPr/>
          </p:nvPicPr>
          <p:blipFill>
            <a:blip r:embed="rId3">
              <a:alphaModFix/>
            </a:blip>
            <a:stretch>
              <a:fillRect/>
            </a:stretch>
          </p:blipFill>
          <p:spPr>
            <a:xfrm>
              <a:off x="5890349" y="2262830"/>
              <a:ext cx="206250" cy="166327"/>
            </a:xfrm>
            <a:prstGeom prst="rect">
              <a:avLst/>
            </a:prstGeom>
            <a:noFill/>
            <a:ln>
              <a:noFill/>
            </a:ln>
          </p:spPr>
        </p:pic>
        <p:pic>
          <p:nvPicPr>
            <p:cNvPr descr="&lt;math xmlns=&quot;http://www.w3.org/1998/Math/MathML&quot; display=&quot;block&quot; data-is-equatio=&quot;1&quot; data-latex=&quot;10^2&quot;&gt;&lt;msup&gt;&lt;mn&gt;10&lt;/mn&gt;&lt;mn&gt;2&lt;/mn&gt;&lt;/msup&gt;&lt;/math&gt;" id="1068" name="Google Shape;1068;p81" title="10 squared"/>
            <p:cNvPicPr preferRelativeResize="0"/>
            <p:nvPr/>
          </p:nvPicPr>
          <p:blipFill>
            <a:blip r:embed="rId4">
              <a:alphaModFix/>
            </a:blip>
            <a:stretch>
              <a:fillRect/>
            </a:stretch>
          </p:blipFill>
          <p:spPr>
            <a:xfrm>
              <a:off x="5342799" y="2189371"/>
              <a:ext cx="313981" cy="228942"/>
            </a:xfrm>
            <a:prstGeom prst="rect">
              <a:avLst/>
            </a:prstGeom>
            <a:noFill/>
            <a:ln>
              <a:noFill/>
            </a:ln>
          </p:spPr>
        </p:pic>
        <p:pic>
          <p:nvPicPr>
            <p:cNvPr descr="&lt;math xmlns=&quot;http://www.w3.org/1998/Math/MathML&quot; display=&quot;block&quot; data-is-equatio=&quot;1&quot; data-latex=&quot;10^3&quot;&gt;&lt;msup&gt;&lt;mn&gt;10&lt;/mn&gt;&lt;mn&gt;3&lt;/mn&gt;&lt;/msup&gt;&lt;/math&gt;" id="1069" name="Google Shape;1069;p81" title="10 cubed"/>
            <p:cNvPicPr preferRelativeResize="0"/>
            <p:nvPr/>
          </p:nvPicPr>
          <p:blipFill>
            <a:blip r:embed="rId5">
              <a:alphaModFix/>
            </a:blip>
            <a:stretch>
              <a:fillRect/>
            </a:stretch>
          </p:blipFill>
          <p:spPr>
            <a:xfrm>
              <a:off x="4889324" y="2189371"/>
              <a:ext cx="300899" cy="228942"/>
            </a:xfrm>
            <a:prstGeom prst="rect">
              <a:avLst/>
            </a:prstGeom>
            <a:noFill/>
            <a:ln>
              <a:noFill/>
            </a:ln>
          </p:spPr>
        </p:pic>
        <p:pic>
          <p:nvPicPr>
            <p:cNvPr descr="&lt;math xmlns=&quot;http://www.w3.org/1998/Math/MathML&quot; display=&quot;block&quot; data-is-equatio=&quot;1&quot; data-latex=&quot;10^4&quot;&gt;&lt;msup&gt;&lt;mn&gt;10&lt;/mn&gt;&lt;mn&gt;4&lt;/mn&gt;&lt;/msup&gt;&lt;/math&gt;" id="1070" name="Google Shape;1070;p81" title="10 to the fourth power"/>
            <p:cNvPicPr preferRelativeResize="0"/>
            <p:nvPr/>
          </p:nvPicPr>
          <p:blipFill>
            <a:blip r:embed="rId6">
              <a:alphaModFix/>
            </a:blip>
            <a:stretch>
              <a:fillRect/>
            </a:stretch>
          </p:blipFill>
          <p:spPr>
            <a:xfrm>
              <a:off x="4378765" y="2189363"/>
              <a:ext cx="313981" cy="228942"/>
            </a:xfrm>
            <a:prstGeom prst="rect">
              <a:avLst/>
            </a:prstGeom>
            <a:noFill/>
            <a:ln>
              <a:noFill/>
            </a:ln>
          </p:spPr>
        </p:pic>
        <p:pic>
          <p:nvPicPr>
            <p:cNvPr descr="&lt;math xmlns=&quot;http://www.w3.org/1998/Math/MathML&quot; display=&quot;block&quot; data-is-equatio=&quot;1&quot; data-latex=&quot;10^5&quot;&gt;&lt;msup&gt;&lt;mn&gt;10&lt;/mn&gt;&lt;mn&gt;5&lt;/mn&gt;&lt;/msup&gt;&lt;/math&gt;" id="1071" name="Google Shape;1071;p81" title="10 to the fifth power"/>
            <p:cNvPicPr preferRelativeResize="0"/>
            <p:nvPr/>
          </p:nvPicPr>
          <p:blipFill>
            <a:blip r:embed="rId7">
              <a:alphaModFix/>
            </a:blip>
            <a:stretch>
              <a:fillRect/>
            </a:stretch>
          </p:blipFill>
          <p:spPr>
            <a:xfrm>
              <a:off x="3925488" y="2189372"/>
              <a:ext cx="307440" cy="228942"/>
            </a:xfrm>
            <a:prstGeom prst="rect">
              <a:avLst/>
            </a:prstGeom>
            <a:noFill/>
            <a:ln>
              <a:noFill/>
            </a:ln>
          </p:spPr>
        </p:pic>
        <p:pic>
          <p:nvPicPr>
            <p:cNvPr descr="&lt;math xmlns=&quot;http://www.w3.org/1998/Math/MathML&quot; display=&quot;block&quot; data-is-equatio=&quot;1&quot; data-latex=&quot;\frac{1}{10^2}&quot;&gt;&lt;mfrac&gt;&lt;mn&gt;1&lt;/mn&gt;&lt;msup&gt;&lt;mn&gt;10&lt;/mn&gt;&lt;mn&gt;2&lt;/mn&gt;&lt;/msup&gt;&lt;/mfrac&gt;&lt;/math&gt;" id="1072" name="Google Shape;1072;p81" title="the fraction with numerator 1 and denominator 10 squared"/>
            <p:cNvPicPr preferRelativeResize="0"/>
            <p:nvPr/>
          </p:nvPicPr>
          <p:blipFill>
            <a:blip r:embed="rId8">
              <a:alphaModFix/>
            </a:blip>
            <a:stretch>
              <a:fillRect/>
            </a:stretch>
          </p:blipFill>
          <p:spPr>
            <a:xfrm>
              <a:off x="7263899" y="2156141"/>
              <a:ext cx="263983" cy="382583"/>
            </a:xfrm>
            <a:prstGeom prst="rect">
              <a:avLst/>
            </a:prstGeom>
            <a:noFill/>
            <a:ln>
              <a:noFill/>
            </a:ln>
          </p:spPr>
        </p:pic>
        <p:pic>
          <p:nvPicPr>
            <p:cNvPr descr="&lt;math xmlns=&quot;http://www.w3.org/1998/Math/MathML&quot; display=&quot;block&quot; data-is-equatio=&quot;1&quot; data-latex=&quot;\frac{1}{10^3}&quot;&gt;&lt;mfrac&gt;&lt;mn&gt;1&lt;/mn&gt;&lt;msup&gt;&lt;mn&gt;10&lt;/mn&gt;&lt;mn&gt;3&lt;/mn&gt;&lt;/msup&gt;&lt;/mfrac&gt;&lt;/math&gt;" id="1073" name="Google Shape;1073;p81" title="the fraction with numerator 1 and denominator 10 cubed"/>
            <p:cNvPicPr preferRelativeResize="0"/>
            <p:nvPr/>
          </p:nvPicPr>
          <p:blipFill>
            <a:blip r:embed="rId9">
              <a:alphaModFix/>
            </a:blip>
            <a:stretch>
              <a:fillRect/>
            </a:stretch>
          </p:blipFill>
          <p:spPr>
            <a:xfrm>
              <a:off x="7772333" y="2153303"/>
              <a:ext cx="263983" cy="382583"/>
            </a:xfrm>
            <a:prstGeom prst="rect">
              <a:avLst/>
            </a:prstGeom>
            <a:noFill/>
            <a:ln>
              <a:noFill/>
            </a:ln>
          </p:spPr>
        </p:pic>
        <p:pic>
          <p:nvPicPr>
            <p:cNvPr descr="&lt;math xmlns=&quot;http://www.w3.org/1998/Math/MathML&quot; display=&quot;block&quot; data-is-equatio=&quot;1&quot; data-latex=&quot;\frac{1}{10^4}&quot;&gt;&lt;mfrac&gt;&lt;mn&gt;1&lt;/mn&gt;&lt;msup&gt;&lt;mn&gt;10&lt;/mn&gt;&lt;mn&gt;4&lt;/mn&gt;&lt;/msup&gt;&lt;/mfrac&gt;&lt;/math&gt;" id="1074" name="Google Shape;1074;p81" title="the fraction with numerator 1 and denominator 10 to the fourth power"/>
            <p:cNvPicPr preferRelativeResize="0"/>
            <p:nvPr/>
          </p:nvPicPr>
          <p:blipFill>
            <a:blip r:embed="rId10">
              <a:alphaModFix/>
            </a:blip>
            <a:stretch>
              <a:fillRect/>
            </a:stretch>
          </p:blipFill>
          <p:spPr>
            <a:xfrm>
              <a:off x="8199808" y="2152373"/>
              <a:ext cx="263983" cy="378757"/>
            </a:xfrm>
            <a:prstGeom prst="rect">
              <a:avLst/>
            </a:prstGeom>
            <a:noFill/>
            <a:ln>
              <a:noFill/>
            </a:ln>
          </p:spPr>
        </p:pic>
        <p:pic>
          <p:nvPicPr>
            <p:cNvPr descr="&lt;math xmlns=&quot;http://www.w3.org/1998/Math/MathML&quot; display=&quot;block&quot; data-is-equatio=&quot;1&quot; data-latex=&quot;\frac{1}{10}&quot;&gt;&lt;mfrac&gt;&lt;mn&gt;1&lt;/mn&gt;&lt;mn&gt;10&lt;/mn&gt;&lt;/mfrac&gt;&lt;/math&gt;" id="1075" name="Google Shape;1075;p81" title="one tenth"/>
            <p:cNvPicPr preferRelativeResize="0"/>
            <p:nvPr/>
          </p:nvPicPr>
          <p:blipFill>
            <a:blip r:embed="rId11">
              <a:alphaModFix/>
            </a:blip>
            <a:stretch>
              <a:fillRect/>
            </a:stretch>
          </p:blipFill>
          <p:spPr>
            <a:xfrm>
              <a:off x="6820825" y="2150563"/>
              <a:ext cx="198622" cy="366074"/>
            </a:xfrm>
            <a:prstGeom prst="rect">
              <a:avLst/>
            </a:prstGeom>
            <a:noFill/>
            <a:ln>
              <a:noFill/>
            </a:ln>
          </p:spPr>
        </p:pic>
        <p:pic>
          <p:nvPicPr>
            <p:cNvPr descr="&lt;math xmlns=&quot;http://www.w3.org/1998/Math/MathML&quot; display=&quot;block&quot; data-is-equatio=&quot;1&quot; data-latex=&quot;10^{\ }&quot;&gt;&lt;msup&gt;&lt;mn&gt;10&lt;/mn&gt;&lt;mrow data-mjx-texclass=&quot;ORD&quot;&gt;&lt;mtext&gt;&lt;/mtext&gt;&lt;/mrow&gt;&lt;/msup&gt;&lt;/math&gt;" id="1076" name="Google Shape;1076;p81" title="10 raised to the power"/>
            <p:cNvPicPr preferRelativeResize="0"/>
            <p:nvPr/>
          </p:nvPicPr>
          <p:blipFill rotWithShape="1">
            <a:blip r:embed="rId3">
              <a:alphaModFix/>
            </a:blip>
            <a:srcRect b="0" l="0" r="55789" t="0"/>
            <a:stretch/>
          </p:blipFill>
          <p:spPr>
            <a:xfrm>
              <a:off x="6393529" y="2238366"/>
              <a:ext cx="89650" cy="163525"/>
            </a:xfrm>
            <a:prstGeom prst="rect">
              <a:avLst/>
            </a:prstGeom>
            <a:noFill/>
            <a:ln>
              <a:noFill/>
            </a:ln>
          </p:spPr>
        </p:pic>
        <p:pic>
          <p:nvPicPr>
            <p:cNvPr descr="&lt;math xmlns=&quot;http://www.w3.org/1998/Math/MathML&quot; display=&quot;block&quot; data-is-equatio=&quot;1&quot; data-latex=&quot;10^6&quot;&gt;&lt;msup&gt;&lt;mn&gt;10&lt;/mn&gt;&lt;mn&gt;6&lt;/mn&gt;&lt;/msup&gt;&lt;/math&gt;" id="1077" name="Google Shape;1077;p81" title="10 to the sixth power"/>
            <p:cNvPicPr preferRelativeResize="0"/>
            <p:nvPr/>
          </p:nvPicPr>
          <p:blipFill>
            <a:blip r:embed="rId12">
              <a:alphaModFix/>
            </a:blip>
            <a:stretch>
              <a:fillRect/>
            </a:stretch>
          </p:blipFill>
          <p:spPr>
            <a:xfrm>
              <a:off x="3427829" y="2189925"/>
              <a:ext cx="300900" cy="227820"/>
            </a:xfrm>
            <a:prstGeom prst="rect">
              <a:avLst/>
            </a:prstGeom>
            <a:noFill/>
            <a:ln>
              <a:noFill/>
            </a:ln>
          </p:spPr>
        </p:pic>
        <p:pic>
          <p:nvPicPr>
            <p:cNvPr descr="&lt;math xmlns=&quot;http://www.w3.org/1998/Math/MathML&quot; display=&quot;block&quot; data-is-equatio=&quot;1&quot; data-latex=&quot;10^7&quot;&gt;&lt;msup&gt;&lt;mn&gt;10&lt;/mn&gt;&lt;mn&gt;7&lt;/mn&gt;&lt;/msup&gt;&lt;/math&gt;" id="1078" name="Google Shape;1078;p81" title="10 to the seventh power"/>
            <p:cNvPicPr preferRelativeResize="0"/>
            <p:nvPr/>
          </p:nvPicPr>
          <p:blipFill>
            <a:blip r:embed="rId13">
              <a:alphaModFix/>
            </a:blip>
            <a:stretch>
              <a:fillRect/>
            </a:stretch>
          </p:blipFill>
          <p:spPr>
            <a:xfrm>
              <a:off x="2968200" y="2207531"/>
              <a:ext cx="300900" cy="224621"/>
            </a:xfrm>
            <a:prstGeom prst="rect">
              <a:avLst/>
            </a:prstGeom>
            <a:noFill/>
            <a:ln>
              <a:noFill/>
            </a:ln>
          </p:spPr>
        </p:pic>
        <p:pic>
          <p:nvPicPr>
            <p:cNvPr descr="&lt;math xmlns=&quot;http://www.w3.org/1998/Math/MathML&quot; display=&quot;block&quot; data-is-equatio=&quot;1&quot; data-latex=&quot;10^8&quot;&gt;&lt;msup&gt;&lt;mn&gt;10&lt;/mn&gt;&lt;mn&gt;8&lt;/mn&gt;&lt;/msup&gt;&lt;/math&gt;" id="1079" name="Google Shape;1079;p81" title="10 to the eighth power"/>
            <p:cNvPicPr preferRelativeResize="0"/>
            <p:nvPr/>
          </p:nvPicPr>
          <p:blipFill>
            <a:blip r:embed="rId14">
              <a:alphaModFix/>
            </a:blip>
            <a:stretch>
              <a:fillRect/>
            </a:stretch>
          </p:blipFill>
          <p:spPr>
            <a:xfrm>
              <a:off x="2484575" y="2203850"/>
              <a:ext cx="264000" cy="199908"/>
            </a:xfrm>
            <a:prstGeom prst="rect">
              <a:avLst/>
            </a:prstGeom>
            <a:noFill/>
            <a:ln>
              <a:noFill/>
            </a:ln>
          </p:spPr>
        </p:pic>
        <p:sp>
          <p:nvSpPr>
            <p:cNvPr id="1080" name="Google Shape;1080;p81"/>
            <p:cNvSpPr txBox="1"/>
            <p:nvPr/>
          </p:nvSpPr>
          <p:spPr>
            <a:xfrm>
              <a:off x="6897025"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1081" name="Google Shape;1081;p81"/>
            <p:cNvSpPr txBox="1"/>
            <p:nvPr/>
          </p:nvSpPr>
          <p:spPr>
            <a:xfrm>
              <a:off x="7380796"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1082" name="Google Shape;1082;p81"/>
            <p:cNvSpPr txBox="1"/>
            <p:nvPr/>
          </p:nvSpPr>
          <p:spPr>
            <a:xfrm>
              <a:off x="7868655"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1083" name="Google Shape;1083;p81"/>
            <p:cNvSpPr txBox="1"/>
            <p:nvPr/>
          </p:nvSpPr>
          <p:spPr>
            <a:xfrm>
              <a:off x="8380959"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grpSp>
      <p:sp>
        <p:nvSpPr>
          <p:cNvPr id="1084" name="Google Shape;1084;p81"/>
          <p:cNvSpPr txBox="1"/>
          <p:nvPr/>
        </p:nvSpPr>
        <p:spPr>
          <a:xfrm>
            <a:off x="5710116" y="1390849"/>
            <a:ext cx="99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solidFill>
                <a:srgbClr val="000000"/>
              </a:solidFill>
              <a:latin typeface="Lexend"/>
              <a:ea typeface="Lexend"/>
              <a:cs typeface="Lexend"/>
              <a:sym typeface="Lexend"/>
            </a:endParaRPr>
          </a:p>
        </p:txBody>
      </p:sp>
      <p:sp>
        <p:nvSpPr>
          <p:cNvPr id="1085" name="Google Shape;1085;p81"/>
          <p:cNvSpPr txBox="1"/>
          <p:nvPr/>
        </p:nvSpPr>
        <p:spPr>
          <a:xfrm>
            <a:off x="5710116" y="1885000"/>
            <a:ext cx="99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t>
            </a:r>
            <a:endParaRPr sz="2200">
              <a:solidFill>
                <a:srgbClr val="000000"/>
              </a:solidFill>
              <a:latin typeface="Lexend"/>
              <a:ea typeface="Lexend"/>
              <a:cs typeface="Lexend"/>
              <a:sym typeface="Lexend"/>
            </a:endParaRPr>
          </a:p>
        </p:txBody>
      </p:sp>
      <p:sp>
        <p:nvSpPr>
          <p:cNvPr id="1086" name="Google Shape;1086;p81"/>
          <p:cNvSpPr/>
          <p:nvPr/>
        </p:nvSpPr>
        <p:spPr>
          <a:xfrm>
            <a:off x="4452114" y="2473875"/>
            <a:ext cx="221700" cy="338700"/>
          </a:xfrm>
          <a:prstGeom prst="upArrow">
            <a:avLst>
              <a:gd fmla="val 50000" name="adj1"/>
              <a:gd fmla="val 50000" name="adj2"/>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7" name="Google Shape;1087;p81"/>
          <p:cNvSpPr txBox="1"/>
          <p:nvPr/>
        </p:nvSpPr>
        <p:spPr>
          <a:xfrm>
            <a:off x="324000" y="2854622"/>
            <a:ext cx="84960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Lexend"/>
                <a:ea typeface="Lexend"/>
                <a:cs typeface="Lexend"/>
                <a:sym typeface="Lexend"/>
              </a:rPr>
              <a:t>The first </a:t>
            </a:r>
            <a:r>
              <a:rPr b="1" lang="en-GB" sz="2000">
                <a:latin typeface="Lexend"/>
                <a:ea typeface="Lexend"/>
                <a:cs typeface="Lexend"/>
                <a:sym typeface="Lexend"/>
              </a:rPr>
              <a:t>significant figure</a:t>
            </a:r>
            <a:r>
              <a:rPr lang="en-GB" sz="2000">
                <a:latin typeface="Lexend"/>
                <a:ea typeface="Lexend"/>
                <a:cs typeface="Lexend"/>
                <a:sym typeface="Lexend"/>
              </a:rPr>
              <a:t> is in the </a:t>
            </a:r>
            <a:r>
              <a:rPr lang="en-GB" sz="2000">
                <a:solidFill>
                  <a:schemeClr val="accent5"/>
                </a:solidFill>
                <a:latin typeface="Lexend"/>
                <a:ea typeface="Lexend"/>
                <a:cs typeface="Lexend"/>
                <a:sym typeface="Lexend"/>
              </a:rPr>
              <a:t>hundreds</a:t>
            </a:r>
            <a:r>
              <a:rPr lang="en-GB" sz="2000">
                <a:latin typeface="Lexend"/>
                <a:ea typeface="Lexend"/>
                <a:cs typeface="Lexend"/>
                <a:sym typeface="Lexend"/>
              </a:rPr>
              <a:t> column.</a:t>
            </a:r>
            <a:endParaRPr sz="2000">
              <a:latin typeface="Lexend"/>
              <a:ea typeface="Lexend"/>
              <a:cs typeface="Lexend"/>
              <a:sym typeface="Lexend"/>
            </a:endParaRPr>
          </a:p>
          <a:p>
            <a:pPr indent="0" lvl="0" marL="0" rtl="0" algn="l">
              <a:spcBef>
                <a:spcPts val="0"/>
              </a:spcBef>
              <a:spcAft>
                <a:spcPts val="0"/>
              </a:spcAft>
              <a:buNone/>
            </a:pPr>
            <a:r>
              <a:rPr lang="en-GB" sz="2000">
                <a:latin typeface="Lexend"/>
                <a:ea typeface="Lexend"/>
                <a:cs typeface="Lexend"/>
                <a:sym typeface="Lexend"/>
              </a:rPr>
              <a:t>Therefore, we round to the nearest </a:t>
            </a:r>
            <a:r>
              <a:rPr lang="en-GB" sz="2000">
                <a:solidFill>
                  <a:schemeClr val="accent5"/>
                </a:solidFill>
                <a:latin typeface="Lexend"/>
                <a:ea typeface="Lexend"/>
                <a:cs typeface="Lexend"/>
                <a:sym typeface="Lexend"/>
              </a:rPr>
              <a:t>100</a:t>
            </a:r>
            <a:r>
              <a:rPr lang="en-GB" sz="2000">
                <a:latin typeface="Lexend"/>
                <a:ea typeface="Lexend"/>
                <a:cs typeface="Lexend"/>
                <a:sym typeface="Lexend"/>
              </a:rPr>
              <a:t>. </a:t>
            </a:r>
            <a:endParaRPr sz="2000">
              <a:solidFill>
                <a:srgbClr val="000000"/>
              </a:solidFill>
              <a:latin typeface="Lexend"/>
              <a:ea typeface="Lexend"/>
              <a:cs typeface="Lexend"/>
              <a:sym typeface="Lexend"/>
            </a:endParaRPr>
          </a:p>
        </p:txBody>
      </p:sp>
      <p:sp>
        <p:nvSpPr>
          <p:cNvPr id="1088" name="Google Shape;1088;p81"/>
          <p:cNvSpPr/>
          <p:nvPr/>
        </p:nvSpPr>
        <p:spPr>
          <a:xfrm rot="10800000">
            <a:off x="5374259" y="3771813"/>
            <a:ext cx="221700" cy="338700"/>
          </a:xfrm>
          <a:prstGeom prst="upArrow">
            <a:avLst>
              <a:gd fmla="val 50000" name="adj1"/>
              <a:gd fmla="val 50000" name="adj2"/>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9" name="Google Shape;1089;p81"/>
          <p:cNvSpPr txBox="1"/>
          <p:nvPr/>
        </p:nvSpPr>
        <p:spPr>
          <a:xfrm>
            <a:off x="5246170" y="3472550"/>
            <a:ext cx="480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968</a:t>
            </a:r>
            <a:endParaRPr sz="2200">
              <a:solidFill>
                <a:srgbClr val="000000"/>
              </a:solidFill>
              <a:latin typeface="Lexend"/>
              <a:ea typeface="Lexend"/>
              <a:cs typeface="Lexend"/>
              <a:sym typeface="Lexend"/>
            </a:endParaRPr>
          </a:p>
        </p:txBody>
      </p:sp>
      <p:sp>
        <p:nvSpPr>
          <p:cNvPr id="1090" name="Google Shape;1090;p81"/>
          <p:cNvSpPr txBox="1"/>
          <p:nvPr/>
        </p:nvSpPr>
        <p:spPr>
          <a:xfrm>
            <a:off x="324000" y="4482575"/>
            <a:ext cx="3683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968 = 1000 (to 1 s.f.)</a:t>
            </a:r>
            <a:endParaRPr sz="2200">
              <a:solidFill>
                <a:srgbClr val="000000"/>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82"/>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5678 = 6000 (to 1 s.f.)</a:t>
            </a:r>
            <a:endParaRPr/>
          </a:p>
        </p:txBody>
      </p:sp>
      <p:sp>
        <p:nvSpPr>
          <p:cNvPr id="1096" name="Google Shape;1096;p82"/>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number line for significant figures</a:t>
            </a:r>
            <a:endParaRPr/>
          </a:p>
        </p:txBody>
      </p:sp>
      <p:sp>
        <p:nvSpPr>
          <p:cNvPr id="1097" name="Google Shape;1097;p82"/>
          <p:cNvSpPr txBox="1"/>
          <p:nvPr>
            <p:ph type="title"/>
          </p:nvPr>
        </p:nvSpPr>
        <p:spPr>
          <a:xfrm>
            <a:off x="324000" y="733788"/>
            <a:ext cx="8179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Which of the following are correctly rounded to one </a:t>
            </a:r>
            <a:r>
              <a:rPr b="1" lang="en-GB"/>
              <a:t>significant</a:t>
            </a:r>
            <a:r>
              <a:rPr b="1" lang="en-GB"/>
              <a:t> figure</a:t>
            </a:r>
            <a:r>
              <a:rPr lang="en-GB"/>
              <a:t>?</a:t>
            </a:r>
            <a:endParaRPr/>
          </a:p>
        </p:txBody>
      </p:sp>
      <p:sp>
        <p:nvSpPr>
          <p:cNvPr id="1098" name="Google Shape;1098;p82"/>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9678 = 100 000 (to 1 s.f.)</a:t>
            </a:r>
            <a:endParaRPr/>
          </a:p>
        </p:txBody>
      </p:sp>
      <p:sp>
        <p:nvSpPr>
          <p:cNvPr id="1099" name="Google Shape;1099;p82"/>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658 362 = 700 000 (to 1 s.f.)</a:t>
            </a:r>
            <a:endParaRPr/>
          </a:p>
        </p:txBody>
      </p:sp>
      <p:sp>
        <p:nvSpPr>
          <p:cNvPr id="1100" name="Google Shape;1100;p82"/>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5 103 564 = 500 000 (to 1 s.f.)</a:t>
            </a:r>
            <a:endParaRPr/>
          </a:p>
          <a:p>
            <a:pPr indent="0" lvl="0" marL="0" rtl="0" algn="l">
              <a:spcBef>
                <a:spcPts val="1000"/>
              </a:spcBef>
              <a:spcAft>
                <a:spcPts val="1000"/>
              </a:spcAft>
              <a:buClr>
                <a:schemeClr val="dk1"/>
              </a:buClr>
              <a:buSzPts val="1100"/>
              <a:buFont typeface="Arial"/>
              <a:buNone/>
            </a:pPr>
            <a:r>
              <a:t/>
            </a:r>
            <a:endParaRPr/>
          </a:p>
        </p:txBody>
      </p:sp>
      <p:pic>
        <p:nvPicPr>
          <p:cNvPr id="1101" name="Google Shape;1101;p82"/>
          <p:cNvPicPr preferRelativeResize="0"/>
          <p:nvPr/>
        </p:nvPicPr>
        <p:blipFill>
          <a:blip r:embed="rId3">
            <a:alphaModFix/>
          </a:blip>
          <a:stretch>
            <a:fillRect/>
          </a:stretch>
        </p:blipFill>
        <p:spPr>
          <a:xfrm>
            <a:off x="4068608" y="1646875"/>
            <a:ext cx="396000" cy="419100"/>
          </a:xfrm>
          <a:prstGeom prst="rect">
            <a:avLst/>
          </a:prstGeom>
          <a:noFill/>
          <a:ln>
            <a:noFill/>
          </a:ln>
        </p:spPr>
      </p:pic>
      <p:pic>
        <p:nvPicPr>
          <p:cNvPr id="1102" name="Google Shape;1102;p82"/>
          <p:cNvPicPr preferRelativeResize="0"/>
          <p:nvPr/>
        </p:nvPicPr>
        <p:blipFill>
          <a:blip r:embed="rId3">
            <a:alphaModFix/>
          </a:blip>
          <a:stretch>
            <a:fillRect/>
          </a:stretch>
        </p:blipFill>
        <p:spPr>
          <a:xfrm>
            <a:off x="4824008" y="3286638"/>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8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a number line for significant figures</a:t>
            </a:r>
            <a:endParaRPr/>
          </a:p>
        </p:txBody>
      </p:sp>
      <p:sp>
        <p:nvSpPr>
          <p:cNvPr id="1108" name="Google Shape;1108;p83"/>
          <p:cNvSpPr txBox="1"/>
          <p:nvPr>
            <p:ph idx="1" type="body"/>
          </p:nvPr>
        </p:nvSpPr>
        <p:spPr>
          <a:xfrm>
            <a:off x="324000" y="683100"/>
            <a:ext cx="8237700" cy="718800"/>
          </a:xfrm>
          <a:prstGeom prst="rect">
            <a:avLst/>
          </a:prstGeom>
        </p:spPr>
        <p:txBody>
          <a:bodyPr anchorCtr="0" anchor="t" bIns="0" lIns="0" spcFirstLastPara="1" rIns="0" wrap="square" tIns="0">
            <a:noAutofit/>
          </a:bodyPr>
          <a:lstStyle/>
          <a:p>
            <a:pPr indent="-368300" lvl="0" marL="457200" rtl="0" algn="l">
              <a:lnSpc>
                <a:spcPct val="100000"/>
              </a:lnSpc>
              <a:spcBef>
                <a:spcPts val="0"/>
              </a:spcBef>
              <a:spcAft>
                <a:spcPts val="0"/>
              </a:spcAft>
              <a:buSzPts val="2200"/>
              <a:buAutoNum type="arabicParenR"/>
            </a:pPr>
            <a:r>
              <a:rPr lang="en-GB"/>
              <a:t>Match the following to the correct rounded to one </a:t>
            </a:r>
            <a:r>
              <a:rPr b="1" lang="en-GB"/>
              <a:t>significant figure</a:t>
            </a:r>
            <a:r>
              <a:rPr lang="en-GB"/>
              <a:t> number:</a:t>
            </a:r>
            <a:endParaRPr/>
          </a:p>
        </p:txBody>
      </p:sp>
      <p:sp>
        <p:nvSpPr>
          <p:cNvPr id="1109" name="Google Shape;1109;p83"/>
          <p:cNvSpPr/>
          <p:nvPr/>
        </p:nvSpPr>
        <p:spPr>
          <a:xfrm>
            <a:off x="865145" y="1423500"/>
            <a:ext cx="3211500" cy="5322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3 487 925</a:t>
            </a:r>
            <a:endParaRPr sz="2200">
              <a:latin typeface="Lexend"/>
              <a:ea typeface="Lexend"/>
              <a:cs typeface="Lexend"/>
              <a:sym typeface="Lexend"/>
            </a:endParaRPr>
          </a:p>
        </p:txBody>
      </p:sp>
      <p:sp>
        <p:nvSpPr>
          <p:cNvPr id="1110" name="Google Shape;1110;p83"/>
          <p:cNvSpPr/>
          <p:nvPr/>
        </p:nvSpPr>
        <p:spPr>
          <a:xfrm>
            <a:off x="865145" y="2364417"/>
            <a:ext cx="3211500" cy="5322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28 021</a:t>
            </a:r>
            <a:endParaRPr sz="2200">
              <a:latin typeface="Lexend"/>
              <a:ea typeface="Lexend"/>
              <a:cs typeface="Lexend"/>
              <a:sym typeface="Lexend"/>
            </a:endParaRPr>
          </a:p>
        </p:txBody>
      </p:sp>
      <p:sp>
        <p:nvSpPr>
          <p:cNvPr id="1111" name="Google Shape;1111;p83"/>
          <p:cNvSpPr/>
          <p:nvPr/>
        </p:nvSpPr>
        <p:spPr>
          <a:xfrm>
            <a:off x="865145" y="3305333"/>
            <a:ext cx="3211500" cy="5322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28</a:t>
            </a:r>
            <a:endParaRPr sz="2200">
              <a:latin typeface="Lexend"/>
              <a:ea typeface="Lexend"/>
              <a:cs typeface="Lexend"/>
              <a:sym typeface="Lexend"/>
            </a:endParaRPr>
          </a:p>
        </p:txBody>
      </p:sp>
      <p:sp>
        <p:nvSpPr>
          <p:cNvPr id="1112" name="Google Shape;1112;p83"/>
          <p:cNvSpPr/>
          <p:nvPr/>
        </p:nvSpPr>
        <p:spPr>
          <a:xfrm>
            <a:off x="865145" y="4246250"/>
            <a:ext cx="3211500" cy="5322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348.7925</a:t>
            </a:r>
            <a:endParaRPr sz="2200">
              <a:latin typeface="Lexend"/>
              <a:ea typeface="Lexend"/>
              <a:cs typeface="Lexend"/>
              <a:sym typeface="Lexend"/>
            </a:endParaRPr>
          </a:p>
        </p:txBody>
      </p:sp>
      <p:sp>
        <p:nvSpPr>
          <p:cNvPr id="1113" name="Google Shape;1113;p83"/>
          <p:cNvSpPr/>
          <p:nvPr/>
        </p:nvSpPr>
        <p:spPr>
          <a:xfrm>
            <a:off x="5070925" y="1423500"/>
            <a:ext cx="3211500" cy="5322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thirty</a:t>
            </a:r>
            <a:endParaRPr sz="2200">
              <a:latin typeface="Lexend"/>
              <a:ea typeface="Lexend"/>
              <a:cs typeface="Lexend"/>
              <a:sym typeface="Lexend"/>
            </a:endParaRPr>
          </a:p>
        </p:txBody>
      </p:sp>
      <p:sp>
        <p:nvSpPr>
          <p:cNvPr id="1114" name="Google Shape;1114;p83"/>
          <p:cNvSpPr/>
          <p:nvPr/>
        </p:nvSpPr>
        <p:spPr>
          <a:xfrm>
            <a:off x="5070925" y="2364417"/>
            <a:ext cx="3211500" cy="5322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three hundred</a:t>
            </a:r>
            <a:endParaRPr sz="2200">
              <a:latin typeface="Lexend"/>
              <a:ea typeface="Lexend"/>
              <a:cs typeface="Lexend"/>
              <a:sym typeface="Lexend"/>
            </a:endParaRPr>
          </a:p>
        </p:txBody>
      </p:sp>
      <p:sp>
        <p:nvSpPr>
          <p:cNvPr id="1115" name="Google Shape;1115;p83"/>
          <p:cNvSpPr/>
          <p:nvPr/>
        </p:nvSpPr>
        <p:spPr>
          <a:xfrm>
            <a:off x="5070925" y="3305333"/>
            <a:ext cx="3211500" cy="5322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thirty thousand</a:t>
            </a:r>
            <a:endParaRPr sz="2200">
              <a:latin typeface="Lexend"/>
              <a:ea typeface="Lexend"/>
              <a:cs typeface="Lexend"/>
              <a:sym typeface="Lexend"/>
            </a:endParaRPr>
          </a:p>
        </p:txBody>
      </p:sp>
      <p:sp>
        <p:nvSpPr>
          <p:cNvPr id="1116" name="Google Shape;1116;p83"/>
          <p:cNvSpPr/>
          <p:nvPr/>
        </p:nvSpPr>
        <p:spPr>
          <a:xfrm>
            <a:off x="5070925" y="4246250"/>
            <a:ext cx="3211500" cy="5322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three million</a:t>
            </a:r>
            <a:endParaRPr sz="2200">
              <a:latin typeface="Lexend"/>
              <a:ea typeface="Lexend"/>
              <a:cs typeface="Lexend"/>
              <a:sym typeface="Lexen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8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a number line for significant figures</a:t>
            </a:r>
            <a:endParaRPr/>
          </a:p>
        </p:txBody>
      </p:sp>
      <p:sp>
        <p:nvSpPr>
          <p:cNvPr id="1122" name="Google Shape;1122;p84"/>
          <p:cNvSpPr txBox="1"/>
          <p:nvPr>
            <p:ph idx="1" type="body"/>
          </p:nvPr>
        </p:nvSpPr>
        <p:spPr>
          <a:xfrm>
            <a:off x="324000" y="759300"/>
            <a:ext cx="82377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Complete the following:</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graphicFrame>
        <p:nvGraphicFramePr>
          <p:cNvPr id="1123" name="Google Shape;1123;p84"/>
          <p:cNvGraphicFramePr/>
          <p:nvPr/>
        </p:nvGraphicFramePr>
        <p:xfrm>
          <a:off x="324000" y="1200150"/>
          <a:ext cx="3000000" cy="3000000"/>
        </p:xfrm>
        <a:graphic>
          <a:graphicData uri="http://schemas.openxmlformats.org/drawingml/2006/table">
            <a:tbl>
              <a:tblPr>
                <a:noFill/>
                <a:tableStyleId>{A1769C70-3405-48C6-B967-3B8FA869652B}</a:tableStyleId>
              </a:tblPr>
              <a:tblGrid>
                <a:gridCol w="1071650"/>
                <a:gridCol w="2047500"/>
                <a:gridCol w="972725"/>
                <a:gridCol w="2927950"/>
                <a:gridCol w="1152400"/>
              </a:tblGrid>
              <a:tr h="1041525">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Number</a:t>
                      </a:r>
                      <a:endParaRPr sz="1800">
                        <a:solidFill>
                          <a:schemeClr val="lt1"/>
                        </a:solidFill>
                        <a:latin typeface="Lexend"/>
                        <a:ea typeface="Lexend"/>
                        <a:cs typeface="Lexend"/>
                        <a:sym typeface="Lexend"/>
                      </a:endParaRPr>
                    </a:p>
                  </a:txBody>
                  <a:tcPr marT="18000" marB="18000" marR="18000" marL="18000">
                    <a:lnB cap="flat" cmpd="sng" w="9525">
                      <a:solidFill>
                        <a:srgbClr val="9E9E9E"/>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The 1st</a:t>
                      </a:r>
                      <a:r>
                        <a:rPr b="1" lang="en-GB" sz="1800">
                          <a:solidFill>
                            <a:schemeClr val="lt1"/>
                          </a:solidFill>
                          <a:latin typeface="Lexend"/>
                          <a:ea typeface="Lexend"/>
                          <a:cs typeface="Lexend"/>
                          <a:sym typeface="Lexend"/>
                        </a:rPr>
                        <a:t> significant figure </a:t>
                      </a:r>
                      <a:r>
                        <a:rPr lang="en-GB" sz="1800">
                          <a:solidFill>
                            <a:schemeClr val="lt1"/>
                          </a:solidFill>
                          <a:latin typeface="Lexend"/>
                          <a:ea typeface="Lexend"/>
                          <a:cs typeface="Lexend"/>
                          <a:sym typeface="Lexend"/>
                        </a:rPr>
                        <a:t>is in the </a:t>
                      </a:r>
                      <a:r>
                        <a:rPr lang="en-GB" sz="1800" u="sng">
                          <a:solidFill>
                            <a:schemeClr val="lt1"/>
                          </a:solidFill>
                          <a:latin typeface="Lexend"/>
                          <a:ea typeface="Lexend"/>
                          <a:cs typeface="Lexend"/>
                          <a:sym typeface="Lexend"/>
                        </a:rPr>
                        <a:t>_____</a:t>
                      </a:r>
                      <a:r>
                        <a:rPr lang="en-GB" sz="1800">
                          <a:solidFill>
                            <a:schemeClr val="lt1"/>
                          </a:solidFill>
                          <a:latin typeface="Lexend"/>
                          <a:ea typeface="Lexend"/>
                          <a:cs typeface="Lexend"/>
                          <a:sym typeface="Lexend"/>
                        </a:rPr>
                        <a:t> column.</a:t>
                      </a:r>
                      <a:endParaRPr sz="1800">
                        <a:solidFill>
                          <a:schemeClr val="lt1"/>
                        </a:solidFill>
                        <a:latin typeface="Lexend"/>
                        <a:ea typeface="Lexend"/>
                        <a:cs typeface="Lexend"/>
                        <a:sym typeface="Lexend"/>
                      </a:endParaRPr>
                    </a:p>
                  </a:txBody>
                  <a:tcPr marT="18000" marB="18000" marR="18000" marL="18000">
                    <a:solidFill>
                      <a:schemeClr val="accent5"/>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Round to the nearest </a:t>
                      </a:r>
                      <a:r>
                        <a:rPr lang="en-GB" sz="1800" u="sng">
                          <a:solidFill>
                            <a:schemeClr val="lt1"/>
                          </a:solidFill>
                          <a:latin typeface="Lexend"/>
                          <a:ea typeface="Lexend"/>
                          <a:cs typeface="Lexend"/>
                          <a:sym typeface="Lexend"/>
                        </a:rPr>
                        <a:t>_____ </a:t>
                      </a:r>
                      <a:r>
                        <a:rPr lang="en-GB" sz="1800">
                          <a:solidFill>
                            <a:schemeClr val="lt1"/>
                          </a:solidFill>
                          <a:latin typeface="Lexend"/>
                          <a:ea typeface="Lexend"/>
                          <a:cs typeface="Lexend"/>
                          <a:sym typeface="Lexend"/>
                        </a:rPr>
                        <a:t>.</a:t>
                      </a:r>
                      <a:endParaRPr sz="1800">
                        <a:solidFill>
                          <a:schemeClr val="lt1"/>
                        </a:solidFill>
                        <a:latin typeface="Lexend"/>
                        <a:ea typeface="Lexend"/>
                        <a:cs typeface="Lexend"/>
                        <a:sym typeface="Lexend"/>
                      </a:endParaRPr>
                    </a:p>
                  </a:txBody>
                  <a:tcPr marT="18000" marB="18000" marR="18000" marL="18000">
                    <a:solidFill>
                      <a:schemeClr val="accent5"/>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Number line</a:t>
                      </a:r>
                      <a:endParaRPr sz="1800">
                        <a:solidFill>
                          <a:schemeClr val="lt1"/>
                        </a:solidFill>
                        <a:latin typeface="Lexend"/>
                        <a:ea typeface="Lexend"/>
                        <a:cs typeface="Lexend"/>
                        <a:sym typeface="Lexend"/>
                      </a:endParaRPr>
                    </a:p>
                  </a:txBody>
                  <a:tcPr marT="18000" marB="18000" marR="18000" marL="18000">
                    <a:solidFill>
                      <a:schemeClr val="accent5"/>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To 1 s.f.</a:t>
                      </a:r>
                      <a:endParaRPr sz="1800">
                        <a:solidFill>
                          <a:schemeClr val="lt1"/>
                        </a:solidFill>
                        <a:latin typeface="Lexend"/>
                        <a:ea typeface="Lexend"/>
                        <a:cs typeface="Lexend"/>
                        <a:sym typeface="Lexend"/>
                      </a:endParaRPr>
                    </a:p>
                  </a:txBody>
                  <a:tcPr marT="18000" marB="18000" marR="18000" marL="18000">
                    <a:solidFill>
                      <a:schemeClr val="accent5"/>
                    </a:solidFill>
                  </a:tcPr>
                </a:tc>
              </a:tr>
              <a:tr h="461975">
                <a:tc>
                  <a:txBody>
                    <a:bodyPr/>
                    <a:lstStyle/>
                    <a:p>
                      <a:pPr indent="0" lvl="0" marL="0" rtl="0" algn="l">
                        <a:spcBef>
                          <a:spcPts val="0"/>
                        </a:spcBef>
                        <a:spcAft>
                          <a:spcPts val="0"/>
                        </a:spcAft>
                        <a:buNone/>
                      </a:pPr>
                      <a:r>
                        <a:rPr lang="en-GB" sz="1800">
                          <a:latin typeface="Lexend"/>
                          <a:ea typeface="Lexend"/>
                          <a:cs typeface="Lexend"/>
                          <a:sym typeface="Lexend"/>
                        </a:rPr>
                        <a:t>36</a:t>
                      </a:r>
                      <a:endParaRPr sz="1800">
                        <a:latin typeface="Lexend"/>
                        <a:ea typeface="Lexend"/>
                        <a:cs typeface="Lexend"/>
                        <a:sym typeface="Lexend"/>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18000" marL="18000"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18000" marB="18000" marR="18000" marL="18000" anchor="ctr"/>
                </a:tc>
                <a:tc>
                  <a:txBody>
                    <a:bodyPr/>
                    <a:lstStyle/>
                    <a:p>
                      <a:pPr indent="0" lvl="0" marL="0" rtl="0" algn="l">
                        <a:spcBef>
                          <a:spcPts val="0"/>
                        </a:spcBef>
                        <a:spcAft>
                          <a:spcPts val="0"/>
                        </a:spcAft>
                        <a:buNone/>
                      </a:pPr>
                      <a:r>
                        <a:t/>
                      </a:r>
                      <a:endParaRPr/>
                    </a:p>
                  </a:txBody>
                  <a:tcPr marT="18000" marB="90000" marR="18000" marL="18000" anchor="ctr"/>
                </a:tc>
                <a:tc>
                  <a:txBody>
                    <a:bodyPr/>
                    <a:lstStyle/>
                    <a:p>
                      <a:pPr indent="0" lvl="0" marL="0" rtl="0" algn="l">
                        <a:spcBef>
                          <a:spcPts val="0"/>
                        </a:spcBef>
                        <a:spcAft>
                          <a:spcPts val="0"/>
                        </a:spcAft>
                        <a:buNone/>
                      </a:pPr>
                      <a:r>
                        <a:t/>
                      </a:r>
                      <a:endParaRPr/>
                    </a:p>
                  </a:txBody>
                  <a:tcPr marT="18000" marB="18000" marR="18000" marL="18000" anchor="ctr"/>
                </a:tc>
              </a:tr>
              <a:tr h="461975">
                <a:tc>
                  <a:txBody>
                    <a:bodyPr/>
                    <a:lstStyle/>
                    <a:p>
                      <a:pPr indent="0" lvl="0" marL="0" rtl="0" algn="l">
                        <a:spcBef>
                          <a:spcPts val="0"/>
                        </a:spcBef>
                        <a:spcAft>
                          <a:spcPts val="0"/>
                        </a:spcAft>
                        <a:buNone/>
                      </a:pPr>
                      <a:r>
                        <a:rPr lang="en-GB" sz="1800">
                          <a:latin typeface="Lexend"/>
                          <a:ea typeface="Lexend"/>
                          <a:cs typeface="Lexend"/>
                          <a:sym typeface="Lexend"/>
                        </a:rPr>
                        <a:t>832</a:t>
                      </a:r>
                      <a:endParaRPr sz="1800">
                        <a:latin typeface="Lexend"/>
                        <a:ea typeface="Lexend"/>
                        <a:cs typeface="Lexend"/>
                        <a:sym typeface="Lexend"/>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18000" marL="18000"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18000" marB="18000" marR="18000" marL="18000" anchor="ctr"/>
                </a:tc>
                <a:tc>
                  <a:txBody>
                    <a:bodyPr/>
                    <a:lstStyle/>
                    <a:p>
                      <a:pPr indent="0" lvl="0" marL="0" rtl="0" algn="l">
                        <a:spcBef>
                          <a:spcPts val="0"/>
                        </a:spcBef>
                        <a:spcAft>
                          <a:spcPts val="0"/>
                        </a:spcAft>
                        <a:buNone/>
                      </a:pPr>
                      <a:r>
                        <a:t/>
                      </a:r>
                      <a:endParaRPr/>
                    </a:p>
                  </a:txBody>
                  <a:tcPr marT="18000" marB="90000" marR="18000" marL="18000" anchor="ctr"/>
                </a:tc>
                <a:tc>
                  <a:txBody>
                    <a:bodyPr/>
                    <a:lstStyle/>
                    <a:p>
                      <a:pPr indent="0" lvl="0" marL="0" rtl="0" algn="l">
                        <a:spcBef>
                          <a:spcPts val="0"/>
                        </a:spcBef>
                        <a:spcAft>
                          <a:spcPts val="0"/>
                        </a:spcAft>
                        <a:buNone/>
                      </a:pPr>
                      <a:r>
                        <a:t/>
                      </a:r>
                      <a:endParaRPr/>
                    </a:p>
                  </a:txBody>
                  <a:tcPr marT="18000" marB="18000" marR="18000" marL="18000" anchor="ctr"/>
                </a:tc>
              </a:tr>
              <a:tr h="461975">
                <a:tc>
                  <a:txBody>
                    <a:bodyPr/>
                    <a:lstStyle/>
                    <a:p>
                      <a:pPr indent="0" lvl="0" marL="0" rtl="0" algn="l">
                        <a:spcBef>
                          <a:spcPts val="0"/>
                        </a:spcBef>
                        <a:spcAft>
                          <a:spcPts val="0"/>
                        </a:spcAft>
                        <a:buNone/>
                      </a:pPr>
                      <a:r>
                        <a:rPr lang="en-GB" sz="1800">
                          <a:latin typeface="Lexend"/>
                          <a:ea typeface="Lexend"/>
                          <a:cs typeface="Lexend"/>
                          <a:sym typeface="Lexend"/>
                        </a:rPr>
                        <a:t>3519</a:t>
                      </a:r>
                      <a:endParaRPr sz="1800">
                        <a:latin typeface="Lexend"/>
                        <a:ea typeface="Lexend"/>
                        <a:cs typeface="Lexend"/>
                        <a:sym typeface="Lexend"/>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18000" marL="18000"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18000" marB="18000" marR="18000" marL="18000" anchor="ctr"/>
                </a:tc>
                <a:tc>
                  <a:txBody>
                    <a:bodyPr/>
                    <a:lstStyle/>
                    <a:p>
                      <a:pPr indent="0" lvl="0" marL="0" rtl="0" algn="l">
                        <a:spcBef>
                          <a:spcPts val="0"/>
                        </a:spcBef>
                        <a:spcAft>
                          <a:spcPts val="0"/>
                        </a:spcAft>
                        <a:buNone/>
                      </a:pPr>
                      <a:r>
                        <a:t/>
                      </a:r>
                      <a:endParaRPr/>
                    </a:p>
                  </a:txBody>
                  <a:tcPr marT="18000" marB="90000" marR="18000" marL="18000" anchor="ctr"/>
                </a:tc>
                <a:tc>
                  <a:txBody>
                    <a:bodyPr/>
                    <a:lstStyle/>
                    <a:p>
                      <a:pPr indent="0" lvl="0" marL="0" rtl="0" algn="l">
                        <a:spcBef>
                          <a:spcPts val="0"/>
                        </a:spcBef>
                        <a:spcAft>
                          <a:spcPts val="0"/>
                        </a:spcAft>
                        <a:buNone/>
                      </a:pPr>
                      <a:r>
                        <a:t/>
                      </a:r>
                      <a:endParaRPr/>
                    </a:p>
                  </a:txBody>
                  <a:tcPr marT="18000" marB="18000" marR="18000" marL="18000" anchor="ctr"/>
                </a:tc>
              </a:tr>
              <a:tr h="461975">
                <a:tc>
                  <a:txBody>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43 867.09</a:t>
                      </a:r>
                      <a:endParaRPr sz="1800">
                        <a:latin typeface="Lexend"/>
                        <a:ea typeface="Lexend"/>
                        <a:cs typeface="Lexend"/>
                        <a:sym typeface="Lexend"/>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18000" marL="18000"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18000" marB="18000" marR="18000" marL="18000" anchor="ctr"/>
                </a:tc>
                <a:tc>
                  <a:txBody>
                    <a:bodyPr/>
                    <a:lstStyle/>
                    <a:p>
                      <a:pPr indent="0" lvl="0" marL="0" rtl="0" algn="l">
                        <a:spcBef>
                          <a:spcPts val="0"/>
                        </a:spcBef>
                        <a:spcAft>
                          <a:spcPts val="0"/>
                        </a:spcAft>
                        <a:buNone/>
                      </a:pPr>
                      <a:r>
                        <a:t/>
                      </a:r>
                      <a:endParaRPr/>
                    </a:p>
                  </a:txBody>
                  <a:tcPr marT="18000" marB="90000" marR="18000" marL="18000" anchor="ctr"/>
                </a:tc>
                <a:tc>
                  <a:txBody>
                    <a:bodyPr/>
                    <a:lstStyle/>
                    <a:p>
                      <a:pPr indent="0" lvl="0" marL="0" rtl="0" algn="l">
                        <a:spcBef>
                          <a:spcPts val="0"/>
                        </a:spcBef>
                        <a:spcAft>
                          <a:spcPts val="0"/>
                        </a:spcAft>
                        <a:buNone/>
                      </a:pPr>
                      <a:r>
                        <a:t/>
                      </a:r>
                      <a:endParaRPr/>
                    </a:p>
                  </a:txBody>
                  <a:tcPr marT="18000" marB="18000" marR="18000" marL="18000" anchor="ctr"/>
                </a:tc>
              </a:tr>
              <a:tr h="461975">
                <a:tc>
                  <a:txBody>
                    <a:bodyPr/>
                    <a:lstStyle/>
                    <a:p>
                      <a:pPr indent="0" lvl="0" marL="0" rtl="0" algn="l">
                        <a:spcBef>
                          <a:spcPts val="0"/>
                        </a:spcBef>
                        <a:spcAft>
                          <a:spcPts val="0"/>
                        </a:spcAft>
                        <a:buNone/>
                      </a:pPr>
                      <a:r>
                        <a:rPr lang="en-GB" sz="1800">
                          <a:latin typeface="Lexend"/>
                          <a:ea typeface="Lexend"/>
                          <a:cs typeface="Lexend"/>
                          <a:sym typeface="Lexend"/>
                        </a:rPr>
                        <a:t>992 782</a:t>
                      </a:r>
                      <a:endParaRPr sz="1800">
                        <a:latin typeface="Lexend"/>
                        <a:ea typeface="Lexend"/>
                        <a:cs typeface="Lexend"/>
                        <a:sym typeface="Lexend"/>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18000" marL="18000"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18000" marB="18000" marR="18000" marL="18000" anchor="ctr"/>
                </a:tc>
                <a:tc>
                  <a:txBody>
                    <a:bodyPr/>
                    <a:lstStyle/>
                    <a:p>
                      <a:pPr indent="0" lvl="0" marL="0" rtl="0" algn="l">
                        <a:spcBef>
                          <a:spcPts val="0"/>
                        </a:spcBef>
                        <a:spcAft>
                          <a:spcPts val="0"/>
                        </a:spcAft>
                        <a:buNone/>
                      </a:pPr>
                      <a:r>
                        <a:t/>
                      </a:r>
                      <a:endParaRPr/>
                    </a:p>
                  </a:txBody>
                  <a:tcPr marT="18000" marB="90000" marR="18000" marL="18000" anchor="ctr"/>
                </a:tc>
                <a:tc>
                  <a:txBody>
                    <a:bodyPr/>
                    <a:lstStyle/>
                    <a:p>
                      <a:pPr indent="0" lvl="0" marL="0" rtl="0" algn="l">
                        <a:spcBef>
                          <a:spcPts val="0"/>
                        </a:spcBef>
                        <a:spcAft>
                          <a:spcPts val="0"/>
                        </a:spcAft>
                        <a:buNone/>
                      </a:pPr>
                      <a:r>
                        <a:t/>
                      </a:r>
                      <a:endParaRPr/>
                    </a:p>
                  </a:txBody>
                  <a:tcPr marT="18000" marB="18000" marR="18000" marL="18000" anchor="ctr"/>
                </a:tc>
              </a:tr>
            </a:tbl>
          </a:graphicData>
        </a:graphic>
      </p:graphicFrame>
      <p:graphicFrame>
        <p:nvGraphicFramePr>
          <p:cNvPr id="1124" name="Google Shape;1124;p84"/>
          <p:cNvGraphicFramePr/>
          <p:nvPr/>
        </p:nvGraphicFramePr>
        <p:xfrm>
          <a:off x="4789055" y="2644537"/>
          <a:ext cx="3000000" cy="3000000"/>
        </p:xfrm>
        <a:graphic>
          <a:graphicData uri="http://schemas.openxmlformats.org/drawingml/2006/table">
            <a:tbl>
              <a:tblPr>
                <a:noFill/>
                <a:tableStyleId>{A1769C70-3405-48C6-B967-3B8FA869652B}</a:tableStyleId>
              </a:tblPr>
              <a:tblGrid>
                <a:gridCol w="1031350"/>
                <a:gridCol w="1031350"/>
              </a:tblGrid>
              <a:tr h="100000">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graphicFrame>
        <p:nvGraphicFramePr>
          <p:cNvPr id="1125" name="Google Shape;1125;p84"/>
          <p:cNvGraphicFramePr/>
          <p:nvPr/>
        </p:nvGraphicFramePr>
        <p:xfrm>
          <a:off x="4789055" y="3099889"/>
          <a:ext cx="3000000" cy="3000000"/>
        </p:xfrm>
        <a:graphic>
          <a:graphicData uri="http://schemas.openxmlformats.org/drawingml/2006/table">
            <a:tbl>
              <a:tblPr>
                <a:noFill/>
                <a:tableStyleId>{A1769C70-3405-48C6-B967-3B8FA869652B}</a:tableStyleId>
              </a:tblPr>
              <a:tblGrid>
                <a:gridCol w="1031350"/>
                <a:gridCol w="1031350"/>
              </a:tblGrid>
              <a:tr h="100000">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graphicFrame>
        <p:nvGraphicFramePr>
          <p:cNvPr id="1126" name="Google Shape;1126;p84"/>
          <p:cNvGraphicFramePr/>
          <p:nvPr/>
        </p:nvGraphicFramePr>
        <p:xfrm>
          <a:off x="4789055" y="3555242"/>
          <a:ext cx="3000000" cy="3000000"/>
        </p:xfrm>
        <a:graphic>
          <a:graphicData uri="http://schemas.openxmlformats.org/drawingml/2006/table">
            <a:tbl>
              <a:tblPr>
                <a:noFill/>
                <a:tableStyleId>{A1769C70-3405-48C6-B967-3B8FA869652B}</a:tableStyleId>
              </a:tblPr>
              <a:tblGrid>
                <a:gridCol w="1031350"/>
                <a:gridCol w="1031350"/>
              </a:tblGrid>
              <a:tr h="100000">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graphicFrame>
        <p:nvGraphicFramePr>
          <p:cNvPr id="1127" name="Google Shape;1127;p84"/>
          <p:cNvGraphicFramePr/>
          <p:nvPr/>
        </p:nvGraphicFramePr>
        <p:xfrm>
          <a:off x="4789055" y="4010594"/>
          <a:ext cx="3000000" cy="3000000"/>
        </p:xfrm>
        <a:graphic>
          <a:graphicData uri="http://schemas.openxmlformats.org/drawingml/2006/table">
            <a:tbl>
              <a:tblPr>
                <a:noFill/>
                <a:tableStyleId>{A1769C70-3405-48C6-B967-3B8FA869652B}</a:tableStyleId>
              </a:tblPr>
              <a:tblGrid>
                <a:gridCol w="1031350"/>
                <a:gridCol w="1031350"/>
              </a:tblGrid>
              <a:tr h="100000">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graphicFrame>
        <p:nvGraphicFramePr>
          <p:cNvPr id="1128" name="Google Shape;1128;p84"/>
          <p:cNvGraphicFramePr/>
          <p:nvPr/>
        </p:nvGraphicFramePr>
        <p:xfrm>
          <a:off x="4789055" y="4494522"/>
          <a:ext cx="3000000" cy="3000000"/>
        </p:xfrm>
        <a:graphic>
          <a:graphicData uri="http://schemas.openxmlformats.org/drawingml/2006/table">
            <a:tbl>
              <a:tblPr>
                <a:noFill/>
                <a:tableStyleId>{A1769C70-3405-48C6-B967-3B8FA869652B}</a:tableStyleId>
              </a:tblPr>
              <a:tblGrid>
                <a:gridCol w="1031350"/>
                <a:gridCol w="1031350"/>
              </a:tblGrid>
              <a:tr h="100000">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8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a number line for significant figures</a:t>
            </a:r>
            <a:endParaRPr/>
          </a:p>
        </p:txBody>
      </p:sp>
      <p:sp>
        <p:nvSpPr>
          <p:cNvPr id="1134" name="Google Shape;1134;p85"/>
          <p:cNvSpPr/>
          <p:nvPr/>
        </p:nvSpPr>
        <p:spPr>
          <a:xfrm>
            <a:off x="865145" y="1423500"/>
            <a:ext cx="3211500" cy="5322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3 487 925</a:t>
            </a:r>
            <a:endParaRPr sz="2200">
              <a:latin typeface="Lexend"/>
              <a:ea typeface="Lexend"/>
              <a:cs typeface="Lexend"/>
              <a:sym typeface="Lexend"/>
            </a:endParaRPr>
          </a:p>
        </p:txBody>
      </p:sp>
      <p:sp>
        <p:nvSpPr>
          <p:cNvPr id="1135" name="Google Shape;1135;p85"/>
          <p:cNvSpPr/>
          <p:nvPr/>
        </p:nvSpPr>
        <p:spPr>
          <a:xfrm>
            <a:off x="865145" y="2364417"/>
            <a:ext cx="3211500" cy="5322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28 021</a:t>
            </a:r>
            <a:endParaRPr sz="2200">
              <a:latin typeface="Lexend"/>
              <a:ea typeface="Lexend"/>
              <a:cs typeface="Lexend"/>
              <a:sym typeface="Lexend"/>
            </a:endParaRPr>
          </a:p>
        </p:txBody>
      </p:sp>
      <p:sp>
        <p:nvSpPr>
          <p:cNvPr id="1136" name="Google Shape;1136;p85"/>
          <p:cNvSpPr/>
          <p:nvPr/>
        </p:nvSpPr>
        <p:spPr>
          <a:xfrm>
            <a:off x="865145" y="3305333"/>
            <a:ext cx="3211500" cy="5322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28</a:t>
            </a:r>
            <a:endParaRPr sz="2200">
              <a:latin typeface="Lexend"/>
              <a:ea typeface="Lexend"/>
              <a:cs typeface="Lexend"/>
              <a:sym typeface="Lexend"/>
            </a:endParaRPr>
          </a:p>
        </p:txBody>
      </p:sp>
      <p:sp>
        <p:nvSpPr>
          <p:cNvPr id="1137" name="Google Shape;1137;p85"/>
          <p:cNvSpPr/>
          <p:nvPr/>
        </p:nvSpPr>
        <p:spPr>
          <a:xfrm>
            <a:off x="865145" y="4246250"/>
            <a:ext cx="3211500" cy="5322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348.7925</a:t>
            </a:r>
            <a:endParaRPr sz="2200">
              <a:latin typeface="Lexend"/>
              <a:ea typeface="Lexend"/>
              <a:cs typeface="Lexend"/>
              <a:sym typeface="Lexend"/>
            </a:endParaRPr>
          </a:p>
        </p:txBody>
      </p:sp>
      <p:sp>
        <p:nvSpPr>
          <p:cNvPr id="1138" name="Google Shape;1138;p85"/>
          <p:cNvSpPr/>
          <p:nvPr/>
        </p:nvSpPr>
        <p:spPr>
          <a:xfrm>
            <a:off x="5070925" y="1423500"/>
            <a:ext cx="3211500" cy="5322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thirty</a:t>
            </a:r>
            <a:endParaRPr sz="2200">
              <a:latin typeface="Lexend"/>
              <a:ea typeface="Lexend"/>
              <a:cs typeface="Lexend"/>
              <a:sym typeface="Lexend"/>
            </a:endParaRPr>
          </a:p>
        </p:txBody>
      </p:sp>
      <p:sp>
        <p:nvSpPr>
          <p:cNvPr id="1139" name="Google Shape;1139;p85"/>
          <p:cNvSpPr/>
          <p:nvPr/>
        </p:nvSpPr>
        <p:spPr>
          <a:xfrm>
            <a:off x="5070925" y="2364417"/>
            <a:ext cx="3211500" cy="5322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three hundred</a:t>
            </a:r>
            <a:endParaRPr sz="2200">
              <a:latin typeface="Lexend"/>
              <a:ea typeface="Lexend"/>
              <a:cs typeface="Lexend"/>
              <a:sym typeface="Lexend"/>
            </a:endParaRPr>
          </a:p>
        </p:txBody>
      </p:sp>
      <p:sp>
        <p:nvSpPr>
          <p:cNvPr id="1140" name="Google Shape;1140;p85"/>
          <p:cNvSpPr/>
          <p:nvPr/>
        </p:nvSpPr>
        <p:spPr>
          <a:xfrm>
            <a:off x="5070925" y="3305333"/>
            <a:ext cx="3211500" cy="5322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thirty thousand</a:t>
            </a:r>
            <a:endParaRPr sz="2200">
              <a:latin typeface="Lexend"/>
              <a:ea typeface="Lexend"/>
              <a:cs typeface="Lexend"/>
              <a:sym typeface="Lexend"/>
            </a:endParaRPr>
          </a:p>
        </p:txBody>
      </p:sp>
      <p:sp>
        <p:nvSpPr>
          <p:cNvPr id="1141" name="Google Shape;1141;p85"/>
          <p:cNvSpPr/>
          <p:nvPr/>
        </p:nvSpPr>
        <p:spPr>
          <a:xfrm>
            <a:off x="5070925" y="4246250"/>
            <a:ext cx="3211500" cy="5322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three million</a:t>
            </a:r>
            <a:endParaRPr sz="2200">
              <a:latin typeface="Lexend"/>
              <a:ea typeface="Lexend"/>
              <a:cs typeface="Lexend"/>
              <a:sym typeface="Lexend"/>
            </a:endParaRPr>
          </a:p>
        </p:txBody>
      </p:sp>
      <p:cxnSp>
        <p:nvCxnSpPr>
          <p:cNvPr id="1142" name="Google Shape;1142;p85"/>
          <p:cNvCxnSpPr>
            <a:stCxn id="1134" idx="3"/>
            <a:endCxn id="1141" idx="1"/>
          </p:cNvCxnSpPr>
          <p:nvPr/>
        </p:nvCxnSpPr>
        <p:spPr>
          <a:xfrm>
            <a:off x="4076645" y="1689600"/>
            <a:ext cx="994200" cy="2822700"/>
          </a:xfrm>
          <a:prstGeom prst="straightConnector1">
            <a:avLst/>
          </a:prstGeom>
          <a:noFill/>
          <a:ln cap="flat" cmpd="sng" w="38100">
            <a:solidFill>
              <a:schemeClr val="accent5"/>
            </a:solidFill>
            <a:prstDash val="solid"/>
            <a:round/>
            <a:headEnd len="med" w="med" type="none"/>
            <a:tailEnd len="med" w="med" type="none"/>
          </a:ln>
        </p:spPr>
      </p:cxnSp>
      <p:cxnSp>
        <p:nvCxnSpPr>
          <p:cNvPr id="1143" name="Google Shape;1143;p85"/>
          <p:cNvCxnSpPr>
            <a:stCxn id="1135" idx="3"/>
            <a:endCxn id="1140" idx="1"/>
          </p:cNvCxnSpPr>
          <p:nvPr/>
        </p:nvCxnSpPr>
        <p:spPr>
          <a:xfrm>
            <a:off x="4076645" y="2630517"/>
            <a:ext cx="994200" cy="940800"/>
          </a:xfrm>
          <a:prstGeom prst="straightConnector1">
            <a:avLst/>
          </a:prstGeom>
          <a:noFill/>
          <a:ln cap="flat" cmpd="sng" w="38100">
            <a:solidFill>
              <a:schemeClr val="accent5"/>
            </a:solidFill>
            <a:prstDash val="solid"/>
            <a:round/>
            <a:headEnd len="med" w="med" type="none"/>
            <a:tailEnd len="med" w="med" type="none"/>
          </a:ln>
        </p:spPr>
      </p:cxnSp>
      <p:cxnSp>
        <p:nvCxnSpPr>
          <p:cNvPr id="1144" name="Google Shape;1144;p85"/>
          <p:cNvCxnSpPr>
            <a:stCxn id="1136" idx="3"/>
            <a:endCxn id="1138" idx="1"/>
          </p:cNvCxnSpPr>
          <p:nvPr/>
        </p:nvCxnSpPr>
        <p:spPr>
          <a:xfrm flipH="1" rot="10800000">
            <a:off x="4076645" y="1689533"/>
            <a:ext cx="994200" cy="1881900"/>
          </a:xfrm>
          <a:prstGeom prst="straightConnector1">
            <a:avLst/>
          </a:prstGeom>
          <a:noFill/>
          <a:ln cap="flat" cmpd="sng" w="38100">
            <a:solidFill>
              <a:schemeClr val="accent5"/>
            </a:solidFill>
            <a:prstDash val="solid"/>
            <a:round/>
            <a:headEnd len="med" w="med" type="none"/>
            <a:tailEnd len="med" w="med" type="none"/>
          </a:ln>
        </p:spPr>
      </p:cxnSp>
      <p:cxnSp>
        <p:nvCxnSpPr>
          <p:cNvPr id="1145" name="Google Shape;1145;p85"/>
          <p:cNvCxnSpPr/>
          <p:nvPr/>
        </p:nvCxnSpPr>
        <p:spPr>
          <a:xfrm flipH="1" rot="10800000">
            <a:off x="4076645" y="2630483"/>
            <a:ext cx="994200" cy="1881900"/>
          </a:xfrm>
          <a:prstGeom prst="straightConnector1">
            <a:avLst/>
          </a:prstGeom>
          <a:noFill/>
          <a:ln cap="flat" cmpd="sng" w="38100">
            <a:solidFill>
              <a:schemeClr val="accent5"/>
            </a:solidFill>
            <a:prstDash val="solid"/>
            <a:round/>
            <a:headEnd len="med" w="med" type="none"/>
            <a:tailEnd len="med" w="med" type="none"/>
          </a:ln>
        </p:spPr>
      </p:cxnSp>
      <p:sp>
        <p:nvSpPr>
          <p:cNvPr id="1146" name="Google Shape;1146;p85"/>
          <p:cNvSpPr txBox="1"/>
          <p:nvPr>
            <p:ph idx="1" type="body"/>
          </p:nvPr>
        </p:nvSpPr>
        <p:spPr>
          <a:xfrm>
            <a:off x="324000" y="683100"/>
            <a:ext cx="8237700" cy="718800"/>
          </a:xfrm>
          <a:prstGeom prst="rect">
            <a:avLst/>
          </a:prstGeom>
        </p:spPr>
        <p:txBody>
          <a:bodyPr anchorCtr="0" anchor="t" bIns="0" lIns="0" spcFirstLastPara="1" rIns="0" wrap="square" tIns="0">
            <a:noAutofit/>
          </a:bodyPr>
          <a:lstStyle/>
          <a:p>
            <a:pPr indent="-368300" lvl="0" marL="457200" rtl="0" algn="l">
              <a:lnSpc>
                <a:spcPct val="100000"/>
              </a:lnSpc>
              <a:spcBef>
                <a:spcPts val="0"/>
              </a:spcBef>
              <a:spcAft>
                <a:spcPts val="0"/>
              </a:spcAft>
              <a:buSzPts val="2200"/>
              <a:buAutoNum type="arabicParenR"/>
            </a:pPr>
            <a:r>
              <a:rPr lang="en-GB"/>
              <a:t>Match the following to the correct rounded to one </a:t>
            </a:r>
            <a:r>
              <a:rPr b="1" lang="en-GB"/>
              <a:t>significant figure</a:t>
            </a:r>
            <a:r>
              <a:rPr lang="en-GB"/>
              <a:t> number: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graphicFrame>
        <p:nvGraphicFramePr>
          <p:cNvPr id="1151" name="Google Shape;1151;p86"/>
          <p:cNvGraphicFramePr/>
          <p:nvPr/>
        </p:nvGraphicFramePr>
        <p:xfrm>
          <a:off x="324000" y="1200150"/>
          <a:ext cx="3000000" cy="3000000"/>
        </p:xfrm>
        <a:graphic>
          <a:graphicData uri="http://schemas.openxmlformats.org/drawingml/2006/table">
            <a:tbl>
              <a:tblPr>
                <a:noFill/>
                <a:tableStyleId>{A1769C70-3405-48C6-B967-3B8FA869652B}</a:tableStyleId>
              </a:tblPr>
              <a:tblGrid>
                <a:gridCol w="1071650"/>
                <a:gridCol w="2047500"/>
                <a:gridCol w="972725"/>
                <a:gridCol w="2927950"/>
                <a:gridCol w="1180150"/>
              </a:tblGrid>
              <a:tr h="1041525">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Number</a:t>
                      </a:r>
                      <a:endParaRPr sz="1800">
                        <a:solidFill>
                          <a:schemeClr val="lt1"/>
                        </a:solidFill>
                        <a:latin typeface="Lexend"/>
                        <a:ea typeface="Lexend"/>
                        <a:cs typeface="Lexend"/>
                        <a:sym typeface="Lexend"/>
                      </a:endParaRPr>
                    </a:p>
                  </a:txBody>
                  <a:tcPr marT="18000" marB="18000" marR="18000" marL="18000">
                    <a:lnB cap="flat" cmpd="sng" w="9525">
                      <a:solidFill>
                        <a:srgbClr val="9E9E9E"/>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The 1st</a:t>
                      </a:r>
                      <a:r>
                        <a:rPr b="1" lang="en-GB" sz="1800">
                          <a:solidFill>
                            <a:schemeClr val="lt1"/>
                          </a:solidFill>
                          <a:latin typeface="Lexend"/>
                          <a:ea typeface="Lexend"/>
                          <a:cs typeface="Lexend"/>
                          <a:sym typeface="Lexend"/>
                        </a:rPr>
                        <a:t> significant figure</a:t>
                      </a:r>
                      <a:r>
                        <a:rPr lang="en-GB" sz="1800">
                          <a:solidFill>
                            <a:schemeClr val="lt1"/>
                          </a:solidFill>
                          <a:latin typeface="Lexend"/>
                          <a:ea typeface="Lexend"/>
                          <a:cs typeface="Lexend"/>
                          <a:sym typeface="Lexend"/>
                        </a:rPr>
                        <a:t> is in the </a:t>
                      </a:r>
                      <a:r>
                        <a:rPr lang="en-GB" sz="1800" u="sng">
                          <a:solidFill>
                            <a:schemeClr val="lt1"/>
                          </a:solidFill>
                          <a:latin typeface="Lexend"/>
                          <a:ea typeface="Lexend"/>
                          <a:cs typeface="Lexend"/>
                          <a:sym typeface="Lexend"/>
                        </a:rPr>
                        <a:t>_____</a:t>
                      </a:r>
                      <a:r>
                        <a:rPr lang="en-GB" sz="1800">
                          <a:solidFill>
                            <a:schemeClr val="lt1"/>
                          </a:solidFill>
                          <a:latin typeface="Lexend"/>
                          <a:ea typeface="Lexend"/>
                          <a:cs typeface="Lexend"/>
                          <a:sym typeface="Lexend"/>
                        </a:rPr>
                        <a:t> column.</a:t>
                      </a:r>
                      <a:endParaRPr sz="1800">
                        <a:solidFill>
                          <a:schemeClr val="lt1"/>
                        </a:solidFill>
                        <a:latin typeface="Lexend"/>
                        <a:ea typeface="Lexend"/>
                        <a:cs typeface="Lexend"/>
                        <a:sym typeface="Lexend"/>
                      </a:endParaRPr>
                    </a:p>
                  </a:txBody>
                  <a:tcPr marT="18000" marB="18000" marR="18000" marL="18000">
                    <a:solidFill>
                      <a:schemeClr val="accent5"/>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Round to the nearest </a:t>
                      </a:r>
                      <a:r>
                        <a:rPr lang="en-GB" sz="1800" u="sng">
                          <a:solidFill>
                            <a:schemeClr val="lt1"/>
                          </a:solidFill>
                          <a:latin typeface="Lexend"/>
                          <a:ea typeface="Lexend"/>
                          <a:cs typeface="Lexend"/>
                          <a:sym typeface="Lexend"/>
                        </a:rPr>
                        <a:t>_____ </a:t>
                      </a:r>
                      <a:r>
                        <a:rPr lang="en-GB" sz="1800">
                          <a:solidFill>
                            <a:schemeClr val="lt1"/>
                          </a:solidFill>
                          <a:latin typeface="Lexend"/>
                          <a:ea typeface="Lexend"/>
                          <a:cs typeface="Lexend"/>
                          <a:sym typeface="Lexend"/>
                        </a:rPr>
                        <a:t>.</a:t>
                      </a:r>
                      <a:endParaRPr sz="1800">
                        <a:solidFill>
                          <a:schemeClr val="lt1"/>
                        </a:solidFill>
                        <a:latin typeface="Lexend"/>
                        <a:ea typeface="Lexend"/>
                        <a:cs typeface="Lexend"/>
                        <a:sym typeface="Lexend"/>
                      </a:endParaRPr>
                    </a:p>
                  </a:txBody>
                  <a:tcPr marT="18000" marB="18000" marR="18000" marL="18000">
                    <a:solidFill>
                      <a:schemeClr val="accent5"/>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Number line</a:t>
                      </a:r>
                      <a:endParaRPr sz="1800">
                        <a:solidFill>
                          <a:schemeClr val="lt1"/>
                        </a:solidFill>
                        <a:latin typeface="Lexend"/>
                        <a:ea typeface="Lexend"/>
                        <a:cs typeface="Lexend"/>
                        <a:sym typeface="Lexend"/>
                      </a:endParaRPr>
                    </a:p>
                  </a:txBody>
                  <a:tcPr marT="18000" marB="18000" marR="18000" marL="18000">
                    <a:solidFill>
                      <a:schemeClr val="accent5"/>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To 1 s.f.</a:t>
                      </a:r>
                      <a:endParaRPr sz="1800">
                        <a:solidFill>
                          <a:schemeClr val="lt1"/>
                        </a:solidFill>
                        <a:latin typeface="Lexend"/>
                        <a:ea typeface="Lexend"/>
                        <a:cs typeface="Lexend"/>
                        <a:sym typeface="Lexend"/>
                      </a:endParaRPr>
                    </a:p>
                  </a:txBody>
                  <a:tcPr marT="18000" marB="18000" marR="18000" marL="18000">
                    <a:solidFill>
                      <a:schemeClr val="accent5"/>
                    </a:solidFill>
                  </a:tcPr>
                </a:tc>
              </a:tr>
              <a:tr h="461975">
                <a:tc>
                  <a:txBody>
                    <a:bodyPr/>
                    <a:lstStyle/>
                    <a:p>
                      <a:pPr indent="0" lvl="0" marL="0" rtl="0" algn="l">
                        <a:spcBef>
                          <a:spcPts val="0"/>
                        </a:spcBef>
                        <a:spcAft>
                          <a:spcPts val="0"/>
                        </a:spcAft>
                        <a:buNone/>
                      </a:pPr>
                      <a:r>
                        <a:rPr lang="en-GB" sz="1800">
                          <a:latin typeface="Lexend"/>
                          <a:ea typeface="Lexend"/>
                          <a:cs typeface="Lexend"/>
                          <a:sym typeface="Lexend"/>
                        </a:rPr>
                        <a:t>36</a:t>
                      </a:r>
                      <a:endParaRPr sz="1800">
                        <a:latin typeface="Lexend"/>
                        <a:ea typeface="Lexend"/>
                        <a:cs typeface="Lexend"/>
                        <a:sym typeface="Lexend"/>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Kalam"/>
                          <a:ea typeface="Kalam"/>
                          <a:cs typeface="Kalam"/>
                          <a:sym typeface="Kalam"/>
                        </a:rPr>
                        <a:t>tens</a:t>
                      </a:r>
                      <a:endParaRPr sz="2000">
                        <a:latin typeface="Kalam"/>
                        <a:ea typeface="Kalam"/>
                        <a:cs typeface="Kalam"/>
                        <a:sym typeface="Kalam"/>
                      </a:endParaRPr>
                    </a:p>
                  </a:txBody>
                  <a:tcPr marT="18000" marB="18000" marR="18000" marL="18000"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GB" sz="2000">
                          <a:latin typeface="Kalam"/>
                          <a:ea typeface="Kalam"/>
                          <a:cs typeface="Kalam"/>
                          <a:sym typeface="Kalam"/>
                        </a:rPr>
                        <a:t>10</a:t>
                      </a:r>
                      <a:endParaRPr sz="2000">
                        <a:latin typeface="Kalam"/>
                        <a:ea typeface="Kalam"/>
                        <a:cs typeface="Kalam"/>
                        <a:sym typeface="Kalam"/>
                      </a:endParaRPr>
                    </a:p>
                  </a:txBody>
                  <a:tcPr marT="18000" marB="18000" marR="18000" marL="18000" anchor="ctr"/>
                </a:tc>
                <a:tc>
                  <a:txBody>
                    <a:bodyPr/>
                    <a:lstStyle/>
                    <a:p>
                      <a:pPr indent="0" lvl="0" marL="0" rtl="0" algn="l">
                        <a:spcBef>
                          <a:spcPts val="0"/>
                        </a:spcBef>
                        <a:spcAft>
                          <a:spcPts val="0"/>
                        </a:spcAft>
                        <a:buNone/>
                      </a:pPr>
                      <a:r>
                        <a:rPr lang="en-GB" sz="1800">
                          <a:latin typeface="Kalam"/>
                          <a:ea typeface="Kalam"/>
                          <a:cs typeface="Kalam"/>
                          <a:sym typeface="Kalam"/>
                        </a:rPr>
                        <a:t> 30         35        40</a:t>
                      </a:r>
                      <a:endParaRPr sz="1800">
                        <a:latin typeface="Kalam"/>
                        <a:ea typeface="Kalam"/>
                        <a:cs typeface="Kalam"/>
                        <a:sym typeface="Kalam"/>
                      </a:endParaRPr>
                    </a:p>
                  </a:txBody>
                  <a:tcPr marT="18000" marB="90000" marR="18000" marL="18000" anchor="ctr"/>
                </a:tc>
                <a:tc>
                  <a:txBody>
                    <a:bodyPr/>
                    <a:lstStyle/>
                    <a:p>
                      <a:pPr indent="0" lvl="0" marL="0" rtl="0" algn="l">
                        <a:spcBef>
                          <a:spcPts val="0"/>
                        </a:spcBef>
                        <a:spcAft>
                          <a:spcPts val="0"/>
                        </a:spcAft>
                        <a:buNone/>
                      </a:pPr>
                      <a:r>
                        <a:rPr lang="en-GB" sz="2000">
                          <a:latin typeface="Kalam"/>
                          <a:ea typeface="Kalam"/>
                          <a:cs typeface="Kalam"/>
                          <a:sym typeface="Kalam"/>
                        </a:rPr>
                        <a:t>40</a:t>
                      </a:r>
                      <a:endParaRPr sz="2000">
                        <a:latin typeface="Kalam"/>
                        <a:ea typeface="Kalam"/>
                        <a:cs typeface="Kalam"/>
                        <a:sym typeface="Kalam"/>
                      </a:endParaRPr>
                    </a:p>
                  </a:txBody>
                  <a:tcPr marT="18000" marB="18000" marR="18000" marL="18000" anchor="ctr"/>
                </a:tc>
              </a:tr>
              <a:tr h="461975">
                <a:tc>
                  <a:txBody>
                    <a:bodyPr/>
                    <a:lstStyle/>
                    <a:p>
                      <a:pPr indent="0" lvl="0" marL="0" rtl="0" algn="l">
                        <a:spcBef>
                          <a:spcPts val="0"/>
                        </a:spcBef>
                        <a:spcAft>
                          <a:spcPts val="0"/>
                        </a:spcAft>
                        <a:buNone/>
                      </a:pPr>
                      <a:r>
                        <a:rPr lang="en-GB" sz="1800">
                          <a:latin typeface="Lexend"/>
                          <a:ea typeface="Lexend"/>
                          <a:cs typeface="Lexend"/>
                          <a:sym typeface="Lexend"/>
                        </a:rPr>
                        <a:t>832</a:t>
                      </a:r>
                      <a:endParaRPr sz="1800">
                        <a:latin typeface="Lexend"/>
                        <a:ea typeface="Lexend"/>
                        <a:cs typeface="Lexend"/>
                        <a:sym typeface="Lexend"/>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Kalam"/>
                          <a:ea typeface="Kalam"/>
                          <a:cs typeface="Kalam"/>
                          <a:sym typeface="Kalam"/>
                        </a:rPr>
                        <a:t>h</a:t>
                      </a:r>
                      <a:r>
                        <a:rPr lang="en-GB" sz="2000">
                          <a:latin typeface="Kalam"/>
                          <a:ea typeface="Kalam"/>
                          <a:cs typeface="Kalam"/>
                          <a:sym typeface="Kalam"/>
                        </a:rPr>
                        <a:t>undreds</a:t>
                      </a:r>
                      <a:endParaRPr sz="2000">
                        <a:latin typeface="Kalam"/>
                        <a:ea typeface="Kalam"/>
                        <a:cs typeface="Kalam"/>
                        <a:sym typeface="Kalam"/>
                      </a:endParaRPr>
                    </a:p>
                  </a:txBody>
                  <a:tcPr marT="18000" marB="18000" marR="18000" marL="18000"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GB" sz="2000">
                          <a:latin typeface="Kalam"/>
                          <a:ea typeface="Kalam"/>
                          <a:cs typeface="Kalam"/>
                          <a:sym typeface="Kalam"/>
                        </a:rPr>
                        <a:t>100</a:t>
                      </a:r>
                      <a:endParaRPr sz="2000">
                        <a:latin typeface="Kalam"/>
                        <a:ea typeface="Kalam"/>
                        <a:cs typeface="Kalam"/>
                        <a:sym typeface="Kalam"/>
                      </a:endParaRPr>
                    </a:p>
                  </a:txBody>
                  <a:tcPr marT="18000" marB="18000" marR="18000" marL="18000" anchor="ctr"/>
                </a:tc>
                <a:tc>
                  <a:txBody>
                    <a:bodyPr/>
                    <a:lstStyle/>
                    <a:p>
                      <a:pPr indent="0" lvl="0" marL="0" rtl="0" algn="l">
                        <a:spcBef>
                          <a:spcPts val="0"/>
                        </a:spcBef>
                        <a:spcAft>
                          <a:spcPts val="0"/>
                        </a:spcAft>
                        <a:buNone/>
                      </a:pPr>
                      <a:r>
                        <a:rPr lang="en-GB" sz="1800">
                          <a:latin typeface="Kalam"/>
                          <a:ea typeface="Kalam"/>
                          <a:cs typeface="Kalam"/>
                          <a:sym typeface="Kalam"/>
                        </a:rPr>
                        <a:t> 800        850       900   </a:t>
                      </a:r>
                      <a:endParaRPr sz="1800">
                        <a:latin typeface="Kalam"/>
                        <a:ea typeface="Kalam"/>
                        <a:cs typeface="Kalam"/>
                        <a:sym typeface="Kalam"/>
                      </a:endParaRPr>
                    </a:p>
                  </a:txBody>
                  <a:tcPr marT="18000" marB="90000" marR="18000" marL="18000" anchor="ctr"/>
                </a:tc>
                <a:tc>
                  <a:txBody>
                    <a:bodyPr/>
                    <a:lstStyle/>
                    <a:p>
                      <a:pPr indent="0" lvl="0" marL="0" rtl="0" algn="l">
                        <a:spcBef>
                          <a:spcPts val="0"/>
                        </a:spcBef>
                        <a:spcAft>
                          <a:spcPts val="0"/>
                        </a:spcAft>
                        <a:buNone/>
                      </a:pPr>
                      <a:r>
                        <a:rPr lang="en-GB" sz="2000">
                          <a:latin typeface="Kalam"/>
                          <a:ea typeface="Kalam"/>
                          <a:cs typeface="Kalam"/>
                          <a:sym typeface="Kalam"/>
                        </a:rPr>
                        <a:t>800</a:t>
                      </a:r>
                      <a:endParaRPr sz="2000">
                        <a:latin typeface="Kalam"/>
                        <a:ea typeface="Kalam"/>
                        <a:cs typeface="Kalam"/>
                        <a:sym typeface="Kalam"/>
                      </a:endParaRPr>
                    </a:p>
                  </a:txBody>
                  <a:tcPr marT="18000" marB="18000" marR="18000" marL="18000" anchor="ctr"/>
                </a:tc>
              </a:tr>
              <a:tr h="461975">
                <a:tc>
                  <a:txBody>
                    <a:bodyPr/>
                    <a:lstStyle/>
                    <a:p>
                      <a:pPr indent="0" lvl="0" marL="0" rtl="0" algn="l">
                        <a:spcBef>
                          <a:spcPts val="0"/>
                        </a:spcBef>
                        <a:spcAft>
                          <a:spcPts val="0"/>
                        </a:spcAft>
                        <a:buNone/>
                      </a:pPr>
                      <a:r>
                        <a:rPr lang="en-GB" sz="1800">
                          <a:latin typeface="Lexend"/>
                          <a:ea typeface="Lexend"/>
                          <a:cs typeface="Lexend"/>
                          <a:sym typeface="Lexend"/>
                        </a:rPr>
                        <a:t>3519</a:t>
                      </a:r>
                      <a:endParaRPr sz="1800">
                        <a:latin typeface="Lexend"/>
                        <a:ea typeface="Lexend"/>
                        <a:cs typeface="Lexend"/>
                        <a:sym typeface="Lexend"/>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Kalam"/>
                          <a:ea typeface="Kalam"/>
                          <a:cs typeface="Kalam"/>
                          <a:sym typeface="Kalam"/>
                        </a:rPr>
                        <a:t>thousands</a:t>
                      </a:r>
                      <a:endParaRPr sz="2000">
                        <a:latin typeface="Kalam"/>
                        <a:ea typeface="Kalam"/>
                        <a:cs typeface="Kalam"/>
                        <a:sym typeface="Kalam"/>
                      </a:endParaRPr>
                    </a:p>
                  </a:txBody>
                  <a:tcPr marT="18000" marB="18000" marR="18000" marL="18000"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GB" sz="2000">
                          <a:latin typeface="Kalam"/>
                          <a:ea typeface="Kalam"/>
                          <a:cs typeface="Kalam"/>
                          <a:sym typeface="Kalam"/>
                        </a:rPr>
                        <a:t>1000</a:t>
                      </a:r>
                      <a:endParaRPr sz="2000">
                        <a:latin typeface="Kalam"/>
                        <a:ea typeface="Kalam"/>
                        <a:cs typeface="Kalam"/>
                        <a:sym typeface="Kalam"/>
                      </a:endParaRPr>
                    </a:p>
                  </a:txBody>
                  <a:tcPr marT="18000" marB="18000" marR="18000" marL="18000" anchor="ctr"/>
                </a:tc>
                <a:tc>
                  <a:txBody>
                    <a:bodyPr/>
                    <a:lstStyle/>
                    <a:p>
                      <a:pPr indent="0" lvl="0" marL="0" rtl="0" algn="l">
                        <a:spcBef>
                          <a:spcPts val="0"/>
                        </a:spcBef>
                        <a:spcAft>
                          <a:spcPts val="0"/>
                        </a:spcAft>
                        <a:buNone/>
                      </a:pPr>
                      <a:r>
                        <a:rPr lang="en-GB" sz="1800">
                          <a:latin typeface="Kalam"/>
                          <a:ea typeface="Kalam"/>
                          <a:cs typeface="Kalam"/>
                          <a:sym typeface="Kalam"/>
                        </a:rPr>
                        <a:t>3000       3500      4000</a:t>
                      </a:r>
                      <a:endParaRPr sz="1800">
                        <a:latin typeface="Kalam"/>
                        <a:ea typeface="Kalam"/>
                        <a:cs typeface="Kalam"/>
                        <a:sym typeface="Kalam"/>
                      </a:endParaRPr>
                    </a:p>
                  </a:txBody>
                  <a:tcPr marT="18000" marB="90000" marR="18000" marL="18000" anchor="ctr"/>
                </a:tc>
                <a:tc>
                  <a:txBody>
                    <a:bodyPr/>
                    <a:lstStyle/>
                    <a:p>
                      <a:pPr indent="0" lvl="0" marL="0" rtl="0" algn="l">
                        <a:spcBef>
                          <a:spcPts val="0"/>
                        </a:spcBef>
                        <a:spcAft>
                          <a:spcPts val="0"/>
                        </a:spcAft>
                        <a:buNone/>
                      </a:pPr>
                      <a:r>
                        <a:rPr lang="en-GB" sz="2000">
                          <a:latin typeface="Kalam"/>
                          <a:ea typeface="Kalam"/>
                          <a:cs typeface="Kalam"/>
                          <a:sym typeface="Kalam"/>
                        </a:rPr>
                        <a:t>4000</a:t>
                      </a:r>
                      <a:endParaRPr sz="2000">
                        <a:latin typeface="Kalam"/>
                        <a:ea typeface="Kalam"/>
                        <a:cs typeface="Kalam"/>
                        <a:sym typeface="Kalam"/>
                      </a:endParaRPr>
                    </a:p>
                  </a:txBody>
                  <a:tcPr marT="18000" marB="18000" marR="18000" marL="18000" anchor="ctr"/>
                </a:tc>
              </a:tr>
              <a:tr h="461975">
                <a:tc>
                  <a:txBody>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43 867.09</a:t>
                      </a:r>
                      <a:endParaRPr sz="1800">
                        <a:latin typeface="Lexend"/>
                        <a:ea typeface="Lexend"/>
                        <a:cs typeface="Lexend"/>
                        <a:sym typeface="Lexend"/>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Kalam"/>
                          <a:ea typeface="Kalam"/>
                          <a:cs typeface="Kalam"/>
                          <a:sym typeface="Kalam"/>
                        </a:rPr>
                        <a:t>10 thousands</a:t>
                      </a:r>
                      <a:endParaRPr sz="2000">
                        <a:latin typeface="Kalam"/>
                        <a:ea typeface="Kalam"/>
                        <a:cs typeface="Kalam"/>
                        <a:sym typeface="Kalam"/>
                      </a:endParaRPr>
                    </a:p>
                  </a:txBody>
                  <a:tcPr marT="18000" marB="18000" marR="18000" marL="18000"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GB" sz="2000">
                          <a:latin typeface="Kalam"/>
                          <a:ea typeface="Kalam"/>
                          <a:cs typeface="Kalam"/>
                          <a:sym typeface="Kalam"/>
                        </a:rPr>
                        <a:t>10 000</a:t>
                      </a:r>
                      <a:endParaRPr sz="2000">
                        <a:latin typeface="Kalam"/>
                        <a:ea typeface="Kalam"/>
                        <a:cs typeface="Kalam"/>
                        <a:sym typeface="Kalam"/>
                      </a:endParaRPr>
                    </a:p>
                  </a:txBody>
                  <a:tcPr marT="18000" marB="18000" marR="18000" marL="18000" anchor="ctr"/>
                </a:tc>
                <a:tc>
                  <a:txBody>
                    <a:bodyPr/>
                    <a:lstStyle/>
                    <a:p>
                      <a:pPr indent="0" lvl="0" marL="0" rtl="0" algn="l">
                        <a:spcBef>
                          <a:spcPts val="0"/>
                        </a:spcBef>
                        <a:spcAft>
                          <a:spcPts val="0"/>
                        </a:spcAft>
                        <a:buNone/>
                      </a:pPr>
                      <a:r>
                        <a:rPr lang="en-GB" sz="1800">
                          <a:latin typeface="Kalam"/>
                          <a:ea typeface="Kalam"/>
                          <a:cs typeface="Kalam"/>
                          <a:sym typeface="Kalam"/>
                        </a:rPr>
                        <a:t>40 000     45 000   50 000</a:t>
                      </a:r>
                      <a:endParaRPr sz="1800">
                        <a:latin typeface="Kalam"/>
                        <a:ea typeface="Kalam"/>
                        <a:cs typeface="Kalam"/>
                        <a:sym typeface="Kalam"/>
                      </a:endParaRPr>
                    </a:p>
                  </a:txBody>
                  <a:tcPr marT="18000" marB="90000" marR="18000" marL="18000" anchor="ctr"/>
                </a:tc>
                <a:tc>
                  <a:txBody>
                    <a:bodyPr/>
                    <a:lstStyle/>
                    <a:p>
                      <a:pPr indent="0" lvl="0" marL="0" rtl="0" algn="l">
                        <a:spcBef>
                          <a:spcPts val="0"/>
                        </a:spcBef>
                        <a:spcAft>
                          <a:spcPts val="0"/>
                        </a:spcAft>
                        <a:buNone/>
                      </a:pPr>
                      <a:r>
                        <a:rPr lang="en-GB" sz="2000">
                          <a:latin typeface="Kalam"/>
                          <a:ea typeface="Kalam"/>
                          <a:cs typeface="Kalam"/>
                          <a:sym typeface="Kalam"/>
                        </a:rPr>
                        <a:t>40 000</a:t>
                      </a:r>
                      <a:endParaRPr sz="2000">
                        <a:latin typeface="Kalam"/>
                        <a:ea typeface="Kalam"/>
                        <a:cs typeface="Kalam"/>
                        <a:sym typeface="Kalam"/>
                      </a:endParaRPr>
                    </a:p>
                  </a:txBody>
                  <a:tcPr marT="18000" marB="18000" marR="18000" marL="18000" anchor="ctr"/>
                </a:tc>
              </a:tr>
              <a:tr h="461975">
                <a:tc>
                  <a:txBody>
                    <a:bodyPr/>
                    <a:lstStyle/>
                    <a:p>
                      <a:pPr indent="0" lvl="0" marL="0" rtl="0" algn="l">
                        <a:spcBef>
                          <a:spcPts val="0"/>
                        </a:spcBef>
                        <a:spcAft>
                          <a:spcPts val="0"/>
                        </a:spcAft>
                        <a:buNone/>
                      </a:pPr>
                      <a:r>
                        <a:rPr lang="en-GB" sz="1800">
                          <a:latin typeface="Lexend"/>
                          <a:ea typeface="Lexend"/>
                          <a:cs typeface="Lexend"/>
                          <a:sym typeface="Lexend"/>
                        </a:rPr>
                        <a:t>992 782</a:t>
                      </a:r>
                      <a:endParaRPr sz="1800">
                        <a:latin typeface="Lexend"/>
                        <a:ea typeface="Lexend"/>
                        <a:cs typeface="Lexend"/>
                        <a:sym typeface="Lexend"/>
                      </a:endParaRPr>
                    </a:p>
                  </a:txBody>
                  <a:tcPr marT="18000" marB="18000" marR="18000" marL="180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Kalam"/>
                          <a:ea typeface="Kalam"/>
                          <a:cs typeface="Kalam"/>
                          <a:sym typeface="Kalam"/>
                        </a:rPr>
                        <a:t>100 thousands</a:t>
                      </a:r>
                      <a:endParaRPr sz="2000">
                        <a:latin typeface="Kalam"/>
                        <a:ea typeface="Kalam"/>
                        <a:cs typeface="Kalam"/>
                        <a:sym typeface="Kalam"/>
                      </a:endParaRPr>
                    </a:p>
                  </a:txBody>
                  <a:tcPr marT="18000" marB="18000" marR="18000" marL="18000"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GB" sz="2000">
                          <a:latin typeface="Kalam"/>
                          <a:ea typeface="Kalam"/>
                          <a:cs typeface="Kalam"/>
                          <a:sym typeface="Kalam"/>
                        </a:rPr>
                        <a:t>100 000</a:t>
                      </a:r>
                      <a:endParaRPr sz="2000">
                        <a:latin typeface="Kalam"/>
                        <a:ea typeface="Kalam"/>
                        <a:cs typeface="Kalam"/>
                        <a:sym typeface="Kalam"/>
                      </a:endParaRPr>
                    </a:p>
                  </a:txBody>
                  <a:tcPr marT="18000" marB="18000" marR="18000" marL="18000" anchor="ctr"/>
                </a:tc>
                <a:tc>
                  <a:txBody>
                    <a:bodyPr/>
                    <a:lstStyle/>
                    <a:p>
                      <a:pPr indent="0" lvl="0" marL="0" rtl="0" algn="l">
                        <a:spcBef>
                          <a:spcPts val="0"/>
                        </a:spcBef>
                        <a:spcAft>
                          <a:spcPts val="0"/>
                        </a:spcAft>
                        <a:buNone/>
                      </a:pPr>
                      <a:r>
                        <a:rPr lang="en-GB" sz="1800">
                          <a:latin typeface="Kalam"/>
                          <a:ea typeface="Kalam"/>
                          <a:cs typeface="Kalam"/>
                          <a:sym typeface="Kalam"/>
                        </a:rPr>
                        <a:t>900 000</a:t>
                      </a:r>
                      <a:r>
                        <a:rPr lang="en-GB" sz="1800">
                          <a:latin typeface="Kalam"/>
                          <a:ea typeface="Kalam"/>
                          <a:cs typeface="Kalam"/>
                          <a:sym typeface="Kalam"/>
                        </a:rPr>
                        <a:t>   950 000 1 000 000</a:t>
                      </a:r>
                      <a:endParaRPr sz="1800">
                        <a:latin typeface="Kalam"/>
                        <a:ea typeface="Kalam"/>
                        <a:cs typeface="Kalam"/>
                        <a:sym typeface="Kalam"/>
                      </a:endParaRPr>
                    </a:p>
                  </a:txBody>
                  <a:tcPr marT="18000" marB="90000" marR="18000" marL="18000" anchor="ctr"/>
                </a:tc>
                <a:tc>
                  <a:txBody>
                    <a:bodyPr/>
                    <a:lstStyle/>
                    <a:p>
                      <a:pPr indent="0" lvl="0" marL="0" rtl="0" algn="l">
                        <a:spcBef>
                          <a:spcPts val="0"/>
                        </a:spcBef>
                        <a:spcAft>
                          <a:spcPts val="0"/>
                        </a:spcAft>
                        <a:buNone/>
                      </a:pPr>
                      <a:r>
                        <a:rPr lang="en-GB" sz="1800">
                          <a:latin typeface="Kalam"/>
                          <a:ea typeface="Kalam"/>
                          <a:cs typeface="Kalam"/>
                          <a:sym typeface="Kalam"/>
                        </a:rPr>
                        <a:t>1 000 000</a:t>
                      </a:r>
                      <a:endParaRPr sz="1800">
                        <a:latin typeface="Kalam"/>
                        <a:ea typeface="Kalam"/>
                        <a:cs typeface="Kalam"/>
                        <a:sym typeface="Kalam"/>
                      </a:endParaRPr>
                    </a:p>
                  </a:txBody>
                  <a:tcPr marT="18000" marB="18000" marR="18000" marL="18000" anchor="ctr"/>
                </a:tc>
              </a:tr>
            </a:tbl>
          </a:graphicData>
        </a:graphic>
      </p:graphicFrame>
      <p:sp>
        <p:nvSpPr>
          <p:cNvPr id="1152" name="Google Shape;1152;p8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a number line for significant figures</a:t>
            </a:r>
            <a:endParaRPr/>
          </a:p>
        </p:txBody>
      </p:sp>
      <p:graphicFrame>
        <p:nvGraphicFramePr>
          <p:cNvPr id="1153" name="Google Shape;1153;p86"/>
          <p:cNvGraphicFramePr/>
          <p:nvPr/>
        </p:nvGraphicFramePr>
        <p:xfrm>
          <a:off x="4789055" y="2644537"/>
          <a:ext cx="3000000" cy="3000000"/>
        </p:xfrm>
        <a:graphic>
          <a:graphicData uri="http://schemas.openxmlformats.org/drawingml/2006/table">
            <a:tbl>
              <a:tblPr>
                <a:noFill/>
                <a:tableStyleId>{A1769C70-3405-48C6-B967-3B8FA869652B}</a:tableStyleId>
              </a:tblPr>
              <a:tblGrid>
                <a:gridCol w="1031350"/>
                <a:gridCol w="1031350"/>
              </a:tblGrid>
              <a:tr h="100000">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graphicFrame>
        <p:nvGraphicFramePr>
          <p:cNvPr id="1154" name="Google Shape;1154;p86"/>
          <p:cNvGraphicFramePr/>
          <p:nvPr/>
        </p:nvGraphicFramePr>
        <p:xfrm>
          <a:off x="4789055" y="3099889"/>
          <a:ext cx="3000000" cy="3000000"/>
        </p:xfrm>
        <a:graphic>
          <a:graphicData uri="http://schemas.openxmlformats.org/drawingml/2006/table">
            <a:tbl>
              <a:tblPr>
                <a:noFill/>
                <a:tableStyleId>{A1769C70-3405-48C6-B967-3B8FA869652B}</a:tableStyleId>
              </a:tblPr>
              <a:tblGrid>
                <a:gridCol w="1031350"/>
                <a:gridCol w="1031350"/>
              </a:tblGrid>
              <a:tr h="100000">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graphicFrame>
        <p:nvGraphicFramePr>
          <p:cNvPr id="1155" name="Google Shape;1155;p86"/>
          <p:cNvGraphicFramePr/>
          <p:nvPr/>
        </p:nvGraphicFramePr>
        <p:xfrm>
          <a:off x="4789055" y="3555242"/>
          <a:ext cx="3000000" cy="3000000"/>
        </p:xfrm>
        <a:graphic>
          <a:graphicData uri="http://schemas.openxmlformats.org/drawingml/2006/table">
            <a:tbl>
              <a:tblPr>
                <a:noFill/>
                <a:tableStyleId>{A1769C70-3405-48C6-B967-3B8FA869652B}</a:tableStyleId>
              </a:tblPr>
              <a:tblGrid>
                <a:gridCol w="1031350"/>
                <a:gridCol w="1031350"/>
              </a:tblGrid>
              <a:tr h="100000">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graphicFrame>
        <p:nvGraphicFramePr>
          <p:cNvPr id="1156" name="Google Shape;1156;p86"/>
          <p:cNvGraphicFramePr/>
          <p:nvPr/>
        </p:nvGraphicFramePr>
        <p:xfrm>
          <a:off x="4789055" y="4010594"/>
          <a:ext cx="3000000" cy="3000000"/>
        </p:xfrm>
        <a:graphic>
          <a:graphicData uri="http://schemas.openxmlformats.org/drawingml/2006/table">
            <a:tbl>
              <a:tblPr>
                <a:noFill/>
                <a:tableStyleId>{A1769C70-3405-48C6-B967-3B8FA869652B}</a:tableStyleId>
              </a:tblPr>
              <a:tblGrid>
                <a:gridCol w="1031350"/>
                <a:gridCol w="1031350"/>
              </a:tblGrid>
              <a:tr h="100000">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graphicFrame>
        <p:nvGraphicFramePr>
          <p:cNvPr id="1157" name="Google Shape;1157;p86"/>
          <p:cNvGraphicFramePr/>
          <p:nvPr/>
        </p:nvGraphicFramePr>
        <p:xfrm>
          <a:off x="4789055" y="4476020"/>
          <a:ext cx="3000000" cy="3000000"/>
        </p:xfrm>
        <a:graphic>
          <a:graphicData uri="http://schemas.openxmlformats.org/drawingml/2006/table">
            <a:tbl>
              <a:tblPr>
                <a:noFill/>
                <a:tableStyleId>{A1769C70-3405-48C6-B967-3B8FA869652B}</a:tableStyleId>
              </a:tblPr>
              <a:tblGrid>
                <a:gridCol w="1031350"/>
                <a:gridCol w="1031350"/>
              </a:tblGrid>
              <a:tr h="100000">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1158" name="Google Shape;1158;p86"/>
          <p:cNvSpPr/>
          <p:nvPr/>
        </p:nvSpPr>
        <p:spPr>
          <a:xfrm>
            <a:off x="5960675" y="2265975"/>
            <a:ext cx="110700" cy="302400"/>
          </a:xfrm>
          <a:prstGeom prst="downArrow">
            <a:avLst>
              <a:gd fmla="val 50000" name="adj1"/>
              <a:gd fmla="val 50000" name="adj2"/>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9" name="Google Shape;1159;p86"/>
          <p:cNvSpPr/>
          <p:nvPr/>
        </p:nvSpPr>
        <p:spPr>
          <a:xfrm>
            <a:off x="5449950" y="2724650"/>
            <a:ext cx="110700" cy="302400"/>
          </a:xfrm>
          <a:prstGeom prst="downArrow">
            <a:avLst>
              <a:gd fmla="val 50000" name="adj1"/>
              <a:gd fmla="val 50000" name="adj2"/>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0" name="Google Shape;1160;p86"/>
          <p:cNvSpPr/>
          <p:nvPr/>
        </p:nvSpPr>
        <p:spPr>
          <a:xfrm>
            <a:off x="6046750" y="3204250"/>
            <a:ext cx="110700" cy="302400"/>
          </a:xfrm>
          <a:prstGeom prst="downArrow">
            <a:avLst>
              <a:gd fmla="val 50000" name="adj1"/>
              <a:gd fmla="val 50000" name="adj2"/>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1" name="Google Shape;1161;p86"/>
          <p:cNvSpPr/>
          <p:nvPr/>
        </p:nvSpPr>
        <p:spPr>
          <a:xfrm>
            <a:off x="5332730" y="3670949"/>
            <a:ext cx="110700" cy="302400"/>
          </a:xfrm>
          <a:prstGeom prst="downArrow">
            <a:avLst>
              <a:gd fmla="val 50000" name="adj1"/>
              <a:gd fmla="val 50000" name="adj2"/>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2" name="Google Shape;1162;p86"/>
          <p:cNvSpPr/>
          <p:nvPr/>
        </p:nvSpPr>
        <p:spPr>
          <a:xfrm flipH="1" rot="10800000">
            <a:off x="6660875" y="4572291"/>
            <a:ext cx="110700" cy="302400"/>
          </a:xfrm>
          <a:prstGeom prst="downArrow">
            <a:avLst>
              <a:gd fmla="val 50000" name="adj1"/>
              <a:gd fmla="val 50000" name="adj2"/>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3" name="Google Shape;1163;p86"/>
          <p:cNvSpPr txBox="1"/>
          <p:nvPr>
            <p:ph idx="1" type="body"/>
          </p:nvPr>
        </p:nvSpPr>
        <p:spPr>
          <a:xfrm>
            <a:off x="324000" y="759300"/>
            <a:ext cx="82377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2)  Complete the following:</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87"/>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Identifying significant figures</a:t>
            </a:r>
            <a:endParaRPr/>
          </a:p>
        </p:txBody>
      </p:sp>
      <p:sp>
        <p:nvSpPr>
          <p:cNvPr id="1169" name="Google Shape;1169;p87"/>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number line for significant figures</a:t>
            </a:r>
            <a:endParaRPr/>
          </a:p>
        </p:txBody>
      </p:sp>
      <p:sp>
        <p:nvSpPr>
          <p:cNvPr id="1170" name="Google Shape;1170;p87"/>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Rounding integers to one significant figure</a:t>
            </a:r>
            <a:endParaRPr/>
          </a:p>
        </p:txBody>
      </p:sp>
      <p:pic>
        <p:nvPicPr>
          <p:cNvPr id="1171" name="Google Shape;1171;p87"/>
          <p:cNvPicPr preferRelativeResize="0"/>
          <p:nvPr/>
        </p:nvPicPr>
        <p:blipFill>
          <a:blip r:embed="rId3">
            <a:alphaModFix/>
          </a:blip>
          <a:stretch>
            <a:fillRect/>
          </a:stretch>
        </p:blipFill>
        <p:spPr>
          <a:xfrm>
            <a:off x="418375" y="3700475"/>
            <a:ext cx="450575" cy="446750"/>
          </a:xfrm>
          <a:prstGeom prst="rect">
            <a:avLst/>
          </a:prstGeom>
          <a:noFill/>
          <a:ln>
            <a:noFill/>
          </a:ln>
        </p:spPr>
      </p:pic>
      <p:sp>
        <p:nvSpPr>
          <p:cNvPr id="1172" name="Google Shape;1172;p87"/>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Rounding to one significant figure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Rounding to one significant figure</a:t>
            </a:r>
            <a:endParaRPr/>
          </a:p>
        </p:txBody>
      </p:sp>
      <p:sp>
        <p:nvSpPr>
          <p:cNvPr id="1178" name="Google Shape;1178;p88"/>
          <p:cNvSpPr txBox="1"/>
          <p:nvPr>
            <p:ph idx="1" type="body"/>
          </p:nvPr>
        </p:nvSpPr>
        <p:spPr>
          <a:xfrm>
            <a:off x="324000" y="606900"/>
            <a:ext cx="8237700" cy="378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Round 65 784 to one </a:t>
            </a:r>
            <a:r>
              <a:rPr b="1" lang="en-GB" sz="2000"/>
              <a:t>significant figure</a:t>
            </a:r>
            <a:r>
              <a:rPr lang="en-GB" sz="2000"/>
              <a:t>.</a:t>
            </a:r>
            <a:endParaRPr sz="2000"/>
          </a:p>
        </p:txBody>
      </p:sp>
      <p:graphicFrame>
        <p:nvGraphicFramePr>
          <p:cNvPr id="1179" name="Google Shape;1179;p88"/>
          <p:cNvGraphicFramePr/>
          <p:nvPr/>
        </p:nvGraphicFramePr>
        <p:xfrm>
          <a:off x="1065176" y="947041"/>
          <a:ext cx="3000000" cy="3000000"/>
        </p:xfrm>
        <a:graphic>
          <a:graphicData uri="http://schemas.openxmlformats.org/drawingml/2006/table">
            <a:tbl>
              <a:tblPr>
                <a:noFill/>
                <a:tableStyleId>{A1769C70-3405-48C6-B967-3B8FA869652B}</a:tableStyleId>
              </a:tblPr>
              <a:tblGrid>
                <a:gridCol w="458850"/>
                <a:gridCol w="458850"/>
                <a:gridCol w="458850"/>
                <a:gridCol w="458850"/>
                <a:gridCol w="458850"/>
                <a:gridCol w="458850"/>
                <a:gridCol w="458850"/>
                <a:gridCol w="458850"/>
                <a:gridCol w="458850"/>
                <a:gridCol w="458850"/>
                <a:gridCol w="458850"/>
                <a:gridCol w="458850"/>
                <a:gridCol w="458850"/>
                <a:gridCol w="458850"/>
                <a:gridCol w="458850"/>
              </a:tblGrid>
              <a:tr h="458200">
                <a:tc>
                  <a:txBody>
                    <a:bodyPr/>
                    <a:lstStyle/>
                    <a:p>
                      <a:pPr indent="0" lvl="0" marL="0" rtl="0" algn="ctr">
                        <a:spcBef>
                          <a:spcPts val="0"/>
                        </a:spcBef>
                        <a:spcAft>
                          <a:spcPts val="0"/>
                        </a:spcAft>
                        <a:buNone/>
                      </a:pPr>
                      <a:r>
                        <a:rPr lang="en-GB" sz="1300">
                          <a:latin typeface="Lexend"/>
                          <a:ea typeface="Lexend"/>
                          <a:cs typeface="Lexend"/>
                          <a:sym typeface="Lexend"/>
                        </a:rPr>
                        <a:t>HMn</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TMn</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Mn</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solidFill>
                            <a:srgbClr val="000000"/>
                          </a:solidFill>
                          <a:latin typeface="Lexend"/>
                          <a:ea typeface="Lexend"/>
                          <a:cs typeface="Lexend"/>
                          <a:sym typeface="Lexend"/>
                        </a:rPr>
                        <a:t>T</a:t>
                      </a:r>
                      <a:endParaRPr>
                        <a:solidFill>
                          <a:srgbClr val="000000"/>
                        </a:solidFill>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O</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Mh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82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6</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7</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8</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4</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180" name="Google Shape;1180;p88"/>
          <p:cNvSpPr/>
          <p:nvPr/>
        </p:nvSpPr>
        <p:spPr>
          <a:xfrm>
            <a:off x="2980087" y="997241"/>
            <a:ext cx="347400" cy="313500"/>
          </a:xfrm>
          <a:prstGeom prst="roundRect">
            <a:avLst>
              <a:gd fmla="val 16667" name="adj"/>
            </a:avLst>
          </a:prstGeom>
          <a:no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1" name="Google Shape;1181;p88"/>
          <p:cNvSpPr txBox="1"/>
          <p:nvPr/>
        </p:nvSpPr>
        <p:spPr>
          <a:xfrm>
            <a:off x="5179950" y="1367766"/>
            <a:ext cx="122100" cy="378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000000"/>
                </a:solidFill>
                <a:latin typeface="Lexend"/>
                <a:ea typeface="Lexend"/>
                <a:cs typeface="Lexend"/>
                <a:sym typeface="Lexend"/>
              </a:rPr>
              <a:t>.</a:t>
            </a:r>
            <a:endParaRPr sz="2200">
              <a:solidFill>
                <a:srgbClr val="000000"/>
              </a:solidFill>
              <a:latin typeface="Lexend"/>
              <a:ea typeface="Lexend"/>
              <a:cs typeface="Lexend"/>
              <a:sym typeface="Lexend"/>
            </a:endParaRPr>
          </a:p>
        </p:txBody>
      </p:sp>
      <p:grpSp>
        <p:nvGrpSpPr>
          <p:cNvPr id="1182" name="Google Shape;1182;p88"/>
          <p:cNvGrpSpPr/>
          <p:nvPr/>
        </p:nvGrpSpPr>
        <p:grpSpPr>
          <a:xfrm>
            <a:off x="5179950" y="935035"/>
            <a:ext cx="2034410" cy="378900"/>
            <a:chOff x="5179950" y="1621174"/>
            <a:chExt cx="2034410" cy="378900"/>
          </a:xfrm>
        </p:grpSpPr>
        <p:sp>
          <p:nvSpPr>
            <p:cNvPr id="1183" name="Google Shape;1183;p88"/>
            <p:cNvSpPr txBox="1"/>
            <p:nvPr/>
          </p:nvSpPr>
          <p:spPr>
            <a:xfrm>
              <a:off x="5179950" y="1621174"/>
              <a:ext cx="122100" cy="378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000000"/>
                  </a:solidFill>
                  <a:latin typeface="Lexend"/>
                  <a:ea typeface="Lexend"/>
                  <a:cs typeface="Lexend"/>
                  <a:sym typeface="Lexend"/>
                </a:rPr>
                <a:t>.</a:t>
              </a:r>
              <a:endParaRPr sz="2200">
                <a:solidFill>
                  <a:srgbClr val="000000"/>
                </a:solidFill>
                <a:latin typeface="Lexend"/>
                <a:ea typeface="Lexend"/>
                <a:cs typeface="Lexend"/>
                <a:sym typeface="Lexend"/>
              </a:endParaRPr>
            </a:p>
          </p:txBody>
        </p:sp>
        <p:grpSp>
          <p:nvGrpSpPr>
            <p:cNvPr id="1184" name="Google Shape;1184;p88"/>
            <p:cNvGrpSpPr/>
            <p:nvPr/>
          </p:nvGrpSpPr>
          <p:grpSpPr>
            <a:xfrm>
              <a:off x="5418426" y="1633180"/>
              <a:ext cx="1795934" cy="228900"/>
              <a:chOff x="6744625" y="1655350"/>
              <a:chExt cx="1795934" cy="228900"/>
            </a:xfrm>
          </p:grpSpPr>
          <p:sp>
            <p:nvSpPr>
              <p:cNvPr id="1185" name="Google Shape;1185;p88"/>
              <p:cNvSpPr txBox="1"/>
              <p:nvPr/>
            </p:nvSpPr>
            <p:spPr>
              <a:xfrm>
                <a:off x="6744625"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1186" name="Google Shape;1186;p88"/>
              <p:cNvSpPr txBox="1"/>
              <p:nvPr/>
            </p:nvSpPr>
            <p:spPr>
              <a:xfrm>
                <a:off x="7228396"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1187" name="Google Shape;1187;p88"/>
              <p:cNvSpPr txBox="1"/>
              <p:nvPr/>
            </p:nvSpPr>
            <p:spPr>
              <a:xfrm>
                <a:off x="7650193"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1188" name="Google Shape;1188;p88"/>
              <p:cNvSpPr txBox="1"/>
              <p:nvPr/>
            </p:nvSpPr>
            <p:spPr>
              <a:xfrm>
                <a:off x="8152359"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grpSp>
      </p:grpSp>
      <p:grpSp>
        <p:nvGrpSpPr>
          <p:cNvPr id="1189" name="Google Shape;1189;p88"/>
          <p:cNvGrpSpPr/>
          <p:nvPr/>
        </p:nvGrpSpPr>
        <p:grpSpPr>
          <a:xfrm>
            <a:off x="7289193" y="947041"/>
            <a:ext cx="839567" cy="228900"/>
            <a:chOff x="7700993" y="1655350"/>
            <a:chExt cx="839567" cy="228900"/>
          </a:xfrm>
        </p:grpSpPr>
        <p:sp>
          <p:nvSpPr>
            <p:cNvPr id="1190" name="Google Shape;1190;p88"/>
            <p:cNvSpPr txBox="1"/>
            <p:nvPr/>
          </p:nvSpPr>
          <p:spPr>
            <a:xfrm>
              <a:off x="7700993"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1191" name="Google Shape;1191;p88"/>
            <p:cNvSpPr txBox="1"/>
            <p:nvPr/>
          </p:nvSpPr>
          <p:spPr>
            <a:xfrm>
              <a:off x="8152359"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grpSp>
      <p:grpSp>
        <p:nvGrpSpPr>
          <p:cNvPr id="1192" name="Google Shape;1192;p88"/>
          <p:cNvGrpSpPr/>
          <p:nvPr/>
        </p:nvGrpSpPr>
        <p:grpSpPr>
          <a:xfrm>
            <a:off x="2918287" y="1517741"/>
            <a:ext cx="2577900" cy="313500"/>
            <a:chOff x="4823287" y="1899080"/>
            <a:chExt cx="2577900" cy="313500"/>
          </a:xfrm>
        </p:grpSpPr>
        <p:grpSp>
          <p:nvGrpSpPr>
            <p:cNvPr id="1193" name="Google Shape;1193;p88"/>
            <p:cNvGrpSpPr/>
            <p:nvPr/>
          </p:nvGrpSpPr>
          <p:grpSpPr>
            <a:xfrm>
              <a:off x="4823287" y="1899080"/>
              <a:ext cx="2196900" cy="313500"/>
              <a:chOff x="4411875" y="4131050"/>
              <a:chExt cx="2196900" cy="313500"/>
            </a:xfrm>
          </p:grpSpPr>
          <p:sp>
            <p:nvSpPr>
              <p:cNvPr id="1194" name="Google Shape;1194;p88"/>
              <p:cNvSpPr/>
              <p:nvPr/>
            </p:nvSpPr>
            <p:spPr>
              <a:xfrm>
                <a:off x="4411875" y="4131050"/>
                <a:ext cx="273600" cy="3135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5" name="Google Shape;1195;p88"/>
              <p:cNvSpPr/>
              <p:nvPr/>
            </p:nvSpPr>
            <p:spPr>
              <a:xfrm>
                <a:off x="4904225" y="4131050"/>
                <a:ext cx="273600" cy="3135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6" name="Google Shape;1196;p88"/>
              <p:cNvSpPr/>
              <p:nvPr/>
            </p:nvSpPr>
            <p:spPr>
              <a:xfrm>
                <a:off x="5396575" y="4131050"/>
                <a:ext cx="273600" cy="3135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7" name="Google Shape;1197;p88"/>
              <p:cNvSpPr/>
              <p:nvPr/>
            </p:nvSpPr>
            <p:spPr>
              <a:xfrm>
                <a:off x="5835450" y="4131050"/>
                <a:ext cx="273600" cy="3135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8" name="Google Shape;1198;p88"/>
              <p:cNvSpPr/>
              <p:nvPr/>
            </p:nvSpPr>
            <p:spPr>
              <a:xfrm>
                <a:off x="6335175" y="4131050"/>
                <a:ext cx="273600" cy="3135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199" name="Google Shape;1199;p88"/>
            <p:cNvSpPr/>
            <p:nvPr/>
          </p:nvSpPr>
          <p:spPr>
            <a:xfrm>
              <a:off x="7127587" y="1899080"/>
              <a:ext cx="273600" cy="3135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200" name="Google Shape;1200;p88"/>
          <p:cNvSpPr/>
          <p:nvPr/>
        </p:nvSpPr>
        <p:spPr>
          <a:xfrm flipH="1">
            <a:off x="3519145" y="2051961"/>
            <a:ext cx="426300" cy="273300"/>
          </a:xfrm>
          <a:prstGeom prst="bentUpArrow">
            <a:avLst>
              <a:gd fmla="val 25000" name="adj1"/>
              <a:gd fmla="val 25000" name="adj2"/>
              <a:gd fmla="val 25000" name="adj3"/>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1" name="Google Shape;1201;p88"/>
          <p:cNvSpPr txBox="1"/>
          <p:nvPr/>
        </p:nvSpPr>
        <p:spPr>
          <a:xfrm>
            <a:off x="4020495" y="2087548"/>
            <a:ext cx="4382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5 is </a:t>
            </a:r>
            <a:r>
              <a:rPr lang="en-GB" sz="1800">
                <a:latin typeface="Lexend"/>
                <a:ea typeface="Lexend"/>
                <a:cs typeface="Lexend"/>
                <a:sym typeface="Lexend"/>
              </a:rPr>
              <a:t>exactly</a:t>
            </a:r>
            <a:r>
              <a:rPr lang="en-GB" sz="1800">
                <a:latin typeface="Lexend"/>
                <a:ea typeface="Lexend"/>
                <a:cs typeface="Lexend"/>
                <a:sym typeface="Lexend"/>
              </a:rPr>
              <a:t> halfway</a:t>
            </a:r>
            <a:endParaRPr sz="1800">
              <a:solidFill>
                <a:srgbClr val="000000"/>
              </a:solidFill>
              <a:latin typeface="Lexend"/>
              <a:ea typeface="Lexend"/>
              <a:cs typeface="Lexend"/>
              <a:sym typeface="Lexend"/>
            </a:endParaRPr>
          </a:p>
        </p:txBody>
      </p:sp>
      <p:sp>
        <p:nvSpPr>
          <p:cNvPr id="1202" name="Google Shape;1202;p88"/>
          <p:cNvSpPr txBox="1"/>
          <p:nvPr/>
        </p:nvSpPr>
        <p:spPr>
          <a:xfrm>
            <a:off x="324000" y="3208549"/>
            <a:ext cx="78852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rgbClr val="000000"/>
                </a:solidFill>
                <a:latin typeface="Lexend"/>
                <a:ea typeface="Lexend"/>
                <a:cs typeface="Lexend"/>
                <a:sym typeface="Lexend"/>
              </a:rPr>
              <a:t>Therefore, we </a:t>
            </a:r>
            <a:r>
              <a:rPr lang="en-GB" sz="2000">
                <a:latin typeface="Lexend"/>
                <a:ea typeface="Lexend"/>
                <a:cs typeface="Lexend"/>
                <a:sym typeface="Lexend"/>
              </a:rPr>
              <a:t>increase the digit in the 10 000 column by 1</a:t>
            </a:r>
            <a:endParaRPr sz="2000">
              <a:solidFill>
                <a:srgbClr val="000000"/>
              </a:solidFill>
              <a:latin typeface="Lexend"/>
              <a:ea typeface="Lexend"/>
              <a:cs typeface="Lexend"/>
              <a:sym typeface="Lexend"/>
            </a:endParaRPr>
          </a:p>
          <a:p>
            <a:pPr indent="0" lvl="0" marL="0" rtl="0" algn="l">
              <a:spcBef>
                <a:spcPts val="0"/>
              </a:spcBef>
              <a:spcAft>
                <a:spcPts val="0"/>
              </a:spcAft>
              <a:buNone/>
            </a:pPr>
            <a:r>
              <a:rPr lang="en-GB" sz="2000">
                <a:latin typeface="Kalam"/>
                <a:ea typeface="Kalam"/>
                <a:cs typeface="Kalam"/>
                <a:sym typeface="Kalam"/>
              </a:rPr>
              <a:t>65 784</a:t>
            </a:r>
            <a:r>
              <a:rPr lang="en-GB" sz="2000">
                <a:latin typeface="Kalam"/>
                <a:ea typeface="Kalam"/>
                <a:cs typeface="Kalam"/>
                <a:sym typeface="Kalam"/>
              </a:rPr>
              <a:t> = 70 000 (1 s.f.)</a:t>
            </a:r>
            <a:endParaRPr sz="2000">
              <a:solidFill>
                <a:srgbClr val="000000"/>
              </a:solidFill>
              <a:latin typeface="Kalam"/>
              <a:ea typeface="Kalam"/>
              <a:cs typeface="Kalam"/>
              <a:sym typeface="Kalam"/>
            </a:endParaRPr>
          </a:p>
        </p:txBody>
      </p:sp>
      <p:sp>
        <p:nvSpPr>
          <p:cNvPr id="1203" name="Google Shape;1203;p88"/>
          <p:cNvSpPr txBox="1"/>
          <p:nvPr/>
        </p:nvSpPr>
        <p:spPr>
          <a:xfrm>
            <a:off x="324000" y="2485886"/>
            <a:ext cx="84960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Lexend"/>
                <a:ea typeface="Lexend"/>
                <a:cs typeface="Lexend"/>
                <a:sym typeface="Lexend"/>
              </a:rPr>
              <a:t>The first </a:t>
            </a:r>
            <a:r>
              <a:rPr b="1" lang="en-GB" sz="2000">
                <a:latin typeface="Lexend"/>
                <a:ea typeface="Lexend"/>
                <a:cs typeface="Lexend"/>
                <a:sym typeface="Lexend"/>
              </a:rPr>
              <a:t>significant figure</a:t>
            </a:r>
            <a:r>
              <a:rPr lang="en-GB" sz="2000">
                <a:latin typeface="Lexend"/>
                <a:ea typeface="Lexend"/>
                <a:cs typeface="Lexend"/>
                <a:sym typeface="Lexend"/>
              </a:rPr>
              <a:t> is in the </a:t>
            </a:r>
            <a:r>
              <a:rPr lang="en-GB" sz="2000">
                <a:solidFill>
                  <a:schemeClr val="accent2"/>
                </a:solidFill>
                <a:latin typeface="Lexend"/>
                <a:ea typeface="Lexend"/>
                <a:cs typeface="Lexend"/>
                <a:sym typeface="Lexend"/>
              </a:rPr>
              <a:t>ten thousand</a:t>
            </a:r>
            <a:r>
              <a:rPr lang="en-GB" sz="2000">
                <a:solidFill>
                  <a:schemeClr val="accent2"/>
                </a:solidFill>
                <a:latin typeface="Lexend"/>
                <a:ea typeface="Lexend"/>
                <a:cs typeface="Lexend"/>
                <a:sym typeface="Lexend"/>
              </a:rPr>
              <a:t>s</a:t>
            </a:r>
            <a:r>
              <a:rPr lang="en-GB" sz="2000">
                <a:latin typeface="Lexend"/>
                <a:ea typeface="Lexend"/>
                <a:cs typeface="Lexend"/>
                <a:sym typeface="Lexend"/>
              </a:rPr>
              <a:t> column.</a:t>
            </a:r>
            <a:endParaRPr sz="2000">
              <a:latin typeface="Lexend"/>
              <a:ea typeface="Lexend"/>
              <a:cs typeface="Lexend"/>
              <a:sym typeface="Lexend"/>
            </a:endParaRPr>
          </a:p>
          <a:p>
            <a:pPr indent="0" lvl="0" marL="0" rtl="0" algn="l">
              <a:spcBef>
                <a:spcPts val="0"/>
              </a:spcBef>
              <a:spcAft>
                <a:spcPts val="0"/>
              </a:spcAft>
              <a:buNone/>
            </a:pPr>
            <a:r>
              <a:rPr lang="en-GB" sz="2000">
                <a:latin typeface="Lexend"/>
                <a:ea typeface="Lexend"/>
                <a:cs typeface="Lexend"/>
                <a:sym typeface="Lexend"/>
              </a:rPr>
              <a:t>Therefore, we round to the nearest </a:t>
            </a:r>
            <a:r>
              <a:rPr lang="en-GB" sz="2000">
                <a:solidFill>
                  <a:schemeClr val="accent2"/>
                </a:solidFill>
                <a:latin typeface="Lexend"/>
                <a:ea typeface="Lexend"/>
                <a:cs typeface="Lexend"/>
                <a:sym typeface="Lexend"/>
              </a:rPr>
              <a:t>ten thousand</a:t>
            </a:r>
            <a:r>
              <a:rPr lang="en-GB" sz="2000">
                <a:latin typeface="Lexend"/>
                <a:ea typeface="Lexend"/>
                <a:cs typeface="Lexend"/>
                <a:sym typeface="Lexend"/>
              </a:rPr>
              <a:t>. </a:t>
            </a:r>
            <a:endParaRPr sz="2000">
              <a:solidFill>
                <a:srgbClr val="000000"/>
              </a:solidFill>
              <a:latin typeface="Lexend"/>
              <a:ea typeface="Lexend"/>
              <a:cs typeface="Lexend"/>
              <a:sym typeface="Lexend"/>
            </a:endParaRPr>
          </a:p>
        </p:txBody>
      </p:sp>
      <p:sp>
        <p:nvSpPr>
          <p:cNvPr id="1204" name="Google Shape;1204;p88"/>
          <p:cNvSpPr txBox="1"/>
          <p:nvPr/>
        </p:nvSpPr>
        <p:spPr>
          <a:xfrm>
            <a:off x="354412" y="3931211"/>
            <a:ext cx="80304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Lexend"/>
                <a:ea typeface="Lexend"/>
                <a:cs typeface="Lexend"/>
                <a:sym typeface="Lexend"/>
              </a:rPr>
              <a:t>Ensure that the place holders are used in the thousands, hundreds, tens and ones columns to maintain the place value of the 7</a:t>
            </a:r>
            <a:endParaRPr sz="2000">
              <a:solidFill>
                <a:srgbClr val="000000"/>
              </a:solidFill>
              <a:latin typeface="Kalam"/>
              <a:ea typeface="Kalam"/>
              <a:cs typeface="Kalam"/>
              <a:sym typeface="Kalam"/>
            </a:endParaRPr>
          </a:p>
        </p:txBody>
      </p:sp>
      <p:sp>
        <p:nvSpPr>
          <p:cNvPr id="1205" name="Google Shape;1205;p88"/>
          <p:cNvSpPr/>
          <p:nvPr/>
        </p:nvSpPr>
        <p:spPr>
          <a:xfrm>
            <a:off x="3010386" y="1502473"/>
            <a:ext cx="286800" cy="313500"/>
          </a:xfrm>
          <a:prstGeom prst="roundRect">
            <a:avLst>
              <a:gd fmla="val 16667" name="adj"/>
            </a:avLst>
          </a:prstGeom>
          <a:no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6" name="Google Shape;1206;p88"/>
          <p:cNvSpPr/>
          <p:nvPr/>
        </p:nvSpPr>
        <p:spPr>
          <a:xfrm>
            <a:off x="3443518" y="1502461"/>
            <a:ext cx="286800" cy="3135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9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1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Rounding to one significant figure</a:t>
            </a:r>
            <a:endParaRPr/>
          </a:p>
        </p:txBody>
      </p:sp>
      <p:sp>
        <p:nvSpPr>
          <p:cNvPr id="1212" name="Google Shape;1212;p89"/>
          <p:cNvSpPr txBox="1"/>
          <p:nvPr>
            <p:ph idx="1" type="body"/>
          </p:nvPr>
        </p:nvSpPr>
        <p:spPr>
          <a:xfrm>
            <a:off x="324000" y="606900"/>
            <a:ext cx="8237700" cy="378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Round 1345.02 to one </a:t>
            </a:r>
            <a:r>
              <a:rPr b="1" lang="en-GB" sz="2000"/>
              <a:t>significant figure</a:t>
            </a:r>
            <a:r>
              <a:rPr lang="en-GB" sz="2000"/>
              <a:t>.</a:t>
            </a:r>
            <a:endParaRPr sz="2000"/>
          </a:p>
        </p:txBody>
      </p:sp>
      <p:graphicFrame>
        <p:nvGraphicFramePr>
          <p:cNvPr id="1213" name="Google Shape;1213;p89"/>
          <p:cNvGraphicFramePr/>
          <p:nvPr/>
        </p:nvGraphicFramePr>
        <p:xfrm>
          <a:off x="1065176" y="1099554"/>
          <a:ext cx="3000000" cy="3000000"/>
        </p:xfrm>
        <a:graphic>
          <a:graphicData uri="http://schemas.openxmlformats.org/drawingml/2006/table">
            <a:tbl>
              <a:tblPr>
                <a:noFill/>
                <a:tableStyleId>{A1769C70-3405-48C6-B967-3B8FA869652B}</a:tableStyleId>
              </a:tblPr>
              <a:tblGrid>
                <a:gridCol w="458850"/>
                <a:gridCol w="458850"/>
                <a:gridCol w="458850"/>
                <a:gridCol w="458850"/>
                <a:gridCol w="458850"/>
                <a:gridCol w="458850"/>
                <a:gridCol w="458850"/>
                <a:gridCol w="458850"/>
                <a:gridCol w="458850"/>
                <a:gridCol w="458850"/>
                <a:gridCol w="458850"/>
                <a:gridCol w="458850"/>
                <a:gridCol w="458850"/>
                <a:gridCol w="458850"/>
                <a:gridCol w="458850"/>
              </a:tblGrid>
              <a:tr h="458200">
                <a:tc>
                  <a:txBody>
                    <a:bodyPr/>
                    <a:lstStyle/>
                    <a:p>
                      <a:pPr indent="0" lvl="0" marL="0" rtl="0" algn="ctr">
                        <a:spcBef>
                          <a:spcPts val="0"/>
                        </a:spcBef>
                        <a:spcAft>
                          <a:spcPts val="0"/>
                        </a:spcAft>
                        <a:buNone/>
                      </a:pPr>
                      <a:r>
                        <a:rPr lang="en-GB" sz="1300">
                          <a:latin typeface="Lexend"/>
                          <a:ea typeface="Lexend"/>
                          <a:cs typeface="Lexend"/>
                          <a:sym typeface="Lexend"/>
                        </a:rPr>
                        <a:t>HMn</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TMn</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Mn</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solidFill>
                            <a:srgbClr val="000000"/>
                          </a:solidFill>
                          <a:latin typeface="Lexend"/>
                          <a:ea typeface="Lexend"/>
                          <a:cs typeface="Lexend"/>
                          <a:sym typeface="Lexend"/>
                        </a:rPr>
                        <a:t>T</a:t>
                      </a:r>
                      <a:endParaRPr>
                        <a:solidFill>
                          <a:srgbClr val="000000"/>
                        </a:solidFill>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O</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Mh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82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4</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0</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214" name="Google Shape;1214;p89"/>
          <p:cNvSpPr/>
          <p:nvPr/>
        </p:nvSpPr>
        <p:spPr>
          <a:xfrm>
            <a:off x="3437287" y="1149754"/>
            <a:ext cx="347400" cy="313500"/>
          </a:xfrm>
          <a:prstGeom prst="roundRect">
            <a:avLst>
              <a:gd fmla="val 16667" name="adj"/>
            </a:avLst>
          </a:prstGeom>
          <a:no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5" name="Google Shape;1215;p89"/>
          <p:cNvSpPr txBox="1"/>
          <p:nvPr/>
        </p:nvSpPr>
        <p:spPr>
          <a:xfrm>
            <a:off x="5179950" y="1520279"/>
            <a:ext cx="122100" cy="378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000000"/>
                </a:solidFill>
                <a:latin typeface="Lexend"/>
                <a:ea typeface="Lexend"/>
                <a:cs typeface="Lexend"/>
                <a:sym typeface="Lexend"/>
              </a:rPr>
              <a:t>.</a:t>
            </a:r>
            <a:endParaRPr sz="2200">
              <a:solidFill>
                <a:srgbClr val="000000"/>
              </a:solidFill>
              <a:latin typeface="Lexend"/>
              <a:ea typeface="Lexend"/>
              <a:cs typeface="Lexend"/>
              <a:sym typeface="Lexend"/>
            </a:endParaRPr>
          </a:p>
        </p:txBody>
      </p:sp>
      <p:grpSp>
        <p:nvGrpSpPr>
          <p:cNvPr id="1216" name="Google Shape;1216;p89"/>
          <p:cNvGrpSpPr/>
          <p:nvPr/>
        </p:nvGrpSpPr>
        <p:grpSpPr>
          <a:xfrm>
            <a:off x="5179950" y="1087548"/>
            <a:ext cx="2034410" cy="378900"/>
            <a:chOff x="5179950" y="1621174"/>
            <a:chExt cx="2034410" cy="378900"/>
          </a:xfrm>
        </p:grpSpPr>
        <p:sp>
          <p:nvSpPr>
            <p:cNvPr id="1217" name="Google Shape;1217;p89"/>
            <p:cNvSpPr txBox="1"/>
            <p:nvPr/>
          </p:nvSpPr>
          <p:spPr>
            <a:xfrm>
              <a:off x="5179950" y="1621174"/>
              <a:ext cx="122100" cy="378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000000"/>
                  </a:solidFill>
                  <a:latin typeface="Lexend"/>
                  <a:ea typeface="Lexend"/>
                  <a:cs typeface="Lexend"/>
                  <a:sym typeface="Lexend"/>
                </a:rPr>
                <a:t>.</a:t>
              </a:r>
              <a:endParaRPr sz="2200">
                <a:solidFill>
                  <a:srgbClr val="000000"/>
                </a:solidFill>
                <a:latin typeface="Lexend"/>
                <a:ea typeface="Lexend"/>
                <a:cs typeface="Lexend"/>
                <a:sym typeface="Lexend"/>
              </a:endParaRPr>
            </a:p>
          </p:txBody>
        </p:sp>
        <p:grpSp>
          <p:nvGrpSpPr>
            <p:cNvPr id="1218" name="Google Shape;1218;p89"/>
            <p:cNvGrpSpPr/>
            <p:nvPr/>
          </p:nvGrpSpPr>
          <p:grpSpPr>
            <a:xfrm>
              <a:off x="5418426" y="1633180"/>
              <a:ext cx="1795934" cy="228900"/>
              <a:chOff x="6744625" y="1655350"/>
              <a:chExt cx="1795934" cy="228900"/>
            </a:xfrm>
          </p:grpSpPr>
          <p:sp>
            <p:nvSpPr>
              <p:cNvPr id="1219" name="Google Shape;1219;p89"/>
              <p:cNvSpPr txBox="1"/>
              <p:nvPr/>
            </p:nvSpPr>
            <p:spPr>
              <a:xfrm>
                <a:off x="6744625"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1220" name="Google Shape;1220;p89"/>
              <p:cNvSpPr txBox="1"/>
              <p:nvPr/>
            </p:nvSpPr>
            <p:spPr>
              <a:xfrm>
                <a:off x="7228396"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1221" name="Google Shape;1221;p89"/>
              <p:cNvSpPr txBox="1"/>
              <p:nvPr/>
            </p:nvSpPr>
            <p:spPr>
              <a:xfrm>
                <a:off x="7650193"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1222" name="Google Shape;1222;p89"/>
              <p:cNvSpPr txBox="1"/>
              <p:nvPr/>
            </p:nvSpPr>
            <p:spPr>
              <a:xfrm>
                <a:off x="8152359"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grpSp>
      </p:grpSp>
      <p:grpSp>
        <p:nvGrpSpPr>
          <p:cNvPr id="1223" name="Google Shape;1223;p89"/>
          <p:cNvGrpSpPr/>
          <p:nvPr/>
        </p:nvGrpSpPr>
        <p:grpSpPr>
          <a:xfrm>
            <a:off x="7289193" y="1099554"/>
            <a:ext cx="839567" cy="228900"/>
            <a:chOff x="7700993" y="1655350"/>
            <a:chExt cx="839567" cy="228900"/>
          </a:xfrm>
        </p:grpSpPr>
        <p:sp>
          <p:nvSpPr>
            <p:cNvPr id="1224" name="Google Shape;1224;p89"/>
            <p:cNvSpPr txBox="1"/>
            <p:nvPr/>
          </p:nvSpPr>
          <p:spPr>
            <a:xfrm>
              <a:off x="7700993"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1225" name="Google Shape;1225;p89"/>
            <p:cNvSpPr txBox="1"/>
            <p:nvPr/>
          </p:nvSpPr>
          <p:spPr>
            <a:xfrm>
              <a:off x="8152359"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grpSp>
      <p:grpSp>
        <p:nvGrpSpPr>
          <p:cNvPr id="1226" name="Google Shape;1226;p89"/>
          <p:cNvGrpSpPr/>
          <p:nvPr/>
        </p:nvGrpSpPr>
        <p:grpSpPr>
          <a:xfrm>
            <a:off x="3421275" y="1670254"/>
            <a:ext cx="2577900" cy="313500"/>
            <a:chOff x="4823287" y="1899080"/>
            <a:chExt cx="2577900" cy="313500"/>
          </a:xfrm>
        </p:grpSpPr>
        <p:grpSp>
          <p:nvGrpSpPr>
            <p:cNvPr id="1227" name="Google Shape;1227;p89"/>
            <p:cNvGrpSpPr/>
            <p:nvPr/>
          </p:nvGrpSpPr>
          <p:grpSpPr>
            <a:xfrm>
              <a:off x="4823287" y="1899080"/>
              <a:ext cx="2196900" cy="313500"/>
              <a:chOff x="4411875" y="4131050"/>
              <a:chExt cx="2196900" cy="313500"/>
            </a:xfrm>
          </p:grpSpPr>
          <p:sp>
            <p:nvSpPr>
              <p:cNvPr id="1228" name="Google Shape;1228;p89"/>
              <p:cNvSpPr/>
              <p:nvPr/>
            </p:nvSpPr>
            <p:spPr>
              <a:xfrm>
                <a:off x="4411875" y="4131050"/>
                <a:ext cx="273600" cy="3135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9" name="Google Shape;1229;p89"/>
              <p:cNvSpPr/>
              <p:nvPr/>
            </p:nvSpPr>
            <p:spPr>
              <a:xfrm>
                <a:off x="4904225" y="4131050"/>
                <a:ext cx="273600" cy="3135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0" name="Google Shape;1230;p89"/>
              <p:cNvSpPr/>
              <p:nvPr/>
            </p:nvSpPr>
            <p:spPr>
              <a:xfrm>
                <a:off x="5396575" y="4131050"/>
                <a:ext cx="273600" cy="3135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1" name="Google Shape;1231;p89"/>
              <p:cNvSpPr/>
              <p:nvPr/>
            </p:nvSpPr>
            <p:spPr>
              <a:xfrm>
                <a:off x="5835450" y="4131050"/>
                <a:ext cx="273600" cy="3135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2" name="Google Shape;1232;p89"/>
              <p:cNvSpPr/>
              <p:nvPr/>
            </p:nvSpPr>
            <p:spPr>
              <a:xfrm>
                <a:off x="6335175" y="4131050"/>
                <a:ext cx="273600" cy="3135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233" name="Google Shape;1233;p89"/>
            <p:cNvSpPr/>
            <p:nvPr/>
          </p:nvSpPr>
          <p:spPr>
            <a:xfrm>
              <a:off x="7127587" y="1899080"/>
              <a:ext cx="273600" cy="3135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234" name="Google Shape;1234;p89"/>
          <p:cNvSpPr/>
          <p:nvPr/>
        </p:nvSpPr>
        <p:spPr>
          <a:xfrm flipH="1">
            <a:off x="4080575" y="2204474"/>
            <a:ext cx="426300" cy="273300"/>
          </a:xfrm>
          <a:prstGeom prst="bentUpArrow">
            <a:avLst>
              <a:gd fmla="val 25000" name="adj1"/>
              <a:gd fmla="val 25000" name="adj2"/>
              <a:gd fmla="val 25000" name="adj3"/>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5" name="Google Shape;1235;p89"/>
          <p:cNvSpPr txBox="1"/>
          <p:nvPr/>
        </p:nvSpPr>
        <p:spPr>
          <a:xfrm>
            <a:off x="4581925" y="2240061"/>
            <a:ext cx="4382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 is less than 5</a:t>
            </a:r>
            <a:endParaRPr sz="1800">
              <a:solidFill>
                <a:srgbClr val="000000"/>
              </a:solidFill>
              <a:latin typeface="Lexend"/>
              <a:ea typeface="Lexend"/>
              <a:cs typeface="Lexend"/>
              <a:sym typeface="Lexend"/>
            </a:endParaRPr>
          </a:p>
        </p:txBody>
      </p:sp>
      <p:sp>
        <p:nvSpPr>
          <p:cNvPr id="1236" name="Google Shape;1236;p89"/>
          <p:cNvSpPr txBox="1"/>
          <p:nvPr/>
        </p:nvSpPr>
        <p:spPr>
          <a:xfrm>
            <a:off x="324000" y="3475305"/>
            <a:ext cx="78852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rgbClr val="000000"/>
                </a:solidFill>
                <a:latin typeface="Lexend"/>
                <a:ea typeface="Lexend"/>
                <a:cs typeface="Lexend"/>
                <a:sym typeface="Lexend"/>
              </a:rPr>
              <a:t>Therefore, </a:t>
            </a:r>
            <a:r>
              <a:rPr lang="en-GB" sz="2000">
                <a:latin typeface="Lexend"/>
                <a:ea typeface="Lexend"/>
                <a:cs typeface="Lexend"/>
                <a:sym typeface="Lexend"/>
              </a:rPr>
              <a:t>the digit in the thousands column stays the same</a:t>
            </a: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a:p>
            <a:pPr indent="0" lvl="0" marL="0" rtl="0" algn="l">
              <a:spcBef>
                <a:spcPts val="0"/>
              </a:spcBef>
              <a:spcAft>
                <a:spcPts val="0"/>
              </a:spcAft>
              <a:buNone/>
            </a:pPr>
            <a:r>
              <a:rPr lang="en-GB" sz="2000">
                <a:latin typeface="Kalam"/>
                <a:ea typeface="Kalam"/>
                <a:cs typeface="Kalam"/>
                <a:sym typeface="Kalam"/>
              </a:rPr>
              <a:t>1345.02</a:t>
            </a:r>
            <a:r>
              <a:rPr lang="en-GB" sz="2000">
                <a:latin typeface="Kalam"/>
                <a:ea typeface="Kalam"/>
                <a:cs typeface="Kalam"/>
                <a:sym typeface="Kalam"/>
              </a:rPr>
              <a:t> = 1000 (1 s.f.)</a:t>
            </a:r>
            <a:endParaRPr sz="2000">
              <a:solidFill>
                <a:srgbClr val="000000"/>
              </a:solidFill>
              <a:latin typeface="Kalam"/>
              <a:ea typeface="Kalam"/>
              <a:cs typeface="Kalam"/>
              <a:sym typeface="Kalam"/>
            </a:endParaRPr>
          </a:p>
        </p:txBody>
      </p:sp>
      <p:sp>
        <p:nvSpPr>
          <p:cNvPr id="1237" name="Google Shape;1237;p89"/>
          <p:cNvSpPr txBox="1"/>
          <p:nvPr/>
        </p:nvSpPr>
        <p:spPr>
          <a:xfrm>
            <a:off x="324000" y="2790799"/>
            <a:ext cx="84960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Lexend"/>
                <a:ea typeface="Lexend"/>
                <a:cs typeface="Lexend"/>
                <a:sym typeface="Lexend"/>
              </a:rPr>
              <a:t>The first </a:t>
            </a:r>
            <a:r>
              <a:rPr b="1" lang="en-GB" sz="2000">
                <a:latin typeface="Lexend"/>
                <a:ea typeface="Lexend"/>
                <a:cs typeface="Lexend"/>
                <a:sym typeface="Lexend"/>
              </a:rPr>
              <a:t>significant figure</a:t>
            </a:r>
            <a:r>
              <a:rPr lang="en-GB" sz="2000">
                <a:latin typeface="Lexend"/>
                <a:ea typeface="Lexend"/>
                <a:cs typeface="Lexend"/>
                <a:sym typeface="Lexend"/>
              </a:rPr>
              <a:t> is in the </a:t>
            </a:r>
            <a:r>
              <a:rPr lang="en-GB" sz="2000">
                <a:solidFill>
                  <a:schemeClr val="accent2"/>
                </a:solidFill>
                <a:latin typeface="Lexend"/>
                <a:ea typeface="Lexend"/>
                <a:cs typeface="Lexend"/>
                <a:sym typeface="Lexend"/>
              </a:rPr>
              <a:t>thousands</a:t>
            </a:r>
            <a:r>
              <a:rPr lang="en-GB" sz="2000">
                <a:latin typeface="Lexend"/>
                <a:ea typeface="Lexend"/>
                <a:cs typeface="Lexend"/>
                <a:sym typeface="Lexend"/>
              </a:rPr>
              <a:t> column.</a:t>
            </a:r>
            <a:endParaRPr sz="2000">
              <a:latin typeface="Lexend"/>
              <a:ea typeface="Lexend"/>
              <a:cs typeface="Lexend"/>
              <a:sym typeface="Lexend"/>
            </a:endParaRPr>
          </a:p>
          <a:p>
            <a:pPr indent="0" lvl="0" marL="0" rtl="0" algn="l">
              <a:spcBef>
                <a:spcPts val="0"/>
              </a:spcBef>
              <a:spcAft>
                <a:spcPts val="0"/>
              </a:spcAft>
              <a:buNone/>
            </a:pPr>
            <a:r>
              <a:rPr lang="en-GB" sz="2000">
                <a:latin typeface="Lexend"/>
                <a:ea typeface="Lexend"/>
                <a:cs typeface="Lexend"/>
                <a:sym typeface="Lexend"/>
              </a:rPr>
              <a:t>Therefore, we round to the nearest </a:t>
            </a:r>
            <a:r>
              <a:rPr lang="en-GB" sz="2000">
                <a:solidFill>
                  <a:schemeClr val="accent2"/>
                </a:solidFill>
                <a:latin typeface="Lexend"/>
                <a:ea typeface="Lexend"/>
                <a:cs typeface="Lexend"/>
                <a:sym typeface="Lexend"/>
              </a:rPr>
              <a:t>thousand</a:t>
            </a:r>
            <a:r>
              <a:rPr lang="en-GB" sz="2000">
                <a:latin typeface="Lexend"/>
                <a:ea typeface="Lexend"/>
                <a:cs typeface="Lexend"/>
                <a:sym typeface="Lexend"/>
              </a:rPr>
              <a:t>. </a:t>
            </a:r>
            <a:endParaRPr sz="2000">
              <a:solidFill>
                <a:srgbClr val="000000"/>
              </a:solidFill>
              <a:latin typeface="Lexend"/>
              <a:ea typeface="Lexend"/>
              <a:cs typeface="Lexend"/>
              <a:sym typeface="Lexend"/>
            </a:endParaRPr>
          </a:p>
        </p:txBody>
      </p:sp>
      <p:sp>
        <p:nvSpPr>
          <p:cNvPr id="1238" name="Google Shape;1238;p89"/>
          <p:cNvSpPr txBox="1"/>
          <p:nvPr/>
        </p:nvSpPr>
        <p:spPr>
          <a:xfrm>
            <a:off x="354412" y="4159811"/>
            <a:ext cx="80304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Lexend"/>
                <a:ea typeface="Lexend"/>
                <a:cs typeface="Lexend"/>
                <a:sym typeface="Lexend"/>
              </a:rPr>
              <a:t>Ensure that the place holders are used in the hundreds, tens and ones columns to maintain the place value of the 1</a:t>
            </a:r>
            <a:endParaRPr sz="2000">
              <a:solidFill>
                <a:srgbClr val="000000"/>
              </a:solidFill>
              <a:latin typeface="Kalam"/>
              <a:ea typeface="Kalam"/>
              <a:cs typeface="Kalam"/>
              <a:sym typeface="Kalam"/>
            </a:endParaRPr>
          </a:p>
        </p:txBody>
      </p:sp>
      <p:sp>
        <p:nvSpPr>
          <p:cNvPr id="1239" name="Google Shape;1239;p89"/>
          <p:cNvSpPr/>
          <p:nvPr/>
        </p:nvSpPr>
        <p:spPr>
          <a:xfrm>
            <a:off x="3467586" y="1654986"/>
            <a:ext cx="286800" cy="313500"/>
          </a:xfrm>
          <a:prstGeom prst="roundRect">
            <a:avLst>
              <a:gd fmla="val 16667" name="adj"/>
            </a:avLst>
          </a:prstGeom>
          <a:no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0" name="Google Shape;1240;p89"/>
          <p:cNvSpPr/>
          <p:nvPr/>
        </p:nvSpPr>
        <p:spPr>
          <a:xfrm>
            <a:off x="3900718" y="1654974"/>
            <a:ext cx="286800" cy="3135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2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4" name="Shape 1244"/>
        <p:cNvGrpSpPr/>
        <p:nvPr/>
      </p:nvGrpSpPr>
      <p:grpSpPr>
        <a:xfrm>
          <a:off x="0" y="0"/>
          <a:ext cx="0" cy="0"/>
          <a:chOff x="0" y="0"/>
          <a:chExt cx="0" cy="0"/>
        </a:xfrm>
      </p:grpSpPr>
      <p:sp>
        <p:nvSpPr>
          <p:cNvPr id="1245" name="Google Shape;1245;p90"/>
          <p:cNvSpPr txBox="1"/>
          <p:nvPr>
            <p:ph idx="1" type="body"/>
          </p:nvPr>
        </p:nvSpPr>
        <p:spPr>
          <a:xfrm>
            <a:off x="324000" y="683100"/>
            <a:ext cx="8237700" cy="44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Alex rounds 87 392 to one </a:t>
            </a:r>
            <a:r>
              <a:rPr b="1" lang="en-GB"/>
              <a:t>significant figure</a:t>
            </a:r>
            <a:r>
              <a:rPr lang="en-GB"/>
              <a:t>. </a:t>
            </a:r>
            <a:endParaRPr/>
          </a:p>
        </p:txBody>
      </p:sp>
      <p:sp>
        <p:nvSpPr>
          <p:cNvPr id="1246" name="Google Shape;1246;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Rounding to one significant figure</a:t>
            </a:r>
            <a:endParaRPr/>
          </a:p>
        </p:txBody>
      </p:sp>
      <p:pic>
        <p:nvPicPr>
          <p:cNvPr id="1247" name="Google Shape;1247;p90"/>
          <p:cNvPicPr preferRelativeResize="0"/>
          <p:nvPr/>
        </p:nvPicPr>
        <p:blipFill>
          <a:blip r:embed="rId3">
            <a:alphaModFix/>
          </a:blip>
          <a:stretch>
            <a:fillRect/>
          </a:stretch>
        </p:blipFill>
        <p:spPr>
          <a:xfrm>
            <a:off x="7574297" y="3534613"/>
            <a:ext cx="777007" cy="896096"/>
          </a:xfrm>
          <a:prstGeom prst="rect">
            <a:avLst/>
          </a:prstGeom>
          <a:noFill/>
          <a:ln>
            <a:noFill/>
          </a:ln>
        </p:spPr>
      </p:pic>
      <p:sp>
        <p:nvSpPr>
          <p:cNvPr id="1248" name="Google Shape;1248;p90"/>
          <p:cNvSpPr txBox="1"/>
          <p:nvPr/>
        </p:nvSpPr>
        <p:spPr>
          <a:xfrm>
            <a:off x="7520150" y="44307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sz="1800">
              <a:latin typeface="Lexend"/>
              <a:ea typeface="Lexend"/>
              <a:cs typeface="Lexend"/>
              <a:sym typeface="Lexend"/>
            </a:endParaRPr>
          </a:p>
        </p:txBody>
      </p:sp>
      <p:grpSp>
        <p:nvGrpSpPr>
          <p:cNvPr id="1249" name="Google Shape;1249;p90"/>
          <p:cNvGrpSpPr/>
          <p:nvPr/>
        </p:nvGrpSpPr>
        <p:grpSpPr>
          <a:xfrm>
            <a:off x="5536875" y="2500775"/>
            <a:ext cx="1955251" cy="1819226"/>
            <a:chOff x="5460675" y="2500775"/>
            <a:chExt cx="1955251" cy="1819226"/>
          </a:xfrm>
        </p:grpSpPr>
        <p:pic>
          <p:nvPicPr>
            <p:cNvPr id="1250" name="Google Shape;1250;p90"/>
            <p:cNvPicPr preferRelativeResize="0"/>
            <p:nvPr/>
          </p:nvPicPr>
          <p:blipFill rotWithShape="1">
            <a:blip r:embed="rId4">
              <a:alphaModFix/>
            </a:blip>
            <a:srcRect b="0" l="0" r="69082" t="56280"/>
            <a:stretch/>
          </p:blipFill>
          <p:spPr>
            <a:xfrm>
              <a:off x="5460675" y="2500775"/>
              <a:ext cx="1955251" cy="1819226"/>
            </a:xfrm>
            <a:prstGeom prst="rect">
              <a:avLst/>
            </a:prstGeom>
            <a:noFill/>
            <a:ln>
              <a:noFill/>
            </a:ln>
          </p:spPr>
        </p:pic>
        <p:sp>
          <p:nvSpPr>
            <p:cNvPr id="1251" name="Google Shape;1251;p90"/>
            <p:cNvSpPr txBox="1"/>
            <p:nvPr/>
          </p:nvSpPr>
          <p:spPr>
            <a:xfrm>
              <a:off x="5582400" y="2679275"/>
              <a:ext cx="1678800" cy="7728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2000">
                  <a:latin typeface="Lexend"/>
                  <a:ea typeface="Lexend"/>
                  <a:cs typeface="Lexend"/>
                  <a:sym typeface="Lexend"/>
                </a:rPr>
                <a:t>87 392 is 9 to one </a:t>
              </a:r>
              <a:r>
                <a:rPr b="1" lang="en-GB" sz="2000">
                  <a:latin typeface="Lexend"/>
                  <a:ea typeface="Lexend"/>
                  <a:cs typeface="Lexend"/>
                  <a:sym typeface="Lexend"/>
                </a:rPr>
                <a:t>significant figure</a:t>
              </a:r>
              <a:r>
                <a:rPr lang="en-GB" sz="2000">
                  <a:latin typeface="Lexend"/>
                  <a:ea typeface="Lexend"/>
                  <a:cs typeface="Lexend"/>
                  <a:sym typeface="Lexend"/>
                </a:rPr>
                <a:t>.</a:t>
              </a:r>
              <a:endParaRPr sz="2000">
                <a:latin typeface="Lexend"/>
                <a:ea typeface="Lexend"/>
                <a:cs typeface="Lexend"/>
                <a:sym typeface="Lexend"/>
              </a:endParaRPr>
            </a:p>
          </p:txBody>
        </p:sp>
      </p:grpSp>
      <p:sp>
        <p:nvSpPr>
          <p:cNvPr id="1252" name="Google Shape;1252;p90"/>
          <p:cNvSpPr txBox="1"/>
          <p:nvPr>
            <p:ph idx="1" type="body"/>
          </p:nvPr>
        </p:nvSpPr>
        <p:spPr>
          <a:xfrm>
            <a:off x="324000" y="1216500"/>
            <a:ext cx="8237700" cy="44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What mistake has Alex made?</a:t>
            </a:r>
            <a:r>
              <a:rPr lang="en-GB"/>
              <a:t> </a:t>
            </a:r>
            <a:endParaRPr/>
          </a:p>
        </p:txBody>
      </p:sp>
      <p:sp>
        <p:nvSpPr>
          <p:cNvPr id="1253" name="Google Shape;1253;p90"/>
          <p:cNvSpPr txBox="1"/>
          <p:nvPr>
            <p:ph idx="1" type="body"/>
          </p:nvPr>
        </p:nvSpPr>
        <p:spPr>
          <a:xfrm>
            <a:off x="324000" y="1749900"/>
            <a:ext cx="8237700" cy="1496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Kalam"/>
                <a:ea typeface="Kalam"/>
                <a:cs typeface="Kalam"/>
                <a:sym typeface="Kalam"/>
              </a:rPr>
              <a:t>Alex has forgotten to replace the 7, 3, 9 and 2 with zeros, the place holders to maintain the place value of the 9.</a:t>
            </a:r>
            <a:endParaRPr>
              <a:latin typeface="Kalam"/>
              <a:ea typeface="Kalam"/>
              <a:cs typeface="Kalam"/>
              <a:sym typeface="Kalam"/>
            </a:endParaRPr>
          </a:p>
          <a:p>
            <a:pPr indent="0" lvl="0" marL="0" rtl="0" algn="l">
              <a:spcBef>
                <a:spcPts val="1000"/>
              </a:spcBef>
              <a:spcAft>
                <a:spcPts val="1000"/>
              </a:spcAft>
              <a:buNone/>
            </a:pPr>
            <a:r>
              <a:rPr lang="en-GB">
                <a:latin typeface="Kalam"/>
                <a:ea typeface="Kalam"/>
                <a:cs typeface="Kalam"/>
                <a:sym typeface="Kalam"/>
              </a:rPr>
              <a:t>87 392 = 90 000 (1 s.f.)</a:t>
            </a:r>
            <a:r>
              <a:rPr lang="en-GB">
                <a:latin typeface="Kalam"/>
                <a:ea typeface="Kalam"/>
                <a:cs typeface="Kalam"/>
                <a:sym typeface="Kalam"/>
              </a:rPr>
              <a:t> </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3">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Rounding to one significant figure</a:t>
            </a:r>
            <a:endParaRPr/>
          </a:p>
        </p:txBody>
      </p:sp>
      <p:sp>
        <p:nvSpPr>
          <p:cNvPr id="1259" name="Google Shape;1259;p91"/>
          <p:cNvSpPr txBox="1"/>
          <p:nvPr/>
        </p:nvSpPr>
        <p:spPr>
          <a:xfrm>
            <a:off x="337825" y="810000"/>
            <a:ext cx="3982200" cy="40104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800">
                <a:solidFill>
                  <a:srgbClr val="000000"/>
                </a:solidFill>
                <a:latin typeface="Lexend"/>
                <a:ea typeface="Lexend"/>
                <a:cs typeface="Lexend"/>
                <a:sym typeface="Lexend"/>
              </a:rPr>
              <a:t>Round </a:t>
            </a:r>
            <a:r>
              <a:rPr lang="en-GB" sz="1800">
                <a:latin typeface="Lexend"/>
                <a:ea typeface="Lexend"/>
                <a:cs typeface="Lexend"/>
                <a:sym typeface="Lexend"/>
              </a:rPr>
              <a:t>370.92</a:t>
            </a:r>
            <a:r>
              <a:rPr lang="en-GB" sz="1800">
                <a:solidFill>
                  <a:srgbClr val="000000"/>
                </a:solidFill>
                <a:latin typeface="Lexend"/>
                <a:ea typeface="Lexend"/>
                <a:cs typeface="Lexend"/>
                <a:sym typeface="Lexend"/>
              </a:rPr>
              <a:t> to one </a:t>
            </a:r>
            <a:r>
              <a:rPr b="1" lang="en-GB" sz="1800">
                <a:solidFill>
                  <a:schemeClr val="dk1"/>
                </a:solidFill>
                <a:latin typeface="Lexend"/>
                <a:ea typeface="Lexend"/>
                <a:cs typeface="Lexend"/>
                <a:sym typeface="Lexend"/>
              </a:rPr>
              <a:t>significant figure</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graphicFrame>
        <p:nvGraphicFramePr>
          <p:cNvPr id="1260" name="Google Shape;1260;p91"/>
          <p:cNvGraphicFramePr/>
          <p:nvPr/>
        </p:nvGraphicFramePr>
        <p:xfrm>
          <a:off x="1007801" y="1633180"/>
          <a:ext cx="3000000" cy="3000000"/>
        </p:xfrm>
        <a:graphic>
          <a:graphicData uri="http://schemas.openxmlformats.org/drawingml/2006/table">
            <a:tbl>
              <a:tblPr>
                <a:noFill/>
                <a:tableStyleId>{A1769C70-3405-48C6-B967-3B8FA869652B}</a:tableStyleId>
              </a:tblPr>
              <a:tblGrid>
                <a:gridCol w="475250"/>
                <a:gridCol w="475250"/>
                <a:gridCol w="475250"/>
                <a:gridCol w="475250"/>
                <a:gridCol w="475250"/>
              </a:tblGrid>
              <a:tr h="458200">
                <a:tc>
                  <a:txBody>
                    <a:bodyPr/>
                    <a:lstStyle/>
                    <a:p>
                      <a:pPr indent="0" lvl="0" marL="0" rtl="0" algn="ctr">
                        <a:spcBef>
                          <a:spcPts val="0"/>
                        </a:spcBef>
                        <a:spcAft>
                          <a:spcPts val="0"/>
                        </a:spcAft>
                        <a:buNone/>
                      </a:pPr>
                      <a:r>
                        <a:rPr lang="en-GB" sz="1300">
                          <a:latin typeface="Lexend"/>
                          <a:ea typeface="Lexend"/>
                          <a:cs typeface="Lexend"/>
                          <a:sym typeface="Lexend"/>
                        </a:rPr>
                        <a: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solidFill>
                            <a:srgbClr val="000000"/>
                          </a:solidFill>
                          <a:latin typeface="Lexend"/>
                          <a:ea typeface="Lexend"/>
                          <a:cs typeface="Lexend"/>
                          <a:sym typeface="Lexend"/>
                        </a:rPr>
                        <a:t>T</a:t>
                      </a:r>
                      <a:endParaRPr>
                        <a:solidFill>
                          <a:srgbClr val="000000"/>
                        </a:solidFill>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O</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8200">
                <a:tc>
                  <a:txBody>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7</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0</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9</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261" name="Google Shape;1261;p91"/>
          <p:cNvSpPr txBox="1"/>
          <p:nvPr/>
        </p:nvSpPr>
        <p:spPr>
          <a:xfrm>
            <a:off x="2398510" y="1604329"/>
            <a:ext cx="122100" cy="378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000000"/>
                </a:solidFill>
                <a:latin typeface="Lexend"/>
                <a:ea typeface="Lexend"/>
                <a:cs typeface="Lexend"/>
                <a:sym typeface="Lexend"/>
              </a:rPr>
              <a:t>.</a:t>
            </a:r>
            <a:endParaRPr sz="2200">
              <a:solidFill>
                <a:srgbClr val="000000"/>
              </a:solidFill>
              <a:latin typeface="Lexend"/>
              <a:ea typeface="Lexend"/>
              <a:cs typeface="Lexend"/>
              <a:sym typeface="Lexend"/>
            </a:endParaRPr>
          </a:p>
        </p:txBody>
      </p:sp>
      <p:sp>
        <p:nvSpPr>
          <p:cNvPr id="1262" name="Google Shape;1262;p91"/>
          <p:cNvSpPr txBox="1"/>
          <p:nvPr/>
        </p:nvSpPr>
        <p:spPr>
          <a:xfrm>
            <a:off x="2398510" y="2113260"/>
            <a:ext cx="122100" cy="378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000000"/>
                </a:solidFill>
                <a:latin typeface="Lexend"/>
                <a:ea typeface="Lexend"/>
                <a:cs typeface="Lexend"/>
                <a:sym typeface="Lexend"/>
              </a:rPr>
              <a:t>.</a:t>
            </a:r>
            <a:endParaRPr sz="2200">
              <a:solidFill>
                <a:srgbClr val="000000"/>
              </a:solidFill>
              <a:latin typeface="Lexend"/>
              <a:ea typeface="Lexend"/>
              <a:cs typeface="Lexend"/>
              <a:sym typeface="Lexend"/>
            </a:endParaRPr>
          </a:p>
        </p:txBody>
      </p:sp>
      <p:grpSp>
        <p:nvGrpSpPr>
          <p:cNvPr id="1263" name="Google Shape;1263;p91"/>
          <p:cNvGrpSpPr/>
          <p:nvPr/>
        </p:nvGrpSpPr>
        <p:grpSpPr>
          <a:xfrm>
            <a:off x="1123275" y="2192537"/>
            <a:ext cx="2169080" cy="347675"/>
            <a:chOff x="1123275" y="2178655"/>
            <a:chExt cx="2169080" cy="347675"/>
          </a:xfrm>
        </p:grpSpPr>
        <p:sp>
          <p:nvSpPr>
            <p:cNvPr id="1264" name="Google Shape;1264;p91"/>
            <p:cNvSpPr/>
            <p:nvPr/>
          </p:nvSpPr>
          <p:spPr>
            <a:xfrm>
              <a:off x="1123275" y="2178655"/>
              <a:ext cx="273600" cy="3135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5" name="Google Shape;1265;p91"/>
            <p:cNvSpPr/>
            <p:nvPr/>
          </p:nvSpPr>
          <p:spPr>
            <a:xfrm>
              <a:off x="1600850" y="2212830"/>
              <a:ext cx="273600" cy="3135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6" name="Google Shape;1266;p91"/>
            <p:cNvSpPr/>
            <p:nvPr/>
          </p:nvSpPr>
          <p:spPr>
            <a:xfrm>
              <a:off x="2078425" y="2178655"/>
              <a:ext cx="273600" cy="3135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7" name="Google Shape;1267;p91"/>
            <p:cNvSpPr/>
            <p:nvPr/>
          </p:nvSpPr>
          <p:spPr>
            <a:xfrm>
              <a:off x="2559685" y="2212830"/>
              <a:ext cx="273600" cy="3135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8" name="Google Shape;1268;p91"/>
            <p:cNvSpPr/>
            <p:nvPr/>
          </p:nvSpPr>
          <p:spPr>
            <a:xfrm>
              <a:off x="3018755" y="2198050"/>
              <a:ext cx="273600" cy="3135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269" name="Google Shape;1269;p91"/>
          <p:cNvSpPr/>
          <p:nvPr/>
        </p:nvSpPr>
        <p:spPr>
          <a:xfrm>
            <a:off x="1581681" y="2195725"/>
            <a:ext cx="286800" cy="313500"/>
          </a:xfrm>
          <a:prstGeom prst="roundRect">
            <a:avLst>
              <a:gd fmla="val 16667" name="adj"/>
            </a:avLst>
          </a:prstGeom>
          <a:noFill/>
          <a:ln cap="flat" cmpd="sng" w="3810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0" name="Google Shape;1270;p91"/>
          <p:cNvSpPr/>
          <p:nvPr/>
        </p:nvSpPr>
        <p:spPr>
          <a:xfrm>
            <a:off x="1078231" y="2195733"/>
            <a:ext cx="347400" cy="313500"/>
          </a:xfrm>
          <a:prstGeom prst="roundRect">
            <a:avLst>
              <a:gd fmla="val 16667" name="adj"/>
            </a:avLst>
          </a:prstGeom>
          <a:noFill/>
          <a:ln cap="flat" cmpd="sng" w="19050">
            <a:solidFill>
              <a:srgbClr val="374CF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1" name="Google Shape;1271;p91"/>
          <p:cNvSpPr/>
          <p:nvPr/>
        </p:nvSpPr>
        <p:spPr>
          <a:xfrm>
            <a:off x="1078219" y="1669730"/>
            <a:ext cx="347400" cy="313500"/>
          </a:xfrm>
          <a:prstGeom prst="roundRect">
            <a:avLst>
              <a:gd fmla="val 16667" name="adj"/>
            </a:avLst>
          </a:prstGeom>
          <a:noFill/>
          <a:ln cap="flat" cmpd="sng" w="19050">
            <a:solidFill>
              <a:srgbClr val="374CF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272" name="Google Shape;1272;p91"/>
          <p:cNvGrpSpPr/>
          <p:nvPr/>
        </p:nvGrpSpPr>
        <p:grpSpPr>
          <a:xfrm>
            <a:off x="391775" y="2667450"/>
            <a:ext cx="4163400" cy="907550"/>
            <a:chOff x="-100131" y="2667450"/>
            <a:chExt cx="4163400" cy="907550"/>
          </a:xfrm>
        </p:grpSpPr>
        <p:sp>
          <p:nvSpPr>
            <p:cNvPr id="1273" name="Google Shape;1273;p91"/>
            <p:cNvSpPr/>
            <p:nvPr/>
          </p:nvSpPr>
          <p:spPr>
            <a:xfrm>
              <a:off x="1133425" y="2667450"/>
              <a:ext cx="199500" cy="295500"/>
            </a:xfrm>
            <a:prstGeom prst="upArrow">
              <a:avLst>
                <a:gd fmla="val 50000" name="adj1"/>
                <a:gd fmla="val 50000" name="adj2"/>
              </a:avLst>
            </a:prstGeom>
            <a:solidFill>
              <a:srgbClr val="374CF1"/>
            </a:solidFill>
            <a:ln cap="flat" cmpd="sng" w="952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4" name="Google Shape;1274;p91"/>
            <p:cNvSpPr txBox="1"/>
            <p:nvPr/>
          </p:nvSpPr>
          <p:spPr>
            <a:xfrm>
              <a:off x="-100131" y="3020900"/>
              <a:ext cx="41634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The digit in this column is greater than 5.</a:t>
              </a:r>
              <a:endParaRPr sz="1800">
                <a:solidFill>
                  <a:srgbClr val="000000"/>
                </a:solidFill>
                <a:latin typeface="Lexend"/>
                <a:ea typeface="Lexend"/>
                <a:cs typeface="Lexend"/>
                <a:sym typeface="Lexend"/>
              </a:endParaRPr>
            </a:p>
          </p:txBody>
        </p:sp>
      </p:grpSp>
      <p:sp>
        <p:nvSpPr>
          <p:cNvPr id="1275" name="Google Shape;1275;p91"/>
          <p:cNvSpPr txBox="1"/>
          <p:nvPr/>
        </p:nvSpPr>
        <p:spPr>
          <a:xfrm>
            <a:off x="357048" y="3706700"/>
            <a:ext cx="39492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We will round up to the higher value.</a:t>
            </a:r>
            <a:endParaRPr sz="1800">
              <a:solidFill>
                <a:srgbClr val="000000"/>
              </a:solidFill>
              <a:latin typeface="Lexend"/>
              <a:ea typeface="Lexend"/>
              <a:cs typeface="Lexend"/>
              <a:sym typeface="Lexend"/>
            </a:endParaRPr>
          </a:p>
        </p:txBody>
      </p:sp>
      <p:sp>
        <p:nvSpPr>
          <p:cNvPr id="1276" name="Google Shape;1276;p91"/>
          <p:cNvSpPr txBox="1"/>
          <p:nvPr/>
        </p:nvSpPr>
        <p:spPr>
          <a:xfrm>
            <a:off x="357048" y="4392500"/>
            <a:ext cx="3949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370.92 = 400 (1 s.f.)</a:t>
            </a:r>
            <a:r>
              <a:rPr lang="en-GB" sz="1800">
                <a:latin typeface="Lexend"/>
                <a:ea typeface="Lexend"/>
                <a:cs typeface="Lexend"/>
                <a:sym typeface="Lexend"/>
              </a:rPr>
              <a:t>  </a:t>
            </a:r>
            <a:endParaRPr sz="1800">
              <a:solidFill>
                <a:srgbClr val="000000"/>
              </a:solidFill>
              <a:latin typeface="Lexend"/>
              <a:ea typeface="Lexend"/>
              <a:cs typeface="Lexend"/>
              <a:sym typeface="Lexend"/>
            </a:endParaRPr>
          </a:p>
        </p:txBody>
      </p:sp>
      <p:grpSp>
        <p:nvGrpSpPr>
          <p:cNvPr id="1277" name="Google Shape;1277;p91"/>
          <p:cNvGrpSpPr/>
          <p:nvPr/>
        </p:nvGrpSpPr>
        <p:grpSpPr>
          <a:xfrm>
            <a:off x="2675226" y="1613801"/>
            <a:ext cx="871971" cy="228900"/>
            <a:chOff x="6897025" y="1655350"/>
            <a:chExt cx="871971" cy="228900"/>
          </a:xfrm>
        </p:grpSpPr>
        <p:sp>
          <p:nvSpPr>
            <p:cNvPr id="1278" name="Google Shape;1278;p91"/>
            <p:cNvSpPr txBox="1"/>
            <p:nvPr/>
          </p:nvSpPr>
          <p:spPr>
            <a:xfrm>
              <a:off x="6897025"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1279" name="Google Shape;1279;p91"/>
            <p:cNvSpPr txBox="1"/>
            <p:nvPr/>
          </p:nvSpPr>
          <p:spPr>
            <a:xfrm>
              <a:off x="7380796"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6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3" name="Shape 1283"/>
        <p:cNvGrpSpPr/>
        <p:nvPr/>
      </p:nvGrpSpPr>
      <p:grpSpPr>
        <a:xfrm>
          <a:off x="0" y="0"/>
          <a:ext cx="0" cy="0"/>
          <a:chOff x="0" y="0"/>
          <a:chExt cx="0" cy="0"/>
        </a:xfrm>
      </p:grpSpPr>
      <p:sp>
        <p:nvSpPr>
          <p:cNvPr id="1284" name="Google Shape;1284;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Rounding to one significant figure</a:t>
            </a:r>
            <a:endParaRPr/>
          </a:p>
        </p:txBody>
      </p:sp>
      <p:sp>
        <p:nvSpPr>
          <p:cNvPr id="1285" name="Google Shape;1285;p92"/>
          <p:cNvSpPr txBox="1"/>
          <p:nvPr/>
        </p:nvSpPr>
        <p:spPr>
          <a:xfrm>
            <a:off x="4833625" y="810000"/>
            <a:ext cx="3982200" cy="40104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800">
                <a:solidFill>
                  <a:srgbClr val="000000"/>
                </a:solidFill>
                <a:latin typeface="Lexend"/>
                <a:ea typeface="Lexend"/>
                <a:cs typeface="Lexend"/>
                <a:sym typeface="Lexend"/>
              </a:rPr>
              <a:t>Round </a:t>
            </a:r>
            <a:r>
              <a:rPr lang="en-GB" sz="1800">
                <a:latin typeface="Lexend"/>
                <a:ea typeface="Lexend"/>
                <a:cs typeface="Lexend"/>
                <a:sym typeface="Lexend"/>
              </a:rPr>
              <a:t>63.91</a:t>
            </a:r>
            <a:r>
              <a:rPr lang="en-GB" sz="1800">
                <a:solidFill>
                  <a:srgbClr val="000000"/>
                </a:solidFill>
                <a:latin typeface="Lexend"/>
                <a:ea typeface="Lexend"/>
                <a:cs typeface="Lexend"/>
                <a:sym typeface="Lexend"/>
              </a:rPr>
              <a:t> to one </a:t>
            </a:r>
            <a:r>
              <a:rPr b="1" lang="en-GB" sz="1800">
                <a:solidFill>
                  <a:schemeClr val="dk1"/>
                </a:solidFill>
                <a:latin typeface="Lexend"/>
                <a:ea typeface="Lexend"/>
                <a:cs typeface="Lexend"/>
                <a:sym typeface="Lexend"/>
              </a:rPr>
              <a:t>significant figure</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graphicFrame>
        <p:nvGraphicFramePr>
          <p:cNvPr id="1286" name="Google Shape;1286;p92"/>
          <p:cNvGraphicFramePr/>
          <p:nvPr/>
        </p:nvGraphicFramePr>
        <p:xfrm>
          <a:off x="5503601" y="1633180"/>
          <a:ext cx="3000000" cy="3000000"/>
        </p:xfrm>
        <a:graphic>
          <a:graphicData uri="http://schemas.openxmlformats.org/drawingml/2006/table">
            <a:tbl>
              <a:tblPr>
                <a:noFill/>
                <a:tableStyleId>{A1769C70-3405-48C6-B967-3B8FA869652B}</a:tableStyleId>
              </a:tblPr>
              <a:tblGrid>
                <a:gridCol w="475250"/>
                <a:gridCol w="475250"/>
                <a:gridCol w="475250"/>
                <a:gridCol w="475250"/>
                <a:gridCol w="475250"/>
              </a:tblGrid>
              <a:tr h="458200">
                <a:tc>
                  <a:txBody>
                    <a:bodyPr/>
                    <a:lstStyle/>
                    <a:p>
                      <a:pPr indent="0" lvl="0" marL="0" rtl="0" algn="ctr">
                        <a:spcBef>
                          <a:spcPts val="0"/>
                        </a:spcBef>
                        <a:spcAft>
                          <a:spcPts val="0"/>
                        </a:spcAft>
                        <a:buNone/>
                      </a:pPr>
                      <a:r>
                        <a:rPr lang="en-GB" sz="1300">
                          <a:latin typeface="Lexend"/>
                          <a:ea typeface="Lexend"/>
                          <a:cs typeface="Lexend"/>
                          <a:sym typeface="Lexend"/>
                        </a:rPr>
                        <a: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solidFill>
                            <a:srgbClr val="000000"/>
                          </a:solidFill>
                          <a:latin typeface="Lexend"/>
                          <a:ea typeface="Lexend"/>
                          <a:cs typeface="Lexend"/>
                          <a:sym typeface="Lexend"/>
                        </a:rPr>
                        <a:t>T</a:t>
                      </a:r>
                      <a:endParaRPr>
                        <a:solidFill>
                          <a:srgbClr val="000000"/>
                        </a:solidFill>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O</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8200">
                <a:tc>
                  <a:txBody>
                    <a:bodyPr/>
                    <a:lstStyle/>
                    <a:p>
                      <a:pPr indent="0" lvl="0" marL="0" rtl="0" algn="ctr">
                        <a:spcBef>
                          <a:spcPts val="0"/>
                        </a:spcBef>
                        <a:spcAft>
                          <a:spcPts val="0"/>
                        </a:spcAft>
                        <a:buNone/>
                      </a:pPr>
                      <a:r>
                        <a:t/>
                      </a:r>
                      <a:endParaRPr sz="2200">
                        <a:latin typeface="Kalam"/>
                        <a:ea typeface="Kalam"/>
                        <a:cs typeface="Kalam"/>
                        <a:sym typeface="Kalam"/>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Kalam"/>
                          <a:ea typeface="Kalam"/>
                          <a:cs typeface="Kalam"/>
                          <a:sym typeface="Kalam"/>
                        </a:rPr>
                        <a:t>6</a:t>
                      </a:r>
                      <a:endParaRPr sz="2200">
                        <a:latin typeface="Kalam"/>
                        <a:ea typeface="Kalam"/>
                        <a:cs typeface="Kalam"/>
                        <a:sym typeface="Kalam"/>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Kalam"/>
                          <a:ea typeface="Kalam"/>
                          <a:cs typeface="Kalam"/>
                          <a:sym typeface="Kalam"/>
                        </a:rPr>
                        <a:t>3</a:t>
                      </a:r>
                      <a:endParaRPr sz="2200">
                        <a:latin typeface="Kalam"/>
                        <a:ea typeface="Kalam"/>
                        <a:cs typeface="Kalam"/>
                        <a:sym typeface="Kalam"/>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Kalam"/>
                          <a:ea typeface="Kalam"/>
                          <a:cs typeface="Kalam"/>
                          <a:sym typeface="Kalam"/>
                        </a:rPr>
                        <a:t>9</a:t>
                      </a:r>
                      <a:endParaRPr sz="2200">
                        <a:latin typeface="Kalam"/>
                        <a:ea typeface="Kalam"/>
                        <a:cs typeface="Kalam"/>
                        <a:sym typeface="Kalam"/>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Kalam"/>
                          <a:ea typeface="Kalam"/>
                          <a:cs typeface="Kalam"/>
                          <a:sym typeface="Kalam"/>
                        </a:rPr>
                        <a:t>1</a:t>
                      </a:r>
                      <a:endParaRPr sz="2200">
                        <a:latin typeface="Kalam"/>
                        <a:ea typeface="Kalam"/>
                        <a:cs typeface="Kalam"/>
                        <a:sym typeface="Kalam"/>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287" name="Google Shape;1287;p92"/>
          <p:cNvSpPr txBox="1"/>
          <p:nvPr/>
        </p:nvSpPr>
        <p:spPr>
          <a:xfrm>
            <a:off x="6894310" y="1604329"/>
            <a:ext cx="122100" cy="378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000000"/>
                </a:solidFill>
                <a:latin typeface="Lexend"/>
                <a:ea typeface="Lexend"/>
                <a:cs typeface="Lexend"/>
                <a:sym typeface="Lexend"/>
              </a:rPr>
              <a:t>.</a:t>
            </a:r>
            <a:endParaRPr sz="2200">
              <a:solidFill>
                <a:srgbClr val="000000"/>
              </a:solidFill>
              <a:latin typeface="Lexend"/>
              <a:ea typeface="Lexend"/>
              <a:cs typeface="Lexend"/>
              <a:sym typeface="Lexend"/>
            </a:endParaRPr>
          </a:p>
        </p:txBody>
      </p:sp>
      <p:sp>
        <p:nvSpPr>
          <p:cNvPr id="1288" name="Google Shape;1288;p92"/>
          <p:cNvSpPr txBox="1"/>
          <p:nvPr/>
        </p:nvSpPr>
        <p:spPr>
          <a:xfrm>
            <a:off x="6894310" y="2113260"/>
            <a:ext cx="122100" cy="378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000000"/>
                </a:solidFill>
                <a:latin typeface="Lexend"/>
                <a:ea typeface="Lexend"/>
                <a:cs typeface="Lexend"/>
                <a:sym typeface="Lexend"/>
              </a:rPr>
              <a:t>.</a:t>
            </a:r>
            <a:endParaRPr sz="2200">
              <a:solidFill>
                <a:srgbClr val="000000"/>
              </a:solidFill>
              <a:latin typeface="Lexend"/>
              <a:ea typeface="Lexend"/>
              <a:cs typeface="Lexend"/>
              <a:sym typeface="Lexend"/>
            </a:endParaRPr>
          </a:p>
        </p:txBody>
      </p:sp>
      <p:grpSp>
        <p:nvGrpSpPr>
          <p:cNvPr id="1289" name="Google Shape;1289;p92"/>
          <p:cNvGrpSpPr/>
          <p:nvPr/>
        </p:nvGrpSpPr>
        <p:grpSpPr>
          <a:xfrm>
            <a:off x="6096650" y="2174929"/>
            <a:ext cx="1691505" cy="365284"/>
            <a:chOff x="1600850" y="2161046"/>
            <a:chExt cx="1691505" cy="365284"/>
          </a:xfrm>
        </p:grpSpPr>
        <p:sp>
          <p:nvSpPr>
            <p:cNvPr id="1290" name="Google Shape;1290;p92"/>
            <p:cNvSpPr/>
            <p:nvPr/>
          </p:nvSpPr>
          <p:spPr>
            <a:xfrm>
              <a:off x="1600850" y="2212830"/>
              <a:ext cx="273600" cy="313500"/>
            </a:xfrm>
            <a:prstGeom prst="roundRect">
              <a:avLst>
                <a:gd fmla="val 16667" name="adj"/>
              </a:avLst>
            </a:prstGeom>
            <a:solidFill>
              <a:srgbClr val="EBEDFE"/>
            </a:solidFill>
            <a:ln cap="flat" cmpd="sng" w="9525">
              <a:solidFill>
                <a:srgbClr val="EBEDF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1" name="Google Shape;1291;p92"/>
            <p:cNvSpPr/>
            <p:nvPr/>
          </p:nvSpPr>
          <p:spPr>
            <a:xfrm>
              <a:off x="2078425" y="2178655"/>
              <a:ext cx="273600" cy="313500"/>
            </a:xfrm>
            <a:prstGeom prst="roundRect">
              <a:avLst>
                <a:gd fmla="val 16667" name="adj"/>
              </a:avLst>
            </a:prstGeom>
            <a:solidFill>
              <a:srgbClr val="EBEDFE"/>
            </a:solidFill>
            <a:ln cap="flat" cmpd="sng" w="9525">
              <a:solidFill>
                <a:srgbClr val="EBEDF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2" name="Google Shape;1292;p92"/>
            <p:cNvSpPr/>
            <p:nvPr/>
          </p:nvSpPr>
          <p:spPr>
            <a:xfrm>
              <a:off x="2559685" y="2166575"/>
              <a:ext cx="273600" cy="313500"/>
            </a:xfrm>
            <a:prstGeom prst="roundRect">
              <a:avLst>
                <a:gd fmla="val 16667" name="adj"/>
              </a:avLst>
            </a:prstGeom>
            <a:solidFill>
              <a:srgbClr val="EBEDFE"/>
            </a:solidFill>
            <a:ln cap="flat" cmpd="sng" w="9525">
              <a:solidFill>
                <a:srgbClr val="EBEDF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3" name="Google Shape;1293;p92"/>
            <p:cNvSpPr/>
            <p:nvPr/>
          </p:nvSpPr>
          <p:spPr>
            <a:xfrm>
              <a:off x="3018755" y="2161046"/>
              <a:ext cx="273600" cy="313500"/>
            </a:xfrm>
            <a:prstGeom prst="roundRect">
              <a:avLst>
                <a:gd fmla="val 16667" name="adj"/>
              </a:avLst>
            </a:prstGeom>
            <a:solidFill>
              <a:srgbClr val="EBEDFE"/>
            </a:solidFill>
            <a:ln cap="flat" cmpd="sng" w="9525">
              <a:solidFill>
                <a:srgbClr val="EBEDF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294" name="Google Shape;1294;p92"/>
          <p:cNvSpPr/>
          <p:nvPr/>
        </p:nvSpPr>
        <p:spPr>
          <a:xfrm>
            <a:off x="6549831" y="2177223"/>
            <a:ext cx="286800" cy="313500"/>
          </a:xfrm>
          <a:prstGeom prst="roundRect">
            <a:avLst>
              <a:gd fmla="val 16667" name="adj"/>
            </a:avLst>
          </a:prstGeom>
          <a:noFill/>
          <a:ln cap="flat" cmpd="sng" w="3810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5" name="Google Shape;1295;p92"/>
          <p:cNvSpPr/>
          <p:nvPr/>
        </p:nvSpPr>
        <p:spPr>
          <a:xfrm>
            <a:off x="6076906" y="2140227"/>
            <a:ext cx="347400" cy="313500"/>
          </a:xfrm>
          <a:prstGeom prst="roundRect">
            <a:avLst>
              <a:gd fmla="val 16667" name="adj"/>
            </a:avLst>
          </a:prstGeom>
          <a:noFill/>
          <a:ln cap="flat" cmpd="sng" w="19050">
            <a:solidFill>
              <a:srgbClr val="374CF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6" name="Google Shape;1296;p92"/>
          <p:cNvSpPr/>
          <p:nvPr/>
        </p:nvSpPr>
        <p:spPr>
          <a:xfrm>
            <a:off x="6076894" y="1669730"/>
            <a:ext cx="347400" cy="313500"/>
          </a:xfrm>
          <a:prstGeom prst="roundRect">
            <a:avLst>
              <a:gd fmla="val 16667" name="adj"/>
            </a:avLst>
          </a:prstGeom>
          <a:noFill/>
          <a:ln cap="flat" cmpd="sng" w="19050">
            <a:solidFill>
              <a:srgbClr val="374CF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297" name="Google Shape;1297;p92"/>
          <p:cNvGrpSpPr/>
          <p:nvPr/>
        </p:nvGrpSpPr>
        <p:grpSpPr>
          <a:xfrm>
            <a:off x="4887575" y="2667450"/>
            <a:ext cx="3949200" cy="630650"/>
            <a:chOff x="-100131" y="2667450"/>
            <a:chExt cx="3949200" cy="630650"/>
          </a:xfrm>
        </p:grpSpPr>
        <p:sp>
          <p:nvSpPr>
            <p:cNvPr id="1298" name="Google Shape;1298;p92"/>
            <p:cNvSpPr/>
            <p:nvPr/>
          </p:nvSpPr>
          <p:spPr>
            <a:xfrm>
              <a:off x="1590625" y="2667450"/>
              <a:ext cx="199500" cy="295500"/>
            </a:xfrm>
            <a:prstGeom prst="upArrow">
              <a:avLst>
                <a:gd fmla="val 50000" name="adj1"/>
                <a:gd fmla="val 50000" name="adj2"/>
              </a:avLst>
            </a:prstGeom>
            <a:solidFill>
              <a:srgbClr val="374CF1"/>
            </a:solidFill>
            <a:ln cap="flat" cmpd="sng" w="952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lam"/>
                <a:ea typeface="Kalam"/>
                <a:cs typeface="Kalam"/>
                <a:sym typeface="Kalam"/>
              </a:endParaRPr>
            </a:p>
          </p:txBody>
        </p:sp>
        <p:sp>
          <p:nvSpPr>
            <p:cNvPr id="1299" name="Google Shape;1299;p92"/>
            <p:cNvSpPr txBox="1"/>
            <p:nvPr/>
          </p:nvSpPr>
          <p:spPr>
            <a:xfrm>
              <a:off x="-100131" y="3020900"/>
              <a:ext cx="3949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Kalam"/>
                  <a:ea typeface="Kalam"/>
                  <a:cs typeface="Kalam"/>
                  <a:sym typeface="Kalam"/>
                </a:rPr>
                <a:t>The digit in this column is less than 5.</a:t>
              </a:r>
              <a:endParaRPr sz="1800">
                <a:solidFill>
                  <a:srgbClr val="000000"/>
                </a:solidFill>
                <a:latin typeface="Kalam"/>
                <a:ea typeface="Kalam"/>
                <a:cs typeface="Kalam"/>
                <a:sym typeface="Kalam"/>
              </a:endParaRPr>
            </a:p>
          </p:txBody>
        </p:sp>
      </p:grpSp>
      <p:sp>
        <p:nvSpPr>
          <p:cNvPr id="1300" name="Google Shape;1300;p92"/>
          <p:cNvSpPr txBox="1"/>
          <p:nvPr/>
        </p:nvSpPr>
        <p:spPr>
          <a:xfrm>
            <a:off x="4852848" y="3706700"/>
            <a:ext cx="3949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Kalam"/>
                <a:ea typeface="Kalam"/>
                <a:cs typeface="Kalam"/>
                <a:sym typeface="Kalam"/>
              </a:rPr>
              <a:t>We will round down to the lower value.</a:t>
            </a:r>
            <a:endParaRPr sz="1800">
              <a:solidFill>
                <a:srgbClr val="000000"/>
              </a:solidFill>
              <a:latin typeface="Kalam"/>
              <a:ea typeface="Kalam"/>
              <a:cs typeface="Kalam"/>
              <a:sym typeface="Kalam"/>
            </a:endParaRPr>
          </a:p>
        </p:txBody>
      </p:sp>
      <p:sp>
        <p:nvSpPr>
          <p:cNvPr id="1301" name="Google Shape;1301;p92"/>
          <p:cNvSpPr txBox="1"/>
          <p:nvPr/>
        </p:nvSpPr>
        <p:spPr>
          <a:xfrm>
            <a:off x="4852848" y="4392500"/>
            <a:ext cx="3949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Kalam"/>
                <a:ea typeface="Kalam"/>
                <a:cs typeface="Kalam"/>
                <a:sym typeface="Kalam"/>
              </a:rPr>
              <a:t>63.91</a:t>
            </a:r>
            <a:r>
              <a:rPr lang="en-GB" sz="1800">
                <a:latin typeface="Kalam"/>
                <a:ea typeface="Kalam"/>
                <a:cs typeface="Kalam"/>
                <a:sym typeface="Kalam"/>
              </a:rPr>
              <a:t> = 60 (1 s.f.)  </a:t>
            </a:r>
            <a:endParaRPr sz="1800">
              <a:solidFill>
                <a:srgbClr val="000000"/>
              </a:solidFill>
              <a:latin typeface="Kalam"/>
              <a:ea typeface="Kalam"/>
              <a:cs typeface="Kalam"/>
              <a:sym typeface="Kalam"/>
            </a:endParaRPr>
          </a:p>
        </p:txBody>
      </p:sp>
      <p:grpSp>
        <p:nvGrpSpPr>
          <p:cNvPr id="1302" name="Google Shape;1302;p92"/>
          <p:cNvGrpSpPr/>
          <p:nvPr/>
        </p:nvGrpSpPr>
        <p:grpSpPr>
          <a:xfrm>
            <a:off x="7171026" y="1613801"/>
            <a:ext cx="871971" cy="228900"/>
            <a:chOff x="6897025" y="1655350"/>
            <a:chExt cx="871971" cy="228900"/>
          </a:xfrm>
        </p:grpSpPr>
        <p:sp>
          <p:nvSpPr>
            <p:cNvPr id="1303" name="Google Shape;1303;p92"/>
            <p:cNvSpPr txBox="1"/>
            <p:nvPr/>
          </p:nvSpPr>
          <p:spPr>
            <a:xfrm>
              <a:off x="6897025"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1304" name="Google Shape;1304;p92"/>
            <p:cNvSpPr txBox="1"/>
            <p:nvPr/>
          </p:nvSpPr>
          <p:spPr>
            <a:xfrm>
              <a:off x="7380796"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grpSp>
      <p:sp>
        <p:nvSpPr>
          <p:cNvPr id="1305" name="Google Shape;1305;p92"/>
          <p:cNvSpPr txBox="1"/>
          <p:nvPr/>
        </p:nvSpPr>
        <p:spPr>
          <a:xfrm>
            <a:off x="337825" y="810000"/>
            <a:ext cx="3982200" cy="40104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800">
                <a:solidFill>
                  <a:srgbClr val="000000"/>
                </a:solidFill>
                <a:latin typeface="Lexend"/>
                <a:ea typeface="Lexend"/>
                <a:cs typeface="Lexend"/>
                <a:sym typeface="Lexend"/>
              </a:rPr>
              <a:t>Round </a:t>
            </a:r>
            <a:r>
              <a:rPr lang="en-GB" sz="1800">
                <a:latin typeface="Lexend"/>
                <a:ea typeface="Lexend"/>
                <a:cs typeface="Lexend"/>
                <a:sym typeface="Lexend"/>
              </a:rPr>
              <a:t>370.92</a:t>
            </a:r>
            <a:r>
              <a:rPr lang="en-GB" sz="1800">
                <a:solidFill>
                  <a:srgbClr val="000000"/>
                </a:solidFill>
                <a:latin typeface="Lexend"/>
                <a:ea typeface="Lexend"/>
                <a:cs typeface="Lexend"/>
                <a:sym typeface="Lexend"/>
              </a:rPr>
              <a:t> to one</a:t>
            </a:r>
            <a:r>
              <a:rPr lang="en-GB" sz="1800">
                <a:latin typeface="Lexend"/>
                <a:ea typeface="Lexend"/>
                <a:cs typeface="Lexend"/>
                <a:sym typeface="Lexend"/>
              </a:rPr>
              <a:t> </a:t>
            </a:r>
            <a:r>
              <a:rPr b="1" lang="en-GB" sz="1800">
                <a:latin typeface="Lexend"/>
                <a:ea typeface="Lexend"/>
                <a:cs typeface="Lexend"/>
                <a:sym typeface="Lexend"/>
              </a:rPr>
              <a:t>significant figure</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graphicFrame>
        <p:nvGraphicFramePr>
          <p:cNvPr id="1306" name="Google Shape;1306;p92"/>
          <p:cNvGraphicFramePr/>
          <p:nvPr/>
        </p:nvGraphicFramePr>
        <p:xfrm>
          <a:off x="1007801" y="1633180"/>
          <a:ext cx="3000000" cy="3000000"/>
        </p:xfrm>
        <a:graphic>
          <a:graphicData uri="http://schemas.openxmlformats.org/drawingml/2006/table">
            <a:tbl>
              <a:tblPr>
                <a:noFill/>
                <a:tableStyleId>{A1769C70-3405-48C6-B967-3B8FA869652B}</a:tableStyleId>
              </a:tblPr>
              <a:tblGrid>
                <a:gridCol w="475250"/>
                <a:gridCol w="475250"/>
                <a:gridCol w="475250"/>
                <a:gridCol w="475250"/>
                <a:gridCol w="475250"/>
              </a:tblGrid>
              <a:tr h="458200">
                <a:tc>
                  <a:txBody>
                    <a:bodyPr/>
                    <a:lstStyle/>
                    <a:p>
                      <a:pPr indent="0" lvl="0" marL="0" rtl="0" algn="ctr">
                        <a:spcBef>
                          <a:spcPts val="0"/>
                        </a:spcBef>
                        <a:spcAft>
                          <a:spcPts val="0"/>
                        </a:spcAft>
                        <a:buNone/>
                      </a:pPr>
                      <a:r>
                        <a:rPr lang="en-GB" sz="1300">
                          <a:latin typeface="Lexend"/>
                          <a:ea typeface="Lexend"/>
                          <a:cs typeface="Lexend"/>
                          <a:sym typeface="Lexend"/>
                        </a:rPr>
                        <a: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solidFill>
                            <a:srgbClr val="000000"/>
                          </a:solidFill>
                          <a:latin typeface="Lexend"/>
                          <a:ea typeface="Lexend"/>
                          <a:cs typeface="Lexend"/>
                          <a:sym typeface="Lexend"/>
                        </a:rPr>
                        <a:t>T</a:t>
                      </a:r>
                      <a:endParaRPr>
                        <a:solidFill>
                          <a:srgbClr val="000000"/>
                        </a:solidFill>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O</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T</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300">
                          <a:latin typeface="Lexend"/>
                          <a:ea typeface="Lexend"/>
                          <a:cs typeface="Lexend"/>
                          <a:sym typeface="Lexend"/>
                        </a:rPr>
                        <a:t>H</a:t>
                      </a:r>
                      <a:endParaRPr sz="13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58200">
                <a:tc>
                  <a:txBody>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7</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0</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9</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a:txBody>
                  <a:tcPr marT="91425" marB="91425"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307" name="Google Shape;1307;p92"/>
          <p:cNvSpPr txBox="1"/>
          <p:nvPr/>
        </p:nvSpPr>
        <p:spPr>
          <a:xfrm>
            <a:off x="2398510" y="1604329"/>
            <a:ext cx="122100" cy="378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000000"/>
                </a:solidFill>
                <a:latin typeface="Lexend"/>
                <a:ea typeface="Lexend"/>
                <a:cs typeface="Lexend"/>
                <a:sym typeface="Lexend"/>
              </a:rPr>
              <a:t>.</a:t>
            </a:r>
            <a:endParaRPr sz="2200">
              <a:solidFill>
                <a:srgbClr val="000000"/>
              </a:solidFill>
              <a:latin typeface="Lexend"/>
              <a:ea typeface="Lexend"/>
              <a:cs typeface="Lexend"/>
              <a:sym typeface="Lexend"/>
            </a:endParaRPr>
          </a:p>
        </p:txBody>
      </p:sp>
      <p:sp>
        <p:nvSpPr>
          <p:cNvPr id="1308" name="Google Shape;1308;p92"/>
          <p:cNvSpPr txBox="1"/>
          <p:nvPr/>
        </p:nvSpPr>
        <p:spPr>
          <a:xfrm>
            <a:off x="2398510" y="2113260"/>
            <a:ext cx="122100" cy="378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000000"/>
                </a:solidFill>
                <a:latin typeface="Lexend"/>
                <a:ea typeface="Lexend"/>
                <a:cs typeface="Lexend"/>
                <a:sym typeface="Lexend"/>
              </a:rPr>
              <a:t>.</a:t>
            </a:r>
            <a:endParaRPr sz="2200">
              <a:solidFill>
                <a:srgbClr val="000000"/>
              </a:solidFill>
              <a:latin typeface="Lexend"/>
              <a:ea typeface="Lexend"/>
              <a:cs typeface="Lexend"/>
              <a:sym typeface="Lexend"/>
            </a:endParaRPr>
          </a:p>
        </p:txBody>
      </p:sp>
      <p:grpSp>
        <p:nvGrpSpPr>
          <p:cNvPr id="1309" name="Google Shape;1309;p92"/>
          <p:cNvGrpSpPr/>
          <p:nvPr/>
        </p:nvGrpSpPr>
        <p:grpSpPr>
          <a:xfrm>
            <a:off x="1123275" y="2192537"/>
            <a:ext cx="2169080" cy="347675"/>
            <a:chOff x="1123275" y="2178655"/>
            <a:chExt cx="2169080" cy="347675"/>
          </a:xfrm>
        </p:grpSpPr>
        <p:sp>
          <p:nvSpPr>
            <p:cNvPr id="1310" name="Google Shape;1310;p92"/>
            <p:cNvSpPr/>
            <p:nvPr/>
          </p:nvSpPr>
          <p:spPr>
            <a:xfrm>
              <a:off x="1123275" y="2178655"/>
              <a:ext cx="273600" cy="3135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1" name="Google Shape;1311;p92"/>
            <p:cNvSpPr/>
            <p:nvPr/>
          </p:nvSpPr>
          <p:spPr>
            <a:xfrm>
              <a:off x="1600850" y="2212830"/>
              <a:ext cx="273600" cy="3135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2" name="Google Shape;1312;p92"/>
            <p:cNvSpPr/>
            <p:nvPr/>
          </p:nvSpPr>
          <p:spPr>
            <a:xfrm>
              <a:off x="2078425" y="2178655"/>
              <a:ext cx="273600" cy="3135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3" name="Google Shape;1313;p92"/>
            <p:cNvSpPr/>
            <p:nvPr/>
          </p:nvSpPr>
          <p:spPr>
            <a:xfrm>
              <a:off x="2559685" y="2212830"/>
              <a:ext cx="273600" cy="3135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4" name="Google Shape;1314;p92"/>
            <p:cNvSpPr/>
            <p:nvPr/>
          </p:nvSpPr>
          <p:spPr>
            <a:xfrm>
              <a:off x="3018755" y="2198050"/>
              <a:ext cx="273600" cy="3135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315" name="Google Shape;1315;p92"/>
          <p:cNvSpPr/>
          <p:nvPr/>
        </p:nvSpPr>
        <p:spPr>
          <a:xfrm>
            <a:off x="1581681" y="2195725"/>
            <a:ext cx="286800" cy="313500"/>
          </a:xfrm>
          <a:prstGeom prst="roundRect">
            <a:avLst>
              <a:gd fmla="val 16667" name="adj"/>
            </a:avLst>
          </a:prstGeom>
          <a:noFill/>
          <a:ln cap="flat" cmpd="sng" w="3810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6" name="Google Shape;1316;p92"/>
          <p:cNvSpPr/>
          <p:nvPr/>
        </p:nvSpPr>
        <p:spPr>
          <a:xfrm>
            <a:off x="1078231" y="2195733"/>
            <a:ext cx="347400" cy="313500"/>
          </a:xfrm>
          <a:prstGeom prst="roundRect">
            <a:avLst>
              <a:gd fmla="val 16667" name="adj"/>
            </a:avLst>
          </a:prstGeom>
          <a:noFill/>
          <a:ln cap="flat" cmpd="sng" w="19050">
            <a:solidFill>
              <a:srgbClr val="374CF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7" name="Google Shape;1317;p92"/>
          <p:cNvSpPr/>
          <p:nvPr/>
        </p:nvSpPr>
        <p:spPr>
          <a:xfrm>
            <a:off x="1078219" y="1669730"/>
            <a:ext cx="347400" cy="313500"/>
          </a:xfrm>
          <a:prstGeom prst="roundRect">
            <a:avLst>
              <a:gd fmla="val 16667" name="adj"/>
            </a:avLst>
          </a:prstGeom>
          <a:noFill/>
          <a:ln cap="flat" cmpd="sng" w="19050">
            <a:solidFill>
              <a:srgbClr val="374CF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318" name="Google Shape;1318;p92"/>
          <p:cNvGrpSpPr/>
          <p:nvPr/>
        </p:nvGrpSpPr>
        <p:grpSpPr>
          <a:xfrm>
            <a:off x="391775" y="2667450"/>
            <a:ext cx="4163400" cy="907550"/>
            <a:chOff x="-100131" y="2667450"/>
            <a:chExt cx="4163400" cy="907550"/>
          </a:xfrm>
        </p:grpSpPr>
        <p:sp>
          <p:nvSpPr>
            <p:cNvPr id="1319" name="Google Shape;1319;p92"/>
            <p:cNvSpPr/>
            <p:nvPr/>
          </p:nvSpPr>
          <p:spPr>
            <a:xfrm>
              <a:off x="1133425" y="2667450"/>
              <a:ext cx="199500" cy="295500"/>
            </a:xfrm>
            <a:prstGeom prst="upArrow">
              <a:avLst>
                <a:gd fmla="val 50000" name="adj1"/>
                <a:gd fmla="val 50000" name="adj2"/>
              </a:avLst>
            </a:prstGeom>
            <a:solidFill>
              <a:srgbClr val="374CF1"/>
            </a:solidFill>
            <a:ln cap="flat" cmpd="sng" w="952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0" name="Google Shape;1320;p92"/>
            <p:cNvSpPr txBox="1"/>
            <p:nvPr/>
          </p:nvSpPr>
          <p:spPr>
            <a:xfrm>
              <a:off x="-100131" y="3020900"/>
              <a:ext cx="41634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The digit in this column is greater than 5.</a:t>
              </a:r>
              <a:endParaRPr sz="1800">
                <a:solidFill>
                  <a:srgbClr val="000000"/>
                </a:solidFill>
                <a:latin typeface="Lexend"/>
                <a:ea typeface="Lexend"/>
                <a:cs typeface="Lexend"/>
                <a:sym typeface="Lexend"/>
              </a:endParaRPr>
            </a:p>
          </p:txBody>
        </p:sp>
      </p:grpSp>
      <p:sp>
        <p:nvSpPr>
          <p:cNvPr id="1321" name="Google Shape;1321;p92"/>
          <p:cNvSpPr txBox="1"/>
          <p:nvPr/>
        </p:nvSpPr>
        <p:spPr>
          <a:xfrm>
            <a:off x="357048" y="3706700"/>
            <a:ext cx="39492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We will round up to the higher value.</a:t>
            </a:r>
            <a:endParaRPr sz="1800">
              <a:solidFill>
                <a:srgbClr val="000000"/>
              </a:solidFill>
              <a:latin typeface="Lexend"/>
              <a:ea typeface="Lexend"/>
              <a:cs typeface="Lexend"/>
              <a:sym typeface="Lexend"/>
            </a:endParaRPr>
          </a:p>
        </p:txBody>
      </p:sp>
      <p:sp>
        <p:nvSpPr>
          <p:cNvPr id="1322" name="Google Shape;1322;p92"/>
          <p:cNvSpPr txBox="1"/>
          <p:nvPr/>
        </p:nvSpPr>
        <p:spPr>
          <a:xfrm>
            <a:off x="357048" y="4392500"/>
            <a:ext cx="3949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370.92 = 400 (1 s.f.)  </a:t>
            </a:r>
            <a:endParaRPr sz="1800">
              <a:solidFill>
                <a:srgbClr val="000000"/>
              </a:solidFill>
              <a:latin typeface="Lexend"/>
              <a:ea typeface="Lexend"/>
              <a:cs typeface="Lexend"/>
              <a:sym typeface="Lexend"/>
            </a:endParaRPr>
          </a:p>
        </p:txBody>
      </p:sp>
      <p:grpSp>
        <p:nvGrpSpPr>
          <p:cNvPr id="1323" name="Google Shape;1323;p92"/>
          <p:cNvGrpSpPr/>
          <p:nvPr/>
        </p:nvGrpSpPr>
        <p:grpSpPr>
          <a:xfrm>
            <a:off x="2675226" y="1613801"/>
            <a:ext cx="871971" cy="228900"/>
            <a:chOff x="6897025" y="1655350"/>
            <a:chExt cx="871971" cy="228900"/>
          </a:xfrm>
        </p:grpSpPr>
        <p:sp>
          <p:nvSpPr>
            <p:cNvPr id="1324" name="Google Shape;1324;p92"/>
            <p:cNvSpPr txBox="1"/>
            <p:nvPr/>
          </p:nvSpPr>
          <p:spPr>
            <a:xfrm>
              <a:off x="6897025"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sp>
          <p:nvSpPr>
            <p:cNvPr id="1325" name="Google Shape;1325;p92"/>
            <p:cNvSpPr txBox="1"/>
            <p:nvPr/>
          </p:nvSpPr>
          <p:spPr>
            <a:xfrm>
              <a:off x="7380796" y="1655350"/>
              <a:ext cx="3882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th</a:t>
              </a:r>
              <a:endParaRPr sz="800"/>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8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9" name="Shape 1329"/>
        <p:cNvGrpSpPr/>
        <p:nvPr/>
      </p:nvGrpSpPr>
      <p:grpSpPr>
        <a:xfrm>
          <a:off x="0" y="0"/>
          <a:ext cx="0" cy="0"/>
          <a:chOff x="0" y="0"/>
          <a:chExt cx="0" cy="0"/>
        </a:xfrm>
      </p:grpSpPr>
      <p:sp>
        <p:nvSpPr>
          <p:cNvPr id="1330" name="Google Shape;1330;p93"/>
          <p:cNvSpPr txBox="1"/>
          <p:nvPr/>
        </p:nvSpPr>
        <p:spPr>
          <a:xfrm>
            <a:off x="402725" y="2917402"/>
            <a:ext cx="2196900" cy="259500"/>
          </a:xfrm>
          <a:prstGeom prst="rect">
            <a:avLst/>
          </a:prstGeom>
          <a:noFill/>
          <a:ln>
            <a:noFill/>
          </a:ln>
        </p:spPr>
        <p:txBody>
          <a:bodyPr anchorCtr="0" anchor="t" bIns="0" lIns="0" spcFirstLastPara="1" rIns="0" wrap="square" tIns="0">
            <a:noAutofit/>
          </a:bodyPr>
          <a:lstStyle/>
          <a:p>
            <a:pPr indent="-342900" lvl="0" marL="457200" rtl="0" algn="just">
              <a:spcBef>
                <a:spcPts val="0"/>
              </a:spcBef>
              <a:spcAft>
                <a:spcPts val="0"/>
              </a:spcAft>
              <a:buClr>
                <a:srgbClr val="000000"/>
              </a:buClr>
              <a:buSzPts val="1800"/>
              <a:buFont typeface="Lexend"/>
              <a:buAutoNum type="arabicParenR"/>
            </a:pPr>
            <a:r>
              <a:rPr lang="en-GB" sz="1800">
                <a:latin typeface="Lexend"/>
                <a:ea typeface="Lexend"/>
                <a:cs typeface="Lexend"/>
                <a:sym typeface="Lexend"/>
              </a:rPr>
              <a:t>4682 ≈</a:t>
            </a:r>
            <a:r>
              <a:rPr lang="en-GB" sz="1800">
                <a:latin typeface="Kalam"/>
                <a:ea typeface="Kalam"/>
                <a:cs typeface="Kalam"/>
                <a:sym typeface="Kalam"/>
              </a:rPr>
              <a:t> </a:t>
            </a:r>
            <a:endParaRPr sz="1800">
              <a:solidFill>
                <a:schemeClr val="dk1"/>
              </a:solidFill>
              <a:latin typeface="Kalam"/>
              <a:ea typeface="Kalam"/>
              <a:cs typeface="Kalam"/>
              <a:sym typeface="Kalam"/>
            </a:endParaRPr>
          </a:p>
          <a:p>
            <a:pPr indent="0" lvl="0" marL="0" rtl="0" algn="l">
              <a:spcBef>
                <a:spcPts val="0"/>
              </a:spcBef>
              <a:spcAft>
                <a:spcPts val="0"/>
              </a:spcAft>
              <a:buNone/>
            </a:pPr>
            <a:r>
              <a:t/>
            </a:r>
            <a:endParaRPr sz="1800">
              <a:solidFill>
                <a:schemeClr val="dk1"/>
              </a:solidFill>
              <a:latin typeface="Kalam"/>
              <a:ea typeface="Kalam"/>
              <a:cs typeface="Kalam"/>
              <a:sym typeface="Kalam"/>
            </a:endParaRPr>
          </a:p>
        </p:txBody>
      </p:sp>
      <p:sp>
        <p:nvSpPr>
          <p:cNvPr id="1331" name="Google Shape;1331;p93"/>
          <p:cNvSpPr/>
          <p:nvPr/>
        </p:nvSpPr>
        <p:spPr>
          <a:xfrm>
            <a:off x="340875" y="4530970"/>
            <a:ext cx="2151900" cy="2595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2" name="Google Shape;1332;p93"/>
          <p:cNvSpPr/>
          <p:nvPr/>
        </p:nvSpPr>
        <p:spPr>
          <a:xfrm>
            <a:off x="340875" y="2928577"/>
            <a:ext cx="2151900" cy="2595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3" name="Google Shape;1333;p93"/>
          <p:cNvSpPr/>
          <p:nvPr/>
        </p:nvSpPr>
        <p:spPr>
          <a:xfrm>
            <a:off x="5877900" y="2910075"/>
            <a:ext cx="2596800" cy="11148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4" name="Google Shape;1334;p93"/>
          <p:cNvSpPr/>
          <p:nvPr/>
        </p:nvSpPr>
        <p:spPr>
          <a:xfrm>
            <a:off x="2747527" y="2910075"/>
            <a:ext cx="2817000" cy="19104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5" name="Google Shape;1335;p93"/>
          <p:cNvSpPr/>
          <p:nvPr/>
        </p:nvSpPr>
        <p:spPr>
          <a:xfrm>
            <a:off x="340875" y="3240000"/>
            <a:ext cx="2151900" cy="12354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6" name="Google Shape;1336;p93"/>
          <p:cNvSpPr txBox="1"/>
          <p:nvPr>
            <p:ph idx="1" type="body"/>
          </p:nvPr>
        </p:nvSpPr>
        <p:spPr>
          <a:xfrm>
            <a:off x="324000" y="646096"/>
            <a:ext cx="8237700" cy="1279200"/>
          </a:xfrm>
          <a:prstGeom prst="rect">
            <a:avLst/>
          </a:prstGeom>
        </p:spPr>
        <p:txBody>
          <a:bodyPr anchorCtr="0" anchor="t" bIns="0" lIns="0" spcFirstLastPara="1" rIns="0" wrap="square" tIns="0">
            <a:noAutofit/>
          </a:bodyPr>
          <a:lstStyle/>
          <a:p>
            <a:pPr indent="-342900" lvl="0" marL="457200" rtl="0" algn="l">
              <a:lnSpc>
                <a:spcPct val="80000"/>
              </a:lnSpc>
              <a:spcBef>
                <a:spcPts val="0"/>
              </a:spcBef>
              <a:spcAft>
                <a:spcPts val="0"/>
              </a:spcAft>
              <a:buSzPts val="1800"/>
              <a:buAutoNum type="arabicParenR"/>
            </a:pPr>
            <a:r>
              <a:rPr lang="en-GB" sz="1800"/>
              <a:t>Write each of the numbers below to one </a:t>
            </a:r>
            <a:r>
              <a:rPr b="1" lang="en-GB" sz="1800"/>
              <a:t>significant figure</a:t>
            </a:r>
            <a:r>
              <a:rPr lang="en-GB" sz="1800"/>
              <a:t>, find the answer in the grid to complete this joke:</a:t>
            </a:r>
            <a:endParaRPr sz="1800"/>
          </a:p>
          <a:p>
            <a:pPr indent="0" lvl="0" marL="0" rtl="0" algn="l">
              <a:lnSpc>
                <a:spcPct val="80000"/>
              </a:lnSpc>
              <a:spcBef>
                <a:spcPts val="1000"/>
              </a:spcBef>
              <a:spcAft>
                <a:spcPts val="0"/>
              </a:spcAft>
              <a:buNone/>
            </a:pPr>
            <a:r>
              <a:rPr lang="en-GB" sz="1800"/>
              <a:t>A sheepdog goes out to get the farmer’s sheep in.  He comes back and says to the farmer, ‘that’s all 100 sheep in the barn’. The farmer says, ‘that’s odd we only had 97 this morning’.  The sheepdog replies …</a:t>
            </a:r>
            <a:endParaRPr sz="1800"/>
          </a:p>
          <a:p>
            <a:pPr indent="0" lvl="0" marL="0" rtl="0" algn="l">
              <a:lnSpc>
                <a:spcPct val="80000"/>
              </a:lnSpc>
              <a:spcBef>
                <a:spcPts val="1000"/>
              </a:spcBef>
              <a:spcAft>
                <a:spcPts val="1000"/>
              </a:spcAft>
              <a:buNone/>
            </a:pPr>
            <a:r>
              <a:t/>
            </a:r>
            <a:endParaRPr sz="1800"/>
          </a:p>
        </p:txBody>
      </p:sp>
      <p:sp>
        <p:nvSpPr>
          <p:cNvPr id="1337" name="Google Shape;1337;p9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Rounding to one significant figure</a:t>
            </a:r>
            <a:endParaRPr/>
          </a:p>
        </p:txBody>
      </p:sp>
      <p:graphicFrame>
        <p:nvGraphicFramePr>
          <p:cNvPr id="1338" name="Google Shape;1338;p93"/>
          <p:cNvGraphicFramePr/>
          <p:nvPr/>
        </p:nvGraphicFramePr>
        <p:xfrm>
          <a:off x="323925" y="1885950"/>
          <a:ext cx="3000000" cy="3000000"/>
        </p:xfrm>
        <a:graphic>
          <a:graphicData uri="http://schemas.openxmlformats.org/drawingml/2006/table">
            <a:tbl>
              <a:tblPr>
                <a:noFill/>
                <a:tableStyleId>{A1769C70-3405-48C6-B967-3B8FA869652B}</a:tableStyleId>
              </a:tblPr>
              <a:tblGrid>
                <a:gridCol w="653550"/>
                <a:gridCol w="653550"/>
                <a:gridCol w="653550"/>
                <a:gridCol w="653550"/>
                <a:gridCol w="653550"/>
                <a:gridCol w="653550"/>
                <a:gridCol w="653550"/>
                <a:gridCol w="653550"/>
                <a:gridCol w="653550"/>
                <a:gridCol w="653550"/>
                <a:gridCol w="653550"/>
                <a:gridCol w="653550"/>
                <a:gridCol w="653550"/>
              </a:tblGrid>
              <a:tr h="224225">
                <a:tc>
                  <a:txBody>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D</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E</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F</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G</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H</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I</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J</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K</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L</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M</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224225">
                <a:tc>
                  <a:txBody>
                    <a:bodyPr/>
                    <a:lstStyle/>
                    <a:p>
                      <a:pPr indent="0" lvl="0" marL="0" rtl="0" algn="ctr">
                        <a:spcBef>
                          <a:spcPts val="0"/>
                        </a:spcBef>
                        <a:spcAft>
                          <a:spcPts val="0"/>
                        </a:spcAft>
                        <a:buNone/>
                      </a:pPr>
                      <a:r>
                        <a:rPr lang="en-GB">
                          <a:latin typeface="Lexend"/>
                          <a:ea typeface="Lexend"/>
                          <a:cs typeface="Lexend"/>
                          <a:sym typeface="Lexend"/>
                        </a:rPr>
                        <a:t>200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60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400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30 000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10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20 000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700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90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5000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20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100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9000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80 000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224225">
                <a:tc>
                  <a:txBody>
                    <a:bodyPr/>
                    <a:lstStyle/>
                    <a:p>
                      <a:pPr indent="0" lvl="0" marL="0" rtl="0" algn="ctr">
                        <a:spcBef>
                          <a:spcPts val="0"/>
                        </a:spcBef>
                        <a:spcAft>
                          <a:spcPts val="0"/>
                        </a:spcAft>
                        <a:buNone/>
                      </a:pPr>
                      <a:r>
                        <a:rPr lang="en-GB">
                          <a:latin typeface="Lexend"/>
                          <a:ea typeface="Lexend"/>
                          <a:cs typeface="Lexend"/>
                          <a:sym typeface="Lexend"/>
                        </a:rPr>
                        <a:t>N</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O</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P</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Q</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R</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S</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T</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U</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V</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W</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X</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Y</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Z</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224225">
                <a:tc>
                  <a:txBody>
                    <a:bodyPr/>
                    <a:lstStyle/>
                    <a:p>
                      <a:pPr indent="0" lvl="0" marL="0" rtl="0" algn="ctr">
                        <a:spcBef>
                          <a:spcPts val="0"/>
                        </a:spcBef>
                        <a:spcAft>
                          <a:spcPts val="0"/>
                        </a:spcAft>
                        <a:buNone/>
                      </a:pPr>
                      <a:r>
                        <a:rPr lang="en-GB">
                          <a:latin typeface="Lexend"/>
                          <a:ea typeface="Lexend"/>
                          <a:cs typeface="Lexend"/>
                          <a:sym typeface="Lexend"/>
                        </a:rPr>
                        <a:t>70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2000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7000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40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8000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300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10 000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800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900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1000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50 000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40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600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1339" name="Google Shape;1339;p93"/>
          <p:cNvSpPr txBox="1"/>
          <p:nvPr/>
        </p:nvSpPr>
        <p:spPr>
          <a:xfrm>
            <a:off x="2949050" y="2898900"/>
            <a:ext cx="2596800" cy="1939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    65 ≈</a:t>
            </a:r>
            <a:r>
              <a:rPr lang="en-GB" sz="1800">
                <a:solidFill>
                  <a:schemeClr val="dk1"/>
                </a:solidFill>
                <a:latin typeface="Kalam"/>
                <a:ea typeface="Kalam"/>
                <a:cs typeface="Kalam"/>
                <a:sym typeface="Kalam"/>
              </a:rPr>
              <a:t>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8)    </a:t>
            </a:r>
            <a:r>
              <a:rPr lang="en-GB" sz="1800">
                <a:solidFill>
                  <a:schemeClr val="dk1"/>
                </a:solidFill>
                <a:latin typeface="Lexend"/>
                <a:ea typeface="Lexend"/>
                <a:cs typeface="Lexend"/>
                <a:sym typeface="Lexend"/>
              </a:rPr>
              <a:t>13 ≈</a:t>
            </a:r>
            <a:r>
              <a:rPr lang="en-GB" sz="1800">
                <a:solidFill>
                  <a:schemeClr val="dk1"/>
                </a:solidFill>
                <a:latin typeface="Kalam"/>
                <a:ea typeface="Kalam"/>
                <a:cs typeface="Kalam"/>
                <a:sym typeface="Kalam"/>
              </a:rPr>
              <a:t>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9)    840 </a:t>
            </a:r>
            <a:r>
              <a:rPr lang="en-GB" sz="1800">
                <a:solidFill>
                  <a:schemeClr val="dk1"/>
                </a:solidFill>
                <a:latin typeface="Lexend"/>
                <a:ea typeface="Lexend"/>
                <a:cs typeface="Lexend"/>
                <a:sym typeface="Lexend"/>
              </a:rPr>
              <a:t>≈</a:t>
            </a:r>
            <a:r>
              <a:rPr lang="en-GB" sz="1800">
                <a:solidFill>
                  <a:schemeClr val="dk1"/>
                </a:solidFill>
                <a:latin typeface="Kalam"/>
                <a:ea typeface="Kalam"/>
                <a:cs typeface="Kalam"/>
                <a:sym typeface="Kalam"/>
              </a:rPr>
              <a:t>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10)  </a:t>
            </a:r>
            <a:r>
              <a:rPr lang="en-GB" sz="1800">
                <a:solidFill>
                  <a:schemeClr val="dk1"/>
                </a:solidFill>
                <a:latin typeface="Lexend"/>
                <a:ea typeface="Lexend"/>
                <a:cs typeface="Lexend"/>
                <a:sym typeface="Lexend"/>
              </a:rPr>
              <a:t>8287 ≈</a:t>
            </a:r>
            <a:r>
              <a:rPr lang="en-GB" sz="1800">
                <a:solidFill>
                  <a:schemeClr val="dk1"/>
                </a:solidFill>
                <a:latin typeface="Kalam"/>
                <a:ea typeface="Kalam"/>
                <a:cs typeface="Kalam"/>
                <a:sym typeface="Kalam"/>
              </a:rPr>
              <a:t> </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Lexend"/>
                <a:ea typeface="Lexend"/>
                <a:cs typeface="Lexend"/>
                <a:sym typeface="Lexend"/>
              </a:rPr>
              <a:t>11)   34 999 ≈</a:t>
            </a:r>
            <a:r>
              <a:rPr lang="en-GB" sz="1800">
                <a:solidFill>
                  <a:schemeClr val="dk1"/>
                </a:solidFill>
                <a:latin typeface="Kalam"/>
                <a:ea typeface="Kalam"/>
                <a:cs typeface="Kalam"/>
                <a:sym typeface="Kalam"/>
              </a:rPr>
              <a:t> </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12)  1560 ≈</a:t>
            </a:r>
            <a:r>
              <a:rPr lang="en-GB" sz="1800">
                <a:solidFill>
                  <a:schemeClr val="dk1"/>
                </a:solidFill>
                <a:latin typeface="Kalam"/>
                <a:ea typeface="Kalam"/>
                <a:cs typeface="Kalam"/>
                <a:sym typeface="Kalam"/>
              </a:rPr>
              <a:t> </a:t>
            </a:r>
            <a:r>
              <a:rPr lang="en-GB" sz="1800">
                <a:solidFill>
                  <a:schemeClr val="dk1"/>
                </a:solidFill>
                <a:latin typeface="Lexend"/>
                <a:ea typeface="Lexend"/>
                <a:cs typeface="Lexend"/>
                <a:sym typeface="Lexend"/>
              </a:rPr>
              <a:t>  </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Lexend"/>
                <a:ea typeface="Lexend"/>
                <a:cs typeface="Lexend"/>
                <a:sym typeface="Lexend"/>
              </a:rPr>
              <a:t>13)  25 873 ≈</a:t>
            </a:r>
            <a:r>
              <a:rPr lang="en-GB" sz="1800">
                <a:solidFill>
                  <a:schemeClr val="dk1"/>
                </a:solidFill>
                <a:latin typeface="Kalam"/>
                <a:ea typeface="Kalam"/>
                <a:cs typeface="Kalam"/>
                <a:sym typeface="Kalam"/>
              </a:rPr>
              <a:t> </a:t>
            </a:r>
            <a:endParaRPr sz="1800">
              <a:solidFill>
                <a:schemeClr val="dk1"/>
              </a:solidFill>
              <a:latin typeface="Kalam"/>
              <a:ea typeface="Kalam"/>
              <a:cs typeface="Kalam"/>
              <a:sym typeface="Kalam"/>
            </a:endParaRPr>
          </a:p>
        </p:txBody>
      </p:sp>
      <p:sp>
        <p:nvSpPr>
          <p:cNvPr id="1340" name="Google Shape;1340;p93"/>
          <p:cNvSpPr txBox="1"/>
          <p:nvPr/>
        </p:nvSpPr>
        <p:spPr>
          <a:xfrm>
            <a:off x="5977975" y="2898900"/>
            <a:ext cx="25968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14)   75 001 ≈</a:t>
            </a:r>
            <a:r>
              <a:rPr lang="en-GB" sz="1800">
                <a:solidFill>
                  <a:schemeClr val="dk1"/>
                </a:solidFill>
                <a:latin typeface="Kalam"/>
                <a:ea typeface="Kalam"/>
                <a:cs typeface="Kalam"/>
                <a:sym typeface="Kalam"/>
              </a:rPr>
              <a:t> </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Lexend"/>
                <a:ea typeface="Lexend"/>
                <a:cs typeface="Lexend"/>
                <a:sym typeface="Lexend"/>
              </a:rPr>
              <a:t>15)   94 ≈</a:t>
            </a:r>
            <a:r>
              <a:rPr lang="en-GB" sz="1800">
                <a:solidFill>
                  <a:schemeClr val="dk1"/>
                </a:solidFill>
                <a:latin typeface="Kalam"/>
                <a:ea typeface="Kalam"/>
                <a:cs typeface="Kalam"/>
                <a:sym typeface="Kalam"/>
              </a:rPr>
              <a:t> </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Lexend"/>
                <a:ea typeface="Lexend"/>
                <a:cs typeface="Lexend"/>
                <a:sym typeface="Lexend"/>
              </a:rPr>
              <a:t>16)   9810 ≈</a:t>
            </a:r>
            <a:r>
              <a:rPr lang="en-GB" sz="1800">
                <a:solidFill>
                  <a:schemeClr val="dk1"/>
                </a:solidFill>
                <a:latin typeface="Kalam"/>
                <a:ea typeface="Kalam"/>
                <a:cs typeface="Kalam"/>
                <a:sym typeface="Kalam"/>
              </a:rPr>
              <a:t> </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Lexend"/>
                <a:ea typeface="Lexend"/>
                <a:cs typeface="Lexend"/>
                <a:sym typeface="Lexend"/>
              </a:rPr>
              <a:t>17)   13 ≈</a:t>
            </a:r>
            <a:endParaRPr sz="1800">
              <a:solidFill>
                <a:schemeClr val="dk1"/>
              </a:solidFill>
              <a:latin typeface="Kalam"/>
              <a:ea typeface="Kalam"/>
              <a:cs typeface="Kalam"/>
              <a:sym typeface="Kalam"/>
            </a:endParaRPr>
          </a:p>
        </p:txBody>
      </p:sp>
      <p:sp>
        <p:nvSpPr>
          <p:cNvPr id="1341" name="Google Shape;1341;p93"/>
          <p:cNvSpPr txBox="1"/>
          <p:nvPr/>
        </p:nvSpPr>
        <p:spPr>
          <a:xfrm>
            <a:off x="410849" y="4512570"/>
            <a:ext cx="2196900" cy="259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    5498 ≈</a:t>
            </a:r>
            <a:r>
              <a:rPr lang="en-GB" sz="1800">
                <a:solidFill>
                  <a:schemeClr val="dk1"/>
                </a:solidFill>
                <a:latin typeface="Kalam"/>
                <a:ea typeface="Kalam"/>
                <a:cs typeface="Kalam"/>
                <a:sym typeface="Kalam"/>
              </a:rPr>
              <a:t> </a:t>
            </a:r>
            <a:endParaRPr sz="1800">
              <a:solidFill>
                <a:schemeClr val="dk1"/>
              </a:solidFill>
              <a:latin typeface="Kalam"/>
              <a:ea typeface="Kalam"/>
              <a:cs typeface="Kalam"/>
              <a:sym typeface="Kalam"/>
            </a:endParaRPr>
          </a:p>
        </p:txBody>
      </p:sp>
      <p:sp>
        <p:nvSpPr>
          <p:cNvPr id="1342" name="Google Shape;1342;p93"/>
          <p:cNvSpPr txBox="1"/>
          <p:nvPr/>
        </p:nvSpPr>
        <p:spPr>
          <a:xfrm>
            <a:off x="402750" y="3032456"/>
            <a:ext cx="2196900" cy="1426500"/>
          </a:xfrm>
          <a:prstGeom prst="rect">
            <a:avLst/>
          </a:prstGeom>
          <a:noFill/>
          <a:ln>
            <a:noFill/>
          </a:ln>
        </p:spPr>
        <p:txBody>
          <a:bodyPr anchorCtr="0" anchor="t" bIns="0" lIns="0" spcFirstLastPara="1" rIns="0" wrap="square" tIns="0">
            <a:noAutofit/>
          </a:bodyPr>
          <a:lstStyle/>
          <a:p>
            <a:pPr indent="0" lvl="0" marL="0" rtl="0" algn="just">
              <a:spcBef>
                <a:spcPts val="0"/>
              </a:spcBef>
              <a:spcAft>
                <a:spcPts val="0"/>
              </a:spcAft>
              <a:buNone/>
            </a:pPr>
            <a:r>
              <a:t/>
            </a:r>
            <a:endParaRPr sz="1800">
              <a:latin typeface="Lexend"/>
              <a:ea typeface="Lexend"/>
              <a:cs typeface="Lexend"/>
              <a:sym typeface="Lexend"/>
            </a:endParaRPr>
          </a:p>
          <a:p>
            <a:pPr indent="-342900" lvl="0" marL="457200" rtl="0" algn="just">
              <a:spcBef>
                <a:spcPts val="0"/>
              </a:spcBef>
              <a:spcAft>
                <a:spcPts val="0"/>
              </a:spcAft>
              <a:buSzPts val="1800"/>
              <a:buFont typeface="Lexend"/>
              <a:buAutoNum type="arabicParenR" startAt="2"/>
            </a:pPr>
            <a:r>
              <a:rPr lang="en-GB" sz="18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1800 ≈ </a:t>
            </a:r>
            <a:r>
              <a:rPr lang="en-GB" sz="1800">
                <a:latin typeface="Lexend"/>
                <a:ea typeface="Lexend"/>
                <a:cs typeface="Lexend"/>
                <a:sym typeface="Lexend"/>
              </a:rPr>
              <a:t>  </a:t>
            </a:r>
            <a:endParaRPr sz="1800">
              <a:latin typeface="Lexend"/>
              <a:ea typeface="Lexend"/>
              <a:cs typeface="Lexend"/>
              <a:sym typeface="Lexend"/>
            </a:endParaRPr>
          </a:p>
          <a:p>
            <a:pPr indent="-342900" lvl="0" marL="457200" rtl="0" algn="just">
              <a:spcBef>
                <a:spcPts val="0"/>
              </a:spcBef>
              <a:spcAft>
                <a:spcPts val="0"/>
              </a:spcAft>
              <a:buSzPts val="1800"/>
              <a:buFont typeface="Lexend"/>
              <a:buAutoNum type="arabicParenR" startAt="2"/>
            </a:pPr>
            <a:r>
              <a:rPr lang="en-GB" sz="1800">
                <a:solidFill>
                  <a:schemeClr val="dk1"/>
                </a:solidFill>
                <a:latin typeface="Lexend"/>
                <a:ea typeface="Lexend"/>
                <a:cs typeface="Lexend"/>
                <a:sym typeface="Lexend"/>
              </a:rPr>
              <a:t>1499 ≈ </a:t>
            </a:r>
            <a:endParaRPr sz="1800">
              <a:latin typeface="Lexend"/>
              <a:ea typeface="Lexend"/>
              <a:cs typeface="Lexend"/>
              <a:sym typeface="Lexend"/>
            </a:endParaRPr>
          </a:p>
          <a:p>
            <a:pPr indent="-342900" lvl="0" marL="457200" rtl="0" algn="just">
              <a:spcBef>
                <a:spcPts val="0"/>
              </a:spcBef>
              <a:spcAft>
                <a:spcPts val="0"/>
              </a:spcAft>
              <a:buSzPts val="1800"/>
              <a:buFont typeface="Lexend"/>
              <a:buAutoNum type="arabicParenR" startAt="2"/>
            </a:pPr>
            <a:r>
              <a:rPr lang="en-GB" sz="1800">
                <a:latin typeface="Lexend"/>
                <a:ea typeface="Lexend"/>
                <a:cs typeface="Lexend"/>
                <a:sym typeface="Lexend"/>
              </a:rPr>
              <a:t>71 </a:t>
            </a:r>
            <a:r>
              <a:rPr lang="en-GB" sz="1800">
                <a:solidFill>
                  <a:schemeClr val="dk1"/>
                </a:solidFill>
                <a:latin typeface="Lexend"/>
                <a:ea typeface="Lexend"/>
                <a:cs typeface="Lexend"/>
                <a:sym typeface="Lexend"/>
              </a:rPr>
              <a:t>≈ </a:t>
            </a:r>
            <a:endParaRPr sz="1800">
              <a:latin typeface="Lexend"/>
              <a:ea typeface="Lexend"/>
              <a:cs typeface="Lexend"/>
              <a:sym typeface="Lexend"/>
            </a:endParaRPr>
          </a:p>
          <a:p>
            <a:pPr indent="-342900" lvl="0" marL="457200" rtl="0" algn="just">
              <a:spcBef>
                <a:spcPts val="0"/>
              </a:spcBef>
              <a:spcAft>
                <a:spcPts val="0"/>
              </a:spcAft>
              <a:buSzPts val="1800"/>
              <a:buFont typeface="Lexend"/>
              <a:buAutoNum type="arabicParenR" startAt="2"/>
            </a:pPr>
            <a:r>
              <a:rPr lang="en-GB" sz="1800">
                <a:solidFill>
                  <a:schemeClr val="dk1"/>
                </a:solidFill>
                <a:latin typeface="Lexend"/>
                <a:ea typeface="Lexend"/>
                <a:cs typeface="Lexend"/>
                <a:sym typeface="Lexend"/>
              </a:rPr>
              <a:t>104 ≈ </a:t>
            </a:r>
            <a:endParaRPr sz="1800">
              <a:solidFill>
                <a:schemeClr val="dk1"/>
              </a:solidFill>
              <a:latin typeface="Lexend"/>
              <a:ea typeface="Lexend"/>
              <a:cs typeface="Lexend"/>
              <a:sym typeface="Lexend"/>
            </a:endParaRPr>
          </a:p>
        </p:txBody>
      </p:sp>
      <p:sp>
        <p:nvSpPr>
          <p:cNvPr id="1343" name="Google Shape;1343;p93"/>
          <p:cNvSpPr/>
          <p:nvPr/>
        </p:nvSpPr>
        <p:spPr>
          <a:xfrm>
            <a:off x="5901775" y="4045575"/>
            <a:ext cx="2596800" cy="5541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4" name="Google Shape;1344;p93"/>
          <p:cNvSpPr txBox="1"/>
          <p:nvPr/>
        </p:nvSpPr>
        <p:spPr>
          <a:xfrm>
            <a:off x="5977975" y="4062595"/>
            <a:ext cx="25968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18)   7459 ≈</a:t>
            </a:r>
            <a:r>
              <a:rPr lang="en-GB" sz="1800">
                <a:solidFill>
                  <a:schemeClr val="dk1"/>
                </a:solidFill>
                <a:latin typeface="Kalam"/>
                <a:ea typeface="Kalam"/>
                <a:cs typeface="Kalam"/>
                <a:sym typeface="Kalam"/>
              </a:rPr>
              <a:t>       </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Lexend"/>
                <a:ea typeface="Lexend"/>
                <a:cs typeface="Lexend"/>
                <a:sym typeface="Lexend"/>
              </a:rPr>
              <a:t>19)   762 ≈</a:t>
            </a:r>
            <a:r>
              <a:rPr lang="en-GB" sz="1800">
                <a:solidFill>
                  <a:schemeClr val="dk1"/>
                </a:solidFill>
                <a:latin typeface="Kalam"/>
                <a:ea typeface="Kalam"/>
                <a:cs typeface="Kalam"/>
                <a:sym typeface="Kalam"/>
              </a:rPr>
              <a:t>     </a:t>
            </a:r>
            <a:endParaRPr sz="1800">
              <a:solidFill>
                <a:schemeClr val="dk1"/>
              </a:solidFill>
              <a:latin typeface="Kalam"/>
              <a:ea typeface="Kalam"/>
              <a:cs typeface="Kalam"/>
              <a:sym typeface="Kalam"/>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8" name="Shape 1348"/>
        <p:cNvGrpSpPr/>
        <p:nvPr/>
      </p:nvGrpSpPr>
      <p:grpSpPr>
        <a:xfrm>
          <a:off x="0" y="0"/>
          <a:ext cx="0" cy="0"/>
          <a:chOff x="0" y="0"/>
          <a:chExt cx="0" cy="0"/>
        </a:xfrm>
      </p:grpSpPr>
      <p:sp>
        <p:nvSpPr>
          <p:cNvPr id="1349" name="Google Shape;1349;p94"/>
          <p:cNvSpPr txBox="1"/>
          <p:nvPr>
            <p:ph idx="1" type="body"/>
          </p:nvPr>
        </p:nvSpPr>
        <p:spPr>
          <a:xfrm>
            <a:off x="379505" y="759300"/>
            <a:ext cx="8237700" cy="4061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2)  What values can the missing digit take?</a:t>
            </a:r>
            <a:endParaRPr/>
          </a:p>
          <a:p>
            <a:pPr indent="-368300" lvl="0" marL="457200" rtl="0" algn="l">
              <a:lnSpc>
                <a:spcPct val="100000"/>
              </a:lnSpc>
              <a:spcBef>
                <a:spcPts val="1000"/>
              </a:spcBef>
              <a:spcAft>
                <a:spcPts val="0"/>
              </a:spcAft>
              <a:buSzPts val="2200"/>
              <a:buAutoNum type="alphaLcParenR"/>
            </a:pPr>
            <a:r>
              <a:rPr lang="en-GB"/>
              <a:t>4?90 = 4000 (1 s.f.)</a:t>
            </a:r>
            <a:endParaRPr/>
          </a:p>
          <a:p>
            <a:pPr indent="0" lvl="0" marL="457200" rtl="0" algn="l">
              <a:lnSpc>
                <a:spcPct val="100000"/>
              </a:lnSpc>
              <a:spcBef>
                <a:spcPts val="1000"/>
              </a:spcBef>
              <a:spcAft>
                <a:spcPts val="0"/>
              </a:spcAft>
              <a:buNone/>
            </a:pPr>
            <a:r>
              <a:rPr lang="en-GB"/>
              <a:t>? = </a:t>
            </a:r>
            <a:endParaRPr>
              <a:latin typeface="Kalam"/>
              <a:ea typeface="Kalam"/>
              <a:cs typeface="Kalam"/>
              <a:sym typeface="Kalam"/>
            </a:endParaRPr>
          </a:p>
          <a:p>
            <a:pPr indent="-368300" lvl="0" marL="457200" rtl="0" algn="l">
              <a:lnSpc>
                <a:spcPct val="100000"/>
              </a:lnSpc>
              <a:spcBef>
                <a:spcPts val="1000"/>
              </a:spcBef>
              <a:spcAft>
                <a:spcPts val="0"/>
              </a:spcAft>
              <a:buSzPts val="2200"/>
              <a:buAutoNum type="alphaLcParenR"/>
            </a:pPr>
            <a:r>
              <a:rPr lang="en-GB"/>
              <a:t>9?12 = 10 000  (1 s.f.)</a:t>
            </a:r>
            <a:endParaRPr/>
          </a:p>
          <a:p>
            <a:pPr indent="0" lvl="0" marL="0" rtl="0" algn="l">
              <a:lnSpc>
                <a:spcPct val="100000"/>
              </a:lnSpc>
              <a:spcBef>
                <a:spcPts val="1000"/>
              </a:spcBef>
              <a:spcAft>
                <a:spcPts val="0"/>
              </a:spcAft>
              <a:buNone/>
            </a:pPr>
            <a:r>
              <a:rPr lang="en-GB"/>
              <a:t>	? = </a:t>
            </a:r>
            <a:endParaRPr>
              <a:latin typeface="Kalam"/>
              <a:ea typeface="Kalam"/>
              <a:cs typeface="Kalam"/>
              <a:sym typeface="Kalam"/>
            </a:endParaRPr>
          </a:p>
          <a:p>
            <a:pPr indent="-368300" lvl="0" marL="457200" rtl="0" algn="l">
              <a:lnSpc>
                <a:spcPct val="100000"/>
              </a:lnSpc>
              <a:spcBef>
                <a:spcPts val="1000"/>
              </a:spcBef>
              <a:spcAft>
                <a:spcPts val="0"/>
              </a:spcAft>
              <a:buSzPts val="2200"/>
              <a:buAutoNum type="alphaLcParenR"/>
            </a:pPr>
            <a:r>
              <a:rPr lang="en-GB"/>
              <a:t>34 ?90 = 30 000 (1 s.f.)</a:t>
            </a:r>
            <a:endParaRPr/>
          </a:p>
          <a:p>
            <a:pPr indent="0" lvl="0" marL="457200" rtl="0" algn="l">
              <a:lnSpc>
                <a:spcPct val="100000"/>
              </a:lnSpc>
              <a:spcBef>
                <a:spcPts val="1000"/>
              </a:spcBef>
              <a:spcAft>
                <a:spcPts val="0"/>
              </a:spcAft>
              <a:buNone/>
            </a:pPr>
            <a:r>
              <a:rPr lang="en-GB"/>
              <a:t>? = </a:t>
            </a:r>
            <a:endParaRPr>
              <a:latin typeface="Kalam"/>
              <a:ea typeface="Kalam"/>
              <a:cs typeface="Kalam"/>
              <a:sym typeface="Kalam"/>
            </a:endParaRPr>
          </a:p>
          <a:p>
            <a:pPr indent="-368300" lvl="0" marL="457200" rtl="0" algn="l">
              <a:lnSpc>
                <a:spcPct val="100000"/>
              </a:lnSpc>
              <a:spcBef>
                <a:spcPts val="1000"/>
              </a:spcBef>
              <a:spcAft>
                <a:spcPts val="0"/>
              </a:spcAft>
              <a:buSzPts val="2200"/>
              <a:buAutoNum type="alphaLcParenR"/>
            </a:pPr>
            <a:r>
              <a:rPr lang="en-GB"/>
              <a:t>678? = 7000 (1 s.f.)</a:t>
            </a:r>
            <a:endParaRPr/>
          </a:p>
          <a:p>
            <a:pPr indent="0" lvl="0" marL="457200" rtl="0" algn="l">
              <a:lnSpc>
                <a:spcPct val="100000"/>
              </a:lnSpc>
              <a:spcBef>
                <a:spcPts val="1000"/>
              </a:spcBef>
              <a:spcAft>
                <a:spcPts val="1000"/>
              </a:spcAft>
              <a:buNone/>
            </a:pPr>
            <a:r>
              <a:rPr lang="en-GB"/>
              <a:t>? = </a:t>
            </a:r>
            <a:endParaRPr>
              <a:latin typeface="Kalam"/>
              <a:ea typeface="Kalam"/>
              <a:cs typeface="Kalam"/>
              <a:sym typeface="Kalam"/>
            </a:endParaRPr>
          </a:p>
        </p:txBody>
      </p:sp>
      <p:sp>
        <p:nvSpPr>
          <p:cNvPr id="1350" name="Google Shape;1350;p9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Rounding to one significant figure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4" name="Shape 1354"/>
        <p:cNvGrpSpPr/>
        <p:nvPr/>
      </p:nvGrpSpPr>
      <p:grpSpPr>
        <a:xfrm>
          <a:off x="0" y="0"/>
          <a:ext cx="0" cy="0"/>
          <a:chOff x="0" y="0"/>
          <a:chExt cx="0" cy="0"/>
        </a:xfrm>
      </p:grpSpPr>
      <p:sp>
        <p:nvSpPr>
          <p:cNvPr id="1355" name="Google Shape;1355;p95"/>
          <p:cNvSpPr/>
          <p:nvPr/>
        </p:nvSpPr>
        <p:spPr>
          <a:xfrm>
            <a:off x="340875" y="4530975"/>
            <a:ext cx="2276100" cy="2595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6" name="Google Shape;1356;p95"/>
          <p:cNvSpPr/>
          <p:nvPr/>
        </p:nvSpPr>
        <p:spPr>
          <a:xfrm>
            <a:off x="340875" y="3240000"/>
            <a:ext cx="2276100" cy="12354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7" name="Google Shape;1357;p95"/>
          <p:cNvSpPr/>
          <p:nvPr/>
        </p:nvSpPr>
        <p:spPr>
          <a:xfrm>
            <a:off x="5721622" y="4045575"/>
            <a:ext cx="2659800" cy="5541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8" name="Google Shape;1358;p95"/>
          <p:cNvSpPr/>
          <p:nvPr/>
        </p:nvSpPr>
        <p:spPr>
          <a:xfrm>
            <a:off x="5697747" y="2900825"/>
            <a:ext cx="2892000" cy="11148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9" name="Google Shape;1359;p95"/>
          <p:cNvSpPr/>
          <p:nvPr/>
        </p:nvSpPr>
        <p:spPr>
          <a:xfrm>
            <a:off x="2747527" y="2910075"/>
            <a:ext cx="2817000" cy="19104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0" name="Google Shape;1360;p95"/>
          <p:cNvSpPr txBox="1"/>
          <p:nvPr/>
        </p:nvSpPr>
        <p:spPr>
          <a:xfrm>
            <a:off x="410849" y="4512570"/>
            <a:ext cx="2196900" cy="259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    5498 ≈ </a:t>
            </a:r>
            <a:r>
              <a:rPr lang="en-GB" sz="1800">
                <a:solidFill>
                  <a:schemeClr val="dk1"/>
                </a:solidFill>
                <a:latin typeface="Kalam"/>
                <a:ea typeface="Kalam"/>
                <a:cs typeface="Kalam"/>
                <a:sym typeface="Kalam"/>
              </a:rPr>
              <a:t>5000   I</a:t>
            </a:r>
            <a:r>
              <a:rPr lang="en-GB" sz="1800">
                <a:solidFill>
                  <a:schemeClr val="dk1"/>
                </a:solidFill>
                <a:latin typeface="Kalam"/>
                <a:ea typeface="Kalam"/>
                <a:cs typeface="Kalam"/>
                <a:sym typeface="Kalam"/>
              </a:rPr>
              <a:t> </a:t>
            </a:r>
            <a:endParaRPr sz="1800">
              <a:solidFill>
                <a:schemeClr val="dk1"/>
              </a:solidFill>
              <a:latin typeface="Kalam"/>
              <a:ea typeface="Kalam"/>
              <a:cs typeface="Kalam"/>
              <a:sym typeface="Kalam"/>
            </a:endParaRPr>
          </a:p>
        </p:txBody>
      </p:sp>
      <p:sp>
        <p:nvSpPr>
          <p:cNvPr id="1361" name="Google Shape;1361;p95"/>
          <p:cNvSpPr txBox="1"/>
          <p:nvPr/>
        </p:nvSpPr>
        <p:spPr>
          <a:xfrm>
            <a:off x="402750" y="3032456"/>
            <a:ext cx="2196900" cy="1426500"/>
          </a:xfrm>
          <a:prstGeom prst="rect">
            <a:avLst/>
          </a:prstGeom>
          <a:noFill/>
          <a:ln>
            <a:noFill/>
          </a:ln>
        </p:spPr>
        <p:txBody>
          <a:bodyPr anchorCtr="0" anchor="t" bIns="0" lIns="0" spcFirstLastPara="1" rIns="0" wrap="square" tIns="0">
            <a:noAutofit/>
          </a:bodyPr>
          <a:lstStyle/>
          <a:p>
            <a:pPr indent="0" lvl="0" marL="0" rtl="0" algn="just">
              <a:spcBef>
                <a:spcPts val="0"/>
              </a:spcBef>
              <a:spcAft>
                <a:spcPts val="0"/>
              </a:spcAft>
              <a:buNone/>
            </a:pPr>
            <a:r>
              <a:t/>
            </a:r>
            <a:endParaRPr sz="1800">
              <a:latin typeface="Lexend"/>
              <a:ea typeface="Lexend"/>
              <a:cs typeface="Lexend"/>
              <a:sym typeface="Lexend"/>
            </a:endParaRPr>
          </a:p>
          <a:p>
            <a:pPr indent="-342900" lvl="0" marL="457200" rtl="0" algn="just">
              <a:spcBef>
                <a:spcPts val="0"/>
              </a:spcBef>
              <a:spcAft>
                <a:spcPts val="0"/>
              </a:spcAft>
              <a:buSzPts val="1800"/>
              <a:buFont typeface="Lexend"/>
              <a:buAutoNum type="arabicParenR" startAt="2"/>
            </a:pPr>
            <a:r>
              <a:rPr lang="en-GB" sz="1800">
                <a:solidFill>
                  <a:schemeClr val="dk1"/>
                </a:solidFill>
                <a:latin typeface="Lexend"/>
                <a:ea typeface="Lexend"/>
                <a:cs typeface="Lexend"/>
                <a:sym typeface="Lexend"/>
              </a:rPr>
              <a:t> 1800 ≈ </a:t>
            </a:r>
            <a:r>
              <a:rPr lang="en-GB" sz="1800">
                <a:solidFill>
                  <a:schemeClr val="dk1"/>
                </a:solidFill>
                <a:latin typeface="Kalam"/>
                <a:ea typeface="Kalam"/>
                <a:cs typeface="Kalam"/>
                <a:sym typeface="Kalam"/>
              </a:rPr>
              <a:t>2000</a:t>
            </a:r>
            <a:r>
              <a:rPr lang="en-GB" sz="1800">
                <a:solidFill>
                  <a:schemeClr val="dk1"/>
                </a:solidFill>
                <a:latin typeface="Lexend"/>
                <a:ea typeface="Lexend"/>
                <a:cs typeface="Lexend"/>
                <a:sym typeface="Lexend"/>
              </a:rPr>
              <a:t> </a:t>
            </a:r>
            <a:r>
              <a:rPr lang="en-GB" sz="1800">
                <a:solidFill>
                  <a:schemeClr val="dk1"/>
                </a:solidFill>
                <a:latin typeface="Kalam"/>
                <a:ea typeface="Kalam"/>
                <a:cs typeface="Kalam"/>
                <a:sym typeface="Kalam"/>
              </a:rPr>
              <a:t>  0</a:t>
            </a:r>
            <a:r>
              <a:rPr lang="en-GB" sz="1800">
                <a:solidFill>
                  <a:schemeClr val="dk1"/>
                </a:solidFill>
                <a:latin typeface="Lexend"/>
                <a:ea typeface="Lexend"/>
                <a:cs typeface="Lexend"/>
                <a:sym typeface="Lexend"/>
              </a:rPr>
              <a:t> </a:t>
            </a:r>
            <a:r>
              <a:rPr lang="en-GB" sz="1800">
                <a:latin typeface="Lexend"/>
                <a:ea typeface="Lexend"/>
                <a:cs typeface="Lexend"/>
                <a:sym typeface="Lexend"/>
              </a:rPr>
              <a:t>  </a:t>
            </a:r>
            <a:endParaRPr sz="1800">
              <a:latin typeface="Lexend"/>
              <a:ea typeface="Lexend"/>
              <a:cs typeface="Lexend"/>
              <a:sym typeface="Lexend"/>
            </a:endParaRPr>
          </a:p>
          <a:p>
            <a:pPr indent="-342900" lvl="0" marL="457200" rtl="0" algn="just">
              <a:spcBef>
                <a:spcPts val="0"/>
              </a:spcBef>
              <a:spcAft>
                <a:spcPts val="0"/>
              </a:spcAft>
              <a:buSzPts val="1800"/>
              <a:buFont typeface="Lexend"/>
              <a:buAutoNum type="arabicParenR" startAt="2"/>
            </a:pPr>
            <a:r>
              <a:rPr lang="en-GB" sz="1800">
                <a:solidFill>
                  <a:schemeClr val="dk1"/>
                </a:solidFill>
                <a:latin typeface="Lexend"/>
                <a:ea typeface="Lexend"/>
                <a:cs typeface="Lexend"/>
                <a:sym typeface="Lexend"/>
              </a:rPr>
              <a:t>1499 ≈  </a:t>
            </a:r>
            <a:r>
              <a:rPr lang="en-GB" sz="1800">
                <a:solidFill>
                  <a:schemeClr val="dk1"/>
                </a:solidFill>
                <a:latin typeface="Kalam"/>
                <a:ea typeface="Kalam"/>
                <a:cs typeface="Kalam"/>
                <a:sym typeface="Kalam"/>
              </a:rPr>
              <a:t>1000   W</a:t>
            </a:r>
            <a:endParaRPr sz="1800">
              <a:latin typeface="Lexend"/>
              <a:ea typeface="Lexend"/>
              <a:cs typeface="Lexend"/>
              <a:sym typeface="Lexend"/>
            </a:endParaRPr>
          </a:p>
          <a:p>
            <a:pPr indent="-342900" lvl="0" marL="457200" rtl="0" algn="just">
              <a:spcBef>
                <a:spcPts val="0"/>
              </a:spcBef>
              <a:spcAft>
                <a:spcPts val="0"/>
              </a:spcAft>
              <a:buSzPts val="1800"/>
              <a:buFont typeface="Lexend"/>
              <a:buAutoNum type="arabicParenR" startAt="2"/>
            </a:pPr>
            <a:r>
              <a:rPr lang="en-GB" sz="1800">
                <a:latin typeface="Lexend"/>
                <a:ea typeface="Lexend"/>
                <a:cs typeface="Lexend"/>
                <a:sym typeface="Lexend"/>
              </a:rPr>
              <a:t>71 </a:t>
            </a:r>
            <a:r>
              <a:rPr lang="en-GB" sz="1800">
                <a:solidFill>
                  <a:schemeClr val="dk1"/>
                </a:solidFill>
                <a:latin typeface="Lexend"/>
                <a:ea typeface="Lexend"/>
                <a:cs typeface="Lexend"/>
                <a:sym typeface="Lexend"/>
              </a:rPr>
              <a:t>≈ </a:t>
            </a:r>
            <a:r>
              <a:rPr lang="en-GB" sz="1800">
                <a:solidFill>
                  <a:schemeClr val="dk1"/>
                </a:solidFill>
                <a:latin typeface="Kalam"/>
                <a:ea typeface="Kalam"/>
                <a:cs typeface="Kalam"/>
                <a:sym typeface="Kalam"/>
              </a:rPr>
              <a:t>70         N </a:t>
            </a:r>
            <a:endParaRPr sz="1800">
              <a:latin typeface="Lexend"/>
              <a:ea typeface="Lexend"/>
              <a:cs typeface="Lexend"/>
              <a:sym typeface="Lexend"/>
            </a:endParaRPr>
          </a:p>
          <a:p>
            <a:pPr indent="-342900" lvl="0" marL="457200" rtl="0" algn="just">
              <a:spcBef>
                <a:spcPts val="0"/>
              </a:spcBef>
              <a:spcAft>
                <a:spcPts val="0"/>
              </a:spcAft>
              <a:buSzPts val="1800"/>
              <a:buFont typeface="Lexend"/>
              <a:buAutoNum type="arabicParenR" startAt="2"/>
            </a:pPr>
            <a:r>
              <a:rPr lang="en-GB" sz="1800">
                <a:solidFill>
                  <a:schemeClr val="dk1"/>
                </a:solidFill>
                <a:latin typeface="Lexend"/>
                <a:ea typeface="Lexend"/>
                <a:cs typeface="Lexend"/>
                <a:sym typeface="Lexend"/>
              </a:rPr>
              <a:t>104 ≈ </a:t>
            </a:r>
            <a:r>
              <a:rPr lang="en-GB" sz="1800">
                <a:solidFill>
                  <a:schemeClr val="dk1"/>
                </a:solidFill>
                <a:latin typeface="Kalam"/>
                <a:ea typeface="Kalam"/>
                <a:cs typeface="Kalam"/>
                <a:sym typeface="Kalam"/>
              </a:rPr>
              <a:t>100      K</a:t>
            </a:r>
            <a:endParaRPr sz="1800">
              <a:solidFill>
                <a:schemeClr val="dk1"/>
              </a:solidFill>
              <a:latin typeface="Lexend"/>
              <a:ea typeface="Lexend"/>
              <a:cs typeface="Lexend"/>
              <a:sym typeface="Lexend"/>
            </a:endParaRPr>
          </a:p>
        </p:txBody>
      </p:sp>
      <p:sp>
        <p:nvSpPr>
          <p:cNvPr id="1362" name="Google Shape;1362;p95"/>
          <p:cNvSpPr/>
          <p:nvPr/>
        </p:nvSpPr>
        <p:spPr>
          <a:xfrm>
            <a:off x="340875" y="2928575"/>
            <a:ext cx="2276100" cy="259500"/>
          </a:xfrm>
          <a:prstGeom prst="roundRect">
            <a:avLst>
              <a:gd fmla="val 16667"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3" name="Google Shape;1363;p9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Rounding to one significant figure</a:t>
            </a:r>
            <a:endParaRPr/>
          </a:p>
        </p:txBody>
      </p:sp>
      <p:graphicFrame>
        <p:nvGraphicFramePr>
          <p:cNvPr id="1364" name="Google Shape;1364;p95"/>
          <p:cNvGraphicFramePr/>
          <p:nvPr/>
        </p:nvGraphicFramePr>
        <p:xfrm>
          <a:off x="323925" y="1885950"/>
          <a:ext cx="3000000" cy="3000000"/>
        </p:xfrm>
        <a:graphic>
          <a:graphicData uri="http://schemas.openxmlformats.org/drawingml/2006/table">
            <a:tbl>
              <a:tblPr>
                <a:noFill/>
                <a:tableStyleId>{A1769C70-3405-48C6-B967-3B8FA869652B}</a:tableStyleId>
              </a:tblPr>
              <a:tblGrid>
                <a:gridCol w="653550"/>
                <a:gridCol w="653550"/>
                <a:gridCol w="653550"/>
                <a:gridCol w="653550"/>
                <a:gridCol w="653550"/>
                <a:gridCol w="653550"/>
                <a:gridCol w="653550"/>
                <a:gridCol w="653550"/>
                <a:gridCol w="653550"/>
                <a:gridCol w="653550"/>
                <a:gridCol w="653550"/>
                <a:gridCol w="653550"/>
                <a:gridCol w="653550"/>
              </a:tblGrid>
              <a:tr h="224225">
                <a:tc>
                  <a:txBody>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D</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E</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F</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G</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H</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I</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J</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K</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L</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M</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224225">
                <a:tc>
                  <a:txBody>
                    <a:bodyPr/>
                    <a:lstStyle/>
                    <a:p>
                      <a:pPr indent="0" lvl="0" marL="0" rtl="0" algn="ctr">
                        <a:spcBef>
                          <a:spcPts val="0"/>
                        </a:spcBef>
                        <a:spcAft>
                          <a:spcPts val="0"/>
                        </a:spcAft>
                        <a:buNone/>
                      </a:pPr>
                      <a:r>
                        <a:rPr lang="en-GB">
                          <a:latin typeface="Lexend"/>
                          <a:ea typeface="Lexend"/>
                          <a:cs typeface="Lexend"/>
                          <a:sym typeface="Lexend"/>
                        </a:rPr>
                        <a:t>200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60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400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30 000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10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20 000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700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90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5000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20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100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9000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80 000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224225">
                <a:tc>
                  <a:txBody>
                    <a:bodyPr/>
                    <a:lstStyle/>
                    <a:p>
                      <a:pPr indent="0" lvl="0" marL="0" rtl="0" algn="ctr">
                        <a:spcBef>
                          <a:spcPts val="0"/>
                        </a:spcBef>
                        <a:spcAft>
                          <a:spcPts val="0"/>
                        </a:spcAft>
                        <a:buNone/>
                      </a:pPr>
                      <a:r>
                        <a:rPr lang="en-GB">
                          <a:latin typeface="Lexend"/>
                          <a:ea typeface="Lexend"/>
                          <a:cs typeface="Lexend"/>
                          <a:sym typeface="Lexend"/>
                        </a:rPr>
                        <a:t>N</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O</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P</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Q</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R</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S</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T</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U</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V</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W</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X</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Y</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Z</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224225">
                <a:tc>
                  <a:txBody>
                    <a:bodyPr/>
                    <a:lstStyle/>
                    <a:p>
                      <a:pPr indent="0" lvl="0" marL="0" rtl="0" algn="ctr">
                        <a:spcBef>
                          <a:spcPts val="0"/>
                        </a:spcBef>
                        <a:spcAft>
                          <a:spcPts val="0"/>
                        </a:spcAft>
                        <a:buNone/>
                      </a:pPr>
                      <a:r>
                        <a:rPr lang="en-GB">
                          <a:latin typeface="Lexend"/>
                          <a:ea typeface="Lexend"/>
                          <a:cs typeface="Lexend"/>
                          <a:sym typeface="Lexend"/>
                        </a:rPr>
                        <a:t>70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2000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7000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40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8000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300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10 000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800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900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1000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50 000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40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Lexend"/>
                          <a:ea typeface="Lexend"/>
                          <a:cs typeface="Lexend"/>
                          <a:sym typeface="Lexend"/>
                        </a:rPr>
                        <a:t>600</a:t>
                      </a:r>
                      <a:endParaRPr>
                        <a:latin typeface="Lexend"/>
                        <a:ea typeface="Lexend"/>
                        <a:cs typeface="Lexend"/>
                        <a:sym typeface="Lexend"/>
                      </a:endParaRPr>
                    </a:p>
                  </a:txBody>
                  <a:tcPr marT="18000" marB="18000" marR="18000" marL="18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1365" name="Google Shape;1365;p95"/>
          <p:cNvSpPr txBox="1"/>
          <p:nvPr/>
        </p:nvSpPr>
        <p:spPr>
          <a:xfrm>
            <a:off x="5658113" y="4568790"/>
            <a:ext cx="2825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Kalam"/>
                <a:ea typeface="Kalam"/>
                <a:cs typeface="Kalam"/>
                <a:sym typeface="Kalam"/>
              </a:rPr>
              <a:t>‘I know, I </a:t>
            </a:r>
            <a:r>
              <a:rPr lang="en-GB" sz="1800">
                <a:latin typeface="Kalam"/>
                <a:ea typeface="Kalam"/>
                <a:cs typeface="Kalam"/>
                <a:sym typeface="Kalam"/>
              </a:rPr>
              <a:t>rounded</a:t>
            </a:r>
            <a:r>
              <a:rPr lang="en-GB" sz="1800">
                <a:latin typeface="Kalam"/>
                <a:ea typeface="Kalam"/>
                <a:cs typeface="Kalam"/>
                <a:sym typeface="Kalam"/>
              </a:rPr>
              <a:t> them up!’</a:t>
            </a:r>
            <a:endParaRPr sz="1800">
              <a:solidFill>
                <a:srgbClr val="000000"/>
              </a:solidFill>
              <a:latin typeface="Kalam"/>
              <a:ea typeface="Kalam"/>
              <a:cs typeface="Kalam"/>
              <a:sym typeface="Kalam"/>
            </a:endParaRPr>
          </a:p>
        </p:txBody>
      </p:sp>
      <p:sp>
        <p:nvSpPr>
          <p:cNvPr id="1366" name="Google Shape;1366;p95"/>
          <p:cNvSpPr txBox="1"/>
          <p:nvPr/>
        </p:nvSpPr>
        <p:spPr>
          <a:xfrm>
            <a:off x="402725" y="2917400"/>
            <a:ext cx="2276100" cy="259500"/>
          </a:xfrm>
          <a:prstGeom prst="rect">
            <a:avLst/>
          </a:prstGeom>
          <a:noFill/>
          <a:ln>
            <a:noFill/>
          </a:ln>
        </p:spPr>
        <p:txBody>
          <a:bodyPr anchorCtr="0" anchor="t" bIns="0" lIns="0" spcFirstLastPara="1" rIns="0" wrap="square" tIns="0">
            <a:noAutofit/>
          </a:bodyPr>
          <a:lstStyle/>
          <a:p>
            <a:pPr indent="-342900" lvl="0" marL="457200" rtl="0" algn="just">
              <a:spcBef>
                <a:spcPts val="0"/>
              </a:spcBef>
              <a:spcAft>
                <a:spcPts val="0"/>
              </a:spcAft>
              <a:buClr>
                <a:srgbClr val="000000"/>
              </a:buClr>
              <a:buSzPts val="1800"/>
              <a:buFont typeface="Lexend"/>
              <a:buAutoNum type="arabicParenR"/>
            </a:pPr>
            <a:r>
              <a:rPr lang="en-GB" sz="1800">
                <a:latin typeface="Lexend"/>
                <a:ea typeface="Lexend"/>
                <a:cs typeface="Lexend"/>
                <a:sym typeface="Lexend"/>
              </a:rPr>
              <a:t>4682 ≈ </a:t>
            </a:r>
            <a:r>
              <a:rPr lang="en-GB" sz="1800">
                <a:solidFill>
                  <a:schemeClr val="dk1"/>
                </a:solidFill>
                <a:latin typeface="Kalam"/>
                <a:ea typeface="Kalam"/>
                <a:cs typeface="Kalam"/>
                <a:sym typeface="Kalam"/>
              </a:rPr>
              <a:t>5000   I</a:t>
            </a:r>
            <a:r>
              <a:rPr lang="en-GB" sz="1800">
                <a:latin typeface="Kalam"/>
                <a:ea typeface="Kalam"/>
                <a:cs typeface="Kalam"/>
                <a:sym typeface="Kalam"/>
              </a:rPr>
              <a:t> </a:t>
            </a:r>
            <a:endParaRPr sz="1800">
              <a:solidFill>
                <a:schemeClr val="dk1"/>
              </a:solidFill>
              <a:latin typeface="Kalam"/>
              <a:ea typeface="Kalam"/>
              <a:cs typeface="Kalam"/>
              <a:sym typeface="Kalam"/>
            </a:endParaRPr>
          </a:p>
        </p:txBody>
      </p:sp>
      <p:sp>
        <p:nvSpPr>
          <p:cNvPr id="1367" name="Google Shape;1367;p95"/>
          <p:cNvSpPr txBox="1"/>
          <p:nvPr/>
        </p:nvSpPr>
        <p:spPr>
          <a:xfrm>
            <a:off x="2949050" y="2898900"/>
            <a:ext cx="2596800" cy="2216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7)    65 ≈</a:t>
            </a:r>
            <a:r>
              <a:rPr lang="en-GB" sz="1800">
                <a:solidFill>
                  <a:schemeClr val="dk1"/>
                </a:solidFill>
                <a:latin typeface="Kalam"/>
                <a:ea typeface="Kalam"/>
                <a:cs typeface="Kalam"/>
                <a:sym typeface="Kalam"/>
              </a:rPr>
              <a:t> 70            N</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8)    13 ≈</a:t>
            </a:r>
            <a:r>
              <a:rPr lang="en-GB" sz="1800">
                <a:solidFill>
                  <a:schemeClr val="dk1"/>
                </a:solidFill>
                <a:latin typeface="Kalam"/>
                <a:ea typeface="Kalam"/>
                <a:cs typeface="Kalam"/>
                <a:sym typeface="Kalam"/>
              </a:rPr>
              <a:t> 10             E</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9)    840 ≈</a:t>
            </a:r>
            <a:r>
              <a:rPr lang="en-GB" sz="1800">
                <a:solidFill>
                  <a:schemeClr val="dk1"/>
                </a:solidFill>
                <a:latin typeface="Kalam"/>
                <a:ea typeface="Kalam"/>
                <a:cs typeface="Kalam"/>
                <a:sym typeface="Kalam"/>
              </a:rPr>
              <a:t> 800         U </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10)  8287 ≈</a:t>
            </a:r>
            <a:r>
              <a:rPr lang="en-GB" sz="1800">
                <a:solidFill>
                  <a:schemeClr val="dk1"/>
                </a:solidFill>
                <a:latin typeface="Kalam"/>
                <a:ea typeface="Kalam"/>
                <a:cs typeface="Kalam"/>
                <a:sym typeface="Kalam"/>
              </a:rPr>
              <a:t> 8000       R</a:t>
            </a:r>
            <a:r>
              <a:rPr lang="en-GB" sz="1800">
                <a:solidFill>
                  <a:schemeClr val="dk1"/>
                </a:solidFill>
                <a:latin typeface="Lexend"/>
                <a:ea typeface="Lexend"/>
                <a:cs typeface="Lexend"/>
                <a:sym typeface="Lexend"/>
              </a:rPr>
              <a:t> </a:t>
            </a:r>
            <a:endParaRPr sz="1800">
              <a:solidFill>
                <a:schemeClr val="dk1"/>
              </a:solidFill>
              <a:latin typeface="Kalam"/>
              <a:ea typeface="Kalam"/>
              <a:cs typeface="Kalam"/>
              <a:sym typeface="Kalam"/>
            </a:endParaRPr>
          </a:p>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11)   34 999 ≈</a:t>
            </a:r>
            <a:r>
              <a:rPr lang="en-GB" sz="1800">
                <a:solidFill>
                  <a:schemeClr val="dk1"/>
                </a:solidFill>
                <a:latin typeface="Kalam"/>
                <a:ea typeface="Kalam"/>
                <a:cs typeface="Kalam"/>
                <a:sym typeface="Kalam"/>
              </a:rPr>
              <a:t> 30 000  D</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12)  1560 ≈</a:t>
            </a:r>
            <a:r>
              <a:rPr lang="en-GB" sz="1800">
                <a:solidFill>
                  <a:schemeClr val="dk1"/>
                </a:solidFill>
                <a:latin typeface="Kalam"/>
                <a:ea typeface="Kalam"/>
                <a:cs typeface="Kalam"/>
                <a:sym typeface="Kalam"/>
              </a:rPr>
              <a:t> 2000       0 </a:t>
            </a:r>
            <a:r>
              <a:rPr lang="en-GB" sz="1800">
                <a:solidFill>
                  <a:schemeClr val="dk1"/>
                </a:solidFill>
                <a:latin typeface="Lexend"/>
                <a:ea typeface="Lexend"/>
                <a:cs typeface="Lexend"/>
                <a:sym typeface="Lexend"/>
              </a:rPr>
              <a:t>  </a:t>
            </a:r>
            <a:endParaRPr sz="1800">
              <a:solidFill>
                <a:schemeClr val="dk1"/>
              </a:solidFill>
              <a:latin typeface="Kalam"/>
              <a:ea typeface="Kalam"/>
              <a:cs typeface="Kalam"/>
              <a:sym typeface="Kalam"/>
            </a:endParaRPr>
          </a:p>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13)  25 873 ≈</a:t>
            </a:r>
            <a:r>
              <a:rPr lang="en-GB" sz="1800">
                <a:solidFill>
                  <a:schemeClr val="dk1"/>
                </a:solidFill>
                <a:latin typeface="Kalam"/>
                <a:ea typeface="Kalam"/>
                <a:cs typeface="Kalam"/>
                <a:sym typeface="Kalam"/>
              </a:rPr>
              <a:t> 30 000  D</a:t>
            </a:r>
            <a:endParaRPr sz="1800">
              <a:solidFill>
                <a:schemeClr val="dk1"/>
              </a:solidFill>
              <a:latin typeface="Kalam"/>
              <a:ea typeface="Kalam"/>
              <a:cs typeface="Kalam"/>
              <a:sym typeface="Kalam"/>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p:txBody>
      </p:sp>
      <p:sp>
        <p:nvSpPr>
          <p:cNvPr id="1368" name="Google Shape;1368;p95"/>
          <p:cNvSpPr txBox="1"/>
          <p:nvPr/>
        </p:nvSpPr>
        <p:spPr>
          <a:xfrm>
            <a:off x="5797822" y="2889649"/>
            <a:ext cx="25968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14)   75 001 ≈</a:t>
            </a:r>
            <a:r>
              <a:rPr lang="en-GB" sz="1800">
                <a:solidFill>
                  <a:schemeClr val="dk1"/>
                </a:solidFill>
                <a:latin typeface="Kalam"/>
                <a:ea typeface="Kalam"/>
                <a:cs typeface="Kalam"/>
                <a:sym typeface="Kalam"/>
              </a:rPr>
              <a:t> 80 000  M</a:t>
            </a:r>
            <a:endParaRPr sz="1800">
              <a:solidFill>
                <a:schemeClr val="dk1"/>
              </a:solidFill>
              <a:latin typeface="Kalam"/>
              <a:ea typeface="Kalam"/>
              <a:cs typeface="Kalam"/>
              <a:sym typeface="Kalam"/>
            </a:endParaRPr>
          </a:p>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15)   94 ≈</a:t>
            </a:r>
            <a:r>
              <a:rPr lang="en-GB" sz="1800">
                <a:solidFill>
                  <a:schemeClr val="dk1"/>
                </a:solidFill>
                <a:latin typeface="Kalam"/>
                <a:ea typeface="Kalam"/>
                <a:cs typeface="Kalam"/>
                <a:sym typeface="Kalam"/>
              </a:rPr>
              <a:t> 90            H</a:t>
            </a:r>
            <a:r>
              <a:rPr lang="en-GB" sz="1800">
                <a:solidFill>
                  <a:schemeClr val="dk1"/>
                </a:solidFill>
                <a:latin typeface="Lexend"/>
                <a:ea typeface="Lexend"/>
                <a:cs typeface="Lexend"/>
                <a:sym typeface="Lexend"/>
              </a:rPr>
              <a:t> 16)   9810 ≈</a:t>
            </a:r>
            <a:r>
              <a:rPr lang="en-GB" sz="1800">
                <a:solidFill>
                  <a:schemeClr val="dk1"/>
                </a:solidFill>
                <a:latin typeface="Kalam"/>
                <a:ea typeface="Kalam"/>
                <a:cs typeface="Kalam"/>
                <a:sym typeface="Kalam"/>
              </a:rPr>
              <a:t> 10 000     T</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Lexend"/>
                <a:ea typeface="Lexend"/>
                <a:cs typeface="Lexend"/>
                <a:sym typeface="Lexend"/>
              </a:rPr>
              <a:t>17)   13 ≈</a:t>
            </a:r>
            <a:r>
              <a:rPr lang="en-GB" sz="1800">
                <a:solidFill>
                  <a:schemeClr val="dk1"/>
                </a:solidFill>
                <a:latin typeface="Kalam"/>
                <a:ea typeface="Kalam"/>
                <a:cs typeface="Kalam"/>
                <a:sym typeface="Kalam"/>
              </a:rPr>
              <a:t> 10             E</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t/>
            </a:r>
            <a:endParaRPr sz="1800">
              <a:solidFill>
                <a:schemeClr val="dk1"/>
              </a:solidFill>
              <a:latin typeface="Lexend"/>
              <a:ea typeface="Lexend"/>
              <a:cs typeface="Lexend"/>
              <a:sym typeface="Lexend"/>
            </a:endParaRPr>
          </a:p>
        </p:txBody>
      </p:sp>
      <p:sp>
        <p:nvSpPr>
          <p:cNvPr id="1369" name="Google Shape;1369;p95"/>
          <p:cNvSpPr txBox="1"/>
          <p:nvPr/>
        </p:nvSpPr>
        <p:spPr>
          <a:xfrm>
            <a:off x="5797825" y="4062600"/>
            <a:ext cx="26853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18)   7459 ≈</a:t>
            </a:r>
            <a:r>
              <a:rPr lang="en-GB" sz="1800">
                <a:solidFill>
                  <a:schemeClr val="dk1"/>
                </a:solidFill>
                <a:latin typeface="Kalam"/>
                <a:ea typeface="Kalam"/>
                <a:cs typeface="Kalam"/>
                <a:sym typeface="Kalam"/>
              </a:rPr>
              <a:t> 7000       P</a:t>
            </a:r>
            <a:endParaRPr sz="1800">
              <a:solidFill>
                <a:schemeClr val="dk1"/>
              </a:solidFill>
              <a:latin typeface="Kalam"/>
              <a:ea typeface="Kalam"/>
              <a:cs typeface="Kalam"/>
              <a:sym typeface="Kalam"/>
            </a:endParaRPr>
          </a:p>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19)   762 ≈</a:t>
            </a:r>
            <a:r>
              <a:rPr lang="en-GB" sz="1800">
                <a:solidFill>
                  <a:schemeClr val="dk1"/>
                </a:solidFill>
                <a:latin typeface="Kalam"/>
                <a:ea typeface="Kalam"/>
                <a:cs typeface="Kalam"/>
                <a:sym typeface="Kalam"/>
              </a:rPr>
              <a:t> 800         U</a:t>
            </a:r>
            <a:endParaRPr sz="1800">
              <a:solidFill>
                <a:schemeClr val="dk1"/>
              </a:solidFill>
              <a:latin typeface="Lexend"/>
              <a:ea typeface="Lexend"/>
              <a:cs typeface="Lexend"/>
              <a:sym typeface="Lexend"/>
            </a:endParaRPr>
          </a:p>
        </p:txBody>
      </p:sp>
      <p:sp>
        <p:nvSpPr>
          <p:cNvPr id="1370" name="Google Shape;1370;p95"/>
          <p:cNvSpPr txBox="1"/>
          <p:nvPr>
            <p:ph idx="1" type="body"/>
          </p:nvPr>
        </p:nvSpPr>
        <p:spPr>
          <a:xfrm>
            <a:off x="324000" y="646096"/>
            <a:ext cx="8237700" cy="1279200"/>
          </a:xfrm>
          <a:prstGeom prst="rect">
            <a:avLst/>
          </a:prstGeom>
        </p:spPr>
        <p:txBody>
          <a:bodyPr anchorCtr="0" anchor="t" bIns="0" lIns="0" spcFirstLastPara="1" rIns="0" wrap="square" tIns="0">
            <a:noAutofit/>
          </a:bodyPr>
          <a:lstStyle/>
          <a:p>
            <a:pPr indent="-342900" lvl="0" marL="457200" rtl="0" algn="l">
              <a:lnSpc>
                <a:spcPct val="80000"/>
              </a:lnSpc>
              <a:spcBef>
                <a:spcPts val="0"/>
              </a:spcBef>
              <a:spcAft>
                <a:spcPts val="0"/>
              </a:spcAft>
              <a:buSzPts val="1800"/>
              <a:buAutoNum type="arabicParenR"/>
            </a:pPr>
            <a:r>
              <a:rPr lang="en-GB" sz="1800"/>
              <a:t>Write each of the numbers below to one </a:t>
            </a:r>
            <a:r>
              <a:rPr b="1" lang="en-GB" sz="1800"/>
              <a:t>significant figure</a:t>
            </a:r>
            <a:r>
              <a:rPr lang="en-GB" sz="1800"/>
              <a:t>, find the answer in the grid to complete this joke:</a:t>
            </a:r>
            <a:endParaRPr sz="1800"/>
          </a:p>
          <a:p>
            <a:pPr indent="0" lvl="0" marL="0" rtl="0" algn="l">
              <a:lnSpc>
                <a:spcPct val="80000"/>
              </a:lnSpc>
              <a:spcBef>
                <a:spcPts val="1000"/>
              </a:spcBef>
              <a:spcAft>
                <a:spcPts val="0"/>
              </a:spcAft>
              <a:buNone/>
            </a:pPr>
            <a:r>
              <a:rPr lang="en-GB" sz="1800"/>
              <a:t>A sheepdog goes out to get the farmer’s sheep in.  He comes back and says to the farmer, ‘that’s all 100 sheep in the barn’. The farmer says, ‘that’s odd we only had 97 this morning’.  The sheepdog replies …</a:t>
            </a:r>
            <a:endParaRPr sz="1800"/>
          </a:p>
          <a:p>
            <a:pPr indent="0" lvl="0" marL="0" rtl="0" algn="l">
              <a:lnSpc>
                <a:spcPct val="80000"/>
              </a:lnSpc>
              <a:spcBef>
                <a:spcPts val="1000"/>
              </a:spcBef>
              <a:spcAft>
                <a:spcPts val="1000"/>
              </a:spcAft>
              <a:buNone/>
            </a:pPr>
            <a:r>
              <a:t/>
            </a:r>
            <a:endParaRPr sz="18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4" name="Shape 1374"/>
        <p:cNvGrpSpPr/>
        <p:nvPr/>
      </p:nvGrpSpPr>
      <p:grpSpPr>
        <a:xfrm>
          <a:off x="0" y="0"/>
          <a:ext cx="0" cy="0"/>
          <a:chOff x="0" y="0"/>
          <a:chExt cx="0" cy="0"/>
        </a:xfrm>
      </p:grpSpPr>
      <p:sp>
        <p:nvSpPr>
          <p:cNvPr id="1375" name="Google Shape;1375;p96"/>
          <p:cNvSpPr txBox="1"/>
          <p:nvPr>
            <p:ph idx="1" type="body"/>
          </p:nvPr>
        </p:nvSpPr>
        <p:spPr>
          <a:xfrm>
            <a:off x="379505" y="759300"/>
            <a:ext cx="8237700" cy="42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2)  What values can the missing digit take?</a:t>
            </a:r>
            <a:endParaRPr/>
          </a:p>
          <a:p>
            <a:pPr indent="-368300" lvl="0" marL="457200" rtl="0" algn="l">
              <a:lnSpc>
                <a:spcPct val="100000"/>
              </a:lnSpc>
              <a:spcBef>
                <a:spcPts val="1000"/>
              </a:spcBef>
              <a:spcAft>
                <a:spcPts val="0"/>
              </a:spcAft>
              <a:buSzPts val="2200"/>
              <a:buAutoNum type="alphaLcParenR"/>
            </a:pPr>
            <a:r>
              <a:rPr lang="en-GB"/>
              <a:t>4?90 = 4000 (1 s.f.)</a:t>
            </a:r>
            <a:endParaRPr/>
          </a:p>
          <a:p>
            <a:pPr indent="0" lvl="0" marL="457200" rtl="0" algn="l">
              <a:lnSpc>
                <a:spcPct val="100000"/>
              </a:lnSpc>
              <a:spcBef>
                <a:spcPts val="1000"/>
              </a:spcBef>
              <a:spcAft>
                <a:spcPts val="0"/>
              </a:spcAft>
              <a:buNone/>
            </a:pPr>
            <a:r>
              <a:rPr lang="en-GB">
                <a:latin typeface="Kalam"/>
                <a:ea typeface="Kalam"/>
                <a:cs typeface="Kalam"/>
                <a:sym typeface="Kalam"/>
              </a:rPr>
              <a:t>0, 1, 2, 3 or 4 </a:t>
            </a:r>
            <a:endParaRPr>
              <a:latin typeface="Kalam"/>
              <a:ea typeface="Kalam"/>
              <a:cs typeface="Kalam"/>
              <a:sym typeface="Kalam"/>
            </a:endParaRPr>
          </a:p>
          <a:p>
            <a:pPr indent="-368300" lvl="0" marL="457200" rtl="0" algn="l">
              <a:lnSpc>
                <a:spcPct val="100000"/>
              </a:lnSpc>
              <a:spcBef>
                <a:spcPts val="1000"/>
              </a:spcBef>
              <a:spcAft>
                <a:spcPts val="0"/>
              </a:spcAft>
              <a:buSzPts val="2200"/>
              <a:buAutoNum type="alphaLcParenR"/>
            </a:pPr>
            <a:r>
              <a:rPr lang="en-GB"/>
              <a:t>9?12 = 10 000  (1 s.f.)</a:t>
            </a:r>
            <a:endParaRPr/>
          </a:p>
          <a:p>
            <a:pPr indent="0" lvl="0" marL="0" rtl="0" algn="l">
              <a:lnSpc>
                <a:spcPct val="100000"/>
              </a:lnSpc>
              <a:spcBef>
                <a:spcPts val="1000"/>
              </a:spcBef>
              <a:spcAft>
                <a:spcPts val="0"/>
              </a:spcAft>
              <a:buNone/>
            </a:pPr>
            <a:r>
              <a:rPr lang="en-GB"/>
              <a:t>	</a:t>
            </a:r>
            <a:r>
              <a:rPr lang="en-GB">
                <a:latin typeface="Kalam"/>
                <a:ea typeface="Kalam"/>
                <a:cs typeface="Kalam"/>
                <a:sym typeface="Kalam"/>
              </a:rPr>
              <a:t>5, 6, 7, 8, or 9</a:t>
            </a:r>
            <a:endParaRPr>
              <a:latin typeface="Kalam"/>
              <a:ea typeface="Kalam"/>
              <a:cs typeface="Kalam"/>
              <a:sym typeface="Kalam"/>
            </a:endParaRPr>
          </a:p>
          <a:p>
            <a:pPr indent="-368300" lvl="0" marL="457200" rtl="0" algn="l">
              <a:lnSpc>
                <a:spcPct val="100000"/>
              </a:lnSpc>
              <a:spcBef>
                <a:spcPts val="1000"/>
              </a:spcBef>
              <a:spcAft>
                <a:spcPts val="0"/>
              </a:spcAft>
              <a:buSzPts val="2200"/>
              <a:buAutoNum type="alphaLcParenR"/>
            </a:pPr>
            <a:r>
              <a:rPr lang="en-GB"/>
              <a:t>34 ?90 = 30 000 (1 s.f.)</a:t>
            </a:r>
            <a:endParaRPr/>
          </a:p>
          <a:p>
            <a:pPr indent="0" lvl="0" marL="457200" rtl="0" algn="l">
              <a:lnSpc>
                <a:spcPct val="100000"/>
              </a:lnSpc>
              <a:spcBef>
                <a:spcPts val="1000"/>
              </a:spcBef>
              <a:spcAft>
                <a:spcPts val="0"/>
              </a:spcAft>
              <a:buNone/>
            </a:pPr>
            <a:r>
              <a:rPr lang="en-GB">
                <a:latin typeface="Kalam"/>
                <a:ea typeface="Kalam"/>
                <a:cs typeface="Kalam"/>
                <a:sym typeface="Kalam"/>
              </a:rPr>
              <a:t>any digit</a:t>
            </a:r>
            <a:endParaRPr>
              <a:latin typeface="Kalam"/>
              <a:ea typeface="Kalam"/>
              <a:cs typeface="Kalam"/>
              <a:sym typeface="Kalam"/>
            </a:endParaRPr>
          </a:p>
          <a:p>
            <a:pPr indent="-368300" lvl="0" marL="457200" rtl="0" algn="l">
              <a:lnSpc>
                <a:spcPct val="100000"/>
              </a:lnSpc>
              <a:spcBef>
                <a:spcPts val="1000"/>
              </a:spcBef>
              <a:spcAft>
                <a:spcPts val="0"/>
              </a:spcAft>
              <a:buSzPts val="2200"/>
              <a:buAutoNum type="alphaLcParenR"/>
            </a:pPr>
            <a:r>
              <a:rPr lang="en-GB"/>
              <a:t>678? = 7000 (1 s.f.)</a:t>
            </a:r>
            <a:endParaRPr/>
          </a:p>
          <a:p>
            <a:pPr indent="0" lvl="0" marL="457200" rtl="0" algn="l">
              <a:lnSpc>
                <a:spcPct val="100000"/>
              </a:lnSpc>
              <a:spcBef>
                <a:spcPts val="1000"/>
              </a:spcBef>
              <a:spcAft>
                <a:spcPts val="1000"/>
              </a:spcAft>
              <a:buNone/>
            </a:pPr>
            <a:r>
              <a:rPr lang="en-GB">
                <a:latin typeface="Kalam"/>
                <a:ea typeface="Kalam"/>
                <a:cs typeface="Kalam"/>
                <a:sym typeface="Kalam"/>
              </a:rPr>
              <a:t>any digit</a:t>
            </a:r>
            <a:endParaRPr>
              <a:latin typeface="Kalam"/>
              <a:ea typeface="Kalam"/>
              <a:cs typeface="Kalam"/>
              <a:sym typeface="Kalam"/>
            </a:endParaRPr>
          </a:p>
        </p:txBody>
      </p:sp>
      <p:sp>
        <p:nvSpPr>
          <p:cNvPr id="1376" name="Google Shape;1376;p9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Rounding to one significant figure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97"/>
          <p:cNvSpPr txBox="1"/>
          <p:nvPr>
            <p:ph idx="1" type="body"/>
          </p:nvPr>
        </p:nvSpPr>
        <p:spPr>
          <a:xfrm>
            <a:off x="324000" y="594461"/>
            <a:ext cx="8113800" cy="3740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Rounding to </a:t>
            </a:r>
            <a:r>
              <a:rPr b="1" lang="en-GB" sz="2000"/>
              <a:t>significant figures</a:t>
            </a:r>
            <a:r>
              <a:rPr lang="en-GB" sz="2000"/>
              <a:t> is the same as rounding to the nearest 10, 100, 1000, etc.</a:t>
            </a:r>
            <a:endParaRPr sz="2000"/>
          </a:p>
          <a:p>
            <a:pPr indent="0" lvl="0" marL="0" rtl="0" algn="l">
              <a:lnSpc>
                <a:spcPct val="100000"/>
              </a:lnSpc>
              <a:spcBef>
                <a:spcPts val="1000"/>
              </a:spcBef>
              <a:spcAft>
                <a:spcPts val="0"/>
              </a:spcAft>
              <a:buNone/>
            </a:pPr>
            <a:r>
              <a:rPr lang="en-GB" sz="2000"/>
              <a:t>The first </a:t>
            </a:r>
            <a:r>
              <a:rPr b="1" lang="en-GB" sz="2000"/>
              <a:t>significant figure</a:t>
            </a:r>
            <a:r>
              <a:rPr lang="en-GB" sz="2000"/>
              <a:t> is the first non-zero digit.</a:t>
            </a:r>
            <a:endParaRPr sz="2000"/>
          </a:p>
          <a:p>
            <a:pPr indent="0" lvl="0" marL="0" rtl="0" algn="l">
              <a:lnSpc>
                <a:spcPct val="100000"/>
              </a:lnSpc>
              <a:spcBef>
                <a:spcPts val="1000"/>
              </a:spcBef>
              <a:spcAft>
                <a:spcPts val="0"/>
              </a:spcAft>
              <a:buNone/>
            </a:pPr>
            <a:r>
              <a:rPr lang="en-GB" sz="2000"/>
              <a:t>Number lines can be used to round to one </a:t>
            </a:r>
            <a:r>
              <a:rPr b="1" lang="en-GB" sz="2000"/>
              <a:t>significant figure</a:t>
            </a:r>
            <a:r>
              <a:rPr lang="en-GB" sz="2000"/>
              <a:t>.</a:t>
            </a:r>
            <a:endParaRPr sz="2000"/>
          </a:p>
          <a:p>
            <a:pPr indent="0" lvl="0" marL="0" rtl="0" algn="l">
              <a:lnSpc>
                <a:spcPct val="100000"/>
              </a:lnSpc>
              <a:spcBef>
                <a:spcPts val="1000"/>
              </a:spcBef>
              <a:spcAft>
                <a:spcPts val="0"/>
              </a:spcAft>
              <a:buNone/>
            </a:pPr>
            <a:r>
              <a:rPr lang="en-GB" sz="2000"/>
              <a:t>E.g. </a:t>
            </a:r>
            <a:endParaRPr sz="2000"/>
          </a:p>
          <a:p>
            <a:pPr indent="0" lvl="0" marL="0" rtl="0" algn="l">
              <a:lnSpc>
                <a:spcPct val="100000"/>
              </a:lnSpc>
              <a:spcBef>
                <a:spcPts val="1000"/>
              </a:spcBef>
              <a:spcAft>
                <a:spcPts val="0"/>
              </a:spcAft>
              <a:buNone/>
            </a:pPr>
            <a:r>
              <a:t/>
            </a:r>
            <a:endParaRPr sz="2000"/>
          </a:p>
          <a:p>
            <a:pPr indent="0" lvl="0" marL="0" rtl="0" algn="l">
              <a:lnSpc>
                <a:spcPct val="100000"/>
              </a:lnSpc>
              <a:spcBef>
                <a:spcPts val="1000"/>
              </a:spcBef>
              <a:spcAft>
                <a:spcPts val="0"/>
              </a:spcAft>
              <a:buNone/>
            </a:pPr>
            <a:r>
              <a:t/>
            </a:r>
            <a:endParaRPr sz="2000"/>
          </a:p>
          <a:p>
            <a:pPr indent="0" lvl="0" marL="0" rtl="0" algn="l">
              <a:lnSpc>
                <a:spcPct val="100000"/>
              </a:lnSpc>
              <a:spcBef>
                <a:spcPts val="1000"/>
              </a:spcBef>
              <a:spcAft>
                <a:spcPts val="0"/>
              </a:spcAft>
              <a:buNone/>
            </a:pPr>
            <a:r>
              <a:rPr lang="en-GB" sz="2000"/>
              <a:t>Place value grids</a:t>
            </a:r>
            <a:r>
              <a:rPr lang="en-GB" sz="2000"/>
              <a:t> can be used to round to one </a:t>
            </a:r>
            <a:r>
              <a:rPr b="1" lang="en-GB" sz="2000"/>
              <a:t>significant figure</a:t>
            </a:r>
            <a:r>
              <a:rPr lang="en-GB" sz="2000"/>
              <a:t>.</a:t>
            </a:r>
            <a:endParaRPr sz="2000"/>
          </a:p>
          <a:p>
            <a:pPr indent="0" lvl="0" marL="0" rtl="0" algn="l">
              <a:lnSpc>
                <a:spcPct val="100000"/>
              </a:lnSpc>
              <a:spcBef>
                <a:spcPts val="1000"/>
              </a:spcBef>
              <a:spcAft>
                <a:spcPts val="1000"/>
              </a:spcAft>
              <a:buClr>
                <a:schemeClr val="dk1"/>
              </a:buClr>
              <a:buSzPts val="1100"/>
              <a:buFont typeface="Arial"/>
              <a:buNone/>
            </a:pPr>
            <a:r>
              <a:rPr lang="en-GB" sz="2000"/>
              <a:t>E.g. </a:t>
            </a:r>
            <a:endParaRPr sz="2000"/>
          </a:p>
        </p:txBody>
      </p:sp>
      <p:sp>
        <p:nvSpPr>
          <p:cNvPr id="1382" name="Google Shape;1382;p97"/>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Rounding integers to one significant figure</a:t>
            </a:r>
            <a:endParaRPr/>
          </a:p>
        </p:txBody>
      </p:sp>
      <p:pic>
        <p:nvPicPr>
          <p:cNvPr descr="Original/editable on slide 19" id="1383" name="Google Shape;1383;p97"/>
          <p:cNvPicPr preferRelativeResize="0"/>
          <p:nvPr/>
        </p:nvPicPr>
        <p:blipFill>
          <a:blip r:embed="rId3">
            <a:alphaModFix/>
          </a:blip>
          <a:stretch>
            <a:fillRect/>
          </a:stretch>
        </p:blipFill>
        <p:spPr>
          <a:xfrm>
            <a:off x="875100" y="2187836"/>
            <a:ext cx="3436402" cy="1153550"/>
          </a:xfrm>
          <a:prstGeom prst="rect">
            <a:avLst/>
          </a:prstGeom>
          <a:noFill/>
          <a:ln>
            <a:noFill/>
          </a:ln>
        </p:spPr>
      </p:pic>
      <p:pic>
        <p:nvPicPr>
          <p:cNvPr descr="Original/editable on slide 29" id="1384" name="Google Shape;1384;p97"/>
          <p:cNvPicPr preferRelativeResize="0"/>
          <p:nvPr/>
        </p:nvPicPr>
        <p:blipFill>
          <a:blip r:embed="rId4">
            <a:alphaModFix/>
          </a:blip>
          <a:stretch>
            <a:fillRect/>
          </a:stretch>
        </p:blipFill>
        <p:spPr>
          <a:xfrm>
            <a:off x="855325" y="3778268"/>
            <a:ext cx="1937599" cy="10404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8" name="Shape 1388"/>
        <p:cNvGrpSpPr/>
        <p:nvPr/>
      </p:nvGrpSpPr>
      <p:grpSpPr>
        <a:xfrm>
          <a:off x="0" y="0"/>
          <a:ext cx="0" cy="0"/>
          <a:chOff x="0" y="0"/>
          <a:chExt cx="0" cy="0"/>
        </a:xfrm>
      </p:grpSpPr>
      <p:sp>
        <p:nvSpPr>
          <p:cNvPr id="1389" name="Google Shape;1389;p98"/>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a:t>
            </a:r>
            <a:r>
              <a:rPr lang="en-GB"/>
              <a:t>Mathematics in Education and Industry</a:t>
            </a:r>
            <a:r>
              <a:rPr lang="en-GB"/>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390" name="Google Shape;1390;p98"/>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