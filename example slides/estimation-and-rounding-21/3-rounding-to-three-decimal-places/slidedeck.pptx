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898652-E205-4401-B0A8-E6AAEA6AF16C}">
  <a:tblStyle styleId="{55898652-E205-4401-B0A8-E6AAEA6AF1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b01b428c24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01b428c24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a93c6b877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a93c6b877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ace315abc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ace315abc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adc187be6e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adc187be6e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adc187be6e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adc187be6e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adc187be6e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adc187be6e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adc187be6e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adc187be6e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2adc187be6e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2adc187be6e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adc187be6e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adc187be6e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2adc187be6e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2adc187be6e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adc187be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adc187be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ae1a04f06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ae1a04f06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ae1a04f06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ae1a04f06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ace315abc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ace315abc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adc187be6e_0_1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adc187be6e_0_1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adc187be6e_0_1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adc187be6e_0_1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adc187be6e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2adc187be6e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ace315abc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ace315abc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adc187be6e_0_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adc187be6e_0_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2ace315abc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2ace315ab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ace315abc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ace315abc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adc187be6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adc187be6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2adc187be6e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4" name="Google Shape;1864;g2adc187be6e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2adc187be6e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adc187be6e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2adc187be6e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2adc187be6e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g2adc187be6e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9" name="Google Shape;1949;g2adc187be6e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2adc187be6e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2adc187be6e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ae1a04f06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ae1a04f06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2afbc0125b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2afbc0125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2afbc0125b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2afbc0125b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2adc187be6e_1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2adc187be6e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2afbc0125b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2afbc0125b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2afbc0125b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2afbc0125b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2afbc0125b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2afbc0125b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2adc187be6e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2adc187be6e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1.png"/><Relationship Id="rId4" Type="http://schemas.openxmlformats.org/officeDocument/2006/relationships/image" Target="../media/image31.png"/><Relationship Id="rId11" Type="http://schemas.openxmlformats.org/officeDocument/2006/relationships/image" Target="../media/image13.png"/><Relationship Id="rId10" Type="http://schemas.openxmlformats.org/officeDocument/2006/relationships/image" Target="../media/image41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1.png"/><Relationship Id="rId4" Type="http://schemas.openxmlformats.org/officeDocument/2006/relationships/image" Target="../media/image31.png"/><Relationship Id="rId11" Type="http://schemas.openxmlformats.org/officeDocument/2006/relationships/image" Target="../media/image13.png"/><Relationship Id="rId10" Type="http://schemas.openxmlformats.org/officeDocument/2006/relationships/image" Target="../media/image41.png"/><Relationship Id="rId9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10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round numbers to three decimal places.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Round − </a:t>
            </a:r>
            <a:r>
              <a:rPr b="0" lang="en-GB"/>
              <a:t>To change a number into another number that is approximately the same value but is easier to work with. E.g. round 561 to the nearest 10 is 560.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510" name="Google Shape;1510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</a:t>
            </a:r>
            <a:r>
              <a:rPr lang="en-GB"/>
              <a:t> to three decimal places</a:t>
            </a:r>
            <a:endParaRPr/>
          </a:p>
        </p:txBody>
      </p:sp>
      <p:sp>
        <p:nvSpPr>
          <p:cNvPr id="1511" name="Google Shape;1511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pic>
        <p:nvPicPr>
          <p:cNvPr id="1512" name="Google Shape;1512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518" name="Google Shape;1518;p130"/>
          <p:cNvSpPr txBox="1"/>
          <p:nvPr>
            <p:ph idx="1" type="body"/>
          </p:nvPr>
        </p:nvSpPr>
        <p:spPr>
          <a:xfrm>
            <a:off x="324000" y="759300"/>
            <a:ext cx="741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which fits on this number line.</a:t>
            </a:r>
            <a:endParaRPr/>
          </a:p>
        </p:txBody>
      </p:sp>
      <p:graphicFrame>
        <p:nvGraphicFramePr>
          <p:cNvPr id="1519" name="Google Shape;1519;p130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0" name="Google Shape;1520;p130"/>
          <p:cNvSpPr txBox="1"/>
          <p:nvPr/>
        </p:nvSpPr>
        <p:spPr>
          <a:xfrm>
            <a:off x="2056778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30"/>
          <p:cNvSpPr txBox="1"/>
          <p:nvPr/>
        </p:nvSpPr>
        <p:spPr>
          <a:xfrm>
            <a:off x="6925201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0"/>
          <p:cNvSpPr txBox="1"/>
          <p:nvPr/>
        </p:nvSpPr>
        <p:spPr>
          <a:xfrm>
            <a:off x="456544" y="3344625"/>
            <a:ext cx="264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2.1, 2.56, 2.8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28" name="Google Shape;1528;p131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9" name="Google Shape;1529;p131"/>
          <p:cNvSpPr txBox="1"/>
          <p:nvPr/>
        </p:nvSpPr>
        <p:spPr>
          <a:xfrm>
            <a:off x="1950047" y="2354025"/>
            <a:ext cx="4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31"/>
          <p:cNvSpPr txBox="1"/>
          <p:nvPr/>
        </p:nvSpPr>
        <p:spPr>
          <a:xfrm>
            <a:off x="456544" y="3344625"/>
            <a:ext cx="264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2.6, 2.73, 2.9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1" name="Google Shape;1531;p131"/>
          <p:cNvSpPr txBox="1"/>
          <p:nvPr>
            <p:ph idx="1" type="body"/>
          </p:nvPr>
        </p:nvSpPr>
        <p:spPr>
          <a:xfrm>
            <a:off x="324000" y="759300"/>
            <a:ext cx="741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which fits on this number line.</a:t>
            </a:r>
            <a:endParaRPr/>
          </a:p>
        </p:txBody>
      </p:sp>
      <p:sp>
        <p:nvSpPr>
          <p:cNvPr id="1532" name="Google Shape;1532;p131"/>
          <p:cNvSpPr txBox="1"/>
          <p:nvPr/>
        </p:nvSpPr>
        <p:spPr>
          <a:xfrm>
            <a:off x="6925201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38" name="Google Shape;1538;p132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9" name="Google Shape;1539;p132"/>
          <p:cNvSpPr txBox="1"/>
          <p:nvPr/>
        </p:nvSpPr>
        <p:spPr>
          <a:xfrm>
            <a:off x="1950047" y="2354025"/>
            <a:ext cx="4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32"/>
          <p:cNvSpPr txBox="1"/>
          <p:nvPr/>
        </p:nvSpPr>
        <p:spPr>
          <a:xfrm>
            <a:off x="456553" y="3344625"/>
            <a:ext cx="386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2.93, 2.956, 2.9708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132"/>
          <p:cNvSpPr txBox="1"/>
          <p:nvPr>
            <p:ph idx="1" type="body"/>
          </p:nvPr>
        </p:nvSpPr>
        <p:spPr>
          <a:xfrm>
            <a:off x="324000" y="759300"/>
            <a:ext cx="741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which fits on this number line.</a:t>
            </a:r>
            <a:endParaRPr/>
          </a:p>
        </p:txBody>
      </p:sp>
      <p:sp>
        <p:nvSpPr>
          <p:cNvPr id="1542" name="Google Shape;1542;p132"/>
          <p:cNvSpPr txBox="1"/>
          <p:nvPr/>
        </p:nvSpPr>
        <p:spPr>
          <a:xfrm>
            <a:off x="6925201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48" name="Google Shape;1548;p133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9" name="Google Shape;1549;p133"/>
          <p:cNvSpPr txBox="1"/>
          <p:nvPr/>
        </p:nvSpPr>
        <p:spPr>
          <a:xfrm>
            <a:off x="1858589" y="2354025"/>
            <a:ext cx="6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2.95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3"/>
          <p:cNvSpPr txBox="1"/>
          <p:nvPr/>
        </p:nvSpPr>
        <p:spPr>
          <a:xfrm>
            <a:off x="456553" y="3344625"/>
            <a:ext cx="386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E.g. 2.951, 2.956, 2.9708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1" name="Google Shape;1551;p133"/>
          <p:cNvSpPr txBox="1"/>
          <p:nvPr>
            <p:ph idx="1" type="body"/>
          </p:nvPr>
        </p:nvSpPr>
        <p:spPr>
          <a:xfrm>
            <a:off x="324000" y="759300"/>
            <a:ext cx="741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down a number which fits on this number line.</a:t>
            </a:r>
            <a:endParaRPr/>
          </a:p>
        </p:txBody>
      </p:sp>
      <p:sp>
        <p:nvSpPr>
          <p:cNvPr id="1552" name="Google Shape;1552;p133"/>
          <p:cNvSpPr txBox="1"/>
          <p:nvPr/>
        </p:nvSpPr>
        <p:spPr>
          <a:xfrm>
            <a:off x="6925201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58" name="Google Shape;1558;p134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9" name="Google Shape;1559;p134"/>
          <p:cNvSpPr txBox="1"/>
          <p:nvPr/>
        </p:nvSpPr>
        <p:spPr>
          <a:xfrm>
            <a:off x="2056778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4"/>
          <p:cNvSpPr txBox="1"/>
          <p:nvPr/>
        </p:nvSpPr>
        <p:spPr>
          <a:xfrm>
            <a:off x="4370320" y="1731750"/>
            <a:ext cx="46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2.5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134"/>
          <p:cNvSpPr txBox="1"/>
          <p:nvPr/>
        </p:nvSpPr>
        <p:spPr>
          <a:xfrm>
            <a:off x="6925201" y="2354025"/>
            <a:ext cx="22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134"/>
          <p:cNvSpPr txBox="1"/>
          <p:nvPr>
            <p:ph idx="1" type="body"/>
          </p:nvPr>
        </p:nvSpPr>
        <p:spPr>
          <a:xfrm>
            <a:off x="324000" y="759300"/>
            <a:ext cx="8496000" cy="9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arrow is pointing to the </a:t>
            </a:r>
            <a:r>
              <a:rPr lang="en-GB">
                <a:solidFill>
                  <a:schemeClr val="accent4"/>
                </a:solidFill>
              </a:rPr>
              <a:t>midpoint</a:t>
            </a:r>
            <a:r>
              <a:rPr lang="en-GB"/>
              <a:t> of the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number is the arrow pointing to?</a:t>
            </a:r>
            <a:endParaRPr/>
          </a:p>
        </p:txBody>
      </p:sp>
      <p:sp>
        <p:nvSpPr>
          <p:cNvPr id="1563" name="Google Shape;1563;p134"/>
          <p:cNvSpPr/>
          <p:nvPr/>
        </p:nvSpPr>
        <p:spPr>
          <a:xfrm rot="10800000">
            <a:off x="4461150" y="22330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4"/>
          <p:cNvSpPr txBox="1"/>
          <p:nvPr/>
        </p:nvSpPr>
        <p:spPr>
          <a:xfrm flipH="1">
            <a:off x="324025" y="3399000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it is not obvious you can find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half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2 numbers.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Midpoint = (2 + 3) ÷ 2 = 5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 = 2.5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70" name="Google Shape;1570;p135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1" name="Google Shape;1571;p135"/>
          <p:cNvSpPr txBox="1"/>
          <p:nvPr/>
        </p:nvSpPr>
        <p:spPr>
          <a:xfrm>
            <a:off x="1950047" y="2354025"/>
            <a:ext cx="4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35"/>
          <p:cNvSpPr txBox="1"/>
          <p:nvPr/>
        </p:nvSpPr>
        <p:spPr>
          <a:xfrm>
            <a:off x="6803101" y="2354025"/>
            <a:ext cx="4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5"/>
          <p:cNvSpPr txBox="1"/>
          <p:nvPr/>
        </p:nvSpPr>
        <p:spPr>
          <a:xfrm>
            <a:off x="4291983" y="1798275"/>
            <a:ext cx="58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2.55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4" name="Google Shape;1574;p135"/>
          <p:cNvSpPr txBox="1"/>
          <p:nvPr>
            <p:ph idx="1" type="body"/>
          </p:nvPr>
        </p:nvSpPr>
        <p:spPr>
          <a:xfrm>
            <a:off x="324000" y="759300"/>
            <a:ext cx="8496000" cy="9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arrow is pointing to the midpoint of the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number is the arrow pointing to?</a:t>
            </a:r>
            <a:endParaRPr/>
          </a:p>
        </p:txBody>
      </p:sp>
      <p:sp>
        <p:nvSpPr>
          <p:cNvPr id="1575" name="Google Shape;1575;p135"/>
          <p:cNvSpPr/>
          <p:nvPr/>
        </p:nvSpPr>
        <p:spPr>
          <a:xfrm rot="10800000">
            <a:off x="4461150" y="22330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35"/>
          <p:cNvSpPr txBox="1"/>
          <p:nvPr/>
        </p:nvSpPr>
        <p:spPr>
          <a:xfrm flipH="1">
            <a:off x="324025" y="3399000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it is not obvious you can f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ind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half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2 numbers.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Midpoint = (2.5 + 2.6) ÷ 2 = 5.1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 = 2.55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82" name="Google Shape;1582;p136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3" name="Google Shape;1583;p136"/>
          <p:cNvSpPr txBox="1"/>
          <p:nvPr/>
        </p:nvSpPr>
        <p:spPr>
          <a:xfrm>
            <a:off x="1843326" y="2354025"/>
            <a:ext cx="61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6"/>
          <p:cNvSpPr txBox="1"/>
          <p:nvPr/>
        </p:nvSpPr>
        <p:spPr>
          <a:xfrm>
            <a:off x="6696593" y="2354025"/>
            <a:ext cx="61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36"/>
          <p:cNvSpPr txBox="1"/>
          <p:nvPr/>
        </p:nvSpPr>
        <p:spPr>
          <a:xfrm>
            <a:off x="4238590" y="1798275"/>
            <a:ext cx="6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2.555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6" name="Google Shape;1586;p136"/>
          <p:cNvSpPr txBox="1"/>
          <p:nvPr>
            <p:ph idx="1" type="body"/>
          </p:nvPr>
        </p:nvSpPr>
        <p:spPr>
          <a:xfrm>
            <a:off x="324000" y="759300"/>
            <a:ext cx="8496000" cy="9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arrow is pointing to the midpoint of the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number is the arrow pointing to?</a:t>
            </a:r>
            <a:endParaRPr/>
          </a:p>
        </p:txBody>
      </p:sp>
      <p:sp>
        <p:nvSpPr>
          <p:cNvPr id="1587" name="Google Shape;1587;p136"/>
          <p:cNvSpPr/>
          <p:nvPr/>
        </p:nvSpPr>
        <p:spPr>
          <a:xfrm rot="10800000">
            <a:off x="4461150" y="22330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6"/>
          <p:cNvSpPr txBox="1"/>
          <p:nvPr/>
        </p:nvSpPr>
        <p:spPr>
          <a:xfrm flipH="1">
            <a:off x="324025" y="3399000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it is not obvious you can find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half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2 numbers.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Midpoint = (2.55 + 2.56) ÷ 2 = 5.11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 = 2.555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594" name="Google Shape;1594;p137"/>
          <p:cNvGraphicFramePr/>
          <p:nvPr/>
        </p:nvGraphicFramePr>
        <p:xfrm>
          <a:off x="2159000" y="27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852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5" name="Google Shape;1595;p137"/>
          <p:cNvSpPr txBox="1"/>
          <p:nvPr/>
        </p:nvSpPr>
        <p:spPr>
          <a:xfrm>
            <a:off x="1812913" y="2354025"/>
            <a:ext cx="6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2.555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37"/>
          <p:cNvSpPr txBox="1"/>
          <p:nvPr/>
        </p:nvSpPr>
        <p:spPr>
          <a:xfrm>
            <a:off x="6666188" y="2354025"/>
            <a:ext cx="6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2.556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7"/>
          <p:cNvSpPr txBox="1"/>
          <p:nvPr/>
        </p:nvSpPr>
        <p:spPr>
          <a:xfrm>
            <a:off x="4086204" y="1798275"/>
            <a:ext cx="97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2.5555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8" name="Google Shape;1598;p137"/>
          <p:cNvSpPr txBox="1"/>
          <p:nvPr>
            <p:ph idx="1" type="body"/>
          </p:nvPr>
        </p:nvSpPr>
        <p:spPr>
          <a:xfrm>
            <a:off x="324000" y="759300"/>
            <a:ext cx="8496000" cy="9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arrow is pointing to the midpoint of the number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number is the arrow pointing to?</a:t>
            </a:r>
            <a:endParaRPr/>
          </a:p>
        </p:txBody>
      </p:sp>
      <p:sp>
        <p:nvSpPr>
          <p:cNvPr id="1599" name="Google Shape;1599;p137"/>
          <p:cNvSpPr/>
          <p:nvPr/>
        </p:nvSpPr>
        <p:spPr>
          <a:xfrm rot="10800000">
            <a:off x="4461150" y="22330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137"/>
          <p:cNvSpPr txBox="1"/>
          <p:nvPr/>
        </p:nvSpPr>
        <p:spPr>
          <a:xfrm flipH="1">
            <a:off x="324025" y="3399000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If it is not obvious you can find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half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of the 2 numbers.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Midpoint = (2.555 + 2.556) ÷ 2 = 5.111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 = 2.5555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606" name="Google Shape;1606;p138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 0.5672 to 3 decimal places.</a:t>
            </a:r>
            <a:endParaRPr/>
          </a:p>
        </p:txBody>
      </p:sp>
      <p:graphicFrame>
        <p:nvGraphicFramePr>
          <p:cNvPr id="1607" name="Google Shape;1607;p138"/>
          <p:cNvGraphicFramePr/>
          <p:nvPr/>
        </p:nvGraphicFramePr>
        <p:xfrm>
          <a:off x="2159000" y="311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8" name="Google Shape;1608;p138"/>
          <p:cNvSpPr txBox="1"/>
          <p:nvPr/>
        </p:nvSpPr>
        <p:spPr>
          <a:xfrm>
            <a:off x="1782502" y="2735025"/>
            <a:ext cx="7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0.567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38"/>
          <p:cNvSpPr txBox="1"/>
          <p:nvPr/>
        </p:nvSpPr>
        <p:spPr>
          <a:xfrm>
            <a:off x="6574611" y="2735025"/>
            <a:ext cx="7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0.568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8"/>
          <p:cNvSpPr txBox="1"/>
          <p:nvPr/>
        </p:nvSpPr>
        <p:spPr>
          <a:xfrm>
            <a:off x="4154902" y="2735025"/>
            <a:ext cx="8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0.5675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38"/>
          <p:cNvSpPr/>
          <p:nvPr/>
        </p:nvSpPr>
        <p:spPr>
          <a:xfrm rot="10800000">
            <a:off x="3072175" y="26209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38"/>
          <p:cNvSpPr txBox="1"/>
          <p:nvPr/>
        </p:nvSpPr>
        <p:spPr>
          <a:xfrm>
            <a:off x="2758286" y="2306900"/>
            <a:ext cx="8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0.5672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138"/>
          <p:cNvSpPr txBox="1"/>
          <p:nvPr/>
        </p:nvSpPr>
        <p:spPr>
          <a:xfrm>
            <a:off x="294425" y="4499825"/>
            <a:ext cx="57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0.5672 = 0.567 (3 d.p.)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4" name="Google Shape;1614;p138"/>
          <p:cNvSpPr txBox="1"/>
          <p:nvPr>
            <p:ph idx="1" type="body"/>
          </p:nvPr>
        </p:nvSpPr>
        <p:spPr>
          <a:xfrm>
            <a:off x="324000" y="1826100"/>
            <a:ext cx="8496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dentify the numbers to 3 decimal places either side of 0.5672.</a:t>
            </a:r>
            <a:endParaRPr/>
          </a:p>
        </p:txBody>
      </p:sp>
      <p:sp>
        <p:nvSpPr>
          <p:cNvPr id="1615" name="Google Shape;1615;p138"/>
          <p:cNvSpPr txBox="1"/>
          <p:nvPr>
            <p:ph idx="1" type="body"/>
          </p:nvPr>
        </p:nvSpPr>
        <p:spPr>
          <a:xfrm>
            <a:off x="302833" y="3731100"/>
            <a:ext cx="3171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halfway point.</a:t>
            </a:r>
            <a:endParaRPr/>
          </a:p>
        </p:txBody>
      </p:sp>
      <p:sp>
        <p:nvSpPr>
          <p:cNvPr id="1616" name="Google Shape;1616;p138"/>
          <p:cNvSpPr txBox="1"/>
          <p:nvPr>
            <p:ph idx="1" type="body"/>
          </p:nvPr>
        </p:nvSpPr>
        <p:spPr>
          <a:xfrm>
            <a:off x="302833" y="4111229"/>
            <a:ext cx="7443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Decide which of the 2 numbers our value is closest to.</a:t>
            </a:r>
            <a:endParaRPr/>
          </a:p>
        </p:txBody>
      </p:sp>
      <p:sp>
        <p:nvSpPr>
          <p:cNvPr id="1617" name="Google Shape;1617;p138"/>
          <p:cNvSpPr/>
          <p:nvPr/>
        </p:nvSpPr>
        <p:spPr>
          <a:xfrm>
            <a:off x="1790812" y="727525"/>
            <a:ext cx="213600" cy="3525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8" name="Google Shape;1618;p138"/>
          <p:cNvCxnSpPr/>
          <p:nvPr/>
        </p:nvCxnSpPr>
        <p:spPr>
          <a:xfrm rot="10800000">
            <a:off x="1974375" y="1124350"/>
            <a:ext cx="457800" cy="168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9" name="Google Shape;1619;p138"/>
          <p:cNvSpPr txBox="1"/>
          <p:nvPr>
            <p:ph idx="1" type="body"/>
          </p:nvPr>
        </p:nvSpPr>
        <p:spPr>
          <a:xfrm>
            <a:off x="2569200" y="1109914"/>
            <a:ext cx="6250800" cy="7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3</a:t>
            </a:r>
            <a:r>
              <a:rPr baseline="30000" lang="en-GB"/>
              <a:t>rd</a:t>
            </a:r>
            <a:r>
              <a:rPr lang="en-GB"/>
              <a:t> decimal place, use this as the lower value.</a:t>
            </a:r>
            <a:endParaRPr/>
          </a:p>
        </p:txBody>
      </p:sp>
      <p:cxnSp>
        <p:nvCxnSpPr>
          <p:cNvPr id="1620" name="Google Shape;1620;p138"/>
          <p:cNvCxnSpPr/>
          <p:nvPr/>
        </p:nvCxnSpPr>
        <p:spPr>
          <a:xfrm rot="10800000">
            <a:off x="7147775" y="3085875"/>
            <a:ext cx="458100" cy="312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1" name="Google Shape;1621;p138"/>
          <p:cNvSpPr txBox="1"/>
          <p:nvPr>
            <p:ph idx="1" type="body"/>
          </p:nvPr>
        </p:nvSpPr>
        <p:spPr>
          <a:xfrm>
            <a:off x="3940800" y="3472125"/>
            <a:ext cx="4899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Increase the thousandths digit by 1.</a:t>
            </a:r>
            <a:endParaRPr/>
          </a:p>
        </p:txBody>
      </p:sp>
      <p:sp>
        <p:nvSpPr>
          <p:cNvPr id="1622" name="Google Shape;1622;p138"/>
          <p:cNvSpPr/>
          <p:nvPr/>
        </p:nvSpPr>
        <p:spPr>
          <a:xfrm>
            <a:off x="1668700" y="2650600"/>
            <a:ext cx="900600" cy="464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39"/>
          <p:cNvSpPr/>
          <p:nvPr/>
        </p:nvSpPr>
        <p:spPr>
          <a:xfrm>
            <a:off x="6469300" y="2650600"/>
            <a:ext cx="900600" cy="464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629" name="Google Shape;1629;p139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 0.</a:t>
            </a:r>
            <a:r>
              <a:rPr lang="en-GB"/>
              <a:t>34081</a:t>
            </a:r>
            <a:r>
              <a:rPr lang="en-GB"/>
              <a:t> to 3 decimal places.</a:t>
            </a:r>
            <a:endParaRPr/>
          </a:p>
        </p:txBody>
      </p:sp>
      <p:graphicFrame>
        <p:nvGraphicFramePr>
          <p:cNvPr id="1630" name="Google Shape;1630;p139"/>
          <p:cNvGraphicFramePr/>
          <p:nvPr/>
        </p:nvGraphicFramePr>
        <p:xfrm>
          <a:off x="2159000" y="311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1" name="Google Shape;1631;p139"/>
          <p:cNvSpPr txBox="1"/>
          <p:nvPr/>
        </p:nvSpPr>
        <p:spPr>
          <a:xfrm>
            <a:off x="1775539" y="2726738"/>
            <a:ext cx="7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0.340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39"/>
          <p:cNvSpPr txBox="1"/>
          <p:nvPr/>
        </p:nvSpPr>
        <p:spPr>
          <a:xfrm>
            <a:off x="6574611" y="2726738"/>
            <a:ext cx="77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9"/>
          <p:cNvSpPr txBox="1"/>
          <p:nvPr/>
        </p:nvSpPr>
        <p:spPr>
          <a:xfrm>
            <a:off x="4139637" y="2726738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0.3405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9"/>
          <p:cNvSpPr/>
          <p:nvPr/>
        </p:nvSpPr>
        <p:spPr>
          <a:xfrm rot="10800000">
            <a:off x="6257425" y="26209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39"/>
          <p:cNvSpPr txBox="1"/>
          <p:nvPr/>
        </p:nvSpPr>
        <p:spPr>
          <a:xfrm>
            <a:off x="5806274" y="2306900"/>
            <a:ext cx="106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0.34081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39"/>
          <p:cNvSpPr txBox="1"/>
          <p:nvPr/>
        </p:nvSpPr>
        <p:spPr>
          <a:xfrm>
            <a:off x="294425" y="4499825"/>
            <a:ext cx="57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0.34081 = 0.341 (3 d.p.)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7" name="Google Shape;1637;p139"/>
          <p:cNvSpPr txBox="1"/>
          <p:nvPr>
            <p:ph idx="1" type="body"/>
          </p:nvPr>
        </p:nvSpPr>
        <p:spPr>
          <a:xfrm>
            <a:off x="324000" y="1826100"/>
            <a:ext cx="8496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the numbers to 3 decimal places either side of 0.34081.</a:t>
            </a:r>
            <a:endParaRPr/>
          </a:p>
        </p:txBody>
      </p:sp>
      <p:sp>
        <p:nvSpPr>
          <p:cNvPr id="1638" name="Google Shape;1638;p139"/>
          <p:cNvSpPr txBox="1"/>
          <p:nvPr>
            <p:ph idx="1" type="body"/>
          </p:nvPr>
        </p:nvSpPr>
        <p:spPr>
          <a:xfrm>
            <a:off x="302833" y="3731100"/>
            <a:ext cx="3171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halfway point.</a:t>
            </a:r>
            <a:endParaRPr/>
          </a:p>
        </p:txBody>
      </p:sp>
      <p:sp>
        <p:nvSpPr>
          <p:cNvPr id="1639" name="Google Shape;1639;p139"/>
          <p:cNvSpPr txBox="1"/>
          <p:nvPr>
            <p:ph idx="1" type="body"/>
          </p:nvPr>
        </p:nvSpPr>
        <p:spPr>
          <a:xfrm>
            <a:off x="302833" y="4100646"/>
            <a:ext cx="7443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Decide which of the 2 numbers our value is closest to.</a:t>
            </a:r>
            <a:endParaRPr/>
          </a:p>
        </p:txBody>
      </p:sp>
      <p:sp>
        <p:nvSpPr>
          <p:cNvPr id="1640" name="Google Shape;1640;p139"/>
          <p:cNvSpPr/>
          <p:nvPr/>
        </p:nvSpPr>
        <p:spPr>
          <a:xfrm>
            <a:off x="1809314" y="759275"/>
            <a:ext cx="213600" cy="3525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1" name="Google Shape;1641;p139"/>
          <p:cNvCxnSpPr/>
          <p:nvPr/>
        </p:nvCxnSpPr>
        <p:spPr>
          <a:xfrm rot="10800000">
            <a:off x="1974375" y="1124350"/>
            <a:ext cx="457800" cy="168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2" name="Google Shape;1642;p139"/>
          <p:cNvSpPr txBox="1"/>
          <p:nvPr>
            <p:ph idx="1" type="body"/>
          </p:nvPr>
        </p:nvSpPr>
        <p:spPr>
          <a:xfrm>
            <a:off x="2569200" y="1109914"/>
            <a:ext cx="6250800" cy="7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3</a:t>
            </a:r>
            <a:r>
              <a:rPr baseline="30000" lang="en-GB"/>
              <a:t>rd</a:t>
            </a:r>
            <a:r>
              <a:rPr lang="en-GB"/>
              <a:t> decimal place, use this as the lower value.</a:t>
            </a:r>
            <a:endParaRPr/>
          </a:p>
        </p:txBody>
      </p:sp>
      <p:cxnSp>
        <p:nvCxnSpPr>
          <p:cNvPr id="1643" name="Google Shape;1643;p139"/>
          <p:cNvCxnSpPr/>
          <p:nvPr/>
        </p:nvCxnSpPr>
        <p:spPr>
          <a:xfrm rot="10800000">
            <a:off x="7147775" y="3085875"/>
            <a:ext cx="458100" cy="312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4" name="Google Shape;1644;p139"/>
          <p:cNvSpPr txBox="1"/>
          <p:nvPr>
            <p:ph idx="1" type="body"/>
          </p:nvPr>
        </p:nvSpPr>
        <p:spPr>
          <a:xfrm>
            <a:off x="3940800" y="3472125"/>
            <a:ext cx="4899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Increase the thousandths digit by 1.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40"/>
          <p:cNvSpPr txBox="1"/>
          <p:nvPr>
            <p:ph idx="1" type="body"/>
          </p:nvPr>
        </p:nvSpPr>
        <p:spPr>
          <a:xfrm>
            <a:off x="324000" y="1826100"/>
            <a:ext cx="8496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the numbers to 3 decimal places either side of 12.039501.</a:t>
            </a:r>
            <a:endParaRPr/>
          </a:p>
        </p:txBody>
      </p:sp>
      <p:sp>
        <p:nvSpPr>
          <p:cNvPr id="1650" name="Google Shape;1650;p140"/>
          <p:cNvSpPr txBox="1"/>
          <p:nvPr/>
        </p:nvSpPr>
        <p:spPr>
          <a:xfrm>
            <a:off x="6544073" y="2772538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12.040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40"/>
          <p:cNvSpPr/>
          <p:nvPr/>
        </p:nvSpPr>
        <p:spPr>
          <a:xfrm>
            <a:off x="6469300" y="2696388"/>
            <a:ext cx="990000" cy="464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653" name="Google Shape;1653;p140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Round </a:t>
            </a:r>
            <a:r>
              <a:rPr lang="en-GB"/>
              <a:t>12.039501</a:t>
            </a:r>
            <a:r>
              <a:rPr lang="en-GB"/>
              <a:t> to 3 decimal places.</a:t>
            </a:r>
            <a:endParaRPr/>
          </a:p>
        </p:txBody>
      </p:sp>
      <p:graphicFrame>
        <p:nvGraphicFramePr>
          <p:cNvPr id="1654" name="Google Shape;1654;p140"/>
          <p:cNvGraphicFramePr/>
          <p:nvPr/>
        </p:nvGraphicFramePr>
        <p:xfrm>
          <a:off x="2159000" y="316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5" name="Google Shape;1655;p140"/>
          <p:cNvSpPr txBox="1"/>
          <p:nvPr/>
        </p:nvSpPr>
        <p:spPr>
          <a:xfrm>
            <a:off x="1714502" y="2772538"/>
            <a:ext cx="90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12.039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40"/>
          <p:cNvSpPr txBox="1"/>
          <p:nvPr/>
        </p:nvSpPr>
        <p:spPr>
          <a:xfrm>
            <a:off x="4032785" y="2772538"/>
            <a:ext cx="1062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12.0395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40"/>
          <p:cNvSpPr/>
          <p:nvPr/>
        </p:nvSpPr>
        <p:spPr>
          <a:xfrm rot="10800000">
            <a:off x="4581025" y="246853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40"/>
          <p:cNvSpPr txBox="1"/>
          <p:nvPr/>
        </p:nvSpPr>
        <p:spPr>
          <a:xfrm>
            <a:off x="4007774" y="2154500"/>
            <a:ext cx="134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12.039501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40"/>
          <p:cNvSpPr txBox="1"/>
          <p:nvPr/>
        </p:nvSpPr>
        <p:spPr>
          <a:xfrm>
            <a:off x="294425" y="4499825"/>
            <a:ext cx="57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12.039501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= 12.040 (3 d.p.)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0" name="Google Shape;1660;p140"/>
          <p:cNvSpPr txBox="1"/>
          <p:nvPr>
            <p:ph idx="1" type="body"/>
          </p:nvPr>
        </p:nvSpPr>
        <p:spPr>
          <a:xfrm>
            <a:off x="302833" y="3776888"/>
            <a:ext cx="3171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halfway point.</a:t>
            </a:r>
            <a:endParaRPr/>
          </a:p>
        </p:txBody>
      </p:sp>
      <p:sp>
        <p:nvSpPr>
          <p:cNvPr id="1661" name="Google Shape;1661;p140"/>
          <p:cNvSpPr txBox="1"/>
          <p:nvPr>
            <p:ph idx="1" type="body"/>
          </p:nvPr>
        </p:nvSpPr>
        <p:spPr>
          <a:xfrm>
            <a:off x="302833" y="4121813"/>
            <a:ext cx="7443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Decide which of the 2 numbers our value is closest to.</a:t>
            </a:r>
            <a:endParaRPr/>
          </a:p>
        </p:txBody>
      </p:sp>
      <p:sp>
        <p:nvSpPr>
          <p:cNvPr id="1662" name="Google Shape;1662;p140"/>
          <p:cNvSpPr/>
          <p:nvPr/>
        </p:nvSpPr>
        <p:spPr>
          <a:xfrm>
            <a:off x="1943202" y="758050"/>
            <a:ext cx="183600" cy="3525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3" name="Google Shape;1663;p140"/>
          <p:cNvCxnSpPr/>
          <p:nvPr/>
        </p:nvCxnSpPr>
        <p:spPr>
          <a:xfrm rot="10800000">
            <a:off x="2126775" y="1124350"/>
            <a:ext cx="457800" cy="168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4" name="Google Shape;1664;p140"/>
          <p:cNvSpPr txBox="1"/>
          <p:nvPr>
            <p:ph idx="1" type="body"/>
          </p:nvPr>
        </p:nvSpPr>
        <p:spPr>
          <a:xfrm>
            <a:off x="2645400" y="1109914"/>
            <a:ext cx="6250800" cy="7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3</a:t>
            </a:r>
            <a:r>
              <a:rPr baseline="30000" lang="en-GB"/>
              <a:t>rd</a:t>
            </a:r>
            <a:r>
              <a:rPr lang="en-GB"/>
              <a:t> decimal place, use this as the lower value.</a:t>
            </a:r>
            <a:endParaRPr/>
          </a:p>
        </p:txBody>
      </p:sp>
      <p:cxnSp>
        <p:nvCxnSpPr>
          <p:cNvPr id="1665" name="Google Shape;1665;p140"/>
          <p:cNvCxnSpPr/>
          <p:nvPr/>
        </p:nvCxnSpPr>
        <p:spPr>
          <a:xfrm rot="10800000">
            <a:off x="7147775" y="3131663"/>
            <a:ext cx="458100" cy="312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6" name="Google Shape;1666;p140"/>
          <p:cNvSpPr txBox="1"/>
          <p:nvPr>
            <p:ph idx="1" type="body"/>
          </p:nvPr>
        </p:nvSpPr>
        <p:spPr>
          <a:xfrm>
            <a:off x="3940800" y="3517913"/>
            <a:ext cx="4899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Increase the thousandths digit by 1.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4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672" name="Google Shape;1672;p141"/>
          <p:cNvSpPr txBox="1"/>
          <p:nvPr>
            <p:ph idx="1" type="subTitle"/>
          </p:nvPr>
        </p:nvSpPr>
        <p:spPr>
          <a:xfrm>
            <a:off x="337825" y="810000"/>
            <a:ext cx="39822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 0.349821 to 3 decimal places.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3" name="Google Shape;1673;p141"/>
          <p:cNvGraphicFramePr/>
          <p:nvPr/>
        </p:nvGraphicFramePr>
        <p:xfrm>
          <a:off x="74900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579925"/>
                <a:gridCol w="1579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74" name="Google Shape;1674;p141"/>
          <p:cNvGrpSpPr/>
          <p:nvPr/>
        </p:nvGrpSpPr>
        <p:grpSpPr>
          <a:xfrm>
            <a:off x="448837" y="2963625"/>
            <a:ext cx="3769112" cy="277200"/>
            <a:chOff x="1744237" y="2887425"/>
            <a:chExt cx="3769112" cy="277200"/>
          </a:xfrm>
        </p:grpSpPr>
        <p:sp>
          <p:nvSpPr>
            <p:cNvPr id="1675" name="Google Shape;1675;p141"/>
            <p:cNvSpPr txBox="1"/>
            <p:nvPr/>
          </p:nvSpPr>
          <p:spPr>
            <a:xfrm>
              <a:off x="1744237" y="2887425"/>
              <a:ext cx="60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0.349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6" name="Google Shape;1676;p141"/>
            <p:cNvSpPr txBox="1"/>
            <p:nvPr/>
          </p:nvSpPr>
          <p:spPr>
            <a:xfrm>
              <a:off x="4913350" y="2887425"/>
              <a:ext cx="60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0.350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7" name="Google Shape;1677;p141"/>
          <p:cNvSpPr txBox="1"/>
          <p:nvPr/>
        </p:nvSpPr>
        <p:spPr>
          <a:xfrm>
            <a:off x="1975625" y="2963625"/>
            <a:ext cx="74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0.3495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41"/>
          <p:cNvSpPr/>
          <p:nvPr/>
        </p:nvSpPr>
        <p:spPr>
          <a:xfrm rot="10800000">
            <a:off x="3167125" y="247858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41"/>
          <p:cNvSpPr txBox="1"/>
          <p:nvPr>
            <p:ph idx="4294967295" type="body"/>
          </p:nvPr>
        </p:nvSpPr>
        <p:spPr>
          <a:xfrm>
            <a:off x="324000" y="1368900"/>
            <a:ext cx="3996000" cy="7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Identify the numbers to 3 decimal places either side of 0.349821.</a:t>
            </a:r>
            <a:endParaRPr sz="1800"/>
          </a:p>
        </p:txBody>
      </p:sp>
      <p:sp>
        <p:nvSpPr>
          <p:cNvPr id="1680" name="Google Shape;1680;p141"/>
          <p:cNvSpPr txBox="1"/>
          <p:nvPr/>
        </p:nvSpPr>
        <p:spPr>
          <a:xfrm>
            <a:off x="2768150" y="2125425"/>
            <a:ext cx="103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0.349821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141"/>
          <p:cNvSpPr txBox="1"/>
          <p:nvPr>
            <p:ph idx="4294967295" type="body"/>
          </p:nvPr>
        </p:nvSpPr>
        <p:spPr>
          <a:xfrm>
            <a:off x="324000" y="4416900"/>
            <a:ext cx="2764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0.349821 = 0.350 (3 d.p.)</a:t>
            </a:r>
            <a:endParaRPr sz="1800"/>
          </a:p>
        </p:txBody>
      </p:sp>
      <p:sp>
        <p:nvSpPr>
          <p:cNvPr id="1682" name="Google Shape;1682;p141"/>
          <p:cNvSpPr txBox="1"/>
          <p:nvPr>
            <p:ph idx="4294967295" type="body"/>
          </p:nvPr>
        </p:nvSpPr>
        <p:spPr>
          <a:xfrm>
            <a:off x="324000" y="3883500"/>
            <a:ext cx="3159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Identify the halfway point.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4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688" name="Google Shape;1688;p142"/>
          <p:cNvSpPr txBox="1"/>
          <p:nvPr>
            <p:ph idx="1" type="subTitle"/>
          </p:nvPr>
        </p:nvSpPr>
        <p:spPr>
          <a:xfrm>
            <a:off x="4833625" y="810000"/>
            <a:ext cx="39822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 0.8429 to 3 decimal places.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89" name="Google Shape;1689;p142"/>
          <p:cNvGraphicFramePr/>
          <p:nvPr/>
        </p:nvGraphicFramePr>
        <p:xfrm>
          <a:off x="524480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579925"/>
                <a:gridCol w="1579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90" name="Google Shape;1690;p142"/>
          <p:cNvGrpSpPr/>
          <p:nvPr/>
        </p:nvGrpSpPr>
        <p:grpSpPr>
          <a:xfrm>
            <a:off x="4883570" y="2963625"/>
            <a:ext cx="3891079" cy="307800"/>
            <a:chOff x="1683170" y="2887425"/>
            <a:chExt cx="3891079" cy="307800"/>
          </a:xfrm>
        </p:grpSpPr>
        <p:sp>
          <p:nvSpPr>
            <p:cNvPr id="1691" name="Google Shape;1691;p142"/>
            <p:cNvSpPr txBox="1"/>
            <p:nvPr/>
          </p:nvSpPr>
          <p:spPr>
            <a:xfrm>
              <a:off x="1683170" y="2887425"/>
              <a:ext cx="745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0.842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692" name="Google Shape;1692;p142"/>
            <p:cNvSpPr txBox="1"/>
            <p:nvPr/>
          </p:nvSpPr>
          <p:spPr>
            <a:xfrm>
              <a:off x="4829049" y="2887425"/>
              <a:ext cx="745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0.843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693" name="Google Shape;1693;p142"/>
          <p:cNvSpPr txBox="1"/>
          <p:nvPr/>
        </p:nvSpPr>
        <p:spPr>
          <a:xfrm>
            <a:off x="6395112" y="2963625"/>
            <a:ext cx="85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0.8425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4" name="Google Shape;1694;p142"/>
          <p:cNvSpPr/>
          <p:nvPr/>
        </p:nvSpPr>
        <p:spPr>
          <a:xfrm rot="10800000">
            <a:off x="8120125" y="255478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42"/>
          <p:cNvSpPr txBox="1"/>
          <p:nvPr>
            <p:ph idx="4294967295" type="body"/>
          </p:nvPr>
        </p:nvSpPr>
        <p:spPr>
          <a:xfrm>
            <a:off x="4819800" y="1368900"/>
            <a:ext cx="3996000" cy="7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Identify the numbers to 3 decimal places either side of 0.8429.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6" name="Google Shape;1696;p142"/>
          <p:cNvSpPr txBox="1"/>
          <p:nvPr/>
        </p:nvSpPr>
        <p:spPr>
          <a:xfrm>
            <a:off x="7797222" y="2201625"/>
            <a:ext cx="85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0.8429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7" name="Google Shape;1697;p142"/>
          <p:cNvSpPr txBox="1"/>
          <p:nvPr>
            <p:ph idx="4294967295" type="body"/>
          </p:nvPr>
        </p:nvSpPr>
        <p:spPr>
          <a:xfrm>
            <a:off x="4819800" y="4416900"/>
            <a:ext cx="2764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0.8429 = 0.843 (3 d.p.)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8" name="Google Shape;1698;p142"/>
          <p:cNvSpPr txBox="1"/>
          <p:nvPr>
            <p:ph idx="4294967295" type="body"/>
          </p:nvPr>
        </p:nvSpPr>
        <p:spPr>
          <a:xfrm>
            <a:off x="4819800" y="3883500"/>
            <a:ext cx="3159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Identify the halfway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9" name="Google Shape;1699;p142"/>
          <p:cNvSpPr txBox="1"/>
          <p:nvPr>
            <p:ph idx="1" type="subTitle"/>
          </p:nvPr>
        </p:nvSpPr>
        <p:spPr>
          <a:xfrm>
            <a:off x="337825" y="810000"/>
            <a:ext cx="39822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 0.349821 to 3 decimal places.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00" name="Google Shape;1700;p142"/>
          <p:cNvGraphicFramePr/>
          <p:nvPr/>
        </p:nvGraphicFramePr>
        <p:xfrm>
          <a:off x="749000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579925"/>
                <a:gridCol w="1579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01" name="Google Shape;1701;p142"/>
          <p:cNvGrpSpPr/>
          <p:nvPr/>
        </p:nvGrpSpPr>
        <p:grpSpPr>
          <a:xfrm>
            <a:off x="448837" y="2963625"/>
            <a:ext cx="3769112" cy="277200"/>
            <a:chOff x="1744237" y="2887425"/>
            <a:chExt cx="3769112" cy="277200"/>
          </a:xfrm>
        </p:grpSpPr>
        <p:sp>
          <p:nvSpPr>
            <p:cNvPr id="1702" name="Google Shape;1702;p142"/>
            <p:cNvSpPr txBox="1"/>
            <p:nvPr/>
          </p:nvSpPr>
          <p:spPr>
            <a:xfrm>
              <a:off x="1744237" y="2887425"/>
              <a:ext cx="60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0.349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3" name="Google Shape;1703;p142"/>
            <p:cNvSpPr txBox="1"/>
            <p:nvPr/>
          </p:nvSpPr>
          <p:spPr>
            <a:xfrm>
              <a:off x="4913350" y="2887425"/>
              <a:ext cx="600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0.350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4" name="Google Shape;1704;p142"/>
          <p:cNvSpPr txBox="1"/>
          <p:nvPr/>
        </p:nvSpPr>
        <p:spPr>
          <a:xfrm>
            <a:off x="1975625" y="2963625"/>
            <a:ext cx="74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0.3495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42"/>
          <p:cNvSpPr/>
          <p:nvPr/>
        </p:nvSpPr>
        <p:spPr>
          <a:xfrm rot="10800000">
            <a:off x="3167125" y="247858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42"/>
          <p:cNvSpPr txBox="1"/>
          <p:nvPr>
            <p:ph idx="4294967295" type="body"/>
          </p:nvPr>
        </p:nvSpPr>
        <p:spPr>
          <a:xfrm>
            <a:off x="324000" y="1368900"/>
            <a:ext cx="3996000" cy="7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Identify the numbers to 3 decimal places either side of 0.349821.</a:t>
            </a:r>
            <a:endParaRPr sz="1800"/>
          </a:p>
        </p:txBody>
      </p:sp>
      <p:sp>
        <p:nvSpPr>
          <p:cNvPr id="1707" name="Google Shape;1707;p142"/>
          <p:cNvSpPr txBox="1"/>
          <p:nvPr/>
        </p:nvSpPr>
        <p:spPr>
          <a:xfrm>
            <a:off x="2768150" y="2125425"/>
            <a:ext cx="103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0.349821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2"/>
          <p:cNvSpPr txBox="1"/>
          <p:nvPr>
            <p:ph idx="4294967295" type="body"/>
          </p:nvPr>
        </p:nvSpPr>
        <p:spPr>
          <a:xfrm>
            <a:off x="324000" y="4416900"/>
            <a:ext cx="2764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0.349821 = 0.350 (3 d.p.)</a:t>
            </a:r>
            <a:endParaRPr sz="1800"/>
          </a:p>
        </p:txBody>
      </p:sp>
      <p:sp>
        <p:nvSpPr>
          <p:cNvPr id="1709" name="Google Shape;1709;p142"/>
          <p:cNvSpPr txBox="1"/>
          <p:nvPr>
            <p:ph idx="4294967295" type="body"/>
          </p:nvPr>
        </p:nvSpPr>
        <p:spPr>
          <a:xfrm>
            <a:off x="324000" y="3883500"/>
            <a:ext cx="31599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Identify the halfway point.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715" name="Google Shape;1715;p1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Round each number in the table to 3 decimal places.</a:t>
            </a:r>
            <a:endParaRPr/>
          </a:p>
        </p:txBody>
      </p:sp>
      <p:graphicFrame>
        <p:nvGraphicFramePr>
          <p:cNvPr id="1716" name="Google Shape;1716;p143"/>
          <p:cNvGraphicFramePr/>
          <p:nvPr/>
        </p:nvGraphicFramePr>
        <p:xfrm>
          <a:off x="342900" y="117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222075"/>
                <a:gridCol w="3995925"/>
                <a:gridCol w="1918975"/>
              </a:tblGrid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0.06408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7" name="Google Shape;1717;p143"/>
          <p:cNvGraphicFramePr/>
          <p:nvPr/>
        </p:nvGraphicFramePr>
        <p:xfrm>
          <a:off x="3155305" y="2431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8" name="Google Shape;1718;p143"/>
          <p:cNvGraphicFramePr/>
          <p:nvPr/>
        </p:nvGraphicFramePr>
        <p:xfrm>
          <a:off x="3155305" y="3162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9" name="Google Shape;1719;p143"/>
          <p:cNvGraphicFramePr/>
          <p:nvPr/>
        </p:nvGraphicFramePr>
        <p:xfrm>
          <a:off x="3155305" y="3863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0" name="Google Shape;1720;p143"/>
          <p:cNvGraphicFramePr/>
          <p:nvPr/>
        </p:nvGraphicFramePr>
        <p:xfrm>
          <a:off x="3155305" y="4595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726" name="Google Shape;1726;p144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 </a:t>
            </a:r>
            <a:r>
              <a:rPr lang="en-GB"/>
              <a:t>Round each number in the table to 3 decimal places.</a:t>
            </a:r>
            <a:endParaRPr/>
          </a:p>
        </p:txBody>
      </p:sp>
      <p:graphicFrame>
        <p:nvGraphicFramePr>
          <p:cNvPr id="1727" name="Google Shape;1727;p144"/>
          <p:cNvGraphicFramePr/>
          <p:nvPr/>
        </p:nvGraphicFramePr>
        <p:xfrm>
          <a:off x="342900" y="117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222075"/>
                <a:gridCol w="3995925"/>
                <a:gridCol w="1918975"/>
              </a:tblGrid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6.0648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6.08684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8" name="Google Shape;1728;p144"/>
          <p:cNvGraphicFramePr/>
          <p:nvPr/>
        </p:nvGraphicFramePr>
        <p:xfrm>
          <a:off x="3155305" y="2431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29" name="Google Shape;1729;p144"/>
          <p:cNvGraphicFramePr/>
          <p:nvPr/>
        </p:nvGraphicFramePr>
        <p:xfrm>
          <a:off x="3155305" y="3162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0" name="Google Shape;1730;p144"/>
          <p:cNvGraphicFramePr/>
          <p:nvPr/>
        </p:nvGraphicFramePr>
        <p:xfrm>
          <a:off x="3155305" y="3863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1" name="Google Shape;1731;p144"/>
          <p:cNvGraphicFramePr/>
          <p:nvPr/>
        </p:nvGraphicFramePr>
        <p:xfrm>
          <a:off x="3155305" y="4595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737" name="Google Shape;1737;p145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Round each number in the table to 3 decimal places.</a:t>
            </a:r>
            <a:endParaRPr/>
          </a:p>
        </p:txBody>
      </p:sp>
      <p:graphicFrame>
        <p:nvGraphicFramePr>
          <p:cNvPr id="1738" name="Google Shape;1738;p145"/>
          <p:cNvGraphicFramePr/>
          <p:nvPr/>
        </p:nvGraphicFramePr>
        <p:xfrm>
          <a:off x="342900" y="117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222075"/>
                <a:gridCol w="3995925"/>
                <a:gridCol w="1918975"/>
              </a:tblGrid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0.00648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0.006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0.06408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0.064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0.0648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0.065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9" name="Google Shape;1739;p145"/>
          <p:cNvGraphicFramePr/>
          <p:nvPr/>
        </p:nvGraphicFramePr>
        <p:xfrm>
          <a:off x="3155305" y="2431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0" name="Google Shape;1740;p145"/>
          <p:cNvSpPr/>
          <p:nvPr/>
        </p:nvSpPr>
        <p:spPr>
          <a:xfrm>
            <a:off x="5474200" y="2010000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5"/>
          <p:cNvSpPr txBox="1"/>
          <p:nvPr/>
        </p:nvSpPr>
        <p:spPr>
          <a:xfrm>
            <a:off x="2853966" y="2082300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2" name="Google Shape;1742;p145"/>
          <p:cNvSpPr txBox="1"/>
          <p:nvPr/>
        </p:nvSpPr>
        <p:spPr>
          <a:xfrm>
            <a:off x="5718928" y="2082300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3" name="Google Shape;1743;p145"/>
          <p:cNvSpPr txBox="1"/>
          <p:nvPr/>
        </p:nvSpPr>
        <p:spPr>
          <a:xfrm>
            <a:off x="4179774" y="2082300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0.0065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44" name="Google Shape;1744;p145"/>
          <p:cNvGraphicFramePr/>
          <p:nvPr/>
        </p:nvGraphicFramePr>
        <p:xfrm>
          <a:off x="3155305" y="3162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5" name="Google Shape;1745;p145"/>
          <p:cNvSpPr/>
          <p:nvPr/>
        </p:nvSpPr>
        <p:spPr>
          <a:xfrm>
            <a:off x="4026400" y="2741474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5"/>
          <p:cNvSpPr txBox="1"/>
          <p:nvPr/>
        </p:nvSpPr>
        <p:spPr>
          <a:xfrm>
            <a:off x="2853966" y="2813775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7" name="Google Shape;1747;p145"/>
          <p:cNvSpPr txBox="1"/>
          <p:nvPr/>
        </p:nvSpPr>
        <p:spPr>
          <a:xfrm>
            <a:off x="5718928" y="2813775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8" name="Google Shape;1748;p145"/>
          <p:cNvSpPr txBox="1"/>
          <p:nvPr/>
        </p:nvSpPr>
        <p:spPr>
          <a:xfrm>
            <a:off x="4179774" y="2813775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0.0065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49" name="Google Shape;1749;p145"/>
          <p:cNvGraphicFramePr/>
          <p:nvPr/>
        </p:nvGraphicFramePr>
        <p:xfrm>
          <a:off x="3155305" y="3863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0" name="Google Shape;1750;p145"/>
          <p:cNvSpPr/>
          <p:nvPr/>
        </p:nvSpPr>
        <p:spPr>
          <a:xfrm>
            <a:off x="3493000" y="3442424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45"/>
          <p:cNvSpPr txBox="1"/>
          <p:nvPr/>
        </p:nvSpPr>
        <p:spPr>
          <a:xfrm>
            <a:off x="2853966" y="3514724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2" name="Google Shape;1752;p145"/>
          <p:cNvSpPr txBox="1"/>
          <p:nvPr/>
        </p:nvSpPr>
        <p:spPr>
          <a:xfrm>
            <a:off x="5718928" y="3514724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3" name="Google Shape;1753;p145"/>
          <p:cNvSpPr txBox="1"/>
          <p:nvPr/>
        </p:nvSpPr>
        <p:spPr>
          <a:xfrm>
            <a:off x="4179774" y="3514724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0.0645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54" name="Google Shape;1754;p145"/>
          <p:cNvGraphicFramePr/>
          <p:nvPr/>
        </p:nvGraphicFramePr>
        <p:xfrm>
          <a:off x="3155305" y="4595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5" name="Google Shape;1755;p145"/>
          <p:cNvSpPr/>
          <p:nvPr/>
        </p:nvSpPr>
        <p:spPr>
          <a:xfrm>
            <a:off x="5474200" y="4174012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45"/>
          <p:cNvSpPr txBox="1"/>
          <p:nvPr/>
        </p:nvSpPr>
        <p:spPr>
          <a:xfrm>
            <a:off x="2853966" y="4246312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145"/>
          <p:cNvSpPr txBox="1"/>
          <p:nvPr/>
        </p:nvSpPr>
        <p:spPr>
          <a:xfrm>
            <a:off x="5718928" y="4246312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8" name="Google Shape;1758;p145"/>
          <p:cNvSpPr txBox="1"/>
          <p:nvPr/>
        </p:nvSpPr>
        <p:spPr>
          <a:xfrm>
            <a:off x="4179774" y="4246312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0.0645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graphicFrame>
        <p:nvGraphicFramePr>
          <p:cNvPr id="1764" name="Google Shape;1764;p146"/>
          <p:cNvGraphicFramePr/>
          <p:nvPr/>
        </p:nvGraphicFramePr>
        <p:xfrm>
          <a:off x="342900" y="117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2222075"/>
                <a:gridCol w="3995925"/>
                <a:gridCol w="1918975"/>
              </a:tblGrid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line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0.648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0.64884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0.649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6.0648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6.065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6.08684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999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6.087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65" name="Google Shape;1765;p146"/>
          <p:cNvGraphicFramePr/>
          <p:nvPr/>
        </p:nvGraphicFramePr>
        <p:xfrm>
          <a:off x="3155305" y="2431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6" name="Google Shape;1766;p146"/>
          <p:cNvSpPr/>
          <p:nvPr/>
        </p:nvSpPr>
        <p:spPr>
          <a:xfrm>
            <a:off x="4026400" y="2010000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46"/>
          <p:cNvSpPr txBox="1"/>
          <p:nvPr/>
        </p:nvSpPr>
        <p:spPr>
          <a:xfrm>
            <a:off x="2853966" y="2082300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8" name="Google Shape;1768;p146"/>
          <p:cNvSpPr txBox="1"/>
          <p:nvPr/>
        </p:nvSpPr>
        <p:spPr>
          <a:xfrm>
            <a:off x="5718928" y="2082300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9" name="Google Shape;1769;p146"/>
          <p:cNvSpPr txBox="1"/>
          <p:nvPr/>
        </p:nvSpPr>
        <p:spPr>
          <a:xfrm>
            <a:off x="4179774" y="2082300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0.6485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70" name="Google Shape;1770;p146"/>
          <p:cNvGraphicFramePr/>
          <p:nvPr/>
        </p:nvGraphicFramePr>
        <p:xfrm>
          <a:off x="3155305" y="3162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1" name="Google Shape;1771;p146"/>
          <p:cNvSpPr/>
          <p:nvPr/>
        </p:nvSpPr>
        <p:spPr>
          <a:xfrm>
            <a:off x="5550400" y="2741474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46"/>
          <p:cNvSpPr txBox="1"/>
          <p:nvPr/>
        </p:nvSpPr>
        <p:spPr>
          <a:xfrm>
            <a:off x="2853966" y="2813775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3" name="Google Shape;1773;p146"/>
          <p:cNvSpPr txBox="1"/>
          <p:nvPr/>
        </p:nvSpPr>
        <p:spPr>
          <a:xfrm>
            <a:off x="5718928" y="2813775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4" name="Google Shape;1774;p146"/>
          <p:cNvSpPr txBox="1"/>
          <p:nvPr/>
        </p:nvSpPr>
        <p:spPr>
          <a:xfrm>
            <a:off x="4179774" y="2813775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0.6485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75" name="Google Shape;1775;p146"/>
          <p:cNvGraphicFramePr/>
          <p:nvPr/>
        </p:nvGraphicFramePr>
        <p:xfrm>
          <a:off x="3155305" y="3863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6" name="Google Shape;1776;p146"/>
          <p:cNvSpPr/>
          <p:nvPr/>
        </p:nvSpPr>
        <p:spPr>
          <a:xfrm>
            <a:off x="5550400" y="3442424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46"/>
          <p:cNvSpPr txBox="1"/>
          <p:nvPr/>
        </p:nvSpPr>
        <p:spPr>
          <a:xfrm>
            <a:off x="2853966" y="3514724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6.064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8" name="Google Shape;1778;p146"/>
          <p:cNvSpPr txBox="1"/>
          <p:nvPr/>
        </p:nvSpPr>
        <p:spPr>
          <a:xfrm>
            <a:off x="5718928" y="3514724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.065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9" name="Google Shape;1779;p146"/>
          <p:cNvSpPr txBox="1"/>
          <p:nvPr/>
        </p:nvSpPr>
        <p:spPr>
          <a:xfrm>
            <a:off x="4179774" y="3514724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.0645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80" name="Google Shape;1780;p146"/>
          <p:cNvGraphicFramePr/>
          <p:nvPr/>
        </p:nvGraphicFramePr>
        <p:xfrm>
          <a:off x="3155305" y="45950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1434225"/>
                <a:gridCol w="14342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1" name="Google Shape;1781;p146"/>
          <p:cNvSpPr/>
          <p:nvPr/>
        </p:nvSpPr>
        <p:spPr>
          <a:xfrm>
            <a:off x="5550400" y="4174012"/>
            <a:ext cx="110700" cy="30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146"/>
          <p:cNvSpPr txBox="1"/>
          <p:nvPr/>
        </p:nvSpPr>
        <p:spPr>
          <a:xfrm>
            <a:off x="2853966" y="4246312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6.086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3" name="Google Shape;1783;p146"/>
          <p:cNvSpPr txBox="1"/>
          <p:nvPr/>
        </p:nvSpPr>
        <p:spPr>
          <a:xfrm>
            <a:off x="5718928" y="4246312"/>
            <a:ext cx="63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6.087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4" name="Google Shape;1784;p146"/>
          <p:cNvSpPr txBox="1"/>
          <p:nvPr/>
        </p:nvSpPr>
        <p:spPr>
          <a:xfrm>
            <a:off x="4179774" y="4246312"/>
            <a:ext cx="80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6.0865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5" name="Google Shape;1785;p146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 Round each number in the table to 3 decimal places.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4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Representing decimals on a number line</a:t>
            </a:r>
            <a:endParaRPr/>
          </a:p>
        </p:txBody>
      </p:sp>
      <p:sp>
        <p:nvSpPr>
          <p:cNvPr id="1791" name="Google Shape;1791;p14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792" name="Google Shape;1792;p14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pic>
        <p:nvPicPr>
          <p:cNvPr id="1793" name="Google Shape;1793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0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799" name="Google Shape;1799;p148"/>
          <p:cNvSpPr txBox="1"/>
          <p:nvPr>
            <p:ph idx="1" type="body"/>
          </p:nvPr>
        </p:nvSpPr>
        <p:spPr>
          <a:xfrm>
            <a:off x="324000" y="748909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0.67839 to 3 decimal places.</a:t>
            </a:r>
            <a:endParaRPr sz="2000"/>
          </a:p>
        </p:txBody>
      </p:sp>
      <p:graphicFrame>
        <p:nvGraphicFramePr>
          <p:cNvPr id="1800" name="Google Shape;1800;p148"/>
          <p:cNvGraphicFramePr/>
          <p:nvPr/>
        </p:nvGraphicFramePr>
        <p:xfrm>
          <a:off x="1065176" y="1089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1" name="Google Shape;1801;p148"/>
          <p:cNvSpPr txBox="1"/>
          <p:nvPr/>
        </p:nvSpPr>
        <p:spPr>
          <a:xfrm>
            <a:off x="5179950" y="1510114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2" name="Google Shape;1802;p148"/>
          <p:cNvGrpSpPr/>
          <p:nvPr/>
        </p:nvGrpSpPr>
        <p:grpSpPr>
          <a:xfrm>
            <a:off x="5179950" y="1077383"/>
            <a:ext cx="2034410" cy="378900"/>
            <a:chOff x="5179950" y="1621174"/>
            <a:chExt cx="2034410" cy="378900"/>
          </a:xfrm>
        </p:grpSpPr>
        <p:sp>
          <p:nvSpPr>
            <p:cNvPr id="1803" name="Google Shape;1803;p148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04" name="Google Shape;1804;p148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805" name="Google Shape;1805;p148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06" name="Google Shape;1806;p148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07" name="Google Shape;1807;p148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08" name="Google Shape;1808;p148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809" name="Google Shape;1809;p148"/>
          <p:cNvGrpSpPr/>
          <p:nvPr/>
        </p:nvGrpSpPr>
        <p:grpSpPr>
          <a:xfrm>
            <a:off x="7289193" y="1089389"/>
            <a:ext cx="839567" cy="228900"/>
            <a:chOff x="7700993" y="1655350"/>
            <a:chExt cx="839567" cy="228900"/>
          </a:xfrm>
        </p:grpSpPr>
        <p:sp>
          <p:nvSpPr>
            <p:cNvPr id="1810" name="Google Shape;1810;p148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811" name="Google Shape;1811;p148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812" name="Google Shape;1812;p148"/>
          <p:cNvGrpSpPr/>
          <p:nvPr/>
        </p:nvGrpSpPr>
        <p:grpSpPr>
          <a:xfrm>
            <a:off x="4823287" y="1660089"/>
            <a:ext cx="2577900" cy="313500"/>
            <a:chOff x="4823287" y="1899080"/>
            <a:chExt cx="2577900" cy="313500"/>
          </a:xfrm>
        </p:grpSpPr>
        <p:grpSp>
          <p:nvGrpSpPr>
            <p:cNvPr id="1813" name="Google Shape;1813;p148"/>
            <p:cNvGrpSpPr/>
            <p:nvPr/>
          </p:nvGrpSpPr>
          <p:grpSpPr>
            <a:xfrm>
              <a:off x="4823287" y="1899080"/>
              <a:ext cx="2120700" cy="313500"/>
              <a:chOff x="4411875" y="4131050"/>
              <a:chExt cx="2120700" cy="313500"/>
            </a:xfrm>
          </p:grpSpPr>
          <p:sp>
            <p:nvSpPr>
              <p:cNvPr id="1814" name="Google Shape;1814;p148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5" name="Google Shape;1815;p148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6" name="Google Shape;1816;p148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7" name="Google Shape;1817;p148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18" name="Google Shape;1818;p148"/>
              <p:cNvSpPr/>
              <p:nvPr/>
            </p:nvSpPr>
            <p:spPr>
              <a:xfrm>
                <a:off x="62589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19" name="Google Shape;1819;p148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0" name="Google Shape;1820;p148"/>
          <p:cNvSpPr/>
          <p:nvPr/>
        </p:nvSpPr>
        <p:spPr>
          <a:xfrm>
            <a:off x="6484225" y="2194314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48"/>
          <p:cNvSpPr txBox="1"/>
          <p:nvPr/>
        </p:nvSpPr>
        <p:spPr>
          <a:xfrm>
            <a:off x="1924200" y="2193534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is less than 5.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48"/>
          <p:cNvSpPr txBox="1"/>
          <p:nvPr/>
        </p:nvSpPr>
        <p:spPr>
          <a:xfrm>
            <a:off x="324000" y="4195434"/>
            <a:ext cx="631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round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down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low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 value.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0.67839 = 0.678 (3 d.p.)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3" name="Google Shape;1823;p148"/>
          <p:cNvSpPr txBox="1"/>
          <p:nvPr>
            <p:ph idx="1" type="body"/>
          </p:nvPr>
        </p:nvSpPr>
        <p:spPr>
          <a:xfrm>
            <a:off x="324000" y="2963122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lang="en-GB" sz="2000">
                <a:solidFill>
                  <a:schemeClr val="accent5"/>
                </a:solidFill>
              </a:rPr>
              <a:t>thousandths</a:t>
            </a:r>
            <a:r>
              <a:rPr lang="en-GB" sz="2000"/>
              <a:t> column as this is the </a:t>
            </a:r>
            <a:r>
              <a:rPr lang="en-GB" sz="2000">
                <a:solidFill>
                  <a:schemeClr val="accent5"/>
                </a:solidFill>
              </a:rPr>
              <a:t>3</a:t>
            </a:r>
            <a:r>
              <a:rPr baseline="30000" lang="en-GB" sz="2000">
                <a:solidFill>
                  <a:schemeClr val="accent5"/>
                </a:solidFill>
              </a:rPr>
              <a:t>rd</a:t>
            </a:r>
            <a:r>
              <a:rPr lang="en-GB" sz="2000"/>
              <a:t> decimal place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824" name="Google Shape;1824;p148"/>
          <p:cNvSpPr txBox="1"/>
          <p:nvPr>
            <p:ph idx="1" type="body"/>
          </p:nvPr>
        </p:nvSpPr>
        <p:spPr>
          <a:xfrm>
            <a:off x="324000" y="3416034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Consider the digit in the </a:t>
            </a:r>
            <a:r>
              <a:rPr lang="en-GB" sz="2000">
                <a:solidFill>
                  <a:schemeClr val="accent5"/>
                </a:solidFill>
              </a:rPr>
              <a:t>ten thousandths</a:t>
            </a:r>
            <a:r>
              <a:rPr lang="en-GB" sz="2000"/>
              <a:t> column, the column to the </a:t>
            </a:r>
            <a:r>
              <a:rPr lang="en-GB" sz="2000">
                <a:solidFill>
                  <a:schemeClr val="accent5"/>
                </a:solidFill>
              </a:rPr>
              <a:t>right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825" name="Google Shape;1825;p148"/>
          <p:cNvSpPr/>
          <p:nvPr/>
        </p:nvSpPr>
        <p:spPr>
          <a:xfrm>
            <a:off x="6180487" y="1139589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148"/>
          <p:cNvSpPr/>
          <p:nvPr/>
        </p:nvSpPr>
        <p:spPr>
          <a:xfrm>
            <a:off x="6210786" y="164482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48"/>
          <p:cNvSpPr/>
          <p:nvPr/>
        </p:nvSpPr>
        <p:spPr>
          <a:xfrm>
            <a:off x="6643918" y="1644809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833" name="Google Shape;1833;p14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1.9037 to 3 decimal places.</a:t>
            </a:r>
            <a:endParaRPr sz="2000"/>
          </a:p>
        </p:txBody>
      </p:sp>
      <p:graphicFrame>
        <p:nvGraphicFramePr>
          <p:cNvPr id="1834" name="Google Shape;1834;p149"/>
          <p:cNvGraphicFramePr/>
          <p:nvPr/>
        </p:nvGraphicFramePr>
        <p:xfrm>
          <a:off x="1065176" y="1069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5" name="Google Shape;1835;p149"/>
          <p:cNvSpPr txBox="1"/>
          <p:nvPr/>
        </p:nvSpPr>
        <p:spPr>
          <a:xfrm>
            <a:off x="5179950" y="1490093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6" name="Google Shape;1836;p149"/>
          <p:cNvGrpSpPr/>
          <p:nvPr/>
        </p:nvGrpSpPr>
        <p:grpSpPr>
          <a:xfrm>
            <a:off x="5179950" y="1057362"/>
            <a:ext cx="2034410" cy="378900"/>
            <a:chOff x="5179950" y="1621174"/>
            <a:chExt cx="2034410" cy="378900"/>
          </a:xfrm>
        </p:grpSpPr>
        <p:sp>
          <p:nvSpPr>
            <p:cNvPr id="1837" name="Google Shape;1837;p149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38" name="Google Shape;1838;p149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839" name="Google Shape;1839;p149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40" name="Google Shape;1840;p149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41" name="Google Shape;1841;p149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42" name="Google Shape;1842;p149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843" name="Google Shape;1843;p149"/>
          <p:cNvGrpSpPr/>
          <p:nvPr/>
        </p:nvGrpSpPr>
        <p:grpSpPr>
          <a:xfrm>
            <a:off x="7289193" y="1069368"/>
            <a:ext cx="839567" cy="228900"/>
            <a:chOff x="7700993" y="1655350"/>
            <a:chExt cx="839567" cy="228900"/>
          </a:xfrm>
        </p:grpSpPr>
        <p:sp>
          <p:nvSpPr>
            <p:cNvPr id="1844" name="Google Shape;1844;p149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845" name="Google Shape;1845;p149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846" name="Google Shape;1846;p149"/>
          <p:cNvGrpSpPr/>
          <p:nvPr/>
        </p:nvGrpSpPr>
        <p:grpSpPr>
          <a:xfrm>
            <a:off x="4747087" y="1640068"/>
            <a:ext cx="2654100" cy="313500"/>
            <a:chOff x="4823287" y="1899080"/>
            <a:chExt cx="2654100" cy="313500"/>
          </a:xfrm>
        </p:grpSpPr>
        <p:grpSp>
          <p:nvGrpSpPr>
            <p:cNvPr id="1847" name="Google Shape;1847;p149"/>
            <p:cNvGrpSpPr/>
            <p:nvPr/>
          </p:nvGrpSpPr>
          <p:grpSpPr>
            <a:xfrm>
              <a:off x="4823287" y="1899080"/>
              <a:ext cx="2196900" cy="313500"/>
              <a:chOff x="4411875" y="4131050"/>
              <a:chExt cx="2196900" cy="313500"/>
            </a:xfrm>
          </p:grpSpPr>
          <p:sp>
            <p:nvSpPr>
              <p:cNvPr id="1848" name="Google Shape;1848;p149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49" name="Google Shape;1849;p149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0" name="Google Shape;1850;p149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1" name="Google Shape;1851;p149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52" name="Google Shape;1852;p149"/>
              <p:cNvSpPr/>
              <p:nvPr/>
            </p:nvSpPr>
            <p:spPr>
              <a:xfrm>
                <a:off x="63351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53" name="Google Shape;1853;p149"/>
            <p:cNvSpPr/>
            <p:nvPr/>
          </p:nvSpPr>
          <p:spPr>
            <a:xfrm>
              <a:off x="72037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4" name="Google Shape;1854;p149"/>
          <p:cNvSpPr/>
          <p:nvPr/>
        </p:nvSpPr>
        <p:spPr>
          <a:xfrm>
            <a:off x="6484225" y="2174293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49"/>
          <p:cNvSpPr txBox="1"/>
          <p:nvPr/>
        </p:nvSpPr>
        <p:spPr>
          <a:xfrm>
            <a:off x="1924200" y="2173513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is greater than 5.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49"/>
          <p:cNvSpPr txBox="1"/>
          <p:nvPr/>
        </p:nvSpPr>
        <p:spPr>
          <a:xfrm>
            <a:off x="324000" y="4205825"/>
            <a:ext cx="631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round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up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higher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9037 = 1.904 (3 d.p.)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7" name="Google Shape;1857;p149"/>
          <p:cNvSpPr txBox="1"/>
          <p:nvPr>
            <p:ph idx="1" type="body"/>
          </p:nvPr>
        </p:nvSpPr>
        <p:spPr>
          <a:xfrm>
            <a:off x="324000" y="281670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lang="en-GB" sz="2000">
                <a:solidFill>
                  <a:schemeClr val="accent5"/>
                </a:solidFill>
              </a:rPr>
              <a:t>thousandths</a:t>
            </a:r>
            <a:r>
              <a:rPr lang="en-GB" sz="2000"/>
              <a:t> column as this is the </a:t>
            </a:r>
            <a:r>
              <a:rPr lang="en-GB" sz="2000">
                <a:solidFill>
                  <a:schemeClr val="accent5"/>
                </a:solidFill>
              </a:rPr>
              <a:t>3</a:t>
            </a:r>
            <a:r>
              <a:rPr baseline="30000" lang="en-GB" sz="2000">
                <a:solidFill>
                  <a:schemeClr val="accent5"/>
                </a:solidFill>
              </a:rPr>
              <a:t>rd</a:t>
            </a:r>
            <a:r>
              <a:rPr lang="en-GB" sz="2000"/>
              <a:t> decimal place.</a:t>
            </a:r>
            <a:endParaRPr sz="2000"/>
          </a:p>
        </p:txBody>
      </p:sp>
      <p:sp>
        <p:nvSpPr>
          <p:cNvPr id="1858" name="Google Shape;1858;p149"/>
          <p:cNvSpPr txBox="1"/>
          <p:nvPr>
            <p:ph idx="1" type="body"/>
          </p:nvPr>
        </p:nvSpPr>
        <p:spPr>
          <a:xfrm>
            <a:off x="324000" y="335010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Consider the digit in the </a:t>
            </a:r>
            <a:r>
              <a:rPr lang="en-GB" sz="2000">
                <a:solidFill>
                  <a:schemeClr val="accent5"/>
                </a:solidFill>
              </a:rPr>
              <a:t>ten thousandths</a:t>
            </a:r>
            <a:r>
              <a:rPr lang="en-GB" sz="2000"/>
              <a:t> column, the column to the </a:t>
            </a:r>
            <a:r>
              <a:rPr lang="en-GB" sz="2000">
                <a:solidFill>
                  <a:schemeClr val="accent5"/>
                </a:solidFill>
              </a:rPr>
              <a:t>right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859" name="Google Shape;1859;p149"/>
          <p:cNvSpPr/>
          <p:nvPr/>
        </p:nvSpPr>
        <p:spPr>
          <a:xfrm>
            <a:off x="6180487" y="1119568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49"/>
          <p:cNvSpPr/>
          <p:nvPr/>
        </p:nvSpPr>
        <p:spPr>
          <a:xfrm>
            <a:off x="6210786" y="16248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9"/>
          <p:cNvSpPr/>
          <p:nvPr/>
        </p:nvSpPr>
        <p:spPr>
          <a:xfrm>
            <a:off x="6643918" y="1624788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867" name="Google Shape;1867;p150"/>
          <p:cNvSpPr txBox="1"/>
          <p:nvPr>
            <p:ph idx="1" type="body"/>
          </p:nvPr>
        </p:nvSpPr>
        <p:spPr>
          <a:xfrm>
            <a:off x="324000" y="7275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0.67839 to 3 decimal places.</a:t>
            </a:r>
            <a:endParaRPr sz="2000"/>
          </a:p>
        </p:txBody>
      </p:sp>
      <p:graphicFrame>
        <p:nvGraphicFramePr>
          <p:cNvPr id="1868" name="Google Shape;1868;p150"/>
          <p:cNvGraphicFramePr/>
          <p:nvPr/>
        </p:nvGraphicFramePr>
        <p:xfrm>
          <a:off x="1065176" y="1023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9" name="Google Shape;1869;p150"/>
          <p:cNvSpPr txBox="1"/>
          <p:nvPr/>
        </p:nvSpPr>
        <p:spPr>
          <a:xfrm>
            <a:off x="5179950" y="144430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0" name="Google Shape;1870;p150"/>
          <p:cNvGrpSpPr/>
          <p:nvPr/>
        </p:nvGrpSpPr>
        <p:grpSpPr>
          <a:xfrm>
            <a:off x="5179950" y="1011574"/>
            <a:ext cx="2034410" cy="378900"/>
            <a:chOff x="5179950" y="1621174"/>
            <a:chExt cx="2034410" cy="378900"/>
          </a:xfrm>
        </p:grpSpPr>
        <p:sp>
          <p:nvSpPr>
            <p:cNvPr id="1871" name="Google Shape;1871;p150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72" name="Google Shape;1872;p150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873" name="Google Shape;1873;p150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74" name="Google Shape;1874;p150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75" name="Google Shape;1875;p150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876" name="Google Shape;1876;p150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877" name="Google Shape;1877;p150"/>
          <p:cNvGrpSpPr/>
          <p:nvPr/>
        </p:nvGrpSpPr>
        <p:grpSpPr>
          <a:xfrm>
            <a:off x="7289193" y="1023580"/>
            <a:ext cx="839567" cy="228900"/>
            <a:chOff x="7700993" y="1655350"/>
            <a:chExt cx="839567" cy="228900"/>
          </a:xfrm>
        </p:grpSpPr>
        <p:sp>
          <p:nvSpPr>
            <p:cNvPr id="1878" name="Google Shape;1878;p150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879" name="Google Shape;1879;p150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880" name="Google Shape;1880;p150"/>
          <p:cNvGrpSpPr/>
          <p:nvPr/>
        </p:nvGrpSpPr>
        <p:grpSpPr>
          <a:xfrm>
            <a:off x="4823287" y="1594280"/>
            <a:ext cx="2577900" cy="313500"/>
            <a:chOff x="4823287" y="1899080"/>
            <a:chExt cx="2577900" cy="313500"/>
          </a:xfrm>
        </p:grpSpPr>
        <p:grpSp>
          <p:nvGrpSpPr>
            <p:cNvPr id="1881" name="Google Shape;1881;p150"/>
            <p:cNvGrpSpPr/>
            <p:nvPr/>
          </p:nvGrpSpPr>
          <p:grpSpPr>
            <a:xfrm>
              <a:off x="4823287" y="1899080"/>
              <a:ext cx="2120700" cy="313500"/>
              <a:chOff x="4411875" y="4131050"/>
              <a:chExt cx="2120700" cy="313500"/>
            </a:xfrm>
          </p:grpSpPr>
          <p:sp>
            <p:nvSpPr>
              <p:cNvPr id="1882" name="Google Shape;1882;p150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3" name="Google Shape;1883;p150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4" name="Google Shape;1884;p150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5" name="Google Shape;1885;p150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6" name="Google Shape;1886;p150"/>
              <p:cNvSpPr/>
              <p:nvPr/>
            </p:nvSpPr>
            <p:spPr>
              <a:xfrm>
                <a:off x="62589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887" name="Google Shape;1887;p150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8" name="Google Shape;1888;p150"/>
          <p:cNvSpPr/>
          <p:nvPr/>
        </p:nvSpPr>
        <p:spPr>
          <a:xfrm>
            <a:off x="6484225" y="21285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50"/>
          <p:cNvSpPr txBox="1"/>
          <p:nvPr/>
        </p:nvSpPr>
        <p:spPr>
          <a:xfrm>
            <a:off x="1924200" y="212772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is less than 5.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50"/>
          <p:cNvSpPr txBox="1"/>
          <p:nvPr/>
        </p:nvSpPr>
        <p:spPr>
          <a:xfrm>
            <a:off x="324000" y="4205825"/>
            <a:ext cx="631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round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down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low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 value.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0.67839 = 0.678 (3 d.p.)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1" name="Google Shape;1891;p150"/>
          <p:cNvSpPr txBox="1"/>
          <p:nvPr>
            <p:ph idx="1" type="body"/>
          </p:nvPr>
        </p:nvSpPr>
        <p:spPr>
          <a:xfrm>
            <a:off x="324000" y="28167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lang="en-GB" sz="2000">
                <a:solidFill>
                  <a:schemeClr val="accent5"/>
                </a:solidFill>
              </a:rPr>
              <a:t>thousandths</a:t>
            </a:r>
            <a:r>
              <a:rPr lang="en-GB" sz="2000"/>
              <a:t> column as this is the </a:t>
            </a:r>
            <a:r>
              <a:rPr lang="en-GB" sz="2000">
                <a:solidFill>
                  <a:schemeClr val="accent5"/>
                </a:solidFill>
              </a:rPr>
              <a:t>3</a:t>
            </a:r>
            <a:r>
              <a:rPr baseline="30000" lang="en-GB" sz="2000">
                <a:solidFill>
                  <a:schemeClr val="accent5"/>
                </a:solidFill>
              </a:rPr>
              <a:t>rd</a:t>
            </a:r>
            <a:r>
              <a:rPr lang="en-GB" sz="2000"/>
              <a:t> decimal place.</a:t>
            </a:r>
            <a:endParaRPr sz="2000"/>
          </a:p>
        </p:txBody>
      </p:sp>
      <p:sp>
        <p:nvSpPr>
          <p:cNvPr id="1892" name="Google Shape;1892;p150"/>
          <p:cNvSpPr txBox="1"/>
          <p:nvPr>
            <p:ph idx="1" type="body"/>
          </p:nvPr>
        </p:nvSpPr>
        <p:spPr>
          <a:xfrm>
            <a:off x="324000" y="335010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Consider the digit in the </a:t>
            </a:r>
            <a:r>
              <a:rPr lang="en-GB" sz="2000">
                <a:solidFill>
                  <a:schemeClr val="accent5"/>
                </a:solidFill>
              </a:rPr>
              <a:t>ten thousandths</a:t>
            </a:r>
            <a:r>
              <a:rPr lang="en-GB" sz="2000"/>
              <a:t> column, the column to the </a:t>
            </a:r>
            <a:r>
              <a:rPr lang="en-GB" sz="2000">
                <a:solidFill>
                  <a:schemeClr val="accent5"/>
                </a:solidFill>
              </a:rPr>
              <a:t>right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893" name="Google Shape;1893;p150"/>
          <p:cNvSpPr/>
          <p:nvPr/>
        </p:nvSpPr>
        <p:spPr>
          <a:xfrm>
            <a:off x="6180487" y="10737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50"/>
          <p:cNvSpPr/>
          <p:nvPr/>
        </p:nvSpPr>
        <p:spPr>
          <a:xfrm>
            <a:off x="6210786" y="1579012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0"/>
          <p:cNvSpPr/>
          <p:nvPr/>
        </p:nvSpPr>
        <p:spPr>
          <a:xfrm>
            <a:off x="6643918" y="15790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901" name="Google Shape;1901;p151"/>
          <p:cNvSpPr txBox="1"/>
          <p:nvPr>
            <p:ph idx="1" type="body"/>
          </p:nvPr>
        </p:nvSpPr>
        <p:spPr>
          <a:xfrm>
            <a:off x="324000" y="736017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0.0495 to 3 decimal places.</a:t>
            </a:r>
            <a:endParaRPr sz="2000"/>
          </a:p>
        </p:txBody>
      </p:sp>
      <p:graphicFrame>
        <p:nvGraphicFramePr>
          <p:cNvPr id="1902" name="Google Shape;1902;p151"/>
          <p:cNvGraphicFramePr/>
          <p:nvPr/>
        </p:nvGraphicFramePr>
        <p:xfrm>
          <a:off x="1065176" y="1023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3" name="Google Shape;1903;p151"/>
          <p:cNvSpPr txBox="1"/>
          <p:nvPr/>
        </p:nvSpPr>
        <p:spPr>
          <a:xfrm>
            <a:off x="5179950" y="1444305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4" name="Google Shape;1904;p151"/>
          <p:cNvGrpSpPr/>
          <p:nvPr/>
        </p:nvGrpSpPr>
        <p:grpSpPr>
          <a:xfrm>
            <a:off x="5179950" y="1011574"/>
            <a:ext cx="2034410" cy="378900"/>
            <a:chOff x="5179950" y="1621174"/>
            <a:chExt cx="2034410" cy="378900"/>
          </a:xfrm>
        </p:grpSpPr>
        <p:sp>
          <p:nvSpPr>
            <p:cNvPr id="1905" name="Google Shape;1905;p151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06" name="Google Shape;1906;p151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907" name="Google Shape;1907;p151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908" name="Google Shape;1908;p151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909" name="Google Shape;1909;p151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910" name="Google Shape;1910;p151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911" name="Google Shape;1911;p151"/>
          <p:cNvGrpSpPr/>
          <p:nvPr/>
        </p:nvGrpSpPr>
        <p:grpSpPr>
          <a:xfrm>
            <a:off x="7289193" y="947380"/>
            <a:ext cx="839567" cy="228900"/>
            <a:chOff x="7700993" y="1655350"/>
            <a:chExt cx="839567" cy="228900"/>
          </a:xfrm>
        </p:grpSpPr>
        <p:sp>
          <p:nvSpPr>
            <p:cNvPr id="1912" name="Google Shape;1912;p151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913" name="Google Shape;1913;p151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914" name="Google Shape;1914;p151"/>
          <p:cNvGrpSpPr/>
          <p:nvPr/>
        </p:nvGrpSpPr>
        <p:grpSpPr>
          <a:xfrm>
            <a:off x="4823287" y="1594280"/>
            <a:ext cx="2577900" cy="313500"/>
            <a:chOff x="4823287" y="1899080"/>
            <a:chExt cx="2577900" cy="313500"/>
          </a:xfrm>
        </p:grpSpPr>
        <p:grpSp>
          <p:nvGrpSpPr>
            <p:cNvPr id="1915" name="Google Shape;1915;p151"/>
            <p:cNvGrpSpPr/>
            <p:nvPr/>
          </p:nvGrpSpPr>
          <p:grpSpPr>
            <a:xfrm>
              <a:off x="4823287" y="1899080"/>
              <a:ext cx="2120700" cy="313500"/>
              <a:chOff x="4411875" y="4131050"/>
              <a:chExt cx="2120700" cy="313500"/>
            </a:xfrm>
          </p:grpSpPr>
          <p:sp>
            <p:nvSpPr>
              <p:cNvPr id="1916" name="Google Shape;1916;p151"/>
              <p:cNvSpPr/>
              <p:nvPr/>
            </p:nvSpPr>
            <p:spPr>
              <a:xfrm>
                <a:off x="44118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7" name="Google Shape;1917;p151"/>
              <p:cNvSpPr/>
              <p:nvPr/>
            </p:nvSpPr>
            <p:spPr>
              <a:xfrm>
                <a:off x="490422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8" name="Google Shape;1918;p151"/>
              <p:cNvSpPr/>
              <p:nvPr/>
            </p:nvSpPr>
            <p:spPr>
              <a:xfrm>
                <a:off x="53965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9" name="Google Shape;1919;p151"/>
              <p:cNvSpPr/>
              <p:nvPr/>
            </p:nvSpPr>
            <p:spPr>
              <a:xfrm>
                <a:off x="5835450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0" name="Google Shape;1920;p151"/>
              <p:cNvSpPr/>
              <p:nvPr/>
            </p:nvSpPr>
            <p:spPr>
              <a:xfrm>
                <a:off x="6258975" y="4131050"/>
                <a:ext cx="273600" cy="3135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921" name="Google Shape;1921;p151"/>
            <p:cNvSpPr/>
            <p:nvPr/>
          </p:nvSpPr>
          <p:spPr>
            <a:xfrm>
              <a:off x="7127587" y="1899080"/>
              <a:ext cx="273600" cy="31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2" name="Google Shape;1922;p151"/>
          <p:cNvSpPr/>
          <p:nvPr/>
        </p:nvSpPr>
        <p:spPr>
          <a:xfrm>
            <a:off x="6484225" y="2128505"/>
            <a:ext cx="415800" cy="2733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51"/>
          <p:cNvSpPr txBox="1"/>
          <p:nvPr/>
        </p:nvSpPr>
        <p:spPr>
          <a:xfrm>
            <a:off x="1924200" y="2127725"/>
            <a:ext cx="438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Halfway would show a 5 in this column,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exactly halfway.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51"/>
          <p:cNvSpPr txBox="1"/>
          <p:nvPr/>
        </p:nvSpPr>
        <p:spPr>
          <a:xfrm>
            <a:off x="324000" y="4205825"/>
            <a:ext cx="631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round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up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high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er value.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0.0495 = 0.050 (3 d.p.)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51"/>
          <p:cNvSpPr txBox="1"/>
          <p:nvPr>
            <p:ph idx="1" type="body"/>
          </p:nvPr>
        </p:nvSpPr>
        <p:spPr>
          <a:xfrm>
            <a:off x="324000" y="2816700"/>
            <a:ext cx="82377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the </a:t>
            </a:r>
            <a:r>
              <a:rPr lang="en-GB" sz="2000">
                <a:solidFill>
                  <a:schemeClr val="accent5"/>
                </a:solidFill>
              </a:rPr>
              <a:t>thousandths</a:t>
            </a:r>
            <a:r>
              <a:rPr lang="en-GB" sz="2000"/>
              <a:t> column as this is the </a:t>
            </a:r>
            <a:r>
              <a:rPr lang="en-GB" sz="2000">
                <a:solidFill>
                  <a:schemeClr val="accent5"/>
                </a:solidFill>
              </a:rPr>
              <a:t>3</a:t>
            </a:r>
            <a:r>
              <a:rPr baseline="30000" lang="en-GB" sz="2000">
                <a:solidFill>
                  <a:schemeClr val="accent5"/>
                </a:solidFill>
              </a:rPr>
              <a:t>rd</a:t>
            </a:r>
            <a:r>
              <a:rPr lang="en-GB" sz="2000"/>
              <a:t> decimal place.</a:t>
            </a:r>
            <a:endParaRPr sz="2000"/>
          </a:p>
        </p:txBody>
      </p:sp>
      <p:sp>
        <p:nvSpPr>
          <p:cNvPr id="1926" name="Google Shape;1926;p151"/>
          <p:cNvSpPr txBox="1"/>
          <p:nvPr>
            <p:ph idx="1" type="body"/>
          </p:nvPr>
        </p:nvSpPr>
        <p:spPr>
          <a:xfrm>
            <a:off x="324000" y="3350100"/>
            <a:ext cx="8237700" cy="7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Consider the digit in the </a:t>
            </a:r>
            <a:r>
              <a:rPr lang="en-GB" sz="2000">
                <a:solidFill>
                  <a:schemeClr val="accent5"/>
                </a:solidFill>
              </a:rPr>
              <a:t>ten thousandths</a:t>
            </a:r>
            <a:r>
              <a:rPr lang="en-GB" sz="2000"/>
              <a:t> column, the column to the </a:t>
            </a:r>
            <a:r>
              <a:rPr lang="en-GB" sz="2000">
                <a:solidFill>
                  <a:schemeClr val="accent5"/>
                </a:solidFill>
              </a:rPr>
              <a:t>right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927" name="Google Shape;1927;p151"/>
          <p:cNvSpPr/>
          <p:nvPr/>
        </p:nvSpPr>
        <p:spPr>
          <a:xfrm>
            <a:off x="6180487" y="1073780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51"/>
          <p:cNvSpPr/>
          <p:nvPr/>
        </p:nvSpPr>
        <p:spPr>
          <a:xfrm>
            <a:off x="6210786" y="1579012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51"/>
          <p:cNvSpPr/>
          <p:nvPr/>
        </p:nvSpPr>
        <p:spPr>
          <a:xfrm>
            <a:off x="6643918" y="1579000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935" name="Google Shape;1935;p152"/>
          <p:cNvSpPr txBox="1"/>
          <p:nvPr>
            <p:ph idx="1" type="body"/>
          </p:nvPr>
        </p:nvSpPr>
        <p:spPr>
          <a:xfrm>
            <a:off x="324000" y="77266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 and Sam have rounded </a:t>
            </a:r>
            <a:r>
              <a:rPr lang="en-GB" sz="2000"/>
              <a:t>0.0495 to 3 decimal places.</a:t>
            </a:r>
            <a:endParaRPr sz="2000"/>
          </a:p>
        </p:txBody>
      </p:sp>
      <p:pic>
        <p:nvPicPr>
          <p:cNvPr id="1936" name="Google Shape;1936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20932" y="1255426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" name="Google Shape;1937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8651" y="1442325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938" name="Google Shape;1938;p152"/>
          <p:cNvSpPr txBox="1"/>
          <p:nvPr/>
        </p:nvSpPr>
        <p:spPr>
          <a:xfrm>
            <a:off x="440175" y="245890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52"/>
          <p:cNvSpPr txBox="1"/>
          <p:nvPr/>
        </p:nvSpPr>
        <p:spPr>
          <a:xfrm>
            <a:off x="7717775" y="230650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0" name="Google Shape;1940;p152"/>
          <p:cNvGrpSpPr/>
          <p:nvPr/>
        </p:nvGrpSpPr>
        <p:grpSpPr>
          <a:xfrm>
            <a:off x="5713273" y="1012151"/>
            <a:ext cx="1955251" cy="1316250"/>
            <a:chOff x="5713273" y="1155150"/>
            <a:chExt cx="1955251" cy="1316250"/>
          </a:xfrm>
        </p:grpSpPr>
        <p:pic>
          <p:nvPicPr>
            <p:cNvPr id="1941" name="Google Shape;1941;p15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713273" y="1155150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2" name="Google Shape;1942;p152"/>
            <p:cNvSpPr txBox="1"/>
            <p:nvPr/>
          </p:nvSpPr>
          <p:spPr>
            <a:xfrm>
              <a:off x="5911200" y="118125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My answer is 0.050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3" name="Google Shape;1943;p152"/>
          <p:cNvGrpSpPr/>
          <p:nvPr/>
        </p:nvGrpSpPr>
        <p:grpSpPr>
          <a:xfrm>
            <a:off x="1455298" y="1115376"/>
            <a:ext cx="1955251" cy="1316250"/>
            <a:chOff x="1455298" y="1258375"/>
            <a:chExt cx="1955251" cy="1316250"/>
          </a:xfrm>
        </p:grpSpPr>
        <p:pic>
          <p:nvPicPr>
            <p:cNvPr id="1944" name="Google Shape;1944;p15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455298" y="125837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5" name="Google Shape;1945;p152"/>
            <p:cNvSpPr txBox="1"/>
            <p:nvPr/>
          </p:nvSpPr>
          <p:spPr>
            <a:xfrm>
              <a:off x="1653225" y="1307236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My answer is 0.05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46" name="Google Shape;1946;p152"/>
          <p:cNvSpPr txBox="1"/>
          <p:nvPr>
            <p:ph idx="1" type="body"/>
          </p:nvPr>
        </p:nvSpPr>
        <p:spPr>
          <a:xfrm>
            <a:off x="324000" y="2780579"/>
            <a:ext cx="82377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Whose answer is correct?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Even though we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often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consider 0.05 and 0.050 to be equivalent, if they are not exact values we cannot be sure.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Sam’s value shows that they have considered the value in the ten thousandths column.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5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13.4693</a:t>
            </a:r>
            <a:endParaRPr/>
          </a:p>
        </p:txBody>
      </p:sp>
      <p:sp>
        <p:nvSpPr>
          <p:cNvPr id="1952" name="Google Shape;1952;p1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953" name="Google Shape;1953;p153"/>
          <p:cNvSpPr txBox="1"/>
          <p:nvPr>
            <p:ph type="title"/>
          </p:nvPr>
        </p:nvSpPr>
        <p:spPr>
          <a:xfrm>
            <a:off x="324000" y="810000"/>
            <a:ext cx="7666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round to 13.470 when rounded to 3 decimal places?</a:t>
            </a:r>
            <a:endParaRPr/>
          </a:p>
        </p:txBody>
      </p:sp>
      <p:sp>
        <p:nvSpPr>
          <p:cNvPr id="1954" name="Google Shape;1954;p15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13.4695</a:t>
            </a:r>
            <a:endParaRPr/>
          </a:p>
        </p:txBody>
      </p:sp>
      <p:sp>
        <p:nvSpPr>
          <p:cNvPr id="1955" name="Google Shape;1955;p15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13.4703</a:t>
            </a:r>
            <a:endParaRPr/>
          </a:p>
        </p:txBody>
      </p:sp>
      <p:sp>
        <p:nvSpPr>
          <p:cNvPr id="1956" name="Google Shape;1956;p15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13.4705</a:t>
            </a:r>
            <a:endParaRPr/>
          </a:p>
        </p:txBody>
      </p:sp>
      <p:pic>
        <p:nvPicPr>
          <p:cNvPr id="1957" name="Google Shape;1957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35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358" y="32056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154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Round each of the following to 3 decimal places and find</a:t>
            </a:r>
            <a:br>
              <a:rPr lang="en-GB" sz="2000"/>
            </a:br>
            <a:r>
              <a:rPr lang="en-GB" sz="2000"/>
              <a:t>them in the number search.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0.4583        h)   4.59289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1.5737         i)    5.9371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3.0378         j)    3.98972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6.8796         k)   3.3841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2.0305         l)    0.00692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27.2389       m)  7.3498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AutoNum type="alphaLcParenR"/>
            </a:pPr>
            <a:r>
              <a:rPr lang="en-GB" sz="2000"/>
              <a:t>0.0568</a:t>
            </a:r>
            <a:r>
              <a:rPr lang="en-GB" sz="2000"/>
              <a:t>2      </a:t>
            </a:r>
            <a:r>
              <a:rPr lang="en-GB" sz="2000"/>
              <a:t>n)   3.00149</a:t>
            </a:r>
            <a:endParaRPr sz="2000"/>
          </a:p>
        </p:txBody>
      </p:sp>
      <p:graphicFrame>
        <p:nvGraphicFramePr>
          <p:cNvPr id="1964" name="Google Shape;1964;p154"/>
          <p:cNvGraphicFramePr/>
          <p:nvPr/>
        </p:nvGraphicFramePr>
        <p:xfrm>
          <a:off x="4169400" y="10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965" name="Google Shape;1965;p1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55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Using the clues, find the numbers being described: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Clue 1 − I am between     and 1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</a:t>
            </a:r>
            <a:r>
              <a:rPr lang="en-GB" sz="2000"/>
              <a:t>Clue 2 − If you </a:t>
            </a:r>
            <a:r>
              <a:rPr lang="en-GB" sz="2000"/>
              <a:t>round me to 2 decimal places I round up.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3 − My tenths and thousandths digits are the same.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4 − My hundredths digit is a quarter of my tenths digit.</a:t>
            </a:r>
            <a:br>
              <a:rPr lang="en-GB" sz="2000"/>
            </a:br>
            <a:br>
              <a:rPr lang="en-GB" sz="2000"/>
            </a:br>
            <a:r>
              <a:rPr lang="en-GB" sz="2000"/>
              <a:t>       I am </a:t>
            </a:r>
            <a:r>
              <a:rPr lang="en-GB" sz="2000" u="sng"/>
              <a:t>          </a:t>
            </a:r>
            <a:r>
              <a:rPr lang="en-GB" sz="2000" u="sng">
                <a:solidFill>
                  <a:schemeClr val="lt1"/>
                </a:solidFill>
              </a:rPr>
              <a:t>.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</a:t>
            </a:r>
            <a:endParaRPr sz="2000"/>
          </a:p>
        </p:txBody>
      </p:sp>
      <p:sp>
        <p:nvSpPr>
          <p:cNvPr id="1971" name="Google Shape;1971;p1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three decimal places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972" name="Google Shape;1972;p155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2733" y="1169850"/>
            <a:ext cx="141291" cy="4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156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Using the clues, find the numbers being described: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  </a:t>
            </a:r>
            <a:r>
              <a:rPr lang="en-GB" sz="2000"/>
              <a:t>Clue 1 − When rounded to 1 decimal place I am 6.8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2 − When rounded to 2 decimal places I round up.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3 − The sum of my 5 digits is 29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4 − My first digit is the same as my last digit.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5 − The digits in the tenths &amp; hundredths columns are</a:t>
            </a:r>
            <a:br>
              <a:rPr lang="en-GB" sz="2000"/>
            </a:br>
            <a:r>
              <a:rPr lang="en-GB" sz="2000"/>
              <a:t>                     multiples of 4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 am </a:t>
            </a:r>
            <a:r>
              <a:rPr lang="en-GB" sz="2000" u="sng"/>
              <a:t>          </a:t>
            </a:r>
            <a:r>
              <a:rPr lang="en-GB" sz="2000" u="sng">
                <a:solidFill>
                  <a:schemeClr val="lt1"/>
                </a:solidFill>
              </a:rPr>
              <a:t>.</a:t>
            </a:r>
            <a:endParaRPr sz="2000" u="sng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8" name="Google Shape;1978;p15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three decimal places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157"/>
          <p:cNvSpPr txBox="1"/>
          <p:nvPr>
            <p:ph idx="1" type="body"/>
          </p:nvPr>
        </p:nvSpPr>
        <p:spPr>
          <a:xfrm>
            <a:off x="324000" y="759300"/>
            <a:ext cx="86295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Using the clues, find the numbers being described: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  </a:t>
            </a:r>
            <a:r>
              <a:rPr lang="en-GB" sz="2000"/>
              <a:t>Clue 1 − I am between       and 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2 − When rounding to 3 decimal places my thousandths digit</a:t>
            </a:r>
            <a:br>
              <a:rPr lang="en-GB" sz="2000"/>
            </a:br>
            <a:r>
              <a:rPr lang="en-GB" sz="2000"/>
              <a:t>                     stays the same.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3 − When rounded to 2 decimal places I am 0.32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4 − The sum of my 5 digits is 9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5 − I only have 1 odd digit (zero is even).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6 − My largest digit is in the ten thousandths column.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 am </a:t>
            </a:r>
            <a:r>
              <a:rPr lang="en-GB" sz="2000" u="sng"/>
              <a:t>          </a:t>
            </a:r>
            <a:r>
              <a:rPr lang="en-GB" sz="2000" u="sng">
                <a:solidFill>
                  <a:schemeClr val="lt1"/>
                </a:solidFill>
              </a:rPr>
              <a:t>.</a:t>
            </a:r>
            <a:endParaRPr sz="2000" u="sng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84" name="Google Shape;1984;p15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three decimal places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id="1985" name="Google Shape;1985;p157" title="three tenths two fifths"/>
          <p:cNvPicPr preferRelativeResize="0"/>
          <p:nvPr/>
        </p:nvPicPr>
        <p:blipFill rotWithShape="1">
          <a:blip r:embed="rId3">
            <a:alphaModFix/>
          </a:blip>
          <a:srcRect b="0" l="62218" r="0" t="0"/>
          <a:stretch/>
        </p:blipFill>
        <p:spPr>
          <a:xfrm>
            <a:off x="4536877" y="1129675"/>
            <a:ext cx="215336" cy="52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id="1986" name="Google Shape;1986;p157" title="three tenths two fifths"/>
          <p:cNvPicPr preferRelativeResize="0"/>
          <p:nvPr/>
        </p:nvPicPr>
        <p:blipFill rotWithShape="1">
          <a:blip r:embed="rId3">
            <a:alphaModFix/>
          </a:blip>
          <a:srcRect b="0" l="0" r="35387" t="0"/>
          <a:stretch/>
        </p:blipFill>
        <p:spPr>
          <a:xfrm>
            <a:off x="3643250" y="1129675"/>
            <a:ext cx="368262" cy="5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1992" name="Google Shape;1992;p158"/>
          <p:cNvSpPr txBox="1"/>
          <p:nvPr>
            <p:ph idx="1" type="body"/>
          </p:nvPr>
        </p:nvSpPr>
        <p:spPr>
          <a:xfrm>
            <a:off x="324000" y="662858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Round each of the following to 3 decimal places and find them in the number search.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0.4583          h)    4.59289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1.5737           i)     5.9371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3.0378           j)     3.98972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6.8796          k)    3.3841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2.0305           l)     0.00692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27.2389       m)   7.3498</a:t>
            </a:r>
            <a:endParaRPr sz="1800"/>
          </a:p>
          <a:p>
            <a:pPr indent="-342900" lvl="0" marL="457200" rtl="0" algn="l">
              <a:lnSpc>
                <a:spcPct val="14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0.05682       n)    3.00149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1993" name="Google Shape;1993;p158"/>
          <p:cNvGraphicFramePr/>
          <p:nvPr/>
        </p:nvGraphicFramePr>
        <p:xfrm>
          <a:off x="4190943" y="100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{55898652-E205-4401-B0A8-E6AAEA6AF16C}</a:tableStyleId>
              </a:tblPr>
              <a:tblGrid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  <a:gridCol w="361500"/>
              </a:tblGrid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‘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.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  <a:tr h="28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/>
                </a:tc>
              </a:tr>
            </a:tbl>
          </a:graphicData>
        </a:graphic>
      </p:graphicFrame>
      <p:sp>
        <p:nvSpPr>
          <p:cNvPr id="1994" name="Google Shape;1994;p158"/>
          <p:cNvSpPr/>
          <p:nvPr/>
        </p:nvSpPr>
        <p:spPr>
          <a:xfrm>
            <a:off x="5285768" y="2239975"/>
            <a:ext cx="1790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8"/>
          <p:cNvSpPr/>
          <p:nvPr/>
        </p:nvSpPr>
        <p:spPr>
          <a:xfrm rot="5400000">
            <a:off x="5779443" y="2235625"/>
            <a:ext cx="15522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58"/>
          <p:cNvSpPr/>
          <p:nvPr/>
        </p:nvSpPr>
        <p:spPr>
          <a:xfrm rot="5400000">
            <a:off x="4699284" y="2235625"/>
            <a:ext cx="15522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58"/>
          <p:cNvSpPr/>
          <p:nvPr/>
        </p:nvSpPr>
        <p:spPr>
          <a:xfrm rot="5400000">
            <a:off x="7225443" y="1615800"/>
            <a:ext cx="15522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58"/>
          <p:cNvSpPr/>
          <p:nvPr/>
        </p:nvSpPr>
        <p:spPr>
          <a:xfrm>
            <a:off x="4190943" y="1615800"/>
            <a:ext cx="1790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58"/>
          <p:cNvSpPr/>
          <p:nvPr/>
        </p:nvSpPr>
        <p:spPr>
          <a:xfrm>
            <a:off x="5998443" y="3177700"/>
            <a:ext cx="21690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58"/>
          <p:cNvSpPr/>
          <p:nvPr/>
        </p:nvSpPr>
        <p:spPr>
          <a:xfrm rot="-2412808">
            <a:off x="3918157" y="3781943"/>
            <a:ext cx="2293083" cy="3316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58"/>
          <p:cNvSpPr/>
          <p:nvPr/>
        </p:nvSpPr>
        <p:spPr>
          <a:xfrm rot="5400000">
            <a:off x="6844443" y="2530200"/>
            <a:ext cx="15522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58"/>
          <p:cNvSpPr/>
          <p:nvPr/>
        </p:nvSpPr>
        <p:spPr>
          <a:xfrm rot="5400000">
            <a:off x="6131924" y="3471319"/>
            <a:ext cx="15522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58"/>
          <p:cNvSpPr/>
          <p:nvPr/>
        </p:nvSpPr>
        <p:spPr>
          <a:xfrm>
            <a:off x="5984928" y="3495296"/>
            <a:ext cx="1790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58"/>
          <p:cNvSpPr/>
          <p:nvPr/>
        </p:nvSpPr>
        <p:spPr>
          <a:xfrm rot="-8552631">
            <a:off x="4293728" y="1620882"/>
            <a:ext cx="2292840" cy="33169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58"/>
          <p:cNvSpPr/>
          <p:nvPr/>
        </p:nvSpPr>
        <p:spPr>
          <a:xfrm>
            <a:off x="5272409" y="4104896"/>
            <a:ext cx="17901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58"/>
          <p:cNvSpPr/>
          <p:nvPr/>
        </p:nvSpPr>
        <p:spPr>
          <a:xfrm rot="5400000">
            <a:off x="7579724" y="3189281"/>
            <a:ext cx="1552200" cy="331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58"/>
          <p:cNvSpPr/>
          <p:nvPr/>
        </p:nvSpPr>
        <p:spPr>
          <a:xfrm rot="-8290296">
            <a:off x="3918271" y="3781993"/>
            <a:ext cx="2292841" cy="331652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58"/>
          <p:cNvSpPr txBox="1"/>
          <p:nvPr/>
        </p:nvSpPr>
        <p:spPr>
          <a:xfrm>
            <a:off x="674400" y="1288797"/>
            <a:ext cx="11334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0.458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1.574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3.038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6.880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2.031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27.239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0.057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9" name="Google Shape;2009;p158"/>
          <p:cNvSpPr txBox="1"/>
          <p:nvPr/>
        </p:nvSpPr>
        <p:spPr>
          <a:xfrm>
            <a:off x="2519550" y="1278214"/>
            <a:ext cx="11334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4.593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5.937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3.990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3.384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0.007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7.350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3.001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59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Using the clues, find the numbers being described: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a)  Clue 1 − I am between     and 1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2 − If you round me to 2 decimal places I round up.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3 − My tenths and thousandths digits are the same.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4 − My hundredths digit is a quarter of my tenths digit.</a:t>
            </a:r>
            <a:br>
              <a:rPr lang="en-GB" sz="2000"/>
            </a:br>
            <a:br>
              <a:rPr lang="en-GB" sz="2000"/>
            </a:br>
            <a:r>
              <a:rPr lang="en-GB" sz="2000"/>
              <a:t>       I am</a:t>
            </a:r>
            <a:r>
              <a:rPr lang="en-GB" sz="2000" u="sng">
                <a:solidFill>
                  <a:schemeClr val="lt1"/>
                </a:solidFill>
              </a:rPr>
              <a:t>.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</a:t>
            </a:r>
            <a:endParaRPr sz="2000"/>
          </a:p>
        </p:txBody>
      </p:sp>
      <p:sp>
        <p:nvSpPr>
          <p:cNvPr id="2015" name="Google Shape;2015;p159"/>
          <p:cNvSpPr txBox="1"/>
          <p:nvPr>
            <p:ph idx="1" type="body"/>
          </p:nvPr>
        </p:nvSpPr>
        <p:spPr>
          <a:xfrm>
            <a:off x="1532217" y="3989300"/>
            <a:ext cx="945900" cy="4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0.828</a:t>
            </a:r>
            <a:endParaRPr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2016" name="Google Shape;2016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three decimal places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2017" name="Google Shape;2017;p159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083" y="1254500"/>
            <a:ext cx="141291" cy="4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160"/>
          <p:cNvSpPr txBox="1"/>
          <p:nvPr>
            <p:ph idx="1" type="body"/>
          </p:nvPr>
        </p:nvSpPr>
        <p:spPr>
          <a:xfrm>
            <a:off x="1043668" y="4157892"/>
            <a:ext cx="1147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6.8456</a:t>
            </a:r>
            <a:endParaRPr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2024" name="Google Shape;2024;p160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Using the clues, find the numbers being described: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b)   Clue 1 − When rounded to 1 decimal place I am 6.8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2 − When rounded to 2 decimal places I round up.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3 − The sum of my 5 digits is 29</a:t>
            </a:r>
            <a:endParaRPr sz="2000"/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Clue 4 − My first digit is the same as my last digit.</a:t>
            </a:r>
            <a:endParaRPr sz="2000"/>
          </a:p>
          <a:p>
            <a:pPr indent="45720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Clue 5 − The digits in the tenths &amp; hundredths columns are</a:t>
            </a:r>
            <a:br>
              <a:rPr lang="en-GB" sz="2000"/>
            </a:br>
            <a:r>
              <a:rPr lang="en-GB" sz="2000"/>
              <a:t>                     multiples of 4</a:t>
            </a:r>
            <a:endParaRPr sz="2000"/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 am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Rounding to three decimal places</a:t>
            </a:r>
            <a:endParaRPr/>
          </a:p>
        </p:txBody>
      </p:sp>
      <p:sp>
        <p:nvSpPr>
          <p:cNvPr id="2030" name="Google Shape;2030;p161"/>
          <p:cNvSpPr txBox="1"/>
          <p:nvPr>
            <p:ph idx="1" type="body"/>
          </p:nvPr>
        </p:nvSpPr>
        <p:spPr>
          <a:xfrm>
            <a:off x="1011917" y="4423867"/>
            <a:ext cx="1073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0.3204</a:t>
            </a:r>
            <a:endParaRPr sz="2000"/>
          </a:p>
        </p:txBody>
      </p:sp>
      <p:sp>
        <p:nvSpPr>
          <p:cNvPr id="2031" name="Google Shape;2031;p161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 Using the clues, find the numbers being described: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c)   Clue 1 − I am between       and 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2 − When rounding to 3 decimal places my thousandths digit</a:t>
            </a:r>
            <a:br>
              <a:rPr lang="en-GB" sz="2000"/>
            </a:br>
            <a:r>
              <a:rPr lang="en-GB" sz="2000"/>
              <a:t>                     stays the same.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3 − When rounded to 2 decimal places I am 0.32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4 − The sum of my 5 digits is 9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5 − I only have 1 odd digit (zero is even).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 Clue 6 − My largest digit is in the ten thousandths column.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 am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id="2032" name="Google Shape;2032;p161" title="three tenths two fifths"/>
          <p:cNvPicPr preferRelativeResize="0"/>
          <p:nvPr/>
        </p:nvPicPr>
        <p:blipFill rotWithShape="1">
          <a:blip r:embed="rId3">
            <a:alphaModFix/>
          </a:blip>
          <a:srcRect b="0" l="62218" r="0" t="0"/>
          <a:stretch/>
        </p:blipFill>
        <p:spPr>
          <a:xfrm>
            <a:off x="4536877" y="1129675"/>
            <a:ext cx="215336" cy="52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 \frac{2}{5}&quot;&gt;&lt;mfrac&gt;&lt;mn&gt;3&lt;/mn&gt;&lt;mn&gt;10&lt;/mn&gt;&lt;/mfrac&gt;&lt;mtext&gt;&lt;/mtext&gt;&lt;mfrac&gt;&lt;mn&gt;2&lt;/mn&gt;&lt;mn&gt;5&lt;/mn&gt;&lt;/mfrac&gt;&lt;/math&gt;" id="2033" name="Google Shape;2033;p161" title="three tenths two fifths"/>
          <p:cNvPicPr preferRelativeResize="0"/>
          <p:nvPr/>
        </p:nvPicPr>
        <p:blipFill rotWithShape="1">
          <a:blip r:embed="rId3">
            <a:alphaModFix/>
          </a:blip>
          <a:srcRect b="0" l="0" r="35387" t="0"/>
          <a:stretch/>
        </p:blipFill>
        <p:spPr>
          <a:xfrm>
            <a:off x="3643250" y="1129675"/>
            <a:ext cx="368262" cy="5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162"/>
          <p:cNvSpPr txBox="1"/>
          <p:nvPr>
            <p:ph idx="1" type="body"/>
          </p:nvPr>
        </p:nvSpPr>
        <p:spPr>
          <a:xfrm>
            <a:off x="324000" y="744675"/>
            <a:ext cx="8496000" cy="8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Rounding to 3 decimal places is the same as rounding to the nearest thousandth.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number line can be useful when rounding to 3 decimal places.</a:t>
            </a:r>
            <a:endParaRPr sz="1800"/>
          </a:p>
        </p:txBody>
      </p:sp>
      <p:sp>
        <p:nvSpPr>
          <p:cNvPr id="2039" name="Google Shape;2039;p16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three decimal places</a:t>
            </a:r>
            <a:endParaRPr/>
          </a:p>
        </p:txBody>
      </p:sp>
      <p:pic>
        <p:nvPicPr>
          <p:cNvPr descr="For original/editable see slide 18" id="2040" name="Google Shape;2040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4221" y="1620010"/>
            <a:ext cx="2405377" cy="1443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iginal/editable can be found on slide 25" id="2041" name="Google Shape;2041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899" y="3390549"/>
            <a:ext cx="4094483" cy="14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62"/>
          <p:cNvSpPr txBox="1"/>
          <p:nvPr>
            <p:ph idx="1" type="body"/>
          </p:nvPr>
        </p:nvSpPr>
        <p:spPr>
          <a:xfrm>
            <a:off x="324000" y="1659075"/>
            <a:ext cx="8496000" cy="21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E.g.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place value grid can be used when rounding to 3 decimal places.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E.g. 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16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48" name="Google Shape;2048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