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b33a07e4b7_0_5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b33a07e4b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inequality notation for errors in calculations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58347" y="1712137"/>
            <a:ext cx="63438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error interval for the perimeter of these shapes: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4527" y="1380500"/>
            <a:ext cx="66240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Error intervals (addition and multiplication)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915908" y="2241121"/>
            <a:ext cx="1291800" cy="12918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>
            <a:off x="1563505" y="2095749"/>
            <a:ext cx="0" cy="27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0"/>
          <p:cNvCxnSpPr/>
          <p:nvPr/>
        </p:nvCxnSpPr>
        <p:spPr>
          <a:xfrm>
            <a:off x="1561850" y="3349706"/>
            <a:ext cx="0" cy="27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0"/>
          <p:cNvCxnSpPr/>
          <p:nvPr/>
        </p:nvCxnSpPr>
        <p:spPr>
          <a:xfrm>
            <a:off x="747473" y="2887062"/>
            <a:ext cx="340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0"/>
          <p:cNvCxnSpPr/>
          <p:nvPr/>
        </p:nvCxnSpPr>
        <p:spPr>
          <a:xfrm>
            <a:off x="2001430" y="2887062"/>
            <a:ext cx="340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0"/>
          <p:cNvSpPr txBox="1"/>
          <p:nvPr/>
        </p:nvSpPr>
        <p:spPr>
          <a:xfrm>
            <a:off x="525941" y="2164594"/>
            <a:ext cx="39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181" name="Google Shape;181;p20"/>
          <p:cNvSpPr txBox="1"/>
          <p:nvPr/>
        </p:nvSpPr>
        <p:spPr>
          <a:xfrm>
            <a:off x="2390223" y="2131616"/>
            <a:ext cx="39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182" name="Google Shape;182;p20"/>
          <p:cNvSpPr txBox="1"/>
          <p:nvPr/>
        </p:nvSpPr>
        <p:spPr>
          <a:xfrm>
            <a:off x="4851027" y="2164594"/>
            <a:ext cx="39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183" name="Google Shape;183;p20"/>
          <p:cNvSpPr txBox="1"/>
          <p:nvPr/>
        </p:nvSpPr>
        <p:spPr>
          <a:xfrm>
            <a:off x="474519" y="3631574"/>
            <a:ext cx="1711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3.5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992097" y="2174759"/>
            <a:ext cx="1859100" cy="951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>
            <a:off x="2992087" y="3227119"/>
            <a:ext cx="1850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6" name="Google Shape;186;p20"/>
          <p:cNvSpPr txBox="1"/>
          <p:nvPr/>
        </p:nvSpPr>
        <p:spPr>
          <a:xfrm>
            <a:off x="3774294" y="3149890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/>
          </a:p>
        </p:txBody>
      </p:sp>
      <p:cxnSp>
        <p:nvCxnSpPr>
          <p:cNvPr id="187" name="Google Shape;187;p20"/>
          <p:cNvCxnSpPr/>
          <p:nvPr/>
        </p:nvCxnSpPr>
        <p:spPr>
          <a:xfrm>
            <a:off x="2887299" y="2155989"/>
            <a:ext cx="0" cy="95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8" name="Google Shape;188;p20"/>
          <p:cNvSpPr txBox="1"/>
          <p:nvPr/>
        </p:nvSpPr>
        <p:spPr>
          <a:xfrm>
            <a:off x="2574859" y="2465055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/>
          </a:p>
        </p:txBody>
      </p:sp>
      <p:sp>
        <p:nvSpPr>
          <p:cNvPr id="189" name="Google Shape;189;p20"/>
          <p:cNvSpPr txBox="1"/>
          <p:nvPr/>
        </p:nvSpPr>
        <p:spPr>
          <a:xfrm>
            <a:off x="2742360" y="3458980"/>
            <a:ext cx="1916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2.25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2.35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2848053" y="3720749"/>
            <a:ext cx="1711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7.85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7.95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502994" y="2110227"/>
            <a:ext cx="1169700" cy="1169700"/>
          </a:xfrm>
          <a:prstGeom prst="rtTriangl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0"/>
          <p:cNvCxnSpPr/>
          <p:nvPr/>
        </p:nvCxnSpPr>
        <p:spPr>
          <a:xfrm>
            <a:off x="5496410" y="3357118"/>
            <a:ext cx="1182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3" name="Google Shape;193;p20"/>
          <p:cNvSpPr txBox="1"/>
          <p:nvPr/>
        </p:nvSpPr>
        <p:spPr>
          <a:xfrm>
            <a:off x="5908556" y="3279898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/>
          </a:p>
        </p:txBody>
      </p:sp>
      <p:cxnSp>
        <p:nvCxnSpPr>
          <p:cNvPr id="194" name="Google Shape;194;p20"/>
          <p:cNvCxnSpPr/>
          <p:nvPr/>
        </p:nvCxnSpPr>
        <p:spPr>
          <a:xfrm>
            <a:off x="5389080" y="2124781"/>
            <a:ext cx="0" cy="1124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5" name="Google Shape;195;p20"/>
          <p:cNvSpPr txBox="1"/>
          <p:nvPr/>
        </p:nvSpPr>
        <p:spPr>
          <a:xfrm>
            <a:off x="5135320" y="2490049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/>
          </a:p>
        </p:txBody>
      </p:sp>
      <p:sp>
        <p:nvSpPr>
          <p:cNvPr id="196" name="Google Shape;196;p20"/>
          <p:cNvSpPr txBox="1"/>
          <p:nvPr/>
        </p:nvSpPr>
        <p:spPr>
          <a:xfrm>
            <a:off x="6098515" y="2308368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/>
          </a:p>
        </p:txBody>
      </p:sp>
      <p:cxnSp>
        <p:nvCxnSpPr>
          <p:cNvPr id="197" name="Google Shape;197;p20"/>
          <p:cNvCxnSpPr/>
          <p:nvPr/>
        </p:nvCxnSpPr>
        <p:spPr>
          <a:xfrm>
            <a:off x="5626899" y="2073552"/>
            <a:ext cx="1091700" cy="1091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8" name="Google Shape;198;p20"/>
          <p:cNvSpPr txBox="1"/>
          <p:nvPr/>
        </p:nvSpPr>
        <p:spPr>
          <a:xfrm>
            <a:off x="5113469" y="3517660"/>
            <a:ext cx="1711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5.5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113469" y="3778812"/>
            <a:ext cx="1711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11.5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12.5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113469" y="4045779"/>
            <a:ext cx="1711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12.5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13.5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00297" y="4171389"/>
            <a:ext cx="149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14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74519" y="3955469"/>
            <a:ext cx="1711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2.5 × 4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3.5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090759" y="3976184"/>
            <a:ext cx="3091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2(2.25+7.85)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2(2.35+7.95)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2476548" y="4231753"/>
            <a:ext cx="2288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20.2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20.6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793598" y="4266927"/>
            <a:ext cx="2288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28.5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31.5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74525" y="5597525"/>
            <a:ext cx="65016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error interval for the area of these shapes: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685454" y="5892331"/>
            <a:ext cx="39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08" name="Google Shape;208;p20"/>
          <p:cNvSpPr txBox="1"/>
          <p:nvPr/>
        </p:nvSpPr>
        <p:spPr>
          <a:xfrm>
            <a:off x="2730561" y="5859275"/>
            <a:ext cx="39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09" name="Google Shape;209;p20"/>
          <p:cNvSpPr/>
          <p:nvPr/>
        </p:nvSpPr>
        <p:spPr>
          <a:xfrm>
            <a:off x="1076336" y="6263125"/>
            <a:ext cx="1294800" cy="12948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" name="Google Shape;210;p20"/>
          <p:cNvCxnSpPr/>
          <p:nvPr/>
        </p:nvCxnSpPr>
        <p:spPr>
          <a:xfrm>
            <a:off x="1725452" y="6117412"/>
            <a:ext cx="0" cy="278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0"/>
          <p:cNvCxnSpPr/>
          <p:nvPr/>
        </p:nvCxnSpPr>
        <p:spPr>
          <a:xfrm>
            <a:off x="1723792" y="7409431"/>
            <a:ext cx="0" cy="278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0"/>
          <p:cNvCxnSpPr/>
          <p:nvPr/>
        </p:nvCxnSpPr>
        <p:spPr>
          <a:xfrm>
            <a:off x="907506" y="6910581"/>
            <a:ext cx="341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0"/>
          <p:cNvCxnSpPr/>
          <p:nvPr/>
        </p:nvCxnSpPr>
        <p:spPr>
          <a:xfrm>
            <a:off x="2164403" y="6910581"/>
            <a:ext cx="341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0"/>
          <p:cNvSpPr/>
          <p:nvPr/>
        </p:nvSpPr>
        <p:spPr>
          <a:xfrm>
            <a:off x="3203590" y="6265248"/>
            <a:ext cx="1172400" cy="1172400"/>
          </a:xfrm>
          <a:prstGeom prst="rtTriangl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" name="Google Shape;215;p20"/>
          <p:cNvCxnSpPr/>
          <p:nvPr/>
        </p:nvCxnSpPr>
        <p:spPr>
          <a:xfrm>
            <a:off x="3196991" y="7515063"/>
            <a:ext cx="1185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6" name="Google Shape;216;p20"/>
          <p:cNvSpPr txBox="1"/>
          <p:nvPr/>
        </p:nvSpPr>
        <p:spPr>
          <a:xfrm>
            <a:off x="3610103" y="7437662"/>
            <a:ext cx="3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/>
          </a:p>
        </p:txBody>
      </p:sp>
      <p:cxnSp>
        <p:nvCxnSpPr>
          <p:cNvPr id="217" name="Google Shape;217;p20"/>
          <p:cNvCxnSpPr/>
          <p:nvPr/>
        </p:nvCxnSpPr>
        <p:spPr>
          <a:xfrm>
            <a:off x="3089409" y="6279836"/>
            <a:ext cx="0" cy="1127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8" name="Google Shape;218;p20"/>
          <p:cNvSpPr txBox="1"/>
          <p:nvPr/>
        </p:nvSpPr>
        <p:spPr>
          <a:xfrm>
            <a:off x="2835054" y="6645960"/>
            <a:ext cx="3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/>
          </a:p>
        </p:txBody>
      </p:sp>
      <p:sp>
        <p:nvSpPr>
          <p:cNvPr id="219" name="Google Shape;219;p20"/>
          <p:cNvSpPr txBox="1"/>
          <p:nvPr/>
        </p:nvSpPr>
        <p:spPr>
          <a:xfrm>
            <a:off x="3800508" y="6463853"/>
            <a:ext cx="3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/>
          </a:p>
        </p:txBody>
      </p:sp>
      <p:cxnSp>
        <p:nvCxnSpPr>
          <p:cNvPr id="220" name="Google Shape;220;p20"/>
          <p:cNvCxnSpPr/>
          <p:nvPr/>
        </p:nvCxnSpPr>
        <p:spPr>
          <a:xfrm>
            <a:off x="3327787" y="6228487"/>
            <a:ext cx="1094100" cy="1094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1" name="Google Shape;221;p20"/>
          <p:cNvSpPr txBox="1"/>
          <p:nvPr/>
        </p:nvSpPr>
        <p:spPr>
          <a:xfrm>
            <a:off x="468400" y="8269772"/>
            <a:ext cx="227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18.0625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&lt;18.9225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705233" y="7796270"/>
            <a:ext cx="1715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4.25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4.35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706912" y="8081963"/>
            <a:ext cx="1715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4.25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4.35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798023" y="6378869"/>
            <a:ext cx="1715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5.5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798023" y="6640634"/>
            <a:ext cx="1715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11.5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12.5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4635725" y="7034044"/>
            <a:ext cx="24567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Lower area : 0.5 × 4.5 × 11.5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Upper area : 0.5 × 5.5 × 12.5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25.875 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area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34.375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Using inequality notation for errors in calculations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564350" y="720000"/>
            <a:ext cx="65277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Given the error interval of the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can you work out the rounded lengths and the degree of accuracy?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914424" y="1357872"/>
            <a:ext cx="1329300" cy="13293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4" name="Google Shape;234;p21"/>
          <p:cNvCxnSpPr/>
          <p:nvPr/>
        </p:nvCxnSpPr>
        <p:spPr>
          <a:xfrm>
            <a:off x="1580802" y="1208284"/>
            <a:ext cx="0" cy="285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1"/>
          <p:cNvCxnSpPr/>
          <p:nvPr/>
        </p:nvCxnSpPr>
        <p:spPr>
          <a:xfrm>
            <a:off x="1579099" y="2558988"/>
            <a:ext cx="0" cy="285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1"/>
          <p:cNvCxnSpPr/>
          <p:nvPr/>
        </p:nvCxnSpPr>
        <p:spPr>
          <a:xfrm>
            <a:off x="741104" y="2022546"/>
            <a:ext cx="350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1"/>
          <p:cNvCxnSpPr/>
          <p:nvPr/>
        </p:nvCxnSpPr>
        <p:spPr>
          <a:xfrm>
            <a:off x="2031427" y="2022546"/>
            <a:ext cx="350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21"/>
          <p:cNvSpPr txBox="1"/>
          <p:nvPr/>
        </p:nvSpPr>
        <p:spPr>
          <a:xfrm>
            <a:off x="2463558" y="1278373"/>
            <a:ext cx="16116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with lengths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8.3 cm (1 d.p)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2800800" y="2511539"/>
            <a:ext cx="3110100" cy="184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68.0625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area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69.7225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2573614" y="2090635"/>
            <a:ext cx="1761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8.25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8.35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1" name="Google Shape;241;p21"/>
          <p:cNvGrpSpPr/>
          <p:nvPr/>
        </p:nvGrpSpPr>
        <p:grpSpPr>
          <a:xfrm>
            <a:off x="2434464" y="1768907"/>
            <a:ext cx="1952933" cy="338751"/>
            <a:chOff x="2587895" y="2623725"/>
            <a:chExt cx="2464580" cy="427500"/>
          </a:xfrm>
        </p:grpSpPr>
        <p:sp>
          <p:nvSpPr>
            <p:cNvPr id="242" name="Google Shape;242;p21"/>
            <p:cNvSpPr txBox="1"/>
            <p:nvPr/>
          </p:nvSpPr>
          <p:spPr>
            <a:xfrm>
              <a:off x="3134500" y="2623725"/>
              <a:ext cx="1417500" cy="42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≤ </a:t>
              </a:r>
              <a:r>
                <a:rPr i="1"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l</a:t>
              </a: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&lt;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sqrt{68.0625}&quot;&gt;&lt;msqrt&gt;&lt;mn&gt;68.0625&lt;/mn&gt;&lt;/msqrt&gt;&lt;/math&gt;" id="243" name="Google Shape;243;p21" title="the square root of 68.06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87895" y="2690930"/>
              <a:ext cx="881525" cy="2712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sqrt{69.7225}&quot;&gt;&lt;msqrt&gt;&lt;mn&gt;69.7225&lt;/mn&gt;&lt;/msqrt&gt;&lt;/math&gt;" id="244" name="Google Shape;244;p21" title="the square root of 69.72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70950" y="2700000"/>
              <a:ext cx="881525" cy="27123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45" name="Google Shape;245;p21"/>
          <p:cNvCxnSpPr/>
          <p:nvPr/>
        </p:nvCxnSpPr>
        <p:spPr>
          <a:xfrm>
            <a:off x="474757" y="53809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21"/>
          <p:cNvSpPr txBox="1"/>
          <p:nvPr/>
        </p:nvSpPr>
        <p:spPr>
          <a:xfrm>
            <a:off x="538913" y="5965575"/>
            <a:ext cx="65415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rope was originally 5.3 cm (1 d.p). A piece of  3.8 cm (1 d.p) was cut from the rope. What is the error interval for the remaining length?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74750" y="55413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Error intervals in calculations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8" name="Google Shape;248;p21"/>
          <p:cNvPicPr preferRelativeResize="0"/>
          <p:nvPr/>
        </p:nvPicPr>
        <p:blipFill rotWithShape="1">
          <a:blip r:embed="rId5">
            <a:alphaModFix/>
          </a:blip>
          <a:srcRect b="0" l="30514" r="23468" t="0"/>
          <a:stretch/>
        </p:blipFill>
        <p:spPr>
          <a:xfrm>
            <a:off x="2691932" y="6761923"/>
            <a:ext cx="1385357" cy="143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/>
          <p:cNvPicPr preferRelativeResize="0"/>
          <p:nvPr/>
        </p:nvPicPr>
        <p:blipFill rotWithShape="1">
          <a:blip r:embed="rId5">
            <a:alphaModFix/>
          </a:blip>
          <a:srcRect b="0" l="0" r="69484" t="0"/>
          <a:stretch/>
        </p:blipFill>
        <p:spPr>
          <a:xfrm>
            <a:off x="1773303" y="6763326"/>
            <a:ext cx="918629" cy="143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/>
          <p:cNvPicPr preferRelativeResize="0"/>
          <p:nvPr/>
        </p:nvPicPr>
        <p:blipFill rotWithShape="1">
          <a:blip r:embed="rId5">
            <a:alphaModFix/>
          </a:blip>
          <a:srcRect b="0" l="78650" r="0" t="0"/>
          <a:stretch/>
        </p:blipFill>
        <p:spPr>
          <a:xfrm>
            <a:off x="5401131" y="6763326"/>
            <a:ext cx="444901" cy="143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/>
          <p:cNvPicPr preferRelativeResize="0"/>
          <p:nvPr/>
        </p:nvPicPr>
        <p:blipFill rotWithShape="1">
          <a:blip r:embed="rId5">
            <a:alphaModFix/>
          </a:blip>
          <a:srcRect b="0" l="30514" r="23468" t="0"/>
          <a:stretch/>
        </p:blipFill>
        <p:spPr>
          <a:xfrm>
            <a:off x="4445387" y="6761923"/>
            <a:ext cx="958997" cy="143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/>
          <p:cNvPicPr preferRelativeResize="0"/>
          <p:nvPr/>
        </p:nvPicPr>
        <p:blipFill rotWithShape="1">
          <a:blip r:embed="rId5">
            <a:alphaModFix/>
          </a:blip>
          <a:srcRect b="0" l="78650" r="0" t="0"/>
          <a:stretch/>
        </p:blipFill>
        <p:spPr>
          <a:xfrm>
            <a:off x="3505806" y="6763326"/>
            <a:ext cx="642700" cy="143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/>
          <p:cNvPicPr preferRelativeResize="0"/>
          <p:nvPr/>
        </p:nvPicPr>
        <p:blipFill rotWithShape="1">
          <a:blip r:embed="rId5">
            <a:alphaModFix/>
          </a:blip>
          <a:srcRect b="0" l="0" r="69484" t="0"/>
          <a:stretch/>
        </p:blipFill>
        <p:spPr>
          <a:xfrm>
            <a:off x="4381504" y="6761917"/>
            <a:ext cx="635909" cy="14371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694624" y="7206888"/>
            <a:ext cx="217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Original length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5.25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5.35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524251" y="7826284"/>
            <a:ext cx="241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Cut length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3.75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3.85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3365740" y="7947304"/>
            <a:ext cx="335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Remaining length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1.4 &lt;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remaining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1.6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3052946" y="7166409"/>
            <a:ext cx="398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Upper limit remaining : 5.35 - 3.75 = 1.6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Lower limit remaining : 5.25 - 3.85 = 1.4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4" name="Google Shape;264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inequality notation for </a:t>
            </a:r>
            <a:r>
              <a:rPr lang="en-GB"/>
              <a:t>errors</a:t>
            </a:r>
            <a:r>
              <a:rPr lang="en-GB"/>
              <a:t> in calculations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551925" y="872422"/>
            <a:ext cx="553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coffee had 330 ml (the nearest integer) and Lucas drank 32 ml (2 s.f.). What is the error interval for the remaining coffee?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641357" y="1560113"/>
            <a:ext cx="221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Original full coffee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329.5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330.5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468037" y="2190219"/>
            <a:ext cx="245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Amount drank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31.5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32.5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2596665" y="2320239"/>
            <a:ext cx="341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Remaining coffee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297 &lt;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coffee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299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2278462" y="1518934"/>
            <a:ext cx="405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Upper limit remaining : 330.5 - 31.5 = 299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Lower limit remaining : 329.5 - 32.5 = 297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468000" y="3029175"/>
            <a:ext cx="42495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screw has broken off from a wall.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Originally the screw was 4.6 mm (1 d.p).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broken off piece measures 3.4 mm (1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d.p).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error interval length of the screw which is lodged in the wall.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750760" y="4728641"/>
            <a:ext cx="213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Original full screw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4.55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4.65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583486" y="5336769"/>
            <a:ext cx="236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Broken off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3.35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3.45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3373295" y="5455588"/>
            <a:ext cx="329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Lodged in wall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1.1 &lt;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1.3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3066190" y="4688898"/>
            <a:ext cx="402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Upper limit lodged in wall : 4.65 - 3.35 = 1.3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Lower limit lodged in wall : 4.55 - 3.45 = 1.1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3642125" y="6321355"/>
            <a:ext cx="3365700" cy="14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 box of sweets and a chocolate weigh 43.26 g correct to 2 d.p.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 chocolate alone weighs 21.14 g (2 d.p), what is the error interval for the mass of the box of sweets?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638240" y="8050956"/>
            <a:ext cx="217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Total mass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43.255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43.265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468000" y="8669865"/>
            <a:ext cx="240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Chocolate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21.135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21.145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3307268" y="8790791"/>
            <a:ext cx="335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Mass of Sweets in box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22.13 &lt;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22.11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2994718" y="8010508"/>
            <a:ext cx="409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Upper limit sweets : 43.265 - 21.135 = 22.13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Lower limit sweets  : 43.255 - 21.145 = 22.11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82" name="Google Shape;282;p22"/>
          <p:cNvGrpSpPr/>
          <p:nvPr/>
        </p:nvGrpSpPr>
        <p:grpSpPr>
          <a:xfrm>
            <a:off x="709862" y="6778225"/>
            <a:ext cx="2701789" cy="980076"/>
            <a:chOff x="281272" y="2626880"/>
            <a:chExt cx="4099831" cy="1487218"/>
          </a:xfrm>
        </p:grpSpPr>
        <p:sp>
          <p:nvSpPr>
            <p:cNvPr id="283" name="Google Shape;283;p22"/>
            <p:cNvSpPr/>
            <p:nvPr/>
          </p:nvSpPr>
          <p:spPr>
            <a:xfrm>
              <a:off x="283704" y="2626880"/>
              <a:ext cx="4097400" cy="644700"/>
            </a:xfrm>
            <a:prstGeom prst="trapezoid">
              <a:avLst>
                <a:gd fmla="val 78302" name="adj"/>
              </a:avLst>
            </a:prstGeom>
            <a:solidFill>
              <a:srgbClr val="9999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281272" y="3270798"/>
              <a:ext cx="4097400" cy="843300"/>
            </a:xfrm>
            <a:prstGeom prst="rect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869263" y="3386599"/>
              <a:ext cx="2923800" cy="596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3978425" y="3386588"/>
              <a:ext cx="288600" cy="133500"/>
            </a:xfrm>
            <a:prstGeom prst="roundRect">
              <a:avLst>
                <a:gd fmla="val 16667" name="adj"/>
              </a:avLst>
            </a:prstGeom>
            <a:solidFill>
              <a:srgbClr val="808080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3978425" y="3615475"/>
              <a:ext cx="288600" cy="1335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3978425" y="3844379"/>
              <a:ext cx="288600" cy="133500"/>
            </a:xfrm>
            <a:prstGeom prst="roundRect">
              <a:avLst>
                <a:gd fmla="val 16667" name="adj"/>
              </a:avLst>
            </a:prstGeom>
            <a:solidFill>
              <a:srgbClr val="B7B7B7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421371" y="3537863"/>
              <a:ext cx="288600" cy="288600"/>
            </a:xfrm>
            <a:prstGeom prst="ellipse">
              <a:avLst/>
            </a:prstGeom>
            <a:solidFill>
              <a:srgbClr val="EEEEEE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90" name="Google Shape;290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2126008" y="7467716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2005582" y="7444877"/>
            <a:ext cx="147071" cy="5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2126008" y="7319273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2218741" y="7319273"/>
            <a:ext cx="147071" cy="4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1966599" y="7319273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2339167" y="7467716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2218741" y="7444877"/>
            <a:ext cx="147071" cy="5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2218741" y="7576206"/>
            <a:ext cx="147071" cy="5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2339167" y="7319273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2492802" y="7319273"/>
            <a:ext cx="147071" cy="4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2492802" y="7444877"/>
            <a:ext cx="147071" cy="5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2492802" y="7576206"/>
            <a:ext cx="147071" cy="5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2455325" y="7467716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2613229" y="7319273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2705961" y="7319273"/>
            <a:ext cx="147071" cy="4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2668484" y="7319273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2826387" y="7467716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2705961" y="7444877"/>
            <a:ext cx="147071" cy="5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2705961" y="7576206"/>
            <a:ext cx="147071" cy="5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2668484" y="7467716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2"/>
          <p:cNvPicPr preferRelativeResize="0"/>
          <p:nvPr/>
        </p:nvPicPr>
        <p:blipFill rotWithShape="1">
          <a:blip r:embed="rId4">
            <a:alphaModFix/>
          </a:blip>
          <a:srcRect b="28932" l="51114" r="22480" t="32496"/>
          <a:stretch/>
        </p:blipFill>
        <p:spPr>
          <a:xfrm>
            <a:off x="1162329" y="6247925"/>
            <a:ext cx="843245" cy="902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2"/>
          <p:cNvPicPr preferRelativeResize="0"/>
          <p:nvPr/>
        </p:nvPicPr>
        <p:blipFill rotWithShape="1">
          <a:blip r:embed="rId4">
            <a:alphaModFix/>
          </a:blip>
          <a:srcRect b="50234" l="76954" r="0" t="33456"/>
          <a:stretch/>
        </p:blipFill>
        <p:spPr>
          <a:xfrm>
            <a:off x="1966138" y="6521396"/>
            <a:ext cx="921264" cy="62619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2"/>
          <p:cNvSpPr/>
          <p:nvPr/>
        </p:nvSpPr>
        <p:spPr>
          <a:xfrm>
            <a:off x="2405829" y="7560838"/>
            <a:ext cx="42000" cy="42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6474838" y="3150940"/>
            <a:ext cx="303758" cy="768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4" name="Google Shape;314;p22"/>
          <p:cNvGrpSpPr/>
          <p:nvPr/>
        </p:nvGrpSpPr>
        <p:grpSpPr>
          <a:xfrm>
            <a:off x="5737356" y="2916328"/>
            <a:ext cx="1346356" cy="1541982"/>
            <a:chOff x="6886300" y="888600"/>
            <a:chExt cx="1988415" cy="1755444"/>
          </a:xfrm>
        </p:grpSpPr>
        <p:sp>
          <p:nvSpPr>
            <p:cNvPr id="315" name="Google Shape;315;p22"/>
            <p:cNvSpPr/>
            <p:nvPr/>
          </p:nvSpPr>
          <p:spPr>
            <a:xfrm>
              <a:off x="7331675" y="909625"/>
              <a:ext cx="1107000" cy="1618500"/>
            </a:xfrm>
            <a:prstGeom prst="rect">
              <a:avLst/>
            </a:prstGeom>
            <a:solidFill>
              <a:srgbClr val="F0F0F0">
                <a:alpha val="63919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7567464" y="1427057"/>
              <a:ext cx="173400" cy="331500"/>
            </a:xfrm>
            <a:prstGeom prst="ellipse">
              <a:avLst/>
            </a:prstGeom>
            <a:solidFill>
              <a:srgbClr val="49422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7" name="Google Shape;317;p22"/>
            <p:cNvCxnSpPr/>
            <p:nvPr/>
          </p:nvCxnSpPr>
          <p:spPr>
            <a:xfrm>
              <a:off x="7103050" y="2160000"/>
              <a:ext cx="1441500" cy="339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8" name="Google Shape;318;p22"/>
            <p:cNvSpPr/>
            <p:nvPr/>
          </p:nvSpPr>
          <p:spPr>
            <a:xfrm rot="10800000">
              <a:off x="6886300" y="888600"/>
              <a:ext cx="1833000" cy="382800"/>
            </a:xfrm>
            <a:prstGeom prst="rtTriangle">
              <a:avLst/>
            </a:prstGeom>
            <a:solidFill>
              <a:srgbClr val="EEEEE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EEEEEE"/>
                </a:highlight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9" name="Google Shape;319;p22"/>
            <p:cNvSpPr/>
            <p:nvPr/>
          </p:nvSpPr>
          <p:spPr>
            <a:xfrm rot="-191959">
              <a:off x="7001565" y="2067332"/>
              <a:ext cx="1859899" cy="525223"/>
            </a:xfrm>
            <a:prstGeom prst="rtTriangle">
              <a:avLst/>
            </a:prstGeom>
            <a:solidFill>
              <a:srgbClr val="EEEEE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0" name="Google Shape;320;p22"/>
            <p:cNvCxnSpPr/>
            <p:nvPr/>
          </p:nvCxnSpPr>
          <p:spPr>
            <a:xfrm>
              <a:off x="7321375" y="988550"/>
              <a:ext cx="1127700" cy="226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22"/>
            <p:cNvCxnSpPr/>
            <p:nvPr/>
          </p:nvCxnSpPr>
          <p:spPr>
            <a:xfrm>
              <a:off x="7321325" y="2196100"/>
              <a:ext cx="1127700" cy="226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22" name="Google Shape;32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6124933">
            <a:off x="5261551" y="3039653"/>
            <a:ext cx="565873" cy="1207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11184" y="719999"/>
            <a:ext cx="653815" cy="1243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