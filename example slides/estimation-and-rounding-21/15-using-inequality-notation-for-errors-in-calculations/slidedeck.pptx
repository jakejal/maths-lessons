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6B07C3-F8C9-490C-8514-873E0489B4B5}">
  <a:tblStyle styleId="{546B07C3-F8C9-490C-8514-873E0489B4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b00a5513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b00a5513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0a55130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0a55130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00a55130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00a55130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b00a551300_1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00a551300_1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b00a551300_1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b00a551300_1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b00a551300_1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00a551300_1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b00a551300_1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b00a551300_1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b00a551300_1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b00a551300_1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b00a551300_6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b00a551300_6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b00a551300_1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b00a551300_1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b00a551300_1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b00a551300_1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b00a551300_1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b00a551300_1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28d13fbb94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28d13fbb94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28d13fbb94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28d13fbb94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b00a551300_1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b00a551300_1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b00a551300_1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b00a551300_1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b00a551300_1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b00a551300_1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b00a55130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b00a55130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00a551300_1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00a551300_1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b00a551300_5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b00a551300_5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b00a551300_5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b00a551300_5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affcd8e6cd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affcd8e6cd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b00a551300_1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b00a551300_1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b00a551300_1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b00a551300_1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b00a551300_1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b00a551300_1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b220eb994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220eb994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b00a551300_6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00a551300_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b00a551300_6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b00a551300_6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b00a551300_6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b00a551300_6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b00a551300_6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b00a551300_6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affcd8e6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affcd8e6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b00a551300_6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b00a551300_6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b00a551300_6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b00a551300_6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b00a551300_6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b00a551300_6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affcd8e6cd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affcd8e6cd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affcd8e6cd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affcd8e6cd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affcd8e6cd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affcd8e6cd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affcd8e6cd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affcd8e6cd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b00a551300_6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b00a551300_6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b00a551300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b00a551300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74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4.png"/><Relationship Id="rId4" Type="http://schemas.openxmlformats.org/officeDocument/2006/relationships/image" Target="../media/image33.png"/><Relationship Id="rId11" Type="http://schemas.openxmlformats.org/officeDocument/2006/relationships/image" Target="../media/image25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67.png"/><Relationship Id="rId7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62.png"/><Relationship Id="rId6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Relationship Id="rId5" Type="http://schemas.openxmlformats.org/officeDocument/2006/relationships/image" Target="../media/image52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Relationship Id="rId4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inequality notation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 ≤ x &lt; b</a:t>
            </a:r>
            <a:r>
              <a:rPr lang="en-GB"/>
              <a:t> to express errors in calculations.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/>
        </p:nvSpPr>
        <p:spPr>
          <a:xfrm>
            <a:off x="324000" y="802250"/>
            <a:ext cx="7714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error interval for a number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the range of possible values of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written as an inequality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i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Error intervals in calculations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61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idx="1" type="body"/>
          </p:nvPr>
        </p:nvSpPr>
        <p:spPr>
          <a:xfrm>
            <a:off x="340100" y="759300"/>
            <a:ext cx="8237700" cy="11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number has been rounded to a degree of accuracy, we are able to </a:t>
            </a:r>
            <a:r>
              <a:rPr lang="en-GB"/>
              <a:t>identify</a:t>
            </a:r>
            <a:r>
              <a:rPr lang="en-GB"/>
              <a:t> the range of values the unrounded numbers could be. We represent this using an </a:t>
            </a:r>
            <a:r>
              <a:rPr lang="en-GB"/>
              <a:t>error interval.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43 has been rounded to the nearest whole number. What is the error interval?</a:t>
            </a:r>
            <a:endParaRPr/>
          </a:p>
        </p:txBody>
      </p:sp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graphicFrame>
        <p:nvGraphicFramePr>
          <p:cNvPr id="785" name="Google Shape;785;p68"/>
          <p:cNvGraphicFramePr/>
          <p:nvPr/>
        </p:nvGraphicFramePr>
        <p:xfrm>
          <a:off x="1957313" y="433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{546B07C3-F8C9-490C-8514-873E0489B4B5}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6" name="Google Shape;786;p68"/>
          <p:cNvSpPr txBox="1"/>
          <p:nvPr/>
        </p:nvSpPr>
        <p:spPr>
          <a:xfrm>
            <a:off x="1741567" y="39472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/>
        </p:nvSpPr>
        <p:spPr>
          <a:xfrm>
            <a:off x="7056488" y="39472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 txBox="1"/>
          <p:nvPr/>
        </p:nvSpPr>
        <p:spPr>
          <a:xfrm>
            <a:off x="4492960" y="39472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9" name="Google Shape;789;p68"/>
          <p:cNvGrpSpPr/>
          <p:nvPr/>
        </p:nvGrpSpPr>
        <p:grpSpPr>
          <a:xfrm>
            <a:off x="3094117" y="3796588"/>
            <a:ext cx="3280275" cy="798481"/>
            <a:chOff x="3094117" y="3796588"/>
            <a:chExt cx="3280275" cy="798481"/>
          </a:xfrm>
        </p:grpSpPr>
        <p:grpSp>
          <p:nvGrpSpPr>
            <p:cNvPr id="790" name="Google Shape;790;p68"/>
            <p:cNvGrpSpPr/>
            <p:nvPr/>
          </p:nvGrpSpPr>
          <p:grpSpPr>
            <a:xfrm>
              <a:off x="3295941" y="4190186"/>
              <a:ext cx="2708605" cy="404882"/>
              <a:chOff x="4825850" y="3296750"/>
              <a:chExt cx="1524000" cy="650100"/>
            </a:xfrm>
          </p:grpSpPr>
          <p:cxnSp>
            <p:nvCxnSpPr>
              <p:cNvPr id="791" name="Google Shape;791;p68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" name="Google Shape;792;p68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93" name="Google Shape;793;p68"/>
            <p:cNvSpPr txBox="1"/>
            <p:nvPr/>
          </p:nvSpPr>
          <p:spPr>
            <a:xfrm>
              <a:off x="3094117" y="3796588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42.5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8"/>
            <p:cNvSpPr txBox="1"/>
            <p:nvPr/>
          </p:nvSpPr>
          <p:spPr>
            <a:xfrm>
              <a:off x="5780392" y="3804988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43.5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5" name="Google Shape;795;p68"/>
          <p:cNvSpPr/>
          <p:nvPr/>
        </p:nvSpPr>
        <p:spPr>
          <a:xfrm>
            <a:off x="3290448" y="4353557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340100" y="3070650"/>
            <a:ext cx="703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Drawing a number line, 43 goes in the middle.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340100" y="3070650"/>
            <a:ext cx="86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the degree of accuracy is the nearest whole number, we +1 and </a:t>
            </a:r>
            <a:r>
              <a:rPr lang="en-GB" sz="22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from 43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/>
        </p:nvSpPr>
        <p:spPr>
          <a:xfrm>
            <a:off x="340100" y="3070650"/>
            <a:ext cx="86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 the middle values.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340100" y="3070650"/>
            <a:ext cx="86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here identify the range of values.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340100" y="3070650"/>
            <a:ext cx="86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means the error interval is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324000" y="759300"/>
            <a:ext cx="8237700" cy="13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 error intervals to help us calculate the </a:t>
            </a:r>
            <a:r>
              <a:rPr lang="en-GB"/>
              <a:t>largest</a:t>
            </a:r>
            <a:r>
              <a:rPr lang="en-GB"/>
              <a:t> and smallest values of a </a:t>
            </a:r>
            <a:r>
              <a:rPr lang="en-GB"/>
              <a:t>calculation</a:t>
            </a:r>
            <a:r>
              <a:rPr lang="en-GB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error interval has a lower and upper limit.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≤ </a:t>
            </a: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/>
              <a:t> &lt;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Where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represents the lower limit of the error interval 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100"/>
              <a:t> represents the upper limit of the error interval. 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it is </a:t>
            </a:r>
            <a:r>
              <a:rPr lang="en-GB"/>
              <a:t>important</a:t>
            </a:r>
            <a:r>
              <a:rPr lang="en-GB"/>
              <a:t> to know which limits from our error intervals to use in order to calculate the largest and smallest values.</a:t>
            </a:r>
            <a:endParaRPr/>
          </a:p>
        </p:txBody>
      </p:sp>
      <p:sp>
        <p:nvSpPr>
          <p:cNvPr id="806" name="Google Shape;80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324000" y="683100"/>
            <a:ext cx="8496000" cy="13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For example, here is a road. Each length has been measured to 2 significant figures.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Identify the error interval of each length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Work out the error interval for the overall distance.</a:t>
            </a:r>
            <a:endParaRPr sz="2000"/>
          </a:p>
        </p:txBody>
      </p:sp>
      <p:sp>
        <p:nvSpPr>
          <p:cNvPr id="812" name="Google Shape;81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cxnSp>
        <p:nvCxnSpPr>
          <p:cNvPr id="813" name="Google Shape;813;p70"/>
          <p:cNvCxnSpPr/>
          <p:nvPr/>
        </p:nvCxnSpPr>
        <p:spPr>
          <a:xfrm flipH="1" rot="10800000">
            <a:off x="901025" y="3123575"/>
            <a:ext cx="7594200" cy="1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70"/>
          <p:cNvCxnSpPr/>
          <p:nvPr/>
        </p:nvCxnSpPr>
        <p:spPr>
          <a:xfrm flipH="1" rot="10800000">
            <a:off x="901025" y="3806963"/>
            <a:ext cx="7594200" cy="1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70"/>
          <p:cNvCxnSpPr/>
          <p:nvPr/>
        </p:nvCxnSpPr>
        <p:spPr>
          <a:xfrm>
            <a:off x="909600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70"/>
          <p:cNvCxnSpPr/>
          <p:nvPr/>
        </p:nvCxnSpPr>
        <p:spPr>
          <a:xfrm>
            <a:off x="3722475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70"/>
          <p:cNvCxnSpPr/>
          <p:nvPr/>
        </p:nvCxnSpPr>
        <p:spPr>
          <a:xfrm>
            <a:off x="8495225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70"/>
          <p:cNvCxnSpPr/>
          <p:nvPr/>
        </p:nvCxnSpPr>
        <p:spPr>
          <a:xfrm>
            <a:off x="1066575" y="3496300"/>
            <a:ext cx="243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70"/>
          <p:cNvCxnSpPr/>
          <p:nvPr/>
        </p:nvCxnSpPr>
        <p:spPr>
          <a:xfrm>
            <a:off x="3855625" y="3496300"/>
            <a:ext cx="449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70"/>
          <p:cNvCxnSpPr/>
          <p:nvPr/>
        </p:nvCxnSpPr>
        <p:spPr>
          <a:xfrm>
            <a:off x="918175" y="4007375"/>
            <a:ext cx="280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1" name="Google Shape;821;p70"/>
          <p:cNvCxnSpPr/>
          <p:nvPr/>
        </p:nvCxnSpPr>
        <p:spPr>
          <a:xfrm>
            <a:off x="3724075" y="4007375"/>
            <a:ext cx="476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2" name="Google Shape;822;p70"/>
          <p:cNvSpPr txBox="1"/>
          <p:nvPr/>
        </p:nvSpPr>
        <p:spPr>
          <a:xfrm>
            <a:off x="1946900" y="3894775"/>
            <a:ext cx="106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 m</a:t>
            </a:r>
            <a:endParaRPr/>
          </a:p>
        </p:txBody>
      </p:sp>
      <p:sp>
        <p:nvSpPr>
          <p:cNvPr id="823" name="Google Shape;823;p70"/>
          <p:cNvSpPr txBox="1"/>
          <p:nvPr/>
        </p:nvSpPr>
        <p:spPr>
          <a:xfrm>
            <a:off x="5833100" y="3894775"/>
            <a:ext cx="106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sp>
        <p:nvSpPr>
          <p:cNvPr id="824" name="Google Shape;824;p70"/>
          <p:cNvSpPr txBox="1"/>
          <p:nvPr/>
        </p:nvSpPr>
        <p:spPr>
          <a:xfrm>
            <a:off x="130447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31.5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32.5</a:t>
            </a:r>
            <a:endParaRPr/>
          </a:p>
        </p:txBody>
      </p:sp>
      <p:sp>
        <p:nvSpPr>
          <p:cNvPr id="825" name="Google Shape;825;p70"/>
          <p:cNvSpPr txBox="1"/>
          <p:nvPr/>
        </p:nvSpPr>
        <p:spPr>
          <a:xfrm>
            <a:off x="1092863" y="2572925"/>
            <a:ext cx="226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Road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/>
          </a:p>
        </p:txBody>
      </p:sp>
      <p:sp>
        <p:nvSpPr>
          <p:cNvPr id="826" name="Google Shape;826;p70"/>
          <p:cNvSpPr txBox="1"/>
          <p:nvPr/>
        </p:nvSpPr>
        <p:spPr>
          <a:xfrm>
            <a:off x="4905263" y="2600625"/>
            <a:ext cx="226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Road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/>
          </a:p>
        </p:txBody>
      </p:sp>
      <p:sp>
        <p:nvSpPr>
          <p:cNvPr id="827" name="Google Shape;827;p70"/>
          <p:cNvSpPr txBox="1"/>
          <p:nvPr/>
        </p:nvSpPr>
        <p:spPr>
          <a:xfrm>
            <a:off x="515132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.5</a:t>
            </a:r>
            <a:endParaRPr/>
          </a:p>
        </p:txBody>
      </p:sp>
      <p:pic>
        <p:nvPicPr>
          <p:cNvPr id="828" name="Google Shape;82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75" y="2444249"/>
            <a:ext cx="138250" cy="10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350" y="2420174"/>
            <a:ext cx="138250" cy="10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6100" y="2420174"/>
            <a:ext cx="138250" cy="10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1"/>
          <p:cNvSpPr txBox="1"/>
          <p:nvPr>
            <p:ph idx="1" type="body"/>
          </p:nvPr>
        </p:nvSpPr>
        <p:spPr>
          <a:xfrm>
            <a:off x="324000" y="759300"/>
            <a:ext cx="8496000" cy="5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</a:t>
            </a:r>
            <a:r>
              <a:rPr lang="en-GB"/>
              <a:t>Work out the error interval for the overall distance.</a:t>
            </a:r>
            <a:endParaRPr/>
          </a:p>
        </p:txBody>
      </p:sp>
      <p:sp>
        <p:nvSpPr>
          <p:cNvPr id="836" name="Google Shape;83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cxnSp>
        <p:nvCxnSpPr>
          <p:cNvPr id="837" name="Google Shape;837;p71"/>
          <p:cNvCxnSpPr/>
          <p:nvPr/>
        </p:nvCxnSpPr>
        <p:spPr>
          <a:xfrm flipH="1" rot="10800000">
            <a:off x="901025" y="3123575"/>
            <a:ext cx="7594200" cy="1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1"/>
          <p:cNvCxnSpPr/>
          <p:nvPr/>
        </p:nvCxnSpPr>
        <p:spPr>
          <a:xfrm flipH="1" rot="10800000">
            <a:off x="901025" y="3806963"/>
            <a:ext cx="7594200" cy="1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1"/>
          <p:cNvCxnSpPr/>
          <p:nvPr/>
        </p:nvCxnSpPr>
        <p:spPr>
          <a:xfrm>
            <a:off x="909600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1"/>
          <p:cNvCxnSpPr/>
          <p:nvPr/>
        </p:nvCxnSpPr>
        <p:spPr>
          <a:xfrm>
            <a:off x="3722475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1"/>
          <p:cNvCxnSpPr/>
          <p:nvPr/>
        </p:nvCxnSpPr>
        <p:spPr>
          <a:xfrm>
            <a:off x="8495225" y="3149250"/>
            <a:ext cx="0" cy="66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1"/>
          <p:cNvCxnSpPr/>
          <p:nvPr/>
        </p:nvCxnSpPr>
        <p:spPr>
          <a:xfrm>
            <a:off x="1066575" y="3496300"/>
            <a:ext cx="243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1"/>
          <p:cNvCxnSpPr/>
          <p:nvPr/>
        </p:nvCxnSpPr>
        <p:spPr>
          <a:xfrm>
            <a:off x="3855625" y="3496300"/>
            <a:ext cx="449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71"/>
          <p:cNvCxnSpPr/>
          <p:nvPr/>
        </p:nvCxnSpPr>
        <p:spPr>
          <a:xfrm>
            <a:off x="918175" y="4007375"/>
            <a:ext cx="280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5" name="Google Shape;845;p71"/>
          <p:cNvCxnSpPr/>
          <p:nvPr/>
        </p:nvCxnSpPr>
        <p:spPr>
          <a:xfrm>
            <a:off x="3724075" y="4007375"/>
            <a:ext cx="476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6" name="Google Shape;846;p71"/>
          <p:cNvSpPr txBox="1"/>
          <p:nvPr/>
        </p:nvSpPr>
        <p:spPr>
          <a:xfrm>
            <a:off x="1946900" y="3894775"/>
            <a:ext cx="112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 m</a:t>
            </a:r>
            <a:endParaRPr/>
          </a:p>
        </p:txBody>
      </p:sp>
      <p:sp>
        <p:nvSpPr>
          <p:cNvPr id="847" name="Google Shape;847;p71"/>
          <p:cNvSpPr txBox="1"/>
          <p:nvPr/>
        </p:nvSpPr>
        <p:spPr>
          <a:xfrm>
            <a:off x="5833100" y="3894775"/>
            <a:ext cx="112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 m</a:t>
            </a:r>
            <a:endParaRPr/>
          </a:p>
        </p:txBody>
      </p:sp>
      <p:sp>
        <p:nvSpPr>
          <p:cNvPr id="848" name="Google Shape;848;p71"/>
          <p:cNvSpPr txBox="1"/>
          <p:nvPr/>
        </p:nvSpPr>
        <p:spPr>
          <a:xfrm>
            <a:off x="1092863" y="2572925"/>
            <a:ext cx="226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Road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/>
          </a:p>
        </p:txBody>
      </p:sp>
      <p:sp>
        <p:nvSpPr>
          <p:cNvPr id="849" name="Google Shape;849;p71"/>
          <p:cNvSpPr txBox="1"/>
          <p:nvPr/>
        </p:nvSpPr>
        <p:spPr>
          <a:xfrm>
            <a:off x="4905263" y="2600625"/>
            <a:ext cx="226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Road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/>
          </a:p>
        </p:txBody>
      </p:sp>
      <p:sp>
        <p:nvSpPr>
          <p:cNvPr id="850" name="Google Shape;850;p71"/>
          <p:cNvSpPr txBox="1"/>
          <p:nvPr/>
        </p:nvSpPr>
        <p:spPr>
          <a:xfrm>
            <a:off x="130447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32.5</a:t>
            </a:r>
            <a:endParaRPr/>
          </a:p>
        </p:txBody>
      </p:sp>
      <p:sp>
        <p:nvSpPr>
          <p:cNvPr id="851" name="Google Shape;851;p71"/>
          <p:cNvSpPr txBox="1"/>
          <p:nvPr/>
        </p:nvSpPr>
        <p:spPr>
          <a:xfrm>
            <a:off x="515132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84.5</a:t>
            </a:r>
            <a:endParaRPr/>
          </a:p>
        </p:txBody>
      </p:sp>
      <p:sp>
        <p:nvSpPr>
          <p:cNvPr id="852" name="Google Shape;852;p71"/>
          <p:cNvSpPr txBox="1"/>
          <p:nvPr/>
        </p:nvSpPr>
        <p:spPr>
          <a:xfrm>
            <a:off x="677200" y="1657463"/>
            <a:ext cx="644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Largest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distance : 32.5 + 84.5 = 117 m </a:t>
            </a:r>
            <a:endParaRPr/>
          </a:p>
        </p:txBody>
      </p:sp>
      <p:sp>
        <p:nvSpPr>
          <p:cNvPr id="853" name="Google Shape;853;p71"/>
          <p:cNvSpPr txBox="1"/>
          <p:nvPr/>
        </p:nvSpPr>
        <p:spPr>
          <a:xfrm>
            <a:off x="575257" y="1200263"/>
            <a:ext cx="644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Smallest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distance : 31.5 + 83.5 = 115 m </a:t>
            </a:r>
            <a:endParaRPr/>
          </a:p>
        </p:txBody>
      </p:sp>
      <p:sp>
        <p:nvSpPr>
          <p:cNvPr id="854" name="Google Shape;854;p71"/>
          <p:cNvSpPr txBox="1"/>
          <p:nvPr/>
        </p:nvSpPr>
        <p:spPr>
          <a:xfrm>
            <a:off x="6100975" y="1394275"/>
            <a:ext cx="2385600" cy="58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117</a:t>
            </a:r>
            <a:endParaRPr/>
          </a:p>
        </p:txBody>
      </p:sp>
      <p:pic>
        <p:nvPicPr>
          <p:cNvPr id="855" name="Google Shape;85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75" y="2444249"/>
            <a:ext cx="138250" cy="10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350" y="2420174"/>
            <a:ext cx="138250" cy="10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6100" y="2420174"/>
            <a:ext cx="138250" cy="10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324000" y="759300"/>
            <a:ext cx="8496000" cy="5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</a:t>
            </a:r>
            <a:r>
              <a:rPr lang="en-GB"/>
              <a:t>Work out the error interval for the overall distance.</a:t>
            </a:r>
            <a:endParaRPr/>
          </a:p>
        </p:txBody>
      </p:sp>
      <p:sp>
        <p:nvSpPr>
          <p:cNvPr id="863" name="Google Shape;86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864" name="Google Shape;864;p72"/>
          <p:cNvSpPr txBox="1"/>
          <p:nvPr/>
        </p:nvSpPr>
        <p:spPr>
          <a:xfrm>
            <a:off x="130447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32.5</a:t>
            </a:r>
            <a:endParaRPr/>
          </a:p>
        </p:txBody>
      </p:sp>
      <p:sp>
        <p:nvSpPr>
          <p:cNvPr id="865" name="Google Shape;865;p72"/>
          <p:cNvSpPr txBox="1"/>
          <p:nvPr/>
        </p:nvSpPr>
        <p:spPr>
          <a:xfrm>
            <a:off x="515132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84.5</a:t>
            </a:r>
            <a:endParaRPr/>
          </a:p>
        </p:txBody>
      </p:sp>
      <p:sp>
        <p:nvSpPr>
          <p:cNvPr id="866" name="Google Shape;866;p72"/>
          <p:cNvSpPr txBox="1"/>
          <p:nvPr/>
        </p:nvSpPr>
        <p:spPr>
          <a:xfrm>
            <a:off x="677200" y="1657463"/>
            <a:ext cx="644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Largest distance : 32.5 + 84.5 = 117 m </a:t>
            </a:r>
            <a:endParaRPr/>
          </a:p>
        </p:txBody>
      </p:sp>
      <p:sp>
        <p:nvSpPr>
          <p:cNvPr id="867" name="Google Shape;867;p72"/>
          <p:cNvSpPr txBox="1"/>
          <p:nvPr/>
        </p:nvSpPr>
        <p:spPr>
          <a:xfrm>
            <a:off x="575257" y="1200263"/>
            <a:ext cx="644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Smallest distance : 31.5 + 83.5 = 115 m </a:t>
            </a:r>
            <a:endParaRPr/>
          </a:p>
        </p:txBody>
      </p:sp>
      <p:sp>
        <p:nvSpPr>
          <p:cNvPr id="868" name="Google Shape;868;p72"/>
          <p:cNvSpPr txBox="1"/>
          <p:nvPr/>
        </p:nvSpPr>
        <p:spPr>
          <a:xfrm>
            <a:off x="6100975" y="1394275"/>
            <a:ext cx="2385600" cy="58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117</a:t>
            </a:r>
            <a:endParaRPr/>
          </a:p>
        </p:txBody>
      </p:sp>
      <p:sp>
        <p:nvSpPr>
          <p:cNvPr id="869" name="Google Shape;869;p72"/>
          <p:cNvSpPr txBox="1"/>
          <p:nvPr/>
        </p:nvSpPr>
        <p:spPr>
          <a:xfrm>
            <a:off x="1101000" y="2487525"/>
            <a:ext cx="69420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Notice how we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do not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include the 117. This is because we used 32.5 and 84.5 which are not included in the error interval.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3"/>
          <p:cNvSpPr txBox="1"/>
          <p:nvPr>
            <p:ph idx="1" type="body"/>
          </p:nvPr>
        </p:nvSpPr>
        <p:spPr>
          <a:xfrm>
            <a:off x="324000" y="759300"/>
            <a:ext cx="8496000" cy="5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r>
              <a:rPr lang="en-GB"/>
              <a:t> </a:t>
            </a:r>
            <a:r>
              <a:rPr lang="en-GB"/>
              <a:t>Work out the error interval for the overall distance.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876" name="Google Shape;876;p73"/>
          <p:cNvSpPr txBox="1"/>
          <p:nvPr/>
        </p:nvSpPr>
        <p:spPr>
          <a:xfrm>
            <a:off x="130447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32.5</a:t>
            </a:r>
            <a:endParaRPr/>
          </a:p>
        </p:txBody>
      </p:sp>
      <p:sp>
        <p:nvSpPr>
          <p:cNvPr id="877" name="Google Shape;877;p73"/>
          <p:cNvSpPr txBox="1"/>
          <p:nvPr/>
        </p:nvSpPr>
        <p:spPr>
          <a:xfrm>
            <a:off x="5151325" y="4343075"/>
            <a:ext cx="2264400" cy="400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84.5</a:t>
            </a:r>
            <a:endParaRPr/>
          </a:p>
        </p:txBody>
      </p:sp>
      <p:sp>
        <p:nvSpPr>
          <p:cNvPr id="878" name="Google Shape;878;p73"/>
          <p:cNvSpPr txBox="1"/>
          <p:nvPr/>
        </p:nvSpPr>
        <p:spPr>
          <a:xfrm>
            <a:off x="3129175" y="1394275"/>
            <a:ext cx="2385600" cy="58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117</a:t>
            </a:r>
            <a:endParaRPr/>
          </a:p>
        </p:txBody>
      </p:sp>
      <p:sp>
        <p:nvSpPr>
          <p:cNvPr id="879" name="Google Shape;879;p73"/>
          <p:cNvSpPr txBox="1"/>
          <p:nvPr/>
        </p:nvSpPr>
        <p:spPr>
          <a:xfrm>
            <a:off x="766625" y="2432700"/>
            <a:ext cx="7720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115 is the sum of the lower limits of the error intervals.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 txBox="1"/>
          <p:nvPr/>
        </p:nvSpPr>
        <p:spPr>
          <a:xfrm>
            <a:off x="766625" y="3012150"/>
            <a:ext cx="7720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sum of the upper limits of the error intervals.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73"/>
          <p:cNvGrpSpPr/>
          <p:nvPr/>
        </p:nvGrpSpPr>
        <p:grpSpPr>
          <a:xfrm>
            <a:off x="1449100" y="1397875"/>
            <a:ext cx="4504550" cy="3434200"/>
            <a:chOff x="1449100" y="1397875"/>
            <a:chExt cx="4504550" cy="3434200"/>
          </a:xfrm>
        </p:grpSpPr>
        <p:sp>
          <p:nvSpPr>
            <p:cNvPr id="882" name="Google Shape;882;p73"/>
            <p:cNvSpPr/>
            <p:nvPr/>
          </p:nvSpPr>
          <p:spPr>
            <a:xfrm>
              <a:off x="1449100" y="4254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3"/>
            <p:cNvSpPr/>
            <p:nvPr/>
          </p:nvSpPr>
          <p:spPr>
            <a:xfrm>
              <a:off x="5279850" y="4254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3"/>
            <p:cNvSpPr/>
            <p:nvPr/>
          </p:nvSpPr>
          <p:spPr>
            <a:xfrm>
              <a:off x="3369600" y="13978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5" name="Google Shape;885;p73"/>
          <p:cNvGrpSpPr/>
          <p:nvPr/>
        </p:nvGrpSpPr>
        <p:grpSpPr>
          <a:xfrm>
            <a:off x="2732100" y="1397875"/>
            <a:ext cx="4504550" cy="3434200"/>
            <a:chOff x="1449100" y="1397875"/>
            <a:chExt cx="4504550" cy="3434200"/>
          </a:xfrm>
        </p:grpSpPr>
        <p:sp>
          <p:nvSpPr>
            <p:cNvPr id="886" name="Google Shape;886;p73"/>
            <p:cNvSpPr/>
            <p:nvPr/>
          </p:nvSpPr>
          <p:spPr>
            <a:xfrm>
              <a:off x="1449100" y="4254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3"/>
            <p:cNvSpPr/>
            <p:nvPr/>
          </p:nvSpPr>
          <p:spPr>
            <a:xfrm>
              <a:off x="5279850" y="4254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3"/>
            <p:cNvSpPr/>
            <p:nvPr/>
          </p:nvSpPr>
          <p:spPr>
            <a:xfrm>
              <a:off x="3369600" y="13978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9" name="Google Shape;889;p73"/>
          <p:cNvSpPr txBox="1"/>
          <p:nvPr/>
        </p:nvSpPr>
        <p:spPr>
          <a:xfrm>
            <a:off x="757650" y="19030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Summarising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324000" y="759300"/>
            <a:ext cx="8496000" cy="13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Using error </a:t>
            </a:r>
            <a:r>
              <a:rPr lang="en-GB" sz="2100"/>
              <a:t>intervals</a:t>
            </a:r>
            <a:r>
              <a:rPr lang="en-GB" sz="2100"/>
              <a:t> in calculations allows us to work out </a:t>
            </a:r>
            <a:r>
              <a:rPr lang="en-GB" sz="2100"/>
              <a:t>largest</a:t>
            </a:r>
            <a:r>
              <a:rPr lang="en-GB" sz="2100"/>
              <a:t> and smallest values. </a:t>
            </a:r>
            <a:r>
              <a:rPr lang="en-GB" sz="2100"/>
              <a:t>This is important in real life as well as industries such as engineering, construction, medicine etc.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896" name="Google Shape;896;p74"/>
          <p:cNvSpPr txBox="1"/>
          <p:nvPr/>
        </p:nvSpPr>
        <p:spPr>
          <a:xfrm>
            <a:off x="914200" y="3434675"/>
            <a:ext cx="83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002625" y="3144200"/>
            <a:ext cx="482950" cy="157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63" y="2076300"/>
            <a:ext cx="2568664" cy="276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4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3408326" y="1951275"/>
            <a:ext cx="3871724" cy="15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4"/>
          <p:cNvSpPr txBox="1"/>
          <p:nvPr/>
        </p:nvSpPr>
        <p:spPr>
          <a:xfrm>
            <a:off x="3884837" y="2124000"/>
            <a:ext cx="2123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 txBox="1"/>
          <p:nvPr/>
        </p:nvSpPr>
        <p:spPr>
          <a:xfrm>
            <a:off x="3762444" y="2064725"/>
            <a:ext cx="3619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am confused! I have run out of paint but I have measured everything correctly and read the instructions correctly.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2" name="Google Shape;90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6998" y="3330363"/>
            <a:ext cx="1340864" cy="14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4"/>
          <p:cNvSpPr txBox="1"/>
          <p:nvPr/>
        </p:nvSpPr>
        <p:spPr>
          <a:xfrm>
            <a:off x="7056925" y="289241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4"/>
          <p:cNvSpPr txBox="1"/>
          <p:nvPr/>
        </p:nvSpPr>
        <p:spPr>
          <a:xfrm>
            <a:off x="2554400" y="270001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4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 rot="10800000">
            <a:off x="4744300" y="3600949"/>
            <a:ext cx="2010148" cy="119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4"/>
          <p:cNvSpPr txBox="1"/>
          <p:nvPr/>
        </p:nvSpPr>
        <p:spPr>
          <a:xfrm>
            <a:off x="5070600" y="3855475"/>
            <a:ext cx="13794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have a look.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7" name="Google Shape;907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6231" y="3024709"/>
            <a:ext cx="707350" cy="86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p7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035074" y="3481912"/>
            <a:ext cx="2520351" cy="1149849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14" name="Google Shape;914;p75"/>
          <p:cNvSpPr txBox="1"/>
          <p:nvPr/>
        </p:nvSpPr>
        <p:spPr>
          <a:xfrm>
            <a:off x="2660125" y="851400"/>
            <a:ext cx="5895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paint tin says it covers 45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(rounded to the nearest integer).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5"/>
          <p:cNvSpPr/>
          <p:nvPr/>
        </p:nvSpPr>
        <p:spPr>
          <a:xfrm>
            <a:off x="1155825" y="2591525"/>
            <a:ext cx="2382300" cy="145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5"/>
          <p:cNvSpPr txBox="1"/>
          <p:nvPr/>
        </p:nvSpPr>
        <p:spPr>
          <a:xfrm>
            <a:off x="3694100" y="2411550"/>
            <a:ext cx="52548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 measured the wall to be 9 m by 5 m (rounded to the nearest integer).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75"/>
          <p:cNvCxnSpPr/>
          <p:nvPr/>
        </p:nvCxnSpPr>
        <p:spPr>
          <a:xfrm>
            <a:off x="1158525" y="4190650"/>
            <a:ext cx="237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18" name="Google Shape;918;p75"/>
          <p:cNvCxnSpPr/>
          <p:nvPr/>
        </p:nvCxnSpPr>
        <p:spPr>
          <a:xfrm>
            <a:off x="999850" y="2548650"/>
            <a:ext cx="0" cy="149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19" name="Google Shape;919;p75"/>
          <p:cNvSpPr txBox="1"/>
          <p:nvPr/>
        </p:nvSpPr>
        <p:spPr>
          <a:xfrm>
            <a:off x="1964025" y="4091400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/>
          </a:p>
        </p:txBody>
      </p:sp>
      <p:sp>
        <p:nvSpPr>
          <p:cNvPr id="920" name="Google Shape;920;p75"/>
          <p:cNvSpPr txBox="1"/>
          <p:nvPr/>
        </p:nvSpPr>
        <p:spPr>
          <a:xfrm>
            <a:off x="369600" y="2997963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/>
          </a:p>
        </p:txBody>
      </p:sp>
      <p:sp>
        <p:nvSpPr>
          <p:cNvPr id="921" name="Google Shape;921;p75"/>
          <p:cNvSpPr txBox="1"/>
          <p:nvPr/>
        </p:nvSpPr>
        <p:spPr>
          <a:xfrm>
            <a:off x="7264037" y="1729275"/>
            <a:ext cx="2123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5"/>
          <p:cNvSpPr txBox="1"/>
          <p:nvPr/>
        </p:nvSpPr>
        <p:spPr>
          <a:xfrm>
            <a:off x="6173125" y="3624500"/>
            <a:ext cx="2382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have I run out of paint?</a:t>
            </a:r>
            <a:endParaRPr/>
          </a:p>
        </p:txBody>
      </p:sp>
      <p:pic>
        <p:nvPicPr>
          <p:cNvPr id="923" name="Google Shape;92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219272" y="3742600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295" y="758444"/>
            <a:ext cx="1222617" cy="1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76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051323" y="3067850"/>
            <a:ext cx="3213527" cy="14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31" name="Google Shape;931;p76"/>
          <p:cNvSpPr txBox="1"/>
          <p:nvPr/>
        </p:nvSpPr>
        <p:spPr>
          <a:xfrm>
            <a:off x="2660125" y="851400"/>
            <a:ext cx="5895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paint tin says it covers 45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(rounded to the nearest integer).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/>
        </p:nvSpPr>
        <p:spPr>
          <a:xfrm>
            <a:off x="1232775" y="3291075"/>
            <a:ext cx="29730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error interval for the area is 44.5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45.5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3" name="Google Shape;93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3052" y="3638900"/>
            <a:ext cx="902025" cy="89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796" y="355138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6"/>
          <p:cNvSpPr txBox="1"/>
          <p:nvPr/>
        </p:nvSpPr>
        <p:spPr>
          <a:xfrm>
            <a:off x="3629775" y="1671738"/>
            <a:ext cx="2790000" cy="58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44.5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45.5</a:t>
            </a:r>
            <a:endParaRPr/>
          </a:p>
        </p:txBody>
      </p:sp>
      <p:sp>
        <p:nvSpPr>
          <p:cNvPr id="936" name="Google Shape;936;p76"/>
          <p:cNvSpPr txBox="1"/>
          <p:nvPr/>
        </p:nvSpPr>
        <p:spPr>
          <a:xfrm>
            <a:off x="57250" y="432001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 txBox="1"/>
          <p:nvPr/>
        </p:nvSpPr>
        <p:spPr>
          <a:xfrm>
            <a:off x="7459200" y="43894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8" name="Google Shape;93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8295" y="758444"/>
            <a:ext cx="1222617" cy="14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6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205775" y="2314300"/>
            <a:ext cx="3725701" cy="22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6"/>
          <p:cNvSpPr txBox="1"/>
          <p:nvPr/>
        </p:nvSpPr>
        <p:spPr>
          <a:xfrm>
            <a:off x="4320000" y="2493650"/>
            <a:ext cx="3508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means the tin of paint would cover an area between 44.5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45.5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including 44.5 and not including 45.5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has rounded his measurements to the nearest integer.  Work out the error interval for the </a:t>
            </a:r>
            <a:r>
              <a:rPr lang="en-GB">
                <a:solidFill>
                  <a:schemeClr val="accent4"/>
                </a:solidFill>
              </a:rPr>
              <a:t>width</a:t>
            </a:r>
            <a:r>
              <a:rPr lang="en-GB"/>
              <a:t> and </a:t>
            </a:r>
            <a:r>
              <a:rPr lang="en-GB">
                <a:solidFill>
                  <a:schemeClr val="accent4"/>
                </a:solidFill>
              </a:rPr>
              <a:t>length</a:t>
            </a:r>
            <a:r>
              <a:rPr lang="en-GB"/>
              <a:t>.</a:t>
            </a:r>
            <a:endParaRPr/>
          </a:p>
        </p:txBody>
      </p:sp>
      <p:sp>
        <p:nvSpPr>
          <p:cNvPr id="946" name="Google Shape;94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47" name="Google Shape;947;p77"/>
          <p:cNvSpPr/>
          <p:nvPr/>
        </p:nvSpPr>
        <p:spPr>
          <a:xfrm>
            <a:off x="3441825" y="1829525"/>
            <a:ext cx="2382300" cy="145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77"/>
          <p:cNvCxnSpPr/>
          <p:nvPr/>
        </p:nvCxnSpPr>
        <p:spPr>
          <a:xfrm>
            <a:off x="3444525" y="3428650"/>
            <a:ext cx="237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49" name="Google Shape;949;p77"/>
          <p:cNvCxnSpPr/>
          <p:nvPr/>
        </p:nvCxnSpPr>
        <p:spPr>
          <a:xfrm>
            <a:off x="3285850" y="1786650"/>
            <a:ext cx="0" cy="149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50" name="Google Shape;950;p77"/>
          <p:cNvSpPr txBox="1"/>
          <p:nvPr/>
        </p:nvSpPr>
        <p:spPr>
          <a:xfrm>
            <a:off x="4250025" y="3329400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/>
          </a:p>
        </p:txBody>
      </p:sp>
      <p:sp>
        <p:nvSpPr>
          <p:cNvPr id="951" name="Google Shape;951;p77"/>
          <p:cNvSpPr txBox="1"/>
          <p:nvPr/>
        </p:nvSpPr>
        <p:spPr>
          <a:xfrm>
            <a:off x="2655600" y="2235975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/>
          </a:p>
        </p:txBody>
      </p:sp>
      <p:sp>
        <p:nvSpPr>
          <p:cNvPr id="952" name="Google Shape;952;p77"/>
          <p:cNvSpPr txBox="1"/>
          <p:nvPr/>
        </p:nvSpPr>
        <p:spPr>
          <a:xfrm>
            <a:off x="325875" y="2265300"/>
            <a:ext cx="2311200" cy="53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 m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&lt;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5.5 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3" name="Google Shape;953;p77"/>
          <p:cNvSpPr txBox="1"/>
          <p:nvPr/>
        </p:nvSpPr>
        <p:spPr>
          <a:xfrm>
            <a:off x="3513025" y="3843000"/>
            <a:ext cx="2178000" cy="43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8.5 m ≤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&lt;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9.5 m</a:t>
            </a:r>
            <a:endParaRPr baseline="30000"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8"/>
          <p:cNvSpPr txBox="1"/>
          <p:nvPr>
            <p:ph idx="1" type="body"/>
          </p:nvPr>
        </p:nvSpPr>
        <p:spPr>
          <a:xfrm>
            <a:off x="324000" y="759300"/>
            <a:ext cx="8237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error interval for the </a:t>
            </a:r>
            <a:r>
              <a:rPr lang="en-GB">
                <a:solidFill>
                  <a:schemeClr val="accent4"/>
                </a:solidFill>
              </a:rPr>
              <a:t>area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of the wall.</a:t>
            </a:r>
            <a:endParaRPr/>
          </a:p>
        </p:txBody>
      </p:sp>
      <p:sp>
        <p:nvSpPr>
          <p:cNvPr id="959" name="Google Shape;95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60" name="Google Shape;960;p78"/>
          <p:cNvSpPr/>
          <p:nvPr/>
        </p:nvSpPr>
        <p:spPr>
          <a:xfrm>
            <a:off x="3441825" y="1829525"/>
            <a:ext cx="2382300" cy="145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1" name="Google Shape;961;p78"/>
          <p:cNvCxnSpPr/>
          <p:nvPr/>
        </p:nvCxnSpPr>
        <p:spPr>
          <a:xfrm>
            <a:off x="3444525" y="3428650"/>
            <a:ext cx="237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62" name="Google Shape;962;p78"/>
          <p:cNvCxnSpPr/>
          <p:nvPr/>
        </p:nvCxnSpPr>
        <p:spPr>
          <a:xfrm>
            <a:off x="3285850" y="1786650"/>
            <a:ext cx="0" cy="149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63" name="Google Shape;963;p78"/>
          <p:cNvSpPr txBox="1"/>
          <p:nvPr/>
        </p:nvSpPr>
        <p:spPr>
          <a:xfrm>
            <a:off x="4250025" y="3329400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/>
          </a:p>
        </p:txBody>
      </p:sp>
      <p:sp>
        <p:nvSpPr>
          <p:cNvPr id="964" name="Google Shape;964;p78"/>
          <p:cNvSpPr txBox="1"/>
          <p:nvPr/>
        </p:nvSpPr>
        <p:spPr>
          <a:xfrm>
            <a:off x="2655600" y="2235975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/>
          </a:p>
        </p:txBody>
      </p:sp>
      <p:sp>
        <p:nvSpPr>
          <p:cNvPr id="965" name="Google Shape;965;p78"/>
          <p:cNvSpPr txBox="1"/>
          <p:nvPr/>
        </p:nvSpPr>
        <p:spPr>
          <a:xfrm>
            <a:off x="325875" y="2265300"/>
            <a:ext cx="2310000" cy="53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m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8"/>
          <p:cNvSpPr txBox="1"/>
          <p:nvPr/>
        </p:nvSpPr>
        <p:spPr>
          <a:xfrm>
            <a:off x="3514225" y="3843000"/>
            <a:ext cx="2178000" cy="43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8.5 m ≤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 9.5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8"/>
          <p:cNvSpPr txBox="1"/>
          <p:nvPr/>
        </p:nvSpPr>
        <p:spPr>
          <a:xfrm>
            <a:off x="6032575" y="1649700"/>
            <a:ext cx="2634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 area: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 x 8.5 = 38.25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78"/>
          <p:cNvSpPr txBox="1"/>
          <p:nvPr/>
        </p:nvSpPr>
        <p:spPr>
          <a:xfrm>
            <a:off x="6032575" y="2487900"/>
            <a:ext cx="2634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 area: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5.5 x 9.5 = 52.25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78"/>
          <p:cNvSpPr txBox="1"/>
          <p:nvPr/>
        </p:nvSpPr>
        <p:spPr>
          <a:xfrm>
            <a:off x="5943600" y="3429000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Error interval of area: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38.25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52.25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75" name="Google Shape;975;p79"/>
          <p:cNvSpPr txBox="1"/>
          <p:nvPr/>
        </p:nvSpPr>
        <p:spPr>
          <a:xfrm>
            <a:off x="2660125" y="851400"/>
            <a:ext cx="5895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paint tin says it covers 45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(rounded to the nearest integer).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9"/>
          <p:cNvSpPr/>
          <p:nvPr/>
        </p:nvSpPr>
        <p:spPr>
          <a:xfrm>
            <a:off x="1155825" y="2591525"/>
            <a:ext cx="2382300" cy="145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9"/>
          <p:cNvSpPr txBox="1"/>
          <p:nvPr/>
        </p:nvSpPr>
        <p:spPr>
          <a:xfrm>
            <a:off x="3694100" y="2563950"/>
            <a:ext cx="53160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 measured the wall to be 9 m by 5 m (Rounded to the nearest integer)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8" name="Google Shape;978;p79"/>
          <p:cNvCxnSpPr/>
          <p:nvPr/>
        </p:nvCxnSpPr>
        <p:spPr>
          <a:xfrm>
            <a:off x="1158525" y="4190650"/>
            <a:ext cx="237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79" name="Google Shape;979;p79"/>
          <p:cNvCxnSpPr/>
          <p:nvPr/>
        </p:nvCxnSpPr>
        <p:spPr>
          <a:xfrm>
            <a:off x="999850" y="2548650"/>
            <a:ext cx="0" cy="149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80" name="Google Shape;980;p79"/>
          <p:cNvSpPr txBox="1"/>
          <p:nvPr/>
        </p:nvSpPr>
        <p:spPr>
          <a:xfrm>
            <a:off x="1964025" y="4091400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/>
          </a:p>
        </p:txBody>
      </p:sp>
      <p:sp>
        <p:nvSpPr>
          <p:cNvPr id="981" name="Google Shape;981;p79"/>
          <p:cNvSpPr txBox="1"/>
          <p:nvPr/>
        </p:nvSpPr>
        <p:spPr>
          <a:xfrm>
            <a:off x="369600" y="2997963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/>
          </a:p>
        </p:txBody>
      </p:sp>
      <p:sp>
        <p:nvSpPr>
          <p:cNvPr id="982" name="Google Shape;982;p79"/>
          <p:cNvSpPr txBox="1"/>
          <p:nvPr/>
        </p:nvSpPr>
        <p:spPr>
          <a:xfrm>
            <a:off x="6173125" y="3472100"/>
            <a:ext cx="2382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see why I do not have enough paint!</a:t>
            </a:r>
            <a:endParaRPr/>
          </a:p>
        </p:txBody>
      </p:sp>
      <p:pic>
        <p:nvPicPr>
          <p:cNvPr id="983" name="Google Shape;983;p7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035074" y="3446725"/>
            <a:ext cx="2520351" cy="13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219272" y="374260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9"/>
          <p:cNvSpPr txBox="1"/>
          <p:nvPr/>
        </p:nvSpPr>
        <p:spPr>
          <a:xfrm>
            <a:off x="3073475" y="1664100"/>
            <a:ext cx="2790000" cy="585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44.5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45.5</a:t>
            </a:r>
            <a:endParaRPr/>
          </a:p>
        </p:txBody>
      </p:sp>
      <p:sp>
        <p:nvSpPr>
          <p:cNvPr id="986" name="Google Shape;986;p79"/>
          <p:cNvSpPr txBox="1"/>
          <p:nvPr/>
        </p:nvSpPr>
        <p:spPr>
          <a:xfrm>
            <a:off x="1200375" y="3054838"/>
            <a:ext cx="2293200" cy="538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38.25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52.25</a:t>
            </a:r>
            <a:endParaRPr sz="1100"/>
          </a:p>
        </p:txBody>
      </p:sp>
      <p:pic>
        <p:nvPicPr>
          <p:cNvPr id="987" name="Google Shape;987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295" y="758444"/>
            <a:ext cx="1222617" cy="1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993" name="Google Shape;993;p80"/>
          <p:cNvSpPr txBox="1"/>
          <p:nvPr/>
        </p:nvSpPr>
        <p:spPr>
          <a:xfrm>
            <a:off x="2660125" y="851400"/>
            <a:ext cx="5895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paint tin says it covers 45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(rounded to the nearest integer).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0"/>
          <p:cNvSpPr/>
          <p:nvPr/>
        </p:nvSpPr>
        <p:spPr>
          <a:xfrm>
            <a:off x="1155825" y="2591525"/>
            <a:ext cx="2382300" cy="145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3694100" y="2563950"/>
            <a:ext cx="52551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 measured the wall to be 9 m by 5 m (Rounded to the nearest integer)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6" name="Google Shape;996;p80"/>
          <p:cNvCxnSpPr/>
          <p:nvPr/>
        </p:nvCxnSpPr>
        <p:spPr>
          <a:xfrm>
            <a:off x="1158525" y="4190650"/>
            <a:ext cx="237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97" name="Google Shape;997;p80"/>
          <p:cNvCxnSpPr/>
          <p:nvPr/>
        </p:nvCxnSpPr>
        <p:spPr>
          <a:xfrm>
            <a:off x="999850" y="2548650"/>
            <a:ext cx="0" cy="149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98" name="Google Shape;998;p80"/>
          <p:cNvSpPr txBox="1"/>
          <p:nvPr/>
        </p:nvSpPr>
        <p:spPr>
          <a:xfrm>
            <a:off x="1964025" y="4091400"/>
            <a:ext cx="7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/>
          </a:p>
        </p:txBody>
      </p:sp>
      <p:sp>
        <p:nvSpPr>
          <p:cNvPr id="999" name="Google Shape;999;p80"/>
          <p:cNvSpPr txBox="1"/>
          <p:nvPr/>
        </p:nvSpPr>
        <p:spPr>
          <a:xfrm>
            <a:off x="369600" y="2997963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/>
          </a:p>
        </p:txBody>
      </p:sp>
      <p:sp>
        <p:nvSpPr>
          <p:cNvPr id="1000" name="Google Shape;1000;p80"/>
          <p:cNvSpPr txBox="1"/>
          <p:nvPr/>
        </p:nvSpPr>
        <p:spPr>
          <a:xfrm>
            <a:off x="5996275" y="1343125"/>
            <a:ext cx="28236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error interval for the area covered by the tin of paint.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3073475" y="1664100"/>
            <a:ext cx="2790000" cy="585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44.5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45.5</a:t>
            </a:r>
            <a:endParaRPr/>
          </a:p>
        </p:txBody>
      </p:sp>
      <p:sp>
        <p:nvSpPr>
          <p:cNvPr id="1002" name="Google Shape;1002;p80"/>
          <p:cNvSpPr txBox="1"/>
          <p:nvPr/>
        </p:nvSpPr>
        <p:spPr>
          <a:xfrm>
            <a:off x="1200375" y="3054838"/>
            <a:ext cx="2293200" cy="538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38.25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52.25</a:t>
            </a:r>
            <a:endParaRPr sz="1100"/>
          </a:p>
        </p:txBody>
      </p:sp>
      <p:sp>
        <p:nvSpPr>
          <p:cNvPr id="1003" name="Google Shape;1003;p80"/>
          <p:cNvSpPr txBox="1"/>
          <p:nvPr/>
        </p:nvSpPr>
        <p:spPr>
          <a:xfrm>
            <a:off x="3694100" y="3299700"/>
            <a:ext cx="48867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possible area of the wall can be greater than 45.5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this is the reason why the tin of paint did not cover the wall.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4" name="Google Shape;100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295" y="758444"/>
            <a:ext cx="1222617" cy="1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1"/>
          <p:cNvSpPr txBox="1"/>
          <p:nvPr>
            <p:ph idx="1" type="body"/>
          </p:nvPr>
        </p:nvSpPr>
        <p:spPr>
          <a:xfrm>
            <a:off x="324000" y="759300"/>
            <a:ext cx="8237700" cy="10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Work out the error interval for the </a:t>
            </a:r>
            <a:r>
              <a:rPr lang="en-GB">
                <a:solidFill>
                  <a:schemeClr val="accent4"/>
                </a:solidFill>
              </a:rPr>
              <a:t>perimeter</a:t>
            </a:r>
            <a:r>
              <a:rPr lang="en-GB"/>
              <a:t> of these shapes:</a:t>
            </a:r>
            <a:endParaRPr/>
          </a:p>
        </p:txBody>
      </p:sp>
      <p:sp>
        <p:nvSpPr>
          <p:cNvPr id="1010" name="Google Shape;1010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011" name="Google Shape;1011;p81"/>
          <p:cNvSpPr/>
          <p:nvPr/>
        </p:nvSpPr>
        <p:spPr>
          <a:xfrm>
            <a:off x="918175" y="20251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2" name="Google Shape;1012;p81"/>
          <p:cNvCxnSpPr/>
          <p:nvPr/>
        </p:nvCxnSpPr>
        <p:spPr>
          <a:xfrm>
            <a:off x="1759125" y="18363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81"/>
          <p:cNvCxnSpPr/>
          <p:nvPr/>
        </p:nvCxnSpPr>
        <p:spPr>
          <a:xfrm>
            <a:off x="1756975" y="34647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81"/>
          <p:cNvCxnSpPr/>
          <p:nvPr/>
        </p:nvCxnSpPr>
        <p:spPr>
          <a:xfrm>
            <a:off x="699450" y="28639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81"/>
          <p:cNvCxnSpPr/>
          <p:nvPr/>
        </p:nvCxnSpPr>
        <p:spPr>
          <a:xfrm>
            <a:off x="2327800" y="28639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81"/>
          <p:cNvSpPr txBox="1"/>
          <p:nvPr/>
        </p:nvSpPr>
        <p:spPr>
          <a:xfrm>
            <a:off x="411775" y="15447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017" name="Google Shape;1017;p81"/>
          <p:cNvSpPr txBox="1"/>
          <p:nvPr/>
        </p:nvSpPr>
        <p:spPr>
          <a:xfrm>
            <a:off x="2832675" y="1501925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018" name="Google Shape;1018;p81"/>
          <p:cNvSpPr txBox="1"/>
          <p:nvPr/>
        </p:nvSpPr>
        <p:spPr>
          <a:xfrm>
            <a:off x="6028200" y="15447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019" name="Google Shape;1019;p81"/>
          <p:cNvSpPr txBox="1"/>
          <p:nvPr/>
        </p:nvSpPr>
        <p:spPr>
          <a:xfrm>
            <a:off x="583525" y="394285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 (1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/>
          <p:nvPr/>
        </p:nvSpPr>
        <p:spPr>
          <a:xfrm>
            <a:off x="3614238" y="2015150"/>
            <a:ext cx="2296800" cy="1235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1" name="Google Shape;1021;p81"/>
          <p:cNvCxnSpPr/>
          <p:nvPr/>
        </p:nvCxnSpPr>
        <p:spPr>
          <a:xfrm>
            <a:off x="3614238" y="3381713"/>
            <a:ext cx="230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2" name="Google Shape;1022;p81"/>
          <p:cNvSpPr txBox="1"/>
          <p:nvPr/>
        </p:nvSpPr>
        <p:spPr>
          <a:xfrm>
            <a:off x="4629988" y="328142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/>
          </a:p>
        </p:txBody>
      </p:sp>
      <p:cxnSp>
        <p:nvCxnSpPr>
          <p:cNvPr id="1023" name="Google Shape;1023;p81"/>
          <p:cNvCxnSpPr/>
          <p:nvPr/>
        </p:nvCxnSpPr>
        <p:spPr>
          <a:xfrm>
            <a:off x="3478163" y="1990775"/>
            <a:ext cx="0" cy="123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4" name="Google Shape;1024;p81"/>
          <p:cNvSpPr txBox="1"/>
          <p:nvPr/>
        </p:nvSpPr>
        <p:spPr>
          <a:xfrm>
            <a:off x="3072438" y="2392119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/>
          </a:p>
        </p:txBody>
      </p:sp>
      <p:sp>
        <p:nvSpPr>
          <p:cNvPr id="1025" name="Google Shape;1025;p81"/>
          <p:cNvSpPr txBox="1"/>
          <p:nvPr/>
        </p:nvSpPr>
        <p:spPr>
          <a:xfrm>
            <a:off x="3484200" y="3835200"/>
            <a:ext cx="2488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 =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2.3 cm (1 d.p.)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1"/>
          <p:cNvSpPr txBox="1"/>
          <p:nvPr/>
        </p:nvSpPr>
        <p:spPr>
          <a:xfrm>
            <a:off x="3484200" y="42924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 7.9 cm (1 d.p.)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6874825" y="1702750"/>
            <a:ext cx="1518900" cy="1518900"/>
          </a:xfrm>
          <a:prstGeom prst="rtTriangl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8" name="Google Shape;1028;p81"/>
          <p:cNvCxnSpPr/>
          <p:nvPr/>
        </p:nvCxnSpPr>
        <p:spPr>
          <a:xfrm>
            <a:off x="6866275" y="3321925"/>
            <a:ext cx="153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9" name="Google Shape;1029;p81"/>
          <p:cNvSpPr txBox="1"/>
          <p:nvPr/>
        </p:nvSpPr>
        <p:spPr>
          <a:xfrm>
            <a:off x="7401475" y="322165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cxnSp>
        <p:nvCxnSpPr>
          <p:cNvPr id="1030" name="Google Shape;1030;p81"/>
          <p:cNvCxnSpPr/>
          <p:nvPr/>
        </p:nvCxnSpPr>
        <p:spPr>
          <a:xfrm>
            <a:off x="6726900" y="1721650"/>
            <a:ext cx="0" cy="14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1" name="Google Shape;1031;p81"/>
          <p:cNvSpPr txBox="1"/>
          <p:nvPr/>
        </p:nvSpPr>
        <p:spPr>
          <a:xfrm>
            <a:off x="6397375" y="21959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1032" name="Google Shape;1032;p81"/>
          <p:cNvSpPr txBox="1"/>
          <p:nvPr/>
        </p:nvSpPr>
        <p:spPr>
          <a:xfrm>
            <a:off x="7648150" y="196005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cxnSp>
        <p:nvCxnSpPr>
          <p:cNvPr id="1033" name="Google Shape;1033;p81"/>
          <p:cNvCxnSpPr/>
          <p:nvPr/>
        </p:nvCxnSpPr>
        <p:spPr>
          <a:xfrm>
            <a:off x="7035725" y="1655125"/>
            <a:ext cx="1417500" cy="14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4" name="Google Shape;1034;p81"/>
          <p:cNvSpPr txBox="1"/>
          <p:nvPr/>
        </p:nvSpPr>
        <p:spPr>
          <a:xfrm>
            <a:off x="6292800" y="36828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 5 cm (1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1"/>
          <p:cNvSpPr txBox="1"/>
          <p:nvPr/>
        </p:nvSpPr>
        <p:spPr>
          <a:xfrm>
            <a:off x="6292800" y="4098124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 12 cm (2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1"/>
          <p:cNvSpPr txBox="1"/>
          <p:nvPr/>
        </p:nvSpPr>
        <p:spPr>
          <a:xfrm>
            <a:off x="6292800" y="45210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 13 cm (2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2"/>
          <p:cNvSpPr txBox="1"/>
          <p:nvPr>
            <p:ph idx="1" type="body"/>
          </p:nvPr>
        </p:nvSpPr>
        <p:spPr>
          <a:xfrm>
            <a:off x="324000" y="759300"/>
            <a:ext cx="8237700" cy="5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Work out the error interval for the </a:t>
            </a:r>
            <a:r>
              <a:rPr lang="en-GB">
                <a:solidFill>
                  <a:schemeClr val="accent4"/>
                </a:solidFill>
              </a:rPr>
              <a:t>area</a:t>
            </a:r>
            <a:r>
              <a:rPr lang="en-GB"/>
              <a:t> of these shapes:</a:t>
            </a:r>
            <a:endParaRPr/>
          </a:p>
        </p:txBody>
      </p:sp>
      <p:sp>
        <p:nvSpPr>
          <p:cNvPr id="1042" name="Google Shape;104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043" name="Google Shape;1043;p82"/>
          <p:cNvSpPr txBox="1"/>
          <p:nvPr/>
        </p:nvSpPr>
        <p:spPr>
          <a:xfrm>
            <a:off x="564175" y="12399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044" name="Google Shape;1044;p82"/>
          <p:cNvSpPr txBox="1"/>
          <p:nvPr/>
        </p:nvSpPr>
        <p:spPr>
          <a:xfrm>
            <a:off x="5423475" y="1197125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045" name="Google Shape;1045;p82"/>
          <p:cNvSpPr/>
          <p:nvPr/>
        </p:nvSpPr>
        <p:spPr>
          <a:xfrm>
            <a:off x="1070575" y="17203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6" name="Google Shape;1046;p82"/>
          <p:cNvCxnSpPr/>
          <p:nvPr/>
        </p:nvCxnSpPr>
        <p:spPr>
          <a:xfrm>
            <a:off x="1911525" y="15315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82"/>
          <p:cNvCxnSpPr/>
          <p:nvPr/>
        </p:nvCxnSpPr>
        <p:spPr>
          <a:xfrm>
            <a:off x="1909375" y="34647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82"/>
          <p:cNvCxnSpPr/>
          <p:nvPr/>
        </p:nvCxnSpPr>
        <p:spPr>
          <a:xfrm>
            <a:off x="851850" y="25591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82"/>
          <p:cNvCxnSpPr/>
          <p:nvPr/>
        </p:nvCxnSpPr>
        <p:spPr>
          <a:xfrm>
            <a:off x="2556400" y="25591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82"/>
          <p:cNvSpPr txBox="1"/>
          <p:nvPr/>
        </p:nvSpPr>
        <p:spPr>
          <a:xfrm>
            <a:off x="735925" y="394285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4.3 cm (1 d.p.)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2"/>
          <p:cNvSpPr txBox="1"/>
          <p:nvPr/>
        </p:nvSpPr>
        <p:spPr>
          <a:xfrm>
            <a:off x="5759400" y="36828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=  5 cm (1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2"/>
          <p:cNvSpPr txBox="1"/>
          <p:nvPr/>
        </p:nvSpPr>
        <p:spPr>
          <a:xfrm>
            <a:off x="5759400" y="4098124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 12 cm (2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2"/>
          <p:cNvSpPr txBox="1"/>
          <p:nvPr/>
        </p:nvSpPr>
        <p:spPr>
          <a:xfrm>
            <a:off x="5759400" y="45210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=  13 cm (2 s.f.)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/>
          <p:nvPr/>
        </p:nvSpPr>
        <p:spPr>
          <a:xfrm>
            <a:off x="6036300" y="1723075"/>
            <a:ext cx="1518900" cy="1518900"/>
          </a:xfrm>
          <a:prstGeom prst="rtTriangl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5" name="Google Shape;1055;p82"/>
          <p:cNvCxnSpPr/>
          <p:nvPr/>
        </p:nvCxnSpPr>
        <p:spPr>
          <a:xfrm>
            <a:off x="6027750" y="3342250"/>
            <a:ext cx="153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6" name="Google Shape;1056;p82"/>
          <p:cNvSpPr txBox="1"/>
          <p:nvPr/>
        </p:nvSpPr>
        <p:spPr>
          <a:xfrm>
            <a:off x="6562950" y="32419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cxnSp>
        <p:nvCxnSpPr>
          <p:cNvPr id="1057" name="Google Shape;1057;p82"/>
          <p:cNvCxnSpPr/>
          <p:nvPr/>
        </p:nvCxnSpPr>
        <p:spPr>
          <a:xfrm>
            <a:off x="5888375" y="1741975"/>
            <a:ext cx="0" cy="14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8" name="Google Shape;1058;p82"/>
          <p:cNvSpPr txBox="1"/>
          <p:nvPr/>
        </p:nvSpPr>
        <p:spPr>
          <a:xfrm>
            <a:off x="5558850" y="221630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1059" name="Google Shape;1059;p82"/>
          <p:cNvSpPr txBox="1"/>
          <p:nvPr/>
        </p:nvSpPr>
        <p:spPr>
          <a:xfrm>
            <a:off x="6809625" y="19803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cxnSp>
        <p:nvCxnSpPr>
          <p:cNvPr id="1060" name="Google Shape;1060;p82"/>
          <p:cNvCxnSpPr/>
          <p:nvPr/>
        </p:nvCxnSpPr>
        <p:spPr>
          <a:xfrm>
            <a:off x="6197200" y="1675450"/>
            <a:ext cx="1417500" cy="14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3"/>
          <p:cNvSpPr txBox="1"/>
          <p:nvPr>
            <p:ph idx="1" type="body"/>
          </p:nvPr>
        </p:nvSpPr>
        <p:spPr>
          <a:xfrm>
            <a:off x="324000" y="759300"/>
            <a:ext cx="8237700" cy="13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Given the error interval of the </a:t>
            </a:r>
            <a:r>
              <a:rPr lang="en-GB" sz="2000">
                <a:solidFill>
                  <a:schemeClr val="accent4"/>
                </a:solidFill>
              </a:rPr>
              <a:t>area</a:t>
            </a:r>
            <a:r>
              <a:rPr lang="en-GB" sz="2000"/>
              <a:t>, can you work out the rounded lengths and the degree of accuracy?</a:t>
            </a:r>
            <a:endParaRPr sz="2000"/>
          </a:p>
        </p:txBody>
      </p:sp>
      <p:sp>
        <p:nvSpPr>
          <p:cNvPr id="1066" name="Google Shape;1066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067" name="Google Shape;1067;p83"/>
          <p:cNvSpPr/>
          <p:nvPr/>
        </p:nvSpPr>
        <p:spPr>
          <a:xfrm>
            <a:off x="765775" y="19489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8" name="Google Shape;1068;p83"/>
          <p:cNvCxnSpPr/>
          <p:nvPr/>
        </p:nvCxnSpPr>
        <p:spPr>
          <a:xfrm>
            <a:off x="1606725" y="17601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83"/>
          <p:cNvCxnSpPr/>
          <p:nvPr/>
        </p:nvCxnSpPr>
        <p:spPr>
          <a:xfrm>
            <a:off x="1604575" y="34647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83"/>
          <p:cNvCxnSpPr/>
          <p:nvPr/>
        </p:nvCxnSpPr>
        <p:spPr>
          <a:xfrm>
            <a:off x="547050" y="27877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83"/>
          <p:cNvCxnSpPr/>
          <p:nvPr/>
        </p:nvCxnSpPr>
        <p:spPr>
          <a:xfrm>
            <a:off x="2175400" y="27877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83"/>
          <p:cNvSpPr txBox="1"/>
          <p:nvPr/>
        </p:nvSpPr>
        <p:spPr>
          <a:xfrm>
            <a:off x="2720738" y="1848600"/>
            <a:ext cx="2033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3"/>
          <p:cNvSpPr txBox="1"/>
          <p:nvPr/>
        </p:nvSpPr>
        <p:spPr>
          <a:xfrm>
            <a:off x="765775" y="4108275"/>
            <a:ext cx="3924900" cy="33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68.0625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69.7225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3"/>
          <p:cNvSpPr/>
          <p:nvPr/>
        </p:nvSpPr>
        <p:spPr>
          <a:xfrm>
            <a:off x="2790300" y="2485324"/>
            <a:ext cx="2033700" cy="28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4"/>
          <p:cNvSpPr txBox="1"/>
          <p:nvPr>
            <p:ph idx="1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Work out the error interval for the perimeter of these shapes:</a:t>
            </a:r>
            <a:endParaRPr/>
          </a:p>
        </p:txBody>
      </p:sp>
      <p:sp>
        <p:nvSpPr>
          <p:cNvPr id="1080" name="Google Shape;1080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081" name="Google Shape;1081;p84"/>
          <p:cNvSpPr/>
          <p:nvPr/>
        </p:nvSpPr>
        <p:spPr>
          <a:xfrm>
            <a:off x="918175" y="16441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2" name="Google Shape;1082;p84"/>
          <p:cNvCxnSpPr/>
          <p:nvPr/>
        </p:nvCxnSpPr>
        <p:spPr>
          <a:xfrm>
            <a:off x="1759125" y="14553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84"/>
          <p:cNvCxnSpPr/>
          <p:nvPr/>
        </p:nvCxnSpPr>
        <p:spPr>
          <a:xfrm>
            <a:off x="1756975" y="30837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84"/>
          <p:cNvCxnSpPr/>
          <p:nvPr/>
        </p:nvCxnSpPr>
        <p:spPr>
          <a:xfrm>
            <a:off x="699450" y="24829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84"/>
          <p:cNvCxnSpPr/>
          <p:nvPr/>
        </p:nvCxnSpPr>
        <p:spPr>
          <a:xfrm>
            <a:off x="2327800" y="24829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84"/>
          <p:cNvSpPr txBox="1"/>
          <p:nvPr/>
        </p:nvSpPr>
        <p:spPr>
          <a:xfrm>
            <a:off x="411775" y="15447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087" name="Google Shape;1087;p84"/>
          <p:cNvSpPr txBox="1"/>
          <p:nvPr/>
        </p:nvSpPr>
        <p:spPr>
          <a:xfrm>
            <a:off x="2832675" y="1501925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088" name="Google Shape;1088;p84"/>
          <p:cNvSpPr txBox="1"/>
          <p:nvPr/>
        </p:nvSpPr>
        <p:spPr>
          <a:xfrm>
            <a:off x="6028200" y="15447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089" name="Google Shape;1089;p84"/>
          <p:cNvSpPr txBox="1"/>
          <p:nvPr/>
        </p:nvSpPr>
        <p:spPr>
          <a:xfrm>
            <a:off x="345000" y="344972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4"/>
          <p:cNvSpPr/>
          <p:nvPr/>
        </p:nvSpPr>
        <p:spPr>
          <a:xfrm>
            <a:off x="3614251" y="1557950"/>
            <a:ext cx="2414100" cy="1235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1" name="Google Shape;1091;p84"/>
          <p:cNvCxnSpPr/>
          <p:nvPr/>
        </p:nvCxnSpPr>
        <p:spPr>
          <a:xfrm>
            <a:off x="3614238" y="2924513"/>
            <a:ext cx="2402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2" name="Google Shape;1092;p84"/>
          <p:cNvSpPr txBox="1"/>
          <p:nvPr/>
        </p:nvSpPr>
        <p:spPr>
          <a:xfrm>
            <a:off x="4629988" y="282422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/>
          </a:p>
        </p:txBody>
      </p:sp>
      <p:cxnSp>
        <p:nvCxnSpPr>
          <p:cNvPr id="1093" name="Google Shape;1093;p84"/>
          <p:cNvCxnSpPr/>
          <p:nvPr/>
        </p:nvCxnSpPr>
        <p:spPr>
          <a:xfrm>
            <a:off x="3478163" y="1533575"/>
            <a:ext cx="0" cy="123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4" name="Google Shape;1094;p84"/>
          <p:cNvSpPr txBox="1"/>
          <p:nvPr/>
        </p:nvSpPr>
        <p:spPr>
          <a:xfrm>
            <a:off x="3072438" y="1934919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/>
          </a:p>
        </p:txBody>
      </p:sp>
      <p:sp>
        <p:nvSpPr>
          <p:cNvPr id="1095" name="Google Shape;1095;p84"/>
          <p:cNvSpPr txBox="1"/>
          <p:nvPr/>
        </p:nvSpPr>
        <p:spPr>
          <a:xfrm>
            <a:off x="3289950" y="3225600"/>
            <a:ext cx="2488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2.25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2.35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4"/>
          <p:cNvSpPr txBox="1"/>
          <p:nvPr/>
        </p:nvSpPr>
        <p:spPr>
          <a:xfrm>
            <a:off x="3427200" y="356552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7.85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7.95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4"/>
          <p:cNvSpPr/>
          <p:nvPr/>
        </p:nvSpPr>
        <p:spPr>
          <a:xfrm>
            <a:off x="6874825" y="1474150"/>
            <a:ext cx="1518900" cy="1518900"/>
          </a:xfrm>
          <a:prstGeom prst="rtTriangl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8" name="Google Shape;1098;p84"/>
          <p:cNvCxnSpPr/>
          <p:nvPr/>
        </p:nvCxnSpPr>
        <p:spPr>
          <a:xfrm>
            <a:off x="6866275" y="3093325"/>
            <a:ext cx="153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9" name="Google Shape;1099;p84"/>
          <p:cNvSpPr txBox="1"/>
          <p:nvPr/>
        </p:nvSpPr>
        <p:spPr>
          <a:xfrm>
            <a:off x="7401475" y="299305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cxnSp>
        <p:nvCxnSpPr>
          <p:cNvPr id="1100" name="Google Shape;1100;p84"/>
          <p:cNvCxnSpPr/>
          <p:nvPr/>
        </p:nvCxnSpPr>
        <p:spPr>
          <a:xfrm>
            <a:off x="6726900" y="1493050"/>
            <a:ext cx="0" cy="14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1" name="Google Shape;1101;p84"/>
          <p:cNvSpPr txBox="1"/>
          <p:nvPr/>
        </p:nvSpPr>
        <p:spPr>
          <a:xfrm>
            <a:off x="6397375" y="19673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1102" name="Google Shape;1102;p84"/>
          <p:cNvSpPr txBox="1"/>
          <p:nvPr/>
        </p:nvSpPr>
        <p:spPr>
          <a:xfrm>
            <a:off x="7648150" y="173145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cxnSp>
        <p:nvCxnSpPr>
          <p:cNvPr id="1103" name="Google Shape;1103;p84"/>
          <p:cNvCxnSpPr/>
          <p:nvPr/>
        </p:nvCxnSpPr>
        <p:spPr>
          <a:xfrm>
            <a:off x="7035725" y="1426525"/>
            <a:ext cx="1417500" cy="14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4" name="Google Shape;1104;p84"/>
          <p:cNvSpPr txBox="1"/>
          <p:nvPr/>
        </p:nvSpPr>
        <p:spPr>
          <a:xfrm>
            <a:off x="6369000" y="33018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5.5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4"/>
          <p:cNvSpPr txBox="1"/>
          <p:nvPr/>
        </p:nvSpPr>
        <p:spPr>
          <a:xfrm>
            <a:off x="6369000" y="3640924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12.5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4"/>
          <p:cNvSpPr txBox="1"/>
          <p:nvPr/>
        </p:nvSpPr>
        <p:spPr>
          <a:xfrm>
            <a:off x="6369000" y="39876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13.5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4"/>
          <p:cNvSpPr txBox="1"/>
          <p:nvPr/>
        </p:nvSpPr>
        <p:spPr>
          <a:xfrm>
            <a:off x="508331" y="4150713"/>
            <a:ext cx="19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4"/>
          <p:cNvSpPr txBox="1"/>
          <p:nvPr/>
        </p:nvSpPr>
        <p:spPr>
          <a:xfrm>
            <a:off x="345000" y="387032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 × 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3.5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4"/>
          <p:cNvSpPr txBox="1"/>
          <p:nvPr/>
        </p:nvSpPr>
        <p:spPr>
          <a:xfrm>
            <a:off x="2443800" y="3897225"/>
            <a:ext cx="4014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2(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2.25+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7.85)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2(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2.35+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7.95)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4"/>
          <p:cNvSpPr txBox="1"/>
          <p:nvPr/>
        </p:nvSpPr>
        <p:spPr>
          <a:xfrm>
            <a:off x="2944775" y="4229100"/>
            <a:ext cx="2972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20.2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20.6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4"/>
          <p:cNvSpPr txBox="1"/>
          <p:nvPr/>
        </p:nvSpPr>
        <p:spPr>
          <a:xfrm>
            <a:off x="5953625" y="4274776"/>
            <a:ext cx="2972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31.5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5"/>
          <p:cNvSpPr txBox="1"/>
          <p:nvPr>
            <p:ph idx="1" type="body"/>
          </p:nvPr>
        </p:nvSpPr>
        <p:spPr>
          <a:xfrm>
            <a:off x="324000" y="759300"/>
            <a:ext cx="8237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error interval for the area of these shapes:</a:t>
            </a:r>
            <a:endParaRPr/>
          </a:p>
        </p:txBody>
      </p:sp>
      <p:sp>
        <p:nvSpPr>
          <p:cNvPr id="1117" name="Google Shape;1117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118" name="Google Shape;1118;p85"/>
          <p:cNvSpPr txBox="1"/>
          <p:nvPr/>
        </p:nvSpPr>
        <p:spPr>
          <a:xfrm>
            <a:off x="411775" y="1239950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119" name="Google Shape;1119;p85"/>
          <p:cNvSpPr txBox="1"/>
          <p:nvPr/>
        </p:nvSpPr>
        <p:spPr>
          <a:xfrm>
            <a:off x="3061275" y="1197125"/>
            <a:ext cx="50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120" name="Google Shape;1120;p85"/>
          <p:cNvSpPr/>
          <p:nvPr/>
        </p:nvSpPr>
        <p:spPr>
          <a:xfrm>
            <a:off x="918175" y="17203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1" name="Google Shape;1121;p85"/>
          <p:cNvCxnSpPr/>
          <p:nvPr/>
        </p:nvCxnSpPr>
        <p:spPr>
          <a:xfrm>
            <a:off x="1759125" y="15315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85"/>
          <p:cNvCxnSpPr/>
          <p:nvPr/>
        </p:nvCxnSpPr>
        <p:spPr>
          <a:xfrm>
            <a:off x="1756975" y="32054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85"/>
          <p:cNvCxnSpPr/>
          <p:nvPr/>
        </p:nvCxnSpPr>
        <p:spPr>
          <a:xfrm>
            <a:off x="699450" y="25591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85"/>
          <p:cNvCxnSpPr/>
          <p:nvPr/>
        </p:nvCxnSpPr>
        <p:spPr>
          <a:xfrm>
            <a:off x="2327800" y="25591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85"/>
          <p:cNvSpPr/>
          <p:nvPr/>
        </p:nvSpPr>
        <p:spPr>
          <a:xfrm>
            <a:off x="3674100" y="1723075"/>
            <a:ext cx="1518900" cy="1518900"/>
          </a:xfrm>
          <a:prstGeom prst="rtTriangl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6" name="Google Shape;1126;p85"/>
          <p:cNvCxnSpPr/>
          <p:nvPr/>
        </p:nvCxnSpPr>
        <p:spPr>
          <a:xfrm>
            <a:off x="3665550" y="3342250"/>
            <a:ext cx="153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7" name="Google Shape;1127;p85"/>
          <p:cNvSpPr txBox="1"/>
          <p:nvPr/>
        </p:nvSpPr>
        <p:spPr>
          <a:xfrm>
            <a:off x="4200750" y="32419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cxnSp>
        <p:nvCxnSpPr>
          <p:cNvPr id="1128" name="Google Shape;1128;p85"/>
          <p:cNvCxnSpPr/>
          <p:nvPr/>
        </p:nvCxnSpPr>
        <p:spPr>
          <a:xfrm>
            <a:off x="3526175" y="1741975"/>
            <a:ext cx="0" cy="14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9" name="Google Shape;1129;p85"/>
          <p:cNvSpPr txBox="1"/>
          <p:nvPr/>
        </p:nvSpPr>
        <p:spPr>
          <a:xfrm>
            <a:off x="3196650" y="2216300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1130" name="Google Shape;1130;p85"/>
          <p:cNvSpPr txBox="1"/>
          <p:nvPr/>
        </p:nvSpPr>
        <p:spPr>
          <a:xfrm>
            <a:off x="4447425" y="1980375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cxnSp>
        <p:nvCxnSpPr>
          <p:cNvPr id="1131" name="Google Shape;1131;p85"/>
          <p:cNvCxnSpPr/>
          <p:nvPr/>
        </p:nvCxnSpPr>
        <p:spPr>
          <a:xfrm>
            <a:off x="3835000" y="1675450"/>
            <a:ext cx="1417500" cy="14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2" name="Google Shape;1132;p85"/>
          <p:cNvSpPr txBox="1"/>
          <p:nvPr/>
        </p:nvSpPr>
        <p:spPr>
          <a:xfrm>
            <a:off x="130575" y="4320000"/>
            <a:ext cx="295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18.0625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18.9225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5"/>
          <p:cNvSpPr txBox="1"/>
          <p:nvPr/>
        </p:nvSpPr>
        <p:spPr>
          <a:xfrm>
            <a:off x="437400" y="3706563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4.25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4.35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5"/>
          <p:cNvSpPr txBox="1"/>
          <p:nvPr/>
        </p:nvSpPr>
        <p:spPr>
          <a:xfrm>
            <a:off x="439575" y="4076688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4.25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4.35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 txBox="1"/>
          <p:nvPr/>
        </p:nvSpPr>
        <p:spPr>
          <a:xfrm>
            <a:off x="5739738" y="187027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5.5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 txBox="1"/>
          <p:nvPr/>
        </p:nvSpPr>
        <p:spPr>
          <a:xfrm>
            <a:off x="5739738" y="2209399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12.5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 txBox="1"/>
          <p:nvPr/>
        </p:nvSpPr>
        <p:spPr>
          <a:xfrm>
            <a:off x="5529475" y="2719075"/>
            <a:ext cx="31827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 area : 0.5 × 4.5 × 11.5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area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 × 5.5 × 12.5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25.875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34.375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Given the error interval of the </a:t>
            </a:r>
            <a:r>
              <a:rPr lang="en-GB" sz="2000">
                <a:solidFill>
                  <a:schemeClr val="accent4"/>
                </a:solidFill>
              </a:rPr>
              <a:t>area</a:t>
            </a:r>
            <a:r>
              <a:rPr lang="en-GB" sz="2000"/>
              <a:t>, can you work out the rounded lengths and the degree of accuracy?</a:t>
            </a:r>
            <a:endParaRPr sz="2000"/>
          </a:p>
        </p:txBody>
      </p:sp>
      <p:sp>
        <p:nvSpPr>
          <p:cNvPr id="1143" name="Google Shape;1143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144" name="Google Shape;1144;p86"/>
          <p:cNvSpPr/>
          <p:nvPr/>
        </p:nvSpPr>
        <p:spPr>
          <a:xfrm>
            <a:off x="765775" y="1948925"/>
            <a:ext cx="1677600" cy="1677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5" name="Google Shape;1145;p86"/>
          <p:cNvCxnSpPr/>
          <p:nvPr/>
        </p:nvCxnSpPr>
        <p:spPr>
          <a:xfrm>
            <a:off x="1606725" y="176015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86"/>
          <p:cNvCxnSpPr/>
          <p:nvPr/>
        </p:nvCxnSpPr>
        <p:spPr>
          <a:xfrm>
            <a:off x="1604575" y="3464700"/>
            <a:ext cx="0" cy="36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86"/>
          <p:cNvCxnSpPr/>
          <p:nvPr/>
        </p:nvCxnSpPr>
        <p:spPr>
          <a:xfrm>
            <a:off x="547050" y="27877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86"/>
          <p:cNvCxnSpPr/>
          <p:nvPr/>
        </p:nvCxnSpPr>
        <p:spPr>
          <a:xfrm>
            <a:off x="2175400" y="2787725"/>
            <a:ext cx="44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9" name="Google Shape;1149;p86"/>
          <p:cNvSpPr txBox="1"/>
          <p:nvPr/>
        </p:nvSpPr>
        <p:spPr>
          <a:xfrm>
            <a:off x="2720738" y="1848600"/>
            <a:ext cx="2033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8.3 cm (1 d.p)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6"/>
          <p:cNvSpPr txBox="1"/>
          <p:nvPr/>
        </p:nvSpPr>
        <p:spPr>
          <a:xfrm>
            <a:off x="765775" y="4108275"/>
            <a:ext cx="3924900" cy="33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68.0625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69.7225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6"/>
          <p:cNvSpPr txBox="1"/>
          <p:nvPr/>
        </p:nvSpPr>
        <p:spPr>
          <a:xfrm>
            <a:off x="2763463" y="32583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8.25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8.35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2" name="Google Shape;1152;p86"/>
          <p:cNvGrpSpPr/>
          <p:nvPr/>
        </p:nvGrpSpPr>
        <p:grpSpPr>
          <a:xfrm>
            <a:off x="2587895" y="2852325"/>
            <a:ext cx="2464580" cy="347513"/>
            <a:chOff x="2587895" y="2623725"/>
            <a:chExt cx="2464580" cy="347513"/>
          </a:xfrm>
        </p:grpSpPr>
        <p:sp>
          <p:nvSpPr>
            <p:cNvPr id="1153" name="Google Shape;1153;p86"/>
            <p:cNvSpPr txBox="1"/>
            <p:nvPr/>
          </p:nvSpPr>
          <p:spPr>
            <a:xfrm>
              <a:off x="3134500" y="2623725"/>
              <a:ext cx="141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≤ 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l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&lt;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sqrt{68.0625}&quot;&gt;&lt;msqrt&gt;&lt;mn&gt;68.0625&lt;/mn&gt;&lt;/msqrt&gt;&lt;/math&gt;" id="1154" name="Google Shape;1154;p86" title="the square root of 68.06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87895" y="2690930"/>
              <a:ext cx="881525" cy="271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sqrt{69.7225}&quot;&gt;&lt;msqrt&gt;&lt;mn&gt;69.7225&lt;/mn&gt;&lt;/msqrt&gt;&lt;/math&gt;" id="1155" name="Google Shape;1155;p86" title="the square root of 69.72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70950" y="2700000"/>
              <a:ext cx="881525" cy="2712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6" name="Google Shape;1156;p86"/>
          <p:cNvSpPr/>
          <p:nvPr/>
        </p:nvSpPr>
        <p:spPr>
          <a:xfrm>
            <a:off x="2765575" y="2445299"/>
            <a:ext cx="2033700" cy="28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(addition and multiplication)</a:t>
            </a:r>
            <a:endParaRPr/>
          </a:p>
        </p:txBody>
      </p:sp>
      <p:sp>
        <p:nvSpPr>
          <p:cNvPr id="1162" name="Google Shape;1162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sp>
        <p:nvSpPr>
          <p:cNvPr id="1163" name="Google Shape;1163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  <p:pic>
        <p:nvPicPr>
          <p:cNvPr id="1164" name="Google Shape;116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11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When using subtraction, it is </a:t>
            </a:r>
            <a:r>
              <a:rPr lang="en-GB" sz="2100"/>
              <a:t>important</a:t>
            </a:r>
            <a:r>
              <a:rPr lang="en-GB" sz="2100"/>
              <a:t> to know when the </a:t>
            </a:r>
            <a:r>
              <a:rPr lang="en-GB" sz="2100"/>
              <a:t>largest</a:t>
            </a:r>
            <a:r>
              <a:rPr lang="en-GB" sz="2100"/>
              <a:t> values and smallest values can be calculated.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170" name="Google Shape;117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171" name="Google Shape;117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00" y="1765800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88"/>
          <p:cNvSpPr txBox="1"/>
          <p:nvPr/>
        </p:nvSpPr>
        <p:spPr>
          <a:xfrm>
            <a:off x="3024500" y="1543800"/>
            <a:ext cx="5795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a jug was full to 100 ml (to the nearest integer). Laura drank 30 ml to the nearest ml.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3" name="Google Shape;117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519249" y="316297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88"/>
          <p:cNvSpPr txBox="1"/>
          <p:nvPr/>
        </p:nvSpPr>
        <p:spPr>
          <a:xfrm>
            <a:off x="2591855" y="4047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5" name="Google Shape;1175;p88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3498270" y="2662338"/>
            <a:ext cx="1687798" cy="166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8"/>
          <p:cNvSpPr txBox="1"/>
          <p:nvPr/>
        </p:nvSpPr>
        <p:spPr>
          <a:xfrm>
            <a:off x="3624205" y="2795675"/>
            <a:ext cx="183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water left is 100.5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000"/>
          </a:p>
        </p:txBody>
      </p:sp>
      <p:pic>
        <p:nvPicPr>
          <p:cNvPr id="1177" name="Google Shape;1177;p88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5910448" y="2378475"/>
            <a:ext cx="2816502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8"/>
          <p:cNvSpPr txBox="1"/>
          <p:nvPr/>
        </p:nvSpPr>
        <p:spPr>
          <a:xfrm>
            <a:off x="6032331" y="2410769"/>
            <a:ext cx="275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water left is 99.5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29.5</a:t>
            </a:r>
            <a:endParaRPr sz="1000"/>
          </a:p>
        </p:txBody>
      </p:sp>
      <p:pic>
        <p:nvPicPr>
          <p:cNvPr id="1179" name="Google Shape;117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7145" y="255864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8"/>
          <p:cNvSpPr txBox="1"/>
          <p:nvPr/>
        </p:nvSpPr>
        <p:spPr>
          <a:xfrm>
            <a:off x="5127018" y="3591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1" name="Google Shape;1181;p88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 rot="10800000">
            <a:off x="5103050" y="3946225"/>
            <a:ext cx="3017748" cy="9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88"/>
          <p:cNvSpPr txBox="1"/>
          <p:nvPr/>
        </p:nvSpPr>
        <p:spPr>
          <a:xfrm flipH="1">
            <a:off x="5137549" y="4052875"/>
            <a:ext cx="309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water left is 99.5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000"/>
          </a:p>
        </p:txBody>
      </p:sp>
      <p:pic>
        <p:nvPicPr>
          <p:cNvPr id="1183" name="Google Shape;1183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8473" y="326992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88"/>
          <p:cNvSpPr txBox="1"/>
          <p:nvPr/>
        </p:nvSpPr>
        <p:spPr>
          <a:xfrm>
            <a:off x="7899825" y="40528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8"/>
          <p:cNvSpPr txBox="1"/>
          <p:nvPr>
            <p:ph idx="1" type="body"/>
          </p:nvPr>
        </p:nvSpPr>
        <p:spPr>
          <a:xfrm>
            <a:off x="366900" y="4486125"/>
            <a:ext cx="3094800" cy="4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Who is correct? 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57000" y="3219375"/>
            <a:ext cx="3074826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9"/>
          <p:cNvSpPr txBox="1"/>
          <p:nvPr>
            <p:ph idx="1" type="body"/>
          </p:nvPr>
        </p:nvSpPr>
        <p:spPr>
          <a:xfrm>
            <a:off x="3169825" y="1204175"/>
            <a:ext cx="5323500" cy="4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Izzy’s </a:t>
            </a:r>
            <a:r>
              <a:rPr lang="en-GB" sz="2000"/>
              <a:t>calculation would give 70 ml</a:t>
            </a:r>
            <a:endParaRPr sz="2000"/>
          </a:p>
        </p:txBody>
      </p:sp>
      <p:sp>
        <p:nvSpPr>
          <p:cNvPr id="1192" name="Google Shape;119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193" name="Google Shape;119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9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5" name="Google Shape;1195;p8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345195" y="657588"/>
            <a:ext cx="1687798" cy="166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9"/>
          <p:cNvSpPr txBox="1"/>
          <p:nvPr/>
        </p:nvSpPr>
        <p:spPr>
          <a:xfrm>
            <a:off x="1471130" y="790925"/>
            <a:ext cx="183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amount of water left is 100.5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000"/>
          </a:p>
        </p:txBody>
      </p:sp>
      <p:pic>
        <p:nvPicPr>
          <p:cNvPr id="1197" name="Google Shape;1197;p8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271648" y="2388825"/>
            <a:ext cx="2816502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9"/>
          <p:cNvSpPr txBox="1"/>
          <p:nvPr/>
        </p:nvSpPr>
        <p:spPr>
          <a:xfrm>
            <a:off x="1393531" y="2421119"/>
            <a:ext cx="275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amount of water left is 99.5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29.5</a:t>
            </a:r>
            <a:endParaRPr sz="1000"/>
          </a:p>
        </p:txBody>
      </p:sp>
      <p:pic>
        <p:nvPicPr>
          <p:cNvPr id="1199" name="Google Shape;119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345" y="256899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9"/>
          <p:cNvSpPr txBox="1"/>
          <p:nvPr/>
        </p:nvSpPr>
        <p:spPr>
          <a:xfrm>
            <a:off x="488218" y="36019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9"/>
          <p:cNvSpPr txBox="1"/>
          <p:nvPr>
            <p:ph idx="1" type="body"/>
          </p:nvPr>
        </p:nvSpPr>
        <p:spPr>
          <a:xfrm>
            <a:off x="4241950" y="2585925"/>
            <a:ext cx="5323500" cy="4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</a:t>
            </a:r>
            <a:r>
              <a:rPr lang="en-GB" sz="2000"/>
              <a:t>’s calculation would give 70 ml</a:t>
            </a:r>
            <a:endParaRPr sz="2000"/>
          </a:p>
        </p:txBody>
      </p:sp>
      <p:pic>
        <p:nvPicPr>
          <p:cNvPr id="1202" name="Google Shape;1202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64273" y="3375000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9"/>
          <p:cNvSpPr txBox="1"/>
          <p:nvPr/>
        </p:nvSpPr>
        <p:spPr>
          <a:xfrm>
            <a:off x="7455625" y="41579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9"/>
          <p:cNvSpPr txBox="1"/>
          <p:nvPr/>
        </p:nvSpPr>
        <p:spPr>
          <a:xfrm flipH="1">
            <a:off x="4560900" y="3219375"/>
            <a:ext cx="297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amount of water left is 99.5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000"/>
          </a:p>
        </p:txBody>
      </p:sp>
      <p:sp>
        <p:nvSpPr>
          <p:cNvPr id="1205" name="Google Shape;1205;p89"/>
          <p:cNvSpPr txBox="1"/>
          <p:nvPr>
            <p:ph idx="1" type="body"/>
          </p:nvPr>
        </p:nvSpPr>
        <p:spPr>
          <a:xfrm>
            <a:off x="548350" y="4139075"/>
            <a:ext cx="5323500" cy="4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Sofia’s </a:t>
            </a:r>
            <a:r>
              <a:rPr lang="en-GB" sz="2000"/>
              <a:t>calculation would give 69 ml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Google Shape;1210;p9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384375" y="829325"/>
            <a:ext cx="3222426" cy="15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212" name="Google Shape;121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0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4" name="Google Shape;1214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345204" y="657600"/>
            <a:ext cx="2403973" cy="166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0"/>
          <p:cNvSpPr txBox="1"/>
          <p:nvPr/>
        </p:nvSpPr>
        <p:spPr>
          <a:xfrm>
            <a:off x="1579574" y="899375"/>
            <a:ext cx="216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did you work that out Sofia?</a:t>
            </a:r>
            <a:endParaRPr sz="1000"/>
          </a:p>
        </p:txBody>
      </p:sp>
      <p:pic>
        <p:nvPicPr>
          <p:cNvPr id="1216" name="Google Shape;1216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2673" y="101947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0"/>
          <p:cNvSpPr txBox="1"/>
          <p:nvPr/>
        </p:nvSpPr>
        <p:spPr>
          <a:xfrm>
            <a:off x="7714025" y="1802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0"/>
          <p:cNvSpPr txBox="1"/>
          <p:nvPr/>
        </p:nvSpPr>
        <p:spPr>
          <a:xfrm flipH="1">
            <a:off x="4484700" y="843388"/>
            <a:ext cx="297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Good question! What is the error interval for the amount of water that was in the jug?</a:t>
            </a:r>
            <a:endParaRPr sz="1000"/>
          </a:p>
        </p:txBody>
      </p:sp>
      <p:pic>
        <p:nvPicPr>
          <p:cNvPr id="1219" name="Google Shape;1219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000" y="2443725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90"/>
          <p:cNvSpPr txBox="1"/>
          <p:nvPr/>
        </p:nvSpPr>
        <p:spPr>
          <a:xfrm>
            <a:off x="3974550" y="23217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Water in jug originally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0"/>
          <p:cNvSpPr txBox="1"/>
          <p:nvPr/>
        </p:nvSpPr>
        <p:spPr>
          <a:xfrm>
            <a:off x="1238850" y="928038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0"/>
          <p:cNvSpPr txBox="1"/>
          <p:nvPr/>
        </p:nvSpPr>
        <p:spPr>
          <a:xfrm flipH="1">
            <a:off x="4450888" y="981988"/>
            <a:ext cx="297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error interval for the amount drank by Laura?</a:t>
            </a:r>
            <a:endParaRPr sz="1000"/>
          </a:p>
        </p:txBody>
      </p:sp>
      <p:sp>
        <p:nvSpPr>
          <p:cNvPr id="1223" name="Google Shape;1223;p90"/>
          <p:cNvSpPr txBox="1"/>
          <p:nvPr/>
        </p:nvSpPr>
        <p:spPr>
          <a:xfrm>
            <a:off x="1002433" y="923129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0"/>
          <p:cNvSpPr txBox="1"/>
          <p:nvPr/>
        </p:nvSpPr>
        <p:spPr>
          <a:xfrm>
            <a:off x="3833400" y="3266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drank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Google Shape;1229;p91"/>
          <p:cNvGrpSpPr/>
          <p:nvPr/>
        </p:nvGrpSpPr>
        <p:grpSpPr>
          <a:xfrm>
            <a:off x="1956144" y="863873"/>
            <a:ext cx="5627236" cy="1117128"/>
            <a:chOff x="2262000" y="222350"/>
            <a:chExt cx="5627236" cy="921799"/>
          </a:xfrm>
        </p:grpSpPr>
        <p:pic>
          <p:nvPicPr>
            <p:cNvPr id="1230" name="Google Shape;1230;p91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1" name="Google Shape;1231;p91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2" name="Google Shape;1232;p91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3" name="Google Shape;1233;p91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91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5" name="Google Shape;1235;p91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6" name="Google Shape;123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237" name="Google Shape;123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1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9" name="Google Shape;123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2673" y="101947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1"/>
          <p:cNvSpPr txBox="1"/>
          <p:nvPr/>
        </p:nvSpPr>
        <p:spPr>
          <a:xfrm>
            <a:off x="7714025" y="1802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1" name="Google Shape;1241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000" y="2443725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91"/>
          <p:cNvSpPr txBox="1"/>
          <p:nvPr/>
        </p:nvSpPr>
        <p:spPr>
          <a:xfrm flipH="1">
            <a:off x="2054475" y="1019463"/>
            <a:ext cx="52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work out the smallest remaining it is the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1"/>
          <p:cNvSpPr txBox="1"/>
          <p:nvPr/>
        </p:nvSpPr>
        <p:spPr>
          <a:xfrm>
            <a:off x="3974550" y="23217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Water in jug originally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1"/>
          <p:cNvSpPr txBox="1"/>
          <p:nvPr/>
        </p:nvSpPr>
        <p:spPr>
          <a:xfrm>
            <a:off x="3833400" y="3266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drank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1"/>
          <p:cNvSpPr/>
          <p:nvPr/>
        </p:nvSpPr>
        <p:spPr>
          <a:xfrm>
            <a:off x="4361475" y="266975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1"/>
          <p:cNvSpPr/>
          <p:nvPr/>
        </p:nvSpPr>
        <p:spPr>
          <a:xfrm>
            <a:off x="5632200" y="362790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1"/>
          <p:cNvSpPr txBox="1"/>
          <p:nvPr/>
        </p:nvSpPr>
        <p:spPr>
          <a:xfrm flipH="1">
            <a:off x="2068725" y="1036444"/>
            <a:ext cx="52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Smallest amount of water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- Largest drank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1"/>
          <p:cNvSpPr txBox="1"/>
          <p:nvPr/>
        </p:nvSpPr>
        <p:spPr>
          <a:xfrm flipH="1">
            <a:off x="4970482" y="1044975"/>
            <a:ext cx="220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largest drink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3" name="Google Shape;1253;p92"/>
          <p:cNvGrpSpPr/>
          <p:nvPr/>
        </p:nvGrpSpPr>
        <p:grpSpPr>
          <a:xfrm>
            <a:off x="1956144" y="863873"/>
            <a:ext cx="5627236" cy="1117128"/>
            <a:chOff x="2262000" y="222350"/>
            <a:chExt cx="5627236" cy="921799"/>
          </a:xfrm>
        </p:grpSpPr>
        <p:pic>
          <p:nvPicPr>
            <p:cNvPr id="1254" name="Google Shape;1254;p92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5" name="Google Shape;1255;p92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6" name="Google Shape;1256;p92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7" name="Google Shape;1257;p92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92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92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0" name="Google Shape;126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261" name="Google Shape;126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2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3" name="Google Shape;126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2673" y="101947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92"/>
          <p:cNvSpPr txBox="1"/>
          <p:nvPr/>
        </p:nvSpPr>
        <p:spPr>
          <a:xfrm>
            <a:off x="7714025" y="1802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5" name="Google Shape;1265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000" y="2443725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2"/>
          <p:cNvSpPr txBox="1"/>
          <p:nvPr/>
        </p:nvSpPr>
        <p:spPr>
          <a:xfrm flipH="1">
            <a:off x="2054475" y="1019463"/>
            <a:ext cx="52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you think we calculate the largest amount of water left in the jug?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2"/>
          <p:cNvSpPr txBox="1"/>
          <p:nvPr/>
        </p:nvSpPr>
        <p:spPr>
          <a:xfrm>
            <a:off x="3974550" y="23217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Water in jug originally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2"/>
          <p:cNvSpPr txBox="1"/>
          <p:nvPr/>
        </p:nvSpPr>
        <p:spPr>
          <a:xfrm>
            <a:off x="3833400" y="3266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drank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93"/>
          <p:cNvGrpSpPr/>
          <p:nvPr/>
        </p:nvGrpSpPr>
        <p:grpSpPr>
          <a:xfrm flipH="1">
            <a:off x="1740254" y="836876"/>
            <a:ext cx="5662687" cy="1117128"/>
            <a:chOff x="2262000" y="222350"/>
            <a:chExt cx="5627236" cy="921799"/>
          </a:xfrm>
        </p:grpSpPr>
        <p:pic>
          <p:nvPicPr>
            <p:cNvPr id="1274" name="Google Shape;1274;p93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5" name="Google Shape;1275;p93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6" name="Google Shape;1276;p93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7" name="Google Shape;1277;p93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8" name="Google Shape;1278;p93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93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281" name="Google Shape;128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3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3" name="Google Shape;128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2673" y="101947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93"/>
          <p:cNvSpPr txBox="1"/>
          <p:nvPr/>
        </p:nvSpPr>
        <p:spPr>
          <a:xfrm>
            <a:off x="7714025" y="1802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5" name="Google Shape;1285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000" y="2443725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3"/>
          <p:cNvSpPr txBox="1"/>
          <p:nvPr/>
        </p:nvSpPr>
        <p:spPr>
          <a:xfrm flipH="1">
            <a:off x="1902075" y="943275"/>
            <a:ext cx="52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work out the largest remaining it is the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3"/>
          <p:cNvSpPr txBox="1"/>
          <p:nvPr/>
        </p:nvSpPr>
        <p:spPr>
          <a:xfrm>
            <a:off x="3974550" y="23217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Water in jug originally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3"/>
          <p:cNvSpPr txBox="1"/>
          <p:nvPr/>
        </p:nvSpPr>
        <p:spPr>
          <a:xfrm>
            <a:off x="3833400" y="3266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drank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3"/>
          <p:cNvSpPr/>
          <p:nvPr/>
        </p:nvSpPr>
        <p:spPr>
          <a:xfrm>
            <a:off x="5580675" y="266975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3"/>
          <p:cNvSpPr/>
          <p:nvPr/>
        </p:nvSpPr>
        <p:spPr>
          <a:xfrm>
            <a:off x="4489200" y="362790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3"/>
          <p:cNvSpPr txBox="1"/>
          <p:nvPr/>
        </p:nvSpPr>
        <p:spPr>
          <a:xfrm flipH="1">
            <a:off x="1887910" y="1003976"/>
            <a:ext cx="52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Largest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amount of water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- Largest drank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3"/>
          <p:cNvSpPr txBox="1"/>
          <p:nvPr/>
        </p:nvSpPr>
        <p:spPr>
          <a:xfrm flipH="1">
            <a:off x="4671607" y="1005825"/>
            <a:ext cx="220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smallest drink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4"/>
          <p:cNvSpPr txBox="1"/>
          <p:nvPr/>
        </p:nvSpPr>
        <p:spPr>
          <a:xfrm flipH="1">
            <a:off x="1619650" y="699475"/>
            <a:ext cx="389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this means the error interval for the amount of water left in the jug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4"/>
          <p:cNvSpPr txBox="1"/>
          <p:nvPr/>
        </p:nvSpPr>
        <p:spPr>
          <a:xfrm>
            <a:off x="2099751" y="1293487"/>
            <a:ext cx="303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j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71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9" name="Google Shape;1299;p94"/>
          <p:cNvGrpSpPr/>
          <p:nvPr/>
        </p:nvGrpSpPr>
        <p:grpSpPr>
          <a:xfrm flipH="1">
            <a:off x="1539372" y="480117"/>
            <a:ext cx="4081434" cy="1731692"/>
            <a:chOff x="2262000" y="222350"/>
            <a:chExt cx="5627236" cy="921799"/>
          </a:xfrm>
        </p:grpSpPr>
        <p:pic>
          <p:nvPicPr>
            <p:cNvPr id="1300" name="Google Shape;1300;p94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94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94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94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94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94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6" name="Google Shape;130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307" name="Google Shape;130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6174" y="1158227"/>
            <a:ext cx="956540" cy="9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94"/>
          <p:cNvSpPr txBox="1"/>
          <p:nvPr/>
        </p:nvSpPr>
        <p:spPr>
          <a:xfrm>
            <a:off x="438780" y="204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9" name="Google Shape;130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2673" y="1019475"/>
            <a:ext cx="66606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94"/>
          <p:cNvSpPr txBox="1"/>
          <p:nvPr/>
        </p:nvSpPr>
        <p:spPr>
          <a:xfrm>
            <a:off x="7714025" y="1802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1" name="Google Shape;1311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000" y="2443725"/>
            <a:ext cx="2504737" cy="24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4"/>
          <p:cNvSpPr txBox="1"/>
          <p:nvPr/>
        </p:nvSpPr>
        <p:spPr>
          <a:xfrm>
            <a:off x="3974550" y="23217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Water in jug originally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4"/>
          <p:cNvSpPr txBox="1"/>
          <p:nvPr/>
        </p:nvSpPr>
        <p:spPr>
          <a:xfrm>
            <a:off x="3833400" y="3266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drank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4"/>
          <p:cNvSpPr txBox="1"/>
          <p:nvPr/>
        </p:nvSpPr>
        <p:spPr>
          <a:xfrm>
            <a:off x="2167200" y="1292700"/>
            <a:ext cx="24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j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4"/>
          <p:cNvSpPr/>
          <p:nvPr/>
        </p:nvSpPr>
        <p:spPr>
          <a:xfrm>
            <a:off x="4395850" y="2680038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4"/>
          <p:cNvSpPr/>
          <p:nvPr/>
        </p:nvSpPr>
        <p:spPr>
          <a:xfrm>
            <a:off x="5632200" y="362790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4"/>
          <p:cNvSpPr txBox="1"/>
          <p:nvPr/>
        </p:nvSpPr>
        <p:spPr>
          <a:xfrm>
            <a:off x="6202800" y="2825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30.5 = 69</a:t>
            </a:r>
            <a:endParaRPr/>
          </a:p>
        </p:txBody>
      </p:sp>
      <p:sp>
        <p:nvSpPr>
          <p:cNvPr id="1318" name="Google Shape;1318;p94"/>
          <p:cNvSpPr/>
          <p:nvPr/>
        </p:nvSpPr>
        <p:spPr>
          <a:xfrm>
            <a:off x="5578200" y="2680038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4"/>
          <p:cNvSpPr/>
          <p:nvPr/>
        </p:nvSpPr>
        <p:spPr>
          <a:xfrm>
            <a:off x="4462175" y="3627900"/>
            <a:ext cx="624600" cy="3873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4"/>
          <p:cNvSpPr txBox="1"/>
          <p:nvPr/>
        </p:nvSpPr>
        <p:spPr>
          <a:xfrm>
            <a:off x="6202800" y="3119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29.5 = 71</a:t>
            </a:r>
            <a:endParaRPr/>
          </a:p>
        </p:txBody>
      </p:sp>
      <p:grpSp>
        <p:nvGrpSpPr>
          <p:cNvPr id="1321" name="Google Shape;1321;p94"/>
          <p:cNvGrpSpPr/>
          <p:nvPr/>
        </p:nvGrpSpPr>
        <p:grpSpPr>
          <a:xfrm>
            <a:off x="5774350" y="787401"/>
            <a:ext cx="1886249" cy="1117128"/>
            <a:chOff x="2262000" y="222350"/>
            <a:chExt cx="5627236" cy="921799"/>
          </a:xfrm>
        </p:grpSpPr>
        <p:pic>
          <p:nvPicPr>
            <p:cNvPr id="1322" name="Google Shape;1322;p94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3" name="Google Shape;1323;p94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4" name="Google Shape;1324;p94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5" name="Google Shape;1325;p94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6" name="Google Shape;1326;p94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7" name="Google Shape;1327;p94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8" name="Google Shape;1328;p94"/>
          <p:cNvSpPr txBox="1"/>
          <p:nvPr/>
        </p:nvSpPr>
        <p:spPr>
          <a:xfrm flipH="1">
            <a:off x="5868488" y="1080000"/>
            <a:ext cx="16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Superb Izzy!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5"/>
          <p:cNvSpPr txBox="1"/>
          <p:nvPr>
            <p:ph idx="1" type="body"/>
          </p:nvPr>
        </p:nvSpPr>
        <p:spPr>
          <a:xfrm>
            <a:off x="324000" y="8355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error interval of the amount of water left from a 100 ml (to the nearest </a:t>
            </a:r>
            <a:r>
              <a:rPr lang="en-GB" sz="1900"/>
              <a:t>integer</a:t>
            </a:r>
            <a:r>
              <a:rPr lang="en-GB" sz="1900"/>
              <a:t>) after Laura </a:t>
            </a:r>
            <a:r>
              <a:rPr lang="en-GB" sz="1900"/>
              <a:t>drinking</a:t>
            </a:r>
            <a:r>
              <a:rPr lang="en-GB" sz="1900"/>
              <a:t> 30 ml (to the nearest </a:t>
            </a:r>
            <a:r>
              <a:rPr lang="en-GB" sz="1900"/>
              <a:t>integer</a:t>
            </a:r>
            <a:r>
              <a:rPr lang="en-GB" sz="1900"/>
              <a:t>) is:</a:t>
            </a:r>
            <a:endParaRPr sz="1900"/>
          </a:p>
        </p:txBody>
      </p:sp>
      <p:sp>
        <p:nvSpPr>
          <p:cNvPr id="1334" name="Google Shape;133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sp>
        <p:nvSpPr>
          <p:cNvPr id="1335" name="Google Shape;1335;p95"/>
          <p:cNvSpPr txBox="1"/>
          <p:nvPr/>
        </p:nvSpPr>
        <p:spPr>
          <a:xfrm>
            <a:off x="1304475" y="4343075"/>
            <a:ext cx="2264400" cy="3387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99.5 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100.5</a:t>
            </a:r>
            <a:endParaRPr/>
          </a:p>
        </p:txBody>
      </p:sp>
      <p:sp>
        <p:nvSpPr>
          <p:cNvPr id="1336" name="Google Shape;1336;p95"/>
          <p:cNvSpPr txBox="1"/>
          <p:nvPr/>
        </p:nvSpPr>
        <p:spPr>
          <a:xfrm>
            <a:off x="5151325" y="4343075"/>
            <a:ext cx="2264400" cy="3387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29.5 ≤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30.5</a:t>
            </a:r>
            <a:endParaRPr/>
          </a:p>
        </p:txBody>
      </p:sp>
      <p:sp>
        <p:nvSpPr>
          <p:cNvPr id="1337" name="Google Shape;1337;p95"/>
          <p:cNvSpPr txBox="1"/>
          <p:nvPr/>
        </p:nvSpPr>
        <p:spPr>
          <a:xfrm>
            <a:off x="3129175" y="1622875"/>
            <a:ext cx="2385600" cy="523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j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71</a:t>
            </a:r>
            <a:endParaRPr/>
          </a:p>
        </p:txBody>
      </p:sp>
      <p:sp>
        <p:nvSpPr>
          <p:cNvPr id="1338" name="Google Shape;1338;p95"/>
          <p:cNvSpPr txBox="1"/>
          <p:nvPr/>
        </p:nvSpPr>
        <p:spPr>
          <a:xfrm>
            <a:off x="324000" y="3118500"/>
            <a:ext cx="8110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difference between the lower limit of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upper limit of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5"/>
          <p:cNvSpPr txBox="1"/>
          <p:nvPr/>
        </p:nvSpPr>
        <p:spPr>
          <a:xfrm>
            <a:off x="324000" y="2547600"/>
            <a:ext cx="8057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difference between the upper limit of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lower limit of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0" name="Google Shape;1340;p95"/>
          <p:cNvGrpSpPr/>
          <p:nvPr/>
        </p:nvGrpSpPr>
        <p:grpSpPr>
          <a:xfrm>
            <a:off x="2695800" y="1620000"/>
            <a:ext cx="3235575" cy="3181325"/>
            <a:chOff x="1573175" y="1397875"/>
            <a:chExt cx="3235575" cy="3181325"/>
          </a:xfrm>
        </p:grpSpPr>
        <p:sp>
          <p:nvSpPr>
            <p:cNvPr id="1341" name="Google Shape;1341;p95"/>
            <p:cNvSpPr/>
            <p:nvPr/>
          </p:nvSpPr>
          <p:spPr>
            <a:xfrm>
              <a:off x="1573175" y="3984000"/>
              <a:ext cx="7815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95"/>
            <p:cNvSpPr/>
            <p:nvPr/>
          </p:nvSpPr>
          <p:spPr>
            <a:xfrm>
              <a:off x="4134950" y="4001400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95"/>
            <p:cNvSpPr/>
            <p:nvPr/>
          </p:nvSpPr>
          <p:spPr>
            <a:xfrm>
              <a:off x="3369600" y="13978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95"/>
          <p:cNvGrpSpPr/>
          <p:nvPr/>
        </p:nvGrpSpPr>
        <p:grpSpPr>
          <a:xfrm>
            <a:off x="1271700" y="1622875"/>
            <a:ext cx="5944075" cy="3209200"/>
            <a:chOff x="1137400" y="1397875"/>
            <a:chExt cx="5944075" cy="3209200"/>
          </a:xfrm>
        </p:grpSpPr>
        <p:sp>
          <p:nvSpPr>
            <p:cNvPr id="1345" name="Google Shape;1345;p95"/>
            <p:cNvSpPr/>
            <p:nvPr/>
          </p:nvSpPr>
          <p:spPr>
            <a:xfrm>
              <a:off x="1137400" y="4029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95"/>
            <p:cNvSpPr/>
            <p:nvPr/>
          </p:nvSpPr>
          <p:spPr>
            <a:xfrm>
              <a:off x="6407675" y="40292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95"/>
            <p:cNvSpPr/>
            <p:nvPr/>
          </p:nvSpPr>
          <p:spPr>
            <a:xfrm>
              <a:off x="3369600" y="1397875"/>
              <a:ext cx="673800" cy="577800"/>
            </a:xfrm>
            <a:prstGeom prst="ellipse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8" name="Google Shape;1348;p95"/>
          <p:cNvSpPr txBox="1"/>
          <p:nvPr/>
        </p:nvSpPr>
        <p:spPr>
          <a:xfrm>
            <a:off x="324000" y="205547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Summarising: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6"/>
          <p:cNvSpPr txBox="1"/>
          <p:nvPr>
            <p:ph idx="1" type="body"/>
          </p:nvPr>
        </p:nvSpPr>
        <p:spPr>
          <a:xfrm>
            <a:off x="324000" y="759300"/>
            <a:ext cx="8496000" cy="4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Work out the error interval for the remaining length of rope: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rope was originally 3.2 m (1 d.p). A piece of 1.6 m (1 d.p) was cut from the rope. What is error interval for the remaining length?</a:t>
            </a:r>
            <a:endParaRPr sz="2000"/>
          </a:p>
        </p:txBody>
      </p:sp>
      <p:sp>
        <p:nvSpPr>
          <p:cNvPr id="1354" name="Google Shape;135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355" name="Google Shape;1355;p96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3175300" y="2609157"/>
            <a:ext cx="17445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96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2064100" y="2610831"/>
            <a:ext cx="1156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96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6586983" y="2610925"/>
            <a:ext cx="56026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96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5383419" y="2609157"/>
            <a:ext cx="1207661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96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4200209" y="2610925"/>
            <a:ext cx="809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6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5302971" y="2609150"/>
            <a:ext cx="800798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6"/>
          <p:cNvSpPr txBox="1"/>
          <p:nvPr/>
        </p:nvSpPr>
        <p:spPr>
          <a:xfrm>
            <a:off x="399775" y="3087600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riginal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3.15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2" name="Google Shape;1362;p96"/>
          <p:cNvSpPr txBox="1"/>
          <p:nvPr/>
        </p:nvSpPr>
        <p:spPr>
          <a:xfrm>
            <a:off x="185225" y="3867600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Cut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1.55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1.65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3" name="Google Shape;1363;p96"/>
          <p:cNvSpPr txBox="1"/>
          <p:nvPr/>
        </p:nvSpPr>
        <p:spPr>
          <a:xfrm>
            <a:off x="3763500" y="4020000"/>
            <a:ext cx="422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Remaining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4" name="Google Shape;1364;p96"/>
          <p:cNvSpPr txBox="1"/>
          <p:nvPr/>
        </p:nvSpPr>
        <p:spPr>
          <a:xfrm>
            <a:off x="3369600" y="3036625"/>
            <a:ext cx="501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limit remaining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1.55 = 1.7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limit remaining : 3.15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1.65 = 1.5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97"/>
          <p:cNvSpPr txBox="1"/>
          <p:nvPr>
            <p:ph idx="1" type="body"/>
          </p:nvPr>
        </p:nvSpPr>
        <p:spPr>
          <a:xfrm>
            <a:off x="324000" y="759300"/>
            <a:ext cx="78561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A rope was originally 5.3 cm (1 d.p.). A piece of 3.8 cm (1 d.p.) was cut from the rope. What is the error interval for the remaining length?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371" name="Google Shape;1371;p97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3035288" y="2337882"/>
            <a:ext cx="17445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97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1878463" y="2339650"/>
            <a:ext cx="1156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97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6446971" y="2339650"/>
            <a:ext cx="56026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97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5243407" y="2337882"/>
            <a:ext cx="1207661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97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4060196" y="2339650"/>
            <a:ext cx="809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97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5162959" y="2337875"/>
            <a:ext cx="800798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9548" y="2780420"/>
            <a:ext cx="809350" cy="153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97"/>
          <p:cNvSpPr txBox="1"/>
          <p:nvPr>
            <p:ph idx="1" type="body"/>
          </p:nvPr>
        </p:nvSpPr>
        <p:spPr>
          <a:xfrm>
            <a:off x="346025" y="3029300"/>
            <a:ext cx="63696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 coffee had 330 ml (the nearest </a:t>
            </a:r>
            <a:r>
              <a:rPr lang="en-GB"/>
              <a:t>integer</a:t>
            </a:r>
            <a:r>
              <a:rPr lang="en-GB"/>
              <a:t>) and Lucas drank 32 ml (2 s.f.). </a:t>
            </a:r>
            <a:r>
              <a:rPr lang="en-GB"/>
              <a:t>What is the error interval for the remaining coffee?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930777" y="1110951"/>
            <a:ext cx="389608" cy="98510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98"/>
          <p:cNvSpPr txBox="1"/>
          <p:nvPr>
            <p:ph idx="1" type="body"/>
          </p:nvPr>
        </p:nvSpPr>
        <p:spPr>
          <a:xfrm>
            <a:off x="324000" y="759300"/>
            <a:ext cx="57180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A screw has broken off from a wall.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Originally the screw was </a:t>
            </a:r>
            <a:r>
              <a:rPr lang="en-GB" sz="1800"/>
              <a:t>4.6 mm (1 d.p.).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broken off piece measures 3.4 mm (1 d.p.).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Work out the error interval length of the screw which is lodged in the wall.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85" name="Google Shape;138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grpSp>
        <p:nvGrpSpPr>
          <p:cNvPr id="1386" name="Google Shape;1386;p98"/>
          <p:cNvGrpSpPr/>
          <p:nvPr/>
        </p:nvGrpSpPr>
        <p:grpSpPr>
          <a:xfrm>
            <a:off x="6985109" y="810070"/>
            <a:ext cx="1726938" cy="1977859"/>
            <a:chOff x="6886300" y="888600"/>
            <a:chExt cx="1988415" cy="1755444"/>
          </a:xfrm>
        </p:grpSpPr>
        <p:sp>
          <p:nvSpPr>
            <p:cNvPr id="1387" name="Google Shape;1387;p98"/>
            <p:cNvSpPr/>
            <p:nvPr/>
          </p:nvSpPr>
          <p:spPr>
            <a:xfrm>
              <a:off x="7331675" y="909625"/>
              <a:ext cx="1107000" cy="1618500"/>
            </a:xfrm>
            <a:prstGeom prst="rect">
              <a:avLst/>
            </a:prstGeom>
            <a:solidFill>
              <a:srgbClr val="F0F0F0">
                <a:alpha val="63919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98"/>
            <p:cNvSpPr/>
            <p:nvPr/>
          </p:nvSpPr>
          <p:spPr>
            <a:xfrm>
              <a:off x="7567464" y="1427057"/>
              <a:ext cx="173400" cy="331500"/>
            </a:xfrm>
            <a:prstGeom prst="ellipse">
              <a:avLst/>
            </a:prstGeom>
            <a:solidFill>
              <a:srgbClr val="49422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9" name="Google Shape;1389;p98"/>
            <p:cNvCxnSpPr/>
            <p:nvPr/>
          </p:nvCxnSpPr>
          <p:spPr>
            <a:xfrm>
              <a:off x="7103050" y="2160000"/>
              <a:ext cx="1441500" cy="339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0" name="Google Shape;1390;p98"/>
            <p:cNvSpPr/>
            <p:nvPr/>
          </p:nvSpPr>
          <p:spPr>
            <a:xfrm rot="10800000">
              <a:off x="6886300" y="888600"/>
              <a:ext cx="1833000" cy="3828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98"/>
            <p:cNvSpPr/>
            <p:nvPr/>
          </p:nvSpPr>
          <p:spPr>
            <a:xfrm rot="-191959">
              <a:off x="7001565" y="2067332"/>
              <a:ext cx="1859899" cy="525223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2" name="Google Shape;1392;p98"/>
            <p:cNvCxnSpPr/>
            <p:nvPr/>
          </p:nvCxnSpPr>
          <p:spPr>
            <a:xfrm>
              <a:off x="7321375" y="98855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3" name="Google Shape;1393;p98"/>
            <p:cNvCxnSpPr/>
            <p:nvPr/>
          </p:nvCxnSpPr>
          <p:spPr>
            <a:xfrm>
              <a:off x="7321325" y="219610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4" name="Google Shape;1394;p98"/>
          <p:cNvGrpSpPr/>
          <p:nvPr/>
        </p:nvGrpSpPr>
        <p:grpSpPr>
          <a:xfrm>
            <a:off x="776932" y="3240011"/>
            <a:ext cx="3404910" cy="1235134"/>
            <a:chOff x="281272" y="2626880"/>
            <a:chExt cx="4099831" cy="1487218"/>
          </a:xfrm>
        </p:grpSpPr>
        <p:sp>
          <p:nvSpPr>
            <p:cNvPr id="1395" name="Google Shape;1395;p98"/>
            <p:cNvSpPr/>
            <p:nvPr/>
          </p:nvSpPr>
          <p:spPr>
            <a:xfrm>
              <a:off x="283704" y="2626880"/>
              <a:ext cx="4097400" cy="644700"/>
            </a:xfrm>
            <a:prstGeom prst="trapezoid">
              <a:avLst>
                <a:gd fmla="val 78302" name="adj"/>
              </a:avLst>
            </a:prstGeom>
            <a:solidFill>
              <a:srgbClr val="9FC5E8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98"/>
            <p:cNvSpPr/>
            <p:nvPr/>
          </p:nvSpPr>
          <p:spPr>
            <a:xfrm>
              <a:off x="281272" y="3270798"/>
              <a:ext cx="4097400" cy="843300"/>
            </a:xfrm>
            <a:prstGeom prst="rect">
              <a:avLst/>
            </a:prstGeom>
            <a:solidFill>
              <a:srgbClr val="E6F2F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98"/>
            <p:cNvSpPr/>
            <p:nvPr/>
          </p:nvSpPr>
          <p:spPr>
            <a:xfrm>
              <a:off x="869263" y="3386599"/>
              <a:ext cx="2923800" cy="596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98"/>
            <p:cNvSpPr/>
            <p:nvPr/>
          </p:nvSpPr>
          <p:spPr>
            <a:xfrm>
              <a:off x="3978425" y="3386588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FFAB40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98"/>
            <p:cNvSpPr/>
            <p:nvPr/>
          </p:nvSpPr>
          <p:spPr>
            <a:xfrm>
              <a:off x="3978425" y="3615475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0097A7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98"/>
            <p:cNvSpPr/>
            <p:nvPr/>
          </p:nvSpPr>
          <p:spPr>
            <a:xfrm>
              <a:off x="3978425" y="3844379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E06666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98"/>
            <p:cNvSpPr/>
            <p:nvPr/>
          </p:nvSpPr>
          <p:spPr>
            <a:xfrm>
              <a:off x="421371" y="3537863"/>
              <a:ext cx="288600" cy="288600"/>
            </a:xfrm>
            <a:prstGeom prst="ellipse">
              <a:avLst/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02" name="Google Shape;1402;p98"/>
          <p:cNvPicPr preferRelativeResize="0"/>
          <p:nvPr/>
        </p:nvPicPr>
        <p:blipFill rotWithShape="1">
          <a:blip r:embed="rId4">
            <a:alphaModFix/>
          </a:blip>
          <a:srcRect b="0" l="87144" r="-4214" t="49266"/>
          <a:stretch/>
        </p:blipFill>
        <p:spPr>
          <a:xfrm>
            <a:off x="2561681" y="4109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98"/>
          <p:cNvPicPr preferRelativeResize="0"/>
          <p:nvPr/>
        </p:nvPicPr>
        <p:blipFill rotWithShape="1">
          <a:blip r:embed="rId4">
            <a:alphaModFix/>
          </a:blip>
          <a:srcRect b="40626" l="0" r="57452" t="41687"/>
          <a:stretch/>
        </p:blipFill>
        <p:spPr>
          <a:xfrm>
            <a:off x="2409910" y="4080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98"/>
          <p:cNvPicPr preferRelativeResize="0"/>
          <p:nvPr/>
        </p:nvPicPr>
        <p:blipFill rotWithShape="1">
          <a:blip r:embed="rId4">
            <a:alphaModFix/>
          </a:blip>
          <a:srcRect b="49266" l="87144" r="-4214" t="0"/>
          <a:stretch/>
        </p:blipFill>
        <p:spPr>
          <a:xfrm>
            <a:off x="2561681" y="3921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8"/>
          <p:cNvPicPr preferRelativeResize="0"/>
          <p:nvPr/>
        </p:nvPicPr>
        <p:blipFill rotWithShape="1">
          <a:blip r:embed="rId4">
            <a:alphaModFix/>
          </a:blip>
          <a:srcRect b="86106" l="0" r="57452" t="0"/>
          <a:stretch/>
        </p:blipFill>
        <p:spPr>
          <a:xfrm>
            <a:off x="2678550" y="3921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98"/>
          <p:cNvPicPr preferRelativeResize="0"/>
          <p:nvPr/>
        </p:nvPicPr>
        <p:blipFill rotWithShape="1">
          <a:blip r:embed="rId4">
            <a:alphaModFix/>
          </a:blip>
          <a:srcRect b="49266" l="46951" r="35979" t="0"/>
          <a:stretch/>
        </p:blipFill>
        <p:spPr>
          <a:xfrm>
            <a:off x="2360781" y="3921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98"/>
          <p:cNvPicPr preferRelativeResize="0"/>
          <p:nvPr/>
        </p:nvPicPr>
        <p:blipFill rotWithShape="1">
          <a:blip r:embed="rId4">
            <a:alphaModFix/>
          </a:blip>
          <a:srcRect b="0" l="87144" r="-4214" t="49266"/>
          <a:stretch/>
        </p:blipFill>
        <p:spPr>
          <a:xfrm>
            <a:off x="2830321" y="4109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98"/>
          <p:cNvPicPr preferRelativeResize="0"/>
          <p:nvPr/>
        </p:nvPicPr>
        <p:blipFill rotWithShape="1">
          <a:blip r:embed="rId4">
            <a:alphaModFix/>
          </a:blip>
          <a:srcRect b="40626" l="0" r="57452" t="41687"/>
          <a:stretch/>
        </p:blipFill>
        <p:spPr>
          <a:xfrm>
            <a:off x="2678550" y="4080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98"/>
          <p:cNvPicPr preferRelativeResize="0"/>
          <p:nvPr/>
        </p:nvPicPr>
        <p:blipFill rotWithShape="1">
          <a:blip r:embed="rId4">
            <a:alphaModFix/>
          </a:blip>
          <a:srcRect b="-2964" l="0" r="57452" t="85277"/>
          <a:stretch/>
        </p:blipFill>
        <p:spPr>
          <a:xfrm>
            <a:off x="2678550" y="4245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8"/>
          <p:cNvPicPr preferRelativeResize="0"/>
          <p:nvPr/>
        </p:nvPicPr>
        <p:blipFill rotWithShape="1">
          <a:blip r:embed="rId4">
            <a:alphaModFix/>
          </a:blip>
          <a:srcRect b="49266" l="87144" r="-4214" t="0"/>
          <a:stretch/>
        </p:blipFill>
        <p:spPr>
          <a:xfrm>
            <a:off x="2830321" y="3921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98"/>
          <p:cNvPicPr preferRelativeResize="0"/>
          <p:nvPr/>
        </p:nvPicPr>
        <p:blipFill rotWithShape="1">
          <a:blip r:embed="rId4">
            <a:alphaModFix/>
          </a:blip>
          <a:srcRect b="86106" l="0" r="57452" t="0"/>
          <a:stretch/>
        </p:blipFill>
        <p:spPr>
          <a:xfrm>
            <a:off x="3023945" y="3921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98"/>
          <p:cNvPicPr preferRelativeResize="0"/>
          <p:nvPr/>
        </p:nvPicPr>
        <p:blipFill rotWithShape="1">
          <a:blip r:embed="rId4">
            <a:alphaModFix/>
          </a:blip>
          <a:srcRect b="40626" l="0" r="57452" t="41687"/>
          <a:stretch/>
        </p:blipFill>
        <p:spPr>
          <a:xfrm>
            <a:off x="3023945" y="4080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98"/>
          <p:cNvPicPr preferRelativeResize="0"/>
          <p:nvPr/>
        </p:nvPicPr>
        <p:blipFill rotWithShape="1">
          <a:blip r:embed="rId4">
            <a:alphaModFix/>
          </a:blip>
          <a:srcRect b="-2964" l="0" r="57452" t="85277"/>
          <a:stretch/>
        </p:blipFill>
        <p:spPr>
          <a:xfrm>
            <a:off x="3023945" y="4245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98"/>
          <p:cNvPicPr preferRelativeResize="0"/>
          <p:nvPr/>
        </p:nvPicPr>
        <p:blipFill rotWithShape="1">
          <a:blip r:embed="rId4">
            <a:alphaModFix/>
          </a:blip>
          <a:srcRect b="0" l="46951" r="35979" t="49266"/>
          <a:stretch/>
        </p:blipFill>
        <p:spPr>
          <a:xfrm>
            <a:off x="2976713" y="4109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8"/>
          <p:cNvPicPr preferRelativeResize="0"/>
          <p:nvPr/>
        </p:nvPicPr>
        <p:blipFill rotWithShape="1">
          <a:blip r:embed="rId4">
            <a:alphaModFix/>
          </a:blip>
          <a:srcRect b="49266" l="87144" r="-4214" t="0"/>
          <a:stretch/>
        </p:blipFill>
        <p:spPr>
          <a:xfrm>
            <a:off x="3175716" y="3921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98"/>
          <p:cNvPicPr preferRelativeResize="0"/>
          <p:nvPr/>
        </p:nvPicPr>
        <p:blipFill rotWithShape="1">
          <a:blip r:embed="rId4">
            <a:alphaModFix/>
          </a:blip>
          <a:srcRect b="86106" l="0" r="57452" t="0"/>
          <a:stretch/>
        </p:blipFill>
        <p:spPr>
          <a:xfrm>
            <a:off x="3292585" y="3921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98"/>
          <p:cNvPicPr preferRelativeResize="0"/>
          <p:nvPr/>
        </p:nvPicPr>
        <p:blipFill rotWithShape="1">
          <a:blip r:embed="rId4">
            <a:alphaModFix/>
          </a:blip>
          <a:srcRect b="49266" l="46951" r="35979" t="0"/>
          <a:stretch/>
        </p:blipFill>
        <p:spPr>
          <a:xfrm>
            <a:off x="3245353" y="3921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8"/>
          <p:cNvPicPr preferRelativeResize="0"/>
          <p:nvPr/>
        </p:nvPicPr>
        <p:blipFill rotWithShape="1">
          <a:blip r:embed="rId4">
            <a:alphaModFix/>
          </a:blip>
          <a:srcRect b="0" l="87144" r="-4214" t="49266"/>
          <a:stretch/>
        </p:blipFill>
        <p:spPr>
          <a:xfrm>
            <a:off x="3444356" y="4109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8"/>
          <p:cNvPicPr preferRelativeResize="0"/>
          <p:nvPr/>
        </p:nvPicPr>
        <p:blipFill rotWithShape="1">
          <a:blip r:embed="rId4">
            <a:alphaModFix/>
          </a:blip>
          <a:srcRect b="40626" l="0" r="57452" t="41687"/>
          <a:stretch/>
        </p:blipFill>
        <p:spPr>
          <a:xfrm>
            <a:off x="3292585" y="4080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98"/>
          <p:cNvPicPr preferRelativeResize="0"/>
          <p:nvPr/>
        </p:nvPicPr>
        <p:blipFill rotWithShape="1">
          <a:blip r:embed="rId4">
            <a:alphaModFix/>
          </a:blip>
          <a:srcRect b="-2964" l="0" r="57452" t="85277"/>
          <a:stretch/>
        </p:blipFill>
        <p:spPr>
          <a:xfrm>
            <a:off x="3292585" y="4245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p98"/>
          <p:cNvPicPr preferRelativeResize="0"/>
          <p:nvPr/>
        </p:nvPicPr>
        <p:blipFill rotWithShape="1">
          <a:blip r:embed="rId4">
            <a:alphaModFix/>
          </a:blip>
          <a:srcRect b="0" l="46951" r="35979" t="49266"/>
          <a:stretch/>
        </p:blipFill>
        <p:spPr>
          <a:xfrm>
            <a:off x="3245353" y="4109030"/>
            <a:ext cx="74361" cy="192644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98"/>
          <p:cNvSpPr txBox="1"/>
          <p:nvPr>
            <p:ph idx="1" type="body"/>
          </p:nvPr>
        </p:nvSpPr>
        <p:spPr>
          <a:xfrm>
            <a:off x="4367825" y="2700000"/>
            <a:ext cx="42504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A box of sweets and a </a:t>
            </a:r>
            <a:r>
              <a:rPr lang="en-GB" sz="1800"/>
              <a:t>chocolate</a:t>
            </a:r>
            <a:r>
              <a:rPr lang="en-GB" sz="1800"/>
              <a:t> </a:t>
            </a:r>
            <a:r>
              <a:rPr lang="en-GB" sz="1800"/>
              <a:t>weigh 43.26 g correct to 2 d.p.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If the chocolate alone weighs 21.14 g (2 d.p.), what is the error interval for the mass of the box of sweets?</a:t>
            </a:r>
            <a:endParaRPr sz="1900"/>
          </a:p>
        </p:txBody>
      </p:sp>
      <p:pic>
        <p:nvPicPr>
          <p:cNvPr id="1423" name="Google Shape;1423;p98"/>
          <p:cNvPicPr preferRelativeResize="0"/>
          <p:nvPr/>
        </p:nvPicPr>
        <p:blipFill rotWithShape="1">
          <a:blip r:embed="rId5">
            <a:alphaModFix/>
          </a:blip>
          <a:srcRect b="28932" l="51114" r="22480" t="32496"/>
          <a:stretch/>
        </p:blipFill>
        <p:spPr>
          <a:xfrm>
            <a:off x="1347175" y="2571750"/>
            <a:ext cx="1062725" cy="113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98"/>
          <p:cNvPicPr preferRelativeResize="0"/>
          <p:nvPr/>
        </p:nvPicPr>
        <p:blipFill rotWithShape="1">
          <a:blip r:embed="rId5">
            <a:alphaModFix/>
          </a:blip>
          <a:srcRect b="50234" l="76954" r="0" t="33456"/>
          <a:stretch/>
        </p:blipFill>
        <p:spPr>
          <a:xfrm>
            <a:off x="2360200" y="2916400"/>
            <a:ext cx="1161050" cy="7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98"/>
          <p:cNvSpPr/>
          <p:nvPr/>
        </p:nvSpPr>
        <p:spPr>
          <a:xfrm>
            <a:off x="2914334" y="4226389"/>
            <a:ext cx="52800" cy="52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6" name="Google Shape;1426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6124933">
            <a:off x="6374587" y="968212"/>
            <a:ext cx="725801" cy="1548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99"/>
          <p:cNvSpPr txBox="1"/>
          <p:nvPr>
            <p:ph idx="1" type="body"/>
          </p:nvPr>
        </p:nvSpPr>
        <p:spPr>
          <a:xfrm>
            <a:off x="324000" y="759300"/>
            <a:ext cx="7824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 rope was originally 5.3 cm (1 d.p.). A piece of 3.8 cm (1 d.p.) was cut from the rope. What is the error interval for the remaining length?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433" name="Google Shape;1433;p99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3035288" y="2337882"/>
            <a:ext cx="17445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9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1878463" y="2339650"/>
            <a:ext cx="1156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99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6446971" y="2339650"/>
            <a:ext cx="56026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99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5243407" y="2337882"/>
            <a:ext cx="1207661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99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4060196" y="2339650"/>
            <a:ext cx="809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99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5162959" y="2337875"/>
            <a:ext cx="800798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99"/>
          <p:cNvSpPr txBox="1"/>
          <p:nvPr/>
        </p:nvSpPr>
        <p:spPr>
          <a:xfrm>
            <a:off x="434675" y="2939088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5.25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5.35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0" name="Google Shape;1440;p99"/>
          <p:cNvSpPr txBox="1"/>
          <p:nvPr/>
        </p:nvSpPr>
        <p:spPr>
          <a:xfrm>
            <a:off x="220125" y="3719088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Cut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3.75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3.85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1" name="Google Shape;1441;p99"/>
          <p:cNvSpPr txBox="1"/>
          <p:nvPr/>
        </p:nvSpPr>
        <p:spPr>
          <a:xfrm>
            <a:off x="3798400" y="3871488"/>
            <a:ext cx="422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Remaining length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remaining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2" name="Google Shape;1442;p99"/>
          <p:cNvSpPr txBox="1"/>
          <p:nvPr/>
        </p:nvSpPr>
        <p:spPr>
          <a:xfrm>
            <a:off x="3404500" y="2888113"/>
            <a:ext cx="501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limit remaining : 5.35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3.75 = 1.6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 limit remaining : 5.25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3.85 = 1.4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pic>
        <p:nvPicPr>
          <p:cNvPr id="1448" name="Google Shape;144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548" y="570620"/>
            <a:ext cx="809350" cy="153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00"/>
          <p:cNvSpPr txBox="1"/>
          <p:nvPr>
            <p:ph idx="1" type="body"/>
          </p:nvPr>
        </p:nvSpPr>
        <p:spPr>
          <a:xfrm>
            <a:off x="324000" y="759300"/>
            <a:ext cx="6855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 coffee had 330 ml (the nearest integer) and Lucas drank 32 ml (2 s.f.). What is the error interval for the remaining coffee?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00"/>
          <p:cNvSpPr txBox="1"/>
          <p:nvPr/>
        </p:nvSpPr>
        <p:spPr>
          <a:xfrm>
            <a:off x="434675" y="2399088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full coffee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329.5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330.5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100"/>
          <p:cNvSpPr txBox="1"/>
          <p:nvPr/>
        </p:nvSpPr>
        <p:spPr>
          <a:xfrm>
            <a:off x="220125" y="3179088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Amount drank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32.5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100"/>
          <p:cNvSpPr txBox="1"/>
          <p:nvPr/>
        </p:nvSpPr>
        <p:spPr>
          <a:xfrm>
            <a:off x="3798400" y="3340038"/>
            <a:ext cx="422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Remaining coffee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297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coffee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299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3" name="Google Shape;1453;p100"/>
          <p:cNvSpPr txBox="1"/>
          <p:nvPr/>
        </p:nvSpPr>
        <p:spPr>
          <a:xfrm>
            <a:off x="3404500" y="2348113"/>
            <a:ext cx="501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limit remaining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330.5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299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 limit remaining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329.5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32.5 = 297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Google Shape;145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930777" y="1110951"/>
            <a:ext cx="389608" cy="985103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01"/>
          <p:cNvSpPr txBox="1"/>
          <p:nvPr>
            <p:ph idx="1" type="body"/>
          </p:nvPr>
        </p:nvSpPr>
        <p:spPr>
          <a:xfrm>
            <a:off x="324000" y="759300"/>
            <a:ext cx="54504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3) A screw has broken off from a wall.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Originally the screw was 4.6 mm (1 d.p.).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broken off piece measures 3.4 mm (1 d.p.).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Work out the error interval length of the screw which is lodged in the wall.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60" name="Google Shape;146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grpSp>
        <p:nvGrpSpPr>
          <p:cNvPr id="1461" name="Google Shape;1461;p101"/>
          <p:cNvGrpSpPr/>
          <p:nvPr/>
        </p:nvGrpSpPr>
        <p:grpSpPr>
          <a:xfrm>
            <a:off x="6985109" y="810070"/>
            <a:ext cx="1726938" cy="1977859"/>
            <a:chOff x="6886300" y="888600"/>
            <a:chExt cx="1988415" cy="1755444"/>
          </a:xfrm>
        </p:grpSpPr>
        <p:sp>
          <p:nvSpPr>
            <p:cNvPr id="1462" name="Google Shape;1462;p101"/>
            <p:cNvSpPr/>
            <p:nvPr/>
          </p:nvSpPr>
          <p:spPr>
            <a:xfrm>
              <a:off x="7331675" y="909625"/>
              <a:ext cx="1107000" cy="1618500"/>
            </a:xfrm>
            <a:prstGeom prst="rect">
              <a:avLst/>
            </a:prstGeom>
            <a:solidFill>
              <a:srgbClr val="F0F0F0">
                <a:alpha val="63919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3" name="Google Shape;1463;p101"/>
            <p:cNvSpPr/>
            <p:nvPr/>
          </p:nvSpPr>
          <p:spPr>
            <a:xfrm>
              <a:off x="7567464" y="1427057"/>
              <a:ext cx="173400" cy="331500"/>
            </a:xfrm>
            <a:prstGeom prst="ellipse">
              <a:avLst/>
            </a:prstGeom>
            <a:solidFill>
              <a:srgbClr val="49422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4" name="Google Shape;1464;p101"/>
            <p:cNvCxnSpPr/>
            <p:nvPr/>
          </p:nvCxnSpPr>
          <p:spPr>
            <a:xfrm>
              <a:off x="7103050" y="2160000"/>
              <a:ext cx="1441500" cy="339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5" name="Google Shape;1465;p101"/>
            <p:cNvSpPr/>
            <p:nvPr/>
          </p:nvSpPr>
          <p:spPr>
            <a:xfrm rot="10800000">
              <a:off x="6886300" y="888600"/>
              <a:ext cx="1833000" cy="382800"/>
            </a:xfrm>
            <a:prstGeom prst="rtTriangle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6" name="Google Shape;1466;p101"/>
            <p:cNvSpPr/>
            <p:nvPr/>
          </p:nvSpPr>
          <p:spPr>
            <a:xfrm rot="-191959">
              <a:off x="7001565" y="2067332"/>
              <a:ext cx="1859899" cy="525223"/>
            </a:xfrm>
            <a:prstGeom prst="rtTriangle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7" name="Google Shape;1467;p101"/>
            <p:cNvCxnSpPr/>
            <p:nvPr/>
          </p:nvCxnSpPr>
          <p:spPr>
            <a:xfrm>
              <a:off x="7321375" y="98855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101"/>
            <p:cNvCxnSpPr/>
            <p:nvPr/>
          </p:nvCxnSpPr>
          <p:spPr>
            <a:xfrm>
              <a:off x="7321325" y="219610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9" name="Google Shape;1469;p101"/>
          <p:cNvSpPr txBox="1"/>
          <p:nvPr/>
        </p:nvSpPr>
        <p:spPr>
          <a:xfrm>
            <a:off x="686675" y="2939075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full screw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4.65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0" name="Google Shape;1470;p101"/>
          <p:cNvSpPr txBox="1"/>
          <p:nvPr/>
        </p:nvSpPr>
        <p:spPr>
          <a:xfrm>
            <a:off x="472125" y="3719075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Broken off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3.35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3.45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1" name="Google Shape;1471;p101"/>
          <p:cNvSpPr txBox="1"/>
          <p:nvPr/>
        </p:nvSpPr>
        <p:spPr>
          <a:xfrm>
            <a:off x="4050400" y="3871475"/>
            <a:ext cx="4227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odged in wall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1.1 &lt;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2" name="Google Shape;1472;p101"/>
          <p:cNvSpPr txBox="1"/>
          <p:nvPr/>
        </p:nvSpPr>
        <p:spPr>
          <a:xfrm>
            <a:off x="3656500" y="2888100"/>
            <a:ext cx="5163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limit lodged in wall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4.65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3.35 = 1.3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 limit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lodged in wall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3.45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1.1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73" name="Google Shape;1473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124933">
            <a:off x="6374587" y="968212"/>
            <a:ext cx="725801" cy="1548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 in calculations</a:t>
            </a:r>
            <a:endParaRPr/>
          </a:p>
        </p:txBody>
      </p:sp>
      <p:grpSp>
        <p:nvGrpSpPr>
          <p:cNvPr id="1479" name="Google Shape;1479;p102"/>
          <p:cNvGrpSpPr/>
          <p:nvPr/>
        </p:nvGrpSpPr>
        <p:grpSpPr>
          <a:xfrm>
            <a:off x="776932" y="1335011"/>
            <a:ext cx="3404910" cy="1235134"/>
            <a:chOff x="281272" y="2626880"/>
            <a:chExt cx="4099831" cy="1487218"/>
          </a:xfrm>
        </p:grpSpPr>
        <p:sp>
          <p:nvSpPr>
            <p:cNvPr id="1480" name="Google Shape;1480;p102"/>
            <p:cNvSpPr/>
            <p:nvPr/>
          </p:nvSpPr>
          <p:spPr>
            <a:xfrm>
              <a:off x="283704" y="2626880"/>
              <a:ext cx="4097400" cy="644700"/>
            </a:xfrm>
            <a:prstGeom prst="trapezoid">
              <a:avLst>
                <a:gd fmla="val 78302" name="adj"/>
              </a:avLst>
            </a:prstGeom>
            <a:solidFill>
              <a:srgbClr val="9FC5E8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02"/>
            <p:cNvSpPr/>
            <p:nvPr/>
          </p:nvSpPr>
          <p:spPr>
            <a:xfrm>
              <a:off x="281272" y="3270798"/>
              <a:ext cx="4097400" cy="843300"/>
            </a:xfrm>
            <a:prstGeom prst="rect">
              <a:avLst/>
            </a:prstGeom>
            <a:solidFill>
              <a:srgbClr val="E6F2F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02"/>
            <p:cNvSpPr/>
            <p:nvPr/>
          </p:nvSpPr>
          <p:spPr>
            <a:xfrm>
              <a:off x="869263" y="3386599"/>
              <a:ext cx="2923800" cy="596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02"/>
            <p:cNvSpPr/>
            <p:nvPr/>
          </p:nvSpPr>
          <p:spPr>
            <a:xfrm>
              <a:off x="3978425" y="3386588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FFAB40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02"/>
            <p:cNvSpPr/>
            <p:nvPr/>
          </p:nvSpPr>
          <p:spPr>
            <a:xfrm>
              <a:off x="3978425" y="3615475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0097A7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02"/>
            <p:cNvSpPr/>
            <p:nvPr/>
          </p:nvSpPr>
          <p:spPr>
            <a:xfrm>
              <a:off x="3978425" y="3844379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E06666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02"/>
            <p:cNvSpPr/>
            <p:nvPr/>
          </p:nvSpPr>
          <p:spPr>
            <a:xfrm>
              <a:off x="421371" y="3537863"/>
              <a:ext cx="288600" cy="288600"/>
            </a:xfrm>
            <a:prstGeom prst="ellipse">
              <a:avLst/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87" name="Google Shape;1487;p10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561681" y="2204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8" name="Google Shape;1488;p10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409910" y="2175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0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561681" y="2016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10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678550" y="2016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10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360781" y="2016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0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830321" y="2204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10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678550" y="2175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10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678550" y="2340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10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830321" y="2016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10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023945" y="2016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10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3023945" y="2175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10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023945" y="2340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10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976713" y="2204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0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175716" y="2016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10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292585" y="2016950"/>
            <a:ext cx="185351" cy="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10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245353" y="201695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10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444356" y="2204030"/>
            <a:ext cx="74361" cy="192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10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3292585" y="2175246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10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292585" y="2340757"/>
            <a:ext cx="185351" cy="6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10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245353" y="2204030"/>
            <a:ext cx="74361" cy="1926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02"/>
          <p:cNvSpPr txBox="1"/>
          <p:nvPr>
            <p:ph idx="1" type="body"/>
          </p:nvPr>
        </p:nvSpPr>
        <p:spPr>
          <a:xfrm>
            <a:off x="4472400" y="759300"/>
            <a:ext cx="4241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A box of sweets and a chocolate weigh 43.26 g correct to 2 d.p.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If the chocolate alone weighs 21.14 g (2 d.p.), what is the error interval for the mass of the box of sweets?</a:t>
            </a:r>
            <a:endParaRPr sz="1900"/>
          </a:p>
        </p:txBody>
      </p:sp>
      <p:pic>
        <p:nvPicPr>
          <p:cNvPr id="1508" name="Google Shape;1508;p102"/>
          <p:cNvPicPr preferRelativeResize="0"/>
          <p:nvPr/>
        </p:nvPicPr>
        <p:blipFill rotWithShape="1">
          <a:blip r:embed="rId4">
            <a:alphaModFix/>
          </a:blip>
          <a:srcRect b="28932" l="51114" r="22480" t="32496"/>
          <a:stretch/>
        </p:blipFill>
        <p:spPr>
          <a:xfrm>
            <a:off x="1347175" y="666750"/>
            <a:ext cx="1062725" cy="113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102"/>
          <p:cNvPicPr preferRelativeResize="0"/>
          <p:nvPr/>
        </p:nvPicPr>
        <p:blipFill rotWithShape="1">
          <a:blip r:embed="rId4">
            <a:alphaModFix/>
          </a:blip>
          <a:srcRect b="50234" l="76954" r="0" t="33456"/>
          <a:stretch/>
        </p:blipFill>
        <p:spPr>
          <a:xfrm>
            <a:off x="2360200" y="1011400"/>
            <a:ext cx="1161050" cy="7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02"/>
          <p:cNvSpPr/>
          <p:nvPr/>
        </p:nvSpPr>
        <p:spPr>
          <a:xfrm>
            <a:off x="2914334" y="2321389"/>
            <a:ext cx="52800" cy="52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02"/>
          <p:cNvSpPr txBox="1"/>
          <p:nvPr/>
        </p:nvSpPr>
        <p:spPr>
          <a:xfrm>
            <a:off x="686675" y="2939075"/>
            <a:ext cx="27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mass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43.255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43.265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2" name="Google Shape;1512;p102"/>
          <p:cNvSpPr txBox="1"/>
          <p:nvPr/>
        </p:nvSpPr>
        <p:spPr>
          <a:xfrm>
            <a:off x="472125" y="3719075"/>
            <a:ext cx="30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Chocolate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21.135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21.145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3" name="Google Shape;1513;p102"/>
          <p:cNvSpPr txBox="1"/>
          <p:nvPr/>
        </p:nvSpPr>
        <p:spPr>
          <a:xfrm>
            <a:off x="4050400" y="3871475"/>
            <a:ext cx="4227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Mass of sweets in box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22.13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&lt;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22.11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102"/>
          <p:cNvSpPr txBox="1"/>
          <p:nvPr/>
        </p:nvSpPr>
        <p:spPr>
          <a:xfrm>
            <a:off x="3656500" y="2888100"/>
            <a:ext cx="5163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Upper limit sweets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43.265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21.135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22.13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Lower limit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sweets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: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43.255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21.145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22.11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03"/>
          <p:cNvSpPr txBox="1"/>
          <p:nvPr>
            <p:ph idx="1" type="body"/>
          </p:nvPr>
        </p:nvSpPr>
        <p:spPr>
          <a:xfrm>
            <a:off x="324000" y="960250"/>
            <a:ext cx="8113800" cy="11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error intervals have a lower and upper limit.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lang="en-GB"/>
              <a:t>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Where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represents the lower limit of the error interval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represents the upper limit of the error interval.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is important to know which limits from our error intervals to use in order to calculate the largest and smallest values.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03"/>
          <p:cNvSpPr txBox="1"/>
          <p:nvPr>
            <p:ph type="title"/>
          </p:nvPr>
        </p:nvSpPr>
        <p:spPr>
          <a:xfrm>
            <a:off x="1684800" y="2724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26" name="Google Shape;152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