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b338094a3c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b338094a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inequality notation for errors in calculations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58347" y="1712137"/>
            <a:ext cx="63438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error interval for the perimeter of these shapes: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4527" y="1380500"/>
            <a:ext cx="66240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Error intervals (addition and multiplication)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915908" y="2241121"/>
            <a:ext cx="1291800" cy="12918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" name="Google Shape;164;p20"/>
          <p:cNvCxnSpPr/>
          <p:nvPr/>
        </p:nvCxnSpPr>
        <p:spPr>
          <a:xfrm>
            <a:off x="1563505" y="2095749"/>
            <a:ext cx="0" cy="277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20"/>
          <p:cNvCxnSpPr/>
          <p:nvPr/>
        </p:nvCxnSpPr>
        <p:spPr>
          <a:xfrm>
            <a:off x="1561850" y="3349706"/>
            <a:ext cx="0" cy="277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20"/>
          <p:cNvCxnSpPr/>
          <p:nvPr/>
        </p:nvCxnSpPr>
        <p:spPr>
          <a:xfrm>
            <a:off x="747473" y="2887062"/>
            <a:ext cx="3402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20"/>
          <p:cNvCxnSpPr/>
          <p:nvPr/>
        </p:nvCxnSpPr>
        <p:spPr>
          <a:xfrm>
            <a:off x="2001430" y="2887062"/>
            <a:ext cx="3402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20"/>
          <p:cNvSpPr txBox="1"/>
          <p:nvPr/>
        </p:nvSpPr>
        <p:spPr>
          <a:xfrm>
            <a:off x="525941" y="2164594"/>
            <a:ext cx="39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169" name="Google Shape;169;p20"/>
          <p:cNvSpPr txBox="1"/>
          <p:nvPr/>
        </p:nvSpPr>
        <p:spPr>
          <a:xfrm>
            <a:off x="2390223" y="2131616"/>
            <a:ext cx="39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170" name="Google Shape;170;p20"/>
          <p:cNvSpPr txBox="1"/>
          <p:nvPr/>
        </p:nvSpPr>
        <p:spPr>
          <a:xfrm>
            <a:off x="4851027" y="2164594"/>
            <a:ext cx="39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sp>
        <p:nvSpPr>
          <p:cNvPr id="171" name="Google Shape;171;p20"/>
          <p:cNvSpPr/>
          <p:nvPr/>
        </p:nvSpPr>
        <p:spPr>
          <a:xfrm>
            <a:off x="2992097" y="2174759"/>
            <a:ext cx="1859100" cy="9516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2" name="Google Shape;172;p20"/>
          <p:cNvCxnSpPr/>
          <p:nvPr/>
        </p:nvCxnSpPr>
        <p:spPr>
          <a:xfrm>
            <a:off x="2992087" y="3227119"/>
            <a:ext cx="1850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3" name="Google Shape;173;p20"/>
          <p:cNvSpPr txBox="1"/>
          <p:nvPr/>
        </p:nvSpPr>
        <p:spPr>
          <a:xfrm>
            <a:off x="3774294" y="3149890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200"/>
          </a:p>
        </p:txBody>
      </p:sp>
      <p:cxnSp>
        <p:nvCxnSpPr>
          <p:cNvPr id="174" name="Google Shape;174;p20"/>
          <p:cNvCxnSpPr/>
          <p:nvPr/>
        </p:nvCxnSpPr>
        <p:spPr>
          <a:xfrm>
            <a:off x="2887299" y="2155989"/>
            <a:ext cx="0" cy="951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5" name="Google Shape;175;p20"/>
          <p:cNvSpPr txBox="1"/>
          <p:nvPr/>
        </p:nvSpPr>
        <p:spPr>
          <a:xfrm>
            <a:off x="2574859" y="2465055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/>
          </a:p>
        </p:txBody>
      </p:sp>
      <p:sp>
        <p:nvSpPr>
          <p:cNvPr id="176" name="Google Shape;176;p20"/>
          <p:cNvSpPr/>
          <p:nvPr/>
        </p:nvSpPr>
        <p:spPr>
          <a:xfrm>
            <a:off x="5502994" y="2110227"/>
            <a:ext cx="1169700" cy="1169700"/>
          </a:xfrm>
          <a:prstGeom prst="rtTriangl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>
            <a:off x="5496410" y="3357118"/>
            <a:ext cx="1182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8" name="Google Shape;178;p20"/>
          <p:cNvSpPr txBox="1"/>
          <p:nvPr/>
        </p:nvSpPr>
        <p:spPr>
          <a:xfrm>
            <a:off x="5908556" y="3279898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/>
          </a:p>
        </p:txBody>
      </p:sp>
      <p:cxnSp>
        <p:nvCxnSpPr>
          <p:cNvPr id="179" name="Google Shape;179;p20"/>
          <p:cNvCxnSpPr/>
          <p:nvPr/>
        </p:nvCxnSpPr>
        <p:spPr>
          <a:xfrm>
            <a:off x="5389080" y="2124781"/>
            <a:ext cx="0" cy="1124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0" name="Google Shape;180;p20"/>
          <p:cNvSpPr txBox="1"/>
          <p:nvPr/>
        </p:nvSpPr>
        <p:spPr>
          <a:xfrm>
            <a:off x="5135320" y="2490049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/>
          </a:p>
        </p:txBody>
      </p:sp>
      <p:sp>
        <p:nvSpPr>
          <p:cNvPr id="181" name="Google Shape;181;p20"/>
          <p:cNvSpPr txBox="1"/>
          <p:nvPr/>
        </p:nvSpPr>
        <p:spPr>
          <a:xfrm>
            <a:off x="6098515" y="2308368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/>
          </a:p>
        </p:txBody>
      </p:sp>
      <p:cxnSp>
        <p:nvCxnSpPr>
          <p:cNvPr id="182" name="Google Shape;182;p20"/>
          <p:cNvCxnSpPr/>
          <p:nvPr/>
        </p:nvCxnSpPr>
        <p:spPr>
          <a:xfrm>
            <a:off x="5626899" y="2073552"/>
            <a:ext cx="1091700" cy="1091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3" name="Google Shape;183;p20"/>
          <p:cNvSpPr txBox="1"/>
          <p:nvPr/>
        </p:nvSpPr>
        <p:spPr>
          <a:xfrm>
            <a:off x="474525" y="5597525"/>
            <a:ext cx="65016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error interval for the area of these shapes: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685454" y="5892331"/>
            <a:ext cx="39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185" name="Google Shape;185;p20"/>
          <p:cNvSpPr txBox="1"/>
          <p:nvPr/>
        </p:nvSpPr>
        <p:spPr>
          <a:xfrm>
            <a:off x="2730561" y="5859275"/>
            <a:ext cx="39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186" name="Google Shape;186;p20"/>
          <p:cNvSpPr/>
          <p:nvPr/>
        </p:nvSpPr>
        <p:spPr>
          <a:xfrm>
            <a:off x="1076336" y="6263125"/>
            <a:ext cx="1294800" cy="12948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7" name="Google Shape;187;p20"/>
          <p:cNvCxnSpPr/>
          <p:nvPr/>
        </p:nvCxnSpPr>
        <p:spPr>
          <a:xfrm>
            <a:off x="1725452" y="6117412"/>
            <a:ext cx="0" cy="278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0"/>
          <p:cNvCxnSpPr/>
          <p:nvPr/>
        </p:nvCxnSpPr>
        <p:spPr>
          <a:xfrm>
            <a:off x="1723792" y="7409431"/>
            <a:ext cx="0" cy="278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0"/>
          <p:cNvCxnSpPr/>
          <p:nvPr/>
        </p:nvCxnSpPr>
        <p:spPr>
          <a:xfrm>
            <a:off x="907506" y="6910581"/>
            <a:ext cx="341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0"/>
          <p:cNvCxnSpPr/>
          <p:nvPr/>
        </p:nvCxnSpPr>
        <p:spPr>
          <a:xfrm>
            <a:off x="2164403" y="6910581"/>
            <a:ext cx="341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20"/>
          <p:cNvSpPr/>
          <p:nvPr/>
        </p:nvSpPr>
        <p:spPr>
          <a:xfrm>
            <a:off x="3203590" y="6265248"/>
            <a:ext cx="1172400" cy="1172400"/>
          </a:xfrm>
          <a:prstGeom prst="rtTriangle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" name="Google Shape;192;p20"/>
          <p:cNvCxnSpPr/>
          <p:nvPr/>
        </p:nvCxnSpPr>
        <p:spPr>
          <a:xfrm>
            <a:off x="3196991" y="7515063"/>
            <a:ext cx="1185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3" name="Google Shape;193;p20"/>
          <p:cNvSpPr txBox="1"/>
          <p:nvPr/>
        </p:nvSpPr>
        <p:spPr>
          <a:xfrm>
            <a:off x="3610103" y="7437662"/>
            <a:ext cx="35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/>
          </a:p>
        </p:txBody>
      </p:sp>
      <p:cxnSp>
        <p:nvCxnSpPr>
          <p:cNvPr id="194" name="Google Shape;194;p20"/>
          <p:cNvCxnSpPr/>
          <p:nvPr/>
        </p:nvCxnSpPr>
        <p:spPr>
          <a:xfrm>
            <a:off x="3089409" y="6279836"/>
            <a:ext cx="0" cy="1127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5" name="Google Shape;195;p20"/>
          <p:cNvSpPr txBox="1"/>
          <p:nvPr/>
        </p:nvSpPr>
        <p:spPr>
          <a:xfrm>
            <a:off x="2835054" y="6645960"/>
            <a:ext cx="35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/>
          </a:p>
        </p:txBody>
      </p:sp>
      <p:sp>
        <p:nvSpPr>
          <p:cNvPr id="196" name="Google Shape;196;p20"/>
          <p:cNvSpPr txBox="1"/>
          <p:nvPr/>
        </p:nvSpPr>
        <p:spPr>
          <a:xfrm>
            <a:off x="3800508" y="6463853"/>
            <a:ext cx="35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/>
          </a:p>
        </p:txBody>
      </p:sp>
      <p:cxnSp>
        <p:nvCxnSpPr>
          <p:cNvPr id="197" name="Google Shape;197;p20"/>
          <p:cNvCxnSpPr/>
          <p:nvPr/>
        </p:nvCxnSpPr>
        <p:spPr>
          <a:xfrm>
            <a:off x="3327787" y="6228487"/>
            <a:ext cx="1094100" cy="1094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8" name="Google Shape;198;p20"/>
          <p:cNvSpPr txBox="1"/>
          <p:nvPr/>
        </p:nvSpPr>
        <p:spPr>
          <a:xfrm>
            <a:off x="907500" y="8033225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 with lengths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4.3 cm (1 d.p)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3028800" y="7707575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=  5 cm (1 s.f)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3028800" y="8122899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=  12 cm (2 s.f)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3028800" y="8545775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=  13 cm (2 s.f)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530463" y="3763919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 with lengths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 (1 s.f)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2874600" y="3530400"/>
            <a:ext cx="2488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 =  2.3 cm (1 d.p)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2874600" y="3987600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 =  7.9 cm (1 d.p)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5378400" y="3606600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=  5 cm (1 s.f)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5378400" y="4021924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=  12 cm (2 s.f)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5378400" y="4444800"/>
            <a:ext cx="222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=  13 cm (2 s.f)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Using inequality notation for errors in calculations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564350" y="720000"/>
            <a:ext cx="65277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Given the error interval of the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can you work out the rounded lengths and the degree of accuracy?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914424" y="1357872"/>
            <a:ext cx="1329300" cy="13293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5" name="Google Shape;215;p21"/>
          <p:cNvCxnSpPr/>
          <p:nvPr/>
        </p:nvCxnSpPr>
        <p:spPr>
          <a:xfrm>
            <a:off x="1580802" y="1208284"/>
            <a:ext cx="0" cy="285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21"/>
          <p:cNvCxnSpPr/>
          <p:nvPr/>
        </p:nvCxnSpPr>
        <p:spPr>
          <a:xfrm>
            <a:off x="1579099" y="2558988"/>
            <a:ext cx="0" cy="285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21"/>
          <p:cNvCxnSpPr/>
          <p:nvPr/>
        </p:nvCxnSpPr>
        <p:spPr>
          <a:xfrm>
            <a:off x="741104" y="2022546"/>
            <a:ext cx="350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21"/>
          <p:cNvCxnSpPr/>
          <p:nvPr/>
        </p:nvCxnSpPr>
        <p:spPr>
          <a:xfrm>
            <a:off x="2031427" y="2022546"/>
            <a:ext cx="350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21"/>
          <p:cNvSpPr txBox="1"/>
          <p:nvPr/>
        </p:nvSpPr>
        <p:spPr>
          <a:xfrm>
            <a:off x="2463558" y="1278373"/>
            <a:ext cx="16116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 with lengths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8.3 cm (1 d.p)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2800800" y="2511539"/>
            <a:ext cx="3110100" cy="184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68.0625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area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&lt; 69.7225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1" name="Google Shape;221;p21"/>
          <p:cNvCxnSpPr/>
          <p:nvPr/>
        </p:nvCxnSpPr>
        <p:spPr>
          <a:xfrm>
            <a:off x="474757" y="53809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1"/>
          <p:cNvSpPr txBox="1"/>
          <p:nvPr/>
        </p:nvSpPr>
        <p:spPr>
          <a:xfrm>
            <a:off x="538913" y="5965575"/>
            <a:ext cx="65415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rope was originally 5.3 cm (1 d.p). A piece of  3.8 cm (1 d.p) was cut from the rope. What is the error interval for the remaining length?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74750" y="55413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Error intervals in calculations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4" name="Google Shape;224;p21"/>
          <p:cNvPicPr preferRelativeResize="0"/>
          <p:nvPr/>
        </p:nvPicPr>
        <p:blipFill rotWithShape="1">
          <a:blip r:embed="rId3">
            <a:alphaModFix/>
          </a:blip>
          <a:srcRect b="0" l="30514" r="23468" t="0"/>
          <a:stretch/>
        </p:blipFill>
        <p:spPr>
          <a:xfrm>
            <a:off x="2691932" y="6761923"/>
            <a:ext cx="1385357" cy="143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/>
          <p:cNvPicPr preferRelativeResize="0"/>
          <p:nvPr/>
        </p:nvPicPr>
        <p:blipFill rotWithShape="1">
          <a:blip r:embed="rId3">
            <a:alphaModFix/>
          </a:blip>
          <a:srcRect b="0" l="0" r="69484" t="0"/>
          <a:stretch/>
        </p:blipFill>
        <p:spPr>
          <a:xfrm>
            <a:off x="1773303" y="6763326"/>
            <a:ext cx="918629" cy="143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/>
          <p:cNvPicPr preferRelativeResize="0"/>
          <p:nvPr/>
        </p:nvPicPr>
        <p:blipFill rotWithShape="1">
          <a:blip r:embed="rId3">
            <a:alphaModFix/>
          </a:blip>
          <a:srcRect b="0" l="78650" r="0" t="0"/>
          <a:stretch/>
        </p:blipFill>
        <p:spPr>
          <a:xfrm>
            <a:off x="5401131" y="6763326"/>
            <a:ext cx="444901" cy="143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/>
          <p:cNvPicPr preferRelativeResize="0"/>
          <p:nvPr/>
        </p:nvPicPr>
        <p:blipFill rotWithShape="1">
          <a:blip r:embed="rId3">
            <a:alphaModFix/>
          </a:blip>
          <a:srcRect b="0" l="30514" r="23468" t="0"/>
          <a:stretch/>
        </p:blipFill>
        <p:spPr>
          <a:xfrm>
            <a:off x="4445387" y="6761923"/>
            <a:ext cx="958997" cy="143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/>
          <p:cNvPicPr preferRelativeResize="0"/>
          <p:nvPr/>
        </p:nvPicPr>
        <p:blipFill rotWithShape="1">
          <a:blip r:embed="rId3">
            <a:alphaModFix/>
          </a:blip>
          <a:srcRect b="0" l="78650" r="0" t="0"/>
          <a:stretch/>
        </p:blipFill>
        <p:spPr>
          <a:xfrm>
            <a:off x="3505806" y="6763326"/>
            <a:ext cx="642700" cy="143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/>
          <p:cNvPicPr preferRelativeResize="0"/>
          <p:nvPr/>
        </p:nvPicPr>
        <p:blipFill rotWithShape="1">
          <a:blip r:embed="rId3">
            <a:alphaModFix/>
          </a:blip>
          <a:srcRect b="0" l="0" r="69484" t="0"/>
          <a:stretch/>
        </p:blipFill>
        <p:spPr>
          <a:xfrm>
            <a:off x="4381504" y="6761917"/>
            <a:ext cx="635909" cy="14371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/>
          <p:nvPr/>
        </p:nvSpPr>
        <p:spPr>
          <a:xfrm>
            <a:off x="2524451" y="1479011"/>
            <a:ext cx="2033700" cy="28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7" name="Google Shape;237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Using inequality notation for errors in calculations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</a:t>
            </a:r>
            <a:r>
              <a:rPr lang="en-GB"/>
              <a:t> in Education and Industry</a:t>
            </a:r>
            <a:endParaRPr/>
          </a:p>
        </p:txBody>
      </p:sp>
      <p:pic>
        <p:nvPicPr>
          <p:cNvPr id="240" name="Google Shape;2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1184" y="719999"/>
            <a:ext cx="653815" cy="1243717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551925" y="872422"/>
            <a:ext cx="5538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coffee had 330 ml (the nearest integer) and Lucas drank 32 ml (2 s.f.). What is the error interval for the remaining coffee?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2" name="Google Shape;2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6398638" y="3303340"/>
            <a:ext cx="303758" cy="768037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468000" y="3029175"/>
            <a:ext cx="42495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 screw has broken off from a wall.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Originally the screw was 4.6 mm (1 d.p).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broken off piece measures 3.4 mm 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d.p).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error interval length of the screw which is lodged in the wall.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4" name="Google Shape;244;p22"/>
          <p:cNvGrpSpPr/>
          <p:nvPr/>
        </p:nvGrpSpPr>
        <p:grpSpPr>
          <a:xfrm>
            <a:off x="5661156" y="3068728"/>
            <a:ext cx="1346356" cy="1541982"/>
            <a:chOff x="6886300" y="888600"/>
            <a:chExt cx="1988415" cy="1755444"/>
          </a:xfrm>
        </p:grpSpPr>
        <p:sp>
          <p:nvSpPr>
            <p:cNvPr id="245" name="Google Shape;245;p22"/>
            <p:cNvSpPr/>
            <p:nvPr/>
          </p:nvSpPr>
          <p:spPr>
            <a:xfrm>
              <a:off x="7331675" y="909625"/>
              <a:ext cx="1107000" cy="1618500"/>
            </a:xfrm>
            <a:prstGeom prst="rect">
              <a:avLst/>
            </a:prstGeom>
            <a:solidFill>
              <a:srgbClr val="F0F0F0">
                <a:alpha val="63919"/>
              </a:srgb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" name="Google Shape;246;p22"/>
            <p:cNvSpPr/>
            <p:nvPr/>
          </p:nvSpPr>
          <p:spPr>
            <a:xfrm>
              <a:off x="7567464" y="1427057"/>
              <a:ext cx="173400" cy="331500"/>
            </a:xfrm>
            <a:prstGeom prst="ellipse">
              <a:avLst/>
            </a:prstGeom>
            <a:solidFill>
              <a:srgbClr val="49422A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7" name="Google Shape;247;p22"/>
            <p:cNvCxnSpPr/>
            <p:nvPr/>
          </p:nvCxnSpPr>
          <p:spPr>
            <a:xfrm>
              <a:off x="7103050" y="2160000"/>
              <a:ext cx="1441500" cy="33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8" name="Google Shape;248;p22"/>
            <p:cNvSpPr/>
            <p:nvPr/>
          </p:nvSpPr>
          <p:spPr>
            <a:xfrm rot="10800000">
              <a:off x="6886300" y="888600"/>
              <a:ext cx="1833000" cy="382800"/>
            </a:xfrm>
            <a:prstGeom prst="rtTriangle">
              <a:avLst/>
            </a:prstGeom>
            <a:solidFill>
              <a:srgbClr val="EEEEE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EEEEEE"/>
                </a:highlight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" name="Google Shape;249;p22"/>
            <p:cNvSpPr/>
            <p:nvPr/>
          </p:nvSpPr>
          <p:spPr>
            <a:xfrm rot="-191959">
              <a:off x="7001565" y="2067332"/>
              <a:ext cx="1859899" cy="525223"/>
            </a:xfrm>
            <a:prstGeom prst="rtTriangle">
              <a:avLst/>
            </a:prstGeom>
            <a:solidFill>
              <a:srgbClr val="EEEEE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0" name="Google Shape;250;p22"/>
            <p:cNvCxnSpPr/>
            <p:nvPr/>
          </p:nvCxnSpPr>
          <p:spPr>
            <a:xfrm>
              <a:off x="7321375" y="988550"/>
              <a:ext cx="1127700" cy="226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" name="Google Shape;251;p22"/>
            <p:cNvCxnSpPr/>
            <p:nvPr/>
          </p:nvCxnSpPr>
          <p:spPr>
            <a:xfrm>
              <a:off x="7321325" y="2196100"/>
              <a:ext cx="1127700" cy="226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252" name="Google Shape;25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6124933">
            <a:off x="5185351" y="3192053"/>
            <a:ext cx="565873" cy="12075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2"/>
          <p:cNvGrpSpPr/>
          <p:nvPr/>
        </p:nvGrpSpPr>
        <p:grpSpPr>
          <a:xfrm>
            <a:off x="709862" y="6778225"/>
            <a:ext cx="2701789" cy="980076"/>
            <a:chOff x="281272" y="2626880"/>
            <a:chExt cx="4099831" cy="1487218"/>
          </a:xfrm>
        </p:grpSpPr>
        <p:sp>
          <p:nvSpPr>
            <p:cNvPr id="254" name="Google Shape;254;p22"/>
            <p:cNvSpPr/>
            <p:nvPr/>
          </p:nvSpPr>
          <p:spPr>
            <a:xfrm>
              <a:off x="283704" y="2626880"/>
              <a:ext cx="4097400" cy="644700"/>
            </a:xfrm>
            <a:prstGeom prst="trapezoid">
              <a:avLst>
                <a:gd fmla="val 78302" name="adj"/>
              </a:avLst>
            </a:prstGeom>
            <a:solidFill>
              <a:srgbClr val="9999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2"/>
            <p:cNvSpPr/>
            <p:nvPr/>
          </p:nvSpPr>
          <p:spPr>
            <a:xfrm>
              <a:off x="281272" y="3270798"/>
              <a:ext cx="4097400" cy="8433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2"/>
            <p:cNvSpPr/>
            <p:nvPr/>
          </p:nvSpPr>
          <p:spPr>
            <a:xfrm>
              <a:off x="869263" y="3386599"/>
              <a:ext cx="2923800" cy="5967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2"/>
            <p:cNvSpPr/>
            <p:nvPr/>
          </p:nvSpPr>
          <p:spPr>
            <a:xfrm>
              <a:off x="3978425" y="3386588"/>
              <a:ext cx="288600" cy="133500"/>
            </a:xfrm>
            <a:prstGeom prst="roundRect">
              <a:avLst>
                <a:gd fmla="val 16667" name="adj"/>
              </a:avLst>
            </a:prstGeom>
            <a:solidFill>
              <a:srgbClr val="808080"/>
            </a:solidFill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2"/>
            <p:cNvSpPr/>
            <p:nvPr/>
          </p:nvSpPr>
          <p:spPr>
            <a:xfrm>
              <a:off x="3978425" y="3615475"/>
              <a:ext cx="288600" cy="1335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2"/>
            <p:cNvSpPr/>
            <p:nvPr/>
          </p:nvSpPr>
          <p:spPr>
            <a:xfrm>
              <a:off x="3978425" y="3844379"/>
              <a:ext cx="288600" cy="133500"/>
            </a:xfrm>
            <a:prstGeom prst="roundRect">
              <a:avLst>
                <a:gd fmla="val 16667" name="adj"/>
              </a:avLst>
            </a:prstGeom>
            <a:solidFill>
              <a:srgbClr val="B7B7B7"/>
            </a:solidFill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2"/>
            <p:cNvSpPr/>
            <p:nvPr/>
          </p:nvSpPr>
          <p:spPr>
            <a:xfrm>
              <a:off x="421371" y="3537863"/>
              <a:ext cx="288600" cy="288600"/>
            </a:xfrm>
            <a:prstGeom prst="ellipse">
              <a:avLst/>
            </a:prstGeom>
            <a:solidFill>
              <a:srgbClr val="EEEEEE"/>
            </a:solidFill>
            <a:ln cap="flat" cmpd="sng" w="381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61" name="Google Shape;261;p22"/>
          <p:cNvPicPr preferRelativeResize="0"/>
          <p:nvPr/>
        </p:nvPicPr>
        <p:blipFill rotWithShape="1">
          <a:blip r:embed="rId6">
            <a:alphaModFix/>
          </a:blip>
          <a:srcRect b="0" l="87144" r="-4214" t="49266"/>
          <a:stretch/>
        </p:blipFill>
        <p:spPr>
          <a:xfrm>
            <a:off x="2126008" y="7467716"/>
            <a:ext cx="59003" cy="152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2"/>
          <p:cNvPicPr preferRelativeResize="0"/>
          <p:nvPr/>
        </p:nvPicPr>
        <p:blipFill rotWithShape="1">
          <a:blip r:embed="rId6">
            <a:alphaModFix/>
          </a:blip>
          <a:srcRect b="40626" l="0" r="57452" t="41687"/>
          <a:stretch/>
        </p:blipFill>
        <p:spPr>
          <a:xfrm>
            <a:off x="2005582" y="7444877"/>
            <a:ext cx="147071" cy="5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/>
          <p:cNvPicPr preferRelativeResize="0"/>
          <p:nvPr/>
        </p:nvPicPr>
        <p:blipFill rotWithShape="1">
          <a:blip r:embed="rId6">
            <a:alphaModFix/>
          </a:blip>
          <a:srcRect b="49266" l="87144" r="-4214" t="0"/>
          <a:stretch/>
        </p:blipFill>
        <p:spPr>
          <a:xfrm>
            <a:off x="2126008" y="7319273"/>
            <a:ext cx="59003" cy="152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2"/>
          <p:cNvPicPr preferRelativeResize="0"/>
          <p:nvPr/>
        </p:nvPicPr>
        <p:blipFill rotWithShape="1">
          <a:blip r:embed="rId6">
            <a:alphaModFix/>
          </a:blip>
          <a:srcRect b="86106" l="0" r="57452" t="0"/>
          <a:stretch/>
        </p:blipFill>
        <p:spPr>
          <a:xfrm>
            <a:off x="2218741" y="7319273"/>
            <a:ext cx="147071" cy="41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2"/>
          <p:cNvPicPr preferRelativeResize="0"/>
          <p:nvPr/>
        </p:nvPicPr>
        <p:blipFill rotWithShape="1">
          <a:blip r:embed="rId6">
            <a:alphaModFix/>
          </a:blip>
          <a:srcRect b="49266" l="46951" r="35979" t="0"/>
          <a:stretch/>
        </p:blipFill>
        <p:spPr>
          <a:xfrm>
            <a:off x="1966599" y="7319273"/>
            <a:ext cx="59003" cy="152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2"/>
          <p:cNvPicPr preferRelativeResize="0"/>
          <p:nvPr/>
        </p:nvPicPr>
        <p:blipFill rotWithShape="1">
          <a:blip r:embed="rId6">
            <a:alphaModFix/>
          </a:blip>
          <a:srcRect b="0" l="87144" r="-4214" t="49266"/>
          <a:stretch/>
        </p:blipFill>
        <p:spPr>
          <a:xfrm>
            <a:off x="2339167" y="7467716"/>
            <a:ext cx="59003" cy="152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2"/>
          <p:cNvPicPr preferRelativeResize="0"/>
          <p:nvPr/>
        </p:nvPicPr>
        <p:blipFill rotWithShape="1">
          <a:blip r:embed="rId6">
            <a:alphaModFix/>
          </a:blip>
          <a:srcRect b="40626" l="0" r="57452" t="41687"/>
          <a:stretch/>
        </p:blipFill>
        <p:spPr>
          <a:xfrm>
            <a:off x="2218741" y="7444877"/>
            <a:ext cx="147071" cy="5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2"/>
          <p:cNvPicPr preferRelativeResize="0"/>
          <p:nvPr/>
        </p:nvPicPr>
        <p:blipFill rotWithShape="1">
          <a:blip r:embed="rId6">
            <a:alphaModFix/>
          </a:blip>
          <a:srcRect b="-2964" l="0" r="57452" t="85277"/>
          <a:stretch/>
        </p:blipFill>
        <p:spPr>
          <a:xfrm>
            <a:off x="2218741" y="7576206"/>
            <a:ext cx="147071" cy="5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2"/>
          <p:cNvPicPr preferRelativeResize="0"/>
          <p:nvPr/>
        </p:nvPicPr>
        <p:blipFill rotWithShape="1">
          <a:blip r:embed="rId6">
            <a:alphaModFix/>
          </a:blip>
          <a:srcRect b="49266" l="87144" r="-4214" t="0"/>
          <a:stretch/>
        </p:blipFill>
        <p:spPr>
          <a:xfrm>
            <a:off x="2339167" y="7319273"/>
            <a:ext cx="59003" cy="152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2"/>
          <p:cNvPicPr preferRelativeResize="0"/>
          <p:nvPr/>
        </p:nvPicPr>
        <p:blipFill rotWithShape="1">
          <a:blip r:embed="rId6">
            <a:alphaModFix/>
          </a:blip>
          <a:srcRect b="86106" l="0" r="57452" t="0"/>
          <a:stretch/>
        </p:blipFill>
        <p:spPr>
          <a:xfrm>
            <a:off x="2492802" y="7319273"/>
            <a:ext cx="147071" cy="41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/>
          <p:cNvPicPr preferRelativeResize="0"/>
          <p:nvPr/>
        </p:nvPicPr>
        <p:blipFill rotWithShape="1">
          <a:blip r:embed="rId6">
            <a:alphaModFix/>
          </a:blip>
          <a:srcRect b="40626" l="0" r="57452" t="41687"/>
          <a:stretch/>
        </p:blipFill>
        <p:spPr>
          <a:xfrm>
            <a:off x="2492802" y="7444877"/>
            <a:ext cx="147071" cy="5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2"/>
          <p:cNvPicPr preferRelativeResize="0"/>
          <p:nvPr/>
        </p:nvPicPr>
        <p:blipFill rotWithShape="1">
          <a:blip r:embed="rId6">
            <a:alphaModFix/>
          </a:blip>
          <a:srcRect b="-2964" l="0" r="57452" t="85277"/>
          <a:stretch/>
        </p:blipFill>
        <p:spPr>
          <a:xfrm>
            <a:off x="2492802" y="7576206"/>
            <a:ext cx="147071" cy="5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2"/>
          <p:cNvPicPr preferRelativeResize="0"/>
          <p:nvPr/>
        </p:nvPicPr>
        <p:blipFill rotWithShape="1">
          <a:blip r:embed="rId6">
            <a:alphaModFix/>
          </a:blip>
          <a:srcRect b="0" l="46951" r="35979" t="49266"/>
          <a:stretch/>
        </p:blipFill>
        <p:spPr>
          <a:xfrm>
            <a:off x="2455325" y="7467716"/>
            <a:ext cx="59003" cy="152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2"/>
          <p:cNvPicPr preferRelativeResize="0"/>
          <p:nvPr/>
        </p:nvPicPr>
        <p:blipFill rotWithShape="1">
          <a:blip r:embed="rId6">
            <a:alphaModFix/>
          </a:blip>
          <a:srcRect b="49266" l="87144" r="-4214" t="0"/>
          <a:stretch/>
        </p:blipFill>
        <p:spPr>
          <a:xfrm>
            <a:off x="2613229" y="7319273"/>
            <a:ext cx="59003" cy="152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/>
          <p:cNvPicPr preferRelativeResize="0"/>
          <p:nvPr/>
        </p:nvPicPr>
        <p:blipFill rotWithShape="1">
          <a:blip r:embed="rId6">
            <a:alphaModFix/>
          </a:blip>
          <a:srcRect b="86106" l="0" r="57452" t="0"/>
          <a:stretch/>
        </p:blipFill>
        <p:spPr>
          <a:xfrm>
            <a:off x="2705961" y="7319273"/>
            <a:ext cx="147071" cy="41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2"/>
          <p:cNvPicPr preferRelativeResize="0"/>
          <p:nvPr/>
        </p:nvPicPr>
        <p:blipFill rotWithShape="1">
          <a:blip r:embed="rId6">
            <a:alphaModFix/>
          </a:blip>
          <a:srcRect b="49266" l="46951" r="35979" t="0"/>
          <a:stretch/>
        </p:blipFill>
        <p:spPr>
          <a:xfrm>
            <a:off x="2668484" y="7319273"/>
            <a:ext cx="59003" cy="152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2"/>
          <p:cNvPicPr preferRelativeResize="0"/>
          <p:nvPr/>
        </p:nvPicPr>
        <p:blipFill rotWithShape="1">
          <a:blip r:embed="rId6">
            <a:alphaModFix/>
          </a:blip>
          <a:srcRect b="0" l="87144" r="-4214" t="49266"/>
          <a:stretch/>
        </p:blipFill>
        <p:spPr>
          <a:xfrm>
            <a:off x="2826387" y="7467716"/>
            <a:ext cx="59003" cy="152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2"/>
          <p:cNvPicPr preferRelativeResize="0"/>
          <p:nvPr/>
        </p:nvPicPr>
        <p:blipFill rotWithShape="1">
          <a:blip r:embed="rId6">
            <a:alphaModFix/>
          </a:blip>
          <a:srcRect b="40626" l="0" r="57452" t="41687"/>
          <a:stretch/>
        </p:blipFill>
        <p:spPr>
          <a:xfrm>
            <a:off x="2705961" y="7444877"/>
            <a:ext cx="147071" cy="5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2"/>
          <p:cNvPicPr preferRelativeResize="0"/>
          <p:nvPr/>
        </p:nvPicPr>
        <p:blipFill rotWithShape="1">
          <a:blip r:embed="rId6">
            <a:alphaModFix/>
          </a:blip>
          <a:srcRect b="-2964" l="0" r="57452" t="85277"/>
          <a:stretch/>
        </p:blipFill>
        <p:spPr>
          <a:xfrm>
            <a:off x="2705961" y="7576206"/>
            <a:ext cx="147071" cy="5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2"/>
          <p:cNvPicPr preferRelativeResize="0"/>
          <p:nvPr/>
        </p:nvPicPr>
        <p:blipFill rotWithShape="1">
          <a:blip r:embed="rId6">
            <a:alphaModFix/>
          </a:blip>
          <a:srcRect b="0" l="46951" r="35979" t="49266"/>
          <a:stretch/>
        </p:blipFill>
        <p:spPr>
          <a:xfrm>
            <a:off x="2668484" y="7467716"/>
            <a:ext cx="59003" cy="152858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/>
          <p:cNvSpPr txBox="1"/>
          <p:nvPr/>
        </p:nvSpPr>
        <p:spPr>
          <a:xfrm>
            <a:off x="3642125" y="6321355"/>
            <a:ext cx="3365700" cy="14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A box of sweets and a chocolate weigh 43.26 g correct to 2 d.p.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the chocolate alone weighs 21.14 g (2 d.p), what is the error interval for the mass of the box of sweets?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2" name="Google Shape;282;p22"/>
          <p:cNvPicPr preferRelativeResize="0"/>
          <p:nvPr/>
        </p:nvPicPr>
        <p:blipFill rotWithShape="1">
          <a:blip r:embed="rId7">
            <a:alphaModFix/>
          </a:blip>
          <a:srcRect b="28932" l="51114" r="22480" t="32496"/>
          <a:stretch/>
        </p:blipFill>
        <p:spPr>
          <a:xfrm>
            <a:off x="1162329" y="6247925"/>
            <a:ext cx="843245" cy="902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2"/>
          <p:cNvPicPr preferRelativeResize="0"/>
          <p:nvPr/>
        </p:nvPicPr>
        <p:blipFill rotWithShape="1">
          <a:blip r:embed="rId7">
            <a:alphaModFix/>
          </a:blip>
          <a:srcRect b="50234" l="76954" r="0" t="33456"/>
          <a:stretch/>
        </p:blipFill>
        <p:spPr>
          <a:xfrm>
            <a:off x="1966138" y="6521396"/>
            <a:ext cx="921264" cy="62619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2"/>
          <p:cNvSpPr/>
          <p:nvPr/>
        </p:nvSpPr>
        <p:spPr>
          <a:xfrm>
            <a:off x="2405829" y="7560838"/>
            <a:ext cx="42000" cy="42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