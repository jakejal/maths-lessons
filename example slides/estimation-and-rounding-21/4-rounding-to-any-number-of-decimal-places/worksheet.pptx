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A1EB12-AFBB-4565-AB3A-DE27581275CD}">
  <a:tblStyle styleId="{99A1EB12-AFBB-4565-AB3A-DE27581275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20f00f178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20f00f1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Rounding to any number of decimal places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15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Rounding to a given number of decimal places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743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table: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468000" y="202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{99A1EB12-AFBB-4565-AB3A-DE27581275CD}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1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2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 3 d.p.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14.25342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765.3246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2035.83716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7.658192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82.82926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0.63492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0.2995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/>
                </a:tc>
              </a:tr>
            </a:tbl>
          </a:graphicData>
        </a:graphic>
      </p:graphicFrame>
      <p:sp>
        <p:nvSpPr>
          <p:cNvPr id="164" name="Google Shape;164;p20"/>
          <p:cNvSpPr txBox="1"/>
          <p:nvPr/>
        </p:nvSpPr>
        <p:spPr>
          <a:xfrm>
            <a:off x="468000" y="5276950"/>
            <a:ext cx="6624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clues, find the numbers being described: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2 and 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2 decimal places I am 2.88.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My hundredths digit is greater than my thousandths digit.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The difference between my tenths and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thousandths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digits is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lt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1 and 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1 decimal place I am 1.9.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When rounded to 2 decimal places I am 1.90.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The sum of my tenths and thousandths column is 13.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468000" y="720000"/>
            <a:ext cx="66240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the clues find the numbers being described: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1 − I am between 0 and 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2 − I have 3 digits after the decimal point.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3 − When rounded to 1 decimal place I am 0.1.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4 − When rounded to 2 decimal places I am 0.08.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Clue 5 − My hundredths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column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double my thousandths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column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am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</a:t>
            </a:r>
            <a:r>
              <a:rPr lang="en-GB" sz="1200" u="sng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  <p:cxnSp>
        <p:nvCxnSpPr>
          <p:cNvPr id="171" name="Google Shape;171;p21"/>
          <p:cNvCxnSpPr/>
          <p:nvPr/>
        </p:nvCxnSpPr>
        <p:spPr>
          <a:xfrm>
            <a:off x="480750" y="3083886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1"/>
          <p:cNvSpPr txBox="1"/>
          <p:nvPr/>
        </p:nvSpPr>
        <p:spPr>
          <a:xfrm>
            <a:off x="468000" y="32097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Rounding in a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1"/>
          <p:cNvSpPr txBox="1"/>
          <p:nvPr/>
        </p:nvSpPr>
        <p:spPr>
          <a:xfrm>
            <a:off x="468000" y="3516300"/>
            <a:ext cx="6624000" cy="6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friends go out for lunch and spend £25.  They decide that there are 3 different ways they can pay.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Write down the pros and cons of the different ways.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Round the cost to the nearest £10 and split the bill.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Split the bill between the 3 of them, round this to the nearest pound and each pay that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Split the bill between the 3 of them, round to 2 decimal places and each pay that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should they do to pay for the lunch?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0" name="Google Shape;180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any number of decimal places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468000" y="720000"/>
            <a:ext cx="6480600" cy="23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cost of carpeting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2"/>
          <p:cNvSpPr/>
          <p:nvPr/>
        </p:nvSpPr>
        <p:spPr>
          <a:xfrm rot="-5400000">
            <a:off x="1231950" y="851509"/>
            <a:ext cx="1068600" cy="1832400"/>
          </a:xfrm>
          <a:prstGeom prst="rect">
            <a:avLst/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2732781" y="1634441"/>
            <a:ext cx="7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1513252" y="981859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52795" y="1381354"/>
            <a:ext cx="1626931" cy="708419"/>
          </a:xfrm>
          <a:prstGeom prst="flowChartPunchedTape">
            <a:avLst/>
          </a:prstGeom>
          <a:noFill/>
          <a:ln cap="flat" cmpd="sng" w="38100">
            <a:solidFill>
              <a:srgbClr val="037B7D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£6.25 per 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022557" y="2773213"/>
            <a:ext cx="968700" cy="968700"/>
          </a:xfrm>
          <a:prstGeom prst="rect">
            <a:avLst/>
          </a:prstGeom>
          <a:solidFill>
            <a:srgbClr val="80808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1991399" y="3096436"/>
            <a:ext cx="612900" cy="645600"/>
          </a:xfrm>
          <a:prstGeom prst="rect">
            <a:avLst/>
          </a:prstGeom>
          <a:solidFill>
            <a:srgbClr val="808080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244390" y="2540503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5.1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1523949" y="3739459"/>
            <a:ext cx="61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8.08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494743" y="3129890"/>
            <a:ext cx="47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626831" y="3310148"/>
            <a:ext cx="61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2.84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1152222" y="3120439"/>
            <a:ext cx="1291927" cy="581128"/>
          </a:xfrm>
          <a:prstGeom prst="flowChartPunchedTape">
            <a:avLst/>
          </a:prstGeom>
          <a:noFill/>
          <a:ln cap="flat" cmpd="sng" w="38100">
            <a:solidFill>
              <a:srgbClr val="037B7D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£5.95 per m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468000" y="4115100"/>
            <a:ext cx="6624000" cy="3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Lucas, Aisha and Jacob take part in 800 m on sports day.  The teacher recorded their times to the nearest minute.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their times: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	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minutes				3 minutes					3 minutes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rounding to the nearest minute a suitable degree of accuracy?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teacher then decides to record their times to the nearest hundredth of a second.  Is this an appropriate degree of accuracy?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468000" y="7228500"/>
            <a:ext cx="64431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their exact times: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Was it necessary to record the times to the nearest 100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a second?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70125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1983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31720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70125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1983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31720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856153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805864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01774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856153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805864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01774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223902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173613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385496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223902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173613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385496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509929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1671523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1509929" y="8091395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509929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1671523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107197" y="8016175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107197" y="8179616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1767582" y="8275340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1885818" y="791901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1835529" y="791901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047412" y="811819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1885818" y="826376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1835529" y="811819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047412" y="791901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172973" y="7922860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122684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2334567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2172973" y="8091395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172973" y="8267612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122684" y="812204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2334567" y="7922860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2894504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284421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056098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2894504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284421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056098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180531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130242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34212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180531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130242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34212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548280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3497991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709874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548280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3497991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709874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3834307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3995901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3834307" y="806189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3834307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3995901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/>
          <p:nvPr/>
        </p:nvSpPr>
        <p:spPr>
          <a:xfrm>
            <a:off x="3431575" y="7986672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3431575" y="8150113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4091960" y="8245838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210196" y="7889515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210196" y="8234267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159908" y="808869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371790" y="788951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4497351" y="789335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4447062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4658945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4210529" y="806189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4497351" y="823810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4447062" y="809253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4658945" y="789335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248384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19809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409978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248384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19809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409978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534411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484123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569600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534411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484123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569600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5902161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5851872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063755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5902161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5851872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063755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188188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195638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188188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6349782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/>
          <p:nvPr/>
        </p:nvSpPr>
        <p:spPr>
          <a:xfrm>
            <a:off x="5785456" y="8006142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5785456" y="8169583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6445840" y="8265308"/>
            <a:ext cx="56100" cy="56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564077" y="7908985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513788" y="7908985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6725671" y="8108166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564077" y="8253737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/>
          <p:cNvPicPr preferRelativeResize="0"/>
          <p:nvPr/>
        </p:nvPicPr>
        <p:blipFill rotWithShape="1">
          <a:blip r:embed="rId3">
            <a:alphaModFix/>
          </a:blip>
          <a:srcRect b="86106" l="0" r="57452" t="0"/>
          <a:stretch/>
        </p:blipFill>
        <p:spPr>
          <a:xfrm>
            <a:off x="6851232" y="7912828"/>
            <a:ext cx="197348" cy="56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800943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 b="0" l="87144" r="-4214" t="49266"/>
          <a:stretch/>
        </p:blipFill>
        <p:spPr>
          <a:xfrm>
            <a:off x="7012826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851232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-2964" l="0" r="57452" t="85277"/>
          <a:stretch/>
        </p:blipFill>
        <p:spPr>
          <a:xfrm>
            <a:off x="6851232" y="8257579"/>
            <a:ext cx="197348" cy="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/>
          <p:cNvPicPr preferRelativeResize="0"/>
          <p:nvPr/>
        </p:nvPicPr>
        <p:blipFill rotWithShape="1">
          <a:blip r:embed="rId3">
            <a:alphaModFix/>
          </a:blip>
          <a:srcRect b="0" l="46951" r="35979" t="49266"/>
          <a:stretch/>
        </p:blipFill>
        <p:spPr>
          <a:xfrm>
            <a:off x="6800943" y="811200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/>
          <p:cNvPicPr preferRelativeResize="0"/>
          <p:nvPr/>
        </p:nvPicPr>
        <p:blipFill rotWithShape="1">
          <a:blip r:embed="rId3">
            <a:alphaModFix/>
          </a:blip>
          <a:srcRect b="49266" l="87144" r="-4214" t="0"/>
          <a:stretch/>
        </p:blipFill>
        <p:spPr>
          <a:xfrm>
            <a:off x="7012826" y="7912828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/>
          <p:cNvPicPr preferRelativeResize="0"/>
          <p:nvPr/>
        </p:nvPicPr>
        <p:blipFill rotWithShape="1">
          <a:blip r:embed="rId3">
            <a:alphaModFix/>
          </a:blip>
          <a:srcRect b="49266" l="46951" r="35979" t="0"/>
          <a:stretch/>
        </p:blipFill>
        <p:spPr>
          <a:xfrm>
            <a:off x="6149869" y="8091626"/>
            <a:ext cx="79174" cy="205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/>
          <p:cNvPicPr preferRelativeResize="0"/>
          <p:nvPr/>
        </p:nvPicPr>
        <p:blipFill rotWithShape="1">
          <a:blip r:embed="rId3">
            <a:alphaModFix/>
          </a:blip>
          <a:srcRect b="40626" l="0" r="57452" t="41687"/>
          <a:stretch/>
        </p:blipFill>
        <p:spPr>
          <a:xfrm>
            <a:off x="6564409" y="8081363"/>
            <a:ext cx="197348" cy="7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