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2721DE-38FE-495F-A78F-62F32B8F23F6}">
  <a:tblStyle styleId="{132721DE-38FE-495F-A78F-62F32B8F23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1d5e31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1d5e31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a93c6b88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a93c6b88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ae1b872127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ae1b872127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e1b872127_0_1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e1b872127_0_1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afb8ad539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afb8ad539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afb8ad53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afb8ad53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ae1b872127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ae1b872127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ae800e2fc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ae800e2fc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ae800e2f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ae800e2f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ae800e2fc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ae800e2fc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ae1b872127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ae1b872127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ae1b872127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ae1b872127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ae800e2f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ae800e2f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ae800e2fc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ae800e2f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ae1b8721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ae1b8721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ae1b872127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ae1b872127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b00bb1163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b00bb1163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b00bb1163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b00bb1163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b00bb1163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b00bb1163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b00bb1163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b00bb1163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b00bb1163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b00bb1163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00bb1163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00bb1163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b00bb1163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b00bb1163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b12eaca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b12eaca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b12eacad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b12eacad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b07f2e05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b07f2e0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b12eacad8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b12eacad8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b12eacad85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b12eacad85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b12eacad85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b12eacad85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b12eacad85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b12eacad85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b12eacad85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b12eacad85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b12eacad85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b12eacad85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b12eacad8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b12eacad8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b12eacad85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b12eacad85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b12eacad85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b12eacad85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6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3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3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round numbers to any number of decimal places.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Round − To change a number into another number that is approximately the same value but is easier to work with. E.g. Round 561 to the nearest 10 is 560.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3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713512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0.67839 to 1 decimal place.</a:t>
            </a:r>
            <a:endParaRPr/>
          </a:p>
        </p:txBody>
      </p:sp>
      <p:graphicFrame>
        <p:nvGraphicFramePr>
          <p:cNvPr id="785" name="Google Shape;785;p68"/>
          <p:cNvGraphicFramePr/>
          <p:nvPr/>
        </p:nvGraphicFramePr>
        <p:xfrm>
          <a:off x="1065176" y="1099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6" name="Google Shape;786;p68"/>
          <p:cNvSpPr/>
          <p:nvPr/>
        </p:nvSpPr>
        <p:spPr>
          <a:xfrm>
            <a:off x="5266087" y="11499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8"/>
          <p:cNvSpPr/>
          <p:nvPr/>
        </p:nvSpPr>
        <p:spPr>
          <a:xfrm>
            <a:off x="5296386" y="1655212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/>
          <p:nvPr/>
        </p:nvSpPr>
        <p:spPr>
          <a:xfrm>
            <a:off x="5729518" y="16552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5179950" y="152050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0" name="Google Shape;790;p68"/>
          <p:cNvGrpSpPr/>
          <p:nvPr/>
        </p:nvGrpSpPr>
        <p:grpSpPr>
          <a:xfrm>
            <a:off x="5179950" y="1087774"/>
            <a:ext cx="2034410" cy="378900"/>
            <a:chOff x="5179950" y="1621174"/>
            <a:chExt cx="2034410" cy="378900"/>
          </a:xfrm>
        </p:grpSpPr>
        <p:sp>
          <p:nvSpPr>
            <p:cNvPr id="791" name="Google Shape;791;p68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92" name="Google Shape;792;p68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793" name="Google Shape;793;p68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794" name="Google Shape;794;p68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795" name="Google Shape;795;p68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796" name="Google Shape;796;p68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797" name="Google Shape;797;p68"/>
          <p:cNvGrpSpPr/>
          <p:nvPr/>
        </p:nvGrpSpPr>
        <p:grpSpPr>
          <a:xfrm>
            <a:off x="7289193" y="1099780"/>
            <a:ext cx="839567" cy="228900"/>
            <a:chOff x="7700993" y="1655350"/>
            <a:chExt cx="839567" cy="228900"/>
          </a:xfrm>
        </p:grpSpPr>
        <p:sp>
          <p:nvSpPr>
            <p:cNvPr id="798" name="Google Shape;798;p68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799" name="Google Shape;799;p68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800" name="Google Shape;800;p68"/>
          <p:cNvGrpSpPr/>
          <p:nvPr/>
        </p:nvGrpSpPr>
        <p:grpSpPr>
          <a:xfrm>
            <a:off x="4823287" y="1670480"/>
            <a:ext cx="2577900" cy="313500"/>
            <a:chOff x="4823287" y="1899080"/>
            <a:chExt cx="2577900" cy="313500"/>
          </a:xfrm>
        </p:grpSpPr>
        <p:grpSp>
          <p:nvGrpSpPr>
            <p:cNvPr id="801" name="Google Shape;801;p68"/>
            <p:cNvGrpSpPr/>
            <p:nvPr/>
          </p:nvGrpSpPr>
          <p:grpSpPr>
            <a:xfrm>
              <a:off x="4823287" y="1899080"/>
              <a:ext cx="2196900" cy="313500"/>
              <a:chOff x="4411875" y="4131050"/>
              <a:chExt cx="2196900" cy="313500"/>
            </a:xfrm>
          </p:grpSpPr>
          <p:sp>
            <p:nvSpPr>
              <p:cNvPr id="802" name="Google Shape;802;p68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3" name="Google Shape;803;p68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4" name="Google Shape;804;p68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5" name="Google Shape;805;p68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06" name="Google Shape;806;p68"/>
              <p:cNvSpPr/>
              <p:nvPr/>
            </p:nvSpPr>
            <p:spPr>
              <a:xfrm>
                <a:off x="63351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07" name="Google Shape;807;p68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8" name="Google Shape;808;p68"/>
          <p:cNvSpPr/>
          <p:nvPr/>
        </p:nvSpPr>
        <p:spPr>
          <a:xfrm>
            <a:off x="5569825" y="22047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 txBox="1"/>
          <p:nvPr/>
        </p:nvSpPr>
        <p:spPr>
          <a:xfrm>
            <a:off x="3372000" y="2280238"/>
            <a:ext cx="215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is greater than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324000" y="4129625"/>
            <a:ext cx="6319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increase the tenths digit by 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0.67839 = 0.7 (1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2786175"/>
            <a:ext cx="8237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</a:t>
            </a:r>
            <a:r>
              <a:rPr lang="en-GB">
                <a:solidFill>
                  <a:schemeClr val="accent4"/>
                </a:solidFill>
              </a:rPr>
              <a:t>tenths</a:t>
            </a:r>
            <a:r>
              <a:rPr lang="en-GB"/>
              <a:t> column as this is the </a:t>
            </a:r>
            <a:r>
              <a:rPr lang="en-GB">
                <a:solidFill>
                  <a:schemeClr val="accent4"/>
                </a:solidFill>
              </a:rPr>
              <a:t>1</a:t>
            </a:r>
            <a:r>
              <a:rPr baseline="30000" lang="en-GB">
                <a:solidFill>
                  <a:schemeClr val="accent4"/>
                </a:solidFill>
              </a:rPr>
              <a:t>st</a:t>
            </a:r>
            <a:r>
              <a:rPr lang="en-GB"/>
              <a:t> decimal place.</a:t>
            </a:r>
            <a:endParaRPr/>
          </a:p>
        </p:txBody>
      </p:sp>
      <p:sp>
        <p:nvSpPr>
          <p:cNvPr id="812" name="Google Shape;812;p68"/>
          <p:cNvSpPr txBox="1"/>
          <p:nvPr>
            <p:ph idx="1" type="body"/>
          </p:nvPr>
        </p:nvSpPr>
        <p:spPr>
          <a:xfrm>
            <a:off x="324000" y="325765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Consider the digit in the </a:t>
            </a:r>
            <a:r>
              <a:rPr lang="en-GB">
                <a:solidFill>
                  <a:schemeClr val="accent4"/>
                </a:solidFill>
              </a:rPr>
              <a:t>hundredths</a:t>
            </a:r>
            <a:r>
              <a:rPr lang="en-GB"/>
              <a:t> column, the column to the </a:t>
            </a:r>
            <a:r>
              <a:rPr lang="en-GB">
                <a:solidFill>
                  <a:schemeClr val="accent4"/>
                </a:solidFill>
              </a:rPr>
              <a:t>right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818" name="Google Shape;818;p69"/>
          <p:cNvSpPr txBox="1"/>
          <p:nvPr>
            <p:ph idx="1" type="body"/>
          </p:nvPr>
        </p:nvSpPr>
        <p:spPr>
          <a:xfrm>
            <a:off x="324000" y="713512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45.8749 to 2 decimal places.</a:t>
            </a:r>
            <a:endParaRPr/>
          </a:p>
        </p:txBody>
      </p:sp>
      <p:graphicFrame>
        <p:nvGraphicFramePr>
          <p:cNvPr id="819" name="Google Shape;819;p69"/>
          <p:cNvGraphicFramePr/>
          <p:nvPr/>
        </p:nvGraphicFramePr>
        <p:xfrm>
          <a:off x="1065176" y="1099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0" name="Google Shape;820;p69"/>
          <p:cNvSpPr/>
          <p:nvPr/>
        </p:nvSpPr>
        <p:spPr>
          <a:xfrm>
            <a:off x="5753699" y="11499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/>
          <p:nvPr/>
        </p:nvSpPr>
        <p:spPr>
          <a:xfrm>
            <a:off x="5783998" y="1655212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/>
          <p:nvPr/>
        </p:nvSpPr>
        <p:spPr>
          <a:xfrm>
            <a:off x="6217131" y="16552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 txBox="1"/>
          <p:nvPr/>
        </p:nvSpPr>
        <p:spPr>
          <a:xfrm>
            <a:off x="5167500" y="153003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4" name="Google Shape;824;p69"/>
          <p:cNvGrpSpPr/>
          <p:nvPr/>
        </p:nvGrpSpPr>
        <p:grpSpPr>
          <a:xfrm>
            <a:off x="5170425" y="1087774"/>
            <a:ext cx="2034410" cy="378900"/>
            <a:chOff x="5179950" y="1621174"/>
            <a:chExt cx="2034410" cy="378900"/>
          </a:xfrm>
        </p:grpSpPr>
        <p:sp>
          <p:nvSpPr>
            <p:cNvPr id="825" name="Google Shape;825;p69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26" name="Google Shape;826;p69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827" name="Google Shape;827;p69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28" name="Google Shape;828;p69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29" name="Google Shape;829;p69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30" name="Google Shape;830;p69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831" name="Google Shape;831;p69"/>
          <p:cNvGrpSpPr/>
          <p:nvPr/>
        </p:nvGrpSpPr>
        <p:grpSpPr>
          <a:xfrm>
            <a:off x="7289193" y="1023580"/>
            <a:ext cx="839567" cy="228900"/>
            <a:chOff x="7700993" y="1655350"/>
            <a:chExt cx="839567" cy="228900"/>
          </a:xfrm>
        </p:grpSpPr>
        <p:sp>
          <p:nvSpPr>
            <p:cNvPr id="832" name="Google Shape;832;p69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33" name="Google Shape;833;p69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34" name="Google Shape;834;p69"/>
          <p:cNvSpPr/>
          <p:nvPr/>
        </p:nvSpPr>
        <p:spPr>
          <a:xfrm>
            <a:off x="6027025" y="22047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4362600" y="2280250"/>
            <a:ext cx="163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is less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than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9"/>
          <p:cNvSpPr txBox="1"/>
          <p:nvPr/>
        </p:nvSpPr>
        <p:spPr>
          <a:xfrm>
            <a:off x="324000" y="4129625"/>
            <a:ext cx="7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keep the hundredths digit the same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45.8749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= 45.87 (2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7" name="Google Shape;837;p69"/>
          <p:cNvSpPr txBox="1"/>
          <p:nvPr>
            <p:ph idx="1" type="body"/>
          </p:nvPr>
        </p:nvSpPr>
        <p:spPr>
          <a:xfrm>
            <a:off x="324000" y="2557575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</a:t>
            </a:r>
            <a:r>
              <a:rPr lang="en-GB">
                <a:solidFill>
                  <a:schemeClr val="accent4"/>
                </a:solidFill>
              </a:rPr>
              <a:t>hundred</a:t>
            </a:r>
            <a:r>
              <a:rPr lang="en-GB">
                <a:solidFill>
                  <a:schemeClr val="accent4"/>
                </a:solidFill>
              </a:rPr>
              <a:t>ths</a:t>
            </a:r>
            <a:r>
              <a:rPr lang="en-GB"/>
              <a:t> column as this is the </a:t>
            </a:r>
            <a:r>
              <a:rPr lang="en-GB">
                <a:solidFill>
                  <a:schemeClr val="accent4"/>
                </a:solidFill>
              </a:rPr>
              <a:t>2</a:t>
            </a:r>
            <a:r>
              <a:rPr baseline="30000" lang="en-GB">
                <a:solidFill>
                  <a:schemeClr val="accent4"/>
                </a:solidFill>
              </a:rPr>
              <a:t>nd</a:t>
            </a:r>
            <a:r>
              <a:rPr lang="en-GB"/>
              <a:t> decimal place.</a:t>
            </a:r>
            <a:endParaRPr/>
          </a:p>
        </p:txBody>
      </p:sp>
      <p:sp>
        <p:nvSpPr>
          <p:cNvPr id="838" name="Google Shape;838;p69"/>
          <p:cNvSpPr txBox="1"/>
          <p:nvPr>
            <p:ph idx="1" type="body"/>
          </p:nvPr>
        </p:nvSpPr>
        <p:spPr>
          <a:xfrm>
            <a:off x="324000" y="33436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Consider the digit in the </a:t>
            </a:r>
            <a:r>
              <a:rPr lang="en-GB">
                <a:solidFill>
                  <a:schemeClr val="accent4"/>
                </a:solidFill>
              </a:rPr>
              <a:t>thousan</a:t>
            </a:r>
            <a:r>
              <a:rPr lang="en-GB">
                <a:solidFill>
                  <a:schemeClr val="accent4"/>
                </a:solidFill>
              </a:rPr>
              <a:t>dths</a:t>
            </a:r>
            <a:r>
              <a:rPr lang="en-GB"/>
              <a:t> column, the column to the </a:t>
            </a:r>
            <a:r>
              <a:rPr lang="en-GB">
                <a:solidFill>
                  <a:schemeClr val="accent4"/>
                </a:solidFill>
              </a:rPr>
              <a:t>right</a:t>
            </a:r>
            <a:r>
              <a:rPr lang="en-GB"/>
              <a:t>.</a:t>
            </a:r>
            <a:endParaRPr/>
          </a:p>
        </p:txBody>
      </p:sp>
      <p:grpSp>
        <p:nvGrpSpPr>
          <p:cNvPr id="839" name="Google Shape;839;p69"/>
          <p:cNvGrpSpPr/>
          <p:nvPr/>
        </p:nvGrpSpPr>
        <p:grpSpPr>
          <a:xfrm>
            <a:off x="4366087" y="1670480"/>
            <a:ext cx="2577900" cy="313500"/>
            <a:chOff x="4823287" y="1899080"/>
            <a:chExt cx="2577900" cy="313500"/>
          </a:xfrm>
        </p:grpSpPr>
        <p:grpSp>
          <p:nvGrpSpPr>
            <p:cNvPr id="840" name="Google Shape;840;p69"/>
            <p:cNvGrpSpPr/>
            <p:nvPr/>
          </p:nvGrpSpPr>
          <p:grpSpPr>
            <a:xfrm>
              <a:off x="4823287" y="1899080"/>
              <a:ext cx="2166375" cy="313500"/>
              <a:chOff x="4411875" y="4131050"/>
              <a:chExt cx="2166375" cy="313500"/>
            </a:xfrm>
          </p:grpSpPr>
          <p:sp>
            <p:nvSpPr>
              <p:cNvPr id="841" name="Google Shape;841;p69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2" name="Google Shape;842;p69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3" name="Google Shape;843;p69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4" name="Google Shape;844;p69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45" name="Google Shape;845;p69"/>
              <p:cNvSpPr/>
              <p:nvPr/>
            </p:nvSpPr>
            <p:spPr>
              <a:xfrm>
                <a:off x="63046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46" name="Google Shape;846;p69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852" name="Google Shape;852;p70"/>
          <p:cNvSpPr txBox="1"/>
          <p:nvPr>
            <p:ph idx="1" type="body"/>
          </p:nvPr>
        </p:nvSpPr>
        <p:spPr>
          <a:xfrm>
            <a:off x="324000" y="713511"/>
            <a:ext cx="8237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25.3065 to 3 decimal places.</a:t>
            </a:r>
            <a:endParaRPr/>
          </a:p>
        </p:txBody>
      </p:sp>
      <p:graphicFrame>
        <p:nvGraphicFramePr>
          <p:cNvPr id="853" name="Google Shape;853;p70"/>
          <p:cNvGraphicFramePr/>
          <p:nvPr/>
        </p:nvGraphicFramePr>
        <p:xfrm>
          <a:off x="1065176" y="1099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4" name="Google Shape;854;p70"/>
          <p:cNvSpPr/>
          <p:nvPr/>
        </p:nvSpPr>
        <p:spPr>
          <a:xfrm>
            <a:off x="6210899" y="11499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/>
          <p:nvPr/>
        </p:nvSpPr>
        <p:spPr>
          <a:xfrm>
            <a:off x="6241198" y="1655212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>
            <a:off x="6674331" y="16552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 txBox="1"/>
          <p:nvPr/>
        </p:nvSpPr>
        <p:spPr>
          <a:xfrm>
            <a:off x="5167500" y="1530030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8" name="Google Shape;858;p70"/>
          <p:cNvGrpSpPr/>
          <p:nvPr/>
        </p:nvGrpSpPr>
        <p:grpSpPr>
          <a:xfrm>
            <a:off x="5170425" y="1087774"/>
            <a:ext cx="2034410" cy="378900"/>
            <a:chOff x="5179950" y="1621174"/>
            <a:chExt cx="2034410" cy="378900"/>
          </a:xfrm>
        </p:grpSpPr>
        <p:sp>
          <p:nvSpPr>
            <p:cNvPr id="859" name="Google Shape;859;p70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0" name="Google Shape;860;p70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861" name="Google Shape;861;p70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62" name="Google Shape;862;p70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63" name="Google Shape;863;p70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64" name="Google Shape;864;p70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865" name="Google Shape;865;p70"/>
          <p:cNvGrpSpPr/>
          <p:nvPr/>
        </p:nvGrpSpPr>
        <p:grpSpPr>
          <a:xfrm>
            <a:off x="7289193" y="1023580"/>
            <a:ext cx="839567" cy="228900"/>
            <a:chOff x="7700993" y="1655350"/>
            <a:chExt cx="839567" cy="228900"/>
          </a:xfrm>
        </p:grpSpPr>
        <p:sp>
          <p:nvSpPr>
            <p:cNvPr id="866" name="Google Shape;866;p70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67" name="Google Shape;867;p70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868" name="Google Shape;868;p70"/>
          <p:cNvSpPr/>
          <p:nvPr/>
        </p:nvSpPr>
        <p:spPr>
          <a:xfrm>
            <a:off x="6484225" y="22047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 txBox="1"/>
          <p:nvPr/>
        </p:nvSpPr>
        <p:spPr>
          <a:xfrm>
            <a:off x="4187050" y="2280250"/>
            <a:ext cx="227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is exactly halfway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324000" y="4129625"/>
            <a:ext cx="7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we increase the thousandths digit by 1.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25.3065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= 25.307 (3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1" name="Google Shape;871;p70"/>
          <p:cNvSpPr txBox="1"/>
          <p:nvPr>
            <p:ph idx="1" type="body"/>
          </p:nvPr>
        </p:nvSpPr>
        <p:spPr>
          <a:xfrm>
            <a:off x="324000" y="2557575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</a:t>
            </a:r>
            <a:r>
              <a:rPr lang="en-GB">
                <a:solidFill>
                  <a:schemeClr val="accent4"/>
                </a:solidFill>
              </a:rPr>
              <a:t>thousandths</a:t>
            </a:r>
            <a:r>
              <a:rPr lang="en-GB"/>
              <a:t> column as this is the </a:t>
            </a:r>
            <a:r>
              <a:rPr lang="en-GB">
                <a:solidFill>
                  <a:schemeClr val="accent4"/>
                </a:solidFill>
              </a:rPr>
              <a:t>3</a:t>
            </a:r>
            <a:r>
              <a:rPr baseline="30000" lang="en-GB">
                <a:solidFill>
                  <a:schemeClr val="accent4"/>
                </a:solidFill>
              </a:rPr>
              <a:t>r</a:t>
            </a:r>
            <a:r>
              <a:rPr baseline="30000" lang="en-GB">
                <a:solidFill>
                  <a:schemeClr val="accent4"/>
                </a:solidFill>
              </a:rPr>
              <a:t>d</a:t>
            </a:r>
            <a:r>
              <a:rPr lang="en-GB"/>
              <a:t> decimal place.</a:t>
            </a:r>
            <a:endParaRPr/>
          </a:p>
        </p:txBody>
      </p:sp>
      <p:sp>
        <p:nvSpPr>
          <p:cNvPr id="872" name="Google Shape;872;p70"/>
          <p:cNvSpPr txBox="1"/>
          <p:nvPr>
            <p:ph idx="1" type="body"/>
          </p:nvPr>
        </p:nvSpPr>
        <p:spPr>
          <a:xfrm>
            <a:off x="324000" y="33436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Consider the digit in the </a:t>
            </a:r>
            <a:r>
              <a:rPr lang="en-GB">
                <a:solidFill>
                  <a:schemeClr val="accent4"/>
                </a:solidFill>
              </a:rPr>
              <a:t>ten thousandths</a:t>
            </a:r>
            <a:r>
              <a:rPr lang="en-GB"/>
              <a:t> column, the column to the </a:t>
            </a:r>
            <a:r>
              <a:rPr lang="en-GB">
                <a:solidFill>
                  <a:schemeClr val="accent4"/>
                </a:solidFill>
              </a:rPr>
              <a:t>right</a:t>
            </a:r>
            <a:r>
              <a:rPr lang="en-GB"/>
              <a:t>.</a:t>
            </a:r>
            <a:endParaRPr/>
          </a:p>
        </p:txBody>
      </p:sp>
      <p:grpSp>
        <p:nvGrpSpPr>
          <p:cNvPr id="873" name="Google Shape;873;p70"/>
          <p:cNvGrpSpPr/>
          <p:nvPr/>
        </p:nvGrpSpPr>
        <p:grpSpPr>
          <a:xfrm>
            <a:off x="4366087" y="1670480"/>
            <a:ext cx="2577900" cy="313500"/>
            <a:chOff x="4823287" y="1899080"/>
            <a:chExt cx="2577900" cy="313500"/>
          </a:xfrm>
        </p:grpSpPr>
        <p:grpSp>
          <p:nvGrpSpPr>
            <p:cNvPr id="874" name="Google Shape;874;p70"/>
            <p:cNvGrpSpPr/>
            <p:nvPr/>
          </p:nvGrpSpPr>
          <p:grpSpPr>
            <a:xfrm>
              <a:off x="4823287" y="1899080"/>
              <a:ext cx="2166375" cy="313500"/>
              <a:chOff x="4411875" y="4131050"/>
              <a:chExt cx="2166375" cy="313500"/>
            </a:xfrm>
          </p:grpSpPr>
          <p:sp>
            <p:nvSpPr>
              <p:cNvPr id="875" name="Google Shape;875;p70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6" name="Google Shape;876;p70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7" name="Google Shape;877;p70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8" name="Google Shape;878;p70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79" name="Google Shape;879;p70"/>
              <p:cNvSpPr/>
              <p:nvPr/>
            </p:nvSpPr>
            <p:spPr>
              <a:xfrm>
                <a:off x="63046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80" name="Google Shape;880;p70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5" name="Google Shape;885;p71"/>
          <p:cNvGraphicFramePr/>
          <p:nvPr/>
        </p:nvGraphicFramePr>
        <p:xfrm>
          <a:off x="1065176" y="2959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6" name="Google Shape;886;p71"/>
          <p:cNvSpPr/>
          <p:nvPr/>
        </p:nvSpPr>
        <p:spPr>
          <a:xfrm>
            <a:off x="6210899" y="3009305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6241198" y="3514538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1"/>
          <p:cNvSpPr/>
          <p:nvPr/>
        </p:nvSpPr>
        <p:spPr>
          <a:xfrm>
            <a:off x="6674331" y="35145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1"/>
          <p:cNvSpPr txBox="1"/>
          <p:nvPr/>
        </p:nvSpPr>
        <p:spPr>
          <a:xfrm>
            <a:off x="5167500" y="338935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0" name="Google Shape;890;p71"/>
          <p:cNvGrpSpPr/>
          <p:nvPr/>
        </p:nvGrpSpPr>
        <p:grpSpPr>
          <a:xfrm>
            <a:off x="5170425" y="2947099"/>
            <a:ext cx="2034410" cy="378900"/>
            <a:chOff x="5179950" y="1621174"/>
            <a:chExt cx="2034410" cy="378900"/>
          </a:xfrm>
        </p:grpSpPr>
        <p:sp>
          <p:nvSpPr>
            <p:cNvPr id="891" name="Google Shape;891;p71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2" name="Google Shape;892;p71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893" name="Google Shape;893;p71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94" name="Google Shape;894;p71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95" name="Google Shape;895;p71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896" name="Google Shape;896;p71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897" name="Google Shape;897;p71"/>
          <p:cNvGrpSpPr/>
          <p:nvPr/>
        </p:nvGrpSpPr>
        <p:grpSpPr>
          <a:xfrm>
            <a:off x="7289193" y="2959105"/>
            <a:ext cx="839567" cy="228900"/>
            <a:chOff x="7700993" y="1655350"/>
            <a:chExt cx="839567" cy="228900"/>
          </a:xfrm>
        </p:grpSpPr>
        <p:sp>
          <p:nvSpPr>
            <p:cNvPr id="898" name="Google Shape;898;p71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899" name="Google Shape;899;p71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900" name="Google Shape;900;p71"/>
          <p:cNvSpPr txBox="1"/>
          <p:nvPr/>
        </p:nvSpPr>
        <p:spPr>
          <a:xfrm>
            <a:off x="324000" y="3935425"/>
            <a:ext cx="807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correct, adding 1 thousandth to 0.309 is 0.310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has increased 9 to 10 and not exchanged the 10 thousandths for 1 hundredth.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01" name="Google Shape;901;p71"/>
          <p:cNvGrpSpPr/>
          <p:nvPr/>
        </p:nvGrpSpPr>
        <p:grpSpPr>
          <a:xfrm>
            <a:off x="4366087" y="3529805"/>
            <a:ext cx="2577900" cy="313500"/>
            <a:chOff x="4823287" y="1899080"/>
            <a:chExt cx="2577900" cy="313500"/>
          </a:xfrm>
        </p:grpSpPr>
        <p:grpSp>
          <p:nvGrpSpPr>
            <p:cNvPr id="902" name="Google Shape;902;p71"/>
            <p:cNvGrpSpPr/>
            <p:nvPr/>
          </p:nvGrpSpPr>
          <p:grpSpPr>
            <a:xfrm>
              <a:off x="4823287" y="1899080"/>
              <a:ext cx="2166375" cy="313500"/>
              <a:chOff x="4411875" y="4131050"/>
              <a:chExt cx="2166375" cy="313500"/>
            </a:xfrm>
          </p:grpSpPr>
          <p:sp>
            <p:nvSpPr>
              <p:cNvPr id="903" name="Google Shape;903;p71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4" name="Google Shape;904;p71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5" name="Google Shape;905;p71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6" name="Google Shape;906;p71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7" name="Google Shape;907;p71"/>
              <p:cNvSpPr/>
              <p:nvPr/>
            </p:nvSpPr>
            <p:spPr>
              <a:xfrm>
                <a:off x="63046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8" name="Google Shape;908;p71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9" name="Google Shape;909;p71"/>
          <p:cNvSpPr txBox="1"/>
          <p:nvPr>
            <p:ph idx="1" type="body"/>
          </p:nvPr>
        </p:nvSpPr>
        <p:spPr>
          <a:xfrm>
            <a:off x="324000" y="652688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and Jacob are rounding 0.3098 to 3 decimal places.</a:t>
            </a:r>
            <a:endParaRPr sz="2000"/>
          </a:p>
        </p:txBody>
      </p:sp>
      <p:pic>
        <p:nvPicPr>
          <p:cNvPr id="910" name="Google Shape;91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450" y="115861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10714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1"/>
          <p:cNvSpPr txBox="1"/>
          <p:nvPr/>
        </p:nvSpPr>
        <p:spPr>
          <a:xfrm>
            <a:off x="309550" y="2312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1"/>
          <p:cNvSpPr txBox="1"/>
          <p:nvPr/>
        </p:nvSpPr>
        <p:spPr>
          <a:xfrm>
            <a:off x="7624750" y="2312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4" name="Google Shape;914;p71"/>
          <p:cNvGrpSpPr/>
          <p:nvPr/>
        </p:nvGrpSpPr>
        <p:grpSpPr>
          <a:xfrm>
            <a:off x="5676803" y="953530"/>
            <a:ext cx="1955251" cy="1015750"/>
            <a:chOff x="5676798" y="1182175"/>
            <a:chExt cx="1955251" cy="1316250"/>
          </a:xfrm>
        </p:grpSpPr>
        <p:pic>
          <p:nvPicPr>
            <p:cNvPr id="915" name="Google Shape;915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676798" y="11821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1"/>
            <p:cNvSpPr txBox="1"/>
            <p:nvPr/>
          </p:nvSpPr>
          <p:spPr>
            <a:xfrm>
              <a:off x="5905137" y="1298576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It is 0.3010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7" name="Google Shape;917;p71"/>
          <p:cNvGrpSpPr/>
          <p:nvPr/>
        </p:nvGrpSpPr>
        <p:grpSpPr>
          <a:xfrm>
            <a:off x="1113301" y="1015947"/>
            <a:ext cx="1955251" cy="764346"/>
            <a:chOff x="1113298" y="1092150"/>
            <a:chExt cx="1955251" cy="1316250"/>
          </a:xfrm>
        </p:grpSpPr>
        <p:pic>
          <p:nvPicPr>
            <p:cNvPr id="918" name="Google Shape;918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113298" y="10921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71"/>
            <p:cNvSpPr txBox="1"/>
            <p:nvPr/>
          </p:nvSpPr>
          <p:spPr>
            <a:xfrm>
              <a:off x="1357013" y="1270650"/>
              <a:ext cx="14577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It is 0.310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0" name="Google Shape;920;p71"/>
          <p:cNvSpPr txBox="1"/>
          <p:nvPr>
            <p:ph idx="1" type="body"/>
          </p:nvPr>
        </p:nvSpPr>
        <p:spPr>
          <a:xfrm>
            <a:off x="324000" y="2633775"/>
            <a:ext cx="2169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is correct?</a:t>
            </a:r>
            <a:endParaRPr sz="2000"/>
          </a:p>
        </p:txBody>
      </p:sp>
      <p:sp>
        <p:nvSpPr>
          <p:cNvPr id="921" name="Google Shape;92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27" name="Google Shape;927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following table:</a:t>
            </a:r>
            <a:endParaRPr/>
          </a:p>
        </p:txBody>
      </p:sp>
      <p:graphicFrame>
        <p:nvGraphicFramePr>
          <p:cNvPr id="928" name="Google Shape;928;p72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1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2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3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14.25342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765.3246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2035.83716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7.658192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82.82926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0.63492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0.08739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0.2995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34" name="Google Shape;934;p73"/>
          <p:cNvSpPr txBox="1"/>
          <p:nvPr>
            <p:ph idx="1" type="body"/>
          </p:nvPr>
        </p:nvSpPr>
        <p:spPr>
          <a:xfrm>
            <a:off x="388756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Clue 1 − I am between 2 and 3.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2 decimal places I am 2.88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My hundredths digit is greater than my thousandths digit.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The difference between my tenths and thousandths digits is 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 u="sng"/>
              <a:t>                      </a:t>
            </a:r>
            <a:r>
              <a:rPr lang="en-GB" u="sng">
                <a:solidFill>
                  <a:schemeClr val="lt1"/>
                </a:solidFill>
              </a:rPr>
              <a:t>.</a:t>
            </a:r>
            <a:endParaRPr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40" name="Google Shape;940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Clue 1 − I am between 1 and 2.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1 decimal place I am 1.9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When rounded to 2 decimal places I am 1.90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The sum of my tenths and thousandths column is 13.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 u="sng"/>
              <a:t>                      </a:t>
            </a:r>
            <a:r>
              <a:rPr lang="en-GB" u="sng">
                <a:solidFill>
                  <a:schemeClr val="lt1"/>
                </a:solidFill>
              </a:rPr>
              <a:t>.</a:t>
            </a:r>
            <a:endParaRPr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46" name="Google Shape;946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Clue 1 − I am between 0 and 1.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1 decimal place I am 0.1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When rounded to 2 decimal places I am 0.08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My hundredths </a:t>
            </a:r>
            <a:r>
              <a:rPr lang="en-GB"/>
              <a:t>column</a:t>
            </a:r>
            <a:r>
              <a:rPr lang="en-GB"/>
              <a:t> is double my thousandths </a:t>
            </a:r>
            <a:r>
              <a:rPr lang="en-GB"/>
              <a:t>column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 u="sng"/>
              <a:t>                      </a:t>
            </a:r>
            <a:r>
              <a:rPr lang="en-GB" u="sng">
                <a:solidFill>
                  <a:schemeClr val="lt2"/>
                </a:solidFill>
              </a:rPr>
              <a:t>.</a:t>
            </a:r>
            <a:endParaRPr u="sng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52" name="Google Shape;952;p76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following table:</a:t>
            </a:r>
            <a:endParaRPr/>
          </a:p>
        </p:txBody>
      </p:sp>
      <p:graphicFrame>
        <p:nvGraphicFramePr>
          <p:cNvPr id="953" name="Google Shape;953;p76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{132721DE-38FE-495F-A78F-62F32B8F23F6}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1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2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3 d.p.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14.25342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14.3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14.25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14.253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765.3246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765.325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2035.83716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2035.837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7.658192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7.7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7.66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7.658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82.82926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82.829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0.63492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0.63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0.635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0.08739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0.087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0.2995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59" name="Google Shape;959;p77"/>
          <p:cNvSpPr txBox="1"/>
          <p:nvPr>
            <p:ph idx="1" type="body"/>
          </p:nvPr>
        </p:nvSpPr>
        <p:spPr>
          <a:xfrm>
            <a:off x="361004" y="752242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Clue 1 − I am between 2 and 3.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2 decimal places I am 2.88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My hundredths digit is greater than my thousandths digit.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The difference between my tenths and thousandths digits is 2.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2.876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65" name="Google Shape;965;p78"/>
          <p:cNvSpPr txBox="1"/>
          <p:nvPr>
            <p:ph idx="1" type="body"/>
          </p:nvPr>
        </p:nvSpPr>
        <p:spPr>
          <a:xfrm>
            <a:off x="314749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Clue 1 − I am between 1 and 2.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1 decimal place I am 1.9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When rounded to 2 decimal places I am 1.90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The sum of my </a:t>
            </a:r>
            <a:r>
              <a:rPr lang="en-GB"/>
              <a:t>tenths and thousandths column is 13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1.904 </a:t>
            </a:r>
            <a:r>
              <a:rPr lang="en-GB"/>
              <a:t>or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1.895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71" name="Google Shape;971;p7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2) Using the clues, find the numbers being described: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Clue 1 − I am between 0 and 1.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2 − I have 3 digits after the decimal point.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3 − When rounded to 1 decimal place I am 0.1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4 − When rounded to 2 decimal places I am 0.08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Clue 5 − My hundredths column is double my thousandths column.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 am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0.084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decimal places</a:t>
            </a:r>
            <a:endParaRPr/>
          </a:p>
        </p:txBody>
      </p:sp>
      <p:sp>
        <p:nvSpPr>
          <p:cNvPr id="977" name="Google Shape;977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978" name="Google Shape;978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pic>
        <p:nvPicPr>
          <p:cNvPr id="979" name="Google Shape;9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38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985" name="Google Shape;98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33333"/>
                </a:solidFill>
                <a:highlight>
                  <a:srgbClr val="FFFFFF"/>
                </a:highlight>
              </a:rPr>
              <a:t>In 2022, at the FINA World Championships (25 m), the </a:t>
            </a:r>
            <a:r>
              <a:rPr lang="en-GB" sz="1800">
                <a:solidFill>
                  <a:srgbClr val="333333"/>
                </a:solidFill>
                <a:highlight>
                  <a:srgbClr val="FFFFFF"/>
                </a:highlight>
              </a:rPr>
              <a:t>headlining event was the last race: the men’s 4 × 100 m. The result of the race was a dead heat, meaning that USA and Australia both got the gold medal and a new world record.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6" name="Google Shape;98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28240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1"/>
          <p:cNvSpPr txBox="1"/>
          <p:nvPr/>
        </p:nvSpPr>
        <p:spPr>
          <a:xfrm>
            <a:off x="3095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8" name="Google Shape;98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3359" y="353153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1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0" name="Google Shape;990;p81"/>
          <p:cNvGrpSpPr/>
          <p:nvPr/>
        </p:nvGrpSpPr>
        <p:grpSpPr>
          <a:xfrm>
            <a:off x="5498950" y="2706175"/>
            <a:ext cx="2285501" cy="1316250"/>
            <a:chOff x="5498950" y="2706175"/>
            <a:chExt cx="2285501" cy="1316250"/>
          </a:xfrm>
        </p:grpSpPr>
        <p:pic>
          <p:nvPicPr>
            <p:cNvPr id="991" name="Google Shape;991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498950" y="2706175"/>
              <a:ext cx="22855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1"/>
            <p:cNvSpPr txBox="1"/>
            <p:nvPr/>
          </p:nvSpPr>
          <p:spPr>
            <a:xfrm>
              <a:off x="5692325" y="2808475"/>
              <a:ext cx="1967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Do you think it was actually a dead heat?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1"/>
          <p:cNvGrpSpPr/>
          <p:nvPr/>
        </p:nvGrpSpPr>
        <p:grpSpPr>
          <a:xfrm>
            <a:off x="1302900" y="2248975"/>
            <a:ext cx="2197325" cy="1316250"/>
            <a:chOff x="1302900" y="2706175"/>
            <a:chExt cx="2197325" cy="1316250"/>
          </a:xfrm>
        </p:grpSpPr>
        <p:pic>
          <p:nvPicPr>
            <p:cNvPr id="994" name="Google Shape;994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02900" y="2706175"/>
              <a:ext cx="219732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1"/>
            <p:cNvSpPr txBox="1"/>
            <p:nvPr/>
          </p:nvSpPr>
          <p:spPr>
            <a:xfrm>
              <a:off x="1500825" y="2793325"/>
              <a:ext cx="1868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The new world record was 3:18.98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1"/>
          <p:cNvGrpSpPr/>
          <p:nvPr/>
        </p:nvGrpSpPr>
        <p:grpSpPr>
          <a:xfrm>
            <a:off x="1271052" y="1621550"/>
            <a:ext cx="2971236" cy="2500400"/>
            <a:chOff x="-100548" y="4059950"/>
            <a:chExt cx="2971236" cy="2500400"/>
          </a:xfrm>
        </p:grpSpPr>
        <p:pic>
          <p:nvPicPr>
            <p:cNvPr id="997" name="Google Shape;997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100548" y="4059950"/>
              <a:ext cx="2896548" cy="250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1"/>
            <p:cNvSpPr txBox="1"/>
            <p:nvPr/>
          </p:nvSpPr>
          <p:spPr>
            <a:xfrm>
              <a:off x="180888" y="4286913"/>
              <a:ext cx="2689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think that if they could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measure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the time to a greater degree of accuracy it probably would not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have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been.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9" name="Google Shape;999;p81"/>
          <p:cNvGrpSpPr/>
          <p:nvPr/>
        </p:nvGrpSpPr>
        <p:grpSpPr>
          <a:xfrm>
            <a:off x="4470900" y="1324403"/>
            <a:ext cx="3389752" cy="3320626"/>
            <a:chOff x="3708900" y="4672112"/>
            <a:chExt cx="3389752" cy="3320626"/>
          </a:xfrm>
        </p:grpSpPr>
        <p:pic>
          <p:nvPicPr>
            <p:cNvPr id="1000" name="Google Shape;1000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708900" y="4672112"/>
              <a:ext cx="3389752" cy="3320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81"/>
            <p:cNvSpPr txBox="1"/>
            <p:nvPr/>
          </p:nvSpPr>
          <p:spPr>
            <a:xfrm>
              <a:off x="3919504" y="4942075"/>
              <a:ext cx="2772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think you are right Aisha. Maybe if the time had been measured to the nearest thousandth of a second there would be a difference.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2" name="Google Shape;1002;p81"/>
          <p:cNvSpPr txBox="1"/>
          <p:nvPr/>
        </p:nvSpPr>
        <p:spPr>
          <a:xfrm>
            <a:off x="322539" y="4482350"/>
            <a:ext cx="88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Limitations of measuring can have an affect on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08" name="Google Shape;1008;p82"/>
          <p:cNvSpPr txBox="1"/>
          <p:nvPr>
            <p:ph idx="1" type="body"/>
          </p:nvPr>
        </p:nvSpPr>
        <p:spPr>
          <a:xfrm>
            <a:off x="324000" y="759300"/>
            <a:ext cx="8237700" cy="15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Lucas is working on a project. He has 3 m of material and cuts it into 30 cm pieces.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How many pieces can he make?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300 cm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÷ 30 cm = 10</a:t>
            </a:r>
            <a:endParaRPr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9" name="Google Shape;10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64751" y="34780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2"/>
          <p:cNvSpPr txBox="1"/>
          <p:nvPr/>
        </p:nvSpPr>
        <p:spPr>
          <a:xfrm>
            <a:off x="73961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82"/>
          <p:cNvGrpSpPr/>
          <p:nvPr/>
        </p:nvGrpSpPr>
        <p:grpSpPr>
          <a:xfrm>
            <a:off x="5041958" y="2553775"/>
            <a:ext cx="2599986" cy="1316250"/>
            <a:chOff x="5498950" y="2706175"/>
            <a:chExt cx="2285501" cy="1316250"/>
          </a:xfrm>
        </p:grpSpPr>
        <p:pic>
          <p:nvPicPr>
            <p:cNvPr id="1012" name="Google Shape;1012;p82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498950" y="2706175"/>
              <a:ext cx="228550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82"/>
            <p:cNvSpPr txBox="1"/>
            <p:nvPr/>
          </p:nvSpPr>
          <p:spPr>
            <a:xfrm>
              <a:off x="5692325" y="2897851"/>
              <a:ext cx="1868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last piece is less than 30 cm.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4" name="Google Shape;1014;p82"/>
          <p:cNvSpPr txBox="1"/>
          <p:nvPr>
            <p:ph idx="1" type="body"/>
          </p:nvPr>
        </p:nvSpPr>
        <p:spPr>
          <a:xfrm>
            <a:off x="341775" y="2766175"/>
            <a:ext cx="4700100" cy="15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Why might Lucas’ last piece be smaller than the rest?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When measuring there are frequently errors. Even very small </a:t>
            </a: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errors can become much larger if repeated.</a:t>
            </a: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20" name="Google Shape;1020;p83"/>
          <p:cNvSpPr txBox="1"/>
          <p:nvPr>
            <p:ph idx="1" type="body"/>
          </p:nvPr>
        </p:nvSpPr>
        <p:spPr>
          <a:xfrm>
            <a:off x="324000" y="683100"/>
            <a:ext cx="8237700" cy="15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We’ll now </a:t>
            </a:r>
            <a:r>
              <a:rPr lang="en-GB">
                <a:highlight>
                  <a:srgbClr val="FFFFFF"/>
                </a:highlight>
              </a:rPr>
              <a:t>take</a:t>
            </a:r>
            <a:r>
              <a:rPr lang="en-GB">
                <a:highlight>
                  <a:srgbClr val="FFFFFF"/>
                </a:highlight>
              </a:rPr>
              <a:t> a look at what effect this could have on Lucas’ pieces of material.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Imagine Lucas cuts each of the first 9 pieces 1 mm longer.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What will the length of the final piece be?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021" name="Google Shape;102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93351" y="34780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3"/>
          <p:cNvSpPr txBox="1"/>
          <p:nvPr/>
        </p:nvSpPr>
        <p:spPr>
          <a:xfrm>
            <a:off x="76247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3" name="Google Shape;1023;p83"/>
          <p:cNvGrpSpPr/>
          <p:nvPr/>
        </p:nvGrpSpPr>
        <p:grpSpPr>
          <a:xfrm>
            <a:off x="5194350" y="2248975"/>
            <a:ext cx="2599998" cy="2205725"/>
            <a:chOff x="5498943" y="2706175"/>
            <a:chExt cx="2285512" cy="2205725"/>
          </a:xfrm>
        </p:grpSpPr>
        <p:pic>
          <p:nvPicPr>
            <p:cNvPr id="1024" name="Google Shape;1024;p8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498943" y="2706175"/>
              <a:ext cx="2285512" cy="220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83"/>
            <p:cNvSpPr txBox="1"/>
            <p:nvPr/>
          </p:nvSpPr>
          <p:spPr>
            <a:xfrm>
              <a:off x="5692325" y="2897851"/>
              <a:ext cx="1868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ruler only allows me to measure to the nearest millimetre.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6" name="Google Shape;1026;p83"/>
          <p:cNvSpPr txBox="1"/>
          <p:nvPr>
            <p:ph idx="1" type="body"/>
          </p:nvPr>
        </p:nvSpPr>
        <p:spPr>
          <a:xfrm>
            <a:off x="341775" y="2766175"/>
            <a:ext cx="4700100" cy="15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300 − 9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30.1 = 29.1 cm</a:t>
            </a:r>
            <a:endParaRPr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</a:rPr>
              <a:t>We can see that this very small error of 1 mm has a bigger impact on the size of the last piece.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pic>
        <p:nvPicPr>
          <p:cNvPr id="1032" name="Google Shape;103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93351" y="3478088"/>
            <a:ext cx="794769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4"/>
          <p:cNvSpPr txBox="1"/>
          <p:nvPr/>
        </p:nvSpPr>
        <p:spPr>
          <a:xfrm>
            <a:off x="76247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4" name="Google Shape;1034;p84"/>
          <p:cNvGrpSpPr/>
          <p:nvPr/>
        </p:nvGrpSpPr>
        <p:grpSpPr>
          <a:xfrm>
            <a:off x="4813345" y="1868014"/>
            <a:ext cx="2599998" cy="2510557"/>
            <a:chOff x="5498943" y="2706175"/>
            <a:chExt cx="2285512" cy="2205725"/>
          </a:xfrm>
        </p:grpSpPr>
        <p:pic>
          <p:nvPicPr>
            <p:cNvPr id="1035" name="Google Shape;1035;p84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498943" y="2706175"/>
              <a:ext cx="2285512" cy="220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84"/>
            <p:cNvSpPr txBox="1"/>
            <p:nvPr/>
          </p:nvSpPr>
          <p:spPr>
            <a:xfrm>
              <a:off x="5692325" y="2897851"/>
              <a:ext cx="1868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What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happens when I cut each of the first 9 pieces 1 mm shorter than I should?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7" name="Google Shape;1037;p84"/>
          <p:cNvSpPr txBox="1"/>
          <p:nvPr>
            <p:ph idx="1" type="body"/>
          </p:nvPr>
        </p:nvSpPr>
        <p:spPr>
          <a:xfrm>
            <a:off x="341775" y="708775"/>
            <a:ext cx="8478300" cy="15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300 − 9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29.9 = 30.9 cm</a:t>
            </a:r>
            <a:endParaRPr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</a:rPr>
              <a:t>Again, we can see that this very small error of 1 mm has a bigger impact on the size of the last piece of material.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43" name="Google Shape;1043;p85"/>
          <p:cNvSpPr txBox="1"/>
          <p:nvPr>
            <p:ph idx="1" type="body"/>
          </p:nvPr>
        </p:nvSpPr>
        <p:spPr>
          <a:xfrm>
            <a:off x="314025" y="748078"/>
            <a:ext cx="54327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This area needs to be carpeted.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Let’s take a look at Aisha, Lucas and Jacob’s workings.</a:t>
            </a:r>
            <a:endParaRPr sz="2100">
              <a:highlight>
                <a:srgbClr val="FFFFFF"/>
              </a:highlight>
            </a:endParaRPr>
          </a:p>
        </p:txBody>
      </p:sp>
      <p:sp>
        <p:nvSpPr>
          <p:cNvPr id="1044" name="Google Shape;1044;p85"/>
          <p:cNvSpPr/>
          <p:nvPr/>
        </p:nvSpPr>
        <p:spPr>
          <a:xfrm rot="-5400000">
            <a:off x="6171825" y="469200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5"/>
          <p:cNvSpPr txBox="1"/>
          <p:nvPr/>
        </p:nvSpPr>
        <p:spPr>
          <a:xfrm>
            <a:off x="8079575" y="14644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1.26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5"/>
          <p:cNvSpPr txBox="1"/>
          <p:nvPr/>
        </p:nvSpPr>
        <p:spPr>
          <a:xfrm>
            <a:off x="6377025" y="6349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5"/>
          <p:cNvSpPr/>
          <p:nvPr/>
        </p:nvSpPr>
        <p:spPr>
          <a:xfrm>
            <a:off x="5817025" y="1142750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£5.29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5"/>
          <p:cNvSpPr txBox="1"/>
          <p:nvPr>
            <p:ph idx="1" type="body"/>
          </p:nvPr>
        </p:nvSpPr>
        <p:spPr>
          <a:xfrm>
            <a:off x="324000" y="3147879"/>
            <a:ext cx="8496000" cy="13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Why has Aisha rounded the dimensions of the room?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The carpet is sold in square metres so she has rounded each </a:t>
            </a:r>
            <a:r>
              <a:rPr lang="en-GB" sz="1900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dimension to the nearest metre.</a:t>
            </a:r>
            <a:endParaRPr sz="1900"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How do you know that this area of carpet will not cover the whole room?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Aisha has rounded both measurements and both have gotten smaller.</a:t>
            </a:r>
            <a:endParaRPr sz="1900">
              <a:highlight>
                <a:srgbClr val="FFFFFF"/>
              </a:highlight>
            </a:endParaRPr>
          </a:p>
        </p:txBody>
      </p:sp>
      <p:sp>
        <p:nvSpPr>
          <p:cNvPr id="1049" name="Google Shape;1049;p85"/>
          <p:cNvSpPr txBox="1"/>
          <p:nvPr/>
        </p:nvSpPr>
        <p:spPr>
          <a:xfrm>
            <a:off x="341775" y="1696200"/>
            <a:ext cx="3000000" cy="1355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Aisha’s Workings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 =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3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5.29 = £15.87</a:t>
            </a:r>
            <a:endParaRPr sz="1800"/>
          </a:p>
        </p:txBody>
      </p:sp>
      <p:cxnSp>
        <p:nvCxnSpPr>
          <p:cNvPr id="1050" name="Google Shape;1050;p85"/>
          <p:cNvCxnSpPr/>
          <p:nvPr/>
        </p:nvCxnSpPr>
        <p:spPr>
          <a:xfrm>
            <a:off x="5688675" y="896425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1" name="Google Shape;1051;p85"/>
          <p:cNvCxnSpPr/>
          <p:nvPr/>
        </p:nvCxnSpPr>
        <p:spPr>
          <a:xfrm>
            <a:off x="8079575" y="954600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57" name="Google Shape;1057;p86"/>
          <p:cNvSpPr/>
          <p:nvPr/>
        </p:nvSpPr>
        <p:spPr>
          <a:xfrm rot="-5400000">
            <a:off x="6171825" y="469200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6"/>
          <p:cNvSpPr txBox="1"/>
          <p:nvPr/>
        </p:nvSpPr>
        <p:spPr>
          <a:xfrm>
            <a:off x="8079575" y="14644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1.26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6"/>
          <p:cNvSpPr txBox="1"/>
          <p:nvPr/>
        </p:nvSpPr>
        <p:spPr>
          <a:xfrm>
            <a:off x="6377025" y="6349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3.24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6"/>
          <p:cNvSpPr/>
          <p:nvPr/>
        </p:nvSpPr>
        <p:spPr>
          <a:xfrm>
            <a:off x="5817025" y="1142750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£5.29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6"/>
          <p:cNvSpPr txBox="1"/>
          <p:nvPr>
            <p:ph idx="1" type="body"/>
          </p:nvPr>
        </p:nvSpPr>
        <p:spPr>
          <a:xfrm>
            <a:off x="324000" y="785100"/>
            <a:ext cx="54504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This area needs to be carpeted.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Let’s take a look at Aisha, Lucas and Jacob’s workings.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highlight>
                <a:srgbClr val="FFFFFF"/>
              </a:highlight>
            </a:endParaRPr>
          </a:p>
        </p:txBody>
      </p:sp>
      <p:sp>
        <p:nvSpPr>
          <p:cNvPr id="1062" name="Google Shape;1062;p86"/>
          <p:cNvSpPr txBox="1"/>
          <p:nvPr>
            <p:ph idx="1" type="body"/>
          </p:nvPr>
        </p:nvSpPr>
        <p:spPr>
          <a:xfrm>
            <a:off x="324000" y="3131446"/>
            <a:ext cx="8496000" cy="12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Why is Lucas’ method not appropriate?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Giving the area of the floor to 4 decimal places is not appropriate. Carpet would not be measured to this degree of accuracy.</a:t>
            </a:r>
            <a:endParaRPr sz="1900">
              <a:highlight>
                <a:srgbClr val="FFFFFF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What about the cost?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It would need to be rounded to 2 decimal places.</a:t>
            </a:r>
            <a:endParaRPr sz="1900">
              <a:highlight>
                <a:srgbClr val="FFFFFF"/>
              </a:highlight>
            </a:endParaRPr>
          </a:p>
        </p:txBody>
      </p:sp>
      <p:sp>
        <p:nvSpPr>
          <p:cNvPr id="1063" name="Google Shape;1063;p86"/>
          <p:cNvSpPr txBox="1"/>
          <p:nvPr/>
        </p:nvSpPr>
        <p:spPr>
          <a:xfrm>
            <a:off x="324000" y="1718400"/>
            <a:ext cx="3149400" cy="1355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Lucas’ Workings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3.24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1.26 = 4.0824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4.0824 × 5.29 = £21.595896 </a:t>
            </a:r>
            <a:endParaRPr/>
          </a:p>
        </p:txBody>
      </p:sp>
      <p:cxnSp>
        <p:nvCxnSpPr>
          <p:cNvPr id="1064" name="Google Shape;1064;p86"/>
          <p:cNvCxnSpPr/>
          <p:nvPr/>
        </p:nvCxnSpPr>
        <p:spPr>
          <a:xfrm>
            <a:off x="5688675" y="896425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5" name="Google Shape;1065;p86"/>
          <p:cNvCxnSpPr/>
          <p:nvPr/>
        </p:nvCxnSpPr>
        <p:spPr>
          <a:xfrm>
            <a:off x="8079575" y="954600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71" name="Google Shape;1071;p87"/>
          <p:cNvSpPr/>
          <p:nvPr/>
        </p:nvSpPr>
        <p:spPr>
          <a:xfrm rot="-5400000">
            <a:off x="6171825" y="469200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7"/>
          <p:cNvSpPr txBox="1"/>
          <p:nvPr/>
        </p:nvSpPr>
        <p:spPr>
          <a:xfrm>
            <a:off x="8079575" y="14644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1.26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7"/>
          <p:cNvSpPr txBox="1"/>
          <p:nvPr/>
        </p:nvSpPr>
        <p:spPr>
          <a:xfrm>
            <a:off x="6377025" y="6349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3.24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7"/>
          <p:cNvSpPr/>
          <p:nvPr/>
        </p:nvSpPr>
        <p:spPr>
          <a:xfrm>
            <a:off x="5817025" y="1142750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£5.29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7"/>
          <p:cNvSpPr txBox="1"/>
          <p:nvPr>
            <p:ph idx="1" type="body"/>
          </p:nvPr>
        </p:nvSpPr>
        <p:spPr>
          <a:xfrm>
            <a:off x="314025" y="785096"/>
            <a:ext cx="5432700" cy="9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This area needs to be carpeted.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Let’s take a look at Aisha, Lucas and Jacob’s workings.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highlight>
                <a:srgbClr val="FFFFFF"/>
              </a:highlight>
            </a:endParaRPr>
          </a:p>
        </p:txBody>
      </p:sp>
      <p:sp>
        <p:nvSpPr>
          <p:cNvPr id="1076" name="Google Shape;1076;p87"/>
          <p:cNvSpPr txBox="1"/>
          <p:nvPr>
            <p:ph idx="1" type="body"/>
          </p:nvPr>
        </p:nvSpPr>
        <p:spPr>
          <a:xfrm>
            <a:off x="341775" y="3147175"/>
            <a:ext cx="8478300" cy="12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Jacob’s method is the most appropriate.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He has given the area correct to 2 decimal places. 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Jacob’s cost has been given to 2 decimal places.</a:t>
            </a:r>
            <a:endParaRPr sz="19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highlight>
                  <a:srgbClr val="FFFFFF"/>
                </a:highlight>
              </a:rPr>
              <a:t>Generally, answers are given to the same degree of accuracy as the values in the question, unless </a:t>
            </a:r>
            <a:r>
              <a:rPr lang="en-GB" sz="1900">
                <a:highlight>
                  <a:srgbClr val="FFFFFF"/>
                </a:highlight>
              </a:rPr>
              <a:t>otherwise specified in the question.</a:t>
            </a:r>
            <a:endParaRPr sz="1900">
              <a:highlight>
                <a:srgbClr val="FFFFFF"/>
              </a:highlight>
            </a:endParaRPr>
          </a:p>
        </p:txBody>
      </p:sp>
      <p:sp>
        <p:nvSpPr>
          <p:cNvPr id="1077" name="Google Shape;1077;p87"/>
          <p:cNvSpPr txBox="1"/>
          <p:nvPr/>
        </p:nvSpPr>
        <p:spPr>
          <a:xfrm>
            <a:off x="324000" y="1712750"/>
            <a:ext cx="3000000" cy="1355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Jacob’s Workings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3.24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1.26 = 4.08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4.08 × 5.29 = £21.58</a:t>
            </a:r>
            <a:endParaRPr/>
          </a:p>
        </p:txBody>
      </p:sp>
      <p:cxnSp>
        <p:nvCxnSpPr>
          <p:cNvPr id="1078" name="Google Shape;1078;p87"/>
          <p:cNvCxnSpPr/>
          <p:nvPr/>
        </p:nvCxnSpPr>
        <p:spPr>
          <a:xfrm>
            <a:off x="5688675" y="896425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9" name="Google Shape;1079;p87"/>
          <p:cNvCxnSpPr/>
          <p:nvPr/>
        </p:nvCxnSpPr>
        <p:spPr>
          <a:xfrm>
            <a:off x="8079575" y="954600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085" name="Google Shape;1085;p8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option shows the appropriate calculations to calculate the cost to carpet the room?</a:t>
            </a:r>
            <a:endParaRPr/>
          </a:p>
        </p:txBody>
      </p:sp>
      <p:sp>
        <p:nvSpPr>
          <p:cNvPr id="1086" name="Google Shape;1086;p88"/>
          <p:cNvSpPr/>
          <p:nvPr/>
        </p:nvSpPr>
        <p:spPr>
          <a:xfrm rot="-5400000">
            <a:off x="6171825" y="926400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8"/>
          <p:cNvSpPr txBox="1"/>
          <p:nvPr/>
        </p:nvSpPr>
        <p:spPr>
          <a:xfrm>
            <a:off x="8079575" y="19216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8"/>
          <p:cNvSpPr txBox="1"/>
          <p:nvPr/>
        </p:nvSpPr>
        <p:spPr>
          <a:xfrm>
            <a:off x="6377025" y="1092150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5.92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8"/>
          <p:cNvSpPr/>
          <p:nvPr/>
        </p:nvSpPr>
        <p:spPr>
          <a:xfrm>
            <a:off x="5817025" y="1599950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£6.50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8"/>
          <p:cNvSpPr txBox="1"/>
          <p:nvPr/>
        </p:nvSpPr>
        <p:spPr>
          <a:xfrm>
            <a:off x="1226100" y="2620075"/>
            <a:ext cx="793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8"/>
          <p:cNvSpPr txBox="1"/>
          <p:nvPr/>
        </p:nvSpPr>
        <p:spPr>
          <a:xfrm>
            <a:off x="324000" y="3265650"/>
            <a:ext cx="27642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5.92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4.1 =  24.272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24.272 × 6.5 = £157.768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8"/>
          <p:cNvSpPr txBox="1"/>
          <p:nvPr/>
        </p:nvSpPr>
        <p:spPr>
          <a:xfrm>
            <a:off x="6648475" y="3265650"/>
            <a:ext cx="18882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 =  24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 × 6.5 = £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8"/>
          <p:cNvSpPr txBox="1"/>
          <p:nvPr/>
        </p:nvSpPr>
        <p:spPr>
          <a:xfrm>
            <a:off x="3448200" y="3265650"/>
            <a:ext cx="25455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5.92 × 4.1 =  24.27 m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333333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24.27 × 6.5 = £157.76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08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5" name="Google Shape;1095;p88"/>
          <p:cNvCxnSpPr/>
          <p:nvPr/>
        </p:nvCxnSpPr>
        <p:spPr>
          <a:xfrm>
            <a:off x="5688675" y="1353625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6" name="Google Shape;1096;p88"/>
          <p:cNvCxnSpPr/>
          <p:nvPr/>
        </p:nvCxnSpPr>
        <p:spPr>
          <a:xfrm>
            <a:off x="8079575" y="1411800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102" name="Google Shape;1102;p89"/>
          <p:cNvSpPr txBox="1"/>
          <p:nvPr>
            <p:ph idx="1" type="body"/>
          </p:nvPr>
        </p:nvSpPr>
        <p:spPr>
          <a:xfrm>
            <a:off x="324000" y="768551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3 friends go out for lunch and </a:t>
            </a:r>
            <a:r>
              <a:rPr lang="en-GB" sz="2100"/>
              <a:t>spend</a:t>
            </a:r>
            <a:r>
              <a:rPr lang="en-GB" sz="2100"/>
              <a:t> £25.  They decide that there are 3 different ways they can pay.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Write down the pros and cons of the different ways.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i) Round the cost to the nearest £10 and split the bill.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ii) Split the bill between the 3 of them, round this to the nearest pound and each pay that amount.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iii) Split the bill between the 3 of them, round to 2 decimal places and each pay that </a:t>
            </a:r>
            <a:r>
              <a:rPr lang="en-GB" sz="2100"/>
              <a:t>amount</a:t>
            </a:r>
            <a:r>
              <a:rPr lang="en-GB" sz="2100"/>
              <a:t>.</a:t>
            </a:r>
            <a:br>
              <a:rPr lang="en-GB" sz="2100"/>
            </a:b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b) </a:t>
            </a:r>
            <a:r>
              <a:rPr lang="en-GB" sz="2100"/>
              <a:t>What should they do to pay for the lunch?</a:t>
            </a:r>
            <a:endParaRPr sz="2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 Work out the cost of carpeting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08" name="Google Shape;1108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109" name="Google Shape;1109;p90"/>
          <p:cNvSpPr/>
          <p:nvPr/>
        </p:nvSpPr>
        <p:spPr>
          <a:xfrm rot="-5400000">
            <a:off x="1295025" y="954153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90"/>
          <p:cNvSpPr txBox="1"/>
          <p:nvPr/>
        </p:nvSpPr>
        <p:spPr>
          <a:xfrm>
            <a:off x="3221277" y="1949403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.8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90"/>
          <p:cNvSpPr/>
          <p:nvPr/>
        </p:nvSpPr>
        <p:spPr>
          <a:xfrm>
            <a:off x="940225" y="1627703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£6.25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0"/>
          <p:cNvSpPr/>
          <p:nvPr/>
        </p:nvSpPr>
        <p:spPr>
          <a:xfrm>
            <a:off x="1028900" y="3339111"/>
            <a:ext cx="1231500" cy="123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0"/>
          <p:cNvSpPr/>
          <p:nvPr/>
        </p:nvSpPr>
        <p:spPr>
          <a:xfrm>
            <a:off x="2260400" y="3749961"/>
            <a:ext cx="779100" cy="82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90"/>
          <p:cNvSpPr txBox="1"/>
          <p:nvPr/>
        </p:nvSpPr>
        <p:spPr>
          <a:xfrm>
            <a:off x="1310873" y="3043311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0"/>
          <p:cNvSpPr txBox="1"/>
          <p:nvPr/>
        </p:nvSpPr>
        <p:spPr>
          <a:xfrm>
            <a:off x="1666222" y="4586575"/>
            <a:ext cx="7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8.08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0"/>
          <p:cNvSpPr txBox="1"/>
          <p:nvPr/>
        </p:nvSpPr>
        <p:spPr>
          <a:xfrm>
            <a:off x="357993" y="3792484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.2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0"/>
          <p:cNvSpPr txBox="1"/>
          <p:nvPr/>
        </p:nvSpPr>
        <p:spPr>
          <a:xfrm>
            <a:off x="3086602" y="4021611"/>
            <a:ext cx="7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2.84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0"/>
          <p:cNvSpPr/>
          <p:nvPr/>
        </p:nvSpPr>
        <p:spPr>
          <a:xfrm>
            <a:off x="1193718" y="3780471"/>
            <a:ext cx="1642175" cy="7386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£5.95 per m</a:t>
            </a:r>
            <a:r>
              <a:rPr baseline="30000"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0"/>
          <p:cNvSpPr txBox="1"/>
          <p:nvPr/>
        </p:nvSpPr>
        <p:spPr>
          <a:xfrm>
            <a:off x="1652625" y="1119903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7.2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90"/>
          <p:cNvCxnSpPr/>
          <p:nvPr/>
        </p:nvCxnSpPr>
        <p:spPr>
          <a:xfrm>
            <a:off x="811875" y="1381378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1" name="Google Shape;1121;p90"/>
          <p:cNvCxnSpPr/>
          <p:nvPr/>
        </p:nvCxnSpPr>
        <p:spPr>
          <a:xfrm>
            <a:off x="3202775" y="1439553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2" name="Google Shape;1122;p90"/>
          <p:cNvCxnSpPr/>
          <p:nvPr/>
        </p:nvCxnSpPr>
        <p:spPr>
          <a:xfrm>
            <a:off x="1028900" y="3302386"/>
            <a:ext cx="1230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3" name="Google Shape;1123;p90"/>
          <p:cNvCxnSpPr/>
          <p:nvPr/>
        </p:nvCxnSpPr>
        <p:spPr>
          <a:xfrm>
            <a:off x="975850" y="3339103"/>
            <a:ext cx="0" cy="123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4" name="Google Shape;1124;p90"/>
          <p:cNvCxnSpPr/>
          <p:nvPr/>
        </p:nvCxnSpPr>
        <p:spPr>
          <a:xfrm>
            <a:off x="1028900" y="4623486"/>
            <a:ext cx="2007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25" name="Google Shape;1125;p90"/>
          <p:cNvCxnSpPr/>
          <p:nvPr/>
        </p:nvCxnSpPr>
        <p:spPr>
          <a:xfrm>
            <a:off x="3068100" y="3749953"/>
            <a:ext cx="0" cy="815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131" name="Google Shape;1131;p91"/>
          <p:cNvSpPr txBox="1"/>
          <p:nvPr>
            <p:ph idx="1" type="body"/>
          </p:nvPr>
        </p:nvSpPr>
        <p:spPr>
          <a:xfrm>
            <a:off x="324000" y="6831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  Lucas, Aisha and Jacob take part in 800 m on sports day.  The teacher recorded their times to the nearest minute.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Here are their times: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Lucas                                      Aisha                                       Jacob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 minutes                            3 minutes                                 3 minutes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Was rounding to the nearest minute a suitable degree of accuracy?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teacher then decides to record their times to the </a:t>
            </a:r>
            <a:r>
              <a:rPr lang="en-GB" sz="2000"/>
              <a:t>nearest</a:t>
            </a:r>
            <a:r>
              <a:rPr lang="en-GB" sz="2000"/>
              <a:t> hundredth of a second. Is this an appropriate degree of accuracy?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pic>
        <p:nvPicPr>
          <p:cNvPr id="1137" name="Google Shape;1137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54571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90275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61175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54571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90275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61175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20267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5597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02687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20267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75597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02687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290447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22615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49705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290447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22615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49705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656143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862747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1656143" y="201494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656143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862747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2"/>
          <p:cNvSpPr/>
          <p:nvPr/>
        </p:nvSpPr>
        <p:spPr>
          <a:xfrm>
            <a:off x="1141236" y="1918771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92"/>
          <p:cNvSpPr/>
          <p:nvPr/>
        </p:nvSpPr>
        <p:spPr>
          <a:xfrm>
            <a:off x="1141236" y="2127736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2"/>
          <p:cNvSpPr/>
          <p:nvPr/>
        </p:nvSpPr>
        <p:spPr>
          <a:xfrm>
            <a:off x="1985561" y="2250123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3" name="Google Shape;1163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136731" y="1794552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072435" y="179455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343335" y="204921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136731" y="2235329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072435" y="204921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343335" y="179455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503868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43957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71047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503868" y="201494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503868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43957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71047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426371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362075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632975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426371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362075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632975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792067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72777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99867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792067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72777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99867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262247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419795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46885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262247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19795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46885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627943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834547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4627943" y="197722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627943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834547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2"/>
          <p:cNvSpPr/>
          <p:nvPr/>
        </p:nvSpPr>
        <p:spPr>
          <a:xfrm>
            <a:off x="4113036" y="1881051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92"/>
          <p:cNvSpPr/>
          <p:nvPr/>
        </p:nvSpPr>
        <p:spPr>
          <a:xfrm>
            <a:off x="4113036" y="2090016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92"/>
          <p:cNvSpPr/>
          <p:nvPr/>
        </p:nvSpPr>
        <p:spPr>
          <a:xfrm>
            <a:off x="4957361" y="2212403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2" name="Google Shape;1202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108531" y="1756832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108531" y="2197609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044235" y="201149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315135" y="175683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475668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41137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68227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5108956" y="197722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475668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41137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68227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435891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371595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642495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435891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371595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642495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801587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73729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00819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801587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73729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00819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7271767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20747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47837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7271767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720747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47837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7637463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7646988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7637463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844067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2"/>
          <p:cNvSpPr/>
          <p:nvPr/>
        </p:nvSpPr>
        <p:spPr>
          <a:xfrm>
            <a:off x="7122556" y="1905944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92"/>
          <p:cNvSpPr/>
          <p:nvPr/>
        </p:nvSpPr>
        <p:spPr>
          <a:xfrm>
            <a:off x="7122556" y="2114909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92"/>
          <p:cNvSpPr/>
          <p:nvPr/>
        </p:nvSpPr>
        <p:spPr>
          <a:xfrm>
            <a:off x="7966881" y="2237297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8" name="Google Shape;1238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118051" y="178172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053755" y="178172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8324655" y="203638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118051" y="222250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9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485188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420892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9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8691792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8485188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9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485188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9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8420892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9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8691792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9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588471" y="20152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9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8118476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their exact times: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Lucas                            Aisha                             Jacob</a:t>
            </a:r>
            <a:br>
              <a:rPr lang="en-GB"/>
            </a:br>
            <a:endParaRPr/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Was it necessary to record the times to the nearest 100</a:t>
            </a:r>
            <a:r>
              <a:rPr baseline="30000" lang="en-GB"/>
              <a:t>th</a:t>
            </a:r>
            <a:r>
              <a:rPr lang="en-GB"/>
              <a:t> of a second?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			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257" name="Google Shape;1257;p9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3 friends go out for lunch and spend £25.  They decide that there are 3 different ways they can pay.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Write down the pros and cons of the different ways.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i) Round the cost to the nearest £10 and split the bill.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£25 ≈ £30 (to the nearest ten)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£30 ÷ 3 = £10</a:t>
            </a:r>
            <a:r>
              <a:rPr lang="en-GB"/>
              <a:t>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pay £10 each.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cover the cost of lunch but pay £5 more than they needed to.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263" name="Google Shape;1263;p94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3 friends go out for lunch and spend £25.  They decide that there are 3 different ways they can pay.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Write down the pros and cons of the different ways.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ii) Split the bill between the 3 of them, round this to the nearest pound and each pay that amount.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£25 ÷ 3 = £8 (to the nearest pound)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£8 × 3</a:t>
            </a:r>
            <a:r>
              <a:rPr lang="en-GB"/>
              <a:t>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£24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easy to work out but they are £1 short on the cost of lunch.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269" name="Google Shape;1269;p95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3 friends go out for lunch and spend £25.  They decide that there are 3 different ways they can pay.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100"/>
              <a:t>Write down the pros and cons of the different ways.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iii) Split the bill between the 3 of them, round to 2 decimal places and each pay that amount.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£25 ÷ 3 = £8.33 (to 2 d.p.)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£8.33 × 3</a:t>
            </a:r>
            <a:r>
              <a:rPr lang="en-GB"/>
              <a:t>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£24.99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each pay the same but they are 1 p short on the cost of lunch.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275" name="Google Shape;1275;p96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3 friends go out for lunch and spend £25.  They decide that there are 3 different ways they can pay.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</a:t>
            </a:r>
            <a:r>
              <a:rPr lang="en-GB" sz="2100"/>
              <a:t>What should they do to pay for the lunch?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They should divide the cost by 3 but round up to the nearest penny.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 Work out the cost of carpeting the following: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81" name="Google Shape;1281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282" name="Google Shape;1282;p97"/>
          <p:cNvSpPr txBox="1"/>
          <p:nvPr/>
        </p:nvSpPr>
        <p:spPr>
          <a:xfrm>
            <a:off x="4972200" y="1560350"/>
            <a:ext cx="30000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7.2 × 6.8 = 49.0 m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49.0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6.25 = £306.25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7"/>
          <p:cNvSpPr txBox="1"/>
          <p:nvPr/>
        </p:nvSpPr>
        <p:spPr>
          <a:xfrm>
            <a:off x="4155600" y="3617750"/>
            <a:ext cx="47406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8.08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4.2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− 2.98 × 1.36 = 29.88 m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29.88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5.95 = £177.79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7"/>
          <p:cNvSpPr/>
          <p:nvPr/>
        </p:nvSpPr>
        <p:spPr>
          <a:xfrm rot="-5400000">
            <a:off x="1295025" y="954153"/>
            <a:ext cx="1358400" cy="2329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7"/>
          <p:cNvSpPr txBox="1"/>
          <p:nvPr/>
        </p:nvSpPr>
        <p:spPr>
          <a:xfrm>
            <a:off x="3221277" y="1949403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6.8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7"/>
          <p:cNvSpPr/>
          <p:nvPr/>
        </p:nvSpPr>
        <p:spPr>
          <a:xfrm>
            <a:off x="940225" y="1627703"/>
            <a:ext cx="2068000" cy="9004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£6.25 per 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7"/>
          <p:cNvSpPr/>
          <p:nvPr/>
        </p:nvSpPr>
        <p:spPr>
          <a:xfrm>
            <a:off x="1028900" y="3339111"/>
            <a:ext cx="1231500" cy="123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7"/>
          <p:cNvSpPr/>
          <p:nvPr/>
        </p:nvSpPr>
        <p:spPr>
          <a:xfrm>
            <a:off x="2260400" y="3749961"/>
            <a:ext cx="779100" cy="82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7"/>
          <p:cNvSpPr txBox="1"/>
          <p:nvPr/>
        </p:nvSpPr>
        <p:spPr>
          <a:xfrm>
            <a:off x="1310873" y="3043311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5.1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7"/>
          <p:cNvSpPr txBox="1"/>
          <p:nvPr/>
        </p:nvSpPr>
        <p:spPr>
          <a:xfrm>
            <a:off x="1666222" y="4586575"/>
            <a:ext cx="7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8.08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7"/>
          <p:cNvSpPr txBox="1"/>
          <p:nvPr/>
        </p:nvSpPr>
        <p:spPr>
          <a:xfrm>
            <a:off x="357993" y="3792484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4.2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7"/>
          <p:cNvSpPr txBox="1"/>
          <p:nvPr/>
        </p:nvSpPr>
        <p:spPr>
          <a:xfrm>
            <a:off x="3086602" y="4021611"/>
            <a:ext cx="7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2.84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7"/>
          <p:cNvSpPr/>
          <p:nvPr/>
        </p:nvSpPr>
        <p:spPr>
          <a:xfrm>
            <a:off x="1193718" y="3780471"/>
            <a:ext cx="1642175" cy="738675"/>
          </a:xfrm>
          <a:prstGeom prst="flowChartPunchedTap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£5.95 per m</a:t>
            </a:r>
            <a:r>
              <a:rPr baseline="30000"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7"/>
          <p:cNvSpPr txBox="1"/>
          <p:nvPr/>
        </p:nvSpPr>
        <p:spPr>
          <a:xfrm>
            <a:off x="1652625" y="1119903"/>
            <a:ext cx="6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7.2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5" name="Google Shape;1295;p97"/>
          <p:cNvCxnSpPr/>
          <p:nvPr/>
        </p:nvCxnSpPr>
        <p:spPr>
          <a:xfrm>
            <a:off x="811875" y="1381378"/>
            <a:ext cx="233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6" name="Google Shape;1296;p97"/>
          <p:cNvCxnSpPr/>
          <p:nvPr/>
        </p:nvCxnSpPr>
        <p:spPr>
          <a:xfrm>
            <a:off x="3202775" y="1439553"/>
            <a:ext cx="0" cy="1361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7" name="Google Shape;1297;p97"/>
          <p:cNvCxnSpPr/>
          <p:nvPr/>
        </p:nvCxnSpPr>
        <p:spPr>
          <a:xfrm>
            <a:off x="1028900" y="3302386"/>
            <a:ext cx="1230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8" name="Google Shape;1298;p97"/>
          <p:cNvCxnSpPr/>
          <p:nvPr/>
        </p:nvCxnSpPr>
        <p:spPr>
          <a:xfrm>
            <a:off x="975850" y="3339103"/>
            <a:ext cx="0" cy="1232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9" name="Google Shape;1299;p97"/>
          <p:cNvCxnSpPr/>
          <p:nvPr/>
        </p:nvCxnSpPr>
        <p:spPr>
          <a:xfrm>
            <a:off x="1028900" y="4623486"/>
            <a:ext cx="2007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0" name="Google Shape;1300;p97"/>
          <p:cNvCxnSpPr/>
          <p:nvPr/>
        </p:nvCxnSpPr>
        <p:spPr>
          <a:xfrm>
            <a:off x="3068100" y="3749953"/>
            <a:ext cx="0" cy="815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306" name="Google Shape;1306;p98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  Lucas, Aisha and Jacob take part in 800 m on sports day. The teacher recorded their times to the nearest minute.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Here are their times: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Lucas                                      Aisha                                       Jacob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3 minutes                            3 minutes                                 3 minutes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Was rounding to the nearest minute a suitable degree of accuracy?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because the times were all the same.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The teacher then decides to record their times to the nearest hundredth of a second. Is this an appropriate degree of accuracy?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this should definitely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separate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pupils.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 a context</a:t>
            </a:r>
            <a:endParaRPr/>
          </a:p>
        </p:txBody>
      </p:sp>
      <p:sp>
        <p:nvSpPr>
          <p:cNvPr id="1312" name="Google Shape;1312;p99"/>
          <p:cNvSpPr txBox="1"/>
          <p:nvPr>
            <p:ph idx="1" type="body"/>
          </p:nvPr>
        </p:nvSpPr>
        <p:spPr>
          <a:xfrm>
            <a:off x="324000" y="3443505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was not necessary, as you could tell from the tenths of a second.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			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313" name="Google Shape;1313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54571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90275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61175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54571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90275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61175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20267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5597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02687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20267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75597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02687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290447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22615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497051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290447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22615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497051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656143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862747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1656143" y="201494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656143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862747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99"/>
          <p:cNvSpPr/>
          <p:nvPr/>
        </p:nvSpPr>
        <p:spPr>
          <a:xfrm>
            <a:off x="1141236" y="1918771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99"/>
          <p:cNvSpPr/>
          <p:nvPr/>
        </p:nvSpPr>
        <p:spPr>
          <a:xfrm>
            <a:off x="1141236" y="2127736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99"/>
          <p:cNvSpPr/>
          <p:nvPr/>
        </p:nvSpPr>
        <p:spPr>
          <a:xfrm>
            <a:off x="1985561" y="2250123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9" name="Google Shape;1339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136731" y="1794552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072435" y="179455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343335" y="204921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136731" y="2235329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072435" y="204921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343335" y="179455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503868" y="179946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43957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71047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503868" y="201494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503868" y="224024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439572" y="205412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710472" y="179946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426371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362075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632975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426371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362075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632975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792067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72777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99867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792067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72777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99867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262247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419795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468851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262247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19795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468851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627943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834547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4627943" y="197722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627943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834547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99"/>
          <p:cNvSpPr/>
          <p:nvPr/>
        </p:nvSpPr>
        <p:spPr>
          <a:xfrm>
            <a:off x="4113036" y="1881051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99"/>
          <p:cNvSpPr/>
          <p:nvPr/>
        </p:nvSpPr>
        <p:spPr>
          <a:xfrm>
            <a:off x="4113036" y="2090016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99"/>
          <p:cNvSpPr/>
          <p:nvPr/>
        </p:nvSpPr>
        <p:spPr>
          <a:xfrm>
            <a:off x="4957361" y="2212403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8" name="Google Shape;1378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108531" y="1756832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108531" y="2197609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044235" y="2011491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315135" y="1756832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475668" y="176174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41137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68227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5108956" y="197722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475668" y="2202522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411372" y="201640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682272" y="176174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435891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371595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642495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435891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371595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642495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801587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73729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00819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801587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73729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00819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7271767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20747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47837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7271767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7207471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478371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7637463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7646988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7637463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844067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9"/>
          <p:cNvSpPr/>
          <p:nvPr/>
        </p:nvSpPr>
        <p:spPr>
          <a:xfrm>
            <a:off x="7122556" y="1905944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99"/>
          <p:cNvSpPr/>
          <p:nvPr/>
        </p:nvSpPr>
        <p:spPr>
          <a:xfrm>
            <a:off x="7122556" y="2114909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99"/>
          <p:cNvSpPr/>
          <p:nvPr/>
        </p:nvSpPr>
        <p:spPr>
          <a:xfrm>
            <a:off x="7966881" y="2237297"/>
            <a:ext cx="71700" cy="71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4" name="Google Shape;1414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118051" y="1781725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053755" y="1781725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8324655" y="2036384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118051" y="2222503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9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485188" y="1786638"/>
            <a:ext cx="252316" cy="7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420892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99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8691792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8485188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Google Shape;1422;p99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485188" y="2227415"/>
            <a:ext cx="252316" cy="9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Google Shape;1423;p99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8420892" y="2041297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99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8691792" y="17866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99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7588471" y="2015238"/>
            <a:ext cx="101227" cy="262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99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8118476" y="2002116"/>
            <a:ext cx="252316" cy="9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99"/>
          <p:cNvSpPr txBox="1"/>
          <p:nvPr>
            <p:ph idx="1" type="body"/>
          </p:nvPr>
        </p:nvSpPr>
        <p:spPr>
          <a:xfrm>
            <a:off x="324000" y="759300"/>
            <a:ext cx="8237700" cy="26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their exact times: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     Lucas                            Aisha                             Jacob</a:t>
            </a:r>
            <a:br>
              <a:rPr lang="en-GB"/>
            </a:br>
            <a:endParaRPr/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Was it necessary to record the times to the nearest 100</a:t>
            </a:r>
            <a:r>
              <a:rPr baseline="30000" lang="en-GB"/>
              <a:t>th</a:t>
            </a:r>
            <a:r>
              <a:rPr lang="en-GB"/>
              <a:t> of a second?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00"/>
          <p:cNvSpPr txBox="1"/>
          <p:nvPr>
            <p:ph idx="1" type="body"/>
          </p:nvPr>
        </p:nvSpPr>
        <p:spPr>
          <a:xfrm>
            <a:off x="324000" y="73672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place value table is useful when rounding to decimal places.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Take care when the digit in the column that needs altering is a 9.  E.g.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highlight>
                  <a:schemeClr val="lt1"/>
                </a:highlight>
              </a:rPr>
              <a:t>Limitations of measuring can have an effect on outcomes.</a:t>
            </a:r>
            <a:endParaRPr sz="20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chemeClr val="lt1"/>
                </a:highlight>
              </a:rPr>
              <a:t>Generally, answers are given to the same degree of accuracy as the values in the question, unless otherwise specified in the question.</a:t>
            </a:r>
            <a:r>
              <a:rPr lang="en-GB"/>
              <a:t>  </a:t>
            </a:r>
            <a:endParaRPr/>
          </a:p>
        </p:txBody>
      </p:sp>
      <p:sp>
        <p:nvSpPr>
          <p:cNvPr id="1433" name="Google Shape;1433;p10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Rounding to any number of decimal places</a:t>
            </a:r>
            <a:endParaRPr sz="1800"/>
          </a:p>
        </p:txBody>
      </p:sp>
      <p:pic>
        <p:nvPicPr>
          <p:cNvPr descr="Original/editable on slide 20" id="1434" name="Google Shape;143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825" y="1390076"/>
            <a:ext cx="3769900" cy="194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40" name="Google Shape;1440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