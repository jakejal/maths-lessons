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B3277E-3E12-4634-AB05-300492CF9E7F}">
  <a:tblStyle styleId="{4AB3277E-3E12-4634-AB05-300492CF9E7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7" Type="http://schemas.openxmlformats.org/officeDocument/2006/relationships/slide" Target="slides/slide4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8e8f6098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8e8f6098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8e8f60980e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8e8f60980e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8e8f60980e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8e8f60980e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8e8f60980e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28e8f60980e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28e8f60980e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28e8f60980e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28e8f60980e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28e8f60980e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28e8f60980e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28e8f60980e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28e8f60980e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28e8f60980e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8e8f60980e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8e8f60980e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28e8f60980e_0_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28e8f60980e_0_1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28e8f60980e_0_1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28e8f60980e_0_1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28e8f60980e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28e8f60980e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28e8f60980e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28e8f60980e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8e8f60980e_0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8e8f60980e_0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8e8f60980e_0_1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28e8f60980e_0_1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8e8f60980e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8e8f60980e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8e8f60980e_0_1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28e8f60980e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28e8f60980e_0_1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28e8f60980e_0_1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8e8f60980e_0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28e8f60980e_0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8e8f60980e_0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28e8f60980e_0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8e8f60980e_0_1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28e8f60980e_0_1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28e8f60980e_0_1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28e8f60980e_0_1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28e8f60980e_0_1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28e8f60980e_0_1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28e8f60980e_0_1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28e8f60980e_0_1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28e8f60980e_0_1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28e8f60980e_0_1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2b00b59ee4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2b00b59ee4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2b00b59ee4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2b00b59ee4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2b00b59ee4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2b00b59ee4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28e8f60980e_0_1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28e8f60980e_0_1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28e8f60980e_0_1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28e8f60980e_0_1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28e8f60980e_0_1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28e8f60980e_0_1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28e8f60980e_0_1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28e8f60980e_0_1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28e8f60980e_0_1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28e8f60980e_0_1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28e8f60980e_0_1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28e8f60980e_0_1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28e8f60980e_0_1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28e8f60980e_0_1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28e8f60980e_0_1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28e8f60980e_0_1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28e8f60980e_0_1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28e8f60980e_0_1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20.png"/><Relationship Id="rId7"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2.png"/><Relationship Id="rId4" Type="http://schemas.openxmlformats.org/officeDocument/2006/relationships/image" Target="../media/image62.png"/><Relationship Id="rId5" Type="http://schemas.openxmlformats.org/officeDocument/2006/relationships/image" Target="../media/image26.png"/><Relationship Id="rId6" Type="http://schemas.openxmlformats.org/officeDocument/2006/relationships/image" Target="../media/image33.png"/><Relationship Id="rId7"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2.png"/><Relationship Id="rId4" Type="http://schemas.openxmlformats.org/officeDocument/2006/relationships/image" Target="../media/image19.png"/><Relationship Id="rId9"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26.png"/><Relationship Id="rId8" Type="http://schemas.openxmlformats.org/officeDocument/2006/relationships/image" Target="../media/image3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2.png"/><Relationship Id="rId4" Type="http://schemas.openxmlformats.org/officeDocument/2006/relationships/image" Target="../media/image29.png"/><Relationship Id="rId11" Type="http://schemas.openxmlformats.org/officeDocument/2006/relationships/image" Target="../media/image15.png"/><Relationship Id="rId10" Type="http://schemas.openxmlformats.org/officeDocument/2006/relationships/image" Target="../media/image35.png"/><Relationship Id="rId9" Type="http://schemas.openxmlformats.org/officeDocument/2006/relationships/image" Target="../media/image33.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32.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40.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5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5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5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5.png"/><Relationship Id="rId4" Type="http://schemas.openxmlformats.org/officeDocument/2006/relationships/image" Target="../media/image53.png"/><Relationship Id="rId5"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5.png"/><Relationship Id="rId4"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53.png"/><Relationship Id="rId4" Type="http://schemas.openxmlformats.org/officeDocument/2006/relationships/image" Target="../media/image5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53.png"/><Relationship Id="rId4" Type="http://schemas.openxmlformats.org/officeDocument/2006/relationships/image" Target="../media/image57.png"/><Relationship Id="rId5"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 Id="rId3"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5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55.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 Id="rId3" Type="http://schemas.openxmlformats.org/officeDocument/2006/relationships/image" Target="../media/image53.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 Id="rId3" Type="http://schemas.openxmlformats.org/officeDocument/2006/relationships/image" Target="../media/image55.png"/><Relationship Id="rId4" Type="http://schemas.openxmlformats.org/officeDocument/2006/relationships/image" Target="../media/image53.png"/><Relationship Id="rId5" Type="http://schemas.openxmlformats.org/officeDocument/2006/relationships/image" Target="../media/image5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53.png"/><Relationship Id="rId4" Type="http://schemas.openxmlformats.org/officeDocument/2006/relationships/image" Target="../media/image57.png"/><Relationship Id="rId5"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53.png"/><Relationship Id="rId6" Type="http://schemas.openxmlformats.org/officeDocument/2006/relationships/image" Target="../media/image5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5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2.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Non-linear relationships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appreciate that there are other number sequences and the limitations of only seeing a few terms of a sequence.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nvSpPr>
        <p:spPr>
          <a:xfrm>
            <a:off x="324000" y="902700"/>
            <a:ext cx="8496000" cy="717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282828"/>
                </a:solidFill>
                <a:latin typeface="Lexend"/>
                <a:ea typeface="Lexend"/>
                <a:cs typeface="Lexend"/>
                <a:sym typeface="Lexend"/>
              </a:rPr>
              <a:t>An arithmetic (or linear) sequence is a sequence where the difference between successive terms is constant.</a:t>
            </a:r>
            <a:endParaRPr sz="2000">
              <a:solidFill>
                <a:srgbClr val="282828"/>
              </a:solidFill>
              <a:latin typeface="Lexend"/>
              <a:ea typeface="Lexend"/>
              <a:cs typeface="Lexend"/>
              <a:sym typeface="Lexend"/>
            </a:endParaRPr>
          </a:p>
        </p:txBody>
      </p:sp>
      <p:sp>
        <p:nvSpPr>
          <p:cNvPr id="771" name="Google Shape;771;p66"/>
          <p:cNvSpPr txBox="1"/>
          <p:nvPr/>
        </p:nvSpPr>
        <p:spPr>
          <a:xfrm>
            <a:off x="324000" y="1935009"/>
            <a:ext cx="8496000" cy="90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solidFill>
                  <a:srgbClr val="282828"/>
                </a:solidFill>
                <a:latin typeface="Lexend"/>
                <a:ea typeface="Lexend"/>
                <a:cs typeface="Lexend"/>
                <a:sym typeface="Lexend"/>
              </a:rPr>
              <a:t>A </a:t>
            </a:r>
            <a:r>
              <a:rPr lang="en-GB" sz="2000">
                <a:solidFill>
                  <a:srgbClr val="000000"/>
                </a:solidFill>
                <a:latin typeface="Lexend"/>
                <a:ea typeface="Lexend"/>
                <a:cs typeface="Lexend"/>
                <a:sym typeface="Lexend"/>
              </a:rPr>
              <a:t>geometric sequence</a:t>
            </a:r>
            <a:r>
              <a:rPr b="1" lang="en-GB" sz="2000">
                <a:solidFill>
                  <a:srgbClr val="000000"/>
                </a:solidFill>
                <a:latin typeface="Lexend"/>
                <a:ea typeface="Lexend"/>
                <a:cs typeface="Lexend"/>
                <a:sym typeface="Lexend"/>
              </a:rPr>
              <a:t> </a:t>
            </a:r>
            <a:r>
              <a:rPr lang="en-GB" sz="2000">
                <a:solidFill>
                  <a:srgbClr val="000000"/>
                </a:solidFill>
                <a:latin typeface="Lexend"/>
                <a:ea typeface="Lexend"/>
                <a:cs typeface="Lexend"/>
                <a:sym typeface="Lexend"/>
              </a:rPr>
              <a:t>is a sequence with a constant multiplicative relationship between successive terms.</a:t>
            </a:r>
            <a:endParaRPr sz="2000">
              <a:solidFill>
                <a:srgbClr val="000000"/>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777" name="Google Shape;777;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778" name="Google Shape;778;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Extrapolating a sequence</a:t>
            </a:r>
            <a:endParaRPr/>
          </a:p>
        </p:txBody>
      </p:sp>
      <p:pic>
        <p:nvPicPr>
          <p:cNvPr id="779" name="Google Shape;779;p67"/>
          <p:cNvPicPr preferRelativeResize="0"/>
          <p:nvPr/>
        </p:nvPicPr>
        <p:blipFill>
          <a:blip r:embed="rId3">
            <a:alphaModFix/>
          </a:blip>
          <a:stretch>
            <a:fillRect/>
          </a:stretch>
        </p:blipFill>
        <p:spPr>
          <a:xfrm>
            <a:off x="413500"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785" name="Google Shape;785;p68"/>
          <p:cNvSpPr txBox="1"/>
          <p:nvPr>
            <p:ph idx="1" type="body"/>
          </p:nvPr>
        </p:nvSpPr>
        <p:spPr>
          <a:xfrm>
            <a:off x="324000" y="3564675"/>
            <a:ext cx="5765100" cy="29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do you think the next term is going to be?</a:t>
            </a:r>
            <a:endParaRPr sz="1800"/>
          </a:p>
        </p:txBody>
      </p:sp>
      <p:grpSp>
        <p:nvGrpSpPr>
          <p:cNvPr id="786" name="Google Shape;786;p68"/>
          <p:cNvGrpSpPr/>
          <p:nvPr/>
        </p:nvGrpSpPr>
        <p:grpSpPr>
          <a:xfrm>
            <a:off x="5391375" y="1114800"/>
            <a:ext cx="3379163" cy="1810402"/>
            <a:chOff x="5391375" y="810000"/>
            <a:chExt cx="3379163" cy="1810402"/>
          </a:xfrm>
        </p:grpSpPr>
        <p:sp>
          <p:nvSpPr>
            <p:cNvPr id="787" name="Google Shape;787;p68"/>
            <p:cNvSpPr txBox="1"/>
            <p:nvPr/>
          </p:nvSpPr>
          <p:spPr>
            <a:xfrm flipH="1">
              <a:off x="7996838" y="2298502"/>
              <a:ext cx="773700" cy="321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788" name="Google Shape;788;p68"/>
            <p:cNvPicPr preferRelativeResize="0"/>
            <p:nvPr/>
          </p:nvPicPr>
          <p:blipFill>
            <a:blip r:embed="rId3">
              <a:alphaModFix/>
            </a:blip>
            <a:stretch>
              <a:fillRect/>
            </a:stretch>
          </p:blipFill>
          <p:spPr>
            <a:xfrm>
              <a:off x="8111574" y="1694751"/>
              <a:ext cx="544251" cy="603748"/>
            </a:xfrm>
            <a:prstGeom prst="rect">
              <a:avLst/>
            </a:prstGeom>
            <a:noFill/>
            <a:ln>
              <a:noFill/>
            </a:ln>
          </p:spPr>
        </p:pic>
        <p:pic>
          <p:nvPicPr>
            <p:cNvPr id="789" name="Google Shape;789;p68"/>
            <p:cNvPicPr preferRelativeResize="0"/>
            <p:nvPr/>
          </p:nvPicPr>
          <p:blipFill rotWithShape="1">
            <a:blip r:embed="rId4">
              <a:alphaModFix/>
            </a:blip>
            <a:srcRect b="43690" l="0" r="57905" t="0"/>
            <a:stretch/>
          </p:blipFill>
          <p:spPr>
            <a:xfrm>
              <a:off x="5391375" y="810000"/>
              <a:ext cx="2820500" cy="1183701"/>
            </a:xfrm>
            <a:prstGeom prst="rect">
              <a:avLst/>
            </a:prstGeom>
            <a:noFill/>
            <a:ln>
              <a:noFill/>
            </a:ln>
          </p:spPr>
        </p:pic>
        <p:sp>
          <p:nvSpPr>
            <p:cNvPr id="790" name="Google Shape;790;p68"/>
            <p:cNvSpPr/>
            <p:nvPr/>
          </p:nvSpPr>
          <p:spPr>
            <a:xfrm flipH="1">
              <a:off x="5546737" y="863650"/>
              <a:ext cx="2557500" cy="7125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That’s easy, it’s a linear sequence so the next term is 11.</a:t>
              </a:r>
              <a:endParaRPr sz="2000">
                <a:latin typeface="Kalam"/>
                <a:ea typeface="Kalam"/>
                <a:cs typeface="Kalam"/>
                <a:sym typeface="Kalam"/>
              </a:endParaRPr>
            </a:p>
          </p:txBody>
        </p:sp>
      </p:grpSp>
      <p:grpSp>
        <p:nvGrpSpPr>
          <p:cNvPr id="791" name="Google Shape;791;p68"/>
          <p:cNvGrpSpPr/>
          <p:nvPr/>
        </p:nvGrpSpPr>
        <p:grpSpPr>
          <a:xfrm>
            <a:off x="1196594" y="2330125"/>
            <a:ext cx="2757248" cy="1224000"/>
            <a:chOff x="1196594" y="2330125"/>
            <a:chExt cx="2757248" cy="1224000"/>
          </a:xfrm>
        </p:grpSpPr>
        <p:pic>
          <p:nvPicPr>
            <p:cNvPr id="792" name="Google Shape;792;p68"/>
            <p:cNvPicPr preferRelativeResize="0"/>
            <p:nvPr/>
          </p:nvPicPr>
          <p:blipFill rotWithShape="1">
            <a:blip r:embed="rId4">
              <a:alphaModFix/>
            </a:blip>
            <a:srcRect b="43690" l="0" r="57905" t="0"/>
            <a:stretch/>
          </p:blipFill>
          <p:spPr>
            <a:xfrm rot="10800000">
              <a:off x="1196594" y="2330125"/>
              <a:ext cx="2757248" cy="1224000"/>
            </a:xfrm>
            <a:prstGeom prst="rect">
              <a:avLst/>
            </a:prstGeom>
            <a:noFill/>
            <a:ln>
              <a:noFill/>
            </a:ln>
          </p:spPr>
        </p:pic>
        <p:sp>
          <p:nvSpPr>
            <p:cNvPr id="793" name="Google Shape;793;p68"/>
            <p:cNvSpPr/>
            <p:nvPr/>
          </p:nvSpPr>
          <p:spPr>
            <a:xfrm>
              <a:off x="1492756" y="2612398"/>
              <a:ext cx="2452800" cy="88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Actually it’s the odd numbers not containing the digit 1 </a:t>
              </a:r>
              <a:endParaRPr sz="1800">
                <a:latin typeface="Lexend"/>
                <a:ea typeface="Lexend"/>
                <a:cs typeface="Lexend"/>
                <a:sym typeface="Lexend"/>
              </a:endParaRPr>
            </a:p>
          </p:txBody>
        </p:sp>
      </p:grpSp>
      <p:sp>
        <p:nvSpPr>
          <p:cNvPr id="794" name="Google Shape;794;p68"/>
          <p:cNvSpPr txBox="1"/>
          <p:nvPr>
            <p:ph idx="1" type="body"/>
          </p:nvPr>
        </p:nvSpPr>
        <p:spPr>
          <a:xfrm>
            <a:off x="324000" y="3942725"/>
            <a:ext cx="5765100" cy="29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are the next 3 numbers in Alex’ sequence?</a:t>
            </a:r>
            <a:endParaRPr sz="1800"/>
          </a:p>
        </p:txBody>
      </p:sp>
      <p:grpSp>
        <p:nvGrpSpPr>
          <p:cNvPr id="795" name="Google Shape;795;p68"/>
          <p:cNvGrpSpPr/>
          <p:nvPr/>
        </p:nvGrpSpPr>
        <p:grpSpPr>
          <a:xfrm>
            <a:off x="954675" y="667038"/>
            <a:ext cx="2665825" cy="1905925"/>
            <a:chOff x="1008576" y="745979"/>
            <a:chExt cx="2665825" cy="1390070"/>
          </a:xfrm>
        </p:grpSpPr>
        <p:pic>
          <p:nvPicPr>
            <p:cNvPr id="796" name="Google Shape;796;p68"/>
            <p:cNvPicPr preferRelativeResize="0"/>
            <p:nvPr/>
          </p:nvPicPr>
          <p:blipFill rotWithShape="1">
            <a:blip r:embed="rId4">
              <a:alphaModFix/>
            </a:blip>
            <a:srcRect b="43690" l="0" r="57905" t="0"/>
            <a:stretch/>
          </p:blipFill>
          <p:spPr>
            <a:xfrm flipH="1">
              <a:off x="1008576" y="745979"/>
              <a:ext cx="2665825" cy="1390070"/>
            </a:xfrm>
            <a:prstGeom prst="rect">
              <a:avLst/>
            </a:prstGeom>
            <a:noFill/>
            <a:ln>
              <a:noFill/>
            </a:ln>
          </p:spPr>
        </p:pic>
        <p:sp>
          <p:nvSpPr>
            <p:cNvPr id="797" name="Google Shape;797;p68"/>
            <p:cNvSpPr/>
            <p:nvPr/>
          </p:nvSpPr>
          <p:spPr>
            <a:xfrm>
              <a:off x="1301525" y="810000"/>
              <a:ext cx="2234100" cy="88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I’m writing a sequence which follows a rule. Here are the first four terms: 3, 5, 7, 9, … </a:t>
              </a:r>
              <a:endParaRPr sz="1800">
                <a:latin typeface="Lexend"/>
                <a:ea typeface="Lexend"/>
                <a:cs typeface="Lexend"/>
                <a:sym typeface="Lexend"/>
              </a:endParaRPr>
            </a:p>
          </p:txBody>
        </p:sp>
      </p:grpSp>
      <p:sp>
        <p:nvSpPr>
          <p:cNvPr id="798" name="Google Shape;798;p68"/>
          <p:cNvSpPr/>
          <p:nvPr/>
        </p:nvSpPr>
        <p:spPr>
          <a:xfrm>
            <a:off x="324000" y="4391625"/>
            <a:ext cx="7484400" cy="35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23, 25, 27, …</a:t>
            </a:r>
            <a:endParaRPr sz="2000">
              <a:latin typeface="Kalam"/>
              <a:ea typeface="Kalam"/>
              <a:cs typeface="Kalam"/>
              <a:sym typeface="Kalam"/>
            </a:endParaRPr>
          </a:p>
        </p:txBody>
      </p:sp>
      <p:grpSp>
        <p:nvGrpSpPr>
          <p:cNvPr id="799" name="Google Shape;799;p68"/>
          <p:cNvGrpSpPr/>
          <p:nvPr/>
        </p:nvGrpSpPr>
        <p:grpSpPr>
          <a:xfrm>
            <a:off x="324000" y="1522413"/>
            <a:ext cx="885300" cy="901800"/>
            <a:chOff x="4225600" y="1620000"/>
            <a:chExt cx="885300" cy="901800"/>
          </a:xfrm>
        </p:grpSpPr>
        <p:pic>
          <p:nvPicPr>
            <p:cNvPr id="800" name="Google Shape;800;p68"/>
            <p:cNvPicPr preferRelativeResize="0"/>
            <p:nvPr/>
          </p:nvPicPr>
          <p:blipFill>
            <a:blip r:embed="rId5">
              <a:alphaModFix/>
            </a:blip>
            <a:stretch>
              <a:fillRect/>
            </a:stretch>
          </p:blipFill>
          <p:spPr>
            <a:xfrm flipH="1">
              <a:off x="4320001" y="1620000"/>
              <a:ext cx="531986" cy="613501"/>
            </a:xfrm>
            <a:prstGeom prst="rect">
              <a:avLst/>
            </a:prstGeom>
            <a:noFill/>
            <a:ln>
              <a:noFill/>
            </a:ln>
          </p:spPr>
        </p:pic>
        <p:sp>
          <p:nvSpPr>
            <p:cNvPr id="801" name="Google Shape;801;p68"/>
            <p:cNvSpPr txBox="1"/>
            <p:nvPr/>
          </p:nvSpPr>
          <p:spPr>
            <a:xfrm>
              <a:off x="4225600" y="22083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grpSp>
        <p:nvGrpSpPr>
          <p:cNvPr id="807" name="Google Shape;807;p69"/>
          <p:cNvGrpSpPr/>
          <p:nvPr/>
        </p:nvGrpSpPr>
        <p:grpSpPr>
          <a:xfrm>
            <a:off x="169575" y="1516799"/>
            <a:ext cx="889500" cy="936280"/>
            <a:chOff x="169575" y="1516799"/>
            <a:chExt cx="889500" cy="936280"/>
          </a:xfrm>
        </p:grpSpPr>
        <p:sp>
          <p:nvSpPr>
            <p:cNvPr id="808" name="Google Shape;808;p69"/>
            <p:cNvSpPr txBox="1"/>
            <p:nvPr/>
          </p:nvSpPr>
          <p:spPr>
            <a:xfrm>
              <a:off x="169575" y="2082880"/>
              <a:ext cx="889500" cy="3702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809" name="Google Shape;809;p69"/>
            <p:cNvPicPr preferRelativeResize="0"/>
            <p:nvPr/>
          </p:nvPicPr>
          <p:blipFill>
            <a:blip r:embed="rId3">
              <a:alphaModFix/>
            </a:blip>
            <a:stretch>
              <a:fillRect/>
            </a:stretch>
          </p:blipFill>
          <p:spPr>
            <a:xfrm flipH="1">
              <a:off x="391323" y="1516799"/>
              <a:ext cx="510291" cy="566087"/>
            </a:xfrm>
            <a:prstGeom prst="rect">
              <a:avLst/>
            </a:prstGeom>
            <a:noFill/>
            <a:ln>
              <a:noFill/>
            </a:ln>
          </p:spPr>
        </p:pic>
      </p:grpSp>
      <p:grpSp>
        <p:nvGrpSpPr>
          <p:cNvPr id="810" name="Google Shape;810;p69"/>
          <p:cNvGrpSpPr/>
          <p:nvPr/>
        </p:nvGrpSpPr>
        <p:grpSpPr>
          <a:xfrm>
            <a:off x="860449" y="876700"/>
            <a:ext cx="3269759" cy="902099"/>
            <a:chOff x="860449" y="876700"/>
            <a:chExt cx="3269759" cy="902099"/>
          </a:xfrm>
        </p:grpSpPr>
        <p:pic>
          <p:nvPicPr>
            <p:cNvPr id="811" name="Google Shape;811;p69"/>
            <p:cNvPicPr preferRelativeResize="0"/>
            <p:nvPr/>
          </p:nvPicPr>
          <p:blipFill rotWithShape="1">
            <a:blip r:embed="rId4">
              <a:alphaModFix/>
            </a:blip>
            <a:srcRect b="43690" l="0" r="57905" t="0"/>
            <a:stretch/>
          </p:blipFill>
          <p:spPr>
            <a:xfrm flipH="1">
              <a:off x="860449" y="876700"/>
              <a:ext cx="3237151" cy="902099"/>
            </a:xfrm>
            <a:prstGeom prst="rect">
              <a:avLst/>
            </a:prstGeom>
            <a:noFill/>
            <a:ln>
              <a:noFill/>
            </a:ln>
          </p:spPr>
        </p:pic>
        <p:sp>
          <p:nvSpPr>
            <p:cNvPr id="812" name="Google Shape;812;p69"/>
            <p:cNvSpPr/>
            <p:nvPr/>
          </p:nvSpPr>
          <p:spPr>
            <a:xfrm>
              <a:off x="1108308" y="954961"/>
              <a:ext cx="3021900" cy="71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My turn! I’m going to start my sequence 2, 3, 5, …</a:t>
              </a:r>
              <a:endParaRPr sz="1800">
                <a:latin typeface="Lexend"/>
                <a:ea typeface="Lexend"/>
                <a:cs typeface="Lexend"/>
                <a:sym typeface="Lexend"/>
              </a:endParaRPr>
            </a:p>
          </p:txBody>
        </p:sp>
      </p:grpSp>
      <p:sp>
        <p:nvSpPr>
          <p:cNvPr id="813" name="Google Shape;813;p69"/>
          <p:cNvSpPr txBox="1"/>
          <p:nvPr>
            <p:ph idx="1" type="body"/>
          </p:nvPr>
        </p:nvSpPr>
        <p:spPr>
          <a:xfrm>
            <a:off x="4320000" y="886200"/>
            <a:ext cx="4500000" cy="76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rules or patterns can you think of for Sofia’s sequence? What would the next term be?</a:t>
            </a:r>
            <a:endParaRPr sz="1800"/>
          </a:p>
        </p:txBody>
      </p:sp>
      <p:sp>
        <p:nvSpPr>
          <p:cNvPr id="814" name="Google Shape;814;p69"/>
          <p:cNvSpPr/>
          <p:nvPr/>
        </p:nvSpPr>
        <p:spPr>
          <a:xfrm>
            <a:off x="324000" y="3025100"/>
            <a:ext cx="8496000" cy="179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Some suggestions:</a:t>
            </a:r>
            <a:endParaRPr sz="2000">
              <a:latin typeface="Kalam"/>
              <a:ea typeface="Kalam"/>
              <a:cs typeface="Kalam"/>
              <a:sym typeface="Kalam"/>
            </a:endParaRPr>
          </a:p>
          <a:p>
            <a:pPr indent="0" lvl="0" marL="0" rtl="0" algn="l">
              <a:spcBef>
                <a:spcPts val="600"/>
              </a:spcBef>
              <a:spcAft>
                <a:spcPts val="0"/>
              </a:spcAft>
              <a:buNone/>
            </a:pPr>
            <a:r>
              <a:rPr lang="en-GB" sz="2000">
                <a:latin typeface="Kalam"/>
                <a:ea typeface="Kalam"/>
                <a:cs typeface="Kalam"/>
                <a:sym typeface="Kalam"/>
              </a:rPr>
              <a:t>Add 1, add 2, add 3, …. Next terms would be 8 and 12.</a:t>
            </a:r>
            <a:endParaRPr sz="2000">
              <a:latin typeface="Kalam"/>
              <a:ea typeface="Kalam"/>
              <a:cs typeface="Kalam"/>
              <a:sym typeface="Kalam"/>
            </a:endParaRPr>
          </a:p>
          <a:p>
            <a:pPr indent="0" lvl="0" marL="0" rtl="0" algn="l">
              <a:spcBef>
                <a:spcPts val="600"/>
              </a:spcBef>
              <a:spcAft>
                <a:spcPts val="0"/>
              </a:spcAft>
              <a:buNone/>
            </a:pPr>
            <a:r>
              <a:rPr lang="en-GB" sz="2000">
                <a:latin typeface="Kalam"/>
                <a:ea typeface="Kalam"/>
                <a:cs typeface="Kalam"/>
                <a:sym typeface="Kalam"/>
              </a:rPr>
              <a:t>Add two previous terms to get next term. Next terms are 8 and 13.</a:t>
            </a:r>
            <a:endParaRPr sz="2000">
              <a:latin typeface="Kalam"/>
              <a:ea typeface="Kalam"/>
              <a:cs typeface="Kalam"/>
              <a:sym typeface="Kalam"/>
            </a:endParaRPr>
          </a:p>
          <a:p>
            <a:pPr indent="0" lvl="0" marL="0" rtl="0" algn="l">
              <a:spcBef>
                <a:spcPts val="600"/>
              </a:spcBef>
              <a:spcAft>
                <a:spcPts val="0"/>
              </a:spcAft>
              <a:buNone/>
            </a:pPr>
            <a:r>
              <a:rPr lang="en-GB" sz="2000">
                <a:latin typeface="Kalam"/>
                <a:ea typeface="Kalam"/>
                <a:cs typeface="Kalam"/>
                <a:sym typeface="Kalam"/>
              </a:rPr>
              <a:t>Prime numbers in ascending order. Next terms are 7 and 11. </a:t>
            </a:r>
            <a:endParaRPr sz="2000">
              <a:latin typeface="Kalam"/>
              <a:ea typeface="Kalam"/>
              <a:cs typeface="Kalam"/>
              <a:sym typeface="Kalam"/>
            </a:endParaRPr>
          </a:p>
          <a:p>
            <a:pPr indent="0" lvl="0" marL="0" rtl="0" algn="l">
              <a:spcBef>
                <a:spcPts val="600"/>
              </a:spcBef>
              <a:spcAft>
                <a:spcPts val="600"/>
              </a:spcAft>
              <a:buNone/>
            </a:pPr>
            <a:r>
              <a:rPr lang="en-GB" sz="2000">
                <a:latin typeface="Kalam"/>
                <a:ea typeface="Kalam"/>
                <a:cs typeface="Kalam"/>
                <a:sym typeface="Kalam"/>
              </a:rPr>
              <a:t>Double and subtract 1. Next terms are 9 and 17. </a:t>
            </a:r>
            <a:endParaRPr sz="2000">
              <a:latin typeface="Kalam"/>
              <a:ea typeface="Kalam"/>
              <a:cs typeface="Kalam"/>
              <a:sym typeface="Kalam"/>
            </a:endParaRPr>
          </a:p>
        </p:txBody>
      </p:sp>
      <p:grpSp>
        <p:nvGrpSpPr>
          <p:cNvPr id="815" name="Google Shape;815;p69"/>
          <p:cNvGrpSpPr/>
          <p:nvPr/>
        </p:nvGrpSpPr>
        <p:grpSpPr>
          <a:xfrm>
            <a:off x="860449" y="1813400"/>
            <a:ext cx="3468001" cy="994125"/>
            <a:chOff x="860449" y="1813400"/>
            <a:chExt cx="3468001" cy="994125"/>
          </a:xfrm>
        </p:grpSpPr>
        <p:pic>
          <p:nvPicPr>
            <p:cNvPr id="816" name="Google Shape;816;p69"/>
            <p:cNvPicPr preferRelativeResize="0"/>
            <p:nvPr/>
          </p:nvPicPr>
          <p:blipFill rotWithShape="1">
            <a:blip r:embed="rId4">
              <a:alphaModFix/>
            </a:blip>
            <a:srcRect b="43690" l="0" r="57905" t="0"/>
            <a:stretch/>
          </p:blipFill>
          <p:spPr>
            <a:xfrm rot="10800000">
              <a:off x="860449" y="1813400"/>
              <a:ext cx="3468001" cy="994125"/>
            </a:xfrm>
            <a:prstGeom prst="rect">
              <a:avLst/>
            </a:prstGeom>
            <a:noFill/>
            <a:ln>
              <a:noFill/>
            </a:ln>
          </p:spPr>
        </p:pic>
        <p:sp>
          <p:nvSpPr>
            <p:cNvPr id="817" name="Google Shape;817;p69"/>
            <p:cNvSpPr/>
            <p:nvPr/>
          </p:nvSpPr>
          <p:spPr>
            <a:xfrm>
              <a:off x="1130600" y="1989375"/>
              <a:ext cx="3189300" cy="71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Good guesses, I was going for prime numbers but I like all of these ideas.</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823" name="Google Shape;823;p70"/>
          <p:cNvSpPr txBox="1"/>
          <p:nvPr>
            <p:ph idx="1" type="body"/>
          </p:nvPr>
        </p:nvSpPr>
        <p:spPr>
          <a:xfrm>
            <a:off x="324000" y="810000"/>
            <a:ext cx="8496000" cy="81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Some rules for numerical sequences only work in a certain language.</a:t>
            </a:r>
            <a:endParaRPr sz="1800"/>
          </a:p>
          <a:p>
            <a:pPr indent="0" lvl="0" marL="0" rtl="0" algn="l">
              <a:spcBef>
                <a:spcPts val="1000"/>
              </a:spcBef>
              <a:spcAft>
                <a:spcPts val="0"/>
              </a:spcAft>
              <a:buNone/>
            </a:pPr>
            <a:r>
              <a:rPr lang="en-GB" sz="1800"/>
              <a:t>Can you work out where this sequence of numbers comes from? </a:t>
            </a:r>
            <a:endParaRPr sz="1800"/>
          </a:p>
          <a:p>
            <a:pPr indent="0" lvl="0" marL="0" rtl="0" algn="l">
              <a:spcBef>
                <a:spcPts val="1000"/>
              </a:spcBef>
              <a:spcAft>
                <a:spcPts val="1000"/>
              </a:spcAft>
              <a:buNone/>
            </a:pPr>
            <a:r>
              <a:rPr lang="en-GB" sz="1800"/>
              <a:t> </a:t>
            </a:r>
            <a:endParaRPr sz="1800"/>
          </a:p>
        </p:txBody>
      </p:sp>
      <p:sp>
        <p:nvSpPr>
          <p:cNvPr id="824" name="Google Shape;824;p70"/>
          <p:cNvSpPr txBox="1"/>
          <p:nvPr>
            <p:ph idx="1" type="body"/>
          </p:nvPr>
        </p:nvSpPr>
        <p:spPr>
          <a:xfrm>
            <a:off x="324000" y="1730025"/>
            <a:ext cx="8496000" cy="51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3, 3, 5, 4, 4, 3, 5, 5, 4,....</a:t>
            </a:r>
            <a:r>
              <a:rPr lang="en-GB" sz="1800"/>
              <a:t> </a:t>
            </a:r>
            <a:endParaRPr sz="1800"/>
          </a:p>
          <a:p>
            <a:pPr indent="0" lvl="0" marL="0" rtl="0" algn="l">
              <a:spcBef>
                <a:spcPts val="1000"/>
              </a:spcBef>
              <a:spcAft>
                <a:spcPts val="1000"/>
              </a:spcAft>
              <a:buNone/>
            </a:pPr>
            <a:r>
              <a:rPr lang="en-GB" sz="1800"/>
              <a:t> </a:t>
            </a:r>
            <a:endParaRPr sz="1800"/>
          </a:p>
        </p:txBody>
      </p:sp>
      <p:sp>
        <p:nvSpPr>
          <p:cNvPr id="825" name="Google Shape;825;p70"/>
          <p:cNvSpPr txBox="1"/>
          <p:nvPr>
            <p:ph idx="1" type="body"/>
          </p:nvPr>
        </p:nvSpPr>
        <p:spPr>
          <a:xfrm>
            <a:off x="324000" y="2183100"/>
            <a:ext cx="8496000" cy="516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Hint: write the numbers 1-9 out in English</a:t>
            </a:r>
            <a:r>
              <a:rPr lang="en-GB" sz="1800"/>
              <a:t> </a:t>
            </a:r>
            <a:endParaRPr sz="1800"/>
          </a:p>
          <a:p>
            <a:pPr indent="0" lvl="0" marL="0" rtl="0" algn="l">
              <a:spcBef>
                <a:spcPts val="1000"/>
              </a:spcBef>
              <a:spcAft>
                <a:spcPts val="1000"/>
              </a:spcAft>
              <a:buNone/>
            </a:pPr>
            <a:r>
              <a:rPr lang="en-GB" sz="1800"/>
              <a:t> </a:t>
            </a:r>
            <a:endParaRPr sz="1800"/>
          </a:p>
        </p:txBody>
      </p:sp>
      <p:sp>
        <p:nvSpPr>
          <p:cNvPr id="826" name="Google Shape;826;p70"/>
          <p:cNvSpPr txBox="1"/>
          <p:nvPr>
            <p:ph idx="1" type="body"/>
          </p:nvPr>
        </p:nvSpPr>
        <p:spPr>
          <a:xfrm>
            <a:off x="324000" y="2676900"/>
            <a:ext cx="8496000" cy="172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latin typeface="Kalam"/>
                <a:ea typeface="Kalam"/>
                <a:cs typeface="Kalam"/>
                <a:sym typeface="Kalam"/>
              </a:rPr>
              <a:t>It’s the number of letters in the integers greater than zero (in numerical order)</a:t>
            </a:r>
            <a:endParaRPr sz="1900">
              <a:latin typeface="Kalam"/>
              <a:ea typeface="Kalam"/>
              <a:cs typeface="Kalam"/>
              <a:sym typeface="Kalam"/>
            </a:endParaRPr>
          </a:p>
          <a:p>
            <a:pPr indent="0" lvl="0" marL="0" rtl="0" algn="l">
              <a:spcBef>
                <a:spcPts val="1000"/>
              </a:spcBef>
              <a:spcAft>
                <a:spcPts val="0"/>
              </a:spcAft>
              <a:buNone/>
            </a:pPr>
            <a:r>
              <a:rPr lang="en-GB" sz="1900">
                <a:latin typeface="Kalam"/>
                <a:ea typeface="Kalam"/>
                <a:cs typeface="Kalam"/>
                <a:sym typeface="Kalam"/>
              </a:rPr>
              <a:t>‘One’ has </a:t>
            </a:r>
            <a:r>
              <a:rPr lang="en-GB" sz="1900">
                <a:latin typeface="Kalam"/>
                <a:ea typeface="Kalam"/>
                <a:cs typeface="Kalam"/>
                <a:sym typeface="Kalam"/>
              </a:rPr>
              <a:t>3</a:t>
            </a:r>
            <a:r>
              <a:rPr lang="en-GB" sz="1900">
                <a:latin typeface="Kalam"/>
                <a:ea typeface="Kalam"/>
                <a:cs typeface="Kalam"/>
                <a:sym typeface="Kalam"/>
              </a:rPr>
              <a:t> letters</a:t>
            </a:r>
            <a:endParaRPr sz="1900">
              <a:latin typeface="Kalam"/>
              <a:ea typeface="Kalam"/>
              <a:cs typeface="Kalam"/>
              <a:sym typeface="Kalam"/>
            </a:endParaRPr>
          </a:p>
          <a:p>
            <a:pPr indent="0" lvl="0" marL="0" rtl="0" algn="l">
              <a:spcBef>
                <a:spcPts val="1000"/>
              </a:spcBef>
              <a:spcAft>
                <a:spcPts val="0"/>
              </a:spcAft>
              <a:buNone/>
            </a:pPr>
            <a:r>
              <a:rPr lang="en-GB" sz="1900">
                <a:latin typeface="Kalam"/>
                <a:ea typeface="Kalam"/>
                <a:cs typeface="Kalam"/>
                <a:sym typeface="Kalam"/>
              </a:rPr>
              <a:t>‘Two’ has </a:t>
            </a:r>
            <a:r>
              <a:rPr lang="en-GB" sz="1900">
                <a:latin typeface="Kalam"/>
                <a:ea typeface="Kalam"/>
                <a:cs typeface="Kalam"/>
                <a:sym typeface="Kalam"/>
              </a:rPr>
              <a:t>3</a:t>
            </a:r>
            <a:r>
              <a:rPr lang="en-GB" sz="1900">
                <a:latin typeface="Kalam"/>
                <a:ea typeface="Kalam"/>
                <a:cs typeface="Kalam"/>
                <a:sym typeface="Kalam"/>
              </a:rPr>
              <a:t> letters</a:t>
            </a:r>
            <a:endParaRPr sz="1900">
              <a:latin typeface="Kalam"/>
              <a:ea typeface="Kalam"/>
              <a:cs typeface="Kalam"/>
              <a:sym typeface="Kalam"/>
            </a:endParaRPr>
          </a:p>
          <a:p>
            <a:pPr indent="0" lvl="0" marL="0" rtl="0" algn="l">
              <a:spcBef>
                <a:spcPts val="1000"/>
              </a:spcBef>
              <a:spcAft>
                <a:spcPts val="0"/>
              </a:spcAft>
              <a:buNone/>
            </a:pPr>
            <a:r>
              <a:rPr lang="en-GB" sz="1900">
                <a:latin typeface="Kalam"/>
                <a:ea typeface="Kalam"/>
                <a:cs typeface="Kalam"/>
                <a:sym typeface="Kalam"/>
              </a:rPr>
              <a:t>‘Three’ has </a:t>
            </a:r>
            <a:r>
              <a:rPr lang="en-GB" sz="1900">
                <a:latin typeface="Kalam"/>
                <a:ea typeface="Kalam"/>
                <a:cs typeface="Kalam"/>
                <a:sym typeface="Kalam"/>
              </a:rPr>
              <a:t>5</a:t>
            </a:r>
            <a:r>
              <a:rPr lang="en-GB" sz="1900">
                <a:latin typeface="Kalam"/>
                <a:ea typeface="Kalam"/>
                <a:cs typeface="Kalam"/>
                <a:sym typeface="Kalam"/>
              </a:rPr>
              <a:t> letters…</a:t>
            </a:r>
            <a:r>
              <a:rPr lang="en-GB" sz="1900">
                <a:latin typeface="Kalam"/>
                <a:ea typeface="Kalam"/>
                <a:cs typeface="Kalam"/>
                <a:sym typeface="Kalam"/>
              </a:rPr>
              <a:t> </a:t>
            </a:r>
            <a:endParaRPr sz="1900">
              <a:latin typeface="Kalam"/>
              <a:ea typeface="Kalam"/>
              <a:cs typeface="Kalam"/>
              <a:sym typeface="Kalam"/>
            </a:endParaRPr>
          </a:p>
          <a:p>
            <a:pPr indent="0" lvl="0" marL="0" rtl="0" algn="l">
              <a:spcBef>
                <a:spcPts val="1000"/>
              </a:spcBef>
              <a:spcAft>
                <a:spcPts val="0"/>
              </a:spcAft>
              <a:buNone/>
            </a:pPr>
            <a:r>
              <a:rPr lang="en-GB" sz="1900">
                <a:latin typeface="Kalam"/>
                <a:ea typeface="Kalam"/>
                <a:cs typeface="Kalam"/>
                <a:sym typeface="Kalam"/>
              </a:rPr>
              <a:t>Although there are possibly other things which give the same values!</a:t>
            </a:r>
            <a:endParaRPr sz="1900">
              <a:latin typeface="Kalam"/>
              <a:ea typeface="Kalam"/>
              <a:cs typeface="Kalam"/>
              <a:sym typeface="Kalam"/>
            </a:endParaRPr>
          </a:p>
          <a:p>
            <a:pPr indent="0" lvl="0" marL="0" rtl="0" algn="l">
              <a:spcBef>
                <a:spcPts val="1000"/>
              </a:spcBef>
              <a:spcAft>
                <a:spcPts val="1000"/>
              </a:spcAft>
              <a:buNone/>
            </a:pPr>
            <a:r>
              <a:rPr lang="en-GB" sz="1900">
                <a:latin typeface="Kalam"/>
                <a:ea typeface="Kalam"/>
                <a:cs typeface="Kalam"/>
                <a:sym typeface="Kalam"/>
              </a:rPr>
              <a:t> </a:t>
            </a:r>
            <a:endParaRPr sz="19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832" name="Google Shape;832;p71"/>
          <p:cNvSpPr txBox="1"/>
          <p:nvPr>
            <p:ph idx="1" type="body"/>
          </p:nvPr>
        </p:nvSpPr>
        <p:spPr>
          <a:xfrm>
            <a:off x="324000" y="3208550"/>
            <a:ext cx="8496000" cy="81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If we start with a 1</a:t>
            </a:r>
            <a:r>
              <a:rPr baseline="30000" lang="en-GB" sz="1800"/>
              <a:t>st</a:t>
            </a:r>
            <a:r>
              <a:rPr lang="en-GB" sz="1800"/>
              <a:t> term of 1 then</a:t>
            </a:r>
            <a:r>
              <a:rPr lang="en-GB" sz="1800">
                <a:solidFill>
                  <a:schemeClr val="accent4"/>
                </a:solidFill>
              </a:rPr>
              <a:t> double and add 1</a:t>
            </a:r>
            <a:r>
              <a:rPr lang="en-GB" sz="1800"/>
              <a:t>, the next term will be 3.</a:t>
            </a:r>
            <a:endParaRPr sz="1800"/>
          </a:p>
          <a:p>
            <a:pPr indent="0" lvl="0" marL="0" rtl="0" algn="l">
              <a:spcBef>
                <a:spcPts val="1000"/>
              </a:spcBef>
              <a:spcAft>
                <a:spcPts val="0"/>
              </a:spcAft>
              <a:buNone/>
            </a:pPr>
            <a:r>
              <a:rPr lang="en-GB" sz="1800"/>
              <a:t>What are the next three terms? </a:t>
            </a:r>
            <a:endParaRPr sz="1800"/>
          </a:p>
          <a:p>
            <a:pPr indent="0" lvl="0" marL="0" rtl="0" algn="l">
              <a:spcBef>
                <a:spcPts val="1000"/>
              </a:spcBef>
              <a:spcAft>
                <a:spcPts val="1000"/>
              </a:spcAft>
              <a:buNone/>
            </a:pPr>
            <a:r>
              <a:rPr lang="en-GB" sz="1800"/>
              <a:t> </a:t>
            </a:r>
            <a:endParaRPr sz="1800"/>
          </a:p>
        </p:txBody>
      </p:sp>
      <p:sp>
        <p:nvSpPr>
          <p:cNvPr id="833" name="Google Shape;833;p71"/>
          <p:cNvSpPr txBox="1"/>
          <p:nvPr>
            <p:ph idx="1" type="body"/>
          </p:nvPr>
        </p:nvSpPr>
        <p:spPr>
          <a:xfrm>
            <a:off x="4015875" y="3632725"/>
            <a:ext cx="5016600" cy="81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1, 3,</a:t>
            </a:r>
            <a:r>
              <a:rPr lang="en-GB" sz="2000">
                <a:latin typeface="Kalam"/>
                <a:ea typeface="Kalam"/>
                <a:cs typeface="Kalam"/>
                <a:sym typeface="Kalam"/>
              </a:rPr>
              <a:t> 7, 15, 31, …</a:t>
            </a:r>
            <a:r>
              <a:rPr lang="en-GB" sz="1800"/>
              <a:t> </a:t>
            </a:r>
            <a:endParaRPr sz="1800"/>
          </a:p>
          <a:p>
            <a:pPr indent="0" lvl="0" marL="0" rtl="0" algn="l">
              <a:spcBef>
                <a:spcPts val="1000"/>
              </a:spcBef>
              <a:spcAft>
                <a:spcPts val="1000"/>
              </a:spcAft>
              <a:buNone/>
            </a:pPr>
            <a:r>
              <a:rPr lang="en-GB" sz="1800"/>
              <a:t> </a:t>
            </a:r>
            <a:endParaRPr sz="1800"/>
          </a:p>
        </p:txBody>
      </p:sp>
      <p:sp>
        <p:nvSpPr>
          <p:cNvPr id="834" name="Google Shape;834;p71"/>
          <p:cNvSpPr txBox="1"/>
          <p:nvPr>
            <p:ph idx="1" type="body"/>
          </p:nvPr>
        </p:nvSpPr>
        <p:spPr>
          <a:xfrm>
            <a:off x="324000" y="810000"/>
            <a:ext cx="8496000" cy="81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Geometric sequences have a common ratio between successive terms. </a:t>
            </a:r>
            <a:endParaRPr sz="1800"/>
          </a:p>
          <a:p>
            <a:pPr indent="0" lvl="0" marL="0" rtl="0" algn="l">
              <a:spcBef>
                <a:spcPts val="1000"/>
              </a:spcBef>
              <a:spcAft>
                <a:spcPts val="0"/>
              </a:spcAft>
              <a:buNone/>
            </a:pPr>
            <a:r>
              <a:rPr lang="en-GB" sz="1800"/>
              <a:t>Arithmetic sequences have a common difference between successive terms</a:t>
            </a:r>
            <a:r>
              <a:rPr lang="en-GB" sz="1800"/>
              <a:t> </a:t>
            </a:r>
            <a:endParaRPr sz="1800"/>
          </a:p>
          <a:p>
            <a:pPr indent="0" lvl="0" marL="0" rtl="0" algn="l">
              <a:spcBef>
                <a:spcPts val="1000"/>
              </a:spcBef>
              <a:spcAft>
                <a:spcPts val="1000"/>
              </a:spcAft>
              <a:buNone/>
            </a:pPr>
            <a:r>
              <a:rPr lang="en-GB" sz="1800"/>
              <a:t> </a:t>
            </a:r>
            <a:endParaRPr sz="1800"/>
          </a:p>
        </p:txBody>
      </p:sp>
      <p:grpSp>
        <p:nvGrpSpPr>
          <p:cNvPr id="835" name="Google Shape;835;p71"/>
          <p:cNvGrpSpPr/>
          <p:nvPr/>
        </p:nvGrpSpPr>
        <p:grpSpPr>
          <a:xfrm>
            <a:off x="1038724" y="1619943"/>
            <a:ext cx="3109023" cy="1127692"/>
            <a:chOff x="1038727" y="1729125"/>
            <a:chExt cx="3109023" cy="1018600"/>
          </a:xfrm>
        </p:grpSpPr>
        <p:pic>
          <p:nvPicPr>
            <p:cNvPr id="836" name="Google Shape;836;p71"/>
            <p:cNvPicPr preferRelativeResize="0"/>
            <p:nvPr/>
          </p:nvPicPr>
          <p:blipFill rotWithShape="1">
            <a:blip r:embed="rId3">
              <a:alphaModFix/>
            </a:blip>
            <a:srcRect b="43690" l="0" r="57905" t="0"/>
            <a:stretch/>
          </p:blipFill>
          <p:spPr>
            <a:xfrm flipH="1">
              <a:off x="1038727" y="1729125"/>
              <a:ext cx="3109023" cy="1018600"/>
            </a:xfrm>
            <a:prstGeom prst="rect">
              <a:avLst/>
            </a:prstGeom>
            <a:noFill/>
            <a:ln>
              <a:noFill/>
            </a:ln>
          </p:spPr>
        </p:pic>
        <p:sp>
          <p:nvSpPr>
            <p:cNvPr id="837" name="Google Shape;837;p71"/>
            <p:cNvSpPr/>
            <p:nvPr/>
          </p:nvSpPr>
          <p:spPr>
            <a:xfrm>
              <a:off x="1345228" y="1782627"/>
              <a:ext cx="2670600" cy="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I wonder what will happen if we combine these ideas?  </a:t>
              </a:r>
              <a:endParaRPr sz="1800">
                <a:latin typeface="Lexend"/>
                <a:ea typeface="Lexend"/>
                <a:cs typeface="Lexend"/>
                <a:sym typeface="Lexend"/>
              </a:endParaRPr>
            </a:p>
          </p:txBody>
        </p:sp>
      </p:grpSp>
      <p:sp>
        <p:nvSpPr>
          <p:cNvPr id="838" name="Google Shape;838;p71"/>
          <p:cNvSpPr txBox="1"/>
          <p:nvPr>
            <p:ph idx="1" type="body"/>
          </p:nvPr>
        </p:nvSpPr>
        <p:spPr>
          <a:xfrm>
            <a:off x="324000" y="4371075"/>
            <a:ext cx="8496000" cy="34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Can you spot any patterns in this sequence?</a:t>
            </a:r>
            <a:endParaRPr sz="1800"/>
          </a:p>
          <a:p>
            <a:pPr indent="0" lvl="0" marL="0" rtl="0" algn="l">
              <a:spcBef>
                <a:spcPts val="1000"/>
              </a:spcBef>
              <a:spcAft>
                <a:spcPts val="1000"/>
              </a:spcAft>
              <a:buNone/>
            </a:pPr>
            <a:r>
              <a:rPr lang="en-GB" sz="1800"/>
              <a:t> </a:t>
            </a:r>
            <a:endParaRPr sz="1800"/>
          </a:p>
        </p:txBody>
      </p:sp>
      <p:grpSp>
        <p:nvGrpSpPr>
          <p:cNvPr id="839" name="Google Shape;839;p71"/>
          <p:cNvGrpSpPr/>
          <p:nvPr/>
        </p:nvGrpSpPr>
        <p:grpSpPr>
          <a:xfrm>
            <a:off x="357225" y="2249100"/>
            <a:ext cx="885300" cy="901800"/>
            <a:chOff x="4225600" y="1620000"/>
            <a:chExt cx="885300" cy="901800"/>
          </a:xfrm>
        </p:grpSpPr>
        <p:pic>
          <p:nvPicPr>
            <p:cNvPr id="840" name="Google Shape;840;p71"/>
            <p:cNvPicPr preferRelativeResize="0"/>
            <p:nvPr/>
          </p:nvPicPr>
          <p:blipFill>
            <a:blip r:embed="rId4">
              <a:alphaModFix/>
            </a:blip>
            <a:stretch>
              <a:fillRect/>
            </a:stretch>
          </p:blipFill>
          <p:spPr>
            <a:xfrm flipH="1">
              <a:off x="4320001" y="1620000"/>
              <a:ext cx="531986" cy="613501"/>
            </a:xfrm>
            <a:prstGeom prst="rect">
              <a:avLst/>
            </a:prstGeom>
            <a:noFill/>
            <a:ln>
              <a:noFill/>
            </a:ln>
          </p:spPr>
        </p:pic>
        <p:sp>
          <p:nvSpPr>
            <p:cNvPr id="841" name="Google Shape;841;p71"/>
            <p:cNvSpPr txBox="1"/>
            <p:nvPr/>
          </p:nvSpPr>
          <p:spPr>
            <a:xfrm>
              <a:off x="4225600" y="22083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847" name="Google Shape;847;p72"/>
          <p:cNvSpPr txBox="1"/>
          <p:nvPr>
            <p:ph idx="1" type="body"/>
          </p:nvPr>
        </p:nvSpPr>
        <p:spPr>
          <a:xfrm>
            <a:off x="324000" y="810000"/>
            <a:ext cx="8496000" cy="93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Can you spot any patterns in this sequence?</a:t>
            </a:r>
            <a:endParaRPr sz="1800"/>
          </a:p>
          <a:p>
            <a:pPr indent="0" lvl="0" marL="0" rtl="0" algn="l">
              <a:spcBef>
                <a:spcPts val="1000"/>
              </a:spcBef>
              <a:spcAft>
                <a:spcPts val="0"/>
              </a:spcAft>
              <a:buNone/>
            </a:pPr>
            <a:r>
              <a:rPr lang="en-GB" sz="1800"/>
              <a:t>1,    3,     7,     15,     31, ….</a:t>
            </a:r>
            <a:endParaRPr sz="1800"/>
          </a:p>
          <a:p>
            <a:pPr indent="0" lvl="0" marL="0" rtl="0" algn="l">
              <a:spcBef>
                <a:spcPts val="1000"/>
              </a:spcBef>
              <a:spcAft>
                <a:spcPts val="1000"/>
              </a:spcAft>
              <a:buNone/>
            </a:pPr>
            <a:r>
              <a:rPr lang="en-GB" sz="1800"/>
              <a:t> </a:t>
            </a:r>
            <a:endParaRPr sz="1800"/>
          </a:p>
        </p:txBody>
      </p:sp>
      <p:grpSp>
        <p:nvGrpSpPr>
          <p:cNvPr id="848" name="Google Shape;848;p72"/>
          <p:cNvGrpSpPr/>
          <p:nvPr/>
        </p:nvGrpSpPr>
        <p:grpSpPr>
          <a:xfrm>
            <a:off x="4232452" y="1173050"/>
            <a:ext cx="4974250" cy="2066960"/>
            <a:chOff x="4282598" y="1173050"/>
            <a:chExt cx="4974250" cy="2066960"/>
          </a:xfrm>
        </p:grpSpPr>
        <p:pic>
          <p:nvPicPr>
            <p:cNvPr id="849" name="Google Shape;849;p72"/>
            <p:cNvPicPr preferRelativeResize="0"/>
            <p:nvPr/>
          </p:nvPicPr>
          <p:blipFill rotWithShape="1">
            <a:blip r:embed="rId3">
              <a:alphaModFix/>
            </a:blip>
            <a:srcRect b="6172" l="40550" r="0" t="13240"/>
            <a:stretch/>
          </p:blipFill>
          <p:spPr>
            <a:xfrm flipH="1">
              <a:off x="4282598" y="1173050"/>
              <a:ext cx="4047452" cy="1501600"/>
            </a:xfrm>
            <a:prstGeom prst="rect">
              <a:avLst/>
            </a:prstGeom>
            <a:noFill/>
            <a:ln>
              <a:noFill/>
            </a:ln>
          </p:spPr>
        </p:pic>
        <p:sp>
          <p:nvSpPr>
            <p:cNvPr id="850" name="Google Shape;850;p72"/>
            <p:cNvSpPr txBox="1"/>
            <p:nvPr/>
          </p:nvSpPr>
          <p:spPr>
            <a:xfrm flipH="1">
              <a:off x="4332675" y="1291600"/>
              <a:ext cx="3743100" cy="111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That’s interesting the differences between successive terms form a geometric sequence….</a:t>
              </a: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pic>
          <p:nvPicPr>
            <p:cNvPr id="851" name="Google Shape;851;p72"/>
            <p:cNvPicPr preferRelativeResize="0"/>
            <p:nvPr/>
          </p:nvPicPr>
          <p:blipFill>
            <a:blip r:embed="rId4">
              <a:alphaModFix/>
            </a:blip>
            <a:stretch>
              <a:fillRect/>
            </a:stretch>
          </p:blipFill>
          <p:spPr>
            <a:xfrm>
              <a:off x="8190043" y="2100560"/>
              <a:ext cx="552564" cy="712499"/>
            </a:xfrm>
            <a:prstGeom prst="rect">
              <a:avLst/>
            </a:prstGeom>
            <a:noFill/>
            <a:ln>
              <a:noFill/>
            </a:ln>
          </p:spPr>
        </p:pic>
        <p:sp>
          <p:nvSpPr>
            <p:cNvPr id="852" name="Google Shape;852;p72"/>
            <p:cNvSpPr txBox="1"/>
            <p:nvPr/>
          </p:nvSpPr>
          <p:spPr>
            <a:xfrm flipH="1">
              <a:off x="7599648" y="2654110"/>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grpSp>
      <p:sp>
        <p:nvSpPr>
          <p:cNvPr id="853" name="Google Shape;853;p72"/>
          <p:cNvSpPr txBox="1"/>
          <p:nvPr>
            <p:ph idx="1" type="body"/>
          </p:nvPr>
        </p:nvSpPr>
        <p:spPr>
          <a:xfrm>
            <a:off x="324000" y="2852300"/>
            <a:ext cx="84960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Can you find two ways to calculate the next term? </a:t>
            </a:r>
            <a:endParaRPr sz="1800"/>
          </a:p>
          <a:p>
            <a:pPr indent="0" lvl="0" marL="0" rtl="0" algn="l">
              <a:spcBef>
                <a:spcPts val="1000"/>
              </a:spcBef>
              <a:spcAft>
                <a:spcPts val="1000"/>
              </a:spcAft>
              <a:buNone/>
            </a:pPr>
            <a:r>
              <a:rPr lang="en-GB" sz="1800"/>
              <a:t> </a:t>
            </a:r>
            <a:endParaRPr sz="1800"/>
          </a:p>
        </p:txBody>
      </p:sp>
      <p:sp>
        <p:nvSpPr>
          <p:cNvPr id="854" name="Google Shape;854;p72"/>
          <p:cNvSpPr txBox="1"/>
          <p:nvPr>
            <p:ph idx="1" type="body"/>
          </p:nvPr>
        </p:nvSpPr>
        <p:spPr>
          <a:xfrm>
            <a:off x="324000" y="3306900"/>
            <a:ext cx="84960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31 </a:t>
            </a:r>
            <a:r>
              <a:rPr lang="en-GB" sz="2000">
                <a:solidFill>
                  <a:srgbClr val="222222"/>
                </a:solidFill>
                <a:latin typeface="Kalam"/>
                <a:ea typeface="Kalam"/>
                <a:cs typeface="Kalam"/>
                <a:sym typeface="Kalam"/>
              </a:rPr>
              <a:t>× </a:t>
            </a:r>
            <a:r>
              <a:rPr lang="en-GB" sz="2000">
                <a:latin typeface="Kalam"/>
                <a:ea typeface="Kalam"/>
                <a:cs typeface="Kalam"/>
                <a:sym typeface="Kalam"/>
              </a:rPr>
              <a:t>2 + 1 = 63</a:t>
            </a:r>
            <a:r>
              <a:rPr lang="en-GB" sz="2000">
                <a:latin typeface="Kalam"/>
                <a:ea typeface="Kalam"/>
                <a:cs typeface="Kalam"/>
                <a:sym typeface="Kalam"/>
              </a:rPr>
              <a:t> </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sp>
        <p:nvSpPr>
          <p:cNvPr id="855" name="Google Shape;855;p72"/>
          <p:cNvSpPr txBox="1"/>
          <p:nvPr>
            <p:ph idx="1" type="body"/>
          </p:nvPr>
        </p:nvSpPr>
        <p:spPr>
          <a:xfrm>
            <a:off x="324000" y="3722400"/>
            <a:ext cx="84960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31 + 32 = 63 </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grpSp>
        <p:nvGrpSpPr>
          <p:cNvPr id="856" name="Google Shape;856;p72"/>
          <p:cNvGrpSpPr/>
          <p:nvPr/>
        </p:nvGrpSpPr>
        <p:grpSpPr>
          <a:xfrm>
            <a:off x="533966" y="1994926"/>
            <a:ext cx="1656884" cy="544224"/>
            <a:chOff x="533966" y="1994926"/>
            <a:chExt cx="1656884" cy="544224"/>
          </a:xfrm>
        </p:grpSpPr>
        <p:pic>
          <p:nvPicPr>
            <p:cNvPr id="857" name="Google Shape;857;p72"/>
            <p:cNvPicPr preferRelativeResize="0"/>
            <p:nvPr/>
          </p:nvPicPr>
          <p:blipFill rotWithShape="1">
            <a:blip r:embed="rId5">
              <a:alphaModFix/>
            </a:blip>
            <a:srcRect b="84458" l="57225" r="18284" t="0"/>
            <a:stretch/>
          </p:blipFill>
          <p:spPr>
            <a:xfrm flipH="1" rot="10800000">
              <a:off x="533966" y="1994926"/>
              <a:ext cx="597248" cy="415349"/>
            </a:xfrm>
            <a:prstGeom prst="rect">
              <a:avLst/>
            </a:prstGeom>
            <a:noFill/>
            <a:ln>
              <a:noFill/>
            </a:ln>
          </p:spPr>
        </p:pic>
        <p:sp>
          <p:nvSpPr>
            <p:cNvPr id="858" name="Google Shape;858;p72"/>
            <p:cNvSpPr/>
            <p:nvPr/>
          </p:nvSpPr>
          <p:spPr>
            <a:xfrm>
              <a:off x="708578" y="2374450"/>
              <a:ext cx="3096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222222"/>
                  </a:solidFill>
                  <a:latin typeface="Lexend"/>
                  <a:ea typeface="Lexend"/>
                  <a:cs typeface="Lexend"/>
                  <a:sym typeface="Lexend"/>
                </a:rPr>
                <a:t>×</a:t>
              </a:r>
              <a:r>
                <a:rPr lang="en-GB" sz="1800">
                  <a:latin typeface="Lexend"/>
                  <a:ea typeface="Lexend"/>
                  <a:cs typeface="Lexend"/>
                  <a:sym typeface="Lexend"/>
                </a:rPr>
                <a:t>2</a:t>
              </a:r>
              <a:endParaRPr sz="1800">
                <a:latin typeface="Lexend"/>
                <a:ea typeface="Lexend"/>
                <a:cs typeface="Lexend"/>
                <a:sym typeface="Lexend"/>
              </a:endParaRPr>
            </a:p>
          </p:txBody>
        </p:sp>
        <p:pic>
          <p:nvPicPr>
            <p:cNvPr id="859" name="Google Shape;859;p72"/>
            <p:cNvPicPr preferRelativeResize="0"/>
            <p:nvPr/>
          </p:nvPicPr>
          <p:blipFill rotWithShape="1">
            <a:blip r:embed="rId5">
              <a:alphaModFix/>
            </a:blip>
            <a:srcRect b="84458" l="57225" r="18284" t="0"/>
            <a:stretch/>
          </p:blipFill>
          <p:spPr>
            <a:xfrm flipH="1" rot="10800000">
              <a:off x="1045875" y="1994926"/>
              <a:ext cx="597248" cy="415349"/>
            </a:xfrm>
            <a:prstGeom prst="rect">
              <a:avLst/>
            </a:prstGeom>
            <a:noFill/>
            <a:ln>
              <a:noFill/>
            </a:ln>
          </p:spPr>
        </p:pic>
        <p:sp>
          <p:nvSpPr>
            <p:cNvPr id="860" name="Google Shape;860;p72"/>
            <p:cNvSpPr/>
            <p:nvPr/>
          </p:nvSpPr>
          <p:spPr>
            <a:xfrm>
              <a:off x="1214582" y="2374450"/>
              <a:ext cx="3096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222222"/>
                  </a:solidFill>
                  <a:latin typeface="Lexend"/>
                  <a:ea typeface="Lexend"/>
                  <a:cs typeface="Lexend"/>
                  <a:sym typeface="Lexend"/>
                </a:rPr>
                <a:t>×</a:t>
              </a:r>
              <a:r>
                <a:rPr lang="en-GB" sz="1800">
                  <a:latin typeface="Lexend"/>
                  <a:ea typeface="Lexend"/>
                  <a:cs typeface="Lexend"/>
                  <a:sym typeface="Lexend"/>
                </a:rPr>
                <a:t>2</a:t>
              </a:r>
              <a:endParaRPr sz="1800">
                <a:latin typeface="Lexend"/>
                <a:ea typeface="Lexend"/>
                <a:cs typeface="Lexend"/>
                <a:sym typeface="Lexend"/>
              </a:endParaRPr>
            </a:p>
          </p:txBody>
        </p:sp>
        <p:pic>
          <p:nvPicPr>
            <p:cNvPr id="861" name="Google Shape;861;p72"/>
            <p:cNvPicPr preferRelativeResize="0"/>
            <p:nvPr/>
          </p:nvPicPr>
          <p:blipFill rotWithShape="1">
            <a:blip r:embed="rId5">
              <a:alphaModFix/>
            </a:blip>
            <a:srcRect b="84458" l="57225" r="18284" t="0"/>
            <a:stretch/>
          </p:blipFill>
          <p:spPr>
            <a:xfrm flipH="1" rot="10800000">
              <a:off x="1593602" y="1994926"/>
              <a:ext cx="597248" cy="415349"/>
            </a:xfrm>
            <a:prstGeom prst="rect">
              <a:avLst/>
            </a:prstGeom>
            <a:noFill/>
            <a:ln>
              <a:noFill/>
            </a:ln>
          </p:spPr>
        </p:pic>
        <p:sp>
          <p:nvSpPr>
            <p:cNvPr id="862" name="Google Shape;862;p72"/>
            <p:cNvSpPr/>
            <p:nvPr/>
          </p:nvSpPr>
          <p:spPr>
            <a:xfrm>
              <a:off x="1768978" y="2374450"/>
              <a:ext cx="3096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222222"/>
                  </a:solidFill>
                  <a:latin typeface="Lexend"/>
                  <a:ea typeface="Lexend"/>
                  <a:cs typeface="Lexend"/>
                  <a:sym typeface="Lexend"/>
                </a:rPr>
                <a:t>×</a:t>
              </a:r>
              <a:r>
                <a:rPr lang="en-GB" sz="1800">
                  <a:latin typeface="Lexend"/>
                  <a:ea typeface="Lexend"/>
                  <a:cs typeface="Lexend"/>
                  <a:sym typeface="Lexend"/>
                </a:rPr>
                <a:t>2</a:t>
              </a:r>
              <a:endParaRPr sz="1800">
                <a:latin typeface="Lexend"/>
                <a:ea typeface="Lexend"/>
                <a:cs typeface="Lexend"/>
                <a:sym typeface="Lexend"/>
              </a:endParaRPr>
            </a:p>
          </p:txBody>
        </p:sp>
      </p:grpSp>
      <p:grpSp>
        <p:nvGrpSpPr>
          <p:cNvPr id="863" name="Google Shape;863;p72"/>
          <p:cNvGrpSpPr/>
          <p:nvPr/>
        </p:nvGrpSpPr>
        <p:grpSpPr>
          <a:xfrm>
            <a:off x="2203202" y="1994926"/>
            <a:ext cx="597248" cy="544224"/>
            <a:chOff x="2203202" y="1994926"/>
            <a:chExt cx="597248" cy="544224"/>
          </a:xfrm>
        </p:grpSpPr>
        <p:pic>
          <p:nvPicPr>
            <p:cNvPr id="864" name="Google Shape;864;p72"/>
            <p:cNvPicPr preferRelativeResize="0"/>
            <p:nvPr/>
          </p:nvPicPr>
          <p:blipFill rotWithShape="1">
            <a:blip r:embed="rId5">
              <a:alphaModFix/>
            </a:blip>
            <a:srcRect b="84458" l="57225" r="18284" t="0"/>
            <a:stretch/>
          </p:blipFill>
          <p:spPr>
            <a:xfrm flipH="1" rot="10800000">
              <a:off x="2203202" y="1994926"/>
              <a:ext cx="597248" cy="415349"/>
            </a:xfrm>
            <a:prstGeom prst="rect">
              <a:avLst/>
            </a:prstGeom>
            <a:noFill/>
            <a:ln>
              <a:noFill/>
            </a:ln>
          </p:spPr>
        </p:pic>
        <p:sp>
          <p:nvSpPr>
            <p:cNvPr id="865" name="Google Shape;865;p72"/>
            <p:cNvSpPr/>
            <p:nvPr/>
          </p:nvSpPr>
          <p:spPr>
            <a:xfrm>
              <a:off x="2378578" y="2374450"/>
              <a:ext cx="3096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222222"/>
                  </a:solidFill>
                  <a:latin typeface="Lexend"/>
                  <a:ea typeface="Lexend"/>
                  <a:cs typeface="Lexend"/>
                  <a:sym typeface="Lexend"/>
                </a:rPr>
                <a:t>×</a:t>
              </a:r>
              <a:r>
                <a:rPr lang="en-GB" sz="1800">
                  <a:latin typeface="Lexend"/>
                  <a:ea typeface="Lexend"/>
                  <a:cs typeface="Lexend"/>
                  <a:sym typeface="Lexend"/>
                </a:rPr>
                <a:t>2</a:t>
              </a:r>
              <a:endParaRPr sz="1800">
                <a:latin typeface="Lexend"/>
                <a:ea typeface="Lexend"/>
                <a:cs typeface="Lexend"/>
                <a:sym typeface="Lexend"/>
              </a:endParaRPr>
            </a:p>
          </p:txBody>
        </p:sp>
      </p:grpSp>
      <p:grpSp>
        <p:nvGrpSpPr>
          <p:cNvPr id="866" name="Google Shape;866;p72"/>
          <p:cNvGrpSpPr/>
          <p:nvPr/>
        </p:nvGrpSpPr>
        <p:grpSpPr>
          <a:xfrm>
            <a:off x="283875" y="1461526"/>
            <a:ext cx="2241665" cy="544224"/>
            <a:chOff x="283875" y="1461526"/>
            <a:chExt cx="2241665" cy="544224"/>
          </a:xfrm>
        </p:grpSpPr>
        <p:pic>
          <p:nvPicPr>
            <p:cNvPr id="867" name="Google Shape;867;p72"/>
            <p:cNvPicPr preferRelativeResize="0"/>
            <p:nvPr/>
          </p:nvPicPr>
          <p:blipFill rotWithShape="1">
            <a:blip r:embed="rId5">
              <a:alphaModFix/>
            </a:blip>
            <a:srcRect b="84458" l="57225" r="18284" t="0"/>
            <a:stretch/>
          </p:blipFill>
          <p:spPr>
            <a:xfrm flipH="1" rot="10800000">
              <a:off x="283875" y="1461526"/>
              <a:ext cx="597248" cy="415349"/>
            </a:xfrm>
            <a:prstGeom prst="rect">
              <a:avLst/>
            </a:prstGeom>
            <a:noFill/>
            <a:ln>
              <a:noFill/>
            </a:ln>
          </p:spPr>
        </p:pic>
        <p:pic>
          <p:nvPicPr>
            <p:cNvPr id="868" name="Google Shape;868;p72"/>
            <p:cNvPicPr preferRelativeResize="0"/>
            <p:nvPr/>
          </p:nvPicPr>
          <p:blipFill rotWithShape="1">
            <a:blip r:embed="rId5">
              <a:alphaModFix/>
            </a:blip>
            <a:srcRect b="84458" l="57225" r="18284" t="0"/>
            <a:stretch/>
          </p:blipFill>
          <p:spPr>
            <a:xfrm flipH="1" rot="10800000">
              <a:off x="817275" y="1461526"/>
              <a:ext cx="597248" cy="415349"/>
            </a:xfrm>
            <a:prstGeom prst="rect">
              <a:avLst/>
            </a:prstGeom>
            <a:noFill/>
            <a:ln>
              <a:noFill/>
            </a:ln>
          </p:spPr>
        </p:pic>
        <p:pic>
          <p:nvPicPr>
            <p:cNvPr id="869" name="Google Shape;869;p72"/>
            <p:cNvPicPr preferRelativeResize="0"/>
            <p:nvPr/>
          </p:nvPicPr>
          <p:blipFill rotWithShape="1">
            <a:blip r:embed="rId5">
              <a:alphaModFix/>
            </a:blip>
            <a:srcRect b="84458" l="57225" r="18284" t="0"/>
            <a:stretch/>
          </p:blipFill>
          <p:spPr>
            <a:xfrm flipH="1" rot="10800000">
              <a:off x="1350675" y="1461526"/>
              <a:ext cx="597248" cy="415349"/>
            </a:xfrm>
            <a:prstGeom prst="rect">
              <a:avLst/>
            </a:prstGeom>
            <a:noFill/>
            <a:ln>
              <a:noFill/>
            </a:ln>
          </p:spPr>
        </p:pic>
        <p:pic>
          <p:nvPicPr>
            <p:cNvPr id="870" name="Google Shape;870;p72"/>
            <p:cNvPicPr preferRelativeResize="0"/>
            <p:nvPr/>
          </p:nvPicPr>
          <p:blipFill rotWithShape="1">
            <a:blip r:embed="rId5">
              <a:alphaModFix/>
            </a:blip>
            <a:srcRect b="84458" l="57225" r="18284" t="0"/>
            <a:stretch/>
          </p:blipFill>
          <p:spPr>
            <a:xfrm flipH="1" rot="10800000">
              <a:off x="1884075" y="1461526"/>
              <a:ext cx="597248" cy="415349"/>
            </a:xfrm>
            <a:prstGeom prst="rect">
              <a:avLst/>
            </a:prstGeom>
            <a:noFill/>
            <a:ln>
              <a:noFill/>
            </a:ln>
          </p:spPr>
        </p:pic>
        <p:sp>
          <p:nvSpPr>
            <p:cNvPr id="871" name="Google Shape;871;p72"/>
            <p:cNvSpPr/>
            <p:nvPr/>
          </p:nvSpPr>
          <p:spPr>
            <a:xfrm>
              <a:off x="458475" y="1841050"/>
              <a:ext cx="2994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p:txBody>
        </p:sp>
        <p:sp>
          <p:nvSpPr>
            <p:cNvPr id="872" name="Google Shape;872;p72"/>
            <p:cNvSpPr/>
            <p:nvPr/>
          </p:nvSpPr>
          <p:spPr>
            <a:xfrm>
              <a:off x="1002597" y="1841050"/>
              <a:ext cx="2994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p:txBody>
        </p:sp>
        <p:sp>
          <p:nvSpPr>
            <p:cNvPr id="873" name="Google Shape;873;p72"/>
            <p:cNvSpPr/>
            <p:nvPr/>
          </p:nvSpPr>
          <p:spPr>
            <a:xfrm>
              <a:off x="1546718" y="1841050"/>
              <a:ext cx="2994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+8</a:t>
              </a:r>
              <a:endParaRPr sz="1800">
                <a:latin typeface="Lexend"/>
                <a:ea typeface="Lexend"/>
                <a:cs typeface="Lexend"/>
                <a:sym typeface="Lexend"/>
              </a:endParaRPr>
            </a:p>
          </p:txBody>
        </p:sp>
        <p:sp>
          <p:nvSpPr>
            <p:cNvPr id="874" name="Google Shape;874;p72"/>
            <p:cNvSpPr/>
            <p:nvPr/>
          </p:nvSpPr>
          <p:spPr>
            <a:xfrm>
              <a:off x="2014640" y="1841050"/>
              <a:ext cx="5109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p:txBody>
        </p:sp>
      </p:grpSp>
      <p:grpSp>
        <p:nvGrpSpPr>
          <p:cNvPr id="875" name="Google Shape;875;p72"/>
          <p:cNvGrpSpPr/>
          <p:nvPr/>
        </p:nvGrpSpPr>
        <p:grpSpPr>
          <a:xfrm>
            <a:off x="2417475" y="1461526"/>
            <a:ext cx="630278" cy="544674"/>
            <a:chOff x="2417475" y="1461526"/>
            <a:chExt cx="630278" cy="544674"/>
          </a:xfrm>
        </p:grpSpPr>
        <p:sp>
          <p:nvSpPr>
            <p:cNvPr id="876" name="Google Shape;876;p72"/>
            <p:cNvSpPr/>
            <p:nvPr/>
          </p:nvSpPr>
          <p:spPr>
            <a:xfrm>
              <a:off x="2536853" y="1841500"/>
              <a:ext cx="5109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p:txBody>
        </p:sp>
        <p:pic>
          <p:nvPicPr>
            <p:cNvPr id="877" name="Google Shape;877;p72"/>
            <p:cNvPicPr preferRelativeResize="0"/>
            <p:nvPr/>
          </p:nvPicPr>
          <p:blipFill rotWithShape="1">
            <a:blip r:embed="rId5">
              <a:alphaModFix/>
            </a:blip>
            <a:srcRect b="84458" l="57225" r="18284" t="0"/>
            <a:stretch/>
          </p:blipFill>
          <p:spPr>
            <a:xfrm flipH="1" rot="10800000">
              <a:off x="2417475" y="1461526"/>
              <a:ext cx="597248" cy="415349"/>
            </a:xfrm>
            <a:prstGeom prst="rect">
              <a:avLst/>
            </a:prstGeom>
            <a:noFill/>
            <a:ln>
              <a:noFill/>
            </a:ln>
          </p:spPr>
        </p:pic>
      </p:grpSp>
      <p:sp>
        <p:nvSpPr>
          <p:cNvPr id="878" name="Google Shape;878;p72"/>
          <p:cNvSpPr txBox="1"/>
          <p:nvPr>
            <p:ph idx="1" type="body"/>
          </p:nvPr>
        </p:nvSpPr>
        <p:spPr>
          <a:xfrm>
            <a:off x="324000" y="4137900"/>
            <a:ext cx="84960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Can you generate another sequence where the differences form a </a:t>
            </a:r>
            <a:r>
              <a:rPr lang="en-GB" sz="1800"/>
              <a:t>geometric</a:t>
            </a:r>
            <a:r>
              <a:rPr lang="en-GB" sz="1800"/>
              <a:t> sequence? </a:t>
            </a:r>
            <a:endParaRPr sz="1800"/>
          </a:p>
          <a:p>
            <a:pPr indent="0" lvl="0" marL="0" rtl="0" algn="l">
              <a:spcBef>
                <a:spcPts val="1000"/>
              </a:spcBef>
              <a:spcAft>
                <a:spcPts val="1000"/>
              </a:spcAft>
              <a:buNone/>
            </a:pP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884" name="Google Shape;884;p73"/>
          <p:cNvSpPr txBox="1"/>
          <p:nvPr>
            <p:ph idx="1" type="body"/>
          </p:nvPr>
        </p:nvSpPr>
        <p:spPr>
          <a:xfrm>
            <a:off x="324000" y="775200"/>
            <a:ext cx="84960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Can you generate another sequence where the differences form a geometric sequence? </a:t>
            </a:r>
            <a:endParaRPr sz="1800"/>
          </a:p>
          <a:p>
            <a:pPr indent="0" lvl="0" marL="0" rtl="0" algn="l">
              <a:spcBef>
                <a:spcPts val="1000"/>
              </a:spcBef>
              <a:spcAft>
                <a:spcPts val="1000"/>
              </a:spcAft>
              <a:buNone/>
            </a:pPr>
            <a:r>
              <a:rPr lang="en-GB" sz="1800"/>
              <a:t> </a:t>
            </a:r>
            <a:endParaRPr sz="1800"/>
          </a:p>
        </p:txBody>
      </p:sp>
      <p:sp>
        <p:nvSpPr>
          <p:cNvPr id="885" name="Google Shape;885;p73"/>
          <p:cNvSpPr txBox="1"/>
          <p:nvPr>
            <p:ph idx="1" type="body"/>
          </p:nvPr>
        </p:nvSpPr>
        <p:spPr>
          <a:xfrm>
            <a:off x="324000" y="1472025"/>
            <a:ext cx="39960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Geometric sequences themselves have this feature</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5,   15,   45,   135, …</a:t>
            </a:r>
            <a:endParaRPr sz="2000">
              <a:latin typeface="Kalam"/>
              <a:ea typeface="Kalam"/>
              <a:cs typeface="Kalam"/>
              <a:sym typeface="Kalam"/>
            </a:endParaRPr>
          </a:p>
          <a:p>
            <a:pPr indent="0" lvl="0" marL="0" rtl="0" algn="l">
              <a:spcBef>
                <a:spcPts val="1000"/>
              </a:spcBef>
              <a:spcAft>
                <a:spcPts val="1000"/>
              </a:spcAft>
              <a:buNone/>
            </a:pPr>
            <a:r>
              <a:rPr lang="en-GB" sz="1800"/>
              <a:t> </a:t>
            </a:r>
            <a:endParaRPr sz="1800"/>
          </a:p>
        </p:txBody>
      </p:sp>
      <p:grpSp>
        <p:nvGrpSpPr>
          <p:cNvPr id="886" name="Google Shape;886;p73"/>
          <p:cNvGrpSpPr/>
          <p:nvPr/>
        </p:nvGrpSpPr>
        <p:grpSpPr>
          <a:xfrm>
            <a:off x="689074" y="3224470"/>
            <a:ext cx="1288175" cy="544224"/>
            <a:chOff x="533966" y="1994926"/>
            <a:chExt cx="1109157" cy="544224"/>
          </a:xfrm>
        </p:grpSpPr>
        <p:pic>
          <p:nvPicPr>
            <p:cNvPr id="887" name="Google Shape;887;p73"/>
            <p:cNvPicPr preferRelativeResize="0"/>
            <p:nvPr/>
          </p:nvPicPr>
          <p:blipFill rotWithShape="1">
            <a:blip r:embed="rId3">
              <a:alphaModFix/>
            </a:blip>
            <a:srcRect b="84458" l="57225" r="18284" t="0"/>
            <a:stretch/>
          </p:blipFill>
          <p:spPr>
            <a:xfrm flipH="1" rot="10800000">
              <a:off x="533966" y="1994926"/>
              <a:ext cx="597248" cy="415349"/>
            </a:xfrm>
            <a:prstGeom prst="rect">
              <a:avLst/>
            </a:prstGeom>
            <a:noFill/>
            <a:ln>
              <a:noFill/>
            </a:ln>
          </p:spPr>
        </p:pic>
        <p:sp>
          <p:nvSpPr>
            <p:cNvPr id="888" name="Google Shape;888;p73"/>
            <p:cNvSpPr/>
            <p:nvPr/>
          </p:nvSpPr>
          <p:spPr>
            <a:xfrm>
              <a:off x="708578" y="2374450"/>
              <a:ext cx="3096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222222"/>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p:txBody>
        </p:sp>
        <p:pic>
          <p:nvPicPr>
            <p:cNvPr id="889" name="Google Shape;889;p73"/>
            <p:cNvPicPr preferRelativeResize="0"/>
            <p:nvPr/>
          </p:nvPicPr>
          <p:blipFill rotWithShape="1">
            <a:blip r:embed="rId3">
              <a:alphaModFix/>
            </a:blip>
            <a:srcRect b="84458" l="57225" r="18284" t="0"/>
            <a:stretch/>
          </p:blipFill>
          <p:spPr>
            <a:xfrm flipH="1" rot="10800000">
              <a:off x="1045875" y="1994926"/>
              <a:ext cx="597248" cy="415349"/>
            </a:xfrm>
            <a:prstGeom prst="rect">
              <a:avLst/>
            </a:prstGeom>
            <a:noFill/>
            <a:ln>
              <a:noFill/>
            </a:ln>
          </p:spPr>
        </p:pic>
        <p:sp>
          <p:nvSpPr>
            <p:cNvPr id="890" name="Google Shape;890;p73"/>
            <p:cNvSpPr/>
            <p:nvPr/>
          </p:nvSpPr>
          <p:spPr>
            <a:xfrm>
              <a:off x="1214582" y="2374450"/>
              <a:ext cx="3096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222222"/>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p:txBody>
        </p:sp>
      </p:grpSp>
      <p:grpSp>
        <p:nvGrpSpPr>
          <p:cNvPr id="891" name="Google Shape;891;p73"/>
          <p:cNvGrpSpPr/>
          <p:nvPr/>
        </p:nvGrpSpPr>
        <p:grpSpPr>
          <a:xfrm>
            <a:off x="395640" y="2619671"/>
            <a:ext cx="1814145" cy="544224"/>
            <a:chOff x="283875" y="1461526"/>
            <a:chExt cx="1664048" cy="544224"/>
          </a:xfrm>
        </p:grpSpPr>
        <p:pic>
          <p:nvPicPr>
            <p:cNvPr id="892" name="Google Shape;892;p73"/>
            <p:cNvPicPr preferRelativeResize="0"/>
            <p:nvPr/>
          </p:nvPicPr>
          <p:blipFill rotWithShape="1">
            <a:blip r:embed="rId3">
              <a:alphaModFix/>
            </a:blip>
            <a:srcRect b="84458" l="57225" r="18284" t="0"/>
            <a:stretch/>
          </p:blipFill>
          <p:spPr>
            <a:xfrm flipH="1" rot="10800000">
              <a:off x="283875" y="1461526"/>
              <a:ext cx="597248" cy="415349"/>
            </a:xfrm>
            <a:prstGeom prst="rect">
              <a:avLst/>
            </a:prstGeom>
            <a:noFill/>
            <a:ln>
              <a:noFill/>
            </a:ln>
          </p:spPr>
        </p:pic>
        <p:pic>
          <p:nvPicPr>
            <p:cNvPr id="893" name="Google Shape;893;p73"/>
            <p:cNvPicPr preferRelativeResize="0"/>
            <p:nvPr/>
          </p:nvPicPr>
          <p:blipFill rotWithShape="1">
            <a:blip r:embed="rId3">
              <a:alphaModFix/>
            </a:blip>
            <a:srcRect b="84458" l="57225" r="18284" t="0"/>
            <a:stretch/>
          </p:blipFill>
          <p:spPr>
            <a:xfrm flipH="1" rot="10800000">
              <a:off x="817275" y="1461526"/>
              <a:ext cx="597248" cy="415349"/>
            </a:xfrm>
            <a:prstGeom prst="rect">
              <a:avLst/>
            </a:prstGeom>
            <a:noFill/>
            <a:ln>
              <a:noFill/>
            </a:ln>
          </p:spPr>
        </p:pic>
        <p:pic>
          <p:nvPicPr>
            <p:cNvPr id="894" name="Google Shape;894;p73"/>
            <p:cNvPicPr preferRelativeResize="0"/>
            <p:nvPr/>
          </p:nvPicPr>
          <p:blipFill rotWithShape="1">
            <a:blip r:embed="rId3">
              <a:alphaModFix/>
            </a:blip>
            <a:srcRect b="84458" l="57225" r="18284" t="0"/>
            <a:stretch/>
          </p:blipFill>
          <p:spPr>
            <a:xfrm flipH="1" rot="10800000">
              <a:off x="1350675" y="1461526"/>
              <a:ext cx="597248" cy="415349"/>
            </a:xfrm>
            <a:prstGeom prst="rect">
              <a:avLst/>
            </a:prstGeom>
            <a:noFill/>
            <a:ln>
              <a:noFill/>
            </a:ln>
          </p:spPr>
        </p:pic>
        <p:sp>
          <p:nvSpPr>
            <p:cNvPr id="895" name="Google Shape;895;p73"/>
            <p:cNvSpPr/>
            <p:nvPr/>
          </p:nvSpPr>
          <p:spPr>
            <a:xfrm>
              <a:off x="458491" y="1841050"/>
              <a:ext cx="3897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+10</a:t>
              </a:r>
              <a:endParaRPr sz="1800">
                <a:latin typeface="Lexend"/>
                <a:ea typeface="Lexend"/>
                <a:cs typeface="Lexend"/>
                <a:sym typeface="Lexend"/>
              </a:endParaRPr>
            </a:p>
          </p:txBody>
        </p:sp>
        <p:sp>
          <p:nvSpPr>
            <p:cNvPr id="896" name="Google Shape;896;p73"/>
            <p:cNvSpPr/>
            <p:nvPr/>
          </p:nvSpPr>
          <p:spPr>
            <a:xfrm>
              <a:off x="1002588" y="1841050"/>
              <a:ext cx="4458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+30</a:t>
              </a:r>
              <a:endParaRPr sz="1800">
                <a:latin typeface="Lexend"/>
                <a:ea typeface="Lexend"/>
                <a:cs typeface="Lexend"/>
                <a:sym typeface="Lexend"/>
              </a:endParaRPr>
            </a:p>
          </p:txBody>
        </p:sp>
        <p:sp>
          <p:nvSpPr>
            <p:cNvPr id="897" name="Google Shape;897;p73"/>
            <p:cNvSpPr/>
            <p:nvPr/>
          </p:nvSpPr>
          <p:spPr>
            <a:xfrm>
              <a:off x="1546711" y="1841050"/>
              <a:ext cx="3897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+90</a:t>
              </a:r>
              <a:endParaRPr sz="1800">
                <a:latin typeface="Lexend"/>
                <a:ea typeface="Lexend"/>
                <a:cs typeface="Lexend"/>
                <a:sym typeface="Lexend"/>
              </a:endParaRPr>
            </a:p>
          </p:txBody>
        </p:sp>
      </p:grpSp>
      <p:sp>
        <p:nvSpPr>
          <p:cNvPr id="898" name="Google Shape;898;p73"/>
          <p:cNvSpPr txBox="1"/>
          <p:nvPr>
            <p:ph idx="1" type="body"/>
          </p:nvPr>
        </p:nvSpPr>
        <p:spPr>
          <a:xfrm>
            <a:off x="4320000" y="1472025"/>
            <a:ext cx="45000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Or other </a:t>
            </a:r>
            <a:r>
              <a:rPr lang="en-GB" sz="2000">
                <a:latin typeface="Kalam"/>
                <a:ea typeface="Kalam"/>
                <a:cs typeface="Kalam"/>
                <a:sym typeface="Kalam"/>
              </a:rPr>
              <a:t>sequences</a:t>
            </a:r>
            <a:r>
              <a:rPr lang="en-GB" sz="2000">
                <a:latin typeface="Kalam"/>
                <a:ea typeface="Kalam"/>
                <a:cs typeface="Kalam"/>
                <a:sym typeface="Kalam"/>
              </a:rPr>
              <a:t> where the term-to-term rule has a multiplicative and additive step</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2,   4,   10,   28 </a:t>
            </a:r>
            <a:endParaRPr sz="2000">
              <a:latin typeface="Kalam"/>
              <a:ea typeface="Kalam"/>
              <a:cs typeface="Kalam"/>
              <a:sym typeface="Kalam"/>
            </a:endParaRPr>
          </a:p>
          <a:p>
            <a:pPr indent="0" lvl="0" marL="0" rtl="0" algn="l">
              <a:spcBef>
                <a:spcPts val="1000"/>
              </a:spcBef>
              <a:spcAft>
                <a:spcPts val="1000"/>
              </a:spcAft>
              <a:buNone/>
            </a:pPr>
            <a:r>
              <a:rPr lang="en-GB" sz="1800"/>
              <a:t> </a:t>
            </a:r>
            <a:endParaRPr sz="1800"/>
          </a:p>
        </p:txBody>
      </p:sp>
      <p:grpSp>
        <p:nvGrpSpPr>
          <p:cNvPr id="899" name="Google Shape;899;p73"/>
          <p:cNvGrpSpPr/>
          <p:nvPr/>
        </p:nvGrpSpPr>
        <p:grpSpPr>
          <a:xfrm>
            <a:off x="4560624" y="3530445"/>
            <a:ext cx="1288175" cy="544224"/>
            <a:chOff x="533966" y="1994926"/>
            <a:chExt cx="1109157" cy="544224"/>
          </a:xfrm>
        </p:grpSpPr>
        <p:pic>
          <p:nvPicPr>
            <p:cNvPr id="900" name="Google Shape;900;p73"/>
            <p:cNvPicPr preferRelativeResize="0"/>
            <p:nvPr/>
          </p:nvPicPr>
          <p:blipFill rotWithShape="1">
            <a:blip r:embed="rId3">
              <a:alphaModFix/>
            </a:blip>
            <a:srcRect b="84458" l="57225" r="18284" t="0"/>
            <a:stretch/>
          </p:blipFill>
          <p:spPr>
            <a:xfrm flipH="1" rot="10800000">
              <a:off x="533966" y="1994926"/>
              <a:ext cx="597248" cy="415349"/>
            </a:xfrm>
            <a:prstGeom prst="rect">
              <a:avLst/>
            </a:prstGeom>
            <a:noFill/>
            <a:ln>
              <a:noFill/>
            </a:ln>
          </p:spPr>
        </p:pic>
        <p:sp>
          <p:nvSpPr>
            <p:cNvPr id="901" name="Google Shape;901;p73"/>
            <p:cNvSpPr/>
            <p:nvPr/>
          </p:nvSpPr>
          <p:spPr>
            <a:xfrm>
              <a:off x="708578" y="2374450"/>
              <a:ext cx="3096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222222"/>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p:txBody>
        </p:sp>
        <p:pic>
          <p:nvPicPr>
            <p:cNvPr id="902" name="Google Shape;902;p73"/>
            <p:cNvPicPr preferRelativeResize="0"/>
            <p:nvPr/>
          </p:nvPicPr>
          <p:blipFill rotWithShape="1">
            <a:blip r:embed="rId3">
              <a:alphaModFix/>
            </a:blip>
            <a:srcRect b="84458" l="57225" r="18284" t="0"/>
            <a:stretch/>
          </p:blipFill>
          <p:spPr>
            <a:xfrm flipH="1" rot="10800000">
              <a:off x="1045875" y="1994926"/>
              <a:ext cx="597248" cy="415349"/>
            </a:xfrm>
            <a:prstGeom prst="rect">
              <a:avLst/>
            </a:prstGeom>
            <a:noFill/>
            <a:ln>
              <a:noFill/>
            </a:ln>
          </p:spPr>
        </p:pic>
        <p:sp>
          <p:nvSpPr>
            <p:cNvPr id="903" name="Google Shape;903;p73"/>
            <p:cNvSpPr/>
            <p:nvPr/>
          </p:nvSpPr>
          <p:spPr>
            <a:xfrm>
              <a:off x="1214582" y="2374450"/>
              <a:ext cx="3096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222222"/>
                  </a:solidFill>
                  <a:latin typeface="Lexend"/>
                  <a:ea typeface="Lexend"/>
                  <a:cs typeface="Lexend"/>
                  <a:sym typeface="Lexend"/>
                </a:rPr>
                <a:t>×</a:t>
              </a:r>
              <a:r>
                <a:rPr lang="en-GB" sz="1800">
                  <a:latin typeface="Lexend"/>
                  <a:ea typeface="Lexend"/>
                  <a:cs typeface="Lexend"/>
                  <a:sym typeface="Lexend"/>
                </a:rPr>
                <a:t>3</a:t>
              </a:r>
              <a:endParaRPr sz="1800">
                <a:latin typeface="Lexend"/>
                <a:ea typeface="Lexend"/>
                <a:cs typeface="Lexend"/>
                <a:sym typeface="Lexend"/>
              </a:endParaRPr>
            </a:p>
          </p:txBody>
        </p:sp>
      </p:grpSp>
      <p:grpSp>
        <p:nvGrpSpPr>
          <p:cNvPr id="904" name="Google Shape;904;p73"/>
          <p:cNvGrpSpPr/>
          <p:nvPr/>
        </p:nvGrpSpPr>
        <p:grpSpPr>
          <a:xfrm>
            <a:off x="4267190" y="2918496"/>
            <a:ext cx="1814145" cy="544224"/>
            <a:chOff x="283875" y="1461526"/>
            <a:chExt cx="1664048" cy="544224"/>
          </a:xfrm>
        </p:grpSpPr>
        <p:pic>
          <p:nvPicPr>
            <p:cNvPr id="905" name="Google Shape;905;p73"/>
            <p:cNvPicPr preferRelativeResize="0"/>
            <p:nvPr/>
          </p:nvPicPr>
          <p:blipFill rotWithShape="1">
            <a:blip r:embed="rId3">
              <a:alphaModFix/>
            </a:blip>
            <a:srcRect b="84458" l="57225" r="18284" t="0"/>
            <a:stretch/>
          </p:blipFill>
          <p:spPr>
            <a:xfrm flipH="1" rot="10800000">
              <a:off x="283875" y="1461526"/>
              <a:ext cx="597248" cy="415349"/>
            </a:xfrm>
            <a:prstGeom prst="rect">
              <a:avLst/>
            </a:prstGeom>
            <a:noFill/>
            <a:ln>
              <a:noFill/>
            </a:ln>
          </p:spPr>
        </p:pic>
        <p:pic>
          <p:nvPicPr>
            <p:cNvPr id="906" name="Google Shape;906;p73"/>
            <p:cNvPicPr preferRelativeResize="0"/>
            <p:nvPr/>
          </p:nvPicPr>
          <p:blipFill rotWithShape="1">
            <a:blip r:embed="rId3">
              <a:alphaModFix/>
            </a:blip>
            <a:srcRect b="84458" l="57225" r="18284" t="0"/>
            <a:stretch/>
          </p:blipFill>
          <p:spPr>
            <a:xfrm flipH="1" rot="10800000">
              <a:off x="817275" y="1461526"/>
              <a:ext cx="597248" cy="415349"/>
            </a:xfrm>
            <a:prstGeom prst="rect">
              <a:avLst/>
            </a:prstGeom>
            <a:noFill/>
            <a:ln>
              <a:noFill/>
            </a:ln>
          </p:spPr>
        </p:pic>
        <p:pic>
          <p:nvPicPr>
            <p:cNvPr id="907" name="Google Shape;907;p73"/>
            <p:cNvPicPr preferRelativeResize="0"/>
            <p:nvPr/>
          </p:nvPicPr>
          <p:blipFill rotWithShape="1">
            <a:blip r:embed="rId3">
              <a:alphaModFix/>
            </a:blip>
            <a:srcRect b="84458" l="57225" r="18284" t="0"/>
            <a:stretch/>
          </p:blipFill>
          <p:spPr>
            <a:xfrm flipH="1" rot="10800000">
              <a:off x="1350675" y="1461526"/>
              <a:ext cx="597248" cy="415349"/>
            </a:xfrm>
            <a:prstGeom prst="rect">
              <a:avLst/>
            </a:prstGeom>
            <a:noFill/>
            <a:ln>
              <a:noFill/>
            </a:ln>
          </p:spPr>
        </p:pic>
        <p:sp>
          <p:nvSpPr>
            <p:cNvPr id="908" name="Google Shape;908;p73"/>
            <p:cNvSpPr/>
            <p:nvPr/>
          </p:nvSpPr>
          <p:spPr>
            <a:xfrm>
              <a:off x="458491" y="1841050"/>
              <a:ext cx="3897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p:txBody>
        </p:sp>
        <p:sp>
          <p:nvSpPr>
            <p:cNvPr id="909" name="Google Shape;909;p73"/>
            <p:cNvSpPr/>
            <p:nvPr/>
          </p:nvSpPr>
          <p:spPr>
            <a:xfrm>
              <a:off x="1002588" y="1841050"/>
              <a:ext cx="4458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p:txBody>
        </p:sp>
        <p:sp>
          <p:nvSpPr>
            <p:cNvPr id="910" name="Google Shape;910;p73"/>
            <p:cNvSpPr/>
            <p:nvPr/>
          </p:nvSpPr>
          <p:spPr>
            <a:xfrm>
              <a:off x="1546711" y="1841050"/>
              <a:ext cx="3897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p:txBody>
        </p:sp>
      </p:grpSp>
      <p:sp>
        <p:nvSpPr>
          <p:cNvPr id="911" name="Google Shape;911;p73"/>
          <p:cNvSpPr txBox="1"/>
          <p:nvPr>
            <p:ph idx="1" type="body"/>
          </p:nvPr>
        </p:nvSpPr>
        <p:spPr>
          <a:xfrm>
            <a:off x="4320000" y="4181850"/>
            <a:ext cx="42783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term-to-term rule ‘times 3 subtract 2’</a:t>
            </a:r>
            <a:endParaRPr sz="2000">
              <a:latin typeface="Kalam"/>
              <a:ea typeface="Kalam"/>
              <a:cs typeface="Kalam"/>
              <a:sym typeface="Kalam"/>
            </a:endParaRPr>
          </a:p>
          <a:p>
            <a:pPr indent="0" lvl="0" marL="0" rtl="0" algn="l">
              <a:spcBef>
                <a:spcPts val="1000"/>
              </a:spcBef>
              <a:spcAft>
                <a:spcPts val="1000"/>
              </a:spcAft>
              <a:buNone/>
            </a:pP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74"/>
          <p:cNvSpPr txBox="1"/>
          <p:nvPr>
            <p:ph idx="1" type="body"/>
          </p:nvPr>
        </p:nvSpPr>
        <p:spPr>
          <a:xfrm>
            <a:off x="324000" y="759300"/>
            <a:ext cx="8237700" cy="78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Here are some numerical sequences and rules. Which rule could be a rule for each sequence, match them up?</a:t>
            </a:r>
            <a:endParaRPr sz="1800"/>
          </a:p>
        </p:txBody>
      </p:sp>
      <p:sp>
        <p:nvSpPr>
          <p:cNvPr id="917" name="Google Shape;917;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918" name="Google Shape;918;p74"/>
          <p:cNvSpPr txBox="1"/>
          <p:nvPr>
            <p:ph idx="1" type="body"/>
          </p:nvPr>
        </p:nvSpPr>
        <p:spPr>
          <a:xfrm>
            <a:off x="933600" y="1673700"/>
            <a:ext cx="2240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2, 5, 14, 41, …</a:t>
            </a:r>
            <a:endParaRPr sz="1800"/>
          </a:p>
        </p:txBody>
      </p:sp>
      <p:sp>
        <p:nvSpPr>
          <p:cNvPr id="919" name="Google Shape;919;p74"/>
          <p:cNvSpPr txBox="1"/>
          <p:nvPr>
            <p:ph idx="1" type="body"/>
          </p:nvPr>
        </p:nvSpPr>
        <p:spPr>
          <a:xfrm>
            <a:off x="933600" y="2332650"/>
            <a:ext cx="2240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2, 3, 5, 8, …</a:t>
            </a:r>
            <a:endParaRPr sz="1800"/>
          </a:p>
        </p:txBody>
      </p:sp>
      <p:sp>
        <p:nvSpPr>
          <p:cNvPr id="920" name="Google Shape;920;p74"/>
          <p:cNvSpPr txBox="1"/>
          <p:nvPr>
            <p:ph idx="1" type="body"/>
          </p:nvPr>
        </p:nvSpPr>
        <p:spPr>
          <a:xfrm>
            <a:off x="933600" y="2991600"/>
            <a:ext cx="2240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4, 4, 7, 10, …</a:t>
            </a:r>
            <a:endParaRPr sz="1800"/>
          </a:p>
        </p:txBody>
      </p:sp>
      <p:sp>
        <p:nvSpPr>
          <p:cNvPr id="921" name="Google Shape;921;p74"/>
          <p:cNvSpPr txBox="1"/>
          <p:nvPr>
            <p:ph idx="1" type="body"/>
          </p:nvPr>
        </p:nvSpPr>
        <p:spPr>
          <a:xfrm>
            <a:off x="933600" y="3650550"/>
            <a:ext cx="2240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2, 2, 4, 8, …</a:t>
            </a:r>
            <a:endParaRPr sz="1800"/>
          </a:p>
        </p:txBody>
      </p:sp>
      <p:sp>
        <p:nvSpPr>
          <p:cNvPr id="922" name="Google Shape;922;p74"/>
          <p:cNvSpPr txBox="1"/>
          <p:nvPr>
            <p:ph idx="1" type="body"/>
          </p:nvPr>
        </p:nvSpPr>
        <p:spPr>
          <a:xfrm>
            <a:off x="933600" y="4309500"/>
            <a:ext cx="2240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1, 2, 6, 24, …</a:t>
            </a:r>
            <a:endParaRPr sz="1800"/>
          </a:p>
        </p:txBody>
      </p:sp>
      <p:sp>
        <p:nvSpPr>
          <p:cNvPr id="923" name="Google Shape;923;p74"/>
          <p:cNvSpPr txBox="1"/>
          <p:nvPr>
            <p:ph idx="1" type="body"/>
          </p:nvPr>
        </p:nvSpPr>
        <p:spPr>
          <a:xfrm>
            <a:off x="3417225" y="3393975"/>
            <a:ext cx="5402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Treble the previous term and subtract 1 to get the next term</a:t>
            </a:r>
            <a:endParaRPr sz="1800"/>
          </a:p>
        </p:txBody>
      </p:sp>
      <p:sp>
        <p:nvSpPr>
          <p:cNvPr id="924" name="Google Shape;924;p74"/>
          <p:cNvSpPr txBox="1"/>
          <p:nvPr>
            <p:ph idx="1" type="body"/>
          </p:nvPr>
        </p:nvSpPr>
        <p:spPr>
          <a:xfrm>
            <a:off x="3417225" y="1620000"/>
            <a:ext cx="5402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Add the two previous terms to get the next term</a:t>
            </a:r>
            <a:endParaRPr sz="1800"/>
          </a:p>
        </p:txBody>
      </p:sp>
      <p:sp>
        <p:nvSpPr>
          <p:cNvPr id="925" name="Google Shape;925;p74"/>
          <p:cNvSpPr txBox="1"/>
          <p:nvPr>
            <p:ph idx="1" type="body"/>
          </p:nvPr>
        </p:nvSpPr>
        <p:spPr>
          <a:xfrm>
            <a:off x="3417225" y="4188500"/>
            <a:ext cx="5402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number of letters in the english spelling of the square numbers (in ascending order)</a:t>
            </a:r>
            <a:endParaRPr sz="1800"/>
          </a:p>
        </p:txBody>
      </p:sp>
      <p:sp>
        <p:nvSpPr>
          <p:cNvPr id="926" name="Google Shape;926;p74"/>
          <p:cNvSpPr txBox="1"/>
          <p:nvPr>
            <p:ph idx="1" type="body"/>
          </p:nvPr>
        </p:nvSpPr>
        <p:spPr>
          <a:xfrm>
            <a:off x="3417225" y="2828050"/>
            <a:ext cx="5402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Add 1, times 1, add 2, times 2, add 3, times 3, ……</a:t>
            </a:r>
            <a:endParaRPr sz="1800"/>
          </a:p>
        </p:txBody>
      </p:sp>
      <p:sp>
        <p:nvSpPr>
          <p:cNvPr id="927" name="Google Shape;927;p74"/>
          <p:cNvSpPr txBox="1"/>
          <p:nvPr>
            <p:ph idx="1" type="body"/>
          </p:nvPr>
        </p:nvSpPr>
        <p:spPr>
          <a:xfrm>
            <a:off x="3417225" y="2185925"/>
            <a:ext cx="5402700" cy="45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Times 1, times 2, times 3, times 4, ……</a:t>
            </a:r>
            <a:endParaRPr sz="1800"/>
          </a:p>
        </p:txBody>
      </p:sp>
      <p:grpSp>
        <p:nvGrpSpPr>
          <p:cNvPr id="928" name="Google Shape;928;p74"/>
          <p:cNvGrpSpPr/>
          <p:nvPr/>
        </p:nvGrpSpPr>
        <p:grpSpPr>
          <a:xfrm>
            <a:off x="323991" y="1618350"/>
            <a:ext cx="457200" cy="457200"/>
            <a:chOff x="1020916" y="1442088"/>
            <a:chExt cx="457200" cy="457200"/>
          </a:xfrm>
        </p:grpSpPr>
        <p:pic>
          <p:nvPicPr>
            <p:cNvPr id="929" name="Google Shape;929;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30" name="Google Shape;930;p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931" name="Google Shape;931;p74"/>
          <p:cNvGrpSpPr/>
          <p:nvPr/>
        </p:nvGrpSpPr>
        <p:grpSpPr>
          <a:xfrm>
            <a:off x="323991" y="2232900"/>
            <a:ext cx="457200" cy="457200"/>
            <a:chOff x="1020916" y="1442088"/>
            <a:chExt cx="457200" cy="457200"/>
          </a:xfrm>
        </p:grpSpPr>
        <p:pic>
          <p:nvPicPr>
            <p:cNvPr id="932" name="Google Shape;932;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33" name="Google Shape;933;p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934" name="Google Shape;934;p74"/>
          <p:cNvGrpSpPr/>
          <p:nvPr/>
        </p:nvGrpSpPr>
        <p:grpSpPr>
          <a:xfrm>
            <a:off x="323991" y="2901525"/>
            <a:ext cx="457200" cy="457200"/>
            <a:chOff x="1020916" y="1442088"/>
            <a:chExt cx="457200" cy="457200"/>
          </a:xfrm>
        </p:grpSpPr>
        <p:pic>
          <p:nvPicPr>
            <p:cNvPr id="935" name="Google Shape;935;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36" name="Google Shape;936;p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937" name="Google Shape;937;p74"/>
          <p:cNvGrpSpPr/>
          <p:nvPr/>
        </p:nvGrpSpPr>
        <p:grpSpPr>
          <a:xfrm>
            <a:off x="323991" y="3570150"/>
            <a:ext cx="457200" cy="457200"/>
            <a:chOff x="1020916" y="1442088"/>
            <a:chExt cx="457200" cy="457200"/>
          </a:xfrm>
        </p:grpSpPr>
        <p:pic>
          <p:nvPicPr>
            <p:cNvPr id="938" name="Google Shape;938;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39" name="Google Shape;939;p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940" name="Google Shape;940;p74"/>
          <p:cNvGrpSpPr/>
          <p:nvPr/>
        </p:nvGrpSpPr>
        <p:grpSpPr>
          <a:xfrm>
            <a:off x="323991" y="4238763"/>
            <a:ext cx="457200" cy="457200"/>
            <a:chOff x="1020916" y="1442088"/>
            <a:chExt cx="457200" cy="457200"/>
          </a:xfrm>
        </p:grpSpPr>
        <p:pic>
          <p:nvPicPr>
            <p:cNvPr id="941" name="Google Shape;941;p7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942" name="Google Shape;942;p7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cxnSp>
        <p:nvCxnSpPr>
          <p:cNvPr id="943" name="Google Shape;943;p74"/>
          <p:cNvCxnSpPr>
            <a:endCxn id="923" idx="1"/>
          </p:cNvCxnSpPr>
          <p:nvPr/>
        </p:nvCxnSpPr>
        <p:spPr>
          <a:xfrm>
            <a:off x="2657625" y="1855425"/>
            <a:ext cx="759600" cy="1765500"/>
          </a:xfrm>
          <a:prstGeom prst="straightConnector1">
            <a:avLst/>
          </a:prstGeom>
          <a:noFill/>
          <a:ln cap="flat" cmpd="sng" w="38100">
            <a:solidFill>
              <a:schemeClr val="accent4"/>
            </a:solidFill>
            <a:prstDash val="solid"/>
            <a:round/>
            <a:headEnd len="med" w="med" type="none"/>
            <a:tailEnd len="med" w="med" type="none"/>
          </a:ln>
        </p:spPr>
      </p:cxnSp>
      <p:cxnSp>
        <p:nvCxnSpPr>
          <p:cNvPr id="944" name="Google Shape;944;p74"/>
          <p:cNvCxnSpPr>
            <a:endCxn id="924" idx="1"/>
          </p:cNvCxnSpPr>
          <p:nvPr/>
        </p:nvCxnSpPr>
        <p:spPr>
          <a:xfrm flipH="1" rot="10800000">
            <a:off x="2414025" y="1846950"/>
            <a:ext cx="1003200" cy="667500"/>
          </a:xfrm>
          <a:prstGeom prst="straightConnector1">
            <a:avLst/>
          </a:prstGeom>
          <a:noFill/>
          <a:ln cap="flat" cmpd="sng" w="38100">
            <a:solidFill>
              <a:schemeClr val="accent4"/>
            </a:solidFill>
            <a:prstDash val="solid"/>
            <a:round/>
            <a:headEnd len="med" w="med" type="none"/>
            <a:tailEnd len="med" w="med" type="none"/>
          </a:ln>
        </p:spPr>
      </p:cxnSp>
      <p:cxnSp>
        <p:nvCxnSpPr>
          <p:cNvPr id="945" name="Google Shape;945;p74"/>
          <p:cNvCxnSpPr>
            <a:endCxn id="925" idx="1"/>
          </p:cNvCxnSpPr>
          <p:nvPr/>
        </p:nvCxnSpPr>
        <p:spPr>
          <a:xfrm>
            <a:off x="2571825" y="3137750"/>
            <a:ext cx="845400" cy="1277700"/>
          </a:xfrm>
          <a:prstGeom prst="straightConnector1">
            <a:avLst/>
          </a:prstGeom>
          <a:noFill/>
          <a:ln cap="flat" cmpd="sng" w="38100">
            <a:solidFill>
              <a:schemeClr val="accent4"/>
            </a:solidFill>
            <a:prstDash val="solid"/>
            <a:round/>
            <a:headEnd len="med" w="med" type="none"/>
            <a:tailEnd len="med" w="med" type="none"/>
          </a:ln>
        </p:spPr>
      </p:cxnSp>
      <p:cxnSp>
        <p:nvCxnSpPr>
          <p:cNvPr id="946" name="Google Shape;946;p74"/>
          <p:cNvCxnSpPr>
            <a:endCxn id="926" idx="1"/>
          </p:cNvCxnSpPr>
          <p:nvPr/>
        </p:nvCxnSpPr>
        <p:spPr>
          <a:xfrm flipH="1" rot="10800000">
            <a:off x="2399925" y="3055000"/>
            <a:ext cx="1017300" cy="806100"/>
          </a:xfrm>
          <a:prstGeom prst="straightConnector1">
            <a:avLst/>
          </a:prstGeom>
          <a:noFill/>
          <a:ln cap="flat" cmpd="sng" w="38100">
            <a:solidFill>
              <a:schemeClr val="accent4"/>
            </a:solidFill>
            <a:prstDash val="solid"/>
            <a:round/>
            <a:headEnd len="med" w="med" type="none"/>
            <a:tailEnd len="med" w="med" type="none"/>
          </a:ln>
        </p:spPr>
      </p:cxnSp>
      <p:cxnSp>
        <p:nvCxnSpPr>
          <p:cNvPr id="947" name="Google Shape;947;p74"/>
          <p:cNvCxnSpPr>
            <a:endCxn id="927" idx="1"/>
          </p:cNvCxnSpPr>
          <p:nvPr/>
        </p:nvCxnSpPr>
        <p:spPr>
          <a:xfrm flipH="1" rot="10800000">
            <a:off x="2514525" y="2412875"/>
            <a:ext cx="902700" cy="2071500"/>
          </a:xfrm>
          <a:prstGeom prst="straightConnector1">
            <a:avLst/>
          </a:prstGeom>
          <a:noFill/>
          <a:ln cap="flat" cmpd="sng" w="38100">
            <a:solidFill>
              <a:schemeClr val="accent4"/>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7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953" name="Google Shape;953;p75"/>
          <p:cNvSpPr txBox="1"/>
          <p:nvPr>
            <p:ph idx="1" type="body"/>
          </p:nvPr>
        </p:nvSpPr>
        <p:spPr>
          <a:xfrm>
            <a:off x="324000" y="759300"/>
            <a:ext cx="8496000" cy="78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t>
            </a:r>
            <a:r>
              <a:rPr lang="en-GB" sz="1800"/>
              <a:t>For each of the starting two terms, continue the sequence in three different ways. Explain the rule you have used for each way.</a:t>
            </a:r>
            <a:endParaRPr sz="1800"/>
          </a:p>
        </p:txBody>
      </p:sp>
      <p:sp>
        <p:nvSpPr>
          <p:cNvPr id="954" name="Google Shape;954;p75"/>
          <p:cNvSpPr txBox="1"/>
          <p:nvPr>
            <p:ph idx="1" type="body"/>
          </p:nvPr>
        </p:nvSpPr>
        <p:spPr>
          <a:xfrm>
            <a:off x="324000" y="1749900"/>
            <a:ext cx="4248000" cy="30705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lphaLcParenR"/>
            </a:pPr>
            <a:r>
              <a:rPr lang="en-GB" sz="1800"/>
              <a:t>2, 6,</a:t>
            </a:r>
            <a:r>
              <a:rPr lang="en-GB" sz="1800" u="sng"/>
              <a:t>     </a:t>
            </a:r>
            <a:r>
              <a:rPr lang="en-GB" sz="1800"/>
              <a:t>,</a:t>
            </a:r>
            <a:r>
              <a:rPr lang="en-GB" sz="1800" u="sng"/>
              <a:t>     </a:t>
            </a:r>
            <a:r>
              <a:rPr lang="en-GB" sz="1800"/>
              <a:t>,</a:t>
            </a:r>
            <a:r>
              <a:rPr lang="en-GB" sz="1800" u="sng"/>
              <a:t>     </a:t>
            </a:r>
            <a:r>
              <a:rPr lang="en-GB" sz="1800"/>
              <a:t>, …</a:t>
            </a:r>
            <a:endParaRPr sz="1800"/>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0"/>
              </a:spcAft>
              <a:buNone/>
            </a:pPr>
            <a:r>
              <a:t/>
            </a:r>
            <a:endParaRPr sz="1800"/>
          </a:p>
          <a:p>
            <a:pPr indent="-342900" lvl="0" marL="457200" rtl="0" algn="l">
              <a:spcBef>
                <a:spcPts val="1000"/>
              </a:spcBef>
              <a:spcAft>
                <a:spcPts val="0"/>
              </a:spcAft>
              <a:buSzPts val="1800"/>
              <a:buAutoNum type="alphaLcParenR" startAt="2"/>
            </a:pPr>
            <a:r>
              <a:rPr lang="en-GB" sz="1800"/>
              <a:t>−1, 5,</a:t>
            </a:r>
            <a:r>
              <a:rPr lang="en-GB" sz="1800" u="sng"/>
              <a:t>     </a:t>
            </a:r>
            <a:r>
              <a:rPr lang="en-GB" sz="1800"/>
              <a:t>,</a:t>
            </a:r>
            <a:r>
              <a:rPr lang="en-GB" sz="1800" u="sng"/>
              <a:t>     </a:t>
            </a:r>
            <a:r>
              <a:rPr lang="en-GB" sz="1800"/>
              <a:t>,</a:t>
            </a:r>
            <a:r>
              <a:rPr lang="en-GB" sz="1800" u="sng"/>
              <a:t>     </a:t>
            </a:r>
            <a:r>
              <a:rPr lang="en-GB" sz="1800"/>
              <a:t>, …</a:t>
            </a:r>
            <a:endParaRPr sz="1800"/>
          </a:p>
          <a:p>
            <a:pPr indent="0" lvl="0" marL="45720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955" name="Google Shape;955;p75"/>
          <p:cNvSpPr txBox="1"/>
          <p:nvPr>
            <p:ph idx="1" type="body"/>
          </p:nvPr>
        </p:nvSpPr>
        <p:spPr>
          <a:xfrm>
            <a:off x="4572000" y="1749900"/>
            <a:ext cx="4248000" cy="30705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lphaLcParenR" startAt="3"/>
            </a:pPr>
            <a:r>
              <a:rPr lang="en-GB" sz="1800"/>
              <a:t>8, 3,</a:t>
            </a:r>
            <a:r>
              <a:rPr lang="en-GB" sz="1800" u="sng"/>
              <a:t>     </a:t>
            </a:r>
            <a:r>
              <a:rPr lang="en-GB" sz="1800"/>
              <a:t>,</a:t>
            </a:r>
            <a:r>
              <a:rPr lang="en-GB" sz="1800" u="sng"/>
              <a:t>     </a:t>
            </a:r>
            <a:r>
              <a:rPr lang="en-GB" sz="1800"/>
              <a:t>,</a:t>
            </a:r>
            <a:r>
              <a:rPr lang="en-GB" sz="1800" u="sng"/>
              <a:t>     </a:t>
            </a:r>
            <a:r>
              <a:rPr lang="en-GB" sz="1800"/>
              <a:t>,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342900" lvl="0" marL="457200" rtl="0" algn="l">
              <a:spcBef>
                <a:spcPts val="1000"/>
              </a:spcBef>
              <a:spcAft>
                <a:spcPts val="0"/>
              </a:spcAft>
              <a:buSzPts val="1800"/>
              <a:buAutoNum type="alphaLcParenR" startAt="4"/>
            </a:pPr>
            <a:r>
              <a:rPr lang="en-GB" sz="1800"/>
              <a:t> 11, 13, </a:t>
            </a:r>
            <a:r>
              <a:rPr lang="en-GB" sz="1800" u="sng"/>
              <a:t>     </a:t>
            </a:r>
            <a:r>
              <a:rPr lang="en-GB" sz="1800"/>
              <a:t>,</a:t>
            </a:r>
            <a:r>
              <a:rPr lang="en-GB" sz="1800" u="sng"/>
              <a:t>     </a:t>
            </a:r>
            <a:r>
              <a:rPr lang="en-GB" sz="1800"/>
              <a:t>,</a:t>
            </a:r>
            <a:r>
              <a:rPr lang="en-GB" sz="1800" u="sng"/>
              <a:t>     </a:t>
            </a:r>
            <a:r>
              <a:rPr lang="en-GB" sz="1800"/>
              <a:t>,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961" name="Google Shape;961;p76"/>
          <p:cNvSpPr txBox="1"/>
          <p:nvPr>
            <p:ph idx="1" type="body"/>
          </p:nvPr>
        </p:nvSpPr>
        <p:spPr>
          <a:xfrm>
            <a:off x="324000" y="759300"/>
            <a:ext cx="8496000" cy="78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For each of these sequences, suggest what the next two terms might be. Explain your reasoning.</a:t>
            </a:r>
            <a:endParaRPr sz="1800"/>
          </a:p>
        </p:txBody>
      </p:sp>
      <p:sp>
        <p:nvSpPr>
          <p:cNvPr id="962" name="Google Shape;962;p76"/>
          <p:cNvSpPr txBox="1"/>
          <p:nvPr>
            <p:ph idx="1" type="body"/>
          </p:nvPr>
        </p:nvSpPr>
        <p:spPr>
          <a:xfrm>
            <a:off x="324000" y="1749900"/>
            <a:ext cx="4248000" cy="30705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lphaLcParenR"/>
            </a:pPr>
            <a:r>
              <a:rPr lang="en-GB" sz="1800"/>
              <a:t>2, 3, 8, </a:t>
            </a:r>
            <a:r>
              <a:rPr lang="en-GB" sz="1800" u="sng"/>
              <a:t>     </a:t>
            </a:r>
            <a:r>
              <a:rPr lang="en-GB" sz="1800"/>
              <a:t>,</a:t>
            </a:r>
            <a:r>
              <a:rPr lang="en-GB" sz="1800" u="sng"/>
              <a:t>      </a:t>
            </a:r>
            <a:r>
              <a:rPr lang="en-GB" sz="1800"/>
              <a:t>, … </a:t>
            </a:r>
            <a:endParaRPr sz="1800"/>
          </a:p>
          <a:p>
            <a:pPr indent="-342900" lvl="0" marL="457200" rtl="0" algn="l">
              <a:spcBef>
                <a:spcPts val="2000"/>
              </a:spcBef>
              <a:spcAft>
                <a:spcPts val="0"/>
              </a:spcAft>
              <a:buSzPts val="1800"/>
              <a:buAutoNum type="alphaLcParenR"/>
            </a:pPr>
            <a:r>
              <a:rPr lang="en-GB" sz="1800"/>
              <a:t>31, 29, 31, </a:t>
            </a:r>
            <a:r>
              <a:rPr lang="en-GB" sz="1800" u="sng"/>
              <a:t>     </a:t>
            </a:r>
            <a:r>
              <a:rPr lang="en-GB" sz="1800"/>
              <a:t>,</a:t>
            </a:r>
            <a:r>
              <a:rPr lang="en-GB" sz="1800" u="sng"/>
              <a:t>      </a:t>
            </a:r>
            <a:r>
              <a:rPr lang="en-GB" sz="1800"/>
              <a:t>, …</a:t>
            </a:r>
            <a:endParaRPr sz="1800"/>
          </a:p>
          <a:p>
            <a:pPr indent="-342900" lvl="0" marL="457200" rtl="0" algn="l">
              <a:spcBef>
                <a:spcPts val="2000"/>
              </a:spcBef>
              <a:spcAft>
                <a:spcPts val="0"/>
              </a:spcAft>
              <a:buSzPts val="1800"/>
              <a:buAutoNum type="alphaLcParenR"/>
            </a:pPr>
            <a:r>
              <a:rPr lang="en-GB" sz="1800"/>
              <a:t>3, 20, 190, </a:t>
            </a:r>
            <a:r>
              <a:rPr lang="en-GB" sz="1800" u="sng"/>
              <a:t>     </a:t>
            </a:r>
            <a:r>
              <a:rPr lang="en-GB" sz="1800"/>
              <a:t>,</a:t>
            </a:r>
            <a:r>
              <a:rPr lang="en-GB" sz="1800" u="sng"/>
              <a:t>      </a:t>
            </a:r>
            <a:r>
              <a:rPr lang="en-GB" sz="1800"/>
              <a:t>, …</a:t>
            </a:r>
            <a:endParaRPr sz="1800"/>
          </a:p>
          <a:p>
            <a:pPr indent="-342900" lvl="0" marL="457200" rtl="0" algn="l">
              <a:spcBef>
                <a:spcPts val="2000"/>
              </a:spcBef>
              <a:spcAft>
                <a:spcPts val="0"/>
              </a:spcAft>
              <a:buSzPts val="1800"/>
              <a:buAutoNum type="alphaLcParenR"/>
            </a:pPr>
            <a:r>
              <a:rPr lang="en-GB" sz="1800"/>
              <a:t>2, 4, 16, </a:t>
            </a:r>
            <a:r>
              <a:rPr lang="en-GB" sz="1800" u="sng"/>
              <a:t>     </a:t>
            </a:r>
            <a:r>
              <a:rPr lang="en-GB" sz="1800"/>
              <a:t>,</a:t>
            </a:r>
            <a:r>
              <a:rPr lang="en-GB" sz="1800" u="sng"/>
              <a:t>      </a:t>
            </a:r>
            <a:r>
              <a:rPr lang="en-GB" sz="1800"/>
              <a:t>, …</a:t>
            </a:r>
            <a:endParaRPr sz="1800"/>
          </a:p>
          <a:p>
            <a:pPr indent="-342900" lvl="0" marL="457200" rtl="0" algn="l">
              <a:spcBef>
                <a:spcPts val="2000"/>
              </a:spcBef>
              <a:spcAft>
                <a:spcPts val="0"/>
              </a:spcAft>
              <a:buSzPts val="1800"/>
              <a:buAutoNum type="alphaLcParenR"/>
            </a:pPr>
            <a:r>
              <a:rPr lang="en-GB" sz="1800"/>
              <a:t>8, 5, 4, 9, </a:t>
            </a:r>
            <a:r>
              <a:rPr lang="en-GB" sz="1800" u="sng"/>
              <a:t>     </a:t>
            </a:r>
            <a:r>
              <a:rPr lang="en-GB" sz="1800"/>
              <a:t>,</a:t>
            </a:r>
            <a:r>
              <a:rPr lang="en-GB" sz="1800" u="sng"/>
              <a:t>     </a:t>
            </a:r>
            <a:r>
              <a:rPr lang="en-GB" sz="1800"/>
              <a:t>, …</a:t>
            </a:r>
            <a:endParaRPr sz="1800"/>
          </a:p>
          <a:p>
            <a:pPr indent="0" lvl="0" marL="0" rtl="0" algn="l">
              <a:spcBef>
                <a:spcPts val="2000"/>
              </a:spcBef>
              <a:spcAft>
                <a:spcPts val="0"/>
              </a:spcAft>
              <a:buNone/>
            </a:pPr>
            <a:r>
              <a:t/>
            </a:r>
            <a:endParaRPr sz="1800"/>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1000"/>
              </a:spcAft>
              <a:buNone/>
            </a:pPr>
            <a:r>
              <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968" name="Google Shape;968;p77"/>
          <p:cNvSpPr txBox="1"/>
          <p:nvPr>
            <p:ph idx="1" type="body"/>
          </p:nvPr>
        </p:nvSpPr>
        <p:spPr>
          <a:xfrm>
            <a:off x="324000" y="759300"/>
            <a:ext cx="8237700" cy="6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For each of the starting two terms, continue the sequence in three different ways. Explain the rule you have used for each way.</a:t>
            </a:r>
            <a:endParaRPr sz="1800"/>
          </a:p>
        </p:txBody>
      </p:sp>
      <p:sp>
        <p:nvSpPr>
          <p:cNvPr id="969" name="Google Shape;969;p77"/>
          <p:cNvSpPr txBox="1"/>
          <p:nvPr>
            <p:ph idx="1" type="body"/>
          </p:nvPr>
        </p:nvSpPr>
        <p:spPr>
          <a:xfrm>
            <a:off x="324000" y="1436650"/>
            <a:ext cx="7245900" cy="28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Many answers for each question, these are just some ideas.</a:t>
            </a:r>
            <a:endParaRPr sz="2000">
              <a:latin typeface="Kalam"/>
              <a:ea typeface="Kalam"/>
              <a:cs typeface="Kalam"/>
              <a:sym typeface="Kalam"/>
            </a:endParaRPr>
          </a:p>
        </p:txBody>
      </p:sp>
      <p:sp>
        <p:nvSpPr>
          <p:cNvPr id="970" name="Google Shape;970;p77"/>
          <p:cNvSpPr txBox="1"/>
          <p:nvPr>
            <p:ph idx="1" type="body"/>
          </p:nvPr>
        </p:nvSpPr>
        <p:spPr>
          <a:xfrm>
            <a:off x="324000" y="2289150"/>
            <a:ext cx="8496000" cy="2716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E.g. 2, 6, 18, 54, 162 (common multiplier of </a:t>
            </a:r>
            <a:r>
              <a:rPr lang="en-GB" sz="2000">
                <a:solidFill>
                  <a:srgbClr val="222222"/>
                </a:solidFill>
                <a:latin typeface="Kalam"/>
                <a:ea typeface="Kalam"/>
                <a:cs typeface="Kalam"/>
                <a:sym typeface="Kalam"/>
              </a:rPr>
              <a:t>×</a:t>
            </a:r>
            <a:r>
              <a:rPr lang="en-GB" sz="2000">
                <a:latin typeface="Kalam"/>
                <a:ea typeface="Kalam"/>
                <a:cs typeface="Kalam"/>
                <a:sym typeface="Kalam"/>
              </a:rPr>
              <a:t>3</a:t>
            </a:r>
            <a:r>
              <a:rPr lang="en-GB" sz="2000">
                <a:latin typeface="Kalam"/>
                <a:ea typeface="Kalam"/>
                <a:cs typeface="Kalam"/>
                <a:sym typeface="Kalam"/>
              </a:rPr>
              <a:t> between terms)</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2, 6, 10, 14, 18, … (common difference of +4 between terms)</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2, 6, 12, 20, 10, … (add 4, add 6, add 8,... Common second difference +2)</a:t>
            </a:r>
            <a:endParaRPr sz="2000">
              <a:latin typeface="Kalam"/>
              <a:ea typeface="Kalam"/>
              <a:cs typeface="Kalam"/>
              <a:sym typeface="Kalam"/>
            </a:endParaRPr>
          </a:p>
          <a:p>
            <a:pPr indent="0" lvl="0" marL="457200" rtl="0" algn="l">
              <a:spcBef>
                <a:spcPts val="1000"/>
              </a:spcBef>
              <a:spcAft>
                <a:spcPts val="0"/>
              </a:spcAft>
              <a:buNone/>
            </a:pPr>
            <a:r>
              <a:t/>
            </a:r>
            <a:endParaRPr sz="2000">
              <a:latin typeface="Kalam"/>
              <a:ea typeface="Kalam"/>
              <a:cs typeface="Kalam"/>
              <a:sym typeface="Kalam"/>
            </a:endParaRPr>
          </a:p>
          <a:p>
            <a:pPr indent="0" lvl="0" marL="0" rtl="0" algn="l">
              <a:spcBef>
                <a:spcPts val="1000"/>
              </a:spcBef>
              <a:spcAft>
                <a:spcPts val="1000"/>
              </a:spcAft>
              <a:buNone/>
            </a:pPr>
            <a:r>
              <a:t/>
            </a:r>
            <a:endParaRPr sz="2000">
              <a:latin typeface="Kalam"/>
              <a:ea typeface="Kalam"/>
              <a:cs typeface="Kalam"/>
              <a:sym typeface="Kalam"/>
            </a:endParaRPr>
          </a:p>
        </p:txBody>
      </p:sp>
      <p:sp>
        <p:nvSpPr>
          <p:cNvPr id="971" name="Google Shape;971;p77"/>
          <p:cNvSpPr txBox="1"/>
          <p:nvPr>
            <p:ph idx="1" type="body"/>
          </p:nvPr>
        </p:nvSpPr>
        <p:spPr>
          <a:xfrm>
            <a:off x="324000" y="4001450"/>
            <a:ext cx="8496000" cy="8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E.g. </a:t>
            </a:r>
            <a:r>
              <a:rPr lang="en-GB" sz="2000">
                <a:latin typeface="Kalam"/>
                <a:ea typeface="Kalam"/>
                <a:cs typeface="Kalam"/>
                <a:sym typeface="Kalam"/>
              </a:rPr>
              <a:t>−1</a:t>
            </a:r>
            <a:r>
              <a:rPr lang="en-GB" sz="2000">
                <a:latin typeface="Kalam"/>
                <a:ea typeface="Kalam"/>
                <a:cs typeface="Kalam"/>
                <a:sym typeface="Kalam"/>
              </a:rPr>
              <a:t>, 5, </a:t>
            </a:r>
            <a:r>
              <a:rPr lang="en-GB" sz="2000">
                <a:latin typeface="Kalam"/>
                <a:ea typeface="Kalam"/>
                <a:cs typeface="Kalam"/>
                <a:sym typeface="Kalam"/>
              </a:rPr>
              <a:t>−25</a:t>
            </a:r>
            <a:r>
              <a:rPr lang="en-GB" sz="2000">
                <a:latin typeface="Kalam"/>
                <a:ea typeface="Kalam"/>
                <a:cs typeface="Kalam"/>
                <a:sym typeface="Kalam"/>
              </a:rPr>
              <a:t>, 125, </a:t>
            </a:r>
            <a:r>
              <a:rPr lang="en-GB" sz="2000">
                <a:latin typeface="Kalam"/>
                <a:ea typeface="Kalam"/>
                <a:cs typeface="Kalam"/>
                <a:sym typeface="Kalam"/>
              </a:rPr>
              <a:t>−625</a:t>
            </a:r>
            <a:r>
              <a:rPr lang="en-GB" sz="2000">
                <a:latin typeface="Kalam"/>
                <a:ea typeface="Kalam"/>
                <a:cs typeface="Kalam"/>
                <a:sym typeface="Kalam"/>
              </a:rPr>
              <a:t> (common multiplier of </a:t>
            </a:r>
            <a:r>
              <a:rPr lang="en-GB" sz="2000">
                <a:solidFill>
                  <a:srgbClr val="222222"/>
                </a:solidFill>
                <a:latin typeface="Kalam"/>
                <a:ea typeface="Kalam"/>
                <a:cs typeface="Kalam"/>
                <a:sym typeface="Kalam"/>
              </a:rPr>
              <a:t>×</a:t>
            </a:r>
            <a:r>
              <a:rPr lang="en-GB" sz="2000">
                <a:latin typeface="Kalam"/>
                <a:ea typeface="Kalam"/>
                <a:cs typeface="Kalam"/>
                <a:sym typeface="Kalam"/>
              </a:rPr>
              <a:t>−5</a:t>
            </a:r>
            <a:r>
              <a:rPr lang="en-GB" sz="2000">
                <a:latin typeface="Kalam"/>
                <a:ea typeface="Kalam"/>
                <a:cs typeface="Kalam"/>
                <a:sym typeface="Kalam"/>
              </a:rPr>
              <a:t> between terms)</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−1, 5, 4, 9, 13</a:t>
            </a:r>
            <a:r>
              <a:rPr lang="en-GB" sz="2000">
                <a:latin typeface="Kalam"/>
                <a:ea typeface="Kalam"/>
                <a:cs typeface="Kalam"/>
                <a:sym typeface="Kalam"/>
              </a:rPr>
              <a:t> (add two previous terms to get the next term)</a:t>
            </a:r>
            <a:endParaRPr sz="2000">
              <a:latin typeface="Kalam"/>
              <a:ea typeface="Kalam"/>
              <a:cs typeface="Kalam"/>
              <a:sym typeface="Kalam"/>
            </a:endParaRPr>
          </a:p>
          <a:p>
            <a:pPr indent="0" lvl="0" marL="457200" rtl="0" algn="l">
              <a:spcBef>
                <a:spcPts val="1000"/>
              </a:spcBef>
              <a:spcAft>
                <a:spcPts val="0"/>
              </a:spcAft>
              <a:buNone/>
            </a:pPr>
            <a:r>
              <a:t/>
            </a:r>
            <a:endParaRPr sz="2000">
              <a:latin typeface="Kalam"/>
              <a:ea typeface="Kalam"/>
              <a:cs typeface="Kalam"/>
              <a:sym typeface="Kalam"/>
            </a:endParaRPr>
          </a:p>
          <a:p>
            <a:pPr indent="0" lvl="0" marL="0" rtl="0" algn="l">
              <a:spcBef>
                <a:spcPts val="1000"/>
              </a:spcBef>
              <a:spcAft>
                <a:spcPts val="1000"/>
              </a:spcAft>
              <a:buNone/>
            </a:pPr>
            <a:r>
              <a:t/>
            </a:r>
            <a:endParaRPr sz="2000">
              <a:latin typeface="Kalam"/>
              <a:ea typeface="Kalam"/>
              <a:cs typeface="Kalam"/>
              <a:sym typeface="Kalam"/>
            </a:endParaRPr>
          </a:p>
        </p:txBody>
      </p:sp>
      <p:sp>
        <p:nvSpPr>
          <p:cNvPr id="972" name="Google Shape;972;p77"/>
          <p:cNvSpPr txBox="1"/>
          <p:nvPr>
            <p:ph idx="1" type="body"/>
          </p:nvPr>
        </p:nvSpPr>
        <p:spPr>
          <a:xfrm>
            <a:off x="324000" y="1902300"/>
            <a:ext cx="4248000" cy="20991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lphaLcParenR"/>
            </a:pPr>
            <a:r>
              <a:rPr lang="en-GB" sz="1800"/>
              <a:t>2, 6,</a:t>
            </a:r>
            <a:r>
              <a:rPr lang="en-GB" sz="1800" u="sng"/>
              <a:t>     </a:t>
            </a:r>
            <a:r>
              <a:rPr lang="en-GB" sz="1800"/>
              <a:t>,</a:t>
            </a:r>
            <a:r>
              <a:rPr lang="en-GB" sz="1800" u="sng"/>
              <a:t>     </a:t>
            </a:r>
            <a:r>
              <a:rPr lang="en-GB" sz="1800"/>
              <a:t>,</a:t>
            </a:r>
            <a:r>
              <a:rPr lang="en-GB" sz="1800" u="sng"/>
              <a:t>     </a:t>
            </a:r>
            <a:r>
              <a:rPr lang="en-GB" sz="1800"/>
              <a:t>, …</a:t>
            </a:r>
            <a:endParaRPr sz="1800"/>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0"/>
              </a:spcAft>
              <a:buNone/>
            </a:pPr>
            <a:r>
              <a:t/>
            </a:r>
            <a:endParaRPr sz="1800"/>
          </a:p>
          <a:p>
            <a:pPr indent="-342900" lvl="0" marL="457200" rtl="0" algn="l">
              <a:spcBef>
                <a:spcPts val="1000"/>
              </a:spcBef>
              <a:spcAft>
                <a:spcPts val="0"/>
              </a:spcAft>
              <a:buSzPts val="1800"/>
              <a:buAutoNum type="alphaLcParenR" startAt="2"/>
            </a:pPr>
            <a:r>
              <a:rPr lang="en-GB" sz="1800"/>
              <a:t>−1, 5,</a:t>
            </a:r>
            <a:r>
              <a:rPr lang="en-GB" sz="1800" u="sng"/>
              <a:t>     </a:t>
            </a:r>
            <a:r>
              <a:rPr lang="en-GB" sz="1800"/>
              <a:t>,</a:t>
            </a:r>
            <a:r>
              <a:rPr lang="en-GB" sz="1800" u="sng"/>
              <a:t>     </a:t>
            </a:r>
            <a:r>
              <a:rPr lang="en-GB" sz="1800"/>
              <a:t>,</a:t>
            </a:r>
            <a:r>
              <a:rPr lang="en-GB" sz="1800" u="sng"/>
              <a:t>     </a:t>
            </a:r>
            <a:r>
              <a:rPr lang="en-GB" sz="1800"/>
              <a:t>, …</a:t>
            </a:r>
            <a:endParaRPr sz="1800"/>
          </a:p>
          <a:p>
            <a:pPr indent="0" lvl="0" marL="457200" rtl="0" algn="l">
              <a:spcBef>
                <a:spcPts val="1000"/>
              </a:spcBef>
              <a:spcAft>
                <a:spcPts val="0"/>
              </a:spcAft>
              <a:buNone/>
            </a:pPr>
            <a:r>
              <a:t/>
            </a:r>
            <a:endParaRPr sz="1800"/>
          </a:p>
          <a:p>
            <a:pPr indent="0" lvl="0" marL="0" rtl="0" algn="l">
              <a:spcBef>
                <a:spcPts val="1000"/>
              </a:spcBef>
              <a:spcAft>
                <a:spcPts val="1000"/>
              </a:spcAft>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78"/>
          <p:cNvSpPr txBox="1"/>
          <p:nvPr>
            <p:ph idx="1" type="body"/>
          </p:nvPr>
        </p:nvSpPr>
        <p:spPr>
          <a:xfrm>
            <a:off x="324000" y="1436650"/>
            <a:ext cx="72459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Many answers for each question, these are some ideas.</a:t>
            </a:r>
            <a:endParaRPr sz="2000">
              <a:latin typeface="Kalam"/>
              <a:ea typeface="Kalam"/>
              <a:cs typeface="Kalam"/>
              <a:sym typeface="Kalam"/>
            </a:endParaRPr>
          </a:p>
          <a:p>
            <a:pPr indent="0" lvl="0" marL="457200" rtl="0" algn="l">
              <a:spcBef>
                <a:spcPts val="1000"/>
              </a:spcBef>
              <a:spcAft>
                <a:spcPts val="0"/>
              </a:spcAft>
              <a:buNone/>
            </a:pPr>
            <a:r>
              <a:t/>
            </a:r>
            <a:endParaRPr sz="2000">
              <a:latin typeface="Kalam"/>
              <a:ea typeface="Kalam"/>
              <a:cs typeface="Kalam"/>
              <a:sym typeface="Kalam"/>
            </a:endParaRPr>
          </a:p>
          <a:p>
            <a:pPr indent="0" lvl="0" marL="0" rtl="0" algn="l">
              <a:spcBef>
                <a:spcPts val="1000"/>
              </a:spcBef>
              <a:spcAft>
                <a:spcPts val="1000"/>
              </a:spcAft>
              <a:buNone/>
            </a:pPr>
            <a:r>
              <a:t/>
            </a:r>
            <a:endParaRPr sz="2000">
              <a:latin typeface="Kalam"/>
              <a:ea typeface="Kalam"/>
              <a:cs typeface="Kalam"/>
              <a:sym typeface="Kalam"/>
            </a:endParaRPr>
          </a:p>
        </p:txBody>
      </p:sp>
      <p:sp>
        <p:nvSpPr>
          <p:cNvPr id="978" name="Google Shape;978;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979" name="Google Shape;979;p78"/>
          <p:cNvSpPr txBox="1"/>
          <p:nvPr>
            <p:ph idx="1" type="body"/>
          </p:nvPr>
        </p:nvSpPr>
        <p:spPr>
          <a:xfrm>
            <a:off x="324000" y="759300"/>
            <a:ext cx="8237700" cy="63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For each of the starting two terms, continue the sequence in three different ways. Explain the rule you have used for each way.</a:t>
            </a:r>
            <a:endParaRPr sz="1800"/>
          </a:p>
        </p:txBody>
      </p:sp>
      <p:sp>
        <p:nvSpPr>
          <p:cNvPr id="980" name="Google Shape;980;p78"/>
          <p:cNvSpPr txBox="1"/>
          <p:nvPr>
            <p:ph idx="1" type="body"/>
          </p:nvPr>
        </p:nvSpPr>
        <p:spPr>
          <a:xfrm>
            <a:off x="324000" y="1902300"/>
            <a:ext cx="4248000" cy="21666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lphaLcParenR" startAt="3"/>
            </a:pPr>
            <a:r>
              <a:rPr lang="en-GB" sz="1800"/>
              <a:t>8, 3,</a:t>
            </a:r>
            <a:r>
              <a:rPr lang="en-GB" sz="1800" u="sng"/>
              <a:t>     </a:t>
            </a:r>
            <a:r>
              <a:rPr lang="en-GB" sz="1800"/>
              <a:t>,</a:t>
            </a:r>
            <a:r>
              <a:rPr lang="en-GB" sz="1800" u="sng"/>
              <a:t>     </a:t>
            </a:r>
            <a:r>
              <a:rPr lang="en-GB" sz="1800"/>
              <a:t>,</a:t>
            </a:r>
            <a:r>
              <a:rPr lang="en-GB" sz="1800" u="sng"/>
              <a:t>     </a:t>
            </a:r>
            <a:r>
              <a:rPr lang="en-GB" sz="1800"/>
              <a:t>,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342900" lvl="0" marL="457200" rtl="0" algn="l">
              <a:spcBef>
                <a:spcPts val="1000"/>
              </a:spcBef>
              <a:spcAft>
                <a:spcPts val="0"/>
              </a:spcAft>
              <a:buSzPts val="1800"/>
              <a:buAutoNum type="alphaLcParenR" startAt="4"/>
            </a:pPr>
            <a:r>
              <a:rPr lang="en-GB" sz="1800"/>
              <a:t> 11, 13, </a:t>
            </a:r>
            <a:r>
              <a:rPr lang="en-GB" sz="1800" u="sng"/>
              <a:t>     </a:t>
            </a:r>
            <a:r>
              <a:rPr lang="en-GB" sz="1800"/>
              <a:t>,</a:t>
            </a:r>
            <a:r>
              <a:rPr lang="en-GB" sz="1800" u="sng"/>
              <a:t>     </a:t>
            </a:r>
            <a:r>
              <a:rPr lang="en-GB" sz="1800"/>
              <a:t>,</a:t>
            </a:r>
            <a:r>
              <a:rPr lang="en-GB" sz="1800" u="sng"/>
              <a:t>     </a:t>
            </a:r>
            <a:r>
              <a:rPr lang="en-GB" sz="1800"/>
              <a:t>, …</a:t>
            </a:r>
            <a:endParaRPr sz="1800"/>
          </a:p>
        </p:txBody>
      </p:sp>
      <p:sp>
        <p:nvSpPr>
          <p:cNvPr id="981" name="Google Shape;981;p78"/>
          <p:cNvSpPr txBox="1"/>
          <p:nvPr>
            <p:ph idx="1" type="body"/>
          </p:nvPr>
        </p:nvSpPr>
        <p:spPr>
          <a:xfrm>
            <a:off x="324000" y="2289150"/>
            <a:ext cx="8496000" cy="114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E.g. 8, 3, </a:t>
            </a:r>
            <a:r>
              <a:rPr lang="en-GB" sz="2000">
                <a:latin typeface="Kalam"/>
                <a:ea typeface="Kalam"/>
                <a:cs typeface="Kalam"/>
                <a:sym typeface="Kalam"/>
              </a:rPr>
              <a:t>−1</a:t>
            </a:r>
            <a:r>
              <a:rPr lang="en-GB" sz="2000">
                <a:latin typeface="Kalam"/>
                <a:ea typeface="Kalam"/>
                <a:cs typeface="Kalam"/>
                <a:sym typeface="Kalam"/>
              </a:rPr>
              <a:t>, </a:t>
            </a:r>
            <a:r>
              <a:rPr lang="en-GB" sz="2000">
                <a:latin typeface="Kalam"/>
                <a:ea typeface="Kalam"/>
                <a:cs typeface="Kalam"/>
                <a:sym typeface="Kalam"/>
              </a:rPr>
              <a:t>−4</a:t>
            </a:r>
            <a:r>
              <a:rPr lang="en-GB" sz="2000">
                <a:latin typeface="Kalam"/>
                <a:ea typeface="Kalam"/>
                <a:cs typeface="Kalam"/>
                <a:sym typeface="Kalam"/>
              </a:rPr>
              <a:t>, </a:t>
            </a:r>
            <a:r>
              <a:rPr lang="en-GB" sz="2000">
                <a:latin typeface="Kalam"/>
                <a:ea typeface="Kalam"/>
                <a:cs typeface="Kalam"/>
                <a:sym typeface="Kalam"/>
              </a:rPr>
              <a:t>−6</a:t>
            </a:r>
            <a:r>
              <a:rPr lang="en-GB" sz="2000">
                <a:latin typeface="Kalam"/>
                <a:ea typeface="Kalam"/>
                <a:cs typeface="Kalam"/>
                <a:sym typeface="Kalam"/>
              </a:rPr>
              <a:t> (add</a:t>
            </a:r>
            <a:r>
              <a:rPr lang="en-GB" sz="1600">
                <a:latin typeface="Kalam"/>
                <a:ea typeface="Kalam"/>
                <a:cs typeface="Kalam"/>
                <a:sym typeface="Kalam"/>
              </a:rPr>
              <a:t> </a:t>
            </a:r>
            <a:r>
              <a:rPr lang="en-GB" sz="2000">
                <a:latin typeface="Kalam"/>
                <a:ea typeface="Kalam"/>
                <a:cs typeface="Kalam"/>
                <a:sym typeface="Kalam"/>
              </a:rPr>
              <a:t>−5,</a:t>
            </a:r>
            <a:r>
              <a:rPr lang="en-GB" sz="1600">
                <a:latin typeface="Kalam"/>
                <a:ea typeface="Kalam"/>
                <a:cs typeface="Kalam"/>
                <a:sym typeface="Kalam"/>
              </a:rPr>
              <a:t> </a:t>
            </a:r>
            <a:r>
              <a:rPr lang="en-GB" sz="2000">
                <a:latin typeface="Kalam"/>
                <a:ea typeface="Kalam"/>
                <a:cs typeface="Kalam"/>
                <a:sym typeface="Kalam"/>
              </a:rPr>
              <a:t>add</a:t>
            </a:r>
            <a:r>
              <a:rPr lang="en-GB" sz="1600">
                <a:latin typeface="Kalam"/>
                <a:ea typeface="Kalam"/>
                <a:cs typeface="Kalam"/>
                <a:sym typeface="Kalam"/>
              </a:rPr>
              <a:t> </a:t>
            </a:r>
            <a:r>
              <a:rPr lang="en-GB" sz="2000">
                <a:latin typeface="Kalam"/>
                <a:ea typeface="Kalam"/>
                <a:cs typeface="Kalam"/>
                <a:sym typeface="Kalam"/>
              </a:rPr>
              <a:t>−4,</a:t>
            </a:r>
            <a:r>
              <a:rPr lang="en-GB" sz="1600">
                <a:latin typeface="Kalam"/>
                <a:ea typeface="Kalam"/>
                <a:cs typeface="Kalam"/>
                <a:sym typeface="Kalam"/>
              </a:rPr>
              <a:t> </a:t>
            </a:r>
            <a:r>
              <a:rPr lang="en-GB" sz="2000">
                <a:latin typeface="Kalam"/>
                <a:ea typeface="Kalam"/>
                <a:cs typeface="Kalam"/>
                <a:sym typeface="Kalam"/>
              </a:rPr>
              <a:t>add</a:t>
            </a:r>
            <a:r>
              <a:rPr lang="en-GB" sz="1600">
                <a:latin typeface="Kalam"/>
                <a:ea typeface="Kalam"/>
                <a:cs typeface="Kalam"/>
                <a:sym typeface="Kalam"/>
              </a:rPr>
              <a:t> </a:t>
            </a:r>
            <a:r>
              <a:rPr lang="en-GB" sz="2000">
                <a:latin typeface="Kalam"/>
                <a:ea typeface="Kalam"/>
                <a:cs typeface="Kalam"/>
                <a:sym typeface="Kalam"/>
              </a:rPr>
              <a:t>−3,</a:t>
            </a:r>
            <a:r>
              <a:rPr lang="en-GB" sz="1600">
                <a:latin typeface="Kalam"/>
                <a:ea typeface="Kalam"/>
                <a:cs typeface="Kalam"/>
                <a:sym typeface="Kalam"/>
              </a:rPr>
              <a:t> </a:t>
            </a:r>
            <a:r>
              <a:rPr lang="en-GB" sz="2000">
                <a:latin typeface="Kalam"/>
                <a:ea typeface="Kalam"/>
                <a:cs typeface="Kalam"/>
                <a:sym typeface="Kalam"/>
              </a:rPr>
              <a:t>Common second difference</a:t>
            </a:r>
            <a:r>
              <a:rPr lang="en-GB" sz="1600">
                <a:latin typeface="Kalam"/>
                <a:ea typeface="Kalam"/>
                <a:cs typeface="Kalam"/>
                <a:sym typeface="Kalam"/>
              </a:rPr>
              <a:t> </a:t>
            </a:r>
            <a:r>
              <a:rPr lang="en-GB" sz="2000">
                <a:latin typeface="Kalam"/>
                <a:ea typeface="Kalam"/>
                <a:cs typeface="Kalam"/>
                <a:sym typeface="Kalam"/>
              </a:rPr>
              <a:t>+1</a:t>
            </a:r>
            <a:r>
              <a:rPr lang="en-GB" sz="2000">
                <a:latin typeface="Kalam"/>
                <a:ea typeface="Kalam"/>
                <a:cs typeface="Kalam"/>
                <a:sym typeface="Kalam"/>
              </a:rPr>
              <a:t>)</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8, 3, </a:t>
            </a:r>
            <a:r>
              <a:rPr lang="en-GB" sz="2000">
                <a:latin typeface="Kalam"/>
                <a:ea typeface="Kalam"/>
                <a:cs typeface="Kalam"/>
                <a:sym typeface="Kalam"/>
              </a:rPr>
              <a:t>−2</a:t>
            </a:r>
            <a:r>
              <a:rPr lang="en-GB" sz="2000">
                <a:latin typeface="Kalam"/>
                <a:ea typeface="Kalam"/>
                <a:cs typeface="Kalam"/>
                <a:sym typeface="Kalam"/>
              </a:rPr>
              <a:t>, </a:t>
            </a:r>
            <a:r>
              <a:rPr lang="en-GB" sz="2000">
                <a:latin typeface="Kalam"/>
                <a:ea typeface="Kalam"/>
                <a:cs typeface="Kalam"/>
                <a:sym typeface="Kalam"/>
              </a:rPr>
              <a:t>−7</a:t>
            </a:r>
            <a:r>
              <a:rPr lang="en-GB" sz="2000">
                <a:latin typeface="Kalam"/>
                <a:ea typeface="Kalam"/>
                <a:cs typeface="Kalam"/>
                <a:sym typeface="Kalam"/>
              </a:rPr>
              <a:t>, </a:t>
            </a:r>
            <a:r>
              <a:rPr lang="en-GB" sz="2000">
                <a:latin typeface="Kalam"/>
                <a:ea typeface="Kalam"/>
                <a:cs typeface="Kalam"/>
                <a:sym typeface="Kalam"/>
              </a:rPr>
              <a:t>−12</a:t>
            </a:r>
            <a:r>
              <a:rPr lang="en-GB" sz="2000">
                <a:latin typeface="Kalam"/>
                <a:ea typeface="Kalam"/>
                <a:cs typeface="Kalam"/>
                <a:sym typeface="Kalam"/>
              </a:rPr>
              <a:t>, … (common difference of +(</a:t>
            </a:r>
            <a:r>
              <a:rPr lang="en-GB" sz="2000">
                <a:latin typeface="Kalam"/>
                <a:ea typeface="Kalam"/>
                <a:cs typeface="Kalam"/>
                <a:sym typeface="Kalam"/>
              </a:rPr>
              <a:t>−5)</a:t>
            </a:r>
            <a:r>
              <a:rPr lang="en-GB" sz="2000">
                <a:latin typeface="Kalam"/>
                <a:ea typeface="Kalam"/>
                <a:cs typeface="Kalam"/>
                <a:sym typeface="Kalam"/>
              </a:rPr>
              <a:t> between terms)</a:t>
            </a:r>
            <a:endParaRPr sz="2000">
              <a:latin typeface="Kalam"/>
              <a:ea typeface="Kalam"/>
              <a:cs typeface="Kalam"/>
              <a:sym typeface="Kalam"/>
            </a:endParaRPr>
          </a:p>
          <a:p>
            <a:pPr indent="0" lvl="0" marL="0" rtl="0" algn="l">
              <a:spcBef>
                <a:spcPts val="1000"/>
              </a:spcBef>
              <a:spcAft>
                <a:spcPts val="1000"/>
              </a:spcAft>
              <a:buNone/>
            </a:pPr>
            <a:r>
              <a:t/>
            </a:r>
            <a:endParaRPr sz="2000">
              <a:latin typeface="Kalam"/>
              <a:ea typeface="Kalam"/>
              <a:cs typeface="Kalam"/>
              <a:sym typeface="Kalam"/>
            </a:endParaRPr>
          </a:p>
        </p:txBody>
      </p:sp>
      <p:sp>
        <p:nvSpPr>
          <p:cNvPr id="982" name="Google Shape;982;p78"/>
          <p:cNvSpPr txBox="1"/>
          <p:nvPr>
            <p:ph idx="1" type="body"/>
          </p:nvPr>
        </p:nvSpPr>
        <p:spPr>
          <a:xfrm>
            <a:off x="324000" y="3686250"/>
            <a:ext cx="8496000" cy="114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E.g. </a:t>
            </a:r>
            <a:r>
              <a:rPr lang="en-GB" sz="1800">
                <a:latin typeface="Kalam"/>
                <a:ea typeface="Kalam"/>
                <a:cs typeface="Kalam"/>
                <a:sym typeface="Kalam"/>
              </a:rPr>
              <a:t>11</a:t>
            </a:r>
            <a:r>
              <a:rPr lang="en-GB" sz="2000">
                <a:latin typeface="Kalam"/>
                <a:ea typeface="Kalam"/>
                <a:cs typeface="Kalam"/>
                <a:sym typeface="Kalam"/>
              </a:rPr>
              <a:t>, 13, </a:t>
            </a:r>
            <a:r>
              <a:rPr lang="en-GB" sz="1800">
                <a:latin typeface="Kalam"/>
                <a:ea typeface="Kalam"/>
                <a:cs typeface="Kalam"/>
                <a:sym typeface="Kalam"/>
              </a:rPr>
              <a:t>15</a:t>
            </a:r>
            <a:r>
              <a:rPr lang="en-GB" sz="2000">
                <a:latin typeface="Kalam"/>
                <a:ea typeface="Kalam"/>
                <a:cs typeface="Kalam"/>
                <a:sym typeface="Kalam"/>
              </a:rPr>
              <a:t>, 17, </a:t>
            </a:r>
            <a:r>
              <a:rPr lang="en-GB" sz="1800">
                <a:latin typeface="Kalam"/>
                <a:ea typeface="Kalam"/>
                <a:cs typeface="Kalam"/>
                <a:sym typeface="Kalam"/>
              </a:rPr>
              <a:t>19, …</a:t>
            </a:r>
            <a:r>
              <a:rPr lang="en-GB" sz="2000">
                <a:latin typeface="Kalam"/>
                <a:ea typeface="Kalam"/>
                <a:cs typeface="Kalam"/>
                <a:sym typeface="Kalam"/>
              </a:rPr>
              <a:t> (common difference of +2 between terms</a:t>
            </a:r>
            <a:r>
              <a:rPr lang="en-GB" sz="1800">
                <a:latin typeface="Kalam"/>
                <a:ea typeface="Kalam"/>
                <a:cs typeface="Kalam"/>
                <a:sym typeface="Kalam"/>
              </a:rPr>
              <a:t>)</a:t>
            </a:r>
            <a:endParaRPr sz="1800">
              <a:latin typeface="Kalam"/>
              <a:ea typeface="Kalam"/>
              <a:cs typeface="Kalam"/>
              <a:sym typeface="Kalam"/>
            </a:endParaRPr>
          </a:p>
          <a:p>
            <a:pPr indent="0" lvl="0" marL="0" rtl="0" algn="l">
              <a:spcBef>
                <a:spcPts val="1000"/>
              </a:spcBef>
              <a:spcAft>
                <a:spcPts val="0"/>
              </a:spcAft>
              <a:buNone/>
            </a:pPr>
            <a:r>
              <a:rPr lang="en-GB" sz="1800">
                <a:latin typeface="Kalam"/>
                <a:ea typeface="Kalam"/>
                <a:cs typeface="Kalam"/>
                <a:sym typeface="Kalam"/>
              </a:rPr>
              <a:t>11</a:t>
            </a:r>
            <a:r>
              <a:rPr lang="en-GB" sz="2000">
                <a:latin typeface="Kalam"/>
                <a:ea typeface="Kalam"/>
                <a:cs typeface="Kalam"/>
                <a:sym typeface="Kalam"/>
              </a:rPr>
              <a:t>, 13, 17, 19, 23</a:t>
            </a:r>
            <a:r>
              <a:rPr lang="en-GB" sz="1800">
                <a:latin typeface="Kalam"/>
                <a:ea typeface="Kalam"/>
                <a:cs typeface="Kalam"/>
                <a:sym typeface="Kalam"/>
              </a:rPr>
              <a:t> (Prime </a:t>
            </a:r>
            <a:r>
              <a:rPr lang="en-GB" sz="1800">
                <a:latin typeface="Kalam"/>
                <a:ea typeface="Kalam"/>
                <a:cs typeface="Kalam"/>
                <a:sym typeface="Kalam"/>
              </a:rPr>
              <a:t>numbers</a:t>
            </a:r>
            <a:r>
              <a:rPr lang="en-GB" sz="1800">
                <a:latin typeface="Kalam"/>
                <a:ea typeface="Kalam"/>
                <a:cs typeface="Kalam"/>
                <a:sym typeface="Kalam"/>
              </a:rPr>
              <a:t> greater than 10)</a:t>
            </a:r>
            <a:endParaRPr sz="1800">
              <a:latin typeface="Kalam"/>
              <a:ea typeface="Kalam"/>
              <a:cs typeface="Kalam"/>
              <a:sym typeface="Kalam"/>
            </a:endParaRPr>
          </a:p>
          <a:p>
            <a:pPr indent="0" lvl="0" marL="0" rtl="0" algn="l">
              <a:spcBef>
                <a:spcPts val="1000"/>
              </a:spcBef>
              <a:spcAft>
                <a:spcPts val="0"/>
              </a:spcAft>
              <a:buNone/>
            </a:pPr>
            <a:r>
              <a:rPr lang="en-GB" sz="1800">
                <a:latin typeface="Kalam"/>
                <a:ea typeface="Kalam"/>
                <a:cs typeface="Kalam"/>
                <a:sym typeface="Kalam"/>
              </a:rPr>
              <a:t>11, 13, 16, 20, 35 (Triangular numbers add 10)</a:t>
            </a:r>
            <a:endParaRPr sz="1800">
              <a:latin typeface="Kalam"/>
              <a:ea typeface="Kalam"/>
              <a:cs typeface="Kalam"/>
              <a:sym typeface="Kalam"/>
            </a:endParaRPr>
          </a:p>
          <a:p>
            <a:pPr indent="0" lvl="0" marL="457200" rtl="0" algn="l">
              <a:spcBef>
                <a:spcPts val="1000"/>
              </a:spcBef>
              <a:spcAft>
                <a:spcPts val="0"/>
              </a:spcAft>
              <a:buNone/>
            </a:pPr>
            <a:r>
              <a:t/>
            </a:r>
            <a:endParaRPr sz="2000">
              <a:latin typeface="Kalam"/>
              <a:ea typeface="Kalam"/>
              <a:cs typeface="Kalam"/>
              <a:sym typeface="Kalam"/>
            </a:endParaRPr>
          </a:p>
          <a:p>
            <a:pPr indent="0" lvl="0" marL="0" rtl="0" algn="l">
              <a:spcBef>
                <a:spcPts val="1000"/>
              </a:spcBef>
              <a:spcAft>
                <a:spcPts val="1000"/>
              </a:spcAft>
              <a:buNone/>
            </a:pPr>
            <a:r>
              <a:t/>
            </a:r>
            <a:endParaRPr sz="2000">
              <a:latin typeface="Kalam"/>
              <a:ea typeface="Kalam"/>
              <a:cs typeface="Kalam"/>
              <a:sym typeface="Kala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988" name="Google Shape;988;p79"/>
          <p:cNvSpPr txBox="1"/>
          <p:nvPr>
            <p:ph idx="1" type="body"/>
          </p:nvPr>
        </p:nvSpPr>
        <p:spPr>
          <a:xfrm>
            <a:off x="324000" y="759300"/>
            <a:ext cx="8237700" cy="62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For each of these sequences, suggest what the next two terms might be. Explain your reasoning.</a:t>
            </a:r>
            <a:endParaRPr sz="1800"/>
          </a:p>
        </p:txBody>
      </p:sp>
      <p:sp>
        <p:nvSpPr>
          <p:cNvPr id="989" name="Google Shape;989;p79"/>
          <p:cNvSpPr txBox="1"/>
          <p:nvPr>
            <p:ph idx="1" type="body"/>
          </p:nvPr>
        </p:nvSpPr>
        <p:spPr>
          <a:xfrm>
            <a:off x="324000" y="1749900"/>
            <a:ext cx="3308100" cy="30705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lphaLcParenR"/>
            </a:pPr>
            <a:r>
              <a:rPr lang="en-GB" sz="1800"/>
              <a:t>2, 3, 8, </a:t>
            </a:r>
            <a:r>
              <a:rPr lang="en-GB" sz="2000">
                <a:latin typeface="Kalam"/>
                <a:ea typeface="Kalam"/>
                <a:cs typeface="Kalam"/>
                <a:sym typeface="Kalam"/>
              </a:rPr>
              <a:t>17</a:t>
            </a:r>
            <a:r>
              <a:rPr lang="en-GB" sz="2000">
                <a:latin typeface="Kalam"/>
                <a:ea typeface="Kalam"/>
                <a:cs typeface="Kalam"/>
                <a:sym typeface="Kalam"/>
              </a:rPr>
              <a:t>, </a:t>
            </a:r>
            <a:r>
              <a:rPr lang="en-GB" sz="2000">
                <a:latin typeface="Kalam"/>
                <a:ea typeface="Kalam"/>
                <a:cs typeface="Kalam"/>
                <a:sym typeface="Kalam"/>
              </a:rPr>
              <a:t>30</a:t>
            </a:r>
            <a:r>
              <a:rPr lang="en-GB" sz="1800"/>
              <a:t>, … </a:t>
            </a:r>
            <a:endParaRPr sz="1800"/>
          </a:p>
          <a:p>
            <a:pPr indent="-342900" lvl="0" marL="457200" rtl="0" algn="l">
              <a:spcBef>
                <a:spcPts val="2000"/>
              </a:spcBef>
              <a:spcAft>
                <a:spcPts val="0"/>
              </a:spcAft>
              <a:buSzPts val="1800"/>
              <a:buAutoNum type="alphaLcParenR"/>
            </a:pPr>
            <a:r>
              <a:rPr lang="en-GB" sz="1800"/>
              <a:t>31, 29, 31, </a:t>
            </a:r>
            <a:r>
              <a:rPr lang="en-GB" sz="2000">
                <a:latin typeface="Kalam"/>
                <a:ea typeface="Kalam"/>
                <a:cs typeface="Kalam"/>
                <a:sym typeface="Kalam"/>
              </a:rPr>
              <a:t>29</a:t>
            </a:r>
            <a:r>
              <a:rPr lang="en-GB" sz="2000">
                <a:latin typeface="Kalam"/>
                <a:ea typeface="Kalam"/>
                <a:cs typeface="Kalam"/>
                <a:sym typeface="Kalam"/>
              </a:rPr>
              <a:t>, </a:t>
            </a:r>
            <a:r>
              <a:rPr lang="en-GB" sz="2000">
                <a:latin typeface="Kalam"/>
                <a:ea typeface="Kalam"/>
                <a:cs typeface="Kalam"/>
                <a:sym typeface="Kalam"/>
              </a:rPr>
              <a:t>31</a:t>
            </a:r>
            <a:r>
              <a:rPr lang="en-GB" sz="1800"/>
              <a:t>, …</a:t>
            </a:r>
            <a:endParaRPr sz="1800"/>
          </a:p>
          <a:p>
            <a:pPr indent="-342900" lvl="0" marL="457200" rtl="0" algn="l">
              <a:spcBef>
                <a:spcPts val="2000"/>
              </a:spcBef>
              <a:spcAft>
                <a:spcPts val="0"/>
              </a:spcAft>
              <a:buSzPts val="1800"/>
              <a:buAutoNum type="alphaLcParenR"/>
            </a:pPr>
            <a:r>
              <a:rPr lang="en-GB" sz="1800"/>
              <a:t>3, 20, 190, </a:t>
            </a:r>
            <a:r>
              <a:rPr lang="en-GB" sz="1800"/>
              <a:t>1890</a:t>
            </a:r>
            <a:r>
              <a:rPr lang="en-GB" sz="1800"/>
              <a:t>, </a:t>
            </a:r>
            <a:r>
              <a:rPr lang="en-GB" sz="1800"/>
              <a:t>18890</a:t>
            </a:r>
            <a:r>
              <a:rPr lang="en-GB" sz="1800"/>
              <a:t>, …</a:t>
            </a:r>
            <a:endParaRPr sz="1800"/>
          </a:p>
          <a:p>
            <a:pPr indent="-342900" lvl="0" marL="457200" rtl="0" algn="l">
              <a:spcBef>
                <a:spcPts val="2000"/>
              </a:spcBef>
              <a:spcAft>
                <a:spcPts val="0"/>
              </a:spcAft>
              <a:buSzPts val="1800"/>
              <a:buAutoNum type="alphaLcParenR"/>
            </a:pPr>
            <a:r>
              <a:rPr lang="en-GB" sz="1800"/>
              <a:t>2, 4, 16, </a:t>
            </a:r>
            <a:r>
              <a:rPr lang="en-GB" sz="1800"/>
              <a:t>256</a:t>
            </a:r>
            <a:r>
              <a:rPr lang="en-GB" sz="1800"/>
              <a:t>, </a:t>
            </a:r>
            <a:r>
              <a:rPr lang="en-GB" sz="1800"/>
              <a:t>65536</a:t>
            </a:r>
            <a:r>
              <a:rPr lang="en-GB" sz="1800"/>
              <a:t>, …</a:t>
            </a:r>
            <a:endParaRPr sz="1800"/>
          </a:p>
          <a:p>
            <a:pPr indent="-342900" lvl="0" marL="457200" rtl="0" algn="l">
              <a:spcBef>
                <a:spcPts val="2000"/>
              </a:spcBef>
              <a:spcAft>
                <a:spcPts val="0"/>
              </a:spcAft>
              <a:buSzPts val="1800"/>
              <a:buAutoNum type="alphaLcParenR"/>
            </a:pPr>
            <a:r>
              <a:rPr lang="en-GB" sz="1800"/>
              <a:t>8, 5, 4, 9, </a:t>
            </a:r>
            <a:r>
              <a:rPr lang="en-GB" sz="2000">
                <a:latin typeface="Kalam"/>
                <a:ea typeface="Kalam"/>
                <a:cs typeface="Kalam"/>
                <a:sym typeface="Kalam"/>
              </a:rPr>
              <a:t>6</a:t>
            </a:r>
            <a:r>
              <a:rPr lang="en-GB" sz="2000">
                <a:latin typeface="Kalam"/>
                <a:ea typeface="Kalam"/>
                <a:cs typeface="Kalam"/>
                <a:sym typeface="Kalam"/>
              </a:rPr>
              <a:t>, </a:t>
            </a:r>
            <a:r>
              <a:rPr lang="en-GB" sz="2000">
                <a:latin typeface="Kalam"/>
                <a:ea typeface="Kalam"/>
                <a:cs typeface="Kalam"/>
                <a:sym typeface="Kalam"/>
              </a:rPr>
              <a:t>5</a:t>
            </a:r>
            <a:r>
              <a:rPr lang="en-GB" sz="1800"/>
              <a:t>, …</a:t>
            </a:r>
            <a:endParaRPr sz="1800"/>
          </a:p>
          <a:p>
            <a:pPr indent="0" lvl="0" marL="0" rtl="0" algn="l">
              <a:spcBef>
                <a:spcPts val="2000"/>
              </a:spcBef>
              <a:spcAft>
                <a:spcPts val="0"/>
              </a:spcAft>
              <a:buNone/>
            </a:pPr>
            <a:r>
              <a:t/>
            </a:r>
            <a:endParaRPr sz="1800"/>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990" name="Google Shape;990;p79"/>
          <p:cNvSpPr txBox="1"/>
          <p:nvPr>
            <p:ph idx="1" type="body"/>
          </p:nvPr>
        </p:nvSpPr>
        <p:spPr>
          <a:xfrm>
            <a:off x="321900" y="1408000"/>
            <a:ext cx="8328900" cy="28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latin typeface="Kalam"/>
                <a:ea typeface="Kalam"/>
                <a:cs typeface="Kalam"/>
                <a:sym typeface="Kalam"/>
              </a:rPr>
              <a:t>There are several </a:t>
            </a:r>
            <a:r>
              <a:rPr lang="en-GB" sz="1900">
                <a:latin typeface="Kalam"/>
                <a:ea typeface="Kalam"/>
                <a:cs typeface="Kalam"/>
                <a:sym typeface="Kalam"/>
              </a:rPr>
              <a:t>answers for each question. One suggestion is given for each. </a:t>
            </a:r>
            <a:endParaRPr sz="1900">
              <a:latin typeface="Kalam"/>
              <a:ea typeface="Kalam"/>
              <a:cs typeface="Kalam"/>
              <a:sym typeface="Kalam"/>
            </a:endParaRPr>
          </a:p>
        </p:txBody>
      </p:sp>
      <p:sp>
        <p:nvSpPr>
          <p:cNvPr id="991" name="Google Shape;991;p79"/>
          <p:cNvSpPr txBox="1"/>
          <p:nvPr>
            <p:ph idx="1" type="body"/>
          </p:nvPr>
        </p:nvSpPr>
        <p:spPr>
          <a:xfrm>
            <a:off x="2887200" y="1834400"/>
            <a:ext cx="5934900" cy="28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Add 1, add 5, add 9, common second difference +4</a:t>
            </a:r>
            <a:endParaRPr sz="2000">
              <a:latin typeface="Kalam"/>
              <a:ea typeface="Kalam"/>
              <a:cs typeface="Kalam"/>
              <a:sym typeface="Kalam"/>
            </a:endParaRPr>
          </a:p>
        </p:txBody>
      </p:sp>
      <p:sp>
        <p:nvSpPr>
          <p:cNvPr id="992" name="Google Shape;992;p79"/>
          <p:cNvSpPr txBox="1"/>
          <p:nvPr>
            <p:ph idx="1" type="body"/>
          </p:nvPr>
        </p:nvSpPr>
        <p:spPr>
          <a:xfrm>
            <a:off x="2887200" y="2386675"/>
            <a:ext cx="5934900" cy="28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Sequence oscillating between 31 and 29</a:t>
            </a:r>
            <a:endParaRPr sz="2000">
              <a:latin typeface="Kalam"/>
              <a:ea typeface="Kalam"/>
              <a:cs typeface="Kalam"/>
              <a:sym typeface="Kalam"/>
            </a:endParaRPr>
          </a:p>
        </p:txBody>
      </p:sp>
      <p:sp>
        <p:nvSpPr>
          <p:cNvPr id="993" name="Google Shape;993;p79"/>
          <p:cNvSpPr txBox="1"/>
          <p:nvPr>
            <p:ph idx="1" type="body"/>
          </p:nvPr>
        </p:nvSpPr>
        <p:spPr>
          <a:xfrm>
            <a:off x="3632100" y="2895975"/>
            <a:ext cx="5187900" cy="28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Add 17, add 170, add 1700, difference is multiplied by 10 each time.</a:t>
            </a:r>
            <a:endParaRPr sz="2000">
              <a:latin typeface="Kalam"/>
              <a:ea typeface="Kalam"/>
              <a:cs typeface="Kalam"/>
              <a:sym typeface="Kalam"/>
            </a:endParaRPr>
          </a:p>
        </p:txBody>
      </p:sp>
      <p:sp>
        <p:nvSpPr>
          <p:cNvPr id="994" name="Google Shape;994;p79"/>
          <p:cNvSpPr txBox="1"/>
          <p:nvPr>
            <p:ph idx="1" type="body"/>
          </p:nvPr>
        </p:nvSpPr>
        <p:spPr>
          <a:xfrm>
            <a:off x="3174900" y="3624750"/>
            <a:ext cx="5187900" cy="28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Previous term squared gives the next term</a:t>
            </a:r>
            <a:endParaRPr sz="2000">
              <a:latin typeface="Kalam"/>
              <a:ea typeface="Kalam"/>
              <a:cs typeface="Kalam"/>
              <a:sym typeface="Kalam"/>
            </a:endParaRPr>
          </a:p>
        </p:txBody>
      </p:sp>
      <p:sp>
        <p:nvSpPr>
          <p:cNvPr id="995" name="Google Shape;995;p79"/>
          <p:cNvSpPr txBox="1"/>
          <p:nvPr>
            <p:ph idx="1" type="body"/>
          </p:nvPr>
        </p:nvSpPr>
        <p:spPr>
          <a:xfrm>
            <a:off x="2635625" y="4135700"/>
            <a:ext cx="6151800" cy="28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Subtract 3, subtract 1, add 5, in a repeating pattern.</a:t>
            </a:r>
            <a:endParaRPr sz="2000">
              <a:latin typeface="Kalam"/>
              <a:ea typeface="Kalam"/>
              <a:cs typeface="Kalam"/>
              <a:sym typeface="Kala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8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Other sequences</a:t>
            </a:r>
            <a:endParaRPr/>
          </a:p>
        </p:txBody>
      </p:sp>
      <p:sp>
        <p:nvSpPr>
          <p:cNvPr id="1001" name="Google Shape;1001;p8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002" name="Google Shape;1002;p8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Extrapolating a sequence</a:t>
            </a:r>
            <a:endParaRPr/>
          </a:p>
        </p:txBody>
      </p:sp>
      <p:pic>
        <p:nvPicPr>
          <p:cNvPr id="1003" name="Google Shape;1003;p80"/>
          <p:cNvPicPr preferRelativeResize="0"/>
          <p:nvPr/>
        </p:nvPicPr>
        <p:blipFill>
          <a:blip r:embed="rId3">
            <a:alphaModFix/>
          </a:blip>
          <a:stretch>
            <a:fillRect/>
          </a:stretch>
        </p:blipFill>
        <p:spPr>
          <a:xfrm>
            <a:off x="413500" y="2987991"/>
            <a:ext cx="450575" cy="446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009" name="Google Shape;1009;p81"/>
          <p:cNvSpPr txBox="1"/>
          <p:nvPr>
            <p:ph idx="1" type="body"/>
          </p:nvPr>
        </p:nvSpPr>
        <p:spPr>
          <a:xfrm>
            <a:off x="324000" y="836400"/>
            <a:ext cx="8496000" cy="153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We have seen sequences that start on the same values but follow different rules. </a:t>
            </a:r>
            <a:endParaRPr sz="1800"/>
          </a:p>
          <a:p>
            <a:pPr indent="0" lvl="0" marL="0" rtl="0" algn="l">
              <a:spcBef>
                <a:spcPts val="1000"/>
              </a:spcBef>
              <a:spcAft>
                <a:spcPts val="1000"/>
              </a:spcAft>
              <a:buNone/>
            </a:pPr>
            <a:r>
              <a:rPr lang="en-GB" sz="1800"/>
              <a:t>It is possible for a rule to look like it works for a certain number of terms and then fail for following terms. </a:t>
            </a:r>
            <a:endParaRPr sz="1800"/>
          </a:p>
        </p:txBody>
      </p:sp>
      <p:grpSp>
        <p:nvGrpSpPr>
          <p:cNvPr id="1010" name="Google Shape;1010;p81"/>
          <p:cNvGrpSpPr/>
          <p:nvPr/>
        </p:nvGrpSpPr>
        <p:grpSpPr>
          <a:xfrm flipH="1">
            <a:off x="295325" y="2468050"/>
            <a:ext cx="4110550" cy="1886602"/>
            <a:chOff x="4709438" y="1818950"/>
            <a:chExt cx="4110550" cy="1886602"/>
          </a:xfrm>
        </p:grpSpPr>
        <p:sp>
          <p:nvSpPr>
            <p:cNvPr id="1011" name="Google Shape;1011;p81"/>
            <p:cNvSpPr txBox="1"/>
            <p:nvPr/>
          </p:nvSpPr>
          <p:spPr>
            <a:xfrm flipH="1">
              <a:off x="8046288" y="3383652"/>
              <a:ext cx="773700" cy="321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1012" name="Google Shape;1012;p81"/>
            <p:cNvPicPr preferRelativeResize="0"/>
            <p:nvPr/>
          </p:nvPicPr>
          <p:blipFill>
            <a:blip r:embed="rId3">
              <a:alphaModFix/>
            </a:blip>
            <a:stretch>
              <a:fillRect/>
            </a:stretch>
          </p:blipFill>
          <p:spPr>
            <a:xfrm>
              <a:off x="8183239" y="2770148"/>
              <a:ext cx="553041" cy="613500"/>
            </a:xfrm>
            <a:prstGeom prst="rect">
              <a:avLst/>
            </a:prstGeom>
            <a:noFill/>
            <a:ln>
              <a:noFill/>
            </a:ln>
          </p:spPr>
        </p:pic>
        <p:pic>
          <p:nvPicPr>
            <p:cNvPr id="1013" name="Google Shape;1013;p81"/>
            <p:cNvPicPr preferRelativeResize="0"/>
            <p:nvPr/>
          </p:nvPicPr>
          <p:blipFill rotWithShape="1">
            <a:blip r:embed="rId4">
              <a:alphaModFix/>
            </a:blip>
            <a:srcRect b="43690" l="0" r="57905" t="0"/>
            <a:stretch/>
          </p:blipFill>
          <p:spPr>
            <a:xfrm>
              <a:off x="4795413" y="1818950"/>
              <a:ext cx="3488123" cy="1477062"/>
            </a:xfrm>
            <a:prstGeom prst="rect">
              <a:avLst/>
            </a:prstGeom>
            <a:noFill/>
            <a:ln>
              <a:noFill/>
            </a:ln>
          </p:spPr>
        </p:pic>
        <p:sp>
          <p:nvSpPr>
            <p:cNvPr id="1014" name="Google Shape;1014;p81"/>
            <p:cNvSpPr/>
            <p:nvPr/>
          </p:nvSpPr>
          <p:spPr>
            <a:xfrm flipH="1">
              <a:off x="4709438" y="1922650"/>
              <a:ext cx="3289500" cy="88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How many terms in a sequence do we need, to be able to work the rule out for sure?</a:t>
              </a:r>
              <a:endParaRPr sz="1800">
                <a:latin typeface="Lexend"/>
                <a:ea typeface="Lexend"/>
                <a:cs typeface="Lexend"/>
                <a:sym typeface="Lexend"/>
              </a:endParaRPr>
            </a:p>
          </p:txBody>
        </p:sp>
      </p:grpSp>
      <p:sp>
        <p:nvSpPr>
          <p:cNvPr id="1015" name="Google Shape;1015;p81"/>
          <p:cNvSpPr txBox="1"/>
          <p:nvPr>
            <p:ph idx="1" type="body"/>
          </p:nvPr>
        </p:nvSpPr>
        <p:spPr>
          <a:xfrm>
            <a:off x="4572000" y="2456400"/>
            <a:ext cx="3989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do you think?</a:t>
            </a:r>
            <a:endParaRPr sz="1800"/>
          </a:p>
        </p:txBody>
      </p:sp>
      <p:sp>
        <p:nvSpPr>
          <p:cNvPr id="1016" name="Google Shape;1016;p81"/>
          <p:cNvSpPr txBox="1"/>
          <p:nvPr>
            <p:ph idx="1" type="body"/>
          </p:nvPr>
        </p:nvSpPr>
        <p:spPr>
          <a:xfrm>
            <a:off x="4572000" y="3066000"/>
            <a:ext cx="3989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are going to explore this now.</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022" name="Google Shape;1022;p82"/>
          <p:cNvSpPr txBox="1"/>
          <p:nvPr>
            <p:ph idx="1" type="body"/>
          </p:nvPr>
        </p:nvSpPr>
        <p:spPr>
          <a:xfrm>
            <a:off x="4572000" y="913650"/>
            <a:ext cx="4248000" cy="1534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a:t>
            </a:r>
            <a:r>
              <a:rPr lang="en-GB" sz="1800"/>
              <a:t>ne term is not enough to determine a rule. We can apply any term-to-term rule to the number 6. </a:t>
            </a:r>
            <a:endParaRPr sz="1800"/>
          </a:p>
        </p:txBody>
      </p:sp>
      <p:grpSp>
        <p:nvGrpSpPr>
          <p:cNvPr id="1023" name="Google Shape;1023;p82"/>
          <p:cNvGrpSpPr/>
          <p:nvPr/>
        </p:nvGrpSpPr>
        <p:grpSpPr>
          <a:xfrm flipH="1">
            <a:off x="324002" y="872175"/>
            <a:ext cx="4247973" cy="2066960"/>
            <a:chOff x="5008875" y="1173050"/>
            <a:chExt cx="4247973" cy="2066960"/>
          </a:xfrm>
        </p:grpSpPr>
        <p:pic>
          <p:nvPicPr>
            <p:cNvPr id="1024" name="Google Shape;1024;p82"/>
            <p:cNvPicPr preferRelativeResize="0"/>
            <p:nvPr/>
          </p:nvPicPr>
          <p:blipFill rotWithShape="1">
            <a:blip r:embed="rId3">
              <a:alphaModFix/>
            </a:blip>
            <a:srcRect b="6172" l="40550" r="0" t="13240"/>
            <a:stretch/>
          </p:blipFill>
          <p:spPr>
            <a:xfrm flipH="1">
              <a:off x="5103575" y="1173050"/>
              <a:ext cx="3226476" cy="1501600"/>
            </a:xfrm>
            <a:prstGeom prst="rect">
              <a:avLst/>
            </a:prstGeom>
            <a:noFill/>
            <a:ln>
              <a:noFill/>
            </a:ln>
          </p:spPr>
        </p:pic>
        <p:sp>
          <p:nvSpPr>
            <p:cNvPr id="1025" name="Google Shape;1025;p82"/>
            <p:cNvSpPr txBox="1"/>
            <p:nvPr/>
          </p:nvSpPr>
          <p:spPr>
            <a:xfrm flipH="1">
              <a:off x="5008875" y="1291600"/>
              <a:ext cx="3066900" cy="111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I have found a sequence for us to try out. It starts with the number 6.</a:t>
              </a: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pic>
          <p:nvPicPr>
            <p:cNvPr id="1026" name="Google Shape;1026;p82"/>
            <p:cNvPicPr preferRelativeResize="0"/>
            <p:nvPr/>
          </p:nvPicPr>
          <p:blipFill>
            <a:blip r:embed="rId4">
              <a:alphaModFix/>
            </a:blip>
            <a:stretch>
              <a:fillRect/>
            </a:stretch>
          </p:blipFill>
          <p:spPr>
            <a:xfrm>
              <a:off x="8190043" y="2100560"/>
              <a:ext cx="552564" cy="712499"/>
            </a:xfrm>
            <a:prstGeom prst="rect">
              <a:avLst/>
            </a:prstGeom>
            <a:noFill/>
            <a:ln>
              <a:noFill/>
            </a:ln>
          </p:spPr>
        </p:pic>
        <p:sp>
          <p:nvSpPr>
            <p:cNvPr id="1027" name="Google Shape;1027;p82"/>
            <p:cNvSpPr txBox="1"/>
            <p:nvPr/>
          </p:nvSpPr>
          <p:spPr>
            <a:xfrm flipH="1">
              <a:off x="7599648" y="2654110"/>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grpSp>
      <p:grpSp>
        <p:nvGrpSpPr>
          <p:cNvPr id="1028" name="Google Shape;1028;p82"/>
          <p:cNvGrpSpPr/>
          <p:nvPr/>
        </p:nvGrpSpPr>
        <p:grpSpPr>
          <a:xfrm flipH="1" rot="10800000">
            <a:off x="1540226" y="2448451"/>
            <a:ext cx="2693949" cy="631924"/>
            <a:chOff x="1333526" y="929976"/>
            <a:chExt cx="2858301" cy="631924"/>
          </a:xfrm>
        </p:grpSpPr>
        <p:pic>
          <p:nvPicPr>
            <p:cNvPr id="1029" name="Google Shape;1029;p82"/>
            <p:cNvPicPr preferRelativeResize="0"/>
            <p:nvPr/>
          </p:nvPicPr>
          <p:blipFill rotWithShape="1">
            <a:blip r:embed="rId3">
              <a:alphaModFix/>
            </a:blip>
            <a:srcRect b="43690" l="0" r="57905" t="0"/>
            <a:stretch/>
          </p:blipFill>
          <p:spPr>
            <a:xfrm flipH="1">
              <a:off x="1333526" y="929976"/>
              <a:ext cx="2858301" cy="631924"/>
            </a:xfrm>
            <a:prstGeom prst="rect">
              <a:avLst/>
            </a:prstGeom>
            <a:noFill/>
            <a:ln>
              <a:noFill/>
            </a:ln>
          </p:spPr>
        </p:pic>
        <p:sp>
          <p:nvSpPr>
            <p:cNvPr id="1030" name="Google Shape;1030;p82"/>
            <p:cNvSpPr/>
            <p:nvPr/>
          </p:nvSpPr>
          <p:spPr>
            <a:xfrm flipH="1" rot="10800000">
              <a:off x="1577080" y="980151"/>
              <a:ext cx="2562900" cy="36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The second term is 7.</a:t>
              </a:r>
              <a:endParaRPr sz="1800">
                <a:latin typeface="Lexend"/>
                <a:ea typeface="Lexend"/>
                <a:cs typeface="Lexend"/>
                <a:sym typeface="Lexend"/>
              </a:endParaRPr>
            </a:p>
          </p:txBody>
        </p:sp>
      </p:grpSp>
      <p:sp>
        <p:nvSpPr>
          <p:cNvPr id="1031" name="Google Shape;1031;p82"/>
          <p:cNvSpPr txBox="1"/>
          <p:nvPr>
            <p:ph idx="1" type="body"/>
          </p:nvPr>
        </p:nvSpPr>
        <p:spPr>
          <a:xfrm>
            <a:off x="4572000" y="2571750"/>
            <a:ext cx="4248000" cy="45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we now determine a rule?</a:t>
            </a:r>
            <a:endParaRPr sz="1800"/>
          </a:p>
        </p:txBody>
      </p:sp>
      <p:sp>
        <p:nvSpPr>
          <p:cNvPr id="1032" name="Google Shape;1032;p82"/>
          <p:cNvSpPr txBox="1"/>
          <p:nvPr>
            <p:ph idx="1" type="body"/>
          </p:nvPr>
        </p:nvSpPr>
        <p:spPr>
          <a:xfrm>
            <a:off x="324025" y="3240000"/>
            <a:ext cx="8496000" cy="130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We can find rules that work for these two terms e.g. 6, 7, 8, 9, … common difference of 1. </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However there are still infinite number of rules that could work. We cannot be sure we know how to generate the next term from this information.</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038" name="Google Shape;1038;p83"/>
          <p:cNvSpPr txBox="1"/>
          <p:nvPr>
            <p:ph idx="1" type="body"/>
          </p:nvPr>
        </p:nvSpPr>
        <p:spPr>
          <a:xfrm>
            <a:off x="324000" y="810000"/>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third number in Andeeps sequence is 9. So his sequence so far is: </a:t>
            </a:r>
            <a:r>
              <a:rPr lang="en-GB" sz="1800"/>
              <a:t>6, 7, 9,..</a:t>
            </a:r>
            <a:endParaRPr sz="1800"/>
          </a:p>
        </p:txBody>
      </p:sp>
      <p:grpSp>
        <p:nvGrpSpPr>
          <p:cNvPr id="1039" name="Google Shape;1039;p83"/>
          <p:cNvGrpSpPr/>
          <p:nvPr/>
        </p:nvGrpSpPr>
        <p:grpSpPr>
          <a:xfrm flipH="1">
            <a:off x="324000" y="1253025"/>
            <a:ext cx="3356963" cy="1886602"/>
            <a:chOff x="5463025" y="1818950"/>
            <a:chExt cx="3356963" cy="1886602"/>
          </a:xfrm>
        </p:grpSpPr>
        <p:sp>
          <p:nvSpPr>
            <p:cNvPr id="1040" name="Google Shape;1040;p83"/>
            <p:cNvSpPr txBox="1"/>
            <p:nvPr/>
          </p:nvSpPr>
          <p:spPr>
            <a:xfrm flipH="1">
              <a:off x="8046288" y="3383652"/>
              <a:ext cx="773700" cy="321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 </a:t>
              </a:r>
              <a:endParaRPr sz="1800">
                <a:latin typeface="Lexend"/>
                <a:ea typeface="Lexend"/>
                <a:cs typeface="Lexend"/>
                <a:sym typeface="Lexend"/>
              </a:endParaRPr>
            </a:p>
          </p:txBody>
        </p:sp>
        <p:pic>
          <p:nvPicPr>
            <p:cNvPr id="1041" name="Google Shape;1041;p83"/>
            <p:cNvPicPr preferRelativeResize="0"/>
            <p:nvPr/>
          </p:nvPicPr>
          <p:blipFill>
            <a:blip r:embed="rId3">
              <a:alphaModFix/>
            </a:blip>
            <a:stretch>
              <a:fillRect/>
            </a:stretch>
          </p:blipFill>
          <p:spPr>
            <a:xfrm>
              <a:off x="8183231" y="2891255"/>
              <a:ext cx="443871" cy="492403"/>
            </a:xfrm>
            <a:prstGeom prst="rect">
              <a:avLst/>
            </a:prstGeom>
            <a:noFill/>
            <a:ln>
              <a:noFill/>
            </a:ln>
          </p:spPr>
        </p:pic>
        <p:pic>
          <p:nvPicPr>
            <p:cNvPr id="1042" name="Google Shape;1042;p83"/>
            <p:cNvPicPr preferRelativeResize="0"/>
            <p:nvPr/>
          </p:nvPicPr>
          <p:blipFill rotWithShape="1">
            <a:blip r:embed="rId4">
              <a:alphaModFix/>
            </a:blip>
            <a:srcRect b="43690" l="0" r="57905" t="0"/>
            <a:stretch/>
          </p:blipFill>
          <p:spPr>
            <a:xfrm>
              <a:off x="5463025" y="1818950"/>
              <a:ext cx="2820500" cy="1266301"/>
            </a:xfrm>
            <a:prstGeom prst="rect">
              <a:avLst/>
            </a:prstGeom>
            <a:noFill/>
            <a:ln>
              <a:noFill/>
            </a:ln>
          </p:spPr>
        </p:pic>
        <p:sp>
          <p:nvSpPr>
            <p:cNvPr id="1043" name="Google Shape;1043;p83"/>
            <p:cNvSpPr/>
            <p:nvPr/>
          </p:nvSpPr>
          <p:spPr>
            <a:xfrm flipH="1">
              <a:off x="5527413" y="1872600"/>
              <a:ext cx="2557500" cy="8853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This cannot be an arithmetic or geometric sequence</a:t>
              </a:r>
              <a:endParaRPr sz="1800">
                <a:latin typeface="Lexend"/>
                <a:ea typeface="Lexend"/>
                <a:cs typeface="Lexend"/>
                <a:sym typeface="Lexend"/>
              </a:endParaRPr>
            </a:p>
          </p:txBody>
        </p:sp>
      </p:grpSp>
      <p:grpSp>
        <p:nvGrpSpPr>
          <p:cNvPr id="1044" name="Google Shape;1044;p83"/>
          <p:cNvGrpSpPr/>
          <p:nvPr/>
        </p:nvGrpSpPr>
        <p:grpSpPr>
          <a:xfrm flipH="1">
            <a:off x="4441450" y="1161250"/>
            <a:ext cx="3123251" cy="1224025"/>
            <a:chOff x="1068575" y="745975"/>
            <a:chExt cx="3123251" cy="1224025"/>
          </a:xfrm>
        </p:grpSpPr>
        <p:pic>
          <p:nvPicPr>
            <p:cNvPr id="1045" name="Google Shape;1045;p83"/>
            <p:cNvPicPr preferRelativeResize="0"/>
            <p:nvPr/>
          </p:nvPicPr>
          <p:blipFill rotWithShape="1">
            <a:blip r:embed="rId4">
              <a:alphaModFix/>
            </a:blip>
            <a:srcRect b="43690" l="0" r="57905" t="0"/>
            <a:stretch/>
          </p:blipFill>
          <p:spPr>
            <a:xfrm flipH="1">
              <a:off x="1068575" y="745975"/>
              <a:ext cx="3123251" cy="1224025"/>
            </a:xfrm>
            <a:prstGeom prst="rect">
              <a:avLst/>
            </a:prstGeom>
            <a:noFill/>
            <a:ln>
              <a:noFill/>
            </a:ln>
          </p:spPr>
        </p:pic>
        <p:sp>
          <p:nvSpPr>
            <p:cNvPr id="1046" name="Google Shape;1046;p83"/>
            <p:cNvSpPr/>
            <p:nvPr/>
          </p:nvSpPr>
          <p:spPr>
            <a:xfrm>
              <a:off x="1301527" y="810000"/>
              <a:ext cx="2759700" cy="88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It’s a quadratic sequence, it adds 1, then 2 so next it will add 3</a:t>
              </a:r>
              <a:endParaRPr sz="1800">
                <a:latin typeface="Lexend"/>
                <a:ea typeface="Lexend"/>
                <a:cs typeface="Lexend"/>
                <a:sym typeface="Lexend"/>
              </a:endParaRPr>
            </a:p>
          </p:txBody>
        </p:sp>
      </p:grpSp>
      <p:sp>
        <p:nvSpPr>
          <p:cNvPr id="1047" name="Google Shape;1047;p83"/>
          <p:cNvSpPr txBox="1"/>
          <p:nvPr>
            <p:ph idx="1" type="body"/>
          </p:nvPr>
        </p:nvSpPr>
        <p:spPr>
          <a:xfrm>
            <a:off x="324000" y="3240000"/>
            <a:ext cx="8237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Do you agree with either statement?</a:t>
            </a:r>
            <a:endParaRPr sz="1800"/>
          </a:p>
        </p:txBody>
      </p:sp>
      <p:sp>
        <p:nvSpPr>
          <p:cNvPr id="1048" name="Google Shape;1048;p83"/>
          <p:cNvSpPr txBox="1"/>
          <p:nvPr>
            <p:ph idx="1" type="body"/>
          </p:nvPr>
        </p:nvSpPr>
        <p:spPr>
          <a:xfrm>
            <a:off x="324000" y="3657450"/>
            <a:ext cx="8496000" cy="116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Sofia is correct, there is no common difference or common ratio so these cannot be the first 3 terms in a linear or geometric sequence.</a:t>
            </a:r>
            <a:endParaRPr sz="2000">
              <a:latin typeface="Kalam"/>
              <a:ea typeface="Kalam"/>
              <a:cs typeface="Kalam"/>
              <a:sym typeface="Kalam"/>
            </a:endParaRPr>
          </a:p>
          <a:p>
            <a:pPr indent="0" lvl="0" marL="0" rtl="0" algn="l">
              <a:spcBef>
                <a:spcPts val="1000"/>
              </a:spcBef>
              <a:spcAft>
                <a:spcPts val="1000"/>
              </a:spcAft>
              <a:buNone/>
            </a:pPr>
            <a:r>
              <a:rPr lang="en-GB" sz="1900">
                <a:latin typeface="Kalam"/>
                <a:ea typeface="Kalam"/>
                <a:cs typeface="Kalam"/>
                <a:sym typeface="Kalam"/>
              </a:rPr>
              <a:t>It could be quadratic however we do not know that it is definitely quadratic.</a:t>
            </a:r>
            <a:endParaRPr sz="1900">
              <a:latin typeface="Kalam"/>
              <a:ea typeface="Kalam"/>
              <a:cs typeface="Kalam"/>
              <a:sym typeface="Kalam"/>
            </a:endParaRPr>
          </a:p>
        </p:txBody>
      </p:sp>
      <p:grpSp>
        <p:nvGrpSpPr>
          <p:cNvPr id="1049" name="Google Shape;1049;p83"/>
          <p:cNvGrpSpPr/>
          <p:nvPr/>
        </p:nvGrpSpPr>
        <p:grpSpPr>
          <a:xfrm flipH="1">
            <a:off x="7277300" y="2120850"/>
            <a:ext cx="885300" cy="901800"/>
            <a:chOff x="4225600" y="1620000"/>
            <a:chExt cx="885300" cy="901800"/>
          </a:xfrm>
        </p:grpSpPr>
        <p:pic>
          <p:nvPicPr>
            <p:cNvPr id="1050" name="Google Shape;1050;p83"/>
            <p:cNvPicPr preferRelativeResize="0"/>
            <p:nvPr/>
          </p:nvPicPr>
          <p:blipFill>
            <a:blip r:embed="rId5">
              <a:alphaModFix/>
            </a:blip>
            <a:stretch>
              <a:fillRect/>
            </a:stretch>
          </p:blipFill>
          <p:spPr>
            <a:xfrm flipH="1">
              <a:off x="4320001" y="1620000"/>
              <a:ext cx="531986" cy="613501"/>
            </a:xfrm>
            <a:prstGeom prst="rect">
              <a:avLst/>
            </a:prstGeom>
            <a:noFill/>
            <a:ln>
              <a:noFill/>
            </a:ln>
          </p:spPr>
        </p:pic>
        <p:sp>
          <p:nvSpPr>
            <p:cNvPr id="1051" name="Google Shape;1051;p83"/>
            <p:cNvSpPr txBox="1"/>
            <p:nvPr/>
          </p:nvSpPr>
          <p:spPr>
            <a:xfrm>
              <a:off x="4225600" y="22083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057" name="Google Shape;1057;p84"/>
          <p:cNvSpPr txBox="1"/>
          <p:nvPr>
            <p:ph idx="1" type="body"/>
          </p:nvPr>
        </p:nvSpPr>
        <p:spPr>
          <a:xfrm>
            <a:off x="324000" y="810000"/>
            <a:ext cx="8237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next term is 12 so Andeep’s sequence so far looks like</a:t>
            </a:r>
            <a:r>
              <a:rPr lang="en-GB" sz="1800"/>
              <a:t> 6, 7, 9, 12, …</a:t>
            </a:r>
            <a:endParaRPr sz="1800"/>
          </a:p>
        </p:txBody>
      </p:sp>
      <p:grpSp>
        <p:nvGrpSpPr>
          <p:cNvPr id="1058" name="Google Shape;1058;p84"/>
          <p:cNvGrpSpPr/>
          <p:nvPr/>
        </p:nvGrpSpPr>
        <p:grpSpPr>
          <a:xfrm>
            <a:off x="1275548" y="1297200"/>
            <a:ext cx="2858301" cy="946075"/>
            <a:chOff x="1333525" y="745975"/>
            <a:chExt cx="2858301" cy="946075"/>
          </a:xfrm>
        </p:grpSpPr>
        <p:pic>
          <p:nvPicPr>
            <p:cNvPr id="1059" name="Google Shape;1059;p84"/>
            <p:cNvPicPr preferRelativeResize="0"/>
            <p:nvPr/>
          </p:nvPicPr>
          <p:blipFill rotWithShape="1">
            <a:blip r:embed="rId3">
              <a:alphaModFix/>
            </a:blip>
            <a:srcRect b="43690" l="0" r="57905" t="0"/>
            <a:stretch/>
          </p:blipFill>
          <p:spPr>
            <a:xfrm flipH="1">
              <a:off x="1333525" y="745975"/>
              <a:ext cx="2858301" cy="815924"/>
            </a:xfrm>
            <a:prstGeom prst="rect">
              <a:avLst/>
            </a:prstGeom>
            <a:noFill/>
            <a:ln>
              <a:noFill/>
            </a:ln>
          </p:spPr>
        </p:pic>
        <p:sp>
          <p:nvSpPr>
            <p:cNvPr id="1060" name="Google Shape;1060;p84"/>
            <p:cNvSpPr/>
            <p:nvPr/>
          </p:nvSpPr>
          <p:spPr>
            <a:xfrm>
              <a:off x="1577077" y="802850"/>
              <a:ext cx="2562900" cy="88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It is quadratic then as 9 + 3 = 12 </a:t>
              </a:r>
              <a:endParaRPr sz="1800">
                <a:latin typeface="Lexend"/>
                <a:ea typeface="Lexend"/>
                <a:cs typeface="Lexend"/>
                <a:sym typeface="Lexend"/>
              </a:endParaRPr>
            </a:p>
          </p:txBody>
        </p:sp>
      </p:grpSp>
      <p:sp>
        <p:nvSpPr>
          <p:cNvPr id="1061" name="Google Shape;1061;p84"/>
          <p:cNvSpPr txBox="1"/>
          <p:nvPr>
            <p:ph idx="1" type="body"/>
          </p:nvPr>
        </p:nvSpPr>
        <p:spPr>
          <a:xfrm>
            <a:off x="324000" y="2960600"/>
            <a:ext cx="8237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rule so far has worked on all terms. Is that enough to say for sure what the rule is?  </a:t>
            </a:r>
            <a:endParaRPr sz="1800"/>
          </a:p>
        </p:txBody>
      </p:sp>
      <p:sp>
        <p:nvSpPr>
          <p:cNvPr id="1062" name="Google Shape;1062;p84"/>
          <p:cNvSpPr txBox="1"/>
          <p:nvPr>
            <p:ph idx="1" type="body"/>
          </p:nvPr>
        </p:nvSpPr>
        <p:spPr>
          <a:xfrm>
            <a:off x="324000" y="3657450"/>
            <a:ext cx="8496000" cy="11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No, there is still no </a:t>
            </a:r>
            <a:r>
              <a:rPr lang="en-GB" sz="2000">
                <a:latin typeface="Kalam"/>
                <a:ea typeface="Kalam"/>
                <a:cs typeface="Kalam"/>
                <a:sym typeface="Kalam"/>
              </a:rPr>
              <a:t>guarantee</a:t>
            </a:r>
            <a:r>
              <a:rPr lang="en-GB" sz="2000">
                <a:latin typeface="Kalam"/>
                <a:ea typeface="Kalam"/>
                <a:cs typeface="Kalam"/>
                <a:sym typeface="Kalam"/>
              </a:rPr>
              <a:t> that Alex’ rule will continue working. In fact without knowing a rule we cannot assume we know how a sequence will continue even if we are given lots of terms. </a:t>
            </a:r>
            <a:endParaRPr sz="2000">
              <a:latin typeface="Kalam"/>
              <a:ea typeface="Kalam"/>
              <a:cs typeface="Kalam"/>
              <a:sym typeface="Kalam"/>
            </a:endParaRPr>
          </a:p>
        </p:txBody>
      </p:sp>
      <p:grpSp>
        <p:nvGrpSpPr>
          <p:cNvPr id="1063" name="Google Shape;1063;p84"/>
          <p:cNvGrpSpPr/>
          <p:nvPr/>
        </p:nvGrpSpPr>
        <p:grpSpPr>
          <a:xfrm>
            <a:off x="522000" y="1849150"/>
            <a:ext cx="885300" cy="901800"/>
            <a:chOff x="4225600" y="1620000"/>
            <a:chExt cx="885300" cy="901800"/>
          </a:xfrm>
        </p:grpSpPr>
        <p:pic>
          <p:nvPicPr>
            <p:cNvPr id="1064" name="Google Shape;1064;p84"/>
            <p:cNvPicPr preferRelativeResize="0"/>
            <p:nvPr/>
          </p:nvPicPr>
          <p:blipFill>
            <a:blip r:embed="rId4">
              <a:alphaModFix/>
            </a:blip>
            <a:stretch>
              <a:fillRect/>
            </a:stretch>
          </p:blipFill>
          <p:spPr>
            <a:xfrm flipH="1">
              <a:off x="4320001" y="1620000"/>
              <a:ext cx="531986" cy="613501"/>
            </a:xfrm>
            <a:prstGeom prst="rect">
              <a:avLst/>
            </a:prstGeom>
            <a:noFill/>
            <a:ln>
              <a:noFill/>
            </a:ln>
          </p:spPr>
        </p:pic>
        <p:sp>
          <p:nvSpPr>
            <p:cNvPr id="1065" name="Google Shape;1065;p84"/>
            <p:cNvSpPr txBox="1"/>
            <p:nvPr/>
          </p:nvSpPr>
          <p:spPr>
            <a:xfrm>
              <a:off x="4225600" y="22083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grpSp>
        <p:nvGrpSpPr>
          <p:cNvPr id="1071" name="Google Shape;1071;p85"/>
          <p:cNvGrpSpPr/>
          <p:nvPr/>
        </p:nvGrpSpPr>
        <p:grpSpPr>
          <a:xfrm flipH="1">
            <a:off x="324002" y="872175"/>
            <a:ext cx="5034298" cy="2066960"/>
            <a:chOff x="4222550" y="1173050"/>
            <a:chExt cx="5034298" cy="2066960"/>
          </a:xfrm>
        </p:grpSpPr>
        <p:pic>
          <p:nvPicPr>
            <p:cNvPr id="1072" name="Google Shape;1072;p85"/>
            <p:cNvPicPr preferRelativeResize="0"/>
            <p:nvPr/>
          </p:nvPicPr>
          <p:blipFill rotWithShape="1">
            <a:blip r:embed="rId3">
              <a:alphaModFix/>
            </a:blip>
            <a:srcRect b="6172" l="40550" r="0" t="13240"/>
            <a:stretch/>
          </p:blipFill>
          <p:spPr>
            <a:xfrm flipH="1">
              <a:off x="4222576" y="1173050"/>
              <a:ext cx="4107474" cy="1577801"/>
            </a:xfrm>
            <a:prstGeom prst="rect">
              <a:avLst/>
            </a:prstGeom>
            <a:noFill/>
            <a:ln>
              <a:noFill/>
            </a:ln>
          </p:spPr>
        </p:pic>
        <p:sp>
          <p:nvSpPr>
            <p:cNvPr id="1073" name="Google Shape;1073;p85"/>
            <p:cNvSpPr txBox="1"/>
            <p:nvPr/>
          </p:nvSpPr>
          <p:spPr>
            <a:xfrm flipH="1">
              <a:off x="4222550" y="1291600"/>
              <a:ext cx="3823200" cy="111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These terms are actually the average day time temperatures in my home town for each month of the year.</a:t>
              </a:r>
              <a:r>
                <a:rPr lang="en-GB" sz="1800">
                  <a:latin typeface="Lexend"/>
                  <a:ea typeface="Lexend"/>
                  <a:cs typeface="Lexend"/>
                  <a:sym typeface="Lexend"/>
                </a:rPr>
                <a:t> (In </a:t>
              </a:r>
              <a:r>
                <a:rPr lang="en-GB" sz="1900">
                  <a:solidFill>
                    <a:srgbClr val="222222"/>
                  </a:solidFill>
                  <a:latin typeface="Times New Roman"/>
                  <a:ea typeface="Times New Roman"/>
                  <a:cs typeface="Times New Roman"/>
                  <a:sym typeface="Times New Roman"/>
                </a:rPr>
                <a:t>°C)</a:t>
              </a:r>
              <a:endParaRPr sz="1800">
                <a:solidFill>
                  <a:srgbClr val="000000"/>
                </a:solidFill>
                <a:latin typeface="Lexend"/>
                <a:ea typeface="Lexend"/>
                <a:cs typeface="Lexend"/>
                <a:sym typeface="Lexend"/>
              </a:endParaRPr>
            </a:p>
          </p:txBody>
        </p:sp>
        <p:pic>
          <p:nvPicPr>
            <p:cNvPr id="1074" name="Google Shape;1074;p85"/>
            <p:cNvPicPr preferRelativeResize="0"/>
            <p:nvPr/>
          </p:nvPicPr>
          <p:blipFill>
            <a:blip r:embed="rId4">
              <a:alphaModFix/>
            </a:blip>
            <a:stretch>
              <a:fillRect/>
            </a:stretch>
          </p:blipFill>
          <p:spPr>
            <a:xfrm>
              <a:off x="8190043" y="2100560"/>
              <a:ext cx="552564" cy="712499"/>
            </a:xfrm>
            <a:prstGeom prst="rect">
              <a:avLst/>
            </a:prstGeom>
            <a:noFill/>
            <a:ln>
              <a:noFill/>
            </a:ln>
          </p:spPr>
        </p:pic>
        <p:sp>
          <p:nvSpPr>
            <p:cNvPr id="1075" name="Google Shape;1075;p85"/>
            <p:cNvSpPr txBox="1"/>
            <p:nvPr/>
          </p:nvSpPr>
          <p:spPr>
            <a:xfrm flipH="1">
              <a:off x="7599648" y="2654110"/>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b="1" sz="1800">
                <a:latin typeface="Lexend"/>
                <a:ea typeface="Lexend"/>
                <a:cs typeface="Lexend"/>
                <a:sym typeface="Lexend"/>
              </a:endParaRPr>
            </a:p>
          </p:txBody>
        </p:sp>
      </p:grpSp>
      <p:sp>
        <p:nvSpPr>
          <p:cNvPr id="1076" name="Google Shape;1076;p85"/>
          <p:cNvSpPr txBox="1"/>
          <p:nvPr>
            <p:ph idx="1" type="body"/>
          </p:nvPr>
        </p:nvSpPr>
        <p:spPr>
          <a:xfrm>
            <a:off x="324000" y="3089550"/>
            <a:ext cx="5786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Plotting them on a graph may help us see a trend.</a:t>
            </a:r>
            <a:endParaRPr sz="1800"/>
          </a:p>
        </p:txBody>
      </p:sp>
      <p:sp>
        <p:nvSpPr>
          <p:cNvPr id="1077" name="Google Shape;1077;p85"/>
          <p:cNvSpPr txBox="1"/>
          <p:nvPr>
            <p:ph idx="1" type="body"/>
          </p:nvPr>
        </p:nvSpPr>
        <p:spPr>
          <a:xfrm>
            <a:off x="324000" y="3622950"/>
            <a:ext cx="5786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the first term represents the average daytime temperature in January, what do you thing the 5</a:t>
            </a:r>
            <a:r>
              <a:rPr baseline="30000" lang="en-GB" sz="1800"/>
              <a:t>th</a:t>
            </a:r>
            <a:r>
              <a:rPr lang="en-GB" sz="1800"/>
              <a:t> term will be? </a:t>
            </a:r>
            <a:endParaRPr sz="1800"/>
          </a:p>
        </p:txBody>
      </p:sp>
      <p:pic>
        <p:nvPicPr>
          <p:cNvPr id="1078" name="Google Shape;1078;p85"/>
          <p:cNvPicPr preferRelativeResize="0"/>
          <p:nvPr/>
        </p:nvPicPr>
        <p:blipFill>
          <a:blip r:embed="rId5">
            <a:alphaModFix/>
          </a:blip>
          <a:stretch>
            <a:fillRect/>
          </a:stretch>
        </p:blipFill>
        <p:spPr>
          <a:xfrm>
            <a:off x="6178625" y="702525"/>
            <a:ext cx="2609125" cy="4071950"/>
          </a:xfrm>
          <a:prstGeom prst="rect">
            <a:avLst/>
          </a:prstGeom>
          <a:noFill/>
          <a:ln cap="flat" cmpd="sng" w="19050">
            <a:solidFill>
              <a:schemeClr val="dk1"/>
            </a:solidFill>
            <a:prstDash val="solid"/>
            <a:round/>
            <a:headEnd len="sm" w="sm" type="none"/>
            <a:tailEnd len="sm" w="sm" type="none"/>
          </a:ln>
        </p:spPr>
      </p:pic>
      <p:grpSp>
        <p:nvGrpSpPr>
          <p:cNvPr id="1079" name="Google Shape;1079;p85"/>
          <p:cNvGrpSpPr/>
          <p:nvPr/>
        </p:nvGrpSpPr>
        <p:grpSpPr>
          <a:xfrm>
            <a:off x="5917175" y="1056750"/>
            <a:ext cx="2902800" cy="3763650"/>
            <a:chOff x="5917175" y="1056750"/>
            <a:chExt cx="2902800" cy="3763650"/>
          </a:xfrm>
        </p:grpSpPr>
        <p:sp>
          <p:nvSpPr>
            <p:cNvPr id="1080" name="Google Shape;1080;p85"/>
            <p:cNvSpPr txBox="1"/>
            <p:nvPr/>
          </p:nvSpPr>
          <p:spPr>
            <a:xfrm>
              <a:off x="5917175" y="4619700"/>
              <a:ext cx="2902800" cy="2007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Months of the year (Jan-Dec)</a:t>
              </a:r>
              <a:endParaRPr sz="1600">
                <a:solidFill>
                  <a:schemeClr val="dk1"/>
                </a:solidFill>
                <a:latin typeface="Lexend"/>
                <a:ea typeface="Lexend"/>
                <a:cs typeface="Lexend"/>
                <a:sym typeface="Lexend"/>
              </a:endParaRPr>
            </a:p>
          </p:txBody>
        </p:sp>
        <p:sp>
          <p:nvSpPr>
            <p:cNvPr id="1081" name="Google Shape;1081;p85"/>
            <p:cNvSpPr txBox="1"/>
            <p:nvPr/>
          </p:nvSpPr>
          <p:spPr>
            <a:xfrm rot="-5400000">
              <a:off x="5140050" y="1972800"/>
              <a:ext cx="2032800" cy="2007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Temperature in </a:t>
              </a:r>
              <a:r>
                <a:rPr lang="en-GB" sz="1900">
                  <a:solidFill>
                    <a:srgbClr val="222222"/>
                  </a:solidFill>
                  <a:latin typeface="Times New Roman"/>
                  <a:ea typeface="Times New Roman"/>
                  <a:cs typeface="Times New Roman"/>
                  <a:sym typeface="Times New Roman"/>
                </a:rPr>
                <a:t>°C</a:t>
              </a:r>
              <a:r>
                <a:rPr lang="en-GB" sz="1600">
                  <a:solidFill>
                    <a:schemeClr val="dk1"/>
                  </a:solidFill>
                  <a:latin typeface="Lexend"/>
                  <a:ea typeface="Lexend"/>
                  <a:cs typeface="Lexend"/>
                  <a:sym typeface="Lexend"/>
                </a:rPr>
                <a:t> </a:t>
              </a:r>
              <a:endParaRPr sz="16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087" name="Google Shape;1087;p86"/>
          <p:cNvSpPr txBox="1"/>
          <p:nvPr>
            <p:ph idx="1" type="body"/>
          </p:nvPr>
        </p:nvSpPr>
        <p:spPr>
          <a:xfrm>
            <a:off x="324000" y="810000"/>
            <a:ext cx="5786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can see there is a general trend in the values. The temperatures are increasing. The rate at which they are increasing is growing. Do you think this will continue? </a:t>
            </a:r>
            <a:r>
              <a:rPr lang="en-GB" sz="1800"/>
              <a:t> </a:t>
            </a:r>
            <a:endParaRPr sz="1800"/>
          </a:p>
        </p:txBody>
      </p:sp>
      <p:pic>
        <p:nvPicPr>
          <p:cNvPr id="1088" name="Google Shape;1088;p86"/>
          <p:cNvPicPr preferRelativeResize="0"/>
          <p:nvPr/>
        </p:nvPicPr>
        <p:blipFill>
          <a:blip r:embed="rId3">
            <a:alphaModFix/>
          </a:blip>
          <a:stretch>
            <a:fillRect/>
          </a:stretch>
        </p:blipFill>
        <p:spPr>
          <a:xfrm>
            <a:off x="6210875" y="761725"/>
            <a:ext cx="2609125" cy="4071950"/>
          </a:xfrm>
          <a:prstGeom prst="rect">
            <a:avLst/>
          </a:prstGeom>
          <a:noFill/>
          <a:ln cap="flat" cmpd="sng" w="19050">
            <a:solidFill>
              <a:schemeClr val="dk1"/>
            </a:solidFill>
            <a:prstDash val="solid"/>
            <a:round/>
            <a:headEnd len="sm" w="sm" type="none"/>
            <a:tailEnd len="sm" w="sm" type="none"/>
          </a:ln>
        </p:spPr>
      </p:pic>
      <p:sp>
        <p:nvSpPr>
          <p:cNvPr id="1089" name="Google Shape;1089;p86"/>
          <p:cNvSpPr txBox="1"/>
          <p:nvPr>
            <p:ph idx="1" type="body"/>
          </p:nvPr>
        </p:nvSpPr>
        <p:spPr>
          <a:xfrm>
            <a:off x="324000" y="2181600"/>
            <a:ext cx="5786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next month is May, so the temperature would be expected to increase again.</a:t>
            </a:r>
            <a:r>
              <a:rPr lang="en-GB" sz="1800"/>
              <a:t>  </a:t>
            </a:r>
            <a:endParaRPr sz="1800"/>
          </a:p>
        </p:txBody>
      </p:sp>
      <p:pic>
        <p:nvPicPr>
          <p:cNvPr id="1090" name="Google Shape;1090;p86"/>
          <p:cNvPicPr preferRelativeResize="0"/>
          <p:nvPr/>
        </p:nvPicPr>
        <p:blipFill>
          <a:blip r:embed="rId4">
            <a:alphaModFix/>
          </a:blip>
          <a:stretch>
            <a:fillRect/>
          </a:stretch>
        </p:blipFill>
        <p:spPr>
          <a:xfrm>
            <a:off x="6142218" y="761725"/>
            <a:ext cx="2677782" cy="4071950"/>
          </a:xfrm>
          <a:prstGeom prst="rect">
            <a:avLst/>
          </a:prstGeom>
          <a:noFill/>
          <a:ln cap="flat" cmpd="sng" w="19050">
            <a:solidFill>
              <a:schemeClr val="dk1"/>
            </a:solidFill>
            <a:prstDash val="solid"/>
            <a:round/>
            <a:headEnd len="sm" w="sm" type="none"/>
            <a:tailEnd len="sm" w="sm" type="none"/>
          </a:ln>
        </p:spPr>
      </p:pic>
      <p:sp>
        <p:nvSpPr>
          <p:cNvPr id="1091" name="Google Shape;1091;p86"/>
          <p:cNvSpPr txBox="1"/>
          <p:nvPr>
            <p:ph idx="1" type="body"/>
          </p:nvPr>
        </p:nvSpPr>
        <p:spPr>
          <a:xfrm>
            <a:off x="324000" y="3019800"/>
            <a:ext cx="57867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In fact the average temperature in May was </a:t>
            </a:r>
            <a:r>
              <a:rPr lang="en-GB" sz="2000">
                <a:latin typeface="Times"/>
                <a:ea typeface="Times"/>
                <a:cs typeface="Times"/>
                <a:sym typeface="Times"/>
              </a:rPr>
              <a:t>16</a:t>
            </a:r>
            <a:r>
              <a:rPr lang="en-GB" sz="2000">
                <a:solidFill>
                  <a:srgbClr val="222222"/>
                </a:solidFill>
                <a:latin typeface="Times"/>
                <a:ea typeface="Times"/>
                <a:cs typeface="Times"/>
                <a:sym typeface="Times"/>
              </a:rPr>
              <a:t>°C</a:t>
            </a:r>
            <a:r>
              <a:rPr lang="en-GB" sz="1800"/>
              <a:t>  </a:t>
            </a:r>
            <a:endParaRPr sz="1800"/>
          </a:p>
        </p:txBody>
      </p:sp>
      <p:grpSp>
        <p:nvGrpSpPr>
          <p:cNvPr id="1092" name="Google Shape;1092;p86"/>
          <p:cNvGrpSpPr/>
          <p:nvPr/>
        </p:nvGrpSpPr>
        <p:grpSpPr>
          <a:xfrm>
            <a:off x="1275548" y="3474955"/>
            <a:ext cx="2858301" cy="946075"/>
            <a:chOff x="1333525" y="853430"/>
            <a:chExt cx="2858301" cy="946075"/>
          </a:xfrm>
        </p:grpSpPr>
        <p:pic>
          <p:nvPicPr>
            <p:cNvPr id="1093" name="Google Shape;1093;p86"/>
            <p:cNvPicPr preferRelativeResize="0"/>
            <p:nvPr/>
          </p:nvPicPr>
          <p:blipFill rotWithShape="1">
            <a:blip r:embed="rId5">
              <a:alphaModFix/>
            </a:blip>
            <a:srcRect b="43690" l="0" r="57905" t="0"/>
            <a:stretch/>
          </p:blipFill>
          <p:spPr>
            <a:xfrm flipH="1">
              <a:off x="1333525" y="853430"/>
              <a:ext cx="2858301" cy="815924"/>
            </a:xfrm>
            <a:prstGeom prst="rect">
              <a:avLst/>
            </a:prstGeom>
            <a:noFill/>
            <a:ln>
              <a:noFill/>
            </a:ln>
          </p:spPr>
        </p:pic>
        <p:sp>
          <p:nvSpPr>
            <p:cNvPr id="1094" name="Google Shape;1094;p86"/>
            <p:cNvSpPr/>
            <p:nvPr/>
          </p:nvSpPr>
          <p:spPr>
            <a:xfrm>
              <a:off x="1577077" y="910305"/>
              <a:ext cx="2562900" cy="88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This is still following my rule 12 + 4 = 16</a:t>
              </a:r>
              <a:r>
                <a:rPr lang="en-GB" sz="1800">
                  <a:latin typeface="Lexend"/>
                  <a:ea typeface="Lexend"/>
                  <a:cs typeface="Lexend"/>
                  <a:sym typeface="Lexend"/>
                </a:rPr>
                <a:t> </a:t>
              </a:r>
              <a:endParaRPr sz="1800">
                <a:latin typeface="Lexend"/>
                <a:ea typeface="Lexend"/>
                <a:cs typeface="Lexend"/>
                <a:sym typeface="Lexend"/>
              </a:endParaRPr>
            </a:p>
          </p:txBody>
        </p:sp>
      </p:grpSp>
      <p:grpSp>
        <p:nvGrpSpPr>
          <p:cNvPr id="1095" name="Google Shape;1095;p86"/>
          <p:cNvGrpSpPr/>
          <p:nvPr/>
        </p:nvGrpSpPr>
        <p:grpSpPr>
          <a:xfrm>
            <a:off x="479000" y="3858000"/>
            <a:ext cx="885300" cy="901800"/>
            <a:chOff x="4225600" y="1620000"/>
            <a:chExt cx="885300" cy="901800"/>
          </a:xfrm>
        </p:grpSpPr>
        <p:pic>
          <p:nvPicPr>
            <p:cNvPr id="1096" name="Google Shape;1096;p86"/>
            <p:cNvPicPr preferRelativeResize="0"/>
            <p:nvPr/>
          </p:nvPicPr>
          <p:blipFill>
            <a:blip r:embed="rId6">
              <a:alphaModFix/>
            </a:blip>
            <a:stretch>
              <a:fillRect/>
            </a:stretch>
          </p:blipFill>
          <p:spPr>
            <a:xfrm flipH="1">
              <a:off x="4320001" y="1620000"/>
              <a:ext cx="531986" cy="613501"/>
            </a:xfrm>
            <a:prstGeom prst="rect">
              <a:avLst/>
            </a:prstGeom>
            <a:noFill/>
            <a:ln>
              <a:noFill/>
            </a:ln>
          </p:spPr>
        </p:pic>
        <p:sp>
          <p:nvSpPr>
            <p:cNvPr id="1097" name="Google Shape;1097;p86"/>
            <p:cNvSpPr txBox="1"/>
            <p:nvPr/>
          </p:nvSpPr>
          <p:spPr>
            <a:xfrm>
              <a:off x="4225600" y="22083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87"/>
          <p:cNvSpPr txBox="1"/>
          <p:nvPr>
            <p:ph idx="1" type="body"/>
          </p:nvPr>
        </p:nvSpPr>
        <p:spPr>
          <a:xfrm>
            <a:off x="324000" y="759300"/>
            <a:ext cx="8496000" cy="248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This can be the case with more mathematical sequences too.</a:t>
            </a:r>
            <a:endParaRPr sz="1800"/>
          </a:p>
          <a:p>
            <a:pPr indent="0" lvl="0" marL="0" rtl="0" algn="l">
              <a:spcBef>
                <a:spcPts val="1000"/>
              </a:spcBef>
              <a:spcAft>
                <a:spcPts val="0"/>
              </a:spcAft>
              <a:buNone/>
            </a:pPr>
            <a:r>
              <a:rPr lang="en-GB" sz="1800"/>
              <a:t>For example the prime numbers greater than 2 start with </a:t>
            </a:r>
            <a:endParaRPr sz="1800"/>
          </a:p>
          <a:p>
            <a:pPr indent="0" lvl="0" marL="0" rtl="0" algn="l">
              <a:spcBef>
                <a:spcPts val="1000"/>
              </a:spcBef>
              <a:spcAft>
                <a:spcPts val="0"/>
              </a:spcAft>
              <a:buNone/>
            </a:pPr>
            <a:r>
              <a:rPr lang="en-GB" sz="1800"/>
              <a:t>3, 5, 7,...</a:t>
            </a:r>
            <a:endParaRPr sz="1800"/>
          </a:p>
          <a:p>
            <a:pPr indent="0" lvl="0" marL="0" rtl="0" algn="l">
              <a:spcBef>
                <a:spcPts val="1000"/>
              </a:spcBef>
              <a:spcAft>
                <a:spcPts val="0"/>
              </a:spcAft>
              <a:buNone/>
            </a:pPr>
            <a:r>
              <a:rPr lang="en-GB" sz="1800"/>
              <a:t>This looks to be an arithmetic sequence with common difference 2</a:t>
            </a:r>
            <a:endParaRPr sz="1800"/>
          </a:p>
          <a:p>
            <a:pPr indent="0" lvl="0" marL="0" rtl="0" algn="l">
              <a:spcBef>
                <a:spcPts val="1000"/>
              </a:spcBef>
              <a:spcAft>
                <a:spcPts val="0"/>
              </a:spcAft>
              <a:buNone/>
            </a:pPr>
            <a:r>
              <a:rPr lang="en-GB" sz="1800"/>
              <a:t>However the next five terms are</a:t>
            </a:r>
            <a:endParaRPr sz="1800"/>
          </a:p>
          <a:p>
            <a:pPr indent="0" lvl="0" marL="0" rtl="0" algn="l">
              <a:spcBef>
                <a:spcPts val="1000"/>
              </a:spcBef>
              <a:spcAft>
                <a:spcPts val="1000"/>
              </a:spcAft>
              <a:buNone/>
            </a:pPr>
            <a:r>
              <a:rPr lang="en-GB" sz="1800"/>
              <a:t>3,  5,  7,  11,  13,  17,  19,  23, ….</a:t>
            </a:r>
            <a:endParaRPr sz="1800"/>
          </a:p>
        </p:txBody>
      </p:sp>
      <p:sp>
        <p:nvSpPr>
          <p:cNvPr id="1103" name="Google Shape;1103;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grpSp>
        <p:nvGrpSpPr>
          <p:cNvPr id="1104" name="Google Shape;1104;p87"/>
          <p:cNvGrpSpPr/>
          <p:nvPr/>
        </p:nvGrpSpPr>
        <p:grpSpPr>
          <a:xfrm>
            <a:off x="610550" y="3198150"/>
            <a:ext cx="2498475" cy="430549"/>
            <a:chOff x="610550" y="3198150"/>
            <a:chExt cx="2498475" cy="430549"/>
          </a:xfrm>
        </p:grpSpPr>
        <p:pic>
          <p:nvPicPr>
            <p:cNvPr id="1105" name="Google Shape;1105;p87"/>
            <p:cNvPicPr preferRelativeResize="0"/>
            <p:nvPr/>
          </p:nvPicPr>
          <p:blipFill rotWithShape="1">
            <a:blip r:embed="rId3">
              <a:alphaModFix/>
            </a:blip>
            <a:srcRect b="59597" l="61559" r="13951" t="27330"/>
            <a:stretch/>
          </p:blipFill>
          <p:spPr>
            <a:xfrm flipH="1" rot="10800000">
              <a:off x="610550" y="3198150"/>
              <a:ext cx="446528" cy="258649"/>
            </a:xfrm>
            <a:prstGeom prst="rect">
              <a:avLst/>
            </a:prstGeom>
            <a:noFill/>
            <a:ln>
              <a:noFill/>
            </a:ln>
          </p:spPr>
        </p:pic>
        <p:pic>
          <p:nvPicPr>
            <p:cNvPr id="1106" name="Google Shape;1106;p87"/>
            <p:cNvPicPr preferRelativeResize="0"/>
            <p:nvPr/>
          </p:nvPicPr>
          <p:blipFill rotWithShape="1">
            <a:blip r:embed="rId3">
              <a:alphaModFix/>
            </a:blip>
            <a:srcRect b="59597" l="61559" r="13951" t="27330"/>
            <a:stretch/>
          </p:blipFill>
          <p:spPr>
            <a:xfrm flipH="1" rot="10800000">
              <a:off x="991656" y="3198150"/>
              <a:ext cx="458684" cy="258649"/>
            </a:xfrm>
            <a:prstGeom prst="rect">
              <a:avLst/>
            </a:prstGeom>
            <a:noFill/>
            <a:ln>
              <a:noFill/>
            </a:ln>
          </p:spPr>
        </p:pic>
        <p:pic>
          <p:nvPicPr>
            <p:cNvPr id="1107" name="Google Shape;1107;p87"/>
            <p:cNvPicPr preferRelativeResize="0"/>
            <p:nvPr/>
          </p:nvPicPr>
          <p:blipFill rotWithShape="1">
            <a:blip r:embed="rId3">
              <a:alphaModFix/>
            </a:blip>
            <a:srcRect b="59597" l="61559" r="13951" t="27330"/>
            <a:stretch/>
          </p:blipFill>
          <p:spPr>
            <a:xfrm flipH="1" rot="10800000">
              <a:off x="1384918" y="3198150"/>
              <a:ext cx="464152" cy="258649"/>
            </a:xfrm>
            <a:prstGeom prst="rect">
              <a:avLst/>
            </a:prstGeom>
            <a:noFill/>
            <a:ln>
              <a:noFill/>
            </a:ln>
          </p:spPr>
        </p:pic>
        <p:pic>
          <p:nvPicPr>
            <p:cNvPr id="1108" name="Google Shape;1108;p87"/>
            <p:cNvPicPr preferRelativeResize="0"/>
            <p:nvPr/>
          </p:nvPicPr>
          <p:blipFill rotWithShape="1">
            <a:blip r:embed="rId3">
              <a:alphaModFix/>
            </a:blip>
            <a:srcRect b="59597" l="61559" r="13951" t="27330"/>
            <a:stretch/>
          </p:blipFill>
          <p:spPr>
            <a:xfrm flipH="1" rot="10800000">
              <a:off x="1783648" y="3198150"/>
              <a:ext cx="509780" cy="258649"/>
            </a:xfrm>
            <a:prstGeom prst="rect">
              <a:avLst/>
            </a:prstGeom>
            <a:noFill/>
            <a:ln>
              <a:noFill/>
            </a:ln>
          </p:spPr>
        </p:pic>
        <p:pic>
          <p:nvPicPr>
            <p:cNvPr id="1109" name="Google Shape;1109;p87"/>
            <p:cNvPicPr preferRelativeResize="0"/>
            <p:nvPr/>
          </p:nvPicPr>
          <p:blipFill rotWithShape="1">
            <a:blip r:embed="rId3">
              <a:alphaModFix/>
            </a:blip>
            <a:srcRect b="59597" l="61559" r="13951" t="27330"/>
            <a:stretch/>
          </p:blipFill>
          <p:spPr>
            <a:xfrm flipH="1" rot="10800000">
              <a:off x="2228007" y="3198150"/>
              <a:ext cx="473220" cy="258649"/>
            </a:xfrm>
            <a:prstGeom prst="rect">
              <a:avLst/>
            </a:prstGeom>
            <a:noFill/>
            <a:ln>
              <a:noFill/>
            </a:ln>
          </p:spPr>
        </p:pic>
        <p:sp>
          <p:nvSpPr>
            <p:cNvPr id="1110" name="Google Shape;1110;p87"/>
            <p:cNvSpPr/>
            <p:nvPr/>
          </p:nvSpPr>
          <p:spPr>
            <a:xfrm>
              <a:off x="695377" y="3456800"/>
              <a:ext cx="317400" cy="17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p:txBody>
        </p:sp>
        <p:sp>
          <p:nvSpPr>
            <p:cNvPr id="1111" name="Google Shape;1111;p87"/>
            <p:cNvSpPr/>
            <p:nvPr/>
          </p:nvSpPr>
          <p:spPr>
            <a:xfrm>
              <a:off x="1094355" y="3456800"/>
              <a:ext cx="317400" cy="17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p:txBody>
        </p:sp>
        <p:sp>
          <p:nvSpPr>
            <p:cNvPr id="1112" name="Google Shape;1112;p87"/>
            <p:cNvSpPr/>
            <p:nvPr/>
          </p:nvSpPr>
          <p:spPr>
            <a:xfrm>
              <a:off x="1493334" y="3456800"/>
              <a:ext cx="317400" cy="17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p:txBody>
        </p:sp>
        <p:sp>
          <p:nvSpPr>
            <p:cNvPr id="1113" name="Google Shape;1113;p87"/>
            <p:cNvSpPr/>
            <p:nvPr/>
          </p:nvSpPr>
          <p:spPr>
            <a:xfrm>
              <a:off x="1892312" y="3456800"/>
              <a:ext cx="317400" cy="17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p:txBody>
        </p:sp>
        <p:sp>
          <p:nvSpPr>
            <p:cNvPr id="1114" name="Google Shape;1114;p87"/>
            <p:cNvSpPr/>
            <p:nvPr/>
          </p:nvSpPr>
          <p:spPr>
            <a:xfrm>
              <a:off x="2291290" y="3456800"/>
              <a:ext cx="317400" cy="17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p:txBody>
        </p:sp>
        <p:pic>
          <p:nvPicPr>
            <p:cNvPr id="1115" name="Google Shape;1115;p87"/>
            <p:cNvPicPr preferRelativeResize="0"/>
            <p:nvPr/>
          </p:nvPicPr>
          <p:blipFill rotWithShape="1">
            <a:blip r:embed="rId3">
              <a:alphaModFix/>
            </a:blip>
            <a:srcRect b="59597" l="61559" r="13951" t="27330"/>
            <a:stretch/>
          </p:blipFill>
          <p:spPr>
            <a:xfrm flipH="1" rot="10800000">
              <a:off x="2635805" y="3198150"/>
              <a:ext cx="473220" cy="258649"/>
            </a:xfrm>
            <a:prstGeom prst="rect">
              <a:avLst/>
            </a:prstGeom>
            <a:noFill/>
            <a:ln>
              <a:noFill/>
            </a:ln>
          </p:spPr>
        </p:pic>
        <p:sp>
          <p:nvSpPr>
            <p:cNvPr id="1116" name="Google Shape;1116;p87"/>
            <p:cNvSpPr/>
            <p:nvPr/>
          </p:nvSpPr>
          <p:spPr>
            <a:xfrm>
              <a:off x="2690269" y="3456800"/>
              <a:ext cx="317400" cy="171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+4</a:t>
              </a:r>
              <a:endParaRPr sz="1800">
                <a:latin typeface="Lexend"/>
                <a:ea typeface="Lexend"/>
                <a:cs typeface="Lexend"/>
                <a:sym typeface="Lexend"/>
              </a:endParaRPr>
            </a:p>
          </p:txBody>
        </p:sp>
      </p:grpSp>
      <p:sp>
        <p:nvSpPr>
          <p:cNvPr id="1117" name="Google Shape;1117;p87"/>
          <p:cNvSpPr txBox="1"/>
          <p:nvPr>
            <p:ph idx="1" type="body"/>
          </p:nvPr>
        </p:nvSpPr>
        <p:spPr>
          <a:xfrm>
            <a:off x="324000" y="3932400"/>
            <a:ext cx="8496000" cy="39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There now seems to be a new pattern emerging, </a:t>
            </a:r>
            <a:r>
              <a:rPr lang="en-GB" sz="1800"/>
              <a:t>does this continue?</a:t>
            </a:r>
            <a:endParaRPr sz="1800"/>
          </a:p>
          <a:p>
            <a:pPr indent="0" lvl="0" marL="0" rtl="0" algn="l">
              <a:spcBef>
                <a:spcPts val="1000"/>
              </a:spcBef>
              <a:spcAft>
                <a:spcPts val="1000"/>
              </a:spcAft>
              <a:buNone/>
            </a:pPr>
            <a:r>
              <a:t/>
            </a:r>
            <a:endParaRPr sz="1800"/>
          </a:p>
        </p:txBody>
      </p:sp>
      <p:sp>
        <p:nvSpPr>
          <p:cNvPr id="1118" name="Google Shape;1118;p87"/>
          <p:cNvSpPr txBox="1"/>
          <p:nvPr>
            <p:ph idx="1" type="body"/>
          </p:nvPr>
        </p:nvSpPr>
        <p:spPr>
          <a:xfrm>
            <a:off x="324000" y="4274100"/>
            <a:ext cx="8496000" cy="39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No, the next term would be 25 which is not prime.</a:t>
            </a:r>
            <a:endParaRPr sz="2000">
              <a:latin typeface="Kalam"/>
              <a:ea typeface="Kalam"/>
              <a:cs typeface="Kalam"/>
              <a:sym typeface="Kalam"/>
            </a:endParaRPr>
          </a:p>
          <a:p>
            <a:pPr indent="0" lvl="0" marL="0" rtl="0" algn="l">
              <a:spcBef>
                <a:spcPts val="1000"/>
              </a:spcBef>
              <a:spcAft>
                <a:spcPts val="1000"/>
              </a:spcAft>
              <a:buNone/>
            </a:pPr>
            <a:r>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88"/>
          <p:cNvSpPr txBox="1"/>
          <p:nvPr>
            <p:ph idx="1" type="body"/>
          </p:nvPr>
        </p:nvSpPr>
        <p:spPr>
          <a:xfrm>
            <a:off x="324000" y="810000"/>
            <a:ext cx="8496000" cy="401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table below shows the amount of money in a savings account at the end of the month.</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342900" lvl="0" marL="457200" rtl="0" algn="l">
              <a:spcBef>
                <a:spcPts val="1000"/>
              </a:spcBef>
              <a:spcAft>
                <a:spcPts val="0"/>
              </a:spcAft>
              <a:buSzPts val="1800"/>
              <a:buAutoNum type="arabicParenR"/>
            </a:pPr>
            <a:r>
              <a:rPr lang="en-GB" sz="1800"/>
              <a:t>What do you think is happening every month</a:t>
            </a:r>
            <a:endParaRPr sz="1800"/>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000"/>
          </a:p>
          <a:p>
            <a:pPr indent="-342900" lvl="0" marL="457200" rtl="0" algn="l">
              <a:spcBef>
                <a:spcPts val="1000"/>
              </a:spcBef>
              <a:spcAft>
                <a:spcPts val="0"/>
              </a:spcAft>
              <a:buSzPts val="1800"/>
              <a:buAutoNum type="arabicParenR"/>
            </a:pPr>
            <a:r>
              <a:rPr lang="en-GB" sz="1800"/>
              <a:t>What do you </a:t>
            </a:r>
            <a:r>
              <a:rPr lang="en-GB" sz="1800"/>
              <a:t>predict</a:t>
            </a:r>
            <a:r>
              <a:rPr lang="en-GB" sz="1800"/>
              <a:t> the value in the account to be at the end of December?</a:t>
            </a:r>
            <a:endParaRPr sz="1800"/>
          </a:p>
          <a:p>
            <a:pPr indent="0" lvl="0" marL="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1000"/>
              </a:spcAft>
              <a:buNone/>
            </a:pPr>
            <a:r>
              <a:rPr lang="en-GB" sz="1800"/>
              <a:t> </a:t>
            </a:r>
            <a:endParaRPr sz="1800"/>
          </a:p>
        </p:txBody>
      </p:sp>
      <p:sp>
        <p:nvSpPr>
          <p:cNvPr id="1124" name="Google Shape;1124;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125" name="Google Shape;1125;p88"/>
          <p:cNvSpPr txBox="1"/>
          <p:nvPr>
            <p:ph idx="1" type="body"/>
          </p:nvPr>
        </p:nvSpPr>
        <p:spPr>
          <a:xfrm>
            <a:off x="324000" y="2798400"/>
            <a:ext cx="8496000" cy="39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£190 is being saved. Often people save the same amount each month as it is a </a:t>
            </a:r>
            <a:r>
              <a:rPr lang="en-GB" sz="2000">
                <a:latin typeface="Kalam"/>
                <a:ea typeface="Kalam"/>
                <a:cs typeface="Kalam"/>
                <a:sym typeface="Kalam"/>
              </a:rPr>
              <a:t>percentage</a:t>
            </a:r>
            <a:r>
              <a:rPr lang="en-GB" sz="2000">
                <a:latin typeface="Kalam"/>
                <a:ea typeface="Kalam"/>
                <a:cs typeface="Kalam"/>
                <a:sym typeface="Kalam"/>
              </a:rPr>
              <a:t> of their earnings. </a:t>
            </a:r>
            <a:endParaRPr sz="2000">
              <a:latin typeface="Kalam"/>
              <a:ea typeface="Kalam"/>
              <a:cs typeface="Kalam"/>
              <a:sym typeface="Kalam"/>
            </a:endParaRPr>
          </a:p>
          <a:p>
            <a:pPr indent="0" lvl="0" marL="0" rtl="0" algn="l">
              <a:spcBef>
                <a:spcPts val="1000"/>
              </a:spcBef>
              <a:spcAft>
                <a:spcPts val="1000"/>
              </a:spcAft>
              <a:buNone/>
            </a:pPr>
            <a:r>
              <a:t/>
            </a:r>
            <a:endParaRPr sz="1800">
              <a:latin typeface="Kalam"/>
              <a:ea typeface="Kalam"/>
              <a:cs typeface="Kalam"/>
              <a:sym typeface="Kalam"/>
            </a:endParaRPr>
          </a:p>
        </p:txBody>
      </p:sp>
      <p:sp>
        <p:nvSpPr>
          <p:cNvPr id="1126" name="Google Shape;1126;p88"/>
          <p:cNvSpPr txBox="1"/>
          <p:nvPr>
            <p:ph idx="1" type="body"/>
          </p:nvPr>
        </p:nvSpPr>
        <p:spPr>
          <a:xfrm>
            <a:off x="324000" y="4320000"/>
            <a:ext cx="8496000" cy="39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We could assume this trend continues so £2013</a:t>
            </a:r>
            <a:r>
              <a:rPr lang="en-GB" sz="2000">
                <a:latin typeface="Kalam"/>
                <a:ea typeface="Kalam"/>
                <a:cs typeface="Kalam"/>
                <a:sym typeface="Kalam"/>
              </a:rPr>
              <a:t> </a:t>
            </a:r>
            <a:endParaRPr sz="2000">
              <a:latin typeface="Kalam"/>
              <a:ea typeface="Kalam"/>
              <a:cs typeface="Kalam"/>
              <a:sym typeface="Kalam"/>
            </a:endParaRPr>
          </a:p>
          <a:p>
            <a:pPr indent="0" lvl="0" marL="0" rtl="0" algn="l">
              <a:spcBef>
                <a:spcPts val="1000"/>
              </a:spcBef>
              <a:spcAft>
                <a:spcPts val="1000"/>
              </a:spcAft>
              <a:buNone/>
            </a:pPr>
            <a:r>
              <a:t/>
            </a:r>
            <a:endParaRPr sz="2000">
              <a:latin typeface="Kalam"/>
              <a:ea typeface="Kalam"/>
              <a:cs typeface="Kalam"/>
              <a:sym typeface="Kalam"/>
            </a:endParaRPr>
          </a:p>
        </p:txBody>
      </p:sp>
      <p:graphicFrame>
        <p:nvGraphicFramePr>
          <p:cNvPr id="1127" name="Google Shape;1127;p88"/>
          <p:cNvGraphicFramePr/>
          <p:nvPr/>
        </p:nvGraphicFramePr>
        <p:xfrm>
          <a:off x="338327" y="1553175"/>
          <a:ext cx="3000000" cy="3000000"/>
        </p:xfrm>
        <a:graphic>
          <a:graphicData uri="http://schemas.openxmlformats.org/drawingml/2006/table">
            <a:tbl>
              <a:tblPr>
                <a:noFill/>
                <a:tableStyleId>{4AB3277E-3E12-4634-AB05-300492CF9E7F}</a:tableStyleId>
              </a:tblPr>
              <a:tblGrid>
                <a:gridCol w="1524050"/>
                <a:gridCol w="1377900"/>
                <a:gridCol w="1377900"/>
                <a:gridCol w="1377900"/>
                <a:gridCol w="1377900"/>
                <a:gridCol w="1377900"/>
              </a:tblGrid>
              <a:tr h="24762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Months</a:t>
                      </a:r>
                      <a:endParaRPr sz="1800">
                        <a:solidFill>
                          <a:schemeClr val="lt1"/>
                        </a:solidFill>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latin typeface="Lexend"/>
                          <a:ea typeface="Lexend"/>
                          <a:cs typeface="Lexend"/>
                          <a:sym typeface="Lexend"/>
                        </a:rPr>
                        <a:t>Aug</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Sept</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Oct</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Nov</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Dec</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4762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Savings (£)</a:t>
                      </a:r>
                      <a:endParaRPr sz="1800">
                        <a:solidFill>
                          <a:schemeClr val="lt1"/>
                        </a:solidFill>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latin typeface="Lexend"/>
                          <a:ea typeface="Lexend"/>
                          <a:cs typeface="Lexend"/>
                          <a:sym typeface="Lexend"/>
                        </a:rPr>
                        <a:t>1253</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1443</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1633</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1823</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89"/>
          <p:cNvSpPr txBox="1"/>
          <p:nvPr>
            <p:ph idx="1" type="body"/>
          </p:nvPr>
        </p:nvSpPr>
        <p:spPr>
          <a:xfrm>
            <a:off x="324000" y="810000"/>
            <a:ext cx="8496000" cy="222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table below shows the amount of money in a savings account </a:t>
            </a:r>
            <a:r>
              <a:rPr lang="en-GB" sz="1800"/>
              <a:t>at the end of the month.</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rPr lang="en-GB" sz="1800"/>
              <a:t>3) The value is actually £1900. Why do you think that might be? </a:t>
            </a:r>
            <a:endParaRPr sz="1800"/>
          </a:p>
          <a:p>
            <a:pPr indent="0" lvl="0" marL="457200" rtl="0" algn="l">
              <a:spcBef>
                <a:spcPts val="1000"/>
              </a:spcBef>
              <a:spcAft>
                <a:spcPts val="0"/>
              </a:spcAft>
              <a:buNone/>
            </a:pPr>
            <a:r>
              <a:t/>
            </a:r>
            <a:endParaRPr sz="1800"/>
          </a:p>
          <a:p>
            <a:pPr indent="0" lvl="0" marL="0" rtl="0" algn="l">
              <a:spcBef>
                <a:spcPts val="1000"/>
              </a:spcBef>
              <a:spcAft>
                <a:spcPts val="1000"/>
              </a:spcAft>
              <a:buNone/>
            </a:pPr>
            <a:r>
              <a:rPr lang="en-GB" sz="1800"/>
              <a:t> </a:t>
            </a:r>
            <a:endParaRPr sz="1800"/>
          </a:p>
        </p:txBody>
      </p:sp>
      <p:sp>
        <p:nvSpPr>
          <p:cNvPr id="1133" name="Google Shape;1133;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134" name="Google Shape;1134;p89"/>
          <p:cNvSpPr txBox="1"/>
          <p:nvPr>
            <p:ph idx="1" type="body"/>
          </p:nvPr>
        </p:nvSpPr>
        <p:spPr>
          <a:xfrm>
            <a:off x="324000" y="2952750"/>
            <a:ext cx="8496000" cy="39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In December people often save less as they spend more around the holidays. </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We cannot assume the trend will continue. </a:t>
            </a:r>
            <a:endParaRPr sz="2000">
              <a:latin typeface="Kalam"/>
              <a:ea typeface="Kalam"/>
              <a:cs typeface="Kalam"/>
              <a:sym typeface="Kalam"/>
            </a:endParaRPr>
          </a:p>
          <a:p>
            <a:pPr indent="0" lvl="0" marL="0" rtl="0" algn="l">
              <a:spcBef>
                <a:spcPts val="1000"/>
              </a:spcBef>
              <a:spcAft>
                <a:spcPts val="1000"/>
              </a:spcAft>
              <a:buNone/>
            </a:pPr>
            <a:r>
              <a:t/>
            </a:r>
            <a:endParaRPr sz="1800">
              <a:latin typeface="Kalam"/>
              <a:ea typeface="Kalam"/>
              <a:cs typeface="Kalam"/>
              <a:sym typeface="Kalam"/>
            </a:endParaRPr>
          </a:p>
        </p:txBody>
      </p:sp>
      <p:graphicFrame>
        <p:nvGraphicFramePr>
          <p:cNvPr id="1135" name="Google Shape;1135;p89"/>
          <p:cNvGraphicFramePr/>
          <p:nvPr/>
        </p:nvGraphicFramePr>
        <p:xfrm>
          <a:off x="363450" y="1557100"/>
          <a:ext cx="3000000" cy="3000000"/>
        </p:xfrm>
        <a:graphic>
          <a:graphicData uri="http://schemas.openxmlformats.org/drawingml/2006/table">
            <a:tbl>
              <a:tblPr>
                <a:noFill/>
                <a:tableStyleId>{4AB3277E-3E12-4634-AB05-300492CF9E7F}</a:tableStyleId>
              </a:tblPr>
              <a:tblGrid>
                <a:gridCol w="1524050"/>
                <a:gridCol w="1377900"/>
                <a:gridCol w="1377900"/>
                <a:gridCol w="1377900"/>
                <a:gridCol w="1377900"/>
                <a:gridCol w="1377900"/>
              </a:tblGrid>
              <a:tr h="24762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Months</a:t>
                      </a:r>
                      <a:endParaRPr sz="1800">
                        <a:solidFill>
                          <a:schemeClr val="lt1"/>
                        </a:solidFill>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latin typeface="Lexend"/>
                          <a:ea typeface="Lexend"/>
                          <a:cs typeface="Lexend"/>
                          <a:sym typeface="Lexend"/>
                        </a:rPr>
                        <a:t>Aug</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Sept</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Oct</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Nov</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Dec</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47625">
                <a:tc>
                  <a:txBody>
                    <a:bodyPr/>
                    <a:lstStyle/>
                    <a:p>
                      <a:pPr indent="0" lvl="0" marL="0" rtl="0" algn="l">
                        <a:spcBef>
                          <a:spcPts val="0"/>
                        </a:spcBef>
                        <a:spcAft>
                          <a:spcPts val="0"/>
                        </a:spcAft>
                        <a:buNone/>
                      </a:pPr>
                      <a:r>
                        <a:rPr lang="en-GB" sz="1800">
                          <a:solidFill>
                            <a:schemeClr val="lt1"/>
                          </a:solidFill>
                          <a:latin typeface="Lexend"/>
                          <a:ea typeface="Lexend"/>
                          <a:cs typeface="Lexend"/>
                          <a:sym typeface="Lexend"/>
                        </a:rPr>
                        <a:t>Savings (£)</a:t>
                      </a:r>
                      <a:endParaRPr sz="1800">
                        <a:solidFill>
                          <a:schemeClr val="lt1"/>
                        </a:solidFill>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lang="en-GB" sz="1800">
                          <a:latin typeface="Lexend"/>
                          <a:ea typeface="Lexend"/>
                          <a:cs typeface="Lexend"/>
                          <a:sym typeface="Lexend"/>
                        </a:rPr>
                        <a:t>1253</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1443</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1633</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1823</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1900</a:t>
                      </a:r>
                      <a:endParaRPr sz="1800">
                        <a:latin typeface="Lexend"/>
                        <a:ea typeface="Lexend"/>
                        <a:cs typeface="Lexend"/>
                        <a:sym typeface="Lexend"/>
                      </a:endParaRPr>
                    </a:p>
                  </a:txBody>
                  <a:tcPr marT="0" marB="0"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90"/>
          <p:cNvSpPr/>
          <p:nvPr/>
        </p:nvSpPr>
        <p:spPr>
          <a:xfrm rot="10800000">
            <a:off x="3628775" y="2313600"/>
            <a:ext cx="1944000" cy="1944000"/>
          </a:xfrm>
          <a:prstGeom prst="chord">
            <a:avLst>
              <a:gd fmla="val 3631692" name="adj1"/>
              <a:gd fmla="val 7749861" name="adj2"/>
            </a:avLst>
          </a:prstGeom>
          <a:solidFill>
            <a:srgbClr val="F3EE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1" name="Google Shape;1141;p90"/>
          <p:cNvSpPr/>
          <p:nvPr/>
        </p:nvSpPr>
        <p:spPr>
          <a:xfrm>
            <a:off x="3628775" y="2313600"/>
            <a:ext cx="1944000" cy="1944000"/>
          </a:xfrm>
          <a:prstGeom prst="chord">
            <a:avLst>
              <a:gd fmla="val 1845677" name="adj1"/>
              <a:gd fmla="val 9694044" name="adj2"/>
            </a:avLst>
          </a:prstGeom>
          <a:solidFill>
            <a:srgbClr val="FAEA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2" name="Google Shape;1142;p90"/>
          <p:cNvSpPr/>
          <p:nvPr/>
        </p:nvSpPr>
        <p:spPr>
          <a:xfrm>
            <a:off x="3628775" y="2319700"/>
            <a:ext cx="1944000" cy="1944000"/>
          </a:xfrm>
          <a:prstGeom prst="chord">
            <a:avLst>
              <a:gd fmla="val 9706083" name="adj1"/>
              <a:gd fmla="val 14347443" name="adj2"/>
            </a:avLst>
          </a:prstGeom>
          <a:solidFill>
            <a:srgbClr val="E6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3" name="Google Shape;1143;p90"/>
          <p:cNvSpPr/>
          <p:nvPr/>
        </p:nvSpPr>
        <p:spPr>
          <a:xfrm>
            <a:off x="3692900" y="2453550"/>
            <a:ext cx="904825" cy="1120275"/>
          </a:xfrm>
          <a:custGeom>
            <a:rect b="b" l="l" r="r" t="t"/>
            <a:pathLst>
              <a:path extrusionOk="0" h="44811" w="36193">
                <a:moveTo>
                  <a:pt x="16589" y="0"/>
                </a:moveTo>
                <a:lnTo>
                  <a:pt x="0" y="44811"/>
                </a:lnTo>
                <a:lnTo>
                  <a:pt x="36193" y="20467"/>
                </a:lnTo>
                <a:close/>
              </a:path>
            </a:pathLst>
          </a:custGeom>
          <a:solidFill>
            <a:srgbClr val="EBEDFE"/>
          </a:solidFill>
          <a:ln cap="flat" cmpd="sng" w="9525">
            <a:solidFill>
              <a:schemeClr val="dk2"/>
            </a:solidFill>
            <a:prstDash val="solid"/>
            <a:round/>
            <a:headEnd len="med" w="med" type="none"/>
            <a:tailEnd len="med" w="med" type="none"/>
          </a:ln>
        </p:spPr>
      </p:sp>
      <p:sp>
        <p:nvSpPr>
          <p:cNvPr id="1144" name="Google Shape;1144;p90"/>
          <p:cNvSpPr/>
          <p:nvPr/>
        </p:nvSpPr>
        <p:spPr>
          <a:xfrm>
            <a:off x="4123775" y="2448175"/>
            <a:ext cx="1077175" cy="511650"/>
          </a:xfrm>
          <a:custGeom>
            <a:rect b="b" l="l" r="r" t="t"/>
            <a:pathLst>
              <a:path extrusionOk="0" h="20466" w="43087">
                <a:moveTo>
                  <a:pt x="43087" y="3662"/>
                </a:moveTo>
                <a:lnTo>
                  <a:pt x="19605" y="20466"/>
                </a:lnTo>
                <a:lnTo>
                  <a:pt x="0" y="0"/>
                </a:lnTo>
                <a:close/>
              </a:path>
            </a:pathLst>
          </a:custGeom>
          <a:solidFill>
            <a:srgbClr val="FAEAF6"/>
          </a:solidFill>
          <a:ln cap="flat" cmpd="sng" w="9525">
            <a:solidFill>
              <a:schemeClr val="dk2"/>
            </a:solidFill>
            <a:prstDash val="solid"/>
            <a:round/>
            <a:headEnd len="med" w="med" type="none"/>
            <a:tailEnd len="med" w="med" type="none"/>
          </a:ln>
        </p:spPr>
      </p:sp>
      <p:sp>
        <p:nvSpPr>
          <p:cNvPr id="1145" name="Google Shape;1145;p90"/>
          <p:cNvSpPr/>
          <p:nvPr/>
        </p:nvSpPr>
        <p:spPr>
          <a:xfrm>
            <a:off x="3692900" y="2965225"/>
            <a:ext cx="1745025" cy="791725"/>
          </a:xfrm>
          <a:custGeom>
            <a:rect b="b" l="l" r="r" t="t"/>
            <a:pathLst>
              <a:path extrusionOk="0" h="31669" w="69801">
                <a:moveTo>
                  <a:pt x="0" y="24990"/>
                </a:moveTo>
                <a:lnTo>
                  <a:pt x="37055" y="0"/>
                </a:lnTo>
                <a:lnTo>
                  <a:pt x="69801" y="31669"/>
                </a:lnTo>
                <a:close/>
              </a:path>
            </a:pathLst>
          </a:custGeom>
          <a:solidFill>
            <a:srgbClr val="E6F2F2"/>
          </a:solidFill>
          <a:ln cap="flat" cmpd="sng" w="9525">
            <a:solidFill>
              <a:schemeClr val="dk2"/>
            </a:solidFill>
            <a:prstDash val="solid"/>
            <a:round/>
            <a:headEnd len="med" w="med" type="none"/>
            <a:tailEnd len="med" w="med" type="none"/>
          </a:ln>
        </p:spPr>
      </p:sp>
      <p:sp>
        <p:nvSpPr>
          <p:cNvPr id="1146" name="Google Shape;1146;p90"/>
          <p:cNvSpPr/>
          <p:nvPr/>
        </p:nvSpPr>
        <p:spPr>
          <a:xfrm rot="10800000">
            <a:off x="3628775" y="2313600"/>
            <a:ext cx="1944000" cy="1944000"/>
          </a:xfrm>
          <a:prstGeom prst="chord">
            <a:avLst>
              <a:gd fmla="val 7696604" name="adj1"/>
              <a:gd fmla="val 12619607" name="adj2"/>
            </a:avLst>
          </a:prstGeom>
          <a:solidFill>
            <a:srgbClr val="FAEA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7" name="Google Shape;1147;p90"/>
          <p:cNvSpPr/>
          <p:nvPr/>
        </p:nvSpPr>
        <p:spPr>
          <a:xfrm>
            <a:off x="4621650" y="2534675"/>
            <a:ext cx="805700" cy="1219275"/>
          </a:xfrm>
          <a:custGeom>
            <a:rect b="b" l="l" r="r" t="t"/>
            <a:pathLst>
              <a:path extrusionOk="0" h="48771" w="32228">
                <a:moveTo>
                  <a:pt x="0" y="17188"/>
                </a:moveTo>
                <a:lnTo>
                  <a:pt x="32228" y="48771"/>
                </a:lnTo>
                <a:lnTo>
                  <a:pt x="23490" y="0"/>
                </a:lnTo>
                <a:close/>
              </a:path>
            </a:pathLst>
          </a:custGeom>
          <a:solidFill>
            <a:srgbClr val="F3EEFB"/>
          </a:solidFill>
          <a:ln cap="flat" cmpd="sng" w="9525">
            <a:solidFill>
              <a:schemeClr val="dk2"/>
            </a:solidFill>
            <a:prstDash val="solid"/>
            <a:round/>
            <a:headEnd len="med" w="med" type="none"/>
            <a:tailEnd len="med" w="med" type="none"/>
          </a:ln>
        </p:spPr>
      </p:sp>
      <p:sp>
        <p:nvSpPr>
          <p:cNvPr id="1148" name="Google Shape;1148;p90"/>
          <p:cNvSpPr/>
          <p:nvPr/>
        </p:nvSpPr>
        <p:spPr>
          <a:xfrm>
            <a:off x="3630581" y="2313612"/>
            <a:ext cx="1940400" cy="19440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149" name="Google Shape;1149;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a:t>
            </a:r>
            <a:r>
              <a:rPr lang="en-GB"/>
              <a:t>sequence</a:t>
            </a:r>
            <a:endParaRPr/>
          </a:p>
        </p:txBody>
      </p:sp>
      <p:sp>
        <p:nvSpPr>
          <p:cNvPr id="1150" name="Google Shape;1150;p90"/>
          <p:cNvSpPr txBox="1"/>
          <p:nvPr>
            <p:ph idx="1" type="body"/>
          </p:nvPr>
        </p:nvSpPr>
        <p:spPr>
          <a:xfrm>
            <a:off x="324000" y="759300"/>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You are going to</a:t>
            </a:r>
            <a:r>
              <a:rPr lang="en-GB" sz="1800"/>
              <a:t> investigate patterns found when points marked on a circle are joined with straight lines.</a:t>
            </a:r>
            <a:endParaRPr sz="1800"/>
          </a:p>
        </p:txBody>
      </p:sp>
      <p:sp>
        <p:nvSpPr>
          <p:cNvPr id="1151" name="Google Shape;1151;p90"/>
          <p:cNvSpPr txBox="1"/>
          <p:nvPr/>
        </p:nvSpPr>
        <p:spPr>
          <a:xfrm>
            <a:off x="324000" y="2319700"/>
            <a:ext cx="972300" cy="3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solidFill>
                  <a:schemeClr val="dk1"/>
                </a:solidFill>
                <a:latin typeface="Lexend"/>
                <a:ea typeface="Lexend"/>
                <a:cs typeface="Lexend"/>
                <a:sym typeface="Lexend"/>
              </a:rPr>
              <a:t>Points</a:t>
            </a:r>
            <a:endParaRPr sz="1800">
              <a:solidFill>
                <a:schemeClr val="dk1"/>
              </a:solidFill>
              <a:latin typeface="Lexend"/>
              <a:ea typeface="Lexend"/>
              <a:cs typeface="Lexend"/>
              <a:sym typeface="Lexend"/>
            </a:endParaRPr>
          </a:p>
          <a:p>
            <a:pPr indent="0" lvl="0" marL="0" rtl="0" algn="l">
              <a:lnSpc>
                <a:spcPct val="10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e.g.</a:t>
            </a:r>
            <a:endParaRPr sz="1800">
              <a:solidFill>
                <a:schemeClr val="dk1"/>
              </a:solidFill>
              <a:latin typeface="Lexend"/>
              <a:ea typeface="Lexend"/>
              <a:cs typeface="Lexend"/>
              <a:sym typeface="Lexend"/>
            </a:endParaRPr>
          </a:p>
        </p:txBody>
      </p:sp>
      <p:cxnSp>
        <p:nvCxnSpPr>
          <p:cNvPr id="1152" name="Google Shape;1152;p90"/>
          <p:cNvCxnSpPr/>
          <p:nvPr/>
        </p:nvCxnSpPr>
        <p:spPr>
          <a:xfrm flipH="1">
            <a:off x="3682800" y="2447325"/>
            <a:ext cx="435600" cy="1125000"/>
          </a:xfrm>
          <a:prstGeom prst="straightConnector1">
            <a:avLst/>
          </a:prstGeom>
          <a:noFill/>
          <a:ln cap="flat" cmpd="sng" w="38100">
            <a:solidFill>
              <a:schemeClr val="dk1"/>
            </a:solidFill>
            <a:prstDash val="solid"/>
            <a:round/>
            <a:headEnd len="med" w="med" type="none"/>
            <a:tailEnd len="med" w="med" type="none"/>
          </a:ln>
        </p:spPr>
      </p:cxnSp>
      <p:cxnSp>
        <p:nvCxnSpPr>
          <p:cNvPr id="1153" name="Google Shape;1153;p90"/>
          <p:cNvCxnSpPr/>
          <p:nvPr/>
        </p:nvCxnSpPr>
        <p:spPr>
          <a:xfrm>
            <a:off x="3676750" y="3578350"/>
            <a:ext cx="1745100" cy="178500"/>
          </a:xfrm>
          <a:prstGeom prst="straightConnector1">
            <a:avLst/>
          </a:prstGeom>
          <a:noFill/>
          <a:ln cap="flat" cmpd="sng" w="38100">
            <a:solidFill>
              <a:schemeClr val="dk1"/>
            </a:solidFill>
            <a:prstDash val="solid"/>
            <a:round/>
            <a:headEnd len="med" w="med" type="none"/>
            <a:tailEnd len="med" w="med" type="none"/>
          </a:ln>
        </p:spPr>
      </p:cxnSp>
      <p:cxnSp>
        <p:nvCxnSpPr>
          <p:cNvPr id="1154" name="Google Shape;1154;p90"/>
          <p:cNvCxnSpPr/>
          <p:nvPr/>
        </p:nvCxnSpPr>
        <p:spPr>
          <a:xfrm>
            <a:off x="4118404" y="2474071"/>
            <a:ext cx="1303500" cy="1272000"/>
          </a:xfrm>
          <a:prstGeom prst="straightConnector1">
            <a:avLst/>
          </a:prstGeom>
          <a:noFill/>
          <a:ln cap="flat" cmpd="sng" w="38100">
            <a:solidFill>
              <a:schemeClr val="dk1"/>
            </a:solidFill>
            <a:prstDash val="solid"/>
            <a:round/>
            <a:headEnd len="med" w="med" type="none"/>
            <a:tailEnd len="med" w="med" type="none"/>
          </a:ln>
        </p:spPr>
      </p:cxnSp>
      <p:sp>
        <p:nvSpPr>
          <p:cNvPr id="1155" name="Google Shape;1155;p90"/>
          <p:cNvSpPr txBox="1"/>
          <p:nvPr/>
        </p:nvSpPr>
        <p:spPr>
          <a:xfrm>
            <a:off x="324000" y="3697200"/>
            <a:ext cx="1077300" cy="3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solidFill>
                  <a:schemeClr val="dk1"/>
                </a:solidFill>
                <a:latin typeface="Lexend"/>
                <a:ea typeface="Lexend"/>
                <a:cs typeface="Lexend"/>
                <a:sym typeface="Lexend"/>
              </a:rPr>
              <a:t>Regions</a:t>
            </a:r>
            <a:endParaRPr sz="18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e.g.</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t/>
            </a:r>
            <a:endParaRPr sz="1800">
              <a:solidFill>
                <a:schemeClr val="dk1"/>
              </a:solidFill>
              <a:latin typeface="Lexend"/>
              <a:ea typeface="Lexend"/>
              <a:cs typeface="Lexend"/>
              <a:sym typeface="Lexend"/>
            </a:endParaRPr>
          </a:p>
        </p:txBody>
      </p:sp>
      <p:sp>
        <p:nvSpPr>
          <p:cNvPr id="1156" name="Google Shape;1156;p90"/>
          <p:cNvSpPr txBox="1"/>
          <p:nvPr/>
        </p:nvSpPr>
        <p:spPr>
          <a:xfrm>
            <a:off x="6241200" y="3679000"/>
            <a:ext cx="2578800" cy="3339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None/>
            </a:pPr>
            <a:r>
              <a:rPr lang="en-GB" sz="1800">
                <a:solidFill>
                  <a:schemeClr val="dk1"/>
                </a:solidFill>
                <a:latin typeface="Lexend"/>
                <a:ea typeface="Lexend"/>
                <a:cs typeface="Lexend"/>
                <a:sym typeface="Lexend"/>
              </a:rPr>
              <a:t>Intersections</a:t>
            </a:r>
            <a:endParaRPr sz="1800">
              <a:solidFill>
                <a:schemeClr val="dk1"/>
              </a:solidFill>
              <a:latin typeface="Lexend"/>
              <a:ea typeface="Lexend"/>
              <a:cs typeface="Lexend"/>
              <a:sym typeface="Lexend"/>
            </a:endParaRPr>
          </a:p>
          <a:p>
            <a:pPr indent="0" lvl="0" marL="0" rtl="0" algn="r">
              <a:lnSpc>
                <a:spcPct val="115000"/>
              </a:lnSpc>
              <a:spcBef>
                <a:spcPts val="0"/>
              </a:spcBef>
              <a:spcAft>
                <a:spcPts val="0"/>
              </a:spcAft>
              <a:buNone/>
            </a:pPr>
            <a:r>
              <a:rPr lang="en-GB" sz="1800">
                <a:solidFill>
                  <a:schemeClr val="dk1"/>
                </a:solidFill>
                <a:latin typeface="Lexend"/>
                <a:ea typeface="Lexend"/>
                <a:cs typeface="Lexend"/>
                <a:sym typeface="Lexend"/>
              </a:rPr>
              <a:t>(where two lines cross)</a:t>
            </a:r>
            <a:endParaRPr sz="1800">
              <a:solidFill>
                <a:schemeClr val="dk1"/>
              </a:solidFill>
              <a:latin typeface="Lexend"/>
              <a:ea typeface="Lexend"/>
              <a:cs typeface="Lexend"/>
              <a:sym typeface="Lexend"/>
            </a:endParaRPr>
          </a:p>
        </p:txBody>
      </p:sp>
      <p:sp>
        <p:nvSpPr>
          <p:cNvPr id="1157" name="Google Shape;1157;p90"/>
          <p:cNvSpPr txBox="1"/>
          <p:nvPr/>
        </p:nvSpPr>
        <p:spPr>
          <a:xfrm>
            <a:off x="8014300" y="2301500"/>
            <a:ext cx="805800" cy="33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None/>
            </a:pPr>
            <a:r>
              <a:rPr lang="en-GB" sz="1800">
                <a:solidFill>
                  <a:schemeClr val="dk1"/>
                </a:solidFill>
                <a:latin typeface="Lexend"/>
                <a:ea typeface="Lexend"/>
                <a:cs typeface="Lexend"/>
                <a:sym typeface="Lexend"/>
              </a:rPr>
              <a:t>Lines</a:t>
            </a:r>
            <a:endParaRPr sz="1800">
              <a:solidFill>
                <a:schemeClr val="dk1"/>
              </a:solidFill>
              <a:latin typeface="Lexend"/>
              <a:ea typeface="Lexend"/>
              <a:cs typeface="Lexend"/>
              <a:sym typeface="Lexend"/>
            </a:endParaRPr>
          </a:p>
          <a:p>
            <a:pPr indent="0" lvl="0" marL="0" rtl="0" algn="r">
              <a:lnSpc>
                <a:spcPct val="115000"/>
              </a:lnSpc>
              <a:spcBef>
                <a:spcPts val="0"/>
              </a:spcBef>
              <a:spcAft>
                <a:spcPts val="0"/>
              </a:spcAft>
              <a:buNone/>
            </a:pPr>
            <a:r>
              <a:rPr lang="en-GB" sz="1800">
                <a:solidFill>
                  <a:schemeClr val="dk1"/>
                </a:solidFill>
                <a:latin typeface="Lexend"/>
                <a:ea typeface="Lexend"/>
                <a:cs typeface="Lexend"/>
                <a:sym typeface="Lexend"/>
              </a:rPr>
              <a:t>e.g.</a:t>
            </a:r>
            <a:endParaRPr sz="1800">
              <a:solidFill>
                <a:schemeClr val="dk1"/>
              </a:solidFill>
              <a:latin typeface="Lexend"/>
              <a:ea typeface="Lexend"/>
              <a:cs typeface="Lexend"/>
              <a:sym typeface="Lexend"/>
            </a:endParaRPr>
          </a:p>
          <a:p>
            <a:pPr indent="0" lvl="0" marL="0" rtl="0" algn="r">
              <a:lnSpc>
                <a:spcPct val="100000"/>
              </a:lnSpc>
              <a:spcBef>
                <a:spcPts val="1000"/>
              </a:spcBef>
              <a:spcAft>
                <a:spcPts val="0"/>
              </a:spcAft>
              <a:buNone/>
            </a:pPr>
            <a:r>
              <a:t/>
            </a:r>
            <a:endParaRPr sz="1800">
              <a:solidFill>
                <a:schemeClr val="dk1"/>
              </a:solidFill>
              <a:latin typeface="Lexend"/>
              <a:ea typeface="Lexend"/>
              <a:cs typeface="Lexend"/>
              <a:sym typeface="Lexend"/>
            </a:endParaRPr>
          </a:p>
        </p:txBody>
      </p:sp>
      <p:grpSp>
        <p:nvGrpSpPr>
          <p:cNvPr id="1158" name="Google Shape;1158;p90"/>
          <p:cNvGrpSpPr/>
          <p:nvPr/>
        </p:nvGrpSpPr>
        <p:grpSpPr>
          <a:xfrm>
            <a:off x="838227" y="2406836"/>
            <a:ext cx="3162475" cy="1134825"/>
            <a:chOff x="838227" y="2406836"/>
            <a:chExt cx="3162475" cy="1134825"/>
          </a:xfrm>
        </p:grpSpPr>
        <p:cxnSp>
          <p:nvCxnSpPr>
            <p:cNvPr id="1159" name="Google Shape;1159;p90"/>
            <p:cNvCxnSpPr>
              <a:endCxn id="1160" idx="1"/>
            </p:cNvCxnSpPr>
            <p:nvPr/>
          </p:nvCxnSpPr>
          <p:spPr>
            <a:xfrm flipH="1" rot="10800000">
              <a:off x="848902" y="2406836"/>
              <a:ext cx="3151800" cy="416700"/>
            </a:xfrm>
            <a:prstGeom prst="straightConnector1">
              <a:avLst/>
            </a:prstGeom>
            <a:noFill/>
            <a:ln cap="flat" cmpd="sng" w="19050">
              <a:solidFill>
                <a:schemeClr val="dk2"/>
              </a:solidFill>
              <a:prstDash val="solid"/>
              <a:round/>
              <a:headEnd len="med" w="med" type="none"/>
              <a:tailEnd len="med" w="med" type="triangle"/>
            </a:ln>
          </p:spPr>
        </p:cxnSp>
        <p:cxnSp>
          <p:nvCxnSpPr>
            <p:cNvPr id="1161" name="Google Shape;1161;p90"/>
            <p:cNvCxnSpPr>
              <a:endCxn id="1162" idx="1"/>
            </p:cNvCxnSpPr>
            <p:nvPr/>
          </p:nvCxnSpPr>
          <p:spPr>
            <a:xfrm>
              <a:off x="838227" y="2812661"/>
              <a:ext cx="2735400" cy="729000"/>
            </a:xfrm>
            <a:prstGeom prst="straightConnector1">
              <a:avLst/>
            </a:prstGeom>
            <a:noFill/>
            <a:ln cap="flat" cmpd="sng" w="19050">
              <a:solidFill>
                <a:schemeClr val="dk2"/>
              </a:solidFill>
              <a:prstDash val="solid"/>
              <a:round/>
              <a:headEnd len="med" w="med" type="none"/>
              <a:tailEnd len="med" w="med" type="triangle"/>
            </a:ln>
          </p:spPr>
        </p:cxnSp>
      </p:grpSp>
      <p:grpSp>
        <p:nvGrpSpPr>
          <p:cNvPr id="1163" name="Google Shape;1163;p90"/>
          <p:cNvGrpSpPr/>
          <p:nvPr/>
        </p:nvGrpSpPr>
        <p:grpSpPr>
          <a:xfrm>
            <a:off x="3573627" y="2239886"/>
            <a:ext cx="2035663" cy="1624275"/>
            <a:chOff x="3573627" y="2239886"/>
            <a:chExt cx="2035663" cy="1624275"/>
          </a:xfrm>
        </p:grpSpPr>
        <p:sp>
          <p:nvSpPr>
            <p:cNvPr id="1162" name="Google Shape;1162;p90"/>
            <p:cNvSpPr/>
            <p:nvPr/>
          </p:nvSpPr>
          <p:spPr>
            <a:xfrm>
              <a:off x="3573627" y="3374711"/>
              <a:ext cx="295800" cy="33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3400">
                  <a:solidFill>
                    <a:srgbClr val="222222"/>
                  </a:solidFill>
                  <a:latin typeface="Lexend"/>
                  <a:ea typeface="Lexend"/>
                  <a:cs typeface="Lexend"/>
                  <a:sym typeface="Lexend"/>
                </a:rPr>
                <a:t>×</a:t>
              </a:r>
              <a:endParaRPr sz="3300">
                <a:latin typeface="Lexend"/>
                <a:ea typeface="Lexend"/>
                <a:cs typeface="Lexend"/>
                <a:sym typeface="Lexend"/>
              </a:endParaRPr>
            </a:p>
          </p:txBody>
        </p:sp>
        <p:sp>
          <p:nvSpPr>
            <p:cNvPr id="1160" name="Google Shape;1160;p90"/>
            <p:cNvSpPr/>
            <p:nvPr/>
          </p:nvSpPr>
          <p:spPr>
            <a:xfrm>
              <a:off x="4000702" y="2239886"/>
              <a:ext cx="295800" cy="33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3400">
                  <a:solidFill>
                    <a:srgbClr val="222222"/>
                  </a:solidFill>
                  <a:latin typeface="Lexend"/>
                  <a:ea typeface="Lexend"/>
                  <a:cs typeface="Lexend"/>
                  <a:sym typeface="Lexend"/>
                </a:rPr>
                <a:t>×</a:t>
              </a:r>
              <a:endParaRPr sz="3300">
                <a:latin typeface="Lexend"/>
                <a:ea typeface="Lexend"/>
                <a:cs typeface="Lexend"/>
                <a:sym typeface="Lexend"/>
              </a:endParaRPr>
            </a:p>
          </p:txBody>
        </p:sp>
        <p:sp>
          <p:nvSpPr>
            <p:cNvPr id="1164" name="Google Shape;1164;p90"/>
            <p:cNvSpPr/>
            <p:nvPr/>
          </p:nvSpPr>
          <p:spPr>
            <a:xfrm>
              <a:off x="5313490" y="3530261"/>
              <a:ext cx="295800" cy="33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3400">
                  <a:solidFill>
                    <a:srgbClr val="222222"/>
                  </a:solidFill>
                  <a:latin typeface="Lexend"/>
                  <a:ea typeface="Lexend"/>
                  <a:cs typeface="Lexend"/>
                  <a:sym typeface="Lexend"/>
                </a:rPr>
                <a:t>×</a:t>
              </a:r>
              <a:endParaRPr sz="3300">
                <a:latin typeface="Lexend"/>
                <a:ea typeface="Lexend"/>
                <a:cs typeface="Lexend"/>
                <a:sym typeface="Lexend"/>
              </a:endParaRPr>
            </a:p>
          </p:txBody>
        </p:sp>
        <p:sp>
          <p:nvSpPr>
            <p:cNvPr id="1165" name="Google Shape;1165;p90"/>
            <p:cNvSpPr/>
            <p:nvPr/>
          </p:nvSpPr>
          <p:spPr>
            <a:xfrm>
              <a:off x="5099177" y="2316479"/>
              <a:ext cx="295800" cy="33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3400">
                  <a:solidFill>
                    <a:srgbClr val="222222"/>
                  </a:solidFill>
                  <a:latin typeface="Lexend"/>
                  <a:ea typeface="Lexend"/>
                  <a:cs typeface="Lexend"/>
                  <a:sym typeface="Lexend"/>
                </a:rPr>
                <a:t>×</a:t>
              </a:r>
              <a:endParaRPr sz="3300">
                <a:latin typeface="Lexend"/>
                <a:ea typeface="Lexend"/>
                <a:cs typeface="Lexend"/>
                <a:sym typeface="Lexend"/>
              </a:endParaRPr>
            </a:p>
          </p:txBody>
        </p:sp>
      </p:grpSp>
      <p:cxnSp>
        <p:nvCxnSpPr>
          <p:cNvPr id="1166" name="Google Shape;1166;p90"/>
          <p:cNvCxnSpPr/>
          <p:nvPr/>
        </p:nvCxnSpPr>
        <p:spPr>
          <a:xfrm>
            <a:off x="4118400" y="2453550"/>
            <a:ext cx="1087800" cy="75300"/>
          </a:xfrm>
          <a:prstGeom prst="straightConnector1">
            <a:avLst/>
          </a:prstGeom>
          <a:noFill/>
          <a:ln cap="flat" cmpd="sng" w="38100">
            <a:solidFill>
              <a:schemeClr val="dk1"/>
            </a:solidFill>
            <a:prstDash val="solid"/>
            <a:round/>
            <a:headEnd len="med" w="med" type="none"/>
            <a:tailEnd len="med" w="med" type="none"/>
          </a:ln>
        </p:spPr>
      </p:cxnSp>
      <p:cxnSp>
        <p:nvCxnSpPr>
          <p:cNvPr id="1167" name="Google Shape;1167;p90"/>
          <p:cNvCxnSpPr/>
          <p:nvPr/>
        </p:nvCxnSpPr>
        <p:spPr>
          <a:xfrm>
            <a:off x="5217100" y="2534350"/>
            <a:ext cx="204600" cy="1206300"/>
          </a:xfrm>
          <a:prstGeom prst="straightConnector1">
            <a:avLst/>
          </a:prstGeom>
          <a:noFill/>
          <a:ln cap="flat" cmpd="sng" w="38100">
            <a:solidFill>
              <a:schemeClr val="dk1"/>
            </a:solidFill>
            <a:prstDash val="solid"/>
            <a:round/>
            <a:headEnd len="med" w="med" type="none"/>
            <a:tailEnd len="med" w="med" type="none"/>
          </a:ln>
        </p:spPr>
      </p:cxnSp>
      <p:cxnSp>
        <p:nvCxnSpPr>
          <p:cNvPr id="1168" name="Google Shape;1168;p90"/>
          <p:cNvCxnSpPr/>
          <p:nvPr/>
        </p:nvCxnSpPr>
        <p:spPr>
          <a:xfrm flipH="1">
            <a:off x="3698225" y="2539725"/>
            <a:ext cx="1508100" cy="1034100"/>
          </a:xfrm>
          <a:prstGeom prst="straightConnector1">
            <a:avLst/>
          </a:prstGeom>
          <a:noFill/>
          <a:ln cap="flat" cmpd="sng" w="38100">
            <a:solidFill>
              <a:schemeClr val="dk1"/>
            </a:solidFill>
            <a:prstDash val="solid"/>
            <a:round/>
            <a:headEnd len="med" w="med" type="none"/>
            <a:tailEnd len="med" w="med" type="none"/>
          </a:ln>
        </p:spPr>
      </p:cxnSp>
      <p:cxnSp>
        <p:nvCxnSpPr>
          <p:cNvPr id="1169" name="Google Shape;1169;p90"/>
          <p:cNvCxnSpPr/>
          <p:nvPr/>
        </p:nvCxnSpPr>
        <p:spPr>
          <a:xfrm flipH="1">
            <a:off x="5271125" y="2748700"/>
            <a:ext cx="3090900" cy="83100"/>
          </a:xfrm>
          <a:prstGeom prst="straightConnector1">
            <a:avLst/>
          </a:prstGeom>
          <a:noFill/>
          <a:ln cap="flat" cmpd="sng" w="19050">
            <a:solidFill>
              <a:schemeClr val="dk2"/>
            </a:solidFill>
            <a:prstDash val="solid"/>
            <a:round/>
            <a:headEnd len="med" w="med" type="none"/>
            <a:tailEnd len="med" w="med" type="triangle"/>
          </a:ln>
        </p:spPr>
      </p:cxnSp>
      <p:cxnSp>
        <p:nvCxnSpPr>
          <p:cNvPr id="1170" name="Google Shape;1170;p90"/>
          <p:cNvCxnSpPr/>
          <p:nvPr/>
        </p:nvCxnSpPr>
        <p:spPr>
          <a:xfrm flipH="1" rot="10800000">
            <a:off x="822300" y="3977700"/>
            <a:ext cx="3612300" cy="194400"/>
          </a:xfrm>
          <a:prstGeom prst="straightConnector1">
            <a:avLst/>
          </a:prstGeom>
          <a:noFill/>
          <a:ln cap="flat" cmpd="sng" w="19050">
            <a:solidFill>
              <a:schemeClr val="dk2"/>
            </a:solidFill>
            <a:prstDash val="solid"/>
            <a:round/>
            <a:headEnd len="med" w="med" type="none"/>
            <a:tailEnd len="med" w="med" type="triangle"/>
          </a:ln>
        </p:spPr>
      </p:cxnSp>
      <p:cxnSp>
        <p:nvCxnSpPr>
          <p:cNvPr id="1171" name="Google Shape;1171;p90"/>
          <p:cNvCxnSpPr/>
          <p:nvPr/>
        </p:nvCxnSpPr>
        <p:spPr>
          <a:xfrm rot="10800000">
            <a:off x="4713375" y="2986500"/>
            <a:ext cx="2578800" cy="836400"/>
          </a:xfrm>
          <a:prstGeom prst="straightConnector1">
            <a:avLst/>
          </a:prstGeom>
          <a:noFill/>
          <a:ln cap="flat" cmpd="sng" w="19050">
            <a:solidFill>
              <a:schemeClr val="dk2"/>
            </a:solidFill>
            <a:prstDash val="solid"/>
            <a:round/>
            <a:headEnd len="med" w="med" type="none"/>
            <a:tailEnd len="med" w="med" type="triangle"/>
          </a:ln>
        </p:spPr>
      </p:cxnSp>
      <p:sp>
        <p:nvSpPr>
          <p:cNvPr id="1172" name="Google Shape;1172;p90"/>
          <p:cNvSpPr txBox="1"/>
          <p:nvPr>
            <p:ph idx="1" type="body"/>
          </p:nvPr>
        </p:nvSpPr>
        <p:spPr>
          <a:xfrm>
            <a:off x="324000" y="1458325"/>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Every point will be joined with a straight line and sometimes this will create regions and intersections.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9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178" name="Google Shape;1178;p91"/>
          <p:cNvSpPr txBox="1"/>
          <p:nvPr>
            <p:ph idx="1" type="body"/>
          </p:nvPr>
        </p:nvSpPr>
        <p:spPr>
          <a:xfrm>
            <a:off x="324000" y="759300"/>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You are going to investigate patterns found when points marked on a circle are joined with straight lines.</a:t>
            </a:r>
            <a:endParaRPr sz="1800"/>
          </a:p>
        </p:txBody>
      </p:sp>
      <p:sp>
        <p:nvSpPr>
          <p:cNvPr id="1179" name="Google Shape;1179;p91"/>
          <p:cNvSpPr/>
          <p:nvPr/>
        </p:nvSpPr>
        <p:spPr>
          <a:xfrm rot="10800000">
            <a:off x="3628775" y="2313600"/>
            <a:ext cx="1944000" cy="1944000"/>
          </a:xfrm>
          <a:prstGeom prst="chord">
            <a:avLst>
              <a:gd fmla="val 3631692" name="adj1"/>
              <a:gd fmla="val 7749861" name="adj2"/>
            </a:avLst>
          </a:prstGeom>
          <a:solidFill>
            <a:srgbClr val="F3EE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0" name="Google Shape;1180;p91"/>
          <p:cNvSpPr/>
          <p:nvPr/>
        </p:nvSpPr>
        <p:spPr>
          <a:xfrm>
            <a:off x="3628775" y="2313600"/>
            <a:ext cx="1944000" cy="1944000"/>
          </a:xfrm>
          <a:prstGeom prst="chord">
            <a:avLst>
              <a:gd fmla="val 1845677" name="adj1"/>
              <a:gd fmla="val 9694044" name="adj2"/>
            </a:avLst>
          </a:prstGeom>
          <a:solidFill>
            <a:srgbClr val="FAEA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1" name="Google Shape;1181;p91"/>
          <p:cNvSpPr/>
          <p:nvPr/>
        </p:nvSpPr>
        <p:spPr>
          <a:xfrm>
            <a:off x="3628775" y="2319700"/>
            <a:ext cx="1944000" cy="1944000"/>
          </a:xfrm>
          <a:prstGeom prst="chord">
            <a:avLst>
              <a:gd fmla="val 9706083" name="adj1"/>
              <a:gd fmla="val 14347443" name="adj2"/>
            </a:avLst>
          </a:prstGeom>
          <a:solidFill>
            <a:srgbClr val="E6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2" name="Google Shape;1182;p91"/>
          <p:cNvSpPr/>
          <p:nvPr/>
        </p:nvSpPr>
        <p:spPr>
          <a:xfrm>
            <a:off x="3692900" y="2453550"/>
            <a:ext cx="904825" cy="1120275"/>
          </a:xfrm>
          <a:custGeom>
            <a:rect b="b" l="l" r="r" t="t"/>
            <a:pathLst>
              <a:path extrusionOk="0" h="44811" w="36193">
                <a:moveTo>
                  <a:pt x="16589" y="0"/>
                </a:moveTo>
                <a:lnTo>
                  <a:pt x="0" y="44811"/>
                </a:lnTo>
                <a:lnTo>
                  <a:pt x="36193" y="20467"/>
                </a:lnTo>
                <a:close/>
              </a:path>
            </a:pathLst>
          </a:custGeom>
          <a:solidFill>
            <a:srgbClr val="EBEDFE"/>
          </a:solidFill>
          <a:ln cap="flat" cmpd="sng" w="9525">
            <a:solidFill>
              <a:schemeClr val="dk2"/>
            </a:solidFill>
            <a:prstDash val="solid"/>
            <a:round/>
            <a:headEnd len="med" w="med" type="none"/>
            <a:tailEnd len="med" w="med" type="none"/>
          </a:ln>
        </p:spPr>
      </p:sp>
      <p:sp>
        <p:nvSpPr>
          <p:cNvPr id="1183" name="Google Shape;1183;p91"/>
          <p:cNvSpPr/>
          <p:nvPr/>
        </p:nvSpPr>
        <p:spPr>
          <a:xfrm>
            <a:off x="4123775" y="2448175"/>
            <a:ext cx="1077175" cy="511650"/>
          </a:xfrm>
          <a:custGeom>
            <a:rect b="b" l="l" r="r" t="t"/>
            <a:pathLst>
              <a:path extrusionOk="0" h="20466" w="43087">
                <a:moveTo>
                  <a:pt x="43087" y="3662"/>
                </a:moveTo>
                <a:lnTo>
                  <a:pt x="19605" y="20466"/>
                </a:lnTo>
                <a:lnTo>
                  <a:pt x="0" y="0"/>
                </a:lnTo>
                <a:close/>
              </a:path>
            </a:pathLst>
          </a:custGeom>
          <a:solidFill>
            <a:srgbClr val="FAEAF6"/>
          </a:solidFill>
          <a:ln cap="flat" cmpd="sng" w="9525">
            <a:solidFill>
              <a:schemeClr val="dk2"/>
            </a:solidFill>
            <a:prstDash val="solid"/>
            <a:round/>
            <a:headEnd len="med" w="med" type="none"/>
            <a:tailEnd len="med" w="med" type="none"/>
          </a:ln>
        </p:spPr>
      </p:sp>
      <p:sp>
        <p:nvSpPr>
          <p:cNvPr id="1184" name="Google Shape;1184;p91"/>
          <p:cNvSpPr/>
          <p:nvPr/>
        </p:nvSpPr>
        <p:spPr>
          <a:xfrm>
            <a:off x="3692900" y="2965225"/>
            <a:ext cx="1745025" cy="791725"/>
          </a:xfrm>
          <a:custGeom>
            <a:rect b="b" l="l" r="r" t="t"/>
            <a:pathLst>
              <a:path extrusionOk="0" h="31669" w="69801">
                <a:moveTo>
                  <a:pt x="0" y="24990"/>
                </a:moveTo>
                <a:lnTo>
                  <a:pt x="37055" y="0"/>
                </a:lnTo>
                <a:lnTo>
                  <a:pt x="69801" y="31669"/>
                </a:lnTo>
                <a:close/>
              </a:path>
            </a:pathLst>
          </a:custGeom>
          <a:solidFill>
            <a:srgbClr val="E6F2F2"/>
          </a:solidFill>
          <a:ln cap="flat" cmpd="sng" w="9525">
            <a:solidFill>
              <a:schemeClr val="dk2"/>
            </a:solidFill>
            <a:prstDash val="solid"/>
            <a:round/>
            <a:headEnd len="med" w="med" type="none"/>
            <a:tailEnd len="med" w="med" type="none"/>
          </a:ln>
        </p:spPr>
      </p:sp>
      <p:sp>
        <p:nvSpPr>
          <p:cNvPr id="1185" name="Google Shape;1185;p91"/>
          <p:cNvSpPr/>
          <p:nvPr/>
        </p:nvSpPr>
        <p:spPr>
          <a:xfrm rot="10800000">
            <a:off x="3628775" y="2313600"/>
            <a:ext cx="1944000" cy="1944000"/>
          </a:xfrm>
          <a:prstGeom prst="chord">
            <a:avLst>
              <a:gd fmla="val 7696604" name="adj1"/>
              <a:gd fmla="val 12619607" name="adj2"/>
            </a:avLst>
          </a:prstGeom>
          <a:solidFill>
            <a:srgbClr val="FAEAF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6" name="Google Shape;1186;p91"/>
          <p:cNvSpPr/>
          <p:nvPr/>
        </p:nvSpPr>
        <p:spPr>
          <a:xfrm>
            <a:off x="4621650" y="2534675"/>
            <a:ext cx="805700" cy="1219275"/>
          </a:xfrm>
          <a:custGeom>
            <a:rect b="b" l="l" r="r" t="t"/>
            <a:pathLst>
              <a:path extrusionOk="0" h="48771" w="32228">
                <a:moveTo>
                  <a:pt x="0" y="17188"/>
                </a:moveTo>
                <a:lnTo>
                  <a:pt x="32228" y="48771"/>
                </a:lnTo>
                <a:lnTo>
                  <a:pt x="23490" y="0"/>
                </a:lnTo>
                <a:close/>
              </a:path>
            </a:pathLst>
          </a:custGeom>
          <a:solidFill>
            <a:srgbClr val="F3EEFB"/>
          </a:solidFill>
          <a:ln cap="flat" cmpd="sng" w="9525">
            <a:solidFill>
              <a:schemeClr val="dk2"/>
            </a:solidFill>
            <a:prstDash val="solid"/>
            <a:round/>
            <a:headEnd len="med" w="med" type="none"/>
            <a:tailEnd len="med" w="med" type="none"/>
          </a:ln>
        </p:spPr>
      </p:sp>
      <p:sp>
        <p:nvSpPr>
          <p:cNvPr id="1187" name="Google Shape;1187;p91"/>
          <p:cNvSpPr/>
          <p:nvPr/>
        </p:nvSpPr>
        <p:spPr>
          <a:xfrm>
            <a:off x="3630581" y="2313612"/>
            <a:ext cx="1940400" cy="19440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188" name="Google Shape;1188;p91"/>
          <p:cNvSpPr txBox="1"/>
          <p:nvPr/>
        </p:nvSpPr>
        <p:spPr>
          <a:xfrm>
            <a:off x="324000" y="2319700"/>
            <a:ext cx="972300" cy="3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solidFill>
                  <a:schemeClr val="dk1"/>
                </a:solidFill>
                <a:latin typeface="Lexend"/>
                <a:ea typeface="Lexend"/>
                <a:cs typeface="Lexend"/>
                <a:sym typeface="Lexend"/>
              </a:rPr>
              <a:t>Points</a:t>
            </a:r>
            <a:endParaRPr sz="1800">
              <a:solidFill>
                <a:schemeClr val="dk1"/>
              </a:solidFill>
              <a:latin typeface="Lexend"/>
              <a:ea typeface="Lexend"/>
              <a:cs typeface="Lexend"/>
              <a:sym typeface="Lexend"/>
            </a:endParaRPr>
          </a:p>
          <a:p>
            <a:pPr indent="0" lvl="0" marL="0" rtl="0" algn="l">
              <a:lnSpc>
                <a:spcPct val="100000"/>
              </a:lnSpc>
              <a:spcBef>
                <a:spcPts val="0"/>
              </a:spcBef>
              <a:spcAft>
                <a:spcPts val="0"/>
              </a:spcAft>
              <a:buNone/>
            </a:pPr>
            <a:r>
              <a:rPr lang="en-GB" sz="1800">
                <a:solidFill>
                  <a:schemeClr val="dk1"/>
                </a:solidFill>
                <a:latin typeface="Lexend"/>
                <a:ea typeface="Lexend"/>
                <a:cs typeface="Lexend"/>
                <a:sym typeface="Lexend"/>
              </a:rPr>
              <a:t>e.g.</a:t>
            </a:r>
            <a:endParaRPr sz="1800">
              <a:solidFill>
                <a:schemeClr val="dk1"/>
              </a:solidFill>
              <a:latin typeface="Lexend"/>
              <a:ea typeface="Lexend"/>
              <a:cs typeface="Lexend"/>
              <a:sym typeface="Lexend"/>
            </a:endParaRPr>
          </a:p>
        </p:txBody>
      </p:sp>
      <p:cxnSp>
        <p:nvCxnSpPr>
          <p:cNvPr id="1189" name="Google Shape;1189;p91"/>
          <p:cNvCxnSpPr/>
          <p:nvPr/>
        </p:nvCxnSpPr>
        <p:spPr>
          <a:xfrm flipH="1">
            <a:off x="3682800" y="2447325"/>
            <a:ext cx="435600" cy="1125000"/>
          </a:xfrm>
          <a:prstGeom prst="straightConnector1">
            <a:avLst/>
          </a:prstGeom>
          <a:noFill/>
          <a:ln cap="flat" cmpd="sng" w="38100">
            <a:solidFill>
              <a:schemeClr val="dk1"/>
            </a:solidFill>
            <a:prstDash val="solid"/>
            <a:round/>
            <a:headEnd len="med" w="med" type="none"/>
            <a:tailEnd len="med" w="med" type="none"/>
          </a:ln>
        </p:spPr>
      </p:cxnSp>
      <p:cxnSp>
        <p:nvCxnSpPr>
          <p:cNvPr id="1190" name="Google Shape;1190;p91"/>
          <p:cNvCxnSpPr/>
          <p:nvPr/>
        </p:nvCxnSpPr>
        <p:spPr>
          <a:xfrm>
            <a:off x="3676750" y="3578350"/>
            <a:ext cx="1745100" cy="178500"/>
          </a:xfrm>
          <a:prstGeom prst="straightConnector1">
            <a:avLst/>
          </a:prstGeom>
          <a:noFill/>
          <a:ln cap="flat" cmpd="sng" w="38100">
            <a:solidFill>
              <a:schemeClr val="dk1"/>
            </a:solidFill>
            <a:prstDash val="solid"/>
            <a:round/>
            <a:headEnd len="med" w="med" type="none"/>
            <a:tailEnd len="med" w="med" type="none"/>
          </a:ln>
        </p:spPr>
      </p:cxnSp>
      <p:cxnSp>
        <p:nvCxnSpPr>
          <p:cNvPr id="1191" name="Google Shape;1191;p91"/>
          <p:cNvCxnSpPr/>
          <p:nvPr/>
        </p:nvCxnSpPr>
        <p:spPr>
          <a:xfrm>
            <a:off x="4118404" y="2474071"/>
            <a:ext cx="1303500" cy="1272000"/>
          </a:xfrm>
          <a:prstGeom prst="straightConnector1">
            <a:avLst/>
          </a:prstGeom>
          <a:noFill/>
          <a:ln cap="flat" cmpd="sng" w="38100">
            <a:solidFill>
              <a:schemeClr val="dk1"/>
            </a:solidFill>
            <a:prstDash val="solid"/>
            <a:round/>
            <a:headEnd len="med" w="med" type="none"/>
            <a:tailEnd len="med" w="med" type="none"/>
          </a:ln>
        </p:spPr>
      </p:cxnSp>
      <p:sp>
        <p:nvSpPr>
          <p:cNvPr id="1192" name="Google Shape;1192;p91"/>
          <p:cNvSpPr txBox="1"/>
          <p:nvPr/>
        </p:nvSpPr>
        <p:spPr>
          <a:xfrm>
            <a:off x="324000" y="3697200"/>
            <a:ext cx="1077300" cy="333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solidFill>
                  <a:schemeClr val="dk1"/>
                </a:solidFill>
                <a:latin typeface="Lexend"/>
                <a:ea typeface="Lexend"/>
                <a:cs typeface="Lexend"/>
                <a:sym typeface="Lexend"/>
              </a:rPr>
              <a:t>Regions</a:t>
            </a:r>
            <a:endParaRPr sz="18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e.g.</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None/>
            </a:pPr>
            <a:r>
              <a:t/>
            </a:r>
            <a:endParaRPr sz="1800">
              <a:solidFill>
                <a:schemeClr val="dk1"/>
              </a:solidFill>
              <a:latin typeface="Lexend"/>
              <a:ea typeface="Lexend"/>
              <a:cs typeface="Lexend"/>
              <a:sym typeface="Lexend"/>
            </a:endParaRPr>
          </a:p>
        </p:txBody>
      </p:sp>
      <p:sp>
        <p:nvSpPr>
          <p:cNvPr id="1193" name="Google Shape;1193;p91"/>
          <p:cNvSpPr txBox="1"/>
          <p:nvPr/>
        </p:nvSpPr>
        <p:spPr>
          <a:xfrm>
            <a:off x="6241200" y="3679000"/>
            <a:ext cx="2578800" cy="3339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0"/>
              </a:spcAft>
              <a:buNone/>
            </a:pPr>
            <a:r>
              <a:rPr lang="en-GB" sz="1800">
                <a:solidFill>
                  <a:schemeClr val="dk1"/>
                </a:solidFill>
                <a:latin typeface="Lexend"/>
                <a:ea typeface="Lexend"/>
                <a:cs typeface="Lexend"/>
                <a:sym typeface="Lexend"/>
              </a:rPr>
              <a:t>Intersections</a:t>
            </a:r>
            <a:endParaRPr sz="1800">
              <a:solidFill>
                <a:schemeClr val="dk1"/>
              </a:solidFill>
              <a:latin typeface="Lexend"/>
              <a:ea typeface="Lexend"/>
              <a:cs typeface="Lexend"/>
              <a:sym typeface="Lexend"/>
            </a:endParaRPr>
          </a:p>
          <a:p>
            <a:pPr indent="0" lvl="0" marL="0" rtl="0" algn="r">
              <a:lnSpc>
                <a:spcPct val="115000"/>
              </a:lnSpc>
              <a:spcBef>
                <a:spcPts val="0"/>
              </a:spcBef>
              <a:spcAft>
                <a:spcPts val="0"/>
              </a:spcAft>
              <a:buNone/>
            </a:pPr>
            <a:r>
              <a:rPr lang="en-GB" sz="1800">
                <a:solidFill>
                  <a:schemeClr val="dk1"/>
                </a:solidFill>
                <a:latin typeface="Lexend"/>
                <a:ea typeface="Lexend"/>
                <a:cs typeface="Lexend"/>
                <a:sym typeface="Lexend"/>
              </a:rPr>
              <a:t>(where two lines cross)</a:t>
            </a:r>
            <a:endParaRPr sz="1800">
              <a:solidFill>
                <a:schemeClr val="dk1"/>
              </a:solidFill>
              <a:latin typeface="Lexend"/>
              <a:ea typeface="Lexend"/>
              <a:cs typeface="Lexend"/>
              <a:sym typeface="Lexend"/>
            </a:endParaRPr>
          </a:p>
        </p:txBody>
      </p:sp>
      <p:sp>
        <p:nvSpPr>
          <p:cNvPr id="1194" name="Google Shape;1194;p91"/>
          <p:cNvSpPr txBox="1"/>
          <p:nvPr/>
        </p:nvSpPr>
        <p:spPr>
          <a:xfrm>
            <a:off x="8014300" y="2301500"/>
            <a:ext cx="805800" cy="33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None/>
            </a:pPr>
            <a:r>
              <a:rPr lang="en-GB" sz="1800">
                <a:solidFill>
                  <a:schemeClr val="dk1"/>
                </a:solidFill>
                <a:latin typeface="Lexend"/>
                <a:ea typeface="Lexend"/>
                <a:cs typeface="Lexend"/>
                <a:sym typeface="Lexend"/>
              </a:rPr>
              <a:t>Lines</a:t>
            </a:r>
            <a:endParaRPr sz="1800">
              <a:solidFill>
                <a:schemeClr val="dk1"/>
              </a:solidFill>
              <a:latin typeface="Lexend"/>
              <a:ea typeface="Lexend"/>
              <a:cs typeface="Lexend"/>
              <a:sym typeface="Lexend"/>
            </a:endParaRPr>
          </a:p>
          <a:p>
            <a:pPr indent="0" lvl="0" marL="0" rtl="0" algn="r">
              <a:lnSpc>
                <a:spcPct val="115000"/>
              </a:lnSpc>
              <a:spcBef>
                <a:spcPts val="0"/>
              </a:spcBef>
              <a:spcAft>
                <a:spcPts val="0"/>
              </a:spcAft>
              <a:buNone/>
            </a:pPr>
            <a:r>
              <a:rPr lang="en-GB" sz="1800">
                <a:solidFill>
                  <a:schemeClr val="dk1"/>
                </a:solidFill>
                <a:latin typeface="Lexend"/>
                <a:ea typeface="Lexend"/>
                <a:cs typeface="Lexend"/>
                <a:sym typeface="Lexend"/>
              </a:rPr>
              <a:t>e.g.</a:t>
            </a:r>
            <a:endParaRPr sz="1800">
              <a:solidFill>
                <a:schemeClr val="dk1"/>
              </a:solidFill>
              <a:latin typeface="Lexend"/>
              <a:ea typeface="Lexend"/>
              <a:cs typeface="Lexend"/>
              <a:sym typeface="Lexend"/>
            </a:endParaRPr>
          </a:p>
          <a:p>
            <a:pPr indent="0" lvl="0" marL="0" rtl="0" algn="r">
              <a:lnSpc>
                <a:spcPct val="100000"/>
              </a:lnSpc>
              <a:spcBef>
                <a:spcPts val="1000"/>
              </a:spcBef>
              <a:spcAft>
                <a:spcPts val="0"/>
              </a:spcAft>
              <a:buNone/>
            </a:pPr>
            <a:r>
              <a:t/>
            </a:r>
            <a:endParaRPr sz="1800">
              <a:solidFill>
                <a:schemeClr val="dk1"/>
              </a:solidFill>
              <a:latin typeface="Lexend"/>
              <a:ea typeface="Lexend"/>
              <a:cs typeface="Lexend"/>
              <a:sym typeface="Lexend"/>
            </a:endParaRPr>
          </a:p>
        </p:txBody>
      </p:sp>
      <p:grpSp>
        <p:nvGrpSpPr>
          <p:cNvPr id="1195" name="Google Shape;1195;p91"/>
          <p:cNvGrpSpPr/>
          <p:nvPr/>
        </p:nvGrpSpPr>
        <p:grpSpPr>
          <a:xfrm>
            <a:off x="838227" y="2406836"/>
            <a:ext cx="3162475" cy="1134825"/>
            <a:chOff x="838227" y="2406836"/>
            <a:chExt cx="3162475" cy="1134825"/>
          </a:xfrm>
        </p:grpSpPr>
        <p:cxnSp>
          <p:nvCxnSpPr>
            <p:cNvPr id="1196" name="Google Shape;1196;p91"/>
            <p:cNvCxnSpPr>
              <a:endCxn id="1197" idx="1"/>
            </p:cNvCxnSpPr>
            <p:nvPr/>
          </p:nvCxnSpPr>
          <p:spPr>
            <a:xfrm flipH="1" rot="10800000">
              <a:off x="848902" y="2406836"/>
              <a:ext cx="3151800" cy="416700"/>
            </a:xfrm>
            <a:prstGeom prst="straightConnector1">
              <a:avLst/>
            </a:prstGeom>
            <a:noFill/>
            <a:ln cap="flat" cmpd="sng" w="19050">
              <a:solidFill>
                <a:schemeClr val="dk2"/>
              </a:solidFill>
              <a:prstDash val="solid"/>
              <a:round/>
              <a:headEnd len="med" w="med" type="none"/>
              <a:tailEnd len="med" w="med" type="triangle"/>
            </a:ln>
          </p:spPr>
        </p:cxnSp>
        <p:cxnSp>
          <p:nvCxnSpPr>
            <p:cNvPr id="1198" name="Google Shape;1198;p91"/>
            <p:cNvCxnSpPr>
              <a:endCxn id="1199" idx="1"/>
            </p:cNvCxnSpPr>
            <p:nvPr/>
          </p:nvCxnSpPr>
          <p:spPr>
            <a:xfrm>
              <a:off x="838227" y="2812661"/>
              <a:ext cx="2735400" cy="729000"/>
            </a:xfrm>
            <a:prstGeom prst="straightConnector1">
              <a:avLst/>
            </a:prstGeom>
            <a:noFill/>
            <a:ln cap="flat" cmpd="sng" w="19050">
              <a:solidFill>
                <a:schemeClr val="dk2"/>
              </a:solidFill>
              <a:prstDash val="solid"/>
              <a:round/>
              <a:headEnd len="med" w="med" type="none"/>
              <a:tailEnd len="med" w="med" type="triangle"/>
            </a:ln>
          </p:spPr>
        </p:cxnSp>
      </p:grpSp>
      <p:grpSp>
        <p:nvGrpSpPr>
          <p:cNvPr id="1200" name="Google Shape;1200;p91"/>
          <p:cNvGrpSpPr/>
          <p:nvPr/>
        </p:nvGrpSpPr>
        <p:grpSpPr>
          <a:xfrm>
            <a:off x="3573627" y="2239886"/>
            <a:ext cx="2035663" cy="1624275"/>
            <a:chOff x="3573627" y="2239886"/>
            <a:chExt cx="2035663" cy="1624275"/>
          </a:xfrm>
        </p:grpSpPr>
        <p:sp>
          <p:nvSpPr>
            <p:cNvPr id="1199" name="Google Shape;1199;p91"/>
            <p:cNvSpPr/>
            <p:nvPr/>
          </p:nvSpPr>
          <p:spPr>
            <a:xfrm>
              <a:off x="3573627" y="3374711"/>
              <a:ext cx="295800" cy="33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3400">
                  <a:solidFill>
                    <a:srgbClr val="222222"/>
                  </a:solidFill>
                  <a:latin typeface="Lexend"/>
                  <a:ea typeface="Lexend"/>
                  <a:cs typeface="Lexend"/>
                  <a:sym typeface="Lexend"/>
                </a:rPr>
                <a:t>×</a:t>
              </a:r>
              <a:endParaRPr sz="3300">
                <a:latin typeface="Lexend"/>
                <a:ea typeface="Lexend"/>
                <a:cs typeface="Lexend"/>
                <a:sym typeface="Lexend"/>
              </a:endParaRPr>
            </a:p>
          </p:txBody>
        </p:sp>
        <p:sp>
          <p:nvSpPr>
            <p:cNvPr id="1197" name="Google Shape;1197;p91"/>
            <p:cNvSpPr/>
            <p:nvPr/>
          </p:nvSpPr>
          <p:spPr>
            <a:xfrm>
              <a:off x="4000702" y="2239886"/>
              <a:ext cx="295800" cy="33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3400">
                  <a:solidFill>
                    <a:srgbClr val="222222"/>
                  </a:solidFill>
                  <a:latin typeface="Lexend"/>
                  <a:ea typeface="Lexend"/>
                  <a:cs typeface="Lexend"/>
                  <a:sym typeface="Lexend"/>
                </a:rPr>
                <a:t>×</a:t>
              </a:r>
              <a:endParaRPr sz="3300">
                <a:latin typeface="Lexend"/>
                <a:ea typeface="Lexend"/>
                <a:cs typeface="Lexend"/>
                <a:sym typeface="Lexend"/>
              </a:endParaRPr>
            </a:p>
          </p:txBody>
        </p:sp>
        <p:sp>
          <p:nvSpPr>
            <p:cNvPr id="1201" name="Google Shape;1201;p91"/>
            <p:cNvSpPr/>
            <p:nvPr/>
          </p:nvSpPr>
          <p:spPr>
            <a:xfrm>
              <a:off x="5313490" y="3530261"/>
              <a:ext cx="295800" cy="33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3400">
                  <a:solidFill>
                    <a:srgbClr val="222222"/>
                  </a:solidFill>
                  <a:latin typeface="Lexend"/>
                  <a:ea typeface="Lexend"/>
                  <a:cs typeface="Lexend"/>
                  <a:sym typeface="Lexend"/>
                </a:rPr>
                <a:t>×</a:t>
              </a:r>
              <a:endParaRPr sz="3300">
                <a:latin typeface="Lexend"/>
                <a:ea typeface="Lexend"/>
                <a:cs typeface="Lexend"/>
                <a:sym typeface="Lexend"/>
              </a:endParaRPr>
            </a:p>
          </p:txBody>
        </p:sp>
        <p:sp>
          <p:nvSpPr>
            <p:cNvPr id="1202" name="Google Shape;1202;p91"/>
            <p:cNvSpPr/>
            <p:nvPr/>
          </p:nvSpPr>
          <p:spPr>
            <a:xfrm>
              <a:off x="5099177" y="2316479"/>
              <a:ext cx="295800" cy="33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3400">
                  <a:solidFill>
                    <a:srgbClr val="222222"/>
                  </a:solidFill>
                  <a:latin typeface="Lexend"/>
                  <a:ea typeface="Lexend"/>
                  <a:cs typeface="Lexend"/>
                  <a:sym typeface="Lexend"/>
                </a:rPr>
                <a:t>×</a:t>
              </a:r>
              <a:endParaRPr sz="3300">
                <a:latin typeface="Lexend"/>
                <a:ea typeface="Lexend"/>
                <a:cs typeface="Lexend"/>
                <a:sym typeface="Lexend"/>
              </a:endParaRPr>
            </a:p>
          </p:txBody>
        </p:sp>
      </p:grpSp>
      <p:cxnSp>
        <p:nvCxnSpPr>
          <p:cNvPr id="1203" name="Google Shape;1203;p91"/>
          <p:cNvCxnSpPr/>
          <p:nvPr/>
        </p:nvCxnSpPr>
        <p:spPr>
          <a:xfrm>
            <a:off x="4118400" y="2453550"/>
            <a:ext cx="1087800" cy="75300"/>
          </a:xfrm>
          <a:prstGeom prst="straightConnector1">
            <a:avLst/>
          </a:prstGeom>
          <a:noFill/>
          <a:ln cap="flat" cmpd="sng" w="38100">
            <a:solidFill>
              <a:schemeClr val="dk1"/>
            </a:solidFill>
            <a:prstDash val="solid"/>
            <a:round/>
            <a:headEnd len="med" w="med" type="none"/>
            <a:tailEnd len="med" w="med" type="none"/>
          </a:ln>
        </p:spPr>
      </p:cxnSp>
      <p:cxnSp>
        <p:nvCxnSpPr>
          <p:cNvPr id="1204" name="Google Shape;1204;p91"/>
          <p:cNvCxnSpPr/>
          <p:nvPr/>
        </p:nvCxnSpPr>
        <p:spPr>
          <a:xfrm>
            <a:off x="5217100" y="2534350"/>
            <a:ext cx="204600" cy="1206300"/>
          </a:xfrm>
          <a:prstGeom prst="straightConnector1">
            <a:avLst/>
          </a:prstGeom>
          <a:noFill/>
          <a:ln cap="flat" cmpd="sng" w="38100">
            <a:solidFill>
              <a:schemeClr val="dk1"/>
            </a:solidFill>
            <a:prstDash val="solid"/>
            <a:round/>
            <a:headEnd len="med" w="med" type="none"/>
            <a:tailEnd len="med" w="med" type="none"/>
          </a:ln>
        </p:spPr>
      </p:cxnSp>
      <p:cxnSp>
        <p:nvCxnSpPr>
          <p:cNvPr id="1205" name="Google Shape;1205;p91"/>
          <p:cNvCxnSpPr/>
          <p:nvPr/>
        </p:nvCxnSpPr>
        <p:spPr>
          <a:xfrm flipH="1">
            <a:off x="3698225" y="2539725"/>
            <a:ext cx="1508100" cy="1034100"/>
          </a:xfrm>
          <a:prstGeom prst="straightConnector1">
            <a:avLst/>
          </a:prstGeom>
          <a:noFill/>
          <a:ln cap="flat" cmpd="sng" w="38100">
            <a:solidFill>
              <a:schemeClr val="dk1"/>
            </a:solidFill>
            <a:prstDash val="solid"/>
            <a:round/>
            <a:headEnd len="med" w="med" type="none"/>
            <a:tailEnd len="med" w="med" type="none"/>
          </a:ln>
        </p:spPr>
      </p:cxnSp>
      <p:cxnSp>
        <p:nvCxnSpPr>
          <p:cNvPr id="1206" name="Google Shape;1206;p91"/>
          <p:cNvCxnSpPr/>
          <p:nvPr/>
        </p:nvCxnSpPr>
        <p:spPr>
          <a:xfrm flipH="1">
            <a:off x="5271125" y="2748700"/>
            <a:ext cx="3090900" cy="83100"/>
          </a:xfrm>
          <a:prstGeom prst="straightConnector1">
            <a:avLst/>
          </a:prstGeom>
          <a:noFill/>
          <a:ln cap="flat" cmpd="sng" w="19050">
            <a:solidFill>
              <a:schemeClr val="dk2"/>
            </a:solidFill>
            <a:prstDash val="solid"/>
            <a:round/>
            <a:headEnd len="med" w="med" type="none"/>
            <a:tailEnd len="med" w="med" type="triangle"/>
          </a:ln>
        </p:spPr>
      </p:cxnSp>
      <p:cxnSp>
        <p:nvCxnSpPr>
          <p:cNvPr id="1207" name="Google Shape;1207;p91"/>
          <p:cNvCxnSpPr/>
          <p:nvPr/>
        </p:nvCxnSpPr>
        <p:spPr>
          <a:xfrm flipH="1" rot="10800000">
            <a:off x="822300" y="3977700"/>
            <a:ext cx="3612300" cy="194400"/>
          </a:xfrm>
          <a:prstGeom prst="straightConnector1">
            <a:avLst/>
          </a:prstGeom>
          <a:noFill/>
          <a:ln cap="flat" cmpd="sng" w="19050">
            <a:solidFill>
              <a:schemeClr val="dk2"/>
            </a:solidFill>
            <a:prstDash val="solid"/>
            <a:round/>
            <a:headEnd len="med" w="med" type="none"/>
            <a:tailEnd len="med" w="med" type="triangle"/>
          </a:ln>
        </p:spPr>
      </p:cxnSp>
      <p:cxnSp>
        <p:nvCxnSpPr>
          <p:cNvPr id="1208" name="Google Shape;1208;p91"/>
          <p:cNvCxnSpPr/>
          <p:nvPr/>
        </p:nvCxnSpPr>
        <p:spPr>
          <a:xfrm rot="10800000">
            <a:off x="4713375" y="2986500"/>
            <a:ext cx="2578800" cy="836400"/>
          </a:xfrm>
          <a:prstGeom prst="straightConnector1">
            <a:avLst/>
          </a:prstGeom>
          <a:noFill/>
          <a:ln cap="flat" cmpd="sng" w="19050">
            <a:solidFill>
              <a:schemeClr val="dk2"/>
            </a:solidFill>
            <a:prstDash val="solid"/>
            <a:round/>
            <a:headEnd len="med" w="med" type="none"/>
            <a:tailEnd len="med" w="med" type="triangle"/>
          </a:ln>
        </p:spPr>
      </p:cxnSp>
      <p:sp>
        <p:nvSpPr>
          <p:cNvPr id="1209" name="Google Shape;1209;p91"/>
          <p:cNvSpPr txBox="1"/>
          <p:nvPr>
            <p:ph idx="1" type="body"/>
          </p:nvPr>
        </p:nvSpPr>
        <p:spPr>
          <a:xfrm>
            <a:off x="324000" y="1458325"/>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In this example there are 4 points, 6 lines, 1 intersection and 8 regions.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215" name="Google Shape;1215;p92"/>
          <p:cNvSpPr txBox="1"/>
          <p:nvPr>
            <p:ph idx="1" type="body"/>
          </p:nvPr>
        </p:nvSpPr>
        <p:spPr>
          <a:xfrm>
            <a:off x="324000" y="759300"/>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Start with a circle with one point marked. </a:t>
            </a:r>
            <a:endParaRPr sz="1800"/>
          </a:p>
        </p:txBody>
      </p:sp>
      <p:sp>
        <p:nvSpPr>
          <p:cNvPr id="1216" name="Google Shape;1216;p92"/>
          <p:cNvSpPr txBox="1"/>
          <p:nvPr>
            <p:ph idx="1" type="body"/>
          </p:nvPr>
        </p:nvSpPr>
        <p:spPr>
          <a:xfrm>
            <a:off x="324000" y="3240000"/>
            <a:ext cx="8496000" cy="52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As there is only one point we cannot join the points with a line. So there are </a:t>
            </a:r>
            <a:r>
              <a:rPr lang="en-GB" sz="1800">
                <a:solidFill>
                  <a:schemeClr val="accent5"/>
                </a:solidFill>
              </a:rPr>
              <a:t>0 lines</a:t>
            </a:r>
            <a:r>
              <a:rPr lang="en-GB" sz="1800"/>
              <a:t>.</a:t>
            </a:r>
            <a:endParaRPr sz="1800"/>
          </a:p>
        </p:txBody>
      </p:sp>
      <p:sp>
        <p:nvSpPr>
          <p:cNvPr id="1217" name="Google Shape;1217;p92"/>
          <p:cNvSpPr/>
          <p:nvPr/>
        </p:nvSpPr>
        <p:spPr>
          <a:xfrm>
            <a:off x="903456" y="1512150"/>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18" name="Google Shape;1218;p92"/>
          <p:cNvSpPr txBox="1"/>
          <p:nvPr/>
        </p:nvSpPr>
        <p:spPr>
          <a:xfrm>
            <a:off x="289050" y="3900750"/>
            <a:ext cx="8224200" cy="33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As there are no lines there are no points where the lines cross each other so </a:t>
            </a:r>
            <a:r>
              <a:rPr lang="en-GB" sz="1800">
                <a:solidFill>
                  <a:schemeClr val="accent5"/>
                </a:solidFill>
                <a:latin typeface="Lexend"/>
                <a:ea typeface="Lexend"/>
                <a:cs typeface="Lexend"/>
                <a:sym typeface="Lexend"/>
              </a:rPr>
              <a:t>0 intersections</a:t>
            </a:r>
            <a:r>
              <a:rPr lang="en-GB" sz="18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
        <p:nvSpPr>
          <p:cNvPr id="1219" name="Google Shape;1219;p92"/>
          <p:cNvSpPr/>
          <p:nvPr/>
        </p:nvSpPr>
        <p:spPr>
          <a:xfrm>
            <a:off x="903456" y="1512150"/>
            <a:ext cx="1461300" cy="1461300"/>
          </a:xfrm>
          <a:prstGeom prst="ellipse">
            <a:avLst/>
          </a:prstGeom>
          <a:solidFill>
            <a:srgbClr val="E6F2F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20" name="Google Shape;1220;p92"/>
          <p:cNvSpPr/>
          <p:nvPr/>
        </p:nvSpPr>
        <p:spPr>
          <a:xfrm>
            <a:off x="833283" y="2156848"/>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21" name="Google Shape;1221;p92"/>
          <p:cNvSpPr txBox="1"/>
          <p:nvPr>
            <p:ph idx="1" type="body"/>
          </p:nvPr>
        </p:nvSpPr>
        <p:spPr>
          <a:xfrm>
            <a:off x="3112300" y="1850100"/>
            <a:ext cx="4634400" cy="52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circle itself is 1 region</a:t>
            </a:r>
            <a:r>
              <a:rPr lang="en-GB" sz="1800"/>
              <a:t>. </a:t>
            </a:r>
            <a:endParaRPr sz="1800"/>
          </a:p>
          <a:p>
            <a:pPr indent="0" lvl="0" marL="0" rtl="0" algn="l">
              <a:spcBef>
                <a:spcPts val="1000"/>
              </a:spcBef>
              <a:spcAft>
                <a:spcPts val="1000"/>
              </a:spcAft>
              <a:buNone/>
            </a:pPr>
            <a:r>
              <a:rPr lang="en-GB" sz="1800"/>
              <a:t>So there is </a:t>
            </a:r>
            <a:r>
              <a:rPr lang="en-GB" sz="1800">
                <a:solidFill>
                  <a:schemeClr val="accent5"/>
                </a:solidFill>
              </a:rPr>
              <a:t>1</a:t>
            </a:r>
            <a:r>
              <a:rPr lang="en-GB" sz="1800">
                <a:solidFill>
                  <a:schemeClr val="accent5"/>
                </a:solidFill>
              </a:rPr>
              <a:t> region</a:t>
            </a:r>
            <a:r>
              <a:rPr lang="en-GB" sz="1800"/>
              <a: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93"/>
          <p:cNvSpPr/>
          <p:nvPr/>
        </p:nvSpPr>
        <p:spPr>
          <a:xfrm>
            <a:off x="4332662" y="1507949"/>
            <a:ext cx="1461300" cy="1461300"/>
          </a:xfrm>
          <a:prstGeom prst="chord">
            <a:avLst>
              <a:gd fmla="val 20499709" name="adj1"/>
              <a:gd fmla="val 10151581" name="adj2"/>
            </a:avLst>
          </a:prstGeom>
          <a:solidFill>
            <a:srgbClr val="F3EE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7" name="Google Shape;1227;p93"/>
          <p:cNvSpPr/>
          <p:nvPr/>
        </p:nvSpPr>
        <p:spPr>
          <a:xfrm>
            <a:off x="4332662" y="1507949"/>
            <a:ext cx="1461300" cy="1461300"/>
          </a:xfrm>
          <a:prstGeom prst="chord">
            <a:avLst>
              <a:gd fmla="val 10104555" name="adj1"/>
              <a:gd fmla="val 20477523" name="adj2"/>
            </a:avLst>
          </a:prstGeom>
          <a:solidFill>
            <a:srgbClr val="E6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8" name="Google Shape;1228;p93"/>
          <p:cNvSpPr/>
          <p:nvPr/>
        </p:nvSpPr>
        <p:spPr>
          <a:xfrm>
            <a:off x="4332653" y="1507949"/>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29" name="Google Shape;1229;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230" name="Google Shape;1230;p93"/>
          <p:cNvSpPr/>
          <p:nvPr/>
        </p:nvSpPr>
        <p:spPr>
          <a:xfrm>
            <a:off x="903456" y="1512150"/>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31" name="Google Shape;1231;p93"/>
          <p:cNvSpPr txBox="1"/>
          <p:nvPr>
            <p:ph idx="1" type="body"/>
          </p:nvPr>
        </p:nvSpPr>
        <p:spPr>
          <a:xfrm>
            <a:off x="324000" y="3240000"/>
            <a:ext cx="8496000" cy="52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Two points can be joined with a straight line. So there is </a:t>
            </a:r>
            <a:r>
              <a:rPr lang="en-GB" sz="1800">
                <a:solidFill>
                  <a:schemeClr val="accent5"/>
                </a:solidFill>
              </a:rPr>
              <a:t>1 line</a:t>
            </a:r>
            <a:r>
              <a:rPr lang="en-GB" sz="1800"/>
              <a:t>.</a:t>
            </a:r>
            <a:endParaRPr sz="1800"/>
          </a:p>
        </p:txBody>
      </p:sp>
      <p:sp>
        <p:nvSpPr>
          <p:cNvPr id="1232" name="Google Shape;1232;p93"/>
          <p:cNvSpPr txBox="1"/>
          <p:nvPr>
            <p:ph idx="1" type="body"/>
          </p:nvPr>
        </p:nvSpPr>
        <p:spPr>
          <a:xfrm>
            <a:off x="324000" y="3763800"/>
            <a:ext cx="8496000" cy="44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are no points where line cross each other so there are </a:t>
            </a:r>
            <a:r>
              <a:rPr lang="en-GB" sz="1800">
                <a:solidFill>
                  <a:schemeClr val="accent5"/>
                </a:solidFill>
              </a:rPr>
              <a:t>0 intersections</a:t>
            </a:r>
            <a:r>
              <a:rPr lang="en-GB" sz="1800"/>
              <a:t>.</a:t>
            </a:r>
            <a:endParaRPr sz="1800"/>
          </a:p>
        </p:txBody>
      </p:sp>
      <p:sp>
        <p:nvSpPr>
          <p:cNvPr id="1233" name="Google Shape;1233;p93"/>
          <p:cNvSpPr txBox="1"/>
          <p:nvPr>
            <p:ph idx="1" type="body"/>
          </p:nvPr>
        </p:nvSpPr>
        <p:spPr>
          <a:xfrm>
            <a:off x="324000" y="818100"/>
            <a:ext cx="8496000" cy="523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Now let’s look at </a:t>
            </a:r>
            <a:r>
              <a:rPr lang="en-GB" sz="1800">
                <a:solidFill>
                  <a:schemeClr val="accent5"/>
                </a:solidFill>
              </a:rPr>
              <a:t>two points</a:t>
            </a:r>
            <a:r>
              <a:rPr lang="en-GB" sz="1800"/>
              <a:t>.</a:t>
            </a:r>
            <a:endParaRPr sz="1800"/>
          </a:p>
        </p:txBody>
      </p:sp>
      <p:sp>
        <p:nvSpPr>
          <p:cNvPr id="1234" name="Google Shape;1234;p93"/>
          <p:cNvSpPr txBox="1"/>
          <p:nvPr>
            <p:ph idx="1" type="body"/>
          </p:nvPr>
        </p:nvSpPr>
        <p:spPr>
          <a:xfrm>
            <a:off x="324000" y="4320000"/>
            <a:ext cx="8496000" cy="34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line splits the circle into </a:t>
            </a:r>
            <a:r>
              <a:rPr lang="en-GB" sz="1800">
                <a:solidFill>
                  <a:schemeClr val="accent5"/>
                </a:solidFill>
              </a:rPr>
              <a:t>2 regions</a:t>
            </a:r>
            <a:r>
              <a:rPr lang="en-GB" sz="1800"/>
              <a:t>.</a:t>
            </a:r>
            <a:endParaRPr sz="1800"/>
          </a:p>
        </p:txBody>
      </p:sp>
      <p:sp>
        <p:nvSpPr>
          <p:cNvPr id="1235" name="Google Shape;1235;p93"/>
          <p:cNvSpPr/>
          <p:nvPr/>
        </p:nvSpPr>
        <p:spPr>
          <a:xfrm>
            <a:off x="903456" y="1512150"/>
            <a:ext cx="1461300" cy="1461300"/>
          </a:xfrm>
          <a:prstGeom prst="ellipse">
            <a:avLst/>
          </a:prstGeom>
          <a:solidFill>
            <a:srgbClr val="E6F2F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36" name="Google Shape;1236;p93"/>
          <p:cNvSpPr/>
          <p:nvPr/>
        </p:nvSpPr>
        <p:spPr>
          <a:xfrm>
            <a:off x="833283" y="2156848"/>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grpSp>
        <p:nvGrpSpPr>
          <p:cNvPr id="1237" name="Google Shape;1237;p93"/>
          <p:cNvGrpSpPr/>
          <p:nvPr/>
        </p:nvGrpSpPr>
        <p:grpSpPr>
          <a:xfrm>
            <a:off x="4264088" y="1852187"/>
            <a:ext cx="1725595" cy="610500"/>
            <a:chOff x="4264088" y="1852187"/>
            <a:chExt cx="1725595" cy="610500"/>
          </a:xfrm>
        </p:grpSpPr>
        <p:sp>
          <p:nvSpPr>
            <p:cNvPr id="1238" name="Google Shape;1238;p93"/>
            <p:cNvSpPr/>
            <p:nvPr/>
          </p:nvSpPr>
          <p:spPr>
            <a:xfrm>
              <a:off x="4264088" y="2230187"/>
              <a:ext cx="326400" cy="23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39" name="Google Shape;1239;p93"/>
            <p:cNvSpPr/>
            <p:nvPr/>
          </p:nvSpPr>
          <p:spPr>
            <a:xfrm>
              <a:off x="5663282" y="1852187"/>
              <a:ext cx="326400" cy="23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grpSp>
      <p:cxnSp>
        <p:nvCxnSpPr>
          <p:cNvPr id="1240" name="Google Shape;1240;p93"/>
          <p:cNvCxnSpPr/>
          <p:nvPr/>
        </p:nvCxnSpPr>
        <p:spPr>
          <a:xfrm flipH="1">
            <a:off x="4347950" y="1996275"/>
            <a:ext cx="1398000" cy="3738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246" name="Google Shape;1246;p94"/>
          <p:cNvSpPr txBox="1"/>
          <p:nvPr>
            <p:ph idx="1" type="body"/>
          </p:nvPr>
        </p:nvSpPr>
        <p:spPr>
          <a:xfrm>
            <a:off x="324000" y="759300"/>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Here is a table to record what you find. </a:t>
            </a:r>
            <a:endParaRPr sz="1800"/>
          </a:p>
        </p:txBody>
      </p:sp>
      <p:sp>
        <p:nvSpPr>
          <p:cNvPr id="1247" name="Google Shape;1247;p94"/>
          <p:cNvSpPr txBox="1"/>
          <p:nvPr>
            <p:ph idx="1" type="body"/>
          </p:nvPr>
        </p:nvSpPr>
        <p:spPr>
          <a:xfrm>
            <a:off x="324000" y="3312900"/>
            <a:ext cx="5111100" cy="61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a:t>
            </a:r>
            <a:r>
              <a:rPr lang="en-GB" sz="1800"/>
              <a:t>) Complete the table for 2 points.</a:t>
            </a:r>
            <a:endParaRPr sz="1800"/>
          </a:p>
          <a:p>
            <a:pPr indent="0" lvl="0" marL="0" rtl="0" algn="l">
              <a:spcBef>
                <a:spcPts val="1000"/>
              </a:spcBef>
              <a:spcAft>
                <a:spcPts val="0"/>
              </a:spcAft>
              <a:buNone/>
            </a:pPr>
            <a:r>
              <a:rPr lang="en-GB" sz="1800"/>
              <a:t>b) Fill in the table for 3 points and 4 points. </a:t>
            </a:r>
            <a:endParaRPr sz="1800"/>
          </a:p>
          <a:p>
            <a:pPr indent="0" lvl="0" marL="0" rtl="0" algn="l">
              <a:spcBef>
                <a:spcPts val="1000"/>
              </a:spcBef>
              <a:spcAft>
                <a:spcPts val="0"/>
              </a:spcAft>
              <a:buClr>
                <a:schemeClr val="dk1"/>
              </a:buClr>
              <a:buSzPts val="1100"/>
              <a:buFont typeface="Arial"/>
              <a:buNone/>
            </a:pPr>
            <a:r>
              <a:rPr lang="en-GB" sz="1800"/>
              <a:t>c</a:t>
            </a:r>
            <a:r>
              <a:rPr lang="en-GB" sz="1800"/>
              <a:t>) Describe any patterns you notice.</a:t>
            </a:r>
            <a:endParaRPr sz="1800"/>
          </a:p>
          <a:p>
            <a:pPr indent="0" lvl="0" marL="0" rtl="0" algn="l">
              <a:spcBef>
                <a:spcPts val="1000"/>
              </a:spcBef>
              <a:spcAft>
                <a:spcPts val="1000"/>
              </a:spcAft>
              <a:buClr>
                <a:schemeClr val="dk1"/>
              </a:buClr>
              <a:buSzPts val="1100"/>
              <a:buFont typeface="Arial"/>
              <a:buNone/>
            </a:pPr>
            <a:r>
              <a:t/>
            </a:r>
            <a:endParaRPr sz="1800"/>
          </a:p>
        </p:txBody>
      </p:sp>
      <p:sp>
        <p:nvSpPr>
          <p:cNvPr id="1248" name="Google Shape;1248;p94"/>
          <p:cNvSpPr/>
          <p:nvPr/>
        </p:nvSpPr>
        <p:spPr>
          <a:xfrm>
            <a:off x="5198407" y="3341775"/>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49" name="Google Shape;1249;p94"/>
          <p:cNvSpPr/>
          <p:nvPr/>
        </p:nvSpPr>
        <p:spPr>
          <a:xfrm>
            <a:off x="5346231" y="4471005"/>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graphicFrame>
        <p:nvGraphicFramePr>
          <p:cNvPr id="1250" name="Google Shape;1250;p94"/>
          <p:cNvGraphicFramePr/>
          <p:nvPr/>
        </p:nvGraphicFramePr>
        <p:xfrm>
          <a:off x="390900" y="1950138"/>
          <a:ext cx="3000000" cy="3000000"/>
        </p:xfrm>
        <a:graphic>
          <a:graphicData uri="http://schemas.openxmlformats.org/drawingml/2006/table">
            <a:tbl>
              <a:tblPr>
                <a:noFill/>
                <a:tableStyleId>{4AB3277E-3E12-4634-AB05-300492CF9E7F}</a:tableStyleId>
              </a:tblPr>
              <a:tblGrid>
                <a:gridCol w="3081700"/>
                <a:gridCol w="1272025"/>
                <a:gridCol w="1370950"/>
                <a:gridCol w="1370950"/>
                <a:gridCol w="1370950"/>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51" name="Google Shape;1251;p94"/>
          <p:cNvSpPr/>
          <p:nvPr/>
        </p:nvSpPr>
        <p:spPr>
          <a:xfrm>
            <a:off x="6562077" y="4153204"/>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52" name="Google Shape;1252;p94"/>
          <p:cNvSpPr/>
          <p:nvPr/>
        </p:nvSpPr>
        <p:spPr>
          <a:xfrm>
            <a:off x="5652511" y="3255809"/>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53" name="Google Shape;1253;p94"/>
          <p:cNvSpPr/>
          <p:nvPr/>
        </p:nvSpPr>
        <p:spPr>
          <a:xfrm>
            <a:off x="6966857" y="3374850"/>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54" name="Google Shape;1254;p94"/>
          <p:cNvSpPr/>
          <p:nvPr/>
        </p:nvSpPr>
        <p:spPr>
          <a:xfrm>
            <a:off x="6888056" y="4019561"/>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55" name="Google Shape;1255;p94"/>
          <p:cNvSpPr/>
          <p:nvPr/>
        </p:nvSpPr>
        <p:spPr>
          <a:xfrm>
            <a:off x="8363745" y="4019552"/>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56" name="Google Shape;1256;p94"/>
          <p:cNvSpPr/>
          <p:nvPr/>
        </p:nvSpPr>
        <p:spPr>
          <a:xfrm>
            <a:off x="7620697" y="3248275"/>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57" name="Google Shape;1257;p94"/>
          <p:cNvSpPr/>
          <p:nvPr/>
        </p:nvSpPr>
        <p:spPr>
          <a:xfrm>
            <a:off x="7620697" y="4724650"/>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58" name="Google Shape;1258;p94"/>
          <p:cNvSpPr/>
          <p:nvPr/>
        </p:nvSpPr>
        <p:spPr>
          <a:xfrm>
            <a:off x="6903050" y="669825"/>
            <a:ext cx="1080000" cy="1080000"/>
          </a:xfrm>
          <a:prstGeom prst="chord">
            <a:avLst>
              <a:gd fmla="val 20499709" name="adj1"/>
              <a:gd fmla="val 10151581" name="adj2"/>
            </a:avLst>
          </a:prstGeom>
          <a:solidFill>
            <a:srgbClr val="F3EE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9" name="Google Shape;1259;p94"/>
          <p:cNvSpPr/>
          <p:nvPr/>
        </p:nvSpPr>
        <p:spPr>
          <a:xfrm>
            <a:off x="6903050" y="669825"/>
            <a:ext cx="1080000" cy="1080000"/>
          </a:xfrm>
          <a:prstGeom prst="chord">
            <a:avLst>
              <a:gd fmla="val 10104555" name="adj1"/>
              <a:gd fmla="val 20477523" name="adj2"/>
            </a:avLst>
          </a:prstGeom>
          <a:solidFill>
            <a:srgbClr val="E6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0" name="Google Shape;1260;p94"/>
          <p:cNvSpPr/>
          <p:nvPr/>
        </p:nvSpPr>
        <p:spPr>
          <a:xfrm>
            <a:off x="6903043" y="669825"/>
            <a:ext cx="1080000" cy="1080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61" name="Google Shape;1261;p94"/>
          <p:cNvSpPr/>
          <p:nvPr/>
        </p:nvSpPr>
        <p:spPr>
          <a:xfrm>
            <a:off x="5435101" y="669825"/>
            <a:ext cx="1080000" cy="1080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62" name="Google Shape;1262;p94"/>
          <p:cNvSpPr/>
          <p:nvPr/>
        </p:nvSpPr>
        <p:spPr>
          <a:xfrm>
            <a:off x="5375883" y="1203598"/>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63" name="Google Shape;1263;p94"/>
          <p:cNvSpPr/>
          <p:nvPr/>
        </p:nvSpPr>
        <p:spPr>
          <a:xfrm>
            <a:off x="6852370" y="1203598"/>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64" name="Google Shape;1264;p94"/>
          <p:cNvSpPr/>
          <p:nvPr/>
        </p:nvSpPr>
        <p:spPr>
          <a:xfrm>
            <a:off x="7886445" y="924235"/>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1265" name="Google Shape;1265;p94"/>
          <p:cNvCxnSpPr/>
          <p:nvPr/>
        </p:nvCxnSpPr>
        <p:spPr>
          <a:xfrm flipH="1">
            <a:off x="6932500" y="1038975"/>
            <a:ext cx="1026000" cy="2811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95"/>
          <p:cNvSpPr txBox="1"/>
          <p:nvPr>
            <p:ph idx="1" type="body"/>
          </p:nvPr>
        </p:nvSpPr>
        <p:spPr>
          <a:xfrm>
            <a:off x="324000" y="2946975"/>
            <a:ext cx="8496000" cy="187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d) Make a prediction for what the 5</a:t>
            </a:r>
            <a:r>
              <a:rPr baseline="30000" lang="en-GB" sz="1800"/>
              <a:t>th</a:t>
            </a:r>
            <a:r>
              <a:rPr lang="en-GB" sz="1800"/>
              <a:t> column will look like.</a:t>
            </a:r>
            <a:endParaRPr sz="1800"/>
          </a:p>
          <a:p>
            <a:pPr indent="0" lvl="0" marL="0" rtl="0" algn="l">
              <a:spcBef>
                <a:spcPts val="1000"/>
              </a:spcBef>
              <a:spcAft>
                <a:spcPts val="0"/>
              </a:spcAft>
              <a:buNone/>
            </a:pPr>
            <a:r>
              <a:rPr lang="en-GB" sz="1800"/>
              <a:t>e) Use the circle given to fill in the 5</a:t>
            </a:r>
            <a:r>
              <a:rPr baseline="30000" lang="en-GB" sz="1800"/>
              <a:t>th</a:t>
            </a:r>
            <a:r>
              <a:rPr lang="en-GB" sz="1800"/>
              <a:t> column.</a:t>
            </a:r>
            <a:endParaRPr sz="1800"/>
          </a:p>
          <a:p>
            <a:pPr indent="0" lvl="0" marL="0" rtl="0" algn="l">
              <a:spcBef>
                <a:spcPts val="1000"/>
              </a:spcBef>
              <a:spcAft>
                <a:spcPts val="1000"/>
              </a:spcAft>
              <a:buNone/>
            </a:pPr>
            <a:r>
              <a:rPr lang="en-GB" sz="1800"/>
              <a:t>f) Were you correct? Have any of your patterns changed? </a:t>
            </a:r>
            <a:endParaRPr sz="1800"/>
          </a:p>
        </p:txBody>
      </p:sp>
      <p:sp>
        <p:nvSpPr>
          <p:cNvPr id="1271" name="Google Shape;1271;p95"/>
          <p:cNvSpPr/>
          <p:nvPr/>
        </p:nvSpPr>
        <p:spPr>
          <a:xfrm>
            <a:off x="7167107" y="2826575"/>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72" name="Google Shape;1272;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273" name="Google Shape;1273;p95"/>
          <p:cNvSpPr txBox="1"/>
          <p:nvPr>
            <p:ph idx="1" type="body"/>
          </p:nvPr>
        </p:nvSpPr>
        <p:spPr>
          <a:xfrm>
            <a:off x="324000" y="759300"/>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Fill in this table to investigate patterns found when points around a circle are joined with straight lines.</a:t>
            </a:r>
            <a:endParaRPr sz="1800"/>
          </a:p>
        </p:txBody>
      </p:sp>
      <p:graphicFrame>
        <p:nvGraphicFramePr>
          <p:cNvPr id="1274" name="Google Shape;1274;p95"/>
          <p:cNvGraphicFramePr/>
          <p:nvPr/>
        </p:nvGraphicFramePr>
        <p:xfrm>
          <a:off x="338700" y="1453188"/>
          <a:ext cx="3000000" cy="3000000"/>
        </p:xfrm>
        <a:graphic>
          <a:graphicData uri="http://schemas.openxmlformats.org/drawingml/2006/table">
            <a:tbl>
              <a:tblPr>
                <a:noFill/>
                <a:tableStyleId>{4AB3277E-3E12-4634-AB05-300492CF9E7F}</a:tableStyleId>
              </a:tblPr>
              <a:tblGrid>
                <a:gridCol w="3125875"/>
                <a:gridCol w="1068125"/>
                <a:gridCol w="1068125"/>
                <a:gridCol w="1068125"/>
                <a:gridCol w="1068125"/>
                <a:gridCol w="1068125"/>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5</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75" name="Google Shape;1275;p95"/>
          <p:cNvSpPr/>
          <p:nvPr/>
        </p:nvSpPr>
        <p:spPr>
          <a:xfrm>
            <a:off x="7122916" y="3226248"/>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76" name="Google Shape;1276;p95"/>
          <p:cNvSpPr/>
          <p:nvPr/>
        </p:nvSpPr>
        <p:spPr>
          <a:xfrm>
            <a:off x="8258395" y="4034589"/>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77" name="Google Shape;1277;p95"/>
          <p:cNvSpPr/>
          <p:nvPr/>
        </p:nvSpPr>
        <p:spPr>
          <a:xfrm>
            <a:off x="7820947" y="2714327"/>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78" name="Google Shape;1278;p95"/>
          <p:cNvSpPr/>
          <p:nvPr/>
        </p:nvSpPr>
        <p:spPr>
          <a:xfrm>
            <a:off x="7391322" y="4044125"/>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79" name="Google Shape;1279;p95"/>
          <p:cNvSpPr/>
          <p:nvPr/>
        </p:nvSpPr>
        <p:spPr>
          <a:xfrm>
            <a:off x="8528238" y="3236000"/>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96"/>
          <p:cNvSpPr txBox="1"/>
          <p:nvPr>
            <p:ph idx="1" type="body"/>
          </p:nvPr>
        </p:nvSpPr>
        <p:spPr>
          <a:xfrm>
            <a:off x="324000" y="2870775"/>
            <a:ext cx="6782400" cy="187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g</a:t>
            </a:r>
            <a:r>
              <a:rPr lang="en-GB" sz="1800"/>
              <a:t>) Make a prediction for what the 6</a:t>
            </a:r>
            <a:r>
              <a:rPr baseline="30000" lang="en-GB" sz="1800"/>
              <a:t>th</a:t>
            </a:r>
            <a:r>
              <a:rPr lang="en-GB" sz="1800"/>
              <a:t> column will look like.</a:t>
            </a:r>
            <a:endParaRPr sz="1800"/>
          </a:p>
          <a:p>
            <a:pPr indent="0" lvl="0" marL="0" rtl="0" algn="l">
              <a:spcBef>
                <a:spcPts val="1000"/>
              </a:spcBef>
              <a:spcAft>
                <a:spcPts val="0"/>
              </a:spcAft>
              <a:buNone/>
            </a:pPr>
            <a:r>
              <a:rPr lang="en-GB" sz="1800"/>
              <a:t>h) Use the circle given to fill in the 6</a:t>
            </a:r>
            <a:r>
              <a:rPr baseline="30000" lang="en-GB" sz="1800"/>
              <a:t>th</a:t>
            </a:r>
            <a:r>
              <a:rPr lang="en-GB" sz="1800"/>
              <a:t> column. </a:t>
            </a:r>
            <a:endParaRPr sz="1800"/>
          </a:p>
          <a:p>
            <a:pPr indent="0" lvl="0" marL="0" rtl="0" algn="l">
              <a:spcBef>
                <a:spcPts val="1000"/>
              </a:spcBef>
              <a:spcAft>
                <a:spcPts val="0"/>
              </a:spcAft>
              <a:buNone/>
            </a:pPr>
            <a:r>
              <a:rPr lang="en-GB" sz="1800"/>
              <a:t>i) Were you correct? Write a sentence explaining what you have found.</a:t>
            </a:r>
            <a:endParaRPr sz="1800"/>
          </a:p>
          <a:p>
            <a:pPr indent="0" lvl="0" marL="0" rtl="0" algn="l">
              <a:spcBef>
                <a:spcPts val="1000"/>
              </a:spcBef>
              <a:spcAft>
                <a:spcPts val="1000"/>
              </a:spcAft>
              <a:buNone/>
            </a:pPr>
            <a:r>
              <a:t/>
            </a:r>
            <a:endParaRPr sz="1800"/>
          </a:p>
        </p:txBody>
      </p:sp>
      <p:sp>
        <p:nvSpPr>
          <p:cNvPr id="1285" name="Google Shape;1285;p96"/>
          <p:cNvSpPr/>
          <p:nvPr/>
        </p:nvSpPr>
        <p:spPr>
          <a:xfrm>
            <a:off x="7167107" y="2826575"/>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286" name="Google Shape;1286;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287" name="Google Shape;1287;p96"/>
          <p:cNvSpPr txBox="1"/>
          <p:nvPr>
            <p:ph idx="1" type="body"/>
          </p:nvPr>
        </p:nvSpPr>
        <p:spPr>
          <a:xfrm>
            <a:off x="324000" y="759300"/>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Fill in this table to investigate patterns found when points around a circle are joined with straight lines.</a:t>
            </a:r>
            <a:endParaRPr sz="1800"/>
          </a:p>
        </p:txBody>
      </p:sp>
      <p:graphicFrame>
        <p:nvGraphicFramePr>
          <p:cNvPr id="1288" name="Google Shape;1288;p96"/>
          <p:cNvGraphicFramePr/>
          <p:nvPr/>
        </p:nvGraphicFramePr>
        <p:xfrm>
          <a:off x="338700" y="1453188"/>
          <a:ext cx="3000000" cy="3000000"/>
        </p:xfrm>
        <a:graphic>
          <a:graphicData uri="http://schemas.openxmlformats.org/drawingml/2006/table">
            <a:tbl>
              <a:tblPr>
                <a:noFill/>
                <a:tableStyleId>{4AB3277E-3E12-4634-AB05-300492CF9E7F}</a:tableStyleId>
              </a:tblPr>
              <a:tblGrid>
                <a:gridCol w="3098050"/>
                <a:gridCol w="894750"/>
                <a:gridCol w="894750"/>
                <a:gridCol w="894750"/>
                <a:gridCol w="894750"/>
                <a:gridCol w="894750"/>
                <a:gridCol w="894750"/>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5</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6</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89" name="Google Shape;1289;p96"/>
          <p:cNvSpPr/>
          <p:nvPr/>
        </p:nvSpPr>
        <p:spPr>
          <a:xfrm>
            <a:off x="7194552" y="3081011"/>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90" name="Google Shape;1290;p96"/>
          <p:cNvSpPr/>
          <p:nvPr/>
        </p:nvSpPr>
        <p:spPr>
          <a:xfrm>
            <a:off x="8462954" y="3801175"/>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91" name="Google Shape;1291;p96"/>
          <p:cNvSpPr/>
          <p:nvPr/>
        </p:nvSpPr>
        <p:spPr>
          <a:xfrm>
            <a:off x="7820947" y="2714327"/>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92" name="Google Shape;1292;p96"/>
          <p:cNvSpPr/>
          <p:nvPr/>
        </p:nvSpPr>
        <p:spPr>
          <a:xfrm>
            <a:off x="7191376" y="3808361"/>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93" name="Google Shape;1293;p96"/>
          <p:cNvSpPr/>
          <p:nvPr/>
        </p:nvSpPr>
        <p:spPr>
          <a:xfrm>
            <a:off x="8452038" y="3083600"/>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294" name="Google Shape;1294;p96"/>
          <p:cNvSpPr/>
          <p:nvPr/>
        </p:nvSpPr>
        <p:spPr>
          <a:xfrm>
            <a:off x="7820947" y="4162127"/>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97"/>
          <p:cNvSpPr txBox="1"/>
          <p:nvPr>
            <p:ph idx="1" type="body"/>
          </p:nvPr>
        </p:nvSpPr>
        <p:spPr>
          <a:xfrm>
            <a:off x="324000" y="2946975"/>
            <a:ext cx="8496000" cy="187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j</a:t>
            </a:r>
            <a:r>
              <a:rPr lang="en-GB" sz="1800"/>
              <a:t>) Do you think you have found any patterns which will continue? Write a sentence explaining why.</a:t>
            </a:r>
            <a:endParaRPr sz="1800"/>
          </a:p>
        </p:txBody>
      </p:sp>
      <p:sp>
        <p:nvSpPr>
          <p:cNvPr id="1300" name="Google Shape;1300;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301" name="Google Shape;1301;p97"/>
          <p:cNvSpPr txBox="1"/>
          <p:nvPr>
            <p:ph idx="1" type="body"/>
          </p:nvPr>
        </p:nvSpPr>
        <p:spPr>
          <a:xfrm>
            <a:off x="324000" y="759300"/>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Fill in this table to investigate patterns found when points around a circle are joined with straight lines.</a:t>
            </a:r>
            <a:endParaRPr sz="1800"/>
          </a:p>
        </p:txBody>
      </p:sp>
      <p:graphicFrame>
        <p:nvGraphicFramePr>
          <p:cNvPr id="1302" name="Google Shape;1302;p97"/>
          <p:cNvGraphicFramePr/>
          <p:nvPr/>
        </p:nvGraphicFramePr>
        <p:xfrm>
          <a:off x="338700" y="1453188"/>
          <a:ext cx="3000000" cy="3000000"/>
        </p:xfrm>
        <a:graphic>
          <a:graphicData uri="http://schemas.openxmlformats.org/drawingml/2006/table">
            <a:tbl>
              <a:tblPr>
                <a:noFill/>
                <a:tableStyleId>{4AB3277E-3E12-4634-AB05-300492CF9E7F}</a:tableStyleId>
              </a:tblPr>
              <a:tblGrid>
                <a:gridCol w="3098050"/>
                <a:gridCol w="894750"/>
                <a:gridCol w="894750"/>
                <a:gridCol w="894750"/>
                <a:gridCol w="894750"/>
                <a:gridCol w="894750"/>
                <a:gridCol w="894750"/>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5</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6</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308" name="Google Shape;1308;p98"/>
          <p:cNvSpPr txBox="1"/>
          <p:nvPr>
            <p:ph idx="1" type="body"/>
          </p:nvPr>
        </p:nvSpPr>
        <p:spPr>
          <a:xfrm>
            <a:off x="324000" y="759300"/>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Here is a table to record what you find. </a:t>
            </a:r>
            <a:endParaRPr sz="1800"/>
          </a:p>
        </p:txBody>
      </p:sp>
      <p:graphicFrame>
        <p:nvGraphicFramePr>
          <p:cNvPr id="1309" name="Google Shape;1309;p98"/>
          <p:cNvGraphicFramePr/>
          <p:nvPr/>
        </p:nvGraphicFramePr>
        <p:xfrm>
          <a:off x="390900" y="1950138"/>
          <a:ext cx="3000000" cy="3000000"/>
        </p:xfrm>
        <a:graphic>
          <a:graphicData uri="http://schemas.openxmlformats.org/drawingml/2006/table">
            <a:tbl>
              <a:tblPr>
                <a:noFill/>
                <a:tableStyleId>{4AB3277E-3E12-4634-AB05-300492CF9E7F}</a:tableStyleId>
              </a:tblPr>
              <a:tblGrid>
                <a:gridCol w="2982775"/>
                <a:gridCol w="1370950"/>
                <a:gridCol w="1370950"/>
                <a:gridCol w="1370950"/>
                <a:gridCol w="1370950"/>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310" name="Google Shape;1310;p98"/>
          <p:cNvSpPr/>
          <p:nvPr/>
        </p:nvSpPr>
        <p:spPr>
          <a:xfrm>
            <a:off x="6903050" y="669825"/>
            <a:ext cx="1080000" cy="1080000"/>
          </a:xfrm>
          <a:prstGeom prst="chord">
            <a:avLst>
              <a:gd fmla="val 20499709" name="adj1"/>
              <a:gd fmla="val 10151581" name="adj2"/>
            </a:avLst>
          </a:prstGeom>
          <a:solidFill>
            <a:srgbClr val="F3EE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1" name="Google Shape;1311;p98"/>
          <p:cNvSpPr/>
          <p:nvPr/>
        </p:nvSpPr>
        <p:spPr>
          <a:xfrm>
            <a:off x="6903050" y="669825"/>
            <a:ext cx="1080000" cy="1080000"/>
          </a:xfrm>
          <a:prstGeom prst="chord">
            <a:avLst>
              <a:gd fmla="val 10104555" name="adj1"/>
              <a:gd fmla="val 20477523" name="adj2"/>
            </a:avLst>
          </a:prstGeom>
          <a:solidFill>
            <a:srgbClr val="E6F2F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2" name="Google Shape;1312;p98"/>
          <p:cNvSpPr/>
          <p:nvPr/>
        </p:nvSpPr>
        <p:spPr>
          <a:xfrm>
            <a:off x="6903043" y="669825"/>
            <a:ext cx="1080000" cy="1080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313" name="Google Shape;1313;p98"/>
          <p:cNvSpPr/>
          <p:nvPr/>
        </p:nvSpPr>
        <p:spPr>
          <a:xfrm>
            <a:off x="5435101" y="669825"/>
            <a:ext cx="1080000" cy="1080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314" name="Google Shape;1314;p98"/>
          <p:cNvSpPr/>
          <p:nvPr/>
        </p:nvSpPr>
        <p:spPr>
          <a:xfrm>
            <a:off x="5375883" y="1203598"/>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15" name="Google Shape;1315;p98"/>
          <p:cNvSpPr/>
          <p:nvPr/>
        </p:nvSpPr>
        <p:spPr>
          <a:xfrm>
            <a:off x="6852370" y="1203598"/>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16" name="Google Shape;1316;p98"/>
          <p:cNvSpPr/>
          <p:nvPr/>
        </p:nvSpPr>
        <p:spPr>
          <a:xfrm>
            <a:off x="7886445" y="924235"/>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1317" name="Google Shape;1317;p98"/>
          <p:cNvCxnSpPr/>
          <p:nvPr/>
        </p:nvCxnSpPr>
        <p:spPr>
          <a:xfrm flipH="1">
            <a:off x="6932500" y="1038975"/>
            <a:ext cx="1026000" cy="281100"/>
          </a:xfrm>
          <a:prstGeom prst="straightConnector1">
            <a:avLst/>
          </a:prstGeom>
          <a:noFill/>
          <a:ln cap="flat" cmpd="sng" w="28575">
            <a:solidFill>
              <a:schemeClr val="dk1"/>
            </a:solidFill>
            <a:prstDash val="solid"/>
            <a:round/>
            <a:headEnd len="med" w="med" type="none"/>
            <a:tailEnd len="med" w="med" type="none"/>
          </a:ln>
        </p:spPr>
      </p:cxnSp>
      <p:sp>
        <p:nvSpPr>
          <p:cNvPr id="1318" name="Google Shape;1318;p98"/>
          <p:cNvSpPr txBox="1"/>
          <p:nvPr>
            <p:ph idx="1" type="body"/>
          </p:nvPr>
        </p:nvSpPr>
        <p:spPr>
          <a:xfrm>
            <a:off x="324000" y="3312900"/>
            <a:ext cx="5111100" cy="61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 Complete the table for 2 points. </a:t>
            </a:r>
            <a:r>
              <a:rPr lang="en-GB" sz="2000">
                <a:latin typeface="Kalam"/>
                <a:ea typeface="Kalam"/>
                <a:cs typeface="Kalam"/>
                <a:sym typeface="Kalam"/>
              </a:rPr>
              <a:t>See table</a:t>
            </a:r>
            <a:endParaRPr sz="2000">
              <a:latin typeface="Kalam"/>
              <a:ea typeface="Kalam"/>
              <a:cs typeface="Kalam"/>
              <a:sym typeface="Kalam"/>
            </a:endParaRPr>
          </a:p>
          <a:p>
            <a:pPr indent="0" lvl="0" marL="0" rtl="0" algn="l">
              <a:spcBef>
                <a:spcPts val="1000"/>
              </a:spcBef>
              <a:spcAft>
                <a:spcPts val="1000"/>
              </a:spcAft>
              <a:buClr>
                <a:schemeClr val="dk1"/>
              </a:buClr>
              <a:buSzPts val="1100"/>
              <a:buFont typeface="Arial"/>
              <a:buNone/>
            </a:pPr>
            <a:r>
              <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324" name="Google Shape;1324;p99"/>
          <p:cNvSpPr txBox="1"/>
          <p:nvPr>
            <p:ph idx="1" type="body"/>
          </p:nvPr>
        </p:nvSpPr>
        <p:spPr>
          <a:xfrm>
            <a:off x="324000" y="668575"/>
            <a:ext cx="8237700" cy="32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t>
            </a:r>
            <a:endParaRPr sz="1800"/>
          </a:p>
        </p:txBody>
      </p:sp>
      <p:sp>
        <p:nvSpPr>
          <p:cNvPr id="1325" name="Google Shape;1325;p99"/>
          <p:cNvSpPr txBox="1"/>
          <p:nvPr>
            <p:ph idx="1" type="body"/>
          </p:nvPr>
        </p:nvSpPr>
        <p:spPr>
          <a:xfrm>
            <a:off x="324000" y="2550900"/>
            <a:ext cx="5111100" cy="61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b</a:t>
            </a:r>
            <a:r>
              <a:rPr lang="en-GB" sz="1800"/>
              <a:t>) Fill in the table for 3 points and 4 points. </a:t>
            </a:r>
            <a:endParaRPr sz="1800"/>
          </a:p>
          <a:p>
            <a:pPr indent="0" lvl="0" marL="0" rtl="0" algn="l">
              <a:spcBef>
                <a:spcPts val="1000"/>
              </a:spcBef>
              <a:spcAft>
                <a:spcPts val="1000"/>
              </a:spcAft>
              <a:buNone/>
            </a:pPr>
            <a:r>
              <a:rPr lang="en-GB" sz="1800"/>
              <a:t>c) Describe any patterns you notice.</a:t>
            </a:r>
            <a:endParaRPr sz="1800"/>
          </a:p>
        </p:txBody>
      </p:sp>
      <p:sp>
        <p:nvSpPr>
          <p:cNvPr id="1326" name="Google Shape;1326;p99"/>
          <p:cNvSpPr/>
          <p:nvPr/>
        </p:nvSpPr>
        <p:spPr>
          <a:xfrm>
            <a:off x="5442750" y="2402226"/>
            <a:ext cx="1300500" cy="130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327" name="Google Shape;1327;p99"/>
          <p:cNvSpPr/>
          <p:nvPr/>
        </p:nvSpPr>
        <p:spPr>
          <a:xfrm>
            <a:off x="5574332" y="3407376"/>
            <a:ext cx="214500" cy="15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graphicFrame>
        <p:nvGraphicFramePr>
          <p:cNvPr id="1328" name="Google Shape;1328;p99"/>
          <p:cNvGraphicFramePr/>
          <p:nvPr/>
        </p:nvGraphicFramePr>
        <p:xfrm>
          <a:off x="338713" y="1067688"/>
          <a:ext cx="3000000" cy="3000000"/>
        </p:xfrm>
        <a:graphic>
          <a:graphicData uri="http://schemas.openxmlformats.org/drawingml/2006/table">
            <a:tbl>
              <a:tblPr>
                <a:noFill/>
                <a:tableStyleId>{4AB3277E-3E12-4634-AB05-300492CF9E7F}</a:tableStyleId>
              </a:tblPr>
              <a:tblGrid>
                <a:gridCol w="2982775"/>
                <a:gridCol w="1370950"/>
                <a:gridCol w="1370950"/>
                <a:gridCol w="1370950"/>
                <a:gridCol w="1370950"/>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1</a:t>
                      </a:r>
                      <a:endParaRPr sz="18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8</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329" name="Google Shape;1329;p99"/>
          <p:cNvSpPr/>
          <p:nvPr/>
        </p:nvSpPr>
        <p:spPr>
          <a:xfrm>
            <a:off x="6656579" y="3124496"/>
            <a:ext cx="214500" cy="15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30" name="Google Shape;1330;p99"/>
          <p:cNvSpPr/>
          <p:nvPr/>
        </p:nvSpPr>
        <p:spPr>
          <a:xfrm>
            <a:off x="5846957" y="2325706"/>
            <a:ext cx="214500" cy="15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31" name="Google Shape;1331;p99"/>
          <p:cNvSpPr/>
          <p:nvPr/>
        </p:nvSpPr>
        <p:spPr>
          <a:xfrm>
            <a:off x="7356016" y="2431667"/>
            <a:ext cx="1300500" cy="130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332" name="Google Shape;1332;p99"/>
          <p:cNvSpPr/>
          <p:nvPr/>
        </p:nvSpPr>
        <p:spPr>
          <a:xfrm>
            <a:off x="7285875" y="3005537"/>
            <a:ext cx="214500" cy="15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33" name="Google Shape;1333;p99"/>
          <p:cNvSpPr/>
          <p:nvPr/>
        </p:nvSpPr>
        <p:spPr>
          <a:xfrm>
            <a:off x="8599413" y="3005529"/>
            <a:ext cx="214500" cy="15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34" name="Google Shape;1334;p99"/>
          <p:cNvSpPr/>
          <p:nvPr/>
        </p:nvSpPr>
        <p:spPr>
          <a:xfrm>
            <a:off x="7938012" y="2319000"/>
            <a:ext cx="136500" cy="15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35" name="Google Shape;1335;p99"/>
          <p:cNvSpPr/>
          <p:nvPr/>
        </p:nvSpPr>
        <p:spPr>
          <a:xfrm>
            <a:off x="7938012" y="3633151"/>
            <a:ext cx="136500" cy="15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1336" name="Google Shape;1336;p99"/>
          <p:cNvCxnSpPr/>
          <p:nvPr/>
        </p:nvCxnSpPr>
        <p:spPr>
          <a:xfrm flipH="1">
            <a:off x="5638209" y="2420659"/>
            <a:ext cx="270300" cy="1083300"/>
          </a:xfrm>
          <a:prstGeom prst="straightConnector1">
            <a:avLst/>
          </a:prstGeom>
          <a:noFill/>
          <a:ln cap="flat" cmpd="sng" w="38100">
            <a:solidFill>
              <a:schemeClr val="dk1"/>
            </a:solidFill>
            <a:prstDash val="solid"/>
            <a:round/>
            <a:headEnd len="med" w="med" type="none"/>
            <a:tailEnd len="med" w="med" type="none"/>
          </a:ln>
        </p:spPr>
      </p:cxnSp>
      <p:cxnSp>
        <p:nvCxnSpPr>
          <p:cNvPr id="1337" name="Google Shape;1337;p99"/>
          <p:cNvCxnSpPr/>
          <p:nvPr/>
        </p:nvCxnSpPr>
        <p:spPr>
          <a:xfrm flipH="1" rot="10800000">
            <a:off x="5636367" y="3222662"/>
            <a:ext cx="1081800" cy="281400"/>
          </a:xfrm>
          <a:prstGeom prst="straightConnector1">
            <a:avLst/>
          </a:prstGeom>
          <a:noFill/>
          <a:ln cap="flat" cmpd="sng" w="38100">
            <a:solidFill>
              <a:schemeClr val="dk1"/>
            </a:solidFill>
            <a:prstDash val="solid"/>
            <a:round/>
            <a:headEnd len="med" w="med" type="none"/>
            <a:tailEnd len="med" w="med" type="none"/>
          </a:ln>
        </p:spPr>
      </p:cxnSp>
      <p:cxnSp>
        <p:nvCxnSpPr>
          <p:cNvPr id="1338" name="Google Shape;1338;p99"/>
          <p:cNvCxnSpPr/>
          <p:nvPr/>
        </p:nvCxnSpPr>
        <p:spPr>
          <a:xfrm>
            <a:off x="5909367" y="2428996"/>
            <a:ext cx="807300" cy="793800"/>
          </a:xfrm>
          <a:prstGeom prst="straightConnector1">
            <a:avLst/>
          </a:prstGeom>
          <a:noFill/>
          <a:ln cap="flat" cmpd="sng" w="38100">
            <a:solidFill>
              <a:schemeClr val="dk1"/>
            </a:solidFill>
            <a:prstDash val="solid"/>
            <a:round/>
            <a:headEnd len="med" w="med" type="none"/>
            <a:tailEnd len="med" w="med" type="none"/>
          </a:ln>
        </p:spPr>
      </p:cxnSp>
      <p:cxnSp>
        <p:nvCxnSpPr>
          <p:cNvPr id="1339" name="Google Shape;1339;p99"/>
          <p:cNvCxnSpPr/>
          <p:nvPr/>
        </p:nvCxnSpPr>
        <p:spPr>
          <a:xfrm flipH="1" rot="10800000">
            <a:off x="7349001" y="2420677"/>
            <a:ext cx="642600" cy="684900"/>
          </a:xfrm>
          <a:prstGeom prst="straightConnector1">
            <a:avLst/>
          </a:prstGeom>
          <a:noFill/>
          <a:ln cap="flat" cmpd="sng" w="38100">
            <a:solidFill>
              <a:schemeClr val="dk1"/>
            </a:solidFill>
            <a:prstDash val="solid"/>
            <a:round/>
            <a:headEnd len="med" w="med" type="none"/>
            <a:tailEnd len="med" w="med" type="none"/>
          </a:ln>
        </p:spPr>
      </p:cxnSp>
      <p:cxnSp>
        <p:nvCxnSpPr>
          <p:cNvPr id="1340" name="Google Shape;1340;p99"/>
          <p:cNvCxnSpPr/>
          <p:nvPr/>
        </p:nvCxnSpPr>
        <p:spPr>
          <a:xfrm>
            <a:off x="7355766" y="3103886"/>
            <a:ext cx="1305900" cy="0"/>
          </a:xfrm>
          <a:prstGeom prst="straightConnector1">
            <a:avLst/>
          </a:prstGeom>
          <a:noFill/>
          <a:ln cap="flat" cmpd="sng" w="38100">
            <a:solidFill>
              <a:schemeClr val="dk1"/>
            </a:solidFill>
            <a:prstDash val="solid"/>
            <a:round/>
            <a:headEnd len="med" w="med" type="none"/>
            <a:tailEnd len="med" w="med" type="none"/>
          </a:ln>
        </p:spPr>
      </p:cxnSp>
      <p:cxnSp>
        <p:nvCxnSpPr>
          <p:cNvPr id="1341" name="Google Shape;1341;p99"/>
          <p:cNvCxnSpPr/>
          <p:nvPr/>
        </p:nvCxnSpPr>
        <p:spPr>
          <a:xfrm>
            <a:off x="7352383" y="3098790"/>
            <a:ext cx="651000" cy="637800"/>
          </a:xfrm>
          <a:prstGeom prst="straightConnector1">
            <a:avLst/>
          </a:prstGeom>
          <a:noFill/>
          <a:ln cap="flat" cmpd="sng" w="38100">
            <a:solidFill>
              <a:schemeClr val="dk1"/>
            </a:solidFill>
            <a:prstDash val="solid"/>
            <a:round/>
            <a:headEnd len="med" w="med" type="none"/>
            <a:tailEnd len="med" w="med" type="none"/>
          </a:ln>
        </p:spPr>
      </p:cxnSp>
      <p:cxnSp>
        <p:nvCxnSpPr>
          <p:cNvPr id="1342" name="Google Shape;1342;p99"/>
          <p:cNvCxnSpPr/>
          <p:nvPr/>
        </p:nvCxnSpPr>
        <p:spPr>
          <a:xfrm>
            <a:off x="8003528" y="2418827"/>
            <a:ext cx="649200" cy="683400"/>
          </a:xfrm>
          <a:prstGeom prst="straightConnector1">
            <a:avLst/>
          </a:prstGeom>
          <a:noFill/>
          <a:ln cap="flat" cmpd="sng" w="38100">
            <a:solidFill>
              <a:schemeClr val="dk1"/>
            </a:solidFill>
            <a:prstDash val="solid"/>
            <a:round/>
            <a:headEnd len="med" w="med" type="none"/>
            <a:tailEnd len="med" w="med" type="none"/>
          </a:ln>
        </p:spPr>
      </p:cxnSp>
      <p:cxnSp>
        <p:nvCxnSpPr>
          <p:cNvPr id="1343" name="Google Shape;1343;p99"/>
          <p:cNvCxnSpPr/>
          <p:nvPr/>
        </p:nvCxnSpPr>
        <p:spPr>
          <a:xfrm>
            <a:off x="8001836" y="2418827"/>
            <a:ext cx="0" cy="1311000"/>
          </a:xfrm>
          <a:prstGeom prst="straightConnector1">
            <a:avLst/>
          </a:prstGeom>
          <a:noFill/>
          <a:ln cap="flat" cmpd="sng" w="38100">
            <a:solidFill>
              <a:schemeClr val="dk1"/>
            </a:solidFill>
            <a:prstDash val="solid"/>
            <a:round/>
            <a:headEnd len="med" w="med" type="none"/>
            <a:tailEnd len="med" w="med" type="none"/>
          </a:ln>
        </p:spPr>
      </p:cxnSp>
      <p:cxnSp>
        <p:nvCxnSpPr>
          <p:cNvPr id="1344" name="Google Shape;1344;p99"/>
          <p:cNvCxnSpPr/>
          <p:nvPr/>
        </p:nvCxnSpPr>
        <p:spPr>
          <a:xfrm flipH="1" rot="10800000">
            <a:off x="8003528" y="3103991"/>
            <a:ext cx="656100" cy="622200"/>
          </a:xfrm>
          <a:prstGeom prst="straightConnector1">
            <a:avLst/>
          </a:prstGeom>
          <a:noFill/>
          <a:ln cap="flat" cmpd="sng" w="38100">
            <a:solidFill>
              <a:schemeClr val="dk1"/>
            </a:solidFill>
            <a:prstDash val="solid"/>
            <a:round/>
            <a:headEnd len="med" w="med" type="none"/>
            <a:tailEnd len="med" w="med" type="none"/>
          </a:ln>
        </p:spPr>
      </p:cxnSp>
      <p:sp>
        <p:nvSpPr>
          <p:cNvPr id="1345" name="Google Shape;1345;p99"/>
          <p:cNvSpPr/>
          <p:nvPr/>
        </p:nvSpPr>
        <p:spPr>
          <a:xfrm>
            <a:off x="5546530" y="2733061"/>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1</a:t>
            </a:r>
            <a:endParaRPr sz="2000">
              <a:latin typeface="Kalam"/>
              <a:ea typeface="Kalam"/>
              <a:cs typeface="Kalam"/>
              <a:sym typeface="Kalam"/>
            </a:endParaRPr>
          </a:p>
        </p:txBody>
      </p:sp>
      <p:sp>
        <p:nvSpPr>
          <p:cNvPr id="1346" name="Google Shape;1346;p99"/>
          <p:cNvSpPr/>
          <p:nvPr/>
        </p:nvSpPr>
        <p:spPr>
          <a:xfrm>
            <a:off x="6013375" y="2929088"/>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2</a:t>
            </a:r>
            <a:endParaRPr sz="2000">
              <a:latin typeface="Kalam"/>
              <a:ea typeface="Kalam"/>
              <a:cs typeface="Kalam"/>
              <a:sym typeface="Kalam"/>
            </a:endParaRPr>
          </a:p>
        </p:txBody>
      </p:sp>
      <p:sp>
        <p:nvSpPr>
          <p:cNvPr id="1347" name="Google Shape;1347;p99"/>
          <p:cNvSpPr/>
          <p:nvPr/>
        </p:nvSpPr>
        <p:spPr>
          <a:xfrm>
            <a:off x="6348327" y="2573752"/>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3</a:t>
            </a:r>
            <a:endParaRPr sz="2000">
              <a:latin typeface="Kalam"/>
              <a:ea typeface="Kalam"/>
              <a:cs typeface="Kalam"/>
              <a:sym typeface="Kalam"/>
            </a:endParaRPr>
          </a:p>
        </p:txBody>
      </p:sp>
      <p:sp>
        <p:nvSpPr>
          <p:cNvPr id="1348" name="Google Shape;1348;p99"/>
          <p:cNvSpPr/>
          <p:nvPr/>
        </p:nvSpPr>
        <p:spPr>
          <a:xfrm>
            <a:off x="6144400" y="3407372"/>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4</a:t>
            </a:r>
            <a:endParaRPr sz="2000">
              <a:latin typeface="Kalam"/>
              <a:ea typeface="Kalam"/>
              <a:cs typeface="Kalam"/>
              <a:sym typeface="Kalam"/>
            </a:endParaRPr>
          </a:p>
        </p:txBody>
      </p:sp>
      <p:sp>
        <p:nvSpPr>
          <p:cNvPr id="1349" name="Google Shape;1349;p99"/>
          <p:cNvSpPr/>
          <p:nvPr/>
        </p:nvSpPr>
        <p:spPr>
          <a:xfrm>
            <a:off x="7568635" y="2578759"/>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1</a:t>
            </a:r>
            <a:endParaRPr sz="2000">
              <a:latin typeface="Kalam"/>
              <a:ea typeface="Kalam"/>
              <a:cs typeface="Kalam"/>
              <a:sym typeface="Kalam"/>
            </a:endParaRPr>
          </a:p>
        </p:txBody>
      </p:sp>
      <p:sp>
        <p:nvSpPr>
          <p:cNvPr id="1350" name="Google Shape;1350;p99"/>
          <p:cNvSpPr/>
          <p:nvPr/>
        </p:nvSpPr>
        <p:spPr>
          <a:xfrm>
            <a:off x="7785235" y="2786424"/>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2</a:t>
            </a:r>
            <a:endParaRPr sz="2000">
              <a:latin typeface="Kalam"/>
              <a:ea typeface="Kalam"/>
              <a:cs typeface="Kalam"/>
              <a:sym typeface="Kalam"/>
            </a:endParaRPr>
          </a:p>
        </p:txBody>
      </p:sp>
      <p:sp>
        <p:nvSpPr>
          <p:cNvPr id="1351" name="Google Shape;1351;p99"/>
          <p:cNvSpPr/>
          <p:nvPr/>
        </p:nvSpPr>
        <p:spPr>
          <a:xfrm>
            <a:off x="8131313" y="2786424"/>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3</a:t>
            </a:r>
            <a:endParaRPr sz="2000">
              <a:latin typeface="Kalam"/>
              <a:ea typeface="Kalam"/>
              <a:cs typeface="Kalam"/>
              <a:sym typeface="Kalam"/>
            </a:endParaRPr>
          </a:p>
        </p:txBody>
      </p:sp>
      <p:sp>
        <p:nvSpPr>
          <p:cNvPr id="1352" name="Google Shape;1352;p99"/>
          <p:cNvSpPr/>
          <p:nvPr/>
        </p:nvSpPr>
        <p:spPr>
          <a:xfrm>
            <a:off x="8293404" y="2539416"/>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4</a:t>
            </a:r>
            <a:endParaRPr sz="2000">
              <a:latin typeface="Kalam"/>
              <a:ea typeface="Kalam"/>
              <a:cs typeface="Kalam"/>
              <a:sym typeface="Kalam"/>
            </a:endParaRPr>
          </a:p>
        </p:txBody>
      </p:sp>
      <p:sp>
        <p:nvSpPr>
          <p:cNvPr id="1353" name="Google Shape;1353;p99"/>
          <p:cNvSpPr/>
          <p:nvPr/>
        </p:nvSpPr>
        <p:spPr>
          <a:xfrm>
            <a:off x="7730737" y="3174339"/>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5</a:t>
            </a:r>
            <a:endParaRPr sz="2000">
              <a:latin typeface="Kalam"/>
              <a:ea typeface="Kalam"/>
              <a:cs typeface="Kalam"/>
              <a:sym typeface="Kalam"/>
            </a:endParaRPr>
          </a:p>
        </p:txBody>
      </p:sp>
      <p:sp>
        <p:nvSpPr>
          <p:cNvPr id="1354" name="Google Shape;1354;p99"/>
          <p:cNvSpPr/>
          <p:nvPr/>
        </p:nvSpPr>
        <p:spPr>
          <a:xfrm>
            <a:off x="8131313" y="3174339"/>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6</a:t>
            </a:r>
            <a:endParaRPr sz="2000">
              <a:latin typeface="Kalam"/>
              <a:ea typeface="Kalam"/>
              <a:cs typeface="Kalam"/>
              <a:sym typeface="Kalam"/>
            </a:endParaRPr>
          </a:p>
        </p:txBody>
      </p:sp>
      <p:sp>
        <p:nvSpPr>
          <p:cNvPr id="1355" name="Google Shape;1355;p99"/>
          <p:cNvSpPr/>
          <p:nvPr/>
        </p:nvSpPr>
        <p:spPr>
          <a:xfrm>
            <a:off x="7541609" y="3382004"/>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7</a:t>
            </a:r>
            <a:endParaRPr sz="2000">
              <a:latin typeface="Kalam"/>
              <a:ea typeface="Kalam"/>
              <a:cs typeface="Kalam"/>
              <a:sym typeface="Kalam"/>
            </a:endParaRPr>
          </a:p>
        </p:txBody>
      </p:sp>
      <p:sp>
        <p:nvSpPr>
          <p:cNvPr id="1356" name="Google Shape;1356;p99"/>
          <p:cNvSpPr/>
          <p:nvPr/>
        </p:nvSpPr>
        <p:spPr>
          <a:xfrm>
            <a:off x="8334038" y="3360374"/>
            <a:ext cx="162000" cy="24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100">
                <a:solidFill>
                  <a:srgbClr val="222222"/>
                </a:solidFill>
                <a:latin typeface="Kalam"/>
                <a:ea typeface="Kalam"/>
                <a:cs typeface="Kalam"/>
                <a:sym typeface="Kalam"/>
              </a:rPr>
              <a:t>8</a:t>
            </a:r>
            <a:endParaRPr sz="2000">
              <a:latin typeface="Kalam"/>
              <a:ea typeface="Kalam"/>
              <a:cs typeface="Kalam"/>
              <a:sym typeface="Kalam"/>
            </a:endParaRPr>
          </a:p>
        </p:txBody>
      </p:sp>
      <p:sp>
        <p:nvSpPr>
          <p:cNvPr id="1357" name="Google Shape;1357;p99"/>
          <p:cNvSpPr txBox="1"/>
          <p:nvPr>
            <p:ph idx="1" type="body"/>
          </p:nvPr>
        </p:nvSpPr>
        <p:spPr>
          <a:xfrm>
            <a:off x="331650" y="3752400"/>
            <a:ext cx="85227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E.g. the number of lines increases by 1, then 2, then 3, …. For term 2 onwards these are the triangular numbers.</a:t>
            </a:r>
            <a:endParaRPr sz="2000">
              <a:latin typeface="Kalam"/>
              <a:ea typeface="Kalam"/>
              <a:cs typeface="Kalam"/>
              <a:sym typeface="Kalam"/>
            </a:endParaRPr>
          </a:p>
        </p:txBody>
      </p:sp>
      <p:sp>
        <p:nvSpPr>
          <p:cNvPr id="1358" name="Google Shape;1358;p99"/>
          <p:cNvSpPr txBox="1"/>
          <p:nvPr>
            <p:ph idx="1" type="body"/>
          </p:nvPr>
        </p:nvSpPr>
        <p:spPr>
          <a:xfrm>
            <a:off x="331650" y="4384400"/>
            <a:ext cx="85227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number of regions are the first 4 terms in a geometric sequence.</a:t>
            </a:r>
            <a:endParaRPr sz="2000">
              <a:latin typeface="Kalam"/>
              <a:ea typeface="Kalam"/>
              <a:cs typeface="Kalam"/>
              <a:sym typeface="Kala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00"/>
          <p:cNvSpPr txBox="1"/>
          <p:nvPr>
            <p:ph idx="1" type="body"/>
          </p:nvPr>
        </p:nvSpPr>
        <p:spPr>
          <a:xfrm>
            <a:off x="338700" y="27551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d</a:t>
            </a:r>
            <a:r>
              <a:rPr lang="en-GB" sz="1800"/>
              <a:t>) Make a prediction for what the 5</a:t>
            </a:r>
            <a:r>
              <a:rPr baseline="30000" lang="en-GB" sz="1800"/>
              <a:t>th</a:t>
            </a:r>
            <a:r>
              <a:rPr lang="en-GB" sz="1800"/>
              <a:t> column will look like.</a:t>
            </a:r>
            <a:endParaRPr sz="1800"/>
          </a:p>
          <a:p>
            <a:pPr indent="0" lvl="0" marL="0" rtl="0" algn="l">
              <a:spcBef>
                <a:spcPts val="1000"/>
              </a:spcBef>
              <a:spcAft>
                <a:spcPts val="0"/>
              </a:spcAft>
              <a:buNone/>
            </a:pPr>
            <a:r>
              <a:rPr lang="en-GB" sz="1800"/>
              <a:t>e) Use the circle given to fill in the 5</a:t>
            </a:r>
            <a:r>
              <a:rPr baseline="30000" lang="en-GB" sz="1800"/>
              <a:t>th</a:t>
            </a:r>
            <a:r>
              <a:rPr lang="en-GB" sz="1800"/>
              <a:t> column.</a:t>
            </a:r>
            <a:endParaRPr sz="1800"/>
          </a:p>
          <a:p>
            <a:pPr indent="0" lvl="0" marL="0" rtl="0" algn="l">
              <a:spcBef>
                <a:spcPts val="1000"/>
              </a:spcBef>
              <a:spcAft>
                <a:spcPts val="0"/>
              </a:spcAft>
              <a:buNone/>
            </a:pPr>
            <a:r>
              <a:rPr lang="en-GB" sz="1800"/>
              <a:t>f) Were you correct, have any of your patterns changed? </a:t>
            </a:r>
            <a:endParaRPr sz="1800"/>
          </a:p>
          <a:p>
            <a:pPr indent="0" lvl="0" marL="0" rtl="0" algn="l">
              <a:spcBef>
                <a:spcPts val="1000"/>
              </a:spcBef>
              <a:spcAft>
                <a:spcPts val="0"/>
              </a:spcAft>
              <a:buNone/>
            </a:pPr>
            <a:r>
              <a:rPr lang="en-GB" sz="2000">
                <a:latin typeface="Kalam"/>
                <a:ea typeface="Kalam"/>
                <a:cs typeface="Kalam"/>
                <a:sym typeface="Kalam"/>
              </a:rPr>
              <a:t>The number of lines and regions have continued in the same pattern</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There are not enough terms to see a pattern with intersections</a:t>
            </a:r>
            <a:endParaRPr sz="2000">
              <a:latin typeface="Kalam"/>
              <a:ea typeface="Kalam"/>
              <a:cs typeface="Kalam"/>
              <a:sym typeface="Kalam"/>
            </a:endParaRPr>
          </a:p>
        </p:txBody>
      </p:sp>
      <p:sp>
        <p:nvSpPr>
          <p:cNvPr id="1364" name="Google Shape;1364;p100"/>
          <p:cNvSpPr/>
          <p:nvPr/>
        </p:nvSpPr>
        <p:spPr>
          <a:xfrm>
            <a:off x="7167107" y="2597975"/>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365" name="Google Shape;1365;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366" name="Google Shape;1366;p100"/>
          <p:cNvSpPr txBox="1"/>
          <p:nvPr>
            <p:ph idx="1" type="body"/>
          </p:nvPr>
        </p:nvSpPr>
        <p:spPr>
          <a:xfrm>
            <a:off x="324000" y="822675"/>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t>
            </a:r>
            <a:endParaRPr sz="1800"/>
          </a:p>
        </p:txBody>
      </p:sp>
      <p:graphicFrame>
        <p:nvGraphicFramePr>
          <p:cNvPr id="1367" name="Google Shape;1367;p100"/>
          <p:cNvGraphicFramePr/>
          <p:nvPr/>
        </p:nvGraphicFramePr>
        <p:xfrm>
          <a:off x="338700" y="1224588"/>
          <a:ext cx="3000000" cy="3000000"/>
        </p:xfrm>
        <a:graphic>
          <a:graphicData uri="http://schemas.openxmlformats.org/drawingml/2006/table">
            <a:tbl>
              <a:tblPr>
                <a:noFill/>
                <a:tableStyleId>{4AB3277E-3E12-4634-AB05-300492CF9E7F}</a:tableStyleId>
              </a:tblPr>
              <a:tblGrid>
                <a:gridCol w="3125875"/>
                <a:gridCol w="1068125"/>
                <a:gridCol w="1068125"/>
                <a:gridCol w="1068125"/>
                <a:gridCol w="1068125"/>
                <a:gridCol w="1068125"/>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5</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1</a:t>
                      </a:r>
                      <a:endParaRPr sz="18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5</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8</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16</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368" name="Google Shape;1368;p100"/>
          <p:cNvSpPr/>
          <p:nvPr/>
        </p:nvSpPr>
        <p:spPr>
          <a:xfrm>
            <a:off x="7122916" y="2997648"/>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69" name="Google Shape;1369;p100"/>
          <p:cNvSpPr/>
          <p:nvPr/>
        </p:nvSpPr>
        <p:spPr>
          <a:xfrm>
            <a:off x="8258395" y="3805989"/>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70" name="Google Shape;1370;p100"/>
          <p:cNvSpPr/>
          <p:nvPr/>
        </p:nvSpPr>
        <p:spPr>
          <a:xfrm>
            <a:off x="7820947" y="2485727"/>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71" name="Google Shape;1371;p100"/>
          <p:cNvSpPr/>
          <p:nvPr/>
        </p:nvSpPr>
        <p:spPr>
          <a:xfrm>
            <a:off x="7391322" y="3815525"/>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72" name="Google Shape;1372;p100"/>
          <p:cNvSpPr/>
          <p:nvPr/>
        </p:nvSpPr>
        <p:spPr>
          <a:xfrm>
            <a:off x="8528238" y="3007400"/>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1373" name="Google Shape;1373;p100"/>
          <p:cNvCxnSpPr/>
          <p:nvPr/>
        </p:nvCxnSpPr>
        <p:spPr>
          <a:xfrm flipH="1" rot="10800000">
            <a:off x="7196150" y="2595700"/>
            <a:ext cx="697800" cy="516600"/>
          </a:xfrm>
          <a:prstGeom prst="straightConnector1">
            <a:avLst/>
          </a:prstGeom>
          <a:noFill/>
          <a:ln cap="flat" cmpd="sng" w="38100">
            <a:solidFill>
              <a:schemeClr val="dk1"/>
            </a:solidFill>
            <a:prstDash val="solid"/>
            <a:round/>
            <a:headEnd len="med" w="med" type="none"/>
            <a:tailEnd len="med" w="med" type="none"/>
          </a:ln>
        </p:spPr>
      </p:cxnSp>
      <p:cxnSp>
        <p:nvCxnSpPr>
          <p:cNvPr id="1374" name="Google Shape;1374;p100"/>
          <p:cNvCxnSpPr/>
          <p:nvPr/>
        </p:nvCxnSpPr>
        <p:spPr>
          <a:xfrm>
            <a:off x="7215200" y="3107525"/>
            <a:ext cx="1383600" cy="7200"/>
          </a:xfrm>
          <a:prstGeom prst="straightConnector1">
            <a:avLst/>
          </a:prstGeom>
          <a:noFill/>
          <a:ln cap="flat" cmpd="sng" w="38100">
            <a:solidFill>
              <a:schemeClr val="dk1"/>
            </a:solidFill>
            <a:prstDash val="solid"/>
            <a:round/>
            <a:headEnd len="med" w="med" type="none"/>
            <a:tailEnd len="med" w="med" type="none"/>
          </a:ln>
        </p:spPr>
      </p:cxnSp>
      <p:cxnSp>
        <p:nvCxnSpPr>
          <p:cNvPr id="1375" name="Google Shape;1375;p100"/>
          <p:cNvCxnSpPr/>
          <p:nvPr/>
        </p:nvCxnSpPr>
        <p:spPr>
          <a:xfrm>
            <a:off x="7208050" y="3109925"/>
            <a:ext cx="1126200" cy="809700"/>
          </a:xfrm>
          <a:prstGeom prst="straightConnector1">
            <a:avLst/>
          </a:prstGeom>
          <a:noFill/>
          <a:ln cap="flat" cmpd="sng" w="38100">
            <a:solidFill>
              <a:schemeClr val="dk1"/>
            </a:solidFill>
            <a:prstDash val="solid"/>
            <a:round/>
            <a:headEnd len="med" w="med" type="none"/>
            <a:tailEnd len="med" w="med" type="none"/>
          </a:ln>
        </p:spPr>
      </p:cxnSp>
      <p:cxnSp>
        <p:nvCxnSpPr>
          <p:cNvPr id="1376" name="Google Shape;1376;p100"/>
          <p:cNvCxnSpPr/>
          <p:nvPr/>
        </p:nvCxnSpPr>
        <p:spPr>
          <a:xfrm>
            <a:off x="7212800" y="3117050"/>
            <a:ext cx="250200" cy="809700"/>
          </a:xfrm>
          <a:prstGeom prst="straightConnector1">
            <a:avLst/>
          </a:prstGeom>
          <a:noFill/>
          <a:ln cap="flat" cmpd="sng" w="38100">
            <a:solidFill>
              <a:schemeClr val="dk1"/>
            </a:solidFill>
            <a:prstDash val="solid"/>
            <a:round/>
            <a:headEnd len="med" w="med" type="none"/>
            <a:tailEnd len="med" w="med" type="none"/>
          </a:ln>
        </p:spPr>
      </p:cxnSp>
      <p:cxnSp>
        <p:nvCxnSpPr>
          <p:cNvPr id="1377" name="Google Shape;1377;p100"/>
          <p:cNvCxnSpPr/>
          <p:nvPr/>
        </p:nvCxnSpPr>
        <p:spPr>
          <a:xfrm flipH="1">
            <a:off x="7457925" y="2593175"/>
            <a:ext cx="438300" cy="1335900"/>
          </a:xfrm>
          <a:prstGeom prst="straightConnector1">
            <a:avLst/>
          </a:prstGeom>
          <a:noFill/>
          <a:ln cap="flat" cmpd="sng" w="38100">
            <a:solidFill>
              <a:schemeClr val="dk1"/>
            </a:solidFill>
            <a:prstDash val="solid"/>
            <a:round/>
            <a:headEnd len="med" w="med" type="none"/>
            <a:tailEnd len="med" w="med" type="none"/>
          </a:ln>
        </p:spPr>
      </p:cxnSp>
      <p:cxnSp>
        <p:nvCxnSpPr>
          <p:cNvPr id="1378" name="Google Shape;1378;p100"/>
          <p:cNvCxnSpPr/>
          <p:nvPr/>
        </p:nvCxnSpPr>
        <p:spPr>
          <a:xfrm>
            <a:off x="7896225" y="2602700"/>
            <a:ext cx="435900" cy="1312200"/>
          </a:xfrm>
          <a:prstGeom prst="straightConnector1">
            <a:avLst/>
          </a:prstGeom>
          <a:noFill/>
          <a:ln cap="flat" cmpd="sng" w="38100">
            <a:solidFill>
              <a:schemeClr val="dk1"/>
            </a:solidFill>
            <a:prstDash val="solid"/>
            <a:round/>
            <a:headEnd len="med" w="med" type="none"/>
            <a:tailEnd len="med" w="med" type="none"/>
          </a:ln>
        </p:spPr>
      </p:cxnSp>
      <p:cxnSp>
        <p:nvCxnSpPr>
          <p:cNvPr id="1379" name="Google Shape;1379;p100"/>
          <p:cNvCxnSpPr/>
          <p:nvPr/>
        </p:nvCxnSpPr>
        <p:spPr>
          <a:xfrm>
            <a:off x="7898600" y="2602700"/>
            <a:ext cx="700200" cy="516900"/>
          </a:xfrm>
          <a:prstGeom prst="straightConnector1">
            <a:avLst/>
          </a:prstGeom>
          <a:noFill/>
          <a:ln cap="flat" cmpd="sng" w="38100">
            <a:solidFill>
              <a:schemeClr val="dk1"/>
            </a:solidFill>
            <a:prstDash val="solid"/>
            <a:round/>
            <a:headEnd len="med" w="med" type="none"/>
            <a:tailEnd len="med" w="med" type="none"/>
          </a:ln>
        </p:spPr>
      </p:cxnSp>
      <p:cxnSp>
        <p:nvCxnSpPr>
          <p:cNvPr id="1380" name="Google Shape;1380;p100"/>
          <p:cNvCxnSpPr/>
          <p:nvPr/>
        </p:nvCxnSpPr>
        <p:spPr>
          <a:xfrm flipH="1">
            <a:off x="7460425" y="3119450"/>
            <a:ext cx="1147800" cy="795300"/>
          </a:xfrm>
          <a:prstGeom prst="straightConnector1">
            <a:avLst/>
          </a:prstGeom>
          <a:noFill/>
          <a:ln cap="flat" cmpd="sng" w="38100">
            <a:solidFill>
              <a:schemeClr val="dk1"/>
            </a:solidFill>
            <a:prstDash val="solid"/>
            <a:round/>
            <a:headEnd len="med" w="med" type="none"/>
            <a:tailEnd len="med" w="med" type="none"/>
          </a:ln>
        </p:spPr>
      </p:cxnSp>
      <p:cxnSp>
        <p:nvCxnSpPr>
          <p:cNvPr id="1381" name="Google Shape;1381;p100"/>
          <p:cNvCxnSpPr/>
          <p:nvPr/>
        </p:nvCxnSpPr>
        <p:spPr>
          <a:xfrm flipH="1" rot="10800000">
            <a:off x="7469975" y="3909950"/>
            <a:ext cx="857400" cy="7200"/>
          </a:xfrm>
          <a:prstGeom prst="straightConnector1">
            <a:avLst/>
          </a:prstGeom>
          <a:noFill/>
          <a:ln cap="flat" cmpd="sng" w="38100">
            <a:solidFill>
              <a:schemeClr val="dk1"/>
            </a:solidFill>
            <a:prstDash val="solid"/>
            <a:round/>
            <a:headEnd len="med" w="med" type="none"/>
            <a:tailEnd len="med" w="med" type="none"/>
          </a:ln>
        </p:spPr>
      </p:cxnSp>
      <p:cxnSp>
        <p:nvCxnSpPr>
          <p:cNvPr id="1382" name="Google Shape;1382;p100"/>
          <p:cNvCxnSpPr/>
          <p:nvPr/>
        </p:nvCxnSpPr>
        <p:spPr>
          <a:xfrm flipH="1" rot="10800000">
            <a:off x="8339150" y="3117125"/>
            <a:ext cx="252300" cy="79290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101"/>
          <p:cNvSpPr txBox="1"/>
          <p:nvPr>
            <p:ph idx="1" type="body"/>
          </p:nvPr>
        </p:nvSpPr>
        <p:spPr>
          <a:xfrm>
            <a:off x="324000" y="2087700"/>
            <a:ext cx="8496000" cy="273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g</a:t>
            </a:r>
            <a:r>
              <a:rPr lang="en-GB" sz="1800"/>
              <a:t>) Make a prediction for what the 6</a:t>
            </a:r>
            <a:r>
              <a:rPr baseline="30000" lang="en-GB" sz="1800"/>
              <a:t>th</a:t>
            </a:r>
            <a:r>
              <a:rPr lang="en-GB" sz="1800"/>
              <a:t> column will look like.</a:t>
            </a:r>
            <a:endParaRPr sz="1800"/>
          </a:p>
          <a:p>
            <a:pPr indent="0" lvl="0" marL="0" rtl="0" algn="l">
              <a:spcBef>
                <a:spcPts val="1000"/>
              </a:spcBef>
              <a:spcAft>
                <a:spcPts val="0"/>
              </a:spcAft>
              <a:buNone/>
            </a:pPr>
            <a:r>
              <a:rPr lang="en-GB" sz="1800"/>
              <a:t>h) Use the circle given to fill in the 6</a:t>
            </a:r>
            <a:r>
              <a:rPr baseline="30000" lang="en-GB" sz="1800"/>
              <a:t>th</a:t>
            </a:r>
            <a:r>
              <a:rPr lang="en-GB" sz="1800"/>
              <a:t> column. </a:t>
            </a:r>
            <a:endParaRPr sz="1800"/>
          </a:p>
          <a:p>
            <a:pPr indent="0" lvl="0" marL="0" rtl="0" algn="l">
              <a:spcBef>
                <a:spcPts val="1000"/>
              </a:spcBef>
              <a:spcAft>
                <a:spcPts val="0"/>
              </a:spcAft>
              <a:buNone/>
            </a:pPr>
            <a:r>
              <a:rPr lang="en-GB" sz="1800"/>
              <a:t>i) Were you correct? Write a sentence explaining what you                          have found: </a:t>
            </a:r>
            <a:r>
              <a:rPr lang="en-GB" sz="2000">
                <a:latin typeface="Kalam"/>
                <a:ea typeface="Kalam"/>
                <a:cs typeface="Kalam"/>
                <a:sym typeface="Kalam"/>
              </a:rPr>
              <a:t>Your answer may have included,</a:t>
            </a:r>
            <a:endParaRPr sz="2000">
              <a:latin typeface="Kalam"/>
              <a:ea typeface="Kalam"/>
              <a:cs typeface="Kalam"/>
              <a:sym typeface="Kalam"/>
            </a:endParaRPr>
          </a:p>
          <a:p>
            <a:pPr indent="0" lvl="0" marL="0" rtl="0" algn="l">
              <a:spcBef>
                <a:spcPts val="1000"/>
              </a:spcBef>
              <a:spcAft>
                <a:spcPts val="0"/>
              </a:spcAft>
              <a:buNone/>
            </a:pPr>
            <a:r>
              <a:rPr lang="en-GB" sz="2000">
                <a:latin typeface="Kalam"/>
                <a:ea typeface="Kalam"/>
                <a:cs typeface="Kalam"/>
                <a:sym typeface="Kalam"/>
              </a:rPr>
              <a:t>The number of regions looked geometric but this didn’t continue to pattern 6. The number of lines for pattern 2 onwards is the triangular numbers. The number of intersections could have a pattern but more terms are needed.</a:t>
            </a:r>
            <a:endParaRPr sz="2000">
              <a:latin typeface="Kalam"/>
              <a:ea typeface="Kalam"/>
              <a:cs typeface="Kalam"/>
              <a:sym typeface="Kalam"/>
            </a:endParaRPr>
          </a:p>
          <a:p>
            <a:pPr indent="0" lvl="0" marL="0" rtl="0" algn="l">
              <a:spcBef>
                <a:spcPts val="1000"/>
              </a:spcBef>
              <a:spcAft>
                <a:spcPts val="1000"/>
              </a:spcAft>
              <a:buNone/>
            </a:pPr>
            <a:r>
              <a:t/>
            </a:r>
            <a:endParaRPr sz="1800"/>
          </a:p>
        </p:txBody>
      </p:sp>
      <p:sp>
        <p:nvSpPr>
          <p:cNvPr id="1388" name="Google Shape;1388;p101"/>
          <p:cNvSpPr/>
          <p:nvPr/>
        </p:nvSpPr>
        <p:spPr>
          <a:xfrm>
            <a:off x="7167107" y="2140775"/>
            <a:ext cx="1461300" cy="1461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Lexend"/>
              <a:ea typeface="Lexend"/>
              <a:cs typeface="Lexend"/>
              <a:sym typeface="Lexend"/>
            </a:endParaRPr>
          </a:p>
        </p:txBody>
      </p:sp>
      <p:sp>
        <p:nvSpPr>
          <p:cNvPr id="1389" name="Google Shape;1389;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390" name="Google Shape;1390;p101"/>
          <p:cNvSpPr txBox="1"/>
          <p:nvPr>
            <p:ph idx="1" type="body"/>
          </p:nvPr>
        </p:nvSpPr>
        <p:spPr>
          <a:xfrm>
            <a:off x="324000" y="710425"/>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t>
            </a:r>
            <a:endParaRPr sz="1800"/>
          </a:p>
        </p:txBody>
      </p:sp>
      <p:graphicFrame>
        <p:nvGraphicFramePr>
          <p:cNvPr id="1391" name="Google Shape;1391;p101"/>
          <p:cNvGraphicFramePr/>
          <p:nvPr/>
        </p:nvGraphicFramePr>
        <p:xfrm>
          <a:off x="590725" y="710413"/>
          <a:ext cx="3000000" cy="3000000"/>
        </p:xfrm>
        <a:graphic>
          <a:graphicData uri="http://schemas.openxmlformats.org/drawingml/2006/table">
            <a:tbl>
              <a:tblPr>
                <a:noFill/>
                <a:tableStyleId>{4AB3277E-3E12-4634-AB05-300492CF9E7F}</a:tableStyleId>
              </a:tblPr>
              <a:tblGrid>
                <a:gridCol w="3011225"/>
                <a:gridCol w="869675"/>
                <a:gridCol w="869675"/>
                <a:gridCol w="869675"/>
                <a:gridCol w="869675"/>
                <a:gridCol w="869675"/>
                <a:gridCol w="869675"/>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5</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6</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15</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1</a:t>
                      </a:r>
                      <a:endParaRPr sz="18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5</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13</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8</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16</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392" name="Google Shape;1392;p101"/>
          <p:cNvSpPr/>
          <p:nvPr/>
        </p:nvSpPr>
        <p:spPr>
          <a:xfrm>
            <a:off x="7194552" y="2395211"/>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93" name="Google Shape;1393;p101"/>
          <p:cNvSpPr/>
          <p:nvPr/>
        </p:nvSpPr>
        <p:spPr>
          <a:xfrm>
            <a:off x="8462954" y="3115375"/>
            <a:ext cx="2412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94" name="Google Shape;1394;p101"/>
          <p:cNvSpPr/>
          <p:nvPr/>
        </p:nvSpPr>
        <p:spPr>
          <a:xfrm>
            <a:off x="7820947" y="2028527"/>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95" name="Google Shape;1395;p101"/>
          <p:cNvSpPr/>
          <p:nvPr/>
        </p:nvSpPr>
        <p:spPr>
          <a:xfrm>
            <a:off x="7191376" y="3122561"/>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96" name="Google Shape;1396;p101"/>
          <p:cNvSpPr/>
          <p:nvPr/>
        </p:nvSpPr>
        <p:spPr>
          <a:xfrm>
            <a:off x="8452038" y="2397800"/>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sp>
        <p:nvSpPr>
          <p:cNvPr id="1397" name="Google Shape;1397;p101"/>
          <p:cNvSpPr/>
          <p:nvPr/>
        </p:nvSpPr>
        <p:spPr>
          <a:xfrm>
            <a:off x="7820947" y="3476327"/>
            <a:ext cx="153600" cy="171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300">
                <a:solidFill>
                  <a:srgbClr val="222222"/>
                </a:solidFill>
                <a:latin typeface="Lexend"/>
                <a:ea typeface="Lexend"/>
                <a:cs typeface="Lexend"/>
                <a:sym typeface="Lexend"/>
              </a:rPr>
              <a:t>×</a:t>
            </a:r>
            <a:endParaRPr sz="2200">
              <a:latin typeface="Lexend"/>
              <a:ea typeface="Lexend"/>
              <a:cs typeface="Lexend"/>
              <a:sym typeface="Lexend"/>
            </a:endParaRPr>
          </a:p>
        </p:txBody>
      </p:sp>
      <p:cxnSp>
        <p:nvCxnSpPr>
          <p:cNvPr id="1398" name="Google Shape;1398;p101"/>
          <p:cNvCxnSpPr/>
          <p:nvPr/>
        </p:nvCxnSpPr>
        <p:spPr>
          <a:xfrm flipH="1" rot="10800000">
            <a:off x="7264400" y="2136850"/>
            <a:ext cx="627000" cy="371400"/>
          </a:xfrm>
          <a:prstGeom prst="straightConnector1">
            <a:avLst/>
          </a:prstGeom>
          <a:noFill/>
          <a:ln cap="flat" cmpd="sng" w="38100">
            <a:solidFill>
              <a:schemeClr val="dk1"/>
            </a:solidFill>
            <a:prstDash val="solid"/>
            <a:round/>
            <a:headEnd len="med" w="med" type="none"/>
            <a:tailEnd len="med" w="med" type="none"/>
          </a:ln>
        </p:spPr>
      </p:cxnSp>
      <p:cxnSp>
        <p:nvCxnSpPr>
          <p:cNvPr id="1399" name="Google Shape;1399;p101"/>
          <p:cNvCxnSpPr/>
          <p:nvPr/>
        </p:nvCxnSpPr>
        <p:spPr>
          <a:xfrm>
            <a:off x="7267575" y="2498725"/>
            <a:ext cx="1262100" cy="8100"/>
          </a:xfrm>
          <a:prstGeom prst="straightConnector1">
            <a:avLst/>
          </a:prstGeom>
          <a:noFill/>
          <a:ln cap="flat" cmpd="sng" w="38100">
            <a:solidFill>
              <a:schemeClr val="dk1"/>
            </a:solidFill>
            <a:prstDash val="solid"/>
            <a:round/>
            <a:headEnd len="med" w="med" type="none"/>
            <a:tailEnd len="med" w="med" type="none"/>
          </a:ln>
        </p:spPr>
      </p:cxnSp>
      <p:cxnSp>
        <p:nvCxnSpPr>
          <p:cNvPr id="1400" name="Google Shape;1400;p101"/>
          <p:cNvCxnSpPr/>
          <p:nvPr/>
        </p:nvCxnSpPr>
        <p:spPr>
          <a:xfrm>
            <a:off x="7280275" y="2501900"/>
            <a:ext cx="1254000" cy="723900"/>
          </a:xfrm>
          <a:prstGeom prst="straightConnector1">
            <a:avLst/>
          </a:prstGeom>
          <a:noFill/>
          <a:ln cap="flat" cmpd="sng" w="38100">
            <a:solidFill>
              <a:schemeClr val="dk1"/>
            </a:solidFill>
            <a:prstDash val="solid"/>
            <a:round/>
            <a:headEnd len="med" w="med" type="none"/>
            <a:tailEnd len="med" w="med" type="none"/>
          </a:ln>
        </p:spPr>
      </p:cxnSp>
      <p:cxnSp>
        <p:nvCxnSpPr>
          <p:cNvPr id="1401" name="Google Shape;1401;p101"/>
          <p:cNvCxnSpPr/>
          <p:nvPr/>
        </p:nvCxnSpPr>
        <p:spPr>
          <a:xfrm>
            <a:off x="7291400" y="2503500"/>
            <a:ext cx="604800" cy="1081200"/>
          </a:xfrm>
          <a:prstGeom prst="straightConnector1">
            <a:avLst/>
          </a:prstGeom>
          <a:noFill/>
          <a:ln cap="flat" cmpd="sng" w="38100">
            <a:solidFill>
              <a:schemeClr val="dk1"/>
            </a:solidFill>
            <a:prstDash val="solid"/>
            <a:round/>
            <a:headEnd len="med" w="med" type="none"/>
            <a:tailEnd len="med" w="med" type="none"/>
          </a:ln>
        </p:spPr>
      </p:cxnSp>
      <p:cxnSp>
        <p:nvCxnSpPr>
          <p:cNvPr id="1402" name="Google Shape;1402;p101"/>
          <p:cNvCxnSpPr/>
          <p:nvPr/>
        </p:nvCxnSpPr>
        <p:spPr>
          <a:xfrm flipH="1">
            <a:off x="7267725" y="2497150"/>
            <a:ext cx="7800" cy="731700"/>
          </a:xfrm>
          <a:prstGeom prst="straightConnector1">
            <a:avLst/>
          </a:prstGeom>
          <a:noFill/>
          <a:ln cap="flat" cmpd="sng" w="38100">
            <a:solidFill>
              <a:schemeClr val="dk1"/>
            </a:solidFill>
            <a:prstDash val="solid"/>
            <a:round/>
            <a:headEnd len="med" w="med" type="none"/>
            <a:tailEnd len="med" w="med" type="none"/>
          </a:ln>
        </p:spPr>
      </p:cxnSp>
      <p:cxnSp>
        <p:nvCxnSpPr>
          <p:cNvPr id="1403" name="Google Shape;1403;p101"/>
          <p:cNvCxnSpPr/>
          <p:nvPr/>
        </p:nvCxnSpPr>
        <p:spPr>
          <a:xfrm flipH="1">
            <a:off x="7265850" y="2133600"/>
            <a:ext cx="639900" cy="1103400"/>
          </a:xfrm>
          <a:prstGeom prst="straightConnector1">
            <a:avLst/>
          </a:prstGeom>
          <a:noFill/>
          <a:ln cap="flat" cmpd="sng" w="38100">
            <a:solidFill>
              <a:schemeClr val="dk1"/>
            </a:solidFill>
            <a:prstDash val="solid"/>
            <a:round/>
            <a:headEnd len="med" w="med" type="none"/>
            <a:tailEnd len="med" w="med" type="none"/>
          </a:ln>
        </p:spPr>
      </p:cxnSp>
      <p:cxnSp>
        <p:nvCxnSpPr>
          <p:cNvPr id="1404" name="Google Shape;1404;p101"/>
          <p:cNvCxnSpPr/>
          <p:nvPr/>
        </p:nvCxnSpPr>
        <p:spPr>
          <a:xfrm>
            <a:off x="7893050" y="2146300"/>
            <a:ext cx="1500" cy="1438200"/>
          </a:xfrm>
          <a:prstGeom prst="straightConnector1">
            <a:avLst/>
          </a:prstGeom>
          <a:noFill/>
          <a:ln cap="flat" cmpd="sng" w="38100">
            <a:solidFill>
              <a:schemeClr val="dk1"/>
            </a:solidFill>
            <a:prstDash val="solid"/>
            <a:round/>
            <a:headEnd len="med" w="med" type="none"/>
            <a:tailEnd len="med" w="med" type="none"/>
          </a:ln>
        </p:spPr>
      </p:cxnSp>
      <p:cxnSp>
        <p:nvCxnSpPr>
          <p:cNvPr id="1405" name="Google Shape;1405;p101"/>
          <p:cNvCxnSpPr/>
          <p:nvPr/>
        </p:nvCxnSpPr>
        <p:spPr>
          <a:xfrm>
            <a:off x="7891475" y="2139950"/>
            <a:ext cx="627000" cy="366600"/>
          </a:xfrm>
          <a:prstGeom prst="straightConnector1">
            <a:avLst/>
          </a:prstGeom>
          <a:noFill/>
          <a:ln cap="flat" cmpd="sng" w="38100">
            <a:solidFill>
              <a:schemeClr val="dk1"/>
            </a:solidFill>
            <a:prstDash val="solid"/>
            <a:round/>
            <a:headEnd len="med" w="med" type="none"/>
            <a:tailEnd len="med" w="med" type="none"/>
          </a:ln>
        </p:spPr>
      </p:cxnSp>
      <p:cxnSp>
        <p:nvCxnSpPr>
          <p:cNvPr id="1406" name="Google Shape;1406;p101"/>
          <p:cNvCxnSpPr/>
          <p:nvPr/>
        </p:nvCxnSpPr>
        <p:spPr>
          <a:xfrm flipH="1">
            <a:off x="7901875" y="2503175"/>
            <a:ext cx="619200" cy="1074300"/>
          </a:xfrm>
          <a:prstGeom prst="straightConnector1">
            <a:avLst/>
          </a:prstGeom>
          <a:noFill/>
          <a:ln cap="flat" cmpd="sng" w="38100">
            <a:solidFill>
              <a:schemeClr val="dk1"/>
            </a:solidFill>
            <a:prstDash val="solid"/>
            <a:round/>
            <a:headEnd len="med" w="med" type="none"/>
            <a:tailEnd len="med" w="med" type="none"/>
          </a:ln>
        </p:spPr>
      </p:cxnSp>
      <p:cxnSp>
        <p:nvCxnSpPr>
          <p:cNvPr id="1407" name="Google Shape;1407;p101"/>
          <p:cNvCxnSpPr/>
          <p:nvPr/>
        </p:nvCxnSpPr>
        <p:spPr>
          <a:xfrm>
            <a:off x="7890500" y="2143125"/>
            <a:ext cx="640200" cy="1072500"/>
          </a:xfrm>
          <a:prstGeom prst="straightConnector1">
            <a:avLst/>
          </a:prstGeom>
          <a:noFill/>
          <a:ln cap="flat" cmpd="sng" w="38100">
            <a:solidFill>
              <a:schemeClr val="dk1"/>
            </a:solidFill>
            <a:prstDash val="solid"/>
            <a:round/>
            <a:headEnd len="med" w="med" type="none"/>
            <a:tailEnd len="med" w="med" type="none"/>
          </a:ln>
        </p:spPr>
      </p:cxnSp>
      <p:cxnSp>
        <p:nvCxnSpPr>
          <p:cNvPr id="1408" name="Google Shape;1408;p101"/>
          <p:cNvCxnSpPr/>
          <p:nvPr/>
        </p:nvCxnSpPr>
        <p:spPr>
          <a:xfrm>
            <a:off x="8522975" y="2505075"/>
            <a:ext cx="17100" cy="723900"/>
          </a:xfrm>
          <a:prstGeom prst="straightConnector1">
            <a:avLst/>
          </a:prstGeom>
          <a:noFill/>
          <a:ln cap="flat" cmpd="sng" w="38100">
            <a:solidFill>
              <a:schemeClr val="dk1"/>
            </a:solidFill>
            <a:prstDash val="solid"/>
            <a:round/>
            <a:headEnd len="med" w="med" type="none"/>
            <a:tailEnd len="med" w="med" type="none"/>
          </a:ln>
        </p:spPr>
      </p:cxnSp>
      <p:cxnSp>
        <p:nvCxnSpPr>
          <p:cNvPr id="1409" name="Google Shape;1409;p101"/>
          <p:cNvCxnSpPr/>
          <p:nvPr/>
        </p:nvCxnSpPr>
        <p:spPr>
          <a:xfrm flipH="1">
            <a:off x="7894250" y="3213725"/>
            <a:ext cx="657300" cy="362100"/>
          </a:xfrm>
          <a:prstGeom prst="straightConnector1">
            <a:avLst/>
          </a:prstGeom>
          <a:noFill/>
          <a:ln cap="flat" cmpd="sng" w="38100">
            <a:solidFill>
              <a:schemeClr val="dk1"/>
            </a:solidFill>
            <a:prstDash val="solid"/>
            <a:round/>
            <a:headEnd len="med" w="med" type="none"/>
            <a:tailEnd len="med" w="med" type="none"/>
          </a:ln>
        </p:spPr>
      </p:cxnSp>
      <p:cxnSp>
        <p:nvCxnSpPr>
          <p:cNvPr id="1410" name="Google Shape;1410;p101"/>
          <p:cNvCxnSpPr/>
          <p:nvPr/>
        </p:nvCxnSpPr>
        <p:spPr>
          <a:xfrm flipH="1">
            <a:off x="7260025" y="3215650"/>
            <a:ext cx="1285800" cy="9600"/>
          </a:xfrm>
          <a:prstGeom prst="straightConnector1">
            <a:avLst/>
          </a:prstGeom>
          <a:noFill/>
          <a:ln cap="flat" cmpd="sng" w="38100">
            <a:solidFill>
              <a:schemeClr val="dk1"/>
            </a:solidFill>
            <a:prstDash val="solid"/>
            <a:round/>
            <a:headEnd len="med" w="med" type="none"/>
            <a:tailEnd len="med" w="med" type="none"/>
          </a:ln>
        </p:spPr>
      </p:cxnSp>
      <p:cxnSp>
        <p:nvCxnSpPr>
          <p:cNvPr id="1411" name="Google Shape;1411;p101"/>
          <p:cNvCxnSpPr/>
          <p:nvPr/>
        </p:nvCxnSpPr>
        <p:spPr>
          <a:xfrm>
            <a:off x="7273300" y="3228975"/>
            <a:ext cx="611400" cy="354300"/>
          </a:xfrm>
          <a:prstGeom prst="straightConnector1">
            <a:avLst/>
          </a:prstGeom>
          <a:noFill/>
          <a:ln cap="flat" cmpd="sng" w="38100">
            <a:solidFill>
              <a:schemeClr val="dk1"/>
            </a:solidFill>
            <a:prstDash val="solid"/>
            <a:round/>
            <a:headEnd len="med" w="med" type="none"/>
            <a:tailEnd len="med" w="med" type="none"/>
          </a:ln>
        </p:spPr>
      </p:cxnSp>
      <p:cxnSp>
        <p:nvCxnSpPr>
          <p:cNvPr id="1412" name="Google Shape;1412;p101"/>
          <p:cNvCxnSpPr/>
          <p:nvPr/>
        </p:nvCxnSpPr>
        <p:spPr>
          <a:xfrm flipH="1" rot="10800000">
            <a:off x="7254438" y="2501150"/>
            <a:ext cx="1278000" cy="727800"/>
          </a:xfrm>
          <a:prstGeom prst="straightConnector1">
            <a:avLst/>
          </a:prstGeom>
          <a:noFill/>
          <a:ln cap="flat" cmpd="sng" w="38100">
            <a:solidFill>
              <a:schemeClr val="dk1"/>
            </a:solidFill>
            <a:prstDash val="solid"/>
            <a:round/>
            <a:headEnd len="med" w="med" type="none"/>
            <a:tailEnd len="med" w="med" type="none"/>
          </a:ln>
        </p:spPr>
      </p:cxnSp>
      <p:sp>
        <p:nvSpPr>
          <p:cNvPr id="1413" name="Google Shape;1413;p101"/>
          <p:cNvSpPr/>
          <p:nvPr/>
        </p:nvSpPr>
        <p:spPr>
          <a:xfrm>
            <a:off x="7666375" y="3727950"/>
            <a:ext cx="1230900" cy="3639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4" name="Google Shape;1414;p101"/>
          <p:cNvSpPr/>
          <p:nvPr/>
        </p:nvSpPr>
        <p:spPr>
          <a:xfrm>
            <a:off x="8074209" y="1646306"/>
            <a:ext cx="657300" cy="3162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02"/>
          <p:cNvSpPr txBox="1"/>
          <p:nvPr>
            <p:ph idx="1" type="body"/>
          </p:nvPr>
        </p:nvSpPr>
        <p:spPr>
          <a:xfrm>
            <a:off x="338700" y="2782800"/>
            <a:ext cx="8466600" cy="199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j</a:t>
            </a:r>
            <a:r>
              <a:rPr lang="en-GB" sz="1800"/>
              <a:t>) Do you think you have found any patterns which will continue? Write a sentence explaining why.</a:t>
            </a:r>
            <a:endParaRPr sz="1800"/>
          </a:p>
          <a:p>
            <a:pPr indent="0" lvl="0" marL="0" rtl="0" algn="l">
              <a:spcBef>
                <a:spcPts val="0"/>
              </a:spcBef>
              <a:spcAft>
                <a:spcPts val="1000"/>
              </a:spcAft>
              <a:buNone/>
            </a:pPr>
            <a:r>
              <a:rPr lang="en-GB" sz="2000">
                <a:latin typeface="Kalam"/>
                <a:ea typeface="Kalam"/>
                <a:cs typeface="Kalam"/>
                <a:sym typeface="Kalam"/>
              </a:rPr>
              <a:t>The number of lines will continue to be the triangular numbers as every point is joined to every other point. The triangular number sequence is the same as the number of connections between 2, 3, 4, 5, … objects. It is unclear how the other two patterns will continue at this stage. </a:t>
            </a:r>
            <a:endParaRPr sz="2000">
              <a:latin typeface="Kalam"/>
              <a:ea typeface="Kalam"/>
              <a:cs typeface="Kalam"/>
              <a:sym typeface="Kalam"/>
            </a:endParaRPr>
          </a:p>
        </p:txBody>
      </p:sp>
      <p:sp>
        <p:nvSpPr>
          <p:cNvPr id="1420" name="Google Shape;1420;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
        <p:nvSpPr>
          <p:cNvPr id="1421" name="Google Shape;1421;p102"/>
          <p:cNvSpPr txBox="1"/>
          <p:nvPr>
            <p:ph idx="1" type="body"/>
          </p:nvPr>
        </p:nvSpPr>
        <p:spPr>
          <a:xfrm>
            <a:off x="324000" y="716325"/>
            <a:ext cx="8496000" cy="61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Fill in this table to investigate patterns found when points around a circle are joined with straight lines.</a:t>
            </a:r>
            <a:endParaRPr sz="1800"/>
          </a:p>
        </p:txBody>
      </p:sp>
      <p:graphicFrame>
        <p:nvGraphicFramePr>
          <p:cNvPr id="1422" name="Google Shape;1422;p102"/>
          <p:cNvGraphicFramePr/>
          <p:nvPr/>
        </p:nvGraphicFramePr>
        <p:xfrm>
          <a:off x="338700" y="1453188"/>
          <a:ext cx="3000000" cy="3000000"/>
        </p:xfrm>
        <a:graphic>
          <a:graphicData uri="http://schemas.openxmlformats.org/drawingml/2006/table">
            <a:tbl>
              <a:tblPr>
                <a:noFill/>
                <a:tableStyleId>{4AB3277E-3E12-4634-AB05-300492CF9E7F}</a:tableStyleId>
              </a:tblPr>
              <a:tblGrid>
                <a:gridCol w="3098050"/>
                <a:gridCol w="894750"/>
                <a:gridCol w="894750"/>
                <a:gridCol w="894750"/>
                <a:gridCol w="894750"/>
                <a:gridCol w="894750"/>
                <a:gridCol w="894750"/>
              </a:tblGrid>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points on the circle</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2</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3</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4</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5</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6</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lines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6</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15</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intersections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0</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1</a:t>
                      </a:r>
                      <a:endParaRPr sz="18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5</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13</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1700">
                <a:tc>
                  <a:txBody>
                    <a:bodyPr/>
                    <a:lstStyle/>
                    <a:p>
                      <a:pPr indent="0" lvl="0" marL="0" rtl="0" algn="l">
                        <a:spcBef>
                          <a:spcPts val="0"/>
                        </a:spcBef>
                        <a:spcAft>
                          <a:spcPts val="0"/>
                        </a:spcAft>
                        <a:buNone/>
                      </a:pPr>
                      <a:r>
                        <a:rPr lang="en-GB" sz="1600">
                          <a:solidFill>
                            <a:schemeClr val="lt1"/>
                          </a:solidFill>
                          <a:latin typeface="Lexend"/>
                          <a:ea typeface="Lexend"/>
                          <a:cs typeface="Lexend"/>
                          <a:sym typeface="Lexend"/>
                        </a:rPr>
                        <a:t>Number of regions</a:t>
                      </a:r>
                      <a:endParaRPr sz="16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600">
                          <a:latin typeface="Lexend"/>
                          <a:ea typeface="Lexend"/>
                          <a:cs typeface="Lexend"/>
                          <a:sym typeface="Lexend"/>
                        </a:rPr>
                        <a:t>8</a:t>
                      </a:r>
                      <a:endParaRPr sz="16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16</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30</a:t>
                      </a:r>
                      <a:endParaRPr sz="2000">
                        <a:latin typeface="Kalam"/>
                        <a:ea typeface="Kalam"/>
                        <a:cs typeface="Kalam"/>
                        <a:sym typeface="Kalam"/>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03"/>
          <p:cNvSpPr txBox="1"/>
          <p:nvPr>
            <p:ph idx="1" type="body"/>
          </p:nvPr>
        </p:nvSpPr>
        <p:spPr>
          <a:xfrm>
            <a:off x="324000" y="810000"/>
            <a:ext cx="84960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Not all numerical sequences follow a mathematical rule.</a:t>
            </a:r>
            <a:endParaRPr sz="2000"/>
          </a:p>
          <a:p>
            <a:pPr indent="0" lvl="0" marL="0" rtl="0" algn="l">
              <a:spcBef>
                <a:spcPts val="1000"/>
              </a:spcBef>
              <a:spcAft>
                <a:spcPts val="0"/>
              </a:spcAft>
              <a:buNone/>
            </a:pPr>
            <a:r>
              <a:rPr lang="en-GB" sz="2000"/>
              <a:t>A numerical sequence is just a set of numbers written in an order. </a:t>
            </a:r>
            <a:endParaRPr sz="2000"/>
          </a:p>
          <a:p>
            <a:pPr indent="0" lvl="0" marL="0" rtl="0" algn="l">
              <a:spcBef>
                <a:spcPts val="1000"/>
              </a:spcBef>
              <a:spcAft>
                <a:spcPts val="0"/>
              </a:spcAft>
              <a:buNone/>
            </a:pPr>
            <a:r>
              <a:rPr lang="en-GB" sz="2000"/>
              <a:t>If you only know a few terms in a sequence, it is possible that the sequence can continue in multiple ways.</a:t>
            </a:r>
            <a:endParaRPr sz="2000"/>
          </a:p>
          <a:p>
            <a:pPr indent="0" lvl="0" marL="0" rtl="0" algn="l">
              <a:spcBef>
                <a:spcPts val="1000"/>
              </a:spcBef>
              <a:spcAft>
                <a:spcPts val="0"/>
              </a:spcAft>
              <a:buNone/>
            </a:pPr>
            <a:r>
              <a:rPr lang="en-GB" sz="2000"/>
              <a:t>Even if a pattern applies to many terms, there is no </a:t>
            </a:r>
            <a:r>
              <a:rPr lang="en-GB" sz="2000"/>
              <a:t>guarantee</a:t>
            </a:r>
            <a:r>
              <a:rPr lang="en-GB" sz="2000"/>
              <a:t> that will continue.</a:t>
            </a:r>
            <a:endParaRPr sz="2000"/>
          </a:p>
          <a:p>
            <a:pPr indent="0" lvl="0" marL="0" rtl="0" algn="l">
              <a:spcBef>
                <a:spcPts val="1000"/>
              </a:spcBef>
              <a:spcAft>
                <a:spcPts val="0"/>
              </a:spcAft>
              <a:buNone/>
            </a:pPr>
            <a:r>
              <a:rPr lang="en-GB" sz="2000"/>
              <a:t>Finding patterns can help you make predictions but these are not always correct. </a:t>
            </a:r>
            <a:endParaRPr sz="2000"/>
          </a:p>
          <a:p>
            <a:pPr indent="0" lvl="0" marL="0" rtl="0" algn="l">
              <a:spcBef>
                <a:spcPts val="1000"/>
              </a:spcBef>
              <a:spcAft>
                <a:spcPts val="1000"/>
              </a:spcAft>
              <a:buNone/>
            </a:pPr>
            <a:r>
              <a:t/>
            </a:r>
            <a:endParaRPr sz="2000"/>
          </a:p>
        </p:txBody>
      </p:sp>
      <p:sp>
        <p:nvSpPr>
          <p:cNvPr id="1428" name="Google Shape;1428;p103"/>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Extrapolating a sequence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04"/>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34" name="Google Shape;1434;p104"/>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