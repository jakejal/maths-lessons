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49715D-E8AD-497F-BDE5-38293D9AD2DA}">
  <a:tblStyle styleId="{9949715D-E8AD-497F-BDE5-38293D9AD2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Extrapolating a sequence</a:t>
            </a:r>
            <a:endParaRPr/>
          </a:p>
        </p:txBody>
      </p:sp>
      <p:sp>
        <p:nvSpPr>
          <p:cNvPr id="173" name="Google Shape;173;p20"/>
          <p:cNvSpPr txBox="1"/>
          <p:nvPr/>
        </p:nvSpPr>
        <p:spPr>
          <a:xfrm>
            <a:off x="468002" y="1258850"/>
            <a:ext cx="6250200" cy="294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Other sequences</a:t>
            </a:r>
            <a:endParaRPr b="1">
              <a:solidFill>
                <a:schemeClr val="dk1"/>
              </a:solidFill>
              <a:latin typeface="Lexend"/>
              <a:ea typeface="Lexend"/>
              <a:cs typeface="Lexend"/>
              <a:sym typeface="Lexend"/>
            </a:endParaRPr>
          </a:p>
        </p:txBody>
      </p:sp>
      <p:sp>
        <p:nvSpPr>
          <p:cNvPr id="174" name="Google Shape;174;p20"/>
          <p:cNvSpPr txBox="1"/>
          <p:nvPr/>
        </p:nvSpPr>
        <p:spPr>
          <a:xfrm>
            <a:off x="552600" y="1736567"/>
            <a:ext cx="6340500" cy="486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For each of the starting two terms, continue the sequence in three different ways. Explain the rule you have used for each way.</a:t>
            </a:r>
            <a:endParaRPr sz="1200">
              <a:solidFill>
                <a:srgbClr val="000000"/>
              </a:solidFill>
              <a:latin typeface="Lexend"/>
              <a:ea typeface="Lexend"/>
              <a:cs typeface="Lexend"/>
              <a:sym typeface="Lexend"/>
            </a:endParaRPr>
          </a:p>
        </p:txBody>
      </p:sp>
      <p:sp>
        <p:nvSpPr>
          <p:cNvPr id="175" name="Google Shape;175;p20"/>
          <p:cNvSpPr txBox="1"/>
          <p:nvPr/>
        </p:nvSpPr>
        <p:spPr>
          <a:xfrm>
            <a:off x="4709950" y="2070175"/>
            <a:ext cx="2462100" cy="21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Many answers for each question, these are just some ideas.</a:t>
            </a:r>
            <a:endParaRPr sz="1200">
              <a:solidFill>
                <a:srgbClr val="000000"/>
              </a:solidFill>
              <a:latin typeface="Kalam"/>
              <a:ea typeface="Kalam"/>
              <a:cs typeface="Kalam"/>
              <a:sym typeface="Kalam"/>
            </a:endParaRPr>
          </a:p>
        </p:txBody>
      </p:sp>
      <p:sp>
        <p:nvSpPr>
          <p:cNvPr id="176" name="Google Shape;176;p20"/>
          <p:cNvSpPr txBox="1"/>
          <p:nvPr/>
        </p:nvSpPr>
        <p:spPr>
          <a:xfrm>
            <a:off x="552600" y="2609298"/>
            <a:ext cx="6539400" cy="20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E.g. 2, 6, 18, 54, 162 (common multiplier of </a:t>
            </a:r>
            <a:r>
              <a:rPr lang="en-GB" sz="1200">
                <a:solidFill>
                  <a:srgbClr val="222222"/>
                </a:solidFill>
                <a:latin typeface="Kalam"/>
                <a:ea typeface="Kalam"/>
                <a:cs typeface="Kalam"/>
                <a:sym typeface="Kalam"/>
              </a:rPr>
              <a:t>×</a:t>
            </a:r>
            <a:r>
              <a:rPr lang="en-GB" sz="1200">
                <a:solidFill>
                  <a:srgbClr val="000000"/>
                </a:solidFill>
                <a:latin typeface="Kalam"/>
                <a:ea typeface="Kalam"/>
                <a:cs typeface="Kalam"/>
                <a:sym typeface="Kalam"/>
              </a:rPr>
              <a:t>3 between terms)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2, 6, 10, 14, 18, … (common difference of +4 between terms)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2, 6, 12, 20, 10, … (add 4, add 6, add 8,... Common second difference +2)</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77" name="Google Shape;177;p20"/>
          <p:cNvSpPr txBox="1"/>
          <p:nvPr/>
        </p:nvSpPr>
        <p:spPr>
          <a:xfrm>
            <a:off x="552600" y="3927261"/>
            <a:ext cx="6539400" cy="630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E.g. −1, 5, −25, 125, −625 (common multiplier of </a:t>
            </a:r>
            <a:r>
              <a:rPr lang="en-GB" sz="1200">
                <a:solidFill>
                  <a:srgbClr val="222222"/>
                </a:solidFill>
                <a:latin typeface="Kalam"/>
                <a:ea typeface="Kalam"/>
                <a:cs typeface="Kalam"/>
                <a:sym typeface="Kalam"/>
              </a:rPr>
              <a:t>×</a:t>
            </a:r>
            <a:r>
              <a:rPr lang="en-GB" sz="1200">
                <a:solidFill>
                  <a:srgbClr val="000000"/>
                </a:solidFill>
                <a:latin typeface="Kalam"/>
                <a:ea typeface="Kalam"/>
                <a:cs typeface="Kalam"/>
                <a:sym typeface="Kalam"/>
              </a:rPr>
              <a:t>−5 between terms)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 5, 4, 9, 13 (add two previous terms to get the next term)</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78" name="Google Shape;178;p20"/>
          <p:cNvSpPr txBox="1"/>
          <p:nvPr/>
        </p:nvSpPr>
        <p:spPr>
          <a:xfrm>
            <a:off x="552600" y="2311538"/>
            <a:ext cx="3269700" cy="1615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2, 6,</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304800" lvl="0" marL="457200" rtl="0" algn="l">
              <a:lnSpc>
                <a:spcPct val="115000"/>
              </a:lnSpc>
              <a:spcBef>
                <a:spcPts val="1000"/>
              </a:spcBef>
              <a:spcAft>
                <a:spcPts val="0"/>
              </a:spcAft>
              <a:buClr>
                <a:srgbClr val="000000"/>
              </a:buClr>
              <a:buSzPts val="1200"/>
              <a:buFont typeface="Lexend"/>
              <a:buAutoNum type="alphaLcParenR" startAt="2"/>
            </a:pPr>
            <a:r>
              <a:rPr lang="en-GB" sz="1200">
                <a:solidFill>
                  <a:srgbClr val="000000"/>
                </a:solidFill>
                <a:latin typeface="Lexend"/>
                <a:ea typeface="Lexend"/>
                <a:cs typeface="Lexend"/>
                <a:sym typeface="Lexend"/>
              </a:rPr>
              <a:t>−1, 5,</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79" name="Google Shape;179;p20"/>
          <p:cNvSpPr txBox="1"/>
          <p:nvPr/>
        </p:nvSpPr>
        <p:spPr>
          <a:xfrm>
            <a:off x="510300" y="4616749"/>
            <a:ext cx="3312000" cy="16893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lphaLcParenR" startAt="3"/>
            </a:pPr>
            <a:r>
              <a:rPr lang="en-GB" sz="1200">
                <a:solidFill>
                  <a:srgbClr val="000000"/>
                </a:solidFill>
                <a:latin typeface="Lexend"/>
                <a:ea typeface="Lexend"/>
                <a:cs typeface="Lexend"/>
                <a:sym typeface="Lexend"/>
              </a:rPr>
              <a:t>8, 3,</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304800" lvl="0" marL="457200" rtl="0" algn="l">
              <a:lnSpc>
                <a:spcPct val="115000"/>
              </a:lnSpc>
              <a:spcBef>
                <a:spcPts val="1000"/>
              </a:spcBef>
              <a:spcAft>
                <a:spcPts val="0"/>
              </a:spcAft>
              <a:buClr>
                <a:srgbClr val="000000"/>
              </a:buClr>
              <a:buSzPts val="1200"/>
              <a:buFont typeface="Lexend"/>
              <a:buAutoNum type="alphaLcParenR" startAt="4"/>
            </a:pPr>
            <a:r>
              <a:rPr lang="en-GB" sz="1200">
                <a:solidFill>
                  <a:srgbClr val="000000"/>
                </a:solidFill>
                <a:latin typeface="Lexend"/>
                <a:ea typeface="Lexend"/>
                <a:cs typeface="Lexend"/>
                <a:sym typeface="Lexend"/>
              </a:rPr>
              <a:t> 11, 13, </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a:t>
            </a:r>
            <a:r>
              <a:rPr lang="en-GB" sz="1200" u="sng">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80" name="Google Shape;180;p20"/>
          <p:cNvSpPr txBox="1"/>
          <p:nvPr/>
        </p:nvSpPr>
        <p:spPr>
          <a:xfrm>
            <a:off x="510300" y="4918361"/>
            <a:ext cx="6624000" cy="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E.g. 8, 3, −1, −4, −6 (add −5, add −4, add −3, Common second difference +1)</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8, 3, −2, −7, −12, … (common difference of +(−5) between terms)</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81" name="Google Shape;181;p20"/>
          <p:cNvSpPr txBox="1"/>
          <p:nvPr/>
        </p:nvSpPr>
        <p:spPr>
          <a:xfrm>
            <a:off x="510300" y="6007625"/>
            <a:ext cx="6624000" cy="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E.g. 11, 13, 15, 17, 19, … (common difference of +2 between terms)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11, 13, 17, 19, 23 (Prime numbers greater than 10)</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11, 13, 16, 20, 35 (Triangular numbers add 10)</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82" name="Google Shape;182;p20"/>
          <p:cNvSpPr txBox="1"/>
          <p:nvPr/>
        </p:nvSpPr>
        <p:spPr>
          <a:xfrm>
            <a:off x="469511" y="7007700"/>
            <a:ext cx="6419400" cy="48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For each of these sequences, suggest what the next two terms might be. Explain your reasoning.</a:t>
            </a:r>
            <a:endParaRPr sz="1200">
              <a:solidFill>
                <a:srgbClr val="000000"/>
              </a:solidFill>
              <a:latin typeface="Lexend"/>
              <a:ea typeface="Lexend"/>
              <a:cs typeface="Lexend"/>
              <a:sym typeface="Lexend"/>
            </a:endParaRPr>
          </a:p>
        </p:txBody>
      </p:sp>
      <p:sp>
        <p:nvSpPr>
          <p:cNvPr id="183" name="Google Shape;183;p20"/>
          <p:cNvSpPr txBox="1"/>
          <p:nvPr/>
        </p:nvSpPr>
        <p:spPr>
          <a:xfrm>
            <a:off x="469511" y="7779664"/>
            <a:ext cx="2578200" cy="23928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2, 3, 8, </a:t>
            </a:r>
            <a:r>
              <a:rPr lang="en-GB" sz="1200">
                <a:solidFill>
                  <a:srgbClr val="000000"/>
                </a:solidFill>
                <a:latin typeface="Kalam"/>
                <a:ea typeface="Kalam"/>
                <a:cs typeface="Kalam"/>
                <a:sym typeface="Kalam"/>
              </a:rPr>
              <a:t>17, 30</a:t>
            </a:r>
            <a:r>
              <a:rPr lang="en-GB" sz="1200">
                <a:solidFill>
                  <a:srgbClr val="000000"/>
                </a:solidFill>
                <a:latin typeface="Lexend"/>
                <a:ea typeface="Lexend"/>
                <a:cs typeface="Lexend"/>
                <a:sym typeface="Lexend"/>
              </a:rPr>
              <a:t>, … </a:t>
            </a:r>
            <a:endParaRPr sz="1200">
              <a:solidFill>
                <a:srgbClr val="000000"/>
              </a:solidFill>
              <a:latin typeface="Lexend"/>
              <a:ea typeface="Lexend"/>
              <a:cs typeface="Lexend"/>
              <a:sym typeface="Lexend"/>
            </a:endParaRPr>
          </a:p>
          <a:p>
            <a:pPr indent="-304800" lvl="0" marL="457200" rtl="0" algn="l">
              <a:lnSpc>
                <a:spcPct val="115000"/>
              </a:lnSpc>
              <a:spcBef>
                <a:spcPts val="2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31, 29, 31, </a:t>
            </a:r>
            <a:r>
              <a:rPr lang="en-GB" sz="1200">
                <a:solidFill>
                  <a:srgbClr val="000000"/>
                </a:solidFill>
                <a:latin typeface="Kalam"/>
                <a:ea typeface="Kalam"/>
                <a:cs typeface="Kalam"/>
                <a:sym typeface="Kalam"/>
              </a:rPr>
              <a:t>29, 31</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304800" lvl="0" marL="457200" rtl="0" algn="l">
              <a:lnSpc>
                <a:spcPct val="115000"/>
              </a:lnSpc>
              <a:spcBef>
                <a:spcPts val="2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3, 20, 190, 1890, 18890, …</a:t>
            </a:r>
            <a:endParaRPr sz="1200">
              <a:solidFill>
                <a:srgbClr val="000000"/>
              </a:solidFill>
              <a:latin typeface="Lexend"/>
              <a:ea typeface="Lexend"/>
              <a:cs typeface="Lexend"/>
              <a:sym typeface="Lexend"/>
            </a:endParaRPr>
          </a:p>
          <a:p>
            <a:pPr indent="-304800" lvl="0" marL="457200" rtl="0" algn="l">
              <a:lnSpc>
                <a:spcPct val="115000"/>
              </a:lnSpc>
              <a:spcBef>
                <a:spcPts val="2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2, 4, 16, 256, 65536, …</a:t>
            </a:r>
            <a:endParaRPr sz="1200">
              <a:solidFill>
                <a:srgbClr val="000000"/>
              </a:solidFill>
              <a:latin typeface="Lexend"/>
              <a:ea typeface="Lexend"/>
              <a:cs typeface="Lexend"/>
              <a:sym typeface="Lexend"/>
            </a:endParaRPr>
          </a:p>
          <a:p>
            <a:pPr indent="-304800" lvl="0" marL="457200" rtl="0" algn="l">
              <a:lnSpc>
                <a:spcPct val="115000"/>
              </a:lnSpc>
              <a:spcBef>
                <a:spcPts val="2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8, 5, 4, 9, </a:t>
            </a:r>
            <a:r>
              <a:rPr lang="en-GB" sz="1200">
                <a:solidFill>
                  <a:srgbClr val="000000"/>
                </a:solidFill>
                <a:latin typeface="Kalam"/>
                <a:ea typeface="Kalam"/>
                <a:cs typeface="Kalam"/>
                <a:sym typeface="Kalam"/>
              </a:rPr>
              <a:t>6, 5</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lnSpc>
                <a:spcPct val="115000"/>
              </a:lnSpc>
              <a:spcBef>
                <a:spcPts val="2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4" name="Google Shape;184;p20"/>
          <p:cNvSpPr txBox="1"/>
          <p:nvPr/>
        </p:nvSpPr>
        <p:spPr>
          <a:xfrm>
            <a:off x="467875" y="7513225"/>
            <a:ext cx="64905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There are several answers for each question. One suggestion is given for each. </a:t>
            </a:r>
            <a:endParaRPr sz="1200">
              <a:solidFill>
                <a:srgbClr val="000000"/>
              </a:solidFill>
              <a:latin typeface="Kalam"/>
              <a:ea typeface="Kalam"/>
              <a:cs typeface="Kalam"/>
              <a:sym typeface="Kalam"/>
            </a:endParaRPr>
          </a:p>
        </p:txBody>
      </p:sp>
      <p:sp>
        <p:nvSpPr>
          <p:cNvPr id="185" name="Google Shape;185;p20"/>
          <p:cNvSpPr txBox="1"/>
          <p:nvPr/>
        </p:nvSpPr>
        <p:spPr>
          <a:xfrm>
            <a:off x="2466990" y="7845514"/>
            <a:ext cx="46248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Add 1, add 5, add 9, common second difference +4</a:t>
            </a:r>
            <a:endParaRPr sz="1200">
              <a:solidFill>
                <a:srgbClr val="000000"/>
              </a:solidFill>
              <a:latin typeface="Kalam"/>
              <a:ea typeface="Kalam"/>
              <a:cs typeface="Kalam"/>
              <a:sym typeface="Kalam"/>
            </a:endParaRPr>
          </a:p>
        </p:txBody>
      </p:sp>
      <p:sp>
        <p:nvSpPr>
          <p:cNvPr id="186" name="Google Shape;186;p20"/>
          <p:cNvSpPr txBox="1"/>
          <p:nvPr/>
        </p:nvSpPr>
        <p:spPr>
          <a:xfrm>
            <a:off x="2466990" y="8275897"/>
            <a:ext cx="46248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Sequence oscillating between 31 and 29</a:t>
            </a:r>
            <a:endParaRPr sz="1200">
              <a:solidFill>
                <a:srgbClr val="000000"/>
              </a:solidFill>
              <a:latin typeface="Kalam"/>
              <a:ea typeface="Kalam"/>
              <a:cs typeface="Kalam"/>
              <a:sym typeface="Kalam"/>
            </a:endParaRPr>
          </a:p>
        </p:txBody>
      </p:sp>
      <p:sp>
        <p:nvSpPr>
          <p:cNvPr id="187" name="Google Shape;187;p20"/>
          <p:cNvSpPr txBox="1"/>
          <p:nvPr/>
        </p:nvSpPr>
        <p:spPr>
          <a:xfrm>
            <a:off x="3047484" y="8672789"/>
            <a:ext cx="40428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Add 17, add 170, add 1700, difference is multiplied by 10 each time.</a:t>
            </a:r>
            <a:endParaRPr sz="1200">
              <a:solidFill>
                <a:srgbClr val="000000"/>
              </a:solidFill>
              <a:latin typeface="Kalam"/>
              <a:ea typeface="Kalam"/>
              <a:cs typeface="Kalam"/>
              <a:sym typeface="Kalam"/>
            </a:endParaRPr>
          </a:p>
        </p:txBody>
      </p:sp>
      <p:sp>
        <p:nvSpPr>
          <p:cNvPr id="188" name="Google Shape;188;p20"/>
          <p:cNvSpPr txBox="1"/>
          <p:nvPr/>
        </p:nvSpPr>
        <p:spPr>
          <a:xfrm>
            <a:off x="2691192" y="9240716"/>
            <a:ext cx="40428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Previous term squared gives the next term</a:t>
            </a:r>
            <a:endParaRPr sz="1200">
              <a:solidFill>
                <a:srgbClr val="000000"/>
              </a:solidFill>
              <a:latin typeface="Kalam"/>
              <a:ea typeface="Kalam"/>
              <a:cs typeface="Kalam"/>
              <a:sym typeface="Kalam"/>
            </a:endParaRPr>
          </a:p>
        </p:txBody>
      </p:sp>
      <p:sp>
        <p:nvSpPr>
          <p:cNvPr id="189" name="Google Shape;189;p20"/>
          <p:cNvSpPr txBox="1"/>
          <p:nvPr/>
        </p:nvSpPr>
        <p:spPr>
          <a:xfrm>
            <a:off x="2270940" y="9638894"/>
            <a:ext cx="4794000" cy="22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Subtract 3, subtract 1, add 5, in a repeating pattern.</a:t>
            </a:r>
            <a:endParaRPr sz="1200">
              <a:solidFill>
                <a:srgbClr val="000000"/>
              </a:solidFill>
              <a:latin typeface="Kalam"/>
              <a:ea typeface="Kalam"/>
              <a:cs typeface="Kalam"/>
              <a:sym typeface="Kala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5" name="Google Shape;195;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Extrapolating a sequence</a:t>
            </a:r>
            <a:endParaRPr/>
          </a:p>
        </p:txBody>
      </p:sp>
      <p:sp>
        <p:nvSpPr>
          <p:cNvPr id="196" name="Google Shape;196;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Lexend"/>
                <a:ea typeface="Lexend"/>
                <a:cs typeface="Lexend"/>
                <a:sym typeface="Lexend"/>
              </a:rPr>
              <a:t>v2</a:t>
            </a:r>
            <a:r>
              <a:rPr lang="en-GB" sz="1000">
                <a:solidFill>
                  <a:schemeClr val="lt1"/>
                </a:solidFill>
                <a:latin typeface="Lexend"/>
                <a:ea typeface="Lexend"/>
                <a:cs typeface="Lexend"/>
                <a:sym typeface="Lexend"/>
              </a:rPr>
              <a:t>.3</a:t>
            </a:r>
            <a:endParaRPr sz="1000">
              <a:solidFill>
                <a:schemeClr val="lt1"/>
              </a:solidFill>
              <a:latin typeface="Lexend"/>
              <a:ea typeface="Lexend"/>
              <a:cs typeface="Lexend"/>
              <a:sym typeface="Lexend"/>
            </a:endParaRPr>
          </a:p>
        </p:txBody>
      </p:sp>
      <p:sp>
        <p:nvSpPr>
          <p:cNvPr id="197" name="Google Shape;197;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98" name="Google Shape;198;p21"/>
          <p:cNvSpPr txBox="1"/>
          <p:nvPr/>
        </p:nvSpPr>
        <p:spPr>
          <a:xfrm>
            <a:off x="468000" y="1182700"/>
            <a:ext cx="6633600" cy="6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a:t>
            </a:r>
            <a:r>
              <a:rPr lang="en-GB" sz="1200">
                <a:solidFill>
                  <a:schemeClr val="dk1"/>
                </a:solidFill>
                <a:latin typeface="Lexend"/>
                <a:ea typeface="Lexend"/>
                <a:cs typeface="Lexend"/>
                <a:sym typeface="Lexend"/>
              </a:rPr>
              <a:t>Fill in this table to investigate patterns found when points around a circle are joined with straight lines.</a:t>
            </a:r>
            <a:r>
              <a:rPr lang="en-GB" sz="1200">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9" name="Google Shape;199;p21"/>
          <p:cNvSpPr/>
          <p:nvPr/>
        </p:nvSpPr>
        <p:spPr>
          <a:xfrm>
            <a:off x="5881673" y="3032025"/>
            <a:ext cx="1029600" cy="1020600"/>
          </a:xfrm>
          <a:prstGeom prst="chord">
            <a:avLst>
              <a:gd fmla="val 20499709" name="adj1"/>
              <a:gd fmla="val 10151581" name="adj2"/>
            </a:avLst>
          </a:prstGeom>
          <a:solidFill>
            <a:srgbClr val="F3EEFB"/>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 name="Google Shape;200;p21"/>
          <p:cNvSpPr/>
          <p:nvPr/>
        </p:nvSpPr>
        <p:spPr>
          <a:xfrm>
            <a:off x="5881673" y="3032025"/>
            <a:ext cx="1029600" cy="1020600"/>
          </a:xfrm>
          <a:prstGeom prst="chord">
            <a:avLst>
              <a:gd fmla="val 10104555" name="adj1"/>
              <a:gd fmla="val 20477523" name="adj2"/>
            </a:avLst>
          </a:prstGeom>
          <a:solidFill>
            <a:srgbClr val="E6F2F2"/>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 name="Google Shape;201;p21"/>
          <p:cNvSpPr/>
          <p:nvPr/>
        </p:nvSpPr>
        <p:spPr>
          <a:xfrm>
            <a:off x="5881667" y="3032025"/>
            <a:ext cx="1029600" cy="10206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02" name="Google Shape;202;p21"/>
          <p:cNvSpPr/>
          <p:nvPr/>
        </p:nvSpPr>
        <p:spPr>
          <a:xfrm>
            <a:off x="4482200" y="3032025"/>
            <a:ext cx="1029600" cy="10206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03" name="Google Shape;203;p21"/>
          <p:cNvSpPr/>
          <p:nvPr/>
        </p:nvSpPr>
        <p:spPr>
          <a:xfrm>
            <a:off x="4425743" y="3536430"/>
            <a:ext cx="229800" cy="162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04" name="Google Shape;204;p21"/>
          <p:cNvSpPr/>
          <p:nvPr/>
        </p:nvSpPr>
        <p:spPr>
          <a:xfrm>
            <a:off x="5833357" y="3536430"/>
            <a:ext cx="229800" cy="162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05" name="Google Shape;205;p21"/>
          <p:cNvSpPr/>
          <p:nvPr/>
        </p:nvSpPr>
        <p:spPr>
          <a:xfrm>
            <a:off x="6819196" y="3272438"/>
            <a:ext cx="229800" cy="162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206" name="Google Shape;206;p21"/>
          <p:cNvCxnSpPr/>
          <p:nvPr/>
        </p:nvCxnSpPr>
        <p:spPr>
          <a:xfrm flipH="1">
            <a:off x="5909589" y="3380865"/>
            <a:ext cx="978300" cy="265500"/>
          </a:xfrm>
          <a:prstGeom prst="straightConnector1">
            <a:avLst/>
          </a:prstGeom>
          <a:noFill/>
          <a:ln cap="flat" cmpd="sng" w="28575">
            <a:solidFill>
              <a:srgbClr val="000000"/>
            </a:solidFill>
            <a:prstDash val="solid"/>
            <a:round/>
            <a:headEnd len="med" w="med" type="none"/>
            <a:tailEnd len="med" w="med" type="none"/>
          </a:ln>
        </p:spPr>
      </p:cxnSp>
      <p:sp>
        <p:nvSpPr>
          <p:cNvPr id="207" name="Google Shape;207;p21"/>
          <p:cNvSpPr txBox="1"/>
          <p:nvPr/>
        </p:nvSpPr>
        <p:spPr>
          <a:xfrm>
            <a:off x="482350" y="3015213"/>
            <a:ext cx="5111100" cy="61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Complete the table for 2 points. </a:t>
            </a:r>
            <a:r>
              <a:rPr lang="en-GB" sz="1200">
                <a:solidFill>
                  <a:srgbClr val="000000"/>
                </a:solidFill>
                <a:latin typeface="Kalam"/>
                <a:ea typeface="Kalam"/>
                <a:cs typeface="Kalam"/>
                <a:sym typeface="Kalam"/>
              </a:rPr>
              <a:t>See table</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08" name="Google Shape;208;p21"/>
          <p:cNvSpPr txBox="1"/>
          <p:nvPr/>
        </p:nvSpPr>
        <p:spPr>
          <a:xfrm>
            <a:off x="476400" y="3323540"/>
            <a:ext cx="4054800" cy="48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Fill in the table for 3 points and 4 points.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c) Describe any patterns you notice.</a:t>
            </a:r>
            <a:endParaRPr sz="1200">
              <a:solidFill>
                <a:srgbClr val="000000"/>
              </a:solidFill>
              <a:latin typeface="Lexend"/>
              <a:ea typeface="Lexend"/>
              <a:cs typeface="Lexend"/>
              <a:sym typeface="Lexend"/>
            </a:endParaRPr>
          </a:p>
        </p:txBody>
      </p:sp>
      <p:sp>
        <p:nvSpPr>
          <p:cNvPr id="209" name="Google Shape;209;p21"/>
          <p:cNvSpPr txBox="1"/>
          <p:nvPr/>
        </p:nvSpPr>
        <p:spPr>
          <a:xfrm>
            <a:off x="501752" y="4015850"/>
            <a:ext cx="2918400" cy="47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E.g. the number of lines increases by 1, then 2, then 3, …. For term 2 onwards these are the triangular numbers.</a:t>
            </a:r>
            <a:endParaRPr sz="1200">
              <a:solidFill>
                <a:srgbClr val="000000"/>
              </a:solidFill>
              <a:latin typeface="Kalam"/>
              <a:ea typeface="Kalam"/>
              <a:cs typeface="Kalam"/>
              <a:sym typeface="Kalam"/>
            </a:endParaRPr>
          </a:p>
        </p:txBody>
      </p:sp>
      <p:sp>
        <p:nvSpPr>
          <p:cNvPr id="210" name="Google Shape;210;p21"/>
          <p:cNvSpPr txBox="1"/>
          <p:nvPr/>
        </p:nvSpPr>
        <p:spPr>
          <a:xfrm>
            <a:off x="468002" y="4668000"/>
            <a:ext cx="2952000" cy="47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The number of regions are the first 4 terms in a geometric sequence.</a:t>
            </a:r>
            <a:endParaRPr sz="1200">
              <a:solidFill>
                <a:srgbClr val="000000"/>
              </a:solidFill>
              <a:latin typeface="Kalam"/>
              <a:ea typeface="Kalam"/>
              <a:cs typeface="Kalam"/>
              <a:sym typeface="Kalam"/>
            </a:endParaRPr>
          </a:p>
        </p:txBody>
      </p:sp>
      <p:sp>
        <p:nvSpPr>
          <p:cNvPr id="211" name="Google Shape;211;p21"/>
          <p:cNvSpPr/>
          <p:nvPr/>
        </p:nvSpPr>
        <p:spPr>
          <a:xfrm>
            <a:off x="4937765" y="3456267"/>
            <a:ext cx="120000" cy="1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1</a:t>
            </a:r>
            <a:endParaRPr sz="1200">
              <a:latin typeface="Kalam"/>
              <a:ea typeface="Kalam"/>
              <a:cs typeface="Kalam"/>
              <a:sym typeface="Kalam"/>
            </a:endParaRPr>
          </a:p>
        </p:txBody>
      </p:sp>
      <p:sp>
        <p:nvSpPr>
          <p:cNvPr id="212" name="Google Shape;212;p21"/>
          <p:cNvSpPr/>
          <p:nvPr/>
        </p:nvSpPr>
        <p:spPr>
          <a:xfrm>
            <a:off x="6245384" y="3240244"/>
            <a:ext cx="120000" cy="1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1</a:t>
            </a:r>
            <a:endParaRPr sz="1200">
              <a:latin typeface="Kalam"/>
              <a:ea typeface="Kalam"/>
              <a:cs typeface="Kalam"/>
              <a:sym typeface="Kalam"/>
            </a:endParaRPr>
          </a:p>
        </p:txBody>
      </p:sp>
      <p:sp>
        <p:nvSpPr>
          <p:cNvPr id="213" name="Google Shape;213;p21"/>
          <p:cNvSpPr/>
          <p:nvPr/>
        </p:nvSpPr>
        <p:spPr>
          <a:xfrm>
            <a:off x="6446512" y="3672458"/>
            <a:ext cx="120000" cy="1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2</a:t>
            </a:r>
            <a:endParaRPr sz="1200">
              <a:latin typeface="Kalam"/>
              <a:ea typeface="Kalam"/>
              <a:cs typeface="Kalam"/>
              <a:sym typeface="Kalam"/>
            </a:endParaRPr>
          </a:p>
        </p:txBody>
      </p:sp>
      <p:sp>
        <p:nvSpPr>
          <p:cNvPr id="214" name="Google Shape;214;p21"/>
          <p:cNvSpPr txBox="1"/>
          <p:nvPr/>
        </p:nvSpPr>
        <p:spPr>
          <a:xfrm>
            <a:off x="476400" y="649250"/>
            <a:ext cx="66105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Extrapolating a sequence</a:t>
            </a:r>
            <a:endParaRPr b="1">
              <a:solidFill>
                <a:schemeClr val="dk1"/>
              </a:solidFill>
              <a:latin typeface="Lexend"/>
              <a:ea typeface="Lexend"/>
              <a:cs typeface="Lexend"/>
              <a:sym typeface="Lexend"/>
            </a:endParaRPr>
          </a:p>
        </p:txBody>
      </p:sp>
      <p:sp>
        <p:nvSpPr>
          <p:cNvPr id="215" name="Google Shape;215;p21"/>
          <p:cNvSpPr/>
          <p:nvPr/>
        </p:nvSpPr>
        <p:spPr>
          <a:xfrm>
            <a:off x="4332750" y="4172638"/>
            <a:ext cx="1050300" cy="10410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16" name="Google Shape;216;p21"/>
          <p:cNvSpPr/>
          <p:nvPr/>
        </p:nvSpPr>
        <p:spPr>
          <a:xfrm>
            <a:off x="4439026" y="4977350"/>
            <a:ext cx="1731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17" name="Google Shape;217;p21"/>
          <p:cNvSpPr/>
          <p:nvPr/>
        </p:nvSpPr>
        <p:spPr>
          <a:xfrm>
            <a:off x="5313137" y="4750879"/>
            <a:ext cx="1731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18" name="Google Shape;218;p21"/>
          <p:cNvSpPr/>
          <p:nvPr/>
        </p:nvSpPr>
        <p:spPr>
          <a:xfrm>
            <a:off x="4659221" y="4111377"/>
            <a:ext cx="1731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19" name="Google Shape;219;p21"/>
          <p:cNvSpPr/>
          <p:nvPr/>
        </p:nvSpPr>
        <p:spPr>
          <a:xfrm>
            <a:off x="5878060" y="4196208"/>
            <a:ext cx="1050300" cy="10410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20" name="Google Shape;220;p21"/>
          <p:cNvSpPr/>
          <p:nvPr/>
        </p:nvSpPr>
        <p:spPr>
          <a:xfrm>
            <a:off x="5821408" y="4655643"/>
            <a:ext cx="1731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21" name="Google Shape;221;p21"/>
          <p:cNvSpPr/>
          <p:nvPr/>
        </p:nvSpPr>
        <p:spPr>
          <a:xfrm>
            <a:off x="6882328" y="4655636"/>
            <a:ext cx="1731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22" name="Google Shape;222;p21"/>
          <p:cNvSpPr/>
          <p:nvPr/>
        </p:nvSpPr>
        <p:spPr>
          <a:xfrm>
            <a:off x="6348126" y="4106008"/>
            <a:ext cx="1104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23" name="Google Shape;223;p21"/>
          <p:cNvSpPr/>
          <p:nvPr/>
        </p:nvSpPr>
        <p:spPr>
          <a:xfrm>
            <a:off x="6348126" y="5158103"/>
            <a:ext cx="110400" cy="12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224" name="Google Shape;224;p21"/>
          <p:cNvCxnSpPr/>
          <p:nvPr/>
        </p:nvCxnSpPr>
        <p:spPr>
          <a:xfrm flipH="1">
            <a:off x="4490835" y="4187396"/>
            <a:ext cx="218100" cy="867300"/>
          </a:xfrm>
          <a:prstGeom prst="straightConnector1">
            <a:avLst/>
          </a:prstGeom>
          <a:noFill/>
          <a:ln cap="flat" cmpd="sng" w="38100">
            <a:solidFill>
              <a:srgbClr val="000000"/>
            </a:solidFill>
            <a:prstDash val="solid"/>
            <a:round/>
            <a:headEnd len="med" w="med" type="none"/>
            <a:tailEnd len="med" w="med" type="none"/>
          </a:ln>
        </p:spPr>
      </p:cxnSp>
      <p:cxnSp>
        <p:nvCxnSpPr>
          <p:cNvPr id="225" name="Google Shape;225;p21"/>
          <p:cNvCxnSpPr/>
          <p:nvPr/>
        </p:nvCxnSpPr>
        <p:spPr>
          <a:xfrm flipH="1" rot="10800000">
            <a:off x="4489131" y="4829455"/>
            <a:ext cx="873600" cy="225300"/>
          </a:xfrm>
          <a:prstGeom prst="straightConnector1">
            <a:avLst/>
          </a:prstGeom>
          <a:noFill/>
          <a:ln cap="flat" cmpd="sng" w="38100">
            <a:solidFill>
              <a:srgbClr val="000000"/>
            </a:solidFill>
            <a:prstDash val="solid"/>
            <a:round/>
            <a:headEnd len="med" w="med" type="none"/>
            <a:tailEnd len="med" w="med" type="none"/>
          </a:ln>
        </p:spPr>
      </p:cxnSp>
      <p:cxnSp>
        <p:nvCxnSpPr>
          <p:cNvPr id="226" name="Google Shape;226;p21"/>
          <p:cNvCxnSpPr/>
          <p:nvPr/>
        </p:nvCxnSpPr>
        <p:spPr>
          <a:xfrm>
            <a:off x="4709628" y="4194070"/>
            <a:ext cx="651900" cy="635400"/>
          </a:xfrm>
          <a:prstGeom prst="straightConnector1">
            <a:avLst/>
          </a:prstGeom>
          <a:noFill/>
          <a:ln cap="flat" cmpd="sng" w="38100">
            <a:solidFill>
              <a:srgbClr val="000000"/>
            </a:solidFill>
            <a:prstDash val="solid"/>
            <a:round/>
            <a:headEnd len="med" w="med" type="none"/>
            <a:tailEnd len="med" w="med" type="none"/>
          </a:ln>
        </p:spPr>
      </p:cxnSp>
      <p:cxnSp>
        <p:nvCxnSpPr>
          <p:cNvPr id="227" name="Google Shape;227;p21"/>
          <p:cNvCxnSpPr/>
          <p:nvPr/>
        </p:nvCxnSpPr>
        <p:spPr>
          <a:xfrm flipH="1" rot="10800000">
            <a:off x="5872393" y="4187333"/>
            <a:ext cx="519000" cy="548400"/>
          </a:xfrm>
          <a:prstGeom prst="straightConnector1">
            <a:avLst/>
          </a:prstGeom>
          <a:noFill/>
          <a:ln cap="flat" cmpd="sng" w="38100">
            <a:solidFill>
              <a:srgbClr val="000000"/>
            </a:solidFill>
            <a:prstDash val="solid"/>
            <a:round/>
            <a:headEnd len="med" w="med" type="none"/>
            <a:tailEnd len="med" w="med" type="none"/>
          </a:ln>
        </p:spPr>
      </p:cxnSp>
      <p:cxnSp>
        <p:nvCxnSpPr>
          <p:cNvPr id="228" name="Google Shape;228;p21"/>
          <p:cNvCxnSpPr/>
          <p:nvPr/>
        </p:nvCxnSpPr>
        <p:spPr>
          <a:xfrm>
            <a:off x="5877857" y="4734379"/>
            <a:ext cx="1054800" cy="0"/>
          </a:xfrm>
          <a:prstGeom prst="straightConnector1">
            <a:avLst/>
          </a:prstGeom>
          <a:noFill/>
          <a:ln cap="flat" cmpd="sng" w="38100">
            <a:solidFill>
              <a:srgbClr val="000000"/>
            </a:solidFill>
            <a:prstDash val="solid"/>
            <a:round/>
            <a:headEnd len="med" w="med" type="none"/>
            <a:tailEnd len="med" w="med" type="none"/>
          </a:ln>
        </p:spPr>
      </p:cxnSp>
      <p:cxnSp>
        <p:nvCxnSpPr>
          <p:cNvPr id="229" name="Google Shape;229;p21"/>
          <p:cNvCxnSpPr/>
          <p:nvPr/>
        </p:nvCxnSpPr>
        <p:spPr>
          <a:xfrm>
            <a:off x="5875125" y="4730299"/>
            <a:ext cx="525900" cy="510900"/>
          </a:xfrm>
          <a:prstGeom prst="straightConnector1">
            <a:avLst/>
          </a:prstGeom>
          <a:noFill/>
          <a:ln cap="flat" cmpd="sng" w="38100">
            <a:solidFill>
              <a:srgbClr val="000000"/>
            </a:solidFill>
            <a:prstDash val="solid"/>
            <a:round/>
            <a:headEnd len="med" w="med" type="none"/>
            <a:tailEnd len="med" w="med" type="none"/>
          </a:ln>
        </p:spPr>
      </p:cxnSp>
      <p:cxnSp>
        <p:nvCxnSpPr>
          <p:cNvPr id="230" name="Google Shape;230;p21"/>
          <p:cNvCxnSpPr/>
          <p:nvPr/>
        </p:nvCxnSpPr>
        <p:spPr>
          <a:xfrm>
            <a:off x="6401042" y="4185929"/>
            <a:ext cx="524400" cy="546900"/>
          </a:xfrm>
          <a:prstGeom prst="straightConnector1">
            <a:avLst/>
          </a:prstGeom>
          <a:noFill/>
          <a:ln cap="flat" cmpd="sng" w="38100">
            <a:solidFill>
              <a:srgbClr val="000000"/>
            </a:solidFill>
            <a:prstDash val="solid"/>
            <a:round/>
            <a:headEnd len="med" w="med" type="none"/>
            <a:tailEnd len="med" w="med" type="none"/>
          </a:ln>
        </p:spPr>
      </p:cxnSp>
      <p:cxnSp>
        <p:nvCxnSpPr>
          <p:cNvPr id="231" name="Google Shape;231;p21"/>
          <p:cNvCxnSpPr/>
          <p:nvPr/>
        </p:nvCxnSpPr>
        <p:spPr>
          <a:xfrm>
            <a:off x="6399676" y="4185929"/>
            <a:ext cx="0" cy="1049400"/>
          </a:xfrm>
          <a:prstGeom prst="straightConnector1">
            <a:avLst/>
          </a:prstGeom>
          <a:noFill/>
          <a:ln cap="flat" cmpd="sng" w="38100">
            <a:solidFill>
              <a:srgbClr val="000000"/>
            </a:solidFill>
            <a:prstDash val="solid"/>
            <a:round/>
            <a:headEnd len="med" w="med" type="none"/>
            <a:tailEnd len="med" w="med" type="none"/>
          </a:ln>
        </p:spPr>
      </p:cxnSp>
      <p:cxnSp>
        <p:nvCxnSpPr>
          <p:cNvPr id="232" name="Google Shape;232;p21"/>
          <p:cNvCxnSpPr/>
          <p:nvPr/>
        </p:nvCxnSpPr>
        <p:spPr>
          <a:xfrm flipH="1" rot="10800000">
            <a:off x="6401042" y="4734589"/>
            <a:ext cx="530100" cy="498000"/>
          </a:xfrm>
          <a:prstGeom prst="straightConnector1">
            <a:avLst/>
          </a:prstGeom>
          <a:noFill/>
          <a:ln cap="flat" cmpd="sng" w="38100">
            <a:solidFill>
              <a:srgbClr val="000000"/>
            </a:solidFill>
            <a:prstDash val="solid"/>
            <a:round/>
            <a:headEnd len="med" w="med" type="none"/>
            <a:tailEnd len="med" w="med" type="none"/>
          </a:ln>
        </p:spPr>
      </p:cxnSp>
      <p:sp>
        <p:nvSpPr>
          <p:cNvPr id="233" name="Google Shape;233;p21"/>
          <p:cNvSpPr/>
          <p:nvPr/>
        </p:nvSpPr>
        <p:spPr>
          <a:xfrm>
            <a:off x="4416571" y="4437501"/>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1</a:t>
            </a:r>
            <a:endParaRPr sz="1200">
              <a:latin typeface="Kalam"/>
              <a:ea typeface="Kalam"/>
              <a:cs typeface="Kalam"/>
              <a:sym typeface="Kalam"/>
            </a:endParaRPr>
          </a:p>
        </p:txBody>
      </p:sp>
      <p:sp>
        <p:nvSpPr>
          <p:cNvPr id="234" name="Google Shape;234;p21"/>
          <p:cNvSpPr/>
          <p:nvPr/>
        </p:nvSpPr>
        <p:spPr>
          <a:xfrm>
            <a:off x="4793633" y="4594438"/>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2</a:t>
            </a:r>
            <a:endParaRPr sz="1200">
              <a:latin typeface="Kalam"/>
              <a:ea typeface="Kalam"/>
              <a:cs typeface="Kalam"/>
              <a:sym typeface="Kalam"/>
            </a:endParaRPr>
          </a:p>
        </p:txBody>
      </p:sp>
      <p:sp>
        <p:nvSpPr>
          <p:cNvPr id="235" name="Google Shape;235;p21"/>
          <p:cNvSpPr/>
          <p:nvPr/>
        </p:nvSpPr>
        <p:spPr>
          <a:xfrm>
            <a:off x="5064168" y="4309960"/>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3</a:t>
            </a:r>
            <a:endParaRPr sz="1200">
              <a:latin typeface="Kalam"/>
              <a:ea typeface="Kalam"/>
              <a:cs typeface="Kalam"/>
              <a:sym typeface="Kalam"/>
            </a:endParaRPr>
          </a:p>
        </p:txBody>
      </p:sp>
      <p:sp>
        <p:nvSpPr>
          <p:cNvPr id="236" name="Google Shape;236;p21"/>
          <p:cNvSpPr/>
          <p:nvPr/>
        </p:nvSpPr>
        <p:spPr>
          <a:xfrm>
            <a:off x="4899460" y="4977347"/>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4</a:t>
            </a:r>
            <a:endParaRPr sz="1200">
              <a:latin typeface="Kalam"/>
              <a:ea typeface="Kalam"/>
              <a:cs typeface="Kalam"/>
              <a:sym typeface="Kalam"/>
            </a:endParaRPr>
          </a:p>
        </p:txBody>
      </p:sp>
      <p:sp>
        <p:nvSpPr>
          <p:cNvPr id="237" name="Google Shape;237;p21"/>
          <p:cNvSpPr/>
          <p:nvPr/>
        </p:nvSpPr>
        <p:spPr>
          <a:xfrm>
            <a:off x="6049788" y="4313969"/>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1</a:t>
            </a:r>
            <a:endParaRPr sz="1200">
              <a:latin typeface="Kalam"/>
              <a:ea typeface="Kalam"/>
              <a:cs typeface="Kalam"/>
              <a:sym typeface="Kalam"/>
            </a:endParaRPr>
          </a:p>
        </p:txBody>
      </p:sp>
      <p:sp>
        <p:nvSpPr>
          <p:cNvPr id="238" name="Google Shape;238;p21"/>
          <p:cNvSpPr/>
          <p:nvPr/>
        </p:nvSpPr>
        <p:spPr>
          <a:xfrm>
            <a:off x="6224731" y="4480223"/>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2</a:t>
            </a:r>
            <a:endParaRPr sz="1200">
              <a:latin typeface="Kalam"/>
              <a:ea typeface="Kalam"/>
              <a:cs typeface="Kalam"/>
              <a:sym typeface="Kalam"/>
            </a:endParaRPr>
          </a:p>
        </p:txBody>
      </p:sp>
      <p:sp>
        <p:nvSpPr>
          <p:cNvPr id="239" name="Google Shape;239;p21"/>
          <p:cNvSpPr/>
          <p:nvPr/>
        </p:nvSpPr>
        <p:spPr>
          <a:xfrm>
            <a:off x="6504252" y="4480223"/>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3</a:t>
            </a:r>
            <a:endParaRPr sz="1200">
              <a:latin typeface="Kalam"/>
              <a:ea typeface="Kalam"/>
              <a:cs typeface="Kalam"/>
              <a:sym typeface="Kalam"/>
            </a:endParaRPr>
          </a:p>
        </p:txBody>
      </p:sp>
      <p:sp>
        <p:nvSpPr>
          <p:cNvPr id="240" name="Google Shape;240;p21"/>
          <p:cNvSpPr/>
          <p:nvPr/>
        </p:nvSpPr>
        <p:spPr>
          <a:xfrm>
            <a:off x="6635170" y="4282471"/>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4</a:t>
            </a:r>
            <a:endParaRPr sz="1200">
              <a:latin typeface="Kalam"/>
              <a:ea typeface="Kalam"/>
              <a:cs typeface="Kalam"/>
              <a:sym typeface="Kalam"/>
            </a:endParaRPr>
          </a:p>
        </p:txBody>
      </p:sp>
      <p:sp>
        <p:nvSpPr>
          <p:cNvPr id="241" name="Google Shape;241;p21"/>
          <p:cNvSpPr/>
          <p:nvPr/>
        </p:nvSpPr>
        <p:spPr>
          <a:xfrm>
            <a:off x="6180715" y="4790783"/>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5</a:t>
            </a:r>
            <a:endParaRPr sz="1200">
              <a:latin typeface="Kalam"/>
              <a:ea typeface="Kalam"/>
              <a:cs typeface="Kalam"/>
              <a:sym typeface="Kalam"/>
            </a:endParaRPr>
          </a:p>
        </p:txBody>
      </p:sp>
      <p:sp>
        <p:nvSpPr>
          <p:cNvPr id="242" name="Google Shape;242;p21"/>
          <p:cNvSpPr/>
          <p:nvPr/>
        </p:nvSpPr>
        <p:spPr>
          <a:xfrm>
            <a:off x="6504252" y="4790783"/>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6</a:t>
            </a:r>
            <a:endParaRPr sz="1200">
              <a:latin typeface="Kalam"/>
              <a:ea typeface="Kalam"/>
              <a:cs typeface="Kalam"/>
              <a:sym typeface="Kalam"/>
            </a:endParaRPr>
          </a:p>
        </p:txBody>
      </p:sp>
      <p:sp>
        <p:nvSpPr>
          <p:cNvPr id="243" name="Google Shape;243;p21"/>
          <p:cNvSpPr/>
          <p:nvPr/>
        </p:nvSpPr>
        <p:spPr>
          <a:xfrm>
            <a:off x="6027959" y="4957037"/>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7</a:t>
            </a:r>
            <a:endParaRPr sz="1200">
              <a:latin typeface="Kalam"/>
              <a:ea typeface="Kalam"/>
              <a:cs typeface="Kalam"/>
              <a:sym typeface="Kalam"/>
            </a:endParaRPr>
          </a:p>
        </p:txBody>
      </p:sp>
      <p:sp>
        <p:nvSpPr>
          <p:cNvPr id="244" name="Google Shape;244;p21"/>
          <p:cNvSpPr/>
          <p:nvPr/>
        </p:nvSpPr>
        <p:spPr>
          <a:xfrm>
            <a:off x="6667989" y="4939720"/>
            <a:ext cx="130800" cy="19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8</a:t>
            </a:r>
            <a:endParaRPr sz="1200">
              <a:latin typeface="Kalam"/>
              <a:ea typeface="Kalam"/>
              <a:cs typeface="Kalam"/>
              <a:sym typeface="Kalam"/>
            </a:endParaRPr>
          </a:p>
        </p:txBody>
      </p:sp>
      <p:sp>
        <p:nvSpPr>
          <p:cNvPr id="245" name="Google Shape;245;p21"/>
          <p:cNvSpPr txBox="1"/>
          <p:nvPr/>
        </p:nvSpPr>
        <p:spPr>
          <a:xfrm>
            <a:off x="491150" y="5277310"/>
            <a:ext cx="6131700" cy="224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d) Make a prediction for what the 5</a:t>
            </a:r>
            <a:r>
              <a:rPr baseline="30000" lang="en-GB" sz="1200">
                <a:solidFill>
                  <a:srgbClr val="000000"/>
                </a:solidFill>
                <a:latin typeface="Lexend"/>
                <a:ea typeface="Lexend"/>
                <a:cs typeface="Lexend"/>
                <a:sym typeface="Lexend"/>
              </a:rPr>
              <a:t>th</a:t>
            </a:r>
            <a:r>
              <a:rPr lang="en-GB" sz="1200">
                <a:solidFill>
                  <a:srgbClr val="000000"/>
                </a:solidFill>
                <a:latin typeface="Lexend"/>
                <a:ea typeface="Lexend"/>
                <a:cs typeface="Lexend"/>
                <a:sym typeface="Lexend"/>
              </a:rPr>
              <a:t> column will look like.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e) Use the circle given to fill in the 5</a:t>
            </a:r>
            <a:r>
              <a:rPr baseline="30000" lang="en-GB" sz="1200">
                <a:solidFill>
                  <a:srgbClr val="000000"/>
                </a:solidFill>
                <a:latin typeface="Lexend"/>
                <a:ea typeface="Lexend"/>
                <a:cs typeface="Lexend"/>
                <a:sym typeface="Lexend"/>
              </a:rPr>
              <a:t>th</a:t>
            </a:r>
            <a:r>
              <a:rPr lang="en-GB" sz="1200">
                <a:solidFill>
                  <a:srgbClr val="000000"/>
                </a:solidFill>
                <a:latin typeface="Lexend"/>
                <a:ea typeface="Lexend"/>
                <a:cs typeface="Lexend"/>
                <a:sym typeface="Lexend"/>
              </a:rPr>
              <a:t> column.</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f) Were you correct, have any of your patterns changed?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The number of lines and regions have continued in the same pattern</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There are not enough terms to see a pattern with intersections</a:t>
            </a:r>
            <a:endParaRPr sz="1200">
              <a:solidFill>
                <a:srgbClr val="000000"/>
              </a:solidFill>
              <a:latin typeface="Kalam"/>
              <a:ea typeface="Kalam"/>
              <a:cs typeface="Kalam"/>
              <a:sym typeface="Kalam"/>
            </a:endParaRPr>
          </a:p>
        </p:txBody>
      </p:sp>
      <p:sp>
        <p:nvSpPr>
          <p:cNvPr id="246" name="Google Shape;246;p21"/>
          <p:cNvSpPr/>
          <p:nvPr/>
        </p:nvSpPr>
        <p:spPr>
          <a:xfrm>
            <a:off x="5878738" y="5465153"/>
            <a:ext cx="1087800" cy="1087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47" name="Google Shape;247;p21"/>
          <p:cNvSpPr/>
          <p:nvPr/>
        </p:nvSpPr>
        <p:spPr>
          <a:xfrm>
            <a:off x="5845844" y="5762653"/>
            <a:ext cx="179400" cy="12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48" name="Google Shape;248;p21"/>
          <p:cNvSpPr/>
          <p:nvPr/>
        </p:nvSpPr>
        <p:spPr>
          <a:xfrm>
            <a:off x="6691049" y="6364350"/>
            <a:ext cx="179400" cy="12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49" name="Google Shape;249;p21"/>
          <p:cNvSpPr/>
          <p:nvPr/>
        </p:nvSpPr>
        <p:spPr>
          <a:xfrm>
            <a:off x="6365430" y="5381600"/>
            <a:ext cx="114300" cy="12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50" name="Google Shape;250;p21"/>
          <p:cNvSpPr/>
          <p:nvPr/>
        </p:nvSpPr>
        <p:spPr>
          <a:xfrm>
            <a:off x="6045635" y="6371448"/>
            <a:ext cx="114300" cy="12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51" name="Google Shape;251;p21"/>
          <p:cNvSpPr/>
          <p:nvPr/>
        </p:nvSpPr>
        <p:spPr>
          <a:xfrm>
            <a:off x="6891909" y="5769913"/>
            <a:ext cx="114300" cy="12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252" name="Google Shape;252;p21"/>
          <p:cNvCxnSpPr/>
          <p:nvPr/>
        </p:nvCxnSpPr>
        <p:spPr>
          <a:xfrm flipH="1" rot="10800000">
            <a:off x="5900357" y="5463696"/>
            <a:ext cx="519600" cy="384300"/>
          </a:xfrm>
          <a:prstGeom prst="straightConnector1">
            <a:avLst/>
          </a:prstGeom>
          <a:noFill/>
          <a:ln cap="flat" cmpd="sng" w="38100">
            <a:solidFill>
              <a:srgbClr val="000000"/>
            </a:solidFill>
            <a:prstDash val="solid"/>
            <a:round/>
            <a:headEnd len="med" w="med" type="none"/>
            <a:tailEnd len="med" w="med" type="none"/>
          </a:ln>
        </p:spPr>
      </p:cxnSp>
      <p:cxnSp>
        <p:nvCxnSpPr>
          <p:cNvPr id="253" name="Google Shape;253;p21"/>
          <p:cNvCxnSpPr/>
          <p:nvPr/>
        </p:nvCxnSpPr>
        <p:spPr>
          <a:xfrm>
            <a:off x="5914537" y="5844441"/>
            <a:ext cx="1029900" cy="5700"/>
          </a:xfrm>
          <a:prstGeom prst="straightConnector1">
            <a:avLst/>
          </a:prstGeom>
          <a:noFill/>
          <a:ln cap="flat" cmpd="sng" w="38100">
            <a:solidFill>
              <a:srgbClr val="000000"/>
            </a:solidFill>
            <a:prstDash val="solid"/>
            <a:round/>
            <a:headEnd len="med" w="med" type="none"/>
            <a:tailEnd len="med" w="med" type="none"/>
          </a:ln>
        </p:spPr>
      </p:cxnSp>
      <p:cxnSp>
        <p:nvCxnSpPr>
          <p:cNvPr id="254" name="Google Shape;254;p21"/>
          <p:cNvCxnSpPr/>
          <p:nvPr/>
        </p:nvCxnSpPr>
        <p:spPr>
          <a:xfrm>
            <a:off x="5909215" y="5846228"/>
            <a:ext cx="838500" cy="602700"/>
          </a:xfrm>
          <a:prstGeom prst="straightConnector1">
            <a:avLst/>
          </a:prstGeom>
          <a:noFill/>
          <a:ln cap="flat" cmpd="sng" w="38100">
            <a:solidFill>
              <a:srgbClr val="000000"/>
            </a:solidFill>
            <a:prstDash val="solid"/>
            <a:round/>
            <a:headEnd len="med" w="med" type="none"/>
            <a:tailEnd len="med" w="med" type="none"/>
          </a:ln>
        </p:spPr>
      </p:cxnSp>
      <p:cxnSp>
        <p:nvCxnSpPr>
          <p:cNvPr id="255" name="Google Shape;255;p21"/>
          <p:cNvCxnSpPr/>
          <p:nvPr/>
        </p:nvCxnSpPr>
        <p:spPr>
          <a:xfrm>
            <a:off x="5912750" y="5851531"/>
            <a:ext cx="186300" cy="602700"/>
          </a:xfrm>
          <a:prstGeom prst="straightConnector1">
            <a:avLst/>
          </a:prstGeom>
          <a:noFill/>
          <a:ln cap="flat" cmpd="sng" w="38100">
            <a:solidFill>
              <a:srgbClr val="000000"/>
            </a:solidFill>
            <a:prstDash val="solid"/>
            <a:round/>
            <a:headEnd len="med" w="med" type="none"/>
            <a:tailEnd len="med" w="med" type="none"/>
          </a:ln>
        </p:spPr>
      </p:cxnSp>
      <p:cxnSp>
        <p:nvCxnSpPr>
          <p:cNvPr id="256" name="Google Shape;256;p21"/>
          <p:cNvCxnSpPr/>
          <p:nvPr/>
        </p:nvCxnSpPr>
        <p:spPr>
          <a:xfrm flipH="1">
            <a:off x="6095364" y="5461580"/>
            <a:ext cx="326100" cy="994500"/>
          </a:xfrm>
          <a:prstGeom prst="straightConnector1">
            <a:avLst/>
          </a:prstGeom>
          <a:noFill/>
          <a:ln cap="flat" cmpd="sng" w="38100">
            <a:solidFill>
              <a:srgbClr val="000000"/>
            </a:solidFill>
            <a:prstDash val="solid"/>
            <a:round/>
            <a:headEnd len="med" w="med" type="none"/>
            <a:tailEnd len="med" w="med" type="none"/>
          </a:ln>
        </p:spPr>
      </p:cxnSp>
      <p:cxnSp>
        <p:nvCxnSpPr>
          <p:cNvPr id="257" name="Google Shape;257;p21"/>
          <p:cNvCxnSpPr/>
          <p:nvPr/>
        </p:nvCxnSpPr>
        <p:spPr>
          <a:xfrm>
            <a:off x="6421464" y="5468670"/>
            <a:ext cx="324600" cy="976500"/>
          </a:xfrm>
          <a:prstGeom prst="straightConnector1">
            <a:avLst/>
          </a:prstGeom>
          <a:noFill/>
          <a:ln cap="flat" cmpd="sng" w="38100">
            <a:solidFill>
              <a:srgbClr val="000000"/>
            </a:solidFill>
            <a:prstDash val="solid"/>
            <a:round/>
            <a:headEnd len="med" w="med" type="none"/>
            <a:tailEnd len="med" w="med" type="none"/>
          </a:ln>
        </p:spPr>
      </p:cxnSp>
      <p:cxnSp>
        <p:nvCxnSpPr>
          <p:cNvPr id="258" name="Google Shape;258;p21"/>
          <p:cNvCxnSpPr/>
          <p:nvPr/>
        </p:nvCxnSpPr>
        <p:spPr>
          <a:xfrm>
            <a:off x="6423232" y="5468670"/>
            <a:ext cx="521400" cy="384600"/>
          </a:xfrm>
          <a:prstGeom prst="straightConnector1">
            <a:avLst/>
          </a:prstGeom>
          <a:noFill/>
          <a:ln cap="flat" cmpd="sng" w="38100">
            <a:solidFill>
              <a:srgbClr val="000000"/>
            </a:solidFill>
            <a:prstDash val="solid"/>
            <a:round/>
            <a:headEnd len="med" w="med" type="none"/>
            <a:tailEnd len="med" w="med" type="none"/>
          </a:ln>
        </p:spPr>
      </p:cxnSp>
      <p:cxnSp>
        <p:nvCxnSpPr>
          <p:cNvPr id="259" name="Google Shape;259;p21"/>
          <p:cNvCxnSpPr/>
          <p:nvPr/>
        </p:nvCxnSpPr>
        <p:spPr>
          <a:xfrm flipH="1">
            <a:off x="6097048" y="5853318"/>
            <a:ext cx="854400" cy="591900"/>
          </a:xfrm>
          <a:prstGeom prst="straightConnector1">
            <a:avLst/>
          </a:prstGeom>
          <a:noFill/>
          <a:ln cap="flat" cmpd="sng" w="38100">
            <a:solidFill>
              <a:srgbClr val="000000"/>
            </a:solidFill>
            <a:prstDash val="solid"/>
            <a:round/>
            <a:headEnd len="med" w="med" type="none"/>
            <a:tailEnd len="med" w="med" type="none"/>
          </a:ln>
        </p:spPr>
      </p:cxnSp>
      <p:cxnSp>
        <p:nvCxnSpPr>
          <p:cNvPr id="260" name="Google Shape;260;p21"/>
          <p:cNvCxnSpPr/>
          <p:nvPr/>
        </p:nvCxnSpPr>
        <p:spPr>
          <a:xfrm flipH="1" rot="10800000">
            <a:off x="6104181" y="6441394"/>
            <a:ext cx="638100" cy="5700"/>
          </a:xfrm>
          <a:prstGeom prst="straightConnector1">
            <a:avLst/>
          </a:prstGeom>
          <a:noFill/>
          <a:ln cap="flat" cmpd="sng" w="38100">
            <a:solidFill>
              <a:srgbClr val="000000"/>
            </a:solidFill>
            <a:prstDash val="solid"/>
            <a:round/>
            <a:headEnd len="med" w="med" type="none"/>
            <a:tailEnd len="med" w="med" type="none"/>
          </a:ln>
        </p:spPr>
      </p:cxnSp>
      <p:cxnSp>
        <p:nvCxnSpPr>
          <p:cNvPr id="261" name="Google Shape;261;p21"/>
          <p:cNvCxnSpPr/>
          <p:nvPr/>
        </p:nvCxnSpPr>
        <p:spPr>
          <a:xfrm flipH="1" rot="10800000">
            <a:off x="6751160" y="5851391"/>
            <a:ext cx="188100" cy="590400"/>
          </a:xfrm>
          <a:prstGeom prst="straightConnector1">
            <a:avLst/>
          </a:prstGeom>
          <a:noFill/>
          <a:ln cap="flat" cmpd="sng" w="38100">
            <a:solidFill>
              <a:srgbClr val="000000"/>
            </a:solidFill>
            <a:prstDash val="solid"/>
            <a:round/>
            <a:headEnd len="med" w="med" type="none"/>
            <a:tailEnd len="med" w="med" type="none"/>
          </a:ln>
        </p:spPr>
      </p:cxnSp>
      <p:graphicFrame>
        <p:nvGraphicFramePr>
          <p:cNvPr id="262" name="Google Shape;262;p21"/>
          <p:cNvGraphicFramePr/>
          <p:nvPr/>
        </p:nvGraphicFramePr>
        <p:xfrm>
          <a:off x="491100" y="1681788"/>
          <a:ext cx="3000000" cy="3000000"/>
        </p:xfrm>
        <a:graphic>
          <a:graphicData uri="http://schemas.openxmlformats.org/drawingml/2006/table">
            <a:tbl>
              <a:tblPr>
                <a:noFill/>
                <a:tableStyleId>{9949715D-E8AD-497F-BDE5-38293D9AD2DA}</a:tableStyleId>
              </a:tblPr>
              <a:tblGrid>
                <a:gridCol w="2418900"/>
                <a:gridCol w="698600"/>
                <a:gridCol w="698600"/>
                <a:gridCol w="698600"/>
                <a:gridCol w="698600"/>
                <a:gridCol w="698600"/>
                <a:gridCol w="698600"/>
              </a:tblGrid>
              <a:tr h="311700">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Number of points on the circle</a:t>
                      </a:r>
                      <a:endParaRPr b="1" sz="1200">
                        <a:solidFill>
                          <a:schemeClr val="dk1"/>
                        </a:solidFill>
                        <a:latin typeface="Lexend"/>
                        <a:ea typeface="Lexend"/>
                        <a:cs typeface="Lexend"/>
                        <a:sym typeface="Lexend"/>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6</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700">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Number of lines</a:t>
                      </a:r>
                      <a:endParaRPr b="1" sz="1200">
                        <a:solidFill>
                          <a:schemeClr val="dk1"/>
                        </a:solidFill>
                        <a:latin typeface="Lexend"/>
                        <a:ea typeface="Lexend"/>
                        <a:cs typeface="Lexend"/>
                        <a:sym typeface="Lexend"/>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3</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6</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10</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15</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700">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Number of intersections</a:t>
                      </a:r>
                      <a:endParaRPr b="1" sz="1200">
                        <a:solidFill>
                          <a:schemeClr val="dk1"/>
                        </a:solidFill>
                        <a:latin typeface="Lexend"/>
                        <a:ea typeface="Lexend"/>
                        <a:cs typeface="Lexend"/>
                        <a:sym typeface="Lexend"/>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0</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0</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5</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13</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1700">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Number of regions</a:t>
                      </a:r>
                      <a:endParaRPr b="1" sz="1200">
                        <a:solidFill>
                          <a:schemeClr val="dk1"/>
                        </a:solidFill>
                        <a:latin typeface="Lexend"/>
                        <a:ea typeface="Lexend"/>
                        <a:cs typeface="Lexend"/>
                        <a:sym typeface="Lexend"/>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2</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4</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8</a:t>
                      </a:r>
                      <a:endParaRPr sz="1200">
                        <a:latin typeface="Lexend"/>
                        <a:ea typeface="Lexend"/>
                        <a:cs typeface="Lexend"/>
                        <a:sym typeface="Lexend"/>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16</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30</a:t>
                      </a:r>
                      <a:endParaRPr sz="1200">
                        <a:latin typeface="Kalam"/>
                        <a:ea typeface="Kalam"/>
                        <a:cs typeface="Kalam"/>
                        <a:sym typeface="Kalam"/>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63" name="Google Shape;263;p21"/>
          <p:cNvSpPr txBox="1"/>
          <p:nvPr/>
        </p:nvSpPr>
        <p:spPr>
          <a:xfrm>
            <a:off x="468000" y="6777126"/>
            <a:ext cx="6550800" cy="210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g) Make a prediction for what the 6</a:t>
            </a:r>
            <a:r>
              <a:rPr baseline="30000" lang="en-GB" sz="1200">
                <a:solidFill>
                  <a:srgbClr val="000000"/>
                </a:solidFill>
                <a:latin typeface="Lexend"/>
                <a:ea typeface="Lexend"/>
                <a:cs typeface="Lexend"/>
                <a:sym typeface="Lexend"/>
              </a:rPr>
              <a:t>th</a:t>
            </a:r>
            <a:r>
              <a:rPr lang="en-GB" sz="1200">
                <a:solidFill>
                  <a:srgbClr val="000000"/>
                </a:solidFill>
                <a:latin typeface="Lexend"/>
                <a:ea typeface="Lexend"/>
                <a:cs typeface="Lexend"/>
                <a:sym typeface="Lexend"/>
              </a:rPr>
              <a:t> column will look like.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h) Use the circle given to fill in the 6</a:t>
            </a:r>
            <a:r>
              <a:rPr baseline="30000" lang="en-GB" sz="1200">
                <a:solidFill>
                  <a:srgbClr val="000000"/>
                </a:solidFill>
                <a:latin typeface="Lexend"/>
                <a:ea typeface="Lexend"/>
                <a:cs typeface="Lexend"/>
                <a:sym typeface="Lexend"/>
              </a:rPr>
              <a:t>th</a:t>
            </a:r>
            <a:r>
              <a:rPr lang="en-GB" sz="1200">
                <a:solidFill>
                  <a:srgbClr val="000000"/>
                </a:solidFill>
                <a:latin typeface="Lexend"/>
                <a:ea typeface="Lexend"/>
                <a:cs typeface="Lexend"/>
                <a:sym typeface="Lexend"/>
              </a:rPr>
              <a:t> column.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i) Were you correct? Write a sentence explaining what you have found:</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 </a:t>
            </a:r>
            <a:r>
              <a:rPr lang="en-GB" sz="1200">
                <a:solidFill>
                  <a:srgbClr val="000000"/>
                </a:solidFill>
                <a:latin typeface="Kalam"/>
                <a:ea typeface="Kalam"/>
                <a:cs typeface="Kalam"/>
                <a:sym typeface="Kalam"/>
              </a:rPr>
              <a:t>Your answer may have included,</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The number of regions looked geometric but this didn’t continue to pattern 6. The number of lines for pattern 2 onwards is the triangular numbers. The number of intersections could have a pattern but more terms are needed.</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64" name="Google Shape;264;p21"/>
          <p:cNvSpPr/>
          <p:nvPr/>
        </p:nvSpPr>
        <p:spPr>
          <a:xfrm>
            <a:off x="5905238" y="6839475"/>
            <a:ext cx="1126800" cy="1126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265" name="Google Shape;265;p21"/>
          <p:cNvSpPr/>
          <p:nvPr/>
        </p:nvSpPr>
        <p:spPr>
          <a:xfrm>
            <a:off x="5926400" y="7035661"/>
            <a:ext cx="1860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66" name="Google Shape;266;p21"/>
          <p:cNvSpPr/>
          <p:nvPr/>
        </p:nvSpPr>
        <p:spPr>
          <a:xfrm>
            <a:off x="6904413" y="7590950"/>
            <a:ext cx="1860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67" name="Google Shape;267;p21"/>
          <p:cNvSpPr/>
          <p:nvPr/>
        </p:nvSpPr>
        <p:spPr>
          <a:xfrm>
            <a:off x="6409387" y="6752926"/>
            <a:ext cx="1185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68" name="Google Shape;268;p21"/>
          <p:cNvSpPr/>
          <p:nvPr/>
        </p:nvSpPr>
        <p:spPr>
          <a:xfrm>
            <a:off x="5923952" y="7596491"/>
            <a:ext cx="1185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69" name="Google Shape;269;p21"/>
          <p:cNvSpPr/>
          <p:nvPr/>
        </p:nvSpPr>
        <p:spPr>
          <a:xfrm>
            <a:off x="6895996" y="7037657"/>
            <a:ext cx="1185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270" name="Google Shape;270;p21"/>
          <p:cNvSpPr/>
          <p:nvPr/>
        </p:nvSpPr>
        <p:spPr>
          <a:xfrm>
            <a:off x="6409387" y="7869266"/>
            <a:ext cx="118500" cy="13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271" name="Google Shape;271;p21"/>
          <p:cNvCxnSpPr/>
          <p:nvPr/>
        </p:nvCxnSpPr>
        <p:spPr>
          <a:xfrm flipH="1" rot="10800000">
            <a:off x="5980257" y="6836320"/>
            <a:ext cx="483600" cy="286500"/>
          </a:xfrm>
          <a:prstGeom prst="straightConnector1">
            <a:avLst/>
          </a:prstGeom>
          <a:noFill/>
          <a:ln cap="flat" cmpd="sng" w="38100">
            <a:solidFill>
              <a:srgbClr val="000000"/>
            </a:solidFill>
            <a:prstDash val="solid"/>
            <a:round/>
            <a:headEnd len="med" w="med" type="none"/>
            <a:tailEnd len="med" w="med" type="none"/>
          </a:ln>
        </p:spPr>
      </p:cxnSp>
      <p:cxnSp>
        <p:nvCxnSpPr>
          <p:cNvPr id="272" name="Google Shape;272;p21"/>
          <p:cNvCxnSpPr/>
          <p:nvPr/>
        </p:nvCxnSpPr>
        <p:spPr>
          <a:xfrm>
            <a:off x="5982705" y="7115476"/>
            <a:ext cx="973200" cy="6300"/>
          </a:xfrm>
          <a:prstGeom prst="straightConnector1">
            <a:avLst/>
          </a:prstGeom>
          <a:noFill/>
          <a:ln cap="flat" cmpd="sng" w="38100">
            <a:solidFill>
              <a:srgbClr val="000000"/>
            </a:solidFill>
            <a:prstDash val="solid"/>
            <a:round/>
            <a:headEnd len="med" w="med" type="none"/>
            <a:tailEnd len="med" w="med" type="none"/>
          </a:ln>
        </p:spPr>
      </p:cxnSp>
      <p:cxnSp>
        <p:nvCxnSpPr>
          <p:cNvPr id="273" name="Google Shape;273;p21"/>
          <p:cNvCxnSpPr/>
          <p:nvPr/>
        </p:nvCxnSpPr>
        <p:spPr>
          <a:xfrm>
            <a:off x="5992498" y="7117924"/>
            <a:ext cx="966900" cy="558300"/>
          </a:xfrm>
          <a:prstGeom prst="straightConnector1">
            <a:avLst/>
          </a:prstGeom>
          <a:noFill/>
          <a:ln cap="flat" cmpd="sng" w="38100">
            <a:solidFill>
              <a:srgbClr val="000000"/>
            </a:solidFill>
            <a:prstDash val="solid"/>
            <a:round/>
            <a:headEnd len="med" w="med" type="none"/>
            <a:tailEnd len="med" w="med" type="none"/>
          </a:ln>
        </p:spPr>
      </p:cxnSp>
      <p:cxnSp>
        <p:nvCxnSpPr>
          <p:cNvPr id="274" name="Google Shape;274;p21"/>
          <p:cNvCxnSpPr/>
          <p:nvPr/>
        </p:nvCxnSpPr>
        <p:spPr>
          <a:xfrm>
            <a:off x="6001076" y="7119158"/>
            <a:ext cx="466200" cy="833700"/>
          </a:xfrm>
          <a:prstGeom prst="straightConnector1">
            <a:avLst/>
          </a:prstGeom>
          <a:noFill/>
          <a:ln cap="flat" cmpd="sng" w="38100">
            <a:solidFill>
              <a:srgbClr val="000000"/>
            </a:solidFill>
            <a:prstDash val="solid"/>
            <a:round/>
            <a:headEnd len="med" w="med" type="none"/>
            <a:tailEnd len="med" w="med" type="none"/>
          </a:ln>
        </p:spPr>
      </p:cxnSp>
      <p:cxnSp>
        <p:nvCxnSpPr>
          <p:cNvPr id="275" name="Google Shape;275;p21"/>
          <p:cNvCxnSpPr/>
          <p:nvPr/>
        </p:nvCxnSpPr>
        <p:spPr>
          <a:xfrm flipH="1">
            <a:off x="5982835" y="7114262"/>
            <a:ext cx="6000" cy="564300"/>
          </a:xfrm>
          <a:prstGeom prst="straightConnector1">
            <a:avLst/>
          </a:prstGeom>
          <a:noFill/>
          <a:ln cap="flat" cmpd="sng" w="38100">
            <a:solidFill>
              <a:srgbClr val="000000"/>
            </a:solidFill>
            <a:prstDash val="solid"/>
            <a:round/>
            <a:headEnd len="med" w="med" type="none"/>
            <a:tailEnd len="med" w="med" type="none"/>
          </a:ln>
        </p:spPr>
      </p:cxnSp>
      <p:cxnSp>
        <p:nvCxnSpPr>
          <p:cNvPr id="276" name="Google Shape;276;p21"/>
          <p:cNvCxnSpPr/>
          <p:nvPr/>
        </p:nvCxnSpPr>
        <p:spPr>
          <a:xfrm flipH="1">
            <a:off x="5981276" y="6833943"/>
            <a:ext cx="493500" cy="850800"/>
          </a:xfrm>
          <a:prstGeom prst="straightConnector1">
            <a:avLst/>
          </a:prstGeom>
          <a:noFill/>
          <a:ln cap="flat" cmpd="sng" w="38100">
            <a:solidFill>
              <a:srgbClr val="000000"/>
            </a:solidFill>
            <a:prstDash val="solid"/>
            <a:round/>
            <a:headEnd len="med" w="med" type="none"/>
            <a:tailEnd len="med" w="med" type="none"/>
          </a:ln>
        </p:spPr>
      </p:cxnSp>
      <p:cxnSp>
        <p:nvCxnSpPr>
          <p:cNvPr id="277" name="Google Shape;277;p21"/>
          <p:cNvCxnSpPr/>
          <p:nvPr/>
        </p:nvCxnSpPr>
        <p:spPr>
          <a:xfrm>
            <a:off x="6464983" y="6843735"/>
            <a:ext cx="1200" cy="1108800"/>
          </a:xfrm>
          <a:prstGeom prst="straightConnector1">
            <a:avLst/>
          </a:prstGeom>
          <a:noFill/>
          <a:ln cap="flat" cmpd="sng" w="38100">
            <a:solidFill>
              <a:srgbClr val="000000"/>
            </a:solidFill>
            <a:prstDash val="solid"/>
            <a:round/>
            <a:headEnd len="med" w="med" type="none"/>
            <a:tailEnd len="med" w="med" type="none"/>
          </a:ln>
        </p:spPr>
      </p:cxnSp>
      <p:cxnSp>
        <p:nvCxnSpPr>
          <p:cNvPr id="278" name="Google Shape;278;p21"/>
          <p:cNvCxnSpPr/>
          <p:nvPr/>
        </p:nvCxnSpPr>
        <p:spPr>
          <a:xfrm>
            <a:off x="6463769" y="6838839"/>
            <a:ext cx="483600" cy="282600"/>
          </a:xfrm>
          <a:prstGeom prst="straightConnector1">
            <a:avLst/>
          </a:prstGeom>
          <a:noFill/>
          <a:ln cap="flat" cmpd="sng" w="38100">
            <a:solidFill>
              <a:srgbClr val="000000"/>
            </a:solidFill>
            <a:prstDash val="solid"/>
            <a:round/>
            <a:headEnd len="med" w="med" type="none"/>
            <a:tailEnd len="med" w="med" type="none"/>
          </a:ln>
        </p:spPr>
      </p:cxnSp>
      <p:cxnSp>
        <p:nvCxnSpPr>
          <p:cNvPr id="279" name="Google Shape;279;p21"/>
          <p:cNvCxnSpPr/>
          <p:nvPr/>
        </p:nvCxnSpPr>
        <p:spPr>
          <a:xfrm flipH="1">
            <a:off x="6471928" y="7118907"/>
            <a:ext cx="477300" cy="828300"/>
          </a:xfrm>
          <a:prstGeom prst="straightConnector1">
            <a:avLst/>
          </a:prstGeom>
          <a:noFill/>
          <a:ln cap="flat" cmpd="sng" w="38100">
            <a:solidFill>
              <a:srgbClr val="000000"/>
            </a:solidFill>
            <a:prstDash val="solid"/>
            <a:round/>
            <a:headEnd len="med" w="med" type="none"/>
            <a:tailEnd len="med" w="med" type="none"/>
          </a:ln>
        </p:spPr>
      </p:cxnSp>
      <p:cxnSp>
        <p:nvCxnSpPr>
          <p:cNvPr id="280" name="Google Shape;280;p21"/>
          <p:cNvCxnSpPr/>
          <p:nvPr/>
        </p:nvCxnSpPr>
        <p:spPr>
          <a:xfrm>
            <a:off x="6463017" y="6841287"/>
            <a:ext cx="493500" cy="827100"/>
          </a:xfrm>
          <a:prstGeom prst="straightConnector1">
            <a:avLst/>
          </a:prstGeom>
          <a:noFill/>
          <a:ln cap="flat" cmpd="sng" w="38100">
            <a:solidFill>
              <a:srgbClr val="000000"/>
            </a:solidFill>
            <a:prstDash val="solid"/>
            <a:round/>
            <a:headEnd len="med" w="med" type="none"/>
            <a:tailEnd len="med" w="med" type="none"/>
          </a:ln>
        </p:spPr>
      </p:cxnSp>
      <p:cxnSp>
        <p:nvCxnSpPr>
          <p:cNvPr id="281" name="Google Shape;281;p21"/>
          <p:cNvCxnSpPr/>
          <p:nvPr/>
        </p:nvCxnSpPr>
        <p:spPr>
          <a:xfrm>
            <a:off x="6950693" y="7120372"/>
            <a:ext cx="13200" cy="558300"/>
          </a:xfrm>
          <a:prstGeom prst="straightConnector1">
            <a:avLst/>
          </a:prstGeom>
          <a:noFill/>
          <a:ln cap="flat" cmpd="sng" w="38100">
            <a:solidFill>
              <a:srgbClr val="000000"/>
            </a:solidFill>
            <a:prstDash val="solid"/>
            <a:round/>
            <a:headEnd len="med" w="med" type="none"/>
            <a:tailEnd len="med" w="med" type="none"/>
          </a:ln>
        </p:spPr>
      </p:cxnSp>
      <p:cxnSp>
        <p:nvCxnSpPr>
          <p:cNvPr id="282" name="Google Shape;282;p21"/>
          <p:cNvCxnSpPr/>
          <p:nvPr/>
        </p:nvCxnSpPr>
        <p:spPr>
          <a:xfrm flipH="1">
            <a:off x="6466026" y="7666784"/>
            <a:ext cx="506700" cy="279300"/>
          </a:xfrm>
          <a:prstGeom prst="straightConnector1">
            <a:avLst/>
          </a:prstGeom>
          <a:noFill/>
          <a:ln cap="flat" cmpd="sng" w="38100">
            <a:solidFill>
              <a:srgbClr val="000000"/>
            </a:solidFill>
            <a:prstDash val="solid"/>
            <a:round/>
            <a:headEnd len="med" w="med" type="none"/>
            <a:tailEnd len="med" w="med" type="none"/>
          </a:ln>
        </p:spPr>
      </p:cxnSp>
      <p:cxnSp>
        <p:nvCxnSpPr>
          <p:cNvPr id="283" name="Google Shape;283;p21"/>
          <p:cNvCxnSpPr/>
          <p:nvPr/>
        </p:nvCxnSpPr>
        <p:spPr>
          <a:xfrm flipH="1">
            <a:off x="5976811" y="7668268"/>
            <a:ext cx="991500" cy="7500"/>
          </a:xfrm>
          <a:prstGeom prst="straightConnector1">
            <a:avLst/>
          </a:prstGeom>
          <a:noFill/>
          <a:ln cap="flat" cmpd="sng" w="38100">
            <a:solidFill>
              <a:srgbClr val="000000"/>
            </a:solidFill>
            <a:prstDash val="solid"/>
            <a:round/>
            <a:headEnd len="med" w="med" type="none"/>
            <a:tailEnd len="med" w="med" type="none"/>
          </a:ln>
        </p:spPr>
      </p:cxnSp>
      <p:cxnSp>
        <p:nvCxnSpPr>
          <p:cNvPr id="284" name="Google Shape;284;p21"/>
          <p:cNvCxnSpPr/>
          <p:nvPr/>
        </p:nvCxnSpPr>
        <p:spPr>
          <a:xfrm>
            <a:off x="5987120" y="7678542"/>
            <a:ext cx="471300" cy="273300"/>
          </a:xfrm>
          <a:prstGeom prst="straightConnector1">
            <a:avLst/>
          </a:prstGeom>
          <a:noFill/>
          <a:ln cap="flat" cmpd="sng" w="38100">
            <a:solidFill>
              <a:srgbClr val="000000"/>
            </a:solidFill>
            <a:prstDash val="solid"/>
            <a:round/>
            <a:headEnd len="med" w="med" type="none"/>
            <a:tailEnd len="med" w="med" type="none"/>
          </a:ln>
        </p:spPr>
      </p:cxnSp>
      <p:cxnSp>
        <p:nvCxnSpPr>
          <p:cNvPr id="285" name="Google Shape;285;p21"/>
          <p:cNvCxnSpPr/>
          <p:nvPr/>
        </p:nvCxnSpPr>
        <p:spPr>
          <a:xfrm flipH="1" rot="10800000">
            <a:off x="5972576" y="7117223"/>
            <a:ext cx="985500" cy="561300"/>
          </a:xfrm>
          <a:prstGeom prst="straightConnector1">
            <a:avLst/>
          </a:prstGeom>
          <a:noFill/>
          <a:ln cap="flat" cmpd="sng" w="38100">
            <a:solidFill>
              <a:srgbClr val="000000"/>
            </a:solidFill>
            <a:prstDash val="solid"/>
            <a:round/>
            <a:headEnd len="med" w="med" type="none"/>
            <a:tailEnd len="med" w="med" type="none"/>
          </a:ln>
        </p:spPr>
      </p:cxnSp>
      <p:sp>
        <p:nvSpPr>
          <p:cNvPr id="286" name="Google Shape;286;p21"/>
          <p:cNvSpPr txBox="1"/>
          <p:nvPr/>
        </p:nvSpPr>
        <p:spPr>
          <a:xfrm>
            <a:off x="491100" y="8824525"/>
            <a:ext cx="6610500" cy="1087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j) Do you think you have found any patterns which will continue? Write a sentence explaining why.</a:t>
            </a:r>
            <a:endParaRPr sz="1200">
              <a:solidFill>
                <a:srgbClr val="000000"/>
              </a:solidFill>
              <a:latin typeface="Lexend"/>
              <a:ea typeface="Lexend"/>
              <a:cs typeface="Lexend"/>
              <a:sym typeface="Lexend"/>
            </a:endParaRPr>
          </a:p>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The number of lines will continue to be the triangular numbers as every point is joined to every other point. The triangular number sequence is the same as the number of connections between 2, 3, 4, 5, … objects. It is unclear how the other two patterns will continue at this stage. </a:t>
            </a:r>
            <a:endParaRPr sz="1200">
              <a:solidFill>
                <a:srgbClr val="000000"/>
              </a:solidFill>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