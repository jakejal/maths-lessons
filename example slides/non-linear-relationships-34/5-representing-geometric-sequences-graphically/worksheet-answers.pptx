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197D1A-A67C-465B-89DD-FF09C739AF9D}">
  <a:tblStyle styleId="{4F197D1A-A67C-465B-89DD-FF09C739AF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1531768fd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b1531768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b1531768fd_0_11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b1531768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6696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45f5bd7c-b178-4b2a-82a6-a57cdd0b10aa&quot; data-equatio-type=&quot;desmos&quot;&gt;&lt;mglyph src=&quot;https://equatio-api.texthelp.com/desmos/get/12-01-2024/45f5bd7c-b178-4b2a-82a6-a57cdd0b10aa&quot; alt=&quot;Equatio Desmos Graph&quot;/&gt;&lt;/math&gt;" id="173" name="Google Shape;173;p20" title="Equatio Desmos Graph"/>
          <p:cNvPicPr preferRelativeResize="0"/>
          <p:nvPr/>
        </p:nvPicPr>
        <p:blipFill rotWithShape="1">
          <a:blip r:embed="rId3">
            <a:alphaModFix/>
          </a:blip>
          <a:srcRect b="3446" l="11403" r="57893" t="0"/>
          <a:stretch/>
        </p:blipFill>
        <p:spPr>
          <a:xfrm>
            <a:off x="5253840" y="2041507"/>
            <a:ext cx="1597278" cy="3294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2-01-2024/21d08bea-4dbd-43df-a43b-fd8e0578f987&quot; data-equatio-type=&quot;desmos&quot;&gt;&lt;mglyph src=&quot;https://equatio-api.texthelp.com/desmos/get/12-01-2024/21d08bea-4dbd-43df-a43b-fd8e0578f987&quot; alt=&quot;Equatio Desmos Graph&quot;/&gt;&lt;/math&gt;" id="174" name="Google Shape;174;p20" title="Equatio Desmos Graph"/>
          <p:cNvPicPr preferRelativeResize="0"/>
          <p:nvPr/>
        </p:nvPicPr>
        <p:blipFill rotWithShape="1">
          <a:blip r:embed="rId4">
            <a:alphaModFix/>
          </a:blip>
          <a:srcRect b="2581" l="4186" r="55211" t="0"/>
          <a:stretch/>
        </p:blipFill>
        <p:spPr>
          <a:xfrm>
            <a:off x="5115050" y="2028587"/>
            <a:ext cx="1831112" cy="3294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20"/>
          <p:cNvGraphicFramePr/>
          <p:nvPr/>
        </p:nvGraphicFramePr>
        <p:xfrm>
          <a:off x="480998" y="3083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{4F197D1A-A67C-465B-89DD-FF09C739AF9D}</a:tableStyleId>
              </a:tblPr>
              <a:tblGrid>
                <a:gridCol w="1550575"/>
                <a:gridCol w="490525"/>
                <a:gridCol w="490525"/>
                <a:gridCol w="490525"/>
                <a:gridCol w="490525"/>
                <a:gridCol w="490525"/>
              </a:tblGrid>
              <a:tr h="43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76400" y="2001200"/>
            <a:ext cx="4179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table of values and plot the geometric sequence that starts on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has a common ratio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81001" y="1411250"/>
            <a:ext cx="65625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Graphing a common ratio greater than </a:t>
            </a: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938821" y="5024365"/>
            <a:ext cx="161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928132" y="1976469"/>
            <a:ext cx="212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2287474" y="3770316"/>
            <a:ext cx="1972620" cy="591895"/>
            <a:chOff x="459975" y="1701066"/>
            <a:chExt cx="2149760" cy="757384"/>
          </a:xfrm>
        </p:grpSpPr>
        <p:grpSp>
          <p:nvGrpSpPr>
            <p:cNvPr id="181" name="Google Shape;181;p20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82" name="Google Shape;182;p20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20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p20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6" name="Google Shape;186;p20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87" name="Google Shape;187;p20"/>
              <p:cNvSpPr/>
              <p:nvPr/>
            </p:nvSpPr>
            <p:spPr>
              <a:xfrm flipH="1" rot="10800000">
                <a:off x="45997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 flipH="1" rot="10800000">
                <a:off x="995931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 flipH="1" rot="10800000">
                <a:off x="155281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 flipH="1" rot="10800000">
                <a:off x="2101535" y="1701066"/>
                <a:ext cx="508200" cy="4377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91" name="Google Shape;191;p20"/>
          <p:cNvSpPr txBox="1"/>
          <p:nvPr/>
        </p:nvSpPr>
        <p:spPr>
          <a:xfrm flipH="1" rot="-1826">
            <a:off x="476406" y="4363102"/>
            <a:ext cx="3389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line helps us to see the curve of a geometric sequence but, we don’t draw it.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4831" y="5552975"/>
            <a:ext cx="6562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You invest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a new tech company and your shares grow in value 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year. Calculate their value for the first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years and plot it on the graph.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741244" y="9700902"/>
            <a:ext cx="1518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288169" y="7282325"/>
            <a:ext cx="1998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 flipH="1" rot="-1857">
            <a:off x="4260230" y="7529304"/>
            <a:ext cx="2777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points plot the curved pattern of a geometric sequence.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aa4bbe78-8080-4772-9a84-e2afeea90798&quot; data-equatio-type=&quot;desmos&quot;&gt;&lt;mglyph src=&quot;https://equatio-api.texthelp.com/desmos/get/12-01-2024/aa4bbe78-8080-4772-9a84-e2afeea90798&quot; alt=&quot;Equatio Desmos Graph&quot;/&gt;&lt;/math&gt;" id="196" name="Google Shape;196;p20" title="Equatio Desmos Graph"/>
          <p:cNvPicPr preferRelativeResize="0"/>
          <p:nvPr/>
        </p:nvPicPr>
        <p:blipFill rotWithShape="1">
          <a:blip r:embed="rId5">
            <a:alphaModFix/>
          </a:blip>
          <a:srcRect b="2400" l="0" r="36784" t="0"/>
          <a:stretch/>
        </p:blipFill>
        <p:spPr>
          <a:xfrm>
            <a:off x="1414587" y="7347730"/>
            <a:ext cx="2241836" cy="25960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0"/>
          <p:cNvGraphicFramePr/>
          <p:nvPr/>
        </p:nvGraphicFramePr>
        <p:xfrm>
          <a:off x="468004" y="6147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{4F197D1A-A67C-465B-89DD-FF09C739AF9D}</a:tableStyleId>
              </a:tblPr>
              <a:tblGrid>
                <a:gridCol w="369325"/>
                <a:gridCol w="781825"/>
                <a:gridCol w="781825"/>
                <a:gridCol w="781825"/>
                <a:gridCol w="781825"/>
                <a:gridCol w="781825"/>
                <a:gridCol w="781825"/>
                <a:gridCol w="781825"/>
                <a:gridCol w="781825"/>
              </a:tblGrid>
              <a:tr h="34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3000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4500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6750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10 125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15 188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22 781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34 172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8" name="Google Shape;198;p20"/>
          <p:cNvGrpSpPr/>
          <p:nvPr/>
        </p:nvGrpSpPr>
        <p:grpSpPr>
          <a:xfrm>
            <a:off x="929878" y="6723484"/>
            <a:ext cx="3347454" cy="548060"/>
            <a:chOff x="1120239" y="2330604"/>
            <a:chExt cx="3324515" cy="664476"/>
          </a:xfrm>
        </p:grpSpPr>
        <p:grpSp>
          <p:nvGrpSpPr>
            <p:cNvPr id="199" name="Google Shape;199;p20"/>
            <p:cNvGrpSpPr/>
            <p:nvPr/>
          </p:nvGrpSpPr>
          <p:grpSpPr>
            <a:xfrm>
              <a:off x="1120239" y="2330604"/>
              <a:ext cx="805446" cy="664476"/>
              <a:chOff x="459987" y="1725179"/>
              <a:chExt cx="508200" cy="697027"/>
            </a:xfrm>
          </p:grpSpPr>
          <p:sp>
            <p:nvSpPr>
              <p:cNvPr id="200" name="Google Shape;200;p20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2" name="Google Shape;202;p20"/>
            <p:cNvGrpSpPr/>
            <p:nvPr/>
          </p:nvGrpSpPr>
          <p:grpSpPr>
            <a:xfrm>
              <a:off x="1962429" y="2330604"/>
              <a:ext cx="805446" cy="664476"/>
              <a:chOff x="459987" y="1725179"/>
              <a:chExt cx="508200" cy="697027"/>
            </a:xfrm>
          </p:grpSpPr>
          <p:sp>
            <p:nvSpPr>
              <p:cNvPr id="203" name="Google Shape;203;p20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5" name="Google Shape;205;p20"/>
            <p:cNvGrpSpPr/>
            <p:nvPr/>
          </p:nvGrpSpPr>
          <p:grpSpPr>
            <a:xfrm>
              <a:off x="2797117" y="2330604"/>
              <a:ext cx="805446" cy="664476"/>
              <a:chOff x="459987" y="1725179"/>
              <a:chExt cx="508200" cy="697027"/>
            </a:xfrm>
          </p:grpSpPr>
          <p:sp>
            <p:nvSpPr>
              <p:cNvPr id="206" name="Google Shape;206;p20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8" name="Google Shape;208;p20"/>
            <p:cNvGrpSpPr/>
            <p:nvPr/>
          </p:nvGrpSpPr>
          <p:grpSpPr>
            <a:xfrm>
              <a:off x="3639307" y="2330604"/>
              <a:ext cx="805446" cy="664476"/>
              <a:chOff x="459987" y="1725179"/>
              <a:chExt cx="508200" cy="697027"/>
            </a:xfrm>
          </p:grpSpPr>
          <p:sp>
            <p:nvSpPr>
              <p:cNvPr id="209" name="Google Shape;209;p20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p20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211" name="Google Shape;211;p20"/>
          <p:cNvGrpSpPr/>
          <p:nvPr/>
        </p:nvGrpSpPr>
        <p:grpSpPr>
          <a:xfrm>
            <a:off x="4336181" y="6723484"/>
            <a:ext cx="2499452" cy="548060"/>
            <a:chOff x="1120239" y="2330604"/>
            <a:chExt cx="2482324" cy="664476"/>
          </a:xfrm>
        </p:grpSpPr>
        <p:grpSp>
          <p:nvGrpSpPr>
            <p:cNvPr id="212" name="Google Shape;212;p20"/>
            <p:cNvGrpSpPr/>
            <p:nvPr/>
          </p:nvGrpSpPr>
          <p:grpSpPr>
            <a:xfrm>
              <a:off x="1120239" y="2330604"/>
              <a:ext cx="805446" cy="664476"/>
              <a:chOff x="459987" y="1725179"/>
              <a:chExt cx="508200" cy="697027"/>
            </a:xfrm>
          </p:grpSpPr>
          <p:sp>
            <p:nvSpPr>
              <p:cNvPr id="213" name="Google Shape;213;p20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15" name="Google Shape;215;p20"/>
            <p:cNvGrpSpPr/>
            <p:nvPr/>
          </p:nvGrpSpPr>
          <p:grpSpPr>
            <a:xfrm>
              <a:off x="1962429" y="2330604"/>
              <a:ext cx="805446" cy="664476"/>
              <a:chOff x="459987" y="1725179"/>
              <a:chExt cx="508200" cy="697027"/>
            </a:xfrm>
          </p:grpSpPr>
          <p:sp>
            <p:nvSpPr>
              <p:cNvPr id="216" name="Google Shape;216;p20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18" name="Google Shape;218;p20"/>
            <p:cNvGrpSpPr/>
            <p:nvPr/>
          </p:nvGrpSpPr>
          <p:grpSpPr>
            <a:xfrm>
              <a:off x="2797117" y="2330604"/>
              <a:ext cx="805446" cy="664476"/>
              <a:chOff x="459987" y="1725179"/>
              <a:chExt cx="508200" cy="697027"/>
            </a:xfrm>
          </p:grpSpPr>
          <p:sp>
            <p:nvSpPr>
              <p:cNvPr id="219" name="Google Shape;219;p20"/>
              <p:cNvSpPr txBox="1"/>
              <p:nvPr/>
            </p:nvSpPr>
            <p:spPr>
              <a:xfrm>
                <a:off x="532675" y="2082906"/>
                <a:ext cx="385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×1.5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0" name="Google Shape;220;p20"/>
              <p:cNvSpPr/>
              <p:nvPr/>
            </p:nvSpPr>
            <p:spPr>
              <a:xfrm flipH="1" rot="10800000">
                <a:off x="459987" y="1725179"/>
                <a:ext cx="508200" cy="3765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sp>
        <p:nvSpPr>
          <p:cNvPr id="226" name="Google Shape;22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c1235cdb-730d-416b-a440-06335e5fb4f0&quot; data-equatio-type=&quot;desmos&quot;&gt;&lt;mglyph src=&quot;https://equatio-api.texthelp.com/desmos/get/12-01-2024/c1235cdb-730d-416b-a440-06335e5fb4f0&quot; alt=&quot;Equatio Desmos Graph&quot;/&gt;&lt;/math&gt;" id="227" name="Google Shape;227;p21" title="Equatio Desmos Graph"/>
          <p:cNvPicPr preferRelativeResize="0"/>
          <p:nvPr/>
        </p:nvPicPr>
        <p:blipFill rotWithShape="1">
          <a:blip r:embed="rId3">
            <a:alphaModFix/>
          </a:blip>
          <a:srcRect b="6367" l="5863" r="59984" t="0"/>
          <a:stretch/>
        </p:blipFill>
        <p:spPr>
          <a:xfrm>
            <a:off x="5561555" y="1175048"/>
            <a:ext cx="1409804" cy="289890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76400" y="835500"/>
            <a:ext cx="66156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Sam is contemplating the shape of the graphs of geometric sequences.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6979957" y="3862855"/>
            <a:ext cx="1536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415177" y="1208606"/>
            <a:ext cx="2019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309" y="1579742"/>
            <a:ext cx="531950" cy="76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079424" y="1117350"/>
            <a:ext cx="3398426" cy="10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 flipH="1">
            <a:off x="1403849" y="1159300"/>
            <a:ext cx="29826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don’t know if the starting term affects the shape. If I use the same common ratio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but start on two different numbers will I get a different shape?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4" name="Google Shape;234;p21"/>
          <p:cNvGraphicFramePr/>
          <p:nvPr/>
        </p:nvGraphicFramePr>
        <p:xfrm>
          <a:off x="476429" y="2687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{4F197D1A-A67C-465B-89DD-FF09C739AF9D}</a:tableStyleId>
              </a:tblPr>
              <a:tblGrid>
                <a:gridCol w="265450"/>
                <a:gridCol w="411775"/>
                <a:gridCol w="411775"/>
                <a:gridCol w="411775"/>
                <a:gridCol w="411775"/>
                <a:gridCol w="4117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Google Shape;235;p21"/>
          <p:cNvGraphicFramePr/>
          <p:nvPr/>
        </p:nvGraphicFramePr>
        <p:xfrm>
          <a:off x="3010311" y="2687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{4F197D1A-A67C-465B-89DD-FF09C739AF9D}</a:tableStyleId>
              </a:tblPr>
              <a:tblGrid>
                <a:gridCol w="265450"/>
                <a:gridCol w="411775"/>
                <a:gridCol w="411775"/>
                <a:gridCol w="411775"/>
                <a:gridCol w="411775"/>
                <a:gridCol w="4117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6" name="Google Shape;236;p21"/>
          <p:cNvGrpSpPr/>
          <p:nvPr/>
        </p:nvGrpSpPr>
        <p:grpSpPr>
          <a:xfrm>
            <a:off x="977530" y="3214881"/>
            <a:ext cx="1578776" cy="499495"/>
            <a:chOff x="459981" y="1785549"/>
            <a:chExt cx="2149749" cy="672901"/>
          </a:xfrm>
        </p:grpSpPr>
        <p:grpSp>
          <p:nvGrpSpPr>
            <p:cNvPr id="237" name="Google Shape;237;p21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238" name="Google Shape;238;p21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9" name="Google Shape;239;p21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" name="Google Shape;240;p21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1" name="Google Shape;241;p21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2" name="Google Shape;242;p21"/>
            <p:cNvGrpSpPr/>
            <p:nvPr/>
          </p:nvGrpSpPr>
          <p:grpSpPr>
            <a:xfrm>
              <a:off x="459981" y="1785549"/>
              <a:ext cx="2149749" cy="339300"/>
              <a:chOff x="459981" y="1785549"/>
              <a:chExt cx="2149749" cy="339300"/>
            </a:xfrm>
          </p:grpSpPr>
          <p:sp>
            <p:nvSpPr>
              <p:cNvPr id="243" name="Google Shape;243;p21"/>
              <p:cNvSpPr/>
              <p:nvPr/>
            </p:nvSpPr>
            <p:spPr>
              <a:xfrm flipH="1" rot="10800000">
                <a:off x="459981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44" name="Google Shape;244;p21"/>
              <p:cNvSpPr/>
              <p:nvPr/>
            </p:nvSpPr>
            <p:spPr>
              <a:xfrm flipH="1" rot="10800000">
                <a:off x="995933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45" name="Google Shape;245;p21"/>
              <p:cNvSpPr/>
              <p:nvPr/>
            </p:nvSpPr>
            <p:spPr>
              <a:xfrm flipH="1" rot="10800000">
                <a:off x="1552814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 flipH="1" rot="10800000">
                <a:off x="2101530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247" name="Google Shape;247;p21"/>
          <p:cNvGrpSpPr/>
          <p:nvPr/>
        </p:nvGrpSpPr>
        <p:grpSpPr>
          <a:xfrm>
            <a:off x="3597443" y="3214881"/>
            <a:ext cx="1578776" cy="499495"/>
            <a:chOff x="459981" y="1785549"/>
            <a:chExt cx="2149749" cy="672901"/>
          </a:xfrm>
        </p:grpSpPr>
        <p:grpSp>
          <p:nvGrpSpPr>
            <p:cNvPr id="248" name="Google Shape;248;p21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249" name="Google Shape;249;p21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0" name="Google Shape;250;p21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1" name="Google Shape;251;p21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2" name="Google Shape;252;p21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53" name="Google Shape;253;p21"/>
            <p:cNvGrpSpPr/>
            <p:nvPr/>
          </p:nvGrpSpPr>
          <p:grpSpPr>
            <a:xfrm>
              <a:off x="459981" y="1785549"/>
              <a:ext cx="2149749" cy="339300"/>
              <a:chOff x="459981" y="1785549"/>
              <a:chExt cx="2149749" cy="339300"/>
            </a:xfrm>
          </p:grpSpPr>
          <p:sp>
            <p:nvSpPr>
              <p:cNvPr id="254" name="Google Shape;254;p21"/>
              <p:cNvSpPr/>
              <p:nvPr/>
            </p:nvSpPr>
            <p:spPr>
              <a:xfrm flipH="1" rot="10800000">
                <a:off x="459981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5" name="Google Shape;255;p21"/>
              <p:cNvSpPr/>
              <p:nvPr/>
            </p:nvSpPr>
            <p:spPr>
              <a:xfrm flipH="1" rot="10800000">
                <a:off x="995933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 flipH="1" rot="10800000">
                <a:off x="1552814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 flipH="1" rot="10800000">
                <a:off x="2101530" y="1785549"/>
                <a:ext cx="508200" cy="3393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58" name="Google Shape;258;p21"/>
          <p:cNvSpPr txBox="1"/>
          <p:nvPr/>
        </p:nvSpPr>
        <p:spPr>
          <a:xfrm>
            <a:off x="476400" y="3827236"/>
            <a:ext cx="4619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common ratio to complete the tables, plot both graphs, and write a conclusion for Sam.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17575" y="4416900"/>
            <a:ext cx="5922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graphs have the same shape.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 upward curve getting increasingly more steep.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>
            <a:off x="474757" y="4976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1"/>
          <p:cNvSpPr txBox="1"/>
          <p:nvPr/>
        </p:nvSpPr>
        <p:spPr>
          <a:xfrm>
            <a:off x="468002" y="5145050"/>
            <a:ext cx="6550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Graphing a common ratio less than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76400" y="5885159"/>
            <a:ext cx="3675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Complete the table of values and graph this geometric sequence with a common ratio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3" name="Google Shape;263;p21"/>
          <p:cNvGraphicFramePr/>
          <p:nvPr/>
        </p:nvGraphicFramePr>
        <p:xfrm>
          <a:off x="476429" y="6593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{4F197D1A-A67C-465B-89DD-FF09C739AF9D}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21"/>
          <p:cNvSpPr/>
          <p:nvPr/>
        </p:nvSpPr>
        <p:spPr>
          <a:xfrm flipH="1" rot="10800000">
            <a:off x="1271455" y="7055047"/>
            <a:ext cx="5766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65" name="Google Shape;265;p21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0572" y="6059705"/>
            <a:ext cx="94459" cy="312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266" name="Google Shape;266;p21" title="times 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8668" y="7375921"/>
            <a:ext cx="202412" cy="31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6925936" y="8853379"/>
            <a:ext cx="161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958185" y="5922747"/>
            <a:ext cx="2118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146248" y="9076016"/>
            <a:ext cx="340200" cy="166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76400" y="8623256"/>
            <a:ext cx="3929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as accurately as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1-2024/92cd4552-9bdc-461d-be24-4a9937cd8e25&quot; data-equatio-type=&quot;desmos&quot;&gt;&lt;mglyph src=&quot;https://equatio-api.texthelp.com/desmos/get/15-01-2024/92cd4552-9bdc-461d-be24-4a9937cd8e25&quot; alt=&quot;Equatio Desmos Graph&quot;/&gt;&lt;/math&gt;" id="271" name="Google Shape;271;p21" title="Equatio Desmos Graph"/>
          <p:cNvPicPr preferRelativeResize="0"/>
          <p:nvPr/>
        </p:nvPicPr>
        <p:blipFill rotWithShape="1">
          <a:blip r:embed="rId8">
            <a:alphaModFix/>
          </a:blip>
          <a:srcRect b="1671" l="3173" r="58399" t="0"/>
          <a:stretch/>
        </p:blipFill>
        <p:spPr>
          <a:xfrm>
            <a:off x="5169975" y="5812675"/>
            <a:ext cx="1731724" cy="33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 flipH="1" rot="-1932">
            <a:off x="504275" y="8946450"/>
            <a:ext cx="3202501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Common ratio between 0 and 1 giving us a downward curve.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1"/>
          <p:cNvSpPr/>
          <p:nvPr/>
        </p:nvSpPr>
        <p:spPr>
          <a:xfrm flipH="1" rot="10800000">
            <a:off x="2033455" y="7055047"/>
            <a:ext cx="5766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274" name="Google Shape;274;p21" title="times 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10668" y="7375921"/>
            <a:ext cx="202412" cy="31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/>
          <p:nvPr/>
        </p:nvSpPr>
        <p:spPr>
          <a:xfrm flipH="1" rot="10800000">
            <a:off x="2795455" y="7055047"/>
            <a:ext cx="5766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276" name="Google Shape;276;p21" title="times 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72668" y="7375921"/>
            <a:ext cx="202412" cy="31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/>
          <p:nvPr/>
        </p:nvSpPr>
        <p:spPr>
          <a:xfrm flipH="1" rot="10800000">
            <a:off x="3633655" y="7055047"/>
            <a:ext cx="5766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278" name="Google Shape;278;p21" title="times 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0868" y="7375921"/>
            <a:ext cx="202412" cy="312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</a:t>
            </a:r>
            <a:r>
              <a:rPr lang="en-GB"/>
              <a:t>sequences graphically</a:t>
            </a:r>
            <a:endParaRPr/>
          </a:p>
        </p:txBody>
      </p:sp>
      <p:sp>
        <p:nvSpPr>
          <p:cNvPr id="284" name="Google Shape;28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85" name="Google Shape;285;p22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142" y="1007276"/>
            <a:ext cx="95347" cy="31555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476400" y="835500"/>
            <a:ext cx="3677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b) Complete the table of values and graph this geometric sequence with a common ratio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7" name="Google Shape;287;p22"/>
          <p:cNvGraphicFramePr/>
          <p:nvPr/>
        </p:nvGraphicFramePr>
        <p:xfrm>
          <a:off x="562142" y="16878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{4F197D1A-A67C-465B-89DD-FF09C739AF9D}</a:tableStyleId>
              </a:tblPr>
              <a:tblGrid>
                <a:gridCol w="367125"/>
                <a:gridCol w="642150"/>
                <a:gridCol w="642150"/>
                <a:gridCol w="642150"/>
                <a:gridCol w="642150"/>
                <a:gridCol w="64215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22"/>
          <p:cNvSpPr/>
          <p:nvPr/>
        </p:nvSpPr>
        <p:spPr>
          <a:xfrm flipH="1" rot="10800000">
            <a:off x="1272245" y="2159210"/>
            <a:ext cx="5769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6930912" y="3882210"/>
            <a:ext cx="161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961643" y="873117"/>
            <a:ext cx="21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149851" y="4028818"/>
            <a:ext cx="340200" cy="16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476400" y="3575708"/>
            <a:ext cx="393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as accurately as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293" name="Google Shape;293;p22" title="time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2760" y="2476907"/>
            <a:ext cx="204315" cy="31555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476400" y="5178900"/>
            <a:ext cx="36777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 of values and graph this geometric sequence with a common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−1.5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6930912" y="6777810"/>
            <a:ext cx="161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5023921" y="5188304"/>
            <a:ext cx="21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5023925" y="8602691"/>
            <a:ext cx="365100" cy="17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76400" y="7919108"/>
            <a:ext cx="393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as accurately as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9" name="Google Shape;299;p22"/>
          <p:cNvGraphicFramePr/>
          <p:nvPr/>
        </p:nvGraphicFramePr>
        <p:xfrm>
          <a:off x="484204" y="59373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{4F197D1A-A67C-465B-89DD-FF09C739AF9D}</a:tableStyleId>
              </a:tblPr>
              <a:tblGrid>
                <a:gridCol w="256475"/>
                <a:gridCol w="502300"/>
                <a:gridCol w="502300"/>
                <a:gridCol w="502300"/>
                <a:gridCol w="502300"/>
                <a:gridCol w="502300"/>
                <a:gridCol w="502300"/>
                <a:gridCol w="502300"/>
                <a:gridCol w="502300"/>
              </a:tblGrid>
              <a:tr h="38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2.56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−3.84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5.76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−8.64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12.96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−19.44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29.16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−43.74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22"/>
          <p:cNvSpPr/>
          <p:nvPr/>
        </p:nvSpPr>
        <p:spPr>
          <a:xfrm flipH="1" rot="10800000">
            <a:off x="970944" y="6650124"/>
            <a:ext cx="5163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970943" y="6938014"/>
            <a:ext cx="451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×−1.5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12214416" y="4666506"/>
            <a:ext cx="416400" cy="20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1-2024/7bfe3636-afe4-499e-b14e-e253ebfaee90&quot; data-equatio-type=&quot;desmos&quot;&gt;&lt;mglyph src=&quot;https://equatio-api.texthelp.com/desmos/get/15-01-2024/7bfe3636-afe4-499e-b14e-e253ebfaee90&quot; alt=&quot;Equatio Desmos Graph&quot;/&gt;&lt;/math&gt;" id="303" name="Google Shape;303;p22" title="Equatio Desmos Graph"/>
          <p:cNvPicPr preferRelativeResize="0"/>
          <p:nvPr/>
        </p:nvPicPr>
        <p:blipFill rotWithShape="1">
          <a:blip r:embed="rId5">
            <a:alphaModFix/>
          </a:blip>
          <a:srcRect b="0" l="6032" r="56217" t="0"/>
          <a:stretch/>
        </p:blipFill>
        <p:spPr>
          <a:xfrm>
            <a:off x="5172225" y="5214100"/>
            <a:ext cx="1733050" cy="34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22"/>
          <p:cNvGrpSpPr/>
          <p:nvPr/>
        </p:nvGrpSpPr>
        <p:grpSpPr>
          <a:xfrm>
            <a:off x="1513466" y="6673968"/>
            <a:ext cx="3132883" cy="536673"/>
            <a:chOff x="1360599" y="2025850"/>
            <a:chExt cx="3169330" cy="675825"/>
          </a:xfrm>
        </p:grpSpPr>
        <p:sp>
          <p:nvSpPr>
            <p:cNvPr id="305" name="Google Shape;305;p22"/>
            <p:cNvSpPr/>
            <p:nvPr/>
          </p:nvSpPr>
          <p:spPr>
            <a:xfrm flipH="1" rot="10800000">
              <a:off x="1360599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306" name="Google Shape;306;p22"/>
            <p:cNvSpPr/>
            <p:nvPr/>
          </p:nvSpPr>
          <p:spPr>
            <a:xfrm flipH="1" rot="10800000">
              <a:off x="1886590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22"/>
            <p:cNvSpPr/>
            <p:nvPr/>
          </p:nvSpPr>
          <p:spPr>
            <a:xfrm flipH="1" rot="10800000">
              <a:off x="2417308" y="2025850"/>
              <a:ext cx="507600" cy="358800"/>
            </a:xfrm>
            <a:prstGeom prst="arc">
              <a:avLst>
                <a:gd fmla="val 10729459" name="adj1"/>
                <a:gd fmla="val 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</p:txBody>
        </p:sp>
        <p:grpSp>
          <p:nvGrpSpPr>
            <p:cNvPr id="308" name="Google Shape;308;p22"/>
            <p:cNvGrpSpPr/>
            <p:nvPr/>
          </p:nvGrpSpPr>
          <p:grpSpPr>
            <a:xfrm>
              <a:off x="2949377" y="2025850"/>
              <a:ext cx="1564395" cy="358800"/>
              <a:chOff x="1120239" y="2330722"/>
              <a:chExt cx="2482378" cy="358800"/>
            </a:xfrm>
          </p:grpSpPr>
          <p:sp>
            <p:nvSpPr>
              <p:cNvPr id="309" name="Google Shape;309;p22"/>
              <p:cNvSpPr/>
              <p:nvPr/>
            </p:nvSpPr>
            <p:spPr>
              <a:xfrm flipH="1" rot="10800000">
                <a:off x="112023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310" name="Google Shape;310;p22"/>
              <p:cNvSpPr/>
              <p:nvPr/>
            </p:nvSpPr>
            <p:spPr>
              <a:xfrm flipH="1" rot="10800000">
                <a:off x="1962429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311" name="Google Shape;311;p22"/>
              <p:cNvSpPr/>
              <p:nvPr/>
            </p:nvSpPr>
            <p:spPr>
              <a:xfrm flipH="1" rot="10800000">
                <a:off x="2797117" y="2330722"/>
                <a:ext cx="805500" cy="358800"/>
              </a:xfrm>
              <a:prstGeom prst="arc">
                <a:avLst>
                  <a:gd fmla="val 10729459" name="adj1"/>
                  <a:gd fmla="val 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12" name="Google Shape;312;p22"/>
            <p:cNvSpPr txBox="1"/>
            <p:nvPr/>
          </p:nvSpPr>
          <p:spPr>
            <a:xfrm>
              <a:off x="1376615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1920640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2456856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2988333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p22"/>
            <p:cNvSpPr txBox="1"/>
            <p:nvPr/>
          </p:nvSpPr>
          <p:spPr>
            <a:xfrm>
              <a:off x="3532357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p22"/>
            <p:cNvSpPr txBox="1"/>
            <p:nvPr/>
          </p:nvSpPr>
          <p:spPr>
            <a:xfrm>
              <a:off x="4088930" y="2378275"/>
              <a:ext cx="441000" cy="3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×−1.5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8" name="Google Shape;318;p22"/>
          <p:cNvSpPr txBox="1"/>
          <p:nvPr/>
        </p:nvSpPr>
        <p:spPr>
          <a:xfrm flipH="1" rot="-2180">
            <a:off x="467700" y="8215023"/>
            <a:ext cx="3312301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Negative common ratio giving us oscillating terms with the positive ones forming a curve and the negative ones forming a curve.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2"/>
          <p:cNvSpPr/>
          <p:nvPr/>
        </p:nvSpPr>
        <p:spPr>
          <a:xfrm flipH="1" rot="10800000">
            <a:off x="1881845" y="2159210"/>
            <a:ext cx="5769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320" name="Google Shape;320;p22" title="time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360" y="2476907"/>
            <a:ext cx="204315" cy="31555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2"/>
          <p:cNvSpPr/>
          <p:nvPr/>
        </p:nvSpPr>
        <p:spPr>
          <a:xfrm flipH="1" rot="10800000">
            <a:off x="2567645" y="2159210"/>
            <a:ext cx="5769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322" name="Google Shape;322;p22" title="time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160" y="2476907"/>
            <a:ext cx="204315" cy="31555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2"/>
          <p:cNvSpPr/>
          <p:nvPr/>
        </p:nvSpPr>
        <p:spPr>
          <a:xfrm flipH="1" rot="10800000">
            <a:off x="3253445" y="2159210"/>
            <a:ext cx="5769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324" name="Google Shape;324;p22" title="time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3960" y="2476907"/>
            <a:ext cx="204315" cy="31555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 flipH="1" rot="-1797">
            <a:off x="534150" y="3847125"/>
            <a:ext cx="34434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Common ratio between 0 and 1 giving us a downward curve slightly less steep than our    curve.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326" name="Google Shape;326;p22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9500" y="3991259"/>
            <a:ext cx="95350" cy="315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5-01-2024/b7b8f287-7712-49d2-90e9-bb8461f33282&quot; data-equatio-type=&quot;desmos&quot;&gt;&lt;mglyph src=&quot;https://equatio-api.texthelp.com/desmos/get/15-01-2024/b7b8f287-7712-49d2-90e9-bb8461f33282&quot; alt=&quot;Equatio Desmos Graph&quot;/&gt;&lt;/math&gt;" id="327" name="Google Shape;327;p22" title="Equatio Desmos Graph"/>
          <p:cNvPicPr preferRelativeResize="0"/>
          <p:nvPr/>
        </p:nvPicPr>
        <p:blipFill rotWithShape="1">
          <a:blip r:embed="rId7">
            <a:alphaModFix/>
          </a:blip>
          <a:srcRect b="1263" l="3344" r="57991" t="0"/>
          <a:stretch/>
        </p:blipFill>
        <p:spPr>
          <a:xfrm>
            <a:off x="5139900" y="864000"/>
            <a:ext cx="1733050" cy="33191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22"/>
          <p:cNvCxnSpPr/>
          <p:nvPr/>
        </p:nvCxnSpPr>
        <p:spPr>
          <a:xfrm>
            <a:off x="474757" y="96251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