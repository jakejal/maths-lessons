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7560000" cy="10692000"/>
  <p:notesSz cx="6858000" cy="9144000"/>
  <p:embeddedFontLst>
    <p:embeddedFont>
      <p:font typeface="Lexend" panose="00000000000000000000"/>
      <p:regular r:id="rId9"/>
    </p:embeddedFont>
    <p:embeddedFont>
      <p:font typeface="Kalam" panose="02000000000000000000"/>
      <p:regular r:id="rId10"/>
    </p:embeddedFont>
    <p:embeddedFont>
      <p:font typeface="Lexend Medium" panose="00000000000000000000"/>
      <p:regular r:id="rId11"/>
    </p:embeddedFont>
    <p:embeddedFont>
      <p:font typeface="Lexend Light" panose="00000000000000000000"/>
      <p:regular r:id="rId12"/>
    </p:embeddedFont>
  </p:embeddedFontLst>
  <p:custDataLst>
    <p:tags r:id="rId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C0D2FBE-7223-4778-A89E-AF74DB8CD6E7}">
  <a:tblStyle styleId="{4C0D2FBE-7223-4778-A89E-AF74DB8CD6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2.fntdata" /><Relationship Id="rId11" Type="http://schemas.openxmlformats.org/officeDocument/2006/relationships/font" Target="fonts/font3.fntdata" /><Relationship Id="rId12" Type="http://schemas.openxmlformats.org/officeDocument/2006/relationships/font" Target="fonts/font4.fntdata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font" Target="fonts/font1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g1efb2ce7ecb_0_28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efb2ce7ecb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7" name="Shape 227"/>
        <p:cNvGrpSpPr/>
        <p:nvPr/>
      </p:nvGrpSpPr>
      <p:grpSpPr>
        <a:xfrm>
          <a:off x="0" y="0"/>
          <a:ext cx="0" cy="0"/>
        </a:xfrm>
      </p:grpSpPr>
      <p:sp>
        <p:nvSpPr>
          <p:cNvPr id="228" name="Google Shape;228;g1efb2ce7ecb_0_5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efb2ce7ecb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Relationship Id="rId6" Type="http://schemas.openxmlformats.org/officeDocument/2006/relationships/image" Target="../media/image15.png" /><Relationship Id="rId7" Type="http://schemas.openxmlformats.org/officeDocument/2006/relationships/image" Target="../media/image16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special number sequences using technology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1777937" y="3710713"/>
            <a:ext cx="31014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 has plotted the correct lines and looked for the intersection point.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18512" y="1335050"/>
            <a:ext cx="53583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Plotting sequences using Desmos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29900" y="1897548"/>
            <a:ext cx="6438600" cy="18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 wants to know if −10 is in the sequence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100 − 3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910" y="3002159"/>
            <a:ext cx="1152393" cy="1265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48700" y="4144137"/>
            <a:ext cx="10782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>
            <a:off x="926745" y="2079527"/>
            <a:ext cx="3466713" cy="1394478"/>
            <a:chOff x="1807233" y="1612129"/>
            <a:chExt cx="2238177" cy="1011151"/>
          </a:xfrm>
        </p:grpSpPr>
        <p:pic>
          <p:nvPicPr>
            <p:cNvPr id="179" name="Google Shape;179;p20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33" y="1612129"/>
              <a:ext cx="2238177" cy="1011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0"/>
            <p:cNvSpPr txBox="1"/>
            <p:nvPr/>
          </p:nvSpPr>
          <p:spPr>
            <a:xfrm flipH="1">
              <a:off x="1968540" y="1771134"/>
              <a:ext cx="19872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 have plotted the lines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100 − 3</a:t>
              </a:r>
              <a:r>
                <a:rPr lang="en-GB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n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and  </a:t>
              </a:r>
              <a:r>
                <a:rPr lang="en-GB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= −10</a:t>
              </a: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.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They intersect so −10 is a term in the sequence</a:t>
              </a: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100 − 3</a:t>
              </a:r>
              <a:r>
                <a:rPr lang="en-GB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n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1" name="Google Shape;181;p20"/>
          <p:cNvSpPr txBox="1"/>
          <p:nvPr/>
        </p:nvSpPr>
        <p:spPr>
          <a:xfrm>
            <a:off x="1767873" y="3454930"/>
            <a:ext cx="31014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has Lucas done correctly?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767873" y="4317403"/>
            <a:ext cx="49536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to Lucas what mistake he has made.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5600" y="2228350"/>
            <a:ext cx="2033300" cy="192326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4" name="Google Shape;184;p20"/>
          <p:cNvSpPr txBox="1"/>
          <p:nvPr/>
        </p:nvSpPr>
        <p:spPr>
          <a:xfrm>
            <a:off x="529910" y="4563202"/>
            <a:ext cx="66405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 be in the sequence,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coordinate has to be an integer. This coordinate shows −10 is between the 36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37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term but is not in the sequence.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6400" y="57123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2) Use Desmos to match these sequences to their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rules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76400" y="6125300"/>
            <a:ext cx="32835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Geometric sequence with first five terms: 2, 4, 8, 16, 32,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76400" y="6725765"/>
            <a:ext cx="33312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Geometric sequence with first five terms: 8, 16, 32, 64, 128,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76400" y="7326250"/>
            <a:ext cx="32835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Geometric sequence with first five terms: 6, 12, 24, 48, 96,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76400" y="7926715"/>
            <a:ext cx="32835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Geometric sequence with first five terms: 6, 18, 54, 162, 486,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76400" y="8527200"/>
            <a:ext cx="32835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Geometric sequence with first five terms: 12, 36, 108, 324, 972,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247012" y="6125290"/>
            <a:ext cx="1821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3</a:t>
            </a:r>
            <a:r>
              <a:rPr lang="en-GB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247012" y="6738020"/>
            <a:ext cx="1821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2</a:t>
            </a:r>
            <a:r>
              <a:rPr lang="en-GB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247012" y="7350750"/>
            <a:ext cx="1821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3</a:t>
            </a:r>
            <a:r>
              <a:rPr lang="en-GB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247012" y="7902208"/>
            <a:ext cx="1821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247012" y="8514938"/>
            <a:ext cx="1821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 + 2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6" name="Google Shape;196;p20"/>
          <p:cNvCxnSpPr>
            <a:stCxn id="186" idx="3"/>
            <a:endCxn id="194" idx="1"/>
          </p:cNvCxnSpPr>
          <p:nvPr/>
        </p:nvCxnSpPr>
        <p:spPr>
          <a:xfrm>
            <a:off x="3759900" y="6308750"/>
            <a:ext cx="1487100" cy="1776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0"/>
          <p:cNvCxnSpPr>
            <a:stCxn id="187" idx="3"/>
            <a:endCxn id="195" idx="1"/>
          </p:cNvCxnSpPr>
          <p:nvPr/>
        </p:nvCxnSpPr>
        <p:spPr>
          <a:xfrm>
            <a:off x="3807600" y="6909215"/>
            <a:ext cx="1439400" cy="178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0"/>
          <p:cNvCxnSpPr>
            <a:stCxn id="188" idx="3"/>
            <a:endCxn id="192" idx="1"/>
          </p:cNvCxnSpPr>
          <p:nvPr/>
        </p:nvCxnSpPr>
        <p:spPr>
          <a:xfrm rot="10800000" flipH="1">
            <a:off x="3759900" y="6921400"/>
            <a:ext cx="1487100" cy="588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20"/>
          <p:cNvCxnSpPr>
            <a:stCxn id="189" idx="3"/>
            <a:endCxn id="193" idx="1"/>
          </p:cNvCxnSpPr>
          <p:nvPr/>
        </p:nvCxnSpPr>
        <p:spPr>
          <a:xfrm rot="10800000" flipH="1">
            <a:off x="3759900" y="7534165"/>
            <a:ext cx="1487100" cy="576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0"/>
          <p:cNvCxnSpPr>
            <a:stCxn id="190" idx="3"/>
            <a:endCxn id="191" idx="1"/>
          </p:cNvCxnSpPr>
          <p:nvPr/>
        </p:nvCxnSpPr>
        <p:spPr>
          <a:xfrm rot="10800000" flipH="1">
            <a:off x="3759900" y="6308850"/>
            <a:ext cx="1487100" cy="2401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special number sequences using technology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76400" y="7593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3) Use graphing software to help with the following questions.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76400" y="1206638"/>
            <a:ext cx="46518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Is the number 30 in this sequence?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" name="Google Shape;208;p21"/>
          <p:cNvGraphicFramePr>
            <a:graphicFrameLocks noGrp="1"/>
          </p:cNvGraphicFramePr>
          <p:nvPr/>
        </p:nvGraphicFramePr>
        <p:xfrm>
          <a:off x="3774824" y="10726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{4C0D2FBE-7223-4778-A89E-AF74DB8CD6E7}</a:tableStyleId>
              </a:tblPr>
              <a:tblGrid>
                <a:gridCol w="1075025"/>
                <a:gridCol w="350450"/>
                <a:gridCol w="350450"/>
                <a:gridCol w="350450"/>
                <a:gridCol w="350450"/>
                <a:gridCol w="840350"/>
              </a:tblGrid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−1.5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0.6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2.7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4.8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2.1</a:t>
                      </a: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r>
                        <a:rPr lang="en-GB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3.6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9" name="Google Shape;209;p21"/>
          <p:cNvSpPr txBox="1"/>
          <p:nvPr/>
        </p:nvSpPr>
        <p:spPr>
          <a:xfrm>
            <a:off x="476400" y="2121050"/>
            <a:ext cx="46518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Is the number 2044 in this sequence?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76400" y="3035450"/>
            <a:ext cx="46518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Is the number 1280 in this sequence?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76400" y="3949850"/>
            <a:ext cx="46518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Is the number 4004 in this sequence?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2" name="Google Shape;212;p21"/>
          <p:cNvGraphicFramePr>
            <a:graphicFrameLocks noGrp="1"/>
          </p:cNvGraphicFramePr>
          <p:nvPr/>
        </p:nvGraphicFramePr>
        <p:xfrm>
          <a:off x="3774824" y="1987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{4C0D2FBE-7223-4778-A89E-AF74DB8CD6E7}</a:tableStyleId>
              </a:tblPr>
              <a:tblGrid>
                <a:gridCol w="1075025"/>
                <a:gridCol w="349925"/>
                <a:gridCol w="349925"/>
                <a:gridCol w="349925"/>
                <a:gridCol w="349925"/>
                <a:gridCol w="842475"/>
              </a:tblGrid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72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216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 </a:t>
                      </a:r>
                      <a:r>
                        <a:rPr lang="en-GB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r>
                        <a:rPr lang="en-GB" i="1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3" name="Google Shape;213;p21"/>
          <p:cNvGraphicFramePr>
            <a:graphicFrameLocks noGrp="1"/>
          </p:cNvGraphicFramePr>
          <p:nvPr/>
        </p:nvGraphicFramePr>
        <p:xfrm>
          <a:off x="3774824" y="29014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{4C0D2FBE-7223-4778-A89E-AF74DB8CD6E7}</a:tableStyleId>
              </a:tblPr>
              <a:tblGrid>
                <a:gridCol w="1075025"/>
                <a:gridCol w="350450"/>
                <a:gridCol w="350450"/>
                <a:gridCol w="350450"/>
                <a:gridCol w="350450"/>
                <a:gridCol w="840350"/>
              </a:tblGrid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 </a:t>
                      </a:r>
                      <a:r>
                        <a:rPr lang="en-GB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</a:t>
                      </a:r>
                      <a:r>
                        <a:rPr lang="en-GB" i="1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4" name="Google Shape;214;p21"/>
          <p:cNvGraphicFramePr>
            <a:graphicFrameLocks noGrp="1"/>
          </p:cNvGraphicFramePr>
          <p:nvPr/>
        </p:nvGraphicFramePr>
        <p:xfrm>
          <a:off x="3774824" y="38158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{4C0D2FBE-7223-4778-A89E-AF74DB8CD6E7}</a:tableStyleId>
              </a:tblPr>
              <a:tblGrid>
                <a:gridCol w="1075025"/>
                <a:gridCol w="350450"/>
                <a:gridCol w="350450"/>
                <a:gridCol w="350450"/>
                <a:gridCol w="414925"/>
                <a:gridCol w="775875"/>
              </a:tblGrid>
              <a:tr h="315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64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256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i="1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21"/>
          <p:cNvSpPr txBox="1"/>
          <p:nvPr/>
        </p:nvSpPr>
        <p:spPr>
          <a:xfrm>
            <a:off x="476400" y="1527775"/>
            <a:ext cx="2943600" cy="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 the 16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term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76400" y="2361925"/>
            <a:ext cx="2943600" cy="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between the 6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7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term 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76400" y="3341600"/>
            <a:ext cx="29436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 the 8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term 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76400" y="4256375"/>
            <a:ext cx="29436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between the 5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6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term 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9" name="Google Shape;219;p21"/>
          <p:cNvCxnSpPr/>
          <p:nvPr/>
        </p:nvCxnSpPr>
        <p:spPr>
          <a:xfrm>
            <a:off x="478957" y="47451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" name="Google Shape;220;p21"/>
          <p:cNvSpPr txBox="1"/>
          <p:nvPr/>
        </p:nvSpPr>
        <p:spPr>
          <a:xfrm>
            <a:off x="468001" y="4840250"/>
            <a:ext cx="6436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Exploring special number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76404" y="5265347"/>
            <a:ext cx="66105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1a) Plot the first 20 points of the sequences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2" name="Google Shape;2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1024" y="5580905"/>
            <a:ext cx="2492928" cy="16760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3" name="Google Shape;2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400" y="5580900"/>
            <a:ext cx="2295949" cy="167607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4" name="Google Shape;224;p21"/>
          <p:cNvSpPr txBox="1"/>
          <p:nvPr/>
        </p:nvSpPr>
        <p:spPr>
          <a:xfrm>
            <a:off x="474750" y="7502975"/>
            <a:ext cx="66105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Two of the sequences have the same first term, which two?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 i="1" baseline="30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is happening at the coordinate (2,4) what does this mean about the sequences?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All three sequences have a second term of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Which sequence is increasing at the fastest rate? 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Find four numbers which are in the sequence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all numbers in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 also in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so 2, 4, 8, 16, 32, 64, 128,.....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What is the 15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in the sequence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32 768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5786100" y="5880650"/>
            <a:ext cx="13059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2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Adding the curves in may help see key features of these sequences</a:t>
            </a:r>
            <a:endParaRPr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0" name="Shape 230"/>
        <p:cNvGrpSpPr/>
        <p:nvPr/>
      </p:nvGrpSpPr>
      <p:grpSpPr>
        <a:xfrm>
          <a:off x="0" y="0"/>
          <a:ext cx="0" cy="0"/>
        </a:xfrm>
      </p:grpSpPr>
      <p:sp>
        <p:nvSpPr>
          <p:cNvPr id="231" name="Google Shape;231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Graphing special number sequences using technology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476400" y="7593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 Plot the first 20 points of the sequences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 +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" name="Google Shape;2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3668" y="1204875"/>
            <a:ext cx="2504932" cy="15823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4" name="Google Shape;2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325" y="1204875"/>
            <a:ext cx="2297662" cy="158237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5" name="Google Shape;235;p22"/>
          <p:cNvSpPr txBox="1"/>
          <p:nvPr/>
        </p:nvSpPr>
        <p:spPr>
          <a:xfrm>
            <a:off x="5786100" y="1384850"/>
            <a:ext cx="1305900" cy="1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2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Adding the curves in may help see key features of these sequences</a:t>
            </a:r>
            <a:endParaRPr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76400" y="2969100"/>
            <a:ext cx="6615600" cy="3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sequence has the smallest 1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	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sequence has the smallest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term?	</a:t>
            </a: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Which sequence has the largest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term?	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What do you notice about the sequences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 +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baseline="30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2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may have said: they are reflections of each other, the terms 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 +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 always larger than the terms 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476400" y="5550658"/>
            <a:ext cx="6414600" cy="30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The sequence of all triangular numbers has the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rule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the first 20 terms.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19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triangular number?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geometric sequence which starts 1, 2, 4, 8,... has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rule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at what term number does this sequence overtake the triangular numbers?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Which is larger the 8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in the sequence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or the 16</a:t>
            </a:r>
            <a:r>
              <a:rPr lang="en-GB" sz="1200" baseline="30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triangular number.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" name="Google Shape;238;p22" descr="&lt;math xmlns=&quot;http://www.w3.org/1998/Math/MathML&quot; display=&quot;block&quot; data-is-equatio=&quot;1&quot; data-latex=&quot;\frac{n\left(n+1\right)}{2}&quot;&gt;&lt;mfrac&gt;&lt;mrow&gt;&lt;mi&gt;n&lt;/mi&gt;&lt;mrow data-mjx-texclass=&quot;INNER&quot;&gt;&lt;mo data-mjx-texclass=&quot;OPEN&quot;&gt;(&lt;/mo&gt;&lt;mi&gt;n&lt;/mi&gt;&lt;mo&gt;+&lt;/mo&gt;&lt;mn&gt;1&lt;/mn&gt;&lt;mo data-mjx-texclass=&quot;CLOSE&quot;&gt;)&lt;/mo&gt;&lt;/mrow&gt;&lt;/mrow&gt;&lt;mn&gt;2&lt;/mn&gt;&lt;/mfrac&gt;&lt;/math&gt;" title="n times open paren n plus 1 close paren over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0975" y="5518124"/>
            <a:ext cx="513918" cy="29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7075" y="5929923"/>
            <a:ext cx="1632913" cy="148344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0" name="Google Shape;24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40043" y="5929923"/>
            <a:ext cx="2187063" cy="148344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1" name="Google Shape;241;p22"/>
          <p:cNvSpPr txBox="1"/>
          <p:nvPr/>
        </p:nvSpPr>
        <p:spPr>
          <a:xfrm>
            <a:off x="721350" y="7902933"/>
            <a:ext cx="2235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2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190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690318" y="8870514"/>
            <a:ext cx="2235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Term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1339" y="9553786"/>
            <a:ext cx="38793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2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16</a:t>
            </a:r>
            <a:r>
              <a:rPr lang="en-GB" sz="1200" baseline="30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triangular number (136 &gt; 128)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8" name="Shape 248"/>
        <p:cNvGrpSpPr/>
        <p:nvPr/>
      </p:nvGrpSpPr>
      <p:grpSpPr>
        <a:xfrm>
          <a:off x="0" y="0"/>
          <a:ext cx="0" cy="0"/>
        </a:xfrm>
      </p:grpSpPr>
      <p:sp>
        <p:nvSpPr>
          <p:cNvPr id="249" name="Google Shape;249;p2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250" name="Google Shape;250;p23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special number sequences using technology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76400" y="759300"/>
            <a:ext cx="4244100" cy="23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4a) A sequence starts 1, 3, 4, … the next term is found by adding the two previous terms together. Plot the first 10 terms of this sequence.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different sequence starts 1, −3,  … the next term is found by adding the two previous terms together. Plot the first 10 terms of this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does the shape of the graph of this sequence differ to the previous one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2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4" name="Google Shape;2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105" y="777968"/>
            <a:ext cx="2068115" cy="220749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5" name="Google Shape;255;p23"/>
          <p:cNvSpPr txBox="1"/>
          <p:nvPr/>
        </p:nvSpPr>
        <p:spPr>
          <a:xfrm>
            <a:off x="476400" y="3030103"/>
            <a:ext cx="66156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2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After the 3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term the graph is decreasing. After the first few terms both graphs become curves, the second graph has a general curve shape like the previous one but with a noticeable ‘dip’ at term 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67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2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Graphing special number sequences using technology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2024-02-06T11:22:35.999</cp:lastPrinted>
  <dcterms:created xsi:type="dcterms:W3CDTF">2024-02-06T11:22:35Z</dcterms:created>
  <dcterms:modified xsi:type="dcterms:W3CDTF">2024-02-06T11:22:47Z</dcterms:modified>
</cp:coreProperties>
</file>