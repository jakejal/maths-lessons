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CAEAE3-CF4D-405B-8A84-91F447B521C0}">
  <a:tblStyle styleId="{DDCAEAE3-CF4D-405B-8A84-91F447B521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dcab1a075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dcab1a075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ac3a42e7a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ac3a42e7a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ac3a42e7a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ac3a42e7a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adcab1a075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adcab1a075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dcab1a075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dcab1a075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adcab1a075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adcab1a075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adcab1a075_1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adcab1a075_1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adcab1a075_1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adcab1a075_1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adcab1a075_1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adcab1a075_1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adcab1a075_1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adcab1a075_1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adcab1a075_1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adcab1a075_1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ac3a42e7a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ac3a42e7a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adcab1a075_1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adcab1a075_1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adcab1a075_1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adcab1a075_1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adcab1a075_1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adcab1a075_1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adcab1a075_1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adcab1a075_1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ae2044729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ae2044729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ac3a42e7a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ac3a42e7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ac3a42e7a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ac3a42e7a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ae2044729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ae2044729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ae20447292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ae20447292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ae20447292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ae20447292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ae20447292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ae2044729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ae20447292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ae20447292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ae20447292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ae20447292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ae20447292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ae20447292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ae20447292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ae20447292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ae20447292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ae20447292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ae20447292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ae20447292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ac3a42e7a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ac3a42e7a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ac3a42e7a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ac3a42e7a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ae20447292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ae20447292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ae20447292_1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ae20447292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ae20447292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ae20447292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ae20447292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ae20447292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ae20447292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ae20447292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ae20447292_1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ae20447292_1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ae20447292_1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ae20447292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ae20447292_1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ae20447292_1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ae20447292_1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ae20447292_1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61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1.png"/><Relationship Id="rId4" Type="http://schemas.openxmlformats.org/officeDocument/2006/relationships/image" Target="../media/image33.png"/><Relationship Id="rId11" Type="http://schemas.openxmlformats.org/officeDocument/2006/relationships/image" Target="../media/image23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8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6.png"/><Relationship Id="rId6" Type="http://schemas.openxmlformats.org/officeDocument/2006/relationships/image" Target="../media/image65.png"/><Relationship Id="rId7" Type="http://schemas.openxmlformats.org/officeDocument/2006/relationships/image" Target="../media/image43.png"/><Relationship Id="rId8" Type="http://schemas.openxmlformats.org/officeDocument/2006/relationships/image" Target="../media/image6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69.png"/><Relationship Id="rId5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1.png"/><Relationship Id="rId4" Type="http://schemas.openxmlformats.org/officeDocument/2006/relationships/image" Target="../media/image52.png"/><Relationship Id="rId5" Type="http://schemas.openxmlformats.org/officeDocument/2006/relationships/image" Target="../media/image7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1.png"/><Relationship Id="rId4" Type="http://schemas.openxmlformats.org/officeDocument/2006/relationships/image" Target="../media/image52.png"/><Relationship Id="rId5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5.png"/><Relationship Id="rId4" Type="http://schemas.openxmlformats.org/officeDocument/2006/relationships/image" Target="../media/image52.png"/><Relationship Id="rId5" Type="http://schemas.openxmlformats.org/officeDocument/2006/relationships/image" Target="../media/image7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Relationship Id="rId5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6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78.png"/><Relationship Id="rId7" Type="http://schemas.openxmlformats.org/officeDocument/2006/relationships/image" Target="../media/image8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7.png"/><Relationship Id="rId4" Type="http://schemas.openxmlformats.org/officeDocument/2006/relationships/image" Target="../media/image8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75.png"/><Relationship Id="rId6" Type="http://schemas.openxmlformats.org/officeDocument/2006/relationships/image" Target="../media/image8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6.png"/><Relationship Id="rId4" Type="http://schemas.openxmlformats.org/officeDocument/2006/relationships/image" Target="../media/image84.png"/><Relationship Id="rId5" Type="http://schemas.openxmlformats.org/officeDocument/2006/relationships/image" Target="../media/image52.png"/><Relationship Id="rId6" Type="http://schemas.openxmlformats.org/officeDocument/2006/relationships/image" Target="../media/image9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9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92.png"/><Relationship Id="rId5" Type="http://schemas.openxmlformats.org/officeDocument/2006/relationships/image" Target="../media/image8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3.png"/><Relationship Id="rId4" Type="http://schemas.openxmlformats.org/officeDocument/2006/relationships/image" Target="../media/image10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9.png"/><Relationship Id="rId4" Type="http://schemas.openxmlformats.org/officeDocument/2006/relationships/image" Target="../media/image9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2.png"/><Relationship Id="rId4" Type="http://schemas.openxmlformats.org/officeDocument/2006/relationships/image" Target="../media/image98.png"/><Relationship Id="rId5" Type="http://schemas.openxmlformats.org/officeDocument/2006/relationships/image" Target="../media/image9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special number sequences using technology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Non-linear relationships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plot the graph of a special number sequence.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993650"/>
            <a:ext cx="80709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A triangular number (or triangle number) is a number that can be represented by a pattern of dots arranged into a triangle. The term number is the number of dots in any side of the triangle.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71" name="Google Shape;771;p66"/>
          <p:cNvSpPr/>
          <p:nvPr/>
        </p:nvSpPr>
        <p:spPr>
          <a:xfrm>
            <a:off x="1086000" y="3314198"/>
            <a:ext cx="195600" cy="196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2" name="Google Shape;772;p66"/>
          <p:cNvGrpSpPr/>
          <p:nvPr/>
        </p:nvGrpSpPr>
        <p:grpSpPr>
          <a:xfrm>
            <a:off x="1950594" y="3064798"/>
            <a:ext cx="443549" cy="445599"/>
            <a:chOff x="1188594" y="2074198"/>
            <a:chExt cx="443549" cy="445599"/>
          </a:xfrm>
        </p:grpSpPr>
        <p:sp>
          <p:nvSpPr>
            <p:cNvPr id="773" name="Google Shape;773;p66"/>
            <p:cNvSpPr/>
            <p:nvPr/>
          </p:nvSpPr>
          <p:spPr>
            <a:xfrm>
              <a:off x="1188594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6"/>
            <p:cNvSpPr/>
            <p:nvPr/>
          </p:nvSpPr>
          <p:spPr>
            <a:xfrm>
              <a:off x="1436542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6"/>
            <p:cNvSpPr/>
            <p:nvPr/>
          </p:nvSpPr>
          <p:spPr>
            <a:xfrm>
              <a:off x="1188594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6" name="Google Shape;776;p66"/>
          <p:cNvGrpSpPr/>
          <p:nvPr/>
        </p:nvGrpSpPr>
        <p:grpSpPr>
          <a:xfrm>
            <a:off x="3107688" y="2815399"/>
            <a:ext cx="691497" cy="694999"/>
            <a:chOff x="2345688" y="1824799"/>
            <a:chExt cx="691497" cy="694999"/>
          </a:xfrm>
        </p:grpSpPr>
        <p:sp>
          <p:nvSpPr>
            <p:cNvPr id="777" name="Google Shape;777;p66"/>
            <p:cNvSpPr/>
            <p:nvPr/>
          </p:nvSpPr>
          <p:spPr>
            <a:xfrm>
              <a:off x="2345688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6"/>
            <p:cNvSpPr/>
            <p:nvPr/>
          </p:nvSpPr>
          <p:spPr>
            <a:xfrm>
              <a:off x="2593637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6"/>
            <p:cNvSpPr/>
            <p:nvPr/>
          </p:nvSpPr>
          <p:spPr>
            <a:xfrm>
              <a:off x="2841585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6"/>
            <p:cNvSpPr/>
            <p:nvPr/>
          </p:nvSpPr>
          <p:spPr>
            <a:xfrm>
              <a:off x="2345688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6"/>
            <p:cNvSpPr/>
            <p:nvPr/>
          </p:nvSpPr>
          <p:spPr>
            <a:xfrm>
              <a:off x="2593637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6"/>
            <p:cNvSpPr/>
            <p:nvPr/>
          </p:nvSpPr>
          <p:spPr>
            <a:xfrm>
              <a:off x="2345688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3" name="Google Shape;783;p66"/>
          <p:cNvSpPr txBox="1"/>
          <p:nvPr/>
        </p:nvSpPr>
        <p:spPr>
          <a:xfrm>
            <a:off x="1086000" y="3633675"/>
            <a:ext cx="1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6"/>
          <p:cNvSpPr txBox="1"/>
          <p:nvPr/>
        </p:nvSpPr>
        <p:spPr>
          <a:xfrm>
            <a:off x="2076600" y="3633675"/>
            <a:ext cx="1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6"/>
          <p:cNvSpPr txBox="1"/>
          <p:nvPr/>
        </p:nvSpPr>
        <p:spPr>
          <a:xfrm>
            <a:off x="3372000" y="3633675"/>
            <a:ext cx="195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6" name="Google Shape;786;p66"/>
          <p:cNvGrpSpPr/>
          <p:nvPr/>
        </p:nvGrpSpPr>
        <p:grpSpPr>
          <a:xfrm>
            <a:off x="4631410" y="2565999"/>
            <a:ext cx="940782" cy="944398"/>
            <a:chOff x="3869410" y="1575399"/>
            <a:chExt cx="940782" cy="944398"/>
          </a:xfrm>
        </p:grpSpPr>
        <p:sp>
          <p:nvSpPr>
            <p:cNvPr id="787" name="Google Shape;787;p66"/>
            <p:cNvSpPr/>
            <p:nvPr/>
          </p:nvSpPr>
          <p:spPr>
            <a:xfrm>
              <a:off x="3870746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6"/>
            <p:cNvSpPr/>
            <p:nvPr/>
          </p:nvSpPr>
          <p:spPr>
            <a:xfrm>
              <a:off x="4118695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6"/>
            <p:cNvSpPr/>
            <p:nvPr/>
          </p:nvSpPr>
          <p:spPr>
            <a:xfrm>
              <a:off x="4366644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6"/>
            <p:cNvSpPr/>
            <p:nvPr/>
          </p:nvSpPr>
          <p:spPr>
            <a:xfrm>
              <a:off x="4614592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6"/>
            <p:cNvSpPr/>
            <p:nvPr/>
          </p:nvSpPr>
          <p:spPr>
            <a:xfrm>
              <a:off x="3869410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6"/>
            <p:cNvSpPr/>
            <p:nvPr/>
          </p:nvSpPr>
          <p:spPr>
            <a:xfrm>
              <a:off x="4117359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6"/>
            <p:cNvSpPr/>
            <p:nvPr/>
          </p:nvSpPr>
          <p:spPr>
            <a:xfrm>
              <a:off x="4365307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6"/>
            <p:cNvSpPr/>
            <p:nvPr/>
          </p:nvSpPr>
          <p:spPr>
            <a:xfrm>
              <a:off x="3869410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6"/>
            <p:cNvSpPr/>
            <p:nvPr/>
          </p:nvSpPr>
          <p:spPr>
            <a:xfrm>
              <a:off x="4117359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6"/>
            <p:cNvSpPr/>
            <p:nvPr/>
          </p:nvSpPr>
          <p:spPr>
            <a:xfrm>
              <a:off x="3869410" y="15753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7" name="Google Shape;797;p66"/>
          <p:cNvGrpSpPr/>
          <p:nvPr/>
        </p:nvGrpSpPr>
        <p:grpSpPr>
          <a:xfrm>
            <a:off x="6343741" y="2316600"/>
            <a:ext cx="1187935" cy="1193798"/>
            <a:chOff x="5581741" y="1326000"/>
            <a:chExt cx="1187935" cy="1193798"/>
          </a:xfrm>
        </p:grpSpPr>
        <p:sp>
          <p:nvSpPr>
            <p:cNvPr id="798" name="Google Shape;798;p66"/>
            <p:cNvSpPr/>
            <p:nvPr/>
          </p:nvSpPr>
          <p:spPr>
            <a:xfrm>
              <a:off x="5581741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6"/>
            <p:cNvSpPr/>
            <p:nvPr/>
          </p:nvSpPr>
          <p:spPr>
            <a:xfrm>
              <a:off x="5830230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6"/>
            <p:cNvSpPr/>
            <p:nvPr/>
          </p:nvSpPr>
          <p:spPr>
            <a:xfrm>
              <a:off x="6077639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6"/>
            <p:cNvSpPr/>
            <p:nvPr/>
          </p:nvSpPr>
          <p:spPr>
            <a:xfrm>
              <a:off x="6326127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6"/>
            <p:cNvSpPr/>
            <p:nvPr/>
          </p:nvSpPr>
          <p:spPr>
            <a:xfrm>
              <a:off x="6574076" y="23235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6"/>
            <p:cNvSpPr/>
            <p:nvPr/>
          </p:nvSpPr>
          <p:spPr>
            <a:xfrm>
              <a:off x="5581741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6"/>
            <p:cNvSpPr/>
            <p:nvPr/>
          </p:nvSpPr>
          <p:spPr>
            <a:xfrm>
              <a:off x="5831026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6"/>
            <p:cNvSpPr/>
            <p:nvPr/>
          </p:nvSpPr>
          <p:spPr>
            <a:xfrm>
              <a:off x="6077639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6"/>
            <p:cNvSpPr/>
            <p:nvPr/>
          </p:nvSpPr>
          <p:spPr>
            <a:xfrm>
              <a:off x="6326923" y="2074198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6"/>
            <p:cNvSpPr/>
            <p:nvPr/>
          </p:nvSpPr>
          <p:spPr>
            <a:xfrm>
              <a:off x="5581741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6"/>
            <p:cNvSpPr/>
            <p:nvPr/>
          </p:nvSpPr>
          <p:spPr>
            <a:xfrm>
              <a:off x="5829690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6"/>
            <p:cNvSpPr/>
            <p:nvPr/>
          </p:nvSpPr>
          <p:spPr>
            <a:xfrm>
              <a:off x="6077639" y="18247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6"/>
            <p:cNvSpPr/>
            <p:nvPr/>
          </p:nvSpPr>
          <p:spPr>
            <a:xfrm>
              <a:off x="5581741" y="15753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6"/>
            <p:cNvSpPr/>
            <p:nvPr/>
          </p:nvSpPr>
          <p:spPr>
            <a:xfrm>
              <a:off x="5829690" y="1575399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6"/>
            <p:cNvSpPr/>
            <p:nvPr/>
          </p:nvSpPr>
          <p:spPr>
            <a:xfrm>
              <a:off x="5581741" y="1326000"/>
              <a:ext cx="195600" cy="1962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3" name="Google Shape;813;p66"/>
          <p:cNvSpPr txBox="1"/>
          <p:nvPr/>
        </p:nvSpPr>
        <p:spPr>
          <a:xfrm>
            <a:off x="4972200" y="3633675"/>
            <a:ext cx="350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6"/>
          <p:cNvSpPr txBox="1"/>
          <p:nvPr/>
        </p:nvSpPr>
        <p:spPr>
          <a:xfrm>
            <a:off x="6801000" y="3633675"/>
            <a:ext cx="350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820" name="Google Shape;820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821" name="Google Shape;821;p67"/>
          <p:cNvSpPr txBox="1"/>
          <p:nvPr>
            <p:ph idx="3" type="title"/>
          </p:nvPr>
        </p:nvSpPr>
        <p:spPr>
          <a:xfrm>
            <a:off x="324000" y="657600"/>
            <a:ext cx="6101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special number </a:t>
            </a:r>
            <a:r>
              <a:rPr lang="en-GB"/>
              <a:t>sequences</a:t>
            </a:r>
            <a:r>
              <a:rPr lang="en-GB"/>
              <a:t> using technology</a:t>
            </a:r>
            <a:endParaRPr/>
          </a:p>
        </p:txBody>
      </p:sp>
      <p:pic>
        <p:nvPicPr>
          <p:cNvPr id="822" name="Google Shape;82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14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828" name="Google Shape;828;p68"/>
          <p:cNvSpPr txBox="1"/>
          <p:nvPr>
            <p:ph idx="1" type="body"/>
          </p:nvPr>
        </p:nvSpPr>
        <p:spPr>
          <a:xfrm>
            <a:off x="324000" y="810000"/>
            <a:ext cx="8496000" cy="15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plot sequences on </a:t>
            </a:r>
            <a:r>
              <a:rPr lang="en-GB" sz="1800"/>
              <a:t>graphs</a:t>
            </a:r>
            <a:r>
              <a:rPr lang="en-GB" sz="1800"/>
              <a:t> by turning the term numbers and terms into coordinates.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Using graphing software allows us to plot more points quickly and easily.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We are going to look at plotting sequences using technology, to start: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829" name="Google Shape;829;p68"/>
          <p:cNvGrpSpPr/>
          <p:nvPr/>
        </p:nvGrpSpPr>
        <p:grpSpPr>
          <a:xfrm>
            <a:off x="4425662" y="2489568"/>
            <a:ext cx="4394330" cy="1963027"/>
            <a:chOff x="1805388" y="2457300"/>
            <a:chExt cx="5289912" cy="2363100"/>
          </a:xfrm>
        </p:grpSpPr>
        <p:pic>
          <p:nvPicPr>
            <p:cNvPr id="830" name="Google Shape;830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05388" y="2457300"/>
              <a:ext cx="5274925" cy="236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68"/>
            <p:cNvSpPr/>
            <p:nvPr/>
          </p:nvSpPr>
          <p:spPr>
            <a:xfrm>
              <a:off x="1810800" y="2459025"/>
              <a:ext cx="5284500" cy="2361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2" name="Google Shape;832;p68"/>
          <p:cNvSpPr txBox="1"/>
          <p:nvPr>
            <p:ph idx="1" type="body"/>
          </p:nvPr>
        </p:nvSpPr>
        <p:spPr>
          <a:xfrm>
            <a:off x="324000" y="2457300"/>
            <a:ext cx="3996000" cy="21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Open up a web browser and go to </a:t>
            </a:r>
            <a:r>
              <a:rPr lang="en-GB" sz="1800">
                <a:solidFill>
                  <a:schemeClr val="accent4"/>
                </a:solidFill>
              </a:rPr>
              <a:t>desmos.com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Find and press the ‘</a:t>
            </a:r>
            <a:r>
              <a:rPr lang="en-GB" sz="1800">
                <a:solidFill>
                  <a:schemeClr val="accent4"/>
                </a:solidFill>
              </a:rPr>
              <a:t>graphing calculator</a:t>
            </a:r>
            <a:r>
              <a:rPr lang="en-GB" sz="1800"/>
              <a:t>’ button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Your screen should look like this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838" name="Google Shape;838;p69"/>
          <p:cNvSpPr txBox="1"/>
          <p:nvPr>
            <p:ph idx="1" type="body"/>
          </p:nvPr>
        </p:nvSpPr>
        <p:spPr>
          <a:xfrm>
            <a:off x="324000" y="840000"/>
            <a:ext cx="8496000" cy="9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are going to start by plotting a geometric sequence.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Start by plotting the first five terms 1, 3, 9, 27, 81, … on Desmos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39" name="Google Shape;83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778" y="1737350"/>
            <a:ext cx="3347424" cy="22169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0" name="Google Shape;840;p69"/>
          <p:cNvSpPr txBox="1"/>
          <p:nvPr>
            <p:ph idx="1" type="body"/>
          </p:nvPr>
        </p:nvSpPr>
        <p:spPr>
          <a:xfrm>
            <a:off x="324000" y="1866375"/>
            <a:ext cx="4891200" cy="7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can zoom out and stretch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axis scale to make it look like this.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41" name="Google Shape;84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2683" y="3115787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69"/>
          <p:cNvSpPr txBox="1"/>
          <p:nvPr/>
        </p:nvSpPr>
        <p:spPr>
          <a:xfrm flipH="1">
            <a:off x="323988" y="3672926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3" name="Google Shape;843;p69"/>
          <p:cNvGrpSpPr/>
          <p:nvPr/>
        </p:nvGrpSpPr>
        <p:grpSpPr>
          <a:xfrm>
            <a:off x="1182703" y="2657050"/>
            <a:ext cx="2374107" cy="1024500"/>
            <a:chOff x="1807234" y="1612132"/>
            <a:chExt cx="2064261" cy="1011153"/>
          </a:xfrm>
        </p:grpSpPr>
        <p:pic>
          <p:nvPicPr>
            <p:cNvPr id="844" name="Google Shape;844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807234" y="1612132"/>
              <a:ext cx="2064261" cy="10111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5" name="Google Shape;845;p69"/>
            <p:cNvSpPr txBox="1"/>
            <p:nvPr/>
          </p:nvSpPr>
          <p:spPr>
            <a:xfrm flipH="1">
              <a:off x="1968338" y="1771127"/>
              <a:ext cx="18693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the 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baseline="30000" lang="en-GB" sz="2000">
                  <a:latin typeface="Times"/>
                  <a:ea typeface="Times"/>
                  <a:cs typeface="Times"/>
                  <a:sym typeface="Times"/>
                </a:rPr>
                <a:t>th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term could be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1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− 1</a:t>
              </a:r>
              <a:endParaRPr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46" name="Google Shape;846;p69"/>
          <p:cNvSpPr txBox="1"/>
          <p:nvPr>
            <p:ph idx="1" type="body"/>
          </p:nvPr>
        </p:nvSpPr>
        <p:spPr>
          <a:xfrm>
            <a:off x="324000" y="4042225"/>
            <a:ext cx="4891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Why is this definitely not true?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7" name="Google Shape;847;p69"/>
          <p:cNvSpPr txBox="1"/>
          <p:nvPr>
            <p:ph idx="1" type="body"/>
          </p:nvPr>
        </p:nvSpPr>
        <p:spPr>
          <a:xfrm>
            <a:off x="324000" y="4411525"/>
            <a:ext cx="81864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would be a linear sequence so points would be on a straight line.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853" name="Google Shape;853;p70"/>
          <p:cNvSpPr txBox="1"/>
          <p:nvPr>
            <p:ph idx="1" type="body"/>
          </p:nvPr>
        </p:nvSpPr>
        <p:spPr>
          <a:xfrm>
            <a:off x="324000" y="840000"/>
            <a:ext cx="84960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rule is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 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− 1</a:t>
            </a:r>
            <a:endParaRPr baseline="30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4" name="Google Shape;854;p70"/>
          <p:cNvSpPr txBox="1"/>
          <p:nvPr>
            <p:ph idx="1" type="body"/>
          </p:nvPr>
        </p:nvSpPr>
        <p:spPr>
          <a:xfrm>
            <a:off x="324000" y="1318075"/>
            <a:ext cx="84960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do not need to be able to work this out yet.</a:t>
            </a:r>
            <a:endParaRPr baseline="30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5" name="Google Shape;855;p70"/>
          <p:cNvSpPr txBox="1"/>
          <p:nvPr>
            <p:ph idx="1" type="body"/>
          </p:nvPr>
        </p:nvSpPr>
        <p:spPr>
          <a:xfrm>
            <a:off x="324000" y="1729075"/>
            <a:ext cx="84960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Type a suitable equation into desmos to check this does fit our sequence. You may wish to plot some more points to be sure.</a:t>
            </a:r>
            <a:endParaRPr baseline="30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56" name="Google Shape;8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435475"/>
            <a:ext cx="4704874" cy="23849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7" name="Google Shape;857;p70"/>
          <p:cNvSpPr txBox="1"/>
          <p:nvPr>
            <p:ph idx="1" type="body"/>
          </p:nvPr>
        </p:nvSpPr>
        <p:spPr>
          <a:xfrm>
            <a:off x="5165000" y="2700000"/>
            <a:ext cx="3654900" cy="16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By typing the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− 1)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we can see this does go through the points so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 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the correct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term rule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863" name="Google Shape;863;p71"/>
          <p:cNvSpPr txBox="1"/>
          <p:nvPr>
            <p:ph idx="1" type="body"/>
          </p:nvPr>
        </p:nvSpPr>
        <p:spPr>
          <a:xfrm>
            <a:off x="324000" y="840000"/>
            <a:ext cx="84960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the graph of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rule allows us to check if larger term values are in the sequence.  </a:t>
            </a:r>
            <a:endParaRPr baseline="30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4" name="Google Shape;864;p71"/>
          <p:cNvSpPr txBox="1"/>
          <p:nvPr>
            <p:ph idx="1" type="body"/>
          </p:nvPr>
        </p:nvSpPr>
        <p:spPr>
          <a:xfrm>
            <a:off x="324000" y="1754400"/>
            <a:ext cx="84960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Is the number 2000 in the geometric sequence 1, 3, 9, 27, …. ? </a:t>
            </a:r>
            <a:r>
              <a:rPr lang="en-GB" sz="1800"/>
              <a:t> </a:t>
            </a:r>
            <a:endParaRPr baseline="30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5" name="Google Shape;865;p71"/>
          <p:cNvSpPr txBox="1"/>
          <p:nvPr>
            <p:ph idx="1" type="body"/>
          </p:nvPr>
        </p:nvSpPr>
        <p:spPr>
          <a:xfrm>
            <a:off x="324000" y="2318025"/>
            <a:ext cx="5306700" cy="13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Type the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2000</a:t>
            </a:r>
            <a:r>
              <a:rPr lang="en-GB" sz="1800"/>
              <a:t> </a:t>
            </a:r>
            <a:endParaRPr sz="1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Click on the point where this line intersects the curve.</a:t>
            </a:r>
            <a:r>
              <a:rPr lang="en-GB" sz="1800"/>
              <a:t> </a:t>
            </a:r>
            <a:endParaRPr baseline="30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66" name="Google Shape;866;p71"/>
          <p:cNvPicPr preferRelativeResize="0"/>
          <p:nvPr/>
        </p:nvPicPr>
        <p:blipFill rotWithShape="1">
          <a:blip r:embed="rId3">
            <a:alphaModFix/>
          </a:blip>
          <a:srcRect b="0" l="39558" r="0" t="0"/>
          <a:stretch/>
        </p:blipFill>
        <p:spPr>
          <a:xfrm>
            <a:off x="5774400" y="2160000"/>
            <a:ext cx="2664900" cy="2396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7" name="Google Shape;867;p71"/>
          <p:cNvSpPr txBox="1"/>
          <p:nvPr>
            <p:ph idx="1" type="body"/>
          </p:nvPr>
        </p:nvSpPr>
        <p:spPr>
          <a:xfrm>
            <a:off x="324000" y="3531300"/>
            <a:ext cx="5227800" cy="11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value is not an integer so 2000 is not a term in our sequence.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value is between the 7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8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873" name="Google Shape;873;p72"/>
          <p:cNvSpPr txBox="1"/>
          <p:nvPr>
            <p:ph idx="1" type="body"/>
          </p:nvPr>
        </p:nvSpPr>
        <p:spPr>
          <a:xfrm>
            <a:off x="324000" y="840000"/>
            <a:ext cx="8496000" cy="39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When plotting a </a:t>
            </a:r>
            <a:r>
              <a:rPr lang="en-GB" sz="1800">
                <a:solidFill>
                  <a:schemeClr val="accent4"/>
                </a:solidFill>
              </a:rPr>
              <a:t>sequence</a:t>
            </a:r>
            <a:r>
              <a:rPr lang="en-GB" sz="1800"/>
              <a:t> on a graph we do not draw a line or curve through the points.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term numbers in our sequence are the positive integers greater than or equal to 1.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line or curve shows all values that fit the rule, including non-integer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values, this does not make sense for a sequence.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However, when using graphing software it can often be useful to draw the line or curve.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Be aware when using this method that terms in the sequence only </a:t>
            </a:r>
            <a:r>
              <a:rPr lang="en-GB" sz="1800"/>
              <a:t>occur</a:t>
            </a:r>
            <a:r>
              <a:rPr lang="en-GB" sz="1800"/>
              <a:t> on coordinates with a positive integer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value.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879" name="Google Shape;879;p73"/>
          <p:cNvSpPr txBox="1"/>
          <p:nvPr>
            <p:ph idx="1" type="body"/>
          </p:nvPr>
        </p:nvSpPr>
        <p:spPr>
          <a:xfrm>
            <a:off x="324000" y="840000"/>
            <a:ext cx="8496000" cy="6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limit the graph so it only displays the part where the term number is 1 or greater.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80" name="Google Shape;88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076" y="1389750"/>
            <a:ext cx="3302924" cy="22350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1" name="Google Shape;881;p73"/>
          <p:cNvSpPr txBox="1"/>
          <p:nvPr>
            <p:ph idx="1" type="body"/>
          </p:nvPr>
        </p:nvSpPr>
        <p:spPr>
          <a:xfrm>
            <a:off x="330600" y="1620000"/>
            <a:ext cx="5113200" cy="6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this is a sequence, we only need the part of the graph after the coordinate (1,1)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882" name="Google Shape;882;p73"/>
          <p:cNvCxnSpPr/>
          <p:nvPr/>
        </p:nvCxnSpPr>
        <p:spPr>
          <a:xfrm>
            <a:off x="4427125" y="2120450"/>
            <a:ext cx="3352500" cy="30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73"/>
          <p:cNvSpPr txBox="1"/>
          <p:nvPr>
            <p:ph idx="1" type="body"/>
          </p:nvPr>
        </p:nvSpPr>
        <p:spPr>
          <a:xfrm>
            <a:off x="330600" y="2382000"/>
            <a:ext cx="5113200" cy="6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Click on the equation you wish to limit.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4" name="Google Shape;884;p73"/>
          <p:cNvSpPr txBox="1"/>
          <p:nvPr>
            <p:ph idx="1" type="body"/>
          </p:nvPr>
        </p:nvSpPr>
        <p:spPr>
          <a:xfrm>
            <a:off x="330600" y="2915400"/>
            <a:ext cx="5113200" cy="15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Use curly brackets and inequality symbols to limit the </a:t>
            </a:r>
            <a:r>
              <a:rPr lang="en-GB" sz="1800"/>
              <a:t>inputs.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Try typing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{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≥ 1}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(clicking = after &gt; </a:t>
            </a:r>
            <a:r>
              <a:rPr lang="en-GB" sz="1800"/>
              <a:t>inputs</a:t>
            </a:r>
            <a:r>
              <a:rPr lang="en-GB" sz="1800"/>
              <a:t> the </a:t>
            </a:r>
            <a:r>
              <a:rPr lang="en-GB" sz="1800">
                <a:solidFill>
                  <a:srgbClr val="222222"/>
                </a:solidFill>
              </a:rPr>
              <a:t>≥ symbol)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5" name="Google Shape;885;p73"/>
          <p:cNvSpPr txBox="1"/>
          <p:nvPr>
            <p:ph idx="1" type="body"/>
          </p:nvPr>
        </p:nvSpPr>
        <p:spPr>
          <a:xfrm>
            <a:off x="330600" y="4515600"/>
            <a:ext cx="5113200" cy="6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happens to your graph?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86" name="Google Shape;88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8101" y="1248218"/>
            <a:ext cx="2221824" cy="279036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7" name="Google Shape;88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8101" y="1244650"/>
            <a:ext cx="2254743" cy="27903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88" name="Google Shape;888;p73"/>
          <p:cNvCxnSpPr/>
          <p:nvPr/>
        </p:nvCxnSpPr>
        <p:spPr>
          <a:xfrm>
            <a:off x="4658325" y="2705400"/>
            <a:ext cx="1287600" cy="94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894" name="Google Shape;894;p74"/>
          <p:cNvSpPr txBox="1"/>
          <p:nvPr>
            <p:ph idx="1" type="body"/>
          </p:nvPr>
        </p:nvSpPr>
        <p:spPr>
          <a:xfrm>
            <a:off x="324000" y="840000"/>
            <a:ext cx="3744900" cy="24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graph now only shows the values that fit the rule where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1 or greater.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part of the graph where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less than 1 has disappeared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95" name="Google Shape;89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093" y="840001"/>
            <a:ext cx="4483749" cy="21979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5"/>
          <p:cNvSpPr txBox="1"/>
          <p:nvPr>
            <p:ph idx="1" type="body"/>
          </p:nvPr>
        </p:nvSpPr>
        <p:spPr>
          <a:xfrm>
            <a:off x="324000" y="759300"/>
            <a:ext cx="84960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</a:t>
            </a:r>
            <a:r>
              <a:rPr lang="en-GB" sz="1800"/>
              <a:t>following</a:t>
            </a:r>
            <a:r>
              <a:rPr lang="en-GB" sz="1800"/>
              <a:t> is the correct graph of the sequence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800"/>
              <a:t> 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Explain your answer.  </a:t>
            </a:r>
            <a:endParaRPr sz="1800"/>
          </a:p>
        </p:txBody>
      </p:sp>
      <p:sp>
        <p:nvSpPr>
          <p:cNvPr id="901" name="Google Shape;90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pic>
        <p:nvPicPr>
          <p:cNvPr id="902" name="Google Shape;90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264" y="2371075"/>
            <a:ext cx="1696969" cy="180077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3" name="Google Shape;903;p75"/>
          <p:cNvPicPr preferRelativeResize="0"/>
          <p:nvPr/>
        </p:nvPicPr>
        <p:blipFill rotWithShape="1">
          <a:blip r:embed="rId4">
            <a:alphaModFix/>
          </a:blip>
          <a:srcRect b="0" l="0" r="0" t="7646"/>
          <a:stretch/>
        </p:blipFill>
        <p:spPr>
          <a:xfrm>
            <a:off x="375317" y="2371075"/>
            <a:ext cx="1696976" cy="18007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4" name="Google Shape;904;p75"/>
          <p:cNvPicPr preferRelativeResize="0"/>
          <p:nvPr/>
        </p:nvPicPr>
        <p:blipFill rotWithShape="1">
          <a:blip r:embed="rId5">
            <a:alphaModFix/>
          </a:blip>
          <a:srcRect b="8099" l="0" r="0" t="8232"/>
          <a:stretch/>
        </p:blipFill>
        <p:spPr>
          <a:xfrm>
            <a:off x="4773204" y="2371075"/>
            <a:ext cx="1696975" cy="18007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5" name="Google Shape;905;p75"/>
          <p:cNvPicPr preferRelativeResize="0"/>
          <p:nvPr/>
        </p:nvPicPr>
        <p:blipFill rotWithShape="1">
          <a:blip r:embed="rId6">
            <a:alphaModFix/>
          </a:blip>
          <a:srcRect b="-1669" l="0" r="0" t="10917"/>
          <a:stretch/>
        </p:blipFill>
        <p:spPr>
          <a:xfrm>
            <a:off x="6972150" y="2371075"/>
            <a:ext cx="1696976" cy="18007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06" name="Google Shape;906;p75"/>
          <p:cNvGrpSpPr/>
          <p:nvPr/>
        </p:nvGrpSpPr>
        <p:grpSpPr>
          <a:xfrm>
            <a:off x="995191" y="4267150"/>
            <a:ext cx="457200" cy="457200"/>
            <a:chOff x="1020916" y="1442088"/>
            <a:chExt cx="457200" cy="457200"/>
          </a:xfrm>
        </p:grpSpPr>
        <p:pic>
          <p:nvPicPr>
            <p:cNvPr id="907" name="Google Shape;907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8" name="Google Shape;908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9" name="Google Shape;909;p75"/>
          <p:cNvGrpSpPr/>
          <p:nvPr/>
        </p:nvGrpSpPr>
        <p:grpSpPr>
          <a:xfrm>
            <a:off x="3241508" y="4267150"/>
            <a:ext cx="457200" cy="457200"/>
            <a:chOff x="1020916" y="1442088"/>
            <a:chExt cx="457200" cy="457200"/>
          </a:xfrm>
        </p:grpSpPr>
        <p:pic>
          <p:nvPicPr>
            <p:cNvPr id="910" name="Google Shape;910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2" name="Google Shape;912;p75"/>
          <p:cNvGrpSpPr/>
          <p:nvPr/>
        </p:nvGrpSpPr>
        <p:grpSpPr>
          <a:xfrm>
            <a:off x="5487824" y="4267150"/>
            <a:ext cx="457200" cy="457200"/>
            <a:chOff x="1020916" y="1442088"/>
            <a:chExt cx="457200" cy="457200"/>
          </a:xfrm>
        </p:grpSpPr>
        <p:pic>
          <p:nvPicPr>
            <p:cNvPr id="913" name="Google Shape;913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4" name="Google Shape;914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5" name="Google Shape;915;p75"/>
          <p:cNvGrpSpPr/>
          <p:nvPr/>
        </p:nvGrpSpPr>
        <p:grpSpPr>
          <a:xfrm>
            <a:off x="7734141" y="4267150"/>
            <a:ext cx="457200" cy="457200"/>
            <a:chOff x="1020916" y="1442088"/>
            <a:chExt cx="457200" cy="457200"/>
          </a:xfrm>
        </p:grpSpPr>
        <p:pic>
          <p:nvPicPr>
            <p:cNvPr id="916" name="Google Shape;916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8" name="Google Shape;918;p7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24008" y="42862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75"/>
          <p:cNvSpPr txBox="1"/>
          <p:nvPr>
            <p:ph idx="1" type="body"/>
          </p:nvPr>
        </p:nvSpPr>
        <p:spPr>
          <a:xfrm>
            <a:off x="324000" y="1367454"/>
            <a:ext cx="8496000" cy="7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plotting a sequence like this, no line should be drawn. The first term of this sequence is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n =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 so there should be no coordinates to the left of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6"/>
          <p:cNvSpPr txBox="1"/>
          <p:nvPr>
            <p:ph idx="1" type="body"/>
          </p:nvPr>
        </p:nvSpPr>
        <p:spPr>
          <a:xfrm>
            <a:off x="324000" y="759300"/>
            <a:ext cx="84960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Use Desmos to determine which of these is the correct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2000"/>
              <a:t> term rule for the geometric sequence which starts 25, 125, 625, 3125, 15625, …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(Hint- you will need to stretch the scale on your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axis and zoom out)</a:t>
            </a:r>
            <a:endParaRPr sz="2000"/>
          </a:p>
        </p:txBody>
      </p:sp>
      <p:sp>
        <p:nvSpPr>
          <p:cNvPr id="925" name="Google Shape;92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grpSp>
        <p:nvGrpSpPr>
          <p:cNvPr id="926" name="Google Shape;926;p76"/>
          <p:cNvGrpSpPr/>
          <p:nvPr/>
        </p:nvGrpSpPr>
        <p:grpSpPr>
          <a:xfrm>
            <a:off x="323991" y="2082225"/>
            <a:ext cx="457200" cy="457200"/>
            <a:chOff x="1020916" y="1442088"/>
            <a:chExt cx="457200" cy="457200"/>
          </a:xfrm>
        </p:grpSpPr>
        <p:pic>
          <p:nvPicPr>
            <p:cNvPr id="927" name="Google Shape;927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8" name="Google Shape;928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9" name="Google Shape;929;p76"/>
          <p:cNvGrpSpPr/>
          <p:nvPr/>
        </p:nvGrpSpPr>
        <p:grpSpPr>
          <a:xfrm>
            <a:off x="323991" y="2751950"/>
            <a:ext cx="457200" cy="457200"/>
            <a:chOff x="1020916" y="1442088"/>
            <a:chExt cx="457200" cy="457200"/>
          </a:xfrm>
        </p:grpSpPr>
        <p:pic>
          <p:nvPicPr>
            <p:cNvPr id="930" name="Google Shape;930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2" name="Google Shape;932;p76"/>
          <p:cNvGrpSpPr/>
          <p:nvPr/>
        </p:nvGrpSpPr>
        <p:grpSpPr>
          <a:xfrm>
            <a:off x="323991" y="3421675"/>
            <a:ext cx="457200" cy="457200"/>
            <a:chOff x="1020916" y="1442088"/>
            <a:chExt cx="457200" cy="457200"/>
          </a:xfrm>
        </p:grpSpPr>
        <p:pic>
          <p:nvPicPr>
            <p:cNvPr id="933" name="Google Shape;933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4" name="Google Shape;934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5" name="Google Shape;935;p76"/>
          <p:cNvGrpSpPr/>
          <p:nvPr/>
        </p:nvGrpSpPr>
        <p:grpSpPr>
          <a:xfrm>
            <a:off x="323991" y="4091400"/>
            <a:ext cx="457200" cy="457200"/>
            <a:chOff x="1020916" y="1442088"/>
            <a:chExt cx="457200" cy="457200"/>
          </a:xfrm>
        </p:grpSpPr>
        <p:pic>
          <p:nvPicPr>
            <p:cNvPr id="936" name="Google Shape;936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" name="Google Shape;937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8" name="Google Shape;938;p76"/>
          <p:cNvSpPr txBox="1"/>
          <p:nvPr>
            <p:ph idx="1" type="body"/>
          </p:nvPr>
        </p:nvSpPr>
        <p:spPr>
          <a:xfrm>
            <a:off x="877575" y="2082225"/>
            <a:ext cx="39465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baseline="30000" i="1" lang="en-GB" sz="2800">
                <a:latin typeface="Times"/>
                <a:ea typeface="Times"/>
                <a:cs typeface="Times"/>
                <a:sym typeface="Times"/>
              </a:rPr>
              <a:t>n </a:t>
            </a:r>
            <a:r>
              <a:rPr baseline="30000" lang="en-GB" sz="2800">
                <a:latin typeface="Times"/>
                <a:ea typeface="Times"/>
                <a:cs typeface="Times"/>
                <a:sym typeface="Times"/>
              </a:rPr>
              <a:t>− 1</a:t>
            </a:r>
            <a:endParaRPr baseline="30000" sz="2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9" name="Google Shape;939;p76"/>
          <p:cNvSpPr txBox="1"/>
          <p:nvPr>
            <p:ph idx="1" type="body"/>
          </p:nvPr>
        </p:nvSpPr>
        <p:spPr>
          <a:xfrm>
            <a:off x="877575" y="2768025"/>
            <a:ext cx="39465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baseline="30000" i="1" lang="en-GB" sz="2800">
                <a:latin typeface="Times"/>
                <a:ea typeface="Times"/>
                <a:cs typeface="Times"/>
                <a:sym typeface="Times"/>
              </a:rPr>
              <a:t>n </a:t>
            </a:r>
            <a:r>
              <a:rPr baseline="30000" lang="en-GB" sz="2800">
                <a:latin typeface="Times"/>
                <a:ea typeface="Times"/>
                <a:cs typeface="Times"/>
                <a:sym typeface="Times"/>
              </a:rPr>
              <a:t>+ 1</a:t>
            </a:r>
            <a:endParaRPr baseline="30000" sz="2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0" name="Google Shape;940;p76"/>
          <p:cNvSpPr txBox="1"/>
          <p:nvPr>
            <p:ph idx="1" type="body"/>
          </p:nvPr>
        </p:nvSpPr>
        <p:spPr>
          <a:xfrm>
            <a:off x="877575" y="3453825"/>
            <a:ext cx="39465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baseline="30000" i="1" lang="en-GB" sz="2800">
                <a:latin typeface="Times"/>
                <a:ea typeface="Times"/>
                <a:cs typeface="Times"/>
                <a:sym typeface="Times"/>
              </a:rPr>
              <a:t>n</a:t>
            </a:r>
            <a:endParaRPr baseline="30000" i="1" sz="2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1" name="Google Shape;941;p76"/>
          <p:cNvSpPr txBox="1"/>
          <p:nvPr>
            <p:ph idx="1" type="body"/>
          </p:nvPr>
        </p:nvSpPr>
        <p:spPr>
          <a:xfrm>
            <a:off x="877575" y="4139625"/>
            <a:ext cx="39465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baseline="30000" lang="en-GB" sz="2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 sz="2800">
                <a:latin typeface="Times"/>
                <a:ea typeface="Times"/>
                <a:cs typeface="Times"/>
                <a:sym typeface="Times"/>
              </a:rPr>
              <a:t>n</a:t>
            </a:r>
            <a:endParaRPr baseline="30000" i="1" sz="2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42" name="Google Shape;94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2048" y="2022601"/>
            <a:ext cx="4566075" cy="270859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3" name="Google Shape;943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8558" y="270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76"/>
          <p:cNvSpPr txBox="1"/>
          <p:nvPr>
            <p:ph idx="1" type="body"/>
          </p:nvPr>
        </p:nvSpPr>
        <p:spPr>
          <a:xfrm>
            <a:off x="5096600" y="2082225"/>
            <a:ext cx="677700" cy="3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5" name="Google Shape;945;p76"/>
          <p:cNvSpPr txBox="1"/>
          <p:nvPr>
            <p:ph idx="1" type="body"/>
          </p:nvPr>
        </p:nvSpPr>
        <p:spPr>
          <a:xfrm>
            <a:off x="6355000" y="2114550"/>
            <a:ext cx="961200" cy="3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+ 1)</a:t>
            </a:r>
            <a:endParaRPr baseline="30000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6" name="Google Shape;946;p76"/>
          <p:cNvSpPr txBox="1"/>
          <p:nvPr>
            <p:ph idx="1" type="body"/>
          </p:nvPr>
        </p:nvSpPr>
        <p:spPr>
          <a:xfrm>
            <a:off x="7258475" y="2501550"/>
            <a:ext cx="624600" cy="3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endParaRPr baseline="30000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7" name="Google Shape;947;p76"/>
          <p:cNvSpPr txBox="1"/>
          <p:nvPr>
            <p:ph idx="1" type="body"/>
          </p:nvPr>
        </p:nvSpPr>
        <p:spPr>
          <a:xfrm>
            <a:off x="7176925" y="4360225"/>
            <a:ext cx="961200" cy="3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− 1)</a:t>
            </a:r>
            <a:r>
              <a:rPr baseline="30000"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baseline="30000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953" name="Google Shape;953;p77"/>
          <p:cNvSpPr txBox="1"/>
          <p:nvPr>
            <p:ph idx="1" type="body"/>
          </p:nvPr>
        </p:nvSpPr>
        <p:spPr>
          <a:xfrm>
            <a:off x="324000" y="759300"/>
            <a:ext cx="8237700" cy="6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Lucas wants to know if −10 is in the sequence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100 − 3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900"/>
              <a:t>  </a:t>
            </a:r>
            <a:endParaRPr sz="1900"/>
          </a:p>
        </p:txBody>
      </p:sp>
      <p:pic>
        <p:nvPicPr>
          <p:cNvPr id="954" name="Google Shape;95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72550"/>
            <a:ext cx="1474374" cy="1618748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7"/>
          <p:cNvSpPr txBox="1"/>
          <p:nvPr/>
        </p:nvSpPr>
        <p:spPr>
          <a:xfrm>
            <a:off x="220100" y="36335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6" name="Google Shape;956;p77"/>
          <p:cNvGrpSpPr/>
          <p:nvPr/>
        </p:nvGrpSpPr>
        <p:grpSpPr>
          <a:xfrm>
            <a:off x="831779" y="992100"/>
            <a:ext cx="4435396" cy="1784074"/>
            <a:chOff x="1807233" y="1612129"/>
            <a:chExt cx="2238177" cy="1011151"/>
          </a:xfrm>
        </p:grpSpPr>
        <p:pic>
          <p:nvPicPr>
            <p:cNvPr id="957" name="Google Shape;957;p77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33" y="1612129"/>
              <a:ext cx="2238177" cy="1011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77"/>
            <p:cNvSpPr txBox="1"/>
            <p:nvPr/>
          </p:nvSpPr>
          <p:spPr>
            <a:xfrm flipH="1">
              <a:off x="1968540" y="1771134"/>
              <a:ext cx="19872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plotted the lines 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100 − 3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and  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= −10.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They intersect so −10 is a term in the sequence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100 − 3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59" name="Google Shape;959;p77"/>
          <p:cNvSpPr txBox="1"/>
          <p:nvPr>
            <p:ph idx="1" type="body"/>
          </p:nvPr>
        </p:nvSpPr>
        <p:spPr>
          <a:xfrm>
            <a:off x="1907850" y="2751825"/>
            <a:ext cx="3968100" cy="6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has Lucas done correctly?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60" name="Google Shape;960;p77"/>
          <p:cNvSpPr txBox="1"/>
          <p:nvPr>
            <p:ph idx="1" type="body"/>
          </p:nvPr>
        </p:nvSpPr>
        <p:spPr>
          <a:xfrm>
            <a:off x="1798375" y="3769349"/>
            <a:ext cx="63378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Explain to Lucas what mistake he has made.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961" name="Google Shape;96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8563" y="1182525"/>
            <a:ext cx="2670226" cy="2525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967" name="Google Shape;967;p78"/>
          <p:cNvSpPr txBox="1"/>
          <p:nvPr>
            <p:ph idx="1" type="body"/>
          </p:nvPr>
        </p:nvSpPr>
        <p:spPr>
          <a:xfrm>
            <a:off x="324000" y="759300"/>
            <a:ext cx="84960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 2) Use Desmos to match these sequences to their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1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900"/>
              <a:t> term rules </a:t>
            </a:r>
            <a:endParaRPr sz="1900"/>
          </a:p>
        </p:txBody>
      </p:sp>
      <p:sp>
        <p:nvSpPr>
          <p:cNvPr id="968" name="Google Shape;968;p78"/>
          <p:cNvSpPr txBox="1"/>
          <p:nvPr>
            <p:ph idx="1" type="body"/>
          </p:nvPr>
        </p:nvSpPr>
        <p:spPr>
          <a:xfrm>
            <a:off x="324000" y="1272900"/>
            <a:ext cx="4864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r>
              <a:rPr lang="en-GB" sz="1800"/>
              <a:t>Geometric sequence with first five terms: 2, 4, 8, 16, 32, … </a:t>
            </a:r>
            <a:endParaRPr sz="1800"/>
          </a:p>
        </p:txBody>
      </p:sp>
      <p:sp>
        <p:nvSpPr>
          <p:cNvPr id="969" name="Google Shape;969;p78"/>
          <p:cNvSpPr txBox="1"/>
          <p:nvPr>
            <p:ph idx="1" type="body"/>
          </p:nvPr>
        </p:nvSpPr>
        <p:spPr>
          <a:xfrm>
            <a:off x="324000" y="2019650"/>
            <a:ext cx="4864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Geometric sequence with first five terms: 8, 16, 32, 64, 128, … </a:t>
            </a:r>
            <a:endParaRPr sz="1800"/>
          </a:p>
        </p:txBody>
      </p:sp>
      <p:sp>
        <p:nvSpPr>
          <p:cNvPr id="970" name="Google Shape;970;p78"/>
          <p:cNvSpPr txBox="1"/>
          <p:nvPr>
            <p:ph idx="1" type="body"/>
          </p:nvPr>
        </p:nvSpPr>
        <p:spPr>
          <a:xfrm>
            <a:off x="324000" y="2766425"/>
            <a:ext cx="49920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Geometric sequence with first five terms: 6, 12, 24, 48, 96, … </a:t>
            </a:r>
            <a:endParaRPr sz="1800"/>
          </a:p>
        </p:txBody>
      </p:sp>
      <p:sp>
        <p:nvSpPr>
          <p:cNvPr id="971" name="Google Shape;971;p78"/>
          <p:cNvSpPr txBox="1"/>
          <p:nvPr>
            <p:ph idx="1" type="body"/>
          </p:nvPr>
        </p:nvSpPr>
        <p:spPr>
          <a:xfrm>
            <a:off x="324000" y="3513175"/>
            <a:ext cx="49920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Geometric sequence with first five terms: 6, 18, 54, 162, 486, … </a:t>
            </a:r>
            <a:endParaRPr sz="1800"/>
          </a:p>
        </p:txBody>
      </p:sp>
      <p:sp>
        <p:nvSpPr>
          <p:cNvPr id="972" name="Google Shape;972;p78"/>
          <p:cNvSpPr txBox="1"/>
          <p:nvPr>
            <p:ph idx="1" type="body"/>
          </p:nvPr>
        </p:nvSpPr>
        <p:spPr>
          <a:xfrm>
            <a:off x="324000" y="4259950"/>
            <a:ext cx="4864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r>
              <a:rPr lang="en-GB" sz="1800"/>
              <a:t>) Geometric sequence with first five terms: 12, 36, 108, 324, 972, … </a:t>
            </a:r>
            <a:endParaRPr sz="1800"/>
          </a:p>
        </p:txBody>
      </p:sp>
      <p:sp>
        <p:nvSpPr>
          <p:cNvPr id="973" name="Google Shape;973;p78"/>
          <p:cNvSpPr txBox="1"/>
          <p:nvPr>
            <p:ph idx="1" type="body"/>
          </p:nvPr>
        </p:nvSpPr>
        <p:spPr>
          <a:xfrm>
            <a:off x="6256800" y="12729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3</a:t>
            </a:r>
            <a:r>
              <a:rPr baseline="30000"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4" name="Google Shape;974;p78"/>
          <p:cNvSpPr txBox="1"/>
          <p:nvPr>
            <p:ph idx="1" type="body"/>
          </p:nvPr>
        </p:nvSpPr>
        <p:spPr>
          <a:xfrm>
            <a:off x="6256800" y="20349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</a:t>
            </a:r>
            <a:r>
              <a:rPr baseline="30000"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5" name="Google Shape;975;p78"/>
          <p:cNvSpPr txBox="1"/>
          <p:nvPr>
            <p:ph idx="1" type="body"/>
          </p:nvPr>
        </p:nvSpPr>
        <p:spPr>
          <a:xfrm>
            <a:off x="6256800" y="27969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3</a:t>
            </a:r>
            <a:r>
              <a:rPr baseline="30000"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6" name="Google Shape;976;p78"/>
          <p:cNvSpPr txBox="1"/>
          <p:nvPr>
            <p:ph idx="1" type="body"/>
          </p:nvPr>
        </p:nvSpPr>
        <p:spPr>
          <a:xfrm>
            <a:off x="6256800" y="34827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77" name="Google Shape;977;p78"/>
          <p:cNvSpPr txBox="1"/>
          <p:nvPr>
            <p:ph idx="1" type="body"/>
          </p:nvPr>
        </p:nvSpPr>
        <p:spPr>
          <a:xfrm>
            <a:off x="6256800" y="42447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n + 2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983" name="Google Shape;983;p79"/>
          <p:cNvSpPr txBox="1"/>
          <p:nvPr>
            <p:ph idx="1" type="body"/>
          </p:nvPr>
        </p:nvSpPr>
        <p:spPr>
          <a:xfrm>
            <a:off x="324000" y="755063"/>
            <a:ext cx="8496000" cy="6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3) Use graphing software to help with the following questions. </a:t>
            </a:r>
            <a:endParaRPr sz="1800"/>
          </a:p>
        </p:txBody>
      </p:sp>
      <p:sp>
        <p:nvSpPr>
          <p:cNvPr id="984" name="Google Shape;984;p79"/>
          <p:cNvSpPr txBox="1"/>
          <p:nvPr>
            <p:ph idx="1" type="body"/>
          </p:nvPr>
        </p:nvSpPr>
        <p:spPr>
          <a:xfrm>
            <a:off x="324000" y="1202413"/>
            <a:ext cx="4651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Is the number 30 in this sequence? </a:t>
            </a:r>
            <a:endParaRPr sz="1800"/>
          </a:p>
        </p:txBody>
      </p:sp>
      <p:graphicFrame>
        <p:nvGraphicFramePr>
          <p:cNvPr id="985" name="Google Shape;985;p79"/>
          <p:cNvGraphicFramePr/>
          <p:nvPr/>
        </p:nvGraphicFramePr>
        <p:xfrm>
          <a:off x="4765424" y="10726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{DDCAEAE3-CF4D-405B-8A84-91F447B521C0}</a:tableStyleId>
              </a:tblPr>
              <a:tblGrid>
                <a:gridCol w="1313975"/>
                <a:gridCol w="428350"/>
                <a:gridCol w="428350"/>
                <a:gridCol w="428350"/>
                <a:gridCol w="428350"/>
                <a:gridCol w="1027150"/>
              </a:tblGrid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7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−1.5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0.6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2.7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4.8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2.1</a:t>
                      </a: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r>
                        <a:rPr lang="en-GB" sz="17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3.6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6" name="Google Shape;986;p79"/>
          <p:cNvSpPr txBox="1"/>
          <p:nvPr>
            <p:ph idx="1" type="body"/>
          </p:nvPr>
        </p:nvSpPr>
        <p:spPr>
          <a:xfrm>
            <a:off x="324000" y="2121050"/>
            <a:ext cx="4651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Is the number 324 in this sequence? </a:t>
            </a:r>
            <a:endParaRPr sz="1800"/>
          </a:p>
        </p:txBody>
      </p:sp>
      <p:sp>
        <p:nvSpPr>
          <p:cNvPr id="987" name="Google Shape;987;p79"/>
          <p:cNvSpPr txBox="1"/>
          <p:nvPr>
            <p:ph idx="1" type="body"/>
          </p:nvPr>
        </p:nvSpPr>
        <p:spPr>
          <a:xfrm>
            <a:off x="324000" y="3035450"/>
            <a:ext cx="4651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Is the number 1280 </a:t>
            </a:r>
            <a:r>
              <a:rPr lang="en-GB" sz="1800"/>
              <a:t>i</a:t>
            </a:r>
            <a:r>
              <a:rPr lang="en-GB" sz="1800"/>
              <a:t>n</a:t>
            </a:r>
            <a:r>
              <a:rPr lang="en-GB" sz="1800"/>
              <a:t> this </a:t>
            </a:r>
            <a:r>
              <a:rPr lang="en-GB" sz="1800"/>
              <a:t>sequence? </a:t>
            </a:r>
            <a:endParaRPr sz="1800"/>
          </a:p>
        </p:txBody>
      </p:sp>
      <p:sp>
        <p:nvSpPr>
          <p:cNvPr id="988" name="Google Shape;988;p79"/>
          <p:cNvSpPr txBox="1"/>
          <p:nvPr>
            <p:ph idx="1" type="body"/>
          </p:nvPr>
        </p:nvSpPr>
        <p:spPr>
          <a:xfrm>
            <a:off x="324000" y="3949850"/>
            <a:ext cx="4651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Is the number 4004 in this sequence? </a:t>
            </a:r>
            <a:endParaRPr sz="1800"/>
          </a:p>
        </p:txBody>
      </p:sp>
      <p:graphicFrame>
        <p:nvGraphicFramePr>
          <p:cNvPr id="989" name="Google Shape;989;p79"/>
          <p:cNvGraphicFramePr/>
          <p:nvPr/>
        </p:nvGraphicFramePr>
        <p:xfrm>
          <a:off x="4765424" y="1987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{DDCAEAE3-CF4D-405B-8A84-91F447B521C0}</a:tableStyleId>
              </a:tblPr>
              <a:tblGrid>
                <a:gridCol w="1313975"/>
                <a:gridCol w="427700"/>
                <a:gridCol w="427700"/>
                <a:gridCol w="427700"/>
                <a:gridCol w="427700"/>
                <a:gridCol w="1029725"/>
              </a:tblGrid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72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216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baseline="30000" i="1" lang="en-GB" sz="2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r>
                        <a:rPr baseline="30000" lang="en-GB" sz="2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90" name="Google Shape;990;p79"/>
          <p:cNvGraphicFramePr/>
          <p:nvPr/>
        </p:nvGraphicFramePr>
        <p:xfrm>
          <a:off x="4765424" y="2901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{DDCAEAE3-CF4D-405B-8A84-91F447B521C0}</a:tableStyleId>
              </a:tblPr>
              <a:tblGrid>
                <a:gridCol w="1313975"/>
                <a:gridCol w="428350"/>
                <a:gridCol w="428350"/>
                <a:gridCol w="428350"/>
                <a:gridCol w="428350"/>
                <a:gridCol w="1027150"/>
              </a:tblGrid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80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 </a:t>
                      </a:r>
                      <a:r>
                        <a:rPr lang="en-GB" sz="17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baseline="30000" i="1"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91" name="Google Shape;991;p79"/>
          <p:cNvGraphicFramePr/>
          <p:nvPr/>
        </p:nvGraphicFramePr>
        <p:xfrm>
          <a:off x="4765424" y="3815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{DDCAEAE3-CF4D-405B-8A84-91F447B521C0}</a:tableStyleId>
              </a:tblPr>
              <a:tblGrid>
                <a:gridCol w="1313975"/>
                <a:gridCol w="428350"/>
                <a:gridCol w="428350"/>
                <a:gridCol w="428350"/>
                <a:gridCol w="507150"/>
                <a:gridCol w="948350"/>
              </a:tblGrid>
              <a:tr h="31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64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256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baseline="30000" i="1"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0"/>
          <p:cNvSpPr txBox="1"/>
          <p:nvPr>
            <p:ph idx="4294967295" type="body"/>
          </p:nvPr>
        </p:nvSpPr>
        <p:spPr>
          <a:xfrm>
            <a:off x="1920725" y="3079075"/>
            <a:ext cx="39681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plotted the correct lines and looked for the intersection point.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7" name="Google Shape;997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998" name="Google Shape;998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Lucas wants to know if −10 is in the sequence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100 − 3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900"/>
              <a:t>  </a:t>
            </a:r>
            <a:endParaRPr sz="1900"/>
          </a:p>
        </p:txBody>
      </p:sp>
      <p:pic>
        <p:nvPicPr>
          <p:cNvPr id="999" name="Google Shape;99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72550"/>
            <a:ext cx="1474374" cy="1618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80"/>
          <p:cNvSpPr txBox="1"/>
          <p:nvPr/>
        </p:nvSpPr>
        <p:spPr>
          <a:xfrm>
            <a:off x="220100" y="36335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1" name="Google Shape;1001;p80"/>
          <p:cNvGrpSpPr/>
          <p:nvPr/>
        </p:nvGrpSpPr>
        <p:grpSpPr>
          <a:xfrm>
            <a:off x="831779" y="992100"/>
            <a:ext cx="4435396" cy="1784074"/>
            <a:chOff x="1807233" y="1612129"/>
            <a:chExt cx="2238177" cy="1011151"/>
          </a:xfrm>
        </p:grpSpPr>
        <p:pic>
          <p:nvPicPr>
            <p:cNvPr id="1002" name="Google Shape;1002;p8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33" y="1612129"/>
              <a:ext cx="2238177" cy="1011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0"/>
            <p:cNvSpPr txBox="1"/>
            <p:nvPr/>
          </p:nvSpPr>
          <p:spPr>
            <a:xfrm flipH="1">
              <a:off x="1968540" y="1771134"/>
              <a:ext cx="19872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plotted the lines 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100 − 3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and  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= −10.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They intersect so −10 is a term in the sequence 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100 − 3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04" name="Google Shape;1004;p80"/>
          <p:cNvSpPr txBox="1"/>
          <p:nvPr>
            <p:ph idx="1" type="body"/>
          </p:nvPr>
        </p:nvSpPr>
        <p:spPr>
          <a:xfrm>
            <a:off x="1907850" y="2751825"/>
            <a:ext cx="3968100" cy="6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has Lucas done correctly? </a:t>
            </a:r>
            <a:endParaRPr sz="1800"/>
          </a:p>
        </p:txBody>
      </p:sp>
      <p:sp>
        <p:nvSpPr>
          <p:cNvPr id="1005" name="Google Shape;1005;p80"/>
          <p:cNvSpPr txBox="1"/>
          <p:nvPr>
            <p:ph idx="1" type="body"/>
          </p:nvPr>
        </p:nvSpPr>
        <p:spPr>
          <a:xfrm>
            <a:off x="1907850" y="3855274"/>
            <a:ext cx="63378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Explain to Lucas what mistake he has made. </a:t>
            </a:r>
            <a:endParaRPr sz="1800"/>
          </a:p>
        </p:txBody>
      </p:sp>
      <p:pic>
        <p:nvPicPr>
          <p:cNvPr id="1006" name="Google Shape;1006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8563" y="1182525"/>
            <a:ext cx="2670226" cy="2525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7" name="Google Shape;1007;p80"/>
          <p:cNvSpPr txBox="1"/>
          <p:nvPr>
            <p:ph idx="4294967295" type="body"/>
          </p:nvPr>
        </p:nvSpPr>
        <p:spPr>
          <a:xfrm>
            <a:off x="324000" y="4169750"/>
            <a:ext cx="8496000" cy="6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 be in the sequence,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 has to be an integer. This coordinate shows −10 is between the 36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37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but is not in the sequence.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1013" name="Google Shape;1013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 2) Use Desmos to match these sequences to their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1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900"/>
              <a:t> term rules </a:t>
            </a:r>
            <a:endParaRPr sz="1900"/>
          </a:p>
        </p:txBody>
      </p:sp>
      <p:sp>
        <p:nvSpPr>
          <p:cNvPr id="1014" name="Google Shape;1014;p81"/>
          <p:cNvSpPr txBox="1"/>
          <p:nvPr>
            <p:ph idx="1" type="body"/>
          </p:nvPr>
        </p:nvSpPr>
        <p:spPr>
          <a:xfrm>
            <a:off x="324000" y="1272900"/>
            <a:ext cx="50202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Geometric sequence with first five terms: 2, 4, 8, 16, 32, … </a:t>
            </a:r>
            <a:endParaRPr sz="1800"/>
          </a:p>
        </p:txBody>
      </p:sp>
      <p:sp>
        <p:nvSpPr>
          <p:cNvPr id="1015" name="Google Shape;1015;p81"/>
          <p:cNvSpPr txBox="1"/>
          <p:nvPr>
            <p:ph idx="1" type="body"/>
          </p:nvPr>
        </p:nvSpPr>
        <p:spPr>
          <a:xfrm>
            <a:off x="324000" y="2019650"/>
            <a:ext cx="49212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Geometric sequence with first five terms: 8, 16, 32, 64, 128, … </a:t>
            </a:r>
            <a:endParaRPr sz="1800"/>
          </a:p>
        </p:txBody>
      </p:sp>
      <p:sp>
        <p:nvSpPr>
          <p:cNvPr id="1016" name="Google Shape;1016;p81"/>
          <p:cNvSpPr txBox="1"/>
          <p:nvPr>
            <p:ph idx="1" type="body"/>
          </p:nvPr>
        </p:nvSpPr>
        <p:spPr>
          <a:xfrm>
            <a:off x="324000" y="2766425"/>
            <a:ext cx="48507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Geometric sequence with first five terms: 6, 12, 24, 48, 96, … </a:t>
            </a:r>
            <a:endParaRPr sz="1800"/>
          </a:p>
        </p:txBody>
      </p:sp>
      <p:sp>
        <p:nvSpPr>
          <p:cNvPr id="1017" name="Google Shape;1017;p81"/>
          <p:cNvSpPr txBox="1"/>
          <p:nvPr>
            <p:ph idx="1" type="body"/>
          </p:nvPr>
        </p:nvSpPr>
        <p:spPr>
          <a:xfrm>
            <a:off x="324000" y="3513175"/>
            <a:ext cx="48507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Geometric sequence with first five terms: 6, 18, 54, 162, 486, … </a:t>
            </a:r>
            <a:endParaRPr sz="1800"/>
          </a:p>
        </p:txBody>
      </p:sp>
      <p:sp>
        <p:nvSpPr>
          <p:cNvPr id="1018" name="Google Shape;1018;p81"/>
          <p:cNvSpPr txBox="1"/>
          <p:nvPr>
            <p:ph idx="1" type="body"/>
          </p:nvPr>
        </p:nvSpPr>
        <p:spPr>
          <a:xfrm>
            <a:off x="324000" y="4259950"/>
            <a:ext cx="48507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 Geometric sequence with first five terms: 12, 36, 108, 324, 972, … </a:t>
            </a:r>
            <a:endParaRPr sz="1800"/>
          </a:p>
        </p:txBody>
      </p:sp>
      <p:sp>
        <p:nvSpPr>
          <p:cNvPr id="1019" name="Google Shape;1019;p81"/>
          <p:cNvSpPr txBox="1"/>
          <p:nvPr>
            <p:ph idx="1" type="body"/>
          </p:nvPr>
        </p:nvSpPr>
        <p:spPr>
          <a:xfrm>
            <a:off x="6256800" y="12729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3</a:t>
            </a:r>
            <a:r>
              <a:rPr baseline="30000"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0" name="Google Shape;1020;p81"/>
          <p:cNvSpPr txBox="1"/>
          <p:nvPr>
            <p:ph idx="1" type="body"/>
          </p:nvPr>
        </p:nvSpPr>
        <p:spPr>
          <a:xfrm>
            <a:off x="6256800" y="20349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</a:t>
            </a:r>
            <a:r>
              <a:rPr baseline="30000"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1" name="Google Shape;1021;p81"/>
          <p:cNvSpPr txBox="1"/>
          <p:nvPr>
            <p:ph idx="1" type="body"/>
          </p:nvPr>
        </p:nvSpPr>
        <p:spPr>
          <a:xfrm>
            <a:off x="6256800" y="27969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3</a:t>
            </a:r>
            <a:r>
              <a:rPr baseline="30000" i="1"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2" name="Google Shape;1022;p81"/>
          <p:cNvSpPr txBox="1"/>
          <p:nvPr>
            <p:ph idx="1" type="body"/>
          </p:nvPr>
        </p:nvSpPr>
        <p:spPr>
          <a:xfrm>
            <a:off x="6256800" y="34827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3" name="Google Shape;1023;p81"/>
          <p:cNvSpPr txBox="1"/>
          <p:nvPr>
            <p:ph idx="1" type="body"/>
          </p:nvPr>
        </p:nvSpPr>
        <p:spPr>
          <a:xfrm>
            <a:off x="6256800" y="4244700"/>
            <a:ext cx="2265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n + 2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baseline="30000" i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24" name="Google Shape;1024;p81"/>
          <p:cNvCxnSpPr>
            <a:stCxn id="1014" idx="3"/>
            <a:endCxn id="1022" idx="1"/>
          </p:cNvCxnSpPr>
          <p:nvPr/>
        </p:nvCxnSpPr>
        <p:spPr>
          <a:xfrm>
            <a:off x="5344200" y="1501050"/>
            <a:ext cx="912600" cy="2209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81"/>
          <p:cNvCxnSpPr>
            <a:stCxn id="1015" idx="3"/>
            <a:endCxn id="1023" idx="1"/>
          </p:cNvCxnSpPr>
          <p:nvPr/>
        </p:nvCxnSpPr>
        <p:spPr>
          <a:xfrm>
            <a:off x="5245200" y="2247800"/>
            <a:ext cx="1011600" cy="2225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81"/>
          <p:cNvCxnSpPr>
            <a:stCxn id="1016" idx="3"/>
            <a:endCxn id="1020" idx="1"/>
          </p:cNvCxnSpPr>
          <p:nvPr/>
        </p:nvCxnSpPr>
        <p:spPr>
          <a:xfrm flipH="1" rot="10800000">
            <a:off x="5174700" y="2263175"/>
            <a:ext cx="1082100" cy="731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81"/>
          <p:cNvCxnSpPr>
            <a:stCxn id="1017" idx="3"/>
            <a:endCxn id="1021" idx="1"/>
          </p:cNvCxnSpPr>
          <p:nvPr/>
        </p:nvCxnSpPr>
        <p:spPr>
          <a:xfrm flipH="1" rot="10800000">
            <a:off x="5174700" y="3024925"/>
            <a:ext cx="1082100" cy="716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81"/>
          <p:cNvCxnSpPr>
            <a:stCxn id="1018" idx="3"/>
            <a:endCxn id="1019" idx="1"/>
          </p:cNvCxnSpPr>
          <p:nvPr/>
        </p:nvCxnSpPr>
        <p:spPr>
          <a:xfrm flipH="1" rot="10800000">
            <a:off x="5174700" y="1501000"/>
            <a:ext cx="1082100" cy="2987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1034" name="Google Shape;1034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3) Use graphing software to help with the following questions. </a:t>
            </a:r>
            <a:endParaRPr sz="1800"/>
          </a:p>
        </p:txBody>
      </p:sp>
      <p:sp>
        <p:nvSpPr>
          <p:cNvPr id="1035" name="Google Shape;1035;p82"/>
          <p:cNvSpPr txBox="1"/>
          <p:nvPr>
            <p:ph idx="1" type="body"/>
          </p:nvPr>
        </p:nvSpPr>
        <p:spPr>
          <a:xfrm>
            <a:off x="324000" y="1206638"/>
            <a:ext cx="4651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Is the number 30 in this sequence? </a:t>
            </a:r>
            <a:endParaRPr sz="1800"/>
          </a:p>
        </p:txBody>
      </p:sp>
      <p:graphicFrame>
        <p:nvGraphicFramePr>
          <p:cNvPr id="1036" name="Google Shape;1036;p82"/>
          <p:cNvGraphicFramePr/>
          <p:nvPr/>
        </p:nvGraphicFramePr>
        <p:xfrm>
          <a:off x="4765424" y="10726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{DDCAEAE3-CF4D-405B-8A84-91F447B521C0}</a:tableStyleId>
              </a:tblPr>
              <a:tblGrid>
                <a:gridCol w="1313975"/>
                <a:gridCol w="428350"/>
                <a:gridCol w="428350"/>
                <a:gridCol w="428350"/>
                <a:gridCol w="428350"/>
                <a:gridCol w="1027150"/>
              </a:tblGrid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7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−1.5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0.6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2.7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4.8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2.1</a:t>
                      </a: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r>
                        <a:rPr lang="en-GB" sz="17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3.6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7" name="Google Shape;1037;p82"/>
          <p:cNvSpPr txBox="1"/>
          <p:nvPr>
            <p:ph idx="1" type="body"/>
          </p:nvPr>
        </p:nvSpPr>
        <p:spPr>
          <a:xfrm>
            <a:off x="324000" y="2121050"/>
            <a:ext cx="4651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Is the number 2044 in this sequence? </a:t>
            </a:r>
            <a:endParaRPr sz="1800"/>
          </a:p>
        </p:txBody>
      </p:sp>
      <p:sp>
        <p:nvSpPr>
          <p:cNvPr id="1038" name="Google Shape;1038;p82"/>
          <p:cNvSpPr txBox="1"/>
          <p:nvPr>
            <p:ph idx="1" type="body"/>
          </p:nvPr>
        </p:nvSpPr>
        <p:spPr>
          <a:xfrm>
            <a:off x="324000" y="3035450"/>
            <a:ext cx="4651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Is the number 1280 in this sequence? </a:t>
            </a:r>
            <a:endParaRPr sz="1800"/>
          </a:p>
        </p:txBody>
      </p:sp>
      <p:sp>
        <p:nvSpPr>
          <p:cNvPr id="1039" name="Google Shape;1039;p82"/>
          <p:cNvSpPr txBox="1"/>
          <p:nvPr>
            <p:ph idx="1" type="body"/>
          </p:nvPr>
        </p:nvSpPr>
        <p:spPr>
          <a:xfrm>
            <a:off x="324000" y="3949850"/>
            <a:ext cx="4651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Is the number 4004 in this sequence? </a:t>
            </a:r>
            <a:endParaRPr sz="1800"/>
          </a:p>
        </p:txBody>
      </p:sp>
      <p:graphicFrame>
        <p:nvGraphicFramePr>
          <p:cNvPr id="1040" name="Google Shape;1040;p82"/>
          <p:cNvGraphicFramePr/>
          <p:nvPr/>
        </p:nvGraphicFramePr>
        <p:xfrm>
          <a:off x="4765424" y="1987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{DDCAEAE3-CF4D-405B-8A84-91F447B521C0}</a:tableStyleId>
              </a:tblPr>
              <a:tblGrid>
                <a:gridCol w="1313975"/>
                <a:gridCol w="427700"/>
                <a:gridCol w="427700"/>
                <a:gridCol w="427700"/>
                <a:gridCol w="427700"/>
                <a:gridCol w="1029725"/>
              </a:tblGrid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72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216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baseline="30000" i="1" lang="en-GB" sz="2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r>
                        <a:rPr baseline="30000" lang="en-GB" sz="2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1" name="Google Shape;1041;p82"/>
          <p:cNvGraphicFramePr/>
          <p:nvPr/>
        </p:nvGraphicFramePr>
        <p:xfrm>
          <a:off x="4765424" y="2901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{DDCAEAE3-CF4D-405B-8A84-91F447B521C0}</a:tableStyleId>
              </a:tblPr>
              <a:tblGrid>
                <a:gridCol w="1313975"/>
                <a:gridCol w="428350"/>
                <a:gridCol w="428350"/>
                <a:gridCol w="428350"/>
                <a:gridCol w="428350"/>
                <a:gridCol w="1027150"/>
              </a:tblGrid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80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 </a:t>
                      </a:r>
                      <a:r>
                        <a:rPr lang="en-GB" sz="17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baseline="30000" i="1"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2" name="Google Shape;1042;p82"/>
          <p:cNvGraphicFramePr/>
          <p:nvPr/>
        </p:nvGraphicFramePr>
        <p:xfrm>
          <a:off x="4765424" y="3815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{DDCAEAE3-CF4D-405B-8A84-91F447B521C0}</a:tableStyleId>
              </a:tblPr>
              <a:tblGrid>
                <a:gridCol w="1313975"/>
                <a:gridCol w="428350"/>
                <a:gridCol w="428350"/>
                <a:gridCol w="428350"/>
                <a:gridCol w="507150"/>
                <a:gridCol w="948350"/>
              </a:tblGrid>
              <a:tr h="31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64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256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baseline="30000" i="1" lang="en-GB" sz="17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3" name="Google Shape;1043;p82"/>
          <p:cNvSpPr txBox="1"/>
          <p:nvPr>
            <p:ph idx="4294967295" type="body"/>
          </p:nvPr>
        </p:nvSpPr>
        <p:spPr>
          <a:xfrm>
            <a:off x="324000" y="1509300"/>
            <a:ext cx="4353900" cy="6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 the 16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4" name="Google Shape;1044;p82"/>
          <p:cNvSpPr txBox="1"/>
          <p:nvPr>
            <p:ph idx="4294967295" type="body"/>
          </p:nvPr>
        </p:nvSpPr>
        <p:spPr>
          <a:xfrm>
            <a:off x="324000" y="2499900"/>
            <a:ext cx="4353900" cy="6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between the 6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7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5" name="Google Shape;1045;p82"/>
          <p:cNvSpPr txBox="1"/>
          <p:nvPr>
            <p:ph idx="4294967295" type="body"/>
          </p:nvPr>
        </p:nvSpPr>
        <p:spPr>
          <a:xfrm>
            <a:off x="324000" y="3397325"/>
            <a:ext cx="43539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 the 8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term 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6" name="Google Shape;1046;p82"/>
          <p:cNvSpPr txBox="1"/>
          <p:nvPr>
            <p:ph idx="4294967295" type="body"/>
          </p:nvPr>
        </p:nvSpPr>
        <p:spPr>
          <a:xfrm>
            <a:off x="324000" y="4275950"/>
            <a:ext cx="4353900" cy="5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between the 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6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8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sequences using Desmos</a:t>
            </a:r>
            <a:endParaRPr/>
          </a:p>
        </p:txBody>
      </p:sp>
      <p:sp>
        <p:nvSpPr>
          <p:cNvPr id="1052" name="Google Shape;1052;p8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053" name="Google Shape;1053;p83"/>
          <p:cNvSpPr txBox="1"/>
          <p:nvPr>
            <p:ph idx="3" type="title"/>
          </p:nvPr>
        </p:nvSpPr>
        <p:spPr>
          <a:xfrm>
            <a:off x="324000" y="657600"/>
            <a:ext cx="61017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special number sequences using technology</a:t>
            </a:r>
            <a:endParaRPr/>
          </a:p>
        </p:txBody>
      </p:sp>
      <p:pic>
        <p:nvPicPr>
          <p:cNvPr id="1054" name="Google Shape;105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77" y="299515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060" name="Google Shape;1060;p84"/>
          <p:cNvSpPr txBox="1"/>
          <p:nvPr>
            <p:ph idx="1" type="body"/>
          </p:nvPr>
        </p:nvSpPr>
        <p:spPr>
          <a:xfrm>
            <a:off x="4320000" y="801000"/>
            <a:ext cx="4500000" cy="11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build a sequences out of square numbers.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are the first five square numbers?  </a:t>
            </a:r>
            <a:endParaRPr sz="1800"/>
          </a:p>
        </p:txBody>
      </p:sp>
      <p:grpSp>
        <p:nvGrpSpPr>
          <p:cNvPr id="1061" name="Google Shape;1061;p84"/>
          <p:cNvGrpSpPr/>
          <p:nvPr/>
        </p:nvGrpSpPr>
        <p:grpSpPr>
          <a:xfrm>
            <a:off x="359300" y="762125"/>
            <a:ext cx="3859925" cy="1757567"/>
            <a:chOff x="359300" y="762125"/>
            <a:chExt cx="3859925" cy="1757567"/>
          </a:xfrm>
        </p:grpSpPr>
        <p:pic>
          <p:nvPicPr>
            <p:cNvPr id="1062" name="Google Shape;1062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8177" y="1619996"/>
              <a:ext cx="446257" cy="5580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84"/>
            <p:cNvSpPr txBox="1"/>
            <p:nvPr/>
          </p:nvSpPr>
          <p:spPr>
            <a:xfrm flipH="1">
              <a:off x="359300" y="2159992"/>
              <a:ext cx="8640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64" name="Google Shape;1064;p84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913349" y="762125"/>
              <a:ext cx="3305876" cy="1117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84"/>
            <p:cNvSpPr txBox="1"/>
            <p:nvPr/>
          </p:nvSpPr>
          <p:spPr>
            <a:xfrm>
              <a:off x="1136400" y="810000"/>
              <a:ext cx="3026400" cy="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wonder what the square numbers look like when plotted on a graph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6" name="Google Shape;1066;p84"/>
          <p:cNvSpPr txBox="1"/>
          <p:nvPr>
            <p:ph idx="1" type="body"/>
          </p:nvPr>
        </p:nvSpPr>
        <p:spPr>
          <a:xfrm>
            <a:off x="4320000" y="2008200"/>
            <a:ext cx="4500000" cy="4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1, 4, 9, 16, 25, …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4"/>
          <p:cNvSpPr txBox="1"/>
          <p:nvPr>
            <p:ph idx="1" type="body"/>
          </p:nvPr>
        </p:nvSpPr>
        <p:spPr>
          <a:xfrm>
            <a:off x="316305" y="2700000"/>
            <a:ext cx="4777800" cy="11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Use the table function to plot these points.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You can stretch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axis to get a better idea of the shape of the graph.  </a:t>
            </a:r>
            <a:r>
              <a:rPr lang="en-GB" sz="1800"/>
              <a:t>  </a:t>
            </a:r>
            <a:endParaRPr sz="1800"/>
          </a:p>
        </p:txBody>
      </p:sp>
      <p:pic>
        <p:nvPicPr>
          <p:cNvPr id="1068" name="Google Shape;1068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4820" y="2571750"/>
            <a:ext cx="3000130" cy="22486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9" name="Google Shape;1069;p84"/>
          <p:cNvSpPr txBox="1"/>
          <p:nvPr>
            <p:ph idx="1" type="body"/>
          </p:nvPr>
        </p:nvSpPr>
        <p:spPr>
          <a:xfrm>
            <a:off x="359300" y="4186200"/>
            <a:ext cx="4777800" cy="55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the </a:t>
            </a:r>
            <a:r>
              <a:rPr lang="en-GB" sz="1800"/>
              <a:t>beginning</a:t>
            </a:r>
            <a:r>
              <a:rPr lang="en-GB" sz="1800"/>
              <a:t> of the sequence of all square numbers in ascending order. </a:t>
            </a:r>
            <a:r>
              <a:rPr lang="en-GB" sz="1800"/>
              <a:t> 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075" name="Google Shape;1075;p85"/>
          <p:cNvSpPr txBox="1"/>
          <p:nvPr>
            <p:ph idx="1" type="body"/>
          </p:nvPr>
        </p:nvSpPr>
        <p:spPr>
          <a:xfrm>
            <a:off x="324000" y="801000"/>
            <a:ext cx="84960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is this sequence generated? What would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be?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076" name="Google Shape;1076;p85"/>
          <p:cNvSpPr txBox="1"/>
          <p:nvPr>
            <p:ph idx="1" type="body"/>
          </p:nvPr>
        </p:nvSpPr>
        <p:spPr>
          <a:xfrm>
            <a:off x="324000" y="1182000"/>
            <a:ext cx="8496000" cy="79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is generated by squaring the term number. The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term is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077" name="Google Shape;1077;p85"/>
          <p:cNvSpPr txBox="1"/>
          <p:nvPr>
            <p:ph idx="1" type="body"/>
          </p:nvPr>
        </p:nvSpPr>
        <p:spPr>
          <a:xfrm>
            <a:off x="324000" y="1563000"/>
            <a:ext cx="8496000" cy="79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Jun uses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to draw this graph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grpSp>
        <p:nvGrpSpPr>
          <p:cNvPr id="1078" name="Google Shape;1078;p85"/>
          <p:cNvGrpSpPr/>
          <p:nvPr/>
        </p:nvGrpSpPr>
        <p:grpSpPr>
          <a:xfrm>
            <a:off x="324000" y="1620000"/>
            <a:ext cx="8496006" cy="2389800"/>
            <a:chOff x="324000" y="1620000"/>
            <a:chExt cx="8496006" cy="2389800"/>
          </a:xfrm>
        </p:grpSpPr>
        <p:pic>
          <p:nvPicPr>
            <p:cNvPr id="1079" name="Google Shape;1079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85850" y="1620000"/>
              <a:ext cx="2534156" cy="2389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80" name="Google Shape;1080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2877" y="2772133"/>
              <a:ext cx="446257" cy="5580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1" name="Google Shape;1081;p85"/>
            <p:cNvSpPr txBox="1"/>
            <p:nvPr/>
          </p:nvSpPr>
          <p:spPr>
            <a:xfrm flipH="1">
              <a:off x="324000" y="3312130"/>
              <a:ext cx="8640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82" name="Google Shape;1082;p85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 flipH="1">
              <a:off x="878049" y="1996550"/>
              <a:ext cx="3305876" cy="90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85"/>
            <p:cNvSpPr txBox="1"/>
            <p:nvPr/>
          </p:nvSpPr>
          <p:spPr>
            <a:xfrm>
              <a:off x="1101100" y="1962138"/>
              <a:ext cx="3026400" cy="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That’s interesting, it makes a sort of ‘U’ shape.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4" name="Google Shape;1084;p85"/>
          <p:cNvSpPr txBox="1"/>
          <p:nvPr>
            <p:ph idx="1" type="body"/>
          </p:nvPr>
        </p:nvSpPr>
        <p:spPr>
          <a:xfrm>
            <a:off x="338114" y="4009800"/>
            <a:ext cx="8496000" cy="6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Jun’s comment applies to the graph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lang="en-GB" sz="1800"/>
              <a:t> </a:t>
            </a:r>
            <a:r>
              <a:rPr lang="en-GB" sz="1800"/>
              <a:t>What does he need to remember about the sequence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pic>
        <p:nvPicPr>
          <p:cNvPr id="1090" name="Google Shape;109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9650" y="1620000"/>
            <a:ext cx="2534156" cy="238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1" name="Google Shape;1091;p86"/>
          <p:cNvSpPr txBox="1"/>
          <p:nvPr>
            <p:ph idx="1" type="body"/>
          </p:nvPr>
        </p:nvSpPr>
        <p:spPr>
          <a:xfrm>
            <a:off x="323989" y="806550"/>
            <a:ext cx="8496000" cy="6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Jun’s comment applies to the graph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lang="en-GB" sz="1800"/>
              <a:t> </a:t>
            </a:r>
            <a:r>
              <a:rPr lang="en-GB" sz="1800"/>
              <a:t>What does he need to remember about the sequence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?</a:t>
            </a:r>
            <a:endParaRPr sz="1800"/>
          </a:p>
        </p:txBody>
      </p:sp>
      <p:sp>
        <p:nvSpPr>
          <p:cNvPr id="1092" name="Google Shape;1092;p86"/>
          <p:cNvSpPr txBox="1"/>
          <p:nvPr>
            <p:ph idx="1" type="body"/>
          </p:nvPr>
        </p:nvSpPr>
        <p:spPr>
          <a:xfrm>
            <a:off x="324000" y="1657475"/>
            <a:ext cx="5450400" cy="11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starts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so the part of the graph to the left of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not part of the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3" name="Google Shape;1093;p86"/>
          <p:cNvSpPr txBox="1"/>
          <p:nvPr>
            <p:ph idx="1" type="body"/>
          </p:nvPr>
        </p:nvSpPr>
        <p:spPr>
          <a:xfrm>
            <a:off x="324000" y="3017500"/>
            <a:ext cx="5450400" cy="7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Try using curly brackets so the graph no longer shows values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less than 1</a:t>
            </a:r>
            <a:endParaRPr sz="1800"/>
          </a:p>
        </p:txBody>
      </p:sp>
      <p:pic>
        <p:nvPicPr>
          <p:cNvPr id="1094" name="Google Shape;109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9650" y="1620000"/>
            <a:ext cx="2580853" cy="238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95" name="Google Shape;1095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9995" y="3387325"/>
            <a:ext cx="1712413" cy="4702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6" name="Google Shape;1096;p86"/>
          <p:cNvSpPr txBox="1"/>
          <p:nvPr>
            <p:ph idx="1" type="body"/>
          </p:nvPr>
        </p:nvSpPr>
        <p:spPr>
          <a:xfrm>
            <a:off x="324000" y="4202850"/>
            <a:ext cx="8496000" cy="5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 the sequence of all </a:t>
            </a:r>
            <a:r>
              <a:rPr lang="en-GB" sz="1800">
                <a:solidFill>
                  <a:schemeClr val="accent5"/>
                </a:solidFill>
              </a:rPr>
              <a:t>cube</a:t>
            </a:r>
            <a:r>
              <a:rPr lang="en-GB" sz="1800"/>
              <a:t> numbers in ascending order will look like when plotted? Make a prediction.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102" name="Google Shape;1102;p87"/>
          <p:cNvSpPr txBox="1"/>
          <p:nvPr>
            <p:ph idx="1" type="body"/>
          </p:nvPr>
        </p:nvSpPr>
        <p:spPr>
          <a:xfrm>
            <a:off x="323989" y="806550"/>
            <a:ext cx="8496000" cy="6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sequence of all cube numbers in ascending order is generated by cubing the term number,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is therefore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18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/>
              <a:t> ?</a:t>
            </a:r>
            <a:endParaRPr sz="1800"/>
          </a:p>
        </p:txBody>
      </p:sp>
      <p:sp>
        <p:nvSpPr>
          <p:cNvPr id="1103" name="Google Shape;1103;p87"/>
          <p:cNvSpPr txBox="1"/>
          <p:nvPr>
            <p:ph idx="1" type="body"/>
          </p:nvPr>
        </p:nvSpPr>
        <p:spPr>
          <a:xfrm>
            <a:off x="324000" y="1624125"/>
            <a:ext cx="5602800" cy="7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Use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to generate the first 10 terms of the sequence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/>
              <a:t> on a graph. </a:t>
            </a:r>
            <a:endParaRPr sz="1800"/>
          </a:p>
        </p:txBody>
      </p:sp>
      <p:sp>
        <p:nvSpPr>
          <p:cNvPr id="1104" name="Google Shape;1104;p87"/>
          <p:cNvSpPr txBox="1"/>
          <p:nvPr>
            <p:ph idx="1" type="body"/>
          </p:nvPr>
        </p:nvSpPr>
        <p:spPr>
          <a:xfrm>
            <a:off x="324000" y="2571750"/>
            <a:ext cx="4248000" cy="5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sequence also produces a curve, it increases at a faster rate than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105" name="Google Shape;110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800" y="1579350"/>
            <a:ext cx="2912399" cy="241460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06" name="Google Shape;1106;p87"/>
          <p:cNvGrpSpPr/>
          <p:nvPr/>
        </p:nvGrpSpPr>
        <p:grpSpPr>
          <a:xfrm>
            <a:off x="323999" y="3240027"/>
            <a:ext cx="3662493" cy="1591535"/>
            <a:chOff x="323999" y="3240027"/>
            <a:chExt cx="3662493" cy="1591535"/>
          </a:xfrm>
        </p:grpSpPr>
        <p:pic>
          <p:nvPicPr>
            <p:cNvPr id="1107" name="Google Shape;1107;p8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665608" y="3869005"/>
              <a:ext cx="475963" cy="587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87"/>
            <p:cNvSpPr txBox="1"/>
            <p:nvPr/>
          </p:nvSpPr>
          <p:spPr>
            <a:xfrm flipH="1">
              <a:off x="323999" y="4447861"/>
              <a:ext cx="1084800" cy="3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09" name="Google Shape;1109;p87"/>
            <p:cNvGrpSpPr/>
            <p:nvPr/>
          </p:nvGrpSpPr>
          <p:grpSpPr>
            <a:xfrm>
              <a:off x="1216315" y="3240027"/>
              <a:ext cx="2770177" cy="1064451"/>
              <a:chOff x="1807242" y="1612131"/>
              <a:chExt cx="2339676" cy="1011163"/>
            </a:xfrm>
          </p:grpSpPr>
          <p:pic>
            <p:nvPicPr>
              <p:cNvPr id="1110" name="Google Shape;1110;p8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69082" t="56280"/>
              <a:stretch/>
            </p:blipFill>
            <p:spPr>
              <a:xfrm flipH="1">
                <a:off x="1807242" y="1612131"/>
                <a:ext cx="2339676" cy="10111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1" name="Google Shape;1111;p87"/>
              <p:cNvSpPr txBox="1"/>
              <p:nvPr/>
            </p:nvSpPr>
            <p:spPr>
              <a:xfrm flipH="1">
                <a:off x="1968193" y="1771126"/>
                <a:ext cx="20535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the number 1 is in both sequences</a:t>
                </a:r>
                <a:endParaRPr i="1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112" name="Google Shape;1112;p87"/>
          <p:cNvSpPr txBox="1"/>
          <p:nvPr>
            <p:ph idx="1" type="body"/>
          </p:nvPr>
        </p:nvSpPr>
        <p:spPr>
          <a:xfrm>
            <a:off x="1684800" y="4452750"/>
            <a:ext cx="7154400" cy="5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Jacob correct? How do you know? </a:t>
            </a:r>
            <a:endParaRPr sz="1800"/>
          </a:p>
        </p:txBody>
      </p:sp>
      <p:grpSp>
        <p:nvGrpSpPr>
          <p:cNvPr id="1113" name="Google Shape;1113;p87"/>
          <p:cNvGrpSpPr/>
          <p:nvPr/>
        </p:nvGrpSpPr>
        <p:grpSpPr>
          <a:xfrm>
            <a:off x="4788999" y="2160000"/>
            <a:ext cx="2915701" cy="2160000"/>
            <a:chOff x="4788999" y="2160000"/>
            <a:chExt cx="2915701" cy="2160000"/>
          </a:xfrm>
        </p:grpSpPr>
        <p:pic>
          <p:nvPicPr>
            <p:cNvPr id="1114" name="Google Shape;1114;p8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88999" y="2160000"/>
              <a:ext cx="985394" cy="4298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15" name="Google Shape;1115;p87"/>
            <p:cNvPicPr preferRelativeResize="0"/>
            <p:nvPr/>
          </p:nvPicPr>
          <p:blipFill rotWithShape="1">
            <a:blip r:embed="rId7">
              <a:alphaModFix/>
            </a:blip>
            <a:srcRect b="6454" l="0" r="0" t="0"/>
            <a:stretch/>
          </p:blipFill>
          <p:spPr>
            <a:xfrm>
              <a:off x="4788999" y="3890199"/>
              <a:ext cx="985400" cy="42980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116" name="Google Shape;1116;p87"/>
            <p:cNvCxnSpPr/>
            <p:nvPr/>
          </p:nvCxnSpPr>
          <p:spPr>
            <a:xfrm>
              <a:off x="5842000" y="2349500"/>
              <a:ext cx="1862700" cy="169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87"/>
            <p:cNvCxnSpPr/>
            <p:nvPr/>
          </p:nvCxnSpPr>
          <p:spPr>
            <a:xfrm flipH="1" rot="10800000">
              <a:off x="5771450" y="3796000"/>
              <a:ext cx="1383000" cy="345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123" name="Google Shape;1123;p88"/>
          <p:cNvSpPr txBox="1"/>
          <p:nvPr>
            <p:ph idx="1" type="body"/>
          </p:nvPr>
        </p:nvSpPr>
        <p:spPr>
          <a:xfrm>
            <a:off x="324000" y="730350"/>
            <a:ext cx="54504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sequences have the coordinate (1,1) on their graphs. They both have a first term of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4" name="Google Shape;112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800" y="1579350"/>
            <a:ext cx="2912399" cy="241460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5" name="Google Shape;1125;p88"/>
          <p:cNvSpPr txBox="1"/>
          <p:nvPr>
            <p:ph idx="1" type="body"/>
          </p:nvPr>
        </p:nvSpPr>
        <p:spPr>
          <a:xfrm>
            <a:off x="324000" y="2028550"/>
            <a:ext cx="39960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other terms which are in both sequences just not in the same position in the sequence.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8"/>
          <p:cNvSpPr txBox="1"/>
          <p:nvPr>
            <p:ph idx="1" type="body"/>
          </p:nvPr>
        </p:nvSpPr>
        <p:spPr>
          <a:xfrm>
            <a:off x="324000" y="3141200"/>
            <a:ext cx="39960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By zooming in, we can see that 64 is the 4</a:t>
            </a:r>
            <a:r>
              <a:rPr baseline="30000" lang="en-GB" sz="1800"/>
              <a:t>th</a:t>
            </a:r>
            <a:r>
              <a:rPr lang="en-GB" sz="1800"/>
              <a:t> term in the sequence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/>
              <a:t> and the 8</a:t>
            </a:r>
            <a:r>
              <a:rPr baseline="30000" lang="en-GB" sz="1800"/>
              <a:t>th</a:t>
            </a:r>
            <a:r>
              <a:rPr lang="en-GB" sz="1800"/>
              <a:t> term in the sequence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27" name="Google Shape;112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650" y="1968500"/>
            <a:ext cx="4355550" cy="2238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8" name="Google Shape;1128;p88"/>
          <p:cNvSpPr txBox="1"/>
          <p:nvPr>
            <p:ph idx="1" type="body"/>
          </p:nvPr>
        </p:nvSpPr>
        <p:spPr>
          <a:xfrm>
            <a:off x="324000" y="4432800"/>
            <a:ext cx="84960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Numbers in both sequences will be on the same horizontal line.</a:t>
            </a:r>
            <a:endParaRPr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134" name="Google Shape;1134;p89"/>
          <p:cNvSpPr txBox="1"/>
          <p:nvPr>
            <p:ph idx="1" type="body"/>
          </p:nvPr>
        </p:nvSpPr>
        <p:spPr>
          <a:xfrm>
            <a:off x="324000" y="772200"/>
            <a:ext cx="84960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 the sequence of all triangular numbers will look like when plotted?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35" name="Google Shape;1135;p89"/>
          <p:cNvGrpSpPr/>
          <p:nvPr/>
        </p:nvGrpSpPr>
        <p:grpSpPr>
          <a:xfrm>
            <a:off x="171599" y="1456335"/>
            <a:ext cx="3135885" cy="1743976"/>
            <a:chOff x="171599" y="1456335"/>
            <a:chExt cx="3135885" cy="1743976"/>
          </a:xfrm>
        </p:grpSpPr>
        <p:pic>
          <p:nvPicPr>
            <p:cNvPr id="1136" name="Google Shape;113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13208" y="2237755"/>
              <a:ext cx="475963" cy="587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89"/>
            <p:cNvSpPr txBox="1"/>
            <p:nvPr/>
          </p:nvSpPr>
          <p:spPr>
            <a:xfrm flipH="1">
              <a:off x="171599" y="2816611"/>
              <a:ext cx="1084800" cy="3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38" name="Google Shape;1138;p89"/>
            <p:cNvGrpSpPr/>
            <p:nvPr/>
          </p:nvGrpSpPr>
          <p:grpSpPr>
            <a:xfrm>
              <a:off x="758947" y="1456335"/>
              <a:ext cx="2548537" cy="1064441"/>
              <a:chOff x="1807234" y="1612132"/>
              <a:chExt cx="2064261" cy="1011153"/>
            </a:xfrm>
          </p:grpSpPr>
          <p:pic>
            <p:nvPicPr>
              <p:cNvPr id="1139" name="Google Shape;1139;p8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807234" y="1612132"/>
                <a:ext cx="2064261" cy="10111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40" name="Google Shape;1140;p89"/>
              <p:cNvSpPr txBox="1"/>
              <p:nvPr/>
            </p:nvSpPr>
            <p:spPr>
              <a:xfrm flipH="1">
                <a:off x="1968338" y="1771127"/>
                <a:ext cx="18693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they will make a curve again</a:t>
                </a:r>
                <a:endParaRPr i="1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grpSp>
        <p:nvGrpSpPr>
          <p:cNvPr id="1141" name="Google Shape;1141;p89"/>
          <p:cNvGrpSpPr/>
          <p:nvPr/>
        </p:nvGrpSpPr>
        <p:grpSpPr>
          <a:xfrm>
            <a:off x="307263" y="3218833"/>
            <a:ext cx="3451913" cy="1693005"/>
            <a:chOff x="307263" y="3218833"/>
            <a:chExt cx="3451913" cy="1693005"/>
          </a:xfrm>
        </p:grpSpPr>
        <p:pic>
          <p:nvPicPr>
            <p:cNvPr id="1142" name="Google Shape;1142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6139" y="4012142"/>
              <a:ext cx="446257" cy="5580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89"/>
            <p:cNvSpPr txBox="1"/>
            <p:nvPr/>
          </p:nvSpPr>
          <p:spPr>
            <a:xfrm flipH="1">
              <a:off x="307263" y="4552138"/>
              <a:ext cx="8640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44" name="Google Shape;1144;p89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861327" y="3218833"/>
              <a:ext cx="2897848" cy="12114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89"/>
            <p:cNvSpPr txBox="1"/>
            <p:nvPr/>
          </p:nvSpPr>
          <p:spPr>
            <a:xfrm>
              <a:off x="1084363" y="3342433"/>
              <a:ext cx="2611200" cy="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they will be between the square and cube numbers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89"/>
          <p:cNvGrpSpPr/>
          <p:nvPr/>
        </p:nvGrpSpPr>
        <p:grpSpPr>
          <a:xfrm>
            <a:off x="4401259" y="1813350"/>
            <a:ext cx="4380954" cy="1674441"/>
            <a:chOff x="4401259" y="1813350"/>
            <a:chExt cx="4380954" cy="1674441"/>
          </a:xfrm>
        </p:grpSpPr>
        <p:sp>
          <p:nvSpPr>
            <p:cNvPr id="1147" name="Google Shape;1147;p89"/>
            <p:cNvSpPr txBox="1"/>
            <p:nvPr/>
          </p:nvSpPr>
          <p:spPr>
            <a:xfrm flipH="1">
              <a:off x="7833313" y="3084591"/>
              <a:ext cx="948900" cy="40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48" name="Google Shape;1148;p8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8033042" y="2385836"/>
              <a:ext cx="549266" cy="616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9" name="Google Shape;1149;p89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 flipH="1">
              <a:off x="4401259" y="1813350"/>
              <a:ext cx="3760148" cy="1175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0" name="Google Shape;1150;p89"/>
            <p:cNvSpPr/>
            <p:nvPr/>
          </p:nvSpPr>
          <p:spPr>
            <a:xfrm>
              <a:off x="4535293" y="1892150"/>
              <a:ext cx="3497700" cy="8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think they will start in the same place as the square and cube numbers.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1" name="Google Shape;1151;p89"/>
          <p:cNvSpPr txBox="1"/>
          <p:nvPr>
            <p:ph idx="1" type="body"/>
          </p:nvPr>
        </p:nvSpPr>
        <p:spPr>
          <a:xfrm>
            <a:off x="3972275" y="3654775"/>
            <a:ext cx="4847700" cy="9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statements do you agree with? Use these ideas to make your prediction.  </a:t>
            </a:r>
            <a:r>
              <a:rPr lang="en-GB" sz="1800"/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0"/>
          <p:cNvPicPr preferRelativeResize="0"/>
          <p:nvPr/>
        </p:nvPicPr>
        <p:blipFill rotWithShape="1">
          <a:blip r:embed="rId3">
            <a:alphaModFix/>
          </a:blip>
          <a:srcRect b="3846" l="0" r="0" t="0"/>
          <a:stretch/>
        </p:blipFill>
        <p:spPr>
          <a:xfrm>
            <a:off x="4917600" y="1694141"/>
            <a:ext cx="3902399" cy="236985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7" name="Google Shape;115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158" name="Google Shape;1158;p90"/>
          <p:cNvSpPr txBox="1"/>
          <p:nvPr>
            <p:ph idx="1" type="body"/>
          </p:nvPr>
        </p:nvSpPr>
        <p:spPr>
          <a:xfrm>
            <a:off x="324000" y="806550"/>
            <a:ext cx="8496000" cy="5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for the triangular numbers can be written as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90"/>
          <p:cNvSpPr txBox="1"/>
          <p:nvPr>
            <p:ph idx="1" type="body"/>
          </p:nvPr>
        </p:nvSpPr>
        <p:spPr>
          <a:xfrm>
            <a:off x="324000" y="1263750"/>
            <a:ext cx="8496000" cy="5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Use this to generate the first 10 terms in this sequence. Does it look as you predicted? </a:t>
            </a:r>
            <a:r>
              <a:rPr lang="en-GB" sz="1800"/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90"/>
          <p:cNvSpPr txBox="1"/>
          <p:nvPr>
            <p:ph idx="1" type="body"/>
          </p:nvPr>
        </p:nvSpPr>
        <p:spPr>
          <a:xfrm>
            <a:off x="324000" y="2010600"/>
            <a:ext cx="4593600" cy="9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form another curve starting at (1,1) this curve increases at a slower rate.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90"/>
          <p:cNvSpPr txBox="1"/>
          <p:nvPr>
            <p:ph idx="1" type="body"/>
          </p:nvPr>
        </p:nvSpPr>
        <p:spPr>
          <a:xfrm>
            <a:off x="324000" y="2876650"/>
            <a:ext cx="4248000" cy="9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find a number which is in the sequence of square numbers and the sequence of triangular numbers? </a:t>
            </a:r>
            <a:r>
              <a:rPr lang="en-GB" sz="1800"/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62" name="Google Shape;1162;p90"/>
          <p:cNvCxnSpPr/>
          <p:nvPr/>
        </p:nvCxnSpPr>
        <p:spPr>
          <a:xfrm>
            <a:off x="4917600" y="3385607"/>
            <a:ext cx="39024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3" name="Google Shape;1163;p90"/>
          <p:cNvSpPr txBox="1"/>
          <p:nvPr/>
        </p:nvSpPr>
        <p:spPr>
          <a:xfrm>
            <a:off x="4917600" y="3192862"/>
            <a:ext cx="531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90"/>
          <p:cNvSpPr txBox="1"/>
          <p:nvPr>
            <p:ph idx="1" type="body"/>
          </p:nvPr>
        </p:nvSpPr>
        <p:spPr>
          <a:xfrm>
            <a:off x="324000" y="4105500"/>
            <a:ext cx="605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 is the 6th square number and 8th triangular number. 1 is the 1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st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in both sequences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n\left(n+1\right)}{2}&quot;&gt;&lt;mfrac&gt;&lt;mrow&gt;&lt;mi&gt;n&lt;/mi&gt;&lt;mrow data-mjx-texclass=&quot;INNER&quot;&gt;&lt;mo data-mjx-texclass=&quot;OPEN&quot;&gt;(&lt;/mo&gt;&lt;mi&gt;n&lt;/mi&gt;&lt;mo&gt;+&lt;/mo&gt;&lt;mn&gt;1&lt;/mn&gt;&lt;mo data-mjx-texclass=&quot;CLOSE&quot;&gt;)&lt;/mo&gt;&lt;/mrow&gt;&lt;/mrow&gt;&lt;mn&gt;2&lt;/mn&gt;&lt;/mfrac&gt;&lt;/math&gt;" id="1165" name="Google Shape;1165;p90" title="n times open paren n plus 1 close paren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7542" y="710492"/>
            <a:ext cx="883589" cy="51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6" name="Google Shape;1166;p90"/>
          <p:cNvCxnSpPr/>
          <p:nvPr/>
        </p:nvCxnSpPr>
        <p:spPr>
          <a:xfrm>
            <a:off x="4377000" y="2500125"/>
            <a:ext cx="3044700" cy="967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172" name="Google Shape;1172;p91"/>
          <p:cNvSpPr txBox="1"/>
          <p:nvPr>
            <p:ph idx="1" type="body"/>
          </p:nvPr>
        </p:nvSpPr>
        <p:spPr>
          <a:xfrm>
            <a:off x="324000" y="806550"/>
            <a:ext cx="8496000" cy="5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you </a:t>
            </a:r>
            <a:r>
              <a:rPr lang="en-GB" sz="1800"/>
              <a:t>have not</a:t>
            </a:r>
            <a:r>
              <a:rPr lang="en-GB" sz="1800"/>
              <a:t> </a:t>
            </a:r>
            <a:r>
              <a:rPr lang="en-GB" sz="1800"/>
              <a:t>already done so</a:t>
            </a:r>
            <a:r>
              <a:rPr lang="en-GB" sz="1800"/>
              <a:t>, input the equations for the square, cube and triangular numbers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greater than or equal to 1 into Desmos.  </a:t>
            </a:r>
            <a:r>
              <a:rPr lang="en-GB" sz="1800"/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91"/>
          <p:cNvSpPr txBox="1"/>
          <p:nvPr>
            <p:ph idx="1" type="body"/>
          </p:nvPr>
        </p:nvSpPr>
        <p:spPr>
          <a:xfrm>
            <a:off x="219775" y="3430500"/>
            <a:ext cx="5932800" cy="8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Your graph should now look like this: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4" name="Google Shape;117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024" y="1670850"/>
            <a:ext cx="2667550" cy="1569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5" name="Google Shape;117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2024950"/>
            <a:ext cx="4093526" cy="27535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181" name="Google Shape;1181;p92"/>
          <p:cNvSpPr txBox="1"/>
          <p:nvPr>
            <p:ph idx="1" type="body"/>
          </p:nvPr>
        </p:nvSpPr>
        <p:spPr>
          <a:xfrm>
            <a:off x="324000" y="806550"/>
            <a:ext cx="8496000" cy="3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are going to explore another type of sequence.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This sequence has the </a:t>
            </a:r>
            <a:r>
              <a:rPr lang="en-GB" sz="1800"/>
              <a:t>first</a:t>
            </a:r>
            <a:r>
              <a:rPr lang="en-GB" sz="1800"/>
              <a:t> two terms 1, 1, …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next term is generated by adding the previous two together: 1, 1, 2, ..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What are the next three terms?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1, 1, 2,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3, 5, 8, …</a:t>
            </a:r>
            <a:r>
              <a:rPr lang="en-GB" sz="1800"/>
              <a:t>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Using the table function on Desmos, plot these six terms.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187" name="Google Shape;1187;p93"/>
          <p:cNvSpPr txBox="1"/>
          <p:nvPr>
            <p:ph idx="1" type="body"/>
          </p:nvPr>
        </p:nvSpPr>
        <p:spPr>
          <a:xfrm>
            <a:off x="324000" y="2831563"/>
            <a:ext cx="84960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Plot the next three terms to see what happens.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88" name="Google Shape;118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86200"/>
            <a:ext cx="4889499" cy="153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89" name="Google Shape;1189;p93"/>
          <p:cNvGrpSpPr/>
          <p:nvPr/>
        </p:nvGrpSpPr>
        <p:grpSpPr>
          <a:xfrm>
            <a:off x="7909125" y="1719504"/>
            <a:ext cx="1016700" cy="945221"/>
            <a:chOff x="7909125" y="1719504"/>
            <a:chExt cx="1016700" cy="945221"/>
          </a:xfrm>
        </p:grpSpPr>
        <p:sp>
          <p:nvSpPr>
            <p:cNvPr id="1190" name="Google Shape;1190;p93"/>
            <p:cNvSpPr txBox="1"/>
            <p:nvPr/>
          </p:nvSpPr>
          <p:spPr>
            <a:xfrm flipH="1">
              <a:off x="7909125" y="2345825"/>
              <a:ext cx="10167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91" name="Google Shape;119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120303" y="1719504"/>
              <a:ext cx="594336" cy="66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2" name="Google Shape;1192;p93"/>
          <p:cNvGrpSpPr/>
          <p:nvPr/>
        </p:nvGrpSpPr>
        <p:grpSpPr>
          <a:xfrm>
            <a:off x="5357651" y="941325"/>
            <a:ext cx="2973599" cy="1218674"/>
            <a:chOff x="5357651" y="941325"/>
            <a:chExt cx="2973599" cy="1218674"/>
          </a:xfrm>
        </p:grpSpPr>
        <p:pic>
          <p:nvPicPr>
            <p:cNvPr id="1193" name="Google Shape;1193;p93"/>
            <p:cNvPicPr preferRelativeResize="0"/>
            <p:nvPr/>
          </p:nvPicPr>
          <p:blipFill rotWithShape="1">
            <a:blip r:embed="rId5">
              <a:alphaModFix/>
            </a:blip>
            <a:srcRect b="4760" l="40550" r="0" t="13015"/>
            <a:stretch/>
          </p:blipFill>
          <p:spPr>
            <a:xfrm flipH="1">
              <a:off x="5357651" y="941325"/>
              <a:ext cx="2973599" cy="1218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3"/>
            <p:cNvSpPr/>
            <p:nvPr/>
          </p:nvSpPr>
          <p:spPr>
            <a:xfrm>
              <a:off x="5461447" y="1010687"/>
              <a:ext cx="2766000" cy="6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This sequence seems to be rising at the slowest rate.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3"/>
          <p:cNvGrpSpPr/>
          <p:nvPr/>
        </p:nvGrpSpPr>
        <p:grpSpPr>
          <a:xfrm>
            <a:off x="5541326" y="2478750"/>
            <a:ext cx="2973599" cy="1218674"/>
            <a:chOff x="5414101" y="2428350"/>
            <a:chExt cx="2973599" cy="1218674"/>
          </a:xfrm>
        </p:grpSpPr>
        <p:pic>
          <p:nvPicPr>
            <p:cNvPr id="1196" name="Google Shape;1196;p93"/>
            <p:cNvPicPr preferRelativeResize="0"/>
            <p:nvPr/>
          </p:nvPicPr>
          <p:blipFill rotWithShape="1">
            <a:blip r:embed="rId5">
              <a:alphaModFix/>
            </a:blip>
            <a:srcRect b="4760" l="40550" r="0" t="13015"/>
            <a:stretch/>
          </p:blipFill>
          <p:spPr>
            <a:xfrm rot="10800000">
              <a:off x="5414101" y="2428350"/>
              <a:ext cx="2973599" cy="1218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3"/>
            <p:cNvSpPr/>
            <p:nvPr/>
          </p:nvSpPr>
          <p:spPr>
            <a:xfrm>
              <a:off x="5461447" y="2724162"/>
              <a:ext cx="2766000" cy="6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Oh, now I think it might overtake the triangular numbers.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8" name="Google Shape;1198;p93"/>
          <p:cNvSpPr txBox="1"/>
          <p:nvPr>
            <p:ph idx="1" type="body"/>
          </p:nvPr>
        </p:nvSpPr>
        <p:spPr>
          <a:xfrm>
            <a:off x="324000" y="3240000"/>
            <a:ext cx="84960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Plot the 10</a:t>
            </a:r>
            <a:r>
              <a:rPr baseline="30000" lang="en-GB" sz="1800"/>
              <a:t>th</a:t>
            </a:r>
            <a:r>
              <a:rPr lang="en-GB" sz="1800"/>
              <a:t> term, what do you notice?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99" name="Google Shape;1199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765330"/>
            <a:ext cx="3996001" cy="186173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0" name="Google Shape;1200;p93"/>
          <p:cNvSpPr txBox="1"/>
          <p:nvPr>
            <p:ph idx="1" type="body"/>
          </p:nvPr>
        </p:nvSpPr>
        <p:spPr>
          <a:xfrm>
            <a:off x="359300" y="3750025"/>
            <a:ext cx="89589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10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in our sequence (55) is the same as the 10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93"/>
          <p:cNvSpPr txBox="1"/>
          <p:nvPr>
            <p:ph idx="1" type="body"/>
          </p:nvPr>
        </p:nvSpPr>
        <p:spPr>
          <a:xfrm>
            <a:off x="324000" y="4154425"/>
            <a:ext cx="84960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When does our sequence overtake the </a:t>
            </a:r>
            <a:r>
              <a:rPr lang="en-GB" sz="1800">
                <a:solidFill>
                  <a:schemeClr val="accent5"/>
                </a:solidFill>
              </a:rPr>
              <a:t>square</a:t>
            </a:r>
            <a:r>
              <a:rPr lang="en-GB" sz="1800"/>
              <a:t> numbers?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2" name="Google Shape;1202;p93"/>
          <p:cNvSpPr txBox="1"/>
          <p:nvPr>
            <p:ph idx="1" type="body"/>
          </p:nvPr>
        </p:nvSpPr>
        <p:spPr>
          <a:xfrm>
            <a:off x="324000" y="4480975"/>
            <a:ext cx="84960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12</a:t>
            </a:r>
            <a:r>
              <a:rPr baseline="30000" lang="en-GB" sz="19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term in our sequence (144) is the same as the 12</a:t>
            </a:r>
            <a:r>
              <a:rPr baseline="30000" lang="en-GB" sz="19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square number.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grpSp>
        <p:nvGrpSpPr>
          <p:cNvPr id="1208" name="Google Shape;1208;p94"/>
          <p:cNvGrpSpPr/>
          <p:nvPr/>
        </p:nvGrpSpPr>
        <p:grpSpPr>
          <a:xfrm>
            <a:off x="323999" y="650473"/>
            <a:ext cx="5243019" cy="1845088"/>
            <a:chOff x="323999" y="650473"/>
            <a:chExt cx="5243019" cy="1845088"/>
          </a:xfrm>
        </p:grpSpPr>
        <p:pic>
          <p:nvPicPr>
            <p:cNvPr id="1209" name="Google Shape;1209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65608" y="1533005"/>
              <a:ext cx="475963" cy="587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4"/>
            <p:cNvSpPr txBox="1"/>
            <p:nvPr/>
          </p:nvSpPr>
          <p:spPr>
            <a:xfrm flipH="1">
              <a:off x="323999" y="2111861"/>
              <a:ext cx="1084800" cy="3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1" name="Google Shape;1211;p94"/>
            <p:cNvGrpSpPr/>
            <p:nvPr/>
          </p:nvGrpSpPr>
          <p:grpSpPr>
            <a:xfrm>
              <a:off x="911422" y="650473"/>
              <a:ext cx="4655596" cy="1433323"/>
              <a:chOff x="1807236" y="1612122"/>
              <a:chExt cx="2879334" cy="1011163"/>
            </a:xfrm>
          </p:grpSpPr>
          <p:pic>
            <p:nvPicPr>
              <p:cNvPr id="1212" name="Google Shape;1212;p9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69082" t="56280"/>
              <a:stretch/>
            </p:blipFill>
            <p:spPr>
              <a:xfrm flipH="1">
                <a:off x="1807236" y="1612122"/>
                <a:ext cx="2879334" cy="10111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3" name="Google Shape;1213;p94"/>
              <p:cNvSpPr txBox="1"/>
              <p:nvPr/>
            </p:nvSpPr>
            <p:spPr>
              <a:xfrm flipH="1">
                <a:off x="2025157" y="1780933"/>
                <a:ext cx="2517300" cy="61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Surely this new sequence will never overtake the </a:t>
                </a:r>
                <a:r>
                  <a:rPr lang="en-GB" sz="18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cube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numbers, they increase at such a fast rate.</a:t>
                </a:r>
                <a:endParaRPr i="1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214" name="Google Shape;1214;p94"/>
          <p:cNvSpPr txBox="1"/>
          <p:nvPr>
            <p:ph idx="1" type="body"/>
          </p:nvPr>
        </p:nvSpPr>
        <p:spPr>
          <a:xfrm>
            <a:off x="5567025" y="856025"/>
            <a:ext cx="30456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do you think?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5" name="Google Shape;1215;p94"/>
          <p:cNvSpPr txBox="1"/>
          <p:nvPr>
            <p:ph idx="1" type="body"/>
          </p:nvPr>
        </p:nvSpPr>
        <p:spPr>
          <a:xfrm>
            <a:off x="324000" y="2560300"/>
            <a:ext cx="4500000" cy="14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may need to keep adjusting your scale to see the new points.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(Use a calculator to help with larger sums where necessary.)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16" name="Google Shape;1216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4000" y="2127375"/>
            <a:ext cx="3501550" cy="260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7" name="Google Shape;1217;p94"/>
          <p:cNvSpPr txBox="1"/>
          <p:nvPr>
            <p:ph idx="1" type="body"/>
          </p:nvPr>
        </p:nvSpPr>
        <p:spPr>
          <a:xfrm>
            <a:off x="5567025" y="1315700"/>
            <a:ext cx="32814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Fill in the table up to term 20 to see what happens.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94"/>
          <p:cNvSpPr txBox="1"/>
          <p:nvPr>
            <p:ph idx="1" type="body"/>
          </p:nvPr>
        </p:nvSpPr>
        <p:spPr>
          <a:xfrm>
            <a:off x="324000" y="4058450"/>
            <a:ext cx="4248000" cy="5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Our sequence overtakes cube numbers between terms 20 and 21.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9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Both sequences contain the number 4 </a:t>
            </a:r>
            <a:endParaRPr sz="1800"/>
          </a:p>
        </p:txBody>
      </p:sp>
      <p:sp>
        <p:nvSpPr>
          <p:cNvPr id="1224" name="Google Shape;12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25" name="Google Shape;1225;p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This graph shows the sequence of square numbers and the sequence </a:t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800">
                <a:solidFill>
                  <a:srgbClr val="222222"/>
                </a:solidFill>
              </a:rPr>
              <a:t>. Which of these statements are true?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6" name="Google Shape;1226;p9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Both sequences contain the number 9</a:t>
            </a:r>
            <a:endParaRPr sz="1800"/>
          </a:p>
        </p:txBody>
      </p:sp>
      <p:sp>
        <p:nvSpPr>
          <p:cNvPr id="1227" name="Google Shape;1227;p9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Both sequences contain the number 14</a:t>
            </a:r>
            <a:endParaRPr sz="1800"/>
          </a:p>
        </p:txBody>
      </p:sp>
      <p:sp>
        <p:nvSpPr>
          <p:cNvPr id="1228" name="Google Shape;1228;p9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Both sequences have the same 5</a:t>
            </a:r>
            <a:r>
              <a:rPr baseline="30000" lang="en-GB" sz="1800"/>
              <a:t>th</a:t>
            </a:r>
            <a:r>
              <a:rPr lang="en-GB" sz="1800"/>
              <a:t> term</a:t>
            </a:r>
            <a:endParaRPr/>
          </a:p>
        </p:txBody>
      </p:sp>
      <p:pic>
        <p:nvPicPr>
          <p:cNvPr id="1229" name="Google Shape;122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869" y="195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6275" y="1187225"/>
            <a:ext cx="3323725" cy="31477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1" name="Google Shape;123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869" y="2773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4869" y="35957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4869" y="43199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95"/>
          <p:cNvSpPr/>
          <p:nvPr/>
        </p:nvSpPr>
        <p:spPr>
          <a:xfrm>
            <a:off x="6187725" y="3563050"/>
            <a:ext cx="677400" cy="21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5"/>
          <p:cNvSpPr/>
          <p:nvPr/>
        </p:nvSpPr>
        <p:spPr>
          <a:xfrm>
            <a:off x="6643500" y="3081850"/>
            <a:ext cx="677400" cy="21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5"/>
          <p:cNvSpPr/>
          <p:nvPr/>
        </p:nvSpPr>
        <p:spPr>
          <a:xfrm>
            <a:off x="7049900" y="2551425"/>
            <a:ext cx="677400" cy="216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5"/>
          <p:cNvSpPr/>
          <p:nvPr/>
        </p:nvSpPr>
        <p:spPr>
          <a:xfrm>
            <a:off x="7999575" y="1403100"/>
            <a:ext cx="361200" cy="489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43" name="Google Shape;1243;p96"/>
          <p:cNvSpPr txBox="1"/>
          <p:nvPr>
            <p:ph idx="1" type="body"/>
          </p:nvPr>
        </p:nvSpPr>
        <p:spPr>
          <a:xfrm>
            <a:off x="324000" y="810000"/>
            <a:ext cx="8496000" cy="39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1a) Plot the first 20 points of the sequences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/>
              <a:t>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and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endParaRPr i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b) Two of the sequences have the same first term, which two?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c) What is happening at the coordinate (2,4) what does this mean about the sequences?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d) Which sequence is increasing at the fastest rate?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e) Find four numbers which are in the sequence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/>
              <a:t> and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2000"/>
              <a:t>f) What is the 15</a:t>
            </a:r>
            <a:r>
              <a:rPr baseline="30000" lang="en-GB" sz="2000"/>
              <a:t>th</a:t>
            </a:r>
            <a:r>
              <a:rPr lang="en-GB" sz="2000"/>
              <a:t> term in the sequence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/>
              <a:t>?</a:t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49" name="Google Shape;1249;p97"/>
          <p:cNvSpPr txBox="1"/>
          <p:nvPr>
            <p:ph idx="1" type="body"/>
          </p:nvPr>
        </p:nvSpPr>
        <p:spPr>
          <a:xfrm>
            <a:off x="324000" y="810000"/>
            <a:ext cx="8496000" cy="39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</a:t>
            </a:r>
            <a:r>
              <a:rPr lang="en-GB" sz="2000"/>
              <a:t>a) Plot the first 20 points of the sequences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,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b) Which sequence has the smallest 1</a:t>
            </a:r>
            <a:r>
              <a:rPr baseline="30000" lang="en-GB" sz="2000"/>
              <a:t>st</a:t>
            </a:r>
            <a:r>
              <a:rPr lang="en-GB" sz="2000"/>
              <a:t> term?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c) </a:t>
            </a:r>
            <a:r>
              <a:rPr lang="en-GB" sz="2000"/>
              <a:t>Which sequence has the smallest 2</a:t>
            </a:r>
            <a:r>
              <a:rPr baseline="30000" lang="en-GB" sz="2000"/>
              <a:t>nd</a:t>
            </a:r>
            <a:r>
              <a:rPr lang="en-GB" sz="2000"/>
              <a:t> term?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d) </a:t>
            </a:r>
            <a:r>
              <a:rPr lang="en-GB" sz="2000"/>
              <a:t>Which sequence has the largest 3</a:t>
            </a:r>
            <a:r>
              <a:rPr baseline="30000" lang="en-GB" sz="2000"/>
              <a:t>rd</a:t>
            </a:r>
            <a:r>
              <a:rPr lang="en-GB" sz="2000"/>
              <a:t> term?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e) </a:t>
            </a:r>
            <a:r>
              <a:rPr lang="en-GB" sz="2000"/>
              <a:t>What do you</a:t>
            </a:r>
            <a:r>
              <a:rPr lang="en-GB" sz="2000"/>
              <a:t> notice about the sequences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and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?</a:t>
            </a:r>
            <a:endParaRPr baseline="30000" sz="20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55" name="Google Shape;1255;p98"/>
          <p:cNvSpPr txBox="1"/>
          <p:nvPr>
            <p:ph idx="1" type="body"/>
          </p:nvPr>
        </p:nvSpPr>
        <p:spPr>
          <a:xfrm>
            <a:off x="324000" y="810000"/>
            <a:ext cx="8496000" cy="39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</a:t>
            </a:r>
            <a:r>
              <a:rPr lang="en-GB" sz="1900"/>
              <a:t>a) The sequence of all triangular numbers has the </a:t>
            </a:r>
            <a:r>
              <a:rPr i="1" lang="en-GB" sz="19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19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900"/>
              <a:t> term rule              plot the first 20 terms. 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b) What is the 19</a:t>
            </a:r>
            <a:r>
              <a:rPr baseline="30000" lang="en-GB" sz="2000"/>
              <a:t>th</a:t>
            </a:r>
            <a:r>
              <a:rPr lang="en-GB" sz="2000"/>
              <a:t> triangular number? 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c) The geometric sequence which starts 1, 2, 4, 8,... has </a:t>
            </a:r>
            <a:r>
              <a:rPr lang="en-GB" sz="2000"/>
              <a:t>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2000"/>
              <a:t> term rule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baseline="30000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2000"/>
              <a:t> at what term number does this sequence overtake the triangular numbers? 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e) Which is larger the 8</a:t>
            </a:r>
            <a:r>
              <a:rPr baseline="30000" lang="en-GB" sz="2000"/>
              <a:t>th</a:t>
            </a:r>
            <a:r>
              <a:rPr lang="en-GB" sz="2000"/>
              <a:t> term in the sequence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baseline="30000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</a:rPr>
              <a:t>or the 16</a:t>
            </a:r>
            <a:r>
              <a:rPr baseline="30000" lang="en-GB" sz="2000">
                <a:solidFill>
                  <a:srgbClr val="222222"/>
                </a:solidFill>
              </a:rPr>
              <a:t>th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</a:rPr>
              <a:t>triangular number. </a:t>
            </a:r>
            <a:endParaRPr sz="18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n\left(n+1\right)}{2}&quot;&gt;&lt;mfrac&gt;&lt;mrow&gt;&lt;mi&gt;n&lt;/mi&gt;&lt;mrow data-mjx-texclass=&quot;INNER&quot;&gt;&lt;mo data-mjx-texclass=&quot;OPEN&quot;&gt;(&lt;/mo&gt;&lt;mi&gt;n&lt;/mi&gt;&lt;mo&gt;+&lt;/mo&gt;&lt;mn&gt;1&lt;/mn&gt;&lt;mo data-mjx-texclass=&quot;CLOSE&quot;&gt;)&lt;/mo&gt;&lt;/mrow&gt;&lt;/mrow&gt;&lt;mn&gt;2&lt;/mn&gt;&lt;/mfrac&gt;&lt;/math&gt;" id="1256" name="Google Shape;1256;p98" title="n times open paren n plus 1 close paren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0317" y="717517"/>
            <a:ext cx="883589" cy="5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62" name="Google Shape;1262;p99"/>
          <p:cNvSpPr txBox="1"/>
          <p:nvPr>
            <p:ph idx="1" type="body"/>
          </p:nvPr>
        </p:nvSpPr>
        <p:spPr>
          <a:xfrm>
            <a:off x="324000" y="810000"/>
            <a:ext cx="8496000" cy="39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4a) A sequence starts 1, 3, 4, … the next term is found by adding the two previous terms together. Plot the </a:t>
            </a:r>
            <a:r>
              <a:rPr lang="en-GB" sz="2000"/>
              <a:t>first</a:t>
            </a:r>
            <a:r>
              <a:rPr lang="en-GB" sz="2000"/>
              <a:t> 10 terms of this sequence. 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b) A different sequence starts 1, −3,  … the next term is found by adding the two previous terms together. Plot the first 10 terms of this sequence.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c) How does the shape of the graph of this sequence differ to the previous one?</a:t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68" name="Google Shape;1268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1a) Plot the first 20 points of the sequences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/>
              <a:t>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and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endParaRPr i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Adding the curves in may help see key features of these sequences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69" name="Google Shape;126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376" y="1342450"/>
            <a:ext cx="3754890" cy="25245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0" name="Google Shape;1270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3" y="1342443"/>
            <a:ext cx="3458200" cy="25245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76" name="Google Shape;1276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1b) </a:t>
            </a:r>
            <a:r>
              <a:rPr lang="en-GB" sz="1800"/>
              <a:t>T</a:t>
            </a:r>
            <a:r>
              <a:rPr lang="en-GB" sz="1800"/>
              <a:t>wo of the sequences have the same first term, which two?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2000"/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What is happening at the coordinate (2,4) what does this mean about the sequences?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All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three sequences have a second term of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d) Which sequence is increasing at the fastest rate?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e) Find four numbers which are in the sequence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/>
              <a:t> and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numbers in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also in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so 2, 4, 8, 16, 32, 64, 128,.....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f) What is the 15</a:t>
            </a:r>
            <a:r>
              <a:rPr baseline="30000" lang="en-GB" sz="2000"/>
              <a:t>th</a:t>
            </a:r>
            <a:r>
              <a:rPr lang="en-GB" sz="2000"/>
              <a:t> term in the sequence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2000"/>
              <a:t>?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32 768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82" name="Google Shape;1282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2a) Plot the first 20 points of the sequences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,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Adding the curves in may help see key features of these sequences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baseline="30000" sz="20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283" name="Google Shape;128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314124"/>
            <a:ext cx="3903516" cy="24658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4" name="Google Shape;1284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375" y="1314124"/>
            <a:ext cx="3580520" cy="24658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90" name="Google Shape;1290;p103"/>
          <p:cNvSpPr txBox="1"/>
          <p:nvPr>
            <p:ph idx="1" type="body"/>
          </p:nvPr>
        </p:nvSpPr>
        <p:spPr>
          <a:xfrm>
            <a:off x="324000" y="759300"/>
            <a:ext cx="8237700" cy="39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2b) Which sequence has the smallest 1</a:t>
            </a:r>
            <a:r>
              <a:rPr baseline="30000" lang="en-GB" sz="2000"/>
              <a:t>st</a:t>
            </a:r>
            <a:r>
              <a:rPr lang="en-GB" sz="2000"/>
              <a:t> term?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Which sequence has the smallest 2</a:t>
            </a:r>
            <a:r>
              <a:rPr baseline="30000" lang="en-GB" sz="2000"/>
              <a:t>nd</a:t>
            </a:r>
            <a:r>
              <a:rPr lang="en-GB" sz="2000"/>
              <a:t> term?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Which sequence has the largest 3</a:t>
            </a:r>
            <a:r>
              <a:rPr baseline="30000" lang="en-GB" sz="2000"/>
              <a:t>rd</a:t>
            </a:r>
            <a:r>
              <a:rPr lang="en-GB" sz="2000"/>
              <a:t> term?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 What do you notice about the sequences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and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?</a:t>
            </a:r>
            <a:endParaRPr baseline="30000" sz="20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said: they are reflections of each other, the terms in</a:t>
            </a:r>
            <a:r>
              <a:rPr lang="en-GB" sz="2000"/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always larger than the terms in</a:t>
            </a:r>
            <a:r>
              <a:rPr lang="en-GB" sz="2000"/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</a:t>
            </a:r>
            <a:endParaRPr baseline="30000"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296" name="Google Shape;1296;p104"/>
          <p:cNvSpPr txBox="1"/>
          <p:nvPr>
            <p:ph idx="1" type="body"/>
          </p:nvPr>
        </p:nvSpPr>
        <p:spPr>
          <a:xfrm>
            <a:off x="324000" y="759300"/>
            <a:ext cx="8237700" cy="39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3a) The sequence of all triangular numbers has the </a:t>
            </a:r>
            <a:r>
              <a:rPr i="1" lang="en-GB" sz="19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19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900"/>
              <a:t> term rule              plot the first 20 terms.</a:t>
            </a:r>
            <a:r>
              <a:rPr lang="en-GB" sz="2000"/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b) What is the 19</a:t>
            </a:r>
            <a:r>
              <a:rPr baseline="30000" lang="en-GB" sz="2000"/>
              <a:t>th</a:t>
            </a:r>
            <a:r>
              <a:rPr lang="en-GB" sz="2000"/>
              <a:t> triangular number?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c) The geometric sequence which starts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1, 2, 4, 8,... has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2000"/>
              <a:t> term rule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baseline="30000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2000"/>
              <a:t> at what term number does this sequence overtake the triangular numbers?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 Which is larger the 8</a:t>
            </a:r>
            <a:r>
              <a:rPr baseline="30000" lang="en-GB" sz="2000"/>
              <a:t>th</a:t>
            </a:r>
            <a:r>
              <a:rPr lang="en-GB" sz="2000"/>
              <a:t> term in the sequence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baseline="30000"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baseline="30000"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</a:rPr>
              <a:t>or the 16</a:t>
            </a:r>
            <a:r>
              <a:rPr baseline="30000" lang="en-GB" sz="2000">
                <a:solidFill>
                  <a:srgbClr val="222222"/>
                </a:solidFill>
              </a:rPr>
              <a:t>th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</a:rPr>
              <a:t>triangular number.  </a:t>
            </a:r>
            <a:endParaRPr sz="18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n\left(n+1\right)}{2}&quot;&gt;&lt;mfrac&gt;&lt;mrow&gt;&lt;mi&gt;n&lt;/mi&gt;&lt;mrow data-mjx-texclass=&quot;INNER&quot;&gt;&lt;mo data-mjx-texclass=&quot;OPEN&quot;&gt;(&lt;/mo&gt;&lt;mi&gt;n&lt;/mi&gt;&lt;mo&gt;+&lt;/mo&gt;&lt;mn&gt;1&lt;/mn&gt;&lt;mo data-mjx-texclass=&quot;CLOSE&quot;&gt;)&lt;/mo&gt;&lt;/mrow&gt;&lt;/mrow&gt;&lt;mn&gt;2&lt;/mn&gt;&lt;/mfrac&gt;&lt;/math&gt;" id="1297" name="Google Shape;1297;p104" title="n times open paren n plus 1 close paren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417" y="717517"/>
            <a:ext cx="883589" cy="5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8225" y="1142600"/>
            <a:ext cx="2097050" cy="190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9" name="Google Shape;1299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4875" y="1142600"/>
            <a:ext cx="2808709" cy="1905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0" name="Google Shape;1300;p104"/>
          <p:cNvSpPr txBox="1"/>
          <p:nvPr>
            <p:ph idx="1" type="body"/>
          </p:nvPr>
        </p:nvSpPr>
        <p:spPr>
          <a:xfrm>
            <a:off x="324000" y="2099275"/>
            <a:ext cx="2871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190</a:t>
            </a:r>
            <a:endParaRPr sz="2000"/>
          </a:p>
        </p:txBody>
      </p:sp>
      <p:sp>
        <p:nvSpPr>
          <p:cNvPr id="1301" name="Google Shape;1301;p104"/>
          <p:cNvSpPr txBox="1"/>
          <p:nvPr>
            <p:ph idx="1" type="body"/>
          </p:nvPr>
        </p:nvSpPr>
        <p:spPr>
          <a:xfrm>
            <a:off x="5720200" y="3397200"/>
            <a:ext cx="2871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Term 5</a:t>
            </a:r>
            <a:endParaRPr sz="2000"/>
          </a:p>
        </p:txBody>
      </p:sp>
      <p:sp>
        <p:nvSpPr>
          <p:cNvPr id="1302" name="Google Shape;1302;p104"/>
          <p:cNvSpPr txBox="1"/>
          <p:nvPr>
            <p:ph idx="1" type="body"/>
          </p:nvPr>
        </p:nvSpPr>
        <p:spPr>
          <a:xfrm>
            <a:off x="2781825" y="4366925"/>
            <a:ext cx="4982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16</a:t>
            </a:r>
            <a:r>
              <a:rPr baseline="30000"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triangular number (136 &gt; 128)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special number sequences</a:t>
            </a:r>
            <a:endParaRPr/>
          </a:p>
        </p:txBody>
      </p:sp>
      <p:sp>
        <p:nvSpPr>
          <p:cNvPr id="1308" name="Google Shape;1308;p105"/>
          <p:cNvSpPr txBox="1"/>
          <p:nvPr>
            <p:ph idx="1" type="body"/>
          </p:nvPr>
        </p:nvSpPr>
        <p:spPr>
          <a:xfrm>
            <a:off x="324000" y="759300"/>
            <a:ext cx="54504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4a) A sequence starts 1, 3, 4, … the next term is found by adding the two previous terms together. Plot the first 10 terms of this sequence.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A different sequence starts 1, −3,  … the next term is found by adding the two previous terms together. Plot the first 10</a:t>
            </a:r>
            <a:r>
              <a:rPr lang="en-GB" sz="1800"/>
              <a:t> term</a:t>
            </a:r>
            <a:r>
              <a:rPr lang="en-GB" sz="1800"/>
              <a:t>s of this sequence.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How does the shape of the graph of this sequence differ to the previous one?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2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09" name="Google Shape;130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1800" y="783275"/>
            <a:ext cx="2655950" cy="283494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0" name="Google Shape;1310;p105"/>
          <p:cNvSpPr txBox="1"/>
          <p:nvPr>
            <p:ph idx="1" type="body"/>
          </p:nvPr>
        </p:nvSpPr>
        <p:spPr>
          <a:xfrm>
            <a:off x="324000" y="3675550"/>
            <a:ext cx="8496000" cy="10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After the 3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rd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the graph is decreasing. After the first few terms both graphs become curves, the second graph has a general curve shape like the previous one but with 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noticeable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‘dip’ at term 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6"/>
          <p:cNvSpPr txBox="1"/>
          <p:nvPr>
            <p:ph idx="1" type="body"/>
          </p:nvPr>
        </p:nvSpPr>
        <p:spPr>
          <a:xfrm>
            <a:off x="324000" y="810000"/>
            <a:ext cx="8496000" cy="333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Sequences can be plotted on Desmos using the table function.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If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2000"/>
              <a:t> term rule is known then points can be generated easily. 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-GB" sz="2000"/>
              <a:t>We can use graphing software to see if a term is in a sequence.</a:t>
            </a:r>
            <a:endParaRPr sz="2000"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2000"/>
              <a:t>Special number sequences can be plotted if we can understand how they are generated. These can produce interesting graphs.</a:t>
            </a:r>
            <a:endParaRPr sz="2000"/>
          </a:p>
        </p:txBody>
      </p:sp>
      <p:sp>
        <p:nvSpPr>
          <p:cNvPr id="1316" name="Google Shape;1316;p106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special number </a:t>
            </a:r>
            <a:r>
              <a:rPr lang="en-GB"/>
              <a:t>sequences using technology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22" name="Google Shape;1322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