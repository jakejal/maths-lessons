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E56ECC-A0A0-4CCC-88B4-DBFBFE2425E4}">
  <a:tblStyle styleId="{F2E56ECC-A0A0-4CCC-88B4-DBFBFE2425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1594de102_0_1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1594de10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1" y="1411250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Types of special number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972333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numbers in these special number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76400" y="237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{F2E56ECC-A0A0-4CCC-88B4-DBFBFE2425E4}</a:tableStyleId>
              </a:tblPr>
              <a:tblGrid>
                <a:gridCol w="2232375"/>
                <a:gridCol w="2350325"/>
                <a:gridCol w="2041300"/>
              </a:tblGrid>
              <a:tr h="35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triangular numbers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 numbers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 numbers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1, 3, 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10,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21, 28,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4, 9,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25, 36,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27,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216, …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51925" y="3664399"/>
            <a:ext cx="66240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 number plus 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8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plus the 4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plus the 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 number minus the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minus the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 number 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plus the 12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51925" y="6169500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Sofia is having fun building different sequences using the square,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cube numbers. Suggest what the next number in each sequence could be, explaining your answer.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1925" y="7055524"/>
            <a:ext cx="2310900" cy="2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81, 64, 49, 36,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1, 6, 15, 28,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2, 7, 15, 26, 40,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0, 4, 18, 48, 100,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1, 1, 3, 4, 6, 9, 10, 16,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0, 1, 3, 6, 10, 15, 21,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826473" y="7055524"/>
            <a:ext cx="424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25 - square numbers descending from 9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826454" y="7411984"/>
            <a:ext cx="424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45 - every other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 starting with 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826454" y="7709034"/>
            <a:ext cx="424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57 - square numbers plus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826454" y="8065494"/>
            <a:ext cx="424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180 - cube numbers minus square numbers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826454" y="8421954"/>
            <a:ext cx="424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15 - alternating between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square numbers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826454" y="8770663"/>
            <a:ext cx="424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28 - square numbers minus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458682" y="97228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355826" y="2140046"/>
            <a:ext cx="283200" cy="2832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193" name="Google Shape;193;p21"/>
          <p:cNvGrpSpPr/>
          <p:nvPr/>
        </p:nvGrpSpPr>
        <p:grpSpPr>
          <a:xfrm>
            <a:off x="4572944" y="1935692"/>
            <a:ext cx="283443" cy="487271"/>
            <a:chOff x="1304638" y="3518788"/>
            <a:chExt cx="613513" cy="1054700"/>
          </a:xfrm>
        </p:grpSpPr>
        <p:sp>
          <p:nvSpPr>
            <p:cNvPr id="194" name="Google Shape;194;p2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96" name="Google Shape;196;p21"/>
          <p:cNvSpPr/>
          <p:nvPr/>
        </p:nvSpPr>
        <p:spPr>
          <a:xfrm>
            <a:off x="3213833" y="2160496"/>
            <a:ext cx="283200" cy="2832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7" name="Google Shape;197;p21"/>
          <p:cNvSpPr txBox="1"/>
          <p:nvPr/>
        </p:nvSpPr>
        <p:spPr>
          <a:xfrm>
            <a:off x="476399" y="801650"/>
            <a:ext cx="643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Identifying special number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13" y="1352192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Izzy is building step patterns out of cubes. Here are her first 3 patterns.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495524" y="2152048"/>
            <a:ext cx="291900" cy="2919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200" name="Google Shape;200;p21"/>
          <p:cNvGrpSpPr/>
          <p:nvPr/>
        </p:nvGrpSpPr>
        <p:grpSpPr>
          <a:xfrm>
            <a:off x="3429673" y="1941895"/>
            <a:ext cx="291848" cy="501721"/>
            <a:chOff x="1304638" y="3518788"/>
            <a:chExt cx="613513" cy="1054700"/>
          </a:xfrm>
        </p:grpSpPr>
        <p:sp>
          <p:nvSpPr>
            <p:cNvPr id="201" name="Google Shape;201;p2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203" name="Google Shape;203;p21"/>
          <p:cNvSpPr/>
          <p:nvPr/>
        </p:nvSpPr>
        <p:spPr>
          <a:xfrm>
            <a:off x="3648466" y="2160472"/>
            <a:ext cx="283200" cy="2832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204" name="Google Shape;204;p21"/>
          <p:cNvGrpSpPr/>
          <p:nvPr/>
        </p:nvGrpSpPr>
        <p:grpSpPr>
          <a:xfrm>
            <a:off x="4785734" y="1713181"/>
            <a:ext cx="291842" cy="710726"/>
            <a:chOff x="2196050" y="3079424"/>
            <a:chExt cx="613500" cy="1494064"/>
          </a:xfrm>
        </p:grpSpPr>
        <p:sp>
          <p:nvSpPr>
            <p:cNvPr id="205" name="Google Shape;205;p21"/>
            <p:cNvSpPr/>
            <p:nvPr/>
          </p:nvSpPr>
          <p:spPr>
            <a:xfrm>
              <a:off x="21960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2196050" y="3525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2196050" y="3079424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5007902" y="1936004"/>
            <a:ext cx="283443" cy="487271"/>
            <a:chOff x="1304638" y="3518788"/>
            <a:chExt cx="613513" cy="1054700"/>
          </a:xfrm>
        </p:grpSpPr>
        <p:sp>
          <p:nvSpPr>
            <p:cNvPr id="209" name="Google Shape;209;p2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211" name="Google Shape;211;p21"/>
          <p:cNvSpPr/>
          <p:nvPr/>
        </p:nvSpPr>
        <p:spPr>
          <a:xfrm>
            <a:off x="5226675" y="2139220"/>
            <a:ext cx="283200" cy="2832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21"/>
          <p:cNvSpPr txBox="1"/>
          <p:nvPr/>
        </p:nvSpPr>
        <p:spPr>
          <a:xfrm>
            <a:off x="476400" y="2802090"/>
            <a:ext cx="66156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Fill in the table to show the number of cubes in her first 5 patterns if she continues to build them in the same way.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do you notice about your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are the square numbers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cubes would she need to build the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pattern?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3" name="Google Shape;213;p21"/>
          <p:cNvGraphicFramePr/>
          <p:nvPr/>
        </p:nvGraphicFramePr>
        <p:xfrm>
          <a:off x="467988" y="33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{F2E56ECC-A0A0-4CCC-88B4-DBFBFE2425E4}</a:tableStyleId>
              </a:tblPr>
              <a:tblGrid>
                <a:gridCol w="1736250"/>
                <a:gridCol w="975875"/>
                <a:gridCol w="975875"/>
                <a:gridCol w="975875"/>
                <a:gridCol w="975875"/>
                <a:gridCol w="975875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Pattern number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cubes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1"/>
          <p:cNvSpPr txBox="1"/>
          <p:nvPr/>
        </p:nvSpPr>
        <p:spPr>
          <a:xfrm>
            <a:off x="899467" y="2459131"/>
            <a:ext cx="149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Pattern number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2558798" y="2459131"/>
            <a:ext cx="732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492601" y="2459131"/>
            <a:ext cx="1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834333" y="2459131"/>
            <a:ext cx="228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867509" y="2459131"/>
            <a:ext cx="939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867509" y="2224549"/>
            <a:ext cx="939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76400" y="5331300"/>
            <a:ext cx="64146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is playing around with number patterns. He notices that if he squares the number 3, then subtracts one, then divides by 8 he gets a square number. He wants to see if this works for other odd numbers.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76400" y="6168392"/>
            <a:ext cx="6615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Fill in the table with the results from the first 5 odd numbers greater than 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do you notice about your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are the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numbers not the square numbers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value would you get if you applied this calculation to the number 19?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 is the 9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odd number greater than 1. The 9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 is 45.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22" name="Google Shape;222;p21"/>
          <p:cNvGraphicFramePr/>
          <p:nvPr/>
        </p:nvGraphicFramePr>
        <p:xfrm>
          <a:off x="467988" y="654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{F2E56ECC-A0A0-4CCC-88B4-DBFBFE2425E4}</a:tableStyleId>
              </a:tblPr>
              <a:tblGrid>
                <a:gridCol w="1736250"/>
                <a:gridCol w="975875"/>
                <a:gridCol w="975875"/>
                <a:gridCol w="975875"/>
                <a:gridCol w="975875"/>
                <a:gridCol w="975875"/>
              </a:tblGrid>
              <a:tr h="29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 number (</a:t>
                      </a:r>
                      <a:r>
                        <a:rPr b="1" i="1"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 (            )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n^2-1}{8}&quot;&gt;&lt;mfrac&gt;&lt;mrow&gt;&lt;msup&gt;&lt;mi&gt;n&lt;/mi&gt;&lt;mn&gt;2&lt;/mn&gt;&lt;/msup&gt;&lt;mo&gt;−&lt;/mo&gt;&lt;mn&gt;1&lt;/mn&gt;&lt;/mrow&gt;&lt;mn&gt;8&lt;/mn&gt;&lt;/mfrac&gt;&lt;/math&gt;" id="223" name="Google Shape;223;p21" title="the fraction with numerator n squared minus 1 and denominator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825" y="6985776"/>
            <a:ext cx="373972" cy="3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9" name="Google Shape;229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76400" y="1639575"/>
            <a:ext cx="49659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Sam tries it with 3 lines first, making sure the lines intersect the maximum number of times. How many intersection points are there?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Fill in the table for 2 lines, 3 lines, 4 lines and 5 lines, what do you notice about your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are the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2"/>
          <p:cNvCxnSpPr/>
          <p:nvPr/>
        </p:nvCxnSpPr>
        <p:spPr>
          <a:xfrm>
            <a:off x="5518530" y="3813863"/>
            <a:ext cx="399300" cy="41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2"/>
          <p:cNvCxnSpPr/>
          <p:nvPr/>
        </p:nvCxnSpPr>
        <p:spPr>
          <a:xfrm flipH="1" rot="10800000">
            <a:off x="5520793" y="3690458"/>
            <a:ext cx="375600" cy="36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2"/>
          <p:cNvSpPr/>
          <p:nvPr/>
        </p:nvSpPr>
        <p:spPr>
          <a:xfrm>
            <a:off x="5518525" y="3692482"/>
            <a:ext cx="535800" cy="53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76400" y="880250"/>
            <a:ext cx="66156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Sam is investigating the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maximum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intersection points between straight lines drawn in a square. They want to know how many intersection points there could be if they drew 12 different lines, but drawing them all is proving difficult.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7" name="Google Shape;237;p22"/>
          <p:cNvGraphicFramePr/>
          <p:nvPr/>
        </p:nvGraphicFramePr>
        <p:xfrm>
          <a:off x="480450" y="3767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{F2E56ECC-A0A0-4CCC-88B4-DBFBFE2425E4}</a:tableStyleId>
              </a:tblPr>
              <a:tblGrid>
                <a:gridCol w="2117750"/>
                <a:gridCol w="637450"/>
                <a:gridCol w="637450"/>
                <a:gridCol w="637450"/>
                <a:gridCol w="637450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intersections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8" name="Google Shape;238;p22"/>
          <p:cNvGrpSpPr/>
          <p:nvPr/>
        </p:nvGrpSpPr>
        <p:grpSpPr>
          <a:xfrm>
            <a:off x="5774950" y="1786389"/>
            <a:ext cx="700800" cy="703455"/>
            <a:chOff x="6384550" y="1633989"/>
            <a:chExt cx="700800" cy="703455"/>
          </a:xfrm>
        </p:grpSpPr>
        <p:cxnSp>
          <p:nvCxnSpPr>
            <p:cNvPr id="239" name="Google Shape;239;p22"/>
            <p:cNvCxnSpPr/>
            <p:nvPr/>
          </p:nvCxnSpPr>
          <p:spPr>
            <a:xfrm>
              <a:off x="6384557" y="1795385"/>
              <a:ext cx="522000" cy="537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2"/>
            <p:cNvCxnSpPr/>
            <p:nvPr/>
          </p:nvCxnSpPr>
          <p:spPr>
            <a:xfrm flipH="1" rot="10800000">
              <a:off x="6387516" y="1633989"/>
              <a:ext cx="491400" cy="481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22"/>
            <p:cNvCxnSpPr/>
            <p:nvPr/>
          </p:nvCxnSpPr>
          <p:spPr>
            <a:xfrm>
              <a:off x="6577609" y="1639563"/>
              <a:ext cx="255600" cy="69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" name="Google Shape;242;p22"/>
            <p:cNvSpPr/>
            <p:nvPr/>
          </p:nvSpPr>
          <p:spPr>
            <a:xfrm>
              <a:off x="6384550" y="1636643"/>
              <a:ext cx="700800" cy="700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3" name="Google Shape;243;p22"/>
          <p:cNvCxnSpPr/>
          <p:nvPr/>
        </p:nvCxnSpPr>
        <p:spPr>
          <a:xfrm>
            <a:off x="6230548" y="3813887"/>
            <a:ext cx="399300" cy="41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2"/>
          <p:cNvCxnSpPr/>
          <p:nvPr/>
        </p:nvCxnSpPr>
        <p:spPr>
          <a:xfrm flipH="1" rot="10800000">
            <a:off x="6232811" y="3690530"/>
            <a:ext cx="375600" cy="36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2"/>
          <p:cNvCxnSpPr/>
          <p:nvPr/>
        </p:nvCxnSpPr>
        <p:spPr>
          <a:xfrm>
            <a:off x="6378188" y="3694716"/>
            <a:ext cx="195300" cy="53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2"/>
          <p:cNvSpPr/>
          <p:nvPr/>
        </p:nvSpPr>
        <p:spPr>
          <a:xfrm>
            <a:off x="6230543" y="3692483"/>
            <a:ext cx="535800" cy="53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2"/>
          <p:cNvCxnSpPr/>
          <p:nvPr/>
        </p:nvCxnSpPr>
        <p:spPr>
          <a:xfrm>
            <a:off x="5518530" y="4397657"/>
            <a:ext cx="399300" cy="41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2"/>
          <p:cNvCxnSpPr/>
          <p:nvPr/>
        </p:nvCxnSpPr>
        <p:spPr>
          <a:xfrm flipH="1" rot="10800000">
            <a:off x="5520793" y="4274300"/>
            <a:ext cx="375600" cy="36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2"/>
          <p:cNvCxnSpPr/>
          <p:nvPr/>
        </p:nvCxnSpPr>
        <p:spPr>
          <a:xfrm>
            <a:off x="5666170" y="4278486"/>
            <a:ext cx="195300" cy="53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2"/>
          <p:cNvSpPr/>
          <p:nvPr/>
        </p:nvSpPr>
        <p:spPr>
          <a:xfrm>
            <a:off x="5518525" y="4276253"/>
            <a:ext cx="535800" cy="53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" name="Google Shape;251;p22"/>
          <p:cNvCxnSpPr>
            <a:stCxn id="250" idx="1"/>
          </p:cNvCxnSpPr>
          <p:nvPr/>
        </p:nvCxnSpPr>
        <p:spPr>
          <a:xfrm>
            <a:off x="5518525" y="4544153"/>
            <a:ext cx="523800" cy="14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2"/>
          <p:cNvCxnSpPr/>
          <p:nvPr/>
        </p:nvCxnSpPr>
        <p:spPr>
          <a:xfrm>
            <a:off x="6235123" y="4398631"/>
            <a:ext cx="399300" cy="41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2"/>
          <p:cNvCxnSpPr/>
          <p:nvPr/>
        </p:nvCxnSpPr>
        <p:spPr>
          <a:xfrm flipH="1" rot="10800000">
            <a:off x="6237386" y="4275273"/>
            <a:ext cx="375600" cy="36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2"/>
          <p:cNvCxnSpPr/>
          <p:nvPr/>
        </p:nvCxnSpPr>
        <p:spPr>
          <a:xfrm>
            <a:off x="6382763" y="4279460"/>
            <a:ext cx="195300" cy="53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2"/>
          <p:cNvSpPr/>
          <p:nvPr/>
        </p:nvSpPr>
        <p:spPr>
          <a:xfrm>
            <a:off x="6235118" y="4277227"/>
            <a:ext cx="535800" cy="53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p22"/>
          <p:cNvCxnSpPr/>
          <p:nvPr/>
        </p:nvCxnSpPr>
        <p:spPr>
          <a:xfrm>
            <a:off x="6236616" y="4565802"/>
            <a:ext cx="523800" cy="14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2"/>
          <p:cNvCxnSpPr/>
          <p:nvPr/>
        </p:nvCxnSpPr>
        <p:spPr>
          <a:xfrm flipH="1" rot="10800000">
            <a:off x="6348764" y="4279474"/>
            <a:ext cx="87000" cy="53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2"/>
          <p:cNvSpPr txBox="1"/>
          <p:nvPr/>
        </p:nvSpPr>
        <p:spPr>
          <a:xfrm>
            <a:off x="476400" y="5122080"/>
            <a:ext cx="6414600" cy="20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the maximum number of intersections with 12 lines?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lines was the first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lines the second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12 lines should be the 11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number which is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+ 2 + 3 + 4 + 5 + 6 + 7 + 8 + 9 + 10 + 11 = 66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