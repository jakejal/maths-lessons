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2D52AD-EE75-47EA-9CDB-EAECE86B8E5C}">
  <a:tblStyle styleId="{732D52AD-EE75-47EA-9CDB-EAECE86B8E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15b74abac_0_2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15b74aba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1" y="1411250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Types of special number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972333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missing numbers in these special number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51925" y="3664399"/>
            <a:ext cx="66240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Calculate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 number plus the 5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8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plus the 4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plus the 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3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 number minus the 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cube number minus the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square number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	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11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plus the 12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triangular number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…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51925" y="6169500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Sofia is having fun building different sequences using the square, triangular and cube numbers. Suggest what the next number in each sequence could be, explaining your answer.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51925" y="7055524"/>
            <a:ext cx="2310900" cy="22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81, 64, 49, 36,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1, 6, 15, 28,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2, 7, 15, 26, 40,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0, 4, 18, 48, 100,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1, 1, 3, 4, 6, 9, 10, 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0, 1, 3, 6, 10, 15, 21,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458682" y="97228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7" name="Google Shape;167;p20"/>
          <p:cNvGraphicFramePr/>
          <p:nvPr/>
        </p:nvGraphicFramePr>
        <p:xfrm>
          <a:off x="451925" y="24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{732D52AD-EE75-47EA-9CDB-EAECE86B8E5C}</a:tableStyleId>
              </a:tblPr>
              <a:tblGrid>
                <a:gridCol w="2234975"/>
                <a:gridCol w="2364650"/>
                <a:gridCol w="2048850"/>
              </a:tblGrid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 numbers</a:t>
                      </a:r>
                      <a:endParaRPr b="1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 numbers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 numbers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1, 3,</a:t>
                      </a:r>
                      <a:r>
                        <a:rPr lang="en-GB" sz="12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,10,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21, 28,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4, 9,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25, 36, 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27,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216, …</a:t>
                      </a:r>
                      <a:r>
                        <a:rPr lang="en-GB" sz="1200" u="sng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20"/>
          <p:cNvSpPr txBox="1"/>
          <p:nvPr/>
        </p:nvSpPr>
        <p:spPr>
          <a:xfrm flipH="1">
            <a:off x="6204874" y="9272598"/>
            <a:ext cx="8406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3957" y="8787000"/>
            <a:ext cx="482321" cy="53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3753239" y="7550452"/>
            <a:ext cx="2732298" cy="159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 flipH="1">
            <a:off x="3885179" y="7698479"/>
            <a:ext cx="23976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Some of these were built from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more than one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type of number. Writing out the start of the sequence of square,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cube numbers may help you see what I did.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4355826" y="2140046"/>
            <a:ext cx="283200" cy="283200"/>
          </a:xfrm>
          <a:prstGeom prst="cube">
            <a:avLst>
              <a:gd fmla="val 25000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179" name="Google Shape;179;p21"/>
          <p:cNvGrpSpPr/>
          <p:nvPr/>
        </p:nvGrpSpPr>
        <p:grpSpPr>
          <a:xfrm>
            <a:off x="4572944" y="1935692"/>
            <a:ext cx="283443" cy="487271"/>
            <a:chOff x="1304638" y="3518788"/>
            <a:chExt cx="613513" cy="1054700"/>
          </a:xfrm>
        </p:grpSpPr>
        <p:sp>
          <p:nvSpPr>
            <p:cNvPr id="180" name="Google Shape;180;p2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82" name="Google Shape;182;p21"/>
          <p:cNvSpPr/>
          <p:nvPr/>
        </p:nvSpPr>
        <p:spPr>
          <a:xfrm>
            <a:off x="3213833" y="2160496"/>
            <a:ext cx="283200" cy="283200"/>
          </a:xfrm>
          <a:prstGeom prst="cube">
            <a:avLst>
              <a:gd fmla="val 25000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3" name="Google Shape;183;p21"/>
          <p:cNvSpPr txBox="1"/>
          <p:nvPr/>
        </p:nvSpPr>
        <p:spPr>
          <a:xfrm>
            <a:off x="476399" y="801650"/>
            <a:ext cx="64332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Identifying special number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13" y="1352192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Izzy is building step patterns out of cubes. Here are her first 3 patterns.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495524" y="2152048"/>
            <a:ext cx="291900" cy="291900"/>
          </a:xfrm>
          <a:prstGeom prst="cube">
            <a:avLst>
              <a:gd fmla="val 25000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186" name="Google Shape;186;p21"/>
          <p:cNvGrpSpPr/>
          <p:nvPr/>
        </p:nvGrpSpPr>
        <p:grpSpPr>
          <a:xfrm>
            <a:off x="3429673" y="1941895"/>
            <a:ext cx="291848" cy="501721"/>
            <a:chOff x="1304638" y="3518788"/>
            <a:chExt cx="613513" cy="1054700"/>
          </a:xfrm>
        </p:grpSpPr>
        <p:sp>
          <p:nvSpPr>
            <p:cNvPr id="187" name="Google Shape;187;p2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89" name="Google Shape;189;p21"/>
          <p:cNvSpPr/>
          <p:nvPr/>
        </p:nvSpPr>
        <p:spPr>
          <a:xfrm>
            <a:off x="3648466" y="2160472"/>
            <a:ext cx="283200" cy="283200"/>
          </a:xfrm>
          <a:prstGeom prst="cube">
            <a:avLst>
              <a:gd fmla="val 25000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grpSp>
        <p:nvGrpSpPr>
          <p:cNvPr id="190" name="Google Shape;190;p21"/>
          <p:cNvGrpSpPr/>
          <p:nvPr/>
        </p:nvGrpSpPr>
        <p:grpSpPr>
          <a:xfrm>
            <a:off x="4785734" y="1713181"/>
            <a:ext cx="291842" cy="710726"/>
            <a:chOff x="2196050" y="3079424"/>
            <a:chExt cx="613500" cy="1494064"/>
          </a:xfrm>
        </p:grpSpPr>
        <p:sp>
          <p:nvSpPr>
            <p:cNvPr id="191" name="Google Shape;191;p21"/>
            <p:cNvSpPr/>
            <p:nvPr/>
          </p:nvSpPr>
          <p:spPr>
            <a:xfrm>
              <a:off x="21960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2196050" y="3525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2196050" y="3079424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grpSp>
        <p:nvGrpSpPr>
          <p:cNvPr id="194" name="Google Shape;194;p21"/>
          <p:cNvGrpSpPr/>
          <p:nvPr/>
        </p:nvGrpSpPr>
        <p:grpSpPr>
          <a:xfrm>
            <a:off x="5007902" y="1936004"/>
            <a:ext cx="283443" cy="487271"/>
            <a:chOff x="1304638" y="3518788"/>
            <a:chExt cx="613513" cy="1054700"/>
          </a:xfrm>
        </p:grpSpPr>
        <p:sp>
          <p:nvSpPr>
            <p:cNvPr id="195" name="Google Shape;195;p2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  <p:sp>
        <p:nvSpPr>
          <p:cNvPr id="197" name="Google Shape;197;p21"/>
          <p:cNvSpPr/>
          <p:nvPr/>
        </p:nvSpPr>
        <p:spPr>
          <a:xfrm>
            <a:off x="5226675" y="2139220"/>
            <a:ext cx="283200" cy="283200"/>
          </a:xfrm>
          <a:prstGeom prst="cube">
            <a:avLst>
              <a:gd fmla="val 25000" name="adj"/>
            </a:avLst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2802090"/>
            <a:ext cx="66156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Fill in the table to show the number of cubes in her first 5 patterns if she continues to build them in the same way.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do you notice about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cubes would she need to build the 10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pattern?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467988" y="33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{732D52AD-EE75-47EA-9CDB-EAECE86B8E5C}</a:tableStyleId>
              </a:tblPr>
              <a:tblGrid>
                <a:gridCol w="1736250"/>
                <a:gridCol w="975875"/>
                <a:gridCol w="975875"/>
                <a:gridCol w="975875"/>
                <a:gridCol w="975875"/>
                <a:gridCol w="975875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Pattern number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cubes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 txBox="1"/>
          <p:nvPr/>
        </p:nvSpPr>
        <p:spPr>
          <a:xfrm>
            <a:off x="899467" y="2459131"/>
            <a:ext cx="149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Pattern number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558798" y="2459131"/>
            <a:ext cx="732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492601" y="2459131"/>
            <a:ext cx="167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834333" y="2459131"/>
            <a:ext cx="228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867509" y="2459131"/>
            <a:ext cx="939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867509" y="2224549"/>
            <a:ext cx="9393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76400" y="5331300"/>
            <a:ext cx="6414600" cy="23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is playing around with number patterns. He notices that if he squares the number 3, then subtracts one, then divides by 8 he gets a square number. He wants to see if this works for other odd numbers.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6400" y="6168392"/>
            <a:ext cx="6615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Fill in the table with the results from the first 5 odd numbers greater than 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do you notice about your answers?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value would you get if you applied this calculation to the number 19?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8" name="Google Shape;208;p21"/>
          <p:cNvGraphicFramePr/>
          <p:nvPr/>
        </p:nvGraphicFramePr>
        <p:xfrm>
          <a:off x="467988" y="654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{732D52AD-EE75-47EA-9CDB-EAECE86B8E5C}</a:tableStyleId>
              </a:tblPr>
              <a:tblGrid>
                <a:gridCol w="1736250"/>
                <a:gridCol w="975875"/>
                <a:gridCol w="975875"/>
                <a:gridCol w="975875"/>
                <a:gridCol w="975875"/>
                <a:gridCol w="975875"/>
              </a:tblGrid>
              <a:tr h="29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 number (</a:t>
                      </a:r>
                      <a:r>
                        <a:rPr b="1" i="1"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 (            )</a:t>
                      </a:r>
                      <a:endParaRPr b="1"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n^2-1}{8}&quot;&gt;&lt;mfrac&gt;&lt;mrow&gt;&lt;msup&gt;&lt;mi&gt;n&lt;/mi&gt;&lt;mn&gt;2&lt;/mn&gt;&lt;/msup&gt;&lt;mo&gt;−&lt;/mo&gt;&lt;mn&gt;1&lt;/mn&gt;&lt;/mrow&gt;&lt;mn&gt;8&lt;/mn&gt;&lt;/mfrac&gt;&lt;/math&gt;" id="209" name="Google Shape;209;p21" title="the fraction with numerator n squared minus 1 and denominator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4825" y="6985776"/>
            <a:ext cx="373972" cy="30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5" name="Google Shape;215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76400" y="2020575"/>
            <a:ext cx="4965900" cy="13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Sam tries it with 3 lines first, making sure the lines intersect the maximum number of times. How many intersection points are there?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Fill in the table for 2 lines, 3 lines, 4 lines and 5 lines, what do you notice about your answer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What is the maximum number of intersections with 12 lines?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76400" y="880250"/>
            <a:ext cx="66156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Sam is investigating the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maximum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intersection points between straight lines drawn in a square. They want to know how many intersection points there could be if they drew 12 different lines, but drawing them all is proving difficult.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0" name="Google Shape;220;p22"/>
          <p:cNvGraphicFramePr/>
          <p:nvPr/>
        </p:nvGraphicFramePr>
        <p:xfrm>
          <a:off x="480450" y="4605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{732D52AD-EE75-47EA-9CDB-EAECE86B8E5C}</a:tableStyleId>
              </a:tblPr>
              <a:tblGrid>
                <a:gridCol w="2117750"/>
                <a:gridCol w="637450"/>
                <a:gridCol w="637450"/>
                <a:gridCol w="637450"/>
                <a:gridCol w="637450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intersections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1" name="Google Shape;221;p22"/>
          <p:cNvGrpSpPr/>
          <p:nvPr/>
        </p:nvGrpSpPr>
        <p:grpSpPr>
          <a:xfrm>
            <a:off x="5774950" y="2167389"/>
            <a:ext cx="700800" cy="703455"/>
            <a:chOff x="6384550" y="1633989"/>
            <a:chExt cx="700800" cy="703455"/>
          </a:xfrm>
        </p:grpSpPr>
        <p:cxnSp>
          <p:nvCxnSpPr>
            <p:cNvPr id="222" name="Google Shape;222;p22"/>
            <p:cNvCxnSpPr/>
            <p:nvPr/>
          </p:nvCxnSpPr>
          <p:spPr>
            <a:xfrm>
              <a:off x="6384557" y="1795385"/>
              <a:ext cx="522000" cy="537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2"/>
            <p:cNvCxnSpPr/>
            <p:nvPr/>
          </p:nvCxnSpPr>
          <p:spPr>
            <a:xfrm flipH="1" rot="10800000">
              <a:off x="6387516" y="1633989"/>
              <a:ext cx="491400" cy="481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22"/>
            <p:cNvCxnSpPr/>
            <p:nvPr/>
          </p:nvCxnSpPr>
          <p:spPr>
            <a:xfrm>
              <a:off x="6577609" y="1639563"/>
              <a:ext cx="255600" cy="6951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" name="Google Shape;225;p22"/>
            <p:cNvSpPr/>
            <p:nvPr/>
          </p:nvSpPr>
          <p:spPr>
            <a:xfrm>
              <a:off x="6384550" y="1636643"/>
              <a:ext cx="700800" cy="7008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