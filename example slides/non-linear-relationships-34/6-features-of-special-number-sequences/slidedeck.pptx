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70" r:id="rId5"/>
    <p:sldMasterId id="21474837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75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8CE56F-3F8A-4B58-ABBC-47AC0FA6FDEA}">
  <a:tblStyle styleId="{9E8CE56F-3F8A-4B58-ABBC-47AC0FA6FD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75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6" name="Google Shape;1486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2" name="Google Shape;1492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5" name="Shape 1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6" name="Google Shape;1496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7" name="Google Shape;1497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2acd83fb134_0_5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2acd83fb134_0_5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2acd83fb134_0_58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2acd83fb134_0_58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7" name="Shape 1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Google Shape;1518;g2ac3957410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9" name="Google Shape;1519;g2ac3957410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ac3957410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ac3957410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g2acd83fb134_0_33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5" name="Google Shape;1595;g2acd83fb134_0_3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1" name="Shape 1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2" name="Google Shape;1702;g2acd83fb134_0_4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3" name="Google Shape;1703;g2acd83fb134_0_4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6" name="Shape 1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7" name="Google Shape;1727;g2acd83fb134_0_66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8" name="Google Shape;1728;g2acd83fb134_0_66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g2ac3957410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2" name="Google Shape;1742;g2ac3957410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2" name="Shape 1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3" name="Google Shape;1753;g2acd83fb134_0_5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4" name="Google Shape;1754;g2acd83fb134_0_5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2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Google Shape;1783;g2afb910c4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4" name="Google Shape;1784;g2afb910c4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" name="Google Shape;1833;g2acd83fb134_0_6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4" name="Google Shape;1834;g2acd83fb134_0_6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g2acd83fb134_0_63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6" name="Google Shape;1856;g2acd83fb134_0_63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g2acd83fb134_0_63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8" name="Google Shape;1868;g2acd83fb134_0_6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3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g2acd83fb134_0_66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5" name="Google Shape;2005;g2acd83fb134_0_66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8" name="Shape 2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9" name="Google Shape;2039;g2ac39574104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0" name="Google Shape;2040;g2ac3957410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g2acd83fb134_0_6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8" name="Google Shape;2048;g2acd83fb134_0_6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7" name="Shape 2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8" name="Google Shape;2058;g2acd83fb134_0_67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9" name="Google Shape;2059;g2acd83fb134_0_67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5" name="Shape 2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6" name="Google Shape;2066;g2acd83fb134_0_6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7" name="Google Shape;2067;g2acd83fb134_0_6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g2ac39574104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0" name="Google Shape;2080;g2ac39574104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6" name="Shape 2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7" name="Google Shape;2087;g2acd83fb134_0_68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8" name="Google Shape;2088;g2acd83fb134_0_68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0" name="Shape 2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1" name="Google Shape;2111;g2acd83fb134_0_6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2" name="Google Shape;2112;g2acd83fb134_0_6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g2b6fb2548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9" name="Google Shape;2139;g2b6fb2548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7" name="Shape 2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8" name="Google Shape;2148;g2acd83fb134_0_68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9" name="Google Shape;2149;g2acd83fb134_0_68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1" name="Shape 2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2" name="Google Shape;2182;g2acd83fb134_0_7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3" name="Google Shape;2183;g2acd83fb134_0_7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g2b6fb2548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7" name="Google Shape;2227;g2b6fb2548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4" name="Shape 2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5" name="Google Shape;2235;g2acd83fb134_0_7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6" name="Google Shape;2236;g2acd83fb134_0_7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g2acd83fb134_0_76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2" name="Google Shape;2272;g2acd83fb134_0_76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8" name="Shape 2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9" name="Google Shape;2329;g2acd83fb134_0_7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0" name="Google Shape;2330;g2acd83fb134_0_7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7" name="Shape 2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8" name="Google Shape;2338;g2acd83fb134_0_7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9" name="Google Shape;2339;g2acd83fb134_0_7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9" name="Shape 2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Google Shape;2360;g2acd83fb134_0_77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1" name="Google Shape;2361;g2acd83fb134_0_77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9" name="Shape 2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0" name="Google Shape;2380;g2acd83fb134_0_7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1" name="Google Shape;2381;g2acd83fb134_0_7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g2acd83fb134_0_7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8" name="Google Shape;2398;g2acd83fb134_0_7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6" name="Shape 2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7" name="Google Shape;2417;g2acd83fb134_0_8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8" name="Google Shape;2418;g2acd83fb134_0_8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3" name="Shape 2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4" name="Google Shape;2434;g2ac3957410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5" name="Google Shape;2435;g2ac3957410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5" name="Shape 2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6" name="Google Shape;2466;g2acd83fb134_0_7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7" name="Google Shape;2467;g2acd83fb134_0_7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g2acd83fb134_0_79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6" name="Google Shape;2476;g2acd83fb134_0_79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6" name="Shape 2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7" name="Google Shape;2487;g2acd83fb134_0_80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8" name="Google Shape;2488;g2acd83fb134_0_80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8" name="Shape 2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9" name="Google Shape;2519;g2acd83fb134_0_80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0" name="Google Shape;2520;g2acd83fb134_0_80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7" name="Shape 2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8" name="Google Shape;2528;g2acd83fb134_0_8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9" name="Google Shape;2529;g2acd83fb134_0_8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g2acd83fb134_0_80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9" name="Google Shape;2559;g2acd83fb134_0_80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4" name="Shape 2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5" name="Google Shape;256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6" name="Google Shape;256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0" name="Shape 2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1" name="Google Shape;2571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2" name="Google Shape;2572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9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32.png"/><Relationship Id="rId11" Type="http://schemas.openxmlformats.org/officeDocument/2006/relationships/image" Target="../media/image19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25.png"/><Relationship Id="rId4" Type="http://schemas.openxmlformats.org/officeDocument/2006/relationships/image" Target="../media/image6.png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3.png"/><Relationship Id="rId3" Type="http://schemas.openxmlformats.org/officeDocument/2006/relationships/image" Target="../media/image18.png"/><Relationship Id="rId4" Type="http://schemas.openxmlformats.org/officeDocument/2006/relationships/image" Target="../media/image17.png"/><Relationship Id="rId5" Type="http://schemas.openxmlformats.org/officeDocument/2006/relationships/image" Target="../media/image24.png"/><Relationship Id="rId6" Type="http://schemas.openxmlformats.org/officeDocument/2006/relationships/image" Target="../media/image22.png"/><Relationship Id="rId7" Type="http://schemas.openxmlformats.org/officeDocument/2006/relationships/image" Target="../media/image15.png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6.png"/><Relationship Id="rId3" Type="http://schemas.openxmlformats.org/officeDocument/2006/relationships/image" Target="../media/image20.png"/><Relationship Id="rId4" Type="http://schemas.openxmlformats.org/officeDocument/2006/relationships/image" Target="../media/image93.png"/><Relationship Id="rId5" Type="http://schemas.openxmlformats.org/officeDocument/2006/relationships/image" Target="../media/image26.png"/><Relationship Id="rId6" Type="http://schemas.openxmlformats.org/officeDocument/2006/relationships/image" Target="../media/image29.png"/><Relationship Id="rId7" Type="http://schemas.openxmlformats.org/officeDocument/2006/relationships/image" Target="../media/image19.png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16.png"/><Relationship Id="rId9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3.png"/><Relationship Id="rId7" Type="http://schemas.openxmlformats.org/officeDocument/2006/relationships/image" Target="../media/image26.png"/><Relationship Id="rId8" Type="http://schemas.openxmlformats.org/officeDocument/2006/relationships/image" Target="../media/image29.png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7.png"/><Relationship Id="rId3" Type="http://schemas.openxmlformats.org/officeDocument/2006/relationships/image" Target="../media/image93.png"/><Relationship Id="rId4" Type="http://schemas.openxmlformats.org/officeDocument/2006/relationships/image" Target="../media/image32.png"/><Relationship Id="rId11" Type="http://schemas.openxmlformats.org/officeDocument/2006/relationships/image" Target="../media/image19.png"/><Relationship Id="rId10" Type="http://schemas.openxmlformats.org/officeDocument/2006/relationships/image" Target="../media/image35.png"/><Relationship Id="rId9" Type="http://schemas.openxmlformats.org/officeDocument/2006/relationships/image" Target="../media/image29.png"/><Relationship Id="rId5" Type="http://schemas.openxmlformats.org/officeDocument/2006/relationships/image" Target="../media/image16.png"/><Relationship Id="rId6" Type="http://schemas.openxmlformats.org/officeDocument/2006/relationships/image" Target="../media/image20.png"/><Relationship Id="rId7" Type="http://schemas.openxmlformats.org/officeDocument/2006/relationships/image" Target="../media/image33.png"/><Relationship Id="rId8" Type="http://schemas.openxmlformats.org/officeDocument/2006/relationships/image" Target="../media/image26.png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37.png"/><Relationship Id="rId4" Type="http://schemas.openxmlformats.org/officeDocument/2006/relationships/image" Target="../media/image41.png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4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3.png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3.png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1.png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45.png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45.png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8.png"/><Relationship Id="rId3" Type="http://schemas.openxmlformats.org/officeDocument/2006/relationships/image" Target="../media/image50.png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2.png"/><Relationship Id="rId3" Type="http://schemas.openxmlformats.org/officeDocument/2006/relationships/image" Target="../media/image50.png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png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png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8" name="Google Shape;748;p6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49" name="Google Shape;749;p6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0" name="Google Shape;750;p63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1" name="Google Shape;751;p63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3" name="Google Shape;753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4" name="Google Shape;754;p6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755" name="Shape 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Google Shape;756;p6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7" name="Google Shape;757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58" name="Google Shape;758;p6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9" name="Google Shape;759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0" name="Google Shape;760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1" name="Google Shape;761;p6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62" name="Google Shape;762;p6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4" name="Google Shape;764;p6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5" name="Google Shape;765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67" name="Google Shape;767;p6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8" name="Google Shape;768;p65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9" name="Google Shape;769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0" name="Google Shape;770;p6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2" name="Google Shape;772;p6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73" name="Google Shape;773;p6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4" name="Google Shape;774;p6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6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76" name="Google Shape;776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78" name="Google Shape;778;p6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79" name="Google Shape;779;p6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0" name="Google Shape;780;p66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1" name="Google Shape;781;p6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3" name="Google Shape;783;p6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84" name="Google Shape;784;p6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5" name="Google Shape;785;p6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7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87" name="Google Shape;78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88" name="Google Shape;788;p6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89" name="Google Shape;789;p67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2" name="Google Shape;792;p6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3" name="Google Shape;793;p68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94" name="Google Shape;794;p6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796" name="Google Shape;796;p68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7" name="Google Shape;797;p6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8" name="Google Shape;798;p6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9" name="Google Shape;799;p68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00" name="Google Shape;800;p6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2" name="Google Shape;802;p6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03" name="Google Shape;803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04" name="Google Shape;804;p6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5" name="Google Shape;805;p6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69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07" name="Google Shape;80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0" name="Google Shape;810;p7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7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12" name="Google Shape;812;p7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14" name="Google Shape;814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15" name="Google Shape;815;p7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816" name="Google Shape;816;p7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17" name="Google Shape;817;p7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8" name="Google Shape;818;p70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9" name="Google Shape;819;p7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0" name="Shape 8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1" name="Google Shape;821;p7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2" name="Google Shape;822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4" name="Google Shape;824;p7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1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26" name="Google Shape;826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27" name="Google Shape;827;p71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7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1" name="Google Shape;831;p7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4" name="Google Shape;834;p73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5" name="Google Shape;835;p73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6" name="Google Shape;836;p73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7" name="Google Shape;837;p73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8" name="Google Shape;838;p73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839" name="Google Shape;839;p7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0" name="Google Shape;840;p7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1" name="Google Shape;841;p7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842" name="Google Shape;842;p7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843" name="Google Shape;843;p7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7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7" name="Google Shape;847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0" name="Google Shape;850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1" name="Google Shape;851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"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p7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4" name="Google Shape;854;p7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55" name="Google Shape;855;p7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75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7" name="Google Shape;857;p75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58" name="Google Shape;858;p75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 Keyword (4)">
  <p:cSld name="CUSTOM_27_1"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1" name="Google Shape;861;p7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6"/>
          <p:cNvSpPr txBox="1"/>
          <p:nvPr>
            <p:ph idx="1" type="subTitle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3" name="Google Shape;863;p76"/>
          <p:cNvSpPr txBox="1"/>
          <p:nvPr>
            <p:ph idx="2" type="subTitle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4" name="Google Shape;864;p76"/>
          <p:cNvSpPr txBox="1"/>
          <p:nvPr>
            <p:ph idx="3" type="subTitle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5" name="Google Shape;865;p76"/>
          <p:cNvSpPr txBox="1"/>
          <p:nvPr>
            <p:ph idx="4" type="subTitle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66" name="Google Shape;866;p7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1.1 Keyword definitions (4)">
  <p:cSld name="CUSTOM_27_1_2"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7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9" name="Google Shape;869;p7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77"/>
          <p:cNvSpPr txBox="1"/>
          <p:nvPr>
            <p:ph idx="1" type="subTitle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1" name="Google Shape;871;p77"/>
          <p:cNvSpPr txBox="1"/>
          <p:nvPr>
            <p:ph idx="2" type="subTitle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2" name="Google Shape;872;p77"/>
          <p:cNvSpPr txBox="1"/>
          <p:nvPr>
            <p:ph idx="3" type="subTitle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3" name="Google Shape;873;p77"/>
          <p:cNvSpPr txBox="1"/>
          <p:nvPr>
            <p:ph idx="4" type="subTitle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4" name="Google Shape;874;p7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 Keywords (5)">
  <p:cSld name="CUSTOM_27_1_1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7" name="Google Shape;877;p7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78"/>
          <p:cNvSpPr txBox="1"/>
          <p:nvPr>
            <p:ph idx="1" type="subTitle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79" name="Google Shape;879;p78"/>
          <p:cNvSpPr txBox="1"/>
          <p:nvPr>
            <p:ph idx="2" type="subTitle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0" name="Google Shape;880;p78"/>
          <p:cNvSpPr txBox="1"/>
          <p:nvPr>
            <p:ph idx="3" type="subTitle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1" name="Google Shape;881;p78"/>
          <p:cNvSpPr txBox="1"/>
          <p:nvPr>
            <p:ph idx="4" type="subTitle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2" name="Google Shape;882;p78"/>
          <p:cNvSpPr txBox="1"/>
          <p:nvPr>
            <p:ph idx="5" type="subTitle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3" name="Google Shape;883;p7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2.1 Keywords definitions (5)">
  <p:cSld name="CUSTOM_27_1_1_1"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7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6" name="Google Shape;886;p7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9"/>
          <p:cNvSpPr txBox="1"/>
          <p:nvPr>
            <p:ph idx="1" type="subTitle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8" name="Google Shape;888;p79"/>
          <p:cNvSpPr txBox="1"/>
          <p:nvPr>
            <p:ph idx="2" type="subTitle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89" name="Google Shape;889;p79"/>
          <p:cNvSpPr txBox="1"/>
          <p:nvPr>
            <p:ph idx="3" type="subTitle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0" name="Google Shape;890;p79"/>
          <p:cNvSpPr txBox="1"/>
          <p:nvPr>
            <p:ph idx="4" type="subTitle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891" name="Google Shape;891;p79"/>
          <p:cNvSpPr txBox="1"/>
          <p:nvPr>
            <p:ph idx="5" type="subTitle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92" name="Google Shape;892;p79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8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5" name="Google Shape;895;p80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6" name="Google Shape;896;p80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897" name="Google Shape;897;p80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98" name="Google Shape;898;p80"/>
          <p:cNvCxnSpPr>
            <a:endCxn id="899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00" name="Google Shape;90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01" name="Google Shape;901;p80"/>
          <p:cNvSpPr txBox="1"/>
          <p:nvPr>
            <p:ph type="title"/>
          </p:nvPr>
        </p:nvSpPr>
        <p:spPr>
          <a:xfrm>
            <a:off x="1224000" y="2098125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02" name="Google Shape;902;p80"/>
          <p:cNvSpPr txBox="1"/>
          <p:nvPr>
            <p:ph idx="2" type="title"/>
          </p:nvPr>
        </p:nvSpPr>
        <p:spPr>
          <a:xfrm>
            <a:off x="1224000" y="3053050"/>
            <a:ext cx="68523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899" name="Google Shape;899;p8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80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04" name="Google Shape;904;p8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5" name="Google Shape;905;p8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7" name="Google Shape;907;p81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8" name="Google Shape;908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1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0" name="Google Shape;910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1" name="Google Shape;911;p81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2" name="Google Shape;912;p81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13" name="Google Shape;913;p81"/>
          <p:cNvCxnSpPr>
            <a:endCxn id="914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14" name="Google Shape;914;p8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15" name="Google Shape;915;p8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916" name="Google Shape;916;p81"/>
          <p:cNvSpPr txBox="1"/>
          <p:nvPr>
            <p:ph type="title"/>
          </p:nvPr>
        </p:nvSpPr>
        <p:spPr>
          <a:xfrm>
            <a:off x="1224600" y="178702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7" name="Google Shape;917;p81"/>
          <p:cNvSpPr txBox="1"/>
          <p:nvPr>
            <p:ph idx="2" type="title"/>
          </p:nvPr>
        </p:nvSpPr>
        <p:spPr>
          <a:xfrm>
            <a:off x="1224000" y="2830775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18" name="Google Shape;918;p81"/>
          <p:cNvSpPr txBox="1"/>
          <p:nvPr>
            <p:ph idx="3" type="title"/>
          </p:nvPr>
        </p:nvSpPr>
        <p:spPr>
          <a:xfrm>
            <a:off x="1224000" y="3758277"/>
            <a:ext cx="6850800" cy="36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19" name="Google Shape;919;p8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20" name="Google Shape;920;p8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1" name="Google Shape;921;p81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22" name="Google Shape;922;p8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3" name="Google Shape;923;p81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924" name="Shape 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5" name="Google Shape;925;p82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7" name="Google Shape;927;p82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82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1" name="Google Shape;931;p82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2" name="Google Shape;932;p82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33" name="Google Shape;933;p82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934" name="Google Shape;934;p8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8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36" name="Google Shape;936;p8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37" name="Google Shape;937;p82"/>
          <p:cNvSpPr txBox="1"/>
          <p:nvPr>
            <p:ph type="title"/>
          </p:nvPr>
        </p:nvSpPr>
        <p:spPr>
          <a:xfrm>
            <a:off x="1224600" y="1462150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8" name="Google Shape;938;p82"/>
          <p:cNvSpPr txBox="1"/>
          <p:nvPr>
            <p:ph idx="2" type="title"/>
          </p:nvPr>
        </p:nvSpPr>
        <p:spPr>
          <a:xfrm>
            <a:off x="1224600" y="22922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39" name="Google Shape;939;p82"/>
          <p:cNvSpPr txBox="1"/>
          <p:nvPr>
            <p:ph idx="3" type="title"/>
          </p:nvPr>
        </p:nvSpPr>
        <p:spPr>
          <a:xfrm>
            <a:off x="1224600" y="3170276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0" name="Google Shape;940;p82"/>
          <p:cNvSpPr txBox="1"/>
          <p:nvPr>
            <p:ph idx="4" type="title"/>
          </p:nvPr>
        </p:nvSpPr>
        <p:spPr>
          <a:xfrm>
            <a:off x="1224600" y="3971352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41" name="Google Shape;941;p8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2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43" name="Google Shape;943;p82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2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5" name="Google Shape;945;p82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946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8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83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0" name="Google Shape;950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1" name="Google Shape;951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952" name="Google Shape;952;p8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8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8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6" name="Google Shape;956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57" name="Google Shape;957;p8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59" name="Google Shape;959;p8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1" name="Google Shape;961;p8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8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3" name="Google Shape;963;p8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64" name="Google Shape;964;p8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5" name="Google Shape;96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66" name="Google Shape;966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Google Shape;968;p8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69" name="Google Shape;969;p8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971" name="Google Shape;971;p86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973" name="Google Shape;973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8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6" name="Google Shape;976;p8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8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8" name="Google Shape;978;p8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79" name="Google Shape;979;p8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80" name="Google Shape;980;p87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81" name="Google Shape;981;p8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82" name="Google Shape;982;p8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3" name="Google Shape;983;p8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4" name="Google Shape;984;p8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85" name="Google Shape;985;p8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86" name="Google Shape;986;p8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8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9" name="Google Shape;989;p8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990" name="Google Shape;990;p8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8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2" name="Google Shape;992;p8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993" name="Google Shape;993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994" name="Google Shape;994;p8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995" name="Google Shape;995;p8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6" name="Google Shape;996;p8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7" name="Google Shape;997;p8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998" name="Google Shape;998;p8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8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89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02" name="Google Shape;1002;p8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03" name="Google Shape;1003;p8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89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5" name="Google Shape;1005;p89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06" name="Google Shape;1006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07" name="Google Shape;1007;p8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08" name="Google Shape;1008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09" name="Google Shape;1009;p8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10" name="Google Shape;1010;p8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11" name="Google Shape;1011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2" name="Google Shape;1012;p8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90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5" name="Google Shape;1015;p9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16" name="Google Shape;1016;p9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90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8" name="Google Shape;1018;p90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19" name="Google Shape;1019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20" name="Google Shape;1020;p90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1021" name="Google Shape;1021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2" name="Google Shape;1022;p90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23" name="Google Shape;1023;p90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1024" name="Google Shape;102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25" name="Google Shape;1025;p90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1026" name="Shape 10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Google Shape;1027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8" name="Google Shape;1028;p9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9" name="Google Shape;1029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30" name="Google Shape;1030;p9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1" name="Google Shape;1031;p9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2" name="Google Shape;1032;p9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3" name="Google Shape;1033;p9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4" name="Google Shape;1034;p91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5" name="Google Shape;1035;p9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6" name="Google Shape;1036;p9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1037" name="Google Shape;1037;p9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38" name="Google Shape;1038;p9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39" name="Google Shape;1039;p9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0" name="Google Shape;1040;p9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1" name="Google Shape;1041;p9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043" name="Google Shape;1043;p9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44" name="Google Shape;1044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5" name="Google Shape;1045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6" name="Google Shape;1046;p9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47" name="Google Shape;1047;p9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8" name="Google Shape;1048;p9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1049" name="Shape 1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0" name="Google Shape;1050;p9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51" name="Google Shape;1051;p9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2" name="Google Shape;1052;p9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3" name="Google Shape;1053;p9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4" name="Google Shape;1054;p9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5" name="Google Shape;1055;p92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56" name="Google Shape;1056;p9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57" name="Google Shape;1057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8" name="Google Shape;1058;p9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9" name="Google Shape;1059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60" name="Google Shape;1060;p92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61" name="Google Shape;1061;p92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62" name="Google Shape;1062;p9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63" name="Google Shape;1063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4" name="Google Shape;1064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65" name="Google Shape;1065;p9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66" name="Google Shape;1066;p9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67" name="Google Shape;1067;p9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68" name="Google Shape;1068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9" name="Google Shape;1069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70" name="Google Shape;1070;p9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9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9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5" name="Google Shape;1075;p9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6" name="Google Shape;1076;p9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7" name="Google Shape;1077;p9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8" name="Google Shape;1078;p93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79" name="Google Shape;1079;p9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080" name="Google Shape;1080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1" name="Google Shape;1081;p9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82" name="Google Shape;1082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3" name="Google Shape;1083;p93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084" name="Google Shape;1084;p93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085" name="Google Shape;1085;p9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086" name="Google Shape;1086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87" name="Google Shape;1087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88" name="Google Shape;1088;p9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089" name="Google Shape;1089;p9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90" name="Google Shape;1090;p9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91" name="Google Shape;1091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2" name="Google Shape;1092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3" name="Google Shape;1093;p9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4" name="Google Shape;1094;p9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6" name="Google Shape;1096;p9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7" name="Google Shape;1097;p9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8" name="Google Shape;1098;p94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94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94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4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2" name="Google Shape;1102;p94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1103" name="Google Shape;1103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6" name="Google Shape;1106;p94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07" name="Google Shape;1107;p94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08" name="Google Shape;1108;p94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1109" name="Google Shape;1109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0" name="Google Shape;1110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11" name="Google Shape;1111;p94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1112" name="Google Shape;1112;p9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3" name="Google Shape;1113;p9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4" name="Google Shape;1114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5" name="Google Shape;1115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1116" name="Google Shape;1116;p94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7" name="Google Shape;1117;p94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9" name="Google Shape;1119;p9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20" name="Google Shape;1120;p9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1" name="Google Shape;1121;p9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22" name="Google Shape;1122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4" name="Google Shape;1124;p9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5" name="Google Shape;1125;p9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6" name="Google Shape;1126;p9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27" name="Google Shape;1127;p9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28" name="Google Shape;1128;p9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29" name="Google Shape;1129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0" name="Google Shape;113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1" name="Google Shape;1131;p9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32" name="Google Shape;1132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3" name="Google Shape;1133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34" name="Google Shape;1134;p9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35" name="Google Shape;1135;p9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6" name="Google Shape;113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8" name="Google Shape;1138;p9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9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9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41" name="Google Shape;114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2" name="Google Shape;1142;p9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3" name="Google Shape;1143;p9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44" name="Google Shape;1144;p9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5" name="Google Shape;1145;p9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46" name="Google Shape;1146;p9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47" name="Google Shape;1147;p9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48" name="Google Shape;1148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9" name="Google Shape;114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0" name="Google Shape;1150;p9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51" name="Google Shape;1151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2" name="Google Shape;115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9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54" name="Google Shape;1154;p9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5" name="Google Shape;115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7" name="Google Shape;1157;p9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58" name="Google Shape;1158;p9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9" name="Google Shape;1159;p9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60" name="Google Shape;1160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1" name="Google Shape;1161;p9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2" name="Google Shape;1162;p9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63" name="Google Shape;1163;p97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4" name="Google Shape;1164;p97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65" name="Google Shape;1165;p97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66" name="Google Shape;1166;p9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67" name="Google Shape;1167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68" name="Google Shape;1168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9" name="Google Shape;1169;p9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70" name="Google Shape;1170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1" name="Google Shape;1171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2" name="Google Shape;1172;p9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73" name="Google Shape;1173;p9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4" name="Google Shape;1174;p9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1175" name="Shape 1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6" name="Google Shape;1176;p9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7" name="Google Shape;1177;p9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8" name="Google Shape;1178;p98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79" name="Google Shape;1179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0" name="Google Shape;1180;p9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82" name="Google Shape;1182;p98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3" name="Google Shape;1183;p98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184" name="Google Shape;1184;p98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185" name="Google Shape;1185;p98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1186" name="Google Shape;1186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87" name="Google Shape;1187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8" name="Google Shape;1188;p98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1189" name="Google Shape;1189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0" name="Google Shape;1190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1" name="Google Shape;1191;p98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1192" name="Google Shape;1192;p9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3" name="Google Shape;1193;p9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5" name="Google Shape;1195;p9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9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7" name="Google Shape;1197;p9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98" name="Google Shape;119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9" name="Google Shape;1199;p9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9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01" name="Google Shape;1201;p9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2" name="Google Shape;1202;p9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3" name="Google Shape;1203;p9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04" name="Google Shape;1204;p9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05" name="Google Shape;1205;p9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06" name="Google Shape;1206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07" name="Google Shape;1207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8" name="Google Shape;1208;p9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09" name="Google Shape;1209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0" name="Google Shape;1210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1" name="Google Shape;1211;p9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12" name="Google Shape;1212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3" name="Google Shape;1213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4" name="Google Shape;1214;p9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15" name="Google Shape;1215;p9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16" name="Google Shape;1216;p9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8" name="Google Shape;1218;p10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9" name="Google Shape;1219;p10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0" name="Google Shape;1220;p10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1" name="Google Shape;1221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10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10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24" name="Google Shape;1224;p10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5" name="Google Shape;1225;p10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6" name="Google Shape;1226;p10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27" name="Google Shape;1227;p10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28" name="Google Shape;1228;p10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29" name="Google Shape;1229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0" name="Google Shape;1230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10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32" name="Google Shape;1232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3" name="Google Shape;1233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10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35" name="Google Shape;1235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6" name="Google Shape;1236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10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38" name="Google Shape;1238;p10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9" name="Google Shape;1239;p10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1" name="Google Shape;1241;p10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2" name="Google Shape;1242;p10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3" name="Google Shape;1243;p10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44" name="Google Shape;1244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5" name="Google Shape;1245;p10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6" name="Google Shape;1246;p10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47" name="Google Shape;1247;p101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8" name="Google Shape;1248;p101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49" name="Google Shape;1249;p101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50" name="Google Shape;1250;p101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51" name="Google Shape;1251;p10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52" name="Google Shape;1252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3" name="Google Shape;1253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4" name="Google Shape;1254;p10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55" name="Google Shape;1255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6" name="Google Shape;1256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57" name="Google Shape;1257;p10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58" name="Google Shape;1258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59" name="Google Shape;1259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60" name="Google Shape;1260;p10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61" name="Google Shape;1261;p10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2" name="Google Shape;1262;p10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4" name="Google Shape;1264;p10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65" name="Google Shape;1265;p10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02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67" name="Google Shape;1267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9" name="Google Shape;1269;p10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70" name="Google Shape;1270;p102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1" name="Google Shape;1271;p102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2" name="Google Shape;1272;p102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1273" name="Google Shape;1273;p102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1274" name="Google Shape;1274;p102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1275" name="Google Shape;1275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6" name="Google Shape;1276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102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1278" name="Google Shape;1278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79" name="Google Shape;1279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102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1281" name="Google Shape;1281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2" name="Google Shape;1282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3" name="Google Shape;1283;p102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1284" name="Google Shape;1284;p10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5" name="Google Shape;1285;p10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7" name="Google Shape;1287;p10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88" name="Google Shape;1288;p10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9" name="Google Shape;1289;p10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90" name="Google Shape;129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10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10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3" name="Google Shape;1293;p10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4" name="Google Shape;1294;p10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295" name="Google Shape;1295;p10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296" name="Google Shape;1296;p10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297" name="Google Shape;1297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98" name="Google Shape;1298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9" name="Google Shape;1299;p10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00" name="Google Shape;1300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1" name="Google Shape;1301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2" name="Google Shape;1302;p10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03" name="Google Shape;1303;p10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4" name="Google Shape;1304;p10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Google Shape;1306;p10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07" name="Google Shape;1307;p10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8" name="Google Shape;1308;p10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09" name="Google Shape;1309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0" name="Google Shape;1310;p10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10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2" name="Google Shape;1312;p10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3" name="Google Shape;1313;p10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15" name="Google Shape;1315;p10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16" name="Google Shape;1316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17" name="Google Shape;1317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10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19" name="Google Shape;1319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0" name="Google Shape;1320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10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22" name="Google Shape;1322;p10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23" name="Google Shape;1323;p10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5" name="Google Shape;1325;p10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6" name="Google Shape;1326;p10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7" name="Google Shape;1327;p10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28" name="Google Shape;132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10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10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31" name="Google Shape;1331;p105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2" name="Google Shape;1332;p105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33" name="Google Shape;1333;p105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34" name="Google Shape;1334;p10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35" name="Google Shape;1335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6" name="Google Shape;1336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7" name="Google Shape;1337;p10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38" name="Google Shape;1338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9" name="Google Shape;1339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0" name="Google Shape;1340;p10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41" name="Google Shape;1341;p10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42" name="Google Shape;1342;p10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4" name="Google Shape;1344;p10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0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10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347" name="Google Shape;1347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8" name="Google Shape;1348;p10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9" name="Google Shape;1349;p10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0" name="Google Shape;1350;p106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1" name="Google Shape;1351;p106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1352" name="Google Shape;1352;p106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1353" name="Google Shape;1353;p106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1354" name="Google Shape;1354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5" name="Google Shape;1355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6" name="Google Shape;1356;p106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1357" name="Google Shape;1357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8" name="Google Shape;1358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9" name="Google Shape;1359;p106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1360" name="Google Shape;1360;p10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61" name="Google Shape;1361;p10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3" name="Google Shape;1363;p10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64" name="Google Shape;1364;p10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66" name="Google Shape;1366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7" name="Google Shape;1367;p10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10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0" name="Google Shape;1370;p10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1" name="Google Shape;1371;p10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2" name="Google Shape;1372;p10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73" name="Google Shape;1373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4" name="Google Shape;1374;p10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5" name="Google Shape;1375;p10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7" name="Google Shape;1377;p10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78" name="Google Shape;1378;p10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10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0" name="Google Shape;1380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1" name="Google Shape;1381;p10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2" name="Google Shape;1382;p10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4" name="Google Shape;1384;p11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85" name="Google Shape;1385;p11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1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1387" name="Google Shape;1387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8" name="Google Shape;1388;p11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9" name="Google Shape;1389;p11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1" name="Google Shape;1391;p1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92" name="Google Shape;1392;p11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3" name="Google Shape;1393;p11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4" name="Google Shape;1394;p111"/>
          <p:cNvSpPr txBox="1"/>
          <p:nvPr/>
        </p:nvSpPr>
        <p:spPr>
          <a:xfrm>
            <a:off x="324000" y="45525"/>
            <a:ext cx="1080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396" name="Google Shape;1396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1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1398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9" name="Google Shape;1399;p11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0" name="Google Shape;1400;p11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1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2" name="Google Shape;1402;p11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3" name="Google Shape;1403;p112"/>
          <p:cNvSpPr txBox="1"/>
          <p:nvPr/>
        </p:nvSpPr>
        <p:spPr>
          <a:xfrm>
            <a:off x="324000" y="45525"/>
            <a:ext cx="100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05" name="Google Shape;140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1406" name="Shape 1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7" name="Google Shape;1407;p11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8" name="Google Shape;1408;p11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9" name="Google Shape;1409;p11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0" name="Google Shape;1410;p11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1" name="Google Shape;1411;p113"/>
          <p:cNvSpPr txBox="1"/>
          <p:nvPr/>
        </p:nvSpPr>
        <p:spPr>
          <a:xfrm>
            <a:off x="324000" y="45525"/>
            <a:ext cx="10191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2" name="Google Shape;1412;p11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13" name="Google Shape;1413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1414" name="Shape 1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5" name="Google Shape;1415;p11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1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7" name="Google Shape;1417;p11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8" name="Google Shape;1418;p11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4"/>
          <p:cNvSpPr txBox="1"/>
          <p:nvPr/>
        </p:nvSpPr>
        <p:spPr>
          <a:xfrm>
            <a:off x="324000" y="45525"/>
            <a:ext cx="104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0" name="Google Shape;1420;p11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1" name="Google Shape;1421;p1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1422" name="Shape 1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3" name="Google Shape;1423;p1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24" name="Google Shape;1424;p11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5" name="Google Shape;1425;p11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6" name="Google Shape;1426;p115"/>
          <p:cNvSpPr txBox="1"/>
          <p:nvPr/>
        </p:nvSpPr>
        <p:spPr>
          <a:xfrm>
            <a:off x="324000" y="45525"/>
            <a:ext cx="140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7" name="Google Shape;1427;p11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1428" name="Google Shape;1428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9" name="Google Shape;1429;p11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1" name="Google Shape;1431;p11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32" name="Google Shape;1432;p11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3" name="Google Shape;1433;p11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4" name="Google Shape;1434;p116"/>
          <p:cNvSpPr txBox="1"/>
          <p:nvPr/>
        </p:nvSpPr>
        <p:spPr>
          <a:xfrm>
            <a:off x="324000" y="45525"/>
            <a:ext cx="1049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116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36" name="Google Shape;1436;p11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37" name="Google Shape;143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9" name="Google Shape;1439;p11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1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1" name="Google Shape;1441;p11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2" name="Google Shape;1442;p117"/>
          <p:cNvSpPr txBox="1"/>
          <p:nvPr/>
        </p:nvSpPr>
        <p:spPr>
          <a:xfrm>
            <a:off x="324000" y="45525"/>
            <a:ext cx="1034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3" name="Google Shape;1443;p11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44" name="Google Shape;1444;p11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45" name="Google Shape;144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7" name="Google Shape;1447;p11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1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9" name="Google Shape;1449;p11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0" name="Google Shape;1450;p118"/>
          <p:cNvSpPr txBox="1"/>
          <p:nvPr/>
        </p:nvSpPr>
        <p:spPr>
          <a:xfrm>
            <a:off x="324000" y="45525"/>
            <a:ext cx="988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1" name="Google Shape;1451;p11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52" name="Google Shape;1452;p11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53" name="Google Shape;1453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1454" name="Shape 1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5" name="Google Shape;1455;p119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6" name="Google Shape;1456;p119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57" name="Google Shape;1457;p119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8" name="Google Shape;1458;p11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9" name="Google Shape;1459;p119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120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2" name="Google Shape;1462;p120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0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64" name="Google Shape;1464;p120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5" name="Google Shape;1465;p120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7" name="Google Shape;1467;p1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1468" name="Google Shape;1468;p121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p122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1" name="Google Shape;1471;p122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2" name="Google Shape;1472;p122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3" name="Google Shape;1473;p122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5" name="Google Shape;1475;p122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6" name="Google Shape;1476;p122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7" name="Google Shape;1477;p122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8" name="Google Shape;1478;p122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1479" name="Shape 1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0" name="Google Shape;1480;p1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1" name="Google Shape;1481;p123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1482" name="Shape 1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3" name="Google Shape;1483;p124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theme" Target="../theme/theme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9.xml"/><Relationship Id="rId42" Type="http://schemas.openxmlformats.org/officeDocument/2006/relationships/slideLayout" Target="../slideLayouts/slideLayout101.xml"/><Relationship Id="rId41" Type="http://schemas.openxmlformats.org/officeDocument/2006/relationships/slideLayout" Target="../slideLayouts/slideLayout100.xml"/><Relationship Id="rId44" Type="http://schemas.openxmlformats.org/officeDocument/2006/relationships/slideLayout" Target="../slideLayouts/slideLayout103.xml"/><Relationship Id="rId43" Type="http://schemas.openxmlformats.org/officeDocument/2006/relationships/slideLayout" Target="../slideLayouts/slideLayout102.xml"/><Relationship Id="rId46" Type="http://schemas.openxmlformats.org/officeDocument/2006/relationships/slideLayout" Target="../slideLayouts/slideLayout105.xml"/><Relationship Id="rId45" Type="http://schemas.openxmlformats.org/officeDocument/2006/relationships/slideLayout" Target="../slideLayouts/slideLayout10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1.xml"/><Relationship Id="rId3" Type="http://schemas.openxmlformats.org/officeDocument/2006/relationships/slideLayout" Target="../slideLayouts/slideLayout62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Relationship Id="rId48" Type="http://schemas.openxmlformats.org/officeDocument/2006/relationships/slideLayout" Target="../slideLayouts/slideLayout107.xml"/><Relationship Id="rId47" Type="http://schemas.openxmlformats.org/officeDocument/2006/relationships/slideLayout" Target="../slideLayouts/slideLayout106.xml"/><Relationship Id="rId49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5.xml"/><Relationship Id="rId7" Type="http://schemas.openxmlformats.org/officeDocument/2006/relationships/slideLayout" Target="../slideLayouts/slideLayout66.xml"/><Relationship Id="rId8" Type="http://schemas.openxmlformats.org/officeDocument/2006/relationships/slideLayout" Target="../slideLayouts/slideLayout67.xml"/><Relationship Id="rId31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89.xml"/><Relationship Id="rId33" Type="http://schemas.openxmlformats.org/officeDocument/2006/relationships/slideLayout" Target="../slideLayouts/slideLayout92.xml"/><Relationship Id="rId32" Type="http://schemas.openxmlformats.org/officeDocument/2006/relationships/slideLayout" Target="../slideLayouts/slideLayout91.xml"/><Relationship Id="rId35" Type="http://schemas.openxmlformats.org/officeDocument/2006/relationships/slideLayout" Target="../slideLayouts/slideLayout94.xml"/><Relationship Id="rId34" Type="http://schemas.openxmlformats.org/officeDocument/2006/relationships/slideLayout" Target="../slideLayouts/slideLayout93.xml"/><Relationship Id="rId37" Type="http://schemas.openxmlformats.org/officeDocument/2006/relationships/slideLayout" Target="../slideLayouts/slideLayout96.xml"/><Relationship Id="rId36" Type="http://schemas.openxmlformats.org/officeDocument/2006/relationships/slideLayout" Target="../slideLayouts/slideLayout95.xml"/><Relationship Id="rId39" Type="http://schemas.openxmlformats.org/officeDocument/2006/relationships/slideLayout" Target="../slideLayouts/slideLayout98.xml"/><Relationship Id="rId38" Type="http://schemas.openxmlformats.org/officeDocument/2006/relationships/slideLayout" Target="../slideLayouts/slideLayout97.xml"/><Relationship Id="rId62" Type="http://schemas.openxmlformats.org/officeDocument/2006/relationships/slideLayout" Target="../slideLayouts/slideLayout121.xml"/><Relationship Id="rId61" Type="http://schemas.openxmlformats.org/officeDocument/2006/relationships/slideLayout" Target="../slideLayouts/slideLayout120.xml"/><Relationship Id="rId20" Type="http://schemas.openxmlformats.org/officeDocument/2006/relationships/slideLayout" Target="../slideLayouts/slideLayout7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81.xml"/><Relationship Id="rId21" Type="http://schemas.openxmlformats.org/officeDocument/2006/relationships/slideLayout" Target="../slideLayouts/slideLayout80.xml"/><Relationship Id="rId24" Type="http://schemas.openxmlformats.org/officeDocument/2006/relationships/slideLayout" Target="../slideLayouts/slideLayout83.xml"/><Relationship Id="rId23" Type="http://schemas.openxmlformats.org/officeDocument/2006/relationships/slideLayout" Target="../slideLayouts/slideLayout82.xml"/><Relationship Id="rId60" Type="http://schemas.openxmlformats.org/officeDocument/2006/relationships/slideLayout" Target="../slideLayouts/slideLayout119.xml"/><Relationship Id="rId26" Type="http://schemas.openxmlformats.org/officeDocument/2006/relationships/slideLayout" Target="../slideLayouts/slideLayout85.xml"/><Relationship Id="rId25" Type="http://schemas.openxmlformats.org/officeDocument/2006/relationships/slideLayout" Target="../slideLayouts/slideLayout84.xml"/><Relationship Id="rId28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86.xml"/><Relationship Id="rId29" Type="http://schemas.openxmlformats.org/officeDocument/2006/relationships/slideLayout" Target="../slideLayouts/slideLayout88.xml"/><Relationship Id="rId51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09.xml"/><Relationship Id="rId53" Type="http://schemas.openxmlformats.org/officeDocument/2006/relationships/slideLayout" Target="../slideLayouts/slideLayout112.xml"/><Relationship Id="rId52" Type="http://schemas.openxmlformats.org/officeDocument/2006/relationships/slideLayout" Target="../slideLayouts/slideLayout111.xml"/><Relationship Id="rId11" Type="http://schemas.openxmlformats.org/officeDocument/2006/relationships/slideLayout" Target="../slideLayouts/slideLayout70.xml"/><Relationship Id="rId55" Type="http://schemas.openxmlformats.org/officeDocument/2006/relationships/slideLayout" Target="../slideLayouts/slideLayout114.xml"/><Relationship Id="rId10" Type="http://schemas.openxmlformats.org/officeDocument/2006/relationships/slideLayout" Target="../slideLayouts/slideLayout69.xml"/><Relationship Id="rId54" Type="http://schemas.openxmlformats.org/officeDocument/2006/relationships/slideLayout" Target="../slideLayouts/slideLayout113.xml"/><Relationship Id="rId13" Type="http://schemas.openxmlformats.org/officeDocument/2006/relationships/slideLayout" Target="../slideLayouts/slideLayout72.xml"/><Relationship Id="rId57" Type="http://schemas.openxmlformats.org/officeDocument/2006/relationships/slideLayout" Target="../slideLayouts/slideLayout116.xml"/><Relationship Id="rId12" Type="http://schemas.openxmlformats.org/officeDocument/2006/relationships/slideLayout" Target="../slideLayouts/slideLayout71.xml"/><Relationship Id="rId56" Type="http://schemas.openxmlformats.org/officeDocument/2006/relationships/slideLayout" Target="../slideLayouts/slideLayout115.xml"/><Relationship Id="rId15" Type="http://schemas.openxmlformats.org/officeDocument/2006/relationships/slideLayout" Target="../slideLayouts/slideLayout74.xml"/><Relationship Id="rId59" Type="http://schemas.openxmlformats.org/officeDocument/2006/relationships/slideLayout" Target="../slideLayouts/slideLayout118.xml"/><Relationship Id="rId14" Type="http://schemas.openxmlformats.org/officeDocument/2006/relationships/slideLayout" Target="../slideLayouts/slideLayout73.xml"/><Relationship Id="rId58" Type="http://schemas.openxmlformats.org/officeDocument/2006/relationships/slideLayout" Target="../slideLayouts/slideLayout117.xml"/><Relationship Id="rId17" Type="http://schemas.openxmlformats.org/officeDocument/2006/relationships/slideLayout" Target="../slideLayouts/slideLayout76.xml"/><Relationship Id="rId16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7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45" name="Google Shape;745;p62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746" name="Google Shape;746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19" r:id="rId13"/>
    <p:sldLayoutId id="2147483720" r:id="rId14"/>
    <p:sldLayoutId id="2147483721" r:id="rId15"/>
    <p:sldLayoutId id="2147483722" r:id="rId16"/>
    <p:sldLayoutId id="2147483723" r:id="rId17"/>
    <p:sldLayoutId id="2147483724" r:id="rId18"/>
    <p:sldLayoutId id="2147483725" r:id="rId19"/>
    <p:sldLayoutId id="2147483726" r:id="rId20"/>
    <p:sldLayoutId id="2147483727" r:id="rId21"/>
    <p:sldLayoutId id="2147483728" r:id="rId22"/>
    <p:sldLayoutId id="2147483729" r:id="rId23"/>
    <p:sldLayoutId id="2147483730" r:id="rId24"/>
    <p:sldLayoutId id="2147483731" r:id="rId25"/>
    <p:sldLayoutId id="2147483732" r:id="rId26"/>
    <p:sldLayoutId id="2147483733" r:id="rId27"/>
    <p:sldLayoutId id="2147483734" r:id="rId28"/>
    <p:sldLayoutId id="2147483735" r:id="rId29"/>
    <p:sldLayoutId id="2147483736" r:id="rId30"/>
    <p:sldLayoutId id="2147483737" r:id="rId31"/>
    <p:sldLayoutId id="2147483738" r:id="rId32"/>
    <p:sldLayoutId id="2147483739" r:id="rId33"/>
    <p:sldLayoutId id="2147483740" r:id="rId34"/>
    <p:sldLayoutId id="2147483741" r:id="rId35"/>
    <p:sldLayoutId id="2147483742" r:id="rId36"/>
    <p:sldLayoutId id="2147483743" r:id="rId37"/>
    <p:sldLayoutId id="2147483744" r:id="rId38"/>
    <p:sldLayoutId id="2147483745" r:id="rId39"/>
    <p:sldLayoutId id="2147483746" r:id="rId40"/>
    <p:sldLayoutId id="2147483747" r:id="rId41"/>
    <p:sldLayoutId id="2147483748" r:id="rId42"/>
    <p:sldLayoutId id="2147483749" r:id="rId43"/>
    <p:sldLayoutId id="2147483750" r:id="rId44"/>
    <p:sldLayoutId id="2147483751" r:id="rId45"/>
    <p:sldLayoutId id="2147483752" r:id="rId46"/>
    <p:sldLayoutId id="2147483753" r:id="rId47"/>
    <p:sldLayoutId id="2147483754" r:id="rId48"/>
    <p:sldLayoutId id="2147483755" r:id="rId49"/>
    <p:sldLayoutId id="2147483756" r:id="rId50"/>
    <p:sldLayoutId id="2147483757" r:id="rId51"/>
    <p:sldLayoutId id="2147483758" r:id="rId52"/>
    <p:sldLayoutId id="2147483759" r:id="rId53"/>
    <p:sldLayoutId id="2147483760" r:id="rId54"/>
    <p:sldLayoutId id="2147483761" r:id="rId55"/>
    <p:sldLayoutId id="2147483762" r:id="rId56"/>
    <p:sldLayoutId id="2147483763" r:id="rId57"/>
    <p:sldLayoutId id="2147483764" r:id="rId58"/>
    <p:sldLayoutId id="2147483765" r:id="rId59"/>
    <p:sldLayoutId id="2147483766" r:id="rId60"/>
    <p:sldLayoutId id="2147483767" r:id="rId61"/>
    <p:sldLayoutId id="2147483768" r:id="rId62"/>
    <p:sldLayoutId id="214748376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7.png"/><Relationship Id="rId4" Type="http://schemas.openxmlformats.org/officeDocument/2006/relationships/image" Target="../media/image101.png"/><Relationship Id="rId5" Type="http://schemas.openxmlformats.org/officeDocument/2006/relationships/image" Target="../media/image98.png"/><Relationship Id="rId6" Type="http://schemas.openxmlformats.org/officeDocument/2006/relationships/image" Target="../media/image100.png"/><Relationship Id="rId7" Type="http://schemas.openxmlformats.org/officeDocument/2006/relationships/image" Target="../media/image99.png"/><Relationship Id="rId8" Type="http://schemas.openxmlformats.org/officeDocument/2006/relationships/image" Target="../media/image10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8.png"/><Relationship Id="rId4" Type="http://schemas.openxmlformats.org/officeDocument/2006/relationships/image" Target="../media/image100.png"/><Relationship Id="rId5" Type="http://schemas.openxmlformats.org/officeDocument/2006/relationships/image" Target="../media/image10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7.png"/><Relationship Id="rId4" Type="http://schemas.openxmlformats.org/officeDocument/2006/relationships/image" Target="../media/image10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96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98.png"/><Relationship Id="rId4" Type="http://schemas.openxmlformats.org/officeDocument/2006/relationships/image" Target="../media/image100.png"/><Relationship Id="rId5" Type="http://schemas.openxmlformats.org/officeDocument/2006/relationships/image" Target="../media/image10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05.png"/><Relationship Id="rId4" Type="http://schemas.openxmlformats.org/officeDocument/2006/relationships/image" Target="../media/image100.png"/><Relationship Id="rId5" Type="http://schemas.openxmlformats.org/officeDocument/2006/relationships/image" Target="../media/image97.png"/><Relationship Id="rId6" Type="http://schemas.openxmlformats.org/officeDocument/2006/relationships/image" Target="../media/image10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10.gif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0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2.gif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0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png"/><Relationship Id="rId4" Type="http://schemas.openxmlformats.org/officeDocument/2006/relationships/image" Target="../media/image10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00.png"/><Relationship Id="rId4" Type="http://schemas.openxmlformats.org/officeDocument/2006/relationships/image" Target="../media/image9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8.png"/><Relationship Id="rId4" Type="http://schemas.openxmlformats.org/officeDocument/2006/relationships/image" Target="../media/image100.png"/><Relationship Id="rId5" Type="http://schemas.openxmlformats.org/officeDocument/2006/relationships/image" Target="../media/image10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00.png"/><Relationship Id="rId4" Type="http://schemas.openxmlformats.org/officeDocument/2006/relationships/image" Target="../media/image107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1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3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4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7" name="Shape 1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8" name="Google Shape;1488;p12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sp>
        <p:nvSpPr>
          <p:cNvPr id="1489" name="Google Shape;1489;p125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Non-linear relationships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p126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8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p12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appreciate the features of special number sequences, such as square, </a:t>
            </a:r>
            <a:r>
              <a:rPr b="1" lang="en-GB"/>
              <a:t>triangular</a:t>
            </a:r>
            <a:r>
              <a:rPr lang="en-GB"/>
              <a:t> and cube.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128"/>
          <p:cNvSpPr txBox="1"/>
          <p:nvPr>
            <p:ph idx="3" type="subTitle"/>
          </p:nvPr>
        </p:nvSpPr>
        <p:spPr>
          <a:xfrm>
            <a:off x="324000" y="9163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square number is the product of two repeated integers.</a:t>
            </a:r>
            <a:endParaRPr/>
          </a:p>
        </p:txBody>
      </p:sp>
      <p:sp>
        <p:nvSpPr>
          <p:cNvPr id="1505" name="Google Shape;1505;p128"/>
          <p:cNvSpPr txBox="1"/>
          <p:nvPr>
            <p:ph idx="4" type="subTitle"/>
          </p:nvPr>
        </p:nvSpPr>
        <p:spPr>
          <a:xfrm>
            <a:off x="324000" y="29112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cube number is the product of three repeated positive integers.</a:t>
            </a:r>
            <a:endParaRPr/>
          </a:p>
        </p:txBody>
      </p:sp>
      <p:sp>
        <p:nvSpPr>
          <p:cNvPr id="1506" name="Google Shape;1506;p128"/>
          <p:cNvSpPr txBox="1"/>
          <p:nvPr/>
        </p:nvSpPr>
        <p:spPr>
          <a:xfrm>
            <a:off x="527950" y="134437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7" name="Google Shape;1507;p128"/>
          <p:cNvSpPr txBox="1"/>
          <p:nvPr/>
        </p:nvSpPr>
        <p:spPr>
          <a:xfrm>
            <a:off x="527950" y="1801575"/>
            <a:ext cx="22158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✕ 8 = 64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8" name="Google Shape;1508;p128"/>
          <p:cNvSpPr txBox="1"/>
          <p:nvPr/>
        </p:nvSpPr>
        <p:spPr>
          <a:xfrm>
            <a:off x="527950" y="2182575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6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4 is a square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09" name="Google Shape;1509;p128"/>
          <p:cNvSpPr txBox="1"/>
          <p:nvPr/>
        </p:nvSpPr>
        <p:spPr>
          <a:xfrm>
            <a:off x="527950" y="3249375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Example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0" name="Google Shape;1510;p128"/>
          <p:cNvSpPr txBox="1"/>
          <p:nvPr/>
        </p:nvSpPr>
        <p:spPr>
          <a:xfrm>
            <a:off x="527950" y="3706575"/>
            <a:ext cx="31899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✕ 5 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5 =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125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28"/>
          <p:cNvSpPr txBox="1"/>
          <p:nvPr/>
        </p:nvSpPr>
        <p:spPr>
          <a:xfrm>
            <a:off x="527950" y="4087575"/>
            <a:ext cx="349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125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a cube number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29"/>
          <p:cNvSpPr txBox="1"/>
          <p:nvPr>
            <p:ph idx="3" type="subTitle"/>
          </p:nvPr>
        </p:nvSpPr>
        <p:spPr>
          <a:xfrm>
            <a:off x="324000" y="916381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/>
              <a:t>T</a:t>
            </a:r>
            <a:r>
              <a:rPr b="1" lang="en-GB"/>
              <a:t>riangular number</a:t>
            </a:r>
            <a:r>
              <a:rPr lang="en-GB"/>
              <a:t> - defined in the lesson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0" name="Shape 1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1" name="Google Shape;1521;p130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</a:t>
            </a:r>
            <a:r>
              <a:rPr lang="en-GB"/>
              <a:t>special</a:t>
            </a:r>
            <a:r>
              <a:rPr lang="en-GB"/>
              <a:t> number sequences</a:t>
            </a:r>
            <a:endParaRPr/>
          </a:p>
        </p:txBody>
      </p:sp>
      <p:sp>
        <p:nvSpPr>
          <p:cNvPr id="1522" name="Google Shape;1522;p130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1523" name="Google Shape;1523;p130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pic>
        <p:nvPicPr>
          <p:cNvPr id="1524" name="Google Shape;1524;p1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5" y="2059264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530" name="Google Shape;1530;p131"/>
          <p:cNvSpPr txBox="1"/>
          <p:nvPr>
            <p:ph idx="4294967295" type="subTitle"/>
          </p:nvPr>
        </p:nvSpPr>
        <p:spPr>
          <a:xfrm>
            <a:off x="324000" y="8100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square number is the product of two repeated integers.</a:t>
            </a:r>
            <a:endParaRPr sz="1800"/>
          </a:p>
        </p:txBody>
      </p:sp>
      <p:sp>
        <p:nvSpPr>
          <p:cNvPr id="1531" name="Google Shape;1531;p131"/>
          <p:cNvSpPr txBox="1"/>
          <p:nvPr/>
        </p:nvSpPr>
        <p:spPr>
          <a:xfrm>
            <a:off x="527950" y="1106400"/>
            <a:ext cx="1518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Examples: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2" name="Google Shape;1532;p131"/>
          <p:cNvSpPr txBox="1"/>
          <p:nvPr/>
        </p:nvSpPr>
        <p:spPr>
          <a:xfrm>
            <a:off x="527950" y="1563600"/>
            <a:ext cx="11757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✕ 2 =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31"/>
          <p:cNvSpPr txBox="1"/>
          <p:nvPr/>
        </p:nvSpPr>
        <p:spPr>
          <a:xfrm>
            <a:off x="2051950" y="1563600"/>
            <a:ext cx="20544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 ✕ 5 = 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34" name="Google Shape;1534;p131"/>
          <p:cNvGrpSpPr/>
          <p:nvPr/>
        </p:nvGrpSpPr>
        <p:grpSpPr>
          <a:xfrm>
            <a:off x="322798" y="2239126"/>
            <a:ext cx="739864" cy="795926"/>
            <a:chOff x="729201" y="2129935"/>
            <a:chExt cx="1005524" cy="1081715"/>
          </a:xfrm>
        </p:grpSpPr>
        <p:sp>
          <p:nvSpPr>
            <p:cNvPr id="1535" name="Google Shape;1535;p131"/>
            <p:cNvSpPr/>
            <p:nvPr/>
          </p:nvSpPr>
          <p:spPr>
            <a:xfrm>
              <a:off x="1205225" y="2188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131"/>
            <p:cNvSpPr/>
            <p:nvPr/>
          </p:nvSpPr>
          <p:spPr>
            <a:xfrm>
              <a:off x="1510025" y="21883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131"/>
            <p:cNvSpPr/>
            <p:nvPr/>
          </p:nvSpPr>
          <p:spPr>
            <a:xfrm>
              <a:off x="1205225" y="2493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131"/>
            <p:cNvSpPr/>
            <p:nvPr/>
          </p:nvSpPr>
          <p:spPr>
            <a:xfrm>
              <a:off x="1510025" y="249315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131"/>
            <p:cNvSpPr txBox="1"/>
            <p:nvPr/>
          </p:nvSpPr>
          <p:spPr>
            <a:xfrm>
              <a:off x="1289962" y="2721750"/>
              <a:ext cx="405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0" name="Google Shape;1540;p131"/>
            <p:cNvSpPr txBox="1"/>
            <p:nvPr/>
          </p:nvSpPr>
          <p:spPr>
            <a:xfrm>
              <a:off x="729201" y="2129935"/>
              <a:ext cx="405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7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1" name="Google Shape;1541;p131"/>
          <p:cNvGrpSpPr/>
          <p:nvPr/>
        </p:nvGrpSpPr>
        <p:grpSpPr>
          <a:xfrm>
            <a:off x="1856052" y="2248032"/>
            <a:ext cx="1453571" cy="1361148"/>
            <a:chOff x="5774412" y="2160000"/>
            <a:chExt cx="1856413" cy="1738375"/>
          </a:xfrm>
        </p:grpSpPr>
        <p:sp>
          <p:nvSpPr>
            <p:cNvPr id="1542" name="Google Shape;1542;p131"/>
            <p:cNvSpPr/>
            <p:nvPr/>
          </p:nvSpPr>
          <p:spPr>
            <a:xfrm>
              <a:off x="7406125" y="21600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131"/>
            <p:cNvSpPr/>
            <p:nvPr/>
          </p:nvSpPr>
          <p:spPr>
            <a:xfrm>
              <a:off x="6186925" y="21600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131"/>
            <p:cNvSpPr/>
            <p:nvPr/>
          </p:nvSpPr>
          <p:spPr>
            <a:xfrm>
              <a:off x="6491725" y="21600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131"/>
            <p:cNvSpPr/>
            <p:nvPr/>
          </p:nvSpPr>
          <p:spPr>
            <a:xfrm>
              <a:off x="6796525" y="21600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131"/>
            <p:cNvSpPr/>
            <p:nvPr/>
          </p:nvSpPr>
          <p:spPr>
            <a:xfrm>
              <a:off x="7101325" y="21600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131"/>
            <p:cNvSpPr/>
            <p:nvPr/>
          </p:nvSpPr>
          <p:spPr>
            <a:xfrm>
              <a:off x="7406125" y="24648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131"/>
            <p:cNvSpPr/>
            <p:nvPr/>
          </p:nvSpPr>
          <p:spPr>
            <a:xfrm>
              <a:off x="6186925" y="24648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131"/>
            <p:cNvSpPr/>
            <p:nvPr/>
          </p:nvSpPr>
          <p:spPr>
            <a:xfrm>
              <a:off x="6491725" y="24648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131"/>
            <p:cNvSpPr/>
            <p:nvPr/>
          </p:nvSpPr>
          <p:spPr>
            <a:xfrm>
              <a:off x="6796525" y="24648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131"/>
            <p:cNvSpPr/>
            <p:nvPr/>
          </p:nvSpPr>
          <p:spPr>
            <a:xfrm>
              <a:off x="7101325" y="24648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131"/>
            <p:cNvSpPr/>
            <p:nvPr/>
          </p:nvSpPr>
          <p:spPr>
            <a:xfrm>
              <a:off x="7406125" y="27696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131"/>
            <p:cNvSpPr/>
            <p:nvPr/>
          </p:nvSpPr>
          <p:spPr>
            <a:xfrm>
              <a:off x="6186925" y="27696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131"/>
            <p:cNvSpPr/>
            <p:nvPr/>
          </p:nvSpPr>
          <p:spPr>
            <a:xfrm>
              <a:off x="6491725" y="27696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131"/>
            <p:cNvSpPr/>
            <p:nvPr/>
          </p:nvSpPr>
          <p:spPr>
            <a:xfrm>
              <a:off x="6796525" y="27696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131"/>
            <p:cNvSpPr/>
            <p:nvPr/>
          </p:nvSpPr>
          <p:spPr>
            <a:xfrm>
              <a:off x="7101325" y="27696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131"/>
            <p:cNvSpPr/>
            <p:nvPr/>
          </p:nvSpPr>
          <p:spPr>
            <a:xfrm>
              <a:off x="7406125" y="30744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131"/>
            <p:cNvSpPr/>
            <p:nvPr/>
          </p:nvSpPr>
          <p:spPr>
            <a:xfrm>
              <a:off x="6186925" y="30744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131"/>
            <p:cNvSpPr/>
            <p:nvPr/>
          </p:nvSpPr>
          <p:spPr>
            <a:xfrm>
              <a:off x="6491725" y="30744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131"/>
            <p:cNvSpPr/>
            <p:nvPr/>
          </p:nvSpPr>
          <p:spPr>
            <a:xfrm>
              <a:off x="6796525" y="30744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131"/>
            <p:cNvSpPr/>
            <p:nvPr/>
          </p:nvSpPr>
          <p:spPr>
            <a:xfrm>
              <a:off x="7101325" y="30744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131"/>
            <p:cNvSpPr/>
            <p:nvPr/>
          </p:nvSpPr>
          <p:spPr>
            <a:xfrm>
              <a:off x="7406125" y="33792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131"/>
            <p:cNvSpPr/>
            <p:nvPr/>
          </p:nvSpPr>
          <p:spPr>
            <a:xfrm>
              <a:off x="6186925" y="33792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131"/>
            <p:cNvSpPr/>
            <p:nvPr/>
          </p:nvSpPr>
          <p:spPr>
            <a:xfrm>
              <a:off x="6491725" y="33792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131"/>
            <p:cNvSpPr/>
            <p:nvPr/>
          </p:nvSpPr>
          <p:spPr>
            <a:xfrm>
              <a:off x="6796525" y="33792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131"/>
            <p:cNvSpPr/>
            <p:nvPr/>
          </p:nvSpPr>
          <p:spPr>
            <a:xfrm>
              <a:off x="7101325" y="3379200"/>
              <a:ext cx="224700" cy="2247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131"/>
            <p:cNvSpPr txBox="1"/>
            <p:nvPr/>
          </p:nvSpPr>
          <p:spPr>
            <a:xfrm>
              <a:off x="5774412" y="2560800"/>
              <a:ext cx="405600" cy="48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68" name="Google Shape;1568;p131"/>
            <p:cNvSpPr txBox="1"/>
            <p:nvPr/>
          </p:nvSpPr>
          <p:spPr>
            <a:xfrm>
              <a:off x="6749250" y="3508675"/>
              <a:ext cx="405600" cy="38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</a:t>
              </a:r>
              <a:r>
                <a:rPr lang="en-GB" sz="2100">
                  <a:latin typeface="Lexend"/>
                  <a:ea typeface="Lexend"/>
                  <a:cs typeface="Lexend"/>
                  <a:sym typeface="Lexend"/>
                </a:rPr>
                <a:t> </a:t>
              </a:r>
              <a:endParaRPr sz="21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69" name="Google Shape;1569;p131"/>
          <p:cNvSpPr txBox="1"/>
          <p:nvPr>
            <p:ph idx="4294967295" type="subTitle"/>
          </p:nvPr>
        </p:nvSpPr>
        <p:spPr>
          <a:xfrm>
            <a:off x="4320000" y="231030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570" name="Google Shape;1570;p131"/>
          <p:cNvSpPr txBox="1"/>
          <p:nvPr>
            <p:ph idx="4294967295" type="subTitle"/>
          </p:nvPr>
        </p:nvSpPr>
        <p:spPr>
          <a:xfrm>
            <a:off x="4320000" y="1630050"/>
            <a:ext cx="4500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of these are square numbers? </a:t>
            </a:r>
            <a:endParaRPr sz="1800"/>
          </a:p>
        </p:txBody>
      </p:sp>
      <p:sp>
        <p:nvSpPr>
          <p:cNvPr id="1571" name="Google Shape;1571;p131"/>
          <p:cNvSpPr txBox="1"/>
          <p:nvPr>
            <p:ph idx="4294967295" type="subTitle"/>
          </p:nvPr>
        </p:nvSpPr>
        <p:spPr>
          <a:xfrm>
            <a:off x="5231750" y="205350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endParaRPr sz="1800"/>
          </a:p>
        </p:txBody>
      </p:sp>
      <p:sp>
        <p:nvSpPr>
          <p:cNvPr id="1572" name="Google Shape;1572;p131"/>
          <p:cNvSpPr txBox="1"/>
          <p:nvPr>
            <p:ph idx="4294967295" type="subTitle"/>
          </p:nvPr>
        </p:nvSpPr>
        <p:spPr>
          <a:xfrm>
            <a:off x="5025975" y="2907925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573" name="Google Shape;1573;p131"/>
          <p:cNvSpPr txBox="1"/>
          <p:nvPr>
            <p:ph idx="4294967295" type="subTitle"/>
          </p:nvPr>
        </p:nvSpPr>
        <p:spPr>
          <a:xfrm>
            <a:off x="5987875" y="250515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12</a:t>
            </a:r>
            <a:endParaRPr sz="1800"/>
          </a:p>
        </p:txBody>
      </p:sp>
      <p:sp>
        <p:nvSpPr>
          <p:cNvPr id="1574" name="Google Shape;1574;p131"/>
          <p:cNvSpPr txBox="1"/>
          <p:nvPr>
            <p:ph idx="4294967295" type="subTitle"/>
          </p:nvPr>
        </p:nvSpPr>
        <p:spPr>
          <a:xfrm>
            <a:off x="6648900" y="211545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</a:t>
            </a:r>
            <a:endParaRPr sz="1800"/>
          </a:p>
        </p:txBody>
      </p:sp>
      <p:sp>
        <p:nvSpPr>
          <p:cNvPr id="1575" name="Google Shape;1575;p131"/>
          <p:cNvSpPr txBox="1"/>
          <p:nvPr>
            <p:ph idx="4294967295" type="subTitle"/>
          </p:nvPr>
        </p:nvSpPr>
        <p:spPr>
          <a:xfrm>
            <a:off x="7655750" y="2235125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8</a:t>
            </a:r>
            <a:endParaRPr sz="1800"/>
          </a:p>
        </p:txBody>
      </p:sp>
      <p:sp>
        <p:nvSpPr>
          <p:cNvPr id="1576" name="Google Shape;1576;p131"/>
          <p:cNvSpPr txBox="1"/>
          <p:nvPr>
            <p:ph idx="4294967295" type="subTitle"/>
          </p:nvPr>
        </p:nvSpPr>
        <p:spPr>
          <a:xfrm>
            <a:off x="6948500" y="280645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</a:t>
            </a:r>
            <a:endParaRPr sz="1800"/>
          </a:p>
        </p:txBody>
      </p:sp>
      <p:sp>
        <p:nvSpPr>
          <p:cNvPr id="1577" name="Google Shape;1577;p131"/>
          <p:cNvSpPr txBox="1"/>
          <p:nvPr>
            <p:ph idx="4294967295" type="subTitle"/>
          </p:nvPr>
        </p:nvSpPr>
        <p:spPr>
          <a:xfrm>
            <a:off x="8168275" y="2907925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18</a:t>
            </a:r>
            <a:endParaRPr sz="1800"/>
          </a:p>
        </p:txBody>
      </p:sp>
      <p:sp>
        <p:nvSpPr>
          <p:cNvPr id="1578" name="Google Shape;1578;p131"/>
          <p:cNvSpPr txBox="1"/>
          <p:nvPr>
            <p:ph idx="4294967295" type="subTitle"/>
          </p:nvPr>
        </p:nvSpPr>
        <p:spPr>
          <a:xfrm>
            <a:off x="6256800" y="331620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21</a:t>
            </a:r>
            <a:endParaRPr sz="1800"/>
          </a:p>
        </p:txBody>
      </p:sp>
      <p:sp>
        <p:nvSpPr>
          <p:cNvPr id="1579" name="Google Shape;1579;p131"/>
          <p:cNvSpPr txBox="1"/>
          <p:nvPr>
            <p:ph idx="4294967295" type="subTitle"/>
          </p:nvPr>
        </p:nvSpPr>
        <p:spPr>
          <a:xfrm>
            <a:off x="4458900" y="3349425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16</a:t>
            </a:r>
            <a:endParaRPr sz="1800"/>
          </a:p>
        </p:txBody>
      </p:sp>
      <p:sp>
        <p:nvSpPr>
          <p:cNvPr id="1580" name="Google Shape;1580;p131"/>
          <p:cNvSpPr txBox="1"/>
          <p:nvPr>
            <p:ph idx="4294967295" type="subTitle"/>
          </p:nvPr>
        </p:nvSpPr>
        <p:spPr>
          <a:xfrm>
            <a:off x="5449450" y="358515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35</a:t>
            </a:r>
            <a:endParaRPr sz="1800"/>
          </a:p>
        </p:txBody>
      </p:sp>
      <p:sp>
        <p:nvSpPr>
          <p:cNvPr id="1581" name="Google Shape;1581;p131"/>
          <p:cNvSpPr txBox="1"/>
          <p:nvPr>
            <p:ph idx="4294967295" type="subTitle"/>
          </p:nvPr>
        </p:nvSpPr>
        <p:spPr>
          <a:xfrm>
            <a:off x="7459200" y="326800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30</a:t>
            </a:r>
            <a:endParaRPr sz="1800"/>
          </a:p>
        </p:txBody>
      </p:sp>
      <p:sp>
        <p:nvSpPr>
          <p:cNvPr id="1582" name="Google Shape;1582;p131"/>
          <p:cNvSpPr txBox="1"/>
          <p:nvPr>
            <p:ph idx="4294967295" type="subTitle"/>
          </p:nvPr>
        </p:nvSpPr>
        <p:spPr>
          <a:xfrm>
            <a:off x="4866650" y="420345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5</a:t>
            </a:r>
            <a:r>
              <a:rPr lang="en-GB" sz="1800"/>
              <a:t>0</a:t>
            </a:r>
            <a:endParaRPr sz="1800"/>
          </a:p>
        </p:txBody>
      </p:sp>
      <p:sp>
        <p:nvSpPr>
          <p:cNvPr id="1583" name="Google Shape;1583;p131"/>
          <p:cNvSpPr txBox="1"/>
          <p:nvPr>
            <p:ph idx="4294967295" type="subTitle"/>
          </p:nvPr>
        </p:nvSpPr>
        <p:spPr>
          <a:xfrm>
            <a:off x="6681025" y="411230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49</a:t>
            </a:r>
            <a:endParaRPr sz="1800"/>
          </a:p>
        </p:txBody>
      </p:sp>
      <p:grpSp>
        <p:nvGrpSpPr>
          <p:cNvPr id="1584" name="Google Shape;1584;p131"/>
          <p:cNvGrpSpPr/>
          <p:nvPr/>
        </p:nvGrpSpPr>
        <p:grpSpPr>
          <a:xfrm>
            <a:off x="4335600" y="2700000"/>
            <a:ext cx="4144232" cy="1774100"/>
            <a:chOff x="4335600" y="2700000"/>
            <a:chExt cx="4144232" cy="1774100"/>
          </a:xfrm>
        </p:grpSpPr>
        <p:sp>
          <p:nvSpPr>
            <p:cNvPr id="1585" name="Google Shape;1585;p131"/>
            <p:cNvSpPr/>
            <p:nvPr/>
          </p:nvSpPr>
          <p:spPr>
            <a:xfrm>
              <a:off x="4849800" y="2822475"/>
              <a:ext cx="472800" cy="4455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6" name="Google Shape;1586;p131"/>
            <p:cNvSpPr/>
            <p:nvPr/>
          </p:nvSpPr>
          <p:spPr>
            <a:xfrm>
              <a:off x="6778775" y="2700000"/>
              <a:ext cx="472800" cy="4455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7" name="Google Shape;1587;p131"/>
            <p:cNvSpPr/>
            <p:nvPr/>
          </p:nvSpPr>
          <p:spPr>
            <a:xfrm>
              <a:off x="4335600" y="3266809"/>
              <a:ext cx="472800" cy="4455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8" name="Google Shape;1588;p131"/>
            <p:cNvSpPr/>
            <p:nvPr/>
          </p:nvSpPr>
          <p:spPr>
            <a:xfrm>
              <a:off x="6595050" y="4028600"/>
              <a:ext cx="472800" cy="4455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89" name="Google Shape;1589;p131"/>
            <p:cNvSpPr/>
            <p:nvPr/>
          </p:nvSpPr>
          <p:spPr>
            <a:xfrm>
              <a:off x="8007032" y="3876200"/>
              <a:ext cx="472800" cy="445500"/>
            </a:xfrm>
            <a:prstGeom prst="ellipse">
              <a:avLst/>
            </a:prstGeom>
            <a:noFill/>
            <a:ln cap="flat" cmpd="sng" w="1905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0" name="Google Shape;1590;p131"/>
          <p:cNvSpPr txBox="1"/>
          <p:nvPr>
            <p:ph idx="4294967295" type="subTitle"/>
          </p:nvPr>
        </p:nvSpPr>
        <p:spPr>
          <a:xfrm>
            <a:off x="8118825" y="3959900"/>
            <a:ext cx="3651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36</a:t>
            </a:r>
            <a:endParaRPr sz="1800"/>
          </a:p>
        </p:txBody>
      </p:sp>
      <p:sp>
        <p:nvSpPr>
          <p:cNvPr id="1591" name="Google Shape;1591;p131"/>
          <p:cNvSpPr txBox="1"/>
          <p:nvPr>
            <p:ph idx="4294967295" type="subTitle"/>
          </p:nvPr>
        </p:nvSpPr>
        <p:spPr>
          <a:xfrm>
            <a:off x="324000" y="3845575"/>
            <a:ext cx="35229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 and 25 are square numbers.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1592" name="Google Shape;1592;p131"/>
          <p:cNvCxnSpPr/>
          <p:nvPr/>
        </p:nvCxnSpPr>
        <p:spPr>
          <a:xfrm>
            <a:off x="4076125" y="1217825"/>
            <a:ext cx="0" cy="35889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97" name="Google Shape;1597;p132"/>
          <p:cNvGrpSpPr/>
          <p:nvPr/>
        </p:nvGrpSpPr>
        <p:grpSpPr>
          <a:xfrm>
            <a:off x="988426" y="2902956"/>
            <a:ext cx="672025" cy="694500"/>
            <a:chOff x="1436568" y="2580243"/>
            <a:chExt cx="672025" cy="694500"/>
          </a:xfrm>
        </p:grpSpPr>
        <p:sp>
          <p:nvSpPr>
            <p:cNvPr id="1598" name="Google Shape;1598;p132"/>
            <p:cNvSpPr/>
            <p:nvPr/>
          </p:nvSpPr>
          <p:spPr>
            <a:xfrm>
              <a:off x="1436568" y="28850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132"/>
            <p:cNvSpPr/>
            <p:nvPr/>
          </p:nvSpPr>
          <p:spPr>
            <a:xfrm>
              <a:off x="1718893" y="28850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132"/>
            <p:cNvSpPr/>
            <p:nvPr/>
          </p:nvSpPr>
          <p:spPr>
            <a:xfrm>
              <a:off x="1436568" y="25802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132"/>
            <p:cNvSpPr/>
            <p:nvPr/>
          </p:nvSpPr>
          <p:spPr>
            <a:xfrm>
              <a:off x="1718893" y="2580243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2" name="Google Shape;1602;p1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Types of special number sequences</a:t>
            </a:r>
            <a:endParaRPr/>
          </a:p>
        </p:txBody>
      </p:sp>
      <p:grpSp>
        <p:nvGrpSpPr>
          <p:cNvPr id="1603" name="Google Shape;1603;p132"/>
          <p:cNvGrpSpPr/>
          <p:nvPr/>
        </p:nvGrpSpPr>
        <p:grpSpPr>
          <a:xfrm>
            <a:off x="888192" y="3001278"/>
            <a:ext cx="389700" cy="694500"/>
            <a:chOff x="1544875" y="2470651"/>
            <a:chExt cx="389700" cy="694500"/>
          </a:xfrm>
        </p:grpSpPr>
        <p:sp>
          <p:nvSpPr>
            <p:cNvPr id="1604" name="Google Shape;1604;p132"/>
            <p:cNvSpPr/>
            <p:nvPr/>
          </p:nvSpPr>
          <p:spPr>
            <a:xfrm>
              <a:off x="1544875" y="27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132"/>
            <p:cNvSpPr/>
            <p:nvPr/>
          </p:nvSpPr>
          <p:spPr>
            <a:xfrm>
              <a:off x="1544875" y="24706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06" name="Google Shape;1606;p132"/>
          <p:cNvGrpSpPr/>
          <p:nvPr/>
        </p:nvGrpSpPr>
        <p:grpSpPr>
          <a:xfrm>
            <a:off x="1170517" y="3001278"/>
            <a:ext cx="389700" cy="694500"/>
            <a:chOff x="1827200" y="2470651"/>
            <a:chExt cx="389700" cy="694500"/>
          </a:xfrm>
        </p:grpSpPr>
        <p:sp>
          <p:nvSpPr>
            <p:cNvPr id="1607" name="Google Shape;1607;p132"/>
            <p:cNvSpPr/>
            <p:nvPr/>
          </p:nvSpPr>
          <p:spPr>
            <a:xfrm>
              <a:off x="1827200" y="27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132"/>
            <p:cNvSpPr/>
            <p:nvPr/>
          </p:nvSpPr>
          <p:spPr>
            <a:xfrm>
              <a:off x="1827200" y="24706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09" name="Google Shape;1609;p132"/>
          <p:cNvSpPr txBox="1"/>
          <p:nvPr/>
        </p:nvSpPr>
        <p:spPr>
          <a:xfrm>
            <a:off x="965437" y="3677700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0" name="Google Shape;1610;p132"/>
          <p:cNvSpPr txBox="1"/>
          <p:nvPr/>
        </p:nvSpPr>
        <p:spPr>
          <a:xfrm>
            <a:off x="450678" y="3157225"/>
            <a:ext cx="306000" cy="3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11" name="Google Shape;1611;p132"/>
          <p:cNvSpPr txBox="1"/>
          <p:nvPr/>
        </p:nvSpPr>
        <p:spPr>
          <a:xfrm>
            <a:off x="1699703" y="3602850"/>
            <a:ext cx="3060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2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612" name="Google Shape;1612;p132"/>
          <p:cNvGrpSpPr/>
          <p:nvPr/>
        </p:nvGrpSpPr>
        <p:grpSpPr>
          <a:xfrm>
            <a:off x="7462225" y="2642378"/>
            <a:ext cx="971309" cy="999300"/>
            <a:chOff x="6054533" y="2383758"/>
            <a:chExt cx="971309" cy="999300"/>
          </a:xfrm>
        </p:grpSpPr>
        <p:sp>
          <p:nvSpPr>
            <p:cNvPr id="1613" name="Google Shape;1613;p132"/>
            <p:cNvSpPr/>
            <p:nvPr/>
          </p:nvSpPr>
          <p:spPr>
            <a:xfrm>
              <a:off x="6054533" y="29933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132"/>
            <p:cNvSpPr/>
            <p:nvPr/>
          </p:nvSpPr>
          <p:spPr>
            <a:xfrm>
              <a:off x="6336858" y="29933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132"/>
            <p:cNvSpPr/>
            <p:nvPr/>
          </p:nvSpPr>
          <p:spPr>
            <a:xfrm>
              <a:off x="6636142" y="29933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132"/>
            <p:cNvSpPr/>
            <p:nvPr/>
          </p:nvSpPr>
          <p:spPr>
            <a:xfrm>
              <a:off x="6054533" y="26885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132"/>
            <p:cNvSpPr/>
            <p:nvPr/>
          </p:nvSpPr>
          <p:spPr>
            <a:xfrm>
              <a:off x="6336858" y="26885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132"/>
            <p:cNvSpPr/>
            <p:nvPr/>
          </p:nvSpPr>
          <p:spPr>
            <a:xfrm>
              <a:off x="6636142" y="26885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132"/>
            <p:cNvSpPr/>
            <p:nvPr/>
          </p:nvSpPr>
          <p:spPr>
            <a:xfrm>
              <a:off x="6054533" y="23837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132"/>
            <p:cNvSpPr/>
            <p:nvPr/>
          </p:nvSpPr>
          <p:spPr>
            <a:xfrm>
              <a:off x="6336858" y="23837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132"/>
            <p:cNvSpPr/>
            <p:nvPr/>
          </p:nvSpPr>
          <p:spPr>
            <a:xfrm>
              <a:off x="6636142" y="2383758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22" name="Google Shape;1622;p132"/>
          <p:cNvGrpSpPr/>
          <p:nvPr/>
        </p:nvGrpSpPr>
        <p:grpSpPr>
          <a:xfrm>
            <a:off x="7362214" y="2740532"/>
            <a:ext cx="971309" cy="999300"/>
            <a:chOff x="8820008" y="2481399"/>
            <a:chExt cx="971309" cy="999300"/>
          </a:xfrm>
        </p:grpSpPr>
        <p:sp>
          <p:nvSpPr>
            <p:cNvPr id="1623" name="Google Shape;1623;p132"/>
            <p:cNvSpPr/>
            <p:nvPr/>
          </p:nvSpPr>
          <p:spPr>
            <a:xfrm>
              <a:off x="8820008" y="30909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132"/>
            <p:cNvSpPr/>
            <p:nvPr/>
          </p:nvSpPr>
          <p:spPr>
            <a:xfrm>
              <a:off x="9102333" y="30909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132"/>
            <p:cNvSpPr/>
            <p:nvPr/>
          </p:nvSpPr>
          <p:spPr>
            <a:xfrm>
              <a:off x="9401616" y="30909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132"/>
            <p:cNvSpPr/>
            <p:nvPr/>
          </p:nvSpPr>
          <p:spPr>
            <a:xfrm>
              <a:off x="8820008" y="27861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132"/>
            <p:cNvSpPr/>
            <p:nvPr/>
          </p:nvSpPr>
          <p:spPr>
            <a:xfrm>
              <a:off x="9102333" y="27861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132"/>
            <p:cNvSpPr/>
            <p:nvPr/>
          </p:nvSpPr>
          <p:spPr>
            <a:xfrm>
              <a:off x="9401616" y="27861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132"/>
            <p:cNvSpPr/>
            <p:nvPr/>
          </p:nvSpPr>
          <p:spPr>
            <a:xfrm>
              <a:off x="8820008" y="24813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132"/>
            <p:cNvSpPr/>
            <p:nvPr/>
          </p:nvSpPr>
          <p:spPr>
            <a:xfrm>
              <a:off x="9102333" y="24813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132"/>
            <p:cNvSpPr/>
            <p:nvPr/>
          </p:nvSpPr>
          <p:spPr>
            <a:xfrm>
              <a:off x="9401616" y="2481399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32" name="Google Shape;1632;p132"/>
          <p:cNvSpPr txBox="1"/>
          <p:nvPr/>
        </p:nvSpPr>
        <p:spPr>
          <a:xfrm>
            <a:off x="7505237" y="3829425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3" name="Google Shape;1633;p132"/>
          <p:cNvSpPr txBox="1"/>
          <p:nvPr/>
        </p:nvSpPr>
        <p:spPr>
          <a:xfrm>
            <a:off x="6851087" y="3097600"/>
            <a:ext cx="405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4" name="Google Shape;1634;p132"/>
          <p:cNvSpPr txBox="1"/>
          <p:nvPr/>
        </p:nvSpPr>
        <p:spPr>
          <a:xfrm>
            <a:off x="8405725" y="3538925"/>
            <a:ext cx="405600" cy="33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Lexend"/>
                <a:ea typeface="Lexend"/>
                <a:cs typeface="Lexend"/>
                <a:sym typeface="Lexend"/>
              </a:rPr>
              <a:t>3 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35" name="Google Shape;1635;p132"/>
          <p:cNvCxnSpPr/>
          <p:nvPr/>
        </p:nvCxnSpPr>
        <p:spPr>
          <a:xfrm>
            <a:off x="794075" y="3129100"/>
            <a:ext cx="0" cy="579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6" name="Google Shape;1636;p132"/>
          <p:cNvCxnSpPr/>
          <p:nvPr/>
        </p:nvCxnSpPr>
        <p:spPr>
          <a:xfrm rot="10800000">
            <a:off x="868075" y="3779925"/>
            <a:ext cx="6003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37" name="Google Shape;1637;p132"/>
          <p:cNvCxnSpPr/>
          <p:nvPr/>
        </p:nvCxnSpPr>
        <p:spPr>
          <a:xfrm flipH="1">
            <a:off x="1532750" y="3544925"/>
            <a:ext cx="209400" cy="2229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38" name="Google Shape;1638;p132"/>
          <p:cNvGrpSpPr/>
          <p:nvPr/>
        </p:nvGrpSpPr>
        <p:grpSpPr>
          <a:xfrm>
            <a:off x="7260638" y="2842901"/>
            <a:ext cx="389700" cy="999300"/>
            <a:chOff x="6152138" y="2275451"/>
            <a:chExt cx="389700" cy="999300"/>
          </a:xfrm>
        </p:grpSpPr>
        <p:sp>
          <p:nvSpPr>
            <p:cNvPr id="1639" name="Google Shape;1639;p132"/>
            <p:cNvSpPr/>
            <p:nvPr/>
          </p:nvSpPr>
          <p:spPr>
            <a:xfrm>
              <a:off x="6152138" y="288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132"/>
            <p:cNvSpPr/>
            <p:nvPr/>
          </p:nvSpPr>
          <p:spPr>
            <a:xfrm>
              <a:off x="6152138" y="25802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132"/>
            <p:cNvSpPr/>
            <p:nvPr/>
          </p:nvSpPr>
          <p:spPr>
            <a:xfrm>
              <a:off x="6152138" y="22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42" name="Google Shape;1642;p132"/>
          <p:cNvGrpSpPr/>
          <p:nvPr/>
        </p:nvGrpSpPr>
        <p:grpSpPr>
          <a:xfrm>
            <a:off x="7542963" y="2842901"/>
            <a:ext cx="688984" cy="999300"/>
            <a:chOff x="6434463" y="2275451"/>
            <a:chExt cx="688984" cy="999300"/>
          </a:xfrm>
        </p:grpSpPr>
        <p:sp>
          <p:nvSpPr>
            <p:cNvPr id="1643" name="Google Shape;1643;p132"/>
            <p:cNvSpPr/>
            <p:nvPr/>
          </p:nvSpPr>
          <p:spPr>
            <a:xfrm>
              <a:off x="6434463" y="288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132"/>
            <p:cNvSpPr/>
            <p:nvPr/>
          </p:nvSpPr>
          <p:spPr>
            <a:xfrm>
              <a:off x="6733746" y="28850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132"/>
            <p:cNvSpPr/>
            <p:nvPr/>
          </p:nvSpPr>
          <p:spPr>
            <a:xfrm>
              <a:off x="6434463" y="25802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132"/>
            <p:cNvSpPr/>
            <p:nvPr/>
          </p:nvSpPr>
          <p:spPr>
            <a:xfrm>
              <a:off x="6733746" y="25802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132"/>
            <p:cNvSpPr/>
            <p:nvPr/>
          </p:nvSpPr>
          <p:spPr>
            <a:xfrm>
              <a:off x="6434463" y="22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132"/>
            <p:cNvSpPr/>
            <p:nvPr/>
          </p:nvSpPr>
          <p:spPr>
            <a:xfrm>
              <a:off x="6733746" y="2275451"/>
              <a:ext cx="389700" cy="3897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1649" name="Google Shape;1649;p132"/>
          <p:cNvCxnSpPr/>
          <p:nvPr/>
        </p:nvCxnSpPr>
        <p:spPr>
          <a:xfrm>
            <a:off x="7184100" y="2956425"/>
            <a:ext cx="0" cy="873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0" name="Google Shape;1650;p132"/>
          <p:cNvCxnSpPr/>
          <p:nvPr/>
        </p:nvCxnSpPr>
        <p:spPr>
          <a:xfrm flipH="1">
            <a:off x="8231925" y="3577225"/>
            <a:ext cx="253500" cy="277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51" name="Google Shape;1651;p132"/>
          <p:cNvCxnSpPr/>
          <p:nvPr/>
        </p:nvCxnSpPr>
        <p:spPr>
          <a:xfrm rot="10800000">
            <a:off x="7256725" y="3925625"/>
            <a:ext cx="8874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triangle"/>
            <a:tailEnd len="med" w="med" type="triangle"/>
          </a:ln>
        </p:spPr>
      </p:cxnSp>
      <p:grpSp>
        <p:nvGrpSpPr>
          <p:cNvPr id="1652" name="Google Shape;1652;p132"/>
          <p:cNvGrpSpPr/>
          <p:nvPr/>
        </p:nvGrpSpPr>
        <p:grpSpPr>
          <a:xfrm>
            <a:off x="368857" y="2336294"/>
            <a:ext cx="641671" cy="334200"/>
            <a:chOff x="635557" y="2127194"/>
            <a:chExt cx="641671" cy="334200"/>
          </a:xfrm>
        </p:grpSpPr>
        <p:sp>
          <p:nvSpPr>
            <p:cNvPr id="1653" name="Google Shape;1653;p132"/>
            <p:cNvSpPr/>
            <p:nvPr/>
          </p:nvSpPr>
          <p:spPr>
            <a:xfrm>
              <a:off x="635557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132"/>
            <p:cNvSpPr/>
            <p:nvPr/>
          </p:nvSpPr>
          <p:spPr>
            <a:xfrm>
              <a:off x="943028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5" name="Google Shape;1655;p132"/>
          <p:cNvGrpSpPr/>
          <p:nvPr/>
        </p:nvGrpSpPr>
        <p:grpSpPr>
          <a:xfrm>
            <a:off x="998343" y="2336294"/>
            <a:ext cx="641671" cy="334200"/>
            <a:chOff x="1265043" y="2127194"/>
            <a:chExt cx="641671" cy="334200"/>
          </a:xfrm>
        </p:grpSpPr>
        <p:sp>
          <p:nvSpPr>
            <p:cNvPr id="1656" name="Google Shape;1656;p132"/>
            <p:cNvSpPr/>
            <p:nvPr/>
          </p:nvSpPr>
          <p:spPr>
            <a:xfrm>
              <a:off x="1265043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132"/>
            <p:cNvSpPr/>
            <p:nvPr/>
          </p:nvSpPr>
          <p:spPr>
            <a:xfrm>
              <a:off x="1572514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58" name="Google Shape;1658;p132"/>
          <p:cNvGrpSpPr/>
          <p:nvPr/>
        </p:nvGrpSpPr>
        <p:grpSpPr>
          <a:xfrm>
            <a:off x="1634874" y="2336294"/>
            <a:ext cx="1271157" cy="334200"/>
            <a:chOff x="1901574" y="2127194"/>
            <a:chExt cx="1271157" cy="334200"/>
          </a:xfrm>
        </p:grpSpPr>
        <p:sp>
          <p:nvSpPr>
            <p:cNvPr id="1659" name="Google Shape;1659;p132"/>
            <p:cNvSpPr/>
            <p:nvPr/>
          </p:nvSpPr>
          <p:spPr>
            <a:xfrm>
              <a:off x="1901574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132"/>
            <p:cNvSpPr/>
            <p:nvPr/>
          </p:nvSpPr>
          <p:spPr>
            <a:xfrm>
              <a:off x="2209045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132"/>
            <p:cNvSpPr/>
            <p:nvPr/>
          </p:nvSpPr>
          <p:spPr>
            <a:xfrm>
              <a:off x="2531060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132"/>
            <p:cNvSpPr/>
            <p:nvPr/>
          </p:nvSpPr>
          <p:spPr>
            <a:xfrm>
              <a:off x="2838531" y="2127194"/>
              <a:ext cx="334200" cy="3342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63" name="Google Shape;1663;p132"/>
          <p:cNvGrpSpPr/>
          <p:nvPr/>
        </p:nvGrpSpPr>
        <p:grpSpPr>
          <a:xfrm>
            <a:off x="4324997" y="2336310"/>
            <a:ext cx="1929812" cy="1287911"/>
            <a:chOff x="3601097" y="2127210"/>
            <a:chExt cx="1929812" cy="1287911"/>
          </a:xfrm>
        </p:grpSpPr>
        <p:sp>
          <p:nvSpPr>
            <p:cNvPr id="1664" name="Google Shape;1664;p132"/>
            <p:cNvSpPr/>
            <p:nvPr/>
          </p:nvSpPr>
          <p:spPr>
            <a:xfrm>
              <a:off x="3618468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132"/>
            <p:cNvSpPr/>
            <p:nvPr/>
          </p:nvSpPr>
          <p:spPr>
            <a:xfrm>
              <a:off x="3926692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132"/>
            <p:cNvSpPr/>
            <p:nvPr/>
          </p:nvSpPr>
          <p:spPr>
            <a:xfrm>
              <a:off x="4249495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132"/>
            <p:cNvSpPr/>
            <p:nvPr/>
          </p:nvSpPr>
          <p:spPr>
            <a:xfrm>
              <a:off x="3618468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132"/>
            <p:cNvSpPr/>
            <p:nvPr/>
          </p:nvSpPr>
          <p:spPr>
            <a:xfrm>
              <a:off x="3926692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132"/>
            <p:cNvSpPr/>
            <p:nvPr/>
          </p:nvSpPr>
          <p:spPr>
            <a:xfrm>
              <a:off x="4249495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132"/>
            <p:cNvSpPr/>
            <p:nvPr/>
          </p:nvSpPr>
          <p:spPr>
            <a:xfrm>
              <a:off x="3601097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132"/>
            <p:cNvSpPr/>
            <p:nvPr/>
          </p:nvSpPr>
          <p:spPr>
            <a:xfrm>
              <a:off x="3909321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132"/>
            <p:cNvSpPr/>
            <p:nvPr/>
          </p:nvSpPr>
          <p:spPr>
            <a:xfrm>
              <a:off x="4232124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132"/>
            <p:cNvSpPr/>
            <p:nvPr/>
          </p:nvSpPr>
          <p:spPr>
            <a:xfrm>
              <a:off x="4557719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132"/>
            <p:cNvSpPr/>
            <p:nvPr/>
          </p:nvSpPr>
          <p:spPr>
            <a:xfrm>
              <a:off x="4887585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132"/>
            <p:cNvSpPr/>
            <p:nvPr/>
          </p:nvSpPr>
          <p:spPr>
            <a:xfrm>
              <a:off x="5195809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132"/>
            <p:cNvSpPr/>
            <p:nvPr/>
          </p:nvSpPr>
          <p:spPr>
            <a:xfrm>
              <a:off x="4557719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132"/>
            <p:cNvSpPr/>
            <p:nvPr/>
          </p:nvSpPr>
          <p:spPr>
            <a:xfrm>
              <a:off x="4887585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132"/>
            <p:cNvSpPr/>
            <p:nvPr/>
          </p:nvSpPr>
          <p:spPr>
            <a:xfrm>
              <a:off x="5195809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132"/>
            <p:cNvSpPr/>
            <p:nvPr/>
          </p:nvSpPr>
          <p:spPr>
            <a:xfrm>
              <a:off x="4540348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132"/>
            <p:cNvSpPr/>
            <p:nvPr/>
          </p:nvSpPr>
          <p:spPr>
            <a:xfrm>
              <a:off x="4870214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132"/>
            <p:cNvSpPr/>
            <p:nvPr/>
          </p:nvSpPr>
          <p:spPr>
            <a:xfrm>
              <a:off x="5178438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2" name="Google Shape;1682;p132"/>
          <p:cNvGrpSpPr/>
          <p:nvPr/>
        </p:nvGrpSpPr>
        <p:grpSpPr>
          <a:xfrm>
            <a:off x="6225141" y="2336310"/>
            <a:ext cx="660695" cy="1287911"/>
            <a:chOff x="5501241" y="2127210"/>
            <a:chExt cx="660695" cy="1287911"/>
          </a:xfrm>
        </p:grpSpPr>
        <p:sp>
          <p:nvSpPr>
            <p:cNvPr id="1683" name="Google Shape;1683;p132"/>
            <p:cNvSpPr/>
            <p:nvPr/>
          </p:nvSpPr>
          <p:spPr>
            <a:xfrm>
              <a:off x="5518612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132"/>
            <p:cNvSpPr/>
            <p:nvPr/>
          </p:nvSpPr>
          <p:spPr>
            <a:xfrm>
              <a:off x="5826836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132"/>
            <p:cNvSpPr/>
            <p:nvPr/>
          </p:nvSpPr>
          <p:spPr>
            <a:xfrm>
              <a:off x="5518612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132"/>
            <p:cNvSpPr/>
            <p:nvPr/>
          </p:nvSpPr>
          <p:spPr>
            <a:xfrm>
              <a:off x="5826836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132"/>
            <p:cNvSpPr/>
            <p:nvPr/>
          </p:nvSpPr>
          <p:spPr>
            <a:xfrm>
              <a:off x="5501241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132"/>
            <p:cNvSpPr/>
            <p:nvPr/>
          </p:nvSpPr>
          <p:spPr>
            <a:xfrm>
              <a:off x="5809465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689" name="Google Shape;1689;p132"/>
          <p:cNvGrpSpPr/>
          <p:nvPr/>
        </p:nvGrpSpPr>
        <p:grpSpPr>
          <a:xfrm>
            <a:off x="6860911" y="2336310"/>
            <a:ext cx="352471" cy="1287911"/>
            <a:chOff x="6137011" y="2127210"/>
            <a:chExt cx="352471" cy="1287911"/>
          </a:xfrm>
        </p:grpSpPr>
        <p:sp>
          <p:nvSpPr>
            <p:cNvPr id="1690" name="Google Shape;1690;p132"/>
            <p:cNvSpPr/>
            <p:nvPr/>
          </p:nvSpPr>
          <p:spPr>
            <a:xfrm>
              <a:off x="6154382" y="2127210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132"/>
            <p:cNvSpPr/>
            <p:nvPr/>
          </p:nvSpPr>
          <p:spPr>
            <a:xfrm>
              <a:off x="6154382" y="2595003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132"/>
            <p:cNvSpPr/>
            <p:nvPr/>
          </p:nvSpPr>
          <p:spPr>
            <a:xfrm>
              <a:off x="6137011" y="3075822"/>
              <a:ext cx="335100" cy="339300"/>
            </a:xfrm>
            <a:prstGeom prst="cube">
              <a:avLst>
                <a:gd fmla="val 25000" name="adj"/>
              </a:avLst>
            </a:prstGeom>
            <a:solidFill>
              <a:schemeClr val="accent4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93" name="Google Shape;1693;p132"/>
          <p:cNvSpPr txBox="1"/>
          <p:nvPr>
            <p:ph idx="4294967295" type="subTitle"/>
          </p:nvPr>
        </p:nvSpPr>
        <p:spPr>
          <a:xfrm>
            <a:off x="324000" y="886200"/>
            <a:ext cx="8487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cube number is the product of three repeated positive integers.</a:t>
            </a:r>
            <a:endParaRPr sz="1800"/>
          </a:p>
        </p:txBody>
      </p:sp>
      <p:sp>
        <p:nvSpPr>
          <p:cNvPr id="1694" name="Google Shape;1694;p132"/>
          <p:cNvSpPr txBox="1"/>
          <p:nvPr/>
        </p:nvSpPr>
        <p:spPr>
          <a:xfrm>
            <a:off x="333975" y="1562425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 ✕ 2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2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5" name="Google Shape;1695;p132"/>
          <p:cNvSpPr txBox="1"/>
          <p:nvPr>
            <p:ph idx="4294967295" type="subTitle"/>
          </p:nvPr>
        </p:nvSpPr>
        <p:spPr>
          <a:xfrm>
            <a:off x="333975" y="1219588"/>
            <a:ext cx="19254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Examples:</a:t>
            </a:r>
            <a:endParaRPr sz="1800"/>
          </a:p>
        </p:txBody>
      </p:sp>
      <p:sp>
        <p:nvSpPr>
          <p:cNvPr id="1696" name="Google Shape;1696;p132"/>
          <p:cNvSpPr txBox="1"/>
          <p:nvPr>
            <p:ph idx="4294967295" type="subTitle"/>
          </p:nvPr>
        </p:nvSpPr>
        <p:spPr>
          <a:xfrm>
            <a:off x="333975" y="1956813"/>
            <a:ext cx="2520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8 is a cube number </a:t>
            </a:r>
            <a:endParaRPr sz="1800"/>
          </a:p>
        </p:txBody>
      </p:sp>
      <p:sp>
        <p:nvSpPr>
          <p:cNvPr id="1697" name="Google Shape;1697;p132"/>
          <p:cNvSpPr txBox="1"/>
          <p:nvPr/>
        </p:nvSpPr>
        <p:spPr>
          <a:xfrm>
            <a:off x="4360200" y="1543788"/>
            <a:ext cx="1752600" cy="4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✕ 3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✕ 3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= 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8" name="Google Shape;1698;p132"/>
          <p:cNvSpPr txBox="1"/>
          <p:nvPr>
            <p:ph idx="4294967295" type="subTitle"/>
          </p:nvPr>
        </p:nvSpPr>
        <p:spPr>
          <a:xfrm>
            <a:off x="4360200" y="1909400"/>
            <a:ext cx="2520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27 is a cube number </a:t>
            </a:r>
            <a:endParaRPr sz="1800"/>
          </a:p>
        </p:txBody>
      </p:sp>
      <p:sp>
        <p:nvSpPr>
          <p:cNvPr id="1699" name="Google Shape;1699;p132"/>
          <p:cNvSpPr txBox="1"/>
          <p:nvPr>
            <p:ph idx="4294967295" type="subTitle"/>
          </p:nvPr>
        </p:nvSpPr>
        <p:spPr>
          <a:xfrm>
            <a:off x="324000" y="4167600"/>
            <a:ext cx="3759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8 cubes can be arranged to make a cube with side lengths 2</a:t>
            </a:r>
            <a:endParaRPr sz="1800"/>
          </a:p>
        </p:txBody>
      </p:sp>
      <p:sp>
        <p:nvSpPr>
          <p:cNvPr id="1700" name="Google Shape;1700;p132"/>
          <p:cNvSpPr txBox="1"/>
          <p:nvPr>
            <p:ph idx="4294967295" type="subTitle"/>
          </p:nvPr>
        </p:nvSpPr>
        <p:spPr>
          <a:xfrm>
            <a:off x="4286400" y="4167600"/>
            <a:ext cx="37593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27</a:t>
            </a:r>
            <a:r>
              <a:rPr lang="en-GB" sz="1800"/>
              <a:t> cubes can be arranged to make a cube with side lengths 3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4" name="Shape 1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5" name="Google Shape;1705;p1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706" name="Google Shape;1706;p133"/>
          <p:cNvSpPr txBox="1"/>
          <p:nvPr>
            <p:ph idx="4294967295" type="subTitle"/>
          </p:nvPr>
        </p:nvSpPr>
        <p:spPr>
          <a:xfrm>
            <a:off x="324000" y="8100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Who could be writing the sequence of all cube numbers in ascending order?</a:t>
            </a:r>
            <a:endParaRPr sz="1800"/>
          </a:p>
        </p:txBody>
      </p:sp>
      <p:sp>
        <p:nvSpPr>
          <p:cNvPr id="1707" name="Google Shape;1707;p133"/>
          <p:cNvSpPr txBox="1"/>
          <p:nvPr/>
        </p:nvSpPr>
        <p:spPr>
          <a:xfrm>
            <a:off x="3406433" y="2580602"/>
            <a:ext cx="7737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8" name="Google Shape;1708;p133"/>
          <p:cNvSpPr txBox="1"/>
          <p:nvPr/>
        </p:nvSpPr>
        <p:spPr>
          <a:xfrm>
            <a:off x="6099475" y="2530452"/>
            <a:ext cx="910500" cy="32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09" name="Google Shape;1709;p1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571342" y="2034273"/>
            <a:ext cx="443871" cy="4924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0" name="Google Shape;1710;p1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42587" y="1951020"/>
            <a:ext cx="387923" cy="558609"/>
          </a:xfrm>
          <a:prstGeom prst="rect">
            <a:avLst/>
          </a:prstGeom>
          <a:noFill/>
          <a:ln>
            <a:noFill/>
          </a:ln>
        </p:spPr>
      </p:pic>
      <p:sp>
        <p:nvSpPr>
          <p:cNvPr id="1711" name="Google Shape;1711;p133"/>
          <p:cNvSpPr txBox="1"/>
          <p:nvPr/>
        </p:nvSpPr>
        <p:spPr>
          <a:xfrm flipH="1">
            <a:off x="312288" y="2638602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2" name="Google Shape;1712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608581" y="2050575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3" name="Google Shape;1713;p13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678260" y="1422238"/>
            <a:ext cx="1949102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133"/>
          <p:cNvSpPr/>
          <p:nvPr/>
        </p:nvSpPr>
        <p:spPr>
          <a:xfrm>
            <a:off x="6851300" y="1493377"/>
            <a:ext cx="17382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3, 6, 9, 12, 15 …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5" name="Google Shape;1715;p13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3893062" y="1472400"/>
            <a:ext cx="2318100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6" name="Google Shape;1716;p133"/>
          <p:cNvSpPr/>
          <p:nvPr/>
        </p:nvSpPr>
        <p:spPr>
          <a:xfrm>
            <a:off x="4077563" y="1543550"/>
            <a:ext cx="21438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8, 27, 64, 125, …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7" name="Google Shape;1717;p133"/>
          <p:cNvPicPr preferRelativeResize="0"/>
          <p:nvPr/>
        </p:nvPicPr>
        <p:blipFill rotWithShape="1">
          <a:blip r:embed="rId6">
            <a:alphaModFix/>
          </a:blip>
          <a:srcRect b="43690" l="0" r="57905" t="0"/>
          <a:stretch/>
        </p:blipFill>
        <p:spPr>
          <a:xfrm flipH="1">
            <a:off x="698202" y="1480513"/>
            <a:ext cx="2587023" cy="613499"/>
          </a:xfrm>
          <a:prstGeom prst="rect">
            <a:avLst/>
          </a:prstGeom>
          <a:noFill/>
          <a:ln>
            <a:noFill/>
          </a:ln>
        </p:spPr>
      </p:pic>
      <p:sp>
        <p:nvSpPr>
          <p:cNvPr id="1718" name="Google Shape;1718;p133"/>
          <p:cNvSpPr/>
          <p:nvPr/>
        </p:nvSpPr>
        <p:spPr>
          <a:xfrm>
            <a:off x="912475" y="1551663"/>
            <a:ext cx="2235600" cy="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27, 46, 65, 84…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19" name="Google Shape;1719;p13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0008" y="2197727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0" name="Google Shape;1720;p133"/>
          <p:cNvSpPr txBox="1"/>
          <p:nvPr>
            <p:ph idx="4294967295" type="subTitle"/>
          </p:nvPr>
        </p:nvSpPr>
        <p:spPr>
          <a:xfrm>
            <a:off x="324000" y="32969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Alex’s sequence starts with two cube numbers but 46 is not a cube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1" name="Google Shape;1721;p133"/>
          <p:cNvSpPr txBox="1"/>
          <p:nvPr>
            <p:ph idx="4294967295" type="subTitle"/>
          </p:nvPr>
        </p:nvSpPr>
        <p:spPr>
          <a:xfrm>
            <a:off x="324000" y="37140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 first cube number is 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✕ 1 ✕ 1 = 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722" name="Google Shape;1722;p133"/>
          <p:cNvSpPr/>
          <p:nvPr/>
        </p:nvSpPr>
        <p:spPr>
          <a:xfrm>
            <a:off x="4054625" y="1559075"/>
            <a:ext cx="164700" cy="258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3" name="Google Shape;1723;p133"/>
          <p:cNvSpPr txBox="1"/>
          <p:nvPr>
            <p:ph idx="4294967295" type="subTitle"/>
          </p:nvPr>
        </p:nvSpPr>
        <p:spPr>
          <a:xfrm>
            <a:off x="324000" y="413115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Sam’s sequence is the multiples of 3, not the cube numbers.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724" name="Google Shape;1724;p1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47813" y="2197397"/>
            <a:ext cx="396000" cy="41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5" name="Google Shape;1725;p1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62813" y="2197397"/>
            <a:ext cx="396000" cy="41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9" name="Shape 1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" name="Google Shape;1730;p1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731" name="Google Shape;1731;p134"/>
          <p:cNvSpPr txBox="1"/>
          <p:nvPr>
            <p:ph idx="4294967295" type="subTitle"/>
          </p:nvPr>
        </p:nvSpPr>
        <p:spPr>
          <a:xfrm>
            <a:off x="324000" y="886200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Here are the </a:t>
            </a:r>
            <a:r>
              <a:rPr lang="en-GB" sz="1800"/>
              <a:t>first</a:t>
            </a:r>
            <a:r>
              <a:rPr lang="en-GB" sz="1800"/>
              <a:t> five terms of the sequence of all cube numbers in ascending order.</a:t>
            </a:r>
            <a:endParaRPr sz="1800"/>
          </a:p>
        </p:txBody>
      </p:sp>
      <p:graphicFrame>
        <p:nvGraphicFramePr>
          <p:cNvPr id="1732" name="Google Shape;1732;p134"/>
          <p:cNvGraphicFramePr/>
          <p:nvPr/>
        </p:nvGraphicFramePr>
        <p:xfrm>
          <a:off x="323999" y="17176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8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27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64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125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3" name="Google Shape;1733;p134"/>
          <p:cNvSpPr txBox="1"/>
          <p:nvPr>
            <p:ph idx="4294967295" type="subTitle"/>
          </p:nvPr>
        </p:nvSpPr>
        <p:spPr>
          <a:xfrm>
            <a:off x="324000" y="2631925"/>
            <a:ext cx="84960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work out what the 10</a:t>
            </a:r>
            <a:r>
              <a:rPr baseline="30000" lang="en-GB" sz="1800"/>
              <a:t>th</a:t>
            </a:r>
            <a:r>
              <a:rPr lang="en-GB" sz="1800"/>
              <a:t> term in this sequence is?</a:t>
            </a:r>
            <a:endParaRPr sz="1800"/>
          </a:p>
        </p:txBody>
      </p:sp>
      <p:sp>
        <p:nvSpPr>
          <p:cNvPr id="1734" name="Google Shape;1734;p134"/>
          <p:cNvSpPr txBox="1"/>
          <p:nvPr>
            <p:ph idx="4294967295" type="subTitle"/>
          </p:nvPr>
        </p:nvSpPr>
        <p:spPr>
          <a:xfrm>
            <a:off x="324000" y="3089125"/>
            <a:ext cx="8496000" cy="71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term would be the 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cube number.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1000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735" name="Google Shape;1735;p134"/>
          <p:cNvGraphicFramePr/>
          <p:nvPr/>
        </p:nvGraphicFramePr>
        <p:xfrm>
          <a:off x="5176555" y="1717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672600"/>
                <a:gridCol w="672600"/>
              </a:tblGrid>
              <a:tr h="36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…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6" name="Google Shape;1736;p134"/>
          <p:cNvSpPr/>
          <p:nvPr/>
        </p:nvSpPr>
        <p:spPr>
          <a:xfrm>
            <a:off x="5849150" y="2082525"/>
            <a:ext cx="6726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Times"/>
                <a:ea typeface="Times"/>
                <a:cs typeface="Times"/>
                <a:sym typeface="Times"/>
              </a:rPr>
              <a:t>1000</a:t>
            </a:r>
            <a:endParaRPr sz="2000"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1737" name="Google Shape;1737;p134"/>
          <p:cNvGraphicFramePr/>
          <p:nvPr/>
        </p:nvGraphicFramePr>
        <p:xfrm>
          <a:off x="6519501" y="17176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…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endParaRPr i="1"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38" name="Google Shape;1738;p134"/>
          <p:cNvSpPr txBox="1"/>
          <p:nvPr>
            <p:ph idx="4294967295" type="subTitle"/>
          </p:nvPr>
        </p:nvSpPr>
        <p:spPr>
          <a:xfrm>
            <a:off x="324000" y="3930300"/>
            <a:ext cx="6319800" cy="38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would be the rule for finding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cube number? </a:t>
            </a:r>
            <a:endParaRPr sz="1800"/>
          </a:p>
        </p:txBody>
      </p:sp>
      <p:sp>
        <p:nvSpPr>
          <p:cNvPr id="1739" name="Google Shape;1739;p134"/>
          <p:cNvSpPr/>
          <p:nvPr/>
        </p:nvSpPr>
        <p:spPr>
          <a:xfrm>
            <a:off x="7100746" y="2082525"/>
            <a:ext cx="5730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2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200">
                <a:latin typeface="Times"/>
                <a:ea typeface="Times"/>
                <a:cs typeface="Times"/>
                <a:sym typeface="Times"/>
              </a:rPr>
              <a:t>3</a:t>
            </a:r>
            <a:endParaRPr baseline="30000" sz="2200"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3" name="Shape 1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" name="Google Shape;1744;p13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745" name="Google Shape;1745;p135"/>
          <p:cNvSpPr txBox="1"/>
          <p:nvPr/>
        </p:nvSpPr>
        <p:spPr>
          <a:xfrm>
            <a:off x="324000" y="759300"/>
            <a:ext cx="8237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 the following numbers in the correct part of the Venn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iagram: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6" name="Google Shape;1746;p135"/>
          <p:cNvSpPr/>
          <p:nvPr/>
        </p:nvSpPr>
        <p:spPr>
          <a:xfrm>
            <a:off x="1390800" y="2661025"/>
            <a:ext cx="6603000" cy="2034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7" name="Google Shape;1747;p135"/>
          <p:cNvSpPr/>
          <p:nvPr/>
        </p:nvSpPr>
        <p:spPr>
          <a:xfrm>
            <a:off x="2094025" y="2974975"/>
            <a:ext cx="3132000" cy="140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35"/>
          <p:cNvSpPr/>
          <p:nvPr/>
        </p:nvSpPr>
        <p:spPr>
          <a:xfrm>
            <a:off x="3997100" y="2974975"/>
            <a:ext cx="2945400" cy="140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9" name="Google Shape;1749;p135"/>
          <p:cNvSpPr txBox="1"/>
          <p:nvPr/>
        </p:nvSpPr>
        <p:spPr>
          <a:xfrm>
            <a:off x="1466350" y="272415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0" name="Google Shape;1750;p135"/>
          <p:cNvSpPr txBox="1"/>
          <p:nvPr/>
        </p:nvSpPr>
        <p:spPr>
          <a:xfrm>
            <a:off x="6910200" y="272415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1" name="Google Shape;1751;p135"/>
          <p:cNvSpPr txBox="1"/>
          <p:nvPr/>
        </p:nvSpPr>
        <p:spPr>
          <a:xfrm>
            <a:off x="781200" y="1141200"/>
            <a:ext cx="72735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8         9         10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                      16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49       64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125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196     300     1000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757" name="Google Shape;1757;p136"/>
          <p:cNvSpPr txBox="1"/>
          <p:nvPr/>
        </p:nvSpPr>
        <p:spPr>
          <a:xfrm>
            <a:off x="324000" y="759300"/>
            <a:ext cx="8237700" cy="5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Put the following numbers in the correct part of the Venn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iagram: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8" name="Google Shape;1758;p136"/>
          <p:cNvSpPr txBox="1"/>
          <p:nvPr/>
        </p:nvSpPr>
        <p:spPr>
          <a:xfrm>
            <a:off x="781200" y="1141200"/>
            <a:ext cx="7273500" cy="12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                  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8         9         10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                       16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27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36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49       64</a:t>
            </a:r>
            <a:endParaRPr sz="19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        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900">
                <a:latin typeface="Lexend"/>
                <a:ea typeface="Lexend"/>
                <a:cs typeface="Lexend"/>
                <a:sym typeface="Lexend"/>
              </a:rPr>
              <a:t>125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196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300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1000</a:t>
            </a:r>
            <a:r>
              <a:rPr lang="en-GB" sz="19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endParaRPr sz="19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9" name="Google Shape;1759;p136"/>
          <p:cNvSpPr/>
          <p:nvPr/>
        </p:nvSpPr>
        <p:spPr>
          <a:xfrm>
            <a:off x="1390800" y="2661025"/>
            <a:ext cx="6603000" cy="2034300"/>
          </a:xfrm>
          <a:prstGeom prst="rect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136"/>
          <p:cNvSpPr/>
          <p:nvPr/>
        </p:nvSpPr>
        <p:spPr>
          <a:xfrm>
            <a:off x="2094025" y="2974975"/>
            <a:ext cx="3132000" cy="140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1" name="Google Shape;1761;p136"/>
          <p:cNvSpPr/>
          <p:nvPr/>
        </p:nvSpPr>
        <p:spPr>
          <a:xfrm>
            <a:off x="3997100" y="2974975"/>
            <a:ext cx="2945400" cy="1406400"/>
          </a:xfrm>
          <a:prstGeom prst="ellipse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2" name="Google Shape;1762;p136"/>
          <p:cNvSpPr txBox="1"/>
          <p:nvPr/>
        </p:nvSpPr>
        <p:spPr>
          <a:xfrm>
            <a:off x="1466350" y="272415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3" name="Google Shape;1763;p136"/>
          <p:cNvSpPr txBox="1"/>
          <p:nvPr/>
        </p:nvSpPr>
        <p:spPr>
          <a:xfrm>
            <a:off x="6910200" y="2724150"/>
            <a:ext cx="1388400" cy="6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Cube numbers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4" name="Google Shape;1764;p136"/>
          <p:cNvSpPr txBox="1"/>
          <p:nvPr/>
        </p:nvSpPr>
        <p:spPr>
          <a:xfrm>
            <a:off x="4472400" y="31970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5" name="Google Shape;1765;p136"/>
          <p:cNvSpPr txBox="1"/>
          <p:nvPr/>
        </p:nvSpPr>
        <p:spPr>
          <a:xfrm>
            <a:off x="1547250" y="3520525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6" name="Google Shape;1766;p136"/>
          <p:cNvSpPr txBox="1"/>
          <p:nvPr/>
        </p:nvSpPr>
        <p:spPr>
          <a:xfrm>
            <a:off x="2217225" y="34429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7" name="Google Shape;1767;p136"/>
          <p:cNvSpPr txBox="1"/>
          <p:nvPr/>
        </p:nvSpPr>
        <p:spPr>
          <a:xfrm>
            <a:off x="1537200" y="400470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8" name="Google Shape;1768;p136"/>
          <p:cNvSpPr txBox="1"/>
          <p:nvPr/>
        </p:nvSpPr>
        <p:spPr>
          <a:xfrm>
            <a:off x="5774400" y="31221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8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9" name="Google Shape;1769;p136"/>
          <p:cNvSpPr txBox="1"/>
          <p:nvPr/>
        </p:nvSpPr>
        <p:spPr>
          <a:xfrm>
            <a:off x="2657975" y="31837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0" name="Google Shape;1770;p136"/>
          <p:cNvSpPr txBox="1"/>
          <p:nvPr/>
        </p:nvSpPr>
        <p:spPr>
          <a:xfrm>
            <a:off x="1946800" y="42529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1" name="Google Shape;1771;p136"/>
          <p:cNvSpPr txBox="1"/>
          <p:nvPr/>
        </p:nvSpPr>
        <p:spPr>
          <a:xfrm>
            <a:off x="2655138" y="3751875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2" name="Google Shape;1772;p136"/>
          <p:cNvSpPr txBox="1"/>
          <p:nvPr/>
        </p:nvSpPr>
        <p:spPr>
          <a:xfrm>
            <a:off x="3170400" y="30823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3" name="Google Shape;1773;p136"/>
          <p:cNvSpPr txBox="1"/>
          <p:nvPr/>
        </p:nvSpPr>
        <p:spPr>
          <a:xfrm>
            <a:off x="6183550" y="3520525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27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4" name="Google Shape;1774;p136"/>
          <p:cNvSpPr txBox="1"/>
          <p:nvPr/>
        </p:nvSpPr>
        <p:spPr>
          <a:xfrm>
            <a:off x="3232050" y="355040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5" name="Google Shape;1775;p136"/>
          <p:cNvSpPr txBox="1"/>
          <p:nvPr/>
        </p:nvSpPr>
        <p:spPr>
          <a:xfrm>
            <a:off x="3214125" y="39376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6" name="Google Shape;1776;p136"/>
          <p:cNvSpPr txBox="1"/>
          <p:nvPr/>
        </p:nvSpPr>
        <p:spPr>
          <a:xfrm>
            <a:off x="4535375" y="3622350"/>
            <a:ext cx="2751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7" name="Google Shape;1777;p136"/>
          <p:cNvSpPr txBox="1"/>
          <p:nvPr/>
        </p:nvSpPr>
        <p:spPr>
          <a:xfrm>
            <a:off x="3607975" y="3082350"/>
            <a:ext cx="5469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8" name="Google Shape;1778;p136"/>
          <p:cNvSpPr txBox="1"/>
          <p:nvPr/>
        </p:nvSpPr>
        <p:spPr>
          <a:xfrm>
            <a:off x="5365050" y="3442950"/>
            <a:ext cx="5469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9" name="Google Shape;1779;p136"/>
          <p:cNvSpPr txBox="1"/>
          <p:nvPr/>
        </p:nvSpPr>
        <p:spPr>
          <a:xfrm>
            <a:off x="3773100" y="3969525"/>
            <a:ext cx="5469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196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0" name="Google Shape;1780;p136"/>
          <p:cNvSpPr txBox="1"/>
          <p:nvPr/>
        </p:nvSpPr>
        <p:spPr>
          <a:xfrm>
            <a:off x="2433075" y="4381375"/>
            <a:ext cx="6186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1" name="Google Shape;1781;p136"/>
          <p:cNvSpPr txBox="1"/>
          <p:nvPr/>
        </p:nvSpPr>
        <p:spPr>
          <a:xfrm>
            <a:off x="5589075" y="3918900"/>
            <a:ext cx="5469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1000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37"/>
          <p:cNvSpPr txBox="1"/>
          <p:nvPr>
            <p:ph idx="1" type="body"/>
          </p:nvPr>
        </p:nvSpPr>
        <p:spPr>
          <a:xfrm>
            <a:off x="324000" y="759300"/>
            <a:ext cx="8496000" cy="94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 </a:t>
            </a:r>
            <a:r>
              <a:rPr b="1" lang="en-GB" sz="1800"/>
              <a:t>triangular number</a:t>
            </a:r>
            <a:r>
              <a:rPr lang="en-GB" sz="1800"/>
              <a:t> (or triangle number) is a number that can be represented by a pattern of dots arranged into a triangle. The term number is the number of dots in any side of the triangle. </a:t>
            </a:r>
            <a:endParaRPr sz="1800"/>
          </a:p>
        </p:txBody>
      </p:sp>
      <p:sp>
        <p:nvSpPr>
          <p:cNvPr id="1787" name="Google Shape;1787;p1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788" name="Google Shape;1788;p137"/>
          <p:cNvSpPr/>
          <p:nvPr/>
        </p:nvSpPr>
        <p:spPr>
          <a:xfrm>
            <a:off x="1086000" y="2856998"/>
            <a:ext cx="195600" cy="1962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89" name="Google Shape;1789;p137"/>
          <p:cNvGrpSpPr/>
          <p:nvPr/>
        </p:nvGrpSpPr>
        <p:grpSpPr>
          <a:xfrm>
            <a:off x="1950594" y="2607598"/>
            <a:ext cx="443549" cy="445599"/>
            <a:chOff x="1188594" y="2074198"/>
            <a:chExt cx="443549" cy="445599"/>
          </a:xfrm>
        </p:grpSpPr>
        <p:sp>
          <p:nvSpPr>
            <p:cNvPr id="1790" name="Google Shape;1790;p137"/>
            <p:cNvSpPr/>
            <p:nvPr/>
          </p:nvSpPr>
          <p:spPr>
            <a:xfrm>
              <a:off x="1188594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137"/>
            <p:cNvSpPr/>
            <p:nvPr/>
          </p:nvSpPr>
          <p:spPr>
            <a:xfrm>
              <a:off x="1436542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137"/>
            <p:cNvSpPr/>
            <p:nvPr/>
          </p:nvSpPr>
          <p:spPr>
            <a:xfrm>
              <a:off x="1188594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93" name="Google Shape;1793;p137"/>
          <p:cNvGrpSpPr/>
          <p:nvPr/>
        </p:nvGrpSpPr>
        <p:grpSpPr>
          <a:xfrm>
            <a:off x="3107688" y="2358199"/>
            <a:ext cx="691497" cy="694999"/>
            <a:chOff x="2345688" y="1824799"/>
            <a:chExt cx="691497" cy="694999"/>
          </a:xfrm>
        </p:grpSpPr>
        <p:sp>
          <p:nvSpPr>
            <p:cNvPr id="1794" name="Google Shape;1794;p137"/>
            <p:cNvSpPr/>
            <p:nvPr/>
          </p:nvSpPr>
          <p:spPr>
            <a:xfrm>
              <a:off x="2345688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137"/>
            <p:cNvSpPr/>
            <p:nvPr/>
          </p:nvSpPr>
          <p:spPr>
            <a:xfrm>
              <a:off x="2593637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137"/>
            <p:cNvSpPr/>
            <p:nvPr/>
          </p:nvSpPr>
          <p:spPr>
            <a:xfrm>
              <a:off x="2841585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137"/>
            <p:cNvSpPr/>
            <p:nvPr/>
          </p:nvSpPr>
          <p:spPr>
            <a:xfrm>
              <a:off x="2345688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137"/>
            <p:cNvSpPr/>
            <p:nvPr/>
          </p:nvSpPr>
          <p:spPr>
            <a:xfrm>
              <a:off x="2593637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137"/>
            <p:cNvSpPr/>
            <p:nvPr/>
          </p:nvSpPr>
          <p:spPr>
            <a:xfrm>
              <a:off x="2345688" y="18247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00" name="Google Shape;1800;p137"/>
          <p:cNvSpPr txBox="1"/>
          <p:nvPr>
            <p:ph idx="1" type="body"/>
          </p:nvPr>
        </p:nvSpPr>
        <p:spPr>
          <a:xfrm>
            <a:off x="1086000" y="3176475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801" name="Google Shape;1801;p137"/>
          <p:cNvSpPr txBox="1"/>
          <p:nvPr>
            <p:ph idx="1" type="body"/>
          </p:nvPr>
        </p:nvSpPr>
        <p:spPr>
          <a:xfrm>
            <a:off x="2076600" y="3176475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802" name="Google Shape;1802;p137"/>
          <p:cNvSpPr txBox="1"/>
          <p:nvPr>
            <p:ph idx="1" type="body"/>
          </p:nvPr>
        </p:nvSpPr>
        <p:spPr>
          <a:xfrm>
            <a:off x="3372000" y="3176475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grpSp>
        <p:nvGrpSpPr>
          <p:cNvPr id="1803" name="Google Shape;1803;p137"/>
          <p:cNvGrpSpPr/>
          <p:nvPr/>
        </p:nvGrpSpPr>
        <p:grpSpPr>
          <a:xfrm>
            <a:off x="4631410" y="2108799"/>
            <a:ext cx="940782" cy="944398"/>
            <a:chOff x="3869410" y="1575399"/>
            <a:chExt cx="940782" cy="944398"/>
          </a:xfrm>
        </p:grpSpPr>
        <p:sp>
          <p:nvSpPr>
            <p:cNvPr id="1804" name="Google Shape;1804;p137"/>
            <p:cNvSpPr/>
            <p:nvPr/>
          </p:nvSpPr>
          <p:spPr>
            <a:xfrm>
              <a:off x="3870746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137"/>
            <p:cNvSpPr/>
            <p:nvPr/>
          </p:nvSpPr>
          <p:spPr>
            <a:xfrm>
              <a:off x="4118695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137"/>
            <p:cNvSpPr/>
            <p:nvPr/>
          </p:nvSpPr>
          <p:spPr>
            <a:xfrm>
              <a:off x="4366644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137"/>
            <p:cNvSpPr/>
            <p:nvPr/>
          </p:nvSpPr>
          <p:spPr>
            <a:xfrm>
              <a:off x="4614592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137"/>
            <p:cNvSpPr/>
            <p:nvPr/>
          </p:nvSpPr>
          <p:spPr>
            <a:xfrm>
              <a:off x="3869410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137"/>
            <p:cNvSpPr/>
            <p:nvPr/>
          </p:nvSpPr>
          <p:spPr>
            <a:xfrm>
              <a:off x="4117359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137"/>
            <p:cNvSpPr/>
            <p:nvPr/>
          </p:nvSpPr>
          <p:spPr>
            <a:xfrm>
              <a:off x="4365307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137"/>
            <p:cNvSpPr/>
            <p:nvPr/>
          </p:nvSpPr>
          <p:spPr>
            <a:xfrm>
              <a:off x="3869410" y="18247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137"/>
            <p:cNvSpPr/>
            <p:nvPr/>
          </p:nvSpPr>
          <p:spPr>
            <a:xfrm>
              <a:off x="4117359" y="18247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137"/>
            <p:cNvSpPr/>
            <p:nvPr/>
          </p:nvSpPr>
          <p:spPr>
            <a:xfrm>
              <a:off x="3869410" y="15753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4" name="Google Shape;1814;p137"/>
          <p:cNvGrpSpPr/>
          <p:nvPr/>
        </p:nvGrpSpPr>
        <p:grpSpPr>
          <a:xfrm>
            <a:off x="6343741" y="1859400"/>
            <a:ext cx="1187935" cy="1193798"/>
            <a:chOff x="5581741" y="1326000"/>
            <a:chExt cx="1187935" cy="1193798"/>
          </a:xfrm>
        </p:grpSpPr>
        <p:sp>
          <p:nvSpPr>
            <p:cNvPr id="1815" name="Google Shape;1815;p137"/>
            <p:cNvSpPr/>
            <p:nvPr/>
          </p:nvSpPr>
          <p:spPr>
            <a:xfrm>
              <a:off x="5581741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137"/>
            <p:cNvSpPr/>
            <p:nvPr/>
          </p:nvSpPr>
          <p:spPr>
            <a:xfrm>
              <a:off x="5830230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137"/>
            <p:cNvSpPr/>
            <p:nvPr/>
          </p:nvSpPr>
          <p:spPr>
            <a:xfrm>
              <a:off x="6077639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137"/>
            <p:cNvSpPr/>
            <p:nvPr/>
          </p:nvSpPr>
          <p:spPr>
            <a:xfrm>
              <a:off x="6326127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137"/>
            <p:cNvSpPr/>
            <p:nvPr/>
          </p:nvSpPr>
          <p:spPr>
            <a:xfrm>
              <a:off x="6574076" y="2323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137"/>
            <p:cNvSpPr/>
            <p:nvPr/>
          </p:nvSpPr>
          <p:spPr>
            <a:xfrm>
              <a:off x="5581741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137"/>
            <p:cNvSpPr/>
            <p:nvPr/>
          </p:nvSpPr>
          <p:spPr>
            <a:xfrm>
              <a:off x="5831026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137"/>
            <p:cNvSpPr/>
            <p:nvPr/>
          </p:nvSpPr>
          <p:spPr>
            <a:xfrm>
              <a:off x="6077639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137"/>
            <p:cNvSpPr/>
            <p:nvPr/>
          </p:nvSpPr>
          <p:spPr>
            <a:xfrm>
              <a:off x="6326923" y="20741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137"/>
            <p:cNvSpPr/>
            <p:nvPr/>
          </p:nvSpPr>
          <p:spPr>
            <a:xfrm>
              <a:off x="5581741" y="18247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137"/>
            <p:cNvSpPr/>
            <p:nvPr/>
          </p:nvSpPr>
          <p:spPr>
            <a:xfrm>
              <a:off x="5829690" y="18247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137"/>
            <p:cNvSpPr/>
            <p:nvPr/>
          </p:nvSpPr>
          <p:spPr>
            <a:xfrm>
              <a:off x="6077639" y="18247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137"/>
            <p:cNvSpPr/>
            <p:nvPr/>
          </p:nvSpPr>
          <p:spPr>
            <a:xfrm>
              <a:off x="5581741" y="15753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137"/>
            <p:cNvSpPr/>
            <p:nvPr/>
          </p:nvSpPr>
          <p:spPr>
            <a:xfrm>
              <a:off x="5829690" y="157539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137"/>
            <p:cNvSpPr/>
            <p:nvPr/>
          </p:nvSpPr>
          <p:spPr>
            <a:xfrm>
              <a:off x="5581741" y="1326000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0" name="Google Shape;1830;p137"/>
          <p:cNvSpPr txBox="1"/>
          <p:nvPr>
            <p:ph idx="1" type="body"/>
          </p:nvPr>
        </p:nvSpPr>
        <p:spPr>
          <a:xfrm>
            <a:off x="4972200" y="3176475"/>
            <a:ext cx="3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831" name="Google Shape;1831;p137"/>
          <p:cNvSpPr txBox="1"/>
          <p:nvPr>
            <p:ph idx="1" type="body"/>
          </p:nvPr>
        </p:nvSpPr>
        <p:spPr>
          <a:xfrm>
            <a:off x="6801000" y="3176475"/>
            <a:ext cx="3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1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837" name="Google Shape;1837;p138"/>
          <p:cNvSpPr txBox="1"/>
          <p:nvPr/>
        </p:nvSpPr>
        <p:spPr>
          <a:xfrm>
            <a:off x="316175" y="810000"/>
            <a:ext cx="8503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numbers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can be written as a sequence: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8" name="Google Shape;1838;p138"/>
          <p:cNvSpPr txBox="1"/>
          <p:nvPr/>
        </p:nvSpPr>
        <p:spPr>
          <a:xfrm>
            <a:off x="324000" y="1319400"/>
            <a:ext cx="7753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   3,    6,    10,    15, 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9" name="Google Shape;1839;p138"/>
          <p:cNvSpPr txBox="1"/>
          <p:nvPr/>
        </p:nvSpPr>
        <p:spPr>
          <a:xfrm flipH="1">
            <a:off x="329525" y="3771913"/>
            <a:ext cx="7512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40" name="Google Shape;1840;p1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439556" y="3198350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1" name="Google Shape;1841;p13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715425" y="1927075"/>
            <a:ext cx="3574625" cy="1627887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138"/>
          <p:cNvSpPr/>
          <p:nvPr/>
        </p:nvSpPr>
        <p:spPr>
          <a:xfrm>
            <a:off x="1022725" y="2015100"/>
            <a:ext cx="3152700" cy="6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That’s interesting 1 + 3 = 4 and 3 + 6 = 9. Both of those sums have square number answers.</a:t>
            </a:r>
            <a:endParaRPr sz="21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43" name="Google Shape;1843;p138"/>
          <p:cNvGrpSpPr/>
          <p:nvPr/>
        </p:nvGrpSpPr>
        <p:grpSpPr>
          <a:xfrm>
            <a:off x="329525" y="1318100"/>
            <a:ext cx="3666825" cy="1009900"/>
            <a:chOff x="329525" y="1318100"/>
            <a:chExt cx="3666825" cy="1009900"/>
          </a:xfrm>
        </p:grpSpPr>
        <p:sp>
          <p:nvSpPr>
            <p:cNvPr id="1844" name="Google Shape;1844;p138"/>
            <p:cNvSpPr/>
            <p:nvPr/>
          </p:nvSpPr>
          <p:spPr>
            <a:xfrm>
              <a:off x="329525" y="1318100"/>
              <a:ext cx="737700" cy="31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5" name="Google Shape;1845;p138"/>
            <p:cNvSpPr/>
            <p:nvPr/>
          </p:nvSpPr>
          <p:spPr>
            <a:xfrm>
              <a:off x="2966750" y="2015100"/>
              <a:ext cx="1029600" cy="31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846" name="Google Shape;1846;p138"/>
          <p:cNvGrpSpPr/>
          <p:nvPr/>
        </p:nvGrpSpPr>
        <p:grpSpPr>
          <a:xfrm>
            <a:off x="677307" y="1318100"/>
            <a:ext cx="1825740" cy="1290700"/>
            <a:chOff x="677307" y="1318100"/>
            <a:chExt cx="1825740" cy="1290700"/>
          </a:xfrm>
        </p:grpSpPr>
        <p:sp>
          <p:nvSpPr>
            <p:cNvPr id="1847" name="Google Shape;1847;p138"/>
            <p:cNvSpPr/>
            <p:nvPr/>
          </p:nvSpPr>
          <p:spPr>
            <a:xfrm>
              <a:off x="677307" y="1318100"/>
              <a:ext cx="737700" cy="31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848" name="Google Shape;1848;p138"/>
            <p:cNvSpPr/>
            <p:nvPr/>
          </p:nvSpPr>
          <p:spPr>
            <a:xfrm>
              <a:off x="1473447" y="2295900"/>
              <a:ext cx="1029600" cy="3129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49" name="Google Shape;1849;p13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87874" y="2903912"/>
            <a:ext cx="683800" cy="661736"/>
          </a:xfrm>
          <a:prstGeom prst="rect">
            <a:avLst/>
          </a:prstGeom>
          <a:noFill/>
          <a:ln>
            <a:noFill/>
          </a:ln>
        </p:spPr>
      </p:pic>
      <p:sp>
        <p:nvSpPr>
          <p:cNvPr id="1850" name="Google Shape;1850;p138"/>
          <p:cNvSpPr txBox="1"/>
          <p:nvPr/>
        </p:nvSpPr>
        <p:spPr>
          <a:xfrm flipH="1">
            <a:off x="7485350" y="3565655"/>
            <a:ext cx="1017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51" name="Google Shape;1851;p13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572000" y="1861475"/>
            <a:ext cx="3505500" cy="12260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2" name="Google Shape;1852;p138"/>
          <p:cNvSpPr txBox="1"/>
          <p:nvPr/>
        </p:nvSpPr>
        <p:spPr>
          <a:xfrm flipH="1">
            <a:off x="4632900" y="1939850"/>
            <a:ext cx="3292200" cy="80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Does that mean that adding two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numbers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equals a square number?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3" name="Google Shape;1853;p138"/>
          <p:cNvSpPr txBox="1"/>
          <p:nvPr/>
        </p:nvSpPr>
        <p:spPr>
          <a:xfrm>
            <a:off x="320100" y="4163550"/>
            <a:ext cx="85038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Investigate Izzy’s question by trying some other sums with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numbers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What do you notice?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7" name="Shape 1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8" name="Google Shape;1858;p1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859" name="Google Shape;1859;p139"/>
          <p:cNvSpPr txBox="1"/>
          <p:nvPr/>
        </p:nvSpPr>
        <p:spPr>
          <a:xfrm>
            <a:off x="324000" y="1613700"/>
            <a:ext cx="77535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1,    3,    6,    10,    15, …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0" name="Google Shape;1860;p139"/>
          <p:cNvSpPr txBox="1"/>
          <p:nvPr/>
        </p:nvSpPr>
        <p:spPr>
          <a:xfrm>
            <a:off x="320100" y="853950"/>
            <a:ext cx="8503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Investigate Izzy’s question by trying some other sums with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numbers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 What do you notice?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1" name="Google Shape;1861;p139"/>
          <p:cNvSpPr txBox="1"/>
          <p:nvPr/>
        </p:nvSpPr>
        <p:spPr>
          <a:xfrm>
            <a:off x="324000" y="2160000"/>
            <a:ext cx="1710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+ 3 = 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+ 6 = 9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+ 10 = 16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10 + 15 = 25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2" name="Google Shape;1862;p139"/>
          <p:cNvSpPr txBox="1"/>
          <p:nvPr/>
        </p:nvSpPr>
        <p:spPr>
          <a:xfrm>
            <a:off x="320100" y="3605550"/>
            <a:ext cx="39384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all produce square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3" name="Google Shape;1863;p139"/>
          <p:cNvSpPr txBox="1"/>
          <p:nvPr/>
        </p:nvSpPr>
        <p:spPr>
          <a:xfrm>
            <a:off x="4572000" y="2160000"/>
            <a:ext cx="1710600" cy="14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+ 6 = 7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 + 1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= 11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3 + 10 = 13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6 + 15 = 21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4" name="Google Shape;1864;p139"/>
          <p:cNvSpPr txBox="1"/>
          <p:nvPr/>
        </p:nvSpPr>
        <p:spPr>
          <a:xfrm>
            <a:off x="4435875" y="3605550"/>
            <a:ext cx="4388100" cy="35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These do not produce square numbers.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5" name="Google Shape;1865;p139"/>
          <p:cNvSpPr txBox="1"/>
          <p:nvPr/>
        </p:nvSpPr>
        <p:spPr>
          <a:xfrm>
            <a:off x="320100" y="4054200"/>
            <a:ext cx="8503800" cy="6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Adding </a:t>
            </a:r>
            <a:r>
              <a:rPr lang="en-GB" sz="18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consecutive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 numbers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gives the sequence of square numbers.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1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1871" name="Google Shape;1871;p140"/>
          <p:cNvSpPr txBox="1"/>
          <p:nvPr/>
        </p:nvSpPr>
        <p:spPr>
          <a:xfrm>
            <a:off x="320100" y="663425"/>
            <a:ext cx="85038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can use the dot patterns to show why.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 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2" name="Google Shape;1872;p140"/>
          <p:cNvSpPr txBox="1"/>
          <p:nvPr>
            <p:ph idx="1" type="body"/>
          </p:nvPr>
        </p:nvSpPr>
        <p:spPr>
          <a:xfrm>
            <a:off x="324000" y="2075825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873" name="Google Shape;1873;p140"/>
          <p:cNvSpPr txBox="1"/>
          <p:nvPr>
            <p:ph idx="1" type="body"/>
          </p:nvPr>
        </p:nvSpPr>
        <p:spPr>
          <a:xfrm>
            <a:off x="1314600" y="2075825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874" name="Google Shape;1874;p140"/>
          <p:cNvSpPr txBox="1"/>
          <p:nvPr>
            <p:ph idx="1" type="body"/>
          </p:nvPr>
        </p:nvSpPr>
        <p:spPr>
          <a:xfrm>
            <a:off x="2610000" y="2075825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875" name="Google Shape;1875;p140"/>
          <p:cNvSpPr txBox="1"/>
          <p:nvPr>
            <p:ph idx="1" type="body"/>
          </p:nvPr>
        </p:nvSpPr>
        <p:spPr>
          <a:xfrm>
            <a:off x="4210200" y="2075825"/>
            <a:ext cx="3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876" name="Google Shape;1876;p140"/>
          <p:cNvSpPr txBox="1"/>
          <p:nvPr>
            <p:ph idx="1" type="body"/>
          </p:nvPr>
        </p:nvSpPr>
        <p:spPr>
          <a:xfrm>
            <a:off x="6039000" y="2075825"/>
            <a:ext cx="350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15</a:t>
            </a:r>
            <a:endParaRPr sz="1800"/>
          </a:p>
        </p:txBody>
      </p:sp>
      <p:sp>
        <p:nvSpPr>
          <p:cNvPr id="1877" name="Google Shape;1877;p140"/>
          <p:cNvSpPr/>
          <p:nvPr/>
        </p:nvSpPr>
        <p:spPr>
          <a:xfrm>
            <a:off x="324000" y="2845260"/>
            <a:ext cx="195600" cy="196200"/>
          </a:xfrm>
          <a:prstGeom prst="ellipse">
            <a:avLst/>
          </a:prstGeom>
          <a:solidFill>
            <a:srgbClr val="845AD9"/>
          </a:solidFill>
          <a:ln cap="flat" cmpd="sng" w="9525">
            <a:solidFill>
              <a:srgbClr val="845A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8" name="Google Shape;1878;p140"/>
          <p:cNvGrpSpPr/>
          <p:nvPr/>
        </p:nvGrpSpPr>
        <p:grpSpPr>
          <a:xfrm>
            <a:off x="1190619" y="2595861"/>
            <a:ext cx="443549" cy="445599"/>
            <a:chOff x="1188594" y="1887948"/>
            <a:chExt cx="443549" cy="445599"/>
          </a:xfrm>
        </p:grpSpPr>
        <p:sp>
          <p:nvSpPr>
            <p:cNvPr id="1879" name="Google Shape;1879;p140"/>
            <p:cNvSpPr/>
            <p:nvPr/>
          </p:nvSpPr>
          <p:spPr>
            <a:xfrm>
              <a:off x="1188594" y="2137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140"/>
            <p:cNvSpPr/>
            <p:nvPr/>
          </p:nvSpPr>
          <p:spPr>
            <a:xfrm>
              <a:off x="1436542" y="2137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140"/>
            <p:cNvSpPr/>
            <p:nvPr/>
          </p:nvSpPr>
          <p:spPr>
            <a:xfrm>
              <a:off x="1188594" y="18879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82" name="Google Shape;1882;p140"/>
          <p:cNvSpPr txBox="1"/>
          <p:nvPr>
            <p:ph idx="1" type="body"/>
          </p:nvPr>
        </p:nvSpPr>
        <p:spPr>
          <a:xfrm>
            <a:off x="324000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</a:t>
            </a:r>
            <a:endParaRPr sz="1800"/>
          </a:p>
        </p:txBody>
      </p:sp>
      <p:sp>
        <p:nvSpPr>
          <p:cNvPr id="1883" name="Google Shape;1883;p140"/>
          <p:cNvSpPr txBox="1"/>
          <p:nvPr>
            <p:ph idx="1" type="body"/>
          </p:nvPr>
        </p:nvSpPr>
        <p:spPr>
          <a:xfrm>
            <a:off x="1312575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884" name="Google Shape;1884;p140"/>
          <p:cNvSpPr txBox="1"/>
          <p:nvPr>
            <p:ph idx="1" type="body"/>
          </p:nvPr>
        </p:nvSpPr>
        <p:spPr>
          <a:xfrm>
            <a:off x="818288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885" name="Google Shape;1885;p140"/>
          <p:cNvSpPr txBox="1"/>
          <p:nvPr>
            <p:ph idx="1" type="body"/>
          </p:nvPr>
        </p:nvSpPr>
        <p:spPr>
          <a:xfrm>
            <a:off x="1885088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grpSp>
        <p:nvGrpSpPr>
          <p:cNvPr id="1886" name="Google Shape;1886;p140"/>
          <p:cNvGrpSpPr/>
          <p:nvPr/>
        </p:nvGrpSpPr>
        <p:grpSpPr>
          <a:xfrm>
            <a:off x="2362044" y="2595860"/>
            <a:ext cx="443549" cy="445600"/>
            <a:chOff x="2362044" y="2706598"/>
            <a:chExt cx="443549" cy="445600"/>
          </a:xfrm>
        </p:grpSpPr>
        <p:grpSp>
          <p:nvGrpSpPr>
            <p:cNvPr id="1887" name="Google Shape;1887;p140"/>
            <p:cNvGrpSpPr/>
            <p:nvPr/>
          </p:nvGrpSpPr>
          <p:grpSpPr>
            <a:xfrm>
              <a:off x="2362044" y="2706598"/>
              <a:ext cx="443549" cy="445599"/>
              <a:chOff x="1188594" y="1887948"/>
              <a:chExt cx="443549" cy="445599"/>
            </a:xfrm>
          </p:grpSpPr>
          <p:sp>
            <p:nvSpPr>
              <p:cNvPr id="1888" name="Google Shape;1888;p140"/>
              <p:cNvSpPr/>
              <p:nvPr/>
            </p:nvSpPr>
            <p:spPr>
              <a:xfrm>
                <a:off x="1188594" y="2137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9" name="Google Shape;1889;p140"/>
              <p:cNvSpPr/>
              <p:nvPr/>
            </p:nvSpPr>
            <p:spPr>
              <a:xfrm>
                <a:off x="1436542" y="2137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0" name="Google Shape;1890;p140"/>
              <p:cNvSpPr/>
              <p:nvPr/>
            </p:nvSpPr>
            <p:spPr>
              <a:xfrm>
                <a:off x="1188594" y="18879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91" name="Google Shape;1891;p140"/>
            <p:cNvSpPr/>
            <p:nvPr/>
          </p:nvSpPr>
          <p:spPr>
            <a:xfrm>
              <a:off x="2607975" y="270659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92" name="Google Shape;1892;p140"/>
          <p:cNvSpPr txBox="1"/>
          <p:nvPr>
            <p:ph idx="1" type="body"/>
          </p:nvPr>
        </p:nvSpPr>
        <p:spPr>
          <a:xfrm>
            <a:off x="2486025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4</a:t>
            </a:r>
            <a:endParaRPr sz="1800"/>
          </a:p>
        </p:txBody>
      </p:sp>
      <p:grpSp>
        <p:nvGrpSpPr>
          <p:cNvPr id="1893" name="Google Shape;1893;p140"/>
          <p:cNvGrpSpPr/>
          <p:nvPr/>
        </p:nvGrpSpPr>
        <p:grpSpPr>
          <a:xfrm>
            <a:off x="324000" y="752218"/>
            <a:ext cx="6445676" cy="1200329"/>
            <a:chOff x="324000" y="752218"/>
            <a:chExt cx="6445676" cy="1200329"/>
          </a:xfrm>
        </p:grpSpPr>
        <p:sp>
          <p:nvSpPr>
            <p:cNvPr id="1894" name="Google Shape;1894;p140"/>
            <p:cNvSpPr/>
            <p:nvPr/>
          </p:nvSpPr>
          <p:spPr>
            <a:xfrm>
              <a:off x="324000" y="1756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140"/>
            <p:cNvSpPr/>
            <p:nvPr/>
          </p:nvSpPr>
          <p:spPr>
            <a:xfrm>
              <a:off x="5581741" y="1756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140"/>
            <p:cNvSpPr/>
            <p:nvPr/>
          </p:nvSpPr>
          <p:spPr>
            <a:xfrm>
              <a:off x="5830230" y="1756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140"/>
            <p:cNvSpPr/>
            <p:nvPr/>
          </p:nvSpPr>
          <p:spPr>
            <a:xfrm>
              <a:off x="6077639" y="1756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140"/>
            <p:cNvSpPr/>
            <p:nvPr/>
          </p:nvSpPr>
          <p:spPr>
            <a:xfrm>
              <a:off x="6326127" y="1756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140"/>
            <p:cNvSpPr/>
            <p:nvPr/>
          </p:nvSpPr>
          <p:spPr>
            <a:xfrm>
              <a:off x="6574076" y="1756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900" name="Google Shape;1900;p140"/>
            <p:cNvGrpSpPr/>
            <p:nvPr/>
          </p:nvGrpSpPr>
          <p:grpSpPr>
            <a:xfrm>
              <a:off x="1188594" y="1506948"/>
              <a:ext cx="443549" cy="445599"/>
              <a:chOff x="1188594" y="1887948"/>
              <a:chExt cx="443549" cy="445599"/>
            </a:xfrm>
          </p:grpSpPr>
          <p:sp>
            <p:nvSpPr>
              <p:cNvPr id="1901" name="Google Shape;1901;p140"/>
              <p:cNvSpPr/>
              <p:nvPr/>
            </p:nvSpPr>
            <p:spPr>
              <a:xfrm>
                <a:off x="1188594" y="2137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2" name="Google Shape;1902;p140"/>
              <p:cNvSpPr/>
              <p:nvPr/>
            </p:nvSpPr>
            <p:spPr>
              <a:xfrm>
                <a:off x="1436542" y="2137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3" name="Google Shape;1903;p140"/>
              <p:cNvSpPr/>
              <p:nvPr/>
            </p:nvSpPr>
            <p:spPr>
              <a:xfrm>
                <a:off x="1188594" y="18879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04" name="Google Shape;1904;p140"/>
            <p:cNvGrpSpPr/>
            <p:nvPr/>
          </p:nvGrpSpPr>
          <p:grpSpPr>
            <a:xfrm>
              <a:off x="2345688" y="1257549"/>
              <a:ext cx="691497" cy="694999"/>
              <a:chOff x="2345688" y="1409949"/>
              <a:chExt cx="691497" cy="694999"/>
            </a:xfrm>
          </p:grpSpPr>
          <p:sp>
            <p:nvSpPr>
              <p:cNvPr id="1905" name="Google Shape;1905;p140"/>
              <p:cNvSpPr/>
              <p:nvPr/>
            </p:nvSpPr>
            <p:spPr>
              <a:xfrm>
                <a:off x="2345688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6" name="Google Shape;1906;p140"/>
              <p:cNvSpPr/>
              <p:nvPr/>
            </p:nvSpPr>
            <p:spPr>
              <a:xfrm>
                <a:off x="2593637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7" name="Google Shape;1907;p140"/>
              <p:cNvSpPr/>
              <p:nvPr/>
            </p:nvSpPr>
            <p:spPr>
              <a:xfrm>
                <a:off x="2841585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8" name="Google Shape;1908;p140"/>
              <p:cNvSpPr/>
              <p:nvPr/>
            </p:nvSpPr>
            <p:spPr>
              <a:xfrm>
                <a:off x="2345688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9" name="Google Shape;1909;p140"/>
              <p:cNvSpPr/>
              <p:nvPr/>
            </p:nvSpPr>
            <p:spPr>
              <a:xfrm>
                <a:off x="2593637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0" name="Google Shape;1910;p140"/>
              <p:cNvSpPr/>
              <p:nvPr/>
            </p:nvSpPr>
            <p:spPr>
              <a:xfrm>
                <a:off x="2345688" y="1409949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11" name="Google Shape;1911;p140"/>
            <p:cNvGrpSpPr/>
            <p:nvPr/>
          </p:nvGrpSpPr>
          <p:grpSpPr>
            <a:xfrm>
              <a:off x="3869410" y="1008149"/>
              <a:ext cx="940782" cy="944398"/>
              <a:chOff x="3869410" y="1160549"/>
              <a:chExt cx="940782" cy="944398"/>
            </a:xfrm>
          </p:grpSpPr>
          <p:sp>
            <p:nvSpPr>
              <p:cNvPr id="1912" name="Google Shape;1912;p140"/>
              <p:cNvSpPr/>
              <p:nvPr/>
            </p:nvSpPr>
            <p:spPr>
              <a:xfrm>
                <a:off x="3870746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3" name="Google Shape;1913;p140"/>
              <p:cNvSpPr/>
              <p:nvPr/>
            </p:nvSpPr>
            <p:spPr>
              <a:xfrm>
                <a:off x="4118695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4" name="Google Shape;1914;p140"/>
              <p:cNvSpPr/>
              <p:nvPr/>
            </p:nvSpPr>
            <p:spPr>
              <a:xfrm>
                <a:off x="4366644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5" name="Google Shape;1915;p140"/>
              <p:cNvSpPr/>
              <p:nvPr/>
            </p:nvSpPr>
            <p:spPr>
              <a:xfrm>
                <a:off x="4614592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6" name="Google Shape;1916;p140"/>
              <p:cNvSpPr/>
              <p:nvPr/>
            </p:nvSpPr>
            <p:spPr>
              <a:xfrm>
                <a:off x="3869410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7" name="Google Shape;1917;p140"/>
              <p:cNvSpPr/>
              <p:nvPr/>
            </p:nvSpPr>
            <p:spPr>
              <a:xfrm>
                <a:off x="4117359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8" name="Google Shape;1918;p140"/>
              <p:cNvSpPr/>
              <p:nvPr/>
            </p:nvSpPr>
            <p:spPr>
              <a:xfrm>
                <a:off x="4365307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9" name="Google Shape;1919;p140"/>
              <p:cNvSpPr/>
              <p:nvPr/>
            </p:nvSpPr>
            <p:spPr>
              <a:xfrm>
                <a:off x="3869410" y="1409949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0" name="Google Shape;1920;p140"/>
              <p:cNvSpPr/>
              <p:nvPr/>
            </p:nvSpPr>
            <p:spPr>
              <a:xfrm>
                <a:off x="4117359" y="1409949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1" name="Google Shape;1921;p140"/>
              <p:cNvSpPr/>
              <p:nvPr/>
            </p:nvSpPr>
            <p:spPr>
              <a:xfrm>
                <a:off x="3869410" y="1160549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922" name="Google Shape;1922;p140"/>
            <p:cNvSpPr/>
            <p:nvPr/>
          </p:nvSpPr>
          <p:spPr>
            <a:xfrm>
              <a:off x="5581741" y="15069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140"/>
            <p:cNvSpPr/>
            <p:nvPr/>
          </p:nvSpPr>
          <p:spPr>
            <a:xfrm>
              <a:off x="5831026" y="15069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140"/>
            <p:cNvSpPr/>
            <p:nvPr/>
          </p:nvSpPr>
          <p:spPr>
            <a:xfrm>
              <a:off x="6077639" y="15069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140"/>
            <p:cNvSpPr/>
            <p:nvPr/>
          </p:nvSpPr>
          <p:spPr>
            <a:xfrm>
              <a:off x="6326923" y="15069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140"/>
            <p:cNvSpPr/>
            <p:nvPr/>
          </p:nvSpPr>
          <p:spPr>
            <a:xfrm>
              <a:off x="5581741" y="125754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140"/>
            <p:cNvSpPr/>
            <p:nvPr/>
          </p:nvSpPr>
          <p:spPr>
            <a:xfrm>
              <a:off x="5829690" y="125754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140"/>
            <p:cNvSpPr/>
            <p:nvPr/>
          </p:nvSpPr>
          <p:spPr>
            <a:xfrm>
              <a:off x="6077639" y="125754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140"/>
            <p:cNvSpPr/>
            <p:nvPr/>
          </p:nvSpPr>
          <p:spPr>
            <a:xfrm>
              <a:off x="5581741" y="100814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140"/>
            <p:cNvSpPr/>
            <p:nvPr/>
          </p:nvSpPr>
          <p:spPr>
            <a:xfrm>
              <a:off x="5829690" y="100814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140"/>
            <p:cNvSpPr/>
            <p:nvPr/>
          </p:nvSpPr>
          <p:spPr>
            <a:xfrm>
              <a:off x="5581741" y="75221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2" name="Google Shape;1932;p140"/>
          <p:cNvGrpSpPr/>
          <p:nvPr/>
        </p:nvGrpSpPr>
        <p:grpSpPr>
          <a:xfrm>
            <a:off x="4351469" y="2595861"/>
            <a:ext cx="443549" cy="445599"/>
            <a:chOff x="1188594" y="1887948"/>
            <a:chExt cx="443549" cy="445599"/>
          </a:xfrm>
        </p:grpSpPr>
        <p:sp>
          <p:nvSpPr>
            <p:cNvPr id="1933" name="Google Shape;1933;p140"/>
            <p:cNvSpPr/>
            <p:nvPr/>
          </p:nvSpPr>
          <p:spPr>
            <a:xfrm>
              <a:off x="1188594" y="2137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140"/>
            <p:cNvSpPr/>
            <p:nvPr/>
          </p:nvSpPr>
          <p:spPr>
            <a:xfrm>
              <a:off x="1436542" y="2137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140"/>
            <p:cNvSpPr/>
            <p:nvPr/>
          </p:nvSpPr>
          <p:spPr>
            <a:xfrm>
              <a:off x="1188594" y="18879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36" name="Google Shape;1936;p140"/>
          <p:cNvGrpSpPr/>
          <p:nvPr/>
        </p:nvGrpSpPr>
        <p:grpSpPr>
          <a:xfrm>
            <a:off x="5508563" y="2346461"/>
            <a:ext cx="691497" cy="694999"/>
            <a:chOff x="2345688" y="1409949"/>
            <a:chExt cx="691497" cy="694999"/>
          </a:xfrm>
        </p:grpSpPr>
        <p:sp>
          <p:nvSpPr>
            <p:cNvPr id="1937" name="Google Shape;1937;p140"/>
            <p:cNvSpPr/>
            <p:nvPr/>
          </p:nvSpPr>
          <p:spPr>
            <a:xfrm>
              <a:off x="2345688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140"/>
            <p:cNvSpPr/>
            <p:nvPr/>
          </p:nvSpPr>
          <p:spPr>
            <a:xfrm>
              <a:off x="2593637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140"/>
            <p:cNvSpPr/>
            <p:nvPr/>
          </p:nvSpPr>
          <p:spPr>
            <a:xfrm>
              <a:off x="2841585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140"/>
            <p:cNvSpPr/>
            <p:nvPr/>
          </p:nvSpPr>
          <p:spPr>
            <a:xfrm>
              <a:off x="2345688" y="1659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140"/>
            <p:cNvSpPr/>
            <p:nvPr/>
          </p:nvSpPr>
          <p:spPr>
            <a:xfrm>
              <a:off x="2593637" y="1659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140"/>
            <p:cNvSpPr/>
            <p:nvPr/>
          </p:nvSpPr>
          <p:spPr>
            <a:xfrm>
              <a:off x="2345688" y="1409949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43" name="Google Shape;1943;p140"/>
          <p:cNvSpPr txBox="1"/>
          <p:nvPr>
            <p:ph idx="1" type="body"/>
          </p:nvPr>
        </p:nvSpPr>
        <p:spPr>
          <a:xfrm>
            <a:off x="4475450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endParaRPr sz="1800"/>
          </a:p>
        </p:txBody>
      </p:sp>
      <p:sp>
        <p:nvSpPr>
          <p:cNvPr id="1944" name="Google Shape;1944;p140"/>
          <p:cNvSpPr txBox="1"/>
          <p:nvPr>
            <p:ph idx="1" type="body"/>
          </p:nvPr>
        </p:nvSpPr>
        <p:spPr>
          <a:xfrm>
            <a:off x="5047963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1945" name="Google Shape;1945;p140"/>
          <p:cNvSpPr txBox="1"/>
          <p:nvPr>
            <p:ph idx="1" type="body"/>
          </p:nvPr>
        </p:nvSpPr>
        <p:spPr>
          <a:xfrm>
            <a:off x="5772875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946" name="Google Shape;1946;p140"/>
          <p:cNvSpPr txBox="1"/>
          <p:nvPr>
            <p:ph idx="1" type="body"/>
          </p:nvPr>
        </p:nvSpPr>
        <p:spPr>
          <a:xfrm>
            <a:off x="6495763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grpSp>
        <p:nvGrpSpPr>
          <p:cNvPr id="1947" name="Google Shape;1947;p140"/>
          <p:cNvGrpSpPr/>
          <p:nvPr/>
        </p:nvGrpSpPr>
        <p:grpSpPr>
          <a:xfrm>
            <a:off x="6913588" y="2343649"/>
            <a:ext cx="694718" cy="697811"/>
            <a:chOff x="3750713" y="3616937"/>
            <a:chExt cx="694718" cy="697811"/>
          </a:xfrm>
        </p:grpSpPr>
        <p:grpSp>
          <p:nvGrpSpPr>
            <p:cNvPr id="1948" name="Google Shape;1948;p140"/>
            <p:cNvGrpSpPr/>
            <p:nvPr/>
          </p:nvGrpSpPr>
          <p:grpSpPr>
            <a:xfrm>
              <a:off x="3750713" y="3619749"/>
              <a:ext cx="691497" cy="694999"/>
              <a:chOff x="2345688" y="1409949"/>
              <a:chExt cx="691497" cy="694999"/>
            </a:xfrm>
          </p:grpSpPr>
          <p:sp>
            <p:nvSpPr>
              <p:cNvPr id="1949" name="Google Shape;1949;p140"/>
              <p:cNvSpPr/>
              <p:nvPr/>
            </p:nvSpPr>
            <p:spPr>
              <a:xfrm>
                <a:off x="2345688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0" name="Google Shape;1950;p140"/>
              <p:cNvSpPr/>
              <p:nvPr/>
            </p:nvSpPr>
            <p:spPr>
              <a:xfrm>
                <a:off x="2593637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1" name="Google Shape;1951;p140"/>
              <p:cNvSpPr/>
              <p:nvPr/>
            </p:nvSpPr>
            <p:spPr>
              <a:xfrm>
                <a:off x="2841585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2" name="Google Shape;1952;p140"/>
              <p:cNvSpPr/>
              <p:nvPr/>
            </p:nvSpPr>
            <p:spPr>
              <a:xfrm>
                <a:off x="2345688" y="1659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3" name="Google Shape;1953;p140"/>
              <p:cNvSpPr/>
              <p:nvPr/>
            </p:nvSpPr>
            <p:spPr>
              <a:xfrm>
                <a:off x="2593637" y="1659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4" name="Google Shape;1954;p140"/>
              <p:cNvSpPr/>
              <p:nvPr/>
            </p:nvSpPr>
            <p:spPr>
              <a:xfrm>
                <a:off x="2345688" y="1409949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55" name="Google Shape;1955;p140"/>
            <p:cNvGrpSpPr/>
            <p:nvPr/>
          </p:nvGrpSpPr>
          <p:grpSpPr>
            <a:xfrm rot="10800000">
              <a:off x="4001882" y="3616937"/>
              <a:ext cx="443549" cy="445599"/>
              <a:chOff x="1188594" y="1887948"/>
              <a:chExt cx="443549" cy="445599"/>
            </a:xfrm>
          </p:grpSpPr>
          <p:sp>
            <p:nvSpPr>
              <p:cNvPr id="1956" name="Google Shape;1956;p140"/>
              <p:cNvSpPr/>
              <p:nvPr/>
            </p:nvSpPr>
            <p:spPr>
              <a:xfrm>
                <a:off x="1188594" y="2137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7" name="Google Shape;1957;p140"/>
              <p:cNvSpPr/>
              <p:nvPr/>
            </p:nvSpPr>
            <p:spPr>
              <a:xfrm>
                <a:off x="1436542" y="2137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8" name="Google Shape;1958;p140"/>
              <p:cNvSpPr/>
              <p:nvPr/>
            </p:nvSpPr>
            <p:spPr>
              <a:xfrm>
                <a:off x="1188594" y="18879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59" name="Google Shape;1959;p140"/>
          <p:cNvSpPr txBox="1"/>
          <p:nvPr>
            <p:ph idx="1" type="body"/>
          </p:nvPr>
        </p:nvSpPr>
        <p:spPr>
          <a:xfrm>
            <a:off x="7161538" y="30536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9</a:t>
            </a:r>
            <a:endParaRPr sz="1800"/>
          </a:p>
        </p:txBody>
      </p:sp>
      <p:grpSp>
        <p:nvGrpSpPr>
          <p:cNvPr id="1960" name="Google Shape;1960;p140"/>
          <p:cNvGrpSpPr/>
          <p:nvPr/>
        </p:nvGrpSpPr>
        <p:grpSpPr>
          <a:xfrm>
            <a:off x="323988" y="3724599"/>
            <a:ext cx="691497" cy="694999"/>
            <a:chOff x="2345688" y="1409949"/>
            <a:chExt cx="691497" cy="694999"/>
          </a:xfrm>
        </p:grpSpPr>
        <p:sp>
          <p:nvSpPr>
            <p:cNvPr id="1961" name="Google Shape;1961;p140"/>
            <p:cNvSpPr/>
            <p:nvPr/>
          </p:nvSpPr>
          <p:spPr>
            <a:xfrm>
              <a:off x="2345688" y="19087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140"/>
            <p:cNvSpPr/>
            <p:nvPr/>
          </p:nvSpPr>
          <p:spPr>
            <a:xfrm>
              <a:off x="2593637" y="19087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140"/>
            <p:cNvSpPr/>
            <p:nvPr/>
          </p:nvSpPr>
          <p:spPr>
            <a:xfrm>
              <a:off x="2841585" y="19087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140"/>
            <p:cNvSpPr/>
            <p:nvPr/>
          </p:nvSpPr>
          <p:spPr>
            <a:xfrm>
              <a:off x="2345688" y="1659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140"/>
            <p:cNvSpPr/>
            <p:nvPr/>
          </p:nvSpPr>
          <p:spPr>
            <a:xfrm>
              <a:off x="2593637" y="1659348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140"/>
            <p:cNvSpPr/>
            <p:nvPr/>
          </p:nvSpPr>
          <p:spPr>
            <a:xfrm>
              <a:off x="2345688" y="1409949"/>
              <a:ext cx="195600" cy="196200"/>
            </a:xfrm>
            <a:prstGeom prst="ellipse">
              <a:avLst/>
            </a:prstGeom>
            <a:solidFill>
              <a:srgbClr val="845AD9"/>
            </a:solidFill>
            <a:ln cap="flat" cmpd="sng" w="9525">
              <a:solidFill>
                <a:srgbClr val="845AD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67" name="Google Shape;1967;p140"/>
          <p:cNvGrpSpPr/>
          <p:nvPr/>
        </p:nvGrpSpPr>
        <p:grpSpPr>
          <a:xfrm>
            <a:off x="1634185" y="3475199"/>
            <a:ext cx="940782" cy="944398"/>
            <a:chOff x="3869410" y="1160549"/>
            <a:chExt cx="940782" cy="944398"/>
          </a:xfrm>
        </p:grpSpPr>
        <p:sp>
          <p:nvSpPr>
            <p:cNvPr id="1968" name="Google Shape;1968;p140"/>
            <p:cNvSpPr/>
            <p:nvPr/>
          </p:nvSpPr>
          <p:spPr>
            <a:xfrm>
              <a:off x="3870746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140"/>
            <p:cNvSpPr/>
            <p:nvPr/>
          </p:nvSpPr>
          <p:spPr>
            <a:xfrm>
              <a:off x="4118695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140"/>
            <p:cNvSpPr/>
            <p:nvPr/>
          </p:nvSpPr>
          <p:spPr>
            <a:xfrm>
              <a:off x="4366644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140"/>
            <p:cNvSpPr/>
            <p:nvPr/>
          </p:nvSpPr>
          <p:spPr>
            <a:xfrm>
              <a:off x="4614592" y="19087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140"/>
            <p:cNvSpPr/>
            <p:nvPr/>
          </p:nvSpPr>
          <p:spPr>
            <a:xfrm>
              <a:off x="3869410" y="1659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140"/>
            <p:cNvSpPr/>
            <p:nvPr/>
          </p:nvSpPr>
          <p:spPr>
            <a:xfrm>
              <a:off x="4117359" y="1659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140"/>
            <p:cNvSpPr/>
            <p:nvPr/>
          </p:nvSpPr>
          <p:spPr>
            <a:xfrm>
              <a:off x="4365307" y="1659348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140"/>
            <p:cNvSpPr/>
            <p:nvPr/>
          </p:nvSpPr>
          <p:spPr>
            <a:xfrm>
              <a:off x="3869410" y="1409949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140"/>
            <p:cNvSpPr/>
            <p:nvPr/>
          </p:nvSpPr>
          <p:spPr>
            <a:xfrm>
              <a:off x="4117359" y="1409949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140"/>
            <p:cNvSpPr/>
            <p:nvPr/>
          </p:nvSpPr>
          <p:spPr>
            <a:xfrm>
              <a:off x="3869410" y="1160549"/>
              <a:ext cx="195600" cy="196200"/>
            </a:xfrm>
            <a:prstGeom prst="ellipse">
              <a:avLst/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978" name="Google Shape;1978;p140"/>
          <p:cNvGrpSpPr/>
          <p:nvPr/>
        </p:nvGrpSpPr>
        <p:grpSpPr>
          <a:xfrm>
            <a:off x="3097535" y="3535835"/>
            <a:ext cx="956387" cy="951562"/>
            <a:chOff x="3097535" y="3535835"/>
            <a:chExt cx="956387" cy="951562"/>
          </a:xfrm>
        </p:grpSpPr>
        <p:grpSp>
          <p:nvGrpSpPr>
            <p:cNvPr id="1979" name="Google Shape;1979;p140"/>
            <p:cNvGrpSpPr/>
            <p:nvPr/>
          </p:nvGrpSpPr>
          <p:grpSpPr>
            <a:xfrm>
              <a:off x="3097535" y="3542999"/>
              <a:ext cx="940782" cy="944398"/>
              <a:chOff x="3869410" y="1160549"/>
              <a:chExt cx="940782" cy="944398"/>
            </a:xfrm>
          </p:grpSpPr>
          <p:sp>
            <p:nvSpPr>
              <p:cNvPr id="1980" name="Google Shape;1980;p140"/>
              <p:cNvSpPr/>
              <p:nvPr/>
            </p:nvSpPr>
            <p:spPr>
              <a:xfrm>
                <a:off x="3870746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1" name="Google Shape;1981;p140"/>
              <p:cNvSpPr/>
              <p:nvPr/>
            </p:nvSpPr>
            <p:spPr>
              <a:xfrm>
                <a:off x="4118695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2" name="Google Shape;1982;p140"/>
              <p:cNvSpPr/>
              <p:nvPr/>
            </p:nvSpPr>
            <p:spPr>
              <a:xfrm>
                <a:off x="4366644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3" name="Google Shape;1983;p140"/>
              <p:cNvSpPr/>
              <p:nvPr/>
            </p:nvSpPr>
            <p:spPr>
              <a:xfrm>
                <a:off x="4614592" y="19087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4" name="Google Shape;1984;p140"/>
              <p:cNvSpPr/>
              <p:nvPr/>
            </p:nvSpPr>
            <p:spPr>
              <a:xfrm>
                <a:off x="3869410" y="1659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5" name="Google Shape;1985;p140"/>
              <p:cNvSpPr/>
              <p:nvPr/>
            </p:nvSpPr>
            <p:spPr>
              <a:xfrm>
                <a:off x="4117359" y="1659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6" name="Google Shape;1986;p140"/>
              <p:cNvSpPr/>
              <p:nvPr/>
            </p:nvSpPr>
            <p:spPr>
              <a:xfrm>
                <a:off x="4365307" y="1659348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7" name="Google Shape;1987;p140"/>
              <p:cNvSpPr/>
              <p:nvPr/>
            </p:nvSpPr>
            <p:spPr>
              <a:xfrm>
                <a:off x="3869410" y="1409949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8" name="Google Shape;1988;p140"/>
              <p:cNvSpPr/>
              <p:nvPr/>
            </p:nvSpPr>
            <p:spPr>
              <a:xfrm>
                <a:off x="4117359" y="1409949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9" name="Google Shape;1989;p140"/>
              <p:cNvSpPr/>
              <p:nvPr/>
            </p:nvSpPr>
            <p:spPr>
              <a:xfrm>
                <a:off x="3869410" y="1160549"/>
                <a:ext cx="195600" cy="196200"/>
              </a:xfrm>
              <a:prstGeom prst="ellipse">
                <a:avLst/>
              </a:prstGeom>
              <a:solidFill>
                <a:schemeClr val="accent5"/>
              </a:solidFill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90" name="Google Shape;1990;p140"/>
            <p:cNvGrpSpPr/>
            <p:nvPr/>
          </p:nvGrpSpPr>
          <p:grpSpPr>
            <a:xfrm rot="10800000">
              <a:off x="3362424" y="3535835"/>
              <a:ext cx="691497" cy="694999"/>
              <a:chOff x="2345688" y="1409949"/>
              <a:chExt cx="691497" cy="694999"/>
            </a:xfrm>
          </p:grpSpPr>
          <p:sp>
            <p:nvSpPr>
              <p:cNvPr id="1991" name="Google Shape;1991;p140"/>
              <p:cNvSpPr/>
              <p:nvPr/>
            </p:nvSpPr>
            <p:spPr>
              <a:xfrm>
                <a:off x="2345688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2" name="Google Shape;1992;p140"/>
              <p:cNvSpPr/>
              <p:nvPr/>
            </p:nvSpPr>
            <p:spPr>
              <a:xfrm>
                <a:off x="2593637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3" name="Google Shape;1993;p140"/>
              <p:cNvSpPr/>
              <p:nvPr/>
            </p:nvSpPr>
            <p:spPr>
              <a:xfrm>
                <a:off x="2841585" y="19087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4" name="Google Shape;1994;p140"/>
              <p:cNvSpPr/>
              <p:nvPr/>
            </p:nvSpPr>
            <p:spPr>
              <a:xfrm>
                <a:off x="2345688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5" name="Google Shape;1995;p140"/>
              <p:cNvSpPr/>
              <p:nvPr/>
            </p:nvSpPr>
            <p:spPr>
              <a:xfrm>
                <a:off x="2593637" y="1659348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6" name="Google Shape;1996;p140"/>
              <p:cNvSpPr/>
              <p:nvPr/>
            </p:nvSpPr>
            <p:spPr>
              <a:xfrm>
                <a:off x="2345688" y="1409949"/>
                <a:ext cx="195600" cy="196200"/>
              </a:xfrm>
              <a:prstGeom prst="ellipse">
                <a:avLst/>
              </a:prstGeom>
              <a:solidFill>
                <a:srgbClr val="845AD9"/>
              </a:solidFill>
              <a:ln cap="flat" cmpd="sng" w="9525">
                <a:solidFill>
                  <a:srgbClr val="845AD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997" name="Google Shape;1997;p140"/>
          <p:cNvSpPr txBox="1"/>
          <p:nvPr>
            <p:ph idx="1" type="body"/>
          </p:nvPr>
        </p:nvSpPr>
        <p:spPr>
          <a:xfrm>
            <a:off x="628800" y="44584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endParaRPr sz="1800"/>
          </a:p>
        </p:txBody>
      </p:sp>
      <p:sp>
        <p:nvSpPr>
          <p:cNvPr id="1998" name="Google Shape;1998;p140"/>
          <p:cNvSpPr txBox="1"/>
          <p:nvPr>
            <p:ph idx="1" type="body"/>
          </p:nvPr>
        </p:nvSpPr>
        <p:spPr>
          <a:xfrm>
            <a:off x="1856338" y="4458453"/>
            <a:ext cx="574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endParaRPr sz="1800"/>
          </a:p>
        </p:txBody>
      </p:sp>
      <p:sp>
        <p:nvSpPr>
          <p:cNvPr id="1999" name="Google Shape;1999;p140"/>
          <p:cNvSpPr txBox="1"/>
          <p:nvPr>
            <p:ph idx="1" type="body"/>
          </p:nvPr>
        </p:nvSpPr>
        <p:spPr>
          <a:xfrm>
            <a:off x="1242569" y="44584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+</a:t>
            </a:r>
            <a:endParaRPr sz="1800"/>
          </a:p>
        </p:txBody>
      </p:sp>
      <p:sp>
        <p:nvSpPr>
          <p:cNvPr id="2000" name="Google Shape;2000;p140"/>
          <p:cNvSpPr txBox="1"/>
          <p:nvPr>
            <p:ph idx="1" type="body"/>
          </p:nvPr>
        </p:nvSpPr>
        <p:spPr>
          <a:xfrm>
            <a:off x="2849306" y="4458453"/>
            <a:ext cx="195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=</a:t>
            </a:r>
            <a:endParaRPr sz="1800"/>
          </a:p>
        </p:txBody>
      </p:sp>
      <p:sp>
        <p:nvSpPr>
          <p:cNvPr id="2001" name="Google Shape;2001;p140"/>
          <p:cNvSpPr txBox="1"/>
          <p:nvPr>
            <p:ph idx="1" type="body"/>
          </p:nvPr>
        </p:nvSpPr>
        <p:spPr>
          <a:xfrm>
            <a:off x="3463075" y="4458453"/>
            <a:ext cx="490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16</a:t>
            </a:r>
            <a:endParaRPr sz="1800"/>
          </a:p>
        </p:txBody>
      </p:sp>
      <p:sp>
        <p:nvSpPr>
          <p:cNvPr id="2002" name="Google Shape;2002;p140"/>
          <p:cNvSpPr txBox="1"/>
          <p:nvPr/>
        </p:nvSpPr>
        <p:spPr>
          <a:xfrm>
            <a:off x="4320000" y="3787050"/>
            <a:ext cx="4472400" cy="3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 patterns for two consecutive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 numbers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can be arranged into a square.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41"/>
          <p:cNvSpPr txBox="1"/>
          <p:nvPr>
            <p:ph idx="1" type="body"/>
          </p:nvPr>
        </p:nvSpPr>
        <p:spPr>
          <a:xfrm>
            <a:off x="324000" y="912750"/>
            <a:ext cx="8237700" cy="4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Explain why Sam is incorrect.</a:t>
            </a:r>
            <a:endParaRPr sz="2000"/>
          </a:p>
        </p:txBody>
      </p:sp>
      <p:sp>
        <p:nvSpPr>
          <p:cNvPr id="2008" name="Google Shape;2008;p1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2009" name="Google Shape;2009;p141"/>
          <p:cNvSpPr txBox="1"/>
          <p:nvPr/>
        </p:nvSpPr>
        <p:spPr>
          <a:xfrm>
            <a:off x="324003" y="3058149"/>
            <a:ext cx="1228800" cy="4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Sam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10" name="Google Shape;2010;p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8925" y="2360676"/>
            <a:ext cx="523590" cy="753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1" name="Google Shape;2011;p141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188250" y="1522650"/>
            <a:ext cx="3131750" cy="1301876"/>
          </a:xfrm>
          <a:prstGeom prst="rect">
            <a:avLst/>
          </a:prstGeom>
          <a:noFill/>
          <a:ln>
            <a:noFill/>
          </a:ln>
        </p:spPr>
      </p:pic>
      <p:sp>
        <p:nvSpPr>
          <p:cNvPr id="2012" name="Google Shape;2012;p141"/>
          <p:cNvSpPr/>
          <p:nvPr/>
        </p:nvSpPr>
        <p:spPr>
          <a:xfrm>
            <a:off x="1431425" y="1621200"/>
            <a:ext cx="2739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This dot pattern shows that 16 is a 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b="1" lang="en-GB" sz="2000">
                <a:latin typeface="Lexend"/>
                <a:ea typeface="Lexend"/>
                <a:cs typeface="Lexend"/>
                <a:sym typeface="Lexend"/>
              </a:rPr>
              <a:t> number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</a:t>
            </a:r>
            <a:endParaRPr sz="23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13" name="Google Shape;2013;p141"/>
          <p:cNvGrpSpPr/>
          <p:nvPr/>
        </p:nvGrpSpPr>
        <p:grpSpPr>
          <a:xfrm>
            <a:off x="4740377" y="2238891"/>
            <a:ext cx="1596615" cy="175801"/>
            <a:chOff x="6472925" y="2709966"/>
            <a:chExt cx="1596615" cy="175801"/>
          </a:xfrm>
        </p:grpSpPr>
        <p:grpSp>
          <p:nvGrpSpPr>
            <p:cNvPr id="2014" name="Google Shape;2014;p141"/>
            <p:cNvGrpSpPr/>
            <p:nvPr/>
          </p:nvGrpSpPr>
          <p:grpSpPr>
            <a:xfrm>
              <a:off x="6472925" y="2709966"/>
              <a:ext cx="891775" cy="175800"/>
              <a:chOff x="4320000" y="2283216"/>
              <a:chExt cx="891775" cy="175800"/>
            </a:xfrm>
          </p:grpSpPr>
          <p:grpSp>
            <p:nvGrpSpPr>
              <p:cNvPr id="2015" name="Google Shape;2015;p141"/>
              <p:cNvGrpSpPr/>
              <p:nvPr/>
            </p:nvGrpSpPr>
            <p:grpSpPr>
              <a:xfrm>
                <a:off x="4320000" y="2283216"/>
                <a:ext cx="653117" cy="175800"/>
                <a:chOff x="324000" y="1924807"/>
                <a:chExt cx="653117" cy="175800"/>
              </a:xfrm>
            </p:grpSpPr>
            <p:sp>
              <p:nvSpPr>
                <p:cNvPr id="2016" name="Google Shape;2016;p141"/>
                <p:cNvSpPr/>
                <p:nvPr/>
              </p:nvSpPr>
              <p:spPr>
                <a:xfrm>
                  <a:off x="324000" y="1924807"/>
                  <a:ext cx="175800" cy="175800"/>
                </a:xfrm>
                <a:prstGeom prst="ellipse">
                  <a:avLst/>
                </a:prstGeom>
                <a:solidFill>
                  <a:schemeClr val="accent4"/>
                </a:solidFill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7" name="Google Shape;2017;p141"/>
                <p:cNvSpPr/>
                <p:nvPr/>
              </p:nvSpPr>
              <p:spPr>
                <a:xfrm>
                  <a:off x="562658" y="1924807"/>
                  <a:ext cx="175800" cy="175800"/>
                </a:xfrm>
                <a:prstGeom prst="ellipse">
                  <a:avLst/>
                </a:prstGeom>
                <a:solidFill>
                  <a:schemeClr val="accent4"/>
                </a:solidFill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8" name="Google Shape;2018;p141"/>
                <p:cNvSpPr/>
                <p:nvPr/>
              </p:nvSpPr>
              <p:spPr>
                <a:xfrm>
                  <a:off x="801317" y="1924807"/>
                  <a:ext cx="175800" cy="175800"/>
                </a:xfrm>
                <a:prstGeom prst="ellipse">
                  <a:avLst/>
                </a:prstGeom>
                <a:solidFill>
                  <a:schemeClr val="accent4"/>
                </a:solidFill>
                <a:ln cap="flat" cmpd="sng" w="38100">
                  <a:solidFill>
                    <a:schemeClr val="accent4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2019" name="Google Shape;2019;p141"/>
              <p:cNvSpPr/>
              <p:nvPr/>
            </p:nvSpPr>
            <p:spPr>
              <a:xfrm>
                <a:off x="5035975" y="2283216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0" name="Google Shape;2020;p141"/>
            <p:cNvGrpSpPr/>
            <p:nvPr/>
          </p:nvGrpSpPr>
          <p:grpSpPr>
            <a:xfrm>
              <a:off x="7416275" y="2709967"/>
              <a:ext cx="653265" cy="175800"/>
              <a:chOff x="1039975" y="1924807"/>
              <a:chExt cx="653265" cy="175800"/>
            </a:xfrm>
          </p:grpSpPr>
          <p:sp>
            <p:nvSpPr>
              <p:cNvPr id="2021" name="Google Shape;2021;p141"/>
              <p:cNvSpPr/>
              <p:nvPr/>
            </p:nvSpPr>
            <p:spPr>
              <a:xfrm>
                <a:off x="1278634" y="1924807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2" name="Google Shape;2022;p141"/>
              <p:cNvSpPr/>
              <p:nvPr/>
            </p:nvSpPr>
            <p:spPr>
              <a:xfrm>
                <a:off x="1039975" y="1924807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3" name="Google Shape;2023;p141"/>
              <p:cNvSpPr/>
              <p:nvPr/>
            </p:nvSpPr>
            <p:spPr>
              <a:xfrm>
                <a:off x="1517440" y="1924807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24" name="Google Shape;2024;p141"/>
          <p:cNvGrpSpPr/>
          <p:nvPr/>
        </p:nvGrpSpPr>
        <p:grpSpPr>
          <a:xfrm>
            <a:off x="4959988" y="1954205"/>
            <a:ext cx="1128740" cy="175801"/>
            <a:chOff x="6472925" y="2176955"/>
            <a:chExt cx="1128740" cy="175801"/>
          </a:xfrm>
        </p:grpSpPr>
        <p:grpSp>
          <p:nvGrpSpPr>
            <p:cNvPr id="2025" name="Google Shape;2025;p141"/>
            <p:cNvGrpSpPr/>
            <p:nvPr/>
          </p:nvGrpSpPr>
          <p:grpSpPr>
            <a:xfrm>
              <a:off x="6472925" y="2176955"/>
              <a:ext cx="653117" cy="175800"/>
              <a:chOff x="324000" y="1924807"/>
              <a:chExt cx="653117" cy="175800"/>
            </a:xfrm>
          </p:grpSpPr>
          <p:sp>
            <p:nvSpPr>
              <p:cNvPr id="2026" name="Google Shape;2026;p141"/>
              <p:cNvSpPr/>
              <p:nvPr/>
            </p:nvSpPr>
            <p:spPr>
              <a:xfrm>
                <a:off x="324000" y="1924807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7" name="Google Shape;2027;p141"/>
              <p:cNvSpPr/>
              <p:nvPr/>
            </p:nvSpPr>
            <p:spPr>
              <a:xfrm>
                <a:off x="562658" y="1924807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8" name="Google Shape;2028;p141"/>
              <p:cNvSpPr/>
              <p:nvPr/>
            </p:nvSpPr>
            <p:spPr>
              <a:xfrm>
                <a:off x="801317" y="1924807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29" name="Google Shape;2029;p141"/>
            <p:cNvGrpSpPr/>
            <p:nvPr/>
          </p:nvGrpSpPr>
          <p:grpSpPr>
            <a:xfrm>
              <a:off x="7187059" y="2176956"/>
              <a:ext cx="414607" cy="175800"/>
              <a:chOff x="5274634" y="1486081"/>
              <a:chExt cx="414607" cy="175800"/>
            </a:xfrm>
          </p:grpSpPr>
          <p:sp>
            <p:nvSpPr>
              <p:cNvPr id="2030" name="Google Shape;2030;p141"/>
              <p:cNvSpPr/>
              <p:nvPr/>
            </p:nvSpPr>
            <p:spPr>
              <a:xfrm>
                <a:off x="5274634" y="1486081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1" name="Google Shape;2031;p141"/>
              <p:cNvSpPr/>
              <p:nvPr/>
            </p:nvSpPr>
            <p:spPr>
              <a:xfrm>
                <a:off x="5513440" y="1486081"/>
                <a:ext cx="175800" cy="175800"/>
              </a:xfrm>
              <a:prstGeom prst="ellipse">
                <a:avLst/>
              </a:prstGeom>
              <a:solidFill>
                <a:schemeClr val="accent4"/>
              </a:solidFill>
              <a:ln cap="flat" cmpd="sng" w="38100">
                <a:solidFill>
                  <a:schemeClr val="accent4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032" name="Google Shape;2032;p141"/>
          <p:cNvGrpSpPr/>
          <p:nvPr/>
        </p:nvGrpSpPr>
        <p:grpSpPr>
          <a:xfrm>
            <a:off x="5197725" y="1669507"/>
            <a:ext cx="653265" cy="175800"/>
            <a:chOff x="1039975" y="1924807"/>
            <a:chExt cx="653265" cy="175800"/>
          </a:xfrm>
        </p:grpSpPr>
        <p:sp>
          <p:nvSpPr>
            <p:cNvPr id="2033" name="Google Shape;2033;p141"/>
            <p:cNvSpPr/>
            <p:nvPr/>
          </p:nvSpPr>
          <p:spPr>
            <a:xfrm>
              <a:off x="1278634" y="1924807"/>
              <a:ext cx="175800" cy="1758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141"/>
            <p:cNvSpPr/>
            <p:nvPr/>
          </p:nvSpPr>
          <p:spPr>
            <a:xfrm>
              <a:off x="1039975" y="1924807"/>
              <a:ext cx="175800" cy="1758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141"/>
            <p:cNvSpPr/>
            <p:nvPr/>
          </p:nvSpPr>
          <p:spPr>
            <a:xfrm>
              <a:off x="1517440" y="1924807"/>
              <a:ext cx="175800" cy="175800"/>
            </a:xfrm>
            <a:prstGeom prst="ellipse">
              <a:avLst/>
            </a:prstGeom>
            <a:solidFill>
              <a:schemeClr val="accent4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36" name="Google Shape;2036;p141"/>
          <p:cNvSpPr/>
          <p:nvPr/>
        </p:nvSpPr>
        <p:spPr>
          <a:xfrm>
            <a:off x="5436463" y="1384807"/>
            <a:ext cx="175800" cy="175800"/>
          </a:xfrm>
          <a:prstGeom prst="ellipse">
            <a:avLst/>
          </a:prstGeom>
          <a:solidFill>
            <a:schemeClr val="accent4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7" name="Google Shape;2037;p141"/>
          <p:cNvSpPr txBox="1"/>
          <p:nvPr>
            <p:ph idx="1" type="body"/>
          </p:nvPr>
        </p:nvSpPr>
        <p:spPr>
          <a:xfrm>
            <a:off x="324000" y="3643858"/>
            <a:ext cx="8237700" cy="75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riangular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 numbers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are built so each new row has one more dot than the row above. In Sam’s pattern, each row has two more dots than the one above.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1" name="Shape 20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2" name="Google Shape;2042;p14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2043" name="Google Shape;2043;p142"/>
          <p:cNvSpPr txBox="1"/>
          <p:nvPr>
            <p:ph idx="1" type="body"/>
          </p:nvPr>
        </p:nvSpPr>
        <p:spPr>
          <a:xfrm>
            <a:off x="324000" y="759300"/>
            <a:ext cx="8496000" cy="43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</a:t>
            </a:r>
            <a:r>
              <a:rPr lang="en-GB" sz="1800"/>
              <a:t>Fill in the missing numbers in these special number sequences.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044" name="Google Shape;2044;p142"/>
          <p:cNvGraphicFramePr/>
          <p:nvPr/>
        </p:nvGraphicFramePr>
        <p:xfrm>
          <a:off x="324000" y="115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839175"/>
                <a:gridCol w="3003925"/>
                <a:gridCol w="2602750"/>
              </a:tblGrid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numbers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quare numbers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ube numbers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1, 3,</a:t>
                      </a:r>
                      <a:r>
                        <a:rPr lang="en-GB" sz="1800" u="sng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,10,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21, 28,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4, 9,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25, 36, 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27,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216, …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45" name="Google Shape;2045;p142"/>
          <p:cNvSpPr txBox="1"/>
          <p:nvPr>
            <p:ph idx="1" type="body"/>
          </p:nvPr>
        </p:nvSpPr>
        <p:spPr>
          <a:xfrm>
            <a:off x="324000" y="2343150"/>
            <a:ext cx="8496000" cy="24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Calculate the following: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5</a:t>
            </a:r>
            <a:r>
              <a:rPr baseline="30000" lang="en-GB" sz="1800"/>
              <a:t>th</a:t>
            </a:r>
            <a:r>
              <a:rPr lang="en-GB" sz="1800"/>
              <a:t> square number </a:t>
            </a:r>
            <a:r>
              <a:rPr lang="en-GB" sz="1800"/>
              <a:t>plus</a:t>
            </a:r>
            <a:r>
              <a:rPr lang="en-GB" sz="1800"/>
              <a:t> the 5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 </a:t>
            </a:r>
            <a:r>
              <a:rPr lang="en-GB" sz="1800"/>
              <a:t>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8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1800"/>
              <a:t>plus</a:t>
            </a:r>
            <a:r>
              <a:rPr lang="en-GB" sz="1800"/>
              <a:t> the 4</a:t>
            </a:r>
            <a:r>
              <a:rPr baseline="30000" lang="en-GB" sz="1800"/>
              <a:t>th</a:t>
            </a:r>
            <a:r>
              <a:rPr lang="en-GB" sz="1800"/>
              <a:t> cube number 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1</a:t>
            </a:r>
            <a:r>
              <a:rPr baseline="30000" lang="en-GB" sz="1800"/>
              <a:t>st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1800"/>
              <a:t>plus</a:t>
            </a:r>
            <a:r>
              <a:rPr lang="en-GB" sz="1800"/>
              <a:t> the 1</a:t>
            </a:r>
            <a:r>
              <a:rPr baseline="30000" lang="en-GB" sz="1800"/>
              <a:t>st</a:t>
            </a:r>
            <a:r>
              <a:rPr lang="en-GB" sz="1800"/>
              <a:t> cube number 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3</a:t>
            </a:r>
            <a:r>
              <a:rPr baseline="30000" lang="en-GB" sz="1800"/>
              <a:t>rd</a:t>
            </a:r>
            <a:r>
              <a:rPr lang="en-GB" sz="1800"/>
              <a:t> square number </a:t>
            </a:r>
            <a:r>
              <a:rPr lang="en-GB" sz="1800"/>
              <a:t>minus</a:t>
            </a:r>
            <a:r>
              <a:rPr lang="en-GB" sz="1800"/>
              <a:t> the 2</a:t>
            </a:r>
            <a:r>
              <a:rPr baseline="30000" lang="en-GB" sz="1800"/>
              <a:t>nd</a:t>
            </a:r>
            <a:r>
              <a:rPr lang="en-GB" sz="1800"/>
              <a:t> cube number 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10</a:t>
            </a:r>
            <a:r>
              <a:rPr baseline="30000" lang="en-GB" sz="1800"/>
              <a:t>th</a:t>
            </a:r>
            <a:r>
              <a:rPr lang="en-GB" sz="1800"/>
              <a:t> cube number </a:t>
            </a:r>
            <a:r>
              <a:rPr lang="en-GB" sz="1800"/>
              <a:t>minus</a:t>
            </a:r>
            <a:r>
              <a:rPr lang="en-GB" sz="1800"/>
              <a:t> the 10</a:t>
            </a:r>
            <a:r>
              <a:rPr baseline="30000" lang="en-GB" sz="1800"/>
              <a:t>th</a:t>
            </a:r>
            <a:r>
              <a:rPr lang="en-GB" sz="1800"/>
              <a:t> square number …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11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1800"/>
              <a:t>plus</a:t>
            </a:r>
            <a:r>
              <a:rPr lang="en-GB" sz="1800"/>
              <a:t> the 12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 </a:t>
            </a:r>
            <a:r>
              <a:rPr lang="en-GB" sz="1800"/>
              <a:t>…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9" name="Shape 20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2050;p14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2051" name="Google Shape;2051;p143"/>
          <p:cNvSpPr txBox="1"/>
          <p:nvPr>
            <p:ph idx="1" type="body"/>
          </p:nvPr>
        </p:nvSpPr>
        <p:spPr>
          <a:xfrm>
            <a:off x="324000" y="759300"/>
            <a:ext cx="8496000" cy="92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Sofia is having fun building different sequences using the square, </a:t>
            </a:r>
            <a:r>
              <a:rPr b="1" lang="en-GB" sz="1800"/>
              <a:t>triangular</a:t>
            </a:r>
            <a:r>
              <a:rPr lang="en-GB" sz="1800"/>
              <a:t> and cube numbers. Suggest what the next number in each sequence could be, explaining your answer.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52" name="Google Shape;2052;p143"/>
          <p:cNvSpPr txBox="1"/>
          <p:nvPr/>
        </p:nvSpPr>
        <p:spPr>
          <a:xfrm flipH="1">
            <a:off x="7612471" y="4099907"/>
            <a:ext cx="1185600" cy="49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53" name="Google Shape;2053;p1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5112" y="3415049"/>
            <a:ext cx="680234" cy="7546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4" name="Google Shape;2054;p143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4154925" y="1671100"/>
            <a:ext cx="3853450" cy="22534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5" name="Google Shape;2055;p143"/>
          <p:cNvSpPr/>
          <p:nvPr/>
        </p:nvSpPr>
        <p:spPr>
          <a:xfrm flipH="1">
            <a:off x="4233650" y="1772400"/>
            <a:ext cx="3381300" cy="139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Some of these were built from </a:t>
            </a:r>
            <a:r>
              <a:rPr lang="en-GB" sz="1800">
                <a:solidFill>
                  <a:srgbClr val="845AD9"/>
                </a:solidFill>
                <a:latin typeface="Lexend"/>
                <a:ea typeface="Lexend"/>
                <a:cs typeface="Lexend"/>
                <a:sym typeface="Lexend"/>
              </a:rPr>
              <a:t>more than one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type of number. Writing out the start of the sequence of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square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triangular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and cube numbers may help you see what I did.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6" name="Google Shape;2056;p143"/>
          <p:cNvSpPr txBox="1"/>
          <p:nvPr>
            <p:ph idx="1" type="body"/>
          </p:nvPr>
        </p:nvSpPr>
        <p:spPr>
          <a:xfrm>
            <a:off x="324000" y="1971925"/>
            <a:ext cx="3537300" cy="28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81, 64, 49, 36,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1, 6, 15, 28,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2, 7, 15, 26, 40,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0, 4, 18, 48, 100,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1, 1, 3, 4, 6, 9, 10, 16, …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 0, 1, 3, 6, 10, 15, 21,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4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2062" name="Google Shape;2062;p1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Fill in the missing numbers in these special number sequences.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graphicFrame>
        <p:nvGraphicFramePr>
          <p:cNvPr id="2063" name="Google Shape;2063;p144"/>
          <p:cNvGraphicFramePr/>
          <p:nvPr/>
        </p:nvGraphicFramePr>
        <p:xfrm>
          <a:off x="324000" y="1156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846350"/>
                <a:gridCol w="2996750"/>
                <a:gridCol w="2602750"/>
              </a:tblGrid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triangular</a:t>
                      </a:r>
                      <a:r>
                        <a:rPr b="1"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numbers</a:t>
                      </a:r>
                      <a:endParaRPr b="1"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square numbers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cube numbers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1, 3, 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10,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21, 28,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36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4, 9,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25, 36,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49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27,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64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125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216, …</a:t>
                      </a:r>
                      <a:r>
                        <a:rPr lang="en-GB" sz="1800" u="sng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64" name="Google Shape;2064;p144"/>
          <p:cNvSpPr txBox="1"/>
          <p:nvPr>
            <p:ph idx="1" type="body"/>
          </p:nvPr>
        </p:nvSpPr>
        <p:spPr>
          <a:xfrm>
            <a:off x="324000" y="2343150"/>
            <a:ext cx="8496000" cy="247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Calculate the following.</a:t>
            </a:r>
            <a:endParaRPr sz="1800"/>
          </a:p>
          <a:p>
            <a:pPr indent="-342900" lvl="0" marL="457200" rtl="0" algn="l">
              <a:spcBef>
                <a:spcPts val="100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5</a:t>
            </a:r>
            <a:r>
              <a:rPr baseline="30000" lang="en-GB" sz="1800"/>
              <a:t>th</a:t>
            </a:r>
            <a:r>
              <a:rPr lang="en-GB" sz="1800"/>
              <a:t> square number plus the 5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40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8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1800"/>
              <a:t>plus</a:t>
            </a:r>
            <a:r>
              <a:rPr lang="en-GB" sz="1800"/>
              <a:t> the 4</a:t>
            </a:r>
            <a:r>
              <a:rPr baseline="30000" lang="en-GB" sz="1800"/>
              <a:t>th</a:t>
            </a:r>
            <a:r>
              <a:rPr lang="en-GB" sz="1800"/>
              <a:t> cube number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1</a:t>
            </a:r>
            <a:r>
              <a:rPr baseline="30000" lang="en-GB" sz="1800"/>
              <a:t>st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1800"/>
              <a:t>plus</a:t>
            </a:r>
            <a:r>
              <a:rPr lang="en-GB" sz="1800"/>
              <a:t> the 1</a:t>
            </a:r>
            <a:r>
              <a:rPr baseline="30000" lang="en-GB" sz="1800"/>
              <a:t>st</a:t>
            </a:r>
            <a:r>
              <a:rPr lang="en-GB" sz="1800"/>
              <a:t> cube number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2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3</a:t>
            </a:r>
            <a:r>
              <a:rPr baseline="30000" lang="en-GB" sz="1800"/>
              <a:t>rd</a:t>
            </a:r>
            <a:r>
              <a:rPr lang="en-GB" sz="1800"/>
              <a:t> square number </a:t>
            </a:r>
            <a:r>
              <a:rPr lang="en-GB" sz="1800"/>
              <a:t>minus</a:t>
            </a:r>
            <a:r>
              <a:rPr lang="en-GB" sz="1800"/>
              <a:t> the 2</a:t>
            </a:r>
            <a:r>
              <a:rPr baseline="30000" lang="en-GB" sz="1800"/>
              <a:t>nd</a:t>
            </a:r>
            <a:r>
              <a:rPr lang="en-GB" sz="1800"/>
              <a:t> cube number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10</a:t>
            </a:r>
            <a:r>
              <a:rPr baseline="30000" lang="en-GB" sz="1800"/>
              <a:t>th</a:t>
            </a:r>
            <a:r>
              <a:rPr lang="en-GB" sz="1800"/>
              <a:t> cube number </a:t>
            </a:r>
            <a:r>
              <a:rPr lang="en-GB" sz="1800"/>
              <a:t>minus</a:t>
            </a:r>
            <a:r>
              <a:rPr lang="en-GB" sz="1800"/>
              <a:t> the 10</a:t>
            </a:r>
            <a:r>
              <a:rPr baseline="30000" lang="en-GB" sz="1800"/>
              <a:t>th</a:t>
            </a:r>
            <a:r>
              <a:rPr lang="en-GB" sz="1800"/>
              <a:t> square number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900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LcParenR"/>
            </a:pPr>
            <a:r>
              <a:rPr lang="en-GB" sz="1800"/>
              <a:t>The 11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1800"/>
              <a:t>plus</a:t>
            </a:r>
            <a:r>
              <a:rPr lang="en-GB" sz="1800"/>
              <a:t> the 12</a:t>
            </a:r>
            <a:r>
              <a:rPr baseline="30000" lang="en-GB" sz="1800"/>
              <a:t>th</a:t>
            </a:r>
            <a:r>
              <a:rPr lang="en-GB" sz="1800"/>
              <a:t> </a:t>
            </a:r>
            <a:r>
              <a:rPr b="1" lang="en-GB" sz="1800"/>
              <a:t>triangular number</a:t>
            </a:r>
            <a:r>
              <a:rPr lang="en-GB" sz="1800"/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144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8" name="Shape 2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9" name="Google Shape;2069;p14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2070" name="Google Shape;2070;p1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3) Sofia is having fun building different sequences using the square, </a:t>
            </a:r>
            <a:r>
              <a:rPr b="1" lang="en-GB" sz="1800"/>
              <a:t>triangular</a:t>
            </a:r>
            <a:r>
              <a:rPr lang="en-GB" sz="1800"/>
              <a:t> and cube numbers. Suggest what the next number in each sequence could be, explaining your answer.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1" name="Google Shape;2071;p145"/>
          <p:cNvSpPr txBox="1"/>
          <p:nvPr>
            <p:ph idx="1" type="body"/>
          </p:nvPr>
        </p:nvSpPr>
        <p:spPr>
          <a:xfrm>
            <a:off x="324000" y="1895725"/>
            <a:ext cx="2964000" cy="28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81, 64, 49, 36,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1, 6, 15, 28,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 2, 7, 15, 26, 40,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d) 0, 4, 18, 48, 100,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e) 1, 1, 3, 4, 6, 9, 10, 16,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 </a:t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f) 0, 1, 3, 6, 10, 15, 21, …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072" name="Google Shape;2072;p145"/>
          <p:cNvSpPr txBox="1"/>
          <p:nvPr>
            <p:ph idx="1" type="body"/>
          </p:nvPr>
        </p:nvSpPr>
        <p:spPr>
          <a:xfrm>
            <a:off x="3288025" y="1895725"/>
            <a:ext cx="5532000" cy="3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25 - square numbers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descending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from 9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3" name="Google Shape;2073;p145"/>
          <p:cNvSpPr txBox="1"/>
          <p:nvPr>
            <p:ph idx="1" type="body"/>
          </p:nvPr>
        </p:nvSpPr>
        <p:spPr>
          <a:xfrm>
            <a:off x="3288000" y="2352925"/>
            <a:ext cx="5532000" cy="3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45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every other triangular number starting with 1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4" name="Google Shape;2074;p145"/>
          <p:cNvSpPr txBox="1"/>
          <p:nvPr>
            <p:ph idx="1" type="body"/>
          </p:nvPr>
        </p:nvSpPr>
        <p:spPr>
          <a:xfrm>
            <a:off x="3288000" y="2733925"/>
            <a:ext cx="5532000" cy="3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57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square numbers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plus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triangular numbers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5" name="Google Shape;2075;p145"/>
          <p:cNvSpPr txBox="1"/>
          <p:nvPr>
            <p:ph idx="1" type="body"/>
          </p:nvPr>
        </p:nvSpPr>
        <p:spPr>
          <a:xfrm>
            <a:off x="3288000" y="3191125"/>
            <a:ext cx="5532000" cy="3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180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cube numbers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minus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square numbers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6" name="Google Shape;2076;p145"/>
          <p:cNvSpPr txBox="1"/>
          <p:nvPr>
            <p:ph idx="1" type="body"/>
          </p:nvPr>
        </p:nvSpPr>
        <p:spPr>
          <a:xfrm>
            <a:off x="3288000" y="3648325"/>
            <a:ext cx="5532000" cy="3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15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alternating between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and square numbers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077" name="Google Shape;2077;p145"/>
          <p:cNvSpPr txBox="1"/>
          <p:nvPr>
            <p:ph idx="1" type="body"/>
          </p:nvPr>
        </p:nvSpPr>
        <p:spPr>
          <a:xfrm>
            <a:off x="3288000" y="4486525"/>
            <a:ext cx="5532000" cy="34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28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- square numbers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minus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1" name="Shape 20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2" name="Google Shape;2082;p14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Types of special number sequences</a:t>
            </a:r>
            <a:endParaRPr/>
          </a:p>
        </p:txBody>
      </p:sp>
      <p:sp>
        <p:nvSpPr>
          <p:cNvPr id="2083" name="Google Shape;2083;p146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084" name="Google Shape;2084;p146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  <p:pic>
        <p:nvPicPr>
          <p:cNvPr id="2085" name="Google Shape;2085;p1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525" y="299515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9" name="Shape 2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0" name="Google Shape;2090;p1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091" name="Google Shape;2091;p147"/>
          <p:cNvSpPr txBox="1"/>
          <p:nvPr>
            <p:ph idx="1" type="body"/>
          </p:nvPr>
        </p:nvSpPr>
        <p:spPr>
          <a:xfrm>
            <a:off x="324000" y="75930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In order to continue any sequence, it can be helpful to understand how the sequence grows. </a:t>
            </a:r>
            <a:endParaRPr sz="1800"/>
          </a:p>
        </p:txBody>
      </p:sp>
      <p:sp>
        <p:nvSpPr>
          <p:cNvPr id="2092" name="Google Shape;2092;p147"/>
          <p:cNvSpPr txBox="1"/>
          <p:nvPr>
            <p:ph idx="1" type="body"/>
          </p:nvPr>
        </p:nvSpPr>
        <p:spPr>
          <a:xfrm>
            <a:off x="324000" y="144510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the first six </a:t>
            </a:r>
            <a:r>
              <a:rPr b="1" lang="en-GB" sz="1800"/>
              <a:t>triangular</a:t>
            </a:r>
            <a:r>
              <a:rPr b="1" lang="en-GB" sz="1800"/>
              <a:t> numbers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1,    3,    6,   10,   15,  21, …</a:t>
            </a:r>
            <a:endParaRPr sz="1800"/>
          </a:p>
        </p:txBody>
      </p:sp>
      <p:sp>
        <p:nvSpPr>
          <p:cNvPr id="2093" name="Google Shape;2093;p147"/>
          <p:cNvSpPr txBox="1"/>
          <p:nvPr/>
        </p:nvSpPr>
        <p:spPr>
          <a:xfrm flipH="1">
            <a:off x="216538" y="4486527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94" name="Google Shape;2094;p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512831" y="3898500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5" name="Google Shape;2095;p147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880226" y="3045950"/>
            <a:ext cx="2343424" cy="940351"/>
          </a:xfrm>
          <a:prstGeom prst="rect">
            <a:avLst/>
          </a:prstGeom>
          <a:noFill/>
          <a:ln>
            <a:noFill/>
          </a:ln>
        </p:spPr>
      </p:pic>
      <p:sp>
        <p:nvSpPr>
          <p:cNvPr id="2096" name="Google Shape;2096;p147"/>
          <p:cNvSpPr/>
          <p:nvPr/>
        </p:nvSpPr>
        <p:spPr>
          <a:xfrm>
            <a:off x="1123400" y="3144500"/>
            <a:ext cx="2739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This is not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linear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sequence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7" name="Google Shape;2097;p147"/>
          <p:cNvSpPr txBox="1"/>
          <p:nvPr>
            <p:ph idx="1" type="body"/>
          </p:nvPr>
        </p:nvSpPr>
        <p:spPr>
          <a:xfrm>
            <a:off x="3689275" y="3055875"/>
            <a:ext cx="5130600" cy="354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show that Alex is correct? </a:t>
            </a:r>
            <a:endParaRPr sz="1800"/>
          </a:p>
        </p:txBody>
      </p:sp>
      <p:grpSp>
        <p:nvGrpSpPr>
          <p:cNvPr id="2098" name="Google Shape;2098;p147"/>
          <p:cNvGrpSpPr/>
          <p:nvPr/>
        </p:nvGrpSpPr>
        <p:grpSpPr>
          <a:xfrm>
            <a:off x="324000" y="2211599"/>
            <a:ext cx="2350100" cy="532497"/>
            <a:chOff x="324000" y="2211599"/>
            <a:chExt cx="2350100" cy="532497"/>
          </a:xfrm>
        </p:grpSpPr>
        <p:pic>
          <p:nvPicPr>
            <p:cNvPr id="2099" name="Google Shape;2099;p147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324000" y="22115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0" name="Google Shape;2100;p147"/>
            <p:cNvSpPr/>
            <p:nvPr/>
          </p:nvSpPr>
          <p:spPr>
            <a:xfrm>
              <a:off x="337138" y="24503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1" name="Google Shape;2101;p147"/>
            <p:cNvSpPr/>
            <p:nvPr/>
          </p:nvSpPr>
          <p:spPr>
            <a:xfrm>
              <a:off x="781988" y="24503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2" name="Google Shape;2102;p147"/>
            <p:cNvSpPr/>
            <p:nvPr/>
          </p:nvSpPr>
          <p:spPr>
            <a:xfrm>
              <a:off x="1226838" y="24503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03" name="Google Shape;2103;p147"/>
            <p:cNvSpPr/>
            <p:nvPr/>
          </p:nvSpPr>
          <p:spPr>
            <a:xfrm>
              <a:off x="1671688" y="24503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04" name="Google Shape;2104;p147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781200" y="22115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5" name="Google Shape;2105;p147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1238400" y="22115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6" name="Google Shape;2106;p147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1695600" y="22115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7" name="Google Shape;2107;p147"/>
            <p:cNvSpPr/>
            <p:nvPr/>
          </p:nvSpPr>
          <p:spPr>
            <a:xfrm>
              <a:off x="2128888" y="24503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08" name="Google Shape;2108;p147"/>
            <p:cNvPicPr preferRelativeResize="0"/>
            <p:nvPr/>
          </p:nvPicPr>
          <p:blipFill rotWithShape="1">
            <a:blip r:embed="rId5">
              <a:alphaModFix/>
            </a:blip>
            <a:srcRect b="59597" l="61559" r="13951" t="27330"/>
            <a:stretch/>
          </p:blipFill>
          <p:spPr>
            <a:xfrm flipH="1" rot="10800000">
              <a:off x="2152800" y="22115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09" name="Google Shape;2109;p147"/>
          <p:cNvSpPr txBox="1"/>
          <p:nvPr>
            <p:ph idx="1" type="body"/>
          </p:nvPr>
        </p:nvSpPr>
        <p:spPr>
          <a:xfrm>
            <a:off x="3689275" y="3589275"/>
            <a:ext cx="51306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Consecutive</a:t>
            </a:r>
            <a:r>
              <a:rPr lang="en-GB" sz="1800"/>
              <a:t> terms do not have a common difference.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115" name="Google Shape;2115;p148"/>
          <p:cNvSpPr txBox="1"/>
          <p:nvPr>
            <p:ph idx="1" type="body"/>
          </p:nvPr>
        </p:nvSpPr>
        <p:spPr>
          <a:xfrm>
            <a:off x="324000" y="83550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the first six </a:t>
            </a:r>
            <a:r>
              <a:rPr b="1" lang="en-GB" sz="1800"/>
              <a:t>triangular</a:t>
            </a:r>
            <a:r>
              <a:rPr b="1" lang="en-GB" sz="1800"/>
              <a:t> numbers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1,    3,    6,   10,   15,  21, …</a:t>
            </a:r>
            <a:endParaRPr sz="1800"/>
          </a:p>
        </p:txBody>
      </p:sp>
      <p:sp>
        <p:nvSpPr>
          <p:cNvPr id="2116" name="Google Shape;2116;p148"/>
          <p:cNvSpPr txBox="1"/>
          <p:nvPr>
            <p:ph idx="1" type="body"/>
          </p:nvPr>
        </p:nvSpPr>
        <p:spPr>
          <a:xfrm>
            <a:off x="3689275" y="2370075"/>
            <a:ext cx="51306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could we show that Sofia is correct? </a:t>
            </a:r>
            <a:endParaRPr sz="1800"/>
          </a:p>
        </p:txBody>
      </p:sp>
      <p:grpSp>
        <p:nvGrpSpPr>
          <p:cNvPr id="2117" name="Google Shape;2117;p148"/>
          <p:cNvGrpSpPr/>
          <p:nvPr/>
        </p:nvGrpSpPr>
        <p:grpSpPr>
          <a:xfrm>
            <a:off x="324000" y="1601999"/>
            <a:ext cx="521300" cy="532497"/>
            <a:chOff x="324000" y="1601999"/>
            <a:chExt cx="521300" cy="532497"/>
          </a:xfrm>
        </p:grpSpPr>
        <p:pic>
          <p:nvPicPr>
            <p:cNvPr id="2118" name="Google Shape;2118;p148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24000" y="16019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19" name="Google Shape;2119;p148"/>
            <p:cNvSpPr/>
            <p:nvPr/>
          </p:nvSpPr>
          <p:spPr>
            <a:xfrm>
              <a:off x="337138" y="18407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20" name="Google Shape;2120;p148"/>
          <p:cNvGrpSpPr/>
          <p:nvPr/>
        </p:nvGrpSpPr>
        <p:grpSpPr>
          <a:xfrm>
            <a:off x="781200" y="1601999"/>
            <a:ext cx="521300" cy="532497"/>
            <a:chOff x="781200" y="1601999"/>
            <a:chExt cx="521300" cy="532497"/>
          </a:xfrm>
        </p:grpSpPr>
        <p:sp>
          <p:nvSpPr>
            <p:cNvPr id="2121" name="Google Shape;2121;p148"/>
            <p:cNvSpPr/>
            <p:nvPr/>
          </p:nvSpPr>
          <p:spPr>
            <a:xfrm>
              <a:off x="803478" y="18407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 </a:t>
              </a:r>
              <a:r>
                <a:rPr lang="en-GB" sz="1800">
                  <a:solidFill>
                    <a:schemeClr val="dk1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22" name="Google Shape;2122;p148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781200" y="16019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3" name="Google Shape;2123;p148"/>
          <p:cNvSpPr txBox="1"/>
          <p:nvPr>
            <p:ph idx="1" type="body"/>
          </p:nvPr>
        </p:nvSpPr>
        <p:spPr>
          <a:xfrm>
            <a:off x="3691500" y="2831850"/>
            <a:ext cx="51306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 </a:t>
            </a:r>
            <a:r>
              <a:rPr lang="en-GB" sz="1800">
                <a:solidFill>
                  <a:srgbClr val="222222"/>
                </a:solidFill>
              </a:rPr>
              <a:t>÷ 1 = 3</a:t>
            </a:r>
            <a:endParaRPr sz="1800"/>
          </a:p>
        </p:txBody>
      </p:sp>
      <p:grpSp>
        <p:nvGrpSpPr>
          <p:cNvPr id="2124" name="Google Shape;2124;p148"/>
          <p:cNvGrpSpPr/>
          <p:nvPr/>
        </p:nvGrpSpPr>
        <p:grpSpPr>
          <a:xfrm>
            <a:off x="337149" y="2588750"/>
            <a:ext cx="3094251" cy="1614248"/>
            <a:chOff x="337149" y="2588750"/>
            <a:chExt cx="3094251" cy="1614248"/>
          </a:xfrm>
        </p:grpSpPr>
        <p:pic>
          <p:nvPicPr>
            <p:cNvPr id="2125" name="Google Shape;2125;p148"/>
            <p:cNvPicPr preferRelativeResize="0"/>
            <p:nvPr/>
          </p:nvPicPr>
          <p:blipFill rotWithShape="1">
            <a:blip r:embed="rId4">
              <a:alphaModFix/>
            </a:blip>
            <a:srcRect b="43690" l="0" r="57905" t="0"/>
            <a:stretch/>
          </p:blipFill>
          <p:spPr>
            <a:xfrm flipH="1">
              <a:off x="880227" y="2588750"/>
              <a:ext cx="2551173" cy="1191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26" name="Google Shape;2126;p148"/>
            <p:cNvSpPr/>
            <p:nvPr/>
          </p:nvSpPr>
          <p:spPr>
            <a:xfrm>
              <a:off x="1070727" y="2687400"/>
              <a:ext cx="2343300" cy="84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This is not a </a:t>
              </a:r>
              <a:r>
                <a:rPr lang="en-GB" sz="1800">
                  <a:solidFill>
                    <a:schemeClr val="accent5"/>
                  </a:solidFill>
                  <a:latin typeface="Lexend"/>
                  <a:ea typeface="Lexend"/>
                  <a:cs typeface="Lexend"/>
                  <a:sym typeface="Lexend"/>
                </a:rPr>
                <a:t>geometric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sequence either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127" name="Google Shape;2127;p148"/>
            <p:cNvSpPr txBox="1"/>
            <p:nvPr/>
          </p:nvSpPr>
          <p:spPr>
            <a:xfrm>
              <a:off x="337149" y="3870598"/>
              <a:ext cx="799500" cy="3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Sofia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28" name="Google Shape;2128;p14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flipH="1">
              <a:off x="468800" y="3361799"/>
              <a:ext cx="458654" cy="5088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9" name="Google Shape;2129;p148"/>
          <p:cNvSpPr txBox="1"/>
          <p:nvPr>
            <p:ph idx="1" type="body"/>
          </p:nvPr>
        </p:nvSpPr>
        <p:spPr>
          <a:xfrm>
            <a:off x="3691500" y="3240450"/>
            <a:ext cx="51306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6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÷ 3 = 2</a:t>
            </a:r>
            <a:endParaRPr sz="1800"/>
          </a:p>
        </p:txBody>
      </p:sp>
      <p:sp>
        <p:nvSpPr>
          <p:cNvPr id="2130" name="Google Shape;2130;p148"/>
          <p:cNvSpPr txBox="1"/>
          <p:nvPr>
            <p:ph idx="1" type="body"/>
          </p:nvPr>
        </p:nvSpPr>
        <p:spPr>
          <a:xfrm>
            <a:off x="3689275" y="3687450"/>
            <a:ext cx="5130600" cy="33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10</a:t>
            </a:r>
            <a:r>
              <a:rPr lang="en-GB" sz="1800"/>
              <a:t> </a:t>
            </a:r>
            <a:r>
              <a:rPr lang="en-GB" sz="1800">
                <a:solidFill>
                  <a:srgbClr val="222222"/>
                </a:solidFill>
              </a:rPr>
              <a:t>÷ 6 =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\frac{5}{3}&quot;&gt;&lt;mfrac&gt;&lt;mn&gt;5&lt;/mn&gt;&lt;mn&gt;3&lt;/mn&gt;&lt;/mfrac&gt;&lt;/math&gt;" id="2131" name="Google Shape;2131;p148" title="five third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607800" y="3599250"/>
            <a:ext cx="158287" cy="508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32" name="Google Shape;2132;p148"/>
          <p:cNvGrpSpPr/>
          <p:nvPr/>
        </p:nvGrpSpPr>
        <p:grpSpPr>
          <a:xfrm>
            <a:off x="1226838" y="1601999"/>
            <a:ext cx="537112" cy="640051"/>
            <a:chOff x="1226838" y="1601999"/>
            <a:chExt cx="537112" cy="640051"/>
          </a:xfrm>
        </p:grpSpPr>
        <p:sp>
          <p:nvSpPr>
            <p:cNvPr id="2133" name="Google Shape;2133;p148"/>
            <p:cNvSpPr/>
            <p:nvPr/>
          </p:nvSpPr>
          <p:spPr>
            <a:xfrm>
              <a:off x="1226838" y="1840795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1900">
                  <a:solidFill>
                    <a:srgbClr val="222222"/>
                  </a:solidFill>
                  <a:latin typeface="Lexend"/>
                  <a:ea typeface="Lexend"/>
                  <a:cs typeface="Lexend"/>
                  <a:sym typeface="Lexend"/>
                </a:rPr>
                <a:t>×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134" name="Google Shape;2134;p148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1238400" y="1601999"/>
              <a:ext cx="521300" cy="2228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5}{3}&quot;&gt;&lt;mfrac&gt;&lt;mn&gt;5&lt;/mn&gt;&lt;mn&gt;3&lt;/mn&gt;&lt;/mfrac&gt;&lt;/math&gt;" id="2135" name="Google Shape;2135;p148" title="five thirds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605662" y="1733250"/>
              <a:ext cx="158287" cy="508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36" name="Google Shape;2136;p148"/>
          <p:cNvSpPr txBox="1"/>
          <p:nvPr>
            <p:ph idx="1" type="body"/>
          </p:nvPr>
        </p:nvSpPr>
        <p:spPr>
          <a:xfrm>
            <a:off x="3641100" y="4167500"/>
            <a:ext cx="5181000" cy="3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Consecutive</a:t>
            </a:r>
            <a:r>
              <a:rPr lang="en-GB" sz="1800"/>
              <a:t> terms do not </a:t>
            </a:r>
            <a:r>
              <a:rPr lang="en-GB" sz="1800"/>
              <a:t>have</a:t>
            </a:r>
            <a:r>
              <a:rPr lang="en-GB" sz="1800"/>
              <a:t> a common </a:t>
            </a:r>
            <a:r>
              <a:rPr lang="en-GB" sz="1800"/>
              <a:t>multiplier</a:t>
            </a:r>
            <a:r>
              <a:rPr lang="en-GB" sz="1800"/>
              <a:t>, known as a common ratio.</a:t>
            </a:r>
            <a:r>
              <a:rPr lang="en-GB" sz="1800"/>
              <a:t>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0" name="Shape 2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1" name="Google Shape;2141;p1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142" name="Google Shape;2142;p149"/>
          <p:cNvSpPr txBox="1"/>
          <p:nvPr>
            <p:ph idx="1" type="body"/>
          </p:nvPr>
        </p:nvSpPr>
        <p:spPr>
          <a:xfrm>
            <a:off x="324000" y="83550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the first six </a:t>
            </a:r>
            <a:r>
              <a:rPr b="1" lang="en-GB" sz="1800"/>
              <a:t>triangular numbers</a:t>
            </a:r>
            <a:endParaRPr b="1"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1,    3,    6,   10,   15,  21, …</a:t>
            </a:r>
            <a:endParaRPr sz="1800"/>
          </a:p>
        </p:txBody>
      </p:sp>
      <p:sp>
        <p:nvSpPr>
          <p:cNvPr id="2143" name="Google Shape;2143;p149"/>
          <p:cNvSpPr txBox="1"/>
          <p:nvPr>
            <p:ph idx="1" type="body"/>
          </p:nvPr>
        </p:nvSpPr>
        <p:spPr>
          <a:xfrm>
            <a:off x="324000" y="234795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how the sequence grows? Can you describe its term-to-term rule?</a:t>
            </a:r>
            <a:endParaRPr sz="1800"/>
          </a:p>
        </p:txBody>
      </p:sp>
      <p:sp>
        <p:nvSpPr>
          <p:cNvPr id="2144" name="Google Shape;2144;p149"/>
          <p:cNvSpPr txBox="1"/>
          <p:nvPr>
            <p:ph idx="1" type="body"/>
          </p:nvPr>
        </p:nvSpPr>
        <p:spPr>
          <a:xfrm>
            <a:off x="2625700" y="3240000"/>
            <a:ext cx="61944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one way to visualise the sequence growing, each term adds one more than was previously added. </a:t>
            </a:r>
            <a:endParaRPr sz="1800"/>
          </a:p>
        </p:txBody>
      </p:sp>
      <p:sp>
        <p:nvSpPr>
          <p:cNvPr id="2145" name="Google Shape;2145;p149"/>
          <p:cNvSpPr txBox="1"/>
          <p:nvPr>
            <p:ph idx="1" type="body"/>
          </p:nvPr>
        </p:nvSpPr>
        <p:spPr>
          <a:xfrm>
            <a:off x="324000" y="1738350"/>
            <a:ext cx="8237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sequence is not arithmetic or geometric.</a:t>
            </a:r>
            <a:endParaRPr sz="1800"/>
          </a:p>
        </p:txBody>
      </p:sp>
      <p:pic>
        <p:nvPicPr>
          <p:cNvPr id="2146" name="Google Shape;2146;p1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266850"/>
            <a:ext cx="2086130" cy="17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" name="Google Shape;2151;p15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graphicFrame>
        <p:nvGraphicFramePr>
          <p:cNvPr id="2152" name="Google Shape;2152;p150"/>
          <p:cNvGraphicFramePr/>
          <p:nvPr/>
        </p:nvGraphicFramePr>
        <p:xfrm>
          <a:off x="323999" y="775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153" name="Google Shape;2153;p150"/>
          <p:cNvGrpSpPr/>
          <p:nvPr/>
        </p:nvGrpSpPr>
        <p:grpSpPr>
          <a:xfrm>
            <a:off x="2478625" y="1513999"/>
            <a:ext cx="687700" cy="539601"/>
            <a:chOff x="2478625" y="1513999"/>
            <a:chExt cx="687700" cy="539601"/>
          </a:xfrm>
        </p:grpSpPr>
        <p:pic>
          <p:nvPicPr>
            <p:cNvPr id="2154" name="Google Shape;2154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4786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5" name="Google Shape;2155;p150"/>
            <p:cNvSpPr/>
            <p:nvPr/>
          </p:nvSpPr>
          <p:spPr>
            <a:xfrm>
              <a:off x="2530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+2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6" name="Google Shape;2156;p150"/>
          <p:cNvGrpSpPr/>
          <p:nvPr/>
        </p:nvGrpSpPr>
        <p:grpSpPr>
          <a:xfrm>
            <a:off x="3088225" y="1513999"/>
            <a:ext cx="687700" cy="539601"/>
            <a:chOff x="3088225" y="1513999"/>
            <a:chExt cx="687700" cy="539601"/>
          </a:xfrm>
        </p:grpSpPr>
        <p:pic>
          <p:nvPicPr>
            <p:cNvPr id="2157" name="Google Shape;2157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0882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8" name="Google Shape;2158;p150"/>
            <p:cNvSpPr/>
            <p:nvPr/>
          </p:nvSpPr>
          <p:spPr>
            <a:xfrm>
              <a:off x="3165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59" name="Google Shape;2159;p150"/>
          <p:cNvGrpSpPr/>
          <p:nvPr/>
        </p:nvGrpSpPr>
        <p:grpSpPr>
          <a:xfrm>
            <a:off x="3697825" y="1513999"/>
            <a:ext cx="687700" cy="539601"/>
            <a:chOff x="3697825" y="1513999"/>
            <a:chExt cx="687700" cy="539601"/>
          </a:xfrm>
        </p:grpSpPr>
        <p:pic>
          <p:nvPicPr>
            <p:cNvPr id="2160" name="Google Shape;2160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6978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1" name="Google Shape;2161;p150"/>
            <p:cNvSpPr/>
            <p:nvPr/>
          </p:nvSpPr>
          <p:spPr>
            <a:xfrm>
              <a:off x="3800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2" name="Google Shape;2162;p150"/>
          <p:cNvGrpSpPr/>
          <p:nvPr/>
        </p:nvGrpSpPr>
        <p:grpSpPr>
          <a:xfrm>
            <a:off x="4307425" y="1513999"/>
            <a:ext cx="687700" cy="539601"/>
            <a:chOff x="4307425" y="1513999"/>
            <a:chExt cx="687700" cy="539601"/>
          </a:xfrm>
        </p:grpSpPr>
        <p:pic>
          <p:nvPicPr>
            <p:cNvPr id="2163" name="Google Shape;2163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3074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4" name="Google Shape;2164;p150"/>
            <p:cNvSpPr/>
            <p:nvPr/>
          </p:nvSpPr>
          <p:spPr>
            <a:xfrm>
              <a:off x="4435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65" name="Google Shape;2165;p150"/>
          <p:cNvSpPr txBox="1"/>
          <p:nvPr>
            <p:ph idx="1" type="body"/>
          </p:nvPr>
        </p:nvSpPr>
        <p:spPr>
          <a:xfrm>
            <a:off x="324000" y="286595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sequence starts on 1 then is adding 2, then 3, then 4,... each time the amount being added increases by 1 </a:t>
            </a:r>
            <a:endParaRPr sz="1800"/>
          </a:p>
        </p:txBody>
      </p:sp>
      <p:grpSp>
        <p:nvGrpSpPr>
          <p:cNvPr id="2166" name="Google Shape;2166;p150"/>
          <p:cNvGrpSpPr/>
          <p:nvPr/>
        </p:nvGrpSpPr>
        <p:grpSpPr>
          <a:xfrm>
            <a:off x="2787000" y="2069699"/>
            <a:ext cx="687700" cy="539601"/>
            <a:chOff x="2787000" y="2069699"/>
            <a:chExt cx="687700" cy="539601"/>
          </a:xfrm>
        </p:grpSpPr>
        <p:pic>
          <p:nvPicPr>
            <p:cNvPr id="2167" name="Google Shape;2167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7870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68" name="Google Shape;2168;p150"/>
            <p:cNvSpPr/>
            <p:nvPr/>
          </p:nvSpPr>
          <p:spPr>
            <a:xfrm>
              <a:off x="2839288" y="23156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69" name="Google Shape;2169;p150"/>
          <p:cNvGrpSpPr/>
          <p:nvPr/>
        </p:nvGrpSpPr>
        <p:grpSpPr>
          <a:xfrm>
            <a:off x="3434700" y="2069699"/>
            <a:ext cx="687700" cy="539601"/>
            <a:chOff x="3434700" y="2069699"/>
            <a:chExt cx="687700" cy="539601"/>
          </a:xfrm>
        </p:grpSpPr>
        <p:pic>
          <p:nvPicPr>
            <p:cNvPr id="2170" name="Google Shape;2170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4347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1" name="Google Shape;2171;p150"/>
            <p:cNvSpPr/>
            <p:nvPr/>
          </p:nvSpPr>
          <p:spPr>
            <a:xfrm>
              <a:off x="3486988" y="23156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172" name="Google Shape;2172;p150"/>
          <p:cNvGrpSpPr/>
          <p:nvPr/>
        </p:nvGrpSpPr>
        <p:grpSpPr>
          <a:xfrm>
            <a:off x="4082400" y="2069699"/>
            <a:ext cx="687700" cy="539601"/>
            <a:chOff x="4082400" y="2069699"/>
            <a:chExt cx="687700" cy="539601"/>
          </a:xfrm>
        </p:grpSpPr>
        <p:pic>
          <p:nvPicPr>
            <p:cNvPr id="2173" name="Google Shape;2173;p150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0824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4" name="Google Shape;2174;p150"/>
            <p:cNvSpPr/>
            <p:nvPr/>
          </p:nvSpPr>
          <p:spPr>
            <a:xfrm>
              <a:off x="4134688" y="23156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175" name="Google Shape;2175;p150"/>
          <p:cNvSpPr txBox="1"/>
          <p:nvPr>
            <p:ph idx="1" type="body"/>
          </p:nvPr>
        </p:nvSpPr>
        <p:spPr>
          <a:xfrm>
            <a:off x="324000" y="3627950"/>
            <a:ext cx="84960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differences between consecutive terms form a linear sequence increasing by 1. </a:t>
            </a:r>
            <a:endParaRPr sz="1800"/>
          </a:p>
        </p:txBody>
      </p:sp>
      <p:sp>
        <p:nvSpPr>
          <p:cNvPr id="2176" name="Google Shape;2176;p150"/>
          <p:cNvSpPr txBox="1"/>
          <p:nvPr>
            <p:ph idx="1" type="body"/>
          </p:nvPr>
        </p:nvSpPr>
        <p:spPr>
          <a:xfrm>
            <a:off x="324000" y="4389950"/>
            <a:ext cx="8496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say that there is a </a:t>
            </a:r>
            <a:r>
              <a:rPr lang="en-GB" sz="1800">
                <a:solidFill>
                  <a:schemeClr val="accent5"/>
                </a:solidFill>
              </a:rPr>
              <a:t>common </a:t>
            </a:r>
            <a:r>
              <a:rPr lang="en-GB" sz="1800">
                <a:solidFill>
                  <a:schemeClr val="accent5"/>
                </a:solidFill>
              </a:rPr>
              <a:t>second</a:t>
            </a:r>
            <a:r>
              <a:rPr lang="en-GB" sz="1800">
                <a:solidFill>
                  <a:schemeClr val="accent5"/>
                </a:solidFill>
              </a:rPr>
              <a:t> difference</a:t>
            </a:r>
            <a:r>
              <a:rPr lang="en-GB" sz="1800"/>
              <a:t> of 1.</a:t>
            </a:r>
            <a:r>
              <a:rPr lang="en-GB" sz="1800"/>
              <a:t> </a:t>
            </a:r>
            <a:endParaRPr sz="1800"/>
          </a:p>
        </p:txBody>
      </p:sp>
      <p:cxnSp>
        <p:nvCxnSpPr>
          <p:cNvPr id="2177" name="Google Shape;2177;p150"/>
          <p:cNvCxnSpPr/>
          <p:nvPr/>
        </p:nvCxnSpPr>
        <p:spPr>
          <a:xfrm flipH="1">
            <a:off x="5071725" y="1905525"/>
            <a:ext cx="1504500" cy="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78" name="Google Shape;2178;p150"/>
          <p:cNvCxnSpPr/>
          <p:nvPr/>
        </p:nvCxnSpPr>
        <p:spPr>
          <a:xfrm flipH="1">
            <a:off x="5071725" y="2438925"/>
            <a:ext cx="1504500" cy="30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79" name="Google Shape;2179;p150"/>
          <p:cNvSpPr/>
          <p:nvPr/>
        </p:nvSpPr>
        <p:spPr>
          <a:xfrm>
            <a:off x="6687318" y="1759900"/>
            <a:ext cx="219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first difference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0" name="Google Shape;2180;p150"/>
          <p:cNvSpPr/>
          <p:nvPr/>
        </p:nvSpPr>
        <p:spPr>
          <a:xfrm>
            <a:off x="6687318" y="2293300"/>
            <a:ext cx="21957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second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difference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4" name="Shape 2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5" name="Google Shape;2185;p15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graphicFrame>
        <p:nvGraphicFramePr>
          <p:cNvPr id="2186" name="Google Shape;2186;p151"/>
          <p:cNvGraphicFramePr/>
          <p:nvPr/>
        </p:nvGraphicFramePr>
        <p:xfrm>
          <a:off x="323999" y="775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10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187" name="Google Shape;2187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478625" y="1513999"/>
            <a:ext cx="687700" cy="22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8" name="Google Shape;2188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088225" y="1513999"/>
            <a:ext cx="687700" cy="22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9" name="Google Shape;2189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697825" y="1513999"/>
            <a:ext cx="687700" cy="222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0" name="Google Shape;2190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4307425" y="1513999"/>
            <a:ext cx="687700" cy="22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1" name="Google Shape;2191;p151"/>
          <p:cNvSpPr/>
          <p:nvPr/>
        </p:nvSpPr>
        <p:spPr>
          <a:xfrm>
            <a:off x="2530913" y="17599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+2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2" name="Google Shape;2192;p151"/>
          <p:cNvSpPr/>
          <p:nvPr/>
        </p:nvSpPr>
        <p:spPr>
          <a:xfrm>
            <a:off x="3165913" y="17599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+3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3" name="Google Shape;2193;p151"/>
          <p:cNvSpPr/>
          <p:nvPr/>
        </p:nvSpPr>
        <p:spPr>
          <a:xfrm>
            <a:off x="3800913" y="17599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+4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4" name="Google Shape;2194;p151"/>
          <p:cNvSpPr/>
          <p:nvPr/>
        </p:nvSpPr>
        <p:spPr>
          <a:xfrm>
            <a:off x="4435913" y="17599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+5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5" name="Google Shape;2195;p151"/>
          <p:cNvSpPr txBox="1"/>
          <p:nvPr>
            <p:ph idx="1" type="body"/>
          </p:nvPr>
        </p:nvSpPr>
        <p:spPr>
          <a:xfrm>
            <a:off x="324000" y="2637350"/>
            <a:ext cx="84960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To get the next number in the sequence we need to add 1 to the previous difference.</a:t>
            </a:r>
            <a:endParaRPr sz="1800"/>
          </a:p>
        </p:txBody>
      </p:sp>
      <p:pic>
        <p:nvPicPr>
          <p:cNvPr id="2196" name="Google Shape;2196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2787000" y="2069699"/>
            <a:ext cx="687700" cy="22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7" name="Google Shape;2197;p151"/>
          <p:cNvSpPr/>
          <p:nvPr/>
        </p:nvSpPr>
        <p:spPr>
          <a:xfrm>
            <a:off x="2839288" y="23156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98" name="Google Shape;2198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3434700" y="2069699"/>
            <a:ext cx="687700" cy="22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199" name="Google Shape;2199;p151"/>
          <p:cNvSpPr/>
          <p:nvPr/>
        </p:nvSpPr>
        <p:spPr>
          <a:xfrm>
            <a:off x="3486988" y="23156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00" name="Google Shape;2200;p151"/>
          <p:cNvPicPr preferRelativeResize="0"/>
          <p:nvPr/>
        </p:nvPicPr>
        <p:blipFill rotWithShape="1">
          <a:blip r:embed="rId3">
            <a:alphaModFix/>
          </a:blip>
          <a:srcRect b="59597" l="61559" r="13951" t="27330"/>
          <a:stretch/>
        </p:blipFill>
        <p:spPr>
          <a:xfrm flipH="1" rot="10800000">
            <a:off x="4082400" y="2069699"/>
            <a:ext cx="687700" cy="222851"/>
          </a:xfrm>
          <a:prstGeom prst="rect">
            <a:avLst/>
          </a:prstGeom>
          <a:noFill/>
          <a:ln>
            <a:noFill/>
          </a:ln>
        </p:spPr>
      </p:pic>
      <p:sp>
        <p:nvSpPr>
          <p:cNvPr id="2201" name="Google Shape;2201;p151"/>
          <p:cNvSpPr/>
          <p:nvPr/>
        </p:nvSpPr>
        <p:spPr>
          <a:xfrm>
            <a:off x="4134688" y="2315600"/>
            <a:ext cx="495000" cy="2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+1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2" name="Google Shape;2202;p151"/>
          <p:cNvSpPr txBox="1"/>
          <p:nvPr>
            <p:ph idx="1" type="body"/>
          </p:nvPr>
        </p:nvSpPr>
        <p:spPr>
          <a:xfrm>
            <a:off x="324000" y="3327650"/>
            <a:ext cx="8496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the next term will be found by adding 6 </a:t>
            </a:r>
            <a:endParaRPr sz="1800"/>
          </a:p>
        </p:txBody>
      </p:sp>
      <p:grpSp>
        <p:nvGrpSpPr>
          <p:cNvPr id="2203" name="Google Shape;2203;p151"/>
          <p:cNvGrpSpPr/>
          <p:nvPr/>
        </p:nvGrpSpPr>
        <p:grpSpPr>
          <a:xfrm>
            <a:off x="4692000" y="2069699"/>
            <a:ext cx="687700" cy="539601"/>
            <a:chOff x="4692000" y="2069699"/>
            <a:chExt cx="687700" cy="539601"/>
          </a:xfrm>
        </p:grpSpPr>
        <p:pic>
          <p:nvPicPr>
            <p:cNvPr id="2204" name="Google Shape;2204;p151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692000" y="20696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05" name="Google Shape;2205;p151"/>
            <p:cNvSpPr/>
            <p:nvPr/>
          </p:nvSpPr>
          <p:spPr>
            <a:xfrm>
              <a:off x="4744288" y="23156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+1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aphicFrame>
        <p:nvGraphicFramePr>
          <p:cNvPr id="2206" name="Google Shape;2206;p151"/>
          <p:cNvGraphicFramePr/>
          <p:nvPr/>
        </p:nvGraphicFramePr>
        <p:xfrm>
          <a:off x="5175474" y="77499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6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07" name="Google Shape;2207;p151"/>
          <p:cNvGrpSpPr/>
          <p:nvPr/>
        </p:nvGrpSpPr>
        <p:grpSpPr>
          <a:xfrm>
            <a:off x="4917025" y="1510524"/>
            <a:ext cx="687700" cy="539601"/>
            <a:chOff x="4917025" y="1513999"/>
            <a:chExt cx="687700" cy="539601"/>
          </a:xfrm>
        </p:grpSpPr>
        <p:sp>
          <p:nvSpPr>
            <p:cNvPr id="2208" name="Google Shape;2208;p151"/>
            <p:cNvSpPr/>
            <p:nvPr/>
          </p:nvSpPr>
          <p:spPr>
            <a:xfrm>
              <a:off x="50455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+6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09" name="Google Shape;2209;p151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9170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210" name="Google Shape;2210;p151"/>
          <p:cNvSpPr txBox="1"/>
          <p:nvPr>
            <p:ph idx="1" type="body"/>
          </p:nvPr>
        </p:nvSpPr>
        <p:spPr>
          <a:xfrm>
            <a:off x="324000" y="3708650"/>
            <a:ext cx="8496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the 20</a:t>
            </a:r>
            <a:r>
              <a:rPr baseline="30000" lang="en-GB" sz="1800"/>
              <a:t>th</a:t>
            </a:r>
            <a:r>
              <a:rPr lang="en-GB" sz="1800"/>
              <a:t> term is 210, what is the 21</a:t>
            </a:r>
            <a:r>
              <a:rPr baseline="30000" lang="en-GB" sz="1800"/>
              <a:t>st</a:t>
            </a:r>
            <a:r>
              <a:rPr lang="en-GB" sz="1800"/>
              <a:t> term? </a:t>
            </a:r>
            <a:r>
              <a:rPr lang="en-GB" sz="1800"/>
              <a:t> </a:t>
            </a:r>
            <a:endParaRPr sz="1800"/>
          </a:p>
        </p:txBody>
      </p:sp>
      <p:grpSp>
        <p:nvGrpSpPr>
          <p:cNvPr id="2211" name="Google Shape;2211;p151"/>
          <p:cNvGrpSpPr/>
          <p:nvPr/>
        </p:nvGrpSpPr>
        <p:grpSpPr>
          <a:xfrm>
            <a:off x="2600400" y="810000"/>
            <a:ext cx="717800" cy="1245950"/>
            <a:chOff x="2600400" y="810000"/>
            <a:chExt cx="717800" cy="1245950"/>
          </a:xfrm>
        </p:grpSpPr>
        <p:sp>
          <p:nvSpPr>
            <p:cNvPr id="2212" name="Google Shape;2212;p151"/>
            <p:cNvSpPr/>
            <p:nvPr/>
          </p:nvSpPr>
          <p:spPr>
            <a:xfrm>
              <a:off x="2600400" y="1762250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3" name="Google Shape;2213;p151"/>
            <p:cNvSpPr/>
            <p:nvPr/>
          </p:nvSpPr>
          <p:spPr>
            <a:xfrm>
              <a:off x="2943500" y="810000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4" name="Google Shape;2214;p151"/>
          <p:cNvGrpSpPr/>
          <p:nvPr/>
        </p:nvGrpSpPr>
        <p:grpSpPr>
          <a:xfrm>
            <a:off x="3241136" y="810000"/>
            <a:ext cx="672336" cy="1255645"/>
            <a:chOff x="3241136" y="810000"/>
            <a:chExt cx="672336" cy="1255645"/>
          </a:xfrm>
        </p:grpSpPr>
        <p:sp>
          <p:nvSpPr>
            <p:cNvPr id="2215" name="Google Shape;2215;p151"/>
            <p:cNvSpPr/>
            <p:nvPr/>
          </p:nvSpPr>
          <p:spPr>
            <a:xfrm>
              <a:off x="3241136" y="1771945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6" name="Google Shape;2216;p151"/>
            <p:cNvSpPr/>
            <p:nvPr/>
          </p:nvSpPr>
          <p:spPr>
            <a:xfrm>
              <a:off x="3538773" y="810000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17" name="Google Shape;2217;p151"/>
          <p:cNvGrpSpPr/>
          <p:nvPr/>
        </p:nvGrpSpPr>
        <p:grpSpPr>
          <a:xfrm>
            <a:off x="3857900" y="810000"/>
            <a:ext cx="631955" cy="1255645"/>
            <a:chOff x="3857900" y="810000"/>
            <a:chExt cx="631955" cy="1255645"/>
          </a:xfrm>
        </p:grpSpPr>
        <p:sp>
          <p:nvSpPr>
            <p:cNvPr id="2218" name="Google Shape;2218;p151"/>
            <p:cNvSpPr/>
            <p:nvPr/>
          </p:nvSpPr>
          <p:spPr>
            <a:xfrm>
              <a:off x="3857900" y="1771945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19" name="Google Shape;2219;p151"/>
            <p:cNvSpPr/>
            <p:nvPr/>
          </p:nvSpPr>
          <p:spPr>
            <a:xfrm>
              <a:off x="4115155" y="810000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20" name="Google Shape;2220;p151"/>
          <p:cNvGrpSpPr/>
          <p:nvPr/>
        </p:nvGrpSpPr>
        <p:grpSpPr>
          <a:xfrm>
            <a:off x="4496155" y="810000"/>
            <a:ext cx="577246" cy="1255645"/>
            <a:chOff x="4496155" y="810000"/>
            <a:chExt cx="577246" cy="1255645"/>
          </a:xfrm>
        </p:grpSpPr>
        <p:sp>
          <p:nvSpPr>
            <p:cNvPr id="2221" name="Google Shape;2221;p151"/>
            <p:cNvSpPr/>
            <p:nvPr/>
          </p:nvSpPr>
          <p:spPr>
            <a:xfrm>
              <a:off x="4496155" y="1771945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222" name="Google Shape;2222;p151"/>
            <p:cNvSpPr/>
            <p:nvPr/>
          </p:nvSpPr>
          <p:spPr>
            <a:xfrm>
              <a:off x="4698700" y="810000"/>
              <a:ext cx="374700" cy="293700"/>
            </a:xfrm>
            <a:prstGeom prst="roundRect">
              <a:avLst>
                <a:gd fmla="val 16667" name="adj"/>
              </a:avLst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23" name="Google Shape;2223;p151"/>
          <p:cNvSpPr txBox="1"/>
          <p:nvPr>
            <p:ph idx="1" type="body"/>
          </p:nvPr>
        </p:nvSpPr>
        <p:spPr>
          <a:xfrm>
            <a:off x="324000" y="4069350"/>
            <a:ext cx="8496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value being added to to the previous term is always the term number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224" name="Google Shape;2224;p151"/>
          <p:cNvSpPr txBox="1"/>
          <p:nvPr>
            <p:ph idx="1" type="body"/>
          </p:nvPr>
        </p:nvSpPr>
        <p:spPr>
          <a:xfrm>
            <a:off x="324000" y="4450350"/>
            <a:ext cx="8496000" cy="34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210 + 21 = 231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8" name="Shape 2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9" name="Google Shape;2229;p15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230" name="Google Shape;2230;p152"/>
          <p:cNvSpPr txBox="1"/>
          <p:nvPr>
            <p:ph idx="1" type="body"/>
          </p:nvPr>
        </p:nvSpPr>
        <p:spPr>
          <a:xfrm>
            <a:off x="324000" y="83550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Here are the first six square numbers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1,    4,    9,    16,    25,    36, …</a:t>
            </a:r>
            <a:endParaRPr sz="1800"/>
          </a:p>
        </p:txBody>
      </p:sp>
      <p:sp>
        <p:nvSpPr>
          <p:cNvPr id="2231" name="Google Shape;2231;p152"/>
          <p:cNvSpPr txBox="1"/>
          <p:nvPr>
            <p:ph idx="1" type="body"/>
          </p:nvPr>
        </p:nvSpPr>
        <p:spPr>
          <a:xfrm>
            <a:off x="324000" y="181350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do you notice about how the sequence grows? Can you describe its term-to-term rule?</a:t>
            </a:r>
            <a:endParaRPr sz="1800"/>
          </a:p>
        </p:txBody>
      </p:sp>
      <p:sp>
        <p:nvSpPr>
          <p:cNvPr id="2232" name="Google Shape;2232;p152"/>
          <p:cNvSpPr txBox="1"/>
          <p:nvPr>
            <p:ph idx="1" type="body"/>
          </p:nvPr>
        </p:nvSpPr>
        <p:spPr>
          <a:xfrm>
            <a:off x="2887200" y="2700000"/>
            <a:ext cx="5932800" cy="9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This is one way to visualise the sequence growing, the sequence is increasing in the odd numbers.  </a:t>
            </a:r>
            <a:endParaRPr sz="1800"/>
          </a:p>
        </p:txBody>
      </p:sp>
      <p:pic>
        <p:nvPicPr>
          <p:cNvPr id="2233" name="Google Shape;2233;p1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300" y="2645575"/>
            <a:ext cx="2502275" cy="206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5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graphicFrame>
        <p:nvGraphicFramePr>
          <p:cNvPr id="2239" name="Google Shape;2239;p153"/>
          <p:cNvGraphicFramePr/>
          <p:nvPr/>
        </p:nvGraphicFramePr>
        <p:xfrm>
          <a:off x="323999" y="7752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1945225"/>
                <a:gridCol w="581250"/>
                <a:gridCol w="581250"/>
                <a:gridCol w="581250"/>
                <a:gridCol w="581250"/>
                <a:gridCol w="581250"/>
              </a:tblGrid>
              <a:tr h="364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number (</a:t>
                      </a:r>
                      <a:r>
                        <a:rPr i="1" lang="en-GB" sz="2000">
                          <a:solidFill>
                            <a:srgbClr val="000000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3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0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Term (</a:t>
                      </a:r>
                      <a:r>
                        <a:rPr lang="en-GB" sz="2000">
                          <a:latin typeface="Times"/>
                          <a:ea typeface="Times"/>
                          <a:cs typeface="Times"/>
                          <a:sym typeface="Times"/>
                        </a:rPr>
                        <a:t>T</a:t>
                      </a: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4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9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16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Times"/>
                          <a:ea typeface="Times"/>
                          <a:cs typeface="Times"/>
                          <a:sym typeface="Times"/>
                        </a:rPr>
                        <a:t>25</a:t>
                      </a:r>
                      <a:endParaRPr sz="2200">
                        <a:latin typeface="Times"/>
                        <a:ea typeface="Times"/>
                        <a:cs typeface="Times"/>
                        <a:sym typeface="Times"/>
                      </a:endParaRPr>
                    </a:p>
                  </a:txBody>
                  <a:tcPr marT="0" marB="0" marR="0" marL="0" anchor="ctr">
                    <a:lnL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2240" name="Google Shape;2240;p153"/>
          <p:cNvGrpSpPr/>
          <p:nvPr/>
        </p:nvGrpSpPr>
        <p:grpSpPr>
          <a:xfrm>
            <a:off x="2478625" y="1513999"/>
            <a:ext cx="687700" cy="539601"/>
            <a:chOff x="2478625" y="1513999"/>
            <a:chExt cx="687700" cy="539601"/>
          </a:xfrm>
        </p:grpSpPr>
        <p:pic>
          <p:nvPicPr>
            <p:cNvPr id="2241" name="Google Shape;2241;p15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24786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2" name="Google Shape;2242;p153"/>
            <p:cNvSpPr/>
            <p:nvPr/>
          </p:nvSpPr>
          <p:spPr>
            <a:xfrm>
              <a:off x="2530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+3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3" name="Google Shape;2243;p153"/>
          <p:cNvGrpSpPr/>
          <p:nvPr/>
        </p:nvGrpSpPr>
        <p:grpSpPr>
          <a:xfrm>
            <a:off x="3069575" y="1513999"/>
            <a:ext cx="687700" cy="539601"/>
            <a:chOff x="3069575" y="1513999"/>
            <a:chExt cx="687700" cy="539601"/>
          </a:xfrm>
        </p:grpSpPr>
        <p:pic>
          <p:nvPicPr>
            <p:cNvPr id="2244" name="Google Shape;2244;p15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06957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5" name="Google Shape;2245;p153"/>
            <p:cNvSpPr/>
            <p:nvPr/>
          </p:nvSpPr>
          <p:spPr>
            <a:xfrm>
              <a:off x="3165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+5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6" name="Google Shape;2246;p153"/>
          <p:cNvGrpSpPr/>
          <p:nvPr/>
        </p:nvGrpSpPr>
        <p:grpSpPr>
          <a:xfrm>
            <a:off x="3697825" y="1513999"/>
            <a:ext cx="687700" cy="539601"/>
            <a:chOff x="3697825" y="1513999"/>
            <a:chExt cx="687700" cy="539601"/>
          </a:xfrm>
        </p:grpSpPr>
        <p:pic>
          <p:nvPicPr>
            <p:cNvPr id="2247" name="Google Shape;2247;p15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36978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48" name="Google Shape;2248;p153"/>
            <p:cNvSpPr/>
            <p:nvPr/>
          </p:nvSpPr>
          <p:spPr>
            <a:xfrm>
              <a:off x="3800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+7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49" name="Google Shape;2249;p153"/>
          <p:cNvGrpSpPr/>
          <p:nvPr/>
        </p:nvGrpSpPr>
        <p:grpSpPr>
          <a:xfrm>
            <a:off x="4307425" y="1513999"/>
            <a:ext cx="687700" cy="539601"/>
            <a:chOff x="4307425" y="1513999"/>
            <a:chExt cx="687700" cy="539601"/>
          </a:xfrm>
        </p:grpSpPr>
        <p:pic>
          <p:nvPicPr>
            <p:cNvPr id="2250" name="Google Shape;2250;p153"/>
            <p:cNvPicPr preferRelativeResize="0"/>
            <p:nvPr/>
          </p:nvPicPr>
          <p:blipFill rotWithShape="1">
            <a:blip r:embed="rId3">
              <a:alphaModFix/>
            </a:blip>
            <a:srcRect b="59597" l="61559" r="13951" t="27330"/>
            <a:stretch/>
          </p:blipFill>
          <p:spPr>
            <a:xfrm flipH="1" rot="10800000">
              <a:off x="4307425" y="15139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51" name="Google Shape;2251;p153"/>
            <p:cNvSpPr/>
            <p:nvPr/>
          </p:nvSpPr>
          <p:spPr>
            <a:xfrm>
              <a:off x="4435913" y="1759900"/>
              <a:ext cx="4950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+9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2252" name="Google Shape;2252;p153"/>
          <p:cNvSpPr txBox="1"/>
          <p:nvPr>
            <p:ph idx="1" type="body"/>
          </p:nvPr>
        </p:nvSpPr>
        <p:spPr>
          <a:xfrm>
            <a:off x="324000" y="2942150"/>
            <a:ext cx="82377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The sequence starts on 1 then is adding 3, then 5, then 7,... each time the amount being added increases by 2</a:t>
            </a:r>
            <a:endParaRPr sz="1800"/>
          </a:p>
        </p:txBody>
      </p:sp>
      <p:grpSp>
        <p:nvGrpSpPr>
          <p:cNvPr id="2253" name="Google Shape;2253;p153"/>
          <p:cNvGrpSpPr/>
          <p:nvPr/>
        </p:nvGrpSpPr>
        <p:grpSpPr>
          <a:xfrm>
            <a:off x="2787000" y="2069699"/>
            <a:ext cx="1983100" cy="539601"/>
            <a:chOff x="2787000" y="2069699"/>
            <a:chExt cx="1983100" cy="539601"/>
          </a:xfrm>
        </p:grpSpPr>
        <p:grpSp>
          <p:nvGrpSpPr>
            <p:cNvPr id="2254" name="Google Shape;2254;p153"/>
            <p:cNvGrpSpPr/>
            <p:nvPr/>
          </p:nvGrpSpPr>
          <p:grpSpPr>
            <a:xfrm>
              <a:off x="2787000" y="2069699"/>
              <a:ext cx="687700" cy="539601"/>
              <a:chOff x="2787000" y="2069699"/>
              <a:chExt cx="687700" cy="539601"/>
            </a:xfrm>
          </p:grpSpPr>
          <p:pic>
            <p:nvPicPr>
              <p:cNvPr id="2255" name="Google Shape;2255;p153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27870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6" name="Google Shape;2256;p153"/>
              <p:cNvSpPr/>
              <p:nvPr/>
            </p:nvSpPr>
            <p:spPr>
              <a:xfrm>
                <a:off x="2839288" y="2315600"/>
                <a:ext cx="4950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57" name="Google Shape;2257;p153"/>
            <p:cNvGrpSpPr/>
            <p:nvPr/>
          </p:nvGrpSpPr>
          <p:grpSpPr>
            <a:xfrm>
              <a:off x="3434700" y="2069699"/>
              <a:ext cx="687700" cy="539601"/>
              <a:chOff x="3434700" y="2069699"/>
              <a:chExt cx="687700" cy="539601"/>
            </a:xfrm>
          </p:grpSpPr>
          <p:pic>
            <p:nvPicPr>
              <p:cNvPr id="2258" name="Google Shape;2258;p153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34347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59" name="Google Shape;2259;p153"/>
              <p:cNvSpPr/>
              <p:nvPr/>
            </p:nvSpPr>
            <p:spPr>
              <a:xfrm>
                <a:off x="3486988" y="2315600"/>
                <a:ext cx="4950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2260" name="Google Shape;2260;p153"/>
            <p:cNvGrpSpPr/>
            <p:nvPr/>
          </p:nvGrpSpPr>
          <p:grpSpPr>
            <a:xfrm>
              <a:off x="4082400" y="2069699"/>
              <a:ext cx="687700" cy="539601"/>
              <a:chOff x="4082400" y="2069699"/>
              <a:chExt cx="687700" cy="539601"/>
            </a:xfrm>
          </p:grpSpPr>
          <p:pic>
            <p:nvPicPr>
              <p:cNvPr id="2261" name="Google Shape;2261;p153"/>
              <p:cNvPicPr preferRelativeResize="0"/>
              <p:nvPr/>
            </p:nvPicPr>
            <p:blipFill rotWithShape="1">
              <a:blip r:embed="rId3">
                <a:alphaModFix/>
              </a:blip>
              <a:srcRect b="59597" l="61559" r="13951" t="27330"/>
              <a:stretch/>
            </p:blipFill>
            <p:spPr>
              <a:xfrm flipH="1" rot="10800000">
                <a:off x="4082400" y="2069699"/>
                <a:ext cx="687700" cy="22285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62" name="Google Shape;2262;p153"/>
              <p:cNvSpPr/>
              <p:nvPr/>
            </p:nvSpPr>
            <p:spPr>
              <a:xfrm>
                <a:off x="4134688" y="2315600"/>
                <a:ext cx="495000" cy="29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1800">
                    <a:latin typeface="Lexend"/>
                    <a:ea typeface="Lexend"/>
                    <a:cs typeface="Lexend"/>
                    <a:sym typeface="Lexend"/>
                  </a:rPr>
                  <a:t>+2</a:t>
                </a:r>
                <a:endParaRPr sz="1800"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2263" name="Google Shape;2263;p153"/>
          <p:cNvSpPr txBox="1"/>
          <p:nvPr>
            <p:ph idx="1" type="body"/>
          </p:nvPr>
        </p:nvSpPr>
        <p:spPr>
          <a:xfrm>
            <a:off x="324000" y="3748750"/>
            <a:ext cx="8496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We could say that there is a </a:t>
            </a:r>
            <a:r>
              <a:rPr lang="en-GB" sz="1800">
                <a:solidFill>
                  <a:schemeClr val="accent5"/>
                </a:solidFill>
              </a:rPr>
              <a:t>common second difference</a:t>
            </a:r>
            <a:r>
              <a:rPr lang="en-GB" sz="1800"/>
              <a:t> of 2. </a:t>
            </a:r>
            <a:endParaRPr sz="1800"/>
          </a:p>
        </p:txBody>
      </p:sp>
      <p:grpSp>
        <p:nvGrpSpPr>
          <p:cNvPr id="2264" name="Google Shape;2264;p153"/>
          <p:cNvGrpSpPr/>
          <p:nvPr/>
        </p:nvGrpSpPr>
        <p:grpSpPr>
          <a:xfrm>
            <a:off x="5071725" y="1759900"/>
            <a:ext cx="3811293" cy="293700"/>
            <a:chOff x="5071725" y="1759900"/>
            <a:chExt cx="3811293" cy="293700"/>
          </a:xfrm>
        </p:grpSpPr>
        <p:cxnSp>
          <p:nvCxnSpPr>
            <p:cNvPr id="2265" name="Google Shape;2265;p153"/>
            <p:cNvCxnSpPr/>
            <p:nvPr/>
          </p:nvCxnSpPr>
          <p:spPr>
            <a:xfrm flipH="1">
              <a:off x="5071725" y="1905525"/>
              <a:ext cx="1504500" cy="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6" name="Google Shape;2266;p153"/>
            <p:cNvSpPr/>
            <p:nvPr/>
          </p:nvSpPr>
          <p:spPr>
            <a:xfrm>
              <a:off x="6687318" y="1759900"/>
              <a:ext cx="21957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first difference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67" name="Google Shape;2267;p153"/>
          <p:cNvGrpSpPr/>
          <p:nvPr/>
        </p:nvGrpSpPr>
        <p:grpSpPr>
          <a:xfrm>
            <a:off x="5071725" y="2293300"/>
            <a:ext cx="3811293" cy="293700"/>
            <a:chOff x="5071725" y="2293300"/>
            <a:chExt cx="3811293" cy="293700"/>
          </a:xfrm>
        </p:grpSpPr>
        <p:cxnSp>
          <p:nvCxnSpPr>
            <p:cNvPr id="2268" name="Google Shape;2268;p153"/>
            <p:cNvCxnSpPr/>
            <p:nvPr/>
          </p:nvCxnSpPr>
          <p:spPr>
            <a:xfrm flipH="1">
              <a:off x="5071725" y="2438925"/>
              <a:ext cx="1504500" cy="300"/>
            </a:xfrm>
            <a:prstGeom prst="straightConnector1">
              <a:avLst/>
            </a:prstGeom>
            <a:noFill/>
            <a:ln cap="flat" cmpd="sng" w="28575">
              <a:solidFill>
                <a:schemeClr val="accent5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2269" name="Google Shape;2269;p153"/>
            <p:cNvSpPr/>
            <p:nvPr/>
          </p:nvSpPr>
          <p:spPr>
            <a:xfrm>
              <a:off x="6687318" y="2293300"/>
              <a:ext cx="21957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second difference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3" name="Shape 2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4" name="Google Shape;2274;p154"/>
          <p:cNvSpPr txBox="1"/>
          <p:nvPr>
            <p:ph idx="1" type="body"/>
          </p:nvPr>
        </p:nvSpPr>
        <p:spPr>
          <a:xfrm>
            <a:off x="324000" y="759300"/>
            <a:ext cx="8237700" cy="406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sequences are made up of either consecutive: </a:t>
            </a:r>
            <a:r>
              <a:rPr lang="en-GB" sz="1800"/>
              <a:t>triangular</a:t>
            </a:r>
            <a:r>
              <a:rPr lang="en-GB" sz="1800"/>
              <a:t>, square, pentagonal or cube numbers.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Match the sequences to the correct option:</a:t>
            </a:r>
            <a:endParaRPr sz="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          </a:t>
            </a:r>
            <a:r>
              <a:rPr lang="en-GB" sz="1900"/>
              <a:t>169, 196, 225, 256, 289, …</a:t>
            </a:r>
            <a:r>
              <a:rPr lang="en-GB" sz="1900"/>
              <a:t>             </a:t>
            </a:r>
            <a:r>
              <a:rPr lang="en-GB" sz="1900"/>
              <a:t>triangular</a:t>
            </a:r>
            <a:r>
              <a:rPr lang="en-GB" sz="1900"/>
              <a:t> numbers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           </a:t>
            </a:r>
            <a:r>
              <a:rPr lang="en-GB" sz="1900"/>
              <a:t>78, 91, 105, 120, 136, …</a:t>
            </a:r>
            <a:r>
              <a:rPr lang="en-GB" sz="1900"/>
              <a:t>                square numbers 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900"/>
              <a:t>          27,  64,  125,  216,  343, …             pentagonal numbers</a:t>
            </a:r>
            <a:endParaRPr sz="19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          51, 70, 92, 117, 145, …</a:t>
            </a:r>
            <a:r>
              <a:rPr lang="en-GB" sz="1800"/>
              <a:t>                  </a:t>
            </a:r>
            <a:r>
              <a:rPr lang="en-GB" sz="1000"/>
              <a:t>    </a:t>
            </a:r>
            <a:r>
              <a:rPr lang="en-GB" sz="1900"/>
              <a:t>cube numbers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275" name="Google Shape;2275;p15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grpSp>
        <p:nvGrpSpPr>
          <p:cNvPr id="2276" name="Google Shape;2276;p154"/>
          <p:cNvGrpSpPr/>
          <p:nvPr/>
        </p:nvGrpSpPr>
        <p:grpSpPr>
          <a:xfrm>
            <a:off x="357616" y="1885950"/>
            <a:ext cx="457200" cy="457200"/>
            <a:chOff x="1020916" y="1442088"/>
            <a:chExt cx="457200" cy="457200"/>
          </a:xfrm>
        </p:grpSpPr>
        <p:pic>
          <p:nvPicPr>
            <p:cNvPr id="2277" name="Google Shape;2277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78" name="Google Shape;2278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79" name="Google Shape;2279;p154"/>
          <p:cNvGrpSpPr/>
          <p:nvPr/>
        </p:nvGrpSpPr>
        <p:grpSpPr>
          <a:xfrm>
            <a:off x="357616" y="2572250"/>
            <a:ext cx="457200" cy="457200"/>
            <a:chOff x="1020916" y="1442088"/>
            <a:chExt cx="457200" cy="457200"/>
          </a:xfrm>
        </p:grpSpPr>
        <p:pic>
          <p:nvPicPr>
            <p:cNvPr id="2280" name="Google Shape;2280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1" name="Google Shape;2281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2" name="Google Shape;2282;p154"/>
          <p:cNvGrpSpPr/>
          <p:nvPr/>
        </p:nvGrpSpPr>
        <p:grpSpPr>
          <a:xfrm>
            <a:off x="357616" y="3258550"/>
            <a:ext cx="457200" cy="457200"/>
            <a:chOff x="1020916" y="1442088"/>
            <a:chExt cx="457200" cy="457200"/>
          </a:xfrm>
        </p:grpSpPr>
        <p:pic>
          <p:nvPicPr>
            <p:cNvPr id="2283" name="Google Shape;2283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4" name="Google Shape;2284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5" name="Google Shape;2285;p154"/>
          <p:cNvGrpSpPr/>
          <p:nvPr/>
        </p:nvGrpSpPr>
        <p:grpSpPr>
          <a:xfrm>
            <a:off x="357616" y="4008950"/>
            <a:ext cx="457200" cy="457200"/>
            <a:chOff x="1020916" y="1442088"/>
            <a:chExt cx="457200" cy="457200"/>
          </a:xfrm>
        </p:grpSpPr>
        <p:pic>
          <p:nvPicPr>
            <p:cNvPr id="2286" name="Google Shape;2286;p15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87" name="Google Shape;2287;p1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288" name="Google Shape;2288;p154"/>
          <p:cNvGrpSpPr/>
          <p:nvPr/>
        </p:nvGrpSpPr>
        <p:grpSpPr>
          <a:xfrm>
            <a:off x="947004" y="2201599"/>
            <a:ext cx="2490396" cy="435251"/>
            <a:chOff x="947004" y="2201599"/>
            <a:chExt cx="2490396" cy="435251"/>
          </a:xfrm>
        </p:grpSpPr>
        <p:pic>
          <p:nvPicPr>
            <p:cNvPr id="2289" name="Google Shape;2289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997100" y="22015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0" name="Google Shape;2290;p154"/>
            <p:cNvSpPr/>
            <p:nvPr/>
          </p:nvSpPr>
          <p:spPr>
            <a:xfrm>
              <a:off x="947004" y="23431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+27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91" name="Google Shape;2291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530500" y="22015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2" name="Google Shape;2292;p154"/>
            <p:cNvSpPr/>
            <p:nvPr/>
          </p:nvSpPr>
          <p:spPr>
            <a:xfrm>
              <a:off x="1480404" y="23431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+29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93" name="Google Shape;2293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140100" y="22015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4" name="Google Shape;2294;p154"/>
            <p:cNvSpPr/>
            <p:nvPr/>
          </p:nvSpPr>
          <p:spPr>
            <a:xfrm>
              <a:off x="2090004" y="23431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+31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295" name="Google Shape;2295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749700" y="22015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96" name="Google Shape;2296;p154"/>
            <p:cNvSpPr/>
            <p:nvPr/>
          </p:nvSpPr>
          <p:spPr>
            <a:xfrm>
              <a:off x="2699604" y="23431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+33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297" name="Google Shape;2297;p154"/>
          <p:cNvCxnSpPr/>
          <p:nvPr/>
        </p:nvCxnSpPr>
        <p:spPr>
          <a:xfrm>
            <a:off x="3825400" y="2114550"/>
            <a:ext cx="723600" cy="672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298" name="Google Shape;2298;p154"/>
          <p:cNvGrpSpPr/>
          <p:nvPr/>
        </p:nvGrpSpPr>
        <p:grpSpPr>
          <a:xfrm>
            <a:off x="1112525" y="2887399"/>
            <a:ext cx="2082449" cy="435252"/>
            <a:chOff x="1112525" y="2887399"/>
            <a:chExt cx="2082449" cy="435252"/>
          </a:xfrm>
        </p:grpSpPr>
        <p:pic>
          <p:nvPicPr>
            <p:cNvPr id="2299" name="Google Shape;2299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154415" y="2887399"/>
              <a:ext cx="575048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0" name="Google Shape;2300;p154"/>
            <p:cNvSpPr/>
            <p:nvPr/>
          </p:nvSpPr>
          <p:spPr>
            <a:xfrm>
              <a:off x="1112525" y="3028951"/>
              <a:ext cx="5751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+13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01" name="Google Shape;2301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600440" y="2887399"/>
              <a:ext cx="575048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2" name="Google Shape;2302;p154"/>
            <p:cNvSpPr/>
            <p:nvPr/>
          </p:nvSpPr>
          <p:spPr>
            <a:xfrm>
              <a:off x="1558550" y="3028951"/>
              <a:ext cx="5751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+14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03" name="Google Shape;2303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110183" y="2887399"/>
              <a:ext cx="575048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4" name="Google Shape;2304;p154"/>
            <p:cNvSpPr/>
            <p:nvPr/>
          </p:nvSpPr>
          <p:spPr>
            <a:xfrm>
              <a:off x="2068293" y="3028951"/>
              <a:ext cx="5751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+15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05" name="Google Shape;2305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619926" y="2887399"/>
              <a:ext cx="575048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06" name="Google Shape;2306;p154"/>
            <p:cNvSpPr/>
            <p:nvPr/>
          </p:nvSpPr>
          <p:spPr>
            <a:xfrm>
              <a:off x="2578036" y="3028951"/>
              <a:ext cx="5751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+16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2307" name="Google Shape;2307;p154"/>
          <p:cNvCxnSpPr/>
          <p:nvPr/>
        </p:nvCxnSpPr>
        <p:spPr>
          <a:xfrm flipH="1" rot="10800000">
            <a:off x="3896875" y="2135550"/>
            <a:ext cx="695100" cy="703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8" name="Google Shape;2308;p154"/>
          <p:cNvCxnSpPr/>
          <p:nvPr/>
        </p:nvCxnSpPr>
        <p:spPr>
          <a:xfrm>
            <a:off x="3825400" y="3562350"/>
            <a:ext cx="723600" cy="6729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9" name="Google Shape;2309;p154"/>
          <p:cNvCxnSpPr/>
          <p:nvPr/>
        </p:nvCxnSpPr>
        <p:spPr>
          <a:xfrm flipH="1" rot="10800000">
            <a:off x="3896875" y="3583350"/>
            <a:ext cx="695100" cy="70380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310" name="Google Shape;2310;p154"/>
          <p:cNvGrpSpPr/>
          <p:nvPr/>
        </p:nvGrpSpPr>
        <p:grpSpPr>
          <a:xfrm>
            <a:off x="947004" y="3649399"/>
            <a:ext cx="2414196" cy="435251"/>
            <a:chOff x="947004" y="3649399"/>
            <a:chExt cx="2414196" cy="435251"/>
          </a:xfrm>
        </p:grpSpPr>
        <p:pic>
          <p:nvPicPr>
            <p:cNvPr id="2311" name="Google Shape;2311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997100" y="36493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2" name="Google Shape;2312;p154"/>
            <p:cNvSpPr/>
            <p:nvPr/>
          </p:nvSpPr>
          <p:spPr>
            <a:xfrm>
              <a:off x="947004" y="37909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+37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13" name="Google Shape;2313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606700" y="36493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4" name="Google Shape;2314;p154"/>
            <p:cNvSpPr/>
            <p:nvPr/>
          </p:nvSpPr>
          <p:spPr>
            <a:xfrm>
              <a:off x="1556604" y="37909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+61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15" name="Google Shape;2315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140100" y="36493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6" name="Google Shape;2316;p154"/>
            <p:cNvSpPr/>
            <p:nvPr/>
          </p:nvSpPr>
          <p:spPr>
            <a:xfrm>
              <a:off x="2090004" y="37909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+91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17" name="Google Shape;2317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673500" y="3649399"/>
              <a:ext cx="687700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18" name="Google Shape;2318;p154"/>
            <p:cNvSpPr/>
            <p:nvPr/>
          </p:nvSpPr>
          <p:spPr>
            <a:xfrm>
              <a:off x="2623404" y="3790950"/>
              <a:ext cx="6876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+127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319" name="Google Shape;2319;p154"/>
          <p:cNvGrpSpPr/>
          <p:nvPr/>
        </p:nvGrpSpPr>
        <p:grpSpPr>
          <a:xfrm>
            <a:off x="947000" y="4335199"/>
            <a:ext cx="2076048" cy="435252"/>
            <a:chOff x="947000" y="4335199"/>
            <a:chExt cx="2076048" cy="435252"/>
          </a:xfrm>
        </p:grpSpPr>
        <p:pic>
          <p:nvPicPr>
            <p:cNvPr id="2320" name="Google Shape;2320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990079" y="4335199"/>
              <a:ext cx="591376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1" name="Google Shape;2321;p154"/>
            <p:cNvSpPr/>
            <p:nvPr/>
          </p:nvSpPr>
          <p:spPr>
            <a:xfrm>
              <a:off x="947000" y="4476751"/>
              <a:ext cx="5913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+19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22" name="Google Shape;2322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514295" y="4335199"/>
              <a:ext cx="591376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3" name="Google Shape;2323;p154"/>
            <p:cNvSpPr/>
            <p:nvPr/>
          </p:nvSpPr>
          <p:spPr>
            <a:xfrm>
              <a:off x="1471216" y="4476751"/>
              <a:ext cx="5913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+22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24" name="Google Shape;2324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1972984" y="4335199"/>
              <a:ext cx="591376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5" name="Google Shape;2325;p154"/>
            <p:cNvSpPr/>
            <p:nvPr/>
          </p:nvSpPr>
          <p:spPr>
            <a:xfrm>
              <a:off x="1929905" y="4476751"/>
              <a:ext cx="5913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+25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id="2326" name="Google Shape;2326;p154"/>
            <p:cNvPicPr preferRelativeResize="0"/>
            <p:nvPr/>
          </p:nvPicPr>
          <p:blipFill rotWithShape="1">
            <a:blip r:embed="rId4">
              <a:alphaModFix/>
            </a:blip>
            <a:srcRect b="59597" l="61559" r="13951" t="27330"/>
            <a:stretch/>
          </p:blipFill>
          <p:spPr>
            <a:xfrm flipH="1" rot="10800000">
              <a:off x="2431672" y="4335199"/>
              <a:ext cx="591376" cy="22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327" name="Google Shape;2327;p154"/>
            <p:cNvSpPr/>
            <p:nvPr/>
          </p:nvSpPr>
          <p:spPr>
            <a:xfrm>
              <a:off x="2388593" y="4476751"/>
              <a:ext cx="591300" cy="29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600">
                  <a:latin typeface="Lexend"/>
                  <a:ea typeface="Lexend"/>
                  <a:cs typeface="Lexend"/>
                  <a:sym typeface="Lexend"/>
                </a:rPr>
                <a:t>+28</a:t>
              </a:r>
              <a:endParaRPr sz="16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55"/>
          <p:cNvSpPr/>
          <p:nvPr/>
        </p:nvSpPr>
        <p:spPr>
          <a:xfrm>
            <a:off x="336700" y="2070300"/>
            <a:ext cx="8130600" cy="2715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3" name="Google Shape;2333;p1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334" name="Google Shape;2334;p155"/>
          <p:cNvSpPr txBox="1"/>
          <p:nvPr>
            <p:ph idx="1" type="body"/>
          </p:nvPr>
        </p:nvSpPr>
        <p:spPr>
          <a:xfrm>
            <a:off x="307400" y="795650"/>
            <a:ext cx="85125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If a pattern or scenario produces one of our </a:t>
            </a:r>
            <a:r>
              <a:rPr lang="en-GB" sz="1800"/>
              <a:t>special</a:t>
            </a:r>
            <a:r>
              <a:rPr lang="en-GB" sz="1800"/>
              <a:t> number sequences, we can use the key features to make predictions. </a:t>
            </a:r>
            <a:endParaRPr sz="1800"/>
          </a:p>
        </p:txBody>
      </p:sp>
      <p:sp>
        <p:nvSpPr>
          <p:cNvPr id="2335" name="Google Shape;2335;p155"/>
          <p:cNvSpPr txBox="1"/>
          <p:nvPr>
            <p:ph idx="1" type="body"/>
          </p:nvPr>
        </p:nvSpPr>
        <p:spPr>
          <a:xfrm>
            <a:off x="324000" y="1620000"/>
            <a:ext cx="8496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Consider this scenario.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336" name="Google Shape;2336;p155"/>
          <p:cNvSpPr txBox="1"/>
          <p:nvPr>
            <p:ph idx="1" type="body"/>
          </p:nvPr>
        </p:nvSpPr>
        <p:spPr>
          <a:xfrm>
            <a:off x="505000" y="2231625"/>
            <a:ext cx="7794000" cy="21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Alex is planning a netball competition for local primary schools.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In the competition all teams will play each other once.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He does not yet know how many teams are taking part.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He wants a quick way to work out how many games there will be once he knows the number of teams.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How could he explore this idea?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1" name="Google Shape;2341;p15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5192075" y="3235900"/>
            <a:ext cx="3234299" cy="1167199"/>
          </a:xfrm>
          <a:prstGeom prst="rect">
            <a:avLst/>
          </a:prstGeom>
          <a:noFill/>
          <a:ln>
            <a:noFill/>
          </a:ln>
        </p:spPr>
      </p:pic>
      <p:sp>
        <p:nvSpPr>
          <p:cNvPr id="2342" name="Google Shape;2342;p1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343" name="Google Shape;2343;p156"/>
          <p:cNvSpPr txBox="1"/>
          <p:nvPr>
            <p:ph idx="1" type="body"/>
          </p:nvPr>
        </p:nvSpPr>
        <p:spPr>
          <a:xfrm>
            <a:off x="307400" y="795650"/>
            <a:ext cx="85125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Start by picking </a:t>
            </a:r>
            <a:r>
              <a:rPr lang="en-GB" sz="1800"/>
              <a:t>the</a:t>
            </a:r>
            <a:r>
              <a:rPr lang="en-GB" sz="1800"/>
              <a:t> </a:t>
            </a:r>
            <a:r>
              <a:rPr lang="en-GB" sz="1800">
                <a:solidFill>
                  <a:schemeClr val="accent5"/>
                </a:solidFill>
              </a:rPr>
              <a:t>simplest case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How many games would there be if there are only two teams?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344" name="Google Shape;2344;p156"/>
          <p:cNvSpPr txBox="1"/>
          <p:nvPr>
            <p:ph idx="1" type="body"/>
          </p:nvPr>
        </p:nvSpPr>
        <p:spPr>
          <a:xfrm>
            <a:off x="7326500" y="1080000"/>
            <a:ext cx="21291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(A vs B)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345" name="Google Shape;2345;p156"/>
          <p:cNvSpPr txBox="1"/>
          <p:nvPr>
            <p:ph idx="1" type="body"/>
          </p:nvPr>
        </p:nvSpPr>
        <p:spPr>
          <a:xfrm>
            <a:off x="315750" y="1580200"/>
            <a:ext cx="8512500" cy="5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games would there be if there are three teams?  </a:t>
            </a:r>
            <a:endParaRPr sz="1800"/>
          </a:p>
        </p:txBody>
      </p:sp>
      <p:sp>
        <p:nvSpPr>
          <p:cNvPr id="2346" name="Google Shape;2346;p156"/>
          <p:cNvSpPr txBox="1"/>
          <p:nvPr>
            <p:ph idx="1" type="body"/>
          </p:nvPr>
        </p:nvSpPr>
        <p:spPr>
          <a:xfrm>
            <a:off x="552600" y="20451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7" name="Google Shape;2347;p156"/>
          <p:cNvSpPr txBox="1"/>
          <p:nvPr>
            <p:ph idx="1" type="body"/>
          </p:nvPr>
        </p:nvSpPr>
        <p:spPr>
          <a:xfrm>
            <a:off x="2693850" y="2465425"/>
            <a:ext cx="17442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games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48" name="Google Shape;2348;p156"/>
          <p:cNvSpPr txBox="1"/>
          <p:nvPr>
            <p:ph idx="1" type="body"/>
          </p:nvPr>
        </p:nvSpPr>
        <p:spPr>
          <a:xfrm>
            <a:off x="315750" y="2880175"/>
            <a:ext cx="8512500" cy="50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many games would there be if there are four teams?  </a:t>
            </a:r>
            <a:endParaRPr sz="1800"/>
          </a:p>
        </p:txBody>
      </p:sp>
      <p:sp>
        <p:nvSpPr>
          <p:cNvPr id="2349" name="Google Shape;2349;p156"/>
          <p:cNvSpPr txBox="1"/>
          <p:nvPr>
            <p:ph idx="1" type="body"/>
          </p:nvPr>
        </p:nvSpPr>
        <p:spPr>
          <a:xfrm>
            <a:off x="552600" y="33498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D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0" name="Google Shape;2350;p156"/>
          <p:cNvSpPr txBox="1"/>
          <p:nvPr>
            <p:ph idx="1" type="body"/>
          </p:nvPr>
        </p:nvSpPr>
        <p:spPr>
          <a:xfrm>
            <a:off x="1677300" y="20451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C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1" name="Google Shape;2351;p156"/>
          <p:cNvSpPr/>
          <p:nvPr/>
        </p:nvSpPr>
        <p:spPr>
          <a:xfrm>
            <a:off x="422650" y="1962850"/>
            <a:ext cx="2192100" cy="8094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2" name="Google Shape;2352;p156"/>
          <p:cNvSpPr txBox="1"/>
          <p:nvPr>
            <p:ph idx="1" type="body"/>
          </p:nvPr>
        </p:nvSpPr>
        <p:spPr>
          <a:xfrm>
            <a:off x="1677300" y="33498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3" name="Google Shape;2353;p156"/>
          <p:cNvSpPr txBox="1"/>
          <p:nvPr>
            <p:ph idx="1" type="body"/>
          </p:nvPr>
        </p:nvSpPr>
        <p:spPr>
          <a:xfrm>
            <a:off x="2896500" y="33498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4" name="Google Shape;2354;p156"/>
          <p:cNvSpPr/>
          <p:nvPr/>
        </p:nvSpPr>
        <p:spPr>
          <a:xfrm>
            <a:off x="422650" y="3334450"/>
            <a:ext cx="3467100" cy="1053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5" name="Google Shape;2355;p156"/>
          <p:cNvSpPr txBox="1"/>
          <p:nvPr>
            <p:ph idx="1" type="body"/>
          </p:nvPr>
        </p:nvSpPr>
        <p:spPr>
          <a:xfrm>
            <a:off x="3951900" y="4101200"/>
            <a:ext cx="17442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games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56" name="Google Shape;2356;p156"/>
          <p:cNvSpPr txBox="1"/>
          <p:nvPr>
            <p:ph idx="1" type="body"/>
          </p:nvPr>
        </p:nvSpPr>
        <p:spPr>
          <a:xfrm>
            <a:off x="315750" y="4530000"/>
            <a:ext cx="85125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How have we made sure we have not missed any?  </a:t>
            </a:r>
            <a:endParaRPr sz="1800"/>
          </a:p>
        </p:txBody>
      </p:sp>
      <p:sp>
        <p:nvSpPr>
          <p:cNvPr id="2357" name="Google Shape;2357;p156"/>
          <p:cNvSpPr/>
          <p:nvPr/>
        </p:nvSpPr>
        <p:spPr>
          <a:xfrm flipH="1">
            <a:off x="5237700" y="3334445"/>
            <a:ext cx="3234300" cy="8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We listed all the games involving A, then all those involving B, and so on….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58" name="Google Shape;2358;p1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34381" y="4272675"/>
            <a:ext cx="443850" cy="5118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2" name="Shape 2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Google Shape;2363;p157"/>
          <p:cNvSpPr/>
          <p:nvPr/>
        </p:nvSpPr>
        <p:spPr>
          <a:xfrm>
            <a:off x="476475" y="2214950"/>
            <a:ext cx="4697700" cy="14940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4" name="Google Shape;2364;p1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365" name="Google Shape;2365;p157"/>
          <p:cNvSpPr txBox="1"/>
          <p:nvPr>
            <p:ph idx="1" type="body"/>
          </p:nvPr>
        </p:nvSpPr>
        <p:spPr>
          <a:xfrm>
            <a:off x="307400" y="795650"/>
            <a:ext cx="85125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table to show </a:t>
            </a:r>
            <a:r>
              <a:rPr lang="en-GB" sz="1800"/>
              <a:t>the number of games for 2, 3, 4, 5, and 6 teams.</a:t>
            </a:r>
            <a:r>
              <a:rPr lang="en-GB" sz="1800"/>
              <a:t>  </a:t>
            </a:r>
            <a:endParaRPr sz="1800"/>
          </a:p>
        </p:txBody>
      </p:sp>
      <p:graphicFrame>
        <p:nvGraphicFramePr>
          <p:cNvPr id="2366" name="Google Shape;2366;p157"/>
          <p:cNvGraphicFramePr/>
          <p:nvPr/>
        </p:nvGraphicFramePr>
        <p:xfrm>
          <a:off x="324075" y="1352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234100"/>
                <a:gridCol w="1255675"/>
                <a:gridCol w="1255675"/>
                <a:gridCol w="1255675"/>
                <a:gridCol w="1255675"/>
                <a:gridCol w="1255675"/>
              </a:tblGrid>
              <a:tr h="36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teams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games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67" name="Google Shape;2367;p157"/>
          <p:cNvSpPr txBox="1"/>
          <p:nvPr>
            <p:ph idx="1" type="body"/>
          </p:nvPr>
        </p:nvSpPr>
        <p:spPr>
          <a:xfrm>
            <a:off x="606425" y="2230300"/>
            <a:ext cx="893700" cy="132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E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8" name="Google Shape;2368;p157"/>
          <p:cNvSpPr txBox="1"/>
          <p:nvPr>
            <p:ph idx="1" type="body"/>
          </p:nvPr>
        </p:nvSpPr>
        <p:spPr>
          <a:xfrm>
            <a:off x="1765183" y="22303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69" name="Google Shape;2369;p157"/>
          <p:cNvSpPr txBox="1"/>
          <p:nvPr>
            <p:ph idx="1" type="body"/>
          </p:nvPr>
        </p:nvSpPr>
        <p:spPr>
          <a:xfrm>
            <a:off x="2923942" y="22303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vs 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0" name="Google Shape;2370;p157"/>
          <p:cNvSpPr txBox="1"/>
          <p:nvPr>
            <p:ph idx="1" type="body"/>
          </p:nvPr>
        </p:nvSpPr>
        <p:spPr>
          <a:xfrm>
            <a:off x="4082700" y="22681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vs 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1" name="Google Shape;2371;p157"/>
          <p:cNvSpPr txBox="1"/>
          <p:nvPr>
            <p:ph idx="1" type="body"/>
          </p:nvPr>
        </p:nvSpPr>
        <p:spPr>
          <a:xfrm>
            <a:off x="5329300" y="2248050"/>
            <a:ext cx="17442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games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2" name="Google Shape;2372;p157"/>
          <p:cNvSpPr/>
          <p:nvPr/>
        </p:nvSpPr>
        <p:spPr>
          <a:xfrm>
            <a:off x="6332675" y="1726450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3" name="Google Shape;2373;p157"/>
          <p:cNvSpPr txBox="1"/>
          <p:nvPr>
            <p:ph idx="1" type="body"/>
          </p:nvPr>
        </p:nvSpPr>
        <p:spPr>
          <a:xfrm>
            <a:off x="324063" y="3839650"/>
            <a:ext cx="8512500" cy="9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For 6 teams: A will play all 5 other teams. B will play all 5 other teams but we have already counted the match against A so 4 new games, there are 3 new games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with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C, 2 new games with D and then 1 with E (E vs F)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74" name="Google Shape;2374;p157"/>
          <p:cNvSpPr/>
          <p:nvPr/>
        </p:nvSpPr>
        <p:spPr>
          <a:xfrm>
            <a:off x="7580875" y="1718425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75" name="Google Shape;2375;p157"/>
          <p:cNvGrpSpPr/>
          <p:nvPr/>
        </p:nvGrpSpPr>
        <p:grpSpPr>
          <a:xfrm>
            <a:off x="2558175" y="1717275"/>
            <a:ext cx="3751300" cy="357900"/>
            <a:chOff x="2558175" y="1717275"/>
            <a:chExt cx="3751300" cy="357900"/>
          </a:xfrm>
        </p:grpSpPr>
        <p:sp>
          <p:nvSpPr>
            <p:cNvPr id="2376" name="Google Shape;2376;p157"/>
            <p:cNvSpPr/>
            <p:nvPr/>
          </p:nvSpPr>
          <p:spPr>
            <a:xfrm>
              <a:off x="2558175" y="1717275"/>
              <a:ext cx="1239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7" name="Google Shape;2377;p157"/>
            <p:cNvSpPr/>
            <p:nvPr/>
          </p:nvSpPr>
          <p:spPr>
            <a:xfrm>
              <a:off x="3817757" y="1717275"/>
              <a:ext cx="1239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2378" name="Google Shape;2378;p157"/>
            <p:cNvSpPr/>
            <p:nvPr/>
          </p:nvSpPr>
          <p:spPr>
            <a:xfrm>
              <a:off x="5070175" y="1717275"/>
              <a:ext cx="1239300" cy="35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6</a:t>
              </a:r>
              <a:endParaRPr sz="22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1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384" name="Google Shape;2384;p158"/>
          <p:cNvSpPr txBox="1"/>
          <p:nvPr/>
        </p:nvSpPr>
        <p:spPr>
          <a:xfrm flipH="1">
            <a:off x="372663" y="2366102"/>
            <a:ext cx="1068600" cy="2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Alex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85" name="Google Shape;2385;p1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668956" y="1778075"/>
            <a:ext cx="443850" cy="51189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6" name="Google Shape;2386;p15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 flipH="1">
            <a:off x="1036351" y="925525"/>
            <a:ext cx="3383624" cy="1440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87" name="Google Shape;2387;p158"/>
          <p:cNvSpPr/>
          <p:nvPr/>
        </p:nvSpPr>
        <p:spPr>
          <a:xfrm>
            <a:off x="1286700" y="988250"/>
            <a:ext cx="2739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Last year there were 8 teams involved, I want to work out how many games that was.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8" name="Google Shape;2388;p158"/>
          <p:cNvSpPr/>
          <p:nvPr/>
        </p:nvSpPr>
        <p:spPr>
          <a:xfrm>
            <a:off x="4538275" y="898825"/>
            <a:ext cx="4290000" cy="2600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9" name="Google Shape;2389;p158"/>
          <p:cNvSpPr txBox="1"/>
          <p:nvPr>
            <p:ph idx="1" type="body"/>
          </p:nvPr>
        </p:nvSpPr>
        <p:spPr>
          <a:xfrm>
            <a:off x="4692775" y="988250"/>
            <a:ext cx="816000" cy="18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E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F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G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H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0" name="Google Shape;2390;p158"/>
          <p:cNvSpPr txBox="1"/>
          <p:nvPr>
            <p:ph idx="1" type="body"/>
          </p:nvPr>
        </p:nvSpPr>
        <p:spPr>
          <a:xfrm>
            <a:off x="5722332" y="988250"/>
            <a:ext cx="13626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D……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391" name="Google Shape;2391;p158"/>
          <p:cNvSpPr/>
          <p:nvPr/>
        </p:nvSpPr>
        <p:spPr>
          <a:xfrm>
            <a:off x="1245353" y="2762035"/>
            <a:ext cx="21816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That’s going to take you ages!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92" name="Google Shape;2392;p158"/>
          <p:cNvPicPr preferRelativeResize="0"/>
          <p:nvPr/>
        </p:nvPicPr>
        <p:blipFill rotWithShape="1">
          <a:blip r:embed="rId4">
            <a:alphaModFix/>
          </a:blip>
          <a:srcRect b="43690" l="0" r="57905" t="0"/>
          <a:stretch/>
        </p:blipFill>
        <p:spPr>
          <a:xfrm>
            <a:off x="1174850" y="2678125"/>
            <a:ext cx="2275599" cy="9215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3" name="Google Shape;2393;p15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69602" y="3123119"/>
            <a:ext cx="639292" cy="618670"/>
          </a:xfrm>
          <a:prstGeom prst="rect">
            <a:avLst/>
          </a:prstGeom>
          <a:noFill/>
          <a:ln>
            <a:noFill/>
          </a:ln>
        </p:spPr>
      </p:pic>
      <p:sp>
        <p:nvSpPr>
          <p:cNvPr id="2394" name="Google Shape;2394;p158"/>
          <p:cNvSpPr txBox="1"/>
          <p:nvPr/>
        </p:nvSpPr>
        <p:spPr>
          <a:xfrm flipH="1">
            <a:off x="3333093" y="3779993"/>
            <a:ext cx="7983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5" name="Google Shape;2395;p158"/>
          <p:cNvSpPr txBox="1"/>
          <p:nvPr>
            <p:ph idx="1" type="body"/>
          </p:nvPr>
        </p:nvSpPr>
        <p:spPr>
          <a:xfrm>
            <a:off x="315750" y="4242575"/>
            <a:ext cx="8512500" cy="36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there an easier way for Alex to work this out? 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5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401" name="Google Shape;2401;p159"/>
          <p:cNvSpPr txBox="1"/>
          <p:nvPr>
            <p:ph idx="1" type="body"/>
          </p:nvPr>
        </p:nvSpPr>
        <p:spPr>
          <a:xfrm>
            <a:off x="307400" y="795650"/>
            <a:ext cx="85125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What do you notice about your answers?</a:t>
            </a:r>
            <a:r>
              <a:rPr lang="en-GB" sz="1800"/>
              <a:t>  </a:t>
            </a:r>
            <a:endParaRPr sz="1800"/>
          </a:p>
        </p:txBody>
      </p:sp>
      <p:graphicFrame>
        <p:nvGraphicFramePr>
          <p:cNvPr id="2402" name="Google Shape;2402;p159"/>
          <p:cNvGraphicFramePr/>
          <p:nvPr/>
        </p:nvGraphicFramePr>
        <p:xfrm>
          <a:off x="324075" y="12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234100"/>
                <a:gridCol w="1255675"/>
                <a:gridCol w="1255675"/>
                <a:gridCol w="1255675"/>
                <a:gridCol w="1255675"/>
                <a:gridCol w="1255675"/>
              </a:tblGrid>
              <a:tr h="36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teams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games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03" name="Google Shape;2403;p159"/>
          <p:cNvSpPr/>
          <p:nvPr/>
        </p:nvSpPr>
        <p:spPr>
          <a:xfrm>
            <a:off x="6332675" y="1574050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10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4" name="Google Shape;2404;p159"/>
          <p:cNvSpPr txBox="1"/>
          <p:nvPr>
            <p:ph idx="1" type="body"/>
          </p:nvPr>
        </p:nvSpPr>
        <p:spPr>
          <a:xfrm>
            <a:off x="324075" y="2160000"/>
            <a:ext cx="85125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These answers are the </a:t>
            </a:r>
            <a:r>
              <a:rPr lang="en-GB" sz="1800"/>
              <a:t>triangular</a:t>
            </a:r>
            <a:r>
              <a:rPr lang="en-GB" sz="1800"/>
              <a:t> numbers. Do you think this pattern will continue? </a:t>
            </a:r>
            <a:endParaRPr sz="1800"/>
          </a:p>
        </p:txBody>
      </p:sp>
      <p:sp>
        <p:nvSpPr>
          <p:cNvPr id="2405" name="Google Shape;2405;p159"/>
          <p:cNvSpPr/>
          <p:nvPr/>
        </p:nvSpPr>
        <p:spPr>
          <a:xfrm>
            <a:off x="7580875" y="1566025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15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6" name="Google Shape;2406;p159"/>
          <p:cNvSpPr txBox="1"/>
          <p:nvPr>
            <p:ph idx="1" type="body"/>
          </p:nvPr>
        </p:nvSpPr>
        <p:spPr>
          <a:xfrm>
            <a:off x="324075" y="2926500"/>
            <a:ext cx="8512500" cy="76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Yes, the way we have displayed our combinations shows that for each extra team a new column of matches is added with one more match each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7" name="Google Shape;2407;p159"/>
          <p:cNvSpPr txBox="1"/>
          <p:nvPr>
            <p:ph idx="1" type="body"/>
          </p:nvPr>
        </p:nvSpPr>
        <p:spPr>
          <a:xfrm>
            <a:off x="372500" y="3693000"/>
            <a:ext cx="9672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408" name="Google Shape;2408;p159"/>
          <p:cNvSpPr txBox="1"/>
          <p:nvPr>
            <p:ph idx="1" type="body"/>
          </p:nvPr>
        </p:nvSpPr>
        <p:spPr>
          <a:xfrm>
            <a:off x="1878000" y="36930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09" name="Google Shape;2409;p159"/>
          <p:cNvSpPr txBox="1"/>
          <p:nvPr>
            <p:ph idx="1" type="body"/>
          </p:nvPr>
        </p:nvSpPr>
        <p:spPr>
          <a:xfrm>
            <a:off x="2850300" y="36930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C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0" name="Google Shape;2410;p159"/>
          <p:cNvSpPr txBox="1"/>
          <p:nvPr>
            <p:ph idx="1" type="body"/>
          </p:nvPr>
        </p:nvSpPr>
        <p:spPr>
          <a:xfrm>
            <a:off x="4320000" y="36930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D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1" name="Google Shape;2411;p159"/>
          <p:cNvSpPr txBox="1"/>
          <p:nvPr>
            <p:ph idx="1" type="body"/>
          </p:nvPr>
        </p:nvSpPr>
        <p:spPr>
          <a:xfrm>
            <a:off x="5292300" y="36930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C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B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2" name="Google Shape;2412;p159"/>
          <p:cNvSpPr txBox="1"/>
          <p:nvPr>
            <p:ph idx="1" type="body"/>
          </p:nvPr>
        </p:nvSpPr>
        <p:spPr>
          <a:xfrm>
            <a:off x="6282900" y="3693000"/>
            <a:ext cx="893700" cy="105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 vs D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13" name="Google Shape;2413;p159"/>
          <p:cNvSpPr/>
          <p:nvPr/>
        </p:nvSpPr>
        <p:spPr>
          <a:xfrm>
            <a:off x="834670" y="3609150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,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4" name="Google Shape;2414;p159"/>
          <p:cNvSpPr/>
          <p:nvPr/>
        </p:nvSpPr>
        <p:spPr>
          <a:xfrm>
            <a:off x="3383695" y="3609150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,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5" name="Google Shape;2415;p159"/>
          <p:cNvSpPr/>
          <p:nvPr/>
        </p:nvSpPr>
        <p:spPr>
          <a:xfrm>
            <a:off x="6916020" y="3609150"/>
            <a:ext cx="12393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exend"/>
                <a:ea typeface="Lexend"/>
                <a:cs typeface="Lexend"/>
                <a:sym typeface="Lexend"/>
              </a:rPr>
              <a:t>, …</a:t>
            </a:r>
            <a:endParaRPr sz="26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9" name="Shape 2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0" name="Google Shape;2420;p16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421" name="Google Shape;2421;p160"/>
          <p:cNvSpPr txBox="1"/>
          <p:nvPr>
            <p:ph idx="1" type="body"/>
          </p:nvPr>
        </p:nvSpPr>
        <p:spPr>
          <a:xfrm>
            <a:off x="319963" y="754925"/>
            <a:ext cx="85041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How many matches will there be for 7 teams and 8 teams?</a:t>
            </a:r>
            <a:endParaRPr sz="1800"/>
          </a:p>
        </p:txBody>
      </p:sp>
      <p:graphicFrame>
        <p:nvGraphicFramePr>
          <p:cNvPr id="2422" name="Google Shape;2422;p160"/>
          <p:cNvGraphicFramePr/>
          <p:nvPr/>
        </p:nvGraphicFramePr>
        <p:xfrm>
          <a:off x="319925" y="116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210600"/>
                <a:gridCol w="899075"/>
                <a:gridCol w="899075"/>
                <a:gridCol w="899075"/>
                <a:gridCol w="899075"/>
                <a:gridCol w="899075"/>
                <a:gridCol w="899075"/>
                <a:gridCol w="899075"/>
              </a:tblGrid>
              <a:tr h="36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teams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games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3" name="Google Shape;2423;p160"/>
          <p:cNvSpPr txBox="1"/>
          <p:nvPr>
            <p:ph idx="1" type="body"/>
          </p:nvPr>
        </p:nvSpPr>
        <p:spPr>
          <a:xfrm>
            <a:off x="319963" y="2067850"/>
            <a:ext cx="85041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Alex actually has 10 teams respond. What calculation will find the number of matches?</a:t>
            </a:r>
            <a:endParaRPr sz="1800"/>
          </a:p>
        </p:txBody>
      </p:sp>
      <p:sp>
        <p:nvSpPr>
          <p:cNvPr id="2424" name="Google Shape;2424;p160"/>
          <p:cNvSpPr/>
          <p:nvPr/>
        </p:nvSpPr>
        <p:spPr>
          <a:xfrm>
            <a:off x="4267198" y="3380775"/>
            <a:ext cx="3812100" cy="85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If every team plays every team then they each play 9 matches. Shouldn’t the answer be 90 matches?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25" name="Google Shape;2425;p160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182600" y="3306375"/>
            <a:ext cx="3812101" cy="1468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6" name="Google Shape;2426;p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26127" y="3960019"/>
            <a:ext cx="639292" cy="618670"/>
          </a:xfrm>
          <a:prstGeom prst="rect">
            <a:avLst/>
          </a:prstGeom>
          <a:noFill/>
          <a:ln>
            <a:noFill/>
          </a:ln>
        </p:spPr>
      </p:pic>
      <p:sp>
        <p:nvSpPr>
          <p:cNvPr id="2427" name="Google Shape;2427;p160"/>
          <p:cNvSpPr txBox="1"/>
          <p:nvPr/>
        </p:nvSpPr>
        <p:spPr>
          <a:xfrm flipH="1">
            <a:off x="7667118" y="4538093"/>
            <a:ext cx="7983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Izzy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8" name="Google Shape;2428;p160"/>
          <p:cNvSpPr txBox="1"/>
          <p:nvPr>
            <p:ph idx="1" type="body"/>
          </p:nvPr>
        </p:nvSpPr>
        <p:spPr>
          <a:xfrm>
            <a:off x="319918" y="3306375"/>
            <a:ext cx="3673200" cy="45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3) Why is Izzy incorrect?</a:t>
            </a:r>
            <a:endParaRPr sz="1800"/>
          </a:p>
        </p:txBody>
      </p:sp>
      <p:sp>
        <p:nvSpPr>
          <p:cNvPr id="2429" name="Google Shape;2429;p160"/>
          <p:cNvSpPr/>
          <p:nvPr/>
        </p:nvSpPr>
        <p:spPr>
          <a:xfrm>
            <a:off x="7025900" y="1543800"/>
            <a:ext cx="89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21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0" name="Google Shape;2430;p160"/>
          <p:cNvSpPr/>
          <p:nvPr/>
        </p:nvSpPr>
        <p:spPr>
          <a:xfrm>
            <a:off x="7924975" y="1543800"/>
            <a:ext cx="899100" cy="357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28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431" name="Google Shape;2431;p160"/>
          <p:cNvSpPr txBox="1"/>
          <p:nvPr>
            <p:ph idx="1" type="body"/>
          </p:nvPr>
        </p:nvSpPr>
        <p:spPr>
          <a:xfrm>
            <a:off x="1854150" y="2410800"/>
            <a:ext cx="5571300" cy="82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10 teams would be the 9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 :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+ 2 + 3 + 4 + 5 + 6 + 7 + 8 + 9 = 45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32" name="Google Shape;2432;p160"/>
          <p:cNvSpPr txBox="1"/>
          <p:nvPr>
            <p:ph idx="1" type="body"/>
          </p:nvPr>
        </p:nvSpPr>
        <p:spPr>
          <a:xfrm>
            <a:off x="359825" y="3708900"/>
            <a:ext cx="3709200" cy="111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vs B is the same game as     B vs A. Using this method she has counted every game twice 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161"/>
          <p:cNvSpPr/>
          <p:nvPr/>
        </p:nvSpPr>
        <p:spPr>
          <a:xfrm>
            <a:off x="5154634" y="1611328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38" name="Google Shape;2438;p161"/>
          <p:cNvGrpSpPr/>
          <p:nvPr/>
        </p:nvGrpSpPr>
        <p:grpSpPr>
          <a:xfrm>
            <a:off x="5425016" y="1356941"/>
            <a:ext cx="352954" cy="606769"/>
            <a:chOff x="1304638" y="3518788"/>
            <a:chExt cx="613513" cy="1054700"/>
          </a:xfrm>
        </p:grpSpPr>
        <p:sp>
          <p:nvSpPr>
            <p:cNvPr id="2439" name="Google Shape;2439;p16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16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1" name="Google Shape;2441;p161"/>
          <p:cNvSpPr/>
          <p:nvPr/>
        </p:nvSpPr>
        <p:spPr>
          <a:xfrm>
            <a:off x="3732632" y="1636792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2" name="Google Shape;2442;p1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443" name="Google Shape;2443;p161"/>
          <p:cNvSpPr txBox="1"/>
          <p:nvPr>
            <p:ph idx="1" type="body"/>
          </p:nvPr>
        </p:nvSpPr>
        <p:spPr>
          <a:xfrm>
            <a:off x="324000" y="759300"/>
            <a:ext cx="82377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Izzy is building step patterns out of cubes. Here are her first 3 patterns.  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2444" name="Google Shape;2444;p161"/>
          <p:cNvSpPr/>
          <p:nvPr/>
        </p:nvSpPr>
        <p:spPr>
          <a:xfrm>
            <a:off x="2838199" y="1626272"/>
            <a:ext cx="363600" cy="3636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5" name="Google Shape;2445;p161"/>
          <p:cNvGrpSpPr/>
          <p:nvPr/>
        </p:nvGrpSpPr>
        <p:grpSpPr>
          <a:xfrm>
            <a:off x="4001475" y="1364808"/>
            <a:ext cx="363445" cy="624804"/>
            <a:chOff x="1304638" y="3518788"/>
            <a:chExt cx="613513" cy="1054700"/>
          </a:xfrm>
        </p:grpSpPr>
        <p:sp>
          <p:nvSpPr>
            <p:cNvPr id="2446" name="Google Shape;2446;p16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16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48" name="Google Shape;2448;p161"/>
          <p:cNvSpPr/>
          <p:nvPr/>
        </p:nvSpPr>
        <p:spPr>
          <a:xfrm>
            <a:off x="4273835" y="1636762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49" name="Google Shape;2449;p161"/>
          <p:cNvGrpSpPr/>
          <p:nvPr/>
        </p:nvGrpSpPr>
        <p:grpSpPr>
          <a:xfrm>
            <a:off x="5690089" y="1079988"/>
            <a:ext cx="363437" cy="885083"/>
            <a:chOff x="2196050" y="3079424"/>
            <a:chExt cx="613500" cy="1494064"/>
          </a:xfrm>
        </p:grpSpPr>
        <p:sp>
          <p:nvSpPr>
            <p:cNvPr id="2450" name="Google Shape;2450;p161"/>
            <p:cNvSpPr/>
            <p:nvPr/>
          </p:nvSpPr>
          <p:spPr>
            <a:xfrm>
              <a:off x="21960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EEFF4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161"/>
            <p:cNvSpPr/>
            <p:nvPr/>
          </p:nvSpPr>
          <p:spPr>
            <a:xfrm>
              <a:off x="2196050" y="3525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EEFF4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161"/>
            <p:cNvSpPr/>
            <p:nvPr/>
          </p:nvSpPr>
          <p:spPr>
            <a:xfrm>
              <a:off x="2196050" y="3079424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EEFF4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453" name="Google Shape;2453;p161"/>
          <p:cNvGrpSpPr/>
          <p:nvPr/>
        </p:nvGrpSpPr>
        <p:grpSpPr>
          <a:xfrm>
            <a:off x="5966622" y="1357329"/>
            <a:ext cx="352954" cy="606769"/>
            <a:chOff x="1304638" y="3518788"/>
            <a:chExt cx="613513" cy="1054700"/>
          </a:xfrm>
        </p:grpSpPr>
        <p:sp>
          <p:nvSpPr>
            <p:cNvPr id="2454" name="Google Shape;2454;p161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161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56" name="Google Shape;2456;p161"/>
          <p:cNvSpPr/>
          <p:nvPr/>
        </p:nvSpPr>
        <p:spPr>
          <a:xfrm>
            <a:off x="6239009" y="1610300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7" name="Google Shape;2457;p161"/>
          <p:cNvSpPr txBox="1"/>
          <p:nvPr>
            <p:ph idx="1" type="body"/>
          </p:nvPr>
        </p:nvSpPr>
        <p:spPr>
          <a:xfrm>
            <a:off x="324000" y="2435700"/>
            <a:ext cx="82377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Fill in the table to show the number of cubes in her first 5 patterns if she continues to build them in the same way.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What do you notice about your answers?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How many cubes would she need to build the 10</a:t>
            </a:r>
            <a:r>
              <a:rPr baseline="30000" lang="en-GB" sz="1800"/>
              <a:t>th</a:t>
            </a:r>
            <a:r>
              <a:rPr lang="en-GB" sz="1800"/>
              <a:t> pattern? </a:t>
            </a:r>
            <a:endParaRPr sz="1800"/>
          </a:p>
        </p:txBody>
      </p:sp>
      <p:graphicFrame>
        <p:nvGraphicFramePr>
          <p:cNvPr id="2458" name="Google Shape;2458;p161"/>
          <p:cNvGraphicFramePr/>
          <p:nvPr/>
        </p:nvGraphicFramePr>
        <p:xfrm>
          <a:off x="696763" y="312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017325"/>
                <a:gridCol w="1133850"/>
                <a:gridCol w="1133850"/>
                <a:gridCol w="1133850"/>
                <a:gridCol w="1133850"/>
                <a:gridCol w="1133850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Pattern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cubes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59" name="Google Shape;2459;p161"/>
          <p:cNvSpPr txBox="1"/>
          <p:nvPr/>
        </p:nvSpPr>
        <p:spPr>
          <a:xfrm>
            <a:off x="850800" y="2008650"/>
            <a:ext cx="1863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Pattern number</a:t>
            </a:r>
            <a:endParaRPr sz="1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0" name="Google Shape;2460;p161"/>
          <p:cNvSpPr txBox="1"/>
          <p:nvPr/>
        </p:nvSpPr>
        <p:spPr>
          <a:xfrm>
            <a:off x="2916988" y="2008650"/>
            <a:ext cx="912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1" name="Google Shape;2461;p161"/>
          <p:cNvSpPr txBox="1"/>
          <p:nvPr/>
        </p:nvSpPr>
        <p:spPr>
          <a:xfrm>
            <a:off x="4079753" y="2008650"/>
            <a:ext cx="20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2" name="Google Shape;2462;p161"/>
          <p:cNvSpPr txBox="1"/>
          <p:nvPr/>
        </p:nvSpPr>
        <p:spPr>
          <a:xfrm>
            <a:off x="5750468" y="2008650"/>
            <a:ext cx="28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3" name="Google Shape;2463;p161"/>
          <p:cNvSpPr txBox="1"/>
          <p:nvPr/>
        </p:nvSpPr>
        <p:spPr>
          <a:xfrm>
            <a:off x="7036972" y="2008650"/>
            <a:ext cx="1169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64" name="Google Shape;2464;p161"/>
          <p:cNvSpPr txBox="1"/>
          <p:nvPr/>
        </p:nvSpPr>
        <p:spPr>
          <a:xfrm>
            <a:off x="7036972" y="1716550"/>
            <a:ext cx="1169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8" name="Shape 2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9" name="Google Shape;2469;p1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470" name="Google Shape;2470;p162"/>
          <p:cNvSpPr txBox="1"/>
          <p:nvPr>
            <p:ph idx="1" type="body"/>
          </p:nvPr>
        </p:nvSpPr>
        <p:spPr>
          <a:xfrm>
            <a:off x="324000" y="682225"/>
            <a:ext cx="8496000" cy="93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2) Alex is playing around with number patterns. He notices that if he </a:t>
            </a:r>
            <a:r>
              <a:rPr lang="en-GB" sz="1800">
                <a:solidFill>
                  <a:schemeClr val="accent5"/>
                </a:solidFill>
              </a:rPr>
              <a:t>squares the number 3, then subtracts one, then divides by 8</a:t>
            </a:r>
            <a:r>
              <a:rPr lang="en-GB" sz="1800"/>
              <a:t> he gets a square number. He wants to see if this works for other odd numbers.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</a:t>
            </a:r>
            <a:endParaRPr sz="1800"/>
          </a:p>
        </p:txBody>
      </p:sp>
      <p:sp>
        <p:nvSpPr>
          <p:cNvPr id="2471" name="Google Shape;2471;p162"/>
          <p:cNvSpPr txBox="1"/>
          <p:nvPr>
            <p:ph idx="1" type="body"/>
          </p:nvPr>
        </p:nvSpPr>
        <p:spPr>
          <a:xfrm>
            <a:off x="324000" y="1834325"/>
            <a:ext cx="92736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r>
              <a:rPr lang="en-GB" sz="1700"/>
              <a:t> </a:t>
            </a:r>
            <a:r>
              <a:rPr lang="en-GB" sz="1800"/>
              <a:t>Fill</a:t>
            </a:r>
            <a:r>
              <a:rPr lang="en-GB" sz="1700"/>
              <a:t> </a:t>
            </a:r>
            <a:r>
              <a:rPr lang="en-GB" sz="1800"/>
              <a:t>in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table</a:t>
            </a:r>
            <a:r>
              <a:rPr lang="en-GB" sz="1700"/>
              <a:t> </a:t>
            </a:r>
            <a:r>
              <a:rPr lang="en-GB" sz="1800"/>
              <a:t>with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results</a:t>
            </a:r>
            <a:r>
              <a:rPr lang="en-GB" sz="1700"/>
              <a:t> </a:t>
            </a:r>
            <a:r>
              <a:rPr lang="en-GB" sz="1800"/>
              <a:t>from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first</a:t>
            </a:r>
            <a:r>
              <a:rPr lang="en-GB" sz="1700"/>
              <a:t> </a:t>
            </a:r>
            <a:r>
              <a:rPr lang="en-GB" sz="1800"/>
              <a:t>5</a:t>
            </a:r>
            <a:r>
              <a:rPr lang="en-GB" sz="1700"/>
              <a:t> </a:t>
            </a:r>
            <a:r>
              <a:rPr lang="en-GB" sz="1800"/>
              <a:t>odd</a:t>
            </a:r>
            <a:r>
              <a:rPr lang="en-GB" sz="1700"/>
              <a:t> </a:t>
            </a:r>
            <a:r>
              <a:rPr lang="en-GB" sz="1800"/>
              <a:t>numbers</a:t>
            </a:r>
            <a:r>
              <a:rPr lang="en-GB" sz="1700"/>
              <a:t> </a:t>
            </a:r>
            <a:r>
              <a:rPr lang="en-GB" sz="1800"/>
              <a:t>greater</a:t>
            </a:r>
            <a:r>
              <a:rPr lang="en-GB" sz="1700"/>
              <a:t> </a:t>
            </a:r>
            <a:r>
              <a:rPr lang="en-GB" sz="1800"/>
              <a:t>than</a:t>
            </a:r>
            <a:r>
              <a:rPr lang="en-GB" sz="1700"/>
              <a:t> </a:t>
            </a:r>
            <a:r>
              <a:rPr lang="en-GB" sz="1800"/>
              <a:t>1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What do you notice about your answers?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</a:t>
            </a:r>
            <a:r>
              <a:rPr lang="en-GB" sz="1700"/>
              <a:t> </a:t>
            </a:r>
            <a:r>
              <a:rPr lang="en-GB" sz="1800"/>
              <a:t>What</a:t>
            </a:r>
            <a:r>
              <a:rPr lang="en-GB" sz="1700"/>
              <a:t> </a:t>
            </a:r>
            <a:r>
              <a:rPr lang="en-GB" sz="1800"/>
              <a:t>value</a:t>
            </a:r>
            <a:r>
              <a:rPr lang="en-GB" sz="1700"/>
              <a:t> </a:t>
            </a:r>
            <a:r>
              <a:rPr lang="en-GB" sz="1800"/>
              <a:t>would</a:t>
            </a:r>
            <a:r>
              <a:rPr lang="en-GB" sz="1700"/>
              <a:t> </a:t>
            </a:r>
            <a:r>
              <a:rPr lang="en-GB" sz="1800"/>
              <a:t>you</a:t>
            </a:r>
            <a:r>
              <a:rPr lang="en-GB" sz="1700"/>
              <a:t> </a:t>
            </a:r>
            <a:r>
              <a:rPr lang="en-GB" sz="1800"/>
              <a:t>get</a:t>
            </a:r>
            <a:r>
              <a:rPr lang="en-GB" sz="1700"/>
              <a:t> </a:t>
            </a:r>
            <a:r>
              <a:rPr lang="en-GB" sz="1800"/>
              <a:t>if</a:t>
            </a:r>
            <a:r>
              <a:rPr lang="en-GB" sz="1700"/>
              <a:t> </a:t>
            </a:r>
            <a:r>
              <a:rPr lang="en-GB" sz="1800"/>
              <a:t>you</a:t>
            </a:r>
            <a:r>
              <a:rPr lang="en-GB" sz="1700"/>
              <a:t> </a:t>
            </a:r>
            <a:r>
              <a:rPr lang="en-GB" sz="1800"/>
              <a:t>applied</a:t>
            </a:r>
            <a:r>
              <a:rPr lang="en-GB" sz="1700"/>
              <a:t> </a:t>
            </a:r>
            <a:r>
              <a:rPr lang="en-GB" sz="1800"/>
              <a:t>this</a:t>
            </a:r>
            <a:r>
              <a:rPr lang="en-GB" sz="1700"/>
              <a:t> </a:t>
            </a:r>
            <a:r>
              <a:rPr lang="en-GB" sz="1800"/>
              <a:t>calculation</a:t>
            </a:r>
            <a:r>
              <a:rPr lang="en-GB" sz="1700"/>
              <a:t> </a:t>
            </a:r>
            <a:r>
              <a:rPr lang="en-GB" sz="1800"/>
              <a:t>to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number</a:t>
            </a:r>
            <a:r>
              <a:rPr lang="en-GB" sz="1700"/>
              <a:t> </a:t>
            </a:r>
            <a:r>
              <a:rPr lang="en-GB" sz="1800"/>
              <a:t>19</a:t>
            </a:r>
            <a:r>
              <a:rPr lang="en-GB" sz="1700"/>
              <a:t>?</a:t>
            </a:r>
            <a:endParaRPr sz="1700"/>
          </a:p>
        </p:txBody>
      </p:sp>
      <p:graphicFrame>
        <p:nvGraphicFramePr>
          <p:cNvPr id="2472" name="Google Shape;2472;p162"/>
          <p:cNvGraphicFramePr/>
          <p:nvPr/>
        </p:nvGraphicFramePr>
        <p:xfrm>
          <a:off x="1170213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007675"/>
                <a:gridCol w="1128425"/>
                <a:gridCol w="1128425"/>
                <a:gridCol w="1128425"/>
                <a:gridCol w="1128425"/>
                <a:gridCol w="1128425"/>
              </a:tblGrid>
              <a:tr h="29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 number 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 (            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n^2-1}{8}&quot;&gt;&lt;mfrac&gt;&lt;mrow&gt;&lt;msup&gt;&lt;mi&gt;n&lt;/mi&gt;&lt;mn&gt;2&lt;/mn&gt;&lt;/msup&gt;&lt;mo&gt;−&lt;/mo&gt;&lt;mn&gt;1&lt;/mn&gt;&lt;/mrow&gt;&lt;mn&gt;8&lt;/mn&gt;&lt;/mfrac&gt;&lt;/math&gt;" id="2473" name="Google Shape;2473;p162" title="the fraction with numerator n squared minus 1 and denominator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148" y="2492611"/>
            <a:ext cx="617763" cy="5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7" name="Shape 2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8" name="Google Shape;2478;p1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479" name="Google Shape;2479;p163"/>
          <p:cNvSpPr txBox="1"/>
          <p:nvPr>
            <p:ph idx="1" type="body"/>
          </p:nvPr>
        </p:nvSpPr>
        <p:spPr>
          <a:xfrm>
            <a:off x="324000" y="682225"/>
            <a:ext cx="8496000" cy="12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Sam is investigating the </a:t>
            </a:r>
            <a:r>
              <a:rPr lang="en-GB" sz="1800">
                <a:solidFill>
                  <a:schemeClr val="accent5"/>
                </a:solidFill>
              </a:rPr>
              <a:t>maximum</a:t>
            </a:r>
            <a:r>
              <a:rPr lang="en-GB" sz="1800"/>
              <a:t> number of intersection points between straight lines drawn in a square. They want to know how many intersection points there could be if they drew 12 different lines, but drawing them all is proving difficult. </a:t>
            </a:r>
            <a:r>
              <a:rPr lang="en-GB" sz="1800"/>
              <a:t>    </a:t>
            </a:r>
            <a:endParaRPr sz="1800"/>
          </a:p>
        </p:txBody>
      </p:sp>
      <p:sp>
        <p:nvSpPr>
          <p:cNvPr id="2480" name="Google Shape;2480;p163"/>
          <p:cNvSpPr txBox="1"/>
          <p:nvPr>
            <p:ph idx="1" type="body"/>
          </p:nvPr>
        </p:nvSpPr>
        <p:spPr>
          <a:xfrm>
            <a:off x="324000" y="2063567"/>
            <a:ext cx="8237700" cy="64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Sam tries it with 3 lines first, making sure the lines intersect the maximum number of times.</a:t>
            </a:r>
            <a:r>
              <a:rPr lang="en-GB" sz="1700"/>
              <a:t> </a:t>
            </a:r>
            <a:r>
              <a:rPr lang="en-GB" sz="1800"/>
              <a:t>How</a:t>
            </a:r>
            <a:r>
              <a:rPr lang="en-GB" sz="1700"/>
              <a:t> </a:t>
            </a:r>
            <a:r>
              <a:rPr lang="en-GB" sz="1800"/>
              <a:t>many</a:t>
            </a:r>
            <a:r>
              <a:rPr lang="en-GB" sz="1700"/>
              <a:t> </a:t>
            </a:r>
            <a:r>
              <a:rPr lang="en-GB" sz="1800"/>
              <a:t>intersection</a:t>
            </a:r>
            <a:r>
              <a:rPr lang="en-GB" sz="1700"/>
              <a:t> </a:t>
            </a:r>
            <a:r>
              <a:rPr lang="en-GB" sz="1800"/>
              <a:t>points</a:t>
            </a:r>
            <a:r>
              <a:rPr lang="en-GB" sz="1700"/>
              <a:t> </a:t>
            </a:r>
            <a:r>
              <a:rPr lang="en-GB" sz="1800"/>
              <a:t>are</a:t>
            </a:r>
            <a:r>
              <a:rPr lang="en-GB" sz="1700"/>
              <a:t> </a:t>
            </a:r>
            <a:r>
              <a:rPr lang="en-GB" sz="1800"/>
              <a:t>there</a:t>
            </a:r>
            <a:r>
              <a:rPr lang="en-GB" sz="1700"/>
              <a:t>?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Fill in the table for 2 lines, 3 lines, 4 lines and 5 lines, what do you notice about your answers?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c) What is the maximum number of intersections with 12 lines?</a:t>
            </a:r>
            <a:endParaRPr sz="1800"/>
          </a:p>
        </p:txBody>
      </p:sp>
      <p:graphicFrame>
        <p:nvGraphicFramePr>
          <p:cNvPr id="2481" name="Google Shape;2481;p163"/>
          <p:cNvGraphicFramePr/>
          <p:nvPr/>
        </p:nvGraphicFramePr>
        <p:xfrm>
          <a:off x="2704075" y="324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760000"/>
                <a:gridCol w="830775"/>
                <a:gridCol w="830775"/>
                <a:gridCol w="830775"/>
                <a:gridCol w="830775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intersections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482" name="Google Shape;2482;p163"/>
          <p:cNvCxnSpPr/>
          <p:nvPr/>
        </p:nvCxnSpPr>
        <p:spPr>
          <a:xfrm>
            <a:off x="7911475" y="2055500"/>
            <a:ext cx="670500" cy="690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3" name="Google Shape;2483;p163"/>
          <p:cNvCxnSpPr/>
          <p:nvPr/>
        </p:nvCxnSpPr>
        <p:spPr>
          <a:xfrm flipH="1" rot="10800000">
            <a:off x="7915275" y="1848375"/>
            <a:ext cx="630900" cy="618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84" name="Google Shape;2484;p163"/>
          <p:cNvCxnSpPr/>
          <p:nvPr/>
        </p:nvCxnSpPr>
        <p:spPr>
          <a:xfrm>
            <a:off x="8159400" y="1855388"/>
            <a:ext cx="328200" cy="892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85" name="Google Shape;2485;p163"/>
          <p:cNvSpPr/>
          <p:nvPr/>
        </p:nvSpPr>
        <p:spPr>
          <a:xfrm>
            <a:off x="7908666" y="1848213"/>
            <a:ext cx="900000" cy="90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164"/>
          <p:cNvSpPr/>
          <p:nvPr/>
        </p:nvSpPr>
        <p:spPr>
          <a:xfrm>
            <a:off x="5154634" y="1611328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1" name="Google Shape;2491;p164"/>
          <p:cNvGrpSpPr/>
          <p:nvPr/>
        </p:nvGrpSpPr>
        <p:grpSpPr>
          <a:xfrm>
            <a:off x="5425016" y="1356941"/>
            <a:ext cx="352954" cy="606769"/>
            <a:chOff x="1304638" y="3518788"/>
            <a:chExt cx="613513" cy="1054700"/>
          </a:xfrm>
        </p:grpSpPr>
        <p:sp>
          <p:nvSpPr>
            <p:cNvPr id="2492" name="Google Shape;2492;p164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164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94" name="Google Shape;2494;p164"/>
          <p:cNvSpPr/>
          <p:nvPr/>
        </p:nvSpPr>
        <p:spPr>
          <a:xfrm>
            <a:off x="3732632" y="1636792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5" name="Google Shape;2495;p1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496" name="Google Shape;2496;p1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</a:t>
            </a:r>
            <a:r>
              <a:rPr lang="en-GB" sz="1800"/>
              <a:t>Izzy is building step patterns out of cubes. Here are her first 3 patterns.  </a:t>
            </a:r>
            <a:endParaRPr sz="1800"/>
          </a:p>
        </p:txBody>
      </p:sp>
      <p:sp>
        <p:nvSpPr>
          <p:cNvPr id="2497" name="Google Shape;2497;p164"/>
          <p:cNvSpPr/>
          <p:nvPr/>
        </p:nvSpPr>
        <p:spPr>
          <a:xfrm>
            <a:off x="2838199" y="1626272"/>
            <a:ext cx="363600" cy="3636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498" name="Google Shape;2498;p164"/>
          <p:cNvGrpSpPr/>
          <p:nvPr/>
        </p:nvGrpSpPr>
        <p:grpSpPr>
          <a:xfrm>
            <a:off x="4001475" y="1364808"/>
            <a:ext cx="363445" cy="624804"/>
            <a:chOff x="1304638" y="3518788"/>
            <a:chExt cx="613513" cy="1054700"/>
          </a:xfrm>
        </p:grpSpPr>
        <p:sp>
          <p:nvSpPr>
            <p:cNvPr id="2499" name="Google Shape;2499;p164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164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1" name="Google Shape;2501;p164"/>
          <p:cNvSpPr/>
          <p:nvPr/>
        </p:nvSpPr>
        <p:spPr>
          <a:xfrm>
            <a:off x="4273835" y="1636762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2" name="Google Shape;2502;p164"/>
          <p:cNvGrpSpPr/>
          <p:nvPr/>
        </p:nvGrpSpPr>
        <p:grpSpPr>
          <a:xfrm>
            <a:off x="5690089" y="1079988"/>
            <a:ext cx="363437" cy="885083"/>
            <a:chOff x="2196050" y="3079424"/>
            <a:chExt cx="613500" cy="1494064"/>
          </a:xfrm>
        </p:grpSpPr>
        <p:sp>
          <p:nvSpPr>
            <p:cNvPr id="2503" name="Google Shape;2503;p164"/>
            <p:cNvSpPr/>
            <p:nvPr/>
          </p:nvSpPr>
          <p:spPr>
            <a:xfrm>
              <a:off x="21960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EEFF4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164"/>
            <p:cNvSpPr/>
            <p:nvPr/>
          </p:nvSpPr>
          <p:spPr>
            <a:xfrm>
              <a:off x="2196050" y="3525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EEFF4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164"/>
            <p:cNvSpPr/>
            <p:nvPr/>
          </p:nvSpPr>
          <p:spPr>
            <a:xfrm>
              <a:off x="2196050" y="3079424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EEFF41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06" name="Google Shape;2506;p164"/>
          <p:cNvGrpSpPr/>
          <p:nvPr/>
        </p:nvGrpSpPr>
        <p:grpSpPr>
          <a:xfrm>
            <a:off x="5966622" y="1357329"/>
            <a:ext cx="352954" cy="606769"/>
            <a:chOff x="1304638" y="3518788"/>
            <a:chExt cx="613513" cy="1054700"/>
          </a:xfrm>
        </p:grpSpPr>
        <p:sp>
          <p:nvSpPr>
            <p:cNvPr id="2507" name="Google Shape;2507;p164"/>
            <p:cNvSpPr/>
            <p:nvPr/>
          </p:nvSpPr>
          <p:spPr>
            <a:xfrm>
              <a:off x="1304650" y="39599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164"/>
            <p:cNvSpPr/>
            <p:nvPr/>
          </p:nvSpPr>
          <p:spPr>
            <a:xfrm>
              <a:off x="1304638" y="3518788"/>
              <a:ext cx="613500" cy="613500"/>
            </a:xfrm>
            <a:prstGeom prst="cube">
              <a:avLst>
                <a:gd fmla="val 25000" name="adj"/>
              </a:avLst>
            </a:prstGeom>
            <a:solidFill>
              <a:srgbClr val="FFAB40"/>
            </a:solidFill>
            <a:ln cap="flat" cmpd="sng" w="2857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09" name="Google Shape;2509;p164"/>
          <p:cNvSpPr/>
          <p:nvPr/>
        </p:nvSpPr>
        <p:spPr>
          <a:xfrm>
            <a:off x="6239009" y="1610300"/>
            <a:ext cx="352800" cy="352800"/>
          </a:xfrm>
          <a:prstGeom prst="cube">
            <a:avLst>
              <a:gd fmla="val 25000" name="adj"/>
            </a:avLst>
          </a:prstGeom>
          <a:solidFill>
            <a:srgbClr val="CC0000"/>
          </a:solidFill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0" name="Google Shape;2510;p164"/>
          <p:cNvSpPr txBox="1"/>
          <p:nvPr>
            <p:ph idx="1" type="body"/>
          </p:nvPr>
        </p:nvSpPr>
        <p:spPr>
          <a:xfrm>
            <a:off x="324000" y="2435700"/>
            <a:ext cx="8237700" cy="2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Fill in the table to show the number of cubes in her first 5 patterns if she continues to build them in the same way.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3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What do you notice about your answers?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the square numbers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c) How many cubes would she need to build the 10</a:t>
            </a:r>
            <a:r>
              <a:rPr baseline="30000" lang="en-GB" sz="1800"/>
              <a:t>th</a:t>
            </a:r>
            <a:r>
              <a:rPr lang="en-GB" sz="1800"/>
              <a:t> pattern?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10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11" name="Google Shape;2511;p164"/>
          <p:cNvGraphicFramePr/>
          <p:nvPr/>
        </p:nvGraphicFramePr>
        <p:xfrm>
          <a:off x="696763" y="3124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017325"/>
                <a:gridCol w="1133850"/>
                <a:gridCol w="1133850"/>
                <a:gridCol w="1133850"/>
                <a:gridCol w="1133850"/>
                <a:gridCol w="1133850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Pattern number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Number of cubes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12" name="Google Shape;2512;p164"/>
          <p:cNvSpPr txBox="1"/>
          <p:nvPr/>
        </p:nvSpPr>
        <p:spPr>
          <a:xfrm>
            <a:off x="850800" y="2008650"/>
            <a:ext cx="1863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Pattern number</a:t>
            </a:r>
            <a:endParaRPr sz="18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3" name="Google Shape;2513;p164"/>
          <p:cNvSpPr txBox="1"/>
          <p:nvPr/>
        </p:nvSpPr>
        <p:spPr>
          <a:xfrm>
            <a:off x="2916988" y="2008650"/>
            <a:ext cx="9126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4" name="Google Shape;2514;p164"/>
          <p:cNvSpPr txBox="1"/>
          <p:nvPr/>
        </p:nvSpPr>
        <p:spPr>
          <a:xfrm>
            <a:off x="4079753" y="2008650"/>
            <a:ext cx="2079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5" name="Google Shape;2515;p164"/>
          <p:cNvSpPr txBox="1"/>
          <p:nvPr/>
        </p:nvSpPr>
        <p:spPr>
          <a:xfrm>
            <a:off x="5750468" y="2008650"/>
            <a:ext cx="2841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6" name="Google Shape;2516;p164"/>
          <p:cNvSpPr txBox="1"/>
          <p:nvPr/>
        </p:nvSpPr>
        <p:spPr>
          <a:xfrm>
            <a:off x="7036972" y="2008650"/>
            <a:ext cx="1169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17" name="Google Shape;2517;p164"/>
          <p:cNvSpPr txBox="1"/>
          <p:nvPr/>
        </p:nvSpPr>
        <p:spPr>
          <a:xfrm>
            <a:off x="7036972" y="1716550"/>
            <a:ext cx="11697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…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1" name="Shape 2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2" name="Google Shape;2522;p1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523" name="Google Shape;2523;p1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Alex is playing around with number patterns. He notices that if he squares the number 3, then subtracts one, then divides by 8 he gets a square number. He wants to see if this works for other odd numbers.    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     </a:t>
            </a:r>
            <a:endParaRPr sz="1800"/>
          </a:p>
        </p:txBody>
      </p:sp>
      <p:sp>
        <p:nvSpPr>
          <p:cNvPr id="2524" name="Google Shape;2524;p165"/>
          <p:cNvSpPr txBox="1"/>
          <p:nvPr>
            <p:ph idx="1" type="body"/>
          </p:nvPr>
        </p:nvSpPr>
        <p:spPr>
          <a:xfrm>
            <a:off x="324000" y="1834325"/>
            <a:ext cx="9645900" cy="320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</a:t>
            </a:r>
            <a:r>
              <a:rPr lang="en-GB" sz="1700"/>
              <a:t> </a:t>
            </a:r>
            <a:r>
              <a:rPr lang="en-GB" sz="1800"/>
              <a:t>Fill</a:t>
            </a:r>
            <a:r>
              <a:rPr lang="en-GB" sz="1700"/>
              <a:t> </a:t>
            </a:r>
            <a:r>
              <a:rPr lang="en-GB" sz="1800"/>
              <a:t>in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table</a:t>
            </a:r>
            <a:r>
              <a:rPr lang="en-GB" sz="1700"/>
              <a:t> </a:t>
            </a:r>
            <a:r>
              <a:rPr lang="en-GB" sz="1800"/>
              <a:t>with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results</a:t>
            </a:r>
            <a:r>
              <a:rPr lang="en-GB" sz="1700"/>
              <a:t> </a:t>
            </a:r>
            <a:r>
              <a:rPr lang="en-GB" sz="1800"/>
              <a:t>from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first</a:t>
            </a:r>
            <a:r>
              <a:rPr lang="en-GB" sz="1700"/>
              <a:t> </a:t>
            </a:r>
            <a:r>
              <a:rPr lang="en-GB" sz="1800"/>
              <a:t>5</a:t>
            </a:r>
            <a:r>
              <a:rPr lang="en-GB" sz="1700"/>
              <a:t> </a:t>
            </a:r>
            <a:r>
              <a:rPr lang="en-GB" sz="1800"/>
              <a:t>odd</a:t>
            </a:r>
            <a:r>
              <a:rPr lang="en-GB" sz="1700"/>
              <a:t> </a:t>
            </a:r>
            <a:r>
              <a:rPr lang="en-GB" sz="1800"/>
              <a:t>numbers</a:t>
            </a:r>
            <a:r>
              <a:rPr lang="en-GB" sz="1700"/>
              <a:t> </a:t>
            </a:r>
            <a:r>
              <a:rPr lang="en-GB" sz="1800"/>
              <a:t>greater</a:t>
            </a:r>
            <a:r>
              <a:rPr lang="en-GB" sz="1700"/>
              <a:t> </a:t>
            </a:r>
            <a:r>
              <a:rPr lang="en-GB" sz="1800"/>
              <a:t>than</a:t>
            </a:r>
            <a:r>
              <a:rPr lang="en-GB" sz="1700"/>
              <a:t> </a:t>
            </a:r>
            <a:r>
              <a:rPr lang="en-GB" sz="1800"/>
              <a:t>1 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What do you notice about your answers?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numbers not the square numbers </a:t>
            </a:r>
            <a:endParaRPr sz="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c)</a:t>
            </a:r>
            <a:r>
              <a:rPr lang="en-GB" sz="1700"/>
              <a:t> </a:t>
            </a:r>
            <a:r>
              <a:rPr lang="en-GB" sz="1800"/>
              <a:t>What</a:t>
            </a:r>
            <a:r>
              <a:rPr lang="en-GB" sz="1700"/>
              <a:t> </a:t>
            </a:r>
            <a:r>
              <a:rPr lang="en-GB" sz="1800"/>
              <a:t>value</a:t>
            </a:r>
            <a:r>
              <a:rPr lang="en-GB" sz="1700"/>
              <a:t> </a:t>
            </a:r>
            <a:r>
              <a:rPr lang="en-GB" sz="1800"/>
              <a:t>would</a:t>
            </a:r>
            <a:r>
              <a:rPr lang="en-GB" sz="1700"/>
              <a:t> </a:t>
            </a:r>
            <a:r>
              <a:rPr lang="en-GB" sz="1800"/>
              <a:t>you</a:t>
            </a:r>
            <a:r>
              <a:rPr lang="en-GB" sz="1700"/>
              <a:t> </a:t>
            </a:r>
            <a:r>
              <a:rPr lang="en-GB" sz="1800"/>
              <a:t>get</a:t>
            </a:r>
            <a:r>
              <a:rPr lang="en-GB" sz="1700"/>
              <a:t> </a:t>
            </a:r>
            <a:r>
              <a:rPr lang="en-GB" sz="1800"/>
              <a:t>if</a:t>
            </a:r>
            <a:r>
              <a:rPr lang="en-GB" sz="1700"/>
              <a:t> </a:t>
            </a:r>
            <a:r>
              <a:rPr lang="en-GB" sz="1800"/>
              <a:t>you</a:t>
            </a:r>
            <a:r>
              <a:rPr lang="en-GB" sz="1700"/>
              <a:t> </a:t>
            </a:r>
            <a:r>
              <a:rPr lang="en-GB" sz="1800"/>
              <a:t>applied</a:t>
            </a:r>
            <a:r>
              <a:rPr lang="en-GB" sz="1700"/>
              <a:t> </a:t>
            </a:r>
            <a:r>
              <a:rPr lang="en-GB" sz="1800"/>
              <a:t>this</a:t>
            </a:r>
            <a:r>
              <a:rPr lang="en-GB" sz="1700"/>
              <a:t> </a:t>
            </a:r>
            <a:r>
              <a:rPr lang="en-GB" sz="1800"/>
              <a:t>calculation</a:t>
            </a:r>
            <a:r>
              <a:rPr lang="en-GB" sz="1700"/>
              <a:t> </a:t>
            </a:r>
            <a:r>
              <a:rPr lang="en-GB" sz="1800"/>
              <a:t>to</a:t>
            </a:r>
            <a:r>
              <a:rPr lang="en-GB" sz="1700"/>
              <a:t> </a:t>
            </a:r>
            <a:r>
              <a:rPr lang="en-GB" sz="1800"/>
              <a:t>the</a:t>
            </a:r>
            <a:r>
              <a:rPr lang="en-GB" sz="1700"/>
              <a:t> </a:t>
            </a:r>
            <a:r>
              <a:rPr lang="en-GB" sz="1800"/>
              <a:t>number</a:t>
            </a:r>
            <a:r>
              <a:rPr lang="en-GB" sz="1700"/>
              <a:t> </a:t>
            </a:r>
            <a:r>
              <a:rPr lang="en-GB" sz="1800"/>
              <a:t>19</a:t>
            </a:r>
            <a:r>
              <a:rPr lang="en-GB" sz="1700"/>
              <a:t>?</a:t>
            </a:r>
            <a:endParaRPr sz="17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19 is the 9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odd number greater than 1. The 9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triangular number is 45.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2525" name="Google Shape;2525;p165"/>
          <p:cNvGraphicFramePr/>
          <p:nvPr/>
        </p:nvGraphicFramePr>
        <p:xfrm>
          <a:off x="1170213" y="216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007675"/>
                <a:gridCol w="1128425"/>
                <a:gridCol w="1128425"/>
                <a:gridCol w="1128425"/>
                <a:gridCol w="1128425"/>
                <a:gridCol w="1128425"/>
              </a:tblGrid>
              <a:tr h="297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 number (</a:t>
                      </a:r>
                      <a:r>
                        <a:rPr i="1" lang="en-GB" sz="2000">
                          <a:solidFill>
                            <a:schemeClr val="dk1"/>
                          </a:solidFill>
                          <a:latin typeface="Times"/>
                          <a:ea typeface="Times"/>
                          <a:cs typeface="Times"/>
                          <a:sym typeface="Times"/>
                        </a:rPr>
                        <a:t>n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)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11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29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Result (            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n^2-1}{8}&quot;&gt;&lt;mfrac&gt;&lt;mrow&gt;&lt;msup&gt;&lt;mi&gt;n&lt;/mi&gt;&lt;mn&gt;2&lt;/mn&gt;&lt;/msup&gt;&lt;mo&gt;−&lt;/mo&gt;&lt;mn&gt;1&lt;/mn&gt;&lt;/mrow&gt;&lt;mn&gt;8&lt;/mn&gt;&lt;/mfrac&gt;&lt;/math&gt;" id="2526" name="Google Shape;2526;p165" title="the fraction with numerator n squared minus 1 and denominator 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3148" y="2492611"/>
            <a:ext cx="617763" cy="50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0" name="Shape 2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Google Shape;2531;p166"/>
          <p:cNvSpPr txBox="1"/>
          <p:nvPr>
            <p:ph idx="1" type="body"/>
          </p:nvPr>
        </p:nvSpPr>
        <p:spPr>
          <a:xfrm>
            <a:off x="324000" y="1991449"/>
            <a:ext cx="8237700" cy="267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Sam tries it with 3 lines first, making sure the lines intersect the maximum number of times.</a:t>
            </a:r>
            <a:r>
              <a:rPr lang="en-GB" sz="1700"/>
              <a:t> </a:t>
            </a:r>
            <a:r>
              <a:rPr lang="en-GB" sz="1800"/>
              <a:t>How</a:t>
            </a:r>
            <a:r>
              <a:rPr lang="en-GB" sz="1700"/>
              <a:t> </a:t>
            </a:r>
            <a:r>
              <a:rPr lang="en-GB" sz="1800"/>
              <a:t>many</a:t>
            </a:r>
            <a:r>
              <a:rPr lang="en-GB" sz="1700"/>
              <a:t> </a:t>
            </a:r>
            <a:r>
              <a:rPr lang="en-GB" sz="1800"/>
              <a:t>intersection</a:t>
            </a:r>
            <a:r>
              <a:rPr lang="en-GB" sz="1700"/>
              <a:t> </a:t>
            </a:r>
            <a:r>
              <a:rPr lang="en-GB" sz="1800"/>
              <a:t>points</a:t>
            </a:r>
            <a:r>
              <a:rPr lang="en-GB" sz="1700"/>
              <a:t> </a:t>
            </a:r>
            <a:r>
              <a:rPr lang="en-GB" sz="1800"/>
              <a:t>are</a:t>
            </a:r>
            <a:r>
              <a:rPr lang="en-GB" sz="1700"/>
              <a:t> </a:t>
            </a:r>
            <a:r>
              <a:rPr lang="en-GB" sz="1800"/>
              <a:t>there</a:t>
            </a:r>
            <a:r>
              <a:rPr lang="en-GB" sz="1700"/>
              <a:t>?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Fill in the table for 2 lines, 3 lines, 4 lines and 5 lines, what do you notice about your answers?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They are the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cxnSp>
        <p:nvCxnSpPr>
          <p:cNvPr id="2532" name="Google Shape;2532;p166"/>
          <p:cNvCxnSpPr/>
          <p:nvPr/>
        </p:nvCxnSpPr>
        <p:spPr>
          <a:xfrm>
            <a:off x="6701433" y="3538375"/>
            <a:ext cx="512700" cy="5280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3" name="Google Shape;2533;p166"/>
          <p:cNvCxnSpPr/>
          <p:nvPr/>
        </p:nvCxnSpPr>
        <p:spPr>
          <a:xfrm flipH="1" rot="10800000">
            <a:off x="6704338" y="3379907"/>
            <a:ext cx="482400" cy="473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4" name="Google Shape;2534;p166"/>
          <p:cNvSpPr/>
          <p:nvPr/>
        </p:nvSpPr>
        <p:spPr>
          <a:xfrm>
            <a:off x="6701426" y="3382494"/>
            <a:ext cx="688200" cy="68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35" name="Google Shape;2535;p1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536" name="Google Shape;2536;p166"/>
          <p:cNvSpPr txBox="1"/>
          <p:nvPr>
            <p:ph idx="1" type="body"/>
          </p:nvPr>
        </p:nvSpPr>
        <p:spPr>
          <a:xfrm>
            <a:off x="324000" y="651650"/>
            <a:ext cx="8496000" cy="13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Sam is investigating the </a:t>
            </a:r>
            <a:r>
              <a:rPr lang="en-GB" sz="1800">
                <a:solidFill>
                  <a:schemeClr val="accent5"/>
                </a:solidFill>
              </a:rPr>
              <a:t>maximum</a:t>
            </a:r>
            <a:r>
              <a:rPr lang="en-GB" sz="1800"/>
              <a:t> number of intersection points between straight lines drawn in a square. They want to know how many intersection points there could be if they drew 12 different lines, but drawing them all is proving difficult.     </a:t>
            </a:r>
            <a:endParaRPr sz="1800"/>
          </a:p>
        </p:txBody>
      </p:sp>
      <p:graphicFrame>
        <p:nvGraphicFramePr>
          <p:cNvPr id="2537" name="Google Shape;2537;p166"/>
          <p:cNvGraphicFramePr/>
          <p:nvPr/>
        </p:nvGraphicFramePr>
        <p:xfrm>
          <a:off x="328050" y="36149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{9E8CE56F-3F8A-4B58-ABBC-47AC0FA6FDEA}</a:tableStyleId>
              </a:tblPr>
              <a:tblGrid>
                <a:gridCol w="2760000"/>
                <a:gridCol w="830775"/>
                <a:gridCol w="830775"/>
                <a:gridCol w="830775"/>
                <a:gridCol w="830775"/>
              </a:tblGrid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lines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9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Number of intersections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0" marB="0" marR="0" marL="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2538" name="Google Shape;2538;p166"/>
          <p:cNvCxnSpPr/>
          <p:nvPr/>
        </p:nvCxnSpPr>
        <p:spPr>
          <a:xfrm>
            <a:off x="7911475" y="1826900"/>
            <a:ext cx="670500" cy="6906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39" name="Google Shape;2539;p166"/>
          <p:cNvCxnSpPr/>
          <p:nvPr/>
        </p:nvCxnSpPr>
        <p:spPr>
          <a:xfrm flipH="1" rot="10800000">
            <a:off x="7915275" y="1619775"/>
            <a:ext cx="630900" cy="6186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0" name="Google Shape;2540;p166"/>
          <p:cNvCxnSpPr/>
          <p:nvPr/>
        </p:nvCxnSpPr>
        <p:spPr>
          <a:xfrm>
            <a:off x="8159400" y="1626789"/>
            <a:ext cx="328200" cy="892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1" name="Google Shape;2541;p166"/>
          <p:cNvSpPr/>
          <p:nvPr/>
        </p:nvSpPr>
        <p:spPr>
          <a:xfrm>
            <a:off x="7911466" y="1623039"/>
            <a:ext cx="900000" cy="9000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2" name="Google Shape;2542;p166"/>
          <p:cNvCxnSpPr/>
          <p:nvPr/>
        </p:nvCxnSpPr>
        <p:spPr>
          <a:xfrm>
            <a:off x="7615833" y="3538406"/>
            <a:ext cx="512700" cy="528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3" name="Google Shape;2543;p166"/>
          <p:cNvCxnSpPr/>
          <p:nvPr/>
        </p:nvCxnSpPr>
        <p:spPr>
          <a:xfrm flipH="1" rot="10800000">
            <a:off x="7618739" y="3379999"/>
            <a:ext cx="482400" cy="473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4" name="Google Shape;2544;p166"/>
          <p:cNvCxnSpPr/>
          <p:nvPr/>
        </p:nvCxnSpPr>
        <p:spPr>
          <a:xfrm>
            <a:off x="7805437" y="3385362"/>
            <a:ext cx="250800" cy="682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5" name="Google Shape;2545;p166"/>
          <p:cNvSpPr/>
          <p:nvPr/>
        </p:nvSpPr>
        <p:spPr>
          <a:xfrm>
            <a:off x="7615826" y="3382494"/>
            <a:ext cx="688200" cy="68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46" name="Google Shape;2546;p166"/>
          <p:cNvCxnSpPr/>
          <p:nvPr/>
        </p:nvCxnSpPr>
        <p:spPr>
          <a:xfrm>
            <a:off x="6701433" y="4288106"/>
            <a:ext cx="512700" cy="528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7" name="Google Shape;2547;p166"/>
          <p:cNvCxnSpPr/>
          <p:nvPr/>
        </p:nvCxnSpPr>
        <p:spPr>
          <a:xfrm flipH="1" rot="10800000">
            <a:off x="6704339" y="4129699"/>
            <a:ext cx="482400" cy="473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48" name="Google Shape;2548;p166"/>
          <p:cNvCxnSpPr/>
          <p:nvPr/>
        </p:nvCxnSpPr>
        <p:spPr>
          <a:xfrm>
            <a:off x="6891037" y="4135062"/>
            <a:ext cx="250800" cy="682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49" name="Google Shape;2549;p166"/>
          <p:cNvSpPr/>
          <p:nvPr/>
        </p:nvSpPr>
        <p:spPr>
          <a:xfrm>
            <a:off x="6701426" y="4132194"/>
            <a:ext cx="688200" cy="68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0" name="Google Shape;2550;p166"/>
          <p:cNvCxnSpPr>
            <a:stCxn id="2549" idx="1"/>
          </p:cNvCxnSpPr>
          <p:nvPr/>
        </p:nvCxnSpPr>
        <p:spPr>
          <a:xfrm>
            <a:off x="6701426" y="4476294"/>
            <a:ext cx="672600" cy="18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1" name="Google Shape;2551;p166"/>
          <p:cNvCxnSpPr/>
          <p:nvPr/>
        </p:nvCxnSpPr>
        <p:spPr>
          <a:xfrm>
            <a:off x="7621708" y="4289356"/>
            <a:ext cx="512700" cy="528300"/>
          </a:xfrm>
          <a:prstGeom prst="straightConnector1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2" name="Google Shape;2552;p166"/>
          <p:cNvCxnSpPr/>
          <p:nvPr/>
        </p:nvCxnSpPr>
        <p:spPr>
          <a:xfrm flipH="1" rot="10800000">
            <a:off x="7624614" y="4130949"/>
            <a:ext cx="482400" cy="473100"/>
          </a:xfrm>
          <a:prstGeom prst="straightConnector1">
            <a:avLst/>
          </a:prstGeom>
          <a:noFill/>
          <a:ln cap="flat" cmpd="sng" w="1905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3" name="Google Shape;2553;p166"/>
          <p:cNvCxnSpPr/>
          <p:nvPr/>
        </p:nvCxnSpPr>
        <p:spPr>
          <a:xfrm>
            <a:off x="7811312" y="4136312"/>
            <a:ext cx="250800" cy="68250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54" name="Google Shape;2554;p166"/>
          <p:cNvSpPr/>
          <p:nvPr/>
        </p:nvSpPr>
        <p:spPr>
          <a:xfrm>
            <a:off x="7621701" y="4133444"/>
            <a:ext cx="688200" cy="688200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555" name="Google Shape;2555;p166"/>
          <p:cNvCxnSpPr/>
          <p:nvPr/>
        </p:nvCxnSpPr>
        <p:spPr>
          <a:xfrm>
            <a:off x="7623626" y="4504044"/>
            <a:ext cx="672600" cy="1848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6" name="Google Shape;2556;p166"/>
          <p:cNvCxnSpPr/>
          <p:nvPr/>
        </p:nvCxnSpPr>
        <p:spPr>
          <a:xfrm flipH="1" rot="10800000">
            <a:off x="7767650" y="4136225"/>
            <a:ext cx="111600" cy="688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16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Identifying special number sequences</a:t>
            </a:r>
            <a:endParaRPr/>
          </a:p>
        </p:txBody>
      </p:sp>
      <p:sp>
        <p:nvSpPr>
          <p:cNvPr id="2562" name="Google Shape;2562;p16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</a:t>
            </a:r>
            <a:r>
              <a:rPr lang="en-GB" sz="1800"/>
              <a:t>) Sam is investigating the </a:t>
            </a:r>
            <a:r>
              <a:rPr lang="en-GB" sz="1800">
                <a:solidFill>
                  <a:schemeClr val="accent5"/>
                </a:solidFill>
              </a:rPr>
              <a:t>maximum</a:t>
            </a:r>
            <a:r>
              <a:rPr lang="en-GB" sz="1800"/>
              <a:t> number of intersection points between straight lines drawn in a square. They want to know how many intersection points there could be if they drew 12 different lines, but drawing them all is proving difficult.     </a:t>
            </a:r>
            <a:endParaRPr sz="1800"/>
          </a:p>
        </p:txBody>
      </p:sp>
      <p:sp>
        <p:nvSpPr>
          <p:cNvPr id="2563" name="Google Shape;2563;p167"/>
          <p:cNvSpPr txBox="1"/>
          <p:nvPr>
            <p:ph idx="1" type="body"/>
          </p:nvPr>
        </p:nvSpPr>
        <p:spPr>
          <a:xfrm>
            <a:off x="324000" y="2160001"/>
            <a:ext cx="8237700" cy="266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What is the maximum number of intersections with 12 lines?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 lines was the first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 lines the second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triangular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number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 12 lines should be the 11</a:t>
            </a:r>
            <a:r>
              <a:rPr baseline="30000" lang="en-GB" sz="2000">
                <a:latin typeface="Kalam"/>
                <a:ea typeface="Kalam"/>
                <a:cs typeface="Kalam"/>
                <a:sym typeface="Kalam"/>
              </a:rPr>
              <a:t>th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triangular number which is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+ 2 + 3 + 4 + 5 + 6 + 7 + 8 + 9 + 10 + 11 = 66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7" name="Shape 2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8" name="Google Shape;2568;p168"/>
          <p:cNvSpPr txBox="1"/>
          <p:nvPr>
            <p:ph idx="1" type="body"/>
          </p:nvPr>
        </p:nvSpPr>
        <p:spPr>
          <a:xfrm>
            <a:off x="324000" y="10034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Square and cube numbers can be used to form sequences. </a:t>
            </a:r>
            <a:endParaRPr sz="18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/>
              <a:t>The sequence of all square numbers in ascending order can be generated from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rule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GB" sz="1800"/>
              <a:t> </a:t>
            </a:r>
            <a:endParaRPr sz="18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/>
              <a:t>The sequence of all cube numbers in ascending order can be generated from the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th</a:t>
            </a:r>
            <a:r>
              <a:rPr lang="en-GB" sz="1800"/>
              <a:t> term rule </a:t>
            </a:r>
            <a:r>
              <a:rPr i="1" lang="en-GB" sz="2000">
                <a:latin typeface="Times"/>
                <a:ea typeface="Times"/>
                <a:cs typeface="Times"/>
                <a:sym typeface="Times"/>
              </a:rPr>
              <a:t>n</a:t>
            </a:r>
            <a:r>
              <a:rPr baseline="30000" lang="en-GB" sz="2000"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GB" sz="1800"/>
              <a:t>. </a:t>
            </a:r>
            <a:endParaRPr sz="1800"/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lang="en-GB" sz="1800"/>
              <a:t>Triangular numbers can formed by increasing the difference by one between each consecutive term.</a:t>
            </a:r>
            <a:endParaRPr sz="1800"/>
          </a:p>
          <a:p>
            <a:pPr indent="0" lvl="0" marL="0" rtl="0" algn="l">
              <a:spcBef>
                <a:spcPts val="1500"/>
              </a:spcBef>
              <a:spcAft>
                <a:spcPts val="1500"/>
              </a:spcAft>
              <a:buNone/>
            </a:pPr>
            <a:r>
              <a:rPr lang="en-GB" sz="1800"/>
              <a:t>Square and </a:t>
            </a:r>
            <a:r>
              <a:rPr lang="en-GB" sz="1800"/>
              <a:t>triangular</a:t>
            </a:r>
            <a:r>
              <a:rPr lang="en-GB" sz="1800"/>
              <a:t> numbers have a common second difference. </a:t>
            </a:r>
            <a:endParaRPr sz="1800"/>
          </a:p>
        </p:txBody>
      </p:sp>
      <p:sp>
        <p:nvSpPr>
          <p:cNvPr id="2569" name="Google Shape;2569;p1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Features of special number sequences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3" name="Shape 2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4" name="Google Shape;2574;p169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2575" name="Google Shape;2575;p1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78787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