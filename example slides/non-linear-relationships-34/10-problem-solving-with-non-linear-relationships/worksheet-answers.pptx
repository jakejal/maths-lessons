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2F767B-475C-4C25-BB35-247B24AA3CF7}">
  <a:tblStyle styleId="{992F767B-475C-4C25-BB35-247B24AA3CF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b32bba19f0_0_3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b32bba19f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3.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Problem solving with non-linear relationships</a:t>
            </a:r>
            <a:endParaRPr/>
          </a:p>
        </p:txBody>
      </p:sp>
      <p:sp>
        <p:nvSpPr>
          <p:cNvPr id="173" name="Google Shape;173;p20"/>
          <p:cNvSpPr txBox="1"/>
          <p:nvPr/>
        </p:nvSpPr>
        <p:spPr>
          <a:xfrm>
            <a:off x="476400" y="2130900"/>
            <a:ext cx="6276900" cy="822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1) Passing information is another thing which can form a geometric sequence. The bus is going to be late back from a school trip. One pupil phones their parent. The parent phones 5 other parents. Each of those parents phone 5 other parents. Assume it takes 5 minutes to make a phone call.</a:t>
            </a:r>
            <a:endParaRPr sz="1200">
              <a:solidFill>
                <a:srgbClr val="000000"/>
              </a:solidFill>
              <a:latin typeface="Lexend"/>
              <a:ea typeface="Lexend"/>
              <a:cs typeface="Lexend"/>
              <a:sym typeface="Lexend"/>
            </a:endParaRPr>
          </a:p>
        </p:txBody>
      </p:sp>
      <p:sp>
        <p:nvSpPr>
          <p:cNvPr id="174" name="Google Shape;174;p20"/>
          <p:cNvSpPr txBox="1"/>
          <p:nvPr/>
        </p:nvSpPr>
        <p:spPr>
          <a:xfrm>
            <a:off x="468000" y="1292250"/>
            <a:ext cx="66240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Problem solving with geometric sequences</a:t>
            </a:r>
            <a:endParaRPr b="1">
              <a:solidFill>
                <a:schemeClr val="dk1"/>
              </a:solidFill>
              <a:latin typeface="Lexend"/>
              <a:ea typeface="Lexend"/>
              <a:cs typeface="Lexend"/>
              <a:sym typeface="Lexend"/>
            </a:endParaRPr>
          </a:p>
        </p:txBody>
      </p:sp>
      <p:grpSp>
        <p:nvGrpSpPr>
          <p:cNvPr id="175" name="Google Shape;175;p20"/>
          <p:cNvGrpSpPr/>
          <p:nvPr/>
        </p:nvGrpSpPr>
        <p:grpSpPr>
          <a:xfrm>
            <a:off x="2041561" y="3781876"/>
            <a:ext cx="523846" cy="460852"/>
            <a:chOff x="2580676" y="2443170"/>
            <a:chExt cx="704947" cy="666356"/>
          </a:xfrm>
        </p:grpSpPr>
        <p:sp>
          <p:nvSpPr>
            <p:cNvPr id="176" name="Google Shape;176;p20"/>
            <p:cNvSpPr/>
            <p:nvPr/>
          </p:nvSpPr>
          <p:spPr>
            <a:xfrm rot="5400000">
              <a:off x="2599726" y="2424120"/>
              <a:ext cx="320700" cy="358800"/>
            </a:xfrm>
            <a:prstGeom prst="arc">
              <a:avLst>
                <a:gd fmla="val 10729459" name="adj1"/>
                <a:gd fmla="val 0" name="adj2"/>
              </a:avLst>
            </a:prstGeom>
            <a:noFill/>
            <a:ln cap="flat" cmpd="sng" w="28575">
              <a:solidFill>
                <a:schemeClr val="dk1"/>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7" name="Google Shape;177;p20"/>
            <p:cNvSpPr txBox="1"/>
            <p:nvPr/>
          </p:nvSpPr>
          <p:spPr>
            <a:xfrm>
              <a:off x="2980224" y="2457370"/>
              <a:ext cx="305400" cy="29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solidFill>
                    <a:schemeClr val="dk1"/>
                  </a:solidFill>
                  <a:latin typeface="Times New Roman"/>
                  <a:ea typeface="Times New Roman"/>
                  <a:cs typeface="Times New Roman"/>
                  <a:sym typeface="Times New Roman"/>
                </a:rPr>
                <a:t>×5</a:t>
              </a:r>
              <a:endParaRPr>
                <a:solidFill>
                  <a:schemeClr val="dk1"/>
                </a:solidFill>
                <a:latin typeface="Times New Roman"/>
                <a:ea typeface="Times New Roman"/>
                <a:cs typeface="Times New Roman"/>
                <a:sym typeface="Times New Roman"/>
              </a:endParaRPr>
            </a:p>
          </p:txBody>
        </p:sp>
        <p:sp>
          <p:nvSpPr>
            <p:cNvPr id="178" name="Google Shape;178;p20"/>
            <p:cNvSpPr/>
            <p:nvPr/>
          </p:nvSpPr>
          <p:spPr>
            <a:xfrm rot="5400000">
              <a:off x="2599726" y="2769777"/>
              <a:ext cx="320700" cy="358800"/>
            </a:xfrm>
            <a:prstGeom prst="arc">
              <a:avLst>
                <a:gd fmla="val 10729459" name="adj1"/>
                <a:gd fmla="val 0" name="adj2"/>
              </a:avLst>
            </a:prstGeom>
            <a:noFill/>
            <a:ln cap="flat" cmpd="sng" w="28575">
              <a:solidFill>
                <a:schemeClr val="dk1"/>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9" name="Google Shape;179;p20"/>
            <p:cNvSpPr txBox="1"/>
            <p:nvPr/>
          </p:nvSpPr>
          <p:spPr>
            <a:xfrm>
              <a:off x="2980224" y="2813466"/>
              <a:ext cx="305400" cy="29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solidFill>
                    <a:schemeClr val="dk1"/>
                  </a:solidFill>
                  <a:latin typeface="Times New Roman"/>
                  <a:ea typeface="Times New Roman"/>
                  <a:cs typeface="Times New Roman"/>
                  <a:sym typeface="Times New Roman"/>
                </a:rPr>
                <a:t>×5</a:t>
              </a:r>
              <a:endParaRPr>
                <a:solidFill>
                  <a:schemeClr val="dk1"/>
                </a:solidFill>
                <a:latin typeface="Times New Roman"/>
                <a:ea typeface="Times New Roman"/>
                <a:cs typeface="Times New Roman"/>
                <a:sym typeface="Times New Roman"/>
              </a:endParaRPr>
            </a:p>
          </p:txBody>
        </p:sp>
      </p:grpSp>
      <p:sp>
        <p:nvSpPr>
          <p:cNvPr id="180" name="Google Shape;180;p20"/>
          <p:cNvSpPr txBox="1"/>
          <p:nvPr/>
        </p:nvSpPr>
        <p:spPr>
          <a:xfrm>
            <a:off x="2739517" y="3958202"/>
            <a:ext cx="3832200" cy="284400"/>
          </a:xfrm>
          <a:prstGeom prst="rect">
            <a:avLst/>
          </a:prstGeom>
          <a:noFill/>
          <a:ln>
            <a:noFill/>
          </a:ln>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1200">
                <a:solidFill>
                  <a:srgbClr val="000000"/>
                </a:solidFill>
                <a:latin typeface="Lexend"/>
                <a:ea typeface="Lexend"/>
                <a:cs typeface="Lexend"/>
                <a:sym typeface="Lexend"/>
              </a:rPr>
              <a:t>b) Why might this not be realistic?</a:t>
            </a:r>
            <a:endParaRPr sz="1200">
              <a:solidFill>
                <a:srgbClr val="000000"/>
              </a:solidFill>
              <a:latin typeface="Lexend"/>
              <a:ea typeface="Lexend"/>
              <a:cs typeface="Lexend"/>
              <a:sym typeface="Lexend"/>
            </a:endParaRPr>
          </a:p>
        </p:txBody>
      </p:sp>
      <p:sp>
        <p:nvSpPr>
          <p:cNvPr id="181" name="Google Shape;181;p20"/>
          <p:cNvSpPr txBox="1"/>
          <p:nvPr/>
        </p:nvSpPr>
        <p:spPr>
          <a:xfrm>
            <a:off x="2739517" y="3439226"/>
            <a:ext cx="4013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626 people would know if the growth continued at the above rate.</a:t>
            </a:r>
            <a:endParaRPr sz="1200">
              <a:solidFill>
                <a:srgbClr val="000000"/>
              </a:solidFill>
              <a:latin typeface="Kalam"/>
              <a:ea typeface="Kalam"/>
              <a:cs typeface="Kalam"/>
              <a:sym typeface="Kalam"/>
            </a:endParaRPr>
          </a:p>
        </p:txBody>
      </p:sp>
      <p:sp>
        <p:nvSpPr>
          <p:cNvPr id="182" name="Google Shape;182;p20"/>
          <p:cNvSpPr txBox="1"/>
          <p:nvPr/>
        </p:nvSpPr>
        <p:spPr>
          <a:xfrm>
            <a:off x="2719231" y="3118442"/>
            <a:ext cx="4054200" cy="320700"/>
          </a:xfrm>
          <a:prstGeom prst="rect">
            <a:avLst/>
          </a:prstGeom>
          <a:noFill/>
          <a:ln>
            <a:noFill/>
          </a:ln>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1200">
                <a:solidFill>
                  <a:srgbClr val="000000"/>
                </a:solidFill>
                <a:latin typeface="Lexend"/>
                <a:ea typeface="Lexend"/>
                <a:cs typeface="Lexend"/>
                <a:sym typeface="Lexend"/>
              </a:rPr>
              <a:t>a) How many people would know after 40 mins?</a:t>
            </a:r>
            <a:endParaRPr sz="1200">
              <a:solidFill>
                <a:srgbClr val="000000"/>
              </a:solidFill>
              <a:latin typeface="Lexend"/>
              <a:ea typeface="Lexend"/>
              <a:cs typeface="Lexend"/>
              <a:sym typeface="Lexend"/>
            </a:endParaRPr>
          </a:p>
        </p:txBody>
      </p:sp>
      <p:grpSp>
        <p:nvGrpSpPr>
          <p:cNvPr id="183" name="Google Shape;183;p20"/>
          <p:cNvGrpSpPr/>
          <p:nvPr/>
        </p:nvGrpSpPr>
        <p:grpSpPr>
          <a:xfrm>
            <a:off x="2041561" y="4259987"/>
            <a:ext cx="523846" cy="221796"/>
            <a:chOff x="2580676" y="3134483"/>
            <a:chExt cx="704947" cy="320700"/>
          </a:xfrm>
        </p:grpSpPr>
        <p:sp>
          <p:nvSpPr>
            <p:cNvPr id="184" name="Google Shape;184;p20"/>
            <p:cNvSpPr/>
            <p:nvPr/>
          </p:nvSpPr>
          <p:spPr>
            <a:xfrm rot="5400000">
              <a:off x="2599726" y="3115433"/>
              <a:ext cx="320700" cy="358800"/>
            </a:xfrm>
            <a:prstGeom prst="arc">
              <a:avLst>
                <a:gd fmla="val 10729459" name="adj1"/>
                <a:gd fmla="val 0" name="adj2"/>
              </a:avLst>
            </a:prstGeom>
            <a:noFill/>
            <a:ln cap="flat" cmpd="sng" w="28575">
              <a:solidFill>
                <a:schemeClr val="dk1"/>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5" name="Google Shape;185;p20"/>
            <p:cNvSpPr txBox="1"/>
            <p:nvPr/>
          </p:nvSpPr>
          <p:spPr>
            <a:xfrm>
              <a:off x="2980224" y="3159122"/>
              <a:ext cx="305400" cy="29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solidFill>
                    <a:schemeClr val="dk1"/>
                  </a:solidFill>
                  <a:latin typeface="Times New Roman"/>
                  <a:ea typeface="Times New Roman"/>
                  <a:cs typeface="Times New Roman"/>
                  <a:sym typeface="Times New Roman"/>
                </a:rPr>
                <a:t>×5</a:t>
              </a:r>
              <a:endParaRPr>
                <a:solidFill>
                  <a:schemeClr val="dk1"/>
                </a:solidFill>
                <a:latin typeface="Times New Roman"/>
                <a:ea typeface="Times New Roman"/>
                <a:cs typeface="Times New Roman"/>
                <a:sym typeface="Times New Roman"/>
              </a:endParaRPr>
            </a:p>
          </p:txBody>
        </p:sp>
      </p:grpSp>
      <p:sp>
        <p:nvSpPr>
          <p:cNvPr id="186" name="Google Shape;186;p20"/>
          <p:cNvSpPr txBox="1"/>
          <p:nvPr/>
        </p:nvSpPr>
        <p:spPr>
          <a:xfrm>
            <a:off x="2719231" y="4295245"/>
            <a:ext cx="4054200" cy="57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Some parents might ring the same people. Some parents might not ring anyone.</a:t>
            </a:r>
            <a:endParaRPr sz="1200">
              <a:solidFill>
                <a:srgbClr val="000000"/>
              </a:solidFill>
              <a:latin typeface="Kalam"/>
              <a:ea typeface="Kalam"/>
              <a:cs typeface="Kalam"/>
              <a:sym typeface="Kalam"/>
            </a:endParaRPr>
          </a:p>
          <a:p>
            <a:pPr indent="0" lvl="0" marL="0" rtl="0" algn="l">
              <a:lnSpc>
                <a:spcPct val="130000"/>
              </a:lnSpc>
              <a:spcBef>
                <a:spcPts val="0"/>
              </a:spcBef>
              <a:spcAft>
                <a:spcPts val="0"/>
              </a:spcAft>
              <a:buNone/>
            </a:pPr>
            <a:r>
              <a:t/>
            </a:r>
            <a:endParaRPr sz="1200">
              <a:solidFill>
                <a:srgbClr val="000000"/>
              </a:solidFill>
              <a:latin typeface="Kalam"/>
              <a:ea typeface="Kalam"/>
              <a:cs typeface="Kalam"/>
              <a:sym typeface="Kalam"/>
            </a:endParaRPr>
          </a:p>
        </p:txBody>
      </p:sp>
      <p:graphicFrame>
        <p:nvGraphicFramePr>
          <p:cNvPr id="187" name="Google Shape;187;p20"/>
          <p:cNvGraphicFramePr/>
          <p:nvPr/>
        </p:nvGraphicFramePr>
        <p:xfrm>
          <a:off x="459787" y="3360302"/>
          <a:ext cx="3000000" cy="3000000"/>
        </p:xfrm>
        <a:graphic>
          <a:graphicData uri="http://schemas.openxmlformats.org/drawingml/2006/table">
            <a:tbl>
              <a:tblPr>
                <a:noFill/>
                <a:tableStyleId>{992F767B-475C-4C25-BB35-247B24AA3CF7}</a:tableStyleId>
              </a:tblPr>
              <a:tblGrid>
                <a:gridCol w="756500"/>
                <a:gridCol w="900950"/>
              </a:tblGrid>
              <a:tr h="2300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Time</a:t>
                      </a:r>
                      <a:endParaRPr b="1" sz="1200">
                        <a:solidFill>
                          <a:schemeClr val="dk1"/>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People</a:t>
                      </a:r>
                      <a:endParaRPr b="1" sz="1200">
                        <a:solidFill>
                          <a:schemeClr val="dk1"/>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20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25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30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125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40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 </a:t>
                      </a:r>
                      <a:r>
                        <a:rPr lang="en-GB">
                          <a:solidFill>
                            <a:srgbClr val="000000"/>
                          </a:solidFill>
                          <a:latin typeface="Times New Roman"/>
                          <a:ea typeface="Times New Roman"/>
                          <a:cs typeface="Times New Roman"/>
                          <a:sym typeface="Times New Roman"/>
                        </a:rPr>
                        <a:t>625 + 1</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88" name="Google Shape;188;p20"/>
          <p:cNvSpPr txBox="1"/>
          <p:nvPr/>
        </p:nvSpPr>
        <p:spPr>
          <a:xfrm>
            <a:off x="783028" y="4871497"/>
            <a:ext cx="6317400" cy="2001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GB" sz="1200">
                <a:solidFill>
                  <a:srgbClr val="000000"/>
                </a:solidFill>
                <a:latin typeface="Kalam"/>
                <a:ea typeface="Kalam"/>
                <a:cs typeface="Kalam"/>
                <a:sym typeface="Kalam"/>
              </a:rPr>
              <a:t>It might take some parents longer than 10 minutes to ring 5 parents.</a:t>
            </a:r>
            <a:endParaRPr sz="1200">
              <a:solidFill>
                <a:srgbClr val="000000"/>
              </a:solidFill>
              <a:latin typeface="Kalam"/>
              <a:ea typeface="Kalam"/>
              <a:cs typeface="Kalam"/>
              <a:sym typeface="Kalam"/>
            </a:endParaRPr>
          </a:p>
        </p:txBody>
      </p:sp>
      <p:graphicFrame>
        <p:nvGraphicFramePr>
          <p:cNvPr id="189" name="Google Shape;189;p20"/>
          <p:cNvGraphicFramePr/>
          <p:nvPr/>
        </p:nvGraphicFramePr>
        <p:xfrm>
          <a:off x="476393" y="5386002"/>
          <a:ext cx="3000000" cy="3000000"/>
        </p:xfrm>
        <a:graphic>
          <a:graphicData uri="http://schemas.openxmlformats.org/drawingml/2006/table">
            <a:tbl>
              <a:tblPr>
                <a:noFill/>
                <a:tableStyleId>{992F767B-475C-4C25-BB35-247B24AA3CF7}</a:tableStyleId>
              </a:tblPr>
              <a:tblGrid>
                <a:gridCol w="764375"/>
                <a:gridCol w="876450"/>
              </a:tblGrid>
              <a:tr h="2300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Time</a:t>
                      </a:r>
                      <a:endParaRPr b="1" sz="1200">
                        <a:solidFill>
                          <a:schemeClr val="dk1"/>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People</a:t>
                      </a:r>
                      <a:endParaRPr b="1" sz="1200">
                        <a:solidFill>
                          <a:schemeClr val="dk1"/>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20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25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30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125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40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 </a:t>
                      </a:r>
                      <a:r>
                        <a:rPr lang="en-GB">
                          <a:solidFill>
                            <a:srgbClr val="000000"/>
                          </a:solidFill>
                          <a:latin typeface="Times New Roman"/>
                          <a:ea typeface="Times New Roman"/>
                          <a:cs typeface="Times New Roman"/>
                          <a:sym typeface="Times New Roman"/>
                        </a:rPr>
                        <a:t>625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50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3125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60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15 625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70 mins </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78 125</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90" name="Google Shape;190;p20"/>
          <p:cNvSpPr txBox="1"/>
          <p:nvPr/>
        </p:nvSpPr>
        <p:spPr>
          <a:xfrm>
            <a:off x="4140000" y="5296800"/>
            <a:ext cx="2666400" cy="46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c) How many people would know after 2 hours?</a:t>
            </a:r>
            <a:endParaRPr sz="1200">
              <a:solidFill>
                <a:srgbClr val="000000"/>
              </a:solidFill>
              <a:latin typeface="Lexend"/>
              <a:ea typeface="Lexend"/>
              <a:cs typeface="Lexend"/>
              <a:sym typeface="Lexend"/>
            </a:endParaRPr>
          </a:p>
        </p:txBody>
      </p:sp>
      <p:sp>
        <p:nvSpPr>
          <p:cNvPr id="191" name="Google Shape;191;p20"/>
          <p:cNvSpPr txBox="1"/>
          <p:nvPr/>
        </p:nvSpPr>
        <p:spPr>
          <a:xfrm>
            <a:off x="4140000" y="6588500"/>
            <a:ext cx="2787000" cy="258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d) Why might this not be realistic?</a:t>
            </a:r>
            <a:endParaRPr sz="1200">
              <a:solidFill>
                <a:srgbClr val="000000"/>
              </a:solidFill>
              <a:latin typeface="Lexend"/>
              <a:ea typeface="Lexend"/>
              <a:cs typeface="Lexend"/>
              <a:sym typeface="Lexend"/>
            </a:endParaRPr>
          </a:p>
        </p:txBody>
      </p:sp>
      <p:sp>
        <p:nvSpPr>
          <p:cNvPr id="192" name="Google Shape;192;p20"/>
          <p:cNvSpPr txBox="1"/>
          <p:nvPr/>
        </p:nvSpPr>
        <p:spPr>
          <a:xfrm>
            <a:off x="4140000" y="5854975"/>
            <a:ext cx="1008000" cy="21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 200 000 000 people</a:t>
            </a:r>
            <a:endParaRPr sz="1200">
              <a:solidFill>
                <a:srgbClr val="000000"/>
              </a:solidFill>
              <a:latin typeface="Kalam"/>
              <a:ea typeface="Kalam"/>
              <a:cs typeface="Kalam"/>
              <a:sym typeface="Kalam"/>
            </a:endParaRPr>
          </a:p>
        </p:txBody>
      </p:sp>
      <p:sp>
        <p:nvSpPr>
          <p:cNvPr id="193" name="Google Shape;193;p20"/>
          <p:cNvSpPr txBox="1"/>
          <p:nvPr/>
        </p:nvSpPr>
        <p:spPr>
          <a:xfrm>
            <a:off x="4140000" y="6868875"/>
            <a:ext cx="2960400" cy="21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There will not be that many parents to tell.</a:t>
            </a:r>
            <a:endParaRPr sz="1200">
              <a:solidFill>
                <a:srgbClr val="000000"/>
              </a:solidFill>
              <a:latin typeface="Kalam"/>
              <a:ea typeface="Kalam"/>
              <a:cs typeface="Kalam"/>
              <a:sym typeface="Kalam"/>
            </a:endParaRPr>
          </a:p>
        </p:txBody>
      </p:sp>
      <p:graphicFrame>
        <p:nvGraphicFramePr>
          <p:cNvPr id="194" name="Google Shape;194;p20"/>
          <p:cNvGraphicFramePr/>
          <p:nvPr/>
        </p:nvGraphicFramePr>
        <p:xfrm>
          <a:off x="2240262" y="5401277"/>
          <a:ext cx="3000000" cy="3000000"/>
        </p:xfrm>
        <a:graphic>
          <a:graphicData uri="http://schemas.openxmlformats.org/drawingml/2006/table">
            <a:tbl>
              <a:tblPr>
                <a:noFill/>
                <a:tableStyleId>{992F767B-475C-4C25-BB35-247B24AA3CF7}</a:tableStyleId>
              </a:tblPr>
              <a:tblGrid>
                <a:gridCol w="869050"/>
                <a:gridCol w="734275"/>
              </a:tblGrid>
              <a:tr h="230000">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Time</a:t>
                      </a:r>
                      <a:endParaRPr b="1" sz="1200">
                        <a:solidFill>
                          <a:schemeClr val="dk1"/>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GB" sz="1200">
                          <a:solidFill>
                            <a:schemeClr val="dk1"/>
                          </a:solidFill>
                          <a:latin typeface="Lexend"/>
                          <a:ea typeface="Lexend"/>
                          <a:cs typeface="Lexend"/>
                          <a:sym typeface="Lexend"/>
                        </a:rPr>
                        <a:t>People</a:t>
                      </a:r>
                      <a:endParaRPr b="1" sz="1200">
                        <a:solidFill>
                          <a:schemeClr val="dk1"/>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20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baseline="30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30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40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50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60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120 mins</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95" name="Google Shape;195;p20"/>
          <p:cNvSpPr/>
          <p:nvPr/>
        </p:nvSpPr>
        <p:spPr>
          <a:xfrm>
            <a:off x="3109299" y="5652975"/>
            <a:ext cx="703500" cy="24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5</a:t>
            </a:r>
            <a:endParaRPr>
              <a:latin typeface="Lexend"/>
              <a:ea typeface="Lexend"/>
              <a:cs typeface="Lexend"/>
              <a:sym typeface="Lexend"/>
            </a:endParaRPr>
          </a:p>
        </p:txBody>
      </p:sp>
      <p:sp>
        <p:nvSpPr>
          <p:cNvPr id="196" name="Google Shape;196;p20"/>
          <p:cNvSpPr/>
          <p:nvPr/>
        </p:nvSpPr>
        <p:spPr>
          <a:xfrm>
            <a:off x="3109299" y="5901112"/>
            <a:ext cx="703500" cy="24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5</a:t>
            </a:r>
            <a:r>
              <a:rPr baseline="30000" lang="en-GB">
                <a:solidFill>
                  <a:srgbClr val="000000"/>
                </a:solidFill>
                <a:latin typeface="Times New Roman"/>
                <a:ea typeface="Times New Roman"/>
                <a:cs typeface="Times New Roman"/>
                <a:sym typeface="Times New Roman"/>
              </a:rPr>
              <a:t>2</a:t>
            </a:r>
            <a:endParaRPr>
              <a:latin typeface="Lexend"/>
              <a:ea typeface="Lexend"/>
              <a:cs typeface="Lexend"/>
              <a:sym typeface="Lexend"/>
            </a:endParaRPr>
          </a:p>
        </p:txBody>
      </p:sp>
      <p:sp>
        <p:nvSpPr>
          <p:cNvPr id="197" name="Google Shape;197;p20"/>
          <p:cNvSpPr/>
          <p:nvPr/>
        </p:nvSpPr>
        <p:spPr>
          <a:xfrm>
            <a:off x="3114020" y="6154911"/>
            <a:ext cx="703500" cy="24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5</a:t>
            </a:r>
            <a:r>
              <a:rPr baseline="30000" lang="en-GB">
                <a:solidFill>
                  <a:srgbClr val="000000"/>
                </a:solidFill>
                <a:latin typeface="Times New Roman"/>
                <a:ea typeface="Times New Roman"/>
                <a:cs typeface="Times New Roman"/>
                <a:sym typeface="Times New Roman"/>
              </a:rPr>
              <a:t>3</a:t>
            </a:r>
            <a:endParaRPr>
              <a:latin typeface="Lexend"/>
              <a:ea typeface="Lexend"/>
              <a:cs typeface="Lexend"/>
              <a:sym typeface="Lexend"/>
            </a:endParaRPr>
          </a:p>
        </p:txBody>
      </p:sp>
      <p:sp>
        <p:nvSpPr>
          <p:cNvPr id="198" name="Google Shape;198;p20"/>
          <p:cNvSpPr/>
          <p:nvPr/>
        </p:nvSpPr>
        <p:spPr>
          <a:xfrm>
            <a:off x="3109299" y="6397387"/>
            <a:ext cx="703500" cy="24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5</a:t>
            </a:r>
            <a:r>
              <a:rPr baseline="30000" lang="en-GB">
                <a:solidFill>
                  <a:srgbClr val="000000"/>
                </a:solidFill>
                <a:latin typeface="Times New Roman"/>
                <a:ea typeface="Times New Roman"/>
                <a:cs typeface="Times New Roman"/>
                <a:sym typeface="Times New Roman"/>
              </a:rPr>
              <a:t>4</a:t>
            </a:r>
            <a:endParaRPr>
              <a:latin typeface="Lexend"/>
              <a:ea typeface="Lexend"/>
              <a:cs typeface="Lexend"/>
              <a:sym typeface="Lexend"/>
            </a:endParaRPr>
          </a:p>
        </p:txBody>
      </p:sp>
      <p:sp>
        <p:nvSpPr>
          <p:cNvPr id="199" name="Google Shape;199;p20"/>
          <p:cNvSpPr/>
          <p:nvPr/>
        </p:nvSpPr>
        <p:spPr>
          <a:xfrm>
            <a:off x="3114020" y="6656848"/>
            <a:ext cx="703500" cy="24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5</a:t>
            </a:r>
            <a:r>
              <a:rPr baseline="30000" lang="en-GB">
                <a:solidFill>
                  <a:srgbClr val="000000"/>
                </a:solidFill>
                <a:latin typeface="Times New Roman"/>
                <a:ea typeface="Times New Roman"/>
                <a:cs typeface="Times New Roman"/>
                <a:sym typeface="Times New Roman"/>
              </a:rPr>
              <a:t>5</a:t>
            </a:r>
            <a:endParaRPr>
              <a:latin typeface="Lexend"/>
              <a:ea typeface="Lexend"/>
              <a:cs typeface="Lexend"/>
              <a:sym typeface="Lexend"/>
            </a:endParaRPr>
          </a:p>
        </p:txBody>
      </p:sp>
      <p:sp>
        <p:nvSpPr>
          <p:cNvPr id="200" name="Google Shape;200;p20"/>
          <p:cNvSpPr/>
          <p:nvPr/>
        </p:nvSpPr>
        <p:spPr>
          <a:xfrm>
            <a:off x="3114020" y="6893662"/>
            <a:ext cx="703500" cy="24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5</a:t>
            </a:r>
            <a:r>
              <a:rPr baseline="30000" lang="en-GB">
                <a:solidFill>
                  <a:srgbClr val="000000"/>
                </a:solidFill>
                <a:latin typeface="Times New Roman"/>
                <a:ea typeface="Times New Roman"/>
                <a:cs typeface="Times New Roman"/>
                <a:sym typeface="Times New Roman"/>
              </a:rPr>
              <a:t>6</a:t>
            </a:r>
            <a:endParaRPr>
              <a:latin typeface="Lexend"/>
              <a:ea typeface="Lexend"/>
              <a:cs typeface="Lexend"/>
              <a:sym typeface="Lexend"/>
            </a:endParaRPr>
          </a:p>
        </p:txBody>
      </p:sp>
      <p:sp>
        <p:nvSpPr>
          <p:cNvPr id="201" name="Google Shape;201;p20"/>
          <p:cNvSpPr/>
          <p:nvPr/>
        </p:nvSpPr>
        <p:spPr>
          <a:xfrm>
            <a:off x="3114020" y="7141800"/>
            <a:ext cx="703500" cy="24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000"/>
                </a:solidFill>
                <a:latin typeface="Times New Roman"/>
                <a:ea typeface="Times New Roman"/>
                <a:cs typeface="Times New Roman"/>
                <a:sym typeface="Times New Roman"/>
              </a:rPr>
              <a:t>5</a:t>
            </a:r>
            <a:r>
              <a:rPr baseline="30000" lang="en-GB">
                <a:solidFill>
                  <a:srgbClr val="000000"/>
                </a:solidFill>
                <a:latin typeface="Times New Roman"/>
                <a:ea typeface="Times New Roman"/>
                <a:cs typeface="Times New Roman"/>
                <a:sym typeface="Times New Roman"/>
              </a:rPr>
              <a:t>12</a:t>
            </a:r>
            <a:endParaRPr>
              <a:latin typeface="Lexend"/>
              <a:ea typeface="Lexend"/>
              <a:cs typeface="Lexend"/>
              <a:sym typeface="Lexend"/>
            </a:endParaRPr>
          </a:p>
        </p:txBody>
      </p:sp>
      <p:pic>
        <p:nvPicPr>
          <p:cNvPr id="202" name="Google Shape;202;p20"/>
          <p:cNvPicPr preferRelativeResize="0"/>
          <p:nvPr/>
        </p:nvPicPr>
        <p:blipFill>
          <a:blip r:embed="rId3">
            <a:alphaModFix/>
          </a:blip>
          <a:stretch>
            <a:fillRect/>
          </a:stretch>
        </p:blipFill>
        <p:spPr>
          <a:xfrm>
            <a:off x="5444414" y="5652971"/>
            <a:ext cx="1603347" cy="876360"/>
          </a:xfrm>
          <a:prstGeom prst="rect">
            <a:avLst/>
          </a:prstGeom>
          <a:noFill/>
          <a:ln>
            <a:noFill/>
          </a:ln>
        </p:spPr>
      </p:pic>
      <p:cxnSp>
        <p:nvCxnSpPr>
          <p:cNvPr id="203" name="Google Shape;203;p20"/>
          <p:cNvCxnSpPr/>
          <p:nvPr/>
        </p:nvCxnSpPr>
        <p:spPr>
          <a:xfrm>
            <a:off x="474757" y="9861013"/>
            <a:ext cx="6610500" cy="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Problem solving with non-linear relationships</a:t>
            </a:r>
            <a:endParaRPr/>
          </a:p>
        </p:txBody>
      </p:sp>
      <p:sp>
        <p:nvSpPr>
          <p:cNvPr id="209" name="Google Shape;209;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cxnSp>
        <p:nvCxnSpPr>
          <p:cNvPr id="210" name="Google Shape;210;p21"/>
          <p:cNvCxnSpPr/>
          <p:nvPr/>
        </p:nvCxnSpPr>
        <p:spPr>
          <a:xfrm>
            <a:off x="474757" y="9861013"/>
            <a:ext cx="6610500" cy="0"/>
          </a:xfrm>
          <a:prstGeom prst="straightConnector1">
            <a:avLst/>
          </a:prstGeom>
          <a:noFill/>
          <a:ln cap="flat" cmpd="sng" w="38100">
            <a:solidFill>
              <a:srgbClr val="000000"/>
            </a:solidFill>
            <a:prstDash val="solid"/>
            <a:round/>
            <a:headEnd len="med" w="med" type="none"/>
            <a:tailEnd len="med" w="med" type="none"/>
          </a:ln>
        </p:spPr>
      </p:cxnSp>
      <p:sp>
        <p:nvSpPr>
          <p:cNvPr id="211" name="Google Shape;211;p21"/>
          <p:cNvSpPr txBox="1"/>
          <p:nvPr/>
        </p:nvSpPr>
        <p:spPr>
          <a:xfrm>
            <a:off x="476400" y="725450"/>
            <a:ext cx="6224400" cy="297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B:  Adding sequences</a:t>
            </a:r>
            <a:endParaRPr b="1">
              <a:solidFill>
                <a:srgbClr val="000000"/>
              </a:solidFill>
              <a:latin typeface="Lexend"/>
              <a:ea typeface="Lexend"/>
              <a:cs typeface="Lexend"/>
              <a:sym typeface="Lexend"/>
            </a:endParaRPr>
          </a:p>
        </p:txBody>
      </p:sp>
      <p:sp>
        <p:nvSpPr>
          <p:cNvPr id="212" name="Google Shape;212;p21"/>
          <p:cNvSpPr txBox="1"/>
          <p:nvPr/>
        </p:nvSpPr>
        <p:spPr>
          <a:xfrm>
            <a:off x="476407" y="1208435"/>
            <a:ext cx="6601500" cy="773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1) In each question, the sequences were created by adding the terms of two of the sequences given below. Work out which two sequences were added in each question. </a:t>
            </a:r>
            <a:endParaRPr sz="1200">
              <a:solidFill>
                <a:srgbClr val="000000"/>
              </a:solidFill>
              <a:latin typeface="Lexend"/>
              <a:ea typeface="Lexend"/>
              <a:cs typeface="Lexend"/>
              <a:sym typeface="Lexend"/>
            </a:endParaRPr>
          </a:p>
        </p:txBody>
      </p:sp>
      <p:grpSp>
        <p:nvGrpSpPr>
          <p:cNvPr id="213" name="Google Shape;213;p21"/>
          <p:cNvGrpSpPr/>
          <p:nvPr/>
        </p:nvGrpSpPr>
        <p:grpSpPr>
          <a:xfrm>
            <a:off x="3992509" y="1866438"/>
            <a:ext cx="1454165" cy="307236"/>
            <a:chOff x="4849238" y="1811913"/>
            <a:chExt cx="1871513" cy="395413"/>
          </a:xfrm>
        </p:grpSpPr>
        <p:sp>
          <p:nvSpPr>
            <p:cNvPr id="214" name="Google Shape;214;p21"/>
            <p:cNvSpPr/>
            <p:nvPr/>
          </p:nvSpPr>
          <p:spPr>
            <a:xfrm>
              <a:off x="4849250" y="1811925"/>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15" name="Google Shape;215;p21"/>
            <p:cNvSpPr/>
            <p:nvPr/>
          </p:nvSpPr>
          <p:spPr>
            <a:xfrm>
              <a:off x="4849238" y="18119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C</a:t>
              </a:r>
              <a:endParaRPr sz="1200">
                <a:latin typeface="Lexend"/>
                <a:ea typeface="Lexend"/>
                <a:cs typeface="Lexend"/>
                <a:sym typeface="Lexend"/>
              </a:endParaRPr>
            </a:p>
          </p:txBody>
        </p:sp>
        <p:sp>
          <p:nvSpPr>
            <p:cNvPr id="216" name="Google Shape;216;p21"/>
            <p:cNvSpPr txBox="1"/>
            <p:nvPr/>
          </p:nvSpPr>
          <p:spPr>
            <a:xfrm>
              <a:off x="5120550" y="1847625"/>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4, 9, 14, 19, …</a:t>
              </a:r>
              <a:endParaRPr sz="1200">
                <a:solidFill>
                  <a:srgbClr val="000000"/>
                </a:solidFill>
                <a:latin typeface="Lexend"/>
                <a:ea typeface="Lexend"/>
                <a:cs typeface="Lexend"/>
                <a:sym typeface="Lexend"/>
              </a:endParaRPr>
            </a:p>
          </p:txBody>
        </p:sp>
      </p:grpSp>
      <p:sp>
        <p:nvSpPr>
          <p:cNvPr id="217" name="Google Shape;217;p21"/>
          <p:cNvSpPr/>
          <p:nvPr/>
        </p:nvSpPr>
        <p:spPr>
          <a:xfrm>
            <a:off x="5637799" y="1866481"/>
            <a:ext cx="1398600" cy="3072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18" name="Google Shape;218;p21"/>
          <p:cNvSpPr/>
          <p:nvPr/>
        </p:nvSpPr>
        <p:spPr>
          <a:xfrm>
            <a:off x="5637790" y="1866481"/>
            <a:ext cx="188700" cy="20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D</a:t>
            </a:r>
            <a:endParaRPr sz="1200">
              <a:latin typeface="Lexend"/>
              <a:ea typeface="Lexend"/>
              <a:cs typeface="Lexend"/>
              <a:sym typeface="Lexend"/>
            </a:endParaRPr>
          </a:p>
        </p:txBody>
      </p:sp>
      <p:sp>
        <p:nvSpPr>
          <p:cNvPr id="219" name="Google Shape;219;p21"/>
          <p:cNvSpPr txBox="1"/>
          <p:nvPr/>
        </p:nvSpPr>
        <p:spPr>
          <a:xfrm>
            <a:off x="5848606" y="1894312"/>
            <a:ext cx="1151100" cy="23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1, 3, 5, 7, 9 …</a:t>
            </a:r>
            <a:endParaRPr sz="1200">
              <a:solidFill>
                <a:srgbClr val="000000"/>
              </a:solidFill>
              <a:latin typeface="Lexend"/>
              <a:ea typeface="Lexend"/>
              <a:cs typeface="Lexend"/>
              <a:sym typeface="Lexend"/>
            </a:endParaRPr>
          </a:p>
        </p:txBody>
      </p:sp>
      <p:grpSp>
        <p:nvGrpSpPr>
          <p:cNvPr id="220" name="Google Shape;220;p21"/>
          <p:cNvGrpSpPr/>
          <p:nvPr/>
        </p:nvGrpSpPr>
        <p:grpSpPr>
          <a:xfrm>
            <a:off x="2121513" y="1866437"/>
            <a:ext cx="1624484" cy="307236"/>
            <a:chOff x="2441263" y="1821513"/>
            <a:chExt cx="2090713" cy="395413"/>
          </a:xfrm>
        </p:grpSpPr>
        <p:sp>
          <p:nvSpPr>
            <p:cNvPr id="221" name="Google Shape;221;p21"/>
            <p:cNvSpPr/>
            <p:nvPr/>
          </p:nvSpPr>
          <p:spPr>
            <a:xfrm>
              <a:off x="2441275" y="1821525"/>
              <a:ext cx="20907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22" name="Google Shape;222;p21"/>
            <p:cNvSpPr/>
            <p:nvPr/>
          </p:nvSpPr>
          <p:spPr>
            <a:xfrm>
              <a:off x="2441263" y="18215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B</a:t>
              </a:r>
              <a:endParaRPr sz="1200">
                <a:latin typeface="Lexend"/>
                <a:ea typeface="Lexend"/>
                <a:cs typeface="Lexend"/>
                <a:sym typeface="Lexend"/>
              </a:endParaRPr>
            </a:p>
          </p:txBody>
        </p:sp>
        <p:sp>
          <p:nvSpPr>
            <p:cNvPr id="223" name="Google Shape;223;p21"/>
            <p:cNvSpPr txBox="1"/>
            <p:nvPr/>
          </p:nvSpPr>
          <p:spPr>
            <a:xfrm>
              <a:off x="2712575" y="1857225"/>
              <a:ext cx="17535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4, 12, 36, 108, …</a:t>
              </a:r>
              <a:endParaRPr sz="1200">
                <a:solidFill>
                  <a:srgbClr val="000000"/>
                </a:solidFill>
                <a:latin typeface="Lexend"/>
                <a:ea typeface="Lexend"/>
                <a:cs typeface="Lexend"/>
                <a:sym typeface="Lexend"/>
              </a:endParaRPr>
            </a:p>
          </p:txBody>
        </p:sp>
      </p:grpSp>
      <p:grpSp>
        <p:nvGrpSpPr>
          <p:cNvPr id="224" name="Google Shape;224;p21"/>
          <p:cNvGrpSpPr/>
          <p:nvPr/>
        </p:nvGrpSpPr>
        <p:grpSpPr>
          <a:xfrm>
            <a:off x="476390" y="1866437"/>
            <a:ext cx="1454165" cy="307236"/>
            <a:chOff x="323988" y="1831113"/>
            <a:chExt cx="1871513" cy="395413"/>
          </a:xfrm>
        </p:grpSpPr>
        <p:sp>
          <p:nvSpPr>
            <p:cNvPr id="225" name="Google Shape;225;p21"/>
            <p:cNvSpPr/>
            <p:nvPr/>
          </p:nvSpPr>
          <p:spPr>
            <a:xfrm>
              <a:off x="324000" y="1831125"/>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26" name="Google Shape;226;p21"/>
            <p:cNvSpPr/>
            <p:nvPr/>
          </p:nvSpPr>
          <p:spPr>
            <a:xfrm>
              <a:off x="323988" y="18311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A</a:t>
              </a:r>
              <a:endParaRPr sz="1200">
                <a:latin typeface="Lexend"/>
                <a:ea typeface="Lexend"/>
                <a:cs typeface="Lexend"/>
                <a:sym typeface="Lexend"/>
              </a:endParaRPr>
            </a:p>
          </p:txBody>
        </p:sp>
        <p:sp>
          <p:nvSpPr>
            <p:cNvPr id="227" name="Google Shape;227;p21"/>
            <p:cNvSpPr txBox="1"/>
            <p:nvPr/>
          </p:nvSpPr>
          <p:spPr>
            <a:xfrm>
              <a:off x="595300" y="1866825"/>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1, 2, 4, 8, 16 …</a:t>
              </a:r>
              <a:endParaRPr sz="1200">
                <a:solidFill>
                  <a:srgbClr val="000000"/>
                </a:solidFill>
                <a:latin typeface="Lexend"/>
                <a:ea typeface="Lexend"/>
                <a:cs typeface="Lexend"/>
                <a:sym typeface="Lexend"/>
              </a:endParaRPr>
            </a:p>
          </p:txBody>
        </p:sp>
      </p:grpSp>
      <p:grpSp>
        <p:nvGrpSpPr>
          <p:cNvPr id="228" name="Google Shape;228;p21"/>
          <p:cNvGrpSpPr/>
          <p:nvPr/>
        </p:nvGrpSpPr>
        <p:grpSpPr>
          <a:xfrm>
            <a:off x="476390" y="2254023"/>
            <a:ext cx="1454165" cy="307236"/>
            <a:chOff x="323988" y="2374038"/>
            <a:chExt cx="1871513" cy="395413"/>
          </a:xfrm>
        </p:grpSpPr>
        <p:sp>
          <p:nvSpPr>
            <p:cNvPr id="229" name="Google Shape;229;p21"/>
            <p:cNvSpPr/>
            <p:nvPr/>
          </p:nvSpPr>
          <p:spPr>
            <a:xfrm>
              <a:off x="324000" y="2374050"/>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30" name="Google Shape;230;p21"/>
            <p:cNvSpPr/>
            <p:nvPr/>
          </p:nvSpPr>
          <p:spPr>
            <a:xfrm>
              <a:off x="323988" y="23740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E</a:t>
              </a:r>
              <a:endParaRPr sz="1200">
                <a:latin typeface="Lexend"/>
                <a:ea typeface="Lexend"/>
                <a:cs typeface="Lexend"/>
                <a:sym typeface="Lexend"/>
              </a:endParaRPr>
            </a:p>
          </p:txBody>
        </p:sp>
        <p:sp>
          <p:nvSpPr>
            <p:cNvPr id="231" name="Google Shape;231;p21"/>
            <p:cNvSpPr txBox="1"/>
            <p:nvPr/>
          </p:nvSpPr>
          <p:spPr>
            <a:xfrm>
              <a:off x="595300" y="24097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4, 7, 12, 19, …</a:t>
              </a:r>
              <a:endParaRPr sz="1200">
                <a:solidFill>
                  <a:srgbClr val="000000"/>
                </a:solidFill>
                <a:latin typeface="Lexend"/>
                <a:ea typeface="Lexend"/>
                <a:cs typeface="Lexend"/>
                <a:sym typeface="Lexend"/>
              </a:endParaRPr>
            </a:p>
          </p:txBody>
        </p:sp>
      </p:grpSp>
      <p:grpSp>
        <p:nvGrpSpPr>
          <p:cNvPr id="232" name="Google Shape;232;p21"/>
          <p:cNvGrpSpPr/>
          <p:nvPr/>
        </p:nvGrpSpPr>
        <p:grpSpPr>
          <a:xfrm>
            <a:off x="2116643" y="2254023"/>
            <a:ext cx="1609410" cy="307236"/>
            <a:chOff x="2450963" y="2374038"/>
            <a:chExt cx="2071313" cy="395413"/>
          </a:xfrm>
        </p:grpSpPr>
        <p:sp>
          <p:nvSpPr>
            <p:cNvPr id="233" name="Google Shape;233;p21"/>
            <p:cNvSpPr/>
            <p:nvPr/>
          </p:nvSpPr>
          <p:spPr>
            <a:xfrm>
              <a:off x="2450975" y="2374050"/>
              <a:ext cx="20712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34" name="Google Shape;234;p21"/>
            <p:cNvSpPr/>
            <p:nvPr/>
          </p:nvSpPr>
          <p:spPr>
            <a:xfrm>
              <a:off x="2450963" y="23740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F</a:t>
              </a:r>
              <a:endParaRPr sz="1200">
                <a:latin typeface="Lexend"/>
                <a:ea typeface="Lexend"/>
                <a:cs typeface="Lexend"/>
                <a:sym typeface="Lexend"/>
              </a:endParaRPr>
            </a:p>
          </p:txBody>
        </p:sp>
        <p:sp>
          <p:nvSpPr>
            <p:cNvPr id="235" name="Google Shape;235;p21"/>
            <p:cNvSpPr txBox="1"/>
            <p:nvPr/>
          </p:nvSpPr>
          <p:spPr>
            <a:xfrm>
              <a:off x="2722275" y="2409750"/>
              <a:ext cx="18000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1, 6, 16, 31, 51, …</a:t>
              </a:r>
              <a:endParaRPr sz="1200">
                <a:solidFill>
                  <a:srgbClr val="000000"/>
                </a:solidFill>
                <a:latin typeface="Lexend"/>
                <a:ea typeface="Lexend"/>
                <a:cs typeface="Lexend"/>
                <a:sym typeface="Lexend"/>
              </a:endParaRPr>
            </a:p>
          </p:txBody>
        </p:sp>
      </p:grpSp>
      <p:grpSp>
        <p:nvGrpSpPr>
          <p:cNvPr id="236" name="Google Shape;236;p21"/>
          <p:cNvGrpSpPr/>
          <p:nvPr/>
        </p:nvGrpSpPr>
        <p:grpSpPr>
          <a:xfrm>
            <a:off x="3992378" y="2254091"/>
            <a:ext cx="1398538" cy="307236"/>
            <a:chOff x="4849138" y="2310738"/>
            <a:chExt cx="1981213" cy="395413"/>
          </a:xfrm>
        </p:grpSpPr>
        <p:sp>
          <p:nvSpPr>
            <p:cNvPr id="237" name="Google Shape;237;p21"/>
            <p:cNvSpPr/>
            <p:nvPr/>
          </p:nvSpPr>
          <p:spPr>
            <a:xfrm>
              <a:off x="4849150" y="2310750"/>
              <a:ext cx="19812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38" name="Google Shape;238;p21"/>
            <p:cNvSpPr/>
            <p:nvPr/>
          </p:nvSpPr>
          <p:spPr>
            <a:xfrm>
              <a:off x="4849138" y="23107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G</a:t>
              </a:r>
              <a:endParaRPr sz="1200">
                <a:latin typeface="Lexend"/>
                <a:ea typeface="Lexend"/>
                <a:cs typeface="Lexend"/>
                <a:sym typeface="Lexend"/>
              </a:endParaRPr>
            </a:p>
          </p:txBody>
        </p:sp>
        <p:sp>
          <p:nvSpPr>
            <p:cNvPr id="239" name="Google Shape;239;p21"/>
            <p:cNvSpPr txBox="1"/>
            <p:nvPr/>
          </p:nvSpPr>
          <p:spPr>
            <a:xfrm>
              <a:off x="5120450" y="23464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4, 6, 6, 4, 0 …</a:t>
              </a:r>
              <a:endParaRPr sz="1200">
                <a:solidFill>
                  <a:srgbClr val="000000"/>
                </a:solidFill>
                <a:latin typeface="Lexend"/>
                <a:ea typeface="Lexend"/>
                <a:cs typeface="Lexend"/>
                <a:sym typeface="Lexend"/>
              </a:endParaRPr>
            </a:p>
          </p:txBody>
        </p:sp>
      </p:grpSp>
      <p:grpSp>
        <p:nvGrpSpPr>
          <p:cNvPr id="240" name="Google Shape;240;p21"/>
          <p:cNvGrpSpPr/>
          <p:nvPr/>
        </p:nvGrpSpPr>
        <p:grpSpPr>
          <a:xfrm>
            <a:off x="5637632" y="2254025"/>
            <a:ext cx="1454165" cy="307236"/>
            <a:chOff x="6966513" y="2301138"/>
            <a:chExt cx="1871513" cy="395413"/>
          </a:xfrm>
        </p:grpSpPr>
        <p:sp>
          <p:nvSpPr>
            <p:cNvPr id="241" name="Google Shape;241;p21"/>
            <p:cNvSpPr/>
            <p:nvPr/>
          </p:nvSpPr>
          <p:spPr>
            <a:xfrm>
              <a:off x="6966525" y="2301150"/>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42" name="Google Shape;242;p21"/>
            <p:cNvSpPr/>
            <p:nvPr/>
          </p:nvSpPr>
          <p:spPr>
            <a:xfrm>
              <a:off x="6966513" y="23011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Lexend"/>
                  <a:ea typeface="Lexend"/>
                  <a:cs typeface="Lexend"/>
                  <a:sym typeface="Lexend"/>
                </a:rPr>
                <a:t>H</a:t>
              </a:r>
              <a:endParaRPr sz="1200">
                <a:latin typeface="Lexend"/>
                <a:ea typeface="Lexend"/>
                <a:cs typeface="Lexend"/>
                <a:sym typeface="Lexend"/>
              </a:endParaRPr>
            </a:p>
          </p:txBody>
        </p:sp>
        <p:sp>
          <p:nvSpPr>
            <p:cNvPr id="243" name="Google Shape;243;p21"/>
            <p:cNvSpPr txBox="1"/>
            <p:nvPr/>
          </p:nvSpPr>
          <p:spPr>
            <a:xfrm>
              <a:off x="7237825" y="23368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1, 8, 27, 64, …</a:t>
              </a:r>
              <a:endParaRPr sz="1200">
                <a:solidFill>
                  <a:srgbClr val="000000"/>
                </a:solidFill>
                <a:latin typeface="Lexend"/>
                <a:ea typeface="Lexend"/>
                <a:cs typeface="Lexend"/>
                <a:sym typeface="Lexend"/>
              </a:endParaRPr>
            </a:p>
          </p:txBody>
        </p:sp>
      </p:grpSp>
      <p:sp>
        <p:nvSpPr>
          <p:cNvPr id="244" name="Google Shape;244;p21"/>
          <p:cNvSpPr txBox="1"/>
          <p:nvPr/>
        </p:nvSpPr>
        <p:spPr>
          <a:xfrm>
            <a:off x="476407" y="4181030"/>
            <a:ext cx="6601500" cy="42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2) What is the </a:t>
            </a:r>
            <a:r>
              <a:rPr i="1" lang="en-GB" sz="1200">
                <a:solidFill>
                  <a:srgbClr val="000000"/>
                </a:solidFill>
                <a:latin typeface="Times"/>
                <a:ea typeface="Times"/>
                <a:cs typeface="Times"/>
                <a:sym typeface="Times"/>
              </a:rPr>
              <a:t>n</a:t>
            </a:r>
            <a:r>
              <a:rPr baseline="30000" lang="en-GB" sz="1200">
                <a:solidFill>
                  <a:srgbClr val="000000"/>
                </a:solidFill>
                <a:latin typeface="Times"/>
                <a:ea typeface="Times"/>
                <a:cs typeface="Times"/>
                <a:sym typeface="Times"/>
              </a:rPr>
              <a:t>th</a:t>
            </a:r>
            <a:r>
              <a:rPr lang="en-GB" sz="1200">
                <a:solidFill>
                  <a:srgbClr val="000000"/>
                </a:solidFill>
                <a:latin typeface="Lexend"/>
                <a:ea typeface="Lexend"/>
                <a:cs typeface="Lexend"/>
                <a:sym typeface="Lexend"/>
              </a:rPr>
              <a:t> term rule for sequence a). How does that relate to the two sequences you have chosen for your answer to a)? </a:t>
            </a:r>
            <a:endParaRPr sz="1200">
              <a:solidFill>
                <a:srgbClr val="000000"/>
              </a:solidFill>
              <a:latin typeface="Lexend"/>
              <a:ea typeface="Lexend"/>
              <a:cs typeface="Lexend"/>
              <a:sym typeface="Lexend"/>
            </a:endParaRPr>
          </a:p>
        </p:txBody>
      </p:sp>
      <p:sp>
        <p:nvSpPr>
          <p:cNvPr id="245" name="Google Shape;245;p21"/>
          <p:cNvSpPr txBox="1"/>
          <p:nvPr/>
        </p:nvSpPr>
        <p:spPr>
          <a:xfrm>
            <a:off x="476400" y="5460000"/>
            <a:ext cx="6601500" cy="3155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3) By using the examples previously and any of your own examples, investigate the following questions and write a sentence about any patterns you have noticed.  </a:t>
            </a:r>
            <a:endParaRPr sz="1200">
              <a:solidFill>
                <a:srgbClr val="000000"/>
              </a:solidFill>
              <a:latin typeface="Lexend"/>
              <a:ea typeface="Lexend"/>
              <a:cs typeface="Lexend"/>
              <a:sym typeface="Lexend"/>
            </a:endParaRPr>
          </a:p>
          <a:p>
            <a:pPr indent="0" lvl="0" marL="0" rtl="0" algn="l">
              <a:spcBef>
                <a:spcPts val="1000"/>
              </a:spcBef>
              <a:spcAft>
                <a:spcPts val="0"/>
              </a:spcAft>
              <a:buNone/>
            </a:pPr>
            <a:r>
              <a:rPr lang="en-GB" sz="1200">
                <a:solidFill>
                  <a:srgbClr val="000000"/>
                </a:solidFill>
                <a:latin typeface="Lexend"/>
                <a:ea typeface="Lexend"/>
                <a:cs typeface="Lexend"/>
                <a:sym typeface="Lexend"/>
              </a:rPr>
              <a:t>a) What happens when you add two geometric sequences together? </a:t>
            </a:r>
            <a:endParaRPr sz="1200">
              <a:solidFill>
                <a:srgbClr val="000000"/>
              </a:solidFill>
              <a:latin typeface="Lexend"/>
              <a:ea typeface="Lexend"/>
              <a:cs typeface="Lexend"/>
              <a:sym typeface="Lexend"/>
            </a:endParaRPr>
          </a:p>
          <a:p>
            <a:pPr indent="0" lvl="0" marL="0" rtl="0" algn="l">
              <a:spcBef>
                <a:spcPts val="1000"/>
              </a:spcBef>
              <a:spcAft>
                <a:spcPts val="0"/>
              </a:spcAft>
              <a:buNone/>
            </a:pPr>
            <a:br>
              <a:rPr lang="en-GB" sz="1200">
                <a:solidFill>
                  <a:srgbClr val="000000"/>
                </a:solidFill>
                <a:latin typeface="Lexend"/>
                <a:ea typeface="Lexend"/>
                <a:cs typeface="Lexend"/>
                <a:sym typeface="Lexend"/>
              </a:rPr>
            </a:br>
            <a:endParaRPr sz="1200">
              <a:solidFill>
                <a:srgbClr val="000000"/>
              </a:solidFill>
              <a:latin typeface="Lexend"/>
              <a:ea typeface="Lexend"/>
              <a:cs typeface="Lexend"/>
              <a:sym typeface="Lexend"/>
            </a:endParaRPr>
          </a:p>
          <a:p>
            <a:pPr indent="0" lvl="0" marL="0" rtl="0" algn="l">
              <a:spcBef>
                <a:spcPts val="1000"/>
              </a:spcBef>
              <a:spcAft>
                <a:spcPts val="0"/>
              </a:spcAft>
              <a:buNone/>
            </a:pPr>
            <a:r>
              <a:rPr lang="en-GB" sz="1200">
                <a:solidFill>
                  <a:srgbClr val="000000"/>
                </a:solidFill>
                <a:latin typeface="Lexend"/>
                <a:ea typeface="Lexend"/>
                <a:cs typeface="Lexend"/>
                <a:sym typeface="Lexend"/>
              </a:rPr>
              <a:t>b) What happens when you add two quadratic sequences together?</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(square and triangle numbers are examples of quadratic sequences)</a:t>
            </a:r>
            <a:endParaRPr sz="1200">
              <a:solidFill>
                <a:srgbClr val="000000"/>
              </a:solidFill>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br>
              <a:rPr lang="en-GB" sz="1200">
                <a:solidFill>
                  <a:srgbClr val="000000"/>
                </a:solidFill>
                <a:latin typeface="Lexend"/>
                <a:ea typeface="Lexend"/>
                <a:cs typeface="Lexend"/>
                <a:sym typeface="Lexend"/>
              </a:rPr>
            </a:br>
            <a:endParaRPr sz="1200">
              <a:solidFill>
                <a:srgbClr val="000000"/>
              </a:solidFill>
              <a:latin typeface="Lexend"/>
              <a:ea typeface="Lexend"/>
              <a:cs typeface="Lexend"/>
              <a:sym typeface="Lexend"/>
            </a:endParaRPr>
          </a:p>
          <a:p>
            <a:pPr indent="0" lvl="0" marL="0" rtl="0" algn="l">
              <a:spcBef>
                <a:spcPts val="1000"/>
              </a:spcBef>
              <a:spcAft>
                <a:spcPts val="0"/>
              </a:spcAft>
              <a:buNone/>
            </a:pPr>
            <a:r>
              <a:rPr lang="en-GB" sz="1200">
                <a:solidFill>
                  <a:srgbClr val="000000"/>
                </a:solidFill>
                <a:latin typeface="Lexend"/>
                <a:ea typeface="Lexend"/>
                <a:cs typeface="Lexend"/>
                <a:sym typeface="Lexend"/>
              </a:rPr>
              <a:t>c) What happens when you add a linear sequence to a geometric sequence?</a:t>
            </a:r>
            <a:endParaRPr sz="1200">
              <a:solidFill>
                <a:srgbClr val="000000"/>
              </a:solidFill>
              <a:latin typeface="Lexend"/>
              <a:ea typeface="Lexend"/>
              <a:cs typeface="Lexend"/>
              <a:sym typeface="Lexend"/>
            </a:endParaRPr>
          </a:p>
          <a:p>
            <a:pPr indent="0" lvl="0" marL="0" rtl="0" algn="l">
              <a:spcBef>
                <a:spcPts val="1000"/>
              </a:spcBef>
              <a:spcAft>
                <a:spcPts val="0"/>
              </a:spcAft>
              <a:buNone/>
            </a:pPr>
            <a:r>
              <a:t/>
            </a:r>
            <a:endParaRPr sz="1200">
              <a:latin typeface="Lexend"/>
              <a:ea typeface="Lexend"/>
              <a:cs typeface="Lexend"/>
              <a:sym typeface="Lexend"/>
            </a:endParaRPr>
          </a:p>
          <a:p>
            <a:pPr indent="0" lvl="0" marL="0" rtl="0" algn="l">
              <a:spcBef>
                <a:spcPts val="1000"/>
              </a:spcBef>
              <a:spcAft>
                <a:spcPts val="1000"/>
              </a:spcAft>
              <a:buNone/>
            </a:pP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d) What happens when you add a linear sequence to a quadratic sequence?</a:t>
            </a:r>
            <a:endParaRPr sz="1200">
              <a:solidFill>
                <a:srgbClr val="000000"/>
              </a:solidFill>
              <a:latin typeface="Lexend"/>
              <a:ea typeface="Lexend"/>
              <a:cs typeface="Lexend"/>
              <a:sym typeface="Lexend"/>
            </a:endParaRPr>
          </a:p>
        </p:txBody>
      </p:sp>
      <p:sp>
        <p:nvSpPr>
          <p:cNvPr id="246" name="Google Shape;246;p21"/>
          <p:cNvSpPr txBox="1"/>
          <p:nvPr/>
        </p:nvSpPr>
        <p:spPr>
          <a:xfrm>
            <a:off x="476400" y="2863163"/>
            <a:ext cx="2190300" cy="135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5, 12, 19, 26, 33, … </a:t>
            </a:r>
            <a:r>
              <a:rPr lang="en-GB" sz="1200">
                <a:solidFill>
                  <a:srgbClr val="000000"/>
                </a:solidFill>
                <a:latin typeface="Kalam"/>
                <a:ea typeface="Kalam"/>
                <a:cs typeface="Kalam"/>
                <a:sym typeface="Kalam"/>
              </a:rPr>
              <a:t>C + D</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latin typeface="Kalam"/>
              <a:ea typeface="Kalam"/>
              <a:cs typeface="Kalam"/>
              <a:sym typeface="Kalam"/>
            </a:endParaRPr>
          </a:p>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b) 5, 11, 18, 27, 40, … </a:t>
            </a:r>
            <a:r>
              <a:rPr lang="en-GB" sz="1200">
                <a:solidFill>
                  <a:srgbClr val="000000"/>
                </a:solidFill>
                <a:latin typeface="Kalam"/>
                <a:ea typeface="Kalam"/>
                <a:cs typeface="Kalam"/>
                <a:sym typeface="Kalam"/>
              </a:rPr>
              <a:t>A + C</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latin typeface="Kalam"/>
              <a:ea typeface="Kalam"/>
              <a:cs typeface="Kalam"/>
              <a:sym typeface="Kalam"/>
            </a:endParaRPr>
          </a:p>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c) 5, 13, 28, 50, 79, … </a:t>
            </a:r>
            <a:r>
              <a:rPr lang="en-GB" sz="1200">
                <a:solidFill>
                  <a:srgbClr val="000000"/>
                </a:solidFill>
                <a:latin typeface="Kalam"/>
                <a:ea typeface="Kalam"/>
                <a:cs typeface="Kalam"/>
                <a:sym typeface="Kalam"/>
              </a:rPr>
              <a:t>E + F</a:t>
            </a:r>
            <a:endParaRPr sz="1200">
              <a:solidFill>
                <a:srgbClr val="000000"/>
              </a:solidFill>
              <a:latin typeface="Lexend"/>
              <a:ea typeface="Lexend"/>
              <a:cs typeface="Lexend"/>
              <a:sym typeface="Lexend"/>
            </a:endParaRPr>
          </a:p>
          <a:p>
            <a:pPr indent="0" lvl="0" marL="0" rtl="0" algn="l">
              <a:lnSpc>
                <a:spcPct val="115000"/>
              </a:lnSpc>
              <a:spcBef>
                <a:spcPts val="0"/>
              </a:spcBef>
              <a:spcAft>
                <a:spcPts val="1000"/>
              </a:spcAft>
              <a:buNone/>
            </a:pPr>
            <a:r>
              <a:t/>
            </a:r>
            <a:endParaRPr sz="1200">
              <a:solidFill>
                <a:srgbClr val="000000"/>
              </a:solidFill>
              <a:latin typeface="Lexend"/>
              <a:ea typeface="Lexend"/>
              <a:cs typeface="Lexend"/>
              <a:sym typeface="Lexend"/>
            </a:endParaRPr>
          </a:p>
        </p:txBody>
      </p:sp>
      <p:sp>
        <p:nvSpPr>
          <p:cNvPr id="247" name="Google Shape;247;p21"/>
          <p:cNvSpPr txBox="1"/>
          <p:nvPr/>
        </p:nvSpPr>
        <p:spPr>
          <a:xfrm>
            <a:off x="2800800" y="2885425"/>
            <a:ext cx="2190300" cy="126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d) 2, 9, 21, 38, 60, … </a:t>
            </a:r>
            <a:r>
              <a:rPr lang="en-GB" sz="1200">
                <a:solidFill>
                  <a:srgbClr val="000000"/>
                </a:solidFill>
                <a:latin typeface="Kalam"/>
                <a:ea typeface="Kalam"/>
                <a:cs typeface="Kalam"/>
                <a:sym typeface="Kalam"/>
              </a:rPr>
              <a:t>D + F</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latin typeface="Kalam"/>
              <a:ea typeface="Kalam"/>
              <a:cs typeface="Kalam"/>
              <a:sym typeface="Kalam"/>
            </a:endParaRPr>
          </a:p>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e) 2, 5, 9, 15, 25, … </a:t>
            </a:r>
            <a:r>
              <a:rPr lang="en-GB" sz="1200">
                <a:solidFill>
                  <a:srgbClr val="000000"/>
                </a:solidFill>
                <a:latin typeface="Kalam"/>
                <a:ea typeface="Kalam"/>
                <a:cs typeface="Kalam"/>
                <a:sym typeface="Kalam"/>
              </a:rPr>
              <a:t>A + D</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latin typeface="Kalam"/>
              <a:ea typeface="Kalam"/>
              <a:cs typeface="Kalam"/>
              <a:sym typeface="Kalam"/>
            </a:endParaRPr>
          </a:p>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f) 2, 11, 32, 71, 134, … </a:t>
            </a:r>
            <a:r>
              <a:rPr lang="en-GB" sz="1200">
                <a:solidFill>
                  <a:srgbClr val="000000"/>
                </a:solidFill>
                <a:latin typeface="Kalam"/>
                <a:ea typeface="Kalam"/>
                <a:cs typeface="Kalam"/>
                <a:sym typeface="Kalam"/>
              </a:rPr>
              <a:t>D + H</a:t>
            </a:r>
            <a:endParaRPr sz="1200">
              <a:solidFill>
                <a:srgbClr val="000000"/>
              </a:solidFill>
              <a:latin typeface="Lexend"/>
              <a:ea typeface="Lexend"/>
              <a:cs typeface="Lexend"/>
              <a:sym typeface="Lexend"/>
            </a:endParaRPr>
          </a:p>
          <a:p>
            <a:pPr indent="0" lvl="0" marL="0" rtl="0" algn="l">
              <a:lnSpc>
                <a:spcPct val="115000"/>
              </a:lnSpc>
              <a:spcBef>
                <a:spcPts val="0"/>
              </a:spcBef>
              <a:spcAft>
                <a:spcPts val="1000"/>
              </a:spcAft>
              <a:buNone/>
            </a:pPr>
            <a:r>
              <a:t/>
            </a:r>
            <a:endParaRPr sz="1200">
              <a:solidFill>
                <a:srgbClr val="000000"/>
              </a:solidFill>
              <a:latin typeface="Lexend"/>
              <a:ea typeface="Lexend"/>
              <a:cs typeface="Lexend"/>
              <a:sym typeface="Lexend"/>
            </a:endParaRPr>
          </a:p>
        </p:txBody>
      </p:sp>
      <p:sp>
        <p:nvSpPr>
          <p:cNvPr id="248" name="Google Shape;248;p21"/>
          <p:cNvSpPr txBox="1"/>
          <p:nvPr/>
        </p:nvSpPr>
        <p:spPr>
          <a:xfrm>
            <a:off x="4991100" y="2885425"/>
            <a:ext cx="2190300" cy="155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g) 5, 14, 40, 127, 356, … </a:t>
            </a:r>
            <a:r>
              <a:rPr lang="en-GB" sz="1200">
                <a:solidFill>
                  <a:srgbClr val="000000"/>
                </a:solidFill>
                <a:latin typeface="Kalam"/>
                <a:ea typeface="Kalam"/>
                <a:cs typeface="Kalam"/>
                <a:sym typeface="Kalam"/>
              </a:rPr>
              <a:t>A + B</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latin typeface="Kalam"/>
              <a:ea typeface="Kalam"/>
              <a:cs typeface="Kalam"/>
              <a:sym typeface="Kalam"/>
            </a:endParaRPr>
          </a:p>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h) 8, 15, 20, 23, 24, … </a:t>
            </a:r>
            <a:r>
              <a:rPr lang="en-GB" sz="1200">
                <a:solidFill>
                  <a:srgbClr val="000000"/>
                </a:solidFill>
                <a:latin typeface="Kalam"/>
                <a:ea typeface="Kalam"/>
                <a:cs typeface="Kalam"/>
                <a:sym typeface="Kalam"/>
              </a:rPr>
              <a:t>C + G</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latin typeface="Kalam"/>
              <a:ea typeface="Kalam"/>
              <a:cs typeface="Kalam"/>
              <a:sym typeface="Kalam"/>
            </a:endParaRPr>
          </a:p>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i) 8, 13, 18, 23, 28, … </a:t>
            </a:r>
            <a:r>
              <a:rPr lang="en-GB" sz="1200">
                <a:solidFill>
                  <a:srgbClr val="000000"/>
                </a:solidFill>
                <a:latin typeface="Kalam"/>
                <a:ea typeface="Kalam"/>
                <a:cs typeface="Kalam"/>
                <a:sym typeface="Kalam"/>
              </a:rPr>
              <a:t>E + G</a:t>
            </a:r>
            <a:endParaRPr sz="1200">
              <a:solidFill>
                <a:srgbClr val="000000"/>
              </a:solidFill>
              <a:latin typeface="Lexend"/>
              <a:ea typeface="Lexend"/>
              <a:cs typeface="Lexend"/>
              <a:sym typeface="Lexend"/>
            </a:endParaRPr>
          </a:p>
          <a:p>
            <a:pPr indent="0" lvl="0" marL="0" rtl="0" algn="l">
              <a:lnSpc>
                <a:spcPct val="115000"/>
              </a:lnSpc>
              <a:spcBef>
                <a:spcPts val="0"/>
              </a:spcBef>
              <a:spcAft>
                <a:spcPts val="1000"/>
              </a:spcAft>
              <a:buNone/>
            </a:pPr>
            <a:r>
              <a:t/>
            </a:r>
            <a:endParaRPr sz="1200">
              <a:solidFill>
                <a:srgbClr val="000000"/>
              </a:solidFill>
              <a:latin typeface="Lexend"/>
              <a:ea typeface="Lexend"/>
              <a:cs typeface="Lexend"/>
              <a:sym typeface="Lexend"/>
            </a:endParaRPr>
          </a:p>
        </p:txBody>
      </p:sp>
      <p:sp>
        <p:nvSpPr>
          <p:cNvPr id="249" name="Google Shape;249;p21"/>
          <p:cNvSpPr txBox="1"/>
          <p:nvPr/>
        </p:nvSpPr>
        <p:spPr>
          <a:xfrm>
            <a:off x="476400" y="4607625"/>
            <a:ext cx="4477200" cy="542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a:solidFill>
                  <a:srgbClr val="000000"/>
                </a:solidFill>
                <a:latin typeface="Times"/>
                <a:ea typeface="Times"/>
                <a:cs typeface="Times"/>
                <a:sym typeface="Times"/>
              </a:rPr>
              <a:t>7</a:t>
            </a:r>
            <a:r>
              <a:rPr i="1" lang="en-GB">
                <a:solidFill>
                  <a:srgbClr val="000000"/>
                </a:solidFill>
                <a:latin typeface="Times"/>
                <a:ea typeface="Times"/>
                <a:cs typeface="Times"/>
                <a:sym typeface="Times"/>
              </a:rPr>
              <a:t>n</a:t>
            </a:r>
            <a:r>
              <a:rPr lang="en-GB">
                <a:solidFill>
                  <a:srgbClr val="000000"/>
                </a:solidFill>
                <a:latin typeface="Times"/>
                <a:ea typeface="Times"/>
                <a:cs typeface="Times"/>
                <a:sym typeface="Times"/>
              </a:rPr>
              <a:t> </a:t>
            </a:r>
            <a:r>
              <a:rPr lang="en-GB">
                <a:solidFill>
                  <a:srgbClr val="222222"/>
                </a:solidFill>
                <a:latin typeface="Times"/>
                <a:ea typeface="Times"/>
                <a:cs typeface="Times"/>
                <a:sym typeface="Times"/>
              </a:rPr>
              <a:t>−</a:t>
            </a:r>
            <a:r>
              <a:rPr lang="en-GB">
                <a:solidFill>
                  <a:srgbClr val="000000"/>
                </a:solidFill>
                <a:latin typeface="Times"/>
                <a:ea typeface="Times"/>
                <a:cs typeface="Times"/>
                <a:sym typeface="Times"/>
              </a:rPr>
              <a:t> 2</a:t>
            </a:r>
            <a:r>
              <a:rPr lang="en-GB">
                <a:solidFill>
                  <a:srgbClr val="000000"/>
                </a:solidFill>
                <a:latin typeface="Kalam"/>
                <a:ea typeface="Kalam"/>
                <a:cs typeface="Kalam"/>
                <a:sym typeface="Kalam"/>
              </a:rPr>
              <a:t>. </a:t>
            </a:r>
            <a:r>
              <a:rPr lang="en-GB" sz="1200">
                <a:solidFill>
                  <a:srgbClr val="000000"/>
                </a:solidFill>
                <a:latin typeface="Kalam"/>
                <a:ea typeface="Kalam"/>
                <a:cs typeface="Kalam"/>
                <a:sym typeface="Kalam"/>
              </a:rPr>
              <a:t>The </a:t>
            </a:r>
            <a:r>
              <a:rPr i="1" lang="en-GB">
                <a:solidFill>
                  <a:srgbClr val="000000"/>
                </a:solidFill>
                <a:latin typeface="Times"/>
                <a:ea typeface="Times"/>
                <a:cs typeface="Times"/>
                <a:sym typeface="Times"/>
              </a:rPr>
              <a:t>n</a:t>
            </a:r>
            <a:r>
              <a:rPr baseline="30000" lang="en-GB">
                <a:solidFill>
                  <a:srgbClr val="000000"/>
                </a:solidFill>
                <a:latin typeface="Times"/>
                <a:ea typeface="Times"/>
                <a:cs typeface="Times"/>
                <a:sym typeface="Times"/>
              </a:rPr>
              <a:t>th</a:t>
            </a:r>
            <a:r>
              <a:rPr lang="en-GB">
                <a:solidFill>
                  <a:srgbClr val="000000"/>
                </a:solidFill>
                <a:latin typeface="Kalam"/>
                <a:ea typeface="Kalam"/>
                <a:cs typeface="Kalam"/>
                <a:sym typeface="Kalam"/>
              </a:rPr>
              <a:t> </a:t>
            </a:r>
            <a:r>
              <a:rPr lang="en-GB" sz="1200">
                <a:solidFill>
                  <a:srgbClr val="000000"/>
                </a:solidFill>
                <a:latin typeface="Kalam"/>
                <a:ea typeface="Kalam"/>
                <a:cs typeface="Kalam"/>
                <a:sym typeface="Kalam"/>
              </a:rPr>
              <a:t>term rules for C and D are </a:t>
            </a:r>
            <a:r>
              <a:rPr lang="en-GB">
                <a:solidFill>
                  <a:srgbClr val="000000"/>
                </a:solidFill>
                <a:latin typeface="Kalam"/>
                <a:ea typeface="Kalam"/>
                <a:cs typeface="Kalam"/>
                <a:sym typeface="Kalam"/>
              </a:rPr>
              <a:t>  </a:t>
            </a:r>
            <a:r>
              <a:rPr lang="en-GB">
                <a:solidFill>
                  <a:srgbClr val="000000"/>
                </a:solidFill>
                <a:latin typeface="Times"/>
                <a:ea typeface="Times"/>
                <a:cs typeface="Times"/>
                <a:sym typeface="Times"/>
              </a:rPr>
              <a:t>5</a:t>
            </a:r>
            <a:r>
              <a:rPr i="1" lang="en-GB">
                <a:solidFill>
                  <a:srgbClr val="000000"/>
                </a:solidFill>
                <a:latin typeface="Times"/>
                <a:ea typeface="Times"/>
                <a:cs typeface="Times"/>
                <a:sym typeface="Times"/>
              </a:rPr>
              <a:t>n</a:t>
            </a:r>
            <a:r>
              <a:rPr lang="en-GB">
                <a:solidFill>
                  <a:srgbClr val="000000"/>
                </a:solidFill>
                <a:latin typeface="Times"/>
                <a:ea typeface="Times"/>
                <a:cs typeface="Times"/>
                <a:sym typeface="Times"/>
              </a:rPr>
              <a:t> </a:t>
            </a:r>
            <a:r>
              <a:rPr lang="en-GB">
                <a:solidFill>
                  <a:srgbClr val="222222"/>
                </a:solidFill>
                <a:latin typeface="Times"/>
                <a:ea typeface="Times"/>
                <a:cs typeface="Times"/>
                <a:sym typeface="Times"/>
              </a:rPr>
              <a:t>− </a:t>
            </a:r>
            <a:r>
              <a:rPr lang="en-GB">
                <a:solidFill>
                  <a:srgbClr val="000000"/>
                </a:solidFill>
                <a:latin typeface="Times"/>
                <a:ea typeface="Times"/>
                <a:cs typeface="Times"/>
                <a:sym typeface="Times"/>
              </a:rPr>
              <a:t>1</a:t>
            </a:r>
            <a:r>
              <a:rPr lang="en-GB">
                <a:solidFill>
                  <a:srgbClr val="000000"/>
                </a:solidFill>
                <a:latin typeface="Kalam"/>
                <a:ea typeface="Kalam"/>
                <a:cs typeface="Kalam"/>
                <a:sym typeface="Kalam"/>
              </a:rPr>
              <a:t> </a:t>
            </a:r>
            <a:r>
              <a:rPr lang="en-GB" sz="1200">
                <a:solidFill>
                  <a:srgbClr val="000000"/>
                </a:solidFill>
                <a:latin typeface="Kalam"/>
                <a:ea typeface="Kalam"/>
                <a:cs typeface="Kalam"/>
                <a:sym typeface="Kalam"/>
              </a:rPr>
              <a:t>and </a:t>
            </a:r>
            <a:r>
              <a:rPr lang="en-GB">
                <a:solidFill>
                  <a:srgbClr val="000000"/>
                </a:solidFill>
                <a:latin typeface="Times"/>
                <a:ea typeface="Times"/>
                <a:cs typeface="Times"/>
                <a:sym typeface="Times"/>
              </a:rPr>
              <a:t>2</a:t>
            </a:r>
            <a:r>
              <a:rPr i="1" lang="en-GB">
                <a:solidFill>
                  <a:srgbClr val="000000"/>
                </a:solidFill>
                <a:latin typeface="Times"/>
                <a:ea typeface="Times"/>
                <a:cs typeface="Times"/>
                <a:sym typeface="Times"/>
              </a:rPr>
              <a:t>n</a:t>
            </a:r>
            <a:r>
              <a:rPr lang="en-GB">
                <a:solidFill>
                  <a:srgbClr val="000000"/>
                </a:solidFill>
                <a:latin typeface="Times"/>
                <a:ea typeface="Times"/>
                <a:cs typeface="Times"/>
                <a:sym typeface="Times"/>
              </a:rPr>
              <a:t> </a:t>
            </a:r>
            <a:r>
              <a:rPr lang="en-GB">
                <a:solidFill>
                  <a:srgbClr val="222222"/>
                </a:solidFill>
                <a:latin typeface="Times"/>
                <a:ea typeface="Times"/>
                <a:cs typeface="Times"/>
                <a:sym typeface="Times"/>
              </a:rPr>
              <a:t>−</a:t>
            </a:r>
            <a:r>
              <a:rPr lang="en-GB">
                <a:solidFill>
                  <a:srgbClr val="000000"/>
                </a:solidFill>
                <a:latin typeface="Times"/>
                <a:ea typeface="Times"/>
                <a:cs typeface="Times"/>
                <a:sym typeface="Times"/>
              </a:rPr>
              <a:t> 1</a:t>
            </a:r>
            <a:r>
              <a:rPr lang="en-GB">
                <a:solidFill>
                  <a:srgbClr val="000000"/>
                </a:solidFill>
                <a:latin typeface="Kalam"/>
                <a:ea typeface="Kalam"/>
                <a:cs typeface="Kalam"/>
                <a:sym typeface="Kalam"/>
              </a:rPr>
              <a:t>. </a:t>
            </a:r>
            <a:r>
              <a:rPr lang="en-GB" sz="1200">
                <a:solidFill>
                  <a:srgbClr val="000000"/>
                </a:solidFill>
                <a:latin typeface="Kalam"/>
                <a:ea typeface="Kalam"/>
                <a:cs typeface="Kalam"/>
                <a:sym typeface="Kalam"/>
              </a:rPr>
              <a:t>Adding the </a:t>
            </a:r>
            <a:r>
              <a:rPr i="1" lang="en-GB">
                <a:solidFill>
                  <a:srgbClr val="000000"/>
                </a:solidFill>
                <a:latin typeface="Times"/>
                <a:ea typeface="Times"/>
                <a:cs typeface="Times"/>
                <a:sym typeface="Times"/>
              </a:rPr>
              <a:t>n</a:t>
            </a:r>
            <a:r>
              <a:rPr baseline="30000" lang="en-GB">
                <a:solidFill>
                  <a:srgbClr val="000000"/>
                </a:solidFill>
                <a:latin typeface="Times"/>
                <a:ea typeface="Times"/>
                <a:cs typeface="Times"/>
                <a:sym typeface="Times"/>
              </a:rPr>
              <a:t>th</a:t>
            </a:r>
            <a:r>
              <a:rPr lang="en-GB" sz="1200">
                <a:solidFill>
                  <a:srgbClr val="000000"/>
                </a:solidFill>
                <a:latin typeface="Kalam"/>
                <a:ea typeface="Kalam"/>
                <a:cs typeface="Kalam"/>
                <a:sym typeface="Kalam"/>
              </a:rPr>
              <a:t> terms together:</a:t>
            </a:r>
            <a:r>
              <a:rPr lang="en-GB">
                <a:solidFill>
                  <a:srgbClr val="000000"/>
                </a:solidFill>
                <a:latin typeface="Kalam"/>
                <a:ea typeface="Kalam"/>
                <a:cs typeface="Kalam"/>
                <a:sym typeface="Kalam"/>
              </a:rPr>
              <a:t> </a:t>
            </a:r>
            <a:r>
              <a:rPr lang="en-GB">
                <a:solidFill>
                  <a:srgbClr val="000000"/>
                </a:solidFill>
                <a:latin typeface="Times"/>
                <a:ea typeface="Times"/>
                <a:cs typeface="Times"/>
                <a:sym typeface="Times"/>
              </a:rPr>
              <a:t>5</a:t>
            </a:r>
            <a:r>
              <a:rPr i="1" lang="en-GB">
                <a:solidFill>
                  <a:srgbClr val="000000"/>
                </a:solidFill>
                <a:latin typeface="Times"/>
                <a:ea typeface="Times"/>
                <a:cs typeface="Times"/>
                <a:sym typeface="Times"/>
              </a:rPr>
              <a:t>n</a:t>
            </a:r>
            <a:r>
              <a:rPr lang="en-GB">
                <a:solidFill>
                  <a:srgbClr val="222222"/>
                </a:solidFill>
                <a:latin typeface="Times"/>
                <a:ea typeface="Times"/>
                <a:cs typeface="Times"/>
                <a:sym typeface="Times"/>
              </a:rPr>
              <a:t>−</a:t>
            </a:r>
            <a:r>
              <a:rPr lang="en-GB">
                <a:solidFill>
                  <a:srgbClr val="000000"/>
                </a:solidFill>
                <a:latin typeface="Times"/>
                <a:ea typeface="Times"/>
                <a:cs typeface="Times"/>
                <a:sym typeface="Times"/>
              </a:rPr>
              <a:t>1 + 2</a:t>
            </a:r>
            <a:r>
              <a:rPr i="1" lang="en-GB">
                <a:solidFill>
                  <a:srgbClr val="000000"/>
                </a:solidFill>
                <a:latin typeface="Times"/>
                <a:ea typeface="Times"/>
                <a:cs typeface="Times"/>
                <a:sym typeface="Times"/>
              </a:rPr>
              <a:t>n</a:t>
            </a:r>
            <a:r>
              <a:rPr lang="en-GB">
                <a:solidFill>
                  <a:srgbClr val="000000"/>
                </a:solidFill>
                <a:latin typeface="Times"/>
                <a:ea typeface="Times"/>
                <a:cs typeface="Times"/>
                <a:sym typeface="Times"/>
              </a:rPr>
              <a:t> </a:t>
            </a:r>
            <a:r>
              <a:rPr lang="en-GB">
                <a:solidFill>
                  <a:srgbClr val="222222"/>
                </a:solidFill>
                <a:latin typeface="Times"/>
                <a:ea typeface="Times"/>
                <a:cs typeface="Times"/>
                <a:sym typeface="Times"/>
              </a:rPr>
              <a:t>−</a:t>
            </a:r>
            <a:r>
              <a:rPr lang="en-GB">
                <a:solidFill>
                  <a:srgbClr val="000000"/>
                </a:solidFill>
                <a:latin typeface="Times"/>
                <a:ea typeface="Times"/>
                <a:cs typeface="Times"/>
                <a:sym typeface="Times"/>
              </a:rPr>
              <a:t> 1 = 7</a:t>
            </a:r>
            <a:r>
              <a:rPr i="1" lang="en-GB">
                <a:solidFill>
                  <a:srgbClr val="000000"/>
                </a:solidFill>
                <a:latin typeface="Times"/>
                <a:ea typeface="Times"/>
                <a:cs typeface="Times"/>
                <a:sym typeface="Times"/>
              </a:rPr>
              <a:t>n</a:t>
            </a:r>
            <a:r>
              <a:rPr lang="en-GB">
                <a:solidFill>
                  <a:srgbClr val="000000"/>
                </a:solidFill>
                <a:latin typeface="Times"/>
                <a:ea typeface="Times"/>
                <a:cs typeface="Times"/>
                <a:sym typeface="Times"/>
              </a:rPr>
              <a:t> </a:t>
            </a:r>
            <a:r>
              <a:rPr lang="en-GB">
                <a:solidFill>
                  <a:srgbClr val="222222"/>
                </a:solidFill>
                <a:latin typeface="Times"/>
                <a:ea typeface="Times"/>
                <a:cs typeface="Times"/>
                <a:sym typeface="Times"/>
              </a:rPr>
              <a:t>−</a:t>
            </a:r>
            <a:r>
              <a:rPr lang="en-GB">
                <a:solidFill>
                  <a:srgbClr val="000000"/>
                </a:solidFill>
                <a:latin typeface="Times"/>
                <a:ea typeface="Times"/>
                <a:cs typeface="Times"/>
                <a:sym typeface="Times"/>
              </a:rPr>
              <a:t> 2</a:t>
            </a:r>
            <a:r>
              <a:rPr lang="en-GB">
                <a:solidFill>
                  <a:srgbClr val="000000"/>
                </a:solidFill>
                <a:latin typeface="Kalam"/>
                <a:ea typeface="Kalam"/>
                <a:cs typeface="Kalam"/>
                <a:sym typeface="Kalam"/>
              </a:rPr>
              <a:t>. </a:t>
            </a:r>
            <a:endParaRPr>
              <a:solidFill>
                <a:srgbClr val="000000"/>
              </a:solidFill>
              <a:latin typeface="Kalam"/>
              <a:ea typeface="Kalam"/>
              <a:cs typeface="Kalam"/>
              <a:sym typeface="Kalam"/>
            </a:endParaRPr>
          </a:p>
        </p:txBody>
      </p:sp>
      <p:sp>
        <p:nvSpPr>
          <p:cNvPr id="250" name="Google Shape;250;p21"/>
          <p:cNvSpPr txBox="1"/>
          <p:nvPr/>
        </p:nvSpPr>
        <p:spPr>
          <a:xfrm>
            <a:off x="443650" y="6257022"/>
            <a:ext cx="6648300" cy="50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E.g. You do not get another geometric sequence. There is no clear arithmetic or geometric pattern in the differences or ratios between terms.   </a:t>
            </a:r>
            <a:endParaRPr sz="1200">
              <a:solidFill>
                <a:srgbClr val="000000"/>
              </a:solidFill>
              <a:latin typeface="Kalam"/>
              <a:ea typeface="Kalam"/>
              <a:cs typeface="Kalam"/>
              <a:sym typeface="Kalam"/>
            </a:endParaRPr>
          </a:p>
        </p:txBody>
      </p:sp>
      <p:sp>
        <p:nvSpPr>
          <p:cNvPr id="251" name="Google Shape;251;p21"/>
          <p:cNvSpPr txBox="1"/>
          <p:nvPr/>
        </p:nvSpPr>
        <p:spPr>
          <a:xfrm>
            <a:off x="443650" y="7227610"/>
            <a:ext cx="6648300" cy="50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E.g. Often you get another quadratic sequence with the common second difference of the new sequence equal to the sum of the second differences of the original sequences. If the second differences of two sequences are the additive inverses of each other it is possible to add two quadratic sequences to get a linear sequence- Question 1i) is an example of this.     </a:t>
            </a:r>
            <a:endParaRPr sz="1200">
              <a:solidFill>
                <a:srgbClr val="000000"/>
              </a:solidFill>
              <a:latin typeface="Kalam"/>
              <a:ea typeface="Kalam"/>
              <a:cs typeface="Kalam"/>
              <a:sym typeface="Kalam"/>
            </a:endParaRPr>
          </a:p>
        </p:txBody>
      </p:sp>
      <p:sp>
        <p:nvSpPr>
          <p:cNvPr id="252" name="Google Shape;252;p21"/>
          <p:cNvSpPr txBox="1"/>
          <p:nvPr/>
        </p:nvSpPr>
        <p:spPr>
          <a:xfrm>
            <a:off x="490500" y="9251967"/>
            <a:ext cx="6601500" cy="50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E.g. You will get a quadratic sequence. If you knew the </a:t>
            </a:r>
            <a:r>
              <a:rPr i="1" lang="en-GB" sz="1200">
                <a:solidFill>
                  <a:srgbClr val="000000"/>
                </a:solidFill>
                <a:latin typeface="Times"/>
                <a:ea typeface="Times"/>
                <a:cs typeface="Times"/>
                <a:sym typeface="Times"/>
              </a:rPr>
              <a:t>n</a:t>
            </a:r>
            <a:r>
              <a:rPr baseline="30000" lang="en-GB" sz="1200">
                <a:solidFill>
                  <a:srgbClr val="000000"/>
                </a:solidFill>
                <a:latin typeface="Times"/>
                <a:ea typeface="Times"/>
                <a:cs typeface="Times"/>
                <a:sym typeface="Times"/>
              </a:rPr>
              <a:t>th</a:t>
            </a:r>
            <a:r>
              <a:rPr lang="en-GB" sz="1200">
                <a:solidFill>
                  <a:srgbClr val="000000"/>
                </a:solidFill>
                <a:latin typeface="Kalam"/>
                <a:ea typeface="Kalam"/>
                <a:cs typeface="Kalam"/>
                <a:sym typeface="Kalam"/>
              </a:rPr>
              <a:t> term rules, adding them together would give you the new </a:t>
            </a:r>
            <a:r>
              <a:rPr i="1" lang="en-GB" sz="1200">
                <a:solidFill>
                  <a:srgbClr val="000000"/>
                </a:solidFill>
                <a:latin typeface="Times"/>
                <a:ea typeface="Times"/>
                <a:cs typeface="Times"/>
                <a:sym typeface="Times"/>
              </a:rPr>
              <a:t>n</a:t>
            </a:r>
            <a:r>
              <a:rPr baseline="30000" lang="en-GB" sz="1200">
                <a:solidFill>
                  <a:srgbClr val="000000"/>
                </a:solidFill>
                <a:latin typeface="Times"/>
                <a:ea typeface="Times"/>
                <a:cs typeface="Times"/>
                <a:sym typeface="Times"/>
              </a:rPr>
              <a:t>th</a:t>
            </a:r>
            <a:r>
              <a:rPr lang="en-GB" sz="1200">
                <a:solidFill>
                  <a:srgbClr val="000000"/>
                </a:solidFill>
                <a:latin typeface="Kalam"/>
                <a:ea typeface="Kalam"/>
                <a:cs typeface="Kalam"/>
                <a:sym typeface="Kalam"/>
              </a:rPr>
              <a:t> term rule.  </a:t>
            </a:r>
            <a:endParaRPr sz="1200">
              <a:solidFill>
                <a:srgbClr val="000000"/>
              </a:solidFill>
              <a:latin typeface="Kalam"/>
              <a:ea typeface="Kalam"/>
              <a:cs typeface="Kalam"/>
              <a:sym typeface="Kalam"/>
            </a:endParaRPr>
          </a:p>
        </p:txBody>
      </p:sp>
      <p:sp>
        <p:nvSpPr>
          <p:cNvPr id="253" name="Google Shape;253;p21"/>
          <p:cNvSpPr txBox="1"/>
          <p:nvPr/>
        </p:nvSpPr>
        <p:spPr>
          <a:xfrm>
            <a:off x="490500" y="8420400"/>
            <a:ext cx="6601500" cy="50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E.g. The resulting sequences are neither arithmetic or geometric. There seems to be geometric relationships in the second differences between terms.    </a:t>
            </a:r>
            <a:endParaRPr sz="1200">
              <a:solidFill>
                <a:srgbClr val="000000"/>
              </a:solidFill>
              <a:latin typeface="Kalam"/>
              <a:ea typeface="Kalam"/>
              <a:cs typeface="Kalam"/>
              <a:sym typeface="Kalam"/>
            </a:endParaRPr>
          </a:p>
        </p:txBody>
      </p:sp>
      <p:sp>
        <p:nvSpPr>
          <p:cNvPr id="254" name="Google Shape;254;p21"/>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