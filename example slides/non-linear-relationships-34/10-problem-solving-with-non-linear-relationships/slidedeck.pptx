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14FA16-2915-4FED-858D-4356F43125AB}">
  <a:tblStyle styleId="{3914FA16-2915-4FED-858D-4356F43125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afbb2bb98a_1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afbb2bb98a_1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2ac33bf0fb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2ac33bf0f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afcae662e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2afcae662e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afcae662e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afcae662e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afcae662e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2afcae662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afcae662e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afcae662e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afcae662ea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afcae662ea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afcae662ea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afcae662ea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afcae662ea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afcae662ea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2afcae662ea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afcae662ea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2afcae662ea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2afcae662ea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afcae662ea_1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afcae662ea_1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afcae662ea_1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afcae662ea_1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afcae662ea_1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afcae662ea_1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2afcae662ea_1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2afcae662ea_1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2afcae662ea_1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2afcae662ea_1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2afcae662ea_1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2afcae662ea_1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2afcae662ea_1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2afcae662ea_1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afcae662ea_1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2afcae662ea_1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afbb2bb98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afbb2bb98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2afbb2bb98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2afbb2bb98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ae7c59af2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ae7c59af2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2afbb2bb98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2afbb2bb98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2afbb2bb98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2afbb2bb98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2afbb2bb98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2afbb2bb98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2afbb2bb98a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2afbb2bb98a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2afbb2bb98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2afbb2bb98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afbb2bb98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2afbb2bb98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afbb2bb98a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afbb2bb98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afbb2bb98a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afbb2bb98a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2afbb2bb98a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2afbb2bb98a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afbb2bb98a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2afbb2bb98a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2afbb2bb98a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2afbb2bb98a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afbb2bb98a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2afbb2bb98a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9.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4.png"/><Relationship Id="rId6" Type="http://schemas.openxmlformats.org/officeDocument/2006/relationships/image" Target="../media/image17.png"/><Relationship Id="rId7" Type="http://schemas.openxmlformats.org/officeDocument/2006/relationships/image" Target="../media/image2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2.png"/><Relationship Id="rId4" Type="http://schemas.openxmlformats.org/officeDocument/2006/relationships/image" Target="../media/image66.png"/><Relationship Id="rId5" Type="http://schemas.openxmlformats.org/officeDocument/2006/relationships/image" Target="../media/image25.png"/><Relationship Id="rId6" Type="http://schemas.openxmlformats.org/officeDocument/2006/relationships/image" Target="../media/image34.png"/><Relationship Id="rId7" Type="http://schemas.openxmlformats.org/officeDocument/2006/relationships/image" Target="../media/image2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6.png"/><Relationship Id="rId4" Type="http://schemas.openxmlformats.org/officeDocument/2006/relationships/image" Target="../media/image20.png"/><Relationship Id="rId9"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3.png"/><Relationship Id="rId7" Type="http://schemas.openxmlformats.org/officeDocument/2006/relationships/image" Target="../media/image25.png"/><Relationship Id="rId8" Type="http://schemas.openxmlformats.org/officeDocument/2006/relationships/image" Target="../media/image3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6.png"/><Relationship Id="rId4" Type="http://schemas.openxmlformats.org/officeDocument/2006/relationships/image" Target="../media/image31.png"/><Relationship Id="rId11" Type="http://schemas.openxmlformats.org/officeDocument/2006/relationships/image" Target="../media/image21.png"/><Relationship Id="rId10" Type="http://schemas.openxmlformats.org/officeDocument/2006/relationships/image" Target="../media/image38.png"/><Relationship Id="rId9" Type="http://schemas.openxmlformats.org/officeDocument/2006/relationships/image" Target="../media/image34.png"/><Relationship Id="rId5" Type="http://schemas.openxmlformats.org/officeDocument/2006/relationships/image" Target="../media/image20.png"/><Relationship Id="rId6" Type="http://schemas.openxmlformats.org/officeDocument/2006/relationships/image" Target="../media/image22.png"/><Relationship Id="rId7" Type="http://schemas.openxmlformats.org/officeDocument/2006/relationships/image" Target="../media/image33.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3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3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3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3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39.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2.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52.png"/><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52.pn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52.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52.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62.png"/><Relationship Id="rId4" Type="http://schemas.openxmlformats.org/officeDocument/2006/relationships/image" Target="../media/image6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 Id="rId3"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 Id="rId3"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 Id="rId3" Type="http://schemas.openxmlformats.org/officeDocument/2006/relationships/image" Target="../media/image6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61.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59.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9.xml"/><Relationship Id="rId3" Type="http://schemas.openxmlformats.org/officeDocument/2006/relationships/image" Target="../media/image61.png"/><Relationship Id="rId4" Type="http://schemas.openxmlformats.org/officeDocument/2006/relationships/image" Target="../media/image56.png"/><Relationship Id="rId5"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61.png"/><Relationship Id="rId4" Type="http://schemas.openxmlformats.org/officeDocument/2006/relationships/image" Target="../media/image56.png"/><Relationship Id="rId5"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1.xml"/><Relationship Id="rId3" Type="http://schemas.openxmlformats.org/officeDocument/2006/relationships/image" Target="../media/image61.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non-linear relationships</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Non-linear relationships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non-linear relationships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24000" y="1080009"/>
            <a:ext cx="8496000" cy="90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A </a:t>
            </a:r>
            <a:r>
              <a:rPr lang="en-GB" sz="1800">
                <a:solidFill>
                  <a:srgbClr val="000000"/>
                </a:solidFill>
                <a:latin typeface="Lexend"/>
                <a:ea typeface="Lexend"/>
                <a:cs typeface="Lexend"/>
                <a:sym typeface="Lexend"/>
              </a:rPr>
              <a:t>geometric sequence</a:t>
            </a:r>
            <a:r>
              <a:rPr b="1" lang="en-GB" sz="1800">
                <a:solidFill>
                  <a:srgbClr val="000000"/>
                </a:solidFill>
                <a:latin typeface="Lexend"/>
                <a:ea typeface="Lexend"/>
                <a:cs typeface="Lexend"/>
                <a:sym typeface="Lexend"/>
              </a:rPr>
              <a:t> </a:t>
            </a:r>
            <a:r>
              <a:rPr lang="en-GB" sz="1800">
                <a:solidFill>
                  <a:srgbClr val="000000"/>
                </a:solidFill>
                <a:latin typeface="Lexend"/>
                <a:ea typeface="Lexend"/>
                <a:cs typeface="Lexend"/>
                <a:sym typeface="Lexend"/>
              </a:rPr>
              <a:t>is a sequence with a constant multiplicative relationship between successive terms.</a:t>
            </a:r>
            <a:endParaRPr sz="1800">
              <a:solidFill>
                <a:srgbClr val="000000"/>
              </a:solidFill>
              <a:latin typeface="Lexend"/>
              <a:ea typeface="Lexend"/>
              <a:cs typeface="Lexend"/>
              <a:sym typeface="Lexend"/>
            </a:endParaRPr>
          </a:p>
        </p:txBody>
      </p:sp>
      <p:sp>
        <p:nvSpPr>
          <p:cNvPr id="771" name="Google Shape;771;p66"/>
          <p:cNvSpPr txBox="1"/>
          <p:nvPr/>
        </p:nvSpPr>
        <p:spPr>
          <a:xfrm>
            <a:off x="324000" y="2160000"/>
            <a:ext cx="8496000" cy="54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282828"/>
                </a:solidFill>
                <a:latin typeface="Lexend"/>
                <a:ea typeface="Lexend"/>
                <a:cs typeface="Lexend"/>
                <a:sym typeface="Lexend"/>
              </a:rPr>
              <a:t>A triangular number (or triangle number) is a number that can be represented by a pattern of dots arranged into an equilateral triangle. The term number is the number of dots in a side of the triangle. </a:t>
            </a:r>
            <a:endParaRPr sz="18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282828"/>
              </a:solidFill>
              <a:latin typeface="Lexend"/>
              <a:ea typeface="Lexend"/>
              <a:cs typeface="Lexend"/>
              <a:sym typeface="Lexend"/>
            </a:endParaRPr>
          </a:p>
        </p:txBody>
      </p:sp>
      <p:sp>
        <p:nvSpPr>
          <p:cNvPr id="772" name="Google Shape;772;p66"/>
          <p:cNvSpPr/>
          <p:nvPr/>
        </p:nvSpPr>
        <p:spPr>
          <a:xfrm>
            <a:off x="798175" y="407974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73" name="Google Shape;773;p66"/>
          <p:cNvGrpSpPr/>
          <p:nvPr/>
        </p:nvGrpSpPr>
        <p:grpSpPr>
          <a:xfrm>
            <a:off x="1662769" y="3830348"/>
            <a:ext cx="443549" cy="445599"/>
            <a:chOff x="1188594" y="2074198"/>
            <a:chExt cx="443549" cy="445599"/>
          </a:xfrm>
        </p:grpSpPr>
        <p:sp>
          <p:nvSpPr>
            <p:cNvPr id="774" name="Google Shape;774;p66"/>
            <p:cNvSpPr/>
            <p:nvPr/>
          </p:nvSpPr>
          <p:spPr>
            <a:xfrm>
              <a:off x="1188594"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66"/>
            <p:cNvSpPr/>
            <p:nvPr/>
          </p:nvSpPr>
          <p:spPr>
            <a:xfrm>
              <a:off x="1436542"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66"/>
            <p:cNvSpPr/>
            <p:nvPr/>
          </p:nvSpPr>
          <p:spPr>
            <a:xfrm>
              <a:off x="1188594"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77" name="Google Shape;777;p66"/>
          <p:cNvGrpSpPr/>
          <p:nvPr/>
        </p:nvGrpSpPr>
        <p:grpSpPr>
          <a:xfrm>
            <a:off x="2819863" y="3580949"/>
            <a:ext cx="691497" cy="694999"/>
            <a:chOff x="2345688" y="1824799"/>
            <a:chExt cx="691497" cy="694999"/>
          </a:xfrm>
        </p:grpSpPr>
        <p:sp>
          <p:nvSpPr>
            <p:cNvPr id="778" name="Google Shape;778;p66"/>
            <p:cNvSpPr/>
            <p:nvPr/>
          </p:nvSpPr>
          <p:spPr>
            <a:xfrm>
              <a:off x="2345688"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66"/>
            <p:cNvSpPr/>
            <p:nvPr/>
          </p:nvSpPr>
          <p:spPr>
            <a:xfrm>
              <a:off x="2593637"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66"/>
            <p:cNvSpPr/>
            <p:nvPr/>
          </p:nvSpPr>
          <p:spPr>
            <a:xfrm>
              <a:off x="2841585"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66"/>
            <p:cNvSpPr/>
            <p:nvPr/>
          </p:nvSpPr>
          <p:spPr>
            <a:xfrm>
              <a:off x="2345688"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2" name="Google Shape;782;p66"/>
            <p:cNvSpPr/>
            <p:nvPr/>
          </p:nvSpPr>
          <p:spPr>
            <a:xfrm>
              <a:off x="2593637"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66"/>
            <p:cNvSpPr/>
            <p:nvPr/>
          </p:nvSpPr>
          <p:spPr>
            <a:xfrm>
              <a:off x="2345688"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84" name="Google Shape;784;p66"/>
          <p:cNvGrpSpPr/>
          <p:nvPr/>
        </p:nvGrpSpPr>
        <p:grpSpPr>
          <a:xfrm>
            <a:off x="4343585" y="3331549"/>
            <a:ext cx="940782" cy="944398"/>
            <a:chOff x="3869410" y="1575399"/>
            <a:chExt cx="940782" cy="944398"/>
          </a:xfrm>
        </p:grpSpPr>
        <p:sp>
          <p:nvSpPr>
            <p:cNvPr id="785" name="Google Shape;785;p66"/>
            <p:cNvSpPr/>
            <p:nvPr/>
          </p:nvSpPr>
          <p:spPr>
            <a:xfrm>
              <a:off x="3870746"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6" name="Google Shape;786;p66"/>
            <p:cNvSpPr/>
            <p:nvPr/>
          </p:nvSpPr>
          <p:spPr>
            <a:xfrm>
              <a:off x="4118695"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7" name="Google Shape;787;p66"/>
            <p:cNvSpPr/>
            <p:nvPr/>
          </p:nvSpPr>
          <p:spPr>
            <a:xfrm>
              <a:off x="4366644"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8" name="Google Shape;788;p66"/>
            <p:cNvSpPr/>
            <p:nvPr/>
          </p:nvSpPr>
          <p:spPr>
            <a:xfrm>
              <a:off x="4614592"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9" name="Google Shape;789;p66"/>
            <p:cNvSpPr/>
            <p:nvPr/>
          </p:nvSpPr>
          <p:spPr>
            <a:xfrm>
              <a:off x="3869410"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66"/>
            <p:cNvSpPr/>
            <p:nvPr/>
          </p:nvSpPr>
          <p:spPr>
            <a:xfrm>
              <a:off x="4117359"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66"/>
            <p:cNvSpPr/>
            <p:nvPr/>
          </p:nvSpPr>
          <p:spPr>
            <a:xfrm>
              <a:off x="4365307"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66"/>
            <p:cNvSpPr/>
            <p:nvPr/>
          </p:nvSpPr>
          <p:spPr>
            <a:xfrm>
              <a:off x="3869410"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3" name="Google Shape;793;p66"/>
            <p:cNvSpPr/>
            <p:nvPr/>
          </p:nvSpPr>
          <p:spPr>
            <a:xfrm>
              <a:off x="4117359"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66"/>
            <p:cNvSpPr/>
            <p:nvPr/>
          </p:nvSpPr>
          <p:spPr>
            <a:xfrm>
              <a:off x="3869410" y="15753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95" name="Google Shape;795;p66"/>
          <p:cNvGrpSpPr/>
          <p:nvPr/>
        </p:nvGrpSpPr>
        <p:grpSpPr>
          <a:xfrm>
            <a:off x="6055916" y="3082150"/>
            <a:ext cx="1187935" cy="1193798"/>
            <a:chOff x="5581741" y="1326000"/>
            <a:chExt cx="1187935" cy="1193798"/>
          </a:xfrm>
        </p:grpSpPr>
        <p:sp>
          <p:nvSpPr>
            <p:cNvPr id="796" name="Google Shape;796;p66"/>
            <p:cNvSpPr/>
            <p:nvPr/>
          </p:nvSpPr>
          <p:spPr>
            <a:xfrm>
              <a:off x="5581741"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66"/>
            <p:cNvSpPr/>
            <p:nvPr/>
          </p:nvSpPr>
          <p:spPr>
            <a:xfrm>
              <a:off x="5830230"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66"/>
            <p:cNvSpPr/>
            <p:nvPr/>
          </p:nvSpPr>
          <p:spPr>
            <a:xfrm>
              <a:off x="6077639"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9" name="Google Shape;799;p66"/>
            <p:cNvSpPr/>
            <p:nvPr/>
          </p:nvSpPr>
          <p:spPr>
            <a:xfrm>
              <a:off x="6326127"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0" name="Google Shape;800;p66"/>
            <p:cNvSpPr/>
            <p:nvPr/>
          </p:nvSpPr>
          <p:spPr>
            <a:xfrm>
              <a:off x="6574076" y="23235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66"/>
            <p:cNvSpPr/>
            <p:nvPr/>
          </p:nvSpPr>
          <p:spPr>
            <a:xfrm>
              <a:off x="5581741"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66"/>
            <p:cNvSpPr/>
            <p:nvPr/>
          </p:nvSpPr>
          <p:spPr>
            <a:xfrm>
              <a:off x="5831026"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3" name="Google Shape;803;p66"/>
            <p:cNvSpPr/>
            <p:nvPr/>
          </p:nvSpPr>
          <p:spPr>
            <a:xfrm>
              <a:off x="6077639"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66"/>
            <p:cNvSpPr/>
            <p:nvPr/>
          </p:nvSpPr>
          <p:spPr>
            <a:xfrm>
              <a:off x="6326923" y="2074198"/>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5" name="Google Shape;805;p66"/>
            <p:cNvSpPr/>
            <p:nvPr/>
          </p:nvSpPr>
          <p:spPr>
            <a:xfrm>
              <a:off x="5581741"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66"/>
            <p:cNvSpPr/>
            <p:nvPr/>
          </p:nvSpPr>
          <p:spPr>
            <a:xfrm>
              <a:off x="5829690"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66"/>
            <p:cNvSpPr/>
            <p:nvPr/>
          </p:nvSpPr>
          <p:spPr>
            <a:xfrm>
              <a:off x="6077639" y="18247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66"/>
            <p:cNvSpPr/>
            <p:nvPr/>
          </p:nvSpPr>
          <p:spPr>
            <a:xfrm>
              <a:off x="5581741" y="15753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66"/>
            <p:cNvSpPr/>
            <p:nvPr/>
          </p:nvSpPr>
          <p:spPr>
            <a:xfrm>
              <a:off x="5829690" y="1575399"/>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0" name="Google Shape;810;p66"/>
            <p:cNvSpPr/>
            <p:nvPr/>
          </p:nvSpPr>
          <p:spPr>
            <a:xfrm>
              <a:off x="5581741" y="1326000"/>
              <a:ext cx="195600" cy="196200"/>
            </a:xfrm>
            <a:prstGeom prst="ellipse">
              <a:avLst/>
            </a:prstGeom>
            <a:solidFill>
              <a:srgbClr val="808080"/>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11" name="Google Shape;811;p66"/>
          <p:cNvSpPr txBox="1"/>
          <p:nvPr/>
        </p:nvSpPr>
        <p:spPr>
          <a:xfrm>
            <a:off x="798175" y="4257597"/>
            <a:ext cx="195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a:t>
            </a:r>
            <a:endParaRPr sz="1800">
              <a:solidFill>
                <a:srgbClr val="000000"/>
              </a:solidFill>
              <a:latin typeface="Lexend"/>
              <a:ea typeface="Lexend"/>
              <a:cs typeface="Lexend"/>
              <a:sym typeface="Lexend"/>
            </a:endParaRPr>
          </a:p>
        </p:txBody>
      </p:sp>
      <p:sp>
        <p:nvSpPr>
          <p:cNvPr id="812" name="Google Shape;812;p66"/>
          <p:cNvSpPr txBox="1"/>
          <p:nvPr/>
        </p:nvSpPr>
        <p:spPr>
          <a:xfrm>
            <a:off x="1788775" y="4257597"/>
            <a:ext cx="195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3</a:t>
            </a:r>
            <a:endParaRPr sz="1800">
              <a:solidFill>
                <a:srgbClr val="000000"/>
              </a:solidFill>
              <a:latin typeface="Lexend"/>
              <a:ea typeface="Lexend"/>
              <a:cs typeface="Lexend"/>
              <a:sym typeface="Lexend"/>
            </a:endParaRPr>
          </a:p>
        </p:txBody>
      </p:sp>
      <p:sp>
        <p:nvSpPr>
          <p:cNvPr id="813" name="Google Shape;813;p66"/>
          <p:cNvSpPr txBox="1"/>
          <p:nvPr/>
        </p:nvSpPr>
        <p:spPr>
          <a:xfrm>
            <a:off x="3084175" y="4257597"/>
            <a:ext cx="195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6</a:t>
            </a:r>
            <a:endParaRPr sz="1800">
              <a:solidFill>
                <a:srgbClr val="000000"/>
              </a:solidFill>
              <a:latin typeface="Lexend"/>
              <a:ea typeface="Lexend"/>
              <a:cs typeface="Lexend"/>
              <a:sym typeface="Lexend"/>
            </a:endParaRPr>
          </a:p>
        </p:txBody>
      </p:sp>
      <p:sp>
        <p:nvSpPr>
          <p:cNvPr id="814" name="Google Shape;814;p66"/>
          <p:cNvSpPr txBox="1"/>
          <p:nvPr/>
        </p:nvSpPr>
        <p:spPr>
          <a:xfrm>
            <a:off x="4684375" y="4257597"/>
            <a:ext cx="35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815" name="Google Shape;815;p66"/>
          <p:cNvSpPr txBox="1"/>
          <p:nvPr/>
        </p:nvSpPr>
        <p:spPr>
          <a:xfrm>
            <a:off x="6513175" y="4257597"/>
            <a:ext cx="35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15</a:t>
            </a:r>
            <a:endParaRPr sz="1800">
              <a:solidFill>
                <a:srgbClr val="000000"/>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relationships</a:t>
            </a:r>
            <a:endParaRPr/>
          </a:p>
        </p:txBody>
      </p:sp>
      <p:sp>
        <p:nvSpPr>
          <p:cNvPr id="821" name="Google Shape;821;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822" name="Google Shape;822;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a:t>
            </a:r>
            <a:r>
              <a:rPr lang="en-GB"/>
              <a:t>solving</a:t>
            </a:r>
            <a:r>
              <a:rPr lang="en-GB"/>
              <a:t> with non-linear relationships</a:t>
            </a:r>
            <a:endParaRPr/>
          </a:p>
        </p:txBody>
      </p:sp>
      <p:pic>
        <p:nvPicPr>
          <p:cNvPr id="823" name="Google Shape;823;p67"/>
          <p:cNvPicPr preferRelativeResize="0"/>
          <p:nvPr/>
        </p:nvPicPr>
        <p:blipFill>
          <a:blip r:embed="rId3">
            <a:alphaModFix/>
          </a:blip>
          <a:stretch>
            <a:fillRect/>
          </a:stretch>
        </p:blipFill>
        <p:spPr>
          <a:xfrm>
            <a:off x="420675" y="20458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29" name="Google Shape;829;p68"/>
          <p:cNvSpPr txBox="1"/>
          <p:nvPr>
            <p:ph idx="1" type="body"/>
          </p:nvPr>
        </p:nvSpPr>
        <p:spPr>
          <a:xfrm>
            <a:off x="324000" y="759300"/>
            <a:ext cx="85002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game of Chess was invented many, many years ago.</a:t>
            </a:r>
            <a:endParaRPr sz="2000"/>
          </a:p>
        </p:txBody>
      </p:sp>
      <p:sp>
        <p:nvSpPr>
          <p:cNvPr id="830" name="Google Shape;830;p68"/>
          <p:cNvSpPr txBox="1"/>
          <p:nvPr>
            <p:ph idx="1" type="body"/>
          </p:nvPr>
        </p:nvSpPr>
        <p:spPr>
          <a:xfrm>
            <a:off x="324000" y="1555832"/>
            <a:ext cx="5450400" cy="213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 </a:t>
            </a:r>
            <a:r>
              <a:rPr lang="en-GB" sz="2000"/>
              <a:t>story goes that the finished game was presented to a mean King who refused to share his vast stores of rice with the people despite there being a famine.</a:t>
            </a:r>
            <a:endParaRPr sz="2000"/>
          </a:p>
          <a:p>
            <a:pPr indent="0" lvl="0" marL="0" rtl="0" algn="l">
              <a:spcBef>
                <a:spcPts val="1000"/>
              </a:spcBef>
              <a:spcAft>
                <a:spcPts val="0"/>
              </a:spcAft>
              <a:buNone/>
            </a:pPr>
            <a:r>
              <a:rPr lang="en-GB" sz="2000"/>
              <a:t>The King liked the game.</a:t>
            </a:r>
            <a:endParaRPr sz="2000"/>
          </a:p>
          <a:p>
            <a:pPr indent="0" lvl="0" marL="0" rtl="0" algn="l">
              <a:spcBef>
                <a:spcPts val="1000"/>
              </a:spcBef>
              <a:spcAft>
                <a:spcPts val="1000"/>
              </a:spcAft>
              <a:buNone/>
            </a:pPr>
            <a:r>
              <a:rPr lang="en-GB" sz="2000"/>
              <a:t>“What prize do you want for this wonderful game? You can have any reward you wish for” said the King.</a:t>
            </a:r>
            <a:endParaRPr sz="2000"/>
          </a:p>
        </p:txBody>
      </p:sp>
      <p:graphicFrame>
        <p:nvGraphicFramePr>
          <p:cNvPr id="831" name="Google Shape;831;p68"/>
          <p:cNvGraphicFramePr/>
          <p:nvPr/>
        </p:nvGraphicFramePr>
        <p:xfrm>
          <a:off x="5774313" y="16343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graphicFrame>
        <p:nvGraphicFramePr>
          <p:cNvPr id="836" name="Google Shape;836;p69"/>
          <p:cNvGraphicFramePr/>
          <p:nvPr/>
        </p:nvGraphicFramePr>
        <p:xfrm>
          <a:off x="5774313" y="16343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
        <p:nvSpPr>
          <p:cNvPr id="837" name="Google Shape;837;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38" name="Google Shape;838;p69"/>
          <p:cNvSpPr txBox="1"/>
          <p:nvPr>
            <p:ph idx="1" type="body"/>
          </p:nvPr>
        </p:nvSpPr>
        <p:spPr>
          <a:xfrm>
            <a:off x="324000" y="810000"/>
            <a:ext cx="5450400" cy="2131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“I would like a single grain of rice on the first square of the board, two grains on the second square, four grains on the third, doubling each time ” said the inventor.</a:t>
            </a:r>
            <a:endParaRPr sz="2000"/>
          </a:p>
          <a:p>
            <a:pPr indent="0" lvl="0" marL="0" rtl="0" algn="l">
              <a:spcBef>
                <a:spcPts val="1000"/>
              </a:spcBef>
              <a:spcAft>
                <a:spcPts val="1000"/>
              </a:spcAft>
              <a:buClr>
                <a:schemeClr val="dk1"/>
              </a:buClr>
              <a:buSzPts val="1100"/>
              <a:buFont typeface="Arial"/>
              <a:buNone/>
            </a:pPr>
            <a:r>
              <a:rPr lang="en-GB" sz="2000"/>
              <a:t>The King was startled at such a small price for such a wonderful game. He began to count out the rice.</a:t>
            </a:r>
            <a:endParaRPr sz="1800"/>
          </a:p>
        </p:txBody>
      </p:sp>
      <p:sp>
        <p:nvSpPr>
          <p:cNvPr id="839" name="Google Shape;839;p69"/>
          <p:cNvSpPr txBox="1"/>
          <p:nvPr>
            <p:ph idx="1" type="body"/>
          </p:nvPr>
        </p:nvSpPr>
        <p:spPr>
          <a:xfrm>
            <a:off x="323925" y="3780000"/>
            <a:ext cx="54504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many grains will there be on the 64</a:t>
            </a:r>
            <a:r>
              <a:rPr baseline="30000" lang="en-GB" sz="2000"/>
              <a:t>th</a:t>
            </a:r>
            <a:r>
              <a:rPr lang="en-GB" sz="2000"/>
              <a:t> square?</a:t>
            </a:r>
            <a:endParaRPr sz="2000"/>
          </a:p>
        </p:txBody>
      </p:sp>
      <p:graphicFrame>
        <p:nvGraphicFramePr>
          <p:cNvPr id="840" name="Google Shape;840;p69"/>
          <p:cNvGraphicFramePr/>
          <p:nvPr/>
        </p:nvGraphicFramePr>
        <p:xfrm>
          <a:off x="5774313" y="16343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 </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graphicFrame>
        <p:nvGraphicFramePr>
          <p:cNvPr id="845" name="Google Shape;845;p70"/>
          <p:cNvGraphicFramePr/>
          <p:nvPr/>
        </p:nvGraphicFramePr>
        <p:xfrm>
          <a:off x="5774313" y="16343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 </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
        <p:nvSpPr>
          <p:cNvPr id="846" name="Google Shape;846;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47" name="Google Shape;847;p70"/>
          <p:cNvSpPr txBox="1"/>
          <p:nvPr>
            <p:ph idx="1" type="body"/>
          </p:nvPr>
        </p:nvSpPr>
        <p:spPr>
          <a:xfrm>
            <a:off x="324000" y="4340700"/>
            <a:ext cx="54504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many grains on the 64</a:t>
            </a:r>
            <a:r>
              <a:rPr baseline="30000" lang="en-GB" sz="2000"/>
              <a:t>th</a:t>
            </a:r>
            <a:r>
              <a:rPr lang="en-GB" sz="2000"/>
              <a:t> square?</a:t>
            </a:r>
            <a:endParaRPr sz="2000"/>
          </a:p>
        </p:txBody>
      </p:sp>
      <p:graphicFrame>
        <p:nvGraphicFramePr>
          <p:cNvPr id="848" name="Google Shape;848;p70"/>
          <p:cNvGraphicFramePr/>
          <p:nvPr/>
        </p:nvGraphicFramePr>
        <p:xfrm>
          <a:off x="5774400" y="1634400"/>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a:t>
                      </a:r>
                      <a:r>
                        <a:rPr lang="en-GB"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16</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64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
        <p:nvSpPr>
          <p:cNvPr id="849" name="Google Shape;849;p70"/>
          <p:cNvSpPr txBox="1"/>
          <p:nvPr>
            <p:ph idx="1" type="body"/>
          </p:nvPr>
        </p:nvSpPr>
        <p:spPr>
          <a:xfrm>
            <a:off x="324001" y="1005875"/>
            <a:ext cx="4217700" cy="29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1</a:t>
            </a:r>
            <a:r>
              <a:rPr lang="en-GB">
                <a:latin typeface="Times New Roman"/>
                <a:ea typeface="Times New Roman"/>
                <a:cs typeface="Times New Roman"/>
                <a:sym typeface="Times New Roman"/>
              </a:rPr>
              <a:t>, 2, 4, 8, 16, 32, 64, 128,</a:t>
            </a:r>
            <a:endParaRPr>
              <a:latin typeface="Times New Roman"/>
              <a:ea typeface="Times New Roman"/>
              <a:cs typeface="Times New Roman"/>
              <a:sym typeface="Times New Roman"/>
            </a:endParaRPr>
          </a:p>
        </p:txBody>
      </p:sp>
      <p:sp>
        <p:nvSpPr>
          <p:cNvPr id="850" name="Google Shape;850;p70"/>
          <p:cNvSpPr txBox="1"/>
          <p:nvPr>
            <p:ph idx="1" type="body"/>
          </p:nvPr>
        </p:nvSpPr>
        <p:spPr>
          <a:xfrm>
            <a:off x="330250" y="1695838"/>
            <a:ext cx="4643700" cy="29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256</a:t>
            </a:r>
            <a:r>
              <a:rPr lang="en-GB">
                <a:latin typeface="Times New Roman"/>
                <a:ea typeface="Times New Roman"/>
                <a:cs typeface="Times New Roman"/>
                <a:sym typeface="Times New Roman"/>
              </a:rPr>
              <a:t>, 512, 1024, 2048, 4096, 8192,         16 384, 32 768,</a:t>
            </a:r>
            <a:endParaRPr>
              <a:latin typeface="Times New Roman"/>
              <a:ea typeface="Times New Roman"/>
              <a:cs typeface="Times New Roman"/>
              <a:sym typeface="Times New Roman"/>
            </a:endParaRPr>
          </a:p>
        </p:txBody>
      </p:sp>
      <p:sp>
        <p:nvSpPr>
          <p:cNvPr id="851" name="Google Shape;851;p70"/>
          <p:cNvSpPr txBox="1"/>
          <p:nvPr>
            <p:ph idx="1" type="body"/>
          </p:nvPr>
        </p:nvSpPr>
        <p:spPr>
          <a:xfrm>
            <a:off x="330250" y="2586500"/>
            <a:ext cx="4080000" cy="538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Times New Roman"/>
                <a:ea typeface="Times New Roman"/>
                <a:cs typeface="Times New Roman"/>
                <a:sym typeface="Times New Roman"/>
              </a:rPr>
              <a:t>65 536</a:t>
            </a:r>
            <a:r>
              <a:rPr lang="en-GB">
                <a:latin typeface="Times New Roman"/>
                <a:ea typeface="Times New Roman"/>
                <a:cs typeface="Times New Roman"/>
                <a:sym typeface="Times New Roman"/>
              </a:rPr>
              <a:t>, 131 072, 262 144, ……..    8 388 608,</a:t>
            </a:r>
            <a:endParaRPr>
              <a:latin typeface="Times New Roman"/>
              <a:ea typeface="Times New Roman"/>
              <a:cs typeface="Times New Roman"/>
              <a:sym typeface="Times New Roman"/>
            </a:endParaRPr>
          </a:p>
        </p:txBody>
      </p:sp>
      <p:cxnSp>
        <p:nvCxnSpPr>
          <p:cNvPr id="852" name="Google Shape;852;p70"/>
          <p:cNvCxnSpPr/>
          <p:nvPr/>
        </p:nvCxnSpPr>
        <p:spPr>
          <a:xfrm>
            <a:off x="3374075" y="1203500"/>
            <a:ext cx="2328300" cy="580500"/>
          </a:xfrm>
          <a:prstGeom prst="straightConnector1">
            <a:avLst/>
          </a:prstGeom>
          <a:noFill/>
          <a:ln cap="flat" cmpd="sng" w="28575">
            <a:solidFill>
              <a:schemeClr val="accent4"/>
            </a:solidFill>
            <a:prstDash val="solid"/>
            <a:round/>
            <a:headEnd len="med" w="med" type="none"/>
            <a:tailEnd len="med" w="med" type="triangle"/>
          </a:ln>
        </p:spPr>
      </p:cxnSp>
      <p:cxnSp>
        <p:nvCxnSpPr>
          <p:cNvPr id="853" name="Google Shape;853;p70"/>
          <p:cNvCxnSpPr/>
          <p:nvPr/>
        </p:nvCxnSpPr>
        <p:spPr>
          <a:xfrm>
            <a:off x="4169250" y="2070300"/>
            <a:ext cx="1561500" cy="86100"/>
          </a:xfrm>
          <a:prstGeom prst="straightConnector1">
            <a:avLst/>
          </a:prstGeom>
          <a:noFill/>
          <a:ln cap="flat" cmpd="sng" w="28575">
            <a:solidFill>
              <a:schemeClr val="accent4"/>
            </a:solidFill>
            <a:prstDash val="solid"/>
            <a:round/>
            <a:headEnd len="med" w="med" type="none"/>
            <a:tailEnd len="med" w="med" type="triangle"/>
          </a:ln>
        </p:spPr>
      </p:cxnSp>
      <p:cxnSp>
        <p:nvCxnSpPr>
          <p:cNvPr id="854" name="Google Shape;854;p70"/>
          <p:cNvCxnSpPr>
            <a:stCxn id="851" idx="3"/>
          </p:cNvCxnSpPr>
          <p:nvPr/>
        </p:nvCxnSpPr>
        <p:spPr>
          <a:xfrm flipH="1" rot="10800000">
            <a:off x="4410250" y="2514800"/>
            <a:ext cx="1254300" cy="340800"/>
          </a:xfrm>
          <a:prstGeom prst="straightConnector1">
            <a:avLst/>
          </a:prstGeom>
          <a:noFill/>
          <a:ln cap="flat" cmpd="sng" w="28575">
            <a:solidFill>
              <a:schemeClr val="accent4"/>
            </a:solidFill>
            <a:prstDash val="solid"/>
            <a:round/>
            <a:headEnd len="med" w="med" type="none"/>
            <a:tailEnd len="med" w="med" type="triangle"/>
          </a:ln>
        </p:spPr>
      </p:cxnSp>
      <p:sp>
        <p:nvSpPr>
          <p:cNvPr id="855" name="Google Shape;855;p70"/>
          <p:cNvSpPr txBox="1"/>
          <p:nvPr>
            <p:ph idx="1" type="body"/>
          </p:nvPr>
        </p:nvSpPr>
        <p:spPr>
          <a:xfrm>
            <a:off x="330250" y="3717750"/>
            <a:ext cx="49137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Over 8 million grains by the</a:t>
            </a:r>
            <a:r>
              <a:rPr lang="en-GB" sz="2000"/>
              <a:t> 24</a:t>
            </a:r>
            <a:r>
              <a:rPr baseline="30000" lang="en-GB" sz="2000"/>
              <a:t>th</a:t>
            </a:r>
            <a:r>
              <a:rPr lang="en-GB" sz="2000"/>
              <a:t> square!</a:t>
            </a:r>
            <a:endParaRPr sz="2000"/>
          </a:p>
        </p:txBody>
      </p:sp>
      <p:sp>
        <p:nvSpPr>
          <p:cNvPr id="856" name="Google Shape;856;p70"/>
          <p:cNvSpPr/>
          <p:nvPr/>
        </p:nvSpPr>
        <p:spPr>
          <a:xfrm>
            <a:off x="8395873" y="2265950"/>
            <a:ext cx="471900" cy="4719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7" name="Google Shape;857;p70"/>
          <p:cNvCxnSpPr>
            <a:stCxn id="855" idx="3"/>
            <a:endCxn id="856" idx="3"/>
          </p:cNvCxnSpPr>
          <p:nvPr/>
        </p:nvCxnSpPr>
        <p:spPr>
          <a:xfrm flipH="1" rot="10800000">
            <a:off x="5243950" y="2668650"/>
            <a:ext cx="3221100" cy="123330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graphicFrame>
        <p:nvGraphicFramePr>
          <p:cNvPr id="862" name="Google Shape;862;p71"/>
          <p:cNvGraphicFramePr/>
          <p:nvPr/>
        </p:nvGraphicFramePr>
        <p:xfrm>
          <a:off x="414937" y="1085850"/>
          <a:ext cx="3000000" cy="3000000"/>
        </p:xfrm>
        <a:graphic>
          <a:graphicData uri="http://schemas.openxmlformats.org/drawingml/2006/table">
            <a:tbl>
              <a:tblPr>
                <a:noFill/>
                <a:tableStyleId>{3914FA16-2915-4FED-858D-4356F43125AB}</a:tableStyleId>
              </a:tblPr>
              <a:tblGrid>
                <a:gridCol w="1385700"/>
                <a:gridCol w="1385700"/>
                <a:gridCol w="138570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Square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Grains</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Rule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r>
                        <a:rPr baseline="30000" lang="en-GB" sz="2000">
                          <a:latin typeface="Times New Roman"/>
                          <a:ea typeface="Times New Roman"/>
                          <a:cs typeface="Times New Roman"/>
                          <a:sym typeface="Times New Roman"/>
                        </a:rPr>
                        <a:t>0</a:t>
                      </a:r>
                      <a:endParaRPr baseline="30000"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i="1" lang="en-GB" sz="2000">
                          <a:latin typeface="Times New Roman"/>
                          <a:ea typeface="Times New Roman"/>
                          <a:cs typeface="Times New Roman"/>
                          <a:sym typeface="Times New Roman"/>
                        </a:rPr>
                        <a:t> </a:t>
                      </a:r>
                      <a:endParaRPr i="1"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863" name="Google Shape;863;p71"/>
          <p:cNvGraphicFramePr/>
          <p:nvPr/>
        </p:nvGraphicFramePr>
        <p:xfrm>
          <a:off x="414937" y="1085850"/>
          <a:ext cx="3000000" cy="3000000"/>
        </p:xfrm>
        <a:graphic>
          <a:graphicData uri="http://schemas.openxmlformats.org/drawingml/2006/table">
            <a:tbl>
              <a:tblPr>
                <a:noFill/>
                <a:tableStyleId>{3914FA16-2915-4FED-858D-4356F43125AB}</a:tableStyleId>
              </a:tblPr>
              <a:tblGrid>
                <a:gridCol w="1385700"/>
                <a:gridCol w="1385700"/>
                <a:gridCol w="138570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Square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Grains</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Rule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64" name="Google Shape;864;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65" name="Google Shape;865;p71"/>
          <p:cNvSpPr txBox="1"/>
          <p:nvPr>
            <p:ph idx="1" type="body"/>
          </p:nvPr>
        </p:nvSpPr>
        <p:spPr>
          <a:xfrm>
            <a:off x="324000" y="4264500"/>
            <a:ext cx="54504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many grains on the </a:t>
            </a:r>
            <a:r>
              <a:rPr lang="en-GB" sz="2000"/>
              <a:t>64</a:t>
            </a:r>
            <a:r>
              <a:rPr baseline="30000" lang="en-GB" sz="2000"/>
              <a:t>th</a:t>
            </a:r>
            <a:r>
              <a:rPr lang="en-GB" sz="2000"/>
              <a:t> square?</a:t>
            </a:r>
            <a:endParaRPr sz="2000"/>
          </a:p>
        </p:txBody>
      </p:sp>
      <p:graphicFrame>
        <p:nvGraphicFramePr>
          <p:cNvPr id="866" name="Google Shape;866;p71"/>
          <p:cNvGraphicFramePr/>
          <p:nvPr/>
        </p:nvGraphicFramePr>
        <p:xfrm>
          <a:off x="5774313" y="11009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 </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16</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64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graphicFrame>
        <p:nvGraphicFramePr>
          <p:cNvPr id="867" name="Google Shape;867;p71"/>
          <p:cNvGraphicFramePr/>
          <p:nvPr/>
        </p:nvGraphicFramePr>
        <p:xfrm>
          <a:off x="414937" y="1085850"/>
          <a:ext cx="3000000" cy="3000000"/>
        </p:xfrm>
        <a:graphic>
          <a:graphicData uri="http://schemas.openxmlformats.org/drawingml/2006/table">
            <a:tbl>
              <a:tblPr>
                <a:noFill/>
                <a:tableStyleId>{3914FA16-2915-4FED-858D-4356F43125AB}</a:tableStyleId>
              </a:tblPr>
              <a:tblGrid>
                <a:gridCol w="1385700"/>
                <a:gridCol w="1385700"/>
                <a:gridCol w="138570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Square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Grains</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Rule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r>
                        <a:rPr baseline="30000" lang="en-GB" sz="2000">
                          <a:latin typeface="Times New Roman"/>
                          <a:ea typeface="Times New Roman"/>
                          <a:cs typeface="Times New Roman"/>
                          <a:sym typeface="Times New Roman"/>
                        </a:rPr>
                        <a:t>0</a:t>
                      </a:r>
                      <a:endParaRPr baseline="30000"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868" name="Google Shape;868;p71"/>
          <p:cNvSpPr/>
          <p:nvPr/>
        </p:nvSpPr>
        <p:spPr>
          <a:xfrm>
            <a:off x="3648450" y="3417786"/>
            <a:ext cx="471900" cy="3939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9" name="Google Shape;869;p71"/>
          <p:cNvSpPr/>
          <p:nvPr/>
        </p:nvSpPr>
        <p:spPr>
          <a:xfrm>
            <a:off x="3199500" y="3441625"/>
            <a:ext cx="1369800" cy="34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2</a:t>
            </a:r>
            <a:r>
              <a:rPr baseline="30000" lang="en-GB" sz="2000">
                <a:solidFill>
                  <a:schemeClr val="dk1"/>
                </a:solidFill>
                <a:latin typeface="Times New Roman"/>
                <a:ea typeface="Times New Roman"/>
                <a:cs typeface="Times New Roman"/>
                <a:sym typeface="Times New Roman"/>
              </a:rPr>
              <a:t>63</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75" name="Google Shape;875;p72"/>
          <p:cNvSpPr txBox="1"/>
          <p:nvPr>
            <p:ph idx="1" type="body"/>
          </p:nvPr>
        </p:nvSpPr>
        <p:spPr>
          <a:xfrm>
            <a:off x="324000" y="1404665"/>
            <a:ext cx="30498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To 1 s.f. that’s 9 × 10</a:t>
            </a:r>
            <a:r>
              <a:rPr baseline="30000" lang="en-GB" sz="1900"/>
              <a:t>18</a:t>
            </a:r>
            <a:endParaRPr baseline="30000" sz="1900"/>
          </a:p>
        </p:txBody>
      </p:sp>
      <p:graphicFrame>
        <p:nvGraphicFramePr>
          <p:cNvPr id="876" name="Google Shape;876;p72"/>
          <p:cNvGraphicFramePr/>
          <p:nvPr/>
        </p:nvGraphicFramePr>
        <p:xfrm>
          <a:off x="5774313" y="872337"/>
          <a:ext cx="3000000" cy="3000000"/>
        </p:xfrm>
        <a:graphic>
          <a:graphicData uri="http://schemas.openxmlformats.org/drawingml/2006/table">
            <a:tbl>
              <a:tblPr>
                <a:noFill/>
                <a:tableStyleId>{3914FA16-2915-4FED-858D-4356F43125AB}</a:tableStyleId>
              </a:tblPr>
              <a:tblGrid>
                <a:gridCol w="381225"/>
                <a:gridCol w="381225"/>
                <a:gridCol w="381225"/>
                <a:gridCol w="381225"/>
                <a:gridCol w="381225"/>
                <a:gridCol w="381225"/>
                <a:gridCol w="381225"/>
                <a:gridCol w="381225"/>
              </a:tblGrid>
              <a:tr h="344475">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 </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16</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32</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lt1"/>
                          </a:solidFill>
                          <a:latin typeface="Times New Roman"/>
                          <a:ea typeface="Times New Roman"/>
                          <a:cs typeface="Times New Roman"/>
                          <a:sym typeface="Times New Roman"/>
                        </a:rPr>
                        <a:t>64</a:t>
                      </a:r>
                      <a:endParaRPr sz="1800">
                        <a:solidFill>
                          <a:schemeClr val="lt1"/>
                        </a:solidFill>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128</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44475">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Times New Roman"/>
                        <a:ea typeface="Times New Roman"/>
                        <a:cs typeface="Times New Roman"/>
                        <a:sym typeface="Times New Roman"/>
                      </a:endParaRPr>
                    </a:p>
                  </a:txBody>
                  <a:tcPr marT="18000" marB="18000" marR="18000" marL="1800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bl>
          </a:graphicData>
        </a:graphic>
      </p:graphicFrame>
      <p:sp>
        <p:nvSpPr>
          <p:cNvPr id="877" name="Google Shape;877;p72"/>
          <p:cNvSpPr txBox="1"/>
          <p:nvPr>
            <p:ph idx="1" type="body"/>
          </p:nvPr>
        </p:nvSpPr>
        <p:spPr>
          <a:xfrm>
            <a:off x="324000" y="789262"/>
            <a:ext cx="52734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There are </a:t>
            </a:r>
            <a:r>
              <a:rPr lang="en-GB" sz="1900">
                <a:latin typeface="Times New Roman"/>
                <a:ea typeface="Times New Roman"/>
                <a:cs typeface="Times New Roman"/>
                <a:sym typeface="Times New Roman"/>
              </a:rPr>
              <a:t>2</a:t>
            </a:r>
            <a:r>
              <a:rPr baseline="30000" lang="en-GB" sz="1900">
                <a:latin typeface="Times New Roman"/>
                <a:ea typeface="Times New Roman"/>
                <a:cs typeface="Times New Roman"/>
                <a:sym typeface="Times New Roman"/>
              </a:rPr>
              <a:t>63</a:t>
            </a:r>
            <a:r>
              <a:rPr lang="en-GB" sz="1900"/>
              <a:t> grains on the 64</a:t>
            </a:r>
            <a:r>
              <a:rPr baseline="30000" lang="en-GB" sz="1900"/>
              <a:t>th</a:t>
            </a:r>
            <a:r>
              <a:rPr lang="en-GB" sz="1900"/>
              <a:t> square.</a:t>
            </a:r>
            <a:endParaRPr sz="1900"/>
          </a:p>
        </p:txBody>
      </p:sp>
      <p:pic>
        <p:nvPicPr>
          <p:cNvPr id="878" name="Google Shape;878;p72"/>
          <p:cNvPicPr preferRelativeResize="0"/>
          <p:nvPr/>
        </p:nvPicPr>
        <p:blipFill>
          <a:blip r:embed="rId3">
            <a:alphaModFix/>
          </a:blip>
          <a:stretch>
            <a:fillRect/>
          </a:stretch>
        </p:blipFill>
        <p:spPr>
          <a:xfrm>
            <a:off x="5774323" y="1993788"/>
            <a:ext cx="2579144" cy="1651775"/>
          </a:xfrm>
          <a:prstGeom prst="rect">
            <a:avLst/>
          </a:prstGeom>
          <a:noFill/>
          <a:ln>
            <a:noFill/>
          </a:ln>
        </p:spPr>
      </p:pic>
      <p:sp>
        <p:nvSpPr>
          <p:cNvPr id="879" name="Google Shape;879;p72"/>
          <p:cNvSpPr txBox="1"/>
          <p:nvPr>
            <p:ph idx="1" type="body"/>
          </p:nvPr>
        </p:nvSpPr>
        <p:spPr>
          <a:xfrm>
            <a:off x="324000" y="2020069"/>
            <a:ext cx="44331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Or… </a:t>
            </a:r>
            <a:r>
              <a:rPr lang="en-GB" sz="1900"/>
              <a:t> 9 000 000 000 000 000 000</a:t>
            </a:r>
            <a:endParaRPr baseline="30000" sz="1900"/>
          </a:p>
        </p:txBody>
      </p:sp>
      <p:sp>
        <p:nvSpPr>
          <p:cNvPr id="880" name="Google Shape;880;p72"/>
          <p:cNvSpPr txBox="1"/>
          <p:nvPr>
            <p:ph idx="1" type="body"/>
          </p:nvPr>
        </p:nvSpPr>
        <p:spPr>
          <a:xfrm>
            <a:off x="324000" y="2635472"/>
            <a:ext cx="49608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Which is the number nine quintillion!</a:t>
            </a:r>
            <a:endParaRPr baseline="30000" sz="1900"/>
          </a:p>
        </p:txBody>
      </p:sp>
      <p:sp>
        <p:nvSpPr>
          <p:cNvPr id="881" name="Google Shape;881;p72"/>
          <p:cNvSpPr txBox="1"/>
          <p:nvPr>
            <p:ph idx="1" type="body"/>
          </p:nvPr>
        </p:nvSpPr>
        <p:spPr>
          <a:xfrm>
            <a:off x="324000" y="3250875"/>
            <a:ext cx="5273400" cy="368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The King was unable to pay his debt.</a:t>
            </a:r>
            <a:endParaRPr sz="1900"/>
          </a:p>
          <a:p>
            <a:pPr indent="0" lvl="0" marL="0" rtl="0" algn="l">
              <a:lnSpc>
                <a:spcPct val="100000"/>
              </a:lnSpc>
              <a:spcBef>
                <a:spcPts val="0"/>
              </a:spcBef>
              <a:spcAft>
                <a:spcPts val="0"/>
              </a:spcAft>
              <a:buNone/>
            </a:pPr>
            <a:r>
              <a:rPr lang="en-GB" sz="1900"/>
              <a:t>Even the King did not have this much rice.</a:t>
            </a:r>
            <a:endParaRPr baseline="30000" sz="1900"/>
          </a:p>
        </p:txBody>
      </p:sp>
      <p:sp>
        <p:nvSpPr>
          <p:cNvPr id="882" name="Google Shape;882;p72"/>
          <p:cNvSpPr txBox="1"/>
          <p:nvPr>
            <p:ph idx="1" type="body"/>
          </p:nvPr>
        </p:nvSpPr>
        <p:spPr>
          <a:xfrm>
            <a:off x="321900" y="4068600"/>
            <a:ext cx="8500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This story is a good example of the power of geometric sequences and also the limitations of using this element of mathematics in modelling.</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p73"/>
          <p:cNvPicPr preferRelativeResize="0"/>
          <p:nvPr/>
        </p:nvPicPr>
        <p:blipFill>
          <a:blip r:embed="rId3">
            <a:alphaModFix/>
          </a:blip>
          <a:stretch>
            <a:fillRect/>
          </a:stretch>
        </p:blipFill>
        <p:spPr>
          <a:xfrm>
            <a:off x="5098002" y="1582832"/>
            <a:ext cx="3722542" cy="2842726"/>
          </a:xfrm>
          <a:prstGeom prst="rect">
            <a:avLst/>
          </a:prstGeom>
          <a:noFill/>
          <a:ln>
            <a:noFill/>
          </a:ln>
        </p:spPr>
      </p:pic>
      <p:pic>
        <p:nvPicPr>
          <p:cNvPr id="888" name="Google Shape;888;p73"/>
          <p:cNvPicPr preferRelativeResize="0"/>
          <p:nvPr/>
        </p:nvPicPr>
        <p:blipFill>
          <a:blip r:embed="rId4">
            <a:alphaModFix/>
          </a:blip>
          <a:stretch>
            <a:fillRect/>
          </a:stretch>
        </p:blipFill>
        <p:spPr>
          <a:xfrm>
            <a:off x="6923243" y="1888647"/>
            <a:ext cx="258830" cy="491425"/>
          </a:xfrm>
          <a:prstGeom prst="rect">
            <a:avLst/>
          </a:prstGeom>
          <a:noFill/>
          <a:ln>
            <a:noFill/>
          </a:ln>
        </p:spPr>
      </p:pic>
      <p:pic>
        <p:nvPicPr>
          <p:cNvPr id="889" name="Google Shape;889;p73"/>
          <p:cNvPicPr preferRelativeResize="0"/>
          <p:nvPr/>
        </p:nvPicPr>
        <p:blipFill>
          <a:blip r:embed="rId4">
            <a:alphaModFix/>
          </a:blip>
          <a:stretch>
            <a:fillRect/>
          </a:stretch>
        </p:blipFill>
        <p:spPr>
          <a:xfrm>
            <a:off x="7289468" y="2033736"/>
            <a:ext cx="258830" cy="491425"/>
          </a:xfrm>
          <a:prstGeom prst="rect">
            <a:avLst/>
          </a:prstGeom>
          <a:noFill/>
          <a:ln>
            <a:noFill/>
          </a:ln>
        </p:spPr>
      </p:pic>
      <p:sp>
        <p:nvSpPr>
          <p:cNvPr id="890" name="Google Shape;890;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891" name="Google Shape;891;p73"/>
          <p:cNvSpPr txBox="1"/>
          <p:nvPr>
            <p:ph idx="1" type="body"/>
          </p:nvPr>
        </p:nvSpPr>
        <p:spPr>
          <a:xfrm>
            <a:off x="324000" y="759300"/>
            <a:ext cx="7135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might see the very same numbers and pattern in a very different context.</a:t>
            </a:r>
            <a:endParaRPr sz="2000"/>
          </a:p>
        </p:txBody>
      </p:sp>
      <p:sp>
        <p:nvSpPr>
          <p:cNvPr id="892" name="Google Shape;892;p73"/>
          <p:cNvSpPr txBox="1"/>
          <p:nvPr>
            <p:ph idx="1" type="body"/>
          </p:nvPr>
        </p:nvSpPr>
        <p:spPr>
          <a:xfrm>
            <a:off x="324000" y="1551375"/>
            <a:ext cx="61920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2 thousand penguins living on an island. Every decade their population doubles.</a:t>
            </a:r>
            <a:endParaRPr baseline="30000" sz="2000"/>
          </a:p>
        </p:txBody>
      </p:sp>
      <p:graphicFrame>
        <p:nvGraphicFramePr>
          <p:cNvPr id="893" name="Google Shape;893;p73"/>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pic>
        <p:nvPicPr>
          <p:cNvPr id="898" name="Google Shape;898;p74"/>
          <p:cNvPicPr preferRelativeResize="0"/>
          <p:nvPr/>
        </p:nvPicPr>
        <p:blipFill>
          <a:blip r:embed="rId3">
            <a:alphaModFix/>
          </a:blip>
          <a:stretch>
            <a:fillRect/>
          </a:stretch>
        </p:blipFill>
        <p:spPr>
          <a:xfrm>
            <a:off x="5098002" y="1582832"/>
            <a:ext cx="3722542" cy="2842726"/>
          </a:xfrm>
          <a:prstGeom prst="rect">
            <a:avLst/>
          </a:prstGeom>
          <a:noFill/>
          <a:ln>
            <a:noFill/>
          </a:ln>
        </p:spPr>
      </p:pic>
      <p:pic>
        <p:nvPicPr>
          <p:cNvPr id="899" name="Google Shape;899;p74"/>
          <p:cNvPicPr preferRelativeResize="0"/>
          <p:nvPr/>
        </p:nvPicPr>
        <p:blipFill>
          <a:blip r:embed="rId4">
            <a:alphaModFix/>
          </a:blip>
          <a:stretch>
            <a:fillRect/>
          </a:stretch>
        </p:blipFill>
        <p:spPr>
          <a:xfrm>
            <a:off x="6923243" y="1888647"/>
            <a:ext cx="258830" cy="491425"/>
          </a:xfrm>
          <a:prstGeom prst="rect">
            <a:avLst/>
          </a:prstGeom>
          <a:noFill/>
          <a:ln>
            <a:noFill/>
          </a:ln>
        </p:spPr>
      </p:pic>
      <p:pic>
        <p:nvPicPr>
          <p:cNvPr id="900" name="Google Shape;900;p74"/>
          <p:cNvPicPr preferRelativeResize="0"/>
          <p:nvPr/>
        </p:nvPicPr>
        <p:blipFill>
          <a:blip r:embed="rId4">
            <a:alphaModFix/>
          </a:blip>
          <a:stretch>
            <a:fillRect/>
          </a:stretch>
        </p:blipFill>
        <p:spPr>
          <a:xfrm>
            <a:off x="7289468" y="2033736"/>
            <a:ext cx="258830" cy="491425"/>
          </a:xfrm>
          <a:prstGeom prst="rect">
            <a:avLst/>
          </a:prstGeom>
          <a:noFill/>
          <a:ln>
            <a:noFill/>
          </a:ln>
        </p:spPr>
      </p:pic>
      <p:sp>
        <p:nvSpPr>
          <p:cNvPr id="901" name="Google Shape;90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902" name="Google Shape;902;p74"/>
          <p:cNvSpPr txBox="1"/>
          <p:nvPr>
            <p:ph idx="1" type="body"/>
          </p:nvPr>
        </p:nvSpPr>
        <p:spPr>
          <a:xfrm>
            <a:off x="324000" y="759300"/>
            <a:ext cx="7135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might see the very same numbers and pattern in a very different context.</a:t>
            </a:r>
            <a:endParaRPr sz="2000"/>
          </a:p>
        </p:txBody>
      </p:sp>
      <p:sp>
        <p:nvSpPr>
          <p:cNvPr id="903" name="Google Shape;903;p74"/>
          <p:cNvSpPr txBox="1"/>
          <p:nvPr>
            <p:ph idx="1" type="body"/>
          </p:nvPr>
        </p:nvSpPr>
        <p:spPr>
          <a:xfrm>
            <a:off x="324000" y="1551375"/>
            <a:ext cx="61920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2 thousand penguins living on an island. Every decade their population doubles.</a:t>
            </a:r>
            <a:endParaRPr baseline="30000" sz="2000"/>
          </a:p>
        </p:txBody>
      </p:sp>
      <p:graphicFrame>
        <p:nvGraphicFramePr>
          <p:cNvPr id="904" name="Google Shape;904;p74"/>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a:t>
                      </a:r>
                      <a:r>
                        <a:rPr lang="en-GB" sz="1800">
                          <a:solidFill>
                            <a:srgbClr val="FFFFFF"/>
                          </a:solidFill>
                          <a:latin typeface="Lexend"/>
                          <a:ea typeface="Lexend"/>
                          <a:cs typeface="Lexend"/>
                          <a:sym typeface="Lexend"/>
                        </a:rPr>
                        <a:t>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05" name="Google Shape;905;p74"/>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06" name="Google Shape;906;p74"/>
          <p:cNvPicPr preferRelativeResize="0"/>
          <p:nvPr/>
        </p:nvPicPr>
        <p:blipFill>
          <a:blip r:embed="rId4">
            <a:alphaModFix/>
          </a:blip>
          <a:stretch>
            <a:fillRect/>
          </a:stretch>
        </p:blipFill>
        <p:spPr>
          <a:xfrm>
            <a:off x="5932643" y="2117247"/>
            <a:ext cx="258830" cy="491425"/>
          </a:xfrm>
          <a:prstGeom prst="rect">
            <a:avLst/>
          </a:prstGeom>
          <a:noFill/>
          <a:ln>
            <a:noFill/>
          </a:ln>
        </p:spPr>
      </p:pic>
      <p:pic>
        <p:nvPicPr>
          <p:cNvPr id="907" name="Google Shape;907;p74"/>
          <p:cNvPicPr preferRelativeResize="0"/>
          <p:nvPr/>
        </p:nvPicPr>
        <p:blipFill>
          <a:blip r:embed="rId4">
            <a:alphaModFix/>
          </a:blip>
          <a:stretch>
            <a:fillRect/>
          </a:stretch>
        </p:blipFill>
        <p:spPr>
          <a:xfrm>
            <a:off x="6474282" y="2056749"/>
            <a:ext cx="258830" cy="491425"/>
          </a:xfrm>
          <a:prstGeom prst="rect">
            <a:avLst/>
          </a:prstGeom>
          <a:noFill/>
          <a:ln>
            <a:noFill/>
          </a:ln>
        </p:spPr>
      </p:pic>
      <p:graphicFrame>
        <p:nvGraphicFramePr>
          <p:cNvPr id="908" name="Google Shape;908;p74"/>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09" name="Google Shape;909;p74"/>
          <p:cNvPicPr preferRelativeResize="0"/>
          <p:nvPr/>
        </p:nvPicPr>
        <p:blipFill>
          <a:blip r:embed="rId4">
            <a:alphaModFix/>
          </a:blip>
          <a:stretch>
            <a:fillRect/>
          </a:stretch>
        </p:blipFill>
        <p:spPr>
          <a:xfrm>
            <a:off x="7780110" y="1964847"/>
            <a:ext cx="258830" cy="491425"/>
          </a:xfrm>
          <a:prstGeom prst="rect">
            <a:avLst/>
          </a:prstGeom>
          <a:noFill/>
          <a:ln>
            <a:noFill/>
          </a:ln>
        </p:spPr>
      </p:pic>
      <p:pic>
        <p:nvPicPr>
          <p:cNvPr id="910" name="Google Shape;910;p74"/>
          <p:cNvPicPr preferRelativeResize="0"/>
          <p:nvPr/>
        </p:nvPicPr>
        <p:blipFill>
          <a:blip r:embed="rId4">
            <a:alphaModFix/>
          </a:blip>
          <a:stretch>
            <a:fillRect/>
          </a:stretch>
        </p:blipFill>
        <p:spPr>
          <a:xfrm>
            <a:off x="7582762" y="2437749"/>
            <a:ext cx="258830" cy="491425"/>
          </a:xfrm>
          <a:prstGeom prst="rect">
            <a:avLst/>
          </a:prstGeom>
          <a:noFill/>
          <a:ln>
            <a:noFill/>
          </a:ln>
        </p:spPr>
      </p:pic>
      <p:pic>
        <p:nvPicPr>
          <p:cNvPr id="911" name="Google Shape;911;p74"/>
          <p:cNvPicPr preferRelativeResize="0"/>
          <p:nvPr/>
        </p:nvPicPr>
        <p:blipFill>
          <a:blip r:embed="rId4">
            <a:alphaModFix/>
          </a:blip>
          <a:stretch>
            <a:fillRect/>
          </a:stretch>
        </p:blipFill>
        <p:spPr>
          <a:xfrm>
            <a:off x="6237443" y="2486740"/>
            <a:ext cx="258830" cy="491425"/>
          </a:xfrm>
          <a:prstGeom prst="rect">
            <a:avLst/>
          </a:prstGeom>
          <a:noFill/>
          <a:ln>
            <a:noFill/>
          </a:ln>
        </p:spPr>
      </p:pic>
      <p:pic>
        <p:nvPicPr>
          <p:cNvPr id="912" name="Google Shape;912;p74"/>
          <p:cNvPicPr preferRelativeResize="0"/>
          <p:nvPr/>
        </p:nvPicPr>
        <p:blipFill>
          <a:blip r:embed="rId4">
            <a:alphaModFix/>
          </a:blip>
          <a:stretch>
            <a:fillRect/>
          </a:stretch>
        </p:blipFill>
        <p:spPr>
          <a:xfrm>
            <a:off x="6779082" y="2426242"/>
            <a:ext cx="258830" cy="491425"/>
          </a:xfrm>
          <a:prstGeom prst="rect">
            <a:avLst/>
          </a:prstGeom>
          <a:noFill/>
          <a:ln>
            <a:noFill/>
          </a:ln>
        </p:spPr>
      </p:pic>
      <p:graphicFrame>
        <p:nvGraphicFramePr>
          <p:cNvPr id="913" name="Google Shape;913;p74"/>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14" name="Google Shape;914;p74"/>
          <p:cNvPicPr preferRelativeResize="0"/>
          <p:nvPr/>
        </p:nvPicPr>
        <p:blipFill>
          <a:blip r:embed="rId4">
            <a:alphaModFix/>
          </a:blip>
          <a:stretch>
            <a:fillRect/>
          </a:stretch>
        </p:blipFill>
        <p:spPr>
          <a:xfrm>
            <a:off x="6618443" y="3565047"/>
            <a:ext cx="258830" cy="491425"/>
          </a:xfrm>
          <a:prstGeom prst="rect">
            <a:avLst/>
          </a:prstGeom>
          <a:noFill/>
          <a:ln>
            <a:noFill/>
          </a:ln>
        </p:spPr>
      </p:pic>
      <p:pic>
        <p:nvPicPr>
          <p:cNvPr id="915" name="Google Shape;915;p74"/>
          <p:cNvPicPr preferRelativeResize="0"/>
          <p:nvPr/>
        </p:nvPicPr>
        <p:blipFill>
          <a:blip r:embed="rId4">
            <a:alphaModFix/>
          </a:blip>
          <a:stretch>
            <a:fillRect/>
          </a:stretch>
        </p:blipFill>
        <p:spPr>
          <a:xfrm>
            <a:off x="6984668" y="3557736"/>
            <a:ext cx="258830" cy="491425"/>
          </a:xfrm>
          <a:prstGeom prst="rect">
            <a:avLst/>
          </a:prstGeom>
          <a:noFill/>
          <a:ln>
            <a:noFill/>
          </a:ln>
        </p:spPr>
      </p:pic>
      <p:pic>
        <p:nvPicPr>
          <p:cNvPr id="916" name="Google Shape;916;p74"/>
          <p:cNvPicPr preferRelativeResize="0"/>
          <p:nvPr/>
        </p:nvPicPr>
        <p:blipFill>
          <a:blip r:embed="rId4">
            <a:alphaModFix/>
          </a:blip>
          <a:stretch>
            <a:fillRect/>
          </a:stretch>
        </p:blipFill>
        <p:spPr>
          <a:xfrm>
            <a:off x="5498457" y="2726847"/>
            <a:ext cx="258830" cy="491425"/>
          </a:xfrm>
          <a:prstGeom prst="rect">
            <a:avLst/>
          </a:prstGeom>
          <a:noFill/>
          <a:ln>
            <a:noFill/>
          </a:ln>
        </p:spPr>
      </p:pic>
      <p:pic>
        <p:nvPicPr>
          <p:cNvPr id="917" name="Google Shape;917;p74"/>
          <p:cNvPicPr preferRelativeResize="0"/>
          <p:nvPr/>
        </p:nvPicPr>
        <p:blipFill>
          <a:blip r:embed="rId4">
            <a:alphaModFix/>
          </a:blip>
          <a:stretch>
            <a:fillRect/>
          </a:stretch>
        </p:blipFill>
        <p:spPr>
          <a:xfrm>
            <a:off x="6245682" y="3199749"/>
            <a:ext cx="258830" cy="491425"/>
          </a:xfrm>
          <a:prstGeom prst="rect">
            <a:avLst/>
          </a:prstGeom>
          <a:noFill/>
          <a:ln>
            <a:noFill/>
          </a:ln>
        </p:spPr>
      </p:pic>
      <p:pic>
        <p:nvPicPr>
          <p:cNvPr id="918" name="Google Shape;918;p74"/>
          <p:cNvPicPr preferRelativeResize="0"/>
          <p:nvPr/>
        </p:nvPicPr>
        <p:blipFill>
          <a:blip r:embed="rId4">
            <a:alphaModFix/>
          </a:blip>
          <a:stretch>
            <a:fillRect/>
          </a:stretch>
        </p:blipFill>
        <p:spPr>
          <a:xfrm>
            <a:off x="7703910" y="3412647"/>
            <a:ext cx="258830" cy="491425"/>
          </a:xfrm>
          <a:prstGeom prst="rect">
            <a:avLst/>
          </a:prstGeom>
          <a:noFill/>
          <a:ln>
            <a:noFill/>
          </a:ln>
        </p:spPr>
      </p:pic>
      <p:pic>
        <p:nvPicPr>
          <p:cNvPr id="919" name="Google Shape;919;p74"/>
          <p:cNvPicPr preferRelativeResize="0"/>
          <p:nvPr/>
        </p:nvPicPr>
        <p:blipFill>
          <a:blip r:embed="rId4">
            <a:alphaModFix/>
          </a:blip>
          <a:stretch>
            <a:fillRect/>
          </a:stretch>
        </p:blipFill>
        <p:spPr>
          <a:xfrm>
            <a:off x="7354162" y="3352149"/>
            <a:ext cx="258830" cy="491425"/>
          </a:xfrm>
          <a:prstGeom prst="rect">
            <a:avLst/>
          </a:prstGeom>
          <a:noFill/>
          <a:ln>
            <a:noFill/>
          </a:ln>
        </p:spPr>
      </p:pic>
      <p:pic>
        <p:nvPicPr>
          <p:cNvPr id="920" name="Google Shape;920;p74"/>
          <p:cNvPicPr preferRelativeResize="0"/>
          <p:nvPr/>
        </p:nvPicPr>
        <p:blipFill>
          <a:blip r:embed="rId4">
            <a:alphaModFix/>
          </a:blip>
          <a:stretch>
            <a:fillRect/>
          </a:stretch>
        </p:blipFill>
        <p:spPr>
          <a:xfrm>
            <a:off x="5890963" y="2867740"/>
            <a:ext cx="258830" cy="491425"/>
          </a:xfrm>
          <a:prstGeom prst="rect">
            <a:avLst/>
          </a:prstGeom>
          <a:noFill/>
          <a:ln>
            <a:noFill/>
          </a:ln>
        </p:spPr>
      </p:pic>
      <p:pic>
        <p:nvPicPr>
          <p:cNvPr id="921" name="Google Shape;921;p74"/>
          <p:cNvPicPr preferRelativeResize="0"/>
          <p:nvPr/>
        </p:nvPicPr>
        <p:blipFill>
          <a:blip r:embed="rId4">
            <a:alphaModFix/>
          </a:blip>
          <a:stretch>
            <a:fillRect/>
          </a:stretch>
        </p:blipFill>
        <p:spPr>
          <a:xfrm>
            <a:off x="5940882" y="3569242"/>
            <a:ext cx="258830" cy="491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pic>
        <p:nvPicPr>
          <p:cNvPr id="926" name="Google Shape;926;p75"/>
          <p:cNvPicPr preferRelativeResize="0"/>
          <p:nvPr/>
        </p:nvPicPr>
        <p:blipFill>
          <a:blip r:embed="rId3">
            <a:alphaModFix/>
          </a:blip>
          <a:stretch>
            <a:fillRect/>
          </a:stretch>
        </p:blipFill>
        <p:spPr>
          <a:xfrm>
            <a:off x="5098002" y="1582832"/>
            <a:ext cx="3722542" cy="2842726"/>
          </a:xfrm>
          <a:prstGeom prst="rect">
            <a:avLst/>
          </a:prstGeom>
          <a:noFill/>
          <a:ln>
            <a:noFill/>
          </a:ln>
        </p:spPr>
      </p:pic>
      <p:pic>
        <p:nvPicPr>
          <p:cNvPr id="927" name="Google Shape;927;p75"/>
          <p:cNvPicPr preferRelativeResize="0"/>
          <p:nvPr/>
        </p:nvPicPr>
        <p:blipFill>
          <a:blip r:embed="rId4">
            <a:alphaModFix/>
          </a:blip>
          <a:stretch>
            <a:fillRect/>
          </a:stretch>
        </p:blipFill>
        <p:spPr>
          <a:xfrm>
            <a:off x="6008843" y="2662154"/>
            <a:ext cx="258830" cy="491425"/>
          </a:xfrm>
          <a:prstGeom prst="rect">
            <a:avLst/>
          </a:prstGeom>
          <a:noFill/>
          <a:ln>
            <a:noFill/>
          </a:ln>
        </p:spPr>
      </p:pic>
      <p:graphicFrame>
        <p:nvGraphicFramePr>
          <p:cNvPr id="928" name="Google Shape;928;p75"/>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29" name="Google Shape;929;p75"/>
          <p:cNvPicPr preferRelativeResize="0"/>
          <p:nvPr/>
        </p:nvPicPr>
        <p:blipFill>
          <a:blip r:embed="rId4">
            <a:alphaModFix/>
          </a:blip>
          <a:stretch>
            <a:fillRect/>
          </a:stretch>
        </p:blipFill>
        <p:spPr>
          <a:xfrm>
            <a:off x="6923243" y="1888647"/>
            <a:ext cx="258830" cy="491425"/>
          </a:xfrm>
          <a:prstGeom prst="rect">
            <a:avLst/>
          </a:prstGeom>
          <a:noFill/>
          <a:ln>
            <a:noFill/>
          </a:ln>
        </p:spPr>
      </p:pic>
      <p:pic>
        <p:nvPicPr>
          <p:cNvPr id="930" name="Google Shape;930;p75"/>
          <p:cNvPicPr preferRelativeResize="0"/>
          <p:nvPr/>
        </p:nvPicPr>
        <p:blipFill>
          <a:blip r:embed="rId4">
            <a:alphaModFix/>
          </a:blip>
          <a:stretch>
            <a:fillRect/>
          </a:stretch>
        </p:blipFill>
        <p:spPr>
          <a:xfrm>
            <a:off x="7289468" y="2033736"/>
            <a:ext cx="258830" cy="491425"/>
          </a:xfrm>
          <a:prstGeom prst="rect">
            <a:avLst/>
          </a:prstGeom>
          <a:noFill/>
          <a:ln>
            <a:noFill/>
          </a:ln>
        </p:spPr>
      </p:pic>
      <p:sp>
        <p:nvSpPr>
          <p:cNvPr id="931" name="Google Shape;931;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932" name="Google Shape;932;p75"/>
          <p:cNvSpPr txBox="1"/>
          <p:nvPr>
            <p:ph idx="1" type="body"/>
          </p:nvPr>
        </p:nvSpPr>
        <p:spPr>
          <a:xfrm>
            <a:off x="324000" y="759300"/>
            <a:ext cx="7135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might see the very same numbers and pattern in a very different context.</a:t>
            </a:r>
            <a:endParaRPr sz="2000"/>
          </a:p>
        </p:txBody>
      </p:sp>
      <p:sp>
        <p:nvSpPr>
          <p:cNvPr id="933" name="Google Shape;933;p75"/>
          <p:cNvSpPr txBox="1"/>
          <p:nvPr>
            <p:ph idx="1" type="body"/>
          </p:nvPr>
        </p:nvSpPr>
        <p:spPr>
          <a:xfrm>
            <a:off x="324000" y="1551375"/>
            <a:ext cx="61920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2 thousand penguins living on an island. Every decade their population doubles.</a:t>
            </a:r>
            <a:endParaRPr baseline="30000" sz="2000"/>
          </a:p>
        </p:txBody>
      </p:sp>
      <p:pic>
        <p:nvPicPr>
          <p:cNvPr id="934" name="Google Shape;934;p75"/>
          <p:cNvPicPr preferRelativeResize="0"/>
          <p:nvPr/>
        </p:nvPicPr>
        <p:blipFill>
          <a:blip r:embed="rId4">
            <a:alphaModFix/>
          </a:blip>
          <a:stretch>
            <a:fillRect/>
          </a:stretch>
        </p:blipFill>
        <p:spPr>
          <a:xfrm>
            <a:off x="5932643" y="2117247"/>
            <a:ext cx="258830" cy="491425"/>
          </a:xfrm>
          <a:prstGeom prst="rect">
            <a:avLst/>
          </a:prstGeom>
          <a:noFill/>
          <a:ln>
            <a:noFill/>
          </a:ln>
        </p:spPr>
      </p:pic>
      <p:pic>
        <p:nvPicPr>
          <p:cNvPr id="935" name="Google Shape;935;p75"/>
          <p:cNvPicPr preferRelativeResize="0"/>
          <p:nvPr/>
        </p:nvPicPr>
        <p:blipFill>
          <a:blip r:embed="rId4">
            <a:alphaModFix/>
          </a:blip>
          <a:stretch>
            <a:fillRect/>
          </a:stretch>
        </p:blipFill>
        <p:spPr>
          <a:xfrm>
            <a:off x="6474282" y="2056749"/>
            <a:ext cx="258830" cy="491425"/>
          </a:xfrm>
          <a:prstGeom prst="rect">
            <a:avLst/>
          </a:prstGeom>
          <a:noFill/>
          <a:ln>
            <a:noFill/>
          </a:ln>
        </p:spPr>
      </p:pic>
      <p:pic>
        <p:nvPicPr>
          <p:cNvPr id="936" name="Google Shape;936;p75"/>
          <p:cNvPicPr preferRelativeResize="0"/>
          <p:nvPr/>
        </p:nvPicPr>
        <p:blipFill>
          <a:blip r:embed="rId4">
            <a:alphaModFix/>
          </a:blip>
          <a:stretch>
            <a:fillRect/>
          </a:stretch>
        </p:blipFill>
        <p:spPr>
          <a:xfrm>
            <a:off x="7780110" y="1964847"/>
            <a:ext cx="258830" cy="491425"/>
          </a:xfrm>
          <a:prstGeom prst="rect">
            <a:avLst/>
          </a:prstGeom>
          <a:noFill/>
          <a:ln>
            <a:noFill/>
          </a:ln>
        </p:spPr>
      </p:pic>
      <p:pic>
        <p:nvPicPr>
          <p:cNvPr id="937" name="Google Shape;937;p75"/>
          <p:cNvPicPr preferRelativeResize="0"/>
          <p:nvPr/>
        </p:nvPicPr>
        <p:blipFill>
          <a:blip r:embed="rId4">
            <a:alphaModFix/>
          </a:blip>
          <a:stretch>
            <a:fillRect/>
          </a:stretch>
        </p:blipFill>
        <p:spPr>
          <a:xfrm>
            <a:off x="7582762" y="2437749"/>
            <a:ext cx="258830" cy="491425"/>
          </a:xfrm>
          <a:prstGeom prst="rect">
            <a:avLst/>
          </a:prstGeom>
          <a:noFill/>
          <a:ln>
            <a:noFill/>
          </a:ln>
        </p:spPr>
      </p:pic>
      <p:pic>
        <p:nvPicPr>
          <p:cNvPr id="938" name="Google Shape;938;p75"/>
          <p:cNvPicPr preferRelativeResize="0"/>
          <p:nvPr/>
        </p:nvPicPr>
        <p:blipFill>
          <a:blip r:embed="rId4">
            <a:alphaModFix/>
          </a:blip>
          <a:stretch>
            <a:fillRect/>
          </a:stretch>
        </p:blipFill>
        <p:spPr>
          <a:xfrm>
            <a:off x="6237443" y="2486740"/>
            <a:ext cx="258830" cy="491425"/>
          </a:xfrm>
          <a:prstGeom prst="rect">
            <a:avLst/>
          </a:prstGeom>
          <a:noFill/>
          <a:ln>
            <a:noFill/>
          </a:ln>
        </p:spPr>
      </p:pic>
      <p:pic>
        <p:nvPicPr>
          <p:cNvPr id="939" name="Google Shape;939;p75"/>
          <p:cNvPicPr preferRelativeResize="0"/>
          <p:nvPr/>
        </p:nvPicPr>
        <p:blipFill>
          <a:blip r:embed="rId4">
            <a:alphaModFix/>
          </a:blip>
          <a:stretch>
            <a:fillRect/>
          </a:stretch>
        </p:blipFill>
        <p:spPr>
          <a:xfrm>
            <a:off x="6779082" y="2426242"/>
            <a:ext cx="258830" cy="491425"/>
          </a:xfrm>
          <a:prstGeom prst="rect">
            <a:avLst/>
          </a:prstGeom>
          <a:noFill/>
          <a:ln>
            <a:noFill/>
          </a:ln>
        </p:spPr>
      </p:pic>
      <p:pic>
        <p:nvPicPr>
          <p:cNvPr id="940" name="Google Shape;940;p75"/>
          <p:cNvPicPr preferRelativeResize="0"/>
          <p:nvPr/>
        </p:nvPicPr>
        <p:blipFill>
          <a:blip r:embed="rId4">
            <a:alphaModFix/>
          </a:blip>
          <a:stretch>
            <a:fillRect/>
          </a:stretch>
        </p:blipFill>
        <p:spPr>
          <a:xfrm>
            <a:off x="6618443" y="3565047"/>
            <a:ext cx="258830" cy="491425"/>
          </a:xfrm>
          <a:prstGeom prst="rect">
            <a:avLst/>
          </a:prstGeom>
          <a:noFill/>
          <a:ln>
            <a:noFill/>
          </a:ln>
        </p:spPr>
      </p:pic>
      <p:pic>
        <p:nvPicPr>
          <p:cNvPr id="941" name="Google Shape;941;p75"/>
          <p:cNvPicPr preferRelativeResize="0"/>
          <p:nvPr/>
        </p:nvPicPr>
        <p:blipFill>
          <a:blip r:embed="rId4">
            <a:alphaModFix/>
          </a:blip>
          <a:stretch>
            <a:fillRect/>
          </a:stretch>
        </p:blipFill>
        <p:spPr>
          <a:xfrm>
            <a:off x="6984668" y="3557736"/>
            <a:ext cx="258830" cy="491425"/>
          </a:xfrm>
          <a:prstGeom prst="rect">
            <a:avLst/>
          </a:prstGeom>
          <a:noFill/>
          <a:ln>
            <a:noFill/>
          </a:ln>
        </p:spPr>
      </p:pic>
      <p:pic>
        <p:nvPicPr>
          <p:cNvPr id="942" name="Google Shape;942;p75"/>
          <p:cNvPicPr preferRelativeResize="0"/>
          <p:nvPr/>
        </p:nvPicPr>
        <p:blipFill>
          <a:blip r:embed="rId4">
            <a:alphaModFix/>
          </a:blip>
          <a:stretch>
            <a:fillRect/>
          </a:stretch>
        </p:blipFill>
        <p:spPr>
          <a:xfrm>
            <a:off x="5498457" y="2726847"/>
            <a:ext cx="258830" cy="491425"/>
          </a:xfrm>
          <a:prstGeom prst="rect">
            <a:avLst/>
          </a:prstGeom>
          <a:noFill/>
          <a:ln>
            <a:noFill/>
          </a:ln>
        </p:spPr>
      </p:pic>
      <p:pic>
        <p:nvPicPr>
          <p:cNvPr id="943" name="Google Shape;943;p75"/>
          <p:cNvPicPr preferRelativeResize="0"/>
          <p:nvPr/>
        </p:nvPicPr>
        <p:blipFill>
          <a:blip r:embed="rId4">
            <a:alphaModFix/>
          </a:blip>
          <a:stretch>
            <a:fillRect/>
          </a:stretch>
        </p:blipFill>
        <p:spPr>
          <a:xfrm>
            <a:off x="6245682" y="3199749"/>
            <a:ext cx="258830" cy="491425"/>
          </a:xfrm>
          <a:prstGeom prst="rect">
            <a:avLst/>
          </a:prstGeom>
          <a:noFill/>
          <a:ln>
            <a:noFill/>
          </a:ln>
        </p:spPr>
      </p:pic>
      <p:pic>
        <p:nvPicPr>
          <p:cNvPr id="944" name="Google Shape;944;p75"/>
          <p:cNvPicPr preferRelativeResize="0"/>
          <p:nvPr/>
        </p:nvPicPr>
        <p:blipFill>
          <a:blip r:embed="rId4">
            <a:alphaModFix/>
          </a:blip>
          <a:stretch>
            <a:fillRect/>
          </a:stretch>
        </p:blipFill>
        <p:spPr>
          <a:xfrm>
            <a:off x="7703910" y="3412647"/>
            <a:ext cx="258830" cy="491425"/>
          </a:xfrm>
          <a:prstGeom prst="rect">
            <a:avLst/>
          </a:prstGeom>
          <a:noFill/>
          <a:ln>
            <a:noFill/>
          </a:ln>
        </p:spPr>
      </p:pic>
      <p:pic>
        <p:nvPicPr>
          <p:cNvPr id="945" name="Google Shape;945;p75"/>
          <p:cNvPicPr preferRelativeResize="0"/>
          <p:nvPr/>
        </p:nvPicPr>
        <p:blipFill>
          <a:blip r:embed="rId4">
            <a:alphaModFix/>
          </a:blip>
          <a:stretch>
            <a:fillRect/>
          </a:stretch>
        </p:blipFill>
        <p:spPr>
          <a:xfrm>
            <a:off x="7354162" y="3352149"/>
            <a:ext cx="258830" cy="491425"/>
          </a:xfrm>
          <a:prstGeom prst="rect">
            <a:avLst/>
          </a:prstGeom>
          <a:noFill/>
          <a:ln>
            <a:noFill/>
          </a:ln>
        </p:spPr>
      </p:pic>
      <p:pic>
        <p:nvPicPr>
          <p:cNvPr id="946" name="Google Shape;946;p75"/>
          <p:cNvPicPr preferRelativeResize="0"/>
          <p:nvPr/>
        </p:nvPicPr>
        <p:blipFill>
          <a:blip r:embed="rId4">
            <a:alphaModFix/>
          </a:blip>
          <a:stretch>
            <a:fillRect/>
          </a:stretch>
        </p:blipFill>
        <p:spPr>
          <a:xfrm>
            <a:off x="5890963" y="2867740"/>
            <a:ext cx="258830" cy="491425"/>
          </a:xfrm>
          <a:prstGeom prst="rect">
            <a:avLst/>
          </a:prstGeom>
          <a:noFill/>
          <a:ln>
            <a:noFill/>
          </a:ln>
        </p:spPr>
      </p:pic>
      <p:pic>
        <p:nvPicPr>
          <p:cNvPr id="947" name="Google Shape;947;p75"/>
          <p:cNvPicPr preferRelativeResize="0"/>
          <p:nvPr/>
        </p:nvPicPr>
        <p:blipFill>
          <a:blip r:embed="rId4">
            <a:alphaModFix/>
          </a:blip>
          <a:stretch>
            <a:fillRect/>
          </a:stretch>
        </p:blipFill>
        <p:spPr>
          <a:xfrm>
            <a:off x="5940882" y="3569242"/>
            <a:ext cx="258830" cy="491425"/>
          </a:xfrm>
          <a:prstGeom prst="rect">
            <a:avLst/>
          </a:prstGeom>
          <a:noFill/>
          <a:ln>
            <a:noFill/>
          </a:ln>
        </p:spPr>
      </p:pic>
      <p:pic>
        <p:nvPicPr>
          <p:cNvPr id="948" name="Google Shape;948;p75"/>
          <p:cNvPicPr preferRelativeResize="0"/>
          <p:nvPr/>
        </p:nvPicPr>
        <p:blipFill>
          <a:blip r:embed="rId4">
            <a:alphaModFix/>
          </a:blip>
          <a:stretch>
            <a:fillRect/>
          </a:stretch>
        </p:blipFill>
        <p:spPr>
          <a:xfrm>
            <a:off x="6565257" y="2726847"/>
            <a:ext cx="258830" cy="491425"/>
          </a:xfrm>
          <a:prstGeom prst="rect">
            <a:avLst/>
          </a:prstGeom>
          <a:noFill/>
          <a:ln>
            <a:noFill/>
          </a:ln>
        </p:spPr>
      </p:pic>
      <p:pic>
        <p:nvPicPr>
          <p:cNvPr id="949" name="Google Shape;949;p75"/>
          <p:cNvPicPr preferRelativeResize="0"/>
          <p:nvPr/>
        </p:nvPicPr>
        <p:blipFill>
          <a:blip r:embed="rId4">
            <a:alphaModFix/>
          </a:blip>
          <a:stretch>
            <a:fillRect/>
          </a:stretch>
        </p:blipFill>
        <p:spPr>
          <a:xfrm>
            <a:off x="7098657" y="2498247"/>
            <a:ext cx="258830" cy="491425"/>
          </a:xfrm>
          <a:prstGeom prst="rect">
            <a:avLst/>
          </a:prstGeom>
          <a:noFill/>
          <a:ln>
            <a:noFill/>
          </a:ln>
        </p:spPr>
      </p:pic>
      <p:pic>
        <p:nvPicPr>
          <p:cNvPr id="950" name="Google Shape;950;p75"/>
          <p:cNvPicPr preferRelativeResize="0"/>
          <p:nvPr/>
        </p:nvPicPr>
        <p:blipFill>
          <a:blip r:embed="rId4">
            <a:alphaModFix/>
          </a:blip>
          <a:stretch>
            <a:fillRect/>
          </a:stretch>
        </p:blipFill>
        <p:spPr>
          <a:xfrm>
            <a:off x="7380443" y="2696674"/>
            <a:ext cx="258830" cy="491425"/>
          </a:xfrm>
          <a:prstGeom prst="rect">
            <a:avLst/>
          </a:prstGeom>
          <a:noFill/>
          <a:ln>
            <a:noFill/>
          </a:ln>
        </p:spPr>
      </p:pic>
      <p:pic>
        <p:nvPicPr>
          <p:cNvPr id="951" name="Google Shape;951;p75"/>
          <p:cNvPicPr preferRelativeResize="0"/>
          <p:nvPr/>
        </p:nvPicPr>
        <p:blipFill>
          <a:blip r:embed="rId4">
            <a:alphaModFix/>
          </a:blip>
          <a:stretch>
            <a:fillRect/>
          </a:stretch>
        </p:blipFill>
        <p:spPr>
          <a:xfrm>
            <a:off x="7098657" y="3043154"/>
            <a:ext cx="258830" cy="491425"/>
          </a:xfrm>
          <a:prstGeom prst="rect">
            <a:avLst/>
          </a:prstGeom>
          <a:noFill/>
          <a:ln>
            <a:noFill/>
          </a:ln>
        </p:spPr>
      </p:pic>
      <p:pic>
        <p:nvPicPr>
          <p:cNvPr id="952" name="Google Shape;952;p75"/>
          <p:cNvPicPr preferRelativeResize="0"/>
          <p:nvPr/>
        </p:nvPicPr>
        <p:blipFill>
          <a:blip r:embed="rId4">
            <a:alphaModFix/>
          </a:blip>
          <a:stretch>
            <a:fillRect/>
          </a:stretch>
        </p:blipFill>
        <p:spPr>
          <a:xfrm>
            <a:off x="6770843" y="3161033"/>
            <a:ext cx="258830" cy="491425"/>
          </a:xfrm>
          <a:prstGeom prst="rect">
            <a:avLst/>
          </a:prstGeom>
          <a:noFill/>
          <a:ln>
            <a:noFill/>
          </a:ln>
        </p:spPr>
      </p:pic>
      <p:pic>
        <p:nvPicPr>
          <p:cNvPr id="953" name="Google Shape;953;p75"/>
          <p:cNvPicPr preferRelativeResize="0"/>
          <p:nvPr/>
        </p:nvPicPr>
        <p:blipFill>
          <a:blip r:embed="rId4">
            <a:alphaModFix/>
          </a:blip>
          <a:stretch>
            <a:fillRect/>
          </a:stretch>
        </p:blipFill>
        <p:spPr>
          <a:xfrm>
            <a:off x="7837643" y="2780033"/>
            <a:ext cx="258830" cy="491425"/>
          </a:xfrm>
          <a:prstGeom prst="rect">
            <a:avLst/>
          </a:prstGeom>
          <a:noFill/>
          <a:ln>
            <a:noFill/>
          </a:ln>
        </p:spPr>
      </p:pic>
      <p:pic>
        <p:nvPicPr>
          <p:cNvPr id="954" name="Google Shape;954;p75"/>
          <p:cNvPicPr preferRelativeResize="0"/>
          <p:nvPr/>
        </p:nvPicPr>
        <p:blipFill>
          <a:blip r:embed="rId4">
            <a:alphaModFix/>
          </a:blip>
          <a:stretch>
            <a:fillRect/>
          </a:stretch>
        </p:blipFill>
        <p:spPr>
          <a:xfrm>
            <a:off x="8031723" y="2322833"/>
            <a:ext cx="258830" cy="491425"/>
          </a:xfrm>
          <a:prstGeom prst="rect">
            <a:avLst/>
          </a:prstGeom>
          <a:noFill/>
          <a:ln>
            <a:noFill/>
          </a:ln>
        </p:spPr>
      </p:pic>
      <p:pic>
        <p:nvPicPr>
          <p:cNvPr id="955" name="Google Shape;955;p75"/>
          <p:cNvPicPr preferRelativeResize="0"/>
          <p:nvPr/>
        </p:nvPicPr>
        <p:blipFill>
          <a:blip r:embed="rId4">
            <a:alphaModFix/>
          </a:blip>
          <a:stretch>
            <a:fillRect/>
          </a:stretch>
        </p:blipFill>
        <p:spPr>
          <a:xfrm>
            <a:off x="8142443" y="1976354"/>
            <a:ext cx="258830" cy="491425"/>
          </a:xfrm>
          <a:prstGeom prst="rect">
            <a:avLst/>
          </a:prstGeom>
          <a:noFill/>
          <a:ln>
            <a:noFill/>
          </a:ln>
        </p:spPr>
      </p:pic>
      <p:pic>
        <p:nvPicPr>
          <p:cNvPr id="956" name="Google Shape;956;p75"/>
          <p:cNvPicPr preferRelativeResize="0"/>
          <p:nvPr/>
        </p:nvPicPr>
        <p:blipFill>
          <a:blip r:embed="rId4">
            <a:alphaModFix/>
          </a:blip>
          <a:stretch>
            <a:fillRect/>
          </a:stretch>
        </p:blipFill>
        <p:spPr>
          <a:xfrm>
            <a:off x="8142443" y="2966954"/>
            <a:ext cx="258830" cy="491425"/>
          </a:xfrm>
          <a:prstGeom prst="rect">
            <a:avLst/>
          </a:prstGeom>
          <a:noFill/>
          <a:ln>
            <a:noFill/>
          </a:ln>
        </p:spPr>
      </p:pic>
      <p:pic>
        <p:nvPicPr>
          <p:cNvPr id="957" name="Google Shape;957;p75"/>
          <p:cNvPicPr preferRelativeResize="0"/>
          <p:nvPr/>
        </p:nvPicPr>
        <p:blipFill>
          <a:blip r:embed="rId4">
            <a:alphaModFix/>
          </a:blip>
          <a:stretch>
            <a:fillRect/>
          </a:stretch>
        </p:blipFill>
        <p:spPr>
          <a:xfrm>
            <a:off x="7990043" y="3424154"/>
            <a:ext cx="258830" cy="491425"/>
          </a:xfrm>
          <a:prstGeom prst="rect">
            <a:avLst/>
          </a:prstGeom>
          <a:noFill/>
          <a:ln>
            <a:noFill/>
          </a:ln>
        </p:spPr>
      </p:pic>
      <p:pic>
        <p:nvPicPr>
          <p:cNvPr id="958" name="Google Shape;958;p75"/>
          <p:cNvPicPr preferRelativeResize="0"/>
          <p:nvPr/>
        </p:nvPicPr>
        <p:blipFill>
          <a:blip r:embed="rId4">
            <a:alphaModFix/>
          </a:blip>
          <a:stretch>
            <a:fillRect/>
          </a:stretch>
        </p:blipFill>
        <p:spPr>
          <a:xfrm>
            <a:off x="6313643" y="3500354"/>
            <a:ext cx="258830" cy="491425"/>
          </a:xfrm>
          <a:prstGeom prst="rect">
            <a:avLst/>
          </a:prstGeom>
          <a:noFill/>
          <a:ln>
            <a:noFill/>
          </a:ln>
        </p:spPr>
      </p:pic>
      <p:pic>
        <p:nvPicPr>
          <p:cNvPr id="959" name="Google Shape;959;p75"/>
          <p:cNvPicPr preferRelativeResize="0"/>
          <p:nvPr/>
        </p:nvPicPr>
        <p:blipFill>
          <a:blip r:embed="rId4">
            <a:alphaModFix/>
          </a:blip>
          <a:stretch>
            <a:fillRect/>
          </a:stretch>
        </p:blipFill>
        <p:spPr>
          <a:xfrm>
            <a:off x="6389843" y="2814554"/>
            <a:ext cx="258830" cy="491425"/>
          </a:xfrm>
          <a:prstGeom prst="rect">
            <a:avLst/>
          </a:prstGeom>
          <a:noFill/>
          <a:ln>
            <a:noFill/>
          </a:ln>
        </p:spPr>
      </p:pic>
      <p:pic>
        <p:nvPicPr>
          <p:cNvPr id="960" name="Google Shape;960;p75"/>
          <p:cNvPicPr preferRelativeResize="0"/>
          <p:nvPr/>
        </p:nvPicPr>
        <p:blipFill>
          <a:blip r:embed="rId4">
            <a:alphaModFix/>
          </a:blip>
          <a:stretch>
            <a:fillRect/>
          </a:stretch>
        </p:blipFill>
        <p:spPr>
          <a:xfrm>
            <a:off x="6701803" y="1946180"/>
            <a:ext cx="258830" cy="491425"/>
          </a:xfrm>
          <a:prstGeom prst="rect">
            <a:avLst/>
          </a:prstGeom>
          <a:noFill/>
          <a:ln>
            <a:noFill/>
          </a:ln>
        </p:spPr>
      </p:pic>
      <p:pic>
        <p:nvPicPr>
          <p:cNvPr id="961" name="Google Shape;961;p75"/>
          <p:cNvPicPr preferRelativeResize="0"/>
          <p:nvPr/>
        </p:nvPicPr>
        <p:blipFill>
          <a:blip r:embed="rId4">
            <a:alphaModFix/>
          </a:blip>
          <a:stretch>
            <a:fillRect/>
          </a:stretch>
        </p:blipFill>
        <p:spPr>
          <a:xfrm>
            <a:off x="5780243" y="3119354"/>
            <a:ext cx="258830" cy="491425"/>
          </a:xfrm>
          <a:prstGeom prst="rect">
            <a:avLst/>
          </a:prstGeom>
          <a:noFill/>
          <a:ln>
            <a:noFill/>
          </a:ln>
        </p:spPr>
      </p:pic>
      <p:pic>
        <p:nvPicPr>
          <p:cNvPr id="962" name="Google Shape;962;p75"/>
          <p:cNvPicPr preferRelativeResize="0"/>
          <p:nvPr/>
        </p:nvPicPr>
        <p:blipFill>
          <a:blip r:embed="rId4">
            <a:alphaModFix/>
          </a:blip>
          <a:stretch>
            <a:fillRect/>
          </a:stretch>
        </p:blipFill>
        <p:spPr>
          <a:xfrm>
            <a:off x="5780243" y="3652754"/>
            <a:ext cx="258830" cy="491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p76"/>
          <p:cNvPicPr preferRelativeResize="0"/>
          <p:nvPr/>
        </p:nvPicPr>
        <p:blipFill>
          <a:blip r:embed="rId3">
            <a:alphaModFix/>
          </a:blip>
          <a:stretch>
            <a:fillRect/>
          </a:stretch>
        </p:blipFill>
        <p:spPr>
          <a:xfrm>
            <a:off x="5098002" y="1582832"/>
            <a:ext cx="3722542" cy="2842726"/>
          </a:xfrm>
          <a:prstGeom prst="rect">
            <a:avLst/>
          </a:prstGeom>
          <a:noFill/>
          <a:ln>
            <a:noFill/>
          </a:ln>
        </p:spPr>
      </p:pic>
      <p:pic>
        <p:nvPicPr>
          <p:cNvPr id="968" name="Google Shape;968;p76"/>
          <p:cNvPicPr preferRelativeResize="0"/>
          <p:nvPr/>
        </p:nvPicPr>
        <p:blipFill>
          <a:blip r:embed="rId4">
            <a:alphaModFix/>
          </a:blip>
          <a:stretch>
            <a:fillRect/>
          </a:stretch>
        </p:blipFill>
        <p:spPr>
          <a:xfrm>
            <a:off x="6008843" y="2662154"/>
            <a:ext cx="258830" cy="491425"/>
          </a:xfrm>
          <a:prstGeom prst="rect">
            <a:avLst/>
          </a:prstGeom>
          <a:noFill/>
          <a:ln>
            <a:noFill/>
          </a:ln>
        </p:spPr>
      </p:pic>
      <p:graphicFrame>
        <p:nvGraphicFramePr>
          <p:cNvPr id="969" name="Google Shape;969;p76"/>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64</a:t>
                      </a: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70" name="Google Shape;970;p76"/>
          <p:cNvPicPr preferRelativeResize="0"/>
          <p:nvPr/>
        </p:nvPicPr>
        <p:blipFill>
          <a:blip r:embed="rId4">
            <a:alphaModFix/>
          </a:blip>
          <a:stretch>
            <a:fillRect/>
          </a:stretch>
        </p:blipFill>
        <p:spPr>
          <a:xfrm>
            <a:off x="6923243" y="1888647"/>
            <a:ext cx="258830" cy="491425"/>
          </a:xfrm>
          <a:prstGeom prst="rect">
            <a:avLst/>
          </a:prstGeom>
          <a:noFill/>
          <a:ln>
            <a:noFill/>
          </a:ln>
        </p:spPr>
      </p:pic>
      <p:pic>
        <p:nvPicPr>
          <p:cNvPr id="971" name="Google Shape;971;p76"/>
          <p:cNvPicPr preferRelativeResize="0"/>
          <p:nvPr/>
        </p:nvPicPr>
        <p:blipFill>
          <a:blip r:embed="rId4">
            <a:alphaModFix/>
          </a:blip>
          <a:stretch>
            <a:fillRect/>
          </a:stretch>
        </p:blipFill>
        <p:spPr>
          <a:xfrm>
            <a:off x="7289468" y="2033736"/>
            <a:ext cx="258830" cy="491425"/>
          </a:xfrm>
          <a:prstGeom prst="rect">
            <a:avLst/>
          </a:prstGeom>
          <a:noFill/>
          <a:ln>
            <a:noFill/>
          </a:ln>
        </p:spPr>
      </p:pic>
      <p:sp>
        <p:nvSpPr>
          <p:cNvPr id="972" name="Google Shape;972;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973" name="Google Shape;973;p76"/>
          <p:cNvSpPr txBox="1"/>
          <p:nvPr>
            <p:ph idx="1" type="body"/>
          </p:nvPr>
        </p:nvSpPr>
        <p:spPr>
          <a:xfrm>
            <a:off x="324000" y="759300"/>
            <a:ext cx="7135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might see the very same numbers and pattern in a very different context.</a:t>
            </a:r>
            <a:endParaRPr sz="2000"/>
          </a:p>
        </p:txBody>
      </p:sp>
      <p:sp>
        <p:nvSpPr>
          <p:cNvPr id="974" name="Google Shape;974;p76"/>
          <p:cNvSpPr txBox="1"/>
          <p:nvPr>
            <p:ph idx="1" type="body"/>
          </p:nvPr>
        </p:nvSpPr>
        <p:spPr>
          <a:xfrm>
            <a:off x="324000" y="1551375"/>
            <a:ext cx="61920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2 thousand penguins living on an island. Every decade their population doubles.</a:t>
            </a:r>
            <a:endParaRPr baseline="30000" sz="2000"/>
          </a:p>
        </p:txBody>
      </p:sp>
      <p:pic>
        <p:nvPicPr>
          <p:cNvPr id="975" name="Google Shape;975;p76"/>
          <p:cNvPicPr preferRelativeResize="0"/>
          <p:nvPr/>
        </p:nvPicPr>
        <p:blipFill>
          <a:blip r:embed="rId4">
            <a:alphaModFix/>
          </a:blip>
          <a:stretch>
            <a:fillRect/>
          </a:stretch>
        </p:blipFill>
        <p:spPr>
          <a:xfrm>
            <a:off x="5932643" y="2117247"/>
            <a:ext cx="258830" cy="491425"/>
          </a:xfrm>
          <a:prstGeom prst="rect">
            <a:avLst/>
          </a:prstGeom>
          <a:noFill/>
          <a:ln>
            <a:noFill/>
          </a:ln>
        </p:spPr>
      </p:pic>
      <p:pic>
        <p:nvPicPr>
          <p:cNvPr id="976" name="Google Shape;976;p76"/>
          <p:cNvPicPr preferRelativeResize="0"/>
          <p:nvPr/>
        </p:nvPicPr>
        <p:blipFill>
          <a:blip r:embed="rId4">
            <a:alphaModFix/>
          </a:blip>
          <a:stretch>
            <a:fillRect/>
          </a:stretch>
        </p:blipFill>
        <p:spPr>
          <a:xfrm>
            <a:off x="6474282" y="2056749"/>
            <a:ext cx="258830" cy="491425"/>
          </a:xfrm>
          <a:prstGeom prst="rect">
            <a:avLst/>
          </a:prstGeom>
          <a:noFill/>
          <a:ln>
            <a:noFill/>
          </a:ln>
        </p:spPr>
      </p:pic>
      <p:pic>
        <p:nvPicPr>
          <p:cNvPr id="977" name="Google Shape;977;p76"/>
          <p:cNvPicPr preferRelativeResize="0"/>
          <p:nvPr/>
        </p:nvPicPr>
        <p:blipFill>
          <a:blip r:embed="rId4">
            <a:alphaModFix/>
          </a:blip>
          <a:stretch>
            <a:fillRect/>
          </a:stretch>
        </p:blipFill>
        <p:spPr>
          <a:xfrm>
            <a:off x="7780110" y="1964847"/>
            <a:ext cx="258830" cy="491425"/>
          </a:xfrm>
          <a:prstGeom prst="rect">
            <a:avLst/>
          </a:prstGeom>
          <a:noFill/>
          <a:ln>
            <a:noFill/>
          </a:ln>
        </p:spPr>
      </p:pic>
      <p:pic>
        <p:nvPicPr>
          <p:cNvPr id="978" name="Google Shape;978;p76"/>
          <p:cNvPicPr preferRelativeResize="0"/>
          <p:nvPr/>
        </p:nvPicPr>
        <p:blipFill>
          <a:blip r:embed="rId4">
            <a:alphaModFix/>
          </a:blip>
          <a:stretch>
            <a:fillRect/>
          </a:stretch>
        </p:blipFill>
        <p:spPr>
          <a:xfrm>
            <a:off x="7582762" y="2437749"/>
            <a:ext cx="258830" cy="491425"/>
          </a:xfrm>
          <a:prstGeom prst="rect">
            <a:avLst/>
          </a:prstGeom>
          <a:noFill/>
          <a:ln>
            <a:noFill/>
          </a:ln>
        </p:spPr>
      </p:pic>
      <p:pic>
        <p:nvPicPr>
          <p:cNvPr id="979" name="Google Shape;979;p76"/>
          <p:cNvPicPr preferRelativeResize="0"/>
          <p:nvPr/>
        </p:nvPicPr>
        <p:blipFill>
          <a:blip r:embed="rId4">
            <a:alphaModFix/>
          </a:blip>
          <a:stretch>
            <a:fillRect/>
          </a:stretch>
        </p:blipFill>
        <p:spPr>
          <a:xfrm>
            <a:off x="6237443" y="2486740"/>
            <a:ext cx="258830" cy="491425"/>
          </a:xfrm>
          <a:prstGeom prst="rect">
            <a:avLst/>
          </a:prstGeom>
          <a:noFill/>
          <a:ln>
            <a:noFill/>
          </a:ln>
        </p:spPr>
      </p:pic>
      <p:pic>
        <p:nvPicPr>
          <p:cNvPr id="980" name="Google Shape;980;p76"/>
          <p:cNvPicPr preferRelativeResize="0"/>
          <p:nvPr/>
        </p:nvPicPr>
        <p:blipFill>
          <a:blip r:embed="rId4">
            <a:alphaModFix/>
          </a:blip>
          <a:stretch>
            <a:fillRect/>
          </a:stretch>
        </p:blipFill>
        <p:spPr>
          <a:xfrm>
            <a:off x="6779082" y="2426242"/>
            <a:ext cx="258830" cy="491425"/>
          </a:xfrm>
          <a:prstGeom prst="rect">
            <a:avLst/>
          </a:prstGeom>
          <a:noFill/>
          <a:ln>
            <a:noFill/>
          </a:ln>
        </p:spPr>
      </p:pic>
      <p:pic>
        <p:nvPicPr>
          <p:cNvPr id="981" name="Google Shape;981;p76"/>
          <p:cNvPicPr preferRelativeResize="0"/>
          <p:nvPr/>
        </p:nvPicPr>
        <p:blipFill>
          <a:blip r:embed="rId4">
            <a:alphaModFix/>
          </a:blip>
          <a:stretch>
            <a:fillRect/>
          </a:stretch>
        </p:blipFill>
        <p:spPr>
          <a:xfrm>
            <a:off x="6618443" y="3565047"/>
            <a:ext cx="258830" cy="491425"/>
          </a:xfrm>
          <a:prstGeom prst="rect">
            <a:avLst/>
          </a:prstGeom>
          <a:noFill/>
          <a:ln>
            <a:noFill/>
          </a:ln>
        </p:spPr>
      </p:pic>
      <p:pic>
        <p:nvPicPr>
          <p:cNvPr id="982" name="Google Shape;982;p76"/>
          <p:cNvPicPr preferRelativeResize="0"/>
          <p:nvPr/>
        </p:nvPicPr>
        <p:blipFill>
          <a:blip r:embed="rId4">
            <a:alphaModFix/>
          </a:blip>
          <a:stretch>
            <a:fillRect/>
          </a:stretch>
        </p:blipFill>
        <p:spPr>
          <a:xfrm>
            <a:off x="6984668" y="3557736"/>
            <a:ext cx="258830" cy="491425"/>
          </a:xfrm>
          <a:prstGeom prst="rect">
            <a:avLst/>
          </a:prstGeom>
          <a:noFill/>
          <a:ln>
            <a:noFill/>
          </a:ln>
        </p:spPr>
      </p:pic>
      <p:pic>
        <p:nvPicPr>
          <p:cNvPr id="983" name="Google Shape;983;p76"/>
          <p:cNvPicPr preferRelativeResize="0"/>
          <p:nvPr/>
        </p:nvPicPr>
        <p:blipFill>
          <a:blip r:embed="rId4">
            <a:alphaModFix/>
          </a:blip>
          <a:stretch>
            <a:fillRect/>
          </a:stretch>
        </p:blipFill>
        <p:spPr>
          <a:xfrm>
            <a:off x="5498457" y="2726847"/>
            <a:ext cx="258830" cy="491425"/>
          </a:xfrm>
          <a:prstGeom prst="rect">
            <a:avLst/>
          </a:prstGeom>
          <a:noFill/>
          <a:ln>
            <a:noFill/>
          </a:ln>
        </p:spPr>
      </p:pic>
      <p:pic>
        <p:nvPicPr>
          <p:cNvPr id="984" name="Google Shape;984;p76"/>
          <p:cNvPicPr preferRelativeResize="0"/>
          <p:nvPr/>
        </p:nvPicPr>
        <p:blipFill>
          <a:blip r:embed="rId4">
            <a:alphaModFix/>
          </a:blip>
          <a:stretch>
            <a:fillRect/>
          </a:stretch>
        </p:blipFill>
        <p:spPr>
          <a:xfrm>
            <a:off x="6245682" y="3199749"/>
            <a:ext cx="258830" cy="491425"/>
          </a:xfrm>
          <a:prstGeom prst="rect">
            <a:avLst/>
          </a:prstGeom>
          <a:noFill/>
          <a:ln>
            <a:noFill/>
          </a:ln>
        </p:spPr>
      </p:pic>
      <p:pic>
        <p:nvPicPr>
          <p:cNvPr id="985" name="Google Shape;985;p76"/>
          <p:cNvPicPr preferRelativeResize="0"/>
          <p:nvPr/>
        </p:nvPicPr>
        <p:blipFill>
          <a:blip r:embed="rId4">
            <a:alphaModFix/>
          </a:blip>
          <a:stretch>
            <a:fillRect/>
          </a:stretch>
        </p:blipFill>
        <p:spPr>
          <a:xfrm>
            <a:off x="7703910" y="3412647"/>
            <a:ext cx="258830" cy="491425"/>
          </a:xfrm>
          <a:prstGeom prst="rect">
            <a:avLst/>
          </a:prstGeom>
          <a:noFill/>
          <a:ln>
            <a:noFill/>
          </a:ln>
        </p:spPr>
      </p:pic>
      <p:pic>
        <p:nvPicPr>
          <p:cNvPr id="986" name="Google Shape;986;p76"/>
          <p:cNvPicPr preferRelativeResize="0"/>
          <p:nvPr/>
        </p:nvPicPr>
        <p:blipFill>
          <a:blip r:embed="rId4">
            <a:alphaModFix/>
          </a:blip>
          <a:stretch>
            <a:fillRect/>
          </a:stretch>
        </p:blipFill>
        <p:spPr>
          <a:xfrm>
            <a:off x="7354162" y="3352149"/>
            <a:ext cx="258830" cy="491425"/>
          </a:xfrm>
          <a:prstGeom prst="rect">
            <a:avLst/>
          </a:prstGeom>
          <a:noFill/>
          <a:ln>
            <a:noFill/>
          </a:ln>
        </p:spPr>
      </p:pic>
      <p:pic>
        <p:nvPicPr>
          <p:cNvPr id="987" name="Google Shape;987;p76"/>
          <p:cNvPicPr preferRelativeResize="0"/>
          <p:nvPr/>
        </p:nvPicPr>
        <p:blipFill>
          <a:blip r:embed="rId4">
            <a:alphaModFix/>
          </a:blip>
          <a:stretch>
            <a:fillRect/>
          </a:stretch>
        </p:blipFill>
        <p:spPr>
          <a:xfrm>
            <a:off x="5890963" y="2867740"/>
            <a:ext cx="258830" cy="491425"/>
          </a:xfrm>
          <a:prstGeom prst="rect">
            <a:avLst/>
          </a:prstGeom>
          <a:noFill/>
          <a:ln>
            <a:noFill/>
          </a:ln>
        </p:spPr>
      </p:pic>
      <p:pic>
        <p:nvPicPr>
          <p:cNvPr id="988" name="Google Shape;988;p76"/>
          <p:cNvPicPr preferRelativeResize="0"/>
          <p:nvPr/>
        </p:nvPicPr>
        <p:blipFill>
          <a:blip r:embed="rId4">
            <a:alphaModFix/>
          </a:blip>
          <a:stretch>
            <a:fillRect/>
          </a:stretch>
        </p:blipFill>
        <p:spPr>
          <a:xfrm>
            <a:off x="5940882" y="3569242"/>
            <a:ext cx="258830" cy="491425"/>
          </a:xfrm>
          <a:prstGeom prst="rect">
            <a:avLst/>
          </a:prstGeom>
          <a:noFill/>
          <a:ln>
            <a:noFill/>
          </a:ln>
        </p:spPr>
      </p:pic>
      <p:pic>
        <p:nvPicPr>
          <p:cNvPr id="989" name="Google Shape;989;p76"/>
          <p:cNvPicPr preferRelativeResize="0"/>
          <p:nvPr/>
        </p:nvPicPr>
        <p:blipFill>
          <a:blip r:embed="rId4">
            <a:alphaModFix/>
          </a:blip>
          <a:stretch>
            <a:fillRect/>
          </a:stretch>
        </p:blipFill>
        <p:spPr>
          <a:xfrm>
            <a:off x="6565257" y="2726847"/>
            <a:ext cx="258830" cy="491425"/>
          </a:xfrm>
          <a:prstGeom prst="rect">
            <a:avLst/>
          </a:prstGeom>
          <a:noFill/>
          <a:ln>
            <a:noFill/>
          </a:ln>
        </p:spPr>
      </p:pic>
      <p:pic>
        <p:nvPicPr>
          <p:cNvPr id="990" name="Google Shape;990;p76"/>
          <p:cNvPicPr preferRelativeResize="0"/>
          <p:nvPr/>
        </p:nvPicPr>
        <p:blipFill>
          <a:blip r:embed="rId4">
            <a:alphaModFix/>
          </a:blip>
          <a:stretch>
            <a:fillRect/>
          </a:stretch>
        </p:blipFill>
        <p:spPr>
          <a:xfrm>
            <a:off x="7098657" y="2498247"/>
            <a:ext cx="258830" cy="491425"/>
          </a:xfrm>
          <a:prstGeom prst="rect">
            <a:avLst/>
          </a:prstGeom>
          <a:noFill/>
          <a:ln>
            <a:noFill/>
          </a:ln>
        </p:spPr>
      </p:pic>
      <p:pic>
        <p:nvPicPr>
          <p:cNvPr id="991" name="Google Shape;991;p76"/>
          <p:cNvPicPr preferRelativeResize="0"/>
          <p:nvPr/>
        </p:nvPicPr>
        <p:blipFill>
          <a:blip r:embed="rId4">
            <a:alphaModFix/>
          </a:blip>
          <a:stretch>
            <a:fillRect/>
          </a:stretch>
        </p:blipFill>
        <p:spPr>
          <a:xfrm>
            <a:off x="7380443" y="2696674"/>
            <a:ext cx="258830" cy="491425"/>
          </a:xfrm>
          <a:prstGeom prst="rect">
            <a:avLst/>
          </a:prstGeom>
          <a:noFill/>
          <a:ln>
            <a:noFill/>
          </a:ln>
        </p:spPr>
      </p:pic>
      <p:pic>
        <p:nvPicPr>
          <p:cNvPr id="992" name="Google Shape;992;p76"/>
          <p:cNvPicPr preferRelativeResize="0"/>
          <p:nvPr/>
        </p:nvPicPr>
        <p:blipFill>
          <a:blip r:embed="rId4">
            <a:alphaModFix/>
          </a:blip>
          <a:stretch>
            <a:fillRect/>
          </a:stretch>
        </p:blipFill>
        <p:spPr>
          <a:xfrm>
            <a:off x="7098657" y="3043154"/>
            <a:ext cx="258830" cy="491425"/>
          </a:xfrm>
          <a:prstGeom prst="rect">
            <a:avLst/>
          </a:prstGeom>
          <a:noFill/>
          <a:ln>
            <a:noFill/>
          </a:ln>
        </p:spPr>
      </p:pic>
      <p:pic>
        <p:nvPicPr>
          <p:cNvPr id="993" name="Google Shape;993;p76"/>
          <p:cNvPicPr preferRelativeResize="0"/>
          <p:nvPr/>
        </p:nvPicPr>
        <p:blipFill>
          <a:blip r:embed="rId4">
            <a:alphaModFix/>
          </a:blip>
          <a:stretch>
            <a:fillRect/>
          </a:stretch>
        </p:blipFill>
        <p:spPr>
          <a:xfrm>
            <a:off x="6770843" y="3161033"/>
            <a:ext cx="258830" cy="491425"/>
          </a:xfrm>
          <a:prstGeom prst="rect">
            <a:avLst/>
          </a:prstGeom>
          <a:noFill/>
          <a:ln>
            <a:noFill/>
          </a:ln>
        </p:spPr>
      </p:pic>
      <p:pic>
        <p:nvPicPr>
          <p:cNvPr id="994" name="Google Shape;994;p76"/>
          <p:cNvPicPr preferRelativeResize="0"/>
          <p:nvPr/>
        </p:nvPicPr>
        <p:blipFill>
          <a:blip r:embed="rId4">
            <a:alphaModFix/>
          </a:blip>
          <a:stretch>
            <a:fillRect/>
          </a:stretch>
        </p:blipFill>
        <p:spPr>
          <a:xfrm>
            <a:off x="7837643" y="2780033"/>
            <a:ext cx="258830" cy="491425"/>
          </a:xfrm>
          <a:prstGeom prst="rect">
            <a:avLst/>
          </a:prstGeom>
          <a:noFill/>
          <a:ln>
            <a:noFill/>
          </a:ln>
        </p:spPr>
      </p:pic>
      <p:pic>
        <p:nvPicPr>
          <p:cNvPr id="995" name="Google Shape;995;p76"/>
          <p:cNvPicPr preferRelativeResize="0"/>
          <p:nvPr/>
        </p:nvPicPr>
        <p:blipFill>
          <a:blip r:embed="rId4">
            <a:alphaModFix/>
          </a:blip>
          <a:stretch>
            <a:fillRect/>
          </a:stretch>
        </p:blipFill>
        <p:spPr>
          <a:xfrm>
            <a:off x="8031723" y="2322833"/>
            <a:ext cx="258830" cy="491425"/>
          </a:xfrm>
          <a:prstGeom prst="rect">
            <a:avLst/>
          </a:prstGeom>
          <a:noFill/>
          <a:ln>
            <a:noFill/>
          </a:ln>
        </p:spPr>
      </p:pic>
      <p:pic>
        <p:nvPicPr>
          <p:cNvPr id="996" name="Google Shape;996;p76"/>
          <p:cNvPicPr preferRelativeResize="0"/>
          <p:nvPr/>
        </p:nvPicPr>
        <p:blipFill>
          <a:blip r:embed="rId4">
            <a:alphaModFix/>
          </a:blip>
          <a:stretch>
            <a:fillRect/>
          </a:stretch>
        </p:blipFill>
        <p:spPr>
          <a:xfrm>
            <a:off x="8142443" y="1976354"/>
            <a:ext cx="258830" cy="491425"/>
          </a:xfrm>
          <a:prstGeom prst="rect">
            <a:avLst/>
          </a:prstGeom>
          <a:noFill/>
          <a:ln>
            <a:noFill/>
          </a:ln>
        </p:spPr>
      </p:pic>
      <p:pic>
        <p:nvPicPr>
          <p:cNvPr id="997" name="Google Shape;997;p76"/>
          <p:cNvPicPr preferRelativeResize="0"/>
          <p:nvPr/>
        </p:nvPicPr>
        <p:blipFill>
          <a:blip r:embed="rId4">
            <a:alphaModFix/>
          </a:blip>
          <a:stretch>
            <a:fillRect/>
          </a:stretch>
        </p:blipFill>
        <p:spPr>
          <a:xfrm>
            <a:off x="8142443" y="2966954"/>
            <a:ext cx="258830" cy="491425"/>
          </a:xfrm>
          <a:prstGeom prst="rect">
            <a:avLst/>
          </a:prstGeom>
          <a:noFill/>
          <a:ln>
            <a:noFill/>
          </a:ln>
        </p:spPr>
      </p:pic>
      <p:pic>
        <p:nvPicPr>
          <p:cNvPr id="998" name="Google Shape;998;p76"/>
          <p:cNvPicPr preferRelativeResize="0"/>
          <p:nvPr/>
        </p:nvPicPr>
        <p:blipFill>
          <a:blip r:embed="rId4">
            <a:alphaModFix/>
          </a:blip>
          <a:stretch>
            <a:fillRect/>
          </a:stretch>
        </p:blipFill>
        <p:spPr>
          <a:xfrm>
            <a:off x="7990043" y="3424154"/>
            <a:ext cx="258830" cy="491425"/>
          </a:xfrm>
          <a:prstGeom prst="rect">
            <a:avLst/>
          </a:prstGeom>
          <a:noFill/>
          <a:ln>
            <a:noFill/>
          </a:ln>
        </p:spPr>
      </p:pic>
      <p:pic>
        <p:nvPicPr>
          <p:cNvPr id="999" name="Google Shape;999;p76"/>
          <p:cNvPicPr preferRelativeResize="0"/>
          <p:nvPr/>
        </p:nvPicPr>
        <p:blipFill>
          <a:blip r:embed="rId4">
            <a:alphaModFix/>
          </a:blip>
          <a:stretch>
            <a:fillRect/>
          </a:stretch>
        </p:blipFill>
        <p:spPr>
          <a:xfrm>
            <a:off x="6313643" y="3500354"/>
            <a:ext cx="258830" cy="491425"/>
          </a:xfrm>
          <a:prstGeom prst="rect">
            <a:avLst/>
          </a:prstGeom>
          <a:noFill/>
          <a:ln>
            <a:noFill/>
          </a:ln>
        </p:spPr>
      </p:pic>
      <p:pic>
        <p:nvPicPr>
          <p:cNvPr id="1000" name="Google Shape;1000;p76"/>
          <p:cNvPicPr preferRelativeResize="0"/>
          <p:nvPr/>
        </p:nvPicPr>
        <p:blipFill>
          <a:blip r:embed="rId4">
            <a:alphaModFix/>
          </a:blip>
          <a:stretch>
            <a:fillRect/>
          </a:stretch>
        </p:blipFill>
        <p:spPr>
          <a:xfrm>
            <a:off x="6389843" y="2814554"/>
            <a:ext cx="258830" cy="491425"/>
          </a:xfrm>
          <a:prstGeom prst="rect">
            <a:avLst/>
          </a:prstGeom>
          <a:noFill/>
          <a:ln>
            <a:noFill/>
          </a:ln>
        </p:spPr>
      </p:pic>
      <p:pic>
        <p:nvPicPr>
          <p:cNvPr id="1001" name="Google Shape;1001;p76"/>
          <p:cNvPicPr preferRelativeResize="0"/>
          <p:nvPr/>
        </p:nvPicPr>
        <p:blipFill>
          <a:blip r:embed="rId4">
            <a:alphaModFix/>
          </a:blip>
          <a:stretch>
            <a:fillRect/>
          </a:stretch>
        </p:blipFill>
        <p:spPr>
          <a:xfrm>
            <a:off x="6701803" y="1946180"/>
            <a:ext cx="258830" cy="491425"/>
          </a:xfrm>
          <a:prstGeom prst="rect">
            <a:avLst/>
          </a:prstGeom>
          <a:noFill/>
          <a:ln>
            <a:noFill/>
          </a:ln>
        </p:spPr>
      </p:pic>
      <p:pic>
        <p:nvPicPr>
          <p:cNvPr id="1002" name="Google Shape;1002;p76"/>
          <p:cNvPicPr preferRelativeResize="0"/>
          <p:nvPr/>
        </p:nvPicPr>
        <p:blipFill>
          <a:blip r:embed="rId4">
            <a:alphaModFix/>
          </a:blip>
          <a:stretch>
            <a:fillRect/>
          </a:stretch>
        </p:blipFill>
        <p:spPr>
          <a:xfrm>
            <a:off x="5780243" y="3119354"/>
            <a:ext cx="258830" cy="491425"/>
          </a:xfrm>
          <a:prstGeom prst="rect">
            <a:avLst/>
          </a:prstGeom>
          <a:noFill/>
          <a:ln>
            <a:noFill/>
          </a:ln>
        </p:spPr>
      </p:pic>
      <p:pic>
        <p:nvPicPr>
          <p:cNvPr id="1003" name="Google Shape;1003;p76"/>
          <p:cNvPicPr preferRelativeResize="0"/>
          <p:nvPr/>
        </p:nvPicPr>
        <p:blipFill>
          <a:blip r:embed="rId4">
            <a:alphaModFix/>
          </a:blip>
          <a:stretch>
            <a:fillRect/>
          </a:stretch>
        </p:blipFill>
        <p:spPr>
          <a:xfrm>
            <a:off x="5780243" y="3652754"/>
            <a:ext cx="258830" cy="491425"/>
          </a:xfrm>
          <a:prstGeom prst="rect">
            <a:avLst/>
          </a:prstGeom>
          <a:noFill/>
          <a:ln>
            <a:noFill/>
          </a:ln>
        </p:spPr>
      </p:pic>
      <p:pic>
        <p:nvPicPr>
          <p:cNvPr id="1004" name="Google Shape;1004;p76"/>
          <p:cNvPicPr preferRelativeResize="0"/>
          <p:nvPr/>
        </p:nvPicPr>
        <p:blipFill>
          <a:blip r:embed="rId4">
            <a:alphaModFix/>
          </a:blip>
          <a:stretch>
            <a:fillRect/>
          </a:stretch>
        </p:blipFill>
        <p:spPr>
          <a:xfrm>
            <a:off x="6313643" y="2662154"/>
            <a:ext cx="258830" cy="491425"/>
          </a:xfrm>
          <a:prstGeom prst="rect">
            <a:avLst/>
          </a:prstGeom>
          <a:noFill/>
          <a:ln>
            <a:noFill/>
          </a:ln>
        </p:spPr>
      </p:pic>
      <p:pic>
        <p:nvPicPr>
          <p:cNvPr id="1005" name="Google Shape;1005;p76"/>
          <p:cNvPicPr preferRelativeResize="0"/>
          <p:nvPr/>
        </p:nvPicPr>
        <p:blipFill>
          <a:blip r:embed="rId4">
            <a:alphaModFix/>
          </a:blip>
          <a:stretch>
            <a:fillRect/>
          </a:stretch>
        </p:blipFill>
        <p:spPr>
          <a:xfrm>
            <a:off x="6847043" y="2803047"/>
            <a:ext cx="258830" cy="491425"/>
          </a:xfrm>
          <a:prstGeom prst="rect">
            <a:avLst/>
          </a:prstGeom>
          <a:noFill/>
          <a:ln>
            <a:noFill/>
          </a:ln>
        </p:spPr>
      </p:pic>
      <p:pic>
        <p:nvPicPr>
          <p:cNvPr id="1006" name="Google Shape;1006;p76"/>
          <p:cNvPicPr preferRelativeResize="0"/>
          <p:nvPr/>
        </p:nvPicPr>
        <p:blipFill>
          <a:blip r:embed="rId4">
            <a:alphaModFix/>
          </a:blip>
          <a:stretch>
            <a:fillRect/>
          </a:stretch>
        </p:blipFill>
        <p:spPr>
          <a:xfrm>
            <a:off x="7213268" y="2948136"/>
            <a:ext cx="258830" cy="491425"/>
          </a:xfrm>
          <a:prstGeom prst="rect">
            <a:avLst/>
          </a:prstGeom>
          <a:noFill/>
          <a:ln>
            <a:noFill/>
          </a:ln>
        </p:spPr>
      </p:pic>
      <p:pic>
        <p:nvPicPr>
          <p:cNvPr id="1007" name="Google Shape;1007;p76"/>
          <p:cNvPicPr preferRelativeResize="0"/>
          <p:nvPr/>
        </p:nvPicPr>
        <p:blipFill>
          <a:blip r:embed="rId4">
            <a:alphaModFix/>
          </a:blip>
          <a:stretch>
            <a:fillRect/>
          </a:stretch>
        </p:blipFill>
        <p:spPr>
          <a:xfrm>
            <a:off x="6237443" y="2117247"/>
            <a:ext cx="258830" cy="491425"/>
          </a:xfrm>
          <a:prstGeom prst="rect">
            <a:avLst/>
          </a:prstGeom>
          <a:noFill/>
          <a:ln>
            <a:noFill/>
          </a:ln>
        </p:spPr>
      </p:pic>
      <p:pic>
        <p:nvPicPr>
          <p:cNvPr id="1008" name="Google Shape;1008;p76"/>
          <p:cNvPicPr preferRelativeResize="0"/>
          <p:nvPr/>
        </p:nvPicPr>
        <p:blipFill>
          <a:blip r:embed="rId4">
            <a:alphaModFix/>
          </a:blip>
          <a:stretch>
            <a:fillRect/>
          </a:stretch>
        </p:blipFill>
        <p:spPr>
          <a:xfrm>
            <a:off x="6398082" y="2971149"/>
            <a:ext cx="258830" cy="491425"/>
          </a:xfrm>
          <a:prstGeom prst="rect">
            <a:avLst/>
          </a:prstGeom>
          <a:noFill/>
          <a:ln>
            <a:noFill/>
          </a:ln>
        </p:spPr>
      </p:pic>
      <p:pic>
        <p:nvPicPr>
          <p:cNvPr id="1009" name="Google Shape;1009;p76"/>
          <p:cNvPicPr preferRelativeResize="0"/>
          <p:nvPr/>
        </p:nvPicPr>
        <p:blipFill>
          <a:blip r:embed="rId4">
            <a:alphaModFix/>
          </a:blip>
          <a:stretch>
            <a:fillRect/>
          </a:stretch>
        </p:blipFill>
        <p:spPr>
          <a:xfrm>
            <a:off x="7703910" y="2879247"/>
            <a:ext cx="258830" cy="491425"/>
          </a:xfrm>
          <a:prstGeom prst="rect">
            <a:avLst/>
          </a:prstGeom>
          <a:noFill/>
          <a:ln>
            <a:noFill/>
          </a:ln>
        </p:spPr>
      </p:pic>
      <p:pic>
        <p:nvPicPr>
          <p:cNvPr id="1010" name="Google Shape;1010;p76"/>
          <p:cNvPicPr preferRelativeResize="0"/>
          <p:nvPr/>
        </p:nvPicPr>
        <p:blipFill>
          <a:blip r:embed="rId4">
            <a:alphaModFix/>
          </a:blip>
          <a:stretch>
            <a:fillRect/>
          </a:stretch>
        </p:blipFill>
        <p:spPr>
          <a:xfrm>
            <a:off x="7940748" y="1938869"/>
            <a:ext cx="258830" cy="491425"/>
          </a:xfrm>
          <a:prstGeom prst="rect">
            <a:avLst/>
          </a:prstGeom>
          <a:noFill/>
          <a:ln>
            <a:noFill/>
          </a:ln>
        </p:spPr>
      </p:pic>
      <p:pic>
        <p:nvPicPr>
          <p:cNvPr id="1011" name="Google Shape;1011;p76"/>
          <p:cNvPicPr preferRelativeResize="0"/>
          <p:nvPr/>
        </p:nvPicPr>
        <p:blipFill>
          <a:blip r:embed="rId4">
            <a:alphaModFix/>
          </a:blip>
          <a:stretch>
            <a:fillRect/>
          </a:stretch>
        </p:blipFill>
        <p:spPr>
          <a:xfrm>
            <a:off x="6542243" y="2486740"/>
            <a:ext cx="258830" cy="491425"/>
          </a:xfrm>
          <a:prstGeom prst="rect">
            <a:avLst/>
          </a:prstGeom>
          <a:noFill/>
          <a:ln>
            <a:noFill/>
          </a:ln>
        </p:spPr>
      </p:pic>
      <p:pic>
        <p:nvPicPr>
          <p:cNvPr id="1012" name="Google Shape;1012;p76"/>
          <p:cNvPicPr preferRelativeResize="0"/>
          <p:nvPr/>
        </p:nvPicPr>
        <p:blipFill>
          <a:blip r:embed="rId4">
            <a:alphaModFix/>
          </a:blip>
          <a:stretch>
            <a:fillRect/>
          </a:stretch>
        </p:blipFill>
        <p:spPr>
          <a:xfrm>
            <a:off x="7137068" y="1927362"/>
            <a:ext cx="258830" cy="491425"/>
          </a:xfrm>
          <a:prstGeom prst="rect">
            <a:avLst/>
          </a:prstGeom>
          <a:noFill/>
          <a:ln>
            <a:noFill/>
          </a:ln>
        </p:spPr>
      </p:pic>
      <p:pic>
        <p:nvPicPr>
          <p:cNvPr id="1013" name="Google Shape;1013;p76"/>
          <p:cNvPicPr preferRelativeResize="0"/>
          <p:nvPr/>
        </p:nvPicPr>
        <p:blipFill>
          <a:blip r:embed="rId4">
            <a:alphaModFix/>
          </a:blip>
          <a:stretch>
            <a:fillRect/>
          </a:stretch>
        </p:blipFill>
        <p:spPr>
          <a:xfrm>
            <a:off x="6085043" y="2193447"/>
            <a:ext cx="258830" cy="491425"/>
          </a:xfrm>
          <a:prstGeom prst="rect">
            <a:avLst/>
          </a:prstGeom>
          <a:noFill/>
          <a:ln>
            <a:noFill/>
          </a:ln>
        </p:spPr>
      </p:pic>
      <p:pic>
        <p:nvPicPr>
          <p:cNvPr id="1014" name="Google Shape;1014;p76"/>
          <p:cNvPicPr preferRelativeResize="0"/>
          <p:nvPr/>
        </p:nvPicPr>
        <p:blipFill>
          <a:blip r:embed="rId4">
            <a:alphaModFix/>
          </a:blip>
          <a:stretch>
            <a:fillRect/>
          </a:stretch>
        </p:blipFill>
        <p:spPr>
          <a:xfrm>
            <a:off x="6832268" y="3633936"/>
            <a:ext cx="258830" cy="491425"/>
          </a:xfrm>
          <a:prstGeom prst="rect">
            <a:avLst/>
          </a:prstGeom>
          <a:noFill/>
          <a:ln>
            <a:noFill/>
          </a:ln>
        </p:spPr>
      </p:pic>
      <p:pic>
        <p:nvPicPr>
          <p:cNvPr id="1015" name="Google Shape;1015;p76"/>
          <p:cNvPicPr preferRelativeResize="0"/>
          <p:nvPr/>
        </p:nvPicPr>
        <p:blipFill>
          <a:blip r:embed="rId4">
            <a:alphaModFix/>
          </a:blip>
          <a:stretch>
            <a:fillRect/>
          </a:stretch>
        </p:blipFill>
        <p:spPr>
          <a:xfrm>
            <a:off x="6489057" y="3107847"/>
            <a:ext cx="258830" cy="491425"/>
          </a:xfrm>
          <a:prstGeom prst="rect">
            <a:avLst/>
          </a:prstGeom>
          <a:noFill/>
          <a:ln>
            <a:noFill/>
          </a:ln>
        </p:spPr>
      </p:pic>
      <p:pic>
        <p:nvPicPr>
          <p:cNvPr id="1016" name="Google Shape;1016;p76"/>
          <p:cNvPicPr preferRelativeResize="0"/>
          <p:nvPr/>
        </p:nvPicPr>
        <p:blipFill>
          <a:blip r:embed="rId4">
            <a:alphaModFix/>
          </a:blip>
          <a:stretch>
            <a:fillRect/>
          </a:stretch>
        </p:blipFill>
        <p:spPr>
          <a:xfrm>
            <a:off x="7464882" y="2437749"/>
            <a:ext cx="258830" cy="491425"/>
          </a:xfrm>
          <a:prstGeom prst="rect">
            <a:avLst/>
          </a:prstGeom>
          <a:noFill/>
          <a:ln>
            <a:noFill/>
          </a:ln>
        </p:spPr>
      </p:pic>
      <p:pic>
        <p:nvPicPr>
          <p:cNvPr id="1017" name="Google Shape;1017;p76"/>
          <p:cNvPicPr preferRelativeResize="0"/>
          <p:nvPr/>
        </p:nvPicPr>
        <p:blipFill>
          <a:blip r:embed="rId4">
            <a:alphaModFix/>
          </a:blip>
          <a:stretch>
            <a:fillRect/>
          </a:stretch>
        </p:blipFill>
        <p:spPr>
          <a:xfrm>
            <a:off x="7201762" y="3428349"/>
            <a:ext cx="258830" cy="491425"/>
          </a:xfrm>
          <a:prstGeom prst="rect">
            <a:avLst/>
          </a:prstGeom>
          <a:noFill/>
          <a:ln>
            <a:noFill/>
          </a:ln>
        </p:spPr>
      </p:pic>
      <p:pic>
        <p:nvPicPr>
          <p:cNvPr id="1018" name="Google Shape;1018;p76"/>
          <p:cNvPicPr preferRelativeResize="0"/>
          <p:nvPr/>
        </p:nvPicPr>
        <p:blipFill>
          <a:blip r:embed="rId4">
            <a:alphaModFix/>
          </a:blip>
          <a:stretch>
            <a:fillRect/>
          </a:stretch>
        </p:blipFill>
        <p:spPr>
          <a:xfrm>
            <a:off x="6195763" y="2867740"/>
            <a:ext cx="258830" cy="491425"/>
          </a:xfrm>
          <a:prstGeom prst="rect">
            <a:avLst/>
          </a:prstGeom>
          <a:noFill/>
          <a:ln>
            <a:noFill/>
          </a:ln>
        </p:spPr>
      </p:pic>
      <p:pic>
        <p:nvPicPr>
          <p:cNvPr id="1019" name="Google Shape;1019;p76"/>
          <p:cNvPicPr preferRelativeResize="0"/>
          <p:nvPr/>
        </p:nvPicPr>
        <p:blipFill>
          <a:blip r:embed="rId4">
            <a:alphaModFix/>
          </a:blip>
          <a:stretch>
            <a:fillRect/>
          </a:stretch>
        </p:blipFill>
        <p:spPr>
          <a:xfrm>
            <a:off x="7617282" y="1992056"/>
            <a:ext cx="258830" cy="491425"/>
          </a:xfrm>
          <a:prstGeom prst="rect">
            <a:avLst/>
          </a:prstGeom>
          <a:noFill/>
          <a:ln>
            <a:noFill/>
          </a:ln>
        </p:spPr>
      </p:pic>
      <p:pic>
        <p:nvPicPr>
          <p:cNvPr id="1020" name="Google Shape;1020;p76"/>
          <p:cNvPicPr preferRelativeResize="0"/>
          <p:nvPr/>
        </p:nvPicPr>
        <p:blipFill>
          <a:blip r:embed="rId4">
            <a:alphaModFix/>
          </a:blip>
          <a:stretch>
            <a:fillRect/>
          </a:stretch>
        </p:blipFill>
        <p:spPr>
          <a:xfrm>
            <a:off x="7555857" y="3107847"/>
            <a:ext cx="258830" cy="491425"/>
          </a:xfrm>
          <a:prstGeom prst="rect">
            <a:avLst/>
          </a:prstGeom>
          <a:noFill/>
          <a:ln>
            <a:noFill/>
          </a:ln>
        </p:spPr>
      </p:pic>
      <p:pic>
        <p:nvPicPr>
          <p:cNvPr id="1021" name="Google Shape;1021;p76"/>
          <p:cNvPicPr preferRelativeResize="0"/>
          <p:nvPr/>
        </p:nvPicPr>
        <p:blipFill>
          <a:blip r:embed="rId4">
            <a:alphaModFix/>
          </a:blip>
          <a:stretch>
            <a:fillRect/>
          </a:stretch>
        </p:blipFill>
        <p:spPr>
          <a:xfrm>
            <a:off x="7456643" y="1999367"/>
            <a:ext cx="258830" cy="491425"/>
          </a:xfrm>
          <a:prstGeom prst="rect">
            <a:avLst/>
          </a:prstGeom>
          <a:noFill/>
          <a:ln>
            <a:noFill/>
          </a:ln>
        </p:spPr>
      </p:pic>
      <p:pic>
        <p:nvPicPr>
          <p:cNvPr id="1022" name="Google Shape;1022;p76"/>
          <p:cNvPicPr preferRelativeResize="0"/>
          <p:nvPr/>
        </p:nvPicPr>
        <p:blipFill>
          <a:blip r:embed="rId4">
            <a:alphaModFix/>
          </a:blip>
          <a:stretch>
            <a:fillRect/>
          </a:stretch>
        </p:blipFill>
        <p:spPr>
          <a:xfrm>
            <a:off x="7738430" y="2197794"/>
            <a:ext cx="258830" cy="491425"/>
          </a:xfrm>
          <a:prstGeom prst="rect">
            <a:avLst/>
          </a:prstGeom>
          <a:noFill/>
          <a:ln>
            <a:noFill/>
          </a:ln>
        </p:spPr>
      </p:pic>
      <p:pic>
        <p:nvPicPr>
          <p:cNvPr id="1023" name="Google Shape;1023;p76"/>
          <p:cNvPicPr preferRelativeResize="0"/>
          <p:nvPr/>
        </p:nvPicPr>
        <p:blipFill>
          <a:blip r:embed="rId4">
            <a:alphaModFix/>
          </a:blip>
          <a:stretch>
            <a:fillRect/>
          </a:stretch>
        </p:blipFill>
        <p:spPr>
          <a:xfrm>
            <a:off x="6946257" y="3119354"/>
            <a:ext cx="258830" cy="491425"/>
          </a:xfrm>
          <a:prstGeom prst="rect">
            <a:avLst/>
          </a:prstGeom>
          <a:noFill/>
          <a:ln>
            <a:noFill/>
          </a:ln>
        </p:spPr>
      </p:pic>
      <p:pic>
        <p:nvPicPr>
          <p:cNvPr id="1024" name="Google Shape;1024;p76"/>
          <p:cNvPicPr preferRelativeResize="0"/>
          <p:nvPr/>
        </p:nvPicPr>
        <p:blipFill>
          <a:blip r:embed="rId4">
            <a:alphaModFix/>
          </a:blip>
          <a:stretch>
            <a:fillRect/>
          </a:stretch>
        </p:blipFill>
        <p:spPr>
          <a:xfrm>
            <a:off x="6618443" y="3237233"/>
            <a:ext cx="258830" cy="491425"/>
          </a:xfrm>
          <a:prstGeom prst="rect">
            <a:avLst/>
          </a:prstGeom>
          <a:noFill/>
          <a:ln>
            <a:noFill/>
          </a:ln>
        </p:spPr>
      </p:pic>
      <p:pic>
        <p:nvPicPr>
          <p:cNvPr id="1025" name="Google Shape;1025;p76"/>
          <p:cNvPicPr preferRelativeResize="0"/>
          <p:nvPr/>
        </p:nvPicPr>
        <p:blipFill>
          <a:blip r:embed="rId4">
            <a:alphaModFix/>
          </a:blip>
          <a:stretch>
            <a:fillRect/>
          </a:stretch>
        </p:blipFill>
        <p:spPr>
          <a:xfrm>
            <a:off x="5551643" y="2932433"/>
            <a:ext cx="258830" cy="491425"/>
          </a:xfrm>
          <a:prstGeom prst="rect">
            <a:avLst/>
          </a:prstGeom>
          <a:noFill/>
          <a:ln>
            <a:noFill/>
          </a:ln>
        </p:spPr>
      </p:pic>
      <p:pic>
        <p:nvPicPr>
          <p:cNvPr id="1026" name="Google Shape;1026;p76"/>
          <p:cNvPicPr preferRelativeResize="0"/>
          <p:nvPr/>
        </p:nvPicPr>
        <p:blipFill>
          <a:blip r:embed="rId4">
            <a:alphaModFix/>
          </a:blip>
          <a:stretch>
            <a:fillRect/>
          </a:stretch>
        </p:blipFill>
        <p:spPr>
          <a:xfrm>
            <a:off x="5745723" y="2551433"/>
            <a:ext cx="258830" cy="491425"/>
          </a:xfrm>
          <a:prstGeom prst="rect">
            <a:avLst/>
          </a:prstGeom>
          <a:noFill/>
          <a:ln>
            <a:noFill/>
          </a:ln>
        </p:spPr>
      </p:pic>
      <p:pic>
        <p:nvPicPr>
          <p:cNvPr id="1027" name="Google Shape;1027;p76"/>
          <p:cNvPicPr preferRelativeResize="0"/>
          <p:nvPr/>
        </p:nvPicPr>
        <p:blipFill>
          <a:blip r:embed="rId4">
            <a:alphaModFix/>
          </a:blip>
          <a:stretch>
            <a:fillRect/>
          </a:stretch>
        </p:blipFill>
        <p:spPr>
          <a:xfrm>
            <a:off x="8066243" y="2890754"/>
            <a:ext cx="258830" cy="491425"/>
          </a:xfrm>
          <a:prstGeom prst="rect">
            <a:avLst/>
          </a:prstGeom>
          <a:noFill/>
          <a:ln>
            <a:noFill/>
          </a:ln>
        </p:spPr>
      </p:pic>
      <p:pic>
        <p:nvPicPr>
          <p:cNvPr id="1028" name="Google Shape;1028;p76"/>
          <p:cNvPicPr preferRelativeResize="0"/>
          <p:nvPr/>
        </p:nvPicPr>
        <p:blipFill>
          <a:blip r:embed="rId4">
            <a:alphaModFix/>
          </a:blip>
          <a:stretch>
            <a:fillRect/>
          </a:stretch>
        </p:blipFill>
        <p:spPr>
          <a:xfrm>
            <a:off x="6085043" y="3347954"/>
            <a:ext cx="258830" cy="491425"/>
          </a:xfrm>
          <a:prstGeom prst="rect">
            <a:avLst/>
          </a:prstGeom>
          <a:noFill/>
          <a:ln>
            <a:noFill/>
          </a:ln>
        </p:spPr>
      </p:pic>
      <p:pic>
        <p:nvPicPr>
          <p:cNvPr id="1029" name="Google Shape;1029;p76"/>
          <p:cNvPicPr preferRelativeResize="0"/>
          <p:nvPr/>
        </p:nvPicPr>
        <p:blipFill>
          <a:blip r:embed="rId4">
            <a:alphaModFix/>
          </a:blip>
          <a:stretch>
            <a:fillRect/>
          </a:stretch>
        </p:blipFill>
        <p:spPr>
          <a:xfrm>
            <a:off x="6999443" y="2281154"/>
            <a:ext cx="258830" cy="491425"/>
          </a:xfrm>
          <a:prstGeom prst="rect">
            <a:avLst/>
          </a:prstGeom>
          <a:noFill/>
          <a:ln>
            <a:noFill/>
          </a:ln>
        </p:spPr>
      </p:pic>
      <p:pic>
        <p:nvPicPr>
          <p:cNvPr id="1030" name="Google Shape;1030;p76"/>
          <p:cNvPicPr preferRelativeResize="0"/>
          <p:nvPr/>
        </p:nvPicPr>
        <p:blipFill>
          <a:blip r:embed="rId4">
            <a:alphaModFix/>
          </a:blip>
          <a:stretch>
            <a:fillRect/>
          </a:stretch>
        </p:blipFill>
        <p:spPr>
          <a:xfrm>
            <a:off x="7228043" y="2357354"/>
            <a:ext cx="258830" cy="491425"/>
          </a:xfrm>
          <a:prstGeom prst="rect">
            <a:avLst/>
          </a:prstGeom>
          <a:noFill/>
          <a:ln>
            <a:noFill/>
          </a:ln>
        </p:spPr>
      </p:pic>
      <p:pic>
        <p:nvPicPr>
          <p:cNvPr id="1031" name="Google Shape;1031;p76"/>
          <p:cNvPicPr preferRelativeResize="0"/>
          <p:nvPr/>
        </p:nvPicPr>
        <p:blipFill>
          <a:blip r:embed="rId4">
            <a:alphaModFix/>
          </a:blip>
          <a:stretch>
            <a:fillRect/>
          </a:stretch>
        </p:blipFill>
        <p:spPr>
          <a:xfrm>
            <a:off x="7380443" y="3195554"/>
            <a:ext cx="258830" cy="491425"/>
          </a:xfrm>
          <a:prstGeom prst="rect">
            <a:avLst/>
          </a:prstGeom>
          <a:noFill/>
          <a:ln>
            <a:noFill/>
          </a:ln>
        </p:spPr>
      </p:pic>
      <p:pic>
        <p:nvPicPr>
          <p:cNvPr id="1032" name="Google Shape;1032;p76"/>
          <p:cNvPicPr preferRelativeResize="0"/>
          <p:nvPr/>
        </p:nvPicPr>
        <p:blipFill>
          <a:blip r:embed="rId4">
            <a:alphaModFix/>
          </a:blip>
          <a:stretch>
            <a:fillRect/>
          </a:stretch>
        </p:blipFill>
        <p:spPr>
          <a:xfrm>
            <a:off x="6625603" y="2860580"/>
            <a:ext cx="258830" cy="491425"/>
          </a:xfrm>
          <a:prstGeom prst="rect">
            <a:avLst/>
          </a:prstGeom>
          <a:noFill/>
          <a:ln>
            <a:noFill/>
          </a:ln>
        </p:spPr>
      </p:pic>
      <p:pic>
        <p:nvPicPr>
          <p:cNvPr id="1033" name="Google Shape;1033;p76"/>
          <p:cNvPicPr preferRelativeResize="0"/>
          <p:nvPr/>
        </p:nvPicPr>
        <p:blipFill>
          <a:blip r:embed="rId4">
            <a:alphaModFix/>
          </a:blip>
          <a:stretch>
            <a:fillRect/>
          </a:stretch>
        </p:blipFill>
        <p:spPr>
          <a:xfrm>
            <a:off x="7913843" y="2509754"/>
            <a:ext cx="258830" cy="491425"/>
          </a:xfrm>
          <a:prstGeom prst="rect">
            <a:avLst/>
          </a:prstGeom>
          <a:noFill/>
          <a:ln>
            <a:noFill/>
          </a:ln>
        </p:spPr>
      </p:pic>
      <p:pic>
        <p:nvPicPr>
          <p:cNvPr id="1034" name="Google Shape;1034;p76"/>
          <p:cNvPicPr preferRelativeResize="0"/>
          <p:nvPr/>
        </p:nvPicPr>
        <p:blipFill>
          <a:blip r:embed="rId4">
            <a:alphaModFix/>
          </a:blip>
          <a:stretch>
            <a:fillRect/>
          </a:stretch>
        </p:blipFill>
        <p:spPr>
          <a:xfrm>
            <a:off x="7913843" y="3195554"/>
            <a:ext cx="258830" cy="491425"/>
          </a:xfrm>
          <a:prstGeom prst="rect">
            <a:avLst/>
          </a:prstGeom>
          <a:noFill/>
          <a:ln>
            <a:noFill/>
          </a:ln>
        </p:spPr>
      </p:pic>
      <p:pic>
        <p:nvPicPr>
          <p:cNvPr id="1035" name="Google Shape;1035;p76"/>
          <p:cNvPicPr preferRelativeResize="0"/>
          <p:nvPr/>
        </p:nvPicPr>
        <p:blipFill>
          <a:blip r:embed="rId4">
            <a:alphaModFix/>
          </a:blip>
          <a:stretch>
            <a:fillRect/>
          </a:stretch>
        </p:blipFill>
        <p:spPr>
          <a:xfrm>
            <a:off x="8214296" y="3107847"/>
            <a:ext cx="258830" cy="491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pic>
        <p:nvPicPr>
          <p:cNvPr id="1040" name="Google Shape;1040;p77"/>
          <p:cNvPicPr preferRelativeResize="0"/>
          <p:nvPr/>
        </p:nvPicPr>
        <p:blipFill>
          <a:blip r:embed="rId3">
            <a:alphaModFix/>
          </a:blip>
          <a:stretch>
            <a:fillRect/>
          </a:stretch>
        </p:blipFill>
        <p:spPr>
          <a:xfrm>
            <a:off x="5098002" y="1582832"/>
            <a:ext cx="3722542" cy="2842726"/>
          </a:xfrm>
          <a:prstGeom prst="rect">
            <a:avLst/>
          </a:prstGeom>
          <a:noFill/>
          <a:ln>
            <a:noFill/>
          </a:ln>
        </p:spPr>
      </p:pic>
      <p:pic>
        <p:nvPicPr>
          <p:cNvPr id="1041" name="Google Shape;1041;p77"/>
          <p:cNvPicPr preferRelativeResize="0"/>
          <p:nvPr/>
        </p:nvPicPr>
        <p:blipFill>
          <a:blip r:embed="rId4">
            <a:alphaModFix/>
          </a:blip>
          <a:stretch>
            <a:fillRect/>
          </a:stretch>
        </p:blipFill>
        <p:spPr>
          <a:xfrm>
            <a:off x="6008843" y="2662154"/>
            <a:ext cx="258830" cy="491425"/>
          </a:xfrm>
          <a:prstGeom prst="rect">
            <a:avLst/>
          </a:prstGeom>
          <a:noFill/>
          <a:ln>
            <a:noFill/>
          </a:ln>
        </p:spPr>
      </p:pic>
      <p:pic>
        <p:nvPicPr>
          <p:cNvPr id="1042" name="Google Shape;1042;p77"/>
          <p:cNvPicPr preferRelativeResize="0"/>
          <p:nvPr/>
        </p:nvPicPr>
        <p:blipFill>
          <a:blip r:embed="rId4">
            <a:alphaModFix/>
          </a:blip>
          <a:stretch>
            <a:fillRect/>
          </a:stretch>
        </p:blipFill>
        <p:spPr>
          <a:xfrm>
            <a:off x="6923243" y="1888647"/>
            <a:ext cx="258830" cy="491425"/>
          </a:xfrm>
          <a:prstGeom prst="rect">
            <a:avLst/>
          </a:prstGeom>
          <a:noFill/>
          <a:ln>
            <a:noFill/>
          </a:ln>
        </p:spPr>
      </p:pic>
      <p:pic>
        <p:nvPicPr>
          <p:cNvPr id="1043" name="Google Shape;1043;p77"/>
          <p:cNvPicPr preferRelativeResize="0"/>
          <p:nvPr/>
        </p:nvPicPr>
        <p:blipFill>
          <a:blip r:embed="rId4">
            <a:alphaModFix/>
          </a:blip>
          <a:stretch>
            <a:fillRect/>
          </a:stretch>
        </p:blipFill>
        <p:spPr>
          <a:xfrm>
            <a:off x="7289468" y="2033736"/>
            <a:ext cx="258830" cy="491425"/>
          </a:xfrm>
          <a:prstGeom prst="rect">
            <a:avLst/>
          </a:prstGeom>
          <a:noFill/>
          <a:ln>
            <a:noFill/>
          </a:ln>
        </p:spPr>
      </p:pic>
      <p:sp>
        <p:nvSpPr>
          <p:cNvPr id="1044" name="Google Shape;1044;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1045" name="Google Shape;1045;p77"/>
          <p:cNvSpPr txBox="1"/>
          <p:nvPr>
            <p:ph idx="1" type="body"/>
          </p:nvPr>
        </p:nvSpPr>
        <p:spPr>
          <a:xfrm>
            <a:off x="324000" y="759300"/>
            <a:ext cx="71352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might see the very same numbers and pattern in a very different context.</a:t>
            </a:r>
            <a:endParaRPr sz="2000"/>
          </a:p>
        </p:txBody>
      </p:sp>
      <p:sp>
        <p:nvSpPr>
          <p:cNvPr id="1046" name="Google Shape;1046;p77"/>
          <p:cNvSpPr txBox="1"/>
          <p:nvPr>
            <p:ph idx="1" type="body"/>
          </p:nvPr>
        </p:nvSpPr>
        <p:spPr>
          <a:xfrm>
            <a:off x="324000" y="1551375"/>
            <a:ext cx="61920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2 thousand penguins living on an island. Every decade their population doubles.</a:t>
            </a:r>
            <a:endParaRPr baseline="30000" sz="2000"/>
          </a:p>
        </p:txBody>
      </p:sp>
      <p:pic>
        <p:nvPicPr>
          <p:cNvPr id="1047" name="Google Shape;1047;p77"/>
          <p:cNvPicPr preferRelativeResize="0"/>
          <p:nvPr/>
        </p:nvPicPr>
        <p:blipFill>
          <a:blip r:embed="rId4">
            <a:alphaModFix/>
          </a:blip>
          <a:stretch>
            <a:fillRect/>
          </a:stretch>
        </p:blipFill>
        <p:spPr>
          <a:xfrm>
            <a:off x="5932643" y="2117247"/>
            <a:ext cx="258830" cy="491425"/>
          </a:xfrm>
          <a:prstGeom prst="rect">
            <a:avLst/>
          </a:prstGeom>
          <a:noFill/>
          <a:ln>
            <a:noFill/>
          </a:ln>
        </p:spPr>
      </p:pic>
      <p:pic>
        <p:nvPicPr>
          <p:cNvPr id="1048" name="Google Shape;1048;p77"/>
          <p:cNvPicPr preferRelativeResize="0"/>
          <p:nvPr/>
        </p:nvPicPr>
        <p:blipFill>
          <a:blip r:embed="rId4">
            <a:alphaModFix/>
          </a:blip>
          <a:stretch>
            <a:fillRect/>
          </a:stretch>
        </p:blipFill>
        <p:spPr>
          <a:xfrm>
            <a:off x="6474282" y="2056749"/>
            <a:ext cx="258830" cy="491425"/>
          </a:xfrm>
          <a:prstGeom prst="rect">
            <a:avLst/>
          </a:prstGeom>
          <a:noFill/>
          <a:ln>
            <a:noFill/>
          </a:ln>
        </p:spPr>
      </p:pic>
      <p:pic>
        <p:nvPicPr>
          <p:cNvPr id="1049" name="Google Shape;1049;p77"/>
          <p:cNvPicPr preferRelativeResize="0"/>
          <p:nvPr/>
        </p:nvPicPr>
        <p:blipFill>
          <a:blip r:embed="rId4">
            <a:alphaModFix/>
          </a:blip>
          <a:stretch>
            <a:fillRect/>
          </a:stretch>
        </p:blipFill>
        <p:spPr>
          <a:xfrm>
            <a:off x="7780110" y="1964847"/>
            <a:ext cx="258830" cy="491425"/>
          </a:xfrm>
          <a:prstGeom prst="rect">
            <a:avLst/>
          </a:prstGeom>
          <a:noFill/>
          <a:ln>
            <a:noFill/>
          </a:ln>
        </p:spPr>
      </p:pic>
      <p:pic>
        <p:nvPicPr>
          <p:cNvPr id="1050" name="Google Shape;1050;p77"/>
          <p:cNvPicPr preferRelativeResize="0"/>
          <p:nvPr/>
        </p:nvPicPr>
        <p:blipFill>
          <a:blip r:embed="rId4">
            <a:alphaModFix/>
          </a:blip>
          <a:stretch>
            <a:fillRect/>
          </a:stretch>
        </p:blipFill>
        <p:spPr>
          <a:xfrm>
            <a:off x="7582762" y="2437749"/>
            <a:ext cx="258830" cy="491425"/>
          </a:xfrm>
          <a:prstGeom prst="rect">
            <a:avLst/>
          </a:prstGeom>
          <a:noFill/>
          <a:ln>
            <a:noFill/>
          </a:ln>
        </p:spPr>
      </p:pic>
      <p:pic>
        <p:nvPicPr>
          <p:cNvPr id="1051" name="Google Shape;1051;p77"/>
          <p:cNvPicPr preferRelativeResize="0"/>
          <p:nvPr/>
        </p:nvPicPr>
        <p:blipFill>
          <a:blip r:embed="rId4">
            <a:alphaModFix/>
          </a:blip>
          <a:stretch>
            <a:fillRect/>
          </a:stretch>
        </p:blipFill>
        <p:spPr>
          <a:xfrm>
            <a:off x="6237443" y="2486740"/>
            <a:ext cx="258830" cy="491425"/>
          </a:xfrm>
          <a:prstGeom prst="rect">
            <a:avLst/>
          </a:prstGeom>
          <a:noFill/>
          <a:ln>
            <a:noFill/>
          </a:ln>
        </p:spPr>
      </p:pic>
      <p:pic>
        <p:nvPicPr>
          <p:cNvPr id="1052" name="Google Shape;1052;p77"/>
          <p:cNvPicPr preferRelativeResize="0"/>
          <p:nvPr/>
        </p:nvPicPr>
        <p:blipFill>
          <a:blip r:embed="rId4">
            <a:alphaModFix/>
          </a:blip>
          <a:stretch>
            <a:fillRect/>
          </a:stretch>
        </p:blipFill>
        <p:spPr>
          <a:xfrm>
            <a:off x="6779082" y="2426242"/>
            <a:ext cx="258830" cy="491425"/>
          </a:xfrm>
          <a:prstGeom prst="rect">
            <a:avLst/>
          </a:prstGeom>
          <a:noFill/>
          <a:ln>
            <a:noFill/>
          </a:ln>
        </p:spPr>
      </p:pic>
      <p:pic>
        <p:nvPicPr>
          <p:cNvPr id="1053" name="Google Shape;1053;p77"/>
          <p:cNvPicPr preferRelativeResize="0"/>
          <p:nvPr/>
        </p:nvPicPr>
        <p:blipFill>
          <a:blip r:embed="rId4">
            <a:alphaModFix/>
          </a:blip>
          <a:stretch>
            <a:fillRect/>
          </a:stretch>
        </p:blipFill>
        <p:spPr>
          <a:xfrm>
            <a:off x="6618443" y="3565047"/>
            <a:ext cx="258830" cy="491425"/>
          </a:xfrm>
          <a:prstGeom prst="rect">
            <a:avLst/>
          </a:prstGeom>
          <a:noFill/>
          <a:ln>
            <a:noFill/>
          </a:ln>
        </p:spPr>
      </p:pic>
      <p:pic>
        <p:nvPicPr>
          <p:cNvPr id="1054" name="Google Shape;1054;p77"/>
          <p:cNvPicPr preferRelativeResize="0"/>
          <p:nvPr/>
        </p:nvPicPr>
        <p:blipFill>
          <a:blip r:embed="rId4">
            <a:alphaModFix/>
          </a:blip>
          <a:stretch>
            <a:fillRect/>
          </a:stretch>
        </p:blipFill>
        <p:spPr>
          <a:xfrm>
            <a:off x="6984668" y="3557736"/>
            <a:ext cx="258830" cy="491425"/>
          </a:xfrm>
          <a:prstGeom prst="rect">
            <a:avLst/>
          </a:prstGeom>
          <a:noFill/>
          <a:ln>
            <a:noFill/>
          </a:ln>
        </p:spPr>
      </p:pic>
      <p:pic>
        <p:nvPicPr>
          <p:cNvPr id="1055" name="Google Shape;1055;p77"/>
          <p:cNvPicPr preferRelativeResize="0"/>
          <p:nvPr/>
        </p:nvPicPr>
        <p:blipFill>
          <a:blip r:embed="rId4">
            <a:alphaModFix/>
          </a:blip>
          <a:stretch>
            <a:fillRect/>
          </a:stretch>
        </p:blipFill>
        <p:spPr>
          <a:xfrm>
            <a:off x="5498457" y="2726847"/>
            <a:ext cx="258830" cy="491425"/>
          </a:xfrm>
          <a:prstGeom prst="rect">
            <a:avLst/>
          </a:prstGeom>
          <a:noFill/>
          <a:ln>
            <a:noFill/>
          </a:ln>
        </p:spPr>
      </p:pic>
      <p:pic>
        <p:nvPicPr>
          <p:cNvPr id="1056" name="Google Shape;1056;p77"/>
          <p:cNvPicPr preferRelativeResize="0"/>
          <p:nvPr/>
        </p:nvPicPr>
        <p:blipFill>
          <a:blip r:embed="rId4">
            <a:alphaModFix/>
          </a:blip>
          <a:stretch>
            <a:fillRect/>
          </a:stretch>
        </p:blipFill>
        <p:spPr>
          <a:xfrm>
            <a:off x="6245682" y="3199749"/>
            <a:ext cx="258830" cy="491425"/>
          </a:xfrm>
          <a:prstGeom prst="rect">
            <a:avLst/>
          </a:prstGeom>
          <a:noFill/>
          <a:ln>
            <a:noFill/>
          </a:ln>
        </p:spPr>
      </p:pic>
      <p:pic>
        <p:nvPicPr>
          <p:cNvPr id="1057" name="Google Shape;1057;p77"/>
          <p:cNvPicPr preferRelativeResize="0"/>
          <p:nvPr/>
        </p:nvPicPr>
        <p:blipFill>
          <a:blip r:embed="rId4">
            <a:alphaModFix/>
          </a:blip>
          <a:stretch>
            <a:fillRect/>
          </a:stretch>
        </p:blipFill>
        <p:spPr>
          <a:xfrm>
            <a:off x="7703910" y="3412647"/>
            <a:ext cx="258830" cy="491425"/>
          </a:xfrm>
          <a:prstGeom prst="rect">
            <a:avLst/>
          </a:prstGeom>
          <a:noFill/>
          <a:ln>
            <a:noFill/>
          </a:ln>
        </p:spPr>
      </p:pic>
      <p:pic>
        <p:nvPicPr>
          <p:cNvPr id="1058" name="Google Shape;1058;p77"/>
          <p:cNvPicPr preferRelativeResize="0"/>
          <p:nvPr/>
        </p:nvPicPr>
        <p:blipFill>
          <a:blip r:embed="rId4">
            <a:alphaModFix/>
          </a:blip>
          <a:stretch>
            <a:fillRect/>
          </a:stretch>
        </p:blipFill>
        <p:spPr>
          <a:xfrm>
            <a:off x="7354162" y="3352149"/>
            <a:ext cx="258830" cy="491425"/>
          </a:xfrm>
          <a:prstGeom prst="rect">
            <a:avLst/>
          </a:prstGeom>
          <a:noFill/>
          <a:ln>
            <a:noFill/>
          </a:ln>
        </p:spPr>
      </p:pic>
      <p:pic>
        <p:nvPicPr>
          <p:cNvPr id="1059" name="Google Shape;1059;p77"/>
          <p:cNvPicPr preferRelativeResize="0"/>
          <p:nvPr/>
        </p:nvPicPr>
        <p:blipFill>
          <a:blip r:embed="rId4">
            <a:alphaModFix/>
          </a:blip>
          <a:stretch>
            <a:fillRect/>
          </a:stretch>
        </p:blipFill>
        <p:spPr>
          <a:xfrm>
            <a:off x="5890963" y="2867740"/>
            <a:ext cx="258830" cy="491425"/>
          </a:xfrm>
          <a:prstGeom prst="rect">
            <a:avLst/>
          </a:prstGeom>
          <a:noFill/>
          <a:ln>
            <a:noFill/>
          </a:ln>
        </p:spPr>
      </p:pic>
      <p:pic>
        <p:nvPicPr>
          <p:cNvPr id="1060" name="Google Shape;1060;p77"/>
          <p:cNvPicPr preferRelativeResize="0"/>
          <p:nvPr/>
        </p:nvPicPr>
        <p:blipFill>
          <a:blip r:embed="rId4">
            <a:alphaModFix/>
          </a:blip>
          <a:stretch>
            <a:fillRect/>
          </a:stretch>
        </p:blipFill>
        <p:spPr>
          <a:xfrm>
            <a:off x="5940882" y="3569242"/>
            <a:ext cx="258830" cy="491425"/>
          </a:xfrm>
          <a:prstGeom prst="rect">
            <a:avLst/>
          </a:prstGeom>
          <a:noFill/>
          <a:ln>
            <a:noFill/>
          </a:ln>
        </p:spPr>
      </p:pic>
      <p:pic>
        <p:nvPicPr>
          <p:cNvPr id="1061" name="Google Shape;1061;p77"/>
          <p:cNvPicPr preferRelativeResize="0"/>
          <p:nvPr/>
        </p:nvPicPr>
        <p:blipFill>
          <a:blip r:embed="rId4">
            <a:alphaModFix/>
          </a:blip>
          <a:stretch>
            <a:fillRect/>
          </a:stretch>
        </p:blipFill>
        <p:spPr>
          <a:xfrm>
            <a:off x="6565257" y="2726847"/>
            <a:ext cx="258830" cy="491425"/>
          </a:xfrm>
          <a:prstGeom prst="rect">
            <a:avLst/>
          </a:prstGeom>
          <a:noFill/>
          <a:ln>
            <a:noFill/>
          </a:ln>
        </p:spPr>
      </p:pic>
      <p:pic>
        <p:nvPicPr>
          <p:cNvPr id="1062" name="Google Shape;1062;p77"/>
          <p:cNvPicPr preferRelativeResize="0"/>
          <p:nvPr/>
        </p:nvPicPr>
        <p:blipFill>
          <a:blip r:embed="rId4">
            <a:alphaModFix/>
          </a:blip>
          <a:stretch>
            <a:fillRect/>
          </a:stretch>
        </p:blipFill>
        <p:spPr>
          <a:xfrm>
            <a:off x="7098657" y="2498247"/>
            <a:ext cx="258830" cy="491425"/>
          </a:xfrm>
          <a:prstGeom prst="rect">
            <a:avLst/>
          </a:prstGeom>
          <a:noFill/>
          <a:ln>
            <a:noFill/>
          </a:ln>
        </p:spPr>
      </p:pic>
      <p:pic>
        <p:nvPicPr>
          <p:cNvPr id="1063" name="Google Shape;1063;p77"/>
          <p:cNvPicPr preferRelativeResize="0"/>
          <p:nvPr/>
        </p:nvPicPr>
        <p:blipFill>
          <a:blip r:embed="rId4">
            <a:alphaModFix/>
          </a:blip>
          <a:stretch>
            <a:fillRect/>
          </a:stretch>
        </p:blipFill>
        <p:spPr>
          <a:xfrm>
            <a:off x="7380443" y="2696674"/>
            <a:ext cx="258830" cy="491425"/>
          </a:xfrm>
          <a:prstGeom prst="rect">
            <a:avLst/>
          </a:prstGeom>
          <a:noFill/>
          <a:ln>
            <a:noFill/>
          </a:ln>
        </p:spPr>
      </p:pic>
      <p:pic>
        <p:nvPicPr>
          <p:cNvPr id="1064" name="Google Shape;1064;p77"/>
          <p:cNvPicPr preferRelativeResize="0"/>
          <p:nvPr/>
        </p:nvPicPr>
        <p:blipFill>
          <a:blip r:embed="rId4">
            <a:alphaModFix/>
          </a:blip>
          <a:stretch>
            <a:fillRect/>
          </a:stretch>
        </p:blipFill>
        <p:spPr>
          <a:xfrm>
            <a:off x="7098657" y="3043154"/>
            <a:ext cx="258830" cy="491425"/>
          </a:xfrm>
          <a:prstGeom prst="rect">
            <a:avLst/>
          </a:prstGeom>
          <a:noFill/>
          <a:ln>
            <a:noFill/>
          </a:ln>
        </p:spPr>
      </p:pic>
      <p:pic>
        <p:nvPicPr>
          <p:cNvPr id="1065" name="Google Shape;1065;p77"/>
          <p:cNvPicPr preferRelativeResize="0"/>
          <p:nvPr/>
        </p:nvPicPr>
        <p:blipFill>
          <a:blip r:embed="rId4">
            <a:alphaModFix/>
          </a:blip>
          <a:stretch>
            <a:fillRect/>
          </a:stretch>
        </p:blipFill>
        <p:spPr>
          <a:xfrm>
            <a:off x="6770843" y="3161033"/>
            <a:ext cx="258830" cy="491425"/>
          </a:xfrm>
          <a:prstGeom prst="rect">
            <a:avLst/>
          </a:prstGeom>
          <a:noFill/>
          <a:ln>
            <a:noFill/>
          </a:ln>
        </p:spPr>
      </p:pic>
      <p:pic>
        <p:nvPicPr>
          <p:cNvPr id="1066" name="Google Shape;1066;p77"/>
          <p:cNvPicPr preferRelativeResize="0"/>
          <p:nvPr/>
        </p:nvPicPr>
        <p:blipFill>
          <a:blip r:embed="rId4">
            <a:alphaModFix/>
          </a:blip>
          <a:stretch>
            <a:fillRect/>
          </a:stretch>
        </p:blipFill>
        <p:spPr>
          <a:xfrm>
            <a:off x="7837643" y="2780033"/>
            <a:ext cx="258830" cy="491425"/>
          </a:xfrm>
          <a:prstGeom prst="rect">
            <a:avLst/>
          </a:prstGeom>
          <a:noFill/>
          <a:ln>
            <a:noFill/>
          </a:ln>
        </p:spPr>
      </p:pic>
      <p:pic>
        <p:nvPicPr>
          <p:cNvPr id="1067" name="Google Shape;1067;p77"/>
          <p:cNvPicPr preferRelativeResize="0"/>
          <p:nvPr/>
        </p:nvPicPr>
        <p:blipFill>
          <a:blip r:embed="rId4">
            <a:alphaModFix/>
          </a:blip>
          <a:stretch>
            <a:fillRect/>
          </a:stretch>
        </p:blipFill>
        <p:spPr>
          <a:xfrm>
            <a:off x="8031723" y="2322833"/>
            <a:ext cx="258830" cy="491425"/>
          </a:xfrm>
          <a:prstGeom prst="rect">
            <a:avLst/>
          </a:prstGeom>
          <a:noFill/>
          <a:ln>
            <a:noFill/>
          </a:ln>
        </p:spPr>
      </p:pic>
      <p:pic>
        <p:nvPicPr>
          <p:cNvPr id="1068" name="Google Shape;1068;p77"/>
          <p:cNvPicPr preferRelativeResize="0"/>
          <p:nvPr/>
        </p:nvPicPr>
        <p:blipFill>
          <a:blip r:embed="rId4">
            <a:alphaModFix/>
          </a:blip>
          <a:stretch>
            <a:fillRect/>
          </a:stretch>
        </p:blipFill>
        <p:spPr>
          <a:xfrm>
            <a:off x="8142443" y="1976354"/>
            <a:ext cx="258830" cy="491425"/>
          </a:xfrm>
          <a:prstGeom prst="rect">
            <a:avLst/>
          </a:prstGeom>
          <a:noFill/>
          <a:ln>
            <a:noFill/>
          </a:ln>
        </p:spPr>
      </p:pic>
      <p:pic>
        <p:nvPicPr>
          <p:cNvPr id="1069" name="Google Shape;1069;p77"/>
          <p:cNvPicPr preferRelativeResize="0"/>
          <p:nvPr/>
        </p:nvPicPr>
        <p:blipFill>
          <a:blip r:embed="rId4">
            <a:alphaModFix/>
          </a:blip>
          <a:stretch>
            <a:fillRect/>
          </a:stretch>
        </p:blipFill>
        <p:spPr>
          <a:xfrm>
            <a:off x="8142443" y="2966954"/>
            <a:ext cx="258830" cy="491425"/>
          </a:xfrm>
          <a:prstGeom prst="rect">
            <a:avLst/>
          </a:prstGeom>
          <a:noFill/>
          <a:ln>
            <a:noFill/>
          </a:ln>
        </p:spPr>
      </p:pic>
      <p:pic>
        <p:nvPicPr>
          <p:cNvPr id="1070" name="Google Shape;1070;p77"/>
          <p:cNvPicPr preferRelativeResize="0"/>
          <p:nvPr/>
        </p:nvPicPr>
        <p:blipFill>
          <a:blip r:embed="rId4">
            <a:alphaModFix/>
          </a:blip>
          <a:stretch>
            <a:fillRect/>
          </a:stretch>
        </p:blipFill>
        <p:spPr>
          <a:xfrm>
            <a:off x="7990043" y="3424154"/>
            <a:ext cx="258830" cy="491425"/>
          </a:xfrm>
          <a:prstGeom prst="rect">
            <a:avLst/>
          </a:prstGeom>
          <a:noFill/>
          <a:ln>
            <a:noFill/>
          </a:ln>
        </p:spPr>
      </p:pic>
      <p:pic>
        <p:nvPicPr>
          <p:cNvPr id="1071" name="Google Shape;1071;p77"/>
          <p:cNvPicPr preferRelativeResize="0"/>
          <p:nvPr/>
        </p:nvPicPr>
        <p:blipFill>
          <a:blip r:embed="rId4">
            <a:alphaModFix/>
          </a:blip>
          <a:stretch>
            <a:fillRect/>
          </a:stretch>
        </p:blipFill>
        <p:spPr>
          <a:xfrm>
            <a:off x="6313643" y="3500354"/>
            <a:ext cx="258830" cy="491425"/>
          </a:xfrm>
          <a:prstGeom prst="rect">
            <a:avLst/>
          </a:prstGeom>
          <a:noFill/>
          <a:ln>
            <a:noFill/>
          </a:ln>
        </p:spPr>
      </p:pic>
      <p:pic>
        <p:nvPicPr>
          <p:cNvPr id="1072" name="Google Shape;1072;p77"/>
          <p:cNvPicPr preferRelativeResize="0"/>
          <p:nvPr/>
        </p:nvPicPr>
        <p:blipFill>
          <a:blip r:embed="rId4">
            <a:alphaModFix/>
          </a:blip>
          <a:stretch>
            <a:fillRect/>
          </a:stretch>
        </p:blipFill>
        <p:spPr>
          <a:xfrm>
            <a:off x="6389843" y="2814554"/>
            <a:ext cx="258830" cy="491425"/>
          </a:xfrm>
          <a:prstGeom prst="rect">
            <a:avLst/>
          </a:prstGeom>
          <a:noFill/>
          <a:ln>
            <a:noFill/>
          </a:ln>
        </p:spPr>
      </p:pic>
      <p:pic>
        <p:nvPicPr>
          <p:cNvPr id="1073" name="Google Shape;1073;p77"/>
          <p:cNvPicPr preferRelativeResize="0"/>
          <p:nvPr/>
        </p:nvPicPr>
        <p:blipFill>
          <a:blip r:embed="rId4">
            <a:alphaModFix/>
          </a:blip>
          <a:stretch>
            <a:fillRect/>
          </a:stretch>
        </p:blipFill>
        <p:spPr>
          <a:xfrm>
            <a:off x="6701803" y="1946180"/>
            <a:ext cx="258830" cy="491425"/>
          </a:xfrm>
          <a:prstGeom prst="rect">
            <a:avLst/>
          </a:prstGeom>
          <a:noFill/>
          <a:ln>
            <a:noFill/>
          </a:ln>
        </p:spPr>
      </p:pic>
      <p:pic>
        <p:nvPicPr>
          <p:cNvPr id="1074" name="Google Shape;1074;p77"/>
          <p:cNvPicPr preferRelativeResize="0"/>
          <p:nvPr/>
        </p:nvPicPr>
        <p:blipFill>
          <a:blip r:embed="rId4">
            <a:alphaModFix/>
          </a:blip>
          <a:stretch>
            <a:fillRect/>
          </a:stretch>
        </p:blipFill>
        <p:spPr>
          <a:xfrm>
            <a:off x="5780243" y="3119354"/>
            <a:ext cx="258830" cy="491425"/>
          </a:xfrm>
          <a:prstGeom prst="rect">
            <a:avLst/>
          </a:prstGeom>
          <a:noFill/>
          <a:ln>
            <a:noFill/>
          </a:ln>
        </p:spPr>
      </p:pic>
      <p:pic>
        <p:nvPicPr>
          <p:cNvPr id="1075" name="Google Shape;1075;p77"/>
          <p:cNvPicPr preferRelativeResize="0"/>
          <p:nvPr/>
        </p:nvPicPr>
        <p:blipFill>
          <a:blip r:embed="rId4">
            <a:alphaModFix/>
          </a:blip>
          <a:stretch>
            <a:fillRect/>
          </a:stretch>
        </p:blipFill>
        <p:spPr>
          <a:xfrm>
            <a:off x="5780243" y="3652754"/>
            <a:ext cx="258830" cy="491425"/>
          </a:xfrm>
          <a:prstGeom prst="rect">
            <a:avLst/>
          </a:prstGeom>
          <a:noFill/>
          <a:ln>
            <a:noFill/>
          </a:ln>
        </p:spPr>
      </p:pic>
      <p:pic>
        <p:nvPicPr>
          <p:cNvPr id="1076" name="Google Shape;1076;p77"/>
          <p:cNvPicPr preferRelativeResize="0"/>
          <p:nvPr/>
        </p:nvPicPr>
        <p:blipFill>
          <a:blip r:embed="rId4">
            <a:alphaModFix/>
          </a:blip>
          <a:stretch>
            <a:fillRect/>
          </a:stretch>
        </p:blipFill>
        <p:spPr>
          <a:xfrm>
            <a:off x="6313643" y="2662154"/>
            <a:ext cx="258830" cy="491425"/>
          </a:xfrm>
          <a:prstGeom prst="rect">
            <a:avLst/>
          </a:prstGeom>
          <a:noFill/>
          <a:ln>
            <a:noFill/>
          </a:ln>
        </p:spPr>
      </p:pic>
      <p:pic>
        <p:nvPicPr>
          <p:cNvPr id="1077" name="Google Shape;1077;p77"/>
          <p:cNvPicPr preferRelativeResize="0"/>
          <p:nvPr/>
        </p:nvPicPr>
        <p:blipFill>
          <a:blip r:embed="rId4">
            <a:alphaModFix/>
          </a:blip>
          <a:stretch>
            <a:fillRect/>
          </a:stretch>
        </p:blipFill>
        <p:spPr>
          <a:xfrm>
            <a:off x="6847043" y="2803047"/>
            <a:ext cx="258830" cy="491425"/>
          </a:xfrm>
          <a:prstGeom prst="rect">
            <a:avLst/>
          </a:prstGeom>
          <a:noFill/>
          <a:ln>
            <a:noFill/>
          </a:ln>
        </p:spPr>
      </p:pic>
      <p:pic>
        <p:nvPicPr>
          <p:cNvPr id="1078" name="Google Shape;1078;p77"/>
          <p:cNvPicPr preferRelativeResize="0"/>
          <p:nvPr/>
        </p:nvPicPr>
        <p:blipFill>
          <a:blip r:embed="rId4">
            <a:alphaModFix/>
          </a:blip>
          <a:stretch>
            <a:fillRect/>
          </a:stretch>
        </p:blipFill>
        <p:spPr>
          <a:xfrm>
            <a:off x="7213268" y="2948136"/>
            <a:ext cx="258830" cy="491425"/>
          </a:xfrm>
          <a:prstGeom prst="rect">
            <a:avLst/>
          </a:prstGeom>
          <a:noFill/>
          <a:ln>
            <a:noFill/>
          </a:ln>
        </p:spPr>
      </p:pic>
      <p:pic>
        <p:nvPicPr>
          <p:cNvPr id="1079" name="Google Shape;1079;p77"/>
          <p:cNvPicPr preferRelativeResize="0"/>
          <p:nvPr/>
        </p:nvPicPr>
        <p:blipFill>
          <a:blip r:embed="rId4">
            <a:alphaModFix/>
          </a:blip>
          <a:stretch>
            <a:fillRect/>
          </a:stretch>
        </p:blipFill>
        <p:spPr>
          <a:xfrm>
            <a:off x="6237443" y="2117247"/>
            <a:ext cx="258830" cy="491425"/>
          </a:xfrm>
          <a:prstGeom prst="rect">
            <a:avLst/>
          </a:prstGeom>
          <a:noFill/>
          <a:ln>
            <a:noFill/>
          </a:ln>
        </p:spPr>
      </p:pic>
      <p:pic>
        <p:nvPicPr>
          <p:cNvPr id="1080" name="Google Shape;1080;p77"/>
          <p:cNvPicPr preferRelativeResize="0"/>
          <p:nvPr/>
        </p:nvPicPr>
        <p:blipFill>
          <a:blip r:embed="rId4">
            <a:alphaModFix/>
          </a:blip>
          <a:stretch>
            <a:fillRect/>
          </a:stretch>
        </p:blipFill>
        <p:spPr>
          <a:xfrm>
            <a:off x="6398082" y="2971149"/>
            <a:ext cx="258830" cy="491425"/>
          </a:xfrm>
          <a:prstGeom prst="rect">
            <a:avLst/>
          </a:prstGeom>
          <a:noFill/>
          <a:ln>
            <a:noFill/>
          </a:ln>
        </p:spPr>
      </p:pic>
      <p:pic>
        <p:nvPicPr>
          <p:cNvPr id="1081" name="Google Shape;1081;p77"/>
          <p:cNvPicPr preferRelativeResize="0"/>
          <p:nvPr/>
        </p:nvPicPr>
        <p:blipFill>
          <a:blip r:embed="rId4">
            <a:alphaModFix/>
          </a:blip>
          <a:stretch>
            <a:fillRect/>
          </a:stretch>
        </p:blipFill>
        <p:spPr>
          <a:xfrm>
            <a:off x="7703910" y="2879247"/>
            <a:ext cx="258830" cy="491425"/>
          </a:xfrm>
          <a:prstGeom prst="rect">
            <a:avLst/>
          </a:prstGeom>
          <a:noFill/>
          <a:ln>
            <a:noFill/>
          </a:ln>
        </p:spPr>
      </p:pic>
      <p:pic>
        <p:nvPicPr>
          <p:cNvPr id="1082" name="Google Shape;1082;p77"/>
          <p:cNvPicPr preferRelativeResize="0"/>
          <p:nvPr/>
        </p:nvPicPr>
        <p:blipFill>
          <a:blip r:embed="rId4">
            <a:alphaModFix/>
          </a:blip>
          <a:stretch>
            <a:fillRect/>
          </a:stretch>
        </p:blipFill>
        <p:spPr>
          <a:xfrm>
            <a:off x="7940748" y="1938869"/>
            <a:ext cx="258830" cy="491425"/>
          </a:xfrm>
          <a:prstGeom prst="rect">
            <a:avLst/>
          </a:prstGeom>
          <a:noFill/>
          <a:ln>
            <a:noFill/>
          </a:ln>
        </p:spPr>
      </p:pic>
      <p:pic>
        <p:nvPicPr>
          <p:cNvPr id="1083" name="Google Shape;1083;p77"/>
          <p:cNvPicPr preferRelativeResize="0"/>
          <p:nvPr/>
        </p:nvPicPr>
        <p:blipFill>
          <a:blip r:embed="rId4">
            <a:alphaModFix/>
          </a:blip>
          <a:stretch>
            <a:fillRect/>
          </a:stretch>
        </p:blipFill>
        <p:spPr>
          <a:xfrm>
            <a:off x="6542243" y="2486740"/>
            <a:ext cx="258830" cy="491425"/>
          </a:xfrm>
          <a:prstGeom prst="rect">
            <a:avLst/>
          </a:prstGeom>
          <a:noFill/>
          <a:ln>
            <a:noFill/>
          </a:ln>
        </p:spPr>
      </p:pic>
      <p:pic>
        <p:nvPicPr>
          <p:cNvPr id="1084" name="Google Shape;1084;p77"/>
          <p:cNvPicPr preferRelativeResize="0"/>
          <p:nvPr/>
        </p:nvPicPr>
        <p:blipFill>
          <a:blip r:embed="rId4">
            <a:alphaModFix/>
          </a:blip>
          <a:stretch>
            <a:fillRect/>
          </a:stretch>
        </p:blipFill>
        <p:spPr>
          <a:xfrm>
            <a:off x="7137068" y="1927362"/>
            <a:ext cx="258830" cy="491425"/>
          </a:xfrm>
          <a:prstGeom prst="rect">
            <a:avLst/>
          </a:prstGeom>
          <a:noFill/>
          <a:ln>
            <a:noFill/>
          </a:ln>
        </p:spPr>
      </p:pic>
      <p:pic>
        <p:nvPicPr>
          <p:cNvPr id="1085" name="Google Shape;1085;p77"/>
          <p:cNvPicPr preferRelativeResize="0"/>
          <p:nvPr/>
        </p:nvPicPr>
        <p:blipFill>
          <a:blip r:embed="rId4">
            <a:alphaModFix/>
          </a:blip>
          <a:stretch>
            <a:fillRect/>
          </a:stretch>
        </p:blipFill>
        <p:spPr>
          <a:xfrm>
            <a:off x="6085043" y="2193447"/>
            <a:ext cx="258830" cy="491425"/>
          </a:xfrm>
          <a:prstGeom prst="rect">
            <a:avLst/>
          </a:prstGeom>
          <a:noFill/>
          <a:ln>
            <a:noFill/>
          </a:ln>
        </p:spPr>
      </p:pic>
      <p:pic>
        <p:nvPicPr>
          <p:cNvPr id="1086" name="Google Shape;1086;p77"/>
          <p:cNvPicPr preferRelativeResize="0"/>
          <p:nvPr/>
        </p:nvPicPr>
        <p:blipFill>
          <a:blip r:embed="rId4">
            <a:alphaModFix/>
          </a:blip>
          <a:stretch>
            <a:fillRect/>
          </a:stretch>
        </p:blipFill>
        <p:spPr>
          <a:xfrm>
            <a:off x="6832268" y="3633936"/>
            <a:ext cx="258830" cy="491425"/>
          </a:xfrm>
          <a:prstGeom prst="rect">
            <a:avLst/>
          </a:prstGeom>
          <a:noFill/>
          <a:ln>
            <a:noFill/>
          </a:ln>
        </p:spPr>
      </p:pic>
      <p:pic>
        <p:nvPicPr>
          <p:cNvPr id="1087" name="Google Shape;1087;p77"/>
          <p:cNvPicPr preferRelativeResize="0"/>
          <p:nvPr/>
        </p:nvPicPr>
        <p:blipFill>
          <a:blip r:embed="rId4">
            <a:alphaModFix/>
          </a:blip>
          <a:stretch>
            <a:fillRect/>
          </a:stretch>
        </p:blipFill>
        <p:spPr>
          <a:xfrm>
            <a:off x="6489057" y="3107847"/>
            <a:ext cx="258830" cy="491425"/>
          </a:xfrm>
          <a:prstGeom prst="rect">
            <a:avLst/>
          </a:prstGeom>
          <a:noFill/>
          <a:ln>
            <a:noFill/>
          </a:ln>
        </p:spPr>
      </p:pic>
      <p:pic>
        <p:nvPicPr>
          <p:cNvPr id="1088" name="Google Shape;1088;p77"/>
          <p:cNvPicPr preferRelativeResize="0"/>
          <p:nvPr/>
        </p:nvPicPr>
        <p:blipFill>
          <a:blip r:embed="rId4">
            <a:alphaModFix/>
          </a:blip>
          <a:stretch>
            <a:fillRect/>
          </a:stretch>
        </p:blipFill>
        <p:spPr>
          <a:xfrm>
            <a:off x="7464882" y="2437749"/>
            <a:ext cx="258830" cy="491425"/>
          </a:xfrm>
          <a:prstGeom prst="rect">
            <a:avLst/>
          </a:prstGeom>
          <a:noFill/>
          <a:ln>
            <a:noFill/>
          </a:ln>
        </p:spPr>
      </p:pic>
      <p:pic>
        <p:nvPicPr>
          <p:cNvPr id="1089" name="Google Shape;1089;p77"/>
          <p:cNvPicPr preferRelativeResize="0"/>
          <p:nvPr/>
        </p:nvPicPr>
        <p:blipFill>
          <a:blip r:embed="rId4">
            <a:alphaModFix/>
          </a:blip>
          <a:stretch>
            <a:fillRect/>
          </a:stretch>
        </p:blipFill>
        <p:spPr>
          <a:xfrm>
            <a:off x="7201762" y="3428349"/>
            <a:ext cx="258830" cy="491425"/>
          </a:xfrm>
          <a:prstGeom prst="rect">
            <a:avLst/>
          </a:prstGeom>
          <a:noFill/>
          <a:ln>
            <a:noFill/>
          </a:ln>
        </p:spPr>
      </p:pic>
      <p:pic>
        <p:nvPicPr>
          <p:cNvPr id="1090" name="Google Shape;1090;p77"/>
          <p:cNvPicPr preferRelativeResize="0"/>
          <p:nvPr/>
        </p:nvPicPr>
        <p:blipFill>
          <a:blip r:embed="rId4">
            <a:alphaModFix/>
          </a:blip>
          <a:stretch>
            <a:fillRect/>
          </a:stretch>
        </p:blipFill>
        <p:spPr>
          <a:xfrm>
            <a:off x="6195763" y="2867740"/>
            <a:ext cx="258830" cy="491425"/>
          </a:xfrm>
          <a:prstGeom prst="rect">
            <a:avLst/>
          </a:prstGeom>
          <a:noFill/>
          <a:ln>
            <a:noFill/>
          </a:ln>
        </p:spPr>
      </p:pic>
      <p:pic>
        <p:nvPicPr>
          <p:cNvPr id="1091" name="Google Shape;1091;p77"/>
          <p:cNvPicPr preferRelativeResize="0"/>
          <p:nvPr/>
        </p:nvPicPr>
        <p:blipFill>
          <a:blip r:embed="rId4">
            <a:alphaModFix/>
          </a:blip>
          <a:stretch>
            <a:fillRect/>
          </a:stretch>
        </p:blipFill>
        <p:spPr>
          <a:xfrm>
            <a:off x="7617282" y="1992056"/>
            <a:ext cx="258830" cy="491425"/>
          </a:xfrm>
          <a:prstGeom prst="rect">
            <a:avLst/>
          </a:prstGeom>
          <a:noFill/>
          <a:ln>
            <a:noFill/>
          </a:ln>
        </p:spPr>
      </p:pic>
      <p:pic>
        <p:nvPicPr>
          <p:cNvPr id="1092" name="Google Shape;1092;p77"/>
          <p:cNvPicPr preferRelativeResize="0"/>
          <p:nvPr/>
        </p:nvPicPr>
        <p:blipFill>
          <a:blip r:embed="rId4">
            <a:alphaModFix/>
          </a:blip>
          <a:stretch>
            <a:fillRect/>
          </a:stretch>
        </p:blipFill>
        <p:spPr>
          <a:xfrm>
            <a:off x="7555857" y="3107847"/>
            <a:ext cx="258830" cy="491425"/>
          </a:xfrm>
          <a:prstGeom prst="rect">
            <a:avLst/>
          </a:prstGeom>
          <a:noFill/>
          <a:ln>
            <a:noFill/>
          </a:ln>
        </p:spPr>
      </p:pic>
      <p:pic>
        <p:nvPicPr>
          <p:cNvPr id="1093" name="Google Shape;1093;p77"/>
          <p:cNvPicPr preferRelativeResize="0"/>
          <p:nvPr/>
        </p:nvPicPr>
        <p:blipFill>
          <a:blip r:embed="rId4">
            <a:alphaModFix/>
          </a:blip>
          <a:stretch>
            <a:fillRect/>
          </a:stretch>
        </p:blipFill>
        <p:spPr>
          <a:xfrm>
            <a:off x="7456643" y="1999367"/>
            <a:ext cx="258830" cy="491425"/>
          </a:xfrm>
          <a:prstGeom prst="rect">
            <a:avLst/>
          </a:prstGeom>
          <a:noFill/>
          <a:ln>
            <a:noFill/>
          </a:ln>
        </p:spPr>
      </p:pic>
      <p:pic>
        <p:nvPicPr>
          <p:cNvPr id="1094" name="Google Shape;1094;p77"/>
          <p:cNvPicPr preferRelativeResize="0"/>
          <p:nvPr/>
        </p:nvPicPr>
        <p:blipFill>
          <a:blip r:embed="rId4">
            <a:alphaModFix/>
          </a:blip>
          <a:stretch>
            <a:fillRect/>
          </a:stretch>
        </p:blipFill>
        <p:spPr>
          <a:xfrm>
            <a:off x="7738430" y="2197794"/>
            <a:ext cx="258830" cy="491425"/>
          </a:xfrm>
          <a:prstGeom prst="rect">
            <a:avLst/>
          </a:prstGeom>
          <a:noFill/>
          <a:ln>
            <a:noFill/>
          </a:ln>
        </p:spPr>
      </p:pic>
      <p:pic>
        <p:nvPicPr>
          <p:cNvPr id="1095" name="Google Shape;1095;p77"/>
          <p:cNvPicPr preferRelativeResize="0"/>
          <p:nvPr/>
        </p:nvPicPr>
        <p:blipFill>
          <a:blip r:embed="rId4">
            <a:alphaModFix/>
          </a:blip>
          <a:stretch>
            <a:fillRect/>
          </a:stretch>
        </p:blipFill>
        <p:spPr>
          <a:xfrm>
            <a:off x="6946257" y="3119354"/>
            <a:ext cx="258830" cy="491425"/>
          </a:xfrm>
          <a:prstGeom prst="rect">
            <a:avLst/>
          </a:prstGeom>
          <a:noFill/>
          <a:ln>
            <a:noFill/>
          </a:ln>
        </p:spPr>
      </p:pic>
      <p:pic>
        <p:nvPicPr>
          <p:cNvPr id="1096" name="Google Shape;1096;p77"/>
          <p:cNvPicPr preferRelativeResize="0"/>
          <p:nvPr/>
        </p:nvPicPr>
        <p:blipFill>
          <a:blip r:embed="rId4">
            <a:alphaModFix/>
          </a:blip>
          <a:stretch>
            <a:fillRect/>
          </a:stretch>
        </p:blipFill>
        <p:spPr>
          <a:xfrm>
            <a:off x="6618443" y="3237233"/>
            <a:ext cx="258830" cy="491425"/>
          </a:xfrm>
          <a:prstGeom prst="rect">
            <a:avLst/>
          </a:prstGeom>
          <a:noFill/>
          <a:ln>
            <a:noFill/>
          </a:ln>
        </p:spPr>
      </p:pic>
      <p:pic>
        <p:nvPicPr>
          <p:cNvPr id="1097" name="Google Shape;1097;p77"/>
          <p:cNvPicPr preferRelativeResize="0"/>
          <p:nvPr/>
        </p:nvPicPr>
        <p:blipFill>
          <a:blip r:embed="rId4">
            <a:alphaModFix/>
          </a:blip>
          <a:stretch>
            <a:fillRect/>
          </a:stretch>
        </p:blipFill>
        <p:spPr>
          <a:xfrm>
            <a:off x="5551643" y="2932433"/>
            <a:ext cx="258830" cy="491425"/>
          </a:xfrm>
          <a:prstGeom prst="rect">
            <a:avLst/>
          </a:prstGeom>
          <a:noFill/>
          <a:ln>
            <a:noFill/>
          </a:ln>
        </p:spPr>
      </p:pic>
      <p:pic>
        <p:nvPicPr>
          <p:cNvPr id="1098" name="Google Shape;1098;p77"/>
          <p:cNvPicPr preferRelativeResize="0"/>
          <p:nvPr/>
        </p:nvPicPr>
        <p:blipFill>
          <a:blip r:embed="rId4">
            <a:alphaModFix/>
          </a:blip>
          <a:stretch>
            <a:fillRect/>
          </a:stretch>
        </p:blipFill>
        <p:spPr>
          <a:xfrm>
            <a:off x="5745723" y="2551433"/>
            <a:ext cx="258830" cy="491425"/>
          </a:xfrm>
          <a:prstGeom prst="rect">
            <a:avLst/>
          </a:prstGeom>
          <a:noFill/>
          <a:ln>
            <a:noFill/>
          </a:ln>
        </p:spPr>
      </p:pic>
      <p:pic>
        <p:nvPicPr>
          <p:cNvPr id="1099" name="Google Shape;1099;p77"/>
          <p:cNvPicPr preferRelativeResize="0"/>
          <p:nvPr/>
        </p:nvPicPr>
        <p:blipFill>
          <a:blip r:embed="rId4">
            <a:alphaModFix/>
          </a:blip>
          <a:stretch>
            <a:fillRect/>
          </a:stretch>
        </p:blipFill>
        <p:spPr>
          <a:xfrm>
            <a:off x="8066243" y="2890754"/>
            <a:ext cx="258830" cy="491425"/>
          </a:xfrm>
          <a:prstGeom prst="rect">
            <a:avLst/>
          </a:prstGeom>
          <a:noFill/>
          <a:ln>
            <a:noFill/>
          </a:ln>
        </p:spPr>
      </p:pic>
      <p:pic>
        <p:nvPicPr>
          <p:cNvPr id="1100" name="Google Shape;1100;p77"/>
          <p:cNvPicPr preferRelativeResize="0"/>
          <p:nvPr/>
        </p:nvPicPr>
        <p:blipFill>
          <a:blip r:embed="rId4">
            <a:alphaModFix/>
          </a:blip>
          <a:stretch>
            <a:fillRect/>
          </a:stretch>
        </p:blipFill>
        <p:spPr>
          <a:xfrm>
            <a:off x="6085043" y="3347954"/>
            <a:ext cx="258830" cy="491425"/>
          </a:xfrm>
          <a:prstGeom prst="rect">
            <a:avLst/>
          </a:prstGeom>
          <a:noFill/>
          <a:ln>
            <a:noFill/>
          </a:ln>
        </p:spPr>
      </p:pic>
      <p:pic>
        <p:nvPicPr>
          <p:cNvPr id="1101" name="Google Shape;1101;p77"/>
          <p:cNvPicPr preferRelativeResize="0"/>
          <p:nvPr/>
        </p:nvPicPr>
        <p:blipFill>
          <a:blip r:embed="rId4">
            <a:alphaModFix/>
          </a:blip>
          <a:stretch>
            <a:fillRect/>
          </a:stretch>
        </p:blipFill>
        <p:spPr>
          <a:xfrm>
            <a:off x="6999443" y="2281154"/>
            <a:ext cx="258830" cy="491425"/>
          </a:xfrm>
          <a:prstGeom prst="rect">
            <a:avLst/>
          </a:prstGeom>
          <a:noFill/>
          <a:ln>
            <a:noFill/>
          </a:ln>
        </p:spPr>
      </p:pic>
      <p:pic>
        <p:nvPicPr>
          <p:cNvPr id="1102" name="Google Shape;1102;p77"/>
          <p:cNvPicPr preferRelativeResize="0"/>
          <p:nvPr/>
        </p:nvPicPr>
        <p:blipFill>
          <a:blip r:embed="rId4">
            <a:alphaModFix/>
          </a:blip>
          <a:stretch>
            <a:fillRect/>
          </a:stretch>
        </p:blipFill>
        <p:spPr>
          <a:xfrm>
            <a:off x="7228043" y="2357354"/>
            <a:ext cx="258830" cy="491425"/>
          </a:xfrm>
          <a:prstGeom prst="rect">
            <a:avLst/>
          </a:prstGeom>
          <a:noFill/>
          <a:ln>
            <a:noFill/>
          </a:ln>
        </p:spPr>
      </p:pic>
      <p:pic>
        <p:nvPicPr>
          <p:cNvPr id="1103" name="Google Shape;1103;p77"/>
          <p:cNvPicPr preferRelativeResize="0"/>
          <p:nvPr/>
        </p:nvPicPr>
        <p:blipFill>
          <a:blip r:embed="rId4">
            <a:alphaModFix/>
          </a:blip>
          <a:stretch>
            <a:fillRect/>
          </a:stretch>
        </p:blipFill>
        <p:spPr>
          <a:xfrm>
            <a:off x="7380443" y="3195554"/>
            <a:ext cx="258830" cy="491425"/>
          </a:xfrm>
          <a:prstGeom prst="rect">
            <a:avLst/>
          </a:prstGeom>
          <a:noFill/>
          <a:ln>
            <a:noFill/>
          </a:ln>
        </p:spPr>
      </p:pic>
      <p:pic>
        <p:nvPicPr>
          <p:cNvPr id="1104" name="Google Shape;1104;p77"/>
          <p:cNvPicPr preferRelativeResize="0"/>
          <p:nvPr/>
        </p:nvPicPr>
        <p:blipFill>
          <a:blip r:embed="rId4">
            <a:alphaModFix/>
          </a:blip>
          <a:stretch>
            <a:fillRect/>
          </a:stretch>
        </p:blipFill>
        <p:spPr>
          <a:xfrm>
            <a:off x="6625603" y="2860580"/>
            <a:ext cx="258830" cy="491425"/>
          </a:xfrm>
          <a:prstGeom prst="rect">
            <a:avLst/>
          </a:prstGeom>
          <a:noFill/>
          <a:ln>
            <a:noFill/>
          </a:ln>
        </p:spPr>
      </p:pic>
      <p:pic>
        <p:nvPicPr>
          <p:cNvPr id="1105" name="Google Shape;1105;p77"/>
          <p:cNvPicPr preferRelativeResize="0"/>
          <p:nvPr/>
        </p:nvPicPr>
        <p:blipFill>
          <a:blip r:embed="rId4">
            <a:alphaModFix/>
          </a:blip>
          <a:stretch>
            <a:fillRect/>
          </a:stretch>
        </p:blipFill>
        <p:spPr>
          <a:xfrm>
            <a:off x="7913843" y="2509754"/>
            <a:ext cx="258830" cy="491425"/>
          </a:xfrm>
          <a:prstGeom prst="rect">
            <a:avLst/>
          </a:prstGeom>
          <a:noFill/>
          <a:ln>
            <a:noFill/>
          </a:ln>
        </p:spPr>
      </p:pic>
      <p:pic>
        <p:nvPicPr>
          <p:cNvPr id="1106" name="Google Shape;1106;p77"/>
          <p:cNvPicPr preferRelativeResize="0"/>
          <p:nvPr/>
        </p:nvPicPr>
        <p:blipFill>
          <a:blip r:embed="rId4">
            <a:alphaModFix/>
          </a:blip>
          <a:stretch>
            <a:fillRect/>
          </a:stretch>
        </p:blipFill>
        <p:spPr>
          <a:xfrm>
            <a:off x="7913843" y="3195554"/>
            <a:ext cx="258830" cy="491425"/>
          </a:xfrm>
          <a:prstGeom prst="rect">
            <a:avLst/>
          </a:prstGeom>
          <a:noFill/>
          <a:ln>
            <a:noFill/>
          </a:ln>
        </p:spPr>
      </p:pic>
      <p:pic>
        <p:nvPicPr>
          <p:cNvPr id="1107" name="Google Shape;1107;p77"/>
          <p:cNvPicPr preferRelativeResize="0"/>
          <p:nvPr/>
        </p:nvPicPr>
        <p:blipFill>
          <a:blip r:embed="rId4">
            <a:alphaModFix/>
          </a:blip>
          <a:stretch>
            <a:fillRect/>
          </a:stretch>
        </p:blipFill>
        <p:spPr>
          <a:xfrm>
            <a:off x="8214296" y="3107847"/>
            <a:ext cx="258830" cy="491425"/>
          </a:xfrm>
          <a:prstGeom prst="rect">
            <a:avLst/>
          </a:prstGeom>
          <a:noFill/>
          <a:ln>
            <a:noFill/>
          </a:ln>
        </p:spPr>
      </p:pic>
      <p:sp>
        <p:nvSpPr>
          <p:cNvPr id="1108" name="Google Shape;1108;p77"/>
          <p:cNvSpPr txBox="1"/>
          <p:nvPr>
            <p:ph idx="1" type="body"/>
          </p:nvPr>
        </p:nvSpPr>
        <p:spPr>
          <a:xfrm>
            <a:off x="324000" y="2313375"/>
            <a:ext cx="3227700" cy="36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Can you see a problem?</a:t>
            </a:r>
            <a:endParaRPr baseline="30000" sz="2000"/>
          </a:p>
        </p:txBody>
      </p:sp>
      <p:sp>
        <p:nvSpPr>
          <p:cNvPr id="1109" name="Google Shape;1109;p77"/>
          <p:cNvSpPr txBox="1"/>
          <p:nvPr>
            <p:ph idx="1" type="body"/>
          </p:nvPr>
        </p:nvSpPr>
        <p:spPr>
          <a:xfrm>
            <a:off x="324000" y="2770575"/>
            <a:ext cx="4500000" cy="204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island will run out of space. The waters will run out of food locally. When </a:t>
            </a:r>
            <a:r>
              <a:rPr lang="en-GB" sz="2000">
                <a:latin typeface="Kalam"/>
                <a:ea typeface="Kalam"/>
                <a:cs typeface="Kalam"/>
                <a:sym typeface="Kalam"/>
              </a:rPr>
              <a:t>penguins</a:t>
            </a:r>
            <a:r>
              <a:rPr lang="en-GB" sz="2000">
                <a:latin typeface="Kalam"/>
                <a:ea typeface="Kalam"/>
                <a:cs typeface="Kalam"/>
                <a:sym typeface="Kalam"/>
              </a:rPr>
              <a:t> have to swim further for food they spend more time in the water with their predators. This will naturally limit the population on this island.</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pic>
        <p:nvPicPr>
          <p:cNvPr descr="&lt;math xmlns=&quot;http://www.w3.org/1998/Math/MathML&quot; data-is-equatio=&quot;1&quot; data-equatio-url=&quot;https://equatio-api.texthelp.com/desmos/get/15-01-2024/07cb902b-cf8c-4bdc-991c-a1c5daac7f86&quot; data-equatio-type=&quot;desmos&quot;&gt;&lt;mglyph src=&quot;https://equatio-api.texthelp.com/desmos/get/15-01-2024/07cb902b-cf8c-4bdc-991c-a1c5daac7f86&quot; alt=&quot;Equatio Desmos Graph&quot;/&gt;&lt;/math&gt;" id="1114" name="Google Shape;1114;p78" title="Equatio Desmos Graph"/>
          <p:cNvPicPr preferRelativeResize="0"/>
          <p:nvPr/>
        </p:nvPicPr>
        <p:blipFill rotWithShape="1">
          <a:blip r:embed="rId3">
            <a:alphaModFix/>
          </a:blip>
          <a:srcRect b="9387" l="5863" r="62761" t="5040"/>
          <a:stretch/>
        </p:blipFill>
        <p:spPr>
          <a:xfrm>
            <a:off x="6528388" y="1051079"/>
            <a:ext cx="1716122" cy="3510406"/>
          </a:xfrm>
          <a:prstGeom prst="rect">
            <a:avLst/>
          </a:prstGeom>
          <a:noFill/>
          <a:ln>
            <a:noFill/>
          </a:ln>
        </p:spPr>
      </p:pic>
      <p:graphicFrame>
        <p:nvGraphicFramePr>
          <p:cNvPr id="1115" name="Google Shape;1115;p78"/>
          <p:cNvGraphicFramePr/>
          <p:nvPr/>
        </p:nvGraphicFramePr>
        <p:xfrm>
          <a:off x="491137" y="2316557"/>
          <a:ext cx="3000000" cy="3000000"/>
        </p:xfrm>
        <a:graphic>
          <a:graphicData uri="http://schemas.openxmlformats.org/drawingml/2006/table">
            <a:tbl>
              <a:tblPr>
                <a:noFill/>
                <a:tableStyleId>{3914FA16-2915-4FED-858D-4356F43125AB}</a:tableStyleId>
              </a:tblPr>
              <a:tblGrid>
                <a:gridCol w="1301250"/>
                <a:gridCol w="1301250"/>
              </a:tblGrid>
              <a:tr h="2642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Decade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Pop </a:t>
                      </a:r>
                      <a:r>
                        <a:rPr lang="en-GB" sz="1800">
                          <a:solidFill>
                            <a:srgbClr val="FFFFFF"/>
                          </a:solidFill>
                          <a:latin typeface="Times New Roman"/>
                          <a:ea typeface="Times New Roman"/>
                          <a:cs typeface="Times New Roman"/>
                          <a:sym typeface="Times New Roman"/>
                        </a:rPr>
                        <a:t>(000’s)</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642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64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16" name="Google Shape;1116;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sp>
        <p:nvSpPr>
          <p:cNvPr id="1117" name="Google Shape;1117;p78"/>
          <p:cNvSpPr txBox="1"/>
          <p:nvPr>
            <p:ph idx="1" type="body"/>
          </p:nvPr>
        </p:nvSpPr>
        <p:spPr>
          <a:xfrm>
            <a:off x="324000" y="759300"/>
            <a:ext cx="4949100" cy="78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geometric sequence can be graphed, and this growth model might be accurate to a point…</a:t>
            </a:r>
            <a:endParaRPr sz="2000"/>
          </a:p>
        </p:txBody>
      </p:sp>
      <p:sp>
        <p:nvSpPr>
          <p:cNvPr id="1118" name="Google Shape;1118;p78"/>
          <p:cNvSpPr txBox="1"/>
          <p:nvPr/>
        </p:nvSpPr>
        <p:spPr>
          <a:xfrm>
            <a:off x="7387587" y="4569300"/>
            <a:ext cx="9279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Decade</a:t>
            </a:r>
            <a:endParaRPr sz="2000">
              <a:solidFill>
                <a:srgbClr val="000000"/>
              </a:solidFill>
              <a:latin typeface="Times New Roman"/>
              <a:ea typeface="Times New Roman"/>
              <a:cs typeface="Times New Roman"/>
              <a:sym typeface="Times New Roman"/>
            </a:endParaRPr>
          </a:p>
        </p:txBody>
      </p:sp>
      <p:sp>
        <p:nvSpPr>
          <p:cNvPr id="1119" name="Google Shape;1119;p78"/>
          <p:cNvSpPr txBox="1"/>
          <p:nvPr/>
        </p:nvSpPr>
        <p:spPr>
          <a:xfrm rot="-5400000">
            <a:off x="5528613" y="2839713"/>
            <a:ext cx="15660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Pop</a:t>
            </a:r>
            <a:r>
              <a:rPr lang="en-GB" sz="1800">
                <a:solidFill>
                  <a:srgbClr val="000000"/>
                </a:solidFill>
                <a:latin typeface="Lexend"/>
                <a:ea typeface="Lexend"/>
                <a:cs typeface="Lexend"/>
                <a:sym typeface="Lexend"/>
              </a:rPr>
              <a:t> </a:t>
            </a:r>
            <a:r>
              <a:rPr lang="en-GB" sz="1800">
                <a:solidFill>
                  <a:srgbClr val="000000"/>
                </a:solidFill>
                <a:latin typeface="Times New Roman"/>
                <a:ea typeface="Times New Roman"/>
                <a:cs typeface="Times New Roman"/>
                <a:sym typeface="Times New Roman"/>
              </a:rPr>
              <a:t>(</a:t>
            </a:r>
            <a:r>
              <a:rPr lang="en-GB" sz="2000">
                <a:latin typeface="Times New Roman"/>
                <a:ea typeface="Times New Roman"/>
                <a:cs typeface="Times New Roman"/>
                <a:sym typeface="Times New Roman"/>
              </a:rPr>
              <a:t>000’s</a:t>
            </a:r>
            <a:r>
              <a:rPr lang="en-GB" sz="1800">
                <a:solidFill>
                  <a:srgbClr val="000000"/>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sp>
        <p:nvSpPr>
          <p:cNvPr id="1120" name="Google Shape;1120;p78"/>
          <p:cNvSpPr txBox="1"/>
          <p:nvPr>
            <p:ph idx="1" type="body"/>
          </p:nvPr>
        </p:nvSpPr>
        <p:spPr>
          <a:xfrm>
            <a:off x="3360493" y="1982852"/>
            <a:ext cx="25632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But, there would be a natural limit.</a:t>
            </a:r>
            <a:endParaRPr sz="2000"/>
          </a:p>
        </p:txBody>
      </p:sp>
      <p:pic>
        <p:nvPicPr>
          <p:cNvPr descr="&lt;math xmlns=&quot;http://www.w3.org/1998/Math/MathML&quot; data-is-equatio=&quot;1&quot; data-equatio-url=&quot;https://equatio-api.texthelp.com/desmos/get/15-01-2024/735dbf37-cde1-496d-858e-3cdb5a3b2298&quot; data-equatio-type=&quot;desmos&quot;&gt;&lt;mglyph src=&quot;https://equatio-api.texthelp.com/desmos/get/15-01-2024/735dbf37-cde1-496d-858e-3cdb5a3b2298&quot; alt=&quot;Equatio Desmos Graph&quot;/&gt;&lt;/math&gt;" id="1121" name="Google Shape;1121;p78" title="Equatio Desmos Graph"/>
          <p:cNvPicPr preferRelativeResize="0"/>
          <p:nvPr/>
        </p:nvPicPr>
        <p:blipFill rotWithShape="1">
          <a:blip r:embed="rId4">
            <a:alphaModFix/>
          </a:blip>
          <a:srcRect b="8455" l="5864" r="63431" t="4558"/>
          <a:stretch/>
        </p:blipFill>
        <p:spPr>
          <a:xfrm>
            <a:off x="6528400" y="1015350"/>
            <a:ext cx="1716100" cy="3581858"/>
          </a:xfrm>
          <a:prstGeom prst="rect">
            <a:avLst/>
          </a:prstGeom>
          <a:noFill/>
          <a:ln>
            <a:noFill/>
          </a:ln>
        </p:spPr>
      </p:pic>
      <p:cxnSp>
        <p:nvCxnSpPr>
          <p:cNvPr id="1122" name="Google Shape;1122;p78"/>
          <p:cNvCxnSpPr/>
          <p:nvPr/>
        </p:nvCxnSpPr>
        <p:spPr>
          <a:xfrm flipH="1" rot="10800000">
            <a:off x="6560468" y="2355044"/>
            <a:ext cx="1683900" cy="8400"/>
          </a:xfrm>
          <a:prstGeom prst="straightConnector1">
            <a:avLst/>
          </a:prstGeom>
          <a:noFill/>
          <a:ln cap="flat" cmpd="sng" w="38100">
            <a:solidFill>
              <a:schemeClr val="accent4"/>
            </a:solidFill>
            <a:prstDash val="solid"/>
            <a:round/>
            <a:headEnd len="med" w="med" type="none"/>
            <a:tailEnd len="med" w="med" type="none"/>
          </a:ln>
        </p:spPr>
      </p:cxnSp>
      <p:sp>
        <p:nvSpPr>
          <p:cNvPr id="1123" name="Google Shape;1123;p78"/>
          <p:cNvSpPr txBox="1"/>
          <p:nvPr>
            <p:ph idx="1" type="body"/>
          </p:nvPr>
        </p:nvSpPr>
        <p:spPr>
          <a:xfrm>
            <a:off x="3360500" y="2897250"/>
            <a:ext cx="24138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Growth cannot be endless; the line would flatten out somewhere.</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79"/>
          <p:cNvSpPr txBox="1"/>
          <p:nvPr>
            <p:ph idx="1" type="body"/>
          </p:nvPr>
        </p:nvSpPr>
        <p:spPr>
          <a:xfrm>
            <a:off x="324000" y="759300"/>
            <a:ext cx="8079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the sun comes out in the Spring flowers grow very quickly.</a:t>
            </a:r>
            <a:endParaRPr sz="2000"/>
          </a:p>
        </p:txBody>
      </p:sp>
      <p:sp>
        <p:nvSpPr>
          <p:cNvPr id="1129" name="Google Shape;1129;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Problem solving with geometric sequences</a:t>
            </a:r>
            <a:endParaRPr/>
          </a:p>
        </p:txBody>
      </p:sp>
      <p:graphicFrame>
        <p:nvGraphicFramePr>
          <p:cNvPr id="1130" name="Google Shape;1130;p79"/>
          <p:cNvGraphicFramePr/>
          <p:nvPr/>
        </p:nvGraphicFramePr>
        <p:xfrm>
          <a:off x="491137" y="1554557"/>
          <a:ext cx="3000000" cy="3000000"/>
        </p:xfrm>
        <a:graphic>
          <a:graphicData uri="http://schemas.openxmlformats.org/drawingml/2006/table">
            <a:tbl>
              <a:tblPr>
                <a:noFill/>
                <a:tableStyleId>{3914FA16-2915-4FED-858D-4356F43125AB}</a:tableStyleId>
              </a:tblPr>
              <a:tblGrid>
                <a:gridCol w="1301250"/>
                <a:gridCol w="13012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Week</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Height</a:t>
                      </a:r>
                      <a:r>
                        <a:rPr lang="en-GB" sz="1800">
                          <a:solidFill>
                            <a:srgbClr val="FFFFFF"/>
                          </a:solidFill>
                          <a:latin typeface="Lexend"/>
                          <a:ea typeface="Lexend"/>
                          <a:cs typeface="Lexend"/>
                          <a:sym typeface="Lexend"/>
                        </a:rPr>
                        <a:t> </a:t>
                      </a:r>
                      <a:r>
                        <a:rPr lang="en-GB" sz="1800">
                          <a:solidFill>
                            <a:srgbClr val="FFFFFF"/>
                          </a:solidFill>
                          <a:latin typeface="Times New Roman"/>
                          <a:ea typeface="Times New Roman"/>
                          <a:cs typeface="Times New Roman"/>
                          <a:sym typeface="Times New Roman"/>
                        </a:rPr>
                        <a:t>(cm)</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1131" name="Google Shape;1131;p79"/>
          <p:cNvPicPr preferRelativeResize="0"/>
          <p:nvPr/>
        </p:nvPicPr>
        <p:blipFill>
          <a:blip r:embed="rId3">
            <a:alphaModFix/>
          </a:blip>
          <a:stretch>
            <a:fillRect/>
          </a:stretch>
        </p:blipFill>
        <p:spPr>
          <a:xfrm>
            <a:off x="3366066" y="1270018"/>
            <a:ext cx="501921" cy="996050"/>
          </a:xfrm>
          <a:prstGeom prst="rect">
            <a:avLst/>
          </a:prstGeom>
          <a:noFill/>
          <a:ln>
            <a:noFill/>
          </a:ln>
        </p:spPr>
      </p:pic>
      <p:sp>
        <p:nvSpPr>
          <p:cNvPr id="1132" name="Google Shape;1132;p79"/>
          <p:cNvSpPr/>
          <p:nvPr/>
        </p:nvSpPr>
        <p:spPr>
          <a:xfrm>
            <a:off x="3362341" y="1900800"/>
            <a:ext cx="501900" cy="3768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3" name="Google Shape;1133;p79"/>
          <p:cNvSpPr txBox="1"/>
          <p:nvPr>
            <p:ph idx="1" type="body"/>
          </p:nvPr>
        </p:nvSpPr>
        <p:spPr>
          <a:xfrm>
            <a:off x="4316575" y="1292700"/>
            <a:ext cx="3948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flower’s height is following a geometric pattern.</a:t>
            </a:r>
            <a:endParaRPr sz="2000"/>
          </a:p>
        </p:txBody>
      </p:sp>
      <p:sp>
        <p:nvSpPr>
          <p:cNvPr id="1134" name="Google Shape;1134;p79"/>
          <p:cNvSpPr txBox="1"/>
          <p:nvPr>
            <p:ph idx="1" type="body"/>
          </p:nvPr>
        </p:nvSpPr>
        <p:spPr>
          <a:xfrm>
            <a:off x="4316575" y="2207100"/>
            <a:ext cx="4247700" cy="149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What could we assume the flower’s height will be next week?</a:t>
            </a:r>
            <a:endParaRPr sz="2000"/>
          </a:p>
          <a:p>
            <a:pPr indent="0" lvl="0" marL="0" rtl="0" algn="l">
              <a:spcBef>
                <a:spcPts val="1000"/>
              </a:spcBef>
              <a:spcAft>
                <a:spcPts val="1000"/>
              </a:spcAft>
              <a:buNone/>
            </a:pPr>
            <a:r>
              <a:rPr lang="en-GB" sz="2000"/>
              <a:t>What problems do you foresee with this growth model?</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80"/>
          <p:cNvSpPr txBox="1"/>
          <p:nvPr>
            <p:ph idx="1" type="body"/>
          </p:nvPr>
        </p:nvSpPr>
        <p:spPr>
          <a:xfrm>
            <a:off x="324000" y="759300"/>
            <a:ext cx="8079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the sun comes out in the Spring flowers grow very quickly.</a:t>
            </a:r>
            <a:endParaRPr sz="2000"/>
          </a:p>
        </p:txBody>
      </p:sp>
      <p:sp>
        <p:nvSpPr>
          <p:cNvPr id="1140" name="Google Shape;114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graphicFrame>
        <p:nvGraphicFramePr>
          <p:cNvPr id="1141" name="Google Shape;1141;p80"/>
          <p:cNvGraphicFramePr/>
          <p:nvPr/>
        </p:nvGraphicFramePr>
        <p:xfrm>
          <a:off x="491137" y="1554557"/>
          <a:ext cx="3000000" cy="3000000"/>
        </p:xfrm>
        <a:graphic>
          <a:graphicData uri="http://schemas.openxmlformats.org/drawingml/2006/table">
            <a:tbl>
              <a:tblPr>
                <a:noFill/>
                <a:tableStyleId>{3914FA16-2915-4FED-858D-4356F43125AB}</a:tableStyleId>
              </a:tblPr>
              <a:tblGrid>
                <a:gridCol w="1301250"/>
                <a:gridCol w="13012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Week</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Height </a:t>
                      </a:r>
                      <a:r>
                        <a:rPr lang="en-GB" sz="1800">
                          <a:solidFill>
                            <a:srgbClr val="FFFFFF"/>
                          </a:solidFill>
                          <a:latin typeface="Times New Roman"/>
                          <a:ea typeface="Times New Roman"/>
                          <a:cs typeface="Times New Roman"/>
                          <a:sym typeface="Times New Roman"/>
                        </a:rPr>
                        <a:t>(cm)</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1142" name="Google Shape;1142;p80"/>
          <p:cNvPicPr preferRelativeResize="0"/>
          <p:nvPr/>
        </p:nvPicPr>
        <p:blipFill>
          <a:blip r:embed="rId3">
            <a:alphaModFix/>
          </a:blip>
          <a:stretch>
            <a:fillRect/>
          </a:stretch>
        </p:blipFill>
        <p:spPr>
          <a:xfrm>
            <a:off x="3366066" y="1270018"/>
            <a:ext cx="501921" cy="996050"/>
          </a:xfrm>
          <a:prstGeom prst="rect">
            <a:avLst/>
          </a:prstGeom>
          <a:noFill/>
          <a:ln>
            <a:noFill/>
          </a:ln>
        </p:spPr>
      </p:pic>
      <p:sp>
        <p:nvSpPr>
          <p:cNvPr id="1143" name="Google Shape;1143;p80"/>
          <p:cNvSpPr/>
          <p:nvPr/>
        </p:nvSpPr>
        <p:spPr>
          <a:xfrm>
            <a:off x="3362341" y="1900800"/>
            <a:ext cx="501900" cy="3768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4" name="Google Shape;1144;p80"/>
          <p:cNvSpPr txBox="1"/>
          <p:nvPr>
            <p:ph idx="1" type="body"/>
          </p:nvPr>
        </p:nvSpPr>
        <p:spPr>
          <a:xfrm>
            <a:off x="4316575" y="1292700"/>
            <a:ext cx="3948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flower’s height is following a geometric pattern.</a:t>
            </a:r>
            <a:endParaRPr sz="2000"/>
          </a:p>
        </p:txBody>
      </p:sp>
      <p:sp>
        <p:nvSpPr>
          <p:cNvPr id="1145" name="Google Shape;1145;p80"/>
          <p:cNvSpPr/>
          <p:nvPr/>
        </p:nvSpPr>
        <p:spPr>
          <a:xfrm rot="5400000">
            <a:off x="2964375" y="2024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46" name="Google Shape;1146;p80"/>
          <p:cNvSpPr txBox="1"/>
          <p:nvPr/>
        </p:nvSpPr>
        <p:spPr>
          <a:xfrm>
            <a:off x="3361222" y="2043302"/>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sp>
        <p:nvSpPr>
          <p:cNvPr id="1147" name="Google Shape;1147;p80"/>
          <p:cNvSpPr/>
          <p:nvPr/>
        </p:nvSpPr>
        <p:spPr>
          <a:xfrm rot="5400000">
            <a:off x="2964375" y="2405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48" name="Google Shape;1148;p80"/>
          <p:cNvSpPr txBox="1"/>
          <p:nvPr/>
        </p:nvSpPr>
        <p:spPr>
          <a:xfrm>
            <a:off x="3361222" y="2435809"/>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sp>
        <p:nvSpPr>
          <p:cNvPr id="1149" name="Google Shape;1149;p80"/>
          <p:cNvSpPr/>
          <p:nvPr/>
        </p:nvSpPr>
        <p:spPr>
          <a:xfrm rot="5400000">
            <a:off x="2964375" y="2786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50" name="Google Shape;1150;p80"/>
          <p:cNvSpPr txBox="1"/>
          <p:nvPr/>
        </p:nvSpPr>
        <p:spPr>
          <a:xfrm>
            <a:off x="3361222" y="2816809"/>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graphicFrame>
        <p:nvGraphicFramePr>
          <p:cNvPr id="1151" name="Google Shape;1151;p80"/>
          <p:cNvGraphicFramePr/>
          <p:nvPr/>
        </p:nvGraphicFramePr>
        <p:xfrm>
          <a:off x="491137" y="1554557"/>
          <a:ext cx="3000000" cy="3000000"/>
        </p:xfrm>
        <a:graphic>
          <a:graphicData uri="http://schemas.openxmlformats.org/drawingml/2006/table">
            <a:tbl>
              <a:tblPr>
                <a:noFill/>
                <a:tableStyleId>{3914FA16-2915-4FED-858D-4356F43125AB}</a:tableStyleId>
              </a:tblPr>
              <a:tblGrid>
                <a:gridCol w="1301250"/>
                <a:gridCol w="13012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Week</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Height </a:t>
                      </a:r>
                      <a:r>
                        <a:rPr lang="en-GB" sz="1800">
                          <a:solidFill>
                            <a:srgbClr val="FFFFFF"/>
                          </a:solidFill>
                          <a:latin typeface="Times New Roman"/>
                          <a:ea typeface="Times New Roman"/>
                          <a:cs typeface="Times New Roman"/>
                          <a:sym typeface="Times New Roman"/>
                        </a:rPr>
                        <a:t>(cm)</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27</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52" name="Google Shape;1152;p80"/>
          <p:cNvSpPr txBox="1"/>
          <p:nvPr>
            <p:ph idx="1" type="body"/>
          </p:nvPr>
        </p:nvSpPr>
        <p:spPr>
          <a:xfrm>
            <a:off x="4316575" y="2207100"/>
            <a:ext cx="4247700" cy="149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What could we assume the flower’s height will be next week?</a:t>
            </a:r>
            <a:endParaRPr sz="2000"/>
          </a:p>
          <a:p>
            <a:pPr indent="0" lvl="0" marL="0" rtl="0" algn="l">
              <a:spcBef>
                <a:spcPts val="1000"/>
              </a:spcBef>
              <a:spcAft>
                <a:spcPts val="1000"/>
              </a:spcAft>
              <a:buNone/>
            </a:pPr>
            <a:r>
              <a:rPr lang="en-GB" sz="2000"/>
              <a:t>What problems do you foresee with this growth model?</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81"/>
          <p:cNvSpPr txBox="1"/>
          <p:nvPr>
            <p:ph idx="1" type="body"/>
          </p:nvPr>
        </p:nvSpPr>
        <p:spPr>
          <a:xfrm>
            <a:off x="324000" y="759300"/>
            <a:ext cx="8079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the sun comes out in the Spring flowers grow very quickly.</a:t>
            </a:r>
            <a:endParaRPr sz="2000"/>
          </a:p>
        </p:txBody>
      </p:sp>
      <p:sp>
        <p:nvSpPr>
          <p:cNvPr id="1158" name="Google Shape;1158;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graphicFrame>
        <p:nvGraphicFramePr>
          <p:cNvPr id="1159" name="Google Shape;1159;p81"/>
          <p:cNvGraphicFramePr/>
          <p:nvPr/>
        </p:nvGraphicFramePr>
        <p:xfrm>
          <a:off x="491137" y="1554557"/>
          <a:ext cx="3000000" cy="3000000"/>
        </p:xfrm>
        <a:graphic>
          <a:graphicData uri="http://schemas.openxmlformats.org/drawingml/2006/table">
            <a:tbl>
              <a:tblPr>
                <a:noFill/>
                <a:tableStyleId>{3914FA16-2915-4FED-858D-4356F43125AB}</a:tableStyleId>
              </a:tblPr>
              <a:tblGrid>
                <a:gridCol w="1301250"/>
                <a:gridCol w="13012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Week</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Height </a:t>
                      </a:r>
                      <a:r>
                        <a:rPr lang="en-GB" sz="1800">
                          <a:solidFill>
                            <a:srgbClr val="FFFFFF"/>
                          </a:solidFill>
                          <a:latin typeface="Times New Roman"/>
                          <a:ea typeface="Times New Roman"/>
                          <a:cs typeface="Times New Roman"/>
                          <a:sym typeface="Times New Roman"/>
                        </a:rPr>
                        <a:t>(cm)</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27</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243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7</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729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8</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2187</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1160" name="Google Shape;1160;p81"/>
          <p:cNvPicPr preferRelativeResize="0"/>
          <p:nvPr/>
        </p:nvPicPr>
        <p:blipFill>
          <a:blip r:embed="rId3">
            <a:alphaModFix/>
          </a:blip>
          <a:stretch>
            <a:fillRect/>
          </a:stretch>
        </p:blipFill>
        <p:spPr>
          <a:xfrm>
            <a:off x="3366066" y="1270018"/>
            <a:ext cx="501921" cy="996050"/>
          </a:xfrm>
          <a:prstGeom prst="rect">
            <a:avLst/>
          </a:prstGeom>
          <a:noFill/>
          <a:ln>
            <a:noFill/>
          </a:ln>
        </p:spPr>
      </p:pic>
      <p:sp>
        <p:nvSpPr>
          <p:cNvPr id="1161" name="Google Shape;1161;p81"/>
          <p:cNvSpPr/>
          <p:nvPr/>
        </p:nvSpPr>
        <p:spPr>
          <a:xfrm>
            <a:off x="3362341" y="1900800"/>
            <a:ext cx="501900" cy="376800"/>
          </a:xfrm>
          <a:prstGeom prst="rect">
            <a:avLst/>
          </a:prstGeom>
          <a:solidFill>
            <a:srgbClr val="F2EEFA"/>
          </a:solidFill>
          <a:ln cap="flat" cmpd="sng" w="9525">
            <a:solidFill>
              <a:srgbClr val="F2EE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81"/>
          <p:cNvSpPr txBox="1"/>
          <p:nvPr>
            <p:ph idx="1" type="body"/>
          </p:nvPr>
        </p:nvSpPr>
        <p:spPr>
          <a:xfrm>
            <a:off x="4316575" y="1292700"/>
            <a:ext cx="3948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flower’s height is following a geometric pattern.</a:t>
            </a:r>
            <a:endParaRPr sz="2000"/>
          </a:p>
        </p:txBody>
      </p:sp>
      <p:sp>
        <p:nvSpPr>
          <p:cNvPr id="1163" name="Google Shape;1163;p81"/>
          <p:cNvSpPr/>
          <p:nvPr/>
        </p:nvSpPr>
        <p:spPr>
          <a:xfrm rot="5400000">
            <a:off x="2964375" y="2024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64" name="Google Shape;1164;p81"/>
          <p:cNvSpPr txBox="1"/>
          <p:nvPr/>
        </p:nvSpPr>
        <p:spPr>
          <a:xfrm>
            <a:off x="3361222" y="2043302"/>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sp>
        <p:nvSpPr>
          <p:cNvPr id="1165" name="Google Shape;1165;p81"/>
          <p:cNvSpPr/>
          <p:nvPr/>
        </p:nvSpPr>
        <p:spPr>
          <a:xfrm rot="5400000">
            <a:off x="2964375" y="2405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66" name="Google Shape;1166;p81"/>
          <p:cNvSpPr txBox="1"/>
          <p:nvPr/>
        </p:nvSpPr>
        <p:spPr>
          <a:xfrm>
            <a:off x="3361222" y="2435809"/>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sp>
        <p:nvSpPr>
          <p:cNvPr id="1167" name="Google Shape;1167;p81"/>
          <p:cNvSpPr/>
          <p:nvPr/>
        </p:nvSpPr>
        <p:spPr>
          <a:xfrm rot="5400000">
            <a:off x="2964375" y="2786950"/>
            <a:ext cx="3534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68" name="Google Shape;1168;p81"/>
          <p:cNvSpPr txBox="1"/>
          <p:nvPr/>
        </p:nvSpPr>
        <p:spPr>
          <a:xfrm>
            <a:off x="3361222" y="2816809"/>
            <a:ext cx="305400" cy="32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×3</a:t>
            </a:r>
            <a:endParaRPr sz="2000">
              <a:solidFill>
                <a:schemeClr val="accent4"/>
              </a:solidFill>
              <a:latin typeface="Times New Roman"/>
              <a:ea typeface="Times New Roman"/>
              <a:cs typeface="Times New Roman"/>
              <a:sym typeface="Times New Roman"/>
            </a:endParaRPr>
          </a:p>
        </p:txBody>
      </p:sp>
      <p:sp>
        <p:nvSpPr>
          <p:cNvPr id="1169" name="Google Shape;1169;p81"/>
          <p:cNvSpPr txBox="1"/>
          <p:nvPr>
            <p:ph idx="1" type="body"/>
          </p:nvPr>
        </p:nvSpPr>
        <p:spPr>
          <a:xfrm>
            <a:off x="4320924" y="3772677"/>
            <a:ext cx="3948300" cy="43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Growth is not usually endless. This model will have a natural limit.</a:t>
            </a:r>
            <a:endParaRPr sz="2000">
              <a:latin typeface="Kalam"/>
              <a:ea typeface="Kalam"/>
              <a:cs typeface="Kalam"/>
              <a:sym typeface="Kalam"/>
            </a:endParaRPr>
          </a:p>
        </p:txBody>
      </p:sp>
      <p:sp>
        <p:nvSpPr>
          <p:cNvPr id="1170" name="Google Shape;1170;p81"/>
          <p:cNvSpPr txBox="1"/>
          <p:nvPr>
            <p:ph idx="1" type="body"/>
          </p:nvPr>
        </p:nvSpPr>
        <p:spPr>
          <a:xfrm>
            <a:off x="4316575" y="2207100"/>
            <a:ext cx="4247700" cy="149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What could we assume the flower’s height will be next week?</a:t>
            </a:r>
            <a:endParaRPr sz="2000"/>
          </a:p>
          <a:p>
            <a:pPr indent="0" lvl="0" marL="0" rtl="0" algn="l">
              <a:spcBef>
                <a:spcPts val="1000"/>
              </a:spcBef>
              <a:spcAft>
                <a:spcPts val="1000"/>
              </a:spcAft>
              <a:buNone/>
            </a:pPr>
            <a:r>
              <a:rPr lang="en-GB" sz="2000"/>
              <a:t>What problems do you foresee with this growth model?</a:t>
            </a:r>
            <a:endParaRPr sz="2000"/>
          </a:p>
        </p:txBody>
      </p:sp>
      <p:graphicFrame>
        <p:nvGraphicFramePr>
          <p:cNvPr id="1171" name="Google Shape;1171;p81"/>
          <p:cNvGraphicFramePr/>
          <p:nvPr/>
        </p:nvGraphicFramePr>
        <p:xfrm>
          <a:off x="491137" y="1554557"/>
          <a:ext cx="3000000" cy="3000000"/>
        </p:xfrm>
        <a:graphic>
          <a:graphicData uri="http://schemas.openxmlformats.org/drawingml/2006/table">
            <a:tbl>
              <a:tblPr>
                <a:noFill/>
                <a:tableStyleId>{3914FA16-2915-4FED-858D-4356F43125AB}</a:tableStyleId>
              </a:tblPr>
              <a:tblGrid>
                <a:gridCol w="1301250"/>
                <a:gridCol w="13012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Week</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Height </a:t>
                      </a:r>
                      <a:r>
                        <a:rPr lang="en-GB" sz="1800">
                          <a:solidFill>
                            <a:srgbClr val="FFFFFF"/>
                          </a:solidFill>
                          <a:latin typeface="Times New Roman"/>
                          <a:ea typeface="Times New Roman"/>
                          <a:cs typeface="Times New Roman"/>
                          <a:sym typeface="Times New Roman"/>
                        </a:rPr>
                        <a:t>(cm)</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3</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9</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4</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27</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72" name="Google Shape;1172;p81"/>
          <p:cNvSpPr txBox="1"/>
          <p:nvPr>
            <p:ph idx="1" type="body"/>
          </p:nvPr>
        </p:nvSpPr>
        <p:spPr>
          <a:xfrm>
            <a:off x="4320925" y="4511650"/>
            <a:ext cx="4823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Most flowers don’t grow to 20 m tall!</a:t>
            </a:r>
            <a:endParaRPr sz="2000">
              <a:latin typeface="Kalam"/>
              <a:ea typeface="Kalam"/>
              <a:cs typeface="Kalam"/>
              <a:sym typeface="Kalam"/>
            </a:endParaRPr>
          </a:p>
        </p:txBody>
      </p:sp>
      <p:sp>
        <p:nvSpPr>
          <p:cNvPr id="1173" name="Google Shape;1173;p81"/>
          <p:cNvSpPr/>
          <p:nvPr/>
        </p:nvSpPr>
        <p:spPr>
          <a:xfrm>
            <a:off x="2048271" y="4232968"/>
            <a:ext cx="816000" cy="393900"/>
          </a:xfrm>
          <a:prstGeom prst="ellipse">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82"/>
          <p:cNvSpPr txBox="1"/>
          <p:nvPr>
            <p:ph idx="4294967295" type="body"/>
          </p:nvPr>
        </p:nvSpPr>
        <p:spPr>
          <a:xfrm>
            <a:off x="324000" y="759300"/>
            <a:ext cx="8447100" cy="110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Passing information is </a:t>
            </a:r>
            <a:r>
              <a:rPr lang="en-GB" sz="1800"/>
              <a:t>another</a:t>
            </a:r>
            <a:r>
              <a:rPr lang="en-GB" sz="1800"/>
              <a:t> thing which can form a geometric sequence. The bus is going to be late back from a school trip. One pupil phones their parent. The parent phones 5 other parents. Each of those parents phone 5 other parents. Assume it takes 10 minutes to make 5 phone calls.</a:t>
            </a:r>
            <a:endParaRPr sz="1800"/>
          </a:p>
        </p:txBody>
      </p:sp>
      <p:sp>
        <p:nvSpPr>
          <p:cNvPr id="1179" name="Google Shape;1179;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graphicFrame>
        <p:nvGraphicFramePr>
          <p:cNvPr id="1180" name="Google Shape;1180;p82"/>
          <p:cNvGraphicFramePr/>
          <p:nvPr/>
        </p:nvGraphicFramePr>
        <p:xfrm>
          <a:off x="324007" y="2785452"/>
          <a:ext cx="3000000" cy="3000000"/>
        </p:xfrm>
        <a:graphic>
          <a:graphicData uri="http://schemas.openxmlformats.org/drawingml/2006/table">
            <a:tbl>
              <a:tblPr>
                <a:noFill/>
                <a:tableStyleId>{3914FA16-2915-4FED-858D-4356F43125AB}</a:tableStyleId>
              </a:tblPr>
              <a:tblGrid>
                <a:gridCol w="1121075"/>
                <a:gridCol w="1121075"/>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Time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People</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10 mins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20 mins</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25</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81" name="Google Shape;1181;p82"/>
          <p:cNvSpPr txBox="1"/>
          <p:nvPr>
            <p:ph idx="4294967295" type="body"/>
          </p:nvPr>
        </p:nvSpPr>
        <p:spPr>
          <a:xfrm>
            <a:off x="3056750" y="2325000"/>
            <a:ext cx="5730300" cy="2414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a) How many people would know after 40 mins?</a:t>
            </a:r>
            <a:br>
              <a:rPr lang="en-GB" sz="1800"/>
            </a:br>
            <a:endParaRPr sz="1800"/>
          </a:p>
          <a:p>
            <a:pPr indent="0" lvl="0" marL="0" rtl="0" algn="l">
              <a:lnSpc>
                <a:spcPct val="100000"/>
              </a:lnSpc>
              <a:spcBef>
                <a:spcPts val="0"/>
              </a:spcBef>
              <a:spcAft>
                <a:spcPts val="0"/>
              </a:spcAft>
              <a:buNone/>
            </a:pPr>
            <a:r>
              <a:rPr lang="en-GB" sz="1800"/>
              <a:t>b) Why might this not be realistic?</a:t>
            </a:r>
            <a:endParaRPr sz="1800"/>
          </a:p>
          <a:p>
            <a:pPr indent="0" lvl="0" marL="0" rtl="0" algn="l">
              <a:lnSpc>
                <a:spcPct val="100000"/>
              </a:lnSpc>
              <a:spcBef>
                <a:spcPts val="0"/>
              </a:spcBef>
              <a:spcAft>
                <a:spcPts val="0"/>
              </a:spcAft>
              <a:buNone/>
            </a:pPr>
            <a:br>
              <a:rPr lang="en-GB" sz="1800"/>
            </a:br>
            <a:r>
              <a:rPr lang="en-GB" sz="1800"/>
              <a:t>c) How many people would know after 2 hours?</a:t>
            </a:r>
            <a:endParaRPr sz="1800"/>
          </a:p>
          <a:p>
            <a:pPr indent="0" lvl="0" marL="0" rtl="0" algn="l">
              <a:lnSpc>
                <a:spcPct val="100000"/>
              </a:lnSpc>
              <a:spcBef>
                <a:spcPts val="0"/>
              </a:spcBef>
              <a:spcAft>
                <a:spcPts val="0"/>
              </a:spcAft>
              <a:buNone/>
            </a:pPr>
            <a:br>
              <a:rPr lang="en-GB" sz="1800"/>
            </a:br>
            <a:r>
              <a:rPr lang="en-GB" sz="1800"/>
              <a:t>d) Why might this not be realistic?</a:t>
            </a:r>
            <a:endParaRPr sz="1800"/>
          </a:p>
        </p:txBody>
      </p:sp>
      <p:sp>
        <p:nvSpPr>
          <p:cNvPr id="1182" name="Google Shape;1182;p82"/>
          <p:cNvSpPr txBox="1"/>
          <p:nvPr/>
        </p:nvSpPr>
        <p:spPr>
          <a:xfrm>
            <a:off x="270225" y="3780000"/>
            <a:ext cx="2485800" cy="6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(plus the one parent who initially knew)</a:t>
            </a:r>
            <a:endParaRPr sz="1800">
              <a:solidFill>
                <a:schemeClr val="dk1"/>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83"/>
          <p:cNvSpPr txBox="1"/>
          <p:nvPr>
            <p:ph idx="4294967295" type="body"/>
          </p:nvPr>
        </p:nvSpPr>
        <p:spPr>
          <a:xfrm>
            <a:off x="324000" y="759300"/>
            <a:ext cx="8447100" cy="11064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700"/>
              <a:t>1) Passing information is another thing which can form a geometric sequence. The bus is going to be late back from a school trip. One pupil phones their parent. The parent phones 5 other parents. Each of those parents phone 5 other parents. Assume it takes 5 minutes to make a phone call.</a:t>
            </a:r>
            <a:endParaRPr sz="1900"/>
          </a:p>
        </p:txBody>
      </p:sp>
      <p:sp>
        <p:nvSpPr>
          <p:cNvPr id="1188" name="Google Shape;1188;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grpSp>
        <p:nvGrpSpPr>
          <p:cNvPr id="1189" name="Google Shape;1189;p83"/>
          <p:cNvGrpSpPr/>
          <p:nvPr/>
        </p:nvGrpSpPr>
        <p:grpSpPr>
          <a:xfrm>
            <a:off x="2430240" y="2981049"/>
            <a:ext cx="704947" cy="620178"/>
            <a:chOff x="2580676" y="2443170"/>
            <a:chExt cx="704947" cy="666356"/>
          </a:xfrm>
        </p:grpSpPr>
        <p:sp>
          <p:nvSpPr>
            <p:cNvPr id="1190" name="Google Shape;1190;p83"/>
            <p:cNvSpPr/>
            <p:nvPr/>
          </p:nvSpPr>
          <p:spPr>
            <a:xfrm rot="5400000">
              <a:off x="2599726" y="2424120"/>
              <a:ext cx="3207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91" name="Google Shape;1191;p83"/>
            <p:cNvSpPr txBox="1"/>
            <p:nvPr/>
          </p:nvSpPr>
          <p:spPr>
            <a:xfrm>
              <a:off x="2980224" y="2457370"/>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×5</a:t>
              </a:r>
              <a:endParaRPr sz="2000">
                <a:solidFill>
                  <a:schemeClr val="accent4"/>
                </a:solidFill>
                <a:latin typeface="Times New Roman"/>
                <a:ea typeface="Times New Roman"/>
                <a:cs typeface="Times New Roman"/>
                <a:sym typeface="Times New Roman"/>
              </a:endParaRPr>
            </a:p>
          </p:txBody>
        </p:sp>
        <p:sp>
          <p:nvSpPr>
            <p:cNvPr id="1192" name="Google Shape;1192;p83"/>
            <p:cNvSpPr/>
            <p:nvPr/>
          </p:nvSpPr>
          <p:spPr>
            <a:xfrm rot="5400000">
              <a:off x="2599726" y="2769777"/>
              <a:ext cx="3207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193" name="Google Shape;1193;p83"/>
            <p:cNvSpPr txBox="1"/>
            <p:nvPr/>
          </p:nvSpPr>
          <p:spPr>
            <a:xfrm>
              <a:off x="2980224" y="2813466"/>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×5</a:t>
              </a:r>
              <a:endParaRPr sz="2000">
                <a:solidFill>
                  <a:schemeClr val="accent4"/>
                </a:solidFill>
                <a:latin typeface="Times New Roman"/>
                <a:ea typeface="Times New Roman"/>
                <a:cs typeface="Times New Roman"/>
                <a:sym typeface="Times New Roman"/>
              </a:endParaRPr>
            </a:p>
          </p:txBody>
        </p:sp>
      </p:grpSp>
      <p:sp>
        <p:nvSpPr>
          <p:cNvPr id="1194" name="Google Shape;1194;p83"/>
          <p:cNvSpPr txBox="1"/>
          <p:nvPr>
            <p:ph idx="4294967295" type="body"/>
          </p:nvPr>
        </p:nvSpPr>
        <p:spPr>
          <a:xfrm>
            <a:off x="3369625" y="3218420"/>
            <a:ext cx="5157300" cy="3828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1800"/>
              <a:t>b) Why might this not be realistic?</a:t>
            </a:r>
            <a:endParaRPr sz="1800"/>
          </a:p>
        </p:txBody>
      </p:sp>
      <p:graphicFrame>
        <p:nvGraphicFramePr>
          <p:cNvPr id="1195" name="Google Shape;1195;p83"/>
          <p:cNvGraphicFramePr/>
          <p:nvPr/>
        </p:nvGraphicFramePr>
        <p:xfrm>
          <a:off x="370212" y="2536002"/>
          <a:ext cx="3000000" cy="3000000"/>
        </p:xfrm>
        <a:graphic>
          <a:graphicData uri="http://schemas.openxmlformats.org/drawingml/2006/table">
            <a:tbl>
              <a:tblPr>
                <a:noFill/>
                <a:tableStyleId>{3914FA16-2915-4FED-858D-4356F43125AB}</a:tableStyleId>
              </a:tblPr>
              <a:tblGrid>
                <a:gridCol w="1121075"/>
                <a:gridCol w="1121075"/>
              </a:tblGrid>
              <a:tr h="2503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Time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People</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03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03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r>
                        <a:rPr lang="en-GB" sz="1800">
                          <a:latin typeface="Times New Roman"/>
                          <a:ea typeface="Times New Roman"/>
                          <a:cs typeface="Times New Roman"/>
                          <a:sym typeface="Times New Roman"/>
                        </a:rPr>
                        <a:t>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03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196" name="Google Shape;1196;p83"/>
          <p:cNvSpPr txBox="1"/>
          <p:nvPr>
            <p:ph idx="4294967295" type="body"/>
          </p:nvPr>
        </p:nvSpPr>
        <p:spPr>
          <a:xfrm>
            <a:off x="3369625" y="2520000"/>
            <a:ext cx="5401500" cy="431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626 people would know if the growth continued at the above rate.</a:t>
            </a:r>
            <a:endParaRPr sz="2000">
              <a:latin typeface="Kalam"/>
              <a:ea typeface="Kalam"/>
              <a:cs typeface="Kalam"/>
              <a:sym typeface="Kalam"/>
            </a:endParaRPr>
          </a:p>
        </p:txBody>
      </p:sp>
      <p:sp>
        <p:nvSpPr>
          <p:cNvPr id="1197" name="Google Shape;1197;p83"/>
          <p:cNvSpPr txBox="1"/>
          <p:nvPr>
            <p:ph idx="4294967295" type="body"/>
          </p:nvPr>
        </p:nvSpPr>
        <p:spPr>
          <a:xfrm>
            <a:off x="3342325" y="2088300"/>
            <a:ext cx="5456100" cy="4317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Clr>
                <a:schemeClr val="dk1"/>
              </a:buClr>
              <a:buSzPts val="1100"/>
              <a:buFont typeface="Arial"/>
              <a:buNone/>
            </a:pPr>
            <a:r>
              <a:rPr lang="en-GB" sz="1800"/>
              <a:t>a) How many people would know after 40 mins?</a:t>
            </a:r>
            <a:endParaRPr sz="1800"/>
          </a:p>
        </p:txBody>
      </p:sp>
      <p:grpSp>
        <p:nvGrpSpPr>
          <p:cNvPr id="1198" name="Google Shape;1198;p83"/>
          <p:cNvGrpSpPr/>
          <p:nvPr/>
        </p:nvGrpSpPr>
        <p:grpSpPr>
          <a:xfrm>
            <a:off x="2430240" y="3624454"/>
            <a:ext cx="704947" cy="298475"/>
            <a:chOff x="2580676" y="3134483"/>
            <a:chExt cx="704947" cy="320700"/>
          </a:xfrm>
        </p:grpSpPr>
        <p:sp>
          <p:nvSpPr>
            <p:cNvPr id="1199" name="Google Shape;1199;p83"/>
            <p:cNvSpPr/>
            <p:nvPr/>
          </p:nvSpPr>
          <p:spPr>
            <a:xfrm rot="5400000">
              <a:off x="2599726" y="3115433"/>
              <a:ext cx="320700" cy="358800"/>
            </a:xfrm>
            <a:prstGeom prst="arc">
              <a:avLst>
                <a:gd fmla="val 10729459" name="adj1"/>
                <a:gd fmla="val 0" name="adj2"/>
              </a:avLst>
            </a:prstGeom>
            <a:noFill/>
            <a:ln cap="flat" cmpd="sng" w="28575">
              <a:solidFill>
                <a:schemeClr val="accent4"/>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37B7D"/>
                </a:solidFill>
              </a:endParaRPr>
            </a:p>
          </p:txBody>
        </p:sp>
        <p:sp>
          <p:nvSpPr>
            <p:cNvPr id="1200" name="Google Shape;1200;p83"/>
            <p:cNvSpPr txBox="1"/>
            <p:nvPr/>
          </p:nvSpPr>
          <p:spPr>
            <a:xfrm>
              <a:off x="2980224" y="3159122"/>
              <a:ext cx="305400" cy="29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solidFill>
                    <a:schemeClr val="accent4"/>
                  </a:solidFill>
                  <a:latin typeface="Times New Roman"/>
                  <a:ea typeface="Times New Roman"/>
                  <a:cs typeface="Times New Roman"/>
                  <a:sym typeface="Times New Roman"/>
                </a:rPr>
                <a:t>×5</a:t>
              </a:r>
              <a:endParaRPr sz="2000">
                <a:solidFill>
                  <a:schemeClr val="accent4"/>
                </a:solidFill>
                <a:latin typeface="Times New Roman"/>
                <a:ea typeface="Times New Roman"/>
                <a:cs typeface="Times New Roman"/>
                <a:sym typeface="Times New Roman"/>
              </a:endParaRPr>
            </a:p>
          </p:txBody>
        </p:sp>
      </p:grpSp>
      <p:sp>
        <p:nvSpPr>
          <p:cNvPr id="1201" name="Google Shape;1201;p83"/>
          <p:cNvSpPr txBox="1"/>
          <p:nvPr>
            <p:ph idx="4294967295" type="body"/>
          </p:nvPr>
        </p:nvSpPr>
        <p:spPr>
          <a:xfrm>
            <a:off x="3342325" y="3672000"/>
            <a:ext cx="5456100" cy="768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Some parents might ring the same people. Some parents might not ring anyone.</a:t>
            </a:r>
            <a:endParaRPr sz="2000">
              <a:latin typeface="Kalam"/>
              <a:ea typeface="Kalam"/>
              <a:cs typeface="Kalam"/>
              <a:sym typeface="Kalam"/>
            </a:endParaRPr>
          </a:p>
          <a:p>
            <a:pPr indent="0" lvl="0" marL="0" rtl="0" algn="l">
              <a:spcBef>
                <a:spcPts val="0"/>
              </a:spcBef>
              <a:spcAft>
                <a:spcPts val="0"/>
              </a:spcAft>
              <a:buNone/>
            </a:pPr>
            <a:r>
              <a:t/>
            </a:r>
            <a:endParaRPr sz="2000">
              <a:latin typeface="Kalam"/>
              <a:ea typeface="Kalam"/>
              <a:cs typeface="Kalam"/>
              <a:sym typeface="Kalam"/>
            </a:endParaRPr>
          </a:p>
        </p:txBody>
      </p:sp>
      <p:graphicFrame>
        <p:nvGraphicFramePr>
          <p:cNvPr id="1202" name="Google Shape;1202;p83"/>
          <p:cNvGraphicFramePr/>
          <p:nvPr/>
        </p:nvGraphicFramePr>
        <p:xfrm>
          <a:off x="370212" y="2538802"/>
          <a:ext cx="3000000" cy="3000000"/>
        </p:xfrm>
        <a:graphic>
          <a:graphicData uri="http://schemas.openxmlformats.org/drawingml/2006/table">
            <a:tbl>
              <a:tblPr>
                <a:noFill/>
                <a:tableStyleId>{3914FA16-2915-4FED-858D-4356F43125AB}</a:tableStyleId>
              </a:tblPr>
              <a:tblGrid>
                <a:gridCol w="1121075"/>
                <a:gridCol w="1121075"/>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Time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People</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r>
                        <a:rPr lang="en-GB" sz="1800">
                          <a:latin typeface="Times New Roman"/>
                          <a:ea typeface="Times New Roman"/>
                          <a:cs typeface="Times New Roman"/>
                          <a:sym typeface="Times New Roman"/>
                        </a:rPr>
                        <a:t>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40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625 + 1</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203" name="Google Shape;1203;p83"/>
          <p:cNvSpPr txBox="1"/>
          <p:nvPr>
            <p:ph idx="4294967295" type="body"/>
          </p:nvPr>
        </p:nvSpPr>
        <p:spPr>
          <a:xfrm>
            <a:off x="736650" y="4447500"/>
            <a:ext cx="8501700" cy="26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It might take some parents longer than 10 minutes to ring 5 parents.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84"/>
          <p:cNvSpPr txBox="1"/>
          <p:nvPr>
            <p:ph idx="4294967295" type="body"/>
          </p:nvPr>
        </p:nvSpPr>
        <p:spPr>
          <a:xfrm>
            <a:off x="348450" y="643063"/>
            <a:ext cx="8447100" cy="11064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700"/>
              <a:t>1) Passing information is another thing which can form a geometric sequence. The bus is going to be late back from a school trip. One pupil phones their parent. The parent phones 5 other parents. Each of those parents phone 5 other parents. Assume it takes 5 minutes to make a phone call.</a:t>
            </a:r>
            <a:endParaRPr sz="1900"/>
          </a:p>
        </p:txBody>
      </p:sp>
      <p:sp>
        <p:nvSpPr>
          <p:cNvPr id="1209" name="Google Shape;1209;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geometric sequences</a:t>
            </a:r>
            <a:endParaRPr/>
          </a:p>
        </p:txBody>
      </p:sp>
      <p:graphicFrame>
        <p:nvGraphicFramePr>
          <p:cNvPr id="1210" name="Google Shape;1210;p84"/>
          <p:cNvGraphicFramePr/>
          <p:nvPr/>
        </p:nvGraphicFramePr>
        <p:xfrm>
          <a:off x="323993" y="2338002"/>
          <a:ext cx="3000000" cy="3000000"/>
        </p:xfrm>
        <a:graphic>
          <a:graphicData uri="http://schemas.openxmlformats.org/drawingml/2006/table">
            <a:tbl>
              <a:tblPr>
                <a:noFill/>
                <a:tableStyleId>{3914FA16-2915-4FED-858D-4356F43125AB}</a:tableStyleId>
              </a:tblPr>
              <a:tblGrid>
                <a:gridCol w="764375"/>
                <a:gridCol w="9369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Time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People</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a:t>
                      </a:r>
                      <a:r>
                        <a:rPr lang="en-GB" sz="1800">
                          <a:latin typeface="Times New Roman"/>
                          <a:ea typeface="Times New Roman"/>
                          <a:cs typeface="Times New Roman"/>
                          <a:sym typeface="Times New Roman"/>
                        </a:rPr>
                        <a:t>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40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625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50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3125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60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15 625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70</a:t>
                      </a:r>
                      <a:r>
                        <a:rPr lang="en-GB" sz="1800">
                          <a:latin typeface="Times New Roman"/>
                          <a:ea typeface="Times New Roman"/>
                          <a:cs typeface="Times New Roman"/>
                          <a:sym typeface="Times New Roman"/>
                        </a:rPr>
                        <a:t> mins </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78 125</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211" name="Google Shape;1211;p84"/>
          <p:cNvSpPr txBox="1"/>
          <p:nvPr>
            <p:ph idx="4294967295" type="body"/>
          </p:nvPr>
        </p:nvSpPr>
        <p:spPr>
          <a:xfrm>
            <a:off x="4047450" y="2020200"/>
            <a:ext cx="4723800" cy="683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800"/>
              <a:t>c) How many people would know after 2 hours?</a:t>
            </a:r>
            <a:endParaRPr sz="2000"/>
          </a:p>
        </p:txBody>
      </p:sp>
      <p:sp>
        <p:nvSpPr>
          <p:cNvPr id="1212" name="Google Shape;1212;p84"/>
          <p:cNvSpPr txBox="1"/>
          <p:nvPr>
            <p:ph idx="4294967295" type="body"/>
          </p:nvPr>
        </p:nvSpPr>
        <p:spPr>
          <a:xfrm>
            <a:off x="4320387" y="3708107"/>
            <a:ext cx="4242600" cy="382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t>d) Why might this not be realistic?</a:t>
            </a:r>
            <a:endParaRPr sz="1800"/>
          </a:p>
        </p:txBody>
      </p:sp>
      <p:sp>
        <p:nvSpPr>
          <p:cNvPr id="1213" name="Google Shape;1213;p84"/>
          <p:cNvSpPr txBox="1"/>
          <p:nvPr>
            <p:ph idx="4294967295" type="body"/>
          </p:nvPr>
        </p:nvSpPr>
        <p:spPr>
          <a:xfrm>
            <a:off x="4319999" y="2734250"/>
            <a:ext cx="2132700" cy="324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 200 000 000</a:t>
            </a:r>
            <a:r>
              <a:rPr lang="en-GB" sz="2000">
                <a:latin typeface="Kalam"/>
                <a:ea typeface="Kalam"/>
                <a:cs typeface="Kalam"/>
                <a:sym typeface="Kalam"/>
              </a:rPr>
              <a:t> people</a:t>
            </a:r>
            <a:endParaRPr sz="2000">
              <a:latin typeface="Kalam"/>
              <a:ea typeface="Kalam"/>
              <a:cs typeface="Kalam"/>
              <a:sym typeface="Kalam"/>
            </a:endParaRPr>
          </a:p>
        </p:txBody>
      </p:sp>
      <p:sp>
        <p:nvSpPr>
          <p:cNvPr id="1214" name="Google Shape;1214;p84"/>
          <p:cNvSpPr txBox="1"/>
          <p:nvPr>
            <p:ph idx="4294967295" type="body"/>
          </p:nvPr>
        </p:nvSpPr>
        <p:spPr>
          <a:xfrm>
            <a:off x="4325247" y="4123500"/>
            <a:ext cx="4494900" cy="324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There will not be that many parents to tell.</a:t>
            </a:r>
            <a:endParaRPr sz="2000">
              <a:latin typeface="Kalam"/>
              <a:ea typeface="Kalam"/>
              <a:cs typeface="Kalam"/>
              <a:sym typeface="Kalam"/>
            </a:endParaRPr>
          </a:p>
        </p:txBody>
      </p:sp>
      <p:graphicFrame>
        <p:nvGraphicFramePr>
          <p:cNvPr id="1215" name="Google Shape;1215;p84"/>
          <p:cNvGraphicFramePr/>
          <p:nvPr/>
        </p:nvGraphicFramePr>
        <p:xfrm>
          <a:off x="2164062" y="2124677"/>
          <a:ext cx="3000000" cy="3000000"/>
        </p:xfrm>
        <a:graphic>
          <a:graphicData uri="http://schemas.openxmlformats.org/drawingml/2006/table">
            <a:tbl>
              <a:tblPr>
                <a:noFill/>
                <a:tableStyleId>{3914FA16-2915-4FED-858D-4356F43125AB}</a:tableStyleId>
              </a:tblPr>
              <a:tblGrid>
                <a:gridCol w="971400"/>
                <a:gridCol w="820750"/>
              </a:tblGrid>
              <a:tr h="230000">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Time</a:t>
                      </a:r>
                      <a:endParaRPr sz="1800">
                        <a:solidFill>
                          <a:srgbClr val="FFFFFF"/>
                        </a:solidFill>
                        <a:latin typeface="Lexend"/>
                        <a:ea typeface="Lexend"/>
                        <a:cs typeface="Lexend"/>
                        <a:sym typeface="Lexend"/>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People</a:t>
                      </a:r>
                      <a:endParaRPr sz="1800">
                        <a:solidFill>
                          <a:srgbClr val="FFFFFF"/>
                        </a:solidFill>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accent4"/>
                    </a:solidFill>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10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20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baseline="30000"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30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40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50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latin typeface="Times New Roman"/>
                          <a:ea typeface="Times New Roman"/>
                          <a:cs typeface="Times New Roman"/>
                          <a:sym typeface="Times New Roman"/>
                        </a:rPr>
                        <a:t>60</a:t>
                      </a:r>
                      <a:r>
                        <a:rPr lang="en-GB" sz="1800">
                          <a:latin typeface="Times New Roman"/>
                          <a:ea typeface="Times New Roman"/>
                          <a:cs typeface="Times New Roman"/>
                          <a:sym typeface="Times New Roman"/>
                        </a:rPr>
                        <a:t>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52600">
                <a:tc>
                  <a:txBody>
                    <a:bodyPr/>
                    <a:lstStyle/>
                    <a:p>
                      <a:pPr indent="0" lvl="0" marL="0" rtl="0" algn="ctr">
                        <a:spcBef>
                          <a:spcPts val="0"/>
                        </a:spcBef>
                        <a:spcAft>
                          <a:spcPts val="0"/>
                        </a:spcAft>
                        <a:buNone/>
                      </a:pPr>
                      <a:r>
                        <a:rPr lang="en-GB" sz="1800">
                          <a:solidFill>
                            <a:schemeClr val="dk1"/>
                          </a:solidFill>
                          <a:latin typeface="Times New Roman"/>
                          <a:ea typeface="Times New Roman"/>
                          <a:cs typeface="Times New Roman"/>
                          <a:sym typeface="Times New Roman"/>
                        </a:rPr>
                        <a:t>12</a:t>
                      </a:r>
                      <a:r>
                        <a:rPr lang="en-GB" sz="1800">
                          <a:solidFill>
                            <a:schemeClr val="dk1"/>
                          </a:solidFill>
                          <a:latin typeface="Times New Roman"/>
                          <a:ea typeface="Times New Roman"/>
                          <a:cs typeface="Times New Roman"/>
                          <a:sym typeface="Times New Roman"/>
                        </a:rPr>
                        <a:t>0 mins</a:t>
                      </a:r>
                      <a:endParaRPr sz="18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18000" marB="1800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216" name="Google Shape;1216;p84"/>
          <p:cNvSpPr/>
          <p:nvPr/>
        </p:nvSpPr>
        <p:spPr>
          <a:xfrm>
            <a:off x="3060125" y="2434975"/>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endParaRPr>
              <a:latin typeface="Lexend"/>
              <a:ea typeface="Lexend"/>
              <a:cs typeface="Lexend"/>
              <a:sym typeface="Lexend"/>
            </a:endParaRPr>
          </a:p>
        </p:txBody>
      </p:sp>
      <p:sp>
        <p:nvSpPr>
          <p:cNvPr id="1217" name="Google Shape;1217;p84"/>
          <p:cNvSpPr/>
          <p:nvPr/>
        </p:nvSpPr>
        <p:spPr>
          <a:xfrm>
            <a:off x="3060125" y="2775750"/>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2</a:t>
            </a:r>
            <a:endParaRPr>
              <a:latin typeface="Lexend"/>
              <a:ea typeface="Lexend"/>
              <a:cs typeface="Lexend"/>
              <a:sym typeface="Lexend"/>
            </a:endParaRPr>
          </a:p>
        </p:txBody>
      </p:sp>
      <p:sp>
        <p:nvSpPr>
          <p:cNvPr id="1218" name="Google Shape;1218;p84"/>
          <p:cNvSpPr/>
          <p:nvPr/>
        </p:nvSpPr>
        <p:spPr>
          <a:xfrm>
            <a:off x="3066100" y="3124300"/>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3</a:t>
            </a:r>
            <a:endParaRPr>
              <a:latin typeface="Lexend"/>
              <a:ea typeface="Lexend"/>
              <a:cs typeface="Lexend"/>
              <a:sym typeface="Lexend"/>
            </a:endParaRPr>
          </a:p>
        </p:txBody>
      </p:sp>
      <p:sp>
        <p:nvSpPr>
          <p:cNvPr id="1219" name="Google Shape;1219;p84"/>
          <p:cNvSpPr/>
          <p:nvPr/>
        </p:nvSpPr>
        <p:spPr>
          <a:xfrm>
            <a:off x="3060125" y="3457300"/>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4</a:t>
            </a:r>
            <a:endParaRPr>
              <a:latin typeface="Lexend"/>
              <a:ea typeface="Lexend"/>
              <a:cs typeface="Lexend"/>
              <a:sym typeface="Lexend"/>
            </a:endParaRPr>
          </a:p>
        </p:txBody>
      </p:sp>
      <p:sp>
        <p:nvSpPr>
          <p:cNvPr id="1220" name="Google Shape;1220;p84"/>
          <p:cNvSpPr/>
          <p:nvPr/>
        </p:nvSpPr>
        <p:spPr>
          <a:xfrm>
            <a:off x="3066100" y="3813625"/>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5</a:t>
            </a:r>
            <a:endParaRPr>
              <a:latin typeface="Lexend"/>
              <a:ea typeface="Lexend"/>
              <a:cs typeface="Lexend"/>
              <a:sym typeface="Lexend"/>
            </a:endParaRPr>
          </a:p>
        </p:txBody>
      </p:sp>
      <p:sp>
        <p:nvSpPr>
          <p:cNvPr id="1221" name="Google Shape;1221;p84"/>
          <p:cNvSpPr/>
          <p:nvPr/>
        </p:nvSpPr>
        <p:spPr>
          <a:xfrm>
            <a:off x="3066100" y="4138850"/>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6</a:t>
            </a:r>
            <a:endParaRPr>
              <a:latin typeface="Lexend"/>
              <a:ea typeface="Lexend"/>
              <a:cs typeface="Lexend"/>
              <a:sym typeface="Lexend"/>
            </a:endParaRPr>
          </a:p>
        </p:txBody>
      </p:sp>
      <p:sp>
        <p:nvSpPr>
          <p:cNvPr id="1222" name="Google Shape;1222;p84"/>
          <p:cNvSpPr/>
          <p:nvPr/>
        </p:nvSpPr>
        <p:spPr>
          <a:xfrm>
            <a:off x="3066100" y="4479625"/>
            <a:ext cx="890100" cy="33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solidFill>
                  <a:schemeClr val="dk1"/>
                </a:solidFill>
                <a:latin typeface="Times New Roman"/>
                <a:ea typeface="Times New Roman"/>
                <a:cs typeface="Times New Roman"/>
                <a:sym typeface="Times New Roman"/>
              </a:rPr>
              <a:t>5</a:t>
            </a:r>
            <a:r>
              <a:rPr baseline="30000" lang="en-GB" sz="2000">
                <a:solidFill>
                  <a:schemeClr val="dk1"/>
                </a:solidFill>
                <a:latin typeface="Times New Roman"/>
                <a:ea typeface="Times New Roman"/>
                <a:cs typeface="Times New Roman"/>
                <a:sym typeface="Times New Roman"/>
              </a:rPr>
              <a:t>12</a:t>
            </a:r>
            <a:endParaRPr>
              <a:latin typeface="Lexend"/>
              <a:ea typeface="Lexend"/>
              <a:cs typeface="Lexend"/>
              <a:sym typeface="Lexend"/>
            </a:endParaRPr>
          </a:p>
        </p:txBody>
      </p:sp>
      <p:pic>
        <p:nvPicPr>
          <p:cNvPr id="1223" name="Google Shape;1223;p84"/>
          <p:cNvPicPr preferRelativeResize="0"/>
          <p:nvPr/>
        </p:nvPicPr>
        <p:blipFill>
          <a:blip r:embed="rId3">
            <a:alphaModFix/>
          </a:blip>
          <a:stretch>
            <a:fillRect/>
          </a:stretch>
        </p:blipFill>
        <p:spPr>
          <a:xfrm>
            <a:off x="6271500" y="2338000"/>
            <a:ext cx="2375400" cy="1298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85"/>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Problem solving with geometric relationships</a:t>
            </a:r>
            <a:endParaRPr/>
          </a:p>
        </p:txBody>
      </p:sp>
      <p:sp>
        <p:nvSpPr>
          <p:cNvPr id="1229" name="Google Shape;1229;p85"/>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230" name="Google Shape;1230;p85"/>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non-linear relationships</a:t>
            </a:r>
            <a:endParaRPr/>
          </a:p>
        </p:txBody>
      </p:sp>
      <p:pic>
        <p:nvPicPr>
          <p:cNvPr id="1231" name="Google Shape;1231;p85"/>
          <p:cNvPicPr preferRelativeResize="0"/>
          <p:nvPr/>
        </p:nvPicPr>
        <p:blipFill>
          <a:blip r:embed="rId3">
            <a:alphaModFix/>
          </a:blip>
          <a:stretch>
            <a:fillRect/>
          </a:stretch>
        </p:blipFill>
        <p:spPr>
          <a:xfrm>
            <a:off x="420675" y="2993418"/>
            <a:ext cx="450575" cy="446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86"/>
          <p:cNvSpPr/>
          <p:nvPr/>
        </p:nvSpPr>
        <p:spPr>
          <a:xfrm>
            <a:off x="324000" y="3272575"/>
            <a:ext cx="5996100" cy="1192800"/>
          </a:xfrm>
          <a:prstGeom prst="roundRect">
            <a:avLst>
              <a:gd fmla="val 16667" name="adj"/>
            </a:avLst>
          </a:prstGeom>
          <a:solidFill>
            <a:schemeClr val="lt1"/>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7" name="Google Shape;1237;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238" name="Google Shape;1238;p86"/>
          <p:cNvSpPr txBox="1"/>
          <p:nvPr>
            <p:ph idx="1" type="body"/>
          </p:nvPr>
        </p:nvSpPr>
        <p:spPr>
          <a:xfrm>
            <a:off x="324000" y="759300"/>
            <a:ext cx="8496000" cy="114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Sometimes adding two different sequences together can provide interesting results. </a:t>
            </a:r>
            <a:endParaRPr sz="1800"/>
          </a:p>
          <a:p>
            <a:pPr indent="0" lvl="0" marL="0" rtl="0" algn="l">
              <a:spcBef>
                <a:spcPts val="1000"/>
              </a:spcBef>
              <a:spcAft>
                <a:spcPts val="0"/>
              </a:spcAft>
              <a:buNone/>
            </a:pPr>
            <a:r>
              <a:rPr lang="en-GB" sz="1800"/>
              <a:t>We are going to investigate this idea in this part of the lesson.</a:t>
            </a:r>
            <a:endParaRPr sz="1800"/>
          </a:p>
          <a:p>
            <a:pPr indent="0" lvl="0" marL="0" rtl="0" algn="l">
              <a:spcBef>
                <a:spcPts val="1000"/>
              </a:spcBef>
              <a:spcAft>
                <a:spcPts val="1000"/>
              </a:spcAft>
              <a:buNone/>
            </a:pPr>
            <a:r>
              <a:rPr lang="en-GB" sz="1800"/>
              <a:t> </a:t>
            </a:r>
            <a:endParaRPr sz="1800"/>
          </a:p>
        </p:txBody>
      </p:sp>
      <p:sp>
        <p:nvSpPr>
          <p:cNvPr id="1239" name="Google Shape;1239;p86"/>
          <p:cNvSpPr txBox="1"/>
          <p:nvPr/>
        </p:nvSpPr>
        <p:spPr>
          <a:xfrm>
            <a:off x="356150" y="2839292"/>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240" name="Google Shape;1240;p86"/>
          <p:cNvPicPr preferRelativeResize="0"/>
          <p:nvPr/>
        </p:nvPicPr>
        <p:blipFill>
          <a:blip r:embed="rId3">
            <a:alphaModFix/>
          </a:blip>
          <a:stretch>
            <a:fillRect/>
          </a:stretch>
        </p:blipFill>
        <p:spPr>
          <a:xfrm flipH="1">
            <a:off x="545748" y="2336299"/>
            <a:ext cx="510291" cy="566087"/>
          </a:xfrm>
          <a:prstGeom prst="rect">
            <a:avLst/>
          </a:prstGeom>
          <a:noFill/>
          <a:ln>
            <a:noFill/>
          </a:ln>
        </p:spPr>
      </p:pic>
      <p:pic>
        <p:nvPicPr>
          <p:cNvPr id="1241" name="Google Shape;1241;p86"/>
          <p:cNvPicPr preferRelativeResize="0"/>
          <p:nvPr/>
        </p:nvPicPr>
        <p:blipFill rotWithShape="1">
          <a:blip r:embed="rId4">
            <a:alphaModFix/>
          </a:blip>
          <a:srcRect b="43690" l="0" r="57905" t="0"/>
          <a:stretch/>
        </p:blipFill>
        <p:spPr>
          <a:xfrm flipH="1">
            <a:off x="979050" y="1869450"/>
            <a:ext cx="4859325" cy="1080000"/>
          </a:xfrm>
          <a:prstGeom prst="rect">
            <a:avLst/>
          </a:prstGeom>
          <a:noFill/>
          <a:ln>
            <a:noFill/>
          </a:ln>
        </p:spPr>
      </p:pic>
      <p:sp>
        <p:nvSpPr>
          <p:cNvPr id="1242" name="Google Shape;1242;p86"/>
          <p:cNvSpPr/>
          <p:nvPr/>
        </p:nvSpPr>
        <p:spPr>
          <a:xfrm>
            <a:off x="1321000" y="1952250"/>
            <a:ext cx="44175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 think adding two arithmetic sequences together will give a different arithmetic sequence.</a:t>
            </a:r>
            <a:endParaRPr sz="1800">
              <a:latin typeface="Lexend"/>
              <a:ea typeface="Lexend"/>
              <a:cs typeface="Lexend"/>
              <a:sym typeface="Lexend"/>
            </a:endParaRPr>
          </a:p>
        </p:txBody>
      </p:sp>
      <p:sp>
        <p:nvSpPr>
          <p:cNvPr id="1243" name="Google Shape;1243;p86"/>
          <p:cNvSpPr txBox="1"/>
          <p:nvPr>
            <p:ph idx="1" type="body"/>
          </p:nvPr>
        </p:nvSpPr>
        <p:spPr>
          <a:xfrm>
            <a:off x="5895775" y="1904100"/>
            <a:ext cx="2997900" cy="93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What do you think? </a:t>
            </a:r>
            <a:endParaRPr sz="1800"/>
          </a:p>
          <a:p>
            <a:pPr indent="0" lvl="0" marL="0" rtl="0" algn="l">
              <a:spcBef>
                <a:spcPts val="1000"/>
              </a:spcBef>
              <a:spcAft>
                <a:spcPts val="1000"/>
              </a:spcAft>
              <a:buNone/>
            </a:pPr>
            <a:r>
              <a:rPr lang="en-GB" sz="1800"/>
              <a:t> </a:t>
            </a:r>
            <a:endParaRPr sz="1800"/>
          </a:p>
        </p:txBody>
      </p:sp>
      <p:sp>
        <p:nvSpPr>
          <p:cNvPr id="1244" name="Google Shape;1244;p86"/>
          <p:cNvSpPr txBox="1"/>
          <p:nvPr>
            <p:ph idx="1" type="body"/>
          </p:nvPr>
        </p:nvSpPr>
        <p:spPr>
          <a:xfrm>
            <a:off x="476475" y="3348725"/>
            <a:ext cx="5703600" cy="82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Example 3, 5, 7, 9, 11, …. added to 4, 7, 10, 13, 16, ….</a:t>
            </a:r>
            <a:endParaRPr sz="1800"/>
          </a:p>
          <a:p>
            <a:pPr indent="0" lvl="0" marL="0" rtl="0" algn="l">
              <a:spcBef>
                <a:spcPts val="1000"/>
              </a:spcBef>
              <a:spcAft>
                <a:spcPts val="1000"/>
              </a:spcAft>
              <a:buNone/>
            </a:pPr>
            <a:r>
              <a:rPr lang="en-GB" sz="1800"/>
              <a:t>7, 12, 17, 22, 27, …. This is an arithmetic sequence with common difference +7</a:t>
            </a:r>
            <a:endParaRPr sz="1800"/>
          </a:p>
        </p:txBody>
      </p:sp>
      <p:sp>
        <p:nvSpPr>
          <p:cNvPr id="1245" name="Google Shape;1245;p86"/>
          <p:cNvSpPr txBox="1"/>
          <p:nvPr>
            <p:ph idx="1" type="body"/>
          </p:nvPr>
        </p:nvSpPr>
        <p:spPr>
          <a:xfrm>
            <a:off x="6413525" y="3295175"/>
            <a:ext cx="2406600" cy="93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Try your own example.</a:t>
            </a:r>
            <a:r>
              <a:rPr lang="en-GB" sz="1800"/>
              <a:t> </a:t>
            </a:r>
            <a:endParaRPr sz="1800"/>
          </a:p>
          <a:p>
            <a:pPr indent="0" lvl="0" marL="0" rtl="0" algn="l">
              <a:spcBef>
                <a:spcPts val="1000"/>
              </a:spcBef>
              <a:spcAft>
                <a:spcPts val="1000"/>
              </a:spcAft>
              <a:buNone/>
            </a:pP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sp>
        <p:nvSpPr>
          <p:cNvPr id="1251" name="Google Shape;1251;p87"/>
          <p:cNvSpPr txBox="1"/>
          <p:nvPr>
            <p:ph idx="1" type="body"/>
          </p:nvPr>
        </p:nvSpPr>
        <p:spPr>
          <a:xfrm>
            <a:off x="4320000" y="1915050"/>
            <a:ext cx="4500000" cy="712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15, 16, 17, 18, … We have an arithmetic sequence with common difference 1. </a:t>
            </a:r>
            <a:endParaRPr sz="2000">
              <a:latin typeface="Kalam"/>
              <a:ea typeface="Kalam"/>
              <a:cs typeface="Kalam"/>
              <a:sym typeface="Kalam"/>
            </a:endParaRPr>
          </a:p>
          <a:p>
            <a:pPr indent="0" lvl="0" marL="0" rtl="0" algn="l">
              <a:lnSpc>
                <a:spcPct val="100000"/>
              </a:lnSpc>
              <a:spcBef>
                <a:spcPts val="0"/>
              </a:spcBef>
              <a:spcAft>
                <a:spcPts val="0"/>
              </a:spcAft>
              <a:buNone/>
            </a:pP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
        <p:nvSpPr>
          <p:cNvPr id="1252" name="Google Shape;1252;p87"/>
          <p:cNvSpPr txBox="1"/>
          <p:nvPr>
            <p:ph idx="1" type="body"/>
          </p:nvPr>
        </p:nvSpPr>
        <p:spPr>
          <a:xfrm>
            <a:off x="324000" y="810000"/>
            <a:ext cx="8496000" cy="44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Sofia is correct for this example, will this always work? </a:t>
            </a:r>
            <a:endParaRPr sz="1800"/>
          </a:p>
        </p:txBody>
      </p:sp>
      <p:pic>
        <p:nvPicPr>
          <p:cNvPr id="1253" name="Google Shape;1253;p87"/>
          <p:cNvPicPr preferRelativeResize="0"/>
          <p:nvPr/>
        </p:nvPicPr>
        <p:blipFill>
          <a:blip r:embed="rId3">
            <a:alphaModFix/>
          </a:blip>
          <a:stretch>
            <a:fillRect/>
          </a:stretch>
        </p:blipFill>
        <p:spPr>
          <a:xfrm flipH="1">
            <a:off x="540652" y="2062937"/>
            <a:ext cx="683800" cy="661736"/>
          </a:xfrm>
          <a:prstGeom prst="rect">
            <a:avLst/>
          </a:prstGeom>
          <a:noFill/>
          <a:ln>
            <a:noFill/>
          </a:ln>
        </p:spPr>
      </p:pic>
      <p:sp>
        <p:nvSpPr>
          <p:cNvPr id="1254" name="Google Shape;1254;p87"/>
          <p:cNvSpPr txBox="1"/>
          <p:nvPr/>
        </p:nvSpPr>
        <p:spPr>
          <a:xfrm>
            <a:off x="409976" y="2724680"/>
            <a:ext cx="1017000" cy="359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1255" name="Google Shape;1255;p87"/>
          <p:cNvPicPr preferRelativeResize="0"/>
          <p:nvPr/>
        </p:nvPicPr>
        <p:blipFill rotWithShape="1">
          <a:blip r:embed="rId4">
            <a:alphaModFix/>
          </a:blip>
          <a:srcRect b="43690" l="0" r="57905" t="0"/>
          <a:stretch/>
        </p:blipFill>
        <p:spPr>
          <a:xfrm flipH="1">
            <a:off x="997848" y="1249100"/>
            <a:ext cx="3003802" cy="1226050"/>
          </a:xfrm>
          <a:prstGeom prst="rect">
            <a:avLst/>
          </a:prstGeom>
          <a:noFill/>
          <a:ln>
            <a:noFill/>
          </a:ln>
        </p:spPr>
      </p:pic>
      <p:sp>
        <p:nvSpPr>
          <p:cNvPr id="1256" name="Google Shape;1256;p87"/>
          <p:cNvSpPr txBox="1"/>
          <p:nvPr/>
        </p:nvSpPr>
        <p:spPr>
          <a:xfrm>
            <a:off x="1250050" y="1378225"/>
            <a:ext cx="2751600" cy="96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Let’s try with an increasing and a decreasing sequence. </a:t>
            </a:r>
            <a:endParaRPr sz="1800">
              <a:latin typeface="Lexend"/>
              <a:ea typeface="Lexend"/>
              <a:cs typeface="Lexend"/>
              <a:sym typeface="Lexend"/>
            </a:endParaRPr>
          </a:p>
          <a:p>
            <a:pPr indent="0" lvl="0" marL="0" rtl="0" algn="l">
              <a:lnSpc>
                <a:spcPct val="115000"/>
              </a:lnSpc>
              <a:spcBef>
                <a:spcPts val="0"/>
              </a:spcBef>
              <a:spcAft>
                <a:spcPts val="0"/>
              </a:spcAft>
              <a:buNone/>
            </a:pPr>
            <a:r>
              <a:t/>
            </a:r>
            <a:endParaRPr sz="1800">
              <a:latin typeface="Lexend"/>
              <a:ea typeface="Lexend"/>
              <a:cs typeface="Lexend"/>
              <a:sym typeface="Lexend"/>
            </a:endParaRPr>
          </a:p>
        </p:txBody>
      </p:sp>
      <p:sp>
        <p:nvSpPr>
          <p:cNvPr id="1257" name="Google Shape;1257;p87"/>
          <p:cNvSpPr txBox="1"/>
          <p:nvPr>
            <p:ph idx="1" type="body"/>
          </p:nvPr>
        </p:nvSpPr>
        <p:spPr>
          <a:xfrm>
            <a:off x="4320000" y="1455000"/>
            <a:ext cx="4500000" cy="87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E.g. 5, 8, 11, 14, … </a:t>
            </a:r>
            <a:r>
              <a:rPr lang="en-GB" sz="1800"/>
              <a:t> add 10, 8, 6, 4, …</a:t>
            </a:r>
            <a:endParaRPr sz="1800"/>
          </a:p>
        </p:txBody>
      </p:sp>
      <p:sp>
        <p:nvSpPr>
          <p:cNvPr id="1258" name="Google Shape;1258;p87"/>
          <p:cNvSpPr txBox="1"/>
          <p:nvPr>
            <p:ph idx="1" type="body"/>
          </p:nvPr>
        </p:nvSpPr>
        <p:spPr>
          <a:xfrm>
            <a:off x="324000" y="3096000"/>
            <a:ext cx="8496000" cy="44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have only tried two examples so we cannot say for sure that this always works. Even if we tried 100 examples, this would not be proof that this always works.  </a:t>
            </a:r>
            <a:r>
              <a:rPr lang="en-GB" sz="1800"/>
              <a:t> </a:t>
            </a:r>
            <a:endParaRPr sz="1800"/>
          </a:p>
        </p:txBody>
      </p:sp>
      <p:sp>
        <p:nvSpPr>
          <p:cNvPr id="1259" name="Google Shape;1259;p87"/>
          <p:cNvSpPr txBox="1"/>
          <p:nvPr>
            <p:ph idx="1" type="body"/>
          </p:nvPr>
        </p:nvSpPr>
        <p:spPr>
          <a:xfrm>
            <a:off x="324000" y="4243575"/>
            <a:ext cx="8496000" cy="44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Instead we can explore the structure of what is happening when we add the terms of two </a:t>
            </a:r>
            <a:r>
              <a:rPr lang="en-GB" sz="1800"/>
              <a:t>sequences</a:t>
            </a:r>
            <a:r>
              <a:rPr lang="en-GB" sz="1800"/>
              <a:t> together.</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sp>
        <p:nvSpPr>
          <p:cNvPr id="1265" name="Google Shape;1265;p88"/>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What are the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rules for these linear sequences?</a:t>
            </a:r>
            <a:endParaRPr sz="1800"/>
          </a:p>
          <a:p>
            <a:pPr indent="0" lvl="0" marL="0" rtl="0" algn="l">
              <a:spcBef>
                <a:spcPts val="1000"/>
              </a:spcBef>
              <a:spcAft>
                <a:spcPts val="0"/>
              </a:spcAft>
              <a:buClr>
                <a:schemeClr val="dk1"/>
              </a:buClr>
              <a:buSzPts val="1100"/>
              <a:buFont typeface="Arial"/>
              <a:buNone/>
            </a:pPr>
            <a:r>
              <a:rPr lang="en-GB" sz="1800"/>
              <a:t>3, 5, 7, 9, 11, …. and 4, 7, 10, 13, 16, ….</a:t>
            </a:r>
            <a:endParaRPr sz="1800"/>
          </a:p>
          <a:p>
            <a:pPr indent="0" lvl="0" marL="0" rtl="0" algn="l">
              <a:spcBef>
                <a:spcPts val="1000"/>
              </a:spcBef>
              <a:spcAft>
                <a:spcPts val="1000"/>
              </a:spcAft>
              <a:buNone/>
            </a:pPr>
            <a:r>
              <a:rPr lang="en-GB" sz="1800"/>
              <a:t> </a:t>
            </a:r>
            <a:endParaRPr sz="1800"/>
          </a:p>
        </p:txBody>
      </p:sp>
      <p:sp>
        <p:nvSpPr>
          <p:cNvPr id="1266" name="Google Shape;1266;p88"/>
          <p:cNvSpPr txBox="1"/>
          <p:nvPr>
            <p:ph idx="1" type="body"/>
          </p:nvPr>
        </p:nvSpPr>
        <p:spPr>
          <a:xfrm>
            <a:off x="324000" y="1702000"/>
            <a:ext cx="8496000" cy="40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latin typeface="Times"/>
                <a:ea typeface="Times"/>
                <a:cs typeface="Times"/>
                <a:sym typeface="Times"/>
              </a:rPr>
              <a:t>2</a:t>
            </a:r>
            <a:r>
              <a:rPr i="1" lang="en-GB" sz="2100">
                <a:latin typeface="Times"/>
                <a:ea typeface="Times"/>
                <a:cs typeface="Times"/>
                <a:sym typeface="Times"/>
              </a:rPr>
              <a:t>n</a:t>
            </a:r>
            <a:r>
              <a:rPr lang="en-GB" sz="2100">
                <a:latin typeface="Times"/>
                <a:ea typeface="Times"/>
                <a:cs typeface="Times"/>
                <a:sym typeface="Times"/>
              </a:rPr>
              <a:t> + 1</a:t>
            </a:r>
            <a:r>
              <a:rPr lang="en-GB" sz="2000">
                <a:latin typeface="Kalam"/>
                <a:ea typeface="Kalam"/>
                <a:cs typeface="Kalam"/>
                <a:sym typeface="Kalam"/>
              </a:rPr>
              <a:t> and </a:t>
            </a:r>
            <a:r>
              <a:rPr lang="en-GB" sz="2100">
                <a:latin typeface="Times"/>
                <a:ea typeface="Times"/>
                <a:cs typeface="Times"/>
                <a:sym typeface="Times"/>
              </a:rPr>
              <a:t>3</a:t>
            </a:r>
            <a:r>
              <a:rPr i="1" lang="en-GB" sz="2100">
                <a:latin typeface="Times"/>
                <a:ea typeface="Times"/>
                <a:cs typeface="Times"/>
                <a:sym typeface="Times"/>
              </a:rPr>
              <a:t>n</a:t>
            </a:r>
            <a:r>
              <a:rPr lang="en-GB" sz="2100">
                <a:latin typeface="Times"/>
                <a:ea typeface="Times"/>
                <a:cs typeface="Times"/>
                <a:sym typeface="Times"/>
              </a:rPr>
              <a:t> + 1</a:t>
            </a: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1000"/>
              </a:spcBef>
              <a:spcAft>
                <a:spcPts val="1000"/>
              </a:spcAft>
              <a:buNone/>
            </a:pPr>
            <a:r>
              <a:rPr lang="en-GB" sz="1800"/>
              <a:t> </a:t>
            </a:r>
            <a:endParaRPr sz="1800"/>
          </a:p>
        </p:txBody>
      </p:sp>
      <p:sp>
        <p:nvSpPr>
          <p:cNvPr id="1267" name="Google Shape;1267;p88"/>
          <p:cNvSpPr txBox="1"/>
          <p:nvPr>
            <p:ph idx="1" type="body"/>
          </p:nvPr>
        </p:nvSpPr>
        <p:spPr>
          <a:xfrm>
            <a:off x="324000" y="2216838"/>
            <a:ext cx="8496000" cy="7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To find any number in the sequences added together you would apply the rule </a:t>
            </a:r>
            <a:r>
              <a:rPr lang="en-GB" sz="2100">
                <a:latin typeface="Times"/>
                <a:ea typeface="Times"/>
                <a:cs typeface="Times"/>
                <a:sym typeface="Times"/>
              </a:rPr>
              <a:t>2</a:t>
            </a:r>
            <a:r>
              <a:rPr i="1" lang="en-GB" sz="2100">
                <a:latin typeface="Times"/>
                <a:ea typeface="Times"/>
                <a:cs typeface="Times"/>
                <a:sym typeface="Times"/>
              </a:rPr>
              <a:t>n</a:t>
            </a:r>
            <a:r>
              <a:rPr lang="en-GB" sz="2100">
                <a:latin typeface="Times"/>
                <a:ea typeface="Times"/>
                <a:cs typeface="Times"/>
                <a:sym typeface="Times"/>
              </a:rPr>
              <a:t> + 1</a:t>
            </a:r>
            <a:r>
              <a:rPr lang="en-GB" sz="1800"/>
              <a:t> and then add the value of </a:t>
            </a:r>
            <a:r>
              <a:rPr lang="en-GB" sz="2100">
                <a:latin typeface="Times"/>
                <a:ea typeface="Times"/>
                <a:cs typeface="Times"/>
                <a:sym typeface="Times"/>
              </a:rPr>
              <a:t>3</a:t>
            </a:r>
            <a:r>
              <a:rPr i="1" lang="en-GB" sz="2100">
                <a:latin typeface="Times"/>
                <a:ea typeface="Times"/>
                <a:cs typeface="Times"/>
                <a:sym typeface="Times"/>
              </a:rPr>
              <a:t>n</a:t>
            </a:r>
            <a:r>
              <a:rPr lang="en-GB" sz="2100">
                <a:latin typeface="Times"/>
                <a:ea typeface="Times"/>
                <a:cs typeface="Times"/>
                <a:sym typeface="Times"/>
              </a:rPr>
              <a:t> + 1</a:t>
            </a:r>
            <a:r>
              <a:rPr lang="en-GB" sz="1800"/>
              <a:t> </a:t>
            </a:r>
            <a:endParaRPr sz="1800"/>
          </a:p>
          <a:p>
            <a:pPr indent="0" lvl="0" marL="0" rtl="0" algn="l">
              <a:spcBef>
                <a:spcPts val="1000"/>
              </a:spcBef>
              <a:spcAft>
                <a:spcPts val="1000"/>
              </a:spcAft>
              <a:buNone/>
            </a:pPr>
            <a:r>
              <a:rPr lang="en-GB" sz="1800"/>
              <a:t> </a:t>
            </a:r>
            <a:endParaRPr sz="1800"/>
          </a:p>
        </p:txBody>
      </p:sp>
      <p:sp>
        <p:nvSpPr>
          <p:cNvPr id="1268" name="Google Shape;1268;p88"/>
          <p:cNvSpPr txBox="1"/>
          <p:nvPr>
            <p:ph idx="1" type="body"/>
          </p:nvPr>
        </p:nvSpPr>
        <p:spPr>
          <a:xfrm>
            <a:off x="324000" y="3041300"/>
            <a:ext cx="8496000" cy="7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latin typeface="Times"/>
                <a:ea typeface="Times"/>
                <a:cs typeface="Times"/>
                <a:sym typeface="Times"/>
              </a:rPr>
              <a:t>2</a:t>
            </a:r>
            <a:r>
              <a:rPr i="1" lang="en-GB" sz="2100">
                <a:latin typeface="Times"/>
                <a:ea typeface="Times"/>
                <a:cs typeface="Times"/>
                <a:sym typeface="Times"/>
              </a:rPr>
              <a:t>n</a:t>
            </a:r>
            <a:r>
              <a:rPr lang="en-GB" sz="2100">
                <a:latin typeface="Times"/>
                <a:ea typeface="Times"/>
                <a:cs typeface="Times"/>
                <a:sym typeface="Times"/>
              </a:rPr>
              <a:t> + 1</a:t>
            </a:r>
            <a:r>
              <a:rPr lang="en-GB" sz="1800"/>
              <a:t> </a:t>
            </a:r>
            <a:r>
              <a:rPr lang="en-GB" sz="2100">
                <a:latin typeface="Times"/>
                <a:ea typeface="Times"/>
                <a:cs typeface="Times"/>
                <a:sym typeface="Times"/>
              </a:rPr>
              <a:t>+</a:t>
            </a:r>
            <a:r>
              <a:rPr lang="en-GB" sz="1800"/>
              <a:t> </a:t>
            </a:r>
            <a:r>
              <a:rPr lang="en-GB" sz="2100">
                <a:latin typeface="Times"/>
                <a:ea typeface="Times"/>
                <a:cs typeface="Times"/>
                <a:sym typeface="Times"/>
              </a:rPr>
              <a:t>3</a:t>
            </a:r>
            <a:r>
              <a:rPr i="1" lang="en-GB" sz="2100">
                <a:latin typeface="Times"/>
                <a:ea typeface="Times"/>
                <a:cs typeface="Times"/>
                <a:sym typeface="Times"/>
              </a:rPr>
              <a:t>n</a:t>
            </a:r>
            <a:r>
              <a:rPr lang="en-GB" sz="2100">
                <a:latin typeface="Times"/>
                <a:ea typeface="Times"/>
                <a:cs typeface="Times"/>
                <a:sym typeface="Times"/>
              </a:rPr>
              <a:t> + 1</a:t>
            </a:r>
            <a:r>
              <a:rPr lang="en-GB" sz="1800"/>
              <a:t> can be simplified by collecting like terms.</a:t>
            </a:r>
            <a:endParaRPr sz="1800"/>
          </a:p>
          <a:p>
            <a:pPr indent="0" lvl="0" marL="0" rtl="0" algn="l">
              <a:spcBef>
                <a:spcPts val="1000"/>
              </a:spcBef>
              <a:spcAft>
                <a:spcPts val="0"/>
              </a:spcAft>
              <a:buNone/>
            </a:pPr>
            <a:r>
              <a:rPr lang="en-GB" sz="2100">
                <a:latin typeface="Times"/>
                <a:ea typeface="Times"/>
                <a:cs typeface="Times"/>
                <a:sym typeface="Times"/>
              </a:rPr>
              <a:t>5</a:t>
            </a:r>
            <a:r>
              <a:rPr i="1" lang="en-GB" sz="2100">
                <a:latin typeface="Times"/>
                <a:ea typeface="Times"/>
                <a:cs typeface="Times"/>
                <a:sym typeface="Times"/>
              </a:rPr>
              <a:t>n</a:t>
            </a:r>
            <a:r>
              <a:rPr lang="en-GB" sz="2100">
                <a:latin typeface="Times"/>
                <a:ea typeface="Times"/>
                <a:cs typeface="Times"/>
                <a:sym typeface="Times"/>
              </a:rPr>
              <a:t> + 2</a:t>
            </a:r>
            <a:r>
              <a:rPr lang="en-GB" sz="1800"/>
              <a:t> </a:t>
            </a:r>
            <a:endParaRPr sz="1800"/>
          </a:p>
          <a:p>
            <a:pPr indent="0" lvl="0" marL="0" rtl="0" algn="l">
              <a:spcBef>
                <a:spcPts val="1000"/>
              </a:spcBef>
              <a:spcAft>
                <a:spcPts val="1000"/>
              </a:spcAft>
              <a:buNone/>
            </a:pPr>
            <a:r>
              <a:rPr lang="en-GB" sz="1800"/>
              <a:t> </a:t>
            </a:r>
            <a:endParaRPr sz="1800"/>
          </a:p>
        </p:txBody>
      </p:sp>
      <p:sp>
        <p:nvSpPr>
          <p:cNvPr id="1269" name="Google Shape;1269;p88"/>
          <p:cNvSpPr txBox="1"/>
          <p:nvPr>
            <p:ph idx="1" type="body"/>
          </p:nvPr>
        </p:nvSpPr>
        <p:spPr>
          <a:xfrm>
            <a:off x="324000" y="4017525"/>
            <a:ext cx="8496000" cy="7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new sequence 7, 12, 17, 22, …. should have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 </a:t>
            </a:r>
            <a:r>
              <a:rPr lang="en-GB" sz="2100">
                <a:latin typeface="Times"/>
                <a:ea typeface="Times"/>
                <a:cs typeface="Times"/>
                <a:sym typeface="Times"/>
              </a:rPr>
              <a:t>5</a:t>
            </a:r>
            <a:r>
              <a:rPr i="1" lang="en-GB" sz="2100">
                <a:latin typeface="Times"/>
                <a:ea typeface="Times"/>
                <a:cs typeface="Times"/>
                <a:sym typeface="Times"/>
              </a:rPr>
              <a:t>n</a:t>
            </a:r>
            <a:r>
              <a:rPr lang="en-GB" sz="2100">
                <a:latin typeface="Times"/>
                <a:ea typeface="Times"/>
                <a:cs typeface="Times"/>
                <a:sym typeface="Times"/>
              </a:rPr>
              <a:t> + 2</a:t>
            </a:r>
            <a:r>
              <a:rPr lang="en-GB" sz="1800"/>
              <a:t> which would make it a linear sequence. Check this is true.</a:t>
            </a:r>
            <a:endParaRPr sz="1800"/>
          </a:p>
          <a:p>
            <a:pPr indent="0" lvl="0" marL="0" rtl="0" algn="l">
              <a:spcBef>
                <a:spcPts val="1000"/>
              </a:spcBef>
              <a:spcAft>
                <a:spcPts val="1000"/>
              </a:spcAft>
              <a:buNone/>
            </a:pPr>
            <a:r>
              <a:rPr lang="en-GB" sz="1800"/>
              <a:t> </a:t>
            </a:r>
            <a:endParaRPr sz="1800"/>
          </a:p>
        </p:txBody>
      </p:sp>
      <p:pic>
        <p:nvPicPr>
          <p:cNvPr id="1270" name="Google Shape;1270;p88"/>
          <p:cNvPicPr preferRelativeResize="0"/>
          <p:nvPr/>
        </p:nvPicPr>
        <p:blipFill>
          <a:blip r:embed="rId3">
            <a:alphaModFix/>
          </a:blip>
          <a:stretch>
            <a:fillRect/>
          </a:stretch>
        </p:blipFill>
        <p:spPr>
          <a:xfrm>
            <a:off x="6256808" y="43200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sp>
        <p:nvSpPr>
          <p:cNvPr id="1276" name="Google Shape;1276;p89"/>
          <p:cNvSpPr txBox="1"/>
          <p:nvPr>
            <p:ph idx="1" type="body"/>
          </p:nvPr>
        </p:nvSpPr>
        <p:spPr>
          <a:xfrm>
            <a:off x="324000" y="759300"/>
            <a:ext cx="8496000" cy="129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So adding two sequences together means we can add their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rules to get the rule for the new sequence.</a:t>
            </a:r>
            <a:endParaRPr sz="1800"/>
          </a:p>
          <a:p>
            <a:pPr indent="0" lvl="0" marL="0" rtl="0" algn="l">
              <a:spcBef>
                <a:spcPts val="1000"/>
              </a:spcBef>
              <a:spcAft>
                <a:spcPts val="0"/>
              </a:spcAft>
              <a:buNone/>
            </a:pPr>
            <a:r>
              <a:rPr lang="en-GB" sz="1800"/>
              <a:t>Adding two linear expressions will give another linear expression. You can prove this using algebra if you wish.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sp>
        <p:nvSpPr>
          <p:cNvPr id="1277" name="Google Shape;1277;p89"/>
          <p:cNvSpPr txBox="1"/>
          <p:nvPr/>
        </p:nvSpPr>
        <p:spPr>
          <a:xfrm>
            <a:off x="324000" y="3296242"/>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278" name="Google Shape;1278;p89"/>
          <p:cNvPicPr preferRelativeResize="0"/>
          <p:nvPr/>
        </p:nvPicPr>
        <p:blipFill>
          <a:blip r:embed="rId3">
            <a:alphaModFix/>
          </a:blip>
          <a:stretch>
            <a:fillRect/>
          </a:stretch>
        </p:blipFill>
        <p:spPr>
          <a:xfrm flipH="1">
            <a:off x="513598" y="2793249"/>
            <a:ext cx="510291" cy="566087"/>
          </a:xfrm>
          <a:prstGeom prst="rect">
            <a:avLst/>
          </a:prstGeom>
          <a:noFill/>
          <a:ln>
            <a:noFill/>
          </a:ln>
        </p:spPr>
      </p:pic>
      <p:pic>
        <p:nvPicPr>
          <p:cNvPr id="1279" name="Google Shape;1279;p89"/>
          <p:cNvPicPr preferRelativeResize="0"/>
          <p:nvPr/>
        </p:nvPicPr>
        <p:blipFill rotWithShape="1">
          <a:blip r:embed="rId4">
            <a:alphaModFix/>
          </a:blip>
          <a:srcRect b="43690" l="0" r="57905" t="0"/>
          <a:stretch/>
        </p:blipFill>
        <p:spPr>
          <a:xfrm flipH="1">
            <a:off x="1023898" y="2347900"/>
            <a:ext cx="3296102" cy="1080000"/>
          </a:xfrm>
          <a:prstGeom prst="rect">
            <a:avLst/>
          </a:prstGeom>
          <a:noFill/>
          <a:ln>
            <a:noFill/>
          </a:ln>
        </p:spPr>
      </p:pic>
      <p:sp>
        <p:nvSpPr>
          <p:cNvPr id="1280" name="Google Shape;1280;p89"/>
          <p:cNvSpPr/>
          <p:nvPr/>
        </p:nvSpPr>
        <p:spPr>
          <a:xfrm>
            <a:off x="1288850" y="2409200"/>
            <a:ext cx="29163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What about if we add two quadratic sequences together?</a:t>
            </a:r>
            <a:endParaRPr sz="1800">
              <a:latin typeface="Lexend"/>
              <a:ea typeface="Lexend"/>
              <a:cs typeface="Lexend"/>
              <a:sym typeface="Lexend"/>
            </a:endParaRPr>
          </a:p>
        </p:txBody>
      </p:sp>
      <p:sp>
        <p:nvSpPr>
          <p:cNvPr id="1281" name="Google Shape;1281;p89"/>
          <p:cNvSpPr/>
          <p:nvPr/>
        </p:nvSpPr>
        <p:spPr>
          <a:xfrm>
            <a:off x="4422300" y="2347900"/>
            <a:ext cx="4397700" cy="2201100"/>
          </a:xfrm>
          <a:prstGeom prst="roundRect">
            <a:avLst>
              <a:gd fmla="val 16667" name="adj"/>
            </a:avLst>
          </a:prstGeom>
          <a:solidFill>
            <a:schemeClr val="lt1"/>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2" name="Google Shape;1282;p89"/>
          <p:cNvSpPr txBox="1"/>
          <p:nvPr>
            <p:ph idx="1" type="body"/>
          </p:nvPr>
        </p:nvSpPr>
        <p:spPr>
          <a:xfrm>
            <a:off x="4529553" y="2385249"/>
            <a:ext cx="4183200" cy="100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quadratic sequence has a linear relationship in the differences between terms. </a:t>
            </a:r>
            <a:endParaRPr sz="1800"/>
          </a:p>
          <a:p>
            <a:pPr indent="0" lvl="0" marL="0" rtl="0" algn="l">
              <a:spcBef>
                <a:spcPts val="1000"/>
              </a:spcBef>
              <a:spcAft>
                <a:spcPts val="0"/>
              </a:spcAft>
              <a:buNone/>
            </a:pPr>
            <a:r>
              <a:rPr lang="en-GB" sz="1800"/>
              <a:t>E.g. add 2, add 4, add 6, add 8, … </a:t>
            </a:r>
            <a:endParaRPr sz="1800"/>
          </a:p>
          <a:p>
            <a:pPr indent="0" lvl="0" marL="0" rtl="0" algn="l">
              <a:spcBef>
                <a:spcPts val="1000"/>
              </a:spcBef>
              <a:spcAft>
                <a:spcPts val="1000"/>
              </a:spcAft>
              <a:buNone/>
            </a:pPr>
            <a:r>
              <a:rPr lang="en-GB" sz="1800"/>
              <a:t>We can say they have a common second difference. </a:t>
            </a:r>
            <a:endParaRPr sz="1800"/>
          </a:p>
        </p:txBody>
      </p:sp>
      <p:sp>
        <p:nvSpPr>
          <p:cNvPr id="1283" name="Google Shape;1283;p89"/>
          <p:cNvSpPr txBox="1"/>
          <p:nvPr>
            <p:ph idx="1" type="body"/>
          </p:nvPr>
        </p:nvSpPr>
        <p:spPr>
          <a:xfrm>
            <a:off x="324000" y="3823950"/>
            <a:ext cx="4098300" cy="93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What do you think will happen?</a:t>
            </a:r>
            <a:endParaRPr sz="1800"/>
          </a:p>
          <a:p>
            <a:pPr indent="0" lvl="0" marL="0" rtl="0" algn="l">
              <a:spcBef>
                <a:spcPts val="1000"/>
              </a:spcBef>
              <a:spcAft>
                <a:spcPts val="0"/>
              </a:spcAft>
              <a:buNone/>
            </a:pPr>
            <a:r>
              <a:rPr lang="en-GB" sz="1800"/>
              <a:t>Try an example.  </a:t>
            </a:r>
            <a:endParaRPr sz="1800"/>
          </a:p>
          <a:p>
            <a:pPr indent="0" lvl="0" marL="0" rtl="0" algn="l">
              <a:spcBef>
                <a:spcPts val="1000"/>
              </a:spcBef>
              <a:spcAft>
                <a:spcPts val="1000"/>
              </a:spcAft>
              <a:buNone/>
            </a:pP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sp>
        <p:nvSpPr>
          <p:cNvPr id="1289" name="Google Shape;1289;p90"/>
          <p:cNvSpPr txBox="1"/>
          <p:nvPr>
            <p:ph idx="1" type="body"/>
          </p:nvPr>
        </p:nvSpPr>
        <p:spPr>
          <a:xfrm>
            <a:off x="324000" y="744975"/>
            <a:ext cx="8496000" cy="27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6, 12, 20, 30, … is a quadratic sequence with common second difference +2</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grpSp>
        <p:nvGrpSpPr>
          <p:cNvPr id="1290" name="Google Shape;1290;p90"/>
          <p:cNvGrpSpPr/>
          <p:nvPr/>
        </p:nvGrpSpPr>
        <p:grpSpPr>
          <a:xfrm>
            <a:off x="5388598" y="2747677"/>
            <a:ext cx="1894584" cy="481448"/>
            <a:chOff x="323898" y="2342327"/>
            <a:chExt cx="1894584" cy="481448"/>
          </a:xfrm>
        </p:grpSpPr>
        <p:grpSp>
          <p:nvGrpSpPr>
            <p:cNvPr id="1291" name="Google Shape;1291;p90"/>
            <p:cNvGrpSpPr/>
            <p:nvPr/>
          </p:nvGrpSpPr>
          <p:grpSpPr>
            <a:xfrm>
              <a:off x="323898" y="2342327"/>
              <a:ext cx="515544" cy="481448"/>
              <a:chOff x="2478625" y="1513999"/>
              <a:chExt cx="739874" cy="481448"/>
            </a:xfrm>
          </p:grpSpPr>
          <p:pic>
            <p:nvPicPr>
              <p:cNvPr id="1292" name="Google Shape;1292;p90"/>
              <p:cNvPicPr preferRelativeResize="0"/>
              <p:nvPr/>
            </p:nvPicPr>
            <p:blipFill rotWithShape="1">
              <a:blip r:embed="rId3">
                <a:alphaModFix/>
              </a:blip>
              <a:srcRect b="59597" l="61559" r="13951" t="27330"/>
              <a:stretch/>
            </p:blipFill>
            <p:spPr>
              <a:xfrm flipH="1" rot="10800000">
                <a:off x="2478625" y="1513999"/>
                <a:ext cx="687700" cy="222851"/>
              </a:xfrm>
              <a:prstGeom prst="rect">
                <a:avLst/>
              </a:prstGeom>
              <a:noFill/>
              <a:ln>
                <a:noFill/>
              </a:ln>
            </p:spPr>
          </p:pic>
          <p:sp>
            <p:nvSpPr>
              <p:cNvPr id="1293" name="Google Shape;1293;p90"/>
              <p:cNvSpPr/>
              <p:nvPr/>
            </p:nvSpPr>
            <p:spPr>
              <a:xfrm>
                <a:off x="2530899" y="1701747"/>
                <a:ext cx="6876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p:txBody>
          </p:sp>
        </p:grpSp>
        <p:grpSp>
          <p:nvGrpSpPr>
            <p:cNvPr id="1294" name="Google Shape;1294;p90"/>
            <p:cNvGrpSpPr/>
            <p:nvPr/>
          </p:nvGrpSpPr>
          <p:grpSpPr>
            <a:xfrm>
              <a:off x="748667" y="2342327"/>
              <a:ext cx="490271" cy="481448"/>
              <a:chOff x="3088225" y="1513999"/>
              <a:chExt cx="703603" cy="481448"/>
            </a:xfrm>
          </p:grpSpPr>
          <p:pic>
            <p:nvPicPr>
              <p:cNvPr id="1295" name="Google Shape;1295;p90"/>
              <p:cNvPicPr preferRelativeResize="0"/>
              <p:nvPr/>
            </p:nvPicPr>
            <p:blipFill rotWithShape="1">
              <a:blip r:embed="rId3">
                <a:alphaModFix/>
              </a:blip>
              <a:srcRect b="59597" l="61559" r="13951" t="27330"/>
              <a:stretch/>
            </p:blipFill>
            <p:spPr>
              <a:xfrm flipH="1" rot="10800000">
                <a:off x="3088225" y="1513999"/>
                <a:ext cx="687700" cy="222851"/>
              </a:xfrm>
              <a:prstGeom prst="rect">
                <a:avLst/>
              </a:prstGeom>
              <a:noFill/>
              <a:ln>
                <a:noFill/>
              </a:ln>
            </p:spPr>
          </p:pic>
          <p:sp>
            <p:nvSpPr>
              <p:cNvPr id="1296" name="Google Shape;1296;p90"/>
              <p:cNvSpPr/>
              <p:nvPr/>
            </p:nvSpPr>
            <p:spPr>
              <a:xfrm>
                <a:off x="3104228" y="1701747"/>
                <a:ext cx="6876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p:txBody>
          </p:sp>
        </p:grpSp>
        <p:grpSp>
          <p:nvGrpSpPr>
            <p:cNvPr id="1297" name="Google Shape;1297;p90"/>
            <p:cNvGrpSpPr/>
            <p:nvPr/>
          </p:nvGrpSpPr>
          <p:grpSpPr>
            <a:xfrm>
              <a:off x="1068766" y="2342327"/>
              <a:ext cx="675408" cy="481448"/>
              <a:chOff x="3547609" y="1513999"/>
              <a:chExt cx="969300" cy="481448"/>
            </a:xfrm>
          </p:grpSpPr>
          <p:pic>
            <p:nvPicPr>
              <p:cNvPr id="1298" name="Google Shape;1298;p90"/>
              <p:cNvPicPr preferRelativeResize="0"/>
              <p:nvPr/>
            </p:nvPicPr>
            <p:blipFill rotWithShape="1">
              <a:blip r:embed="rId3">
                <a:alphaModFix/>
              </a:blip>
              <a:srcRect b="59597" l="61559" r="13951" t="27330"/>
              <a:stretch/>
            </p:blipFill>
            <p:spPr>
              <a:xfrm flipH="1" rot="10800000">
                <a:off x="3697825" y="1513999"/>
                <a:ext cx="687700" cy="222851"/>
              </a:xfrm>
              <a:prstGeom prst="rect">
                <a:avLst/>
              </a:prstGeom>
              <a:noFill/>
              <a:ln>
                <a:noFill/>
              </a:ln>
            </p:spPr>
          </p:pic>
          <p:sp>
            <p:nvSpPr>
              <p:cNvPr id="1299" name="Google Shape;1299;p90"/>
              <p:cNvSpPr/>
              <p:nvPr/>
            </p:nvSpPr>
            <p:spPr>
              <a:xfrm>
                <a:off x="3547609" y="1701747"/>
                <a:ext cx="9693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p:txBody>
          </p:sp>
        </p:grpSp>
        <p:grpSp>
          <p:nvGrpSpPr>
            <p:cNvPr id="1300" name="Google Shape;1300;p90"/>
            <p:cNvGrpSpPr/>
            <p:nvPr/>
          </p:nvGrpSpPr>
          <p:grpSpPr>
            <a:xfrm>
              <a:off x="1543073" y="2342327"/>
              <a:ext cx="675408" cy="481448"/>
              <a:chOff x="4228303" y="1513999"/>
              <a:chExt cx="969300" cy="481448"/>
            </a:xfrm>
          </p:grpSpPr>
          <p:pic>
            <p:nvPicPr>
              <p:cNvPr id="1301" name="Google Shape;1301;p90"/>
              <p:cNvPicPr preferRelativeResize="0"/>
              <p:nvPr/>
            </p:nvPicPr>
            <p:blipFill rotWithShape="1">
              <a:blip r:embed="rId3">
                <a:alphaModFix/>
              </a:blip>
              <a:srcRect b="59597" l="61559" r="13951" t="27330"/>
              <a:stretch/>
            </p:blipFill>
            <p:spPr>
              <a:xfrm flipH="1" rot="10800000">
                <a:off x="4307425" y="1513999"/>
                <a:ext cx="687700" cy="222851"/>
              </a:xfrm>
              <a:prstGeom prst="rect">
                <a:avLst/>
              </a:prstGeom>
              <a:noFill/>
              <a:ln>
                <a:noFill/>
              </a:ln>
            </p:spPr>
          </p:pic>
          <p:sp>
            <p:nvSpPr>
              <p:cNvPr id="1302" name="Google Shape;1302;p90"/>
              <p:cNvSpPr/>
              <p:nvPr/>
            </p:nvSpPr>
            <p:spPr>
              <a:xfrm>
                <a:off x="4228303" y="1701747"/>
                <a:ext cx="9693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+14</a:t>
                </a:r>
                <a:endParaRPr sz="1800">
                  <a:latin typeface="Lexend"/>
                  <a:ea typeface="Lexend"/>
                  <a:cs typeface="Lexend"/>
                  <a:sym typeface="Lexend"/>
                </a:endParaRPr>
              </a:p>
            </p:txBody>
          </p:sp>
        </p:grpSp>
      </p:grpSp>
      <p:grpSp>
        <p:nvGrpSpPr>
          <p:cNvPr id="1303" name="Google Shape;1303;p90"/>
          <p:cNvGrpSpPr/>
          <p:nvPr/>
        </p:nvGrpSpPr>
        <p:grpSpPr>
          <a:xfrm>
            <a:off x="5610461" y="3229127"/>
            <a:ext cx="1472342" cy="463398"/>
            <a:chOff x="538773" y="2898027"/>
            <a:chExt cx="1472342" cy="463398"/>
          </a:xfrm>
        </p:grpSpPr>
        <p:grpSp>
          <p:nvGrpSpPr>
            <p:cNvPr id="1304" name="Google Shape;1304;p90"/>
            <p:cNvGrpSpPr/>
            <p:nvPr/>
          </p:nvGrpSpPr>
          <p:grpSpPr>
            <a:xfrm>
              <a:off x="538773" y="2898027"/>
              <a:ext cx="515543" cy="463398"/>
              <a:chOff x="2787000" y="2069699"/>
              <a:chExt cx="739873" cy="463398"/>
            </a:xfrm>
          </p:grpSpPr>
          <p:pic>
            <p:nvPicPr>
              <p:cNvPr id="1305" name="Google Shape;1305;p90"/>
              <p:cNvPicPr preferRelativeResize="0"/>
              <p:nvPr/>
            </p:nvPicPr>
            <p:blipFill rotWithShape="1">
              <a:blip r:embed="rId3">
                <a:alphaModFix/>
              </a:blip>
              <a:srcRect b="59597" l="61559" r="13951" t="27330"/>
              <a:stretch/>
            </p:blipFill>
            <p:spPr>
              <a:xfrm flipH="1" rot="10800000">
                <a:off x="2787000" y="2069699"/>
                <a:ext cx="687700" cy="222851"/>
              </a:xfrm>
              <a:prstGeom prst="rect">
                <a:avLst/>
              </a:prstGeom>
              <a:noFill/>
              <a:ln>
                <a:noFill/>
              </a:ln>
            </p:spPr>
          </p:pic>
          <p:sp>
            <p:nvSpPr>
              <p:cNvPr id="1306" name="Google Shape;1306;p90"/>
              <p:cNvSpPr/>
              <p:nvPr/>
            </p:nvSpPr>
            <p:spPr>
              <a:xfrm>
                <a:off x="2839273" y="2239397"/>
                <a:ext cx="6876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grpSp>
        <p:grpSp>
          <p:nvGrpSpPr>
            <p:cNvPr id="1307" name="Google Shape;1307;p90"/>
            <p:cNvGrpSpPr/>
            <p:nvPr/>
          </p:nvGrpSpPr>
          <p:grpSpPr>
            <a:xfrm>
              <a:off x="990091" y="2898027"/>
              <a:ext cx="551927" cy="463398"/>
              <a:chOff x="3434700" y="2069699"/>
              <a:chExt cx="792088" cy="463398"/>
            </a:xfrm>
          </p:grpSpPr>
          <p:pic>
            <p:nvPicPr>
              <p:cNvPr id="1308" name="Google Shape;1308;p90"/>
              <p:cNvPicPr preferRelativeResize="0"/>
              <p:nvPr/>
            </p:nvPicPr>
            <p:blipFill rotWithShape="1">
              <a:blip r:embed="rId3">
                <a:alphaModFix/>
              </a:blip>
              <a:srcRect b="59597" l="61559" r="13951" t="27330"/>
              <a:stretch/>
            </p:blipFill>
            <p:spPr>
              <a:xfrm flipH="1" rot="10800000">
                <a:off x="3434700" y="2069699"/>
                <a:ext cx="687700" cy="222851"/>
              </a:xfrm>
              <a:prstGeom prst="rect">
                <a:avLst/>
              </a:prstGeom>
              <a:noFill/>
              <a:ln>
                <a:noFill/>
              </a:ln>
            </p:spPr>
          </p:pic>
          <p:sp>
            <p:nvSpPr>
              <p:cNvPr id="1309" name="Google Shape;1309;p90"/>
              <p:cNvSpPr/>
              <p:nvPr/>
            </p:nvSpPr>
            <p:spPr>
              <a:xfrm>
                <a:off x="3486988" y="2239397"/>
                <a:ext cx="7398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grpSp>
        <p:grpSp>
          <p:nvGrpSpPr>
            <p:cNvPr id="1310" name="Google Shape;1310;p90"/>
            <p:cNvGrpSpPr/>
            <p:nvPr/>
          </p:nvGrpSpPr>
          <p:grpSpPr>
            <a:xfrm>
              <a:off x="1441408" y="2898027"/>
              <a:ext cx="569707" cy="463398"/>
              <a:chOff x="4082400" y="2069699"/>
              <a:chExt cx="817605" cy="463398"/>
            </a:xfrm>
          </p:grpSpPr>
          <p:pic>
            <p:nvPicPr>
              <p:cNvPr id="1311" name="Google Shape;1311;p90"/>
              <p:cNvPicPr preferRelativeResize="0"/>
              <p:nvPr/>
            </p:nvPicPr>
            <p:blipFill rotWithShape="1">
              <a:blip r:embed="rId3">
                <a:alphaModFix/>
              </a:blip>
              <a:srcRect b="59597" l="61559" r="13951" t="27330"/>
              <a:stretch/>
            </p:blipFill>
            <p:spPr>
              <a:xfrm flipH="1" rot="10800000">
                <a:off x="4082400" y="2069699"/>
                <a:ext cx="687700" cy="222851"/>
              </a:xfrm>
              <a:prstGeom prst="rect">
                <a:avLst/>
              </a:prstGeom>
              <a:noFill/>
              <a:ln>
                <a:noFill/>
              </a:ln>
            </p:spPr>
          </p:pic>
          <p:sp>
            <p:nvSpPr>
              <p:cNvPr id="1312" name="Google Shape;1312;p90"/>
              <p:cNvSpPr/>
              <p:nvPr/>
            </p:nvSpPr>
            <p:spPr>
              <a:xfrm>
                <a:off x="4134705" y="2239397"/>
                <a:ext cx="7653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grpSp>
      </p:grpSp>
      <p:sp>
        <p:nvSpPr>
          <p:cNvPr id="1313" name="Google Shape;1313;p90"/>
          <p:cNvSpPr txBox="1"/>
          <p:nvPr>
            <p:ph idx="1" type="body"/>
          </p:nvPr>
        </p:nvSpPr>
        <p:spPr>
          <a:xfrm>
            <a:off x="324000" y="3811025"/>
            <a:ext cx="8496000" cy="113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We have another quadratic sequence </a:t>
            </a:r>
            <a:r>
              <a:rPr lang="en-GB" sz="1800"/>
              <a:t>with</a:t>
            </a:r>
            <a:r>
              <a:rPr lang="en-GB" sz="1800"/>
              <a:t> common second difference +3</a:t>
            </a:r>
            <a:endParaRPr sz="1800"/>
          </a:p>
          <a:p>
            <a:pPr indent="0" lvl="0" marL="0" rtl="0" algn="l">
              <a:spcBef>
                <a:spcPts val="1000"/>
              </a:spcBef>
              <a:spcAft>
                <a:spcPts val="0"/>
              </a:spcAft>
              <a:buNone/>
            </a:pPr>
            <a:r>
              <a:rPr lang="en-GB" sz="1800"/>
              <a:t>We are not able to explore this algebraically </a:t>
            </a:r>
            <a:r>
              <a:rPr lang="en-GB" sz="1800"/>
              <a:t>without</a:t>
            </a:r>
            <a:r>
              <a:rPr lang="en-GB" sz="1800"/>
              <a:t> knowing the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rules however we can try more examples.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grpSp>
        <p:nvGrpSpPr>
          <p:cNvPr id="1314" name="Google Shape;1314;p90"/>
          <p:cNvGrpSpPr/>
          <p:nvPr/>
        </p:nvGrpSpPr>
        <p:grpSpPr>
          <a:xfrm>
            <a:off x="262723" y="1022671"/>
            <a:ext cx="1692888" cy="452799"/>
            <a:chOff x="247576" y="2342327"/>
            <a:chExt cx="2108204" cy="452799"/>
          </a:xfrm>
        </p:grpSpPr>
        <p:grpSp>
          <p:nvGrpSpPr>
            <p:cNvPr id="1315" name="Google Shape;1315;p90"/>
            <p:cNvGrpSpPr/>
            <p:nvPr/>
          </p:nvGrpSpPr>
          <p:grpSpPr>
            <a:xfrm>
              <a:off x="247576" y="2342327"/>
              <a:ext cx="576950" cy="452799"/>
              <a:chOff x="2369093" y="1513999"/>
              <a:chExt cx="828000" cy="452799"/>
            </a:xfrm>
          </p:grpSpPr>
          <p:pic>
            <p:nvPicPr>
              <p:cNvPr id="1316" name="Google Shape;1316;p90"/>
              <p:cNvPicPr preferRelativeResize="0"/>
              <p:nvPr/>
            </p:nvPicPr>
            <p:blipFill rotWithShape="1">
              <a:blip r:embed="rId3">
                <a:alphaModFix/>
              </a:blip>
              <a:srcRect b="59597" l="61559" r="13951" t="27330"/>
              <a:stretch/>
            </p:blipFill>
            <p:spPr>
              <a:xfrm flipH="1" rot="10800000">
                <a:off x="2478625" y="1513999"/>
                <a:ext cx="687700" cy="222851"/>
              </a:xfrm>
              <a:prstGeom prst="rect">
                <a:avLst/>
              </a:prstGeom>
              <a:noFill/>
              <a:ln>
                <a:noFill/>
              </a:ln>
            </p:spPr>
          </p:pic>
          <p:sp>
            <p:nvSpPr>
              <p:cNvPr id="1317" name="Google Shape;1317;p90"/>
              <p:cNvSpPr/>
              <p:nvPr/>
            </p:nvSpPr>
            <p:spPr>
              <a:xfrm>
                <a:off x="2369093" y="1673098"/>
                <a:ext cx="828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grpSp>
        <p:grpSp>
          <p:nvGrpSpPr>
            <p:cNvPr id="1318" name="Google Shape;1318;p90"/>
            <p:cNvGrpSpPr/>
            <p:nvPr/>
          </p:nvGrpSpPr>
          <p:grpSpPr>
            <a:xfrm>
              <a:off x="703284" y="2342327"/>
              <a:ext cx="576950" cy="452799"/>
              <a:chOff x="3023095" y="1513999"/>
              <a:chExt cx="828000" cy="452799"/>
            </a:xfrm>
          </p:grpSpPr>
          <p:pic>
            <p:nvPicPr>
              <p:cNvPr id="1319" name="Google Shape;1319;p90"/>
              <p:cNvPicPr preferRelativeResize="0"/>
              <p:nvPr/>
            </p:nvPicPr>
            <p:blipFill rotWithShape="1">
              <a:blip r:embed="rId3">
                <a:alphaModFix/>
              </a:blip>
              <a:srcRect b="59597" l="61559" r="13951" t="27330"/>
              <a:stretch/>
            </p:blipFill>
            <p:spPr>
              <a:xfrm flipH="1" rot="10800000">
                <a:off x="3088225" y="1513999"/>
                <a:ext cx="687700" cy="222851"/>
              </a:xfrm>
              <a:prstGeom prst="rect">
                <a:avLst/>
              </a:prstGeom>
              <a:noFill/>
              <a:ln>
                <a:noFill/>
              </a:ln>
            </p:spPr>
          </p:pic>
          <p:sp>
            <p:nvSpPr>
              <p:cNvPr id="1320" name="Google Shape;1320;p90"/>
              <p:cNvSpPr/>
              <p:nvPr/>
            </p:nvSpPr>
            <p:spPr>
              <a:xfrm>
                <a:off x="3023095" y="1673098"/>
                <a:ext cx="828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p:txBody>
          </p:sp>
        </p:grpSp>
        <p:grpSp>
          <p:nvGrpSpPr>
            <p:cNvPr id="1321" name="Google Shape;1321;p90"/>
            <p:cNvGrpSpPr/>
            <p:nvPr/>
          </p:nvGrpSpPr>
          <p:grpSpPr>
            <a:xfrm>
              <a:off x="1024389" y="2342327"/>
              <a:ext cx="813166" cy="452799"/>
              <a:chOff x="3483923" y="1513999"/>
              <a:chExt cx="1167000" cy="452799"/>
            </a:xfrm>
          </p:grpSpPr>
          <p:pic>
            <p:nvPicPr>
              <p:cNvPr id="1322" name="Google Shape;1322;p90"/>
              <p:cNvPicPr preferRelativeResize="0"/>
              <p:nvPr/>
            </p:nvPicPr>
            <p:blipFill rotWithShape="1">
              <a:blip r:embed="rId3">
                <a:alphaModFix/>
              </a:blip>
              <a:srcRect b="59597" l="61559" r="13951" t="27330"/>
              <a:stretch/>
            </p:blipFill>
            <p:spPr>
              <a:xfrm flipH="1" rot="10800000">
                <a:off x="3697825" y="1513999"/>
                <a:ext cx="687700" cy="222851"/>
              </a:xfrm>
              <a:prstGeom prst="rect">
                <a:avLst/>
              </a:prstGeom>
              <a:noFill/>
              <a:ln>
                <a:noFill/>
              </a:ln>
            </p:spPr>
          </p:pic>
          <p:sp>
            <p:nvSpPr>
              <p:cNvPr id="1323" name="Google Shape;1323;p90"/>
              <p:cNvSpPr/>
              <p:nvPr/>
            </p:nvSpPr>
            <p:spPr>
              <a:xfrm>
                <a:off x="3483923" y="1673098"/>
                <a:ext cx="1167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p:txBody>
          </p:sp>
        </p:grpSp>
        <p:grpSp>
          <p:nvGrpSpPr>
            <p:cNvPr id="1324" name="Google Shape;1324;p90"/>
            <p:cNvGrpSpPr/>
            <p:nvPr/>
          </p:nvGrpSpPr>
          <p:grpSpPr>
            <a:xfrm>
              <a:off x="1542614" y="2342327"/>
              <a:ext cx="813166" cy="452799"/>
              <a:chOff x="4227644" y="1513999"/>
              <a:chExt cx="1167000" cy="452799"/>
            </a:xfrm>
          </p:grpSpPr>
          <p:pic>
            <p:nvPicPr>
              <p:cNvPr id="1325" name="Google Shape;1325;p90"/>
              <p:cNvPicPr preferRelativeResize="0"/>
              <p:nvPr/>
            </p:nvPicPr>
            <p:blipFill rotWithShape="1">
              <a:blip r:embed="rId3">
                <a:alphaModFix/>
              </a:blip>
              <a:srcRect b="59597" l="61559" r="13951" t="27330"/>
              <a:stretch/>
            </p:blipFill>
            <p:spPr>
              <a:xfrm flipH="1" rot="10800000">
                <a:off x="4307425" y="1513999"/>
                <a:ext cx="687700" cy="222851"/>
              </a:xfrm>
              <a:prstGeom prst="rect">
                <a:avLst/>
              </a:prstGeom>
              <a:noFill/>
              <a:ln>
                <a:noFill/>
              </a:ln>
            </p:spPr>
          </p:pic>
          <p:sp>
            <p:nvSpPr>
              <p:cNvPr id="1326" name="Google Shape;1326;p90"/>
              <p:cNvSpPr/>
              <p:nvPr/>
            </p:nvSpPr>
            <p:spPr>
              <a:xfrm>
                <a:off x="4227644" y="1673098"/>
                <a:ext cx="1167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p:txBody>
          </p:sp>
        </p:grpSp>
      </p:grpSp>
      <p:grpSp>
        <p:nvGrpSpPr>
          <p:cNvPr id="1327" name="Google Shape;1327;p90"/>
          <p:cNvGrpSpPr/>
          <p:nvPr/>
        </p:nvGrpSpPr>
        <p:grpSpPr>
          <a:xfrm>
            <a:off x="269886" y="1860871"/>
            <a:ext cx="1616688" cy="452799"/>
            <a:chOff x="247576" y="2342327"/>
            <a:chExt cx="2013310" cy="452799"/>
          </a:xfrm>
        </p:grpSpPr>
        <p:grpSp>
          <p:nvGrpSpPr>
            <p:cNvPr id="1328" name="Google Shape;1328;p90"/>
            <p:cNvGrpSpPr/>
            <p:nvPr/>
          </p:nvGrpSpPr>
          <p:grpSpPr>
            <a:xfrm>
              <a:off x="247576" y="2342327"/>
              <a:ext cx="576950" cy="452799"/>
              <a:chOff x="2369093" y="1513999"/>
              <a:chExt cx="828000" cy="452799"/>
            </a:xfrm>
          </p:grpSpPr>
          <p:pic>
            <p:nvPicPr>
              <p:cNvPr id="1329" name="Google Shape;1329;p90"/>
              <p:cNvPicPr preferRelativeResize="0"/>
              <p:nvPr/>
            </p:nvPicPr>
            <p:blipFill rotWithShape="1">
              <a:blip r:embed="rId3">
                <a:alphaModFix/>
              </a:blip>
              <a:srcRect b="59597" l="61559" r="13951" t="27330"/>
              <a:stretch/>
            </p:blipFill>
            <p:spPr>
              <a:xfrm flipH="1" rot="10800000">
                <a:off x="2478625" y="1513999"/>
                <a:ext cx="687700" cy="222851"/>
              </a:xfrm>
              <a:prstGeom prst="rect">
                <a:avLst/>
              </a:prstGeom>
              <a:noFill/>
              <a:ln>
                <a:noFill/>
              </a:ln>
            </p:spPr>
          </p:pic>
          <p:sp>
            <p:nvSpPr>
              <p:cNvPr id="1330" name="Google Shape;1330;p90"/>
              <p:cNvSpPr/>
              <p:nvPr/>
            </p:nvSpPr>
            <p:spPr>
              <a:xfrm>
                <a:off x="2369093" y="1673098"/>
                <a:ext cx="828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grpSp>
        <p:grpSp>
          <p:nvGrpSpPr>
            <p:cNvPr id="1331" name="Google Shape;1331;p90"/>
            <p:cNvGrpSpPr/>
            <p:nvPr/>
          </p:nvGrpSpPr>
          <p:grpSpPr>
            <a:xfrm>
              <a:off x="703284" y="2342327"/>
              <a:ext cx="576950" cy="452799"/>
              <a:chOff x="3023095" y="1513999"/>
              <a:chExt cx="828000" cy="452799"/>
            </a:xfrm>
          </p:grpSpPr>
          <p:pic>
            <p:nvPicPr>
              <p:cNvPr id="1332" name="Google Shape;1332;p90"/>
              <p:cNvPicPr preferRelativeResize="0"/>
              <p:nvPr/>
            </p:nvPicPr>
            <p:blipFill rotWithShape="1">
              <a:blip r:embed="rId3">
                <a:alphaModFix/>
              </a:blip>
              <a:srcRect b="59597" l="61559" r="13951" t="27330"/>
              <a:stretch/>
            </p:blipFill>
            <p:spPr>
              <a:xfrm flipH="1" rot="10800000">
                <a:off x="3088225" y="1513999"/>
                <a:ext cx="687700" cy="222851"/>
              </a:xfrm>
              <a:prstGeom prst="rect">
                <a:avLst/>
              </a:prstGeom>
              <a:noFill/>
              <a:ln>
                <a:noFill/>
              </a:ln>
            </p:spPr>
          </p:pic>
          <p:sp>
            <p:nvSpPr>
              <p:cNvPr id="1333" name="Google Shape;1333;p90"/>
              <p:cNvSpPr/>
              <p:nvPr/>
            </p:nvSpPr>
            <p:spPr>
              <a:xfrm>
                <a:off x="3023095" y="1673098"/>
                <a:ext cx="828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grpSp>
        <p:grpSp>
          <p:nvGrpSpPr>
            <p:cNvPr id="1334" name="Google Shape;1334;p90"/>
            <p:cNvGrpSpPr/>
            <p:nvPr/>
          </p:nvGrpSpPr>
          <p:grpSpPr>
            <a:xfrm>
              <a:off x="1024389" y="2342327"/>
              <a:ext cx="813166" cy="452799"/>
              <a:chOff x="3483923" y="1513999"/>
              <a:chExt cx="1167000" cy="452799"/>
            </a:xfrm>
          </p:grpSpPr>
          <p:pic>
            <p:nvPicPr>
              <p:cNvPr id="1335" name="Google Shape;1335;p90"/>
              <p:cNvPicPr preferRelativeResize="0"/>
              <p:nvPr/>
            </p:nvPicPr>
            <p:blipFill rotWithShape="1">
              <a:blip r:embed="rId3">
                <a:alphaModFix/>
              </a:blip>
              <a:srcRect b="59597" l="61559" r="13951" t="27330"/>
              <a:stretch/>
            </p:blipFill>
            <p:spPr>
              <a:xfrm flipH="1" rot="10800000">
                <a:off x="3697825" y="1513999"/>
                <a:ext cx="687700" cy="222851"/>
              </a:xfrm>
              <a:prstGeom prst="rect">
                <a:avLst/>
              </a:prstGeom>
              <a:noFill/>
              <a:ln>
                <a:noFill/>
              </a:ln>
            </p:spPr>
          </p:pic>
          <p:sp>
            <p:nvSpPr>
              <p:cNvPr id="1336" name="Google Shape;1336;p90"/>
              <p:cNvSpPr/>
              <p:nvPr/>
            </p:nvSpPr>
            <p:spPr>
              <a:xfrm>
                <a:off x="3483923" y="1673098"/>
                <a:ext cx="1167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grpSp>
        <p:grpSp>
          <p:nvGrpSpPr>
            <p:cNvPr id="1337" name="Google Shape;1337;p90"/>
            <p:cNvGrpSpPr/>
            <p:nvPr/>
          </p:nvGrpSpPr>
          <p:grpSpPr>
            <a:xfrm>
              <a:off x="1447720" y="2342327"/>
              <a:ext cx="813166" cy="452799"/>
              <a:chOff x="4091458" y="1513999"/>
              <a:chExt cx="1167000" cy="452799"/>
            </a:xfrm>
          </p:grpSpPr>
          <p:pic>
            <p:nvPicPr>
              <p:cNvPr id="1338" name="Google Shape;1338;p90"/>
              <p:cNvPicPr preferRelativeResize="0"/>
              <p:nvPr/>
            </p:nvPicPr>
            <p:blipFill rotWithShape="1">
              <a:blip r:embed="rId3">
                <a:alphaModFix/>
              </a:blip>
              <a:srcRect b="59597" l="61559" r="13951" t="27330"/>
              <a:stretch/>
            </p:blipFill>
            <p:spPr>
              <a:xfrm flipH="1" rot="10800000">
                <a:off x="4307425" y="1513999"/>
                <a:ext cx="687700" cy="222851"/>
              </a:xfrm>
              <a:prstGeom prst="rect">
                <a:avLst/>
              </a:prstGeom>
              <a:noFill/>
              <a:ln>
                <a:noFill/>
              </a:ln>
            </p:spPr>
          </p:pic>
          <p:sp>
            <p:nvSpPr>
              <p:cNvPr id="1339" name="Google Shape;1339;p90"/>
              <p:cNvSpPr/>
              <p:nvPr/>
            </p:nvSpPr>
            <p:spPr>
              <a:xfrm>
                <a:off x="4091458" y="1673098"/>
                <a:ext cx="11670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grpSp>
      </p:grpSp>
      <p:sp>
        <p:nvSpPr>
          <p:cNvPr id="1340" name="Google Shape;1340;p90"/>
          <p:cNvSpPr txBox="1"/>
          <p:nvPr>
            <p:ph idx="1" type="body"/>
          </p:nvPr>
        </p:nvSpPr>
        <p:spPr>
          <a:xfrm>
            <a:off x="324000" y="1620000"/>
            <a:ext cx="8496000" cy="40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5,  6,  8, 11, 15, … is a quadratic sequence with common second difference +1</a:t>
            </a:r>
            <a:r>
              <a:rPr lang="en-GB" sz="1800"/>
              <a:t>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sp>
        <p:nvSpPr>
          <p:cNvPr id="1341" name="Google Shape;1341;p90"/>
          <p:cNvSpPr txBox="1"/>
          <p:nvPr>
            <p:ph idx="1" type="body"/>
          </p:nvPr>
        </p:nvSpPr>
        <p:spPr>
          <a:xfrm>
            <a:off x="324000" y="2501513"/>
            <a:ext cx="8496000" cy="24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When we add them together we get:               7,  12,  20,  31,  45, … </a:t>
            </a:r>
            <a:r>
              <a:rPr lang="en-GB" sz="1800"/>
              <a:t>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91"/>
          <p:cNvSpPr txBox="1"/>
          <p:nvPr>
            <p:ph idx="1" type="body"/>
          </p:nvPr>
        </p:nvSpPr>
        <p:spPr>
          <a:xfrm>
            <a:off x="324000" y="2314225"/>
            <a:ext cx="8496000" cy="224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t>
            </a:r>
            <a:r>
              <a:rPr lang="en-GB" sz="1800"/>
              <a:t>Write the first five terms of the sequence of square numbers in ascending order. </a:t>
            </a:r>
            <a:endParaRPr sz="1800"/>
          </a:p>
          <a:p>
            <a:pPr indent="0" lvl="0" marL="0" rtl="0" algn="l">
              <a:spcBef>
                <a:spcPts val="1000"/>
              </a:spcBef>
              <a:spcAft>
                <a:spcPts val="0"/>
              </a:spcAft>
              <a:buNone/>
            </a:pPr>
            <a:r>
              <a:rPr lang="en-GB" sz="1800"/>
              <a:t>2) Write the first five terms of the sequence of triangle numbers in ascending order.</a:t>
            </a:r>
            <a:endParaRPr sz="1800"/>
          </a:p>
          <a:p>
            <a:pPr indent="0" lvl="0" marL="0" rtl="0" algn="l">
              <a:spcBef>
                <a:spcPts val="1000"/>
              </a:spcBef>
              <a:spcAft>
                <a:spcPts val="1000"/>
              </a:spcAft>
              <a:buNone/>
            </a:pPr>
            <a:r>
              <a:rPr lang="en-GB" sz="1800"/>
              <a:t>3) Add your sequences together (the sum of the first terms of each make the first term of your new sequence etc.), what do you notice about this new sequence?</a:t>
            </a:r>
            <a:endParaRPr sz="1800"/>
          </a:p>
        </p:txBody>
      </p:sp>
      <p:sp>
        <p:nvSpPr>
          <p:cNvPr id="1347" name="Google Shape;1347;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pic>
        <p:nvPicPr>
          <p:cNvPr id="1348" name="Google Shape;1348;p91"/>
          <p:cNvPicPr preferRelativeResize="0"/>
          <p:nvPr/>
        </p:nvPicPr>
        <p:blipFill>
          <a:blip r:embed="rId3">
            <a:alphaModFix/>
          </a:blip>
          <a:stretch>
            <a:fillRect/>
          </a:stretch>
        </p:blipFill>
        <p:spPr>
          <a:xfrm flipH="1">
            <a:off x="454677" y="1297562"/>
            <a:ext cx="683800" cy="661736"/>
          </a:xfrm>
          <a:prstGeom prst="rect">
            <a:avLst/>
          </a:prstGeom>
          <a:noFill/>
          <a:ln>
            <a:noFill/>
          </a:ln>
        </p:spPr>
      </p:pic>
      <p:sp>
        <p:nvSpPr>
          <p:cNvPr id="1349" name="Google Shape;1349;p91"/>
          <p:cNvSpPr txBox="1"/>
          <p:nvPr/>
        </p:nvSpPr>
        <p:spPr>
          <a:xfrm>
            <a:off x="288076" y="1980155"/>
            <a:ext cx="1017000" cy="359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1350" name="Google Shape;1350;p91"/>
          <p:cNvPicPr preferRelativeResize="0"/>
          <p:nvPr/>
        </p:nvPicPr>
        <p:blipFill rotWithShape="1">
          <a:blip r:embed="rId4">
            <a:alphaModFix/>
          </a:blip>
          <a:srcRect b="43690" l="0" r="57905" t="0"/>
          <a:stretch/>
        </p:blipFill>
        <p:spPr>
          <a:xfrm flipH="1">
            <a:off x="1064274" y="864725"/>
            <a:ext cx="3434501" cy="1226050"/>
          </a:xfrm>
          <a:prstGeom prst="rect">
            <a:avLst/>
          </a:prstGeom>
          <a:noFill/>
          <a:ln>
            <a:noFill/>
          </a:ln>
        </p:spPr>
      </p:pic>
      <p:sp>
        <p:nvSpPr>
          <p:cNvPr id="1351" name="Google Shape;1351;p91"/>
          <p:cNvSpPr txBox="1"/>
          <p:nvPr/>
        </p:nvSpPr>
        <p:spPr>
          <a:xfrm>
            <a:off x="1316475" y="993850"/>
            <a:ext cx="3065400" cy="96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square numbers form a quadratic sequence when written in numerical order.</a:t>
            </a:r>
            <a:r>
              <a:rPr lang="en-GB" sz="1800">
                <a:latin typeface="Lexend"/>
                <a:ea typeface="Lexend"/>
                <a:cs typeface="Lexend"/>
                <a:sym typeface="Lexend"/>
              </a:rPr>
              <a:t> </a:t>
            </a:r>
            <a:endParaRPr sz="1800">
              <a:latin typeface="Lexend"/>
              <a:ea typeface="Lexend"/>
              <a:cs typeface="Lexend"/>
              <a:sym typeface="Lexend"/>
            </a:endParaRPr>
          </a:p>
          <a:p>
            <a:pPr indent="0" lvl="0" marL="0" rtl="0" algn="l">
              <a:lnSpc>
                <a:spcPct val="115000"/>
              </a:lnSpc>
              <a:spcBef>
                <a:spcPts val="0"/>
              </a:spcBef>
              <a:spcAft>
                <a:spcPts val="0"/>
              </a:spcAft>
              <a:buNone/>
            </a:pPr>
            <a:r>
              <a:t/>
            </a:r>
            <a:endParaRPr sz="1800">
              <a:latin typeface="Lexend"/>
              <a:ea typeface="Lexend"/>
              <a:cs typeface="Lexend"/>
              <a:sym typeface="Lexend"/>
            </a:endParaRPr>
          </a:p>
        </p:txBody>
      </p:sp>
      <p:sp>
        <p:nvSpPr>
          <p:cNvPr id="1352" name="Google Shape;1352;p91"/>
          <p:cNvSpPr txBox="1"/>
          <p:nvPr/>
        </p:nvSpPr>
        <p:spPr>
          <a:xfrm flipH="1">
            <a:off x="7678500" y="1813067"/>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353" name="Google Shape;1353;p91"/>
          <p:cNvPicPr preferRelativeResize="0"/>
          <p:nvPr/>
        </p:nvPicPr>
        <p:blipFill>
          <a:blip r:embed="rId5">
            <a:alphaModFix/>
          </a:blip>
          <a:stretch>
            <a:fillRect/>
          </a:stretch>
        </p:blipFill>
        <p:spPr>
          <a:xfrm>
            <a:off x="7868111" y="1310074"/>
            <a:ext cx="510291" cy="566087"/>
          </a:xfrm>
          <a:prstGeom prst="rect">
            <a:avLst/>
          </a:prstGeom>
          <a:noFill/>
          <a:ln>
            <a:noFill/>
          </a:ln>
        </p:spPr>
      </p:pic>
      <p:pic>
        <p:nvPicPr>
          <p:cNvPr id="1354" name="Google Shape;1354;p91"/>
          <p:cNvPicPr preferRelativeResize="0"/>
          <p:nvPr/>
        </p:nvPicPr>
        <p:blipFill rotWithShape="1">
          <a:blip r:embed="rId4">
            <a:alphaModFix/>
          </a:blip>
          <a:srcRect b="43690" l="0" r="57905" t="0"/>
          <a:stretch/>
        </p:blipFill>
        <p:spPr>
          <a:xfrm>
            <a:off x="5250950" y="864725"/>
            <a:ext cx="2617149" cy="1080000"/>
          </a:xfrm>
          <a:prstGeom prst="rect">
            <a:avLst/>
          </a:prstGeom>
          <a:noFill/>
          <a:ln>
            <a:noFill/>
          </a:ln>
        </p:spPr>
      </p:pic>
      <p:sp>
        <p:nvSpPr>
          <p:cNvPr id="1355" name="Google Shape;1355;p91"/>
          <p:cNvSpPr/>
          <p:nvPr/>
        </p:nvSpPr>
        <p:spPr>
          <a:xfrm flipH="1">
            <a:off x="5379975" y="958025"/>
            <a:ext cx="22590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triangle numbers do too!  </a:t>
            </a:r>
            <a:endParaRPr sz="1800">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92"/>
          <p:cNvSpPr txBox="1"/>
          <p:nvPr>
            <p:ph idx="1" type="body"/>
          </p:nvPr>
        </p:nvSpPr>
        <p:spPr>
          <a:xfrm>
            <a:off x="324000" y="2303750"/>
            <a:ext cx="8496000" cy="261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Write the first five terms of the sequence of square numbers in ascending order</a:t>
            </a:r>
            <a:r>
              <a:rPr lang="en-GB" sz="2000">
                <a:latin typeface="Kalam"/>
                <a:ea typeface="Kalam"/>
                <a:cs typeface="Kalam"/>
                <a:sym typeface="Kalam"/>
              </a:rPr>
              <a:t> 1, 4, 9, 16, 25, …</a:t>
            </a:r>
            <a:endParaRPr sz="2000">
              <a:latin typeface="Kalam"/>
              <a:ea typeface="Kalam"/>
              <a:cs typeface="Kalam"/>
              <a:sym typeface="Kalam"/>
            </a:endParaRPr>
          </a:p>
          <a:p>
            <a:pPr indent="0" lvl="0" marL="0" rtl="0" algn="l">
              <a:spcBef>
                <a:spcPts val="1000"/>
              </a:spcBef>
              <a:spcAft>
                <a:spcPts val="0"/>
              </a:spcAft>
              <a:buNone/>
            </a:pPr>
            <a:r>
              <a:rPr lang="en-GB" sz="1800"/>
              <a:t>2) Write the first five terms of the sequence of triangle numbers in ascending order </a:t>
            </a:r>
            <a:r>
              <a:rPr lang="en-GB" sz="2000">
                <a:latin typeface="Kalam"/>
                <a:ea typeface="Kalam"/>
                <a:cs typeface="Kalam"/>
                <a:sym typeface="Kalam"/>
              </a:rPr>
              <a:t>1, 3, 6, 10, 15, …</a:t>
            </a:r>
            <a:endParaRPr sz="2000">
              <a:latin typeface="Kalam"/>
              <a:ea typeface="Kalam"/>
              <a:cs typeface="Kalam"/>
              <a:sym typeface="Kalam"/>
            </a:endParaRPr>
          </a:p>
          <a:p>
            <a:pPr indent="0" lvl="0" marL="0" rtl="0" algn="l">
              <a:spcBef>
                <a:spcPts val="1000"/>
              </a:spcBef>
              <a:spcAft>
                <a:spcPts val="1000"/>
              </a:spcAft>
              <a:buNone/>
            </a:pPr>
            <a:r>
              <a:rPr lang="en-GB" sz="1800"/>
              <a:t>3) Add your sequences together, what do you notice about this new sequence?  </a:t>
            </a:r>
            <a:r>
              <a:rPr lang="en-GB" sz="2000">
                <a:latin typeface="Kalam"/>
                <a:ea typeface="Kalam"/>
                <a:cs typeface="Kalam"/>
                <a:sym typeface="Kalam"/>
              </a:rPr>
              <a:t>2, 7, 15, 26, 40, …</a:t>
            </a:r>
            <a:endParaRPr sz="2000">
              <a:latin typeface="Kalam"/>
              <a:ea typeface="Kalam"/>
              <a:cs typeface="Kalam"/>
              <a:sym typeface="Kalam"/>
            </a:endParaRPr>
          </a:p>
        </p:txBody>
      </p:sp>
      <p:sp>
        <p:nvSpPr>
          <p:cNvPr id="1361" name="Google Shape;1361;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pic>
        <p:nvPicPr>
          <p:cNvPr id="1362" name="Google Shape;1362;p92"/>
          <p:cNvPicPr preferRelativeResize="0"/>
          <p:nvPr/>
        </p:nvPicPr>
        <p:blipFill>
          <a:blip r:embed="rId3">
            <a:alphaModFix/>
          </a:blip>
          <a:stretch>
            <a:fillRect/>
          </a:stretch>
        </p:blipFill>
        <p:spPr>
          <a:xfrm flipH="1">
            <a:off x="454677" y="1145162"/>
            <a:ext cx="683800" cy="661736"/>
          </a:xfrm>
          <a:prstGeom prst="rect">
            <a:avLst/>
          </a:prstGeom>
          <a:noFill/>
          <a:ln>
            <a:noFill/>
          </a:ln>
        </p:spPr>
      </p:pic>
      <p:sp>
        <p:nvSpPr>
          <p:cNvPr id="1363" name="Google Shape;1363;p92"/>
          <p:cNvSpPr txBox="1"/>
          <p:nvPr/>
        </p:nvSpPr>
        <p:spPr>
          <a:xfrm>
            <a:off x="288076" y="1827755"/>
            <a:ext cx="1017000" cy="359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1364" name="Google Shape;1364;p92"/>
          <p:cNvPicPr preferRelativeResize="0"/>
          <p:nvPr/>
        </p:nvPicPr>
        <p:blipFill rotWithShape="1">
          <a:blip r:embed="rId4">
            <a:alphaModFix/>
          </a:blip>
          <a:srcRect b="43690" l="0" r="57905" t="0"/>
          <a:stretch/>
        </p:blipFill>
        <p:spPr>
          <a:xfrm flipH="1">
            <a:off x="1064274" y="712325"/>
            <a:ext cx="3434501" cy="1226050"/>
          </a:xfrm>
          <a:prstGeom prst="rect">
            <a:avLst/>
          </a:prstGeom>
          <a:noFill/>
          <a:ln>
            <a:noFill/>
          </a:ln>
        </p:spPr>
      </p:pic>
      <p:sp>
        <p:nvSpPr>
          <p:cNvPr id="1365" name="Google Shape;1365;p92"/>
          <p:cNvSpPr txBox="1"/>
          <p:nvPr/>
        </p:nvSpPr>
        <p:spPr>
          <a:xfrm>
            <a:off x="1316475" y="841450"/>
            <a:ext cx="3065400" cy="96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square numbers form a quadratic sequence when written in numerical order. </a:t>
            </a:r>
            <a:endParaRPr sz="1800">
              <a:latin typeface="Lexend"/>
              <a:ea typeface="Lexend"/>
              <a:cs typeface="Lexend"/>
              <a:sym typeface="Lexend"/>
            </a:endParaRPr>
          </a:p>
          <a:p>
            <a:pPr indent="0" lvl="0" marL="0" rtl="0" algn="l">
              <a:lnSpc>
                <a:spcPct val="115000"/>
              </a:lnSpc>
              <a:spcBef>
                <a:spcPts val="0"/>
              </a:spcBef>
              <a:spcAft>
                <a:spcPts val="0"/>
              </a:spcAft>
              <a:buNone/>
            </a:pPr>
            <a:r>
              <a:t/>
            </a:r>
            <a:endParaRPr sz="1800">
              <a:latin typeface="Lexend"/>
              <a:ea typeface="Lexend"/>
              <a:cs typeface="Lexend"/>
              <a:sym typeface="Lexend"/>
            </a:endParaRPr>
          </a:p>
        </p:txBody>
      </p:sp>
      <p:sp>
        <p:nvSpPr>
          <p:cNvPr id="1366" name="Google Shape;1366;p92"/>
          <p:cNvSpPr txBox="1"/>
          <p:nvPr/>
        </p:nvSpPr>
        <p:spPr>
          <a:xfrm flipH="1">
            <a:off x="7678500" y="1660667"/>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367" name="Google Shape;1367;p92"/>
          <p:cNvPicPr preferRelativeResize="0"/>
          <p:nvPr/>
        </p:nvPicPr>
        <p:blipFill>
          <a:blip r:embed="rId5">
            <a:alphaModFix/>
          </a:blip>
          <a:stretch>
            <a:fillRect/>
          </a:stretch>
        </p:blipFill>
        <p:spPr>
          <a:xfrm>
            <a:off x="7868111" y="1157674"/>
            <a:ext cx="510291" cy="566087"/>
          </a:xfrm>
          <a:prstGeom prst="rect">
            <a:avLst/>
          </a:prstGeom>
          <a:noFill/>
          <a:ln>
            <a:noFill/>
          </a:ln>
        </p:spPr>
      </p:pic>
      <p:pic>
        <p:nvPicPr>
          <p:cNvPr id="1368" name="Google Shape;1368;p92"/>
          <p:cNvPicPr preferRelativeResize="0"/>
          <p:nvPr/>
        </p:nvPicPr>
        <p:blipFill rotWithShape="1">
          <a:blip r:embed="rId4">
            <a:alphaModFix/>
          </a:blip>
          <a:srcRect b="43690" l="0" r="57905" t="0"/>
          <a:stretch/>
        </p:blipFill>
        <p:spPr>
          <a:xfrm>
            <a:off x="5250950" y="712325"/>
            <a:ext cx="2617149" cy="1080000"/>
          </a:xfrm>
          <a:prstGeom prst="rect">
            <a:avLst/>
          </a:prstGeom>
          <a:noFill/>
          <a:ln>
            <a:noFill/>
          </a:ln>
        </p:spPr>
      </p:pic>
      <p:sp>
        <p:nvSpPr>
          <p:cNvPr id="1369" name="Google Shape;1369;p92"/>
          <p:cNvSpPr/>
          <p:nvPr/>
        </p:nvSpPr>
        <p:spPr>
          <a:xfrm flipH="1">
            <a:off x="5379975" y="805625"/>
            <a:ext cx="22590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triangle numbers do too!  </a:t>
            </a:r>
            <a:endParaRPr sz="1800">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93"/>
          <p:cNvSpPr txBox="1"/>
          <p:nvPr>
            <p:ph idx="1" type="body"/>
          </p:nvPr>
        </p:nvSpPr>
        <p:spPr>
          <a:xfrm>
            <a:off x="324000" y="2267925"/>
            <a:ext cx="8496000" cy="56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Add your sequences together, what do you notice about this new sequence?  </a:t>
            </a:r>
            <a:r>
              <a:rPr lang="en-GB" sz="2000">
                <a:latin typeface="Kalam"/>
                <a:ea typeface="Kalam"/>
                <a:cs typeface="Kalam"/>
                <a:sym typeface="Kalam"/>
              </a:rPr>
              <a:t>2,   7,   15,   26,   40, …</a:t>
            </a:r>
            <a:endParaRPr sz="2000">
              <a:latin typeface="Kalam"/>
              <a:ea typeface="Kalam"/>
              <a:cs typeface="Kalam"/>
              <a:sym typeface="Kalam"/>
            </a:endParaRPr>
          </a:p>
        </p:txBody>
      </p:sp>
      <p:sp>
        <p:nvSpPr>
          <p:cNvPr id="1375" name="Google Shape;1375;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Adding sequences</a:t>
            </a:r>
            <a:endParaRPr/>
          </a:p>
        </p:txBody>
      </p:sp>
      <p:pic>
        <p:nvPicPr>
          <p:cNvPr id="1376" name="Google Shape;1376;p93"/>
          <p:cNvPicPr preferRelativeResize="0"/>
          <p:nvPr/>
        </p:nvPicPr>
        <p:blipFill>
          <a:blip r:embed="rId3">
            <a:alphaModFix/>
          </a:blip>
          <a:stretch>
            <a:fillRect/>
          </a:stretch>
        </p:blipFill>
        <p:spPr>
          <a:xfrm flipH="1">
            <a:off x="454677" y="1145162"/>
            <a:ext cx="683800" cy="661736"/>
          </a:xfrm>
          <a:prstGeom prst="rect">
            <a:avLst/>
          </a:prstGeom>
          <a:noFill/>
          <a:ln>
            <a:noFill/>
          </a:ln>
        </p:spPr>
      </p:pic>
      <p:sp>
        <p:nvSpPr>
          <p:cNvPr id="1377" name="Google Shape;1377;p93"/>
          <p:cNvSpPr txBox="1"/>
          <p:nvPr/>
        </p:nvSpPr>
        <p:spPr>
          <a:xfrm>
            <a:off x="288076" y="1827755"/>
            <a:ext cx="1017000" cy="359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b="1" sz="1800">
              <a:latin typeface="Lexend"/>
              <a:ea typeface="Lexend"/>
              <a:cs typeface="Lexend"/>
              <a:sym typeface="Lexend"/>
            </a:endParaRPr>
          </a:p>
        </p:txBody>
      </p:sp>
      <p:pic>
        <p:nvPicPr>
          <p:cNvPr id="1378" name="Google Shape;1378;p93"/>
          <p:cNvPicPr preferRelativeResize="0"/>
          <p:nvPr/>
        </p:nvPicPr>
        <p:blipFill rotWithShape="1">
          <a:blip r:embed="rId4">
            <a:alphaModFix/>
          </a:blip>
          <a:srcRect b="43690" l="0" r="57905" t="0"/>
          <a:stretch/>
        </p:blipFill>
        <p:spPr>
          <a:xfrm flipH="1">
            <a:off x="1064274" y="712325"/>
            <a:ext cx="3434501" cy="1226050"/>
          </a:xfrm>
          <a:prstGeom prst="rect">
            <a:avLst/>
          </a:prstGeom>
          <a:noFill/>
          <a:ln>
            <a:noFill/>
          </a:ln>
        </p:spPr>
      </p:pic>
      <p:sp>
        <p:nvSpPr>
          <p:cNvPr id="1379" name="Google Shape;1379;p93"/>
          <p:cNvSpPr txBox="1"/>
          <p:nvPr/>
        </p:nvSpPr>
        <p:spPr>
          <a:xfrm>
            <a:off x="1316475" y="841450"/>
            <a:ext cx="3065400" cy="96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 square numbers form a quadratic sequence when written in numerical order. </a:t>
            </a:r>
            <a:endParaRPr sz="1800">
              <a:latin typeface="Lexend"/>
              <a:ea typeface="Lexend"/>
              <a:cs typeface="Lexend"/>
              <a:sym typeface="Lexend"/>
            </a:endParaRPr>
          </a:p>
          <a:p>
            <a:pPr indent="0" lvl="0" marL="0" rtl="0" algn="l">
              <a:lnSpc>
                <a:spcPct val="115000"/>
              </a:lnSpc>
              <a:spcBef>
                <a:spcPts val="0"/>
              </a:spcBef>
              <a:spcAft>
                <a:spcPts val="0"/>
              </a:spcAft>
              <a:buNone/>
            </a:pPr>
            <a:r>
              <a:t/>
            </a:r>
            <a:endParaRPr sz="1800">
              <a:latin typeface="Lexend"/>
              <a:ea typeface="Lexend"/>
              <a:cs typeface="Lexend"/>
              <a:sym typeface="Lexend"/>
            </a:endParaRPr>
          </a:p>
        </p:txBody>
      </p:sp>
      <p:sp>
        <p:nvSpPr>
          <p:cNvPr id="1380" name="Google Shape;1380;p93"/>
          <p:cNvSpPr txBox="1"/>
          <p:nvPr/>
        </p:nvSpPr>
        <p:spPr>
          <a:xfrm flipH="1">
            <a:off x="7678500" y="1660667"/>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381" name="Google Shape;1381;p93"/>
          <p:cNvPicPr preferRelativeResize="0"/>
          <p:nvPr/>
        </p:nvPicPr>
        <p:blipFill>
          <a:blip r:embed="rId5">
            <a:alphaModFix/>
          </a:blip>
          <a:stretch>
            <a:fillRect/>
          </a:stretch>
        </p:blipFill>
        <p:spPr>
          <a:xfrm>
            <a:off x="7868111" y="1157674"/>
            <a:ext cx="510291" cy="566087"/>
          </a:xfrm>
          <a:prstGeom prst="rect">
            <a:avLst/>
          </a:prstGeom>
          <a:noFill/>
          <a:ln>
            <a:noFill/>
          </a:ln>
        </p:spPr>
      </p:pic>
      <p:pic>
        <p:nvPicPr>
          <p:cNvPr id="1382" name="Google Shape;1382;p93"/>
          <p:cNvPicPr preferRelativeResize="0"/>
          <p:nvPr/>
        </p:nvPicPr>
        <p:blipFill rotWithShape="1">
          <a:blip r:embed="rId4">
            <a:alphaModFix/>
          </a:blip>
          <a:srcRect b="43690" l="0" r="57905" t="0"/>
          <a:stretch/>
        </p:blipFill>
        <p:spPr>
          <a:xfrm>
            <a:off x="5250950" y="712325"/>
            <a:ext cx="2617149" cy="1080000"/>
          </a:xfrm>
          <a:prstGeom prst="rect">
            <a:avLst/>
          </a:prstGeom>
          <a:noFill/>
          <a:ln>
            <a:noFill/>
          </a:ln>
        </p:spPr>
      </p:pic>
      <p:sp>
        <p:nvSpPr>
          <p:cNvPr id="1383" name="Google Shape;1383;p93"/>
          <p:cNvSpPr/>
          <p:nvPr/>
        </p:nvSpPr>
        <p:spPr>
          <a:xfrm flipH="1">
            <a:off x="5379975" y="805625"/>
            <a:ext cx="22590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triangle numbers do too!  </a:t>
            </a:r>
            <a:endParaRPr sz="1800">
              <a:latin typeface="Lexend"/>
              <a:ea typeface="Lexend"/>
              <a:cs typeface="Lexend"/>
              <a:sym typeface="Lexend"/>
            </a:endParaRPr>
          </a:p>
        </p:txBody>
      </p:sp>
      <p:pic>
        <p:nvPicPr>
          <p:cNvPr id="1384" name="Google Shape;1384;p93"/>
          <p:cNvPicPr preferRelativeResize="0"/>
          <p:nvPr/>
        </p:nvPicPr>
        <p:blipFill rotWithShape="1">
          <a:blip r:embed="rId6">
            <a:alphaModFix/>
          </a:blip>
          <a:srcRect b="59597" l="61559" r="13951" t="27330"/>
          <a:stretch/>
        </p:blipFill>
        <p:spPr>
          <a:xfrm flipH="1" rot="10800000">
            <a:off x="1649292" y="2925273"/>
            <a:ext cx="654553" cy="222851"/>
          </a:xfrm>
          <a:prstGeom prst="rect">
            <a:avLst/>
          </a:prstGeom>
          <a:noFill/>
          <a:ln>
            <a:noFill/>
          </a:ln>
        </p:spPr>
      </p:pic>
      <p:sp>
        <p:nvSpPr>
          <p:cNvPr id="1385" name="Google Shape;1385;p93"/>
          <p:cNvSpPr/>
          <p:nvPr/>
        </p:nvSpPr>
        <p:spPr>
          <a:xfrm>
            <a:off x="1699046" y="3171171"/>
            <a:ext cx="654458"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+5</a:t>
            </a:r>
            <a:endParaRPr sz="2000">
              <a:latin typeface="Kalam"/>
              <a:ea typeface="Kalam"/>
              <a:cs typeface="Kalam"/>
              <a:sym typeface="Kalam"/>
            </a:endParaRPr>
          </a:p>
        </p:txBody>
      </p:sp>
      <p:pic>
        <p:nvPicPr>
          <p:cNvPr id="1386" name="Google Shape;1386;p93"/>
          <p:cNvPicPr preferRelativeResize="0"/>
          <p:nvPr/>
        </p:nvPicPr>
        <p:blipFill rotWithShape="1">
          <a:blip r:embed="rId6">
            <a:alphaModFix/>
          </a:blip>
          <a:srcRect b="59597" l="61559" r="13951" t="27330"/>
          <a:stretch/>
        </p:blipFill>
        <p:spPr>
          <a:xfrm flipH="1" rot="10800000">
            <a:off x="2229509" y="2925273"/>
            <a:ext cx="654553" cy="222851"/>
          </a:xfrm>
          <a:prstGeom prst="rect">
            <a:avLst/>
          </a:prstGeom>
          <a:noFill/>
          <a:ln>
            <a:noFill/>
          </a:ln>
        </p:spPr>
      </p:pic>
      <p:sp>
        <p:nvSpPr>
          <p:cNvPr id="1387" name="Google Shape;1387;p93"/>
          <p:cNvSpPr/>
          <p:nvPr/>
        </p:nvSpPr>
        <p:spPr>
          <a:xfrm>
            <a:off x="2303453" y="3171171"/>
            <a:ext cx="654458"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+8</a:t>
            </a:r>
            <a:endParaRPr sz="2000">
              <a:latin typeface="Kalam"/>
              <a:ea typeface="Kalam"/>
              <a:cs typeface="Kalam"/>
              <a:sym typeface="Kalam"/>
            </a:endParaRPr>
          </a:p>
        </p:txBody>
      </p:sp>
      <p:pic>
        <p:nvPicPr>
          <p:cNvPr id="1388" name="Google Shape;1388;p93"/>
          <p:cNvPicPr preferRelativeResize="0"/>
          <p:nvPr/>
        </p:nvPicPr>
        <p:blipFill rotWithShape="1">
          <a:blip r:embed="rId6">
            <a:alphaModFix/>
          </a:blip>
          <a:srcRect b="59597" l="61559" r="13951" t="27330"/>
          <a:stretch/>
        </p:blipFill>
        <p:spPr>
          <a:xfrm flipH="1" rot="10800000">
            <a:off x="2809727" y="2925273"/>
            <a:ext cx="654553" cy="222851"/>
          </a:xfrm>
          <a:prstGeom prst="rect">
            <a:avLst/>
          </a:prstGeom>
          <a:noFill/>
          <a:ln>
            <a:noFill/>
          </a:ln>
        </p:spPr>
      </p:pic>
      <p:sp>
        <p:nvSpPr>
          <p:cNvPr id="1389" name="Google Shape;1389;p93"/>
          <p:cNvSpPr/>
          <p:nvPr/>
        </p:nvSpPr>
        <p:spPr>
          <a:xfrm>
            <a:off x="2745033" y="3167696"/>
            <a:ext cx="92258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+11</a:t>
            </a:r>
            <a:endParaRPr sz="2000">
              <a:latin typeface="Kalam"/>
              <a:ea typeface="Kalam"/>
              <a:cs typeface="Kalam"/>
              <a:sym typeface="Kalam"/>
            </a:endParaRPr>
          </a:p>
        </p:txBody>
      </p:sp>
      <p:pic>
        <p:nvPicPr>
          <p:cNvPr id="1390" name="Google Shape;1390;p93"/>
          <p:cNvPicPr preferRelativeResize="0"/>
          <p:nvPr/>
        </p:nvPicPr>
        <p:blipFill rotWithShape="1">
          <a:blip r:embed="rId6">
            <a:alphaModFix/>
          </a:blip>
          <a:srcRect b="59597" l="61559" r="13951" t="27330"/>
          <a:stretch/>
        </p:blipFill>
        <p:spPr>
          <a:xfrm flipH="1" rot="10800000">
            <a:off x="3389944" y="2925273"/>
            <a:ext cx="654553" cy="222851"/>
          </a:xfrm>
          <a:prstGeom prst="rect">
            <a:avLst/>
          </a:prstGeom>
          <a:noFill/>
          <a:ln>
            <a:noFill/>
          </a:ln>
        </p:spPr>
      </p:pic>
      <p:sp>
        <p:nvSpPr>
          <p:cNvPr id="1391" name="Google Shape;1391;p93"/>
          <p:cNvSpPr/>
          <p:nvPr/>
        </p:nvSpPr>
        <p:spPr>
          <a:xfrm>
            <a:off x="3369591" y="3167696"/>
            <a:ext cx="922500"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+14</a:t>
            </a:r>
            <a:endParaRPr sz="2000">
              <a:latin typeface="Kalam"/>
              <a:ea typeface="Kalam"/>
              <a:cs typeface="Kalam"/>
              <a:sym typeface="Kalam"/>
            </a:endParaRPr>
          </a:p>
        </p:txBody>
      </p:sp>
      <p:pic>
        <p:nvPicPr>
          <p:cNvPr id="1392" name="Google Shape;1392;p93"/>
          <p:cNvPicPr preferRelativeResize="0"/>
          <p:nvPr/>
        </p:nvPicPr>
        <p:blipFill rotWithShape="1">
          <a:blip r:embed="rId6">
            <a:alphaModFix/>
          </a:blip>
          <a:srcRect b="59597" l="61559" r="13951" t="27330"/>
          <a:stretch/>
        </p:blipFill>
        <p:spPr>
          <a:xfrm flipH="1" rot="10800000">
            <a:off x="1942803" y="3480973"/>
            <a:ext cx="654553" cy="222851"/>
          </a:xfrm>
          <a:prstGeom prst="rect">
            <a:avLst/>
          </a:prstGeom>
          <a:noFill/>
          <a:ln>
            <a:noFill/>
          </a:ln>
        </p:spPr>
      </p:pic>
      <p:sp>
        <p:nvSpPr>
          <p:cNvPr id="1393" name="Google Shape;1393;p93"/>
          <p:cNvSpPr/>
          <p:nvPr/>
        </p:nvSpPr>
        <p:spPr>
          <a:xfrm>
            <a:off x="1992557" y="3726871"/>
            <a:ext cx="654458"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p:txBody>
      </p:sp>
      <p:pic>
        <p:nvPicPr>
          <p:cNvPr id="1394" name="Google Shape;1394;p93"/>
          <p:cNvPicPr preferRelativeResize="0"/>
          <p:nvPr/>
        </p:nvPicPr>
        <p:blipFill rotWithShape="1">
          <a:blip r:embed="rId6">
            <a:alphaModFix/>
          </a:blip>
          <a:srcRect b="59597" l="61559" r="13951" t="27330"/>
          <a:stretch/>
        </p:blipFill>
        <p:spPr>
          <a:xfrm flipH="1" rot="10800000">
            <a:off x="2559284" y="3480973"/>
            <a:ext cx="654553" cy="222851"/>
          </a:xfrm>
          <a:prstGeom prst="rect">
            <a:avLst/>
          </a:prstGeom>
          <a:noFill/>
          <a:ln>
            <a:noFill/>
          </a:ln>
        </p:spPr>
      </p:pic>
      <p:sp>
        <p:nvSpPr>
          <p:cNvPr id="1395" name="Google Shape;1395;p93"/>
          <p:cNvSpPr/>
          <p:nvPr/>
        </p:nvSpPr>
        <p:spPr>
          <a:xfrm>
            <a:off x="2609052" y="3726871"/>
            <a:ext cx="704142"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p:txBody>
      </p:sp>
      <p:pic>
        <p:nvPicPr>
          <p:cNvPr id="1396" name="Google Shape;1396;p93"/>
          <p:cNvPicPr preferRelativeResize="0"/>
          <p:nvPr/>
        </p:nvPicPr>
        <p:blipFill rotWithShape="1">
          <a:blip r:embed="rId6">
            <a:alphaModFix/>
          </a:blip>
          <a:srcRect b="59597" l="61559" r="13951" t="27330"/>
          <a:stretch/>
        </p:blipFill>
        <p:spPr>
          <a:xfrm flipH="1" rot="10800000">
            <a:off x="3175765" y="3480973"/>
            <a:ext cx="654553" cy="222851"/>
          </a:xfrm>
          <a:prstGeom prst="rect">
            <a:avLst/>
          </a:prstGeom>
          <a:noFill/>
          <a:ln>
            <a:noFill/>
          </a:ln>
        </p:spPr>
      </p:pic>
      <p:sp>
        <p:nvSpPr>
          <p:cNvPr id="1397" name="Google Shape;1397;p93"/>
          <p:cNvSpPr/>
          <p:nvPr/>
        </p:nvSpPr>
        <p:spPr>
          <a:xfrm>
            <a:off x="3225549" y="3726871"/>
            <a:ext cx="728413" cy="29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398" name="Google Shape;1398;p93"/>
          <p:cNvSpPr txBox="1"/>
          <p:nvPr>
            <p:ph idx="1" type="body"/>
          </p:nvPr>
        </p:nvSpPr>
        <p:spPr>
          <a:xfrm>
            <a:off x="324000" y="4168250"/>
            <a:ext cx="8496000" cy="566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It is also a quadratic sequence. It increases by 5, then 8, then 11, then 14…</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It has a common second difference of 3</a:t>
            </a:r>
            <a:endParaRPr sz="2000">
              <a:latin typeface="Kalam"/>
              <a:ea typeface="Kalam"/>
              <a:cs typeface="Kalam"/>
              <a:sym typeface="Kala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404" name="Google Shape;1404;p94"/>
          <p:cNvSpPr txBox="1"/>
          <p:nvPr>
            <p:ph idx="1" type="body"/>
          </p:nvPr>
        </p:nvSpPr>
        <p:spPr>
          <a:xfrm>
            <a:off x="324000" y="759300"/>
            <a:ext cx="8496000" cy="99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r>
              <a:rPr lang="en-GB" sz="1800"/>
              <a:t>In each question, the sequences were created by adding the terms of two of the sequences given below. Work out which two sequences were added in each question. </a:t>
            </a:r>
            <a:endParaRPr sz="1800"/>
          </a:p>
        </p:txBody>
      </p:sp>
      <p:grpSp>
        <p:nvGrpSpPr>
          <p:cNvPr id="1405" name="Google Shape;1405;p94"/>
          <p:cNvGrpSpPr/>
          <p:nvPr/>
        </p:nvGrpSpPr>
        <p:grpSpPr>
          <a:xfrm>
            <a:off x="4849238" y="1802313"/>
            <a:ext cx="1871513" cy="395413"/>
            <a:chOff x="4849238" y="1811913"/>
            <a:chExt cx="1871513" cy="395413"/>
          </a:xfrm>
        </p:grpSpPr>
        <p:sp>
          <p:nvSpPr>
            <p:cNvPr id="1406" name="Google Shape;1406;p94"/>
            <p:cNvSpPr/>
            <p:nvPr/>
          </p:nvSpPr>
          <p:spPr>
            <a:xfrm>
              <a:off x="4849250" y="18119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7" name="Google Shape;1407;p94"/>
            <p:cNvSpPr/>
            <p:nvPr/>
          </p:nvSpPr>
          <p:spPr>
            <a:xfrm>
              <a:off x="4849238" y="18119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408" name="Google Shape;1408;p94"/>
            <p:cNvSpPr txBox="1"/>
            <p:nvPr/>
          </p:nvSpPr>
          <p:spPr>
            <a:xfrm>
              <a:off x="5120550" y="18476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9, 14, 19, …</a:t>
              </a:r>
              <a:endParaRPr sz="1800">
                <a:solidFill>
                  <a:schemeClr val="dk1"/>
                </a:solidFill>
                <a:latin typeface="Lexend"/>
                <a:ea typeface="Lexend"/>
                <a:cs typeface="Lexend"/>
                <a:sym typeface="Lexend"/>
              </a:endParaRPr>
            </a:p>
          </p:txBody>
        </p:sp>
      </p:grpSp>
      <p:sp>
        <p:nvSpPr>
          <p:cNvPr id="1409" name="Google Shape;1409;p94"/>
          <p:cNvSpPr/>
          <p:nvPr/>
        </p:nvSpPr>
        <p:spPr>
          <a:xfrm>
            <a:off x="6966525" y="1802313"/>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0" name="Google Shape;1410;p94"/>
          <p:cNvSpPr/>
          <p:nvPr/>
        </p:nvSpPr>
        <p:spPr>
          <a:xfrm>
            <a:off x="6966513" y="18023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411" name="Google Shape;1411;p94"/>
          <p:cNvSpPr txBox="1"/>
          <p:nvPr/>
        </p:nvSpPr>
        <p:spPr>
          <a:xfrm>
            <a:off x="7237825" y="1838131"/>
            <a:ext cx="14814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800">
                <a:solidFill>
                  <a:schemeClr val="dk1"/>
                </a:solidFill>
                <a:latin typeface="Lexend"/>
                <a:ea typeface="Lexend"/>
                <a:cs typeface="Lexend"/>
                <a:sym typeface="Lexend"/>
              </a:rPr>
              <a:t>, 3, 5, 7, 9 …</a:t>
            </a:r>
            <a:endParaRPr sz="1800">
              <a:solidFill>
                <a:schemeClr val="dk1"/>
              </a:solidFill>
              <a:latin typeface="Lexend"/>
              <a:ea typeface="Lexend"/>
              <a:cs typeface="Lexend"/>
              <a:sym typeface="Lexend"/>
            </a:endParaRPr>
          </a:p>
        </p:txBody>
      </p:sp>
      <p:grpSp>
        <p:nvGrpSpPr>
          <p:cNvPr id="1412" name="Google Shape;1412;p94"/>
          <p:cNvGrpSpPr/>
          <p:nvPr/>
        </p:nvGrpSpPr>
        <p:grpSpPr>
          <a:xfrm>
            <a:off x="2441263" y="1802313"/>
            <a:ext cx="2090713" cy="395413"/>
            <a:chOff x="2441263" y="1821513"/>
            <a:chExt cx="2090713" cy="395413"/>
          </a:xfrm>
        </p:grpSpPr>
        <p:sp>
          <p:nvSpPr>
            <p:cNvPr id="1413" name="Google Shape;1413;p94"/>
            <p:cNvSpPr/>
            <p:nvPr/>
          </p:nvSpPr>
          <p:spPr>
            <a:xfrm>
              <a:off x="2441275" y="1821525"/>
              <a:ext cx="20907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4" name="Google Shape;1414;p94"/>
            <p:cNvSpPr/>
            <p:nvPr/>
          </p:nvSpPr>
          <p:spPr>
            <a:xfrm>
              <a:off x="2441263" y="18215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415" name="Google Shape;1415;p94"/>
            <p:cNvSpPr txBox="1"/>
            <p:nvPr/>
          </p:nvSpPr>
          <p:spPr>
            <a:xfrm>
              <a:off x="2712575" y="1857225"/>
              <a:ext cx="1753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12, 36, 108, …</a:t>
              </a:r>
              <a:endParaRPr sz="1800">
                <a:solidFill>
                  <a:schemeClr val="dk1"/>
                </a:solidFill>
                <a:latin typeface="Lexend"/>
                <a:ea typeface="Lexend"/>
                <a:cs typeface="Lexend"/>
                <a:sym typeface="Lexend"/>
              </a:endParaRPr>
            </a:p>
          </p:txBody>
        </p:sp>
      </p:grpSp>
      <p:grpSp>
        <p:nvGrpSpPr>
          <p:cNvPr id="1416" name="Google Shape;1416;p94"/>
          <p:cNvGrpSpPr/>
          <p:nvPr/>
        </p:nvGrpSpPr>
        <p:grpSpPr>
          <a:xfrm>
            <a:off x="323988" y="1802313"/>
            <a:ext cx="1871513" cy="395413"/>
            <a:chOff x="323988" y="1831113"/>
            <a:chExt cx="1871513" cy="395413"/>
          </a:xfrm>
        </p:grpSpPr>
        <p:sp>
          <p:nvSpPr>
            <p:cNvPr id="1417" name="Google Shape;1417;p94"/>
            <p:cNvSpPr/>
            <p:nvPr/>
          </p:nvSpPr>
          <p:spPr>
            <a:xfrm>
              <a:off x="324000" y="18311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8" name="Google Shape;1418;p94"/>
            <p:cNvSpPr/>
            <p:nvPr/>
          </p:nvSpPr>
          <p:spPr>
            <a:xfrm>
              <a:off x="323988" y="18311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419" name="Google Shape;1419;p94"/>
            <p:cNvSpPr txBox="1"/>
            <p:nvPr/>
          </p:nvSpPr>
          <p:spPr>
            <a:xfrm>
              <a:off x="595300" y="18668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800">
                  <a:solidFill>
                    <a:schemeClr val="dk1"/>
                  </a:solidFill>
                  <a:latin typeface="Lexend"/>
                  <a:ea typeface="Lexend"/>
                  <a:cs typeface="Lexend"/>
                  <a:sym typeface="Lexend"/>
                </a:rPr>
                <a:t>, 2, 4, 8, 16 …</a:t>
              </a:r>
              <a:endParaRPr sz="1800">
                <a:solidFill>
                  <a:schemeClr val="dk1"/>
                </a:solidFill>
                <a:latin typeface="Lexend"/>
                <a:ea typeface="Lexend"/>
                <a:cs typeface="Lexend"/>
                <a:sym typeface="Lexend"/>
              </a:endParaRPr>
            </a:p>
          </p:txBody>
        </p:sp>
      </p:grpSp>
      <p:grpSp>
        <p:nvGrpSpPr>
          <p:cNvPr id="1420" name="Google Shape;1420;p94"/>
          <p:cNvGrpSpPr/>
          <p:nvPr/>
        </p:nvGrpSpPr>
        <p:grpSpPr>
          <a:xfrm>
            <a:off x="323988" y="2301138"/>
            <a:ext cx="1871513" cy="395413"/>
            <a:chOff x="323988" y="2374038"/>
            <a:chExt cx="1871513" cy="395413"/>
          </a:xfrm>
        </p:grpSpPr>
        <p:sp>
          <p:nvSpPr>
            <p:cNvPr id="1421" name="Google Shape;1421;p94"/>
            <p:cNvSpPr/>
            <p:nvPr/>
          </p:nvSpPr>
          <p:spPr>
            <a:xfrm>
              <a:off x="324000" y="23740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2" name="Google Shape;1422;p94"/>
            <p:cNvSpPr/>
            <p:nvPr/>
          </p:nvSpPr>
          <p:spPr>
            <a:xfrm>
              <a:off x="323988"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423" name="Google Shape;1423;p94"/>
            <p:cNvSpPr txBox="1"/>
            <p:nvPr/>
          </p:nvSpPr>
          <p:spPr>
            <a:xfrm>
              <a:off x="595300" y="24097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7, 12, 19, …</a:t>
              </a:r>
              <a:endParaRPr sz="1800">
                <a:solidFill>
                  <a:schemeClr val="dk1"/>
                </a:solidFill>
                <a:latin typeface="Lexend"/>
                <a:ea typeface="Lexend"/>
                <a:cs typeface="Lexend"/>
                <a:sym typeface="Lexend"/>
              </a:endParaRPr>
            </a:p>
          </p:txBody>
        </p:sp>
      </p:grpSp>
      <p:grpSp>
        <p:nvGrpSpPr>
          <p:cNvPr id="1424" name="Google Shape;1424;p94"/>
          <p:cNvGrpSpPr/>
          <p:nvPr/>
        </p:nvGrpSpPr>
        <p:grpSpPr>
          <a:xfrm>
            <a:off x="2434996" y="2301138"/>
            <a:ext cx="2071313" cy="395413"/>
            <a:chOff x="2450963" y="2374038"/>
            <a:chExt cx="2071313" cy="395413"/>
          </a:xfrm>
        </p:grpSpPr>
        <p:sp>
          <p:nvSpPr>
            <p:cNvPr id="1425" name="Google Shape;1425;p94"/>
            <p:cNvSpPr/>
            <p:nvPr/>
          </p:nvSpPr>
          <p:spPr>
            <a:xfrm>
              <a:off x="2450975" y="2374050"/>
              <a:ext cx="207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6" name="Google Shape;1426;p94"/>
            <p:cNvSpPr/>
            <p:nvPr/>
          </p:nvSpPr>
          <p:spPr>
            <a:xfrm>
              <a:off x="2450963"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427" name="Google Shape;1427;p94"/>
            <p:cNvSpPr txBox="1"/>
            <p:nvPr/>
          </p:nvSpPr>
          <p:spPr>
            <a:xfrm>
              <a:off x="2722275" y="2409750"/>
              <a:ext cx="18000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6, 16, 31, 51, …</a:t>
              </a:r>
              <a:endParaRPr sz="1800">
                <a:solidFill>
                  <a:schemeClr val="dk1"/>
                </a:solidFill>
                <a:latin typeface="Lexend"/>
                <a:ea typeface="Lexend"/>
                <a:cs typeface="Lexend"/>
                <a:sym typeface="Lexend"/>
              </a:endParaRPr>
            </a:p>
          </p:txBody>
        </p:sp>
      </p:grpSp>
      <p:grpSp>
        <p:nvGrpSpPr>
          <p:cNvPr id="1428" name="Google Shape;1428;p94"/>
          <p:cNvGrpSpPr/>
          <p:nvPr/>
        </p:nvGrpSpPr>
        <p:grpSpPr>
          <a:xfrm>
            <a:off x="4849083" y="2301223"/>
            <a:ext cx="1799932" cy="395413"/>
            <a:chOff x="4849138" y="2310738"/>
            <a:chExt cx="1981213" cy="395413"/>
          </a:xfrm>
        </p:grpSpPr>
        <p:sp>
          <p:nvSpPr>
            <p:cNvPr id="1429" name="Google Shape;1429;p94"/>
            <p:cNvSpPr/>
            <p:nvPr/>
          </p:nvSpPr>
          <p:spPr>
            <a:xfrm>
              <a:off x="4849150" y="2310750"/>
              <a:ext cx="198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0" name="Google Shape;1430;p94"/>
            <p:cNvSpPr/>
            <p:nvPr/>
          </p:nvSpPr>
          <p:spPr>
            <a:xfrm>
              <a:off x="4849138" y="23107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431" name="Google Shape;1431;p94"/>
            <p:cNvSpPr txBox="1"/>
            <p:nvPr/>
          </p:nvSpPr>
          <p:spPr>
            <a:xfrm>
              <a:off x="5120450" y="23464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6, 6, 4, 0 …</a:t>
              </a:r>
              <a:endParaRPr sz="1800">
                <a:solidFill>
                  <a:schemeClr val="dk1"/>
                </a:solidFill>
                <a:latin typeface="Lexend"/>
                <a:ea typeface="Lexend"/>
                <a:cs typeface="Lexend"/>
                <a:sym typeface="Lexend"/>
              </a:endParaRPr>
            </a:p>
          </p:txBody>
        </p:sp>
      </p:grpSp>
      <p:grpSp>
        <p:nvGrpSpPr>
          <p:cNvPr id="1432" name="Google Shape;1432;p94"/>
          <p:cNvGrpSpPr/>
          <p:nvPr/>
        </p:nvGrpSpPr>
        <p:grpSpPr>
          <a:xfrm>
            <a:off x="6966513" y="2301138"/>
            <a:ext cx="1871513" cy="395413"/>
            <a:chOff x="6966513" y="2301138"/>
            <a:chExt cx="1871513" cy="395413"/>
          </a:xfrm>
        </p:grpSpPr>
        <p:sp>
          <p:nvSpPr>
            <p:cNvPr id="1433" name="Google Shape;1433;p94"/>
            <p:cNvSpPr/>
            <p:nvPr/>
          </p:nvSpPr>
          <p:spPr>
            <a:xfrm>
              <a:off x="6966525" y="23011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4" name="Google Shape;1434;p94"/>
            <p:cNvSpPr/>
            <p:nvPr/>
          </p:nvSpPr>
          <p:spPr>
            <a:xfrm>
              <a:off x="6966513" y="23011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H</a:t>
              </a:r>
              <a:endParaRPr>
                <a:latin typeface="Lexend"/>
                <a:ea typeface="Lexend"/>
                <a:cs typeface="Lexend"/>
                <a:sym typeface="Lexend"/>
              </a:endParaRPr>
            </a:p>
          </p:txBody>
        </p:sp>
        <p:sp>
          <p:nvSpPr>
            <p:cNvPr id="1435" name="Google Shape;1435;p94"/>
            <p:cNvSpPr txBox="1"/>
            <p:nvPr/>
          </p:nvSpPr>
          <p:spPr>
            <a:xfrm>
              <a:off x="7237825" y="23368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8, 27, 64, …</a:t>
              </a:r>
              <a:endParaRPr sz="1800">
                <a:solidFill>
                  <a:schemeClr val="dk1"/>
                </a:solidFill>
                <a:latin typeface="Lexend"/>
                <a:ea typeface="Lexend"/>
                <a:cs typeface="Lexend"/>
                <a:sym typeface="Lexend"/>
              </a:endParaRPr>
            </a:p>
          </p:txBody>
        </p:sp>
      </p:grpSp>
      <p:sp>
        <p:nvSpPr>
          <p:cNvPr id="1436" name="Google Shape;1436;p94"/>
          <p:cNvSpPr txBox="1"/>
          <p:nvPr>
            <p:ph idx="1" type="body"/>
          </p:nvPr>
        </p:nvSpPr>
        <p:spPr>
          <a:xfrm>
            <a:off x="324000" y="2917525"/>
            <a:ext cx="2641800" cy="190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5, 12, 19, 26, 33, …</a:t>
            </a:r>
            <a:endParaRPr sz="1800"/>
          </a:p>
          <a:p>
            <a:pPr indent="0" lvl="0" marL="0" rtl="0" algn="l">
              <a:spcBef>
                <a:spcPts val="1000"/>
              </a:spcBef>
              <a:spcAft>
                <a:spcPts val="0"/>
              </a:spcAft>
              <a:buNone/>
            </a:pPr>
            <a:r>
              <a:rPr lang="en-GB" sz="1800"/>
              <a:t>b) 5, 11, 18, 27, 40, …</a:t>
            </a:r>
            <a:endParaRPr sz="1800"/>
          </a:p>
          <a:p>
            <a:pPr indent="0" lvl="0" marL="0" rtl="0" algn="l">
              <a:spcBef>
                <a:spcPts val="1000"/>
              </a:spcBef>
              <a:spcAft>
                <a:spcPts val="0"/>
              </a:spcAft>
              <a:buNone/>
            </a:pPr>
            <a:r>
              <a:rPr lang="en-GB" sz="1800"/>
              <a:t>c) 5, 13, 28, 50, 79, …</a:t>
            </a:r>
            <a:endParaRPr sz="1800"/>
          </a:p>
          <a:p>
            <a:pPr indent="0" lvl="0" marL="0" rtl="0" algn="l">
              <a:spcBef>
                <a:spcPts val="1000"/>
              </a:spcBef>
              <a:spcAft>
                <a:spcPts val="1000"/>
              </a:spcAft>
              <a:buNone/>
            </a:pPr>
            <a:r>
              <a:t/>
            </a:r>
            <a:endParaRPr sz="1800"/>
          </a:p>
        </p:txBody>
      </p:sp>
      <p:sp>
        <p:nvSpPr>
          <p:cNvPr id="1437" name="Google Shape;1437;p94"/>
          <p:cNvSpPr txBox="1"/>
          <p:nvPr>
            <p:ph idx="1" type="body"/>
          </p:nvPr>
        </p:nvSpPr>
        <p:spPr>
          <a:xfrm>
            <a:off x="3200713" y="2917525"/>
            <a:ext cx="26418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a:t>
            </a:r>
            <a:r>
              <a:rPr lang="en-GB" sz="1800"/>
              <a:t>) 2, 9, 21, 38, 60, …</a:t>
            </a:r>
            <a:endParaRPr sz="1800"/>
          </a:p>
          <a:p>
            <a:pPr indent="0" lvl="0" marL="0" rtl="0" algn="l">
              <a:spcBef>
                <a:spcPts val="1000"/>
              </a:spcBef>
              <a:spcAft>
                <a:spcPts val="0"/>
              </a:spcAft>
              <a:buNone/>
            </a:pPr>
            <a:r>
              <a:rPr lang="en-GB" sz="1800"/>
              <a:t>e) 2, 5, 9, 15, 25, …</a:t>
            </a:r>
            <a:endParaRPr sz="1800"/>
          </a:p>
          <a:p>
            <a:pPr indent="0" lvl="0" marL="0" rtl="0" algn="l">
              <a:spcBef>
                <a:spcPts val="1000"/>
              </a:spcBef>
              <a:spcAft>
                <a:spcPts val="0"/>
              </a:spcAft>
              <a:buNone/>
            </a:pPr>
            <a:r>
              <a:rPr lang="en-GB" sz="1800"/>
              <a:t>f) 2, 11, 32, 71, 134, …</a:t>
            </a:r>
            <a:endParaRPr sz="1800"/>
          </a:p>
          <a:p>
            <a:pPr indent="0" lvl="0" marL="0" rtl="0" algn="l">
              <a:spcBef>
                <a:spcPts val="1000"/>
              </a:spcBef>
              <a:spcAft>
                <a:spcPts val="1000"/>
              </a:spcAft>
              <a:buNone/>
            </a:pPr>
            <a:r>
              <a:t/>
            </a:r>
            <a:endParaRPr sz="1800"/>
          </a:p>
        </p:txBody>
      </p:sp>
      <p:sp>
        <p:nvSpPr>
          <p:cNvPr id="1438" name="Google Shape;1438;p94"/>
          <p:cNvSpPr txBox="1"/>
          <p:nvPr>
            <p:ph idx="1" type="body"/>
          </p:nvPr>
        </p:nvSpPr>
        <p:spPr>
          <a:xfrm>
            <a:off x="6077425" y="2917525"/>
            <a:ext cx="26418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g</a:t>
            </a:r>
            <a:r>
              <a:rPr lang="en-GB" sz="1800"/>
              <a:t>) 5, 14, 40, 127, 356, …</a:t>
            </a:r>
            <a:endParaRPr sz="1800"/>
          </a:p>
          <a:p>
            <a:pPr indent="0" lvl="0" marL="0" rtl="0" algn="l">
              <a:spcBef>
                <a:spcPts val="1000"/>
              </a:spcBef>
              <a:spcAft>
                <a:spcPts val="0"/>
              </a:spcAft>
              <a:buNone/>
            </a:pPr>
            <a:r>
              <a:rPr lang="en-GB" sz="1800"/>
              <a:t>h) 8, 15, 20, 23, 24, …</a:t>
            </a:r>
            <a:endParaRPr sz="1800"/>
          </a:p>
          <a:p>
            <a:pPr indent="0" lvl="0" marL="0" rtl="0" algn="l">
              <a:spcBef>
                <a:spcPts val="1000"/>
              </a:spcBef>
              <a:spcAft>
                <a:spcPts val="0"/>
              </a:spcAft>
              <a:buNone/>
            </a:pPr>
            <a:r>
              <a:rPr lang="en-GB" sz="1800"/>
              <a:t>i) 8, 13, 18, 23, 28, …</a:t>
            </a:r>
            <a:endParaRPr sz="1800"/>
          </a:p>
          <a:p>
            <a:pPr indent="0" lvl="0" marL="0" rtl="0" algn="l">
              <a:spcBef>
                <a:spcPts val="1000"/>
              </a:spcBef>
              <a:spcAft>
                <a:spcPts val="1000"/>
              </a:spcAft>
              <a:buNone/>
            </a:pPr>
            <a:r>
              <a:t/>
            </a:r>
            <a:endParaRPr sz="1800"/>
          </a:p>
        </p:txBody>
      </p:sp>
      <p:sp>
        <p:nvSpPr>
          <p:cNvPr id="1439" name="Google Shape;1439;p94"/>
          <p:cNvSpPr txBox="1"/>
          <p:nvPr>
            <p:ph idx="1" type="body"/>
          </p:nvPr>
        </p:nvSpPr>
        <p:spPr>
          <a:xfrm>
            <a:off x="324000" y="4192650"/>
            <a:ext cx="8496000" cy="54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What is the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 for sequence a). How does that relate to the two sequences you have chosen for your answer to a)? </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445" name="Google Shape;1445;p95"/>
          <p:cNvSpPr txBox="1"/>
          <p:nvPr>
            <p:ph idx="1" type="body"/>
          </p:nvPr>
        </p:nvSpPr>
        <p:spPr>
          <a:xfrm>
            <a:off x="324000" y="702000"/>
            <a:ext cx="8496000" cy="406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By using the examples previously and any of your own examples, investigate the following questions and write a sentence about any patterns you have noticed. </a:t>
            </a:r>
            <a:r>
              <a:rPr lang="en-GB" sz="1800"/>
              <a:t> </a:t>
            </a:r>
            <a:endParaRPr sz="1800"/>
          </a:p>
          <a:p>
            <a:pPr indent="0" lvl="0" marL="0" rtl="0" algn="l">
              <a:lnSpc>
                <a:spcPct val="100000"/>
              </a:lnSpc>
              <a:spcBef>
                <a:spcPts val="1000"/>
              </a:spcBef>
              <a:spcAft>
                <a:spcPts val="0"/>
              </a:spcAft>
              <a:buNone/>
            </a:pPr>
            <a:r>
              <a:rPr lang="en-GB" sz="1800"/>
              <a:t>a</a:t>
            </a:r>
            <a:r>
              <a:rPr lang="en-GB" sz="1800"/>
              <a:t>) What happens when you add two geometric sequences together? </a:t>
            </a:r>
            <a:br>
              <a:rPr lang="en-GB" sz="1800"/>
            </a:br>
            <a:endParaRPr sz="1800"/>
          </a:p>
          <a:p>
            <a:pPr indent="0" lvl="0" marL="0" rtl="0" algn="l">
              <a:lnSpc>
                <a:spcPct val="100000"/>
              </a:lnSpc>
              <a:spcBef>
                <a:spcPts val="1000"/>
              </a:spcBef>
              <a:spcAft>
                <a:spcPts val="0"/>
              </a:spcAft>
              <a:buNone/>
            </a:pPr>
            <a:r>
              <a:rPr lang="en-GB" sz="1800"/>
              <a:t>b) What happens when you add two quadratic sequences together?</a:t>
            </a:r>
            <a:endParaRPr sz="1800"/>
          </a:p>
          <a:p>
            <a:pPr indent="0" lvl="0" marL="0" rtl="0" algn="l">
              <a:lnSpc>
                <a:spcPct val="100000"/>
              </a:lnSpc>
              <a:spcBef>
                <a:spcPts val="0"/>
              </a:spcBef>
              <a:spcAft>
                <a:spcPts val="0"/>
              </a:spcAft>
              <a:buClr>
                <a:schemeClr val="dk1"/>
              </a:buClr>
              <a:buSzPts val="1100"/>
              <a:buFont typeface="Arial"/>
              <a:buNone/>
            </a:pPr>
            <a:r>
              <a:rPr lang="en-GB" sz="1800"/>
              <a:t>(square and triangle numbers are examples of quadratic sequences)</a:t>
            </a:r>
            <a:endParaRPr sz="1800"/>
          </a:p>
          <a:p>
            <a:pPr indent="0" lvl="0" marL="0" rtl="0" algn="l">
              <a:lnSpc>
                <a:spcPct val="100000"/>
              </a:lnSpc>
              <a:spcBef>
                <a:spcPts val="0"/>
              </a:spcBef>
              <a:spcAft>
                <a:spcPts val="0"/>
              </a:spcAft>
              <a:buNone/>
            </a:pPr>
            <a:br>
              <a:rPr lang="en-GB" sz="1800"/>
            </a:br>
            <a:r>
              <a:rPr lang="en-GB" sz="1800"/>
              <a:t>c) What happens when you add a linear sequence to a geometric sequence?</a:t>
            </a:r>
            <a:endParaRPr sz="1800"/>
          </a:p>
          <a:p>
            <a:pPr indent="0" lvl="0" marL="0" rtl="0" algn="l">
              <a:lnSpc>
                <a:spcPct val="100000"/>
              </a:lnSpc>
              <a:spcBef>
                <a:spcPts val="1000"/>
              </a:spcBef>
              <a:spcAft>
                <a:spcPts val="1000"/>
              </a:spcAft>
              <a:buClr>
                <a:schemeClr val="dk1"/>
              </a:buClr>
              <a:buSzPts val="1100"/>
              <a:buFont typeface="Arial"/>
              <a:buNone/>
            </a:pPr>
            <a:br>
              <a:rPr lang="en-GB" sz="1800"/>
            </a:br>
            <a:r>
              <a:rPr lang="en-GB" sz="1800"/>
              <a:t>d) What happens when you add a linear sequence to a quadratic sequence?</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451" name="Google Shape;1451;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In each question, the sequences were created by adding the terms of two of the sequences given below. Work out which two sequences were added in each question. </a:t>
            </a:r>
            <a:endParaRPr sz="1800"/>
          </a:p>
        </p:txBody>
      </p:sp>
      <p:grpSp>
        <p:nvGrpSpPr>
          <p:cNvPr id="1452" name="Google Shape;1452;p96"/>
          <p:cNvGrpSpPr/>
          <p:nvPr/>
        </p:nvGrpSpPr>
        <p:grpSpPr>
          <a:xfrm>
            <a:off x="4849238" y="1802313"/>
            <a:ext cx="1871513" cy="395413"/>
            <a:chOff x="4849238" y="1811913"/>
            <a:chExt cx="1871513" cy="395413"/>
          </a:xfrm>
        </p:grpSpPr>
        <p:sp>
          <p:nvSpPr>
            <p:cNvPr id="1453" name="Google Shape;1453;p96"/>
            <p:cNvSpPr/>
            <p:nvPr/>
          </p:nvSpPr>
          <p:spPr>
            <a:xfrm>
              <a:off x="4849250" y="18119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4" name="Google Shape;1454;p96"/>
            <p:cNvSpPr/>
            <p:nvPr/>
          </p:nvSpPr>
          <p:spPr>
            <a:xfrm>
              <a:off x="4849238" y="18119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455" name="Google Shape;1455;p96"/>
            <p:cNvSpPr txBox="1"/>
            <p:nvPr/>
          </p:nvSpPr>
          <p:spPr>
            <a:xfrm>
              <a:off x="5120550" y="18476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9, 14, 19, …</a:t>
              </a:r>
              <a:endParaRPr sz="1800">
                <a:solidFill>
                  <a:schemeClr val="dk1"/>
                </a:solidFill>
                <a:latin typeface="Lexend"/>
                <a:ea typeface="Lexend"/>
                <a:cs typeface="Lexend"/>
                <a:sym typeface="Lexend"/>
              </a:endParaRPr>
            </a:p>
          </p:txBody>
        </p:sp>
      </p:grpSp>
      <p:sp>
        <p:nvSpPr>
          <p:cNvPr id="1456" name="Google Shape;1456;p96"/>
          <p:cNvSpPr/>
          <p:nvPr/>
        </p:nvSpPr>
        <p:spPr>
          <a:xfrm>
            <a:off x="6966525" y="1802313"/>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7" name="Google Shape;1457;p96"/>
          <p:cNvSpPr/>
          <p:nvPr/>
        </p:nvSpPr>
        <p:spPr>
          <a:xfrm>
            <a:off x="6966513" y="18023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458" name="Google Shape;1458;p96"/>
          <p:cNvSpPr txBox="1"/>
          <p:nvPr/>
        </p:nvSpPr>
        <p:spPr>
          <a:xfrm>
            <a:off x="7237825" y="1838131"/>
            <a:ext cx="14814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3, 5, 7, 9 …</a:t>
            </a:r>
            <a:endParaRPr sz="1800">
              <a:solidFill>
                <a:schemeClr val="dk1"/>
              </a:solidFill>
              <a:latin typeface="Lexend"/>
              <a:ea typeface="Lexend"/>
              <a:cs typeface="Lexend"/>
              <a:sym typeface="Lexend"/>
            </a:endParaRPr>
          </a:p>
        </p:txBody>
      </p:sp>
      <p:grpSp>
        <p:nvGrpSpPr>
          <p:cNvPr id="1459" name="Google Shape;1459;p96"/>
          <p:cNvGrpSpPr/>
          <p:nvPr/>
        </p:nvGrpSpPr>
        <p:grpSpPr>
          <a:xfrm>
            <a:off x="2441263" y="1802313"/>
            <a:ext cx="2090713" cy="395413"/>
            <a:chOff x="2441263" y="1821513"/>
            <a:chExt cx="2090713" cy="395413"/>
          </a:xfrm>
        </p:grpSpPr>
        <p:sp>
          <p:nvSpPr>
            <p:cNvPr id="1460" name="Google Shape;1460;p96"/>
            <p:cNvSpPr/>
            <p:nvPr/>
          </p:nvSpPr>
          <p:spPr>
            <a:xfrm>
              <a:off x="2441275" y="1821525"/>
              <a:ext cx="20907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1" name="Google Shape;1461;p96"/>
            <p:cNvSpPr/>
            <p:nvPr/>
          </p:nvSpPr>
          <p:spPr>
            <a:xfrm>
              <a:off x="2441263" y="18215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462" name="Google Shape;1462;p96"/>
            <p:cNvSpPr txBox="1"/>
            <p:nvPr/>
          </p:nvSpPr>
          <p:spPr>
            <a:xfrm>
              <a:off x="2712575" y="1857225"/>
              <a:ext cx="1753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12, 36, 108, …</a:t>
              </a:r>
              <a:endParaRPr sz="1800">
                <a:solidFill>
                  <a:schemeClr val="dk1"/>
                </a:solidFill>
                <a:latin typeface="Lexend"/>
                <a:ea typeface="Lexend"/>
                <a:cs typeface="Lexend"/>
                <a:sym typeface="Lexend"/>
              </a:endParaRPr>
            </a:p>
          </p:txBody>
        </p:sp>
      </p:grpSp>
      <p:grpSp>
        <p:nvGrpSpPr>
          <p:cNvPr id="1463" name="Google Shape;1463;p96"/>
          <p:cNvGrpSpPr/>
          <p:nvPr/>
        </p:nvGrpSpPr>
        <p:grpSpPr>
          <a:xfrm>
            <a:off x="323988" y="1802313"/>
            <a:ext cx="1871513" cy="395413"/>
            <a:chOff x="323988" y="1831113"/>
            <a:chExt cx="1871513" cy="395413"/>
          </a:xfrm>
        </p:grpSpPr>
        <p:sp>
          <p:nvSpPr>
            <p:cNvPr id="1464" name="Google Shape;1464;p96"/>
            <p:cNvSpPr/>
            <p:nvPr/>
          </p:nvSpPr>
          <p:spPr>
            <a:xfrm>
              <a:off x="324000" y="18311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5" name="Google Shape;1465;p96"/>
            <p:cNvSpPr/>
            <p:nvPr/>
          </p:nvSpPr>
          <p:spPr>
            <a:xfrm>
              <a:off x="323988" y="18311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466" name="Google Shape;1466;p96"/>
            <p:cNvSpPr txBox="1"/>
            <p:nvPr/>
          </p:nvSpPr>
          <p:spPr>
            <a:xfrm>
              <a:off x="595300" y="18668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2, 4, 8, 16 …</a:t>
              </a:r>
              <a:endParaRPr sz="1800">
                <a:solidFill>
                  <a:schemeClr val="dk1"/>
                </a:solidFill>
                <a:latin typeface="Lexend"/>
                <a:ea typeface="Lexend"/>
                <a:cs typeface="Lexend"/>
                <a:sym typeface="Lexend"/>
              </a:endParaRPr>
            </a:p>
          </p:txBody>
        </p:sp>
      </p:grpSp>
      <p:grpSp>
        <p:nvGrpSpPr>
          <p:cNvPr id="1467" name="Google Shape;1467;p96"/>
          <p:cNvGrpSpPr/>
          <p:nvPr/>
        </p:nvGrpSpPr>
        <p:grpSpPr>
          <a:xfrm>
            <a:off x="323988" y="2301138"/>
            <a:ext cx="1871513" cy="395413"/>
            <a:chOff x="323988" y="2374038"/>
            <a:chExt cx="1871513" cy="395413"/>
          </a:xfrm>
        </p:grpSpPr>
        <p:sp>
          <p:nvSpPr>
            <p:cNvPr id="1468" name="Google Shape;1468;p96"/>
            <p:cNvSpPr/>
            <p:nvPr/>
          </p:nvSpPr>
          <p:spPr>
            <a:xfrm>
              <a:off x="324000" y="23740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9" name="Google Shape;1469;p96"/>
            <p:cNvSpPr/>
            <p:nvPr/>
          </p:nvSpPr>
          <p:spPr>
            <a:xfrm>
              <a:off x="323988"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470" name="Google Shape;1470;p96"/>
            <p:cNvSpPr txBox="1"/>
            <p:nvPr/>
          </p:nvSpPr>
          <p:spPr>
            <a:xfrm>
              <a:off x="595300" y="24097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7, 12, 19, …</a:t>
              </a:r>
              <a:endParaRPr sz="1800">
                <a:solidFill>
                  <a:schemeClr val="dk1"/>
                </a:solidFill>
                <a:latin typeface="Lexend"/>
                <a:ea typeface="Lexend"/>
                <a:cs typeface="Lexend"/>
                <a:sym typeface="Lexend"/>
              </a:endParaRPr>
            </a:p>
          </p:txBody>
        </p:sp>
      </p:grpSp>
      <p:grpSp>
        <p:nvGrpSpPr>
          <p:cNvPr id="1471" name="Google Shape;1471;p96"/>
          <p:cNvGrpSpPr/>
          <p:nvPr/>
        </p:nvGrpSpPr>
        <p:grpSpPr>
          <a:xfrm>
            <a:off x="2434996" y="2301138"/>
            <a:ext cx="2071313" cy="395413"/>
            <a:chOff x="2450963" y="2374038"/>
            <a:chExt cx="2071313" cy="395413"/>
          </a:xfrm>
        </p:grpSpPr>
        <p:sp>
          <p:nvSpPr>
            <p:cNvPr id="1472" name="Google Shape;1472;p96"/>
            <p:cNvSpPr/>
            <p:nvPr/>
          </p:nvSpPr>
          <p:spPr>
            <a:xfrm>
              <a:off x="2450975" y="2374050"/>
              <a:ext cx="207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3" name="Google Shape;1473;p96"/>
            <p:cNvSpPr/>
            <p:nvPr/>
          </p:nvSpPr>
          <p:spPr>
            <a:xfrm>
              <a:off x="2450963"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474" name="Google Shape;1474;p96"/>
            <p:cNvSpPr txBox="1"/>
            <p:nvPr/>
          </p:nvSpPr>
          <p:spPr>
            <a:xfrm>
              <a:off x="2722275" y="2409750"/>
              <a:ext cx="18000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6, 16, 31, 51, …</a:t>
              </a:r>
              <a:endParaRPr sz="1800">
                <a:solidFill>
                  <a:schemeClr val="dk1"/>
                </a:solidFill>
                <a:latin typeface="Lexend"/>
                <a:ea typeface="Lexend"/>
                <a:cs typeface="Lexend"/>
                <a:sym typeface="Lexend"/>
              </a:endParaRPr>
            </a:p>
          </p:txBody>
        </p:sp>
      </p:grpSp>
      <p:grpSp>
        <p:nvGrpSpPr>
          <p:cNvPr id="1475" name="Google Shape;1475;p96"/>
          <p:cNvGrpSpPr/>
          <p:nvPr/>
        </p:nvGrpSpPr>
        <p:grpSpPr>
          <a:xfrm>
            <a:off x="4849083" y="2301223"/>
            <a:ext cx="1799932" cy="395413"/>
            <a:chOff x="4849138" y="2310738"/>
            <a:chExt cx="1981213" cy="395413"/>
          </a:xfrm>
        </p:grpSpPr>
        <p:sp>
          <p:nvSpPr>
            <p:cNvPr id="1476" name="Google Shape;1476;p96"/>
            <p:cNvSpPr/>
            <p:nvPr/>
          </p:nvSpPr>
          <p:spPr>
            <a:xfrm>
              <a:off x="4849150" y="2310750"/>
              <a:ext cx="198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7" name="Google Shape;1477;p96"/>
            <p:cNvSpPr/>
            <p:nvPr/>
          </p:nvSpPr>
          <p:spPr>
            <a:xfrm>
              <a:off x="4849138" y="23107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478" name="Google Shape;1478;p96"/>
            <p:cNvSpPr txBox="1"/>
            <p:nvPr/>
          </p:nvSpPr>
          <p:spPr>
            <a:xfrm>
              <a:off x="5120450" y="23464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6, 6, 4, 0 …</a:t>
              </a:r>
              <a:endParaRPr sz="1800">
                <a:solidFill>
                  <a:schemeClr val="dk1"/>
                </a:solidFill>
                <a:latin typeface="Lexend"/>
                <a:ea typeface="Lexend"/>
                <a:cs typeface="Lexend"/>
                <a:sym typeface="Lexend"/>
              </a:endParaRPr>
            </a:p>
          </p:txBody>
        </p:sp>
      </p:grpSp>
      <p:grpSp>
        <p:nvGrpSpPr>
          <p:cNvPr id="1479" name="Google Shape;1479;p96"/>
          <p:cNvGrpSpPr/>
          <p:nvPr/>
        </p:nvGrpSpPr>
        <p:grpSpPr>
          <a:xfrm>
            <a:off x="6966513" y="2301138"/>
            <a:ext cx="1871513" cy="395413"/>
            <a:chOff x="6966513" y="2301138"/>
            <a:chExt cx="1871513" cy="395413"/>
          </a:xfrm>
        </p:grpSpPr>
        <p:sp>
          <p:nvSpPr>
            <p:cNvPr id="1480" name="Google Shape;1480;p96"/>
            <p:cNvSpPr/>
            <p:nvPr/>
          </p:nvSpPr>
          <p:spPr>
            <a:xfrm>
              <a:off x="6966525" y="23011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1" name="Google Shape;1481;p96"/>
            <p:cNvSpPr/>
            <p:nvPr/>
          </p:nvSpPr>
          <p:spPr>
            <a:xfrm>
              <a:off x="6966513" y="23011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H</a:t>
              </a:r>
              <a:endParaRPr>
                <a:latin typeface="Lexend"/>
                <a:ea typeface="Lexend"/>
                <a:cs typeface="Lexend"/>
                <a:sym typeface="Lexend"/>
              </a:endParaRPr>
            </a:p>
          </p:txBody>
        </p:sp>
        <p:sp>
          <p:nvSpPr>
            <p:cNvPr id="1482" name="Google Shape;1482;p96"/>
            <p:cNvSpPr txBox="1"/>
            <p:nvPr/>
          </p:nvSpPr>
          <p:spPr>
            <a:xfrm>
              <a:off x="7237825" y="23368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8, 27, 64, …</a:t>
              </a:r>
              <a:endParaRPr sz="1800">
                <a:solidFill>
                  <a:schemeClr val="dk1"/>
                </a:solidFill>
                <a:latin typeface="Lexend"/>
                <a:ea typeface="Lexend"/>
                <a:cs typeface="Lexend"/>
                <a:sym typeface="Lexend"/>
              </a:endParaRPr>
            </a:p>
          </p:txBody>
        </p:sp>
      </p:grpSp>
      <p:sp>
        <p:nvSpPr>
          <p:cNvPr id="1483" name="Google Shape;1483;p96"/>
          <p:cNvSpPr txBox="1"/>
          <p:nvPr>
            <p:ph idx="1" type="body"/>
          </p:nvPr>
        </p:nvSpPr>
        <p:spPr>
          <a:xfrm>
            <a:off x="324000" y="2841325"/>
            <a:ext cx="2828100" cy="135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5, 12, 19, 26, 33, … </a:t>
            </a:r>
            <a:r>
              <a:rPr lang="en-GB" sz="2000">
                <a:latin typeface="Kalam"/>
                <a:ea typeface="Kalam"/>
                <a:cs typeface="Kalam"/>
                <a:sym typeface="Kalam"/>
              </a:rPr>
              <a:t>C</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D</a:t>
            </a:r>
            <a:endParaRPr sz="2000">
              <a:latin typeface="Kalam"/>
              <a:ea typeface="Kalam"/>
              <a:cs typeface="Kalam"/>
              <a:sym typeface="Kalam"/>
            </a:endParaRPr>
          </a:p>
          <a:p>
            <a:pPr indent="0" lvl="0" marL="0" rtl="0" algn="l">
              <a:spcBef>
                <a:spcPts val="1000"/>
              </a:spcBef>
              <a:spcAft>
                <a:spcPts val="0"/>
              </a:spcAft>
              <a:buNone/>
            </a:pPr>
            <a:r>
              <a:rPr lang="en-GB" sz="1800"/>
              <a:t>b) 5, 11, 18, 27, 40, … </a:t>
            </a:r>
            <a:r>
              <a:rPr lang="en-GB" sz="2000">
                <a:latin typeface="Kalam"/>
                <a:ea typeface="Kalam"/>
                <a:cs typeface="Kalam"/>
                <a:sym typeface="Kalam"/>
              </a:rPr>
              <a:t>A</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C</a:t>
            </a:r>
            <a:endParaRPr sz="1800"/>
          </a:p>
          <a:p>
            <a:pPr indent="0" lvl="0" marL="0" rtl="0" algn="l">
              <a:spcBef>
                <a:spcPts val="1000"/>
              </a:spcBef>
              <a:spcAft>
                <a:spcPts val="0"/>
              </a:spcAft>
              <a:buNone/>
            </a:pPr>
            <a:r>
              <a:rPr lang="en-GB" sz="1800"/>
              <a:t>c) 5, 13, 28, 50, 79, … </a:t>
            </a:r>
            <a:r>
              <a:rPr lang="en-GB" sz="2000">
                <a:latin typeface="Kalam"/>
                <a:ea typeface="Kalam"/>
                <a:cs typeface="Kalam"/>
                <a:sym typeface="Kalam"/>
              </a:rPr>
              <a:t>E</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F</a:t>
            </a:r>
            <a:endParaRPr sz="1800"/>
          </a:p>
          <a:p>
            <a:pPr indent="0" lvl="0" marL="0" rtl="0" algn="l">
              <a:spcBef>
                <a:spcPts val="1000"/>
              </a:spcBef>
              <a:spcAft>
                <a:spcPts val="1000"/>
              </a:spcAft>
              <a:buNone/>
            </a:pPr>
            <a:r>
              <a:t/>
            </a:r>
            <a:endParaRPr sz="1800"/>
          </a:p>
        </p:txBody>
      </p:sp>
      <p:sp>
        <p:nvSpPr>
          <p:cNvPr id="1484" name="Google Shape;1484;p96"/>
          <p:cNvSpPr txBox="1"/>
          <p:nvPr>
            <p:ph idx="1" type="body"/>
          </p:nvPr>
        </p:nvSpPr>
        <p:spPr>
          <a:xfrm>
            <a:off x="4038925" y="2841325"/>
            <a:ext cx="30030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 2, 9, 21, 38, 60, … </a:t>
            </a:r>
            <a:r>
              <a:rPr lang="en-GB" sz="2000">
                <a:latin typeface="Kalam"/>
                <a:ea typeface="Kalam"/>
                <a:cs typeface="Kalam"/>
                <a:sym typeface="Kalam"/>
              </a:rPr>
              <a:t>D</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F</a:t>
            </a:r>
            <a:endParaRPr sz="1800"/>
          </a:p>
          <a:p>
            <a:pPr indent="0" lvl="0" marL="0" rtl="0" algn="l">
              <a:spcBef>
                <a:spcPts val="1000"/>
              </a:spcBef>
              <a:spcAft>
                <a:spcPts val="0"/>
              </a:spcAft>
              <a:buNone/>
            </a:pPr>
            <a:r>
              <a:rPr lang="en-GB" sz="1800"/>
              <a:t>e) 2, 5, 9, 15, 25, … </a:t>
            </a:r>
            <a:r>
              <a:rPr lang="en-GB" sz="2000">
                <a:latin typeface="Kalam"/>
                <a:ea typeface="Kalam"/>
                <a:cs typeface="Kalam"/>
                <a:sym typeface="Kalam"/>
              </a:rPr>
              <a:t>A</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D</a:t>
            </a:r>
            <a:endParaRPr sz="1800"/>
          </a:p>
          <a:p>
            <a:pPr indent="0" lvl="0" marL="0" rtl="0" algn="l">
              <a:spcBef>
                <a:spcPts val="1000"/>
              </a:spcBef>
              <a:spcAft>
                <a:spcPts val="0"/>
              </a:spcAft>
              <a:buNone/>
            </a:pPr>
            <a:r>
              <a:rPr lang="en-GB" sz="1800"/>
              <a:t>f) 2, 11, 32, 71, 134, … </a:t>
            </a:r>
            <a:r>
              <a:rPr lang="en-GB" sz="2000">
                <a:latin typeface="Kalam"/>
                <a:ea typeface="Kalam"/>
                <a:cs typeface="Kalam"/>
                <a:sym typeface="Kalam"/>
              </a:rPr>
              <a:t>D</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H</a:t>
            </a:r>
            <a:endParaRPr sz="1800"/>
          </a:p>
          <a:p>
            <a:pPr indent="0" lvl="0" marL="0" rtl="0" algn="l">
              <a:spcBef>
                <a:spcPts val="1000"/>
              </a:spcBef>
              <a:spcAft>
                <a:spcPts val="1000"/>
              </a:spcAft>
              <a:buNone/>
            </a:pPr>
            <a:r>
              <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490" name="Google Shape;1490;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In each question, the sequences were created by adding the terms of two of the sequences given below. Work out which two sequences were added in each question. </a:t>
            </a:r>
            <a:endParaRPr sz="1800"/>
          </a:p>
        </p:txBody>
      </p:sp>
      <p:grpSp>
        <p:nvGrpSpPr>
          <p:cNvPr id="1491" name="Google Shape;1491;p97"/>
          <p:cNvGrpSpPr/>
          <p:nvPr/>
        </p:nvGrpSpPr>
        <p:grpSpPr>
          <a:xfrm>
            <a:off x="4849238" y="1802313"/>
            <a:ext cx="1871513" cy="395413"/>
            <a:chOff x="4849238" y="1811913"/>
            <a:chExt cx="1871513" cy="395413"/>
          </a:xfrm>
        </p:grpSpPr>
        <p:sp>
          <p:nvSpPr>
            <p:cNvPr id="1492" name="Google Shape;1492;p97"/>
            <p:cNvSpPr/>
            <p:nvPr/>
          </p:nvSpPr>
          <p:spPr>
            <a:xfrm>
              <a:off x="4849250" y="18119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3" name="Google Shape;1493;p97"/>
            <p:cNvSpPr/>
            <p:nvPr/>
          </p:nvSpPr>
          <p:spPr>
            <a:xfrm>
              <a:off x="4849238" y="18119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494" name="Google Shape;1494;p97"/>
            <p:cNvSpPr txBox="1"/>
            <p:nvPr/>
          </p:nvSpPr>
          <p:spPr>
            <a:xfrm>
              <a:off x="5120550" y="18476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9, 14, 19, …</a:t>
              </a:r>
              <a:endParaRPr sz="1800">
                <a:solidFill>
                  <a:schemeClr val="dk1"/>
                </a:solidFill>
                <a:latin typeface="Lexend"/>
                <a:ea typeface="Lexend"/>
                <a:cs typeface="Lexend"/>
                <a:sym typeface="Lexend"/>
              </a:endParaRPr>
            </a:p>
          </p:txBody>
        </p:sp>
      </p:grpSp>
      <p:sp>
        <p:nvSpPr>
          <p:cNvPr id="1495" name="Google Shape;1495;p97"/>
          <p:cNvSpPr/>
          <p:nvPr/>
        </p:nvSpPr>
        <p:spPr>
          <a:xfrm>
            <a:off x="6966525" y="1802313"/>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97"/>
          <p:cNvSpPr/>
          <p:nvPr/>
        </p:nvSpPr>
        <p:spPr>
          <a:xfrm>
            <a:off x="6966513" y="18023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D</a:t>
            </a:r>
            <a:endParaRPr>
              <a:latin typeface="Lexend"/>
              <a:ea typeface="Lexend"/>
              <a:cs typeface="Lexend"/>
              <a:sym typeface="Lexend"/>
            </a:endParaRPr>
          </a:p>
        </p:txBody>
      </p:sp>
      <p:sp>
        <p:nvSpPr>
          <p:cNvPr id="1497" name="Google Shape;1497;p97"/>
          <p:cNvSpPr txBox="1"/>
          <p:nvPr/>
        </p:nvSpPr>
        <p:spPr>
          <a:xfrm>
            <a:off x="7237825" y="1838131"/>
            <a:ext cx="14814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3, 5, 7, 9 …</a:t>
            </a:r>
            <a:endParaRPr sz="1800">
              <a:solidFill>
                <a:schemeClr val="dk1"/>
              </a:solidFill>
              <a:latin typeface="Lexend"/>
              <a:ea typeface="Lexend"/>
              <a:cs typeface="Lexend"/>
              <a:sym typeface="Lexend"/>
            </a:endParaRPr>
          </a:p>
        </p:txBody>
      </p:sp>
      <p:grpSp>
        <p:nvGrpSpPr>
          <p:cNvPr id="1498" name="Google Shape;1498;p97"/>
          <p:cNvGrpSpPr/>
          <p:nvPr/>
        </p:nvGrpSpPr>
        <p:grpSpPr>
          <a:xfrm>
            <a:off x="2441263" y="1802313"/>
            <a:ext cx="2090713" cy="395413"/>
            <a:chOff x="2441263" y="1821513"/>
            <a:chExt cx="2090713" cy="395413"/>
          </a:xfrm>
        </p:grpSpPr>
        <p:sp>
          <p:nvSpPr>
            <p:cNvPr id="1499" name="Google Shape;1499;p97"/>
            <p:cNvSpPr/>
            <p:nvPr/>
          </p:nvSpPr>
          <p:spPr>
            <a:xfrm>
              <a:off x="2441275" y="1821525"/>
              <a:ext cx="20907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0" name="Google Shape;1500;p97"/>
            <p:cNvSpPr/>
            <p:nvPr/>
          </p:nvSpPr>
          <p:spPr>
            <a:xfrm>
              <a:off x="2441263" y="18215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501" name="Google Shape;1501;p97"/>
            <p:cNvSpPr txBox="1"/>
            <p:nvPr/>
          </p:nvSpPr>
          <p:spPr>
            <a:xfrm>
              <a:off x="2712575" y="1857225"/>
              <a:ext cx="17535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12, 36, 108, …</a:t>
              </a:r>
              <a:endParaRPr sz="1800">
                <a:solidFill>
                  <a:schemeClr val="dk1"/>
                </a:solidFill>
                <a:latin typeface="Lexend"/>
                <a:ea typeface="Lexend"/>
                <a:cs typeface="Lexend"/>
                <a:sym typeface="Lexend"/>
              </a:endParaRPr>
            </a:p>
          </p:txBody>
        </p:sp>
      </p:grpSp>
      <p:grpSp>
        <p:nvGrpSpPr>
          <p:cNvPr id="1502" name="Google Shape;1502;p97"/>
          <p:cNvGrpSpPr/>
          <p:nvPr/>
        </p:nvGrpSpPr>
        <p:grpSpPr>
          <a:xfrm>
            <a:off x="323988" y="1802313"/>
            <a:ext cx="1871513" cy="395413"/>
            <a:chOff x="323988" y="1831113"/>
            <a:chExt cx="1871513" cy="395413"/>
          </a:xfrm>
        </p:grpSpPr>
        <p:sp>
          <p:nvSpPr>
            <p:cNvPr id="1503" name="Google Shape;1503;p97"/>
            <p:cNvSpPr/>
            <p:nvPr/>
          </p:nvSpPr>
          <p:spPr>
            <a:xfrm>
              <a:off x="324000" y="1831125"/>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4" name="Google Shape;1504;p97"/>
            <p:cNvSpPr/>
            <p:nvPr/>
          </p:nvSpPr>
          <p:spPr>
            <a:xfrm>
              <a:off x="323988" y="1831113"/>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505" name="Google Shape;1505;p97"/>
            <p:cNvSpPr txBox="1"/>
            <p:nvPr/>
          </p:nvSpPr>
          <p:spPr>
            <a:xfrm>
              <a:off x="595300" y="1866825"/>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2, 4, 8, 16 …</a:t>
              </a:r>
              <a:endParaRPr sz="1800">
                <a:solidFill>
                  <a:schemeClr val="dk1"/>
                </a:solidFill>
                <a:latin typeface="Lexend"/>
                <a:ea typeface="Lexend"/>
                <a:cs typeface="Lexend"/>
                <a:sym typeface="Lexend"/>
              </a:endParaRPr>
            </a:p>
          </p:txBody>
        </p:sp>
      </p:grpSp>
      <p:grpSp>
        <p:nvGrpSpPr>
          <p:cNvPr id="1506" name="Google Shape;1506;p97"/>
          <p:cNvGrpSpPr/>
          <p:nvPr/>
        </p:nvGrpSpPr>
        <p:grpSpPr>
          <a:xfrm>
            <a:off x="323988" y="2301138"/>
            <a:ext cx="1871513" cy="395413"/>
            <a:chOff x="323988" y="2374038"/>
            <a:chExt cx="1871513" cy="395413"/>
          </a:xfrm>
        </p:grpSpPr>
        <p:sp>
          <p:nvSpPr>
            <p:cNvPr id="1507" name="Google Shape;1507;p97"/>
            <p:cNvSpPr/>
            <p:nvPr/>
          </p:nvSpPr>
          <p:spPr>
            <a:xfrm>
              <a:off x="324000" y="23740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8" name="Google Shape;1508;p97"/>
            <p:cNvSpPr/>
            <p:nvPr/>
          </p:nvSpPr>
          <p:spPr>
            <a:xfrm>
              <a:off x="323988"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E</a:t>
              </a:r>
              <a:endParaRPr>
                <a:latin typeface="Lexend"/>
                <a:ea typeface="Lexend"/>
                <a:cs typeface="Lexend"/>
                <a:sym typeface="Lexend"/>
              </a:endParaRPr>
            </a:p>
          </p:txBody>
        </p:sp>
        <p:sp>
          <p:nvSpPr>
            <p:cNvPr id="1509" name="Google Shape;1509;p97"/>
            <p:cNvSpPr txBox="1"/>
            <p:nvPr/>
          </p:nvSpPr>
          <p:spPr>
            <a:xfrm>
              <a:off x="595300" y="24097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7, 12, 19, …</a:t>
              </a:r>
              <a:endParaRPr sz="1800">
                <a:solidFill>
                  <a:schemeClr val="dk1"/>
                </a:solidFill>
                <a:latin typeface="Lexend"/>
                <a:ea typeface="Lexend"/>
                <a:cs typeface="Lexend"/>
                <a:sym typeface="Lexend"/>
              </a:endParaRPr>
            </a:p>
          </p:txBody>
        </p:sp>
      </p:grpSp>
      <p:grpSp>
        <p:nvGrpSpPr>
          <p:cNvPr id="1510" name="Google Shape;1510;p97"/>
          <p:cNvGrpSpPr/>
          <p:nvPr/>
        </p:nvGrpSpPr>
        <p:grpSpPr>
          <a:xfrm>
            <a:off x="2434996" y="2301138"/>
            <a:ext cx="2071313" cy="395413"/>
            <a:chOff x="2450963" y="2374038"/>
            <a:chExt cx="2071313" cy="395413"/>
          </a:xfrm>
        </p:grpSpPr>
        <p:sp>
          <p:nvSpPr>
            <p:cNvPr id="1511" name="Google Shape;1511;p97"/>
            <p:cNvSpPr/>
            <p:nvPr/>
          </p:nvSpPr>
          <p:spPr>
            <a:xfrm>
              <a:off x="2450975" y="2374050"/>
              <a:ext cx="207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2" name="Google Shape;1512;p97"/>
            <p:cNvSpPr/>
            <p:nvPr/>
          </p:nvSpPr>
          <p:spPr>
            <a:xfrm>
              <a:off x="2450963" y="23740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F</a:t>
              </a:r>
              <a:endParaRPr>
                <a:latin typeface="Lexend"/>
                <a:ea typeface="Lexend"/>
                <a:cs typeface="Lexend"/>
                <a:sym typeface="Lexend"/>
              </a:endParaRPr>
            </a:p>
          </p:txBody>
        </p:sp>
        <p:sp>
          <p:nvSpPr>
            <p:cNvPr id="1513" name="Google Shape;1513;p97"/>
            <p:cNvSpPr txBox="1"/>
            <p:nvPr/>
          </p:nvSpPr>
          <p:spPr>
            <a:xfrm>
              <a:off x="2722275" y="2409750"/>
              <a:ext cx="18000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6, 16, 31, 51, …</a:t>
              </a:r>
              <a:endParaRPr sz="1800">
                <a:solidFill>
                  <a:schemeClr val="dk1"/>
                </a:solidFill>
                <a:latin typeface="Lexend"/>
                <a:ea typeface="Lexend"/>
                <a:cs typeface="Lexend"/>
                <a:sym typeface="Lexend"/>
              </a:endParaRPr>
            </a:p>
          </p:txBody>
        </p:sp>
      </p:grpSp>
      <p:grpSp>
        <p:nvGrpSpPr>
          <p:cNvPr id="1514" name="Google Shape;1514;p97"/>
          <p:cNvGrpSpPr/>
          <p:nvPr/>
        </p:nvGrpSpPr>
        <p:grpSpPr>
          <a:xfrm>
            <a:off x="4849083" y="2301223"/>
            <a:ext cx="1799932" cy="395413"/>
            <a:chOff x="4849138" y="2310738"/>
            <a:chExt cx="1981213" cy="395413"/>
          </a:xfrm>
        </p:grpSpPr>
        <p:sp>
          <p:nvSpPr>
            <p:cNvPr id="1515" name="Google Shape;1515;p97"/>
            <p:cNvSpPr/>
            <p:nvPr/>
          </p:nvSpPr>
          <p:spPr>
            <a:xfrm>
              <a:off x="4849150" y="2310750"/>
              <a:ext cx="19812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6" name="Google Shape;1516;p97"/>
            <p:cNvSpPr/>
            <p:nvPr/>
          </p:nvSpPr>
          <p:spPr>
            <a:xfrm>
              <a:off x="4849138" y="23107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G</a:t>
              </a:r>
              <a:endParaRPr>
                <a:latin typeface="Lexend"/>
                <a:ea typeface="Lexend"/>
                <a:cs typeface="Lexend"/>
                <a:sym typeface="Lexend"/>
              </a:endParaRPr>
            </a:p>
          </p:txBody>
        </p:sp>
        <p:sp>
          <p:nvSpPr>
            <p:cNvPr id="1517" name="Google Shape;1517;p97"/>
            <p:cNvSpPr txBox="1"/>
            <p:nvPr/>
          </p:nvSpPr>
          <p:spPr>
            <a:xfrm>
              <a:off x="5120450" y="23464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6, 6, 4, 0 …</a:t>
              </a:r>
              <a:endParaRPr sz="1800">
                <a:solidFill>
                  <a:schemeClr val="dk1"/>
                </a:solidFill>
                <a:latin typeface="Lexend"/>
                <a:ea typeface="Lexend"/>
                <a:cs typeface="Lexend"/>
                <a:sym typeface="Lexend"/>
              </a:endParaRPr>
            </a:p>
          </p:txBody>
        </p:sp>
      </p:grpSp>
      <p:grpSp>
        <p:nvGrpSpPr>
          <p:cNvPr id="1518" name="Google Shape;1518;p97"/>
          <p:cNvGrpSpPr/>
          <p:nvPr/>
        </p:nvGrpSpPr>
        <p:grpSpPr>
          <a:xfrm>
            <a:off x="6966513" y="2301138"/>
            <a:ext cx="1871513" cy="395413"/>
            <a:chOff x="6966513" y="2301138"/>
            <a:chExt cx="1871513" cy="395413"/>
          </a:xfrm>
        </p:grpSpPr>
        <p:sp>
          <p:nvSpPr>
            <p:cNvPr id="1519" name="Google Shape;1519;p97"/>
            <p:cNvSpPr/>
            <p:nvPr/>
          </p:nvSpPr>
          <p:spPr>
            <a:xfrm>
              <a:off x="6966525" y="2301150"/>
              <a:ext cx="1800000" cy="395400"/>
            </a:xfrm>
            <a:prstGeom prst="roundRect">
              <a:avLst>
                <a:gd fmla="val 25253"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0" name="Google Shape;1520;p97"/>
            <p:cNvSpPr/>
            <p:nvPr/>
          </p:nvSpPr>
          <p:spPr>
            <a:xfrm>
              <a:off x="6966513" y="2301138"/>
              <a:ext cx="243000" cy="268800"/>
            </a:xfrm>
            <a:prstGeom prst="roundRect">
              <a:avLst>
                <a:gd fmla="val 50000" name="adj"/>
              </a:avLst>
            </a:prstGeom>
            <a:no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H</a:t>
              </a:r>
              <a:endParaRPr>
                <a:latin typeface="Lexend"/>
                <a:ea typeface="Lexend"/>
                <a:cs typeface="Lexend"/>
                <a:sym typeface="Lexend"/>
              </a:endParaRPr>
            </a:p>
          </p:txBody>
        </p:sp>
        <p:sp>
          <p:nvSpPr>
            <p:cNvPr id="1521" name="Google Shape;1521;p97"/>
            <p:cNvSpPr txBox="1"/>
            <p:nvPr/>
          </p:nvSpPr>
          <p:spPr>
            <a:xfrm>
              <a:off x="7237825" y="2336850"/>
              <a:ext cx="16002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8, 27, 64, …</a:t>
              </a:r>
              <a:endParaRPr sz="1800">
                <a:solidFill>
                  <a:schemeClr val="dk1"/>
                </a:solidFill>
                <a:latin typeface="Lexend"/>
                <a:ea typeface="Lexend"/>
                <a:cs typeface="Lexend"/>
                <a:sym typeface="Lexend"/>
              </a:endParaRPr>
            </a:p>
          </p:txBody>
        </p:sp>
      </p:grpSp>
      <p:sp>
        <p:nvSpPr>
          <p:cNvPr id="1522" name="Google Shape;1522;p97"/>
          <p:cNvSpPr txBox="1"/>
          <p:nvPr>
            <p:ph idx="1" type="body"/>
          </p:nvPr>
        </p:nvSpPr>
        <p:spPr>
          <a:xfrm>
            <a:off x="324000" y="2836650"/>
            <a:ext cx="3300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g) 5, 14, 40, 127, 356, … </a:t>
            </a:r>
            <a:r>
              <a:rPr lang="en-GB" sz="2000">
                <a:latin typeface="Kalam"/>
                <a:ea typeface="Kalam"/>
                <a:cs typeface="Kalam"/>
                <a:sym typeface="Kalam"/>
              </a:rPr>
              <a:t>A</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B</a:t>
            </a:r>
            <a:endParaRPr sz="1800"/>
          </a:p>
          <a:p>
            <a:pPr indent="0" lvl="0" marL="0" rtl="0" algn="l">
              <a:spcBef>
                <a:spcPts val="1000"/>
              </a:spcBef>
              <a:spcAft>
                <a:spcPts val="0"/>
              </a:spcAft>
              <a:buNone/>
            </a:pPr>
            <a:r>
              <a:rPr lang="en-GB" sz="1800"/>
              <a:t>h) 8, 15, 20, 23, 24, … </a:t>
            </a:r>
            <a:r>
              <a:rPr lang="en-GB" sz="2000">
                <a:latin typeface="Kalam"/>
                <a:ea typeface="Kalam"/>
                <a:cs typeface="Kalam"/>
                <a:sym typeface="Kalam"/>
              </a:rPr>
              <a:t>C</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G</a:t>
            </a:r>
            <a:endParaRPr sz="1800"/>
          </a:p>
          <a:p>
            <a:pPr indent="0" lvl="0" marL="0" rtl="0" algn="l">
              <a:spcBef>
                <a:spcPts val="1000"/>
              </a:spcBef>
              <a:spcAft>
                <a:spcPts val="0"/>
              </a:spcAft>
              <a:buNone/>
            </a:pPr>
            <a:r>
              <a:rPr lang="en-GB" sz="1800"/>
              <a:t>i) 8, 13, 18, 23, 28, … </a:t>
            </a:r>
            <a:r>
              <a:rPr lang="en-GB" sz="2000">
                <a:latin typeface="Kalam"/>
                <a:ea typeface="Kalam"/>
                <a:cs typeface="Kalam"/>
                <a:sym typeface="Kalam"/>
              </a:rPr>
              <a:t>E</a:t>
            </a:r>
            <a:r>
              <a:rPr lang="en-GB" sz="1200">
                <a:latin typeface="Kalam"/>
                <a:ea typeface="Kalam"/>
                <a:cs typeface="Kalam"/>
                <a:sym typeface="Kalam"/>
              </a:rPr>
              <a:t> </a:t>
            </a:r>
            <a:r>
              <a:rPr lang="en-GB" sz="2000">
                <a:latin typeface="Kalam"/>
                <a:ea typeface="Kalam"/>
                <a:cs typeface="Kalam"/>
                <a:sym typeface="Kalam"/>
              </a:rPr>
              <a:t>+</a:t>
            </a:r>
            <a:r>
              <a:rPr lang="en-GB" sz="1200">
                <a:latin typeface="Kalam"/>
                <a:ea typeface="Kalam"/>
                <a:cs typeface="Kalam"/>
                <a:sym typeface="Kalam"/>
              </a:rPr>
              <a:t> </a:t>
            </a:r>
            <a:r>
              <a:rPr lang="en-GB" sz="2000">
                <a:latin typeface="Kalam"/>
                <a:ea typeface="Kalam"/>
                <a:cs typeface="Kalam"/>
                <a:sym typeface="Kalam"/>
              </a:rPr>
              <a:t>G</a:t>
            </a:r>
            <a:endParaRPr sz="1800"/>
          </a:p>
          <a:p>
            <a:pPr indent="0" lvl="0" marL="0" rtl="0" algn="l">
              <a:spcBef>
                <a:spcPts val="1000"/>
              </a:spcBef>
              <a:spcAft>
                <a:spcPts val="1000"/>
              </a:spcAft>
              <a:buNone/>
            </a:pPr>
            <a:r>
              <a:t/>
            </a:r>
            <a:endParaRPr sz="1800"/>
          </a:p>
        </p:txBody>
      </p:sp>
      <p:sp>
        <p:nvSpPr>
          <p:cNvPr id="1523" name="Google Shape;1523;p97"/>
          <p:cNvSpPr txBox="1"/>
          <p:nvPr>
            <p:ph idx="1" type="body"/>
          </p:nvPr>
        </p:nvSpPr>
        <p:spPr>
          <a:xfrm>
            <a:off x="3751850" y="2836650"/>
            <a:ext cx="5086200" cy="549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What is the </a:t>
            </a:r>
            <a:r>
              <a:rPr i="1" lang="en-GB" sz="2000">
                <a:latin typeface="Times"/>
                <a:ea typeface="Times"/>
                <a:cs typeface="Times"/>
                <a:sym typeface="Times"/>
              </a:rPr>
              <a:t>n</a:t>
            </a:r>
            <a:r>
              <a:rPr baseline="30000" lang="en-GB" sz="2000">
                <a:latin typeface="Times"/>
                <a:ea typeface="Times"/>
                <a:cs typeface="Times"/>
                <a:sym typeface="Times"/>
              </a:rPr>
              <a:t>th</a:t>
            </a:r>
            <a:r>
              <a:rPr lang="en-GB" sz="1800"/>
              <a:t> term rule for sequence a). How does that relate to the two sequences you have chosen for your answer to a)? </a:t>
            </a:r>
            <a:endParaRPr sz="1800"/>
          </a:p>
        </p:txBody>
      </p:sp>
      <p:sp>
        <p:nvSpPr>
          <p:cNvPr id="1524" name="Google Shape;1524;p97"/>
          <p:cNvSpPr txBox="1"/>
          <p:nvPr>
            <p:ph idx="1" type="body"/>
          </p:nvPr>
        </p:nvSpPr>
        <p:spPr>
          <a:xfrm>
            <a:off x="3739800" y="3780000"/>
            <a:ext cx="5034000" cy="113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latin typeface="Times"/>
                <a:ea typeface="Times"/>
                <a:cs typeface="Times"/>
                <a:sym typeface="Times"/>
              </a:rPr>
              <a:t>7</a:t>
            </a:r>
            <a:r>
              <a:rPr i="1" lang="en-GB" sz="2100">
                <a:latin typeface="Times"/>
                <a:ea typeface="Times"/>
                <a:cs typeface="Times"/>
                <a:sym typeface="Times"/>
              </a:rPr>
              <a:t>n</a:t>
            </a:r>
            <a:r>
              <a:rPr lang="en-GB" sz="2100">
                <a:latin typeface="Times"/>
                <a:ea typeface="Times"/>
                <a:cs typeface="Times"/>
                <a:sym typeface="Times"/>
              </a:rPr>
              <a:t> </a:t>
            </a:r>
            <a:r>
              <a:rPr lang="en-GB" sz="2100">
                <a:solidFill>
                  <a:srgbClr val="222222"/>
                </a:solidFill>
                <a:latin typeface="Times"/>
                <a:ea typeface="Times"/>
                <a:cs typeface="Times"/>
                <a:sym typeface="Times"/>
              </a:rPr>
              <a:t>−</a:t>
            </a:r>
            <a:r>
              <a:rPr lang="en-GB" sz="2100">
                <a:latin typeface="Times"/>
                <a:ea typeface="Times"/>
                <a:cs typeface="Times"/>
                <a:sym typeface="Times"/>
              </a:rPr>
              <a:t> 2</a:t>
            </a:r>
            <a:r>
              <a:rPr lang="en-GB" sz="2000">
                <a:latin typeface="Kalam"/>
                <a:ea typeface="Kalam"/>
                <a:cs typeface="Kalam"/>
                <a:sym typeface="Kalam"/>
              </a:rPr>
              <a:t>. The </a:t>
            </a:r>
            <a:r>
              <a:rPr i="1" lang="en-GB" sz="2100">
                <a:latin typeface="Times"/>
                <a:ea typeface="Times"/>
                <a:cs typeface="Times"/>
                <a:sym typeface="Times"/>
              </a:rPr>
              <a:t>n</a:t>
            </a:r>
            <a:r>
              <a:rPr baseline="30000" lang="en-GB" sz="2100">
                <a:latin typeface="Times"/>
                <a:ea typeface="Times"/>
                <a:cs typeface="Times"/>
                <a:sym typeface="Times"/>
              </a:rPr>
              <a:t>th</a:t>
            </a:r>
            <a:r>
              <a:rPr lang="en-GB" sz="2000">
                <a:latin typeface="Kalam"/>
                <a:ea typeface="Kalam"/>
                <a:cs typeface="Kalam"/>
                <a:sym typeface="Kalam"/>
              </a:rPr>
              <a:t> term rules for C and D are   </a:t>
            </a:r>
            <a:r>
              <a:rPr lang="en-GB" sz="2100">
                <a:latin typeface="Times"/>
                <a:ea typeface="Times"/>
                <a:cs typeface="Times"/>
                <a:sym typeface="Times"/>
              </a:rPr>
              <a:t>5</a:t>
            </a:r>
            <a:r>
              <a:rPr i="1" lang="en-GB" sz="2100">
                <a:latin typeface="Times"/>
                <a:ea typeface="Times"/>
                <a:cs typeface="Times"/>
                <a:sym typeface="Times"/>
              </a:rPr>
              <a:t>n</a:t>
            </a:r>
            <a:r>
              <a:rPr lang="en-GB" sz="2100">
                <a:latin typeface="Times"/>
                <a:ea typeface="Times"/>
                <a:cs typeface="Times"/>
                <a:sym typeface="Times"/>
              </a:rPr>
              <a:t> </a:t>
            </a:r>
            <a:r>
              <a:rPr lang="en-GB" sz="2100">
                <a:solidFill>
                  <a:srgbClr val="222222"/>
                </a:solidFill>
                <a:latin typeface="Times"/>
                <a:ea typeface="Times"/>
                <a:cs typeface="Times"/>
                <a:sym typeface="Times"/>
              </a:rPr>
              <a:t>− </a:t>
            </a:r>
            <a:r>
              <a:rPr lang="en-GB" sz="2100">
                <a:latin typeface="Times"/>
                <a:ea typeface="Times"/>
                <a:cs typeface="Times"/>
                <a:sym typeface="Times"/>
              </a:rPr>
              <a:t>1</a:t>
            </a:r>
            <a:r>
              <a:rPr lang="en-GB" sz="2000">
                <a:latin typeface="Kalam"/>
                <a:ea typeface="Kalam"/>
                <a:cs typeface="Kalam"/>
                <a:sym typeface="Kalam"/>
              </a:rPr>
              <a:t> and </a:t>
            </a:r>
            <a:r>
              <a:rPr lang="en-GB" sz="2100">
                <a:latin typeface="Times"/>
                <a:ea typeface="Times"/>
                <a:cs typeface="Times"/>
                <a:sym typeface="Times"/>
              </a:rPr>
              <a:t>2</a:t>
            </a:r>
            <a:r>
              <a:rPr i="1" lang="en-GB" sz="2100">
                <a:latin typeface="Times"/>
                <a:ea typeface="Times"/>
                <a:cs typeface="Times"/>
                <a:sym typeface="Times"/>
              </a:rPr>
              <a:t>n</a:t>
            </a:r>
            <a:r>
              <a:rPr lang="en-GB" sz="2100">
                <a:latin typeface="Times"/>
                <a:ea typeface="Times"/>
                <a:cs typeface="Times"/>
                <a:sym typeface="Times"/>
              </a:rPr>
              <a:t> </a:t>
            </a:r>
            <a:r>
              <a:rPr lang="en-GB" sz="2100">
                <a:solidFill>
                  <a:srgbClr val="222222"/>
                </a:solidFill>
                <a:latin typeface="Times"/>
                <a:ea typeface="Times"/>
                <a:cs typeface="Times"/>
                <a:sym typeface="Times"/>
              </a:rPr>
              <a:t>−</a:t>
            </a:r>
            <a:r>
              <a:rPr lang="en-GB" sz="2100">
                <a:latin typeface="Times"/>
                <a:ea typeface="Times"/>
                <a:cs typeface="Times"/>
                <a:sym typeface="Times"/>
              </a:rPr>
              <a:t> 1</a:t>
            </a:r>
            <a:r>
              <a:rPr lang="en-GB" sz="2000">
                <a:latin typeface="Kalam"/>
                <a:ea typeface="Kalam"/>
                <a:cs typeface="Kalam"/>
                <a:sym typeface="Kalam"/>
              </a:rPr>
              <a:t>. Adding the </a:t>
            </a:r>
            <a:r>
              <a:rPr i="1" lang="en-GB" sz="2100">
                <a:latin typeface="Times"/>
                <a:ea typeface="Times"/>
                <a:cs typeface="Times"/>
                <a:sym typeface="Times"/>
              </a:rPr>
              <a:t>n</a:t>
            </a:r>
            <a:r>
              <a:rPr baseline="30000" lang="en-GB" sz="2100">
                <a:latin typeface="Times"/>
                <a:ea typeface="Times"/>
                <a:cs typeface="Times"/>
                <a:sym typeface="Times"/>
              </a:rPr>
              <a:t>th</a:t>
            </a:r>
            <a:r>
              <a:rPr lang="en-GB" sz="2000">
                <a:latin typeface="Kalam"/>
                <a:ea typeface="Kalam"/>
                <a:cs typeface="Kalam"/>
                <a:sym typeface="Kalam"/>
              </a:rPr>
              <a:t> terms together: </a:t>
            </a:r>
            <a:r>
              <a:rPr lang="en-GB" sz="2100">
                <a:latin typeface="Times"/>
                <a:ea typeface="Times"/>
                <a:cs typeface="Times"/>
                <a:sym typeface="Times"/>
              </a:rPr>
              <a:t>5</a:t>
            </a:r>
            <a:r>
              <a:rPr i="1" lang="en-GB" sz="2100">
                <a:latin typeface="Times"/>
                <a:ea typeface="Times"/>
                <a:cs typeface="Times"/>
                <a:sym typeface="Times"/>
              </a:rPr>
              <a:t>n</a:t>
            </a:r>
            <a:r>
              <a:rPr lang="en-GB" sz="2100">
                <a:solidFill>
                  <a:srgbClr val="222222"/>
                </a:solidFill>
                <a:latin typeface="Times"/>
                <a:ea typeface="Times"/>
                <a:cs typeface="Times"/>
                <a:sym typeface="Times"/>
              </a:rPr>
              <a:t>−</a:t>
            </a:r>
            <a:r>
              <a:rPr lang="en-GB" sz="2100">
                <a:latin typeface="Times"/>
                <a:ea typeface="Times"/>
                <a:cs typeface="Times"/>
                <a:sym typeface="Times"/>
              </a:rPr>
              <a:t>1 + 2</a:t>
            </a:r>
            <a:r>
              <a:rPr i="1" lang="en-GB" sz="2100">
                <a:latin typeface="Times"/>
                <a:ea typeface="Times"/>
                <a:cs typeface="Times"/>
                <a:sym typeface="Times"/>
              </a:rPr>
              <a:t>n</a:t>
            </a:r>
            <a:r>
              <a:rPr lang="en-GB" sz="2100">
                <a:latin typeface="Times"/>
                <a:ea typeface="Times"/>
                <a:cs typeface="Times"/>
                <a:sym typeface="Times"/>
              </a:rPr>
              <a:t> </a:t>
            </a:r>
            <a:r>
              <a:rPr lang="en-GB" sz="2100">
                <a:solidFill>
                  <a:srgbClr val="222222"/>
                </a:solidFill>
                <a:latin typeface="Times"/>
                <a:ea typeface="Times"/>
                <a:cs typeface="Times"/>
                <a:sym typeface="Times"/>
              </a:rPr>
              <a:t>−</a:t>
            </a:r>
            <a:r>
              <a:rPr lang="en-GB" sz="2100">
                <a:latin typeface="Times"/>
                <a:ea typeface="Times"/>
                <a:cs typeface="Times"/>
                <a:sym typeface="Times"/>
              </a:rPr>
              <a:t> 1 = 7</a:t>
            </a:r>
            <a:r>
              <a:rPr i="1" lang="en-GB" sz="2100">
                <a:latin typeface="Times"/>
                <a:ea typeface="Times"/>
                <a:cs typeface="Times"/>
                <a:sym typeface="Times"/>
              </a:rPr>
              <a:t>n</a:t>
            </a:r>
            <a:r>
              <a:rPr lang="en-GB" sz="2100">
                <a:latin typeface="Times"/>
                <a:ea typeface="Times"/>
                <a:cs typeface="Times"/>
                <a:sym typeface="Times"/>
              </a:rPr>
              <a:t> </a:t>
            </a:r>
            <a:r>
              <a:rPr lang="en-GB" sz="2100">
                <a:solidFill>
                  <a:srgbClr val="222222"/>
                </a:solidFill>
                <a:latin typeface="Times"/>
                <a:ea typeface="Times"/>
                <a:cs typeface="Times"/>
                <a:sym typeface="Times"/>
              </a:rPr>
              <a:t>−</a:t>
            </a:r>
            <a:r>
              <a:rPr lang="en-GB" sz="2100">
                <a:latin typeface="Times"/>
                <a:ea typeface="Times"/>
                <a:cs typeface="Times"/>
                <a:sym typeface="Times"/>
              </a:rPr>
              <a:t> 2</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530" name="Google Shape;1530;p98"/>
          <p:cNvSpPr txBox="1"/>
          <p:nvPr>
            <p:ph idx="1" type="body"/>
          </p:nvPr>
        </p:nvSpPr>
        <p:spPr>
          <a:xfrm>
            <a:off x="324000" y="694825"/>
            <a:ext cx="8496000" cy="3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By using the examples previously and any of your own examples, investigate the following questions and write a sentence about any patterns you have noticed.  </a:t>
            </a:r>
            <a:endParaRPr sz="300"/>
          </a:p>
          <a:p>
            <a:pPr indent="0" lvl="0" marL="0" rtl="0" algn="l">
              <a:spcBef>
                <a:spcPts val="0"/>
              </a:spcBef>
              <a:spcAft>
                <a:spcPts val="0"/>
              </a:spcAft>
              <a:buNone/>
            </a:pPr>
            <a:r>
              <a:rPr lang="en-GB" sz="1800"/>
              <a:t>a) What happens when you add two geometric sequences together? </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t/>
            </a:r>
            <a:endParaRPr sz="1000"/>
          </a:p>
          <a:p>
            <a:pPr indent="0" lvl="0" marL="0" rtl="0" algn="l">
              <a:spcBef>
                <a:spcPts val="1000"/>
              </a:spcBef>
              <a:spcAft>
                <a:spcPts val="0"/>
              </a:spcAft>
              <a:buClr>
                <a:schemeClr val="dk1"/>
              </a:buClr>
              <a:buSzPts val="1100"/>
              <a:buFont typeface="Arial"/>
              <a:buNone/>
            </a:pPr>
            <a:r>
              <a:t/>
            </a:r>
            <a:endParaRPr sz="1000"/>
          </a:p>
          <a:p>
            <a:pPr indent="0" lvl="0" marL="0" rtl="0" algn="l">
              <a:spcBef>
                <a:spcPts val="1000"/>
              </a:spcBef>
              <a:spcAft>
                <a:spcPts val="0"/>
              </a:spcAft>
              <a:buClr>
                <a:schemeClr val="dk1"/>
              </a:buClr>
              <a:buSzPts val="1100"/>
              <a:buFont typeface="Arial"/>
              <a:buNone/>
            </a:pPr>
            <a:r>
              <a:rPr lang="en-GB" sz="1800"/>
              <a:t>b) What happens when you add two quadratic sequences together?</a:t>
            </a:r>
            <a:endParaRPr sz="1800"/>
          </a:p>
          <a:p>
            <a:pPr indent="0" lvl="0" marL="0" rtl="0" algn="l">
              <a:spcBef>
                <a:spcPts val="0"/>
              </a:spcBef>
              <a:spcAft>
                <a:spcPts val="0"/>
              </a:spcAft>
              <a:buClr>
                <a:schemeClr val="dk1"/>
              </a:buClr>
              <a:buSzPts val="1100"/>
              <a:buFont typeface="Arial"/>
              <a:buNone/>
            </a:pPr>
            <a:r>
              <a:t/>
            </a:r>
            <a:endParaRPr sz="1800"/>
          </a:p>
        </p:txBody>
      </p:sp>
      <p:sp>
        <p:nvSpPr>
          <p:cNvPr id="1531" name="Google Shape;1531;p98"/>
          <p:cNvSpPr txBox="1"/>
          <p:nvPr>
            <p:ph idx="1" type="body"/>
          </p:nvPr>
        </p:nvSpPr>
        <p:spPr>
          <a:xfrm>
            <a:off x="324000" y="2052900"/>
            <a:ext cx="8496000" cy="64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You do not get another geometric sequence. There is no clear arithmetic or geometric pattern in the differences or ratios between terms.   </a:t>
            </a:r>
            <a:endParaRPr sz="2000">
              <a:latin typeface="Kalam"/>
              <a:ea typeface="Kalam"/>
              <a:cs typeface="Kalam"/>
              <a:sym typeface="Kalam"/>
            </a:endParaRPr>
          </a:p>
        </p:txBody>
      </p:sp>
      <p:sp>
        <p:nvSpPr>
          <p:cNvPr id="1532" name="Google Shape;1532;p98"/>
          <p:cNvSpPr txBox="1"/>
          <p:nvPr>
            <p:ph idx="1" type="body"/>
          </p:nvPr>
        </p:nvSpPr>
        <p:spPr>
          <a:xfrm>
            <a:off x="324000" y="3293225"/>
            <a:ext cx="8496000" cy="64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Often you get another quadratic sequence with the common second difference of the new sequence equal to the sum of the second differences of the original sequences. If the second differences of two sequences are the additive inverses of each other it is possible to add two quadratic sequences to get a linear sequence- Question 1i) is an example of this.     </a:t>
            </a:r>
            <a:endParaRPr sz="2000">
              <a:latin typeface="Kalam"/>
              <a:ea typeface="Kalam"/>
              <a:cs typeface="Kalam"/>
              <a:sym typeface="Kala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Adding sequences</a:t>
            </a:r>
            <a:endParaRPr/>
          </a:p>
        </p:txBody>
      </p:sp>
      <p:sp>
        <p:nvSpPr>
          <p:cNvPr id="1538" name="Google Shape;1538;p99"/>
          <p:cNvSpPr txBox="1"/>
          <p:nvPr>
            <p:ph idx="1" type="body"/>
          </p:nvPr>
        </p:nvSpPr>
        <p:spPr>
          <a:xfrm>
            <a:off x="324000" y="759300"/>
            <a:ext cx="8496000" cy="3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By using the examples previously and any of your own examples, investigate the following questions and write a sentence about any patterns you have noticed.  </a:t>
            </a:r>
            <a:endParaRPr sz="1800"/>
          </a:p>
          <a:p>
            <a:pPr indent="0" lvl="0" marL="0" rtl="0" algn="l">
              <a:spcBef>
                <a:spcPts val="1000"/>
              </a:spcBef>
              <a:spcAft>
                <a:spcPts val="0"/>
              </a:spcAft>
              <a:buNone/>
            </a:pPr>
            <a:r>
              <a:rPr lang="en-GB" sz="1800"/>
              <a:t>c) What happens when you add a linear sequence to a geometric sequence?</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None/>
            </a:pPr>
            <a:r>
              <a:t/>
            </a:r>
            <a:endParaRPr sz="1000"/>
          </a:p>
          <a:p>
            <a:pPr indent="0" lvl="0" marL="0" rtl="0" algn="l">
              <a:spcBef>
                <a:spcPts val="1000"/>
              </a:spcBef>
              <a:spcAft>
                <a:spcPts val="0"/>
              </a:spcAft>
              <a:buClr>
                <a:schemeClr val="dk1"/>
              </a:buClr>
              <a:buSzPts val="1100"/>
              <a:buFont typeface="Arial"/>
              <a:buNone/>
            </a:pPr>
            <a:r>
              <a:t/>
            </a:r>
            <a:endParaRPr sz="1000"/>
          </a:p>
          <a:p>
            <a:pPr indent="0" lvl="0" marL="0" rtl="0" algn="l">
              <a:spcBef>
                <a:spcPts val="1000"/>
              </a:spcBef>
              <a:spcAft>
                <a:spcPts val="1000"/>
              </a:spcAft>
              <a:buClr>
                <a:schemeClr val="dk1"/>
              </a:buClr>
              <a:buSzPts val="1100"/>
              <a:buFont typeface="Arial"/>
              <a:buNone/>
            </a:pPr>
            <a:r>
              <a:rPr lang="en-GB" sz="1800"/>
              <a:t>d) What happens when you add a linear sequence to a quadratic sequence?</a:t>
            </a:r>
            <a:endParaRPr sz="1800"/>
          </a:p>
        </p:txBody>
      </p:sp>
      <p:sp>
        <p:nvSpPr>
          <p:cNvPr id="1539" name="Google Shape;1539;p99"/>
          <p:cNvSpPr txBox="1"/>
          <p:nvPr>
            <p:ph idx="1" type="body"/>
          </p:nvPr>
        </p:nvSpPr>
        <p:spPr>
          <a:xfrm>
            <a:off x="324000" y="3808750"/>
            <a:ext cx="8496000" cy="64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You will get a quadratic sequence. If you knew the </a:t>
            </a:r>
            <a:r>
              <a:rPr i="1" lang="en-GB" sz="2100">
                <a:latin typeface="Times"/>
                <a:ea typeface="Times"/>
                <a:cs typeface="Times"/>
                <a:sym typeface="Times"/>
              </a:rPr>
              <a:t>n</a:t>
            </a:r>
            <a:r>
              <a:rPr baseline="30000" lang="en-GB" sz="2100">
                <a:latin typeface="Times"/>
                <a:ea typeface="Times"/>
                <a:cs typeface="Times"/>
                <a:sym typeface="Times"/>
              </a:rPr>
              <a:t>th</a:t>
            </a:r>
            <a:r>
              <a:rPr lang="en-GB" sz="2000">
                <a:latin typeface="Kalam"/>
                <a:ea typeface="Kalam"/>
                <a:cs typeface="Kalam"/>
                <a:sym typeface="Kalam"/>
              </a:rPr>
              <a:t> term rules, adding them together would give you the new </a:t>
            </a:r>
            <a:r>
              <a:rPr i="1" lang="en-GB" sz="2100">
                <a:latin typeface="Times"/>
                <a:ea typeface="Times"/>
                <a:cs typeface="Times"/>
                <a:sym typeface="Times"/>
              </a:rPr>
              <a:t>n</a:t>
            </a:r>
            <a:r>
              <a:rPr baseline="30000" lang="en-GB" sz="2100">
                <a:latin typeface="Times"/>
                <a:ea typeface="Times"/>
                <a:cs typeface="Times"/>
                <a:sym typeface="Times"/>
              </a:rPr>
              <a:t>th</a:t>
            </a:r>
            <a:r>
              <a:rPr lang="en-GB" sz="2000">
                <a:latin typeface="Kalam"/>
                <a:ea typeface="Kalam"/>
                <a:cs typeface="Kalam"/>
                <a:sym typeface="Kalam"/>
              </a:rPr>
              <a:t> term rule.  </a:t>
            </a:r>
            <a:endParaRPr sz="2000">
              <a:latin typeface="Kalam"/>
              <a:ea typeface="Kalam"/>
              <a:cs typeface="Kalam"/>
              <a:sym typeface="Kalam"/>
            </a:endParaRPr>
          </a:p>
        </p:txBody>
      </p:sp>
      <p:sp>
        <p:nvSpPr>
          <p:cNvPr id="1540" name="Google Shape;1540;p99"/>
          <p:cNvSpPr txBox="1"/>
          <p:nvPr>
            <p:ph idx="1" type="body"/>
          </p:nvPr>
        </p:nvSpPr>
        <p:spPr>
          <a:xfrm>
            <a:off x="324000" y="2248200"/>
            <a:ext cx="8496000" cy="64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E.g. The resulting sequences are neither arithmetic or geometric. There seems to be geometric relationships in the second differences between terms.    </a:t>
            </a:r>
            <a:endParaRPr sz="2000">
              <a:latin typeface="Kalam"/>
              <a:ea typeface="Kalam"/>
              <a:cs typeface="Kalam"/>
              <a:sym typeface="Kala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100"/>
          <p:cNvSpPr txBox="1"/>
          <p:nvPr>
            <p:ph idx="1" type="body"/>
          </p:nvPr>
        </p:nvSpPr>
        <p:spPr>
          <a:xfrm>
            <a:off x="324000" y="908075"/>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If you can spot a sequence it is possible to predict behaviour. </a:t>
            </a:r>
            <a:endParaRPr sz="2000"/>
          </a:p>
          <a:p>
            <a:pPr indent="0" lvl="0" marL="0" rtl="0" algn="l">
              <a:spcBef>
                <a:spcPts val="1000"/>
              </a:spcBef>
              <a:spcAft>
                <a:spcPts val="0"/>
              </a:spcAft>
              <a:buNone/>
            </a:pPr>
            <a:r>
              <a:rPr lang="en-GB" sz="2000"/>
              <a:t>Applying mathematical modelling to real life situations has its limitations. </a:t>
            </a:r>
            <a:endParaRPr sz="2000"/>
          </a:p>
          <a:p>
            <a:pPr indent="0" lvl="0" marL="0" rtl="0" algn="l">
              <a:spcBef>
                <a:spcPts val="1000"/>
              </a:spcBef>
              <a:spcAft>
                <a:spcPts val="0"/>
              </a:spcAft>
              <a:buNone/>
            </a:pPr>
            <a:r>
              <a:rPr lang="en-GB" sz="2000"/>
              <a:t>Sequences can be built by adding other sequences together. The </a:t>
            </a:r>
            <a:r>
              <a:rPr i="1" lang="en-GB">
                <a:latin typeface="Times"/>
                <a:ea typeface="Times"/>
                <a:cs typeface="Times"/>
                <a:sym typeface="Times"/>
              </a:rPr>
              <a:t>n</a:t>
            </a:r>
            <a:r>
              <a:rPr baseline="30000" lang="en-GB">
                <a:latin typeface="Times"/>
                <a:ea typeface="Times"/>
                <a:cs typeface="Times"/>
                <a:sym typeface="Times"/>
              </a:rPr>
              <a:t>th</a:t>
            </a:r>
            <a:r>
              <a:rPr lang="en-GB" sz="2000"/>
              <a:t> term rules can be added together to get the rule for the new sequence.</a:t>
            </a:r>
            <a:endParaRPr sz="2000"/>
          </a:p>
          <a:p>
            <a:pPr indent="0" lvl="0" marL="0" rtl="0" algn="l">
              <a:spcBef>
                <a:spcPts val="1000"/>
              </a:spcBef>
              <a:spcAft>
                <a:spcPts val="0"/>
              </a:spcAft>
              <a:buNone/>
            </a:pPr>
            <a:r>
              <a:rPr lang="en-GB" sz="2000"/>
              <a:t>Sequences can help us solve mathematical problems.</a:t>
            </a:r>
            <a:endParaRPr sz="2000"/>
          </a:p>
          <a:p>
            <a:pPr indent="0" lvl="0" marL="0" rtl="0" algn="l">
              <a:spcBef>
                <a:spcPts val="1000"/>
              </a:spcBef>
              <a:spcAft>
                <a:spcPts val="1000"/>
              </a:spcAft>
              <a:buNone/>
            </a:pPr>
            <a:r>
              <a:rPr lang="en-GB" sz="2000"/>
              <a:t>There are problems in mathematics that are ongoing which mathematicians are working to figure out. </a:t>
            </a:r>
            <a:endParaRPr sz="2000"/>
          </a:p>
        </p:txBody>
      </p:sp>
      <p:sp>
        <p:nvSpPr>
          <p:cNvPr id="1546" name="Google Shape;1546;p100"/>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non-linear relationships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52" name="Google Shape;1552;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