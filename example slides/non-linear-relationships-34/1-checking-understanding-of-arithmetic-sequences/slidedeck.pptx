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7C0A26-7F6A-4316-B9DD-D3FB3A37D96B}">
  <a:tblStyle styleId="{5F7C0A26-7F6A-4316-B9DD-D3FB3A37D9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1ee60e84717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ee60e84717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1ee60e84717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1ee60e84717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1ee60e84717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1ee60e84717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e60e84717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e60e84717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1ee60e84717_0_1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1ee60e84717_0_1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1ee60e84717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1ee60e84717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1ee60e84717_0_1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1ee60e84717_0_1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ae79f895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ae79f895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ee60e84717_0_1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1ee60e84717_0_1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1ee60e84717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1ee60e8471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1ee60e84717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1ee60e84717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1ee60e84717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1ee60e84717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1ee60e84717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1ee60e84717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1ee60e84717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1ee60e84717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1ee60e84717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1ee60e84717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1ee60e84717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1ee60e84717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1ee60e84717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1ee60e84717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1ee60e84717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1ee60e84717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1ee60e84717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1ee60e84717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1ee60e84717_1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1ee60e84717_1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1ee60e84717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1ee60e84717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1ee60e84717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1ee60e84717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1ee60e84717_1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1ee60e84717_1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1ee60e84717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1ee60e84717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1ee60e84717_1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1ee60e84717_1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g1ee60e84717_1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1" name="Google Shape;2151;g1ee60e84717_1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1ee60e84717_1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1ee60e84717_1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1ee60e84717_1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5" name="Google Shape;2265;g1ee60e84717_1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1ee60e84717_1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1ee60e84717_1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1ee60e84717_1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1ee60e84717_1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1ee60e84717_1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1ee60e84717_1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g1ee60e84717_1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1ee60e84717_1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ee60e84717_1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9" name="Google Shape;2359;g1ee60e84717_1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g1ee60e84717_1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7" name="Google Shape;2377;g1ee60e84717_1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g1ee60e84717_1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6" name="Google Shape;2396;g1ee60e84717_1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1ee60e84717_1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1ee60e84717_1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g1ee60e84717_1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0" name="Google Shape;2420;g1ee60e84717_1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g1ee60e84717_1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2" name="Google Shape;2442;g1ee60e84717_1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1ee60e84717_1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1ee60e84717_1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5" name="Google Shape;272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73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33.png"/><Relationship Id="rId11" Type="http://schemas.openxmlformats.org/officeDocument/2006/relationships/image" Target="../media/image24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73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73.png"/><Relationship Id="rId4" Type="http://schemas.openxmlformats.org/officeDocument/2006/relationships/image" Target="../media/image33.png"/><Relationship Id="rId11" Type="http://schemas.openxmlformats.org/officeDocument/2006/relationships/image" Target="../media/image24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6" name="Google Shape;1296;p10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9" name="Google Shape;1299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8" name="Google Shape;1318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7" name="Google Shape;1327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4" name="Google Shape;1334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7" name="Google Shape;1337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6" name="Google Shape;1356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9" name="Google Shape;135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5" name="Google Shape;1365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6" name="Google Shape;136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8" name="Google Shape;1368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9" name="Google Shape;136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5" name="Google Shape;1375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8" name="Google Shape;1378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" name="Google Shape;1382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5" name="Google Shape;138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Google Shape;1396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9" name="Google Shape;139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5" name="Google Shape;142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4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0" name="Google Shape;1440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6" name="Google Shape;145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9" name="Google Shape;1459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4" name="Google Shape;1464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5" name="Google Shape;1465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8" name="Google Shape;1468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0" name="Google Shape;1470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4" name="Google Shape;1474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6" name="Google Shape;1476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5.png"/><Relationship Id="rId4" Type="http://schemas.openxmlformats.org/officeDocument/2006/relationships/image" Target="../media/image101.png"/><Relationship Id="rId5" Type="http://schemas.openxmlformats.org/officeDocument/2006/relationships/image" Target="../media/image9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Relationship Id="rId6" Type="http://schemas.openxmlformats.org/officeDocument/2006/relationships/image" Target="../media/image10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2.png"/><Relationship Id="rId4" Type="http://schemas.openxmlformats.org/officeDocument/2006/relationships/image" Target="../media/image100.png"/><Relationship Id="rId5" Type="http://schemas.openxmlformats.org/officeDocument/2006/relationships/image" Target="../media/image9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8.png"/><Relationship Id="rId4" Type="http://schemas.openxmlformats.org/officeDocument/2006/relationships/image" Target="../media/image103.png"/><Relationship Id="rId9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04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3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9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6.png"/><Relationship Id="rId4" Type="http://schemas.openxmlformats.org/officeDocument/2006/relationships/image" Target="../media/image113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6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png"/><Relationship Id="rId4" Type="http://schemas.openxmlformats.org/officeDocument/2006/relationships/image" Target="../media/image1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6.png"/><Relationship Id="rId4" Type="http://schemas.openxmlformats.org/officeDocument/2006/relationships/image" Target="../media/image1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7.png"/><Relationship Id="rId4" Type="http://schemas.openxmlformats.org/officeDocument/2006/relationships/image" Target="../media/image122.png"/><Relationship Id="rId5" Type="http://schemas.openxmlformats.org/officeDocument/2006/relationships/image" Target="../media/image118.png"/><Relationship Id="rId6" Type="http://schemas.openxmlformats.org/officeDocument/2006/relationships/image" Target="../media/image1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1501" name="Google Shape;1501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any term in an arithmetic sequence can be expressed in terms of its position in the sequence and generate any term.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28"/>
          <p:cNvSpPr txBox="1"/>
          <p:nvPr>
            <p:ph idx="1" type="subTitle"/>
          </p:nvPr>
        </p:nvSpPr>
        <p:spPr>
          <a:xfrm>
            <a:off x="324000" y="7642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An </a:t>
            </a:r>
            <a:r>
              <a:rPr lang="en-GB" sz="1900">
                <a:solidFill>
                  <a:schemeClr val="dk1"/>
                </a:solidFill>
              </a:rPr>
              <a:t>arithmetic (or linear) sequence is a sequence where the difference between successive terms is a constant.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E.g.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10, 12, 14, 16, 18,...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E.g.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10, 12, 15, 19, 24,...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17" name="Google Shape;1517;p128"/>
          <p:cNvSpPr txBox="1"/>
          <p:nvPr>
            <p:ph idx="1" type="subTitle"/>
          </p:nvPr>
        </p:nvSpPr>
        <p:spPr>
          <a:xfrm>
            <a:off x="324000" y="3629603"/>
            <a:ext cx="82605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900"/>
              <a:t> term of a sequence is the position of a term in a sequence where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stands for the term number. For example, if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lang="en-GB" sz="1900"/>
              <a:t> this means the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900"/>
              <a:t> term in the </a:t>
            </a:r>
            <a:r>
              <a:rPr lang="en-GB" sz="1900"/>
              <a:t>sequence</a:t>
            </a:r>
            <a:r>
              <a:rPr lang="en-GB" sz="1900"/>
              <a:t>. 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18" name="Google Shape;1518;p128"/>
          <p:cNvSpPr txBox="1"/>
          <p:nvPr/>
        </p:nvSpPr>
        <p:spPr>
          <a:xfrm>
            <a:off x="3115800" y="1476125"/>
            <a:ext cx="57042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an arithmetic sequence with a common difference of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9" name="Google Shape;1519;p128"/>
          <p:cNvGrpSpPr/>
          <p:nvPr/>
        </p:nvGrpSpPr>
        <p:grpSpPr>
          <a:xfrm>
            <a:off x="975180" y="1553750"/>
            <a:ext cx="1634110" cy="627825"/>
            <a:chOff x="975180" y="1553750"/>
            <a:chExt cx="1634110" cy="627825"/>
          </a:xfrm>
        </p:grpSpPr>
        <p:sp>
          <p:nvSpPr>
            <p:cNvPr id="1520" name="Google Shape;1520;p128"/>
            <p:cNvSpPr txBox="1"/>
            <p:nvPr/>
          </p:nvSpPr>
          <p:spPr>
            <a:xfrm>
              <a:off x="1009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1" name="Google Shape;1521;p128"/>
            <p:cNvSpPr txBox="1"/>
            <p:nvPr/>
          </p:nvSpPr>
          <p:spPr>
            <a:xfrm>
              <a:off x="1416890" y="194457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2" name="Google Shape;1522;p128"/>
            <p:cNvSpPr txBox="1"/>
            <p:nvPr/>
          </p:nvSpPr>
          <p:spPr>
            <a:xfrm>
              <a:off x="18243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3" name="Google Shape;1523;p128"/>
            <p:cNvSpPr txBox="1"/>
            <p:nvPr/>
          </p:nvSpPr>
          <p:spPr>
            <a:xfrm>
              <a:off x="2231890" y="194456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4" name="Google Shape;1524;p128"/>
            <p:cNvSpPr/>
            <p:nvPr/>
          </p:nvSpPr>
          <p:spPr>
            <a:xfrm rot="5397628">
              <a:off x="936480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128"/>
            <p:cNvSpPr/>
            <p:nvPr/>
          </p:nvSpPr>
          <p:spPr>
            <a:xfrm rot="5397628">
              <a:off x="1348091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128"/>
            <p:cNvSpPr/>
            <p:nvPr/>
          </p:nvSpPr>
          <p:spPr>
            <a:xfrm rot="5397628">
              <a:off x="175967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128"/>
            <p:cNvSpPr/>
            <p:nvPr/>
          </p:nvSpPr>
          <p:spPr>
            <a:xfrm rot="5397628">
              <a:off x="2171257" y="159260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8" name="Google Shape;1528;p128"/>
          <p:cNvSpPr txBox="1"/>
          <p:nvPr/>
        </p:nvSpPr>
        <p:spPr>
          <a:xfrm>
            <a:off x="3115800" y="2368275"/>
            <a:ext cx="5704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not an arithmetic sequence because there is not a common difference between successive terms.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9" name="Google Shape;1529;p128"/>
          <p:cNvGrpSpPr/>
          <p:nvPr/>
        </p:nvGrpSpPr>
        <p:grpSpPr>
          <a:xfrm>
            <a:off x="905442" y="2524800"/>
            <a:ext cx="1678335" cy="627825"/>
            <a:chOff x="905442" y="2524800"/>
            <a:chExt cx="1678335" cy="627825"/>
          </a:xfrm>
        </p:grpSpPr>
        <p:sp>
          <p:nvSpPr>
            <p:cNvPr id="1530" name="Google Shape;1530;p128"/>
            <p:cNvSpPr txBox="1"/>
            <p:nvPr/>
          </p:nvSpPr>
          <p:spPr>
            <a:xfrm>
              <a:off x="93965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1" name="Google Shape;1531;p128"/>
            <p:cNvSpPr txBox="1"/>
            <p:nvPr/>
          </p:nvSpPr>
          <p:spPr>
            <a:xfrm>
              <a:off x="1376750" y="2915625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2" name="Google Shape;1532;p128"/>
            <p:cNvSpPr txBox="1"/>
            <p:nvPr/>
          </p:nvSpPr>
          <p:spPr>
            <a:xfrm>
              <a:off x="1774702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3" name="Google Shape;1533;p128"/>
            <p:cNvSpPr txBox="1"/>
            <p:nvPr/>
          </p:nvSpPr>
          <p:spPr>
            <a:xfrm>
              <a:off x="2206377" y="2915616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4" name="Google Shape;1534;p128"/>
            <p:cNvSpPr/>
            <p:nvPr/>
          </p:nvSpPr>
          <p:spPr>
            <a:xfrm rot="5397628">
              <a:off x="866742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128"/>
            <p:cNvSpPr/>
            <p:nvPr/>
          </p:nvSpPr>
          <p:spPr>
            <a:xfrm rot="5397628">
              <a:off x="1278353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128"/>
            <p:cNvSpPr/>
            <p:nvPr/>
          </p:nvSpPr>
          <p:spPr>
            <a:xfrm rot="5397628">
              <a:off x="168994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128"/>
            <p:cNvSpPr/>
            <p:nvPr/>
          </p:nvSpPr>
          <p:spPr>
            <a:xfrm rot="5397628">
              <a:off x="2101520" y="2563650"/>
              <a:ext cx="434700" cy="357000"/>
            </a:xfrm>
            <a:prstGeom prst="arc">
              <a:avLst>
                <a:gd fmla="val 16200000" name="adj1"/>
                <a:gd fmla="val 554455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2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543" name="Google Shape;1543;p12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</a:t>
            </a:r>
            <a:r>
              <a:rPr lang="en-GB"/>
              <a:t>ing arithmetic sequences</a:t>
            </a:r>
            <a:endParaRPr/>
          </a:p>
        </p:txBody>
      </p:sp>
      <p:sp>
        <p:nvSpPr>
          <p:cNvPr id="1544" name="Google Shape;1544;p129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Representations of</a:t>
            </a:r>
            <a:r>
              <a:rPr lang="en-GB"/>
              <a:t> arithmetic sequences</a:t>
            </a:r>
            <a:endParaRPr/>
          </a:p>
        </p:txBody>
      </p:sp>
      <p:sp>
        <p:nvSpPr>
          <p:cNvPr id="1545" name="Google Shape;1545;p1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pic>
        <p:nvPicPr>
          <p:cNvPr id="1546" name="Google Shape;1546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174528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3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is looking at some number sequences.</a:t>
            </a:r>
            <a:endParaRPr/>
          </a:p>
        </p:txBody>
      </p:sp>
      <p:sp>
        <p:nvSpPr>
          <p:cNvPr id="1552" name="Google Shape;1552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553" name="Google Shape;1553;p130"/>
          <p:cNvSpPr txBox="1"/>
          <p:nvPr>
            <p:ph idx="1" type="body"/>
          </p:nvPr>
        </p:nvSpPr>
        <p:spPr>
          <a:xfrm>
            <a:off x="324000" y="1292700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6, 11, 16, 21, 26,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130"/>
          <p:cNvSpPr txBox="1"/>
          <p:nvPr>
            <p:ph idx="1" type="body"/>
          </p:nvPr>
        </p:nvSpPr>
        <p:spPr>
          <a:xfrm>
            <a:off x="324000" y="239984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19, 23, 27, 31, 35,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130"/>
          <p:cNvSpPr txBox="1"/>
          <p:nvPr>
            <p:ph idx="1" type="body"/>
          </p:nvPr>
        </p:nvSpPr>
        <p:spPr>
          <a:xfrm>
            <a:off x="324000" y="34868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51, 58, 65, 72, 79,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6" name="Google Shape;155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175" y="2952749"/>
            <a:ext cx="1146846" cy="127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13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82110" y="1598621"/>
            <a:ext cx="3253376" cy="1593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30"/>
          <p:cNvSpPr txBox="1"/>
          <p:nvPr/>
        </p:nvSpPr>
        <p:spPr>
          <a:xfrm flipH="1">
            <a:off x="4571134" y="1786192"/>
            <a:ext cx="2664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Whilst these are all different sequences I can see something they all have in common.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9" name="Google Shape;1559;p130"/>
          <p:cNvGrpSpPr/>
          <p:nvPr/>
        </p:nvGrpSpPr>
        <p:grpSpPr>
          <a:xfrm>
            <a:off x="292275" y="1600423"/>
            <a:ext cx="1914404" cy="433518"/>
            <a:chOff x="292275" y="1600423"/>
            <a:chExt cx="1914404" cy="433518"/>
          </a:xfrm>
        </p:grpSpPr>
        <p:pic>
          <p:nvPicPr>
            <p:cNvPr id="1560" name="Google Shape;1560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1" name="Google Shape;1561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2" name="Google Shape;1562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3" name="Google Shape;1563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4" name="Google Shape;1564;p13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5" name="Google Shape;1565;p13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6" name="Google Shape;1566;p13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7" name="Google Shape;1567;p13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68" name="Google Shape;1568;p130"/>
          <p:cNvGrpSpPr/>
          <p:nvPr/>
        </p:nvGrpSpPr>
        <p:grpSpPr>
          <a:xfrm>
            <a:off x="444675" y="2697479"/>
            <a:ext cx="1914404" cy="433518"/>
            <a:chOff x="292275" y="1600423"/>
            <a:chExt cx="1914404" cy="433518"/>
          </a:xfrm>
        </p:grpSpPr>
        <p:pic>
          <p:nvPicPr>
            <p:cNvPr id="1569" name="Google Shape;1569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0" name="Google Shape;1570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1" name="Google Shape;1571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2" name="Google Shape;1572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3" name="Google Shape;1573;p13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4" name="Google Shape;1574;p13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5" name="Google Shape;1575;p13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13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77" name="Google Shape;1577;p130"/>
          <p:cNvGrpSpPr/>
          <p:nvPr/>
        </p:nvGrpSpPr>
        <p:grpSpPr>
          <a:xfrm>
            <a:off x="444675" y="3810223"/>
            <a:ext cx="1914404" cy="433518"/>
            <a:chOff x="292275" y="1600423"/>
            <a:chExt cx="1914404" cy="433518"/>
          </a:xfrm>
        </p:grpSpPr>
        <p:pic>
          <p:nvPicPr>
            <p:cNvPr id="1578" name="Google Shape;1578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9" name="Google Shape;1579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0" name="Google Shape;1580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1" name="Google Shape;1581;p130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2" name="Google Shape;1582;p13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3" name="Google Shape;1583;p13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4" name="Google Shape;1584;p13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5" name="Google Shape;1585;p13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586" name="Google Shape;1586;p13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3174400" y="3584325"/>
            <a:ext cx="4330573" cy="12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0"/>
          <p:cNvSpPr txBox="1"/>
          <p:nvPr/>
        </p:nvSpPr>
        <p:spPr>
          <a:xfrm flipH="1">
            <a:off x="3355762" y="3827909"/>
            <a:ext cx="3546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sequences increase in equal steps each 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3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is looking at some number sequences.</a:t>
            </a:r>
            <a:endParaRPr/>
          </a:p>
        </p:txBody>
      </p:sp>
      <p:sp>
        <p:nvSpPr>
          <p:cNvPr id="1593" name="Google Shape;1593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594" name="Google Shape;1594;p131"/>
          <p:cNvSpPr txBox="1"/>
          <p:nvPr/>
        </p:nvSpPr>
        <p:spPr>
          <a:xfrm flipH="1">
            <a:off x="3376025" y="2151500"/>
            <a:ext cx="53901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equences with a common difference are called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arithmetic sequences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You may also hear them called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linear sequences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31"/>
          <p:cNvSpPr txBox="1"/>
          <p:nvPr>
            <p:ph idx="1" type="body"/>
          </p:nvPr>
        </p:nvSpPr>
        <p:spPr>
          <a:xfrm>
            <a:off x="324000" y="1292700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6, 11, 16, 21, 26,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6" name="Google Shape;1596;p131"/>
          <p:cNvSpPr txBox="1"/>
          <p:nvPr>
            <p:ph idx="1" type="body"/>
          </p:nvPr>
        </p:nvSpPr>
        <p:spPr>
          <a:xfrm>
            <a:off x="324000" y="239984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19, 23, 27, 31, 35,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7" name="Google Shape;1597;p131"/>
          <p:cNvSpPr txBox="1"/>
          <p:nvPr>
            <p:ph idx="1" type="body"/>
          </p:nvPr>
        </p:nvSpPr>
        <p:spPr>
          <a:xfrm>
            <a:off x="324000" y="34868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51, 58, 65, 72, 79,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98" name="Google Shape;1598;p131"/>
          <p:cNvGrpSpPr/>
          <p:nvPr/>
        </p:nvGrpSpPr>
        <p:grpSpPr>
          <a:xfrm>
            <a:off x="292275" y="1600423"/>
            <a:ext cx="1914404" cy="433518"/>
            <a:chOff x="292275" y="1600423"/>
            <a:chExt cx="1914404" cy="433518"/>
          </a:xfrm>
        </p:grpSpPr>
        <p:pic>
          <p:nvPicPr>
            <p:cNvPr id="1599" name="Google Shape;1599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0" name="Google Shape;1600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1" name="Google Shape;1601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2" name="Google Shape;1602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3" name="Google Shape;1603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4" name="Google Shape;1604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5" name="Google Shape;1605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6" name="Google Shape;1606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07" name="Google Shape;1607;p131"/>
          <p:cNvGrpSpPr/>
          <p:nvPr/>
        </p:nvGrpSpPr>
        <p:grpSpPr>
          <a:xfrm>
            <a:off x="444675" y="2697479"/>
            <a:ext cx="1914404" cy="433518"/>
            <a:chOff x="292275" y="1600423"/>
            <a:chExt cx="1914404" cy="433518"/>
          </a:xfrm>
        </p:grpSpPr>
        <p:pic>
          <p:nvPicPr>
            <p:cNvPr id="1608" name="Google Shape;1608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9" name="Google Shape;1609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0" name="Google Shape;1610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1" name="Google Shape;1611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2" name="Google Shape;1612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3" name="Google Shape;1613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4" name="Google Shape;1614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5" name="Google Shape;1615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6" name="Google Shape;1616;p131"/>
          <p:cNvGrpSpPr/>
          <p:nvPr/>
        </p:nvGrpSpPr>
        <p:grpSpPr>
          <a:xfrm>
            <a:off x="444675" y="3810223"/>
            <a:ext cx="1914404" cy="433518"/>
            <a:chOff x="292275" y="1600423"/>
            <a:chExt cx="1914404" cy="433518"/>
          </a:xfrm>
        </p:grpSpPr>
        <p:pic>
          <p:nvPicPr>
            <p:cNvPr id="1617" name="Google Shape;1617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8" name="Google Shape;1618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9" name="Google Shape;1619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3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1" name="Google Shape;1621;p131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2" name="Google Shape;1622;p131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3" name="Google Shape;1623;p131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4" name="Google Shape;1624;p131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3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is testing Lucas on arithmetic sequences.</a:t>
            </a:r>
            <a:endParaRPr/>
          </a:p>
        </p:txBody>
      </p:sp>
      <p:sp>
        <p:nvSpPr>
          <p:cNvPr id="1630" name="Google Shape;1630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631" name="Google Shape;1631;p132"/>
          <p:cNvSpPr txBox="1"/>
          <p:nvPr>
            <p:ph idx="1" type="body"/>
          </p:nvPr>
        </p:nvSpPr>
        <p:spPr>
          <a:xfrm>
            <a:off x="324000" y="1322956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8, 15, 22, 29,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132"/>
          <p:cNvSpPr txBox="1"/>
          <p:nvPr>
            <p:ph idx="1" type="body"/>
          </p:nvPr>
        </p:nvSpPr>
        <p:spPr>
          <a:xfrm>
            <a:off x="324000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9, 24, 19, 14, 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3" name="Google Shape;1633;p132"/>
          <p:cNvSpPr txBox="1"/>
          <p:nvPr>
            <p:ph idx="1" type="body"/>
          </p:nvPr>
        </p:nvSpPr>
        <p:spPr>
          <a:xfrm>
            <a:off x="4571024" y="1322950"/>
            <a:ext cx="353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64, 84, 104, 124, 144,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4" name="Google Shape;1634;p132"/>
          <p:cNvSpPr txBox="1"/>
          <p:nvPr>
            <p:ph idx="1" type="body"/>
          </p:nvPr>
        </p:nvSpPr>
        <p:spPr>
          <a:xfrm>
            <a:off x="4571029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16, 21, 31, 36, 46,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5" name="Google Shape;1635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47775" y="3780000"/>
            <a:ext cx="932461" cy="103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32"/>
          <p:cNvSpPr txBox="1"/>
          <p:nvPr/>
        </p:nvSpPr>
        <p:spPr>
          <a:xfrm flipH="1">
            <a:off x="2868856" y="4257075"/>
            <a:ext cx="3539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Lucas?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7" name="Google Shape;163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07675" y="3575972"/>
            <a:ext cx="834925" cy="93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" name="Google Shape;1638;p13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61528" y="3020647"/>
            <a:ext cx="3253376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132"/>
          <p:cNvSpPr txBox="1"/>
          <p:nvPr/>
        </p:nvSpPr>
        <p:spPr>
          <a:xfrm flipH="1">
            <a:off x="1523134" y="3061422"/>
            <a:ext cx="2664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One of these sequences is not arithmetic. Which one do you think it is?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0" name="Google Shape;1640;p13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130954" y="2944886"/>
            <a:ext cx="2875423" cy="84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32"/>
          <p:cNvSpPr txBox="1"/>
          <p:nvPr/>
        </p:nvSpPr>
        <p:spPr>
          <a:xfrm flipH="1">
            <a:off x="5239600" y="2985225"/>
            <a:ext cx="25413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it’s c) because that one is decreasing.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3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is testing Lucas on arithmetic sequences.</a:t>
            </a:r>
            <a:endParaRPr/>
          </a:p>
        </p:txBody>
      </p:sp>
      <p:sp>
        <p:nvSpPr>
          <p:cNvPr id="1647" name="Google Shape;1647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648" name="Google Shape;1648;p133"/>
          <p:cNvSpPr txBox="1"/>
          <p:nvPr>
            <p:ph idx="1" type="body"/>
          </p:nvPr>
        </p:nvSpPr>
        <p:spPr>
          <a:xfrm>
            <a:off x="324000" y="1322956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1, 8, 15, 22, 29,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p133"/>
          <p:cNvSpPr txBox="1"/>
          <p:nvPr>
            <p:ph idx="1" type="body"/>
          </p:nvPr>
        </p:nvSpPr>
        <p:spPr>
          <a:xfrm>
            <a:off x="324000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29, 24, 19, 14, 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0" name="Google Shape;1650;p133"/>
          <p:cNvSpPr txBox="1"/>
          <p:nvPr>
            <p:ph idx="1" type="body"/>
          </p:nvPr>
        </p:nvSpPr>
        <p:spPr>
          <a:xfrm>
            <a:off x="4571024" y="1322950"/>
            <a:ext cx="353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64, 84, 104, 124, 144,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1" name="Google Shape;1651;p133"/>
          <p:cNvSpPr txBox="1"/>
          <p:nvPr>
            <p:ph idx="1" type="body"/>
          </p:nvPr>
        </p:nvSpPr>
        <p:spPr>
          <a:xfrm>
            <a:off x="4571029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16, 21, 31, 36, 46,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2" name="Google Shape;1652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47775" y="3780000"/>
            <a:ext cx="932461" cy="103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13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257894" y="3173050"/>
            <a:ext cx="2434227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33"/>
          <p:cNvSpPr txBox="1"/>
          <p:nvPr/>
        </p:nvSpPr>
        <p:spPr>
          <a:xfrm flipH="1">
            <a:off x="1523050" y="3213825"/>
            <a:ext cx="20727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look at the term-to-term differences Lucas.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5" name="Google Shape;1655;p133"/>
          <p:cNvGrpSpPr/>
          <p:nvPr/>
        </p:nvGrpSpPr>
        <p:grpSpPr>
          <a:xfrm>
            <a:off x="643007" y="1600374"/>
            <a:ext cx="1708797" cy="433518"/>
            <a:chOff x="292275" y="1600423"/>
            <a:chExt cx="1914404" cy="433518"/>
          </a:xfrm>
        </p:grpSpPr>
        <p:pic>
          <p:nvPicPr>
            <p:cNvPr id="1656" name="Google Shape;1656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7" name="Google Shape;1657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8" name="Google Shape;1658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9" name="Google Shape;1659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1" name="Google Shape;1661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2" name="Google Shape;1662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3" name="Google Shape;1663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4" name="Google Shape;1664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907675" y="3575972"/>
            <a:ext cx="834925" cy="937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133"/>
          <p:cNvGrpSpPr/>
          <p:nvPr/>
        </p:nvGrpSpPr>
        <p:grpSpPr>
          <a:xfrm>
            <a:off x="709089" y="2590924"/>
            <a:ext cx="1905024" cy="433518"/>
            <a:chOff x="292275" y="1600423"/>
            <a:chExt cx="1914404" cy="433518"/>
          </a:xfrm>
        </p:grpSpPr>
        <p:pic>
          <p:nvPicPr>
            <p:cNvPr id="1666" name="Google Shape;1666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7" name="Google Shape;1667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8" name="Google Shape;1668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9" name="Google Shape;1669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0" name="Google Shape;1670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1" name="Google Shape;1671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2" name="Google Shape;1672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3" name="Google Shape;1673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74" name="Google Shape;1674;p133"/>
          <p:cNvGrpSpPr/>
          <p:nvPr/>
        </p:nvGrpSpPr>
        <p:grpSpPr>
          <a:xfrm>
            <a:off x="4986405" y="1600324"/>
            <a:ext cx="2472836" cy="433518"/>
            <a:chOff x="292275" y="1600423"/>
            <a:chExt cx="1914404" cy="433518"/>
          </a:xfrm>
        </p:grpSpPr>
        <p:pic>
          <p:nvPicPr>
            <p:cNvPr id="1675" name="Google Shape;1675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6" name="Google Shape;1676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7" name="Google Shape;1677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8" name="Google Shape;1678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0" name="Google Shape;1680;p133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1" name="Google Shape;1681;p133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2" name="Google Shape;1682;p133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83" name="Google Shape;1683;p133"/>
          <p:cNvGrpSpPr/>
          <p:nvPr/>
        </p:nvGrpSpPr>
        <p:grpSpPr>
          <a:xfrm>
            <a:off x="4956154" y="2544949"/>
            <a:ext cx="2072725" cy="433526"/>
            <a:chOff x="292275" y="1600423"/>
            <a:chExt cx="1914404" cy="433526"/>
          </a:xfrm>
        </p:grpSpPr>
        <p:pic>
          <p:nvPicPr>
            <p:cNvPr id="1684" name="Google Shape;1684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5" name="Google Shape;1685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6" name="Google Shape;1686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7" name="Google Shape;1687;p133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8" name="Google Shape;1688;p133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9" name="Google Shape;1689;p133"/>
            <p:cNvSpPr txBox="1"/>
            <p:nvPr/>
          </p:nvSpPr>
          <p:spPr>
            <a:xfrm>
              <a:off x="806382" y="1796950"/>
              <a:ext cx="4572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0" name="Google Shape;1690;p133"/>
            <p:cNvSpPr txBox="1"/>
            <p:nvPr/>
          </p:nvSpPr>
          <p:spPr>
            <a:xfrm>
              <a:off x="134742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1" name="Google Shape;1691;p133"/>
            <p:cNvSpPr txBox="1"/>
            <p:nvPr/>
          </p:nvSpPr>
          <p:spPr>
            <a:xfrm>
              <a:off x="1748731" y="1796950"/>
              <a:ext cx="4572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92" name="Google Shape;1692;p13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95894" y="3143219"/>
            <a:ext cx="2875423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33"/>
          <p:cNvSpPr txBox="1"/>
          <p:nvPr/>
        </p:nvSpPr>
        <p:spPr>
          <a:xfrm flipH="1">
            <a:off x="4934800" y="3213825"/>
            <a:ext cx="2541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I’ve changed my mind. Is it d) that is not arithmetic?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4" name="Google Shape;1694;p13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2096092" y="4421400"/>
            <a:ext cx="2942976" cy="40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33"/>
          <p:cNvSpPr txBox="1"/>
          <p:nvPr/>
        </p:nvSpPr>
        <p:spPr>
          <a:xfrm flipH="1">
            <a:off x="2361300" y="4510337"/>
            <a:ext cx="26511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Lucas! That’s right!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3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is testing Lucas on arithmetic sequences.</a:t>
            </a:r>
            <a:endParaRPr/>
          </a:p>
        </p:txBody>
      </p:sp>
      <p:sp>
        <p:nvSpPr>
          <p:cNvPr id="1701" name="Google Shape;1701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702" name="Google Shape;1702;p134"/>
          <p:cNvSpPr txBox="1"/>
          <p:nvPr>
            <p:ph idx="1" type="body"/>
          </p:nvPr>
        </p:nvSpPr>
        <p:spPr>
          <a:xfrm>
            <a:off x="324000" y="1322956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1, 8, 15, 22, 29,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3" name="Google Shape;1703;p134"/>
          <p:cNvSpPr txBox="1"/>
          <p:nvPr>
            <p:ph idx="1" type="body"/>
          </p:nvPr>
        </p:nvSpPr>
        <p:spPr>
          <a:xfrm>
            <a:off x="324000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29, 24, 19, 14, 9,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4" name="Google Shape;1704;p134"/>
          <p:cNvSpPr txBox="1"/>
          <p:nvPr>
            <p:ph idx="1" type="body"/>
          </p:nvPr>
        </p:nvSpPr>
        <p:spPr>
          <a:xfrm>
            <a:off x="4571024" y="1322950"/>
            <a:ext cx="353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64, 84, 104, 124, 144,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5" name="Google Shape;1705;p134"/>
          <p:cNvSpPr txBox="1"/>
          <p:nvPr>
            <p:ph idx="1" type="body"/>
          </p:nvPr>
        </p:nvSpPr>
        <p:spPr>
          <a:xfrm>
            <a:off x="4571029" y="226761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16, 21, 31, 36, 46,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06" name="Google Shape;1706;p134"/>
          <p:cNvGrpSpPr/>
          <p:nvPr/>
        </p:nvGrpSpPr>
        <p:grpSpPr>
          <a:xfrm>
            <a:off x="643007" y="1600374"/>
            <a:ext cx="1708797" cy="433518"/>
            <a:chOff x="292275" y="1600423"/>
            <a:chExt cx="1914404" cy="433518"/>
          </a:xfrm>
        </p:grpSpPr>
        <p:pic>
          <p:nvPicPr>
            <p:cNvPr id="1707" name="Google Shape;170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8" name="Google Shape;170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9" name="Google Shape;170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0" name="Google Shape;1710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1" name="Google Shape;1711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2" name="Google Shape;1712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3" name="Google Shape;1713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4" name="Google Shape;1714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15" name="Google Shape;1715;p134"/>
          <p:cNvGrpSpPr/>
          <p:nvPr/>
        </p:nvGrpSpPr>
        <p:grpSpPr>
          <a:xfrm>
            <a:off x="709089" y="2590924"/>
            <a:ext cx="1905024" cy="433518"/>
            <a:chOff x="292275" y="1600423"/>
            <a:chExt cx="1914404" cy="433518"/>
          </a:xfrm>
        </p:grpSpPr>
        <p:pic>
          <p:nvPicPr>
            <p:cNvPr id="1716" name="Google Shape;1716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7" name="Google Shape;171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8" name="Google Shape;171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9" name="Google Shape;1719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0" name="Google Shape;1720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1" name="Google Shape;1721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2" name="Google Shape;1722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3" name="Google Shape;1723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24" name="Google Shape;1724;p134"/>
          <p:cNvGrpSpPr/>
          <p:nvPr/>
        </p:nvGrpSpPr>
        <p:grpSpPr>
          <a:xfrm>
            <a:off x="4986405" y="1600324"/>
            <a:ext cx="2472836" cy="433518"/>
            <a:chOff x="292275" y="1600423"/>
            <a:chExt cx="1914404" cy="433518"/>
          </a:xfrm>
        </p:grpSpPr>
        <p:pic>
          <p:nvPicPr>
            <p:cNvPr id="1725" name="Google Shape;1725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6" name="Google Shape;1726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7" name="Google Shape;172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8" name="Google Shape;1728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9" name="Google Shape;1729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0" name="Google Shape;1730;p134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1" name="Google Shape;1731;p134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2" name="Google Shape;1732;p134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33" name="Google Shape;1733;p134"/>
          <p:cNvGrpSpPr/>
          <p:nvPr/>
        </p:nvGrpSpPr>
        <p:grpSpPr>
          <a:xfrm>
            <a:off x="4956154" y="2544949"/>
            <a:ext cx="2072725" cy="433526"/>
            <a:chOff x="292275" y="1600423"/>
            <a:chExt cx="1914404" cy="433526"/>
          </a:xfrm>
        </p:grpSpPr>
        <p:pic>
          <p:nvPicPr>
            <p:cNvPr id="1734" name="Google Shape;1734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5" name="Google Shape;1735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6" name="Google Shape;1736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7" name="Google Shape;1737;p134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8" name="Google Shape;1738;p134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9" name="Google Shape;1739;p134"/>
            <p:cNvSpPr txBox="1"/>
            <p:nvPr/>
          </p:nvSpPr>
          <p:spPr>
            <a:xfrm>
              <a:off x="806382" y="1796950"/>
              <a:ext cx="4572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0" name="Google Shape;1740;p134"/>
            <p:cNvSpPr txBox="1"/>
            <p:nvPr/>
          </p:nvSpPr>
          <p:spPr>
            <a:xfrm>
              <a:off x="134742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1" name="Google Shape;1741;p134"/>
            <p:cNvSpPr txBox="1"/>
            <p:nvPr/>
          </p:nvSpPr>
          <p:spPr>
            <a:xfrm>
              <a:off x="1748731" y="1796950"/>
              <a:ext cx="4572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42" name="Google Shape;1742;p134"/>
          <p:cNvSpPr txBox="1"/>
          <p:nvPr>
            <p:ph idx="1" type="body"/>
          </p:nvPr>
        </p:nvSpPr>
        <p:spPr>
          <a:xfrm>
            <a:off x="1369124" y="3345624"/>
            <a:ext cx="6564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Sequences</a:t>
            </a:r>
            <a:r>
              <a:rPr lang="en-GB" sz="2000"/>
              <a:t> a), b) and c) are arithmetic; they all have a common difference. It doesn’t matter that c) has a negative common difference.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is not arithmetic. The differences are not constant.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35"/>
          <p:cNvSpPr txBox="1"/>
          <p:nvPr>
            <p:ph type="title"/>
          </p:nvPr>
        </p:nvSpPr>
        <p:spPr>
          <a:xfrm>
            <a:off x="324000" y="748775"/>
            <a:ext cx="593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are</a:t>
            </a:r>
            <a:r>
              <a:rPr lang="en-GB"/>
              <a:t> arithmetic sequences?</a:t>
            </a:r>
            <a:endParaRPr/>
          </a:p>
        </p:txBody>
      </p:sp>
      <p:sp>
        <p:nvSpPr>
          <p:cNvPr id="1748" name="Google Shape;1748;p1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749" name="Google Shape;1749;p135"/>
          <p:cNvSpPr txBox="1"/>
          <p:nvPr>
            <p:ph idx="1" type="subTitle"/>
          </p:nvPr>
        </p:nvSpPr>
        <p:spPr>
          <a:xfrm>
            <a:off x="1034425" y="1837775"/>
            <a:ext cx="285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73, 61, 49, 37, 25,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0" name="Google Shape;1750;p135"/>
          <p:cNvSpPr txBox="1"/>
          <p:nvPr>
            <p:ph idx="3" type="subTitle"/>
          </p:nvPr>
        </p:nvSpPr>
        <p:spPr>
          <a:xfrm>
            <a:off x="1034425" y="2794250"/>
            <a:ext cx="2858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−9, −5, −1, 3, …</a:t>
            </a:r>
            <a:endParaRPr/>
          </a:p>
        </p:txBody>
      </p:sp>
      <p:sp>
        <p:nvSpPr>
          <p:cNvPr id="1751" name="Google Shape;1751;p135"/>
          <p:cNvSpPr txBox="1"/>
          <p:nvPr>
            <p:ph idx="4" type="subTitle"/>
          </p:nvPr>
        </p:nvSpPr>
        <p:spPr>
          <a:xfrm>
            <a:off x="1034425" y="3766975"/>
            <a:ext cx="291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−15, −9, −4, 0, 3, …</a:t>
            </a:r>
            <a:endParaRPr/>
          </a:p>
        </p:txBody>
      </p:sp>
      <p:pic>
        <p:nvPicPr>
          <p:cNvPr id="1752" name="Google Shape;1752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023" y="185306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244" y="378074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544" y="2809147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5" name="Google Shape;1755;p135"/>
          <p:cNvGrpSpPr/>
          <p:nvPr/>
        </p:nvGrpSpPr>
        <p:grpSpPr>
          <a:xfrm>
            <a:off x="1136116" y="2175403"/>
            <a:ext cx="1905024" cy="433522"/>
            <a:chOff x="292275" y="1600423"/>
            <a:chExt cx="1914404" cy="433522"/>
          </a:xfrm>
        </p:grpSpPr>
        <p:pic>
          <p:nvPicPr>
            <p:cNvPr id="1756" name="Google Shape;1756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7" name="Google Shape;1757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8" name="Google Shape;1758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9" name="Google Shape;1759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0" name="Google Shape;1760;p135"/>
            <p:cNvSpPr txBox="1"/>
            <p:nvPr/>
          </p:nvSpPr>
          <p:spPr>
            <a:xfrm>
              <a:off x="310051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1" name="Google Shape;1761;p135"/>
            <p:cNvSpPr txBox="1"/>
            <p:nvPr/>
          </p:nvSpPr>
          <p:spPr>
            <a:xfrm>
              <a:off x="796783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2" name="Google Shape;1762;p135"/>
            <p:cNvSpPr txBox="1"/>
            <p:nvPr/>
          </p:nvSpPr>
          <p:spPr>
            <a:xfrm>
              <a:off x="1283516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3" name="Google Shape;1763;p135"/>
            <p:cNvSpPr txBox="1"/>
            <p:nvPr/>
          </p:nvSpPr>
          <p:spPr>
            <a:xfrm>
              <a:off x="1770248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−12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64" name="Google Shape;1764;p135"/>
          <p:cNvSpPr txBox="1"/>
          <p:nvPr>
            <p:ph idx="1" type="subTitle"/>
          </p:nvPr>
        </p:nvSpPr>
        <p:spPr>
          <a:xfrm>
            <a:off x="4592804" y="1761580"/>
            <a:ext cx="3022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sequence with common difference −12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65" name="Google Shape;1765;p135"/>
          <p:cNvGrpSpPr/>
          <p:nvPr/>
        </p:nvGrpSpPr>
        <p:grpSpPr>
          <a:xfrm>
            <a:off x="1311530" y="3089803"/>
            <a:ext cx="1905024" cy="433522"/>
            <a:chOff x="292275" y="1600423"/>
            <a:chExt cx="1914404" cy="433522"/>
          </a:xfrm>
        </p:grpSpPr>
        <p:pic>
          <p:nvPicPr>
            <p:cNvPr id="1766" name="Google Shape;1766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7" name="Google Shape;1767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8" name="Google Shape;1768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35"/>
            <p:cNvSpPr txBox="1"/>
            <p:nvPr/>
          </p:nvSpPr>
          <p:spPr>
            <a:xfrm>
              <a:off x="333177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1" name="Google Shape;1771;p135"/>
            <p:cNvSpPr txBox="1"/>
            <p:nvPr/>
          </p:nvSpPr>
          <p:spPr>
            <a:xfrm>
              <a:off x="819910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2" name="Google Shape;1772;p135"/>
            <p:cNvSpPr txBox="1"/>
            <p:nvPr/>
          </p:nvSpPr>
          <p:spPr>
            <a:xfrm>
              <a:off x="1283516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3" name="Google Shape;1773;p135"/>
            <p:cNvSpPr txBox="1"/>
            <p:nvPr/>
          </p:nvSpPr>
          <p:spPr>
            <a:xfrm>
              <a:off x="1770248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74" name="Google Shape;1774;p135"/>
          <p:cNvGrpSpPr/>
          <p:nvPr/>
        </p:nvGrpSpPr>
        <p:grpSpPr>
          <a:xfrm>
            <a:off x="1288505" y="4080388"/>
            <a:ext cx="1809878" cy="433522"/>
            <a:chOff x="292275" y="1600423"/>
            <a:chExt cx="1914404" cy="433522"/>
          </a:xfrm>
        </p:grpSpPr>
        <p:pic>
          <p:nvPicPr>
            <p:cNvPr id="1775" name="Google Shape;1775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6" name="Google Shape;1776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7" name="Google Shape;1777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8" name="Google Shape;1778;p135"/>
            <p:cNvPicPr preferRelativeResize="0"/>
            <p:nvPr/>
          </p:nvPicPr>
          <p:blipFill rotWithShape="1">
            <a:blip r:embed="rId5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9" name="Google Shape;1779;p135"/>
            <p:cNvSpPr txBox="1"/>
            <p:nvPr/>
          </p:nvSpPr>
          <p:spPr>
            <a:xfrm>
              <a:off x="333177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+6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0" name="Google Shape;1780;p135"/>
            <p:cNvSpPr txBox="1"/>
            <p:nvPr/>
          </p:nvSpPr>
          <p:spPr>
            <a:xfrm>
              <a:off x="819910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1" name="Google Shape;1781;p135"/>
            <p:cNvSpPr txBox="1"/>
            <p:nvPr/>
          </p:nvSpPr>
          <p:spPr>
            <a:xfrm>
              <a:off x="1283516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2" name="Google Shape;1782;p135"/>
            <p:cNvSpPr txBox="1"/>
            <p:nvPr/>
          </p:nvSpPr>
          <p:spPr>
            <a:xfrm>
              <a:off x="1770248" y="1796945"/>
              <a:ext cx="4017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83" name="Google Shape;1783;p135"/>
          <p:cNvSpPr txBox="1"/>
          <p:nvPr>
            <p:ph idx="1" type="subTitle"/>
          </p:nvPr>
        </p:nvSpPr>
        <p:spPr>
          <a:xfrm>
            <a:off x="4592804" y="2740673"/>
            <a:ext cx="3022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sequence with common difference +4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4" name="Google Shape;1784;p135"/>
          <p:cNvSpPr txBox="1"/>
          <p:nvPr>
            <p:ph idx="1" type="subTitle"/>
          </p:nvPr>
        </p:nvSpPr>
        <p:spPr>
          <a:xfrm>
            <a:off x="4592800" y="3731275"/>
            <a:ext cx="2717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rithmetic.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common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36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Label these sequences as ‘arithmetic’ or ‘not arithmetic’.</a:t>
            </a:r>
            <a:endParaRPr sz="1900"/>
          </a:p>
        </p:txBody>
      </p:sp>
      <p:sp>
        <p:nvSpPr>
          <p:cNvPr id="1790" name="Google Shape;1790;p13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791" name="Google Shape;1791;p136"/>
          <p:cNvSpPr txBox="1"/>
          <p:nvPr>
            <p:ph idx="4294967295" type="body"/>
          </p:nvPr>
        </p:nvSpPr>
        <p:spPr>
          <a:xfrm>
            <a:off x="324000" y="108427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9, 13, 17, 21, 25,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136"/>
          <p:cNvSpPr txBox="1"/>
          <p:nvPr>
            <p:ph idx="4294967295" type="body"/>
          </p:nvPr>
        </p:nvSpPr>
        <p:spPr>
          <a:xfrm>
            <a:off x="4571029" y="108427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37, 31, 25, 19, 13,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3" name="Google Shape;1793;p136"/>
          <p:cNvSpPr txBox="1"/>
          <p:nvPr>
            <p:ph idx="4294967295" type="body"/>
          </p:nvPr>
        </p:nvSpPr>
        <p:spPr>
          <a:xfrm>
            <a:off x="324000" y="1948238"/>
            <a:ext cx="390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−70, −68, −66, −64, −62,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4" name="Google Shape;1794;p136"/>
          <p:cNvSpPr txBox="1"/>
          <p:nvPr>
            <p:ph idx="4294967295" type="body"/>
          </p:nvPr>
        </p:nvSpPr>
        <p:spPr>
          <a:xfrm>
            <a:off x="4571029" y="1948244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35, 31, 26, 20, 13,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5" name="Google Shape;1795;p136"/>
          <p:cNvSpPr txBox="1"/>
          <p:nvPr>
            <p:ph idx="4294967295" type="body"/>
          </p:nvPr>
        </p:nvSpPr>
        <p:spPr>
          <a:xfrm>
            <a:off x="324000" y="2816700"/>
            <a:ext cx="3389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12.6, 13.7, 14.8, 15.9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6" name="Google Shape;1796;p136"/>
          <p:cNvSpPr txBox="1"/>
          <p:nvPr>
            <p:ph idx="4294967295" type="body"/>
          </p:nvPr>
        </p:nvSpPr>
        <p:spPr>
          <a:xfrm>
            <a:off x="4571029" y="2816700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3,  6, 12, 24, 48,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7" name="Google Shape;1797;p136"/>
          <p:cNvSpPr txBox="1"/>
          <p:nvPr>
            <p:ph idx="4294967295" type="body"/>
          </p:nvPr>
        </p:nvSpPr>
        <p:spPr>
          <a:xfrm>
            <a:off x="324000" y="3675082"/>
            <a:ext cx="38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29},\frac{18}{29},\frac{23}{29},\frac{28}{29},\ ...&quot;&gt;&lt;mfrac&gt;&lt;mn&gt;13&lt;/mn&gt;&lt;mn&gt;29&lt;/mn&gt;&lt;/mfrac&gt;&lt;mo&gt;,&lt;/mo&gt;&lt;mfrac&gt;&lt;mn&gt;18&lt;/mn&gt;&lt;mn&gt;29&lt;/mn&gt;&lt;/mfrac&gt;&lt;mo&gt;,&lt;/mo&gt;&lt;mfrac&gt;&lt;mn&gt;23&lt;/mn&gt;&lt;mn&gt;29&lt;/mn&gt;&lt;/mfrac&gt;&lt;mo&gt;,&lt;/mo&gt;&lt;mfrac&gt;&lt;mn&gt;28&lt;/mn&gt;&lt;mn&gt;29&lt;/mn&gt;&lt;/mfrac&gt;&lt;mo&gt;,&lt;/mo&gt;&lt;mtext&gt;&lt;/mtext&gt;&lt;mo&gt;.&lt;/mo&gt;&lt;mo&gt;.&lt;/mo&gt;&lt;mo&gt;.&lt;/mo&gt;&lt;/math&gt;" id="1798" name="Google Shape;1798;p136" title="13 over 29 comma 18 over 29 comma 23 over 29 comma 28 over 29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50" y="3732500"/>
            <a:ext cx="2061650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36"/>
          <p:cNvSpPr txBox="1"/>
          <p:nvPr>
            <p:ph idx="4294967295" type="body"/>
          </p:nvPr>
        </p:nvSpPr>
        <p:spPr>
          <a:xfrm>
            <a:off x="4571029" y="3675082"/>
            <a:ext cx="38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1}{3},\frac{1}{4},\frac{1}{5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text&gt;&lt;/mtext&gt;&lt;mo&gt;.&lt;/mo&gt;&lt;mo&gt;.&lt;/mo&gt;&lt;mo&gt;.&lt;/mo&gt;&lt;/math&gt;" id="1800" name="Google Shape;1800;p136" title="one half comma one third comma one fourth comma one fifth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674" y="3717300"/>
            <a:ext cx="1643125" cy="5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37"/>
          <p:cNvSpPr txBox="1"/>
          <p:nvPr>
            <p:ph idx="1" type="body"/>
          </p:nvPr>
        </p:nvSpPr>
        <p:spPr>
          <a:xfrm>
            <a:off x="324000" y="759300"/>
            <a:ext cx="7135200" cy="2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Label these sequences as ‘arithmetic’ or ‘not arithmetic’.</a:t>
            </a:r>
            <a:endParaRPr sz="1900"/>
          </a:p>
        </p:txBody>
      </p:sp>
      <p:sp>
        <p:nvSpPr>
          <p:cNvPr id="1806" name="Google Shape;1806;p13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807" name="Google Shape;1807;p137"/>
          <p:cNvSpPr txBox="1"/>
          <p:nvPr>
            <p:ph idx="4294967295" type="body"/>
          </p:nvPr>
        </p:nvSpPr>
        <p:spPr>
          <a:xfrm>
            <a:off x="324000" y="108427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9, 13, 17, 21, 25,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08" name="Google Shape;1808;p137"/>
          <p:cNvGrpSpPr/>
          <p:nvPr/>
        </p:nvGrpSpPr>
        <p:grpSpPr>
          <a:xfrm>
            <a:off x="663164" y="1361841"/>
            <a:ext cx="1930677" cy="433518"/>
            <a:chOff x="292275" y="1600423"/>
            <a:chExt cx="1914404" cy="433518"/>
          </a:xfrm>
        </p:grpSpPr>
        <p:pic>
          <p:nvPicPr>
            <p:cNvPr id="1809" name="Google Shape;180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0" name="Google Shape;181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1" name="Google Shape;181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2" name="Google Shape;1812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3" name="Google Shape;1813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4" name="Google Shape;1814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5" name="Google Shape;1815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6" name="Google Shape;1816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17" name="Google Shape;1817;p137"/>
          <p:cNvSpPr txBox="1"/>
          <p:nvPr>
            <p:ph idx="4294967295" type="body"/>
          </p:nvPr>
        </p:nvSpPr>
        <p:spPr>
          <a:xfrm>
            <a:off x="4571029" y="1084271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37, 31, 25, 19, 13,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18" name="Google Shape;1818;p137"/>
          <p:cNvGrpSpPr/>
          <p:nvPr/>
        </p:nvGrpSpPr>
        <p:grpSpPr>
          <a:xfrm>
            <a:off x="4986393" y="1361841"/>
            <a:ext cx="1930677" cy="433518"/>
            <a:chOff x="292275" y="1600423"/>
            <a:chExt cx="1914404" cy="433518"/>
          </a:xfrm>
        </p:grpSpPr>
        <p:pic>
          <p:nvPicPr>
            <p:cNvPr id="1819" name="Google Shape;181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0" name="Google Shape;182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1" name="Google Shape;182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2" name="Google Shape;1822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3" name="Google Shape;1823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4" name="Google Shape;1824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5" name="Google Shape;1825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6" name="Google Shape;1826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27" name="Google Shape;1827;p137"/>
          <p:cNvSpPr txBox="1"/>
          <p:nvPr>
            <p:ph idx="4294967295" type="body"/>
          </p:nvPr>
        </p:nvSpPr>
        <p:spPr>
          <a:xfrm>
            <a:off x="324000" y="1948238"/>
            <a:ext cx="390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−70, −68, −66, −64, −62,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28" name="Google Shape;1828;p137"/>
          <p:cNvGrpSpPr/>
          <p:nvPr/>
        </p:nvGrpSpPr>
        <p:grpSpPr>
          <a:xfrm>
            <a:off x="845848" y="2225762"/>
            <a:ext cx="2726303" cy="433518"/>
            <a:chOff x="292275" y="1600423"/>
            <a:chExt cx="1914404" cy="433518"/>
          </a:xfrm>
        </p:grpSpPr>
        <p:pic>
          <p:nvPicPr>
            <p:cNvPr id="1829" name="Google Shape;182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0" name="Google Shape;183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1" name="Google Shape;183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2" name="Google Shape;1832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3" name="Google Shape;1833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4" name="Google Shape;1834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5" name="Google Shape;1835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6" name="Google Shape;1836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37" name="Google Shape;1837;p137"/>
          <p:cNvSpPr txBox="1"/>
          <p:nvPr>
            <p:ph idx="4294967295" type="body"/>
          </p:nvPr>
        </p:nvSpPr>
        <p:spPr>
          <a:xfrm>
            <a:off x="4571029" y="1948244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35, 31, 26, 20, 13,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38" name="Google Shape;1838;p137"/>
          <p:cNvGrpSpPr/>
          <p:nvPr/>
        </p:nvGrpSpPr>
        <p:grpSpPr>
          <a:xfrm>
            <a:off x="5016649" y="2225814"/>
            <a:ext cx="1930677" cy="433518"/>
            <a:chOff x="292275" y="1600423"/>
            <a:chExt cx="1914404" cy="433518"/>
          </a:xfrm>
        </p:grpSpPr>
        <p:pic>
          <p:nvPicPr>
            <p:cNvPr id="1839" name="Google Shape;183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0" name="Google Shape;184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1" name="Google Shape;184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2" name="Google Shape;1842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3" name="Google Shape;1843;p137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4" name="Google Shape;1844;p137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5" name="Google Shape;1845;p137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6" name="Google Shape;1846;p137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−7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47" name="Google Shape;1847;p137"/>
          <p:cNvSpPr txBox="1"/>
          <p:nvPr>
            <p:ph idx="4294967295" type="body"/>
          </p:nvPr>
        </p:nvSpPr>
        <p:spPr>
          <a:xfrm>
            <a:off x="324000" y="2816700"/>
            <a:ext cx="371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12.6, 13.7, 14.8, 15.9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48" name="Google Shape;1848;p137"/>
          <p:cNvGrpSpPr/>
          <p:nvPr/>
        </p:nvGrpSpPr>
        <p:grpSpPr>
          <a:xfrm>
            <a:off x="851440" y="3094217"/>
            <a:ext cx="1990196" cy="433526"/>
            <a:chOff x="292275" y="1600423"/>
            <a:chExt cx="1460158" cy="433526"/>
          </a:xfrm>
        </p:grpSpPr>
        <p:pic>
          <p:nvPicPr>
            <p:cNvPr id="1849" name="Google Shape;184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0" name="Google Shape;185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1" name="Google Shape;185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2" name="Google Shape;1852;p137"/>
            <p:cNvSpPr txBox="1"/>
            <p:nvPr/>
          </p:nvSpPr>
          <p:spPr>
            <a:xfrm>
              <a:off x="328869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3" name="Google Shape;1853;p137"/>
            <p:cNvSpPr txBox="1"/>
            <p:nvPr/>
          </p:nvSpPr>
          <p:spPr>
            <a:xfrm>
              <a:off x="801258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4" name="Google Shape;1854;p137"/>
            <p:cNvSpPr txBox="1"/>
            <p:nvPr/>
          </p:nvSpPr>
          <p:spPr>
            <a:xfrm>
              <a:off x="1273648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55" name="Google Shape;1855;p137"/>
          <p:cNvSpPr txBox="1"/>
          <p:nvPr>
            <p:ph idx="4294967295" type="body"/>
          </p:nvPr>
        </p:nvSpPr>
        <p:spPr>
          <a:xfrm>
            <a:off x="4571029" y="2816700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3,  6, 12, 24, 48,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137"/>
          <p:cNvSpPr txBox="1"/>
          <p:nvPr>
            <p:ph idx="4294967295" type="body"/>
          </p:nvPr>
        </p:nvSpPr>
        <p:spPr>
          <a:xfrm>
            <a:off x="324000" y="3675082"/>
            <a:ext cx="38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57" name="Google Shape;1857;p137"/>
          <p:cNvGrpSpPr/>
          <p:nvPr/>
        </p:nvGrpSpPr>
        <p:grpSpPr>
          <a:xfrm>
            <a:off x="4803737" y="3120044"/>
            <a:ext cx="1965652" cy="433518"/>
            <a:chOff x="292275" y="1600423"/>
            <a:chExt cx="1949085" cy="433518"/>
          </a:xfrm>
        </p:grpSpPr>
        <p:pic>
          <p:nvPicPr>
            <p:cNvPr id="1858" name="Google Shape;1858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9" name="Google Shape;1859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0" name="Google Shape;1860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1" name="Google Shape;1861;p137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 flipH="1" rot="10800000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2" name="Google Shape;1862;p137"/>
            <p:cNvSpPr txBox="1"/>
            <p:nvPr/>
          </p:nvSpPr>
          <p:spPr>
            <a:xfrm>
              <a:off x="384389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3" name="Google Shape;1863;p137"/>
            <p:cNvSpPr txBox="1"/>
            <p:nvPr/>
          </p:nvSpPr>
          <p:spPr>
            <a:xfrm>
              <a:off x="841589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+6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4" name="Google Shape;1864;p137"/>
            <p:cNvSpPr txBox="1"/>
            <p:nvPr/>
          </p:nvSpPr>
          <p:spPr>
            <a:xfrm>
              <a:off x="1268785" y="1796941"/>
              <a:ext cx="4398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5" name="Google Shape;1865;p137"/>
            <p:cNvSpPr txBox="1"/>
            <p:nvPr/>
          </p:nvSpPr>
          <p:spPr>
            <a:xfrm>
              <a:off x="1801560" y="1796941"/>
              <a:ext cx="4398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+24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3}{29},\frac{18}{29},\frac{23}{29},\frac{28}{29},\ ...&quot;&gt;&lt;mfrac&gt;&lt;mn&gt;13&lt;/mn&gt;&lt;mn&gt;29&lt;/mn&gt;&lt;/mfrac&gt;&lt;mo&gt;,&lt;/mo&gt;&lt;mfrac&gt;&lt;mn&gt;18&lt;/mn&gt;&lt;mn&gt;29&lt;/mn&gt;&lt;/mfrac&gt;&lt;mo&gt;,&lt;/mo&gt;&lt;mfrac&gt;&lt;mn&gt;23&lt;/mn&gt;&lt;mn&gt;29&lt;/mn&gt;&lt;/mfrac&gt;&lt;mo&gt;,&lt;/mo&gt;&lt;mfrac&gt;&lt;mn&gt;28&lt;/mn&gt;&lt;mn&gt;29&lt;/mn&gt;&lt;/mfrac&gt;&lt;mo&gt;,&lt;/mo&gt;&lt;mtext&gt;&lt;/mtext&gt;&lt;mo&gt;.&lt;/mo&gt;&lt;mo&gt;.&lt;/mo&gt;&lt;mo&gt;.&lt;/mo&gt;&lt;/math&gt;" id="1866" name="Google Shape;1866;p137" title="13 over 29 comma 18 over 29 comma 23 over 29 comma 28 over 29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650" y="3732500"/>
            <a:ext cx="2061650" cy="50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7" name="Google Shape;1867;p137"/>
          <p:cNvGrpSpPr/>
          <p:nvPr/>
        </p:nvGrpSpPr>
        <p:grpSpPr>
          <a:xfrm>
            <a:off x="723675" y="4227136"/>
            <a:ext cx="1456805" cy="588889"/>
            <a:chOff x="723675" y="4227136"/>
            <a:chExt cx="1456805" cy="588889"/>
          </a:xfrm>
        </p:grpSpPr>
        <p:grpSp>
          <p:nvGrpSpPr>
            <p:cNvPr id="1868" name="Google Shape;1868;p137"/>
            <p:cNvGrpSpPr/>
            <p:nvPr/>
          </p:nvGrpSpPr>
          <p:grpSpPr>
            <a:xfrm>
              <a:off x="723680" y="4227136"/>
              <a:ext cx="1456800" cy="194188"/>
              <a:chOff x="292275" y="1600423"/>
              <a:chExt cx="1460158" cy="314627"/>
            </a:xfrm>
          </p:grpSpPr>
          <p:pic>
            <p:nvPicPr>
              <p:cNvPr id="1869" name="Google Shape;1869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292275" y="1606461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0" name="Google Shape;1870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747140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1" name="Google Shape;1871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1201385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&lt;math xmlns=&quot;http://www.w3.org/1998/Math/MathML&quot; display=&quot;block&quot; data-is-equatio=&quot;1&quot; data-latex=&quot;+\frac{5}{29}&quot;&gt;&lt;mo&gt;+&lt;/mo&gt;&lt;mfrac&gt;&lt;mn&gt;5&lt;/mn&gt;&lt;mn&gt;29&lt;/mn&gt;&lt;/mfrac&gt;&lt;/math&gt;" id="1872" name="Google Shape;1872;p137" title="positive 5 over 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3675" y="4393300"/>
              <a:ext cx="388287" cy="422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5}{29}&quot;&gt;&lt;mo&gt;+&lt;/mo&gt;&lt;mfrac&gt;&lt;mn&gt;5&lt;/mn&gt;&lt;mn&gt;29&lt;/mn&gt;&lt;/mfrac&gt;&lt;/math&gt;" id="1873" name="Google Shape;1873;p137" title="positive 5 over 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52832" y="4393300"/>
              <a:ext cx="388287" cy="422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5}{29}&quot;&gt;&lt;mo&gt;+&lt;/mo&gt;&lt;mfrac&gt;&lt;mn&gt;5&lt;/mn&gt;&lt;mn&gt;29&lt;/mn&gt;&lt;/mfrac&gt;&lt;/math&gt;" id="1874" name="Google Shape;1874;p137" title="positive 5 over 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92188" y="4393300"/>
              <a:ext cx="388287" cy="422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5" name="Google Shape;1875;p137"/>
          <p:cNvSpPr txBox="1"/>
          <p:nvPr>
            <p:ph idx="4294967295" type="body"/>
          </p:nvPr>
        </p:nvSpPr>
        <p:spPr>
          <a:xfrm>
            <a:off x="4571029" y="3675082"/>
            <a:ext cx="38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1}{3},\frac{1}{4},\frac{1}{5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text&gt;&lt;/mtext&gt;&lt;mo&gt;.&lt;/mo&gt;&lt;mo&gt;.&lt;/mo&gt;&lt;mo&gt;.&lt;/mo&gt;&lt;/math&gt;" id="1876" name="Google Shape;1876;p137" title="one half comma one third comma one fourth comma one fifth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4674" y="3717300"/>
            <a:ext cx="1643125" cy="50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37"/>
          <p:cNvGrpSpPr/>
          <p:nvPr/>
        </p:nvGrpSpPr>
        <p:grpSpPr>
          <a:xfrm>
            <a:off x="4900451" y="4227062"/>
            <a:ext cx="1334992" cy="588633"/>
            <a:chOff x="4900451" y="4227062"/>
            <a:chExt cx="1334992" cy="588633"/>
          </a:xfrm>
        </p:grpSpPr>
        <p:grpSp>
          <p:nvGrpSpPr>
            <p:cNvPr id="1878" name="Google Shape;1878;p137"/>
            <p:cNvGrpSpPr/>
            <p:nvPr/>
          </p:nvGrpSpPr>
          <p:grpSpPr>
            <a:xfrm>
              <a:off x="4910177" y="4227062"/>
              <a:ext cx="1203463" cy="194188"/>
              <a:chOff x="292275" y="1600423"/>
              <a:chExt cx="1460158" cy="314627"/>
            </a:xfrm>
          </p:grpSpPr>
          <p:pic>
            <p:nvPicPr>
              <p:cNvPr id="1879" name="Google Shape;1879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292275" y="1606461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0" name="Google Shape;1880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747140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1" name="Google Shape;1881;p137"/>
              <p:cNvPicPr preferRelativeResize="0"/>
              <p:nvPr/>
            </p:nvPicPr>
            <p:blipFill rotWithShape="1">
              <a:blip r:embed="rId3">
                <a:alphaModFix/>
              </a:blip>
              <a:srcRect b="84458" l="57225" r="18284" t="0"/>
              <a:stretch/>
            </p:blipFill>
            <p:spPr>
              <a:xfrm flipH="1" rot="10800000">
                <a:off x="1201385" y="1600423"/>
                <a:ext cx="551048" cy="3085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&lt;math xmlns=&quot;http://www.w3.org/1998/Math/MathML&quot; display=&quot;block&quot; data-is-equatio=&quot;1&quot; data-latex=&quot;-\frac{1}{20}&quot;&gt;&lt;mo&gt;−&lt;/mo&gt;&lt;mfrac&gt;&lt;mn&gt;1&lt;/mn&gt;&lt;mn&gt;20&lt;/mn&gt;&lt;/mfrac&gt;&lt;/math&gt;" id="1882" name="Google Shape;1882;p137" title="negative 1 over 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851443" y="4388678"/>
              <a:ext cx="384000" cy="4270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-\frac{1}{12}&quot;&gt;&lt;mo&gt;−&lt;/mo&gt;&lt;mfrac&gt;&lt;mn&gt;1&lt;/mn&gt;&lt;mn&gt;12&lt;/mn&gt;&lt;/mfrac&gt;&lt;/math&gt;" id="1883" name="Google Shape;1883;p137" title="negative 1 over 1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313976" y="4391750"/>
              <a:ext cx="380928" cy="420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-\frac{1}{6}&quot;&gt;&lt;mo&gt;−&lt;/mo&gt;&lt;mfrac&gt;&lt;mn&gt;1&lt;/mn&gt;&lt;mn&gt;6&lt;/mn&gt;&lt;/mfrac&gt;&lt;/math&gt;" id="1884" name="Google Shape;1884;p137" title="negative one sixt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900451" y="4394822"/>
              <a:ext cx="273408" cy="4147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5" name="Google Shape;1885;p137"/>
          <p:cNvSpPr txBox="1"/>
          <p:nvPr>
            <p:ph idx="1" type="body"/>
          </p:nvPr>
        </p:nvSpPr>
        <p:spPr>
          <a:xfrm>
            <a:off x="2726541" y="1460788"/>
            <a:ext cx="131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6" name="Google Shape;1886;p137"/>
          <p:cNvSpPr txBox="1"/>
          <p:nvPr>
            <p:ph idx="1" type="body"/>
          </p:nvPr>
        </p:nvSpPr>
        <p:spPr>
          <a:xfrm>
            <a:off x="7146141" y="1460788"/>
            <a:ext cx="131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7" name="Google Shape;1887;p137"/>
          <p:cNvSpPr txBox="1"/>
          <p:nvPr>
            <p:ph idx="1" type="body"/>
          </p:nvPr>
        </p:nvSpPr>
        <p:spPr>
          <a:xfrm>
            <a:off x="3488541" y="2375188"/>
            <a:ext cx="131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8" name="Google Shape;1888;p137"/>
          <p:cNvSpPr txBox="1"/>
          <p:nvPr>
            <p:ph idx="1" type="body"/>
          </p:nvPr>
        </p:nvSpPr>
        <p:spPr>
          <a:xfrm>
            <a:off x="7087175" y="23752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9" name="Google Shape;1889;p137"/>
          <p:cNvSpPr txBox="1"/>
          <p:nvPr>
            <p:ph idx="1" type="body"/>
          </p:nvPr>
        </p:nvSpPr>
        <p:spPr>
          <a:xfrm>
            <a:off x="2878941" y="3213388"/>
            <a:ext cx="131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0" name="Google Shape;1890;p137"/>
          <p:cNvSpPr txBox="1"/>
          <p:nvPr>
            <p:ph idx="1" type="body"/>
          </p:nvPr>
        </p:nvSpPr>
        <p:spPr>
          <a:xfrm>
            <a:off x="7010975" y="32134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1" name="Google Shape;1891;p137"/>
          <p:cNvSpPr txBox="1"/>
          <p:nvPr>
            <p:ph idx="1" type="body"/>
          </p:nvPr>
        </p:nvSpPr>
        <p:spPr>
          <a:xfrm>
            <a:off x="2574141" y="4203988"/>
            <a:ext cx="131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2" name="Google Shape;1892;p137"/>
          <p:cNvSpPr txBox="1"/>
          <p:nvPr>
            <p:ph idx="1" type="body"/>
          </p:nvPr>
        </p:nvSpPr>
        <p:spPr>
          <a:xfrm>
            <a:off x="6477575" y="4204000"/>
            <a:ext cx="193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Not arithmetic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3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898" name="Google Shape;1898;p13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arithmetic sequences</a:t>
            </a:r>
            <a:endParaRPr/>
          </a:p>
        </p:txBody>
      </p:sp>
      <p:sp>
        <p:nvSpPr>
          <p:cNvPr id="1899" name="Google Shape;1899;p13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1900" name="Google Shape;1900;p13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pic>
        <p:nvPicPr>
          <p:cNvPr id="1901" name="Google Shape;1901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27717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39"/>
          <p:cNvSpPr txBox="1"/>
          <p:nvPr>
            <p:ph idx="1" type="body"/>
          </p:nvPr>
        </p:nvSpPr>
        <p:spPr>
          <a:xfrm>
            <a:off x="324000" y="759300"/>
            <a:ext cx="8496000" cy="11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sequences can be expressed in terms of the relationship between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and the term value </a:t>
            </a:r>
            <a:r>
              <a:rPr lang="en-GB"/>
              <a:t>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</a:t>
            </a:r>
            <a:r>
              <a:rPr lang="en-GB"/>
              <a:t>.</a:t>
            </a:r>
            <a:endParaRPr sz="2400"/>
          </a:p>
        </p:txBody>
      </p:sp>
      <p:sp>
        <p:nvSpPr>
          <p:cNvPr id="1907" name="Google Shape;1907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08" name="Google Shape;1908;p139"/>
          <p:cNvGraphicFramePr/>
          <p:nvPr/>
        </p:nvGraphicFramePr>
        <p:xfrm>
          <a:off x="1439388" y="2103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5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9" name="Google Shape;1909;p139"/>
          <p:cNvSpPr txBox="1"/>
          <p:nvPr>
            <p:ph idx="1" type="body"/>
          </p:nvPr>
        </p:nvSpPr>
        <p:spPr>
          <a:xfrm>
            <a:off x="324000" y="3482329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case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3, 6, 9, 12, 15, …</a:t>
            </a:r>
            <a:r>
              <a:rPr lang="en-GB"/>
              <a:t> when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3</a:t>
            </a:r>
            <a:endParaRPr sz="2400"/>
          </a:p>
        </p:txBody>
      </p:sp>
      <p:sp>
        <p:nvSpPr>
          <p:cNvPr id="1910" name="Google Shape;1910;p139"/>
          <p:cNvSpPr txBox="1"/>
          <p:nvPr>
            <p:ph idx="1" type="body"/>
          </p:nvPr>
        </p:nvSpPr>
        <p:spPr>
          <a:xfrm>
            <a:off x="324000" y="4037015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term in the first position of the sequence has a value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40"/>
          <p:cNvSpPr txBox="1"/>
          <p:nvPr>
            <p:ph idx="1" type="body"/>
          </p:nvPr>
        </p:nvSpPr>
        <p:spPr>
          <a:xfrm>
            <a:off x="324000" y="759300"/>
            <a:ext cx="8237700" cy="12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sequences can be expressed in terms of the relationship between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and 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).</a:t>
            </a:r>
            <a:endParaRPr sz="2400"/>
          </a:p>
        </p:txBody>
      </p:sp>
      <p:sp>
        <p:nvSpPr>
          <p:cNvPr id="1916" name="Google Shape;1916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17" name="Google Shape;1917;p140"/>
          <p:cNvGraphicFramePr/>
          <p:nvPr/>
        </p:nvGraphicFramePr>
        <p:xfrm>
          <a:off x="1439388" y="2103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5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8" name="Google Shape;1918;p140"/>
          <p:cNvSpPr txBox="1"/>
          <p:nvPr>
            <p:ph idx="1" type="body"/>
          </p:nvPr>
        </p:nvSpPr>
        <p:spPr>
          <a:xfrm>
            <a:off x="324000" y="3482329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15</a:t>
            </a:r>
            <a:endParaRPr sz="2400"/>
          </a:p>
        </p:txBody>
      </p:sp>
      <p:sp>
        <p:nvSpPr>
          <p:cNvPr id="1919" name="Google Shape;1919;p140"/>
          <p:cNvSpPr txBox="1"/>
          <p:nvPr>
            <p:ph idx="1" type="body"/>
          </p:nvPr>
        </p:nvSpPr>
        <p:spPr>
          <a:xfrm>
            <a:off x="324000" y="4037015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term in the fifth position has a value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140"/>
          <p:cNvSpPr/>
          <p:nvPr/>
        </p:nvSpPr>
        <p:spPr>
          <a:xfrm>
            <a:off x="2422479" y="4048240"/>
            <a:ext cx="6354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40"/>
          <p:cNvSpPr/>
          <p:nvPr/>
        </p:nvSpPr>
        <p:spPr>
          <a:xfrm>
            <a:off x="2478502" y="3494675"/>
            <a:ext cx="4683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40"/>
          <p:cNvSpPr/>
          <p:nvPr/>
        </p:nvSpPr>
        <p:spPr>
          <a:xfrm>
            <a:off x="6253764" y="4043763"/>
            <a:ext cx="4683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141"/>
          <p:cNvSpPr txBox="1"/>
          <p:nvPr>
            <p:ph idx="1" type="body"/>
          </p:nvPr>
        </p:nvSpPr>
        <p:spPr>
          <a:xfrm>
            <a:off x="324000" y="759300"/>
            <a:ext cx="8496000" cy="11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case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3, 6, 9, 12, 15, …</a:t>
            </a:r>
            <a:r>
              <a:rPr lang="en-GB"/>
              <a:t> there is an obvious relationship between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and 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).</a:t>
            </a:r>
            <a:endParaRPr sz="2400"/>
          </a:p>
        </p:txBody>
      </p:sp>
      <p:sp>
        <p:nvSpPr>
          <p:cNvPr id="1928" name="Google Shape;1928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29" name="Google Shape;1929;p141"/>
          <p:cNvGraphicFramePr/>
          <p:nvPr/>
        </p:nvGraphicFramePr>
        <p:xfrm>
          <a:off x="1439388" y="2179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5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0" name="Google Shape;1930;p141"/>
          <p:cNvSpPr txBox="1"/>
          <p:nvPr>
            <p:ph idx="1" type="body"/>
          </p:nvPr>
        </p:nvSpPr>
        <p:spPr>
          <a:xfrm>
            <a:off x="324000" y="4030296"/>
            <a:ext cx="7135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</a:t>
            </a:r>
            <a:r>
              <a:rPr lang="en-GB"/>
              <a:t>written more simply as an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/>
          </a:p>
        </p:txBody>
      </p:sp>
      <p:sp>
        <p:nvSpPr>
          <p:cNvPr id="1931" name="Google Shape;1931;p141"/>
          <p:cNvSpPr txBox="1"/>
          <p:nvPr>
            <p:ph idx="1" type="body"/>
          </p:nvPr>
        </p:nvSpPr>
        <p:spPr>
          <a:xfrm>
            <a:off x="324000" y="3482325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 is always three times the </a:t>
            </a:r>
            <a:r>
              <a:rPr lang="en-GB"/>
              <a:t>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</a:t>
            </a:r>
            <a:endParaRPr sz="2400"/>
          </a:p>
        </p:txBody>
      </p:sp>
      <p:grpSp>
        <p:nvGrpSpPr>
          <p:cNvPr id="1932" name="Google Shape;1932;p141"/>
          <p:cNvGrpSpPr/>
          <p:nvPr/>
        </p:nvGrpSpPr>
        <p:grpSpPr>
          <a:xfrm>
            <a:off x="619475" y="2407150"/>
            <a:ext cx="1077360" cy="699300"/>
            <a:chOff x="619475" y="2407150"/>
            <a:chExt cx="1077360" cy="699300"/>
          </a:xfrm>
        </p:grpSpPr>
        <p:sp>
          <p:nvSpPr>
            <p:cNvPr id="1933" name="Google Shape;1933;p141"/>
            <p:cNvSpPr txBox="1"/>
            <p:nvPr/>
          </p:nvSpPr>
          <p:spPr>
            <a:xfrm>
              <a:off x="619475" y="2576350"/>
              <a:ext cx="3708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4" name="Google Shape;1934;p141"/>
            <p:cNvSpPr/>
            <p:nvPr/>
          </p:nvSpPr>
          <p:spPr>
            <a:xfrm flipH="1" rot="-5400000">
              <a:off x="997535" y="2407150"/>
              <a:ext cx="699300" cy="6993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42"/>
          <p:cNvSpPr txBox="1"/>
          <p:nvPr>
            <p:ph idx="1" type="body"/>
          </p:nvPr>
        </p:nvSpPr>
        <p:spPr>
          <a:xfrm>
            <a:off x="324000" y="759300"/>
            <a:ext cx="8237700" cy="12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the case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 10, 15, 20, 25, …</a:t>
            </a:r>
            <a:r>
              <a:rPr lang="en-GB"/>
              <a:t> there is an obvious relationship between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and 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).</a:t>
            </a:r>
            <a:endParaRPr sz="2400"/>
          </a:p>
        </p:txBody>
      </p:sp>
      <p:sp>
        <p:nvSpPr>
          <p:cNvPr id="1940" name="Google Shape;1940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41" name="Google Shape;1941;p142"/>
          <p:cNvGraphicFramePr/>
          <p:nvPr/>
        </p:nvGraphicFramePr>
        <p:xfrm>
          <a:off x="1439388" y="2179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5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2" name="Google Shape;1942;p142"/>
          <p:cNvSpPr txBox="1"/>
          <p:nvPr>
            <p:ph idx="1" type="body"/>
          </p:nvPr>
        </p:nvSpPr>
        <p:spPr>
          <a:xfrm>
            <a:off x="324000" y="4030296"/>
            <a:ext cx="7135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written more simply as an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/>
          </a:p>
        </p:txBody>
      </p:sp>
      <p:sp>
        <p:nvSpPr>
          <p:cNvPr id="1943" name="Google Shape;1943;p142"/>
          <p:cNvSpPr txBox="1"/>
          <p:nvPr>
            <p:ph idx="1" type="body"/>
          </p:nvPr>
        </p:nvSpPr>
        <p:spPr>
          <a:xfrm>
            <a:off x="324000" y="3482325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 is always five times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</a:t>
            </a:r>
            <a:endParaRPr sz="2400"/>
          </a:p>
        </p:txBody>
      </p:sp>
      <p:sp>
        <p:nvSpPr>
          <p:cNvPr id="1944" name="Google Shape;1944;p142"/>
          <p:cNvSpPr/>
          <p:nvPr/>
        </p:nvSpPr>
        <p:spPr>
          <a:xfrm>
            <a:off x="4175076" y="3504750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42"/>
          <p:cNvSpPr/>
          <p:nvPr/>
        </p:nvSpPr>
        <p:spPr>
          <a:xfrm>
            <a:off x="6253774" y="4058325"/>
            <a:ext cx="4851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6" name="Google Shape;1946;p142"/>
          <p:cNvGrpSpPr/>
          <p:nvPr/>
        </p:nvGrpSpPr>
        <p:grpSpPr>
          <a:xfrm>
            <a:off x="619475" y="2407150"/>
            <a:ext cx="1077360" cy="699300"/>
            <a:chOff x="619475" y="2407150"/>
            <a:chExt cx="1077360" cy="699300"/>
          </a:xfrm>
        </p:grpSpPr>
        <p:sp>
          <p:nvSpPr>
            <p:cNvPr id="1947" name="Google Shape;1947;p142"/>
            <p:cNvSpPr txBox="1"/>
            <p:nvPr/>
          </p:nvSpPr>
          <p:spPr>
            <a:xfrm>
              <a:off x="619475" y="2576350"/>
              <a:ext cx="3708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8" name="Google Shape;1948;p142"/>
            <p:cNvSpPr/>
            <p:nvPr/>
          </p:nvSpPr>
          <p:spPr>
            <a:xfrm flipH="1" rot="-5400000">
              <a:off x="997535" y="2407150"/>
              <a:ext cx="699300" cy="6993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9" name="Google Shape;1949;p142"/>
          <p:cNvSpPr/>
          <p:nvPr/>
        </p:nvSpPr>
        <p:spPr>
          <a:xfrm>
            <a:off x="462574" y="2580269"/>
            <a:ext cx="485100" cy="35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55" name="Google Shape;1955;p143"/>
          <p:cNvGraphicFramePr/>
          <p:nvPr/>
        </p:nvGraphicFramePr>
        <p:xfrm>
          <a:off x="1134588" y="18744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886550"/>
                <a:gridCol w="696775"/>
                <a:gridCol w="696775"/>
                <a:gridCol w="696775"/>
                <a:gridCol w="696775"/>
                <a:gridCol w="696775"/>
                <a:gridCol w="696775"/>
                <a:gridCol w="696775"/>
                <a:gridCol w="696775"/>
              </a:tblGrid>
              <a:tr h="5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6" name="Google Shape;1956;p143"/>
          <p:cNvSpPr txBox="1"/>
          <p:nvPr>
            <p:ph idx="1" type="body"/>
          </p:nvPr>
        </p:nvSpPr>
        <p:spPr>
          <a:xfrm>
            <a:off x="324000" y="3249250"/>
            <a:ext cx="45795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10,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5(10) = 50</a:t>
            </a:r>
            <a:endParaRPr sz="2400"/>
          </a:p>
        </p:txBody>
      </p:sp>
      <p:sp>
        <p:nvSpPr>
          <p:cNvPr id="1957" name="Google Shape;1957;p143"/>
          <p:cNvSpPr/>
          <p:nvPr/>
        </p:nvSpPr>
        <p:spPr>
          <a:xfrm>
            <a:off x="6593305" y="2580265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43"/>
          <p:cNvSpPr txBox="1"/>
          <p:nvPr>
            <p:ph idx="1" type="body"/>
          </p:nvPr>
        </p:nvSpPr>
        <p:spPr>
          <a:xfrm>
            <a:off x="324000" y="809725"/>
            <a:ext cx="7135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rgbClr val="282828"/>
                </a:solidFill>
              </a:rPr>
              <a:t> term, in this case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282828"/>
                </a:solidFill>
              </a:rPr>
              <a:t>, enables us to find any term in the sequence by substitution.</a:t>
            </a:r>
            <a:endParaRPr sz="2400"/>
          </a:p>
        </p:txBody>
      </p:sp>
      <p:grpSp>
        <p:nvGrpSpPr>
          <p:cNvPr id="1959" name="Google Shape;1959;p143"/>
          <p:cNvGrpSpPr/>
          <p:nvPr/>
        </p:nvGrpSpPr>
        <p:grpSpPr>
          <a:xfrm>
            <a:off x="360619" y="2122521"/>
            <a:ext cx="1077360" cy="699300"/>
            <a:chOff x="619475" y="2407150"/>
            <a:chExt cx="1077360" cy="699300"/>
          </a:xfrm>
        </p:grpSpPr>
        <p:sp>
          <p:nvSpPr>
            <p:cNvPr id="1960" name="Google Shape;1960;p143"/>
            <p:cNvSpPr txBox="1"/>
            <p:nvPr/>
          </p:nvSpPr>
          <p:spPr>
            <a:xfrm>
              <a:off x="619475" y="2576350"/>
              <a:ext cx="3708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1" name="Google Shape;1961;p143"/>
            <p:cNvSpPr/>
            <p:nvPr/>
          </p:nvSpPr>
          <p:spPr>
            <a:xfrm flipH="1" rot="-5400000">
              <a:off x="997535" y="2407150"/>
              <a:ext cx="699300" cy="6993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2" name="Google Shape;1962;p143"/>
          <p:cNvSpPr/>
          <p:nvPr/>
        </p:nvSpPr>
        <p:spPr>
          <a:xfrm>
            <a:off x="7299276" y="2580265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43"/>
          <p:cNvSpPr/>
          <p:nvPr/>
        </p:nvSpPr>
        <p:spPr>
          <a:xfrm>
            <a:off x="7985076" y="2580265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43"/>
          <p:cNvSpPr txBox="1"/>
          <p:nvPr>
            <p:ph idx="1" type="body"/>
          </p:nvPr>
        </p:nvSpPr>
        <p:spPr>
          <a:xfrm>
            <a:off x="324000" y="3779850"/>
            <a:ext cx="39966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50,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5(50) = 250</a:t>
            </a:r>
            <a:endParaRPr sz="2400"/>
          </a:p>
        </p:txBody>
      </p:sp>
      <p:sp>
        <p:nvSpPr>
          <p:cNvPr id="1965" name="Google Shape;1965;p143"/>
          <p:cNvSpPr txBox="1"/>
          <p:nvPr>
            <p:ph idx="1" type="body"/>
          </p:nvPr>
        </p:nvSpPr>
        <p:spPr>
          <a:xfrm>
            <a:off x="324000" y="4310434"/>
            <a:ext cx="4500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100,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5(100) = 500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44"/>
          <p:cNvSpPr txBox="1"/>
          <p:nvPr>
            <p:ph idx="1" type="body"/>
          </p:nvPr>
        </p:nvSpPr>
        <p:spPr>
          <a:xfrm>
            <a:off x="324000" y="759300"/>
            <a:ext cx="7135200" cy="6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the</a:t>
            </a:r>
            <a:r>
              <a:rPr lang="en-GB"/>
              <a:t> relationship, the</a:t>
            </a:r>
            <a:r>
              <a:rPr lang="en-GB"/>
              <a:t>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rgbClr val="282828"/>
                </a:solidFill>
              </a:rPr>
              <a:t> term,</a:t>
            </a:r>
            <a:r>
              <a:rPr lang="en-GB"/>
              <a:t> might be two-step.</a:t>
            </a:r>
            <a:endParaRPr sz="2400"/>
          </a:p>
        </p:txBody>
      </p:sp>
      <p:sp>
        <p:nvSpPr>
          <p:cNvPr id="1971" name="Google Shape;1971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72" name="Google Shape;1972;p144"/>
          <p:cNvGraphicFramePr/>
          <p:nvPr/>
        </p:nvGraphicFramePr>
        <p:xfrm>
          <a:off x="1684796" y="1625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718425"/>
                <a:gridCol w="718425"/>
                <a:gridCol w="718425"/>
                <a:gridCol w="718425"/>
                <a:gridCol w="718425"/>
              </a:tblGrid>
              <a:tr h="4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3" name="Google Shape;1973;p144"/>
          <p:cNvSpPr txBox="1"/>
          <p:nvPr>
            <p:ph idx="1" type="body"/>
          </p:nvPr>
        </p:nvSpPr>
        <p:spPr>
          <a:xfrm>
            <a:off x="324000" y="2938840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 is four times the 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 plus one.</a:t>
            </a:r>
            <a:endParaRPr sz="2400"/>
          </a:p>
        </p:txBody>
      </p:sp>
      <p:grpSp>
        <p:nvGrpSpPr>
          <p:cNvPr id="1974" name="Google Shape;1974;p144"/>
          <p:cNvGrpSpPr/>
          <p:nvPr/>
        </p:nvGrpSpPr>
        <p:grpSpPr>
          <a:xfrm>
            <a:off x="546610" y="1893929"/>
            <a:ext cx="1316799" cy="484685"/>
            <a:chOff x="281035" y="2450818"/>
            <a:chExt cx="1316799" cy="699300"/>
          </a:xfrm>
        </p:grpSpPr>
        <p:sp>
          <p:nvSpPr>
            <p:cNvPr id="1975" name="Google Shape;1975;p144"/>
            <p:cNvSpPr txBox="1"/>
            <p:nvPr/>
          </p:nvSpPr>
          <p:spPr>
            <a:xfrm>
              <a:off x="281035" y="2516992"/>
              <a:ext cx="7665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×4 +1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6" name="Google Shape;1976;p144"/>
            <p:cNvSpPr/>
            <p:nvPr/>
          </p:nvSpPr>
          <p:spPr>
            <a:xfrm flipH="1" rot="-5400000">
              <a:off x="986134" y="2538418"/>
              <a:ext cx="699300" cy="5241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7" name="Google Shape;1977;p144"/>
          <p:cNvSpPr txBox="1"/>
          <p:nvPr>
            <p:ph idx="1" type="body"/>
          </p:nvPr>
        </p:nvSpPr>
        <p:spPr>
          <a:xfrm>
            <a:off x="334075" y="34778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 = 4(1) + 1 = 5</a:t>
            </a:r>
            <a:endParaRPr sz="2400"/>
          </a:p>
        </p:txBody>
      </p:sp>
      <p:sp>
        <p:nvSpPr>
          <p:cNvPr id="1978" name="Google Shape;1978;p144"/>
          <p:cNvSpPr txBox="1"/>
          <p:nvPr>
            <p:ph idx="1" type="body"/>
          </p:nvPr>
        </p:nvSpPr>
        <p:spPr>
          <a:xfrm>
            <a:off x="4571019" y="34778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 = 4(2) + 1 = 9</a:t>
            </a:r>
            <a:endParaRPr sz="2400"/>
          </a:p>
        </p:txBody>
      </p:sp>
      <p:sp>
        <p:nvSpPr>
          <p:cNvPr id="1979" name="Google Shape;1979;p144"/>
          <p:cNvSpPr/>
          <p:nvPr/>
        </p:nvSpPr>
        <p:spPr>
          <a:xfrm>
            <a:off x="3717876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44"/>
          <p:cNvSpPr/>
          <p:nvPr/>
        </p:nvSpPr>
        <p:spPr>
          <a:xfrm>
            <a:off x="4433932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44"/>
          <p:cNvSpPr/>
          <p:nvPr/>
        </p:nvSpPr>
        <p:spPr>
          <a:xfrm>
            <a:off x="5155590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44"/>
          <p:cNvSpPr/>
          <p:nvPr/>
        </p:nvSpPr>
        <p:spPr>
          <a:xfrm>
            <a:off x="5867164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44"/>
          <p:cNvSpPr/>
          <p:nvPr/>
        </p:nvSpPr>
        <p:spPr>
          <a:xfrm>
            <a:off x="6588823" y="21891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45"/>
          <p:cNvSpPr txBox="1"/>
          <p:nvPr>
            <p:ph idx="1" type="body"/>
          </p:nvPr>
        </p:nvSpPr>
        <p:spPr>
          <a:xfrm>
            <a:off x="324000" y="759300"/>
            <a:ext cx="7191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terms,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400"/>
          </a:p>
        </p:txBody>
      </p:sp>
      <p:sp>
        <p:nvSpPr>
          <p:cNvPr id="1989" name="Google Shape;1989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arithmetic sequences</a:t>
            </a:r>
            <a:endParaRPr/>
          </a:p>
        </p:txBody>
      </p:sp>
      <p:graphicFrame>
        <p:nvGraphicFramePr>
          <p:cNvPr id="1990" name="Google Shape;1990;p145"/>
          <p:cNvGraphicFramePr/>
          <p:nvPr/>
        </p:nvGraphicFramePr>
        <p:xfrm>
          <a:off x="1684796" y="1930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22275"/>
                <a:gridCol w="709950"/>
                <a:gridCol w="709950"/>
                <a:gridCol w="709950"/>
                <a:gridCol w="709950"/>
                <a:gridCol w="709950"/>
                <a:gridCol w="709950"/>
              </a:tblGrid>
              <a:tr h="4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91" name="Google Shape;1991;p145"/>
          <p:cNvGrpSpPr/>
          <p:nvPr/>
        </p:nvGrpSpPr>
        <p:grpSpPr>
          <a:xfrm>
            <a:off x="546610" y="2198729"/>
            <a:ext cx="1316799" cy="484685"/>
            <a:chOff x="281035" y="2450818"/>
            <a:chExt cx="1316799" cy="699300"/>
          </a:xfrm>
        </p:grpSpPr>
        <p:sp>
          <p:nvSpPr>
            <p:cNvPr id="1992" name="Google Shape;1992;p145"/>
            <p:cNvSpPr txBox="1"/>
            <p:nvPr/>
          </p:nvSpPr>
          <p:spPr>
            <a:xfrm>
              <a:off x="281035" y="2516992"/>
              <a:ext cx="7665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 +5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3" name="Google Shape;1993;p145"/>
            <p:cNvSpPr/>
            <p:nvPr/>
          </p:nvSpPr>
          <p:spPr>
            <a:xfrm flipH="1" rot="-5400000">
              <a:off x="986134" y="2538418"/>
              <a:ext cx="699300" cy="5241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4" name="Google Shape;1994;p145"/>
          <p:cNvSpPr txBox="1"/>
          <p:nvPr>
            <p:ph idx="1" type="body"/>
          </p:nvPr>
        </p:nvSpPr>
        <p:spPr>
          <a:xfrm>
            <a:off x="334075" y="32492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 = 2(1) + 5 = 7</a:t>
            </a:r>
            <a:endParaRPr sz="2400"/>
          </a:p>
        </p:txBody>
      </p:sp>
      <p:sp>
        <p:nvSpPr>
          <p:cNvPr id="1995" name="Google Shape;1995;p145"/>
          <p:cNvSpPr txBox="1"/>
          <p:nvPr>
            <p:ph idx="1" type="body"/>
          </p:nvPr>
        </p:nvSpPr>
        <p:spPr>
          <a:xfrm>
            <a:off x="4571019" y="3249250"/>
            <a:ext cx="32958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 = 2(2) + 5 = 9</a:t>
            </a:r>
            <a:endParaRPr sz="2400"/>
          </a:p>
        </p:txBody>
      </p:sp>
      <p:sp>
        <p:nvSpPr>
          <p:cNvPr id="1996" name="Google Shape;1996;p145"/>
          <p:cNvSpPr/>
          <p:nvPr/>
        </p:nvSpPr>
        <p:spPr>
          <a:xfrm>
            <a:off x="5155590" y="24939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45"/>
          <p:cNvSpPr/>
          <p:nvPr/>
        </p:nvSpPr>
        <p:spPr>
          <a:xfrm>
            <a:off x="5867164" y="24939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45"/>
          <p:cNvSpPr/>
          <p:nvPr/>
        </p:nvSpPr>
        <p:spPr>
          <a:xfrm>
            <a:off x="6588823" y="24939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45"/>
          <p:cNvSpPr/>
          <p:nvPr/>
        </p:nvSpPr>
        <p:spPr>
          <a:xfrm>
            <a:off x="7244367" y="2493979"/>
            <a:ext cx="536700" cy="35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0" name="Google Shape;2000;p145"/>
          <p:cNvGrpSpPr/>
          <p:nvPr/>
        </p:nvGrpSpPr>
        <p:grpSpPr>
          <a:xfrm>
            <a:off x="3240501" y="2493979"/>
            <a:ext cx="1014074" cy="1668671"/>
            <a:chOff x="3240501" y="2493979"/>
            <a:chExt cx="1014074" cy="1668671"/>
          </a:xfrm>
        </p:grpSpPr>
        <p:sp>
          <p:nvSpPr>
            <p:cNvPr id="2001" name="Google Shape;2001;p145"/>
            <p:cNvSpPr/>
            <p:nvPr/>
          </p:nvSpPr>
          <p:spPr>
            <a:xfrm>
              <a:off x="3717876" y="2493979"/>
              <a:ext cx="536700" cy="353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2" name="Google Shape;2002;p145"/>
            <p:cNvSpPr/>
            <p:nvPr/>
          </p:nvSpPr>
          <p:spPr>
            <a:xfrm>
              <a:off x="3240501" y="3809550"/>
              <a:ext cx="389400" cy="353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3" name="Google Shape;2003;p145"/>
          <p:cNvGrpSpPr/>
          <p:nvPr/>
        </p:nvGrpSpPr>
        <p:grpSpPr>
          <a:xfrm>
            <a:off x="4433932" y="2493979"/>
            <a:ext cx="3442999" cy="1668671"/>
            <a:chOff x="4433932" y="2493979"/>
            <a:chExt cx="3442999" cy="1668671"/>
          </a:xfrm>
        </p:grpSpPr>
        <p:sp>
          <p:nvSpPr>
            <p:cNvPr id="2004" name="Google Shape;2004;p145"/>
            <p:cNvSpPr/>
            <p:nvPr/>
          </p:nvSpPr>
          <p:spPr>
            <a:xfrm>
              <a:off x="4433932" y="2493979"/>
              <a:ext cx="536700" cy="353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5" name="Google Shape;2005;p145"/>
            <p:cNvSpPr/>
            <p:nvPr/>
          </p:nvSpPr>
          <p:spPr>
            <a:xfrm>
              <a:off x="7487531" y="3809550"/>
              <a:ext cx="389400" cy="353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146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first five terms of these four sequences:</a:t>
            </a:r>
            <a:endParaRPr/>
          </a:p>
        </p:txBody>
      </p:sp>
      <p:sp>
        <p:nvSpPr>
          <p:cNvPr id="2011" name="Google Shape;2011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</a:t>
            </a:r>
            <a:r>
              <a:rPr lang="en-GB"/>
              <a:t>understanding</a:t>
            </a:r>
            <a:r>
              <a:rPr lang="en-GB"/>
              <a:t> of arithmetic sequences</a:t>
            </a:r>
            <a:endParaRPr/>
          </a:p>
        </p:txBody>
      </p:sp>
      <p:graphicFrame>
        <p:nvGraphicFramePr>
          <p:cNvPr id="2012" name="Google Shape;2012;p146"/>
          <p:cNvGraphicFramePr/>
          <p:nvPr/>
        </p:nvGraphicFramePr>
        <p:xfrm>
          <a:off x="2131911" y="1176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3" name="Google Shape;2013;p146"/>
          <p:cNvSpPr txBox="1"/>
          <p:nvPr>
            <p:ph idx="4294967295" type="body"/>
          </p:nvPr>
        </p:nvSpPr>
        <p:spPr>
          <a:xfrm>
            <a:off x="324000" y="114477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14" name="Google Shape;2014;p146"/>
          <p:cNvGraphicFramePr/>
          <p:nvPr/>
        </p:nvGraphicFramePr>
        <p:xfrm>
          <a:off x="2131911" y="21367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5" name="Google Shape;2015;p146"/>
          <p:cNvSpPr txBox="1"/>
          <p:nvPr>
            <p:ph idx="4294967295" type="body"/>
          </p:nvPr>
        </p:nvSpPr>
        <p:spPr>
          <a:xfrm>
            <a:off x="324000" y="2084949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16" name="Google Shape;2016;p146"/>
          <p:cNvGraphicFramePr/>
          <p:nvPr/>
        </p:nvGraphicFramePr>
        <p:xfrm>
          <a:off x="2131911" y="3131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7" name="Google Shape;2017;p146"/>
          <p:cNvSpPr txBox="1"/>
          <p:nvPr>
            <p:ph idx="4294967295" type="body"/>
          </p:nvPr>
        </p:nvSpPr>
        <p:spPr>
          <a:xfrm>
            <a:off x="324000" y="3100203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0.3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18" name="Google Shape;2018;p146"/>
          <p:cNvGraphicFramePr/>
          <p:nvPr/>
        </p:nvGraphicFramePr>
        <p:xfrm>
          <a:off x="2131911" y="4123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9" name="Google Shape;2019;p146"/>
          <p:cNvSpPr txBox="1"/>
          <p:nvPr>
            <p:ph idx="4294967295" type="body"/>
          </p:nvPr>
        </p:nvSpPr>
        <p:spPr>
          <a:xfrm>
            <a:off x="324000" y="409192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7 −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147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terms of these sequences.</a:t>
            </a:r>
            <a:endParaRPr/>
          </a:p>
        </p:txBody>
      </p:sp>
      <p:sp>
        <p:nvSpPr>
          <p:cNvPr id="2025" name="Google Shape;2025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026" name="Google Shape;2026;p147"/>
          <p:cNvSpPr txBox="1"/>
          <p:nvPr>
            <p:ph idx="4294967295" type="body"/>
          </p:nvPr>
        </p:nvSpPr>
        <p:spPr>
          <a:xfrm>
            <a:off x="324000" y="114477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147"/>
          <p:cNvSpPr txBox="1"/>
          <p:nvPr>
            <p:ph idx="4294967295" type="body"/>
          </p:nvPr>
        </p:nvSpPr>
        <p:spPr>
          <a:xfrm>
            <a:off x="324000" y="2084949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8" name="Google Shape;2028;p147"/>
          <p:cNvSpPr txBox="1"/>
          <p:nvPr>
            <p:ph idx="4294967295" type="body"/>
          </p:nvPr>
        </p:nvSpPr>
        <p:spPr>
          <a:xfrm>
            <a:off x="324000" y="3100200"/>
            <a:ext cx="1735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0.9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147"/>
          <p:cNvSpPr txBox="1"/>
          <p:nvPr>
            <p:ph idx="4294967295" type="body"/>
          </p:nvPr>
        </p:nvSpPr>
        <p:spPr>
          <a:xfrm>
            <a:off x="324000" y="409192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6 − 9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30" name="Google Shape;2030;p147"/>
          <p:cNvGrpSpPr/>
          <p:nvPr/>
        </p:nvGrpSpPr>
        <p:grpSpPr>
          <a:xfrm>
            <a:off x="3364985" y="2173385"/>
            <a:ext cx="3425883" cy="2172000"/>
            <a:chOff x="3364985" y="2173385"/>
            <a:chExt cx="3425883" cy="2172000"/>
          </a:xfrm>
        </p:grpSpPr>
        <p:pic>
          <p:nvPicPr>
            <p:cNvPr id="2031" name="Google Shape;2031;p1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64985" y="2173385"/>
              <a:ext cx="3425883" cy="21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2" name="Google Shape;2032;p147"/>
            <p:cNvSpPr/>
            <p:nvPr/>
          </p:nvSpPr>
          <p:spPr>
            <a:xfrm>
              <a:off x="6019564" y="3749038"/>
              <a:ext cx="536700" cy="353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3" name="Google Shape;2033;p147"/>
          <p:cNvSpPr txBox="1"/>
          <p:nvPr>
            <p:ph idx="1" type="body"/>
          </p:nvPr>
        </p:nvSpPr>
        <p:spPr>
          <a:xfrm>
            <a:off x="3372000" y="1368900"/>
            <a:ext cx="4087200" cy="6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might choose to use your calculator for some.</a:t>
            </a:r>
            <a:endParaRPr sz="2000"/>
          </a:p>
        </p:txBody>
      </p:sp>
      <p:cxnSp>
        <p:nvCxnSpPr>
          <p:cNvPr id="2034" name="Google Shape;2034;p147"/>
          <p:cNvCxnSpPr/>
          <p:nvPr/>
        </p:nvCxnSpPr>
        <p:spPr>
          <a:xfrm flipH="1" rot="10800000">
            <a:off x="1998988" y="3289606"/>
            <a:ext cx="1305600" cy="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5" name="Google Shape;2035;p147"/>
          <p:cNvSpPr/>
          <p:nvPr/>
        </p:nvSpPr>
        <p:spPr>
          <a:xfrm>
            <a:off x="4251275" y="3039688"/>
            <a:ext cx="642000" cy="4182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0" name="Google Shape;2040;p148"/>
          <p:cNvGraphicFramePr/>
          <p:nvPr/>
        </p:nvGraphicFramePr>
        <p:xfrm>
          <a:off x="2131911" y="1176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1" name="Google Shape;2041;p148"/>
          <p:cNvGraphicFramePr/>
          <p:nvPr/>
        </p:nvGraphicFramePr>
        <p:xfrm>
          <a:off x="2131911" y="21367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2" name="Google Shape;2042;p148"/>
          <p:cNvGraphicFramePr/>
          <p:nvPr/>
        </p:nvGraphicFramePr>
        <p:xfrm>
          <a:off x="2131911" y="3131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3" name="Google Shape;2043;p148"/>
          <p:cNvGraphicFramePr/>
          <p:nvPr/>
        </p:nvGraphicFramePr>
        <p:xfrm>
          <a:off x="2131911" y="4123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4" name="Google Shape;2044;p14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first five terms of these four sequences:</a:t>
            </a:r>
            <a:endParaRPr/>
          </a:p>
        </p:txBody>
      </p:sp>
      <p:sp>
        <p:nvSpPr>
          <p:cNvPr id="2045" name="Google Shape;2045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graphicFrame>
        <p:nvGraphicFramePr>
          <p:cNvPr id="2046" name="Google Shape;2046;p148"/>
          <p:cNvGraphicFramePr/>
          <p:nvPr/>
        </p:nvGraphicFramePr>
        <p:xfrm>
          <a:off x="2131911" y="1176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7" name="Google Shape;2047;p148"/>
          <p:cNvSpPr txBox="1"/>
          <p:nvPr>
            <p:ph idx="4294967295" type="body"/>
          </p:nvPr>
        </p:nvSpPr>
        <p:spPr>
          <a:xfrm>
            <a:off x="324000" y="1144782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48" name="Google Shape;2048;p148"/>
          <p:cNvGraphicFramePr/>
          <p:nvPr/>
        </p:nvGraphicFramePr>
        <p:xfrm>
          <a:off x="2131911" y="21367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9" name="Google Shape;2049;p148"/>
          <p:cNvSpPr txBox="1"/>
          <p:nvPr>
            <p:ph idx="4294967295" type="body"/>
          </p:nvPr>
        </p:nvSpPr>
        <p:spPr>
          <a:xfrm>
            <a:off x="324000" y="2084956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50" name="Google Shape;2050;p148"/>
          <p:cNvGraphicFramePr/>
          <p:nvPr/>
        </p:nvGraphicFramePr>
        <p:xfrm>
          <a:off x="2131911" y="3131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1" name="Google Shape;2051;p148"/>
          <p:cNvSpPr txBox="1"/>
          <p:nvPr>
            <p:ph idx="4294967295" type="body"/>
          </p:nvPr>
        </p:nvSpPr>
        <p:spPr>
          <a:xfrm>
            <a:off x="324000" y="3100209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0.3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52" name="Google Shape;2052;p148"/>
          <p:cNvGraphicFramePr/>
          <p:nvPr/>
        </p:nvGraphicFramePr>
        <p:xfrm>
          <a:off x="2131911" y="4123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5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3" name="Google Shape;2053;p148"/>
          <p:cNvSpPr txBox="1"/>
          <p:nvPr>
            <p:ph idx="4294967295" type="body"/>
          </p:nvPr>
        </p:nvSpPr>
        <p:spPr>
          <a:xfrm>
            <a:off x="324000" y="4091929"/>
            <a:ext cx="308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7 − 3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4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terms of these sequences.</a:t>
            </a:r>
            <a:endParaRPr/>
          </a:p>
        </p:txBody>
      </p:sp>
      <p:sp>
        <p:nvSpPr>
          <p:cNvPr id="2059" name="Google Shape;2059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060" name="Google Shape;2060;p149"/>
          <p:cNvSpPr txBox="1"/>
          <p:nvPr>
            <p:ph idx="4294967295" type="body"/>
          </p:nvPr>
        </p:nvSpPr>
        <p:spPr>
          <a:xfrm>
            <a:off x="324000" y="114477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1" name="Google Shape;2061;p149"/>
          <p:cNvSpPr txBox="1"/>
          <p:nvPr>
            <p:ph idx="4294967295" type="body"/>
          </p:nvPr>
        </p:nvSpPr>
        <p:spPr>
          <a:xfrm>
            <a:off x="324000" y="3227949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149"/>
          <p:cNvSpPr txBox="1"/>
          <p:nvPr>
            <p:ph idx="4294967295" type="body"/>
          </p:nvPr>
        </p:nvSpPr>
        <p:spPr>
          <a:xfrm>
            <a:off x="2884544" y="1191850"/>
            <a:ext cx="45795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9(10) + 6 = 96</a:t>
            </a:r>
            <a:endParaRPr sz="2400"/>
          </a:p>
        </p:txBody>
      </p:sp>
      <p:sp>
        <p:nvSpPr>
          <p:cNvPr id="2063" name="Google Shape;2063;p149"/>
          <p:cNvSpPr txBox="1"/>
          <p:nvPr>
            <p:ph idx="4294967295" type="body"/>
          </p:nvPr>
        </p:nvSpPr>
        <p:spPr>
          <a:xfrm>
            <a:off x="2884551" y="1801450"/>
            <a:ext cx="49839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9(50) + 6 = 456</a:t>
            </a:r>
            <a:endParaRPr sz="2400"/>
          </a:p>
        </p:txBody>
      </p:sp>
      <p:sp>
        <p:nvSpPr>
          <p:cNvPr id="2064" name="Google Shape;2064;p149"/>
          <p:cNvSpPr txBox="1"/>
          <p:nvPr>
            <p:ph idx="4294967295" type="body"/>
          </p:nvPr>
        </p:nvSpPr>
        <p:spPr>
          <a:xfrm>
            <a:off x="2884551" y="2411050"/>
            <a:ext cx="49839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9(100) + 6 = 906</a:t>
            </a:r>
            <a:endParaRPr sz="2400"/>
          </a:p>
        </p:txBody>
      </p:sp>
      <p:sp>
        <p:nvSpPr>
          <p:cNvPr id="2065" name="Google Shape;2065;p149"/>
          <p:cNvSpPr txBox="1"/>
          <p:nvPr>
            <p:ph idx="4294967295" type="body"/>
          </p:nvPr>
        </p:nvSpPr>
        <p:spPr>
          <a:xfrm>
            <a:off x="2884544" y="3173050"/>
            <a:ext cx="45795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 = 9(10) − 6 = 84</a:t>
            </a:r>
            <a:endParaRPr sz="2400"/>
          </a:p>
        </p:txBody>
      </p:sp>
      <p:sp>
        <p:nvSpPr>
          <p:cNvPr id="2066" name="Google Shape;2066;p149"/>
          <p:cNvSpPr txBox="1"/>
          <p:nvPr>
            <p:ph idx="4294967295" type="body"/>
          </p:nvPr>
        </p:nvSpPr>
        <p:spPr>
          <a:xfrm>
            <a:off x="2884551" y="3782650"/>
            <a:ext cx="49839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 = 9(50) − 6 = 444</a:t>
            </a:r>
            <a:endParaRPr sz="2400"/>
          </a:p>
        </p:txBody>
      </p:sp>
      <p:sp>
        <p:nvSpPr>
          <p:cNvPr id="2067" name="Google Shape;2067;p149"/>
          <p:cNvSpPr txBox="1"/>
          <p:nvPr>
            <p:ph idx="4294967295" type="body"/>
          </p:nvPr>
        </p:nvSpPr>
        <p:spPr>
          <a:xfrm>
            <a:off x="2884551" y="4392250"/>
            <a:ext cx="49839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− 6 = 9(100) − 6 = 894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150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,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terms of these sequences.</a:t>
            </a:r>
            <a:endParaRPr/>
          </a:p>
        </p:txBody>
      </p:sp>
      <p:sp>
        <p:nvSpPr>
          <p:cNvPr id="2073" name="Google Shape;2073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074" name="Google Shape;2074;p150"/>
          <p:cNvSpPr txBox="1"/>
          <p:nvPr>
            <p:ph idx="4294967295" type="body"/>
          </p:nvPr>
        </p:nvSpPr>
        <p:spPr>
          <a:xfrm>
            <a:off x="324000" y="1154859"/>
            <a:ext cx="1735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0.9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5" name="Google Shape;2075;p150"/>
          <p:cNvSpPr txBox="1"/>
          <p:nvPr>
            <p:ph idx="4294967295" type="body"/>
          </p:nvPr>
        </p:nvSpPr>
        <p:spPr>
          <a:xfrm>
            <a:off x="324000" y="3253725"/>
            <a:ext cx="152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6 − 9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6" name="Google Shape;2076;p150"/>
          <p:cNvSpPr txBox="1"/>
          <p:nvPr>
            <p:ph idx="4294967295" type="body"/>
          </p:nvPr>
        </p:nvSpPr>
        <p:spPr>
          <a:xfrm>
            <a:off x="2884550" y="1191850"/>
            <a:ext cx="5861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+ 0.6 = 0.9(10) + 0.6 = 9.6</a:t>
            </a:r>
            <a:endParaRPr sz="2400"/>
          </a:p>
        </p:txBody>
      </p:sp>
      <p:sp>
        <p:nvSpPr>
          <p:cNvPr id="2077" name="Google Shape;2077;p150"/>
          <p:cNvSpPr txBox="1"/>
          <p:nvPr>
            <p:ph idx="4294967295" type="body"/>
          </p:nvPr>
        </p:nvSpPr>
        <p:spPr>
          <a:xfrm>
            <a:off x="2884559" y="1801450"/>
            <a:ext cx="5861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+ 0.6 = 0.9(50) + 0.6 = 45.6</a:t>
            </a:r>
            <a:endParaRPr sz="2400"/>
          </a:p>
        </p:txBody>
      </p:sp>
      <p:sp>
        <p:nvSpPr>
          <p:cNvPr id="2078" name="Google Shape;2078;p150"/>
          <p:cNvSpPr txBox="1"/>
          <p:nvPr>
            <p:ph idx="4294967295" type="body"/>
          </p:nvPr>
        </p:nvSpPr>
        <p:spPr>
          <a:xfrm>
            <a:off x="2884559" y="2411050"/>
            <a:ext cx="5861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+ 0.6 = 0.9(100) + 0.6 = 90.6</a:t>
            </a:r>
            <a:endParaRPr sz="2400"/>
          </a:p>
        </p:txBody>
      </p:sp>
      <p:sp>
        <p:nvSpPr>
          <p:cNvPr id="2079" name="Google Shape;2079;p150"/>
          <p:cNvSpPr txBox="1"/>
          <p:nvPr>
            <p:ph idx="4294967295" type="body"/>
          </p:nvPr>
        </p:nvSpPr>
        <p:spPr>
          <a:xfrm>
            <a:off x="2884552" y="3173050"/>
            <a:ext cx="5861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6 −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6 − 9(10) = −84</a:t>
            </a:r>
            <a:endParaRPr sz="2400"/>
          </a:p>
        </p:txBody>
      </p:sp>
      <p:sp>
        <p:nvSpPr>
          <p:cNvPr id="2080" name="Google Shape;2080;p150"/>
          <p:cNvSpPr txBox="1"/>
          <p:nvPr>
            <p:ph idx="4294967295" type="body"/>
          </p:nvPr>
        </p:nvSpPr>
        <p:spPr>
          <a:xfrm>
            <a:off x="2884551" y="3782650"/>
            <a:ext cx="49839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6 − 9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6 − 9(50) = −444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1" name="Google Shape;2081;p150"/>
          <p:cNvSpPr txBox="1"/>
          <p:nvPr>
            <p:ph idx="4294967295" type="body"/>
          </p:nvPr>
        </p:nvSpPr>
        <p:spPr>
          <a:xfrm>
            <a:off x="2884550" y="4392250"/>
            <a:ext cx="54681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6 − 9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6 − 9(100) = −894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15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2087" name="Google Shape;2087;p15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arithmetic sequences</a:t>
            </a:r>
            <a:endParaRPr/>
          </a:p>
        </p:txBody>
      </p:sp>
      <p:sp>
        <p:nvSpPr>
          <p:cNvPr id="2088" name="Google Shape;2088;p15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089" name="Google Shape;2089;p15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pic>
        <p:nvPicPr>
          <p:cNvPr id="2090" name="Google Shape;2090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65" y="36962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52"/>
          <p:cNvSpPr txBox="1"/>
          <p:nvPr>
            <p:ph idx="1" type="body"/>
          </p:nvPr>
        </p:nvSpPr>
        <p:spPr>
          <a:xfrm>
            <a:off x="324000" y="759300"/>
            <a:ext cx="7135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is this pattern growing?...</a:t>
            </a:r>
            <a:endParaRPr/>
          </a:p>
        </p:txBody>
      </p:sp>
      <p:sp>
        <p:nvSpPr>
          <p:cNvPr id="2096" name="Google Shape;2096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pSp>
        <p:nvGrpSpPr>
          <p:cNvPr id="2097" name="Google Shape;2097;p152"/>
          <p:cNvGrpSpPr/>
          <p:nvPr/>
        </p:nvGrpSpPr>
        <p:grpSpPr>
          <a:xfrm>
            <a:off x="1449824" y="1681554"/>
            <a:ext cx="597185" cy="882000"/>
            <a:chOff x="1678424" y="1681554"/>
            <a:chExt cx="597185" cy="882000"/>
          </a:xfrm>
        </p:grpSpPr>
        <p:sp>
          <p:nvSpPr>
            <p:cNvPr id="2098" name="Google Shape;2098;p152"/>
            <p:cNvSpPr/>
            <p:nvPr/>
          </p:nvSpPr>
          <p:spPr>
            <a:xfrm>
              <a:off x="19933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52"/>
            <p:cNvSpPr/>
            <p:nvPr/>
          </p:nvSpPr>
          <p:spPr>
            <a:xfrm>
              <a:off x="19933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0" name="Google Shape;2100;p152"/>
            <p:cNvSpPr/>
            <p:nvPr/>
          </p:nvSpPr>
          <p:spPr>
            <a:xfrm>
              <a:off x="19933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1" name="Google Shape;2101;p152"/>
            <p:cNvSpPr/>
            <p:nvPr/>
          </p:nvSpPr>
          <p:spPr>
            <a:xfrm>
              <a:off x="16784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152"/>
            <p:cNvSpPr/>
            <p:nvPr/>
          </p:nvSpPr>
          <p:spPr>
            <a:xfrm>
              <a:off x="16784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3" name="Google Shape;2103;p152"/>
          <p:cNvGrpSpPr/>
          <p:nvPr/>
        </p:nvGrpSpPr>
        <p:grpSpPr>
          <a:xfrm>
            <a:off x="2821424" y="1681554"/>
            <a:ext cx="912071" cy="882000"/>
            <a:chOff x="3050024" y="1681554"/>
            <a:chExt cx="912071" cy="882000"/>
          </a:xfrm>
        </p:grpSpPr>
        <p:sp>
          <p:nvSpPr>
            <p:cNvPr id="2104" name="Google Shape;2104;p152"/>
            <p:cNvSpPr/>
            <p:nvPr/>
          </p:nvSpPr>
          <p:spPr>
            <a:xfrm>
              <a:off x="33649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5" name="Google Shape;2105;p152"/>
            <p:cNvSpPr/>
            <p:nvPr/>
          </p:nvSpPr>
          <p:spPr>
            <a:xfrm>
              <a:off x="33649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6" name="Google Shape;2106;p152"/>
            <p:cNvSpPr/>
            <p:nvPr/>
          </p:nvSpPr>
          <p:spPr>
            <a:xfrm>
              <a:off x="33649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52"/>
            <p:cNvSpPr/>
            <p:nvPr/>
          </p:nvSpPr>
          <p:spPr>
            <a:xfrm>
              <a:off x="3050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8" name="Google Shape;2108;p152"/>
            <p:cNvSpPr/>
            <p:nvPr/>
          </p:nvSpPr>
          <p:spPr>
            <a:xfrm>
              <a:off x="3050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152"/>
            <p:cNvSpPr/>
            <p:nvPr/>
          </p:nvSpPr>
          <p:spPr>
            <a:xfrm>
              <a:off x="36797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0" name="Google Shape;2110;p152"/>
            <p:cNvSpPr/>
            <p:nvPr/>
          </p:nvSpPr>
          <p:spPr>
            <a:xfrm>
              <a:off x="36797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1" name="Google Shape;2111;p152"/>
            <p:cNvSpPr/>
            <p:nvPr/>
          </p:nvSpPr>
          <p:spPr>
            <a:xfrm>
              <a:off x="36797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2" name="Google Shape;2112;p152"/>
          <p:cNvGrpSpPr/>
          <p:nvPr/>
        </p:nvGrpSpPr>
        <p:grpSpPr>
          <a:xfrm>
            <a:off x="4421624" y="1681554"/>
            <a:ext cx="1226956" cy="882000"/>
            <a:chOff x="4650224" y="1681554"/>
            <a:chExt cx="1226956" cy="882000"/>
          </a:xfrm>
        </p:grpSpPr>
        <p:sp>
          <p:nvSpPr>
            <p:cNvPr id="2113" name="Google Shape;2113;p152"/>
            <p:cNvSpPr/>
            <p:nvPr/>
          </p:nvSpPr>
          <p:spPr>
            <a:xfrm>
              <a:off x="49651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4" name="Google Shape;2114;p152"/>
            <p:cNvSpPr/>
            <p:nvPr/>
          </p:nvSpPr>
          <p:spPr>
            <a:xfrm>
              <a:off x="49651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5" name="Google Shape;2115;p152"/>
            <p:cNvSpPr/>
            <p:nvPr/>
          </p:nvSpPr>
          <p:spPr>
            <a:xfrm>
              <a:off x="49651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6" name="Google Shape;2116;p152"/>
            <p:cNvSpPr/>
            <p:nvPr/>
          </p:nvSpPr>
          <p:spPr>
            <a:xfrm>
              <a:off x="46502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7" name="Google Shape;2117;p152"/>
            <p:cNvSpPr/>
            <p:nvPr/>
          </p:nvSpPr>
          <p:spPr>
            <a:xfrm>
              <a:off x="46502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8" name="Google Shape;2118;p152"/>
            <p:cNvSpPr/>
            <p:nvPr/>
          </p:nvSpPr>
          <p:spPr>
            <a:xfrm>
              <a:off x="52799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9" name="Google Shape;2119;p152"/>
            <p:cNvSpPr/>
            <p:nvPr/>
          </p:nvSpPr>
          <p:spPr>
            <a:xfrm>
              <a:off x="52799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152"/>
            <p:cNvSpPr/>
            <p:nvPr/>
          </p:nvSpPr>
          <p:spPr>
            <a:xfrm>
              <a:off x="52799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1" name="Google Shape;2121;p152"/>
            <p:cNvSpPr/>
            <p:nvPr/>
          </p:nvSpPr>
          <p:spPr>
            <a:xfrm>
              <a:off x="559487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2" name="Google Shape;2122;p152"/>
            <p:cNvSpPr/>
            <p:nvPr/>
          </p:nvSpPr>
          <p:spPr>
            <a:xfrm>
              <a:off x="559487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3" name="Google Shape;2123;p152"/>
            <p:cNvSpPr/>
            <p:nvPr/>
          </p:nvSpPr>
          <p:spPr>
            <a:xfrm>
              <a:off x="559487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4" name="Google Shape;2124;p152"/>
          <p:cNvSpPr/>
          <p:nvPr/>
        </p:nvSpPr>
        <p:spPr>
          <a:xfrm>
            <a:off x="383024" y="1986354"/>
            <a:ext cx="282300" cy="2724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52"/>
          <p:cNvSpPr/>
          <p:nvPr/>
        </p:nvSpPr>
        <p:spPr>
          <a:xfrm>
            <a:off x="383024" y="2291154"/>
            <a:ext cx="282300" cy="2724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52"/>
          <p:cNvSpPr txBox="1"/>
          <p:nvPr>
            <p:ph idx="1" type="body"/>
          </p:nvPr>
        </p:nvSpPr>
        <p:spPr>
          <a:xfrm>
            <a:off x="7812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27" name="Google Shape;2127;p152"/>
          <p:cNvSpPr txBox="1"/>
          <p:nvPr>
            <p:ph idx="1" type="body"/>
          </p:nvPr>
        </p:nvSpPr>
        <p:spPr>
          <a:xfrm>
            <a:off x="22290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28" name="Google Shape;2128;p152"/>
          <p:cNvSpPr txBox="1"/>
          <p:nvPr>
            <p:ph idx="1" type="body"/>
          </p:nvPr>
        </p:nvSpPr>
        <p:spPr>
          <a:xfrm>
            <a:off x="39054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29" name="Google Shape;2129;p152"/>
          <p:cNvSpPr txBox="1"/>
          <p:nvPr>
            <p:ph idx="1" type="body"/>
          </p:nvPr>
        </p:nvSpPr>
        <p:spPr>
          <a:xfrm>
            <a:off x="5810400" y="2283300"/>
            <a:ext cx="7404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130" name="Google Shape;2130;p152"/>
          <p:cNvSpPr txBox="1"/>
          <p:nvPr>
            <p:ph idx="1" type="body"/>
          </p:nvPr>
        </p:nvSpPr>
        <p:spPr>
          <a:xfrm>
            <a:off x="324000" y="2959015"/>
            <a:ext cx="61731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Constantly adding three counters each time.</a:t>
            </a:r>
            <a:endParaRPr/>
          </a:p>
        </p:txBody>
      </p:sp>
      <p:grpSp>
        <p:nvGrpSpPr>
          <p:cNvPr id="2131" name="Google Shape;2131;p152"/>
          <p:cNvGrpSpPr/>
          <p:nvPr/>
        </p:nvGrpSpPr>
        <p:grpSpPr>
          <a:xfrm>
            <a:off x="5681165" y="3434154"/>
            <a:ext cx="282300" cy="882000"/>
            <a:chOff x="5909765" y="3434154"/>
            <a:chExt cx="282300" cy="882000"/>
          </a:xfrm>
        </p:grpSpPr>
        <p:sp>
          <p:nvSpPr>
            <p:cNvPr id="2132" name="Google Shape;2132;p152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3" name="Google Shape;2133;p152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4" name="Google Shape;2134;p152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5" name="Google Shape;2135;p152"/>
          <p:cNvSpPr txBox="1"/>
          <p:nvPr>
            <p:ph idx="1" type="body"/>
          </p:nvPr>
        </p:nvSpPr>
        <p:spPr>
          <a:xfrm>
            <a:off x="324000" y="3492425"/>
            <a:ext cx="3954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next </a:t>
            </a:r>
            <a:r>
              <a:rPr lang="en-GB"/>
              <a:t>pattern would be the fourth pattern…</a:t>
            </a:r>
            <a:endParaRPr/>
          </a:p>
        </p:txBody>
      </p:sp>
      <p:grpSp>
        <p:nvGrpSpPr>
          <p:cNvPr id="2136" name="Google Shape;2136;p152"/>
          <p:cNvGrpSpPr/>
          <p:nvPr/>
        </p:nvGrpSpPr>
        <p:grpSpPr>
          <a:xfrm>
            <a:off x="4421624" y="3434154"/>
            <a:ext cx="1226956" cy="882000"/>
            <a:chOff x="4650224" y="1681554"/>
            <a:chExt cx="1226956" cy="882000"/>
          </a:xfrm>
        </p:grpSpPr>
        <p:sp>
          <p:nvSpPr>
            <p:cNvPr id="2137" name="Google Shape;2137;p152"/>
            <p:cNvSpPr/>
            <p:nvPr/>
          </p:nvSpPr>
          <p:spPr>
            <a:xfrm>
              <a:off x="49651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8" name="Google Shape;2138;p152"/>
            <p:cNvSpPr/>
            <p:nvPr/>
          </p:nvSpPr>
          <p:spPr>
            <a:xfrm>
              <a:off x="49651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9" name="Google Shape;2139;p152"/>
            <p:cNvSpPr/>
            <p:nvPr/>
          </p:nvSpPr>
          <p:spPr>
            <a:xfrm>
              <a:off x="49651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0" name="Google Shape;2140;p152"/>
            <p:cNvSpPr/>
            <p:nvPr/>
          </p:nvSpPr>
          <p:spPr>
            <a:xfrm>
              <a:off x="46502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1" name="Google Shape;2141;p152"/>
            <p:cNvSpPr/>
            <p:nvPr/>
          </p:nvSpPr>
          <p:spPr>
            <a:xfrm>
              <a:off x="46502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2" name="Google Shape;2142;p152"/>
            <p:cNvSpPr/>
            <p:nvPr/>
          </p:nvSpPr>
          <p:spPr>
            <a:xfrm>
              <a:off x="52799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3" name="Google Shape;2143;p152"/>
            <p:cNvSpPr/>
            <p:nvPr/>
          </p:nvSpPr>
          <p:spPr>
            <a:xfrm>
              <a:off x="52799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4" name="Google Shape;2144;p152"/>
            <p:cNvSpPr/>
            <p:nvPr/>
          </p:nvSpPr>
          <p:spPr>
            <a:xfrm>
              <a:off x="52799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5" name="Google Shape;2145;p152"/>
            <p:cNvSpPr/>
            <p:nvPr/>
          </p:nvSpPr>
          <p:spPr>
            <a:xfrm>
              <a:off x="559487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6" name="Google Shape;2146;p152"/>
            <p:cNvSpPr/>
            <p:nvPr/>
          </p:nvSpPr>
          <p:spPr>
            <a:xfrm>
              <a:off x="559487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7" name="Google Shape;2147;p152"/>
            <p:cNvSpPr/>
            <p:nvPr/>
          </p:nvSpPr>
          <p:spPr>
            <a:xfrm>
              <a:off x="559487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8" name="Google Shape;2148;p152"/>
          <p:cNvSpPr txBox="1"/>
          <p:nvPr>
            <p:ph idx="1" type="body"/>
          </p:nvPr>
        </p:nvSpPr>
        <p:spPr>
          <a:xfrm>
            <a:off x="6131625" y="3873425"/>
            <a:ext cx="29361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…p</a:t>
            </a:r>
            <a:r>
              <a:rPr lang="en-GB"/>
              <a:t>lus another three.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153"/>
          <p:cNvSpPr txBox="1"/>
          <p:nvPr>
            <p:ph idx="1" type="body"/>
          </p:nvPr>
        </p:nvSpPr>
        <p:spPr>
          <a:xfrm>
            <a:off x="324000" y="759300"/>
            <a:ext cx="7135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an example of a visual representation of an arithmetic sequence.</a:t>
            </a:r>
            <a:endParaRPr/>
          </a:p>
        </p:txBody>
      </p:sp>
      <p:sp>
        <p:nvSpPr>
          <p:cNvPr id="2154" name="Google Shape;2154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pSp>
        <p:nvGrpSpPr>
          <p:cNvPr id="2155" name="Google Shape;2155;p153"/>
          <p:cNvGrpSpPr/>
          <p:nvPr/>
        </p:nvGrpSpPr>
        <p:grpSpPr>
          <a:xfrm>
            <a:off x="1449824" y="1681554"/>
            <a:ext cx="597185" cy="882000"/>
            <a:chOff x="1678424" y="1681554"/>
            <a:chExt cx="597185" cy="882000"/>
          </a:xfrm>
        </p:grpSpPr>
        <p:sp>
          <p:nvSpPr>
            <p:cNvPr id="2156" name="Google Shape;2156;p153"/>
            <p:cNvSpPr/>
            <p:nvPr/>
          </p:nvSpPr>
          <p:spPr>
            <a:xfrm>
              <a:off x="19933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7" name="Google Shape;2157;p153"/>
            <p:cNvSpPr/>
            <p:nvPr/>
          </p:nvSpPr>
          <p:spPr>
            <a:xfrm>
              <a:off x="19933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8" name="Google Shape;2158;p153"/>
            <p:cNvSpPr/>
            <p:nvPr/>
          </p:nvSpPr>
          <p:spPr>
            <a:xfrm>
              <a:off x="19933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9" name="Google Shape;2159;p153"/>
            <p:cNvSpPr/>
            <p:nvPr/>
          </p:nvSpPr>
          <p:spPr>
            <a:xfrm>
              <a:off x="16784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0" name="Google Shape;2160;p153"/>
            <p:cNvSpPr/>
            <p:nvPr/>
          </p:nvSpPr>
          <p:spPr>
            <a:xfrm>
              <a:off x="16784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1" name="Google Shape;2161;p153"/>
          <p:cNvGrpSpPr/>
          <p:nvPr/>
        </p:nvGrpSpPr>
        <p:grpSpPr>
          <a:xfrm>
            <a:off x="2821424" y="1681554"/>
            <a:ext cx="912071" cy="882000"/>
            <a:chOff x="3050024" y="1681554"/>
            <a:chExt cx="912071" cy="882000"/>
          </a:xfrm>
        </p:grpSpPr>
        <p:sp>
          <p:nvSpPr>
            <p:cNvPr id="2162" name="Google Shape;2162;p153"/>
            <p:cNvSpPr/>
            <p:nvPr/>
          </p:nvSpPr>
          <p:spPr>
            <a:xfrm>
              <a:off x="33649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3" name="Google Shape;2163;p153"/>
            <p:cNvSpPr/>
            <p:nvPr/>
          </p:nvSpPr>
          <p:spPr>
            <a:xfrm>
              <a:off x="33649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4" name="Google Shape;2164;p153"/>
            <p:cNvSpPr/>
            <p:nvPr/>
          </p:nvSpPr>
          <p:spPr>
            <a:xfrm>
              <a:off x="33649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5" name="Google Shape;2165;p153"/>
            <p:cNvSpPr/>
            <p:nvPr/>
          </p:nvSpPr>
          <p:spPr>
            <a:xfrm>
              <a:off x="3050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6" name="Google Shape;2166;p153"/>
            <p:cNvSpPr/>
            <p:nvPr/>
          </p:nvSpPr>
          <p:spPr>
            <a:xfrm>
              <a:off x="3050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7" name="Google Shape;2167;p153"/>
            <p:cNvSpPr/>
            <p:nvPr/>
          </p:nvSpPr>
          <p:spPr>
            <a:xfrm>
              <a:off x="36797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8" name="Google Shape;2168;p153"/>
            <p:cNvSpPr/>
            <p:nvPr/>
          </p:nvSpPr>
          <p:spPr>
            <a:xfrm>
              <a:off x="36797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9" name="Google Shape;2169;p153"/>
            <p:cNvSpPr/>
            <p:nvPr/>
          </p:nvSpPr>
          <p:spPr>
            <a:xfrm>
              <a:off x="36797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70" name="Google Shape;2170;p153"/>
          <p:cNvGrpSpPr/>
          <p:nvPr/>
        </p:nvGrpSpPr>
        <p:grpSpPr>
          <a:xfrm>
            <a:off x="4421624" y="1681554"/>
            <a:ext cx="1226956" cy="882000"/>
            <a:chOff x="4650224" y="1681554"/>
            <a:chExt cx="1226956" cy="882000"/>
          </a:xfrm>
        </p:grpSpPr>
        <p:sp>
          <p:nvSpPr>
            <p:cNvPr id="2171" name="Google Shape;2171;p153"/>
            <p:cNvSpPr/>
            <p:nvPr/>
          </p:nvSpPr>
          <p:spPr>
            <a:xfrm>
              <a:off x="49651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2" name="Google Shape;2172;p153"/>
            <p:cNvSpPr/>
            <p:nvPr/>
          </p:nvSpPr>
          <p:spPr>
            <a:xfrm>
              <a:off x="49651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3" name="Google Shape;2173;p153"/>
            <p:cNvSpPr/>
            <p:nvPr/>
          </p:nvSpPr>
          <p:spPr>
            <a:xfrm>
              <a:off x="49651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4" name="Google Shape;2174;p153"/>
            <p:cNvSpPr/>
            <p:nvPr/>
          </p:nvSpPr>
          <p:spPr>
            <a:xfrm>
              <a:off x="46502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5" name="Google Shape;2175;p153"/>
            <p:cNvSpPr/>
            <p:nvPr/>
          </p:nvSpPr>
          <p:spPr>
            <a:xfrm>
              <a:off x="46502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6" name="Google Shape;2176;p153"/>
            <p:cNvSpPr/>
            <p:nvPr/>
          </p:nvSpPr>
          <p:spPr>
            <a:xfrm>
              <a:off x="52799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7" name="Google Shape;2177;p153"/>
            <p:cNvSpPr/>
            <p:nvPr/>
          </p:nvSpPr>
          <p:spPr>
            <a:xfrm>
              <a:off x="52799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8" name="Google Shape;2178;p153"/>
            <p:cNvSpPr/>
            <p:nvPr/>
          </p:nvSpPr>
          <p:spPr>
            <a:xfrm>
              <a:off x="52799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9" name="Google Shape;2179;p153"/>
            <p:cNvSpPr/>
            <p:nvPr/>
          </p:nvSpPr>
          <p:spPr>
            <a:xfrm>
              <a:off x="559487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0" name="Google Shape;2180;p153"/>
            <p:cNvSpPr/>
            <p:nvPr/>
          </p:nvSpPr>
          <p:spPr>
            <a:xfrm>
              <a:off x="559487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1" name="Google Shape;2181;p153"/>
            <p:cNvSpPr/>
            <p:nvPr/>
          </p:nvSpPr>
          <p:spPr>
            <a:xfrm>
              <a:off x="559487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2" name="Google Shape;2182;p153"/>
          <p:cNvSpPr/>
          <p:nvPr/>
        </p:nvSpPr>
        <p:spPr>
          <a:xfrm>
            <a:off x="383024" y="1986354"/>
            <a:ext cx="282300" cy="2724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53"/>
          <p:cNvSpPr/>
          <p:nvPr/>
        </p:nvSpPr>
        <p:spPr>
          <a:xfrm>
            <a:off x="383024" y="2291154"/>
            <a:ext cx="282300" cy="2724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53"/>
          <p:cNvSpPr txBox="1"/>
          <p:nvPr>
            <p:ph idx="1" type="body"/>
          </p:nvPr>
        </p:nvSpPr>
        <p:spPr>
          <a:xfrm>
            <a:off x="7812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85" name="Google Shape;2185;p153"/>
          <p:cNvSpPr txBox="1"/>
          <p:nvPr>
            <p:ph idx="1" type="body"/>
          </p:nvPr>
        </p:nvSpPr>
        <p:spPr>
          <a:xfrm>
            <a:off x="22290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86" name="Google Shape;2186;p153"/>
          <p:cNvSpPr txBox="1"/>
          <p:nvPr>
            <p:ph idx="1" type="body"/>
          </p:nvPr>
        </p:nvSpPr>
        <p:spPr>
          <a:xfrm>
            <a:off x="39054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187" name="Google Shape;2187;p153"/>
          <p:cNvSpPr txBox="1"/>
          <p:nvPr>
            <p:ph idx="1" type="body"/>
          </p:nvPr>
        </p:nvSpPr>
        <p:spPr>
          <a:xfrm>
            <a:off x="436059" y="2613884"/>
            <a:ext cx="457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88" name="Google Shape;2188;p153"/>
          <p:cNvGrpSpPr/>
          <p:nvPr/>
        </p:nvGrpSpPr>
        <p:grpSpPr>
          <a:xfrm>
            <a:off x="7586165" y="1681554"/>
            <a:ext cx="282300" cy="882000"/>
            <a:chOff x="5909765" y="3434154"/>
            <a:chExt cx="282300" cy="882000"/>
          </a:xfrm>
        </p:grpSpPr>
        <p:sp>
          <p:nvSpPr>
            <p:cNvPr id="2189" name="Google Shape;2189;p153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0" name="Google Shape;2190;p153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1" name="Google Shape;2191;p153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2" name="Google Shape;2192;p153"/>
          <p:cNvGrpSpPr/>
          <p:nvPr/>
        </p:nvGrpSpPr>
        <p:grpSpPr>
          <a:xfrm>
            <a:off x="6326624" y="1681554"/>
            <a:ext cx="1226956" cy="882000"/>
            <a:chOff x="4650224" y="1681554"/>
            <a:chExt cx="1226956" cy="882000"/>
          </a:xfrm>
        </p:grpSpPr>
        <p:sp>
          <p:nvSpPr>
            <p:cNvPr id="2193" name="Google Shape;2193;p153"/>
            <p:cNvSpPr/>
            <p:nvPr/>
          </p:nvSpPr>
          <p:spPr>
            <a:xfrm>
              <a:off x="496510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4" name="Google Shape;2194;p153"/>
            <p:cNvSpPr/>
            <p:nvPr/>
          </p:nvSpPr>
          <p:spPr>
            <a:xfrm>
              <a:off x="496510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5" name="Google Shape;2195;p153"/>
            <p:cNvSpPr/>
            <p:nvPr/>
          </p:nvSpPr>
          <p:spPr>
            <a:xfrm>
              <a:off x="496510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6" name="Google Shape;2196;p153"/>
            <p:cNvSpPr/>
            <p:nvPr/>
          </p:nvSpPr>
          <p:spPr>
            <a:xfrm>
              <a:off x="46502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7" name="Google Shape;2197;p153"/>
            <p:cNvSpPr/>
            <p:nvPr/>
          </p:nvSpPr>
          <p:spPr>
            <a:xfrm>
              <a:off x="46502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8" name="Google Shape;2198;p153"/>
            <p:cNvSpPr/>
            <p:nvPr/>
          </p:nvSpPr>
          <p:spPr>
            <a:xfrm>
              <a:off x="5279994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9" name="Google Shape;2199;p153"/>
            <p:cNvSpPr/>
            <p:nvPr/>
          </p:nvSpPr>
          <p:spPr>
            <a:xfrm>
              <a:off x="527999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0" name="Google Shape;2200;p153"/>
            <p:cNvSpPr/>
            <p:nvPr/>
          </p:nvSpPr>
          <p:spPr>
            <a:xfrm>
              <a:off x="527999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1" name="Google Shape;2201;p153"/>
            <p:cNvSpPr/>
            <p:nvPr/>
          </p:nvSpPr>
          <p:spPr>
            <a:xfrm>
              <a:off x="5594879" y="16815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2" name="Google Shape;2202;p153"/>
            <p:cNvSpPr/>
            <p:nvPr/>
          </p:nvSpPr>
          <p:spPr>
            <a:xfrm>
              <a:off x="5594879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3" name="Google Shape;2203;p153"/>
            <p:cNvSpPr/>
            <p:nvPr/>
          </p:nvSpPr>
          <p:spPr>
            <a:xfrm>
              <a:off x="5594879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4" name="Google Shape;2204;p153"/>
          <p:cNvSpPr txBox="1"/>
          <p:nvPr>
            <p:ph idx="1" type="body"/>
          </p:nvPr>
        </p:nvSpPr>
        <p:spPr>
          <a:xfrm>
            <a:off x="5810400" y="2283300"/>
            <a:ext cx="2115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</a:t>
            </a:r>
            <a:endParaRPr sz="2400"/>
          </a:p>
        </p:txBody>
      </p:sp>
      <p:sp>
        <p:nvSpPr>
          <p:cNvPr id="2205" name="Google Shape;2205;p153"/>
          <p:cNvSpPr txBox="1"/>
          <p:nvPr>
            <p:ph idx="1" type="body"/>
          </p:nvPr>
        </p:nvSpPr>
        <p:spPr>
          <a:xfrm>
            <a:off x="8020200" y="2283300"/>
            <a:ext cx="7404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, …</a:t>
            </a:r>
            <a:endParaRPr sz="2400"/>
          </a:p>
        </p:txBody>
      </p:sp>
      <p:sp>
        <p:nvSpPr>
          <p:cNvPr id="2206" name="Google Shape;2206;p153"/>
          <p:cNvSpPr txBox="1"/>
          <p:nvPr>
            <p:ph idx="1" type="body"/>
          </p:nvPr>
        </p:nvSpPr>
        <p:spPr>
          <a:xfrm>
            <a:off x="1731459" y="2613884"/>
            <a:ext cx="457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7" name="Google Shape;2207;p153"/>
          <p:cNvSpPr txBox="1"/>
          <p:nvPr>
            <p:ph idx="1" type="body"/>
          </p:nvPr>
        </p:nvSpPr>
        <p:spPr>
          <a:xfrm>
            <a:off x="3179259" y="2613884"/>
            <a:ext cx="457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8" name="Google Shape;2208;p153"/>
          <p:cNvSpPr txBox="1"/>
          <p:nvPr>
            <p:ph idx="1" type="body"/>
          </p:nvPr>
        </p:nvSpPr>
        <p:spPr>
          <a:xfrm>
            <a:off x="4931859" y="2613884"/>
            <a:ext cx="457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9" name="Google Shape;2209;p153"/>
          <p:cNvSpPr txBox="1"/>
          <p:nvPr>
            <p:ph idx="1" type="body"/>
          </p:nvPr>
        </p:nvSpPr>
        <p:spPr>
          <a:xfrm>
            <a:off x="6836859" y="2613884"/>
            <a:ext cx="457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14,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0" name="Google Shape;2210;p153"/>
          <p:cNvSpPr txBox="1"/>
          <p:nvPr/>
        </p:nvSpPr>
        <p:spPr>
          <a:xfrm>
            <a:off x="862516" y="3463359"/>
            <a:ext cx="380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1" name="Google Shape;2211;p153"/>
          <p:cNvSpPr/>
          <p:nvPr/>
        </p:nvSpPr>
        <p:spPr>
          <a:xfrm flipH="1" rot="10800000">
            <a:off x="719150" y="2940550"/>
            <a:ext cx="699300" cy="5754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153"/>
          <p:cNvSpPr txBox="1"/>
          <p:nvPr/>
        </p:nvSpPr>
        <p:spPr>
          <a:xfrm>
            <a:off x="2336090" y="3463359"/>
            <a:ext cx="380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3" name="Google Shape;2213;p153"/>
          <p:cNvSpPr/>
          <p:nvPr/>
        </p:nvSpPr>
        <p:spPr>
          <a:xfrm flipH="1" rot="10800000">
            <a:off x="2192724" y="2940550"/>
            <a:ext cx="699300" cy="5754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153"/>
          <p:cNvSpPr txBox="1"/>
          <p:nvPr/>
        </p:nvSpPr>
        <p:spPr>
          <a:xfrm>
            <a:off x="3910516" y="3463359"/>
            <a:ext cx="380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5" name="Google Shape;2215;p153"/>
          <p:cNvSpPr/>
          <p:nvPr/>
        </p:nvSpPr>
        <p:spPr>
          <a:xfrm flipH="1" rot="10800000">
            <a:off x="3767150" y="2940550"/>
            <a:ext cx="699300" cy="5754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153"/>
          <p:cNvSpPr txBox="1"/>
          <p:nvPr/>
        </p:nvSpPr>
        <p:spPr>
          <a:xfrm>
            <a:off x="5815516" y="3463359"/>
            <a:ext cx="380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7" name="Google Shape;2217;p153"/>
          <p:cNvSpPr/>
          <p:nvPr/>
        </p:nvSpPr>
        <p:spPr>
          <a:xfrm flipH="1" rot="10800000">
            <a:off x="5672150" y="2940550"/>
            <a:ext cx="699300" cy="5754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54"/>
          <p:cNvSpPr txBox="1"/>
          <p:nvPr>
            <p:ph idx="1" type="body"/>
          </p:nvPr>
        </p:nvSpPr>
        <p:spPr>
          <a:xfrm>
            <a:off x="324000" y="759300"/>
            <a:ext cx="71352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Arranging the same sequence this way shows us </a:t>
            </a:r>
            <a:r>
              <a:rPr lang="en-GB"/>
              <a:t>something</a:t>
            </a:r>
            <a:r>
              <a:rPr lang="en-GB"/>
              <a:t> about the underlying structure of</a:t>
            </a:r>
            <a:r>
              <a:rPr lang="en-GB"/>
              <a:t> arithmetic sequences.</a:t>
            </a:r>
            <a:endParaRPr/>
          </a:p>
        </p:txBody>
      </p:sp>
      <p:sp>
        <p:nvSpPr>
          <p:cNvPr id="2223" name="Google Shape;2223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pSp>
        <p:nvGrpSpPr>
          <p:cNvPr id="2224" name="Google Shape;2224;p154"/>
          <p:cNvGrpSpPr/>
          <p:nvPr/>
        </p:nvGrpSpPr>
        <p:grpSpPr>
          <a:xfrm>
            <a:off x="7165944" y="4221928"/>
            <a:ext cx="282300" cy="577200"/>
            <a:chOff x="383024" y="1986354"/>
            <a:chExt cx="282300" cy="577200"/>
          </a:xfrm>
        </p:grpSpPr>
        <p:sp>
          <p:nvSpPr>
            <p:cNvPr id="2225" name="Google Shape;2225;p154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6" name="Google Shape;2226;p154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7" name="Google Shape;2227;p154"/>
          <p:cNvGrpSpPr/>
          <p:nvPr/>
        </p:nvGrpSpPr>
        <p:grpSpPr>
          <a:xfrm>
            <a:off x="7170426" y="1270299"/>
            <a:ext cx="282300" cy="882000"/>
            <a:chOff x="5909765" y="3434154"/>
            <a:chExt cx="282300" cy="882000"/>
          </a:xfrm>
        </p:grpSpPr>
        <p:sp>
          <p:nvSpPr>
            <p:cNvPr id="2228" name="Google Shape;2228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9" name="Google Shape;2229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0" name="Google Shape;2230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1" name="Google Shape;2231;p154"/>
          <p:cNvGrpSpPr/>
          <p:nvPr/>
        </p:nvGrpSpPr>
        <p:grpSpPr>
          <a:xfrm>
            <a:off x="7170426" y="2260899"/>
            <a:ext cx="282300" cy="882000"/>
            <a:chOff x="5909765" y="3434154"/>
            <a:chExt cx="282300" cy="882000"/>
          </a:xfrm>
        </p:grpSpPr>
        <p:sp>
          <p:nvSpPr>
            <p:cNvPr id="2232" name="Google Shape;2232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3" name="Google Shape;2233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4" name="Google Shape;2234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5" name="Google Shape;2235;p154"/>
          <p:cNvGrpSpPr/>
          <p:nvPr/>
        </p:nvGrpSpPr>
        <p:grpSpPr>
          <a:xfrm>
            <a:off x="7170426" y="3251499"/>
            <a:ext cx="282300" cy="882000"/>
            <a:chOff x="5909765" y="3434154"/>
            <a:chExt cx="282300" cy="882000"/>
          </a:xfrm>
        </p:grpSpPr>
        <p:sp>
          <p:nvSpPr>
            <p:cNvPr id="2236" name="Google Shape;2236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7" name="Google Shape;2237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8" name="Google Shape;2238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9" name="Google Shape;2239;p154"/>
          <p:cNvGrpSpPr/>
          <p:nvPr/>
        </p:nvGrpSpPr>
        <p:grpSpPr>
          <a:xfrm>
            <a:off x="6784944" y="4221928"/>
            <a:ext cx="282300" cy="577200"/>
            <a:chOff x="383024" y="1986354"/>
            <a:chExt cx="282300" cy="577200"/>
          </a:xfrm>
        </p:grpSpPr>
        <p:sp>
          <p:nvSpPr>
            <p:cNvPr id="2240" name="Google Shape;2240;p154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1" name="Google Shape;2241;p154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2" name="Google Shape;2242;p154"/>
          <p:cNvGrpSpPr/>
          <p:nvPr/>
        </p:nvGrpSpPr>
        <p:grpSpPr>
          <a:xfrm>
            <a:off x="6789426" y="2260899"/>
            <a:ext cx="282300" cy="882000"/>
            <a:chOff x="5909765" y="3434154"/>
            <a:chExt cx="282300" cy="882000"/>
          </a:xfrm>
        </p:grpSpPr>
        <p:sp>
          <p:nvSpPr>
            <p:cNvPr id="2243" name="Google Shape;2243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4" name="Google Shape;2244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5" name="Google Shape;2245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6" name="Google Shape;2246;p154"/>
          <p:cNvGrpSpPr/>
          <p:nvPr/>
        </p:nvGrpSpPr>
        <p:grpSpPr>
          <a:xfrm>
            <a:off x="6789426" y="3251499"/>
            <a:ext cx="282300" cy="882000"/>
            <a:chOff x="5909765" y="3434154"/>
            <a:chExt cx="282300" cy="882000"/>
          </a:xfrm>
        </p:grpSpPr>
        <p:sp>
          <p:nvSpPr>
            <p:cNvPr id="2247" name="Google Shape;2247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8" name="Google Shape;2248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9" name="Google Shape;2249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0" name="Google Shape;2250;p154"/>
          <p:cNvGrpSpPr/>
          <p:nvPr/>
        </p:nvGrpSpPr>
        <p:grpSpPr>
          <a:xfrm>
            <a:off x="6403944" y="4221928"/>
            <a:ext cx="282300" cy="577200"/>
            <a:chOff x="383024" y="1986354"/>
            <a:chExt cx="282300" cy="577200"/>
          </a:xfrm>
        </p:grpSpPr>
        <p:sp>
          <p:nvSpPr>
            <p:cNvPr id="2251" name="Google Shape;2251;p154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2" name="Google Shape;2252;p154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3" name="Google Shape;2253;p154"/>
          <p:cNvGrpSpPr/>
          <p:nvPr/>
        </p:nvGrpSpPr>
        <p:grpSpPr>
          <a:xfrm>
            <a:off x="6408426" y="3251499"/>
            <a:ext cx="282300" cy="882000"/>
            <a:chOff x="5909765" y="3434154"/>
            <a:chExt cx="282300" cy="882000"/>
          </a:xfrm>
        </p:grpSpPr>
        <p:sp>
          <p:nvSpPr>
            <p:cNvPr id="2254" name="Google Shape;2254;p154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5" name="Google Shape;2255;p154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6" name="Google Shape;2256;p154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7" name="Google Shape;2257;p154"/>
          <p:cNvGrpSpPr/>
          <p:nvPr/>
        </p:nvGrpSpPr>
        <p:grpSpPr>
          <a:xfrm>
            <a:off x="6022944" y="4221928"/>
            <a:ext cx="282300" cy="577200"/>
            <a:chOff x="383024" y="1986354"/>
            <a:chExt cx="282300" cy="577200"/>
          </a:xfrm>
        </p:grpSpPr>
        <p:sp>
          <p:nvSpPr>
            <p:cNvPr id="2258" name="Google Shape;2258;p154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9" name="Google Shape;2259;p154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60" name="Google Shape;2260;p154"/>
          <p:cNvCxnSpPr/>
          <p:nvPr/>
        </p:nvCxnSpPr>
        <p:spPr>
          <a:xfrm flipH="1">
            <a:off x="5837035" y="629325"/>
            <a:ext cx="1628100" cy="4165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54"/>
          <p:cNvSpPr txBox="1"/>
          <p:nvPr>
            <p:ph idx="1" type="body"/>
          </p:nvPr>
        </p:nvSpPr>
        <p:spPr>
          <a:xfrm>
            <a:off x="324000" y="2303471"/>
            <a:ext cx="49728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see the constant, additive difference more easily…</a:t>
            </a:r>
            <a:endParaRPr/>
          </a:p>
        </p:txBody>
      </p:sp>
      <p:sp>
        <p:nvSpPr>
          <p:cNvPr id="2262" name="Google Shape;2262;p154"/>
          <p:cNvSpPr txBox="1"/>
          <p:nvPr>
            <p:ph idx="1" type="body"/>
          </p:nvPr>
        </p:nvSpPr>
        <p:spPr>
          <a:xfrm>
            <a:off x="324000" y="3350100"/>
            <a:ext cx="49728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 you</a:t>
            </a:r>
            <a:r>
              <a:rPr lang="en-GB"/>
              <a:t> can see why they are also known as </a:t>
            </a:r>
            <a:r>
              <a:rPr lang="en-GB">
                <a:solidFill>
                  <a:schemeClr val="accent2"/>
                </a:solidFill>
              </a:rPr>
              <a:t>linear</a:t>
            </a:r>
            <a:r>
              <a:rPr lang="en-GB"/>
              <a:t> sequences.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155"/>
          <p:cNvSpPr txBox="1"/>
          <p:nvPr>
            <p:ph idx="1" type="body"/>
          </p:nvPr>
        </p:nvSpPr>
        <p:spPr>
          <a:xfrm>
            <a:off x="324000" y="759300"/>
            <a:ext cx="55131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see this same linear structure if we plotted the sequence graphically.</a:t>
            </a:r>
            <a:endParaRPr/>
          </a:p>
        </p:txBody>
      </p:sp>
      <p:sp>
        <p:nvSpPr>
          <p:cNvPr id="2268" name="Google Shape;2268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pSp>
        <p:nvGrpSpPr>
          <p:cNvPr id="2269" name="Google Shape;2269;p155"/>
          <p:cNvGrpSpPr/>
          <p:nvPr/>
        </p:nvGrpSpPr>
        <p:grpSpPr>
          <a:xfrm>
            <a:off x="7165944" y="4221928"/>
            <a:ext cx="282300" cy="577200"/>
            <a:chOff x="383024" y="1986354"/>
            <a:chExt cx="282300" cy="577200"/>
          </a:xfrm>
        </p:grpSpPr>
        <p:sp>
          <p:nvSpPr>
            <p:cNvPr id="2270" name="Google Shape;2270;p155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1" name="Google Shape;2271;p155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2" name="Google Shape;2272;p155"/>
          <p:cNvGrpSpPr/>
          <p:nvPr/>
        </p:nvGrpSpPr>
        <p:grpSpPr>
          <a:xfrm>
            <a:off x="7170426" y="1270299"/>
            <a:ext cx="282300" cy="882000"/>
            <a:chOff x="5909765" y="3434154"/>
            <a:chExt cx="282300" cy="882000"/>
          </a:xfrm>
        </p:grpSpPr>
        <p:sp>
          <p:nvSpPr>
            <p:cNvPr id="2273" name="Google Shape;2273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4" name="Google Shape;2274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5" name="Google Shape;2275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6" name="Google Shape;2276;p155"/>
          <p:cNvGrpSpPr/>
          <p:nvPr/>
        </p:nvGrpSpPr>
        <p:grpSpPr>
          <a:xfrm>
            <a:off x="7170426" y="2260899"/>
            <a:ext cx="282300" cy="882000"/>
            <a:chOff x="5909765" y="3434154"/>
            <a:chExt cx="282300" cy="882000"/>
          </a:xfrm>
        </p:grpSpPr>
        <p:sp>
          <p:nvSpPr>
            <p:cNvPr id="2277" name="Google Shape;2277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8" name="Google Shape;2278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9" name="Google Shape;2279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0" name="Google Shape;2280;p155"/>
          <p:cNvGrpSpPr/>
          <p:nvPr/>
        </p:nvGrpSpPr>
        <p:grpSpPr>
          <a:xfrm>
            <a:off x="7170426" y="3251499"/>
            <a:ext cx="282300" cy="882000"/>
            <a:chOff x="5909765" y="3434154"/>
            <a:chExt cx="282300" cy="882000"/>
          </a:xfrm>
        </p:grpSpPr>
        <p:sp>
          <p:nvSpPr>
            <p:cNvPr id="2281" name="Google Shape;2281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2" name="Google Shape;2282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3" name="Google Shape;2283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4" name="Google Shape;2284;p155"/>
          <p:cNvGrpSpPr/>
          <p:nvPr/>
        </p:nvGrpSpPr>
        <p:grpSpPr>
          <a:xfrm>
            <a:off x="6784944" y="4221928"/>
            <a:ext cx="282300" cy="577200"/>
            <a:chOff x="383024" y="1986354"/>
            <a:chExt cx="282300" cy="577200"/>
          </a:xfrm>
        </p:grpSpPr>
        <p:sp>
          <p:nvSpPr>
            <p:cNvPr id="2285" name="Google Shape;2285;p155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6" name="Google Shape;2286;p155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7" name="Google Shape;2287;p155"/>
          <p:cNvGrpSpPr/>
          <p:nvPr/>
        </p:nvGrpSpPr>
        <p:grpSpPr>
          <a:xfrm>
            <a:off x="6789426" y="2260899"/>
            <a:ext cx="282300" cy="882000"/>
            <a:chOff x="5909765" y="3434154"/>
            <a:chExt cx="282300" cy="882000"/>
          </a:xfrm>
        </p:grpSpPr>
        <p:sp>
          <p:nvSpPr>
            <p:cNvPr id="2288" name="Google Shape;2288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9" name="Google Shape;2289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0" name="Google Shape;2290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1" name="Google Shape;2291;p155"/>
          <p:cNvGrpSpPr/>
          <p:nvPr/>
        </p:nvGrpSpPr>
        <p:grpSpPr>
          <a:xfrm>
            <a:off x="6789426" y="3251499"/>
            <a:ext cx="282300" cy="882000"/>
            <a:chOff x="5909765" y="3434154"/>
            <a:chExt cx="282300" cy="882000"/>
          </a:xfrm>
        </p:grpSpPr>
        <p:sp>
          <p:nvSpPr>
            <p:cNvPr id="2292" name="Google Shape;2292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3" name="Google Shape;2293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4" name="Google Shape;2294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5" name="Google Shape;2295;p155"/>
          <p:cNvGrpSpPr/>
          <p:nvPr/>
        </p:nvGrpSpPr>
        <p:grpSpPr>
          <a:xfrm>
            <a:off x="6403944" y="4221928"/>
            <a:ext cx="282300" cy="577200"/>
            <a:chOff x="383024" y="1986354"/>
            <a:chExt cx="282300" cy="577200"/>
          </a:xfrm>
        </p:grpSpPr>
        <p:sp>
          <p:nvSpPr>
            <p:cNvPr id="2296" name="Google Shape;2296;p155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7" name="Google Shape;2297;p155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8" name="Google Shape;2298;p155"/>
          <p:cNvGrpSpPr/>
          <p:nvPr/>
        </p:nvGrpSpPr>
        <p:grpSpPr>
          <a:xfrm>
            <a:off x="6408426" y="3251499"/>
            <a:ext cx="282300" cy="882000"/>
            <a:chOff x="5909765" y="3434154"/>
            <a:chExt cx="282300" cy="882000"/>
          </a:xfrm>
        </p:grpSpPr>
        <p:sp>
          <p:nvSpPr>
            <p:cNvPr id="2299" name="Google Shape;2299;p155"/>
            <p:cNvSpPr/>
            <p:nvPr/>
          </p:nvSpPr>
          <p:spPr>
            <a:xfrm>
              <a:off x="5909765" y="3434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0" name="Google Shape;2300;p155"/>
            <p:cNvSpPr/>
            <p:nvPr/>
          </p:nvSpPr>
          <p:spPr>
            <a:xfrm>
              <a:off x="5909765" y="37389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1" name="Google Shape;2301;p155"/>
            <p:cNvSpPr/>
            <p:nvPr/>
          </p:nvSpPr>
          <p:spPr>
            <a:xfrm>
              <a:off x="5909765" y="40437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2" name="Google Shape;2302;p155"/>
          <p:cNvGrpSpPr/>
          <p:nvPr/>
        </p:nvGrpSpPr>
        <p:grpSpPr>
          <a:xfrm>
            <a:off x="6022944" y="4221928"/>
            <a:ext cx="282300" cy="577200"/>
            <a:chOff x="383024" y="1986354"/>
            <a:chExt cx="282300" cy="577200"/>
          </a:xfrm>
        </p:grpSpPr>
        <p:sp>
          <p:nvSpPr>
            <p:cNvPr id="2303" name="Google Shape;2303;p155"/>
            <p:cNvSpPr/>
            <p:nvPr/>
          </p:nvSpPr>
          <p:spPr>
            <a:xfrm>
              <a:off x="383024" y="19863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4" name="Google Shape;2304;p155"/>
            <p:cNvSpPr/>
            <p:nvPr/>
          </p:nvSpPr>
          <p:spPr>
            <a:xfrm>
              <a:off x="383024" y="2291154"/>
              <a:ext cx="282300" cy="272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05" name="Google Shape;2305;p155"/>
          <p:cNvCxnSpPr/>
          <p:nvPr/>
        </p:nvCxnSpPr>
        <p:spPr>
          <a:xfrm flipH="1">
            <a:off x="5837035" y="629325"/>
            <a:ext cx="1628100" cy="4165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06" name="Google Shape;2306;p155"/>
          <p:cNvGraphicFramePr/>
          <p:nvPr/>
        </p:nvGraphicFramePr>
        <p:xfrm>
          <a:off x="531711" y="1842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7" name="Google Shape;2307;p155"/>
          <p:cNvSpPr txBox="1"/>
          <p:nvPr>
            <p:ph idx="1" type="body"/>
          </p:nvPr>
        </p:nvSpPr>
        <p:spPr>
          <a:xfrm>
            <a:off x="324000" y="2816700"/>
            <a:ext cx="54504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by labelling our axes ‘Term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)’ and ‘Term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)’.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156"/>
          <p:cNvSpPr txBox="1"/>
          <p:nvPr>
            <p:ph idx="1" type="body"/>
          </p:nvPr>
        </p:nvSpPr>
        <p:spPr>
          <a:xfrm>
            <a:off x="324000" y="759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see this same linear structure if we plotted the sequence graphically.</a:t>
            </a:r>
            <a:endParaRPr/>
          </a:p>
        </p:txBody>
      </p:sp>
      <p:sp>
        <p:nvSpPr>
          <p:cNvPr id="2313" name="Google Shape;2313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aphicFrame>
        <p:nvGraphicFramePr>
          <p:cNvPr id="2314" name="Google Shape;2314;p156"/>
          <p:cNvGraphicFramePr/>
          <p:nvPr/>
        </p:nvGraphicFramePr>
        <p:xfrm>
          <a:off x="531711" y="1842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5" name="Google Shape;2315;p156"/>
          <p:cNvSpPr txBox="1"/>
          <p:nvPr>
            <p:ph idx="1" type="body"/>
          </p:nvPr>
        </p:nvSpPr>
        <p:spPr>
          <a:xfrm>
            <a:off x="324000" y="2816700"/>
            <a:ext cx="54504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plot these by labelling our axes ‘Term value 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)’ and ‘Term number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)’.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5-01-2024/20bd41fc-9026-43f8-bda6-b0345e8f91f4&quot; data-equatio-type=&quot;desmos&quot;&gt;&lt;mglyph src=&quot;https://equatio-api.texthelp.com/desmos/get/05-01-2024/20bd41fc-9026-43f8-bda6-b0345e8f91f4&quot; alt=&quot;Equatio Desmos Graph&quot;/&gt;&lt;/math&gt;" id="2316" name="Google Shape;2316;p156" title="Equatio Desmos Graph"/>
          <p:cNvPicPr preferRelativeResize="0"/>
          <p:nvPr/>
        </p:nvPicPr>
        <p:blipFill rotWithShape="1">
          <a:blip r:embed="rId3">
            <a:alphaModFix/>
          </a:blip>
          <a:srcRect b="9840" l="9099" r="64479" t="3609"/>
          <a:stretch/>
        </p:blipFill>
        <p:spPr>
          <a:xfrm>
            <a:off x="6463329" y="804136"/>
            <a:ext cx="1542600" cy="37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156"/>
          <p:cNvSpPr txBox="1"/>
          <p:nvPr/>
        </p:nvSpPr>
        <p:spPr>
          <a:xfrm>
            <a:off x="6663063" y="4535168"/>
            <a:ext cx="1889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156"/>
          <p:cNvSpPr txBox="1"/>
          <p:nvPr/>
        </p:nvSpPr>
        <p:spPr>
          <a:xfrm rot="-5400000">
            <a:off x="5464679" y="1437237"/>
            <a:ext cx="1661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57"/>
          <p:cNvSpPr txBox="1"/>
          <p:nvPr>
            <p:ph idx="1" type="body"/>
          </p:nvPr>
        </p:nvSpPr>
        <p:spPr>
          <a:xfrm>
            <a:off x="324000" y="759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see this same linear structure if we plotted the sequence graphically.</a:t>
            </a:r>
            <a:endParaRPr/>
          </a:p>
        </p:txBody>
      </p:sp>
      <p:sp>
        <p:nvSpPr>
          <p:cNvPr id="2324" name="Google Shape;2324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graphicFrame>
        <p:nvGraphicFramePr>
          <p:cNvPr id="2325" name="Google Shape;2325;p157"/>
          <p:cNvGraphicFramePr/>
          <p:nvPr/>
        </p:nvGraphicFramePr>
        <p:xfrm>
          <a:off x="531711" y="1842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05-01-2024/20bd41fc-9026-43f8-bda6-b0345e8f91f4&quot; data-equatio-type=&quot;desmos&quot;&gt;&lt;mglyph src=&quot;https://equatio-api.texthelp.com/desmos/get/05-01-2024/20bd41fc-9026-43f8-bda6-b0345e8f91f4&quot; alt=&quot;Equatio Desmos Graph&quot;/&gt;&lt;/math&gt;" id="2326" name="Google Shape;2326;p157" title="Equatio Desmos Graph"/>
          <p:cNvPicPr preferRelativeResize="0"/>
          <p:nvPr/>
        </p:nvPicPr>
        <p:blipFill rotWithShape="1">
          <a:blip r:embed="rId3">
            <a:alphaModFix/>
          </a:blip>
          <a:srcRect b="9840" l="9099" r="64479" t="3609"/>
          <a:stretch/>
        </p:blipFill>
        <p:spPr>
          <a:xfrm>
            <a:off x="6463329" y="804136"/>
            <a:ext cx="1542600" cy="37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157"/>
          <p:cNvSpPr txBox="1"/>
          <p:nvPr/>
        </p:nvSpPr>
        <p:spPr>
          <a:xfrm>
            <a:off x="6663063" y="4535168"/>
            <a:ext cx="1889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8" name="Google Shape;2328;p157"/>
          <p:cNvSpPr txBox="1"/>
          <p:nvPr/>
        </p:nvSpPr>
        <p:spPr>
          <a:xfrm rot="-5400000">
            <a:off x="5464679" y="1437237"/>
            <a:ext cx="1661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9" name="Google Shape;2329;p157"/>
          <p:cNvCxnSpPr/>
          <p:nvPr/>
        </p:nvCxnSpPr>
        <p:spPr>
          <a:xfrm flipH="1">
            <a:off x="6910625" y="810850"/>
            <a:ext cx="1038600" cy="315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0" name="Google Shape;2330;p157"/>
          <p:cNvSpPr txBox="1"/>
          <p:nvPr>
            <p:ph idx="1" type="body"/>
          </p:nvPr>
        </p:nvSpPr>
        <p:spPr>
          <a:xfrm>
            <a:off x="324000" y="2710244"/>
            <a:ext cx="54504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Whilst we can see that the points align…</a:t>
            </a:r>
            <a:endParaRPr/>
          </a:p>
        </p:txBody>
      </p:sp>
      <p:sp>
        <p:nvSpPr>
          <p:cNvPr id="2331" name="Google Shape;2331;p157"/>
          <p:cNvSpPr txBox="1"/>
          <p:nvPr>
            <p:ph idx="1" type="body"/>
          </p:nvPr>
        </p:nvSpPr>
        <p:spPr>
          <a:xfrm>
            <a:off x="324000" y="3243650"/>
            <a:ext cx="59328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only plot the coordinates, we don’t draw the straight line here, though it’s a nice way to check for a linear sequence.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58"/>
          <p:cNvSpPr txBox="1"/>
          <p:nvPr>
            <p:ph idx="2" type="subTitle"/>
          </p:nvPr>
        </p:nvSpPr>
        <p:spPr>
          <a:xfrm>
            <a:off x="980575" y="30437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10, 16, 22, 28, 34, …</a:t>
            </a:r>
            <a:r>
              <a:rPr lang="en-GB"/>
              <a:t> is an arithmetic sequence therefore linear; the points will align.</a:t>
            </a:r>
            <a:endParaRPr/>
          </a:p>
        </p:txBody>
      </p:sp>
      <p:sp>
        <p:nvSpPr>
          <p:cNvPr id="2337" name="Google Shape;2337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338" name="Google Shape;2338;p158"/>
          <p:cNvSpPr txBox="1"/>
          <p:nvPr>
            <p:ph idx="1" type="subTitle"/>
          </p:nvPr>
        </p:nvSpPr>
        <p:spPr>
          <a:xfrm>
            <a:off x="324000" y="1029574"/>
            <a:ext cx="3228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sequence will plot points in a straight line.</a:t>
            </a:r>
            <a:endParaRPr/>
          </a:p>
        </p:txBody>
      </p:sp>
      <p:sp>
        <p:nvSpPr>
          <p:cNvPr id="2339" name="Google Shape;2339;p158"/>
          <p:cNvSpPr txBox="1"/>
          <p:nvPr>
            <p:ph idx="3" type="subTitle"/>
          </p:nvPr>
        </p:nvSpPr>
        <p:spPr>
          <a:xfrm>
            <a:off x="980575" y="3923800"/>
            <a:ext cx="6516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points could be anywhere. Not necessarily in a straight line.</a:t>
            </a:r>
            <a:endParaRPr/>
          </a:p>
        </p:txBody>
      </p:sp>
      <p:graphicFrame>
        <p:nvGraphicFramePr>
          <p:cNvPr id="2340" name="Google Shape;2340;p158"/>
          <p:cNvGraphicFramePr/>
          <p:nvPr/>
        </p:nvGraphicFramePr>
        <p:xfrm>
          <a:off x="3808311" y="1029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1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41" name="Google Shape;2341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83" y="18228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816" y="3190012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01-2024/e53e0166-6428-4266-aff2-cd9d3a136569&quot; data-equatio-type=&quot;desmos&quot;&gt;&lt;mglyph src=&quot;https://equatio-api.texthelp.com/desmos/get/05-01-2024/e53e0166-6428-4266-aff2-cd9d3a136569&quot; alt=&quot;Equatio Desmos Graph&quot;/&gt;&lt;/math&gt;" id="2347" name="Google Shape;2347;p159" title="Equatio Desmos Graph"/>
          <p:cNvPicPr preferRelativeResize="0"/>
          <p:nvPr/>
        </p:nvPicPr>
        <p:blipFill rotWithShape="1">
          <a:blip r:embed="rId3">
            <a:alphaModFix/>
          </a:blip>
          <a:srcRect b="1661" l="27186" r="47813" t="0"/>
          <a:stretch/>
        </p:blipFill>
        <p:spPr>
          <a:xfrm>
            <a:off x="6496025" y="769650"/>
            <a:ext cx="1426300" cy="3812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159"/>
          <p:cNvSpPr txBox="1"/>
          <p:nvPr>
            <p:ph idx="1" type="body"/>
          </p:nvPr>
        </p:nvSpPr>
        <p:spPr>
          <a:xfrm>
            <a:off x="324000" y="759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Laura are trying to plot the arithmetic sequence starting: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34, 28, 22, 16, 10,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9" name="Google Shape;2349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350" name="Google Shape;2350;p159"/>
          <p:cNvSpPr txBox="1"/>
          <p:nvPr/>
        </p:nvSpPr>
        <p:spPr>
          <a:xfrm>
            <a:off x="6663063" y="4535168"/>
            <a:ext cx="1889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159"/>
          <p:cNvSpPr txBox="1"/>
          <p:nvPr/>
        </p:nvSpPr>
        <p:spPr>
          <a:xfrm rot="-5400000">
            <a:off x="5464679" y="1437237"/>
            <a:ext cx="1661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2" name="Google Shape;2352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35" y="3565137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3" name="Google Shape;2353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128058" y="3754061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4" name="Google Shape;2354;p15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93627" y="2182450"/>
            <a:ext cx="2702648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5" name="Google Shape;2355;p159"/>
          <p:cNvSpPr txBox="1"/>
          <p:nvPr/>
        </p:nvSpPr>
        <p:spPr>
          <a:xfrm flipH="1">
            <a:off x="913500" y="2223225"/>
            <a:ext cx="2379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will have negative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terms so it can’t be plotted.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59"/>
          <p:cNvSpPr txBox="1"/>
          <p:nvPr/>
        </p:nvSpPr>
        <p:spPr>
          <a:xfrm flipH="1">
            <a:off x="1900300" y="3813350"/>
            <a:ext cx="2476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Andeep?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60"/>
          <p:cNvSpPr txBox="1"/>
          <p:nvPr>
            <p:ph idx="1" type="body"/>
          </p:nvPr>
        </p:nvSpPr>
        <p:spPr>
          <a:xfrm>
            <a:off x="324000" y="1521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4, 28, 22, 16, 10,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2" name="Google Shape;2362;p16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1445541" y="3315375"/>
            <a:ext cx="3722849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160"/>
          <p:cNvSpPr txBox="1"/>
          <p:nvPr/>
        </p:nvSpPr>
        <p:spPr>
          <a:xfrm flipH="1">
            <a:off x="1567700" y="3366225"/>
            <a:ext cx="33156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are right, there will be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negative terms.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1-2024/e53e0166-6428-4266-aff2-cd9d3a136569&quot; data-equatio-type=&quot;desmos&quot;&gt;&lt;mglyph src=&quot;https://equatio-api.texthelp.com/desmos/get/05-01-2024/e53e0166-6428-4266-aff2-cd9d3a136569&quot; alt=&quot;Equatio Desmos Graph&quot;/&gt;&lt;/math&gt;" id="2364" name="Google Shape;2364;p160" title="Equatio Desmos Graph"/>
          <p:cNvPicPr preferRelativeResize="0"/>
          <p:nvPr/>
        </p:nvPicPr>
        <p:blipFill rotWithShape="1">
          <a:blip r:embed="rId4">
            <a:alphaModFix/>
          </a:blip>
          <a:srcRect b="1661" l="27186" r="47813" t="0"/>
          <a:stretch/>
        </p:blipFill>
        <p:spPr>
          <a:xfrm>
            <a:off x="6496025" y="769650"/>
            <a:ext cx="1426300" cy="3812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160"/>
          <p:cNvSpPr txBox="1"/>
          <p:nvPr>
            <p:ph idx="1" type="body"/>
          </p:nvPr>
        </p:nvSpPr>
        <p:spPr>
          <a:xfrm>
            <a:off x="324000" y="759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Laura are trying to plot the arithmetic sequence starting: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6" name="Google Shape;2366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367" name="Google Shape;2367;p160"/>
          <p:cNvSpPr txBox="1"/>
          <p:nvPr/>
        </p:nvSpPr>
        <p:spPr>
          <a:xfrm>
            <a:off x="6663063" y="4535168"/>
            <a:ext cx="1889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160"/>
          <p:cNvSpPr txBox="1"/>
          <p:nvPr/>
        </p:nvSpPr>
        <p:spPr>
          <a:xfrm rot="-5400000">
            <a:off x="5464679" y="1437237"/>
            <a:ext cx="1661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9" name="Google Shape;2369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5735" y="3565137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0" name="Google Shape;2370;p1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128058" y="3754061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1" name="Google Shape;2371;p16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93627" y="2182450"/>
            <a:ext cx="2702648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2" name="Google Shape;2372;p160"/>
          <p:cNvSpPr txBox="1"/>
          <p:nvPr/>
        </p:nvSpPr>
        <p:spPr>
          <a:xfrm flipH="1">
            <a:off x="913500" y="2223225"/>
            <a:ext cx="2379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will have negative terms so it can’t be plotted.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160"/>
          <p:cNvSpPr txBox="1"/>
          <p:nvPr/>
        </p:nvSpPr>
        <p:spPr>
          <a:xfrm flipH="1">
            <a:off x="1567700" y="3346043"/>
            <a:ext cx="3315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are right, there will be negative terms. But, we can plot those in the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quadrant.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160"/>
          <p:cNvSpPr txBox="1"/>
          <p:nvPr>
            <p:ph idx="1" type="body"/>
          </p:nvPr>
        </p:nvSpPr>
        <p:spPr>
          <a:xfrm>
            <a:off x="324000" y="1521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34, 28, 22, 16, 10, 4, −2, −8, −14,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161"/>
          <p:cNvSpPr txBox="1"/>
          <p:nvPr/>
        </p:nvSpPr>
        <p:spPr>
          <a:xfrm flipH="1">
            <a:off x="1567700" y="3346043"/>
            <a:ext cx="3315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are right, there will be negative terms. But, we can plot those in the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quadrant.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0" name="Google Shape;2380;p161"/>
          <p:cNvSpPr txBox="1"/>
          <p:nvPr>
            <p:ph idx="1" type="body"/>
          </p:nvPr>
        </p:nvSpPr>
        <p:spPr>
          <a:xfrm>
            <a:off x="324000" y="1521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34, 28, 22, 16, 10, 4, −2, −8, −14,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1" name="Google Shape;2381;p16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1445541" y="3315375"/>
            <a:ext cx="3722849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61"/>
          <p:cNvSpPr txBox="1"/>
          <p:nvPr>
            <p:ph idx="1" type="body"/>
          </p:nvPr>
        </p:nvSpPr>
        <p:spPr>
          <a:xfrm>
            <a:off x="324000" y="759300"/>
            <a:ext cx="5517300" cy="3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Laura are trying to plot the arithmetic sequence starting: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3" name="Google Shape;2383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384" name="Google Shape;2384;p161"/>
          <p:cNvSpPr txBox="1"/>
          <p:nvPr/>
        </p:nvSpPr>
        <p:spPr>
          <a:xfrm rot="-5400000">
            <a:off x="5464679" y="1437237"/>
            <a:ext cx="1661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5" name="Google Shape;2385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35" y="3565137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128058" y="3754061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16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36526" y="2182450"/>
            <a:ext cx="3217224" cy="1255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161"/>
          <p:cNvSpPr txBox="1"/>
          <p:nvPr/>
        </p:nvSpPr>
        <p:spPr>
          <a:xfrm flipH="1">
            <a:off x="798388" y="2223225"/>
            <a:ext cx="2832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can be plotted! We just use the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quadrant. Thanks Laura!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01-2024/1646929d-751b-4713-a858-b073beafd588&quot; data-equatio-type=&quot;desmos&quot;&gt;&lt;mglyph src=&quot;https://equatio-api.texthelp.com/desmos/get/05-01-2024/1646929d-751b-4713-a858-b073beafd588&quot; alt=&quot;Equatio Desmos Graph&quot;/&gt;&lt;/math&gt;" id="2389" name="Google Shape;2389;p161" title="Equatio Desmos Graph"/>
          <p:cNvPicPr preferRelativeResize="0"/>
          <p:nvPr/>
        </p:nvPicPr>
        <p:blipFill rotWithShape="1">
          <a:blip r:embed="rId6">
            <a:alphaModFix/>
          </a:blip>
          <a:srcRect b="0" l="22336" r="51341" t="0"/>
          <a:stretch/>
        </p:blipFill>
        <p:spPr>
          <a:xfrm>
            <a:off x="6458300" y="753825"/>
            <a:ext cx="1346384" cy="38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0" name="Google Shape;2390;p161"/>
          <p:cNvSpPr txBox="1"/>
          <p:nvPr/>
        </p:nvSpPr>
        <p:spPr>
          <a:xfrm>
            <a:off x="7882274" y="3011175"/>
            <a:ext cx="937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1" name="Google Shape;2391;p161"/>
          <p:cNvSpPr/>
          <p:nvPr/>
        </p:nvSpPr>
        <p:spPr>
          <a:xfrm>
            <a:off x="6698650" y="3422950"/>
            <a:ext cx="1183500" cy="121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2" name="Google Shape;2392;p161"/>
          <p:cNvCxnSpPr/>
          <p:nvPr/>
        </p:nvCxnSpPr>
        <p:spPr>
          <a:xfrm flipH="1">
            <a:off x="6638025" y="750350"/>
            <a:ext cx="10200" cy="384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161"/>
          <p:cNvCxnSpPr/>
          <p:nvPr/>
        </p:nvCxnSpPr>
        <p:spPr>
          <a:xfrm flipH="1">
            <a:off x="6416325" y="3382600"/>
            <a:ext cx="1391700" cy="1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62"/>
          <p:cNvSpPr txBox="1"/>
          <p:nvPr>
            <p:ph idx="2" type="subTitle"/>
          </p:nvPr>
        </p:nvSpPr>
        <p:spPr>
          <a:xfrm>
            <a:off x="980575" y="3043725"/>
            <a:ext cx="52761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values of an a</a:t>
            </a:r>
            <a:r>
              <a:rPr lang="en-GB"/>
              <a:t>rithmetic sequence have to be positive in order to plot it.</a:t>
            </a:r>
            <a:endParaRPr/>
          </a:p>
        </p:txBody>
      </p:sp>
      <p:sp>
        <p:nvSpPr>
          <p:cNvPr id="2399" name="Google Shape;2399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400" name="Google Shape;2400;p162"/>
          <p:cNvSpPr txBox="1"/>
          <p:nvPr>
            <p:ph idx="1" type="subTitle"/>
          </p:nvPr>
        </p:nvSpPr>
        <p:spPr>
          <a:xfrm>
            <a:off x="324000" y="1029575"/>
            <a:ext cx="7635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negative terms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−13,−8,−3, 2, 7 …</a:t>
            </a:r>
            <a:r>
              <a:rPr lang="en-GB"/>
              <a:t> can not be plotted.</a:t>
            </a:r>
            <a:endParaRPr/>
          </a:p>
        </p:txBody>
      </p:sp>
      <p:sp>
        <p:nvSpPr>
          <p:cNvPr id="2401" name="Google Shape;2401;p162"/>
          <p:cNvSpPr txBox="1"/>
          <p:nvPr>
            <p:ph idx="3" type="subTitle"/>
          </p:nvPr>
        </p:nvSpPr>
        <p:spPr>
          <a:xfrm>
            <a:off x="980575" y="3986600"/>
            <a:ext cx="65166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can be plotted using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quadrant.</a:t>
            </a:r>
            <a:endParaRPr/>
          </a:p>
        </p:txBody>
      </p:sp>
      <p:pic>
        <p:nvPicPr>
          <p:cNvPr id="2402" name="Google Shape;2402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82289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3" name="Google Shape;2403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6701" y="400804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01-2024/1c574918-480d-49da-bf08-aa223c9bb613&quot; data-equatio-type=&quot;desmos&quot;&gt;&lt;mglyph src=&quot;https://equatio-api.texthelp.com/desmos/get/05-01-2024/1c574918-480d-49da-bf08-aa223c9bb613&quot; alt=&quot;Equatio Desmos Graph&quot;/&gt;&lt;/math&gt;" id="2404" name="Google Shape;2404;p162" title="Equatio Desmos Graph"/>
          <p:cNvPicPr preferRelativeResize="0"/>
          <p:nvPr/>
        </p:nvPicPr>
        <p:blipFill rotWithShape="1">
          <a:blip r:embed="rId4">
            <a:alphaModFix/>
          </a:blip>
          <a:srcRect b="0" l="10753" r="59645" t="0"/>
          <a:stretch/>
        </p:blipFill>
        <p:spPr>
          <a:xfrm>
            <a:off x="7479696" y="1010771"/>
            <a:ext cx="1346376" cy="3411268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162"/>
          <p:cNvSpPr txBox="1"/>
          <p:nvPr/>
        </p:nvSpPr>
        <p:spPr>
          <a:xfrm>
            <a:off x="7583646" y="660606"/>
            <a:ext cx="207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6" name="Google Shape;2406;p162"/>
          <p:cNvSpPr txBox="1"/>
          <p:nvPr/>
        </p:nvSpPr>
        <p:spPr>
          <a:xfrm>
            <a:off x="8916846" y="2408092"/>
            <a:ext cx="207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7" name="Google Shape;2407;p162"/>
          <p:cNvCxnSpPr/>
          <p:nvPr/>
        </p:nvCxnSpPr>
        <p:spPr>
          <a:xfrm flipH="1">
            <a:off x="7679046" y="999121"/>
            <a:ext cx="10200" cy="3411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8" name="Google Shape;2408;p162"/>
          <p:cNvCxnSpPr/>
          <p:nvPr/>
        </p:nvCxnSpPr>
        <p:spPr>
          <a:xfrm flipH="1">
            <a:off x="7454246" y="2593821"/>
            <a:ext cx="1433700" cy="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163"/>
          <p:cNvSpPr txBox="1"/>
          <p:nvPr>
            <p:ph idx="1" type="body"/>
          </p:nvPr>
        </p:nvSpPr>
        <p:spPr>
          <a:xfrm>
            <a:off x="324000" y="759300"/>
            <a:ext cx="71352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Draw a visual representation for </a:t>
            </a:r>
            <a:r>
              <a:rPr lang="en-GB"/>
              <a:t>the</a:t>
            </a:r>
            <a:r>
              <a:rPr lang="en-GB"/>
              <a:t> first five terms of these sequences:</a:t>
            </a:r>
            <a:endParaRPr/>
          </a:p>
        </p:txBody>
      </p:sp>
      <p:sp>
        <p:nvSpPr>
          <p:cNvPr id="2414" name="Google Shape;2414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415" name="Google Shape;2415;p163"/>
          <p:cNvSpPr txBox="1"/>
          <p:nvPr>
            <p:ph idx="1" type="body"/>
          </p:nvPr>
        </p:nvSpPr>
        <p:spPr>
          <a:xfrm>
            <a:off x="324000" y="1531385"/>
            <a:ext cx="2502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5, 7, 9, 11,13, …</a:t>
            </a:r>
            <a:endParaRPr/>
          </a:p>
        </p:txBody>
      </p:sp>
      <p:sp>
        <p:nvSpPr>
          <p:cNvPr id="2416" name="Google Shape;2416;p163"/>
          <p:cNvSpPr txBox="1"/>
          <p:nvPr>
            <p:ph idx="1" type="body"/>
          </p:nvPr>
        </p:nvSpPr>
        <p:spPr>
          <a:xfrm>
            <a:off x="3372000" y="1531375"/>
            <a:ext cx="23484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21,17,13, 9, 5</a:t>
            </a:r>
            <a:endParaRPr/>
          </a:p>
        </p:txBody>
      </p:sp>
      <p:sp>
        <p:nvSpPr>
          <p:cNvPr id="2417" name="Google Shape;2417;p163"/>
          <p:cNvSpPr txBox="1"/>
          <p:nvPr>
            <p:ph idx="1" type="body"/>
          </p:nvPr>
        </p:nvSpPr>
        <p:spPr>
          <a:xfrm>
            <a:off x="6237344" y="1531385"/>
            <a:ext cx="13608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01-2024/8782b227-6c92-4173-b6f6-6c20277c5614&quot; data-equatio-type=&quot;desmos&quot;&gt;&lt;mglyph src=&quot;https://equatio-api.texthelp.com/desmos/get/05-01-2024/8782b227-6c92-4173-b6f6-6c20277c5614&quot; alt=&quot;Equatio Desmos Graph&quot;/&gt;&lt;/math&gt;" id="2422" name="Google Shape;2422;p164" title="Equatio Desmos Graph"/>
          <p:cNvPicPr preferRelativeResize="0"/>
          <p:nvPr/>
        </p:nvPicPr>
        <p:blipFill rotWithShape="1">
          <a:blip r:embed="rId3">
            <a:alphaModFix/>
          </a:blip>
          <a:srcRect b="0" l="6226" r="67532" t="0"/>
          <a:stretch/>
        </p:blipFill>
        <p:spPr>
          <a:xfrm>
            <a:off x="6896815" y="767729"/>
            <a:ext cx="1415700" cy="4046318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164"/>
          <p:cNvSpPr txBox="1"/>
          <p:nvPr>
            <p:ph idx="1" type="body"/>
          </p:nvPr>
        </p:nvSpPr>
        <p:spPr>
          <a:xfrm>
            <a:off x="324000" y="759300"/>
            <a:ext cx="71352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Plot the first five terms of these sequences:</a:t>
            </a:r>
            <a:endParaRPr/>
          </a:p>
        </p:txBody>
      </p:sp>
      <p:sp>
        <p:nvSpPr>
          <p:cNvPr id="2424" name="Google Shape;2424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425" name="Google Shape;2425;p164"/>
          <p:cNvSpPr txBox="1"/>
          <p:nvPr>
            <p:ph idx="1" type="body"/>
          </p:nvPr>
        </p:nvSpPr>
        <p:spPr>
          <a:xfrm>
            <a:off x="324000" y="1120125"/>
            <a:ext cx="12666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426" name="Google Shape;2426;p164"/>
          <p:cNvSpPr txBox="1"/>
          <p:nvPr>
            <p:ph idx="1" type="body"/>
          </p:nvPr>
        </p:nvSpPr>
        <p:spPr>
          <a:xfrm>
            <a:off x="4565426" y="1120119"/>
            <a:ext cx="1452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graphicFrame>
        <p:nvGraphicFramePr>
          <p:cNvPr id="2427" name="Google Shape;2427;p164"/>
          <p:cNvGraphicFramePr/>
          <p:nvPr/>
        </p:nvGraphicFramePr>
        <p:xfrm>
          <a:off x="321210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9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8" name="Google Shape;2428;p164"/>
          <p:cNvSpPr txBox="1"/>
          <p:nvPr/>
        </p:nvSpPr>
        <p:spPr>
          <a:xfrm>
            <a:off x="2384487" y="1198164"/>
            <a:ext cx="168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9" name="Google Shape;2429;p164"/>
          <p:cNvSpPr txBox="1"/>
          <p:nvPr/>
        </p:nvSpPr>
        <p:spPr>
          <a:xfrm>
            <a:off x="3890386" y="4476953"/>
            <a:ext cx="168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0" name="Google Shape;2430;p164"/>
          <p:cNvGrpSpPr/>
          <p:nvPr/>
        </p:nvGrpSpPr>
        <p:grpSpPr>
          <a:xfrm>
            <a:off x="2588000" y="1169675"/>
            <a:ext cx="1266600" cy="3631550"/>
            <a:chOff x="2588000" y="1169675"/>
            <a:chExt cx="1266600" cy="3631550"/>
          </a:xfrm>
        </p:grpSpPr>
        <p:pic>
          <p:nvPicPr>
            <p:cNvPr descr="&lt;math xmlns=&quot;http://www.w3.org/1998/Math/MathML&quot; data-is-equatio=&quot;1&quot; data-equatio-url=&quot;https://equatio-api.texthelp.com/desmos/get/05-01-2024/bca3a862-3dc4-4da1-b1be-fb5d6b24a5a3&quot; data-equatio-type=&quot;desmos&quot;&gt;&lt;mglyph src=&quot;https://equatio-api.texthelp.com/desmos/get/05-01-2024/bca3a862-3dc4-4da1-b1be-fb5d6b24a5a3&quot; alt=&quot;Equatio Desmos Graph&quot;/&gt;&lt;/math&gt;" id="2431" name="Google Shape;2431;p164" title="Equatio Desmos Graph"/>
            <p:cNvPicPr preferRelativeResize="0"/>
            <p:nvPr/>
          </p:nvPicPr>
          <p:blipFill rotWithShape="1">
            <a:blip r:embed="rId4">
              <a:alphaModFix/>
            </a:blip>
            <a:srcRect b="0" l="12319" r="61929" t="0"/>
            <a:stretch/>
          </p:blipFill>
          <p:spPr>
            <a:xfrm>
              <a:off x="2588000" y="1173925"/>
              <a:ext cx="1266600" cy="36273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32" name="Google Shape;2432;p164"/>
            <p:cNvCxnSpPr/>
            <p:nvPr/>
          </p:nvCxnSpPr>
          <p:spPr>
            <a:xfrm>
              <a:off x="2780350" y="1169675"/>
              <a:ext cx="4500" cy="3627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3" name="Google Shape;2433;p164"/>
            <p:cNvCxnSpPr/>
            <p:nvPr/>
          </p:nvCxnSpPr>
          <p:spPr>
            <a:xfrm rot="10800000">
              <a:off x="2598027" y="4593801"/>
              <a:ext cx="1254900" cy="2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434" name="Google Shape;2434;p164"/>
          <p:cNvCxnSpPr/>
          <p:nvPr/>
        </p:nvCxnSpPr>
        <p:spPr>
          <a:xfrm flipH="1">
            <a:off x="7059147" y="857275"/>
            <a:ext cx="7500" cy="394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164"/>
          <p:cNvCxnSpPr/>
          <p:nvPr/>
        </p:nvCxnSpPr>
        <p:spPr>
          <a:xfrm rot="10800000">
            <a:off x="6897230" y="3147162"/>
            <a:ext cx="1415700" cy="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6" name="Google Shape;2436;p164"/>
          <p:cNvSpPr txBox="1"/>
          <p:nvPr/>
        </p:nvSpPr>
        <p:spPr>
          <a:xfrm>
            <a:off x="6702875" y="810000"/>
            <a:ext cx="1983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164"/>
          <p:cNvSpPr txBox="1"/>
          <p:nvPr/>
        </p:nvSpPr>
        <p:spPr>
          <a:xfrm>
            <a:off x="8376733" y="2930981"/>
            <a:ext cx="1983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8" name="Google Shape;2438;p164"/>
          <p:cNvSpPr/>
          <p:nvPr/>
        </p:nvSpPr>
        <p:spPr>
          <a:xfrm>
            <a:off x="6879208" y="3063952"/>
            <a:ext cx="63600" cy="19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39" name="Google Shape;2439;p164"/>
          <p:cNvGraphicFramePr/>
          <p:nvPr/>
        </p:nvGraphicFramePr>
        <p:xfrm>
          <a:off x="4588410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9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165"/>
          <p:cNvSpPr txBox="1"/>
          <p:nvPr>
            <p:ph idx="1" type="body"/>
          </p:nvPr>
        </p:nvSpPr>
        <p:spPr>
          <a:xfrm>
            <a:off x="324000" y="759300"/>
            <a:ext cx="82203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Draw a visual representation for the first five terms of these sequences:</a:t>
            </a:r>
            <a:endParaRPr/>
          </a:p>
        </p:txBody>
      </p:sp>
      <p:sp>
        <p:nvSpPr>
          <p:cNvPr id="2445" name="Google Shape;2445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446" name="Google Shape;2446;p165"/>
          <p:cNvSpPr txBox="1"/>
          <p:nvPr>
            <p:ph idx="1" type="body"/>
          </p:nvPr>
        </p:nvSpPr>
        <p:spPr>
          <a:xfrm>
            <a:off x="324000" y="1531385"/>
            <a:ext cx="2502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5, 7, 9, 11,13, …</a:t>
            </a:r>
            <a:endParaRPr/>
          </a:p>
        </p:txBody>
      </p:sp>
      <p:sp>
        <p:nvSpPr>
          <p:cNvPr id="2447" name="Google Shape;2447;p165"/>
          <p:cNvSpPr txBox="1"/>
          <p:nvPr>
            <p:ph idx="1" type="body"/>
          </p:nvPr>
        </p:nvSpPr>
        <p:spPr>
          <a:xfrm>
            <a:off x="3372000" y="1531375"/>
            <a:ext cx="23484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,10, 7, 4, 1</a:t>
            </a:r>
            <a:endParaRPr/>
          </a:p>
        </p:txBody>
      </p:sp>
      <p:sp>
        <p:nvSpPr>
          <p:cNvPr id="2448" name="Google Shape;2448;p165"/>
          <p:cNvSpPr txBox="1"/>
          <p:nvPr>
            <p:ph idx="1" type="body"/>
          </p:nvPr>
        </p:nvSpPr>
        <p:spPr>
          <a:xfrm>
            <a:off x="6237344" y="1531385"/>
            <a:ext cx="13608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sp>
        <p:nvSpPr>
          <p:cNvPr id="2449" name="Google Shape;2449;p165"/>
          <p:cNvSpPr txBox="1"/>
          <p:nvPr>
            <p:ph idx="1" type="body"/>
          </p:nvPr>
        </p:nvSpPr>
        <p:spPr>
          <a:xfrm>
            <a:off x="324000" y="1978500"/>
            <a:ext cx="20514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Examples of what they might look like: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50" name="Google Shape;2450;p165"/>
          <p:cNvGrpSpPr/>
          <p:nvPr/>
        </p:nvGrpSpPr>
        <p:grpSpPr>
          <a:xfrm>
            <a:off x="1643666" y="3708731"/>
            <a:ext cx="207497" cy="1080175"/>
            <a:chOff x="1643666" y="3708731"/>
            <a:chExt cx="207497" cy="1080175"/>
          </a:xfrm>
        </p:grpSpPr>
        <p:grpSp>
          <p:nvGrpSpPr>
            <p:cNvPr id="2451" name="Google Shape;2451;p165"/>
            <p:cNvGrpSpPr/>
            <p:nvPr/>
          </p:nvGrpSpPr>
          <p:grpSpPr>
            <a:xfrm>
              <a:off x="1643666" y="4370840"/>
              <a:ext cx="204470" cy="418066"/>
              <a:chOff x="383024" y="1986354"/>
              <a:chExt cx="282300" cy="577200"/>
            </a:xfrm>
          </p:grpSpPr>
          <p:sp>
            <p:nvSpPr>
              <p:cNvPr id="2452" name="Google Shape;2452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3" name="Google Shape;2453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54" name="Google Shape;2454;p165"/>
            <p:cNvGrpSpPr/>
            <p:nvPr/>
          </p:nvGrpSpPr>
          <p:grpSpPr>
            <a:xfrm>
              <a:off x="1646693" y="3708731"/>
              <a:ext cx="204470" cy="638833"/>
              <a:chOff x="5909765" y="3434154"/>
              <a:chExt cx="282300" cy="882000"/>
            </a:xfrm>
          </p:grpSpPr>
          <p:sp>
            <p:nvSpPr>
              <p:cNvPr id="2455" name="Google Shape;2455;p165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6" name="Google Shape;2456;p165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57" name="Google Shape;2457;p165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458" name="Google Shape;2458;p165"/>
          <p:cNvGrpSpPr/>
          <p:nvPr/>
        </p:nvGrpSpPr>
        <p:grpSpPr>
          <a:xfrm>
            <a:off x="1896857" y="3266301"/>
            <a:ext cx="207497" cy="1522605"/>
            <a:chOff x="1896857" y="3266301"/>
            <a:chExt cx="207497" cy="1522605"/>
          </a:xfrm>
        </p:grpSpPr>
        <p:grpSp>
          <p:nvGrpSpPr>
            <p:cNvPr id="2459" name="Google Shape;2459;p165"/>
            <p:cNvGrpSpPr/>
            <p:nvPr/>
          </p:nvGrpSpPr>
          <p:grpSpPr>
            <a:xfrm>
              <a:off x="1896857" y="4370840"/>
              <a:ext cx="204470" cy="418066"/>
              <a:chOff x="383024" y="1986354"/>
              <a:chExt cx="282300" cy="577200"/>
            </a:xfrm>
          </p:grpSpPr>
          <p:sp>
            <p:nvSpPr>
              <p:cNvPr id="2460" name="Google Shape;2460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1" name="Google Shape;2461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62" name="Google Shape;2462;p165"/>
            <p:cNvGrpSpPr/>
            <p:nvPr/>
          </p:nvGrpSpPr>
          <p:grpSpPr>
            <a:xfrm>
              <a:off x="1899884" y="3708731"/>
              <a:ext cx="204470" cy="638833"/>
              <a:chOff x="5909765" y="3434154"/>
              <a:chExt cx="282300" cy="882000"/>
            </a:xfrm>
          </p:grpSpPr>
          <p:sp>
            <p:nvSpPr>
              <p:cNvPr id="2463" name="Google Shape;2463;p165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4" name="Google Shape;2464;p165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5" name="Google Shape;2465;p165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66" name="Google Shape;2466;p165"/>
            <p:cNvGrpSpPr/>
            <p:nvPr/>
          </p:nvGrpSpPr>
          <p:grpSpPr>
            <a:xfrm>
              <a:off x="1896857" y="3266301"/>
              <a:ext cx="204470" cy="418066"/>
              <a:chOff x="383024" y="1986354"/>
              <a:chExt cx="282300" cy="577200"/>
            </a:xfrm>
          </p:grpSpPr>
          <p:sp>
            <p:nvSpPr>
              <p:cNvPr id="2467" name="Google Shape;2467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8" name="Google Shape;2468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469" name="Google Shape;2469;p165"/>
          <p:cNvGrpSpPr/>
          <p:nvPr/>
        </p:nvGrpSpPr>
        <p:grpSpPr>
          <a:xfrm>
            <a:off x="2155322" y="2826385"/>
            <a:ext cx="207497" cy="1962521"/>
            <a:chOff x="2155322" y="2826385"/>
            <a:chExt cx="207497" cy="1962521"/>
          </a:xfrm>
        </p:grpSpPr>
        <p:grpSp>
          <p:nvGrpSpPr>
            <p:cNvPr id="2470" name="Google Shape;2470;p165"/>
            <p:cNvGrpSpPr/>
            <p:nvPr/>
          </p:nvGrpSpPr>
          <p:grpSpPr>
            <a:xfrm>
              <a:off x="2158350" y="3708731"/>
              <a:ext cx="204470" cy="638833"/>
              <a:chOff x="5909765" y="3434154"/>
              <a:chExt cx="282300" cy="882000"/>
            </a:xfrm>
          </p:grpSpPr>
          <p:sp>
            <p:nvSpPr>
              <p:cNvPr id="2471" name="Google Shape;2471;p165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72" name="Google Shape;2472;p165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73" name="Google Shape;2473;p165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74" name="Google Shape;2474;p165"/>
            <p:cNvGrpSpPr/>
            <p:nvPr/>
          </p:nvGrpSpPr>
          <p:grpSpPr>
            <a:xfrm>
              <a:off x="2155322" y="3266301"/>
              <a:ext cx="204470" cy="418066"/>
              <a:chOff x="383024" y="1986354"/>
              <a:chExt cx="282300" cy="577200"/>
            </a:xfrm>
          </p:grpSpPr>
          <p:sp>
            <p:nvSpPr>
              <p:cNvPr id="2475" name="Google Shape;2475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76" name="Google Shape;2476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77" name="Google Shape;2477;p165"/>
            <p:cNvGrpSpPr/>
            <p:nvPr/>
          </p:nvGrpSpPr>
          <p:grpSpPr>
            <a:xfrm>
              <a:off x="2155322" y="4370840"/>
              <a:ext cx="204470" cy="418066"/>
              <a:chOff x="383024" y="1986354"/>
              <a:chExt cx="282300" cy="577200"/>
            </a:xfrm>
          </p:grpSpPr>
          <p:sp>
            <p:nvSpPr>
              <p:cNvPr id="2478" name="Google Shape;2478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79" name="Google Shape;2479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80" name="Google Shape;2480;p165"/>
            <p:cNvGrpSpPr/>
            <p:nvPr/>
          </p:nvGrpSpPr>
          <p:grpSpPr>
            <a:xfrm>
              <a:off x="2155322" y="2826385"/>
              <a:ext cx="204470" cy="418066"/>
              <a:chOff x="383024" y="1986354"/>
              <a:chExt cx="282300" cy="577200"/>
            </a:xfrm>
          </p:grpSpPr>
          <p:sp>
            <p:nvSpPr>
              <p:cNvPr id="2481" name="Google Shape;2481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2" name="Google Shape;2482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483" name="Google Shape;2483;p165"/>
          <p:cNvGrpSpPr/>
          <p:nvPr/>
        </p:nvGrpSpPr>
        <p:grpSpPr>
          <a:xfrm>
            <a:off x="2413788" y="2381193"/>
            <a:ext cx="207497" cy="2407713"/>
            <a:chOff x="2413788" y="2381193"/>
            <a:chExt cx="207497" cy="2407713"/>
          </a:xfrm>
        </p:grpSpPr>
        <p:grpSp>
          <p:nvGrpSpPr>
            <p:cNvPr id="2484" name="Google Shape;2484;p165"/>
            <p:cNvGrpSpPr/>
            <p:nvPr/>
          </p:nvGrpSpPr>
          <p:grpSpPr>
            <a:xfrm>
              <a:off x="2416816" y="3708731"/>
              <a:ext cx="204470" cy="638833"/>
              <a:chOff x="5909765" y="3434154"/>
              <a:chExt cx="282300" cy="882000"/>
            </a:xfrm>
          </p:grpSpPr>
          <p:sp>
            <p:nvSpPr>
              <p:cNvPr id="2485" name="Google Shape;2485;p165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6" name="Google Shape;2486;p165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87" name="Google Shape;2487;p165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88" name="Google Shape;2488;p165"/>
            <p:cNvGrpSpPr/>
            <p:nvPr/>
          </p:nvGrpSpPr>
          <p:grpSpPr>
            <a:xfrm>
              <a:off x="2413788" y="3266301"/>
              <a:ext cx="204470" cy="418066"/>
              <a:chOff x="383024" y="1986354"/>
              <a:chExt cx="282300" cy="577200"/>
            </a:xfrm>
          </p:grpSpPr>
          <p:sp>
            <p:nvSpPr>
              <p:cNvPr id="2489" name="Google Shape;2489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0" name="Google Shape;2490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91" name="Google Shape;2491;p165"/>
            <p:cNvGrpSpPr/>
            <p:nvPr/>
          </p:nvGrpSpPr>
          <p:grpSpPr>
            <a:xfrm>
              <a:off x="2413788" y="4370840"/>
              <a:ext cx="204470" cy="418066"/>
              <a:chOff x="383024" y="1986354"/>
              <a:chExt cx="282300" cy="577200"/>
            </a:xfrm>
          </p:grpSpPr>
          <p:sp>
            <p:nvSpPr>
              <p:cNvPr id="2492" name="Google Shape;2492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3" name="Google Shape;2493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94" name="Google Shape;2494;p165"/>
            <p:cNvGrpSpPr/>
            <p:nvPr/>
          </p:nvGrpSpPr>
          <p:grpSpPr>
            <a:xfrm>
              <a:off x="2413788" y="2826385"/>
              <a:ext cx="204470" cy="418066"/>
              <a:chOff x="383024" y="1986354"/>
              <a:chExt cx="282300" cy="577200"/>
            </a:xfrm>
          </p:grpSpPr>
          <p:sp>
            <p:nvSpPr>
              <p:cNvPr id="2495" name="Google Shape;2495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6" name="Google Shape;2496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97" name="Google Shape;2497;p165"/>
            <p:cNvGrpSpPr/>
            <p:nvPr/>
          </p:nvGrpSpPr>
          <p:grpSpPr>
            <a:xfrm>
              <a:off x="2413788" y="2381193"/>
              <a:ext cx="204470" cy="418066"/>
              <a:chOff x="383024" y="1986354"/>
              <a:chExt cx="282300" cy="577200"/>
            </a:xfrm>
          </p:grpSpPr>
          <p:sp>
            <p:nvSpPr>
              <p:cNvPr id="2498" name="Google Shape;2498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9" name="Google Shape;2499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500" name="Google Shape;2500;p165"/>
          <p:cNvGrpSpPr/>
          <p:nvPr/>
        </p:nvGrpSpPr>
        <p:grpSpPr>
          <a:xfrm>
            <a:off x="2676474" y="1936002"/>
            <a:ext cx="207497" cy="2852904"/>
            <a:chOff x="2676474" y="1936002"/>
            <a:chExt cx="207497" cy="2852904"/>
          </a:xfrm>
        </p:grpSpPr>
        <p:grpSp>
          <p:nvGrpSpPr>
            <p:cNvPr id="2501" name="Google Shape;2501;p165"/>
            <p:cNvGrpSpPr/>
            <p:nvPr/>
          </p:nvGrpSpPr>
          <p:grpSpPr>
            <a:xfrm>
              <a:off x="2679501" y="3708731"/>
              <a:ext cx="204470" cy="638833"/>
              <a:chOff x="5909765" y="3434154"/>
              <a:chExt cx="282300" cy="882000"/>
            </a:xfrm>
          </p:grpSpPr>
          <p:sp>
            <p:nvSpPr>
              <p:cNvPr id="2502" name="Google Shape;2502;p165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03" name="Google Shape;2503;p165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04" name="Google Shape;2504;p165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05" name="Google Shape;2505;p165"/>
            <p:cNvGrpSpPr/>
            <p:nvPr/>
          </p:nvGrpSpPr>
          <p:grpSpPr>
            <a:xfrm>
              <a:off x="2676474" y="3266301"/>
              <a:ext cx="204470" cy="418066"/>
              <a:chOff x="383024" y="1986354"/>
              <a:chExt cx="282300" cy="577200"/>
            </a:xfrm>
          </p:grpSpPr>
          <p:sp>
            <p:nvSpPr>
              <p:cNvPr id="2506" name="Google Shape;2506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07" name="Google Shape;2507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08" name="Google Shape;2508;p165"/>
            <p:cNvGrpSpPr/>
            <p:nvPr/>
          </p:nvGrpSpPr>
          <p:grpSpPr>
            <a:xfrm>
              <a:off x="2676474" y="4370840"/>
              <a:ext cx="204470" cy="418066"/>
              <a:chOff x="383024" y="1986354"/>
              <a:chExt cx="282300" cy="577200"/>
            </a:xfrm>
          </p:grpSpPr>
          <p:sp>
            <p:nvSpPr>
              <p:cNvPr id="2509" name="Google Shape;2509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0" name="Google Shape;2510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11" name="Google Shape;2511;p165"/>
            <p:cNvGrpSpPr/>
            <p:nvPr/>
          </p:nvGrpSpPr>
          <p:grpSpPr>
            <a:xfrm>
              <a:off x="2676474" y="2826385"/>
              <a:ext cx="204470" cy="418066"/>
              <a:chOff x="383024" y="1986354"/>
              <a:chExt cx="282300" cy="577200"/>
            </a:xfrm>
          </p:grpSpPr>
          <p:sp>
            <p:nvSpPr>
              <p:cNvPr id="2512" name="Google Shape;2512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3" name="Google Shape;2513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14" name="Google Shape;2514;p165"/>
            <p:cNvGrpSpPr/>
            <p:nvPr/>
          </p:nvGrpSpPr>
          <p:grpSpPr>
            <a:xfrm>
              <a:off x="2676474" y="2381193"/>
              <a:ext cx="204470" cy="418066"/>
              <a:chOff x="383024" y="1986354"/>
              <a:chExt cx="282300" cy="577200"/>
            </a:xfrm>
          </p:grpSpPr>
          <p:sp>
            <p:nvSpPr>
              <p:cNvPr id="2515" name="Google Shape;2515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6" name="Google Shape;2516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17" name="Google Shape;2517;p165"/>
            <p:cNvGrpSpPr/>
            <p:nvPr/>
          </p:nvGrpSpPr>
          <p:grpSpPr>
            <a:xfrm>
              <a:off x="2676474" y="1936002"/>
              <a:ext cx="204470" cy="418066"/>
              <a:chOff x="383024" y="1986354"/>
              <a:chExt cx="282300" cy="577200"/>
            </a:xfrm>
          </p:grpSpPr>
          <p:sp>
            <p:nvSpPr>
              <p:cNvPr id="2518" name="Google Shape;2518;p165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9" name="Google Shape;2519;p165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520" name="Google Shape;2520;p165"/>
          <p:cNvGrpSpPr/>
          <p:nvPr/>
        </p:nvGrpSpPr>
        <p:grpSpPr>
          <a:xfrm>
            <a:off x="3743274" y="1936002"/>
            <a:ext cx="207497" cy="2853005"/>
            <a:chOff x="4124274" y="1936002"/>
            <a:chExt cx="207497" cy="2853005"/>
          </a:xfrm>
        </p:grpSpPr>
        <p:grpSp>
          <p:nvGrpSpPr>
            <p:cNvPr id="2521" name="Google Shape;2521;p165"/>
            <p:cNvGrpSpPr/>
            <p:nvPr/>
          </p:nvGrpSpPr>
          <p:grpSpPr>
            <a:xfrm>
              <a:off x="4124274" y="3266301"/>
              <a:ext cx="207497" cy="639729"/>
              <a:chOff x="3743274" y="3266301"/>
              <a:chExt cx="207497" cy="639729"/>
            </a:xfrm>
          </p:grpSpPr>
          <p:sp>
            <p:nvSpPr>
              <p:cNvPr id="2522" name="Google Shape;2522;p165"/>
              <p:cNvSpPr/>
              <p:nvPr/>
            </p:nvSpPr>
            <p:spPr>
              <a:xfrm>
                <a:off x="3746301" y="3708731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23" name="Google Shape;2523;p165"/>
              <p:cNvSpPr/>
              <p:nvPr/>
            </p:nvSpPr>
            <p:spPr>
              <a:xfrm>
                <a:off x="3743274" y="3266301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24" name="Google Shape;2524;p165"/>
              <p:cNvSpPr/>
              <p:nvPr/>
            </p:nvSpPr>
            <p:spPr>
              <a:xfrm>
                <a:off x="3743274" y="3487068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25" name="Google Shape;2525;p165"/>
            <p:cNvGrpSpPr/>
            <p:nvPr/>
          </p:nvGrpSpPr>
          <p:grpSpPr>
            <a:xfrm>
              <a:off x="4124274" y="3929497"/>
              <a:ext cx="207497" cy="638642"/>
              <a:chOff x="3743274" y="3929497"/>
              <a:chExt cx="207497" cy="638642"/>
            </a:xfrm>
          </p:grpSpPr>
          <p:sp>
            <p:nvSpPr>
              <p:cNvPr id="2526" name="Google Shape;2526;p165"/>
              <p:cNvSpPr/>
              <p:nvPr/>
            </p:nvSpPr>
            <p:spPr>
              <a:xfrm>
                <a:off x="3746301" y="3929497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27" name="Google Shape;2527;p165"/>
              <p:cNvSpPr/>
              <p:nvPr/>
            </p:nvSpPr>
            <p:spPr>
              <a:xfrm>
                <a:off x="3746301" y="4150264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28" name="Google Shape;2528;p165"/>
              <p:cNvSpPr/>
              <p:nvPr/>
            </p:nvSpPr>
            <p:spPr>
              <a:xfrm>
                <a:off x="3743274" y="4370840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29" name="Google Shape;2529;p165"/>
            <p:cNvSpPr/>
            <p:nvPr/>
          </p:nvSpPr>
          <p:spPr>
            <a:xfrm>
              <a:off x="4124274" y="4591606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0" name="Google Shape;2530;p165"/>
            <p:cNvSpPr/>
            <p:nvPr/>
          </p:nvSpPr>
          <p:spPr>
            <a:xfrm>
              <a:off x="4124274" y="2826385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1" name="Google Shape;2531;p165"/>
            <p:cNvSpPr/>
            <p:nvPr/>
          </p:nvSpPr>
          <p:spPr>
            <a:xfrm>
              <a:off x="4124274" y="3047151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2" name="Google Shape;2532;p165"/>
            <p:cNvSpPr/>
            <p:nvPr/>
          </p:nvSpPr>
          <p:spPr>
            <a:xfrm>
              <a:off x="4124274" y="2601960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33" name="Google Shape;2533;p165"/>
            <p:cNvGrpSpPr/>
            <p:nvPr/>
          </p:nvGrpSpPr>
          <p:grpSpPr>
            <a:xfrm>
              <a:off x="4124274" y="1936002"/>
              <a:ext cx="204470" cy="642491"/>
              <a:chOff x="3743274" y="1936002"/>
              <a:chExt cx="204470" cy="642491"/>
            </a:xfrm>
          </p:grpSpPr>
          <p:sp>
            <p:nvSpPr>
              <p:cNvPr id="2534" name="Google Shape;2534;p165"/>
              <p:cNvSpPr/>
              <p:nvPr/>
            </p:nvSpPr>
            <p:spPr>
              <a:xfrm>
                <a:off x="3743274" y="2381193"/>
                <a:ext cx="204470" cy="19729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535" name="Google Shape;2535;p165"/>
              <p:cNvGrpSpPr/>
              <p:nvPr/>
            </p:nvGrpSpPr>
            <p:grpSpPr>
              <a:xfrm>
                <a:off x="3743274" y="1936002"/>
                <a:ext cx="204470" cy="418066"/>
                <a:chOff x="383024" y="1986354"/>
                <a:chExt cx="282300" cy="577200"/>
              </a:xfrm>
            </p:grpSpPr>
            <p:sp>
              <p:nvSpPr>
                <p:cNvPr id="2536" name="Google Shape;2536;p165"/>
                <p:cNvSpPr/>
                <p:nvPr/>
              </p:nvSpPr>
              <p:spPr>
                <a:xfrm>
                  <a:off x="383024" y="1986354"/>
                  <a:ext cx="282300" cy="272400"/>
                </a:xfrm>
                <a:prstGeom prst="ellipse">
                  <a:avLst/>
                </a:prstGeom>
                <a:solidFill>
                  <a:schemeClr val="accent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537" name="Google Shape;2537;p165"/>
                <p:cNvSpPr/>
                <p:nvPr/>
              </p:nvSpPr>
              <p:spPr>
                <a:xfrm>
                  <a:off x="383024" y="2291154"/>
                  <a:ext cx="282300" cy="272400"/>
                </a:xfrm>
                <a:prstGeom prst="ellipse">
                  <a:avLst/>
                </a:prstGeom>
                <a:solidFill>
                  <a:schemeClr val="accent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538" name="Google Shape;2538;p165"/>
          <p:cNvGrpSpPr/>
          <p:nvPr/>
        </p:nvGrpSpPr>
        <p:grpSpPr>
          <a:xfrm>
            <a:off x="3992044" y="2601960"/>
            <a:ext cx="207627" cy="2187047"/>
            <a:chOff x="4373044" y="2601960"/>
            <a:chExt cx="207627" cy="2187047"/>
          </a:xfrm>
        </p:grpSpPr>
        <p:grpSp>
          <p:nvGrpSpPr>
            <p:cNvPr id="2539" name="Google Shape;2539;p165"/>
            <p:cNvGrpSpPr/>
            <p:nvPr/>
          </p:nvGrpSpPr>
          <p:grpSpPr>
            <a:xfrm>
              <a:off x="4373044" y="3266301"/>
              <a:ext cx="207627" cy="639830"/>
              <a:chOff x="3743274" y="3266301"/>
              <a:chExt cx="207627" cy="639830"/>
            </a:xfrm>
          </p:grpSpPr>
          <p:sp>
            <p:nvSpPr>
              <p:cNvPr id="2540" name="Google Shape;2540;p165"/>
              <p:cNvSpPr/>
              <p:nvPr/>
            </p:nvSpPr>
            <p:spPr>
              <a:xfrm>
                <a:off x="3746301" y="3708731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1" name="Google Shape;2541;p165"/>
              <p:cNvSpPr/>
              <p:nvPr/>
            </p:nvSpPr>
            <p:spPr>
              <a:xfrm>
                <a:off x="3743274" y="3266301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2" name="Google Shape;2542;p165"/>
              <p:cNvSpPr/>
              <p:nvPr/>
            </p:nvSpPr>
            <p:spPr>
              <a:xfrm>
                <a:off x="3743274" y="3487068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43" name="Google Shape;2543;p165"/>
            <p:cNvGrpSpPr/>
            <p:nvPr/>
          </p:nvGrpSpPr>
          <p:grpSpPr>
            <a:xfrm>
              <a:off x="4373044" y="3929497"/>
              <a:ext cx="207627" cy="638742"/>
              <a:chOff x="3743274" y="3929497"/>
              <a:chExt cx="207627" cy="638742"/>
            </a:xfrm>
          </p:grpSpPr>
          <p:sp>
            <p:nvSpPr>
              <p:cNvPr id="2544" name="Google Shape;2544;p165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5" name="Google Shape;2545;p165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6" name="Google Shape;2546;p165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47" name="Google Shape;2547;p165"/>
            <p:cNvSpPr/>
            <p:nvPr/>
          </p:nvSpPr>
          <p:spPr>
            <a:xfrm>
              <a:off x="4373044" y="4591606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8" name="Google Shape;2548;p165"/>
            <p:cNvSpPr/>
            <p:nvPr/>
          </p:nvSpPr>
          <p:spPr>
            <a:xfrm>
              <a:off x="4373044" y="2826385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9" name="Google Shape;2549;p165"/>
            <p:cNvSpPr/>
            <p:nvPr/>
          </p:nvSpPr>
          <p:spPr>
            <a:xfrm>
              <a:off x="4373044" y="3047151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0" name="Google Shape;2550;p165"/>
            <p:cNvSpPr/>
            <p:nvPr/>
          </p:nvSpPr>
          <p:spPr>
            <a:xfrm>
              <a:off x="4373044" y="2601960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1" name="Google Shape;2551;p165"/>
          <p:cNvGrpSpPr/>
          <p:nvPr/>
        </p:nvGrpSpPr>
        <p:grpSpPr>
          <a:xfrm>
            <a:off x="4240815" y="3266301"/>
            <a:ext cx="207627" cy="1522705"/>
            <a:chOff x="4621815" y="3266301"/>
            <a:chExt cx="207627" cy="1522705"/>
          </a:xfrm>
        </p:grpSpPr>
        <p:grpSp>
          <p:nvGrpSpPr>
            <p:cNvPr id="2552" name="Google Shape;2552;p165"/>
            <p:cNvGrpSpPr/>
            <p:nvPr/>
          </p:nvGrpSpPr>
          <p:grpSpPr>
            <a:xfrm>
              <a:off x="4621815" y="3266301"/>
              <a:ext cx="207627" cy="639830"/>
              <a:chOff x="3743274" y="3266301"/>
              <a:chExt cx="207627" cy="639830"/>
            </a:xfrm>
          </p:grpSpPr>
          <p:sp>
            <p:nvSpPr>
              <p:cNvPr id="2553" name="Google Shape;2553;p165"/>
              <p:cNvSpPr/>
              <p:nvPr/>
            </p:nvSpPr>
            <p:spPr>
              <a:xfrm>
                <a:off x="3746301" y="3708731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4" name="Google Shape;2554;p165"/>
              <p:cNvSpPr/>
              <p:nvPr/>
            </p:nvSpPr>
            <p:spPr>
              <a:xfrm>
                <a:off x="3743274" y="3266301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5" name="Google Shape;2555;p165"/>
              <p:cNvSpPr/>
              <p:nvPr/>
            </p:nvSpPr>
            <p:spPr>
              <a:xfrm>
                <a:off x="3743274" y="3487068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56" name="Google Shape;2556;p165"/>
            <p:cNvGrpSpPr/>
            <p:nvPr/>
          </p:nvGrpSpPr>
          <p:grpSpPr>
            <a:xfrm>
              <a:off x="4621815" y="3929497"/>
              <a:ext cx="207627" cy="638742"/>
              <a:chOff x="3743274" y="3929497"/>
              <a:chExt cx="207627" cy="638742"/>
            </a:xfrm>
          </p:grpSpPr>
          <p:sp>
            <p:nvSpPr>
              <p:cNvPr id="2557" name="Google Shape;2557;p165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8" name="Google Shape;2558;p165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59" name="Google Shape;2559;p165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60" name="Google Shape;2560;p165"/>
            <p:cNvSpPr/>
            <p:nvPr/>
          </p:nvSpPr>
          <p:spPr>
            <a:xfrm>
              <a:off x="4621815" y="4591606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1" name="Google Shape;2561;p165"/>
          <p:cNvGrpSpPr/>
          <p:nvPr/>
        </p:nvGrpSpPr>
        <p:grpSpPr>
          <a:xfrm>
            <a:off x="4489586" y="3929497"/>
            <a:ext cx="207627" cy="859509"/>
            <a:chOff x="4870586" y="3929497"/>
            <a:chExt cx="207627" cy="859509"/>
          </a:xfrm>
        </p:grpSpPr>
        <p:grpSp>
          <p:nvGrpSpPr>
            <p:cNvPr id="2562" name="Google Shape;2562;p165"/>
            <p:cNvGrpSpPr/>
            <p:nvPr/>
          </p:nvGrpSpPr>
          <p:grpSpPr>
            <a:xfrm>
              <a:off x="4870586" y="3929497"/>
              <a:ext cx="207627" cy="638742"/>
              <a:chOff x="3743274" y="3929497"/>
              <a:chExt cx="207627" cy="638742"/>
            </a:xfrm>
          </p:grpSpPr>
          <p:sp>
            <p:nvSpPr>
              <p:cNvPr id="2563" name="Google Shape;2563;p165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4" name="Google Shape;2564;p165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5" name="Google Shape;2565;p165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66" name="Google Shape;2566;p165"/>
            <p:cNvSpPr/>
            <p:nvPr/>
          </p:nvSpPr>
          <p:spPr>
            <a:xfrm>
              <a:off x="4870586" y="4591606"/>
              <a:ext cx="204600" cy="1974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7" name="Google Shape;2567;p165"/>
          <p:cNvSpPr/>
          <p:nvPr/>
        </p:nvSpPr>
        <p:spPr>
          <a:xfrm>
            <a:off x="4738356" y="4591606"/>
            <a:ext cx="204600" cy="1974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8" name="Google Shape;2568;p165"/>
          <p:cNvGraphicFramePr/>
          <p:nvPr/>
        </p:nvGraphicFramePr>
        <p:xfrm>
          <a:off x="5248436" y="2142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97300"/>
                <a:gridCol w="410225"/>
                <a:gridCol w="410225"/>
                <a:gridCol w="410225"/>
                <a:gridCol w="410225"/>
                <a:gridCol w="410225"/>
              </a:tblGrid>
              <a:tr h="31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69" name="Google Shape;2569;p165"/>
          <p:cNvGrpSpPr/>
          <p:nvPr/>
        </p:nvGrpSpPr>
        <p:grpSpPr>
          <a:xfrm>
            <a:off x="7898054" y="3172910"/>
            <a:ext cx="181330" cy="709269"/>
            <a:chOff x="5908092" y="734470"/>
            <a:chExt cx="295181" cy="1461205"/>
          </a:xfrm>
        </p:grpSpPr>
        <p:grpSp>
          <p:nvGrpSpPr>
            <p:cNvPr id="2570" name="Google Shape;2570;p165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2571" name="Google Shape;2571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2" name="Google Shape;2572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3" name="Google Shape;2573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74" name="Google Shape;2574;p165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2575" name="Google Shape;2575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6" name="Google Shape;2576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77" name="Google Shape;2577;p165"/>
          <p:cNvGrpSpPr/>
          <p:nvPr/>
        </p:nvGrpSpPr>
        <p:grpSpPr>
          <a:xfrm>
            <a:off x="7898054" y="2442921"/>
            <a:ext cx="181330" cy="709269"/>
            <a:chOff x="5908092" y="734470"/>
            <a:chExt cx="295181" cy="1461205"/>
          </a:xfrm>
        </p:grpSpPr>
        <p:grpSp>
          <p:nvGrpSpPr>
            <p:cNvPr id="2578" name="Google Shape;2578;p165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2579" name="Google Shape;2579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0" name="Google Shape;2580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1" name="Google Shape;2581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82" name="Google Shape;2582;p165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2583" name="Google Shape;2583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4" name="Google Shape;2584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85" name="Google Shape;2585;p165"/>
          <p:cNvGrpSpPr/>
          <p:nvPr/>
        </p:nvGrpSpPr>
        <p:grpSpPr>
          <a:xfrm>
            <a:off x="7898054" y="1704291"/>
            <a:ext cx="181330" cy="709269"/>
            <a:chOff x="5908092" y="734470"/>
            <a:chExt cx="295181" cy="1461205"/>
          </a:xfrm>
        </p:grpSpPr>
        <p:grpSp>
          <p:nvGrpSpPr>
            <p:cNvPr id="2586" name="Google Shape;2586;p165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2587" name="Google Shape;2587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8" name="Google Shape;2588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9" name="Google Shape;2589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90" name="Google Shape;2590;p165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2591" name="Google Shape;2591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92" name="Google Shape;2592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593" name="Google Shape;2593;p165"/>
          <p:cNvSpPr txBox="1"/>
          <p:nvPr>
            <p:ph idx="1" type="body"/>
          </p:nvPr>
        </p:nvSpPr>
        <p:spPr>
          <a:xfrm>
            <a:off x="4972200" y="3045300"/>
            <a:ext cx="23484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each case the linear structure of the sequence is revealed.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94" name="Google Shape;2594;p165"/>
          <p:cNvGrpSpPr/>
          <p:nvPr/>
        </p:nvGrpSpPr>
        <p:grpSpPr>
          <a:xfrm>
            <a:off x="7203570" y="3912050"/>
            <a:ext cx="186102" cy="889125"/>
            <a:chOff x="7203570" y="3912050"/>
            <a:chExt cx="186102" cy="889125"/>
          </a:xfrm>
        </p:grpSpPr>
        <p:pic>
          <p:nvPicPr>
            <p:cNvPr id="2595" name="Google Shape;2595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03570" y="4657668"/>
              <a:ext cx="181359" cy="1435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96" name="Google Shape;2596;p165"/>
            <p:cNvGrpSpPr/>
            <p:nvPr/>
          </p:nvGrpSpPr>
          <p:grpSpPr>
            <a:xfrm>
              <a:off x="720834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2597" name="Google Shape;2597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598" name="Google Shape;259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99" name="Google Shape;2599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00" name="Google Shape;260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01" name="Google Shape;2601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02" name="Google Shape;2602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03" name="Google Shape;2603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604" name="Google Shape;2604;p165"/>
          <p:cNvGrpSpPr/>
          <p:nvPr/>
        </p:nvGrpSpPr>
        <p:grpSpPr>
          <a:xfrm>
            <a:off x="7432170" y="3172910"/>
            <a:ext cx="186102" cy="1628265"/>
            <a:chOff x="7432170" y="3172910"/>
            <a:chExt cx="186102" cy="1628265"/>
          </a:xfrm>
        </p:grpSpPr>
        <p:grpSp>
          <p:nvGrpSpPr>
            <p:cNvPr id="2605" name="Google Shape;2605;p165"/>
            <p:cNvGrpSpPr/>
            <p:nvPr/>
          </p:nvGrpSpPr>
          <p:grpSpPr>
            <a:xfrm>
              <a:off x="7436942" y="3172910"/>
              <a:ext cx="181330" cy="709269"/>
              <a:chOff x="5908092" y="734470"/>
              <a:chExt cx="295181" cy="1461205"/>
            </a:xfrm>
          </p:grpSpPr>
          <p:grpSp>
            <p:nvGrpSpPr>
              <p:cNvPr id="2606" name="Google Shape;2606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07" name="Google Shape;260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08" name="Google Shape;260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09" name="Google Shape;2609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10" name="Google Shape;2610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11" name="Google Shape;2611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12" name="Google Shape;2612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2613" name="Google Shape;2613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3217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14" name="Google Shape;2614;p165"/>
            <p:cNvGrpSpPr/>
            <p:nvPr/>
          </p:nvGrpSpPr>
          <p:grpSpPr>
            <a:xfrm>
              <a:off x="743694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2615" name="Google Shape;2615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16" name="Google Shape;2616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17" name="Google Shape;261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18" name="Google Shape;261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19" name="Google Shape;2619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20" name="Google Shape;262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21" name="Google Shape;2621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622" name="Google Shape;2622;p165"/>
          <p:cNvGrpSpPr/>
          <p:nvPr/>
        </p:nvGrpSpPr>
        <p:grpSpPr>
          <a:xfrm>
            <a:off x="7668390" y="2442921"/>
            <a:ext cx="186102" cy="2358255"/>
            <a:chOff x="7668390" y="2442921"/>
            <a:chExt cx="186102" cy="2358255"/>
          </a:xfrm>
        </p:grpSpPr>
        <p:grpSp>
          <p:nvGrpSpPr>
            <p:cNvPr id="2623" name="Google Shape;2623;p165"/>
            <p:cNvGrpSpPr/>
            <p:nvPr/>
          </p:nvGrpSpPr>
          <p:grpSpPr>
            <a:xfrm>
              <a:off x="7671010" y="3172910"/>
              <a:ext cx="181330" cy="709269"/>
              <a:chOff x="5908092" y="734470"/>
              <a:chExt cx="295181" cy="1461205"/>
            </a:xfrm>
          </p:grpSpPr>
          <p:grpSp>
            <p:nvGrpSpPr>
              <p:cNvPr id="2624" name="Google Shape;2624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25" name="Google Shape;2625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26" name="Google Shape;2626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27" name="Google Shape;262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28" name="Google Shape;2628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29" name="Google Shape;2629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30" name="Google Shape;263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31" name="Google Shape;2631;p165"/>
            <p:cNvGrpSpPr/>
            <p:nvPr/>
          </p:nvGrpSpPr>
          <p:grpSpPr>
            <a:xfrm>
              <a:off x="7671010" y="2442921"/>
              <a:ext cx="181330" cy="709269"/>
              <a:chOff x="5908092" y="734470"/>
              <a:chExt cx="295181" cy="1461205"/>
            </a:xfrm>
          </p:grpSpPr>
          <p:grpSp>
            <p:nvGrpSpPr>
              <p:cNvPr id="2632" name="Google Shape;2632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33" name="Google Shape;2633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34" name="Google Shape;2634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35" name="Google Shape;2635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36" name="Google Shape;2636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37" name="Google Shape;263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38" name="Google Shape;263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2639" name="Google Shape;2639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6839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0" name="Google Shape;2640;p165"/>
            <p:cNvGrpSpPr/>
            <p:nvPr/>
          </p:nvGrpSpPr>
          <p:grpSpPr>
            <a:xfrm>
              <a:off x="767316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2641" name="Google Shape;2641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42" name="Google Shape;2642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43" name="Google Shape;2643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44" name="Google Shape;2644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45" name="Google Shape;2645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46" name="Google Shape;2646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47" name="Google Shape;264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id="2648" name="Google Shape;2648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6990" y="4657668"/>
            <a:ext cx="181359" cy="1435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9" name="Google Shape;2649;p165"/>
          <p:cNvGrpSpPr/>
          <p:nvPr/>
        </p:nvGrpSpPr>
        <p:grpSpPr>
          <a:xfrm>
            <a:off x="7901762" y="3912050"/>
            <a:ext cx="181330" cy="709269"/>
            <a:chOff x="5908092" y="734470"/>
            <a:chExt cx="295181" cy="1461205"/>
          </a:xfrm>
        </p:grpSpPr>
        <p:grpSp>
          <p:nvGrpSpPr>
            <p:cNvPr id="2650" name="Google Shape;2650;p165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2651" name="Google Shape;2651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52" name="Google Shape;2652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53" name="Google Shape;2653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54" name="Google Shape;2654;p165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2655" name="Google Shape;2655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56" name="Google Shape;2656;p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657" name="Google Shape;2657;p165"/>
          <p:cNvGrpSpPr/>
          <p:nvPr/>
        </p:nvGrpSpPr>
        <p:grpSpPr>
          <a:xfrm>
            <a:off x="8121166" y="965661"/>
            <a:ext cx="190526" cy="3835514"/>
            <a:chOff x="8121166" y="965661"/>
            <a:chExt cx="190526" cy="3835514"/>
          </a:xfrm>
        </p:grpSpPr>
        <p:grpSp>
          <p:nvGrpSpPr>
            <p:cNvPr id="2658" name="Google Shape;2658;p165"/>
            <p:cNvGrpSpPr/>
            <p:nvPr/>
          </p:nvGrpSpPr>
          <p:grpSpPr>
            <a:xfrm>
              <a:off x="8121166" y="3172910"/>
              <a:ext cx="181330" cy="709269"/>
              <a:chOff x="5908092" y="734470"/>
              <a:chExt cx="295181" cy="1461205"/>
            </a:xfrm>
          </p:grpSpPr>
          <p:grpSp>
            <p:nvGrpSpPr>
              <p:cNvPr id="2659" name="Google Shape;2659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60" name="Google Shape;266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61" name="Google Shape;2661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62" name="Google Shape;2662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63" name="Google Shape;2663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64" name="Google Shape;2664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65" name="Google Shape;2665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66" name="Google Shape;2666;p165"/>
            <p:cNvGrpSpPr/>
            <p:nvPr/>
          </p:nvGrpSpPr>
          <p:grpSpPr>
            <a:xfrm>
              <a:off x="8121166" y="2442921"/>
              <a:ext cx="181330" cy="709269"/>
              <a:chOff x="5908092" y="734470"/>
              <a:chExt cx="295181" cy="1461205"/>
            </a:xfrm>
          </p:grpSpPr>
          <p:grpSp>
            <p:nvGrpSpPr>
              <p:cNvPr id="2667" name="Google Shape;2667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68" name="Google Shape;266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69" name="Google Shape;2669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70" name="Google Shape;267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71" name="Google Shape;2671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72" name="Google Shape;2672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73" name="Google Shape;2673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74" name="Google Shape;2674;p165"/>
            <p:cNvGrpSpPr/>
            <p:nvPr/>
          </p:nvGrpSpPr>
          <p:grpSpPr>
            <a:xfrm>
              <a:off x="8121166" y="1704291"/>
              <a:ext cx="181330" cy="709269"/>
              <a:chOff x="5908092" y="734470"/>
              <a:chExt cx="295181" cy="1461205"/>
            </a:xfrm>
          </p:grpSpPr>
          <p:grpSp>
            <p:nvGrpSpPr>
              <p:cNvPr id="2675" name="Google Shape;2675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76" name="Google Shape;2676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77" name="Google Shape;267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78" name="Google Shape;267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79" name="Google Shape;2679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80" name="Google Shape;2680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81" name="Google Shape;2681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82" name="Google Shape;2682;p165"/>
            <p:cNvGrpSpPr/>
            <p:nvPr/>
          </p:nvGrpSpPr>
          <p:grpSpPr>
            <a:xfrm>
              <a:off x="8121166" y="965661"/>
              <a:ext cx="181330" cy="709269"/>
              <a:chOff x="5908092" y="734470"/>
              <a:chExt cx="295181" cy="1461205"/>
            </a:xfrm>
          </p:grpSpPr>
          <p:grpSp>
            <p:nvGrpSpPr>
              <p:cNvPr id="2683" name="Google Shape;2683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84" name="Google Shape;2684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85" name="Google Shape;2685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86" name="Google Shape;2686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87" name="Google Shape;2687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88" name="Google Shape;268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89" name="Google Shape;2689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2690" name="Google Shape;2690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559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91" name="Google Shape;2691;p165"/>
            <p:cNvGrpSpPr/>
            <p:nvPr/>
          </p:nvGrpSpPr>
          <p:grpSpPr>
            <a:xfrm>
              <a:off x="813036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2692" name="Google Shape;2692;p165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2693" name="Google Shape;2693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94" name="Google Shape;2694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95" name="Google Shape;2695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96" name="Google Shape;2696;p165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2697" name="Google Shape;2697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98" name="Google Shape;2698;p165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01-2024/bca3a862-3dc4-4da1-b1be-fb5d6b24a5a3&quot; data-equatio-type=&quot;desmos&quot;&gt;&lt;mglyph src=&quot;https://equatio-api.texthelp.com/desmos/get/05-01-2024/bca3a862-3dc4-4da1-b1be-fb5d6b24a5a3&quot; alt=&quot;Equatio Desmos Graph&quot;/&gt;&lt;/math&gt;" id="2703" name="Google Shape;2703;p166" title="Equatio Desmos Graph"/>
          <p:cNvPicPr preferRelativeResize="0"/>
          <p:nvPr/>
        </p:nvPicPr>
        <p:blipFill rotWithShape="1">
          <a:blip r:embed="rId3">
            <a:alphaModFix/>
          </a:blip>
          <a:srcRect b="0" l="12319" r="61929" t="0"/>
          <a:stretch/>
        </p:blipFill>
        <p:spPr>
          <a:xfrm>
            <a:off x="2567825" y="1224350"/>
            <a:ext cx="1266600" cy="358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01-2024/e9d741b1-e225-4f92-bc4f-30b914aaaee8&quot; data-equatio-type=&quot;desmos&quot;&gt;&lt;mglyph src=&quot;https://equatio-api.texthelp.com/desmos/get/05-01-2024/e9d741b1-e225-4f92-bc4f-30b914aaaee8&quot; alt=&quot;Equatio Desmos Graph&quot;/&gt;&lt;/math&gt;" id="2704" name="Google Shape;2704;p166" title="Equatio Desmos Graph"/>
          <p:cNvPicPr preferRelativeResize="0"/>
          <p:nvPr/>
        </p:nvPicPr>
        <p:blipFill rotWithShape="1">
          <a:blip r:embed="rId4">
            <a:alphaModFix/>
          </a:blip>
          <a:srcRect b="0" l="13291" r="61638" t="0"/>
          <a:stretch/>
        </p:blipFill>
        <p:spPr>
          <a:xfrm>
            <a:off x="2588100" y="1224350"/>
            <a:ext cx="1254900" cy="358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01-2024/8782b227-6c92-4173-b6f6-6c20277c5614&quot; data-equatio-type=&quot;desmos&quot;&gt;&lt;mglyph src=&quot;https://equatio-api.texthelp.com/desmos/get/05-01-2024/8782b227-6c92-4173-b6f6-6c20277c5614&quot; alt=&quot;Equatio Desmos Graph&quot;/&gt;&lt;/math&gt;" id="2705" name="Google Shape;2705;p166" title="Equatio Desmos Graph"/>
          <p:cNvPicPr preferRelativeResize="0"/>
          <p:nvPr/>
        </p:nvPicPr>
        <p:blipFill rotWithShape="1">
          <a:blip r:embed="rId5">
            <a:alphaModFix/>
          </a:blip>
          <a:srcRect b="0" l="6226" r="67532" t="0"/>
          <a:stretch/>
        </p:blipFill>
        <p:spPr>
          <a:xfrm>
            <a:off x="6896821" y="870250"/>
            <a:ext cx="1415704" cy="39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6" name="Google Shape;2706;p166"/>
          <p:cNvSpPr txBox="1"/>
          <p:nvPr>
            <p:ph idx="1" type="body"/>
          </p:nvPr>
        </p:nvSpPr>
        <p:spPr>
          <a:xfrm>
            <a:off x="324000" y="759300"/>
            <a:ext cx="6220800" cy="2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Plot the first five terms of these sequences:</a:t>
            </a:r>
            <a:endParaRPr/>
          </a:p>
        </p:txBody>
      </p:sp>
      <p:sp>
        <p:nvSpPr>
          <p:cNvPr id="2707" name="Google Shape;2707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arithmetic sequences</a:t>
            </a:r>
            <a:endParaRPr/>
          </a:p>
        </p:txBody>
      </p:sp>
      <p:sp>
        <p:nvSpPr>
          <p:cNvPr id="2708" name="Google Shape;2708;p166"/>
          <p:cNvSpPr txBox="1"/>
          <p:nvPr>
            <p:ph idx="1" type="body"/>
          </p:nvPr>
        </p:nvSpPr>
        <p:spPr>
          <a:xfrm>
            <a:off x="324000" y="1120125"/>
            <a:ext cx="12666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/>
          </a:p>
        </p:txBody>
      </p:sp>
      <p:sp>
        <p:nvSpPr>
          <p:cNvPr id="2709" name="Google Shape;2709;p166"/>
          <p:cNvSpPr txBox="1"/>
          <p:nvPr>
            <p:ph idx="1" type="body"/>
          </p:nvPr>
        </p:nvSpPr>
        <p:spPr>
          <a:xfrm>
            <a:off x="4326741" y="1120119"/>
            <a:ext cx="1452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graphicFrame>
        <p:nvGraphicFramePr>
          <p:cNvPr id="2710" name="Google Shape;2710;p166"/>
          <p:cNvGraphicFramePr/>
          <p:nvPr/>
        </p:nvGraphicFramePr>
        <p:xfrm>
          <a:off x="321210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7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11" name="Google Shape;2711;p166"/>
          <p:cNvGraphicFramePr/>
          <p:nvPr/>
        </p:nvGraphicFramePr>
        <p:xfrm>
          <a:off x="4323951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81150"/>
                <a:gridCol w="387925"/>
                <a:gridCol w="387925"/>
                <a:gridCol w="387925"/>
                <a:gridCol w="387925"/>
                <a:gridCol w="387925"/>
              </a:tblGrid>
              <a:tr h="37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2" name="Google Shape;2712;p166"/>
          <p:cNvSpPr txBox="1"/>
          <p:nvPr/>
        </p:nvSpPr>
        <p:spPr>
          <a:xfrm>
            <a:off x="2354231" y="1350564"/>
            <a:ext cx="168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3" name="Google Shape;2713;p166"/>
          <p:cNvSpPr txBox="1"/>
          <p:nvPr/>
        </p:nvSpPr>
        <p:spPr>
          <a:xfrm>
            <a:off x="3890386" y="4476953"/>
            <a:ext cx="168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4" name="Google Shape;2714;p166"/>
          <p:cNvGrpSpPr/>
          <p:nvPr/>
        </p:nvGrpSpPr>
        <p:grpSpPr>
          <a:xfrm>
            <a:off x="6897230" y="857275"/>
            <a:ext cx="1417858" cy="3943800"/>
            <a:chOff x="6897230" y="857275"/>
            <a:chExt cx="1417858" cy="3943800"/>
          </a:xfrm>
        </p:grpSpPr>
        <p:pic>
          <p:nvPicPr>
            <p:cNvPr descr="&lt;math xmlns=&quot;http://www.w3.org/1998/Math/MathML&quot; data-is-equatio=&quot;1&quot; data-equatio-url=&quot;https://equatio-api.texthelp.com/desmos/get/05-01-2024/ea2fb27b-4a7e-4924-8d64-39d0cdb7e15d&quot; data-equatio-type=&quot;desmos&quot;&gt;&lt;mglyph src=&quot;https://equatio-api.texthelp.com/desmos/get/05-01-2024/ea2fb27b-4a7e-4924-8d64-39d0cdb7e15d&quot; alt=&quot;Equatio Desmos Graph&quot;/&gt;&lt;/math&gt;" id="2715" name="Google Shape;2715;p166" title="Equatio Desmos Graph"/>
            <p:cNvPicPr preferRelativeResize="0"/>
            <p:nvPr/>
          </p:nvPicPr>
          <p:blipFill rotWithShape="1">
            <a:blip r:embed="rId6">
              <a:alphaModFix/>
            </a:blip>
            <a:srcRect b="0" l="1749" r="71340" t="0"/>
            <a:stretch/>
          </p:blipFill>
          <p:spPr>
            <a:xfrm>
              <a:off x="6904734" y="868262"/>
              <a:ext cx="1410354" cy="39305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16" name="Google Shape;2716;p166"/>
            <p:cNvCxnSpPr/>
            <p:nvPr/>
          </p:nvCxnSpPr>
          <p:spPr>
            <a:xfrm flipH="1">
              <a:off x="7059147" y="857275"/>
              <a:ext cx="7500" cy="3943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7" name="Google Shape;2717;p166"/>
            <p:cNvCxnSpPr/>
            <p:nvPr/>
          </p:nvCxnSpPr>
          <p:spPr>
            <a:xfrm rot="10800000">
              <a:off x="6897230" y="3086650"/>
              <a:ext cx="1415700" cy="3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18" name="Google Shape;2718;p166"/>
          <p:cNvSpPr txBox="1"/>
          <p:nvPr/>
        </p:nvSpPr>
        <p:spPr>
          <a:xfrm>
            <a:off x="6702875" y="810000"/>
            <a:ext cx="1983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9" name="Google Shape;2719;p166"/>
          <p:cNvSpPr txBox="1"/>
          <p:nvPr/>
        </p:nvSpPr>
        <p:spPr>
          <a:xfrm>
            <a:off x="8376733" y="2930981"/>
            <a:ext cx="1983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0" name="Google Shape;2720;p166"/>
          <p:cNvSpPr/>
          <p:nvPr/>
        </p:nvSpPr>
        <p:spPr>
          <a:xfrm>
            <a:off x="6879208" y="3063952"/>
            <a:ext cx="63600" cy="19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21" name="Google Shape;2721;p166"/>
          <p:cNvGraphicFramePr/>
          <p:nvPr/>
        </p:nvGraphicFramePr>
        <p:xfrm>
          <a:off x="321210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7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22" name="Google Shape;2722;p166"/>
          <p:cNvGraphicFramePr/>
          <p:nvPr/>
        </p:nvGraphicFramePr>
        <p:xfrm>
          <a:off x="4323951" y="183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{5F7C0A26-7F6A-4316-B9DD-D3FB3A37D96B}</a:tableStyleId>
              </a:tblPr>
              <a:tblGrid>
                <a:gridCol w="281150"/>
                <a:gridCol w="387925"/>
                <a:gridCol w="387925"/>
                <a:gridCol w="387925"/>
                <a:gridCol w="387925"/>
                <a:gridCol w="387925"/>
              </a:tblGrid>
              <a:tr h="37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1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term in an arithmetic sequence can be expressed in terms of its position in the sequence and we can generate any term using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 in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7(1)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 </a:t>
            </a:r>
            <a:r>
              <a:rPr lang="en-GB"/>
              <a:t>where as the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7(10) − 5 = 65</a:t>
            </a:r>
            <a:endParaRPr/>
          </a:p>
        </p:txBody>
      </p:sp>
      <p:sp>
        <p:nvSpPr>
          <p:cNvPr id="2728" name="Google Shape;2728;p167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734" name="Google Shape;2734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