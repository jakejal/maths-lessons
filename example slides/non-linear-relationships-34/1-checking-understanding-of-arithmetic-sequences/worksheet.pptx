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E416BAAC-4509-47BD-8C5D-685D1F17E53D}">
  <a:tblStyle styleId="{E416BAAC-4509-47BD-8C5D-685D1F17E5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5" name="Shape 185"/>
        <p:cNvGrpSpPr/>
        <p:nvPr/>
      </p:nvGrpSpPr>
      <p:grpSpPr>
        <a:xfrm>
          <a:off x="0" y="0"/>
          <a:ext cx="0" cy="0"/>
        </a:xfrm>
      </p:grpSpPr>
      <p:sp>
        <p:nvSpPr>
          <p:cNvPr id="186" name="Google Shape;186;g2b140953f59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b140953f59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7" name="Shape 197"/>
        <p:cNvGrpSpPr/>
        <p:nvPr/>
      </p:nvGrpSpPr>
      <p:grpSpPr>
        <a:xfrm>
          <a:off x="0" y="0"/>
          <a:ext cx="0" cy="0"/>
        </a:xfrm>
      </p:grpSpPr>
      <p:sp>
        <p:nvSpPr>
          <p:cNvPr id="198" name="Google Shape;198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arithmetic sequences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Checking understanding of arithmetic sequences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6400" y="1906053"/>
            <a:ext cx="5436300" cy="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Label these sequences as ‘arithmetic’ or ‘not arithmetic’.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6399" y="1430375"/>
            <a:ext cx="61722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Identifying arithmetic sequences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0450" y="2241762"/>
            <a:ext cx="23520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9, 13, 17, 21, 25,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158600" y="2122650"/>
            <a:ext cx="23520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37, 31, 25, 19,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13,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76400" y="3040513"/>
            <a:ext cx="29745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−70, −68, −66, −64, −62,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158591" y="3020167"/>
            <a:ext cx="23520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35, 31, 26, 20, 13,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76400" y="3930800"/>
            <a:ext cx="28329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12.6, 13.7, 14.8, 15.9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169441" y="3930800"/>
            <a:ext cx="23520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  6, 12, 24, 48,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76400" y="4889607"/>
            <a:ext cx="2925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1" name="Google Shape;171;p20" descr="&lt;math xmlns=&quot;http://www.w3.org/1998/Math/MathML&quot; display=&quot;block&quot; data-is-equatio=&quot;1&quot; data-latex=&quot;\frac{13}{29},\frac{18}{29},\frac{23}{29},\frac{28}{29},\ ...&quot;&gt;&lt;mfrac&gt;&lt;mn&gt;13&lt;/mn&gt;&lt;mn&gt;29&lt;/mn&gt;&lt;/mfrac&gt;&lt;mo&gt;,&lt;/mo&gt;&lt;mfrac&gt;&lt;mn&gt;18&lt;/mn&gt;&lt;mn&gt;29&lt;/mn&gt;&lt;/mfrac&gt;&lt;mo&gt;,&lt;/mo&gt;&lt;mfrac&gt;&lt;mn&gt;23&lt;/mn&gt;&lt;mn&gt;29&lt;/mn&gt;&lt;/mfrac&gt;&lt;mo&gt;,&lt;/mo&gt;&lt;mfrac&gt;&lt;mn&gt;28&lt;/mn&gt;&lt;mn&gt;29&lt;/mn&gt;&lt;/mfrac&gt;&lt;mo&gt;,&lt;/mo&gt;&lt;mtext&gt;&lt;/mtext&gt;&lt;mo&gt;.&lt;/mo&gt;&lt;mo&gt;.&lt;/mo&gt;&lt;mo&gt;.&lt;/mo&gt;&lt;/math&gt;" title="13 over 29 comma 18 over 29 comma 23 over 29 comma 28 over 29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412" y="4931495"/>
            <a:ext cx="1318417" cy="32058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4169441" y="4889607"/>
            <a:ext cx="2925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3" name="Google Shape;173;p20" descr="&lt;math xmlns=&quot;http://www.w3.org/1998/Math/MathML&quot; display=&quot;block&quot; data-is-equatio=&quot;1&quot; data-latex=&quot;\frac{1}{2},\frac{1}{3},\frac{1}{4},\frac{1}{5},\ ...&quot;&gt;&lt;mfrac&gt;&lt;mn&gt;1&lt;/mn&gt;&lt;mn&gt;2&lt;/mn&gt;&lt;/mfrac&gt;&lt;mo&gt;,&lt;/mo&gt;&lt;mfrac&gt;&lt;mn&gt;1&lt;/mn&gt;&lt;mn&gt;3&lt;/mn&gt;&lt;/mfrac&gt;&lt;mo&gt;,&lt;/mo&gt;&lt;mfrac&gt;&lt;mn&gt;1&lt;/mn&gt;&lt;mn&gt;4&lt;/mn&gt;&lt;/mfrac&gt;&lt;mo&gt;,&lt;/mo&gt;&lt;mfrac&gt;&lt;mn&gt;1&lt;/mn&gt;&lt;mn&gt;5&lt;/mn&gt;&lt;/mfrac&gt;&lt;mo&gt;,&lt;/mo&gt;&lt;mtext&gt;&lt;/mtext&gt;&lt;mo&gt;.&lt;/mo&gt;&lt;mo&gt;.&lt;/mo&gt;&lt;mo&gt;.&lt;/mo&gt;&lt;/math&gt;" title="one half comma one third comma one fourth comma one fifth comma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1009" y="4931500"/>
            <a:ext cx="1050772" cy="32058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497800" y="6701775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first five terms of these three sequences: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6400" y="6205400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Checking understanding of arithmetic sequences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6" name="Google Shape;176;p20"/>
          <p:cNvGraphicFramePr>
            <a:graphicFrameLocks noGrp="1"/>
          </p:cNvGraphicFramePr>
          <p:nvPr/>
        </p:nvGraphicFramePr>
        <p:xfrm>
          <a:off x="497799" y="7468495"/>
          <a:ext cx="2922200" cy="715750"/>
        </p:xfrm>
        <a:graphic>
          <a:graphicData uri="http://schemas.openxmlformats.org/drawingml/2006/table">
            <a:tbl>
              <a:tblPr>
                <a:noFill/>
                <a:tableStyleId>{E416BAAC-4509-47BD-8C5D-685D1F17E53D}</a:tableStyleId>
              </a:tblPr>
              <a:tblGrid>
                <a:gridCol w="1267200"/>
                <a:gridCol w="331000"/>
                <a:gridCol w="331000"/>
                <a:gridCol w="331000"/>
                <a:gridCol w="331000"/>
                <a:gridCol w="331000"/>
              </a:tblGrid>
              <a:tr h="364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7" name="Google Shape;177;p20"/>
          <p:cNvSpPr txBox="1"/>
          <p:nvPr/>
        </p:nvSpPr>
        <p:spPr>
          <a:xfrm>
            <a:off x="476400" y="7012175"/>
            <a:ext cx="29406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7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8" name="Google Shape;178;p20"/>
          <p:cNvGraphicFramePr>
            <a:graphicFrameLocks noGrp="1"/>
          </p:cNvGraphicFramePr>
          <p:nvPr/>
        </p:nvGraphicFramePr>
        <p:xfrm>
          <a:off x="4144499" y="7468489"/>
          <a:ext cx="2940650" cy="715750"/>
        </p:xfrm>
        <a:graphic>
          <a:graphicData uri="http://schemas.openxmlformats.org/drawingml/2006/table">
            <a:tbl>
              <a:tblPr>
                <a:noFill/>
                <a:tableStyleId>{E416BAAC-4509-47BD-8C5D-685D1F17E53D}</a:tableStyleId>
              </a:tblPr>
              <a:tblGrid>
                <a:gridCol w="1247525"/>
                <a:gridCol w="338625"/>
                <a:gridCol w="338625"/>
                <a:gridCol w="338625"/>
                <a:gridCol w="338625"/>
                <a:gridCol w="338625"/>
              </a:tblGrid>
              <a:tr h="364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0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9" name="Google Shape;179;p20"/>
          <p:cNvSpPr txBox="1"/>
          <p:nvPr/>
        </p:nvSpPr>
        <p:spPr>
          <a:xfrm>
            <a:off x="4140000" y="7041400"/>
            <a:ext cx="2974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− 7				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0" name="Google Shape;180;p20"/>
          <p:cNvGraphicFramePr>
            <a:graphicFrameLocks noGrp="1"/>
          </p:cNvGraphicFramePr>
          <p:nvPr/>
        </p:nvGraphicFramePr>
        <p:xfrm>
          <a:off x="460461" y="9067846"/>
          <a:ext cx="2974425" cy="688500"/>
        </p:xfrm>
        <a:graphic>
          <a:graphicData uri="http://schemas.openxmlformats.org/drawingml/2006/table">
            <a:tbl>
              <a:tblPr>
                <a:noFill/>
                <a:tableStyleId>{E416BAAC-4509-47BD-8C5D-685D1F17E53D}</a:tableStyleId>
              </a:tblPr>
              <a:tblGrid>
                <a:gridCol w="1304550"/>
                <a:gridCol w="333975"/>
                <a:gridCol w="333975"/>
                <a:gridCol w="333975"/>
                <a:gridCol w="333975"/>
                <a:gridCol w="333975"/>
              </a:tblGrid>
              <a:tr h="35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7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1" name="Google Shape;181;p20"/>
          <p:cNvSpPr txBox="1"/>
          <p:nvPr/>
        </p:nvSpPr>
        <p:spPr>
          <a:xfrm>
            <a:off x="476400" y="8666050"/>
            <a:ext cx="29406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+ 7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2" name="Google Shape;182;p20"/>
          <p:cNvGraphicFramePr>
            <a:graphicFrameLocks noGrp="1"/>
          </p:cNvGraphicFramePr>
          <p:nvPr/>
        </p:nvGraphicFramePr>
        <p:xfrm>
          <a:off x="4144499" y="9057654"/>
          <a:ext cx="2940650" cy="688500"/>
        </p:xfrm>
        <a:graphic>
          <a:graphicData uri="http://schemas.openxmlformats.org/drawingml/2006/table">
            <a:tbl>
              <a:tblPr>
                <a:noFill/>
                <a:tableStyleId>{E416BAAC-4509-47BD-8C5D-685D1F17E53D}</a:tableStyleId>
              </a:tblPr>
              <a:tblGrid>
                <a:gridCol w="1247525"/>
                <a:gridCol w="338625"/>
                <a:gridCol w="338625"/>
                <a:gridCol w="338625"/>
                <a:gridCol w="338625"/>
                <a:gridCol w="338625"/>
              </a:tblGrid>
              <a:tr h="35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7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3" name="Google Shape;183;p20"/>
          <p:cNvSpPr txBox="1"/>
          <p:nvPr/>
        </p:nvSpPr>
        <p:spPr>
          <a:xfrm>
            <a:off x="4140000" y="8666050"/>
            <a:ext cx="29406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7 − 3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4" name="Google Shape;184;p20"/>
          <p:cNvCxnSpPr/>
          <p:nvPr/>
        </p:nvCxnSpPr>
        <p:spPr>
          <a:xfrm>
            <a:off x="474757" y="61178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8" name="Shape 188"/>
        <p:cNvGrpSpPr/>
        <p:nvPr/>
      </p:nvGrpSpPr>
      <p:grpSpPr>
        <a:xfrm>
          <a:off x="0" y="0"/>
          <a:ext cx="0" cy="0"/>
        </a:xfrm>
      </p:grpSpPr>
      <p:sp>
        <p:nvSpPr>
          <p:cNvPr id="189" name="Google Shape;18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arithmetic sequences</a:t>
            </a:r>
            <a:endParaRPr/>
          </a:p>
        </p:txBody>
      </p:sp>
      <p:sp>
        <p:nvSpPr>
          <p:cNvPr id="190" name="Google Shape;19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476400" y="835500"/>
            <a:ext cx="66156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and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terms of these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476400" y="1145075"/>
            <a:ext cx="15576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+ 6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476400" y="2818043"/>
            <a:ext cx="12237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− 6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476400" y="4575219"/>
            <a:ext cx="13632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0.9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+ 0.6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76400" y="6300117"/>
            <a:ext cx="1197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6 − 9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6" name="Google Shape;196;p21"/>
          <p:cNvCxnSpPr/>
          <p:nvPr/>
        </p:nvCxnSpPr>
        <p:spPr>
          <a:xfrm>
            <a:off x="478957" y="80699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0" name="Shape 200"/>
        <p:cNvGrpSpPr/>
        <p:nvPr/>
      </p:nvGrpSpPr>
      <p:grpSpPr>
        <a:xfrm>
          <a:off x="0" y="0"/>
          <a:ext cx="0" cy="0"/>
        </a:xfrm>
      </p:grpSpPr>
      <p:sp>
        <p:nvSpPr>
          <p:cNvPr id="201" name="Google Shape;201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02" name="Google Shape;202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arithmetic sequences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468000" y="1300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Draw a visual representation for the first five terms of these sequences: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503225" y="896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 Representations of arithmetic sequences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468000" y="1618560"/>
            <a:ext cx="25020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5, 7, 9, 11,13,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2844600" y="1632550"/>
            <a:ext cx="23484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13,10, 7, 4, 1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5147994" y="1558760"/>
            <a:ext cx="13608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0" name="Google Shape;210;p22" descr="&lt;math xmlns=&quot;http://www.w3.org/1998/Math/MathML&quot; data-is-equatio=&quot;1&quot; data-equatio-url=&quot;https://equatio-api.texthelp.com/desmos/get/05-01-2024/bca3a862-3dc4-4da1-b1be-fb5d6b24a5a3&quot; data-equatio-type=&quot;desmos&quot;&gt;&lt;mglyph src=&quot;https://equatio-api.texthelp.com/desmos/get/05-01-2024/bca3a862-3dc4-4da1-b1be-fb5d6b24a5a3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2319" r="61929"/>
          <a:stretch>
            <a:fillRect/>
          </a:stretch>
        </p:blipFill>
        <p:spPr>
          <a:xfrm>
            <a:off x="950890" y="6482150"/>
            <a:ext cx="1138172" cy="3224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2" descr="&lt;math xmlns=&quot;http://www.w3.org/1998/Math/MathML&quot; data-is-equatio=&quot;1&quot; data-equatio-url=&quot;https://equatio-api.texthelp.com/desmos/get/05-01-2024/8782b227-6c92-4173-b6f6-6c20277c5614&quot; data-equatio-type=&quot;desmos&quot;&gt;&lt;mglyph src=&quot;https://equatio-api.texthelp.com/desmos/get/05-01-2024/8782b227-6c92-4173-b6f6-6c20277c5614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6226" r="67532"/>
          <a:stretch>
            <a:fillRect/>
          </a:stretch>
        </p:blipFill>
        <p:spPr>
          <a:xfrm>
            <a:off x="4762292" y="6478437"/>
            <a:ext cx="1197320" cy="307204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476400" y="4645500"/>
            <a:ext cx="6220800" cy="2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Plot the first five terms of these sequences: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476400" y="5006325"/>
            <a:ext cx="12666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4139991" y="5006319"/>
            <a:ext cx="14520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10 − 3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5" name="Google Shape;215;p22"/>
          <p:cNvGraphicFramePr>
            <a:graphicFrameLocks noGrp="1"/>
          </p:cNvGraphicFramePr>
          <p:nvPr/>
        </p:nvGraphicFramePr>
        <p:xfrm>
          <a:off x="520160" y="54895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{E416BAAC-4509-47BD-8C5D-685D1F17E53D}</a:tableStyleId>
              </a:tblPr>
              <a:tblGrid>
                <a:gridCol w="265900"/>
                <a:gridCol w="366900"/>
                <a:gridCol w="366900"/>
                <a:gridCol w="366900"/>
                <a:gridCol w="366900"/>
                <a:gridCol w="366900"/>
              </a:tblGrid>
              <a:tr h="371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2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6" name="Google Shape;216;p22"/>
          <p:cNvSpPr txBox="1"/>
          <p:nvPr/>
        </p:nvSpPr>
        <p:spPr>
          <a:xfrm>
            <a:off x="754025" y="6595565"/>
            <a:ext cx="1515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2134421" y="9404939"/>
            <a:ext cx="151500" cy="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4569275" y="6441767"/>
            <a:ext cx="1677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5984925" y="8093918"/>
            <a:ext cx="1677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7031608" y="6950152"/>
            <a:ext cx="63600" cy="190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aphicFrame>
        <p:nvGraphicFramePr>
          <p:cNvPr id="221" name="Google Shape;221;p22"/>
          <p:cNvGraphicFramePr>
            <a:graphicFrameLocks noGrp="1"/>
          </p:cNvGraphicFramePr>
          <p:nvPr/>
        </p:nvGraphicFramePr>
        <p:xfrm>
          <a:off x="4154388" y="54895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{E416BAAC-4509-47BD-8C5D-685D1F17E53D}</a:tableStyleId>
              </a:tblPr>
              <a:tblGrid>
                <a:gridCol w="281150"/>
                <a:gridCol w="387925"/>
                <a:gridCol w="387925"/>
                <a:gridCol w="387925"/>
                <a:gridCol w="387925"/>
                <a:gridCol w="387925"/>
              </a:tblGrid>
              <a:tr h="371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2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42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Checking understanding of arithmetic sequences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2024-02-06T11:24:11.623</cp:lastPrinted>
  <dcterms:created xsi:type="dcterms:W3CDTF">2024-02-06T11:24:11Z</dcterms:created>
  <dcterms:modified xsi:type="dcterms:W3CDTF">2024-02-06T11:21:09Z</dcterms:modified>
</cp:coreProperties>
</file>