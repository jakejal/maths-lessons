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70" r:id="rId1"/>
    <p:sldMasterId id="214748377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9144000" cy="5143500"/>
  <p:notesSz cx="6858000" cy="9144000"/>
  <p:embeddedFontLst>
    <p:embeddedFont>
      <p:font typeface="Lexend" panose="00000000000000000000"/>
      <p:regular r:id="rId46"/>
    </p:embeddedFont>
    <p:embeddedFont>
      <p:font typeface="Lexend Medium" panose="00000000000000000000"/>
      <p:regular r:id="rId47"/>
    </p:embeddedFont>
    <p:embeddedFont>
      <p:font typeface="Kalam" panose="02000000000000000000"/>
      <p:regular r:id="rId48"/>
    </p:embeddedFont>
    <p:embeddedFont>
      <p:font typeface="Lexend Light" panose="00000000000000000000"/>
      <p:regular r:id="rId49"/>
    </p:embeddedFont>
  </p:embeddedFontLst>
  <p:custDataLst>
    <p:tags r:id="rId4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0F1DE73-5561-488D-9583-F09E6C00BDB8}">
  <a:tblStyle styleId="{80F1DE73-5561-488D-9583-F09E6C00BD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2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tags" Target="tags/tag1.xml" /><Relationship Id="rId46" Type="http://schemas.openxmlformats.org/officeDocument/2006/relationships/font" Target="fonts/font1.fntdata" /><Relationship Id="rId47" Type="http://schemas.openxmlformats.org/officeDocument/2006/relationships/font" Target="fonts/font2.fntdata" /><Relationship Id="rId48" Type="http://schemas.openxmlformats.org/officeDocument/2006/relationships/font" Target="fonts/font3.fntdata" /><Relationship Id="rId49" Type="http://schemas.openxmlformats.org/officeDocument/2006/relationships/font" Target="fonts/font4.fntdata" /><Relationship Id="rId5" Type="http://schemas.openxmlformats.org/officeDocument/2006/relationships/slide" Target="slides/slide2.xml" /><Relationship Id="rId50" Type="http://schemas.openxmlformats.org/officeDocument/2006/relationships/presProps" Target="presProps.xml" /><Relationship Id="rId51" Type="http://schemas.openxmlformats.org/officeDocument/2006/relationships/viewProps" Target="viewProps.xml" /><Relationship Id="rId52" Type="http://schemas.openxmlformats.org/officeDocument/2006/relationships/theme" Target="theme/theme1.xml" /><Relationship Id="rId53" Type="http://schemas.openxmlformats.org/officeDocument/2006/relationships/tableStyles" Target="tableStyles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96" name="Shape 1496"/>
        <p:cNvGrpSpPr/>
        <p:nvPr/>
      </p:nvGrpSpPr>
      <p:grpSpPr>
        <a:xfrm>
          <a:off x="0" y="0"/>
          <a:ext cx="0" cy="0"/>
        </a:xfrm>
      </p:grpSpPr>
      <p:sp>
        <p:nvSpPr>
          <p:cNvPr id="1497" name="Google Shape;149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2" name="Shape 1502"/>
        <p:cNvGrpSpPr/>
        <p:nvPr/>
      </p:nvGrpSpPr>
      <p:grpSpPr>
        <a:xfrm>
          <a:off x="0" y="0"/>
          <a:ext cx="0" cy="0"/>
        </a:xfrm>
      </p:grpSpPr>
      <p:sp>
        <p:nvSpPr>
          <p:cNvPr id="1503" name="Google Shape;150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7" name="Shape 1507"/>
        <p:cNvGrpSpPr/>
        <p:nvPr/>
      </p:nvGrpSpPr>
      <p:grpSpPr>
        <a:xfrm>
          <a:off x="0" y="0"/>
          <a:ext cx="0" cy="0"/>
        </a:xfrm>
      </p:grpSpPr>
      <p:sp>
        <p:nvSpPr>
          <p:cNvPr id="1508" name="Google Shape;150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2" name="Shape 1512"/>
        <p:cNvGrpSpPr/>
        <p:nvPr/>
      </p:nvGrpSpPr>
      <p:grpSpPr>
        <a:xfrm>
          <a:off x="0" y="0"/>
          <a:ext cx="0" cy="0"/>
        </a:xfrm>
      </p:grpSpPr>
      <p:sp>
        <p:nvSpPr>
          <p:cNvPr id="1513" name="Google Shape;1513;g2ad18b20344_0_76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ad18b20344_0_7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18" name="Shape 1518"/>
        <p:cNvGrpSpPr/>
        <p:nvPr/>
      </p:nvGrpSpPr>
      <p:grpSpPr>
        <a:xfrm>
          <a:off x="0" y="0"/>
          <a:ext cx="0" cy="0"/>
        </a:xfrm>
      </p:grpSpPr>
      <p:sp>
        <p:nvSpPr>
          <p:cNvPr id="1519" name="Google Shape;1519;g2ad18b20344_0_15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2ad18b20344_0_15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26" name="Shape 1526"/>
        <p:cNvGrpSpPr/>
        <p:nvPr/>
      </p:nvGrpSpPr>
      <p:grpSpPr>
        <a:xfrm>
          <a:off x="0" y="0"/>
          <a:ext cx="0" cy="0"/>
        </a:xfrm>
      </p:grpSpPr>
      <p:sp>
        <p:nvSpPr>
          <p:cNvPr id="1527" name="Google Shape;1527;g2ad18b20344_0_15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ad18b20344_0_15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5" name="Shape 1605"/>
        <p:cNvGrpSpPr/>
        <p:nvPr/>
      </p:nvGrpSpPr>
      <p:grpSpPr>
        <a:xfrm>
          <a:off x="0" y="0"/>
          <a:ext cx="0" cy="0"/>
        </a:xfrm>
      </p:grpSpPr>
      <p:sp>
        <p:nvSpPr>
          <p:cNvPr id="1606" name="Google Shape;1606;g2ad4815724b_0_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2ad4815724b_0_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4" name="Shape 1674"/>
        <p:cNvGrpSpPr/>
        <p:nvPr/>
      </p:nvGrpSpPr>
      <p:grpSpPr>
        <a:xfrm>
          <a:off x="0" y="0"/>
          <a:ext cx="0" cy="0"/>
        </a:xfrm>
      </p:grpSpPr>
      <p:sp>
        <p:nvSpPr>
          <p:cNvPr id="1675" name="Google Shape;1675;g2ad4815724b_0_19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2ad4815724b_0_19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0" name="Shape 1740"/>
        <p:cNvGrpSpPr/>
        <p:nvPr/>
      </p:nvGrpSpPr>
      <p:grpSpPr>
        <a:xfrm>
          <a:off x="0" y="0"/>
          <a:ext cx="0" cy="0"/>
        </a:xfrm>
      </p:grpSpPr>
      <p:sp>
        <p:nvSpPr>
          <p:cNvPr id="1741" name="Google Shape;1741;g2adb98c1763_0_10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2adb98c1763_0_10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1" name="Shape 1771"/>
        <p:cNvGrpSpPr/>
        <p:nvPr/>
      </p:nvGrpSpPr>
      <p:grpSpPr>
        <a:xfrm>
          <a:off x="0" y="0"/>
          <a:ext cx="0" cy="0"/>
        </a:xfrm>
      </p:grpSpPr>
      <p:sp>
        <p:nvSpPr>
          <p:cNvPr id="1772" name="Google Shape;1772;g2ad4815724b_0_2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2ad4815724b_0_2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5" name="Shape 1805"/>
        <p:cNvGrpSpPr/>
        <p:nvPr/>
      </p:nvGrpSpPr>
      <p:grpSpPr>
        <a:xfrm>
          <a:off x="0" y="0"/>
          <a:ext cx="0" cy="0"/>
        </a:xfrm>
      </p:grpSpPr>
      <p:sp>
        <p:nvSpPr>
          <p:cNvPr id="1806" name="Google Shape;1806;g2ad4815724b_0_3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2ad4815724b_0_3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4" name="Shape 1834"/>
        <p:cNvGrpSpPr/>
        <p:nvPr/>
      </p:nvGrpSpPr>
      <p:grpSpPr>
        <a:xfrm>
          <a:off x="0" y="0"/>
          <a:ext cx="0" cy="0"/>
        </a:xfrm>
      </p:grpSpPr>
      <p:sp>
        <p:nvSpPr>
          <p:cNvPr id="1835" name="Google Shape;1835;g2ad4815724b_0_34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2ad4815724b_0_34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5" name="Shape 1865"/>
        <p:cNvGrpSpPr/>
        <p:nvPr/>
      </p:nvGrpSpPr>
      <p:grpSpPr>
        <a:xfrm>
          <a:off x="0" y="0"/>
          <a:ext cx="0" cy="0"/>
        </a:xfrm>
      </p:grpSpPr>
      <p:sp>
        <p:nvSpPr>
          <p:cNvPr id="1866" name="Google Shape;1866;g2ad4815724b_0_4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ad4815724b_0_4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5" name="Shape 1875"/>
        <p:cNvGrpSpPr/>
        <p:nvPr/>
      </p:nvGrpSpPr>
      <p:grpSpPr>
        <a:xfrm>
          <a:off x="0" y="0"/>
          <a:ext cx="0" cy="0"/>
        </a:xfrm>
      </p:grpSpPr>
      <p:sp>
        <p:nvSpPr>
          <p:cNvPr id="1876" name="Google Shape;1876;g2ad4815724b_0_39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2ad4815724b_0_39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04" name="Shape 1904"/>
        <p:cNvGrpSpPr/>
        <p:nvPr/>
      </p:nvGrpSpPr>
      <p:grpSpPr>
        <a:xfrm>
          <a:off x="0" y="0"/>
          <a:ext cx="0" cy="0"/>
        </a:xfrm>
      </p:grpSpPr>
      <p:sp>
        <p:nvSpPr>
          <p:cNvPr id="1905" name="Google Shape;1905;g2ad4815724b_0_4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ad4815724b_0_4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36" name="Shape 1936"/>
        <p:cNvGrpSpPr/>
        <p:nvPr/>
      </p:nvGrpSpPr>
      <p:grpSpPr>
        <a:xfrm>
          <a:off x="0" y="0"/>
          <a:ext cx="0" cy="0"/>
        </a:xfrm>
      </p:grpSpPr>
      <p:sp>
        <p:nvSpPr>
          <p:cNvPr id="1937" name="Google Shape;1937;g2adb98c176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2adb98c176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4" name="Shape 1964"/>
        <p:cNvGrpSpPr/>
        <p:nvPr/>
      </p:nvGrpSpPr>
      <p:grpSpPr>
        <a:xfrm>
          <a:off x="0" y="0"/>
          <a:ext cx="0" cy="0"/>
        </a:xfrm>
      </p:grpSpPr>
      <p:sp>
        <p:nvSpPr>
          <p:cNvPr id="1965" name="Google Shape;1965;g2adb98c1763_0_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2adb98c1763_0_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75" name="Shape 1975"/>
        <p:cNvGrpSpPr/>
        <p:nvPr/>
      </p:nvGrpSpPr>
      <p:grpSpPr>
        <a:xfrm>
          <a:off x="0" y="0"/>
          <a:ext cx="0" cy="0"/>
        </a:xfrm>
      </p:grpSpPr>
      <p:sp>
        <p:nvSpPr>
          <p:cNvPr id="1976" name="Google Shape;1976;g2ad4815724b_0_4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2ad4815724b_0_4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93" name="Shape 1993"/>
        <p:cNvGrpSpPr/>
        <p:nvPr/>
      </p:nvGrpSpPr>
      <p:grpSpPr>
        <a:xfrm>
          <a:off x="0" y="0"/>
          <a:ext cx="0" cy="0"/>
        </a:xfrm>
      </p:grpSpPr>
      <p:sp>
        <p:nvSpPr>
          <p:cNvPr id="1994" name="Google Shape;1994;g2ad4815724b_0_5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2ad4815724b_0_5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5" name="Shape 2045"/>
        <p:cNvGrpSpPr/>
        <p:nvPr/>
      </p:nvGrpSpPr>
      <p:grpSpPr>
        <a:xfrm>
          <a:off x="0" y="0"/>
          <a:ext cx="0" cy="0"/>
        </a:xfrm>
      </p:grpSpPr>
      <p:sp>
        <p:nvSpPr>
          <p:cNvPr id="2046" name="Google Shape;2046;g2ad4815724b_0_6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7" name="Google Shape;2047;g2ad4815724b_0_6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3" name="Shape 2053"/>
        <p:cNvGrpSpPr/>
        <p:nvPr/>
      </p:nvGrpSpPr>
      <p:grpSpPr>
        <a:xfrm>
          <a:off x="0" y="0"/>
          <a:ext cx="0" cy="0"/>
        </a:xfrm>
      </p:grpSpPr>
      <p:sp>
        <p:nvSpPr>
          <p:cNvPr id="2054" name="Google Shape;2054;g2ad4815724b_0_6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ad4815724b_0_6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2" name="Shape 2082"/>
        <p:cNvGrpSpPr/>
        <p:nvPr/>
      </p:nvGrpSpPr>
      <p:grpSpPr>
        <a:xfrm>
          <a:off x="0" y="0"/>
          <a:ext cx="0" cy="0"/>
        </a:xfrm>
      </p:grpSpPr>
      <p:sp>
        <p:nvSpPr>
          <p:cNvPr id="2083" name="Google Shape;2083;g2ad4815724b_0_6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2ad4815724b_0_6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9" name="Shape 2129"/>
        <p:cNvGrpSpPr/>
        <p:nvPr/>
      </p:nvGrpSpPr>
      <p:grpSpPr>
        <a:xfrm>
          <a:off x="0" y="0"/>
          <a:ext cx="0" cy="0"/>
        </a:xfrm>
      </p:grpSpPr>
      <p:sp>
        <p:nvSpPr>
          <p:cNvPr id="2130" name="Google Shape;2130;g2af31e771e8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1" name="Google Shape;2131;g2af31e771e8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3" name="Shape 2153"/>
        <p:cNvGrpSpPr/>
        <p:nvPr/>
      </p:nvGrpSpPr>
      <p:grpSpPr>
        <a:xfrm>
          <a:off x="0" y="0"/>
          <a:ext cx="0" cy="0"/>
        </a:xfrm>
      </p:grpSpPr>
      <p:sp>
        <p:nvSpPr>
          <p:cNvPr id="2154" name="Google Shape;2154;g2ad4815724b_0_7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5" name="Google Shape;2155;g2ad4815724b_0_7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5" name="Shape 2175"/>
        <p:cNvGrpSpPr/>
        <p:nvPr/>
      </p:nvGrpSpPr>
      <p:grpSpPr>
        <a:xfrm>
          <a:off x="0" y="0"/>
          <a:ext cx="0" cy="0"/>
        </a:xfrm>
      </p:grpSpPr>
      <p:sp>
        <p:nvSpPr>
          <p:cNvPr id="2176" name="Google Shape;2176;g2ad4815724b_0_8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2ad4815724b_0_8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89" name="Shape 2189"/>
        <p:cNvGrpSpPr/>
        <p:nvPr/>
      </p:nvGrpSpPr>
      <p:grpSpPr>
        <a:xfrm>
          <a:off x="0" y="0"/>
          <a:ext cx="0" cy="0"/>
        </a:xfrm>
      </p:grpSpPr>
      <p:sp>
        <p:nvSpPr>
          <p:cNvPr id="2190" name="Google Shape;2190;g2ad4815724b_0_8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2ad4815724b_0_8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1" name="Shape 2211"/>
        <p:cNvGrpSpPr/>
        <p:nvPr/>
      </p:nvGrpSpPr>
      <p:grpSpPr>
        <a:xfrm>
          <a:off x="0" y="0"/>
          <a:ext cx="0" cy="0"/>
        </a:xfrm>
      </p:grpSpPr>
      <p:sp>
        <p:nvSpPr>
          <p:cNvPr id="2212" name="Google Shape;2212;g2ad4815724b_0_85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3" name="Google Shape;2213;g2ad4815724b_0_85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35" name="Shape 2235"/>
        <p:cNvGrpSpPr/>
        <p:nvPr/>
      </p:nvGrpSpPr>
      <p:grpSpPr>
        <a:xfrm>
          <a:off x="0" y="0"/>
          <a:ext cx="0" cy="0"/>
        </a:xfrm>
      </p:grpSpPr>
      <p:sp>
        <p:nvSpPr>
          <p:cNvPr id="2236" name="Google Shape;2236;g2ad4815724b_0_8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7" name="Google Shape;2237;g2ad4815724b_0_8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51" name="Shape 2251"/>
        <p:cNvGrpSpPr/>
        <p:nvPr/>
      </p:nvGrpSpPr>
      <p:grpSpPr>
        <a:xfrm>
          <a:off x="0" y="0"/>
          <a:ext cx="0" cy="0"/>
        </a:xfrm>
      </p:grpSpPr>
      <p:sp>
        <p:nvSpPr>
          <p:cNvPr id="2252" name="Google Shape;2252;g2ad4815724b_0_101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3" name="Google Shape;2253;g2ad4815724b_0_10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70" name="Shape 2270"/>
        <p:cNvGrpSpPr/>
        <p:nvPr/>
      </p:nvGrpSpPr>
      <p:grpSpPr>
        <a:xfrm>
          <a:off x="0" y="0"/>
          <a:ext cx="0" cy="0"/>
        </a:xfrm>
      </p:grpSpPr>
      <p:sp>
        <p:nvSpPr>
          <p:cNvPr id="2271" name="Google Shape;2271;g2ad4815724b_0_88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2ad4815724b_0_88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99" name="Shape 2299"/>
        <p:cNvGrpSpPr/>
        <p:nvPr/>
      </p:nvGrpSpPr>
      <p:grpSpPr>
        <a:xfrm>
          <a:off x="0" y="0"/>
          <a:ext cx="0" cy="0"/>
        </a:xfrm>
      </p:grpSpPr>
      <p:sp>
        <p:nvSpPr>
          <p:cNvPr id="2300" name="Google Shape;2300;g2ad4815724b_0_93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1" name="Google Shape;2301;g2ad4815724b_0_93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43" name="Shape 2343"/>
        <p:cNvGrpSpPr/>
        <p:nvPr/>
      </p:nvGrpSpPr>
      <p:grpSpPr>
        <a:xfrm>
          <a:off x="0" y="0"/>
          <a:ext cx="0" cy="0"/>
        </a:xfrm>
      </p:grpSpPr>
      <p:sp>
        <p:nvSpPr>
          <p:cNvPr id="2344" name="Google Shape;2344;g2ad4815724b_0_10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5" name="Google Shape;2345;g2ad4815724b_0_10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383" name="Shape 2383"/>
        <p:cNvGrpSpPr/>
        <p:nvPr/>
      </p:nvGrpSpPr>
      <p:grpSpPr>
        <a:xfrm>
          <a:off x="0" y="0"/>
          <a:ext cx="0" cy="0"/>
        </a:xfrm>
      </p:grpSpPr>
      <p:sp>
        <p:nvSpPr>
          <p:cNvPr id="2384" name="Google Shape;2384;g2ad4815724b_0_1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5" name="Google Shape;2385;g2ad4815724b_0_1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17" name="Shape 2417"/>
        <p:cNvGrpSpPr/>
        <p:nvPr/>
      </p:nvGrpSpPr>
      <p:grpSpPr>
        <a:xfrm>
          <a:off x="0" y="0"/>
          <a:ext cx="0" cy="0"/>
        </a:xfrm>
      </p:grpSpPr>
      <p:sp>
        <p:nvSpPr>
          <p:cNvPr id="2418" name="Google Shape;2418;g2ad4815724b_0_11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9" name="Google Shape;2419;g2ad4815724b_0_11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45" name="Shape 2445"/>
        <p:cNvGrpSpPr/>
        <p:nvPr/>
      </p:nvGrpSpPr>
      <p:grpSpPr>
        <a:xfrm>
          <a:off x="0" y="0"/>
          <a:ext cx="0" cy="0"/>
        </a:xfrm>
      </p:grpSpPr>
      <p:sp>
        <p:nvSpPr>
          <p:cNvPr id="2446" name="Google Shape;2446;g2adb98c1763_0_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7" name="Google Shape;2447;g2adb98c1763_0_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71" name="Shape 2471"/>
        <p:cNvGrpSpPr/>
        <p:nvPr/>
      </p:nvGrpSpPr>
      <p:grpSpPr>
        <a:xfrm>
          <a:off x="0" y="0"/>
          <a:ext cx="0" cy="0"/>
        </a:xfrm>
      </p:grpSpPr>
      <p:sp>
        <p:nvSpPr>
          <p:cNvPr id="2472" name="Google Shape;2472;g2ad4815724b_0_10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3" name="Google Shape;2473;g2ad4815724b_0_10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486" name="Shape 2486"/>
        <p:cNvGrpSpPr/>
        <p:nvPr/>
      </p:nvGrpSpPr>
      <p:grpSpPr>
        <a:xfrm>
          <a:off x="0" y="0"/>
          <a:ext cx="0" cy="0"/>
        </a:xfrm>
      </p:grpSpPr>
      <p:sp>
        <p:nvSpPr>
          <p:cNvPr id="2487" name="Google Shape;2487;g2adb98c1763_0_2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8" name="Google Shape;2488;g2adb98c1763_0_2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2" name="Shape 2502"/>
        <p:cNvGrpSpPr/>
        <p:nvPr/>
      </p:nvGrpSpPr>
      <p:grpSpPr>
        <a:xfrm>
          <a:off x="0" y="0"/>
          <a:ext cx="0" cy="0"/>
        </a:xfrm>
      </p:grpSpPr>
      <p:sp>
        <p:nvSpPr>
          <p:cNvPr id="2503" name="Google Shape;2503;g2adb98c1763_0_2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4" name="Google Shape;2504;g2adb98c1763_0_2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26" name="Shape 2526"/>
        <p:cNvGrpSpPr/>
        <p:nvPr/>
      </p:nvGrpSpPr>
      <p:grpSpPr>
        <a:xfrm>
          <a:off x="0" y="0"/>
          <a:ext cx="0" cy="0"/>
        </a:xfrm>
      </p:grpSpPr>
      <p:sp>
        <p:nvSpPr>
          <p:cNvPr id="2527" name="Google Shape;2527;g2adb98c1763_0_2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8" name="Google Shape;2528;g2adb98c1763_0_2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46" name="Shape 2546"/>
        <p:cNvGrpSpPr/>
        <p:nvPr/>
      </p:nvGrpSpPr>
      <p:grpSpPr>
        <a:xfrm>
          <a:off x="0" y="0"/>
          <a:ext cx="0" cy="0"/>
        </a:xfrm>
      </p:grpSpPr>
      <p:sp>
        <p:nvSpPr>
          <p:cNvPr id="2547" name="Google Shape;2547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8" name="Google Shape;2548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65" name="Shape 2565"/>
        <p:cNvGrpSpPr/>
        <p:nvPr/>
      </p:nvGrpSpPr>
      <p:grpSpPr>
        <a:xfrm>
          <a:off x="0" y="0"/>
          <a:ext cx="0" cy="0"/>
        </a:xfrm>
      </p:grpSpPr>
      <p:sp>
        <p:nvSpPr>
          <p:cNvPr id="2566" name="Google Shape;2566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7" name="Google Shape;2567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2.xml" /></Relationships>
</file>

<file path=ppt/slideLayouts/_rels/slideLayout6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2.xml" /></Relationships>
</file>

<file path=ppt/slideLayouts/_rels/slideLayout6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2.xml" /></Relationships>
</file>

<file path=ppt/slideLayouts/_rels/slideLayout6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6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2.xml" /></Relationships>
</file>

<file path=ppt/slideLayouts/_rels/slideLayout6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2.xml" /></Relationships>
</file>

<file path=ppt/slideLayouts/_rels/slideLayout7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7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2.xml" /></Relationships>
</file>

<file path=ppt/slideLayouts/_rels/slideLayout7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7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2.xml" /></Relationships>
</file>

<file path=ppt/slideLayouts/_rels/slideLayout7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2.xml" /></Relationships>
</file>

<file path=ppt/slideLayouts/_rels/slideLayout8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2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8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2.xml" /></Relationships>
</file>

<file path=ppt/slideLayouts/_rels/slideLayout8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2.xml" /></Relationships>
</file>

<file path=ppt/slideLayouts/_rels/slideLayout8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2.xml" /></Relationships>
</file>

<file path=ppt/slideLayouts/_rels/slideLayout9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2.xml" /></Relationships>
</file>

<file path=ppt/slideLayouts/_rels/slideLayout9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9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2.xml" /></Relationships>
</file>

<file path=ppt/slideLayouts/_rels/slideLayout10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2.xml" /></Relationships>
</file>

<file path=ppt/slideLayouts/_rels/slideLayout10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2.xml" /></Relationships>
</file>

<file path=ppt/slideLayouts/_rels/slideLayout1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2.xml" /></Relationships>
</file>

<file path=ppt/slideLayouts/_rels/slideLayout1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2.xml" /></Relationships>
</file>

<file path=ppt/slideLayouts/_rels/slideLayout1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2.xml" /></Relationships>
</file>

<file path=ppt/slideLayouts/_rels/slideLayout1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2.xml" /></Relationships>
</file>

<file path=ppt/slideLayouts/_rels/slideLayout1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</a:xfrm>
      </p:grpSpPr>
      <p:pic>
        <p:nvPicPr>
          <p:cNvPr id="748" name="Google Shape;748;p63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pic>
        <p:nvPicPr>
          <p:cNvPr id="756" name="Google Shape;756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</a:xfrm>
      </p:grpSpPr>
      <p:pic>
        <p:nvPicPr>
          <p:cNvPr id="764" name="Google Shape;764;p6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pic>
        <p:nvPicPr>
          <p:cNvPr id="772" name="Google Shape;772;p66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</a:xfrm>
      </p:grpSpPr>
      <p:pic>
        <p:nvPicPr>
          <p:cNvPr id="783" name="Google Shape;783;p6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pic>
        <p:nvPicPr>
          <p:cNvPr id="802" name="Google Shape;802;p6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6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</a:xfrm>
      </p:grpSpPr>
      <p:pic>
        <p:nvPicPr>
          <p:cNvPr id="810" name="Google Shape;810;p7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6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</a:xfrm>
      </p:grpSpPr>
      <p:pic>
        <p:nvPicPr>
          <p:cNvPr id="821" name="Google Shape;821;p71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7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7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7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7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pic>
        <p:nvPicPr>
          <p:cNvPr id="907" name="Google Shape;907;p8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</a:xfrm>
      </p:grpSpPr>
      <p:pic>
        <p:nvPicPr>
          <p:cNvPr id="925" name="Google Shape;925;p82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8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9" name="Google Shape;949;p8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8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pic>
        <p:nvPicPr>
          <p:cNvPr id="954" name="Google Shape;954;p8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6" name="Google Shape;956;p8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</a:xfrm>
      </p:grpSpPr>
      <p:pic>
        <p:nvPicPr>
          <p:cNvPr id="961" name="Google Shape;961;p8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3" name="Google Shape;963;p8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</a:xfrm>
      </p:grpSpPr>
      <p:pic>
        <p:nvPicPr>
          <p:cNvPr id="968" name="Google Shape;968;p8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0" name="Google Shape;970;p8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8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8" name="Google Shape;978;p8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1" name="Google Shape;991;p8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4" name="Google Shape;1004;p8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7" name="Google Shape;1017;p90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8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</a:xfrm>
      </p:grpSpPr>
      <p:pic>
        <p:nvPicPr>
          <p:cNvPr id="1050" name="Google Shape;1050;p9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</a:xfrm>
      </p:grpSpPr>
      <p:pic>
        <p:nvPicPr>
          <p:cNvPr id="1073" name="Google Shape;1073;p9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</a:xfrm>
      </p:grpSpPr>
      <p:pic>
        <p:nvPicPr>
          <p:cNvPr id="1096" name="Google Shape;1096;p9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9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</a:xfrm>
      </p:grpSpPr>
      <p:pic>
        <p:nvPicPr>
          <p:cNvPr id="1138" name="Google Shape;1138;p9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pic>
        <p:nvPicPr>
          <p:cNvPr id="1157" name="Google Shape;1157;p9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</a:xfrm>
      </p:grpSpPr>
      <p:pic>
        <p:nvPicPr>
          <p:cNvPr id="1176" name="Google Shape;1176;p9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</a:xfrm>
      </p:grpSpPr>
      <p:pic>
        <p:nvPicPr>
          <p:cNvPr id="1218" name="Google Shape;1218;p10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9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</a:xfrm>
      </p:grpSpPr>
      <p:pic>
        <p:nvPicPr>
          <p:cNvPr id="1241" name="Google Shape;1241;p10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</a:xfrm>
      </p:grpSpPr>
      <p:pic>
        <p:nvPicPr>
          <p:cNvPr id="1264" name="Google Shape;1264;p10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4" name="Google Shape;1294;p10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5" name="Google Shape;1295;p10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296" name="Google Shape;1296;p10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9" name="Google Shape;1299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</a:xfrm>
      </p:grpSpPr>
      <p:pic>
        <p:nvPicPr>
          <p:cNvPr id="1309" name="Google Shape;1309;p10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1" name="Google Shape;1311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6" name="Google Shape;1316;p10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7" name="Google Shape;1317;p10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18" name="Google Shape;1318;p10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10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10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1" name="Google Shape;1321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7" name="Google Shape;1327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8" name="Google Shape;1328;p10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9" name="Google Shape;132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30" name="Shape 1330"/>
        <p:cNvGrpSpPr/>
        <p:nvPr/>
      </p:nvGrpSpPr>
      <p:grpSpPr>
        <a:xfrm>
          <a:off x="0" y="0"/>
          <a:ext cx="0" cy="0"/>
        </a:xfrm>
      </p:grpSpPr>
      <p:pic>
        <p:nvPicPr>
          <p:cNvPr id="1331" name="Google Shape;1331;p10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3" name="Google Shape;1333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4" name="Google Shape;1334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10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7" name="Google Shape;1337;p10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8" name="Google Shape;1338;p10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39" name="Google Shape;1339;p10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40" name="Google Shape;1340;p105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5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05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3" name="Google Shape;1343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7" name="Google Shape;1347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9" name="Google Shape;1349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50" name="Google Shape;1350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1" name="Google Shape;135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52" name="Shape 1352"/>
        <p:cNvGrpSpPr/>
        <p:nvPr/>
      </p:nvGrpSpPr>
      <p:grpSpPr>
        <a:xfrm>
          <a:off x="0" y="0"/>
          <a:ext cx="0" cy="0"/>
        </a:xfrm>
      </p:grpSpPr>
      <p:pic>
        <p:nvPicPr>
          <p:cNvPr id="1353" name="Google Shape;1353;p10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5" name="Google Shape;1355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6" name="Google Shape;1356;p106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106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106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59" name="Google Shape;1359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106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63" name="Google Shape;1363;p106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1364" name="Google Shape;1364;p106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365" name="Google Shape;1365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66" name="Google Shape;1366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7" name="Google Shape;1367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8" name="Google Shape;1368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9" name="Google Shape;1369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1" name="Google Shape;1371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72" name="Google Shape;1372;p10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10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</a:xfrm>
      </p:grpSpPr>
      <p:pic>
        <p:nvPicPr>
          <p:cNvPr id="1375" name="Google Shape;1375;p10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77" name="Google Shape;1377;p10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8" name="Google Shape;1378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</a:xfrm>
      </p:grpSpPr>
      <p:pic>
        <p:nvPicPr>
          <p:cNvPr id="1382" name="Google Shape;1382;p10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84" name="Google Shape;1384;p10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5" name="Google Shape;1385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</a:xfrm>
      </p:grpSpPr>
      <p:pic>
        <p:nvPicPr>
          <p:cNvPr id="1389" name="Google Shape;1389;p10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1" name="Google Shape;1391;p10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2" name="Google Shape;1392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</a:xfrm>
      </p:grpSpPr>
      <p:pic>
        <p:nvPicPr>
          <p:cNvPr id="1396" name="Google Shape;1396;p11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98" name="Google Shape;1398;p11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9" name="Google Shape;1399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0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1402" name="Shape 1402"/>
        <p:cNvGrpSpPr/>
        <p:nvPr/>
      </p:nvGrpSpPr>
      <p:grpSpPr>
        <a:xfrm>
          <a:off x="0" y="0"/>
          <a:ext cx="0" cy="0"/>
        </a:xfrm>
      </p:grpSpPr>
      <p:pic>
        <p:nvPicPr>
          <p:cNvPr id="1403" name="Google Shape;1403;p1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4" name="Google Shape;1404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05" name="Google Shape;1405;p11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6" name="Google Shape;1406;p11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1410" name="Shape 1410"/>
        <p:cNvGrpSpPr/>
        <p:nvPr/>
      </p:nvGrpSpPr>
      <p:grpSpPr>
        <a:xfrm>
          <a:off x="0" y="0"/>
          <a:ext cx="0" cy="0"/>
        </a:xfrm>
      </p:grpSpPr>
      <p:pic>
        <p:nvPicPr>
          <p:cNvPr id="1411" name="Google Shape;1411;p11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13" name="Google Shape;1413;p11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4" name="Google Shape;1414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1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7" name="Google Shape;1417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1418" name="Shape 1418"/>
        <p:cNvGrpSpPr/>
        <p:nvPr/>
      </p:nvGrpSpPr>
      <p:grpSpPr>
        <a:xfrm>
          <a:off x="0" y="0"/>
          <a:ext cx="0" cy="0"/>
        </a:xfrm>
      </p:grpSpPr>
      <p:pic>
        <p:nvPicPr>
          <p:cNvPr id="1419" name="Google Shape;1419;p11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0" name="Google Shape;1420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1" name="Google Shape;1421;p11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2" name="Google Shape;1422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11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5" name="Google Shape;1425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pic>
        <p:nvPicPr>
          <p:cNvPr id="1427" name="Google Shape;1427;p11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29" name="Google Shape;1429;p11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0" name="Google Shape;1430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1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1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3" name="Google Shape;1433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34" name="Shape 1434"/>
        <p:cNvGrpSpPr/>
        <p:nvPr/>
      </p:nvGrpSpPr>
      <p:grpSpPr>
        <a:xfrm>
          <a:off x="0" y="0"/>
          <a:ext cx="0" cy="0"/>
        </a:xfrm>
      </p:grpSpPr>
      <p:pic>
        <p:nvPicPr>
          <p:cNvPr id="1435" name="Google Shape;1435;p1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37" name="Google Shape;1437;p11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8" name="Google Shape;1438;p115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11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40" name="Google Shape;1440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42" name="Shape 1442"/>
        <p:cNvGrpSpPr/>
        <p:nvPr/>
      </p:nvGrpSpPr>
      <p:grpSpPr>
        <a:xfrm>
          <a:off x="0" y="0"/>
          <a:ext cx="0" cy="0"/>
        </a:xfrm>
      </p:grpSpPr>
      <p:pic>
        <p:nvPicPr>
          <p:cNvPr id="1443" name="Google Shape;1443;p11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45" name="Google Shape;1445;p11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6" name="Google Shape;1446;p11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7" name="Google Shape;1447;p11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8" name="Google Shape;1448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9" name="Google Shape;1449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</a:xfrm>
      </p:grpSpPr>
      <p:pic>
        <p:nvPicPr>
          <p:cNvPr id="1451" name="Google Shape;1451;p11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3" name="Google Shape;1453;p11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4" name="Google Shape;1454;p11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11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6" name="Google Shape;1456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58" name="Shape 1458"/>
        <p:cNvGrpSpPr/>
        <p:nvPr/>
      </p:nvGrpSpPr>
      <p:grpSpPr>
        <a:xfrm>
          <a:off x="0" y="0"/>
          <a:ext cx="0" cy="0"/>
        </a:xfrm>
      </p:grpSpPr>
      <p:pic>
        <p:nvPicPr>
          <p:cNvPr id="1459" name="Google Shape;1459;p11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1" name="Google Shape;1461;p11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2" name="Google Shape;1462;p11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11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4" name="Google Shape;1464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65" name="Google Shape;1465;p1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1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1466" name="Shape 1466"/>
        <p:cNvGrpSpPr/>
        <p:nvPr/>
      </p:nvGrpSpPr>
      <p:grpSpPr>
        <a:xfrm>
          <a:off x="0" y="0"/>
          <a:ext cx="0" cy="0"/>
        </a:xfrm>
      </p:grpSpPr>
      <p:sp>
        <p:nvSpPr>
          <p:cNvPr id="1467" name="Google Shape;1467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8" name="Google Shape;1468;p11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9" name="Google Shape;1469;p11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0" name="Google Shape;1470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1472" name="Shape 1472"/>
        <p:cNvGrpSpPr/>
        <p:nvPr/>
      </p:nvGrpSpPr>
      <p:grpSpPr>
        <a:xfrm>
          <a:off x="0" y="0"/>
          <a:ext cx="0" cy="0"/>
        </a:xfrm>
      </p:grpSpPr>
      <p:sp>
        <p:nvSpPr>
          <p:cNvPr id="1473" name="Google Shape;1473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74" name="Google Shape;1474;p120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2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76" name="Google Shape;1476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</a:xfrm>
      </p:grpSpPr>
      <p:pic>
        <p:nvPicPr>
          <p:cNvPr id="1479" name="Google Shape;1479;p12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1481" name="Shape 1481"/>
        <p:cNvGrpSpPr/>
        <p:nvPr/>
      </p:nvGrpSpPr>
      <p:grpSpPr>
        <a:xfrm>
          <a:off x="0" y="0"/>
          <a:ext cx="0" cy="0"/>
        </a:xfrm>
      </p:grpSpPr>
      <p:sp>
        <p:nvSpPr>
          <p:cNvPr id="1482" name="Google Shape;1482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1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1491" name="Shape 1491"/>
        <p:cNvGrpSpPr/>
        <p:nvPr/>
      </p:nvGrpSpPr>
      <p:grpSpPr>
        <a:xfrm>
          <a:off x="0" y="0"/>
          <a:ext cx="0" cy="0"/>
        </a:xfrm>
      </p:grpSpPr>
      <p:pic>
        <p:nvPicPr>
          <p:cNvPr id="1492" name="Google Shape;1492;p12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123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1494" name="Shape 1494"/>
        <p:cNvGrpSpPr/>
        <p:nvPr/>
      </p:nvGrpSpPr>
      <p:grpSpPr>
        <a:xfrm>
          <a:off x="0" y="0"/>
          <a:ext cx="0" cy="0"/>
        </a:xfrm>
      </p:grpSpPr>
      <p:sp>
        <p:nvSpPr>
          <p:cNvPr id="1495" name="Google Shape;1495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image" Target="../media/image42.png" /><Relationship Id="rId62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10" Type="http://schemas.openxmlformats.org/officeDocument/2006/relationships/slideLayout" Target="../slideLayouts/slideLayout70.xml" /><Relationship Id="rId11" Type="http://schemas.openxmlformats.org/officeDocument/2006/relationships/slideLayout" Target="../slideLayouts/slideLayout71.xml" /><Relationship Id="rId12" Type="http://schemas.openxmlformats.org/officeDocument/2006/relationships/slideLayout" Target="../slideLayouts/slideLayout72.xml" /><Relationship Id="rId13" Type="http://schemas.openxmlformats.org/officeDocument/2006/relationships/slideLayout" Target="../slideLayouts/slideLayout73.xml" /><Relationship Id="rId14" Type="http://schemas.openxmlformats.org/officeDocument/2006/relationships/slideLayout" Target="../slideLayouts/slideLayout74.xml" /><Relationship Id="rId15" Type="http://schemas.openxmlformats.org/officeDocument/2006/relationships/slideLayout" Target="../slideLayouts/slideLayout75.xml" /><Relationship Id="rId16" Type="http://schemas.openxmlformats.org/officeDocument/2006/relationships/slideLayout" Target="../slideLayouts/slideLayout76.xml" /><Relationship Id="rId17" Type="http://schemas.openxmlformats.org/officeDocument/2006/relationships/slideLayout" Target="../slideLayouts/slideLayout77.xml" /><Relationship Id="rId18" Type="http://schemas.openxmlformats.org/officeDocument/2006/relationships/slideLayout" Target="../slideLayouts/slideLayout78.xml" /><Relationship Id="rId19" Type="http://schemas.openxmlformats.org/officeDocument/2006/relationships/slideLayout" Target="../slideLayouts/slideLayout79.xml" /><Relationship Id="rId2" Type="http://schemas.openxmlformats.org/officeDocument/2006/relationships/slideLayout" Target="../slideLayouts/slideLayout62.xml" /><Relationship Id="rId20" Type="http://schemas.openxmlformats.org/officeDocument/2006/relationships/slideLayout" Target="../slideLayouts/slideLayout80.xml" /><Relationship Id="rId21" Type="http://schemas.openxmlformats.org/officeDocument/2006/relationships/slideLayout" Target="../slideLayouts/slideLayout81.xml" /><Relationship Id="rId22" Type="http://schemas.openxmlformats.org/officeDocument/2006/relationships/slideLayout" Target="../slideLayouts/slideLayout82.xml" /><Relationship Id="rId23" Type="http://schemas.openxmlformats.org/officeDocument/2006/relationships/slideLayout" Target="../slideLayouts/slideLayout83.xml" /><Relationship Id="rId24" Type="http://schemas.openxmlformats.org/officeDocument/2006/relationships/slideLayout" Target="../slideLayouts/slideLayout84.xml" /><Relationship Id="rId25" Type="http://schemas.openxmlformats.org/officeDocument/2006/relationships/slideLayout" Target="../slideLayouts/slideLayout85.xml" /><Relationship Id="rId26" Type="http://schemas.openxmlformats.org/officeDocument/2006/relationships/slideLayout" Target="../slideLayouts/slideLayout86.xml" /><Relationship Id="rId27" Type="http://schemas.openxmlformats.org/officeDocument/2006/relationships/slideLayout" Target="../slideLayouts/slideLayout87.xml" /><Relationship Id="rId28" Type="http://schemas.openxmlformats.org/officeDocument/2006/relationships/slideLayout" Target="../slideLayouts/slideLayout88.xml" /><Relationship Id="rId29" Type="http://schemas.openxmlformats.org/officeDocument/2006/relationships/slideLayout" Target="../slideLayouts/slideLayout89.xml" /><Relationship Id="rId3" Type="http://schemas.openxmlformats.org/officeDocument/2006/relationships/slideLayout" Target="../slideLayouts/slideLayout63.xml" /><Relationship Id="rId30" Type="http://schemas.openxmlformats.org/officeDocument/2006/relationships/slideLayout" Target="../slideLayouts/slideLayout90.xml" /><Relationship Id="rId31" Type="http://schemas.openxmlformats.org/officeDocument/2006/relationships/slideLayout" Target="../slideLayouts/slideLayout91.xml" /><Relationship Id="rId32" Type="http://schemas.openxmlformats.org/officeDocument/2006/relationships/slideLayout" Target="../slideLayouts/slideLayout92.xml" /><Relationship Id="rId33" Type="http://schemas.openxmlformats.org/officeDocument/2006/relationships/slideLayout" Target="../slideLayouts/slideLayout93.xml" /><Relationship Id="rId34" Type="http://schemas.openxmlformats.org/officeDocument/2006/relationships/slideLayout" Target="../slideLayouts/slideLayout94.xml" /><Relationship Id="rId35" Type="http://schemas.openxmlformats.org/officeDocument/2006/relationships/slideLayout" Target="../slideLayouts/slideLayout95.xml" /><Relationship Id="rId36" Type="http://schemas.openxmlformats.org/officeDocument/2006/relationships/slideLayout" Target="../slideLayouts/slideLayout96.xml" /><Relationship Id="rId37" Type="http://schemas.openxmlformats.org/officeDocument/2006/relationships/slideLayout" Target="../slideLayouts/slideLayout97.xml" /><Relationship Id="rId38" Type="http://schemas.openxmlformats.org/officeDocument/2006/relationships/slideLayout" Target="../slideLayouts/slideLayout98.xml" /><Relationship Id="rId39" Type="http://schemas.openxmlformats.org/officeDocument/2006/relationships/slideLayout" Target="../slideLayouts/slideLayout99.xml" /><Relationship Id="rId4" Type="http://schemas.openxmlformats.org/officeDocument/2006/relationships/slideLayout" Target="../slideLayouts/slideLayout64.xml" /><Relationship Id="rId40" Type="http://schemas.openxmlformats.org/officeDocument/2006/relationships/slideLayout" Target="../slideLayouts/slideLayout100.xml" /><Relationship Id="rId41" Type="http://schemas.openxmlformats.org/officeDocument/2006/relationships/slideLayout" Target="../slideLayouts/slideLayout101.xml" /><Relationship Id="rId42" Type="http://schemas.openxmlformats.org/officeDocument/2006/relationships/slideLayout" Target="../slideLayouts/slideLayout102.xml" /><Relationship Id="rId43" Type="http://schemas.openxmlformats.org/officeDocument/2006/relationships/slideLayout" Target="../slideLayouts/slideLayout103.xml" /><Relationship Id="rId44" Type="http://schemas.openxmlformats.org/officeDocument/2006/relationships/slideLayout" Target="../slideLayouts/slideLayout104.xml" /><Relationship Id="rId45" Type="http://schemas.openxmlformats.org/officeDocument/2006/relationships/slideLayout" Target="../slideLayouts/slideLayout105.xml" /><Relationship Id="rId46" Type="http://schemas.openxmlformats.org/officeDocument/2006/relationships/slideLayout" Target="../slideLayouts/slideLayout106.xml" /><Relationship Id="rId47" Type="http://schemas.openxmlformats.org/officeDocument/2006/relationships/slideLayout" Target="../slideLayouts/slideLayout107.xml" /><Relationship Id="rId48" Type="http://schemas.openxmlformats.org/officeDocument/2006/relationships/slideLayout" Target="../slideLayouts/slideLayout108.xml" /><Relationship Id="rId49" Type="http://schemas.openxmlformats.org/officeDocument/2006/relationships/slideLayout" Target="../slideLayouts/slideLayout109.xml" /><Relationship Id="rId5" Type="http://schemas.openxmlformats.org/officeDocument/2006/relationships/slideLayout" Target="../slideLayouts/slideLayout65.xml" /><Relationship Id="rId50" Type="http://schemas.openxmlformats.org/officeDocument/2006/relationships/slideLayout" Target="../slideLayouts/slideLayout110.xml" /><Relationship Id="rId51" Type="http://schemas.openxmlformats.org/officeDocument/2006/relationships/slideLayout" Target="../slideLayouts/slideLayout111.xml" /><Relationship Id="rId52" Type="http://schemas.openxmlformats.org/officeDocument/2006/relationships/slideLayout" Target="../slideLayouts/slideLayout112.xml" /><Relationship Id="rId53" Type="http://schemas.openxmlformats.org/officeDocument/2006/relationships/slideLayout" Target="../slideLayouts/slideLayout113.xml" /><Relationship Id="rId54" Type="http://schemas.openxmlformats.org/officeDocument/2006/relationships/slideLayout" Target="../slideLayouts/slideLayout114.xml" /><Relationship Id="rId55" Type="http://schemas.openxmlformats.org/officeDocument/2006/relationships/slideLayout" Target="../slideLayouts/slideLayout115.xml" /><Relationship Id="rId56" Type="http://schemas.openxmlformats.org/officeDocument/2006/relationships/slideLayout" Target="../slideLayouts/slideLayout116.xml" /><Relationship Id="rId57" Type="http://schemas.openxmlformats.org/officeDocument/2006/relationships/slideLayout" Target="../slideLayouts/slideLayout117.xml" /><Relationship Id="rId58" Type="http://schemas.openxmlformats.org/officeDocument/2006/relationships/slideLayout" Target="../slideLayouts/slideLayout118.xml" /><Relationship Id="rId59" Type="http://schemas.openxmlformats.org/officeDocument/2006/relationships/slideLayout" Target="../slideLayouts/slideLayout119.xml" /><Relationship Id="rId6" Type="http://schemas.openxmlformats.org/officeDocument/2006/relationships/slideLayout" Target="../slideLayouts/slideLayout66.xml" /><Relationship Id="rId60" Type="http://schemas.openxmlformats.org/officeDocument/2006/relationships/slideLayout" Target="../slideLayouts/slideLayout120.xml" /><Relationship Id="rId61" Type="http://schemas.openxmlformats.org/officeDocument/2006/relationships/slideLayout" Target="../slideLayouts/slideLayout121.xml" /><Relationship Id="rId62" Type="http://schemas.openxmlformats.org/officeDocument/2006/relationships/slideLayout" Target="../slideLayouts/slideLayout122.xml" /><Relationship Id="rId63" Type="http://schemas.openxmlformats.org/officeDocument/2006/relationships/image" Target="../media/image42.png" /><Relationship Id="rId64" Type="http://schemas.openxmlformats.org/officeDocument/2006/relationships/theme" Target="../theme/theme2.xml" /><Relationship Id="rId7" Type="http://schemas.openxmlformats.org/officeDocument/2006/relationships/slideLayout" Target="../slideLayouts/slideLayout67.xml" /><Relationship Id="rId8" Type="http://schemas.openxmlformats.org/officeDocument/2006/relationships/slideLayout" Target="../slideLayouts/slideLayout68.xml" /><Relationship Id="rId9" Type="http://schemas.openxmlformats.org/officeDocument/2006/relationships/slideLayout" Target="../slideLayouts/slideLayout6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753" r:id="rId46"/>
    <p:sldLayoutId id="2147483754" r:id="rId47"/>
    <p:sldLayoutId id="2147483755" r:id="rId48"/>
    <p:sldLayoutId id="2147483756" r:id="rId49"/>
    <p:sldLayoutId id="2147483757" r:id="rId50"/>
    <p:sldLayoutId id="2147483758" r:id="rId51"/>
    <p:sldLayoutId id="2147483759" r:id="rId52"/>
    <p:sldLayoutId id="2147483760" r:id="rId53"/>
    <p:sldLayoutId id="2147483761" r:id="rId54"/>
    <p:sldLayoutId id="2147483762" r:id="rId55"/>
    <p:sldLayoutId id="2147483763" r:id="rId56"/>
    <p:sldLayoutId id="2147483764" r:id="rId57"/>
    <p:sldLayoutId id="2147483765" r:id="rId58"/>
    <p:sldLayoutId id="2147483766" r:id="rId59"/>
    <p:sldLayoutId id="2147483767" r:id="rId60"/>
    <p:sldLayoutId id="2147483768" r:id="rId61"/>
    <p:sldLayoutId id="214748376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7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5.xml" /><Relationship Id="rId2" Type="http://schemas.openxmlformats.org/officeDocument/2006/relationships/notesSlide" Target="../notesSlides/notesSlide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Relationship Id="rId5" Type="http://schemas.openxmlformats.org/officeDocument/2006/relationships/image" Target="../media/image4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9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3.xml" /><Relationship Id="rId2" Type="http://schemas.openxmlformats.org/officeDocument/2006/relationships/notesSlide" Target="../notesSlides/notesSlide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43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4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44.png" /><Relationship Id="rId4" Type="http://schemas.openxmlformats.org/officeDocument/2006/relationships/image" Target="../media/image49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9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4.png" /><Relationship Id="rId6" Type="http://schemas.openxmlformats.org/officeDocument/2006/relationships/image" Target="../media/image50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4.png" /><Relationship Id="rId6" Type="http://schemas.openxmlformats.org/officeDocument/2006/relationships/image" Target="../media/image50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44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Relationship Id="rId7" Type="http://schemas.openxmlformats.org/officeDocument/2006/relationships/image" Target="../media/image51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6.xml" /><Relationship Id="rId2" Type="http://schemas.openxmlformats.org/officeDocument/2006/relationships/notesSlide" Target="../notesSlides/notesSlide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6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6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Relationship Id="rId6" Type="http://schemas.openxmlformats.org/officeDocument/2006/relationships/image" Target="../media/image55.png" /><Relationship Id="rId7" Type="http://schemas.openxmlformats.org/officeDocument/2006/relationships/image" Target="../media/image56.png" /><Relationship Id="rId8" Type="http://schemas.openxmlformats.org/officeDocument/2006/relationships/image" Target="../media/image57.png" /><Relationship Id="rId9" Type="http://schemas.openxmlformats.org/officeDocument/2006/relationships/image" Target="../media/image58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6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2.png" /><Relationship Id="rId4" Type="http://schemas.openxmlformats.org/officeDocument/2006/relationships/image" Target="../media/image53.png" /><Relationship Id="rId5" Type="http://schemas.openxmlformats.org/officeDocument/2006/relationships/image" Target="../media/image54.png" /><Relationship Id="rId6" Type="http://schemas.openxmlformats.org/officeDocument/2006/relationships/image" Target="../media/image59.png" /><Relationship Id="rId7" Type="http://schemas.openxmlformats.org/officeDocument/2006/relationships/image" Target="../media/image60.png" /><Relationship Id="rId8" Type="http://schemas.openxmlformats.org/officeDocument/2006/relationships/image" Target="../media/image61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10" Type="http://schemas.openxmlformats.org/officeDocument/2006/relationships/image" Target="../media/image64.png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62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44.png" /><Relationship Id="rId7" Type="http://schemas.openxmlformats.org/officeDocument/2006/relationships/image" Target="../media/image51.png" /><Relationship Id="rId8" Type="http://schemas.openxmlformats.org/officeDocument/2006/relationships/image" Target="../media/image50.png" /><Relationship Id="rId9" Type="http://schemas.openxmlformats.org/officeDocument/2006/relationships/image" Target="../media/image63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4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Relationship Id="rId5" Type="http://schemas.openxmlformats.org/officeDocument/2006/relationships/image" Target="../media/image44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6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0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52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0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Relationship Id="rId6" Type="http://schemas.openxmlformats.org/officeDocument/2006/relationships/image" Target="../media/image44.png" /><Relationship Id="rId7" Type="http://schemas.openxmlformats.org/officeDocument/2006/relationships/image" Target="../media/image68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4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52.png" /><Relationship Id="rId4" Type="http://schemas.openxmlformats.org/officeDocument/2006/relationships/image" Target="../media/image69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4.xml" /><Relationship Id="rId2" Type="http://schemas.openxmlformats.org/officeDocument/2006/relationships/notesSlide" Target="../notesSlides/notesSlide39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Relationship Id="rId6" Type="http://schemas.openxmlformats.org/officeDocument/2006/relationships/image" Target="../media/image44.png" /><Relationship Id="rId7" Type="http://schemas.openxmlformats.org/officeDocument/2006/relationships/image" Target="../media/image68.png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1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9" name="Shape 1499"/>
        <p:cNvGrpSpPr/>
        <p:nvPr/>
      </p:nvGrpSpPr>
      <p:grpSpPr>
        <a:xfrm>
          <a:off x="0" y="0"/>
          <a:ext cx="0" cy="0"/>
        </a:xfrm>
      </p:grpSpPr>
      <p:sp>
        <p:nvSpPr>
          <p:cNvPr id="1500" name="Google Shape;1500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sp>
        <p:nvSpPr>
          <p:cNvPr id="1501" name="Google Shape;1501;p125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1505" name="Shape 1505"/>
        <p:cNvGrpSpPr/>
        <p:nvPr/>
      </p:nvGrpSpPr>
      <p:grpSpPr>
        <a:xfrm>
          <a:off x="0" y="0"/>
          <a:ext cx="0" cy="0"/>
        </a:xfrm>
      </p:grpSpPr>
      <p:sp>
        <p:nvSpPr>
          <p:cNvPr id="1506" name="Google Shape;1506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0" name="Shape 1510"/>
        <p:cNvGrpSpPr/>
        <p:nvPr/>
      </p:nvGrpSpPr>
      <p:grpSpPr>
        <a:xfrm>
          <a:off x="0" y="0"/>
          <a:ext cx="0" cy="0"/>
        </a:xfrm>
      </p:grpSpPr>
      <p:sp>
        <p:nvSpPr>
          <p:cNvPr id="1511" name="Google Shape;1511;p127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the features of a geometric sequence.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15" name="Shape 1515"/>
        <p:cNvGrpSpPr/>
        <p:nvPr/>
      </p:nvGrpSpPr>
      <p:grpSpPr>
        <a:xfrm>
          <a:off x="0" y="0"/>
          <a:ext cx="0" cy="0"/>
        </a:xfrm>
      </p:grpSpPr>
      <p:sp>
        <p:nvSpPr>
          <p:cNvPr id="1516" name="Google Shape;1516;p128"/>
          <p:cNvSpPr txBox="1"/>
          <p:nvPr>
            <p:ph type="subTitle" idx="1"/>
          </p:nvPr>
        </p:nvSpPr>
        <p:spPr>
          <a:xfrm>
            <a:off x="324000" y="1145259"/>
            <a:ext cx="8496000" cy="9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 </a:t>
            </a:r>
            <a:r>
              <a:rPr lang="en-GB" b="1">
                <a:solidFill>
                  <a:schemeClr val="dk1"/>
                </a:solidFill>
              </a:rPr>
              <a:t>geometric sequence </a:t>
            </a:r>
            <a:r>
              <a:rPr lang="en-GB">
                <a:solidFill>
                  <a:schemeClr val="dk1"/>
                </a:solidFill>
              </a:rPr>
              <a:t>is a sequence with a constant multiplicative relationship between successive terms.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17" name="Google Shape;1517;p128"/>
          <p:cNvSpPr txBox="1"/>
          <p:nvPr>
            <p:ph type="subTitle" idx="1"/>
          </p:nvPr>
        </p:nvSpPr>
        <p:spPr>
          <a:xfrm>
            <a:off x="324000" y="2562799"/>
            <a:ext cx="8260500" cy="12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lang="en-GB" b="1"/>
              <a:t>common ratio</a:t>
            </a:r>
            <a:r>
              <a:rPr lang="en-GB"/>
              <a:t> is a key feature of a </a:t>
            </a:r>
            <a:r>
              <a:rPr lang="en-GB" b="1"/>
              <a:t>geometric sequence</a:t>
            </a:r>
            <a:r>
              <a:rPr lang="en-GB"/>
              <a:t>. The constant multiplier between successive terms is called the </a:t>
            </a:r>
            <a:r>
              <a:rPr lang="en-GB" b="1"/>
              <a:t>common ratio</a:t>
            </a:r>
            <a:r>
              <a:rPr lang="en-GB"/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1" name="Shape 1521"/>
        <p:cNvGrpSpPr/>
        <p:nvPr/>
      </p:nvGrpSpPr>
      <p:grpSpPr>
        <a:xfrm>
          <a:off x="0" y="0"/>
          <a:ext cx="0" cy="0"/>
        </a:xfrm>
      </p:grpSpPr>
      <p:sp>
        <p:nvSpPr>
          <p:cNvPr id="1522" name="Google Shape;1522;p12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1523" name="Google Shape;1523;p12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1524" name="Google Shape;1524;p12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pic>
        <p:nvPicPr>
          <p:cNvPr id="1525" name="Google Shape;1525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80" y="205568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29" name="Shape 1529"/>
        <p:cNvGrpSpPr/>
        <p:nvPr/>
      </p:nvGrpSpPr>
      <p:grpSpPr>
        <a:xfrm>
          <a:off x="0" y="0"/>
          <a:ext cx="0" cy="0"/>
        </a:xfrm>
      </p:grpSpPr>
      <p:graphicFrame>
        <p:nvGraphicFramePr>
          <p:cNvPr id="1530" name="Google Shape;1530;p130"/>
          <p:cNvGraphicFramePr>
            <a:graphicFrameLocks noGrp="1"/>
          </p:cNvGraphicFramePr>
          <p:nvPr/>
        </p:nvGraphicFramePr>
        <p:xfrm>
          <a:off x="256615" y="25896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29900"/>
                <a:gridCol w="529900"/>
                <a:gridCol w="529900"/>
                <a:gridCol w="529900"/>
                <a:gridCol w="529900"/>
                <a:gridCol w="529900"/>
                <a:gridCol w="529900"/>
                <a:gridCol w="943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77,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31" name="Google Shape;1531;p130"/>
          <p:cNvSpPr txBox="1"/>
          <p:nvPr>
            <p:ph type="body" idx="1"/>
          </p:nvPr>
        </p:nvSpPr>
        <p:spPr>
          <a:xfrm>
            <a:off x="324000" y="759300"/>
            <a:ext cx="7135200" cy="73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spot patterns and find the next three terms of these sequences.</a:t>
            </a:r>
            <a:endParaRPr/>
          </a:p>
        </p:txBody>
      </p:sp>
      <p:sp>
        <p:nvSpPr>
          <p:cNvPr id="1532" name="Google Shape;1532;p1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1533" name="Google Shape;1533;p130"/>
          <p:cNvSpPr/>
          <p:nvPr/>
        </p:nvSpPr>
        <p:spPr>
          <a:xfrm>
            <a:off x="2904791" y="2620696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130"/>
          <p:cNvSpPr/>
          <p:nvPr/>
        </p:nvSpPr>
        <p:spPr>
          <a:xfrm>
            <a:off x="3424044" y="2620696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130"/>
          <p:cNvSpPr/>
          <p:nvPr/>
        </p:nvSpPr>
        <p:spPr>
          <a:xfrm>
            <a:off x="3981023" y="2620696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130"/>
          <p:cNvSpPr txBox="1"/>
          <p:nvPr/>
        </p:nvSpPr>
        <p:spPr>
          <a:xfrm>
            <a:off x="5133450" y="2040350"/>
            <a:ext cx="3686400" cy="10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ommon additive differences between terms makes these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(linear) sequences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37" name="Google Shape;1537;p130"/>
          <p:cNvGraphicFramePr>
            <a:graphicFrameLocks noGrp="1"/>
          </p:cNvGraphicFramePr>
          <p:nvPr/>
        </p:nvGraphicFramePr>
        <p:xfrm>
          <a:off x="256615" y="15228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29900"/>
                <a:gridCol w="529900"/>
                <a:gridCol w="529900"/>
                <a:gridCol w="529900"/>
                <a:gridCol w="529900"/>
                <a:gridCol w="529900"/>
                <a:gridCol w="529900"/>
                <a:gridCol w="9432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37,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42,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538" name="Google Shape;1538;p130"/>
          <p:cNvGrpSpPr/>
          <p:nvPr/>
        </p:nvGrpSpPr>
        <p:grpSpPr>
          <a:xfrm>
            <a:off x="459975" y="1701066"/>
            <a:ext cx="2149760" cy="757384"/>
            <a:chOff x="459975" y="1701066"/>
            <a:chExt cx="2149760" cy="757384"/>
          </a:xfrm>
        </p:grpSpPr>
        <p:grpSp>
          <p:nvGrpSpPr>
            <p:cNvPr id="1539" name="Google Shape;1539;p130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540" name="Google Shape;1540;p130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1" name="Google Shape;1541;p130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2" name="Google Shape;1542;p130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43" name="Google Shape;1543;p130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44" name="Google Shape;1544;p130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545" name="Google Shape;1545;p130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130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130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130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9" name="Google Shape;1549;p130"/>
          <p:cNvGrpSpPr/>
          <p:nvPr/>
        </p:nvGrpSpPr>
        <p:grpSpPr>
          <a:xfrm>
            <a:off x="2637491" y="1701066"/>
            <a:ext cx="1620508" cy="757384"/>
            <a:chOff x="2637491" y="1701066"/>
            <a:chExt cx="1620508" cy="757384"/>
          </a:xfrm>
        </p:grpSpPr>
        <p:grpSp>
          <p:nvGrpSpPr>
            <p:cNvPr id="1550" name="Google Shape;1550;p130"/>
            <p:cNvGrpSpPr/>
            <p:nvPr/>
          </p:nvGrpSpPr>
          <p:grpSpPr>
            <a:xfrm>
              <a:off x="2727301" y="2119150"/>
              <a:ext cx="1482424" cy="339300"/>
              <a:chOff x="2727301" y="1509550"/>
              <a:chExt cx="1482424" cy="339300"/>
            </a:xfrm>
          </p:grpSpPr>
          <p:sp>
            <p:nvSpPr>
              <p:cNvPr id="1551" name="Google Shape;1551;p130"/>
              <p:cNvSpPr txBox="1"/>
              <p:nvPr/>
            </p:nvSpPr>
            <p:spPr>
              <a:xfrm>
                <a:off x="2727301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2" name="Google Shape;1552;p130"/>
              <p:cNvSpPr txBox="1"/>
              <p:nvPr/>
            </p:nvSpPr>
            <p:spPr>
              <a:xfrm>
                <a:off x="3280872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53" name="Google Shape;1553;p130"/>
              <p:cNvSpPr txBox="1"/>
              <p:nvPr/>
            </p:nvSpPr>
            <p:spPr>
              <a:xfrm>
                <a:off x="38389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54" name="Google Shape;1554;p130"/>
            <p:cNvGrpSpPr/>
            <p:nvPr/>
          </p:nvGrpSpPr>
          <p:grpSpPr>
            <a:xfrm>
              <a:off x="2637491" y="1701066"/>
              <a:ext cx="1620508" cy="437700"/>
              <a:chOff x="2637491" y="1701066"/>
              <a:chExt cx="1620508" cy="437700"/>
            </a:xfrm>
          </p:grpSpPr>
          <p:sp>
            <p:nvSpPr>
              <p:cNvPr id="1555" name="Google Shape;1555;p130"/>
              <p:cNvSpPr/>
              <p:nvPr/>
            </p:nvSpPr>
            <p:spPr>
              <a:xfrm rot="10800000" flipH="1">
                <a:off x="263749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130"/>
              <p:cNvSpPr/>
              <p:nvPr/>
            </p:nvSpPr>
            <p:spPr>
              <a:xfrm rot="10800000" flipH="1">
                <a:off x="31943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130"/>
              <p:cNvSpPr/>
              <p:nvPr/>
            </p:nvSpPr>
            <p:spPr>
              <a:xfrm rot="10800000" flipH="1">
                <a:off x="3749799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58" name="Google Shape;1558;p130"/>
          <p:cNvSpPr/>
          <p:nvPr/>
        </p:nvSpPr>
        <p:spPr>
          <a:xfrm>
            <a:off x="2950735" y="1533725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9" name="Google Shape;1559;p130"/>
          <p:cNvSpPr/>
          <p:nvPr/>
        </p:nvSpPr>
        <p:spPr>
          <a:xfrm>
            <a:off x="3469988" y="1533725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0" name="Google Shape;1560;p130"/>
          <p:cNvSpPr/>
          <p:nvPr/>
        </p:nvSpPr>
        <p:spPr>
          <a:xfrm>
            <a:off x="3981023" y="1533725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61" name="Google Shape;1561;p130"/>
          <p:cNvGrpSpPr/>
          <p:nvPr/>
        </p:nvGrpSpPr>
        <p:grpSpPr>
          <a:xfrm>
            <a:off x="459975" y="2788037"/>
            <a:ext cx="2149760" cy="767469"/>
            <a:chOff x="459975" y="2940437"/>
            <a:chExt cx="2149760" cy="767469"/>
          </a:xfrm>
        </p:grpSpPr>
        <p:grpSp>
          <p:nvGrpSpPr>
            <p:cNvPr id="1562" name="Google Shape;1562;p130"/>
            <p:cNvGrpSpPr/>
            <p:nvPr/>
          </p:nvGrpSpPr>
          <p:grpSpPr>
            <a:xfrm>
              <a:off x="523104" y="3368606"/>
              <a:ext cx="2012497" cy="339300"/>
              <a:chOff x="390875" y="3185950"/>
              <a:chExt cx="2012497" cy="339300"/>
            </a:xfrm>
          </p:grpSpPr>
          <p:sp>
            <p:nvSpPr>
              <p:cNvPr id="1563" name="Google Shape;1563;p130"/>
              <p:cNvSpPr txBox="1"/>
              <p:nvPr/>
            </p:nvSpPr>
            <p:spPr>
              <a:xfrm>
                <a:off x="390875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4" name="Google Shape;1564;p130"/>
              <p:cNvSpPr txBox="1"/>
              <p:nvPr/>
            </p:nvSpPr>
            <p:spPr>
              <a:xfrm>
                <a:off x="904104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5" name="Google Shape;1565;p130"/>
              <p:cNvSpPr txBox="1"/>
              <p:nvPr/>
            </p:nvSpPr>
            <p:spPr>
              <a:xfrm>
                <a:off x="1441987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66" name="Google Shape;1566;p130"/>
              <p:cNvSpPr txBox="1"/>
              <p:nvPr/>
            </p:nvSpPr>
            <p:spPr>
              <a:xfrm>
                <a:off x="1985472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67" name="Google Shape;1567;p130"/>
            <p:cNvGrpSpPr/>
            <p:nvPr/>
          </p:nvGrpSpPr>
          <p:grpSpPr>
            <a:xfrm>
              <a:off x="459975" y="2940437"/>
              <a:ext cx="2149760" cy="437700"/>
              <a:chOff x="459975" y="1701066"/>
              <a:chExt cx="2149760" cy="437700"/>
            </a:xfrm>
          </p:grpSpPr>
          <p:sp>
            <p:nvSpPr>
              <p:cNvPr id="1568" name="Google Shape;1568;p130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130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130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130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2" name="Google Shape;1572;p130"/>
          <p:cNvGrpSpPr/>
          <p:nvPr/>
        </p:nvGrpSpPr>
        <p:grpSpPr>
          <a:xfrm>
            <a:off x="2637491" y="2788037"/>
            <a:ext cx="1620508" cy="767469"/>
            <a:chOff x="2637491" y="2940437"/>
            <a:chExt cx="1620508" cy="767469"/>
          </a:xfrm>
        </p:grpSpPr>
        <p:grpSp>
          <p:nvGrpSpPr>
            <p:cNvPr id="1573" name="Google Shape;1573;p130"/>
            <p:cNvGrpSpPr/>
            <p:nvPr/>
          </p:nvGrpSpPr>
          <p:grpSpPr>
            <a:xfrm>
              <a:off x="2666790" y="3368606"/>
              <a:ext cx="1530644" cy="339300"/>
              <a:chOff x="2341819" y="3185950"/>
              <a:chExt cx="1530644" cy="339300"/>
            </a:xfrm>
          </p:grpSpPr>
          <p:sp>
            <p:nvSpPr>
              <p:cNvPr id="1574" name="Google Shape;1574;p130"/>
              <p:cNvSpPr txBox="1"/>
              <p:nvPr/>
            </p:nvSpPr>
            <p:spPr>
              <a:xfrm>
                <a:off x="2341819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75" name="Google Shape;1575;p130"/>
              <p:cNvSpPr txBox="1"/>
              <p:nvPr/>
            </p:nvSpPr>
            <p:spPr>
              <a:xfrm>
                <a:off x="2879701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76" name="Google Shape;1576;p130"/>
              <p:cNvSpPr txBox="1"/>
              <p:nvPr/>
            </p:nvSpPr>
            <p:spPr>
              <a:xfrm>
                <a:off x="3454563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77" name="Google Shape;1577;p130"/>
            <p:cNvGrpSpPr/>
            <p:nvPr/>
          </p:nvGrpSpPr>
          <p:grpSpPr>
            <a:xfrm>
              <a:off x="2637491" y="2940437"/>
              <a:ext cx="1620508" cy="437700"/>
              <a:chOff x="2637491" y="1701066"/>
              <a:chExt cx="1620508" cy="437700"/>
            </a:xfrm>
          </p:grpSpPr>
          <p:sp>
            <p:nvSpPr>
              <p:cNvPr id="1578" name="Google Shape;1578;p130"/>
              <p:cNvSpPr/>
              <p:nvPr/>
            </p:nvSpPr>
            <p:spPr>
              <a:xfrm rot="10800000" flipH="1">
                <a:off x="263749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130"/>
              <p:cNvSpPr/>
              <p:nvPr/>
            </p:nvSpPr>
            <p:spPr>
              <a:xfrm rot="10800000" flipH="1">
                <a:off x="31943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130"/>
              <p:cNvSpPr/>
              <p:nvPr/>
            </p:nvSpPr>
            <p:spPr>
              <a:xfrm rot="10800000" flipH="1">
                <a:off x="3749799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1581" name="Google Shape;1581;p130"/>
          <p:cNvGraphicFramePr>
            <a:graphicFrameLocks noGrp="1"/>
          </p:cNvGraphicFramePr>
          <p:nvPr/>
        </p:nvGraphicFramePr>
        <p:xfrm>
          <a:off x="256615" y="36412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1025"/>
                <a:gridCol w="561025"/>
                <a:gridCol w="561025"/>
                <a:gridCol w="561025"/>
                <a:gridCol w="561025"/>
                <a:gridCol w="561025"/>
                <a:gridCol w="561025"/>
                <a:gridCol w="561025"/>
                <a:gridCol w="561025"/>
              </a:tblGrid>
              <a:tr h="4192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−17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−26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−35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…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82" name="Google Shape;1582;p130"/>
          <p:cNvSpPr/>
          <p:nvPr/>
        </p:nvSpPr>
        <p:spPr>
          <a:xfrm>
            <a:off x="3037021" y="3687500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130"/>
          <p:cNvSpPr/>
          <p:nvPr/>
        </p:nvSpPr>
        <p:spPr>
          <a:xfrm>
            <a:off x="3630457" y="3687500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130"/>
          <p:cNvSpPr/>
          <p:nvPr/>
        </p:nvSpPr>
        <p:spPr>
          <a:xfrm>
            <a:off x="4198703" y="3687500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85" name="Google Shape;1585;p130"/>
          <p:cNvGrpSpPr/>
          <p:nvPr/>
        </p:nvGrpSpPr>
        <p:grpSpPr>
          <a:xfrm>
            <a:off x="480126" y="3854825"/>
            <a:ext cx="2246714" cy="747300"/>
            <a:chOff x="480126" y="3854825"/>
            <a:chExt cx="2246714" cy="747300"/>
          </a:xfrm>
        </p:grpSpPr>
        <p:grpSp>
          <p:nvGrpSpPr>
            <p:cNvPr id="1586" name="Google Shape;1586;p130"/>
            <p:cNvGrpSpPr/>
            <p:nvPr/>
          </p:nvGrpSpPr>
          <p:grpSpPr>
            <a:xfrm>
              <a:off x="563446" y="4262825"/>
              <a:ext cx="2031706" cy="339300"/>
              <a:chOff x="533190" y="4339025"/>
              <a:chExt cx="2031706" cy="339300"/>
            </a:xfrm>
          </p:grpSpPr>
          <p:sp>
            <p:nvSpPr>
              <p:cNvPr id="1587" name="Google Shape;1587;p130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8" name="Google Shape;1588;p130"/>
              <p:cNvSpPr txBox="1"/>
              <p:nvPr/>
            </p:nvSpPr>
            <p:spPr>
              <a:xfrm>
                <a:off x="1106931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89" name="Google Shape;1589;p130"/>
              <p:cNvSpPr txBox="1"/>
              <p:nvPr/>
            </p:nvSpPr>
            <p:spPr>
              <a:xfrm>
                <a:off x="169524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0" name="Google Shape;1590;p130"/>
              <p:cNvSpPr txBox="1"/>
              <p:nvPr/>
            </p:nvSpPr>
            <p:spPr>
              <a:xfrm>
                <a:off x="2258896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591" name="Google Shape;1591;p130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592" name="Google Shape;1592;p130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130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130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130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96" name="Google Shape;1596;p130"/>
          <p:cNvGrpSpPr/>
          <p:nvPr/>
        </p:nvGrpSpPr>
        <p:grpSpPr>
          <a:xfrm>
            <a:off x="2755848" y="3854825"/>
            <a:ext cx="1693593" cy="747300"/>
            <a:chOff x="2755848" y="3854825"/>
            <a:chExt cx="1693593" cy="747300"/>
          </a:xfrm>
        </p:grpSpPr>
        <p:grpSp>
          <p:nvGrpSpPr>
            <p:cNvPr id="1597" name="Google Shape;1597;p130"/>
            <p:cNvGrpSpPr/>
            <p:nvPr/>
          </p:nvGrpSpPr>
          <p:grpSpPr>
            <a:xfrm>
              <a:off x="2839360" y="4262825"/>
              <a:ext cx="1489341" cy="339300"/>
              <a:chOff x="731534" y="4339025"/>
              <a:chExt cx="1489341" cy="339300"/>
            </a:xfrm>
          </p:grpSpPr>
          <p:sp>
            <p:nvSpPr>
              <p:cNvPr id="1598" name="Google Shape;1598;p130"/>
              <p:cNvSpPr txBox="1"/>
              <p:nvPr/>
            </p:nvSpPr>
            <p:spPr>
              <a:xfrm>
                <a:off x="731534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599" name="Google Shape;1599;p130"/>
              <p:cNvSpPr txBox="1"/>
              <p:nvPr/>
            </p:nvSpPr>
            <p:spPr>
              <a:xfrm>
                <a:off x="1305275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00" name="Google Shape;1600;p130"/>
              <p:cNvSpPr txBox="1"/>
              <p:nvPr/>
            </p:nvSpPr>
            <p:spPr>
              <a:xfrm>
                <a:off x="1914875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−9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01" name="Google Shape;1601;p130"/>
            <p:cNvGrpSpPr/>
            <p:nvPr/>
          </p:nvGrpSpPr>
          <p:grpSpPr>
            <a:xfrm>
              <a:off x="2755848" y="3854825"/>
              <a:ext cx="1693593" cy="437700"/>
              <a:chOff x="2637491" y="1701066"/>
              <a:chExt cx="1620508" cy="437700"/>
            </a:xfrm>
          </p:grpSpPr>
          <p:sp>
            <p:nvSpPr>
              <p:cNvPr id="1602" name="Google Shape;1602;p130"/>
              <p:cNvSpPr/>
              <p:nvPr/>
            </p:nvSpPr>
            <p:spPr>
              <a:xfrm rot="10800000" flipH="1">
                <a:off x="263749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130"/>
              <p:cNvSpPr/>
              <p:nvPr/>
            </p:nvSpPr>
            <p:spPr>
              <a:xfrm rot="10800000" flipH="1">
                <a:off x="31943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130"/>
              <p:cNvSpPr/>
              <p:nvPr/>
            </p:nvSpPr>
            <p:spPr>
              <a:xfrm rot="10800000" flipH="1">
                <a:off x="3749799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8" name="Shape 160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609" name="Google Shape;1609;p131"/>
          <p:cNvGraphicFramePr>
            <a:graphicFrameLocks noGrp="1"/>
          </p:cNvGraphicFramePr>
          <p:nvPr/>
        </p:nvGraphicFramePr>
        <p:xfrm>
          <a:off x="256615" y="3656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7475"/>
                <a:gridCol w="547475"/>
                <a:gridCol w="547475"/>
                <a:gridCol w="547475"/>
                <a:gridCol w="547475"/>
                <a:gridCol w="628150"/>
                <a:gridCol w="62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10" name="Google Shape;1610;p131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Can you spot patterns and find the next terms.</a:t>
            </a:r>
            <a:endParaRPr/>
          </a:p>
        </p:txBody>
      </p:sp>
      <p:sp>
        <p:nvSpPr>
          <p:cNvPr id="1611" name="Google Shape;1611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1612" name="Google Shape;1612;p131"/>
          <p:cNvSpPr txBox="1"/>
          <p:nvPr/>
        </p:nvSpPr>
        <p:spPr>
          <a:xfrm>
            <a:off x="4157150" y="1125950"/>
            <a:ext cx="46626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ommon additive difference -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Arithmetic (linear) sequence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13" name="Google Shape;1613;p131"/>
          <p:cNvGraphicFramePr>
            <a:graphicFrameLocks noGrp="1"/>
          </p:cNvGraphicFramePr>
          <p:nvPr/>
        </p:nvGraphicFramePr>
        <p:xfrm>
          <a:off x="256615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29900"/>
                <a:gridCol w="529900"/>
                <a:gridCol w="529900"/>
                <a:gridCol w="529900"/>
                <a:gridCol w="529900"/>
                <a:gridCol w="529900"/>
                <a:gridCol w="6801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14" name="Google Shape;1614;p131"/>
          <p:cNvGrpSpPr/>
          <p:nvPr/>
        </p:nvGrpSpPr>
        <p:grpSpPr>
          <a:xfrm>
            <a:off x="459975" y="1264037"/>
            <a:ext cx="2149760" cy="757384"/>
            <a:chOff x="459975" y="1701066"/>
            <a:chExt cx="2149760" cy="757384"/>
          </a:xfrm>
        </p:grpSpPr>
        <p:grpSp>
          <p:nvGrpSpPr>
            <p:cNvPr id="1615" name="Google Shape;1615;p131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616" name="Google Shape;1616;p13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7" name="Google Shape;1617;p13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8" name="Google Shape;1618;p131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19" name="Google Shape;1619;p131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20" name="Google Shape;1620;p131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621" name="Google Shape;1621;p131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131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131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131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5" name="Google Shape;1625;p131"/>
          <p:cNvGrpSpPr/>
          <p:nvPr/>
        </p:nvGrpSpPr>
        <p:grpSpPr>
          <a:xfrm>
            <a:off x="2637491" y="1264037"/>
            <a:ext cx="508200" cy="757384"/>
            <a:chOff x="2637491" y="1701066"/>
            <a:chExt cx="508200" cy="757384"/>
          </a:xfrm>
        </p:grpSpPr>
        <p:sp>
          <p:nvSpPr>
            <p:cNvPr id="1626" name="Google Shape;1626;p131"/>
            <p:cNvSpPr txBox="1"/>
            <p:nvPr/>
          </p:nvSpPr>
          <p:spPr>
            <a:xfrm>
              <a:off x="2727301" y="2119150"/>
              <a:ext cx="3708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+5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7" name="Google Shape;1627;p131"/>
            <p:cNvSpPr/>
            <p:nvPr/>
          </p:nvSpPr>
          <p:spPr>
            <a:xfrm rot="10800000" flipH="1">
              <a:off x="263749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28" name="Google Shape;1628;p131"/>
          <p:cNvSpPr/>
          <p:nvPr/>
        </p:nvSpPr>
        <p:spPr>
          <a:xfrm>
            <a:off x="2900309" y="1096696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9" name="Google Shape;1629;p131"/>
          <p:cNvGrpSpPr/>
          <p:nvPr/>
        </p:nvGrpSpPr>
        <p:grpSpPr>
          <a:xfrm>
            <a:off x="459975" y="2351007"/>
            <a:ext cx="2149760" cy="767469"/>
            <a:chOff x="459975" y="2940437"/>
            <a:chExt cx="2149760" cy="767469"/>
          </a:xfrm>
        </p:grpSpPr>
        <p:grpSp>
          <p:nvGrpSpPr>
            <p:cNvPr id="1630" name="Google Shape;1630;p131"/>
            <p:cNvGrpSpPr/>
            <p:nvPr/>
          </p:nvGrpSpPr>
          <p:grpSpPr>
            <a:xfrm>
              <a:off x="523104" y="3368606"/>
              <a:ext cx="2012497" cy="339300"/>
              <a:chOff x="390875" y="3185950"/>
              <a:chExt cx="2012497" cy="339300"/>
            </a:xfrm>
          </p:grpSpPr>
          <p:sp>
            <p:nvSpPr>
              <p:cNvPr id="1631" name="Google Shape;1631;p131"/>
              <p:cNvSpPr txBox="1"/>
              <p:nvPr/>
            </p:nvSpPr>
            <p:spPr>
              <a:xfrm>
                <a:off x="390875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2" name="Google Shape;1632;p131"/>
              <p:cNvSpPr txBox="1"/>
              <p:nvPr/>
            </p:nvSpPr>
            <p:spPr>
              <a:xfrm>
                <a:off x="883934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3" name="Google Shape;1633;p131"/>
              <p:cNvSpPr txBox="1"/>
              <p:nvPr/>
            </p:nvSpPr>
            <p:spPr>
              <a:xfrm>
                <a:off x="1441987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34" name="Google Shape;1634;p131"/>
              <p:cNvSpPr txBox="1"/>
              <p:nvPr/>
            </p:nvSpPr>
            <p:spPr>
              <a:xfrm>
                <a:off x="1985472" y="3185950"/>
                <a:ext cx="417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35" name="Google Shape;1635;p131"/>
            <p:cNvGrpSpPr/>
            <p:nvPr/>
          </p:nvGrpSpPr>
          <p:grpSpPr>
            <a:xfrm>
              <a:off x="459975" y="2940437"/>
              <a:ext cx="2149760" cy="437700"/>
              <a:chOff x="459975" y="1701066"/>
              <a:chExt cx="2149760" cy="437700"/>
            </a:xfrm>
          </p:grpSpPr>
          <p:sp>
            <p:nvSpPr>
              <p:cNvPr id="1636" name="Google Shape;1636;p131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131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131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131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0" name="Google Shape;1640;p131"/>
          <p:cNvGrpSpPr/>
          <p:nvPr/>
        </p:nvGrpSpPr>
        <p:grpSpPr>
          <a:xfrm>
            <a:off x="2637491" y="2351007"/>
            <a:ext cx="508200" cy="767469"/>
            <a:chOff x="2637491" y="2940437"/>
            <a:chExt cx="508200" cy="767469"/>
          </a:xfrm>
        </p:grpSpPr>
        <p:sp>
          <p:nvSpPr>
            <p:cNvPr id="1641" name="Google Shape;1641;p131"/>
            <p:cNvSpPr txBox="1"/>
            <p:nvPr/>
          </p:nvSpPr>
          <p:spPr>
            <a:xfrm>
              <a:off x="2666790" y="3368606"/>
              <a:ext cx="4179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+25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2" name="Google Shape;1642;p131"/>
            <p:cNvSpPr/>
            <p:nvPr/>
          </p:nvSpPr>
          <p:spPr>
            <a:xfrm rot="10800000" flipH="1">
              <a:off x="2637491" y="2940437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43" name="Google Shape;1643;p131"/>
          <p:cNvSpPr/>
          <p:nvPr/>
        </p:nvSpPr>
        <p:spPr>
          <a:xfrm>
            <a:off x="3037021" y="3687500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4" name="Google Shape;1644;p131"/>
          <p:cNvGrpSpPr/>
          <p:nvPr/>
        </p:nvGrpSpPr>
        <p:grpSpPr>
          <a:xfrm>
            <a:off x="480126" y="3854825"/>
            <a:ext cx="2246714" cy="747300"/>
            <a:chOff x="480126" y="3854825"/>
            <a:chExt cx="2246714" cy="747300"/>
          </a:xfrm>
        </p:grpSpPr>
        <p:grpSp>
          <p:nvGrpSpPr>
            <p:cNvPr id="1645" name="Google Shape;1645;p131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646" name="Google Shape;1646;p131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47" name="Google Shape;1647;p131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48" name="Google Shape;1648;p131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49" name="Google Shape;1649;p131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50" name="Google Shape;1650;p131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651" name="Google Shape;1651;p131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131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131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131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55" name="Google Shape;1655;p131"/>
          <p:cNvGrpSpPr/>
          <p:nvPr/>
        </p:nvGrpSpPr>
        <p:grpSpPr>
          <a:xfrm>
            <a:off x="2755848" y="3854825"/>
            <a:ext cx="549027" cy="747300"/>
            <a:chOff x="2755848" y="3854825"/>
            <a:chExt cx="549027" cy="747300"/>
          </a:xfrm>
        </p:grpSpPr>
        <p:sp>
          <p:nvSpPr>
            <p:cNvPr id="1656" name="Google Shape;1656;p131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7" name="Google Shape;1657;p131"/>
            <p:cNvSpPr/>
            <p:nvPr/>
          </p:nvSpPr>
          <p:spPr>
            <a:xfrm rot="10800000" flipH="1">
              <a:off x="2755848" y="3854825"/>
              <a:ext cx="53112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aphicFrame>
        <p:nvGraphicFramePr>
          <p:cNvPr id="1658" name="Google Shape;1658;p131"/>
          <p:cNvGraphicFramePr>
            <a:graphicFrameLocks noGrp="1"/>
          </p:cNvGraphicFramePr>
          <p:nvPr/>
        </p:nvGraphicFramePr>
        <p:xfrm>
          <a:off x="256615" y="2152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29900"/>
                <a:gridCol w="529900"/>
                <a:gridCol w="529900"/>
                <a:gridCol w="529900"/>
                <a:gridCol w="529900"/>
                <a:gridCol w="529900"/>
                <a:gridCol w="6801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59" name="Google Shape;1659;p131"/>
          <p:cNvSpPr/>
          <p:nvPr/>
        </p:nvSpPr>
        <p:spPr>
          <a:xfrm>
            <a:off x="2904791" y="2183666"/>
            <a:ext cx="3756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0" name="Google Shape;1660;p131"/>
          <p:cNvGrpSpPr/>
          <p:nvPr/>
        </p:nvGrpSpPr>
        <p:grpSpPr>
          <a:xfrm>
            <a:off x="688575" y="2864237"/>
            <a:ext cx="2149760" cy="757384"/>
            <a:chOff x="459975" y="1701066"/>
            <a:chExt cx="2149760" cy="757384"/>
          </a:xfrm>
        </p:grpSpPr>
        <p:grpSp>
          <p:nvGrpSpPr>
            <p:cNvPr id="1661" name="Google Shape;1661;p131"/>
            <p:cNvGrpSpPr/>
            <p:nvPr/>
          </p:nvGrpSpPr>
          <p:grpSpPr>
            <a:xfrm>
              <a:off x="553360" y="2119150"/>
              <a:ext cx="2000135" cy="339300"/>
              <a:chOff x="553360" y="1509550"/>
              <a:chExt cx="2000135" cy="339300"/>
            </a:xfrm>
          </p:grpSpPr>
          <p:sp>
            <p:nvSpPr>
              <p:cNvPr id="1662" name="Google Shape;1662;p131"/>
              <p:cNvSpPr txBox="1"/>
              <p:nvPr/>
            </p:nvSpPr>
            <p:spPr>
              <a:xfrm>
                <a:off x="553360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3" name="Google Shape;1663;p131"/>
              <p:cNvSpPr txBox="1"/>
              <p:nvPr/>
            </p:nvSpPr>
            <p:spPr>
              <a:xfrm>
                <a:off x="1081157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4" name="Google Shape;1664;p131"/>
              <p:cNvSpPr txBox="1"/>
              <p:nvPr/>
            </p:nvSpPr>
            <p:spPr>
              <a:xfrm>
                <a:off x="1629125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65" name="Google Shape;1665;p131"/>
              <p:cNvSpPr txBox="1"/>
              <p:nvPr/>
            </p:nvSpPr>
            <p:spPr>
              <a:xfrm>
                <a:off x="2182696" y="1509550"/>
                <a:ext cx="3708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4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4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66" name="Google Shape;1666;p131"/>
            <p:cNvGrpSpPr/>
            <p:nvPr/>
          </p:nvGrpSpPr>
          <p:grpSpPr>
            <a:xfrm>
              <a:off x="459975" y="1701066"/>
              <a:ext cx="2149760" cy="437700"/>
              <a:chOff x="459975" y="1701066"/>
              <a:chExt cx="2149760" cy="437700"/>
            </a:xfrm>
          </p:grpSpPr>
          <p:sp>
            <p:nvSpPr>
              <p:cNvPr id="1667" name="Google Shape;1667;p131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131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131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131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71" name="Google Shape;1671;p131"/>
          <p:cNvSpPr txBox="1"/>
          <p:nvPr/>
        </p:nvSpPr>
        <p:spPr>
          <a:xfrm>
            <a:off x="4157150" y="2116550"/>
            <a:ext cx="46626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 common additive difference.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131"/>
          <p:cNvSpPr txBox="1"/>
          <p:nvPr/>
        </p:nvSpPr>
        <p:spPr>
          <a:xfrm>
            <a:off x="4157150" y="2573750"/>
            <a:ext cx="46626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Common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difference - This is a special kind of non-linear sequence.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131"/>
          <p:cNvSpPr txBox="1"/>
          <p:nvPr/>
        </p:nvSpPr>
        <p:spPr>
          <a:xfrm>
            <a:off x="4157150" y="3716750"/>
            <a:ext cx="43266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 common additive difference but, there is a pattern.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7" name="Shape 1677"/>
        <p:cNvGrpSpPr/>
        <p:nvPr/>
      </p:nvGrpSpPr>
      <p:grpSpPr>
        <a:xfrm>
          <a:off x="0" y="0"/>
          <a:ext cx="0" cy="0"/>
        </a:xfrm>
      </p:grpSpPr>
      <p:graphicFrame>
        <p:nvGraphicFramePr>
          <p:cNvPr id="1678" name="Google Shape;1678;p132"/>
          <p:cNvGraphicFramePr>
            <a:graphicFrameLocks noGrp="1"/>
          </p:cNvGraphicFramePr>
          <p:nvPr/>
        </p:nvGraphicFramePr>
        <p:xfrm>
          <a:off x="256615" y="3656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7475"/>
                <a:gridCol w="547475"/>
                <a:gridCol w="547475"/>
                <a:gridCol w="547475"/>
                <a:gridCol w="547475"/>
                <a:gridCol w="628150"/>
                <a:gridCol w="62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79" name="Google Shape;1679;p132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last sequence is a special type of sequence.</a:t>
            </a:r>
            <a:endParaRPr/>
          </a:p>
        </p:txBody>
      </p:sp>
      <p:sp>
        <p:nvSpPr>
          <p:cNvPr id="1680" name="Google Shape;1680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681" name="Google Shape;1681;p132"/>
          <p:cNvGrpSpPr/>
          <p:nvPr/>
        </p:nvGrpSpPr>
        <p:grpSpPr>
          <a:xfrm>
            <a:off x="480126" y="3854825"/>
            <a:ext cx="2246714" cy="747300"/>
            <a:chOff x="480126" y="3854825"/>
            <a:chExt cx="2246714" cy="747300"/>
          </a:xfrm>
        </p:grpSpPr>
        <p:grpSp>
          <p:nvGrpSpPr>
            <p:cNvPr id="1682" name="Google Shape;1682;p132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683" name="Google Shape;1683;p132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84" name="Google Shape;1684;p132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85" name="Google Shape;1685;p132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86" name="Google Shape;1686;p132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687" name="Google Shape;1687;p132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688" name="Google Shape;1688;p132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132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132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132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2" name="Google Shape;1692;p132"/>
          <p:cNvGrpSpPr/>
          <p:nvPr/>
        </p:nvGrpSpPr>
        <p:grpSpPr>
          <a:xfrm>
            <a:off x="2755848" y="3854825"/>
            <a:ext cx="549027" cy="747300"/>
            <a:chOff x="2755848" y="3854825"/>
            <a:chExt cx="549027" cy="747300"/>
          </a:xfrm>
        </p:grpSpPr>
        <p:sp>
          <p:nvSpPr>
            <p:cNvPr id="1693" name="Google Shape;1693;p132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4" name="Google Shape;1694;p132"/>
            <p:cNvSpPr/>
            <p:nvPr/>
          </p:nvSpPr>
          <p:spPr>
            <a:xfrm rot="10800000" flipH="1">
              <a:off x="2755848" y="3854825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695" name="Google Shape;1695;p132"/>
          <p:cNvSpPr txBox="1"/>
          <p:nvPr/>
        </p:nvSpPr>
        <p:spPr>
          <a:xfrm>
            <a:off x="4574009" y="3716746"/>
            <a:ext cx="32373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we look for a common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 baseline="30000"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difference?...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6" name="Google Shape;1696;p132"/>
          <p:cNvGraphicFramePr>
            <a:graphicFrameLocks noGrp="1"/>
          </p:cNvGraphicFramePr>
          <p:nvPr/>
        </p:nvGraphicFramePr>
        <p:xfrm>
          <a:off x="2705100" y="12942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7475"/>
                <a:gridCol w="547475"/>
                <a:gridCol w="547475"/>
                <a:gridCol w="547475"/>
                <a:gridCol w="547475"/>
                <a:gridCol w="628150"/>
                <a:gridCol w="62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697" name="Google Shape;1697;p132"/>
          <p:cNvGrpSpPr/>
          <p:nvPr/>
        </p:nvGrpSpPr>
        <p:grpSpPr>
          <a:xfrm>
            <a:off x="2928611" y="1492625"/>
            <a:ext cx="2246714" cy="747300"/>
            <a:chOff x="480126" y="3854825"/>
            <a:chExt cx="2246714" cy="747300"/>
          </a:xfrm>
        </p:grpSpPr>
        <p:grpSp>
          <p:nvGrpSpPr>
            <p:cNvPr id="1698" name="Google Shape;1698;p132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699" name="Google Shape;1699;p132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00" name="Google Shape;1700;p132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01" name="Google Shape;1701;p132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02" name="Google Shape;1702;p132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03" name="Google Shape;1703;p132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704" name="Google Shape;1704;p132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132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132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132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08" name="Google Shape;1708;p132"/>
          <p:cNvGrpSpPr/>
          <p:nvPr/>
        </p:nvGrpSpPr>
        <p:grpSpPr>
          <a:xfrm>
            <a:off x="5204333" y="1492625"/>
            <a:ext cx="549027" cy="747300"/>
            <a:chOff x="2755848" y="3854825"/>
            <a:chExt cx="549027" cy="747300"/>
          </a:xfrm>
        </p:grpSpPr>
        <p:sp>
          <p:nvSpPr>
            <p:cNvPr id="1709" name="Google Shape;1709;p132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0" name="Google Shape;1710;p132"/>
            <p:cNvSpPr/>
            <p:nvPr/>
          </p:nvSpPr>
          <p:spPr>
            <a:xfrm rot="10800000" flipH="1">
              <a:off x="2755848" y="3854825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1" name="Google Shape;1711;p132"/>
          <p:cNvGrpSpPr/>
          <p:nvPr/>
        </p:nvGrpSpPr>
        <p:grpSpPr>
          <a:xfrm>
            <a:off x="3213241" y="1985684"/>
            <a:ext cx="2246714" cy="747300"/>
            <a:chOff x="480126" y="3854825"/>
            <a:chExt cx="2246714" cy="747300"/>
          </a:xfrm>
        </p:grpSpPr>
        <p:grpSp>
          <p:nvGrpSpPr>
            <p:cNvPr id="1712" name="Google Shape;1712;p132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713" name="Google Shape;1713;p132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14" name="Google Shape;1714;p132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15" name="Google Shape;1715;p132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16" name="Google Shape;1716;p132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17" name="Google Shape;1717;p132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718" name="Google Shape;1718;p132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132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132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132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2" name="Google Shape;1722;p132"/>
          <p:cNvGrpSpPr/>
          <p:nvPr/>
        </p:nvGrpSpPr>
        <p:grpSpPr>
          <a:xfrm>
            <a:off x="5488963" y="1985684"/>
            <a:ext cx="549027" cy="747300"/>
            <a:chOff x="2755848" y="3854825"/>
            <a:chExt cx="549027" cy="747300"/>
          </a:xfrm>
        </p:grpSpPr>
        <p:sp>
          <p:nvSpPr>
            <p:cNvPr id="1723" name="Google Shape;1723;p132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4" name="Google Shape;1724;p132"/>
            <p:cNvSpPr/>
            <p:nvPr/>
          </p:nvSpPr>
          <p:spPr>
            <a:xfrm rot="10800000" flipH="1">
              <a:off x="2755848" y="3854825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25" name="Google Shape;1725;p132"/>
          <p:cNvGrpSpPr/>
          <p:nvPr/>
        </p:nvGrpSpPr>
        <p:grpSpPr>
          <a:xfrm>
            <a:off x="3497870" y="2478743"/>
            <a:ext cx="2246714" cy="747300"/>
            <a:chOff x="480126" y="3854825"/>
            <a:chExt cx="2246714" cy="747300"/>
          </a:xfrm>
        </p:grpSpPr>
        <p:grpSp>
          <p:nvGrpSpPr>
            <p:cNvPr id="1726" name="Google Shape;1726;p132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727" name="Google Shape;1727;p132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8" name="Google Shape;1728;p132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29" name="Google Shape;1729;p132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30" name="Google Shape;1730;p132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31" name="Google Shape;1731;p132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732" name="Google Shape;1732;p132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132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132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132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36" name="Google Shape;1736;p132"/>
          <p:cNvGrpSpPr/>
          <p:nvPr/>
        </p:nvGrpSpPr>
        <p:grpSpPr>
          <a:xfrm>
            <a:off x="5773592" y="2478743"/>
            <a:ext cx="549027" cy="747300"/>
            <a:chOff x="2755848" y="3854825"/>
            <a:chExt cx="549027" cy="747300"/>
          </a:xfrm>
        </p:grpSpPr>
        <p:sp>
          <p:nvSpPr>
            <p:cNvPr id="1737" name="Google Shape;1737;p132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8" name="Google Shape;1738;p132"/>
            <p:cNvSpPr/>
            <p:nvPr/>
          </p:nvSpPr>
          <p:spPr>
            <a:xfrm rot="10800000" flipH="1">
              <a:off x="2755848" y="3854825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39" name="Google Shape;1739;p132"/>
          <p:cNvSpPr txBox="1"/>
          <p:nvPr/>
        </p:nvSpPr>
        <p:spPr>
          <a:xfrm>
            <a:off x="6671750" y="2020175"/>
            <a:ext cx="20766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is clearly a very unique type of sequence.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3" name="Shape 1743"/>
        <p:cNvGrpSpPr/>
        <p:nvPr/>
      </p:nvGrpSpPr>
      <p:grpSpPr>
        <a:xfrm>
          <a:off x="0" y="0"/>
          <a:ext cx="0" cy="0"/>
        </a:xfrm>
      </p:grpSpPr>
      <p:pic>
        <p:nvPicPr>
          <p:cNvPr id="1744" name="Google Shape;1744;p133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5912000" y="1197450"/>
            <a:ext cx="2571750" cy="159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p133"/>
          <p:cNvSpPr txBox="1"/>
          <p:nvPr/>
        </p:nvSpPr>
        <p:spPr>
          <a:xfrm flipH="1">
            <a:off x="6019200" y="1241250"/>
            <a:ext cx="22467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 see a more efficient way to describe this and it’s not additive.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6" name="Google Shape;1746;p133"/>
          <p:cNvGraphicFramePr>
            <a:graphicFrameLocks noGrp="1"/>
          </p:cNvGraphicFramePr>
          <p:nvPr/>
        </p:nvGraphicFramePr>
        <p:xfrm>
          <a:off x="256615" y="3656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7475"/>
                <a:gridCol w="547475"/>
                <a:gridCol w="547475"/>
                <a:gridCol w="547475"/>
                <a:gridCol w="547475"/>
                <a:gridCol w="628150"/>
                <a:gridCol w="62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7" name="Google Shape;1747;p133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last sequence is a special type of sequence.</a:t>
            </a:r>
            <a:endParaRPr/>
          </a:p>
        </p:txBody>
      </p:sp>
      <p:sp>
        <p:nvSpPr>
          <p:cNvPr id="1748" name="Google Shape;1748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749" name="Google Shape;1749;p133"/>
          <p:cNvGrpSpPr/>
          <p:nvPr/>
        </p:nvGrpSpPr>
        <p:grpSpPr>
          <a:xfrm>
            <a:off x="480126" y="3854825"/>
            <a:ext cx="2246714" cy="747300"/>
            <a:chOff x="480126" y="3854825"/>
            <a:chExt cx="2246714" cy="747300"/>
          </a:xfrm>
        </p:grpSpPr>
        <p:grpSp>
          <p:nvGrpSpPr>
            <p:cNvPr id="1750" name="Google Shape;1750;p133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751" name="Google Shape;1751;p133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2" name="Google Shape;1752;p133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3" name="Google Shape;1753;p133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54" name="Google Shape;1754;p133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55" name="Google Shape;1755;p133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756" name="Google Shape;1756;p133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33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33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133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0" name="Google Shape;1760;p133"/>
          <p:cNvGrpSpPr/>
          <p:nvPr/>
        </p:nvGrpSpPr>
        <p:grpSpPr>
          <a:xfrm>
            <a:off x="2755848" y="3854825"/>
            <a:ext cx="549027" cy="747300"/>
            <a:chOff x="2755848" y="3854825"/>
            <a:chExt cx="549027" cy="747300"/>
          </a:xfrm>
        </p:grpSpPr>
        <p:sp>
          <p:nvSpPr>
            <p:cNvPr id="1761" name="Google Shape;1761;p133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2" name="Google Shape;1762;p133"/>
            <p:cNvSpPr/>
            <p:nvPr/>
          </p:nvSpPr>
          <p:spPr>
            <a:xfrm rot="10800000" flipH="1">
              <a:off x="2755848" y="3854825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763" name="Google Shape;1763;p133"/>
          <p:cNvSpPr txBox="1"/>
          <p:nvPr/>
        </p:nvSpPr>
        <p:spPr>
          <a:xfrm>
            <a:off x="4842950" y="3792950"/>
            <a:ext cx="25719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you spot what Izzy has spotted?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4" name="Google Shape;1764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735" y="2599190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133"/>
          <p:cNvSpPr txBox="1"/>
          <p:nvPr/>
        </p:nvSpPr>
        <p:spPr>
          <a:xfrm>
            <a:off x="1087238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6" name="Google Shape;1766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5566" y="2539778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33"/>
          <p:cNvSpPr txBox="1"/>
          <p:nvPr/>
        </p:nvSpPr>
        <p:spPr>
          <a:xfrm>
            <a:off x="7147379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8" name="Google Shape;1768;p133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78558" y="1349854"/>
            <a:ext cx="2246723" cy="120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133"/>
          <p:cNvSpPr txBox="1"/>
          <p:nvPr/>
        </p:nvSpPr>
        <p:spPr>
          <a:xfrm flipH="1">
            <a:off x="913650" y="1393650"/>
            <a:ext cx="1889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like this one. I see it as an “Add itself” sequence.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0" name="Google Shape;1770;p133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4" name="Shape 1774"/>
        <p:cNvGrpSpPr/>
        <p:nvPr/>
      </p:nvGrpSpPr>
      <p:grpSpPr>
        <a:xfrm>
          <a:off x="0" y="0"/>
          <a:ext cx="0" cy="0"/>
        </a:xfrm>
      </p:grpSpPr>
      <p:pic>
        <p:nvPicPr>
          <p:cNvPr id="1775" name="Google Shape;1775;p134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6150685" y="1466071"/>
            <a:ext cx="1889398" cy="1287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76" name="Google Shape;1776;p134"/>
          <p:cNvSpPr txBox="1"/>
          <p:nvPr/>
        </p:nvSpPr>
        <p:spPr>
          <a:xfrm flipH="1">
            <a:off x="6247750" y="1546050"/>
            <a:ext cx="1577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actually a multiplicative sequence!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7" name="Google Shape;1777;p134"/>
          <p:cNvGraphicFramePr>
            <a:graphicFrameLocks noGrp="1"/>
          </p:cNvGraphicFramePr>
          <p:nvPr/>
        </p:nvGraphicFramePr>
        <p:xfrm>
          <a:off x="256615" y="3656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7475"/>
                <a:gridCol w="547475"/>
                <a:gridCol w="547475"/>
                <a:gridCol w="547475"/>
                <a:gridCol w="547475"/>
                <a:gridCol w="628150"/>
                <a:gridCol w="62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8" name="Google Shape;1778;p134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last sequence is a special type of sequence.</a:t>
            </a:r>
            <a:endParaRPr/>
          </a:p>
        </p:txBody>
      </p:sp>
      <p:sp>
        <p:nvSpPr>
          <p:cNvPr id="1779" name="Google Shape;1779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780" name="Google Shape;1780;p134"/>
          <p:cNvGrpSpPr/>
          <p:nvPr/>
        </p:nvGrpSpPr>
        <p:grpSpPr>
          <a:xfrm>
            <a:off x="480126" y="3854825"/>
            <a:ext cx="2246714" cy="747300"/>
            <a:chOff x="480126" y="3854825"/>
            <a:chExt cx="2246714" cy="747300"/>
          </a:xfrm>
        </p:grpSpPr>
        <p:grpSp>
          <p:nvGrpSpPr>
            <p:cNvPr id="1781" name="Google Shape;1781;p134"/>
            <p:cNvGrpSpPr/>
            <p:nvPr/>
          </p:nvGrpSpPr>
          <p:grpSpPr>
            <a:xfrm>
              <a:off x="563446" y="4262825"/>
              <a:ext cx="2095521" cy="339300"/>
              <a:chOff x="533190" y="4339025"/>
              <a:chExt cx="2095521" cy="339300"/>
            </a:xfrm>
          </p:grpSpPr>
          <p:sp>
            <p:nvSpPr>
              <p:cNvPr id="1782" name="Google Shape;1782;p134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3" name="Google Shape;1783;p134"/>
              <p:cNvSpPr txBox="1"/>
              <p:nvPr/>
            </p:nvSpPr>
            <p:spPr>
              <a:xfrm>
                <a:off x="10161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+10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4" name="Google Shape;1784;p134"/>
              <p:cNvSpPr txBox="1"/>
              <p:nvPr/>
            </p:nvSpPr>
            <p:spPr>
              <a:xfrm>
                <a:off x="1628739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85" name="Google Shape;1785;p134"/>
              <p:cNvSpPr txBox="1"/>
              <p:nvPr/>
            </p:nvSpPr>
            <p:spPr>
              <a:xfrm>
                <a:off x="2196411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+40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786" name="Google Shape;1786;p134"/>
            <p:cNvGrpSpPr/>
            <p:nvPr/>
          </p:nvGrpSpPr>
          <p:grpSpPr>
            <a:xfrm>
              <a:off x="480126" y="3854825"/>
              <a:ext cx="2246714" cy="437700"/>
              <a:chOff x="459975" y="1701066"/>
              <a:chExt cx="2149760" cy="437700"/>
            </a:xfrm>
          </p:grpSpPr>
          <p:sp>
            <p:nvSpPr>
              <p:cNvPr id="1787" name="Google Shape;1787;p134"/>
              <p:cNvSpPr/>
              <p:nvPr/>
            </p:nvSpPr>
            <p:spPr>
              <a:xfrm rot="10800000" flipH="1">
                <a:off x="45997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134"/>
              <p:cNvSpPr/>
              <p:nvPr/>
            </p:nvSpPr>
            <p:spPr>
              <a:xfrm rot="10800000" flipH="1">
                <a:off x="995931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134"/>
              <p:cNvSpPr/>
              <p:nvPr/>
            </p:nvSpPr>
            <p:spPr>
              <a:xfrm rot="10800000" flipH="1">
                <a:off x="155281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134"/>
              <p:cNvSpPr/>
              <p:nvPr/>
            </p:nvSpPr>
            <p:spPr>
              <a:xfrm rot="10800000" flipH="1">
                <a:off x="2101535" y="1701066"/>
                <a:ext cx="5082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1" name="Google Shape;1791;p134"/>
          <p:cNvGrpSpPr/>
          <p:nvPr/>
        </p:nvGrpSpPr>
        <p:grpSpPr>
          <a:xfrm>
            <a:off x="2755848" y="3854825"/>
            <a:ext cx="549027" cy="747300"/>
            <a:chOff x="2755848" y="3854825"/>
            <a:chExt cx="549027" cy="747300"/>
          </a:xfrm>
        </p:grpSpPr>
        <p:sp>
          <p:nvSpPr>
            <p:cNvPr id="1792" name="Google Shape;1792;p134"/>
            <p:cNvSpPr txBox="1"/>
            <p:nvPr/>
          </p:nvSpPr>
          <p:spPr>
            <a:xfrm>
              <a:off x="2819175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+80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3" name="Google Shape;1793;p134"/>
            <p:cNvSpPr/>
            <p:nvPr/>
          </p:nvSpPr>
          <p:spPr>
            <a:xfrm rot="10800000" flipH="1">
              <a:off x="2755848" y="3854825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1794" name="Google Shape;1794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735" y="2599190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34"/>
          <p:cNvSpPr txBox="1"/>
          <p:nvPr/>
        </p:nvSpPr>
        <p:spPr>
          <a:xfrm>
            <a:off x="1087238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6" name="Google Shape;1796;p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5566" y="2539778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134"/>
          <p:cNvSpPr txBox="1"/>
          <p:nvPr/>
        </p:nvSpPr>
        <p:spPr>
          <a:xfrm>
            <a:off x="7147379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98" name="Google Shape;1798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  <a:gridCol w="338975"/>
                <a:gridCol w="1313350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99" name="Google Shape;1799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0" name="Google Shape;1800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  <a:gridCol w="338975"/>
                <a:gridCol w="1313350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×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 ×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1" name="Google Shape;1801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2" name="Google Shape;1802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  <a:gridCol w="338975"/>
                <a:gridCol w="1313350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3" name="Google Shape;1803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  <a:gridCol w="338975"/>
                <a:gridCol w="1313350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04" name="Google Shape;1804;p134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  <a:gridCol w="338975"/>
                <a:gridCol w="1313350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×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8" name="Shape 1808"/>
        <p:cNvGrpSpPr/>
        <p:nvPr/>
      </p:nvGrpSpPr>
      <p:grpSpPr>
        <a:xfrm>
          <a:off x="0" y="0"/>
          <a:ext cx="0" cy="0"/>
        </a:xfrm>
      </p:grpSpPr>
      <p:pic>
        <p:nvPicPr>
          <p:cNvPr id="1809" name="Google Shape;1809;p13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6150685" y="1466071"/>
            <a:ext cx="1889398" cy="1287488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35"/>
          <p:cNvSpPr txBox="1"/>
          <p:nvPr/>
        </p:nvSpPr>
        <p:spPr>
          <a:xfrm flipH="1">
            <a:off x="6247750" y="1546050"/>
            <a:ext cx="1577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actually a multiplicative sequence!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1" name="Google Shape;1811;p135"/>
          <p:cNvGraphicFramePr>
            <a:graphicFrameLocks noGrp="1"/>
          </p:cNvGraphicFramePr>
          <p:nvPr/>
        </p:nvGraphicFramePr>
        <p:xfrm>
          <a:off x="256615" y="36564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7475"/>
                <a:gridCol w="547475"/>
                <a:gridCol w="547475"/>
                <a:gridCol w="547475"/>
                <a:gridCol w="547475"/>
                <a:gridCol w="628150"/>
                <a:gridCol w="6220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2" name="Google Shape;1812;p135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This last sequence is a special type of sequence.</a:t>
            </a:r>
            <a:endParaRPr/>
          </a:p>
        </p:txBody>
      </p:sp>
      <p:sp>
        <p:nvSpPr>
          <p:cNvPr id="1813" name="Google Shape;1813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814" name="Google Shape;1814;p135"/>
          <p:cNvGrpSpPr/>
          <p:nvPr/>
        </p:nvGrpSpPr>
        <p:grpSpPr>
          <a:xfrm>
            <a:off x="480126" y="3854825"/>
            <a:ext cx="2246714" cy="437700"/>
            <a:chOff x="459975" y="1701066"/>
            <a:chExt cx="2149760" cy="437700"/>
          </a:xfrm>
        </p:grpSpPr>
        <p:sp>
          <p:nvSpPr>
            <p:cNvPr id="1815" name="Google Shape;1815;p135"/>
            <p:cNvSpPr/>
            <p:nvPr/>
          </p:nvSpPr>
          <p:spPr>
            <a:xfrm rot="10800000" flipH="1">
              <a:off x="45997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6" name="Google Shape;1816;p135"/>
            <p:cNvSpPr/>
            <p:nvPr/>
          </p:nvSpPr>
          <p:spPr>
            <a:xfrm rot="10800000" flipH="1">
              <a:off x="99593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7" name="Google Shape;1817;p135"/>
            <p:cNvSpPr/>
            <p:nvPr/>
          </p:nvSpPr>
          <p:spPr>
            <a:xfrm rot="10800000" flipH="1">
              <a:off x="155281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18" name="Google Shape;1818;p135"/>
            <p:cNvSpPr/>
            <p:nvPr/>
          </p:nvSpPr>
          <p:spPr>
            <a:xfrm rot="10800000" flipH="1">
              <a:off x="210153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19" name="Google Shape;1819;p135"/>
          <p:cNvGrpSpPr/>
          <p:nvPr/>
        </p:nvGrpSpPr>
        <p:grpSpPr>
          <a:xfrm>
            <a:off x="563446" y="4262825"/>
            <a:ext cx="2771685" cy="339300"/>
            <a:chOff x="563446" y="4262825"/>
            <a:chExt cx="2771685" cy="339300"/>
          </a:xfrm>
        </p:grpSpPr>
        <p:grpSp>
          <p:nvGrpSpPr>
            <p:cNvPr id="1820" name="Google Shape;1820;p135"/>
            <p:cNvGrpSpPr/>
            <p:nvPr/>
          </p:nvGrpSpPr>
          <p:grpSpPr>
            <a:xfrm>
              <a:off x="563446" y="4262825"/>
              <a:ext cx="2145948" cy="339300"/>
              <a:chOff x="533190" y="4339025"/>
              <a:chExt cx="2145948" cy="339300"/>
            </a:xfrm>
          </p:grpSpPr>
          <p:sp>
            <p:nvSpPr>
              <p:cNvPr id="1821" name="Google Shape;1821;p135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2" name="Google Shape;1822;p135"/>
              <p:cNvSpPr txBox="1"/>
              <p:nvPr/>
            </p:nvSpPr>
            <p:spPr>
              <a:xfrm>
                <a:off x="10923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3" name="Google Shape;1823;p135"/>
              <p:cNvSpPr txBox="1"/>
              <p:nvPr/>
            </p:nvSpPr>
            <p:spPr>
              <a:xfrm>
                <a:off x="1669080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4" name="Google Shape;1824;p135"/>
              <p:cNvSpPr txBox="1"/>
              <p:nvPr/>
            </p:nvSpPr>
            <p:spPr>
              <a:xfrm>
                <a:off x="2246838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825" name="Google Shape;1825;p135"/>
            <p:cNvSpPr txBox="1"/>
            <p:nvPr/>
          </p:nvSpPr>
          <p:spPr>
            <a:xfrm>
              <a:off x="2849430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26" name="Google Shape;1826;p135"/>
          <p:cNvSpPr/>
          <p:nvPr/>
        </p:nvSpPr>
        <p:spPr>
          <a:xfrm rot="10800000" flipH="1">
            <a:off x="2755848" y="3854825"/>
            <a:ext cx="5310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27" name="Google Shape;1827;p1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735" y="2599190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135"/>
          <p:cNvSpPr txBox="1"/>
          <p:nvPr/>
        </p:nvSpPr>
        <p:spPr>
          <a:xfrm>
            <a:off x="1087238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9" name="Google Shape;1829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5566" y="2539778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135"/>
          <p:cNvSpPr txBox="1"/>
          <p:nvPr/>
        </p:nvSpPr>
        <p:spPr>
          <a:xfrm>
            <a:off x="7147379" y="3379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1" name="Google Shape;1831;p13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678558" y="1349854"/>
            <a:ext cx="2246723" cy="120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135"/>
          <p:cNvSpPr txBox="1"/>
          <p:nvPr/>
        </p:nvSpPr>
        <p:spPr>
          <a:xfrm flipH="1">
            <a:off x="913650" y="1393650"/>
            <a:ext cx="18894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That’s far more efficient Izzy. Well spotted!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3" name="Google Shape;1833;p135"/>
          <p:cNvGraphicFramePr>
            <a:graphicFrameLocks noGrp="1"/>
          </p:cNvGraphicFramePr>
          <p:nvPr/>
        </p:nvGraphicFramePr>
        <p:xfrm>
          <a:off x="3157244" y="1330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1239375"/>
                <a:gridCol w="338975"/>
                <a:gridCol w="1313350"/>
              </a:tblGrid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× 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×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1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 ×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7" name="Shape 1837"/>
        <p:cNvGrpSpPr/>
        <p:nvPr/>
      </p:nvGrpSpPr>
      <p:grpSpPr>
        <a:xfrm>
          <a:off x="0" y="0"/>
          <a:ext cx="0" cy="0"/>
        </a:xfrm>
      </p:grpSpPr>
      <p:graphicFrame>
        <p:nvGraphicFramePr>
          <p:cNvPr id="1838" name="Google Shape;1838;p136"/>
          <p:cNvGraphicFramePr>
            <a:graphicFrameLocks noGrp="1"/>
          </p:cNvGraphicFramePr>
          <p:nvPr/>
        </p:nvGraphicFramePr>
        <p:xfrm>
          <a:off x="256615" y="1624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45400"/>
                <a:gridCol w="545400"/>
                <a:gridCol w="545400"/>
                <a:gridCol w="545400"/>
                <a:gridCol w="545400"/>
                <a:gridCol w="625775"/>
                <a:gridCol w="625775"/>
                <a:gridCol w="625775"/>
                <a:gridCol w="827475"/>
                <a:gridCol w="5683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39" name="Google Shape;1839;p136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Use Izzy’s term-to-term rule to find the next three terms.</a:t>
            </a:r>
            <a:endParaRPr/>
          </a:p>
        </p:txBody>
      </p:sp>
      <p:sp>
        <p:nvSpPr>
          <p:cNvPr id="1840" name="Google Shape;1840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841" name="Google Shape;1841;p136"/>
          <p:cNvGrpSpPr/>
          <p:nvPr/>
        </p:nvGrpSpPr>
        <p:grpSpPr>
          <a:xfrm>
            <a:off x="485729" y="1823199"/>
            <a:ext cx="2246714" cy="437700"/>
            <a:chOff x="459975" y="1701066"/>
            <a:chExt cx="2149760" cy="437700"/>
          </a:xfrm>
        </p:grpSpPr>
        <p:sp>
          <p:nvSpPr>
            <p:cNvPr id="1842" name="Google Shape;1842;p136"/>
            <p:cNvSpPr/>
            <p:nvPr/>
          </p:nvSpPr>
          <p:spPr>
            <a:xfrm rot="10800000" flipH="1">
              <a:off x="45997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3" name="Google Shape;1843;p136"/>
            <p:cNvSpPr/>
            <p:nvPr/>
          </p:nvSpPr>
          <p:spPr>
            <a:xfrm rot="10800000" flipH="1">
              <a:off x="99593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4" name="Google Shape;1844;p136"/>
            <p:cNvSpPr/>
            <p:nvPr/>
          </p:nvSpPr>
          <p:spPr>
            <a:xfrm rot="10800000" flipH="1">
              <a:off x="155281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45" name="Google Shape;1845;p136"/>
            <p:cNvSpPr/>
            <p:nvPr/>
          </p:nvSpPr>
          <p:spPr>
            <a:xfrm rot="10800000" flipH="1">
              <a:off x="210153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846" name="Google Shape;1846;p136"/>
          <p:cNvGrpSpPr/>
          <p:nvPr/>
        </p:nvGrpSpPr>
        <p:grpSpPr>
          <a:xfrm>
            <a:off x="569049" y="2231199"/>
            <a:ext cx="2771685" cy="339300"/>
            <a:chOff x="563446" y="4262825"/>
            <a:chExt cx="2771685" cy="339300"/>
          </a:xfrm>
        </p:grpSpPr>
        <p:grpSp>
          <p:nvGrpSpPr>
            <p:cNvPr id="1847" name="Google Shape;1847;p136"/>
            <p:cNvGrpSpPr/>
            <p:nvPr/>
          </p:nvGrpSpPr>
          <p:grpSpPr>
            <a:xfrm>
              <a:off x="563446" y="4262825"/>
              <a:ext cx="2145948" cy="339300"/>
              <a:chOff x="533190" y="4339025"/>
              <a:chExt cx="2145948" cy="339300"/>
            </a:xfrm>
          </p:grpSpPr>
          <p:sp>
            <p:nvSpPr>
              <p:cNvPr id="1848" name="Google Shape;1848;p136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9" name="Google Shape;1849;p136"/>
              <p:cNvSpPr txBox="1"/>
              <p:nvPr/>
            </p:nvSpPr>
            <p:spPr>
              <a:xfrm>
                <a:off x="10923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0" name="Google Shape;1850;p136"/>
              <p:cNvSpPr txBox="1"/>
              <p:nvPr/>
            </p:nvSpPr>
            <p:spPr>
              <a:xfrm>
                <a:off x="1669080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1" name="Google Shape;1851;p136"/>
              <p:cNvSpPr txBox="1"/>
              <p:nvPr/>
            </p:nvSpPr>
            <p:spPr>
              <a:xfrm>
                <a:off x="2246838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852" name="Google Shape;1852;p136"/>
            <p:cNvSpPr txBox="1"/>
            <p:nvPr/>
          </p:nvSpPr>
          <p:spPr>
            <a:xfrm>
              <a:off x="2849430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53" name="Google Shape;1853;p136"/>
          <p:cNvSpPr/>
          <p:nvPr/>
        </p:nvSpPr>
        <p:spPr>
          <a:xfrm rot="10800000" flipH="1">
            <a:off x="2761451" y="1823199"/>
            <a:ext cx="5310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854" name="Google Shape;1854;p136"/>
          <p:cNvGrpSpPr/>
          <p:nvPr/>
        </p:nvGrpSpPr>
        <p:grpSpPr>
          <a:xfrm>
            <a:off x="3345277" y="1823199"/>
            <a:ext cx="1798482" cy="747300"/>
            <a:chOff x="3345277" y="1823199"/>
            <a:chExt cx="1798482" cy="747300"/>
          </a:xfrm>
        </p:grpSpPr>
        <p:sp>
          <p:nvSpPr>
            <p:cNvPr id="1855" name="Google Shape;1855;p136"/>
            <p:cNvSpPr txBox="1"/>
            <p:nvPr/>
          </p:nvSpPr>
          <p:spPr>
            <a:xfrm>
              <a:off x="3477710" y="2231199"/>
              <a:ext cx="4323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6" name="Google Shape;1856;p136"/>
            <p:cNvSpPr txBox="1"/>
            <p:nvPr/>
          </p:nvSpPr>
          <p:spPr>
            <a:xfrm>
              <a:off x="4065552" y="2231199"/>
              <a:ext cx="4323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7" name="Google Shape;1857;p136"/>
            <p:cNvSpPr txBox="1"/>
            <p:nvPr/>
          </p:nvSpPr>
          <p:spPr>
            <a:xfrm>
              <a:off x="4658060" y="2231199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58" name="Google Shape;1858;p136"/>
            <p:cNvSpPr/>
            <p:nvPr/>
          </p:nvSpPr>
          <p:spPr>
            <a:xfrm rot="10800000" flipH="1">
              <a:off x="4554392" y="1823199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59" name="Google Shape;1859;p136"/>
            <p:cNvSpPr/>
            <p:nvPr/>
          </p:nvSpPr>
          <p:spPr>
            <a:xfrm rot="10800000" flipH="1">
              <a:off x="3944792" y="1823199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60" name="Google Shape;1860;p136"/>
            <p:cNvSpPr/>
            <p:nvPr/>
          </p:nvSpPr>
          <p:spPr>
            <a:xfrm rot="10800000" flipH="1">
              <a:off x="3345277" y="1823199"/>
              <a:ext cx="5310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61" name="Google Shape;1861;p136"/>
          <p:cNvSpPr/>
          <p:nvPr/>
        </p:nvSpPr>
        <p:spPr>
          <a:xfrm>
            <a:off x="3626450" y="1640185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36"/>
          <p:cNvSpPr/>
          <p:nvPr/>
        </p:nvSpPr>
        <p:spPr>
          <a:xfrm>
            <a:off x="4246136" y="1640185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36"/>
          <p:cNvSpPr/>
          <p:nvPr/>
        </p:nvSpPr>
        <p:spPr>
          <a:xfrm>
            <a:off x="4923649" y="1640175"/>
            <a:ext cx="6162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36"/>
          <p:cNvSpPr txBox="1"/>
          <p:nvPr>
            <p:ph type="body" idx="1"/>
          </p:nvPr>
        </p:nvSpPr>
        <p:spPr>
          <a:xfrm>
            <a:off x="324000" y="2969100"/>
            <a:ext cx="84960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Sequences with a common </a:t>
            </a:r>
            <a:r>
              <a:rPr lang="en-GB">
                <a:solidFill>
                  <a:schemeClr val="accent4"/>
                </a:solidFill>
              </a:rPr>
              <a:t>multiplicative</a:t>
            </a:r>
            <a:r>
              <a:rPr lang="en-GB"/>
              <a:t> relationship between successive terms are known as </a:t>
            </a:r>
            <a:r>
              <a:rPr lang="en-GB" b="1"/>
              <a:t>geometric sequences</a:t>
            </a:r>
            <a:r>
              <a:rPr lang="en-GB"/>
              <a:t>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8" name="Shape 1868"/>
        <p:cNvGrpSpPr/>
        <p:nvPr/>
      </p:nvGrpSpPr>
      <p:grpSpPr>
        <a:xfrm>
          <a:off x="0" y="0"/>
          <a:ext cx="0" cy="0"/>
        </a:xfrm>
      </p:grpSpPr>
      <p:sp>
        <p:nvSpPr>
          <p:cNvPr id="1869" name="Google Shape;1869;p137"/>
          <p:cNvSpPr txBox="1"/>
          <p:nvPr>
            <p:ph type="subTitle" idx="1"/>
          </p:nvPr>
        </p:nvSpPr>
        <p:spPr>
          <a:xfrm>
            <a:off x="874950" y="3007850"/>
            <a:ext cx="4674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common term-to-term rule in a </a:t>
            </a:r>
            <a:r>
              <a:rPr lang="en-GB" sz="2000" b="1"/>
              <a:t>geometric sequence </a:t>
            </a:r>
            <a:r>
              <a:rPr lang="en-GB" sz="2000"/>
              <a:t>is multiplicative.</a:t>
            </a:r>
            <a:endParaRPr sz="2000"/>
          </a:p>
        </p:txBody>
      </p:sp>
      <p:sp>
        <p:nvSpPr>
          <p:cNvPr id="1870" name="Google Shape;1870;p137"/>
          <p:cNvSpPr txBox="1"/>
          <p:nvPr>
            <p:ph type="subTitle" idx="2"/>
          </p:nvPr>
        </p:nvSpPr>
        <p:spPr>
          <a:xfrm>
            <a:off x="324000" y="1044150"/>
            <a:ext cx="71352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/>
              <a:t>Geometric sequences</a:t>
            </a:r>
            <a:r>
              <a:rPr lang="en-GB"/>
              <a:t> have a common additive difference between successive terms.</a:t>
            </a:r>
            <a:endParaRPr/>
          </a:p>
        </p:txBody>
      </p:sp>
      <p:sp>
        <p:nvSpPr>
          <p:cNvPr id="1871" name="Google Shape;1871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geometric sequences</a:t>
            </a:r>
            <a:endParaRPr/>
          </a:p>
        </p:txBody>
      </p:sp>
      <p:pic>
        <p:nvPicPr>
          <p:cNvPr id="1872" name="Google Shape;1872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698" y="178255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3" name="Google Shape;1873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354" y="315415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4" name="Google Shape;1874;p137"/>
          <p:cNvSpPr txBox="1"/>
          <p:nvPr>
            <p:ph type="subTitle" idx="1"/>
          </p:nvPr>
        </p:nvSpPr>
        <p:spPr>
          <a:xfrm>
            <a:off x="874950" y="3902079"/>
            <a:ext cx="4674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common term-to-term rule in a </a:t>
            </a:r>
            <a:r>
              <a:rPr lang="en-GB" sz="2000" b="1"/>
              <a:t>geometric sequence </a:t>
            </a:r>
            <a:r>
              <a:rPr lang="en-GB" sz="2000"/>
              <a:t>is additive.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8" name="Shape 1878"/>
        <p:cNvGrpSpPr/>
        <p:nvPr/>
      </p:nvGrpSpPr>
      <p:grpSpPr>
        <a:xfrm>
          <a:off x="0" y="0"/>
          <a:ext cx="0" cy="0"/>
        </a:xfrm>
      </p:grpSpPr>
      <p:graphicFrame>
        <p:nvGraphicFramePr>
          <p:cNvPr id="1879" name="Google Shape;1879;p138"/>
          <p:cNvGraphicFramePr>
            <a:graphicFrameLocks noGrp="1"/>
          </p:cNvGraphicFramePr>
          <p:nvPr/>
        </p:nvGraphicFramePr>
        <p:xfrm>
          <a:off x="256615" y="1624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54700"/>
                <a:gridCol w="654700"/>
                <a:gridCol w="654700"/>
                <a:gridCol w="654700"/>
                <a:gridCol w="654700"/>
                <a:gridCol w="751175"/>
                <a:gridCol w="751175"/>
                <a:gridCol w="751175"/>
                <a:gridCol w="6822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162,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486,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1458,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4374,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0" name="Google Shape;1880;p138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Find the next five terms of this </a:t>
            </a:r>
            <a:r>
              <a:rPr lang="en-GB" b="1"/>
              <a:t>geometric sequence</a:t>
            </a:r>
            <a:r>
              <a:rPr lang="en-GB"/>
              <a:t>.</a:t>
            </a:r>
            <a:endParaRPr/>
          </a:p>
        </p:txBody>
      </p:sp>
      <p:sp>
        <p:nvSpPr>
          <p:cNvPr id="1881" name="Google Shape;1881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882" name="Google Shape;1882;p138"/>
          <p:cNvGrpSpPr/>
          <p:nvPr/>
        </p:nvGrpSpPr>
        <p:grpSpPr>
          <a:xfrm>
            <a:off x="547350" y="1803025"/>
            <a:ext cx="1288949" cy="747300"/>
            <a:chOff x="547350" y="1803025"/>
            <a:chExt cx="1288949" cy="747300"/>
          </a:xfrm>
        </p:grpSpPr>
        <p:sp>
          <p:nvSpPr>
            <p:cNvPr id="1883" name="Google Shape;1883;p138"/>
            <p:cNvSpPr/>
            <p:nvPr/>
          </p:nvSpPr>
          <p:spPr>
            <a:xfrm rot="10800000" flipH="1">
              <a:off x="547350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4" name="Google Shape;1884;p138"/>
            <p:cNvSpPr/>
            <p:nvPr/>
          </p:nvSpPr>
          <p:spPr>
            <a:xfrm rot="10800000" flipH="1">
              <a:off x="1208999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5" name="Google Shape;1885;p138"/>
            <p:cNvSpPr txBox="1"/>
            <p:nvPr/>
          </p:nvSpPr>
          <p:spPr>
            <a:xfrm>
              <a:off x="645745" y="2211025"/>
              <a:ext cx="361447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86" name="Google Shape;1886;p138"/>
            <p:cNvSpPr txBox="1"/>
            <p:nvPr/>
          </p:nvSpPr>
          <p:spPr>
            <a:xfrm>
              <a:off x="1306231" y="2211025"/>
              <a:ext cx="510633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87" name="Google Shape;1887;p138"/>
          <p:cNvGrpSpPr/>
          <p:nvPr/>
        </p:nvGrpSpPr>
        <p:grpSpPr>
          <a:xfrm>
            <a:off x="1896486" y="1803025"/>
            <a:ext cx="3390123" cy="747300"/>
            <a:chOff x="1896486" y="1803025"/>
            <a:chExt cx="3390123" cy="747300"/>
          </a:xfrm>
        </p:grpSpPr>
        <p:sp>
          <p:nvSpPr>
            <p:cNvPr id="1888" name="Google Shape;1888;p138"/>
            <p:cNvSpPr/>
            <p:nvPr/>
          </p:nvSpPr>
          <p:spPr>
            <a:xfrm rot="10800000" flipH="1">
              <a:off x="1896486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89" name="Google Shape;1889;p138"/>
            <p:cNvSpPr/>
            <p:nvPr/>
          </p:nvSpPr>
          <p:spPr>
            <a:xfrm rot="10800000" flipH="1">
              <a:off x="2573892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0" name="Google Shape;1890;p138"/>
            <p:cNvSpPr txBox="1"/>
            <p:nvPr/>
          </p:nvSpPr>
          <p:spPr>
            <a:xfrm>
              <a:off x="1987459" y="2211025"/>
              <a:ext cx="510633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1" name="Google Shape;1891;p138"/>
            <p:cNvSpPr txBox="1"/>
            <p:nvPr/>
          </p:nvSpPr>
          <p:spPr>
            <a:xfrm>
              <a:off x="2669906" y="2211025"/>
              <a:ext cx="510633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2" name="Google Shape;1892;p138"/>
            <p:cNvSpPr txBox="1"/>
            <p:nvPr/>
          </p:nvSpPr>
          <p:spPr>
            <a:xfrm>
              <a:off x="3346085" y="2211025"/>
              <a:ext cx="573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3" name="Google Shape;1893;p138"/>
            <p:cNvSpPr/>
            <p:nvPr/>
          </p:nvSpPr>
          <p:spPr>
            <a:xfrm rot="10800000" flipH="1">
              <a:off x="3235541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4" name="Google Shape;1894;p138"/>
            <p:cNvSpPr txBox="1"/>
            <p:nvPr/>
          </p:nvSpPr>
          <p:spPr>
            <a:xfrm>
              <a:off x="4081620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5" name="Google Shape;1895;p138"/>
            <p:cNvSpPr txBox="1"/>
            <p:nvPr/>
          </p:nvSpPr>
          <p:spPr>
            <a:xfrm>
              <a:off x="4776008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×3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6" name="Google Shape;1896;p138"/>
            <p:cNvSpPr/>
            <p:nvPr/>
          </p:nvSpPr>
          <p:spPr>
            <a:xfrm rot="10800000" flipH="1">
              <a:off x="4633361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97" name="Google Shape;1897;p138"/>
            <p:cNvSpPr/>
            <p:nvPr/>
          </p:nvSpPr>
          <p:spPr>
            <a:xfrm rot="10800000" flipH="1">
              <a:off x="3925185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98" name="Google Shape;1898;p138"/>
          <p:cNvSpPr/>
          <p:nvPr/>
        </p:nvSpPr>
        <p:spPr>
          <a:xfrm>
            <a:off x="2142791" y="1640185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38"/>
          <p:cNvSpPr/>
          <p:nvPr/>
        </p:nvSpPr>
        <p:spPr>
          <a:xfrm>
            <a:off x="2879018" y="1640185"/>
            <a:ext cx="4857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38"/>
          <p:cNvSpPr/>
          <p:nvPr/>
        </p:nvSpPr>
        <p:spPr>
          <a:xfrm>
            <a:off x="3530125" y="1640175"/>
            <a:ext cx="5361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1" name="Google Shape;1901;p138"/>
          <p:cNvSpPr txBox="1"/>
          <p:nvPr>
            <p:ph type="body" idx="1"/>
          </p:nvPr>
        </p:nvSpPr>
        <p:spPr>
          <a:xfrm>
            <a:off x="324000" y="2969100"/>
            <a:ext cx="84960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Geometric sequences</a:t>
            </a:r>
            <a:r>
              <a:rPr lang="en-GB"/>
              <a:t> have a common multiplicative relationship between successive terms.</a:t>
            </a:r>
            <a:endParaRPr/>
          </a:p>
        </p:txBody>
      </p:sp>
      <p:sp>
        <p:nvSpPr>
          <p:cNvPr id="1902" name="Google Shape;1902;p138"/>
          <p:cNvSpPr/>
          <p:nvPr/>
        </p:nvSpPr>
        <p:spPr>
          <a:xfrm>
            <a:off x="4358240" y="1640175"/>
            <a:ext cx="5361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138"/>
          <p:cNvSpPr/>
          <p:nvPr/>
        </p:nvSpPr>
        <p:spPr>
          <a:xfrm>
            <a:off x="5098949" y="1640175"/>
            <a:ext cx="536100" cy="37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07" name="Shape 1907"/>
        <p:cNvGrpSpPr/>
        <p:nvPr/>
      </p:nvGrpSpPr>
      <p:grpSpPr>
        <a:xfrm>
          <a:off x="0" y="0"/>
          <a:ext cx="0" cy="0"/>
        </a:xfrm>
      </p:grpSpPr>
      <p:graphicFrame>
        <p:nvGraphicFramePr>
          <p:cNvPr id="1908" name="Google Shape;1908;p139"/>
          <p:cNvGraphicFramePr>
            <a:graphicFrameLocks noGrp="1"/>
          </p:cNvGraphicFramePr>
          <p:nvPr/>
        </p:nvGraphicFramePr>
        <p:xfrm>
          <a:off x="124385" y="29202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54700"/>
                <a:gridCol w="654700"/>
                <a:gridCol w="654700"/>
                <a:gridCol w="654700"/>
                <a:gridCol w="654700"/>
                <a:gridCol w="6822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09" name="Google Shape;1909;p139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difference between the nature of these two sequences?</a:t>
            </a:r>
            <a:endParaRPr/>
          </a:p>
        </p:txBody>
      </p:sp>
      <p:sp>
        <p:nvSpPr>
          <p:cNvPr id="1910" name="Google Shape;1910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911" name="Google Shape;1911;p139"/>
          <p:cNvGrpSpPr/>
          <p:nvPr/>
        </p:nvGrpSpPr>
        <p:grpSpPr>
          <a:xfrm>
            <a:off x="415121" y="3098425"/>
            <a:ext cx="2653842" cy="747300"/>
            <a:chOff x="547350" y="3098425"/>
            <a:chExt cx="2653842" cy="747300"/>
          </a:xfrm>
        </p:grpSpPr>
        <p:grpSp>
          <p:nvGrpSpPr>
            <p:cNvPr id="1912" name="Google Shape;1912;p139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1913" name="Google Shape;1913;p139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139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139"/>
              <p:cNvSpPr txBox="1"/>
              <p:nvPr/>
            </p:nvSpPr>
            <p:spPr>
              <a:xfrm>
                <a:off x="645745" y="2211025"/>
                <a:ext cx="361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6" name="Google Shape;1916;p139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17" name="Google Shape;1917;p139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1918" name="Google Shape;1918;p139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139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139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1" name="Google Shape;1921;p139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aphicFrame>
        <p:nvGraphicFramePr>
          <p:cNvPr id="1922" name="Google Shape;1922;p139"/>
          <p:cNvGraphicFramePr>
            <a:graphicFrameLocks noGrp="1"/>
          </p:cNvGraphicFramePr>
          <p:nvPr/>
        </p:nvGraphicFramePr>
        <p:xfrm>
          <a:off x="124385" y="17010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54700"/>
                <a:gridCol w="654700"/>
                <a:gridCol w="654700"/>
                <a:gridCol w="654700"/>
                <a:gridCol w="654700"/>
                <a:gridCol w="6822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1923" name="Google Shape;1923;p139"/>
          <p:cNvGrpSpPr/>
          <p:nvPr/>
        </p:nvGrpSpPr>
        <p:grpSpPr>
          <a:xfrm>
            <a:off x="415121" y="1879225"/>
            <a:ext cx="2653842" cy="747300"/>
            <a:chOff x="547350" y="1879225"/>
            <a:chExt cx="2653842" cy="747300"/>
          </a:xfrm>
        </p:grpSpPr>
        <p:grpSp>
          <p:nvGrpSpPr>
            <p:cNvPr id="1924" name="Google Shape;1924;p139"/>
            <p:cNvGrpSpPr/>
            <p:nvPr/>
          </p:nvGrpSpPr>
          <p:grpSpPr>
            <a:xfrm>
              <a:off x="547350" y="1879225"/>
              <a:ext cx="1288949" cy="747300"/>
              <a:chOff x="547350" y="1803025"/>
              <a:chExt cx="1288949" cy="747300"/>
            </a:xfrm>
          </p:grpSpPr>
          <p:sp>
            <p:nvSpPr>
              <p:cNvPr id="1925" name="Google Shape;1925;p139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139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139"/>
              <p:cNvSpPr txBox="1"/>
              <p:nvPr/>
            </p:nvSpPr>
            <p:spPr>
              <a:xfrm>
                <a:off x="645745" y="2211025"/>
                <a:ext cx="361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8" name="Google Shape;1928;p139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929" name="Google Shape;1929;p139"/>
            <p:cNvGrpSpPr/>
            <p:nvPr/>
          </p:nvGrpSpPr>
          <p:grpSpPr>
            <a:xfrm>
              <a:off x="1896486" y="1879225"/>
              <a:ext cx="1304707" cy="747300"/>
              <a:chOff x="1896486" y="1803025"/>
              <a:chExt cx="1304707" cy="747300"/>
            </a:xfrm>
          </p:grpSpPr>
          <p:sp>
            <p:nvSpPr>
              <p:cNvPr id="1930" name="Google Shape;1930;p139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139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rgbClr val="845AD9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139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3" name="Google Shape;1933;p139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+2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934" name="Google Shape;1934;p139"/>
          <p:cNvSpPr txBox="1"/>
          <p:nvPr>
            <p:ph type="body" idx="1"/>
          </p:nvPr>
        </p:nvSpPr>
        <p:spPr>
          <a:xfrm>
            <a:off x="4027544" y="1749900"/>
            <a:ext cx="47925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additive difference between terms.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(arithmetic) sequence.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5" name="Google Shape;1935;p139"/>
          <p:cNvSpPr txBox="1"/>
          <p:nvPr>
            <p:ph type="body" idx="1"/>
          </p:nvPr>
        </p:nvSpPr>
        <p:spPr>
          <a:xfrm>
            <a:off x="4027544" y="2969100"/>
            <a:ext cx="47925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multiplicative relationship between successive terms. A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geometric sequence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39" name="Shape 1939"/>
        <p:cNvGrpSpPr/>
        <p:nvPr/>
      </p:nvGrpSpPr>
      <p:grpSpPr>
        <a:xfrm>
          <a:off x="0" y="0"/>
          <a:ext cx="0" cy="0"/>
        </a:xfrm>
      </p:grpSpPr>
      <p:graphicFrame>
        <p:nvGraphicFramePr>
          <p:cNvPr id="1940" name="Google Shape;1940;p140"/>
          <p:cNvGraphicFramePr>
            <a:graphicFrameLocks noGrp="1"/>
          </p:cNvGraphicFramePr>
          <p:nvPr/>
        </p:nvGraphicFramePr>
        <p:xfrm>
          <a:off x="2148168" y="1213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50325"/>
                <a:gridCol w="650325"/>
                <a:gridCol w="650325"/>
                <a:gridCol w="650325"/>
                <a:gridCol w="650325"/>
                <a:gridCol w="746175"/>
                <a:gridCol w="6777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720,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41" name="Google Shape;1941;p140"/>
          <p:cNvSpPr txBox="1"/>
          <p:nvPr>
            <p:ph type="body" idx="1"/>
          </p:nvPr>
        </p:nvSpPr>
        <p:spPr>
          <a:xfrm>
            <a:off x="324000" y="759300"/>
            <a:ext cx="71352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Andeep and Izzy are looking at this sequence.</a:t>
            </a:r>
            <a:endParaRPr/>
          </a:p>
        </p:txBody>
      </p:sp>
      <p:sp>
        <p:nvSpPr>
          <p:cNvPr id="1942" name="Google Shape;1942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grpSp>
        <p:nvGrpSpPr>
          <p:cNvPr id="1943" name="Google Shape;1943;p140"/>
          <p:cNvGrpSpPr/>
          <p:nvPr/>
        </p:nvGrpSpPr>
        <p:grpSpPr>
          <a:xfrm>
            <a:off x="2499428" y="1432119"/>
            <a:ext cx="2472009" cy="437700"/>
            <a:chOff x="459975" y="1701066"/>
            <a:chExt cx="2149760" cy="437700"/>
          </a:xfrm>
        </p:grpSpPr>
        <p:sp>
          <p:nvSpPr>
            <p:cNvPr id="1944" name="Google Shape;1944;p140"/>
            <p:cNvSpPr/>
            <p:nvPr/>
          </p:nvSpPr>
          <p:spPr>
            <a:xfrm rot="10800000" flipH="1">
              <a:off x="45997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5" name="Google Shape;1945;p140"/>
            <p:cNvSpPr/>
            <p:nvPr/>
          </p:nvSpPr>
          <p:spPr>
            <a:xfrm rot="10800000" flipH="1">
              <a:off x="99593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6" name="Google Shape;1946;p140"/>
            <p:cNvSpPr/>
            <p:nvPr/>
          </p:nvSpPr>
          <p:spPr>
            <a:xfrm rot="10800000" flipH="1">
              <a:off x="155281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47" name="Google Shape;1947;p140"/>
            <p:cNvSpPr/>
            <p:nvPr/>
          </p:nvSpPr>
          <p:spPr>
            <a:xfrm rot="10800000" flipH="1">
              <a:off x="210153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rgbClr val="845AD9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948" name="Google Shape;1948;p140"/>
          <p:cNvGrpSpPr/>
          <p:nvPr/>
        </p:nvGrpSpPr>
        <p:grpSpPr>
          <a:xfrm>
            <a:off x="2591115" y="1840119"/>
            <a:ext cx="3049685" cy="339300"/>
            <a:chOff x="563446" y="4262825"/>
            <a:chExt cx="2771685" cy="339300"/>
          </a:xfrm>
        </p:grpSpPr>
        <p:grpSp>
          <p:nvGrpSpPr>
            <p:cNvPr id="1949" name="Google Shape;1949;p140"/>
            <p:cNvGrpSpPr/>
            <p:nvPr/>
          </p:nvGrpSpPr>
          <p:grpSpPr>
            <a:xfrm>
              <a:off x="563446" y="4262825"/>
              <a:ext cx="2145948" cy="339300"/>
              <a:chOff x="533190" y="4339025"/>
              <a:chExt cx="2145948" cy="339300"/>
            </a:xfrm>
          </p:grpSpPr>
          <p:sp>
            <p:nvSpPr>
              <p:cNvPr id="1950" name="Google Shape;1950;p140"/>
              <p:cNvSpPr txBox="1"/>
              <p:nvPr/>
            </p:nvSpPr>
            <p:spPr>
              <a:xfrm>
                <a:off x="533190" y="4339025"/>
                <a:ext cx="3060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×2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1" name="Google Shape;1951;p140"/>
              <p:cNvSpPr txBox="1"/>
              <p:nvPr/>
            </p:nvSpPr>
            <p:spPr>
              <a:xfrm>
                <a:off x="1092355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×3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2" name="Google Shape;1952;p140"/>
              <p:cNvSpPr txBox="1"/>
              <p:nvPr/>
            </p:nvSpPr>
            <p:spPr>
              <a:xfrm>
                <a:off x="1669080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×4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3" name="Google Shape;1953;p140"/>
              <p:cNvSpPr txBox="1"/>
              <p:nvPr/>
            </p:nvSpPr>
            <p:spPr>
              <a:xfrm>
                <a:off x="2246838" y="4339025"/>
                <a:ext cx="4323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1954" name="Google Shape;1954;p140"/>
            <p:cNvSpPr txBox="1"/>
            <p:nvPr/>
          </p:nvSpPr>
          <p:spPr>
            <a:xfrm>
              <a:off x="2849430" y="4262825"/>
              <a:ext cx="485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×6</a:t>
              </a:r>
              <a:endParaRPr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55" name="Google Shape;1955;p140"/>
          <p:cNvSpPr/>
          <p:nvPr/>
        </p:nvSpPr>
        <p:spPr>
          <a:xfrm rot="10800000" flipH="1">
            <a:off x="5003384" y="1432119"/>
            <a:ext cx="5841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56" name="Google Shape;1956;p140"/>
          <p:cNvSpPr txBox="1"/>
          <p:nvPr>
            <p:ph type="body" idx="1"/>
          </p:nvPr>
        </p:nvSpPr>
        <p:spPr>
          <a:xfrm>
            <a:off x="770750" y="4112100"/>
            <a:ext cx="7523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Geometric sequences</a:t>
            </a:r>
            <a:r>
              <a:rPr lang="en-GB"/>
              <a:t> have a </a:t>
            </a:r>
            <a:r>
              <a:rPr lang="en-GB">
                <a:solidFill>
                  <a:schemeClr val="accent4"/>
                </a:solidFill>
              </a:rPr>
              <a:t>common </a:t>
            </a:r>
            <a:r>
              <a:rPr lang="en-GB"/>
              <a:t>multiplicative relationship between successive terms.</a:t>
            </a:r>
            <a:endParaRPr/>
          </a:p>
        </p:txBody>
      </p:sp>
      <p:pic>
        <p:nvPicPr>
          <p:cNvPr id="1957" name="Google Shape;1957;p14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4987504" y="2294175"/>
            <a:ext cx="3049677" cy="12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8" name="Google Shape;1958;p140"/>
          <p:cNvSpPr txBox="1"/>
          <p:nvPr/>
        </p:nvSpPr>
        <p:spPr>
          <a:xfrm flipH="1">
            <a:off x="5105194" y="2353979"/>
            <a:ext cx="2662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No. Be careful! It has to be 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same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multiplier between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9" name="Google Shape;1959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726" y="3087569"/>
            <a:ext cx="764224" cy="985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0" name="Google Shape;1960;p1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8578" y="3029975"/>
            <a:ext cx="1080153" cy="104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140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917227" y="2284425"/>
            <a:ext cx="4009948" cy="12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140"/>
          <p:cNvSpPr txBox="1"/>
          <p:nvPr/>
        </p:nvSpPr>
        <p:spPr>
          <a:xfrm flipH="1">
            <a:off x="1254413" y="2354000"/>
            <a:ext cx="35475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sequence is multiplicative between terms. Does that mean it’s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geometric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140"/>
          <p:cNvSpPr txBox="1"/>
          <p:nvPr>
            <p:ph type="body" idx="1"/>
          </p:nvPr>
        </p:nvSpPr>
        <p:spPr>
          <a:xfrm>
            <a:off x="2894265" y="3604474"/>
            <a:ext cx="30498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do you think?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67" name="Shape 1967"/>
        <p:cNvGrpSpPr/>
        <p:nvPr/>
      </p:nvGrpSpPr>
      <p:grpSpPr>
        <a:xfrm>
          <a:off x="0" y="0"/>
          <a:ext cx="0" cy="0"/>
        </a:xfrm>
      </p:grpSpPr>
      <p:sp>
        <p:nvSpPr>
          <p:cNvPr id="1968" name="Google Shape;1968;p141"/>
          <p:cNvSpPr txBox="1"/>
          <p:nvPr>
            <p:ph type="title"/>
          </p:nvPr>
        </p:nvSpPr>
        <p:spPr>
          <a:xfrm>
            <a:off x="324000" y="748775"/>
            <a:ext cx="73227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/>
              <a:t>Geometric sequences</a:t>
            </a:r>
            <a:r>
              <a:rPr lang="en-GB"/>
              <a:t> have  __________</a:t>
            </a:r>
            <a:r>
              <a:rPr lang="en-GB">
                <a:solidFill>
                  <a:schemeClr val="accent4"/>
                </a:solidFill>
              </a:rPr>
              <a:t> </a:t>
            </a:r>
            <a:r>
              <a:rPr lang="en-GB"/>
              <a:t>multiplicative relationship between successive terms.</a:t>
            </a:r>
            <a:endParaRPr/>
          </a:p>
        </p:txBody>
      </p:sp>
      <p:sp>
        <p:nvSpPr>
          <p:cNvPr id="1969" name="Google Shape;1969;p1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1970" name="Google Shape;1970;p141"/>
          <p:cNvSpPr txBox="1"/>
          <p:nvPr>
            <p:ph type="subTitle" idx="1"/>
          </p:nvPr>
        </p:nvSpPr>
        <p:spPr>
          <a:xfrm>
            <a:off x="1034425" y="1837775"/>
            <a:ext cx="2094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increasing</a:t>
            </a:r>
            <a:endParaRPr/>
          </a:p>
        </p:txBody>
      </p:sp>
      <p:sp>
        <p:nvSpPr>
          <p:cNvPr id="1971" name="Google Shape;1971;p141"/>
          <p:cNvSpPr txBox="1"/>
          <p:nvPr>
            <p:ph type="subTitle" idx="3"/>
          </p:nvPr>
        </p:nvSpPr>
        <p:spPr>
          <a:xfrm>
            <a:off x="1034425" y="2794251"/>
            <a:ext cx="20940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 common</a:t>
            </a:r>
            <a:endParaRPr/>
          </a:p>
        </p:txBody>
      </p:sp>
      <p:sp>
        <p:nvSpPr>
          <p:cNvPr id="1972" name="Google Shape;1972;p141"/>
          <p:cNvSpPr txBox="1"/>
          <p:nvPr>
            <p:ph type="subTitle" idx="4"/>
          </p:nvPr>
        </p:nvSpPr>
        <p:spPr>
          <a:xfrm>
            <a:off x="1034425" y="3766974"/>
            <a:ext cx="2082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additive</a:t>
            </a:r>
            <a:endParaRPr/>
          </a:p>
        </p:txBody>
      </p:sp>
      <p:pic>
        <p:nvPicPr>
          <p:cNvPr id="1973" name="Google Shape;1973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0354" y="280340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141"/>
          <p:cNvSpPr txBox="1"/>
          <p:nvPr>
            <p:ph type="body" idx="4294967295"/>
          </p:nvPr>
        </p:nvSpPr>
        <p:spPr>
          <a:xfrm>
            <a:off x="4474661" y="683100"/>
            <a:ext cx="14496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a common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78" name="Shape 1978"/>
        <p:cNvGrpSpPr/>
        <p:nvPr/>
      </p:nvGrpSpPr>
      <p:grpSpPr>
        <a:xfrm>
          <a:off x="0" y="0"/>
          <a:ext cx="0" cy="0"/>
        </a:xfrm>
      </p:grpSpPr>
      <p:sp>
        <p:nvSpPr>
          <p:cNvPr id="1979" name="Google Shape;1979;p142"/>
          <p:cNvSpPr txBox="1"/>
          <p:nvPr>
            <p:ph type="body" idx="1"/>
          </p:nvPr>
        </p:nvSpPr>
        <p:spPr>
          <a:xfrm>
            <a:off x="324000" y="759300"/>
            <a:ext cx="8496000" cy="43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Sort these sequences into </a:t>
            </a:r>
            <a:r>
              <a:rPr lang="en-GB" b="1"/>
              <a:t>geometric</a:t>
            </a:r>
            <a:r>
              <a:rPr lang="en-GB"/>
              <a:t>, arithmetic and ‘other’.</a:t>
            </a:r>
            <a:endParaRPr/>
          </a:p>
        </p:txBody>
      </p:sp>
      <p:sp>
        <p:nvSpPr>
          <p:cNvPr id="1980" name="Google Shape;1980;p14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1981" name="Google Shape;1981;p142"/>
          <p:cNvSpPr txBox="1"/>
          <p:nvPr/>
        </p:nvSpPr>
        <p:spPr>
          <a:xfrm>
            <a:off x="324000" y="1322954"/>
            <a:ext cx="278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42"/>
          <p:cNvSpPr txBox="1"/>
          <p:nvPr/>
        </p:nvSpPr>
        <p:spPr>
          <a:xfrm>
            <a:off x="324000" y="1907528"/>
            <a:ext cx="278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42"/>
          <p:cNvSpPr txBox="1"/>
          <p:nvPr/>
        </p:nvSpPr>
        <p:spPr>
          <a:xfrm>
            <a:off x="324000" y="2492101"/>
            <a:ext cx="278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42"/>
          <p:cNvSpPr txBox="1"/>
          <p:nvPr/>
        </p:nvSpPr>
        <p:spPr>
          <a:xfrm>
            <a:off x="324000" y="3661249"/>
            <a:ext cx="2330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42"/>
          <p:cNvSpPr txBox="1"/>
          <p:nvPr/>
        </p:nvSpPr>
        <p:spPr>
          <a:xfrm>
            <a:off x="324000" y="3076675"/>
            <a:ext cx="3611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42"/>
          <p:cNvSpPr txBox="1"/>
          <p:nvPr/>
        </p:nvSpPr>
        <p:spPr>
          <a:xfrm>
            <a:off x="4316649" y="1894685"/>
            <a:ext cx="338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42"/>
          <p:cNvSpPr txBox="1"/>
          <p:nvPr/>
        </p:nvSpPr>
        <p:spPr>
          <a:xfrm>
            <a:off x="4316649" y="3069506"/>
            <a:ext cx="338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42"/>
          <p:cNvSpPr txBox="1"/>
          <p:nvPr/>
        </p:nvSpPr>
        <p:spPr>
          <a:xfrm>
            <a:off x="4316649" y="3656916"/>
            <a:ext cx="338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42"/>
          <p:cNvSpPr txBox="1"/>
          <p:nvPr/>
        </p:nvSpPr>
        <p:spPr>
          <a:xfrm>
            <a:off x="324000" y="4245825"/>
            <a:ext cx="3045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28, 40,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42"/>
          <p:cNvSpPr txBox="1"/>
          <p:nvPr/>
        </p:nvSpPr>
        <p:spPr>
          <a:xfrm>
            <a:off x="4316649" y="1307275"/>
            <a:ext cx="3188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42"/>
          <p:cNvSpPr txBox="1"/>
          <p:nvPr/>
        </p:nvSpPr>
        <p:spPr>
          <a:xfrm>
            <a:off x="4316649" y="4244326"/>
            <a:ext cx="3935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10 000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2" name="Google Shape;1992;p142"/>
          <p:cNvSpPr txBox="1"/>
          <p:nvPr/>
        </p:nvSpPr>
        <p:spPr>
          <a:xfrm>
            <a:off x="4316649" y="2482095"/>
            <a:ext cx="3935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6" name="Shape 1996"/>
        <p:cNvGrpSpPr/>
        <p:nvPr/>
      </p:nvGrpSpPr>
      <p:grpSpPr>
        <a:xfrm>
          <a:off x="0" y="0"/>
          <a:ext cx="0" cy="0"/>
        </a:xfrm>
      </p:grpSpPr>
      <p:sp>
        <p:nvSpPr>
          <p:cNvPr id="1997" name="Google Shape;1997;p143"/>
          <p:cNvSpPr/>
          <p:nvPr/>
        </p:nvSpPr>
        <p:spPr>
          <a:xfrm>
            <a:off x="355000" y="3559675"/>
            <a:ext cx="7967400" cy="1260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8" name="Google Shape;1998;p143"/>
          <p:cNvSpPr/>
          <p:nvPr/>
        </p:nvSpPr>
        <p:spPr>
          <a:xfrm>
            <a:off x="355000" y="1214275"/>
            <a:ext cx="8465100" cy="12606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9" name="Google Shape;1999;p143"/>
          <p:cNvSpPr/>
          <p:nvPr/>
        </p:nvSpPr>
        <p:spPr>
          <a:xfrm>
            <a:off x="355000" y="2585875"/>
            <a:ext cx="8465100" cy="8835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143"/>
          <p:cNvSpPr txBox="1"/>
          <p:nvPr>
            <p:ph type="body" idx="1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1) Sort these sequences into </a:t>
            </a:r>
            <a:r>
              <a:rPr lang="en-GB" b="1"/>
              <a:t>geometric</a:t>
            </a:r>
            <a:r>
              <a:rPr lang="en-GB"/>
              <a:t>, arithmetic and ‘other’.</a:t>
            </a:r>
            <a:endParaRPr/>
          </a:p>
        </p:txBody>
      </p:sp>
      <p:sp>
        <p:nvSpPr>
          <p:cNvPr id="2001" name="Google Shape;2001;p14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2002" name="Google Shape;2002;p143"/>
          <p:cNvSpPr txBox="1"/>
          <p:nvPr/>
        </p:nvSpPr>
        <p:spPr>
          <a:xfrm>
            <a:off x="476400" y="2973581"/>
            <a:ext cx="278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5,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143"/>
          <p:cNvSpPr txBox="1"/>
          <p:nvPr/>
        </p:nvSpPr>
        <p:spPr>
          <a:xfrm>
            <a:off x="476400" y="1597125"/>
            <a:ext cx="27843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143"/>
          <p:cNvSpPr txBox="1"/>
          <p:nvPr/>
        </p:nvSpPr>
        <p:spPr>
          <a:xfrm>
            <a:off x="1791971" y="3625015"/>
            <a:ext cx="2410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1, 2,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43"/>
          <p:cNvSpPr txBox="1"/>
          <p:nvPr/>
        </p:nvSpPr>
        <p:spPr>
          <a:xfrm>
            <a:off x="4281918" y="2614249"/>
            <a:ext cx="30456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28, 40,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52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43"/>
          <p:cNvSpPr txBox="1"/>
          <p:nvPr>
            <p:ph type="body" idx="4294967295"/>
          </p:nvPr>
        </p:nvSpPr>
        <p:spPr>
          <a:xfrm>
            <a:off x="6891766" y="2597053"/>
            <a:ext cx="6048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+12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7" name="Google Shape;2007;p143"/>
          <p:cNvSpPr txBox="1"/>
          <p:nvPr/>
        </p:nvSpPr>
        <p:spPr>
          <a:xfrm>
            <a:off x="4281918" y="1278878"/>
            <a:ext cx="2330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143"/>
          <p:cNvSpPr txBox="1"/>
          <p:nvPr/>
        </p:nvSpPr>
        <p:spPr>
          <a:xfrm>
            <a:off x="476400" y="1994187"/>
            <a:ext cx="36114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9" name="Google Shape;2009;p143"/>
          <p:cNvSpPr txBox="1"/>
          <p:nvPr/>
        </p:nvSpPr>
        <p:spPr>
          <a:xfrm>
            <a:off x="5012541" y="3621501"/>
            <a:ext cx="28458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143"/>
          <p:cNvSpPr txBox="1"/>
          <p:nvPr/>
        </p:nvSpPr>
        <p:spPr>
          <a:xfrm>
            <a:off x="5042797" y="4140788"/>
            <a:ext cx="338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1200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1" name="Google Shape;2011;p143"/>
          <p:cNvSpPr txBox="1"/>
          <p:nvPr/>
        </p:nvSpPr>
        <p:spPr>
          <a:xfrm>
            <a:off x="4281918" y="1655545"/>
            <a:ext cx="3384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k)  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10, 20,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160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143"/>
          <p:cNvSpPr txBox="1"/>
          <p:nvPr/>
        </p:nvSpPr>
        <p:spPr>
          <a:xfrm>
            <a:off x="1823347" y="4158051"/>
            <a:ext cx="2733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16,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46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3" name="Google Shape;2013;p143"/>
          <p:cNvSpPr txBox="1"/>
          <p:nvPr/>
        </p:nvSpPr>
        <p:spPr>
          <a:xfrm>
            <a:off x="4281918" y="2044611"/>
            <a:ext cx="39351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10 000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4" name="Google Shape;2014;p143"/>
          <p:cNvSpPr txBox="1"/>
          <p:nvPr/>
        </p:nvSpPr>
        <p:spPr>
          <a:xfrm>
            <a:off x="4281918" y="2979641"/>
            <a:ext cx="31887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143"/>
          <p:cNvSpPr txBox="1"/>
          <p:nvPr>
            <p:ph type="body" idx="4294967295"/>
          </p:nvPr>
        </p:nvSpPr>
        <p:spPr>
          <a:xfrm>
            <a:off x="405809" y="1252350"/>
            <a:ext cx="2480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Geometric sequences</a:t>
            </a:r>
            <a:endParaRPr sz="20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6" name="Google Shape;2016;p143"/>
          <p:cNvSpPr txBox="1"/>
          <p:nvPr>
            <p:ph type="body" idx="4294967295"/>
          </p:nvPr>
        </p:nvSpPr>
        <p:spPr>
          <a:xfrm>
            <a:off x="405809" y="2623950"/>
            <a:ext cx="2480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sequences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7" name="Google Shape;2017;p143"/>
          <p:cNvSpPr txBox="1"/>
          <p:nvPr>
            <p:ph type="body" idx="4294967295"/>
          </p:nvPr>
        </p:nvSpPr>
        <p:spPr>
          <a:xfrm>
            <a:off x="405804" y="3614550"/>
            <a:ext cx="12789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Other sequences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8" name="Google Shape;2018;p143"/>
          <p:cNvSpPr txBox="1"/>
          <p:nvPr>
            <p:ph type="body" idx="4294967295"/>
          </p:nvPr>
        </p:nvSpPr>
        <p:spPr>
          <a:xfrm>
            <a:off x="2782574" y="1572838"/>
            <a:ext cx="383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×2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9" name="Google Shape;2019;p143"/>
          <p:cNvSpPr txBox="1"/>
          <p:nvPr>
            <p:ph type="body" idx="4294967295"/>
          </p:nvPr>
        </p:nvSpPr>
        <p:spPr>
          <a:xfrm>
            <a:off x="3484062" y="1994179"/>
            <a:ext cx="383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×2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0" name="Google Shape;2020;p143"/>
          <p:cNvSpPr txBox="1"/>
          <p:nvPr>
            <p:ph type="body" idx="4294967295"/>
          </p:nvPr>
        </p:nvSpPr>
        <p:spPr>
          <a:xfrm>
            <a:off x="7246997" y="1663606"/>
            <a:ext cx="383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×2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1" name="Google Shape;2021;p143"/>
          <p:cNvSpPr txBox="1"/>
          <p:nvPr>
            <p:ph type="body" idx="4294967295"/>
          </p:nvPr>
        </p:nvSpPr>
        <p:spPr>
          <a:xfrm>
            <a:off x="6374059" y="1266918"/>
            <a:ext cx="383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×4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2" name="Google Shape;2022;p143"/>
          <p:cNvSpPr txBox="1"/>
          <p:nvPr>
            <p:ph type="body" idx="4294967295"/>
          </p:nvPr>
        </p:nvSpPr>
        <p:spPr>
          <a:xfrm>
            <a:off x="7505848" y="2039000"/>
            <a:ext cx="6048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×10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3" name="Google Shape;2023;p143"/>
          <p:cNvSpPr txBox="1"/>
          <p:nvPr>
            <p:ph type="body" idx="4294967295"/>
          </p:nvPr>
        </p:nvSpPr>
        <p:spPr>
          <a:xfrm>
            <a:off x="7277248" y="2967968"/>
            <a:ext cx="6048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+30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4" name="Google Shape;2024;p143"/>
          <p:cNvSpPr txBox="1"/>
          <p:nvPr>
            <p:ph type="body" idx="4294967295"/>
          </p:nvPr>
        </p:nvSpPr>
        <p:spPr>
          <a:xfrm>
            <a:off x="2548372" y="2963475"/>
            <a:ext cx="383700" cy="37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+1</a:t>
            </a:r>
            <a:endParaRPr sz="2400" b="1">
              <a:solidFill>
                <a:schemeClr val="accent4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25" name="Google Shape;2025;p143"/>
          <p:cNvGrpSpPr/>
          <p:nvPr/>
        </p:nvGrpSpPr>
        <p:grpSpPr>
          <a:xfrm>
            <a:off x="2215681" y="3871731"/>
            <a:ext cx="1353626" cy="339300"/>
            <a:chOff x="2215681" y="3871731"/>
            <a:chExt cx="1353626" cy="339300"/>
          </a:xfrm>
        </p:grpSpPr>
        <p:sp>
          <p:nvSpPr>
            <p:cNvPr id="2026" name="Google Shape;2026;p143"/>
            <p:cNvSpPr txBox="1"/>
            <p:nvPr/>
          </p:nvSpPr>
          <p:spPr>
            <a:xfrm>
              <a:off x="2215681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27" name="Google Shape;2027;p143"/>
            <p:cNvSpPr txBox="1"/>
            <p:nvPr/>
          </p:nvSpPr>
          <p:spPr>
            <a:xfrm>
              <a:off x="2510396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+3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28" name="Google Shape;2028;p143"/>
            <p:cNvSpPr txBox="1"/>
            <p:nvPr/>
          </p:nvSpPr>
          <p:spPr>
            <a:xfrm>
              <a:off x="2855537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+5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29" name="Google Shape;2029;p143"/>
            <p:cNvSpPr txBox="1"/>
            <p:nvPr/>
          </p:nvSpPr>
          <p:spPr>
            <a:xfrm>
              <a:off x="3256708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+7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30" name="Google Shape;2030;p143"/>
          <p:cNvGrpSpPr/>
          <p:nvPr/>
        </p:nvGrpSpPr>
        <p:grpSpPr>
          <a:xfrm>
            <a:off x="2215675" y="4425300"/>
            <a:ext cx="1739674" cy="339300"/>
            <a:chOff x="2215675" y="4425300"/>
            <a:chExt cx="1739674" cy="339300"/>
          </a:xfrm>
        </p:grpSpPr>
        <p:sp>
          <p:nvSpPr>
            <p:cNvPr id="2031" name="Google Shape;2031;p143"/>
            <p:cNvSpPr txBox="1"/>
            <p:nvPr/>
          </p:nvSpPr>
          <p:spPr>
            <a:xfrm>
              <a:off x="2215675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+12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2" name="Google Shape;2032;p143"/>
            <p:cNvSpPr txBox="1"/>
            <p:nvPr/>
          </p:nvSpPr>
          <p:spPr>
            <a:xfrm>
              <a:off x="2594455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+14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3" name="Google Shape;2033;p143"/>
            <p:cNvSpPr txBox="1"/>
            <p:nvPr/>
          </p:nvSpPr>
          <p:spPr>
            <a:xfrm>
              <a:off x="3038046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+16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4" name="Google Shape;2034;p143"/>
            <p:cNvSpPr txBox="1"/>
            <p:nvPr/>
          </p:nvSpPr>
          <p:spPr>
            <a:xfrm>
              <a:off x="3553649" y="442530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+18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35" name="Google Shape;2035;p143"/>
          <p:cNvGrpSpPr/>
          <p:nvPr/>
        </p:nvGrpSpPr>
        <p:grpSpPr>
          <a:xfrm>
            <a:off x="5618908" y="3871725"/>
            <a:ext cx="1544689" cy="339306"/>
            <a:chOff x="5618908" y="3871725"/>
            <a:chExt cx="1544689" cy="339306"/>
          </a:xfrm>
        </p:grpSpPr>
        <p:sp>
          <p:nvSpPr>
            <p:cNvPr id="2036" name="Google Shape;2036;p143"/>
            <p:cNvSpPr txBox="1"/>
            <p:nvPr/>
          </p:nvSpPr>
          <p:spPr>
            <a:xfrm>
              <a:off x="5618908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+5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7" name="Google Shape;2037;p143"/>
            <p:cNvSpPr txBox="1"/>
            <p:nvPr/>
          </p:nvSpPr>
          <p:spPr>
            <a:xfrm>
              <a:off x="5999908" y="3871731"/>
              <a:ext cx="312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+5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8" name="Google Shape;2038;p143"/>
            <p:cNvSpPr txBox="1"/>
            <p:nvPr/>
          </p:nvSpPr>
          <p:spPr>
            <a:xfrm>
              <a:off x="6380897" y="3871725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+10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39" name="Google Shape;2039;p143"/>
            <p:cNvSpPr txBox="1"/>
            <p:nvPr/>
          </p:nvSpPr>
          <p:spPr>
            <a:xfrm>
              <a:off x="6761897" y="3871725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+10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40" name="Google Shape;2040;p143"/>
          <p:cNvGrpSpPr/>
          <p:nvPr/>
        </p:nvGrpSpPr>
        <p:grpSpPr>
          <a:xfrm>
            <a:off x="5578556" y="4395040"/>
            <a:ext cx="1903731" cy="339310"/>
            <a:chOff x="5578556" y="4395040"/>
            <a:chExt cx="1903731" cy="339310"/>
          </a:xfrm>
        </p:grpSpPr>
        <p:sp>
          <p:nvSpPr>
            <p:cNvPr id="2041" name="Google Shape;2041;p143"/>
            <p:cNvSpPr txBox="1"/>
            <p:nvPr/>
          </p:nvSpPr>
          <p:spPr>
            <a:xfrm>
              <a:off x="5578556" y="4395040"/>
              <a:ext cx="4017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×2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2" name="Google Shape;2042;p143"/>
            <p:cNvSpPr txBox="1"/>
            <p:nvPr/>
          </p:nvSpPr>
          <p:spPr>
            <a:xfrm>
              <a:off x="5979728" y="4395050"/>
              <a:ext cx="476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×3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3" name="Google Shape;2043;p143"/>
            <p:cNvSpPr txBox="1"/>
            <p:nvPr/>
          </p:nvSpPr>
          <p:spPr>
            <a:xfrm>
              <a:off x="6472787" y="4395050"/>
              <a:ext cx="476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×4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2044" name="Google Shape;2044;p143"/>
            <p:cNvSpPr txBox="1"/>
            <p:nvPr/>
          </p:nvSpPr>
          <p:spPr>
            <a:xfrm>
              <a:off x="7006187" y="4395050"/>
              <a:ext cx="4761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accent2"/>
                  </a:solidFill>
                  <a:latin typeface="Kalam"/>
                  <a:ea typeface="Kalam"/>
                  <a:cs typeface="Kalam"/>
                  <a:sym typeface="Kalam"/>
                </a:rPr>
                <a:t>×5</a:t>
              </a:r>
              <a:endParaRPr sz="20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8" name="Shape 2048"/>
        <p:cNvGrpSpPr/>
        <p:nvPr/>
      </p:nvGrpSpPr>
      <p:grpSpPr>
        <a:xfrm>
          <a:off x="0" y="0"/>
          <a:ext cx="0" cy="0"/>
        </a:xfrm>
      </p:grpSpPr>
      <p:sp>
        <p:nvSpPr>
          <p:cNvPr id="2049" name="Google Shape;2049;p144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geometric sequences</a:t>
            </a:r>
            <a:endParaRPr/>
          </a:p>
        </p:txBody>
      </p:sp>
      <p:sp>
        <p:nvSpPr>
          <p:cNvPr id="2050" name="Google Shape;2050;p144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051" name="Google Shape;2051;p144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pic>
        <p:nvPicPr>
          <p:cNvPr id="2052" name="Google Shape;205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180" y="299025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56" name="Shape 2056"/>
        <p:cNvGrpSpPr/>
        <p:nvPr/>
      </p:nvGrpSpPr>
      <p:grpSpPr>
        <a:xfrm>
          <a:off x="0" y="0"/>
          <a:ext cx="0" cy="0"/>
        </a:xfrm>
      </p:grpSpPr>
      <p:pic>
        <p:nvPicPr>
          <p:cNvPr id="2057" name="Google Shape;2057;p14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3749250" y="2326285"/>
            <a:ext cx="4047575" cy="16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8" name="Google Shape;2058;p145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59" name="Google Shape;2059;p1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060" name="Google Shape;2060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40" y="29800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1" name="Google Shape;2061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145"/>
          <p:cNvSpPr txBox="1"/>
          <p:nvPr/>
        </p:nvSpPr>
        <p:spPr>
          <a:xfrm flipH="1">
            <a:off x="3862825" y="2384250"/>
            <a:ext cx="3753600" cy="12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 can generate the exact same sequence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starting on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using a ratio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between the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3" name="Google Shape;2063;p145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465624" y="1187375"/>
            <a:ext cx="3164851" cy="175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45"/>
          <p:cNvSpPr txBox="1"/>
          <p:nvPr/>
        </p:nvSpPr>
        <p:spPr>
          <a:xfrm flipH="1">
            <a:off x="761400" y="1241250"/>
            <a:ext cx="2799600" cy="13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I’m going to start with a first term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use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between the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65" name="Google Shape;2065;p145"/>
          <p:cNvGraphicFramePr>
            <a:graphicFrameLocks noGrp="1"/>
          </p:cNvGraphicFramePr>
          <p:nvPr/>
        </p:nvGraphicFramePr>
        <p:xfrm>
          <a:off x="4162985" y="13962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31075"/>
                <a:gridCol w="631075"/>
                <a:gridCol w="631075"/>
                <a:gridCol w="631075"/>
                <a:gridCol w="631075"/>
                <a:gridCol w="657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066" name="Google Shape;2066;p145"/>
          <p:cNvGrpSpPr/>
          <p:nvPr/>
        </p:nvGrpSpPr>
        <p:grpSpPr>
          <a:xfrm>
            <a:off x="4453713" y="1574425"/>
            <a:ext cx="2507085" cy="747300"/>
            <a:chOff x="547350" y="3098425"/>
            <a:chExt cx="2653842" cy="747300"/>
          </a:xfrm>
        </p:grpSpPr>
        <p:grpSp>
          <p:nvGrpSpPr>
            <p:cNvPr id="2067" name="Google Shape;2067;p145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068" name="Google Shape;2068;p145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45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45"/>
              <p:cNvSpPr txBox="1"/>
              <p:nvPr/>
            </p:nvSpPr>
            <p:spPr>
              <a:xfrm>
                <a:off x="645745" y="2211025"/>
                <a:ext cx="361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1" name="Google Shape;2071;p145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72" name="Google Shape;2072;p145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073" name="Google Shape;2073;p145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45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45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6" name="Google Shape;2076;p145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077" name="Google Shape;2077;p145"/>
          <p:cNvSpPr/>
          <p:nvPr/>
        </p:nvSpPr>
        <p:spPr>
          <a:xfrm>
            <a:off x="6684529" y="1446241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45"/>
          <p:cNvSpPr/>
          <p:nvPr/>
        </p:nvSpPr>
        <p:spPr>
          <a:xfrm>
            <a:off x="6054759" y="1446241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145"/>
          <p:cNvSpPr/>
          <p:nvPr/>
        </p:nvSpPr>
        <p:spPr>
          <a:xfrm>
            <a:off x="5358874" y="1446241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45"/>
          <p:cNvSpPr/>
          <p:nvPr/>
        </p:nvSpPr>
        <p:spPr>
          <a:xfrm>
            <a:off x="4642818" y="1446241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145"/>
          <p:cNvSpPr txBox="1"/>
          <p:nvPr>
            <p:ph type="body" idx="1"/>
          </p:nvPr>
        </p:nvSpPr>
        <p:spPr>
          <a:xfrm>
            <a:off x="2324250" y="4076241"/>
            <a:ext cx="3448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Do you agree with Laura?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5" name="Shape 2085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86" name="Google Shape;2086;p146"/>
          <p:cNvGraphicFramePr>
            <a:graphicFrameLocks noGrp="1"/>
          </p:cNvGraphicFramePr>
          <p:nvPr/>
        </p:nvGraphicFramePr>
        <p:xfrm>
          <a:off x="4162985" y="13962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31075"/>
                <a:gridCol w="631075"/>
                <a:gridCol w="631075"/>
                <a:gridCol w="631075"/>
                <a:gridCol w="631075"/>
                <a:gridCol w="657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87" name="Google Shape;2087;p146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>
            <a:off x="3749250" y="2326285"/>
            <a:ext cx="4047575" cy="16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8" name="Google Shape;2088;p146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089" name="Google Shape;2089;p1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090" name="Google Shape;2090;p1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1" name="Google Shape;2091;p146"/>
          <p:cNvSpPr txBox="1"/>
          <p:nvPr/>
        </p:nvSpPr>
        <p:spPr>
          <a:xfrm flipH="1">
            <a:off x="3862825" y="2384250"/>
            <a:ext cx="3753600" cy="12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 can generate the exact same sequence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starting on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using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 ratio of </a:t>
            </a:r>
            <a:r>
              <a:rPr lang="en-GB"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between the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92" name="Google Shape;2092;p146"/>
          <p:cNvGrpSpPr/>
          <p:nvPr/>
        </p:nvGrpSpPr>
        <p:grpSpPr>
          <a:xfrm>
            <a:off x="4453713" y="1574425"/>
            <a:ext cx="2507085" cy="747300"/>
            <a:chOff x="547350" y="3098425"/>
            <a:chExt cx="2653842" cy="747300"/>
          </a:xfrm>
        </p:grpSpPr>
        <p:grpSp>
          <p:nvGrpSpPr>
            <p:cNvPr id="2093" name="Google Shape;2093;p146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094" name="Google Shape;2094;p146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46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146"/>
              <p:cNvSpPr txBox="1"/>
              <p:nvPr/>
            </p:nvSpPr>
            <p:spPr>
              <a:xfrm>
                <a:off x="645745" y="2211025"/>
                <a:ext cx="361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7" name="Google Shape;2097;p146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098" name="Google Shape;2098;p146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099" name="Google Shape;2099;p146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146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146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2" name="Google Shape;2102;p146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03" name="Google Shape;2103;p146"/>
          <p:cNvGrpSpPr/>
          <p:nvPr/>
        </p:nvGrpSpPr>
        <p:grpSpPr>
          <a:xfrm>
            <a:off x="1415761" y="1124079"/>
            <a:ext cx="534585" cy="725585"/>
            <a:chOff x="-813203" y="1200254"/>
            <a:chExt cx="627300" cy="725585"/>
          </a:xfrm>
        </p:grpSpPr>
        <p:sp>
          <p:nvSpPr>
            <p:cNvPr id="2104" name="Google Shape;2104;p146"/>
            <p:cNvSpPr/>
            <p:nvPr/>
          </p:nvSpPr>
          <p:spPr>
            <a:xfrm>
              <a:off x="-813203" y="1488140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05" name="Google Shape;2105;p146"/>
            <p:cNvSpPr txBox="1"/>
            <p:nvPr/>
          </p:nvSpPr>
          <p:spPr>
            <a:xfrm>
              <a:off x="-659986" y="1200254"/>
              <a:ext cx="3615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2106" name="Google Shape;2106;p146"/>
          <p:cNvGraphicFramePr>
            <a:graphicFrameLocks noGrp="1"/>
          </p:cNvGraphicFramePr>
          <p:nvPr/>
        </p:nvGraphicFramePr>
        <p:xfrm>
          <a:off x="919759" y="163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107" name="Google Shape;2107;p146"/>
          <p:cNvGrpSpPr/>
          <p:nvPr/>
        </p:nvGrpSpPr>
        <p:grpSpPr>
          <a:xfrm>
            <a:off x="1061418" y="2101785"/>
            <a:ext cx="1323900" cy="327000"/>
            <a:chOff x="1061418" y="2101785"/>
            <a:chExt cx="1323900" cy="327000"/>
          </a:xfrm>
        </p:grpSpPr>
        <p:sp>
          <p:nvSpPr>
            <p:cNvPr id="2108" name="Google Shape;2108;p146"/>
            <p:cNvSpPr/>
            <p:nvPr/>
          </p:nvSpPr>
          <p:spPr>
            <a:xfrm>
              <a:off x="1061418" y="2101785"/>
              <a:ext cx="485700" cy="32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9" name="Google Shape;2109;p146"/>
            <p:cNvSpPr/>
            <p:nvPr/>
          </p:nvSpPr>
          <p:spPr>
            <a:xfrm>
              <a:off x="1899618" y="2101785"/>
              <a:ext cx="485700" cy="32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0" name="Google Shape;2110;p146"/>
          <p:cNvGrpSpPr/>
          <p:nvPr/>
        </p:nvGrpSpPr>
        <p:grpSpPr>
          <a:xfrm>
            <a:off x="1015474" y="2502956"/>
            <a:ext cx="1369844" cy="327000"/>
            <a:chOff x="1015474" y="2502956"/>
            <a:chExt cx="1369844" cy="327000"/>
          </a:xfrm>
        </p:grpSpPr>
        <p:sp>
          <p:nvSpPr>
            <p:cNvPr id="2111" name="Google Shape;2111;p146"/>
            <p:cNvSpPr/>
            <p:nvPr/>
          </p:nvSpPr>
          <p:spPr>
            <a:xfrm>
              <a:off x="1015474" y="2502956"/>
              <a:ext cx="485700" cy="32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2" name="Google Shape;2112;p146"/>
            <p:cNvSpPr/>
            <p:nvPr/>
          </p:nvSpPr>
          <p:spPr>
            <a:xfrm>
              <a:off x="1899618" y="2502956"/>
              <a:ext cx="485700" cy="32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3" name="Google Shape;2113;p146"/>
          <p:cNvGrpSpPr/>
          <p:nvPr/>
        </p:nvGrpSpPr>
        <p:grpSpPr>
          <a:xfrm>
            <a:off x="985218" y="2960156"/>
            <a:ext cx="1369844" cy="327000"/>
            <a:chOff x="985218" y="2960156"/>
            <a:chExt cx="1369844" cy="327000"/>
          </a:xfrm>
        </p:grpSpPr>
        <p:sp>
          <p:nvSpPr>
            <p:cNvPr id="2114" name="Google Shape;2114;p146"/>
            <p:cNvSpPr/>
            <p:nvPr/>
          </p:nvSpPr>
          <p:spPr>
            <a:xfrm>
              <a:off x="985218" y="2960156"/>
              <a:ext cx="485700" cy="32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5" name="Google Shape;2115;p146"/>
            <p:cNvSpPr/>
            <p:nvPr/>
          </p:nvSpPr>
          <p:spPr>
            <a:xfrm>
              <a:off x="1869362" y="2960156"/>
              <a:ext cx="485700" cy="32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6" name="Google Shape;2116;p146"/>
          <p:cNvGrpSpPr/>
          <p:nvPr/>
        </p:nvGrpSpPr>
        <p:grpSpPr>
          <a:xfrm>
            <a:off x="4181789" y="1432100"/>
            <a:ext cx="1159888" cy="401700"/>
            <a:chOff x="4181789" y="1432100"/>
            <a:chExt cx="1159888" cy="401700"/>
          </a:xfrm>
        </p:grpSpPr>
        <p:sp>
          <p:nvSpPr>
            <p:cNvPr id="2117" name="Google Shape;2117;p146"/>
            <p:cNvSpPr/>
            <p:nvPr/>
          </p:nvSpPr>
          <p:spPr>
            <a:xfrm>
              <a:off x="4181789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18" name="Google Shape;2118;p146"/>
            <p:cNvSpPr/>
            <p:nvPr/>
          </p:nvSpPr>
          <p:spPr>
            <a:xfrm>
              <a:off x="4807077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19" name="Google Shape;2119;p146"/>
          <p:cNvGrpSpPr/>
          <p:nvPr/>
        </p:nvGrpSpPr>
        <p:grpSpPr>
          <a:xfrm>
            <a:off x="4801475" y="1432100"/>
            <a:ext cx="1159888" cy="401700"/>
            <a:chOff x="4181789" y="1432100"/>
            <a:chExt cx="1159888" cy="401700"/>
          </a:xfrm>
        </p:grpSpPr>
        <p:sp>
          <p:nvSpPr>
            <p:cNvPr id="2120" name="Google Shape;2120;p146"/>
            <p:cNvSpPr/>
            <p:nvPr/>
          </p:nvSpPr>
          <p:spPr>
            <a:xfrm>
              <a:off x="4181789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1" name="Google Shape;2121;p146"/>
            <p:cNvSpPr/>
            <p:nvPr/>
          </p:nvSpPr>
          <p:spPr>
            <a:xfrm>
              <a:off x="4807077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2" name="Google Shape;2122;p146"/>
          <p:cNvGrpSpPr/>
          <p:nvPr/>
        </p:nvGrpSpPr>
        <p:grpSpPr>
          <a:xfrm>
            <a:off x="5421160" y="1432100"/>
            <a:ext cx="1235835" cy="401700"/>
            <a:chOff x="4181789" y="1432100"/>
            <a:chExt cx="1235835" cy="401700"/>
          </a:xfrm>
        </p:grpSpPr>
        <p:sp>
          <p:nvSpPr>
            <p:cNvPr id="2123" name="Google Shape;2123;p146"/>
            <p:cNvSpPr/>
            <p:nvPr/>
          </p:nvSpPr>
          <p:spPr>
            <a:xfrm>
              <a:off x="4181789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4" name="Google Shape;2124;p146"/>
            <p:cNvSpPr/>
            <p:nvPr/>
          </p:nvSpPr>
          <p:spPr>
            <a:xfrm>
              <a:off x="4776824" y="1432100"/>
              <a:ext cx="6408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5" name="Google Shape;2125;p146"/>
          <p:cNvGrpSpPr/>
          <p:nvPr/>
        </p:nvGrpSpPr>
        <p:grpSpPr>
          <a:xfrm>
            <a:off x="6000499" y="1432100"/>
            <a:ext cx="1312040" cy="401700"/>
            <a:chOff x="4105584" y="1432100"/>
            <a:chExt cx="1312040" cy="401700"/>
          </a:xfrm>
        </p:grpSpPr>
        <p:sp>
          <p:nvSpPr>
            <p:cNvPr id="2126" name="Google Shape;2126;p146"/>
            <p:cNvSpPr/>
            <p:nvPr/>
          </p:nvSpPr>
          <p:spPr>
            <a:xfrm>
              <a:off x="4105584" y="1432100"/>
              <a:ext cx="6867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7" name="Google Shape;2127;p146"/>
            <p:cNvSpPr/>
            <p:nvPr/>
          </p:nvSpPr>
          <p:spPr>
            <a:xfrm>
              <a:off x="4776824" y="1432100"/>
              <a:ext cx="6408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8" name="Google Shape;2128;p146"/>
          <p:cNvSpPr txBox="1"/>
          <p:nvPr/>
        </p:nvSpPr>
        <p:spPr>
          <a:xfrm>
            <a:off x="330574" y="3810000"/>
            <a:ext cx="5676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We can use a ratio to describe the multiplicative relationships between successive terms in a </a:t>
            </a: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geometric sequence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2" name="Shape 2132"/>
        <p:cNvGrpSpPr/>
        <p:nvPr/>
      </p:nvGrpSpPr>
      <p:grpSpPr>
        <a:xfrm>
          <a:off x="0" y="0"/>
          <a:ext cx="0" cy="0"/>
        </a:xfrm>
      </p:grpSpPr>
      <p:graphicFrame>
        <p:nvGraphicFramePr>
          <p:cNvPr id="2133" name="Google Shape;2133;p147"/>
          <p:cNvGraphicFramePr>
            <a:graphicFrameLocks noGrp="1"/>
          </p:cNvGraphicFramePr>
          <p:nvPr/>
        </p:nvGraphicFramePr>
        <p:xfrm>
          <a:off x="4162985" y="13962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31075"/>
                <a:gridCol w="631075"/>
                <a:gridCol w="631075"/>
                <a:gridCol w="631075"/>
                <a:gridCol w="631075"/>
                <a:gridCol w="6576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34" name="Google Shape;2134;p147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35" name="Google Shape;2135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136" name="Google Shape;2136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7" name="Google Shape;2137;p147"/>
          <p:cNvGrpSpPr/>
          <p:nvPr/>
        </p:nvGrpSpPr>
        <p:grpSpPr>
          <a:xfrm>
            <a:off x="4453713" y="1574425"/>
            <a:ext cx="2507085" cy="747300"/>
            <a:chOff x="547350" y="3098425"/>
            <a:chExt cx="2653842" cy="747300"/>
          </a:xfrm>
        </p:grpSpPr>
        <p:grpSp>
          <p:nvGrpSpPr>
            <p:cNvPr id="2138" name="Google Shape;2138;p147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139" name="Google Shape;2139;p147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147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147"/>
              <p:cNvSpPr txBox="1"/>
              <p:nvPr/>
            </p:nvSpPr>
            <p:spPr>
              <a:xfrm>
                <a:off x="645745" y="2211025"/>
                <a:ext cx="3615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2" name="Google Shape;2142;p147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143" name="Google Shape;2143;p147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144" name="Google Shape;2144;p147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147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147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7" name="Google Shape;2147;p147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×5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48" name="Google Shape;2148;p147"/>
          <p:cNvGrpSpPr/>
          <p:nvPr/>
        </p:nvGrpSpPr>
        <p:grpSpPr>
          <a:xfrm>
            <a:off x="1415761" y="1124079"/>
            <a:ext cx="534585" cy="725585"/>
            <a:chOff x="-813203" y="1200254"/>
            <a:chExt cx="627300" cy="725585"/>
          </a:xfrm>
        </p:grpSpPr>
        <p:sp>
          <p:nvSpPr>
            <p:cNvPr id="2149" name="Google Shape;2149;p147"/>
            <p:cNvSpPr/>
            <p:nvPr/>
          </p:nvSpPr>
          <p:spPr>
            <a:xfrm>
              <a:off x="-813203" y="1488140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50" name="Google Shape;2150;p147"/>
            <p:cNvSpPr txBox="1"/>
            <p:nvPr/>
          </p:nvSpPr>
          <p:spPr>
            <a:xfrm>
              <a:off x="-659986" y="1200254"/>
              <a:ext cx="3615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×5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2151" name="Google Shape;2151;p147"/>
          <p:cNvGraphicFramePr>
            <a:graphicFrameLocks noGrp="1"/>
          </p:cNvGraphicFramePr>
          <p:nvPr/>
        </p:nvGraphicFramePr>
        <p:xfrm>
          <a:off x="919759" y="163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2" name="Google Shape;2152;p147"/>
          <p:cNvSpPr txBox="1"/>
          <p:nvPr/>
        </p:nvSpPr>
        <p:spPr>
          <a:xfrm>
            <a:off x="330575" y="3429000"/>
            <a:ext cx="7128600" cy="14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Using a common multiplier of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, or a ratio of </a:t>
            </a:r>
            <a:r>
              <a:rPr lang="en-GB" sz="2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between terms generates the same </a:t>
            </a: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geometric sequence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 The language we use for the common multiplier is to call it the </a:t>
            </a: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6" name="Shape 2156"/>
        <p:cNvGrpSpPr/>
        <p:nvPr/>
      </p:nvGrpSpPr>
      <p:grpSpPr>
        <a:xfrm>
          <a:off x="0" y="0"/>
          <a:ext cx="0" cy="0"/>
        </a:xfrm>
      </p:grpSpPr>
      <p:graphicFrame>
        <p:nvGraphicFramePr>
          <p:cNvPr id="2157" name="Google Shape;2157;p148"/>
          <p:cNvGraphicFramePr>
            <a:graphicFrameLocks noGrp="1"/>
          </p:cNvGraphicFramePr>
          <p:nvPr/>
        </p:nvGraphicFramePr>
        <p:xfrm>
          <a:off x="4826129" y="15751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58" name="Google Shape;2158;p148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59" name="Google Shape;2159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160" name="Google Shape;2160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40" y="29800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1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2" name="Google Shape;2162;p14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485797" y="1187375"/>
            <a:ext cx="3348623" cy="175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148"/>
          <p:cNvSpPr txBox="1"/>
          <p:nvPr/>
        </p:nvSpPr>
        <p:spPr>
          <a:xfrm flipH="1">
            <a:off x="761450" y="1241250"/>
            <a:ext cx="3052800" cy="13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check I’ve got this Laura! I can start on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use a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 : 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generate a sequence.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64" name="Google Shape;2164;p148"/>
          <p:cNvGrpSpPr/>
          <p:nvPr/>
        </p:nvGrpSpPr>
        <p:grpSpPr>
          <a:xfrm>
            <a:off x="5322132" y="1063567"/>
            <a:ext cx="534585" cy="725585"/>
            <a:chOff x="-813203" y="1200254"/>
            <a:chExt cx="627300" cy="725585"/>
          </a:xfrm>
        </p:grpSpPr>
        <p:sp>
          <p:nvSpPr>
            <p:cNvPr id="2165" name="Google Shape;2165;p148"/>
            <p:cNvSpPr/>
            <p:nvPr/>
          </p:nvSpPr>
          <p:spPr>
            <a:xfrm>
              <a:off x="-813203" y="1488140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66" name="Google Shape;2166;p148"/>
            <p:cNvSpPr txBox="1"/>
            <p:nvPr/>
          </p:nvSpPr>
          <p:spPr>
            <a:xfrm>
              <a:off x="-659986" y="1200254"/>
              <a:ext cx="3615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×2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67" name="Google Shape;2167;p148"/>
          <p:cNvSpPr/>
          <p:nvPr/>
        </p:nvSpPr>
        <p:spPr>
          <a:xfrm>
            <a:off x="4967788" y="2041273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148"/>
          <p:cNvSpPr/>
          <p:nvPr/>
        </p:nvSpPr>
        <p:spPr>
          <a:xfrm>
            <a:off x="5805988" y="2041273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148"/>
          <p:cNvSpPr/>
          <p:nvPr/>
        </p:nvSpPr>
        <p:spPr>
          <a:xfrm>
            <a:off x="4921844" y="2442444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148"/>
          <p:cNvSpPr/>
          <p:nvPr/>
        </p:nvSpPr>
        <p:spPr>
          <a:xfrm>
            <a:off x="5805988" y="2442444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1" name="Google Shape;2171;p148"/>
          <p:cNvSpPr/>
          <p:nvPr/>
        </p:nvSpPr>
        <p:spPr>
          <a:xfrm>
            <a:off x="4891588" y="2899644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2" name="Google Shape;2172;p148"/>
          <p:cNvSpPr/>
          <p:nvPr/>
        </p:nvSpPr>
        <p:spPr>
          <a:xfrm>
            <a:off x="5775732" y="2899644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73" name="Google Shape;2173;p14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1373625" y="3281029"/>
            <a:ext cx="6423199" cy="9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4" name="Google Shape;2174;p148"/>
          <p:cNvSpPr txBox="1"/>
          <p:nvPr/>
        </p:nvSpPr>
        <p:spPr>
          <a:xfrm flipH="1">
            <a:off x="1504627" y="3318677"/>
            <a:ext cx="60198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Well done Lucas! The sequence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14, 28, 56, …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geometric sequence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8" name="Shape 2178"/>
        <p:cNvGrpSpPr/>
        <p:nvPr/>
      </p:nvGrpSpPr>
      <p:grpSpPr>
        <a:xfrm>
          <a:off x="0" y="0"/>
          <a:ext cx="0" cy="0"/>
        </a:xfrm>
      </p:grpSpPr>
      <p:sp>
        <p:nvSpPr>
          <p:cNvPr id="2179" name="Google Shape;2179;p149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80" name="Google Shape;2180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181" name="Google Shape;2181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40" y="29800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2" name="Google Shape;2182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14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1373625" y="3281029"/>
            <a:ext cx="6423199" cy="92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149"/>
          <p:cNvSpPr txBox="1"/>
          <p:nvPr/>
        </p:nvSpPr>
        <p:spPr>
          <a:xfrm flipH="1">
            <a:off x="1504627" y="3318677"/>
            <a:ext cx="60198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Well done Lucas! The sequence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14, 28, 56, …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geometric sequence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a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149"/>
          <p:cNvSpPr txBox="1"/>
          <p:nvPr/>
        </p:nvSpPr>
        <p:spPr>
          <a:xfrm flipH="1">
            <a:off x="5780675" y="1916972"/>
            <a:ext cx="29922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Can you answer Lucas’ question?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6" name="Google Shape;2186;p149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395039" y="1451829"/>
            <a:ext cx="4468101" cy="14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149"/>
          <p:cNvSpPr txBox="1"/>
          <p:nvPr/>
        </p:nvSpPr>
        <p:spPr>
          <a:xfrm flipH="1">
            <a:off x="761450" y="1546050"/>
            <a:ext cx="39504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couldn’t have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    though could you Laura?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It has to be greater than one right?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8" name="Google Shape;2188;p14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0226" y="1845538"/>
            <a:ext cx="107136" cy="3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92" name="Shape 2192"/>
        <p:cNvGrpSpPr/>
        <p:nvPr/>
      </p:nvGrpSpPr>
      <p:grpSpPr>
        <a:xfrm>
          <a:off x="0" y="0"/>
          <a:ext cx="0" cy="0"/>
        </a:xfrm>
      </p:grpSpPr>
      <p:graphicFrame>
        <p:nvGraphicFramePr>
          <p:cNvPr id="2193" name="Google Shape;2193;p150"/>
          <p:cNvGraphicFramePr>
            <a:graphicFrameLocks noGrp="1"/>
          </p:cNvGraphicFramePr>
          <p:nvPr/>
        </p:nvGraphicFramePr>
        <p:xfrm>
          <a:off x="5567959" y="1776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94" name="Google Shape;2194;p150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195" name="Google Shape;2195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196" name="Google Shape;2196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40" y="29800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7" name="Google Shape;2197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8" name="Google Shape;2198;p15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395039" y="1451829"/>
            <a:ext cx="4468101" cy="14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50"/>
          <p:cNvSpPr txBox="1"/>
          <p:nvPr/>
        </p:nvSpPr>
        <p:spPr>
          <a:xfrm flipH="1">
            <a:off x="761450" y="1546050"/>
            <a:ext cx="39504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couldn’t have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    though could you Laura?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It has to be greater than one right?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0" name="Google Shape;2200;p150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rot="10800000" flipH="1">
            <a:off x="1898950" y="3957460"/>
            <a:ext cx="5804027" cy="8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150"/>
          <p:cNvSpPr txBox="1"/>
          <p:nvPr/>
        </p:nvSpPr>
        <p:spPr>
          <a:xfrm flipH="1">
            <a:off x="2037950" y="4136704"/>
            <a:ext cx="52695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is possible! For example, start with a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use a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ratio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: 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between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50"/>
          <p:cNvSpPr/>
          <p:nvPr/>
        </p:nvSpPr>
        <p:spPr>
          <a:xfrm>
            <a:off x="5709618" y="2242979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3" name="Google Shape;2203;p150"/>
          <p:cNvSpPr/>
          <p:nvPr/>
        </p:nvSpPr>
        <p:spPr>
          <a:xfrm>
            <a:off x="6547818" y="2242979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4" name="Google Shape;2204;p150"/>
          <p:cNvSpPr/>
          <p:nvPr/>
        </p:nvSpPr>
        <p:spPr>
          <a:xfrm>
            <a:off x="5663674" y="26441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5" name="Google Shape;2205;p150"/>
          <p:cNvSpPr/>
          <p:nvPr/>
        </p:nvSpPr>
        <p:spPr>
          <a:xfrm>
            <a:off x="6547818" y="26441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6" name="Google Shape;2206;p150"/>
          <p:cNvSpPr/>
          <p:nvPr/>
        </p:nvSpPr>
        <p:spPr>
          <a:xfrm>
            <a:off x="5633418" y="31013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7" name="Google Shape;2207;p150"/>
          <p:cNvSpPr/>
          <p:nvPr/>
        </p:nvSpPr>
        <p:spPr>
          <a:xfrm>
            <a:off x="6517562" y="31013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8" name="Google Shape;2208;p150"/>
          <p:cNvSpPr/>
          <p:nvPr/>
        </p:nvSpPr>
        <p:spPr>
          <a:xfrm>
            <a:off x="5633418" y="3512606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150"/>
          <p:cNvSpPr/>
          <p:nvPr/>
        </p:nvSpPr>
        <p:spPr>
          <a:xfrm>
            <a:off x="6517562" y="3512606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0" name="Google Shape;2210;p150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0226" y="1845538"/>
            <a:ext cx="107136" cy="3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14" name="Shape 2214"/>
        <p:cNvGrpSpPr/>
        <p:nvPr/>
      </p:nvGrpSpPr>
      <p:grpSpPr>
        <a:xfrm>
          <a:off x="0" y="0"/>
          <a:ext cx="0" cy="0"/>
        </a:xfrm>
      </p:grpSpPr>
      <p:pic>
        <p:nvPicPr>
          <p:cNvPr id="2215" name="Google Shape;2215;p151"/>
          <p:cNvPicPr preferRelativeResize="0"/>
          <p:nvPr/>
        </p:nvPicPr>
        <p:blipFill>
          <a:blip r:embed="rId3">
            <a:alphaModFix/>
          </a:blip>
          <a:srcRect r="57905" b="43690"/>
          <a:stretch>
            <a:fillRect/>
          </a:stretch>
        </p:blipFill>
        <p:spPr>
          <a:xfrm flipH="1">
            <a:off x="201047" y="1204073"/>
            <a:ext cx="5035100" cy="17571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16" name="Google Shape;2216;p151"/>
          <p:cNvGraphicFramePr>
            <a:graphicFrameLocks noGrp="1"/>
          </p:cNvGraphicFramePr>
          <p:nvPr/>
        </p:nvGraphicFramePr>
        <p:xfrm>
          <a:off x="5567959" y="17768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17" name="Google Shape;2217;p151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218" name="Google Shape;221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219" name="Google Shape;2219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40" y="29800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1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516591" y="3565562"/>
            <a:ext cx="943984" cy="1236338"/>
          </a:xfrm>
          <a:prstGeom prst="rect">
            <a:avLst/>
          </a:prstGeom>
          <a:noFill/>
          <a:ln>
            <a:noFill/>
          </a:ln>
        </p:spPr>
      </p:pic>
      <p:sp>
        <p:nvSpPr>
          <p:cNvPr id="2221" name="Google Shape;2221;p151"/>
          <p:cNvSpPr txBox="1"/>
          <p:nvPr/>
        </p:nvSpPr>
        <p:spPr>
          <a:xfrm flipH="1">
            <a:off x="622922" y="1282848"/>
            <a:ext cx="4513500" cy="10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Nice! The sequence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128, 64, 32, 16, 8, …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So using the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 : 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    between terms, makes the sequence decrease!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2" name="Google Shape;2222;p151"/>
          <p:cNvSpPr/>
          <p:nvPr/>
        </p:nvSpPr>
        <p:spPr>
          <a:xfrm>
            <a:off x="6063961" y="1553159"/>
            <a:ext cx="5346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223" name="Google Shape;2223;p15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4248" y="1937428"/>
            <a:ext cx="114075" cy="37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4" name="Google Shape;2224;p15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9404" y="1070026"/>
            <a:ext cx="285370" cy="43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5" name="Google Shape;2225;p151"/>
          <p:cNvSpPr txBox="1"/>
          <p:nvPr/>
        </p:nvSpPr>
        <p:spPr>
          <a:xfrm flipH="1">
            <a:off x="2283863" y="2943429"/>
            <a:ext cx="27720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128, 64, 32, 16, 8,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51"/>
          <p:cNvSpPr/>
          <p:nvPr/>
        </p:nvSpPr>
        <p:spPr>
          <a:xfrm rot="10800000" flipH="1">
            <a:off x="2578926" y="30771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7" name="Google Shape;2227;p151"/>
          <p:cNvSpPr/>
          <p:nvPr/>
        </p:nvSpPr>
        <p:spPr>
          <a:xfrm rot="10800000" flipH="1">
            <a:off x="3038990" y="30771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8" name="Google Shape;2228;p151"/>
          <p:cNvSpPr/>
          <p:nvPr/>
        </p:nvSpPr>
        <p:spPr>
          <a:xfrm rot="10800000" flipH="1">
            <a:off x="3499054" y="30771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9" name="Google Shape;2229;p151"/>
          <p:cNvSpPr/>
          <p:nvPr/>
        </p:nvSpPr>
        <p:spPr>
          <a:xfrm rot="10800000" flipH="1">
            <a:off x="3959118" y="30771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230" name="Google Shape;2230;p15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3948" y="35543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1" name="Google Shape;2231;p15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1148" y="35543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2" name="Google Shape;2232;p15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58348" y="35543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3" name="Google Shape;2233;p151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5633" y="3554371"/>
            <a:ext cx="285370" cy="43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4" name="Google Shape;2234;p151"/>
          <p:cNvSpPr txBox="1"/>
          <p:nvPr>
            <p:ph type="body" idx="1"/>
          </p:nvPr>
        </p:nvSpPr>
        <p:spPr>
          <a:xfrm>
            <a:off x="400200" y="4314926"/>
            <a:ext cx="6982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is possible to have decreasing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38" name="Shape 2238"/>
        <p:cNvGrpSpPr/>
        <p:nvPr/>
      </p:nvGrpSpPr>
      <p:grpSpPr>
        <a:xfrm>
          <a:off x="0" y="0"/>
          <a:ext cx="0" cy="0"/>
        </a:xfrm>
      </p:grpSpPr>
      <p:graphicFrame>
        <p:nvGraphicFramePr>
          <p:cNvPr id="2239" name="Google Shape;2239;p152"/>
          <p:cNvGraphicFramePr>
            <a:graphicFrameLocks noGrp="1"/>
          </p:cNvGraphicFramePr>
          <p:nvPr/>
        </p:nvGraphicFramePr>
        <p:xfrm>
          <a:off x="1300759" y="2005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40" name="Google Shape;2240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241" name="Google Shape;2241;p152"/>
          <p:cNvSpPr txBox="1"/>
          <p:nvPr>
            <p:ph type="subTitle" idx="1"/>
          </p:nvPr>
        </p:nvSpPr>
        <p:spPr>
          <a:xfrm>
            <a:off x="337825" y="810000"/>
            <a:ext cx="3982200" cy="11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Generate the first five terms of the </a:t>
            </a:r>
            <a:r>
              <a:rPr lang="en-GB" b="1"/>
              <a:t>geometric sequence</a:t>
            </a:r>
            <a:r>
              <a:rPr lang="en-GB"/>
              <a:t>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r>
              <a:rPr lang="en-GB"/>
              <a:t> and a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 : 4 </a:t>
            </a:r>
            <a:r>
              <a:rPr lang="en-GB"/>
              <a:t>between successive terms.</a:t>
            </a:r>
            <a:endParaRPr sz="1600"/>
          </a:p>
        </p:txBody>
      </p:sp>
      <p:sp>
        <p:nvSpPr>
          <p:cNvPr id="2242" name="Google Shape;2242;p152"/>
          <p:cNvSpPr/>
          <p:nvPr/>
        </p:nvSpPr>
        <p:spPr>
          <a:xfrm>
            <a:off x="1442418" y="2471579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3" name="Google Shape;2243;p152"/>
          <p:cNvSpPr/>
          <p:nvPr/>
        </p:nvSpPr>
        <p:spPr>
          <a:xfrm>
            <a:off x="2280618" y="2471579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4" name="Google Shape;2244;p152"/>
          <p:cNvSpPr/>
          <p:nvPr/>
        </p:nvSpPr>
        <p:spPr>
          <a:xfrm>
            <a:off x="1396474" y="28727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5" name="Google Shape;2245;p152"/>
          <p:cNvSpPr/>
          <p:nvPr/>
        </p:nvSpPr>
        <p:spPr>
          <a:xfrm>
            <a:off x="2280618" y="28727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6" name="Google Shape;2246;p152"/>
          <p:cNvSpPr/>
          <p:nvPr/>
        </p:nvSpPr>
        <p:spPr>
          <a:xfrm>
            <a:off x="1366218" y="33299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7" name="Google Shape;2247;p152"/>
          <p:cNvSpPr/>
          <p:nvPr/>
        </p:nvSpPr>
        <p:spPr>
          <a:xfrm>
            <a:off x="2250362" y="3329950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8" name="Google Shape;2248;p152"/>
          <p:cNvSpPr/>
          <p:nvPr/>
        </p:nvSpPr>
        <p:spPr>
          <a:xfrm>
            <a:off x="1366218" y="3741206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9" name="Google Shape;2249;p152"/>
          <p:cNvSpPr/>
          <p:nvPr/>
        </p:nvSpPr>
        <p:spPr>
          <a:xfrm>
            <a:off x="2250362" y="3741206"/>
            <a:ext cx="4857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0" name="Google Shape;2250;p152"/>
          <p:cNvSpPr txBox="1"/>
          <p:nvPr/>
        </p:nvSpPr>
        <p:spPr>
          <a:xfrm flipH="1">
            <a:off x="640850" y="4345282"/>
            <a:ext cx="33258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81, 108, 144, 192, 256,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54" name="Shape 2254"/>
        <p:cNvGrpSpPr/>
        <p:nvPr/>
      </p:nvGrpSpPr>
      <p:grpSpPr>
        <a:xfrm>
          <a:off x="0" y="0"/>
          <a:ext cx="0" cy="0"/>
        </a:xfrm>
      </p:grpSpPr>
      <p:graphicFrame>
        <p:nvGraphicFramePr>
          <p:cNvPr id="2255" name="Google Shape;2255;p153"/>
          <p:cNvGraphicFramePr>
            <a:graphicFrameLocks noGrp="1"/>
          </p:cNvGraphicFramePr>
          <p:nvPr/>
        </p:nvGraphicFramePr>
        <p:xfrm>
          <a:off x="5720359" y="2005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56" name="Google Shape;2256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257" name="Google Shape;2257;p153"/>
          <p:cNvSpPr txBox="1"/>
          <p:nvPr>
            <p:ph type="subTitle" idx="1"/>
          </p:nvPr>
        </p:nvSpPr>
        <p:spPr>
          <a:xfrm>
            <a:off x="337825" y="810000"/>
            <a:ext cx="3982200" cy="11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Generate the first five terms of the </a:t>
            </a:r>
            <a:r>
              <a:rPr lang="en-GB" b="1"/>
              <a:t>geometric sequence</a:t>
            </a:r>
            <a:r>
              <a:rPr lang="en-GB"/>
              <a:t>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r>
              <a:rPr lang="en-GB"/>
              <a:t> and a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 : 4 </a:t>
            </a:r>
            <a:r>
              <a:rPr lang="en-GB"/>
              <a:t>between successive terms.</a:t>
            </a:r>
            <a:endParaRPr/>
          </a:p>
        </p:txBody>
      </p:sp>
      <p:sp>
        <p:nvSpPr>
          <p:cNvPr id="2258" name="Google Shape;2258;p153"/>
          <p:cNvSpPr/>
          <p:nvPr/>
        </p:nvSpPr>
        <p:spPr>
          <a:xfrm>
            <a:off x="5862018" y="2471579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153"/>
          <p:cNvSpPr/>
          <p:nvPr/>
        </p:nvSpPr>
        <p:spPr>
          <a:xfrm>
            <a:off x="6700218" y="2471579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0" name="Google Shape;2260;p153"/>
          <p:cNvSpPr/>
          <p:nvPr/>
        </p:nvSpPr>
        <p:spPr>
          <a:xfrm>
            <a:off x="5816074" y="2872750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1" name="Google Shape;2261;p153"/>
          <p:cNvSpPr/>
          <p:nvPr/>
        </p:nvSpPr>
        <p:spPr>
          <a:xfrm>
            <a:off x="6700218" y="2872750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2" name="Google Shape;2262;p153"/>
          <p:cNvSpPr/>
          <p:nvPr/>
        </p:nvSpPr>
        <p:spPr>
          <a:xfrm>
            <a:off x="5785818" y="3329950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53"/>
          <p:cNvSpPr/>
          <p:nvPr/>
        </p:nvSpPr>
        <p:spPr>
          <a:xfrm>
            <a:off x="6669962" y="3329950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4" name="Google Shape;2264;p153"/>
          <p:cNvSpPr/>
          <p:nvPr/>
        </p:nvSpPr>
        <p:spPr>
          <a:xfrm>
            <a:off x="5785818" y="3741206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5" name="Google Shape;2265;p153"/>
          <p:cNvSpPr/>
          <p:nvPr/>
        </p:nvSpPr>
        <p:spPr>
          <a:xfrm>
            <a:off x="6669962" y="3741206"/>
            <a:ext cx="485700" cy="3270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rgbClr val="EAF2F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6" name="Google Shape;2266;p153"/>
          <p:cNvSpPr txBox="1"/>
          <p:nvPr/>
        </p:nvSpPr>
        <p:spPr>
          <a:xfrm flipH="1">
            <a:off x="5060450" y="4345282"/>
            <a:ext cx="33258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16, 40, 100, 250, 625,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7" name="Google Shape;2267;p153"/>
          <p:cNvGraphicFramePr>
            <a:graphicFrameLocks noGrp="1"/>
          </p:cNvGraphicFramePr>
          <p:nvPr/>
        </p:nvGraphicFramePr>
        <p:xfrm>
          <a:off x="1300759" y="2005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568025"/>
                <a:gridCol w="367925"/>
                <a:gridCol w="640400"/>
              </a:tblGrid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</a:t>
                      </a:r>
                      <a:endParaRPr/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220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68" name="Google Shape;2268;p153"/>
          <p:cNvSpPr txBox="1"/>
          <p:nvPr/>
        </p:nvSpPr>
        <p:spPr>
          <a:xfrm flipH="1">
            <a:off x="640850" y="4345282"/>
            <a:ext cx="33258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81, 108, 144, 192, 256,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9" name="Google Shape;2269;p153"/>
          <p:cNvSpPr txBox="1"/>
          <p:nvPr>
            <p:ph type="subTitle" idx="1"/>
          </p:nvPr>
        </p:nvSpPr>
        <p:spPr>
          <a:xfrm>
            <a:off x="4823540" y="810000"/>
            <a:ext cx="3982200" cy="11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Generate the first five terms of the </a:t>
            </a:r>
            <a:r>
              <a:rPr lang="en-GB" b="1"/>
              <a:t>geometric sequence</a:t>
            </a:r>
            <a:r>
              <a:rPr lang="en-GB"/>
              <a:t>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/>
              <a:t> and a ratio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 : 5 </a:t>
            </a:r>
            <a:r>
              <a:rPr lang="en-GB"/>
              <a:t>between successive terms.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73" name="Shape 2273"/>
        <p:cNvGrpSpPr/>
        <p:nvPr/>
      </p:nvGrpSpPr>
      <p:grpSpPr>
        <a:xfrm>
          <a:off x="0" y="0"/>
          <a:ext cx="0" cy="0"/>
        </a:xfrm>
      </p:grpSpPr>
      <p:sp>
        <p:nvSpPr>
          <p:cNvPr id="2274" name="Google Shape;2274;p154"/>
          <p:cNvSpPr txBox="1"/>
          <p:nvPr>
            <p:ph type="subTitle" idx="1"/>
          </p:nvPr>
        </p:nvSpPr>
        <p:spPr>
          <a:xfrm>
            <a:off x="337825" y="810000"/>
            <a:ext cx="3982200" cy="11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Generate the first seven terms of the </a:t>
            </a:r>
            <a:r>
              <a:rPr lang="en-GB" b="1"/>
              <a:t>geometric sequence</a:t>
            </a:r>
            <a:r>
              <a:rPr lang="en-GB"/>
              <a:t>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405</a:t>
            </a:r>
            <a:r>
              <a:rPr lang="en-GB"/>
              <a:t> and </a:t>
            </a:r>
            <a:r>
              <a:rPr lang="en-GB" b="1"/>
              <a:t>common ratio</a:t>
            </a:r>
            <a:r>
              <a:rPr lang="en-GB"/>
              <a:t> of</a:t>
            </a:r>
            <a:endParaRPr/>
          </a:p>
        </p:txBody>
      </p:sp>
      <p:sp>
        <p:nvSpPr>
          <p:cNvPr id="2275" name="Google Shape;227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276" name="Google Shape;2276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rcRect l="47357"/>
          <a:stretch>
            <a:fillRect/>
          </a:stretch>
        </p:blipFill>
        <p:spPr>
          <a:xfrm>
            <a:off x="3812227" y="1518300"/>
            <a:ext cx="144200" cy="4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154"/>
          <p:cNvSpPr txBox="1"/>
          <p:nvPr/>
        </p:nvSpPr>
        <p:spPr>
          <a:xfrm flipH="1">
            <a:off x="336272" y="2131000"/>
            <a:ext cx="39822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 135, 45, 15,  5,     ,     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8" name="Google Shape;2278;p154"/>
          <p:cNvSpPr/>
          <p:nvPr/>
        </p:nvSpPr>
        <p:spPr>
          <a:xfrm rot="10800000" flipH="1">
            <a:off x="534975" y="2304975"/>
            <a:ext cx="4542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9" name="Google Shape;2279;p154"/>
          <p:cNvSpPr/>
          <p:nvPr/>
        </p:nvSpPr>
        <p:spPr>
          <a:xfrm rot="10800000" flipH="1">
            <a:off x="1127011" y="2304975"/>
            <a:ext cx="4542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0" name="Google Shape;2280;p154"/>
          <p:cNvSpPr/>
          <p:nvPr/>
        </p:nvSpPr>
        <p:spPr>
          <a:xfrm rot="10800000" flipH="1">
            <a:off x="1668615" y="2304975"/>
            <a:ext cx="4308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1" name="Google Shape;2281;p154"/>
          <p:cNvSpPr/>
          <p:nvPr/>
        </p:nvSpPr>
        <p:spPr>
          <a:xfrm rot="10800000" flipH="1">
            <a:off x="2148444" y="2304975"/>
            <a:ext cx="4308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282" name="Google Shape;2282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85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3" name="Google Shape;2283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42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4" name="Google Shape;2284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82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02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6" name="Google Shape;2286;p154"/>
          <p:cNvSpPr/>
          <p:nvPr/>
        </p:nvSpPr>
        <p:spPr>
          <a:xfrm rot="10800000" flipH="1">
            <a:off x="2605649" y="2304975"/>
            <a:ext cx="3771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7" name="Google Shape;2287;p154"/>
          <p:cNvSpPr/>
          <p:nvPr/>
        </p:nvSpPr>
        <p:spPr>
          <a:xfrm rot="10800000" flipH="1">
            <a:off x="3005789" y="2304975"/>
            <a:ext cx="3771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288" name="Google Shape;2288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877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9" name="Google Shape;2289;p154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385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0" name="Google Shape;2290;p154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687" y="2014831"/>
            <a:ext cx="144847" cy="48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1" name="Google Shape;2291;p154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227" y="2014831"/>
            <a:ext cx="144186" cy="483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2" name="Google Shape;2292;p1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5000" y="3251474"/>
            <a:ext cx="2430225" cy="1556977"/>
          </a:xfrm>
          <a:prstGeom prst="rect">
            <a:avLst/>
          </a:prstGeom>
          <a:noFill/>
          <a:ln>
            <a:noFill/>
          </a:ln>
        </p:spPr>
      </p:pic>
      <p:sp>
        <p:nvSpPr>
          <p:cNvPr id="2293" name="Google Shape;2293;p154"/>
          <p:cNvSpPr txBox="1"/>
          <p:nvPr/>
        </p:nvSpPr>
        <p:spPr>
          <a:xfrm flipH="1">
            <a:off x="336248" y="2131000"/>
            <a:ext cx="7785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4" name="Google Shape;2294;p154"/>
          <p:cNvSpPr txBox="1"/>
          <p:nvPr/>
        </p:nvSpPr>
        <p:spPr>
          <a:xfrm flipH="1">
            <a:off x="336173" y="2131000"/>
            <a:ext cx="13131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405, 135,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5" name="Google Shape;2295;p154"/>
          <p:cNvSpPr txBox="1"/>
          <p:nvPr/>
        </p:nvSpPr>
        <p:spPr>
          <a:xfrm flipH="1">
            <a:off x="336299" y="2131000"/>
            <a:ext cx="17805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405, 135, 45,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6" name="Google Shape;2296;p1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3601" y="3260430"/>
            <a:ext cx="2429030" cy="15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7" name="Google Shape;2297;p1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0515" y="3255041"/>
            <a:ext cx="2430226" cy="1568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8" name="Google Shape;2298;p1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52500" y="3240001"/>
            <a:ext cx="2500016" cy="159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02" name="Shape 2302"/>
        <p:cNvGrpSpPr/>
        <p:nvPr/>
      </p:nvGrpSpPr>
      <p:grpSpPr>
        <a:xfrm>
          <a:off x="0" y="0"/>
          <a:ext cx="0" cy="0"/>
        </a:xfrm>
      </p:grpSpPr>
      <p:sp>
        <p:nvSpPr>
          <p:cNvPr id="2303" name="Google Shape;2303;p155"/>
          <p:cNvSpPr txBox="1"/>
          <p:nvPr>
            <p:ph type="subTitle" idx="1"/>
          </p:nvPr>
        </p:nvSpPr>
        <p:spPr>
          <a:xfrm>
            <a:off x="337825" y="810000"/>
            <a:ext cx="3982200" cy="11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Generate the first seven terms of the </a:t>
            </a:r>
            <a:r>
              <a:rPr lang="en-GB" b="1"/>
              <a:t>geometric sequence</a:t>
            </a:r>
            <a:r>
              <a:rPr lang="en-GB"/>
              <a:t>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405</a:t>
            </a:r>
            <a:r>
              <a:rPr lang="en-GB"/>
              <a:t> and </a:t>
            </a:r>
            <a:r>
              <a:rPr lang="en-GB" b="1"/>
              <a:t>common ratio</a:t>
            </a:r>
            <a:r>
              <a:rPr lang="en-GB"/>
              <a:t> of</a:t>
            </a:r>
            <a:endParaRPr/>
          </a:p>
        </p:txBody>
      </p:sp>
      <p:sp>
        <p:nvSpPr>
          <p:cNvPr id="2304" name="Google Shape;2304;p155"/>
          <p:cNvSpPr txBox="1"/>
          <p:nvPr>
            <p:ph type="subTitle" idx="2"/>
          </p:nvPr>
        </p:nvSpPr>
        <p:spPr>
          <a:xfrm>
            <a:off x="4824000" y="810000"/>
            <a:ext cx="3982200" cy="12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Generate the first six terms of the </a:t>
            </a:r>
            <a:r>
              <a:rPr lang="en-GB" b="1"/>
              <a:t>geometric sequence</a:t>
            </a:r>
            <a:r>
              <a:rPr lang="en-GB"/>
              <a:t> with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/>
              <a:t> term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375</a:t>
            </a:r>
            <a:r>
              <a:rPr lang="en-GB"/>
              <a:t> and </a:t>
            </a:r>
            <a:r>
              <a:rPr lang="en-GB" b="1"/>
              <a:t>common ratio</a:t>
            </a:r>
            <a:r>
              <a:rPr lang="en-GB"/>
              <a:t> of</a:t>
            </a:r>
            <a:endParaRPr/>
          </a:p>
        </p:txBody>
      </p:sp>
      <p:sp>
        <p:nvSpPr>
          <p:cNvPr id="2305" name="Google Shape;2305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306" name="Google Shape;2306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rcRect l="49083"/>
          <a:stretch>
            <a:fillRect/>
          </a:stretch>
        </p:blipFill>
        <p:spPr>
          <a:xfrm>
            <a:off x="3828339" y="1531388"/>
            <a:ext cx="139475" cy="4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7" name="Google Shape;2307;p155"/>
          <p:cNvSpPr txBox="1"/>
          <p:nvPr/>
        </p:nvSpPr>
        <p:spPr>
          <a:xfrm flipH="1">
            <a:off x="336272" y="2131000"/>
            <a:ext cx="39822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 135, 45, 15,  5,     ,     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8" name="Google Shape;2308;p155"/>
          <p:cNvSpPr/>
          <p:nvPr/>
        </p:nvSpPr>
        <p:spPr>
          <a:xfrm rot="10800000" flipH="1">
            <a:off x="534975" y="2304975"/>
            <a:ext cx="4542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09" name="Google Shape;2309;p155"/>
          <p:cNvSpPr/>
          <p:nvPr/>
        </p:nvSpPr>
        <p:spPr>
          <a:xfrm rot="10800000" flipH="1">
            <a:off x="1127011" y="2304975"/>
            <a:ext cx="4542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10" name="Google Shape;2310;p155"/>
          <p:cNvSpPr/>
          <p:nvPr/>
        </p:nvSpPr>
        <p:spPr>
          <a:xfrm rot="10800000" flipH="1">
            <a:off x="1668615" y="2304975"/>
            <a:ext cx="4308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11" name="Google Shape;2311;p155"/>
          <p:cNvSpPr/>
          <p:nvPr/>
        </p:nvSpPr>
        <p:spPr>
          <a:xfrm rot="10800000" flipH="1">
            <a:off x="2148444" y="2304975"/>
            <a:ext cx="4308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12" name="Google Shape;2312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85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42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4" name="Google Shape;2314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82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5" name="Google Shape;2315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020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6" name="Google Shape;2316;p155"/>
          <p:cNvSpPr/>
          <p:nvPr/>
        </p:nvSpPr>
        <p:spPr>
          <a:xfrm rot="10800000" flipH="1">
            <a:off x="2605649" y="2304975"/>
            <a:ext cx="3771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17" name="Google Shape;2317;p155"/>
          <p:cNvSpPr/>
          <p:nvPr/>
        </p:nvSpPr>
        <p:spPr>
          <a:xfrm rot="10800000" flipH="1">
            <a:off x="3005789" y="2304975"/>
            <a:ext cx="3771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18" name="Google Shape;2318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877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155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4385" y="2766777"/>
            <a:ext cx="221300" cy="3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0" name="Google Shape;2320;p155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687" y="2014831"/>
            <a:ext cx="144847" cy="48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1" name="Google Shape;2321;p155" descr="&lt;math xmlns=&quot;http://www.w3.org/1998/Math/MathML&quot; display=&quot;block&quot; data-is-equatio=&quot;1&quot; data-latex=&quot;\frac{5}{9}&quot;&gt;&lt;mfrac&gt;&lt;mn&gt;5&lt;/mn&gt;&lt;mn&gt;9&lt;/mn&gt;&lt;/mfrac&gt;&lt;/math&gt;" title="five ni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227" y="2014831"/>
            <a:ext cx="144186" cy="483069"/>
          </a:xfrm>
          <a:prstGeom prst="rect">
            <a:avLst/>
          </a:prstGeom>
          <a:noFill/>
          <a:ln>
            <a:noFill/>
          </a:ln>
        </p:spPr>
      </p:pic>
      <p:sp>
        <p:nvSpPr>
          <p:cNvPr id="2322" name="Google Shape;2322;p155"/>
          <p:cNvSpPr txBox="1"/>
          <p:nvPr/>
        </p:nvSpPr>
        <p:spPr>
          <a:xfrm flipH="1">
            <a:off x="336248" y="2131000"/>
            <a:ext cx="7785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3" name="Google Shape;2323;p155"/>
          <p:cNvSpPr txBox="1"/>
          <p:nvPr/>
        </p:nvSpPr>
        <p:spPr>
          <a:xfrm flipH="1">
            <a:off x="336173" y="2131000"/>
            <a:ext cx="13131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405, 135,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4" name="Google Shape;2324;p155"/>
          <p:cNvSpPr txBox="1"/>
          <p:nvPr/>
        </p:nvSpPr>
        <p:spPr>
          <a:xfrm flipH="1">
            <a:off x="336299" y="2131000"/>
            <a:ext cx="17805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405, 135, 45,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25" name="Google Shape;2325;p155"/>
          <p:cNvGrpSpPr/>
          <p:nvPr/>
        </p:nvGrpSpPr>
        <p:grpSpPr>
          <a:xfrm>
            <a:off x="2789984" y="1945349"/>
            <a:ext cx="827603" cy="644005"/>
            <a:chOff x="4195267" y="1432100"/>
            <a:chExt cx="1105978" cy="401700"/>
          </a:xfrm>
        </p:grpSpPr>
        <p:sp>
          <p:nvSpPr>
            <p:cNvPr id="2326" name="Google Shape;2326;p155"/>
            <p:cNvSpPr/>
            <p:nvPr/>
          </p:nvSpPr>
          <p:spPr>
            <a:xfrm>
              <a:off x="4195267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7" name="Google Shape;2327;p155"/>
            <p:cNvSpPr/>
            <p:nvPr/>
          </p:nvSpPr>
          <p:spPr>
            <a:xfrm>
              <a:off x="4766645" y="1432100"/>
              <a:ext cx="534600" cy="401700"/>
            </a:xfrm>
            <a:prstGeom prst="ellipse">
              <a:avLst/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28" name="Google Shape;2328;p155"/>
          <p:cNvSpPr txBox="1"/>
          <p:nvPr>
            <p:ph type="subTitle" idx="1"/>
          </p:nvPr>
        </p:nvSpPr>
        <p:spPr>
          <a:xfrm>
            <a:off x="642625" y="3400800"/>
            <a:ext cx="3539100" cy="91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Non-integer terms are often more efficiently and accurately communicated as fractions.</a:t>
            </a:r>
            <a:endParaRPr/>
          </a:p>
        </p:txBody>
      </p:sp>
      <p:pic>
        <p:nvPicPr>
          <p:cNvPr id="2329" name="Google Shape;2329;p155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6">
            <a:alphaModFix/>
          </a:blip>
          <a:srcRect l="49083"/>
          <a:stretch>
            <a:fillRect/>
          </a:stretch>
        </p:blipFill>
        <p:spPr>
          <a:xfrm>
            <a:off x="7719079" y="1515425"/>
            <a:ext cx="139475" cy="4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155"/>
          <p:cNvSpPr txBox="1"/>
          <p:nvPr/>
        </p:nvSpPr>
        <p:spPr>
          <a:xfrm flipH="1">
            <a:off x="4832072" y="2131000"/>
            <a:ext cx="39822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375, 75, 15,  3,      ,      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1" name="Google Shape;2331;p155"/>
          <p:cNvSpPr/>
          <p:nvPr/>
        </p:nvSpPr>
        <p:spPr>
          <a:xfrm rot="10800000" flipH="1">
            <a:off x="5020690" y="2345316"/>
            <a:ext cx="4542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2" name="Google Shape;2332;p155"/>
          <p:cNvSpPr/>
          <p:nvPr/>
        </p:nvSpPr>
        <p:spPr>
          <a:xfrm rot="10800000" flipH="1">
            <a:off x="5612726" y="2345316"/>
            <a:ext cx="4542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3" name="Google Shape;2333;p155"/>
          <p:cNvSpPr/>
          <p:nvPr/>
        </p:nvSpPr>
        <p:spPr>
          <a:xfrm rot="10800000" flipH="1">
            <a:off x="6144240" y="2345316"/>
            <a:ext cx="4047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4" name="Google Shape;2334;p155"/>
          <p:cNvSpPr/>
          <p:nvPr/>
        </p:nvSpPr>
        <p:spPr>
          <a:xfrm rot="10800000" flipH="1">
            <a:off x="6595111" y="2345316"/>
            <a:ext cx="4047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35" name="Google Shape;2335;p155"/>
          <p:cNvSpPr/>
          <p:nvPr/>
        </p:nvSpPr>
        <p:spPr>
          <a:xfrm rot="10800000" flipH="1">
            <a:off x="7024723" y="2345316"/>
            <a:ext cx="354300" cy="4221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36" name="Google Shape;2336;p155" descr="&lt;math xmlns=&quot;http://www.w3.org/1998/Math/MathML&quot; display=&quot;block&quot; data-is-equatio=&quot;1&quot; data-latex=&quot;\frac{3}{5}&quot;&gt;&lt;mfrac&gt;&lt;mn&gt;3&lt;/mn&gt;&lt;mn&gt;5&lt;/mn&gt;&lt;/mfrac&gt;&lt;/math&gt;" title="three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06908" y="2027146"/>
            <a:ext cx="139463" cy="46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155" descr="&lt;math xmlns=&quot;http://www.w3.org/1998/Math/MathML&quot; display=&quot;block&quot; data-is-equatio=&quot;1&quot; data-latex=&quot;\frac{3}{25}&quot;&gt;&lt;mfrac&gt;&lt;mn&gt;3&lt;/mn&gt;&lt;mn&gt;25&lt;/mn&gt;&lt;/mfrac&gt;&lt;/math&gt;" title="3 over 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91418" y="2027146"/>
            <a:ext cx="251446" cy="465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8" name="Google Shape;2338;p155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6047" y="2829832"/>
            <a:ext cx="221300" cy="34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9" name="Google Shape;2339;p155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5647" y="2829832"/>
            <a:ext cx="221300" cy="34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0" name="Google Shape;2340;p155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28791" y="2829832"/>
            <a:ext cx="221300" cy="34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155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5820" y="2829832"/>
            <a:ext cx="221300" cy="34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155" descr="&lt;math xmlns=&quot;http://www.w3.org/1998/Math/MathML&quot; display=&quot;block&quot; data-is-equatio=&quot;1&quot; data-latex=&quot;\times\frac{1}{5}&quot;&gt;&lt;mo&gt;×&lt;/mo&gt;&lt;mfrac&gt;&lt;mn&gt;1&lt;/mn&gt;&lt;mn&gt;5&lt;/mn&gt;&lt;/mfrac&gt;&lt;/math&gt;" title="times one fif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7161" y="2829832"/>
            <a:ext cx="221300" cy="343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46" name="Shape 2346"/>
        <p:cNvGrpSpPr/>
        <p:nvPr/>
      </p:nvGrpSpPr>
      <p:grpSpPr>
        <a:xfrm>
          <a:off x="0" y="0"/>
          <a:ext cx="0" cy="0"/>
        </a:xfrm>
      </p:grpSpPr>
      <p:pic>
        <p:nvPicPr>
          <p:cNvPr id="2347" name="Google Shape;2347;p156" descr="&lt;math xmlns=&quot;http://www.w3.org/1998/Math/MathML&quot; display=&quot;block&quot; data-is-equatio=&quot;1&quot; data-latex=&quot;\frac{1}{16}&quot;&gt;&lt;mfrac&gt;&lt;mn&gt;1&lt;/mn&gt;&lt;mn&gt;16&lt;/mn&gt;&lt;/mfrac&gt;&lt;/math&gt;" title="1 over 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198" y="1213100"/>
            <a:ext cx="236638" cy="437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8" name="Google Shape;2348;p156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349" name="Google Shape;2349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350" name="Google Shape;2350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40" y="35134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45191" y="2412476"/>
            <a:ext cx="943984" cy="12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2" name="Google Shape;2352;p156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852248" y="2574650"/>
            <a:ext cx="5311877" cy="118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53" name="Google Shape;2353;p156"/>
          <p:cNvSpPr txBox="1"/>
          <p:nvPr/>
        </p:nvSpPr>
        <p:spPr>
          <a:xfrm flipH="1">
            <a:off x="1294600" y="2612850"/>
            <a:ext cx="47862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I’ve continued this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geometric sequence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realised something really cool!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Despite decreasing it will never reach zero.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4" name="Google Shape;2354;p156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rot="10800000" flipH="1">
            <a:off x="3493547" y="3556279"/>
            <a:ext cx="5072000" cy="8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355" name="Google Shape;2355;p156"/>
          <p:cNvSpPr txBox="1"/>
          <p:nvPr/>
        </p:nvSpPr>
        <p:spPr>
          <a:xfrm flipH="1">
            <a:off x="3612401" y="3755700"/>
            <a:ext cx="46593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that mean we will never see negative terms in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geometric sequences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6" name="Google Shape;2356;p156"/>
          <p:cNvSpPr txBox="1"/>
          <p:nvPr/>
        </p:nvSpPr>
        <p:spPr>
          <a:xfrm flipH="1">
            <a:off x="1044575" y="1267025"/>
            <a:ext cx="61830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128, 64, 32, 16,  8,   4,   2,   1,     ,     ,     ,     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7" name="Google Shape;2357;p156"/>
          <p:cNvSpPr/>
          <p:nvPr/>
        </p:nvSpPr>
        <p:spPr>
          <a:xfrm rot="10800000" flipH="1">
            <a:off x="1263356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8" name="Google Shape;2358;p156"/>
          <p:cNvSpPr/>
          <p:nvPr/>
        </p:nvSpPr>
        <p:spPr>
          <a:xfrm rot="10800000" flipH="1">
            <a:off x="1723420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9" name="Google Shape;2359;p156"/>
          <p:cNvSpPr/>
          <p:nvPr/>
        </p:nvSpPr>
        <p:spPr>
          <a:xfrm rot="10800000" flipH="1">
            <a:off x="2183484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0" name="Google Shape;2360;p156"/>
          <p:cNvSpPr/>
          <p:nvPr/>
        </p:nvSpPr>
        <p:spPr>
          <a:xfrm rot="10800000" flipH="1">
            <a:off x="2643547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61" name="Google Shape;2361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8377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5577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3" name="Google Shape;2363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2777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4" name="Google Shape;2364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0062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5" name="Google Shape;2365;p156"/>
          <p:cNvSpPr/>
          <p:nvPr/>
        </p:nvSpPr>
        <p:spPr>
          <a:xfrm rot="10800000" flipH="1">
            <a:off x="3102241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6" name="Google Shape;2366;p156"/>
          <p:cNvSpPr/>
          <p:nvPr/>
        </p:nvSpPr>
        <p:spPr>
          <a:xfrm rot="10800000" flipH="1">
            <a:off x="3562305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7" name="Google Shape;2367;p156"/>
          <p:cNvSpPr/>
          <p:nvPr/>
        </p:nvSpPr>
        <p:spPr>
          <a:xfrm rot="10800000" flipH="1">
            <a:off x="4022369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8" name="Google Shape;2368;p156"/>
          <p:cNvSpPr/>
          <p:nvPr/>
        </p:nvSpPr>
        <p:spPr>
          <a:xfrm rot="10800000" flipH="1">
            <a:off x="4482433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69" name="Google Shape;2369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7262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0" name="Google Shape;2370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24462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1" name="Google Shape;2371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81662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2" name="Google Shape;2372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8948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3" name="Google Shape;2373;p156"/>
          <p:cNvSpPr/>
          <p:nvPr/>
        </p:nvSpPr>
        <p:spPr>
          <a:xfrm rot="10800000" flipH="1">
            <a:off x="4933905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4" name="Google Shape;2374;p156"/>
          <p:cNvSpPr/>
          <p:nvPr/>
        </p:nvSpPr>
        <p:spPr>
          <a:xfrm rot="10800000" flipH="1">
            <a:off x="5393969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5" name="Google Shape;2375;p156"/>
          <p:cNvSpPr/>
          <p:nvPr/>
        </p:nvSpPr>
        <p:spPr>
          <a:xfrm rot="10800000" flipH="1">
            <a:off x="5854033" y="1476950"/>
            <a:ext cx="434400" cy="437700"/>
          </a:xfrm>
          <a:prstGeom prst="arc">
            <a:avLst>
              <a:gd name="adj1" fmla="val 10729459"/>
              <a:gd name="adj2" fmla="val 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76" name="Google Shape;2376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6062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7" name="Google Shape;2377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3262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8" name="Google Shape;2378;p156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20548" y="1954171"/>
            <a:ext cx="285370" cy="437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9" name="Google Shape;2379;p156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05946" y="1213100"/>
            <a:ext cx="131616" cy="432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0" name="Google Shape;2380;p156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63146" y="1213100"/>
            <a:ext cx="131616" cy="432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1" name="Google Shape;2381;p156" descr="&lt;math xmlns=&quot;http://www.w3.org/1998/Math/MathML&quot; display=&quot;block&quot; data-is-equatio=&quot;1&quot; data-latex=&quot;\frac{1}{8}&quot;&gt;&lt;mfrac&gt;&lt;mn&gt;1&lt;/mn&gt;&lt;mn&gt;8&lt;/mn&gt;&lt;/mfrac&gt;&lt;/math&gt;" title="one eigh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20119" y="1213100"/>
            <a:ext cx="132070" cy="4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156"/>
          <p:cNvSpPr txBox="1"/>
          <p:nvPr/>
        </p:nvSpPr>
        <p:spPr>
          <a:xfrm flipH="1">
            <a:off x="1123600" y="4517700"/>
            <a:ext cx="24888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do you think?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386" name="Shape 2386"/>
        <p:cNvGrpSpPr/>
        <p:nvPr/>
      </p:nvGrpSpPr>
      <p:grpSpPr>
        <a:xfrm>
          <a:off x="0" y="0"/>
          <a:ext cx="0" cy="0"/>
        </a:xfrm>
      </p:grpSpPr>
      <p:graphicFrame>
        <p:nvGraphicFramePr>
          <p:cNvPr id="2387" name="Google Shape;2387;p157"/>
          <p:cNvGraphicFramePr>
            <a:graphicFrameLocks noGrp="1"/>
          </p:cNvGraphicFramePr>
          <p:nvPr/>
        </p:nvGraphicFramePr>
        <p:xfrm>
          <a:off x="1770529" y="34233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20750"/>
                <a:gridCol w="620750"/>
                <a:gridCol w="620750"/>
                <a:gridCol w="620750"/>
                <a:gridCol w="620750"/>
                <a:gridCol w="620750"/>
                <a:gridCol w="620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388" name="Google Shape;2388;p157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389" name="Google Shape;2389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390" name="Google Shape;239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40" y="35134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1" name="Google Shape;2391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45191" y="2412476"/>
            <a:ext cx="943984" cy="12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2" name="Google Shape;2392;p15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283001" y="1278495"/>
            <a:ext cx="4737024" cy="1270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3" name="Google Shape;2393;p157"/>
          <p:cNvSpPr txBox="1"/>
          <p:nvPr/>
        </p:nvSpPr>
        <p:spPr>
          <a:xfrm flipH="1">
            <a:off x="684925" y="1317450"/>
            <a:ext cx="42546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No. I saw a sequence with a </a:t>
            </a: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common ratio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a first term of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had all negative terms.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4" name="Google Shape;2394;p157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1797190" y="2436825"/>
            <a:ext cx="6178924" cy="950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95" name="Google Shape;2395;p157"/>
          <p:cNvSpPr txBox="1"/>
          <p:nvPr/>
        </p:nvSpPr>
        <p:spPr>
          <a:xfrm flipH="1">
            <a:off x="1908869" y="2500650"/>
            <a:ext cx="5661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Nice! Let’s experiment. What if we switch them around? Make the first term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multiplier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6" name="Google Shape;2396;p157"/>
          <p:cNvSpPr txBox="1"/>
          <p:nvPr/>
        </p:nvSpPr>
        <p:spPr>
          <a:xfrm flipH="1">
            <a:off x="2419025" y="4441500"/>
            <a:ext cx="41418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do you think will happen?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7" name="Google Shape;2397;p157"/>
          <p:cNvSpPr txBox="1"/>
          <p:nvPr/>
        </p:nvSpPr>
        <p:spPr>
          <a:xfrm>
            <a:off x="5810400" y="1476475"/>
            <a:ext cx="28032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8" name="Google Shape;2398;p157"/>
          <p:cNvGrpSpPr/>
          <p:nvPr/>
        </p:nvGrpSpPr>
        <p:grpSpPr>
          <a:xfrm>
            <a:off x="2015313" y="3631825"/>
            <a:ext cx="2507085" cy="747300"/>
            <a:chOff x="547350" y="3098425"/>
            <a:chExt cx="2653842" cy="747300"/>
          </a:xfrm>
        </p:grpSpPr>
        <p:grpSp>
          <p:nvGrpSpPr>
            <p:cNvPr id="2399" name="Google Shape;2399;p157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00" name="Google Shape;2400;p157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157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157"/>
              <p:cNvSpPr txBox="1"/>
              <p:nvPr/>
            </p:nvSpPr>
            <p:spPr>
              <a:xfrm>
                <a:off x="645756" y="2211025"/>
                <a:ext cx="450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3" name="Google Shape;2403;p157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04" name="Google Shape;2404;p157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05" name="Google Shape;2405;p157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157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157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08" name="Google Shape;2408;p157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2409" name="Google Shape;2409;p157"/>
          <p:cNvSpPr/>
          <p:nvPr/>
        </p:nvSpPr>
        <p:spPr>
          <a:xfrm>
            <a:off x="3632776" y="3493565"/>
            <a:ext cx="4188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10" name="Google Shape;2410;p157"/>
          <p:cNvGrpSpPr/>
          <p:nvPr/>
        </p:nvGrpSpPr>
        <p:grpSpPr>
          <a:xfrm>
            <a:off x="4559558" y="3631825"/>
            <a:ext cx="592610" cy="747300"/>
            <a:chOff x="2573892" y="1803025"/>
            <a:chExt cx="627300" cy="747300"/>
          </a:xfrm>
        </p:grpSpPr>
        <p:sp>
          <p:nvSpPr>
            <p:cNvPr id="2411" name="Google Shape;2411;p157"/>
            <p:cNvSpPr/>
            <p:nvPr/>
          </p:nvSpPr>
          <p:spPr>
            <a:xfrm rot="10800000" flipH="1">
              <a:off x="2573892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12" name="Google Shape;2412;p157"/>
            <p:cNvSpPr txBox="1"/>
            <p:nvPr/>
          </p:nvSpPr>
          <p:spPr>
            <a:xfrm>
              <a:off x="2669906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13" name="Google Shape;2413;p157"/>
          <p:cNvSpPr/>
          <p:nvPr/>
        </p:nvSpPr>
        <p:spPr>
          <a:xfrm>
            <a:off x="2916721" y="3493565"/>
            <a:ext cx="4188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157"/>
          <p:cNvSpPr/>
          <p:nvPr/>
        </p:nvSpPr>
        <p:spPr>
          <a:xfrm>
            <a:off x="2383321" y="3493565"/>
            <a:ext cx="4188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5" name="Google Shape;2415;p157"/>
          <p:cNvSpPr/>
          <p:nvPr/>
        </p:nvSpPr>
        <p:spPr>
          <a:xfrm>
            <a:off x="4156091" y="3493565"/>
            <a:ext cx="4188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6" name="Google Shape;2416;p157"/>
          <p:cNvSpPr/>
          <p:nvPr/>
        </p:nvSpPr>
        <p:spPr>
          <a:xfrm>
            <a:off x="4882232" y="3493565"/>
            <a:ext cx="418800" cy="327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20" name="Shape 2420"/>
        <p:cNvGrpSpPr/>
        <p:nvPr/>
      </p:nvGrpSpPr>
      <p:grpSpPr>
        <a:xfrm>
          <a:off x="0" y="0"/>
          <a:ext cx="0" cy="0"/>
        </a:xfrm>
      </p:grpSpPr>
      <p:graphicFrame>
        <p:nvGraphicFramePr>
          <p:cNvPr id="2421" name="Google Shape;2421;p158"/>
          <p:cNvGraphicFramePr>
            <a:graphicFrameLocks noGrp="1"/>
          </p:cNvGraphicFramePr>
          <p:nvPr/>
        </p:nvGraphicFramePr>
        <p:xfrm>
          <a:off x="1770529" y="34032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620750"/>
                <a:gridCol w="620750"/>
                <a:gridCol w="620750"/>
                <a:gridCol w="620750"/>
                <a:gridCol w="620750"/>
                <a:gridCol w="620750"/>
                <a:gridCol w="620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22" name="Google Shape;2422;p158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and Laura are generating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423" name="Google Shape;2423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pic>
        <p:nvPicPr>
          <p:cNvPr id="2424" name="Google Shape;2424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40" y="3513480"/>
            <a:ext cx="932958" cy="104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5" name="Google Shape;2425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45191" y="2412476"/>
            <a:ext cx="943984" cy="123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6" name="Google Shape;2426;p15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511602" y="1507100"/>
            <a:ext cx="4141798" cy="8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7" name="Google Shape;2427;p158"/>
          <p:cNvSpPr txBox="1"/>
          <p:nvPr/>
        </p:nvSpPr>
        <p:spPr>
          <a:xfrm flipH="1">
            <a:off x="913400" y="1546050"/>
            <a:ext cx="38376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It’s oscillating between positive and negative! That’s beautiful!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8" name="Google Shape;2428;p158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>
            <a:off x="1797190" y="2436825"/>
            <a:ext cx="6178924" cy="950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29" name="Google Shape;2429;p158"/>
          <p:cNvSpPr txBox="1"/>
          <p:nvPr/>
        </p:nvSpPr>
        <p:spPr>
          <a:xfrm flipH="1">
            <a:off x="1908869" y="2500650"/>
            <a:ext cx="5661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Nice! Let’s experiment. What if we switch them around? Make the first term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multiplier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0" name="Google Shape;2430;p158"/>
          <p:cNvSpPr txBox="1"/>
          <p:nvPr/>
        </p:nvSpPr>
        <p:spPr>
          <a:xfrm flipH="1">
            <a:off x="2419025" y="4441500"/>
            <a:ext cx="41418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do you think will happen?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1" name="Google Shape;2431;p158"/>
          <p:cNvGrpSpPr/>
          <p:nvPr/>
        </p:nvGrpSpPr>
        <p:grpSpPr>
          <a:xfrm>
            <a:off x="2015313" y="3631825"/>
            <a:ext cx="2507085" cy="747300"/>
            <a:chOff x="547350" y="3098425"/>
            <a:chExt cx="2653842" cy="747300"/>
          </a:xfrm>
        </p:grpSpPr>
        <p:grpSp>
          <p:nvGrpSpPr>
            <p:cNvPr id="2432" name="Google Shape;2432;p158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33" name="Google Shape;2433;p158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158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158"/>
              <p:cNvSpPr txBox="1"/>
              <p:nvPr/>
            </p:nvSpPr>
            <p:spPr>
              <a:xfrm>
                <a:off x="645756" y="2211025"/>
                <a:ext cx="450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36" name="Google Shape;2436;p158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37" name="Google Shape;2437;p158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38" name="Google Shape;2438;p158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158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158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41" name="Google Shape;2441;p158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0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×−1</a:t>
                </a:r>
                <a:endParaRPr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42" name="Google Shape;2442;p158"/>
          <p:cNvGrpSpPr/>
          <p:nvPr/>
        </p:nvGrpSpPr>
        <p:grpSpPr>
          <a:xfrm>
            <a:off x="4559558" y="3631825"/>
            <a:ext cx="592610" cy="747300"/>
            <a:chOff x="2573892" y="1803025"/>
            <a:chExt cx="627300" cy="747300"/>
          </a:xfrm>
        </p:grpSpPr>
        <p:sp>
          <p:nvSpPr>
            <p:cNvPr id="2443" name="Google Shape;2443;p158"/>
            <p:cNvSpPr/>
            <p:nvPr/>
          </p:nvSpPr>
          <p:spPr>
            <a:xfrm rot="10800000" flipH="1">
              <a:off x="2573892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444" name="Google Shape;2444;p158"/>
            <p:cNvSpPr txBox="1"/>
            <p:nvPr/>
          </p:nvSpPr>
          <p:spPr>
            <a:xfrm>
              <a:off x="2669906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×−1</a:t>
              </a:r>
              <a:endParaRPr sz="2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48" name="Shape 2448"/>
        <p:cNvGrpSpPr/>
        <p:nvPr/>
      </p:nvGrpSpPr>
      <p:grpSpPr>
        <a:xfrm>
          <a:off x="0" y="0"/>
          <a:ext cx="0" cy="0"/>
        </a:xfrm>
      </p:grpSpPr>
      <p:sp>
        <p:nvSpPr>
          <p:cNvPr id="2449" name="Google Shape;2449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450" name="Google Shape;2450;p159"/>
          <p:cNvSpPr txBox="1"/>
          <p:nvPr>
            <p:ph type="body" idx="1"/>
          </p:nvPr>
        </p:nvSpPr>
        <p:spPr>
          <a:xfrm>
            <a:off x="324000" y="759300"/>
            <a:ext cx="72018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Find the next four terms of this </a:t>
            </a:r>
            <a:r>
              <a:rPr lang="en-GB" sz="2000" b="1"/>
              <a:t>geometric sequence</a:t>
            </a:r>
            <a:r>
              <a:rPr lang="en-GB" sz="2000"/>
              <a:t>.</a:t>
            </a:r>
            <a:endParaRPr sz="2000"/>
          </a:p>
        </p:txBody>
      </p:sp>
      <p:graphicFrame>
        <p:nvGraphicFramePr>
          <p:cNvPr id="2451" name="Google Shape;2451;p159"/>
          <p:cNvGraphicFramePr>
            <a:graphicFrameLocks noGrp="1"/>
          </p:cNvGraphicFramePr>
          <p:nvPr/>
        </p:nvGraphicFramePr>
        <p:xfrm>
          <a:off x="1402976" y="1335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798100"/>
                <a:gridCol w="798100"/>
                <a:gridCol w="798100"/>
                <a:gridCol w="798100"/>
                <a:gridCol w="798100"/>
                <a:gridCol w="979625"/>
                <a:gridCol w="6165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−9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−81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243</a:t>
                      </a: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−729,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452" name="Google Shape;2452;p159"/>
          <p:cNvGrpSpPr/>
          <p:nvPr/>
        </p:nvGrpSpPr>
        <p:grpSpPr>
          <a:xfrm>
            <a:off x="1769920" y="1604675"/>
            <a:ext cx="3187795" cy="747300"/>
            <a:chOff x="547350" y="3098425"/>
            <a:chExt cx="2653842" cy="747300"/>
          </a:xfrm>
        </p:grpSpPr>
        <p:grpSp>
          <p:nvGrpSpPr>
            <p:cNvPr id="2453" name="Google Shape;2453;p159"/>
            <p:cNvGrpSpPr/>
            <p:nvPr/>
          </p:nvGrpSpPr>
          <p:grpSpPr>
            <a:xfrm>
              <a:off x="547350" y="3098425"/>
              <a:ext cx="1288949" cy="747300"/>
              <a:chOff x="547350" y="1803025"/>
              <a:chExt cx="1288949" cy="747300"/>
            </a:xfrm>
          </p:grpSpPr>
          <p:sp>
            <p:nvSpPr>
              <p:cNvPr id="2454" name="Google Shape;2454;p159"/>
              <p:cNvSpPr/>
              <p:nvPr/>
            </p:nvSpPr>
            <p:spPr>
              <a:xfrm rot="10800000" flipH="1">
                <a:off x="547350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/>
              </a:p>
            </p:txBody>
          </p:sp>
          <p:sp>
            <p:nvSpPr>
              <p:cNvPr id="2455" name="Google Shape;2455;p159"/>
              <p:cNvSpPr/>
              <p:nvPr/>
            </p:nvSpPr>
            <p:spPr>
              <a:xfrm rot="10800000" flipH="1">
                <a:off x="1208999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/>
              </a:p>
            </p:txBody>
          </p:sp>
          <p:sp>
            <p:nvSpPr>
              <p:cNvPr id="2456" name="Google Shape;2456;p159"/>
              <p:cNvSpPr txBox="1"/>
              <p:nvPr/>
            </p:nvSpPr>
            <p:spPr>
              <a:xfrm>
                <a:off x="645756" y="2211025"/>
                <a:ext cx="4509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×−3</a:t>
                </a:r>
                <a:endParaRPr sz="24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57" name="Google Shape;2457;p159"/>
              <p:cNvSpPr txBox="1"/>
              <p:nvPr/>
            </p:nvSpPr>
            <p:spPr>
              <a:xfrm>
                <a:off x="1306231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×−3</a:t>
                </a:r>
                <a:endParaRPr sz="24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458" name="Google Shape;2458;p159"/>
            <p:cNvGrpSpPr/>
            <p:nvPr/>
          </p:nvGrpSpPr>
          <p:grpSpPr>
            <a:xfrm>
              <a:off x="1896486" y="3098425"/>
              <a:ext cx="1304707" cy="747300"/>
              <a:chOff x="1896486" y="1803025"/>
              <a:chExt cx="1304707" cy="747300"/>
            </a:xfrm>
          </p:grpSpPr>
          <p:sp>
            <p:nvSpPr>
              <p:cNvPr id="2459" name="Google Shape;2459;p159"/>
              <p:cNvSpPr/>
              <p:nvPr/>
            </p:nvSpPr>
            <p:spPr>
              <a:xfrm rot="10800000" flipH="1">
                <a:off x="1896486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/>
              </a:p>
            </p:txBody>
          </p:sp>
          <p:sp>
            <p:nvSpPr>
              <p:cNvPr id="2460" name="Google Shape;2460;p159"/>
              <p:cNvSpPr/>
              <p:nvPr/>
            </p:nvSpPr>
            <p:spPr>
              <a:xfrm rot="10800000" flipH="1">
                <a:off x="2573892" y="1803025"/>
                <a:ext cx="627300" cy="437700"/>
              </a:xfrm>
              <a:prstGeom prst="arc">
                <a:avLst>
                  <a:gd name="adj1" fmla="val 10729459"/>
                  <a:gd name="adj2" fmla="val 0"/>
                </a:avLst>
              </a:prstGeom>
              <a:noFill/>
              <a:ln w="2857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sz="1800"/>
              </a:p>
            </p:txBody>
          </p:sp>
          <p:sp>
            <p:nvSpPr>
              <p:cNvPr id="2461" name="Google Shape;2461;p159"/>
              <p:cNvSpPr txBox="1"/>
              <p:nvPr/>
            </p:nvSpPr>
            <p:spPr>
              <a:xfrm>
                <a:off x="1987459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×−3</a:t>
                </a:r>
                <a:endParaRPr sz="24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62" name="Google Shape;2462;p159"/>
              <p:cNvSpPr txBox="1"/>
              <p:nvPr/>
            </p:nvSpPr>
            <p:spPr>
              <a:xfrm>
                <a:off x="2669906" y="2211025"/>
                <a:ext cx="510600" cy="33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240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×−3</a:t>
                </a:r>
                <a:endParaRPr sz="24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63" name="Google Shape;2463;p159"/>
          <p:cNvGrpSpPr/>
          <p:nvPr/>
        </p:nvGrpSpPr>
        <p:grpSpPr>
          <a:xfrm>
            <a:off x="5004974" y="1604675"/>
            <a:ext cx="753513" cy="747300"/>
            <a:chOff x="2573892" y="1803025"/>
            <a:chExt cx="627300" cy="747300"/>
          </a:xfrm>
        </p:grpSpPr>
        <p:sp>
          <p:nvSpPr>
            <p:cNvPr id="2464" name="Google Shape;2464;p159"/>
            <p:cNvSpPr/>
            <p:nvPr/>
          </p:nvSpPr>
          <p:spPr>
            <a:xfrm rot="10800000" flipH="1">
              <a:off x="2573892" y="1803025"/>
              <a:ext cx="6273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/>
            </a:p>
          </p:txBody>
        </p:sp>
        <p:sp>
          <p:nvSpPr>
            <p:cNvPr id="2465" name="Google Shape;2465;p159"/>
            <p:cNvSpPr txBox="1"/>
            <p:nvPr/>
          </p:nvSpPr>
          <p:spPr>
            <a:xfrm>
              <a:off x="2669906" y="2211025"/>
              <a:ext cx="5106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400">
                  <a:solidFill>
                    <a:schemeClr val="accent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×−3</a:t>
              </a:r>
              <a:endParaRPr sz="24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66" name="Google Shape;2466;p159"/>
          <p:cNvSpPr/>
          <p:nvPr/>
        </p:nvSpPr>
        <p:spPr>
          <a:xfrm>
            <a:off x="2911051" y="1391400"/>
            <a:ext cx="590400" cy="3516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7" name="Google Shape;2467;p159"/>
          <p:cNvSpPr/>
          <p:nvPr/>
        </p:nvSpPr>
        <p:spPr>
          <a:xfrm>
            <a:off x="3805281" y="1391400"/>
            <a:ext cx="590400" cy="3516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8" name="Google Shape;2468;p159"/>
          <p:cNvSpPr/>
          <p:nvPr/>
        </p:nvSpPr>
        <p:spPr>
          <a:xfrm>
            <a:off x="4587451" y="1391400"/>
            <a:ext cx="590400" cy="3516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9" name="Google Shape;2469;p159"/>
          <p:cNvSpPr/>
          <p:nvPr/>
        </p:nvSpPr>
        <p:spPr>
          <a:xfrm>
            <a:off x="5472728" y="1391390"/>
            <a:ext cx="685500" cy="351600"/>
          </a:xfrm>
          <a:prstGeom prst="roundRect">
            <a:avLst>
              <a:gd name="adj" fmla="val 16667"/>
            </a:avLst>
          </a:prstGeom>
          <a:solidFill>
            <a:srgbClr val="EAF2F2"/>
          </a:solidFill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0" name="Google Shape;2470;p159"/>
          <p:cNvSpPr txBox="1"/>
          <p:nvPr>
            <p:ph type="body" idx="1"/>
          </p:nvPr>
        </p:nvSpPr>
        <p:spPr>
          <a:xfrm>
            <a:off x="324000" y="2644125"/>
            <a:ext cx="8496000" cy="41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the </a:t>
            </a:r>
            <a:r>
              <a:rPr lang="en-GB" sz="2000" b="1"/>
              <a:t>common ratio</a:t>
            </a:r>
            <a:r>
              <a:rPr lang="en-GB" sz="2000"/>
              <a:t> is negative we get oscillating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74" name="Shape 2474"/>
        <p:cNvGrpSpPr/>
        <p:nvPr/>
      </p:nvGrpSpPr>
      <p:grpSpPr>
        <a:xfrm>
          <a:off x="0" y="0"/>
          <a:ext cx="0" cy="0"/>
        </a:xfrm>
      </p:grpSpPr>
      <p:sp>
        <p:nvSpPr>
          <p:cNvPr id="2475" name="Google Shape;2475;p160"/>
          <p:cNvSpPr txBox="1"/>
          <p:nvPr>
            <p:ph type="body" idx="1"/>
          </p:nvPr>
        </p:nvSpPr>
        <p:spPr>
          <a:xfrm>
            <a:off x="324000" y="759300"/>
            <a:ext cx="7786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Generate the first five terms of these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476" name="Google Shape;2476;p16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477" name="Google Shape;2477;p160"/>
          <p:cNvSpPr txBox="1"/>
          <p:nvPr>
            <p:ph type="body" idx="1"/>
          </p:nvPr>
        </p:nvSpPr>
        <p:spPr>
          <a:xfrm>
            <a:off x="324000" y="1099959"/>
            <a:ext cx="475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, </a:t>
            </a:r>
            <a:r>
              <a:rPr lang="en-GB" sz="2000" b="1"/>
              <a:t>common ratio</a:t>
            </a:r>
            <a:r>
              <a:rPr lang="en-GB" sz="2000"/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8" name="Google Shape;2478;p160"/>
          <p:cNvSpPr txBox="1"/>
          <p:nvPr>
            <p:ph type="body" idx="1"/>
          </p:nvPr>
        </p:nvSpPr>
        <p:spPr>
          <a:xfrm>
            <a:off x="324000" y="1584693"/>
            <a:ext cx="475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/>
              <a:t>, </a:t>
            </a:r>
            <a:r>
              <a:rPr lang="en-GB" sz="2000" b="1"/>
              <a:t>common ratio</a:t>
            </a:r>
            <a:r>
              <a:rPr lang="en-GB" sz="2000"/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9" name="Google Shape;2479;p160"/>
          <p:cNvSpPr txBox="1"/>
          <p:nvPr>
            <p:ph type="body" idx="1"/>
          </p:nvPr>
        </p:nvSpPr>
        <p:spPr>
          <a:xfrm>
            <a:off x="324000" y="2069428"/>
            <a:ext cx="475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,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: 3 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0" name="Google Shape;2480;p160"/>
          <p:cNvSpPr txBox="1"/>
          <p:nvPr>
            <p:ph type="body" idx="1"/>
          </p:nvPr>
        </p:nvSpPr>
        <p:spPr>
          <a:xfrm>
            <a:off x="324000" y="3038900"/>
            <a:ext cx="639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: 5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1" name="Google Shape;2481;p160"/>
          <p:cNvSpPr txBox="1"/>
          <p:nvPr>
            <p:ph type="body" idx="1"/>
          </p:nvPr>
        </p:nvSpPr>
        <p:spPr>
          <a:xfrm>
            <a:off x="324000" y="3523625"/>
            <a:ext cx="42252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r>
              <a:rPr lang="en-GB" sz="2000"/>
              <a:t>, </a:t>
            </a:r>
            <a:r>
              <a:rPr lang="en-GB" sz="2000" b="1"/>
              <a:t>common ratio </a:t>
            </a:r>
            <a:r>
              <a:rPr lang="en-GB" sz="2000"/>
              <a:t>of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82" name="Google Shape;2482;p160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rcRect l="43090" r="-5"/>
          <a:stretch>
            <a:fillRect/>
          </a:stretch>
        </p:blipFill>
        <p:spPr>
          <a:xfrm>
            <a:off x="4242048" y="3481188"/>
            <a:ext cx="155901" cy="4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3" name="Google Shape;2483;p160"/>
          <p:cNvSpPr txBox="1"/>
          <p:nvPr>
            <p:ph type="body" idx="1"/>
          </p:nvPr>
        </p:nvSpPr>
        <p:spPr>
          <a:xfrm>
            <a:off x="324000" y="2554150"/>
            <a:ext cx="6145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4" name="Google Shape;2484;p160"/>
          <p:cNvSpPr txBox="1"/>
          <p:nvPr>
            <p:ph type="body" idx="1"/>
          </p:nvPr>
        </p:nvSpPr>
        <p:spPr>
          <a:xfrm>
            <a:off x="324000" y="4008375"/>
            <a:ext cx="5754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1875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: 1 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5" name="Google Shape;2485;p160"/>
          <p:cNvSpPr txBox="1"/>
          <p:nvPr>
            <p:ph type="body" idx="1"/>
          </p:nvPr>
        </p:nvSpPr>
        <p:spPr>
          <a:xfrm>
            <a:off x="324000" y="4493100"/>
            <a:ext cx="5932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: 1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489" name="Shape 2489"/>
        <p:cNvGrpSpPr/>
        <p:nvPr/>
      </p:nvGrpSpPr>
      <p:grpSpPr>
        <a:xfrm>
          <a:off x="0" y="0"/>
          <a:ext cx="0" cy="0"/>
        </a:xfrm>
      </p:grpSpPr>
      <p:sp>
        <p:nvSpPr>
          <p:cNvPr id="2490" name="Google Shape;2490;p161"/>
          <p:cNvSpPr txBox="1"/>
          <p:nvPr>
            <p:ph type="body" idx="1"/>
          </p:nvPr>
        </p:nvSpPr>
        <p:spPr>
          <a:xfrm>
            <a:off x="324000" y="759300"/>
            <a:ext cx="7786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Alex is generating these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491" name="Google Shape;2491;p16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492" name="Google Shape;2492;p161"/>
          <p:cNvSpPr txBox="1"/>
          <p:nvPr>
            <p:ph type="body" idx="1"/>
          </p:nvPr>
        </p:nvSpPr>
        <p:spPr>
          <a:xfrm>
            <a:off x="324000" y="1927116"/>
            <a:ext cx="3821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000"/>
              <a:t>, </a:t>
            </a:r>
            <a:r>
              <a:rPr lang="en-GB" sz="2000" b="1"/>
              <a:t>common ratio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3" name="Google Shape;2493;p161"/>
          <p:cNvSpPr txBox="1"/>
          <p:nvPr>
            <p:ph type="body" idx="1"/>
          </p:nvPr>
        </p:nvSpPr>
        <p:spPr>
          <a:xfrm>
            <a:off x="324000" y="1231225"/>
            <a:ext cx="3821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000"/>
              <a:t>, </a:t>
            </a:r>
            <a:r>
              <a:rPr lang="en-GB" sz="2000" b="1"/>
              <a:t>common ratio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4" name="Google Shape;2494;p161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140321"/>
            <a:ext cx="35124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5" name="Google Shape;2495;p161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7234" y="1846291"/>
            <a:ext cx="35124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6" name="Google Shape;2496;p161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9667" y="2547779"/>
            <a:ext cx="351246" cy="503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97" name="Google Shape;2497;p161"/>
          <p:cNvSpPr txBox="1"/>
          <p:nvPr>
            <p:ph type="body" idx="1"/>
          </p:nvPr>
        </p:nvSpPr>
        <p:spPr>
          <a:xfrm>
            <a:off x="324000" y="2612922"/>
            <a:ext cx="3821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000"/>
              <a:t>, </a:t>
            </a:r>
            <a:r>
              <a:rPr lang="en-GB" sz="2000" b="1"/>
              <a:t>common ratio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8" name="Google Shape;2498;p161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187314" y="3239529"/>
            <a:ext cx="5235676" cy="8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9" name="Google Shape;2499;p161"/>
          <p:cNvSpPr txBox="1"/>
          <p:nvPr/>
        </p:nvSpPr>
        <p:spPr>
          <a:xfrm flipH="1">
            <a:off x="1599200" y="3298650"/>
            <a:ext cx="4596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these multipliers are fractions, all of these will be decreasing sequences.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00" name="Google Shape;2500;p1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24000" y="3624650"/>
            <a:ext cx="1031676" cy="11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1" name="Google Shape;2501;p161"/>
          <p:cNvSpPr txBox="1"/>
          <p:nvPr>
            <p:ph type="body" idx="1"/>
          </p:nvPr>
        </p:nvSpPr>
        <p:spPr>
          <a:xfrm>
            <a:off x="2885288" y="4264500"/>
            <a:ext cx="3488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Show Alex that he is wrong.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05" name="Shape 2505"/>
        <p:cNvGrpSpPr/>
        <p:nvPr/>
      </p:nvGrpSpPr>
      <p:grpSpPr>
        <a:xfrm>
          <a:off x="0" y="0"/>
          <a:ext cx="0" cy="0"/>
        </a:xfrm>
      </p:grpSpPr>
      <p:sp>
        <p:nvSpPr>
          <p:cNvPr id="2506" name="Google Shape;2506;p162"/>
          <p:cNvSpPr txBox="1"/>
          <p:nvPr>
            <p:ph type="body" idx="1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1) Generate the first five terms of these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507" name="Google Shape;2507;p16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508" name="Google Shape;2508;p162"/>
          <p:cNvSpPr txBox="1"/>
          <p:nvPr>
            <p:ph type="body" idx="1"/>
          </p:nvPr>
        </p:nvSpPr>
        <p:spPr>
          <a:xfrm>
            <a:off x="5754371" y="1099959"/>
            <a:ext cx="2148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1, 3, 9, 27, 81,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9" name="Google Shape;2509;p162"/>
          <p:cNvSpPr txBox="1"/>
          <p:nvPr>
            <p:ph type="body" idx="1"/>
          </p:nvPr>
        </p:nvSpPr>
        <p:spPr>
          <a:xfrm>
            <a:off x="5774541" y="2068521"/>
            <a:ext cx="2552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5, 15, 45, 135, 405,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0" name="Google Shape;2510;p162"/>
          <p:cNvSpPr txBox="1"/>
          <p:nvPr>
            <p:ph type="body" idx="1"/>
          </p:nvPr>
        </p:nvSpPr>
        <p:spPr>
          <a:xfrm>
            <a:off x="5744285" y="1584240"/>
            <a:ext cx="2991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10, 30, 90, 270, 810,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1" name="Google Shape;2511;p162"/>
          <p:cNvSpPr txBox="1"/>
          <p:nvPr>
            <p:ph type="body" idx="1"/>
          </p:nvPr>
        </p:nvSpPr>
        <p:spPr>
          <a:xfrm>
            <a:off x="5774541" y="3037082"/>
            <a:ext cx="3398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64, 160, 400, 1000, 2500,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2" name="Google Shape;2512;p162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rcRect l="49202"/>
          <a:stretch>
            <a:fillRect/>
          </a:stretch>
        </p:blipFill>
        <p:spPr>
          <a:xfrm>
            <a:off x="4250422" y="3481188"/>
            <a:ext cx="139150" cy="4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3" name="Google Shape;2513;p162"/>
          <p:cNvSpPr txBox="1"/>
          <p:nvPr>
            <p:ph type="body" idx="1"/>
          </p:nvPr>
        </p:nvSpPr>
        <p:spPr>
          <a:xfrm>
            <a:off x="5774541" y="3521363"/>
            <a:ext cx="2148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81, 27, 9, 3, 1,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4" name="Google Shape;2514;p162"/>
          <p:cNvSpPr txBox="1"/>
          <p:nvPr>
            <p:ph type="body" idx="1"/>
          </p:nvPr>
        </p:nvSpPr>
        <p:spPr>
          <a:xfrm>
            <a:off x="5774541" y="2552801"/>
            <a:ext cx="2933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3, 15, 75, 375, 1875,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5" name="Google Shape;2515;p162"/>
          <p:cNvSpPr txBox="1"/>
          <p:nvPr>
            <p:ph type="body" idx="1"/>
          </p:nvPr>
        </p:nvSpPr>
        <p:spPr>
          <a:xfrm>
            <a:off x="5744285" y="4005644"/>
            <a:ext cx="2933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1875, 375, 75, 15, 3,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6" name="Google Shape;2516;p162" descr="&lt;math xmlns=&quot;http://www.w3.org/1998/Math/MathML&quot; display=&quot;block&quot; data-is-equatio=&quot;1&quot; data-latex=&quot;\frac{1}{3},\ \frac{1}{9},\ \frac{1}{27},\ ...&quot;&gt;&lt;mfrac&gt;&lt;mn&gt;1&lt;/mn&gt;&lt;mn&gt;3&lt;/mn&gt;&lt;/mfrac&gt;&lt;mo&gt;,&lt;/mo&gt;&lt;mtext&gt;&lt;/mtext&gt;&lt;mfrac&gt;&lt;mn&gt;1&lt;/mn&gt;&lt;mn&gt;9&lt;/mn&gt;&lt;/mfrac&gt;&lt;mo&gt;,&lt;/mo&gt;&lt;mtext&gt;&lt;/mtext&gt;&lt;mfrac&gt;&lt;mn&gt;1&lt;/mn&gt;&lt;mn&gt;27&lt;/mn&gt;&lt;/mfrac&gt;&lt;mo&gt;,&lt;/mo&gt;&lt;mtext&gt;&lt;/mtext&gt;&lt;mo&gt;.&lt;/mo&gt;&lt;mo&gt;.&lt;/mo&gt;&lt;mo&gt;.&lt;/mo&gt;&lt;/math&gt;" title="one third comma one ninth comma 1 over 27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149" y="4392800"/>
            <a:ext cx="1213111" cy="4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7" name="Google Shape;2517;p162"/>
          <p:cNvSpPr txBox="1"/>
          <p:nvPr>
            <p:ph type="body" idx="1"/>
          </p:nvPr>
        </p:nvSpPr>
        <p:spPr>
          <a:xfrm>
            <a:off x="5764457" y="4416891"/>
            <a:ext cx="548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3, 1,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8" name="Google Shape;2518;p162"/>
          <p:cNvSpPr txBox="1"/>
          <p:nvPr>
            <p:ph type="body" idx="1"/>
          </p:nvPr>
        </p:nvSpPr>
        <p:spPr>
          <a:xfrm>
            <a:off x="324000" y="1099959"/>
            <a:ext cx="475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/>
              <a:t>, </a:t>
            </a:r>
            <a:r>
              <a:rPr lang="en-GB" sz="2000" b="1"/>
              <a:t>common ratio</a:t>
            </a:r>
            <a:r>
              <a:rPr lang="en-GB" sz="2000"/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9" name="Google Shape;2519;p162"/>
          <p:cNvSpPr txBox="1"/>
          <p:nvPr>
            <p:ph type="body" idx="1"/>
          </p:nvPr>
        </p:nvSpPr>
        <p:spPr>
          <a:xfrm>
            <a:off x="324000" y="1584693"/>
            <a:ext cx="475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/>
              <a:t>, </a:t>
            </a:r>
            <a:r>
              <a:rPr lang="en-GB" sz="2000" b="1"/>
              <a:t>common ratio</a:t>
            </a:r>
            <a:r>
              <a:rPr lang="en-GB" sz="2000"/>
              <a:t>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0" name="Google Shape;2520;p162"/>
          <p:cNvSpPr txBox="1"/>
          <p:nvPr>
            <p:ph type="body" idx="1"/>
          </p:nvPr>
        </p:nvSpPr>
        <p:spPr>
          <a:xfrm>
            <a:off x="324000" y="2069428"/>
            <a:ext cx="4750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000"/>
              <a:t>,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: 3 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1" name="Google Shape;2521;p162"/>
          <p:cNvSpPr txBox="1"/>
          <p:nvPr>
            <p:ph type="body" idx="1"/>
          </p:nvPr>
        </p:nvSpPr>
        <p:spPr>
          <a:xfrm>
            <a:off x="324000" y="3038900"/>
            <a:ext cx="6399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64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: 5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2" name="Google Shape;2522;p162"/>
          <p:cNvSpPr txBox="1"/>
          <p:nvPr>
            <p:ph type="body" idx="1"/>
          </p:nvPr>
        </p:nvSpPr>
        <p:spPr>
          <a:xfrm>
            <a:off x="324000" y="3523625"/>
            <a:ext cx="41067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81</a:t>
            </a:r>
            <a:r>
              <a:rPr lang="en-GB" sz="2000"/>
              <a:t>, </a:t>
            </a:r>
            <a:r>
              <a:rPr lang="en-GB" sz="2000" b="1"/>
              <a:t>common ratio</a:t>
            </a:r>
            <a:r>
              <a:rPr lang="en-GB" sz="2000"/>
              <a:t> of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3" name="Google Shape;2523;p162"/>
          <p:cNvSpPr txBox="1"/>
          <p:nvPr>
            <p:ph type="body" idx="1"/>
          </p:nvPr>
        </p:nvSpPr>
        <p:spPr>
          <a:xfrm>
            <a:off x="324000" y="2554150"/>
            <a:ext cx="6145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 : 5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4" name="Google Shape;2524;p162"/>
          <p:cNvSpPr txBox="1"/>
          <p:nvPr>
            <p:ph type="body" idx="1"/>
          </p:nvPr>
        </p:nvSpPr>
        <p:spPr>
          <a:xfrm>
            <a:off x="324000" y="4008375"/>
            <a:ext cx="5754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g)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1875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: 1 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5" name="Google Shape;2525;p162"/>
          <p:cNvSpPr txBox="1"/>
          <p:nvPr>
            <p:ph type="body" idx="1"/>
          </p:nvPr>
        </p:nvSpPr>
        <p:spPr>
          <a:xfrm>
            <a:off x="324000" y="4493100"/>
            <a:ext cx="59328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/>
              <a:t>, a ratio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 : 1</a:t>
            </a:r>
            <a:r>
              <a:rPr lang="en-GB" sz="2000"/>
              <a:t> between terms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29" name="Shape 2529"/>
        <p:cNvGrpSpPr/>
        <p:nvPr/>
      </p:nvGrpSpPr>
      <p:grpSpPr>
        <a:xfrm>
          <a:off x="0" y="0"/>
          <a:ext cx="0" cy="0"/>
        </a:xfrm>
      </p:grpSpPr>
      <p:sp>
        <p:nvSpPr>
          <p:cNvPr id="2530" name="Google Shape;2530;p163"/>
          <p:cNvSpPr txBox="1"/>
          <p:nvPr>
            <p:ph type="body" idx="1"/>
          </p:nvPr>
        </p:nvSpPr>
        <p:spPr>
          <a:xfrm>
            <a:off x="324000" y="759300"/>
            <a:ext cx="6314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Alex is generating these </a:t>
            </a:r>
            <a:r>
              <a:rPr lang="en-GB" sz="2000" b="1"/>
              <a:t>geometric sequences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2531" name="Google Shape;2531;p16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Generating geometric sequences</a:t>
            </a:r>
            <a:endParaRPr/>
          </a:p>
        </p:txBody>
      </p:sp>
      <p:sp>
        <p:nvSpPr>
          <p:cNvPr id="2532" name="Google Shape;2532;p163"/>
          <p:cNvSpPr txBox="1"/>
          <p:nvPr>
            <p:ph type="body" idx="1"/>
          </p:nvPr>
        </p:nvSpPr>
        <p:spPr>
          <a:xfrm>
            <a:off x="324000" y="1927116"/>
            <a:ext cx="3764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000"/>
              <a:t>, </a:t>
            </a:r>
            <a:r>
              <a:rPr lang="en-GB" sz="2000" b="1"/>
              <a:t>common ratio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3" name="Google Shape;2533;p163"/>
          <p:cNvSpPr txBox="1"/>
          <p:nvPr>
            <p:ph type="body" idx="1"/>
          </p:nvPr>
        </p:nvSpPr>
        <p:spPr>
          <a:xfrm>
            <a:off x="324000" y="1231225"/>
            <a:ext cx="3764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000"/>
              <a:t>, </a:t>
            </a:r>
            <a:r>
              <a:rPr lang="en-GB" sz="2000" b="1"/>
              <a:t>common ratio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4" name="Google Shape;2534;p163" descr="&lt;math xmlns=&quot;http://www.w3.org/1998/Math/MathML&quot; display=&quot;block&quot; data-is-equatio=&quot;1&quot; data-latex=&quot;\times\frac{1}{3}&quot;&gt;&lt;mo&gt;×&lt;/mo&gt;&lt;mfrac&gt;&lt;mn&gt;1&lt;/mn&gt;&lt;mn&gt;3&lt;/mn&gt;&lt;/mfrac&gt;&lt;/math&gt;" title="times 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640" y="1140321"/>
            <a:ext cx="35124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5" name="Google Shape;2535;p163" descr="&lt;math xmlns=&quot;http://www.w3.org/1998/Math/MathML&quot; display=&quot;block&quot; data-is-equatio=&quot;1&quot; data-latex=&quot;\times\frac{2}{3}&quot;&gt;&lt;mo&gt;×&lt;/mo&gt;&lt;mfrac&gt;&lt;mn&gt;2&lt;/mn&gt;&lt;mn&gt;3&lt;/mn&gt;&lt;/mfrac&gt;&lt;/math&gt;" title="time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0074" y="1846291"/>
            <a:ext cx="351246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6" name="Google Shape;2536;p163" descr="&lt;math xmlns=&quot;http://www.w3.org/1998/Math/MathML&quot; display=&quot;block&quot; data-is-equatio=&quot;1&quot; data-latex=&quot;\times\frac{3}{2}&quot;&gt;&lt;mo&gt;×&lt;/mo&gt;&lt;mfrac&gt;&lt;mn&gt;3&lt;/mn&gt;&lt;mn&gt;2&lt;/mn&gt;&lt;/mfrac&gt;&lt;/math&gt;" title="times three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2508" y="2547779"/>
            <a:ext cx="351246" cy="503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37" name="Google Shape;2537;p163"/>
          <p:cNvSpPr txBox="1"/>
          <p:nvPr>
            <p:ph type="body" idx="1"/>
          </p:nvPr>
        </p:nvSpPr>
        <p:spPr>
          <a:xfrm>
            <a:off x="324000" y="2612922"/>
            <a:ext cx="37641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c)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baseline="300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2000"/>
              <a:t> term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</a:t>
            </a:r>
            <a:r>
              <a:rPr lang="en-GB" sz="2000"/>
              <a:t>, </a:t>
            </a:r>
            <a:r>
              <a:rPr lang="en-GB" sz="2000" b="1"/>
              <a:t>common ratio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8" name="Google Shape;2538;p163"/>
          <p:cNvPicPr preferRelativeResize="0"/>
          <p:nvPr/>
        </p:nvPicPr>
        <p:blipFill>
          <a:blip r:embed="rId6">
            <a:alphaModFix/>
          </a:blip>
          <a:srcRect r="57905" b="43690"/>
          <a:stretch>
            <a:fillRect/>
          </a:stretch>
        </p:blipFill>
        <p:spPr>
          <a:xfrm flipH="1">
            <a:off x="1167155" y="3239525"/>
            <a:ext cx="5008174" cy="8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9" name="Google Shape;2539;p163"/>
          <p:cNvSpPr txBox="1"/>
          <p:nvPr/>
        </p:nvSpPr>
        <p:spPr>
          <a:xfrm flipH="1">
            <a:off x="1523000" y="3298650"/>
            <a:ext cx="4596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these multipliers are fractions, all of these will be decreasing sequences.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0" name="Google Shape;2540;p1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24000" y="3624650"/>
            <a:ext cx="1031676" cy="11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1" name="Google Shape;2541;p163"/>
          <p:cNvSpPr txBox="1"/>
          <p:nvPr>
            <p:ph type="body" idx="1"/>
          </p:nvPr>
        </p:nvSpPr>
        <p:spPr>
          <a:xfrm>
            <a:off x="2885288" y="4264500"/>
            <a:ext cx="3488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Show Alex that he is wrong.</a:t>
            </a:r>
            <a:endParaRPr sz="2000"/>
          </a:p>
        </p:txBody>
      </p:sp>
      <p:sp>
        <p:nvSpPr>
          <p:cNvPr id="2542" name="Google Shape;2542;p163"/>
          <p:cNvSpPr txBox="1"/>
          <p:nvPr>
            <p:ph type="body" idx="1"/>
          </p:nvPr>
        </p:nvSpPr>
        <p:spPr>
          <a:xfrm>
            <a:off x="5774541" y="1235363"/>
            <a:ext cx="2148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216, 72, 24, 8,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3" name="Google Shape;2543;p163"/>
          <p:cNvSpPr txBox="1"/>
          <p:nvPr>
            <p:ph type="body" idx="1"/>
          </p:nvPr>
        </p:nvSpPr>
        <p:spPr>
          <a:xfrm>
            <a:off x="5774551" y="1921175"/>
            <a:ext cx="2487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216, 144, 96, 64,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4" name="Google Shape;2544;p163"/>
          <p:cNvSpPr txBox="1"/>
          <p:nvPr>
            <p:ph type="body" idx="4294967295"/>
          </p:nvPr>
        </p:nvSpPr>
        <p:spPr>
          <a:xfrm>
            <a:off x="6349400" y="3081150"/>
            <a:ext cx="2318100" cy="111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Multiplier is greater than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therefore the sequence increases.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5" name="Google Shape;2545;p163"/>
          <p:cNvSpPr txBox="1"/>
          <p:nvPr>
            <p:ph type="body" idx="1"/>
          </p:nvPr>
        </p:nvSpPr>
        <p:spPr>
          <a:xfrm>
            <a:off x="5774550" y="2606975"/>
            <a:ext cx="2790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216, 324, 486, 729, 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49" name="Shape 2549"/>
        <p:cNvGrpSpPr/>
        <p:nvPr/>
      </p:nvGrpSpPr>
      <p:grpSpPr>
        <a:xfrm>
          <a:off x="0" y="0"/>
          <a:ext cx="0" cy="0"/>
        </a:xfrm>
      </p:grpSpPr>
      <p:sp>
        <p:nvSpPr>
          <p:cNvPr id="2550" name="Google Shape;2550;p164"/>
          <p:cNvSpPr txBox="1"/>
          <p:nvPr>
            <p:ph type="body" idx="1"/>
          </p:nvPr>
        </p:nvSpPr>
        <p:spPr>
          <a:xfrm>
            <a:off x="324000" y="1080000"/>
            <a:ext cx="8563200" cy="149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/>
              <a:t>Geometric sequences </a:t>
            </a:r>
            <a:r>
              <a:rPr lang="en-GB"/>
              <a:t>have the key feature of a common multiplicative relationship from term-to-term.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This multiplicative relationship is also called a </a:t>
            </a:r>
            <a:r>
              <a:rPr lang="en-GB" b="1"/>
              <a:t>common ratio</a:t>
            </a:r>
            <a:r>
              <a:rPr lang="en-GB"/>
              <a:t>.</a:t>
            </a:r>
            <a:endParaRPr/>
          </a:p>
        </p:txBody>
      </p:sp>
      <p:sp>
        <p:nvSpPr>
          <p:cNvPr id="2551" name="Google Shape;2551;p164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Features of geometric sequences</a:t>
            </a:r>
            <a:endParaRPr/>
          </a:p>
        </p:txBody>
      </p:sp>
      <p:sp>
        <p:nvSpPr>
          <p:cNvPr id="2552" name="Google Shape;2552;p164"/>
          <p:cNvSpPr txBox="1"/>
          <p:nvPr>
            <p:ph type="body" idx="1"/>
          </p:nvPr>
        </p:nvSpPr>
        <p:spPr>
          <a:xfrm>
            <a:off x="324000" y="2604000"/>
            <a:ext cx="1360800" cy="4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Example,</a:t>
            </a:r>
            <a:endParaRPr/>
          </a:p>
        </p:txBody>
      </p:sp>
      <p:sp>
        <p:nvSpPr>
          <p:cNvPr id="2553" name="Google Shape;2553;p164"/>
          <p:cNvSpPr txBox="1"/>
          <p:nvPr>
            <p:ph type="body" idx="1"/>
          </p:nvPr>
        </p:nvSpPr>
        <p:spPr>
          <a:xfrm>
            <a:off x="324000" y="3747000"/>
            <a:ext cx="8563200" cy="4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common multiplier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×10</a:t>
            </a:r>
            <a:r>
              <a:rPr lang="en-GB"/>
              <a:t> we call a </a:t>
            </a:r>
            <a:r>
              <a:rPr lang="en-GB" b="1"/>
              <a:t>common ratio </a:t>
            </a:r>
            <a:r>
              <a:rPr lang="en-GB"/>
              <a:t>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endParaRPr/>
          </a:p>
        </p:txBody>
      </p:sp>
      <p:graphicFrame>
        <p:nvGraphicFramePr>
          <p:cNvPr id="2554" name="Google Shape;2554;p164"/>
          <p:cNvGraphicFramePr>
            <a:graphicFrameLocks noGrp="1"/>
          </p:cNvGraphicFramePr>
          <p:nvPr/>
        </p:nvGraphicFramePr>
        <p:xfrm>
          <a:off x="1680882" y="25190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{80F1DE73-5561-488D-9583-F09E6C00BDB8}</a:tableStyleId>
              </a:tblPr>
              <a:tblGrid>
                <a:gridCol w="956325"/>
                <a:gridCol w="956325"/>
                <a:gridCol w="956325"/>
                <a:gridCol w="956325"/>
                <a:gridCol w="1349650"/>
                <a:gridCol w="603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3000,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30 000,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…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555" name="Google Shape;2555;p164"/>
          <p:cNvGrpSpPr/>
          <p:nvPr/>
        </p:nvGrpSpPr>
        <p:grpSpPr>
          <a:xfrm>
            <a:off x="2118472" y="2737600"/>
            <a:ext cx="3783578" cy="437700"/>
            <a:chOff x="459975" y="1701066"/>
            <a:chExt cx="2149760" cy="437700"/>
          </a:xfrm>
        </p:grpSpPr>
        <p:sp>
          <p:nvSpPr>
            <p:cNvPr id="2556" name="Google Shape;2556;p164"/>
            <p:cNvSpPr/>
            <p:nvPr/>
          </p:nvSpPr>
          <p:spPr>
            <a:xfrm rot="10800000" flipH="1">
              <a:off x="45997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557" name="Google Shape;2557;p164"/>
            <p:cNvSpPr/>
            <p:nvPr/>
          </p:nvSpPr>
          <p:spPr>
            <a:xfrm rot="10800000" flipH="1">
              <a:off x="995931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558" name="Google Shape;2558;p164"/>
            <p:cNvSpPr/>
            <p:nvPr/>
          </p:nvSpPr>
          <p:spPr>
            <a:xfrm rot="10800000" flipH="1">
              <a:off x="155281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559" name="Google Shape;2559;p164"/>
            <p:cNvSpPr/>
            <p:nvPr/>
          </p:nvSpPr>
          <p:spPr>
            <a:xfrm rot="10800000" flipH="1">
              <a:off x="2101535" y="1701066"/>
              <a:ext cx="508200" cy="437700"/>
            </a:xfrm>
            <a:prstGeom prst="arc">
              <a:avLst>
                <a:gd name="adj1" fmla="val 10729459"/>
                <a:gd name="adj2" fmla="val 0"/>
              </a:avLst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560" name="Google Shape;2560;p164"/>
          <p:cNvGrpSpPr/>
          <p:nvPr/>
        </p:nvGrpSpPr>
        <p:grpSpPr>
          <a:xfrm>
            <a:off x="2258758" y="3145600"/>
            <a:ext cx="3613776" cy="339300"/>
            <a:chOff x="533190" y="4339025"/>
            <a:chExt cx="2145948" cy="339300"/>
          </a:xfrm>
        </p:grpSpPr>
        <p:sp>
          <p:nvSpPr>
            <p:cNvPr id="2561" name="Google Shape;2561;p164"/>
            <p:cNvSpPr txBox="1"/>
            <p:nvPr/>
          </p:nvSpPr>
          <p:spPr>
            <a:xfrm>
              <a:off x="533190" y="4339025"/>
              <a:ext cx="3060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2" name="Google Shape;2562;p164"/>
            <p:cNvSpPr txBox="1"/>
            <p:nvPr/>
          </p:nvSpPr>
          <p:spPr>
            <a:xfrm>
              <a:off x="1092355" y="4339025"/>
              <a:ext cx="4323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3" name="Google Shape;2563;p164"/>
            <p:cNvSpPr txBox="1"/>
            <p:nvPr/>
          </p:nvSpPr>
          <p:spPr>
            <a:xfrm>
              <a:off x="1669080" y="4339025"/>
              <a:ext cx="4323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4" name="Google Shape;2564;p164"/>
            <p:cNvSpPr txBox="1"/>
            <p:nvPr/>
          </p:nvSpPr>
          <p:spPr>
            <a:xfrm>
              <a:off x="2246838" y="4339025"/>
              <a:ext cx="432300" cy="3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×10</a:t>
              </a:r>
              <a:endParaRPr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68" name="Shape 2568"/>
        <p:cNvGrpSpPr/>
        <p:nvPr/>
      </p:nvGrpSpPr>
      <p:grpSpPr>
        <a:xfrm>
          <a:off x="0" y="0"/>
          <a:ext cx="0" cy="0"/>
        </a:xfrm>
      </p:grpSpPr>
      <p:sp>
        <p:nvSpPr>
          <p:cNvPr id="2569" name="Google Shape;2569;p16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70" name="Google Shape;2570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393</Paragraphs>
  <Slides>41</Slides>
  <Notes>41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baseType="lpstr" size="50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Features of geometric sequences</vt:lpstr>
      <vt:lpstr>PowerPoint Presentation</vt:lpstr>
      <vt:lpstr>PowerPoint Presentation</vt:lpstr>
      <vt:lpstr>PowerPoint Presentation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Identifying geometric sequences</vt:lpstr>
      <vt:lpstr>Geometric sequences have  __________ multiplicative relationship between successive terms.</vt:lpstr>
      <vt:lpstr>PowerPoint Presentation</vt:lpstr>
      <vt:lpstr>PowerPoint Presentation</vt:lpstr>
      <vt:lpstr>Identifying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Generating geometric sequences</vt:lpstr>
      <vt:lpstr>PowerPoint Presentation</vt:lpstr>
      <vt:lpstr>PowerPoint Presentation</vt:lpstr>
      <vt:lpstr>PowerPoint Presentation</vt:lpstr>
      <vt:lpstr>PowerPoint Presentation</vt:lpstr>
      <vt:lpstr>Features of geometric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2024-02-06T11:32:20.635</cp:lastPrinted>
  <dcterms:created xsi:type="dcterms:W3CDTF">2024-02-06T11:32:20Z</dcterms:created>
  <dcterms:modified xsi:type="dcterms:W3CDTF">2024-02-06T11:35:51Z</dcterms:modified>
</cp:coreProperties>
</file>