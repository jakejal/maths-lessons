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832" r:id="rId4"/>
    <p:sldMasterId id="2147483833" r:id="rId5"/>
    <p:sldMasterId id="214748383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C51308-9D66-4D5C-B06B-D0F8100164DC}">
  <a:tblStyle styleId="{D0C51308-9D66-4D5C-B06B-D0F8100164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2ae1da908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2ae1da908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2ac5913da7f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2ac5913da7f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2ace113ead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2ace113ead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2ace113eadb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8" name="Google Shape;2308;g2ace113eadb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2ace113eadb_0_2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2ace113eadb_0_2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2ace113eadb_0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9" name="Google Shape;2349;g2ace113eadb_0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2ace113eadb_0_2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2ace113eadb_0_2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2ace113eadb_0_2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2ace113eadb_0_2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2ace113eadb_0_2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2ace113eadb_0_2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2ace113eadb_0_3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2ace113eadb_0_3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2ace113eadb_0_3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0" name="Google Shape;2430;g2ace113eadb_0_3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2ace113eadb_0_3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7" name="Google Shape;2457;g2ace113eadb_0_3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g2ace113eadb_0_3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6" name="Google Shape;2466;g2ace113eadb_0_3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g2ace113eadb_0_3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6" name="Google Shape;2476;g2ace113eadb_0_3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2ace113eadb_0_3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2ace113eadb_0_3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2ace113eadb_0_3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0" name="Google Shape;2500;g2ace113eadb_0_3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2ace113eadb_0_3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3" name="Google Shape;2513;g2ace113eadb_0_3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2ace113eadb_0_3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4" name="Google Shape;2524;g2ace113eadb_0_3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g2ace113eadb_0_3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7" name="Google Shape;2537;g2ace113eadb_0_3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g2ace113eadb_0_3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6" name="Google Shape;2546;g2ace113eadb_0_3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g2ace113eadb_0_3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6" name="Google Shape;2666;g2ace113eadb_0_3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g2ace113eadb_0_3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8" name="Google Shape;2678;g2ace113eadb_0_3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2ace113eadb_0_3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2ace113eadb_0_3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2ace113eadb_0_3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2ace113eadb_0_3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2ace113eadb_0_3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2" name="Google Shape;2832;g2ace113eadb_0_3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2ace113eadb_0_4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2ace113eadb_0_4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2ace113eadb_0_3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8" name="Google Shape;2938;g2ace113eadb_0_3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2ace113eadb_0_4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6" name="Google Shape;2966;g2ace113eadb_0_4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g2ace113eadb_0_4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2" name="Google Shape;2982;g2ace113eadb_0_4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2ace113eadb_0_4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8" name="Google Shape;2998;g2ace113eadb_0_4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2ace113eadb_0_4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3" name="Google Shape;3013;g2ace113eadb_0_4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g2ace113eadb_0_4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6" name="Google Shape;3036;g2ace113eadb_0_4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g2ace113eadb_0_4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9" name="Google Shape;3049;g2ace113eadb_0_4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g2ace113eadb_0_4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0" name="Google Shape;3060;g2ace113eadb_0_4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8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Google Shape;3069;g2ace113eadb_0_4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0" name="Google Shape;3070;g2ace113eadb_0_4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9" name="Shape 3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Google Shape;3080;g2ace113eadb_0_4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1" name="Google Shape;3081;g2ace113eadb_0_4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g2ace113eadb_0_4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0" name="Google Shape;3090;g2ace113eadb_0_4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g2ace113eadb_0_4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6" name="Google Shape;3106;g2ace113eadb_0_4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g2ace113eadb_0_4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5" name="Google Shape;3125;g2ace113eadb_0_4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0" name="Google Shape;314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6" name="Google Shape;1296;p10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9" name="Google Shape;1299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8" name="Google Shape;1318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7" name="Google Shape;1327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4" name="Google Shape;1334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7" name="Google Shape;1337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6" name="Google Shape;1356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9" name="Google Shape;135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5" name="Google Shape;1365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6" name="Google Shape;136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8" name="Google Shape;1368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9" name="Google Shape;136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5" name="Google Shape;1375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8" name="Google Shape;1378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" name="Google Shape;1382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5" name="Google Shape;138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Google Shape;1396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9" name="Google Shape;139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5" name="Google Shape;142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0" name="Google Shape;1440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6" name="Google Shape;145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9" name="Google Shape;1459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4" name="Google Shape;1464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5" name="Google Shape;1465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8" name="Google Shape;1468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0" name="Google Shape;1470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4" name="Google Shape;1474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6" name="Google Shape;1476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2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12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4" name="Google Shape;1504;p12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05" name="Google Shape;1505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9" name="Google Shape;1509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1" name="Google Shape;1511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13" name="Google Shape;1513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15" name="Google Shape;1515;p12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Google Shape;1517;p12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0" name="Google Shape;1520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2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2" name="Google Shape;1522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" name="Google Shape;1525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7" name="Google Shape;1527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2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9" name="Google Shape;1529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31" name="Google Shape;1531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2" name="Google Shape;1532;p1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4" name="Google Shape;1534;p1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" name="Google Shape;1536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8" name="Google Shape;1538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40" name="Google Shape;1540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42" name="Google Shape;1542;p13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5" name="Google Shape;1545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47" name="Google Shape;1547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3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49" name="Google Shape;1549;p13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0" name="Google Shape;1550;p13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51" name="Google Shape;1551;p1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2" name="Google Shape;1552;p13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3" name="Google Shape;1553;p1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3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0" name="Google Shape;1560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3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Google Shape;1563;p13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5" name="Google Shape;1565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3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7" name="Google Shape;1567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69" name="Google Shape;1569;p13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70" name="Google Shape;1570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1" name="Google Shape;1571;p13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2" name="Google Shape;1572;p1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Google Shape;1574;p13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7" name="Google Shape;1577;p13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79" name="Google Shape;1579;p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13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Google Shape;1582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3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3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1" name="Google Shape;1591;p13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592" name="Google Shape;1592;p13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93" name="Google Shape;1593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94" name="Google Shape;1594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95" name="Google Shape;1595;p1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596" name="Google Shape;1596;p13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0" name="Google Shape;1600;p13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13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3" name="Google Shape;1603;p13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4" name="Google Shape;1604;p13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7" name="Google Shape;1607;p13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13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3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0" name="Google Shape;1610;p13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1" name="Google Shape;1611;p13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4" name="Google Shape;1614;p13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13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6" name="Google Shape;1616;p13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7" name="Google Shape;1617;p13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8" name="Google Shape;1618;p13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9" name="Google Shape;1619;p13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2" name="Google Shape;1622;p14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14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4" name="Google Shape;1624;p14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5" name="Google Shape;1625;p14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6" name="Google Shape;1626;p14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7" name="Google Shape;1627;p14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0" name="Google Shape;1630;p14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4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2" name="Google Shape;1632;p14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3" name="Google Shape;1633;p14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4" name="Google Shape;1634;p14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5" name="Google Shape;1635;p14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6" name="Google Shape;1636;p14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9" name="Google Shape;1639;p14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4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1" name="Google Shape;1641;p14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2" name="Google Shape;1642;p14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643" name="Google Shape;1643;p14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644" name="Google Shape;1644;p14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5" name="Google Shape;1645;p14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4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8" name="Google Shape;1648;p14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4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14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1" name="Google Shape;1651;p143"/>
          <p:cNvCxnSpPr>
            <a:endCxn id="165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3" name="Google Shape;1653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4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5" name="Google Shape;1655;p14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52" name="Google Shape;1652;p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4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14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4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14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4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p14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14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4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4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6" name="Google Shape;1666;p144"/>
          <p:cNvCxnSpPr>
            <a:endCxn id="166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67" name="Google Shape;1667;p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1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4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0" name="Google Shape;1670;p14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1" name="Google Shape;1671;p14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72" name="Google Shape;1672;p1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4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4" name="Google Shape;1674;p14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4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4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Google Shape;1678;p14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4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14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14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6" name="Google Shape;1686;p14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7" name="Google Shape;1687;p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1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1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45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1" name="Google Shape;1691;p145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2" name="Google Shape;1692;p145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3" name="Google Shape;1693;p145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94" name="Google Shape;1694;p1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4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6" name="Google Shape;1696;p14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14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4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0" name="Google Shape;1700;p1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4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03" name="Google Shape;1703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04" name="Google Shape;1704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14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1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0" name="Google Shape;1710;p14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12" name="Google Shape;1712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4" name="Google Shape;1714;p1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7" name="Google Shape;1717;p14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19" name="Google Shape;1719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1" name="Google Shape;1721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4" name="Google Shape;1724;p14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26" name="Google Shape;1726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5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9" name="Google Shape;1729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5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2" name="Google Shape;1732;p15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3" name="Google Shape;1733;p15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34" name="Google Shape;1734;p15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35" name="Google Shape;1735;p1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6" name="Google Shape;1736;p15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7" name="Google Shape;1737;p15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38" name="Google Shape;1738;p1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9" name="Google Shape;1739;p15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5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2" name="Google Shape;1742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5" name="Google Shape;1745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6" name="Google Shape;1746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7" name="Google Shape;1747;p15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48" name="Google Shape;1748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9" name="Google Shape;1749;p15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0" name="Google Shape;1750;p15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51" name="Google Shape;1751;p1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2" name="Google Shape;1752;p15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5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5" name="Google Shape;1755;p1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15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8" name="Google Shape;1758;p15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9" name="Google Shape;1759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60" name="Google Shape;1760;p15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61" name="Google Shape;1761;p1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2" name="Google Shape;1762;p15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3" name="Google Shape;1763;p15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64" name="Google Shape;1764;p1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5" name="Google Shape;1765;p15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5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8" name="Google Shape;1768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5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1" name="Google Shape;1771;p15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2" name="Google Shape;1772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73" name="Google Shape;1773;p15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74" name="Google Shape;1774;p1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5" name="Google Shape;1775;p15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6" name="Google Shape;1776;p15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77" name="Google Shape;1777;p1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8" name="Google Shape;1778;p15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0" name="Google Shape;1780;p1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1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5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5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5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5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8" name="Google Shape;1788;p15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9" name="Google Shape;1789;p15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90" name="Google Shape;1790;p15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1" name="Google Shape;1791;p15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5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3" name="Google Shape;1793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96" name="Google Shape;1796;p15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97" name="Google Shape;1797;p1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8" name="Google Shape;1798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9" name="Google Shape;1799;p15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00" name="Google Shape;1800;p1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1" name="Google Shape;1801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3" name="Google Shape;1803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1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5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9" name="Google Shape;1809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10" name="Google Shape;1810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3" name="Google Shape;1813;p15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4" name="Google Shape;1814;p15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15" name="Google Shape;1815;p15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16" name="Google Shape;1816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7" name="Google Shape;181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8" name="Google Shape;1818;p15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19" name="Google Shape;1819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0" name="Google Shape;182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21" name="Google Shape;1821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Google Shape;1826;p1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5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5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5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5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2" name="Google Shape;1832;p15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33" name="Google Shape;1833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4" name="Google Shape;1834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6" name="Google Shape;1836;p15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7" name="Google Shape;1837;p15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38" name="Google Shape;1838;p15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39" name="Google Shape;1839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0" name="Google Shape;1840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1" name="Google Shape;1841;p15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42" name="Google Shape;1842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3" name="Google Shape;1843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44" name="Google Shape;1844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15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5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9" name="Google Shape;1849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1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5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5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5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5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5" name="Google Shape;1855;p15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56" name="Google Shape;1856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9" name="Google Shape;1859;p15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0" name="Google Shape;1860;p15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1" name="Google Shape;1861;p15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62" name="Google Shape;1862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3" name="Google Shape;1863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4" name="Google Shape;1864;p15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65" name="Google Shape;1865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6" name="Google Shape;1866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7" name="Google Shape;1867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8" name="Google Shape;1868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5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5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2" name="Google Shape;1872;p1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15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75" name="Google Shape;1875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6" name="Google Shape;1876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8" name="Google Shape;1878;p15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9" name="Google Shape;1879;p15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0" name="Google Shape;1880;p15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1" name="Google Shape;1881;p15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82" name="Google Shape;1882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4" name="Google Shape;1884;p15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85" name="Google Shape;1885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7" name="Google Shape;1887;p15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88" name="Google Shape;1888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9" name="Google Shape;1889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1" name="Google Shape;1891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Google Shape;1892;p1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94" name="Google Shape;189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7" name="Google Shape;1897;p15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8" name="Google Shape;1898;p15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9" name="Google Shape;1899;p15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0" name="Google Shape;1900;p15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01" name="Google Shape;1901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2" name="Google Shape;1902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3" name="Google Shape;1903;p15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04" name="Google Shape;1904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6" name="Google Shape;1906;p15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07" name="Google Shape;1907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8" name="Google Shape;1908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0" name="Google Shape;1910;p1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13" name="Google Shape;1913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6" name="Google Shape;1916;p16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7" name="Google Shape;1917;p16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8" name="Google Shape;1918;p16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19" name="Google Shape;1919;p16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20" name="Google Shape;1920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1" name="Google Shape;1921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2" name="Google Shape;1922;p16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23" name="Google Shape;1923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4" name="Google Shape;1924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5" name="Google Shape;1925;p16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26" name="Google Shape;1926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7" name="Google Shape;1927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9" name="Google Shape;1929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32" name="Google Shape;1932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5" name="Google Shape;1935;p16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6" name="Google Shape;1936;p16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7" name="Google Shape;1937;p16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38" name="Google Shape;1938;p16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39" name="Google Shape;1939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0" name="Google Shape;1940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1" name="Google Shape;1941;p16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42" name="Google Shape;1942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3" name="Google Shape;1943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4" name="Google Shape;1944;p16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45" name="Google Shape;1945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6" name="Google Shape;1946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8" name="Google Shape;1948;p1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6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1" name="Google Shape;1951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4" name="Google Shape;1954;p16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5" name="Google Shape;1955;p16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6" name="Google Shape;1956;p16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7" name="Google Shape;1957;p16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58" name="Google Shape;1958;p16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59" name="Google Shape;1959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1" name="Google Shape;1961;p16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62" name="Google Shape;196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3" name="Google Shape;1963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4" name="Google Shape;1964;p16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65" name="Google Shape;1965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6" name="Google Shape;1966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7" name="Google Shape;1967;p16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68" name="Google Shape;1968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9" name="Google Shape;1969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1" name="Google Shape;1971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74" name="Google Shape;1974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7" name="Google Shape;1977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8" name="Google Shape;1978;p16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9" name="Google Shape;1979;p16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0" name="Google Shape;1980;p16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1" name="Google Shape;1981;p16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82" name="Google Shape;1982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3" name="Google Shape;1983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4" name="Google Shape;1984;p16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85" name="Google Shape;1985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6" name="Google Shape;1986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7" name="Google Shape;1987;p16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88" name="Google Shape;1988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9" name="Google Shape;1989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0" name="Google Shape;1990;p16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91" name="Google Shape;199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2" name="Google Shape;199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4" name="Google Shape;1994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5" name="Google Shape;1995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6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97" name="Google Shape;1997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6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0" name="Google Shape;2000;p16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1" name="Google Shape;2001;p16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2" name="Google Shape;2002;p16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3" name="Google Shape;2003;p16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04" name="Google Shape;2004;p16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05" name="Google Shape;2005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6" name="Google Shape;2006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7" name="Google Shape;2007;p16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08" name="Google Shape;2008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9" name="Google Shape;2009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0" name="Google Shape;2010;p16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11" name="Google Shape;2011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2" name="Google Shape;2012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3" name="Google Shape;2013;p16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14" name="Google Shape;2014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5" name="Google Shape;2015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7" name="Google Shape;2017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6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16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20" name="Google Shape;202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6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3" name="Google Shape;2023;p16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4" name="Google Shape;2024;p16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5" name="Google Shape;2025;p16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6" name="Google Shape;2026;p16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27" name="Google Shape;2027;p16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28" name="Google Shape;2028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9" name="Google Shape;2029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0" name="Google Shape;2030;p16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31" name="Google Shape;2031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2" name="Google Shape;2032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3" name="Google Shape;2033;p16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34" name="Google Shape;2034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5" name="Google Shape;2035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6" name="Google Shape;2036;p16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37" name="Google Shape;2037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8" name="Google Shape;2038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6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43" name="Google Shape;2043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4" name="Google Shape;2044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6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6" name="Google Shape;2046;p16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7" name="Google Shape;2047;p16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8" name="Google Shape;2048;p16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49" name="Google Shape;2049;p16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50" name="Google Shape;2050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1" name="Google Shape;2051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2" name="Google Shape;2052;p16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53" name="Google Shape;2053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4" name="Google Shape;2054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5" name="Google Shape;2055;p16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56" name="Google Shape;2056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7" name="Google Shape;2057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9" name="Google Shape;2059;p1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6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62" name="Google Shape;206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16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5" name="Google Shape;2065;p16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6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7" name="Google Shape;2067;p16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68" name="Google Shape;2068;p16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69" name="Google Shape;2069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0" name="Google Shape;2070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1" name="Google Shape;2071;p16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72" name="Google Shape;2072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3" name="Google Shape;2073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4" name="Google Shape;2074;p16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75" name="Google Shape;2075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6" name="Google Shape;2076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" name="Google Shape;2078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6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81" name="Google Shape;2081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6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4" name="Google Shape;2084;p16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5" name="Google Shape;2085;p16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6" name="Google Shape;2086;p16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87" name="Google Shape;2087;p16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88" name="Google Shape;2088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9" name="Google Shape;2089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6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91" name="Google Shape;2091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6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94" name="Google Shape;2094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" name="Google Shape;2097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16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6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0" name="Google Shape;210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6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3" name="Google Shape;2103;p16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4" name="Google Shape;2104;p16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5" name="Google Shape;2105;p16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06" name="Google Shape;2106;p16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07" name="Google Shape;2107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8" name="Google Shape;2108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9" name="Google Shape;2109;p16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10" name="Google Shape;2110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1" name="Google Shape;2111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2" name="Google Shape;2112;p16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13" name="Google Shape;2113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6" name="Google Shape;2116;p1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p1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9" name="Google Shape;2119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3" name="Google Shape;2123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26" name="Google Shape;2126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8" name="Google Shape;2128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0" name="Google Shape;2130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33" name="Google Shape;2133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Google Shape;2137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1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40" name="Google Shape;2140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1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7" name="Google Shape;2147;p17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49" name="Google Shape;2149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0" name="Google Shape;2150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Google Shape;2152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3" name="Google Shape;2153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5" name="Google Shape;2155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7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58" name="Google Shape;215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3" name="Google Shape;2163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76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66" name="Google Shape;2166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8" name="Google Shape;2168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1" name="Google Shape;2171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77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74" name="Google Shape;2174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6" name="Google Shape;2176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1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9" name="Google Shape;2179;p178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81" name="Google Shape;2181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2" name="Google Shape;2182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4" name="Google Shape;2184;p17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5" name="Google Shape;2185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7" name="Google Shape;2187;p17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9" name="Google Shape;2189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0" name="Google Shape;2190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2" name="Google Shape;2192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3" name="Google Shape;2193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1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5" name="Google Shape;2195;p180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7" name="Google Shape;2197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8" name="Google Shape;2198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0" name="Google Shape;2200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1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1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03" name="Google Shape;2203;p181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4" name="Google Shape;2204;p1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5" name="Google Shape;2205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6" name="Google Shape;2206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8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9" name="Google Shape;2209;p1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18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1" name="Google Shape;2211;p18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8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18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5" name="Google Shape;2215;p1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18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7" name="Google Shape;2217;p18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8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18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8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8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18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8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8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8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18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8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8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3" name="Google Shape;2233;p1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8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18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4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1.xml"/><Relationship Id="rId42" Type="http://schemas.openxmlformats.org/officeDocument/2006/relationships/slideLayout" Target="../slideLayouts/slideLayout163.xml"/><Relationship Id="rId41" Type="http://schemas.openxmlformats.org/officeDocument/2006/relationships/slideLayout" Target="../slideLayouts/slideLayout162.xml"/><Relationship Id="rId44" Type="http://schemas.openxmlformats.org/officeDocument/2006/relationships/slideLayout" Target="../slideLayouts/slideLayout165.xml"/><Relationship Id="rId43" Type="http://schemas.openxmlformats.org/officeDocument/2006/relationships/slideLayout" Target="../slideLayouts/slideLayout164.xml"/><Relationship Id="rId46" Type="http://schemas.openxmlformats.org/officeDocument/2006/relationships/slideLayout" Target="../slideLayouts/slideLayout167.xml"/><Relationship Id="rId45" Type="http://schemas.openxmlformats.org/officeDocument/2006/relationships/slideLayout" Target="../slideLayouts/slideLayout166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69.xml"/><Relationship Id="rId47" Type="http://schemas.openxmlformats.org/officeDocument/2006/relationships/slideLayout" Target="../slideLayouts/slideLayout168.xml"/><Relationship Id="rId49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31" Type="http://schemas.openxmlformats.org/officeDocument/2006/relationships/slideLayout" Target="../slideLayouts/slideLayout152.xml"/><Relationship Id="rId30" Type="http://schemas.openxmlformats.org/officeDocument/2006/relationships/slideLayout" Target="../slideLayouts/slideLayout151.xml"/><Relationship Id="rId33" Type="http://schemas.openxmlformats.org/officeDocument/2006/relationships/slideLayout" Target="../slideLayouts/slideLayout154.xml"/><Relationship Id="rId32" Type="http://schemas.openxmlformats.org/officeDocument/2006/relationships/slideLayout" Target="../slideLayouts/slideLayout153.xml"/><Relationship Id="rId35" Type="http://schemas.openxmlformats.org/officeDocument/2006/relationships/slideLayout" Target="../slideLayouts/slideLayout156.xml"/><Relationship Id="rId34" Type="http://schemas.openxmlformats.org/officeDocument/2006/relationships/slideLayout" Target="../slideLayouts/slideLayout155.xml"/><Relationship Id="rId37" Type="http://schemas.openxmlformats.org/officeDocument/2006/relationships/slideLayout" Target="../slideLayouts/slideLayout158.xml"/><Relationship Id="rId36" Type="http://schemas.openxmlformats.org/officeDocument/2006/relationships/slideLayout" Target="../slideLayouts/slideLayout157.xml"/><Relationship Id="rId39" Type="http://schemas.openxmlformats.org/officeDocument/2006/relationships/slideLayout" Target="../slideLayouts/slideLayout160.xml"/><Relationship Id="rId38" Type="http://schemas.openxmlformats.org/officeDocument/2006/relationships/slideLayout" Target="../slideLayouts/slideLayout159.xml"/><Relationship Id="rId62" Type="http://schemas.openxmlformats.org/officeDocument/2006/relationships/slideLayout" Target="../slideLayouts/slideLayout183.xml"/><Relationship Id="rId61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41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42.xml"/><Relationship Id="rId24" Type="http://schemas.openxmlformats.org/officeDocument/2006/relationships/slideLayout" Target="../slideLayouts/slideLayout145.xml"/><Relationship Id="rId23" Type="http://schemas.openxmlformats.org/officeDocument/2006/relationships/slideLayout" Target="../slideLayouts/slideLayout144.xml"/><Relationship Id="rId60" Type="http://schemas.openxmlformats.org/officeDocument/2006/relationships/slideLayout" Target="../slideLayouts/slideLayout181.xml"/><Relationship Id="rId26" Type="http://schemas.openxmlformats.org/officeDocument/2006/relationships/slideLayout" Target="../slideLayouts/slideLayout147.xml"/><Relationship Id="rId25" Type="http://schemas.openxmlformats.org/officeDocument/2006/relationships/slideLayout" Target="../slideLayouts/slideLayout146.xml"/><Relationship Id="rId28" Type="http://schemas.openxmlformats.org/officeDocument/2006/relationships/slideLayout" Target="../slideLayouts/slideLayout149.xml"/><Relationship Id="rId27" Type="http://schemas.openxmlformats.org/officeDocument/2006/relationships/slideLayout" Target="../slideLayouts/slideLayout148.xml"/><Relationship Id="rId29" Type="http://schemas.openxmlformats.org/officeDocument/2006/relationships/slideLayout" Target="../slideLayouts/slideLayout150.xml"/><Relationship Id="rId51" Type="http://schemas.openxmlformats.org/officeDocument/2006/relationships/slideLayout" Target="../slideLayouts/slideLayout172.xml"/><Relationship Id="rId50" Type="http://schemas.openxmlformats.org/officeDocument/2006/relationships/slideLayout" Target="../slideLayouts/slideLayout171.xml"/><Relationship Id="rId53" Type="http://schemas.openxmlformats.org/officeDocument/2006/relationships/slideLayout" Target="../slideLayouts/slideLayout174.xml"/><Relationship Id="rId52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32.xml"/><Relationship Id="rId55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31.xml"/><Relationship Id="rId54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34.xml"/><Relationship Id="rId5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33.xml"/><Relationship Id="rId5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36.xml"/><Relationship Id="rId5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35.xml"/><Relationship Id="rId58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38.xml"/><Relationship Id="rId16" Type="http://schemas.openxmlformats.org/officeDocument/2006/relationships/slideLayout" Target="../slideLayouts/slideLayout137.xml"/><Relationship Id="rId19" Type="http://schemas.openxmlformats.org/officeDocument/2006/relationships/slideLayout" Target="../slideLayouts/slideLayout140.xml"/><Relationship Id="rId18" Type="http://schemas.openxmlformats.org/officeDocument/2006/relationships/slideLayout" Target="../slideLayouts/slideLayout1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98" name="Google Shape;1498;p12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99" name="Google Shape;1499;p12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  <p:sldLayoutId id="2147483798" r:id="rId30"/>
    <p:sldLayoutId id="2147483799" r:id="rId31"/>
    <p:sldLayoutId id="2147483800" r:id="rId32"/>
    <p:sldLayoutId id="2147483801" r:id="rId33"/>
    <p:sldLayoutId id="2147483802" r:id="rId34"/>
    <p:sldLayoutId id="2147483803" r:id="rId35"/>
    <p:sldLayoutId id="2147483804" r:id="rId36"/>
    <p:sldLayoutId id="2147483805" r:id="rId37"/>
    <p:sldLayoutId id="2147483806" r:id="rId38"/>
    <p:sldLayoutId id="2147483807" r:id="rId39"/>
    <p:sldLayoutId id="2147483808" r:id="rId40"/>
    <p:sldLayoutId id="2147483809" r:id="rId41"/>
    <p:sldLayoutId id="2147483810" r:id="rId42"/>
    <p:sldLayoutId id="2147483811" r:id="rId43"/>
    <p:sldLayoutId id="2147483812" r:id="rId44"/>
    <p:sldLayoutId id="2147483813" r:id="rId45"/>
    <p:sldLayoutId id="2147483814" r:id="rId46"/>
    <p:sldLayoutId id="2147483815" r:id="rId47"/>
    <p:sldLayoutId id="2147483816" r:id="rId48"/>
    <p:sldLayoutId id="2147483817" r:id="rId49"/>
    <p:sldLayoutId id="2147483818" r:id="rId50"/>
    <p:sldLayoutId id="2147483819" r:id="rId51"/>
    <p:sldLayoutId id="2147483820" r:id="rId52"/>
    <p:sldLayoutId id="2147483821" r:id="rId53"/>
    <p:sldLayoutId id="2147483822" r:id="rId54"/>
    <p:sldLayoutId id="2147483823" r:id="rId55"/>
    <p:sldLayoutId id="2147483824" r:id="rId56"/>
    <p:sldLayoutId id="2147483825" r:id="rId57"/>
    <p:sldLayoutId id="2147483826" r:id="rId58"/>
    <p:sldLayoutId id="2147483827" r:id="rId59"/>
    <p:sldLayoutId id="2147483828" r:id="rId60"/>
    <p:sldLayoutId id="2147483829" r:id="rId61"/>
    <p:sldLayoutId id="2147483830" r:id="rId62"/>
    <p:sldLayoutId id="214748383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0.png"/><Relationship Id="rId4" Type="http://schemas.openxmlformats.org/officeDocument/2006/relationships/image" Target="../media/image1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0.png"/><Relationship Id="rId4" Type="http://schemas.openxmlformats.org/officeDocument/2006/relationships/image" Target="../media/image1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9.png"/><Relationship Id="rId4" Type="http://schemas.openxmlformats.org/officeDocument/2006/relationships/image" Target="../media/image146.png"/><Relationship Id="rId5" Type="http://schemas.openxmlformats.org/officeDocument/2006/relationships/image" Target="../media/image145.png"/><Relationship Id="rId6" Type="http://schemas.openxmlformats.org/officeDocument/2006/relationships/image" Target="../media/image151.png"/><Relationship Id="rId7" Type="http://schemas.openxmlformats.org/officeDocument/2006/relationships/image" Target="../media/image1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7.png"/><Relationship Id="rId4" Type="http://schemas.openxmlformats.org/officeDocument/2006/relationships/image" Target="../media/image156.png"/><Relationship Id="rId5" Type="http://schemas.openxmlformats.org/officeDocument/2006/relationships/image" Target="../media/image1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1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2242" name="Google Shape;2242;p188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89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190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begin to generalise a sequence.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91"/>
          <p:cNvSpPr txBox="1"/>
          <p:nvPr>
            <p:ph idx="1" type="subTitle"/>
          </p:nvPr>
        </p:nvSpPr>
        <p:spPr>
          <a:xfrm>
            <a:off x="324000" y="764250"/>
            <a:ext cx="71814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An </a:t>
            </a:r>
            <a:r>
              <a:rPr lang="en-GB" sz="1900">
                <a:solidFill>
                  <a:schemeClr val="dk1"/>
                </a:solidFill>
              </a:rPr>
              <a:t>arithmetic (or linear) sequence is a sequence where the difference between successive terms is constant.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E.g.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10, 12, 14, 16, 18,...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E.g.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10, 12, 15, 19, 24,...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258" name="Google Shape;2258;p191"/>
          <p:cNvSpPr txBox="1"/>
          <p:nvPr>
            <p:ph idx="1" type="subTitle"/>
          </p:nvPr>
        </p:nvSpPr>
        <p:spPr>
          <a:xfrm>
            <a:off x="324000" y="3629603"/>
            <a:ext cx="8260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900"/>
              <a:t> term of a sequence is the position of a term in a sequence where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stands for the term number. For example, if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lang="en-GB" sz="1900"/>
              <a:t> this means the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900"/>
              <a:t> term in the sequence. 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259" name="Google Shape;2259;p191"/>
          <p:cNvSpPr txBox="1"/>
          <p:nvPr/>
        </p:nvSpPr>
        <p:spPr>
          <a:xfrm>
            <a:off x="3115800" y="1476125"/>
            <a:ext cx="57042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an arithmetic sequence with a common difference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0" name="Google Shape;2260;p191"/>
          <p:cNvGrpSpPr/>
          <p:nvPr/>
        </p:nvGrpSpPr>
        <p:grpSpPr>
          <a:xfrm>
            <a:off x="975180" y="1553750"/>
            <a:ext cx="1634110" cy="627825"/>
            <a:chOff x="975180" y="1553750"/>
            <a:chExt cx="1634110" cy="627825"/>
          </a:xfrm>
        </p:grpSpPr>
        <p:sp>
          <p:nvSpPr>
            <p:cNvPr id="2261" name="Google Shape;2261;p191"/>
            <p:cNvSpPr txBox="1"/>
            <p:nvPr/>
          </p:nvSpPr>
          <p:spPr>
            <a:xfrm>
              <a:off x="1009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2" name="Google Shape;2262;p191"/>
            <p:cNvSpPr txBox="1"/>
            <p:nvPr/>
          </p:nvSpPr>
          <p:spPr>
            <a:xfrm>
              <a:off x="1416890" y="194457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3" name="Google Shape;2263;p191"/>
            <p:cNvSpPr txBox="1"/>
            <p:nvPr/>
          </p:nvSpPr>
          <p:spPr>
            <a:xfrm>
              <a:off x="1824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4" name="Google Shape;2264;p191"/>
            <p:cNvSpPr txBox="1"/>
            <p:nvPr/>
          </p:nvSpPr>
          <p:spPr>
            <a:xfrm>
              <a:off x="22318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5" name="Google Shape;2265;p191"/>
            <p:cNvSpPr/>
            <p:nvPr/>
          </p:nvSpPr>
          <p:spPr>
            <a:xfrm rot="5397628">
              <a:off x="936480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6" name="Google Shape;2266;p191"/>
            <p:cNvSpPr/>
            <p:nvPr/>
          </p:nvSpPr>
          <p:spPr>
            <a:xfrm rot="5397628">
              <a:off x="1348091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7" name="Google Shape;2267;p191"/>
            <p:cNvSpPr/>
            <p:nvPr/>
          </p:nvSpPr>
          <p:spPr>
            <a:xfrm rot="5397628">
              <a:off x="175967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8" name="Google Shape;2268;p191"/>
            <p:cNvSpPr/>
            <p:nvPr/>
          </p:nvSpPr>
          <p:spPr>
            <a:xfrm rot="5397628">
              <a:off x="217125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9" name="Google Shape;2269;p191"/>
          <p:cNvSpPr txBox="1"/>
          <p:nvPr/>
        </p:nvSpPr>
        <p:spPr>
          <a:xfrm>
            <a:off x="3115800" y="2368275"/>
            <a:ext cx="5704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not an arithmetic sequence because there is not a common difference between successive terms.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0" name="Google Shape;2270;p191"/>
          <p:cNvGrpSpPr/>
          <p:nvPr/>
        </p:nvGrpSpPr>
        <p:grpSpPr>
          <a:xfrm>
            <a:off x="905442" y="2524800"/>
            <a:ext cx="1678335" cy="627825"/>
            <a:chOff x="905442" y="2524800"/>
            <a:chExt cx="1678335" cy="627825"/>
          </a:xfrm>
        </p:grpSpPr>
        <p:sp>
          <p:nvSpPr>
            <p:cNvPr id="2271" name="Google Shape;2271;p191"/>
            <p:cNvSpPr txBox="1"/>
            <p:nvPr/>
          </p:nvSpPr>
          <p:spPr>
            <a:xfrm>
              <a:off x="93965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2" name="Google Shape;2272;p191"/>
            <p:cNvSpPr txBox="1"/>
            <p:nvPr/>
          </p:nvSpPr>
          <p:spPr>
            <a:xfrm>
              <a:off x="1376750" y="291562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3" name="Google Shape;2273;p191"/>
            <p:cNvSpPr txBox="1"/>
            <p:nvPr/>
          </p:nvSpPr>
          <p:spPr>
            <a:xfrm>
              <a:off x="177470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4" name="Google Shape;2274;p191"/>
            <p:cNvSpPr txBox="1"/>
            <p:nvPr/>
          </p:nvSpPr>
          <p:spPr>
            <a:xfrm>
              <a:off x="2206377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5" name="Google Shape;2275;p191"/>
            <p:cNvSpPr/>
            <p:nvPr/>
          </p:nvSpPr>
          <p:spPr>
            <a:xfrm rot="5397628">
              <a:off x="866742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6" name="Google Shape;2276;p191"/>
            <p:cNvSpPr/>
            <p:nvPr/>
          </p:nvSpPr>
          <p:spPr>
            <a:xfrm rot="5397628">
              <a:off x="1278353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7" name="Google Shape;2277;p191"/>
            <p:cNvSpPr/>
            <p:nvPr/>
          </p:nvSpPr>
          <p:spPr>
            <a:xfrm rot="5397628">
              <a:off x="168994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8" name="Google Shape;2278;p191"/>
            <p:cNvSpPr/>
            <p:nvPr/>
          </p:nvSpPr>
          <p:spPr>
            <a:xfrm rot="5397628">
              <a:off x="210152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92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284" name="Google Shape;2284;p192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</a:t>
            </a:r>
            <a:r>
              <a:rPr lang="en-GB"/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285" name="Google Shape;2285;p192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finding </a:t>
            </a:r>
            <a:r>
              <a:rPr lang="en-GB"/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286" name="Google Shape;2286;p1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pic>
        <p:nvPicPr>
          <p:cNvPr id="2287" name="Google Shape;2287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06" y="174731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93"/>
          <p:cNvSpPr txBox="1"/>
          <p:nvPr>
            <p:ph idx="1" type="body"/>
          </p:nvPr>
        </p:nvSpPr>
        <p:spPr>
          <a:xfrm>
            <a:off x="324000" y="759300"/>
            <a:ext cx="7135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describe sequences using </a:t>
            </a:r>
            <a:r>
              <a:rPr lang="en-GB"/>
              <a:t>the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rgbClr val="282828"/>
                </a:solidFill>
              </a:rPr>
              <a:t> term.</a:t>
            </a:r>
            <a:endParaRPr sz="2400"/>
          </a:p>
        </p:txBody>
      </p:sp>
      <p:sp>
        <p:nvSpPr>
          <p:cNvPr id="2293" name="Google Shape;2293;p1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graphicFrame>
        <p:nvGraphicFramePr>
          <p:cNvPr id="2294" name="Google Shape;2294;p193"/>
          <p:cNvGraphicFramePr/>
          <p:nvPr/>
        </p:nvGraphicFramePr>
        <p:xfrm>
          <a:off x="1684796" y="1625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4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5" name="Google Shape;2295;p193"/>
          <p:cNvSpPr txBox="1"/>
          <p:nvPr>
            <p:ph idx="1" type="body"/>
          </p:nvPr>
        </p:nvSpPr>
        <p:spPr>
          <a:xfrm>
            <a:off x="324000" y="2786440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 is four times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plus one. T</a:t>
            </a:r>
            <a:r>
              <a:rPr lang="en-GB"/>
              <a:t>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rgbClr val="282828"/>
                </a:solidFill>
              </a:rPr>
              <a:t> term in this case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>
                <a:solidFill>
                  <a:srgbClr val="282828"/>
                </a:solidFill>
              </a:rPr>
              <a:t> </a:t>
            </a:r>
            <a:endParaRPr sz="2400"/>
          </a:p>
        </p:txBody>
      </p:sp>
      <p:sp>
        <p:nvSpPr>
          <p:cNvPr id="2296" name="Google Shape;2296;p193"/>
          <p:cNvSpPr txBox="1"/>
          <p:nvPr>
            <p:ph idx="1" type="body"/>
          </p:nvPr>
        </p:nvSpPr>
        <p:spPr>
          <a:xfrm>
            <a:off x="334075" y="38588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 = 4(1) + 1 = 5</a:t>
            </a:r>
            <a:endParaRPr sz="2400"/>
          </a:p>
        </p:txBody>
      </p:sp>
      <p:sp>
        <p:nvSpPr>
          <p:cNvPr id="2297" name="Google Shape;2297;p193"/>
          <p:cNvSpPr txBox="1"/>
          <p:nvPr>
            <p:ph idx="1" type="body"/>
          </p:nvPr>
        </p:nvSpPr>
        <p:spPr>
          <a:xfrm>
            <a:off x="4571019" y="38588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 = 4(2) + 1 = 9</a:t>
            </a:r>
            <a:endParaRPr sz="2400"/>
          </a:p>
        </p:txBody>
      </p:sp>
      <p:sp>
        <p:nvSpPr>
          <p:cNvPr id="2298" name="Google Shape;2298;p193"/>
          <p:cNvSpPr/>
          <p:nvPr/>
        </p:nvSpPr>
        <p:spPr>
          <a:xfrm>
            <a:off x="3717876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93"/>
          <p:cNvSpPr/>
          <p:nvPr/>
        </p:nvSpPr>
        <p:spPr>
          <a:xfrm>
            <a:off x="4433932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93"/>
          <p:cNvSpPr/>
          <p:nvPr/>
        </p:nvSpPr>
        <p:spPr>
          <a:xfrm>
            <a:off x="5155590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193"/>
          <p:cNvSpPr/>
          <p:nvPr/>
        </p:nvSpPr>
        <p:spPr>
          <a:xfrm>
            <a:off x="5867164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193"/>
          <p:cNvSpPr/>
          <p:nvPr/>
        </p:nvSpPr>
        <p:spPr>
          <a:xfrm>
            <a:off x="6588823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3" name="Google Shape;2303;p193"/>
          <p:cNvGrpSpPr/>
          <p:nvPr/>
        </p:nvGrpSpPr>
        <p:grpSpPr>
          <a:xfrm>
            <a:off x="470410" y="1883835"/>
            <a:ext cx="1430848" cy="520500"/>
            <a:chOff x="470410" y="1883835"/>
            <a:chExt cx="1430848" cy="520500"/>
          </a:xfrm>
        </p:grpSpPr>
        <p:sp>
          <p:nvSpPr>
            <p:cNvPr id="2304" name="Google Shape;2304;p193"/>
            <p:cNvSpPr txBox="1"/>
            <p:nvPr/>
          </p:nvSpPr>
          <p:spPr>
            <a:xfrm>
              <a:off x="470410" y="1939794"/>
              <a:ext cx="766500" cy="2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×4 +1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5" name="Google Shape;2305;p193"/>
            <p:cNvSpPr/>
            <p:nvPr/>
          </p:nvSpPr>
          <p:spPr>
            <a:xfrm flipH="1" rot="-5400000">
              <a:off x="1326758" y="1829835"/>
              <a:ext cx="520500" cy="6285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1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311" name="Google Shape;2311;p194"/>
          <p:cNvSpPr txBox="1"/>
          <p:nvPr>
            <p:ph idx="1" type="body"/>
          </p:nvPr>
        </p:nvSpPr>
        <p:spPr>
          <a:xfrm>
            <a:off x="324000" y="805375"/>
            <a:ext cx="80313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compare the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/>
              <a:t>with the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pic>
        <p:nvPicPr>
          <p:cNvPr id="2312" name="Google Shape;2312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372265"/>
            <a:ext cx="7369137" cy="577736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194"/>
          <p:cNvSpPr txBox="1"/>
          <p:nvPr>
            <p:ph idx="1" type="body"/>
          </p:nvPr>
        </p:nvSpPr>
        <p:spPr>
          <a:xfrm>
            <a:off x="334085" y="4199674"/>
            <a:ext cx="45525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is a translation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14" name="Google Shape;2314;p194"/>
          <p:cNvGrpSpPr/>
          <p:nvPr/>
        </p:nvGrpSpPr>
        <p:grpSpPr>
          <a:xfrm>
            <a:off x="1788975" y="1930231"/>
            <a:ext cx="5887950" cy="680600"/>
            <a:chOff x="1788975" y="1690425"/>
            <a:chExt cx="5887950" cy="680600"/>
          </a:xfrm>
        </p:grpSpPr>
        <p:pic>
          <p:nvPicPr>
            <p:cNvPr id="2315" name="Google Shape;2315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1788975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6" name="Google Shape;2316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133920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7" name="Google Shape;2317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487891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8" name="Google Shape;2318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5829237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9" name="Google Shape;2319;p194"/>
          <p:cNvSpPr txBox="1"/>
          <p:nvPr>
            <p:ph idx="1" type="body"/>
          </p:nvPr>
        </p:nvSpPr>
        <p:spPr>
          <a:xfrm>
            <a:off x="628800" y="344199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+ 1 :     5,  9,  13,  17,  21, …</a:t>
            </a:r>
            <a:endParaRPr sz="2800"/>
          </a:p>
        </p:txBody>
      </p:sp>
      <p:sp>
        <p:nvSpPr>
          <p:cNvPr id="2320" name="Google Shape;2320;p194"/>
          <p:cNvSpPr txBox="1"/>
          <p:nvPr>
            <p:ph idx="1" type="body"/>
          </p:nvPr>
        </p:nvSpPr>
        <p:spPr>
          <a:xfrm>
            <a:off x="1186853" y="151682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:     4,  8,  12,  16,  20, …</a:t>
            </a:r>
            <a:endParaRPr sz="2800"/>
          </a:p>
        </p:txBody>
      </p:sp>
      <p:grpSp>
        <p:nvGrpSpPr>
          <p:cNvPr id="2321" name="Google Shape;2321;p194"/>
          <p:cNvGrpSpPr/>
          <p:nvPr/>
        </p:nvGrpSpPr>
        <p:grpSpPr>
          <a:xfrm flipH="1" rot="10800000">
            <a:off x="2119549" y="2854716"/>
            <a:ext cx="5887950" cy="680600"/>
            <a:chOff x="2109463" y="3230113"/>
            <a:chExt cx="5887950" cy="680600"/>
          </a:xfrm>
        </p:grpSpPr>
        <p:pic>
          <p:nvPicPr>
            <p:cNvPr id="2322" name="Google Shape;2322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2109463" y="3230113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3" name="Google Shape;2323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454408" y="3230113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4" name="Google Shape;2324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808379" y="3230113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5" name="Google Shape;2325;p19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6149725" y="3230113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6" name="Google Shape;2326;p194"/>
          <p:cNvGrpSpPr/>
          <p:nvPr/>
        </p:nvGrpSpPr>
        <p:grpSpPr>
          <a:xfrm>
            <a:off x="2063065" y="2988950"/>
            <a:ext cx="363197" cy="349150"/>
            <a:chOff x="2063065" y="2988950"/>
            <a:chExt cx="363197" cy="349150"/>
          </a:xfrm>
        </p:grpSpPr>
        <p:sp>
          <p:nvSpPr>
            <p:cNvPr id="2327" name="Google Shape;2327;p194"/>
            <p:cNvSpPr txBox="1"/>
            <p:nvPr/>
          </p:nvSpPr>
          <p:spPr>
            <a:xfrm>
              <a:off x="2063065" y="2998800"/>
              <a:ext cx="279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28" name="Google Shape;2328;p194"/>
            <p:cNvCxnSpPr/>
            <p:nvPr/>
          </p:nvCxnSpPr>
          <p:spPr>
            <a:xfrm>
              <a:off x="2082163" y="2988950"/>
              <a:ext cx="344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3" name="Google Shape;2333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00" y="2160000"/>
            <a:ext cx="7369200" cy="71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34" name="Google Shape;2334;p1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335" name="Google Shape;2335;p195"/>
          <p:cNvSpPr txBox="1"/>
          <p:nvPr>
            <p:ph idx="1" type="body"/>
          </p:nvPr>
        </p:nvSpPr>
        <p:spPr>
          <a:xfrm>
            <a:off x="324000" y="759300"/>
            <a:ext cx="82377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shown above this number line.</a:t>
            </a:r>
            <a:endParaRPr/>
          </a:p>
        </p:txBody>
      </p:sp>
      <p:sp>
        <p:nvSpPr>
          <p:cNvPr id="2336" name="Google Shape;2336;p195"/>
          <p:cNvSpPr txBox="1"/>
          <p:nvPr>
            <p:ph idx="1" type="body"/>
          </p:nvPr>
        </p:nvSpPr>
        <p:spPr>
          <a:xfrm>
            <a:off x="2289504" y="4321819"/>
            <a:ext cx="36393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 what is this sequence?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37" name="Google Shape;2337;p195"/>
          <p:cNvGrpSpPr/>
          <p:nvPr/>
        </p:nvGrpSpPr>
        <p:grpSpPr>
          <a:xfrm>
            <a:off x="2063454" y="1787914"/>
            <a:ext cx="5633697" cy="680600"/>
            <a:chOff x="1788975" y="1690425"/>
            <a:chExt cx="4546604" cy="680600"/>
          </a:xfrm>
        </p:grpSpPr>
        <p:pic>
          <p:nvPicPr>
            <p:cNvPr id="2338" name="Google Shape;2338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1788975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9" name="Google Shape;2339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133920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0" name="Google Shape;2340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487891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1" name="Google Shape;2341;p195"/>
          <p:cNvSpPr txBox="1"/>
          <p:nvPr>
            <p:ph idx="1" type="body"/>
          </p:nvPr>
        </p:nvSpPr>
        <p:spPr>
          <a:xfrm>
            <a:off x="1339253" y="121202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:     5,  10,  15,  20,  25, …</a:t>
            </a:r>
            <a:endParaRPr sz="2800"/>
          </a:p>
        </p:txBody>
      </p:sp>
      <p:grpSp>
        <p:nvGrpSpPr>
          <p:cNvPr id="2342" name="Google Shape;2342;p195"/>
          <p:cNvGrpSpPr/>
          <p:nvPr/>
        </p:nvGrpSpPr>
        <p:grpSpPr>
          <a:xfrm flipH="1" rot="10800000">
            <a:off x="2733565" y="2707917"/>
            <a:ext cx="5633697" cy="680600"/>
            <a:chOff x="1788975" y="1690425"/>
            <a:chExt cx="4546604" cy="680600"/>
          </a:xfrm>
        </p:grpSpPr>
        <p:pic>
          <p:nvPicPr>
            <p:cNvPr id="2343" name="Google Shape;2343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1788975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4" name="Google Shape;2344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133920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5" name="Google Shape;2345;p195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487891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6" name="Google Shape;2346;p195"/>
          <p:cNvSpPr txBox="1"/>
          <p:nvPr>
            <p:ph idx="1" type="body"/>
          </p:nvPr>
        </p:nvSpPr>
        <p:spPr>
          <a:xfrm>
            <a:off x="2325371" y="3518200"/>
            <a:ext cx="34263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7,  12,  17,  22,  27, …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00" y="2160000"/>
            <a:ext cx="7369200" cy="71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1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353" name="Google Shape;2353;p196"/>
          <p:cNvSpPr txBox="1"/>
          <p:nvPr>
            <p:ph idx="1" type="body"/>
          </p:nvPr>
        </p:nvSpPr>
        <p:spPr>
          <a:xfrm>
            <a:off x="324000" y="759300"/>
            <a:ext cx="82377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shown above this number line.</a:t>
            </a:r>
            <a:endParaRPr/>
          </a:p>
        </p:txBody>
      </p:sp>
      <p:sp>
        <p:nvSpPr>
          <p:cNvPr id="2354" name="Google Shape;2354;p196"/>
          <p:cNvSpPr txBox="1"/>
          <p:nvPr>
            <p:ph idx="1" type="body"/>
          </p:nvPr>
        </p:nvSpPr>
        <p:spPr>
          <a:xfrm>
            <a:off x="334075" y="4027104"/>
            <a:ext cx="81195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comm</a:t>
            </a:r>
            <a:r>
              <a:rPr lang="en-GB"/>
              <a:t>on difference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/>
              <a:t> but with the terms translated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i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55" name="Google Shape;2355;p196"/>
          <p:cNvGrpSpPr/>
          <p:nvPr/>
        </p:nvGrpSpPr>
        <p:grpSpPr>
          <a:xfrm>
            <a:off x="2063454" y="1787914"/>
            <a:ext cx="5633697" cy="680600"/>
            <a:chOff x="1788975" y="1690425"/>
            <a:chExt cx="4546604" cy="680600"/>
          </a:xfrm>
        </p:grpSpPr>
        <p:pic>
          <p:nvPicPr>
            <p:cNvPr id="2356" name="Google Shape;2356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1788975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7" name="Google Shape;2357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133920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8" name="Google Shape;2358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487891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9" name="Google Shape;2359;p196"/>
          <p:cNvSpPr txBox="1"/>
          <p:nvPr>
            <p:ph idx="1" type="body"/>
          </p:nvPr>
        </p:nvSpPr>
        <p:spPr>
          <a:xfrm>
            <a:off x="781200" y="351819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+ 2 :     7,  12,  17,  22,  27, …</a:t>
            </a:r>
            <a:endParaRPr sz="2800"/>
          </a:p>
        </p:txBody>
      </p:sp>
      <p:sp>
        <p:nvSpPr>
          <p:cNvPr id="2360" name="Google Shape;2360;p196"/>
          <p:cNvSpPr txBox="1"/>
          <p:nvPr>
            <p:ph idx="1" type="body"/>
          </p:nvPr>
        </p:nvSpPr>
        <p:spPr>
          <a:xfrm>
            <a:off x="1339253" y="121202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:     5,  10,  15,  20,  25, …</a:t>
            </a:r>
            <a:endParaRPr sz="2800"/>
          </a:p>
        </p:txBody>
      </p:sp>
      <p:grpSp>
        <p:nvGrpSpPr>
          <p:cNvPr id="2361" name="Google Shape;2361;p196"/>
          <p:cNvGrpSpPr/>
          <p:nvPr/>
        </p:nvGrpSpPr>
        <p:grpSpPr>
          <a:xfrm>
            <a:off x="2479332" y="2836550"/>
            <a:ext cx="635243" cy="349150"/>
            <a:chOff x="2082163" y="2988950"/>
            <a:chExt cx="344100" cy="349150"/>
          </a:xfrm>
        </p:grpSpPr>
        <p:sp>
          <p:nvSpPr>
            <p:cNvPr id="2362" name="Google Shape;2362;p196"/>
            <p:cNvSpPr txBox="1"/>
            <p:nvPr/>
          </p:nvSpPr>
          <p:spPr>
            <a:xfrm>
              <a:off x="2145617" y="2998800"/>
              <a:ext cx="2124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63" name="Google Shape;2363;p196"/>
            <p:cNvCxnSpPr/>
            <p:nvPr/>
          </p:nvCxnSpPr>
          <p:spPr>
            <a:xfrm>
              <a:off x="2082163" y="2988950"/>
              <a:ext cx="344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364" name="Google Shape;2364;p196"/>
          <p:cNvGrpSpPr/>
          <p:nvPr/>
        </p:nvGrpSpPr>
        <p:grpSpPr>
          <a:xfrm flipH="1" rot="10800000">
            <a:off x="2733565" y="2707917"/>
            <a:ext cx="5633697" cy="680600"/>
            <a:chOff x="1788975" y="1690425"/>
            <a:chExt cx="4546604" cy="680600"/>
          </a:xfrm>
        </p:grpSpPr>
        <p:pic>
          <p:nvPicPr>
            <p:cNvPr id="2365" name="Google Shape;2365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1788975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6" name="Google Shape;2366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3133920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7" name="Google Shape;2367;p19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>
              <a:off x="4487891" y="1690425"/>
              <a:ext cx="1847688" cy="68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8" name="Google Shape;2368;p196"/>
          <p:cNvGrpSpPr/>
          <p:nvPr/>
        </p:nvGrpSpPr>
        <p:grpSpPr>
          <a:xfrm>
            <a:off x="3129875" y="1627200"/>
            <a:ext cx="3668700" cy="339300"/>
            <a:chOff x="3129875" y="1627200"/>
            <a:chExt cx="3668700" cy="339300"/>
          </a:xfrm>
        </p:grpSpPr>
        <p:sp>
          <p:nvSpPr>
            <p:cNvPr id="2369" name="Google Shape;2369;p196"/>
            <p:cNvSpPr txBox="1"/>
            <p:nvPr/>
          </p:nvSpPr>
          <p:spPr>
            <a:xfrm>
              <a:off x="31298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0" name="Google Shape;2370;p196"/>
            <p:cNvSpPr txBox="1"/>
            <p:nvPr/>
          </p:nvSpPr>
          <p:spPr>
            <a:xfrm>
              <a:off x="47300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1" name="Google Shape;2371;p196"/>
            <p:cNvSpPr txBox="1"/>
            <p:nvPr/>
          </p:nvSpPr>
          <p:spPr>
            <a:xfrm>
              <a:off x="64064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72" name="Google Shape;2372;p196"/>
          <p:cNvGrpSpPr/>
          <p:nvPr/>
        </p:nvGrpSpPr>
        <p:grpSpPr>
          <a:xfrm>
            <a:off x="3663275" y="3227400"/>
            <a:ext cx="3668700" cy="339300"/>
            <a:chOff x="3129875" y="1627200"/>
            <a:chExt cx="3668700" cy="339300"/>
          </a:xfrm>
        </p:grpSpPr>
        <p:sp>
          <p:nvSpPr>
            <p:cNvPr id="2373" name="Google Shape;2373;p196"/>
            <p:cNvSpPr txBox="1"/>
            <p:nvPr/>
          </p:nvSpPr>
          <p:spPr>
            <a:xfrm>
              <a:off x="31298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4" name="Google Shape;2374;p196"/>
            <p:cNvSpPr txBox="1"/>
            <p:nvPr/>
          </p:nvSpPr>
          <p:spPr>
            <a:xfrm>
              <a:off x="47300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5" name="Google Shape;2375;p196"/>
            <p:cNvSpPr txBox="1"/>
            <p:nvPr/>
          </p:nvSpPr>
          <p:spPr>
            <a:xfrm>
              <a:off x="6406475" y="1627200"/>
              <a:ext cx="392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1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381" name="Google Shape;2381;p197"/>
          <p:cNvSpPr txBox="1"/>
          <p:nvPr>
            <p:ph idx="1" type="body"/>
          </p:nvPr>
        </p:nvSpPr>
        <p:spPr>
          <a:xfrm>
            <a:off x="324000" y="805375"/>
            <a:ext cx="67479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Another useful observation is…</a:t>
            </a:r>
            <a:endParaRPr/>
          </a:p>
        </p:txBody>
      </p:sp>
      <p:sp>
        <p:nvSpPr>
          <p:cNvPr id="2382" name="Google Shape;2382;p197"/>
          <p:cNvSpPr txBox="1"/>
          <p:nvPr>
            <p:ph idx="1" type="body"/>
          </p:nvPr>
        </p:nvSpPr>
        <p:spPr>
          <a:xfrm>
            <a:off x="1837758" y="214659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+ 2 :     7,  12,  17,  22,  27, …</a:t>
            </a:r>
            <a:endParaRPr sz="2800"/>
          </a:p>
        </p:txBody>
      </p:sp>
      <p:sp>
        <p:nvSpPr>
          <p:cNvPr id="2383" name="Google Shape;2383;p197"/>
          <p:cNvSpPr txBox="1"/>
          <p:nvPr>
            <p:ph idx="1" type="body"/>
          </p:nvPr>
        </p:nvSpPr>
        <p:spPr>
          <a:xfrm>
            <a:off x="2395811" y="1288224"/>
            <a:ext cx="4781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:     5,  10,  15,  20,  25, …</a:t>
            </a:r>
            <a:endParaRPr sz="2800"/>
          </a:p>
        </p:txBody>
      </p:sp>
      <p:grpSp>
        <p:nvGrpSpPr>
          <p:cNvPr id="2384" name="Google Shape;2384;p197"/>
          <p:cNvGrpSpPr/>
          <p:nvPr/>
        </p:nvGrpSpPr>
        <p:grpSpPr>
          <a:xfrm>
            <a:off x="1773083" y="1325308"/>
            <a:ext cx="840726" cy="1223448"/>
            <a:chOff x="1773083" y="1325308"/>
            <a:chExt cx="840726" cy="1223448"/>
          </a:xfrm>
        </p:grpSpPr>
        <p:sp>
          <p:nvSpPr>
            <p:cNvPr id="2385" name="Google Shape;2385;p197"/>
            <p:cNvSpPr/>
            <p:nvPr/>
          </p:nvSpPr>
          <p:spPr>
            <a:xfrm>
              <a:off x="2337209" y="1325308"/>
              <a:ext cx="276600" cy="370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6" name="Google Shape;2386;p197"/>
            <p:cNvSpPr/>
            <p:nvPr/>
          </p:nvSpPr>
          <p:spPr>
            <a:xfrm>
              <a:off x="1773083" y="2178256"/>
              <a:ext cx="276600" cy="370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87" name="Google Shape;2387;p197"/>
          <p:cNvCxnSpPr>
            <a:stCxn id="2388" idx="0"/>
            <a:endCxn id="2386" idx="3"/>
          </p:cNvCxnSpPr>
          <p:nvPr/>
        </p:nvCxnSpPr>
        <p:spPr>
          <a:xfrm flipH="1" rot="10800000">
            <a:off x="1401125" y="2494375"/>
            <a:ext cx="412500" cy="74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8" name="Google Shape;2388;p197"/>
          <p:cNvSpPr txBox="1"/>
          <p:nvPr>
            <p:ph idx="1" type="body"/>
          </p:nvPr>
        </p:nvSpPr>
        <p:spPr>
          <a:xfrm>
            <a:off x="507125" y="3243775"/>
            <a:ext cx="17880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common difference</a:t>
            </a:r>
            <a:endParaRPr/>
          </a:p>
        </p:txBody>
      </p:sp>
      <p:cxnSp>
        <p:nvCxnSpPr>
          <p:cNvPr id="2389" name="Google Shape;2389;p197"/>
          <p:cNvCxnSpPr>
            <a:endCxn id="2390" idx="5"/>
          </p:cNvCxnSpPr>
          <p:nvPr/>
        </p:nvCxnSpPr>
        <p:spPr>
          <a:xfrm rot="10800000">
            <a:off x="2750692" y="2494498"/>
            <a:ext cx="405900" cy="73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1" name="Google Shape;2391;p197"/>
          <p:cNvSpPr txBox="1"/>
          <p:nvPr>
            <p:ph idx="1" type="body"/>
          </p:nvPr>
        </p:nvSpPr>
        <p:spPr>
          <a:xfrm>
            <a:off x="2945525" y="3243775"/>
            <a:ext cx="15528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translation</a:t>
            </a:r>
            <a:endParaRPr/>
          </a:p>
        </p:txBody>
      </p:sp>
      <p:sp>
        <p:nvSpPr>
          <p:cNvPr id="2390" name="Google Shape;2390;p197"/>
          <p:cNvSpPr/>
          <p:nvPr/>
        </p:nvSpPr>
        <p:spPr>
          <a:xfrm>
            <a:off x="2514599" y="2178256"/>
            <a:ext cx="276600" cy="370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198"/>
          <p:cNvSpPr txBox="1"/>
          <p:nvPr>
            <p:ph idx="1" type="subTitle"/>
          </p:nvPr>
        </p:nvSpPr>
        <p:spPr>
          <a:xfrm>
            <a:off x="980575" y="3064209"/>
            <a:ext cx="66210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coefficient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in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tells us the common difference of the sequence.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7" name="Google Shape;2397;p198"/>
          <p:cNvSpPr txBox="1"/>
          <p:nvPr>
            <p:ph idx="2" type="subTitle"/>
          </p:nvPr>
        </p:nvSpPr>
        <p:spPr>
          <a:xfrm>
            <a:off x="324000" y="1080000"/>
            <a:ext cx="71352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sequence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>
                <a:solidFill>
                  <a:srgbClr val="000000"/>
                </a:solidFill>
              </a:rPr>
              <a:t> has a common difference of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8" name="Google Shape;2398;p198"/>
          <p:cNvSpPr txBox="1"/>
          <p:nvPr>
            <p:ph idx="3" type="subTitle"/>
          </p:nvPr>
        </p:nvSpPr>
        <p:spPr>
          <a:xfrm>
            <a:off x="980575" y="3958415"/>
            <a:ext cx="6825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</a:t>
            </a:r>
            <a:r>
              <a:rPr lang="en-GB"/>
              <a:t>e constant 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r>
              <a:rPr lang="en-GB"/>
              <a:t> in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tells us the common difference of the sequence.</a:t>
            </a:r>
            <a:endParaRPr/>
          </a:p>
        </p:txBody>
      </p:sp>
      <p:sp>
        <p:nvSpPr>
          <p:cNvPr id="2399" name="Google Shape;2399;p1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pic>
        <p:nvPicPr>
          <p:cNvPr id="2400" name="Google Shape;2400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825" y="180767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83" y="3183782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199"/>
          <p:cNvSpPr txBox="1"/>
          <p:nvPr>
            <p:ph idx="1" type="subTitle"/>
          </p:nvPr>
        </p:nvSpPr>
        <p:spPr>
          <a:xfrm>
            <a:off x="980575" y="3064209"/>
            <a:ext cx="66210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coefficient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in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tells us the common difference of the sequence.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7" name="Google Shape;2407;p199"/>
          <p:cNvSpPr txBox="1"/>
          <p:nvPr>
            <p:ph idx="2" type="subTitle"/>
          </p:nvPr>
        </p:nvSpPr>
        <p:spPr>
          <a:xfrm>
            <a:off x="324000" y="1080000"/>
            <a:ext cx="71352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sequence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>
                <a:solidFill>
                  <a:srgbClr val="000000"/>
                </a:solidFill>
              </a:rPr>
              <a:t> has a common difference of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8" name="Google Shape;2408;p199"/>
          <p:cNvSpPr txBox="1"/>
          <p:nvPr>
            <p:ph idx="3" type="subTitle"/>
          </p:nvPr>
        </p:nvSpPr>
        <p:spPr>
          <a:xfrm>
            <a:off x="980575" y="3958415"/>
            <a:ext cx="6825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constant 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r>
              <a:rPr lang="en-GB"/>
              <a:t> in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tells us the common difference of the sequence.</a:t>
            </a:r>
            <a:endParaRPr/>
          </a:p>
        </p:txBody>
      </p:sp>
      <p:sp>
        <p:nvSpPr>
          <p:cNvPr id="2409" name="Google Shape;2409;p1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pic>
        <p:nvPicPr>
          <p:cNvPr id="2410" name="Google Shape;2410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825" y="180767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1" name="Google Shape;2411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83" y="3183782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2" name="Google Shape;2412;p199"/>
          <p:cNvSpPr/>
          <p:nvPr/>
        </p:nvSpPr>
        <p:spPr>
          <a:xfrm>
            <a:off x="2326975" y="1694025"/>
            <a:ext cx="4420800" cy="6135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199"/>
          <p:cNvSpPr txBox="1"/>
          <p:nvPr>
            <p:ph idx="4294967295" type="body"/>
          </p:nvPr>
        </p:nvSpPr>
        <p:spPr>
          <a:xfrm>
            <a:off x="352674" y="1825825"/>
            <a:ext cx="44208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+ 3 :  10, 17, 24, 31, 38, …</a:t>
            </a:r>
            <a:endParaRPr sz="2800"/>
          </a:p>
        </p:txBody>
      </p:sp>
      <p:sp>
        <p:nvSpPr>
          <p:cNvPr id="2414" name="Google Shape;2414;p199"/>
          <p:cNvSpPr txBox="1"/>
          <p:nvPr>
            <p:ph idx="2" type="subTitle"/>
          </p:nvPr>
        </p:nvSpPr>
        <p:spPr>
          <a:xfrm>
            <a:off x="324000" y="2299200"/>
            <a:ext cx="80151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ommon difference of +7, translation of +3 from the sequence 7</a:t>
            </a:r>
            <a:r>
              <a:rPr i="1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5" name="Google Shape;2415;p199"/>
          <p:cNvSpPr txBox="1"/>
          <p:nvPr>
            <p:ph idx="2" type="subTitle"/>
          </p:nvPr>
        </p:nvSpPr>
        <p:spPr>
          <a:xfrm>
            <a:off x="1036019" y="1475741"/>
            <a:ext cx="39666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i="1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n:    7, 14, 21, 28, 35, …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200"/>
          <p:cNvSpPr txBox="1"/>
          <p:nvPr>
            <p:ph idx="1" type="body"/>
          </p:nvPr>
        </p:nvSpPr>
        <p:spPr>
          <a:xfrm>
            <a:off x="324000" y="759300"/>
            <a:ext cx="58905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these sequences.</a:t>
            </a:r>
            <a:endParaRPr/>
          </a:p>
        </p:txBody>
      </p:sp>
      <p:sp>
        <p:nvSpPr>
          <p:cNvPr id="2421" name="Google Shape;2421;p2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22" name="Google Shape;2422;p200"/>
          <p:cNvSpPr txBox="1"/>
          <p:nvPr/>
        </p:nvSpPr>
        <p:spPr>
          <a:xfrm>
            <a:off x="324000" y="1292700"/>
            <a:ext cx="3996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19, 27, 35, 43, 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200"/>
          <p:cNvSpPr txBox="1"/>
          <p:nvPr/>
        </p:nvSpPr>
        <p:spPr>
          <a:xfrm>
            <a:off x="324000" y="1987138"/>
            <a:ext cx="367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20, 28, 36,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4" name="Google Shape;2424;p200"/>
          <p:cNvSpPr txBox="1"/>
          <p:nvPr/>
        </p:nvSpPr>
        <p:spPr>
          <a:xfrm>
            <a:off x="324000" y="2681576"/>
            <a:ext cx="3107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7, 3, −1, −5,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5" name="Google Shape;2425;p200"/>
          <p:cNvSpPr txBox="1"/>
          <p:nvPr/>
        </p:nvSpPr>
        <p:spPr>
          <a:xfrm>
            <a:off x="324000" y="3376014"/>
            <a:ext cx="35709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1.1, 1.9, 2.7, 3.5, 4.3,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200"/>
          <p:cNvSpPr txBox="1"/>
          <p:nvPr/>
        </p:nvSpPr>
        <p:spPr>
          <a:xfrm>
            <a:off x="324000" y="4070452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1},\frac{7}{11},\frac{10}{11},\frac{13}{11},\frac{16}{11},\ ...&quot;&gt;&lt;mfrac&gt;&lt;mn&gt;4&lt;/mn&gt;&lt;mn&gt;11&lt;/mn&gt;&lt;/mfrac&gt;&lt;mo&gt;,&lt;/mo&gt;&lt;mfrac&gt;&lt;mn&gt;7&lt;/mn&gt;&lt;mn&gt;11&lt;/mn&gt;&lt;/mfrac&gt;&lt;mo&gt;,&lt;/mo&gt;&lt;mfrac&gt;&lt;mn&gt;10&lt;/mn&gt;&lt;mn&gt;11&lt;/mn&gt;&lt;/mfrac&gt;&lt;mo&gt;,&lt;/mo&gt;&lt;mfrac&gt;&lt;mn&gt;13&lt;/mn&gt;&lt;mn&gt;11&lt;/mn&gt;&lt;/mfrac&gt;&lt;mo&gt;,&lt;/mo&gt;&lt;mfrac&gt;&lt;mn&gt;16&lt;/mn&gt;&lt;mn&gt;11&lt;/mn&gt;&lt;/mfrac&gt;&lt;mo&gt;,&lt;/mo&gt;&lt;mtext&gt;&lt;/mtext&gt;&lt;mo&gt;.&lt;/mo&gt;&lt;mo&gt;.&lt;/mo&gt;&lt;mo&gt;.&lt;/mo&gt;&lt;/math&gt;" id="2427" name="Google Shape;2427;p200" title="4 over 11 comma 7 over 11 comma 10 over 11 comma 13 over 11 comma 16 over 1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87" y="4025226"/>
            <a:ext cx="3038251" cy="6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201"/>
          <p:cNvSpPr txBox="1"/>
          <p:nvPr>
            <p:ph idx="1" type="body"/>
          </p:nvPr>
        </p:nvSpPr>
        <p:spPr>
          <a:xfrm>
            <a:off x="324000" y="759300"/>
            <a:ext cx="54504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 of these sequences.</a:t>
            </a:r>
            <a:endParaRPr/>
          </a:p>
        </p:txBody>
      </p:sp>
      <p:sp>
        <p:nvSpPr>
          <p:cNvPr id="2433" name="Google Shape;2433;p2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34" name="Google Shape;2434;p201"/>
          <p:cNvSpPr txBox="1"/>
          <p:nvPr>
            <p:ph idx="4294967295" type="subTitle"/>
          </p:nvPr>
        </p:nvSpPr>
        <p:spPr>
          <a:xfrm>
            <a:off x="7797974" y="2638779"/>
            <a:ext cx="10992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15 − 4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5" name="Google Shape;2435;p201"/>
          <p:cNvSpPr txBox="1"/>
          <p:nvPr/>
        </p:nvSpPr>
        <p:spPr>
          <a:xfrm>
            <a:off x="324000" y="1292700"/>
            <a:ext cx="3996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19, 27, 35, 43, 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6" name="Google Shape;2436;p201"/>
          <p:cNvSpPr txBox="1"/>
          <p:nvPr/>
        </p:nvSpPr>
        <p:spPr>
          <a:xfrm>
            <a:off x="324000" y="1987138"/>
            <a:ext cx="367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20, 28, 36,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201"/>
          <p:cNvSpPr txBox="1"/>
          <p:nvPr/>
        </p:nvSpPr>
        <p:spPr>
          <a:xfrm>
            <a:off x="324000" y="2681576"/>
            <a:ext cx="3107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7, 3, −1, −5,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8" name="Google Shape;2438;p201"/>
          <p:cNvSpPr txBox="1"/>
          <p:nvPr/>
        </p:nvSpPr>
        <p:spPr>
          <a:xfrm>
            <a:off x="324000" y="3376014"/>
            <a:ext cx="35709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1.1, 1.9, 2.7, 3.5, 4.3,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9" name="Google Shape;2439;p201"/>
          <p:cNvSpPr txBox="1"/>
          <p:nvPr/>
        </p:nvSpPr>
        <p:spPr>
          <a:xfrm>
            <a:off x="324000" y="4070452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0" name="Google Shape;2440;p201"/>
          <p:cNvSpPr txBox="1"/>
          <p:nvPr>
            <p:ph idx="4294967295" type="subTitle"/>
          </p:nvPr>
        </p:nvSpPr>
        <p:spPr>
          <a:xfrm>
            <a:off x="6471210" y="1273368"/>
            <a:ext cx="8775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1" name="Google Shape;2441;p201"/>
          <p:cNvSpPr txBox="1"/>
          <p:nvPr>
            <p:ph idx="4294967295" type="subTitle"/>
          </p:nvPr>
        </p:nvSpPr>
        <p:spPr>
          <a:xfrm>
            <a:off x="6471210" y="1959168"/>
            <a:ext cx="8775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1},\frac{7}{11},\frac{10}{11},\frac{13}{11},\frac{16}{11},\ ...&quot;&gt;&lt;mfrac&gt;&lt;mn&gt;4&lt;/mn&gt;&lt;mn&gt;11&lt;/mn&gt;&lt;/mfrac&gt;&lt;mo&gt;,&lt;/mo&gt;&lt;mfrac&gt;&lt;mn&gt;7&lt;/mn&gt;&lt;mn&gt;11&lt;/mn&gt;&lt;/mfrac&gt;&lt;mo&gt;,&lt;/mo&gt;&lt;mfrac&gt;&lt;mn&gt;10&lt;/mn&gt;&lt;mn&gt;11&lt;/mn&gt;&lt;/mfrac&gt;&lt;mo&gt;,&lt;/mo&gt;&lt;mfrac&gt;&lt;mn&gt;13&lt;/mn&gt;&lt;mn&gt;11&lt;/mn&gt;&lt;/mfrac&gt;&lt;mo&gt;,&lt;/mo&gt;&lt;mfrac&gt;&lt;mn&gt;16&lt;/mn&gt;&lt;mn&gt;11&lt;/mn&gt;&lt;/mfrac&gt;&lt;mo&gt;,&lt;/mo&gt;&lt;mtext&gt;&lt;/mtext&gt;&lt;mo&gt;.&lt;/mo&gt;&lt;mo&gt;.&lt;/mo&gt;&lt;mo&gt;.&lt;/mo&gt;&lt;/math&gt;" id="2442" name="Google Shape;2442;p201" title="4 over 11 comma 7 over 11 comma 10 over 11 comma 13 over 11 comma 16 over 1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87" y="4025226"/>
            <a:ext cx="3038251" cy="62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n+\frac{1}{11}&quot;&gt;&lt;mfrac&gt;&lt;mn&gt;3&lt;/mn&gt;&lt;mn&gt;11&lt;/mn&gt;&lt;/mfrac&gt;&lt;mi&gt;n&lt;/mi&gt;&lt;mo&gt;+&lt;/mo&gt;&lt;mfrac&gt;&lt;mn&gt;1&lt;/mn&gt;&lt;mn&gt;11&lt;/mn&gt;&lt;/mfrac&gt;&lt;/math&gt;" id="2443" name="Google Shape;2443;p201" title="3 over 11 n plus 1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225" y="4028600"/>
            <a:ext cx="1092400" cy="5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4" name="Google Shape;2444;p201"/>
          <p:cNvSpPr txBox="1"/>
          <p:nvPr/>
        </p:nvSpPr>
        <p:spPr>
          <a:xfrm>
            <a:off x="3353425" y="1190726"/>
            <a:ext cx="272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8n: 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5" name="Google Shape;2445;p201"/>
          <p:cNvSpPr txBox="1"/>
          <p:nvPr/>
        </p:nvSpPr>
        <p:spPr>
          <a:xfrm>
            <a:off x="3353425" y="1876526"/>
            <a:ext cx="272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8n: −4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6" name="Google Shape;2446;p201"/>
          <p:cNvSpPr txBox="1"/>
          <p:nvPr/>
        </p:nvSpPr>
        <p:spPr>
          <a:xfrm>
            <a:off x="3353425" y="2562325"/>
            <a:ext cx="290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n: +15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7" name="Google Shape;2447;p201"/>
          <p:cNvSpPr txBox="1"/>
          <p:nvPr>
            <p:ph idx="4294967295" type="subTitle"/>
          </p:nvPr>
        </p:nvSpPr>
        <p:spPr>
          <a:xfrm>
            <a:off x="6318798" y="2644975"/>
            <a:ext cx="10992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8" name="Google Shape;2448;p201"/>
          <p:cNvSpPr txBox="1"/>
          <p:nvPr/>
        </p:nvSpPr>
        <p:spPr>
          <a:xfrm>
            <a:off x="7508566" y="2694554"/>
            <a:ext cx="48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9" name="Google Shape;2449;p201"/>
          <p:cNvSpPr txBox="1"/>
          <p:nvPr>
            <p:ph idx="4294967295" type="subTitle"/>
          </p:nvPr>
        </p:nvSpPr>
        <p:spPr>
          <a:xfrm>
            <a:off x="7095375" y="3406975"/>
            <a:ext cx="1378200" cy="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0" name="Google Shape;2450;p201"/>
          <p:cNvSpPr txBox="1"/>
          <p:nvPr/>
        </p:nvSpPr>
        <p:spPr>
          <a:xfrm>
            <a:off x="3749000" y="3324325"/>
            <a:ext cx="3107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0.8n: +0.3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1" name="Google Shape;2451;p201"/>
          <p:cNvSpPr txBox="1"/>
          <p:nvPr/>
        </p:nvSpPr>
        <p:spPr>
          <a:xfrm>
            <a:off x="3901400" y="4086325"/>
            <a:ext cx="3107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from      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1}n&quot;&gt;&lt;mfrac&gt;&lt;mn&gt;3&lt;/mn&gt;&lt;mn&gt;11&lt;/mn&gt;&lt;/mfrac&gt;&lt;mi&gt;n&lt;/mi&gt;&lt;/math&gt;" id="2452" name="Google Shape;2452;p201" title="3 over 11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8474" y="4366288"/>
            <a:ext cx="372825" cy="44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11}&quot;&gt;&lt;mo&gt;+&lt;/mo&gt;&lt;mfrac&gt;&lt;mn&gt;3&lt;/mn&gt;&lt;mn&gt;11&lt;/mn&gt;&lt;/mfrac&gt;&lt;/math&gt;" id="2453" name="Google Shape;2453;p201" title="positive 3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1082" y="4004567"/>
            <a:ext cx="372814" cy="40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11}&quot;&gt;&lt;mo&gt;+&lt;/mo&gt;&lt;mfrac&gt;&lt;mn&gt;1&lt;/mn&gt;&lt;mn&gt;11&lt;/mn&gt;&lt;/mfrac&gt;&lt;/math&gt;" id="2454" name="Google Shape;2454;p201" title="positive 1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1145" y="4376398"/>
            <a:ext cx="408778" cy="4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202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60" name="Google Shape;2460;p202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61" name="Google Shape;2461;p202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62" name="Google Shape;2462;p20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pic>
        <p:nvPicPr>
          <p:cNvPr id="2463" name="Google Shape;2463;p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06" y="276816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203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the</a:t>
            </a:r>
            <a:r>
              <a:rPr lang="en-GB"/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 of a sequence has many uses.</a:t>
            </a:r>
            <a:endParaRPr/>
          </a:p>
        </p:txBody>
      </p:sp>
      <p:sp>
        <p:nvSpPr>
          <p:cNvPr id="2469" name="Google Shape;2469;p2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</a:t>
            </a:r>
            <a:r>
              <a:rPr lang="en-GB"/>
              <a:t>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70" name="Google Shape;2470;p203"/>
          <p:cNvSpPr txBox="1"/>
          <p:nvPr>
            <p:ph idx="1" type="body"/>
          </p:nvPr>
        </p:nvSpPr>
        <p:spPr>
          <a:xfrm>
            <a:off x="324000" y="1333041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in this sequence?</a:t>
            </a:r>
            <a:endParaRPr/>
          </a:p>
        </p:txBody>
      </p:sp>
      <p:sp>
        <p:nvSpPr>
          <p:cNvPr id="2471" name="Google Shape;2471;p203"/>
          <p:cNvSpPr txBox="1"/>
          <p:nvPr>
            <p:ph idx="1" type="body"/>
          </p:nvPr>
        </p:nvSpPr>
        <p:spPr>
          <a:xfrm>
            <a:off x="324000" y="1876526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17, 29, 41, 53, 65, …</a:t>
            </a:r>
            <a:endParaRPr/>
          </a:p>
        </p:txBody>
      </p:sp>
      <p:sp>
        <p:nvSpPr>
          <p:cNvPr id="2472" name="Google Shape;2472;p203"/>
          <p:cNvSpPr txBox="1"/>
          <p:nvPr>
            <p:ph idx="1" type="body"/>
          </p:nvPr>
        </p:nvSpPr>
        <p:spPr>
          <a:xfrm>
            <a:off x="324000" y="247605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would be highly inefficient to write the next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145</a:t>
            </a:r>
            <a:r>
              <a:rPr lang="en-GB"/>
              <a:t> </a:t>
            </a:r>
            <a:r>
              <a:rPr lang="en-GB"/>
              <a:t>terms out!</a:t>
            </a:r>
            <a:endParaRPr/>
          </a:p>
        </p:txBody>
      </p:sp>
      <p:sp>
        <p:nvSpPr>
          <p:cNvPr id="2473" name="Google Shape;2473;p203"/>
          <p:cNvSpPr txBox="1"/>
          <p:nvPr>
            <p:ph idx="1" type="body"/>
          </p:nvPr>
        </p:nvSpPr>
        <p:spPr>
          <a:xfrm>
            <a:off x="324000" y="294332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17, 29, 41, 53, 65, 77, 89, 101, 113, 125, 137, 149, 161, 173, 185, 197, 209, 221, 233, 245, 257, 269, 281, 293, 305, 317, 329, 341, 353, 365, 377, 389, 401, 413, 425, 437, 449, 461, 473, 485, 497, 509,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p204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the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a sequence has many uses.</a:t>
            </a:r>
            <a:endParaRPr/>
          </a:p>
        </p:txBody>
      </p:sp>
      <p:sp>
        <p:nvSpPr>
          <p:cNvPr id="2479" name="Google Shape;2479;p2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80" name="Google Shape;2480;p204"/>
          <p:cNvSpPr txBox="1"/>
          <p:nvPr>
            <p:ph idx="1" type="body"/>
          </p:nvPr>
        </p:nvSpPr>
        <p:spPr>
          <a:xfrm>
            <a:off x="324000" y="1333041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in this sequence?</a:t>
            </a:r>
            <a:endParaRPr/>
          </a:p>
        </p:txBody>
      </p:sp>
      <p:sp>
        <p:nvSpPr>
          <p:cNvPr id="2481" name="Google Shape;2481;p204"/>
          <p:cNvSpPr txBox="1"/>
          <p:nvPr>
            <p:ph idx="1" type="body"/>
          </p:nvPr>
        </p:nvSpPr>
        <p:spPr>
          <a:xfrm>
            <a:off x="324000" y="1876526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17, 29, 41, 53, 65, …</a:t>
            </a:r>
            <a:endParaRPr/>
          </a:p>
        </p:txBody>
      </p:sp>
      <p:sp>
        <p:nvSpPr>
          <p:cNvPr id="2482" name="Google Shape;2482;p204"/>
          <p:cNvSpPr txBox="1"/>
          <p:nvPr>
            <p:ph idx="1" type="body"/>
          </p:nvPr>
        </p:nvSpPr>
        <p:spPr>
          <a:xfrm>
            <a:off x="324000" y="25119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arithmetic sequence is defined by</a:t>
            </a:r>
            <a:r>
              <a:rPr lang="en-GB"/>
              <a:t> the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/>
          </a:p>
        </p:txBody>
      </p:sp>
      <p:sp>
        <p:nvSpPr>
          <p:cNvPr id="2483" name="Google Shape;2483;p204"/>
          <p:cNvSpPr txBox="1"/>
          <p:nvPr>
            <p:ph idx="1" type="body"/>
          </p:nvPr>
        </p:nvSpPr>
        <p:spPr>
          <a:xfrm>
            <a:off x="324000" y="3161841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150 </a:t>
            </a:r>
            <a:r>
              <a:rPr lang="en-GB"/>
              <a:t>the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12(150) + 5 = 1805</a:t>
            </a:r>
            <a:endParaRPr/>
          </a:p>
        </p:txBody>
      </p:sp>
      <p:sp>
        <p:nvSpPr>
          <p:cNvPr id="2484" name="Google Shape;2484;p204"/>
          <p:cNvSpPr txBox="1"/>
          <p:nvPr>
            <p:ph idx="1" type="body"/>
          </p:nvPr>
        </p:nvSpPr>
        <p:spPr>
          <a:xfrm>
            <a:off x="6249671" y="1312879"/>
            <a:ext cx="75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1805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05"/>
          <p:cNvSpPr txBox="1"/>
          <p:nvPr>
            <p:ph idx="1" type="body"/>
          </p:nvPr>
        </p:nvSpPr>
        <p:spPr>
          <a:xfrm>
            <a:off x="324000" y="759300"/>
            <a:ext cx="71352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work backwards, solving an equation, to find a term’s position in a </a:t>
            </a:r>
            <a:r>
              <a:rPr lang="en-GB"/>
              <a:t>sequence</a:t>
            </a:r>
            <a:r>
              <a:rPr lang="en-GB"/>
              <a:t>.</a:t>
            </a:r>
            <a:endParaRPr/>
          </a:p>
        </p:txBody>
      </p:sp>
      <p:sp>
        <p:nvSpPr>
          <p:cNvPr id="2490" name="Google Shape;2490;p2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491" name="Google Shape;2491;p205"/>
          <p:cNvSpPr txBox="1"/>
          <p:nvPr>
            <p:ph idx="1" type="body"/>
          </p:nvPr>
        </p:nvSpPr>
        <p:spPr>
          <a:xfrm>
            <a:off x="324000" y="2247441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2585</a:t>
            </a:r>
            <a:r>
              <a:rPr lang="en-GB"/>
              <a:t> </a:t>
            </a:r>
            <a:r>
              <a:rPr lang="en-GB"/>
              <a:t>i</a:t>
            </a:r>
            <a:r>
              <a:rPr lang="en-GB"/>
              <a:t>s</a:t>
            </a:r>
            <a:r>
              <a:rPr lang="en-GB"/>
              <a:t> in this sequence. What position is it?</a:t>
            </a:r>
            <a:endParaRPr/>
          </a:p>
        </p:txBody>
      </p:sp>
      <p:sp>
        <p:nvSpPr>
          <p:cNvPr id="2492" name="Google Shape;2492;p205"/>
          <p:cNvSpPr txBox="1"/>
          <p:nvPr>
            <p:ph idx="1" type="body"/>
          </p:nvPr>
        </p:nvSpPr>
        <p:spPr>
          <a:xfrm>
            <a:off x="324000" y="1647926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17, 29, 41, 53, 65, …</a:t>
            </a:r>
            <a:endParaRPr/>
          </a:p>
        </p:txBody>
      </p:sp>
      <p:sp>
        <p:nvSpPr>
          <p:cNvPr id="2493" name="Google Shape;2493;p205"/>
          <p:cNvSpPr txBox="1"/>
          <p:nvPr>
            <p:ph idx="1" type="body"/>
          </p:nvPr>
        </p:nvSpPr>
        <p:spPr>
          <a:xfrm>
            <a:off x="324000" y="4465322"/>
            <a:ext cx="606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585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is in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position in this sequence.</a:t>
            </a:r>
            <a:endParaRPr/>
          </a:p>
        </p:txBody>
      </p:sp>
      <p:graphicFrame>
        <p:nvGraphicFramePr>
          <p:cNvPr id="2494" name="Google Shape;2494;p205"/>
          <p:cNvGraphicFramePr/>
          <p:nvPr/>
        </p:nvGraphicFramePr>
        <p:xfrm>
          <a:off x="2989250" y="277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154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5" name="Google Shape;2495;p205"/>
          <p:cNvSpPr txBox="1"/>
          <p:nvPr>
            <p:ph idx="1" type="body"/>
          </p:nvPr>
        </p:nvSpPr>
        <p:spPr>
          <a:xfrm>
            <a:off x="4322259" y="1653529"/>
            <a:ext cx="12501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/>
          </a:p>
        </p:txBody>
      </p:sp>
      <p:graphicFrame>
        <p:nvGraphicFramePr>
          <p:cNvPr id="2496" name="Google Shape;2496;p205"/>
          <p:cNvGraphicFramePr/>
          <p:nvPr/>
        </p:nvGraphicFramePr>
        <p:xfrm>
          <a:off x="2989250" y="277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154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7" name="Google Shape;2497;p205"/>
          <p:cNvGraphicFramePr/>
          <p:nvPr/>
        </p:nvGraphicFramePr>
        <p:xfrm>
          <a:off x="2989250" y="277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154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206"/>
          <p:cNvSpPr txBox="1"/>
          <p:nvPr>
            <p:ph idx="1" type="body"/>
          </p:nvPr>
        </p:nvSpPr>
        <p:spPr>
          <a:xfrm>
            <a:off x="324000" y="759300"/>
            <a:ext cx="71352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about a term that is </a:t>
            </a:r>
            <a:r>
              <a:rPr lang="en-GB">
                <a:solidFill>
                  <a:schemeClr val="accent5"/>
                </a:solidFill>
              </a:rPr>
              <a:t>not </a:t>
            </a:r>
            <a:r>
              <a:rPr lang="en-GB"/>
              <a:t>in this sequence?</a:t>
            </a:r>
            <a:endParaRPr/>
          </a:p>
        </p:txBody>
      </p:sp>
      <p:sp>
        <p:nvSpPr>
          <p:cNvPr id="2503" name="Google Shape;2503;p2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504" name="Google Shape;2504;p206"/>
          <p:cNvSpPr txBox="1"/>
          <p:nvPr>
            <p:ph idx="1" type="body"/>
          </p:nvPr>
        </p:nvSpPr>
        <p:spPr>
          <a:xfrm>
            <a:off x="324000" y="1770071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2585</a:t>
            </a:r>
            <a:r>
              <a:rPr lang="en-GB"/>
              <a:t> is in this sequence so we know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2590</a:t>
            </a:r>
            <a:r>
              <a:rPr lang="en-GB"/>
              <a:t> is not.</a:t>
            </a:r>
            <a:endParaRPr/>
          </a:p>
        </p:txBody>
      </p:sp>
      <p:sp>
        <p:nvSpPr>
          <p:cNvPr id="2505" name="Google Shape;2505;p206"/>
          <p:cNvSpPr txBox="1"/>
          <p:nvPr>
            <p:ph idx="1" type="body"/>
          </p:nvPr>
        </p:nvSpPr>
        <p:spPr>
          <a:xfrm>
            <a:off x="324000" y="1246756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17, 29, 41, 53, 65, …</a:t>
            </a:r>
            <a:endParaRPr/>
          </a:p>
        </p:txBody>
      </p:sp>
      <p:sp>
        <p:nvSpPr>
          <p:cNvPr id="2506" name="Google Shape;2506;p206"/>
          <p:cNvSpPr txBox="1"/>
          <p:nvPr>
            <p:ph idx="1" type="body"/>
          </p:nvPr>
        </p:nvSpPr>
        <p:spPr>
          <a:xfrm>
            <a:off x="324000" y="3662984"/>
            <a:ext cx="8089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position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/>
              <a:t> has to be a positive integer for this sequence. </a:t>
            </a:r>
            <a:r>
              <a:rPr lang="en-GB"/>
              <a:t>This equation does not have a whole number solution so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2590 </a:t>
            </a:r>
            <a:r>
              <a:rPr lang="en-GB"/>
              <a:t>is not in the sequence.</a:t>
            </a:r>
            <a:endParaRPr/>
          </a:p>
        </p:txBody>
      </p:sp>
      <p:graphicFrame>
        <p:nvGraphicFramePr>
          <p:cNvPr id="2507" name="Google Shape;2507;p206"/>
          <p:cNvGraphicFramePr/>
          <p:nvPr/>
        </p:nvGraphicFramePr>
        <p:xfrm>
          <a:off x="2913050" y="2224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2701650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2590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215.417 (to 3 d.p.)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8" name="Google Shape;2508;p206"/>
          <p:cNvSpPr txBox="1"/>
          <p:nvPr>
            <p:ph idx="1" type="body"/>
          </p:nvPr>
        </p:nvSpPr>
        <p:spPr>
          <a:xfrm>
            <a:off x="4322259" y="1252359"/>
            <a:ext cx="12501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/>
          </a:p>
        </p:txBody>
      </p:sp>
      <p:graphicFrame>
        <p:nvGraphicFramePr>
          <p:cNvPr id="2509" name="Google Shape;2509;p206"/>
          <p:cNvGraphicFramePr/>
          <p:nvPr/>
        </p:nvGraphicFramePr>
        <p:xfrm>
          <a:off x="2913050" y="2224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2701650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2590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10" name="Google Shape;2510;p206"/>
          <p:cNvGraphicFramePr/>
          <p:nvPr/>
        </p:nvGraphicFramePr>
        <p:xfrm>
          <a:off x="2913050" y="2224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54975"/>
                <a:gridCol w="397950"/>
                <a:gridCol w="2701650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2590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207"/>
          <p:cNvSpPr txBox="1"/>
          <p:nvPr>
            <p:ph idx="1" type="subTitle"/>
          </p:nvPr>
        </p:nvSpPr>
        <p:spPr>
          <a:xfrm>
            <a:off x="324000" y="1044168"/>
            <a:ext cx="7786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 = 307 </a:t>
            </a:r>
            <a:r>
              <a:rPr lang="en-GB"/>
              <a:t>therefore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307</a:t>
            </a:r>
            <a:r>
              <a:rPr lang="en-GB"/>
              <a:t> must be in the sequence.</a:t>
            </a:r>
            <a:endParaRPr sz="1800"/>
          </a:p>
        </p:txBody>
      </p:sp>
      <p:sp>
        <p:nvSpPr>
          <p:cNvPr id="2516" name="Google Shape;2516;p2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517" name="Google Shape;2517;p207"/>
          <p:cNvSpPr txBox="1"/>
          <p:nvPr>
            <p:ph idx="2" type="subTitle"/>
          </p:nvPr>
        </p:nvSpPr>
        <p:spPr>
          <a:xfrm>
            <a:off x="980575" y="2988816"/>
            <a:ext cx="7069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</a:t>
            </a:r>
            <a:r>
              <a:rPr lang="en-GB"/>
              <a:t> can solve the equation using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then it must be in the sequence.</a:t>
            </a:r>
            <a:endParaRPr/>
          </a:p>
        </p:txBody>
      </p:sp>
      <p:sp>
        <p:nvSpPr>
          <p:cNvPr id="2518" name="Google Shape;2518;p207"/>
          <p:cNvSpPr txBox="1"/>
          <p:nvPr>
            <p:ph idx="3" type="subTitle"/>
          </p:nvPr>
        </p:nvSpPr>
        <p:spPr>
          <a:xfrm>
            <a:off x="980575" y="3887950"/>
            <a:ext cx="65451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solve equations to find the position of a term but the solution must be a positive integer.</a:t>
            </a:r>
            <a:endParaRPr/>
          </a:p>
        </p:txBody>
      </p:sp>
      <p:sp>
        <p:nvSpPr>
          <p:cNvPr id="2519" name="Google Shape;2519;p207"/>
          <p:cNvSpPr txBox="1"/>
          <p:nvPr>
            <p:ph idx="4294967295" type="body"/>
          </p:nvPr>
        </p:nvSpPr>
        <p:spPr>
          <a:xfrm>
            <a:off x="2891932" y="667131"/>
            <a:ext cx="3369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 :  −7, −3, 1, 5, 9 …</a:t>
            </a:r>
            <a:endParaRPr sz="2400"/>
          </a:p>
        </p:txBody>
      </p:sp>
      <p:pic>
        <p:nvPicPr>
          <p:cNvPr id="2520" name="Google Shape;2520;p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81218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1" name="Google Shape;2521;p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83" y="399732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208"/>
          <p:cNvSpPr txBox="1"/>
          <p:nvPr>
            <p:ph idx="1" type="subTitle"/>
          </p:nvPr>
        </p:nvSpPr>
        <p:spPr>
          <a:xfrm>
            <a:off x="324000" y="1044168"/>
            <a:ext cx="7786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 = 307 </a:t>
            </a:r>
            <a:r>
              <a:rPr lang="en-GB"/>
              <a:t>therefore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307</a:t>
            </a:r>
            <a:r>
              <a:rPr lang="en-GB"/>
              <a:t> must be in the sequence.</a:t>
            </a:r>
            <a:endParaRPr sz="1800"/>
          </a:p>
        </p:txBody>
      </p:sp>
      <p:sp>
        <p:nvSpPr>
          <p:cNvPr id="2527" name="Google Shape;2527;p2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b="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528" name="Google Shape;2528;p208"/>
          <p:cNvSpPr txBox="1"/>
          <p:nvPr>
            <p:ph idx="3" type="subTitle"/>
          </p:nvPr>
        </p:nvSpPr>
        <p:spPr>
          <a:xfrm>
            <a:off x="980575" y="3887950"/>
            <a:ext cx="65451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solve equations to find the position of a term but the solution must be a positive integer.</a:t>
            </a:r>
            <a:endParaRPr/>
          </a:p>
        </p:txBody>
      </p:sp>
      <p:sp>
        <p:nvSpPr>
          <p:cNvPr id="2529" name="Google Shape;2529;p208"/>
          <p:cNvSpPr txBox="1"/>
          <p:nvPr>
            <p:ph idx="4294967295" type="body"/>
          </p:nvPr>
        </p:nvSpPr>
        <p:spPr>
          <a:xfrm>
            <a:off x="2891932" y="667131"/>
            <a:ext cx="3369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 :  −7, −3, 1, 5, 9 …</a:t>
            </a:r>
            <a:endParaRPr sz="2400"/>
          </a:p>
        </p:txBody>
      </p:sp>
      <p:pic>
        <p:nvPicPr>
          <p:cNvPr id="2530" name="Google Shape;2530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81218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1" name="Google Shape;2531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83" y="39973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208"/>
          <p:cNvSpPr/>
          <p:nvPr/>
        </p:nvSpPr>
        <p:spPr>
          <a:xfrm>
            <a:off x="2383004" y="1744451"/>
            <a:ext cx="4420800" cy="6135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33" name="Google Shape;2533;p208"/>
          <p:cNvGraphicFramePr/>
          <p:nvPr/>
        </p:nvGraphicFramePr>
        <p:xfrm>
          <a:off x="3588765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41125"/>
                <a:gridCol w="394150"/>
                <a:gridCol w="96142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− 11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307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79.5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4" name="Google Shape;2534;p208"/>
          <p:cNvSpPr txBox="1"/>
          <p:nvPr/>
        </p:nvSpPr>
        <p:spPr>
          <a:xfrm>
            <a:off x="6491343" y="1952725"/>
            <a:ext cx="2343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no 79.5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therefore 307 is not in the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209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For each sequence: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(i) 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 (ii) find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(iii) </a:t>
            </a:r>
            <a:r>
              <a:rPr lang="en-GB" sz="2000"/>
              <a:t>identify if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2000"/>
              <a:t> is in the sequence and if so, its position.</a:t>
            </a:r>
            <a:endParaRPr sz="2000"/>
          </a:p>
        </p:txBody>
      </p:sp>
      <p:sp>
        <p:nvSpPr>
          <p:cNvPr id="2540" name="Google Shape;2540;p2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541" name="Google Shape;2541;p209"/>
          <p:cNvSpPr txBox="1"/>
          <p:nvPr>
            <p:ph idx="4294967295" type="body"/>
          </p:nvPr>
        </p:nvSpPr>
        <p:spPr>
          <a:xfrm>
            <a:off x="321303" y="2089157"/>
            <a:ext cx="3369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−10, −7,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−4, 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1, 3, …</a:t>
            </a:r>
            <a:endParaRPr sz="2400"/>
          </a:p>
        </p:txBody>
      </p:sp>
      <p:sp>
        <p:nvSpPr>
          <p:cNvPr id="2542" name="Google Shape;2542;p209"/>
          <p:cNvSpPr txBox="1"/>
          <p:nvPr>
            <p:ph idx="4294967295" type="body"/>
          </p:nvPr>
        </p:nvSpPr>
        <p:spPr>
          <a:xfrm>
            <a:off x="321300" y="2904384"/>
            <a:ext cx="39165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r>
              <a:rPr lang="en-GB" sz="2400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999, 996, 993, 990, 987, …</a:t>
            </a:r>
            <a:endParaRPr sz="2400"/>
          </a:p>
        </p:txBody>
      </p:sp>
      <p:sp>
        <p:nvSpPr>
          <p:cNvPr id="2543" name="Google Shape;2543;p209"/>
          <p:cNvSpPr txBox="1"/>
          <p:nvPr>
            <p:ph idx="4294967295" type="body"/>
          </p:nvPr>
        </p:nvSpPr>
        <p:spPr>
          <a:xfrm>
            <a:off x="321300" y="3719610"/>
            <a:ext cx="39165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</a:t>
            </a:r>
            <a:r>
              <a:rPr lang="en-GB" sz="2400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8.4, 8.8, 9.2, 9.6, …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210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Assuming each pattern </a:t>
            </a:r>
            <a:r>
              <a:rPr lang="en-GB" sz="2000"/>
              <a:t>continues</a:t>
            </a:r>
            <a:r>
              <a:rPr lang="en-GB" sz="2000"/>
              <a:t> to grow the same way, will we see one with exactly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2000"/>
              <a:t> circles?</a:t>
            </a:r>
            <a:endParaRPr sz="2000"/>
          </a:p>
        </p:txBody>
      </p:sp>
      <p:sp>
        <p:nvSpPr>
          <p:cNvPr id="2549" name="Google Shape;2549;p2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550" name="Google Shape;2550;p210"/>
          <p:cNvSpPr txBox="1"/>
          <p:nvPr>
            <p:ph idx="4294967295" type="body"/>
          </p:nvPr>
        </p:nvSpPr>
        <p:spPr>
          <a:xfrm>
            <a:off x="321300" y="1499721"/>
            <a:ext cx="4887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a)</a:t>
            </a:r>
            <a:endParaRPr sz="2400"/>
          </a:p>
        </p:txBody>
      </p:sp>
      <p:sp>
        <p:nvSpPr>
          <p:cNvPr id="2551" name="Google Shape;2551;p210"/>
          <p:cNvSpPr txBox="1"/>
          <p:nvPr>
            <p:ph idx="4294967295" type="body"/>
          </p:nvPr>
        </p:nvSpPr>
        <p:spPr>
          <a:xfrm>
            <a:off x="321300" y="2581646"/>
            <a:ext cx="5682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b)</a:t>
            </a:r>
            <a:endParaRPr sz="2400"/>
          </a:p>
        </p:txBody>
      </p:sp>
      <p:sp>
        <p:nvSpPr>
          <p:cNvPr id="2552" name="Google Shape;2552;p210"/>
          <p:cNvSpPr txBox="1"/>
          <p:nvPr>
            <p:ph idx="4294967295" type="body"/>
          </p:nvPr>
        </p:nvSpPr>
        <p:spPr>
          <a:xfrm>
            <a:off x="321300" y="3663571"/>
            <a:ext cx="5682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c)</a:t>
            </a:r>
            <a:endParaRPr sz="2400"/>
          </a:p>
        </p:txBody>
      </p:sp>
      <p:sp>
        <p:nvSpPr>
          <p:cNvPr id="2553" name="Google Shape;2553;p210"/>
          <p:cNvSpPr/>
          <p:nvPr/>
        </p:nvSpPr>
        <p:spPr>
          <a:xfrm>
            <a:off x="756175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210"/>
          <p:cNvSpPr/>
          <p:nvPr/>
        </p:nvSpPr>
        <p:spPr>
          <a:xfrm>
            <a:off x="756175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210"/>
          <p:cNvSpPr/>
          <p:nvPr/>
        </p:nvSpPr>
        <p:spPr>
          <a:xfrm>
            <a:off x="756175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210"/>
          <p:cNvSpPr/>
          <p:nvPr/>
        </p:nvSpPr>
        <p:spPr>
          <a:xfrm>
            <a:off x="955400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210"/>
          <p:cNvSpPr/>
          <p:nvPr/>
        </p:nvSpPr>
        <p:spPr>
          <a:xfrm>
            <a:off x="1003080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210"/>
          <p:cNvSpPr/>
          <p:nvPr/>
        </p:nvSpPr>
        <p:spPr>
          <a:xfrm>
            <a:off x="1204010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10"/>
          <p:cNvSpPr/>
          <p:nvPr/>
        </p:nvSpPr>
        <p:spPr>
          <a:xfrm>
            <a:off x="1003080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210"/>
          <p:cNvSpPr/>
          <p:nvPr/>
        </p:nvSpPr>
        <p:spPr>
          <a:xfrm>
            <a:off x="1204010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10"/>
          <p:cNvSpPr/>
          <p:nvPr/>
        </p:nvSpPr>
        <p:spPr>
          <a:xfrm>
            <a:off x="1470497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210"/>
          <p:cNvSpPr/>
          <p:nvPr/>
        </p:nvSpPr>
        <p:spPr>
          <a:xfrm>
            <a:off x="1470497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210"/>
          <p:cNvSpPr/>
          <p:nvPr/>
        </p:nvSpPr>
        <p:spPr>
          <a:xfrm>
            <a:off x="1470497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210"/>
          <p:cNvSpPr/>
          <p:nvPr/>
        </p:nvSpPr>
        <p:spPr>
          <a:xfrm>
            <a:off x="3940401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210"/>
          <p:cNvSpPr/>
          <p:nvPr/>
        </p:nvSpPr>
        <p:spPr>
          <a:xfrm>
            <a:off x="3940401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210"/>
          <p:cNvSpPr/>
          <p:nvPr/>
        </p:nvSpPr>
        <p:spPr>
          <a:xfrm>
            <a:off x="3940401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210"/>
          <p:cNvSpPr/>
          <p:nvPr/>
        </p:nvSpPr>
        <p:spPr>
          <a:xfrm>
            <a:off x="4139626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210"/>
          <p:cNvSpPr/>
          <p:nvPr/>
        </p:nvSpPr>
        <p:spPr>
          <a:xfrm>
            <a:off x="4187307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210"/>
          <p:cNvSpPr/>
          <p:nvPr/>
        </p:nvSpPr>
        <p:spPr>
          <a:xfrm>
            <a:off x="4388237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10"/>
          <p:cNvSpPr/>
          <p:nvPr/>
        </p:nvSpPr>
        <p:spPr>
          <a:xfrm>
            <a:off x="4187307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10"/>
          <p:cNvSpPr/>
          <p:nvPr/>
        </p:nvSpPr>
        <p:spPr>
          <a:xfrm>
            <a:off x="4388237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210"/>
          <p:cNvSpPr/>
          <p:nvPr/>
        </p:nvSpPr>
        <p:spPr>
          <a:xfrm>
            <a:off x="4602787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210"/>
          <p:cNvSpPr/>
          <p:nvPr/>
        </p:nvSpPr>
        <p:spPr>
          <a:xfrm>
            <a:off x="4650467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10"/>
          <p:cNvSpPr/>
          <p:nvPr/>
        </p:nvSpPr>
        <p:spPr>
          <a:xfrm>
            <a:off x="4851397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10"/>
          <p:cNvSpPr/>
          <p:nvPr/>
        </p:nvSpPr>
        <p:spPr>
          <a:xfrm>
            <a:off x="4650467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210"/>
          <p:cNvSpPr/>
          <p:nvPr/>
        </p:nvSpPr>
        <p:spPr>
          <a:xfrm>
            <a:off x="4851397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210"/>
          <p:cNvSpPr/>
          <p:nvPr/>
        </p:nvSpPr>
        <p:spPr>
          <a:xfrm>
            <a:off x="5573382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210"/>
          <p:cNvSpPr/>
          <p:nvPr/>
        </p:nvSpPr>
        <p:spPr>
          <a:xfrm>
            <a:off x="5573382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210"/>
          <p:cNvSpPr/>
          <p:nvPr/>
        </p:nvSpPr>
        <p:spPr>
          <a:xfrm>
            <a:off x="5573382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210"/>
          <p:cNvSpPr/>
          <p:nvPr/>
        </p:nvSpPr>
        <p:spPr>
          <a:xfrm>
            <a:off x="5058284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210"/>
          <p:cNvSpPr/>
          <p:nvPr/>
        </p:nvSpPr>
        <p:spPr>
          <a:xfrm>
            <a:off x="5105965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10"/>
          <p:cNvSpPr/>
          <p:nvPr/>
        </p:nvSpPr>
        <p:spPr>
          <a:xfrm>
            <a:off x="5306894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210"/>
          <p:cNvSpPr/>
          <p:nvPr/>
        </p:nvSpPr>
        <p:spPr>
          <a:xfrm>
            <a:off x="5105965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10"/>
          <p:cNvSpPr/>
          <p:nvPr/>
        </p:nvSpPr>
        <p:spPr>
          <a:xfrm>
            <a:off x="5306894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210"/>
          <p:cNvSpPr/>
          <p:nvPr/>
        </p:nvSpPr>
        <p:spPr>
          <a:xfrm>
            <a:off x="2145656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210"/>
          <p:cNvSpPr/>
          <p:nvPr/>
        </p:nvSpPr>
        <p:spPr>
          <a:xfrm>
            <a:off x="2145656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10"/>
          <p:cNvSpPr/>
          <p:nvPr/>
        </p:nvSpPr>
        <p:spPr>
          <a:xfrm>
            <a:off x="2145656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10"/>
          <p:cNvSpPr/>
          <p:nvPr/>
        </p:nvSpPr>
        <p:spPr>
          <a:xfrm>
            <a:off x="2344881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10"/>
          <p:cNvSpPr/>
          <p:nvPr/>
        </p:nvSpPr>
        <p:spPr>
          <a:xfrm>
            <a:off x="2392561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210"/>
          <p:cNvSpPr/>
          <p:nvPr/>
        </p:nvSpPr>
        <p:spPr>
          <a:xfrm>
            <a:off x="2593491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210"/>
          <p:cNvSpPr/>
          <p:nvPr/>
        </p:nvSpPr>
        <p:spPr>
          <a:xfrm>
            <a:off x="2392561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210"/>
          <p:cNvSpPr/>
          <p:nvPr/>
        </p:nvSpPr>
        <p:spPr>
          <a:xfrm>
            <a:off x="2593491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210"/>
          <p:cNvSpPr/>
          <p:nvPr/>
        </p:nvSpPr>
        <p:spPr>
          <a:xfrm>
            <a:off x="2808041" y="3932039"/>
            <a:ext cx="459600" cy="680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210"/>
          <p:cNvSpPr/>
          <p:nvPr/>
        </p:nvSpPr>
        <p:spPr>
          <a:xfrm>
            <a:off x="2855721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210"/>
          <p:cNvSpPr/>
          <p:nvPr/>
        </p:nvSpPr>
        <p:spPr>
          <a:xfrm>
            <a:off x="3056651" y="3738954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10"/>
          <p:cNvSpPr/>
          <p:nvPr/>
        </p:nvSpPr>
        <p:spPr>
          <a:xfrm>
            <a:off x="2855721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210"/>
          <p:cNvSpPr/>
          <p:nvPr/>
        </p:nvSpPr>
        <p:spPr>
          <a:xfrm>
            <a:off x="3056651" y="465706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210"/>
          <p:cNvSpPr/>
          <p:nvPr/>
        </p:nvSpPr>
        <p:spPr>
          <a:xfrm>
            <a:off x="3311219" y="4435125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210"/>
          <p:cNvSpPr/>
          <p:nvPr/>
        </p:nvSpPr>
        <p:spPr>
          <a:xfrm>
            <a:off x="3311219" y="4201311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210"/>
          <p:cNvSpPr/>
          <p:nvPr/>
        </p:nvSpPr>
        <p:spPr>
          <a:xfrm>
            <a:off x="3311219" y="3967498"/>
            <a:ext cx="152100" cy="156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10"/>
          <p:cNvSpPr/>
          <p:nvPr/>
        </p:nvSpPr>
        <p:spPr>
          <a:xfrm>
            <a:off x="746094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210"/>
          <p:cNvSpPr/>
          <p:nvPr/>
        </p:nvSpPr>
        <p:spPr>
          <a:xfrm>
            <a:off x="101055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210"/>
          <p:cNvSpPr/>
          <p:nvPr/>
        </p:nvSpPr>
        <p:spPr>
          <a:xfrm>
            <a:off x="127949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10"/>
          <p:cNvSpPr/>
          <p:nvPr/>
        </p:nvSpPr>
        <p:spPr>
          <a:xfrm>
            <a:off x="1543961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210"/>
          <p:cNvSpPr/>
          <p:nvPr/>
        </p:nvSpPr>
        <p:spPr>
          <a:xfrm>
            <a:off x="180281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210"/>
          <p:cNvSpPr/>
          <p:nvPr/>
        </p:nvSpPr>
        <p:spPr>
          <a:xfrm>
            <a:off x="2498694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210"/>
          <p:cNvSpPr/>
          <p:nvPr/>
        </p:nvSpPr>
        <p:spPr>
          <a:xfrm>
            <a:off x="276315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210"/>
          <p:cNvSpPr/>
          <p:nvPr/>
        </p:nvSpPr>
        <p:spPr>
          <a:xfrm>
            <a:off x="303209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210"/>
          <p:cNvSpPr/>
          <p:nvPr/>
        </p:nvSpPr>
        <p:spPr>
          <a:xfrm>
            <a:off x="3296561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210"/>
          <p:cNvSpPr/>
          <p:nvPr/>
        </p:nvSpPr>
        <p:spPr>
          <a:xfrm>
            <a:off x="355541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210"/>
          <p:cNvSpPr/>
          <p:nvPr/>
        </p:nvSpPr>
        <p:spPr>
          <a:xfrm>
            <a:off x="2498694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210"/>
          <p:cNvSpPr/>
          <p:nvPr/>
        </p:nvSpPr>
        <p:spPr>
          <a:xfrm>
            <a:off x="2763155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210"/>
          <p:cNvSpPr/>
          <p:nvPr/>
        </p:nvSpPr>
        <p:spPr>
          <a:xfrm>
            <a:off x="3032099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210"/>
          <p:cNvSpPr/>
          <p:nvPr/>
        </p:nvSpPr>
        <p:spPr>
          <a:xfrm>
            <a:off x="4175094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10"/>
          <p:cNvSpPr/>
          <p:nvPr/>
        </p:nvSpPr>
        <p:spPr>
          <a:xfrm>
            <a:off x="443955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10"/>
          <p:cNvSpPr/>
          <p:nvPr/>
        </p:nvSpPr>
        <p:spPr>
          <a:xfrm>
            <a:off x="470849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10"/>
          <p:cNvSpPr/>
          <p:nvPr/>
        </p:nvSpPr>
        <p:spPr>
          <a:xfrm>
            <a:off x="4972961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210"/>
          <p:cNvSpPr/>
          <p:nvPr/>
        </p:nvSpPr>
        <p:spPr>
          <a:xfrm>
            <a:off x="523181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210"/>
          <p:cNvSpPr/>
          <p:nvPr/>
        </p:nvSpPr>
        <p:spPr>
          <a:xfrm>
            <a:off x="4175094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10"/>
          <p:cNvSpPr/>
          <p:nvPr/>
        </p:nvSpPr>
        <p:spPr>
          <a:xfrm>
            <a:off x="4439555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210"/>
          <p:cNvSpPr/>
          <p:nvPr/>
        </p:nvSpPr>
        <p:spPr>
          <a:xfrm>
            <a:off x="4708499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210"/>
          <p:cNvSpPr/>
          <p:nvPr/>
        </p:nvSpPr>
        <p:spPr>
          <a:xfrm>
            <a:off x="4175094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10"/>
          <p:cNvSpPr/>
          <p:nvPr/>
        </p:nvSpPr>
        <p:spPr>
          <a:xfrm>
            <a:off x="4439555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210"/>
          <p:cNvSpPr/>
          <p:nvPr/>
        </p:nvSpPr>
        <p:spPr>
          <a:xfrm>
            <a:off x="4708499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210"/>
          <p:cNvSpPr/>
          <p:nvPr/>
        </p:nvSpPr>
        <p:spPr>
          <a:xfrm>
            <a:off x="1004950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210"/>
          <p:cNvSpPr/>
          <p:nvPr/>
        </p:nvSpPr>
        <p:spPr>
          <a:xfrm>
            <a:off x="1269411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210"/>
          <p:cNvSpPr/>
          <p:nvPr/>
        </p:nvSpPr>
        <p:spPr>
          <a:xfrm>
            <a:off x="15193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210"/>
          <p:cNvSpPr/>
          <p:nvPr/>
        </p:nvSpPr>
        <p:spPr>
          <a:xfrm>
            <a:off x="1004950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210"/>
          <p:cNvSpPr/>
          <p:nvPr/>
        </p:nvSpPr>
        <p:spPr>
          <a:xfrm>
            <a:off x="1269411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10"/>
          <p:cNvSpPr/>
          <p:nvPr/>
        </p:nvSpPr>
        <p:spPr>
          <a:xfrm>
            <a:off x="1004950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210"/>
          <p:cNvSpPr/>
          <p:nvPr/>
        </p:nvSpPr>
        <p:spPr>
          <a:xfrm>
            <a:off x="126941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210"/>
          <p:cNvSpPr/>
          <p:nvPr/>
        </p:nvSpPr>
        <p:spPr>
          <a:xfrm>
            <a:off x="7715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210"/>
          <p:cNvSpPr/>
          <p:nvPr/>
        </p:nvSpPr>
        <p:spPr>
          <a:xfrm>
            <a:off x="2681350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210"/>
          <p:cNvSpPr/>
          <p:nvPr/>
        </p:nvSpPr>
        <p:spPr>
          <a:xfrm>
            <a:off x="2945811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210"/>
          <p:cNvSpPr/>
          <p:nvPr/>
        </p:nvSpPr>
        <p:spPr>
          <a:xfrm>
            <a:off x="31957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210"/>
          <p:cNvSpPr/>
          <p:nvPr/>
        </p:nvSpPr>
        <p:spPr>
          <a:xfrm>
            <a:off x="2681350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210"/>
          <p:cNvSpPr/>
          <p:nvPr/>
        </p:nvSpPr>
        <p:spPr>
          <a:xfrm>
            <a:off x="2945811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10"/>
          <p:cNvSpPr/>
          <p:nvPr/>
        </p:nvSpPr>
        <p:spPr>
          <a:xfrm>
            <a:off x="2681350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210"/>
          <p:cNvSpPr/>
          <p:nvPr/>
        </p:nvSpPr>
        <p:spPr>
          <a:xfrm>
            <a:off x="294581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210"/>
          <p:cNvSpPr/>
          <p:nvPr/>
        </p:nvSpPr>
        <p:spPr>
          <a:xfrm>
            <a:off x="24479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210"/>
          <p:cNvSpPr/>
          <p:nvPr/>
        </p:nvSpPr>
        <p:spPr>
          <a:xfrm>
            <a:off x="22193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210"/>
          <p:cNvSpPr/>
          <p:nvPr/>
        </p:nvSpPr>
        <p:spPr>
          <a:xfrm>
            <a:off x="34243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210"/>
          <p:cNvSpPr/>
          <p:nvPr/>
        </p:nvSpPr>
        <p:spPr>
          <a:xfrm>
            <a:off x="4738750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210"/>
          <p:cNvSpPr/>
          <p:nvPr/>
        </p:nvSpPr>
        <p:spPr>
          <a:xfrm>
            <a:off x="5003211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210"/>
          <p:cNvSpPr/>
          <p:nvPr/>
        </p:nvSpPr>
        <p:spPr>
          <a:xfrm>
            <a:off x="52531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210"/>
          <p:cNvSpPr/>
          <p:nvPr/>
        </p:nvSpPr>
        <p:spPr>
          <a:xfrm>
            <a:off x="4738750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10"/>
          <p:cNvSpPr/>
          <p:nvPr/>
        </p:nvSpPr>
        <p:spPr>
          <a:xfrm>
            <a:off x="5003211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210"/>
          <p:cNvSpPr/>
          <p:nvPr/>
        </p:nvSpPr>
        <p:spPr>
          <a:xfrm>
            <a:off x="4738750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10"/>
          <p:cNvSpPr/>
          <p:nvPr/>
        </p:nvSpPr>
        <p:spPr>
          <a:xfrm>
            <a:off x="500321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210"/>
          <p:cNvSpPr/>
          <p:nvPr/>
        </p:nvSpPr>
        <p:spPr>
          <a:xfrm>
            <a:off x="45053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210"/>
          <p:cNvSpPr/>
          <p:nvPr/>
        </p:nvSpPr>
        <p:spPr>
          <a:xfrm>
            <a:off x="42767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210"/>
          <p:cNvSpPr/>
          <p:nvPr/>
        </p:nvSpPr>
        <p:spPr>
          <a:xfrm>
            <a:off x="54817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210"/>
          <p:cNvSpPr/>
          <p:nvPr/>
        </p:nvSpPr>
        <p:spPr>
          <a:xfrm>
            <a:off x="4048193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210"/>
          <p:cNvSpPr/>
          <p:nvPr/>
        </p:nvSpPr>
        <p:spPr>
          <a:xfrm>
            <a:off x="5710305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210"/>
          <p:cNvSpPr txBox="1"/>
          <p:nvPr>
            <p:ph idx="4294967295" type="body"/>
          </p:nvPr>
        </p:nvSpPr>
        <p:spPr>
          <a:xfrm>
            <a:off x="2073900" y="18807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56" name="Google Shape;2656;p210"/>
          <p:cNvSpPr txBox="1"/>
          <p:nvPr>
            <p:ph idx="4294967295" type="body"/>
          </p:nvPr>
        </p:nvSpPr>
        <p:spPr>
          <a:xfrm>
            <a:off x="3836585" y="18807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57" name="Google Shape;2657;p210"/>
          <p:cNvSpPr txBox="1"/>
          <p:nvPr>
            <p:ph idx="4294967295" type="body"/>
          </p:nvPr>
        </p:nvSpPr>
        <p:spPr>
          <a:xfrm>
            <a:off x="5512993" y="18807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658" name="Google Shape;2658;p210"/>
          <p:cNvSpPr txBox="1"/>
          <p:nvPr>
            <p:ph idx="4294967295" type="body"/>
          </p:nvPr>
        </p:nvSpPr>
        <p:spPr>
          <a:xfrm>
            <a:off x="1692900" y="2947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59" name="Google Shape;2659;p210"/>
          <p:cNvSpPr txBox="1"/>
          <p:nvPr>
            <p:ph idx="4294967295" type="body"/>
          </p:nvPr>
        </p:nvSpPr>
        <p:spPr>
          <a:xfrm>
            <a:off x="3455585" y="2947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60" name="Google Shape;2660;p210"/>
          <p:cNvSpPr txBox="1"/>
          <p:nvPr>
            <p:ph idx="4294967295" type="body"/>
          </p:nvPr>
        </p:nvSpPr>
        <p:spPr>
          <a:xfrm>
            <a:off x="5436793" y="29475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661" name="Google Shape;2661;p210"/>
          <p:cNvSpPr txBox="1"/>
          <p:nvPr>
            <p:ph idx="4294967295" type="body"/>
          </p:nvPr>
        </p:nvSpPr>
        <p:spPr>
          <a:xfrm>
            <a:off x="1692900" y="4471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62" name="Google Shape;2662;p210"/>
          <p:cNvSpPr txBox="1"/>
          <p:nvPr>
            <p:ph idx="4294967295" type="body"/>
          </p:nvPr>
        </p:nvSpPr>
        <p:spPr>
          <a:xfrm>
            <a:off x="3531785" y="4471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663" name="Google Shape;2663;p210"/>
          <p:cNvSpPr txBox="1"/>
          <p:nvPr>
            <p:ph idx="4294967295" type="body"/>
          </p:nvPr>
        </p:nvSpPr>
        <p:spPr>
          <a:xfrm>
            <a:off x="5817793" y="44715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7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211"/>
          <p:cNvSpPr txBox="1"/>
          <p:nvPr>
            <p:ph idx="1" type="body"/>
          </p:nvPr>
        </p:nvSpPr>
        <p:spPr>
          <a:xfrm>
            <a:off x="324000" y="759300"/>
            <a:ext cx="7181400" cy="12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For each sequence: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(i) 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 (ii) find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(iii) identify if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2000"/>
              <a:t> is in the sequence and if so, its position.</a:t>
            </a:r>
            <a:endParaRPr sz="2000"/>
          </a:p>
        </p:txBody>
      </p:sp>
      <p:sp>
        <p:nvSpPr>
          <p:cNvPr id="2669" name="Google Shape;2669;p2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670" name="Google Shape;2670;p211"/>
          <p:cNvSpPr txBox="1"/>
          <p:nvPr>
            <p:ph idx="4294967295" type="body"/>
          </p:nvPr>
        </p:nvSpPr>
        <p:spPr>
          <a:xfrm>
            <a:off x="321303" y="2089157"/>
            <a:ext cx="3369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−10, −7, −4, −1, 3, …</a:t>
            </a:r>
            <a:endParaRPr sz="2400"/>
          </a:p>
        </p:txBody>
      </p:sp>
      <p:sp>
        <p:nvSpPr>
          <p:cNvPr id="2671" name="Google Shape;2671;p211"/>
          <p:cNvSpPr txBox="1"/>
          <p:nvPr/>
        </p:nvSpPr>
        <p:spPr>
          <a:xfrm>
            <a:off x="4281550" y="2181325"/>
            <a:ext cx="2343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3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− 13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2" name="Google Shape;2672;p211"/>
          <p:cNvSpPr txBox="1"/>
          <p:nvPr/>
        </p:nvSpPr>
        <p:spPr>
          <a:xfrm>
            <a:off x="4281550" y="2638525"/>
            <a:ext cx="391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3(100) − 13 = 287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3" name="Google Shape;2673;p211"/>
          <p:cNvSpPr txBox="1"/>
          <p:nvPr/>
        </p:nvSpPr>
        <p:spPr>
          <a:xfrm>
            <a:off x="4281550" y="30957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(iii)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674" name="Google Shape;2674;p211"/>
          <p:cNvGraphicFramePr/>
          <p:nvPr/>
        </p:nvGraphicFramePr>
        <p:xfrm>
          <a:off x="4721679" y="3032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41125"/>
                <a:gridCol w="394150"/>
                <a:gridCol w="96142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− 13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171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5" name="Google Shape;2675;p211"/>
          <p:cNvSpPr txBox="1"/>
          <p:nvPr/>
        </p:nvSpPr>
        <p:spPr>
          <a:xfrm>
            <a:off x="4321891" y="4391125"/>
            <a:ext cx="4030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500 is 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171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212"/>
          <p:cNvSpPr txBox="1"/>
          <p:nvPr>
            <p:ph idx="1" type="body"/>
          </p:nvPr>
        </p:nvSpPr>
        <p:spPr>
          <a:xfrm>
            <a:off x="324000" y="759300"/>
            <a:ext cx="7181400" cy="12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For each sequence: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(i) 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 (ii) find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(iii) identify if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2000"/>
              <a:t> is in the sequence and if so, its position.</a:t>
            </a:r>
            <a:endParaRPr sz="2000"/>
          </a:p>
        </p:txBody>
      </p:sp>
      <p:sp>
        <p:nvSpPr>
          <p:cNvPr id="2681" name="Google Shape;2681;p2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682" name="Google Shape;2682;p212"/>
          <p:cNvSpPr txBox="1"/>
          <p:nvPr>
            <p:ph idx="4294967295" type="body"/>
          </p:nvPr>
        </p:nvSpPr>
        <p:spPr>
          <a:xfrm>
            <a:off x="321300" y="2904384"/>
            <a:ext cx="39165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999, 996, 993, 990, 987, …</a:t>
            </a:r>
            <a:endParaRPr sz="2400"/>
          </a:p>
        </p:txBody>
      </p:sp>
      <p:sp>
        <p:nvSpPr>
          <p:cNvPr id="2683" name="Google Shape;2683;p212"/>
          <p:cNvSpPr txBox="1"/>
          <p:nvPr/>
        </p:nvSpPr>
        <p:spPr>
          <a:xfrm>
            <a:off x="4281550" y="2181325"/>
            <a:ext cx="2796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1002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4" name="Google Shape;2684;p212"/>
          <p:cNvSpPr txBox="1"/>
          <p:nvPr/>
        </p:nvSpPr>
        <p:spPr>
          <a:xfrm>
            <a:off x="4281550" y="2638525"/>
            <a:ext cx="41922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1002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3(100) = 702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5" name="Google Shape;2685;p212"/>
          <p:cNvSpPr txBox="1"/>
          <p:nvPr/>
        </p:nvSpPr>
        <p:spPr>
          <a:xfrm>
            <a:off x="4281550" y="30957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(iii)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686" name="Google Shape;2686;p212"/>
          <p:cNvGraphicFramePr/>
          <p:nvPr/>
        </p:nvGraphicFramePr>
        <p:xfrm>
          <a:off x="4721679" y="3032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41125"/>
                <a:gridCol w="394150"/>
                <a:gridCol w="201762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502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167.3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(to 1d.p.)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7" name="Google Shape;2687;p212"/>
          <p:cNvSpPr txBox="1"/>
          <p:nvPr/>
        </p:nvSpPr>
        <p:spPr>
          <a:xfrm>
            <a:off x="4321891" y="4391125"/>
            <a:ext cx="4030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500 is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not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 term in the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213"/>
          <p:cNvSpPr txBox="1"/>
          <p:nvPr>
            <p:ph idx="1" type="body"/>
          </p:nvPr>
        </p:nvSpPr>
        <p:spPr>
          <a:xfrm>
            <a:off x="324000" y="759300"/>
            <a:ext cx="7181400" cy="12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For each sequence: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(i) find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 (ii) find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(iii) identify if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2000"/>
              <a:t> is in the sequence and if so, its position.</a:t>
            </a:r>
            <a:endParaRPr sz="2000"/>
          </a:p>
        </p:txBody>
      </p:sp>
      <p:sp>
        <p:nvSpPr>
          <p:cNvPr id="2693" name="Google Shape;2693;p2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694" name="Google Shape;2694;p213"/>
          <p:cNvSpPr txBox="1"/>
          <p:nvPr>
            <p:ph idx="4294967295" type="body"/>
          </p:nvPr>
        </p:nvSpPr>
        <p:spPr>
          <a:xfrm>
            <a:off x="321300" y="3719610"/>
            <a:ext cx="39165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8.4, 8.8, 9.2, 9.6, …</a:t>
            </a:r>
            <a:endParaRPr sz="2400"/>
          </a:p>
        </p:txBody>
      </p:sp>
      <p:sp>
        <p:nvSpPr>
          <p:cNvPr id="2695" name="Google Shape;2695;p213"/>
          <p:cNvSpPr txBox="1"/>
          <p:nvPr/>
        </p:nvSpPr>
        <p:spPr>
          <a:xfrm>
            <a:off x="4281550" y="2181325"/>
            <a:ext cx="2598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0.4n + 8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6" name="Google Shape;2696;p213"/>
          <p:cNvSpPr txBox="1"/>
          <p:nvPr/>
        </p:nvSpPr>
        <p:spPr>
          <a:xfrm>
            <a:off x="4281550" y="2638525"/>
            <a:ext cx="44442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term: 0.4(100) + 8 = 48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7" name="Google Shape;2697;p213"/>
          <p:cNvSpPr txBox="1"/>
          <p:nvPr/>
        </p:nvSpPr>
        <p:spPr>
          <a:xfrm>
            <a:off x="4281550" y="30957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(iii)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698" name="Google Shape;2698;p213"/>
          <p:cNvGraphicFramePr/>
          <p:nvPr/>
        </p:nvGraphicFramePr>
        <p:xfrm>
          <a:off x="4721679" y="3032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1441125"/>
                <a:gridCol w="394150"/>
                <a:gridCol w="96142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492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1230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9" name="Google Shape;2699;p213"/>
          <p:cNvSpPr txBox="1"/>
          <p:nvPr/>
        </p:nvSpPr>
        <p:spPr>
          <a:xfrm>
            <a:off x="4321891" y="4391125"/>
            <a:ext cx="4030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500 is the 1230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214"/>
          <p:cNvSpPr txBox="1"/>
          <p:nvPr>
            <p:ph idx="1" type="body"/>
          </p:nvPr>
        </p:nvSpPr>
        <p:spPr>
          <a:xfrm>
            <a:off x="324000" y="759300"/>
            <a:ext cx="7135200" cy="6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Assuming each pattern continues to grow the same way, will we see one with exactly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2000"/>
              <a:t> circles?</a:t>
            </a:r>
            <a:endParaRPr sz="2000"/>
          </a:p>
        </p:txBody>
      </p:sp>
      <p:sp>
        <p:nvSpPr>
          <p:cNvPr id="2705" name="Google Shape;2705;p2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706" name="Google Shape;2706;p214"/>
          <p:cNvSpPr txBox="1"/>
          <p:nvPr>
            <p:ph idx="4294967295" type="body"/>
          </p:nvPr>
        </p:nvSpPr>
        <p:spPr>
          <a:xfrm>
            <a:off x="321300" y="1499721"/>
            <a:ext cx="4887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a)</a:t>
            </a:r>
            <a:endParaRPr sz="2400"/>
          </a:p>
        </p:txBody>
      </p:sp>
      <p:sp>
        <p:nvSpPr>
          <p:cNvPr id="2707" name="Google Shape;2707;p214"/>
          <p:cNvSpPr txBox="1"/>
          <p:nvPr>
            <p:ph idx="4294967295" type="body"/>
          </p:nvPr>
        </p:nvSpPr>
        <p:spPr>
          <a:xfrm>
            <a:off x="321300" y="2581646"/>
            <a:ext cx="5682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b)</a:t>
            </a:r>
            <a:endParaRPr sz="2400"/>
          </a:p>
        </p:txBody>
      </p:sp>
      <p:sp>
        <p:nvSpPr>
          <p:cNvPr id="2708" name="Google Shape;2708;p214"/>
          <p:cNvSpPr txBox="1"/>
          <p:nvPr>
            <p:ph idx="4294967295" type="body"/>
          </p:nvPr>
        </p:nvSpPr>
        <p:spPr>
          <a:xfrm>
            <a:off x="321300" y="3663571"/>
            <a:ext cx="5682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c)</a:t>
            </a:r>
            <a:endParaRPr sz="2400"/>
          </a:p>
        </p:txBody>
      </p:sp>
      <p:sp>
        <p:nvSpPr>
          <p:cNvPr id="2709" name="Google Shape;2709;p214"/>
          <p:cNvSpPr/>
          <p:nvPr/>
        </p:nvSpPr>
        <p:spPr>
          <a:xfrm>
            <a:off x="649719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214"/>
          <p:cNvSpPr/>
          <p:nvPr/>
        </p:nvSpPr>
        <p:spPr>
          <a:xfrm>
            <a:off x="649719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214"/>
          <p:cNvSpPr/>
          <p:nvPr/>
        </p:nvSpPr>
        <p:spPr>
          <a:xfrm>
            <a:off x="649719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214"/>
          <p:cNvSpPr/>
          <p:nvPr/>
        </p:nvSpPr>
        <p:spPr>
          <a:xfrm>
            <a:off x="823480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214"/>
          <p:cNvSpPr/>
          <p:nvPr/>
        </p:nvSpPr>
        <p:spPr>
          <a:xfrm>
            <a:off x="865066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214"/>
          <p:cNvSpPr/>
          <p:nvPr/>
        </p:nvSpPr>
        <p:spPr>
          <a:xfrm>
            <a:off x="1040315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214"/>
          <p:cNvSpPr/>
          <p:nvPr/>
        </p:nvSpPr>
        <p:spPr>
          <a:xfrm>
            <a:off x="865066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214"/>
          <p:cNvSpPr/>
          <p:nvPr/>
        </p:nvSpPr>
        <p:spPr>
          <a:xfrm>
            <a:off x="1040315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214"/>
          <p:cNvSpPr/>
          <p:nvPr/>
        </p:nvSpPr>
        <p:spPr>
          <a:xfrm>
            <a:off x="1272741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214"/>
          <p:cNvSpPr/>
          <p:nvPr/>
        </p:nvSpPr>
        <p:spPr>
          <a:xfrm>
            <a:off x="1272741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214"/>
          <p:cNvSpPr/>
          <p:nvPr/>
        </p:nvSpPr>
        <p:spPr>
          <a:xfrm>
            <a:off x="1272741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214"/>
          <p:cNvSpPr/>
          <p:nvPr/>
        </p:nvSpPr>
        <p:spPr>
          <a:xfrm>
            <a:off x="3147931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214"/>
          <p:cNvSpPr/>
          <p:nvPr/>
        </p:nvSpPr>
        <p:spPr>
          <a:xfrm>
            <a:off x="3147931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214"/>
          <p:cNvSpPr/>
          <p:nvPr/>
        </p:nvSpPr>
        <p:spPr>
          <a:xfrm>
            <a:off x="3147931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214"/>
          <p:cNvSpPr/>
          <p:nvPr/>
        </p:nvSpPr>
        <p:spPr>
          <a:xfrm>
            <a:off x="3321693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214"/>
          <p:cNvSpPr/>
          <p:nvPr/>
        </p:nvSpPr>
        <p:spPr>
          <a:xfrm>
            <a:off x="3363279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214"/>
          <p:cNvSpPr/>
          <p:nvPr/>
        </p:nvSpPr>
        <p:spPr>
          <a:xfrm>
            <a:off x="3538527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214"/>
          <p:cNvSpPr/>
          <p:nvPr/>
        </p:nvSpPr>
        <p:spPr>
          <a:xfrm>
            <a:off x="3363279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214"/>
          <p:cNvSpPr/>
          <p:nvPr/>
        </p:nvSpPr>
        <p:spPr>
          <a:xfrm>
            <a:off x="3538527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214"/>
          <p:cNvSpPr/>
          <p:nvPr/>
        </p:nvSpPr>
        <p:spPr>
          <a:xfrm>
            <a:off x="3725654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214"/>
          <p:cNvSpPr/>
          <p:nvPr/>
        </p:nvSpPr>
        <p:spPr>
          <a:xfrm>
            <a:off x="3767241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214"/>
          <p:cNvSpPr/>
          <p:nvPr/>
        </p:nvSpPr>
        <p:spPr>
          <a:xfrm>
            <a:off x="3942489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214"/>
          <p:cNvSpPr/>
          <p:nvPr/>
        </p:nvSpPr>
        <p:spPr>
          <a:xfrm>
            <a:off x="3767241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2" name="Google Shape;2732;p214"/>
          <p:cNvSpPr/>
          <p:nvPr/>
        </p:nvSpPr>
        <p:spPr>
          <a:xfrm>
            <a:off x="3942489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214"/>
          <p:cNvSpPr/>
          <p:nvPr/>
        </p:nvSpPr>
        <p:spPr>
          <a:xfrm>
            <a:off x="4572194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214"/>
          <p:cNvSpPr/>
          <p:nvPr/>
        </p:nvSpPr>
        <p:spPr>
          <a:xfrm>
            <a:off x="4572194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214"/>
          <p:cNvSpPr/>
          <p:nvPr/>
        </p:nvSpPr>
        <p:spPr>
          <a:xfrm>
            <a:off x="4572194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214"/>
          <p:cNvSpPr/>
          <p:nvPr/>
        </p:nvSpPr>
        <p:spPr>
          <a:xfrm>
            <a:off x="4122933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214"/>
          <p:cNvSpPr/>
          <p:nvPr/>
        </p:nvSpPr>
        <p:spPr>
          <a:xfrm>
            <a:off x="4164519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214"/>
          <p:cNvSpPr/>
          <p:nvPr/>
        </p:nvSpPr>
        <p:spPr>
          <a:xfrm>
            <a:off x="4339768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214"/>
          <p:cNvSpPr/>
          <p:nvPr/>
        </p:nvSpPr>
        <p:spPr>
          <a:xfrm>
            <a:off x="4164519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214"/>
          <p:cNvSpPr/>
          <p:nvPr/>
        </p:nvSpPr>
        <p:spPr>
          <a:xfrm>
            <a:off x="4339768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214"/>
          <p:cNvSpPr/>
          <p:nvPr/>
        </p:nvSpPr>
        <p:spPr>
          <a:xfrm>
            <a:off x="1709205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214"/>
          <p:cNvSpPr/>
          <p:nvPr/>
        </p:nvSpPr>
        <p:spPr>
          <a:xfrm>
            <a:off x="1709205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214"/>
          <p:cNvSpPr/>
          <p:nvPr/>
        </p:nvSpPr>
        <p:spPr>
          <a:xfrm>
            <a:off x="1709205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214"/>
          <p:cNvSpPr/>
          <p:nvPr/>
        </p:nvSpPr>
        <p:spPr>
          <a:xfrm>
            <a:off x="1882966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214"/>
          <p:cNvSpPr/>
          <p:nvPr/>
        </p:nvSpPr>
        <p:spPr>
          <a:xfrm>
            <a:off x="1924552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214"/>
          <p:cNvSpPr/>
          <p:nvPr/>
        </p:nvSpPr>
        <p:spPr>
          <a:xfrm>
            <a:off x="2099801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214"/>
          <p:cNvSpPr/>
          <p:nvPr/>
        </p:nvSpPr>
        <p:spPr>
          <a:xfrm>
            <a:off x="1924552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214"/>
          <p:cNvSpPr/>
          <p:nvPr/>
        </p:nvSpPr>
        <p:spPr>
          <a:xfrm>
            <a:off x="2099801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214"/>
          <p:cNvSpPr/>
          <p:nvPr/>
        </p:nvSpPr>
        <p:spPr>
          <a:xfrm>
            <a:off x="2286928" y="3907359"/>
            <a:ext cx="400800" cy="593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214"/>
          <p:cNvSpPr/>
          <p:nvPr/>
        </p:nvSpPr>
        <p:spPr>
          <a:xfrm>
            <a:off x="2328514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214"/>
          <p:cNvSpPr/>
          <p:nvPr/>
        </p:nvSpPr>
        <p:spPr>
          <a:xfrm>
            <a:off x="2503763" y="3738951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214"/>
          <p:cNvSpPr/>
          <p:nvPr/>
        </p:nvSpPr>
        <p:spPr>
          <a:xfrm>
            <a:off x="2328514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214"/>
          <p:cNvSpPr/>
          <p:nvPr/>
        </p:nvSpPr>
        <p:spPr>
          <a:xfrm>
            <a:off x="2503763" y="4539726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214"/>
          <p:cNvSpPr/>
          <p:nvPr/>
        </p:nvSpPr>
        <p:spPr>
          <a:xfrm>
            <a:off x="2725793" y="4346148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214"/>
          <p:cNvSpPr/>
          <p:nvPr/>
        </p:nvSpPr>
        <p:spPr>
          <a:xfrm>
            <a:off x="2725793" y="4142217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214"/>
          <p:cNvSpPr/>
          <p:nvPr/>
        </p:nvSpPr>
        <p:spPr>
          <a:xfrm>
            <a:off x="2725793" y="3938285"/>
            <a:ext cx="132600" cy="1362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214"/>
          <p:cNvSpPr/>
          <p:nvPr/>
        </p:nvSpPr>
        <p:spPr>
          <a:xfrm>
            <a:off x="593694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214"/>
          <p:cNvSpPr/>
          <p:nvPr/>
        </p:nvSpPr>
        <p:spPr>
          <a:xfrm>
            <a:off x="85815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214"/>
          <p:cNvSpPr/>
          <p:nvPr/>
        </p:nvSpPr>
        <p:spPr>
          <a:xfrm>
            <a:off x="112709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214"/>
          <p:cNvSpPr/>
          <p:nvPr/>
        </p:nvSpPr>
        <p:spPr>
          <a:xfrm>
            <a:off x="1391561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214"/>
          <p:cNvSpPr/>
          <p:nvPr/>
        </p:nvSpPr>
        <p:spPr>
          <a:xfrm>
            <a:off x="1650419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214"/>
          <p:cNvSpPr/>
          <p:nvPr/>
        </p:nvSpPr>
        <p:spPr>
          <a:xfrm>
            <a:off x="2163638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214"/>
          <p:cNvSpPr/>
          <p:nvPr/>
        </p:nvSpPr>
        <p:spPr>
          <a:xfrm>
            <a:off x="2428100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214"/>
          <p:cNvSpPr/>
          <p:nvPr/>
        </p:nvSpPr>
        <p:spPr>
          <a:xfrm>
            <a:off x="2697043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214"/>
          <p:cNvSpPr/>
          <p:nvPr/>
        </p:nvSpPr>
        <p:spPr>
          <a:xfrm>
            <a:off x="296150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214"/>
          <p:cNvSpPr/>
          <p:nvPr/>
        </p:nvSpPr>
        <p:spPr>
          <a:xfrm>
            <a:off x="3220363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214"/>
          <p:cNvSpPr/>
          <p:nvPr/>
        </p:nvSpPr>
        <p:spPr>
          <a:xfrm>
            <a:off x="2163638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214"/>
          <p:cNvSpPr/>
          <p:nvPr/>
        </p:nvSpPr>
        <p:spPr>
          <a:xfrm>
            <a:off x="2428100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214"/>
          <p:cNvSpPr/>
          <p:nvPr/>
        </p:nvSpPr>
        <p:spPr>
          <a:xfrm>
            <a:off x="2697043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214"/>
          <p:cNvSpPr/>
          <p:nvPr/>
        </p:nvSpPr>
        <p:spPr>
          <a:xfrm>
            <a:off x="3763838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214"/>
          <p:cNvSpPr/>
          <p:nvPr/>
        </p:nvSpPr>
        <p:spPr>
          <a:xfrm>
            <a:off x="4028300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214"/>
          <p:cNvSpPr/>
          <p:nvPr/>
        </p:nvSpPr>
        <p:spPr>
          <a:xfrm>
            <a:off x="4297243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214"/>
          <p:cNvSpPr/>
          <p:nvPr/>
        </p:nvSpPr>
        <p:spPr>
          <a:xfrm>
            <a:off x="4561705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214"/>
          <p:cNvSpPr/>
          <p:nvPr/>
        </p:nvSpPr>
        <p:spPr>
          <a:xfrm>
            <a:off x="4820563" y="19497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214"/>
          <p:cNvSpPr/>
          <p:nvPr/>
        </p:nvSpPr>
        <p:spPr>
          <a:xfrm>
            <a:off x="3763838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214"/>
          <p:cNvSpPr/>
          <p:nvPr/>
        </p:nvSpPr>
        <p:spPr>
          <a:xfrm>
            <a:off x="4028300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214"/>
          <p:cNvSpPr/>
          <p:nvPr/>
        </p:nvSpPr>
        <p:spPr>
          <a:xfrm>
            <a:off x="4297243" y="17211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214"/>
          <p:cNvSpPr/>
          <p:nvPr/>
        </p:nvSpPr>
        <p:spPr>
          <a:xfrm>
            <a:off x="3763838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214"/>
          <p:cNvSpPr/>
          <p:nvPr/>
        </p:nvSpPr>
        <p:spPr>
          <a:xfrm>
            <a:off x="4028300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214"/>
          <p:cNvSpPr/>
          <p:nvPr/>
        </p:nvSpPr>
        <p:spPr>
          <a:xfrm>
            <a:off x="4297243" y="14925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214"/>
          <p:cNvSpPr/>
          <p:nvPr/>
        </p:nvSpPr>
        <p:spPr>
          <a:xfrm>
            <a:off x="832379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214"/>
          <p:cNvSpPr/>
          <p:nvPr/>
        </p:nvSpPr>
        <p:spPr>
          <a:xfrm>
            <a:off x="1096841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214"/>
          <p:cNvSpPr/>
          <p:nvPr/>
        </p:nvSpPr>
        <p:spPr>
          <a:xfrm>
            <a:off x="134673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214"/>
          <p:cNvSpPr/>
          <p:nvPr/>
        </p:nvSpPr>
        <p:spPr>
          <a:xfrm>
            <a:off x="832379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14"/>
          <p:cNvSpPr/>
          <p:nvPr/>
        </p:nvSpPr>
        <p:spPr>
          <a:xfrm>
            <a:off x="1096841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214"/>
          <p:cNvSpPr/>
          <p:nvPr/>
        </p:nvSpPr>
        <p:spPr>
          <a:xfrm>
            <a:off x="832379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214"/>
          <p:cNvSpPr/>
          <p:nvPr/>
        </p:nvSpPr>
        <p:spPr>
          <a:xfrm>
            <a:off x="109684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214"/>
          <p:cNvSpPr/>
          <p:nvPr/>
        </p:nvSpPr>
        <p:spPr>
          <a:xfrm>
            <a:off x="599022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214"/>
          <p:cNvSpPr/>
          <p:nvPr/>
        </p:nvSpPr>
        <p:spPr>
          <a:xfrm>
            <a:off x="2183809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214"/>
          <p:cNvSpPr/>
          <p:nvPr/>
        </p:nvSpPr>
        <p:spPr>
          <a:xfrm>
            <a:off x="2448270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214"/>
          <p:cNvSpPr/>
          <p:nvPr/>
        </p:nvSpPr>
        <p:spPr>
          <a:xfrm>
            <a:off x="269816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2" name="Google Shape;2792;p214"/>
          <p:cNvSpPr/>
          <p:nvPr/>
        </p:nvSpPr>
        <p:spPr>
          <a:xfrm>
            <a:off x="2183809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3" name="Google Shape;2793;p214"/>
          <p:cNvSpPr/>
          <p:nvPr/>
        </p:nvSpPr>
        <p:spPr>
          <a:xfrm>
            <a:off x="2448270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214"/>
          <p:cNvSpPr/>
          <p:nvPr/>
        </p:nvSpPr>
        <p:spPr>
          <a:xfrm>
            <a:off x="2183809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214"/>
          <p:cNvSpPr/>
          <p:nvPr/>
        </p:nvSpPr>
        <p:spPr>
          <a:xfrm>
            <a:off x="2448270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214"/>
          <p:cNvSpPr/>
          <p:nvPr/>
        </p:nvSpPr>
        <p:spPr>
          <a:xfrm>
            <a:off x="195045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214"/>
          <p:cNvSpPr/>
          <p:nvPr/>
        </p:nvSpPr>
        <p:spPr>
          <a:xfrm>
            <a:off x="172185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214"/>
          <p:cNvSpPr/>
          <p:nvPr/>
        </p:nvSpPr>
        <p:spPr>
          <a:xfrm>
            <a:off x="292676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214"/>
          <p:cNvSpPr/>
          <p:nvPr/>
        </p:nvSpPr>
        <p:spPr>
          <a:xfrm>
            <a:off x="4088809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214"/>
          <p:cNvSpPr/>
          <p:nvPr/>
        </p:nvSpPr>
        <p:spPr>
          <a:xfrm>
            <a:off x="4353270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214"/>
          <p:cNvSpPr/>
          <p:nvPr/>
        </p:nvSpPr>
        <p:spPr>
          <a:xfrm>
            <a:off x="460316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214"/>
          <p:cNvSpPr/>
          <p:nvPr/>
        </p:nvSpPr>
        <p:spPr>
          <a:xfrm>
            <a:off x="4088809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214"/>
          <p:cNvSpPr/>
          <p:nvPr/>
        </p:nvSpPr>
        <p:spPr>
          <a:xfrm>
            <a:off x="4353270" y="2802263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214"/>
          <p:cNvSpPr/>
          <p:nvPr/>
        </p:nvSpPr>
        <p:spPr>
          <a:xfrm>
            <a:off x="4088809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214"/>
          <p:cNvSpPr/>
          <p:nvPr/>
        </p:nvSpPr>
        <p:spPr>
          <a:xfrm>
            <a:off x="4353270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214"/>
          <p:cNvSpPr/>
          <p:nvPr/>
        </p:nvSpPr>
        <p:spPr>
          <a:xfrm>
            <a:off x="385545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214"/>
          <p:cNvSpPr/>
          <p:nvPr/>
        </p:nvSpPr>
        <p:spPr>
          <a:xfrm>
            <a:off x="362685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214"/>
          <p:cNvSpPr/>
          <p:nvPr/>
        </p:nvSpPr>
        <p:spPr>
          <a:xfrm>
            <a:off x="483176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214"/>
          <p:cNvSpPr/>
          <p:nvPr/>
        </p:nvSpPr>
        <p:spPr>
          <a:xfrm>
            <a:off x="3398251" y="3040388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214"/>
          <p:cNvSpPr/>
          <p:nvPr/>
        </p:nvSpPr>
        <p:spPr>
          <a:xfrm>
            <a:off x="5060364" y="2559375"/>
            <a:ext cx="200100" cy="2028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214"/>
          <p:cNvSpPr txBox="1"/>
          <p:nvPr/>
        </p:nvSpPr>
        <p:spPr>
          <a:xfrm>
            <a:off x="5775299" y="1419325"/>
            <a:ext cx="1195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5, 8, 11,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812" name="Google Shape;2812;p214"/>
          <p:cNvGraphicFramePr/>
          <p:nvPr/>
        </p:nvGraphicFramePr>
        <p:xfrm>
          <a:off x="6833735" y="1127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978825"/>
                <a:gridCol w="382850"/>
                <a:gridCol w="659850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248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82.6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3" name="Google Shape;2813;p214"/>
          <p:cNvSpPr txBox="1"/>
          <p:nvPr/>
        </p:nvSpPr>
        <p:spPr>
          <a:xfrm>
            <a:off x="5775299" y="2008754"/>
            <a:ext cx="372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4" name="Google Shape;2814;p214"/>
          <p:cNvSpPr txBox="1"/>
          <p:nvPr>
            <p:ph idx="1" type="body"/>
          </p:nvPr>
        </p:nvSpPr>
        <p:spPr>
          <a:xfrm>
            <a:off x="8644368" y="1643444"/>
            <a:ext cx="200100" cy="2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/>
          </a:p>
        </p:txBody>
      </p:sp>
      <p:sp>
        <p:nvSpPr>
          <p:cNvPr id="2815" name="Google Shape;2815;p214"/>
          <p:cNvSpPr txBox="1"/>
          <p:nvPr>
            <p:ph idx="4294967295" type="body"/>
          </p:nvPr>
        </p:nvSpPr>
        <p:spPr>
          <a:xfrm>
            <a:off x="1921500" y="18807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16" name="Google Shape;2816;p214"/>
          <p:cNvSpPr txBox="1"/>
          <p:nvPr>
            <p:ph idx="4294967295" type="body"/>
          </p:nvPr>
        </p:nvSpPr>
        <p:spPr>
          <a:xfrm>
            <a:off x="3491444" y="18807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17" name="Google Shape;2817;p214"/>
          <p:cNvSpPr txBox="1"/>
          <p:nvPr>
            <p:ph idx="4294967295" type="body"/>
          </p:nvPr>
        </p:nvSpPr>
        <p:spPr>
          <a:xfrm>
            <a:off x="5091652" y="18807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818" name="Google Shape;2818;p214"/>
          <p:cNvSpPr txBox="1"/>
          <p:nvPr>
            <p:ph idx="4294967295" type="body"/>
          </p:nvPr>
        </p:nvSpPr>
        <p:spPr>
          <a:xfrm>
            <a:off x="1520329" y="2947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19" name="Google Shape;2819;p214"/>
          <p:cNvSpPr txBox="1"/>
          <p:nvPr>
            <p:ph idx="4294967295" type="body"/>
          </p:nvPr>
        </p:nvSpPr>
        <p:spPr>
          <a:xfrm>
            <a:off x="3146303" y="29475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20" name="Google Shape;2820;p214"/>
          <p:cNvSpPr txBox="1"/>
          <p:nvPr>
            <p:ph idx="4294967295" type="body"/>
          </p:nvPr>
        </p:nvSpPr>
        <p:spPr>
          <a:xfrm>
            <a:off x="4975110" y="29475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821" name="Google Shape;2821;p214"/>
          <p:cNvSpPr txBox="1"/>
          <p:nvPr/>
        </p:nvSpPr>
        <p:spPr>
          <a:xfrm>
            <a:off x="5546700" y="2486125"/>
            <a:ext cx="1286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10, 12,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822" name="Google Shape;2822;p214"/>
          <p:cNvGraphicFramePr/>
          <p:nvPr/>
        </p:nvGraphicFramePr>
        <p:xfrm>
          <a:off x="6681335" y="2422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978825"/>
                <a:gridCol w="382850"/>
                <a:gridCol w="659850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244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122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3" name="Google Shape;2823;p214"/>
          <p:cNvSpPr txBox="1"/>
          <p:nvPr/>
        </p:nvSpPr>
        <p:spPr>
          <a:xfrm>
            <a:off x="5546699" y="3075550"/>
            <a:ext cx="162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(All evens ≥8)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4" name="Google Shape;2824;p214"/>
          <p:cNvSpPr txBox="1"/>
          <p:nvPr/>
        </p:nvSpPr>
        <p:spPr>
          <a:xfrm>
            <a:off x="5241900" y="3781525"/>
            <a:ext cx="138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10, 14, 18,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825" name="Google Shape;2825;p214"/>
          <p:cNvGraphicFramePr/>
          <p:nvPr/>
        </p:nvGraphicFramePr>
        <p:xfrm>
          <a:off x="6528935" y="3774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978825"/>
                <a:gridCol w="382850"/>
                <a:gridCol w="659850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244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sz="20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6" name="Google Shape;2826;p214"/>
          <p:cNvSpPr txBox="1"/>
          <p:nvPr/>
        </p:nvSpPr>
        <p:spPr>
          <a:xfrm>
            <a:off x="5241899" y="4370954"/>
            <a:ext cx="372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7" name="Google Shape;2827;p214"/>
          <p:cNvSpPr txBox="1"/>
          <p:nvPr>
            <p:ph idx="4294967295" type="body"/>
          </p:nvPr>
        </p:nvSpPr>
        <p:spPr>
          <a:xfrm>
            <a:off x="1444129" y="43953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28" name="Google Shape;2828;p214"/>
          <p:cNvSpPr txBox="1"/>
          <p:nvPr>
            <p:ph idx="4294967295" type="body"/>
          </p:nvPr>
        </p:nvSpPr>
        <p:spPr>
          <a:xfrm>
            <a:off x="2917703" y="4395325"/>
            <a:ext cx="2001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829" name="Google Shape;2829;p214"/>
          <p:cNvSpPr txBox="1"/>
          <p:nvPr>
            <p:ph idx="4294967295" type="body"/>
          </p:nvPr>
        </p:nvSpPr>
        <p:spPr>
          <a:xfrm>
            <a:off x="4716255" y="4395325"/>
            <a:ext cx="3720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215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835" name="Google Shape;2835;p215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836" name="Google Shape;2836;p215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837" name="Google Shape;2837;p21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pic>
        <p:nvPicPr>
          <p:cNvPr id="2838" name="Google Shape;2838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06" y="37027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3" name="Google Shape;2843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44" name="Google Shape;2844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45" name="Google Shape;2845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46" name="Google Shape;2846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7" name="Google Shape;2847;p216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this sequence in a different way.</a:t>
            </a:r>
            <a:endParaRPr/>
          </a:p>
        </p:txBody>
      </p:sp>
      <p:sp>
        <p:nvSpPr>
          <p:cNvPr id="2848" name="Google Shape;2848;p2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849" name="Google Shape;2849;p216"/>
          <p:cNvSpPr txBox="1"/>
          <p:nvPr>
            <p:ph idx="4294967295" type="subTitle"/>
          </p:nvPr>
        </p:nvSpPr>
        <p:spPr>
          <a:xfrm>
            <a:off x="328475" y="1100206"/>
            <a:ext cx="3996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8, 11, 14, 17, …</a:t>
            </a:r>
            <a:endParaRPr sz="2000"/>
          </a:p>
        </p:txBody>
      </p:sp>
      <p:grpSp>
        <p:nvGrpSpPr>
          <p:cNvPr id="2850" name="Google Shape;2850;p216"/>
          <p:cNvGrpSpPr/>
          <p:nvPr/>
        </p:nvGrpSpPr>
        <p:grpSpPr>
          <a:xfrm>
            <a:off x="5915455" y="3671224"/>
            <a:ext cx="241724" cy="1140207"/>
            <a:chOff x="5077036" y="3149691"/>
            <a:chExt cx="295181" cy="1458999"/>
          </a:xfrm>
        </p:grpSpPr>
        <p:grpSp>
          <p:nvGrpSpPr>
            <p:cNvPr id="2851" name="Google Shape;2851;p216"/>
            <p:cNvGrpSpPr/>
            <p:nvPr/>
          </p:nvGrpSpPr>
          <p:grpSpPr>
            <a:xfrm>
              <a:off x="5077036" y="3149691"/>
              <a:ext cx="295181" cy="584940"/>
              <a:chOff x="2772127" y="3611285"/>
              <a:chExt cx="605624" cy="1200123"/>
            </a:xfrm>
          </p:grpSpPr>
          <p:pic>
            <p:nvPicPr>
              <p:cNvPr id="2852" name="Google Shape;2852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3" name="Google Shape;2853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54" name="Google Shape;2854;p216"/>
            <p:cNvGrpSpPr/>
            <p:nvPr/>
          </p:nvGrpSpPr>
          <p:grpSpPr>
            <a:xfrm>
              <a:off x="5077036" y="3729035"/>
              <a:ext cx="295181" cy="584940"/>
              <a:chOff x="2772127" y="3611285"/>
              <a:chExt cx="605624" cy="1200123"/>
            </a:xfrm>
          </p:grpSpPr>
          <p:pic>
            <p:nvPicPr>
              <p:cNvPr id="2855" name="Google Shape;2855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6" name="Google Shape;2856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57" name="Google Shape;2857;p2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77036" y="4313041"/>
              <a:ext cx="295181" cy="2956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8" name="Google Shape;2858;p216"/>
          <p:cNvGrpSpPr/>
          <p:nvPr/>
        </p:nvGrpSpPr>
        <p:grpSpPr>
          <a:xfrm>
            <a:off x="6227439" y="2953909"/>
            <a:ext cx="241862" cy="1857522"/>
            <a:chOff x="6227439" y="2953909"/>
            <a:chExt cx="241862" cy="1857522"/>
          </a:xfrm>
        </p:grpSpPr>
        <p:grpSp>
          <p:nvGrpSpPr>
            <p:cNvPr id="2859" name="Google Shape;2859;p216"/>
            <p:cNvGrpSpPr/>
            <p:nvPr/>
          </p:nvGrpSpPr>
          <p:grpSpPr>
            <a:xfrm>
              <a:off x="6227536" y="2953909"/>
              <a:ext cx="241765" cy="686835"/>
              <a:chOff x="3627525" y="3023590"/>
              <a:chExt cx="605624" cy="1802718"/>
            </a:xfrm>
          </p:grpSpPr>
          <p:pic>
            <p:nvPicPr>
              <p:cNvPr id="2860" name="Google Shape;2860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1" name="Google Shape;2861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2" name="Google Shape;2862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63" name="Google Shape;2863;p216"/>
            <p:cNvGrpSpPr/>
            <p:nvPr/>
          </p:nvGrpSpPr>
          <p:grpSpPr>
            <a:xfrm>
              <a:off x="6227439" y="3671224"/>
              <a:ext cx="241724" cy="1140207"/>
              <a:chOff x="5077036" y="3149691"/>
              <a:chExt cx="295181" cy="1458999"/>
            </a:xfrm>
          </p:grpSpPr>
          <p:grpSp>
            <p:nvGrpSpPr>
              <p:cNvPr id="2864" name="Google Shape;2864;p216"/>
              <p:cNvGrpSpPr/>
              <p:nvPr/>
            </p:nvGrpSpPr>
            <p:grpSpPr>
              <a:xfrm>
                <a:off x="5077036" y="3149691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865" name="Google Shape;2865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66" name="Google Shape;2866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67" name="Google Shape;2867;p216"/>
              <p:cNvGrpSpPr/>
              <p:nvPr/>
            </p:nvGrpSpPr>
            <p:grpSpPr>
              <a:xfrm>
                <a:off x="5077036" y="3729035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868" name="Google Shape;2868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69" name="Google Shape;2869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870" name="Google Shape;2870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077036" y="4313041"/>
                <a:ext cx="295181" cy="295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871" name="Google Shape;2871;p216"/>
          <p:cNvGrpSpPr/>
          <p:nvPr/>
        </p:nvGrpSpPr>
        <p:grpSpPr>
          <a:xfrm>
            <a:off x="6539423" y="2239290"/>
            <a:ext cx="242979" cy="2572141"/>
            <a:chOff x="6539423" y="2239290"/>
            <a:chExt cx="242979" cy="2572141"/>
          </a:xfrm>
        </p:grpSpPr>
        <p:grpSp>
          <p:nvGrpSpPr>
            <p:cNvPr id="2872" name="Google Shape;2872;p216"/>
            <p:cNvGrpSpPr/>
            <p:nvPr/>
          </p:nvGrpSpPr>
          <p:grpSpPr>
            <a:xfrm>
              <a:off x="6540637" y="2953909"/>
              <a:ext cx="241765" cy="686835"/>
              <a:chOff x="3627525" y="3023590"/>
              <a:chExt cx="605624" cy="1802718"/>
            </a:xfrm>
          </p:grpSpPr>
          <p:pic>
            <p:nvPicPr>
              <p:cNvPr id="2873" name="Google Shape;2873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4" name="Google Shape;2874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5" name="Google Shape;2875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6" name="Google Shape;2876;p216"/>
            <p:cNvGrpSpPr/>
            <p:nvPr/>
          </p:nvGrpSpPr>
          <p:grpSpPr>
            <a:xfrm>
              <a:off x="6540637" y="2239290"/>
              <a:ext cx="241765" cy="686835"/>
              <a:chOff x="3627525" y="3023590"/>
              <a:chExt cx="605624" cy="1802718"/>
            </a:xfrm>
          </p:grpSpPr>
          <p:pic>
            <p:nvPicPr>
              <p:cNvPr id="2877" name="Google Shape;2877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8" name="Google Shape;2878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9" name="Google Shape;2879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80" name="Google Shape;2880;p216"/>
            <p:cNvGrpSpPr/>
            <p:nvPr/>
          </p:nvGrpSpPr>
          <p:grpSpPr>
            <a:xfrm>
              <a:off x="6539423" y="3671224"/>
              <a:ext cx="241724" cy="1140207"/>
              <a:chOff x="5077036" y="3149691"/>
              <a:chExt cx="295181" cy="1458999"/>
            </a:xfrm>
          </p:grpSpPr>
          <p:grpSp>
            <p:nvGrpSpPr>
              <p:cNvPr id="2881" name="Google Shape;2881;p216"/>
              <p:cNvGrpSpPr/>
              <p:nvPr/>
            </p:nvGrpSpPr>
            <p:grpSpPr>
              <a:xfrm>
                <a:off x="5077036" y="3149691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882" name="Google Shape;2882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83" name="Google Shape;2883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84" name="Google Shape;2884;p216"/>
              <p:cNvGrpSpPr/>
              <p:nvPr/>
            </p:nvGrpSpPr>
            <p:grpSpPr>
              <a:xfrm>
                <a:off x="5077036" y="3729035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885" name="Google Shape;2885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86" name="Google Shape;2886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887" name="Google Shape;2887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077036" y="4313041"/>
                <a:ext cx="295181" cy="295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888" name="Google Shape;2888;p216"/>
          <p:cNvGrpSpPr/>
          <p:nvPr/>
        </p:nvGrpSpPr>
        <p:grpSpPr>
          <a:xfrm>
            <a:off x="6851407" y="1524671"/>
            <a:ext cx="244095" cy="3286761"/>
            <a:chOff x="6851407" y="1524671"/>
            <a:chExt cx="244095" cy="3286761"/>
          </a:xfrm>
        </p:grpSpPr>
        <p:grpSp>
          <p:nvGrpSpPr>
            <p:cNvPr id="2889" name="Google Shape;2889;p216"/>
            <p:cNvGrpSpPr/>
            <p:nvPr/>
          </p:nvGrpSpPr>
          <p:grpSpPr>
            <a:xfrm>
              <a:off x="6853737" y="2953909"/>
              <a:ext cx="241765" cy="686835"/>
              <a:chOff x="3627525" y="3023590"/>
              <a:chExt cx="605624" cy="1802718"/>
            </a:xfrm>
          </p:grpSpPr>
          <p:pic>
            <p:nvPicPr>
              <p:cNvPr id="2890" name="Google Shape;2890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1" name="Google Shape;2891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2" name="Google Shape;2892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3" name="Google Shape;2893;p216"/>
            <p:cNvGrpSpPr/>
            <p:nvPr/>
          </p:nvGrpSpPr>
          <p:grpSpPr>
            <a:xfrm>
              <a:off x="6853737" y="2239290"/>
              <a:ext cx="241765" cy="686835"/>
              <a:chOff x="3627525" y="3023590"/>
              <a:chExt cx="605624" cy="1802718"/>
            </a:xfrm>
          </p:grpSpPr>
          <p:pic>
            <p:nvPicPr>
              <p:cNvPr id="2894" name="Google Shape;2894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5" name="Google Shape;2895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6" name="Google Shape;2896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7" name="Google Shape;2897;p216"/>
            <p:cNvGrpSpPr/>
            <p:nvPr/>
          </p:nvGrpSpPr>
          <p:grpSpPr>
            <a:xfrm>
              <a:off x="6853737" y="1524671"/>
              <a:ext cx="241765" cy="686835"/>
              <a:chOff x="3627525" y="3023590"/>
              <a:chExt cx="605624" cy="1802718"/>
            </a:xfrm>
          </p:grpSpPr>
          <p:pic>
            <p:nvPicPr>
              <p:cNvPr id="2898" name="Google Shape;2898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9" name="Google Shape;2899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00" name="Google Shape;2900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01" name="Google Shape;2901;p216"/>
            <p:cNvGrpSpPr/>
            <p:nvPr/>
          </p:nvGrpSpPr>
          <p:grpSpPr>
            <a:xfrm>
              <a:off x="6851407" y="3671224"/>
              <a:ext cx="241724" cy="1140207"/>
              <a:chOff x="5077036" y="3149691"/>
              <a:chExt cx="295181" cy="1458999"/>
            </a:xfrm>
          </p:grpSpPr>
          <p:grpSp>
            <p:nvGrpSpPr>
              <p:cNvPr id="2902" name="Google Shape;2902;p216"/>
              <p:cNvGrpSpPr/>
              <p:nvPr/>
            </p:nvGrpSpPr>
            <p:grpSpPr>
              <a:xfrm>
                <a:off x="5077036" y="3149691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903" name="Google Shape;2903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04" name="Google Shape;2904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05" name="Google Shape;2905;p216"/>
              <p:cNvGrpSpPr/>
              <p:nvPr/>
            </p:nvGrpSpPr>
            <p:grpSpPr>
              <a:xfrm>
                <a:off x="5077036" y="3729035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906" name="Google Shape;2906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07" name="Google Shape;2907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908" name="Google Shape;2908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077036" y="4313041"/>
                <a:ext cx="295181" cy="295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09" name="Google Shape;2909;p216"/>
          <p:cNvGrpSpPr/>
          <p:nvPr/>
        </p:nvGrpSpPr>
        <p:grpSpPr>
          <a:xfrm>
            <a:off x="7171650" y="810051"/>
            <a:ext cx="244095" cy="4001380"/>
            <a:chOff x="7171650" y="810051"/>
            <a:chExt cx="244095" cy="4001380"/>
          </a:xfrm>
        </p:grpSpPr>
        <p:grpSp>
          <p:nvGrpSpPr>
            <p:cNvPr id="2910" name="Google Shape;2910;p216"/>
            <p:cNvGrpSpPr/>
            <p:nvPr/>
          </p:nvGrpSpPr>
          <p:grpSpPr>
            <a:xfrm>
              <a:off x="7173980" y="2953909"/>
              <a:ext cx="241765" cy="686835"/>
              <a:chOff x="3627525" y="3023590"/>
              <a:chExt cx="605624" cy="1802718"/>
            </a:xfrm>
          </p:grpSpPr>
          <p:pic>
            <p:nvPicPr>
              <p:cNvPr id="2911" name="Google Shape;2911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2" name="Google Shape;2912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3" name="Google Shape;2913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14" name="Google Shape;2914;p216"/>
            <p:cNvGrpSpPr/>
            <p:nvPr/>
          </p:nvGrpSpPr>
          <p:grpSpPr>
            <a:xfrm>
              <a:off x="7173980" y="2239290"/>
              <a:ext cx="241765" cy="686835"/>
              <a:chOff x="3627525" y="3023590"/>
              <a:chExt cx="605624" cy="1802718"/>
            </a:xfrm>
          </p:grpSpPr>
          <p:pic>
            <p:nvPicPr>
              <p:cNvPr id="2915" name="Google Shape;2915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6" name="Google Shape;2916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7" name="Google Shape;2917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18" name="Google Shape;2918;p216"/>
            <p:cNvGrpSpPr/>
            <p:nvPr/>
          </p:nvGrpSpPr>
          <p:grpSpPr>
            <a:xfrm>
              <a:off x="7173980" y="1524671"/>
              <a:ext cx="241765" cy="686835"/>
              <a:chOff x="3627525" y="3023590"/>
              <a:chExt cx="605624" cy="1802718"/>
            </a:xfrm>
          </p:grpSpPr>
          <p:pic>
            <p:nvPicPr>
              <p:cNvPr id="2919" name="Google Shape;2919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0" name="Google Shape;2920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1" name="Google Shape;2921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22" name="Google Shape;2922;p216"/>
            <p:cNvGrpSpPr/>
            <p:nvPr/>
          </p:nvGrpSpPr>
          <p:grpSpPr>
            <a:xfrm>
              <a:off x="7171650" y="3671224"/>
              <a:ext cx="241724" cy="1140207"/>
              <a:chOff x="5077036" y="3149691"/>
              <a:chExt cx="295181" cy="1458999"/>
            </a:xfrm>
          </p:grpSpPr>
          <p:grpSp>
            <p:nvGrpSpPr>
              <p:cNvPr id="2923" name="Google Shape;2923;p216"/>
              <p:cNvGrpSpPr/>
              <p:nvPr/>
            </p:nvGrpSpPr>
            <p:grpSpPr>
              <a:xfrm>
                <a:off x="5077036" y="3149691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924" name="Google Shape;2924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25" name="Google Shape;2925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6" name="Google Shape;2926;p216"/>
              <p:cNvGrpSpPr/>
              <p:nvPr/>
            </p:nvGrpSpPr>
            <p:grpSpPr>
              <a:xfrm>
                <a:off x="5077036" y="3729035"/>
                <a:ext cx="295181" cy="584940"/>
                <a:chOff x="2772127" y="3611285"/>
                <a:chExt cx="605624" cy="1200123"/>
              </a:xfrm>
            </p:grpSpPr>
            <p:pic>
              <p:nvPicPr>
                <p:cNvPr id="2927" name="Google Shape;2927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42048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28" name="Google Shape;2928;p216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2772127" y="361128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929" name="Google Shape;2929;p2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077036" y="4313041"/>
                <a:ext cx="295181" cy="295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0" name="Google Shape;2930;p216"/>
            <p:cNvGrpSpPr/>
            <p:nvPr/>
          </p:nvGrpSpPr>
          <p:grpSpPr>
            <a:xfrm>
              <a:off x="7173980" y="810051"/>
              <a:ext cx="241765" cy="686835"/>
              <a:chOff x="3627525" y="3023590"/>
              <a:chExt cx="605624" cy="1802718"/>
            </a:xfrm>
          </p:grpSpPr>
          <p:pic>
            <p:nvPicPr>
              <p:cNvPr id="2931" name="Google Shape;2931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2" name="Google Shape;2932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3" name="Google Shape;2933;p2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2934" name="Google Shape;2934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35" name="Google Shape;2935;p216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217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this sequence in a different way.</a:t>
            </a:r>
            <a:endParaRPr/>
          </a:p>
        </p:txBody>
      </p:sp>
      <p:sp>
        <p:nvSpPr>
          <p:cNvPr id="2941" name="Google Shape;2941;p2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942" name="Google Shape;2942;p217"/>
          <p:cNvSpPr txBox="1"/>
          <p:nvPr>
            <p:ph idx="4294967295" type="subTitle"/>
          </p:nvPr>
        </p:nvSpPr>
        <p:spPr>
          <a:xfrm>
            <a:off x="328475" y="1100206"/>
            <a:ext cx="3996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8, 11, 14, 17, …</a:t>
            </a:r>
            <a:endParaRPr sz="2000"/>
          </a:p>
        </p:txBody>
      </p:sp>
      <p:graphicFrame>
        <p:nvGraphicFramePr>
          <p:cNvPr id="2943" name="Google Shape;2943;p217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 + 3 + 3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4" name="Google Shape;2944;p217"/>
          <p:cNvSpPr txBox="1"/>
          <p:nvPr>
            <p:ph idx="4294967295" type="subTitle"/>
          </p:nvPr>
        </p:nvSpPr>
        <p:spPr>
          <a:xfrm>
            <a:off x="4742100" y="2014590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0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grpSp>
        <p:nvGrpSpPr>
          <p:cNvPr id="2945" name="Google Shape;2945;p217"/>
          <p:cNvGrpSpPr/>
          <p:nvPr/>
        </p:nvGrpSpPr>
        <p:grpSpPr>
          <a:xfrm>
            <a:off x="510754" y="2018844"/>
            <a:ext cx="2994344" cy="369600"/>
            <a:chOff x="510754" y="2323644"/>
            <a:chExt cx="2994344" cy="369600"/>
          </a:xfrm>
        </p:grpSpPr>
        <p:sp>
          <p:nvSpPr>
            <p:cNvPr id="2946" name="Google Shape;2946;p217"/>
            <p:cNvSpPr/>
            <p:nvPr/>
          </p:nvSpPr>
          <p:spPr>
            <a:xfrm>
              <a:off x="510754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7" name="Google Shape;2947;p217"/>
            <p:cNvSpPr/>
            <p:nvPr/>
          </p:nvSpPr>
          <p:spPr>
            <a:xfrm>
              <a:off x="3071299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48" name="Google Shape;2948;p217"/>
          <p:cNvGrpSpPr/>
          <p:nvPr/>
        </p:nvGrpSpPr>
        <p:grpSpPr>
          <a:xfrm>
            <a:off x="510754" y="2420015"/>
            <a:ext cx="2994372" cy="369610"/>
            <a:chOff x="510754" y="2323644"/>
            <a:chExt cx="2994372" cy="369610"/>
          </a:xfrm>
        </p:grpSpPr>
        <p:sp>
          <p:nvSpPr>
            <p:cNvPr id="2949" name="Google Shape;2949;p217"/>
            <p:cNvSpPr/>
            <p:nvPr/>
          </p:nvSpPr>
          <p:spPr>
            <a:xfrm>
              <a:off x="510754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0" name="Google Shape;2950;p217"/>
            <p:cNvSpPr/>
            <p:nvPr/>
          </p:nvSpPr>
          <p:spPr>
            <a:xfrm>
              <a:off x="2664526" y="2323654"/>
              <a:ext cx="8406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1" name="Google Shape;2951;p217"/>
          <p:cNvSpPr txBox="1"/>
          <p:nvPr>
            <p:ph idx="4294967295" type="subTitle"/>
          </p:nvPr>
        </p:nvSpPr>
        <p:spPr>
          <a:xfrm>
            <a:off x="4742100" y="2424725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GB" sz="2000"/>
              <a:t>three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grpSp>
        <p:nvGrpSpPr>
          <p:cNvPr id="2952" name="Google Shape;2952;p217"/>
          <p:cNvGrpSpPr/>
          <p:nvPr/>
        </p:nvGrpSpPr>
        <p:grpSpPr>
          <a:xfrm>
            <a:off x="510754" y="2821185"/>
            <a:ext cx="2994346" cy="369615"/>
            <a:chOff x="510754" y="2323644"/>
            <a:chExt cx="2994346" cy="369615"/>
          </a:xfrm>
        </p:grpSpPr>
        <p:sp>
          <p:nvSpPr>
            <p:cNvPr id="2953" name="Google Shape;2953;p217"/>
            <p:cNvSpPr/>
            <p:nvPr/>
          </p:nvSpPr>
          <p:spPr>
            <a:xfrm>
              <a:off x="510754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4" name="Google Shape;2954;p217"/>
            <p:cNvSpPr/>
            <p:nvPr/>
          </p:nvSpPr>
          <p:spPr>
            <a:xfrm>
              <a:off x="2140100" y="2323659"/>
              <a:ext cx="13650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5" name="Google Shape;2955;p217"/>
          <p:cNvSpPr txBox="1"/>
          <p:nvPr>
            <p:ph idx="4294967295" type="subTitle"/>
          </p:nvPr>
        </p:nvSpPr>
        <p:spPr>
          <a:xfrm>
            <a:off x="4742100" y="2834860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grpSp>
        <p:nvGrpSpPr>
          <p:cNvPr id="2956" name="Google Shape;2956;p217"/>
          <p:cNvGrpSpPr/>
          <p:nvPr/>
        </p:nvGrpSpPr>
        <p:grpSpPr>
          <a:xfrm>
            <a:off x="510754" y="3238044"/>
            <a:ext cx="2994446" cy="369606"/>
            <a:chOff x="510754" y="2323644"/>
            <a:chExt cx="2994446" cy="369606"/>
          </a:xfrm>
        </p:grpSpPr>
        <p:sp>
          <p:nvSpPr>
            <p:cNvPr id="2957" name="Google Shape;2957;p217"/>
            <p:cNvSpPr/>
            <p:nvPr/>
          </p:nvSpPr>
          <p:spPr>
            <a:xfrm>
              <a:off x="510754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8" name="Google Shape;2958;p217"/>
            <p:cNvSpPr/>
            <p:nvPr/>
          </p:nvSpPr>
          <p:spPr>
            <a:xfrm>
              <a:off x="1684800" y="2323650"/>
              <a:ext cx="18204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9" name="Google Shape;2959;p217"/>
          <p:cNvSpPr txBox="1"/>
          <p:nvPr>
            <p:ph idx="4294967295" type="subTitle"/>
          </p:nvPr>
        </p:nvSpPr>
        <p:spPr>
          <a:xfrm>
            <a:off x="4742100" y="3244996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grpSp>
        <p:nvGrpSpPr>
          <p:cNvPr id="2960" name="Google Shape;2960;p217"/>
          <p:cNvGrpSpPr/>
          <p:nvPr/>
        </p:nvGrpSpPr>
        <p:grpSpPr>
          <a:xfrm>
            <a:off x="510754" y="3639215"/>
            <a:ext cx="2994471" cy="369610"/>
            <a:chOff x="510754" y="2323644"/>
            <a:chExt cx="2994471" cy="369610"/>
          </a:xfrm>
        </p:grpSpPr>
        <p:sp>
          <p:nvSpPr>
            <p:cNvPr id="2961" name="Google Shape;2961;p217"/>
            <p:cNvSpPr/>
            <p:nvPr/>
          </p:nvSpPr>
          <p:spPr>
            <a:xfrm>
              <a:off x="510754" y="2323644"/>
              <a:ext cx="433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2" name="Google Shape;2962;p217"/>
            <p:cNvSpPr/>
            <p:nvPr/>
          </p:nvSpPr>
          <p:spPr>
            <a:xfrm>
              <a:off x="1232425" y="2323654"/>
              <a:ext cx="2272800" cy="369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63" name="Google Shape;2963;p217"/>
          <p:cNvSpPr txBox="1"/>
          <p:nvPr>
            <p:ph idx="4294967295" type="subTitle"/>
          </p:nvPr>
        </p:nvSpPr>
        <p:spPr>
          <a:xfrm>
            <a:off x="4742100" y="3655131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8" name="Google Shape;2968;p218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+ 3(1)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+ 3(2)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+ 3(3)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+ 3(4)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9" name="Google Shape;2969;p218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this sequence in a different way.</a:t>
            </a:r>
            <a:endParaRPr/>
          </a:p>
        </p:txBody>
      </p:sp>
      <p:sp>
        <p:nvSpPr>
          <p:cNvPr id="2970" name="Google Shape;2970;p2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971" name="Google Shape;2971;p218"/>
          <p:cNvSpPr txBox="1"/>
          <p:nvPr>
            <p:ph idx="4294967295" type="subTitle"/>
          </p:nvPr>
        </p:nvSpPr>
        <p:spPr>
          <a:xfrm>
            <a:off x="328475" y="1100206"/>
            <a:ext cx="3996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8, 11, 14, 17, …</a:t>
            </a:r>
            <a:endParaRPr sz="2000"/>
          </a:p>
        </p:txBody>
      </p:sp>
      <p:graphicFrame>
        <p:nvGraphicFramePr>
          <p:cNvPr id="2972" name="Google Shape;2972;p218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+ 3(1)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+ 3(2)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+ 3(3)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+ 3(4)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3" name="Google Shape;2973;p218"/>
          <p:cNvSpPr txBox="1"/>
          <p:nvPr>
            <p:ph idx="4294967295" type="subTitle"/>
          </p:nvPr>
        </p:nvSpPr>
        <p:spPr>
          <a:xfrm>
            <a:off x="4742100" y="2014590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0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sp>
        <p:nvSpPr>
          <p:cNvPr id="2974" name="Google Shape;2974;p218"/>
          <p:cNvSpPr txBox="1"/>
          <p:nvPr>
            <p:ph idx="4294967295" type="subTitle"/>
          </p:nvPr>
        </p:nvSpPr>
        <p:spPr>
          <a:xfrm>
            <a:off x="4742100" y="2424725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GB" sz="2000"/>
              <a:t>three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sp>
        <p:nvSpPr>
          <p:cNvPr id="2975" name="Google Shape;2975;p218"/>
          <p:cNvSpPr txBox="1"/>
          <p:nvPr>
            <p:ph idx="4294967295" type="subTitle"/>
          </p:nvPr>
        </p:nvSpPr>
        <p:spPr>
          <a:xfrm>
            <a:off x="4742100" y="2834860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sp>
        <p:nvSpPr>
          <p:cNvPr id="2976" name="Google Shape;2976;p218"/>
          <p:cNvSpPr txBox="1"/>
          <p:nvPr>
            <p:ph idx="4294967295" type="subTitle"/>
          </p:nvPr>
        </p:nvSpPr>
        <p:spPr>
          <a:xfrm>
            <a:off x="4742100" y="3244996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sp>
        <p:nvSpPr>
          <p:cNvPr id="2977" name="Google Shape;2977;p218"/>
          <p:cNvSpPr txBox="1"/>
          <p:nvPr>
            <p:ph idx="4294967295" type="subTitle"/>
          </p:nvPr>
        </p:nvSpPr>
        <p:spPr>
          <a:xfrm>
            <a:off x="4742100" y="3655131"/>
            <a:ext cx="4078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5, </a:t>
            </a:r>
            <a:r>
              <a:rPr lang="en-GB" sz="2000"/>
              <a:t>add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2000"/>
              <a:t>threes to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</a:t>
            </a:r>
            <a:endParaRPr sz="1400"/>
          </a:p>
        </p:txBody>
      </p:sp>
      <p:sp>
        <p:nvSpPr>
          <p:cNvPr id="2978" name="Google Shape;2978;p218"/>
          <p:cNvSpPr txBox="1"/>
          <p:nvPr>
            <p:ph idx="4294967295" type="subTitle"/>
          </p:nvPr>
        </p:nvSpPr>
        <p:spPr>
          <a:xfrm>
            <a:off x="328475" y="4521900"/>
            <a:ext cx="5253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</a:rPr>
              <a:t>Generalisation</a:t>
            </a:r>
            <a:r>
              <a:rPr lang="en-GB" sz="2000"/>
              <a:t>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000"/>
              <a:t> difference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1400"/>
          </a:p>
        </p:txBody>
      </p:sp>
      <p:sp>
        <p:nvSpPr>
          <p:cNvPr id="2979" name="Google Shape;2979;p218"/>
          <p:cNvSpPr txBox="1"/>
          <p:nvPr>
            <p:ph idx="4294967295" type="subTitle"/>
          </p:nvPr>
        </p:nvSpPr>
        <p:spPr>
          <a:xfrm>
            <a:off x="5548175" y="4521900"/>
            <a:ext cx="1673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4" name="Google Shape;2984;p219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+ 3(1)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+ 3(2)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+ 3(3)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+ 3(4)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5" name="Google Shape;2985;p219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this sequence in a different way.</a:t>
            </a:r>
            <a:endParaRPr/>
          </a:p>
        </p:txBody>
      </p:sp>
      <p:sp>
        <p:nvSpPr>
          <p:cNvPr id="2986" name="Google Shape;2986;p2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2987" name="Google Shape;2987;p219"/>
          <p:cNvSpPr txBox="1"/>
          <p:nvPr>
            <p:ph idx="4294967295" type="subTitle"/>
          </p:nvPr>
        </p:nvSpPr>
        <p:spPr>
          <a:xfrm>
            <a:off x="328475" y="1100206"/>
            <a:ext cx="3996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8, 11, 14, 17, …</a:t>
            </a:r>
            <a:endParaRPr sz="2000"/>
          </a:p>
        </p:txBody>
      </p:sp>
      <p:graphicFrame>
        <p:nvGraphicFramePr>
          <p:cNvPr id="2988" name="Google Shape;2988;p219"/>
          <p:cNvGraphicFramePr/>
          <p:nvPr/>
        </p:nvGraphicFramePr>
        <p:xfrm>
          <a:off x="328479" y="158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803650"/>
                <a:gridCol w="2314425"/>
                <a:gridCol w="1038750"/>
              </a:tblGrid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+ 3(1)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+ 3(2)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+ 3(3)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+ 3(4)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+ 3(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9" name="Google Shape;2989;p219"/>
          <p:cNvSpPr txBox="1"/>
          <p:nvPr>
            <p:ph idx="4294967295" type="subTitle"/>
          </p:nvPr>
        </p:nvSpPr>
        <p:spPr>
          <a:xfrm>
            <a:off x="328475" y="4521900"/>
            <a:ext cx="5253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</a:rPr>
              <a:t>Generalisation</a:t>
            </a:r>
            <a:r>
              <a:rPr lang="en-GB" sz="2000"/>
              <a:t>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000"/>
              <a:t> difference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1400"/>
          </a:p>
        </p:txBody>
      </p:sp>
      <p:sp>
        <p:nvSpPr>
          <p:cNvPr id="2990" name="Google Shape;2990;p219"/>
          <p:cNvSpPr txBox="1"/>
          <p:nvPr>
            <p:ph idx="4294967295" type="subTitle"/>
          </p:nvPr>
        </p:nvSpPr>
        <p:spPr>
          <a:xfrm>
            <a:off x="5548175" y="4521900"/>
            <a:ext cx="1673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1400"/>
          </a:p>
        </p:txBody>
      </p:sp>
      <p:sp>
        <p:nvSpPr>
          <p:cNvPr id="2991" name="Google Shape;2991;p219"/>
          <p:cNvSpPr txBox="1"/>
          <p:nvPr>
            <p:ph idx="1" type="body"/>
          </p:nvPr>
        </p:nvSpPr>
        <p:spPr>
          <a:xfrm>
            <a:off x="5069050" y="2786450"/>
            <a:ext cx="1140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/>
              <a:t>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</a:t>
            </a:r>
            <a:endParaRPr/>
          </a:p>
        </p:txBody>
      </p:sp>
      <p:sp>
        <p:nvSpPr>
          <p:cNvPr id="2992" name="Google Shape;2992;p219"/>
          <p:cNvSpPr txBox="1"/>
          <p:nvPr>
            <p:ph idx="4294967295" type="subTitle"/>
          </p:nvPr>
        </p:nvSpPr>
        <p:spPr>
          <a:xfrm>
            <a:off x="5776775" y="1808956"/>
            <a:ext cx="1758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+ d(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2000"/>
          </a:p>
        </p:txBody>
      </p:sp>
      <p:sp>
        <p:nvSpPr>
          <p:cNvPr id="2993" name="Google Shape;2993;p219"/>
          <p:cNvSpPr txBox="1"/>
          <p:nvPr>
            <p:ph idx="1" type="body"/>
          </p:nvPr>
        </p:nvSpPr>
        <p:spPr>
          <a:xfrm>
            <a:off x="6531250" y="2786450"/>
            <a:ext cx="2288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/>
              <a:t> is the common difference between terms</a:t>
            </a:r>
            <a:endParaRPr/>
          </a:p>
        </p:txBody>
      </p:sp>
      <p:cxnSp>
        <p:nvCxnSpPr>
          <p:cNvPr id="2994" name="Google Shape;2994;p219"/>
          <p:cNvCxnSpPr>
            <a:stCxn id="2991" idx="0"/>
          </p:cNvCxnSpPr>
          <p:nvPr/>
        </p:nvCxnSpPr>
        <p:spPr>
          <a:xfrm flipH="1" rot="10800000">
            <a:off x="5639350" y="2258750"/>
            <a:ext cx="188400" cy="527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5" name="Google Shape;2995;p219"/>
          <p:cNvCxnSpPr/>
          <p:nvPr/>
        </p:nvCxnSpPr>
        <p:spPr>
          <a:xfrm rot="10800000">
            <a:off x="6506925" y="2283275"/>
            <a:ext cx="141300" cy="504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220"/>
          <p:cNvSpPr txBox="1"/>
          <p:nvPr>
            <p:ph idx="1" type="subTitle"/>
          </p:nvPr>
        </p:nvSpPr>
        <p:spPr>
          <a:xfrm>
            <a:off x="337825" y="4000325"/>
            <a:ext cx="1570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1" name="Google Shape;3001;p220"/>
          <p:cNvSpPr txBox="1"/>
          <p:nvPr>
            <p:ph idx="1" type="subTitle"/>
          </p:nvPr>
        </p:nvSpPr>
        <p:spPr>
          <a:xfrm>
            <a:off x="337825" y="4000315"/>
            <a:ext cx="2955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 = 12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+ 5(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2" name="Google Shape;3002;p220"/>
          <p:cNvSpPr txBox="1"/>
          <p:nvPr>
            <p:ph idx="1" type="subTitle"/>
          </p:nvPr>
        </p:nvSpPr>
        <p:spPr>
          <a:xfrm>
            <a:off x="337825" y="810000"/>
            <a:ext cx="431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generalisation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3" name="Google Shape;3003;p2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04" name="Google Shape;3004;p220"/>
          <p:cNvSpPr txBox="1"/>
          <p:nvPr>
            <p:ph idx="1" type="subTitle"/>
          </p:nvPr>
        </p:nvSpPr>
        <p:spPr>
          <a:xfrm>
            <a:off x="337825" y="131045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first five terms of the sequence where</a:t>
            </a:r>
            <a:r>
              <a:rPr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11 </a:t>
            </a:r>
            <a:r>
              <a:rPr lang="en-GB"/>
              <a:t>and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d = 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5" name="Google Shape;3005;p220"/>
          <p:cNvSpPr txBox="1"/>
          <p:nvPr>
            <p:ph idx="1" type="subTitle"/>
          </p:nvPr>
        </p:nvSpPr>
        <p:spPr>
          <a:xfrm>
            <a:off x="337825" y="27150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Write this generalised form for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, 17, 22, 27, 32, …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6" name="Google Shape;3006;p220"/>
          <p:cNvSpPr txBox="1"/>
          <p:nvPr>
            <p:ph idx="1" type="subTitle"/>
          </p:nvPr>
        </p:nvSpPr>
        <p:spPr>
          <a:xfrm>
            <a:off x="1252225" y="2105400"/>
            <a:ext cx="2549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11, 15, 19, 23, 27,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7" name="Google Shape;3007;p220"/>
          <p:cNvSpPr txBox="1"/>
          <p:nvPr>
            <p:ph idx="1" type="subTitle"/>
          </p:nvPr>
        </p:nvSpPr>
        <p:spPr>
          <a:xfrm>
            <a:off x="337825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8" name="Google Shape;3008;p220"/>
          <p:cNvSpPr txBox="1"/>
          <p:nvPr>
            <p:ph idx="1" type="subTitle"/>
          </p:nvPr>
        </p:nvSpPr>
        <p:spPr>
          <a:xfrm>
            <a:off x="1709425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9" name="Google Shape;3009;p220"/>
          <p:cNvSpPr txBox="1"/>
          <p:nvPr>
            <p:ph idx="1" type="subTitle"/>
          </p:nvPr>
        </p:nvSpPr>
        <p:spPr>
          <a:xfrm>
            <a:off x="1252225" y="2105400"/>
            <a:ext cx="457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0" name="Google Shape;3010;p220"/>
          <p:cNvSpPr txBox="1"/>
          <p:nvPr>
            <p:ph idx="1" type="subTitle"/>
          </p:nvPr>
        </p:nvSpPr>
        <p:spPr>
          <a:xfrm>
            <a:off x="337825" y="44676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Check: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12 + 5(5 − 1) = 12 + 5(4) = 32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p221"/>
          <p:cNvSpPr txBox="1"/>
          <p:nvPr>
            <p:ph idx="1" type="subTitle"/>
          </p:nvPr>
        </p:nvSpPr>
        <p:spPr>
          <a:xfrm>
            <a:off x="337825" y="4000315"/>
            <a:ext cx="1570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6" name="Google Shape;3016;p221"/>
          <p:cNvSpPr txBox="1"/>
          <p:nvPr>
            <p:ph idx="1" type="subTitle"/>
          </p:nvPr>
        </p:nvSpPr>
        <p:spPr>
          <a:xfrm>
            <a:off x="4823540" y="4010400"/>
            <a:ext cx="1570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7" name="Google Shape;3017;p221"/>
          <p:cNvSpPr txBox="1"/>
          <p:nvPr>
            <p:ph idx="1" type="subTitle"/>
          </p:nvPr>
        </p:nvSpPr>
        <p:spPr>
          <a:xfrm>
            <a:off x="337825" y="4000315"/>
            <a:ext cx="2955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 = 12 + 5(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8" name="Google Shape;3018;p221"/>
          <p:cNvSpPr txBox="1"/>
          <p:nvPr>
            <p:ph idx="1" type="subTitle"/>
          </p:nvPr>
        </p:nvSpPr>
        <p:spPr>
          <a:xfrm>
            <a:off x="337825" y="810000"/>
            <a:ext cx="4149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generalisation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9" name="Google Shape;3019;p2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20" name="Google Shape;3020;p221"/>
          <p:cNvSpPr txBox="1"/>
          <p:nvPr>
            <p:ph idx="1" type="subTitle"/>
          </p:nvPr>
        </p:nvSpPr>
        <p:spPr>
          <a:xfrm>
            <a:off x="337825" y="11910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first five terms of the sequence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11 </a:t>
            </a:r>
            <a:r>
              <a:rPr lang="en-GB"/>
              <a:t>and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d = 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1" name="Google Shape;3021;p221"/>
          <p:cNvSpPr txBox="1"/>
          <p:nvPr>
            <p:ph idx="1" type="subTitle"/>
          </p:nvPr>
        </p:nvSpPr>
        <p:spPr>
          <a:xfrm>
            <a:off x="337825" y="27150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this generalised form for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12, 17, 22, 27, 32, …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2" name="Google Shape;3022;p221"/>
          <p:cNvSpPr txBox="1"/>
          <p:nvPr>
            <p:ph idx="1" type="subTitle"/>
          </p:nvPr>
        </p:nvSpPr>
        <p:spPr>
          <a:xfrm>
            <a:off x="1252225" y="2105400"/>
            <a:ext cx="2549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11, 15, 19, 23, 27,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3" name="Google Shape;3023;p221"/>
          <p:cNvSpPr txBox="1"/>
          <p:nvPr>
            <p:ph idx="1" type="subTitle"/>
          </p:nvPr>
        </p:nvSpPr>
        <p:spPr>
          <a:xfrm>
            <a:off x="337825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4" name="Google Shape;3024;p221"/>
          <p:cNvSpPr txBox="1"/>
          <p:nvPr>
            <p:ph idx="1" type="subTitle"/>
          </p:nvPr>
        </p:nvSpPr>
        <p:spPr>
          <a:xfrm>
            <a:off x="1709425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 = 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5" name="Google Shape;3025;p221"/>
          <p:cNvSpPr txBox="1"/>
          <p:nvPr>
            <p:ph idx="1" type="subTitle"/>
          </p:nvPr>
        </p:nvSpPr>
        <p:spPr>
          <a:xfrm>
            <a:off x="1252225" y="2105400"/>
            <a:ext cx="457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6" name="Google Shape;3026;p221"/>
          <p:cNvSpPr txBox="1"/>
          <p:nvPr>
            <p:ph idx="1" type="subTitle"/>
          </p:nvPr>
        </p:nvSpPr>
        <p:spPr>
          <a:xfrm>
            <a:off x="4823540" y="4010400"/>
            <a:ext cx="2955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 = 1 + 7(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7" name="Google Shape;3027;p221"/>
          <p:cNvSpPr txBox="1"/>
          <p:nvPr>
            <p:ph idx="1" type="subTitle"/>
          </p:nvPr>
        </p:nvSpPr>
        <p:spPr>
          <a:xfrm>
            <a:off x="4823540" y="11910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first five terms of the sequence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−8 </a:t>
            </a:r>
            <a:r>
              <a:rPr lang="en-GB"/>
              <a:t>and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d = 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8" name="Google Shape;3028;p221"/>
          <p:cNvSpPr txBox="1"/>
          <p:nvPr>
            <p:ph idx="1" type="subTitle"/>
          </p:nvPr>
        </p:nvSpPr>
        <p:spPr>
          <a:xfrm>
            <a:off x="4823550" y="2715000"/>
            <a:ext cx="3982200" cy="6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this generalised form for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1, 8, 15, 22, 29, …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9" name="Google Shape;3029;p221"/>
          <p:cNvSpPr txBox="1"/>
          <p:nvPr>
            <p:ph idx="1" type="subTitle"/>
          </p:nvPr>
        </p:nvSpPr>
        <p:spPr>
          <a:xfrm>
            <a:off x="5737940" y="2105400"/>
            <a:ext cx="2549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, 2, 7, 12,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0" name="Google Shape;3030;p221"/>
          <p:cNvSpPr txBox="1"/>
          <p:nvPr>
            <p:ph idx="1" type="subTitle"/>
          </p:nvPr>
        </p:nvSpPr>
        <p:spPr>
          <a:xfrm>
            <a:off x="4823540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1" name="Google Shape;3031;p221"/>
          <p:cNvSpPr txBox="1"/>
          <p:nvPr>
            <p:ph idx="1" type="subTitle"/>
          </p:nvPr>
        </p:nvSpPr>
        <p:spPr>
          <a:xfrm>
            <a:off x="6195140" y="3553200"/>
            <a:ext cx="786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 = 7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2" name="Google Shape;3032;p221"/>
          <p:cNvSpPr txBox="1"/>
          <p:nvPr>
            <p:ph idx="1" type="subTitle"/>
          </p:nvPr>
        </p:nvSpPr>
        <p:spPr>
          <a:xfrm>
            <a:off x="337825" y="44676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Check: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12 + 5(5 − 1) = 12 + 5(4) = 32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3" name="Google Shape;3033;p221"/>
          <p:cNvSpPr txBox="1"/>
          <p:nvPr>
            <p:ph idx="1" type="subTitle"/>
          </p:nvPr>
        </p:nvSpPr>
        <p:spPr>
          <a:xfrm>
            <a:off x="4833625" y="4467600"/>
            <a:ext cx="39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Check: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 + 7(5 − 1) = 1 + 7(4) = 29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7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222"/>
          <p:cNvSpPr txBox="1"/>
          <p:nvPr>
            <p:ph idx="1" type="body"/>
          </p:nvPr>
        </p:nvSpPr>
        <p:spPr>
          <a:xfrm>
            <a:off x="324000" y="759300"/>
            <a:ext cx="7135200" cy="7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compare this form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/>
              <a:t> to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form we </a:t>
            </a:r>
            <a:r>
              <a:rPr lang="en-GB"/>
              <a:t>have</a:t>
            </a:r>
            <a:r>
              <a:rPr lang="en-GB"/>
              <a:t> </a:t>
            </a:r>
            <a:r>
              <a:rPr lang="en-GB"/>
              <a:t>previously</a:t>
            </a:r>
            <a:r>
              <a:rPr lang="en-GB"/>
              <a:t> seen. </a:t>
            </a:r>
            <a:endParaRPr/>
          </a:p>
        </p:txBody>
      </p:sp>
      <p:sp>
        <p:nvSpPr>
          <p:cNvPr id="3039" name="Google Shape;3039;p2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40" name="Google Shape;3040;p222"/>
          <p:cNvSpPr txBox="1"/>
          <p:nvPr>
            <p:ph idx="4294967295" type="subTitle"/>
          </p:nvPr>
        </p:nvSpPr>
        <p:spPr>
          <a:xfrm>
            <a:off x="327750" y="1886885"/>
            <a:ext cx="4496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1, 8, 15, 22, 29, …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1" name="Google Shape;3041;p222"/>
          <p:cNvSpPr txBox="1"/>
          <p:nvPr>
            <p:ph idx="4294967295" type="subTitle"/>
          </p:nvPr>
        </p:nvSpPr>
        <p:spPr>
          <a:xfrm>
            <a:off x="5773790" y="1859107"/>
            <a:ext cx="20325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term: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2" name="Google Shape;3042;p222"/>
          <p:cNvSpPr txBox="1"/>
          <p:nvPr>
            <p:ph idx="4294967295" type="subTitle"/>
          </p:nvPr>
        </p:nvSpPr>
        <p:spPr>
          <a:xfrm>
            <a:off x="327750" y="2953675"/>
            <a:ext cx="5446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</a:t>
            </a:r>
            <a:r>
              <a:rPr lang="en-GB"/>
              <a:t>he form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 = 1 + 7(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3" name="Google Shape;3043;p222"/>
          <p:cNvSpPr txBox="1"/>
          <p:nvPr>
            <p:ph idx="4294967295" type="subTitle"/>
          </p:nvPr>
        </p:nvSpPr>
        <p:spPr>
          <a:xfrm>
            <a:off x="3451950" y="3487075"/>
            <a:ext cx="19635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 + 7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4" name="Google Shape;3044;p222"/>
          <p:cNvSpPr txBox="1"/>
          <p:nvPr>
            <p:ph idx="4294967295" type="subTitle"/>
          </p:nvPr>
        </p:nvSpPr>
        <p:spPr>
          <a:xfrm>
            <a:off x="3451950" y="4020475"/>
            <a:ext cx="19635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5" name="Google Shape;3045;p222"/>
          <p:cNvSpPr/>
          <p:nvPr/>
        </p:nvSpPr>
        <p:spPr>
          <a:xfrm>
            <a:off x="3498254" y="4010140"/>
            <a:ext cx="1245000" cy="4215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6" name="Google Shape;3046;p222"/>
          <p:cNvSpPr/>
          <p:nvPr/>
        </p:nvSpPr>
        <p:spPr>
          <a:xfrm>
            <a:off x="6803999" y="1846290"/>
            <a:ext cx="1165500" cy="4215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0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223"/>
          <p:cNvSpPr txBox="1"/>
          <p:nvPr>
            <p:ph idx="4294967295" type="subTitle"/>
          </p:nvPr>
        </p:nvSpPr>
        <p:spPr>
          <a:xfrm>
            <a:off x="327750" y="2496475"/>
            <a:ext cx="5446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form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 = 8 + 9(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2" name="Google Shape;3052;p223"/>
          <p:cNvSpPr txBox="1"/>
          <p:nvPr>
            <p:ph idx="4294967295" type="subTitle"/>
          </p:nvPr>
        </p:nvSpPr>
        <p:spPr>
          <a:xfrm>
            <a:off x="327750" y="2496475"/>
            <a:ext cx="3170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form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3" name="Google Shape;3053;p223"/>
          <p:cNvSpPr txBox="1"/>
          <p:nvPr>
            <p:ph idx="1" type="body"/>
          </p:nvPr>
        </p:nvSpPr>
        <p:spPr>
          <a:xfrm>
            <a:off x="324000" y="759300"/>
            <a:ext cx="7135200" cy="7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the first five terms of the arithmetic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</a:t>
            </a:r>
            <a:r>
              <a:rPr lang="en-GB"/>
              <a:t>then write it in the form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/>
          </a:p>
        </p:txBody>
      </p:sp>
      <p:sp>
        <p:nvSpPr>
          <p:cNvPr id="3054" name="Google Shape;3054;p2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55" name="Google Shape;3055;p223"/>
          <p:cNvSpPr txBox="1"/>
          <p:nvPr>
            <p:ph idx="1" type="body"/>
          </p:nvPr>
        </p:nvSpPr>
        <p:spPr>
          <a:xfrm>
            <a:off x="324000" y="1866441"/>
            <a:ext cx="27327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8, 17, 26, 35, 44, …</a:t>
            </a:r>
            <a:endParaRPr/>
          </a:p>
        </p:txBody>
      </p:sp>
      <p:sp>
        <p:nvSpPr>
          <p:cNvPr id="3056" name="Google Shape;3056;p223"/>
          <p:cNvSpPr txBox="1"/>
          <p:nvPr>
            <p:ph idx="4294967295" type="subTitle"/>
          </p:nvPr>
        </p:nvSpPr>
        <p:spPr>
          <a:xfrm>
            <a:off x="327750" y="3258475"/>
            <a:ext cx="58767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1: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+ 9(5 − 1) = 8 + 9(4) = 44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7" name="Google Shape;3057;p223"/>
          <p:cNvSpPr txBox="1"/>
          <p:nvPr>
            <p:ph idx="4294967295" type="subTitle"/>
          </p:nvPr>
        </p:nvSpPr>
        <p:spPr>
          <a:xfrm>
            <a:off x="327750" y="3944275"/>
            <a:ext cx="58767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2: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+ 9(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 = 8 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− 9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224"/>
          <p:cNvSpPr txBox="1"/>
          <p:nvPr>
            <p:ph idx="1" type="body"/>
          </p:nvPr>
        </p:nvSpPr>
        <p:spPr>
          <a:xfrm>
            <a:off x="324000" y="759300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first five terms of these sequences:</a:t>
            </a:r>
            <a:endParaRPr/>
          </a:p>
        </p:txBody>
      </p:sp>
      <p:sp>
        <p:nvSpPr>
          <p:cNvPr id="3063" name="Google Shape;3063;p22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64" name="Google Shape;3064;p224"/>
          <p:cNvSpPr txBox="1"/>
          <p:nvPr>
            <p:ph idx="4294967295" type="subTitle"/>
          </p:nvPr>
        </p:nvSpPr>
        <p:spPr>
          <a:xfrm>
            <a:off x="327750" y="1239175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+ 4(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5" name="Google Shape;3065;p224"/>
          <p:cNvSpPr txBox="1"/>
          <p:nvPr>
            <p:ph idx="4294967295" type="subTitle"/>
          </p:nvPr>
        </p:nvSpPr>
        <p:spPr>
          <a:xfrm>
            <a:off x="327750" y="2101188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+ 5(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6" name="Google Shape;3066;p224"/>
          <p:cNvSpPr txBox="1"/>
          <p:nvPr>
            <p:ph idx="4294967295" type="subTitle"/>
          </p:nvPr>
        </p:nvSpPr>
        <p:spPr>
          <a:xfrm>
            <a:off x="327750" y="2963200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4 − 5(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7" name="Google Shape;3067;p224"/>
          <p:cNvSpPr txBox="1"/>
          <p:nvPr>
            <p:ph idx="4294967295" type="body"/>
          </p:nvPr>
        </p:nvSpPr>
        <p:spPr>
          <a:xfrm>
            <a:off x="324000" y="3597750"/>
            <a:ext cx="6412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Hint: They are written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− 1) </a:t>
            </a:r>
            <a:r>
              <a:rPr lang="en-GB" sz="2000"/>
              <a:t>where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the first term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the common difference.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225"/>
          <p:cNvSpPr txBox="1"/>
          <p:nvPr>
            <p:ph idx="1" type="body"/>
          </p:nvPr>
        </p:nvSpPr>
        <p:spPr>
          <a:xfrm>
            <a:off x="324000" y="759300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Write two different generalisations for each of these arithmetic sequences:</a:t>
            </a:r>
            <a:endParaRPr/>
          </a:p>
        </p:txBody>
      </p:sp>
      <p:sp>
        <p:nvSpPr>
          <p:cNvPr id="3073" name="Google Shape;3073;p22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74" name="Google Shape;3074;p225"/>
          <p:cNvSpPr txBox="1"/>
          <p:nvPr>
            <p:ph idx="4294967295" type="subTitle"/>
          </p:nvPr>
        </p:nvSpPr>
        <p:spPr>
          <a:xfrm>
            <a:off x="327750" y="1543975"/>
            <a:ext cx="304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10, 13, 16, 19,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5" name="Google Shape;3075;p225"/>
          <p:cNvSpPr txBox="1"/>
          <p:nvPr>
            <p:ph idx="4294967295" type="subTitle"/>
          </p:nvPr>
        </p:nvSpPr>
        <p:spPr>
          <a:xfrm>
            <a:off x="327750" y="2296142"/>
            <a:ext cx="3520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−3, −13, −23, −33,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6" name="Google Shape;3076;p225"/>
          <p:cNvSpPr txBox="1"/>
          <p:nvPr>
            <p:ph idx="4294967295" type="subTitle"/>
          </p:nvPr>
        </p:nvSpPr>
        <p:spPr>
          <a:xfrm>
            <a:off x="327750" y="3048308"/>
            <a:ext cx="36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0.7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0.95, 1.2, 1.45, 1.7,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7" name="Google Shape;3077;p225"/>
          <p:cNvSpPr txBox="1"/>
          <p:nvPr>
            <p:ph idx="4294967295" type="subTitle"/>
          </p:nvPr>
        </p:nvSpPr>
        <p:spPr>
          <a:xfrm>
            <a:off x="327750" y="3800475"/>
            <a:ext cx="304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,\frac{5}{7},\frac{9}{7},\frac{13}{7},\frac{17}{7},\ ...&quot;&gt;&lt;mfrac&gt;&lt;mn&gt;1&lt;/mn&gt;&lt;mn&gt;7&lt;/mn&gt;&lt;/mfrac&gt;&lt;mo&gt;,&lt;/mo&gt;&lt;mfrac&gt;&lt;mn&gt;5&lt;/mn&gt;&lt;mn&gt;7&lt;/mn&gt;&lt;/mfrac&gt;&lt;mo&gt;,&lt;/mo&gt;&lt;mfrac&gt;&lt;mn&gt;9&lt;/mn&gt;&lt;mn&gt;7&lt;/mn&gt;&lt;/mfrac&gt;&lt;mo&gt;,&lt;/mo&gt;&lt;mfrac&gt;&lt;mn&gt;13&lt;/mn&gt;&lt;mn&gt;7&lt;/mn&gt;&lt;/mfrac&gt;&lt;mo&gt;,&lt;/mo&gt;&lt;mfrac&gt;&lt;mn&gt;17&lt;/mn&gt;&lt;mn&gt;7&lt;/mn&gt;&lt;/mfrac&gt;&lt;mo&gt;,&lt;/mo&gt;&lt;mtext&gt;&lt;/mtext&gt;&lt;mo&gt;.&lt;/mo&gt;&lt;mo&gt;.&lt;/mo&gt;&lt;mo&gt;.&lt;/mo&gt;&lt;/math&gt;" id="3078" name="Google Shape;3078;p225" title="one seventh comma five sevenths comma nine sevenths comma thirteen sevenths comma seventeen seven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25" y="3740758"/>
            <a:ext cx="2384923" cy="576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p226"/>
          <p:cNvSpPr txBox="1"/>
          <p:nvPr>
            <p:ph idx="1" type="body"/>
          </p:nvPr>
        </p:nvSpPr>
        <p:spPr>
          <a:xfrm>
            <a:off x="324000" y="759300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For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 + 7(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/>
              <a:t> </a:t>
            </a:r>
            <a:endParaRPr/>
          </a:p>
        </p:txBody>
      </p:sp>
      <p:sp>
        <p:nvSpPr>
          <p:cNvPr id="3084" name="Google Shape;3084;p22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85" name="Google Shape;3085;p226"/>
          <p:cNvSpPr txBox="1"/>
          <p:nvPr>
            <p:ph idx="4294967295" type="subTitle"/>
          </p:nvPr>
        </p:nvSpPr>
        <p:spPr>
          <a:xfrm>
            <a:off x="327750" y="1341149"/>
            <a:ext cx="3992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Find the first five terms.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6" name="Google Shape;3086;p226"/>
          <p:cNvSpPr txBox="1"/>
          <p:nvPr>
            <p:ph idx="4294967295" type="subTitle"/>
          </p:nvPr>
        </p:nvSpPr>
        <p:spPr>
          <a:xfrm>
            <a:off x="327750" y="2276840"/>
            <a:ext cx="3992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7" name="Google Shape;3087;p226"/>
          <p:cNvSpPr txBox="1"/>
          <p:nvPr>
            <p:ph idx="4294967295" type="subTitle"/>
          </p:nvPr>
        </p:nvSpPr>
        <p:spPr>
          <a:xfrm>
            <a:off x="327750" y="3251751"/>
            <a:ext cx="7131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Find the position of the 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388</a:t>
            </a:r>
            <a:r>
              <a:rPr lang="en-GB"/>
              <a:t> in the sequence.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227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first five terms of these sequences:</a:t>
            </a:r>
            <a:endParaRPr/>
          </a:p>
        </p:txBody>
      </p:sp>
      <p:sp>
        <p:nvSpPr>
          <p:cNvPr id="3093" name="Google Shape;3093;p22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094" name="Google Shape;3094;p227"/>
          <p:cNvSpPr txBox="1"/>
          <p:nvPr>
            <p:ph idx="4294967295" type="subTitle"/>
          </p:nvPr>
        </p:nvSpPr>
        <p:spPr>
          <a:xfrm>
            <a:off x="327750" y="1239175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5" name="Google Shape;3095;p227"/>
          <p:cNvSpPr txBox="1"/>
          <p:nvPr>
            <p:ph idx="4294967295" type="subTitle"/>
          </p:nvPr>
        </p:nvSpPr>
        <p:spPr>
          <a:xfrm>
            <a:off x="327750" y="2101188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+ 5(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6" name="Google Shape;3096;p227"/>
          <p:cNvSpPr txBox="1"/>
          <p:nvPr>
            <p:ph idx="4294967295" type="subTitle"/>
          </p:nvPr>
        </p:nvSpPr>
        <p:spPr>
          <a:xfrm>
            <a:off x="327750" y="2963200"/>
            <a:ext cx="196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4 − 5(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7" name="Google Shape;3097;p227"/>
          <p:cNvSpPr txBox="1"/>
          <p:nvPr>
            <p:ph idx="4294967295" type="body"/>
          </p:nvPr>
        </p:nvSpPr>
        <p:spPr>
          <a:xfrm>
            <a:off x="324000" y="3597750"/>
            <a:ext cx="6412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Hint: They are written in</a:t>
            </a:r>
            <a:r>
              <a:rPr lang="en-GB" sz="2000"/>
              <a:t>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− 1) </a:t>
            </a:r>
            <a:r>
              <a:rPr lang="en-GB" sz="2000"/>
              <a:t>where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the first term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the common difference.</a:t>
            </a:r>
            <a:endParaRPr sz="2000"/>
          </a:p>
        </p:txBody>
      </p:sp>
      <p:sp>
        <p:nvSpPr>
          <p:cNvPr id="3098" name="Google Shape;3098;p227"/>
          <p:cNvSpPr txBox="1"/>
          <p:nvPr>
            <p:ph idx="4294967295" type="subTitle"/>
          </p:nvPr>
        </p:nvSpPr>
        <p:spPr>
          <a:xfrm>
            <a:off x="5318750" y="1238625"/>
            <a:ext cx="27507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9, 13, 17, 21,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9" name="Google Shape;3099;p227"/>
          <p:cNvSpPr txBox="1"/>
          <p:nvPr>
            <p:ph idx="4294967295" type="subTitle"/>
          </p:nvPr>
        </p:nvSpPr>
        <p:spPr>
          <a:xfrm>
            <a:off x="2900050" y="1238625"/>
            <a:ext cx="15213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0" name="Google Shape;3100;p227"/>
          <p:cNvSpPr txBox="1"/>
          <p:nvPr>
            <p:ph idx="4294967295" type="subTitle"/>
          </p:nvPr>
        </p:nvSpPr>
        <p:spPr>
          <a:xfrm>
            <a:off x="5318750" y="2095875"/>
            <a:ext cx="27507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9, 14, 19, 24,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1" name="Google Shape;3101;p227"/>
          <p:cNvSpPr txBox="1"/>
          <p:nvPr>
            <p:ph idx="4294967295" type="subTitle"/>
          </p:nvPr>
        </p:nvSpPr>
        <p:spPr>
          <a:xfrm>
            <a:off x="2900050" y="2095875"/>
            <a:ext cx="15213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4, d =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2" name="Google Shape;3102;p227"/>
          <p:cNvSpPr txBox="1"/>
          <p:nvPr>
            <p:ph idx="4294967295" type="subTitle"/>
          </p:nvPr>
        </p:nvSpPr>
        <p:spPr>
          <a:xfrm>
            <a:off x="5318750" y="2953125"/>
            <a:ext cx="30555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4, −1, −6, −11, −16,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3" name="Google Shape;3103;p227"/>
          <p:cNvSpPr txBox="1"/>
          <p:nvPr>
            <p:ph idx="4294967295" type="subTitle"/>
          </p:nvPr>
        </p:nvSpPr>
        <p:spPr>
          <a:xfrm>
            <a:off x="2900050" y="2953125"/>
            <a:ext cx="17925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4, d = −5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p228"/>
          <p:cNvSpPr txBox="1"/>
          <p:nvPr>
            <p:ph idx="1" type="body"/>
          </p:nvPr>
        </p:nvSpPr>
        <p:spPr>
          <a:xfrm>
            <a:off x="324000" y="759300"/>
            <a:ext cx="7135200" cy="7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two different generalisations for each of these arithmetic sequences:</a:t>
            </a:r>
            <a:endParaRPr/>
          </a:p>
        </p:txBody>
      </p:sp>
      <p:sp>
        <p:nvSpPr>
          <p:cNvPr id="3109" name="Google Shape;3109;p22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110" name="Google Shape;3110;p228"/>
          <p:cNvSpPr txBox="1"/>
          <p:nvPr>
            <p:ph idx="4294967295" type="subTitle"/>
          </p:nvPr>
        </p:nvSpPr>
        <p:spPr>
          <a:xfrm>
            <a:off x="327750" y="1543975"/>
            <a:ext cx="304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10, 13, 16, 19,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1" name="Google Shape;3111;p228"/>
          <p:cNvSpPr txBox="1"/>
          <p:nvPr>
            <p:ph idx="4294967295" type="subTitle"/>
          </p:nvPr>
        </p:nvSpPr>
        <p:spPr>
          <a:xfrm>
            <a:off x="327750" y="2296142"/>
            <a:ext cx="3520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−3, −13, −23, −33,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2" name="Google Shape;3112;p228"/>
          <p:cNvSpPr txBox="1"/>
          <p:nvPr>
            <p:ph idx="4294967295" type="subTitle"/>
          </p:nvPr>
        </p:nvSpPr>
        <p:spPr>
          <a:xfrm>
            <a:off x="327750" y="3048308"/>
            <a:ext cx="36822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0.7, 0.95, 1.2, 1.45, 1.7,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3" name="Google Shape;3113;p228"/>
          <p:cNvSpPr txBox="1"/>
          <p:nvPr>
            <p:ph idx="4294967295" type="subTitle"/>
          </p:nvPr>
        </p:nvSpPr>
        <p:spPr>
          <a:xfrm>
            <a:off x="327750" y="3800475"/>
            <a:ext cx="304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,\frac{5}{7},\frac{9}{7},\frac{13}{7},\frac{17}{7},\ ...&quot;&gt;&lt;mfrac&gt;&lt;mn&gt;1&lt;/mn&gt;&lt;mn&gt;7&lt;/mn&gt;&lt;/mfrac&gt;&lt;mo&gt;,&lt;/mo&gt;&lt;mfrac&gt;&lt;mn&gt;5&lt;/mn&gt;&lt;mn&gt;7&lt;/mn&gt;&lt;/mfrac&gt;&lt;mo&gt;,&lt;/mo&gt;&lt;mfrac&gt;&lt;mn&gt;9&lt;/mn&gt;&lt;mn&gt;7&lt;/mn&gt;&lt;/mfrac&gt;&lt;mo&gt;,&lt;/mo&gt;&lt;mfrac&gt;&lt;mn&gt;13&lt;/mn&gt;&lt;mn&gt;7&lt;/mn&gt;&lt;/mfrac&gt;&lt;mo&gt;,&lt;/mo&gt;&lt;mfrac&gt;&lt;mn&gt;17&lt;/mn&gt;&lt;mn&gt;7&lt;/mn&gt;&lt;/mfrac&gt;&lt;mo&gt;,&lt;/mo&gt;&lt;mtext&gt;&lt;/mtext&gt;&lt;mo&gt;.&lt;/mo&gt;&lt;mo&gt;.&lt;/mo&gt;&lt;mo&gt;.&lt;/mo&gt;&lt;/math&gt;" id="3114" name="Google Shape;3114;p228" title="one seventh comma five sevenths comma nine sevenths comma thirteen sevenths comma seventeen seven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25" y="3740758"/>
            <a:ext cx="2384923" cy="57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+\frac{4}{7}\left(n-1\right)&quot;&gt;&lt;mfrac&gt;&lt;mn&gt;1&lt;/mn&gt;&lt;mn&gt;7&lt;/mn&gt;&lt;/mfrac&gt;&lt;mo&gt;+&lt;/mo&gt;&lt;mfrac&gt;&lt;mn&gt;4&lt;/mn&gt;&lt;mn&gt;7&lt;/mn&gt;&lt;/mfrac&gt;&lt;mrow data-mjx-texclass=&quot;INNER&quot;&gt;&lt;mo data-mjx-texclass=&quot;OPEN&quot;&gt;(&lt;/mo&gt;&lt;mi&gt;n&lt;/mi&gt;&lt;mo&gt;−&lt;/mo&gt;&lt;mn&gt;1&lt;/mn&gt;&lt;mo data-mjx-texclass=&quot;CLOSE&quot;&gt;)&lt;/mo&gt;&lt;/mrow&gt;&lt;/math&gt;" id="3115" name="Google Shape;3115;p228" title="one seventh plus four sevenths times open paren n minus 1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345" y="3744830"/>
            <a:ext cx="1577126" cy="594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n-\frac{3}{7}&quot;&gt;&lt;mfrac&gt;&lt;mn&gt;4&lt;/mn&gt;&lt;mn&gt;7&lt;/mn&gt;&lt;/mfrac&gt;&lt;mi&gt;n&lt;/mi&gt;&lt;mo&gt;−&lt;/mo&gt;&lt;mfrac&gt;&lt;mn&gt;3&lt;/mn&gt;&lt;mn&gt;7&lt;/mn&gt;&lt;/mfrac&gt;&lt;/math&gt;" id="3116" name="Google Shape;3116;p228" title="four sevenths n minus 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5988" y="3736571"/>
            <a:ext cx="897552" cy="594093"/>
          </a:xfrm>
          <a:prstGeom prst="rect">
            <a:avLst/>
          </a:prstGeom>
          <a:noFill/>
          <a:ln>
            <a:noFill/>
          </a:ln>
        </p:spPr>
      </p:pic>
      <p:sp>
        <p:nvSpPr>
          <p:cNvPr id="3117" name="Google Shape;3117;p228"/>
          <p:cNvSpPr txBox="1"/>
          <p:nvPr>
            <p:ph idx="4294967295" type="subTitle"/>
          </p:nvPr>
        </p:nvSpPr>
        <p:spPr>
          <a:xfrm>
            <a:off x="4316470" y="1544775"/>
            <a:ext cx="941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8" name="Google Shape;3118;p228"/>
          <p:cNvSpPr txBox="1"/>
          <p:nvPr>
            <p:ph idx="4294967295" type="subTitle"/>
          </p:nvPr>
        </p:nvSpPr>
        <p:spPr>
          <a:xfrm>
            <a:off x="4326002" y="2287725"/>
            <a:ext cx="1448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9" name="Google Shape;3119;p228"/>
          <p:cNvSpPr txBox="1"/>
          <p:nvPr>
            <p:ph idx="4294967295" type="subTitle"/>
          </p:nvPr>
        </p:nvSpPr>
        <p:spPr>
          <a:xfrm>
            <a:off x="4326000" y="3030675"/>
            <a:ext cx="170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+ 0.45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0" name="Google Shape;3120;p228"/>
          <p:cNvSpPr txBox="1"/>
          <p:nvPr>
            <p:ph idx="4294967295" type="subTitle"/>
          </p:nvPr>
        </p:nvSpPr>
        <p:spPr>
          <a:xfrm>
            <a:off x="6252300" y="1543975"/>
            <a:ext cx="16863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1" name="Google Shape;3121;p228"/>
          <p:cNvSpPr txBox="1"/>
          <p:nvPr>
            <p:ph idx="4294967295" type="subTitle"/>
          </p:nvPr>
        </p:nvSpPr>
        <p:spPr>
          <a:xfrm>
            <a:off x="6252300" y="2286925"/>
            <a:ext cx="16863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2" name="Google Shape;3122;p228"/>
          <p:cNvSpPr txBox="1"/>
          <p:nvPr>
            <p:ph idx="4294967295" type="subTitle"/>
          </p:nvPr>
        </p:nvSpPr>
        <p:spPr>
          <a:xfrm>
            <a:off x="6252300" y="3029875"/>
            <a:ext cx="21729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+ 0.25(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229"/>
          <p:cNvSpPr txBox="1"/>
          <p:nvPr>
            <p:ph idx="1" type="body"/>
          </p:nvPr>
        </p:nvSpPr>
        <p:spPr>
          <a:xfrm>
            <a:off x="324000" y="759300"/>
            <a:ext cx="4500000" cy="4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For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 + 7(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/>
              <a:t> </a:t>
            </a:r>
            <a:endParaRPr/>
          </a:p>
        </p:txBody>
      </p:sp>
      <p:sp>
        <p:nvSpPr>
          <p:cNvPr id="3128" name="Google Shape;3128;p22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finding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3129" name="Google Shape;3129;p229"/>
          <p:cNvSpPr txBox="1"/>
          <p:nvPr>
            <p:ph idx="4294967295" type="subTitle"/>
          </p:nvPr>
        </p:nvSpPr>
        <p:spPr>
          <a:xfrm>
            <a:off x="327750" y="1341149"/>
            <a:ext cx="3992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Find the first five terms.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0" name="Google Shape;3130;p229"/>
          <p:cNvSpPr txBox="1"/>
          <p:nvPr>
            <p:ph idx="4294967295" type="subTitle"/>
          </p:nvPr>
        </p:nvSpPr>
        <p:spPr>
          <a:xfrm>
            <a:off x="327750" y="1865584"/>
            <a:ext cx="3992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1" name="Google Shape;3131;p229"/>
          <p:cNvSpPr txBox="1"/>
          <p:nvPr>
            <p:ph idx="4294967295" type="subTitle"/>
          </p:nvPr>
        </p:nvSpPr>
        <p:spPr>
          <a:xfrm>
            <a:off x="327750" y="2413551"/>
            <a:ext cx="7131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Find the position of the 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388</a:t>
            </a:r>
            <a:r>
              <a:rPr lang="en-GB"/>
              <a:t> in the sequence.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2" name="Google Shape;3132;p229"/>
          <p:cNvSpPr txBox="1"/>
          <p:nvPr>
            <p:ph idx="4294967295" type="subTitle"/>
          </p:nvPr>
        </p:nvSpPr>
        <p:spPr>
          <a:xfrm>
            <a:off x="4574779" y="1315375"/>
            <a:ext cx="304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31, 38, 45, 52,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3" name="Google Shape;3133;p229"/>
          <p:cNvSpPr txBox="1"/>
          <p:nvPr>
            <p:ph idx="4294967295" type="subTitle"/>
          </p:nvPr>
        </p:nvSpPr>
        <p:spPr>
          <a:xfrm>
            <a:off x="3660375" y="1848769"/>
            <a:ext cx="4934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 + 7(100 − 1) = 24 + 7(99) = 717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34" name="Google Shape;3134;p229"/>
          <p:cNvGraphicFramePr/>
          <p:nvPr/>
        </p:nvGraphicFramePr>
        <p:xfrm>
          <a:off x="2047396" y="2910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2433600"/>
                <a:gridCol w="464300"/>
                <a:gridCol w="130647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+ 7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364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35" name="Google Shape;3135;p229"/>
          <p:cNvGraphicFramePr/>
          <p:nvPr/>
        </p:nvGraphicFramePr>
        <p:xfrm>
          <a:off x="2047396" y="2910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2433600"/>
                <a:gridCol w="464300"/>
                <a:gridCol w="130647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364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36" name="Google Shape;3136;p229"/>
          <p:cNvGraphicFramePr/>
          <p:nvPr/>
        </p:nvGraphicFramePr>
        <p:xfrm>
          <a:off x="2047396" y="2910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2433600"/>
                <a:gridCol w="464300"/>
                <a:gridCol w="130647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364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37" name="Google Shape;3137;p229"/>
          <p:cNvGraphicFramePr/>
          <p:nvPr/>
        </p:nvGraphicFramePr>
        <p:xfrm>
          <a:off x="2047396" y="2910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{D0C51308-9D66-4D5C-B06B-D0F8100164DC}</a:tableStyleId>
              </a:tblPr>
              <a:tblGrid>
                <a:gridCol w="2433600"/>
                <a:gridCol w="464300"/>
                <a:gridCol w="130647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+ 7(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230"/>
          <p:cNvSpPr txBox="1"/>
          <p:nvPr>
            <p:ph idx="1" type="body"/>
          </p:nvPr>
        </p:nvSpPr>
        <p:spPr>
          <a:xfrm>
            <a:off x="324000" y="810000"/>
            <a:ext cx="81138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Using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 expressions we can generalise arithmetic sequences in a number of ways.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100"/>
            </a:b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We can use these generalisations to </a:t>
            </a:r>
            <a:r>
              <a:rPr lang="en-GB" sz="2100"/>
              <a:t>justify</a:t>
            </a:r>
            <a:r>
              <a:rPr lang="en-GB" sz="2100"/>
              <a:t> if a term is part of a sequence or not.</a:t>
            </a:r>
            <a:endParaRPr sz="2100"/>
          </a:p>
        </p:txBody>
      </p:sp>
      <p:sp>
        <p:nvSpPr>
          <p:cNvPr id="3143" name="Google Shape;3143;p230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</a:t>
            </a:r>
            <a:r>
              <a:rPr lang="en-GB"/>
              <a:t>understanding</a:t>
            </a:r>
            <a:r>
              <a:rPr lang="en-GB"/>
              <a:t> of arithmetic sequences</a:t>
            </a:r>
            <a:endParaRPr/>
          </a:p>
        </p:txBody>
      </p:sp>
      <p:sp>
        <p:nvSpPr>
          <p:cNvPr id="3144" name="Google Shape;3144;p230"/>
          <p:cNvSpPr txBox="1"/>
          <p:nvPr>
            <p:ph idx="1" type="body"/>
          </p:nvPr>
        </p:nvSpPr>
        <p:spPr>
          <a:xfrm>
            <a:off x="2935450" y="2786450"/>
            <a:ext cx="1140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/>
              <a:t> is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100"/>
              <a:t> term</a:t>
            </a:r>
            <a:endParaRPr sz="2100"/>
          </a:p>
        </p:txBody>
      </p:sp>
      <p:sp>
        <p:nvSpPr>
          <p:cNvPr id="3145" name="Google Shape;3145;p230"/>
          <p:cNvSpPr txBox="1"/>
          <p:nvPr>
            <p:ph idx="4294967295" type="subTitle"/>
          </p:nvPr>
        </p:nvSpPr>
        <p:spPr>
          <a:xfrm>
            <a:off x="3643175" y="1808956"/>
            <a:ext cx="1758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 + d(</a:t>
            </a:r>
            <a:r>
              <a:rPr i="1" lang="en-GB" sz="27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endParaRPr sz="1900"/>
          </a:p>
        </p:txBody>
      </p:sp>
      <p:sp>
        <p:nvSpPr>
          <p:cNvPr id="3146" name="Google Shape;3146;p230"/>
          <p:cNvSpPr txBox="1"/>
          <p:nvPr>
            <p:ph idx="1" type="body"/>
          </p:nvPr>
        </p:nvSpPr>
        <p:spPr>
          <a:xfrm>
            <a:off x="4397650" y="2786450"/>
            <a:ext cx="2288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100"/>
              <a:t> is the common difference between terms</a:t>
            </a:r>
            <a:endParaRPr sz="2100"/>
          </a:p>
        </p:txBody>
      </p:sp>
      <p:cxnSp>
        <p:nvCxnSpPr>
          <p:cNvPr id="3147" name="Google Shape;3147;p230"/>
          <p:cNvCxnSpPr>
            <a:stCxn id="3144" idx="0"/>
          </p:cNvCxnSpPr>
          <p:nvPr/>
        </p:nvCxnSpPr>
        <p:spPr>
          <a:xfrm flipH="1" rot="10800000">
            <a:off x="3505750" y="2184950"/>
            <a:ext cx="192600" cy="601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8" name="Google Shape;3148;p230"/>
          <p:cNvCxnSpPr/>
          <p:nvPr/>
        </p:nvCxnSpPr>
        <p:spPr>
          <a:xfrm rot="10800000">
            <a:off x="4290825" y="2184875"/>
            <a:ext cx="223800" cy="602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23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154" name="Google Shape;3154;p2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