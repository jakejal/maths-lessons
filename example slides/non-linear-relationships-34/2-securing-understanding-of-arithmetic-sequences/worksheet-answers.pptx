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E0DB16B-BF5A-4830-8DF9-BE151F7ADA28}">
  <a:tblStyle styleId="{4E0DB16B-BF5A-4830-8DF9-BE151F7ADA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b140edb3f2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b140edb3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arithmetic sequences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30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Reviewing the </a:t>
            </a:r>
            <a:r>
              <a:rPr b="1"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baseline="30000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term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400" y="1749900"/>
            <a:ext cx="42060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Find the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of these sequences.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6243788" y="3200225"/>
            <a:ext cx="8481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15 − 4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76400" y="2161505"/>
            <a:ext cx="30837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	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11, 19, 27, 35, 43,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76400" y="2697377"/>
            <a:ext cx="28332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	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4, 12, 20, 28, 36,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76400" y="3233250"/>
            <a:ext cx="23976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	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11, 7, 3, −1, −5,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76400" y="3769122"/>
            <a:ext cx="27555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	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1.1, 1.9, 2.7, 3.5, 4.3,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76400" y="4304994"/>
            <a:ext cx="2337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5219974" y="2146587"/>
            <a:ext cx="6771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5219974" y="2675794"/>
            <a:ext cx="6771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4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11},\frac{7}{11},\frac{10}{11},\frac{13}{11},\frac{16}{11},\ ...&quot;&gt;&lt;mfrac&gt;&lt;mn&gt;4&lt;/mn&gt;&lt;mn&gt;11&lt;/mn&gt;&lt;/mfrac&gt;&lt;mo&gt;,&lt;/mo&gt;&lt;mfrac&gt;&lt;mn&gt;7&lt;/mn&gt;&lt;mn&gt;11&lt;/mn&gt;&lt;/mfrac&gt;&lt;mo&gt;,&lt;/mo&gt;&lt;mfrac&gt;&lt;mn&gt;10&lt;/mn&gt;&lt;mn&gt;11&lt;/mn&gt;&lt;/mfrac&gt;&lt;mo&gt;,&lt;/mo&gt;&lt;mfrac&gt;&lt;mn&gt;13&lt;/mn&gt;&lt;mn&gt;11&lt;/mn&gt;&lt;/mfrac&gt;&lt;mo&gt;,&lt;/mo&gt;&lt;mfrac&gt;&lt;mn&gt;16&lt;/mn&gt;&lt;mn&gt;11&lt;/mn&gt;&lt;/mfrac&gt;&lt;mo&gt;,&lt;/mo&gt;&lt;mtext&gt;&lt;/mtext&gt;&lt;mo&gt;.&lt;/mo&gt;&lt;mo&gt;.&lt;/mo&gt;&lt;mo&gt;.&lt;/mo&gt;&lt;/math&gt;" id="183" name="Google Shape;183;p20" title="4 over 11 comma 7 over 11 comma 10 over 11 comma 13 over 11 comma 16 over 11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677" y="4297049"/>
            <a:ext cx="1678735" cy="34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1}n+\frac{1}{11}&quot;&gt;&lt;mfrac&gt;&lt;mn&gt;3&lt;/mn&gt;&lt;mn&gt;11&lt;/mn&gt;&lt;/mfrac&gt;&lt;mi&gt;n&lt;/mi&gt;&lt;mo&gt;+&lt;/mo&gt;&lt;mfrac&gt;&lt;mn&gt;1&lt;/mn&gt;&lt;mn&gt;11&lt;/mn&gt;&lt;/mfrac&gt;&lt;/math&gt;" id="184" name="Google Shape;184;p20" title="3 over 11 n plus 1 over 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9273" y="4272700"/>
            <a:ext cx="677100" cy="3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2814095" y="2082816"/>
            <a:ext cx="21003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Common difference: +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Translation from 8n: +3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2814095" y="2612023"/>
            <a:ext cx="21003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Common difference: +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Translation from 8n: −4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2814095" y="3141228"/>
            <a:ext cx="22404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Common difference: −4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Translation from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−4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n: +15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5102363" y="3205006"/>
            <a:ext cx="8481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+ 15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6020463" y="3243265"/>
            <a:ext cx="3780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r…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5147994" y="3757826"/>
            <a:ext cx="10635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0.8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0.3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2814095" y="3771310"/>
            <a:ext cx="23976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Common difference: +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0.8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Translation from 0.8n: +0.3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2823972" y="4304993"/>
            <a:ext cx="23976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Common difference: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Translation from      :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11}n&quot;&gt;&lt;mfrac&gt;&lt;mn&gt;3&lt;/mn&gt;&lt;mn&gt;11&lt;/mn&gt;&lt;/mfrac&gt;&lt;mi&gt;n&lt;/mi&gt;&lt;/math&gt;" id="193" name="Google Shape;193;p20" title="3 over 11 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31732" y="4620305"/>
            <a:ext cx="287695" cy="3457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+\frac{3}{11}&quot;&gt;&lt;mo&gt;+&lt;/mo&gt;&lt;mfrac&gt;&lt;mn&gt;3&lt;/mn&gt;&lt;mn&gt;11&lt;/mn&gt;&lt;/mfrac&gt;&lt;/math&gt;" id="194" name="Google Shape;194;p20" title="positive 3 over 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82210" y="4199616"/>
            <a:ext cx="287687" cy="3153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+\frac{1}{11}&quot;&gt;&lt;mo&gt;+&lt;/mo&gt;&lt;mfrac&gt;&lt;mn&gt;1&lt;/mn&gt;&lt;mn&gt;11&lt;/mn&gt;&lt;/mfrac&gt;&lt;/math&gt;" id="195" name="Google Shape;195;p20" title="positive 1 over 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21765" y="4620319"/>
            <a:ext cx="315439" cy="3457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6" name="Google Shape;196;p20"/>
          <p:cNvCxnSpPr/>
          <p:nvPr/>
        </p:nvCxnSpPr>
        <p:spPr>
          <a:xfrm>
            <a:off x="474757" y="517056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20"/>
          <p:cNvSpPr txBox="1"/>
          <p:nvPr>
            <p:ph idx="12" type="sldNum"/>
          </p:nvPr>
        </p:nvSpPr>
        <p:spPr>
          <a:xfrm>
            <a:off x="6352325" y="108102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471903" y="5638625"/>
            <a:ext cx="66162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For each sequence: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(i) find the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(ii) find the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term,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(iii) identify if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in the sequence and if so, its position.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475798" y="5316575"/>
            <a:ext cx="6308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Using the </a:t>
            </a:r>
            <a:r>
              <a:rPr b="1"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baseline="30000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73703" y="6914576"/>
            <a:ext cx="2623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−10, −7, −4, −1, 3,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73700" y="8057276"/>
            <a:ext cx="3049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999, 996, 993, 990, 987,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73700" y="9360863"/>
            <a:ext cx="3049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8.4, 8.8, 9.2, 9.6,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3443350" y="6922913"/>
            <a:ext cx="2343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(i) n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term: 3</a:t>
            </a:r>
            <a:r>
              <a:rPr i="1" lang="en-GB" sz="1200">
                <a:latin typeface="Kalam"/>
                <a:ea typeface="Kalam"/>
                <a:cs typeface="Kalam"/>
                <a:sym typeface="Kalam"/>
              </a:rPr>
              <a:t>n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− 13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3420000" y="7150500"/>
            <a:ext cx="3916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(ii) 100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term: 3(100) − 13 = 287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05" name="Google Shape;205;p20"/>
          <p:cNvGraphicFramePr/>
          <p:nvPr/>
        </p:nvGraphicFramePr>
        <p:xfrm>
          <a:off x="3415842" y="73419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{4E0DB16B-BF5A-4830-8DF9-BE151F7ADA28}</a:tableStyleId>
              </a:tblPr>
              <a:tblGrid>
                <a:gridCol w="1030700"/>
                <a:gridCol w="382850"/>
                <a:gridCol w="687625"/>
              </a:tblGrid>
              <a:tr h="2177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− 13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7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513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7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171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6" name="Google Shape;206;p20"/>
          <p:cNvSpPr txBox="1"/>
          <p:nvPr/>
        </p:nvSpPr>
        <p:spPr>
          <a:xfrm>
            <a:off x="5616625" y="7901450"/>
            <a:ext cx="14217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500 is the 171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st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term.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3420000" y="7361638"/>
            <a:ext cx="5424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(iii)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3443350" y="8201125"/>
            <a:ext cx="2796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(i) n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term: 1002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i="1" lang="en-GB" sz="1200">
                <a:latin typeface="Kalam"/>
                <a:ea typeface="Kalam"/>
                <a:cs typeface="Kalam"/>
                <a:sym typeface="Kalam"/>
              </a:rPr>
              <a:t>n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3403000" y="8390475"/>
            <a:ext cx="41922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(ii) 100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term: 1002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3(100) = 702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3420000" y="8561025"/>
            <a:ext cx="5424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(iii)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11" name="Google Shape;211;p20"/>
          <p:cNvGraphicFramePr/>
          <p:nvPr/>
        </p:nvGraphicFramePr>
        <p:xfrm>
          <a:off x="3707104" y="85749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{4E0DB16B-BF5A-4830-8DF9-BE151F7ADA28}</a:tableStyleId>
              </a:tblPr>
              <a:tblGrid>
                <a:gridCol w="824250"/>
                <a:gridCol w="419400"/>
                <a:gridCol w="1153975"/>
              </a:tblGrid>
              <a:tr h="2291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1002 − 3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1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502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1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167.3 (to 1d.p.)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2" name="Google Shape;212;p20"/>
          <p:cNvSpPr txBox="1"/>
          <p:nvPr/>
        </p:nvSpPr>
        <p:spPr>
          <a:xfrm>
            <a:off x="4785150" y="9323800"/>
            <a:ext cx="2343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500 is </a:t>
            </a:r>
            <a:r>
              <a:rPr b="1"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not</a:t>
            </a:r>
            <a:r>
              <a:rPr lang="en-GB" sz="1200">
                <a:solidFill>
                  <a:srgbClr val="037B7D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a term in the sequence.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3443350" y="9648925"/>
            <a:ext cx="2598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(i) n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term: 0.4n + 8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3443350" y="9877525"/>
            <a:ext cx="44442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(ii) 100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term: 0.4(100) + 8 = 48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3443350" y="10106125"/>
            <a:ext cx="5424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(iii)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16" name="Google Shape;216;p20"/>
          <p:cNvGraphicFramePr/>
          <p:nvPr/>
        </p:nvGraphicFramePr>
        <p:xfrm>
          <a:off x="3419992" y="100932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{4E0DB16B-BF5A-4830-8DF9-BE151F7ADA28}</a:tableStyleId>
              </a:tblPr>
              <a:tblGrid>
                <a:gridCol w="1087975"/>
                <a:gridCol w="382850"/>
                <a:gridCol w="725800"/>
              </a:tblGrid>
              <a:tr h="2283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+ 8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3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492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3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1230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7" name="Google Shape;217;p20"/>
          <p:cNvSpPr txBox="1"/>
          <p:nvPr/>
        </p:nvSpPr>
        <p:spPr>
          <a:xfrm>
            <a:off x="5517025" y="10602975"/>
            <a:ext cx="1622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500 is the 1230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term.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arithmetic sequences</a:t>
            </a:r>
            <a:endParaRPr/>
          </a:p>
        </p:txBody>
      </p:sp>
      <p:sp>
        <p:nvSpPr>
          <p:cNvPr id="223" name="Google Shape;223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473700" y="597863"/>
            <a:ext cx="3049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8.4, 8.8, 9.2, 9.6,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3443350" y="885925"/>
            <a:ext cx="25986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(i) n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term: 0.4n + 8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3443350" y="1114525"/>
            <a:ext cx="44442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(ii) 100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term: 0.4(100) + 8 = 48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3443350" y="1343125"/>
            <a:ext cx="5424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(iii)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28" name="Google Shape;228;p21"/>
          <p:cNvGraphicFramePr/>
          <p:nvPr/>
        </p:nvGraphicFramePr>
        <p:xfrm>
          <a:off x="3419992" y="13302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{4E0DB16B-BF5A-4830-8DF9-BE151F7ADA28}</a:tableStyleId>
              </a:tblPr>
              <a:tblGrid>
                <a:gridCol w="1087975"/>
                <a:gridCol w="382850"/>
                <a:gridCol w="725800"/>
              </a:tblGrid>
              <a:tr h="2283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+ 8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3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492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3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1230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9" name="Google Shape;229;p21"/>
          <p:cNvSpPr txBox="1"/>
          <p:nvPr/>
        </p:nvSpPr>
        <p:spPr>
          <a:xfrm>
            <a:off x="5517025" y="1839975"/>
            <a:ext cx="1622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500 is the 1230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term.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476200" y="2207100"/>
            <a:ext cx="44775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Assuming each pattern continues to grow the same way, will we see one with exactly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circles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473700" y="2891738"/>
            <a:ext cx="339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473700" y="3948046"/>
            <a:ext cx="3948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473700" y="4928153"/>
            <a:ext cx="3948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775762" y="5464076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775762" y="530166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775762" y="5139261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1"/>
          <p:cNvSpPr/>
          <p:nvPr/>
        </p:nvSpPr>
        <p:spPr>
          <a:xfrm>
            <a:off x="914143" y="5114631"/>
            <a:ext cx="319200" cy="4725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1"/>
          <p:cNvSpPr/>
          <p:nvPr/>
        </p:nvSpPr>
        <p:spPr>
          <a:xfrm>
            <a:off x="947262" y="4980514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1"/>
          <p:cNvSpPr/>
          <p:nvPr/>
        </p:nvSpPr>
        <p:spPr>
          <a:xfrm>
            <a:off x="1086826" y="4980514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1"/>
          <p:cNvSpPr/>
          <p:nvPr/>
        </p:nvSpPr>
        <p:spPr>
          <a:xfrm>
            <a:off x="947262" y="561823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1086826" y="561823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1"/>
          <p:cNvSpPr/>
          <p:nvPr/>
        </p:nvSpPr>
        <p:spPr>
          <a:xfrm>
            <a:off x="1271927" y="5464076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1"/>
          <p:cNvSpPr/>
          <p:nvPr/>
        </p:nvSpPr>
        <p:spPr>
          <a:xfrm>
            <a:off x="1271927" y="530166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1271927" y="5139261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1"/>
          <p:cNvSpPr/>
          <p:nvPr/>
        </p:nvSpPr>
        <p:spPr>
          <a:xfrm>
            <a:off x="2987511" y="5464076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2987511" y="530166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1"/>
          <p:cNvSpPr/>
          <p:nvPr/>
        </p:nvSpPr>
        <p:spPr>
          <a:xfrm>
            <a:off x="2987511" y="5139261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3125892" y="5114631"/>
            <a:ext cx="319200" cy="4725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1"/>
          <p:cNvSpPr/>
          <p:nvPr/>
        </p:nvSpPr>
        <p:spPr>
          <a:xfrm>
            <a:off x="3159010" y="4980514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1"/>
          <p:cNvSpPr/>
          <p:nvPr/>
        </p:nvSpPr>
        <p:spPr>
          <a:xfrm>
            <a:off x="3298575" y="4980514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1"/>
          <p:cNvSpPr/>
          <p:nvPr/>
        </p:nvSpPr>
        <p:spPr>
          <a:xfrm>
            <a:off x="3159010" y="561823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1"/>
          <p:cNvSpPr/>
          <p:nvPr/>
        </p:nvSpPr>
        <p:spPr>
          <a:xfrm>
            <a:off x="3298575" y="561823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1"/>
          <p:cNvSpPr/>
          <p:nvPr/>
        </p:nvSpPr>
        <p:spPr>
          <a:xfrm>
            <a:off x="3447600" y="5114631"/>
            <a:ext cx="319200" cy="4725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1"/>
          <p:cNvSpPr/>
          <p:nvPr/>
        </p:nvSpPr>
        <p:spPr>
          <a:xfrm>
            <a:off x="3480719" y="4980514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1"/>
          <p:cNvSpPr/>
          <p:nvPr/>
        </p:nvSpPr>
        <p:spPr>
          <a:xfrm>
            <a:off x="3620284" y="4980514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1"/>
          <p:cNvSpPr/>
          <p:nvPr/>
        </p:nvSpPr>
        <p:spPr>
          <a:xfrm>
            <a:off x="3480719" y="561823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1"/>
          <p:cNvSpPr/>
          <p:nvPr/>
        </p:nvSpPr>
        <p:spPr>
          <a:xfrm>
            <a:off x="3620284" y="561823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1"/>
          <p:cNvSpPr/>
          <p:nvPr/>
        </p:nvSpPr>
        <p:spPr>
          <a:xfrm>
            <a:off x="4121771" y="5464076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1"/>
          <p:cNvSpPr/>
          <p:nvPr/>
        </p:nvSpPr>
        <p:spPr>
          <a:xfrm>
            <a:off x="4121771" y="530166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1"/>
          <p:cNvSpPr/>
          <p:nvPr/>
        </p:nvSpPr>
        <p:spPr>
          <a:xfrm>
            <a:off x="4121771" y="5139261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1"/>
          <p:cNvSpPr/>
          <p:nvPr/>
        </p:nvSpPr>
        <p:spPr>
          <a:xfrm>
            <a:off x="3763987" y="5114631"/>
            <a:ext cx="319200" cy="4725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1"/>
          <p:cNvSpPr/>
          <p:nvPr/>
        </p:nvSpPr>
        <p:spPr>
          <a:xfrm>
            <a:off x="3797105" y="4980514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1"/>
          <p:cNvSpPr/>
          <p:nvPr/>
        </p:nvSpPr>
        <p:spPr>
          <a:xfrm>
            <a:off x="3936670" y="4980514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1"/>
          <p:cNvSpPr/>
          <p:nvPr/>
        </p:nvSpPr>
        <p:spPr>
          <a:xfrm>
            <a:off x="3797105" y="561823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1"/>
          <p:cNvSpPr/>
          <p:nvPr/>
        </p:nvSpPr>
        <p:spPr>
          <a:xfrm>
            <a:off x="3936670" y="561823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1"/>
          <p:cNvSpPr/>
          <p:nvPr/>
        </p:nvSpPr>
        <p:spPr>
          <a:xfrm>
            <a:off x="1740889" y="5464076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1"/>
          <p:cNvSpPr/>
          <p:nvPr/>
        </p:nvSpPr>
        <p:spPr>
          <a:xfrm>
            <a:off x="1740889" y="530166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1"/>
          <p:cNvSpPr/>
          <p:nvPr/>
        </p:nvSpPr>
        <p:spPr>
          <a:xfrm>
            <a:off x="1740889" y="5139261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1"/>
          <p:cNvSpPr/>
          <p:nvPr/>
        </p:nvSpPr>
        <p:spPr>
          <a:xfrm>
            <a:off x="1879270" y="5114631"/>
            <a:ext cx="319200" cy="4725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1"/>
          <p:cNvSpPr/>
          <p:nvPr/>
        </p:nvSpPr>
        <p:spPr>
          <a:xfrm>
            <a:off x="1912388" y="4980514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1"/>
          <p:cNvSpPr/>
          <p:nvPr/>
        </p:nvSpPr>
        <p:spPr>
          <a:xfrm>
            <a:off x="2051953" y="4980514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1"/>
          <p:cNvSpPr/>
          <p:nvPr/>
        </p:nvSpPr>
        <p:spPr>
          <a:xfrm>
            <a:off x="1912388" y="561823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1"/>
          <p:cNvSpPr/>
          <p:nvPr/>
        </p:nvSpPr>
        <p:spPr>
          <a:xfrm>
            <a:off x="2051953" y="561823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1"/>
          <p:cNvSpPr/>
          <p:nvPr/>
        </p:nvSpPr>
        <p:spPr>
          <a:xfrm>
            <a:off x="2200979" y="5114631"/>
            <a:ext cx="319200" cy="4725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1"/>
          <p:cNvSpPr/>
          <p:nvPr/>
        </p:nvSpPr>
        <p:spPr>
          <a:xfrm>
            <a:off x="2234097" y="4980514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1"/>
          <p:cNvSpPr/>
          <p:nvPr/>
        </p:nvSpPr>
        <p:spPr>
          <a:xfrm>
            <a:off x="2373662" y="4980514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1"/>
          <p:cNvSpPr/>
          <p:nvPr/>
        </p:nvSpPr>
        <p:spPr>
          <a:xfrm>
            <a:off x="2234097" y="561823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1"/>
          <p:cNvSpPr/>
          <p:nvPr/>
        </p:nvSpPr>
        <p:spPr>
          <a:xfrm>
            <a:off x="2373662" y="561823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1"/>
          <p:cNvSpPr/>
          <p:nvPr/>
        </p:nvSpPr>
        <p:spPr>
          <a:xfrm>
            <a:off x="2550484" y="5464076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1"/>
          <p:cNvSpPr/>
          <p:nvPr/>
        </p:nvSpPr>
        <p:spPr>
          <a:xfrm>
            <a:off x="2550484" y="530166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1"/>
          <p:cNvSpPr/>
          <p:nvPr/>
        </p:nvSpPr>
        <p:spPr>
          <a:xfrm>
            <a:off x="2550484" y="5139261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1"/>
          <p:cNvSpPr/>
          <p:nvPr/>
        </p:nvSpPr>
        <p:spPr>
          <a:xfrm>
            <a:off x="768760" y="3204347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1"/>
          <p:cNvSpPr/>
          <p:nvPr/>
        </p:nvSpPr>
        <p:spPr>
          <a:xfrm>
            <a:off x="952454" y="3204347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1"/>
          <p:cNvSpPr/>
          <p:nvPr/>
        </p:nvSpPr>
        <p:spPr>
          <a:xfrm>
            <a:off x="1139261" y="3204347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1"/>
          <p:cNvSpPr/>
          <p:nvPr/>
        </p:nvSpPr>
        <p:spPr>
          <a:xfrm>
            <a:off x="1322954" y="3204347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1"/>
          <p:cNvSpPr/>
          <p:nvPr/>
        </p:nvSpPr>
        <p:spPr>
          <a:xfrm>
            <a:off x="1502756" y="3204347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1"/>
          <p:cNvSpPr/>
          <p:nvPr/>
        </p:nvSpPr>
        <p:spPr>
          <a:xfrm>
            <a:off x="1986108" y="3204347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1"/>
          <p:cNvSpPr/>
          <p:nvPr/>
        </p:nvSpPr>
        <p:spPr>
          <a:xfrm>
            <a:off x="2169801" y="3204347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1"/>
          <p:cNvSpPr/>
          <p:nvPr/>
        </p:nvSpPr>
        <p:spPr>
          <a:xfrm>
            <a:off x="2356608" y="3204347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1"/>
          <p:cNvSpPr/>
          <p:nvPr/>
        </p:nvSpPr>
        <p:spPr>
          <a:xfrm>
            <a:off x="2540302" y="3204347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1"/>
          <p:cNvSpPr/>
          <p:nvPr/>
        </p:nvSpPr>
        <p:spPr>
          <a:xfrm>
            <a:off x="2720104" y="3204347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1"/>
          <p:cNvSpPr/>
          <p:nvPr/>
        </p:nvSpPr>
        <p:spPr>
          <a:xfrm>
            <a:off x="1986108" y="3045561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1"/>
          <p:cNvSpPr/>
          <p:nvPr/>
        </p:nvSpPr>
        <p:spPr>
          <a:xfrm>
            <a:off x="2169801" y="3045561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1"/>
          <p:cNvSpPr/>
          <p:nvPr/>
        </p:nvSpPr>
        <p:spPr>
          <a:xfrm>
            <a:off x="2356608" y="3045561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1"/>
          <p:cNvSpPr/>
          <p:nvPr/>
        </p:nvSpPr>
        <p:spPr>
          <a:xfrm>
            <a:off x="3150527" y="3204347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1"/>
          <p:cNvSpPr/>
          <p:nvPr/>
        </p:nvSpPr>
        <p:spPr>
          <a:xfrm>
            <a:off x="3334221" y="3204347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1"/>
          <p:cNvSpPr/>
          <p:nvPr/>
        </p:nvSpPr>
        <p:spPr>
          <a:xfrm>
            <a:off x="3521028" y="3204347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1"/>
          <p:cNvSpPr/>
          <p:nvPr/>
        </p:nvSpPr>
        <p:spPr>
          <a:xfrm>
            <a:off x="3704721" y="3204347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1"/>
          <p:cNvSpPr/>
          <p:nvPr/>
        </p:nvSpPr>
        <p:spPr>
          <a:xfrm>
            <a:off x="3884523" y="3204347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1"/>
          <p:cNvSpPr/>
          <p:nvPr/>
        </p:nvSpPr>
        <p:spPr>
          <a:xfrm>
            <a:off x="3150527" y="3045561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1"/>
          <p:cNvSpPr/>
          <p:nvPr/>
        </p:nvSpPr>
        <p:spPr>
          <a:xfrm>
            <a:off x="3334221" y="3045561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1"/>
          <p:cNvSpPr/>
          <p:nvPr/>
        </p:nvSpPr>
        <p:spPr>
          <a:xfrm>
            <a:off x="3521028" y="3045561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1"/>
          <p:cNvSpPr/>
          <p:nvPr/>
        </p:nvSpPr>
        <p:spPr>
          <a:xfrm>
            <a:off x="3150527" y="2886775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1"/>
          <p:cNvSpPr/>
          <p:nvPr/>
        </p:nvSpPr>
        <p:spPr>
          <a:xfrm>
            <a:off x="3334221" y="2886775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1"/>
          <p:cNvSpPr/>
          <p:nvPr/>
        </p:nvSpPr>
        <p:spPr>
          <a:xfrm>
            <a:off x="3521028" y="2886775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1"/>
          <p:cNvSpPr/>
          <p:nvPr/>
        </p:nvSpPr>
        <p:spPr>
          <a:xfrm>
            <a:off x="948560" y="393257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1"/>
          <p:cNvSpPr/>
          <p:nvPr/>
        </p:nvSpPr>
        <p:spPr>
          <a:xfrm>
            <a:off x="1132254" y="393257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1"/>
          <p:cNvSpPr/>
          <p:nvPr/>
        </p:nvSpPr>
        <p:spPr>
          <a:xfrm>
            <a:off x="1305829" y="393257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1"/>
          <p:cNvSpPr/>
          <p:nvPr/>
        </p:nvSpPr>
        <p:spPr>
          <a:xfrm>
            <a:off x="948560" y="410128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1"/>
          <p:cNvSpPr/>
          <p:nvPr/>
        </p:nvSpPr>
        <p:spPr>
          <a:xfrm>
            <a:off x="1132254" y="410128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1"/>
          <p:cNvSpPr/>
          <p:nvPr/>
        </p:nvSpPr>
        <p:spPr>
          <a:xfrm>
            <a:off x="948560" y="4266688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1"/>
          <p:cNvSpPr/>
          <p:nvPr/>
        </p:nvSpPr>
        <p:spPr>
          <a:xfrm>
            <a:off x="1132254" y="4266688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1"/>
          <p:cNvSpPr/>
          <p:nvPr/>
        </p:nvSpPr>
        <p:spPr>
          <a:xfrm>
            <a:off x="786471" y="4266688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1"/>
          <p:cNvSpPr/>
          <p:nvPr/>
        </p:nvSpPr>
        <p:spPr>
          <a:xfrm>
            <a:off x="2112980" y="393257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1"/>
          <p:cNvSpPr/>
          <p:nvPr/>
        </p:nvSpPr>
        <p:spPr>
          <a:xfrm>
            <a:off x="2296673" y="393257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1"/>
          <p:cNvSpPr/>
          <p:nvPr/>
        </p:nvSpPr>
        <p:spPr>
          <a:xfrm>
            <a:off x="2470248" y="393257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1"/>
          <p:cNvSpPr/>
          <p:nvPr/>
        </p:nvSpPr>
        <p:spPr>
          <a:xfrm>
            <a:off x="2112980" y="410128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1"/>
          <p:cNvSpPr/>
          <p:nvPr/>
        </p:nvSpPr>
        <p:spPr>
          <a:xfrm>
            <a:off x="2296673" y="410128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1"/>
          <p:cNvSpPr/>
          <p:nvPr/>
        </p:nvSpPr>
        <p:spPr>
          <a:xfrm>
            <a:off x="2112980" y="4266688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1"/>
          <p:cNvSpPr/>
          <p:nvPr/>
        </p:nvSpPr>
        <p:spPr>
          <a:xfrm>
            <a:off x="2296673" y="4266688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1"/>
          <p:cNvSpPr/>
          <p:nvPr/>
        </p:nvSpPr>
        <p:spPr>
          <a:xfrm>
            <a:off x="1950891" y="4266688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1"/>
          <p:cNvSpPr/>
          <p:nvPr/>
        </p:nvSpPr>
        <p:spPr>
          <a:xfrm>
            <a:off x="1792106" y="4266688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1"/>
          <p:cNvSpPr/>
          <p:nvPr/>
        </p:nvSpPr>
        <p:spPr>
          <a:xfrm>
            <a:off x="2629033" y="393257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1"/>
          <p:cNvSpPr/>
          <p:nvPr/>
        </p:nvSpPr>
        <p:spPr>
          <a:xfrm>
            <a:off x="3542040" y="393257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1"/>
          <p:cNvSpPr/>
          <p:nvPr/>
        </p:nvSpPr>
        <p:spPr>
          <a:xfrm>
            <a:off x="3725734" y="393257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1"/>
          <p:cNvSpPr/>
          <p:nvPr/>
        </p:nvSpPr>
        <p:spPr>
          <a:xfrm>
            <a:off x="3899309" y="393257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1"/>
          <p:cNvSpPr/>
          <p:nvPr/>
        </p:nvSpPr>
        <p:spPr>
          <a:xfrm>
            <a:off x="3542040" y="410128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1"/>
          <p:cNvSpPr/>
          <p:nvPr/>
        </p:nvSpPr>
        <p:spPr>
          <a:xfrm>
            <a:off x="3725734" y="410128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1"/>
          <p:cNvSpPr/>
          <p:nvPr/>
        </p:nvSpPr>
        <p:spPr>
          <a:xfrm>
            <a:off x="3542040" y="4266688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1"/>
          <p:cNvSpPr/>
          <p:nvPr/>
        </p:nvSpPr>
        <p:spPr>
          <a:xfrm>
            <a:off x="3725734" y="4266688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1"/>
          <p:cNvSpPr/>
          <p:nvPr/>
        </p:nvSpPr>
        <p:spPr>
          <a:xfrm>
            <a:off x="3379951" y="4266688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1"/>
          <p:cNvSpPr/>
          <p:nvPr/>
        </p:nvSpPr>
        <p:spPr>
          <a:xfrm>
            <a:off x="3221167" y="4266688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1"/>
          <p:cNvSpPr/>
          <p:nvPr/>
        </p:nvSpPr>
        <p:spPr>
          <a:xfrm>
            <a:off x="4058093" y="393257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1"/>
          <p:cNvSpPr/>
          <p:nvPr/>
        </p:nvSpPr>
        <p:spPr>
          <a:xfrm>
            <a:off x="3062382" y="4266688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1"/>
          <p:cNvSpPr/>
          <p:nvPr/>
        </p:nvSpPr>
        <p:spPr>
          <a:xfrm>
            <a:off x="4216877" y="393257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1"/>
          <p:cNvSpPr txBox="1"/>
          <p:nvPr/>
        </p:nvSpPr>
        <p:spPr>
          <a:xfrm>
            <a:off x="1691048" y="3156385"/>
            <a:ext cx="1392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2915401" y="3156385"/>
            <a:ext cx="1392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4079825" y="3156385"/>
            <a:ext cx="258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1426407" y="4202186"/>
            <a:ext cx="1392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2650760" y="4202186"/>
            <a:ext cx="1392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1"/>
          <p:cNvSpPr txBox="1"/>
          <p:nvPr/>
        </p:nvSpPr>
        <p:spPr>
          <a:xfrm>
            <a:off x="4026897" y="4202186"/>
            <a:ext cx="258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1426407" y="5489359"/>
            <a:ext cx="1392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2703688" y="5489359"/>
            <a:ext cx="1392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4291538" y="5489359"/>
            <a:ext cx="258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4511024" y="2668625"/>
            <a:ext cx="11958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5, 8, 11, …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i="1" lang="en-GB" sz="1200">
                <a:latin typeface="Kalam"/>
                <a:ea typeface="Kalam"/>
                <a:cs typeface="Kalam"/>
                <a:sym typeface="Kalam"/>
              </a:rPr>
              <a:t>n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+ 2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346" name="Google Shape;346;p21"/>
          <p:cNvGraphicFramePr/>
          <p:nvPr/>
        </p:nvGraphicFramePr>
        <p:xfrm>
          <a:off x="5190010" y="26686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{4E0DB16B-BF5A-4830-8DF9-BE151F7ADA28}</a:tableStyleId>
              </a:tblPr>
              <a:tblGrid>
                <a:gridCol w="907425"/>
                <a:gridCol w="382850"/>
                <a:gridCol w="611725"/>
              </a:tblGrid>
              <a:tr h="2491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1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248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1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82.6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7" name="Google Shape;347;p21"/>
          <p:cNvSpPr txBox="1"/>
          <p:nvPr/>
        </p:nvSpPr>
        <p:spPr>
          <a:xfrm>
            <a:off x="4511024" y="3258054"/>
            <a:ext cx="372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No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>
            <a:off x="6799843" y="3072069"/>
            <a:ext cx="2001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" name="Google Shape;349;p21"/>
          <p:cNvSpPr txBox="1"/>
          <p:nvPr/>
        </p:nvSpPr>
        <p:spPr>
          <a:xfrm>
            <a:off x="4479900" y="3705325"/>
            <a:ext cx="12864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8, 10, 12, …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i="1" lang="en-GB" sz="1200">
                <a:latin typeface="Kalam"/>
                <a:ea typeface="Kalam"/>
                <a:cs typeface="Kalam"/>
                <a:sym typeface="Kalam"/>
              </a:rPr>
              <a:t>n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+ 6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350" name="Google Shape;350;p21"/>
          <p:cNvGraphicFramePr/>
          <p:nvPr/>
        </p:nvGraphicFramePr>
        <p:xfrm>
          <a:off x="5186735" y="36085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{4E0DB16B-BF5A-4830-8DF9-BE151F7ADA28}</a:tableStyleId>
              </a:tblPr>
              <a:tblGrid>
                <a:gridCol w="940575"/>
                <a:gridCol w="382850"/>
                <a:gridCol w="634075"/>
              </a:tblGrid>
              <a:tr h="2491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1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244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1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122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1" name="Google Shape;351;p21"/>
          <p:cNvSpPr txBox="1"/>
          <p:nvPr/>
        </p:nvSpPr>
        <p:spPr>
          <a:xfrm>
            <a:off x="4479899" y="4294750"/>
            <a:ext cx="1626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Yes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(All evens ≥8)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>
            <a:off x="4479900" y="4924525"/>
            <a:ext cx="1386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10, 14, 18, …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i="1" lang="en-GB" sz="1200">
                <a:latin typeface="Kalam"/>
                <a:ea typeface="Kalam"/>
                <a:cs typeface="Kalam"/>
                <a:sym typeface="Kalam"/>
              </a:rPr>
              <a:t>n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+ 6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353" name="Google Shape;353;p21"/>
          <p:cNvGraphicFramePr/>
          <p:nvPr/>
        </p:nvGraphicFramePr>
        <p:xfrm>
          <a:off x="5168435" y="49245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{4E0DB16B-BF5A-4830-8DF9-BE151F7ADA28}</a:tableStyleId>
              </a:tblPr>
              <a:tblGrid>
                <a:gridCol w="931400"/>
                <a:gridCol w="382850"/>
                <a:gridCol w="627875"/>
              </a:tblGrid>
              <a:tr h="2491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1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244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1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61</a:t>
                      </a:r>
                      <a:endParaRPr sz="1200"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4" name="Google Shape;354;p21"/>
          <p:cNvSpPr txBox="1"/>
          <p:nvPr/>
        </p:nvSpPr>
        <p:spPr>
          <a:xfrm>
            <a:off x="4511899" y="5453367"/>
            <a:ext cx="372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Yes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55" name="Google Shape;355;p21"/>
          <p:cNvCxnSpPr/>
          <p:nvPr/>
        </p:nvCxnSpPr>
        <p:spPr>
          <a:xfrm>
            <a:off x="474757" y="616116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21"/>
          <p:cNvSpPr txBox="1"/>
          <p:nvPr/>
        </p:nvSpPr>
        <p:spPr>
          <a:xfrm>
            <a:off x="476400" y="6816610"/>
            <a:ext cx="58221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Write the first five terms of these sequences: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1"/>
          <p:cNvSpPr txBox="1"/>
          <p:nvPr/>
        </p:nvSpPr>
        <p:spPr>
          <a:xfrm>
            <a:off x="476424" y="6307175"/>
            <a:ext cx="66105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 Generalising finding the </a:t>
            </a:r>
            <a:r>
              <a:rPr b="1"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baseline="30000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term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1"/>
          <p:cNvSpPr txBox="1"/>
          <p:nvPr/>
        </p:nvSpPr>
        <p:spPr>
          <a:xfrm>
            <a:off x="479460" y="7208178"/>
            <a:ext cx="16074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+ 4(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9" name="Google Shape;359;p21"/>
          <p:cNvSpPr txBox="1"/>
          <p:nvPr/>
        </p:nvSpPr>
        <p:spPr>
          <a:xfrm>
            <a:off x="479460" y="7911560"/>
            <a:ext cx="16074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+ 5(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479460" y="8614943"/>
            <a:ext cx="16074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4 − 5(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" name="Google Shape;361;p21"/>
          <p:cNvSpPr txBox="1"/>
          <p:nvPr/>
        </p:nvSpPr>
        <p:spPr>
          <a:xfrm>
            <a:off x="4552004" y="7207729"/>
            <a:ext cx="22446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5, 9, 13, 17, 21, …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2" name="Google Shape;362;p21"/>
          <p:cNvSpPr txBox="1"/>
          <p:nvPr/>
        </p:nvSpPr>
        <p:spPr>
          <a:xfrm>
            <a:off x="2578399" y="7207729"/>
            <a:ext cx="12414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5,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3" name="Google Shape;363;p21"/>
          <p:cNvSpPr txBox="1"/>
          <p:nvPr/>
        </p:nvSpPr>
        <p:spPr>
          <a:xfrm>
            <a:off x="4552004" y="7907226"/>
            <a:ext cx="22446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4, 9, 14, 19, 24, …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4" name="Google Shape;364;p21"/>
          <p:cNvSpPr txBox="1"/>
          <p:nvPr/>
        </p:nvSpPr>
        <p:spPr>
          <a:xfrm>
            <a:off x="2578399" y="7907226"/>
            <a:ext cx="12414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4,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5" name="Google Shape;365;p21"/>
          <p:cNvSpPr txBox="1"/>
          <p:nvPr/>
        </p:nvSpPr>
        <p:spPr>
          <a:xfrm>
            <a:off x="4552004" y="8606722"/>
            <a:ext cx="24933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4, −1, −6, −11, −16, …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6" name="Google Shape;366;p21"/>
          <p:cNvSpPr txBox="1"/>
          <p:nvPr/>
        </p:nvSpPr>
        <p:spPr>
          <a:xfrm>
            <a:off x="2578399" y="8606722"/>
            <a:ext cx="14625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4,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−5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7" name="Google Shape;367;p21"/>
          <p:cNvSpPr txBox="1"/>
          <p:nvPr/>
        </p:nvSpPr>
        <p:spPr>
          <a:xfrm>
            <a:off x="476400" y="9208925"/>
            <a:ext cx="38775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Hint: They are written in the form </a:t>
            </a:r>
            <a:r>
              <a:rPr i="1" lang="en-GB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i="1" lang="en-GB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the first term and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the common difference.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3" name="Google Shape;373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arithmetic sequences</a:t>
            </a:r>
            <a:endParaRPr/>
          </a:p>
        </p:txBody>
      </p:sp>
      <p:sp>
        <p:nvSpPr>
          <p:cNvPr id="374" name="Google Shape;374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376" name="Google Shape;376;p22"/>
          <p:cNvSpPr txBox="1"/>
          <p:nvPr/>
        </p:nvSpPr>
        <p:spPr>
          <a:xfrm>
            <a:off x="476400" y="911700"/>
            <a:ext cx="6610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Write two different generalisations for each of these arithmetic sequences: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2"/>
          <p:cNvSpPr txBox="1"/>
          <p:nvPr/>
        </p:nvSpPr>
        <p:spPr>
          <a:xfrm>
            <a:off x="480016" y="1284741"/>
            <a:ext cx="29334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7, 10, 13, 16, 19, …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p22"/>
          <p:cNvSpPr txBox="1"/>
          <p:nvPr/>
        </p:nvSpPr>
        <p:spPr>
          <a:xfrm>
            <a:off x="4139999" y="1335750"/>
            <a:ext cx="29334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7, −3, −13, −23, −33, …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22"/>
          <p:cNvSpPr txBox="1"/>
          <p:nvPr/>
        </p:nvSpPr>
        <p:spPr>
          <a:xfrm>
            <a:off x="480016" y="2652705"/>
            <a:ext cx="35508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0.7, 0.95, 1.2, 1.45, 1.7, …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p22"/>
          <p:cNvSpPr txBox="1"/>
          <p:nvPr/>
        </p:nvSpPr>
        <p:spPr>
          <a:xfrm>
            <a:off x="4137625" y="2773602"/>
            <a:ext cx="29334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7},\frac{5}{7},\frac{9}{7},\frac{13}{7},\frac{17}{7},\ ...&quot;&gt;&lt;mfrac&gt;&lt;mn&gt;1&lt;/mn&gt;&lt;mn&gt;7&lt;/mn&gt;&lt;/mfrac&gt;&lt;mo&gt;,&lt;/mo&gt;&lt;mfrac&gt;&lt;mn&gt;5&lt;/mn&gt;&lt;mn&gt;7&lt;/mn&gt;&lt;/mfrac&gt;&lt;mo&gt;,&lt;/mo&gt;&lt;mfrac&gt;&lt;mn&gt;9&lt;/mn&gt;&lt;mn&gt;7&lt;/mn&gt;&lt;/mfrac&gt;&lt;mo&gt;,&lt;/mo&gt;&lt;mfrac&gt;&lt;mn&gt;13&lt;/mn&gt;&lt;mn&gt;7&lt;/mn&gt;&lt;/mfrac&gt;&lt;mo&gt;,&lt;/mo&gt;&lt;mfrac&gt;&lt;mn&gt;17&lt;/mn&gt;&lt;mn&gt;7&lt;/mn&gt;&lt;/mfrac&gt;&lt;mo&gt;,&lt;/mo&gt;&lt;mtext&gt;&lt;/mtext&gt;&lt;mo&gt;.&lt;/mo&gt;&lt;mo&gt;.&lt;/mo&gt;&lt;mo&gt;.&lt;/mo&gt;&lt;/math&gt;" id="381" name="Google Shape;381;p22" title="one seventh comma five sevenths comma nine sevenths comma thirteen sevenths comma seventeen sevenths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25" y="2728900"/>
            <a:ext cx="1490532" cy="35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+\frac{4}{7}\left(n-1\right)&quot;&gt;&lt;mfrac&gt;&lt;mn&gt;1&lt;/mn&gt;&lt;mn&gt;7&lt;/mn&gt;&lt;/mfrac&gt;&lt;mo&gt;+&lt;/mo&gt;&lt;mfrac&gt;&lt;mn&gt;4&lt;/mn&gt;&lt;mn&gt;7&lt;/mn&gt;&lt;/mfrac&gt;&lt;mrow data-mjx-texclass=&quot;INNER&quot;&gt;&lt;mo data-mjx-texclass=&quot;OPEN&quot;&gt;(&lt;/mo&gt;&lt;mi&gt;n&lt;/mi&gt;&lt;mo&gt;−&lt;/mo&gt;&lt;mn&gt;1&lt;/mn&gt;&lt;mo data-mjx-texclass=&quot;CLOSE&quot;&gt;)&lt;/mo&gt;&lt;/mrow&gt;&lt;/math&gt;" id="382" name="Google Shape;382;p22" title="one seventh plus four sevenths times open paren n minus 1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2999" y="3687952"/>
            <a:ext cx="1058800" cy="3988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n-\frac{3}{7}&quot;&gt;&lt;mfrac&gt;&lt;mn&gt;4&lt;/mn&gt;&lt;mn&gt;7&lt;/mn&gt;&lt;/mfrac&gt;&lt;mi&gt;n&lt;/mi&gt;&lt;mo&gt;−&lt;/mo&gt;&lt;mfrac&gt;&lt;mn&gt;3&lt;/mn&gt;&lt;mn&gt;7&lt;/mn&gt;&lt;/mfrac&gt;&lt;/math&gt;" id="383" name="Google Shape;383;p22" title="four sevenths n minus three sev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7094" y="3187450"/>
            <a:ext cx="602569" cy="398848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2"/>
          <p:cNvSpPr txBox="1"/>
          <p:nvPr/>
        </p:nvSpPr>
        <p:spPr>
          <a:xfrm>
            <a:off x="1064770" y="1638650"/>
            <a:ext cx="9414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+ 4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5" name="Google Shape;385;p22"/>
          <p:cNvSpPr txBox="1"/>
          <p:nvPr/>
        </p:nvSpPr>
        <p:spPr>
          <a:xfrm>
            <a:off x="4540577" y="1676750"/>
            <a:ext cx="14484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17 − 10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" name="Google Shape;386;p22"/>
          <p:cNvSpPr txBox="1"/>
          <p:nvPr/>
        </p:nvSpPr>
        <p:spPr>
          <a:xfrm>
            <a:off x="1047675" y="3139175"/>
            <a:ext cx="17034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0.25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+ 0.45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" name="Google Shape;387;p22"/>
          <p:cNvSpPr txBox="1"/>
          <p:nvPr/>
        </p:nvSpPr>
        <p:spPr>
          <a:xfrm>
            <a:off x="1064775" y="1913625"/>
            <a:ext cx="16863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+ 3(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" name="Google Shape;388;p22"/>
          <p:cNvSpPr txBox="1"/>
          <p:nvPr/>
        </p:nvSpPr>
        <p:spPr>
          <a:xfrm>
            <a:off x="4540575" y="1906025"/>
            <a:ext cx="16863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7 − 10(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9" name="Google Shape;389;p22"/>
          <p:cNvSpPr txBox="1"/>
          <p:nvPr/>
        </p:nvSpPr>
        <p:spPr>
          <a:xfrm>
            <a:off x="988975" y="3414150"/>
            <a:ext cx="21729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0.7 + 0.25(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0" name="Google Shape;390;p22"/>
          <p:cNvSpPr txBox="1"/>
          <p:nvPr/>
        </p:nvSpPr>
        <p:spPr>
          <a:xfrm>
            <a:off x="476400" y="4569300"/>
            <a:ext cx="4169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For the sequence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 + 7(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1" name="Google Shape;391;p22"/>
          <p:cNvSpPr txBox="1"/>
          <p:nvPr/>
        </p:nvSpPr>
        <p:spPr>
          <a:xfrm>
            <a:off x="479874" y="5151148"/>
            <a:ext cx="36987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Find the first five terms.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" name="Google Shape;392;p22"/>
          <p:cNvSpPr txBox="1"/>
          <p:nvPr/>
        </p:nvSpPr>
        <p:spPr>
          <a:xfrm>
            <a:off x="479874" y="5675583"/>
            <a:ext cx="36987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Find the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3" name="Google Shape;393;p22"/>
          <p:cNvSpPr txBox="1"/>
          <p:nvPr/>
        </p:nvSpPr>
        <p:spPr>
          <a:xfrm>
            <a:off x="479874" y="6223550"/>
            <a:ext cx="66069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Find the position of the term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388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in the sequence.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4" name="Google Shape;394;p22"/>
          <p:cNvSpPr txBox="1"/>
          <p:nvPr/>
        </p:nvSpPr>
        <p:spPr>
          <a:xfrm>
            <a:off x="4140000" y="5124450"/>
            <a:ext cx="28455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24, 31, 38, 45, 52, …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p22"/>
          <p:cNvSpPr txBox="1"/>
          <p:nvPr/>
        </p:nvSpPr>
        <p:spPr>
          <a:xfrm>
            <a:off x="4137675" y="5658775"/>
            <a:ext cx="29334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 + 7(100 − 1) = 24 + 7(99) = 717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96" name="Google Shape;396;p22"/>
          <p:cNvGraphicFramePr/>
          <p:nvPr/>
        </p:nvGraphicFramePr>
        <p:xfrm>
          <a:off x="2199796" y="67201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{4E0DB16B-BF5A-4830-8DF9-BE151F7ADA28}</a:tableStyleId>
              </a:tblPr>
              <a:tblGrid>
                <a:gridCol w="2433600"/>
                <a:gridCol w="464300"/>
                <a:gridCol w="1306475"/>
              </a:tblGrid>
              <a:tr h="450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 + 7(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− 1)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388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− 1)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364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52</a:t>
                      </a:r>
                      <a:endParaRPr/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53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