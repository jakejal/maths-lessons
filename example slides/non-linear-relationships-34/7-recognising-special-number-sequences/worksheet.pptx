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D0F53739-F1B5-4A06-BC46-E93D22B02DDE}">
  <a:tblStyle styleId="{D0F53739-F1B5-4A06-BC46-E93D22B02DD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1" name="Shape 171"/>
        <p:cNvGrpSpPr/>
        <p:nvPr/>
      </p:nvGrpSpPr>
      <p:grpSpPr>
        <a:xfrm>
          <a:off x="0" y="0"/>
          <a:ext cx="0" cy="0"/>
        </a:xfrm>
      </p:grpSpPr>
      <p:sp>
        <p:nvSpPr>
          <p:cNvPr id="172" name="Google Shape;172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13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image" Target="../media/image8.png" /><Relationship Id="rId6" Type="http://schemas.openxmlformats.org/officeDocument/2006/relationships/image" Target="../media/image9.png" /><Relationship Id="rId7" Type="http://schemas.openxmlformats.org/officeDocument/2006/relationships/image" Target="../media/image10.png" /><Relationship Id="rId8" Type="http://schemas.openxmlformats.org/officeDocument/2006/relationships/image" Target="../media/image11.png" /><Relationship Id="rId9" Type="http://schemas.openxmlformats.org/officeDocument/2006/relationships/image" Target="../media/image12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Recognising special number sequences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86291" y="1258850"/>
            <a:ext cx="5326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Arithmetic and geometric sequences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76400" y="1837526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Sort these sequences into the correct column of the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3" name="Google Shape;163;p20"/>
          <p:cNvGraphicFramePr>
            <a:graphicFrameLocks noGrp="1"/>
          </p:cNvGraphicFramePr>
          <p:nvPr/>
        </p:nvGraphicFramePr>
        <p:xfrm>
          <a:off x="476400" y="2285900"/>
          <a:ext cx="4477200" cy="2193055"/>
        </p:xfrm>
        <a:graphic>
          <a:graphicData uri="http://schemas.openxmlformats.org/drawingml/2006/table">
            <a:tbl>
              <a:tblPr>
                <a:noFill/>
                <a:tableStyleId>{D0F53739-F1B5-4A06-BC46-E93D22B02DDE}</a:tableStyleId>
              </a:tblPr>
              <a:tblGrid>
                <a:gridCol w="1576450"/>
                <a:gridCol w="1412575"/>
                <a:gridCol w="1488175"/>
              </a:tblGrid>
              <a:tr h="3363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arithmetic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geometric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neither 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827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4" name="Google Shape;164;p20"/>
          <p:cNvSpPr/>
          <p:nvPr/>
        </p:nvSpPr>
        <p:spPr>
          <a:xfrm>
            <a:off x="4994400" y="2285900"/>
            <a:ext cx="1869000" cy="24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1, 2, 3, 4, 5, …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3, 9, 27, 81, ….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0.5, 1, 2, 4, …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1, 1, 2, 4, 7, …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1, 2, 4, 7, 11, …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−2, 4, −8, 16,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−1, 5, 11, 17, 23,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18, 35, 52, 68,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36, 12, −12, −36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13.5, 9, 6, 4,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12, 6 , 3 , 0,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76400" y="472170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 Sort these sequences into the correct column of the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6" name="Google Shape;166;p20"/>
          <p:cNvGraphicFramePr>
            <a:graphicFrameLocks noGrp="1"/>
          </p:cNvGraphicFramePr>
          <p:nvPr/>
        </p:nvGraphicFramePr>
        <p:xfrm>
          <a:off x="476400" y="5138700"/>
          <a:ext cx="4477200" cy="2375955"/>
        </p:xfrm>
        <a:graphic>
          <a:graphicData uri="http://schemas.openxmlformats.org/drawingml/2006/table">
            <a:tbl>
              <a:tblPr>
                <a:noFill/>
                <a:tableStyleId>{D0F53739-F1B5-4A06-BC46-E93D22B02DDE}</a:tableStyleId>
              </a:tblPr>
              <a:tblGrid>
                <a:gridCol w="1509850"/>
                <a:gridCol w="1543050"/>
                <a:gridCol w="1424300"/>
              </a:tblGrid>
              <a:tr h="3424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arithmetic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geometric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neither 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2010225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67" name="Google Shape;16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5175" y="5131925"/>
            <a:ext cx="1775656" cy="195172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 txBox="1"/>
          <p:nvPr/>
        </p:nvSpPr>
        <p:spPr>
          <a:xfrm>
            <a:off x="476400" y="7723025"/>
            <a:ext cx="6624000" cy="21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 sequence starts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, 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, …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the sequence was arithmetic, what would the next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terms be?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the sequence was geometric, what would the next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terms be?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ontinue this sequence in another way, describe the rule you have used.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69" name="Google Shape;169;p20"/>
          <p:cNvCxnSpPr/>
          <p:nvPr/>
        </p:nvCxnSpPr>
        <p:spPr>
          <a:xfrm>
            <a:off x="429307" y="994303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0" name="Google Shape;170;p20"/>
          <p:cNvSpPr/>
          <p:nvPr/>
        </p:nvSpPr>
        <p:spPr>
          <a:xfrm>
            <a:off x="4995600" y="5136525"/>
            <a:ext cx="1366800" cy="23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4" name="Shape 174"/>
        <p:cNvGrpSpPr/>
        <p:nvPr/>
      </p:nvGrpSpPr>
      <p:grpSpPr>
        <a:xfrm>
          <a:off x="0" y="0"/>
          <a:ext cx="0" cy="0"/>
        </a:xfrm>
      </p:grpSpPr>
      <p:sp>
        <p:nvSpPr>
          <p:cNvPr id="175" name="Google Shape;175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76" name="Google Shape;176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Recognising special number sequences</a:t>
            </a:r>
            <a:endParaRPr/>
          </a:p>
        </p:txBody>
      </p:sp>
      <p:sp>
        <p:nvSpPr>
          <p:cNvPr id="177" name="Google Shape;177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476400" y="801650"/>
            <a:ext cx="62376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Exploring other sequences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1"/>
          <p:cNvSpPr txBox="1"/>
          <p:nvPr/>
        </p:nvSpPr>
        <p:spPr>
          <a:xfrm>
            <a:off x="476400" y="1345156"/>
            <a:ext cx="64146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By working out the pattern, find the next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two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terms in each sequence.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476400" y="6102250"/>
            <a:ext cx="6615600" cy="23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Aisha, Izzy and Lucas have all created a sequence starting with the terms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" name="Google Shape;182;p21" descr="&lt;math xmlns=&quot;http://www.w3.org/1998/Math/MathML&quot; display=&quot;block&quot; data-is-equatio=&quot;1&quot; data-latex=&quot;\frac{1}{6},\ \frac{1}{2},\ ...&quot;&gt;&lt;mfrac&gt;&lt;mn&gt;1&lt;/mn&gt;&lt;mn&gt;6&lt;/mn&gt;&lt;/mfrac&gt;&lt;mo&gt;,&lt;/mo&gt;&lt;mtext&gt;&lt;/mtext&gt;&lt;mfrac&gt;&lt;mn&gt;1&lt;/mn&gt;&lt;mn&gt;2&lt;/mn&gt;&lt;/mfrac&gt;&lt;mo&gt;,&lt;/mo&gt;&lt;mtext&gt;&lt;/mtext&gt;&lt;mo&gt;.&lt;/mo&gt;&lt;mo&gt;.&lt;/mo&gt;&lt;mo&gt;.&lt;/mo&gt;&lt;/math&gt;" title="one sixth comma one half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85" y="6373501"/>
            <a:ext cx="678307" cy="35630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1"/>
          <p:cNvSpPr txBox="1"/>
          <p:nvPr/>
        </p:nvSpPr>
        <p:spPr>
          <a:xfrm>
            <a:off x="476400" y="6843741"/>
            <a:ext cx="4154400" cy="23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question justify your answer.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Who has created an arithmetic sequence?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Who has created a geometric sequence?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Who has created a quadratic sequence?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4" name="Google Shape;18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0060" y="6575156"/>
            <a:ext cx="267589" cy="51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4765444" y="7161982"/>
            <a:ext cx="6918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6" name="Google Shape;18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06104" y="7466407"/>
            <a:ext cx="491892" cy="476019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/>
        </p:nvSpPr>
        <p:spPr>
          <a:xfrm flipH="1">
            <a:off x="6360300" y="7965806"/>
            <a:ext cx="731700" cy="2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4814014" y="9041076"/>
            <a:ext cx="7092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9" name="Google Shape;18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87732" y="8581128"/>
            <a:ext cx="361784" cy="400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>
          <a:blip r:embed="rId7">
            <a:alphaModFix/>
          </a:blip>
          <a:srcRect t="56280" r="69082"/>
          <a:stretch>
            <a:fillRect/>
          </a:stretch>
        </p:blipFill>
        <p:spPr>
          <a:xfrm flipH="1">
            <a:off x="5245083" y="6373501"/>
            <a:ext cx="1607086" cy="661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 descr="&lt;math xmlns=&quot;http://www.w3.org/1998/Math/MathML&quot; display=&quot;block&quot; data-is-equatio=&quot;1&quot; data-latex=&quot;\frac{1}{6},\ \frac{1}{2},\ 1\frac{1}{6},\ 2\ \frac{1}{6},\ ...&quot;&gt;&lt;mfrac&gt;&lt;mn&gt;1&lt;/mn&gt;&lt;mn&gt;6&lt;/mn&gt;&lt;/mfrac&gt;&lt;mo&gt;,&lt;/mo&gt;&lt;mtext&gt;&lt;/mtext&gt;&lt;mfrac&gt;&lt;mn&gt;1&lt;/mn&gt;&lt;mn&gt;2&lt;/mn&gt;&lt;/mfrac&gt;&lt;mo&gt;,&lt;/mo&gt;&lt;mtext&gt;&lt;/mtext&gt;&lt;mn&gt;1&lt;/mn&gt;&lt;mfrac&gt;&lt;mn&gt;1&lt;/mn&gt;&lt;mn&gt;6&lt;/mn&gt;&lt;/mfrac&gt;&lt;mo&gt;,&lt;/mo&gt;&lt;mtext&gt;&lt;/mtext&gt;&lt;mn&gt;2&lt;/mn&gt;&lt;mtext&gt;&lt;/mtext&gt;&lt;mfrac&gt;&lt;mn&gt;1&lt;/mn&gt;&lt;mn&gt;6&lt;/mn&gt;&lt;/mfrac&gt;&lt;mo&gt;,&lt;/mo&gt;&lt;mtext&gt;&lt;/mtext&gt;&lt;mo&gt;.&lt;/mo&gt;&lt;mo&gt;.&lt;/mo&gt;&lt;mo&gt;.&lt;/mo&gt;&lt;/math&gt;" title="one sixth comma one half comma 1 and one sixth comma 2 one sixth comma period period perio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06058" y="6531715"/>
            <a:ext cx="1414595" cy="35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>
          <a:blip r:embed="rId7">
            <a:alphaModFix/>
          </a:blip>
          <a:srcRect t="56280" r="69082"/>
          <a:stretch>
            <a:fillRect/>
          </a:stretch>
        </p:blipFill>
        <p:spPr>
          <a:xfrm flipH="1">
            <a:off x="5309815" y="8201280"/>
            <a:ext cx="1641518" cy="661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 descr="&lt;math xmlns=&quot;http://www.w3.org/1998/Math/MathML&quot; display=&quot;block&quot; data-is-equatio=&quot;1&quot; data-latex=&quot;\frac{1}{6},\ \frac{1}{2},\ 1\frac{1}{2},\ 4\frac{1}{2},\ ...&quot;&gt;&lt;mfrac&gt;&lt;mn&gt;1&lt;/mn&gt;&lt;mn&gt;6&lt;/mn&gt;&lt;/mfrac&gt;&lt;mo&gt;,&lt;/mo&gt;&lt;mtext&gt;&lt;/mtext&gt;&lt;mfrac&gt;&lt;mn&gt;1&lt;/mn&gt;&lt;mn&gt;2&lt;/mn&gt;&lt;/mfrac&gt;&lt;mo&gt;,&lt;/mo&gt;&lt;mtext&gt;&lt;/mtext&gt;&lt;mn&gt;1&lt;/mn&gt;&lt;mfrac&gt;&lt;mn&gt;1&lt;/mn&gt;&lt;mn&gt;2&lt;/mn&gt;&lt;/mfrac&gt;&lt;mo&gt;,&lt;/mo&gt;&lt;mtext&gt;&lt;/mtext&gt;&lt;mn&gt;4&lt;/mn&gt;&lt;mfrac&gt;&lt;mn&gt;1&lt;/mn&gt;&lt;mn&gt;2&lt;/mn&gt;&lt;/mfrac&gt;&lt;mo&gt;,&lt;/mo&gt;&lt;mtext&gt;&lt;/mtext&gt;&lt;mo&gt;.&lt;/mo&gt;&lt;mo&gt;.&lt;/mo&gt;&lt;mo&gt;.&lt;/mo&gt;&lt;/math&gt;" title="one sixth comma one half comma 1 and one half comma 4 and one half comma period period period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457137" y="8347966"/>
            <a:ext cx="1414594" cy="36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>
          <a:blip r:embed="rId7">
            <a:alphaModFix/>
          </a:blip>
          <a:srcRect t="56280" r="69082"/>
          <a:stretch>
            <a:fillRect/>
          </a:stretch>
        </p:blipFill>
        <p:spPr>
          <a:xfrm>
            <a:off x="4899023" y="7387100"/>
            <a:ext cx="1607086" cy="661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 descr="&lt;math xmlns=&quot;http://www.w3.org/1998/Math/MathML&quot; display=&quot;block&quot; data-is-equatio=&quot;1&quot; data-latex=&quot;\frac{1}{6},\ \frac{1}{2},\ \frac{5}{6},\ 1\frac{1}{6},\ ...&quot;&gt;&lt;mfrac&gt;&lt;mn&gt;1&lt;/mn&gt;&lt;mn&gt;6&lt;/mn&gt;&lt;/mfrac&gt;&lt;mo&gt;,&lt;/mo&gt;&lt;mtext&gt;&lt;/mtext&gt;&lt;mfrac&gt;&lt;mn&gt;1&lt;/mn&gt;&lt;mn&gt;2&lt;/mn&gt;&lt;/mfrac&gt;&lt;mo&gt;,&lt;/mo&gt;&lt;mtext&gt;&lt;/mtext&gt;&lt;mfrac&gt;&lt;mn&gt;5&lt;/mn&gt;&lt;mn&gt;6&lt;/mn&gt;&lt;/mfrac&gt;&lt;mo&gt;,&lt;/mo&gt;&lt;mtext&gt;&lt;/mtext&gt;&lt;mn&gt;1&lt;/mn&gt;&lt;mfrac&gt;&lt;mn&gt;1&lt;/mn&gt;&lt;mn&gt;6&lt;/mn&gt;&lt;/mfrac&gt;&lt;mo&gt;,&lt;/mo&gt;&lt;mtext&gt;&lt;/mtext&gt;&lt;mo&gt;.&lt;/mo&gt;&lt;mo&gt;.&lt;/mo&gt;&lt;mo&gt;.&lt;/mo&gt;&lt;/math&gt;" title="one sixth comma one half comma five sixths comma 1 and one sixth comma period period period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010048" y="7518580"/>
            <a:ext cx="1328653" cy="36796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426550" y="1648200"/>
            <a:ext cx="3300300" cy="24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2, 8, 32, 128, …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2, 8, 14, 20,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2, 8, 15, 23,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2, 8, 16, 26,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2, 8, 10, 18,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2, 8, 17, 29,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8, 2, 10, 12,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8, 2, −4, −10,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426558" y="3882975"/>
            <a:ext cx="3300300" cy="24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 startAt="9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3, 5, 11, 21,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 startAt="9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4, 6, 12, 22,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 startAt="9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6, 10, 22, 42,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 startAt="9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−3, −5, −8, −13,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 startAt="9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−3, −5, −7, −9,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 startAt="9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2, −6, 18, −54,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 startAt="9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1, −7, −10, −8,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64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</vt:lpstr>
      <vt:lpstr>simple-light-2</vt:lpstr>
      <vt:lpstr>Recognising special number sequences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2024-02-06T11:21:59.957</cp:lastPrinted>
  <dcterms:created xsi:type="dcterms:W3CDTF">2024-02-06T11:21:59Z</dcterms:created>
  <dcterms:modified xsi:type="dcterms:W3CDTF">2024-02-06T11:22:09Z</dcterms:modified>
</cp:coreProperties>
</file>