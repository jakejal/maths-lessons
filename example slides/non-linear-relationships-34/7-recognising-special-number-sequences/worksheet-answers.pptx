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097FE220-BF02-4C02-9812-B4F4A1376BC9}">
  <a:tblStyle styleId="{097FE220-BF02-4C02-9812-B4F4A1376B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0" name="Shape 190"/>
        <p:cNvGrpSpPr/>
        <p:nvPr/>
      </p:nvGrpSpPr>
      <p:grpSpPr>
        <a:xfrm>
          <a:off x="0" y="0"/>
          <a:ext cx="0" cy="0"/>
        </a:xfrm>
      </p:grpSpPr>
      <p:sp>
        <p:nvSpPr>
          <p:cNvPr id="191" name="Google Shape;191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2.png" /><Relationship Id="rId11" Type="http://schemas.openxmlformats.org/officeDocument/2006/relationships/image" Target="../media/image23.png" /><Relationship Id="rId12" Type="http://schemas.openxmlformats.org/officeDocument/2006/relationships/image" Target="../media/image24.png" /><Relationship Id="rId13" Type="http://schemas.openxmlformats.org/officeDocument/2006/relationships/image" Target="../media/image25.png" /><Relationship Id="rId14" Type="http://schemas.openxmlformats.org/officeDocument/2006/relationships/image" Target="../media/image26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5.png" /><Relationship Id="rId4" Type="http://schemas.openxmlformats.org/officeDocument/2006/relationships/image" Target="../media/image16.png" /><Relationship Id="rId5" Type="http://schemas.openxmlformats.org/officeDocument/2006/relationships/image" Target="../media/image17.png" /><Relationship Id="rId6" Type="http://schemas.openxmlformats.org/officeDocument/2006/relationships/image" Target="../media/image18.png" /><Relationship Id="rId7" Type="http://schemas.openxmlformats.org/officeDocument/2006/relationships/image" Target="../media/image19.png" /><Relationship Id="rId8" Type="http://schemas.openxmlformats.org/officeDocument/2006/relationships/image" Target="../media/image20.png" /><Relationship Id="rId9" Type="http://schemas.openxmlformats.org/officeDocument/2006/relationships/image" Target="../media/image2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special number sequences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86291" y="1258850"/>
            <a:ext cx="5326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Arithmetic and geometric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837526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Sort these sequences into the correct column of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476400" y="2285900"/>
          <a:ext cx="4477200" cy="2193055"/>
        </p:xfrm>
        <a:graphic>
          <a:graphicData uri="http://schemas.openxmlformats.org/drawingml/2006/table">
            <a:tbl>
              <a:tblPr>
                <a:noFill/>
                <a:tableStyleId>{097FE220-BF02-4C02-9812-B4F4A1376BC9}</a:tableStyleId>
              </a:tblPr>
              <a:tblGrid>
                <a:gridCol w="1576450"/>
                <a:gridCol w="1412575"/>
                <a:gridCol w="1488175"/>
              </a:tblGrid>
              <a:tr h="336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arithmetic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geometric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neither 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1827325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a) 1, 2, 3, 4, 5,…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g) −1, 5, 11, 17, 23,.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i) 36, 12, −12, −36,.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b) 3, 9, 27, 81,…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c) 0.5, 1, 2, 4,...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f) −2, 4, −8, 16,..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j) 13.5, 9, 6, 4, …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d) 1, 1, 2, 4, 7,...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e) 1, 2, 4, 7, 11,.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h) 18, 35, 52, 68,.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k) 12, 6 , 3 , 0, …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6" name="Google Shape;176;p20"/>
          <p:cNvSpPr/>
          <p:nvPr/>
        </p:nvSpPr>
        <p:spPr>
          <a:xfrm>
            <a:off x="4994400" y="2285900"/>
            <a:ext cx="1869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2, 3, 4, 5, …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3, 9, 27, 81, ….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0.5, 1, 2, 4, …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1, 2, 4, 7, …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2, 4, 7, 11, …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−2, 4, −8, 16,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−1, 5, 11, 17, 23,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18, 35, 52, 68,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36, 12, −12, −36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13.5, 9, 6, 4,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12, 6 , 3 , 0,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76400" y="47217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Sort these sequences into the correct column of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8" name="Google Shape;178;p20"/>
          <p:cNvGraphicFramePr>
            <a:graphicFrameLocks noGrp="1"/>
          </p:cNvGraphicFramePr>
          <p:nvPr/>
        </p:nvGraphicFramePr>
        <p:xfrm>
          <a:off x="476400" y="5138700"/>
          <a:ext cx="4477200" cy="2450532"/>
        </p:xfrm>
        <a:graphic>
          <a:graphicData uri="http://schemas.openxmlformats.org/drawingml/2006/table">
            <a:tbl>
              <a:tblPr>
                <a:noFill/>
                <a:tableStyleId>{097FE220-BF02-4C02-9812-B4F4A1376BC9}</a:tableStyleId>
              </a:tblPr>
              <a:tblGrid>
                <a:gridCol w="1509850"/>
                <a:gridCol w="1543050"/>
                <a:gridCol w="1424300"/>
              </a:tblGrid>
              <a:tr h="3424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arithmetic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geometric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neither 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010225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d) 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5175" y="5131925"/>
            <a:ext cx="1775656" cy="1951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/>
          <p:nvPr/>
        </p:nvSpPr>
        <p:spPr>
          <a:xfrm>
            <a:off x="4995600" y="5136525"/>
            <a:ext cx="1366800" cy="23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" name="Google Shape;181;p20" descr="&lt;math xmlns=&quot;http://www.w3.org/1998/Math/MathML&quot; display=&quot;block&quot; data-is-equatio=&quot;1&quot; data-latex=&quot;\frac{3}{2},\ 1,\ \frac{1}{2},\ 0,..&quot;&gt;&lt;mfrac&gt;&lt;mn&gt;3&lt;/mn&gt;&lt;mn&gt;2&lt;/mn&gt;&lt;/mfrac&gt;&lt;mo&gt;,&lt;/mo&gt;&lt;mtext&gt;&lt;/mtext&gt;&lt;mn&gt;1&lt;/mn&gt;&lt;mo&gt;,&lt;/mo&gt;&lt;mtext&gt;&lt;/mtext&gt;&lt;mfrac&gt;&lt;mn&gt;1&lt;/mn&gt;&lt;mn&gt;2&lt;/mn&gt;&lt;/mfrac&gt;&lt;mo&gt;,&lt;/mo&gt;&lt;mtext&gt;&lt;/mtext&gt;&lt;mn&gt;0&lt;/mn&gt;&lt;mo&gt;,&lt;/mo&gt;&lt;mo&gt;.&lt;/mo&gt;&lt;mo&gt;.&lt;/mo&gt;&lt;/math&gt;" title="three halves comma 1 comma one half comma 0 comma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351" y="5559637"/>
            <a:ext cx="956206" cy="330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&lt;math xmlns=&quot;http://www.w3.org/1998/Math/MathML&quot; display=&quot;block&quot; data-is-equatio=&quot;1&quot; data-latex=&quot;-\frac{4}{5},-\frac{2}{3},-\frac{8}{15},-\frac{2}{5},..&quot;&gt;&lt;mo&gt;−&lt;/mo&gt;&lt;mfrac&gt;&lt;mn&gt;4&lt;/mn&gt;&lt;mn&gt;5&lt;/mn&gt;&lt;/mfrac&gt;&lt;mo&gt;,&lt;/mo&gt;&lt;mo&gt;−&lt;/mo&gt;&lt;mfrac&gt;&lt;mn&gt;2&lt;/mn&gt;&lt;mn&gt;3&lt;/mn&gt;&lt;/mfrac&gt;&lt;mo&gt;,&lt;/mo&gt;&lt;mo&gt;−&lt;/mo&gt;&lt;mfrac&gt;&lt;mn&gt;8&lt;/mn&gt;&lt;mn&gt;15&lt;/mn&gt;&lt;/mfrac&gt;&lt;mo&gt;,&lt;/mo&gt;&lt;mo&gt;−&lt;/mo&gt;&lt;mfrac&gt;&lt;mn&gt;2&lt;/mn&gt;&lt;mn&gt;5&lt;/mn&gt;&lt;/mfrac&gt;&lt;mo&gt;,&lt;/mo&gt;&lt;mo&gt;.&lt;/mo&gt;&lt;mo&gt;.&lt;/mo&gt;&lt;/math&gt;" title="negative four fifths comma negative two thirds comma negative 8 over 15 comma negative two fifths comma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600" y="6690776"/>
            <a:ext cx="1380552" cy="305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&lt;math xmlns=&quot;http://www.w3.org/1998/Math/MathML&quot; display=&quot;block&quot; data-is-equatio=&quot;1&quot; data-latex=&quot;\frac{3}{8},\ \frac{3}{4},\ \frac{3}{2},\ 3,..&quot;&gt;&lt;mfrac&gt;&lt;mn&gt;3&lt;/mn&gt;&lt;mn&gt;8&lt;/mn&gt;&lt;/mfrac&gt;&lt;mo&gt;,&lt;/mo&gt;&lt;mtext&gt;&lt;/mtext&gt;&lt;mfrac&gt;&lt;mn&gt;3&lt;/mn&gt;&lt;mn&gt;4&lt;/mn&gt;&lt;/mfrac&gt;&lt;mo&gt;,&lt;/mo&gt;&lt;mtext&gt;&lt;/mtext&gt;&lt;mfrac&gt;&lt;mn&gt;3&lt;/mn&gt;&lt;mn&gt;2&lt;/mn&gt;&lt;/mfrac&gt;&lt;mo&gt;,&lt;/mo&gt;&lt;mtext&gt;&lt;/mtext&gt;&lt;mn&gt;3&lt;/mn&gt;&lt;mo&gt;,&lt;/mo&gt;&lt;mo&gt;.&lt;/mo&gt;&lt;mo&gt;.&lt;/mo&gt;&lt;/math&gt;" title="three eighths comma three fourths comma three halves comma 3 comma period perio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6856" y="5557375"/>
            <a:ext cx="1024246" cy="33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&lt;math xmlns=&quot;http://www.w3.org/1998/Math/MathML&quot; display=&quot;block&quot; data-is-equatio=&quot;1&quot; data-latex=&quot;\frac{1}{6},\ \frac{5}{3},\ \frac{50}{3},\ \frac{500}{3},..&quot;&gt;&lt;mfrac&gt;&lt;mn&gt;1&lt;/mn&gt;&lt;mn&gt;6&lt;/mn&gt;&lt;/mfrac&gt;&lt;mo&gt;,&lt;/mo&gt;&lt;mtext&gt;&lt;/mtext&gt;&lt;mfrac&gt;&lt;mn&gt;5&lt;/mn&gt;&lt;mn&gt;3&lt;/mn&gt;&lt;/mfrac&gt;&lt;mo&gt;,&lt;/mo&gt;&lt;mtext&gt;&lt;/mtext&gt;&lt;mfrac&gt;&lt;mn&gt;50&lt;/mn&gt;&lt;mn&gt;3&lt;/mn&gt;&lt;/mfrac&gt;&lt;mo&gt;,&lt;/mo&gt;&lt;mtext&gt;&lt;/mtext&gt;&lt;mfrac&gt;&lt;mn&gt;500&lt;/mn&gt;&lt;mn&gt;3&lt;/mn&gt;&lt;/mfrac&gt;&lt;mo&gt;,&lt;/mo&gt;&lt;mo&gt;.&lt;/mo&gt;&lt;mo&gt;.&lt;/mo&gt;&lt;/math&gt;" title="one sixth comma five thirds comma 50 over 3 comma 500 over 3 comma period perio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98041" y="6325191"/>
            <a:ext cx="1218641" cy="305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&lt;math xmlns=&quot;http://www.w3.org/1998/Math/MathML&quot; display=&quot;block&quot; data-is-equatio=&quot;1&quot; data-latex=&quot;-3,\ 1,-\frac{1}{3},\ \frac{1}{9},..&quot;&gt;&lt;mo&gt;−&lt;/mo&gt;&lt;mn&gt;3&lt;/mn&gt;&lt;mo&gt;,&lt;/mo&gt;&lt;mtext&gt;&lt;/mtext&gt;&lt;mn&gt;1&lt;/mn&gt;&lt;mo&gt;,&lt;/mo&gt;&lt;mo&gt;−&lt;/mo&gt;&lt;mfrac&gt;&lt;mn&gt;1&lt;/mn&gt;&lt;mn&gt;3&lt;/mn&gt;&lt;/mfrac&gt;&lt;mo&gt;,&lt;/mo&gt;&lt;mtext&gt;&lt;/mtext&gt;&lt;mfrac&gt;&lt;mn&gt;1&lt;/mn&gt;&lt;mn&gt;9&lt;/mn&gt;&lt;/mfrac&gt;&lt;mo&gt;,&lt;/mo&gt;&lt;mo&gt;.&lt;/mo&gt;&lt;mo&gt;.&lt;/mo&gt;&lt;/math&gt;" title="negative 3 comma 1 comma negative one third comma one ninth comma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3633" y="7137486"/>
            <a:ext cx="1065442" cy="30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&lt;math xmlns=&quot;http://www.w3.org/1998/Math/MathML&quot; display=&quot;block&quot; data-is-equatio=&quot;1&quot; data-latex=&quot;\frac{3}{5},\ \frac{3}{10},\ \frac{3}{15},\ \frac{3}{20},..&quot;&gt;&lt;mfrac&gt;&lt;mn&gt;3&lt;/mn&gt;&lt;mn&gt;5&lt;/mn&gt;&lt;/mfrac&gt;&lt;mo&gt;,&lt;/mo&gt;&lt;mtext&gt;&lt;/mtext&gt;&lt;mfrac&gt;&lt;mn&gt;3&lt;/mn&gt;&lt;mn&gt;10&lt;/mn&gt;&lt;/mfrac&gt;&lt;mo&gt;,&lt;/mo&gt;&lt;mtext&gt;&lt;/mtext&gt;&lt;mfrac&gt;&lt;mn&gt;3&lt;/mn&gt;&lt;mn&gt;15&lt;/mn&gt;&lt;/mfrac&gt;&lt;mo&gt;,&lt;/mo&gt;&lt;mtext&gt;&lt;/mtext&gt;&lt;mfrac&gt;&lt;mn&gt;3&lt;/mn&gt;&lt;mn&gt;20&lt;/mn&gt;&lt;/mfrac&gt;&lt;mo&gt;,&lt;/mo&gt;&lt;mo&gt;.&lt;/mo&gt;&lt;mo&gt;.&lt;/mo&gt;&lt;/math&gt;" title="three fifths comma three tenths comma 3 over 15 comma 3 over 20 comma period perio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87585" y="5804425"/>
            <a:ext cx="1218638" cy="305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&lt;math xmlns=&quot;http://www.w3.org/1998/Math/MathML&quot; display=&quot;block&quot; data-is-equatio=&quot;1&quot; data-latex=&quot;-\frac{8}{5},\ 1,\ \frac{18}{5},\ 6,..&quot;&gt;&lt;mo&gt;−&lt;/mo&gt;&lt;mfrac&gt;&lt;mn&gt;8&lt;/mn&gt;&lt;mn&gt;5&lt;/mn&gt;&lt;/mfrac&gt;&lt;mo&gt;,&lt;/mo&gt;&lt;mtext&gt;&lt;/mtext&gt;&lt;mn&gt;1&lt;/mn&gt;&lt;mo&gt;,&lt;/mo&gt;&lt;mtext&gt;&lt;/mtext&gt;&lt;mfrac&gt;&lt;mn&gt;18&lt;/mn&gt;&lt;mn&gt;5&lt;/mn&gt;&lt;/mfrac&gt;&lt;mo&gt;,&lt;/mo&gt;&lt;mtext&gt;&lt;/mtext&gt;&lt;mn&gt;6&lt;/mn&gt;&lt;mo&gt;,&lt;/mo&gt;&lt;mo&gt;.&lt;/mo&gt;&lt;mo&gt;.&lt;/mo&gt;&lt;/math&gt;" title="negative eight fifths comma 1 comma eighteen fifths comma 6 comma period perio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46088" y="6374174"/>
            <a:ext cx="1065437" cy="305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476400" y="7723025"/>
            <a:ext cx="6624000" cy="21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sequence starts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…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 sequence was arithmetic, what would the next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terms be?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14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GB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18</a:t>
            </a:r>
            <a:r>
              <a:rPr lang="en-GB" sz="1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a,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….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the sequence was geometric, what would the next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terms be?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54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GB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162</a:t>
            </a:r>
            <a:r>
              <a:rPr lang="en-GB" sz="1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a,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…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Continue this sequence in another way, describe the rule you have used.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Many possible answers.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9" name="Google Shape;189;p20"/>
          <p:cNvCxnSpPr/>
          <p:nvPr/>
        </p:nvCxnSpPr>
        <p:spPr>
          <a:xfrm>
            <a:off x="429307" y="99430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3" name="Shape 193"/>
        <p:cNvGrpSpPr/>
        <p:nvPr/>
      </p:nvGrpSpPr>
      <p:grpSpPr>
        <a:xfrm>
          <a:off x="0" y="0"/>
          <a:ext cx="0" cy="0"/>
        </a:xfrm>
      </p:grpSpPr>
      <p:sp>
        <p:nvSpPr>
          <p:cNvPr id="194" name="Google Shape;19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5" name="Google Shape;19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special number sequences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476400" y="801650"/>
            <a:ext cx="62376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Exploring other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76400" y="1660523"/>
            <a:ext cx="6615600" cy="43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2, 8, 32, 128, …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512, 2048 	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Geometric sequence with common ratio ×2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2, 8, 14, 20, …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26, 32, 	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Arithmetic sequence with common difference +6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2, 8, 15, 23, …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32, 42 	   Quadratic sequence with second difference +1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2, 8, 16, 26, …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38, 52 	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Quadratic sequence with second difference +2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2, 8, 10, 18, …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28, 46 	   Add the two previous terms to get the next term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2, 8, 17, 29, …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44, 62 	   Quadratic sequence with second difference +3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8, 2, 10, 12, …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22, 34 	   Add the two previous terms to get the next term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8, 2, −4, −10, …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−16, −22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	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Linear sequence with common difference −6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3, 5, 11, 21, …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35, 53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	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Quadratic sequence with second difference +4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4, 6, 12, 22, …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36, 54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	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Quadratic sequence with second difference +4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6, 10, 22, 42, …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70, 106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	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Quadratic sequence with second difference +8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−3, −5, −8, −13, …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−21, −34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Add two previous terms to get the next term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−3, −5, −7, −9, …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−11, −13 	   Arithmetic sequence with common difference −2 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−6, 18, −54, …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162, 486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	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Geometric sequence with common ratio ×(−3)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 −7,  −10,  −8, …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−1   11 	   Quadratic sequence with second difference + 5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76400" y="1345156"/>
            <a:ext cx="64146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By working out the pattern, find the next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terms in each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" name="Google Shape;201;p21"/>
          <p:cNvGrpSpPr/>
          <p:nvPr/>
        </p:nvGrpSpPr>
        <p:grpSpPr>
          <a:xfrm>
            <a:off x="943073" y="5731582"/>
            <a:ext cx="1022790" cy="543273"/>
            <a:chOff x="1117250" y="1719998"/>
            <a:chExt cx="1795629" cy="791943"/>
          </a:xfrm>
        </p:grpSpPr>
        <p:sp>
          <p:nvSpPr>
            <p:cNvPr id="202" name="Google Shape;202;p21"/>
            <p:cNvSpPr/>
            <p:nvPr/>
          </p:nvSpPr>
          <p:spPr>
            <a:xfrm>
              <a:off x="2288879" y="1904062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+2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" name="Google Shape;203;p21"/>
            <p:cNvSpPr/>
            <p:nvPr/>
          </p:nvSpPr>
          <p:spPr>
            <a:xfrm>
              <a:off x="1180455" y="1904062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04" name="Google Shape;204;p21"/>
            <p:cNvPicPr preferRelativeResize="0"/>
            <p:nvPr/>
          </p:nvPicPr>
          <p:blipFill>
            <a:blip r:embed="rId3">
              <a:alphaModFix/>
            </a:blip>
            <a:srcRect l="61559" t="27330" r="13951" b="59597"/>
            <a:stretch>
              <a:fillRect/>
            </a:stretch>
          </p:blipFill>
          <p:spPr>
            <a:xfrm rot="10800000" flipH="1">
              <a:off x="1117250" y="1719998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1"/>
            <p:cNvPicPr preferRelativeResize="0"/>
            <p:nvPr/>
          </p:nvPicPr>
          <p:blipFill>
            <a:blip r:embed="rId3">
              <a:alphaModFix/>
            </a:blip>
            <a:srcRect l="61559" t="27330" r="13951" b="59597"/>
            <a:stretch>
              <a:fillRect/>
            </a:stretch>
          </p:blipFill>
          <p:spPr>
            <a:xfrm rot="10800000" flipH="1">
              <a:off x="2222151" y="1719998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1"/>
            <p:cNvPicPr preferRelativeResize="0"/>
            <p:nvPr/>
          </p:nvPicPr>
          <p:blipFill>
            <a:blip r:embed="rId3">
              <a:alphaModFix/>
            </a:blip>
            <a:srcRect l="61559" t="27330" r="13951" b="59597"/>
            <a:stretch>
              <a:fillRect/>
            </a:stretch>
          </p:blipFill>
          <p:spPr>
            <a:xfrm rot="10800000" flipH="1">
              <a:off x="1630191" y="1719998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1734667" y="1904062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−3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08" name="Google Shape;208;p21"/>
            <p:cNvGrpSpPr/>
            <p:nvPr/>
          </p:nvGrpSpPr>
          <p:grpSpPr>
            <a:xfrm>
              <a:off x="1226584" y="2095816"/>
              <a:ext cx="1497259" cy="416125"/>
              <a:chOff x="2666355" y="2069699"/>
              <a:chExt cx="1665657" cy="539581"/>
            </a:xfrm>
          </p:grpSpPr>
          <p:grpSp>
            <p:nvGrpSpPr>
              <p:cNvPr id="209" name="Google Shape;209;p21"/>
              <p:cNvGrpSpPr/>
              <p:nvPr/>
            </p:nvGrpSpPr>
            <p:grpSpPr>
              <a:xfrm>
                <a:off x="2666355" y="2069699"/>
                <a:ext cx="808345" cy="539581"/>
                <a:chOff x="2666355" y="2069699"/>
                <a:chExt cx="808345" cy="539581"/>
              </a:xfrm>
            </p:grpSpPr>
            <p:pic>
              <p:nvPicPr>
                <p:cNvPr id="210" name="Google Shape;210;p21"/>
                <p:cNvPicPr preferRelativeResize="0"/>
                <p:nvPr/>
              </p:nvPicPr>
              <p:blipFill>
                <a:blip r:embed="rId3">
                  <a:alphaModFix/>
                </a:blip>
                <a:srcRect l="61559" t="27330" r="13951" b="59597"/>
                <a:stretch>
                  <a:fillRect/>
                </a:stretch>
              </p:blipFill>
              <p:spPr>
                <a:xfrm rot="10800000" flipH="1">
                  <a:off x="2787000" y="2069699"/>
                  <a:ext cx="687700" cy="222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11" name="Google Shape;211;p21"/>
                <p:cNvSpPr/>
                <p:nvPr/>
              </p:nvSpPr>
              <p:spPr>
                <a:xfrm>
                  <a:off x="2666355" y="2315580"/>
                  <a:ext cx="768300" cy="293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1200">
                      <a:latin typeface="Lexend"/>
                      <a:ea typeface="Lexend"/>
                      <a:cs typeface="Lexend"/>
                      <a:sym typeface="Lexend"/>
                    </a:rPr>
                    <a:t>+5</a:t>
                  </a:r>
                  <a:endParaRPr sz="12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212" name="Google Shape;212;p21"/>
              <p:cNvGrpSpPr/>
              <p:nvPr/>
            </p:nvGrpSpPr>
            <p:grpSpPr>
              <a:xfrm>
                <a:off x="3388212" y="2069699"/>
                <a:ext cx="943800" cy="539581"/>
                <a:chOff x="3388212" y="2069699"/>
                <a:chExt cx="943800" cy="539581"/>
              </a:xfrm>
            </p:grpSpPr>
            <p:pic>
              <p:nvPicPr>
                <p:cNvPr id="213" name="Google Shape;213;p21"/>
                <p:cNvPicPr preferRelativeResize="0"/>
                <p:nvPr/>
              </p:nvPicPr>
              <p:blipFill>
                <a:blip r:embed="rId3">
                  <a:alphaModFix/>
                </a:blip>
                <a:srcRect l="61559" t="27330" r="13951" b="59597"/>
                <a:stretch>
                  <a:fillRect/>
                </a:stretch>
              </p:blipFill>
              <p:spPr>
                <a:xfrm rot="10800000" flipH="1">
                  <a:off x="3434700" y="2069699"/>
                  <a:ext cx="687700" cy="222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14" name="Google Shape;214;p21"/>
                <p:cNvSpPr/>
                <p:nvPr/>
              </p:nvSpPr>
              <p:spPr>
                <a:xfrm>
                  <a:off x="3388212" y="2315580"/>
                  <a:ext cx="943800" cy="293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1200">
                      <a:latin typeface="Lexend"/>
                      <a:ea typeface="Lexend"/>
                      <a:cs typeface="Lexend"/>
                      <a:sym typeface="Lexend"/>
                    </a:rPr>
                    <a:t>+5</a:t>
                  </a:r>
                  <a:endParaRPr sz="1200"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</p:grpSp>
      <p:grpSp>
        <p:nvGrpSpPr>
          <p:cNvPr id="215" name="Google Shape;215;p21"/>
          <p:cNvGrpSpPr/>
          <p:nvPr/>
        </p:nvGrpSpPr>
        <p:grpSpPr>
          <a:xfrm>
            <a:off x="1722550" y="5989310"/>
            <a:ext cx="483320" cy="285457"/>
            <a:chOff x="3386201" y="2069699"/>
            <a:chExt cx="943800" cy="539616"/>
          </a:xfrm>
        </p:grpSpPr>
        <p:pic>
          <p:nvPicPr>
            <p:cNvPr id="216" name="Google Shape;216;p21"/>
            <p:cNvPicPr preferRelativeResize="0"/>
            <p:nvPr/>
          </p:nvPicPr>
          <p:blipFill>
            <a:blip r:embed="rId3">
              <a:alphaModFix/>
            </a:blip>
            <a:srcRect l="61559" t="27330" r="13951" b="59597"/>
            <a:stretch>
              <a:fillRect/>
            </a:stretch>
          </p:blipFill>
          <p:spPr>
            <a:xfrm rot="10800000" flipH="1">
              <a:off x="3434700" y="20696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21"/>
            <p:cNvSpPr/>
            <p:nvPr/>
          </p:nvSpPr>
          <p:spPr>
            <a:xfrm>
              <a:off x="3386201" y="2315615"/>
              <a:ext cx="9438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+5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8" name="Google Shape;218;p21"/>
          <p:cNvGrpSpPr/>
          <p:nvPr/>
        </p:nvGrpSpPr>
        <p:grpSpPr>
          <a:xfrm>
            <a:off x="1920857" y="5731582"/>
            <a:ext cx="393439" cy="239869"/>
            <a:chOff x="2222151" y="1719998"/>
            <a:chExt cx="690728" cy="349664"/>
          </a:xfrm>
        </p:grpSpPr>
        <p:sp>
          <p:nvSpPr>
            <p:cNvPr id="219" name="Google Shape;219;p21"/>
            <p:cNvSpPr/>
            <p:nvPr/>
          </p:nvSpPr>
          <p:spPr>
            <a:xfrm>
              <a:off x="2288879" y="1904062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+7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20" name="Google Shape;220;p21"/>
            <p:cNvPicPr preferRelativeResize="0"/>
            <p:nvPr/>
          </p:nvPicPr>
          <p:blipFill>
            <a:blip r:embed="rId3">
              <a:alphaModFix/>
            </a:blip>
            <a:srcRect l="61559" t="27330" r="13951" b="59597"/>
            <a:stretch>
              <a:fillRect/>
            </a:stretch>
          </p:blipFill>
          <p:spPr>
            <a:xfrm rot="10800000" flipH="1">
              <a:off x="2222151" y="1719998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1" name="Google Shape;221;p21"/>
          <p:cNvGrpSpPr/>
          <p:nvPr/>
        </p:nvGrpSpPr>
        <p:grpSpPr>
          <a:xfrm>
            <a:off x="2269290" y="5731582"/>
            <a:ext cx="393439" cy="239869"/>
            <a:chOff x="2222151" y="1719998"/>
            <a:chExt cx="690728" cy="349664"/>
          </a:xfrm>
        </p:grpSpPr>
        <p:sp>
          <p:nvSpPr>
            <p:cNvPr id="222" name="Google Shape;222;p21"/>
            <p:cNvSpPr/>
            <p:nvPr/>
          </p:nvSpPr>
          <p:spPr>
            <a:xfrm>
              <a:off x="2288879" y="1904062"/>
              <a:ext cx="624000" cy="16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+12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23" name="Google Shape;223;p21"/>
            <p:cNvPicPr preferRelativeResize="0"/>
            <p:nvPr/>
          </p:nvPicPr>
          <p:blipFill>
            <a:blip r:embed="rId3">
              <a:alphaModFix/>
            </a:blip>
            <a:srcRect l="61559" t="27330" r="13951" b="59597"/>
            <a:stretch>
              <a:fillRect/>
            </a:stretch>
          </p:blipFill>
          <p:spPr>
            <a:xfrm rot="10800000" flipH="1">
              <a:off x="2222151" y="1719998"/>
              <a:ext cx="570168" cy="1840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4" name="Google Shape;224;p21"/>
          <p:cNvGrpSpPr/>
          <p:nvPr/>
        </p:nvGrpSpPr>
        <p:grpSpPr>
          <a:xfrm>
            <a:off x="2095617" y="5976425"/>
            <a:ext cx="423284" cy="298174"/>
            <a:chOff x="3434700" y="2069699"/>
            <a:chExt cx="739878" cy="539584"/>
          </a:xfrm>
        </p:grpSpPr>
        <p:pic>
          <p:nvPicPr>
            <p:cNvPr id="225" name="Google Shape;225;p21"/>
            <p:cNvPicPr preferRelativeResize="0"/>
            <p:nvPr/>
          </p:nvPicPr>
          <p:blipFill>
            <a:blip r:embed="rId3">
              <a:alphaModFix/>
            </a:blip>
            <a:srcRect l="61559" t="27330" r="13951" b="59597"/>
            <a:stretch>
              <a:fillRect/>
            </a:stretch>
          </p:blipFill>
          <p:spPr>
            <a:xfrm rot="10800000" flipH="1">
              <a:off x="3434700" y="20696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21"/>
            <p:cNvSpPr/>
            <p:nvPr/>
          </p:nvSpPr>
          <p:spPr>
            <a:xfrm>
              <a:off x="3486978" y="2315583"/>
              <a:ext cx="6876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+5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7" name="Google Shape;227;p21"/>
          <p:cNvSpPr txBox="1"/>
          <p:nvPr/>
        </p:nvSpPr>
        <p:spPr>
          <a:xfrm>
            <a:off x="476400" y="6483250"/>
            <a:ext cx="6615600" cy="23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Aisha, Izzy and Lucas have all created a sequence starting with the terms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" name="Google Shape;228;p21" descr="&lt;math xmlns=&quot;http://www.w3.org/1998/Math/MathML&quot; display=&quot;block&quot; data-is-equatio=&quot;1&quot; data-latex=&quot;\frac{1}{6},\ \frac{1}{2},\ ...&quot;&gt;&lt;mfrac&gt;&lt;mn&gt;1&lt;/mn&gt;&lt;mn&gt;6&lt;/mn&gt;&lt;/mfrac&gt;&lt;mo&gt;,&lt;/mo&gt;&lt;mtext&gt;&lt;/mtext&gt;&lt;mfrac&gt;&lt;mn&gt;1&lt;/mn&gt;&lt;mn&gt;2&lt;/mn&gt;&lt;/mfrac&gt;&lt;mo&gt;,&lt;/mo&gt;&lt;mtext&gt;&lt;/mtext&gt;&lt;mo&gt;.&lt;/mo&gt;&lt;mo&gt;.&lt;/mo&gt;&lt;mo&gt;.&lt;/mo&gt;&lt;/math&gt;" title="one sixth comma one half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85" y="6754501"/>
            <a:ext cx="678307" cy="356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476400" y="7224741"/>
            <a:ext cx="4154400" cy="23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question justify your answer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Who has created an arithmetic sequence?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Izzy, common difference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Who has created a geometric sequence?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Lucas, common ratio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3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Who has created a quadratic sequence?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7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Aisha, the sequence     then      then 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second difference of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" name="Google Shape;23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0060" y="6956156"/>
            <a:ext cx="267589" cy="51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4765444" y="7542982"/>
            <a:ext cx="6918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" name="Google Shape;23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6104" y="7847407"/>
            <a:ext cx="491892" cy="47601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 flipH="1">
            <a:off x="6360300" y="8346806"/>
            <a:ext cx="7317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814014" y="9422076"/>
            <a:ext cx="7092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" name="Google Shape;23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87732" y="8962128"/>
            <a:ext cx="361784" cy="400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/>
          <p:cNvPicPr preferRelativeResize="0"/>
          <p:nvPr/>
        </p:nvPicPr>
        <p:blipFill>
          <a:blip r:embed="rId8">
            <a:alphaModFix/>
          </a:blip>
          <a:srcRect t="56280" r="69082"/>
          <a:stretch>
            <a:fillRect/>
          </a:stretch>
        </p:blipFill>
        <p:spPr>
          <a:xfrm flipH="1">
            <a:off x="5245083" y="6754501"/>
            <a:ext cx="1607086" cy="661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&lt;math xmlns=&quot;http://www.w3.org/1998/Math/MathML&quot; display=&quot;block&quot; data-is-equatio=&quot;1&quot; data-latex=&quot;\frac{1}{6},\ \frac{1}{2},\ 1\frac{1}{6},\ 2\ \frac{1}{6},\ ...&quot;&gt;&lt;mfrac&gt;&lt;mn&gt;1&lt;/mn&gt;&lt;mn&gt;6&lt;/mn&gt;&lt;/mfrac&gt;&lt;mo&gt;,&lt;/mo&gt;&lt;mtext&gt;&lt;/mtext&gt;&lt;mfrac&gt;&lt;mn&gt;1&lt;/mn&gt;&lt;mn&gt;2&lt;/mn&gt;&lt;/mfrac&gt;&lt;mo&gt;,&lt;/mo&gt;&lt;mtext&gt;&lt;/mtext&gt;&lt;mn&gt;1&lt;/mn&gt;&lt;mfrac&gt;&lt;mn&gt;1&lt;/mn&gt;&lt;mn&gt;6&lt;/mn&gt;&lt;/mfrac&gt;&lt;mo&gt;,&lt;/mo&gt;&lt;mtext&gt;&lt;/mtext&gt;&lt;mn&gt;2&lt;/mn&gt;&lt;mtext&gt;&lt;/mtext&gt;&lt;mfrac&gt;&lt;mn&gt;1&lt;/mn&gt;&lt;mn&gt;6&lt;/mn&gt;&lt;/mfrac&gt;&lt;mo&gt;,&lt;/mo&gt;&lt;mtext&gt;&lt;/mtext&gt;&lt;mo&gt;.&lt;/mo&gt;&lt;mo&gt;.&lt;/mo&gt;&lt;mo&gt;.&lt;/mo&gt;&lt;/math&gt;" title="one sixth comma one half comma 1 and one sixth comma 2 one sixth comma period period perio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06058" y="6912715"/>
            <a:ext cx="1414595" cy="35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/>
          <p:cNvPicPr preferRelativeResize="0"/>
          <p:nvPr/>
        </p:nvPicPr>
        <p:blipFill>
          <a:blip r:embed="rId8">
            <a:alphaModFix/>
          </a:blip>
          <a:srcRect t="56280" r="69082"/>
          <a:stretch>
            <a:fillRect/>
          </a:stretch>
        </p:blipFill>
        <p:spPr>
          <a:xfrm flipH="1">
            <a:off x="5309815" y="8582280"/>
            <a:ext cx="1641518" cy="661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&lt;math xmlns=&quot;http://www.w3.org/1998/Math/MathML&quot; display=&quot;block&quot; data-is-equatio=&quot;1&quot; data-latex=&quot;\frac{1}{6},\ \frac{1}{2},\ 1\frac{1}{2},\ 4\frac{1}{2},\ ...&quot;&gt;&lt;mfrac&gt;&lt;mn&gt;1&lt;/mn&gt;&lt;mn&gt;6&lt;/mn&gt;&lt;/mfrac&gt;&lt;mo&gt;,&lt;/mo&gt;&lt;mtext&gt;&lt;/mtext&gt;&lt;mfrac&gt;&lt;mn&gt;1&lt;/mn&gt;&lt;mn&gt;2&lt;/mn&gt;&lt;/mfrac&gt;&lt;mo&gt;,&lt;/mo&gt;&lt;mtext&gt;&lt;/mtext&gt;&lt;mn&gt;1&lt;/mn&gt;&lt;mfrac&gt;&lt;mn&gt;1&lt;/mn&gt;&lt;mn&gt;2&lt;/mn&gt;&lt;/mfrac&gt;&lt;mo&gt;,&lt;/mo&gt;&lt;mtext&gt;&lt;/mtext&gt;&lt;mn&gt;4&lt;/mn&gt;&lt;mfrac&gt;&lt;mn&gt;1&lt;/mn&gt;&lt;mn&gt;2&lt;/mn&gt;&lt;/mfrac&gt;&lt;mo&gt;,&lt;/mo&gt;&lt;mtext&gt;&lt;/mtext&gt;&lt;mo&gt;.&lt;/mo&gt;&lt;mo&gt;.&lt;/mo&gt;&lt;mo&gt;.&lt;/mo&gt;&lt;/math&gt;" title="one sixth comma one half comma 1 and one half comma 4 and one half comma period period perio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57137" y="8728966"/>
            <a:ext cx="1414594" cy="36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/>
          <p:cNvPicPr preferRelativeResize="0"/>
          <p:nvPr/>
        </p:nvPicPr>
        <p:blipFill>
          <a:blip r:embed="rId8">
            <a:alphaModFix/>
          </a:blip>
          <a:srcRect t="56280" r="69082"/>
          <a:stretch>
            <a:fillRect/>
          </a:stretch>
        </p:blipFill>
        <p:spPr>
          <a:xfrm>
            <a:off x="4899023" y="7768100"/>
            <a:ext cx="1607086" cy="661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&lt;math xmlns=&quot;http://www.w3.org/1998/Math/MathML&quot; display=&quot;block&quot; data-is-equatio=&quot;1&quot; data-latex=&quot;\frac{1}{6},\ \frac{1}{2},\ \frac{5}{6},\ 1\frac{1}{6},\ ...&quot;&gt;&lt;mfrac&gt;&lt;mn&gt;1&lt;/mn&gt;&lt;mn&gt;6&lt;/mn&gt;&lt;/mfrac&gt;&lt;mo&gt;,&lt;/mo&gt;&lt;mtext&gt;&lt;/mtext&gt;&lt;mfrac&gt;&lt;mn&gt;1&lt;/mn&gt;&lt;mn&gt;2&lt;/mn&gt;&lt;/mfrac&gt;&lt;mo&gt;,&lt;/mo&gt;&lt;mtext&gt;&lt;/mtext&gt;&lt;mfrac&gt;&lt;mn&gt;5&lt;/mn&gt;&lt;mn&gt;6&lt;/mn&gt;&lt;/mfrac&gt;&lt;mo&gt;,&lt;/mo&gt;&lt;mtext&gt;&lt;/mtext&gt;&lt;mn&gt;1&lt;/mn&gt;&lt;mfrac&gt;&lt;mn&gt;1&lt;/mn&gt;&lt;mn&gt;6&lt;/mn&gt;&lt;/mfrac&gt;&lt;mo&gt;,&lt;/mo&gt;&lt;mtext&gt;&lt;/mtext&gt;&lt;mo&gt;.&lt;/mo&gt;&lt;mo&gt;.&lt;/mo&gt;&lt;mo&gt;.&lt;/mo&gt;&lt;/math&gt;" title="one sixth comma one half comma five sixths comma 1 and one sixth comma period period perio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10048" y="7899580"/>
            <a:ext cx="1328653" cy="367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&lt;math xmlns=&quot;http://www.w3.org/1998/Math/MathML&quot; display=&quot;block&quot; data-is-equatio=&quot;1&quot; data-latex=&quot;+\frac{1}{3}&quot;&gt;&lt;mo&gt;+&lt;/mo&gt;&lt;mfrac&gt;&lt;mn&gt;1&lt;/mn&gt;&lt;mn&gt;3&lt;/mn&gt;&lt;/mfrac&gt;&lt;/math&gt;" title="positive one thir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609524" y="7737324"/>
            <a:ext cx="223725" cy="334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&lt;math xmlns=&quot;http://www.w3.org/1998/Math/MathML&quot; display=&quot;block&quot; data-is-equatio=&quot;1&quot; data-latex=&quot;+\frac{1}{3}&quot;&gt;&lt;mo&gt;+&lt;/mo&gt;&lt;mfrac&gt;&lt;mn&gt;1&lt;/mn&gt;&lt;mn&gt;3&lt;/mn&gt;&lt;/mfrac&gt;&lt;/math&gt;" title="positive one thir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800275" y="9140175"/>
            <a:ext cx="223734" cy="301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&lt;math xmlns=&quot;http://www.w3.org/1998/Math/MathML&quot; display=&quot;block&quot; data-is-equatio=&quot;1&quot; data-latex=&quot;+\frac{2}{3}&quot;&gt;&lt;mo&gt;+&lt;/mo&gt;&lt;mfrac&gt;&lt;mn&gt;2&lt;/mn&gt;&lt;mn&gt;3&lt;/mn&gt;&lt;/mfrac&gt;&lt;/math&gt;" title="positive two third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412923" y="9140175"/>
            <a:ext cx="223734" cy="301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&lt;math xmlns=&quot;http://www.w3.org/1998/Math/MathML&quot; display=&quot;block&quot; data-is-equatio=&quot;1&quot; data-latex=&quot;+\frac{3}{3}&quot;&gt;&lt;mo&gt;+&lt;/mo&gt;&lt;mfrac&gt;&lt;mn&gt;3&lt;/mn&gt;&lt;mn&gt;3&lt;/mn&gt;&lt;/mfrac&gt;&lt;/math&gt;" title="positive three third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037241" y="9140175"/>
            <a:ext cx="223734" cy="301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&lt;math xmlns=&quot;http://www.w3.org/1998/Math/MathML&quot; display=&quot;block&quot; data-is-equatio=&quot;1&quot; data-latex=&quot;+\frac{1}{3}&quot;&gt;&lt;mo&gt;+&lt;/mo&gt;&lt;mfrac&gt;&lt;mn&gt;1&lt;/mn&gt;&lt;mn&gt;3&lt;/mn&gt;&lt;/mfrac&gt;&lt;/math&gt;" title="positive one thir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636649" y="9424629"/>
            <a:ext cx="223734" cy="301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Recognising special number sequences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2024-02-06T11:25:19.098</cp:lastPrinted>
  <dcterms:created xsi:type="dcterms:W3CDTF">2024-02-06T11:25:19Z</dcterms:created>
  <dcterms:modified xsi:type="dcterms:W3CDTF">2024-02-06T11:22:17Z</dcterms:modified>
</cp:coreProperties>
</file>