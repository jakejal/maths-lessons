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13E098DF-5DD3-49B9-AA3D-EEE8913580BF}">
  <a:tblStyle styleId="{13E098DF-5DD3-49B9-AA3D-EEE8913580B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1" name="Shape 171"/>
        <p:cNvGrpSpPr/>
        <p:nvPr/>
      </p:nvGrpSpPr>
      <p:grpSpPr>
        <a:xfrm>
          <a:off x="0" y="0"/>
          <a:ext cx="0" cy="0"/>
        </a:xfrm>
      </p:grpSpPr>
      <p:sp>
        <p:nvSpPr>
          <p:cNvPr id="172" name="Google Shape;172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6.png" /><Relationship Id="rId4" Type="http://schemas.openxmlformats.org/officeDocument/2006/relationships/image" Target="../media/image7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Recognising geometric sequences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68000" y="1760625"/>
            <a:ext cx="6539400" cy="6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Divide each term by the previous term to find the common ratio in each of these geometric sequences.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8000" y="1312325"/>
            <a:ext cx="6624000" cy="3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 Finding the common ratio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3" name="Google Shape;163;p20"/>
          <p:cNvGraphicFramePr>
            <a:graphicFrameLocks noGrp="1"/>
          </p:cNvGraphicFramePr>
          <p:nvPr/>
        </p:nvGraphicFramePr>
        <p:xfrm>
          <a:off x="413619" y="2487706"/>
          <a:ext cx="4809275" cy="381000"/>
        </p:xfrm>
        <a:graphic>
          <a:graphicData uri="http://schemas.openxmlformats.org/drawingml/2006/table">
            <a:tbl>
              <a:tblPr>
                <a:noFill/>
                <a:tableStyleId>{13E098DF-5DD3-49B9-AA3D-EEE8913580BF}</a:tableStyleId>
              </a:tblPr>
              <a:tblGrid>
                <a:gridCol w="388725"/>
                <a:gridCol w="657775"/>
                <a:gridCol w="657775"/>
                <a:gridCol w="657775"/>
                <a:gridCol w="740100"/>
                <a:gridCol w="1078875"/>
                <a:gridCol w="6282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105,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735,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5145,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36 015,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64" name="Google Shape;164;p20"/>
          <p:cNvGraphicFramePr>
            <a:graphicFrameLocks noGrp="1"/>
          </p:cNvGraphicFramePr>
          <p:nvPr/>
        </p:nvGraphicFramePr>
        <p:xfrm>
          <a:off x="413619" y="3504079"/>
          <a:ext cx="4668100" cy="381000"/>
        </p:xfrm>
        <a:graphic>
          <a:graphicData uri="http://schemas.openxmlformats.org/drawingml/2006/table">
            <a:tbl>
              <a:tblPr>
                <a:noFill/>
                <a:tableStyleId>{13E098DF-5DD3-49B9-AA3D-EEE8913580BF}</a:tableStyleId>
              </a:tblPr>
              <a:tblGrid>
                <a:gridCol w="388725"/>
                <a:gridCol w="657775"/>
                <a:gridCol w="657775"/>
                <a:gridCol w="657775"/>
                <a:gridCol w="830875"/>
                <a:gridCol w="919150"/>
                <a:gridCol w="5560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0.08,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0.72,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6.48,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58.32,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524.88,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65" name="Google Shape;165;p20"/>
          <p:cNvGraphicFramePr>
            <a:graphicFrameLocks noGrp="1"/>
          </p:cNvGraphicFramePr>
          <p:nvPr/>
        </p:nvGraphicFramePr>
        <p:xfrm>
          <a:off x="489819" y="4712074"/>
          <a:ext cx="3882425" cy="381000"/>
        </p:xfrm>
        <a:graphic>
          <a:graphicData uri="http://schemas.openxmlformats.org/drawingml/2006/table">
            <a:tbl>
              <a:tblPr>
                <a:noFill/>
                <a:tableStyleId>{13E098DF-5DD3-49B9-AA3D-EEE8913580BF}</a:tableStyleId>
              </a:tblPr>
              <a:tblGrid>
                <a:gridCol w="336375"/>
                <a:gridCol w="569200"/>
                <a:gridCol w="569200"/>
                <a:gridCol w="569200"/>
                <a:gridCol w="586725"/>
                <a:gridCol w="539125"/>
                <a:gridCol w="7126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567,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189,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63,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66" name="Google Shape;166;p20"/>
          <p:cNvGraphicFramePr>
            <a:graphicFrameLocks noGrp="1"/>
          </p:cNvGraphicFramePr>
          <p:nvPr/>
        </p:nvGraphicFramePr>
        <p:xfrm>
          <a:off x="489819" y="5902138"/>
          <a:ext cx="378850" cy="381000"/>
        </p:xfrm>
        <a:graphic>
          <a:graphicData uri="http://schemas.openxmlformats.org/drawingml/2006/table">
            <a:tbl>
              <a:tblPr>
                <a:noFill/>
                <a:tableStyleId>{13E098DF-5DD3-49B9-AA3D-EEE8913580BF}</a:tableStyleId>
              </a:tblPr>
              <a:tblGrid>
                <a:gridCol w="3788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67" name="Google Shape;167;p20" descr="&lt;math xmlns=&quot;http://www.w3.org/1998/Math/MathML&quot; display=&quot;block&quot; data-is-equatio=&quot;1&quot; data-latex=&quot;\frac{1}{4},\ \frac{3}{8},\ \frac{9}{16},\ \frac{27}{32},\ \frac{81}{64},\ \ ...&quot;&gt;&lt;mfrac&gt;&lt;mn&gt;1&lt;/mn&gt;&lt;mn&gt;4&lt;/mn&gt;&lt;/mfrac&gt;&lt;mo&gt;,&lt;/mo&gt;&lt;mtext&gt;&lt;/mtext&gt;&lt;mfrac&gt;&lt;mn&gt;3&lt;/mn&gt;&lt;mn&gt;8&lt;/mn&gt;&lt;/mfrac&gt;&lt;mo&gt;,&lt;/mo&gt;&lt;mtext&gt;&lt;/mtext&gt;&lt;mfrac&gt;&lt;mn&gt;9&lt;/mn&gt;&lt;mn&gt;16&lt;/mn&gt;&lt;/mfrac&gt;&lt;mo&gt;,&lt;/mo&gt;&lt;mtext&gt;&lt;/mtext&gt;&lt;mfrac&gt;&lt;mn&gt;27&lt;/mn&gt;&lt;mn&gt;32&lt;/mn&gt;&lt;/mfrac&gt;&lt;mo&gt;,&lt;/mo&gt;&lt;mtext&gt;&lt;/mtext&gt;&lt;mfrac&gt;&lt;mn&gt;81&lt;/mn&gt;&lt;mn&gt;64&lt;/mn&gt;&lt;/mfrac&gt;&lt;mo&gt;,&lt;/mo&gt;&lt;mtext&gt;&lt;/mtext&gt;&lt;mtext&gt;&lt;/mtext&gt;&lt;mo&gt;.&lt;/mo&gt;&lt;mo&gt;.&lt;/mo&gt;&lt;mo&gt;.&lt;/mo&gt;&lt;/math&gt;" title="one fourth comma three eighths comma 9 over 16 comma 27 over 32 comma 81 over 64 comma period period perio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6700" y="5790750"/>
            <a:ext cx="2022900" cy="409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0"/>
          <p:cNvSpPr txBox="1"/>
          <p:nvPr/>
        </p:nvSpPr>
        <p:spPr>
          <a:xfrm>
            <a:off x="476400" y="7007700"/>
            <a:ext cx="6615600" cy="11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a) This sequence is geometric. Show that it is and write a sentence to justify why it is.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4572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768,   576,   432,   324,   243,  …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552600" y="8455500"/>
            <a:ext cx="6539400" cy="10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This sequence is not geometric. Show that it is not and write a sentence to justify why it is not.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4572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756,   252,   126,   42,   21,  …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0" name="Google Shape;170;p20"/>
          <p:cNvCxnSpPr/>
          <p:nvPr/>
        </p:nvCxnSpPr>
        <p:spPr>
          <a:xfrm>
            <a:off x="478957" y="994303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4" name="Shape 174"/>
        <p:cNvGrpSpPr/>
        <p:nvPr/>
      </p:nvGrpSpPr>
      <p:grpSpPr>
        <a:xfrm>
          <a:off x="0" y="0"/>
          <a:ext cx="0" cy="0"/>
        </a:xfrm>
      </p:grpSpPr>
      <p:sp>
        <p:nvSpPr>
          <p:cNvPr id="175" name="Google Shape;175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76" name="Google Shape;176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Recognising geometric sequences</a:t>
            </a:r>
            <a:endParaRPr/>
          </a:p>
        </p:txBody>
      </p:sp>
      <p:sp>
        <p:nvSpPr>
          <p:cNvPr id="177" name="Google Shape;177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graphicFrame>
        <p:nvGraphicFramePr>
          <p:cNvPr id="179" name="Google Shape;179;p21"/>
          <p:cNvGraphicFramePr>
            <a:graphicFrameLocks noGrp="1"/>
          </p:cNvGraphicFramePr>
          <p:nvPr/>
        </p:nvGraphicFramePr>
        <p:xfrm>
          <a:off x="4177055" y="20074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{13E098DF-5DD3-49B9-AA3D-EEE8913580BF}</a:tableStyleId>
              </a:tblPr>
              <a:tblGrid>
                <a:gridCol w="646200"/>
                <a:gridCol w="603225"/>
                <a:gridCol w="471575"/>
                <a:gridCol w="454275"/>
                <a:gridCol w="344700"/>
                <a:gridCol w="3950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1125,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225,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9 ,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0" name="Google Shape;180;p21"/>
          <p:cNvSpPr/>
          <p:nvPr/>
        </p:nvSpPr>
        <p:spPr>
          <a:xfrm>
            <a:off x="4364027" y="1886625"/>
            <a:ext cx="483300" cy="3828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5989025" y="1906200"/>
            <a:ext cx="268500" cy="3828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6433849" y="1906200"/>
            <a:ext cx="268500" cy="3828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476400" y="1521300"/>
            <a:ext cx="64245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Find the missing terms in these geometric sequences.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476400" y="1996727"/>
            <a:ext cx="3420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5" name="Google Shape;185;p21"/>
          <p:cNvGraphicFramePr>
            <a:graphicFrameLocks noGrp="1"/>
          </p:cNvGraphicFramePr>
          <p:nvPr/>
        </p:nvGraphicFramePr>
        <p:xfrm>
          <a:off x="712598" y="20074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{13E098DF-5DD3-49B9-AA3D-EEE8913580BF}</a:tableStyleId>
              </a:tblPr>
              <a:tblGrid>
                <a:gridCol w="511225"/>
                <a:gridCol w="545450"/>
                <a:gridCol w="477000"/>
                <a:gridCol w="511225"/>
                <a:gridCol w="511225"/>
                <a:gridCol w="5112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51,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153,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459,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86" name="Google Shape;186;p21" descr="&lt;math xmlns=&quot;http://www.w3.org/1998/Math/MathML&quot; display=&quot;block&quot; data-is-equatio=&quot;1&quot; data-latex=&quot;\frac{17}{3}&quot;&gt;&lt;mfrac&gt;&lt;mn&gt;17&lt;/mn&gt;&lt;mn&gt;3&lt;/mn&gt;&lt;/mfrac&gt;&lt;/math&gt;" title="seventeen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4344" y="1944425"/>
            <a:ext cx="174482" cy="321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1"/>
          <p:cNvSpPr/>
          <p:nvPr/>
        </p:nvSpPr>
        <p:spPr>
          <a:xfrm>
            <a:off x="742200" y="1905175"/>
            <a:ext cx="366900" cy="383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1310587" y="1905175"/>
            <a:ext cx="366900" cy="383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2886373" y="1905175"/>
            <a:ext cx="342000" cy="383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3991653" y="1996727"/>
            <a:ext cx="3420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476400" y="3515980"/>
            <a:ext cx="3420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2" name="Google Shape;192;p21"/>
          <p:cNvGraphicFramePr>
            <a:graphicFrameLocks noGrp="1"/>
          </p:cNvGraphicFramePr>
          <p:nvPr/>
        </p:nvGraphicFramePr>
        <p:xfrm>
          <a:off x="712598" y="35314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{13E098DF-5DD3-49B9-AA3D-EEE8913580BF}</a:tableStyleId>
              </a:tblPr>
              <a:tblGrid>
                <a:gridCol w="573800"/>
                <a:gridCol w="573800"/>
                <a:gridCol w="485150"/>
                <a:gridCol w="478850"/>
                <a:gridCol w="607850"/>
                <a:gridCol w="3479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0.007,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0.14,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2.8,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56,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1120,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193" name="Google Shape;193;p21"/>
          <p:cNvGrpSpPr/>
          <p:nvPr/>
        </p:nvGrpSpPr>
        <p:grpSpPr>
          <a:xfrm>
            <a:off x="798256" y="3466800"/>
            <a:ext cx="2612175" cy="341439"/>
            <a:chOff x="3886373" y="1764617"/>
            <a:chExt cx="3447051" cy="329702"/>
          </a:xfrm>
        </p:grpSpPr>
        <p:sp>
          <p:nvSpPr>
            <p:cNvPr id="194" name="Google Shape;194;p21"/>
            <p:cNvSpPr/>
            <p:nvPr/>
          </p:nvSpPr>
          <p:spPr>
            <a:xfrm>
              <a:off x="3886373" y="1764617"/>
              <a:ext cx="689400" cy="329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5" name="Google Shape;195;p21"/>
            <p:cNvSpPr/>
            <p:nvPr/>
          </p:nvSpPr>
          <p:spPr>
            <a:xfrm>
              <a:off x="5993321" y="1764618"/>
              <a:ext cx="467700" cy="329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6" name="Google Shape;196;p21"/>
            <p:cNvSpPr/>
            <p:nvPr/>
          </p:nvSpPr>
          <p:spPr>
            <a:xfrm>
              <a:off x="6704924" y="1764617"/>
              <a:ext cx="628500" cy="329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97" name="Google Shape;197;p21" descr="&lt;math xmlns=&quot;http://www.w3.org/1998/Math/MathML&quot; display=&quot;block&quot; data-is-equatio=&quot;1&quot; data-latex=&quot;\frac{7}{3},\frac{14}{9},\frac{28}{27},\frac{56}{81},\frac{112}{243},\ ...&quot;&gt;&lt;mfrac&gt;&lt;mn&gt;7&lt;/mn&gt;&lt;mn&gt;3&lt;/mn&gt;&lt;/mfrac&gt;&lt;mo&gt;,&lt;/mo&gt;&lt;mfrac&gt;&lt;mn&gt;14&lt;/mn&gt;&lt;mn&gt;9&lt;/mn&gt;&lt;/mfrac&gt;&lt;mo&gt;,&lt;/mo&gt;&lt;mfrac&gt;&lt;mn&gt;28&lt;/mn&gt;&lt;mn&gt;27&lt;/mn&gt;&lt;/mfrac&gt;&lt;mo&gt;,&lt;/mo&gt;&lt;mfrac&gt;&lt;mn&gt;56&lt;/mn&gt;&lt;mn&gt;81&lt;/mn&gt;&lt;/mfrac&gt;&lt;mo&gt;,&lt;/mo&gt;&lt;mfrac&gt;&lt;mn&gt;112&lt;/mn&gt;&lt;mn&gt;243&lt;/mn&gt;&lt;/mfrac&gt;&lt;mo&gt;,&lt;/mo&gt;&lt;mtext&gt;&lt;/mtext&gt;&lt;mo&gt;.&lt;/mo&gt;&lt;mo&gt;.&lt;/mo&gt;&lt;mo&gt;.&lt;/mo&gt;&lt;/math&gt;" title="seven thirds comma fourteen ninths comma 28 over 27 comma 56 over 81 comma 112 over 243 comma period period perio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0537" y="3549337"/>
            <a:ext cx="2045675" cy="424591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1"/>
          <p:cNvSpPr txBox="1"/>
          <p:nvPr/>
        </p:nvSpPr>
        <p:spPr>
          <a:xfrm>
            <a:off x="3982679" y="3515980"/>
            <a:ext cx="3420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4700675" y="3493604"/>
            <a:ext cx="268500" cy="536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4302625" y="3493604"/>
            <a:ext cx="268500" cy="536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5831003" y="3493604"/>
            <a:ext cx="390900" cy="536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476400" y="5331300"/>
            <a:ext cx="6615600" cy="5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Find the two possible geometric sequences given these missing, non-successive terms.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3" name="Google Shape;203;p21"/>
          <p:cNvGraphicFramePr>
            <a:graphicFrameLocks noGrp="1"/>
          </p:cNvGraphicFramePr>
          <p:nvPr/>
        </p:nvGraphicFramePr>
        <p:xfrm>
          <a:off x="488560" y="59539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{13E098DF-5DD3-49B9-AA3D-EEE8913580BF}</a:tableStyleId>
              </a:tblPr>
              <a:tblGrid>
                <a:gridCol w="658275"/>
                <a:gridCol w="658275"/>
                <a:gridCol w="658275"/>
                <a:gridCol w="658275"/>
                <a:gridCol w="6582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GB" baseline="30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</a:t>
                      </a:r>
                      <a:endParaRPr baseline="30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baseline="30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nd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baseline="30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rd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baseline="30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baseline="30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2500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204" name="Google Shape;204;p21"/>
          <p:cNvGrpSpPr/>
          <p:nvPr/>
        </p:nvGrpSpPr>
        <p:grpSpPr>
          <a:xfrm>
            <a:off x="1243991" y="6383563"/>
            <a:ext cx="2536260" cy="264782"/>
            <a:chOff x="3961968" y="1764625"/>
            <a:chExt cx="2790165" cy="329700"/>
          </a:xfrm>
        </p:grpSpPr>
        <p:sp>
          <p:nvSpPr>
            <p:cNvPr id="205" name="Google Shape;205;p21"/>
            <p:cNvSpPr/>
            <p:nvPr/>
          </p:nvSpPr>
          <p:spPr>
            <a:xfrm>
              <a:off x="3961968" y="1764625"/>
              <a:ext cx="444900" cy="329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6" name="Google Shape;206;p21"/>
            <p:cNvSpPr/>
            <p:nvPr/>
          </p:nvSpPr>
          <p:spPr>
            <a:xfrm>
              <a:off x="5432632" y="1764625"/>
              <a:ext cx="548700" cy="329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7" name="Google Shape;207;p21"/>
            <p:cNvSpPr/>
            <p:nvPr/>
          </p:nvSpPr>
          <p:spPr>
            <a:xfrm>
              <a:off x="6113733" y="1764625"/>
              <a:ext cx="638400" cy="329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rgbClr val="0000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8" name="Google Shape;208;p21"/>
          <p:cNvSpPr txBox="1"/>
          <p:nvPr/>
        </p:nvSpPr>
        <p:spPr>
          <a:xfrm>
            <a:off x="488700" y="877850"/>
            <a:ext cx="68553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 Using the common ratio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19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Recognising geometric sequences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2024-02-06T11:21:33.339</cp:lastPrinted>
  <dcterms:created xsi:type="dcterms:W3CDTF">2024-02-06T11:21:33Z</dcterms:created>
  <dcterms:modified xsi:type="dcterms:W3CDTF">2024-02-06T11:21:42Z</dcterms:modified>
</cp:coreProperties>
</file>