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904ABF7B-BE3A-467F-B4CA-C471755D9EF9}">
  <a:tblStyle styleId="{904ABF7B-BE3A-467F-B4CA-C471755D9E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1" name="Shape 241"/>
        <p:cNvGrpSpPr/>
        <p:nvPr/>
      </p:nvGrpSpPr>
      <p:grpSpPr>
        <a:xfrm>
          <a:off x="0" y="0"/>
          <a:ext cx="0" cy="0"/>
        </a:xfrm>
      </p:grpSpPr>
      <p:sp>
        <p:nvSpPr>
          <p:cNvPr id="242" name="Google Shape;242;g2b14d14f548_0_68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b14d14f548_0_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sp>
        <p:nvSpPr>
          <p:cNvPr id="335" name="Google Shape;33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Relationship Id="rId5" Type="http://schemas.openxmlformats.org/officeDocument/2006/relationships/image" Target="../media/image17.png" /><Relationship Id="rId6" Type="http://schemas.openxmlformats.org/officeDocument/2006/relationships/image" Target="../media/image18.png" /><Relationship Id="rId7" Type="http://schemas.openxmlformats.org/officeDocument/2006/relationships/image" Target="../media/image10.png" /><Relationship Id="rId8" Type="http://schemas.openxmlformats.org/officeDocument/2006/relationships/image" Target="../media/image19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0.png" /><Relationship Id="rId4" Type="http://schemas.openxmlformats.org/officeDocument/2006/relationships/image" Target="../media/image21.png" /><Relationship Id="rId5" Type="http://schemas.openxmlformats.org/officeDocument/2006/relationships/image" Target="../media/image22.png" /><Relationship Id="rId6" Type="http://schemas.openxmlformats.org/officeDocument/2006/relationships/image" Target="../media/image23.png" /><Relationship Id="rId7" Type="http://schemas.openxmlformats.org/officeDocument/2006/relationships/image" Target="../media/image24.png" /><Relationship Id="rId8" Type="http://schemas.openxmlformats.org/officeDocument/2006/relationships/image" Target="../media/image25.png" /><Relationship Id="rId9" Type="http://schemas.openxmlformats.org/officeDocument/2006/relationships/image" Target="../media/image2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geometric sequences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60625"/>
            <a:ext cx="6539400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Divide each term by the previous term to find the common ratio in each of these geometric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312325"/>
            <a:ext cx="66240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Finding the common ratio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413619" y="2487706"/>
          <a:ext cx="4809275" cy="381000"/>
        </p:xfrm>
        <a:graphic>
          <a:graphicData uri="http://schemas.openxmlformats.org/drawingml/2006/table">
            <a:tbl>
              <a:tblPr>
                <a:noFill/>
                <a:tableStyleId>{904ABF7B-BE3A-467F-B4CA-C471755D9EF9}</a:tableStyleId>
              </a:tblPr>
              <a:tblGrid>
                <a:gridCol w="388725"/>
                <a:gridCol w="657775"/>
                <a:gridCol w="657775"/>
                <a:gridCol w="657775"/>
                <a:gridCol w="740100"/>
                <a:gridCol w="1078875"/>
                <a:gridCol w="628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5145,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36 015,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413619" y="4113679"/>
          <a:ext cx="4668100" cy="381000"/>
        </p:xfrm>
        <a:graphic>
          <a:graphicData uri="http://schemas.openxmlformats.org/drawingml/2006/table">
            <a:tbl>
              <a:tblPr>
                <a:noFill/>
                <a:tableStyleId>{904ABF7B-BE3A-467F-B4CA-C471755D9EF9}</a:tableStyleId>
              </a:tblPr>
              <a:tblGrid>
                <a:gridCol w="388725"/>
                <a:gridCol w="657775"/>
                <a:gridCol w="657775"/>
                <a:gridCol w="657775"/>
                <a:gridCol w="830875"/>
                <a:gridCol w="919150"/>
                <a:gridCol w="5560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0.72,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6.48,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58.32,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524.88,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 flipH="1">
            <a:off x="5081700" y="2487700"/>
            <a:ext cx="19341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36 015 ÷ 5145 = 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 flipH="1">
            <a:off x="5081700" y="2894099"/>
            <a:ext cx="19341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5145 ÷ 735 = 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 flipH="1">
            <a:off x="5081700" y="3300498"/>
            <a:ext cx="19341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735 ÷ 105 = 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 flipH="1">
            <a:off x="5081700" y="3706896"/>
            <a:ext cx="19341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105 ÷ 15 = 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1165898" y="4194672"/>
            <a:ext cx="2607014" cy="576892"/>
            <a:chOff x="468291" y="1701066"/>
            <a:chExt cx="2149760" cy="757374"/>
          </a:xfrm>
        </p:grpSpPr>
        <p:grpSp>
          <p:nvGrpSpPr>
            <p:cNvPr id="182" name="Google Shape;182;p20"/>
            <p:cNvGrpSpPr/>
            <p:nvPr/>
          </p:nvGrpSpPr>
          <p:grpSpPr>
            <a:xfrm>
              <a:off x="522808" y="2119140"/>
              <a:ext cx="2093617" cy="339300"/>
              <a:chOff x="522808" y="1509540"/>
              <a:chExt cx="2093617" cy="339300"/>
            </a:xfrm>
          </p:grpSpPr>
          <p:sp>
            <p:nvSpPr>
              <p:cNvPr id="183" name="Google Shape;183;p20"/>
              <p:cNvSpPr txBox="1"/>
              <p:nvPr/>
            </p:nvSpPr>
            <p:spPr>
              <a:xfrm>
                <a:off x="522808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×9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p20"/>
              <p:cNvSpPr txBox="1"/>
              <p:nvPr/>
            </p:nvSpPr>
            <p:spPr>
              <a:xfrm>
                <a:off x="1075251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×9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p20"/>
              <p:cNvSpPr txBox="1"/>
              <p:nvPr/>
            </p:nvSpPr>
            <p:spPr>
              <a:xfrm>
                <a:off x="164880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×9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p20"/>
              <p:cNvSpPr txBox="1"/>
              <p:nvPr/>
            </p:nvSpPr>
            <p:spPr>
              <a:xfrm>
                <a:off x="222822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×9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7" name="Google Shape;187;p20"/>
            <p:cNvGrpSpPr/>
            <p:nvPr/>
          </p:nvGrpSpPr>
          <p:grpSpPr>
            <a:xfrm>
              <a:off x="468291" y="1701066"/>
              <a:ext cx="2149760" cy="437700"/>
              <a:chOff x="468291" y="1701066"/>
              <a:chExt cx="2149760" cy="437700"/>
            </a:xfrm>
          </p:grpSpPr>
          <p:sp>
            <p:nvSpPr>
              <p:cNvPr id="188" name="Google Shape;188;p20"/>
              <p:cNvSpPr/>
              <p:nvPr/>
            </p:nvSpPr>
            <p:spPr>
              <a:xfrm rot="10800000" flipH="1">
                <a:off x="46829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89" name="Google Shape;189;p20"/>
              <p:cNvSpPr/>
              <p:nvPr/>
            </p:nvSpPr>
            <p:spPr>
              <a:xfrm rot="10800000" flipH="1">
                <a:off x="1004247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90" name="Google Shape;190;p20"/>
              <p:cNvSpPr/>
              <p:nvPr/>
            </p:nvSpPr>
            <p:spPr>
              <a:xfrm rot="10800000" flipH="1">
                <a:off x="1561132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91" name="Google Shape;191;p20"/>
              <p:cNvSpPr/>
              <p:nvPr/>
            </p:nvSpPr>
            <p:spPr>
              <a:xfrm rot="10800000" flipH="1">
                <a:off x="210985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grpSp>
        <p:nvGrpSpPr>
          <p:cNvPr id="192" name="Google Shape;192;p20"/>
          <p:cNvGrpSpPr/>
          <p:nvPr/>
        </p:nvGrpSpPr>
        <p:grpSpPr>
          <a:xfrm>
            <a:off x="1145727" y="2665624"/>
            <a:ext cx="2607014" cy="576892"/>
            <a:chOff x="468291" y="1701066"/>
            <a:chExt cx="2149760" cy="757374"/>
          </a:xfrm>
        </p:grpSpPr>
        <p:grpSp>
          <p:nvGrpSpPr>
            <p:cNvPr id="193" name="Google Shape;193;p20"/>
            <p:cNvGrpSpPr/>
            <p:nvPr/>
          </p:nvGrpSpPr>
          <p:grpSpPr>
            <a:xfrm>
              <a:off x="522808" y="2119140"/>
              <a:ext cx="2093617" cy="339300"/>
              <a:chOff x="522808" y="1509540"/>
              <a:chExt cx="2093617" cy="339300"/>
            </a:xfrm>
          </p:grpSpPr>
          <p:sp>
            <p:nvSpPr>
              <p:cNvPr id="194" name="Google Shape;194;p20"/>
              <p:cNvSpPr txBox="1"/>
              <p:nvPr/>
            </p:nvSpPr>
            <p:spPr>
              <a:xfrm>
                <a:off x="522808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×7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p20"/>
              <p:cNvSpPr txBox="1"/>
              <p:nvPr/>
            </p:nvSpPr>
            <p:spPr>
              <a:xfrm>
                <a:off x="1075251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×7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p20"/>
              <p:cNvSpPr txBox="1"/>
              <p:nvPr/>
            </p:nvSpPr>
            <p:spPr>
              <a:xfrm>
                <a:off x="164880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×7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p20"/>
              <p:cNvSpPr txBox="1"/>
              <p:nvPr/>
            </p:nvSpPr>
            <p:spPr>
              <a:xfrm>
                <a:off x="2228225" y="1509540"/>
                <a:ext cx="3882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×7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8" name="Google Shape;198;p20"/>
            <p:cNvGrpSpPr/>
            <p:nvPr/>
          </p:nvGrpSpPr>
          <p:grpSpPr>
            <a:xfrm>
              <a:off x="468291" y="1701066"/>
              <a:ext cx="2149760" cy="437700"/>
              <a:chOff x="468291" y="1701066"/>
              <a:chExt cx="2149760" cy="437700"/>
            </a:xfrm>
          </p:grpSpPr>
          <p:sp>
            <p:nvSpPr>
              <p:cNvPr id="199" name="Google Shape;199;p20"/>
              <p:cNvSpPr/>
              <p:nvPr/>
            </p:nvSpPr>
            <p:spPr>
              <a:xfrm rot="10800000" flipH="1">
                <a:off x="46829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00" name="Google Shape;200;p20"/>
              <p:cNvSpPr/>
              <p:nvPr/>
            </p:nvSpPr>
            <p:spPr>
              <a:xfrm rot="10800000" flipH="1">
                <a:off x="1004247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 rot="10800000" flipH="1">
                <a:off x="1561132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02" name="Google Shape;202;p20"/>
              <p:cNvSpPr/>
              <p:nvPr/>
            </p:nvSpPr>
            <p:spPr>
              <a:xfrm rot="10800000" flipH="1">
                <a:off x="210985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203" name="Google Shape;203;p20"/>
          <p:cNvSpPr txBox="1"/>
          <p:nvPr/>
        </p:nvSpPr>
        <p:spPr>
          <a:xfrm flipH="1">
            <a:off x="5081781" y="4189504"/>
            <a:ext cx="17289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524.88 ÷ 58.32 = 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 flipH="1">
            <a:off x="5081781" y="4595903"/>
            <a:ext cx="17289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58.32 ÷ 6.48 = 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 flipH="1">
            <a:off x="5081781" y="5002301"/>
            <a:ext cx="17289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6.48 ÷ 0.72 = 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 flipH="1">
            <a:off x="5081781" y="5408700"/>
            <a:ext cx="17289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0.72 ÷ 0.08 = 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7" name="Google Shape;207;p20"/>
          <p:cNvGraphicFramePr>
            <a:graphicFrameLocks noGrp="1"/>
          </p:cNvGraphicFramePr>
          <p:nvPr/>
        </p:nvGraphicFramePr>
        <p:xfrm>
          <a:off x="489819" y="5855074"/>
          <a:ext cx="3882425" cy="381000"/>
        </p:xfrm>
        <a:graphic>
          <a:graphicData uri="http://schemas.openxmlformats.org/drawingml/2006/table">
            <a:tbl>
              <a:tblPr>
                <a:noFill/>
                <a:tableStyleId>{904ABF7B-BE3A-467F-B4CA-C471755D9EF9}</a:tableStyleId>
              </a:tblPr>
              <a:tblGrid>
                <a:gridCol w="336375"/>
                <a:gridCol w="569200"/>
                <a:gridCol w="569200"/>
                <a:gridCol w="569200"/>
                <a:gridCol w="586725"/>
                <a:gridCol w="539125"/>
                <a:gridCol w="7126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567,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189,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08" name="Google Shape;208;p20"/>
          <p:cNvGrpSpPr/>
          <p:nvPr/>
        </p:nvGrpSpPr>
        <p:grpSpPr>
          <a:xfrm>
            <a:off x="1075107" y="6053218"/>
            <a:ext cx="2276381" cy="354537"/>
            <a:chOff x="468291" y="1701066"/>
            <a:chExt cx="2149760" cy="437700"/>
          </a:xfrm>
        </p:grpSpPr>
        <p:sp>
          <p:nvSpPr>
            <p:cNvPr id="209" name="Google Shape;209;p20"/>
            <p:cNvSpPr/>
            <p:nvPr/>
          </p:nvSpPr>
          <p:spPr>
            <a:xfrm rot="10800000" flipH="1">
              <a:off x="468291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10" name="Google Shape;210;p20"/>
            <p:cNvSpPr/>
            <p:nvPr/>
          </p:nvSpPr>
          <p:spPr>
            <a:xfrm rot="10800000" flipH="1">
              <a:off x="1004247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11" name="Google Shape;211;p20"/>
            <p:cNvSpPr/>
            <p:nvPr/>
          </p:nvSpPr>
          <p:spPr>
            <a:xfrm rot="10800000" flipH="1">
              <a:off x="1561132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12" name="Google Shape;212;p20"/>
            <p:cNvSpPr/>
            <p:nvPr/>
          </p:nvSpPr>
          <p:spPr>
            <a:xfrm rot="10800000" flipH="1">
              <a:off x="2109851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aphicFrame>
        <p:nvGraphicFramePr>
          <p:cNvPr id="213" name="Google Shape;213;p20"/>
          <p:cNvGraphicFramePr>
            <a:graphicFrameLocks noGrp="1"/>
          </p:cNvGraphicFramePr>
          <p:nvPr/>
        </p:nvGraphicFramePr>
        <p:xfrm>
          <a:off x="489819" y="7502338"/>
          <a:ext cx="378850" cy="381000"/>
        </p:xfrm>
        <a:graphic>
          <a:graphicData uri="http://schemas.openxmlformats.org/drawingml/2006/table">
            <a:tbl>
              <a:tblPr>
                <a:noFill/>
                <a:tableStyleId>{904ABF7B-BE3A-467F-B4CA-C471755D9EF9}</a:tableStyleId>
              </a:tblPr>
              <a:tblGrid>
                <a:gridCol w="3788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20"/>
          <p:cNvSpPr txBox="1"/>
          <p:nvPr/>
        </p:nvSpPr>
        <p:spPr>
          <a:xfrm flipH="1">
            <a:off x="5081825" y="5812875"/>
            <a:ext cx="20229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÷ 21 =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 flipH="1">
            <a:off x="5081825" y="6249525"/>
            <a:ext cx="20229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 ÷ 63 =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 flipH="1">
            <a:off x="5043150" y="6686175"/>
            <a:ext cx="20229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63 ÷ 189 =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 flipH="1">
            <a:off x="5081825" y="7122825"/>
            <a:ext cx="20229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189 ÷ 567 =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" name="Google Shape;218;p20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3675" y="6438950"/>
            <a:ext cx="210936" cy="32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7275" y="6437575"/>
            <a:ext cx="210950" cy="329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3528" y="6438950"/>
            <a:ext cx="210936" cy="32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993" y="6438950"/>
            <a:ext cx="210936" cy="329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" name="Google Shape;222;p20"/>
          <p:cNvGrpSpPr/>
          <p:nvPr/>
        </p:nvGrpSpPr>
        <p:grpSpPr>
          <a:xfrm>
            <a:off x="1019150" y="7813332"/>
            <a:ext cx="1519474" cy="732769"/>
            <a:chOff x="790575" y="3489322"/>
            <a:chExt cx="1652500" cy="796922"/>
          </a:xfrm>
        </p:grpSpPr>
        <p:grpSp>
          <p:nvGrpSpPr>
            <p:cNvPr id="223" name="Google Shape;223;p20"/>
            <p:cNvGrpSpPr/>
            <p:nvPr/>
          </p:nvGrpSpPr>
          <p:grpSpPr>
            <a:xfrm>
              <a:off x="816304" y="3489322"/>
              <a:ext cx="1626771" cy="354537"/>
              <a:chOff x="462018" y="1701066"/>
              <a:chExt cx="2276797" cy="437700"/>
            </a:xfrm>
          </p:grpSpPr>
          <p:sp>
            <p:nvSpPr>
              <p:cNvPr id="224" name="Google Shape;224;p20"/>
              <p:cNvSpPr/>
              <p:nvPr/>
            </p:nvSpPr>
            <p:spPr>
              <a:xfrm rot="10800000" flipH="1">
                <a:off x="462018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0"/>
              <p:cNvSpPr/>
              <p:nvPr/>
            </p:nvSpPr>
            <p:spPr>
              <a:xfrm rot="10800000" flipH="1">
                <a:off x="1040319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0"/>
              <p:cNvSpPr/>
              <p:nvPr/>
            </p:nvSpPr>
            <p:spPr>
              <a:xfrm rot="10800000" flipH="1">
                <a:off x="1639549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0"/>
              <p:cNvSpPr/>
              <p:nvPr/>
            </p:nvSpPr>
            <p:spPr>
              <a:xfrm rot="10800000" flipH="1">
                <a:off x="22306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pic>
          <p:nvPicPr>
            <p:cNvPr id="228" name="Google Shape;228;p20" descr="&lt;math xmlns=&quot;http://www.w3.org/1998/Math/MathML&quot; display=&quot;block&quot; data-is-equatio=&quot;1&quot; data-latex=&quot;\times\frac{3}{2}&quot;&gt;&lt;mo&gt;×&lt;/mo&gt;&lt;mfrac&gt;&lt;mn&gt;3&lt;/mn&gt;&lt;mn&gt;2&lt;/mn&gt;&lt;/mfrac&gt;&lt;/math&gt;" title="times three halve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28583" y="3878968"/>
              <a:ext cx="269507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0" descr="&lt;math xmlns=&quot;http://www.w3.org/1998/Math/MathML&quot; display=&quot;block&quot; data-is-equatio=&quot;1&quot; data-latex=&quot;\times\frac{3}{2}&quot;&gt;&lt;mo&gt;×&lt;/mo&gt;&lt;mfrac&gt;&lt;mn&gt;3&lt;/mn&gt;&lt;mn&gt;2&lt;/mn&gt;&lt;/mfrac&gt;&lt;/math&gt;" title="times three halve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98956" y="3878968"/>
              <a:ext cx="269507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0" descr="&lt;math xmlns=&quot;http://www.w3.org/1998/Math/MathML&quot; display=&quot;block&quot; data-is-equatio=&quot;1&quot; data-latex=&quot;\times\frac{3}{2}&quot;&gt;&lt;mo&gt;×&lt;/mo&gt;&lt;mfrac&gt;&lt;mn&gt;3&lt;/mn&gt;&lt;mn&gt;2&lt;/mn&gt;&lt;/mfrac&gt;&lt;/math&gt;" title="times three halve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60542" y="3878968"/>
              <a:ext cx="269507" cy="40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0" descr="&lt;math xmlns=&quot;http://www.w3.org/1998/Math/MathML&quot; display=&quot;block&quot; data-is-equatio=&quot;1&quot; data-latex=&quot;\times\frac{3}{2}&quot;&gt;&lt;mo&gt;×&lt;/mo&gt;&lt;mfrac&gt;&lt;mn&gt;3&lt;/mn&gt;&lt;mn&gt;2&lt;/mn&gt;&lt;/mfrac&gt;&lt;/math&gt;" title="times three halve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0575" y="3878968"/>
              <a:ext cx="269507" cy="4072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2" name="Google Shape;232;p20" descr="&lt;math xmlns=&quot;http://www.w3.org/1998/Math/MathML&quot; display=&quot;block&quot; data-is-equatio=&quot;1&quot; data-latex=&quot;\frac{1}{4},\ \frac{3}{8},\ \frac{9}{16},\ \frac{27}{32},\ \frac{81}{64},\ \ ...&quot;&gt;&lt;mfrac&gt;&lt;mn&gt;1&lt;/mn&gt;&lt;mn&gt;4&lt;/mn&gt;&lt;/mfrac&gt;&lt;mo&gt;,&lt;/mo&gt;&lt;mtext&gt;&lt;/mtext&gt;&lt;mfrac&gt;&lt;mn&gt;3&lt;/mn&gt;&lt;mn&gt;8&lt;/mn&gt;&lt;/mfrac&gt;&lt;mo&gt;,&lt;/mo&gt;&lt;mtext&gt;&lt;/mtext&gt;&lt;mfrac&gt;&lt;mn&gt;9&lt;/mn&gt;&lt;mn&gt;16&lt;/mn&gt;&lt;/mfrac&gt;&lt;mo&gt;,&lt;/mo&gt;&lt;mtext&gt;&lt;/mtext&gt;&lt;mfrac&gt;&lt;mn&gt;27&lt;/mn&gt;&lt;mn&gt;32&lt;/mn&gt;&lt;/mfrac&gt;&lt;mo&gt;,&lt;/mo&gt;&lt;mtext&gt;&lt;/mtext&gt;&lt;mfrac&gt;&lt;mn&gt;81&lt;/mn&gt;&lt;mn&gt;64&lt;/mn&gt;&lt;/mfrac&gt;&lt;mo&gt;,&lt;/mo&gt;&lt;mtext&gt;&lt;/mtext&gt;&lt;mtext&gt;&lt;/mtext&gt;&lt;mo&gt;.&lt;/mo&gt;&lt;mo&gt;.&lt;/mo&gt;&lt;mo&gt;.&lt;/mo&gt;&lt;/math&gt;" title="one fourth comma three eighths comma 9 over 16 comma 27 over 32 comma 81 over 64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6700" y="7467150"/>
            <a:ext cx="2022900" cy="40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6280" y="7021897"/>
            <a:ext cx="103344" cy="34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0497" y="6630806"/>
            <a:ext cx="103344" cy="34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0509" y="6138765"/>
            <a:ext cx="103344" cy="34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524" y="5773400"/>
            <a:ext cx="103344" cy="34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&lt;math xmlns=&quot;http://www.w3.org/1998/Math/MathML&quot; display=&quot;block&quot; data-is-equatio=&quot;1&quot; data-latex=&quot;\frac{81}{64}\div\frac{27}{32}=\frac{3}{2}&quot;&gt;&lt;mfrac&gt;&lt;mn&gt;81&lt;/mn&gt;&lt;mn&gt;64&lt;/mn&gt;&lt;/mfrac&gt;&lt;mo&gt;÷&lt;/mo&gt;&lt;mfrac&gt;&lt;mn&gt;27&lt;/mn&gt;&lt;mn&gt;32&lt;/mn&gt;&lt;/mfrac&gt;&lt;mo&gt;=&lt;/mo&gt;&lt;mfrac&gt;&lt;mn&gt;3&lt;/mn&gt;&lt;mn&gt;2&lt;/mn&gt;&lt;/mfrac&gt;&lt;/math&gt;" title="81 over 64 divided by 27 over 32 equals three halv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97523" y="7592600"/>
            <a:ext cx="1077123" cy="4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&lt;math xmlns=&quot;http://www.w3.org/1998/Math/MathML&quot; display=&quot;block&quot; data-is-equatio=&quot;1&quot; data-latex=&quot;\frac{27}{32}\div\frac{9}{16}=\frac{3}{2}&quot;&gt;&lt;mfrac&gt;&lt;mn&gt;27&lt;/mn&gt;&lt;mn&gt;32&lt;/mn&gt;&lt;/mfrac&gt;&lt;mo&gt;÷&lt;/mo&gt;&lt;mfrac&gt;&lt;mn&gt;9&lt;/mn&gt;&lt;mn&gt;16&lt;/mn&gt;&lt;/mfrac&gt;&lt;mo&gt;=&lt;/mo&gt;&lt;mfrac&gt;&lt;mn&gt;3&lt;/mn&gt;&lt;mn&gt;2&lt;/mn&gt;&lt;/mfrac&gt;&lt;/math&gt;" title="27 over 32 divided by 9 over 16 equals three halv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95125" y="8187250"/>
            <a:ext cx="1077123" cy="4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&lt;math xmlns=&quot;http://www.w3.org/1998/Math/MathML&quot; display=&quot;block&quot; data-is-equatio=&quot;1&quot; data-latex=&quot;\frac{9}{16}\div\frac{3}{8}=\frac{3}{2}&quot;&gt;&lt;mfrac&gt;&lt;mn&gt;9&lt;/mn&gt;&lt;mn&gt;16&lt;/mn&gt;&lt;/mfrac&gt;&lt;mo&gt;÷&lt;/mo&gt;&lt;mfrac&gt;&lt;mn&gt;3&lt;/mn&gt;&lt;mn&gt;8&lt;/mn&gt;&lt;/mfrac&gt;&lt;mo&gt;=&lt;/mo&gt;&lt;mfrac&gt;&lt;mn&gt;3&lt;/mn&gt;&lt;mn&gt;2&lt;/mn&gt;&lt;/mfrac&gt;&lt;/math&gt;" title="9 over 16 divided by three eighths equals three halve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84123" y="7593952"/>
            <a:ext cx="971177" cy="397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descr="&lt;math xmlns=&quot;http://www.w3.org/1998/Math/MathML&quot; display=&quot;block&quot; data-is-equatio=&quot;1&quot; data-latex=&quot;\frac{3}{8}\div\frac{1}{4}=\frac{3}{2}&quot;&gt;&lt;mfrac&gt;&lt;mn&gt;3&lt;/mn&gt;&lt;mn&gt;8&lt;/mn&gt;&lt;/mfrac&gt;&lt;mo&gt;÷&lt;/mo&gt;&lt;mfrac&gt;&lt;mn&gt;1&lt;/mn&gt;&lt;mn&gt;4&lt;/mn&gt;&lt;/mfrac&gt;&lt;mo&gt;=&lt;/mo&gt;&lt;mfrac&gt;&lt;mn&gt;3&lt;/mn&gt;&lt;mn&gt;2&lt;/mn&gt;&lt;/mfrac&gt;&lt;/math&gt;" title="three eighths divided by one fourth equals three halve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74885" y="8182043"/>
            <a:ext cx="906432" cy="409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4" name="Shape 244"/>
        <p:cNvGrpSpPr/>
        <p:nvPr/>
      </p:nvGrpSpPr>
      <p:grpSpPr>
        <a:xfrm>
          <a:off x="0" y="0"/>
          <a:ext cx="0" cy="0"/>
        </a:xfrm>
      </p:grpSpPr>
      <p:sp>
        <p:nvSpPr>
          <p:cNvPr id="245" name="Google Shape;24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geometric sequences</a:t>
            </a:r>
            <a:endParaRPr/>
          </a:p>
        </p:txBody>
      </p:sp>
      <p:sp>
        <p:nvSpPr>
          <p:cNvPr id="246" name="Google Shape;24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476400" y="835500"/>
            <a:ext cx="66156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This sequence is geometric. Show that it is and write a sentence to justify why it 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768,   576,   432,   324,   243, 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 flipH="1">
            <a:off x="4171344" y="1179152"/>
            <a:ext cx="14286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243 ÷ 324 =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 flipH="1">
            <a:off x="4171344" y="1766774"/>
            <a:ext cx="14286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324 ÷ 432 =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 flipH="1">
            <a:off x="5874149" y="1179450"/>
            <a:ext cx="12444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432 ÷ 576 =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 flipH="1">
            <a:off x="5874299" y="1767075"/>
            <a:ext cx="12444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576 ÷ 768 =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2" name="Google Shape;252;p21" descr="&lt;math xmlns=&quot;http://www.w3.org/1998/Math/MathML&quot; display=&quot;block&quot; data-is-equatio=&quot;1&quot; data-latex=&quot;\frac{3}{4}&quot;&gt;&lt;mfrac&gt;&lt;mn&gt;3&lt;/mn&gt;&lt;mn&gt;4&lt;/mn&gt;&lt;/mfrac&gt;&lt;/math&gt;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4050" y="1103250"/>
            <a:ext cx="109750" cy="324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1"/>
          <p:cNvGrpSpPr/>
          <p:nvPr/>
        </p:nvGrpSpPr>
        <p:grpSpPr>
          <a:xfrm>
            <a:off x="1025151" y="1410410"/>
            <a:ext cx="1859465" cy="604177"/>
            <a:chOff x="587625" y="1709922"/>
            <a:chExt cx="2379354" cy="773099"/>
          </a:xfrm>
        </p:grpSpPr>
        <p:grpSp>
          <p:nvGrpSpPr>
            <p:cNvPr id="254" name="Google Shape;254;p21"/>
            <p:cNvGrpSpPr/>
            <p:nvPr/>
          </p:nvGrpSpPr>
          <p:grpSpPr>
            <a:xfrm>
              <a:off x="587625" y="1709922"/>
              <a:ext cx="2379354" cy="354537"/>
              <a:chOff x="468291" y="1701066"/>
              <a:chExt cx="2149760" cy="437700"/>
            </a:xfrm>
          </p:grpSpPr>
          <p:sp>
            <p:nvSpPr>
              <p:cNvPr id="255" name="Google Shape;255;p21"/>
              <p:cNvSpPr/>
              <p:nvPr/>
            </p:nvSpPr>
            <p:spPr>
              <a:xfrm rot="10800000" flipH="1">
                <a:off x="46829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1"/>
              <p:cNvSpPr/>
              <p:nvPr/>
            </p:nvSpPr>
            <p:spPr>
              <a:xfrm rot="10800000" flipH="1">
                <a:off x="1004247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1"/>
              <p:cNvSpPr/>
              <p:nvPr/>
            </p:nvSpPr>
            <p:spPr>
              <a:xfrm rot="10800000" flipH="1">
                <a:off x="1561132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 rot="10800000" flipH="1">
                <a:off x="210985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pic>
          <p:nvPicPr>
            <p:cNvPr id="259" name="Google Shape;259;p21" descr="&lt;math xmlns=&quot;http://www.w3.org/1998/Math/MathML&quot; display=&quot;block&quot; data-is-equatio=&quot;1&quot; data-latex=&quot;\times\frac{3}{4}&quot;&gt;&lt;mo&gt;×&lt;/mo&gt;&lt;mfrac&gt;&lt;mn&gt;3&lt;/mn&gt;&lt;mn&gt;4&lt;/mn&gt;&lt;/mfrac&gt;&lt;/math&gt;" title="times three four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6921" y="2100221"/>
              <a:ext cx="272909" cy="38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21" descr="&lt;math xmlns=&quot;http://www.w3.org/1998/Math/MathML&quot; display=&quot;block&quot; data-is-equatio=&quot;1&quot; data-latex=&quot;\times\frac{3}{4}&quot;&gt;&lt;mo&gt;×&lt;/mo&gt;&lt;mfrac&gt;&lt;mn&gt;3&lt;/mn&gt;&lt;mn&gt;4&lt;/mn&gt;&lt;/mfrac&gt;&lt;/math&gt;" title="times three four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06521" y="2100221"/>
              <a:ext cx="272909" cy="38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21" descr="&lt;math xmlns=&quot;http://www.w3.org/1998/Math/MathML&quot; display=&quot;block&quot; data-is-equatio=&quot;1&quot; data-latex=&quot;\times\frac{3}{4}&quot;&gt;&lt;mo&gt;×&lt;/mo&gt;&lt;mfrac&gt;&lt;mn&gt;3&lt;/mn&gt;&lt;mn&gt;4&lt;/mn&gt;&lt;/mfrac&gt;&lt;/math&gt;" title="times three four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916121" y="2100221"/>
              <a:ext cx="272909" cy="38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1" descr="&lt;math xmlns=&quot;http://www.w3.org/1998/Math/MathML&quot; display=&quot;block&quot; data-is-equatio=&quot;1&quot; data-latex=&quot;\times\frac{3}{4}&quot;&gt;&lt;mo&gt;×&lt;/mo&gt;&lt;mfrac&gt;&lt;mn&gt;3&lt;/mn&gt;&lt;mn&gt;4&lt;/mn&gt;&lt;/mfrac&gt;&lt;/math&gt;" title="times three four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45892" y="2100221"/>
              <a:ext cx="272909" cy="382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3" name="Google Shape;263;p21" descr="&lt;math xmlns=&quot;http://www.w3.org/1998/Math/MathML&quot; display=&quot;block&quot; data-is-equatio=&quot;1&quot; data-latex=&quot;\frac{3}{4}&quot;&gt;&lt;mfrac&gt;&lt;mn&gt;3&lt;/mn&gt;&lt;mn&gt;4&lt;/mn&gt;&lt;/mfrac&gt;&lt;/math&gt;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4050" y="1712850"/>
            <a:ext cx="109750" cy="32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&lt;math xmlns=&quot;http://www.w3.org/1998/Math/MathML&quot; display=&quot;block&quot; data-is-equatio=&quot;1&quot; data-latex=&quot;\frac{3}{4}&quot;&gt;&lt;mfrac&gt;&lt;mn&gt;3&lt;/mn&gt;&lt;mn&gt;4&lt;/mn&gt;&lt;/mfrac&gt;&lt;/math&gt;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450" y="1103250"/>
            <a:ext cx="109750" cy="32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&lt;math xmlns=&quot;http://www.w3.org/1998/Math/MathML&quot; display=&quot;block&quot; data-is-equatio=&quot;1&quot; data-latex=&quot;\frac{3}{4}&quot;&gt;&lt;mfrac&gt;&lt;mn&gt;3&lt;/mn&gt;&lt;mn&gt;4&lt;/mn&gt;&lt;/mfrac&gt;&lt;/math&gt;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450" y="1712850"/>
            <a:ext cx="109750" cy="324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 flipH="1">
            <a:off x="480175" y="2323544"/>
            <a:ext cx="3263400" cy="128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sequence has a common ratio of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between successive terms therefore is geometric.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7" name="Google Shape;267;p21" descr="&lt;math xmlns=&quot;http://www.w3.org/1998/Math/MathML&quot; display=&quot;block&quot; data-is-equatio=&quot;1&quot; data-latex=&quot;\frac{3}{4}&quot;&gt;&lt;mfrac&gt;&lt;mn&gt;3&lt;/mn&gt;&lt;mn&gt;4&lt;/mn&gt;&lt;/mfrac&gt;&lt;/math&gt;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7950" y="2287573"/>
            <a:ext cx="75805" cy="231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8" name="Google Shape;268;p21"/>
          <p:cNvGraphicFramePr>
            <a:graphicFrameLocks noGrp="1"/>
          </p:cNvGraphicFramePr>
          <p:nvPr/>
        </p:nvGraphicFramePr>
        <p:xfrm>
          <a:off x="4938188" y="23876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{904ABF7B-BE3A-467F-B4CA-C471755D9EF9}</a:tableStyleId>
              </a:tblPr>
              <a:tblGrid>
                <a:gridCol w="568025"/>
                <a:gridCol w="367925"/>
                <a:gridCol w="640400"/>
              </a:tblGrid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768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576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576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69" name="Google Shape;269;p21"/>
          <p:cNvGrpSpPr/>
          <p:nvPr/>
        </p:nvGrpSpPr>
        <p:grpSpPr>
          <a:xfrm>
            <a:off x="4364937" y="2447298"/>
            <a:ext cx="2727094" cy="2315022"/>
            <a:chOff x="5286697" y="1601102"/>
            <a:chExt cx="3147978" cy="2942700"/>
          </a:xfrm>
        </p:grpSpPr>
        <p:grpSp>
          <p:nvGrpSpPr>
            <p:cNvPr id="270" name="Google Shape;270;p21"/>
            <p:cNvGrpSpPr/>
            <p:nvPr/>
          </p:nvGrpSpPr>
          <p:grpSpPr>
            <a:xfrm>
              <a:off x="5286697" y="1601102"/>
              <a:ext cx="890957" cy="2942700"/>
              <a:chOff x="5286697" y="1601102"/>
              <a:chExt cx="890957" cy="2942700"/>
            </a:xfrm>
          </p:grpSpPr>
          <p:sp>
            <p:nvSpPr>
              <p:cNvPr id="271" name="Google Shape;271;p21"/>
              <p:cNvSpPr/>
              <p:nvPr/>
            </p:nvSpPr>
            <p:spPr>
              <a:xfrm rot="-5400000" flipH="1">
                <a:off x="5791254" y="16428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1"/>
              <p:cNvSpPr txBox="1"/>
              <p:nvPr/>
            </p:nvSpPr>
            <p:spPr>
              <a:xfrm>
                <a:off x="5286698" y="1652375"/>
                <a:ext cx="6219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÷192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3" name="Google Shape;273;p21"/>
              <p:cNvSpPr/>
              <p:nvPr/>
            </p:nvSpPr>
            <p:spPr>
              <a:xfrm rot="-5400000" flipH="1">
                <a:off x="5791254" y="24810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1"/>
              <p:cNvSpPr txBox="1"/>
              <p:nvPr/>
            </p:nvSpPr>
            <p:spPr>
              <a:xfrm>
                <a:off x="5286698" y="2490575"/>
                <a:ext cx="6219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÷144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5" name="Google Shape;275;p21"/>
              <p:cNvSpPr/>
              <p:nvPr/>
            </p:nvSpPr>
            <p:spPr>
              <a:xfrm rot="-5400000" flipH="1">
                <a:off x="5791254" y="33192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1"/>
              <p:cNvSpPr txBox="1"/>
              <p:nvPr/>
            </p:nvSpPr>
            <p:spPr>
              <a:xfrm>
                <a:off x="5286697" y="3328775"/>
                <a:ext cx="5460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÷108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7" name="Google Shape;277;p21"/>
              <p:cNvSpPr/>
              <p:nvPr/>
            </p:nvSpPr>
            <p:spPr>
              <a:xfrm rot="-5400000" flipH="1">
                <a:off x="5740828" y="41574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1"/>
              <p:cNvSpPr txBox="1"/>
              <p:nvPr/>
            </p:nvSpPr>
            <p:spPr>
              <a:xfrm>
                <a:off x="5363732" y="4166965"/>
                <a:ext cx="4185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÷81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9" name="Google Shape;279;p21"/>
            <p:cNvGrpSpPr/>
            <p:nvPr/>
          </p:nvGrpSpPr>
          <p:grpSpPr>
            <a:xfrm>
              <a:off x="7423069" y="1601102"/>
              <a:ext cx="1011607" cy="2942700"/>
              <a:chOff x="8108869" y="1601102"/>
              <a:chExt cx="1011607" cy="2942700"/>
            </a:xfrm>
          </p:grpSpPr>
          <p:sp>
            <p:nvSpPr>
              <p:cNvPr id="280" name="Google Shape;280;p21"/>
              <p:cNvSpPr/>
              <p:nvPr/>
            </p:nvSpPr>
            <p:spPr>
              <a:xfrm rot="5400000">
                <a:off x="8077254" y="16428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1"/>
              <p:cNvSpPr txBox="1"/>
              <p:nvPr/>
            </p:nvSpPr>
            <p:spPr>
              <a:xfrm>
                <a:off x="8528276" y="1652375"/>
                <a:ext cx="5922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÷192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2" name="Google Shape;282;p21"/>
              <p:cNvSpPr/>
              <p:nvPr/>
            </p:nvSpPr>
            <p:spPr>
              <a:xfrm rot="5400000">
                <a:off x="8077254" y="24810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1"/>
              <p:cNvSpPr txBox="1"/>
              <p:nvPr/>
            </p:nvSpPr>
            <p:spPr>
              <a:xfrm>
                <a:off x="8528276" y="2490575"/>
                <a:ext cx="5493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÷144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4" name="Google Shape;284;p21"/>
              <p:cNvSpPr/>
              <p:nvPr/>
            </p:nvSpPr>
            <p:spPr>
              <a:xfrm rot="5400000">
                <a:off x="8077254" y="33192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1"/>
              <p:cNvSpPr txBox="1"/>
              <p:nvPr/>
            </p:nvSpPr>
            <p:spPr>
              <a:xfrm>
                <a:off x="8523775" y="3328775"/>
                <a:ext cx="5460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÷108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6" name="Google Shape;286;p21"/>
              <p:cNvSpPr/>
              <p:nvPr/>
            </p:nvSpPr>
            <p:spPr>
              <a:xfrm rot="5400000">
                <a:off x="8067169" y="41574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1"/>
              <p:cNvSpPr txBox="1"/>
              <p:nvPr/>
            </p:nvSpPr>
            <p:spPr>
              <a:xfrm>
                <a:off x="8513688" y="4166965"/>
                <a:ext cx="4185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÷81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88" name="Google Shape;288;p21"/>
          <p:cNvSpPr txBox="1"/>
          <p:nvPr/>
        </p:nvSpPr>
        <p:spPr>
          <a:xfrm flipH="1">
            <a:off x="480175" y="3321600"/>
            <a:ext cx="3312000" cy="11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sequence has a constant ratio of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4 : 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between successive terms therefore is geometric.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Remember that the common ratio should be given as a single value though.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 flipH="1">
            <a:off x="468001" y="2980700"/>
            <a:ext cx="42438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might also have said…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552600" y="5102700"/>
            <a:ext cx="6539400" cy="10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This sequence is not geometric. Show that it is not and write a sentence to justify why it is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756,   252,   126,   42,   21, 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 flipH="1">
            <a:off x="470250" y="6913750"/>
            <a:ext cx="3701700" cy="6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sequence has a multiplicative relationship of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between some terms and    between others therefore is not geometric.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 flipH="1">
            <a:off x="4171958" y="5585880"/>
            <a:ext cx="14121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 ÷ 42 =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 flipH="1">
            <a:off x="4171958" y="6166734"/>
            <a:ext cx="14121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 ÷ 126 =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 flipH="1">
            <a:off x="5848351" y="5604575"/>
            <a:ext cx="12444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126 ÷ 252 =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 flipH="1">
            <a:off x="5848351" y="6185443"/>
            <a:ext cx="12444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252 ÷ 756 =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6" name="Google Shape;296;p21"/>
          <p:cNvGrpSpPr/>
          <p:nvPr/>
        </p:nvGrpSpPr>
        <p:grpSpPr>
          <a:xfrm>
            <a:off x="1154403" y="5819916"/>
            <a:ext cx="1660690" cy="324292"/>
            <a:chOff x="468291" y="1701066"/>
            <a:chExt cx="2149760" cy="437700"/>
          </a:xfrm>
        </p:grpSpPr>
        <p:sp>
          <p:nvSpPr>
            <p:cNvPr id="297" name="Google Shape;297;p21"/>
            <p:cNvSpPr/>
            <p:nvPr/>
          </p:nvSpPr>
          <p:spPr>
            <a:xfrm rot="10800000" flipH="1">
              <a:off x="468291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8" name="Google Shape;298;p21"/>
            <p:cNvSpPr/>
            <p:nvPr/>
          </p:nvSpPr>
          <p:spPr>
            <a:xfrm rot="10800000" flipH="1">
              <a:off x="1004247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 rot="10800000" flipH="1">
              <a:off x="1561132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 rot="10800000" flipH="1">
              <a:off x="2109851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301" name="Google Shape;301;p21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7408" y="6186275"/>
            <a:ext cx="209579" cy="316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1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2275" y="6191053"/>
            <a:ext cx="201766" cy="311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65665" y="6145598"/>
            <a:ext cx="100358" cy="3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64273" y="5516198"/>
            <a:ext cx="100358" cy="29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1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1296" y="6186275"/>
            <a:ext cx="209579" cy="316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1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6163" y="6191053"/>
            <a:ext cx="201766" cy="311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4449" y="7087941"/>
            <a:ext cx="155371" cy="234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1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4620" y="6921629"/>
            <a:ext cx="149579" cy="231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18265" y="6145598"/>
            <a:ext cx="100358" cy="3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93073" y="5516198"/>
            <a:ext cx="100358" cy="29325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1" name="Google Shape;311;p21"/>
          <p:cNvGraphicFramePr>
            <a:graphicFrameLocks noGrp="1"/>
          </p:cNvGraphicFramePr>
          <p:nvPr/>
        </p:nvGraphicFramePr>
        <p:xfrm>
          <a:off x="4940288" y="68255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{904ABF7B-BE3A-467F-B4CA-C471755D9EF9}</a:tableStyleId>
              </a:tblPr>
              <a:tblGrid>
                <a:gridCol w="568025"/>
                <a:gridCol w="367925"/>
                <a:gridCol w="640400"/>
              </a:tblGrid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756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312" name="Google Shape;312;p21"/>
          <p:cNvGrpSpPr/>
          <p:nvPr/>
        </p:nvGrpSpPr>
        <p:grpSpPr>
          <a:xfrm>
            <a:off x="4524930" y="6935065"/>
            <a:ext cx="2448812" cy="2237335"/>
            <a:chOff x="5286697" y="1601102"/>
            <a:chExt cx="3147978" cy="2942700"/>
          </a:xfrm>
        </p:grpSpPr>
        <p:grpSp>
          <p:nvGrpSpPr>
            <p:cNvPr id="313" name="Google Shape;313;p21"/>
            <p:cNvGrpSpPr/>
            <p:nvPr/>
          </p:nvGrpSpPr>
          <p:grpSpPr>
            <a:xfrm>
              <a:off x="5286697" y="1601102"/>
              <a:ext cx="890957" cy="2942700"/>
              <a:chOff x="5286697" y="1601102"/>
              <a:chExt cx="890957" cy="2942700"/>
            </a:xfrm>
          </p:grpSpPr>
          <p:sp>
            <p:nvSpPr>
              <p:cNvPr id="314" name="Google Shape;314;p21"/>
              <p:cNvSpPr/>
              <p:nvPr/>
            </p:nvSpPr>
            <p:spPr>
              <a:xfrm rot="-5400000" flipH="1">
                <a:off x="5791254" y="16428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5" name="Google Shape;315;p21"/>
              <p:cNvSpPr txBox="1"/>
              <p:nvPr/>
            </p:nvSpPr>
            <p:spPr>
              <a:xfrm>
                <a:off x="5286698" y="1652375"/>
                <a:ext cx="6219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÷252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6" name="Google Shape;316;p21"/>
              <p:cNvSpPr/>
              <p:nvPr/>
            </p:nvSpPr>
            <p:spPr>
              <a:xfrm rot="-5400000" flipH="1">
                <a:off x="5791254" y="24810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7" name="Google Shape;317;p21"/>
              <p:cNvSpPr txBox="1"/>
              <p:nvPr/>
            </p:nvSpPr>
            <p:spPr>
              <a:xfrm>
                <a:off x="5286698" y="2490575"/>
                <a:ext cx="6219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÷126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8" name="Google Shape;318;p21"/>
              <p:cNvSpPr/>
              <p:nvPr/>
            </p:nvSpPr>
            <p:spPr>
              <a:xfrm rot="-5400000" flipH="1">
                <a:off x="5791254" y="33192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19" name="Google Shape;319;p21"/>
              <p:cNvSpPr txBox="1"/>
              <p:nvPr/>
            </p:nvSpPr>
            <p:spPr>
              <a:xfrm>
                <a:off x="5286697" y="3328775"/>
                <a:ext cx="5460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÷42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0" name="Google Shape;320;p21"/>
              <p:cNvSpPr/>
              <p:nvPr/>
            </p:nvSpPr>
            <p:spPr>
              <a:xfrm rot="-5400000" flipH="1">
                <a:off x="5740828" y="41574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1" name="Google Shape;321;p21"/>
              <p:cNvSpPr txBox="1"/>
              <p:nvPr/>
            </p:nvSpPr>
            <p:spPr>
              <a:xfrm>
                <a:off x="5363732" y="4166965"/>
                <a:ext cx="4185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÷21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322" name="Google Shape;322;p21"/>
            <p:cNvGrpSpPr/>
            <p:nvPr/>
          </p:nvGrpSpPr>
          <p:grpSpPr>
            <a:xfrm>
              <a:off x="7423069" y="1601102"/>
              <a:ext cx="1011607" cy="2942700"/>
              <a:chOff x="8108869" y="1601102"/>
              <a:chExt cx="1011607" cy="2942700"/>
            </a:xfrm>
          </p:grpSpPr>
          <p:sp>
            <p:nvSpPr>
              <p:cNvPr id="323" name="Google Shape;323;p21"/>
              <p:cNvSpPr/>
              <p:nvPr/>
            </p:nvSpPr>
            <p:spPr>
              <a:xfrm rot="5400000">
                <a:off x="8077254" y="16428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4" name="Google Shape;324;p21"/>
              <p:cNvSpPr txBox="1"/>
              <p:nvPr/>
            </p:nvSpPr>
            <p:spPr>
              <a:xfrm>
                <a:off x="8528276" y="1652375"/>
                <a:ext cx="5922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÷252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5" name="Google Shape;325;p21"/>
              <p:cNvSpPr/>
              <p:nvPr/>
            </p:nvSpPr>
            <p:spPr>
              <a:xfrm rot="5400000">
                <a:off x="8077254" y="24810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6" name="Google Shape;326;p21"/>
              <p:cNvSpPr txBox="1"/>
              <p:nvPr/>
            </p:nvSpPr>
            <p:spPr>
              <a:xfrm>
                <a:off x="8528276" y="2490575"/>
                <a:ext cx="5493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÷126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 rot="5400000">
                <a:off x="8077254" y="33192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8" name="Google Shape;328;p21"/>
              <p:cNvSpPr txBox="1"/>
              <p:nvPr/>
            </p:nvSpPr>
            <p:spPr>
              <a:xfrm>
                <a:off x="8523775" y="3328775"/>
                <a:ext cx="5460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÷42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9" name="Google Shape;329;p21"/>
              <p:cNvSpPr/>
              <p:nvPr/>
            </p:nvSpPr>
            <p:spPr>
              <a:xfrm rot="5400000">
                <a:off x="8067169" y="4157402"/>
                <a:ext cx="428100" cy="344700"/>
              </a:xfrm>
              <a:prstGeom prst="arc">
                <a:avLst>
                  <a:gd name="adj1" fmla="val 10729459"/>
                  <a:gd name="adj2" fmla="val 881427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0" name="Google Shape;330;p21"/>
              <p:cNvSpPr txBox="1"/>
              <p:nvPr/>
            </p:nvSpPr>
            <p:spPr>
              <a:xfrm>
                <a:off x="8513688" y="4166965"/>
                <a:ext cx="418500" cy="3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÷21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331" name="Google Shape;331;p21"/>
          <p:cNvSpPr txBox="1"/>
          <p:nvPr/>
        </p:nvSpPr>
        <p:spPr>
          <a:xfrm flipH="1">
            <a:off x="480600" y="8204125"/>
            <a:ext cx="32634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sequence has a ratio of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 : 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between some terms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: 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between others therefore is not geometric.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 flipH="1">
            <a:off x="480600" y="7696188"/>
            <a:ext cx="32634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might also have said…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3" name="Google Shape;333;p21"/>
          <p:cNvCxnSpPr/>
          <p:nvPr/>
        </p:nvCxnSpPr>
        <p:spPr>
          <a:xfrm>
            <a:off x="478957" y="98668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37" name="Shape 337"/>
        <p:cNvGrpSpPr/>
        <p:nvPr/>
      </p:nvGrpSpPr>
      <p:grpSpPr>
        <a:xfrm>
          <a:off x="0" y="0"/>
          <a:ext cx="0" cy="0"/>
        </a:xfrm>
      </p:grpSpPr>
      <p:graphicFrame>
        <p:nvGraphicFramePr>
          <p:cNvPr id="338" name="Google Shape;338;p22"/>
          <p:cNvGraphicFramePr>
            <a:graphicFrameLocks noGrp="1"/>
          </p:cNvGraphicFramePr>
          <p:nvPr/>
        </p:nvGraphicFramePr>
        <p:xfrm>
          <a:off x="4177055" y="20074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{904ABF7B-BE3A-467F-B4CA-C471755D9EF9}</a:tableStyleId>
              </a:tblPr>
              <a:tblGrid>
                <a:gridCol w="646200"/>
                <a:gridCol w="603225"/>
                <a:gridCol w="471575"/>
                <a:gridCol w="380225"/>
                <a:gridCol w="418750"/>
                <a:gridCol w="3950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1125,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39" name="Google Shape;339;p22"/>
          <p:cNvSpPr/>
          <p:nvPr/>
        </p:nvSpPr>
        <p:spPr>
          <a:xfrm>
            <a:off x="4364027" y="1886625"/>
            <a:ext cx="483300" cy="382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6067918" y="1906195"/>
            <a:ext cx="243000" cy="382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6453055" y="1906195"/>
            <a:ext cx="249300" cy="38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43" name="Google Shape;343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geometric sequences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488700" y="8778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Using the common ratio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7" name="Google Shape;347;p22" descr="&lt;math xmlns=&quot;http://www.w3.org/1998/Math/MathML&quot; display=&quot;block&quot; data-is-equatio=&quot;1&quot; data-latex=&quot;\frac{9}{5}&quot;&gt;&lt;mfrac&gt;&lt;mn&gt;9&lt;/mn&gt;&lt;mn&gt;5&lt;/mn&gt;&lt;/mfrac&gt;&lt;/math&gt;" title="nin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1037" y="1949788"/>
            <a:ext cx="100003" cy="321437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2"/>
          <p:cNvSpPr txBox="1"/>
          <p:nvPr/>
        </p:nvSpPr>
        <p:spPr>
          <a:xfrm>
            <a:off x="476400" y="1521300"/>
            <a:ext cx="6424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terms in these geometric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476400" y="1996727"/>
            <a:ext cx="34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50" name="Google Shape;350;p22"/>
          <p:cNvGraphicFramePr>
            <a:graphicFrameLocks noGrp="1"/>
          </p:cNvGraphicFramePr>
          <p:nvPr/>
        </p:nvGraphicFramePr>
        <p:xfrm>
          <a:off x="712598" y="20074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{904ABF7B-BE3A-467F-B4CA-C471755D9EF9}</a:tableStyleId>
              </a:tblPr>
              <a:tblGrid>
                <a:gridCol w="511225"/>
                <a:gridCol w="511225"/>
                <a:gridCol w="511225"/>
                <a:gridCol w="511225"/>
                <a:gridCol w="511225"/>
                <a:gridCol w="511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153,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459,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351" name="Google Shape;351;p22"/>
          <p:cNvGrpSpPr/>
          <p:nvPr/>
        </p:nvGrpSpPr>
        <p:grpSpPr>
          <a:xfrm>
            <a:off x="981336" y="2158064"/>
            <a:ext cx="2045659" cy="478471"/>
            <a:chOff x="971437" y="1575768"/>
            <a:chExt cx="2622976" cy="613503"/>
          </a:xfrm>
        </p:grpSpPr>
        <p:grpSp>
          <p:nvGrpSpPr>
            <p:cNvPr id="352" name="Google Shape;352;p22"/>
            <p:cNvGrpSpPr/>
            <p:nvPr/>
          </p:nvGrpSpPr>
          <p:grpSpPr>
            <a:xfrm>
              <a:off x="2312782" y="1575768"/>
              <a:ext cx="1281632" cy="613503"/>
              <a:chOff x="2090003" y="1446382"/>
              <a:chExt cx="1281632" cy="613503"/>
            </a:xfrm>
          </p:grpSpPr>
          <p:sp>
            <p:nvSpPr>
              <p:cNvPr id="353" name="Google Shape;353;p22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4" name="Google Shape;354;p22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5" name="Google Shape;355;p22"/>
              <p:cNvSpPr/>
              <p:nvPr/>
            </p:nvSpPr>
            <p:spPr>
              <a:xfrm rot="10800000" flipH="1">
                <a:off x="2090003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2"/>
              <p:cNvSpPr/>
              <p:nvPr/>
            </p:nvSpPr>
            <p:spPr>
              <a:xfrm rot="10800000" flipH="1">
                <a:off x="2755435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57" name="Google Shape;357;p22"/>
            <p:cNvGrpSpPr/>
            <p:nvPr/>
          </p:nvGrpSpPr>
          <p:grpSpPr>
            <a:xfrm>
              <a:off x="971437" y="1575768"/>
              <a:ext cx="1281632" cy="613503"/>
              <a:chOff x="2090003" y="1446382"/>
              <a:chExt cx="1281632" cy="613503"/>
            </a:xfrm>
          </p:grpSpPr>
          <p:sp>
            <p:nvSpPr>
              <p:cNvPr id="358" name="Google Shape;358;p22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9" name="Google Shape;359;p22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0" name="Google Shape;360;p22"/>
              <p:cNvSpPr/>
              <p:nvPr/>
            </p:nvSpPr>
            <p:spPr>
              <a:xfrm rot="10800000" flipH="1">
                <a:off x="2090003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2"/>
              <p:cNvSpPr/>
              <p:nvPr/>
            </p:nvSpPr>
            <p:spPr>
              <a:xfrm rot="10800000" flipH="1">
                <a:off x="2755435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62" name="Google Shape;362;p22" descr="&lt;math xmlns=&quot;http://www.w3.org/1998/Math/MathML&quot; display=&quot;block&quot; data-is-equatio=&quot;1&quot; data-latex=&quot;\frac{17}{3}&quot;&gt;&lt;mfrac&gt;&lt;mn&gt;17&lt;/mn&gt;&lt;mn&gt;3&lt;/mn&gt;&lt;/mfrac&gt;&lt;/math&gt;" title="seventeen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344" y="1944425"/>
            <a:ext cx="174482" cy="321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2"/>
          <p:cNvSpPr/>
          <p:nvPr/>
        </p:nvSpPr>
        <p:spPr>
          <a:xfrm>
            <a:off x="742200" y="1905175"/>
            <a:ext cx="366900" cy="383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1310587" y="1905175"/>
            <a:ext cx="366900" cy="383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2886373" y="1905175"/>
            <a:ext cx="342000" cy="383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3991653" y="1996727"/>
            <a:ext cx="34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7" name="Google Shape;367;p22"/>
          <p:cNvGrpSpPr/>
          <p:nvPr/>
        </p:nvGrpSpPr>
        <p:grpSpPr>
          <a:xfrm>
            <a:off x="4655361" y="2158117"/>
            <a:ext cx="1886965" cy="621197"/>
            <a:chOff x="5486851" y="1575773"/>
            <a:chExt cx="2467265" cy="812234"/>
          </a:xfrm>
        </p:grpSpPr>
        <p:grpSp>
          <p:nvGrpSpPr>
            <p:cNvPr id="368" name="Google Shape;368;p22"/>
            <p:cNvGrpSpPr/>
            <p:nvPr/>
          </p:nvGrpSpPr>
          <p:grpSpPr>
            <a:xfrm>
              <a:off x="6867676" y="1575781"/>
              <a:ext cx="1086440" cy="354600"/>
              <a:chOff x="2090003" y="1446382"/>
              <a:chExt cx="1281632" cy="354600"/>
            </a:xfrm>
          </p:grpSpPr>
          <p:sp>
            <p:nvSpPr>
              <p:cNvPr id="369" name="Google Shape;369;p22"/>
              <p:cNvSpPr/>
              <p:nvPr/>
            </p:nvSpPr>
            <p:spPr>
              <a:xfrm rot="10800000" flipH="1">
                <a:off x="2090003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2"/>
              <p:cNvSpPr/>
              <p:nvPr/>
            </p:nvSpPr>
            <p:spPr>
              <a:xfrm rot="10800000" flipH="1">
                <a:off x="2755435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71" name="Google Shape;371;p22"/>
            <p:cNvGrpSpPr/>
            <p:nvPr/>
          </p:nvGrpSpPr>
          <p:grpSpPr>
            <a:xfrm>
              <a:off x="5486851" y="1575773"/>
              <a:ext cx="1325934" cy="354608"/>
              <a:chOff x="1933373" y="1446374"/>
              <a:chExt cx="1438262" cy="354608"/>
            </a:xfrm>
          </p:grpSpPr>
          <p:sp>
            <p:nvSpPr>
              <p:cNvPr id="372" name="Google Shape;372;p22"/>
              <p:cNvSpPr/>
              <p:nvPr/>
            </p:nvSpPr>
            <p:spPr>
              <a:xfrm rot="10800000" flipH="1">
                <a:off x="1933373" y="1446374"/>
                <a:ext cx="7731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2"/>
              <p:cNvSpPr/>
              <p:nvPr/>
            </p:nvSpPr>
            <p:spPr>
              <a:xfrm rot="10800000" flipH="1">
                <a:off x="2755435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pic>
          <p:nvPicPr>
            <p:cNvPr id="374" name="Google Shape;374;p22" descr="&lt;math xmlns=&quot;http://www.w3.org/1998/Math/MathML&quot; display=&quot;block&quot; data-is-equatio=&quot;1&quot; data-latex=&quot;\times\frac{1}{5}&quot;&gt;&lt;mo&gt;×&lt;/mo&gt;&lt;mfrac&gt;&lt;mn&gt;1&lt;/mn&gt;&lt;mn&gt;5&lt;/mn&gt;&lt;/mfrac&gt;&lt;/math&gt;" title="times 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76900" y="1950257"/>
              <a:ext cx="285349" cy="43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22" descr="&lt;math xmlns=&quot;http://www.w3.org/1998/Math/MathML&quot; display=&quot;block&quot; data-is-equatio=&quot;1&quot; data-latex=&quot;\times\frac{1}{5}&quot;&gt;&lt;mo&gt;×&lt;/mo&gt;&lt;mfrac&gt;&lt;mn&gt;1&lt;/mn&gt;&lt;mn&gt;5&lt;/mn&gt;&lt;/mfrac&gt;&lt;/math&gt;" title="times 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62700" y="1950257"/>
              <a:ext cx="285349" cy="43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22" descr="&lt;math xmlns=&quot;http://www.w3.org/1998/Math/MathML&quot; display=&quot;block&quot; data-is-equatio=&quot;1&quot; data-latex=&quot;\times\frac{1}{5}&quot;&gt;&lt;mo&gt;×&lt;/mo&gt;&lt;mfrac&gt;&lt;mn&gt;1&lt;/mn&gt;&lt;mn&gt;5&lt;/mn&gt;&lt;/mfrac&gt;&lt;/math&gt;" title="times 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72300" y="1950257"/>
              <a:ext cx="285349" cy="437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22" descr="&lt;math xmlns=&quot;http://www.w3.org/1998/Math/MathML&quot; display=&quot;block&quot; data-is-equatio=&quot;1&quot; data-latex=&quot;\times\frac{1}{5}&quot;&gt;&lt;mo&gt;×&lt;/mo&gt;&lt;mfrac&gt;&lt;mn&gt;1&lt;/mn&gt;&lt;mn&gt;5&lt;/mn&gt;&lt;/mfrac&gt;&lt;/math&gt;" title="times one fif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40220" y="1950257"/>
              <a:ext cx="285349" cy="437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8" name="Google Shape;378;p22"/>
          <p:cNvSpPr txBox="1"/>
          <p:nvPr/>
        </p:nvSpPr>
        <p:spPr>
          <a:xfrm flipH="1">
            <a:off x="932592" y="2776510"/>
            <a:ext cx="1393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153 ÷ 51 = 3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 flipH="1">
            <a:off x="3990365" y="2895367"/>
            <a:ext cx="1393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 ÷ 225 =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0" name="Google Shape;380;p22" descr="&lt;math xmlns=&quot;http://www.w3.org/1998/Math/MathML&quot; display=&quot;block&quot; data-is-equatio=&quot;1&quot; data-latex=&quot;\frac{1}{5}&quot;&gt;&lt;mfrac&gt;&lt;mn&gt;1&lt;/mn&gt;&lt;mn&gt;5&lt;/mn&gt;&lt;/mfrac&gt;&lt;/math&gt;" title="one fif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3809" y="2796492"/>
            <a:ext cx="100003" cy="32146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2"/>
          <p:cNvSpPr txBox="1"/>
          <p:nvPr/>
        </p:nvSpPr>
        <p:spPr>
          <a:xfrm>
            <a:off x="476400" y="3515980"/>
            <a:ext cx="34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2" name="Google Shape;382;p22"/>
          <p:cNvGraphicFramePr>
            <a:graphicFrameLocks noGrp="1"/>
          </p:cNvGraphicFramePr>
          <p:nvPr/>
        </p:nvGraphicFramePr>
        <p:xfrm>
          <a:off x="712598" y="35314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{904ABF7B-BE3A-467F-B4CA-C471755D9EF9}</a:tableStyleId>
              </a:tblPr>
              <a:tblGrid>
                <a:gridCol w="573800"/>
                <a:gridCol w="573800"/>
                <a:gridCol w="485150"/>
                <a:gridCol w="478850"/>
                <a:gridCol w="607850"/>
                <a:gridCol w="3479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0.007,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0.14,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1120,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383" name="Google Shape;383;p22"/>
          <p:cNvGrpSpPr/>
          <p:nvPr/>
        </p:nvGrpSpPr>
        <p:grpSpPr>
          <a:xfrm>
            <a:off x="981273" y="3677327"/>
            <a:ext cx="2133248" cy="478471"/>
            <a:chOff x="971357" y="3328381"/>
            <a:chExt cx="2735283" cy="613503"/>
          </a:xfrm>
        </p:grpSpPr>
        <p:grpSp>
          <p:nvGrpSpPr>
            <p:cNvPr id="384" name="Google Shape;384;p22"/>
            <p:cNvGrpSpPr/>
            <p:nvPr/>
          </p:nvGrpSpPr>
          <p:grpSpPr>
            <a:xfrm>
              <a:off x="2370154" y="3328381"/>
              <a:ext cx="1336486" cy="613503"/>
              <a:chOff x="2090003" y="1446382"/>
              <a:chExt cx="1281632" cy="613503"/>
            </a:xfrm>
          </p:grpSpPr>
          <p:sp>
            <p:nvSpPr>
              <p:cNvPr id="385" name="Google Shape;385;p22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×20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6" name="Google Shape;386;p22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×20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7" name="Google Shape;387;p22"/>
              <p:cNvSpPr/>
              <p:nvPr/>
            </p:nvSpPr>
            <p:spPr>
              <a:xfrm rot="10800000" flipH="1">
                <a:off x="2090003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88" name="Google Shape;388;p22"/>
              <p:cNvSpPr/>
              <p:nvPr/>
            </p:nvSpPr>
            <p:spPr>
              <a:xfrm rot="10800000" flipH="1">
                <a:off x="2755435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89" name="Google Shape;389;p22"/>
            <p:cNvGrpSpPr/>
            <p:nvPr/>
          </p:nvGrpSpPr>
          <p:grpSpPr>
            <a:xfrm>
              <a:off x="971357" y="3328381"/>
              <a:ext cx="1336486" cy="613503"/>
              <a:chOff x="2090003" y="1446382"/>
              <a:chExt cx="1281632" cy="613503"/>
            </a:xfrm>
          </p:grpSpPr>
          <p:sp>
            <p:nvSpPr>
              <p:cNvPr id="390" name="Google Shape;390;p22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×20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1" name="Google Shape;391;p22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×20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2" name="Google Shape;392;p22"/>
              <p:cNvSpPr/>
              <p:nvPr/>
            </p:nvSpPr>
            <p:spPr>
              <a:xfrm rot="10800000" flipH="1">
                <a:off x="2090003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93" name="Google Shape;393;p22"/>
              <p:cNvSpPr/>
              <p:nvPr/>
            </p:nvSpPr>
            <p:spPr>
              <a:xfrm rot="10800000" flipH="1">
                <a:off x="2755435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grpSp>
        <p:nvGrpSpPr>
          <p:cNvPr id="394" name="Google Shape;394;p22"/>
          <p:cNvGrpSpPr/>
          <p:nvPr/>
        </p:nvGrpSpPr>
        <p:grpSpPr>
          <a:xfrm>
            <a:off x="722104" y="3466698"/>
            <a:ext cx="2704901" cy="341404"/>
            <a:chOff x="3886373" y="1764617"/>
            <a:chExt cx="3447051" cy="329700"/>
          </a:xfrm>
        </p:grpSpPr>
        <p:sp>
          <p:nvSpPr>
            <p:cNvPr id="395" name="Google Shape;395;p22"/>
            <p:cNvSpPr/>
            <p:nvPr/>
          </p:nvSpPr>
          <p:spPr>
            <a:xfrm>
              <a:off x="3886373" y="1764617"/>
              <a:ext cx="689400" cy="329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5993310" y="1764617"/>
              <a:ext cx="540600" cy="329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6704924" y="1764617"/>
              <a:ext cx="628500" cy="329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8" name="Google Shape;398;p22"/>
          <p:cNvSpPr txBox="1"/>
          <p:nvPr/>
        </p:nvSpPr>
        <p:spPr>
          <a:xfrm flipH="1">
            <a:off x="873273" y="4295763"/>
            <a:ext cx="16716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2.8 ÷ 0.14 = 20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9" name="Google Shape;399;p22" descr="&lt;math xmlns=&quot;http://www.w3.org/1998/Math/MathML&quot; display=&quot;block&quot; data-is-equatio=&quot;1&quot; data-latex=&quot;\frac{7}{3},\frac{14}{9},\frac{28}{27},\frac{56}{81},\frac{112}{243},\ ...&quot;&gt;&lt;mfrac&gt;&lt;mn&gt;7&lt;/mn&gt;&lt;mn&gt;3&lt;/mn&gt;&lt;/mfrac&gt;&lt;mo&gt;,&lt;/mo&gt;&lt;mfrac&gt;&lt;mn&gt;14&lt;/mn&gt;&lt;mn&gt;9&lt;/mn&gt;&lt;/mfrac&gt;&lt;mo&gt;,&lt;/mo&gt;&lt;mfrac&gt;&lt;mn&gt;28&lt;/mn&gt;&lt;mn&gt;27&lt;/mn&gt;&lt;/mfrac&gt;&lt;mo&gt;,&lt;/mo&gt;&lt;mfrac&gt;&lt;mn&gt;56&lt;/mn&gt;&lt;mn&gt;81&lt;/mn&gt;&lt;/mfrac&gt;&lt;mo&gt;,&lt;/mo&gt;&lt;mfrac&gt;&lt;mn&gt;112&lt;/mn&gt;&lt;mn&gt;243&lt;/mn&gt;&lt;/mfrac&gt;&lt;mo&gt;,&lt;/mo&gt;&lt;mtext&gt;&lt;/mtext&gt;&lt;mo&gt;.&lt;/mo&gt;&lt;mo&gt;.&lt;/mo&gt;&lt;mo&gt;.&lt;/mo&gt;&lt;/math&gt;" title="seven thirds comma fourteen ninths comma 28 over 27 comma 56 over 81 comma 112 over 243 comma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70537" y="3549337"/>
            <a:ext cx="2045675" cy="424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2" descr="&lt;math xmlns=&quot;http://www.w3.org/1998/Math/MathML&quot; display=&quot;block&quot; data-is-equatio=&quot;1&quot; data-latex=&quot;\frac{56}{81}\div\frac{28}{27}=\frac{2}{3}&quot;&gt;&lt;mfrac&gt;&lt;mn&gt;56&lt;/mn&gt;&lt;mn&gt;81&lt;/mn&gt;&lt;/mfrac&gt;&lt;mo&gt;÷&lt;/mo&gt;&lt;mfrac&gt;&lt;mn&gt;28&lt;/mn&gt;&lt;mn&gt;27&lt;/mn&gt;&lt;/mfrac&gt;&lt;mo&gt;=&lt;/mo&gt;&lt;mfrac&gt;&lt;mn&gt;2&lt;/mn&gt;&lt;mn&gt;3&lt;/mn&gt;&lt;/mfrac&gt;&lt;/math&gt;" title="56 over 81 divided by 28 over 27 equals two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87440" y="4658728"/>
            <a:ext cx="999560" cy="3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2"/>
          <p:cNvSpPr txBox="1"/>
          <p:nvPr/>
        </p:nvSpPr>
        <p:spPr>
          <a:xfrm>
            <a:off x="3982679" y="3515980"/>
            <a:ext cx="34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4700675" y="3493604"/>
            <a:ext cx="268500" cy="536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2"/>
          <p:cNvSpPr/>
          <p:nvPr/>
        </p:nvSpPr>
        <p:spPr>
          <a:xfrm>
            <a:off x="4378825" y="3493604"/>
            <a:ext cx="268500" cy="536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5831003" y="3493604"/>
            <a:ext cx="390900" cy="536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5" name="Google Shape;405;p22"/>
          <p:cNvGrpSpPr/>
          <p:nvPr/>
        </p:nvGrpSpPr>
        <p:grpSpPr>
          <a:xfrm>
            <a:off x="4508848" y="3929593"/>
            <a:ext cx="1578812" cy="621173"/>
            <a:chOff x="5201354" y="3651842"/>
            <a:chExt cx="2024378" cy="796478"/>
          </a:xfrm>
        </p:grpSpPr>
        <p:grpSp>
          <p:nvGrpSpPr>
            <p:cNvPr id="406" name="Google Shape;406;p22"/>
            <p:cNvGrpSpPr/>
            <p:nvPr/>
          </p:nvGrpSpPr>
          <p:grpSpPr>
            <a:xfrm>
              <a:off x="5438932" y="4018575"/>
              <a:ext cx="1786800" cy="429745"/>
              <a:chOff x="5438932" y="3713775"/>
              <a:chExt cx="1786800" cy="429745"/>
            </a:xfrm>
          </p:grpSpPr>
          <p:pic>
            <p:nvPicPr>
              <p:cNvPr id="407" name="Google Shape;407;p22" descr="&lt;math xmlns=&quot;http://www.w3.org/1998/Math/MathML&quot; display=&quot;block&quot; data-is-equatio=&quot;1&quot; data-latex=&quot;\times\frac{2}{3}&quot;&gt;&lt;mo&gt;×&lt;/mo&gt;&lt;mfrac&gt;&lt;mn&gt;2&lt;/mn&gt;&lt;mn&gt;3&lt;/mn&gt;&lt;/mfrac&gt;&lt;/math&gt;" title="times two thirds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438932" y="3713775"/>
                <a:ext cx="278255" cy="4297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8" name="Google Shape;408;p22" descr="&lt;math xmlns=&quot;http://www.w3.org/1998/Math/MathML&quot; display=&quot;block&quot; data-is-equatio=&quot;1&quot; data-latex=&quot;\times\frac{2}{3}&quot;&gt;&lt;mo&gt;×&lt;/mo&gt;&lt;mfrac&gt;&lt;mn&gt;2&lt;/mn&gt;&lt;mn&gt;3&lt;/mn&gt;&lt;/mfrac&gt;&lt;/math&gt;" title="times two thirds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919283" y="3713775"/>
                <a:ext cx="278255" cy="4297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9" name="Google Shape;409;p22" descr="&lt;math xmlns=&quot;http://www.w3.org/1998/Math/MathML&quot; display=&quot;block&quot; data-is-equatio=&quot;1&quot; data-latex=&quot;\times\frac{2}{3}&quot;&gt;&lt;mo&gt;×&lt;/mo&gt;&lt;mfrac&gt;&lt;mn&gt;2&lt;/mn&gt;&lt;mn&gt;3&lt;/mn&gt;&lt;/mfrac&gt;&lt;/math&gt;" title="times two thirds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6427341" y="3713775"/>
                <a:ext cx="278255" cy="4297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0" name="Google Shape;410;p22" descr="&lt;math xmlns=&quot;http://www.w3.org/1998/Math/MathML&quot; display=&quot;block&quot; data-is-equatio=&quot;1&quot; data-latex=&quot;\times\frac{2}{3}&quot;&gt;&lt;mo&gt;×&lt;/mo&gt;&lt;mfrac&gt;&lt;mn&gt;2&lt;/mn&gt;&lt;mn&gt;3&lt;/mn&gt;&lt;/mfrac&gt;&lt;/math&gt;" title="times two thirds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6947477" y="3713775"/>
                <a:ext cx="278255" cy="4297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1" name="Google Shape;411;p22"/>
            <p:cNvGrpSpPr/>
            <p:nvPr/>
          </p:nvGrpSpPr>
          <p:grpSpPr>
            <a:xfrm>
              <a:off x="6214967" y="3651842"/>
              <a:ext cx="968658" cy="289992"/>
              <a:chOff x="1831456" y="1446382"/>
              <a:chExt cx="1281632" cy="354600"/>
            </a:xfrm>
          </p:grpSpPr>
          <p:sp>
            <p:nvSpPr>
              <p:cNvPr id="412" name="Google Shape;412;p22"/>
              <p:cNvSpPr/>
              <p:nvPr/>
            </p:nvSpPr>
            <p:spPr>
              <a:xfrm rot="10800000" flipH="1">
                <a:off x="1831456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2"/>
              <p:cNvSpPr/>
              <p:nvPr/>
            </p:nvSpPr>
            <p:spPr>
              <a:xfrm rot="10800000" flipH="1">
                <a:off x="2496888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22"/>
            <p:cNvGrpSpPr/>
            <p:nvPr/>
          </p:nvGrpSpPr>
          <p:grpSpPr>
            <a:xfrm>
              <a:off x="5201354" y="3651842"/>
              <a:ext cx="968658" cy="289992"/>
              <a:chOff x="1831456" y="1446382"/>
              <a:chExt cx="1281632" cy="354600"/>
            </a:xfrm>
          </p:grpSpPr>
          <p:sp>
            <p:nvSpPr>
              <p:cNvPr id="415" name="Google Shape;415;p22"/>
              <p:cNvSpPr/>
              <p:nvPr/>
            </p:nvSpPr>
            <p:spPr>
              <a:xfrm rot="10800000" flipH="1">
                <a:off x="1831456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2"/>
              <p:cNvSpPr/>
              <p:nvPr/>
            </p:nvSpPr>
            <p:spPr>
              <a:xfrm rot="10800000" flipH="1">
                <a:off x="2496888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7" name="Google Shape;417;p22"/>
          <p:cNvSpPr txBox="1"/>
          <p:nvPr/>
        </p:nvSpPr>
        <p:spPr>
          <a:xfrm>
            <a:off x="476400" y="5331300"/>
            <a:ext cx="6615600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Find the two possible geometric sequences given these missing, non-successive terms.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18" name="Google Shape;418;p22"/>
          <p:cNvGraphicFramePr>
            <a:graphicFrameLocks noGrp="1"/>
          </p:cNvGraphicFramePr>
          <p:nvPr/>
        </p:nvGraphicFramePr>
        <p:xfrm>
          <a:off x="488560" y="59539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{904ABF7B-BE3A-467F-B4CA-C471755D9EF9}</a:tableStyleId>
              </a:tblPr>
              <a:tblGrid>
                <a:gridCol w="658275"/>
                <a:gridCol w="658275"/>
                <a:gridCol w="658275"/>
                <a:gridCol w="658275"/>
                <a:gridCol w="6582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419" name="Google Shape;419;p22"/>
          <p:cNvGrpSpPr/>
          <p:nvPr/>
        </p:nvGrpSpPr>
        <p:grpSpPr>
          <a:xfrm>
            <a:off x="1243991" y="6383563"/>
            <a:ext cx="2536260" cy="264782"/>
            <a:chOff x="3961968" y="1764625"/>
            <a:chExt cx="2790165" cy="329700"/>
          </a:xfrm>
        </p:grpSpPr>
        <p:sp>
          <p:nvSpPr>
            <p:cNvPr id="420" name="Google Shape;420;p22"/>
            <p:cNvSpPr/>
            <p:nvPr/>
          </p:nvSpPr>
          <p:spPr>
            <a:xfrm>
              <a:off x="3961968" y="1764625"/>
              <a:ext cx="444900" cy="329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5432632" y="1764625"/>
              <a:ext cx="548700" cy="329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6113733" y="1764625"/>
              <a:ext cx="638400" cy="329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423" name="Google Shape;423;p22"/>
          <p:cNvGraphicFramePr>
            <a:graphicFrameLocks noGrp="1"/>
          </p:cNvGraphicFramePr>
          <p:nvPr/>
        </p:nvGraphicFramePr>
        <p:xfrm>
          <a:off x="488685" y="74017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{904ABF7B-BE3A-467F-B4CA-C471755D9EF9}</a:tableStyleId>
              </a:tblPr>
              <a:tblGrid>
                <a:gridCol w="640300"/>
                <a:gridCol w="640300"/>
                <a:gridCol w="640300"/>
                <a:gridCol w="640300"/>
                <a:gridCol w="730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424" name="Google Shape;424;p22"/>
          <p:cNvGrpSpPr/>
          <p:nvPr/>
        </p:nvGrpSpPr>
        <p:grpSpPr>
          <a:xfrm>
            <a:off x="975034" y="6592835"/>
            <a:ext cx="2291127" cy="573064"/>
            <a:chOff x="4221433" y="2025327"/>
            <a:chExt cx="2852854" cy="713565"/>
          </a:xfrm>
        </p:grpSpPr>
        <p:grpSp>
          <p:nvGrpSpPr>
            <p:cNvPr id="425" name="Google Shape;425;p22"/>
            <p:cNvGrpSpPr/>
            <p:nvPr/>
          </p:nvGrpSpPr>
          <p:grpSpPr>
            <a:xfrm>
              <a:off x="4221433" y="2025327"/>
              <a:ext cx="1405054" cy="713565"/>
              <a:chOff x="2090003" y="1446382"/>
              <a:chExt cx="1281632" cy="613503"/>
            </a:xfrm>
          </p:grpSpPr>
          <p:sp>
            <p:nvSpPr>
              <p:cNvPr id="426" name="Google Shape;426;p22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7" name="Google Shape;427;p22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8" name="Google Shape;428;p22"/>
              <p:cNvSpPr/>
              <p:nvPr/>
            </p:nvSpPr>
            <p:spPr>
              <a:xfrm rot="10800000" flipH="1">
                <a:off x="2090003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29" name="Google Shape;429;p22"/>
              <p:cNvSpPr/>
              <p:nvPr/>
            </p:nvSpPr>
            <p:spPr>
              <a:xfrm rot="10800000" flipH="1">
                <a:off x="2755435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30" name="Google Shape;430;p22"/>
            <p:cNvGrpSpPr/>
            <p:nvPr/>
          </p:nvGrpSpPr>
          <p:grpSpPr>
            <a:xfrm>
              <a:off x="5669233" y="2025327"/>
              <a:ext cx="1405054" cy="713565"/>
              <a:chOff x="2090003" y="1446382"/>
              <a:chExt cx="1281632" cy="613503"/>
            </a:xfrm>
          </p:grpSpPr>
          <p:sp>
            <p:nvSpPr>
              <p:cNvPr id="431" name="Google Shape;431;p22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2" name="Google Shape;432;p22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3" name="Google Shape;433;p22"/>
              <p:cNvSpPr/>
              <p:nvPr/>
            </p:nvSpPr>
            <p:spPr>
              <a:xfrm rot="10800000" flipH="1">
                <a:off x="2090003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 rot="10800000" flipH="1">
                <a:off x="2755435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grpSp>
        <p:nvGrpSpPr>
          <p:cNvPr id="435" name="Google Shape;435;p22"/>
          <p:cNvGrpSpPr/>
          <p:nvPr/>
        </p:nvGrpSpPr>
        <p:grpSpPr>
          <a:xfrm>
            <a:off x="822674" y="8030336"/>
            <a:ext cx="2406458" cy="573064"/>
            <a:chOff x="4221483" y="3625502"/>
            <a:chExt cx="2996461" cy="713565"/>
          </a:xfrm>
        </p:grpSpPr>
        <p:grpSp>
          <p:nvGrpSpPr>
            <p:cNvPr id="436" name="Google Shape;436;p22"/>
            <p:cNvGrpSpPr/>
            <p:nvPr/>
          </p:nvGrpSpPr>
          <p:grpSpPr>
            <a:xfrm>
              <a:off x="4221483" y="3625502"/>
              <a:ext cx="1475800" cy="713565"/>
              <a:chOff x="2090003" y="1446382"/>
              <a:chExt cx="1281632" cy="613503"/>
            </a:xfrm>
          </p:grpSpPr>
          <p:sp>
            <p:nvSpPr>
              <p:cNvPr id="437" name="Google Shape;437;p22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8" name="Google Shape;438;p22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9" name="Google Shape;439;p22"/>
              <p:cNvSpPr/>
              <p:nvPr/>
            </p:nvSpPr>
            <p:spPr>
              <a:xfrm rot="10800000" flipH="1">
                <a:off x="2090003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40" name="Google Shape;440;p22"/>
              <p:cNvSpPr/>
              <p:nvPr/>
            </p:nvSpPr>
            <p:spPr>
              <a:xfrm rot="10800000" flipH="1">
                <a:off x="2755435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441" name="Google Shape;441;p22"/>
            <p:cNvGrpSpPr/>
            <p:nvPr/>
          </p:nvGrpSpPr>
          <p:grpSpPr>
            <a:xfrm>
              <a:off x="5742145" y="3625502"/>
              <a:ext cx="1475800" cy="713565"/>
              <a:chOff x="2090003" y="1446382"/>
              <a:chExt cx="1281632" cy="613503"/>
            </a:xfrm>
          </p:grpSpPr>
          <p:sp>
            <p:nvSpPr>
              <p:cNvPr id="442" name="Google Shape;442;p22"/>
              <p:cNvSpPr txBox="1"/>
              <p:nvPr/>
            </p:nvSpPr>
            <p:spPr>
              <a:xfrm>
                <a:off x="2196324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3" name="Google Shape;443;p22"/>
              <p:cNvSpPr txBox="1"/>
              <p:nvPr/>
            </p:nvSpPr>
            <p:spPr>
              <a:xfrm>
                <a:off x="2898986" y="1785084"/>
                <a:ext cx="470700" cy="2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×−5</a:t>
                </a:r>
                <a:endParaRPr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4" name="Google Shape;444;p22"/>
              <p:cNvSpPr/>
              <p:nvPr/>
            </p:nvSpPr>
            <p:spPr>
              <a:xfrm rot="10800000" flipH="1">
                <a:off x="2090003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445" name="Google Shape;445;p22"/>
              <p:cNvSpPr/>
              <p:nvPr/>
            </p:nvSpPr>
            <p:spPr>
              <a:xfrm rot="10800000" flipH="1">
                <a:off x="2755435" y="1446382"/>
                <a:ext cx="616200" cy="3546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446" name="Google Shape;446;p22"/>
          <p:cNvSpPr txBox="1"/>
          <p:nvPr/>
        </p:nvSpPr>
        <p:spPr>
          <a:xfrm flipH="1">
            <a:off x="5414934" y="6725384"/>
            <a:ext cx="7806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25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22"/>
          <p:cNvSpPr txBox="1"/>
          <p:nvPr/>
        </p:nvSpPr>
        <p:spPr>
          <a:xfrm flipH="1">
            <a:off x="4763626" y="5991038"/>
            <a:ext cx="15081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× r × r =  100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22"/>
          <p:cNvSpPr txBox="1"/>
          <p:nvPr/>
        </p:nvSpPr>
        <p:spPr>
          <a:xfrm flipH="1">
            <a:off x="5026727" y="6358211"/>
            <a:ext cx="12450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× r</a:t>
            </a:r>
            <a:r>
              <a:rPr lang="en-GB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100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2"/>
          <p:cNvSpPr txBox="1"/>
          <p:nvPr/>
        </p:nvSpPr>
        <p:spPr>
          <a:xfrm flipH="1">
            <a:off x="5490897" y="7104061"/>
            <a:ext cx="11946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 5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−5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50" name="Google Shape;450;p22"/>
          <p:cNvGrpSpPr/>
          <p:nvPr/>
        </p:nvGrpSpPr>
        <p:grpSpPr>
          <a:xfrm>
            <a:off x="1253891" y="7830206"/>
            <a:ext cx="2403405" cy="264782"/>
            <a:chOff x="3913723" y="1764625"/>
            <a:chExt cx="2733316" cy="329700"/>
          </a:xfrm>
        </p:grpSpPr>
        <p:sp>
          <p:nvSpPr>
            <p:cNvPr id="451" name="Google Shape;451;p22"/>
            <p:cNvSpPr/>
            <p:nvPr/>
          </p:nvSpPr>
          <p:spPr>
            <a:xfrm>
              <a:off x="3913723" y="1764625"/>
              <a:ext cx="493200" cy="329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5285057" y="1764625"/>
              <a:ext cx="591300" cy="329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6008639" y="1764625"/>
              <a:ext cx="638400" cy="329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95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Recognising geometric sequences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2024-02-06T11:21:39.164</cp:lastPrinted>
  <dcterms:created xsi:type="dcterms:W3CDTF">2024-02-06T11:21:39Z</dcterms:created>
  <dcterms:modified xsi:type="dcterms:W3CDTF">2024-02-06T11:21:49Z</dcterms:modified>
</cp:coreProperties>
</file>