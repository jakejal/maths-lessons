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0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numbers in standard form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6702900"/>
            <a:ext cx="43656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says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Laura has not correctly ordered the numbers.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0"/>
          <p:cNvSpPr txBox="1"/>
          <p:nvPr/>
        </p:nvSpPr>
        <p:spPr>
          <a:xfrm>
            <a:off x="457400" y="12980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Comparing numbers in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1521300"/>
            <a:ext cx="436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Put the following in ascending order, smallest to largest.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7357" y="1764600"/>
            <a:ext cx="192900" cy="20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713275" y="1793939"/>
            <a:ext cx="6188098" cy="184694"/>
            <a:chOff x="760511" y="878305"/>
            <a:chExt cx="8180986" cy="237000"/>
          </a:xfrm>
        </p:grpSpPr>
        <p:sp>
          <p:nvSpPr>
            <p:cNvPr id="168" name="Google Shape;168;p20"/>
            <p:cNvSpPr txBox="1"/>
            <p:nvPr/>
          </p:nvSpPr>
          <p:spPr>
            <a:xfrm>
              <a:off x="4022854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2391683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760511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7459798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5654026" y="878305"/>
              <a:ext cx="1656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>
            <a:off x="713275" y="2389130"/>
            <a:ext cx="6155020" cy="184694"/>
            <a:chOff x="858100" y="2031600"/>
            <a:chExt cx="7921518" cy="237000"/>
          </a:xfrm>
        </p:grpSpPr>
        <p:sp>
          <p:nvSpPr>
            <p:cNvPr id="174" name="Google Shape;174;p20"/>
            <p:cNvSpPr txBox="1"/>
            <p:nvPr/>
          </p:nvSpPr>
          <p:spPr>
            <a:xfrm>
              <a:off x="2448235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858100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7383418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4038370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5628505" y="2031600"/>
              <a:ext cx="1561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713275" y="3039204"/>
            <a:ext cx="5974945" cy="184694"/>
            <a:chOff x="817725" y="2891250"/>
            <a:chExt cx="7689761" cy="237000"/>
          </a:xfrm>
        </p:grpSpPr>
        <p:sp>
          <p:nvSpPr>
            <p:cNvPr id="180" name="Google Shape;180;p20"/>
            <p:cNvSpPr txBox="1"/>
            <p:nvPr/>
          </p:nvSpPr>
          <p:spPr>
            <a:xfrm>
              <a:off x="5414821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4.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817725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4.99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2350091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882456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9.8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6947187" y="2891250"/>
              <a:ext cx="1560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4.9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713275" y="3669233"/>
            <a:ext cx="6205187" cy="184694"/>
            <a:chOff x="856646" y="3716001"/>
            <a:chExt cx="7986083" cy="237000"/>
          </a:xfrm>
        </p:grpSpPr>
        <p:sp>
          <p:nvSpPr>
            <p:cNvPr id="186" name="Google Shape;186;p20"/>
            <p:cNvSpPr txBox="1"/>
            <p:nvPr/>
          </p:nvSpPr>
          <p:spPr>
            <a:xfrm>
              <a:off x="4196138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9.89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7361030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1.01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2613692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1.001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5778584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1.5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856646" y="3716001"/>
              <a:ext cx="1656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9.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20"/>
          <p:cNvSpPr txBox="1"/>
          <p:nvPr/>
        </p:nvSpPr>
        <p:spPr>
          <a:xfrm>
            <a:off x="476400" y="44169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 following in ascending order in the format they are given.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417760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56421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90 000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52499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87090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121830" y="4692525"/>
            <a:ext cx="12030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0.0089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96775" y="4672300"/>
            <a:ext cx="23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426503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948691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21 000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03460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2.01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80416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0.000 078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125647" y="5714100"/>
            <a:ext cx="11763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0.000 087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96781" y="5688300"/>
            <a:ext cx="23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925" y="6674925"/>
            <a:ext cx="3081298" cy="11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1708428" y="6741900"/>
            <a:ext cx="28011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have put the following in ascending order by ordering the exponents first and where the exponents are the same, I have ordered the number. </a:t>
            </a:r>
            <a:endParaRPr sz="1200"/>
          </a:p>
        </p:txBody>
      </p:sp>
      <p:sp>
        <p:nvSpPr>
          <p:cNvPr id="206" name="Google Shape;206;p20"/>
          <p:cNvSpPr txBox="1"/>
          <p:nvPr/>
        </p:nvSpPr>
        <p:spPr>
          <a:xfrm>
            <a:off x="3928174" y="8417100"/>
            <a:ext cx="13281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6.2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424950" y="8417100"/>
            <a:ext cx="13281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0.618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778150" y="8417100"/>
            <a:ext cx="13281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274926" y="8417100"/>
            <a:ext cx="14847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76" y="7060776"/>
            <a:ext cx="607725" cy="795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477900" y="7805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numbers in standard form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8\ \times0.01\ \ \ \ \ \ \ 4.8\ \times10^{-2}\ \ \ \ \ &quot;&gt;&lt;mn&gt;38&lt;/mn&gt;&lt;mtext&gt;&lt;/mtext&gt;&lt;mo&gt;×&lt;/mo&gt;&lt;mn&gt;0.01&lt;/mn&gt;&lt;mtext&gt;&lt;/mtext&gt;&lt;mtext&gt;&lt;/mtext&gt;&lt;mtext&gt;&lt;/mtext&gt;&lt;mtext&gt;&lt;/mtext&gt;&lt;mtext&gt;&lt;/mtext&gt;&lt;mtext&gt;&lt;/mtext&gt;&lt;mtext&gt;&lt;/mtext&gt;&lt;mn&gt;4.8&lt;/mn&gt;&lt;mtext&gt;&lt;/mtext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text&gt;&lt;/mtext&gt;&lt;/math&gt;" id="220" name="Google Shape;220;p21" title="38 times 0.01 4.8 times 10 to the negative 2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075" y="1303450"/>
            <a:ext cx="2114614" cy="195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9\ \times\frac{1}{10^2}\ \ \ \ \ \ \ \ \ 4820\ \times\frac{1}{10^4}\ \ \ &quot;&gt;&lt;mn&gt;139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4820&lt;/mn&gt;&lt;mtext&gt;&lt;/mtext&gt;&lt;mo&gt;×&lt;/mo&gt;&lt;mfrac&gt;&lt;mn&gt;1&lt;/mn&gt;&lt;msup&gt;&lt;mn&gt;10&lt;/mn&gt;&lt;mn&gt;4&lt;/mn&gt;&lt;/msup&gt;&lt;/mfrac&gt;&lt;mtext&gt;&lt;/mtext&gt;&lt;mtext&gt;&lt;/mtext&gt;&lt;mtext&gt;&lt;/mtext&gt;&lt;/math&gt;" id="221" name="Google Shape;221;p21" title="139 times the fraction with numerator 1 and denominator 10 squared 4820 times the fraction with numerator 1 and denominator 10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075" y="2104002"/>
            <a:ext cx="1975407" cy="3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Ordering numbers using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1600\ \times\frac{1}{10^2}\ \ \ \ \ \ \ \ \ 160\ 000\ \times\frac{1}{10^{-4}}\ \ \ &quot;&gt;&lt;mn&gt;1600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160&lt;/mn&gt;&lt;mtext&gt;&lt;/mtext&gt;&lt;mn&gt;000&lt;/mn&gt;&lt;mtext&gt;&lt;/mtext&gt;&lt;mo&gt;×&lt;/mo&gt;&lt;mfrac&gt;&lt;mn&gt;1&lt;/mn&gt;&lt;msup&gt;&lt;mn&gt;10&lt;/mn&gt;&lt;mrow data-mjx-texclass=&quot;ORD&quot;&gt;&lt;mo&gt;−&lt;/mo&gt;&lt;mn&gt;4&lt;/mn&gt;&lt;/mrow&gt;&lt;/msup&gt;&lt;/mfrac&gt;&lt;mtext&gt;&lt;/mtext&gt;&lt;mtext&gt;&lt;/mtext&gt;&lt;mtext&gt;&lt;/mtext&gt;&lt;/math&gt;" id="223" name="Google Shape;223;p21" title="1600 times the fraction with numerator 1 and denominator 10 squared 160 000 times the fraction with numerator 1 and denominator 10 to the negative 4 power"/>
          <p:cNvSpPr txBox="1"/>
          <p:nvPr/>
        </p:nvSpPr>
        <p:spPr>
          <a:xfrm>
            <a:off x="400200" y="835500"/>
            <a:ext cx="669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Using inequalities, &lt;, &gt; or =, compare the sizes if each number,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making sure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your working out.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78\ 000\times0.001\ \ \ \ \ \ \ 99\ \times10^2\ \ \ \ \ &quot;&gt;&lt;mn&gt;78&lt;/mn&gt;&lt;mtext&gt;&lt;/mtext&gt;&lt;mn&gt;000&lt;/mn&gt;&lt;mo&gt;×&lt;/mo&gt;&lt;mn&gt;0.001&lt;/mn&gt;&lt;mtext&gt;&lt;/mtext&gt;&lt;mtext&gt;&lt;/mtext&gt;&lt;mtext&gt;&lt;/mtext&gt;&lt;mtext&gt;&lt;/mtext&gt;&lt;mtext&gt;&lt;/mtext&gt;&lt;mtext&gt;&lt;/mtext&gt;&lt;mtext&gt;&lt;/mtext&gt;&lt;mn&gt;99&lt;/mn&gt;&lt;mtext&gt;&lt;/mtext&gt;&lt;mo&gt;×&lt;/mo&gt;&lt;msup&gt;&lt;mn&gt;10&lt;/mn&gt;&lt;mn&gt;2&lt;/mn&gt;&lt;/msup&gt;&lt;mtext&gt;&lt;/mtext&gt;&lt;mtext&gt;&lt;/mtext&gt;&lt;mtext&gt;&lt;/mtext&gt;&lt;mtext&gt;&lt;/mtext&gt;&lt;mtext&gt;&lt;/mtext&gt;&lt;/math&gt;" id="224" name="Google Shape;224;p21" title="78 000 times 0.001 99 times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75" y="1747956"/>
            <a:ext cx="2081341" cy="17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6">
            <a:alphaModFix/>
          </a:blip>
          <a:srcRect b="0" l="0" r="48464" t="0"/>
          <a:stretch/>
        </p:blipFill>
        <p:spPr>
          <a:xfrm>
            <a:off x="736075" y="2520192"/>
            <a:ext cx="1210053" cy="3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476406" y="1335375"/>
            <a:ext cx="2391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600\ \times\frac{1}{10^2}\ \ \ \ \ \ \ \ \ 160\ 000\ \times\frac{1}{10^4}\ \ \ &quot;&gt;&lt;mn&gt;1600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160&lt;/mn&gt;&lt;mtext&gt;&lt;/mtext&gt;&lt;mn&gt;000&lt;/mn&gt;&lt;mtext&gt;&lt;/mtext&gt;&lt;mo&gt;×&lt;/mo&gt;&lt;mfrac&gt;&lt;mn&gt;1&lt;/mn&gt;&lt;msup&gt;&lt;mn&gt;10&lt;/mn&gt;&lt;mn&gt;4&lt;/mn&gt;&lt;/msup&gt;&lt;/mfrac&gt;&lt;mtext&gt;&lt;/mtext&gt;&lt;mtext&gt;&lt;/mtext&gt;&lt;mtext&gt;&lt;/mtext&gt;&lt;/math&gt;" id="227" name="Google Shape;227;p21" title="1600 times the fraction with numerator 1 and denominator 10 squared 160 000 times the fraction with numerator 1 and denominator 10 to the fourth power"/>
          <p:cNvPicPr preferRelativeResize="0"/>
          <p:nvPr/>
        </p:nvPicPr>
        <p:blipFill rotWithShape="1">
          <a:blip r:embed="rId7">
            <a:alphaModFix/>
          </a:blip>
          <a:srcRect b="0" l="51781" r="0" t="0"/>
          <a:stretch/>
        </p:blipFill>
        <p:spPr>
          <a:xfrm>
            <a:off x="1908278" y="2520192"/>
            <a:ext cx="1092797" cy="3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76400" y="327390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By working out the number, write in standard form and order the original form given in the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6400" y="3719250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1"/>
          <p:cNvGrpSpPr/>
          <p:nvPr/>
        </p:nvGrpSpPr>
        <p:grpSpPr>
          <a:xfrm>
            <a:off x="1642225" y="3723125"/>
            <a:ext cx="4223769" cy="382825"/>
            <a:chOff x="1642225" y="3418325"/>
            <a:chExt cx="4223769" cy="382825"/>
          </a:xfrm>
        </p:grpSpPr>
        <p:pic>
          <p:nvPicPr>
            <p:cNvPr descr="&lt;math xmlns=&quot;http://www.w3.org/1998/Math/MathML&quot; display=&quot;block&quot; data-is-equatio=&quot;1&quot; data-latex=&quot;3.8\ \times0.001\ \ \ \ \ \ \ 7900\ \times10^{-4}\ \ \ \ \ \ \ 7.8\ \times\frac{1}{10^2}\ \ \ \ \ \ \ \ \ 800\ \times\frac{1}{10^{-2}}&quot;&gt;&lt;mn&gt;3.8&lt;/mn&gt;&lt;mtext&gt;&lt;/mtext&gt;&lt;mo&gt;×&lt;/mo&gt;&lt;mn&gt;0.001&lt;/mn&gt;&lt;mtext&gt;&lt;/mtext&gt;&lt;mtext&gt;&lt;/mtext&gt;&lt;mtext&gt;&lt;/mtext&gt;&lt;mtext&gt;&lt;/mtext&gt;&lt;mtext&gt;&lt;/mtext&gt;&lt;mtext&gt;&lt;/mtext&gt;&lt;mtext&gt;&lt;/mtext&gt;&lt;mn&gt;7900&lt;/mn&gt;&lt;mtext&gt;&lt;/mtext&gt;&lt;mo&gt;×&lt;/mo&gt;&lt;msup&gt;&lt;mn&gt;10&lt;/mn&gt;&lt;mrow data-mjx-texclass=&quot;ORD&quot;&gt;&lt;mo&gt;−&lt;/mo&gt;&lt;mn&gt;4&lt;/mn&gt;&lt;/mrow&gt;&lt;/msup&gt;&lt;mtext&gt;&lt;/mtext&gt;&lt;mtext&gt;&lt;/mtext&gt;&lt;mtext&gt;&lt;/mtext&gt;&lt;mtext&gt;&lt;/mtext&gt;&lt;mtext&gt;&lt;/mtext&gt;&lt;mtext&gt;&lt;/mtext&gt;&lt;mtext&gt;&lt;/mtext&gt;&lt;mn&gt;7.8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8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231" name="Google Shape;231;p21" title="3.8 times 0.001 7900 times 10 to the negative 4 power 7.8 times the fraction with numerator 1 and denominator 10 squared 800 times the fraction with numerator 1 and denominator 10 to the negative 2 power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642225" y="3418325"/>
              <a:ext cx="4223769" cy="382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1"/>
            <p:cNvSpPr/>
            <p:nvPr/>
          </p:nvSpPr>
          <p:spPr>
            <a:xfrm>
              <a:off x="5708650" y="3621625"/>
              <a:ext cx="60000" cy="13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3" name="Google Shape;233;p21"/>
          <p:cNvSpPr txBox="1"/>
          <p:nvPr/>
        </p:nvSpPr>
        <p:spPr>
          <a:xfrm>
            <a:off x="476400" y="5738550"/>
            <a:ext cx="38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367425" y="5643350"/>
            <a:ext cx="4488799" cy="383500"/>
            <a:chOff x="1367425" y="4652750"/>
            <a:chExt cx="4488799" cy="383500"/>
          </a:xfrm>
        </p:grpSpPr>
        <p:pic>
          <p:nvPicPr>
            <p:cNvPr descr="&lt;math xmlns=&quot;http://www.w3.org/1998/Math/MathML&quot; display=&quot;block&quot; data-is-equatio=&quot;1&quot; data-latex=&quot;920\ \times0.0001\ \ \ \ \ \ \ 92\ 100\ \times10^{-3}\ \ \ \ \ \ \ 9.8\ \times\frac{1}{10^{ }}\ \ \ \ \ \ \ \ \ 9100\ \times\frac{1}{10^{-2}}&quot;&gt;&lt;mn&gt;920&lt;/mn&gt;&lt;mtext&gt;&lt;/mtext&gt;&lt;mo&gt;×&lt;/mo&gt;&lt;mn&gt;0.0001&lt;/mn&gt;&lt;mtext&gt;&lt;/mtext&gt;&lt;mtext&gt;&lt;/mtext&gt;&lt;mtext&gt;&lt;/mtext&gt;&lt;mtext&gt;&lt;/mtext&gt;&lt;mtext&gt;&lt;/mtext&gt;&lt;mtext&gt;&lt;/mtext&gt;&lt;mtext&gt;&lt;/mtext&gt;&lt;mn&gt;92&lt;/mn&gt;&lt;mtext&gt;&lt;/mtext&gt;&lt;mn&gt;100&lt;/mn&gt;&lt;mtext&gt;&lt;/mtext&gt;&lt;mo&gt;×&lt;/mo&gt;&lt;msup&gt;&lt;mn&gt;10&lt;/mn&gt;&lt;mrow data-mjx-texclass=&quot;ORD&quot;&gt;&lt;mo&gt;−&lt;/mo&gt;&lt;mn&gt;3&lt;/mn&gt;&lt;/mrow&gt;&lt;/msup&gt;&lt;mtext&gt;&lt;/mtext&gt;&lt;mtext&gt;&lt;/mtext&gt;&lt;mtext&gt;&lt;/mtext&gt;&lt;mtext&gt;&lt;/mtext&gt;&lt;mtext&gt;&lt;/mtext&gt;&lt;mtext&gt;&lt;/mtext&gt;&lt;mtext&gt;&lt;/mtext&gt;&lt;mn&gt;9.8&lt;/mn&gt;&lt;mtext&gt;&lt;/mtext&gt;&lt;mo&gt;×&lt;/mo&gt;&lt;mfrac&gt;&lt;mn&gt;1&lt;/mn&gt;&lt;msup&gt;&lt;mn&gt;10&lt;/mn&gt;&lt;mrow data-mjx-texclass=&quot;ORD&quot;/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91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235" name="Google Shape;235;p21" title="920 times 0.0001 92 100 times 10 to the negative 3 power 9.8 times the fraction with numerator 1 and denominator 10 raised to the power 9100 times the fraction with numerator 1 and denominator 10 to the negative 2 power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67425" y="4652750"/>
              <a:ext cx="4488799" cy="38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1"/>
            <p:cNvSpPr/>
            <p:nvPr/>
          </p:nvSpPr>
          <p:spPr>
            <a:xfrm>
              <a:off x="5702300" y="4872575"/>
              <a:ext cx="60000" cy="13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7" name="Google Shape;237;p21"/>
          <p:cNvSpPr txBox="1"/>
          <p:nvPr/>
        </p:nvSpPr>
        <p:spPr>
          <a:xfrm>
            <a:off x="476400" y="7757850"/>
            <a:ext cx="1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10375" y="7769474"/>
            <a:ext cx="4155677" cy="3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