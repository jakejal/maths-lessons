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46D18D-6A89-4E7C-B28E-2C4720830B4B}">
  <a:tblStyle styleId="{0D46D18D-6A89-4E7C-B28E-2C4720830B4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b14b9bd3d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2b14b9bd3d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68b5bb91a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68b5bb91a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68b5bb91a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268b5bb91a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268b5bb91a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268b5bb91a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68b5bb91a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68b5bb91a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268b5bb91a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268b5bb91a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b84098102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1" name="Google Shape;891;g2b84098102b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2b84098102b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0" name="Google Shape;910;g2b84098102b_1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2b84098102b_1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7" name="Google Shape;927;g2b84098102b_1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2b84098102b_1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1" name="Google Shape;971;g2b84098102b_1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2b84098102b_1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2" name="Google Shape;982;g2b84098102b_1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2b84098102b_1_12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4" name="Google Shape;994;g2b84098102b_1_1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2b84098102b_1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1" name="Google Shape;1021;g2b84098102b_1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b84098102b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9" name="Google Shape;1049;g2b84098102b_1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2b84098102b_1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2" name="Google Shape;1072;g2b84098102b_1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2b84098102b_1_2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0" name="Google Shape;1100;g2b84098102b_1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2b84098102b_1_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7" name="Google Shape;1117;g2b84098102b_1_2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2b84098102b_1_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4" name="Google Shape;1134;g2b84098102b_1_2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2b84098102b_1_2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5" name="Google Shape;1175;g2b84098102b_1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2b84098102b_1_2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2" name="Google Shape;1202;g2b84098102b_1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2b84098102b_1_2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3" name="Google Shape;1213;g2b84098102b_1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2b84098102b_1_3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0" name="Google Shape;1230;g2b84098102b_1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2b84098102b_1_3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7" name="Google Shape;1257;g2b84098102b_1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2b84098102b_1_3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8" name="Google Shape;1288;g2b84098102b_1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2b84098102b_1_3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5" name="Google Shape;1305;g2b84098102b_1_3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2b84098102b_1_14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9" name="Google Shape;1319;g2b84098102b_1_14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2b84098102b_1_14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4" name="Google Shape;1374;g2b84098102b_1_1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2b84098102b_3_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6" name="Google Shape;1396;g2b84098102b_3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2b84098102b_1_14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8" name="Google Shape;1418;g2b84098102b_1_14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2b84098102b_1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3" name="Google Shape;1433;g2b84098102b_1_3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2b84098102b_1_3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1" name="Google Shape;1441;g2b84098102b_1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2b84098102b_1_4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3" name="Google Shape;1453;g2b84098102b_1_4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2b84098102b_2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7" name="Google Shape;1467;g2b84098102b_2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2b84098102b_2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7" name="Google Shape;1487;g2b84098102b_2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2b84098102b_1_4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6" name="Google Shape;1536;g2b84098102b_1_4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2b84098102b_1_4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8" name="Google Shape;1548;g2b84098102b_1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g2b84098102b_3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0" name="Google Shape;1560;g2b84098102b_3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2b84098102b_3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0" name="Google Shape;1580;g2b84098102b_3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g2b84098102b_3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8" name="Google Shape;1598;g2b84098102b_3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g2b84098102b_3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5" name="Google Shape;1615;g2b84098102b_3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g2b84098102b_1_4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1" name="Google Shape;1631;g2b84098102b_1_4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23.png"/><Relationship Id="rId7"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1.png"/><Relationship Id="rId4" Type="http://schemas.openxmlformats.org/officeDocument/2006/relationships/image" Target="../media/image103.png"/><Relationship Id="rId5" Type="http://schemas.openxmlformats.org/officeDocument/2006/relationships/image" Target="../media/image22.png"/><Relationship Id="rId6" Type="http://schemas.openxmlformats.org/officeDocument/2006/relationships/image" Target="../media/image31.png"/><Relationship Id="rId7"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103.png"/><Relationship Id="rId4" Type="http://schemas.openxmlformats.org/officeDocument/2006/relationships/image" Target="../media/image26.png"/><Relationship Id="rId9"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29.png"/><Relationship Id="rId7" Type="http://schemas.openxmlformats.org/officeDocument/2006/relationships/image" Target="../media/image22.png"/><Relationship Id="rId8" Type="http://schemas.openxmlformats.org/officeDocument/2006/relationships/image" Target="../media/image3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103.png"/><Relationship Id="rId4" Type="http://schemas.openxmlformats.org/officeDocument/2006/relationships/image" Target="../media/image30.png"/><Relationship Id="rId11" Type="http://schemas.openxmlformats.org/officeDocument/2006/relationships/image" Target="../media/image18.png"/><Relationship Id="rId10" Type="http://schemas.openxmlformats.org/officeDocument/2006/relationships/image" Target="../media/image35.png"/><Relationship Id="rId9" Type="http://schemas.openxmlformats.org/officeDocument/2006/relationships/image" Target="../media/image31.png"/><Relationship Id="rId5" Type="http://schemas.openxmlformats.org/officeDocument/2006/relationships/image" Target="../media/image26.png"/><Relationship Id="rId6" Type="http://schemas.openxmlformats.org/officeDocument/2006/relationships/image" Target="../media/image21.png"/><Relationship Id="rId7" Type="http://schemas.openxmlformats.org/officeDocument/2006/relationships/image" Target="../media/image29.png"/><Relationship Id="rId8" Type="http://schemas.openxmlformats.org/officeDocument/2006/relationships/image" Target="../media/image2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4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image" Target="../media/image4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image" Target="../media/image4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6.png"/><Relationship Id="rId4" Type="http://schemas.openxmlformats.org/officeDocument/2006/relationships/image" Target="../media/image4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8.png"/><Relationship Id="rId4" Type="http://schemas.openxmlformats.org/officeDocument/2006/relationships/image" Target="../media/image40.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5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5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5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5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1.png"/><Relationship Id="rId4" Type="http://schemas.openxmlformats.org/officeDocument/2006/relationships/image" Target="../media/image103.png"/><Relationship Id="rId5" Type="http://schemas.openxmlformats.org/officeDocument/2006/relationships/image" Target="../media/image22.png"/><Relationship Id="rId6" Type="http://schemas.openxmlformats.org/officeDocument/2006/relationships/image" Target="../media/image31.png"/><Relationship Id="rId7" Type="http://schemas.openxmlformats.org/officeDocument/2006/relationships/image" Target="../media/image1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2" name="Shape 742"/>
        <p:cNvGrpSpPr/>
        <p:nvPr/>
      </p:nvGrpSpPr>
      <p:grpSpPr>
        <a:xfrm>
          <a:off x="0" y="0"/>
          <a:ext cx="0" cy="0"/>
          <a:chOff x="0" y="0"/>
          <a:chExt cx="0" cy="0"/>
        </a:xfrm>
      </p:grpSpPr>
      <p:sp>
        <p:nvSpPr>
          <p:cNvPr id="743" name="Google Shape;743;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4" name="Google Shape;744;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5" name="Google Shape;745;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6" name="Google Shape;746;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7" name="Google Shape;747;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1">
  <p:cSld name="TITLE_AND_TWO_COLUMNS_1_1_5_1_3_1_1_2">
    <p:spTree>
      <p:nvGrpSpPr>
        <p:cNvPr id="749" name="Shape 749"/>
        <p:cNvGrpSpPr/>
        <p:nvPr/>
      </p:nvGrpSpPr>
      <p:grpSpPr>
        <a:xfrm>
          <a:off x="0" y="0"/>
          <a:ext cx="0" cy="0"/>
          <a:chOff x="0" y="0"/>
          <a:chExt cx="0" cy="0"/>
        </a:xfrm>
      </p:grpSpPr>
      <p:pic>
        <p:nvPicPr>
          <p:cNvPr id="750" name="Google Shape;750;p63"/>
          <p:cNvPicPr preferRelativeResize="0"/>
          <p:nvPr/>
        </p:nvPicPr>
        <p:blipFill rotWithShape="1">
          <a:blip r:embed="rId2">
            <a:alphaModFix/>
          </a:blip>
          <a:srcRect b="0" l="0" r="0" t="0"/>
          <a:stretch/>
        </p:blipFill>
        <p:spPr>
          <a:xfrm>
            <a:off x="0" y="532525"/>
            <a:ext cx="9151202" cy="116709"/>
          </a:xfrm>
          <a:prstGeom prst="rect">
            <a:avLst/>
          </a:prstGeom>
          <a:noFill/>
          <a:ln>
            <a:noFill/>
          </a:ln>
        </p:spPr>
      </p:pic>
      <p:sp>
        <p:nvSpPr>
          <p:cNvPr id="751" name="Google Shape;75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6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pic>
        <p:nvPicPr>
          <p:cNvPr id="753" name="Google Shape;753;p6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4" name="Google Shape;75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
        <p:nvSpPr>
          <p:cNvPr id="755" name="Google Shape;755;p63"/>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rtl="0" algn="l">
              <a:lnSpc>
                <a:spcPct val="100000"/>
              </a:lnSpc>
              <a:spcBef>
                <a:spcPts val="0"/>
              </a:spcBef>
              <a:spcAft>
                <a:spcPts val="0"/>
              </a:spcAft>
              <a:buClr>
                <a:schemeClr val="lt1"/>
              </a:buClr>
              <a:buSzPts val="1800"/>
              <a:buNone/>
              <a:defRPr b="0" sz="1800">
                <a:solidFill>
                  <a:schemeClr val="lt1"/>
                </a:solidFill>
              </a:defRPr>
            </a:lvl1pPr>
            <a:lvl2pPr lvl="1" rtl="0" algn="l">
              <a:lnSpc>
                <a:spcPct val="100000"/>
              </a:lnSpc>
              <a:spcBef>
                <a:spcPts val="0"/>
              </a:spcBef>
              <a:spcAft>
                <a:spcPts val="0"/>
              </a:spcAft>
              <a:buClr>
                <a:schemeClr val="lt1"/>
              </a:buClr>
              <a:buSzPts val="1800"/>
              <a:buNone/>
              <a:defRPr sz="1800">
                <a:solidFill>
                  <a:schemeClr val="lt1"/>
                </a:solidFill>
              </a:defRPr>
            </a:lvl2pPr>
            <a:lvl3pPr lvl="2" rtl="0" algn="l">
              <a:lnSpc>
                <a:spcPct val="100000"/>
              </a:lnSpc>
              <a:spcBef>
                <a:spcPts val="0"/>
              </a:spcBef>
              <a:spcAft>
                <a:spcPts val="0"/>
              </a:spcAft>
              <a:buClr>
                <a:schemeClr val="lt1"/>
              </a:buClr>
              <a:buSzPts val="1800"/>
              <a:buNone/>
              <a:defRPr sz="1800">
                <a:solidFill>
                  <a:schemeClr val="lt1"/>
                </a:solidFill>
              </a:defRPr>
            </a:lvl3pPr>
            <a:lvl4pPr lvl="3" rtl="0" algn="l">
              <a:lnSpc>
                <a:spcPct val="100000"/>
              </a:lnSpc>
              <a:spcBef>
                <a:spcPts val="0"/>
              </a:spcBef>
              <a:spcAft>
                <a:spcPts val="0"/>
              </a:spcAft>
              <a:buClr>
                <a:schemeClr val="lt1"/>
              </a:buClr>
              <a:buSzPts val="1800"/>
              <a:buNone/>
              <a:defRPr sz="1800">
                <a:solidFill>
                  <a:schemeClr val="lt1"/>
                </a:solidFill>
              </a:defRPr>
            </a:lvl4pPr>
            <a:lvl5pPr lvl="4" rtl="0" algn="l">
              <a:lnSpc>
                <a:spcPct val="100000"/>
              </a:lnSpc>
              <a:spcBef>
                <a:spcPts val="0"/>
              </a:spcBef>
              <a:spcAft>
                <a:spcPts val="0"/>
              </a:spcAft>
              <a:buClr>
                <a:schemeClr val="lt1"/>
              </a:buClr>
              <a:buSzPts val="1800"/>
              <a:buNone/>
              <a:defRPr sz="1800">
                <a:solidFill>
                  <a:schemeClr val="lt1"/>
                </a:solidFill>
              </a:defRPr>
            </a:lvl5pPr>
            <a:lvl6pPr lvl="5" rtl="0" algn="l">
              <a:lnSpc>
                <a:spcPct val="100000"/>
              </a:lnSpc>
              <a:spcBef>
                <a:spcPts val="0"/>
              </a:spcBef>
              <a:spcAft>
                <a:spcPts val="0"/>
              </a:spcAft>
              <a:buClr>
                <a:schemeClr val="lt1"/>
              </a:buClr>
              <a:buSzPts val="1800"/>
              <a:buNone/>
              <a:defRPr sz="1800">
                <a:solidFill>
                  <a:schemeClr val="lt1"/>
                </a:solidFill>
              </a:defRPr>
            </a:lvl6pPr>
            <a:lvl7pPr lvl="6" rtl="0" algn="l">
              <a:lnSpc>
                <a:spcPct val="100000"/>
              </a:lnSpc>
              <a:spcBef>
                <a:spcPts val="0"/>
              </a:spcBef>
              <a:spcAft>
                <a:spcPts val="0"/>
              </a:spcAft>
              <a:buClr>
                <a:schemeClr val="lt1"/>
              </a:buClr>
              <a:buSzPts val="1800"/>
              <a:buNone/>
              <a:defRPr sz="1800">
                <a:solidFill>
                  <a:schemeClr val="lt1"/>
                </a:solidFill>
              </a:defRPr>
            </a:lvl7pPr>
            <a:lvl8pPr lvl="7" rtl="0" algn="l">
              <a:lnSpc>
                <a:spcPct val="100000"/>
              </a:lnSpc>
              <a:spcBef>
                <a:spcPts val="0"/>
              </a:spcBef>
              <a:spcAft>
                <a:spcPts val="0"/>
              </a:spcAft>
              <a:buClr>
                <a:schemeClr val="lt1"/>
              </a:buClr>
              <a:buSzPts val="1800"/>
              <a:buNone/>
              <a:defRPr sz="1800">
                <a:solidFill>
                  <a:schemeClr val="lt1"/>
                </a:solidFill>
              </a:defRPr>
            </a:lvl8pPr>
            <a:lvl9pPr lvl="8" rtl="0" algn="l">
              <a:lnSpc>
                <a:spcPct val="100000"/>
              </a:lnSpc>
              <a:spcBef>
                <a:spcPts val="0"/>
              </a:spcBef>
              <a:spcAft>
                <a:spcPts val="0"/>
              </a:spcAft>
              <a:buClr>
                <a:schemeClr val="lt1"/>
              </a:buClr>
              <a:buSzPts val="1800"/>
              <a:buNone/>
              <a:defRPr sz="1800">
                <a:solidFill>
                  <a:schemeClr val="lt1"/>
                </a:solidFill>
              </a:defRPr>
            </a:lvl9pPr>
          </a:lstStyle>
          <a:p/>
        </p:txBody>
      </p:sp>
      <p:sp>
        <p:nvSpPr>
          <p:cNvPr id="756" name="Google Shape;75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Lexend"/>
                <a:ea typeface="Lexend"/>
                <a:cs typeface="Lexend"/>
                <a:sym typeface="Lexend"/>
              </a:rPr>
              <a:t>Task A</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1">
  <p:cSld name="CUSTOM_3_3">
    <p:spTree>
      <p:nvGrpSpPr>
        <p:cNvPr id="757" name="Shape 757"/>
        <p:cNvGrpSpPr/>
        <p:nvPr/>
      </p:nvGrpSpPr>
      <p:grpSpPr>
        <a:xfrm>
          <a:off x="0" y="0"/>
          <a:ext cx="0" cy="0"/>
          <a:chOff x="0" y="0"/>
          <a:chExt cx="0" cy="0"/>
        </a:xfrm>
      </p:grpSpPr>
      <p:sp>
        <p:nvSpPr>
          <p:cNvPr id="758" name="Google Shape;758;p64"/>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59" name="Google Shape;759;p64"/>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760" name="Google Shape;760;p64"/>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761" name="Google Shape;761;p64"/>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762" name="Google Shape;762;p64"/>
          <p:cNvCxnSpPr>
            <a:endCxn id="763" idx="2"/>
          </p:cNvCxnSpPr>
          <p:nvPr/>
        </p:nvCxnSpPr>
        <p:spPr>
          <a:xfrm flipH="1">
            <a:off x="645063" y="2017282"/>
            <a:ext cx="2700" cy="1480500"/>
          </a:xfrm>
          <a:prstGeom prst="straightConnector1">
            <a:avLst/>
          </a:prstGeom>
          <a:noFill/>
          <a:ln cap="flat" cmpd="sng" w="38100">
            <a:solidFill>
              <a:srgbClr val="282828"/>
            </a:solidFill>
            <a:prstDash val="solid"/>
            <a:round/>
            <a:headEnd len="sm" w="sm" type="none"/>
            <a:tailEnd len="sm" w="sm" type="none"/>
          </a:ln>
        </p:spPr>
      </p:cxnSp>
      <p:pic>
        <p:nvPicPr>
          <p:cNvPr id="764" name="Google Shape;764;p64"/>
          <p:cNvPicPr preferRelativeResize="0"/>
          <p:nvPr/>
        </p:nvPicPr>
        <p:blipFill rotWithShape="1">
          <a:blip r:embed="rId5">
            <a:alphaModFix/>
          </a:blip>
          <a:srcRect b="0" l="0" r="0" t="0"/>
          <a:stretch/>
        </p:blipFill>
        <p:spPr>
          <a:xfrm>
            <a:off x="363482" y="1993619"/>
            <a:ext cx="563185" cy="572092"/>
          </a:xfrm>
          <a:prstGeom prst="rect">
            <a:avLst/>
          </a:prstGeom>
          <a:noFill/>
          <a:ln>
            <a:noFill/>
          </a:ln>
        </p:spPr>
      </p:pic>
      <p:sp>
        <p:nvSpPr>
          <p:cNvPr id="765" name="Google Shape;765;p64"/>
          <p:cNvSpPr txBox="1"/>
          <p:nvPr>
            <p:ph type="title"/>
          </p:nvPr>
        </p:nvSpPr>
        <p:spPr>
          <a:xfrm>
            <a:off x="1225225" y="2090813"/>
            <a:ext cx="6852300" cy="3693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sp>
        <p:nvSpPr>
          <p:cNvPr id="766" name="Google Shape;766;p64"/>
          <p:cNvSpPr txBox="1"/>
          <p:nvPr>
            <p:ph idx="2" type="title"/>
          </p:nvPr>
        </p:nvSpPr>
        <p:spPr>
          <a:xfrm>
            <a:off x="1225225" y="3027088"/>
            <a:ext cx="6852300" cy="3693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pic>
        <p:nvPicPr>
          <p:cNvPr id="763" name="Google Shape;763;p64"/>
          <p:cNvPicPr preferRelativeResize="0"/>
          <p:nvPr/>
        </p:nvPicPr>
        <p:blipFill rotWithShape="1">
          <a:blip r:embed="rId6">
            <a:alphaModFix/>
          </a:blip>
          <a:srcRect b="0" l="0" r="0" t="0"/>
          <a:stretch/>
        </p:blipFill>
        <p:spPr>
          <a:xfrm>
            <a:off x="363340" y="2925705"/>
            <a:ext cx="563446" cy="572077"/>
          </a:xfrm>
          <a:prstGeom prst="rect">
            <a:avLst/>
          </a:prstGeom>
          <a:noFill/>
          <a:ln>
            <a:noFill/>
          </a:ln>
        </p:spPr>
      </p:pic>
      <p:pic>
        <p:nvPicPr>
          <p:cNvPr id="767" name="Google Shape;767;p64"/>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768" name="Google Shape;768;p64"/>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Lexend"/>
                <a:ea typeface="Lexend"/>
                <a:cs typeface="Lexend"/>
                <a:sym typeface="Lexend"/>
              </a:rPr>
              <a:t>Lesson outline</a:t>
            </a:r>
            <a:endParaRPr b="1" i="0" sz="2000" u="none" cap="none" strike="noStrike">
              <a:solidFill>
                <a:schemeClr val="dk1"/>
              </a:solidFill>
              <a:latin typeface="Lexend"/>
              <a:ea typeface="Lexend"/>
              <a:cs typeface="Lexend"/>
              <a:sym typeface="Lexend"/>
            </a:endParaRPr>
          </a:p>
        </p:txBody>
      </p:sp>
      <p:sp>
        <p:nvSpPr>
          <p:cNvPr id="769" name="Google Shape;769;p64"/>
          <p:cNvSpPr txBox="1"/>
          <p:nvPr>
            <p:ph idx="3" type="title"/>
          </p:nvPr>
        </p:nvSpPr>
        <p:spPr>
          <a:xfrm>
            <a:off x="324000" y="657600"/>
            <a:ext cx="5741400" cy="6156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Font typeface="Lexend"/>
              <a:buNone/>
              <a:defRPr b="0" sz="1800">
                <a:latin typeface="Lexend"/>
                <a:ea typeface="Lexend"/>
                <a:cs typeface="Lexend"/>
                <a:sym typeface="Lexend"/>
              </a:defRPr>
            </a:lvl1pPr>
            <a:lvl2pPr lvl="1" rtl="0" algn="l">
              <a:lnSpc>
                <a:spcPct val="100000"/>
              </a:lnSpc>
              <a:spcBef>
                <a:spcPts val="0"/>
              </a:spcBef>
              <a:spcAft>
                <a:spcPts val="0"/>
              </a:spcAft>
              <a:buSzPts val="1800"/>
              <a:buNone/>
              <a:defRPr sz="1800"/>
            </a:lvl2pPr>
            <a:lvl3pPr lvl="2" rtl="0" algn="l">
              <a:lnSpc>
                <a:spcPct val="100000"/>
              </a:lnSpc>
              <a:spcBef>
                <a:spcPts val="0"/>
              </a:spcBef>
              <a:spcAft>
                <a:spcPts val="0"/>
              </a:spcAft>
              <a:buSzPts val="1800"/>
              <a:buNone/>
              <a:defRPr sz="1800"/>
            </a:lvl3pPr>
            <a:lvl4pPr lvl="3" rtl="0" algn="l">
              <a:lnSpc>
                <a:spcPct val="100000"/>
              </a:lnSpc>
              <a:spcBef>
                <a:spcPts val="0"/>
              </a:spcBef>
              <a:spcAft>
                <a:spcPts val="0"/>
              </a:spcAft>
              <a:buSzPts val="1800"/>
              <a:buNone/>
              <a:defRPr sz="1800"/>
            </a:lvl4pPr>
            <a:lvl5pPr lvl="4" rtl="0" algn="l">
              <a:lnSpc>
                <a:spcPct val="100000"/>
              </a:lnSpc>
              <a:spcBef>
                <a:spcPts val="0"/>
              </a:spcBef>
              <a:spcAft>
                <a:spcPts val="0"/>
              </a:spcAft>
              <a:buSzPts val="1800"/>
              <a:buNone/>
              <a:defRPr sz="1800"/>
            </a:lvl5pPr>
            <a:lvl6pPr lvl="5" rtl="0" algn="l">
              <a:lnSpc>
                <a:spcPct val="100000"/>
              </a:lnSpc>
              <a:spcBef>
                <a:spcPts val="0"/>
              </a:spcBef>
              <a:spcAft>
                <a:spcPts val="0"/>
              </a:spcAft>
              <a:buSzPts val="1800"/>
              <a:buNone/>
              <a:defRPr sz="1800"/>
            </a:lvl6pPr>
            <a:lvl7pPr lvl="6" rtl="0" algn="l">
              <a:lnSpc>
                <a:spcPct val="100000"/>
              </a:lnSpc>
              <a:spcBef>
                <a:spcPts val="0"/>
              </a:spcBef>
              <a:spcAft>
                <a:spcPts val="0"/>
              </a:spcAft>
              <a:buSzPts val="1800"/>
              <a:buNone/>
              <a:defRPr sz="1800"/>
            </a:lvl7pPr>
            <a:lvl8pPr lvl="7" rtl="0" algn="l">
              <a:lnSpc>
                <a:spcPct val="100000"/>
              </a:lnSpc>
              <a:spcBef>
                <a:spcPts val="0"/>
              </a:spcBef>
              <a:spcAft>
                <a:spcPts val="0"/>
              </a:spcAft>
              <a:buSzPts val="1800"/>
              <a:buNone/>
              <a:defRPr sz="1800"/>
            </a:lvl8pPr>
            <a:lvl9pPr lvl="8" rtl="0" algn="l">
              <a:lnSpc>
                <a:spcPct val="100000"/>
              </a:lnSpc>
              <a:spcBef>
                <a:spcPts val="0"/>
              </a:spcBef>
              <a:spcAft>
                <a:spcPts val="0"/>
              </a:spcAft>
              <a:buSzPts val="1800"/>
              <a:buNone/>
              <a:defRPr sz="18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1">
  <p:cSld name="TITLE_AND_TWO_COLUMNS_1_1_5_1_3_1_1_1_1_3">
    <p:spTree>
      <p:nvGrpSpPr>
        <p:cNvPr id="770" name="Shape 770"/>
        <p:cNvGrpSpPr/>
        <p:nvPr/>
      </p:nvGrpSpPr>
      <p:grpSpPr>
        <a:xfrm>
          <a:off x="0" y="0"/>
          <a:ext cx="0" cy="0"/>
          <a:chOff x="0" y="0"/>
          <a:chExt cx="0" cy="0"/>
        </a:xfrm>
      </p:grpSpPr>
      <p:pic>
        <p:nvPicPr>
          <p:cNvPr id="771" name="Google Shape;771;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2" name="Google Shape;772;p6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65"/>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74" name="Google Shape;774;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6F2F2"/>
                </a:solidFill>
                <a:latin typeface="Lexend"/>
                <a:ea typeface="Lexend"/>
                <a:cs typeface="Lexend"/>
                <a:sym typeface="Lexend"/>
              </a:rPr>
              <a:t>Practice</a:t>
            </a:r>
            <a:endParaRPr b="1" i="0" sz="900" u="none" cap="none" strike="noStrike">
              <a:solidFill>
                <a:srgbClr val="E6F2F2"/>
              </a:solidFill>
              <a:latin typeface="Lexend"/>
              <a:ea typeface="Lexend"/>
              <a:cs typeface="Lexend"/>
              <a:sym typeface="Lexend"/>
            </a:endParaRPr>
          </a:p>
        </p:txBody>
      </p:sp>
      <p:pic>
        <p:nvPicPr>
          <p:cNvPr id="775" name="Google Shape;775;p6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76" name="Google Shape;776;p65"/>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lvl1pPr lvl="0" rtl="0" algn="l">
              <a:lnSpc>
                <a:spcPct val="100000"/>
              </a:lnSpc>
              <a:spcBef>
                <a:spcPts val="0"/>
              </a:spcBef>
              <a:spcAft>
                <a:spcPts val="0"/>
              </a:spcAft>
              <a:buClr>
                <a:schemeClr val="lt1"/>
              </a:buClr>
              <a:buSzPts val="1800"/>
              <a:buNone/>
              <a:defRPr b="0" sz="1800">
                <a:solidFill>
                  <a:schemeClr val="lt1"/>
                </a:solidFill>
              </a:defRPr>
            </a:lvl1pPr>
            <a:lvl2pPr lvl="1" rtl="0" algn="l">
              <a:lnSpc>
                <a:spcPct val="100000"/>
              </a:lnSpc>
              <a:spcBef>
                <a:spcPts val="0"/>
              </a:spcBef>
              <a:spcAft>
                <a:spcPts val="0"/>
              </a:spcAft>
              <a:buClr>
                <a:schemeClr val="lt1"/>
              </a:buClr>
              <a:buSzPts val="1800"/>
              <a:buNone/>
              <a:defRPr sz="1800">
                <a:solidFill>
                  <a:schemeClr val="lt1"/>
                </a:solidFill>
              </a:defRPr>
            </a:lvl2pPr>
            <a:lvl3pPr lvl="2" rtl="0" algn="l">
              <a:lnSpc>
                <a:spcPct val="100000"/>
              </a:lnSpc>
              <a:spcBef>
                <a:spcPts val="0"/>
              </a:spcBef>
              <a:spcAft>
                <a:spcPts val="0"/>
              </a:spcAft>
              <a:buClr>
                <a:schemeClr val="lt1"/>
              </a:buClr>
              <a:buSzPts val="1800"/>
              <a:buNone/>
              <a:defRPr sz="1800">
                <a:solidFill>
                  <a:schemeClr val="lt1"/>
                </a:solidFill>
              </a:defRPr>
            </a:lvl3pPr>
            <a:lvl4pPr lvl="3" rtl="0" algn="l">
              <a:lnSpc>
                <a:spcPct val="100000"/>
              </a:lnSpc>
              <a:spcBef>
                <a:spcPts val="0"/>
              </a:spcBef>
              <a:spcAft>
                <a:spcPts val="0"/>
              </a:spcAft>
              <a:buClr>
                <a:schemeClr val="lt1"/>
              </a:buClr>
              <a:buSzPts val="1800"/>
              <a:buNone/>
              <a:defRPr sz="1800">
                <a:solidFill>
                  <a:schemeClr val="lt1"/>
                </a:solidFill>
              </a:defRPr>
            </a:lvl4pPr>
            <a:lvl5pPr lvl="4" rtl="0" algn="l">
              <a:lnSpc>
                <a:spcPct val="100000"/>
              </a:lnSpc>
              <a:spcBef>
                <a:spcPts val="0"/>
              </a:spcBef>
              <a:spcAft>
                <a:spcPts val="0"/>
              </a:spcAft>
              <a:buClr>
                <a:schemeClr val="lt1"/>
              </a:buClr>
              <a:buSzPts val="1800"/>
              <a:buNone/>
              <a:defRPr sz="1800">
                <a:solidFill>
                  <a:schemeClr val="lt1"/>
                </a:solidFill>
              </a:defRPr>
            </a:lvl5pPr>
            <a:lvl6pPr lvl="5" rtl="0" algn="l">
              <a:lnSpc>
                <a:spcPct val="100000"/>
              </a:lnSpc>
              <a:spcBef>
                <a:spcPts val="0"/>
              </a:spcBef>
              <a:spcAft>
                <a:spcPts val="0"/>
              </a:spcAft>
              <a:buClr>
                <a:schemeClr val="lt1"/>
              </a:buClr>
              <a:buSzPts val="1800"/>
              <a:buNone/>
              <a:defRPr sz="1800">
                <a:solidFill>
                  <a:schemeClr val="lt1"/>
                </a:solidFill>
              </a:defRPr>
            </a:lvl6pPr>
            <a:lvl7pPr lvl="6" rtl="0" algn="l">
              <a:lnSpc>
                <a:spcPct val="100000"/>
              </a:lnSpc>
              <a:spcBef>
                <a:spcPts val="0"/>
              </a:spcBef>
              <a:spcAft>
                <a:spcPts val="0"/>
              </a:spcAft>
              <a:buClr>
                <a:schemeClr val="lt1"/>
              </a:buClr>
              <a:buSzPts val="1800"/>
              <a:buNone/>
              <a:defRPr sz="1800">
                <a:solidFill>
                  <a:schemeClr val="lt1"/>
                </a:solidFill>
              </a:defRPr>
            </a:lvl7pPr>
            <a:lvl8pPr lvl="7" rtl="0" algn="l">
              <a:lnSpc>
                <a:spcPct val="100000"/>
              </a:lnSpc>
              <a:spcBef>
                <a:spcPts val="0"/>
              </a:spcBef>
              <a:spcAft>
                <a:spcPts val="0"/>
              </a:spcAft>
              <a:buClr>
                <a:schemeClr val="lt1"/>
              </a:buClr>
              <a:buSzPts val="1800"/>
              <a:buNone/>
              <a:defRPr sz="1800">
                <a:solidFill>
                  <a:schemeClr val="lt1"/>
                </a:solidFill>
              </a:defRPr>
            </a:lvl8pPr>
            <a:lvl9pPr lvl="8" rtl="0" algn="l">
              <a:lnSpc>
                <a:spcPct val="100000"/>
              </a:lnSpc>
              <a:spcBef>
                <a:spcPts val="0"/>
              </a:spcBef>
              <a:spcAft>
                <a:spcPts val="0"/>
              </a:spcAft>
              <a:buClr>
                <a:schemeClr val="lt1"/>
              </a:buClr>
              <a:buSzPts val="1800"/>
              <a:buNone/>
              <a:defRPr sz="1800">
                <a:solidFill>
                  <a:schemeClr val="lt1"/>
                </a:solidFill>
              </a:defRPr>
            </a:lvl9pPr>
          </a:lstStyle>
          <a:p/>
        </p:txBody>
      </p:sp>
      <p:sp>
        <p:nvSpPr>
          <p:cNvPr id="777" name="Google Shape;777;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Lexend"/>
                <a:ea typeface="Lexend"/>
                <a:cs typeface="Lexend"/>
                <a:sym typeface="Lexend"/>
              </a:rPr>
              <a:t>Task B</a:t>
            </a:r>
            <a:endParaRPr b="1" i="0" sz="2000" u="none" cap="none" strike="noStrike">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1">
  <p:cSld name="TITLE_AND_TWO_COLUMNS_1_1_5_1_2_1_1_1">
    <p:spTree>
      <p:nvGrpSpPr>
        <p:cNvPr id="778" name="Shape 778"/>
        <p:cNvGrpSpPr/>
        <p:nvPr/>
      </p:nvGrpSpPr>
      <p:grpSpPr>
        <a:xfrm>
          <a:off x="0" y="0"/>
          <a:ext cx="0" cy="0"/>
          <a:chOff x="0" y="0"/>
          <a:chExt cx="0" cy="0"/>
        </a:xfrm>
      </p:grpSpPr>
      <p:sp>
        <p:nvSpPr>
          <p:cNvPr id="779" name="Google Shape;779;p6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0" name="Google Shape;780;p6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81" name="Google Shape;781;p66"/>
          <p:cNvSpPr txBox="1"/>
          <p:nvPr>
            <p:ph idx="1" type="body"/>
          </p:nvPr>
        </p:nvSpPr>
        <p:spPr>
          <a:xfrm>
            <a:off x="324000" y="1080000"/>
            <a:ext cx="8113800" cy="37404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82" name="Google Shape;782;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Lexend"/>
                <a:ea typeface="Lexend"/>
                <a:cs typeface="Lexend"/>
                <a:sym typeface="Lexend"/>
              </a:rPr>
              <a:t>Summary</a:t>
            </a:r>
            <a:endParaRPr b="1" i="0" sz="2000" u="none" cap="none" strike="noStrike">
              <a:solidFill>
                <a:schemeClr val="dk1"/>
              </a:solidFill>
              <a:latin typeface="Lexend"/>
              <a:ea typeface="Lexend"/>
              <a:cs typeface="Lexend"/>
              <a:sym typeface="Lexend"/>
            </a:endParaRPr>
          </a:p>
        </p:txBody>
      </p:sp>
      <p:sp>
        <p:nvSpPr>
          <p:cNvPr id="783" name="Google Shape;783;p66"/>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lvl1pPr lvl="0" rtl="0" algn="l">
              <a:lnSpc>
                <a:spcPct val="100000"/>
              </a:lnSpc>
              <a:spcBef>
                <a:spcPts val="0"/>
              </a:spcBef>
              <a:spcAft>
                <a:spcPts val="0"/>
              </a:spcAft>
              <a:buSzPts val="2000"/>
              <a:buFont typeface="Lexend"/>
              <a:buNone/>
              <a:defRPr b="0" sz="2000">
                <a:latin typeface="Lexend"/>
                <a:ea typeface="Lexend"/>
                <a:cs typeface="Lexend"/>
                <a:sym typeface="Lexend"/>
              </a:defRPr>
            </a:lvl1pPr>
            <a:lvl2pPr lvl="1" rtl="0" algn="l">
              <a:lnSpc>
                <a:spcPct val="100000"/>
              </a:lnSpc>
              <a:spcBef>
                <a:spcPts val="0"/>
              </a:spcBef>
              <a:spcAft>
                <a:spcPts val="0"/>
              </a:spcAft>
              <a:buSzPts val="2000"/>
              <a:buNone/>
              <a:defRPr sz="2000"/>
            </a:lvl2pPr>
            <a:lvl3pPr lvl="2" rtl="0" algn="l">
              <a:lnSpc>
                <a:spcPct val="100000"/>
              </a:lnSpc>
              <a:spcBef>
                <a:spcPts val="0"/>
              </a:spcBef>
              <a:spcAft>
                <a:spcPts val="0"/>
              </a:spcAft>
              <a:buSzPts val="2000"/>
              <a:buNone/>
              <a:defRPr sz="2000"/>
            </a:lvl3pPr>
            <a:lvl4pPr lvl="3" rtl="0" algn="l">
              <a:lnSpc>
                <a:spcPct val="100000"/>
              </a:lnSpc>
              <a:spcBef>
                <a:spcPts val="0"/>
              </a:spcBef>
              <a:spcAft>
                <a:spcPts val="0"/>
              </a:spcAft>
              <a:buSzPts val="2000"/>
              <a:buNone/>
              <a:defRPr sz="2000"/>
            </a:lvl4pPr>
            <a:lvl5pPr lvl="4" rtl="0" algn="l">
              <a:lnSpc>
                <a:spcPct val="100000"/>
              </a:lnSpc>
              <a:spcBef>
                <a:spcPts val="0"/>
              </a:spcBef>
              <a:spcAft>
                <a:spcPts val="0"/>
              </a:spcAft>
              <a:buSzPts val="2000"/>
              <a:buNone/>
              <a:defRPr sz="2000"/>
            </a:lvl5pPr>
            <a:lvl6pPr lvl="5" rtl="0" algn="l">
              <a:lnSpc>
                <a:spcPct val="100000"/>
              </a:lnSpc>
              <a:spcBef>
                <a:spcPts val="0"/>
              </a:spcBef>
              <a:spcAft>
                <a:spcPts val="0"/>
              </a:spcAft>
              <a:buSzPts val="2000"/>
              <a:buNone/>
              <a:defRPr sz="2000"/>
            </a:lvl6pPr>
            <a:lvl7pPr lvl="6" rtl="0" algn="l">
              <a:lnSpc>
                <a:spcPct val="100000"/>
              </a:lnSpc>
              <a:spcBef>
                <a:spcPts val="0"/>
              </a:spcBef>
              <a:spcAft>
                <a:spcPts val="0"/>
              </a:spcAft>
              <a:buSzPts val="2000"/>
              <a:buNone/>
              <a:defRPr sz="2000"/>
            </a:lvl7pPr>
            <a:lvl8pPr lvl="7" rtl="0" algn="l">
              <a:lnSpc>
                <a:spcPct val="100000"/>
              </a:lnSpc>
              <a:spcBef>
                <a:spcPts val="0"/>
              </a:spcBef>
              <a:spcAft>
                <a:spcPts val="0"/>
              </a:spcAft>
              <a:buSzPts val="2000"/>
              <a:buNone/>
              <a:defRPr sz="2000"/>
            </a:lvl8pPr>
            <a:lvl9pPr lvl="8" rtl="0" algn="l">
              <a:lnSpc>
                <a:spcPct val="100000"/>
              </a:lnSpc>
              <a:spcBef>
                <a:spcPts val="0"/>
              </a:spcBef>
              <a:spcAft>
                <a:spcPts val="0"/>
              </a:spcAft>
              <a:buSzPts val="2000"/>
              <a:buNone/>
              <a:defRPr sz="2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7" Type="http://schemas.openxmlformats.org/officeDocument/2006/relationships/theme" Target="../theme/theme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6.png"/><Relationship Id="rId4" Type="http://schemas.openxmlformats.org/officeDocument/2006/relationships/image" Target="../media/image6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6.jpg"/><Relationship Id="rId6" Type="http://schemas.openxmlformats.org/officeDocument/2006/relationships/image" Target="../media/image68.png"/><Relationship Id="rId7" Type="http://schemas.openxmlformats.org/officeDocument/2006/relationships/image" Target="../media/image6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64.jpg"/><Relationship Id="rId4" Type="http://schemas.openxmlformats.org/officeDocument/2006/relationships/image" Target="../media/image66.jpg"/><Relationship Id="rId5" Type="http://schemas.openxmlformats.org/officeDocument/2006/relationships/image" Target="../media/image63.jpg"/><Relationship Id="rId6" Type="http://schemas.openxmlformats.org/officeDocument/2006/relationships/image" Target="../media/image67.png"/><Relationship Id="rId7" Type="http://schemas.openxmlformats.org/officeDocument/2006/relationships/image" Target="../media/image6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64.jpg"/><Relationship Id="rId4" Type="http://schemas.openxmlformats.org/officeDocument/2006/relationships/image" Target="../media/image66.jpg"/><Relationship Id="rId5" Type="http://schemas.openxmlformats.org/officeDocument/2006/relationships/image" Target="../media/image63.jpg"/><Relationship Id="rId6" Type="http://schemas.openxmlformats.org/officeDocument/2006/relationships/image" Target="../media/image67.png"/><Relationship Id="rId7" Type="http://schemas.openxmlformats.org/officeDocument/2006/relationships/image" Target="../media/image6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56.png"/><Relationship Id="rId4" Type="http://schemas.openxmlformats.org/officeDocument/2006/relationships/image" Target="../media/image70.png"/><Relationship Id="rId5" Type="http://schemas.openxmlformats.org/officeDocument/2006/relationships/image" Target="../media/image77.png"/><Relationship Id="rId6" Type="http://schemas.openxmlformats.org/officeDocument/2006/relationships/image" Target="../media/image72.png"/><Relationship Id="rId7" Type="http://schemas.openxmlformats.org/officeDocument/2006/relationships/image" Target="../media/image71.png"/><Relationship Id="rId8" Type="http://schemas.openxmlformats.org/officeDocument/2006/relationships/image" Target="../media/image7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56.png"/><Relationship Id="rId4" Type="http://schemas.openxmlformats.org/officeDocument/2006/relationships/image" Target="../media/image72.png"/><Relationship Id="rId5" Type="http://schemas.openxmlformats.org/officeDocument/2006/relationships/image" Target="../media/image70.png"/><Relationship Id="rId6" Type="http://schemas.openxmlformats.org/officeDocument/2006/relationships/image" Target="../media/image77.png"/><Relationship Id="rId7" Type="http://schemas.openxmlformats.org/officeDocument/2006/relationships/image" Target="../media/image71.png"/><Relationship Id="rId8" Type="http://schemas.openxmlformats.org/officeDocument/2006/relationships/image" Target="../media/image7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56.png"/><Relationship Id="rId4" Type="http://schemas.openxmlformats.org/officeDocument/2006/relationships/image" Target="../media/image72.png"/><Relationship Id="rId5" Type="http://schemas.openxmlformats.org/officeDocument/2006/relationships/image" Target="../media/image70.png"/><Relationship Id="rId6" Type="http://schemas.openxmlformats.org/officeDocument/2006/relationships/image" Target="../media/image77.png"/><Relationship Id="rId7" Type="http://schemas.openxmlformats.org/officeDocument/2006/relationships/image" Target="../media/image71.png"/><Relationship Id="rId8" Type="http://schemas.openxmlformats.org/officeDocument/2006/relationships/image" Target="../media/image7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8.xml"/><Relationship Id="rId3" Type="http://schemas.openxmlformats.org/officeDocument/2006/relationships/image" Target="../media/image80.png"/><Relationship Id="rId4" Type="http://schemas.openxmlformats.org/officeDocument/2006/relationships/image" Target="../media/image7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2.xml"/><Relationship Id="rId3" Type="http://schemas.openxmlformats.org/officeDocument/2006/relationships/image" Target="../media/image80.png"/><Relationship Id="rId4" Type="http://schemas.openxmlformats.org/officeDocument/2006/relationships/image" Target="../media/image7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3.xml"/><Relationship Id="rId3" Type="http://schemas.openxmlformats.org/officeDocument/2006/relationships/image" Target="../media/image5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8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 Id="rId3" Type="http://schemas.openxmlformats.org/officeDocument/2006/relationships/image" Target="../media/image8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8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 Id="rId3" Type="http://schemas.openxmlformats.org/officeDocument/2006/relationships/image" Target="../media/image87.png"/><Relationship Id="rId4" Type="http://schemas.openxmlformats.org/officeDocument/2006/relationships/image" Target="../media/image86.png"/><Relationship Id="rId5" Type="http://schemas.openxmlformats.org/officeDocument/2006/relationships/image" Target="../media/image85.png"/><Relationship Id="rId6" Type="http://schemas.openxmlformats.org/officeDocument/2006/relationships/image" Target="../media/image9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38.xml"/><Relationship Id="rId3" Type="http://schemas.openxmlformats.org/officeDocument/2006/relationships/image" Target="../media/image90.png"/><Relationship Id="rId4" Type="http://schemas.openxmlformats.org/officeDocument/2006/relationships/image" Target="../media/image88.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39.xml"/><Relationship Id="rId3" Type="http://schemas.openxmlformats.org/officeDocument/2006/relationships/image" Target="../media/image94.png"/><Relationship Id="rId4" Type="http://schemas.openxmlformats.org/officeDocument/2006/relationships/image" Target="../media/image91.png"/><Relationship Id="rId5" Type="http://schemas.openxmlformats.org/officeDocument/2006/relationships/image" Target="../media/image95.png"/><Relationship Id="rId6" Type="http://schemas.openxmlformats.org/officeDocument/2006/relationships/image" Target="../media/image8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 Id="rId3" Type="http://schemas.openxmlformats.org/officeDocument/2006/relationships/image" Target="../media/image90.png"/><Relationship Id="rId4" Type="http://schemas.openxmlformats.org/officeDocument/2006/relationships/image" Target="../media/image93.png"/><Relationship Id="rId5" Type="http://schemas.openxmlformats.org/officeDocument/2006/relationships/image" Target="../media/image88.png"/><Relationship Id="rId6" Type="http://schemas.openxmlformats.org/officeDocument/2006/relationships/image" Target="../media/image92.png"/><Relationship Id="rId7" Type="http://schemas.openxmlformats.org/officeDocument/2006/relationships/image" Target="../media/image9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 Id="rId3" Type="http://schemas.openxmlformats.org/officeDocument/2006/relationships/image" Target="../media/image94.png"/><Relationship Id="rId4" Type="http://schemas.openxmlformats.org/officeDocument/2006/relationships/image" Target="../media/image9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 Id="rId3" Type="http://schemas.openxmlformats.org/officeDocument/2006/relationships/image" Target="../media/image91.png"/><Relationship Id="rId4" Type="http://schemas.openxmlformats.org/officeDocument/2006/relationships/image" Target="../media/image99.png"/><Relationship Id="rId5" Type="http://schemas.openxmlformats.org/officeDocument/2006/relationships/image" Target="../media/image10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3.xml"/><Relationship Id="rId3" Type="http://schemas.openxmlformats.org/officeDocument/2006/relationships/image" Target="../media/image102.png"/><Relationship Id="rId4" Type="http://schemas.openxmlformats.org/officeDocument/2006/relationships/image" Target="../media/image8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67"/>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Ordering numbers in standard form</a:t>
            </a:r>
            <a:endParaRPr/>
          </a:p>
        </p:txBody>
      </p:sp>
      <p:sp>
        <p:nvSpPr>
          <p:cNvPr id="789" name="Google Shape;789;p67"/>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Standard form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3" name="Shape 793"/>
        <p:cNvGrpSpPr/>
        <p:nvPr/>
      </p:nvGrpSpPr>
      <p:grpSpPr>
        <a:xfrm>
          <a:off x="0" y="0"/>
          <a:ext cx="0" cy="0"/>
          <a:chOff x="0" y="0"/>
          <a:chExt cx="0" cy="0"/>
        </a:xfrm>
      </p:grpSpPr>
      <p:sp>
        <p:nvSpPr>
          <p:cNvPr id="794" name="Google Shape;794;p68"/>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69"/>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compare and order numbers written in a mixture of standard, non−standard and not quite standard form.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70"/>
          <p:cNvSpPr txBox="1"/>
          <p:nvPr>
            <p:ph idx="1" type="subTitle"/>
          </p:nvPr>
        </p:nvSpPr>
        <p:spPr>
          <a:xfrm>
            <a:off x="306950" y="1065000"/>
            <a:ext cx="7767300" cy="1578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t/>
            </a:r>
            <a:endParaRPr b="0"/>
          </a:p>
          <a:p>
            <a:pPr indent="0" lvl="0" marL="0" rtl="0" algn="l">
              <a:spcBef>
                <a:spcPts val="1000"/>
              </a:spcBef>
              <a:spcAft>
                <a:spcPts val="1000"/>
              </a:spcAft>
              <a:buClr>
                <a:schemeClr val="dk1"/>
              </a:buClr>
              <a:buSzPts val="1100"/>
              <a:buFont typeface="Arial"/>
              <a:buNone/>
            </a:pPr>
            <a:r>
              <a:rPr b="0" lang="en-GB"/>
              <a:t> </a:t>
            </a:r>
            <a:endParaRPr b="0"/>
          </a:p>
        </p:txBody>
      </p:sp>
      <p:sp>
        <p:nvSpPr>
          <p:cNvPr id="805" name="Google Shape;805;p70"/>
          <p:cNvSpPr txBox="1"/>
          <p:nvPr/>
        </p:nvSpPr>
        <p:spPr>
          <a:xfrm>
            <a:off x="306950" y="785500"/>
            <a:ext cx="7152300" cy="887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solidFill>
                  <a:srgbClr val="282828"/>
                </a:solidFill>
                <a:latin typeface="Lexend"/>
                <a:ea typeface="Lexend"/>
                <a:cs typeface="Lexend"/>
                <a:sym typeface="Lexend"/>
              </a:rPr>
              <a:t>Standard form is when a number is written in </a:t>
            </a:r>
            <a:r>
              <a:rPr lang="en-GB" sz="2200">
                <a:solidFill>
                  <a:srgbClr val="000000"/>
                </a:solidFill>
                <a:latin typeface="Lexend"/>
                <a:ea typeface="Lexend"/>
                <a:cs typeface="Lexend"/>
                <a:sym typeface="Lexend"/>
              </a:rPr>
              <a:t>the form </a:t>
            </a:r>
            <a:r>
              <a:rPr i="1" lang="en-GB" sz="2400">
                <a:solidFill>
                  <a:srgbClr val="000000"/>
                </a:solidFill>
                <a:latin typeface="Times New Roman"/>
                <a:ea typeface="Times New Roman"/>
                <a:cs typeface="Times New Roman"/>
                <a:sym typeface="Times New Roman"/>
              </a:rPr>
              <a:t>A</a:t>
            </a:r>
            <a:r>
              <a:rPr lang="en-GB" sz="2400">
                <a:solidFill>
                  <a:srgbClr val="000000"/>
                </a:solidFill>
                <a:latin typeface="Times New Roman"/>
                <a:ea typeface="Times New Roman"/>
                <a:cs typeface="Times New Roman"/>
                <a:sym typeface="Times New Roman"/>
              </a:rPr>
              <a:t> × 10</a:t>
            </a:r>
            <a:r>
              <a:rPr baseline="30000" i="1" lang="en-GB" sz="2400">
                <a:solidFill>
                  <a:srgbClr val="000000"/>
                </a:solidFill>
                <a:latin typeface="Times New Roman"/>
                <a:ea typeface="Times New Roman"/>
                <a:cs typeface="Times New Roman"/>
                <a:sym typeface="Times New Roman"/>
              </a:rPr>
              <a:t>n</a:t>
            </a:r>
            <a:r>
              <a:rPr lang="en-GB" sz="2200">
                <a:solidFill>
                  <a:srgbClr val="000000"/>
                </a:solidFill>
                <a:latin typeface="Lexend"/>
                <a:ea typeface="Lexend"/>
                <a:cs typeface="Lexend"/>
                <a:sym typeface="Lexend"/>
              </a:rPr>
              <a:t>, (where </a:t>
            </a:r>
            <a:r>
              <a:rPr lang="en-GB" sz="2400">
                <a:solidFill>
                  <a:srgbClr val="000000"/>
                </a:solidFill>
                <a:latin typeface="Times New Roman"/>
                <a:ea typeface="Times New Roman"/>
                <a:cs typeface="Times New Roman"/>
                <a:sym typeface="Times New Roman"/>
              </a:rPr>
              <a:t>1 ≤ A &lt; 10</a:t>
            </a:r>
            <a:r>
              <a:rPr lang="en-GB" sz="2200">
                <a:solidFill>
                  <a:srgbClr val="000000"/>
                </a:solidFill>
                <a:latin typeface="Lexend"/>
                <a:ea typeface="Lexend"/>
                <a:cs typeface="Lexend"/>
                <a:sym typeface="Lexend"/>
              </a:rPr>
              <a:t> and </a:t>
            </a:r>
            <a:r>
              <a:rPr i="1" lang="en-GB" sz="2400">
                <a:solidFill>
                  <a:srgbClr val="000000"/>
                </a:solidFill>
                <a:latin typeface="Times New Roman"/>
                <a:ea typeface="Times New Roman"/>
                <a:cs typeface="Times New Roman"/>
                <a:sym typeface="Times New Roman"/>
              </a:rPr>
              <a:t>n</a:t>
            </a:r>
            <a:r>
              <a:rPr lang="en-GB" sz="2200">
                <a:solidFill>
                  <a:srgbClr val="000000"/>
                </a:solidFill>
                <a:latin typeface="Lexend"/>
                <a:ea typeface="Lexend"/>
                <a:cs typeface="Lexend"/>
                <a:sym typeface="Lexend"/>
              </a:rPr>
              <a:t> is an integer).</a:t>
            </a:r>
            <a:endParaRPr sz="2200">
              <a:solidFill>
                <a:srgbClr val="282828"/>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rgbClr val="282828"/>
                </a:solidFill>
                <a:latin typeface="Lexend"/>
                <a:ea typeface="Lexend"/>
                <a:cs typeface="Lexend"/>
                <a:sym typeface="Lexend"/>
              </a:rPr>
              <a:t> </a:t>
            </a:r>
            <a:endParaRPr sz="2200">
              <a:solidFill>
                <a:srgbClr val="282828"/>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1"/>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numbers in standard form</a:t>
            </a:r>
            <a:endParaRPr/>
          </a:p>
        </p:txBody>
      </p:sp>
      <p:sp>
        <p:nvSpPr>
          <p:cNvPr id="811" name="Google Shape;811;p7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Ordering numbers using standard form</a:t>
            </a:r>
            <a:endParaRPr/>
          </a:p>
        </p:txBody>
      </p:sp>
      <p:sp>
        <p:nvSpPr>
          <p:cNvPr id="812" name="Google Shape;812;p71"/>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Ordering numbers in standard form</a:t>
            </a:r>
            <a:endParaRPr/>
          </a:p>
        </p:txBody>
      </p:sp>
      <p:pic>
        <p:nvPicPr>
          <p:cNvPr id="813" name="Google Shape;813;p71"/>
          <p:cNvPicPr preferRelativeResize="0"/>
          <p:nvPr/>
        </p:nvPicPr>
        <p:blipFill>
          <a:blip r:embed="rId3">
            <a:alphaModFix/>
          </a:blip>
          <a:stretch>
            <a:fillRect/>
          </a:stretch>
        </p:blipFill>
        <p:spPr>
          <a:xfrm>
            <a:off x="414507"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72"/>
          <p:cNvSpPr txBox="1"/>
          <p:nvPr>
            <p:ph idx="1" type="body"/>
          </p:nvPr>
        </p:nvSpPr>
        <p:spPr>
          <a:xfrm>
            <a:off x="324000" y="759300"/>
            <a:ext cx="8237700" cy="110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We know standard form is the convention to write very large or very small numbers.  </a:t>
            </a:r>
            <a:endParaRPr sz="2000"/>
          </a:p>
          <a:p>
            <a:pPr indent="0" lvl="0" marL="0" rtl="0" algn="l">
              <a:spcBef>
                <a:spcPts val="1000"/>
              </a:spcBef>
              <a:spcAft>
                <a:spcPts val="1000"/>
              </a:spcAft>
              <a:buNone/>
            </a:pPr>
            <a:r>
              <a:rPr lang="en-GB" sz="2000"/>
              <a:t>We use standard form in a number of industries. For example,</a:t>
            </a:r>
            <a:endParaRPr sz="2000"/>
          </a:p>
        </p:txBody>
      </p:sp>
      <p:sp>
        <p:nvSpPr>
          <p:cNvPr id="819" name="Google Shape;819;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numbers in standard form</a:t>
            </a:r>
            <a:endParaRPr/>
          </a:p>
        </p:txBody>
      </p:sp>
      <p:sp>
        <p:nvSpPr>
          <p:cNvPr id="820" name="Google Shape;820;p72"/>
          <p:cNvSpPr txBox="1"/>
          <p:nvPr/>
        </p:nvSpPr>
        <p:spPr>
          <a:xfrm>
            <a:off x="2540550" y="3209000"/>
            <a:ext cx="1776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Technology</a:t>
            </a:r>
            <a:endParaRPr/>
          </a:p>
        </p:txBody>
      </p:sp>
      <p:sp>
        <p:nvSpPr>
          <p:cNvPr id="821" name="Google Shape;821;p72"/>
          <p:cNvSpPr txBox="1"/>
          <p:nvPr/>
        </p:nvSpPr>
        <p:spPr>
          <a:xfrm>
            <a:off x="4826550" y="3209000"/>
            <a:ext cx="1776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Medicine</a:t>
            </a:r>
            <a:endParaRPr/>
          </a:p>
        </p:txBody>
      </p:sp>
      <p:sp>
        <p:nvSpPr>
          <p:cNvPr id="822" name="Google Shape;822;p72"/>
          <p:cNvSpPr txBox="1"/>
          <p:nvPr>
            <p:ph idx="1" type="body"/>
          </p:nvPr>
        </p:nvSpPr>
        <p:spPr>
          <a:xfrm>
            <a:off x="324000" y="3867900"/>
            <a:ext cx="8565600" cy="78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Having a convention to write very big or small numbers is important. As is knowing how to use them to recognise size and order. </a:t>
            </a:r>
            <a:endParaRPr sz="2000"/>
          </a:p>
        </p:txBody>
      </p:sp>
      <p:pic>
        <p:nvPicPr>
          <p:cNvPr id="823" name="Google Shape;823;p72"/>
          <p:cNvPicPr preferRelativeResize="0"/>
          <p:nvPr/>
        </p:nvPicPr>
        <p:blipFill>
          <a:blip r:embed="rId3">
            <a:alphaModFix/>
          </a:blip>
          <a:stretch>
            <a:fillRect/>
          </a:stretch>
        </p:blipFill>
        <p:spPr>
          <a:xfrm>
            <a:off x="2762925" y="2076000"/>
            <a:ext cx="1251000" cy="1163999"/>
          </a:xfrm>
          <a:prstGeom prst="rect">
            <a:avLst/>
          </a:prstGeom>
          <a:noFill/>
          <a:ln>
            <a:noFill/>
          </a:ln>
        </p:spPr>
      </p:pic>
      <p:pic>
        <p:nvPicPr>
          <p:cNvPr id="824" name="Google Shape;824;p72"/>
          <p:cNvPicPr preferRelativeResize="0"/>
          <p:nvPr/>
        </p:nvPicPr>
        <p:blipFill rotWithShape="1">
          <a:blip r:embed="rId4">
            <a:alphaModFix/>
          </a:blip>
          <a:srcRect b="0" l="4240" r="-4240" t="0"/>
          <a:stretch/>
        </p:blipFill>
        <p:spPr>
          <a:xfrm>
            <a:off x="4728235" y="2168863"/>
            <a:ext cx="1593810" cy="10622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73"/>
          <p:cNvSpPr txBox="1"/>
          <p:nvPr>
            <p:ph idx="1" type="body"/>
          </p:nvPr>
        </p:nvSpPr>
        <p:spPr>
          <a:xfrm>
            <a:off x="324000" y="759300"/>
            <a:ext cx="8565600" cy="72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Put these different things in ascending </a:t>
            </a:r>
            <a:r>
              <a:rPr lang="en-GB" sz="2000"/>
              <a:t>order</a:t>
            </a:r>
            <a:r>
              <a:rPr lang="en-GB" sz="2000"/>
              <a:t> and match with the approximate </a:t>
            </a:r>
            <a:r>
              <a:rPr lang="en-GB" sz="2000"/>
              <a:t>standard</a:t>
            </a:r>
            <a:r>
              <a:rPr lang="en-GB" sz="2000"/>
              <a:t> form </a:t>
            </a:r>
            <a:r>
              <a:rPr lang="en-GB" sz="2000"/>
              <a:t>measurement</a:t>
            </a:r>
            <a:r>
              <a:rPr lang="en-GB" sz="2000"/>
              <a:t>. </a:t>
            </a:r>
            <a:endParaRPr sz="2000"/>
          </a:p>
        </p:txBody>
      </p:sp>
      <p:sp>
        <p:nvSpPr>
          <p:cNvPr id="830" name="Google Shape;830;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numbers in standard form</a:t>
            </a:r>
            <a:endParaRPr/>
          </a:p>
        </p:txBody>
      </p:sp>
      <p:pic>
        <p:nvPicPr>
          <p:cNvPr id="831" name="Google Shape;831;p73"/>
          <p:cNvPicPr preferRelativeResize="0"/>
          <p:nvPr/>
        </p:nvPicPr>
        <p:blipFill rotWithShape="1">
          <a:blip r:embed="rId3">
            <a:alphaModFix/>
          </a:blip>
          <a:srcRect b="0" l="0" r="17019" t="0"/>
          <a:stretch/>
        </p:blipFill>
        <p:spPr>
          <a:xfrm>
            <a:off x="3991800" y="2403350"/>
            <a:ext cx="1679226" cy="1340624"/>
          </a:xfrm>
          <a:prstGeom prst="rect">
            <a:avLst/>
          </a:prstGeom>
          <a:noFill/>
          <a:ln>
            <a:noFill/>
          </a:ln>
        </p:spPr>
      </p:pic>
      <p:sp>
        <p:nvSpPr>
          <p:cNvPr id="832" name="Google Shape;832;p73"/>
          <p:cNvSpPr txBox="1"/>
          <p:nvPr/>
        </p:nvSpPr>
        <p:spPr>
          <a:xfrm>
            <a:off x="408800"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1.1  × 10</a:t>
            </a:r>
            <a:r>
              <a:rPr baseline="30000"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 m</a:t>
            </a:r>
            <a:endParaRPr sz="1800"/>
          </a:p>
        </p:txBody>
      </p:sp>
      <p:sp>
        <p:nvSpPr>
          <p:cNvPr id="833" name="Google Shape;833;p73"/>
          <p:cNvSpPr txBox="1"/>
          <p:nvPr/>
        </p:nvSpPr>
        <p:spPr>
          <a:xfrm>
            <a:off x="3927525" y="3737785"/>
            <a:ext cx="2152200" cy="7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Length of a football pitch</a:t>
            </a:r>
            <a:endParaRPr sz="1800">
              <a:solidFill>
                <a:schemeClr val="dk1"/>
              </a:solidFill>
              <a:latin typeface="Lexend"/>
              <a:ea typeface="Lexend"/>
              <a:cs typeface="Lexend"/>
              <a:sym typeface="Lexend"/>
            </a:endParaRPr>
          </a:p>
        </p:txBody>
      </p:sp>
      <p:sp>
        <p:nvSpPr>
          <p:cNvPr id="834" name="Google Shape;834;p73"/>
          <p:cNvSpPr txBox="1"/>
          <p:nvPr/>
        </p:nvSpPr>
        <p:spPr>
          <a:xfrm>
            <a:off x="2263150" y="3737771"/>
            <a:ext cx="18033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height of The Gherkin</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835" name="Google Shape;835;p73"/>
          <p:cNvSpPr txBox="1"/>
          <p:nvPr/>
        </p:nvSpPr>
        <p:spPr>
          <a:xfrm>
            <a:off x="5639654"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1.8  × 10</a:t>
            </a:r>
            <a:r>
              <a:rPr baseline="30000" lang="en-GB" sz="1800">
                <a:solidFill>
                  <a:schemeClr val="dk1"/>
                </a:solidFill>
                <a:latin typeface="Lexend"/>
                <a:ea typeface="Lexend"/>
                <a:cs typeface="Lexend"/>
                <a:sym typeface="Lexend"/>
              </a:rPr>
              <a:t>2 </a:t>
            </a:r>
            <a:r>
              <a:rPr lang="en-GB" sz="1800">
                <a:solidFill>
                  <a:schemeClr val="dk1"/>
                </a:solidFill>
                <a:latin typeface="Lexend"/>
                <a:ea typeface="Lexend"/>
                <a:cs typeface="Lexend"/>
                <a:sym typeface="Lexend"/>
              </a:rPr>
              <a:t> m</a:t>
            </a:r>
            <a:endParaRPr sz="1800"/>
          </a:p>
        </p:txBody>
      </p:sp>
      <p:pic>
        <p:nvPicPr>
          <p:cNvPr id="836" name="Google Shape;836;p73"/>
          <p:cNvPicPr preferRelativeResize="0"/>
          <p:nvPr/>
        </p:nvPicPr>
        <p:blipFill rotWithShape="1">
          <a:blip r:embed="rId4">
            <a:alphaModFix/>
          </a:blip>
          <a:srcRect b="0" l="0" r="0" t="0"/>
          <a:stretch/>
        </p:blipFill>
        <p:spPr>
          <a:xfrm>
            <a:off x="2553500" y="2401475"/>
            <a:ext cx="1030551" cy="1340626"/>
          </a:xfrm>
          <a:prstGeom prst="rect">
            <a:avLst/>
          </a:prstGeom>
          <a:noFill/>
          <a:ln>
            <a:noFill/>
          </a:ln>
        </p:spPr>
      </p:pic>
      <p:sp>
        <p:nvSpPr>
          <p:cNvPr id="837" name="Google Shape;837;p73"/>
          <p:cNvSpPr txBox="1"/>
          <p:nvPr/>
        </p:nvSpPr>
        <p:spPr>
          <a:xfrm>
            <a:off x="7332473"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3.8  × 10</a:t>
            </a:r>
            <a:r>
              <a:rPr baseline="30000" lang="en-GB" sz="1800">
                <a:solidFill>
                  <a:schemeClr val="dk1"/>
                </a:solidFill>
                <a:latin typeface="Lexend"/>
                <a:ea typeface="Lexend"/>
                <a:cs typeface="Lexend"/>
                <a:sym typeface="Lexend"/>
              </a:rPr>
              <a:t>3 </a:t>
            </a:r>
            <a:r>
              <a:rPr lang="en-GB" sz="1800">
                <a:solidFill>
                  <a:schemeClr val="dk1"/>
                </a:solidFill>
                <a:latin typeface="Lexend"/>
                <a:ea typeface="Lexend"/>
                <a:cs typeface="Lexend"/>
                <a:sym typeface="Lexend"/>
              </a:rPr>
              <a:t> m</a:t>
            </a:r>
            <a:endParaRPr sz="1800"/>
          </a:p>
        </p:txBody>
      </p:sp>
      <p:sp>
        <p:nvSpPr>
          <p:cNvPr id="838" name="Google Shape;838;p73"/>
          <p:cNvSpPr txBox="1"/>
          <p:nvPr/>
        </p:nvSpPr>
        <p:spPr>
          <a:xfrm>
            <a:off x="149900" y="3737771"/>
            <a:ext cx="2086200" cy="3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height of Mount Fuji</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pic>
        <p:nvPicPr>
          <p:cNvPr id="839" name="Google Shape;839;p73"/>
          <p:cNvPicPr preferRelativeResize="0"/>
          <p:nvPr/>
        </p:nvPicPr>
        <p:blipFill rotWithShape="1">
          <a:blip r:embed="rId5">
            <a:alphaModFix/>
          </a:blip>
          <a:srcRect b="28876" l="8134" r="50002" t="0"/>
          <a:stretch/>
        </p:blipFill>
        <p:spPr>
          <a:xfrm>
            <a:off x="5973500" y="2415000"/>
            <a:ext cx="1374474" cy="1313575"/>
          </a:xfrm>
          <a:prstGeom prst="rect">
            <a:avLst/>
          </a:prstGeom>
          <a:noFill/>
          <a:ln>
            <a:noFill/>
          </a:ln>
        </p:spPr>
      </p:pic>
      <p:sp>
        <p:nvSpPr>
          <p:cNvPr id="840" name="Google Shape;840;p73"/>
          <p:cNvSpPr txBox="1"/>
          <p:nvPr/>
        </p:nvSpPr>
        <p:spPr>
          <a:xfrm>
            <a:off x="5844550" y="3737771"/>
            <a:ext cx="18033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height of the Statue of Liberty   </a:t>
            </a:r>
            <a:endParaRPr sz="1800">
              <a:solidFill>
                <a:schemeClr val="dk1"/>
              </a:solidFill>
              <a:latin typeface="Lexend"/>
              <a:ea typeface="Lexend"/>
              <a:cs typeface="Lexend"/>
              <a:sym typeface="Lexend"/>
            </a:endParaRPr>
          </a:p>
        </p:txBody>
      </p:sp>
      <p:sp>
        <p:nvSpPr>
          <p:cNvPr id="841" name="Google Shape;841;p73"/>
          <p:cNvSpPr txBox="1"/>
          <p:nvPr/>
        </p:nvSpPr>
        <p:spPr>
          <a:xfrm>
            <a:off x="3946836"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9.3</a:t>
            </a:r>
            <a:r>
              <a:rPr lang="en-GB" sz="1800">
                <a:solidFill>
                  <a:schemeClr val="dk1"/>
                </a:solidFill>
                <a:latin typeface="Lexend"/>
                <a:ea typeface="Lexend"/>
                <a:cs typeface="Lexend"/>
                <a:sym typeface="Lexend"/>
              </a:rPr>
              <a:t>  × 10</a:t>
            </a:r>
            <a:r>
              <a:rPr baseline="30000" lang="en-GB" sz="1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 m</a:t>
            </a:r>
            <a:endParaRPr sz="1800"/>
          </a:p>
        </p:txBody>
      </p:sp>
      <p:sp>
        <p:nvSpPr>
          <p:cNvPr id="842" name="Google Shape;842;p73"/>
          <p:cNvSpPr txBox="1"/>
          <p:nvPr/>
        </p:nvSpPr>
        <p:spPr>
          <a:xfrm>
            <a:off x="7529700" y="3719559"/>
            <a:ext cx="12075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Latitude</a:t>
            </a:r>
            <a:r>
              <a:rPr lang="en-GB" sz="1800">
                <a:solidFill>
                  <a:schemeClr val="dk1"/>
                </a:solidFill>
                <a:latin typeface="Lexend"/>
                <a:ea typeface="Lexend"/>
                <a:cs typeface="Lexend"/>
                <a:sym typeface="Lexend"/>
              </a:rPr>
              <a:t> of the Earth</a:t>
            </a: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843" name="Google Shape;843;p73"/>
          <p:cNvSpPr txBox="1"/>
          <p:nvPr/>
        </p:nvSpPr>
        <p:spPr>
          <a:xfrm>
            <a:off x="2177818"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1.1</a:t>
            </a:r>
            <a:r>
              <a:rPr lang="en-GB" sz="1800">
                <a:solidFill>
                  <a:schemeClr val="dk1"/>
                </a:solidFill>
                <a:latin typeface="Lexend"/>
                <a:ea typeface="Lexend"/>
                <a:cs typeface="Lexend"/>
                <a:sym typeface="Lexend"/>
              </a:rPr>
              <a:t>  × 10</a:t>
            </a:r>
            <a:r>
              <a:rPr baseline="30000" lang="en-GB" sz="1800">
                <a:solidFill>
                  <a:schemeClr val="dk1"/>
                </a:solidFill>
                <a:latin typeface="Lexend"/>
                <a:ea typeface="Lexend"/>
                <a:cs typeface="Lexend"/>
                <a:sym typeface="Lexend"/>
              </a:rPr>
              <a:t>5 </a:t>
            </a:r>
            <a:r>
              <a:rPr lang="en-GB" sz="1800">
                <a:solidFill>
                  <a:schemeClr val="dk1"/>
                </a:solidFill>
                <a:latin typeface="Lexend"/>
                <a:ea typeface="Lexend"/>
                <a:cs typeface="Lexend"/>
                <a:sym typeface="Lexend"/>
              </a:rPr>
              <a:t> m</a:t>
            </a:r>
            <a:endParaRPr sz="1800"/>
          </a:p>
        </p:txBody>
      </p:sp>
      <p:pic>
        <p:nvPicPr>
          <p:cNvPr id="844" name="Google Shape;844;p73"/>
          <p:cNvPicPr preferRelativeResize="0"/>
          <p:nvPr/>
        </p:nvPicPr>
        <p:blipFill rotWithShape="1">
          <a:blip r:embed="rId6">
            <a:alphaModFix/>
          </a:blip>
          <a:srcRect b="17883" l="0" r="0" t="8370"/>
          <a:stretch/>
        </p:blipFill>
        <p:spPr>
          <a:xfrm>
            <a:off x="523250" y="2401475"/>
            <a:ext cx="1207501" cy="1335644"/>
          </a:xfrm>
          <a:prstGeom prst="rect">
            <a:avLst/>
          </a:prstGeom>
          <a:noFill/>
          <a:ln>
            <a:noFill/>
          </a:ln>
        </p:spPr>
      </p:pic>
      <p:pic>
        <p:nvPicPr>
          <p:cNvPr id="845" name="Google Shape;845;p73"/>
          <p:cNvPicPr preferRelativeResize="0"/>
          <p:nvPr/>
        </p:nvPicPr>
        <p:blipFill>
          <a:blip r:embed="rId7">
            <a:alphaModFix/>
          </a:blip>
          <a:stretch>
            <a:fillRect/>
          </a:stretch>
        </p:blipFill>
        <p:spPr>
          <a:xfrm>
            <a:off x="7529699" y="2401477"/>
            <a:ext cx="1330971" cy="1313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4"/>
          <p:cNvSpPr txBox="1"/>
          <p:nvPr>
            <p:ph idx="1" type="body"/>
          </p:nvPr>
        </p:nvSpPr>
        <p:spPr>
          <a:xfrm>
            <a:off x="324000" y="759300"/>
            <a:ext cx="8565600" cy="72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Putting the objects in ascending order first, we have:</a:t>
            </a:r>
            <a:endParaRPr sz="2000"/>
          </a:p>
          <a:p>
            <a:pPr indent="0" lvl="0" marL="0" rtl="0" algn="l">
              <a:spcBef>
                <a:spcPts val="1000"/>
              </a:spcBef>
              <a:spcAft>
                <a:spcPts val="1000"/>
              </a:spcAft>
              <a:buNone/>
            </a:pPr>
            <a:r>
              <a:t/>
            </a:r>
            <a:endParaRPr sz="2000"/>
          </a:p>
        </p:txBody>
      </p:sp>
      <p:sp>
        <p:nvSpPr>
          <p:cNvPr id="851" name="Google Shape;851;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numbers in standard form</a:t>
            </a:r>
            <a:endParaRPr/>
          </a:p>
        </p:txBody>
      </p:sp>
      <p:grpSp>
        <p:nvGrpSpPr>
          <p:cNvPr id="852" name="Google Shape;852;p74"/>
          <p:cNvGrpSpPr/>
          <p:nvPr/>
        </p:nvGrpSpPr>
        <p:grpSpPr>
          <a:xfrm>
            <a:off x="3863350" y="2401475"/>
            <a:ext cx="1803300" cy="1971396"/>
            <a:chOff x="2263150" y="2401475"/>
            <a:chExt cx="1803300" cy="1971396"/>
          </a:xfrm>
        </p:grpSpPr>
        <p:sp>
          <p:nvSpPr>
            <p:cNvPr id="853" name="Google Shape;853;p74"/>
            <p:cNvSpPr txBox="1"/>
            <p:nvPr/>
          </p:nvSpPr>
          <p:spPr>
            <a:xfrm>
              <a:off x="2263150" y="3737771"/>
              <a:ext cx="18033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height of The Gherkin</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pic>
          <p:nvPicPr>
            <p:cNvPr id="854" name="Google Shape;854;p74"/>
            <p:cNvPicPr preferRelativeResize="0"/>
            <p:nvPr/>
          </p:nvPicPr>
          <p:blipFill rotWithShape="1">
            <a:blip r:embed="rId3">
              <a:alphaModFix/>
            </a:blip>
            <a:srcRect b="0" l="0" r="0" t="0"/>
            <a:stretch/>
          </p:blipFill>
          <p:spPr>
            <a:xfrm>
              <a:off x="2553500" y="2401475"/>
              <a:ext cx="1030551" cy="1340626"/>
            </a:xfrm>
            <a:prstGeom prst="rect">
              <a:avLst/>
            </a:prstGeom>
            <a:noFill/>
            <a:ln>
              <a:noFill/>
            </a:ln>
          </p:spPr>
        </p:pic>
      </p:grpSp>
      <p:sp>
        <p:nvSpPr>
          <p:cNvPr id="855" name="Google Shape;855;p74"/>
          <p:cNvSpPr txBox="1"/>
          <p:nvPr/>
        </p:nvSpPr>
        <p:spPr>
          <a:xfrm>
            <a:off x="7529700" y="3719559"/>
            <a:ext cx="12075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Latitude of the Earth </a:t>
            </a:r>
            <a:endParaRPr sz="1800">
              <a:solidFill>
                <a:schemeClr val="dk1"/>
              </a:solidFill>
              <a:latin typeface="Lexend"/>
              <a:ea typeface="Lexend"/>
              <a:cs typeface="Lexend"/>
              <a:sym typeface="Lexend"/>
            </a:endParaRPr>
          </a:p>
        </p:txBody>
      </p:sp>
      <p:grpSp>
        <p:nvGrpSpPr>
          <p:cNvPr id="856" name="Google Shape;856;p74"/>
          <p:cNvGrpSpPr/>
          <p:nvPr/>
        </p:nvGrpSpPr>
        <p:grpSpPr>
          <a:xfrm>
            <a:off x="281950" y="2415000"/>
            <a:ext cx="1803300" cy="1957871"/>
            <a:chOff x="5844550" y="2415000"/>
            <a:chExt cx="1803300" cy="1957871"/>
          </a:xfrm>
        </p:grpSpPr>
        <p:pic>
          <p:nvPicPr>
            <p:cNvPr id="857" name="Google Shape;857;p74"/>
            <p:cNvPicPr preferRelativeResize="0"/>
            <p:nvPr/>
          </p:nvPicPr>
          <p:blipFill rotWithShape="1">
            <a:blip r:embed="rId4">
              <a:alphaModFix/>
            </a:blip>
            <a:srcRect b="28876" l="8134" r="50002" t="0"/>
            <a:stretch/>
          </p:blipFill>
          <p:spPr>
            <a:xfrm>
              <a:off x="5973500" y="2415000"/>
              <a:ext cx="1374474" cy="1313575"/>
            </a:xfrm>
            <a:prstGeom prst="rect">
              <a:avLst/>
            </a:prstGeom>
            <a:noFill/>
            <a:ln>
              <a:noFill/>
            </a:ln>
          </p:spPr>
        </p:pic>
        <p:sp>
          <p:nvSpPr>
            <p:cNvPr id="858" name="Google Shape;858;p74"/>
            <p:cNvSpPr txBox="1"/>
            <p:nvPr/>
          </p:nvSpPr>
          <p:spPr>
            <a:xfrm>
              <a:off x="5844550" y="3737771"/>
              <a:ext cx="18033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height of the Statue of Liberty   </a:t>
              </a:r>
              <a:endParaRPr sz="1800">
                <a:solidFill>
                  <a:schemeClr val="dk1"/>
                </a:solidFill>
                <a:latin typeface="Lexend"/>
                <a:ea typeface="Lexend"/>
                <a:cs typeface="Lexend"/>
                <a:sym typeface="Lexend"/>
              </a:endParaRPr>
            </a:p>
          </p:txBody>
        </p:sp>
      </p:grpSp>
      <p:sp>
        <p:nvSpPr>
          <p:cNvPr id="859" name="Google Shape;859;p74"/>
          <p:cNvSpPr txBox="1"/>
          <p:nvPr/>
        </p:nvSpPr>
        <p:spPr>
          <a:xfrm>
            <a:off x="5483900" y="3737771"/>
            <a:ext cx="2086200" cy="3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height of Mount Fuji</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grpSp>
        <p:nvGrpSpPr>
          <p:cNvPr id="860" name="Google Shape;860;p74"/>
          <p:cNvGrpSpPr/>
          <p:nvPr/>
        </p:nvGrpSpPr>
        <p:grpSpPr>
          <a:xfrm>
            <a:off x="2022525" y="2403350"/>
            <a:ext cx="2152200" cy="2103935"/>
            <a:chOff x="3927525" y="2403350"/>
            <a:chExt cx="2152200" cy="2103935"/>
          </a:xfrm>
        </p:grpSpPr>
        <p:pic>
          <p:nvPicPr>
            <p:cNvPr id="861" name="Google Shape;861;p74"/>
            <p:cNvPicPr preferRelativeResize="0"/>
            <p:nvPr/>
          </p:nvPicPr>
          <p:blipFill rotWithShape="1">
            <a:blip r:embed="rId5">
              <a:alphaModFix/>
            </a:blip>
            <a:srcRect b="0" l="0" r="17019" t="0"/>
            <a:stretch/>
          </p:blipFill>
          <p:spPr>
            <a:xfrm>
              <a:off x="3991800" y="2403350"/>
              <a:ext cx="1679226" cy="1340624"/>
            </a:xfrm>
            <a:prstGeom prst="rect">
              <a:avLst/>
            </a:prstGeom>
            <a:noFill/>
            <a:ln>
              <a:noFill/>
            </a:ln>
          </p:spPr>
        </p:pic>
        <p:sp>
          <p:nvSpPr>
            <p:cNvPr id="862" name="Google Shape;862;p74"/>
            <p:cNvSpPr txBox="1"/>
            <p:nvPr/>
          </p:nvSpPr>
          <p:spPr>
            <a:xfrm>
              <a:off x="3927525" y="3737785"/>
              <a:ext cx="2152200" cy="7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Length of a football pitch</a:t>
              </a:r>
              <a:endParaRPr sz="1800">
                <a:solidFill>
                  <a:schemeClr val="dk1"/>
                </a:solidFill>
                <a:latin typeface="Lexend"/>
                <a:ea typeface="Lexend"/>
                <a:cs typeface="Lexend"/>
                <a:sym typeface="Lexend"/>
              </a:endParaRPr>
            </a:p>
          </p:txBody>
        </p:sp>
      </p:grpSp>
      <p:pic>
        <p:nvPicPr>
          <p:cNvPr id="863" name="Google Shape;863;p74"/>
          <p:cNvPicPr preferRelativeResize="0"/>
          <p:nvPr/>
        </p:nvPicPr>
        <p:blipFill>
          <a:blip r:embed="rId6">
            <a:alphaModFix/>
          </a:blip>
          <a:stretch>
            <a:fillRect/>
          </a:stretch>
        </p:blipFill>
        <p:spPr>
          <a:xfrm>
            <a:off x="7621174" y="2401477"/>
            <a:ext cx="1330971" cy="1313575"/>
          </a:xfrm>
          <a:prstGeom prst="rect">
            <a:avLst/>
          </a:prstGeom>
          <a:noFill/>
          <a:ln>
            <a:noFill/>
          </a:ln>
        </p:spPr>
      </p:pic>
      <p:pic>
        <p:nvPicPr>
          <p:cNvPr id="864" name="Google Shape;864;p74"/>
          <p:cNvPicPr preferRelativeResize="0"/>
          <p:nvPr/>
        </p:nvPicPr>
        <p:blipFill rotWithShape="1">
          <a:blip r:embed="rId7">
            <a:alphaModFix/>
          </a:blip>
          <a:srcRect b="17883" l="0" r="0" t="8370"/>
          <a:stretch/>
        </p:blipFill>
        <p:spPr>
          <a:xfrm>
            <a:off x="5653050" y="2401475"/>
            <a:ext cx="1207501" cy="13356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75"/>
          <p:cNvSpPr txBox="1"/>
          <p:nvPr>
            <p:ph idx="1" type="body"/>
          </p:nvPr>
        </p:nvSpPr>
        <p:spPr>
          <a:xfrm>
            <a:off x="324000" y="759300"/>
            <a:ext cx="8565600" cy="72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Matching with the </a:t>
            </a:r>
            <a:r>
              <a:rPr lang="en-GB" sz="2000"/>
              <a:t>approximate</a:t>
            </a:r>
            <a:r>
              <a:rPr lang="en-GB" sz="2000"/>
              <a:t> lengths in standard form:</a:t>
            </a:r>
            <a:endParaRPr sz="2000"/>
          </a:p>
          <a:p>
            <a:pPr indent="0" lvl="0" marL="0" rtl="0" algn="l">
              <a:spcBef>
                <a:spcPts val="1000"/>
              </a:spcBef>
              <a:spcAft>
                <a:spcPts val="1000"/>
              </a:spcAft>
              <a:buNone/>
            </a:pPr>
            <a:r>
              <a:t/>
            </a:r>
            <a:endParaRPr sz="2000"/>
          </a:p>
        </p:txBody>
      </p:sp>
      <p:sp>
        <p:nvSpPr>
          <p:cNvPr id="870" name="Google Shape;870;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numbers in standard form</a:t>
            </a:r>
            <a:endParaRPr/>
          </a:p>
        </p:txBody>
      </p:sp>
      <p:sp>
        <p:nvSpPr>
          <p:cNvPr id="871" name="Google Shape;871;p75"/>
          <p:cNvSpPr txBox="1"/>
          <p:nvPr/>
        </p:nvSpPr>
        <p:spPr>
          <a:xfrm>
            <a:off x="2237600"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1.1  × 10</a:t>
            </a:r>
            <a:r>
              <a:rPr baseline="30000"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 m</a:t>
            </a:r>
            <a:endParaRPr sz="1800"/>
          </a:p>
        </p:txBody>
      </p:sp>
      <p:grpSp>
        <p:nvGrpSpPr>
          <p:cNvPr id="872" name="Google Shape;872;p75"/>
          <p:cNvGrpSpPr/>
          <p:nvPr/>
        </p:nvGrpSpPr>
        <p:grpSpPr>
          <a:xfrm>
            <a:off x="3863350" y="2401475"/>
            <a:ext cx="1803300" cy="1971396"/>
            <a:chOff x="2263150" y="2401475"/>
            <a:chExt cx="1803300" cy="1971396"/>
          </a:xfrm>
        </p:grpSpPr>
        <p:sp>
          <p:nvSpPr>
            <p:cNvPr id="873" name="Google Shape;873;p75"/>
            <p:cNvSpPr txBox="1"/>
            <p:nvPr/>
          </p:nvSpPr>
          <p:spPr>
            <a:xfrm>
              <a:off x="2263150" y="3737771"/>
              <a:ext cx="18033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height of The Gherkin</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pic>
          <p:nvPicPr>
            <p:cNvPr id="874" name="Google Shape;874;p75"/>
            <p:cNvPicPr preferRelativeResize="0"/>
            <p:nvPr/>
          </p:nvPicPr>
          <p:blipFill rotWithShape="1">
            <a:blip r:embed="rId3">
              <a:alphaModFix/>
            </a:blip>
            <a:srcRect b="0" l="0" r="0" t="0"/>
            <a:stretch/>
          </p:blipFill>
          <p:spPr>
            <a:xfrm>
              <a:off x="2553500" y="2401475"/>
              <a:ext cx="1030551" cy="1340626"/>
            </a:xfrm>
            <a:prstGeom prst="rect">
              <a:avLst/>
            </a:prstGeom>
            <a:noFill/>
            <a:ln>
              <a:noFill/>
            </a:ln>
          </p:spPr>
        </p:pic>
      </p:grpSp>
      <p:sp>
        <p:nvSpPr>
          <p:cNvPr id="875" name="Google Shape;875;p75"/>
          <p:cNvSpPr txBox="1"/>
          <p:nvPr/>
        </p:nvSpPr>
        <p:spPr>
          <a:xfrm>
            <a:off x="3963254"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1.8  × 10</a:t>
            </a:r>
            <a:r>
              <a:rPr baseline="30000" lang="en-GB" sz="1800">
                <a:solidFill>
                  <a:schemeClr val="dk1"/>
                </a:solidFill>
                <a:latin typeface="Lexend"/>
                <a:ea typeface="Lexend"/>
                <a:cs typeface="Lexend"/>
                <a:sym typeface="Lexend"/>
              </a:rPr>
              <a:t>2 </a:t>
            </a:r>
            <a:r>
              <a:rPr lang="en-GB" sz="1800">
                <a:solidFill>
                  <a:schemeClr val="dk1"/>
                </a:solidFill>
                <a:latin typeface="Lexend"/>
                <a:ea typeface="Lexend"/>
                <a:cs typeface="Lexend"/>
                <a:sym typeface="Lexend"/>
              </a:rPr>
              <a:t> m</a:t>
            </a:r>
            <a:endParaRPr sz="1800"/>
          </a:p>
        </p:txBody>
      </p:sp>
      <p:sp>
        <p:nvSpPr>
          <p:cNvPr id="876" name="Google Shape;876;p75"/>
          <p:cNvSpPr txBox="1"/>
          <p:nvPr/>
        </p:nvSpPr>
        <p:spPr>
          <a:xfrm>
            <a:off x="5808473"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3.8  × 10</a:t>
            </a:r>
            <a:r>
              <a:rPr baseline="30000" lang="en-GB" sz="1800">
                <a:solidFill>
                  <a:schemeClr val="dk1"/>
                </a:solidFill>
                <a:latin typeface="Lexend"/>
                <a:ea typeface="Lexend"/>
                <a:cs typeface="Lexend"/>
                <a:sym typeface="Lexend"/>
              </a:rPr>
              <a:t>3 </a:t>
            </a:r>
            <a:r>
              <a:rPr lang="en-GB" sz="1800">
                <a:solidFill>
                  <a:schemeClr val="dk1"/>
                </a:solidFill>
                <a:latin typeface="Lexend"/>
                <a:ea typeface="Lexend"/>
                <a:cs typeface="Lexend"/>
                <a:sym typeface="Lexend"/>
              </a:rPr>
              <a:t> m</a:t>
            </a:r>
            <a:endParaRPr sz="1800"/>
          </a:p>
        </p:txBody>
      </p:sp>
      <p:sp>
        <p:nvSpPr>
          <p:cNvPr id="877" name="Google Shape;877;p75"/>
          <p:cNvSpPr txBox="1"/>
          <p:nvPr/>
        </p:nvSpPr>
        <p:spPr>
          <a:xfrm>
            <a:off x="365436"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9.3  × 10</a:t>
            </a:r>
            <a:r>
              <a:rPr baseline="30000" lang="en-GB" sz="1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 m</a:t>
            </a:r>
            <a:endParaRPr sz="1800"/>
          </a:p>
        </p:txBody>
      </p:sp>
      <p:sp>
        <p:nvSpPr>
          <p:cNvPr id="878" name="Google Shape;878;p75"/>
          <p:cNvSpPr txBox="1"/>
          <p:nvPr/>
        </p:nvSpPr>
        <p:spPr>
          <a:xfrm>
            <a:off x="5483900" y="3737771"/>
            <a:ext cx="2086200" cy="3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height of Mount Fuji</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879" name="Google Shape;879;p75"/>
          <p:cNvSpPr txBox="1"/>
          <p:nvPr/>
        </p:nvSpPr>
        <p:spPr>
          <a:xfrm>
            <a:off x="7529700" y="3719559"/>
            <a:ext cx="12075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Latitude of the Earth </a:t>
            </a:r>
            <a:endParaRPr sz="1800">
              <a:solidFill>
                <a:schemeClr val="dk1"/>
              </a:solidFill>
              <a:latin typeface="Lexend"/>
              <a:ea typeface="Lexend"/>
              <a:cs typeface="Lexend"/>
              <a:sym typeface="Lexend"/>
            </a:endParaRPr>
          </a:p>
        </p:txBody>
      </p:sp>
      <p:sp>
        <p:nvSpPr>
          <p:cNvPr id="880" name="Google Shape;880;p75"/>
          <p:cNvSpPr txBox="1"/>
          <p:nvPr/>
        </p:nvSpPr>
        <p:spPr>
          <a:xfrm>
            <a:off x="7435618"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1.1  × 10</a:t>
            </a:r>
            <a:r>
              <a:rPr baseline="30000" lang="en-GB" sz="1800">
                <a:solidFill>
                  <a:schemeClr val="dk1"/>
                </a:solidFill>
                <a:latin typeface="Lexend"/>
                <a:ea typeface="Lexend"/>
                <a:cs typeface="Lexend"/>
                <a:sym typeface="Lexend"/>
              </a:rPr>
              <a:t>5 </a:t>
            </a:r>
            <a:r>
              <a:rPr lang="en-GB" sz="1800">
                <a:solidFill>
                  <a:schemeClr val="dk1"/>
                </a:solidFill>
                <a:latin typeface="Lexend"/>
                <a:ea typeface="Lexend"/>
                <a:cs typeface="Lexend"/>
                <a:sym typeface="Lexend"/>
              </a:rPr>
              <a:t> m</a:t>
            </a:r>
            <a:endParaRPr sz="1800"/>
          </a:p>
        </p:txBody>
      </p:sp>
      <p:grpSp>
        <p:nvGrpSpPr>
          <p:cNvPr id="881" name="Google Shape;881;p75"/>
          <p:cNvGrpSpPr/>
          <p:nvPr/>
        </p:nvGrpSpPr>
        <p:grpSpPr>
          <a:xfrm>
            <a:off x="281950" y="2415000"/>
            <a:ext cx="1803300" cy="1957871"/>
            <a:chOff x="5844550" y="2415000"/>
            <a:chExt cx="1803300" cy="1957871"/>
          </a:xfrm>
        </p:grpSpPr>
        <p:pic>
          <p:nvPicPr>
            <p:cNvPr id="882" name="Google Shape;882;p75"/>
            <p:cNvPicPr preferRelativeResize="0"/>
            <p:nvPr/>
          </p:nvPicPr>
          <p:blipFill rotWithShape="1">
            <a:blip r:embed="rId4">
              <a:alphaModFix/>
            </a:blip>
            <a:srcRect b="28876" l="8134" r="50002" t="0"/>
            <a:stretch/>
          </p:blipFill>
          <p:spPr>
            <a:xfrm>
              <a:off x="5973500" y="2415000"/>
              <a:ext cx="1374474" cy="1313575"/>
            </a:xfrm>
            <a:prstGeom prst="rect">
              <a:avLst/>
            </a:prstGeom>
            <a:noFill/>
            <a:ln>
              <a:noFill/>
            </a:ln>
          </p:spPr>
        </p:pic>
        <p:sp>
          <p:nvSpPr>
            <p:cNvPr id="883" name="Google Shape;883;p75"/>
            <p:cNvSpPr txBox="1"/>
            <p:nvPr/>
          </p:nvSpPr>
          <p:spPr>
            <a:xfrm>
              <a:off x="5844550" y="3737771"/>
              <a:ext cx="18033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height of the Statue of Liberty   </a:t>
              </a:r>
              <a:endParaRPr sz="1800">
                <a:solidFill>
                  <a:schemeClr val="dk1"/>
                </a:solidFill>
                <a:latin typeface="Lexend"/>
                <a:ea typeface="Lexend"/>
                <a:cs typeface="Lexend"/>
                <a:sym typeface="Lexend"/>
              </a:endParaRPr>
            </a:p>
          </p:txBody>
        </p:sp>
      </p:grpSp>
      <p:grpSp>
        <p:nvGrpSpPr>
          <p:cNvPr id="884" name="Google Shape;884;p75"/>
          <p:cNvGrpSpPr/>
          <p:nvPr/>
        </p:nvGrpSpPr>
        <p:grpSpPr>
          <a:xfrm>
            <a:off x="2022525" y="2403350"/>
            <a:ext cx="2152200" cy="2103935"/>
            <a:chOff x="3927525" y="2403350"/>
            <a:chExt cx="2152200" cy="2103935"/>
          </a:xfrm>
        </p:grpSpPr>
        <p:pic>
          <p:nvPicPr>
            <p:cNvPr id="885" name="Google Shape;885;p75"/>
            <p:cNvPicPr preferRelativeResize="0"/>
            <p:nvPr/>
          </p:nvPicPr>
          <p:blipFill rotWithShape="1">
            <a:blip r:embed="rId5">
              <a:alphaModFix/>
            </a:blip>
            <a:srcRect b="0" l="0" r="17019" t="0"/>
            <a:stretch/>
          </p:blipFill>
          <p:spPr>
            <a:xfrm>
              <a:off x="3991800" y="2403350"/>
              <a:ext cx="1679226" cy="1340624"/>
            </a:xfrm>
            <a:prstGeom prst="rect">
              <a:avLst/>
            </a:prstGeom>
            <a:noFill/>
            <a:ln>
              <a:noFill/>
            </a:ln>
          </p:spPr>
        </p:pic>
        <p:sp>
          <p:nvSpPr>
            <p:cNvPr id="886" name="Google Shape;886;p75"/>
            <p:cNvSpPr txBox="1"/>
            <p:nvPr/>
          </p:nvSpPr>
          <p:spPr>
            <a:xfrm>
              <a:off x="3927525" y="3737785"/>
              <a:ext cx="2152200" cy="7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Length of a football pitch</a:t>
              </a:r>
              <a:endParaRPr sz="1800">
                <a:solidFill>
                  <a:schemeClr val="dk1"/>
                </a:solidFill>
                <a:latin typeface="Lexend"/>
                <a:ea typeface="Lexend"/>
                <a:cs typeface="Lexend"/>
                <a:sym typeface="Lexend"/>
              </a:endParaRPr>
            </a:p>
          </p:txBody>
        </p:sp>
      </p:grpSp>
      <p:pic>
        <p:nvPicPr>
          <p:cNvPr id="887" name="Google Shape;887;p75"/>
          <p:cNvPicPr preferRelativeResize="0"/>
          <p:nvPr/>
        </p:nvPicPr>
        <p:blipFill>
          <a:blip r:embed="rId6">
            <a:alphaModFix/>
          </a:blip>
          <a:stretch>
            <a:fillRect/>
          </a:stretch>
        </p:blipFill>
        <p:spPr>
          <a:xfrm>
            <a:off x="7621174" y="2401477"/>
            <a:ext cx="1330971" cy="1313575"/>
          </a:xfrm>
          <a:prstGeom prst="rect">
            <a:avLst/>
          </a:prstGeom>
          <a:noFill/>
          <a:ln>
            <a:noFill/>
          </a:ln>
        </p:spPr>
      </p:pic>
      <p:pic>
        <p:nvPicPr>
          <p:cNvPr id="888" name="Google Shape;888;p75"/>
          <p:cNvPicPr preferRelativeResize="0"/>
          <p:nvPr/>
        </p:nvPicPr>
        <p:blipFill rotWithShape="1">
          <a:blip r:embed="rId7">
            <a:alphaModFix/>
          </a:blip>
          <a:srcRect b="17883" l="0" r="0" t="8370"/>
          <a:stretch/>
        </p:blipFill>
        <p:spPr>
          <a:xfrm>
            <a:off x="5653050" y="2401475"/>
            <a:ext cx="1207501" cy="13356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76"/>
          <p:cNvSpPr txBox="1"/>
          <p:nvPr/>
        </p:nvSpPr>
        <p:spPr>
          <a:xfrm>
            <a:off x="5760000" y="15768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3.8  × 10</a:t>
            </a:r>
            <a:r>
              <a:rPr b="0" baseline="30000" i="0" lang="en-GB" sz="1800" u="none" cap="none" strike="noStrike">
                <a:solidFill>
                  <a:schemeClr val="dk1"/>
                </a:solidFill>
                <a:latin typeface="Lexend"/>
                <a:ea typeface="Lexend"/>
                <a:cs typeface="Lexend"/>
                <a:sym typeface="Lexend"/>
              </a:rPr>
              <a:t>3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894" name="Google Shape;894;p76"/>
          <p:cNvSpPr/>
          <p:nvPr/>
        </p:nvSpPr>
        <p:spPr>
          <a:xfrm>
            <a:off x="6724025" y="1626900"/>
            <a:ext cx="114900" cy="1497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895" name="Google Shape;895;p76"/>
          <p:cNvSpPr txBox="1"/>
          <p:nvPr>
            <p:ph idx="1" type="body"/>
          </p:nvPr>
        </p:nvSpPr>
        <p:spPr>
          <a:xfrm>
            <a:off x="324000" y="759300"/>
            <a:ext cx="8565600" cy="72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Removing the imagery, how do you identify these standard forms are in ascending order?</a:t>
            </a:r>
            <a:endParaRPr sz="2000"/>
          </a:p>
          <a:p>
            <a:pPr indent="0" lvl="0" marL="0" rtl="0" algn="l">
              <a:lnSpc>
                <a:spcPct val="115000"/>
              </a:lnSpc>
              <a:spcBef>
                <a:spcPts val="1000"/>
              </a:spcBef>
              <a:spcAft>
                <a:spcPts val="1000"/>
              </a:spcAft>
              <a:buSzPts val="2200"/>
              <a:buNone/>
            </a:pPr>
            <a:r>
              <a:t/>
            </a:r>
            <a:endParaRPr sz="2000"/>
          </a:p>
        </p:txBody>
      </p:sp>
      <p:sp>
        <p:nvSpPr>
          <p:cNvPr id="896" name="Google Shape;896;p7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897" name="Google Shape;897;p76"/>
          <p:cNvSpPr txBox="1"/>
          <p:nvPr/>
        </p:nvSpPr>
        <p:spPr>
          <a:xfrm>
            <a:off x="2239200"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1.1  × 10</a:t>
            </a:r>
            <a:r>
              <a:rPr b="0" baseline="30000" i="0" lang="en-GB" sz="1800" u="none" cap="none" strike="noStrike">
                <a:solidFill>
                  <a:schemeClr val="dk1"/>
                </a:solidFill>
                <a:latin typeface="Lexend"/>
                <a:ea typeface="Lexend"/>
                <a:cs typeface="Lexend"/>
                <a:sym typeface="Lexend"/>
              </a:rPr>
              <a:t>2</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898" name="Google Shape;898;p76"/>
          <p:cNvSpPr txBox="1"/>
          <p:nvPr/>
        </p:nvSpPr>
        <p:spPr>
          <a:xfrm>
            <a:off x="3963254"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1.8  × 10</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899" name="Google Shape;899;p76"/>
          <p:cNvSpPr txBox="1"/>
          <p:nvPr/>
        </p:nvSpPr>
        <p:spPr>
          <a:xfrm>
            <a:off x="324011" y="1573525"/>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9.3  × 10</a:t>
            </a:r>
            <a:r>
              <a:rPr b="0" baseline="30000" i="0" lang="en-GB" sz="1800" u="none" cap="none" strike="noStrike">
                <a:solidFill>
                  <a:schemeClr val="dk1"/>
                </a:solidFill>
                <a:latin typeface="Lexend"/>
                <a:ea typeface="Lexend"/>
                <a:cs typeface="Lexend"/>
                <a:sym typeface="Lexend"/>
              </a:rPr>
              <a:t>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900" name="Google Shape;900;p76"/>
          <p:cNvSpPr txBox="1"/>
          <p:nvPr/>
        </p:nvSpPr>
        <p:spPr>
          <a:xfrm>
            <a:off x="7435618"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1.1  × 10</a:t>
            </a:r>
            <a:r>
              <a:rPr b="0" baseline="30000" i="0" lang="en-GB" sz="1800" u="none" cap="none" strike="noStrike">
                <a:solidFill>
                  <a:schemeClr val="dk1"/>
                </a:solidFill>
                <a:latin typeface="Lexend"/>
                <a:ea typeface="Lexend"/>
                <a:cs typeface="Lexend"/>
                <a:sym typeface="Lexend"/>
              </a:rPr>
              <a:t>5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901" name="Google Shape;901;p76"/>
          <p:cNvSpPr txBox="1"/>
          <p:nvPr>
            <p:ph idx="1" type="body"/>
          </p:nvPr>
        </p:nvSpPr>
        <p:spPr>
          <a:xfrm>
            <a:off x="324000" y="2457925"/>
            <a:ext cx="5139600" cy="33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The exponents are in ascending order.</a:t>
            </a:r>
            <a:endParaRPr sz="2000"/>
          </a:p>
          <a:p>
            <a:pPr indent="0" lvl="0" marL="0" rtl="0" algn="l">
              <a:lnSpc>
                <a:spcPct val="115000"/>
              </a:lnSpc>
              <a:spcBef>
                <a:spcPts val="1000"/>
              </a:spcBef>
              <a:spcAft>
                <a:spcPts val="1000"/>
              </a:spcAft>
              <a:buSzPts val="2200"/>
              <a:buNone/>
            </a:pPr>
            <a:r>
              <a:t/>
            </a:r>
            <a:endParaRPr sz="2000"/>
          </a:p>
        </p:txBody>
      </p:sp>
      <p:sp>
        <p:nvSpPr>
          <p:cNvPr id="902" name="Google Shape;902;p76"/>
          <p:cNvSpPr/>
          <p:nvPr/>
        </p:nvSpPr>
        <p:spPr>
          <a:xfrm>
            <a:off x="4896675" y="1657575"/>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03" name="Google Shape;903;p76"/>
          <p:cNvSpPr/>
          <p:nvPr/>
        </p:nvSpPr>
        <p:spPr>
          <a:xfrm>
            <a:off x="8360100" y="1657575"/>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nvGrpSpPr>
          <p:cNvPr id="904" name="Google Shape;904;p76"/>
          <p:cNvGrpSpPr/>
          <p:nvPr/>
        </p:nvGrpSpPr>
        <p:grpSpPr>
          <a:xfrm>
            <a:off x="1224900" y="1548325"/>
            <a:ext cx="459900" cy="486900"/>
            <a:chOff x="1224900" y="1548325"/>
            <a:chExt cx="459900" cy="486900"/>
          </a:xfrm>
        </p:grpSpPr>
        <p:sp>
          <p:nvSpPr>
            <p:cNvPr id="905" name="Google Shape;905;p76"/>
            <p:cNvSpPr txBox="1"/>
            <p:nvPr/>
          </p:nvSpPr>
          <p:spPr>
            <a:xfrm>
              <a:off x="1224900" y="1548325"/>
              <a:ext cx="459900" cy="48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accent4"/>
                  </a:solidFill>
                  <a:latin typeface="Lexend"/>
                  <a:ea typeface="Lexend"/>
                  <a:cs typeface="Lexend"/>
                  <a:sym typeface="Lexend"/>
                </a:rPr>
                <a:t>1</a:t>
              </a:r>
              <a:endParaRPr b="0" i="0" sz="1300" u="none" cap="none" strike="noStrike">
                <a:solidFill>
                  <a:schemeClr val="accent4"/>
                </a:solidFill>
                <a:latin typeface="Lexend"/>
                <a:ea typeface="Lexend"/>
                <a:cs typeface="Lexend"/>
                <a:sym typeface="Lexend"/>
              </a:endParaRPr>
            </a:p>
          </p:txBody>
        </p:sp>
        <p:sp>
          <p:nvSpPr>
            <p:cNvPr id="906" name="Google Shape;906;p76"/>
            <p:cNvSpPr/>
            <p:nvPr/>
          </p:nvSpPr>
          <p:spPr>
            <a:xfrm>
              <a:off x="1275825" y="1626900"/>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grpSp>
      <p:sp>
        <p:nvSpPr>
          <p:cNvPr id="907" name="Google Shape;907;p76"/>
          <p:cNvSpPr/>
          <p:nvPr/>
        </p:nvSpPr>
        <p:spPr>
          <a:xfrm>
            <a:off x="3141600" y="1657575"/>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77"/>
          <p:cNvSpPr txBox="1"/>
          <p:nvPr>
            <p:ph idx="1" type="body"/>
          </p:nvPr>
        </p:nvSpPr>
        <p:spPr>
          <a:xfrm>
            <a:off x="324000" y="759300"/>
            <a:ext cx="8565600" cy="72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Removing the imagery, how do you identify these standard forms are in ascending order?</a:t>
            </a:r>
            <a:endParaRPr sz="2000"/>
          </a:p>
          <a:p>
            <a:pPr indent="0" lvl="0" marL="0" rtl="0" algn="l">
              <a:lnSpc>
                <a:spcPct val="115000"/>
              </a:lnSpc>
              <a:spcBef>
                <a:spcPts val="1000"/>
              </a:spcBef>
              <a:spcAft>
                <a:spcPts val="1000"/>
              </a:spcAft>
              <a:buSzPts val="2200"/>
              <a:buNone/>
            </a:pPr>
            <a:r>
              <a:t/>
            </a:r>
            <a:endParaRPr sz="2000"/>
          </a:p>
        </p:txBody>
      </p:sp>
      <p:sp>
        <p:nvSpPr>
          <p:cNvPr id="913" name="Google Shape;913;p7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914" name="Google Shape;914;p77"/>
          <p:cNvSpPr txBox="1"/>
          <p:nvPr/>
        </p:nvSpPr>
        <p:spPr>
          <a:xfrm>
            <a:off x="2237600" y="1577300"/>
            <a:ext cx="1436400" cy="4602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0000">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1.1  × 10</a:t>
            </a:r>
            <a:r>
              <a:rPr b="0" baseline="30000" i="0" lang="en-GB" sz="1800" u="none" cap="none" strike="noStrike">
                <a:solidFill>
                  <a:schemeClr val="dk1"/>
                </a:solidFill>
                <a:latin typeface="Lexend"/>
                <a:ea typeface="Lexend"/>
                <a:cs typeface="Lexend"/>
                <a:sym typeface="Lexend"/>
              </a:rPr>
              <a:t>2</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915" name="Google Shape;915;p77"/>
          <p:cNvSpPr txBox="1"/>
          <p:nvPr/>
        </p:nvSpPr>
        <p:spPr>
          <a:xfrm>
            <a:off x="3963254" y="1577300"/>
            <a:ext cx="1436400" cy="4602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0000">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1.8  × 10</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916" name="Google Shape;916;p77"/>
          <p:cNvSpPr txBox="1"/>
          <p:nvPr/>
        </p:nvSpPr>
        <p:spPr>
          <a:xfrm>
            <a:off x="5759873" y="1578050"/>
            <a:ext cx="1436400" cy="4602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0000">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3.8  × 10</a:t>
            </a:r>
            <a:r>
              <a:rPr b="0" baseline="30000" i="0" lang="en-GB" sz="1800" u="none" cap="none" strike="noStrike">
                <a:solidFill>
                  <a:schemeClr val="dk1"/>
                </a:solidFill>
                <a:latin typeface="Lexend"/>
                <a:ea typeface="Lexend"/>
                <a:cs typeface="Lexend"/>
                <a:sym typeface="Lexend"/>
              </a:rPr>
              <a:t>3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917" name="Google Shape;917;p77"/>
          <p:cNvSpPr txBox="1"/>
          <p:nvPr/>
        </p:nvSpPr>
        <p:spPr>
          <a:xfrm>
            <a:off x="324011" y="1573525"/>
            <a:ext cx="1436400" cy="4602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0000">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9.3  × 10</a:t>
            </a:r>
            <a:r>
              <a:rPr b="0" baseline="30000" i="0" lang="en-GB" sz="1800" u="none" cap="none" strike="noStrike">
                <a:solidFill>
                  <a:schemeClr val="dk1"/>
                </a:solidFill>
                <a:latin typeface="Lexend"/>
                <a:ea typeface="Lexend"/>
                <a:cs typeface="Lexend"/>
                <a:sym typeface="Lexend"/>
              </a:rPr>
              <a:t>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918" name="Google Shape;918;p77"/>
          <p:cNvSpPr txBox="1"/>
          <p:nvPr/>
        </p:nvSpPr>
        <p:spPr>
          <a:xfrm>
            <a:off x="7435618" y="1577300"/>
            <a:ext cx="1436400" cy="460200"/>
          </a:xfrm>
          <a:prstGeom prst="rect">
            <a:avLst/>
          </a:prstGeom>
          <a:noFill/>
          <a:ln cap="flat" cmpd="sng" w="28575">
            <a:solidFill>
              <a:schemeClr val="accent4"/>
            </a:solidFill>
            <a:prstDash val="solid"/>
            <a:round/>
            <a:headEnd len="sm" w="sm" type="none"/>
            <a:tailEnd len="sm" w="sm" type="none"/>
          </a:ln>
        </p:spPr>
        <p:txBody>
          <a:bodyPr anchorCtr="0" anchor="t" bIns="91425" lIns="0" spcFirstLastPara="1" rIns="0" wrap="square" tIns="90000">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1.1  × 10</a:t>
            </a:r>
            <a:r>
              <a:rPr b="0" baseline="30000" i="0" lang="en-GB" sz="1800" u="none" cap="none" strike="noStrike">
                <a:solidFill>
                  <a:schemeClr val="dk1"/>
                </a:solidFill>
                <a:latin typeface="Lexend"/>
                <a:ea typeface="Lexend"/>
                <a:cs typeface="Lexend"/>
                <a:sym typeface="Lexend"/>
              </a:rPr>
              <a:t>5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919" name="Google Shape;919;p77"/>
          <p:cNvSpPr txBox="1"/>
          <p:nvPr>
            <p:ph idx="1" type="body"/>
          </p:nvPr>
        </p:nvSpPr>
        <p:spPr>
          <a:xfrm>
            <a:off x="324000" y="2457925"/>
            <a:ext cx="5139600" cy="33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The exponents are in ascending order.</a:t>
            </a:r>
            <a:endParaRPr sz="2000"/>
          </a:p>
          <a:p>
            <a:pPr indent="0" lvl="0" marL="0" rtl="0" algn="l">
              <a:lnSpc>
                <a:spcPct val="115000"/>
              </a:lnSpc>
              <a:spcBef>
                <a:spcPts val="1000"/>
              </a:spcBef>
              <a:spcAft>
                <a:spcPts val="1000"/>
              </a:spcAft>
              <a:buSzPts val="2200"/>
              <a:buNone/>
            </a:pPr>
            <a:r>
              <a:t/>
            </a:r>
            <a:endParaRPr sz="2000"/>
          </a:p>
        </p:txBody>
      </p:sp>
      <p:sp>
        <p:nvSpPr>
          <p:cNvPr id="920" name="Google Shape;920;p77"/>
          <p:cNvSpPr txBox="1"/>
          <p:nvPr>
            <p:ph idx="1" type="body"/>
          </p:nvPr>
        </p:nvSpPr>
        <p:spPr>
          <a:xfrm>
            <a:off x="324000" y="3219925"/>
            <a:ext cx="7984200" cy="33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Where the exponents are the same, we order using the number.</a:t>
            </a:r>
            <a:endParaRPr sz="2000"/>
          </a:p>
          <a:p>
            <a:pPr indent="0" lvl="0" marL="0" rtl="0" algn="l">
              <a:lnSpc>
                <a:spcPct val="115000"/>
              </a:lnSpc>
              <a:spcBef>
                <a:spcPts val="1000"/>
              </a:spcBef>
              <a:spcAft>
                <a:spcPts val="1000"/>
              </a:spcAft>
              <a:buSzPts val="2200"/>
              <a:buNone/>
            </a:pPr>
            <a:r>
              <a:t/>
            </a:r>
            <a:endParaRPr sz="2000"/>
          </a:p>
        </p:txBody>
      </p:sp>
      <p:sp>
        <p:nvSpPr>
          <p:cNvPr id="921" name="Google Shape;921;p77"/>
          <p:cNvSpPr/>
          <p:nvPr/>
        </p:nvSpPr>
        <p:spPr>
          <a:xfrm>
            <a:off x="4896675" y="1657575"/>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22" name="Google Shape;922;p77"/>
          <p:cNvSpPr/>
          <p:nvPr/>
        </p:nvSpPr>
        <p:spPr>
          <a:xfrm>
            <a:off x="3155775" y="1648559"/>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23" name="Google Shape;923;p77"/>
          <p:cNvSpPr/>
          <p:nvPr/>
        </p:nvSpPr>
        <p:spPr>
          <a:xfrm>
            <a:off x="2317575" y="1648545"/>
            <a:ext cx="364800" cy="2922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24" name="Google Shape;924;p77"/>
          <p:cNvSpPr/>
          <p:nvPr/>
        </p:nvSpPr>
        <p:spPr>
          <a:xfrm>
            <a:off x="4038725" y="1662045"/>
            <a:ext cx="364800" cy="2922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7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930" name="Google Shape;930;p78"/>
          <p:cNvSpPr txBox="1"/>
          <p:nvPr/>
        </p:nvSpPr>
        <p:spPr>
          <a:xfrm>
            <a:off x="324000" y="759300"/>
            <a:ext cx="8237700" cy="1560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sz="2000" u="none" cap="none" strike="noStrike">
                <a:solidFill>
                  <a:srgbClr val="000000"/>
                </a:solidFill>
                <a:latin typeface="Lexend"/>
                <a:ea typeface="Lexend"/>
                <a:cs typeface="Lexend"/>
                <a:sym typeface="Lexend"/>
              </a:rPr>
              <a:t>Ordering using the exponents can also be seen using a place value chart. The bigger the exponent, the larger the number.</a:t>
            </a:r>
            <a:endParaRPr b="0" i="0" sz="2000" u="none" cap="none" strike="noStrike">
              <a:solidFill>
                <a:srgbClr val="000000"/>
              </a:solidFill>
              <a:latin typeface="Lexend"/>
              <a:ea typeface="Lexend"/>
              <a:cs typeface="Lexend"/>
              <a:sym typeface="Lexend"/>
            </a:endParaRPr>
          </a:p>
          <a:p>
            <a:pPr indent="0" lvl="0" marL="0" marR="0" rtl="0" algn="l">
              <a:lnSpc>
                <a:spcPct val="115000"/>
              </a:lnSpc>
              <a:spcBef>
                <a:spcPts val="1000"/>
              </a:spcBef>
              <a:spcAft>
                <a:spcPts val="0"/>
              </a:spcAft>
              <a:buClr>
                <a:srgbClr val="000000"/>
              </a:buClr>
              <a:buSzPts val="2000"/>
              <a:buFont typeface="Arial"/>
              <a:buNone/>
            </a:pPr>
            <a:r>
              <a:t/>
            </a:r>
            <a:endParaRPr b="0" i="0" sz="1800" u="none" cap="none" strike="noStrike">
              <a:solidFill>
                <a:schemeClr val="dk1"/>
              </a:solidFill>
              <a:latin typeface="Lexend"/>
              <a:ea typeface="Lexend"/>
              <a:cs typeface="Lexend"/>
              <a:sym typeface="Lexend"/>
            </a:endParaRPr>
          </a:p>
          <a:p>
            <a:pPr indent="0" lvl="0" marL="0" marR="0" rtl="0" algn="l">
              <a:lnSpc>
                <a:spcPct val="115000"/>
              </a:lnSpc>
              <a:spcBef>
                <a:spcPts val="100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   </a:t>
            </a:r>
            <a:r>
              <a:rPr b="0" i="0" lang="en-GB" sz="2200" u="none" cap="none" strike="noStrike">
                <a:solidFill>
                  <a:srgbClr val="000000"/>
                </a:solidFill>
                <a:latin typeface="Lexend"/>
                <a:ea typeface="Lexend"/>
                <a:cs typeface="Lexend"/>
                <a:sym typeface="Lexend"/>
              </a:rPr>
              <a:t> </a:t>
            </a:r>
            <a:endParaRPr b="0" i="0" sz="2200" u="none" cap="none" strike="noStrike">
              <a:solidFill>
                <a:srgbClr val="000000"/>
              </a:solidFill>
              <a:latin typeface="Lexend"/>
              <a:ea typeface="Lexend"/>
              <a:cs typeface="Lexend"/>
              <a:sym typeface="Lexend"/>
            </a:endParaRPr>
          </a:p>
          <a:p>
            <a:pPr indent="0" lvl="0" marL="0" marR="0" rtl="0" algn="l">
              <a:lnSpc>
                <a:spcPct val="115000"/>
              </a:lnSpc>
              <a:spcBef>
                <a:spcPts val="1000"/>
              </a:spcBef>
              <a:spcAft>
                <a:spcPts val="1000"/>
              </a:spcAft>
              <a:buClr>
                <a:srgbClr val="000000"/>
              </a:buClr>
              <a:buSzPts val="2200"/>
              <a:buFont typeface="Arial"/>
              <a:buNone/>
            </a:pPr>
            <a:r>
              <a:t/>
            </a:r>
            <a:endParaRPr b="0" i="0" sz="2200" u="none" cap="none" strike="noStrike">
              <a:solidFill>
                <a:srgbClr val="000000"/>
              </a:solidFill>
              <a:latin typeface="Lexend"/>
              <a:ea typeface="Lexend"/>
              <a:cs typeface="Lexend"/>
              <a:sym typeface="Lexend"/>
            </a:endParaRPr>
          </a:p>
        </p:txBody>
      </p:sp>
      <p:graphicFrame>
        <p:nvGraphicFramePr>
          <p:cNvPr id="931" name="Google Shape;931;p78"/>
          <p:cNvGraphicFramePr/>
          <p:nvPr/>
        </p:nvGraphicFramePr>
        <p:xfrm>
          <a:off x="4899938" y="2243185"/>
          <a:ext cx="3000000" cy="3000000"/>
        </p:xfrm>
        <a:graphic>
          <a:graphicData uri="http://schemas.openxmlformats.org/drawingml/2006/table">
            <a:tbl>
              <a:tblPr>
                <a:noFill/>
                <a:tableStyleId>{0D46D18D-6A89-4E7C-B28E-2C4720830B4B}</a:tableStyleId>
              </a:tblPr>
              <a:tblGrid>
                <a:gridCol w="663750"/>
                <a:gridCol w="642300"/>
                <a:gridCol w="642300"/>
                <a:gridCol w="642300"/>
                <a:gridCol w="642300"/>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932" name="Google Shape;932;p78"/>
          <p:cNvSpPr txBox="1"/>
          <p:nvPr/>
        </p:nvSpPr>
        <p:spPr>
          <a:xfrm>
            <a:off x="6719116"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a:t>
            </a:r>
            <a:endParaRPr b="0" i="0" sz="1800" u="none" cap="none" strike="noStrike">
              <a:solidFill>
                <a:srgbClr val="000000"/>
              </a:solidFill>
              <a:latin typeface="Lexend"/>
              <a:ea typeface="Lexend"/>
              <a:cs typeface="Lexend"/>
              <a:sym typeface="Lexend"/>
            </a:endParaRPr>
          </a:p>
        </p:txBody>
      </p:sp>
      <p:sp>
        <p:nvSpPr>
          <p:cNvPr id="933" name="Google Shape;933;p78"/>
          <p:cNvSpPr txBox="1"/>
          <p:nvPr/>
        </p:nvSpPr>
        <p:spPr>
          <a:xfrm>
            <a:off x="7370140"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O</a:t>
            </a:r>
            <a:endParaRPr b="0" i="0" sz="1800" u="none" cap="none" strike="noStrike">
              <a:solidFill>
                <a:srgbClr val="000000"/>
              </a:solidFill>
              <a:latin typeface="Lexend"/>
              <a:ea typeface="Lexend"/>
              <a:cs typeface="Lexend"/>
              <a:sym typeface="Lexend"/>
            </a:endParaRPr>
          </a:p>
        </p:txBody>
      </p:sp>
      <p:sp>
        <p:nvSpPr>
          <p:cNvPr id="934" name="Google Shape;934;p78"/>
          <p:cNvSpPr txBox="1"/>
          <p:nvPr/>
        </p:nvSpPr>
        <p:spPr>
          <a:xfrm>
            <a:off x="6133244"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H</a:t>
            </a:r>
            <a:endParaRPr b="0" i="0" sz="1800" u="none" cap="none" strike="noStrike">
              <a:solidFill>
                <a:srgbClr val="000000"/>
              </a:solidFill>
              <a:latin typeface="Lexend"/>
              <a:ea typeface="Lexend"/>
              <a:cs typeface="Lexend"/>
              <a:sym typeface="Lexend"/>
            </a:endParaRPr>
          </a:p>
        </p:txBody>
      </p:sp>
      <p:sp>
        <p:nvSpPr>
          <p:cNvPr id="935" name="Google Shape;935;p78"/>
          <p:cNvSpPr txBox="1"/>
          <p:nvPr/>
        </p:nvSpPr>
        <p:spPr>
          <a:xfrm>
            <a:off x="5433597"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Th</a:t>
            </a:r>
            <a:endParaRPr b="0" i="0" sz="1800" u="none" cap="none" strike="noStrike">
              <a:solidFill>
                <a:srgbClr val="000000"/>
              </a:solidFill>
              <a:latin typeface="Lexend"/>
              <a:ea typeface="Lexend"/>
              <a:cs typeface="Lexend"/>
              <a:sym typeface="Lexend"/>
            </a:endParaRPr>
          </a:p>
        </p:txBody>
      </p:sp>
      <p:sp>
        <p:nvSpPr>
          <p:cNvPr id="936" name="Google Shape;936;p78"/>
          <p:cNvSpPr txBox="1"/>
          <p:nvPr/>
        </p:nvSpPr>
        <p:spPr>
          <a:xfrm>
            <a:off x="676543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1</a:t>
            </a:r>
            <a:endParaRPr b="0" i="0" sz="1800" u="none" cap="none" strike="noStrike">
              <a:solidFill>
                <a:srgbClr val="000000"/>
              </a:solidFill>
              <a:latin typeface="Lexend"/>
              <a:ea typeface="Lexend"/>
              <a:cs typeface="Lexend"/>
              <a:sym typeface="Lexend"/>
            </a:endParaRPr>
          </a:p>
        </p:txBody>
      </p:sp>
      <p:sp>
        <p:nvSpPr>
          <p:cNvPr id="937" name="Google Shape;937;p78"/>
          <p:cNvSpPr txBox="1"/>
          <p:nvPr/>
        </p:nvSpPr>
        <p:spPr>
          <a:xfrm>
            <a:off x="741171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0</a:t>
            </a:r>
            <a:endParaRPr b="0" i="0" sz="1800" u="none" cap="none" strike="noStrike">
              <a:solidFill>
                <a:srgbClr val="000000"/>
              </a:solidFill>
              <a:latin typeface="Lexend"/>
              <a:ea typeface="Lexend"/>
              <a:cs typeface="Lexend"/>
              <a:sym typeface="Lexend"/>
            </a:endParaRPr>
          </a:p>
        </p:txBody>
      </p:sp>
      <p:sp>
        <p:nvSpPr>
          <p:cNvPr id="938" name="Google Shape;938;p78"/>
          <p:cNvSpPr txBox="1"/>
          <p:nvPr/>
        </p:nvSpPr>
        <p:spPr>
          <a:xfrm>
            <a:off x="547287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3</a:t>
            </a:r>
            <a:endParaRPr b="0" i="0" sz="1800" u="none" cap="none" strike="noStrike">
              <a:solidFill>
                <a:srgbClr val="000000"/>
              </a:solidFill>
              <a:latin typeface="Lexend"/>
              <a:ea typeface="Lexend"/>
              <a:cs typeface="Lexend"/>
              <a:sym typeface="Lexend"/>
            </a:endParaRPr>
          </a:p>
        </p:txBody>
      </p:sp>
      <p:sp>
        <p:nvSpPr>
          <p:cNvPr id="939" name="Google Shape;939;p78"/>
          <p:cNvSpPr txBox="1"/>
          <p:nvPr/>
        </p:nvSpPr>
        <p:spPr>
          <a:xfrm>
            <a:off x="611915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2</a:t>
            </a:r>
            <a:endParaRPr b="0" i="0" sz="1800" u="none" cap="none" strike="noStrike">
              <a:solidFill>
                <a:srgbClr val="000000"/>
              </a:solidFill>
              <a:latin typeface="Lexend"/>
              <a:ea typeface="Lexend"/>
              <a:cs typeface="Lexend"/>
              <a:sym typeface="Lexend"/>
            </a:endParaRPr>
          </a:p>
        </p:txBody>
      </p:sp>
      <p:sp>
        <p:nvSpPr>
          <p:cNvPr id="940" name="Google Shape;940;p78"/>
          <p:cNvSpPr txBox="1"/>
          <p:nvPr/>
        </p:nvSpPr>
        <p:spPr>
          <a:xfrm>
            <a:off x="7985063" y="2216163"/>
            <a:ext cx="897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a:t>
            </a:r>
            <a:endParaRPr b="0" i="0" sz="1800" u="none" cap="none" strike="noStrike">
              <a:solidFill>
                <a:srgbClr val="000000"/>
              </a:solidFill>
              <a:latin typeface="Lexend"/>
              <a:ea typeface="Lexend"/>
              <a:cs typeface="Lexend"/>
              <a:sym typeface="Lexend"/>
            </a:endParaRPr>
          </a:p>
        </p:txBody>
      </p:sp>
      <p:sp>
        <p:nvSpPr>
          <p:cNvPr id="941" name="Google Shape;941;p78"/>
          <p:cNvSpPr txBox="1"/>
          <p:nvPr/>
        </p:nvSpPr>
        <p:spPr>
          <a:xfrm>
            <a:off x="805799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1</a:t>
            </a:r>
            <a:endParaRPr b="0" i="0" sz="1800" u="none" cap="none" strike="noStrike">
              <a:solidFill>
                <a:srgbClr val="000000"/>
              </a:solidFill>
              <a:latin typeface="Lexend"/>
              <a:ea typeface="Lexend"/>
              <a:cs typeface="Lexend"/>
              <a:sym typeface="Lexend"/>
            </a:endParaRPr>
          </a:p>
        </p:txBody>
      </p:sp>
      <p:sp>
        <p:nvSpPr>
          <p:cNvPr id="942" name="Google Shape;942;p78"/>
          <p:cNvSpPr txBox="1"/>
          <p:nvPr/>
        </p:nvSpPr>
        <p:spPr>
          <a:xfrm>
            <a:off x="4772575"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TTh</a:t>
            </a:r>
            <a:endParaRPr b="0" i="0" sz="1800" u="none" cap="none" strike="noStrike">
              <a:solidFill>
                <a:srgbClr val="000000"/>
              </a:solidFill>
              <a:latin typeface="Lexend"/>
              <a:ea typeface="Lexend"/>
              <a:cs typeface="Lexend"/>
              <a:sym typeface="Lexend"/>
            </a:endParaRPr>
          </a:p>
        </p:txBody>
      </p:sp>
      <p:sp>
        <p:nvSpPr>
          <p:cNvPr id="943" name="Google Shape;943;p78"/>
          <p:cNvSpPr txBox="1"/>
          <p:nvPr/>
        </p:nvSpPr>
        <p:spPr>
          <a:xfrm>
            <a:off x="4821353"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4</a:t>
            </a:r>
            <a:endParaRPr b="0" i="0" sz="1800" u="none" cap="none" strike="noStrike">
              <a:solidFill>
                <a:srgbClr val="000000"/>
              </a:solidFill>
              <a:latin typeface="Lexend"/>
              <a:ea typeface="Lexend"/>
              <a:cs typeface="Lexend"/>
              <a:sym typeface="Lexend"/>
            </a:endParaRPr>
          </a:p>
        </p:txBody>
      </p:sp>
      <p:graphicFrame>
        <p:nvGraphicFramePr>
          <p:cNvPr id="944" name="Google Shape;944;p78"/>
          <p:cNvGraphicFramePr/>
          <p:nvPr/>
        </p:nvGraphicFramePr>
        <p:xfrm>
          <a:off x="1046155" y="2243390"/>
          <a:ext cx="3000000" cy="3000000"/>
        </p:xfrm>
        <a:graphic>
          <a:graphicData uri="http://schemas.openxmlformats.org/drawingml/2006/table">
            <a:tbl>
              <a:tblPr>
                <a:noFill/>
                <a:tableStyleId>{0D46D18D-6A89-4E7C-B28E-2C4720830B4B}</a:tableStyleId>
              </a:tblPr>
              <a:tblGrid>
                <a:gridCol w="642300"/>
                <a:gridCol w="642300"/>
                <a:gridCol w="642300"/>
                <a:gridCol w="642300"/>
                <a:gridCol w="642300"/>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945" name="Google Shape;945;p78"/>
          <p:cNvSpPr txBox="1"/>
          <p:nvPr/>
        </p:nvSpPr>
        <p:spPr>
          <a:xfrm>
            <a:off x="3518716"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M</a:t>
            </a:r>
            <a:endParaRPr b="0" i="0" sz="1800" u="none" cap="none" strike="noStrike">
              <a:solidFill>
                <a:srgbClr val="000000"/>
              </a:solidFill>
              <a:latin typeface="Lexend"/>
              <a:ea typeface="Lexend"/>
              <a:cs typeface="Lexend"/>
              <a:sym typeface="Lexend"/>
            </a:endParaRPr>
          </a:p>
        </p:txBody>
      </p:sp>
      <p:sp>
        <p:nvSpPr>
          <p:cNvPr id="946" name="Google Shape;946;p78"/>
          <p:cNvSpPr txBox="1"/>
          <p:nvPr/>
        </p:nvSpPr>
        <p:spPr>
          <a:xfrm>
            <a:off x="4169740"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HTh</a:t>
            </a:r>
            <a:endParaRPr b="0" i="0" sz="1800" u="none" cap="none" strike="noStrike">
              <a:solidFill>
                <a:srgbClr val="000000"/>
              </a:solidFill>
              <a:latin typeface="Lexend"/>
              <a:ea typeface="Lexend"/>
              <a:cs typeface="Lexend"/>
              <a:sym typeface="Lexend"/>
            </a:endParaRPr>
          </a:p>
        </p:txBody>
      </p:sp>
      <p:sp>
        <p:nvSpPr>
          <p:cNvPr id="947" name="Google Shape;947;p78"/>
          <p:cNvSpPr txBox="1"/>
          <p:nvPr/>
        </p:nvSpPr>
        <p:spPr>
          <a:xfrm>
            <a:off x="2878024"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TM</a:t>
            </a:r>
            <a:endParaRPr b="0" i="0" sz="1800" u="none" cap="none" strike="noStrike">
              <a:solidFill>
                <a:srgbClr val="000000"/>
              </a:solidFill>
              <a:latin typeface="Lexend"/>
              <a:ea typeface="Lexend"/>
              <a:cs typeface="Lexend"/>
              <a:sym typeface="Lexend"/>
            </a:endParaRPr>
          </a:p>
        </p:txBody>
      </p:sp>
      <p:sp>
        <p:nvSpPr>
          <p:cNvPr id="948" name="Google Shape;948;p78"/>
          <p:cNvSpPr txBox="1"/>
          <p:nvPr/>
        </p:nvSpPr>
        <p:spPr>
          <a:xfrm>
            <a:off x="2233197"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HM</a:t>
            </a:r>
            <a:endParaRPr b="0" i="0" sz="1800" u="none" cap="none" strike="noStrike">
              <a:solidFill>
                <a:srgbClr val="000000"/>
              </a:solidFill>
              <a:latin typeface="Lexend"/>
              <a:ea typeface="Lexend"/>
              <a:cs typeface="Lexend"/>
              <a:sym typeface="Lexend"/>
            </a:endParaRPr>
          </a:p>
        </p:txBody>
      </p:sp>
      <p:sp>
        <p:nvSpPr>
          <p:cNvPr id="949" name="Google Shape;949;p78"/>
          <p:cNvSpPr txBox="1"/>
          <p:nvPr/>
        </p:nvSpPr>
        <p:spPr>
          <a:xfrm>
            <a:off x="1572175"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B</a:t>
            </a:r>
            <a:endParaRPr b="0" i="0" sz="1800" u="none" cap="none" strike="noStrike">
              <a:solidFill>
                <a:srgbClr val="000000"/>
              </a:solidFill>
              <a:latin typeface="Lexend"/>
              <a:ea typeface="Lexend"/>
              <a:cs typeface="Lexend"/>
              <a:sym typeface="Lexend"/>
            </a:endParaRPr>
          </a:p>
        </p:txBody>
      </p:sp>
      <p:sp>
        <p:nvSpPr>
          <p:cNvPr id="950" name="Google Shape;950;p78"/>
          <p:cNvSpPr txBox="1"/>
          <p:nvPr/>
        </p:nvSpPr>
        <p:spPr>
          <a:xfrm>
            <a:off x="886375"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TB</a:t>
            </a:r>
            <a:endParaRPr b="0" i="0" sz="1800" u="none" cap="none" strike="noStrike">
              <a:solidFill>
                <a:srgbClr val="000000"/>
              </a:solidFill>
              <a:latin typeface="Lexend"/>
              <a:ea typeface="Lexend"/>
              <a:cs typeface="Lexend"/>
              <a:sym typeface="Lexend"/>
            </a:endParaRPr>
          </a:p>
        </p:txBody>
      </p:sp>
      <p:graphicFrame>
        <p:nvGraphicFramePr>
          <p:cNvPr id="951" name="Google Shape;951;p78"/>
          <p:cNvGraphicFramePr/>
          <p:nvPr/>
        </p:nvGraphicFramePr>
        <p:xfrm>
          <a:off x="403855" y="2243165"/>
          <a:ext cx="3000000" cy="3000000"/>
        </p:xfrm>
        <a:graphic>
          <a:graphicData uri="http://schemas.openxmlformats.org/drawingml/2006/table">
            <a:tbl>
              <a:tblPr>
                <a:noFill/>
                <a:tableStyleId>{0D46D18D-6A89-4E7C-B28E-2C4720830B4B}</a:tableStyleId>
              </a:tblPr>
              <a:tblGrid>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952" name="Google Shape;952;p78"/>
          <p:cNvSpPr txBox="1"/>
          <p:nvPr/>
        </p:nvSpPr>
        <p:spPr>
          <a:xfrm>
            <a:off x="276775"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HB</a:t>
            </a:r>
            <a:endParaRPr b="0" i="0" sz="1800" u="none" cap="none" strike="noStrike">
              <a:solidFill>
                <a:srgbClr val="000000"/>
              </a:solidFill>
              <a:latin typeface="Lexend"/>
              <a:ea typeface="Lexend"/>
              <a:cs typeface="Lexend"/>
              <a:sym typeface="Lexend"/>
            </a:endParaRPr>
          </a:p>
        </p:txBody>
      </p:sp>
      <p:sp>
        <p:nvSpPr>
          <p:cNvPr id="953" name="Google Shape;953;p78"/>
          <p:cNvSpPr txBox="1"/>
          <p:nvPr/>
        </p:nvSpPr>
        <p:spPr>
          <a:xfrm>
            <a:off x="353762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6</a:t>
            </a:r>
            <a:endParaRPr b="0" i="0" sz="1800" u="none" cap="none" strike="noStrike">
              <a:solidFill>
                <a:srgbClr val="000000"/>
              </a:solidFill>
              <a:latin typeface="Lexend"/>
              <a:ea typeface="Lexend"/>
              <a:cs typeface="Lexend"/>
              <a:sym typeface="Lexend"/>
            </a:endParaRPr>
          </a:p>
        </p:txBody>
      </p:sp>
      <p:sp>
        <p:nvSpPr>
          <p:cNvPr id="954" name="Google Shape;954;p78"/>
          <p:cNvSpPr txBox="1"/>
          <p:nvPr/>
        </p:nvSpPr>
        <p:spPr>
          <a:xfrm>
            <a:off x="418390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5</a:t>
            </a:r>
            <a:endParaRPr b="0" i="0" sz="1800" u="none" cap="none" strike="noStrike">
              <a:solidFill>
                <a:srgbClr val="000000"/>
              </a:solidFill>
              <a:latin typeface="Lexend"/>
              <a:ea typeface="Lexend"/>
              <a:cs typeface="Lexend"/>
              <a:sym typeface="Lexend"/>
            </a:endParaRPr>
          </a:p>
        </p:txBody>
      </p:sp>
      <p:sp>
        <p:nvSpPr>
          <p:cNvPr id="955" name="Google Shape;955;p78"/>
          <p:cNvSpPr txBox="1"/>
          <p:nvPr/>
        </p:nvSpPr>
        <p:spPr>
          <a:xfrm>
            <a:off x="224506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8</a:t>
            </a:r>
            <a:endParaRPr b="0" i="0" sz="1800" u="none" cap="none" strike="noStrike">
              <a:solidFill>
                <a:srgbClr val="000000"/>
              </a:solidFill>
              <a:latin typeface="Lexend"/>
              <a:ea typeface="Lexend"/>
              <a:cs typeface="Lexend"/>
              <a:sym typeface="Lexend"/>
            </a:endParaRPr>
          </a:p>
        </p:txBody>
      </p:sp>
      <p:sp>
        <p:nvSpPr>
          <p:cNvPr id="956" name="Google Shape;956;p78"/>
          <p:cNvSpPr txBox="1"/>
          <p:nvPr/>
        </p:nvSpPr>
        <p:spPr>
          <a:xfrm>
            <a:off x="289134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7</a:t>
            </a:r>
            <a:endParaRPr b="0" i="0" sz="1800" u="none" cap="none" strike="noStrike">
              <a:solidFill>
                <a:srgbClr val="000000"/>
              </a:solidFill>
              <a:latin typeface="Lexend"/>
              <a:ea typeface="Lexend"/>
              <a:cs typeface="Lexend"/>
              <a:sym typeface="Lexend"/>
            </a:endParaRPr>
          </a:p>
        </p:txBody>
      </p:sp>
      <p:sp>
        <p:nvSpPr>
          <p:cNvPr id="957" name="Google Shape;957;p78"/>
          <p:cNvSpPr txBox="1"/>
          <p:nvPr/>
        </p:nvSpPr>
        <p:spPr>
          <a:xfrm>
            <a:off x="1593542"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9</a:t>
            </a:r>
            <a:endParaRPr b="0" i="0" sz="1800" u="none" cap="none" strike="noStrike">
              <a:solidFill>
                <a:srgbClr val="000000"/>
              </a:solidFill>
              <a:latin typeface="Lexend"/>
              <a:ea typeface="Lexend"/>
              <a:cs typeface="Lexend"/>
              <a:sym typeface="Lexend"/>
            </a:endParaRPr>
          </a:p>
        </p:txBody>
      </p:sp>
      <p:sp>
        <p:nvSpPr>
          <p:cNvPr id="958" name="Google Shape;958;p78"/>
          <p:cNvSpPr txBox="1"/>
          <p:nvPr/>
        </p:nvSpPr>
        <p:spPr>
          <a:xfrm>
            <a:off x="949667"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10</a:t>
            </a:r>
            <a:endParaRPr b="0" i="0" sz="1800" u="none" cap="none" strike="noStrike">
              <a:solidFill>
                <a:srgbClr val="000000"/>
              </a:solidFill>
              <a:latin typeface="Lexend"/>
              <a:ea typeface="Lexend"/>
              <a:cs typeface="Lexend"/>
              <a:sym typeface="Lexend"/>
            </a:endParaRPr>
          </a:p>
        </p:txBody>
      </p:sp>
      <p:sp>
        <p:nvSpPr>
          <p:cNvPr id="959" name="Google Shape;959;p78"/>
          <p:cNvSpPr txBox="1"/>
          <p:nvPr/>
        </p:nvSpPr>
        <p:spPr>
          <a:xfrm>
            <a:off x="298142"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11</a:t>
            </a:r>
            <a:endParaRPr b="0" i="0" sz="1800" u="none" cap="none" strike="noStrike">
              <a:solidFill>
                <a:srgbClr val="000000"/>
              </a:solidFill>
              <a:latin typeface="Lexend"/>
              <a:ea typeface="Lexend"/>
              <a:cs typeface="Lexend"/>
              <a:sym typeface="Lexend"/>
            </a:endParaRPr>
          </a:p>
        </p:txBody>
      </p:sp>
      <p:sp>
        <p:nvSpPr>
          <p:cNvPr id="960" name="Google Shape;960;p78"/>
          <p:cNvSpPr/>
          <p:nvPr/>
        </p:nvSpPr>
        <p:spPr>
          <a:xfrm>
            <a:off x="8048727" y="3292231"/>
            <a:ext cx="135300" cy="1455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78"/>
          <p:cNvSpPr txBox="1"/>
          <p:nvPr/>
        </p:nvSpPr>
        <p:spPr>
          <a:xfrm>
            <a:off x="1193598" y="3157730"/>
            <a:ext cx="6888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2400" u="none" cap="none" strike="noStrike">
                <a:solidFill>
                  <a:srgbClr val="000000"/>
                </a:solidFill>
                <a:latin typeface="Lexend"/>
                <a:ea typeface="Lexend"/>
                <a:cs typeface="Lexend"/>
                <a:sym typeface="Lexend"/>
              </a:rPr>
              <a:t>9     0     0     0      0     0     0      0     0     0      0</a:t>
            </a:r>
            <a:endParaRPr b="0" i="0" sz="2400" u="none" cap="none" strike="noStrike">
              <a:solidFill>
                <a:srgbClr val="000000"/>
              </a:solidFill>
              <a:latin typeface="Arial"/>
              <a:ea typeface="Arial"/>
              <a:cs typeface="Arial"/>
              <a:sym typeface="Arial"/>
            </a:endParaRPr>
          </a:p>
        </p:txBody>
      </p:sp>
      <p:sp>
        <p:nvSpPr>
          <p:cNvPr id="962" name="Google Shape;962;p78"/>
          <p:cNvSpPr txBox="1"/>
          <p:nvPr/>
        </p:nvSpPr>
        <p:spPr>
          <a:xfrm>
            <a:off x="324000" y="1578125"/>
            <a:ext cx="57951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For example,   9  × 10</a:t>
            </a:r>
            <a:r>
              <a:rPr baseline="30000" lang="en-GB" sz="2000">
                <a:solidFill>
                  <a:schemeClr val="dk1"/>
                </a:solidFill>
                <a:latin typeface="Lexend"/>
                <a:ea typeface="Lexend"/>
                <a:cs typeface="Lexend"/>
                <a:sym typeface="Lexend"/>
              </a:rPr>
              <a:t>10  </a:t>
            </a:r>
            <a:endParaRPr/>
          </a:p>
        </p:txBody>
      </p:sp>
      <p:sp>
        <p:nvSpPr>
          <p:cNvPr id="963" name="Google Shape;963;p78"/>
          <p:cNvSpPr txBox="1"/>
          <p:nvPr/>
        </p:nvSpPr>
        <p:spPr>
          <a:xfrm>
            <a:off x="3167100" y="1578125"/>
            <a:ext cx="15090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000"/>
              </a:spcBef>
              <a:spcAft>
                <a:spcPts val="0"/>
              </a:spcAft>
              <a:buNone/>
            </a:pPr>
            <a:r>
              <a:rPr baseline="30000" lang="en-GB" sz="20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&gt;    </a:t>
            </a:r>
            <a:r>
              <a:rPr lang="en-GB" sz="2000">
                <a:solidFill>
                  <a:schemeClr val="dk1"/>
                </a:solidFill>
                <a:latin typeface="Lexend"/>
                <a:ea typeface="Lexend"/>
                <a:cs typeface="Lexend"/>
                <a:sym typeface="Lexend"/>
              </a:rPr>
              <a:t>9  ×  </a:t>
            </a:r>
            <a:r>
              <a:rPr lang="en-GB" sz="1800">
                <a:solidFill>
                  <a:schemeClr val="dk1"/>
                </a:solidFill>
                <a:latin typeface="Lexend"/>
                <a:ea typeface="Lexend"/>
                <a:cs typeface="Lexend"/>
                <a:sym typeface="Lexend"/>
              </a:rPr>
              <a:t>10</a:t>
            </a:r>
            <a:r>
              <a:rPr baseline="30000" lang="en-GB" sz="1800">
                <a:solidFill>
                  <a:schemeClr val="dk1"/>
                </a:solidFill>
                <a:latin typeface="Lexend"/>
                <a:ea typeface="Lexend"/>
                <a:cs typeface="Lexend"/>
                <a:sym typeface="Lexend"/>
              </a:rPr>
              <a:t>6</a:t>
            </a:r>
            <a:endParaRPr/>
          </a:p>
        </p:txBody>
      </p:sp>
      <p:graphicFrame>
        <p:nvGraphicFramePr>
          <p:cNvPr id="964" name="Google Shape;964;p78"/>
          <p:cNvGraphicFramePr/>
          <p:nvPr/>
        </p:nvGraphicFramePr>
        <p:xfrm>
          <a:off x="4905670" y="3623217"/>
          <a:ext cx="3000000" cy="3000000"/>
        </p:xfrm>
        <a:graphic>
          <a:graphicData uri="http://schemas.openxmlformats.org/drawingml/2006/table">
            <a:tbl>
              <a:tblPr>
                <a:noFill/>
                <a:tableStyleId>{0D46D18D-6A89-4E7C-B28E-2C4720830B4B}</a:tableStyleId>
              </a:tblPr>
              <a:tblGrid>
                <a:gridCol w="663750"/>
                <a:gridCol w="642300"/>
                <a:gridCol w="642300"/>
                <a:gridCol w="642300"/>
                <a:gridCol w="642300"/>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graphicFrame>
        <p:nvGraphicFramePr>
          <p:cNvPr id="965" name="Google Shape;965;p78"/>
          <p:cNvGraphicFramePr/>
          <p:nvPr/>
        </p:nvGraphicFramePr>
        <p:xfrm>
          <a:off x="401040" y="3613593"/>
          <a:ext cx="3000000" cy="3000000"/>
        </p:xfrm>
        <a:graphic>
          <a:graphicData uri="http://schemas.openxmlformats.org/drawingml/2006/table">
            <a:tbl>
              <a:tblPr>
                <a:noFill/>
                <a:tableStyleId>{0D46D18D-6A89-4E7C-B28E-2C4720830B4B}</a:tableStyleId>
              </a:tblPr>
              <a:tblGrid>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graphicFrame>
        <p:nvGraphicFramePr>
          <p:cNvPr id="966" name="Google Shape;966;p78"/>
          <p:cNvGraphicFramePr/>
          <p:nvPr/>
        </p:nvGraphicFramePr>
        <p:xfrm>
          <a:off x="1050093" y="3617335"/>
          <a:ext cx="3000000" cy="3000000"/>
        </p:xfrm>
        <a:graphic>
          <a:graphicData uri="http://schemas.openxmlformats.org/drawingml/2006/table">
            <a:tbl>
              <a:tblPr>
                <a:noFill/>
                <a:tableStyleId>{0D46D18D-6A89-4E7C-B28E-2C4720830B4B}</a:tableStyleId>
              </a:tblPr>
              <a:tblGrid>
                <a:gridCol w="642300"/>
                <a:gridCol w="642300"/>
                <a:gridCol w="642300"/>
                <a:gridCol w="642300"/>
                <a:gridCol w="642300"/>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967" name="Google Shape;967;p78"/>
          <p:cNvSpPr txBox="1"/>
          <p:nvPr/>
        </p:nvSpPr>
        <p:spPr>
          <a:xfrm>
            <a:off x="3859207" y="3640559"/>
            <a:ext cx="5103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2400" u="none" cap="none" strike="noStrike">
                <a:solidFill>
                  <a:srgbClr val="000000"/>
                </a:solidFill>
                <a:latin typeface="Lexend"/>
                <a:ea typeface="Lexend"/>
                <a:cs typeface="Lexend"/>
                <a:sym typeface="Lexend"/>
              </a:rPr>
              <a:t>9     0     0     0      0     0     0      </a:t>
            </a:r>
            <a:endParaRPr b="0" i="0" sz="2400" u="none" cap="none" strike="noStrike">
              <a:solidFill>
                <a:srgbClr val="000000"/>
              </a:solidFill>
              <a:latin typeface="Arial"/>
              <a:ea typeface="Arial"/>
              <a:cs typeface="Arial"/>
              <a:sym typeface="Arial"/>
            </a:endParaRPr>
          </a:p>
        </p:txBody>
      </p:sp>
      <p:sp>
        <p:nvSpPr>
          <p:cNvPr id="968" name="Google Shape;968;p78"/>
          <p:cNvSpPr/>
          <p:nvPr/>
        </p:nvSpPr>
        <p:spPr>
          <a:xfrm>
            <a:off x="8075996" y="3762263"/>
            <a:ext cx="135300" cy="1455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7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974" name="Google Shape;974;p79"/>
          <p:cNvSpPr txBox="1"/>
          <p:nvPr/>
        </p:nvSpPr>
        <p:spPr>
          <a:xfrm>
            <a:off x="3882139" y="3257776"/>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2.099 × 10</a:t>
            </a:r>
            <a:r>
              <a:rPr b="0" baseline="30000" i="0" lang="en-GB" sz="1800" u="none" cap="none" strike="noStrike">
                <a:solidFill>
                  <a:schemeClr val="dk1"/>
                </a:solidFill>
                <a:latin typeface="Lexend"/>
                <a:ea typeface="Lexend"/>
                <a:cs typeface="Lexend"/>
                <a:sym typeface="Lexend"/>
              </a:rPr>
              <a:t>5</a:t>
            </a:r>
            <a:endParaRPr b="0" i="0" sz="1800" u="none" cap="none" strike="noStrike">
              <a:solidFill>
                <a:srgbClr val="000000"/>
              </a:solidFill>
              <a:latin typeface="Arial"/>
              <a:ea typeface="Arial"/>
              <a:cs typeface="Arial"/>
              <a:sym typeface="Arial"/>
            </a:endParaRPr>
          </a:p>
        </p:txBody>
      </p:sp>
      <p:sp>
        <p:nvSpPr>
          <p:cNvPr id="975" name="Google Shape;975;p79"/>
          <p:cNvSpPr txBox="1"/>
          <p:nvPr/>
        </p:nvSpPr>
        <p:spPr>
          <a:xfrm>
            <a:off x="3882139" y="2386197"/>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2.1  × 10</a:t>
            </a:r>
            <a:r>
              <a:rPr b="0" baseline="30000" i="0" lang="en-GB" sz="1800" u="none" cap="none" strike="noStrike">
                <a:solidFill>
                  <a:schemeClr val="dk1"/>
                </a:solidFill>
                <a:latin typeface="Lexend"/>
                <a:ea typeface="Lexend"/>
                <a:cs typeface="Lexend"/>
                <a:sym typeface="Lexend"/>
              </a:rPr>
              <a:t>5</a:t>
            </a:r>
            <a:r>
              <a:rPr b="0" i="0" lang="en-GB" sz="1800" u="none" cap="none" strike="noStrike">
                <a:solidFill>
                  <a:schemeClr val="dk1"/>
                </a:solidFill>
                <a:latin typeface="Lexend"/>
                <a:ea typeface="Lexend"/>
                <a:cs typeface="Lexend"/>
                <a:sym typeface="Lexend"/>
              </a:rPr>
              <a:t> </a:t>
            </a:r>
            <a:endParaRPr b="0" i="0" sz="1800" u="none" cap="none" strike="noStrike">
              <a:solidFill>
                <a:srgbClr val="000000"/>
              </a:solidFill>
              <a:latin typeface="Arial"/>
              <a:ea typeface="Arial"/>
              <a:cs typeface="Arial"/>
              <a:sym typeface="Arial"/>
            </a:endParaRPr>
          </a:p>
        </p:txBody>
      </p:sp>
      <p:sp>
        <p:nvSpPr>
          <p:cNvPr id="976" name="Google Shape;976;p79"/>
          <p:cNvSpPr txBox="1"/>
          <p:nvPr/>
        </p:nvSpPr>
        <p:spPr>
          <a:xfrm>
            <a:off x="3882139" y="4096114"/>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3.41 × 10</a:t>
            </a:r>
            <a:r>
              <a:rPr b="0" baseline="30000" i="0" lang="en-GB" sz="1800" u="none" cap="none" strike="noStrike">
                <a:solidFill>
                  <a:schemeClr val="dk1"/>
                </a:solidFill>
                <a:latin typeface="Lexend"/>
                <a:ea typeface="Lexend"/>
                <a:cs typeface="Lexend"/>
                <a:sym typeface="Lexend"/>
              </a:rPr>
              <a:t>7</a:t>
            </a:r>
            <a:endParaRPr b="0" i="0" sz="1800" u="none" cap="none" strike="noStrike">
              <a:solidFill>
                <a:srgbClr val="000000"/>
              </a:solidFill>
              <a:latin typeface="Arial"/>
              <a:ea typeface="Arial"/>
              <a:cs typeface="Arial"/>
              <a:sym typeface="Arial"/>
            </a:endParaRPr>
          </a:p>
        </p:txBody>
      </p:sp>
      <p:sp>
        <p:nvSpPr>
          <p:cNvPr id="977" name="Google Shape;977;p79"/>
          <p:cNvSpPr txBox="1"/>
          <p:nvPr/>
        </p:nvSpPr>
        <p:spPr>
          <a:xfrm>
            <a:off x="3882139" y="1533425"/>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1.6 × 10</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sp>
        <p:nvSpPr>
          <p:cNvPr id="978" name="Google Shape;978;p79"/>
          <p:cNvSpPr txBox="1"/>
          <p:nvPr/>
        </p:nvSpPr>
        <p:spPr>
          <a:xfrm>
            <a:off x="3882139" y="708153"/>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1.56 × 10</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sp>
        <p:nvSpPr>
          <p:cNvPr id="979" name="Google Shape;979;p79"/>
          <p:cNvSpPr txBox="1"/>
          <p:nvPr>
            <p:ph idx="1" type="body"/>
          </p:nvPr>
        </p:nvSpPr>
        <p:spPr>
          <a:xfrm>
            <a:off x="331867" y="708153"/>
            <a:ext cx="36300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400"/>
              <a:t>Alex says he has put these in ascending order, smallest to largest. </a:t>
            </a:r>
            <a:endParaRPr sz="2400"/>
          </a:p>
          <a:p>
            <a:pPr indent="0" lvl="0" marL="0" rtl="0" algn="l">
              <a:lnSpc>
                <a:spcPct val="115000"/>
              </a:lnSpc>
              <a:spcBef>
                <a:spcPts val="0"/>
              </a:spcBef>
              <a:spcAft>
                <a:spcPts val="0"/>
              </a:spcAft>
              <a:buSzPts val="2200"/>
              <a:buNone/>
            </a:pPr>
            <a:r>
              <a:rPr lang="en-GB" sz="2400"/>
              <a:t>Find his error and explain why he has not correctly put them in ascending order.</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80"/>
          <p:cNvSpPr txBox="1"/>
          <p:nvPr>
            <p:ph idx="1" type="body"/>
          </p:nvPr>
        </p:nvSpPr>
        <p:spPr>
          <a:xfrm>
            <a:off x="331867" y="708153"/>
            <a:ext cx="36300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400"/>
              <a:t>Alex says he has put these in ascending order, smallest to largest. </a:t>
            </a:r>
            <a:endParaRPr sz="2400"/>
          </a:p>
          <a:p>
            <a:pPr indent="0" lvl="0" marL="0" rtl="0" algn="l">
              <a:lnSpc>
                <a:spcPct val="115000"/>
              </a:lnSpc>
              <a:spcBef>
                <a:spcPts val="0"/>
              </a:spcBef>
              <a:spcAft>
                <a:spcPts val="0"/>
              </a:spcAft>
              <a:buSzPts val="2200"/>
              <a:buNone/>
            </a:pPr>
            <a:r>
              <a:rPr lang="en-GB" sz="2400"/>
              <a:t>Find his error and explain why he has not correctly put them in ascending order.</a:t>
            </a:r>
            <a:endParaRPr sz="2400"/>
          </a:p>
        </p:txBody>
      </p:sp>
      <p:sp>
        <p:nvSpPr>
          <p:cNvPr id="985" name="Google Shape;985;p8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986" name="Google Shape;986;p80"/>
          <p:cNvSpPr txBox="1"/>
          <p:nvPr/>
        </p:nvSpPr>
        <p:spPr>
          <a:xfrm>
            <a:off x="3882139" y="3257776"/>
            <a:ext cx="1801800" cy="461700"/>
          </a:xfrm>
          <a:prstGeom prst="rect">
            <a:avLst/>
          </a:prstGeom>
          <a:solidFill>
            <a:srgbClr val="FFFF00">
              <a:alpha val="32550"/>
            </a:srgbClr>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2.099 × 10</a:t>
            </a:r>
            <a:r>
              <a:rPr b="0" baseline="30000" i="0" lang="en-GB" sz="1800" u="none" cap="none" strike="noStrike">
                <a:solidFill>
                  <a:schemeClr val="dk1"/>
                </a:solidFill>
                <a:latin typeface="Lexend"/>
                <a:ea typeface="Lexend"/>
                <a:cs typeface="Lexend"/>
                <a:sym typeface="Lexend"/>
              </a:rPr>
              <a:t>5</a:t>
            </a:r>
            <a:endParaRPr b="0" i="0" sz="1800" u="none" cap="none" strike="noStrike">
              <a:solidFill>
                <a:srgbClr val="000000"/>
              </a:solidFill>
              <a:latin typeface="Arial"/>
              <a:ea typeface="Arial"/>
              <a:cs typeface="Arial"/>
              <a:sym typeface="Arial"/>
            </a:endParaRPr>
          </a:p>
        </p:txBody>
      </p:sp>
      <p:sp>
        <p:nvSpPr>
          <p:cNvPr id="987" name="Google Shape;987;p80"/>
          <p:cNvSpPr txBox="1"/>
          <p:nvPr/>
        </p:nvSpPr>
        <p:spPr>
          <a:xfrm>
            <a:off x="3882139" y="2386197"/>
            <a:ext cx="1801800" cy="461700"/>
          </a:xfrm>
          <a:prstGeom prst="rect">
            <a:avLst/>
          </a:prstGeom>
          <a:solidFill>
            <a:srgbClr val="FFFF00">
              <a:alpha val="32550"/>
            </a:srgbClr>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2.1  × 10</a:t>
            </a:r>
            <a:r>
              <a:rPr b="0" baseline="30000" i="0" lang="en-GB" sz="1800" u="none" cap="none" strike="noStrike">
                <a:solidFill>
                  <a:schemeClr val="dk1"/>
                </a:solidFill>
                <a:latin typeface="Lexend"/>
                <a:ea typeface="Lexend"/>
                <a:cs typeface="Lexend"/>
                <a:sym typeface="Lexend"/>
              </a:rPr>
              <a:t>5</a:t>
            </a:r>
            <a:r>
              <a:rPr b="0" i="0" lang="en-GB" sz="1800" u="none" cap="none" strike="noStrike">
                <a:solidFill>
                  <a:schemeClr val="dk1"/>
                </a:solidFill>
                <a:latin typeface="Lexend"/>
                <a:ea typeface="Lexend"/>
                <a:cs typeface="Lexend"/>
                <a:sym typeface="Lexend"/>
              </a:rPr>
              <a:t> </a:t>
            </a:r>
            <a:endParaRPr b="0" i="0" sz="1800" u="none" cap="none" strike="noStrike">
              <a:solidFill>
                <a:srgbClr val="000000"/>
              </a:solidFill>
              <a:latin typeface="Arial"/>
              <a:ea typeface="Arial"/>
              <a:cs typeface="Arial"/>
              <a:sym typeface="Arial"/>
            </a:endParaRPr>
          </a:p>
        </p:txBody>
      </p:sp>
      <p:sp>
        <p:nvSpPr>
          <p:cNvPr id="988" name="Google Shape;988;p80"/>
          <p:cNvSpPr txBox="1"/>
          <p:nvPr/>
        </p:nvSpPr>
        <p:spPr>
          <a:xfrm>
            <a:off x="3882139" y="4096114"/>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3.41 × 10</a:t>
            </a:r>
            <a:r>
              <a:rPr b="0" baseline="30000" i="0" lang="en-GB" sz="1800" u="none" cap="none" strike="noStrike">
                <a:solidFill>
                  <a:schemeClr val="dk1"/>
                </a:solidFill>
                <a:latin typeface="Lexend"/>
                <a:ea typeface="Lexend"/>
                <a:cs typeface="Lexend"/>
                <a:sym typeface="Lexend"/>
              </a:rPr>
              <a:t>7</a:t>
            </a:r>
            <a:endParaRPr b="0" i="0" sz="1800" u="none" cap="none" strike="noStrike">
              <a:solidFill>
                <a:srgbClr val="000000"/>
              </a:solidFill>
              <a:latin typeface="Arial"/>
              <a:ea typeface="Arial"/>
              <a:cs typeface="Arial"/>
              <a:sym typeface="Arial"/>
            </a:endParaRPr>
          </a:p>
        </p:txBody>
      </p:sp>
      <p:sp>
        <p:nvSpPr>
          <p:cNvPr id="989" name="Google Shape;989;p80"/>
          <p:cNvSpPr txBox="1"/>
          <p:nvPr/>
        </p:nvSpPr>
        <p:spPr>
          <a:xfrm>
            <a:off x="3882139" y="1533425"/>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1.6 × 10</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sp>
        <p:nvSpPr>
          <p:cNvPr id="990" name="Google Shape;990;p80"/>
          <p:cNvSpPr txBox="1"/>
          <p:nvPr/>
        </p:nvSpPr>
        <p:spPr>
          <a:xfrm>
            <a:off x="3882139" y="708153"/>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1.56 × 10</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sp>
        <p:nvSpPr>
          <p:cNvPr id="991" name="Google Shape;991;p80"/>
          <p:cNvSpPr txBox="1"/>
          <p:nvPr/>
        </p:nvSpPr>
        <p:spPr>
          <a:xfrm>
            <a:off x="5718275" y="646800"/>
            <a:ext cx="3236100" cy="38784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i="0" lang="en-GB" sz="1800" u="none" cap="none" strike="noStrike">
                <a:solidFill>
                  <a:schemeClr val="dk1"/>
                </a:solidFill>
                <a:latin typeface="Kalam"/>
                <a:ea typeface="Kalam"/>
                <a:cs typeface="Kalam"/>
                <a:sym typeface="Kalam"/>
              </a:rPr>
              <a:t>2.1  × 10</a:t>
            </a:r>
            <a:r>
              <a:rPr baseline="30000" i="0" lang="en-GB" sz="1800" u="none" cap="none" strike="noStrike">
                <a:solidFill>
                  <a:schemeClr val="dk1"/>
                </a:solidFill>
                <a:latin typeface="Kalam"/>
                <a:ea typeface="Kalam"/>
                <a:cs typeface="Kalam"/>
                <a:sym typeface="Kalam"/>
              </a:rPr>
              <a:t>5</a:t>
            </a:r>
            <a:r>
              <a:rPr i="0" lang="en-GB" sz="1800" u="none" cap="none" strike="noStrike">
                <a:solidFill>
                  <a:schemeClr val="dk1"/>
                </a:solidFill>
                <a:latin typeface="Kalam"/>
                <a:ea typeface="Kalam"/>
                <a:cs typeface="Kalam"/>
                <a:sym typeface="Kalam"/>
              </a:rPr>
              <a:t> </a:t>
            </a:r>
            <a:r>
              <a:rPr lang="en-GB" sz="1800">
                <a:solidFill>
                  <a:schemeClr val="dk1"/>
                </a:solidFill>
                <a:latin typeface="Kalam"/>
                <a:ea typeface="Kalam"/>
                <a:cs typeface="Kalam"/>
                <a:sym typeface="Kalam"/>
              </a:rPr>
              <a:t>&gt;</a:t>
            </a:r>
            <a:r>
              <a:rPr i="0" lang="en-GB" sz="1800" u="none" cap="none" strike="noStrike">
                <a:solidFill>
                  <a:schemeClr val="dk1"/>
                </a:solidFill>
                <a:latin typeface="Kalam"/>
                <a:ea typeface="Kalam"/>
                <a:cs typeface="Kalam"/>
                <a:sym typeface="Kalam"/>
              </a:rPr>
              <a:t> 2.099 × 10</a:t>
            </a:r>
            <a:r>
              <a:rPr baseline="30000" i="0" lang="en-GB" sz="1800" u="none" cap="none" strike="noStrike">
                <a:solidFill>
                  <a:schemeClr val="dk1"/>
                </a:solidFill>
                <a:latin typeface="Kalam"/>
                <a:ea typeface="Kalam"/>
                <a:cs typeface="Kalam"/>
                <a:sym typeface="Kalam"/>
              </a:rPr>
              <a:t>5</a:t>
            </a:r>
            <a:r>
              <a:rPr baseline="30000" i="0" lang="en-GB" sz="1800" u="none" cap="none" strike="noStrike">
                <a:solidFill>
                  <a:srgbClr val="000000"/>
                </a:solidFill>
                <a:latin typeface="Kalam"/>
                <a:ea typeface="Kalam"/>
                <a:cs typeface="Kalam"/>
                <a:sym typeface="Kalam"/>
              </a:rPr>
              <a:t>.</a:t>
            </a:r>
            <a:endParaRPr>
              <a:latin typeface="Kalam"/>
              <a:ea typeface="Kalam"/>
              <a:cs typeface="Kalam"/>
              <a:sym typeface="Kalam"/>
            </a:endParaRPr>
          </a:p>
          <a:p>
            <a:pPr indent="0" lvl="0" marL="0" marR="0" rtl="0" algn="ctr">
              <a:lnSpc>
                <a:spcPct val="115000"/>
              </a:lnSpc>
              <a:spcBef>
                <a:spcPts val="1000"/>
              </a:spcBef>
              <a:spcAft>
                <a:spcPts val="0"/>
              </a:spcAft>
              <a:buNone/>
            </a:pPr>
            <a:r>
              <a:rPr i="0" lang="en-GB" sz="1800" u="none" cap="none" strike="noStrike">
                <a:solidFill>
                  <a:schemeClr val="dk1"/>
                </a:solidFill>
                <a:latin typeface="Kalam"/>
                <a:ea typeface="Kalam"/>
                <a:cs typeface="Kalam"/>
                <a:sym typeface="Kalam"/>
              </a:rPr>
              <a:t>Converting 2.1  × 10</a:t>
            </a:r>
            <a:r>
              <a:rPr baseline="30000" i="0" lang="en-GB" sz="1800" u="none" cap="none" strike="noStrike">
                <a:solidFill>
                  <a:schemeClr val="dk1"/>
                </a:solidFill>
                <a:latin typeface="Kalam"/>
                <a:ea typeface="Kalam"/>
                <a:cs typeface="Kalam"/>
                <a:sym typeface="Kalam"/>
              </a:rPr>
              <a:t>5</a:t>
            </a:r>
            <a:r>
              <a:rPr i="0" lang="en-GB" sz="1800" u="none" cap="none" strike="noStrike">
                <a:solidFill>
                  <a:schemeClr val="dk1"/>
                </a:solidFill>
                <a:latin typeface="Kalam"/>
                <a:ea typeface="Kalam"/>
                <a:cs typeface="Kalam"/>
                <a:sym typeface="Kalam"/>
              </a:rPr>
              <a:t>  to an ordinary number it is </a:t>
            </a:r>
            <a:endParaRPr i="0" sz="1800" u="none" cap="none" strike="noStrike">
              <a:solidFill>
                <a:schemeClr val="dk1"/>
              </a:solidFill>
              <a:latin typeface="Kalam"/>
              <a:ea typeface="Kalam"/>
              <a:cs typeface="Kalam"/>
              <a:sym typeface="Kalam"/>
            </a:endParaRPr>
          </a:p>
          <a:p>
            <a:pPr indent="0" lvl="0" marL="0" marR="0" rtl="0" algn="ctr">
              <a:lnSpc>
                <a:spcPct val="115000"/>
              </a:lnSpc>
              <a:spcBef>
                <a:spcPts val="1000"/>
              </a:spcBef>
              <a:spcAft>
                <a:spcPts val="0"/>
              </a:spcAft>
              <a:buNone/>
            </a:pPr>
            <a:r>
              <a:rPr i="0" lang="en-GB" sz="1800" u="none" cap="none" strike="noStrike">
                <a:solidFill>
                  <a:schemeClr val="dk1"/>
                </a:solidFill>
                <a:latin typeface="Kalam"/>
                <a:ea typeface="Kalam"/>
                <a:cs typeface="Kalam"/>
                <a:sym typeface="Kalam"/>
              </a:rPr>
              <a:t>210 000.</a:t>
            </a:r>
            <a:endParaRPr>
              <a:latin typeface="Kalam"/>
              <a:ea typeface="Kalam"/>
              <a:cs typeface="Kalam"/>
              <a:sym typeface="Kalam"/>
            </a:endParaRPr>
          </a:p>
          <a:p>
            <a:pPr indent="0" lvl="0" marL="0" marR="0" rtl="0" algn="ctr">
              <a:lnSpc>
                <a:spcPct val="115000"/>
              </a:lnSpc>
              <a:spcBef>
                <a:spcPts val="1000"/>
              </a:spcBef>
              <a:spcAft>
                <a:spcPts val="0"/>
              </a:spcAft>
              <a:buNone/>
            </a:pPr>
            <a:r>
              <a:rPr i="0" lang="en-GB" sz="1800" u="none" cap="none" strike="noStrike">
                <a:solidFill>
                  <a:schemeClr val="dk1"/>
                </a:solidFill>
                <a:latin typeface="Kalam"/>
                <a:ea typeface="Kalam"/>
                <a:cs typeface="Kalam"/>
                <a:sym typeface="Kalam"/>
              </a:rPr>
              <a:t>Whilst 2.099 × 10</a:t>
            </a:r>
            <a:r>
              <a:rPr baseline="30000" i="0" lang="en-GB" sz="1800" u="none" cap="none" strike="noStrike">
                <a:solidFill>
                  <a:schemeClr val="dk1"/>
                </a:solidFill>
                <a:latin typeface="Kalam"/>
                <a:ea typeface="Kalam"/>
                <a:cs typeface="Kalam"/>
                <a:sym typeface="Kalam"/>
              </a:rPr>
              <a:t>5</a:t>
            </a:r>
            <a:r>
              <a:rPr i="0" lang="en-GB" sz="1800" u="none" cap="none" strike="noStrike">
                <a:solidFill>
                  <a:schemeClr val="dk1"/>
                </a:solidFill>
                <a:latin typeface="Kalam"/>
                <a:ea typeface="Kalam"/>
                <a:cs typeface="Kalam"/>
                <a:sym typeface="Kalam"/>
              </a:rPr>
              <a:t> is </a:t>
            </a:r>
            <a:endParaRPr i="0" sz="1800" u="none" cap="none" strike="noStrike">
              <a:solidFill>
                <a:schemeClr val="dk1"/>
              </a:solidFill>
              <a:latin typeface="Kalam"/>
              <a:ea typeface="Kalam"/>
              <a:cs typeface="Kalam"/>
              <a:sym typeface="Kalam"/>
            </a:endParaRPr>
          </a:p>
          <a:p>
            <a:pPr indent="0" lvl="0" marL="0" marR="0" rtl="0" algn="ctr">
              <a:lnSpc>
                <a:spcPct val="115000"/>
              </a:lnSpc>
              <a:spcBef>
                <a:spcPts val="1000"/>
              </a:spcBef>
              <a:spcAft>
                <a:spcPts val="0"/>
              </a:spcAft>
              <a:buNone/>
            </a:pPr>
            <a:r>
              <a:rPr i="0" lang="en-GB" sz="1800" u="none" cap="none" strike="noStrike">
                <a:solidFill>
                  <a:schemeClr val="dk1"/>
                </a:solidFill>
                <a:latin typeface="Kalam"/>
                <a:ea typeface="Kalam"/>
                <a:cs typeface="Kalam"/>
                <a:sym typeface="Kalam"/>
              </a:rPr>
              <a:t>209 900.</a:t>
            </a:r>
            <a:endParaRPr>
              <a:latin typeface="Kalam"/>
              <a:ea typeface="Kalam"/>
              <a:cs typeface="Kalam"/>
              <a:sym typeface="Kalam"/>
            </a:endParaRPr>
          </a:p>
          <a:p>
            <a:pPr indent="0" lvl="0" marL="0" marR="0" rtl="0" algn="ctr">
              <a:lnSpc>
                <a:spcPct val="115000"/>
              </a:lnSpc>
              <a:spcBef>
                <a:spcPts val="1000"/>
              </a:spcBef>
              <a:spcAft>
                <a:spcPts val="0"/>
              </a:spcAft>
              <a:buNone/>
            </a:pPr>
            <a:r>
              <a:rPr i="0" lang="en-GB" sz="1800" u="none" cap="none" strike="noStrike">
                <a:solidFill>
                  <a:schemeClr val="dk1"/>
                </a:solidFill>
                <a:latin typeface="Kalam"/>
                <a:ea typeface="Kalam"/>
                <a:cs typeface="Kalam"/>
                <a:sym typeface="Kalam"/>
              </a:rPr>
              <a:t>Alternatively, given they both have the same base 10 exponent of 5, looking at 2.1 and 2.099, 2.1 is larger. </a:t>
            </a:r>
            <a:r>
              <a:rPr b="0" i="0" lang="en-GB" sz="1800" u="none" cap="none" strike="noStrike">
                <a:solidFill>
                  <a:schemeClr val="dk1"/>
                </a:solidFill>
                <a:latin typeface="Lexend"/>
                <a:ea typeface="Lexend"/>
                <a:cs typeface="Lexend"/>
                <a:sym typeface="Lexend"/>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81"/>
          <p:cNvSpPr txBox="1"/>
          <p:nvPr>
            <p:ph idx="1" type="body"/>
          </p:nvPr>
        </p:nvSpPr>
        <p:spPr>
          <a:xfrm>
            <a:off x="324000" y="683100"/>
            <a:ext cx="92442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a) </a:t>
            </a:r>
            <a:r>
              <a:rPr lang="en-GB" sz="1800"/>
              <a:t>Put the following in ascending order, smallest to largest:</a:t>
            </a:r>
            <a:endParaRPr/>
          </a:p>
          <a:p>
            <a:pPr indent="0" lvl="0" marL="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a:p>
            <a:pPr indent="0" lvl="0" marL="0" rtl="0" algn="l">
              <a:lnSpc>
                <a:spcPct val="100000"/>
              </a:lnSpc>
              <a:spcBef>
                <a:spcPts val="1000"/>
              </a:spcBef>
              <a:spcAft>
                <a:spcPts val="0"/>
              </a:spcAft>
              <a:buSzPts val="2200"/>
              <a:buNone/>
            </a:pPr>
            <a:r>
              <a:t/>
            </a:r>
            <a:endParaRPr sz="1800"/>
          </a:p>
          <a:p>
            <a:pPr indent="0" lvl="0" marL="0" rtl="0" algn="l">
              <a:lnSpc>
                <a:spcPct val="200000"/>
              </a:lnSpc>
              <a:spcBef>
                <a:spcPts val="1000"/>
              </a:spcBef>
              <a:spcAft>
                <a:spcPts val="1000"/>
              </a:spcAft>
              <a:buSzPts val="2200"/>
              <a:buNone/>
            </a:pPr>
            <a:r>
              <a:t/>
            </a:r>
            <a:endParaRPr sz="1800"/>
          </a:p>
        </p:txBody>
      </p:sp>
      <p:sp>
        <p:nvSpPr>
          <p:cNvPr id="997" name="Google Shape;997;p8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998" name="Google Shape;998;p81"/>
          <p:cNvSpPr txBox="1"/>
          <p:nvPr/>
        </p:nvSpPr>
        <p:spPr>
          <a:xfrm>
            <a:off x="3805723" y="1114925"/>
            <a:ext cx="1414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2.51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999" name="Google Shape;999;p81"/>
          <p:cNvSpPr txBox="1"/>
          <p:nvPr/>
        </p:nvSpPr>
        <p:spPr>
          <a:xfrm>
            <a:off x="5478726" y="1114925"/>
            <a:ext cx="1623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9.8  × 10</a:t>
            </a:r>
            <a:r>
              <a:rPr baseline="30000" i="0" lang="en-GB" sz="1800" u="none" cap="none" strike="noStrike">
                <a:solidFill>
                  <a:schemeClr val="dk1"/>
                </a:solidFill>
                <a:latin typeface="Kalam"/>
                <a:ea typeface="Kalam"/>
                <a:cs typeface="Kalam"/>
                <a:sym typeface="Kalam"/>
              </a:rPr>
              <a:t>5</a:t>
            </a:r>
            <a:r>
              <a:rPr i="0" lang="en-GB" sz="1800" u="none" cap="none" strike="noStrike">
                <a:solidFill>
                  <a:schemeClr val="dk1"/>
                </a:solidFill>
                <a:latin typeface="Kalam"/>
                <a:ea typeface="Kalam"/>
                <a:cs typeface="Kalam"/>
                <a:sym typeface="Kalam"/>
              </a:rPr>
              <a:t> </a:t>
            </a:r>
            <a:endParaRPr i="0" sz="1800" u="none" cap="none" strike="noStrike">
              <a:solidFill>
                <a:srgbClr val="000000"/>
              </a:solidFill>
              <a:latin typeface="Kalam"/>
              <a:ea typeface="Kalam"/>
              <a:cs typeface="Kalam"/>
              <a:sym typeface="Kalam"/>
            </a:endParaRPr>
          </a:p>
        </p:txBody>
      </p:sp>
      <p:sp>
        <p:nvSpPr>
          <p:cNvPr id="1000" name="Google Shape;1000;p81"/>
          <p:cNvSpPr txBox="1"/>
          <p:nvPr/>
        </p:nvSpPr>
        <p:spPr>
          <a:xfrm>
            <a:off x="7223650" y="1114925"/>
            <a:ext cx="15561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1.3 × 10</a:t>
            </a:r>
            <a:r>
              <a:rPr baseline="30000" i="0" lang="en-GB" sz="1800" u="none" cap="none" strike="noStrike">
                <a:solidFill>
                  <a:schemeClr val="dk1"/>
                </a:solidFill>
                <a:latin typeface="Kalam"/>
                <a:ea typeface="Kalam"/>
                <a:cs typeface="Kalam"/>
                <a:sym typeface="Kalam"/>
              </a:rPr>
              <a:t>9</a:t>
            </a:r>
            <a:endParaRPr i="0" sz="1800" u="none" cap="none" strike="noStrike">
              <a:solidFill>
                <a:srgbClr val="000000"/>
              </a:solidFill>
              <a:latin typeface="Kalam"/>
              <a:ea typeface="Kalam"/>
              <a:cs typeface="Kalam"/>
              <a:sym typeface="Kalam"/>
            </a:endParaRPr>
          </a:p>
        </p:txBody>
      </p:sp>
      <p:sp>
        <p:nvSpPr>
          <p:cNvPr id="1001" name="Google Shape;1001;p81"/>
          <p:cNvSpPr txBox="1"/>
          <p:nvPr/>
        </p:nvSpPr>
        <p:spPr>
          <a:xfrm>
            <a:off x="2056525" y="1114925"/>
            <a:ext cx="1414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2.48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002" name="Google Shape;1002;p81"/>
          <p:cNvSpPr txBox="1"/>
          <p:nvPr/>
        </p:nvSpPr>
        <p:spPr>
          <a:xfrm>
            <a:off x="296851" y="1114925"/>
            <a:ext cx="1434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3.45 × 10</a:t>
            </a:r>
            <a:r>
              <a:rPr baseline="30000" i="0" lang="en-GB" sz="1800" u="none" cap="none" strike="noStrike">
                <a:solidFill>
                  <a:schemeClr val="dk1"/>
                </a:solidFill>
                <a:latin typeface="Kalam"/>
                <a:ea typeface="Kalam"/>
                <a:cs typeface="Kalam"/>
                <a:sym typeface="Kalam"/>
              </a:rPr>
              <a:t>3</a:t>
            </a:r>
            <a:endParaRPr i="0" sz="1800" u="none" cap="none" strike="noStrike">
              <a:solidFill>
                <a:srgbClr val="000000"/>
              </a:solidFill>
              <a:latin typeface="Kalam"/>
              <a:ea typeface="Kalam"/>
              <a:cs typeface="Kalam"/>
              <a:sym typeface="Kalam"/>
            </a:endParaRPr>
          </a:p>
        </p:txBody>
      </p:sp>
      <p:sp>
        <p:nvSpPr>
          <p:cNvPr id="1003" name="Google Shape;1003;p81"/>
          <p:cNvSpPr txBox="1"/>
          <p:nvPr/>
        </p:nvSpPr>
        <p:spPr>
          <a:xfrm>
            <a:off x="3766010" y="1722150"/>
            <a:ext cx="14421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2.51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004" name="Google Shape;1004;p81"/>
          <p:cNvSpPr txBox="1"/>
          <p:nvPr/>
        </p:nvSpPr>
        <p:spPr>
          <a:xfrm>
            <a:off x="7252653" y="1722150"/>
            <a:ext cx="14421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9.8  × 10</a:t>
            </a:r>
            <a:r>
              <a:rPr b="0" baseline="30000" i="0" lang="en-GB" sz="1800" u="none" cap="none" strike="noStrike">
                <a:solidFill>
                  <a:schemeClr val="dk1"/>
                </a:solidFill>
                <a:latin typeface="Lexend"/>
                <a:ea typeface="Lexend"/>
                <a:cs typeface="Lexend"/>
                <a:sym typeface="Lexend"/>
              </a:rPr>
              <a:t>5</a:t>
            </a:r>
            <a:r>
              <a:rPr b="0" i="0" lang="en-GB" sz="1800" u="none" cap="none" strike="noStrike">
                <a:solidFill>
                  <a:schemeClr val="dk1"/>
                </a:solidFill>
                <a:latin typeface="Lexend"/>
                <a:ea typeface="Lexend"/>
                <a:cs typeface="Lexend"/>
                <a:sym typeface="Lexend"/>
              </a:rPr>
              <a:t> </a:t>
            </a:r>
            <a:endParaRPr b="0" i="0" sz="1800" u="none" cap="none" strike="noStrike">
              <a:solidFill>
                <a:srgbClr val="000000"/>
              </a:solidFill>
              <a:latin typeface="Arial"/>
              <a:ea typeface="Arial"/>
              <a:cs typeface="Arial"/>
              <a:sym typeface="Arial"/>
            </a:endParaRPr>
          </a:p>
        </p:txBody>
      </p:sp>
      <p:sp>
        <p:nvSpPr>
          <p:cNvPr id="1005" name="Google Shape;1005;p81"/>
          <p:cNvSpPr txBox="1"/>
          <p:nvPr/>
        </p:nvSpPr>
        <p:spPr>
          <a:xfrm>
            <a:off x="296850" y="1722150"/>
            <a:ext cx="14421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1.3 × 10</a:t>
            </a:r>
            <a:r>
              <a:rPr b="0" baseline="30000" i="0" lang="en-GB" sz="1800" u="none" cap="none" strike="noStrike">
                <a:solidFill>
                  <a:schemeClr val="dk1"/>
                </a:solidFill>
                <a:latin typeface="Lexend"/>
                <a:ea typeface="Lexend"/>
                <a:cs typeface="Lexend"/>
                <a:sym typeface="Lexend"/>
              </a:rPr>
              <a:t>9</a:t>
            </a:r>
            <a:endParaRPr b="0" i="0" sz="1800" u="none" cap="none" strike="noStrike">
              <a:solidFill>
                <a:srgbClr val="000000"/>
              </a:solidFill>
              <a:latin typeface="Arial"/>
              <a:ea typeface="Arial"/>
              <a:cs typeface="Arial"/>
              <a:sym typeface="Arial"/>
            </a:endParaRPr>
          </a:p>
        </p:txBody>
      </p:sp>
      <p:sp>
        <p:nvSpPr>
          <p:cNvPr id="1006" name="Google Shape;1006;p81"/>
          <p:cNvSpPr txBox="1"/>
          <p:nvPr/>
        </p:nvSpPr>
        <p:spPr>
          <a:xfrm>
            <a:off x="2031430" y="1722150"/>
            <a:ext cx="14421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2.48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007" name="Google Shape;1007;p81"/>
          <p:cNvSpPr txBox="1"/>
          <p:nvPr/>
        </p:nvSpPr>
        <p:spPr>
          <a:xfrm>
            <a:off x="5500590" y="1722150"/>
            <a:ext cx="1611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3.45 × 10</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sp>
        <p:nvSpPr>
          <p:cNvPr id="1008" name="Google Shape;1008;p81"/>
          <p:cNvSpPr txBox="1"/>
          <p:nvPr/>
        </p:nvSpPr>
        <p:spPr>
          <a:xfrm>
            <a:off x="322397" y="2722054"/>
            <a:ext cx="9244200" cy="487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b) Put the following in ascending order, smallest to largest:</a:t>
            </a:r>
            <a:endParaRPr/>
          </a:p>
          <a:p>
            <a:pPr indent="0" lvl="0" marL="0" marR="0" rtl="0" algn="l">
              <a:lnSpc>
                <a:spcPct val="115000"/>
              </a:lnSpc>
              <a:spcBef>
                <a:spcPts val="0"/>
              </a:spcBef>
              <a:spcAft>
                <a:spcPts val="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a:p>
            <a:pPr indent="0" lvl="0" marL="0" marR="0" rtl="0" algn="l">
              <a:lnSpc>
                <a:spcPct val="100000"/>
              </a:lnSpc>
              <a:spcBef>
                <a:spcPts val="1000"/>
              </a:spcBef>
              <a:spcAft>
                <a:spcPts val="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a:p>
            <a:pPr indent="0" lvl="0" marL="0" marR="0" rtl="0" algn="l">
              <a:lnSpc>
                <a:spcPct val="200000"/>
              </a:lnSpc>
              <a:spcBef>
                <a:spcPts val="1000"/>
              </a:spcBef>
              <a:spcAft>
                <a:spcPts val="100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p:txBody>
      </p:sp>
      <p:sp>
        <p:nvSpPr>
          <p:cNvPr id="1009" name="Google Shape;1009;p81"/>
          <p:cNvSpPr txBox="1"/>
          <p:nvPr/>
        </p:nvSpPr>
        <p:spPr>
          <a:xfrm>
            <a:off x="3727277" y="3240000"/>
            <a:ext cx="1405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6.8 × 10</a:t>
            </a:r>
            <a:r>
              <a:rPr baseline="30000" i="0" lang="en-GB" sz="1800" u="none" cap="none" strike="noStrike">
                <a:solidFill>
                  <a:schemeClr val="dk1"/>
                </a:solidFill>
                <a:latin typeface="Kalam"/>
                <a:ea typeface="Kalam"/>
                <a:cs typeface="Kalam"/>
                <a:sym typeface="Kalam"/>
              </a:rPr>
              <a:t>2</a:t>
            </a:r>
            <a:endParaRPr i="0" sz="1800" u="none" cap="none" strike="noStrike">
              <a:solidFill>
                <a:srgbClr val="000000"/>
              </a:solidFill>
              <a:latin typeface="Kalam"/>
              <a:ea typeface="Kalam"/>
              <a:cs typeface="Kalam"/>
              <a:sym typeface="Kalam"/>
            </a:endParaRPr>
          </a:p>
        </p:txBody>
      </p:sp>
      <p:sp>
        <p:nvSpPr>
          <p:cNvPr id="1010" name="Google Shape;1010;p81"/>
          <p:cNvSpPr txBox="1"/>
          <p:nvPr/>
        </p:nvSpPr>
        <p:spPr>
          <a:xfrm>
            <a:off x="5587617" y="3240000"/>
            <a:ext cx="1405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1.389  × 10</a:t>
            </a:r>
            <a:r>
              <a:rPr baseline="30000" i="0" lang="en-GB" sz="1800" u="none" cap="none" strike="noStrike">
                <a:solidFill>
                  <a:schemeClr val="dk1"/>
                </a:solidFill>
                <a:latin typeface="Kalam"/>
                <a:ea typeface="Kalam"/>
                <a:cs typeface="Kalam"/>
                <a:sym typeface="Kalam"/>
              </a:rPr>
              <a:t>4</a:t>
            </a:r>
            <a:r>
              <a:rPr i="0" lang="en-GB" sz="1800" u="none" cap="none" strike="noStrike">
                <a:solidFill>
                  <a:schemeClr val="dk1"/>
                </a:solidFill>
                <a:latin typeface="Kalam"/>
                <a:ea typeface="Kalam"/>
                <a:cs typeface="Kalam"/>
                <a:sym typeface="Kalam"/>
              </a:rPr>
              <a:t> </a:t>
            </a:r>
            <a:endParaRPr i="0" sz="1800" u="none" cap="none" strike="noStrike">
              <a:solidFill>
                <a:srgbClr val="000000"/>
              </a:solidFill>
              <a:latin typeface="Kalam"/>
              <a:ea typeface="Kalam"/>
              <a:cs typeface="Kalam"/>
              <a:sym typeface="Kalam"/>
            </a:endParaRPr>
          </a:p>
        </p:txBody>
      </p:sp>
      <p:sp>
        <p:nvSpPr>
          <p:cNvPr id="1011" name="Google Shape;1011;p81"/>
          <p:cNvSpPr txBox="1"/>
          <p:nvPr/>
        </p:nvSpPr>
        <p:spPr>
          <a:xfrm>
            <a:off x="345062" y="3240000"/>
            <a:ext cx="1405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9.2 × 10</a:t>
            </a:r>
            <a:endParaRPr i="0" sz="1800" u="none" cap="none" strike="noStrike">
              <a:solidFill>
                <a:srgbClr val="000000"/>
              </a:solidFill>
              <a:latin typeface="Kalam"/>
              <a:ea typeface="Kalam"/>
              <a:cs typeface="Kalam"/>
              <a:sym typeface="Kalam"/>
            </a:endParaRPr>
          </a:p>
        </p:txBody>
      </p:sp>
      <p:sp>
        <p:nvSpPr>
          <p:cNvPr id="1012" name="Google Shape;1012;p81"/>
          <p:cNvSpPr txBox="1"/>
          <p:nvPr/>
        </p:nvSpPr>
        <p:spPr>
          <a:xfrm>
            <a:off x="2036170" y="3240000"/>
            <a:ext cx="1405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6.798 × 10</a:t>
            </a:r>
            <a:r>
              <a:rPr baseline="30000" i="0" lang="en-GB" sz="1800" u="none" cap="none" strike="noStrike">
                <a:solidFill>
                  <a:schemeClr val="dk1"/>
                </a:solidFill>
                <a:latin typeface="Kalam"/>
                <a:ea typeface="Kalam"/>
                <a:cs typeface="Kalam"/>
                <a:sym typeface="Kalam"/>
              </a:rPr>
              <a:t>2</a:t>
            </a:r>
            <a:endParaRPr i="0" sz="1800" u="none" cap="none" strike="noStrike">
              <a:solidFill>
                <a:srgbClr val="000000"/>
              </a:solidFill>
              <a:latin typeface="Kalam"/>
              <a:ea typeface="Kalam"/>
              <a:cs typeface="Kalam"/>
              <a:sym typeface="Kalam"/>
            </a:endParaRPr>
          </a:p>
        </p:txBody>
      </p:sp>
      <p:sp>
        <p:nvSpPr>
          <p:cNvPr id="1013" name="Google Shape;1013;p81"/>
          <p:cNvSpPr txBox="1"/>
          <p:nvPr/>
        </p:nvSpPr>
        <p:spPr>
          <a:xfrm>
            <a:off x="7252659" y="3209250"/>
            <a:ext cx="157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2.1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014" name="Google Shape;1014;p81"/>
          <p:cNvSpPr txBox="1"/>
          <p:nvPr/>
        </p:nvSpPr>
        <p:spPr>
          <a:xfrm>
            <a:off x="3912147" y="3777450"/>
            <a:ext cx="1362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6.8 × 10</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sp>
        <p:nvSpPr>
          <p:cNvPr id="1015" name="Google Shape;1015;p81"/>
          <p:cNvSpPr txBox="1"/>
          <p:nvPr/>
        </p:nvSpPr>
        <p:spPr>
          <a:xfrm>
            <a:off x="345050" y="3777450"/>
            <a:ext cx="1490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1.389  × 10</a:t>
            </a:r>
            <a:r>
              <a:rPr b="0" baseline="30000" i="0" lang="en-GB" sz="1800" u="none" cap="none" strike="noStrike">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a:t>
            </a:r>
            <a:endParaRPr b="0" i="0" sz="1800" u="none" cap="none" strike="noStrike">
              <a:solidFill>
                <a:srgbClr val="000000"/>
              </a:solidFill>
              <a:latin typeface="Arial"/>
              <a:ea typeface="Arial"/>
              <a:cs typeface="Arial"/>
              <a:sym typeface="Arial"/>
            </a:endParaRPr>
          </a:p>
        </p:txBody>
      </p:sp>
      <p:sp>
        <p:nvSpPr>
          <p:cNvPr id="1016" name="Google Shape;1016;p81"/>
          <p:cNvSpPr txBox="1"/>
          <p:nvPr/>
        </p:nvSpPr>
        <p:spPr>
          <a:xfrm>
            <a:off x="5615429" y="3777450"/>
            <a:ext cx="1362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9.2 × 10</a:t>
            </a:r>
            <a:endParaRPr b="0" i="0" sz="1800" u="none" cap="none" strike="noStrike">
              <a:solidFill>
                <a:srgbClr val="000000"/>
              </a:solidFill>
              <a:latin typeface="Arial"/>
              <a:ea typeface="Arial"/>
              <a:cs typeface="Arial"/>
              <a:sym typeface="Arial"/>
            </a:endParaRPr>
          </a:p>
        </p:txBody>
      </p:sp>
      <p:sp>
        <p:nvSpPr>
          <p:cNvPr id="1017" name="Google Shape;1017;p81"/>
          <p:cNvSpPr txBox="1"/>
          <p:nvPr/>
        </p:nvSpPr>
        <p:spPr>
          <a:xfrm>
            <a:off x="7318711" y="3777450"/>
            <a:ext cx="1362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6.798 × 10</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sp>
        <p:nvSpPr>
          <p:cNvPr id="1018" name="Google Shape;1018;p81"/>
          <p:cNvSpPr txBox="1"/>
          <p:nvPr/>
        </p:nvSpPr>
        <p:spPr>
          <a:xfrm>
            <a:off x="2048332" y="3777450"/>
            <a:ext cx="15231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2.1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82"/>
          <p:cNvSpPr txBox="1"/>
          <p:nvPr>
            <p:ph idx="1" type="body"/>
          </p:nvPr>
        </p:nvSpPr>
        <p:spPr>
          <a:xfrm>
            <a:off x="324000" y="689700"/>
            <a:ext cx="8565600" cy="72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Now let’s look at really small objects. Put these objects in descending order, biggest to smallest and match with the approximate standard form.  </a:t>
            </a:r>
            <a:endParaRPr sz="1800"/>
          </a:p>
        </p:txBody>
      </p:sp>
      <p:sp>
        <p:nvSpPr>
          <p:cNvPr id="1024" name="Google Shape;1024;p8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1025" name="Google Shape;1025;p82"/>
          <p:cNvSpPr txBox="1"/>
          <p:nvPr/>
        </p:nvSpPr>
        <p:spPr>
          <a:xfrm>
            <a:off x="4116500" y="15291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10</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026" name="Google Shape;1026;p82"/>
          <p:cNvSpPr txBox="1"/>
          <p:nvPr/>
        </p:nvSpPr>
        <p:spPr>
          <a:xfrm>
            <a:off x="2203529" y="15291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8 × 10</a:t>
            </a:r>
            <a:r>
              <a:rPr b="0" baseline="30000" i="0" lang="en-GB" sz="1800" u="none" cap="none" strike="noStrike">
                <a:solidFill>
                  <a:schemeClr val="dk1"/>
                </a:solidFill>
                <a:latin typeface="Lexend"/>
                <a:ea typeface="Lexend"/>
                <a:cs typeface="Lexend"/>
                <a:sym typeface="Lexend"/>
              </a:rPr>
              <a:t> </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5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027" name="Google Shape;1027;p82"/>
          <p:cNvSpPr txBox="1"/>
          <p:nvPr/>
        </p:nvSpPr>
        <p:spPr>
          <a:xfrm>
            <a:off x="7324575" y="1529100"/>
            <a:ext cx="14955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028" name="Google Shape;1028;p82"/>
          <p:cNvSpPr txBox="1"/>
          <p:nvPr/>
        </p:nvSpPr>
        <p:spPr>
          <a:xfrm>
            <a:off x="358161" y="15291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029" name="Google Shape;1029;p82"/>
          <p:cNvSpPr txBox="1"/>
          <p:nvPr/>
        </p:nvSpPr>
        <p:spPr>
          <a:xfrm>
            <a:off x="5733450" y="1529100"/>
            <a:ext cx="14955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grpSp>
        <p:nvGrpSpPr>
          <p:cNvPr id="1030" name="Google Shape;1030;p82"/>
          <p:cNvGrpSpPr/>
          <p:nvPr/>
        </p:nvGrpSpPr>
        <p:grpSpPr>
          <a:xfrm>
            <a:off x="3927525" y="2291200"/>
            <a:ext cx="2152200" cy="2216085"/>
            <a:chOff x="3927525" y="2291200"/>
            <a:chExt cx="2152200" cy="2216085"/>
          </a:xfrm>
        </p:grpSpPr>
        <p:sp>
          <p:nvSpPr>
            <p:cNvPr id="1031" name="Google Shape;1031;p82"/>
            <p:cNvSpPr txBox="1"/>
            <p:nvPr/>
          </p:nvSpPr>
          <p:spPr>
            <a:xfrm>
              <a:off x="3927525" y="3737785"/>
              <a:ext cx="2152200" cy="76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Width of a microchip</a:t>
              </a:r>
              <a:endParaRPr b="0" i="0" sz="1800" u="none" cap="none" strike="noStrike">
                <a:solidFill>
                  <a:schemeClr val="dk1"/>
                </a:solidFill>
                <a:latin typeface="Lexend"/>
                <a:ea typeface="Lexend"/>
                <a:cs typeface="Lexend"/>
                <a:sym typeface="Lexend"/>
              </a:endParaRPr>
            </a:p>
          </p:txBody>
        </p:sp>
        <p:pic>
          <p:nvPicPr>
            <p:cNvPr id="1032" name="Google Shape;1032;p82"/>
            <p:cNvPicPr preferRelativeResize="0"/>
            <p:nvPr/>
          </p:nvPicPr>
          <p:blipFill rotWithShape="1">
            <a:blip r:embed="rId3">
              <a:alphaModFix/>
            </a:blip>
            <a:srcRect b="0" l="0" r="0" t="0"/>
            <a:stretch/>
          </p:blipFill>
          <p:spPr>
            <a:xfrm>
              <a:off x="4066450" y="2291200"/>
              <a:ext cx="1341900" cy="1248574"/>
            </a:xfrm>
            <a:prstGeom prst="rect">
              <a:avLst/>
            </a:prstGeom>
            <a:noFill/>
            <a:ln>
              <a:noFill/>
            </a:ln>
          </p:spPr>
        </p:pic>
      </p:grpSp>
      <p:grpSp>
        <p:nvGrpSpPr>
          <p:cNvPr id="1033" name="Google Shape;1033;p82"/>
          <p:cNvGrpSpPr/>
          <p:nvPr/>
        </p:nvGrpSpPr>
        <p:grpSpPr>
          <a:xfrm>
            <a:off x="358150" y="2403350"/>
            <a:ext cx="2086200" cy="1540496"/>
            <a:chOff x="358150" y="2403350"/>
            <a:chExt cx="2086200" cy="1540496"/>
          </a:xfrm>
        </p:grpSpPr>
        <p:sp>
          <p:nvSpPr>
            <p:cNvPr id="1034" name="Google Shape;1034;p82"/>
            <p:cNvSpPr txBox="1"/>
            <p:nvPr/>
          </p:nvSpPr>
          <p:spPr>
            <a:xfrm>
              <a:off x="358150" y="3564946"/>
              <a:ext cx="2086200" cy="37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Radius of an atom</a:t>
              </a:r>
              <a:endParaRPr b="0" i="0" sz="18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p:txBody>
        </p:sp>
        <p:pic>
          <p:nvPicPr>
            <p:cNvPr id="1035" name="Google Shape;1035;p82"/>
            <p:cNvPicPr preferRelativeResize="0"/>
            <p:nvPr/>
          </p:nvPicPr>
          <p:blipFill rotWithShape="1">
            <a:blip r:embed="rId4">
              <a:alphaModFix/>
            </a:blip>
            <a:srcRect b="0" l="0" r="0" t="0"/>
            <a:stretch/>
          </p:blipFill>
          <p:spPr>
            <a:xfrm>
              <a:off x="522400" y="2403350"/>
              <a:ext cx="1123651" cy="1123651"/>
            </a:xfrm>
            <a:prstGeom prst="rect">
              <a:avLst/>
            </a:prstGeom>
            <a:noFill/>
            <a:ln>
              <a:noFill/>
            </a:ln>
          </p:spPr>
        </p:pic>
      </p:grpSp>
      <p:grpSp>
        <p:nvGrpSpPr>
          <p:cNvPr id="1036" name="Google Shape;1036;p82"/>
          <p:cNvGrpSpPr/>
          <p:nvPr/>
        </p:nvGrpSpPr>
        <p:grpSpPr>
          <a:xfrm>
            <a:off x="2124225" y="2390125"/>
            <a:ext cx="1803300" cy="1857496"/>
            <a:chOff x="2124225" y="2390125"/>
            <a:chExt cx="1803300" cy="1857496"/>
          </a:xfrm>
        </p:grpSpPr>
        <p:sp>
          <p:nvSpPr>
            <p:cNvPr id="1037" name="Google Shape;1037;p82"/>
            <p:cNvSpPr txBox="1"/>
            <p:nvPr/>
          </p:nvSpPr>
          <p:spPr>
            <a:xfrm>
              <a:off x="2124225" y="3612521"/>
              <a:ext cx="18033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Length of a strawberry</a:t>
              </a:r>
              <a:endParaRPr b="0" i="0" sz="1800" u="none" cap="none" strike="noStrike">
                <a:solidFill>
                  <a:schemeClr val="dk1"/>
                </a:solidFill>
                <a:latin typeface="Lexend"/>
                <a:ea typeface="Lexend"/>
                <a:cs typeface="Lexend"/>
                <a:sym typeface="Lexend"/>
              </a:endParaRPr>
            </a:p>
          </p:txBody>
        </p:sp>
        <p:pic>
          <p:nvPicPr>
            <p:cNvPr id="1038" name="Google Shape;1038;p82"/>
            <p:cNvPicPr preferRelativeResize="0"/>
            <p:nvPr/>
          </p:nvPicPr>
          <p:blipFill rotWithShape="1">
            <a:blip r:embed="rId5">
              <a:alphaModFix/>
            </a:blip>
            <a:srcRect b="0" l="0" r="0" t="0"/>
            <a:stretch/>
          </p:blipFill>
          <p:spPr>
            <a:xfrm>
              <a:off x="2433400" y="2390125"/>
              <a:ext cx="925250" cy="1150092"/>
            </a:xfrm>
            <a:prstGeom prst="rect">
              <a:avLst/>
            </a:prstGeom>
            <a:noFill/>
            <a:ln>
              <a:noFill/>
            </a:ln>
          </p:spPr>
        </p:pic>
      </p:grpSp>
      <p:grpSp>
        <p:nvGrpSpPr>
          <p:cNvPr id="1039" name="Google Shape;1039;p82"/>
          <p:cNvGrpSpPr/>
          <p:nvPr/>
        </p:nvGrpSpPr>
        <p:grpSpPr>
          <a:xfrm>
            <a:off x="5639650" y="2390125"/>
            <a:ext cx="1803300" cy="1964521"/>
            <a:chOff x="5639650" y="2390125"/>
            <a:chExt cx="1803300" cy="1964521"/>
          </a:xfrm>
        </p:grpSpPr>
        <p:sp>
          <p:nvSpPr>
            <p:cNvPr id="1040" name="Google Shape;1040;p82"/>
            <p:cNvSpPr txBox="1"/>
            <p:nvPr/>
          </p:nvSpPr>
          <p:spPr>
            <a:xfrm>
              <a:off x="5639650" y="3719546"/>
              <a:ext cx="18033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Thickness of a human hair   </a:t>
              </a:r>
              <a:endParaRPr b="0" i="0" sz="1800" u="none" cap="none" strike="noStrike">
                <a:solidFill>
                  <a:schemeClr val="dk1"/>
                </a:solidFill>
                <a:latin typeface="Lexend"/>
                <a:ea typeface="Lexend"/>
                <a:cs typeface="Lexend"/>
                <a:sym typeface="Lexend"/>
              </a:endParaRPr>
            </a:p>
          </p:txBody>
        </p:sp>
        <p:pic>
          <p:nvPicPr>
            <p:cNvPr id="1041" name="Google Shape;1041;p82"/>
            <p:cNvPicPr preferRelativeResize="0"/>
            <p:nvPr/>
          </p:nvPicPr>
          <p:blipFill rotWithShape="1">
            <a:blip r:embed="rId6">
              <a:alphaModFix/>
            </a:blip>
            <a:srcRect b="0" l="0" r="0" t="0"/>
            <a:stretch/>
          </p:blipFill>
          <p:spPr>
            <a:xfrm>
              <a:off x="5918787" y="2390125"/>
              <a:ext cx="878128" cy="1150099"/>
            </a:xfrm>
            <a:prstGeom prst="rect">
              <a:avLst/>
            </a:prstGeom>
            <a:noFill/>
            <a:ln>
              <a:noFill/>
            </a:ln>
          </p:spPr>
        </p:pic>
      </p:grpSp>
      <p:grpSp>
        <p:nvGrpSpPr>
          <p:cNvPr id="1042" name="Google Shape;1042;p82"/>
          <p:cNvGrpSpPr/>
          <p:nvPr/>
        </p:nvGrpSpPr>
        <p:grpSpPr>
          <a:xfrm>
            <a:off x="7529700" y="2124716"/>
            <a:ext cx="1400100" cy="2229934"/>
            <a:chOff x="7529700" y="2124716"/>
            <a:chExt cx="1400100" cy="2229934"/>
          </a:xfrm>
        </p:grpSpPr>
        <p:sp>
          <p:nvSpPr>
            <p:cNvPr id="1043" name="Google Shape;1043;p82"/>
            <p:cNvSpPr txBox="1"/>
            <p:nvPr/>
          </p:nvSpPr>
          <p:spPr>
            <a:xfrm>
              <a:off x="7529700" y="3719550"/>
              <a:ext cx="14001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Width of a fingernail</a:t>
              </a:r>
              <a:endParaRPr b="0" i="0" sz="1800" u="none" cap="none" strike="noStrike">
                <a:solidFill>
                  <a:schemeClr val="dk1"/>
                </a:solidFill>
                <a:latin typeface="Lexend"/>
                <a:ea typeface="Lexend"/>
                <a:cs typeface="Lexend"/>
                <a:sym typeface="Lexend"/>
              </a:endParaRPr>
            </a:p>
          </p:txBody>
        </p:sp>
        <p:grpSp>
          <p:nvGrpSpPr>
            <p:cNvPr id="1044" name="Google Shape;1044;p82"/>
            <p:cNvGrpSpPr/>
            <p:nvPr/>
          </p:nvGrpSpPr>
          <p:grpSpPr>
            <a:xfrm>
              <a:off x="7573092" y="2124716"/>
              <a:ext cx="735006" cy="1362083"/>
              <a:chOff x="7573092" y="2124716"/>
              <a:chExt cx="735006" cy="1362083"/>
            </a:xfrm>
          </p:grpSpPr>
          <p:pic>
            <p:nvPicPr>
              <p:cNvPr id="1045" name="Google Shape;1045;p82"/>
              <p:cNvPicPr preferRelativeResize="0"/>
              <p:nvPr/>
            </p:nvPicPr>
            <p:blipFill rotWithShape="1">
              <a:blip r:embed="rId7">
                <a:alphaModFix/>
              </a:blip>
              <a:srcRect b="7663" l="40002" r="34956" t="71724"/>
              <a:stretch/>
            </p:blipFill>
            <p:spPr>
              <a:xfrm rot="-5400000">
                <a:off x="7425136" y="2603837"/>
                <a:ext cx="1251075" cy="514850"/>
              </a:xfrm>
              <a:prstGeom prst="rect">
                <a:avLst/>
              </a:prstGeom>
              <a:noFill/>
              <a:ln>
                <a:noFill/>
              </a:ln>
            </p:spPr>
          </p:pic>
          <p:pic>
            <p:nvPicPr>
              <p:cNvPr id="1046" name="Google Shape;1046;p82"/>
              <p:cNvPicPr preferRelativeResize="0"/>
              <p:nvPr/>
            </p:nvPicPr>
            <p:blipFill rotWithShape="1">
              <a:blip r:embed="rId8">
                <a:alphaModFix/>
              </a:blip>
              <a:srcRect b="0" l="0" r="0" t="0"/>
              <a:stretch/>
            </p:blipFill>
            <p:spPr>
              <a:xfrm rot="1463036">
                <a:off x="7617950" y="2160010"/>
                <a:ext cx="228600" cy="266700"/>
              </a:xfrm>
              <a:prstGeom prst="rect">
                <a:avLst/>
              </a:prstGeom>
              <a:noFill/>
              <a:ln>
                <a:noFill/>
              </a:ln>
            </p:spPr>
          </p:pic>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83"/>
          <p:cNvSpPr txBox="1"/>
          <p:nvPr>
            <p:ph idx="1" type="body"/>
          </p:nvPr>
        </p:nvSpPr>
        <p:spPr>
          <a:xfrm>
            <a:off x="341075" y="733800"/>
            <a:ext cx="8565600" cy="36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t>Putting the objects first, largest to smallest, we have:</a:t>
            </a:r>
            <a:endParaRPr sz="2000"/>
          </a:p>
        </p:txBody>
      </p:sp>
      <p:sp>
        <p:nvSpPr>
          <p:cNvPr id="1052" name="Google Shape;1052;p8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grpSp>
        <p:nvGrpSpPr>
          <p:cNvPr id="1053" name="Google Shape;1053;p83"/>
          <p:cNvGrpSpPr/>
          <p:nvPr/>
        </p:nvGrpSpPr>
        <p:grpSpPr>
          <a:xfrm>
            <a:off x="5603925" y="2291200"/>
            <a:ext cx="2152200" cy="2216085"/>
            <a:chOff x="3927525" y="2291200"/>
            <a:chExt cx="2152200" cy="2216085"/>
          </a:xfrm>
        </p:grpSpPr>
        <p:sp>
          <p:nvSpPr>
            <p:cNvPr id="1054" name="Google Shape;1054;p83"/>
            <p:cNvSpPr txBox="1"/>
            <p:nvPr/>
          </p:nvSpPr>
          <p:spPr>
            <a:xfrm>
              <a:off x="3927525" y="3737785"/>
              <a:ext cx="2152200" cy="76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Width of a microchip</a:t>
              </a:r>
              <a:endParaRPr b="0" i="0" sz="1800" u="none" cap="none" strike="noStrike">
                <a:solidFill>
                  <a:schemeClr val="dk1"/>
                </a:solidFill>
                <a:latin typeface="Lexend"/>
                <a:ea typeface="Lexend"/>
                <a:cs typeface="Lexend"/>
                <a:sym typeface="Lexend"/>
              </a:endParaRPr>
            </a:p>
          </p:txBody>
        </p:sp>
        <p:pic>
          <p:nvPicPr>
            <p:cNvPr id="1055" name="Google Shape;1055;p83"/>
            <p:cNvPicPr preferRelativeResize="0"/>
            <p:nvPr/>
          </p:nvPicPr>
          <p:blipFill rotWithShape="1">
            <a:blip r:embed="rId3">
              <a:alphaModFix/>
            </a:blip>
            <a:srcRect b="0" l="0" r="0" t="0"/>
            <a:stretch/>
          </p:blipFill>
          <p:spPr>
            <a:xfrm>
              <a:off x="4066450" y="2291200"/>
              <a:ext cx="1341900" cy="1248574"/>
            </a:xfrm>
            <a:prstGeom prst="rect">
              <a:avLst/>
            </a:prstGeom>
            <a:noFill/>
            <a:ln>
              <a:noFill/>
            </a:ln>
          </p:spPr>
        </p:pic>
      </p:grpSp>
      <p:grpSp>
        <p:nvGrpSpPr>
          <p:cNvPr id="1056" name="Google Shape;1056;p83"/>
          <p:cNvGrpSpPr/>
          <p:nvPr/>
        </p:nvGrpSpPr>
        <p:grpSpPr>
          <a:xfrm>
            <a:off x="3734650" y="2390125"/>
            <a:ext cx="1803300" cy="1964521"/>
            <a:chOff x="5639650" y="2390125"/>
            <a:chExt cx="1803300" cy="1964521"/>
          </a:xfrm>
        </p:grpSpPr>
        <p:sp>
          <p:nvSpPr>
            <p:cNvPr id="1057" name="Google Shape;1057;p83"/>
            <p:cNvSpPr txBox="1"/>
            <p:nvPr/>
          </p:nvSpPr>
          <p:spPr>
            <a:xfrm>
              <a:off x="5639650" y="3719546"/>
              <a:ext cx="18033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Thickness of a human hair   </a:t>
              </a:r>
              <a:endParaRPr b="0" i="0" sz="1800" u="none" cap="none" strike="noStrike">
                <a:solidFill>
                  <a:schemeClr val="dk1"/>
                </a:solidFill>
                <a:latin typeface="Lexend"/>
                <a:ea typeface="Lexend"/>
                <a:cs typeface="Lexend"/>
                <a:sym typeface="Lexend"/>
              </a:endParaRPr>
            </a:p>
          </p:txBody>
        </p:sp>
        <p:pic>
          <p:nvPicPr>
            <p:cNvPr id="1058" name="Google Shape;1058;p83"/>
            <p:cNvPicPr preferRelativeResize="0"/>
            <p:nvPr/>
          </p:nvPicPr>
          <p:blipFill rotWithShape="1">
            <a:blip r:embed="rId4">
              <a:alphaModFix/>
            </a:blip>
            <a:srcRect b="0" l="0" r="0" t="0"/>
            <a:stretch/>
          </p:blipFill>
          <p:spPr>
            <a:xfrm>
              <a:off x="5994987" y="2390125"/>
              <a:ext cx="878128" cy="1150099"/>
            </a:xfrm>
            <a:prstGeom prst="rect">
              <a:avLst/>
            </a:prstGeom>
            <a:noFill/>
            <a:ln>
              <a:noFill/>
            </a:ln>
          </p:spPr>
        </p:pic>
      </p:grpSp>
      <p:grpSp>
        <p:nvGrpSpPr>
          <p:cNvPr id="1059" name="Google Shape;1059;p83"/>
          <p:cNvGrpSpPr/>
          <p:nvPr/>
        </p:nvGrpSpPr>
        <p:grpSpPr>
          <a:xfrm>
            <a:off x="7292350" y="2403350"/>
            <a:ext cx="2086200" cy="1769096"/>
            <a:chOff x="358150" y="2403350"/>
            <a:chExt cx="2086200" cy="1769096"/>
          </a:xfrm>
        </p:grpSpPr>
        <p:sp>
          <p:nvSpPr>
            <p:cNvPr id="1060" name="Google Shape;1060;p83"/>
            <p:cNvSpPr txBox="1"/>
            <p:nvPr/>
          </p:nvSpPr>
          <p:spPr>
            <a:xfrm>
              <a:off x="358150" y="3793546"/>
              <a:ext cx="2086200" cy="37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Radius of an atom</a:t>
              </a:r>
              <a:endParaRPr b="0" i="0" sz="18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p:txBody>
        </p:sp>
        <p:pic>
          <p:nvPicPr>
            <p:cNvPr id="1061" name="Google Shape;1061;p83"/>
            <p:cNvPicPr preferRelativeResize="0"/>
            <p:nvPr/>
          </p:nvPicPr>
          <p:blipFill rotWithShape="1">
            <a:blip r:embed="rId5">
              <a:alphaModFix/>
            </a:blip>
            <a:srcRect b="0" l="0" r="0" t="0"/>
            <a:stretch/>
          </p:blipFill>
          <p:spPr>
            <a:xfrm>
              <a:off x="522400" y="2403350"/>
              <a:ext cx="1123651" cy="1123651"/>
            </a:xfrm>
            <a:prstGeom prst="rect">
              <a:avLst/>
            </a:prstGeom>
            <a:noFill/>
            <a:ln>
              <a:noFill/>
            </a:ln>
          </p:spPr>
        </p:pic>
      </p:grpSp>
      <p:grpSp>
        <p:nvGrpSpPr>
          <p:cNvPr id="1062" name="Google Shape;1062;p83"/>
          <p:cNvGrpSpPr/>
          <p:nvPr/>
        </p:nvGrpSpPr>
        <p:grpSpPr>
          <a:xfrm>
            <a:off x="265175" y="2520700"/>
            <a:ext cx="1803300" cy="1857496"/>
            <a:chOff x="2124225" y="2390125"/>
            <a:chExt cx="1803300" cy="1857496"/>
          </a:xfrm>
        </p:grpSpPr>
        <p:sp>
          <p:nvSpPr>
            <p:cNvPr id="1063" name="Google Shape;1063;p83"/>
            <p:cNvSpPr txBox="1"/>
            <p:nvPr/>
          </p:nvSpPr>
          <p:spPr>
            <a:xfrm>
              <a:off x="2124225" y="3612521"/>
              <a:ext cx="18033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Length of a strawberry</a:t>
              </a:r>
              <a:endParaRPr b="0" i="0" sz="1800" u="none" cap="none" strike="noStrike">
                <a:solidFill>
                  <a:schemeClr val="dk1"/>
                </a:solidFill>
                <a:latin typeface="Lexend"/>
                <a:ea typeface="Lexend"/>
                <a:cs typeface="Lexend"/>
                <a:sym typeface="Lexend"/>
              </a:endParaRPr>
            </a:p>
          </p:txBody>
        </p:sp>
        <p:pic>
          <p:nvPicPr>
            <p:cNvPr id="1064" name="Google Shape;1064;p83"/>
            <p:cNvPicPr preferRelativeResize="0"/>
            <p:nvPr/>
          </p:nvPicPr>
          <p:blipFill rotWithShape="1">
            <a:blip r:embed="rId6">
              <a:alphaModFix/>
            </a:blip>
            <a:srcRect b="0" l="0" r="0" t="0"/>
            <a:stretch/>
          </p:blipFill>
          <p:spPr>
            <a:xfrm>
              <a:off x="2433400" y="2390125"/>
              <a:ext cx="925250" cy="1150092"/>
            </a:xfrm>
            <a:prstGeom prst="rect">
              <a:avLst/>
            </a:prstGeom>
            <a:noFill/>
            <a:ln>
              <a:noFill/>
            </a:ln>
          </p:spPr>
        </p:pic>
      </p:grpSp>
      <p:grpSp>
        <p:nvGrpSpPr>
          <p:cNvPr id="1065" name="Google Shape;1065;p83"/>
          <p:cNvGrpSpPr/>
          <p:nvPr/>
        </p:nvGrpSpPr>
        <p:grpSpPr>
          <a:xfrm>
            <a:off x="2268575" y="2125029"/>
            <a:ext cx="1400100" cy="2229934"/>
            <a:chOff x="7529700" y="2124716"/>
            <a:chExt cx="1400100" cy="2229934"/>
          </a:xfrm>
        </p:grpSpPr>
        <p:sp>
          <p:nvSpPr>
            <p:cNvPr id="1066" name="Google Shape;1066;p83"/>
            <p:cNvSpPr txBox="1"/>
            <p:nvPr/>
          </p:nvSpPr>
          <p:spPr>
            <a:xfrm>
              <a:off x="7529700" y="3719550"/>
              <a:ext cx="14001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Width of a fingernail</a:t>
              </a:r>
              <a:endParaRPr b="0" i="0" sz="1800" u="none" cap="none" strike="noStrike">
                <a:solidFill>
                  <a:schemeClr val="dk1"/>
                </a:solidFill>
                <a:latin typeface="Lexend"/>
                <a:ea typeface="Lexend"/>
                <a:cs typeface="Lexend"/>
                <a:sym typeface="Lexend"/>
              </a:endParaRPr>
            </a:p>
          </p:txBody>
        </p:sp>
        <p:grpSp>
          <p:nvGrpSpPr>
            <p:cNvPr id="1067" name="Google Shape;1067;p83"/>
            <p:cNvGrpSpPr/>
            <p:nvPr/>
          </p:nvGrpSpPr>
          <p:grpSpPr>
            <a:xfrm>
              <a:off x="7573092" y="2124716"/>
              <a:ext cx="735006" cy="1362083"/>
              <a:chOff x="7573092" y="2124716"/>
              <a:chExt cx="735006" cy="1362083"/>
            </a:xfrm>
          </p:grpSpPr>
          <p:pic>
            <p:nvPicPr>
              <p:cNvPr id="1068" name="Google Shape;1068;p83"/>
              <p:cNvPicPr preferRelativeResize="0"/>
              <p:nvPr/>
            </p:nvPicPr>
            <p:blipFill rotWithShape="1">
              <a:blip r:embed="rId7">
                <a:alphaModFix/>
              </a:blip>
              <a:srcRect b="7663" l="40002" r="34956" t="71724"/>
              <a:stretch/>
            </p:blipFill>
            <p:spPr>
              <a:xfrm rot="-5400000">
                <a:off x="7425136" y="2603837"/>
                <a:ext cx="1251075" cy="514850"/>
              </a:xfrm>
              <a:prstGeom prst="rect">
                <a:avLst/>
              </a:prstGeom>
              <a:noFill/>
              <a:ln>
                <a:noFill/>
              </a:ln>
            </p:spPr>
          </p:pic>
          <p:pic>
            <p:nvPicPr>
              <p:cNvPr id="1069" name="Google Shape;1069;p83"/>
              <p:cNvPicPr preferRelativeResize="0"/>
              <p:nvPr/>
            </p:nvPicPr>
            <p:blipFill rotWithShape="1">
              <a:blip r:embed="rId8">
                <a:alphaModFix/>
              </a:blip>
              <a:srcRect b="0" l="0" r="0" t="0"/>
              <a:stretch/>
            </p:blipFill>
            <p:spPr>
              <a:xfrm rot="1463036">
                <a:off x="7617950" y="2160010"/>
                <a:ext cx="228600" cy="266700"/>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84"/>
          <p:cNvSpPr txBox="1"/>
          <p:nvPr>
            <p:ph idx="1" type="body"/>
          </p:nvPr>
        </p:nvSpPr>
        <p:spPr>
          <a:xfrm>
            <a:off x="341075" y="733800"/>
            <a:ext cx="8565600" cy="36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2000"/>
              <a:t>Matching with the approximate standard from lengths:</a:t>
            </a:r>
            <a:endParaRPr sz="2000"/>
          </a:p>
        </p:txBody>
      </p:sp>
      <p:sp>
        <p:nvSpPr>
          <p:cNvPr id="1075" name="Google Shape;1075;p8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1076" name="Google Shape;1076;p84"/>
          <p:cNvSpPr txBox="1"/>
          <p:nvPr/>
        </p:nvSpPr>
        <p:spPr>
          <a:xfrm>
            <a:off x="3887054"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8 × 10</a:t>
            </a:r>
            <a:r>
              <a:rPr b="0" baseline="30000" i="0" lang="en-GB" sz="1800" u="none" cap="none" strike="noStrike">
                <a:solidFill>
                  <a:schemeClr val="dk1"/>
                </a:solidFill>
                <a:latin typeface="Lexend"/>
                <a:ea typeface="Lexend"/>
                <a:cs typeface="Lexend"/>
                <a:sym typeface="Lexend"/>
              </a:rPr>
              <a:t> </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5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077" name="Google Shape;1077;p84"/>
          <p:cNvSpPr txBox="1"/>
          <p:nvPr/>
        </p:nvSpPr>
        <p:spPr>
          <a:xfrm>
            <a:off x="2150875" y="1577300"/>
            <a:ext cx="1593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lang="en-GB" sz="1800">
                <a:solidFill>
                  <a:schemeClr val="dk1"/>
                </a:solidFill>
                <a:latin typeface="Lexend"/>
                <a:ea typeface="Lexend"/>
                <a:cs typeface="Lexend"/>
                <a:sym typeface="Lexend"/>
              </a:rPr>
              <a:t>1</a:t>
            </a:r>
            <a:r>
              <a:rPr b="0" i="0" lang="en-GB" sz="1800" u="none" cap="none" strike="noStrike">
                <a:solidFill>
                  <a:schemeClr val="dk1"/>
                </a:solidFill>
                <a:latin typeface="Lexend"/>
                <a:ea typeface="Lexend"/>
                <a:cs typeface="Lexend"/>
                <a:sym typeface="Lexend"/>
              </a:rPr>
              <a:t>.5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078" name="Google Shape;1078;p84"/>
          <p:cNvSpPr txBox="1"/>
          <p:nvPr/>
        </p:nvSpPr>
        <p:spPr>
          <a:xfrm>
            <a:off x="5623236"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079" name="Google Shape;1079;p84"/>
          <p:cNvSpPr txBox="1"/>
          <p:nvPr/>
        </p:nvSpPr>
        <p:spPr>
          <a:xfrm>
            <a:off x="349025" y="1577300"/>
            <a:ext cx="1530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lang="en-GB" sz="1800">
                <a:solidFill>
                  <a:schemeClr val="dk1"/>
                </a:solidFill>
                <a:latin typeface="Lexend"/>
                <a:ea typeface="Lexend"/>
                <a:cs typeface="Lexend"/>
                <a:sym typeface="Lexend"/>
              </a:rPr>
              <a:t>2</a:t>
            </a:r>
            <a:r>
              <a:rPr b="0" i="0" lang="en-GB" sz="1800" u="none" cap="none" strike="noStrike">
                <a:solidFill>
                  <a:schemeClr val="dk1"/>
                </a:solidFill>
                <a:latin typeface="Lexend"/>
                <a:ea typeface="Lexend"/>
                <a:cs typeface="Lexend"/>
                <a:sym typeface="Lexend"/>
              </a:rPr>
              <a:t>.5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grpSp>
        <p:nvGrpSpPr>
          <p:cNvPr id="1080" name="Google Shape;1080;p84"/>
          <p:cNvGrpSpPr/>
          <p:nvPr/>
        </p:nvGrpSpPr>
        <p:grpSpPr>
          <a:xfrm>
            <a:off x="5603925" y="2291200"/>
            <a:ext cx="2152200" cy="2216085"/>
            <a:chOff x="3927525" y="2291200"/>
            <a:chExt cx="2152200" cy="2216085"/>
          </a:xfrm>
        </p:grpSpPr>
        <p:sp>
          <p:nvSpPr>
            <p:cNvPr id="1081" name="Google Shape;1081;p84"/>
            <p:cNvSpPr txBox="1"/>
            <p:nvPr/>
          </p:nvSpPr>
          <p:spPr>
            <a:xfrm>
              <a:off x="3927525" y="3737785"/>
              <a:ext cx="2152200" cy="76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Width of a microchip</a:t>
              </a:r>
              <a:endParaRPr b="0" i="0" sz="1800" u="none" cap="none" strike="noStrike">
                <a:solidFill>
                  <a:schemeClr val="dk1"/>
                </a:solidFill>
                <a:latin typeface="Lexend"/>
                <a:ea typeface="Lexend"/>
                <a:cs typeface="Lexend"/>
                <a:sym typeface="Lexend"/>
              </a:endParaRPr>
            </a:p>
          </p:txBody>
        </p:sp>
        <p:pic>
          <p:nvPicPr>
            <p:cNvPr id="1082" name="Google Shape;1082;p84"/>
            <p:cNvPicPr preferRelativeResize="0"/>
            <p:nvPr/>
          </p:nvPicPr>
          <p:blipFill rotWithShape="1">
            <a:blip r:embed="rId3">
              <a:alphaModFix/>
            </a:blip>
            <a:srcRect b="0" l="0" r="0" t="0"/>
            <a:stretch/>
          </p:blipFill>
          <p:spPr>
            <a:xfrm>
              <a:off x="4066450" y="2291200"/>
              <a:ext cx="1341900" cy="1248574"/>
            </a:xfrm>
            <a:prstGeom prst="rect">
              <a:avLst/>
            </a:prstGeom>
            <a:noFill/>
            <a:ln>
              <a:noFill/>
            </a:ln>
          </p:spPr>
        </p:pic>
      </p:grpSp>
      <p:grpSp>
        <p:nvGrpSpPr>
          <p:cNvPr id="1083" name="Google Shape;1083;p84"/>
          <p:cNvGrpSpPr/>
          <p:nvPr/>
        </p:nvGrpSpPr>
        <p:grpSpPr>
          <a:xfrm>
            <a:off x="3734650" y="2390125"/>
            <a:ext cx="1803300" cy="1964521"/>
            <a:chOff x="5639650" y="2390125"/>
            <a:chExt cx="1803300" cy="1964521"/>
          </a:xfrm>
        </p:grpSpPr>
        <p:sp>
          <p:nvSpPr>
            <p:cNvPr id="1084" name="Google Shape;1084;p84"/>
            <p:cNvSpPr txBox="1"/>
            <p:nvPr/>
          </p:nvSpPr>
          <p:spPr>
            <a:xfrm>
              <a:off x="5639650" y="3719546"/>
              <a:ext cx="18033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Thickness of a human hair   </a:t>
              </a:r>
              <a:endParaRPr b="0" i="0" sz="1800" u="none" cap="none" strike="noStrike">
                <a:solidFill>
                  <a:schemeClr val="dk1"/>
                </a:solidFill>
                <a:latin typeface="Lexend"/>
                <a:ea typeface="Lexend"/>
                <a:cs typeface="Lexend"/>
                <a:sym typeface="Lexend"/>
              </a:endParaRPr>
            </a:p>
          </p:txBody>
        </p:sp>
        <p:pic>
          <p:nvPicPr>
            <p:cNvPr id="1085" name="Google Shape;1085;p84"/>
            <p:cNvPicPr preferRelativeResize="0"/>
            <p:nvPr/>
          </p:nvPicPr>
          <p:blipFill rotWithShape="1">
            <a:blip r:embed="rId4">
              <a:alphaModFix/>
            </a:blip>
            <a:srcRect b="0" l="0" r="0" t="0"/>
            <a:stretch/>
          </p:blipFill>
          <p:spPr>
            <a:xfrm>
              <a:off x="5994987" y="2390125"/>
              <a:ext cx="878128" cy="1150099"/>
            </a:xfrm>
            <a:prstGeom prst="rect">
              <a:avLst/>
            </a:prstGeom>
            <a:noFill/>
            <a:ln>
              <a:noFill/>
            </a:ln>
          </p:spPr>
        </p:pic>
      </p:grpSp>
      <p:grpSp>
        <p:nvGrpSpPr>
          <p:cNvPr id="1086" name="Google Shape;1086;p84"/>
          <p:cNvGrpSpPr/>
          <p:nvPr/>
        </p:nvGrpSpPr>
        <p:grpSpPr>
          <a:xfrm>
            <a:off x="7292350" y="2403350"/>
            <a:ext cx="2086200" cy="1769096"/>
            <a:chOff x="358150" y="2403350"/>
            <a:chExt cx="2086200" cy="1769096"/>
          </a:xfrm>
        </p:grpSpPr>
        <p:sp>
          <p:nvSpPr>
            <p:cNvPr id="1087" name="Google Shape;1087;p84"/>
            <p:cNvSpPr txBox="1"/>
            <p:nvPr/>
          </p:nvSpPr>
          <p:spPr>
            <a:xfrm>
              <a:off x="358150" y="3793546"/>
              <a:ext cx="2086200" cy="37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Radius of an atom</a:t>
              </a:r>
              <a:endParaRPr b="0" i="0" sz="18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p:txBody>
        </p:sp>
        <p:pic>
          <p:nvPicPr>
            <p:cNvPr id="1088" name="Google Shape;1088;p84"/>
            <p:cNvPicPr preferRelativeResize="0"/>
            <p:nvPr/>
          </p:nvPicPr>
          <p:blipFill rotWithShape="1">
            <a:blip r:embed="rId5">
              <a:alphaModFix/>
            </a:blip>
            <a:srcRect b="0" l="0" r="0" t="0"/>
            <a:stretch/>
          </p:blipFill>
          <p:spPr>
            <a:xfrm>
              <a:off x="522400" y="2403350"/>
              <a:ext cx="1123651" cy="1123651"/>
            </a:xfrm>
            <a:prstGeom prst="rect">
              <a:avLst/>
            </a:prstGeom>
            <a:noFill/>
            <a:ln>
              <a:noFill/>
            </a:ln>
          </p:spPr>
        </p:pic>
      </p:grpSp>
      <p:sp>
        <p:nvSpPr>
          <p:cNvPr id="1089" name="Google Shape;1089;p84"/>
          <p:cNvSpPr txBox="1"/>
          <p:nvPr/>
        </p:nvSpPr>
        <p:spPr>
          <a:xfrm>
            <a:off x="7266800"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10</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grpSp>
        <p:nvGrpSpPr>
          <p:cNvPr id="1090" name="Google Shape;1090;p84"/>
          <p:cNvGrpSpPr/>
          <p:nvPr/>
        </p:nvGrpSpPr>
        <p:grpSpPr>
          <a:xfrm>
            <a:off x="265175" y="2520700"/>
            <a:ext cx="1803300" cy="1857496"/>
            <a:chOff x="2124225" y="2390125"/>
            <a:chExt cx="1803300" cy="1857496"/>
          </a:xfrm>
        </p:grpSpPr>
        <p:sp>
          <p:nvSpPr>
            <p:cNvPr id="1091" name="Google Shape;1091;p84"/>
            <p:cNvSpPr txBox="1"/>
            <p:nvPr/>
          </p:nvSpPr>
          <p:spPr>
            <a:xfrm>
              <a:off x="2124225" y="3612521"/>
              <a:ext cx="18033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Length of a strawberry</a:t>
              </a:r>
              <a:endParaRPr b="0" i="0" sz="1800" u="none" cap="none" strike="noStrike">
                <a:solidFill>
                  <a:schemeClr val="dk1"/>
                </a:solidFill>
                <a:latin typeface="Lexend"/>
                <a:ea typeface="Lexend"/>
                <a:cs typeface="Lexend"/>
                <a:sym typeface="Lexend"/>
              </a:endParaRPr>
            </a:p>
          </p:txBody>
        </p:sp>
        <p:pic>
          <p:nvPicPr>
            <p:cNvPr id="1092" name="Google Shape;1092;p84"/>
            <p:cNvPicPr preferRelativeResize="0"/>
            <p:nvPr/>
          </p:nvPicPr>
          <p:blipFill rotWithShape="1">
            <a:blip r:embed="rId6">
              <a:alphaModFix/>
            </a:blip>
            <a:srcRect b="0" l="0" r="0" t="0"/>
            <a:stretch/>
          </p:blipFill>
          <p:spPr>
            <a:xfrm>
              <a:off x="2433400" y="2390125"/>
              <a:ext cx="925250" cy="1150092"/>
            </a:xfrm>
            <a:prstGeom prst="rect">
              <a:avLst/>
            </a:prstGeom>
            <a:noFill/>
            <a:ln>
              <a:noFill/>
            </a:ln>
          </p:spPr>
        </p:pic>
      </p:grpSp>
      <p:grpSp>
        <p:nvGrpSpPr>
          <p:cNvPr id="1093" name="Google Shape;1093;p84"/>
          <p:cNvGrpSpPr/>
          <p:nvPr/>
        </p:nvGrpSpPr>
        <p:grpSpPr>
          <a:xfrm>
            <a:off x="2268575" y="2125029"/>
            <a:ext cx="1400100" cy="2229934"/>
            <a:chOff x="7529700" y="2124716"/>
            <a:chExt cx="1400100" cy="2229934"/>
          </a:xfrm>
        </p:grpSpPr>
        <p:sp>
          <p:nvSpPr>
            <p:cNvPr id="1094" name="Google Shape;1094;p84"/>
            <p:cNvSpPr txBox="1"/>
            <p:nvPr/>
          </p:nvSpPr>
          <p:spPr>
            <a:xfrm>
              <a:off x="7529700" y="3719550"/>
              <a:ext cx="14001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Width of a fingernail</a:t>
              </a:r>
              <a:endParaRPr b="0" i="0" sz="1800" u="none" cap="none" strike="noStrike">
                <a:solidFill>
                  <a:schemeClr val="dk1"/>
                </a:solidFill>
                <a:latin typeface="Lexend"/>
                <a:ea typeface="Lexend"/>
                <a:cs typeface="Lexend"/>
                <a:sym typeface="Lexend"/>
              </a:endParaRPr>
            </a:p>
          </p:txBody>
        </p:sp>
        <p:grpSp>
          <p:nvGrpSpPr>
            <p:cNvPr id="1095" name="Google Shape;1095;p84"/>
            <p:cNvGrpSpPr/>
            <p:nvPr/>
          </p:nvGrpSpPr>
          <p:grpSpPr>
            <a:xfrm>
              <a:off x="7573092" y="2124716"/>
              <a:ext cx="735006" cy="1362083"/>
              <a:chOff x="7573092" y="2124716"/>
              <a:chExt cx="735006" cy="1362083"/>
            </a:xfrm>
          </p:grpSpPr>
          <p:pic>
            <p:nvPicPr>
              <p:cNvPr id="1096" name="Google Shape;1096;p84"/>
              <p:cNvPicPr preferRelativeResize="0"/>
              <p:nvPr/>
            </p:nvPicPr>
            <p:blipFill rotWithShape="1">
              <a:blip r:embed="rId7">
                <a:alphaModFix/>
              </a:blip>
              <a:srcRect b="7663" l="40002" r="34956" t="71724"/>
              <a:stretch/>
            </p:blipFill>
            <p:spPr>
              <a:xfrm rot="-5400000">
                <a:off x="7425136" y="2603837"/>
                <a:ext cx="1251075" cy="514850"/>
              </a:xfrm>
              <a:prstGeom prst="rect">
                <a:avLst/>
              </a:prstGeom>
              <a:noFill/>
              <a:ln>
                <a:noFill/>
              </a:ln>
            </p:spPr>
          </p:pic>
          <p:pic>
            <p:nvPicPr>
              <p:cNvPr id="1097" name="Google Shape;1097;p84"/>
              <p:cNvPicPr preferRelativeResize="0"/>
              <p:nvPr/>
            </p:nvPicPr>
            <p:blipFill rotWithShape="1">
              <a:blip r:embed="rId8">
                <a:alphaModFix/>
              </a:blip>
              <a:srcRect b="0" l="0" r="0" t="0"/>
              <a:stretch/>
            </p:blipFill>
            <p:spPr>
              <a:xfrm rot="1463036">
                <a:off x="7617950" y="2160010"/>
                <a:ext cx="228600" cy="266700"/>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85"/>
          <p:cNvSpPr txBox="1"/>
          <p:nvPr>
            <p:ph idx="1" type="body"/>
          </p:nvPr>
        </p:nvSpPr>
        <p:spPr>
          <a:xfrm>
            <a:off x="324000" y="759300"/>
            <a:ext cx="8565600" cy="72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Removing the imagery, how do you identify these standard forms are in descending order?</a:t>
            </a:r>
            <a:endParaRPr sz="2000"/>
          </a:p>
          <a:p>
            <a:pPr indent="0" lvl="0" marL="0" rtl="0" algn="l">
              <a:lnSpc>
                <a:spcPct val="115000"/>
              </a:lnSpc>
              <a:spcBef>
                <a:spcPts val="1000"/>
              </a:spcBef>
              <a:spcAft>
                <a:spcPts val="1000"/>
              </a:spcAft>
              <a:buSzPts val="2200"/>
              <a:buNone/>
            </a:pPr>
            <a:r>
              <a:t/>
            </a:r>
            <a:endParaRPr sz="2000"/>
          </a:p>
        </p:txBody>
      </p:sp>
      <p:sp>
        <p:nvSpPr>
          <p:cNvPr id="1103" name="Google Shape;1103;p85"/>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1104" name="Google Shape;1104;p85"/>
          <p:cNvSpPr txBox="1"/>
          <p:nvPr>
            <p:ph idx="1" type="body"/>
          </p:nvPr>
        </p:nvSpPr>
        <p:spPr>
          <a:xfrm>
            <a:off x="324000" y="2457925"/>
            <a:ext cx="5139600" cy="33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The exponents are in descending order.</a:t>
            </a:r>
            <a:endParaRPr sz="2000"/>
          </a:p>
          <a:p>
            <a:pPr indent="0" lvl="0" marL="0" rtl="0" algn="l">
              <a:lnSpc>
                <a:spcPct val="115000"/>
              </a:lnSpc>
              <a:spcBef>
                <a:spcPts val="1000"/>
              </a:spcBef>
              <a:spcAft>
                <a:spcPts val="1000"/>
              </a:spcAft>
              <a:buSzPts val="2200"/>
              <a:buNone/>
            </a:pPr>
            <a:r>
              <a:t/>
            </a:r>
            <a:endParaRPr sz="2000"/>
          </a:p>
        </p:txBody>
      </p:sp>
      <p:sp>
        <p:nvSpPr>
          <p:cNvPr id="1105" name="Google Shape;1105;p85"/>
          <p:cNvSpPr/>
          <p:nvPr/>
        </p:nvSpPr>
        <p:spPr>
          <a:xfrm>
            <a:off x="1330050" y="1644600"/>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106" name="Google Shape;1106;p85"/>
          <p:cNvSpPr/>
          <p:nvPr/>
        </p:nvSpPr>
        <p:spPr>
          <a:xfrm>
            <a:off x="4678079" y="1644600"/>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107" name="Google Shape;1107;p85"/>
          <p:cNvSpPr/>
          <p:nvPr/>
        </p:nvSpPr>
        <p:spPr>
          <a:xfrm>
            <a:off x="3120275" y="1644600"/>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108" name="Google Shape;1108;p85"/>
          <p:cNvSpPr/>
          <p:nvPr/>
        </p:nvSpPr>
        <p:spPr>
          <a:xfrm>
            <a:off x="6482450" y="1644600"/>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109" name="Google Shape;1109;p85"/>
          <p:cNvSpPr/>
          <p:nvPr/>
        </p:nvSpPr>
        <p:spPr>
          <a:xfrm>
            <a:off x="8096375" y="1644600"/>
            <a:ext cx="20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110" name="Google Shape;1110;p85"/>
          <p:cNvSpPr txBox="1"/>
          <p:nvPr/>
        </p:nvSpPr>
        <p:spPr>
          <a:xfrm>
            <a:off x="3887054"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8 × 10</a:t>
            </a:r>
            <a:r>
              <a:rPr b="0" baseline="30000" i="0" lang="en-GB" sz="1800" u="none" cap="none" strike="noStrike">
                <a:solidFill>
                  <a:schemeClr val="dk1"/>
                </a:solidFill>
                <a:latin typeface="Lexend"/>
                <a:ea typeface="Lexend"/>
                <a:cs typeface="Lexend"/>
                <a:sym typeface="Lexend"/>
              </a:rPr>
              <a:t> </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5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111" name="Google Shape;1111;p85"/>
          <p:cNvSpPr txBox="1"/>
          <p:nvPr/>
        </p:nvSpPr>
        <p:spPr>
          <a:xfrm>
            <a:off x="5623236"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112" name="Google Shape;1112;p85"/>
          <p:cNvSpPr txBox="1"/>
          <p:nvPr/>
        </p:nvSpPr>
        <p:spPr>
          <a:xfrm>
            <a:off x="7266800"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10</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113" name="Google Shape;1113;p85"/>
          <p:cNvSpPr txBox="1"/>
          <p:nvPr/>
        </p:nvSpPr>
        <p:spPr>
          <a:xfrm>
            <a:off x="2074675" y="1577300"/>
            <a:ext cx="1609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lang="en-GB" sz="1800">
                <a:solidFill>
                  <a:schemeClr val="dk1"/>
                </a:solidFill>
                <a:latin typeface="Lexend"/>
                <a:ea typeface="Lexend"/>
                <a:cs typeface="Lexend"/>
                <a:sym typeface="Lexend"/>
              </a:rPr>
              <a:t>1</a:t>
            </a:r>
            <a:r>
              <a:rPr b="0" i="0" lang="en-GB" sz="1800" u="none" cap="none" strike="noStrike">
                <a:solidFill>
                  <a:schemeClr val="dk1"/>
                </a:solidFill>
                <a:latin typeface="Lexend"/>
                <a:ea typeface="Lexend"/>
                <a:cs typeface="Lexend"/>
                <a:sym typeface="Lexend"/>
              </a:rPr>
              <a:t>.5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114" name="Google Shape;1114;p85"/>
          <p:cNvSpPr txBox="1"/>
          <p:nvPr/>
        </p:nvSpPr>
        <p:spPr>
          <a:xfrm>
            <a:off x="272826" y="1577300"/>
            <a:ext cx="16710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lang="en-GB" sz="1800">
                <a:solidFill>
                  <a:schemeClr val="dk1"/>
                </a:solidFill>
                <a:latin typeface="Lexend"/>
                <a:ea typeface="Lexend"/>
                <a:cs typeface="Lexend"/>
                <a:sym typeface="Lexend"/>
              </a:rPr>
              <a:t>2</a:t>
            </a:r>
            <a:r>
              <a:rPr b="0" i="0" lang="en-GB" sz="1800" u="none" cap="none" strike="noStrike">
                <a:solidFill>
                  <a:schemeClr val="dk1"/>
                </a:solidFill>
                <a:latin typeface="Lexend"/>
                <a:ea typeface="Lexend"/>
                <a:cs typeface="Lexend"/>
                <a:sym typeface="Lexend"/>
              </a:rPr>
              <a:t>.5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86"/>
          <p:cNvSpPr txBox="1"/>
          <p:nvPr>
            <p:ph idx="1" type="body"/>
          </p:nvPr>
        </p:nvSpPr>
        <p:spPr>
          <a:xfrm>
            <a:off x="324000" y="759300"/>
            <a:ext cx="8565600" cy="72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Removing the imagery, how do you identify these standard forms are in descending order?</a:t>
            </a:r>
            <a:endParaRPr sz="2000"/>
          </a:p>
          <a:p>
            <a:pPr indent="0" lvl="0" marL="0" rtl="0" algn="l">
              <a:lnSpc>
                <a:spcPct val="115000"/>
              </a:lnSpc>
              <a:spcBef>
                <a:spcPts val="1000"/>
              </a:spcBef>
              <a:spcAft>
                <a:spcPts val="1000"/>
              </a:spcAft>
              <a:buSzPts val="2200"/>
              <a:buNone/>
            </a:pPr>
            <a:r>
              <a:t/>
            </a:r>
            <a:endParaRPr sz="2000"/>
          </a:p>
        </p:txBody>
      </p:sp>
      <p:sp>
        <p:nvSpPr>
          <p:cNvPr id="1120" name="Google Shape;1120;p86"/>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1121" name="Google Shape;1121;p86"/>
          <p:cNvSpPr txBox="1"/>
          <p:nvPr>
            <p:ph idx="1" type="body"/>
          </p:nvPr>
        </p:nvSpPr>
        <p:spPr>
          <a:xfrm>
            <a:off x="324000" y="2457925"/>
            <a:ext cx="5139600" cy="33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The exponents are in descending order.</a:t>
            </a:r>
            <a:endParaRPr sz="2000"/>
          </a:p>
          <a:p>
            <a:pPr indent="0" lvl="0" marL="0" rtl="0" algn="l">
              <a:lnSpc>
                <a:spcPct val="115000"/>
              </a:lnSpc>
              <a:spcBef>
                <a:spcPts val="1000"/>
              </a:spcBef>
              <a:spcAft>
                <a:spcPts val="1000"/>
              </a:spcAft>
              <a:buSzPts val="2200"/>
              <a:buNone/>
            </a:pPr>
            <a:r>
              <a:t/>
            </a:r>
            <a:endParaRPr sz="2000"/>
          </a:p>
        </p:txBody>
      </p:sp>
      <p:sp>
        <p:nvSpPr>
          <p:cNvPr id="1122" name="Google Shape;1122;p86"/>
          <p:cNvSpPr txBox="1"/>
          <p:nvPr>
            <p:ph idx="1" type="body"/>
          </p:nvPr>
        </p:nvSpPr>
        <p:spPr>
          <a:xfrm>
            <a:off x="324000" y="3219925"/>
            <a:ext cx="8337000" cy="33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Where the exponents are the same, we order using the A number from </a:t>
            </a:r>
            <a:r>
              <a:rPr lang="en-GB" sz="1800"/>
              <a:t>A × 10</a:t>
            </a:r>
            <a:r>
              <a:rPr baseline="30000" lang="en-GB" sz="1800"/>
              <a:t>n </a:t>
            </a:r>
            <a:r>
              <a:rPr lang="en-GB" sz="2000"/>
              <a:t>.</a:t>
            </a:r>
            <a:endParaRPr sz="2000"/>
          </a:p>
          <a:p>
            <a:pPr indent="0" lvl="0" marL="0" rtl="0" algn="l">
              <a:lnSpc>
                <a:spcPct val="115000"/>
              </a:lnSpc>
              <a:spcBef>
                <a:spcPts val="0"/>
              </a:spcBef>
              <a:spcAft>
                <a:spcPts val="0"/>
              </a:spcAft>
              <a:buSzPts val="2200"/>
              <a:buNone/>
            </a:pPr>
            <a:r>
              <a:rPr lang="en-GB" sz="2000"/>
              <a:t>Remember</a:t>
            </a:r>
            <a:r>
              <a:rPr lang="en-GB" sz="2000"/>
              <a:t> we are going in descending order here, biggest to smallest.</a:t>
            </a:r>
            <a:endParaRPr sz="2000"/>
          </a:p>
          <a:p>
            <a:pPr indent="0" lvl="0" marL="0" rtl="0" algn="l">
              <a:lnSpc>
                <a:spcPct val="115000"/>
              </a:lnSpc>
              <a:spcBef>
                <a:spcPts val="1000"/>
              </a:spcBef>
              <a:spcAft>
                <a:spcPts val="1000"/>
              </a:spcAft>
              <a:buSzPts val="2200"/>
              <a:buNone/>
            </a:pPr>
            <a:r>
              <a:t/>
            </a:r>
            <a:endParaRPr sz="2000"/>
          </a:p>
        </p:txBody>
      </p:sp>
      <p:sp>
        <p:nvSpPr>
          <p:cNvPr id="1123" name="Google Shape;1123;p86"/>
          <p:cNvSpPr txBox="1"/>
          <p:nvPr/>
        </p:nvSpPr>
        <p:spPr>
          <a:xfrm>
            <a:off x="3887054"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8 × 10</a:t>
            </a:r>
            <a:r>
              <a:rPr b="0" baseline="30000" i="0" lang="en-GB" sz="1800" u="none" cap="none" strike="noStrike">
                <a:solidFill>
                  <a:schemeClr val="dk1"/>
                </a:solidFill>
                <a:latin typeface="Lexend"/>
                <a:ea typeface="Lexend"/>
                <a:cs typeface="Lexend"/>
                <a:sym typeface="Lexend"/>
              </a:rPr>
              <a:t> </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5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124" name="Google Shape;1124;p86"/>
          <p:cNvSpPr/>
          <p:nvPr/>
        </p:nvSpPr>
        <p:spPr>
          <a:xfrm>
            <a:off x="1177650" y="1644600"/>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125" name="Google Shape;1125;p86"/>
          <p:cNvSpPr/>
          <p:nvPr/>
        </p:nvSpPr>
        <p:spPr>
          <a:xfrm>
            <a:off x="3120275" y="1644600"/>
            <a:ext cx="175800" cy="1848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126" name="Google Shape;1126;p86"/>
          <p:cNvSpPr txBox="1"/>
          <p:nvPr/>
        </p:nvSpPr>
        <p:spPr>
          <a:xfrm>
            <a:off x="272826" y="1577300"/>
            <a:ext cx="1553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lang="en-GB" sz="1800">
                <a:solidFill>
                  <a:schemeClr val="dk1"/>
                </a:solidFill>
                <a:latin typeface="Lexend"/>
                <a:ea typeface="Lexend"/>
                <a:cs typeface="Lexend"/>
                <a:sym typeface="Lexend"/>
              </a:rPr>
              <a:t>2</a:t>
            </a:r>
            <a:r>
              <a:rPr b="0" i="0" lang="en-GB" sz="1800" u="none" cap="none" strike="noStrike">
                <a:solidFill>
                  <a:schemeClr val="dk1"/>
                </a:solidFill>
                <a:latin typeface="Lexend"/>
                <a:ea typeface="Lexend"/>
                <a:cs typeface="Lexend"/>
                <a:sym typeface="Lexend"/>
              </a:rPr>
              <a:t>.5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127" name="Google Shape;1127;p86"/>
          <p:cNvSpPr txBox="1"/>
          <p:nvPr/>
        </p:nvSpPr>
        <p:spPr>
          <a:xfrm>
            <a:off x="5623236"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128" name="Google Shape;1128;p86"/>
          <p:cNvSpPr txBox="1"/>
          <p:nvPr/>
        </p:nvSpPr>
        <p:spPr>
          <a:xfrm>
            <a:off x="7266800" y="1577300"/>
            <a:ext cx="143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10</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
        <p:nvSpPr>
          <p:cNvPr id="1129" name="Google Shape;1129;p86"/>
          <p:cNvSpPr/>
          <p:nvPr/>
        </p:nvSpPr>
        <p:spPr>
          <a:xfrm>
            <a:off x="400425" y="1661300"/>
            <a:ext cx="392700" cy="2937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130" name="Google Shape;1130;p86"/>
          <p:cNvSpPr/>
          <p:nvPr/>
        </p:nvSpPr>
        <p:spPr>
          <a:xfrm>
            <a:off x="2294600" y="1661288"/>
            <a:ext cx="392700" cy="293700"/>
          </a:xfrm>
          <a:prstGeom prst="rect">
            <a:avLst/>
          </a:prstGeom>
          <a:solidFill>
            <a:srgbClr val="FFFF00">
              <a:alpha val="325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131" name="Google Shape;1131;p86"/>
          <p:cNvSpPr txBox="1"/>
          <p:nvPr/>
        </p:nvSpPr>
        <p:spPr>
          <a:xfrm>
            <a:off x="2196203" y="1573525"/>
            <a:ext cx="1553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lang="en-GB" sz="1800">
                <a:solidFill>
                  <a:schemeClr val="dk1"/>
                </a:solidFill>
                <a:latin typeface="Lexend"/>
                <a:ea typeface="Lexend"/>
                <a:cs typeface="Lexend"/>
                <a:sym typeface="Lexend"/>
              </a:rPr>
              <a:t>1</a:t>
            </a:r>
            <a:r>
              <a:rPr b="0" i="0" lang="en-GB" sz="1800" u="none" cap="none" strike="noStrike">
                <a:solidFill>
                  <a:schemeClr val="dk1"/>
                </a:solidFill>
                <a:latin typeface="Lexend"/>
                <a:ea typeface="Lexend"/>
                <a:cs typeface="Lexend"/>
                <a:sym typeface="Lexend"/>
              </a:rPr>
              <a:t>.5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 </a:t>
            </a:r>
            <a:r>
              <a:rPr b="0" i="0" lang="en-GB" sz="1800" u="none" cap="none" strike="noStrike">
                <a:solidFill>
                  <a:schemeClr val="dk1"/>
                </a:solidFill>
                <a:latin typeface="Lexend"/>
                <a:ea typeface="Lexend"/>
                <a:cs typeface="Lexend"/>
                <a:sym typeface="Lexend"/>
              </a:rPr>
              <a:t> m</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87"/>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1137" name="Google Shape;1137;p87"/>
          <p:cNvSpPr txBox="1"/>
          <p:nvPr/>
        </p:nvSpPr>
        <p:spPr>
          <a:xfrm>
            <a:off x="324000" y="759300"/>
            <a:ext cx="8237700" cy="800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2000"/>
              <a:buFont typeface="Arial"/>
              <a:buNone/>
            </a:pPr>
            <a:r>
              <a:rPr b="0" i="0" lang="en-GB" sz="2000" u="none" cap="none" strike="noStrike">
                <a:solidFill>
                  <a:srgbClr val="000000"/>
                </a:solidFill>
                <a:latin typeface="Lexend"/>
                <a:ea typeface="Lexend"/>
                <a:cs typeface="Lexend"/>
                <a:sym typeface="Lexend"/>
              </a:rPr>
              <a:t>Ordering using the exponents can also be seen using a place value chart. The bigger the exponent, the larger the number.</a:t>
            </a:r>
            <a:endParaRPr b="0" i="0" sz="2000" u="none" cap="none" strike="noStrike">
              <a:solidFill>
                <a:srgbClr val="000000"/>
              </a:solidFill>
              <a:latin typeface="Lexend"/>
              <a:ea typeface="Lexend"/>
              <a:cs typeface="Lexend"/>
              <a:sym typeface="Lexend"/>
            </a:endParaRPr>
          </a:p>
          <a:p>
            <a:pPr indent="0" lvl="0" marL="0" marR="0" rtl="0" algn="l">
              <a:lnSpc>
                <a:spcPct val="115000"/>
              </a:lnSpc>
              <a:spcBef>
                <a:spcPts val="1000"/>
              </a:spcBef>
              <a:spcAft>
                <a:spcPts val="0"/>
              </a:spcAft>
              <a:buNone/>
            </a:pPr>
            <a:r>
              <a:t/>
            </a:r>
            <a:endParaRPr b="0" i="0" sz="1800" u="none" cap="none" strike="noStrike">
              <a:solidFill>
                <a:schemeClr val="dk1"/>
              </a:solidFill>
              <a:latin typeface="Lexend"/>
              <a:ea typeface="Lexend"/>
              <a:cs typeface="Lexend"/>
              <a:sym typeface="Lexend"/>
            </a:endParaRPr>
          </a:p>
          <a:p>
            <a:pPr indent="0" lvl="0" marL="0" marR="0" rtl="0" algn="l">
              <a:lnSpc>
                <a:spcPct val="115000"/>
              </a:lnSpc>
              <a:spcBef>
                <a:spcPts val="1000"/>
              </a:spcBef>
              <a:spcAft>
                <a:spcPts val="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   </a:t>
            </a:r>
            <a:r>
              <a:rPr b="0" i="0" lang="en-GB" sz="2200" u="none" cap="none" strike="noStrike">
                <a:solidFill>
                  <a:srgbClr val="000000"/>
                </a:solidFill>
                <a:latin typeface="Lexend"/>
                <a:ea typeface="Lexend"/>
                <a:cs typeface="Lexend"/>
                <a:sym typeface="Lexend"/>
              </a:rPr>
              <a:t> </a:t>
            </a:r>
            <a:endParaRPr b="0" i="0" sz="2200" u="none" cap="none" strike="noStrike">
              <a:solidFill>
                <a:srgbClr val="000000"/>
              </a:solidFill>
              <a:latin typeface="Lexend"/>
              <a:ea typeface="Lexend"/>
              <a:cs typeface="Lexend"/>
              <a:sym typeface="Lexend"/>
            </a:endParaRPr>
          </a:p>
          <a:p>
            <a:pPr indent="0" lvl="0" marL="0" marR="0" rtl="0" algn="l">
              <a:lnSpc>
                <a:spcPct val="115000"/>
              </a:lnSpc>
              <a:spcBef>
                <a:spcPts val="1000"/>
              </a:spcBef>
              <a:spcAft>
                <a:spcPts val="1000"/>
              </a:spcAft>
              <a:buClr>
                <a:srgbClr val="000000"/>
              </a:buClr>
              <a:buSzPts val="2200"/>
              <a:buFont typeface="Arial"/>
              <a:buNone/>
            </a:pPr>
            <a:r>
              <a:t/>
            </a:r>
            <a:endParaRPr b="0" i="0" sz="2200" u="none" cap="none" strike="noStrike">
              <a:solidFill>
                <a:srgbClr val="000000"/>
              </a:solidFill>
              <a:latin typeface="Lexend"/>
              <a:ea typeface="Lexend"/>
              <a:cs typeface="Lexend"/>
              <a:sym typeface="Lexend"/>
            </a:endParaRPr>
          </a:p>
        </p:txBody>
      </p:sp>
      <p:sp>
        <p:nvSpPr>
          <p:cNvPr id="1138" name="Google Shape;1138;p87"/>
          <p:cNvSpPr txBox="1"/>
          <p:nvPr/>
        </p:nvSpPr>
        <p:spPr>
          <a:xfrm>
            <a:off x="7469888"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tb</a:t>
            </a:r>
            <a:endParaRPr b="0" i="0" sz="1800" u="none" cap="none" strike="noStrike">
              <a:solidFill>
                <a:srgbClr val="000000"/>
              </a:solidFill>
              <a:latin typeface="Lexend"/>
              <a:ea typeface="Lexend"/>
              <a:cs typeface="Lexend"/>
              <a:sym typeface="Lexend"/>
            </a:endParaRPr>
          </a:p>
        </p:txBody>
      </p:sp>
      <p:sp>
        <p:nvSpPr>
          <p:cNvPr id="1139" name="Google Shape;1139;p87"/>
          <p:cNvSpPr txBox="1"/>
          <p:nvPr/>
        </p:nvSpPr>
        <p:spPr>
          <a:xfrm>
            <a:off x="8120912"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hb</a:t>
            </a:r>
            <a:endParaRPr b="0" i="0" sz="1800" u="none" cap="none" strike="noStrike">
              <a:solidFill>
                <a:srgbClr val="000000"/>
              </a:solidFill>
              <a:latin typeface="Lexend"/>
              <a:ea typeface="Lexend"/>
              <a:cs typeface="Lexend"/>
              <a:sym typeface="Lexend"/>
            </a:endParaRPr>
          </a:p>
        </p:txBody>
      </p:sp>
      <p:sp>
        <p:nvSpPr>
          <p:cNvPr id="1140" name="Google Shape;1140;p87"/>
          <p:cNvSpPr txBox="1"/>
          <p:nvPr/>
        </p:nvSpPr>
        <p:spPr>
          <a:xfrm>
            <a:off x="6884016"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b</a:t>
            </a:r>
            <a:endParaRPr b="0" i="0" sz="1800" u="none" cap="none" strike="noStrike">
              <a:solidFill>
                <a:srgbClr val="000000"/>
              </a:solidFill>
              <a:latin typeface="Lexend"/>
              <a:ea typeface="Lexend"/>
              <a:cs typeface="Lexend"/>
              <a:sym typeface="Lexend"/>
            </a:endParaRPr>
          </a:p>
        </p:txBody>
      </p:sp>
      <p:sp>
        <p:nvSpPr>
          <p:cNvPr id="1141" name="Google Shape;1141;p87"/>
          <p:cNvSpPr txBox="1"/>
          <p:nvPr/>
        </p:nvSpPr>
        <p:spPr>
          <a:xfrm>
            <a:off x="6184369"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hm</a:t>
            </a:r>
            <a:endParaRPr b="0" i="0" sz="1800" u="none" cap="none" strike="noStrike">
              <a:solidFill>
                <a:srgbClr val="000000"/>
              </a:solidFill>
              <a:latin typeface="Lexend"/>
              <a:ea typeface="Lexend"/>
              <a:cs typeface="Lexend"/>
              <a:sym typeface="Lexend"/>
            </a:endParaRPr>
          </a:p>
        </p:txBody>
      </p:sp>
      <p:sp>
        <p:nvSpPr>
          <p:cNvPr id="1142" name="Google Shape;1142;p87"/>
          <p:cNvSpPr txBox="1"/>
          <p:nvPr/>
        </p:nvSpPr>
        <p:spPr>
          <a:xfrm>
            <a:off x="7516209"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10</a:t>
            </a:r>
            <a:endParaRPr b="0" i="0" sz="1800" u="none" cap="none" strike="noStrike">
              <a:solidFill>
                <a:srgbClr val="000000"/>
              </a:solidFill>
              <a:latin typeface="Lexend"/>
              <a:ea typeface="Lexend"/>
              <a:cs typeface="Lexend"/>
              <a:sym typeface="Lexend"/>
            </a:endParaRPr>
          </a:p>
        </p:txBody>
      </p:sp>
      <p:sp>
        <p:nvSpPr>
          <p:cNvPr id="1143" name="Google Shape;1143;p87"/>
          <p:cNvSpPr txBox="1"/>
          <p:nvPr/>
        </p:nvSpPr>
        <p:spPr>
          <a:xfrm>
            <a:off x="8162489"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11</a:t>
            </a:r>
            <a:endParaRPr b="0" i="0" sz="1800" u="none" cap="none" strike="noStrike">
              <a:solidFill>
                <a:srgbClr val="000000"/>
              </a:solidFill>
              <a:latin typeface="Lexend"/>
              <a:ea typeface="Lexend"/>
              <a:cs typeface="Lexend"/>
              <a:sym typeface="Lexend"/>
            </a:endParaRPr>
          </a:p>
        </p:txBody>
      </p:sp>
      <p:sp>
        <p:nvSpPr>
          <p:cNvPr id="1144" name="Google Shape;1144;p87"/>
          <p:cNvSpPr txBox="1"/>
          <p:nvPr/>
        </p:nvSpPr>
        <p:spPr>
          <a:xfrm>
            <a:off x="6223649"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8</a:t>
            </a:r>
            <a:endParaRPr b="0" i="0" sz="1800" u="none" cap="none" strike="noStrike">
              <a:solidFill>
                <a:srgbClr val="000000"/>
              </a:solidFill>
              <a:latin typeface="Lexend"/>
              <a:ea typeface="Lexend"/>
              <a:cs typeface="Lexend"/>
              <a:sym typeface="Lexend"/>
            </a:endParaRPr>
          </a:p>
        </p:txBody>
      </p:sp>
      <p:sp>
        <p:nvSpPr>
          <p:cNvPr id="1145" name="Google Shape;1145;p87"/>
          <p:cNvSpPr txBox="1"/>
          <p:nvPr/>
        </p:nvSpPr>
        <p:spPr>
          <a:xfrm>
            <a:off x="6869929"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9</a:t>
            </a:r>
            <a:endParaRPr b="0" i="0" sz="1800" u="none" cap="none" strike="noStrike">
              <a:solidFill>
                <a:srgbClr val="000000"/>
              </a:solidFill>
              <a:latin typeface="Lexend"/>
              <a:ea typeface="Lexend"/>
              <a:cs typeface="Lexend"/>
              <a:sym typeface="Lexend"/>
            </a:endParaRPr>
          </a:p>
        </p:txBody>
      </p:sp>
      <p:sp>
        <p:nvSpPr>
          <p:cNvPr id="1146" name="Google Shape;1146;p87"/>
          <p:cNvSpPr txBox="1"/>
          <p:nvPr/>
        </p:nvSpPr>
        <p:spPr>
          <a:xfrm>
            <a:off x="5523347"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tm</a:t>
            </a:r>
            <a:endParaRPr b="0" i="0" sz="1800" u="none" cap="none" strike="noStrike">
              <a:solidFill>
                <a:srgbClr val="000000"/>
              </a:solidFill>
              <a:latin typeface="Lexend"/>
              <a:ea typeface="Lexend"/>
              <a:cs typeface="Lexend"/>
              <a:sym typeface="Lexend"/>
            </a:endParaRPr>
          </a:p>
        </p:txBody>
      </p:sp>
      <p:sp>
        <p:nvSpPr>
          <p:cNvPr id="1147" name="Google Shape;1147;p87"/>
          <p:cNvSpPr txBox="1"/>
          <p:nvPr/>
        </p:nvSpPr>
        <p:spPr>
          <a:xfrm>
            <a:off x="5572125"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7</a:t>
            </a:r>
            <a:endParaRPr b="0" i="0" sz="1800" u="none" cap="none" strike="noStrike">
              <a:solidFill>
                <a:srgbClr val="000000"/>
              </a:solidFill>
              <a:latin typeface="Lexend"/>
              <a:ea typeface="Lexend"/>
              <a:cs typeface="Lexend"/>
              <a:sym typeface="Lexend"/>
            </a:endParaRPr>
          </a:p>
        </p:txBody>
      </p:sp>
      <p:sp>
        <p:nvSpPr>
          <p:cNvPr id="1148" name="Google Shape;1148;p87"/>
          <p:cNvSpPr txBox="1"/>
          <p:nvPr/>
        </p:nvSpPr>
        <p:spPr>
          <a:xfrm>
            <a:off x="4269488"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hth</a:t>
            </a:r>
            <a:endParaRPr b="0" i="0" sz="1800" u="none" cap="none" strike="noStrike">
              <a:solidFill>
                <a:srgbClr val="000000"/>
              </a:solidFill>
              <a:latin typeface="Lexend"/>
              <a:ea typeface="Lexend"/>
              <a:cs typeface="Lexend"/>
              <a:sym typeface="Lexend"/>
            </a:endParaRPr>
          </a:p>
        </p:txBody>
      </p:sp>
      <p:sp>
        <p:nvSpPr>
          <p:cNvPr id="1149" name="Google Shape;1149;p87"/>
          <p:cNvSpPr txBox="1"/>
          <p:nvPr/>
        </p:nvSpPr>
        <p:spPr>
          <a:xfrm>
            <a:off x="4920512"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m</a:t>
            </a:r>
            <a:endParaRPr b="0" i="0" sz="1800" u="none" cap="none" strike="noStrike">
              <a:solidFill>
                <a:srgbClr val="000000"/>
              </a:solidFill>
              <a:latin typeface="Lexend"/>
              <a:ea typeface="Lexend"/>
              <a:cs typeface="Lexend"/>
              <a:sym typeface="Lexend"/>
            </a:endParaRPr>
          </a:p>
        </p:txBody>
      </p:sp>
      <p:sp>
        <p:nvSpPr>
          <p:cNvPr id="1150" name="Google Shape;1150;p87"/>
          <p:cNvSpPr txBox="1"/>
          <p:nvPr/>
        </p:nvSpPr>
        <p:spPr>
          <a:xfrm>
            <a:off x="3628796"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tth</a:t>
            </a:r>
            <a:endParaRPr b="0" i="0" sz="1800" u="none" cap="none" strike="noStrike">
              <a:solidFill>
                <a:srgbClr val="000000"/>
              </a:solidFill>
              <a:latin typeface="Lexend"/>
              <a:ea typeface="Lexend"/>
              <a:cs typeface="Lexend"/>
              <a:sym typeface="Lexend"/>
            </a:endParaRPr>
          </a:p>
        </p:txBody>
      </p:sp>
      <p:sp>
        <p:nvSpPr>
          <p:cNvPr id="1151" name="Google Shape;1151;p87"/>
          <p:cNvSpPr txBox="1"/>
          <p:nvPr/>
        </p:nvSpPr>
        <p:spPr>
          <a:xfrm>
            <a:off x="2983969"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th</a:t>
            </a:r>
            <a:endParaRPr b="0" i="0" sz="1800" u="none" cap="none" strike="noStrike">
              <a:solidFill>
                <a:srgbClr val="000000"/>
              </a:solidFill>
              <a:latin typeface="Lexend"/>
              <a:ea typeface="Lexend"/>
              <a:cs typeface="Lexend"/>
              <a:sym typeface="Lexend"/>
            </a:endParaRPr>
          </a:p>
        </p:txBody>
      </p:sp>
      <p:sp>
        <p:nvSpPr>
          <p:cNvPr id="1152" name="Google Shape;1152;p87"/>
          <p:cNvSpPr txBox="1"/>
          <p:nvPr/>
        </p:nvSpPr>
        <p:spPr>
          <a:xfrm>
            <a:off x="2322947"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h</a:t>
            </a:r>
            <a:endParaRPr b="0" i="0" sz="1800" u="none" cap="none" strike="noStrike">
              <a:solidFill>
                <a:srgbClr val="000000"/>
              </a:solidFill>
              <a:latin typeface="Lexend"/>
              <a:ea typeface="Lexend"/>
              <a:cs typeface="Lexend"/>
              <a:sym typeface="Lexend"/>
            </a:endParaRPr>
          </a:p>
        </p:txBody>
      </p:sp>
      <p:sp>
        <p:nvSpPr>
          <p:cNvPr id="1153" name="Google Shape;1153;p87"/>
          <p:cNvSpPr txBox="1"/>
          <p:nvPr/>
        </p:nvSpPr>
        <p:spPr>
          <a:xfrm>
            <a:off x="1637147"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t</a:t>
            </a:r>
            <a:endParaRPr b="0" i="0" sz="1800" u="none" cap="none" strike="noStrike">
              <a:solidFill>
                <a:srgbClr val="000000"/>
              </a:solidFill>
              <a:latin typeface="Lexend"/>
              <a:ea typeface="Lexend"/>
              <a:cs typeface="Lexend"/>
              <a:sym typeface="Lexend"/>
            </a:endParaRPr>
          </a:p>
        </p:txBody>
      </p:sp>
      <p:sp>
        <p:nvSpPr>
          <p:cNvPr id="1154" name="Google Shape;1154;p87"/>
          <p:cNvSpPr txBox="1"/>
          <p:nvPr/>
        </p:nvSpPr>
        <p:spPr>
          <a:xfrm>
            <a:off x="1027547" y="2216175"/>
            <a:ext cx="8649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O</a:t>
            </a:r>
            <a:endParaRPr b="0" i="0" sz="1800" u="none" cap="none" strike="noStrike">
              <a:solidFill>
                <a:srgbClr val="000000"/>
              </a:solidFill>
              <a:latin typeface="Lexend"/>
              <a:ea typeface="Lexend"/>
              <a:cs typeface="Lexend"/>
              <a:sym typeface="Lexend"/>
            </a:endParaRPr>
          </a:p>
        </p:txBody>
      </p:sp>
      <p:sp>
        <p:nvSpPr>
          <p:cNvPr id="1155" name="Google Shape;1155;p87"/>
          <p:cNvSpPr txBox="1"/>
          <p:nvPr/>
        </p:nvSpPr>
        <p:spPr>
          <a:xfrm>
            <a:off x="4288399"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5</a:t>
            </a:r>
            <a:endParaRPr b="0" i="0" sz="1800" u="none" cap="none" strike="noStrike">
              <a:solidFill>
                <a:srgbClr val="000000"/>
              </a:solidFill>
              <a:latin typeface="Lexend"/>
              <a:ea typeface="Lexend"/>
              <a:cs typeface="Lexend"/>
              <a:sym typeface="Lexend"/>
            </a:endParaRPr>
          </a:p>
        </p:txBody>
      </p:sp>
      <p:sp>
        <p:nvSpPr>
          <p:cNvPr id="1156" name="Google Shape;1156;p87"/>
          <p:cNvSpPr txBox="1"/>
          <p:nvPr/>
        </p:nvSpPr>
        <p:spPr>
          <a:xfrm>
            <a:off x="4934679"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6</a:t>
            </a:r>
            <a:endParaRPr b="0" i="0" sz="1800" u="none" cap="none" strike="noStrike">
              <a:solidFill>
                <a:srgbClr val="000000"/>
              </a:solidFill>
              <a:latin typeface="Lexend"/>
              <a:ea typeface="Lexend"/>
              <a:cs typeface="Lexend"/>
              <a:sym typeface="Lexend"/>
            </a:endParaRPr>
          </a:p>
        </p:txBody>
      </p:sp>
      <p:sp>
        <p:nvSpPr>
          <p:cNvPr id="1157" name="Google Shape;1157;p87"/>
          <p:cNvSpPr txBox="1"/>
          <p:nvPr/>
        </p:nvSpPr>
        <p:spPr>
          <a:xfrm>
            <a:off x="2995839"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3</a:t>
            </a:r>
            <a:endParaRPr b="0" i="0" sz="1800" u="none" cap="none" strike="noStrike">
              <a:solidFill>
                <a:srgbClr val="000000"/>
              </a:solidFill>
              <a:latin typeface="Lexend"/>
              <a:ea typeface="Lexend"/>
              <a:cs typeface="Lexend"/>
              <a:sym typeface="Lexend"/>
            </a:endParaRPr>
          </a:p>
        </p:txBody>
      </p:sp>
      <p:sp>
        <p:nvSpPr>
          <p:cNvPr id="1158" name="Google Shape;1158;p87"/>
          <p:cNvSpPr txBox="1"/>
          <p:nvPr/>
        </p:nvSpPr>
        <p:spPr>
          <a:xfrm>
            <a:off x="3642119"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4</a:t>
            </a:r>
            <a:endParaRPr b="0" i="0" sz="1800" u="none" cap="none" strike="noStrike">
              <a:solidFill>
                <a:srgbClr val="000000"/>
              </a:solidFill>
              <a:latin typeface="Lexend"/>
              <a:ea typeface="Lexend"/>
              <a:cs typeface="Lexend"/>
              <a:sym typeface="Lexend"/>
            </a:endParaRPr>
          </a:p>
        </p:txBody>
      </p:sp>
      <p:sp>
        <p:nvSpPr>
          <p:cNvPr id="1159" name="Google Shape;1159;p87"/>
          <p:cNvSpPr txBox="1"/>
          <p:nvPr/>
        </p:nvSpPr>
        <p:spPr>
          <a:xfrm>
            <a:off x="2344314"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2</a:t>
            </a:r>
            <a:endParaRPr b="0" i="0" sz="1800" u="none" cap="none" strike="noStrike">
              <a:solidFill>
                <a:srgbClr val="000000"/>
              </a:solidFill>
              <a:latin typeface="Lexend"/>
              <a:ea typeface="Lexend"/>
              <a:cs typeface="Lexend"/>
              <a:sym typeface="Lexend"/>
            </a:endParaRPr>
          </a:p>
        </p:txBody>
      </p:sp>
      <p:sp>
        <p:nvSpPr>
          <p:cNvPr id="1160" name="Google Shape;1160;p87"/>
          <p:cNvSpPr txBox="1"/>
          <p:nvPr/>
        </p:nvSpPr>
        <p:spPr>
          <a:xfrm>
            <a:off x="1700439"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aseline="30000" lang="en-GB" sz="1800">
                <a:latin typeface="Lexend"/>
                <a:ea typeface="Lexend"/>
                <a:cs typeface="Lexend"/>
                <a:sym typeface="Lexend"/>
              </a:rPr>
              <a:t>−</a:t>
            </a:r>
            <a:r>
              <a:rPr b="0" baseline="30000" i="0" lang="en-GB" sz="1800" u="none" cap="none" strike="noStrike">
                <a:solidFill>
                  <a:srgbClr val="000000"/>
                </a:solidFill>
                <a:latin typeface="Lexend"/>
                <a:ea typeface="Lexend"/>
                <a:cs typeface="Lexend"/>
                <a:sym typeface="Lexend"/>
              </a:rPr>
              <a:t>1</a:t>
            </a:r>
            <a:endParaRPr b="0" i="0" sz="1800" u="none" cap="none" strike="noStrike">
              <a:solidFill>
                <a:srgbClr val="000000"/>
              </a:solidFill>
              <a:latin typeface="Lexend"/>
              <a:ea typeface="Lexend"/>
              <a:cs typeface="Lexend"/>
              <a:sym typeface="Lexend"/>
            </a:endParaRPr>
          </a:p>
        </p:txBody>
      </p:sp>
      <p:sp>
        <p:nvSpPr>
          <p:cNvPr id="1161" name="Google Shape;1161;p87"/>
          <p:cNvSpPr txBox="1"/>
          <p:nvPr/>
        </p:nvSpPr>
        <p:spPr>
          <a:xfrm>
            <a:off x="1048914" y="2678588"/>
            <a:ext cx="838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10</a:t>
            </a:r>
            <a:r>
              <a:rPr b="0" baseline="30000" i="0" lang="en-GB" sz="1800" u="none" cap="none" strike="noStrike">
                <a:solidFill>
                  <a:srgbClr val="000000"/>
                </a:solidFill>
                <a:latin typeface="Lexend"/>
                <a:ea typeface="Lexend"/>
                <a:cs typeface="Lexend"/>
                <a:sym typeface="Lexend"/>
              </a:rPr>
              <a:t>0</a:t>
            </a:r>
            <a:endParaRPr b="0" i="0" sz="1800" u="none" cap="none" strike="noStrike">
              <a:solidFill>
                <a:srgbClr val="000000"/>
              </a:solidFill>
              <a:latin typeface="Lexend"/>
              <a:ea typeface="Lexend"/>
              <a:cs typeface="Lexend"/>
              <a:sym typeface="Lexend"/>
            </a:endParaRPr>
          </a:p>
        </p:txBody>
      </p:sp>
      <p:sp>
        <p:nvSpPr>
          <p:cNvPr id="1162" name="Google Shape;1162;p87"/>
          <p:cNvSpPr/>
          <p:nvPr/>
        </p:nvSpPr>
        <p:spPr>
          <a:xfrm>
            <a:off x="1739296" y="3302481"/>
            <a:ext cx="123000" cy="1455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87"/>
          <p:cNvSpPr txBox="1"/>
          <p:nvPr/>
        </p:nvSpPr>
        <p:spPr>
          <a:xfrm>
            <a:off x="1307343" y="3162778"/>
            <a:ext cx="5103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2400" u="none" cap="none" strike="noStrike">
                <a:solidFill>
                  <a:srgbClr val="000000"/>
                </a:solidFill>
                <a:latin typeface="Lexend"/>
                <a:ea typeface="Lexend"/>
                <a:cs typeface="Lexend"/>
                <a:sym typeface="Lexend"/>
              </a:rPr>
              <a:t>0     0     0     0      0     2      </a:t>
            </a:r>
            <a:endParaRPr b="0" i="0" sz="2400" u="none" cap="none" strike="noStrike">
              <a:solidFill>
                <a:srgbClr val="000000"/>
              </a:solidFill>
              <a:latin typeface="Arial"/>
              <a:ea typeface="Arial"/>
              <a:cs typeface="Arial"/>
              <a:sym typeface="Arial"/>
            </a:endParaRPr>
          </a:p>
        </p:txBody>
      </p:sp>
      <p:sp>
        <p:nvSpPr>
          <p:cNvPr id="1164" name="Google Shape;1164;p87"/>
          <p:cNvSpPr txBox="1"/>
          <p:nvPr/>
        </p:nvSpPr>
        <p:spPr>
          <a:xfrm>
            <a:off x="324000" y="1496887"/>
            <a:ext cx="28257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For example,   2  × 10</a:t>
            </a:r>
            <a:r>
              <a:rPr baseline="30000" lang="en-GB" sz="2000">
                <a:solidFill>
                  <a:schemeClr val="dk1"/>
                </a:solidFill>
                <a:latin typeface="Lexend"/>
                <a:ea typeface="Lexend"/>
                <a:cs typeface="Lexend"/>
                <a:sym typeface="Lexend"/>
              </a:rPr>
              <a:t>−</a:t>
            </a:r>
            <a:r>
              <a:rPr baseline="30000" lang="en-GB" sz="2000">
                <a:solidFill>
                  <a:schemeClr val="dk1"/>
                </a:solidFill>
                <a:latin typeface="Lexend"/>
                <a:ea typeface="Lexend"/>
                <a:cs typeface="Lexend"/>
                <a:sym typeface="Lexend"/>
              </a:rPr>
              <a:t>5   </a:t>
            </a:r>
            <a:endParaRPr/>
          </a:p>
        </p:txBody>
      </p:sp>
      <p:sp>
        <p:nvSpPr>
          <p:cNvPr id="1165" name="Google Shape;1165;p87"/>
          <p:cNvSpPr txBox="1"/>
          <p:nvPr/>
        </p:nvSpPr>
        <p:spPr>
          <a:xfrm>
            <a:off x="3072000" y="1399750"/>
            <a:ext cx="3000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GB" sz="1800">
                <a:solidFill>
                  <a:schemeClr val="dk1"/>
                </a:solidFill>
                <a:latin typeface="Lexend"/>
                <a:ea typeface="Lexend"/>
                <a:cs typeface="Lexend"/>
                <a:sym typeface="Lexend"/>
              </a:rPr>
              <a:t>&gt;    </a:t>
            </a:r>
            <a:r>
              <a:rPr lang="en-GB" sz="2000">
                <a:solidFill>
                  <a:schemeClr val="dk1"/>
                </a:solidFill>
                <a:latin typeface="Lexend"/>
                <a:ea typeface="Lexend"/>
                <a:cs typeface="Lexend"/>
                <a:sym typeface="Lexend"/>
              </a:rPr>
              <a:t>2  ×  </a:t>
            </a:r>
            <a:r>
              <a:rPr lang="en-GB" sz="1800">
                <a:solidFill>
                  <a:schemeClr val="dk1"/>
                </a:solidFill>
                <a:latin typeface="Lexend"/>
                <a:ea typeface="Lexend"/>
                <a:cs typeface="Lexend"/>
                <a:sym typeface="Lexend"/>
              </a:rPr>
              <a:t>10</a:t>
            </a:r>
            <a:r>
              <a:rPr baseline="30000" lang="en-GB" sz="1800">
                <a:solidFill>
                  <a:schemeClr val="dk1"/>
                </a:solidFill>
                <a:latin typeface="Lexend"/>
                <a:ea typeface="Lexend"/>
                <a:cs typeface="Lexend"/>
                <a:sym typeface="Lexend"/>
              </a:rPr>
              <a:t>−</a:t>
            </a:r>
            <a:r>
              <a:rPr baseline="30000" lang="en-GB" sz="1800">
                <a:solidFill>
                  <a:schemeClr val="dk1"/>
                </a:solidFill>
                <a:latin typeface="Lexend"/>
                <a:ea typeface="Lexend"/>
                <a:cs typeface="Lexend"/>
                <a:sym typeface="Lexend"/>
              </a:rPr>
              <a:t>9</a:t>
            </a:r>
            <a:endParaRPr/>
          </a:p>
        </p:txBody>
      </p:sp>
      <p:graphicFrame>
        <p:nvGraphicFramePr>
          <p:cNvPr id="1166" name="Google Shape;1166;p87"/>
          <p:cNvGraphicFramePr/>
          <p:nvPr/>
        </p:nvGraphicFramePr>
        <p:xfrm>
          <a:off x="5650710" y="2243185"/>
          <a:ext cx="3000000" cy="3000000"/>
        </p:xfrm>
        <a:graphic>
          <a:graphicData uri="http://schemas.openxmlformats.org/drawingml/2006/table">
            <a:tbl>
              <a:tblPr>
                <a:noFill/>
                <a:tableStyleId>{0D46D18D-6A89-4E7C-B28E-2C4720830B4B}</a:tableStyleId>
              </a:tblPr>
              <a:tblGrid>
                <a:gridCol w="663750"/>
                <a:gridCol w="642300"/>
                <a:gridCol w="642300"/>
                <a:gridCol w="642300"/>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graphicFrame>
        <p:nvGraphicFramePr>
          <p:cNvPr id="1167" name="Google Shape;1167;p87"/>
          <p:cNvGraphicFramePr/>
          <p:nvPr/>
        </p:nvGraphicFramePr>
        <p:xfrm>
          <a:off x="1796927" y="2243390"/>
          <a:ext cx="3000000" cy="3000000"/>
        </p:xfrm>
        <a:graphic>
          <a:graphicData uri="http://schemas.openxmlformats.org/drawingml/2006/table">
            <a:tbl>
              <a:tblPr>
                <a:noFill/>
                <a:tableStyleId>{0D46D18D-6A89-4E7C-B28E-2C4720830B4B}</a:tableStyleId>
              </a:tblPr>
              <a:tblGrid>
                <a:gridCol w="642300"/>
                <a:gridCol w="642300"/>
                <a:gridCol w="642300"/>
                <a:gridCol w="642300"/>
                <a:gridCol w="642300"/>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graphicFrame>
        <p:nvGraphicFramePr>
          <p:cNvPr id="1168" name="Google Shape;1168;p87"/>
          <p:cNvGraphicFramePr/>
          <p:nvPr/>
        </p:nvGraphicFramePr>
        <p:xfrm>
          <a:off x="1154627" y="2243165"/>
          <a:ext cx="3000000" cy="3000000"/>
        </p:xfrm>
        <a:graphic>
          <a:graphicData uri="http://schemas.openxmlformats.org/drawingml/2006/table">
            <a:tbl>
              <a:tblPr>
                <a:noFill/>
                <a:tableStyleId>{0D46D18D-6A89-4E7C-B28E-2C4720830B4B}</a:tableStyleId>
              </a:tblPr>
              <a:tblGrid>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1169" name="Google Shape;1169;p87"/>
          <p:cNvSpPr/>
          <p:nvPr/>
        </p:nvSpPr>
        <p:spPr>
          <a:xfrm>
            <a:off x="1700439" y="3737028"/>
            <a:ext cx="135300" cy="1455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170" name="Google Shape;1170;p87"/>
          <p:cNvGraphicFramePr/>
          <p:nvPr/>
        </p:nvGraphicFramePr>
        <p:xfrm>
          <a:off x="5001918" y="3623217"/>
          <a:ext cx="3000000" cy="3000000"/>
        </p:xfrm>
        <a:graphic>
          <a:graphicData uri="http://schemas.openxmlformats.org/drawingml/2006/table">
            <a:tbl>
              <a:tblPr>
                <a:noFill/>
                <a:tableStyleId>{0D46D18D-6A89-4E7C-B28E-2C4720830B4B}</a:tableStyleId>
              </a:tblPr>
              <a:tblGrid>
                <a:gridCol w="663750"/>
                <a:gridCol w="642300"/>
                <a:gridCol w="642300"/>
                <a:gridCol w="642300"/>
                <a:gridCol w="642300"/>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graphicFrame>
        <p:nvGraphicFramePr>
          <p:cNvPr id="1171" name="Google Shape;1171;p87"/>
          <p:cNvGraphicFramePr/>
          <p:nvPr/>
        </p:nvGraphicFramePr>
        <p:xfrm>
          <a:off x="1146341" y="3617335"/>
          <a:ext cx="3000000" cy="3000000"/>
        </p:xfrm>
        <a:graphic>
          <a:graphicData uri="http://schemas.openxmlformats.org/drawingml/2006/table">
            <a:tbl>
              <a:tblPr>
                <a:noFill/>
                <a:tableStyleId>{0D46D18D-6A89-4E7C-B28E-2C4720830B4B}</a:tableStyleId>
              </a:tblPr>
              <a:tblGrid>
                <a:gridCol w="642300"/>
                <a:gridCol w="642300"/>
                <a:gridCol w="642300"/>
                <a:gridCol w="642300"/>
                <a:gridCol w="642300"/>
                <a:gridCol w="642300"/>
              </a:tblGrid>
              <a:tr h="292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latin typeface="Lexend"/>
                        <a:ea typeface="Lexend"/>
                        <a:cs typeface="Lexend"/>
                        <a:sym typeface="Lexend"/>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solidFill>
                          <a:srgbClr val="00000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1172" name="Google Shape;1172;p87"/>
          <p:cNvSpPr txBox="1"/>
          <p:nvPr/>
        </p:nvSpPr>
        <p:spPr>
          <a:xfrm>
            <a:off x="1285265" y="3623511"/>
            <a:ext cx="7422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2400" u="none" cap="none" strike="noStrike">
                <a:solidFill>
                  <a:srgbClr val="000000"/>
                </a:solidFill>
                <a:latin typeface="Lexend"/>
                <a:ea typeface="Lexend"/>
                <a:cs typeface="Lexend"/>
                <a:sym typeface="Lexend"/>
              </a:rPr>
              <a:t>0     0     0     0      0     0      0      0     0    2      </a:t>
            </a:r>
            <a:endParaRPr b="0" i="0" sz="2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88"/>
          <p:cNvSpPr txBox="1"/>
          <p:nvPr>
            <p:ph idx="1" type="body"/>
          </p:nvPr>
        </p:nvSpPr>
        <p:spPr>
          <a:xfrm>
            <a:off x="324000" y="683100"/>
            <a:ext cx="92442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a) </a:t>
            </a:r>
            <a:r>
              <a:rPr lang="en-GB" sz="1800"/>
              <a:t>Put the following in ascending order, smallest to largest:</a:t>
            </a:r>
            <a:endParaRPr/>
          </a:p>
          <a:p>
            <a:pPr indent="0" lvl="0" marL="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a:p>
            <a:pPr indent="0" lvl="0" marL="0" rtl="0" algn="l">
              <a:lnSpc>
                <a:spcPct val="100000"/>
              </a:lnSpc>
              <a:spcBef>
                <a:spcPts val="1000"/>
              </a:spcBef>
              <a:spcAft>
                <a:spcPts val="0"/>
              </a:spcAft>
              <a:buSzPts val="2200"/>
              <a:buNone/>
            </a:pPr>
            <a:r>
              <a:t/>
            </a:r>
            <a:endParaRPr sz="1800"/>
          </a:p>
          <a:p>
            <a:pPr indent="0" lvl="0" marL="0" rtl="0" algn="l">
              <a:lnSpc>
                <a:spcPct val="200000"/>
              </a:lnSpc>
              <a:spcBef>
                <a:spcPts val="1000"/>
              </a:spcBef>
              <a:spcAft>
                <a:spcPts val="1000"/>
              </a:spcAft>
              <a:buSzPts val="2200"/>
              <a:buNone/>
            </a:pPr>
            <a:r>
              <a:t/>
            </a:r>
            <a:endParaRPr sz="1800"/>
          </a:p>
        </p:txBody>
      </p:sp>
      <p:sp>
        <p:nvSpPr>
          <p:cNvPr id="1178" name="Google Shape;1178;p88"/>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1179" name="Google Shape;1179;p88"/>
          <p:cNvSpPr txBox="1"/>
          <p:nvPr/>
        </p:nvSpPr>
        <p:spPr>
          <a:xfrm>
            <a:off x="3845559" y="1113300"/>
            <a:ext cx="1419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5.6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2</a:t>
            </a:r>
            <a:endParaRPr i="0" sz="1800" u="none" cap="none" strike="noStrike">
              <a:solidFill>
                <a:srgbClr val="000000"/>
              </a:solidFill>
              <a:latin typeface="Kalam"/>
              <a:ea typeface="Kalam"/>
              <a:cs typeface="Kalam"/>
              <a:sym typeface="Kalam"/>
            </a:endParaRPr>
          </a:p>
        </p:txBody>
      </p:sp>
      <p:sp>
        <p:nvSpPr>
          <p:cNvPr id="1180" name="Google Shape;1180;p88"/>
          <p:cNvSpPr txBox="1"/>
          <p:nvPr/>
        </p:nvSpPr>
        <p:spPr>
          <a:xfrm>
            <a:off x="5346063" y="1113300"/>
            <a:ext cx="1419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1.2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1</a:t>
            </a:r>
            <a:r>
              <a:rPr i="0" lang="en-GB" sz="1800" u="none" cap="none" strike="noStrike">
                <a:solidFill>
                  <a:schemeClr val="dk1"/>
                </a:solidFill>
                <a:latin typeface="Kalam"/>
                <a:ea typeface="Kalam"/>
                <a:cs typeface="Kalam"/>
                <a:sym typeface="Kalam"/>
              </a:rPr>
              <a:t> </a:t>
            </a:r>
            <a:endParaRPr i="0" sz="1800" u="none" cap="none" strike="noStrike">
              <a:solidFill>
                <a:srgbClr val="000000"/>
              </a:solidFill>
              <a:latin typeface="Kalam"/>
              <a:ea typeface="Kalam"/>
              <a:cs typeface="Kalam"/>
              <a:sym typeface="Kalam"/>
            </a:endParaRPr>
          </a:p>
        </p:txBody>
      </p:sp>
      <p:sp>
        <p:nvSpPr>
          <p:cNvPr id="1181" name="Google Shape;1181;p88"/>
          <p:cNvSpPr txBox="1"/>
          <p:nvPr/>
        </p:nvSpPr>
        <p:spPr>
          <a:xfrm>
            <a:off x="6846567" y="1113300"/>
            <a:ext cx="1419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1 × 10</a:t>
            </a:r>
            <a:endParaRPr i="0" sz="1800" u="none" cap="none" strike="noStrike">
              <a:solidFill>
                <a:srgbClr val="000000"/>
              </a:solidFill>
              <a:latin typeface="Kalam"/>
              <a:ea typeface="Kalam"/>
              <a:cs typeface="Kalam"/>
              <a:sym typeface="Kalam"/>
            </a:endParaRPr>
          </a:p>
        </p:txBody>
      </p:sp>
      <p:sp>
        <p:nvSpPr>
          <p:cNvPr id="1182" name="Google Shape;1182;p88"/>
          <p:cNvSpPr txBox="1"/>
          <p:nvPr/>
        </p:nvSpPr>
        <p:spPr>
          <a:xfrm>
            <a:off x="2345055" y="1113300"/>
            <a:ext cx="1419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4.6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183" name="Google Shape;1183;p88"/>
          <p:cNvSpPr txBox="1"/>
          <p:nvPr/>
        </p:nvSpPr>
        <p:spPr>
          <a:xfrm>
            <a:off x="677151" y="1113300"/>
            <a:ext cx="1587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4.4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184" name="Google Shape;1184;p88"/>
          <p:cNvSpPr txBox="1"/>
          <p:nvPr/>
        </p:nvSpPr>
        <p:spPr>
          <a:xfrm>
            <a:off x="322397" y="2722054"/>
            <a:ext cx="9244200" cy="487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b) Put the following in ascending order, smallest to largest:</a:t>
            </a:r>
            <a:endParaRPr/>
          </a:p>
          <a:p>
            <a:pPr indent="0" lvl="0" marL="0" marR="0" rtl="0" algn="l">
              <a:lnSpc>
                <a:spcPct val="115000"/>
              </a:lnSpc>
              <a:spcBef>
                <a:spcPts val="0"/>
              </a:spcBef>
              <a:spcAft>
                <a:spcPts val="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a:p>
            <a:pPr indent="0" lvl="0" marL="0" marR="0" rtl="0" algn="l">
              <a:lnSpc>
                <a:spcPct val="100000"/>
              </a:lnSpc>
              <a:spcBef>
                <a:spcPts val="1000"/>
              </a:spcBef>
              <a:spcAft>
                <a:spcPts val="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a:p>
            <a:pPr indent="0" lvl="0" marL="0" marR="0" rtl="0" algn="l">
              <a:lnSpc>
                <a:spcPct val="200000"/>
              </a:lnSpc>
              <a:spcBef>
                <a:spcPts val="1000"/>
              </a:spcBef>
              <a:spcAft>
                <a:spcPts val="1000"/>
              </a:spcAft>
              <a:buClr>
                <a:schemeClr val="dk1"/>
              </a:buClr>
              <a:buSzPts val="2200"/>
              <a:buFont typeface="Lexend"/>
              <a:buNone/>
            </a:pPr>
            <a:r>
              <a:t/>
            </a:r>
            <a:endParaRPr b="0" i="0" sz="1800" u="none" cap="none" strike="noStrike">
              <a:solidFill>
                <a:schemeClr val="dk1"/>
              </a:solidFill>
              <a:latin typeface="Lexend"/>
              <a:ea typeface="Lexend"/>
              <a:cs typeface="Lexend"/>
              <a:sym typeface="Lexend"/>
            </a:endParaRPr>
          </a:p>
        </p:txBody>
      </p:sp>
      <p:sp>
        <p:nvSpPr>
          <p:cNvPr id="1185" name="Google Shape;1185;p88"/>
          <p:cNvSpPr txBox="1"/>
          <p:nvPr/>
        </p:nvSpPr>
        <p:spPr>
          <a:xfrm>
            <a:off x="668071" y="1715319"/>
            <a:ext cx="1419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5.6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sp>
        <p:nvSpPr>
          <p:cNvPr id="1186" name="Google Shape;1186;p88"/>
          <p:cNvSpPr txBox="1"/>
          <p:nvPr/>
        </p:nvSpPr>
        <p:spPr>
          <a:xfrm>
            <a:off x="2157150" y="1715319"/>
            <a:ext cx="1419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1.2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1</a:t>
            </a:r>
            <a:r>
              <a:rPr b="0" i="0" lang="en-GB" sz="1800" u="none" cap="none" strike="noStrike">
                <a:solidFill>
                  <a:schemeClr val="dk1"/>
                </a:solidFill>
                <a:latin typeface="Lexend"/>
                <a:ea typeface="Lexend"/>
                <a:cs typeface="Lexend"/>
                <a:sym typeface="Lexend"/>
              </a:rPr>
              <a:t> </a:t>
            </a:r>
            <a:endParaRPr b="0" i="0" sz="1800" u="none" cap="none" strike="noStrike">
              <a:solidFill>
                <a:srgbClr val="000000"/>
              </a:solidFill>
              <a:latin typeface="Arial"/>
              <a:ea typeface="Arial"/>
              <a:cs typeface="Arial"/>
              <a:sym typeface="Arial"/>
            </a:endParaRPr>
          </a:p>
        </p:txBody>
      </p:sp>
      <p:sp>
        <p:nvSpPr>
          <p:cNvPr id="1187" name="Google Shape;1187;p88"/>
          <p:cNvSpPr txBox="1"/>
          <p:nvPr/>
        </p:nvSpPr>
        <p:spPr>
          <a:xfrm>
            <a:off x="5476142" y="1715319"/>
            <a:ext cx="1419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1 × 10</a:t>
            </a:r>
            <a:endParaRPr b="0" i="0" sz="1800" u="none" cap="none" strike="noStrike">
              <a:solidFill>
                <a:srgbClr val="000000"/>
              </a:solidFill>
              <a:latin typeface="Arial"/>
              <a:ea typeface="Arial"/>
              <a:cs typeface="Arial"/>
              <a:sym typeface="Arial"/>
            </a:endParaRPr>
          </a:p>
        </p:txBody>
      </p:sp>
      <p:sp>
        <p:nvSpPr>
          <p:cNvPr id="1188" name="Google Shape;1188;p88"/>
          <p:cNvSpPr txBox="1"/>
          <p:nvPr/>
        </p:nvSpPr>
        <p:spPr>
          <a:xfrm>
            <a:off x="7023017" y="1715319"/>
            <a:ext cx="1419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4.6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189" name="Google Shape;1189;p88"/>
          <p:cNvSpPr txBox="1"/>
          <p:nvPr/>
        </p:nvSpPr>
        <p:spPr>
          <a:xfrm>
            <a:off x="3761838" y="1715319"/>
            <a:ext cx="1587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4.4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190" name="Google Shape;1190;p88"/>
          <p:cNvSpPr txBox="1"/>
          <p:nvPr/>
        </p:nvSpPr>
        <p:spPr>
          <a:xfrm>
            <a:off x="2142540" y="3167375"/>
            <a:ext cx="142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6.</a:t>
            </a:r>
            <a:r>
              <a:rPr lang="en-GB" sz="1800">
                <a:solidFill>
                  <a:schemeClr val="dk1"/>
                </a:solidFill>
                <a:latin typeface="Kalam"/>
                <a:ea typeface="Kalam"/>
                <a:cs typeface="Kalam"/>
                <a:sym typeface="Kalam"/>
              </a:rPr>
              <a:t>9</a:t>
            </a:r>
            <a:r>
              <a:rPr i="0" lang="en-GB" sz="1800" u="none" cap="none" strike="noStrike">
                <a:solidFill>
                  <a:schemeClr val="dk1"/>
                </a:solidFill>
                <a:latin typeface="Kalam"/>
                <a:ea typeface="Kalam"/>
                <a:cs typeface="Kalam"/>
                <a:sym typeface="Kalam"/>
              </a:rPr>
              <a:t>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6</a:t>
            </a:r>
            <a:endParaRPr i="0" sz="1800" u="none" cap="none" strike="noStrike">
              <a:solidFill>
                <a:srgbClr val="000000"/>
              </a:solidFill>
              <a:latin typeface="Kalam"/>
              <a:ea typeface="Kalam"/>
              <a:cs typeface="Kalam"/>
              <a:sym typeface="Kalam"/>
            </a:endParaRPr>
          </a:p>
        </p:txBody>
      </p:sp>
      <p:sp>
        <p:nvSpPr>
          <p:cNvPr id="1191" name="Google Shape;1191;p88"/>
          <p:cNvSpPr txBox="1"/>
          <p:nvPr/>
        </p:nvSpPr>
        <p:spPr>
          <a:xfrm>
            <a:off x="7151358" y="3167375"/>
            <a:ext cx="142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6.798  × 10</a:t>
            </a:r>
            <a:r>
              <a:rPr baseline="30000" i="0" lang="en-GB" sz="1800" u="none" cap="none" strike="noStrike">
                <a:solidFill>
                  <a:schemeClr val="dk1"/>
                </a:solidFill>
                <a:latin typeface="Kalam"/>
                <a:ea typeface="Kalam"/>
                <a:cs typeface="Kalam"/>
                <a:sym typeface="Kalam"/>
              </a:rPr>
              <a:t>6</a:t>
            </a:r>
            <a:r>
              <a:rPr i="0" lang="en-GB" sz="1800" u="none" cap="none" strike="noStrike">
                <a:solidFill>
                  <a:schemeClr val="dk1"/>
                </a:solidFill>
                <a:latin typeface="Kalam"/>
                <a:ea typeface="Kalam"/>
                <a:cs typeface="Kalam"/>
                <a:sym typeface="Kalam"/>
              </a:rPr>
              <a:t> </a:t>
            </a:r>
            <a:endParaRPr i="0" sz="1800" u="none" cap="none" strike="noStrike">
              <a:solidFill>
                <a:srgbClr val="000000"/>
              </a:solidFill>
              <a:latin typeface="Kalam"/>
              <a:ea typeface="Kalam"/>
              <a:cs typeface="Kalam"/>
              <a:sym typeface="Kalam"/>
            </a:endParaRPr>
          </a:p>
        </p:txBody>
      </p:sp>
      <p:sp>
        <p:nvSpPr>
          <p:cNvPr id="1192" name="Google Shape;1192;p88"/>
          <p:cNvSpPr txBox="1"/>
          <p:nvPr/>
        </p:nvSpPr>
        <p:spPr>
          <a:xfrm>
            <a:off x="3770285" y="3167375"/>
            <a:ext cx="142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6.45 × 10</a:t>
            </a:r>
            <a:endParaRPr i="0" sz="1800" u="none" cap="none" strike="noStrike">
              <a:solidFill>
                <a:srgbClr val="000000"/>
              </a:solidFill>
              <a:latin typeface="Kalam"/>
              <a:ea typeface="Kalam"/>
              <a:cs typeface="Kalam"/>
              <a:sym typeface="Kalam"/>
            </a:endParaRPr>
          </a:p>
        </p:txBody>
      </p:sp>
      <p:sp>
        <p:nvSpPr>
          <p:cNvPr id="1193" name="Google Shape;1193;p88"/>
          <p:cNvSpPr txBox="1"/>
          <p:nvPr/>
        </p:nvSpPr>
        <p:spPr>
          <a:xfrm>
            <a:off x="438100" y="3167375"/>
            <a:ext cx="142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6.798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6</a:t>
            </a:r>
            <a:endParaRPr i="0" sz="1800" u="none" cap="none" strike="noStrike">
              <a:solidFill>
                <a:srgbClr val="000000"/>
              </a:solidFill>
              <a:latin typeface="Kalam"/>
              <a:ea typeface="Kalam"/>
              <a:cs typeface="Kalam"/>
              <a:sym typeface="Kalam"/>
            </a:endParaRPr>
          </a:p>
        </p:txBody>
      </p:sp>
      <p:sp>
        <p:nvSpPr>
          <p:cNvPr id="1194" name="Google Shape;1194;p88"/>
          <p:cNvSpPr txBox="1"/>
          <p:nvPr/>
        </p:nvSpPr>
        <p:spPr>
          <a:xfrm>
            <a:off x="5355568" y="3167375"/>
            <a:ext cx="1593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6.1 × 10</a:t>
            </a:r>
            <a:r>
              <a:rPr baseline="30000" i="0" lang="en-GB" sz="1800" u="none" cap="none" strike="noStrike">
                <a:solidFill>
                  <a:schemeClr val="dk1"/>
                </a:solidFill>
                <a:latin typeface="Kalam"/>
                <a:ea typeface="Kalam"/>
                <a:cs typeface="Kalam"/>
                <a:sym typeface="Kalam"/>
              </a:rPr>
              <a:t>6</a:t>
            </a:r>
            <a:endParaRPr i="0" sz="1800" u="none" cap="none" strike="noStrike">
              <a:solidFill>
                <a:srgbClr val="000000"/>
              </a:solidFill>
              <a:latin typeface="Kalam"/>
              <a:ea typeface="Kalam"/>
              <a:cs typeface="Kalam"/>
              <a:sym typeface="Kalam"/>
            </a:endParaRPr>
          </a:p>
        </p:txBody>
      </p:sp>
      <p:sp>
        <p:nvSpPr>
          <p:cNvPr id="1195" name="Google Shape;1195;p88"/>
          <p:cNvSpPr txBox="1"/>
          <p:nvPr/>
        </p:nvSpPr>
        <p:spPr>
          <a:xfrm>
            <a:off x="7087240" y="3712400"/>
            <a:ext cx="142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a:t>
            </a:r>
            <a:r>
              <a:rPr lang="en-GB" sz="1800">
                <a:solidFill>
                  <a:schemeClr val="dk1"/>
                </a:solidFill>
                <a:latin typeface="Lexend"/>
                <a:ea typeface="Lexend"/>
                <a:cs typeface="Lexend"/>
                <a:sym typeface="Lexend"/>
              </a:rPr>
              <a:t>9</a:t>
            </a:r>
            <a:r>
              <a:rPr b="0" i="0" lang="en-GB" sz="1800" u="none" cap="none" strike="noStrike">
                <a:solidFill>
                  <a:schemeClr val="dk1"/>
                </a:solidFill>
                <a:latin typeface="Lexend"/>
                <a:ea typeface="Lexend"/>
                <a:cs typeface="Lexend"/>
                <a:sym typeface="Lexend"/>
              </a:rPr>
              <a:t>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sp>
        <p:nvSpPr>
          <p:cNvPr id="1196" name="Google Shape;1196;p88"/>
          <p:cNvSpPr txBox="1"/>
          <p:nvPr/>
        </p:nvSpPr>
        <p:spPr>
          <a:xfrm>
            <a:off x="3827204" y="3712400"/>
            <a:ext cx="142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6.798  × 10</a:t>
            </a:r>
            <a:r>
              <a:rPr b="0" baseline="30000" i="0" lang="en-GB" sz="1800" u="none" cap="none" strike="noStrike">
                <a:solidFill>
                  <a:schemeClr val="dk1"/>
                </a:solidFill>
                <a:latin typeface="Lexend"/>
                <a:ea typeface="Lexend"/>
                <a:cs typeface="Lexend"/>
                <a:sym typeface="Lexend"/>
              </a:rPr>
              <a:t>6</a:t>
            </a:r>
            <a:r>
              <a:rPr b="0" i="0" lang="en-GB" sz="1800" u="none" cap="none" strike="noStrike">
                <a:solidFill>
                  <a:schemeClr val="dk1"/>
                </a:solidFill>
                <a:latin typeface="Lexend"/>
                <a:ea typeface="Lexend"/>
                <a:cs typeface="Lexend"/>
                <a:sym typeface="Lexend"/>
              </a:rPr>
              <a:t> </a:t>
            </a:r>
            <a:endParaRPr b="0" i="0" sz="1800" u="none" cap="none" strike="noStrike">
              <a:solidFill>
                <a:srgbClr val="000000"/>
              </a:solidFill>
              <a:latin typeface="Arial"/>
              <a:ea typeface="Arial"/>
              <a:cs typeface="Arial"/>
              <a:sym typeface="Arial"/>
            </a:endParaRPr>
          </a:p>
        </p:txBody>
      </p:sp>
      <p:sp>
        <p:nvSpPr>
          <p:cNvPr id="1197" name="Google Shape;1197;p88"/>
          <p:cNvSpPr txBox="1"/>
          <p:nvPr/>
        </p:nvSpPr>
        <p:spPr>
          <a:xfrm>
            <a:off x="2197186" y="3712400"/>
            <a:ext cx="142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6.45 × 10</a:t>
            </a:r>
            <a:endParaRPr b="0" i="0" sz="1800" u="none" cap="none" strike="noStrike">
              <a:solidFill>
                <a:srgbClr val="000000"/>
              </a:solidFill>
              <a:latin typeface="Arial"/>
              <a:ea typeface="Arial"/>
              <a:cs typeface="Arial"/>
              <a:sym typeface="Arial"/>
            </a:endParaRPr>
          </a:p>
        </p:txBody>
      </p:sp>
      <p:sp>
        <p:nvSpPr>
          <p:cNvPr id="1198" name="Google Shape;1198;p88"/>
          <p:cNvSpPr txBox="1"/>
          <p:nvPr/>
        </p:nvSpPr>
        <p:spPr>
          <a:xfrm>
            <a:off x="5457222" y="3712400"/>
            <a:ext cx="142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6.798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sp>
        <p:nvSpPr>
          <p:cNvPr id="1199" name="Google Shape;1199;p88"/>
          <p:cNvSpPr txBox="1"/>
          <p:nvPr/>
        </p:nvSpPr>
        <p:spPr>
          <a:xfrm>
            <a:off x="399168" y="3712400"/>
            <a:ext cx="1593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a:t>
            </a:r>
            <a:r>
              <a:rPr lang="en-GB" sz="1800">
                <a:solidFill>
                  <a:schemeClr val="dk1"/>
                </a:solidFill>
                <a:latin typeface="Lexend"/>
                <a:ea typeface="Lexend"/>
                <a:cs typeface="Lexend"/>
                <a:sym typeface="Lexend"/>
              </a:rPr>
              <a:t>1</a:t>
            </a:r>
            <a:r>
              <a:rPr b="0" i="0" lang="en-GB" sz="1800" u="none" cap="none" strike="noStrike">
                <a:solidFill>
                  <a:schemeClr val="dk1"/>
                </a:solidFill>
                <a:latin typeface="Lexend"/>
                <a:ea typeface="Lexend"/>
                <a:cs typeface="Lexend"/>
                <a:sym typeface="Lexend"/>
              </a:rPr>
              <a:t> × 10</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89"/>
          <p:cNvSpPr txBox="1"/>
          <p:nvPr>
            <p:ph idx="1" type="body"/>
          </p:nvPr>
        </p:nvSpPr>
        <p:spPr>
          <a:xfrm>
            <a:off x="324000" y="683100"/>
            <a:ext cx="7981800" cy="6135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AutoNum type="alphaLcParenR"/>
            </a:pPr>
            <a:r>
              <a:rPr lang="en-GB" sz="1800"/>
              <a:t>Aisha says she cannot put these in ascending order because they are not in standard form. Explain why she can put them in order and order these numbers in the form they are given.</a:t>
            </a:r>
            <a:endParaRPr/>
          </a:p>
          <a:p>
            <a:pPr indent="-317500" lvl="0" marL="457200" rtl="0" algn="l">
              <a:lnSpc>
                <a:spcPct val="115000"/>
              </a:lnSpc>
              <a:spcBef>
                <a:spcPts val="0"/>
              </a:spcBef>
              <a:spcAft>
                <a:spcPts val="0"/>
              </a:spcAft>
              <a:buSzPts val="2200"/>
              <a:buNone/>
            </a:pPr>
            <a:r>
              <a:t/>
            </a:r>
            <a:endParaRPr sz="1800"/>
          </a:p>
          <a:p>
            <a:pPr indent="-317500" lvl="0" marL="457200" rtl="0" algn="l">
              <a:lnSpc>
                <a:spcPct val="115000"/>
              </a:lnSpc>
              <a:spcBef>
                <a:spcPts val="0"/>
              </a:spcBef>
              <a:spcAft>
                <a:spcPts val="0"/>
              </a:spcAft>
              <a:buSzPts val="2200"/>
              <a:buNone/>
            </a:pPr>
            <a:r>
              <a:t/>
            </a:r>
            <a:endParaRPr sz="1800"/>
          </a:p>
          <a:p>
            <a:pPr indent="-317500" lvl="0" marL="45720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rPr lang="en-GB" sz="1800">
                <a:latin typeface="Kalam"/>
                <a:ea typeface="Kalam"/>
                <a:cs typeface="Kalam"/>
                <a:sym typeface="Kalam"/>
              </a:rPr>
              <a:t>Aisha can convert them all to standard form and then order, or convert them to an ordinary number and order. It is important to use this as working out so to order the form the question originally gave the value as. </a:t>
            </a:r>
            <a:endParaRPr>
              <a:latin typeface="Kalam"/>
              <a:ea typeface="Kalam"/>
              <a:cs typeface="Kalam"/>
              <a:sym typeface="Kalam"/>
            </a:endParaRPr>
          </a:p>
        </p:txBody>
      </p:sp>
      <p:sp>
        <p:nvSpPr>
          <p:cNvPr id="1205" name="Google Shape;1205;p89"/>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1206" name="Google Shape;1206;p89"/>
          <p:cNvSpPr txBox="1"/>
          <p:nvPr/>
        </p:nvSpPr>
        <p:spPr>
          <a:xfrm>
            <a:off x="3870536"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0.92</a:t>
            </a:r>
            <a:endParaRPr b="0" i="0" sz="1800" u="none" cap="none" strike="noStrike">
              <a:solidFill>
                <a:srgbClr val="000000"/>
              </a:solidFill>
              <a:latin typeface="Arial"/>
              <a:ea typeface="Arial"/>
              <a:cs typeface="Arial"/>
              <a:sym typeface="Arial"/>
            </a:endParaRPr>
          </a:p>
        </p:txBody>
      </p:sp>
      <p:sp>
        <p:nvSpPr>
          <p:cNvPr id="1207" name="Google Shape;1207;p89"/>
          <p:cNvSpPr txBox="1"/>
          <p:nvPr/>
        </p:nvSpPr>
        <p:spPr>
          <a:xfrm>
            <a:off x="5482042"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24 000 </a:t>
            </a:r>
            <a:endParaRPr b="0" i="0" sz="1800" u="none" cap="none" strike="noStrike">
              <a:solidFill>
                <a:srgbClr val="000000"/>
              </a:solidFill>
              <a:latin typeface="Arial"/>
              <a:ea typeface="Arial"/>
              <a:cs typeface="Arial"/>
              <a:sym typeface="Arial"/>
            </a:endParaRPr>
          </a:p>
        </p:txBody>
      </p:sp>
      <p:sp>
        <p:nvSpPr>
          <p:cNvPr id="1208" name="Google Shape;1208;p89"/>
          <p:cNvSpPr txBox="1"/>
          <p:nvPr/>
        </p:nvSpPr>
        <p:spPr>
          <a:xfrm>
            <a:off x="7093547"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2.3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09" name="Google Shape;1209;p89"/>
          <p:cNvSpPr txBox="1"/>
          <p:nvPr/>
        </p:nvSpPr>
        <p:spPr>
          <a:xfrm>
            <a:off x="2259031"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4.1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10" name="Google Shape;1210;p89"/>
          <p:cNvSpPr txBox="1"/>
          <p:nvPr/>
        </p:nvSpPr>
        <p:spPr>
          <a:xfrm>
            <a:off x="467825" y="1795650"/>
            <a:ext cx="1704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0.00439</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90"/>
          <p:cNvSpPr txBox="1"/>
          <p:nvPr>
            <p:ph idx="1" type="body"/>
          </p:nvPr>
        </p:nvSpPr>
        <p:spPr>
          <a:xfrm>
            <a:off x="324000" y="683100"/>
            <a:ext cx="7981800" cy="6135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AutoNum type="alphaLcParenR"/>
            </a:pPr>
            <a:r>
              <a:rPr lang="en-GB" sz="1800"/>
              <a:t>Aisha says she cannot put these in ascending order because they are not in standard form. Explain why she can put them in order and order these numbers in the form they are given.</a:t>
            </a:r>
            <a:endParaRPr/>
          </a:p>
          <a:p>
            <a:pPr indent="-317500" lvl="0" marL="457200" rtl="0" algn="l">
              <a:lnSpc>
                <a:spcPct val="115000"/>
              </a:lnSpc>
              <a:spcBef>
                <a:spcPts val="0"/>
              </a:spcBef>
              <a:spcAft>
                <a:spcPts val="0"/>
              </a:spcAft>
              <a:buSzPts val="2200"/>
              <a:buNone/>
            </a:pPr>
            <a:r>
              <a:t/>
            </a:r>
            <a:endParaRPr sz="1800"/>
          </a:p>
          <a:p>
            <a:pPr indent="-317500" lvl="0" marL="457200" rtl="0" algn="l">
              <a:lnSpc>
                <a:spcPct val="115000"/>
              </a:lnSpc>
              <a:spcBef>
                <a:spcPts val="0"/>
              </a:spcBef>
              <a:spcAft>
                <a:spcPts val="0"/>
              </a:spcAft>
              <a:buSzPts val="2200"/>
              <a:buNone/>
            </a:pPr>
            <a:r>
              <a:t/>
            </a:r>
            <a:endParaRPr sz="1800"/>
          </a:p>
          <a:p>
            <a:pPr indent="-317500" lvl="0" marL="45720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p:txBody>
      </p:sp>
      <p:sp>
        <p:nvSpPr>
          <p:cNvPr id="1216" name="Google Shape;1216;p9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1217" name="Google Shape;1217;p90"/>
          <p:cNvSpPr txBox="1"/>
          <p:nvPr/>
        </p:nvSpPr>
        <p:spPr>
          <a:xfrm>
            <a:off x="3901055" y="2469150"/>
            <a:ext cx="1521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9.2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1</a:t>
            </a:r>
            <a:endParaRPr i="0" sz="1800" u="none" cap="none" strike="noStrike">
              <a:solidFill>
                <a:srgbClr val="000000"/>
              </a:solidFill>
              <a:latin typeface="Kalam"/>
              <a:ea typeface="Kalam"/>
              <a:cs typeface="Kalam"/>
              <a:sym typeface="Kalam"/>
            </a:endParaRPr>
          </a:p>
        </p:txBody>
      </p:sp>
      <p:sp>
        <p:nvSpPr>
          <p:cNvPr id="1218" name="Google Shape;1218;p90"/>
          <p:cNvSpPr txBox="1"/>
          <p:nvPr/>
        </p:nvSpPr>
        <p:spPr>
          <a:xfrm>
            <a:off x="5508845" y="2469150"/>
            <a:ext cx="1521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2.4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219" name="Google Shape;1219;p90"/>
          <p:cNvSpPr txBox="1"/>
          <p:nvPr/>
        </p:nvSpPr>
        <p:spPr>
          <a:xfrm>
            <a:off x="7116636" y="2469150"/>
            <a:ext cx="1521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2.3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220" name="Google Shape;1220;p90"/>
          <p:cNvSpPr txBox="1"/>
          <p:nvPr/>
        </p:nvSpPr>
        <p:spPr>
          <a:xfrm>
            <a:off x="2293265" y="2469150"/>
            <a:ext cx="1521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4.1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221" name="Google Shape;1221;p90"/>
          <p:cNvSpPr txBox="1"/>
          <p:nvPr/>
        </p:nvSpPr>
        <p:spPr>
          <a:xfrm>
            <a:off x="506075" y="2469150"/>
            <a:ext cx="1700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4.39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3</a:t>
            </a:r>
            <a:endParaRPr i="0" sz="1800" u="none" cap="none" strike="noStrike">
              <a:solidFill>
                <a:srgbClr val="000000"/>
              </a:solidFill>
              <a:latin typeface="Kalam"/>
              <a:ea typeface="Kalam"/>
              <a:cs typeface="Kalam"/>
              <a:sym typeface="Kalam"/>
            </a:endParaRPr>
          </a:p>
        </p:txBody>
      </p:sp>
      <p:sp>
        <p:nvSpPr>
          <p:cNvPr id="1222" name="Google Shape;1222;p90"/>
          <p:cNvSpPr txBox="1"/>
          <p:nvPr/>
        </p:nvSpPr>
        <p:spPr>
          <a:xfrm>
            <a:off x="360897" y="3203319"/>
            <a:ext cx="7981800" cy="613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2200"/>
              <a:buFont typeface="Lexend"/>
              <a:buNone/>
            </a:pPr>
            <a:r>
              <a:rPr b="0" i="0" lang="en-GB" sz="1800" u="none" cap="none" strike="noStrike">
                <a:solidFill>
                  <a:schemeClr val="accent4"/>
                </a:solidFill>
                <a:latin typeface="Lexend"/>
                <a:ea typeface="Lexend"/>
                <a:cs typeface="Lexend"/>
                <a:sym typeface="Lexend"/>
              </a:rPr>
              <a:t>With this working out</a:t>
            </a:r>
            <a:r>
              <a:rPr b="0" i="0" lang="en-GB" sz="1800" u="none" cap="none" strike="noStrike">
                <a:solidFill>
                  <a:schemeClr val="dk1"/>
                </a:solidFill>
                <a:latin typeface="Lexend"/>
                <a:ea typeface="Lexend"/>
                <a:cs typeface="Lexend"/>
                <a:sym typeface="Lexend"/>
              </a:rPr>
              <a:t>, we can order the numbers given in their original form from the question. </a:t>
            </a:r>
            <a:endParaRPr/>
          </a:p>
        </p:txBody>
      </p:sp>
      <p:sp>
        <p:nvSpPr>
          <p:cNvPr id="1223" name="Google Shape;1223;p90"/>
          <p:cNvSpPr txBox="1"/>
          <p:nvPr/>
        </p:nvSpPr>
        <p:spPr>
          <a:xfrm>
            <a:off x="3870536"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0.92</a:t>
            </a:r>
            <a:endParaRPr b="0" i="0" sz="1800" u="none" cap="none" strike="noStrike">
              <a:solidFill>
                <a:srgbClr val="000000"/>
              </a:solidFill>
              <a:latin typeface="Arial"/>
              <a:ea typeface="Arial"/>
              <a:cs typeface="Arial"/>
              <a:sym typeface="Arial"/>
            </a:endParaRPr>
          </a:p>
        </p:txBody>
      </p:sp>
      <p:sp>
        <p:nvSpPr>
          <p:cNvPr id="1224" name="Google Shape;1224;p90"/>
          <p:cNvSpPr txBox="1"/>
          <p:nvPr/>
        </p:nvSpPr>
        <p:spPr>
          <a:xfrm>
            <a:off x="5482042"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24 000 </a:t>
            </a:r>
            <a:endParaRPr b="0" i="0" sz="1800" u="none" cap="none" strike="noStrike">
              <a:solidFill>
                <a:srgbClr val="000000"/>
              </a:solidFill>
              <a:latin typeface="Arial"/>
              <a:ea typeface="Arial"/>
              <a:cs typeface="Arial"/>
              <a:sym typeface="Arial"/>
            </a:endParaRPr>
          </a:p>
        </p:txBody>
      </p:sp>
      <p:sp>
        <p:nvSpPr>
          <p:cNvPr id="1225" name="Google Shape;1225;p90"/>
          <p:cNvSpPr txBox="1"/>
          <p:nvPr/>
        </p:nvSpPr>
        <p:spPr>
          <a:xfrm>
            <a:off x="7093547"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2.3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26" name="Google Shape;1226;p90"/>
          <p:cNvSpPr txBox="1"/>
          <p:nvPr/>
        </p:nvSpPr>
        <p:spPr>
          <a:xfrm>
            <a:off x="2259031"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4.1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27" name="Google Shape;1227;p90"/>
          <p:cNvSpPr txBox="1"/>
          <p:nvPr/>
        </p:nvSpPr>
        <p:spPr>
          <a:xfrm>
            <a:off x="467825" y="1795650"/>
            <a:ext cx="1704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0.00439</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91"/>
          <p:cNvSpPr txBox="1"/>
          <p:nvPr>
            <p:ph idx="1" type="body"/>
          </p:nvPr>
        </p:nvSpPr>
        <p:spPr>
          <a:xfrm>
            <a:off x="324000" y="683100"/>
            <a:ext cx="7981800" cy="6135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AutoNum type="alphaLcParenR"/>
            </a:pPr>
            <a:r>
              <a:rPr lang="en-GB" sz="1800"/>
              <a:t>Aisha says she cannot put these in ascending order because they are not in standard form. Explain why she can put them in order and order these numbers in the form they are given.</a:t>
            </a:r>
            <a:endParaRPr/>
          </a:p>
          <a:p>
            <a:pPr indent="-317500" lvl="0" marL="457200" rtl="0" algn="l">
              <a:lnSpc>
                <a:spcPct val="115000"/>
              </a:lnSpc>
              <a:spcBef>
                <a:spcPts val="0"/>
              </a:spcBef>
              <a:spcAft>
                <a:spcPts val="0"/>
              </a:spcAft>
              <a:buSzPts val="2200"/>
              <a:buNone/>
            </a:pPr>
            <a:r>
              <a:t/>
            </a:r>
            <a:endParaRPr sz="1800"/>
          </a:p>
          <a:p>
            <a:pPr indent="-317500" lvl="0" marL="457200" rtl="0" algn="l">
              <a:lnSpc>
                <a:spcPct val="115000"/>
              </a:lnSpc>
              <a:spcBef>
                <a:spcPts val="0"/>
              </a:spcBef>
              <a:spcAft>
                <a:spcPts val="0"/>
              </a:spcAft>
              <a:buSzPts val="2200"/>
              <a:buNone/>
            </a:pPr>
            <a:r>
              <a:t/>
            </a:r>
            <a:endParaRPr sz="1800"/>
          </a:p>
          <a:p>
            <a:pPr indent="-317500" lvl="0" marL="45720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a:p>
            <a:pPr indent="0" lvl="0" marL="0" rtl="0" algn="l">
              <a:lnSpc>
                <a:spcPct val="115000"/>
              </a:lnSpc>
              <a:spcBef>
                <a:spcPts val="0"/>
              </a:spcBef>
              <a:spcAft>
                <a:spcPts val="0"/>
              </a:spcAft>
              <a:buSzPts val="2200"/>
              <a:buNone/>
            </a:pPr>
            <a:r>
              <a:t/>
            </a:r>
            <a:endParaRPr sz="1800"/>
          </a:p>
        </p:txBody>
      </p:sp>
      <p:sp>
        <p:nvSpPr>
          <p:cNvPr id="1233" name="Google Shape;1233;p9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Comparing numbers in standard form</a:t>
            </a:r>
            <a:endParaRPr/>
          </a:p>
        </p:txBody>
      </p:sp>
      <p:sp>
        <p:nvSpPr>
          <p:cNvPr id="1234" name="Google Shape;1234;p91"/>
          <p:cNvSpPr txBox="1"/>
          <p:nvPr/>
        </p:nvSpPr>
        <p:spPr>
          <a:xfrm>
            <a:off x="3901055" y="2469150"/>
            <a:ext cx="1521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9.2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1</a:t>
            </a:r>
            <a:endParaRPr i="0" sz="1800" u="none" cap="none" strike="noStrike">
              <a:solidFill>
                <a:srgbClr val="000000"/>
              </a:solidFill>
              <a:latin typeface="Kalam"/>
              <a:ea typeface="Kalam"/>
              <a:cs typeface="Kalam"/>
              <a:sym typeface="Kalam"/>
            </a:endParaRPr>
          </a:p>
        </p:txBody>
      </p:sp>
      <p:sp>
        <p:nvSpPr>
          <p:cNvPr id="1235" name="Google Shape;1235;p91"/>
          <p:cNvSpPr txBox="1"/>
          <p:nvPr/>
        </p:nvSpPr>
        <p:spPr>
          <a:xfrm>
            <a:off x="5508845" y="2469150"/>
            <a:ext cx="1521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2.4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236" name="Google Shape;1236;p91"/>
          <p:cNvSpPr txBox="1"/>
          <p:nvPr/>
        </p:nvSpPr>
        <p:spPr>
          <a:xfrm>
            <a:off x="7116636" y="2469150"/>
            <a:ext cx="1521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2.3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237" name="Google Shape;1237;p91"/>
          <p:cNvSpPr txBox="1"/>
          <p:nvPr/>
        </p:nvSpPr>
        <p:spPr>
          <a:xfrm>
            <a:off x="2293265" y="2469150"/>
            <a:ext cx="1521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4.1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238" name="Google Shape;1238;p91"/>
          <p:cNvSpPr txBox="1"/>
          <p:nvPr/>
        </p:nvSpPr>
        <p:spPr>
          <a:xfrm>
            <a:off x="506075" y="2469150"/>
            <a:ext cx="1700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4.39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3</a:t>
            </a:r>
            <a:endParaRPr i="0" sz="1800" u="none" cap="none" strike="noStrike">
              <a:solidFill>
                <a:srgbClr val="000000"/>
              </a:solidFill>
              <a:latin typeface="Kalam"/>
              <a:ea typeface="Kalam"/>
              <a:cs typeface="Kalam"/>
              <a:sym typeface="Kalam"/>
            </a:endParaRPr>
          </a:p>
        </p:txBody>
      </p:sp>
      <p:sp>
        <p:nvSpPr>
          <p:cNvPr id="1239" name="Google Shape;1239;p91"/>
          <p:cNvSpPr txBox="1"/>
          <p:nvPr/>
        </p:nvSpPr>
        <p:spPr>
          <a:xfrm>
            <a:off x="3870536"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0.92</a:t>
            </a:r>
            <a:endParaRPr b="0" i="0" sz="1800" u="none" cap="none" strike="noStrike">
              <a:solidFill>
                <a:srgbClr val="000000"/>
              </a:solidFill>
              <a:latin typeface="Arial"/>
              <a:ea typeface="Arial"/>
              <a:cs typeface="Arial"/>
              <a:sym typeface="Arial"/>
            </a:endParaRPr>
          </a:p>
        </p:txBody>
      </p:sp>
      <p:sp>
        <p:nvSpPr>
          <p:cNvPr id="1240" name="Google Shape;1240;p91"/>
          <p:cNvSpPr txBox="1"/>
          <p:nvPr/>
        </p:nvSpPr>
        <p:spPr>
          <a:xfrm>
            <a:off x="5482042"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24 000 </a:t>
            </a:r>
            <a:endParaRPr b="0" i="0" sz="1800" u="none" cap="none" strike="noStrike">
              <a:solidFill>
                <a:srgbClr val="000000"/>
              </a:solidFill>
              <a:latin typeface="Arial"/>
              <a:ea typeface="Arial"/>
              <a:cs typeface="Arial"/>
              <a:sym typeface="Arial"/>
            </a:endParaRPr>
          </a:p>
        </p:txBody>
      </p:sp>
      <p:sp>
        <p:nvSpPr>
          <p:cNvPr id="1241" name="Google Shape;1241;p91"/>
          <p:cNvSpPr txBox="1"/>
          <p:nvPr/>
        </p:nvSpPr>
        <p:spPr>
          <a:xfrm>
            <a:off x="7093547"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2.3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42" name="Google Shape;1242;p91"/>
          <p:cNvSpPr txBox="1"/>
          <p:nvPr/>
        </p:nvSpPr>
        <p:spPr>
          <a:xfrm>
            <a:off x="2259031" y="1795650"/>
            <a:ext cx="1524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4.1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43" name="Google Shape;1243;p91"/>
          <p:cNvSpPr txBox="1"/>
          <p:nvPr/>
        </p:nvSpPr>
        <p:spPr>
          <a:xfrm>
            <a:off x="467825" y="1795650"/>
            <a:ext cx="1704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0.00439</a:t>
            </a:r>
            <a:endParaRPr b="0" i="0" sz="1800" u="none" cap="none" strike="noStrike">
              <a:solidFill>
                <a:srgbClr val="000000"/>
              </a:solidFill>
              <a:latin typeface="Arial"/>
              <a:ea typeface="Arial"/>
              <a:cs typeface="Arial"/>
              <a:sym typeface="Arial"/>
            </a:endParaRPr>
          </a:p>
        </p:txBody>
      </p:sp>
      <p:sp>
        <p:nvSpPr>
          <p:cNvPr id="1244" name="Google Shape;1244;p91"/>
          <p:cNvSpPr txBox="1"/>
          <p:nvPr/>
        </p:nvSpPr>
        <p:spPr>
          <a:xfrm>
            <a:off x="506075" y="3240000"/>
            <a:ext cx="14640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4.1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245" name="Google Shape;1245;p91"/>
          <p:cNvSpPr txBox="1"/>
          <p:nvPr/>
        </p:nvSpPr>
        <p:spPr>
          <a:xfrm>
            <a:off x="2139481" y="3240000"/>
            <a:ext cx="16365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0.00439</a:t>
            </a:r>
            <a:endParaRPr i="0" sz="1800" u="none" cap="none" strike="noStrike">
              <a:solidFill>
                <a:srgbClr val="000000"/>
              </a:solidFill>
              <a:latin typeface="Kalam"/>
              <a:ea typeface="Kalam"/>
              <a:cs typeface="Kalam"/>
              <a:sym typeface="Kalam"/>
            </a:endParaRPr>
          </a:p>
        </p:txBody>
      </p:sp>
      <p:sp>
        <p:nvSpPr>
          <p:cNvPr id="1246" name="Google Shape;1246;p91"/>
          <p:cNvSpPr txBox="1"/>
          <p:nvPr/>
        </p:nvSpPr>
        <p:spPr>
          <a:xfrm>
            <a:off x="3870037" y="3240000"/>
            <a:ext cx="14640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0.92</a:t>
            </a:r>
            <a:endParaRPr i="0" sz="1800" u="none" cap="none" strike="noStrike">
              <a:solidFill>
                <a:srgbClr val="000000"/>
              </a:solidFill>
              <a:latin typeface="Kalam"/>
              <a:ea typeface="Kalam"/>
              <a:cs typeface="Kalam"/>
              <a:sym typeface="Kalam"/>
            </a:endParaRPr>
          </a:p>
        </p:txBody>
      </p:sp>
      <p:sp>
        <p:nvSpPr>
          <p:cNvPr id="1247" name="Google Shape;1247;p91"/>
          <p:cNvSpPr txBox="1"/>
          <p:nvPr/>
        </p:nvSpPr>
        <p:spPr>
          <a:xfrm>
            <a:off x="5428058" y="3240000"/>
            <a:ext cx="1460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2.3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248" name="Google Shape;1248;p91"/>
          <p:cNvSpPr txBox="1"/>
          <p:nvPr/>
        </p:nvSpPr>
        <p:spPr>
          <a:xfrm>
            <a:off x="7027324" y="3240000"/>
            <a:ext cx="1460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a:t>
            </a:r>
            <a:r>
              <a:rPr lang="en-GB" sz="1800">
                <a:solidFill>
                  <a:schemeClr val="dk1"/>
                </a:solidFill>
                <a:latin typeface="Kalam"/>
                <a:ea typeface="Kalam"/>
                <a:cs typeface="Kalam"/>
                <a:sym typeface="Kalam"/>
              </a:rPr>
              <a:t>4 000</a:t>
            </a:r>
            <a:endParaRPr i="0" sz="1800" u="none" cap="none" strike="noStrike">
              <a:solidFill>
                <a:srgbClr val="000000"/>
              </a:solidFill>
              <a:latin typeface="Kalam"/>
              <a:ea typeface="Kalam"/>
              <a:cs typeface="Kalam"/>
              <a:sym typeface="Kalam"/>
            </a:endParaRPr>
          </a:p>
        </p:txBody>
      </p:sp>
      <p:sp>
        <p:nvSpPr>
          <p:cNvPr id="1249" name="Google Shape;1249;p91"/>
          <p:cNvSpPr txBox="1"/>
          <p:nvPr/>
        </p:nvSpPr>
        <p:spPr>
          <a:xfrm>
            <a:off x="329097" y="4061744"/>
            <a:ext cx="7981800" cy="613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2200"/>
              <a:buFont typeface="Lexend"/>
              <a:buNone/>
            </a:pPr>
            <a:r>
              <a:rPr lang="en-GB" sz="1800">
                <a:solidFill>
                  <a:schemeClr val="dk1"/>
                </a:solidFill>
                <a:latin typeface="Lexend"/>
                <a:ea typeface="Lexend"/>
                <a:cs typeface="Lexend"/>
                <a:sym typeface="Lexend"/>
              </a:rPr>
              <a:t>Remember to order the original forms given, not the working out. </a:t>
            </a:r>
            <a:endParaRPr>
              <a:solidFill>
                <a:schemeClr val="dk1"/>
              </a:solidFill>
            </a:endParaRPr>
          </a:p>
        </p:txBody>
      </p:sp>
      <p:sp>
        <p:nvSpPr>
          <p:cNvPr id="1250" name="Google Shape;1250;p91"/>
          <p:cNvSpPr txBox="1"/>
          <p:nvPr/>
        </p:nvSpPr>
        <p:spPr>
          <a:xfrm>
            <a:off x="3870000" y="1796400"/>
            <a:ext cx="1524900" cy="461700"/>
          </a:xfrm>
          <a:prstGeom prst="rect">
            <a:avLst/>
          </a:prstGeom>
          <a:solidFill>
            <a:srgbClr val="FFFF00">
              <a:alpha val="32910"/>
            </a:srgbClr>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0.92</a:t>
            </a:r>
            <a:endParaRPr b="0" i="0" sz="1800" u="none" cap="none" strike="noStrike">
              <a:solidFill>
                <a:srgbClr val="000000"/>
              </a:solidFill>
              <a:latin typeface="Arial"/>
              <a:ea typeface="Arial"/>
              <a:cs typeface="Arial"/>
              <a:sym typeface="Arial"/>
            </a:endParaRPr>
          </a:p>
        </p:txBody>
      </p:sp>
      <p:sp>
        <p:nvSpPr>
          <p:cNvPr id="1251" name="Google Shape;1251;p91"/>
          <p:cNvSpPr txBox="1"/>
          <p:nvPr/>
        </p:nvSpPr>
        <p:spPr>
          <a:xfrm>
            <a:off x="5482800" y="1796400"/>
            <a:ext cx="1524900" cy="461700"/>
          </a:xfrm>
          <a:prstGeom prst="rect">
            <a:avLst/>
          </a:prstGeom>
          <a:solidFill>
            <a:srgbClr val="FFFF00">
              <a:alpha val="32910"/>
            </a:srgbClr>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24 000 </a:t>
            </a:r>
            <a:endParaRPr b="0" i="0" sz="1800" u="none" cap="none" strike="noStrike">
              <a:solidFill>
                <a:srgbClr val="000000"/>
              </a:solidFill>
              <a:latin typeface="Arial"/>
              <a:ea typeface="Arial"/>
              <a:cs typeface="Arial"/>
              <a:sym typeface="Arial"/>
            </a:endParaRPr>
          </a:p>
        </p:txBody>
      </p:sp>
      <p:sp>
        <p:nvSpPr>
          <p:cNvPr id="1252" name="Google Shape;1252;p91"/>
          <p:cNvSpPr txBox="1"/>
          <p:nvPr/>
        </p:nvSpPr>
        <p:spPr>
          <a:xfrm>
            <a:off x="7092000" y="1796400"/>
            <a:ext cx="1524900" cy="461700"/>
          </a:xfrm>
          <a:prstGeom prst="rect">
            <a:avLst/>
          </a:prstGeom>
          <a:solidFill>
            <a:srgbClr val="FFFF00">
              <a:alpha val="32910"/>
            </a:srgbClr>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2.3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53" name="Google Shape;1253;p91"/>
          <p:cNvSpPr txBox="1"/>
          <p:nvPr/>
        </p:nvSpPr>
        <p:spPr>
          <a:xfrm>
            <a:off x="2259019" y="1796400"/>
            <a:ext cx="1524900" cy="461700"/>
          </a:xfrm>
          <a:prstGeom prst="rect">
            <a:avLst/>
          </a:prstGeom>
          <a:solidFill>
            <a:srgbClr val="FFFF00">
              <a:alpha val="32910"/>
            </a:srgbClr>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4.1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54" name="Google Shape;1254;p91"/>
          <p:cNvSpPr txBox="1"/>
          <p:nvPr/>
        </p:nvSpPr>
        <p:spPr>
          <a:xfrm>
            <a:off x="467826" y="1796400"/>
            <a:ext cx="1704600" cy="461700"/>
          </a:xfrm>
          <a:prstGeom prst="rect">
            <a:avLst/>
          </a:prstGeom>
          <a:solidFill>
            <a:srgbClr val="FFFF00">
              <a:alpha val="32910"/>
            </a:srgbClr>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0.00439</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4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3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4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4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92"/>
          <p:cNvSpPr txBox="1"/>
          <p:nvPr>
            <p:ph idx="1" type="body"/>
          </p:nvPr>
        </p:nvSpPr>
        <p:spPr>
          <a:xfrm>
            <a:off x="324000" y="759300"/>
            <a:ext cx="8237700" cy="56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1) Put the following in ascending order, smallest to largest. </a:t>
            </a:r>
            <a:endParaRPr/>
          </a:p>
          <a:p>
            <a:pPr indent="0" lvl="0" marL="0" rtl="0" algn="l">
              <a:lnSpc>
                <a:spcPct val="115000"/>
              </a:lnSpc>
              <a:spcBef>
                <a:spcPts val="1000"/>
              </a:spcBef>
              <a:spcAft>
                <a:spcPts val="1000"/>
              </a:spcAft>
              <a:buSzPts val="2200"/>
              <a:buNone/>
            </a:pPr>
            <a:r>
              <a:t/>
            </a:r>
            <a:endParaRPr/>
          </a:p>
        </p:txBody>
      </p:sp>
      <p:sp>
        <p:nvSpPr>
          <p:cNvPr id="1260" name="Google Shape;1260;p92"/>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Comparing numbers in standard form</a:t>
            </a:r>
            <a:endParaRPr/>
          </a:p>
        </p:txBody>
      </p:sp>
      <p:grpSp>
        <p:nvGrpSpPr>
          <p:cNvPr id="1261" name="Google Shape;1261;p92"/>
          <p:cNvGrpSpPr/>
          <p:nvPr/>
        </p:nvGrpSpPr>
        <p:grpSpPr>
          <a:xfrm>
            <a:off x="760495" y="1269425"/>
            <a:ext cx="7963372" cy="461700"/>
            <a:chOff x="760511" y="1269425"/>
            <a:chExt cx="8180986" cy="461700"/>
          </a:xfrm>
        </p:grpSpPr>
        <p:sp>
          <p:nvSpPr>
            <p:cNvPr id="1262" name="Google Shape;1262;p92"/>
            <p:cNvSpPr txBox="1"/>
            <p:nvPr/>
          </p:nvSpPr>
          <p:spPr>
            <a:xfrm>
              <a:off x="4022854" y="1269425"/>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4 × 10</a:t>
              </a:r>
              <a:r>
                <a:rPr b="0" baseline="30000" i="0" lang="en-GB" sz="1800" u="none" cap="none" strike="noStrike">
                  <a:solidFill>
                    <a:schemeClr val="dk1"/>
                  </a:solidFill>
                  <a:latin typeface="Lexend"/>
                  <a:ea typeface="Lexend"/>
                  <a:cs typeface="Lexend"/>
                  <a:sym typeface="Lexend"/>
                </a:rPr>
                <a:t>11</a:t>
              </a:r>
              <a:endParaRPr b="0" i="0" sz="1800" u="none" cap="none" strike="noStrike">
                <a:solidFill>
                  <a:srgbClr val="000000"/>
                </a:solidFill>
                <a:latin typeface="Arial"/>
                <a:ea typeface="Arial"/>
                <a:cs typeface="Arial"/>
                <a:sym typeface="Arial"/>
              </a:endParaRPr>
            </a:p>
          </p:txBody>
        </p:sp>
        <p:sp>
          <p:nvSpPr>
            <p:cNvPr id="1263" name="Google Shape;1263;p92"/>
            <p:cNvSpPr txBox="1"/>
            <p:nvPr/>
          </p:nvSpPr>
          <p:spPr>
            <a:xfrm>
              <a:off x="2391683" y="1269425"/>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 × 10</a:t>
              </a:r>
              <a:r>
                <a:rPr b="0" baseline="30000" i="0" lang="en-GB" sz="1800" u="none" cap="none" strike="noStrike">
                  <a:solidFill>
                    <a:schemeClr val="dk1"/>
                  </a:solidFill>
                  <a:latin typeface="Lexend"/>
                  <a:ea typeface="Lexend"/>
                  <a:cs typeface="Lexend"/>
                  <a:sym typeface="Lexend"/>
                </a:rPr>
                <a:t>13</a:t>
              </a:r>
              <a:endParaRPr b="0" i="0" sz="1800" u="none" cap="none" strike="noStrike">
                <a:solidFill>
                  <a:srgbClr val="000000"/>
                </a:solidFill>
                <a:latin typeface="Arial"/>
                <a:ea typeface="Arial"/>
                <a:cs typeface="Arial"/>
                <a:sym typeface="Arial"/>
              </a:endParaRPr>
            </a:p>
          </p:txBody>
        </p:sp>
        <p:sp>
          <p:nvSpPr>
            <p:cNvPr id="1264" name="Google Shape;1264;p92"/>
            <p:cNvSpPr txBox="1"/>
            <p:nvPr/>
          </p:nvSpPr>
          <p:spPr>
            <a:xfrm>
              <a:off x="760511" y="1269425"/>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3 × 10</a:t>
              </a:r>
              <a:r>
                <a:rPr b="0" baseline="30000" i="0" lang="en-GB" sz="1800" u="none" cap="none" strike="noStrike">
                  <a:solidFill>
                    <a:schemeClr val="dk1"/>
                  </a:solidFill>
                  <a:latin typeface="Lexend"/>
                  <a:ea typeface="Lexend"/>
                  <a:cs typeface="Lexend"/>
                  <a:sym typeface="Lexend"/>
                </a:rPr>
                <a:t>12</a:t>
              </a:r>
              <a:endParaRPr b="0" i="0" sz="1800" u="none" cap="none" strike="noStrike">
                <a:solidFill>
                  <a:srgbClr val="000000"/>
                </a:solidFill>
                <a:latin typeface="Arial"/>
                <a:ea typeface="Arial"/>
                <a:cs typeface="Arial"/>
                <a:sym typeface="Arial"/>
              </a:endParaRPr>
            </a:p>
          </p:txBody>
        </p:sp>
        <p:sp>
          <p:nvSpPr>
            <p:cNvPr id="1265" name="Google Shape;1265;p92"/>
            <p:cNvSpPr txBox="1"/>
            <p:nvPr/>
          </p:nvSpPr>
          <p:spPr>
            <a:xfrm>
              <a:off x="7459798" y="1269425"/>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 × 10</a:t>
              </a:r>
              <a:r>
                <a:rPr b="0" baseline="30000" i="0" lang="en-GB" sz="1800" u="none" cap="none" strike="noStrike">
                  <a:solidFill>
                    <a:schemeClr val="dk1"/>
                  </a:solidFill>
                  <a:latin typeface="Lexend"/>
                  <a:ea typeface="Lexend"/>
                  <a:cs typeface="Lexend"/>
                  <a:sym typeface="Lexend"/>
                </a:rPr>
                <a:t>9</a:t>
              </a:r>
              <a:endParaRPr b="0" i="0" sz="1800" u="none" cap="none" strike="noStrike">
                <a:solidFill>
                  <a:srgbClr val="000000"/>
                </a:solidFill>
                <a:latin typeface="Arial"/>
                <a:ea typeface="Arial"/>
                <a:cs typeface="Arial"/>
                <a:sym typeface="Arial"/>
              </a:endParaRPr>
            </a:p>
          </p:txBody>
        </p:sp>
        <p:sp>
          <p:nvSpPr>
            <p:cNvPr id="1266" name="Google Shape;1266;p92"/>
            <p:cNvSpPr txBox="1"/>
            <p:nvPr/>
          </p:nvSpPr>
          <p:spPr>
            <a:xfrm>
              <a:off x="5654026" y="1269425"/>
              <a:ext cx="1656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 × 10</a:t>
              </a:r>
              <a:r>
                <a:rPr b="0" baseline="30000" i="0" lang="en-GB" sz="1800" u="none" cap="none" strike="noStrike">
                  <a:solidFill>
                    <a:schemeClr val="dk1"/>
                  </a:solidFill>
                  <a:latin typeface="Lexend"/>
                  <a:ea typeface="Lexend"/>
                  <a:cs typeface="Lexend"/>
                  <a:sym typeface="Lexend"/>
                </a:rPr>
                <a:t>10</a:t>
              </a:r>
              <a:endParaRPr b="0" i="0" sz="1800" u="none" cap="none" strike="noStrike">
                <a:solidFill>
                  <a:srgbClr val="000000"/>
                </a:solidFill>
                <a:latin typeface="Arial"/>
                <a:ea typeface="Arial"/>
                <a:cs typeface="Arial"/>
                <a:sym typeface="Arial"/>
              </a:endParaRPr>
            </a:p>
          </p:txBody>
        </p:sp>
      </p:grpSp>
      <p:grpSp>
        <p:nvGrpSpPr>
          <p:cNvPr id="1267" name="Google Shape;1267;p92"/>
          <p:cNvGrpSpPr/>
          <p:nvPr/>
        </p:nvGrpSpPr>
        <p:grpSpPr>
          <a:xfrm>
            <a:off x="858100" y="2031600"/>
            <a:ext cx="7921518" cy="461700"/>
            <a:chOff x="858100" y="2031600"/>
            <a:chExt cx="7921518" cy="461700"/>
          </a:xfrm>
        </p:grpSpPr>
        <p:sp>
          <p:nvSpPr>
            <p:cNvPr id="1268" name="Google Shape;1268;p92"/>
            <p:cNvSpPr txBox="1"/>
            <p:nvPr/>
          </p:nvSpPr>
          <p:spPr>
            <a:xfrm>
              <a:off x="2448235" y="2031600"/>
              <a:ext cx="1396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1</a:t>
              </a:r>
              <a:endParaRPr b="0" i="0" sz="1800" u="none" cap="none" strike="noStrike">
                <a:solidFill>
                  <a:srgbClr val="000000"/>
                </a:solidFill>
                <a:latin typeface="Arial"/>
                <a:ea typeface="Arial"/>
                <a:cs typeface="Arial"/>
                <a:sym typeface="Arial"/>
              </a:endParaRPr>
            </a:p>
          </p:txBody>
        </p:sp>
        <p:sp>
          <p:nvSpPr>
            <p:cNvPr id="1269" name="Google Shape;1269;p92"/>
            <p:cNvSpPr txBox="1"/>
            <p:nvPr/>
          </p:nvSpPr>
          <p:spPr>
            <a:xfrm>
              <a:off x="858100" y="2031600"/>
              <a:ext cx="1396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70" name="Google Shape;1270;p92"/>
            <p:cNvSpPr txBox="1"/>
            <p:nvPr/>
          </p:nvSpPr>
          <p:spPr>
            <a:xfrm>
              <a:off x="7383418" y="2031600"/>
              <a:ext cx="1396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endParaRPr b="0" i="0" sz="1800" u="none" cap="none" strike="noStrike">
                <a:solidFill>
                  <a:srgbClr val="000000"/>
                </a:solidFill>
                <a:latin typeface="Arial"/>
                <a:ea typeface="Arial"/>
                <a:cs typeface="Arial"/>
                <a:sym typeface="Arial"/>
              </a:endParaRPr>
            </a:p>
          </p:txBody>
        </p:sp>
        <p:sp>
          <p:nvSpPr>
            <p:cNvPr id="1271" name="Google Shape;1271;p92"/>
            <p:cNvSpPr txBox="1"/>
            <p:nvPr/>
          </p:nvSpPr>
          <p:spPr>
            <a:xfrm>
              <a:off x="4038370" y="2031600"/>
              <a:ext cx="1396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72" name="Google Shape;1272;p92"/>
            <p:cNvSpPr txBox="1"/>
            <p:nvPr/>
          </p:nvSpPr>
          <p:spPr>
            <a:xfrm>
              <a:off x="5628505" y="2031600"/>
              <a:ext cx="1561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grpSp>
      <p:grpSp>
        <p:nvGrpSpPr>
          <p:cNvPr id="1273" name="Google Shape;1273;p92"/>
          <p:cNvGrpSpPr/>
          <p:nvPr/>
        </p:nvGrpSpPr>
        <p:grpSpPr>
          <a:xfrm>
            <a:off x="817725" y="2891250"/>
            <a:ext cx="7689761" cy="461700"/>
            <a:chOff x="817725" y="2891250"/>
            <a:chExt cx="7689761" cy="461700"/>
          </a:xfrm>
        </p:grpSpPr>
        <p:sp>
          <p:nvSpPr>
            <p:cNvPr id="1274" name="Google Shape;1274;p92"/>
            <p:cNvSpPr txBox="1"/>
            <p:nvPr/>
          </p:nvSpPr>
          <p:spPr>
            <a:xfrm>
              <a:off x="5414821" y="2891250"/>
              <a:ext cx="139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9</a:t>
              </a:r>
              <a:r>
                <a:rPr b="0" i="0" lang="en-GB" sz="1800" u="none" cap="none" strike="noStrike">
                  <a:solidFill>
                    <a:schemeClr val="dk1"/>
                  </a:solidFill>
                  <a:latin typeface="Lexend"/>
                  <a:ea typeface="Lexend"/>
                  <a:cs typeface="Lexend"/>
                  <a:sym typeface="Lexend"/>
                </a:rPr>
                <a:t>9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sp>
          <p:nvSpPr>
            <p:cNvPr id="1275" name="Google Shape;1275;p92"/>
            <p:cNvSpPr txBox="1"/>
            <p:nvPr/>
          </p:nvSpPr>
          <p:spPr>
            <a:xfrm>
              <a:off x="817725" y="2891250"/>
              <a:ext cx="139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4.99 × 10</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sp>
          <p:nvSpPr>
            <p:cNvPr id="1276" name="Google Shape;1276;p92"/>
            <p:cNvSpPr txBox="1"/>
            <p:nvPr/>
          </p:nvSpPr>
          <p:spPr>
            <a:xfrm>
              <a:off x="2350091" y="2891250"/>
              <a:ext cx="139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4 × 10</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sp>
          <p:nvSpPr>
            <p:cNvPr id="1277" name="Google Shape;1277;p92"/>
            <p:cNvSpPr txBox="1"/>
            <p:nvPr/>
          </p:nvSpPr>
          <p:spPr>
            <a:xfrm>
              <a:off x="3882456" y="2891250"/>
              <a:ext cx="139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9.8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7</a:t>
              </a:r>
              <a:endParaRPr b="0" i="0" sz="1800" u="none" cap="none" strike="noStrike">
                <a:solidFill>
                  <a:srgbClr val="000000"/>
                </a:solidFill>
                <a:latin typeface="Arial"/>
                <a:ea typeface="Arial"/>
                <a:cs typeface="Arial"/>
                <a:sym typeface="Arial"/>
              </a:endParaRPr>
            </a:p>
          </p:txBody>
        </p:sp>
        <p:sp>
          <p:nvSpPr>
            <p:cNvPr id="1278" name="Google Shape;1278;p92"/>
            <p:cNvSpPr txBox="1"/>
            <p:nvPr/>
          </p:nvSpPr>
          <p:spPr>
            <a:xfrm>
              <a:off x="6947187" y="2891250"/>
              <a:ext cx="1560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4.9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grpSp>
      <p:grpSp>
        <p:nvGrpSpPr>
          <p:cNvPr id="1279" name="Google Shape;1279;p92"/>
          <p:cNvGrpSpPr/>
          <p:nvPr/>
        </p:nvGrpSpPr>
        <p:grpSpPr>
          <a:xfrm>
            <a:off x="856646" y="3716001"/>
            <a:ext cx="7986083" cy="461700"/>
            <a:chOff x="856646" y="3716001"/>
            <a:chExt cx="7986083" cy="461700"/>
          </a:xfrm>
        </p:grpSpPr>
        <p:sp>
          <p:nvSpPr>
            <p:cNvPr id="1280" name="Google Shape;1280;p92"/>
            <p:cNvSpPr txBox="1"/>
            <p:nvPr/>
          </p:nvSpPr>
          <p:spPr>
            <a:xfrm>
              <a:off x="4196138" y="3716001"/>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9.89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sp>
          <p:nvSpPr>
            <p:cNvPr id="1281" name="Google Shape;1281;p92"/>
            <p:cNvSpPr txBox="1"/>
            <p:nvPr/>
          </p:nvSpPr>
          <p:spPr>
            <a:xfrm>
              <a:off x="7361030" y="3716001"/>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1.01 × 10</a:t>
              </a:r>
              <a:r>
                <a:rPr b="0" baseline="30000" i="0" lang="en-GB" sz="1800" u="none" cap="none" strike="noStrike">
                  <a:solidFill>
                    <a:schemeClr val="dk1"/>
                  </a:solidFill>
                  <a:latin typeface="Lexend"/>
                  <a:ea typeface="Lexend"/>
                  <a:cs typeface="Lexend"/>
                  <a:sym typeface="Lexend"/>
                </a:rPr>
                <a:t>9</a:t>
              </a:r>
              <a:endParaRPr b="0" i="0" sz="1800" u="none" cap="none" strike="noStrike">
                <a:solidFill>
                  <a:srgbClr val="000000"/>
                </a:solidFill>
                <a:latin typeface="Arial"/>
                <a:ea typeface="Arial"/>
                <a:cs typeface="Arial"/>
                <a:sym typeface="Arial"/>
              </a:endParaRPr>
            </a:p>
          </p:txBody>
        </p:sp>
        <p:sp>
          <p:nvSpPr>
            <p:cNvPr id="1282" name="Google Shape;1282;p92"/>
            <p:cNvSpPr txBox="1"/>
            <p:nvPr/>
          </p:nvSpPr>
          <p:spPr>
            <a:xfrm>
              <a:off x="2613692" y="3716001"/>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1.001 × 10</a:t>
              </a:r>
              <a:r>
                <a:rPr b="0" baseline="30000" i="0" lang="en-GB" sz="1800" u="none" cap="none" strike="noStrike">
                  <a:solidFill>
                    <a:schemeClr val="dk1"/>
                  </a:solidFill>
                  <a:latin typeface="Lexend"/>
                  <a:ea typeface="Lexend"/>
                  <a:cs typeface="Lexend"/>
                  <a:sym typeface="Lexend"/>
                </a:rPr>
                <a:t>9</a:t>
              </a:r>
              <a:endParaRPr b="0" i="0" sz="1800" u="none" cap="none" strike="noStrike">
                <a:solidFill>
                  <a:srgbClr val="000000"/>
                </a:solidFill>
                <a:latin typeface="Arial"/>
                <a:ea typeface="Arial"/>
                <a:cs typeface="Arial"/>
                <a:sym typeface="Arial"/>
              </a:endParaRPr>
            </a:p>
          </p:txBody>
        </p:sp>
        <p:sp>
          <p:nvSpPr>
            <p:cNvPr id="1283" name="Google Shape;1283;p92"/>
            <p:cNvSpPr txBox="1"/>
            <p:nvPr/>
          </p:nvSpPr>
          <p:spPr>
            <a:xfrm>
              <a:off x="5778584" y="3716001"/>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84" name="Google Shape;1284;p92"/>
            <p:cNvSpPr txBox="1"/>
            <p:nvPr/>
          </p:nvSpPr>
          <p:spPr>
            <a:xfrm>
              <a:off x="856646" y="3716001"/>
              <a:ext cx="1656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a:t>
              </a:r>
              <a:r>
                <a:rPr lang="en-GB" sz="1800">
                  <a:solidFill>
                    <a:schemeClr val="dk1"/>
                  </a:solidFill>
                  <a:latin typeface="Lexend"/>
                  <a:ea typeface="Lexend"/>
                  <a:cs typeface="Lexend"/>
                  <a:sym typeface="Lexend"/>
                </a:rPr>
                <a:t>7</a:t>
              </a:r>
              <a:r>
                <a:rPr b="0" i="0" lang="en-GB" sz="1800" u="none" cap="none" strike="noStrike">
                  <a:solidFill>
                    <a:schemeClr val="dk1"/>
                  </a:solidFill>
                  <a:latin typeface="Lexend"/>
                  <a:ea typeface="Lexend"/>
                  <a:cs typeface="Lexend"/>
                  <a:sym typeface="Lexend"/>
                </a:rPr>
                <a:t>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grpSp>
      <p:sp>
        <p:nvSpPr>
          <p:cNvPr id="1285" name="Google Shape;1285;p92"/>
          <p:cNvSpPr txBox="1"/>
          <p:nvPr/>
        </p:nvSpPr>
        <p:spPr>
          <a:xfrm>
            <a:off x="219708" y="1231200"/>
            <a:ext cx="1071600" cy="29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a)</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b)</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c)</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d)</a:t>
            </a:r>
            <a:endParaRPr sz="2300">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93"/>
          <p:cNvSpPr txBox="1"/>
          <p:nvPr>
            <p:ph idx="1" type="body"/>
          </p:nvPr>
        </p:nvSpPr>
        <p:spPr>
          <a:xfrm>
            <a:off x="324000" y="759300"/>
            <a:ext cx="8237700" cy="73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2) Put the following in ascending order in the format they are given. </a:t>
            </a:r>
            <a:endParaRPr/>
          </a:p>
          <a:p>
            <a:pPr indent="0" lvl="0" marL="0" rtl="0" algn="l">
              <a:lnSpc>
                <a:spcPct val="115000"/>
              </a:lnSpc>
              <a:spcBef>
                <a:spcPts val="1000"/>
              </a:spcBef>
              <a:spcAft>
                <a:spcPts val="1000"/>
              </a:spcAft>
              <a:buSzPts val="2200"/>
              <a:buNone/>
            </a:pPr>
            <a:r>
              <a:t/>
            </a:r>
            <a:endParaRPr/>
          </a:p>
        </p:txBody>
      </p:sp>
      <p:sp>
        <p:nvSpPr>
          <p:cNvPr id="1291" name="Google Shape;1291;p93"/>
          <p:cNvSpPr txBox="1"/>
          <p:nvPr/>
        </p:nvSpPr>
        <p:spPr>
          <a:xfrm>
            <a:off x="4131189" y="1588475"/>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0.1</a:t>
            </a:r>
            <a:endParaRPr b="0" i="0" sz="1800" u="none" cap="none" strike="noStrike">
              <a:solidFill>
                <a:srgbClr val="000000"/>
              </a:solidFill>
              <a:latin typeface="Arial"/>
              <a:ea typeface="Arial"/>
              <a:cs typeface="Arial"/>
              <a:sym typeface="Arial"/>
            </a:endParaRPr>
          </a:p>
        </p:txBody>
      </p:sp>
      <p:sp>
        <p:nvSpPr>
          <p:cNvPr id="1292" name="Google Shape;1292;p93"/>
          <p:cNvSpPr txBox="1"/>
          <p:nvPr/>
        </p:nvSpPr>
        <p:spPr>
          <a:xfrm>
            <a:off x="7215080" y="1588475"/>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90 000 </a:t>
            </a:r>
            <a:endParaRPr b="0" i="0" sz="1800" u="none" cap="none" strike="noStrike">
              <a:solidFill>
                <a:srgbClr val="000000"/>
              </a:solidFill>
              <a:latin typeface="Arial"/>
              <a:ea typeface="Arial"/>
              <a:cs typeface="Arial"/>
              <a:sym typeface="Arial"/>
            </a:endParaRPr>
          </a:p>
        </p:txBody>
      </p:sp>
      <p:sp>
        <p:nvSpPr>
          <p:cNvPr id="1293" name="Google Shape;1293;p93"/>
          <p:cNvSpPr txBox="1"/>
          <p:nvPr/>
        </p:nvSpPr>
        <p:spPr>
          <a:xfrm>
            <a:off x="924860" y="1588475"/>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1 × 10</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sp>
        <p:nvSpPr>
          <p:cNvPr id="1294" name="Google Shape;1294;p93"/>
          <p:cNvSpPr txBox="1"/>
          <p:nvPr/>
        </p:nvSpPr>
        <p:spPr>
          <a:xfrm>
            <a:off x="5708623" y="1588475"/>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8.2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95" name="Google Shape;1295;p93"/>
          <p:cNvSpPr txBox="1"/>
          <p:nvPr/>
        </p:nvSpPr>
        <p:spPr>
          <a:xfrm>
            <a:off x="2419143" y="1588475"/>
            <a:ext cx="1616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0.0089</a:t>
            </a:r>
            <a:endParaRPr b="0" i="0" sz="1800" u="none" cap="none" strike="noStrike">
              <a:solidFill>
                <a:srgbClr val="000000"/>
              </a:solidFill>
              <a:latin typeface="Arial"/>
              <a:ea typeface="Arial"/>
              <a:cs typeface="Arial"/>
              <a:sym typeface="Arial"/>
            </a:endParaRPr>
          </a:p>
        </p:txBody>
      </p:sp>
      <p:sp>
        <p:nvSpPr>
          <p:cNvPr id="1296" name="Google Shape;1296;p93"/>
          <p:cNvSpPr txBox="1"/>
          <p:nvPr/>
        </p:nvSpPr>
        <p:spPr>
          <a:xfrm>
            <a:off x="4086392" y="30944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0.0002</a:t>
            </a:r>
            <a:endParaRPr b="0" i="0" sz="1800" u="none" cap="none" strike="noStrike">
              <a:solidFill>
                <a:srgbClr val="000000"/>
              </a:solidFill>
              <a:latin typeface="Arial"/>
              <a:ea typeface="Arial"/>
              <a:cs typeface="Arial"/>
              <a:sym typeface="Arial"/>
            </a:endParaRPr>
          </a:p>
        </p:txBody>
      </p:sp>
      <p:sp>
        <p:nvSpPr>
          <p:cNvPr id="1297" name="Google Shape;1297;p93"/>
          <p:cNvSpPr txBox="1"/>
          <p:nvPr/>
        </p:nvSpPr>
        <p:spPr>
          <a:xfrm>
            <a:off x="821190" y="30944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21 000 </a:t>
            </a:r>
            <a:endParaRPr b="0" i="0" sz="1800" u="none" cap="none" strike="noStrike">
              <a:solidFill>
                <a:srgbClr val="000000"/>
              </a:solidFill>
              <a:latin typeface="Arial"/>
              <a:ea typeface="Arial"/>
              <a:cs typeface="Arial"/>
              <a:sym typeface="Arial"/>
            </a:endParaRPr>
          </a:p>
        </p:txBody>
      </p:sp>
      <p:sp>
        <p:nvSpPr>
          <p:cNvPr id="1298" name="Google Shape;1298;p93"/>
          <p:cNvSpPr txBox="1"/>
          <p:nvPr/>
        </p:nvSpPr>
        <p:spPr>
          <a:xfrm>
            <a:off x="5636629" y="30944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2.01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299" name="Google Shape;1299;p93"/>
          <p:cNvSpPr txBox="1"/>
          <p:nvPr/>
        </p:nvSpPr>
        <p:spPr>
          <a:xfrm>
            <a:off x="7239069" y="30944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0.000 078</a:t>
            </a:r>
            <a:endParaRPr b="0" i="0" sz="1800" u="none" cap="none" strike="noStrike">
              <a:solidFill>
                <a:srgbClr val="000000"/>
              </a:solidFill>
              <a:latin typeface="Arial"/>
              <a:ea typeface="Arial"/>
              <a:cs typeface="Arial"/>
              <a:sym typeface="Arial"/>
            </a:endParaRPr>
          </a:p>
        </p:txBody>
      </p:sp>
      <p:sp>
        <p:nvSpPr>
          <p:cNvPr id="1300" name="Google Shape;1300;p93"/>
          <p:cNvSpPr txBox="1"/>
          <p:nvPr/>
        </p:nvSpPr>
        <p:spPr>
          <a:xfrm>
            <a:off x="2371456" y="3094400"/>
            <a:ext cx="1563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0.000 087</a:t>
            </a:r>
            <a:endParaRPr b="0" i="0" sz="1800" u="none" cap="none" strike="noStrike">
              <a:solidFill>
                <a:srgbClr val="000000"/>
              </a:solidFill>
              <a:latin typeface="Arial"/>
              <a:ea typeface="Arial"/>
              <a:cs typeface="Arial"/>
              <a:sym typeface="Arial"/>
            </a:endParaRPr>
          </a:p>
        </p:txBody>
      </p:sp>
      <p:sp>
        <p:nvSpPr>
          <p:cNvPr id="1301" name="Google Shape;1301;p93"/>
          <p:cNvSpPr txBox="1"/>
          <p:nvPr/>
        </p:nvSpPr>
        <p:spPr>
          <a:xfrm>
            <a:off x="268185" y="1497300"/>
            <a:ext cx="478200" cy="216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a)</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b)</a:t>
            </a:r>
            <a:endParaRPr sz="2300">
              <a:solidFill>
                <a:schemeClr val="dk1"/>
              </a:solidFill>
              <a:latin typeface="Lexend"/>
              <a:ea typeface="Lexend"/>
              <a:cs typeface="Lexend"/>
              <a:sym typeface="Lexend"/>
            </a:endParaRPr>
          </a:p>
        </p:txBody>
      </p:sp>
      <p:sp>
        <p:nvSpPr>
          <p:cNvPr id="1302" name="Google Shape;1302;p93"/>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Comparing numbers in standard form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pic>
        <p:nvPicPr>
          <p:cNvPr id="1307" name="Google Shape;1307;p94"/>
          <p:cNvPicPr preferRelativeResize="0"/>
          <p:nvPr/>
        </p:nvPicPr>
        <p:blipFill>
          <a:blip r:embed="rId3">
            <a:alphaModFix/>
          </a:blip>
          <a:stretch>
            <a:fillRect/>
          </a:stretch>
        </p:blipFill>
        <p:spPr>
          <a:xfrm>
            <a:off x="3218125" y="744025"/>
            <a:ext cx="5480801" cy="2177000"/>
          </a:xfrm>
          <a:prstGeom prst="rect">
            <a:avLst/>
          </a:prstGeom>
          <a:noFill/>
          <a:ln>
            <a:noFill/>
          </a:ln>
        </p:spPr>
      </p:pic>
      <p:sp>
        <p:nvSpPr>
          <p:cNvPr id="1308" name="Google Shape;1308;p94"/>
          <p:cNvSpPr txBox="1"/>
          <p:nvPr/>
        </p:nvSpPr>
        <p:spPr>
          <a:xfrm>
            <a:off x="3776332" y="950700"/>
            <a:ext cx="4364400" cy="112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2200"/>
              <a:buFont typeface="Lexend"/>
              <a:buNone/>
            </a:pPr>
            <a:r>
              <a:rPr b="0" i="0" lang="en-GB" sz="1900" u="none" cap="none" strike="noStrike">
                <a:solidFill>
                  <a:schemeClr val="dk1"/>
                </a:solidFill>
                <a:latin typeface="Lexend"/>
                <a:ea typeface="Lexend"/>
                <a:cs typeface="Lexend"/>
                <a:sym typeface="Lexend"/>
              </a:rPr>
              <a:t>I have put the following in ascending order by ordering the exponents first and where the exponents are the same, I have ordered the number.</a:t>
            </a:r>
            <a:r>
              <a:rPr b="0" i="0" lang="en-GB" sz="2200" u="none" cap="none" strike="noStrike">
                <a:solidFill>
                  <a:schemeClr val="dk1"/>
                </a:solidFill>
                <a:latin typeface="Lexend"/>
                <a:ea typeface="Lexend"/>
                <a:cs typeface="Lexend"/>
                <a:sym typeface="Lexend"/>
              </a:rPr>
              <a:t> </a:t>
            </a:r>
            <a:endParaRPr/>
          </a:p>
        </p:txBody>
      </p:sp>
      <p:sp>
        <p:nvSpPr>
          <p:cNvPr id="1309" name="Google Shape;1309;p94"/>
          <p:cNvSpPr txBox="1"/>
          <p:nvPr/>
        </p:nvSpPr>
        <p:spPr>
          <a:xfrm>
            <a:off x="4677328" y="3159288"/>
            <a:ext cx="1611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6.2 × 10</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sp>
        <p:nvSpPr>
          <p:cNvPr id="1310" name="Google Shape;1310;p94"/>
          <p:cNvSpPr txBox="1"/>
          <p:nvPr/>
        </p:nvSpPr>
        <p:spPr>
          <a:xfrm>
            <a:off x="6493870" y="3159288"/>
            <a:ext cx="1611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0.618 × 10</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sp>
        <p:nvSpPr>
          <p:cNvPr id="1311" name="Google Shape;1311;p94"/>
          <p:cNvSpPr txBox="1"/>
          <p:nvPr/>
        </p:nvSpPr>
        <p:spPr>
          <a:xfrm>
            <a:off x="854345" y="3159288"/>
            <a:ext cx="1611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0.6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1</a:t>
            </a:r>
            <a:endParaRPr b="0" i="0" sz="1800" u="none" cap="none" strike="noStrike">
              <a:solidFill>
                <a:srgbClr val="000000"/>
              </a:solidFill>
              <a:latin typeface="Arial"/>
              <a:ea typeface="Arial"/>
              <a:cs typeface="Arial"/>
              <a:sym typeface="Arial"/>
            </a:endParaRPr>
          </a:p>
        </p:txBody>
      </p:sp>
      <p:sp>
        <p:nvSpPr>
          <p:cNvPr id="1312" name="Google Shape;1312;p94"/>
          <p:cNvSpPr txBox="1"/>
          <p:nvPr/>
        </p:nvSpPr>
        <p:spPr>
          <a:xfrm>
            <a:off x="2670887" y="3159288"/>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 × 10</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pic>
        <p:nvPicPr>
          <p:cNvPr id="1313" name="Google Shape;1313;p94"/>
          <p:cNvPicPr preferRelativeResize="0"/>
          <p:nvPr/>
        </p:nvPicPr>
        <p:blipFill>
          <a:blip r:embed="rId4">
            <a:alphaModFix/>
          </a:blip>
          <a:stretch>
            <a:fillRect/>
          </a:stretch>
        </p:blipFill>
        <p:spPr>
          <a:xfrm>
            <a:off x="2040677" y="1513827"/>
            <a:ext cx="807750" cy="1057915"/>
          </a:xfrm>
          <a:prstGeom prst="rect">
            <a:avLst/>
          </a:prstGeom>
          <a:noFill/>
          <a:ln>
            <a:noFill/>
          </a:ln>
        </p:spPr>
      </p:pic>
      <p:sp>
        <p:nvSpPr>
          <p:cNvPr id="1314" name="Google Shape;1314;p94"/>
          <p:cNvSpPr txBox="1"/>
          <p:nvPr/>
        </p:nvSpPr>
        <p:spPr>
          <a:xfrm>
            <a:off x="2001900" y="26240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sz="1800">
              <a:latin typeface="Lexend"/>
              <a:ea typeface="Lexend"/>
              <a:cs typeface="Lexend"/>
              <a:sym typeface="Lexend"/>
            </a:endParaRPr>
          </a:p>
        </p:txBody>
      </p:sp>
      <p:sp>
        <p:nvSpPr>
          <p:cNvPr id="1315" name="Google Shape;1315;p94"/>
          <p:cNvSpPr txBox="1"/>
          <p:nvPr>
            <p:ph idx="1" type="body"/>
          </p:nvPr>
        </p:nvSpPr>
        <p:spPr>
          <a:xfrm>
            <a:off x="324000" y="759300"/>
            <a:ext cx="8312100" cy="3228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3) Laura says</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rPr lang="en-GB"/>
              <a:t>Explain why Laura has not correctly ordered the numbers. </a:t>
            </a:r>
            <a:endParaRPr/>
          </a:p>
          <a:p>
            <a:pPr indent="0" lvl="0" marL="0" rtl="0" algn="l">
              <a:lnSpc>
                <a:spcPct val="115000"/>
              </a:lnSpc>
              <a:spcBef>
                <a:spcPts val="1000"/>
              </a:spcBef>
              <a:spcAft>
                <a:spcPts val="1000"/>
              </a:spcAft>
              <a:buSzPts val="2200"/>
              <a:buNone/>
            </a:pPr>
            <a:r>
              <a:t/>
            </a:r>
            <a:endParaRPr/>
          </a:p>
        </p:txBody>
      </p:sp>
      <p:sp>
        <p:nvSpPr>
          <p:cNvPr id="1316" name="Google Shape;1316;p94"/>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Comparing numbers in standard form</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95"/>
          <p:cNvSpPr txBox="1"/>
          <p:nvPr>
            <p:ph idx="4294967295" type="body"/>
          </p:nvPr>
        </p:nvSpPr>
        <p:spPr>
          <a:xfrm>
            <a:off x="324000" y="759300"/>
            <a:ext cx="8237700" cy="56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1) Put the following in ascending order, smallest to largest. </a:t>
            </a:r>
            <a:endParaRPr/>
          </a:p>
          <a:p>
            <a:pPr indent="0" lvl="0" marL="0" rtl="0" algn="l">
              <a:lnSpc>
                <a:spcPct val="115000"/>
              </a:lnSpc>
              <a:spcBef>
                <a:spcPts val="1000"/>
              </a:spcBef>
              <a:spcAft>
                <a:spcPts val="1000"/>
              </a:spcAft>
              <a:buSzPts val="2200"/>
              <a:buNone/>
            </a:pPr>
            <a:r>
              <a:t/>
            </a:r>
            <a:endParaRPr/>
          </a:p>
        </p:txBody>
      </p:sp>
      <p:grpSp>
        <p:nvGrpSpPr>
          <p:cNvPr id="1322" name="Google Shape;1322;p95"/>
          <p:cNvGrpSpPr/>
          <p:nvPr/>
        </p:nvGrpSpPr>
        <p:grpSpPr>
          <a:xfrm>
            <a:off x="628775" y="1339775"/>
            <a:ext cx="8130251" cy="461700"/>
            <a:chOff x="628775" y="1339775"/>
            <a:chExt cx="8130251" cy="461700"/>
          </a:xfrm>
        </p:grpSpPr>
        <p:sp>
          <p:nvSpPr>
            <p:cNvPr id="1323" name="Google Shape;1323;p95"/>
            <p:cNvSpPr txBox="1"/>
            <p:nvPr/>
          </p:nvSpPr>
          <p:spPr>
            <a:xfrm>
              <a:off x="4047885" y="1339775"/>
              <a:ext cx="1464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4 × 10</a:t>
              </a:r>
              <a:r>
                <a:rPr baseline="30000" i="0" lang="en-GB" sz="1800" u="none" cap="none" strike="noStrike">
                  <a:solidFill>
                    <a:schemeClr val="dk1"/>
                  </a:solidFill>
                  <a:latin typeface="Kalam"/>
                  <a:ea typeface="Kalam"/>
                  <a:cs typeface="Kalam"/>
                  <a:sym typeface="Kalam"/>
                </a:rPr>
                <a:t>11</a:t>
              </a:r>
              <a:endParaRPr i="0" sz="1800" u="none" cap="none" strike="noStrike">
                <a:solidFill>
                  <a:srgbClr val="000000"/>
                </a:solidFill>
                <a:latin typeface="Kalam"/>
                <a:ea typeface="Kalam"/>
                <a:cs typeface="Kalam"/>
                <a:sym typeface="Kalam"/>
              </a:endParaRPr>
            </a:p>
          </p:txBody>
        </p:sp>
        <p:sp>
          <p:nvSpPr>
            <p:cNvPr id="1324" name="Google Shape;1324;p95"/>
            <p:cNvSpPr txBox="1"/>
            <p:nvPr/>
          </p:nvSpPr>
          <p:spPr>
            <a:xfrm>
              <a:off x="7294426" y="1339775"/>
              <a:ext cx="1464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1 × 10</a:t>
              </a:r>
              <a:r>
                <a:rPr baseline="30000" i="0" lang="en-GB" sz="1800" u="none" cap="none" strike="noStrike">
                  <a:solidFill>
                    <a:schemeClr val="dk1"/>
                  </a:solidFill>
                  <a:latin typeface="Kalam"/>
                  <a:ea typeface="Kalam"/>
                  <a:cs typeface="Kalam"/>
                  <a:sym typeface="Kalam"/>
                </a:rPr>
                <a:t>13</a:t>
              </a:r>
              <a:endParaRPr i="0" sz="1800" u="none" cap="none" strike="noStrike">
                <a:solidFill>
                  <a:srgbClr val="000000"/>
                </a:solidFill>
                <a:latin typeface="Kalam"/>
                <a:ea typeface="Kalam"/>
                <a:cs typeface="Kalam"/>
                <a:sym typeface="Kalam"/>
              </a:endParaRPr>
            </a:p>
          </p:txBody>
        </p:sp>
        <p:sp>
          <p:nvSpPr>
            <p:cNvPr id="1325" name="Google Shape;1325;p95"/>
            <p:cNvSpPr txBox="1"/>
            <p:nvPr/>
          </p:nvSpPr>
          <p:spPr>
            <a:xfrm>
              <a:off x="5671156" y="1339775"/>
              <a:ext cx="1464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3 × 10</a:t>
              </a:r>
              <a:r>
                <a:rPr baseline="30000" i="0" lang="en-GB" sz="1800" u="none" cap="none" strike="noStrike">
                  <a:solidFill>
                    <a:schemeClr val="dk1"/>
                  </a:solidFill>
                  <a:latin typeface="Kalam"/>
                  <a:ea typeface="Kalam"/>
                  <a:cs typeface="Kalam"/>
                  <a:sym typeface="Kalam"/>
                </a:rPr>
                <a:t>12</a:t>
              </a:r>
              <a:endParaRPr i="0" sz="1800" u="none" cap="none" strike="noStrike">
                <a:solidFill>
                  <a:srgbClr val="000000"/>
                </a:solidFill>
                <a:latin typeface="Kalam"/>
                <a:ea typeface="Kalam"/>
                <a:cs typeface="Kalam"/>
                <a:sym typeface="Kalam"/>
              </a:endParaRPr>
            </a:p>
          </p:txBody>
        </p:sp>
        <p:sp>
          <p:nvSpPr>
            <p:cNvPr id="1326" name="Google Shape;1326;p95"/>
            <p:cNvSpPr txBox="1"/>
            <p:nvPr/>
          </p:nvSpPr>
          <p:spPr>
            <a:xfrm>
              <a:off x="628775" y="1339775"/>
              <a:ext cx="1464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9 × 10</a:t>
              </a:r>
              <a:r>
                <a:rPr baseline="30000" i="0" lang="en-GB" sz="1800" u="none" cap="none" strike="noStrike">
                  <a:solidFill>
                    <a:schemeClr val="dk1"/>
                  </a:solidFill>
                  <a:latin typeface="Kalam"/>
                  <a:ea typeface="Kalam"/>
                  <a:cs typeface="Kalam"/>
                  <a:sym typeface="Kalam"/>
                </a:rPr>
                <a:t>9</a:t>
              </a:r>
              <a:endParaRPr i="0" sz="1800" u="none" cap="none" strike="noStrike">
                <a:solidFill>
                  <a:srgbClr val="000000"/>
                </a:solidFill>
                <a:latin typeface="Kalam"/>
                <a:ea typeface="Kalam"/>
                <a:cs typeface="Kalam"/>
                <a:sym typeface="Kalam"/>
              </a:endParaRPr>
            </a:p>
          </p:txBody>
        </p:sp>
        <p:sp>
          <p:nvSpPr>
            <p:cNvPr id="1327" name="Google Shape;1327;p95"/>
            <p:cNvSpPr txBox="1"/>
            <p:nvPr/>
          </p:nvSpPr>
          <p:spPr>
            <a:xfrm>
              <a:off x="2252045" y="1339775"/>
              <a:ext cx="16371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 × 10</a:t>
              </a:r>
              <a:r>
                <a:rPr baseline="30000" i="0" lang="en-GB" sz="1800" u="none" cap="none" strike="noStrike">
                  <a:solidFill>
                    <a:schemeClr val="dk1"/>
                  </a:solidFill>
                  <a:latin typeface="Kalam"/>
                  <a:ea typeface="Kalam"/>
                  <a:cs typeface="Kalam"/>
                  <a:sym typeface="Kalam"/>
                </a:rPr>
                <a:t>10</a:t>
              </a:r>
              <a:endParaRPr i="0" sz="1800" u="none" cap="none" strike="noStrike">
                <a:solidFill>
                  <a:srgbClr val="000000"/>
                </a:solidFill>
                <a:latin typeface="Kalam"/>
                <a:ea typeface="Kalam"/>
                <a:cs typeface="Kalam"/>
                <a:sym typeface="Kalam"/>
              </a:endParaRPr>
            </a:p>
          </p:txBody>
        </p:sp>
      </p:grpSp>
      <p:grpSp>
        <p:nvGrpSpPr>
          <p:cNvPr id="1328" name="Google Shape;1328;p95"/>
          <p:cNvGrpSpPr/>
          <p:nvPr/>
        </p:nvGrpSpPr>
        <p:grpSpPr>
          <a:xfrm>
            <a:off x="618450" y="2136275"/>
            <a:ext cx="8140454" cy="461700"/>
            <a:chOff x="618450" y="2136275"/>
            <a:chExt cx="8140454" cy="461700"/>
          </a:xfrm>
        </p:grpSpPr>
        <p:sp>
          <p:nvSpPr>
            <p:cNvPr id="1329" name="Google Shape;1329;p95"/>
            <p:cNvSpPr txBox="1"/>
            <p:nvPr/>
          </p:nvSpPr>
          <p:spPr>
            <a:xfrm>
              <a:off x="4041871" y="2136275"/>
              <a:ext cx="146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2.3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1</a:t>
              </a:r>
              <a:endParaRPr i="0" sz="1800" u="none" cap="none" strike="noStrike">
                <a:solidFill>
                  <a:srgbClr val="000000"/>
                </a:solidFill>
                <a:latin typeface="Kalam"/>
                <a:ea typeface="Kalam"/>
                <a:cs typeface="Kalam"/>
                <a:sym typeface="Kalam"/>
              </a:endParaRPr>
            </a:p>
          </p:txBody>
        </p:sp>
        <p:sp>
          <p:nvSpPr>
            <p:cNvPr id="1330" name="Google Shape;1330;p95"/>
            <p:cNvSpPr txBox="1"/>
            <p:nvPr/>
          </p:nvSpPr>
          <p:spPr>
            <a:xfrm>
              <a:off x="7292504" y="2136275"/>
              <a:ext cx="146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2.3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331" name="Google Shape;1331;p95"/>
            <p:cNvSpPr txBox="1"/>
            <p:nvPr/>
          </p:nvSpPr>
          <p:spPr>
            <a:xfrm>
              <a:off x="5667188" y="2136275"/>
              <a:ext cx="146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2.3 × 10</a:t>
              </a:r>
              <a:endParaRPr i="0" sz="1800" u="none" cap="none" strike="noStrike">
                <a:solidFill>
                  <a:srgbClr val="000000"/>
                </a:solidFill>
                <a:latin typeface="Kalam"/>
                <a:ea typeface="Kalam"/>
                <a:cs typeface="Kalam"/>
                <a:sym typeface="Kalam"/>
              </a:endParaRPr>
            </a:p>
          </p:txBody>
        </p:sp>
        <p:sp>
          <p:nvSpPr>
            <p:cNvPr id="1332" name="Google Shape;1332;p95"/>
            <p:cNvSpPr txBox="1"/>
            <p:nvPr/>
          </p:nvSpPr>
          <p:spPr>
            <a:xfrm>
              <a:off x="618450" y="2136275"/>
              <a:ext cx="1466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2.3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333" name="Google Shape;1333;p95"/>
            <p:cNvSpPr txBox="1"/>
            <p:nvPr/>
          </p:nvSpPr>
          <p:spPr>
            <a:xfrm>
              <a:off x="2243767" y="2136275"/>
              <a:ext cx="1639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2.3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3</a:t>
              </a:r>
              <a:endParaRPr i="0" sz="1800" u="none" cap="none" strike="noStrike">
                <a:solidFill>
                  <a:srgbClr val="000000"/>
                </a:solidFill>
                <a:latin typeface="Kalam"/>
                <a:ea typeface="Kalam"/>
                <a:cs typeface="Kalam"/>
                <a:sym typeface="Kalam"/>
              </a:endParaRPr>
            </a:p>
          </p:txBody>
        </p:sp>
      </p:grpSp>
      <p:grpSp>
        <p:nvGrpSpPr>
          <p:cNvPr id="1334" name="Google Shape;1334;p95"/>
          <p:cNvGrpSpPr/>
          <p:nvPr/>
        </p:nvGrpSpPr>
        <p:grpSpPr>
          <a:xfrm>
            <a:off x="627300" y="2954400"/>
            <a:ext cx="8096485" cy="461700"/>
            <a:chOff x="627300" y="2954400"/>
            <a:chExt cx="8096485" cy="461700"/>
          </a:xfrm>
        </p:grpSpPr>
        <p:sp>
          <p:nvSpPr>
            <p:cNvPr id="1335" name="Google Shape;1335;p95"/>
            <p:cNvSpPr txBox="1"/>
            <p:nvPr/>
          </p:nvSpPr>
          <p:spPr>
            <a:xfrm>
              <a:off x="4032322" y="2954400"/>
              <a:ext cx="1458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4.</a:t>
              </a:r>
              <a:r>
                <a:rPr lang="en-GB" sz="1800">
                  <a:solidFill>
                    <a:schemeClr val="dk1"/>
                  </a:solidFill>
                  <a:latin typeface="Kalam"/>
                  <a:ea typeface="Kalam"/>
                  <a:cs typeface="Kalam"/>
                  <a:sym typeface="Kalam"/>
                </a:rPr>
                <a:t>9</a:t>
              </a:r>
              <a:r>
                <a:rPr i="0" lang="en-GB" sz="1800" u="none" cap="none" strike="noStrike">
                  <a:solidFill>
                    <a:schemeClr val="dk1"/>
                  </a:solidFill>
                  <a:latin typeface="Kalam"/>
                  <a:ea typeface="Kalam"/>
                  <a:cs typeface="Kalam"/>
                  <a:sym typeface="Kalam"/>
                </a:rPr>
                <a:t>9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6</a:t>
              </a:r>
              <a:endParaRPr i="0" sz="1800" u="none" cap="none" strike="noStrike">
                <a:solidFill>
                  <a:srgbClr val="000000"/>
                </a:solidFill>
                <a:latin typeface="Kalam"/>
                <a:ea typeface="Kalam"/>
                <a:cs typeface="Kalam"/>
                <a:sym typeface="Kalam"/>
              </a:endParaRPr>
            </a:p>
          </p:txBody>
        </p:sp>
        <p:sp>
          <p:nvSpPr>
            <p:cNvPr id="1336" name="Google Shape;1336;p95"/>
            <p:cNvSpPr txBox="1"/>
            <p:nvPr/>
          </p:nvSpPr>
          <p:spPr>
            <a:xfrm>
              <a:off x="7265485" y="2954400"/>
              <a:ext cx="1458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4.99 × 10</a:t>
              </a:r>
              <a:r>
                <a:rPr baseline="30000" i="0" lang="en-GB" sz="1800" u="none" cap="none" strike="noStrike">
                  <a:solidFill>
                    <a:schemeClr val="dk1"/>
                  </a:solidFill>
                  <a:latin typeface="Kalam"/>
                  <a:ea typeface="Kalam"/>
                  <a:cs typeface="Kalam"/>
                  <a:sym typeface="Kalam"/>
                </a:rPr>
                <a:t>6</a:t>
              </a:r>
              <a:endParaRPr i="0" sz="1800" u="none" cap="none" strike="noStrike">
                <a:solidFill>
                  <a:srgbClr val="000000"/>
                </a:solidFill>
                <a:latin typeface="Kalam"/>
                <a:ea typeface="Kalam"/>
                <a:cs typeface="Kalam"/>
                <a:sym typeface="Kalam"/>
              </a:endParaRPr>
            </a:p>
          </p:txBody>
        </p:sp>
        <p:sp>
          <p:nvSpPr>
            <p:cNvPr id="1337" name="Google Shape;1337;p95"/>
            <p:cNvSpPr txBox="1"/>
            <p:nvPr/>
          </p:nvSpPr>
          <p:spPr>
            <a:xfrm>
              <a:off x="5648904" y="2954400"/>
              <a:ext cx="1458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4 × 10</a:t>
              </a:r>
              <a:r>
                <a:rPr baseline="30000" i="0" lang="en-GB" sz="1800" u="none" cap="none" strike="noStrike">
                  <a:solidFill>
                    <a:schemeClr val="dk1"/>
                  </a:solidFill>
                  <a:latin typeface="Kalam"/>
                  <a:ea typeface="Kalam"/>
                  <a:cs typeface="Kalam"/>
                  <a:sym typeface="Kalam"/>
                </a:rPr>
                <a:t>6</a:t>
              </a:r>
              <a:endParaRPr i="0" sz="1800" u="none" cap="none" strike="noStrike">
                <a:solidFill>
                  <a:srgbClr val="000000"/>
                </a:solidFill>
                <a:latin typeface="Kalam"/>
                <a:ea typeface="Kalam"/>
                <a:cs typeface="Kalam"/>
                <a:sym typeface="Kalam"/>
              </a:endParaRPr>
            </a:p>
          </p:txBody>
        </p:sp>
        <p:sp>
          <p:nvSpPr>
            <p:cNvPr id="1338" name="Google Shape;1338;p95"/>
            <p:cNvSpPr txBox="1"/>
            <p:nvPr/>
          </p:nvSpPr>
          <p:spPr>
            <a:xfrm>
              <a:off x="627300" y="2954400"/>
              <a:ext cx="1458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9.8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7</a:t>
              </a:r>
              <a:endParaRPr i="0" sz="1800" u="none" cap="none" strike="noStrike">
                <a:solidFill>
                  <a:srgbClr val="000000"/>
                </a:solidFill>
                <a:latin typeface="Kalam"/>
                <a:ea typeface="Kalam"/>
                <a:cs typeface="Kalam"/>
                <a:sym typeface="Kalam"/>
              </a:endParaRPr>
            </a:p>
          </p:txBody>
        </p:sp>
        <p:sp>
          <p:nvSpPr>
            <p:cNvPr id="1339" name="Google Shape;1339;p95"/>
            <p:cNvSpPr txBox="1"/>
            <p:nvPr/>
          </p:nvSpPr>
          <p:spPr>
            <a:xfrm>
              <a:off x="2243881" y="2954400"/>
              <a:ext cx="1630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4.9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6</a:t>
              </a:r>
              <a:endParaRPr i="0" sz="1800" u="none" cap="none" strike="noStrike">
                <a:solidFill>
                  <a:srgbClr val="000000"/>
                </a:solidFill>
                <a:latin typeface="Kalam"/>
                <a:ea typeface="Kalam"/>
                <a:cs typeface="Kalam"/>
                <a:sym typeface="Kalam"/>
              </a:endParaRPr>
            </a:p>
          </p:txBody>
        </p:sp>
      </p:grpSp>
      <p:grpSp>
        <p:nvGrpSpPr>
          <p:cNvPr id="1340" name="Google Shape;1340;p95"/>
          <p:cNvGrpSpPr/>
          <p:nvPr/>
        </p:nvGrpSpPr>
        <p:grpSpPr>
          <a:xfrm>
            <a:off x="616975" y="3750900"/>
            <a:ext cx="8106927" cy="461700"/>
            <a:chOff x="616975" y="3750900"/>
            <a:chExt cx="8106927" cy="461700"/>
          </a:xfrm>
        </p:grpSpPr>
        <p:sp>
          <p:nvSpPr>
            <p:cNvPr id="1341" name="Google Shape;1341;p95"/>
            <p:cNvSpPr txBox="1"/>
            <p:nvPr/>
          </p:nvSpPr>
          <p:spPr>
            <a:xfrm>
              <a:off x="4026189" y="3750900"/>
              <a:ext cx="1460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9.89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2</a:t>
              </a:r>
              <a:endParaRPr i="0" sz="1800" u="none" cap="none" strike="noStrike">
                <a:solidFill>
                  <a:srgbClr val="000000"/>
                </a:solidFill>
                <a:latin typeface="Kalam"/>
                <a:ea typeface="Kalam"/>
                <a:cs typeface="Kalam"/>
                <a:sym typeface="Kalam"/>
              </a:endParaRPr>
            </a:p>
          </p:txBody>
        </p:sp>
        <p:sp>
          <p:nvSpPr>
            <p:cNvPr id="1342" name="Google Shape;1342;p95"/>
            <p:cNvSpPr txBox="1"/>
            <p:nvPr/>
          </p:nvSpPr>
          <p:spPr>
            <a:xfrm>
              <a:off x="7263502" y="3750900"/>
              <a:ext cx="1460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1.01 × 10</a:t>
              </a:r>
              <a:r>
                <a:rPr baseline="30000" i="0" lang="en-GB" sz="1800" u="none" cap="none" strike="noStrike">
                  <a:solidFill>
                    <a:schemeClr val="dk1"/>
                  </a:solidFill>
                  <a:latin typeface="Kalam"/>
                  <a:ea typeface="Kalam"/>
                  <a:cs typeface="Kalam"/>
                  <a:sym typeface="Kalam"/>
                </a:rPr>
                <a:t>9</a:t>
              </a:r>
              <a:endParaRPr i="0" sz="1800" u="none" cap="none" strike="noStrike">
                <a:solidFill>
                  <a:srgbClr val="000000"/>
                </a:solidFill>
                <a:latin typeface="Kalam"/>
                <a:ea typeface="Kalam"/>
                <a:cs typeface="Kalam"/>
                <a:sym typeface="Kalam"/>
              </a:endParaRPr>
            </a:p>
          </p:txBody>
        </p:sp>
        <p:sp>
          <p:nvSpPr>
            <p:cNvPr id="1343" name="Google Shape;1343;p95"/>
            <p:cNvSpPr txBox="1"/>
            <p:nvPr/>
          </p:nvSpPr>
          <p:spPr>
            <a:xfrm>
              <a:off x="5644845" y="3750900"/>
              <a:ext cx="1460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1.001 × 10</a:t>
              </a:r>
              <a:r>
                <a:rPr baseline="30000" i="0" lang="en-GB" sz="1800" u="none" cap="none" strike="noStrike">
                  <a:solidFill>
                    <a:schemeClr val="dk1"/>
                  </a:solidFill>
                  <a:latin typeface="Kalam"/>
                  <a:ea typeface="Kalam"/>
                  <a:cs typeface="Kalam"/>
                  <a:sym typeface="Kalam"/>
                </a:rPr>
                <a:t>9</a:t>
              </a:r>
              <a:endParaRPr i="0" sz="1800" u="none" cap="none" strike="noStrike">
                <a:solidFill>
                  <a:srgbClr val="000000"/>
                </a:solidFill>
                <a:latin typeface="Kalam"/>
                <a:ea typeface="Kalam"/>
                <a:cs typeface="Kalam"/>
                <a:sym typeface="Kalam"/>
              </a:endParaRPr>
            </a:p>
          </p:txBody>
        </p:sp>
        <p:sp>
          <p:nvSpPr>
            <p:cNvPr id="1344" name="Google Shape;1344;p95"/>
            <p:cNvSpPr txBox="1"/>
            <p:nvPr/>
          </p:nvSpPr>
          <p:spPr>
            <a:xfrm>
              <a:off x="616975" y="3750900"/>
              <a:ext cx="14604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1.5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345" name="Google Shape;1345;p95"/>
            <p:cNvSpPr txBox="1"/>
            <p:nvPr/>
          </p:nvSpPr>
          <p:spPr>
            <a:xfrm>
              <a:off x="2235632" y="3750900"/>
              <a:ext cx="1632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9.</a:t>
              </a:r>
              <a:r>
                <a:rPr lang="en-GB" sz="1800">
                  <a:solidFill>
                    <a:schemeClr val="dk1"/>
                  </a:solidFill>
                  <a:latin typeface="Kalam"/>
                  <a:ea typeface="Kalam"/>
                  <a:cs typeface="Kalam"/>
                  <a:sym typeface="Kalam"/>
                </a:rPr>
                <a:t>7</a:t>
              </a:r>
              <a:r>
                <a:rPr i="0" lang="en-GB" sz="1800" u="none" cap="none" strike="noStrike">
                  <a:solidFill>
                    <a:schemeClr val="dk1"/>
                  </a:solidFill>
                  <a:latin typeface="Kalam"/>
                  <a:ea typeface="Kalam"/>
                  <a:cs typeface="Kalam"/>
                  <a:sym typeface="Kalam"/>
                </a:rPr>
                <a:t>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2</a:t>
              </a:r>
              <a:endParaRPr i="0" sz="1800" u="none" cap="none" strike="noStrike">
                <a:solidFill>
                  <a:srgbClr val="000000"/>
                </a:solidFill>
                <a:latin typeface="Kalam"/>
                <a:ea typeface="Kalam"/>
                <a:cs typeface="Kalam"/>
                <a:sym typeface="Kalam"/>
              </a:endParaRPr>
            </a:p>
          </p:txBody>
        </p:sp>
      </p:grpSp>
      <p:sp>
        <p:nvSpPr>
          <p:cNvPr id="1346" name="Google Shape;1346;p95"/>
          <p:cNvSpPr txBox="1"/>
          <p:nvPr/>
        </p:nvSpPr>
        <p:spPr>
          <a:xfrm>
            <a:off x="219709" y="1231200"/>
            <a:ext cx="736500" cy="29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a)</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b)</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c)</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d)</a:t>
            </a:r>
            <a:endParaRPr sz="2300">
              <a:solidFill>
                <a:schemeClr val="dk1"/>
              </a:solidFill>
              <a:latin typeface="Lexend"/>
              <a:ea typeface="Lexend"/>
              <a:cs typeface="Lexend"/>
              <a:sym typeface="Lexend"/>
            </a:endParaRPr>
          </a:p>
        </p:txBody>
      </p:sp>
      <p:grpSp>
        <p:nvGrpSpPr>
          <p:cNvPr id="1347" name="Google Shape;1347;p95"/>
          <p:cNvGrpSpPr/>
          <p:nvPr/>
        </p:nvGrpSpPr>
        <p:grpSpPr>
          <a:xfrm>
            <a:off x="719445" y="1336850"/>
            <a:ext cx="7963372" cy="461700"/>
            <a:chOff x="760511" y="1269425"/>
            <a:chExt cx="8180986" cy="461700"/>
          </a:xfrm>
        </p:grpSpPr>
        <p:sp>
          <p:nvSpPr>
            <p:cNvPr id="1348" name="Google Shape;1348;p95"/>
            <p:cNvSpPr txBox="1"/>
            <p:nvPr/>
          </p:nvSpPr>
          <p:spPr>
            <a:xfrm>
              <a:off x="4022854" y="1269425"/>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4 × 10</a:t>
              </a:r>
              <a:r>
                <a:rPr b="0" baseline="30000" i="0" lang="en-GB" sz="1800" u="none" cap="none" strike="noStrike">
                  <a:solidFill>
                    <a:schemeClr val="dk1"/>
                  </a:solidFill>
                  <a:latin typeface="Lexend"/>
                  <a:ea typeface="Lexend"/>
                  <a:cs typeface="Lexend"/>
                  <a:sym typeface="Lexend"/>
                </a:rPr>
                <a:t>11</a:t>
              </a:r>
              <a:endParaRPr b="0" i="0" sz="1800" u="none" cap="none" strike="noStrike">
                <a:solidFill>
                  <a:srgbClr val="000000"/>
                </a:solidFill>
                <a:latin typeface="Arial"/>
                <a:ea typeface="Arial"/>
                <a:cs typeface="Arial"/>
                <a:sym typeface="Arial"/>
              </a:endParaRPr>
            </a:p>
          </p:txBody>
        </p:sp>
        <p:sp>
          <p:nvSpPr>
            <p:cNvPr id="1349" name="Google Shape;1349;p95"/>
            <p:cNvSpPr txBox="1"/>
            <p:nvPr/>
          </p:nvSpPr>
          <p:spPr>
            <a:xfrm>
              <a:off x="2391683" y="1269425"/>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 × 10</a:t>
              </a:r>
              <a:r>
                <a:rPr b="0" baseline="30000" i="0" lang="en-GB" sz="1800" u="none" cap="none" strike="noStrike">
                  <a:solidFill>
                    <a:schemeClr val="dk1"/>
                  </a:solidFill>
                  <a:latin typeface="Lexend"/>
                  <a:ea typeface="Lexend"/>
                  <a:cs typeface="Lexend"/>
                  <a:sym typeface="Lexend"/>
                </a:rPr>
                <a:t>13</a:t>
              </a:r>
              <a:endParaRPr b="0" i="0" sz="1800" u="none" cap="none" strike="noStrike">
                <a:solidFill>
                  <a:srgbClr val="000000"/>
                </a:solidFill>
                <a:latin typeface="Arial"/>
                <a:ea typeface="Arial"/>
                <a:cs typeface="Arial"/>
                <a:sym typeface="Arial"/>
              </a:endParaRPr>
            </a:p>
          </p:txBody>
        </p:sp>
        <p:sp>
          <p:nvSpPr>
            <p:cNvPr id="1350" name="Google Shape;1350;p95"/>
            <p:cNvSpPr txBox="1"/>
            <p:nvPr/>
          </p:nvSpPr>
          <p:spPr>
            <a:xfrm>
              <a:off x="760511" y="1269425"/>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3 × 10</a:t>
              </a:r>
              <a:r>
                <a:rPr b="0" baseline="30000" i="0" lang="en-GB" sz="1800" u="none" cap="none" strike="noStrike">
                  <a:solidFill>
                    <a:schemeClr val="dk1"/>
                  </a:solidFill>
                  <a:latin typeface="Lexend"/>
                  <a:ea typeface="Lexend"/>
                  <a:cs typeface="Lexend"/>
                  <a:sym typeface="Lexend"/>
                </a:rPr>
                <a:t>12</a:t>
              </a:r>
              <a:endParaRPr b="0" i="0" sz="1800" u="none" cap="none" strike="noStrike">
                <a:solidFill>
                  <a:srgbClr val="000000"/>
                </a:solidFill>
                <a:latin typeface="Arial"/>
                <a:ea typeface="Arial"/>
                <a:cs typeface="Arial"/>
                <a:sym typeface="Arial"/>
              </a:endParaRPr>
            </a:p>
          </p:txBody>
        </p:sp>
        <p:sp>
          <p:nvSpPr>
            <p:cNvPr id="1351" name="Google Shape;1351;p95"/>
            <p:cNvSpPr txBox="1"/>
            <p:nvPr/>
          </p:nvSpPr>
          <p:spPr>
            <a:xfrm>
              <a:off x="7459798" y="1269425"/>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 × 10</a:t>
              </a:r>
              <a:r>
                <a:rPr b="0" baseline="30000" i="0" lang="en-GB" sz="1800" u="none" cap="none" strike="noStrike">
                  <a:solidFill>
                    <a:schemeClr val="dk1"/>
                  </a:solidFill>
                  <a:latin typeface="Lexend"/>
                  <a:ea typeface="Lexend"/>
                  <a:cs typeface="Lexend"/>
                  <a:sym typeface="Lexend"/>
                </a:rPr>
                <a:t>9</a:t>
              </a:r>
              <a:endParaRPr b="0" i="0" sz="1800" u="none" cap="none" strike="noStrike">
                <a:solidFill>
                  <a:srgbClr val="000000"/>
                </a:solidFill>
                <a:latin typeface="Arial"/>
                <a:ea typeface="Arial"/>
                <a:cs typeface="Arial"/>
                <a:sym typeface="Arial"/>
              </a:endParaRPr>
            </a:p>
          </p:txBody>
        </p:sp>
        <p:sp>
          <p:nvSpPr>
            <p:cNvPr id="1352" name="Google Shape;1352;p95"/>
            <p:cNvSpPr txBox="1"/>
            <p:nvPr/>
          </p:nvSpPr>
          <p:spPr>
            <a:xfrm>
              <a:off x="5654026" y="1269425"/>
              <a:ext cx="1656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 × 10</a:t>
              </a:r>
              <a:r>
                <a:rPr b="0" baseline="30000" i="0" lang="en-GB" sz="1800" u="none" cap="none" strike="noStrike">
                  <a:solidFill>
                    <a:schemeClr val="dk1"/>
                  </a:solidFill>
                  <a:latin typeface="Lexend"/>
                  <a:ea typeface="Lexend"/>
                  <a:cs typeface="Lexend"/>
                  <a:sym typeface="Lexend"/>
                </a:rPr>
                <a:t>10</a:t>
              </a:r>
              <a:endParaRPr b="0" i="0" sz="1800" u="none" cap="none" strike="noStrike">
                <a:solidFill>
                  <a:srgbClr val="000000"/>
                </a:solidFill>
                <a:latin typeface="Arial"/>
                <a:ea typeface="Arial"/>
                <a:cs typeface="Arial"/>
                <a:sym typeface="Arial"/>
              </a:endParaRPr>
            </a:p>
          </p:txBody>
        </p:sp>
      </p:grpSp>
      <p:grpSp>
        <p:nvGrpSpPr>
          <p:cNvPr id="1353" name="Google Shape;1353;p95"/>
          <p:cNvGrpSpPr/>
          <p:nvPr/>
        </p:nvGrpSpPr>
        <p:grpSpPr>
          <a:xfrm>
            <a:off x="656938" y="2100600"/>
            <a:ext cx="7921518" cy="461700"/>
            <a:chOff x="858100" y="2031600"/>
            <a:chExt cx="7921518" cy="461700"/>
          </a:xfrm>
        </p:grpSpPr>
        <p:sp>
          <p:nvSpPr>
            <p:cNvPr id="1354" name="Google Shape;1354;p95"/>
            <p:cNvSpPr txBox="1"/>
            <p:nvPr/>
          </p:nvSpPr>
          <p:spPr>
            <a:xfrm>
              <a:off x="2448235" y="2031600"/>
              <a:ext cx="1396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1</a:t>
              </a:r>
              <a:endParaRPr b="0" i="0" sz="1800" u="none" cap="none" strike="noStrike">
                <a:solidFill>
                  <a:srgbClr val="000000"/>
                </a:solidFill>
                <a:latin typeface="Arial"/>
                <a:ea typeface="Arial"/>
                <a:cs typeface="Arial"/>
                <a:sym typeface="Arial"/>
              </a:endParaRPr>
            </a:p>
          </p:txBody>
        </p:sp>
        <p:sp>
          <p:nvSpPr>
            <p:cNvPr id="1355" name="Google Shape;1355;p95"/>
            <p:cNvSpPr txBox="1"/>
            <p:nvPr/>
          </p:nvSpPr>
          <p:spPr>
            <a:xfrm>
              <a:off x="858100" y="2031600"/>
              <a:ext cx="1396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356" name="Google Shape;1356;p95"/>
            <p:cNvSpPr txBox="1"/>
            <p:nvPr/>
          </p:nvSpPr>
          <p:spPr>
            <a:xfrm>
              <a:off x="7383418" y="2031600"/>
              <a:ext cx="1396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endParaRPr b="0" i="0" sz="1800" u="none" cap="none" strike="noStrike">
                <a:solidFill>
                  <a:srgbClr val="000000"/>
                </a:solidFill>
                <a:latin typeface="Arial"/>
                <a:ea typeface="Arial"/>
                <a:cs typeface="Arial"/>
                <a:sym typeface="Arial"/>
              </a:endParaRPr>
            </a:p>
          </p:txBody>
        </p:sp>
        <p:sp>
          <p:nvSpPr>
            <p:cNvPr id="1357" name="Google Shape;1357;p95"/>
            <p:cNvSpPr txBox="1"/>
            <p:nvPr/>
          </p:nvSpPr>
          <p:spPr>
            <a:xfrm>
              <a:off x="4038370" y="2031600"/>
              <a:ext cx="1396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358" name="Google Shape;1358;p95"/>
            <p:cNvSpPr txBox="1"/>
            <p:nvPr/>
          </p:nvSpPr>
          <p:spPr>
            <a:xfrm>
              <a:off x="5628505" y="2031600"/>
              <a:ext cx="15612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2.3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grpSp>
      <p:grpSp>
        <p:nvGrpSpPr>
          <p:cNvPr id="1359" name="Google Shape;1359;p95"/>
          <p:cNvGrpSpPr/>
          <p:nvPr/>
        </p:nvGrpSpPr>
        <p:grpSpPr>
          <a:xfrm>
            <a:off x="636275" y="2951075"/>
            <a:ext cx="7689761" cy="461700"/>
            <a:chOff x="817725" y="2891250"/>
            <a:chExt cx="7689761" cy="461700"/>
          </a:xfrm>
        </p:grpSpPr>
        <p:sp>
          <p:nvSpPr>
            <p:cNvPr id="1360" name="Google Shape;1360;p95"/>
            <p:cNvSpPr txBox="1"/>
            <p:nvPr/>
          </p:nvSpPr>
          <p:spPr>
            <a:xfrm>
              <a:off x="5414821" y="2891250"/>
              <a:ext cx="139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9</a:t>
              </a:r>
              <a:r>
                <a:rPr b="0" i="0" lang="en-GB" sz="1800" u="none" cap="none" strike="noStrike">
                  <a:solidFill>
                    <a:schemeClr val="dk1"/>
                  </a:solidFill>
                  <a:latin typeface="Lexend"/>
                  <a:ea typeface="Lexend"/>
                  <a:cs typeface="Lexend"/>
                  <a:sym typeface="Lexend"/>
                </a:rPr>
                <a:t>9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sp>
          <p:nvSpPr>
            <p:cNvPr id="1361" name="Google Shape;1361;p95"/>
            <p:cNvSpPr txBox="1"/>
            <p:nvPr/>
          </p:nvSpPr>
          <p:spPr>
            <a:xfrm>
              <a:off x="817725" y="2891250"/>
              <a:ext cx="139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4.99 × 10</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sp>
          <p:nvSpPr>
            <p:cNvPr id="1362" name="Google Shape;1362;p95"/>
            <p:cNvSpPr txBox="1"/>
            <p:nvPr/>
          </p:nvSpPr>
          <p:spPr>
            <a:xfrm>
              <a:off x="2350091" y="2891250"/>
              <a:ext cx="139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4 × 10</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sp>
          <p:nvSpPr>
            <p:cNvPr id="1363" name="Google Shape;1363;p95"/>
            <p:cNvSpPr txBox="1"/>
            <p:nvPr/>
          </p:nvSpPr>
          <p:spPr>
            <a:xfrm>
              <a:off x="3882456" y="2891250"/>
              <a:ext cx="1395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9.8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7</a:t>
              </a:r>
              <a:endParaRPr b="0" i="0" sz="1800" u="none" cap="none" strike="noStrike">
                <a:solidFill>
                  <a:srgbClr val="000000"/>
                </a:solidFill>
                <a:latin typeface="Arial"/>
                <a:ea typeface="Arial"/>
                <a:cs typeface="Arial"/>
                <a:sym typeface="Arial"/>
              </a:endParaRPr>
            </a:p>
          </p:txBody>
        </p:sp>
        <p:sp>
          <p:nvSpPr>
            <p:cNvPr id="1364" name="Google Shape;1364;p95"/>
            <p:cNvSpPr txBox="1"/>
            <p:nvPr/>
          </p:nvSpPr>
          <p:spPr>
            <a:xfrm>
              <a:off x="6947187" y="2891250"/>
              <a:ext cx="1560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4.9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6</a:t>
              </a:r>
              <a:endParaRPr b="0" i="0" sz="1800" u="none" cap="none" strike="noStrike">
                <a:solidFill>
                  <a:srgbClr val="000000"/>
                </a:solidFill>
                <a:latin typeface="Arial"/>
                <a:ea typeface="Arial"/>
                <a:cs typeface="Arial"/>
                <a:sym typeface="Arial"/>
              </a:endParaRPr>
            </a:p>
          </p:txBody>
        </p:sp>
      </p:grpSp>
      <p:grpSp>
        <p:nvGrpSpPr>
          <p:cNvPr id="1365" name="Google Shape;1365;p95"/>
          <p:cNvGrpSpPr/>
          <p:nvPr/>
        </p:nvGrpSpPr>
        <p:grpSpPr>
          <a:xfrm>
            <a:off x="598996" y="3775826"/>
            <a:ext cx="7986083" cy="461700"/>
            <a:chOff x="856646" y="3716001"/>
            <a:chExt cx="7986083" cy="461700"/>
          </a:xfrm>
        </p:grpSpPr>
        <p:sp>
          <p:nvSpPr>
            <p:cNvPr id="1366" name="Google Shape;1366;p95"/>
            <p:cNvSpPr txBox="1"/>
            <p:nvPr/>
          </p:nvSpPr>
          <p:spPr>
            <a:xfrm>
              <a:off x="4196138" y="3716001"/>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9.89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sp>
          <p:nvSpPr>
            <p:cNvPr id="1367" name="Google Shape;1367;p95"/>
            <p:cNvSpPr txBox="1"/>
            <p:nvPr/>
          </p:nvSpPr>
          <p:spPr>
            <a:xfrm>
              <a:off x="7361030" y="3716001"/>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1.01 × 10</a:t>
              </a:r>
              <a:r>
                <a:rPr b="0" baseline="30000" i="0" lang="en-GB" sz="1800" u="none" cap="none" strike="noStrike">
                  <a:solidFill>
                    <a:schemeClr val="dk1"/>
                  </a:solidFill>
                  <a:latin typeface="Lexend"/>
                  <a:ea typeface="Lexend"/>
                  <a:cs typeface="Lexend"/>
                  <a:sym typeface="Lexend"/>
                </a:rPr>
                <a:t>9</a:t>
              </a:r>
              <a:endParaRPr b="0" i="0" sz="1800" u="none" cap="none" strike="noStrike">
                <a:solidFill>
                  <a:srgbClr val="000000"/>
                </a:solidFill>
                <a:latin typeface="Arial"/>
                <a:ea typeface="Arial"/>
                <a:cs typeface="Arial"/>
                <a:sym typeface="Arial"/>
              </a:endParaRPr>
            </a:p>
          </p:txBody>
        </p:sp>
        <p:sp>
          <p:nvSpPr>
            <p:cNvPr id="1368" name="Google Shape;1368;p95"/>
            <p:cNvSpPr txBox="1"/>
            <p:nvPr/>
          </p:nvSpPr>
          <p:spPr>
            <a:xfrm>
              <a:off x="2613692" y="3716001"/>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1.001 × 10</a:t>
              </a:r>
              <a:r>
                <a:rPr b="0" baseline="30000" i="0" lang="en-GB" sz="1800" u="none" cap="none" strike="noStrike">
                  <a:solidFill>
                    <a:schemeClr val="dk1"/>
                  </a:solidFill>
                  <a:latin typeface="Lexend"/>
                  <a:ea typeface="Lexend"/>
                  <a:cs typeface="Lexend"/>
                  <a:sym typeface="Lexend"/>
                </a:rPr>
                <a:t>9</a:t>
              </a:r>
              <a:endParaRPr b="0" i="0" sz="1800" u="none" cap="none" strike="noStrike">
                <a:solidFill>
                  <a:srgbClr val="000000"/>
                </a:solidFill>
                <a:latin typeface="Arial"/>
                <a:ea typeface="Arial"/>
                <a:cs typeface="Arial"/>
                <a:sym typeface="Arial"/>
              </a:endParaRPr>
            </a:p>
          </p:txBody>
        </p:sp>
        <p:sp>
          <p:nvSpPr>
            <p:cNvPr id="1369" name="Google Shape;1369;p95"/>
            <p:cNvSpPr txBox="1"/>
            <p:nvPr/>
          </p:nvSpPr>
          <p:spPr>
            <a:xfrm>
              <a:off x="5778584" y="3716001"/>
              <a:ext cx="1481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1.5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370" name="Google Shape;1370;p95"/>
            <p:cNvSpPr txBox="1"/>
            <p:nvPr/>
          </p:nvSpPr>
          <p:spPr>
            <a:xfrm>
              <a:off x="856646" y="3716001"/>
              <a:ext cx="1656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a:t>
              </a:r>
              <a:r>
                <a:rPr lang="en-GB" sz="1800">
                  <a:solidFill>
                    <a:schemeClr val="dk1"/>
                  </a:solidFill>
                  <a:latin typeface="Lexend"/>
                  <a:ea typeface="Lexend"/>
                  <a:cs typeface="Lexend"/>
                  <a:sym typeface="Lexend"/>
                </a:rPr>
                <a:t>7</a:t>
              </a:r>
              <a:r>
                <a:rPr b="0" i="0" lang="en-GB" sz="1800" u="none" cap="none" strike="noStrike">
                  <a:solidFill>
                    <a:schemeClr val="dk1"/>
                  </a:solidFill>
                  <a:latin typeface="Lexend"/>
                  <a:ea typeface="Lexend"/>
                  <a:cs typeface="Lexend"/>
                  <a:sym typeface="Lexend"/>
                </a:rPr>
                <a:t>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grpSp>
      <p:sp>
        <p:nvSpPr>
          <p:cNvPr id="1371" name="Google Shape;1371;p95"/>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Comparing numbers in standard form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6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96"/>
          <p:cNvSpPr txBox="1"/>
          <p:nvPr>
            <p:ph idx="4294967295" type="body"/>
          </p:nvPr>
        </p:nvSpPr>
        <p:spPr>
          <a:xfrm>
            <a:off x="324000" y="759300"/>
            <a:ext cx="8237700" cy="73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2) Put the following in ascending order in the format they are given. </a:t>
            </a:r>
            <a:endParaRPr/>
          </a:p>
          <a:p>
            <a:pPr indent="0" lvl="0" marL="0" rtl="0" algn="l">
              <a:lnSpc>
                <a:spcPct val="115000"/>
              </a:lnSpc>
              <a:spcBef>
                <a:spcPts val="1000"/>
              </a:spcBef>
              <a:spcAft>
                <a:spcPts val="1000"/>
              </a:spcAft>
              <a:buSzPts val="2200"/>
              <a:buNone/>
            </a:pPr>
            <a:r>
              <a:t/>
            </a:r>
            <a:endParaRPr/>
          </a:p>
        </p:txBody>
      </p:sp>
      <p:sp>
        <p:nvSpPr>
          <p:cNvPr id="1377" name="Google Shape;1377;p96"/>
          <p:cNvSpPr txBox="1"/>
          <p:nvPr/>
        </p:nvSpPr>
        <p:spPr>
          <a:xfrm>
            <a:off x="4131189" y="1588475"/>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0.1</a:t>
            </a:r>
            <a:endParaRPr b="0" i="0" sz="1800" u="none" cap="none" strike="noStrike">
              <a:solidFill>
                <a:srgbClr val="000000"/>
              </a:solidFill>
              <a:latin typeface="Arial"/>
              <a:ea typeface="Arial"/>
              <a:cs typeface="Arial"/>
              <a:sym typeface="Arial"/>
            </a:endParaRPr>
          </a:p>
        </p:txBody>
      </p:sp>
      <p:sp>
        <p:nvSpPr>
          <p:cNvPr id="1378" name="Google Shape;1378;p96"/>
          <p:cNvSpPr txBox="1"/>
          <p:nvPr/>
        </p:nvSpPr>
        <p:spPr>
          <a:xfrm>
            <a:off x="7215080" y="1588475"/>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90 000 </a:t>
            </a:r>
            <a:endParaRPr b="0" i="0" sz="1800" u="none" cap="none" strike="noStrike">
              <a:solidFill>
                <a:srgbClr val="000000"/>
              </a:solidFill>
              <a:latin typeface="Arial"/>
              <a:ea typeface="Arial"/>
              <a:cs typeface="Arial"/>
              <a:sym typeface="Arial"/>
            </a:endParaRPr>
          </a:p>
        </p:txBody>
      </p:sp>
      <p:sp>
        <p:nvSpPr>
          <p:cNvPr id="1379" name="Google Shape;1379;p96"/>
          <p:cNvSpPr txBox="1"/>
          <p:nvPr/>
        </p:nvSpPr>
        <p:spPr>
          <a:xfrm>
            <a:off x="877210" y="1568313"/>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1 × 10</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sp>
        <p:nvSpPr>
          <p:cNvPr id="1380" name="Google Shape;1380;p96"/>
          <p:cNvSpPr txBox="1"/>
          <p:nvPr/>
        </p:nvSpPr>
        <p:spPr>
          <a:xfrm>
            <a:off x="5673135" y="1568313"/>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8.2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381" name="Google Shape;1381;p96"/>
          <p:cNvSpPr txBox="1"/>
          <p:nvPr/>
        </p:nvSpPr>
        <p:spPr>
          <a:xfrm>
            <a:off x="2419143" y="1588475"/>
            <a:ext cx="1616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0.0089</a:t>
            </a:r>
            <a:endParaRPr b="0" i="0" sz="1800" u="none" cap="none" strike="noStrike">
              <a:solidFill>
                <a:srgbClr val="000000"/>
              </a:solidFill>
              <a:latin typeface="Arial"/>
              <a:ea typeface="Arial"/>
              <a:cs typeface="Arial"/>
              <a:sym typeface="Arial"/>
            </a:endParaRPr>
          </a:p>
        </p:txBody>
      </p:sp>
      <p:sp>
        <p:nvSpPr>
          <p:cNvPr id="1382" name="Google Shape;1382;p96"/>
          <p:cNvSpPr txBox="1"/>
          <p:nvPr/>
        </p:nvSpPr>
        <p:spPr>
          <a:xfrm>
            <a:off x="4207391" y="2204074"/>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1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1</a:t>
            </a:r>
            <a:endParaRPr i="0" sz="1800" u="none" cap="none" strike="noStrike">
              <a:solidFill>
                <a:srgbClr val="000000"/>
              </a:solidFill>
              <a:latin typeface="Kalam"/>
              <a:ea typeface="Kalam"/>
              <a:cs typeface="Kalam"/>
              <a:sym typeface="Kalam"/>
            </a:endParaRPr>
          </a:p>
        </p:txBody>
      </p:sp>
      <p:sp>
        <p:nvSpPr>
          <p:cNvPr id="1383" name="Google Shape;1383;p96"/>
          <p:cNvSpPr txBox="1"/>
          <p:nvPr/>
        </p:nvSpPr>
        <p:spPr>
          <a:xfrm>
            <a:off x="7291282" y="2204074"/>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9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384" name="Google Shape;1384;p96"/>
          <p:cNvSpPr txBox="1"/>
          <p:nvPr/>
        </p:nvSpPr>
        <p:spPr>
          <a:xfrm>
            <a:off x="877212" y="2204074"/>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1 × 10</a:t>
            </a:r>
            <a:r>
              <a:rPr baseline="30000" i="0" lang="en-GB" sz="1800" u="none" cap="none" strike="noStrike">
                <a:solidFill>
                  <a:schemeClr val="dk1"/>
                </a:solidFill>
                <a:latin typeface="Kalam"/>
                <a:ea typeface="Kalam"/>
                <a:cs typeface="Kalam"/>
                <a:sym typeface="Kalam"/>
              </a:rPr>
              <a:t>3</a:t>
            </a:r>
            <a:endParaRPr i="0" sz="1800" u="none" cap="none" strike="noStrike">
              <a:solidFill>
                <a:srgbClr val="000000"/>
              </a:solidFill>
              <a:latin typeface="Kalam"/>
              <a:ea typeface="Kalam"/>
              <a:cs typeface="Kalam"/>
              <a:sym typeface="Kalam"/>
            </a:endParaRPr>
          </a:p>
        </p:txBody>
      </p:sp>
      <p:sp>
        <p:nvSpPr>
          <p:cNvPr id="1385" name="Google Shape;1385;p96"/>
          <p:cNvSpPr txBox="1"/>
          <p:nvPr/>
        </p:nvSpPr>
        <p:spPr>
          <a:xfrm>
            <a:off x="5749337" y="2204074"/>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8.2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386" name="Google Shape;1386;p96"/>
          <p:cNvSpPr txBox="1"/>
          <p:nvPr/>
        </p:nvSpPr>
        <p:spPr>
          <a:xfrm>
            <a:off x="2477646" y="2204074"/>
            <a:ext cx="1616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8.9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3</a:t>
            </a:r>
            <a:endParaRPr i="0" sz="1800" u="none" cap="none" strike="noStrike">
              <a:solidFill>
                <a:srgbClr val="000000"/>
              </a:solidFill>
              <a:latin typeface="Kalam"/>
              <a:ea typeface="Kalam"/>
              <a:cs typeface="Kalam"/>
              <a:sym typeface="Kalam"/>
            </a:endParaRPr>
          </a:p>
        </p:txBody>
      </p:sp>
      <p:sp>
        <p:nvSpPr>
          <p:cNvPr id="1387" name="Google Shape;1387;p96"/>
          <p:cNvSpPr txBox="1"/>
          <p:nvPr/>
        </p:nvSpPr>
        <p:spPr>
          <a:xfrm>
            <a:off x="268184" y="1497300"/>
            <a:ext cx="831600" cy="176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a)</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p:txBody>
      </p:sp>
      <p:sp>
        <p:nvSpPr>
          <p:cNvPr id="1388" name="Google Shape;1388;p96"/>
          <p:cNvSpPr txBox="1"/>
          <p:nvPr/>
        </p:nvSpPr>
        <p:spPr>
          <a:xfrm>
            <a:off x="835510" y="3009138"/>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8.2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389" name="Google Shape;1389;p96"/>
          <p:cNvSpPr txBox="1"/>
          <p:nvPr/>
        </p:nvSpPr>
        <p:spPr>
          <a:xfrm>
            <a:off x="4189689" y="3009150"/>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0.1</a:t>
            </a:r>
            <a:endParaRPr i="0" sz="1800" u="none" cap="none" strike="noStrike">
              <a:solidFill>
                <a:srgbClr val="000000"/>
              </a:solidFill>
              <a:latin typeface="Kalam"/>
              <a:ea typeface="Kalam"/>
              <a:cs typeface="Kalam"/>
              <a:sym typeface="Kalam"/>
            </a:endParaRPr>
          </a:p>
        </p:txBody>
      </p:sp>
      <p:sp>
        <p:nvSpPr>
          <p:cNvPr id="1390" name="Google Shape;1390;p96"/>
          <p:cNvSpPr txBox="1"/>
          <p:nvPr/>
        </p:nvSpPr>
        <p:spPr>
          <a:xfrm>
            <a:off x="2477643" y="3009150"/>
            <a:ext cx="16167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0.0089</a:t>
            </a:r>
            <a:endParaRPr i="0" sz="1800" u="none" cap="none" strike="noStrike">
              <a:solidFill>
                <a:srgbClr val="000000"/>
              </a:solidFill>
              <a:latin typeface="Kalam"/>
              <a:ea typeface="Kalam"/>
              <a:cs typeface="Kalam"/>
              <a:sym typeface="Kalam"/>
            </a:endParaRPr>
          </a:p>
        </p:txBody>
      </p:sp>
      <p:sp>
        <p:nvSpPr>
          <p:cNvPr id="1391" name="Google Shape;1391;p96"/>
          <p:cNvSpPr txBox="1"/>
          <p:nvPr/>
        </p:nvSpPr>
        <p:spPr>
          <a:xfrm>
            <a:off x="5731660" y="3009138"/>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1 × 10</a:t>
            </a:r>
            <a:r>
              <a:rPr baseline="30000" i="0" lang="en-GB" sz="1800" u="none" cap="none" strike="noStrike">
                <a:solidFill>
                  <a:schemeClr val="dk1"/>
                </a:solidFill>
                <a:latin typeface="Kalam"/>
                <a:ea typeface="Kalam"/>
                <a:cs typeface="Kalam"/>
                <a:sym typeface="Kalam"/>
              </a:rPr>
              <a:t>3</a:t>
            </a:r>
            <a:endParaRPr i="0" sz="1800" u="none" cap="none" strike="noStrike">
              <a:solidFill>
                <a:srgbClr val="000000"/>
              </a:solidFill>
              <a:latin typeface="Kalam"/>
              <a:ea typeface="Kalam"/>
              <a:cs typeface="Kalam"/>
              <a:sym typeface="Kalam"/>
            </a:endParaRPr>
          </a:p>
        </p:txBody>
      </p:sp>
      <p:sp>
        <p:nvSpPr>
          <p:cNvPr id="1392" name="Google Shape;1392;p96"/>
          <p:cNvSpPr txBox="1"/>
          <p:nvPr/>
        </p:nvSpPr>
        <p:spPr>
          <a:xfrm>
            <a:off x="7273605" y="3009150"/>
            <a:ext cx="1446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90 000 </a:t>
            </a:r>
            <a:endParaRPr i="0" sz="1800" u="none" cap="none" strike="noStrike">
              <a:solidFill>
                <a:srgbClr val="000000"/>
              </a:solidFill>
              <a:latin typeface="Kalam"/>
              <a:ea typeface="Kalam"/>
              <a:cs typeface="Kalam"/>
              <a:sym typeface="Kalam"/>
            </a:endParaRPr>
          </a:p>
        </p:txBody>
      </p:sp>
      <p:sp>
        <p:nvSpPr>
          <p:cNvPr id="1393" name="Google Shape;1393;p96"/>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Comparing numbers in standard form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97"/>
          <p:cNvSpPr txBox="1"/>
          <p:nvPr>
            <p:ph idx="4294967295" type="body"/>
          </p:nvPr>
        </p:nvSpPr>
        <p:spPr>
          <a:xfrm>
            <a:off x="324000" y="759300"/>
            <a:ext cx="8237700" cy="73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2) Put the following in ascending order in the format they are given. </a:t>
            </a:r>
            <a:endParaRPr/>
          </a:p>
          <a:p>
            <a:pPr indent="0" lvl="0" marL="0" rtl="0" algn="l">
              <a:lnSpc>
                <a:spcPct val="115000"/>
              </a:lnSpc>
              <a:spcBef>
                <a:spcPts val="1000"/>
              </a:spcBef>
              <a:spcAft>
                <a:spcPts val="1000"/>
              </a:spcAft>
              <a:buSzPts val="2200"/>
              <a:buNone/>
            </a:pPr>
            <a:r>
              <a:t/>
            </a:r>
            <a:endParaRPr/>
          </a:p>
        </p:txBody>
      </p:sp>
      <p:sp>
        <p:nvSpPr>
          <p:cNvPr id="1399" name="Google Shape;1399;p97"/>
          <p:cNvSpPr txBox="1"/>
          <p:nvPr/>
        </p:nvSpPr>
        <p:spPr>
          <a:xfrm>
            <a:off x="4211917" y="16755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0.0002</a:t>
            </a:r>
            <a:endParaRPr b="0" i="0" sz="1800" u="none" cap="none" strike="noStrike">
              <a:solidFill>
                <a:srgbClr val="000000"/>
              </a:solidFill>
              <a:latin typeface="Arial"/>
              <a:ea typeface="Arial"/>
              <a:cs typeface="Arial"/>
              <a:sym typeface="Arial"/>
            </a:endParaRPr>
          </a:p>
        </p:txBody>
      </p:sp>
      <p:sp>
        <p:nvSpPr>
          <p:cNvPr id="1400" name="Google Shape;1400;p97"/>
          <p:cNvSpPr txBox="1"/>
          <p:nvPr/>
        </p:nvSpPr>
        <p:spPr>
          <a:xfrm>
            <a:off x="936965" y="16755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21 000 </a:t>
            </a:r>
            <a:endParaRPr b="0" i="0" sz="1800" u="none" cap="none" strike="noStrike">
              <a:solidFill>
                <a:srgbClr val="000000"/>
              </a:solidFill>
              <a:latin typeface="Arial"/>
              <a:ea typeface="Arial"/>
              <a:cs typeface="Arial"/>
              <a:sym typeface="Arial"/>
            </a:endParaRPr>
          </a:p>
        </p:txBody>
      </p:sp>
      <p:sp>
        <p:nvSpPr>
          <p:cNvPr id="1401" name="Google Shape;1401;p97"/>
          <p:cNvSpPr txBox="1"/>
          <p:nvPr/>
        </p:nvSpPr>
        <p:spPr>
          <a:xfrm>
            <a:off x="5762154" y="16755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b="0" i="0" lang="en-GB" sz="1800" u="none" cap="none" strike="noStrike">
                <a:solidFill>
                  <a:schemeClr val="dk1"/>
                </a:solidFill>
                <a:latin typeface="Lexend"/>
                <a:ea typeface="Lexend"/>
                <a:cs typeface="Lexend"/>
                <a:sym typeface="Lexend"/>
              </a:rPr>
              <a:t>2.01 × 10</a:t>
            </a:r>
            <a:r>
              <a:rPr b="0" baseline="30000" i="0" lang="en-GB" sz="1800" u="none" cap="none" strike="noStrike">
                <a:solidFill>
                  <a:schemeClr val="dk1"/>
                </a:solidFill>
                <a:latin typeface="Lexend"/>
                <a:ea typeface="Lexend"/>
                <a:cs typeface="Lexend"/>
                <a:sym typeface="Lexend"/>
              </a:rPr>
              <a:t>4</a:t>
            </a:r>
            <a:endParaRPr b="0" i="0" sz="1800" u="none" cap="none" strike="noStrike">
              <a:solidFill>
                <a:srgbClr val="000000"/>
              </a:solidFill>
              <a:latin typeface="Arial"/>
              <a:ea typeface="Arial"/>
              <a:cs typeface="Arial"/>
              <a:sym typeface="Arial"/>
            </a:endParaRPr>
          </a:p>
        </p:txBody>
      </p:sp>
      <p:sp>
        <p:nvSpPr>
          <p:cNvPr id="1402" name="Google Shape;1402;p97"/>
          <p:cNvSpPr txBox="1"/>
          <p:nvPr/>
        </p:nvSpPr>
        <p:spPr>
          <a:xfrm>
            <a:off x="7322119" y="16755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0.000 078</a:t>
            </a:r>
            <a:endParaRPr b="0" i="0" sz="1800" u="none" cap="none" strike="noStrike">
              <a:solidFill>
                <a:srgbClr val="000000"/>
              </a:solidFill>
              <a:latin typeface="Arial"/>
              <a:ea typeface="Arial"/>
              <a:cs typeface="Arial"/>
              <a:sym typeface="Arial"/>
            </a:endParaRPr>
          </a:p>
        </p:txBody>
      </p:sp>
      <p:sp>
        <p:nvSpPr>
          <p:cNvPr id="1403" name="Google Shape;1403;p97"/>
          <p:cNvSpPr txBox="1"/>
          <p:nvPr/>
        </p:nvSpPr>
        <p:spPr>
          <a:xfrm>
            <a:off x="2496981" y="1675500"/>
            <a:ext cx="1563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0.000 087</a:t>
            </a:r>
            <a:endParaRPr b="0" i="0" sz="1800" u="none" cap="none" strike="noStrike">
              <a:solidFill>
                <a:srgbClr val="000000"/>
              </a:solidFill>
              <a:latin typeface="Arial"/>
              <a:ea typeface="Arial"/>
              <a:cs typeface="Arial"/>
              <a:sym typeface="Arial"/>
            </a:endParaRPr>
          </a:p>
        </p:txBody>
      </p:sp>
      <p:sp>
        <p:nvSpPr>
          <p:cNvPr id="1404" name="Google Shape;1404;p97"/>
          <p:cNvSpPr txBox="1"/>
          <p:nvPr/>
        </p:nvSpPr>
        <p:spPr>
          <a:xfrm>
            <a:off x="4202173" y="23958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405" name="Google Shape;1405;p97"/>
          <p:cNvSpPr txBox="1"/>
          <p:nvPr/>
        </p:nvSpPr>
        <p:spPr>
          <a:xfrm>
            <a:off x="927221" y="23958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2.1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406" name="Google Shape;1406;p97"/>
          <p:cNvSpPr txBox="1"/>
          <p:nvPr/>
        </p:nvSpPr>
        <p:spPr>
          <a:xfrm>
            <a:off x="5752409" y="23958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2.01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407" name="Google Shape;1407;p97"/>
          <p:cNvSpPr txBox="1"/>
          <p:nvPr/>
        </p:nvSpPr>
        <p:spPr>
          <a:xfrm>
            <a:off x="7312375" y="23958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7.8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5</a:t>
            </a:r>
            <a:endParaRPr i="0" sz="1800" u="none" cap="none" strike="noStrike">
              <a:solidFill>
                <a:srgbClr val="000000"/>
              </a:solidFill>
              <a:latin typeface="Kalam"/>
              <a:ea typeface="Kalam"/>
              <a:cs typeface="Kalam"/>
              <a:sym typeface="Kalam"/>
            </a:endParaRPr>
          </a:p>
        </p:txBody>
      </p:sp>
      <p:sp>
        <p:nvSpPr>
          <p:cNvPr id="1408" name="Google Shape;1408;p97"/>
          <p:cNvSpPr txBox="1"/>
          <p:nvPr/>
        </p:nvSpPr>
        <p:spPr>
          <a:xfrm>
            <a:off x="2487236" y="2395800"/>
            <a:ext cx="1563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8.7 × 10</a:t>
            </a:r>
            <a:r>
              <a:rPr baseline="30000" lang="en-GB" sz="1800">
                <a:solidFill>
                  <a:schemeClr val="dk1"/>
                </a:solidFill>
                <a:latin typeface="Kalam"/>
                <a:ea typeface="Kalam"/>
                <a:cs typeface="Kalam"/>
                <a:sym typeface="Kalam"/>
              </a:rPr>
              <a:t>−</a:t>
            </a:r>
            <a:r>
              <a:rPr baseline="30000" i="0" lang="en-GB" sz="1800" u="none" cap="none" strike="noStrike">
                <a:solidFill>
                  <a:schemeClr val="dk1"/>
                </a:solidFill>
                <a:latin typeface="Kalam"/>
                <a:ea typeface="Kalam"/>
                <a:cs typeface="Kalam"/>
                <a:sym typeface="Kalam"/>
              </a:rPr>
              <a:t>5</a:t>
            </a:r>
            <a:endParaRPr i="0" sz="1800" u="none" cap="none" strike="noStrike">
              <a:solidFill>
                <a:srgbClr val="000000"/>
              </a:solidFill>
              <a:latin typeface="Kalam"/>
              <a:ea typeface="Kalam"/>
              <a:cs typeface="Kalam"/>
              <a:sym typeface="Kalam"/>
            </a:endParaRPr>
          </a:p>
        </p:txBody>
      </p:sp>
      <p:sp>
        <p:nvSpPr>
          <p:cNvPr id="1409" name="Google Shape;1409;p97"/>
          <p:cNvSpPr txBox="1"/>
          <p:nvPr/>
        </p:nvSpPr>
        <p:spPr>
          <a:xfrm>
            <a:off x="268184" y="1497300"/>
            <a:ext cx="8316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b)</a:t>
            </a:r>
            <a:endParaRPr sz="2300">
              <a:solidFill>
                <a:schemeClr val="dk1"/>
              </a:solidFill>
              <a:latin typeface="Lexend"/>
              <a:ea typeface="Lexend"/>
              <a:cs typeface="Lexend"/>
              <a:sym typeface="Lexend"/>
            </a:endParaRPr>
          </a:p>
        </p:txBody>
      </p:sp>
      <p:sp>
        <p:nvSpPr>
          <p:cNvPr id="1410" name="Google Shape;1410;p97"/>
          <p:cNvSpPr txBox="1"/>
          <p:nvPr/>
        </p:nvSpPr>
        <p:spPr>
          <a:xfrm>
            <a:off x="891394" y="31161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0.000 078</a:t>
            </a:r>
            <a:endParaRPr i="0" sz="1800" u="none" cap="none" strike="noStrike">
              <a:solidFill>
                <a:srgbClr val="000000"/>
              </a:solidFill>
              <a:latin typeface="Kalam"/>
              <a:ea typeface="Kalam"/>
              <a:cs typeface="Kalam"/>
              <a:sym typeface="Kalam"/>
            </a:endParaRPr>
          </a:p>
        </p:txBody>
      </p:sp>
      <p:sp>
        <p:nvSpPr>
          <p:cNvPr id="1411" name="Google Shape;1411;p97"/>
          <p:cNvSpPr txBox="1"/>
          <p:nvPr/>
        </p:nvSpPr>
        <p:spPr>
          <a:xfrm>
            <a:off x="4257542" y="3116088"/>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0.0002</a:t>
            </a:r>
            <a:endParaRPr i="0" sz="1800" u="none" cap="none" strike="noStrike">
              <a:solidFill>
                <a:srgbClr val="000000"/>
              </a:solidFill>
              <a:latin typeface="Kalam"/>
              <a:ea typeface="Kalam"/>
              <a:cs typeface="Kalam"/>
              <a:sym typeface="Kalam"/>
            </a:endParaRPr>
          </a:p>
        </p:txBody>
      </p:sp>
      <p:sp>
        <p:nvSpPr>
          <p:cNvPr id="1412" name="Google Shape;1412;p97"/>
          <p:cNvSpPr txBox="1"/>
          <p:nvPr/>
        </p:nvSpPr>
        <p:spPr>
          <a:xfrm>
            <a:off x="5807779" y="3116088"/>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None/>
            </a:pPr>
            <a:r>
              <a:rPr i="0" lang="en-GB" sz="1800" u="none" cap="none" strike="noStrike">
                <a:solidFill>
                  <a:schemeClr val="dk1"/>
                </a:solidFill>
                <a:latin typeface="Kalam"/>
                <a:ea typeface="Kalam"/>
                <a:cs typeface="Kalam"/>
                <a:sym typeface="Kalam"/>
              </a:rPr>
              <a:t>2.01 × 10</a:t>
            </a:r>
            <a:r>
              <a:rPr baseline="30000" i="0" lang="en-GB" sz="1800" u="none" cap="none" strike="noStrike">
                <a:solidFill>
                  <a:schemeClr val="dk1"/>
                </a:solidFill>
                <a:latin typeface="Kalam"/>
                <a:ea typeface="Kalam"/>
                <a:cs typeface="Kalam"/>
                <a:sym typeface="Kalam"/>
              </a:rPr>
              <a:t>4</a:t>
            </a:r>
            <a:endParaRPr i="0" sz="1800" u="none" cap="none" strike="noStrike">
              <a:solidFill>
                <a:srgbClr val="000000"/>
              </a:solidFill>
              <a:latin typeface="Kalam"/>
              <a:ea typeface="Kalam"/>
              <a:cs typeface="Kalam"/>
              <a:sym typeface="Kalam"/>
            </a:endParaRPr>
          </a:p>
        </p:txBody>
      </p:sp>
      <p:sp>
        <p:nvSpPr>
          <p:cNvPr id="1413" name="Google Shape;1413;p97"/>
          <p:cNvSpPr txBox="1"/>
          <p:nvPr/>
        </p:nvSpPr>
        <p:spPr>
          <a:xfrm>
            <a:off x="2542606" y="3116088"/>
            <a:ext cx="15633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0.000 087</a:t>
            </a:r>
            <a:endParaRPr i="0" sz="1800" u="none" cap="none" strike="noStrike">
              <a:solidFill>
                <a:srgbClr val="000000"/>
              </a:solidFill>
              <a:latin typeface="Kalam"/>
              <a:ea typeface="Kalam"/>
              <a:cs typeface="Kalam"/>
              <a:sym typeface="Kalam"/>
            </a:endParaRPr>
          </a:p>
        </p:txBody>
      </p:sp>
      <p:sp>
        <p:nvSpPr>
          <p:cNvPr id="1414" name="Google Shape;1414;p97"/>
          <p:cNvSpPr txBox="1"/>
          <p:nvPr/>
        </p:nvSpPr>
        <p:spPr>
          <a:xfrm>
            <a:off x="7357990" y="3116100"/>
            <a:ext cx="13986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i="0" lang="en-GB" sz="1800" u="none" cap="none" strike="noStrike">
                <a:solidFill>
                  <a:schemeClr val="dk1"/>
                </a:solidFill>
                <a:latin typeface="Kalam"/>
                <a:ea typeface="Kalam"/>
                <a:cs typeface="Kalam"/>
                <a:sym typeface="Kalam"/>
              </a:rPr>
              <a:t>21 000 </a:t>
            </a:r>
            <a:endParaRPr i="0" sz="1800" u="none" cap="none" strike="noStrike">
              <a:solidFill>
                <a:srgbClr val="000000"/>
              </a:solidFill>
              <a:latin typeface="Kalam"/>
              <a:ea typeface="Kalam"/>
              <a:cs typeface="Kalam"/>
              <a:sym typeface="Kalam"/>
            </a:endParaRPr>
          </a:p>
        </p:txBody>
      </p:sp>
      <p:sp>
        <p:nvSpPr>
          <p:cNvPr id="1415" name="Google Shape;1415;p97"/>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Comparing numbers in standard form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pic>
        <p:nvPicPr>
          <p:cNvPr id="1420" name="Google Shape;1420;p98"/>
          <p:cNvPicPr preferRelativeResize="0"/>
          <p:nvPr/>
        </p:nvPicPr>
        <p:blipFill>
          <a:blip r:embed="rId3">
            <a:alphaModFix/>
          </a:blip>
          <a:stretch>
            <a:fillRect/>
          </a:stretch>
        </p:blipFill>
        <p:spPr>
          <a:xfrm>
            <a:off x="3218125" y="667825"/>
            <a:ext cx="5480801" cy="2177000"/>
          </a:xfrm>
          <a:prstGeom prst="rect">
            <a:avLst/>
          </a:prstGeom>
          <a:noFill/>
          <a:ln>
            <a:noFill/>
          </a:ln>
        </p:spPr>
      </p:pic>
      <p:sp>
        <p:nvSpPr>
          <p:cNvPr id="1421" name="Google Shape;1421;p98"/>
          <p:cNvSpPr txBox="1"/>
          <p:nvPr/>
        </p:nvSpPr>
        <p:spPr>
          <a:xfrm>
            <a:off x="3776332" y="874500"/>
            <a:ext cx="4364400" cy="112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2200"/>
              <a:buFont typeface="Lexend"/>
              <a:buNone/>
            </a:pPr>
            <a:r>
              <a:rPr b="0" i="0" lang="en-GB" sz="1900" u="none" cap="none" strike="noStrike">
                <a:solidFill>
                  <a:schemeClr val="dk1"/>
                </a:solidFill>
                <a:latin typeface="Lexend"/>
                <a:ea typeface="Lexend"/>
                <a:cs typeface="Lexend"/>
                <a:sym typeface="Lexend"/>
              </a:rPr>
              <a:t>I have put the following in ascending order by ordering the exponents first and where the exponents are the same, I have ordered the number.</a:t>
            </a:r>
            <a:r>
              <a:rPr b="0" i="0" lang="en-GB" sz="2200" u="none" cap="none" strike="noStrike">
                <a:solidFill>
                  <a:schemeClr val="dk1"/>
                </a:solidFill>
                <a:latin typeface="Lexend"/>
                <a:ea typeface="Lexend"/>
                <a:cs typeface="Lexend"/>
                <a:sym typeface="Lexend"/>
              </a:rPr>
              <a:t> </a:t>
            </a:r>
            <a:endParaRPr/>
          </a:p>
        </p:txBody>
      </p:sp>
      <p:sp>
        <p:nvSpPr>
          <p:cNvPr id="1422" name="Google Shape;1422;p98"/>
          <p:cNvSpPr txBox="1"/>
          <p:nvPr/>
        </p:nvSpPr>
        <p:spPr>
          <a:xfrm>
            <a:off x="4677328" y="3083088"/>
            <a:ext cx="1611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6.2 × 10</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sp>
        <p:nvSpPr>
          <p:cNvPr id="1423" name="Google Shape;1423;p98"/>
          <p:cNvSpPr txBox="1"/>
          <p:nvPr/>
        </p:nvSpPr>
        <p:spPr>
          <a:xfrm>
            <a:off x="6493870" y="3083088"/>
            <a:ext cx="1611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0.618 × 10</a:t>
            </a:r>
            <a:r>
              <a:rPr b="0" baseline="30000" i="0" lang="en-GB" sz="1800" u="none" cap="none" strike="noStrike">
                <a:solidFill>
                  <a:schemeClr val="dk1"/>
                </a:solidFill>
                <a:latin typeface="Lexend"/>
                <a:ea typeface="Lexend"/>
                <a:cs typeface="Lexend"/>
                <a:sym typeface="Lexend"/>
              </a:rPr>
              <a:t>3</a:t>
            </a:r>
            <a:endParaRPr b="0" i="0" sz="1800" u="none" cap="none" strike="noStrike">
              <a:solidFill>
                <a:srgbClr val="000000"/>
              </a:solidFill>
              <a:latin typeface="Arial"/>
              <a:ea typeface="Arial"/>
              <a:cs typeface="Arial"/>
              <a:sym typeface="Arial"/>
            </a:endParaRPr>
          </a:p>
        </p:txBody>
      </p:sp>
      <p:sp>
        <p:nvSpPr>
          <p:cNvPr id="1424" name="Google Shape;1424;p98"/>
          <p:cNvSpPr txBox="1"/>
          <p:nvPr/>
        </p:nvSpPr>
        <p:spPr>
          <a:xfrm>
            <a:off x="854345" y="3083088"/>
            <a:ext cx="16119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0.6 × 10</a:t>
            </a:r>
            <a:r>
              <a:rPr baseline="30000" lang="en-GB" sz="1800">
                <a:solidFill>
                  <a:schemeClr val="dk1"/>
                </a:solidFill>
                <a:latin typeface="Lexend"/>
                <a:ea typeface="Lexend"/>
                <a:cs typeface="Lexend"/>
                <a:sym typeface="Lexend"/>
              </a:rPr>
              <a:t>−</a:t>
            </a:r>
            <a:r>
              <a:rPr b="0" baseline="30000" i="0" lang="en-GB" sz="1800" u="none" cap="none" strike="noStrike">
                <a:solidFill>
                  <a:schemeClr val="dk1"/>
                </a:solidFill>
                <a:latin typeface="Lexend"/>
                <a:ea typeface="Lexend"/>
                <a:cs typeface="Lexend"/>
                <a:sym typeface="Lexend"/>
              </a:rPr>
              <a:t>1</a:t>
            </a:r>
            <a:endParaRPr b="0" i="0" sz="1800" u="none" cap="none" strike="noStrike">
              <a:solidFill>
                <a:srgbClr val="000000"/>
              </a:solidFill>
              <a:latin typeface="Arial"/>
              <a:ea typeface="Arial"/>
              <a:cs typeface="Arial"/>
              <a:sym typeface="Arial"/>
            </a:endParaRPr>
          </a:p>
        </p:txBody>
      </p:sp>
      <p:sp>
        <p:nvSpPr>
          <p:cNvPr id="1425" name="Google Shape;1425;p98"/>
          <p:cNvSpPr txBox="1"/>
          <p:nvPr/>
        </p:nvSpPr>
        <p:spPr>
          <a:xfrm>
            <a:off x="2670887" y="3083088"/>
            <a:ext cx="1801800" cy="4617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800"/>
              <a:buFont typeface="Arial"/>
              <a:buNone/>
            </a:pPr>
            <a:r>
              <a:rPr b="0" i="0" lang="en-GB" sz="1800" u="none" cap="none" strike="noStrike">
                <a:solidFill>
                  <a:schemeClr val="dk1"/>
                </a:solidFill>
                <a:latin typeface="Lexend"/>
                <a:ea typeface="Lexend"/>
                <a:cs typeface="Lexend"/>
                <a:sym typeface="Lexend"/>
              </a:rPr>
              <a:t>6 × 10</a:t>
            </a:r>
            <a:r>
              <a:rPr b="0" baseline="30000" i="0" lang="en-GB" sz="1800" u="none" cap="none" strike="noStrike">
                <a:solidFill>
                  <a:schemeClr val="dk1"/>
                </a:solidFill>
                <a:latin typeface="Lexend"/>
                <a:ea typeface="Lexend"/>
                <a:cs typeface="Lexend"/>
                <a:sym typeface="Lexend"/>
              </a:rPr>
              <a:t>2</a:t>
            </a:r>
            <a:endParaRPr b="0" i="0" sz="1800" u="none" cap="none" strike="noStrike">
              <a:solidFill>
                <a:srgbClr val="000000"/>
              </a:solidFill>
              <a:latin typeface="Arial"/>
              <a:ea typeface="Arial"/>
              <a:cs typeface="Arial"/>
              <a:sym typeface="Arial"/>
            </a:endParaRPr>
          </a:p>
        </p:txBody>
      </p:sp>
      <p:pic>
        <p:nvPicPr>
          <p:cNvPr id="1426" name="Google Shape;1426;p98"/>
          <p:cNvPicPr preferRelativeResize="0"/>
          <p:nvPr/>
        </p:nvPicPr>
        <p:blipFill>
          <a:blip r:embed="rId4">
            <a:alphaModFix/>
          </a:blip>
          <a:stretch>
            <a:fillRect/>
          </a:stretch>
        </p:blipFill>
        <p:spPr>
          <a:xfrm>
            <a:off x="2040677" y="1437627"/>
            <a:ext cx="807750" cy="1057915"/>
          </a:xfrm>
          <a:prstGeom prst="rect">
            <a:avLst/>
          </a:prstGeom>
          <a:noFill/>
          <a:ln>
            <a:noFill/>
          </a:ln>
        </p:spPr>
      </p:pic>
      <p:sp>
        <p:nvSpPr>
          <p:cNvPr id="1427" name="Google Shape;1427;p98"/>
          <p:cNvSpPr txBox="1"/>
          <p:nvPr/>
        </p:nvSpPr>
        <p:spPr>
          <a:xfrm>
            <a:off x="2001900" y="25478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sz="1800">
              <a:latin typeface="Lexend"/>
              <a:ea typeface="Lexend"/>
              <a:cs typeface="Lexend"/>
              <a:sym typeface="Lexend"/>
            </a:endParaRPr>
          </a:p>
        </p:txBody>
      </p:sp>
      <p:sp>
        <p:nvSpPr>
          <p:cNvPr id="1428" name="Google Shape;1428;p98"/>
          <p:cNvSpPr txBox="1"/>
          <p:nvPr>
            <p:ph idx="4294967295" type="body"/>
          </p:nvPr>
        </p:nvSpPr>
        <p:spPr>
          <a:xfrm>
            <a:off x="324000" y="683100"/>
            <a:ext cx="8312100" cy="3228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3) Laura says</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sz="1300"/>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t/>
            </a:r>
            <a:endParaRPr/>
          </a:p>
          <a:p>
            <a:pPr indent="0" lvl="0" marL="0" rtl="0" algn="l">
              <a:lnSpc>
                <a:spcPct val="115000"/>
              </a:lnSpc>
              <a:spcBef>
                <a:spcPts val="0"/>
              </a:spcBef>
              <a:spcAft>
                <a:spcPts val="0"/>
              </a:spcAft>
              <a:buSzPts val="2200"/>
              <a:buNone/>
            </a:pPr>
            <a:r>
              <a:rPr lang="en-GB"/>
              <a:t>Explain why Laura has not correctly ordered the numbers. </a:t>
            </a:r>
            <a:endParaRPr/>
          </a:p>
          <a:p>
            <a:pPr indent="0" lvl="0" marL="0" rtl="0" algn="l">
              <a:lnSpc>
                <a:spcPct val="115000"/>
              </a:lnSpc>
              <a:spcBef>
                <a:spcPts val="1000"/>
              </a:spcBef>
              <a:spcAft>
                <a:spcPts val="1000"/>
              </a:spcAft>
              <a:buSzPts val="2200"/>
              <a:buNone/>
            </a:pPr>
            <a:r>
              <a:t/>
            </a:r>
            <a:endParaRPr/>
          </a:p>
        </p:txBody>
      </p:sp>
      <p:sp>
        <p:nvSpPr>
          <p:cNvPr id="1429" name="Google Shape;1429;p98"/>
          <p:cNvSpPr txBox="1"/>
          <p:nvPr>
            <p:ph idx="1" type="body"/>
          </p:nvPr>
        </p:nvSpPr>
        <p:spPr>
          <a:xfrm>
            <a:off x="361200" y="3911100"/>
            <a:ext cx="8237700" cy="54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To order according to the </a:t>
            </a:r>
            <a:r>
              <a:rPr lang="en-GB" sz="1800">
                <a:latin typeface="Kalam"/>
                <a:ea typeface="Kalam"/>
                <a:cs typeface="Kalam"/>
                <a:sym typeface="Kalam"/>
              </a:rPr>
              <a:t>exponents</a:t>
            </a:r>
            <a:r>
              <a:rPr lang="en-GB" sz="1800">
                <a:latin typeface="Kalam"/>
                <a:ea typeface="Kalam"/>
                <a:cs typeface="Kalam"/>
                <a:sym typeface="Kalam"/>
              </a:rPr>
              <a:t> and then the A number, all the numbers must be correctly written in standard form. Some of these </a:t>
            </a:r>
            <a:r>
              <a:rPr lang="en-GB" sz="1800">
                <a:latin typeface="Kalam"/>
                <a:ea typeface="Kalam"/>
                <a:cs typeface="Kalam"/>
                <a:sym typeface="Kalam"/>
              </a:rPr>
              <a:t>numbers</a:t>
            </a:r>
            <a:r>
              <a:rPr lang="en-GB" sz="1800">
                <a:latin typeface="Kalam"/>
                <a:ea typeface="Kalam"/>
                <a:cs typeface="Kalam"/>
                <a:sym typeface="Kalam"/>
              </a:rPr>
              <a:t> are not in standard form. </a:t>
            </a:r>
            <a:endParaRPr sz="1800">
              <a:latin typeface="Kalam"/>
              <a:ea typeface="Kalam"/>
              <a:cs typeface="Kalam"/>
              <a:sym typeface="Kalam"/>
            </a:endParaRPr>
          </a:p>
        </p:txBody>
      </p:sp>
      <p:sp>
        <p:nvSpPr>
          <p:cNvPr id="1430" name="Google Shape;1430;p98"/>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Comparing numbers in standard form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9">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99"/>
          <p:cNvSpPr txBox="1"/>
          <p:nvPr>
            <p:ph type="title"/>
          </p:nvPr>
        </p:nvSpPr>
        <p:spPr>
          <a:xfrm>
            <a:off x="1225225" y="2090813"/>
            <a:ext cx="6852300" cy="369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800"/>
              <a:buNone/>
            </a:pPr>
            <a:r>
              <a:rPr lang="en-GB"/>
              <a:t>Comparing numbers in standard form</a:t>
            </a:r>
            <a:endParaRPr/>
          </a:p>
        </p:txBody>
      </p:sp>
      <p:sp>
        <p:nvSpPr>
          <p:cNvPr id="1436" name="Google Shape;1436;p99"/>
          <p:cNvSpPr txBox="1"/>
          <p:nvPr>
            <p:ph idx="2" type="title"/>
          </p:nvPr>
        </p:nvSpPr>
        <p:spPr>
          <a:xfrm>
            <a:off x="1225225" y="3027088"/>
            <a:ext cx="6852300" cy="369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800"/>
              <a:buNone/>
            </a:pPr>
            <a:r>
              <a:rPr lang="en-GB"/>
              <a:t>Ordering numbers using standard </a:t>
            </a:r>
            <a:r>
              <a:rPr lang="en-GB"/>
              <a:t>form</a:t>
            </a:r>
            <a:endParaRPr/>
          </a:p>
        </p:txBody>
      </p:sp>
      <p:sp>
        <p:nvSpPr>
          <p:cNvPr id="1437" name="Google Shape;1437;p99"/>
          <p:cNvSpPr txBox="1"/>
          <p:nvPr>
            <p:ph idx="3" type="title"/>
          </p:nvPr>
        </p:nvSpPr>
        <p:spPr>
          <a:xfrm>
            <a:off x="324000" y="657600"/>
            <a:ext cx="5741400" cy="615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GB"/>
              <a:t>Ordering numbers in standard form</a:t>
            </a:r>
            <a:endParaRPr/>
          </a:p>
        </p:txBody>
      </p:sp>
      <p:pic>
        <p:nvPicPr>
          <p:cNvPr id="1438" name="Google Shape;1438;p99"/>
          <p:cNvPicPr preferRelativeResize="0"/>
          <p:nvPr/>
        </p:nvPicPr>
        <p:blipFill rotWithShape="1">
          <a:blip r:embed="rId3">
            <a:alphaModFix/>
          </a:blip>
          <a:srcRect b="0" l="0" r="0" t="0"/>
          <a:stretch/>
        </p:blipFill>
        <p:spPr>
          <a:xfrm>
            <a:off x="409982" y="2988375"/>
            <a:ext cx="450575" cy="446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100"/>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Standard form allows a standard convention of writing very big or very small numbers. If it wasn’t for standard form, there would be too many different representations for the same number.</a:t>
            </a:r>
            <a:endParaRPr/>
          </a:p>
          <a:p>
            <a:pPr indent="0" lvl="0" marL="0" rtl="0" algn="l">
              <a:lnSpc>
                <a:spcPct val="115000"/>
              </a:lnSpc>
              <a:spcBef>
                <a:spcPts val="1000"/>
              </a:spcBef>
              <a:spcAft>
                <a:spcPts val="0"/>
              </a:spcAft>
              <a:buSzPts val="2200"/>
              <a:buNone/>
            </a:pPr>
            <a:r>
              <a:rPr lang="en-GB"/>
              <a:t>For example, all of these represent the same number 53</a:t>
            </a:r>
            <a:endParaRPr/>
          </a:p>
          <a:p>
            <a:pPr indent="0" lvl="0" marL="0" rtl="0" algn="l">
              <a:lnSpc>
                <a:spcPct val="115000"/>
              </a:lnSpc>
              <a:spcBef>
                <a:spcPts val="1000"/>
              </a:spcBef>
              <a:spcAft>
                <a:spcPts val="1000"/>
              </a:spcAft>
              <a:buSzPts val="2200"/>
              <a:buNone/>
            </a:pPr>
            <a:r>
              <a:t/>
            </a:r>
            <a:endParaRPr/>
          </a:p>
        </p:txBody>
      </p:sp>
      <p:sp>
        <p:nvSpPr>
          <p:cNvPr id="1444" name="Google Shape;1444;p10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Ordering numbers using standard </a:t>
            </a:r>
            <a:r>
              <a:rPr lang="en-GB"/>
              <a:t>form</a:t>
            </a:r>
            <a:endParaRPr/>
          </a:p>
        </p:txBody>
      </p:sp>
      <p:grpSp>
        <p:nvGrpSpPr>
          <p:cNvPr id="1445" name="Google Shape;1445;p100"/>
          <p:cNvGrpSpPr/>
          <p:nvPr/>
        </p:nvGrpSpPr>
        <p:grpSpPr>
          <a:xfrm>
            <a:off x="363125" y="3110525"/>
            <a:ext cx="8350900" cy="1003475"/>
            <a:chOff x="363125" y="3034325"/>
            <a:chExt cx="8350900" cy="1003475"/>
          </a:xfrm>
        </p:grpSpPr>
        <p:sp>
          <p:nvSpPr>
            <p:cNvPr id="1446" name="Google Shape;1446;p100"/>
            <p:cNvSpPr/>
            <p:nvPr/>
          </p:nvSpPr>
          <p:spPr>
            <a:xfrm>
              <a:off x="363125" y="3067600"/>
              <a:ext cx="1702800" cy="9702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7" name="Google Shape;1447;p100"/>
            <p:cNvSpPr/>
            <p:nvPr/>
          </p:nvSpPr>
          <p:spPr>
            <a:xfrm>
              <a:off x="2469620" y="3034325"/>
              <a:ext cx="1702800" cy="9702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8" name="Google Shape;1448;p100"/>
            <p:cNvSpPr/>
            <p:nvPr/>
          </p:nvSpPr>
          <p:spPr>
            <a:xfrm>
              <a:off x="4471450" y="3034325"/>
              <a:ext cx="1848300" cy="9702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9" name="Google Shape;1449;p100"/>
            <p:cNvSpPr/>
            <p:nvPr/>
          </p:nvSpPr>
          <p:spPr>
            <a:xfrm>
              <a:off x="6472125" y="3034325"/>
              <a:ext cx="2241900" cy="9702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descr="&lt;math xmlns=&quot;http://www.w3.org/1998/Math/MathML&quot; display=&quot;block&quot; data-is-equatio=&quot;1&quot; data-latex=&quot;530\times0.1\ \ \ \ \ \ 530\ \times\frac{1}{10}\ \ \ \ 0.53\ \times10^2\ \ \ 5300\ \times\frac{1}{100}\ &quot;&gt;&lt;mn&gt;530&lt;/mn&gt;&lt;mo&gt;×&lt;/mo&gt;&lt;mn&gt;0.1&lt;/mn&gt;&lt;mtext&gt;&lt;/mtext&gt;&lt;mtext&gt;&lt;/mtext&gt;&lt;mtext&gt;&lt;/mtext&gt;&lt;mtext&gt;&lt;/mtext&gt;&lt;mtext&gt;&lt;/mtext&gt;&lt;mtext&gt;&lt;/mtext&gt;&lt;mn&gt;530&lt;/mn&gt;&lt;mtext&gt;&lt;/mtext&gt;&lt;mo&gt;×&lt;/mo&gt;&lt;mfrac&gt;&lt;mn&gt;1&lt;/mn&gt;&lt;mn&gt;10&lt;/mn&gt;&lt;/mfrac&gt;&lt;mtext&gt;&lt;/mtext&gt;&lt;mtext&gt;&lt;/mtext&gt;&lt;mtext&gt;&lt;/mtext&gt;&lt;mtext&gt;&lt;/mtext&gt;&lt;mn&gt;0.53&lt;/mn&gt;&lt;mtext&gt;&lt;/mtext&gt;&lt;mo&gt;×&lt;/mo&gt;&lt;msup&gt;&lt;mn&gt;10&lt;/mn&gt;&lt;mn&gt;2&lt;/mn&gt;&lt;/msup&gt;&lt;mtext&gt;&lt;/mtext&gt;&lt;mtext&gt;&lt;/mtext&gt;&lt;mtext&gt;&lt;/mtext&gt;&lt;mn&gt;5300&lt;/mn&gt;&lt;mtext&gt;&lt;/mtext&gt;&lt;mo&gt;×&lt;/mo&gt;&lt;mfrac&gt;&lt;mn&gt;1&lt;/mn&gt;&lt;mn&gt;100&lt;/mn&gt;&lt;/mfrac&gt;&lt;mtext&gt;&lt;/mtext&gt;&lt;/math&gt;" id="1450" name="Google Shape;1450;p100" title="530 times 0.1 530 times one tenth 0.53 times 10 squared 5300 times 1 over 100"/>
          <p:cNvPicPr preferRelativeResize="0"/>
          <p:nvPr/>
        </p:nvPicPr>
        <p:blipFill>
          <a:blip r:embed="rId3">
            <a:alphaModFix/>
          </a:blip>
          <a:stretch>
            <a:fillRect/>
          </a:stretch>
        </p:blipFill>
        <p:spPr>
          <a:xfrm>
            <a:off x="408225" y="3191518"/>
            <a:ext cx="8198499" cy="8163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0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Ordering numbers using standard </a:t>
            </a:r>
            <a:r>
              <a:rPr lang="en-GB"/>
              <a:t>form</a:t>
            </a:r>
            <a:endParaRPr/>
          </a:p>
        </p:txBody>
      </p:sp>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56" name="Google Shape;1456;p101"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0" r="89175" t="0"/>
          <a:stretch/>
        </p:blipFill>
        <p:spPr>
          <a:xfrm>
            <a:off x="337400" y="2885325"/>
            <a:ext cx="1150746" cy="344596"/>
          </a:xfrm>
          <a:prstGeom prst="rect">
            <a:avLst/>
          </a:prstGeom>
          <a:noFill/>
          <a:ln>
            <a:noFill/>
          </a:ln>
        </p:spPr>
      </p:pic>
      <p:sp>
        <p:nvSpPr>
          <p:cNvPr id="1457" name="Google Shape;1457;p101"/>
          <p:cNvSpPr txBox="1"/>
          <p:nvPr/>
        </p:nvSpPr>
        <p:spPr>
          <a:xfrm>
            <a:off x="4861000" y="2885325"/>
            <a:ext cx="2092800" cy="15282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There are lots of ways. You can do it in steps.</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58" name="Google Shape;1458;p101"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11096" r="61593" t="0"/>
          <a:stretch/>
        </p:blipFill>
        <p:spPr>
          <a:xfrm>
            <a:off x="1488144" y="2885325"/>
            <a:ext cx="2903281" cy="344596"/>
          </a:xfrm>
          <a:prstGeom prst="rect">
            <a:avLst/>
          </a:prstGeom>
          <a:noFill/>
          <a:ln>
            <a:noFill/>
          </a:ln>
        </p:spPr>
      </p:pic>
      <p:sp>
        <p:nvSpPr>
          <p:cNvPr id="1459" name="Google Shape;1459;p101"/>
          <p:cNvSpPr txBox="1"/>
          <p:nvPr>
            <p:ph idx="1" type="body"/>
          </p:nvPr>
        </p:nvSpPr>
        <p:spPr>
          <a:xfrm>
            <a:off x="324000" y="687025"/>
            <a:ext cx="8237700" cy="174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Working out the original number using skills on multiplication of fractions, the associative law and/or multiplication of decimals, allows us to write it correctly in standard form and order if needed.</a:t>
            </a:r>
            <a:endParaRPr/>
          </a:p>
        </p:txBody>
      </p:sp>
      <p:sp>
        <p:nvSpPr>
          <p:cNvPr id="1460" name="Google Shape;1460;p101"/>
          <p:cNvSpPr txBox="1"/>
          <p:nvPr>
            <p:ph idx="1" type="body"/>
          </p:nvPr>
        </p:nvSpPr>
        <p:spPr>
          <a:xfrm>
            <a:off x="324000" y="2249288"/>
            <a:ext cx="7086900" cy="39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For example, how would you work out the number:</a:t>
            </a:r>
            <a:endParaRPr/>
          </a:p>
        </p:txBody>
      </p:sp>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61" name="Google Shape;1461;p101"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37629" r="40728" t="0"/>
          <a:stretch/>
        </p:blipFill>
        <p:spPr>
          <a:xfrm>
            <a:off x="1488144" y="3229921"/>
            <a:ext cx="2300585" cy="344596"/>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62" name="Google Shape;1462;p101"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58519" r="24167" t="0"/>
          <a:stretch/>
        </p:blipFill>
        <p:spPr>
          <a:xfrm>
            <a:off x="1488145" y="3574516"/>
            <a:ext cx="1840440" cy="344596"/>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63" name="Google Shape;1463;p101"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75634" r="11619" t="0"/>
          <a:stretch/>
        </p:blipFill>
        <p:spPr>
          <a:xfrm>
            <a:off x="1534826" y="3975404"/>
            <a:ext cx="1354957" cy="344596"/>
          </a:xfrm>
          <a:prstGeom prst="rect">
            <a:avLst/>
          </a:prstGeom>
          <a:noFill/>
          <a:ln>
            <a:noFill/>
          </a:ln>
        </p:spPr>
      </p:pic>
      <p:sp>
        <p:nvSpPr>
          <p:cNvPr id="1464" name="Google Shape;1464;p101"/>
          <p:cNvSpPr txBox="1"/>
          <p:nvPr>
            <p:ph idx="1" type="body"/>
          </p:nvPr>
        </p:nvSpPr>
        <p:spPr>
          <a:xfrm>
            <a:off x="324000" y="4428888"/>
            <a:ext cx="7086900" cy="39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In </a:t>
            </a:r>
            <a:r>
              <a:rPr lang="en-GB"/>
              <a:t>standard</a:t>
            </a:r>
            <a:r>
              <a:rPr lang="en-GB"/>
              <a:t> form, 4.5 × 10</a:t>
            </a:r>
            <a:r>
              <a:rPr baseline="30000" lang="en-GB"/>
              <a:t>4</a:t>
            </a:r>
            <a:r>
              <a:rPr lang="en-GB"/>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10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Ordering numbers using standard </a:t>
            </a:r>
            <a:r>
              <a:rPr lang="en-GB"/>
              <a:t>form</a:t>
            </a:r>
            <a:endParaRPr/>
          </a:p>
        </p:txBody>
      </p:sp>
      <p:sp>
        <p:nvSpPr>
          <p:cNvPr id="1470" name="Google Shape;1470;p102"/>
          <p:cNvSpPr txBox="1"/>
          <p:nvPr>
            <p:ph idx="1" type="body"/>
          </p:nvPr>
        </p:nvSpPr>
        <p:spPr>
          <a:xfrm>
            <a:off x="324000" y="687025"/>
            <a:ext cx="8237700" cy="174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Working out the original number using skills on multiplication of fractions, the associative law and/or multiplication of decimals, allows us to write it correctly in standard form and order if needed.</a:t>
            </a:r>
            <a:endParaRPr/>
          </a:p>
        </p:txBody>
      </p:sp>
      <p:sp>
        <p:nvSpPr>
          <p:cNvPr id="1471" name="Google Shape;1471;p102"/>
          <p:cNvSpPr txBox="1"/>
          <p:nvPr>
            <p:ph idx="1" type="body"/>
          </p:nvPr>
        </p:nvSpPr>
        <p:spPr>
          <a:xfrm>
            <a:off x="324000" y="2249288"/>
            <a:ext cx="7086900" cy="39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For example, how would you work out the number:</a:t>
            </a:r>
            <a:endParaRPr/>
          </a:p>
        </p:txBody>
      </p:sp>
      <p:cxnSp>
        <p:nvCxnSpPr>
          <p:cNvPr id="1472" name="Google Shape;1472;p102"/>
          <p:cNvCxnSpPr/>
          <p:nvPr/>
        </p:nvCxnSpPr>
        <p:spPr>
          <a:xfrm>
            <a:off x="4342850" y="2921025"/>
            <a:ext cx="0" cy="1870500"/>
          </a:xfrm>
          <a:prstGeom prst="straightConnector1">
            <a:avLst/>
          </a:prstGeom>
          <a:noFill/>
          <a:ln cap="flat" cmpd="sng" w="9525">
            <a:solidFill>
              <a:schemeClr val="dk2"/>
            </a:solidFill>
            <a:prstDash val="solid"/>
            <a:round/>
            <a:headEnd len="med" w="med" type="none"/>
            <a:tailEnd len="med" w="med" type="none"/>
          </a:ln>
        </p:spPr>
      </p:cxnSp>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73" name="Google Shape;1473;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5850" l="0" r="85268" t="54351"/>
          <a:stretch/>
        </p:blipFill>
        <p:spPr>
          <a:xfrm>
            <a:off x="4417172" y="2867375"/>
            <a:ext cx="1490227" cy="330675"/>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74" name="Google Shape;1474;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11725" l="15124" r="53306" t="60231"/>
          <a:stretch/>
        </p:blipFill>
        <p:spPr>
          <a:xfrm>
            <a:off x="5832923" y="2923050"/>
            <a:ext cx="3053624" cy="316175"/>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75" name="Google Shape;1475;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12142" l="48078" r="27534" t="60648"/>
          <a:stretch/>
        </p:blipFill>
        <p:spPr>
          <a:xfrm>
            <a:off x="5832922" y="3333275"/>
            <a:ext cx="2358927" cy="316175"/>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76" name="Google Shape;1476;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14418" l="72147" r="9998" t="62924"/>
          <a:stretch/>
        </p:blipFill>
        <p:spPr>
          <a:xfrm>
            <a:off x="5744479" y="3743500"/>
            <a:ext cx="1727027" cy="316175"/>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77" name="Google Shape;1477;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14418" l="90000" r="-521" t="62924"/>
          <a:stretch/>
        </p:blipFill>
        <p:spPr>
          <a:xfrm>
            <a:off x="5803176" y="4086200"/>
            <a:ext cx="1017702" cy="316175"/>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78" name="Google Shape;1478;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0" r="89175" t="0"/>
          <a:stretch/>
        </p:blipFill>
        <p:spPr>
          <a:xfrm>
            <a:off x="337400" y="2885325"/>
            <a:ext cx="1130470" cy="344596"/>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79" name="Google Shape;1479;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11096" r="61593" t="0"/>
          <a:stretch/>
        </p:blipFill>
        <p:spPr>
          <a:xfrm>
            <a:off x="1467870" y="2885325"/>
            <a:ext cx="2852132" cy="344596"/>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80" name="Google Shape;1480;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37629" r="40728" t="0"/>
          <a:stretch/>
        </p:blipFill>
        <p:spPr>
          <a:xfrm>
            <a:off x="1467870" y="3229921"/>
            <a:ext cx="2260050" cy="344596"/>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81" name="Google Shape;1481;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58519" r="24167" t="0"/>
          <a:stretch/>
        </p:blipFill>
        <p:spPr>
          <a:xfrm>
            <a:off x="1467871" y="3574516"/>
            <a:ext cx="1808015" cy="344596"/>
          </a:xfrm>
          <a:prstGeom prst="rect">
            <a:avLst/>
          </a:prstGeom>
          <a:noFill/>
          <a:ln>
            <a:noFill/>
          </a:ln>
        </p:spPr>
      </p:pic>
      <p:pic>
        <p:nvPicPr>
          <p:cNvPr descr="&lt;math xmlns=&quot;http://www.w3.org/1998/Math/MathML&quot; display=&quot;block&quot; data-is-equatio=&quot;1&quot; data-latex=&quot;\begin{array}{l}45\ \times10^3\ =\ 45\ \times10\ \times10\ \times10\ =450\ \times10\ \times10\ =\ 4500\ \times10\ =45\ 000\\&amp;#13;&amp;#10;469\ \times0.001\ =\ 469\ \times\ 0.1\ \times\ 0.1\ \times\ 0.1\ \ =\ 46.9\ \times\ 0.1\ \times\ 0.1\ =\ 4.69\ \times\ 0.1\ =\ 0.469\end{array}&quot;&gt;&lt;mtable columnalign=&quot;left&quot; columnspacing=&quot;1em&quot; rowspacing=&quot;4pt&quot;&gt;&lt;mtr&gt;&lt;mtd&gt;&lt;mn&gt;45&lt;/mn&gt;&lt;mtext&gt;&lt;/mtext&gt;&lt;mo&gt;×&lt;/mo&gt;&lt;msup&gt;&lt;mn&gt;10&lt;/mn&gt;&lt;mn&gt;3&lt;/mn&gt;&lt;/msup&gt;&lt;mtext&gt;&lt;/mtext&gt;&lt;mo&gt;=&lt;/mo&gt;&lt;mtext&gt;&lt;/mtext&gt;&lt;mn&gt;45&lt;/mn&gt;&lt;mtext&gt;&lt;/mtext&gt;&lt;mo&gt;×&lt;/mo&gt;&lt;mn&gt;10&lt;/mn&gt;&lt;mtext&gt;&lt;/mtext&gt;&lt;mo&gt;×&lt;/mo&gt;&lt;mn&gt;10&lt;/mn&gt;&lt;mtext&gt;&lt;/mtext&gt;&lt;mo&gt;×&lt;/mo&gt;&lt;mn&gt;10&lt;/mn&gt;&lt;mtext&gt;&lt;/mtext&gt;&lt;mo&gt;=&lt;/mo&gt;&lt;mn&gt;450&lt;/mn&gt;&lt;mtext&gt;&lt;/mtext&gt;&lt;mo&gt;×&lt;/mo&gt;&lt;mn&gt;10&lt;/mn&gt;&lt;mtext&gt;&lt;/mtext&gt;&lt;mo&gt;×&lt;/mo&gt;&lt;mn&gt;10&lt;/mn&gt;&lt;mtext&gt;&lt;/mtext&gt;&lt;mo&gt;=&lt;/mo&gt;&lt;mtext&gt;&lt;/mtext&gt;&lt;mn&gt;4500&lt;/mn&gt;&lt;mtext&gt;&lt;/mtext&gt;&lt;mo&gt;×&lt;/mo&gt;&lt;mn&gt;10&lt;/mn&gt;&lt;mtext&gt;&lt;/mtext&gt;&lt;mo&gt;=&lt;/mo&gt;&lt;mn&gt;45&lt;/mn&gt;&lt;mtext&gt;&lt;/mtext&gt;&lt;mn&gt;000&lt;/mn&gt;&lt;/mtd&gt;&lt;/mtr&gt;&lt;mtr&gt;&lt;mtd&gt;&lt;mn&gt;469&lt;/mn&gt;&lt;mtext&gt;&lt;/mtext&gt;&lt;mo&gt;×&lt;/mo&gt;&lt;mn&gt;0.001&lt;/mn&gt;&lt;mtext&gt;&lt;/mtext&gt;&lt;mo&gt;=&lt;/mo&gt;&lt;mtext&gt;&lt;/mtext&gt;&lt;mn&gt;469&lt;/mn&gt;&lt;mtext&gt;&lt;/mtext&gt;&lt;mo&gt;×&lt;/mo&gt;&lt;mtext&gt;&lt;/mtext&gt;&lt;mn&gt;0.1&lt;/mn&gt;&lt;mtext&gt;&lt;/mtext&gt;&lt;mo&gt;×&lt;/mo&gt;&lt;mtext&gt;&lt;/mtext&gt;&lt;mn&gt;0.1&lt;/mn&gt;&lt;mtext&gt;&lt;/mtext&gt;&lt;mo&gt;×&lt;/mo&gt;&lt;mtext&gt;&lt;/mtext&gt;&lt;mn&gt;0.1&lt;/mn&gt;&lt;mtext&gt;&lt;/mtext&gt;&lt;mtext&gt;&lt;/mtext&gt;&lt;mo&gt;=&lt;/mo&gt;&lt;mtext&gt;&lt;/mtext&gt;&lt;mn&gt;46.9&lt;/mn&gt;&lt;mtext&gt;&lt;/mtext&gt;&lt;mo&gt;×&lt;/mo&gt;&lt;mtext&gt;&lt;/mtext&gt;&lt;mn&gt;0.1&lt;/mn&gt;&lt;mtext&gt;&lt;/mtext&gt;&lt;mo&gt;×&lt;/mo&gt;&lt;mtext&gt;&lt;/mtext&gt;&lt;mn&gt;0.1&lt;/mn&gt;&lt;mtext&gt;&lt;/mtext&gt;&lt;mo&gt;=&lt;/mo&gt;&lt;mtext&gt;&lt;/mtext&gt;&lt;mn&gt;4.69&lt;/mn&gt;&lt;mtext&gt;&lt;/mtext&gt;&lt;mo&gt;×&lt;/mo&gt;&lt;mtext&gt;&lt;/mtext&gt;&lt;mn&gt;0.1&lt;/mn&gt;&lt;mtext&gt;&lt;/mtext&gt;&lt;mo&gt;=&lt;/mo&gt;&lt;mtext&gt;&lt;/mtext&gt;&lt;mn&gt;0.469&lt;/mn&gt;&lt;/mtd&gt;&lt;/mtr&gt;&lt;/mtable&gt;&lt;/math&gt;" id="1482" name="Google Shape;1482;p102" title="2 lines Line 1: 45 times 10 cubed equals 45 times 10 times 10 times 10 equals 450 times 10 times 10 equals 4500 times 10 equals 45 000 Line 2: 469 times 0.001 equals 469 times 0.1 times 0.1 times 0.1 equals 46.9 times 0.1 times 0.1 equals 4.69 times 0.1 equals 0.469"/>
          <p:cNvPicPr preferRelativeResize="0"/>
          <p:nvPr/>
        </p:nvPicPr>
        <p:blipFill rotWithShape="1">
          <a:blip r:embed="rId3">
            <a:alphaModFix/>
          </a:blip>
          <a:srcRect b="44549" l="75634" r="11619" t="0"/>
          <a:stretch/>
        </p:blipFill>
        <p:spPr>
          <a:xfrm>
            <a:off x="1513729" y="3975404"/>
            <a:ext cx="1331087" cy="344596"/>
          </a:xfrm>
          <a:prstGeom prst="rect">
            <a:avLst/>
          </a:prstGeom>
          <a:noFill/>
          <a:ln>
            <a:noFill/>
          </a:ln>
        </p:spPr>
      </p:pic>
      <p:sp>
        <p:nvSpPr>
          <p:cNvPr id="1483" name="Google Shape;1483;p102"/>
          <p:cNvSpPr txBox="1"/>
          <p:nvPr>
            <p:ph idx="1" type="body"/>
          </p:nvPr>
        </p:nvSpPr>
        <p:spPr>
          <a:xfrm>
            <a:off x="324000" y="4428900"/>
            <a:ext cx="3682200" cy="39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In standard form, 4.5 × 10</a:t>
            </a:r>
            <a:r>
              <a:rPr baseline="30000" lang="en-GB"/>
              <a:t>4</a:t>
            </a:r>
            <a:r>
              <a:rPr lang="en-GB"/>
              <a:t> </a:t>
            </a:r>
            <a:endParaRPr/>
          </a:p>
        </p:txBody>
      </p:sp>
      <p:sp>
        <p:nvSpPr>
          <p:cNvPr id="1484" name="Google Shape;1484;p102"/>
          <p:cNvSpPr txBox="1"/>
          <p:nvPr>
            <p:ph idx="1" type="body"/>
          </p:nvPr>
        </p:nvSpPr>
        <p:spPr>
          <a:xfrm>
            <a:off x="4415700" y="4428900"/>
            <a:ext cx="4296900" cy="39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a:t>In standard form, 4.69 × 10</a:t>
            </a:r>
            <a:r>
              <a:rPr baseline="30000" lang="en-GB"/>
              <a:t>−1</a:t>
            </a:r>
            <a:r>
              <a:rPr lang="en-GB"/>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103"/>
          <p:cNvSpPr txBox="1"/>
          <p:nvPr>
            <p:ph idx="1" type="subTitle"/>
          </p:nvPr>
        </p:nvSpPr>
        <p:spPr>
          <a:xfrm>
            <a:off x="324000" y="690925"/>
            <a:ext cx="3962400" cy="109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700"/>
              <a:t>Using correct </a:t>
            </a:r>
            <a:r>
              <a:rPr lang="en-GB" sz="1700"/>
              <a:t>standard</a:t>
            </a:r>
            <a:r>
              <a:rPr lang="en-GB" sz="1700"/>
              <a:t> form, put these numbers in </a:t>
            </a:r>
            <a:r>
              <a:rPr lang="en-GB" sz="1700"/>
              <a:t>ascending</a:t>
            </a:r>
            <a:r>
              <a:rPr lang="en-GB" sz="1700"/>
              <a:t> order (smallest to </a:t>
            </a:r>
            <a:r>
              <a:rPr lang="en-GB" sz="1700"/>
              <a:t>largest</a:t>
            </a:r>
            <a:r>
              <a:rPr lang="en-GB" sz="1700"/>
              <a:t>)</a:t>
            </a:r>
            <a:endParaRPr sz="1700"/>
          </a:p>
        </p:txBody>
      </p:sp>
      <p:sp>
        <p:nvSpPr>
          <p:cNvPr id="1490" name="Google Shape;1490;p10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Ordering numbers using standard </a:t>
            </a:r>
            <a:r>
              <a:rPr lang="en-GB"/>
              <a:t>form</a:t>
            </a:r>
            <a:endParaRPr/>
          </a:p>
        </p:txBody>
      </p:sp>
      <p:sp>
        <p:nvSpPr>
          <p:cNvPr id="1491" name="Google Shape;1491;p103"/>
          <p:cNvSpPr txBox="1"/>
          <p:nvPr>
            <p:ph idx="2" type="subTitle"/>
          </p:nvPr>
        </p:nvSpPr>
        <p:spPr>
          <a:xfrm>
            <a:off x="4706075" y="657600"/>
            <a:ext cx="4100100" cy="895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700"/>
              <a:t>Using correct standard form, put these numbers in ascending order (smallest to largest)</a:t>
            </a:r>
            <a:endParaRPr sz="1700"/>
          </a:p>
        </p:txBody>
      </p:sp>
      <p:pic>
        <p:nvPicPr>
          <p:cNvPr descr="&lt;math xmlns=&quot;http://www.w3.org/1998/Math/MathML&quot; display=&quot;block&quot; data-is-equatio=&quot;1&quot; data-latex=&quot;54\ \times10^2\ \ \ \ \ \ \ \ 653\ \times\frac{1}{10^{-2}}\ \ \ \ \ 8.9\ \times10^{ }\ \ \ \ \ \ \ 9900\ \times0.01&quot;&gt;&lt;mn&gt;54&lt;/mn&gt;&lt;mtext&gt;&lt;/mtext&gt;&lt;mo&gt;×&lt;/mo&gt;&lt;msup&gt;&lt;mn&gt;10&lt;/mn&gt;&lt;mn&gt;2&lt;/mn&gt;&lt;/msup&gt;&lt;mtext&gt;&lt;/mtext&gt;&lt;mtext&gt;&lt;/mtext&gt;&lt;mtext&gt;&lt;/mtext&gt;&lt;mtext&gt;&lt;/mtext&gt;&lt;mtext&gt;&lt;/mtext&gt;&lt;mtext&gt;&lt;/mtext&gt;&lt;mtext&gt;&lt;/mtext&gt;&lt;mtext&gt;&lt;/mtext&gt;&lt;mn&gt;653&lt;/mn&gt;&lt;mtext&gt;&lt;/mtext&gt;&lt;mo&gt;×&lt;/mo&gt;&lt;mfrac&gt;&lt;mn&gt;1&lt;/mn&gt;&lt;msup&gt;&lt;mn&gt;10&lt;/mn&gt;&lt;mrow data-mjx-texclass=&quot;ORD&quot;&gt;&lt;mo&gt;−&lt;/mo&gt;&lt;mn&gt;2&lt;/mn&gt;&lt;/mrow&gt;&lt;/msup&gt;&lt;/mfrac&gt;&lt;mtext&gt;&lt;/mtext&gt;&lt;mtext&gt;&lt;/mtext&gt;&lt;mtext&gt;&lt;/mtext&gt;&lt;mtext&gt;&lt;/mtext&gt;&lt;mtext&gt;&lt;/mtext&gt;&lt;mn&gt;8.9&lt;/mn&gt;&lt;mtext&gt;&lt;/mtext&gt;&lt;mo&gt;×&lt;/mo&gt;&lt;msup&gt;&lt;mn&gt;10&lt;/mn&gt;&lt;mrow data-mjx-texclass=&quot;ORD&quot;/&gt;&lt;/msup&gt;&lt;mtext&gt;&lt;/mtext&gt;&lt;mtext&gt;&lt;/mtext&gt;&lt;mtext&gt;&lt;/mtext&gt;&lt;mtext&gt;&lt;/mtext&gt;&lt;mtext&gt;&lt;/mtext&gt;&lt;mtext&gt;&lt;/mtext&gt;&lt;mtext&gt;&lt;/mtext&gt;&lt;mn&gt;9900&lt;/mn&gt;&lt;mtext&gt;&lt;/mtext&gt;&lt;mo&gt;×&lt;/mo&gt;&lt;mn&gt;0.01&lt;/mn&gt;&lt;/math&gt;" id="1492" name="Google Shape;1492;p103" title="54 times 10 squared 653 times the fraction with numerator 1 and denominator 10 to the negative 2 power 8.9 times 10 raised to the power 9900 times 0.01"/>
          <p:cNvPicPr preferRelativeResize="0"/>
          <p:nvPr/>
        </p:nvPicPr>
        <p:blipFill rotWithShape="1">
          <a:blip r:embed="rId3">
            <a:alphaModFix/>
          </a:blip>
          <a:srcRect b="0" l="52734" r="0" t="0"/>
          <a:stretch/>
        </p:blipFill>
        <p:spPr>
          <a:xfrm>
            <a:off x="524298" y="3082450"/>
            <a:ext cx="2845301" cy="613500"/>
          </a:xfrm>
          <a:prstGeom prst="rect">
            <a:avLst/>
          </a:prstGeom>
          <a:noFill/>
          <a:ln>
            <a:noFill/>
          </a:ln>
        </p:spPr>
      </p:pic>
      <p:sp>
        <p:nvSpPr>
          <p:cNvPr id="1493" name="Google Shape;1493;p103"/>
          <p:cNvSpPr txBox="1"/>
          <p:nvPr/>
        </p:nvSpPr>
        <p:spPr>
          <a:xfrm>
            <a:off x="287325" y="2186550"/>
            <a:ext cx="1645800" cy="8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54 × 10 </a:t>
            </a:r>
            <a:r>
              <a:rPr lang="en-GB" sz="1800">
                <a:solidFill>
                  <a:schemeClr val="dk1"/>
                </a:solidFill>
                <a:latin typeface="Kalam"/>
                <a:ea typeface="Kalam"/>
                <a:cs typeface="Kalam"/>
                <a:sym typeface="Kalam"/>
              </a:rPr>
              <a:t>× 10</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5400</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5.4 × 10</a:t>
            </a:r>
            <a:r>
              <a:rPr baseline="30000" lang="en-GB" sz="1800">
                <a:solidFill>
                  <a:schemeClr val="dk1"/>
                </a:solidFill>
                <a:latin typeface="Kalam"/>
                <a:ea typeface="Kalam"/>
                <a:cs typeface="Kalam"/>
                <a:sym typeface="Kalam"/>
              </a:rPr>
              <a:t>3</a:t>
            </a:r>
            <a:endParaRPr baseline="30000" sz="1800">
              <a:solidFill>
                <a:schemeClr val="dk1"/>
              </a:solidFill>
              <a:latin typeface="Kalam"/>
              <a:ea typeface="Kalam"/>
              <a:cs typeface="Kalam"/>
              <a:sym typeface="Kalam"/>
            </a:endParaRPr>
          </a:p>
        </p:txBody>
      </p:sp>
      <p:sp>
        <p:nvSpPr>
          <p:cNvPr id="1494" name="Google Shape;1494;p103"/>
          <p:cNvSpPr txBox="1"/>
          <p:nvPr/>
        </p:nvSpPr>
        <p:spPr>
          <a:xfrm>
            <a:off x="2001250" y="2252100"/>
            <a:ext cx="2369100" cy="8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653 ×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6.53</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6.53</a:t>
            </a:r>
            <a:r>
              <a:rPr lang="en-GB" sz="1800">
                <a:solidFill>
                  <a:schemeClr val="dk1"/>
                </a:solidFill>
                <a:latin typeface="Kalam"/>
                <a:ea typeface="Kalam"/>
                <a:cs typeface="Kalam"/>
                <a:sym typeface="Kalam"/>
              </a:rPr>
              <a:t> × 10</a:t>
            </a:r>
            <a:r>
              <a:rPr baseline="30000" lang="en-GB" sz="1800">
                <a:solidFill>
                  <a:schemeClr val="dk1"/>
                </a:solidFill>
                <a:latin typeface="Kalam"/>
                <a:ea typeface="Kalam"/>
                <a:cs typeface="Kalam"/>
                <a:sym typeface="Kalam"/>
              </a:rPr>
              <a:t>0</a:t>
            </a:r>
            <a:r>
              <a:rPr lang="en-GB" sz="1800">
                <a:solidFill>
                  <a:schemeClr val="dk1"/>
                </a:solidFill>
                <a:latin typeface="Kalam"/>
                <a:ea typeface="Kalam"/>
                <a:cs typeface="Kalam"/>
                <a:sym typeface="Kalam"/>
              </a:rPr>
              <a:t>    </a:t>
            </a:r>
            <a:endParaRPr baseline="30000" sz="18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1}{10}&quot;&gt;&lt;mfrac&gt;&lt;mn&gt;1&lt;/mn&gt;&lt;mn&gt;10&lt;/mn&gt;&lt;/mfrac&gt;&lt;/math&gt;" id="1495" name="Google Shape;1495;p103" title="one tenth"/>
          <p:cNvPicPr preferRelativeResize="0"/>
          <p:nvPr/>
        </p:nvPicPr>
        <p:blipFill>
          <a:blip r:embed="rId4">
            <a:alphaModFix/>
          </a:blip>
          <a:stretch>
            <a:fillRect/>
          </a:stretch>
        </p:blipFill>
        <p:spPr>
          <a:xfrm>
            <a:off x="3069225" y="2300550"/>
            <a:ext cx="196775" cy="364675"/>
          </a:xfrm>
          <a:prstGeom prst="rect">
            <a:avLst/>
          </a:prstGeom>
          <a:noFill/>
          <a:ln>
            <a:noFill/>
          </a:ln>
        </p:spPr>
      </p:pic>
      <p:pic>
        <p:nvPicPr>
          <p:cNvPr descr="&lt;math xmlns=&quot;http://www.w3.org/1998/Math/MathML&quot; display=&quot;block&quot; data-is-equatio=&quot;1&quot; data-latex=&quot;\frac{1}{10}&quot;&gt;&lt;mfrac&gt;&lt;mn&gt;1&lt;/mn&gt;&lt;mn&gt;10&lt;/mn&gt;&lt;/mfrac&gt;&lt;/math&gt;" id="1496" name="Google Shape;1496;p103" title="one tenth"/>
          <p:cNvPicPr preferRelativeResize="0"/>
          <p:nvPr/>
        </p:nvPicPr>
        <p:blipFill>
          <a:blip r:embed="rId4">
            <a:alphaModFix/>
          </a:blip>
          <a:stretch>
            <a:fillRect/>
          </a:stretch>
        </p:blipFill>
        <p:spPr>
          <a:xfrm>
            <a:off x="3627850" y="2300550"/>
            <a:ext cx="196775" cy="364675"/>
          </a:xfrm>
          <a:prstGeom prst="rect">
            <a:avLst/>
          </a:prstGeom>
          <a:noFill/>
          <a:ln>
            <a:noFill/>
          </a:ln>
        </p:spPr>
      </p:pic>
      <p:sp>
        <p:nvSpPr>
          <p:cNvPr id="1497" name="Google Shape;1497;p103"/>
          <p:cNvSpPr txBox="1"/>
          <p:nvPr/>
        </p:nvSpPr>
        <p:spPr>
          <a:xfrm>
            <a:off x="355450" y="3479075"/>
            <a:ext cx="1388700" cy="42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8.9 × 10</a:t>
            </a:r>
            <a:endParaRPr baseline="30000" sz="1800">
              <a:solidFill>
                <a:schemeClr val="dk1"/>
              </a:solidFill>
              <a:latin typeface="Kalam"/>
              <a:ea typeface="Kalam"/>
              <a:cs typeface="Kalam"/>
              <a:sym typeface="Kalam"/>
            </a:endParaRPr>
          </a:p>
        </p:txBody>
      </p:sp>
      <p:sp>
        <p:nvSpPr>
          <p:cNvPr id="1498" name="Google Shape;1498;p103"/>
          <p:cNvSpPr txBox="1"/>
          <p:nvPr/>
        </p:nvSpPr>
        <p:spPr>
          <a:xfrm>
            <a:off x="2039925" y="3481950"/>
            <a:ext cx="2246400" cy="8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9900 × 0.1 × 0.1</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99</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9.9 × 10</a:t>
            </a:r>
            <a:endParaRPr baseline="30000" sz="1800">
              <a:solidFill>
                <a:schemeClr val="dk1"/>
              </a:solidFill>
              <a:latin typeface="Kalam"/>
              <a:ea typeface="Kalam"/>
              <a:cs typeface="Kalam"/>
              <a:sym typeface="Kalam"/>
            </a:endParaRPr>
          </a:p>
        </p:txBody>
      </p:sp>
      <p:sp>
        <p:nvSpPr>
          <p:cNvPr id="1499" name="Google Shape;1499;p103"/>
          <p:cNvSpPr/>
          <p:nvPr/>
        </p:nvSpPr>
        <p:spPr>
          <a:xfrm>
            <a:off x="469600" y="1722987"/>
            <a:ext cx="1160400" cy="3303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0" name="Google Shape;1500;p103"/>
          <p:cNvSpPr/>
          <p:nvPr/>
        </p:nvSpPr>
        <p:spPr>
          <a:xfrm>
            <a:off x="2025550" y="1622442"/>
            <a:ext cx="1522200" cy="6621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1" name="Google Shape;1501;p103"/>
          <p:cNvSpPr/>
          <p:nvPr/>
        </p:nvSpPr>
        <p:spPr>
          <a:xfrm>
            <a:off x="469600" y="3199457"/>
            <a:ext cx="1160400" cy="3303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2" name="Google Shape;1502;p103"/>
          <p:cNvSpPr/>
          <p:nvPr/>
        </p:nvSpPr>
        <p:spPr>
          <a:xfrm>
            <a:off x="2001250" y="3199050"/>
            <a:ext cx="1570800" cy="3303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54\ \times10^2\ \ \ \ \ \ \ \ 653\ \times\frac{1}{10^{-2}}\ \ \ \ \ 8.9\ \times10^{ }\ \ \ \ \ \ \ 9900\ \times0.01&quot;&gt;&lt;mn&gt;54&lt;/mn&gt;&lt;mtext&gt;&lt;/mtext&gt;&lt;mo&gt;×&lt;/mo&gt;&lt;msup&gt;&lt;mn&gt;10&lt;/mn&gt;&lt;mn&gt;2&lt;/mn&gt;&lt;/msup&gt;&lt;mtext&gt;&lt;/mtext&gt;&lt;mtext&gt;&lt;/mtext&gt;&lt;mtext&gt;&lt;/mtext&gt;&lt;mtext&gt;&lt;/mtext&gt;&lt;mtext&gt;&lt;/mtext&gt;&lt;mtext&gt;&lt;/mtext&gt;&lt;mtext&gt;&lt;/mtext&gt;&lt;mtext&gt;&lt;/mtext&gt;&lt;mn&gt;653&lt;/mn&gt;&lt;mtext&gt;&lt;/mtext&gt;&lt;mo&gt;×&lt;/mo&gt;&lt;mfrac&gt;&lt;mn&gt;1&lt;/mn&gt;&lt;msup&gt;&lt;mn&gt;10&lt;/mn&gt;&lt;mrow data-mjx-texclass=&quot;ORD&quot;&gt;&lt;mo&gt;−&lt;/mo&gt;&lt;mn&gt;2&lt;/mn&gt;&lt;/mrow&gt;&lt;/msup&gt;&lt;/mfrac&gt;&lt;mtext&gt;&lt;/mtext&gt;&lt;mtext&gt;&lt;/mtext&gt;&lt;mtext&gt;&lt;/mtext&gt;&lt;mtext&gt;&lt;/mtext&gt;&lt;mtext&gt;&lt;/mtext&gt;&lt;mn&gt;8.9&lt;/mn&gt;&lt;mtext&gt;&lt;/mtext&gt;&lt;mo&gt;×&lt;/mo&gt;&lt;msup&gt;&lt;mn&gt;10&lt;/mn&gt;&lt;mrow data-mjx-texclass=&quot;ORD&quot;/&gt;&lt;/msup&gt;&lt;mtext&gt;&lt;/mtext&gt;&lt;mtext&gt;&lt;/mtext&gt;&lt;mtext&gt;&lt;/mtext&gt;&lt;mtext&gt;&lt;/mtext&gt;&lt;mtext&gt;&lt;/mtext&gt;&lt;mtext&gt;&lt;/mtext&gt;&lt;mtext&gt;&lt;/mtext&gt;&lt;mn&gt;9900&lt;/mn&gt;&lt;mtext&gt;&lt;/mtext&gt;&lt;mo&gt;×&lt;/mo&gt;&lt;mn&gt;0.01&lt;/mn&gt;&lt;/math&gt;" id="1503" name="Google Shape;1503;p103" title="54 times 10 squared 653 times the fraction with numerator 1 and denominator 10 to the negative 2 power 8.9 times 10 raised to the power 9900 times 0.01"/>
          <p:cNvPicPr preferRelativeResize="0"/>
          <p:nvPr/>
        </p:nvPicPr>
        <p:blipFill rotWithShape="1">
          <a:blip r:embed="rId3">
            <a:alphaModFix/>
          </a:blip>
          <a:srcRect b="0" l="52735" r="27996" t="0"/>
          <a:stretch/>
        </p:blipFill>
        <p:spPr>
          <a:xfrm>
            <a:off x="1552230" y="4381875"/>
            <a:ext cx="884375" cy="478050"/>
          </a:xfrm>
          <a:prstGeom prst="rect">
            <a:avLst/>
          </a:prstGeom>
          <a:noFill/>
          <a:ln>
            <a:noFill/>
          </a:ln>
        </p:spPr>
      </p:pic>
      <p:pic>
        <p:nvPicPr>
          <p:cNvPr descr="&lt;math xmlns=&quot;http://www.w3.org/1998/Math/MathML&quot; display=&quot;block&quot; data-is-equatio=&quot;1&quot; data-latex=&quot;54\ \times10^2\ \ \ \ \ \ \ \ 653\ \times\frac{1}{10^{-2}}\ \ \ \ \ 8.9\ \times10^{ }\ \ \ \ \ \ \ 9900\ \times0.01&quot;&gt;&lt;mn&gt;54&lt;/mn&gt;&lt;mtext&gt;&lt;/mtext&gt;&lt;mo&gt;×&lt;/mo&gt;&lt;msup&gt;&lt;mn&gt;10&lt;/mn&gt;&lt;mn&gt;2&lt;/mn&gt;&lt;/msup&gt;&lt;mtext&gt;&lt;/mtext&gt;&lt;mtext&gt;&lt;/mtext&gt;&lt;mtext&gt;&lt;/mtext&gt;&lt;mtext&gt;&lt;/mtext&gt;&lt;mtext&gt;&lt;/mtext&gt;&lt;mtext&gt;&lt;/mtext&gt;&lt;mtext&gt;&lt;/mtext&gt;&lt;mtext&gt;&lt;/mtext&gt;&lt;mn&gt;653&lt;/mn&gt;&lt;mtext&gt;&lt;/mtext&gt;&lt;mo&gt;×&lt;/mo&gt;&lt;mfrac&gt;&lt;mn&gt;1&lt;/mn&gt;&lt;msup&gt;&lt;mn&gt;10&lt;/mn&gt;&lt;mrow data-mjx-texclass=&quot;ORD&quot;&gt;&lt;mo&gt;−&lt;/mo&gt;&lt;mn&gt;2&lt;/mn&gt;&lt;/mrow&gt;&lt;/msup&gt;&lt;/mfrac&gt;&lt;mtext&gt;&lt;/mtext&gt;&lt;mtext&gt;&lt;/mtext&gt;&lt;mtext&gt;&lt;/mtext&gt;&lt;mtext&gt;&lt;/mtext&gt;&lt;mtext&gt;&lt;/mtext&gt;&lt;mn&gt;8.9&lt;/mn&gt;&lt;mtext&gt;&lt;/mtext&gt;&lt;mo&gt;×&lt;/mo&gt;&lt;msup&gt;&lt;mn&gt;10&lt;/mn&gt;&lt;mrow data-mjx-texclass=&quot;ORD&quot;/&gt;&lt;/msup&gt;&lt;mtext&gt;&lt;/mtext&gt;&lt;mtext&gt;&lt;/mtext&gt;&lt;mtext&gt;&lt;/mtext&gt;&lt;mtext&gt;&lt;/mtext&gt;&lt;mtext&gt;&lt;/mtext&gt;&lt;mtext&gt;&lt;/mtext&gt;&lt;mtext&gt;&lt;/mtext&gt;&lt;mn&gt;9900&lt;/mn&gt;&lt;mtext&gt;&lt;/mtext&gt;&lt;mo&gt;×&lt;/mo&gt;&lt;mn&gt;0.01&lt;/mn&gt;&lt;/math&gt;" id="1504" name="Google Shape;1504;p103" title="54 times 10 squared 653 times the fraction with numerator 1 and denominator 10 to the negative 2 power 8.9 times 10 raised to the power 9900 times 0.01"/>
          <p:cNvPicPr preferRelativeResize="0"/>
          <p:nvPr/>
        </p:nvPicPr>
        <p:blipFill rotWithShape="1">
          <a:blip r:embed="rId3">
            <a:alphaModFix/>
          </a:blip>
          <a:srcRect b="0" l="0" r="82006" t="0"/>
          <a:stretch/>
        </p:blipFill>
        <p:spPr>
          <a:xfrm>
            <a:off x="3711894" y="4401215"/>
            <a:ext cx="759048" cy="439368"/>
          </a:xfrm>
          <a:prstGeom prst="rect">
            <a:avLst/>
          </a:prstGeom>
          <a:noFill/>
          <a:ln>
            <a:noFill/>
          </a:ln>
        </p:spPr>
      </p:pic>
      <p:pic>
        <p:nvPicPr>
          <p:cNvPr descr="&lt;math xmlns=&quot;http://www.w3.org/1998/Math/MathML&quot; display=&quot;block&quot; data-is-equatio=&quot;1&quot; data-latex=&quot;54\ \times10^2\ \ \ \ \ \ \ \ 653\ \times\frac{1}{10^{-2}}\ \ \ \ \ 8.9\ \times10^{ }\ \ \ \ \ \ \ 9900\ \times0.01&quot;&gt;&lt;mn&gt;54&lt;/mn&gt;&lt;mtext&gt;&lt;/mtext&gt;&lt;mo&gt;×&lt;/mo&gt;&lt;msup&gt;&lt;mn&gt;10&lt;/mn&gt;&lt;mn&gt;2&lt;/mn&gt;&lt;/msup&gt;&lt;mtext&gt;&lt;/mtext&gt;&lt;mtext&gt;&lt;/mtext&gt;&lt;mtext&gt;&lt;/mtext&gt;&lt;mtext&gt;&lt;/mtext&gt;&lt;mtext&gt;&lt;/mtext&gt;&lt;mtext&gt;&lt;/mtext&gt;&lt;mtext&gt;&lt;/mtext&gt;&lt;mtext&gt;&lt;/mtext&gt;&lt;mn&gt;653&lt;/mn&gt;&lt;mtext&gt;&lt;/mtext&gt;&lt;mo&gt;×&lt;/mo&gt;&lt;mfrac&gt;&lt;mn&gt;1&lt;/mn&gt;&lt;msup&gt;&lt;mn&gt;10&lt;/mn&gt;&lt;mrow data-mjx-texclass=&quot;ORD&quot;&gt;&lt;mo&gt;−&lt;/mo&gt;&lt;mn&gt;2&lt;/mn&gt;&lt;/mrow&gt;&lt;/msup&gt;&lt;/mfrac&gt;&lt;mtext&gt;&lt;/mtext&gt;&lt;mtext&gt;&lt;/mtext&gt;&lt;mtext&gt;&lt;/mtext&gt;&lt;mtext&gt;&lt;/mtext&gt;&lt;mtext&gt;&lt;/mtext&gt;&lt;mn&gt;8.9&lt;/mn&gt;&lt;mtext&gt;&lt;/mtext&gt;&lt;mo&gt;×&lt;/mo&gt;&lt;msup&gt;&lt;mn&gt;10&lt;/mn&gt;&lt;mrow data-mjx-texclass=&quot;ORD&quot;/&gt;&lt;/msup&gt;&lt;mtext&gt;&lt;/mtext&gt;&lt;mtext&gt;&lt;/mtext&gt;&lt;mtext&gt;&lt;/mtext&gt;&lt;mtext&gt;&lt;/mtext&gt;&lt;mtext&gt;&lt;/mtext&gt;&lt;mtext&gt;&lt;/mtext&gt;&lt;mtext&gt;&lt;/mtext&gt;&lt;mn&gt;9900&lt;/mn&gt;&lt;mtext&gt;&lt;/mtext&gt;&lt;mo&gt;×&lt;/mo&gt;&lt;mn&gt;0.01&lt;/mn&gt;&lt;/math&gt;" id="1505" name="Google Shape;1505;p103" title="54 times 10 squared 653 times the fraction with numerator 1 and denominator 10 to the negative 2 power 8.9 times 10 raised to the power 9900 times 0.01"/>
          <p:cNvPicPr preferRelativeResize="0"/>
          <p:nvPr/>
        </p:nvPicPr>
        <p:blipFill rotWithShape="1">
          <a:blip r:embed="rId3">
            <a:alphaModFix/>
          </a:blip>
          <a:srcRect b="0" l="75548" r="0" t="0"/>
          <a:stretch/>
        </p:blipFill>
        <p:spPr>
          <a:xfrm>
            <a:off x="2436603" y="4381875"/>
            <a:ext cx="1122275" cy="478050"/>
          </a:xfrm>
          <a:prstGeom prst="rect">
            <a:avLst/>
          </a:prstGeom>
          <a:noFill/>
          <a:ln>
            <a:noFill/>
          </a:ln>
        </p:spPr>
      </p:pic>
      <p:sp>
        <p:nvSpPr>
          <p:cNvPr id="1506" name="Google Shape;1506;p103"/>
          <p:cNvSpPr/>
          <p:nvPr/>
        </p:nvSpPr>
        <p:spPr>
          <a:xfrm>
            <a:off x="326875" y="4242015"/>
            <a:ext cx="1160400" cy="558300"/>
          </a:xfrm>
          <a:prstGeom prst="rect">
            <a:avLst/>
          </a:prstGeom>
          <a:solidFill>
            <a:srgbClr val="FFFF00">
              <a:alpha val="3255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7" name="Google Shape;1507;p103"/>
          <p:cNvSpPr/>
          <p:nvPr/>
        </p:nvSpPr>
        <p:spPr>
          <a:xfrm>
            <a:off x="1556047" y="4452000"/>
            <a:ext cx="884400" cy="330300"/>
          </a:xfrm>
          <a:prstGeom prst="rect">
            <a:avLst/>
          </a:prstGeom>
          <a:solidFill>
            <a:srgbClr val="FFFF00">
              <a:alpha val="3255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8" name="Google Shape;1508;p103"/>
          <p:cNvSpPr/>
          <p:nvPr/>
        </p:nvSpPr>
        <p:spPr>
          <a:xfrm>
            <a:off x="2501551" y="4452000"/>
            <a:ext cx="1122300" cy="330300"/>
          </a:xfrm>
          <a:prstGeom prst="rect">
            <a:avLst/>
          </a:prstGeom>
          <a:solidFill>
            <a:srgbClr val="FFFF00">
              <a:alpha val="3255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9" name="Google Shape;1509;p103"/>
          <p:cNvSpPr/>
          <p:nvPr/>
        </p:nvSpPr>
        <p:spPr>
          <a:xfrm>
            <a:off x="3662775" y="4452000"/>
            <a:ext cx="808200" cy="330300"/>
          </a:xfrm>
          <a:prstGeom prst="rect">
            <a:avLst/>
          </a:prstGeom>
          <a:solidFill>
            <a:srgbClr val="FFFF00">
              <a:alpha val="3255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1.2\ \times\frac{1}{10}\ \ \ \ \ 8.9\ \times0.001\ \ \ 9.8\ \times\frac{1}{10^2}\ \ \ 7.8\ \times10^2&quot;&gt;&lt;mn&gt;1.2&lt;/mn&gt;&lt;mtext&gt;&lt;/mtext&gt;&lt;mo&gt;×&lt;/mo&gt;&lt;mfrac&gt;&lt;mn&gt;1&lt;/mn&gt;&lt;mn&gt;10&lt;/mn&gt;&lt;/mfrac&gt;&lt;mtext&gt;&lt;/mtext&gt;&lt;mtext&gt;&lt;/mtext&gt;&lt;mtext&gt;&lt;/mtext&gt;&lt;mtext&gt;&lt;/mtext&gt;&lt;mtext&gt;&lt;/mtext&gt;&lt;mn&gt;8.9&lt;/mn&gt;&lt;mtext&gt;&lt;/mtext&gt;&lt;mo&gt;×&lt;/mo&gt;&lt;mn&gt;0.001&lt;/mn&gt;&lt;mtext&gt;&lt;/mtext&gt;&lt;mtext&gt;&lt;/mtext&gt;&lt;mtext&gt;&lt;/mtext&gt;&lt;mn&gt;9.8&lt;/mn&gt;&lt;mtext&gt;&lt;/mtext&gt;&lt;mo&gt;×&lt;/mo&gt;&lt;mfrac&gt;&lt;mn&gt;1&lt;/mn&gt;&lt;msup&gt;&lt;mn&gt;10&lt;/mn&gt;&lt;mn&gt;2&lt;/mn&gt;&lt;/msup&gt;&lt;/mfrac&gt;&lt;mtext&gt;&lt;/mtext&gt;&lt;mtext&gt;&lt;/mtext&gt;&lt;mtext&gt;&lt;/mtext&gt;&lt;mn&gt;7.8&lt;/mn&gt;&lt;mtext&gt;&lt;/mtext&gt;&lt;mo&gt;×&lt;/mo&gt;&lt;msup&gt;&lt;mn&gt;10&lt;/mn&gt;&lt;mn&gt;2&lt;/mn&gt;&lt;/msup&gt;&lt;/math&gt;" id="1510" name="Google Shape;1510;p103" title="1.2 times one tenth 8.9 times 0.001 9.8 times the fraction with numerator 1 and denominator 10 squared 7.8 times 10 squared"/>
          <p:cNvPicPr preferRelativeResize="0"/>
          <p:nvPr/>
        </p:nvPicPr>
        <p:blipFill rotWithShape="1">
          <a:blip r:embed="rId5">
            <a:alphaModFix/>
          </a:blip>
          <a:srcRect b="0" l="0" r="76558" t="0"/>
          <a:stretch/>
        </p:blipFill>
        <p:spPr>
          <a:xfrm>
            <a:off x="4706075" y="1609275"/>
            <a:ext cx="1254850" cy="620225"/>
          </a:xfrm>
          <a:prstGeom prst="rect">
            <a:avLst/>
          </a:prstGeom>
          <a:noFill/>
          <a:ln>
            <a:noFill/>
          </a:ln>
        </p:spPr>
      </p:pic>
      <p:pic>
        <p:nvPicPr>
          <p:cNvPr descr="&lt;math xmlns=&quot;http://www.w3.org/1998/Math/MathML&quot; display=&quot;block&quot; data-is-equatio=&quot;1&quot; data-latex=&quot;1.2\ \times\frac{1}{10}\ \ \ \ \ 8.9\ \times0.001\ \ \ 9.8\ \times\frac{1}{10^2}\ \ \ 7.8\ \times10^2&quot;&gt;&lt;mn&gt;1.2&lt;/mn&gt;&lt;mtext&gt;&lt;/mtext&gt;&lt;mo&gt;×&lt;/mo&gt;&lt;mfrac&gt;&lt;mn&gt;1&lt;/mn&gt;&lt;mn&gt;10&lt;/mn&gt;&lt;/mfrac&gt;&lt;mtext&gt;&lt;/mtext&gt;&lt;mtext&gt;&lt;/mtext&gt;&lt;mtext&gt;&lt;/mtext&gt;&lt;mtext&gt;&lt;/mtext&gt;&lt;mtext&gt;&lt;/mtext&gt;&lt;mn&gt;8.9&lt;/mn&gt;&lt;mtext&gt;&lt;/mtext&gt;&lt;mo&gt;×&lt;/mo&gt;&lt;mn&gt;0.001&lt;/mn&gt;&lt;mtext&gt;&lt;/mtext&gt;&lt;mtext&gt;&lt;/mtext&gt;&lt;mtext&gt;&lt;/mtext&gt;&lt;mn&gt;9.8&lt;/mn&gt;&lt;mtext&gt;&lt;/mtext&gt;&lt;mo&gt;×&lt;/mo&gt;&lt;mfrac&gt;&lt;mn&gt;1&lt;/mn&gt;&lt;msup&gt;&lt;mn&gt;10&lt;/mn&gt;&lt;mn&gt;2&lt;/mn&gt;&lt;/msup&gt;&lt;/mfrac&gt;&lt;mtext&gt;&lt;/mtext&gt;&lt;mtext&gt;&lt;/mtext&gt;&lt;mtext&gt;&lt;/mtext&gt;&lt;mn&gt;7.8&lt;/mn&gt;&lt;mtext&gt;&lt;/mtext&gt;&lt;mo&gt;×&lt;/mo&gt;&lt;msup&gt;&lt;mn&gt;10&lt;/mn&gt;&lt;mn&gt;2&lt;/mn&gt;&lt;/msup&gt;&lt;/math&gt;" id="1511" name="Google Shape;1511;p103" title="1.2 times one tenth 8.9 times 0.001 9.8 times the fraction with numerator 1 and denominator 10 squared 7.8 times 10 squared"/>
          <p:cNvPicPr preferRelativeResize="0"/>
          <p:nvPr/>
        </p:nvPicPr>
        <p:blipFill rotWithShape="1">
          <a:blip r:embed="rId5">
            <a:alphaModFix/>
          </a:blip>
          <a:srcRect b="0" l="52359" r="21414" t="0"/>
          <a:stretch/>
        </p:blipFill>
        <p:spPr>
          <a:xfrm>
            <a:off x="4639150" y="2843100"/>
            <a:ext cx="1388700" cy="613500"/>
          </a:xfrm>
          <a:prstGeom prst="rect">
            <a:avLst/>
          </a:prstGeom>
          <a:noFill/>
          <a:ln>
            <a:noFill/>
          </a:ln>
        </p:spPr>
      </p:pic>
      <p:pic>
        <p:nvPicPr>
          <p:cNvPr descr="&lt;math xmlns=&quot;http://www.w3.org/1998/Math/MathML&quot; display=&quot;block&quot; data-is-equatio=&quot;1&quot; data-latex=&quot;1.2\ \times\frac{1}{10}\ \ \ \ \ 8.9\ \times0.001\ \ \ 9.8\ \times\frac{1}{10^2}\ \ \ 7.8\ \times10^2&quot;&gt;&lt;mn&gt;1.2&lt;/mn&gt;&lt;mtext&gt;&lt;/mtext&gt;&lt;mo&gt;×&lt;/mo&gt;&lt;mfrac&gt;&lt;mn&gt;1&lt;/mn&gt;&lt;mn&gt;10&lt;/mn&gt;&lt;/mfrac&gt;&lt;mtext&gt;&lt;/mtext&gt;&lt;mtext&gt;&lt;/mtext&gt;&lt;mtext&gt;&lt;/mtext&gt;&lt;mtext&gt;&lt;/mtext&gt;&lt;mtext&gt;&lt;/mtext&gt;&lt;mn&gt;8.9&lt;/mn&gt;&lt;mtext&gt;&lt;/mtext&gt;&lt;mo&gt;×&lt;/mo&gt;&lt;mn&gt;0.001&lt;/mn&gt;&lt;mtext&gt;&lt;/mtext&gt;&lt;mtext&gt;&lt;/mtext&gt;&lt;mtext&gt;&lt;/mtext&gt;&lt;mn&gt;9.8&lt;/mn&gt;&lt;mtext&gt;&lt;/mtext&gt;&lt;mo&gt;×&lt;/mo&gt;&lt;mfrac&gt;&lt;mn&gt;1&lt;/mn&gt;&lt;msup&gt;&lt;mn&gt;10&lt;/mn&gt;&lt;mn&gt;2&lt;/mn&gt;&lt;/msup&gt;&lt;/mfrac&gt;&lt;mtext&gt;&lt;/mtext&gt;&lt;mtext&gt;&lt;/mtext&gt;&lt;mtext&gt;&lt;/mtext&gt;&lt;mn&gt;7.8&lt;/mn&gt;&lt;mtext&gt;&lt;/mtext&gt;&lt;mo&gt;×&lt;/mo&gt;&lt;msup&gt;&lt;mn&gt;10&lt;/mn&gt;&lt;mn&gt;2&lt;/mn&gt;&lt;/msup&gt;&lt;/math&gt;" id="1512" name="Google Shape;1512;p103" title="1.2 times one tenth 8.9 times 0.001 9.8 times the fraction with numerator 1 and denominator 10 squared 7.8 times 10 squared"/>
          <p:cNvPicPr preferRelativeResize="0"/>
          <p:nvPr/>
        </p:nvPicPr>
        <p:blipFill rotWithShape="1">
          <a:blip r:embed="rId5">
            <a:alphaModFix/>
          </a:blip>
          <a:srcRect b="0" l="23613" r="49403" t="0"/>
          <a:stretch/>
        </p:blipFill>
        <p:spPr>
          <a:xfrm>
            <a:off x="6535050" y="1456863"/>
            <a:ext cx="1444451" cy="620225"/>
          </a:xfrm>
          <a:prstGeom prst="rect">
            <a:avLst/>
          </a:prstGeom>
          <a:noFill/>
          <a:ln>
            <a:noFill/>
          </a:ln>
        </p:spPr>
      </p:pic>
      <p:pic>
        <p:nvPicPr>
          <p:cNvPr descr="&lt;math xmlns=&quot;http://www.w3.org/1998/Math/MathML&quot; display=&quot;block&quot; data-is-equatio=&quot;1&quot; data-latex=&quot;1.2\ \times\frac{1}{10}\ \ \ \ \ 8.9\ \times0.001\ \ \ 9.8\ \times\frac{1}{10^2}\ \ \ 7.8\ \times10^2&quot;&gt;&lt;mn&gt;1.2&lt;/mn&gt;&lt;mtext&gt;&lt;/mtext&gt;&lt;mo&gt;×&lt;/mo&gt;&lt;mfrac&gt;&lt;mn&gt;1&lt;/mn&gt;&lt;mn&gt;10&lt;/mn&gt;&lt;/mfrac&gt;&lt;mtext&gt;&lt;/mtext&gt;&lt;mtext&gt;&lt;/mtext&gt;&lt;mtext&gt;&lt;/mtext&gt;&lt;mtext&gt;&lt;/mtext&gt;&lt;mtext&gt;&lt;/mtext&gt;&lt;mn&gt;8.9&lt;/mn&gt;&lt;mtext&gt;&lt;/mtext&gt;&lt;mo&gt;×&lt;/mo&gt;&lt;mn&gt;0.001&lt;/mn&gt;&lt;mtext&gt;&lt;/mtext&gt;&lt;mtext&gt;&lt;/mtext&gt;&lt;mtext&gt;&lt;/mtext&gt;&lt;mn&gt;9.8&lt;/mn&gt;&lt;mtext&gt;&lt;/mtext&gt;&lt;mo&gt;×&lt;/mo&gt;&lt;mfrac&gt;&lt;mn&gt;1&lt;/mn&gt;&lt;msup&gt;&lt;mn&gt;10&lt;/mn&gt;&lt;mn&gt;2&lt;/mn&gt;&lt;/msup&gt;&lt;/mfrac&gt;&lt;mtext&gt;&lt;/mtext&gt;&lt;mtext&gt;&lt;/mtext&gt;&lt;mtext&gt;&lt;/mtext&gt;&lt;mn&gt;7.8&lt;/mn&gt;&lt;mtext&gt;&lt;/mtext&gt;&lt;mo&gt;×&lt;/mo&gt;&lt;msup&gt;&lt;mn&gt;10&lt;/mn&gt;&lt;mn&gt;2&lt;/mn&gt;&lt;/msup&gt;&lt;/math&gt;" id="1513" name="Google Shape;1513;p103" title="1.2 times one tenth 8.9 times 0.001 9.8 times the fraction with numerator 1 and denominator 10 squared 7.8 times 10 squared"/>
          <p:cNvPicPr preferRelativeResize="0"/>
          <p:nvPr/>
        </p:nvPicPr>
        <p:blipFill rotWithShape="1">
          <a:blip r:embed="rId5">
            <a:alphaModFix/>
          </a:blip>
          <a:srcRect b="0" l="78168" r="-1867" t="0"/>
          <a:stretch/>
        </p:blipFill>
        <p:spPr>
          <a:xfrm>
            <a:off x="6535049" y="2741850"/>
            <a:ext cx="1254850" cy="613500"/>
          </a:xfrm>
          <a:prstGeom prst="rect">
            <a:avLst/>
          </a:prstGeom>
          <a:noFill/>
          <a:ln>
            <a:noFill/>
          </a:ln>
        </p:spPr>
      </p:pic>
      <p:sp>
        <p:nvSpPr>
          <p:cNvPr id="1514" name="Google Shape;1514;p103"/>
          <p:cNvSpPr txBox="1"/>
          <p:nvPr/>
        </p:nvSpPr>
        <p:spPr>
          <a:xfrm>
            <a:off x="4595400" y="2138700"/>
            <a:ext cx="1645800" cy="8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0.12</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1.2 × 10</a:t>
            </a:r>
            <a:r>
              <a:rPr baseline="30000" lang="en-GB" sz="1800">
                <a:solidFill>
                  <a:schemeClr val="dk1"/>
                </a:solidFill>
                <a:latin typeface="Kalam"/>
                <a:ea typeface="Kalam"/>
                <a:cs typeface="Kalam"/>
                <a:sym typeface="Kalam"/>
              </a:rPr>
              <a:t>−1</a:t>
            </a:r>
            <a:endParaRPr baseline="30000" sz="1800">
              <a:solidFill>
                <a:schemeClr val="dk1"/>
              </a:solidFill>
              <a:latin typeface="Kalam"/>
              <a:ea typeface="Kalam"/>
              <a:cs typeface="Kalam"/>
              <a:sym typeface="Kalam"/>
            </a:endParaRPr>
          </a:p>
        </p:txBody>
      </p:sp>
      <p:sp>
        <p:nvSpPr>
          <p:cNvPr id="1515" name="Google Shape;1515;p103"/>
          <p:cNvSpPr txBox="1"/>
          <p:nvPr/>
        </p:nvSpPr>
        <p:spPr>
          <a:xfrm>
            <a:off x="6492975" y="1819050"/>
            <a:ext cx="2537400" cy="8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8.9 × 0.1 × 0.1 × 0.1</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0.0089</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8.9 × 10</a:t>
            </a:r>
            <a:r>
              <a:rPr baseline="30000" lang="en-GB" sz="1800">
                <a:solidFill>
                  <a:schemeClr val="dk1"/>
                </a:solidFill>
                <a:latin typeface="Kalam"/>
                <a:ea typeface="Kalam"/>
                <a:cs typeface="Kalam"/>
                <a:sym typeface="Kalam"/>
              </a:rPr>
              <a:t>−</a:t>
            </a:r>
            <a:r>
              <a:rPr baseline="30000" lang="en-GB" sz="1800">
                <a:solidFill>
                  <a:schemeClr val="dk1"/>
                </a:solidFill>
                <a:latin typeface="Kalam"/>
                <a:ea typeface="Kalam"/>
                <a:cs typeface="Kalam"/>
                <a:sym typeface="Kalam"/>
              </a:rPr>
              <a:t>3</a:t>
            </a:r>
            <a:endParaRPr baseline="30000" sz="1800">
              <a:solidFill>
                <a:schemeClr val="dk1"/>
              </a:solidFill>
              <a:latin typeface="Kalam"/>
              <a:ea typeface="Kalam"/>
              <a:cs typeface="Kalam"/>
              <a:sym typeface="Kalam"/>
            </a:endParaRPr>
          </a:p>
        </p:txBody>
      </p:sp>
      <p:sp>
        <p:nvSpPr>
          <p:cNvPr id="1516" name="Google Shape;1516;p103"/>
          <p:cNvSpPr txBox="1"/>
          <p:nvPr/>
        </p:nvSpPr>
        <p:spPr>
          <a:xfrm>
            <a:off x="4602700" y="3456600"/>
            <a:ext cx="2369100" cy="8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9.8 ×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0.098</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9.8 × 10</a:t>
            </a:r>
            <a:r>
              <a:rPr baseline="30000" lang="en-GB" sz="1800">
                <a:solidFill>
                  <a:schemeClr val="dk1"/>
                </a:solidFill>
                <a:latin typeface="Kalam"/>
                <a:ea typeface="Kalam"/>
                <a:cs typeface="Kalam"/>
                <a:sym typeface="Kalam"/>
              </a:rPr>
              <a:t>−2</a:t>
            </a:r>
            <a:r>
              <a:rPr lang="en-GB" sz="1800">
                <a:solidFill>
                  <a:schemeClr val="dk1"/>
                </a:solidFill>
                <a:latin typeface="Kalam"/>
                <a:ea typeface="Kalam"/>
                <a:cs typeface="Kalam"/>
                <a:sym typeface="Kalam"/>
              </a:rPr>
              <a:t>     </a:t>
            </a:r>
            <a:endParaRPr baseline="30000" sz="18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1}{10}&quot;&gt;&lt;mfrac&gt;&lt;mn&gt;1&lt;/mn&gt;&lt;mn&gt;10&lt;/mn&gt;&lt;/mfrac&gt;&lt;/math&gt;" id="1517" name="Google Shape;1517;p103" title="one tenth"/>
          <p:cNvPicPr preferRelativeResize="0"/>
          <p:nvPr/>
        </p:nvPicPr>
        <p:blipFill>
          <a:blip r:embed="rId4">
            <a:alphaModFix/>
          </a:blip>
          <a:stretch>
            <a:fillRect/>
          </a:stretch>
        </p:blipFill>
        <p:spPr>
          <a:xfrm>
            <a:off x="5597538" y="3505050"/>
            <a:ext cx="196775" cy="364675"/>
          </a:xfrm>
          <a:prstGeom prst="rect">
            <a:avLst/>
          </a:prstGeom>
          <a:noFill/>
          <a:ln>
            <a:noFill/>
          </a:ln>
        </p:spPr>
      </p:pic>
      <p:pic>
        <p:nvPicPr>
          <p:cNvPr descr="&lt;math xmlns=&quot;http://www.w3.org/1998/Math/MathML&quot; display=&quot;block&quot; data-is-equatio=&quot;1&quot; data-latex=&quot;\frac{1}{10}&quot;&gt;&lt;mfrac&gt;&lt;mn&gt;1&lt;/mn&gt;&lt;mn&gt;10&lt;/mn&gt;&lt;/mfrac&gt;&lt;/math&gt;" id="1518" name="Google Shape;1518;p103" title="one tenth"/>
          <p:cNvPicPr preferRelativeResize="0"/>
          <p:nvPr/>
        </p:nvPicPr>
        <p:blipFill>
          <a:blip r:embed="rId4">
            <a:alphaModFix/>
          </a:blip>
          <a:stretch>
            <a:fillRect/>
          </a:stretch>
        </p:blipFill>
        <p:spPr>
          <a:xfrm>
            <a:off x="6028200" y="3505050"/>
            <a:ext cx="196775" cy="364675"/>
          </a:xfrm>
          <a:prstGeom prst="rect">
            <a:avLst/>
          </a:prstGeom>
          <a:noFill/>
          <a:ln>
            <a:noFill/>
          </a:ln>
        </p:spPr>
      </p:pic>
      <p:sp>
        <p:nvSpPr>
          <p:cNvPr id="1519" name="Google Shape;1519;p103"/>
          <p:cNvSpPr txBox="1"/>
          <p:nvPr/>
        </p:nvSpPr>
        <p:spPr>
          <a:xfrm>
            <a:off x="6492975" y="3156275"/>
            <a:ext cx="138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7.8 × 10</a:t>
            </a:r>
            <a:r>
              <a:rPr baseline="30000" lang="en-GB" sz="1800">
                <a:solidFill>
                  <a:schemeClr val="dk1"/>
                </a:solidFill>
                <a:latin typeface="Kalam"/>
                <a:ea typeface="Kalam"/>
                <a:cs typeface="Kalam"/>
                <a:sym typeface="Kalam"/>
              </a:rPr>
              <a:t>2</a:t>
            </a:r>
            <a:endParaRPr/>
          </a:p>
        </p:txBody>
      </p:sp>
      <p:pic>
        <p:nvPicPr>
          <p:cNvPr descr="&lt;math xmlns=&quot;http://www.w3.org/1998/Math/MathML&quot; display=&quot;block&quot; data-is-equatio=&quot;1&quot; data-latex=&quot;1.2\ \times\frac{1}{10}\ \ \ \ \ 8.9\ \times0.001\ \ \ 9.8\ \times\frac{1}{10^2}\ \ \ 7.8\ \times10^2&quot;&gt;&lt;mn&gt;1.2&lt;/mn&gt;&lt;mtext&gt;&lt;/mtext&gt;&lt;mo&gt;×&lt;/mo&gt;&lt;mfrac&gt;&lt;mn&gt;1&lt;/mn&gt;&lt;mn&gt;10&lt;/mn&gt;&lt;/mfrac&gt;&lt;mtext&gt;&lt;/mtext&gt;&lt;mtext&gt;&lt;/mtext&gt;&lt;mtext&gt;&lt;/mtext&gt;&lt;mtext&gt;&lt;/mtext&gt;&lt;mtext&gt;&lt;/mtext&gt;&lt;mn&gt;8.9&lt;/mn&gt;&lt;mtext&gt;&lt;/mtext&gt;&lt;mo&gt;×&lt;/mo&gt;&lt;mn&gt;0.001&lt;/mn&gt;&lt;mtext&gt;&lt;/mtext&gt;&lt;mtext&gt;&lt;/mtext&gt;&lt;mtext&gt;&lt;/mtext&gt;&lt;mn&gt;9.8&lt;/mn&gt;&lt;mtext&gt;&lt;/mtext&gt;&lt;mo&gt;×&lt;/mo&gt;&lt;mfrac&gt;&lt;mn&gt;1&lt;/mn&gt;&lt;msup&gt;&lt;mn&gt;10&lt;/mn&gt;&lt;mn&gt;2&lt;/mn&gt;&lt;/msup&gt;&lt;/mfrac&gt;&lt;mtext&gt;&lt;/mtext&gt;&lt;mtext&gt;&lt;/mtext&gt;&lt;mtext&gt;&lt;/mtext&gt;&lt;mn&gt;7.8&lt;/mn&gt;&lt;mtext&gt;&lt;/mtext&gt;&lt;mo&gt;×&lt;/mo&gt;&lt;msup&gt;&lt;mn&gt;10&lt;/mn&gt;&lt;mn&gt;2&lt;/mn&gt;&lt;/msup&gt;&lt;/math&gt;" id="1520" name="Google Shape;1520;p103" title="1.2 times one tenth 8.9 times 0.001 9.8 times the fraction with numerator 1 and denominator 10 squared 7.8 times 10 squared"/>
          <p:cNvPicPr preferRelativeResize="0"/>
          <p:nvPr/>
        </p:nvPicPr>
        <p:blipFill rotWithShape="1">
          <a:blip r:embed="rId5">
            <a:alphaModFix/>
          </a:blip>
          <a:srcRect b="0" l="23613" r="49403" t="0"/>
          <a:stretch/>
        </p:blipFill>
        <p:spPr>
          <a:xfrm>
            <a:off x="4623963" y="4429635"/>
            <a:ext cx="1122276" cy="481888"/>
          </a:xfrm>
          <a:prstGeom prst="rect">
            <a:avLst/>
          </a:prstGeom>
          <a:noFill/>
          <a:ln>
            <a:noFill/>
          </a:ln>
        </p:spPr>
      </p:pic>
      <p:pic>
        <p:nvPicPr>
          <p:cNvPr descr="&lt;math xmlns=&quot;http://www.w3.org/1998/Math/MathML&quot; display=&quot;block&quot; data-is-equatio=&quot;1&quot; data-latex=&quot;1.2\ \times\frac{1}{10}\ \ \ \ \ 8.9\ \times0.001\ \ \ 9.8\ \times\frac{1}{10^2}\ \ \ 7.8\ \times10^2&quot;&gt;&lt;mn&gt;1.2&lt;/mn&gt;&lt;mtext&gt;&lt;/mtext&gt;&lt;mo&gt;×&lt;/mo&gt;&lt;mfrac&gt;&lt;mn&gt;1&lt;/mn&gt;&lt;mn&gt;10&lt;/mn&gt;&lt;/mfrac&gt;&lt;mtext&gt;&lt;/mtext&gt;&lt;mtext&gt;&lt;/mtext&gt;&lt;mtext&gt;&lt;/mtext&gt;&lt;mtext&gt;&lt;/mtext&gt;&lt;mtext&gt;&lt;/mtext&gt;&lt;mn&gt;8.9&lt;/mn&gt;&lt;mtext&gt;&lt;/mtext&gt;&lt;mo&gt;×&lt;/mo&gt;&lt;mn&gt;0.001&lt;/mn&gt;&lt;mtext&gt;&lt;/mtext&gt;&lt;mtext&gt;&lt;/mtext&gt;&lt;mtext&gt;&lt;/mtext&gt;&lt;mn&gt;9.8&lt;/mn&gt;&lt;mtext&gt;&lt;/mtext&gt;&lt;mo&gt;×&lt;/mo&gt;&lt;mfrac&gt;&lt;mn&gt;1&lt;/mn&gt;&lt;msup&gt;&lt;mn&gt;10&lt;/mn&gt;&lt;mn&gt;2&lt;/mn&gt;&lt;/msup&gt;&lt;/mfrac&gt;&lt;mtext&gt;&lt;/mtext&gt;&lt;mtext&gt;&lt;/mtext&gt;&lt;mtext&gt;&lt;/mtext&gt;&lt;mn&gt;7.8&lt;/mn&gt;&lt;mtext&gt;&lt;/mtext&gt;&lt;mo&gt;×&lt;/mo&gt;&lt;msup&gt;&lt;mn&gt;10&lt;/mn&gt;&lt;mn&gt;2&lt;/mn&gt;&lt;/msup&gt;&lt;/math&gt;" id="1521" name="Google Shape;1521;p103" title="1.2 times one tenth 8.9 times 0.001 9.8 times the fraction with numerator 1 and denominator 10 squared 7.8 times 10 squared"/>
          <p:cNvPicPr preferRelativeResize="0"/>
          <p:nvPr/>
        </p:nvPicPr>
        <p:blipFill rotWithShape="1">
          <a:blip r:embed="rId5">
            <a:alphaModFix/>
          </a:blip>
          <a:srcRect b="0" l="0" r="76558" t="0"/>
          <a:stretch/>
        </p:blipFill>
        <p:spPr>
          <a:xfrm>
            <a:off x="6786738" y="4341022"/>
            <a:ext cx="884376" cy="437113"/>
          </a:xfrm>
          <a:prstGeom prst="rect">
            <a:avLst/>
          </a:prstGeom>
          <a:noFill/>
          <a:ln>
            <a:noFill/>
          </a:ln>
        </p:spPr>
      </p:pic>
      <p:pic>
        <p:nvPicPr>
          <p:cNvPr descr="&lt;math xmlns=&quot;http://www.w3.org/1998/Math/MathML&quot; display=&quot;block&quot; data-is-equatio=&quot;1&quot; data-latex=&quot;1.2\ \times\frac{1}{10}\ \ \ \ \ 8.9\ \times0.001\ \ \ 9.8\ \times\frac{1}{10^2}\ \ \ 7.8\ \times10^2&quot;&gt;&lt;mn&gt;1.2&lt;/mn&gt;&lt;mtext&gt;&lt;/mtext&gt;&lt;mo&gt;×&lt;/mo&gt;&lt;mfrac&gt;&lt;mn&gt;1&lt;/mn&gt;&lt;mn&gt;10&lt;/mn&gt;&lt;/mfrac&gt;&lt;mtext&gt;&lt;/mtext&gt;&lt;mtext&gt;&lt;/mtext&gt;&lt;mtext&gt;&lt;/mtext&gt;&lt;mtext&gt;&lt;/mtext&gt;&lt;mtext&gt;&lt;/mtext&gt;&lt;mn&gt;8.9&lt;/mn&gt;&lt;mtext&gt;&lt;/mtext&gt;&lt;mo&gt;×&lt;/mo&gt;&lt;mn&gt;0.001&lt;/mn&gt;&lt;mtext&gt;&lt;/mtext&gt;&lt;mtext&gt;&lt;/mtext&gt;&lt;mtext&gt;&lt;/mtext&gt;&lt;mn&gt;9.8&lt;/mn&gt;&lt;mtext&gt;&lt;/mtext&gt;&lt;mo&gt;×&lt;/mo&gt;&lt;mfrac&gt;&lt;mn&gt;1&lt;/mn&gt;&lt;msup&gt;&lt;mn&gt;10&lt;/mn&gt;&lt;mn&gt;2&lt;/mn&gt;&lt;/msup&gt;&lt;/mfrac&gt;&lt;mtext&gt;&lt;/mtext&gt;&lt;mtext&gt;&lt;/mtext&gt;&lt;mtext&gt;&lt;/mtext&gt;&lt;mn&gt;7.8&lt;/mn&gt;&lt;mtext&gt;&lt;/mtext&gt;&lt;mo&gt;×&lt;/mo&gt;&lt;msup&gt;&lt;mn&gt;10&lt;/mn&gt;&lt;mn&gt;2&lt;/mn&gt;&lt;/msup&gt;&lt;/math&gt;" id="1522" name="Google Shape;1522;p103" title="1.2 times one tenth 8.9 times 0.001 9.8 times the fraction with numerator 1 and denominator 10 squared 7.8 times 10 squared"/>
          <p:cNvPicPr preferRelativeResize="0"/>
          <p:nvPr/>
        </p:nvPicPr>
        <p:blipFill rotWithShape="1">
          <a:blip r:embed="rId5">
            <a:alphaModFix/>
          </a:blip>
          <a:srcRect b="0" l="52359" r="21414" t="0"/>
          <a:stretch/>
        </p:blipFill>
        <p:spPr>
          <a:xfrm>
            <a:off x="5795363" y="4340272"/>
            <a:ext cx="963603" cy="425700"/>
          </a:xfrm>
          <a:prstGeom prst="rect">
            <a:avLst/>
          </a:prstGeom>
          <a:noFill/>
          <a:ln>
            <a:noFill/>
          </a:ln>
        </p:spPr>
      </p:pic>
      <p:pic>
        <p:nvPicPr>
          <p:cNvPr descr="&lt;math xmlns=&quot;http://www.w3.org/1998/Math/MathML&quot; display=&quot;block&quot; data-is-equatio=&quot;1&quot; data-latex=&quot;1.2\ \times\frac{1}{10}\ \ \ \ \ 8.9\ \times0.001\ \ \ 9.8\ \times\frac{1}{10^2}\ \ \ 7.8\ \times10^2&quot;&gt;&lt;mn&gt;1.2&lt;/mn&gt;&lt;mtext&gt;&lt;/mtext&gt;&lt;mo&gt;×&lt;/mo&gt;&lt;mfrac&gt;&lt;mn&gt;1&lt;/mn&gt;&lt;mn&gt;10&lt;/mn&gt;&lt;/mfrac&gt;&lt;mtext&gt;&lt;/mtext&gt;&lt;mtext&gt;&lt;/mtext&gt;&lt;mtext&gt;&lt;/mtext&gt;&lt;mtext&gt;&lt;/mtext&gt;&lt;mtext&gt;&lt;/mtext&gt;&lt;mn&gt;8.9&lt;/mn&gt;&lt;mtext&gt;&lt;/mtext&gt;&lt;mo&gt;×&lt;/mo&gt;&lt;mn&gt;0.001&lt;/mn&gt;&lt;mtext&gt;&lt;/mtext&gt;&lt;mtext&gt;&lt;/mtext&gt;&lt;mtext&gt;&lt;/mtext&gt;&lt;mn&gt;9.8&lt;/mn&gt;&lt;mtext&gt;&lt;/mtext&gt;&lt;mo&gt;×&lt;/mo&gt;&lt;mfrac&gt;&lt;mn&gt;1&lt;/mn&gt;&lt;msup&gt;&lt;mn&gt;10&lt;/mn&gt;&lt;mn&gt;2&lt;/mn&gt;&lt;/msup&gt;&lt;/mfrac&gt;&lt;mtext&gt;&lt;/mtext&gt;&lt;mtext&gt;&lt;/mtext&gt;&lt;mtext&gt;&lt;/mtext&gt;&lt;mn&gt;7.8&lt;/mn&gt;&lt;mtext&gt;&lt;/mtext&gt;&lt;mo&gt;×&lt;/mo&gt;&lt;msup&gt;&lt;mn&gt;10&lt;/mn&gt;&lt;mn&gt;2&lt;/mn&gt;&lt;/msup&gt;&lt;/math&gt;" id="1523" name="Google Shape;1523;p103" title="1.2 times one tenth 8.9 times 0.001 9.8 times the fraction with numerator 1 and denominator 10 squared 7.8 times 10 squared"/>
          <p:cNvPicPr preferRelativeResize="0"/>
          <p:nvPr/>
        </p:nvPicPr>
        <p:blipFill rotWithShape="1">
          <a:blip r:embed="rId5">
            <a:alphaModFix/>
          </a:blip>
          <a:srcRect b="0" l="78168" r="-1867" t="0"/>
          <a:stretch/>
        </p:blipFill>
        <p:spPr>
          <a:xfrm>
            <a:off x="7633050" y="4381590"/>
            <a:ext cx="963600" cy="471107"/>
          </a:xfrm>
          <a:prstGeom prst="rect">
            <a:avLst/>
          </a:prstGeom>
          <a:noFill/>
          <a:ln>
            <a:noFill/>
          </a:ln>
        </p:spPr>
      </p:pic>
      <p:sp>
        <p:nvSpPr>
          <p:cNvPr id="1524" name="Google Shape;1524;p103"/>
          <p:cNvSpPr/>
          <p:nvPr/>
        </p:nvSpPr>
        <p:spPr>
          <a:xfrm>
            <a:off x="4625038" y="4455748"/>
            <a:ext cx="1122300" cy="330300"/>
          </a:xfrm>
          <a:prstGeom prst="rect">
            <a:avLst/>
          </a:prstGeom>
          <a:solidFill>
            <a:srgbClr val="FFFF00">
              <a:alpha val="3255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5" name="Google Shape;1525;p103"/>
          <p:cNvSpPr/>
          <p:nvPr/>
        </p:nvSpPr>
        <p:spPr>
          <a:xfrm>
            <a:off x="6786750" y="4318675"/>
            <a:ext cx="846300" cy="481800"/>
          </a:xfrm>
          <a:prstGeom prst="rect">
            <a:avLst/>
          </a:prstGeom>
          <a:solidFill>
            <a:srgbClr val="FFFF00">
              <a:alpha val="3255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6" name="Google Shape;1526;p103"/>
          <p:cNvSpPr/>
          <p:nvPr/>
        </p:nvSpPr>
        <p:spPr>
          <a:xfrm>
            <a:off x="5828375" y="4297075"/>
            <a:ext cx="884400" cy="525000"/>
          </a:xfrm>
          <a:prstGeom prst="rect">
            <a:avLst/>
          </a:prstGeom>
          <a:solidFill>
            <a:srgbClr val="FFFF00">
              <a:alpha val="3255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7" name="Google Shape;1527;p103"/>
          <p:cNvSpPr/>
          <p:nvPr/>
        </p:nvSpPr>
        <p:spPr>
          <a:xfrm>
            <a:off x="7660825" y="4312225"/>
            <a:ext cx="884400" cy="481800"/>
          </a:xfrm>
          <a:prstGeom prst="rect">
            <a:avLst/>
          </a:prstGeom>
          <a:solidFill>
            <a:srgbClr val="FFFF00">
              <a:alpha val="3255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8" name="Google Shape;1528;p103"/>
          <p:cNvSpPr/>
          <p:nvPr/>
        </p:nvSpPr>
        <p:spPr>
          <a:xfrm>
            <a:off x="4706075" y="1573250"/>
            <a:ext cx="1122300" cy="6621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9" name="Google Shape;1529;p103"/>
          <p:cNvSpPr/>
          <p:nvPr/>
        </p:nvSpPr>
        <p:spPr>
          <a:xfrm>
            <a:off x="6535050" y="1524450"/>
            <a:ext cx="1570800" cy="3648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0" name="Google Shape;1530;p103"/>
          <p:cNvSpPr/>
          <p:nvPr/>
        </p:nvSpPr>
        <p:spPr>
          <a:xfrm>
            <a:off x="4667300" y="2822175"/>
            <a:ext cx="1254900" cy="6621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1" name="Google Shape;1531;p103"/>
          <p:cNvSpPr/>
          <p:nvPr/>
        </p:nvSpPr>
        <p:spPr>
          <a:xfrm>
            <a:off x="6559875" y="2811813"/>
            <a:ext cx="1254900" cy="3648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54\ \times10^2\ \ \ \ \ \ \ \ 653\ \times\frac{1}{10^2}\ \ \ \ \ 8.9\ \times10^{ }\ \ \ \ \ \ \ 9900\ \times0.01&quot;&gt;&lt;mn&gt;54&lt;/mn&gt;&lt;mtext&gt;&lt;/mtext&gt;&lt;mo&gt;×&lt;/mo&gt;&lt;msup&gt;&lt;mn&gt;10&lt;/mn&gt;&lt;mn&gt;2&lt;/mn&gt;&lt;/msup&gt;&lt;mtext&gt;&lt;/mtext&gt;&lt;mtext&gt;&lt;/mtext&gt;&lt;mtext&gt;&lt;/mtext&gt;&lt;mtext&gt;&lt;/mtext&gt;&lt;mtext&gt;&lt;/mtext&gt;&lt;mtext&gt;&lt;/mtext&gt;&lt;mtext&gt;&lt;/mtext&gt;&lt;mtext&gt;&lt;/mtext&gt;&lt;mn&gt;653&lt;/mn&gt;&lt;mtext&gt;&lt;/mtext&gt;&lt;mo&gt;×&lt;/mo&gt;&lt;mfrac&gt;&lt;mn&gt;1&lt;/mn&gt;&lt;msup&gt;&lt;mn&gt;10&lt;/mn&gt;&lt;mn&gt;2&lt;/mn&gt;&lt;/msup&gt;&lt;/mfrac&gt;&lt;mtext&gt;&lt;/mtext&gt;&lt;mtext&gt;&lt;/mtext&gt;&lt;mtext&gt;&lt;/mtext&gt;&lt;mtext&gt;&lt;/mtext&gt;&lt;mtext&gt;&lt;/mtext&gt;&lt;mn&gt;8.9&lt;/mn&gt;&lt;mtext&gt;&lt;/mtext&gt;&lt;mo&gt;×&lt;/mo&gt;&lt;msup&gt;&lt;mn&gt;10&lt;/mn&gt;&lt;mrow data-mjx-texclass=&quot;ORD&quot;/&gt;&lt;/msup&gt;&lt;mtext&gt;&lt;/mtext&gt;&lt;mtext&gt;&lt;/mtext&gt;&lt;mtext&gt;&lt;/mtext&gt;&lt;mtext&gt;&lt;/mtext&gt;&lt;mtext&gt;&lt;/mtext&gt;&lt;mtext&gt;&lt;/mtext&gt;&lt;mtext&gt;&lt;/mtext&gt;&lt;mn&gt;9900&lt;/mn&gt;&lt;mtext&gt;&lt;/mtext&gt;&lt;mo&gt;×&lt;/mo&gt;&lt;mn&gt;0.01&lt;/mn&gt;&lt;/math&gt;" id="1532" name="Google Shape;1532;p103" title="54 times 10 squared 653 times the fraction with numerator 1 and denominator 10 squared 8.9 times 10 raised to the power 9900 times 0.01"/>
          <p:cNvPicPr preferRelativeResize="0"/>
          <p:nvPr/>
        </p:nvPicPr>
        <p:blipFill rotWithShape="1">
          <a:blip r:embed="rId6">
            <a:alphaModFix/>
          </a:blip>
          <a:srcRect b="0" l="0" r="50999" t="0"/>
          <a:stretch/>
        </p:blipFill>
        <p:spPr>
          <a:xfrm>
            <a:off x="550865" y="1646742"/>
            <a:ext cx="2887100" cy="613500"/>
          </a:xfrm>
          <a:prstGeom prst="rect">
            <a:avLst/>
          </a:prstGeom>
          <a:noFill/>
          <a:ln>
            <a:noFill/>
          </a:ln>
        </p:spPr>
      </p:pic>
      <p:pic>
        <p:nvPicPr>
          <p:cNvPr descr="&lt;math xmlns=&quot;http://www.w3.org/1998/Math/MathML&quot; display=&quot;block&quot; data-is-equatio=&quot;1&quot; data-latex=&quot;54\ \times10^2\ \ \ \ \ \ \ \ 653\ \times\frac{1}{10^2}\ \ \ \ \ 8.9\ \times10^{ }\ \ \ \ \ \ \ 9900\ \times0.01&quot;&gt;&lt;mn&gt;54&lt;/mn&gt;&lt;mtext&gt;&lt;/mtext&gt;&lt;mo&gt;×&lt;/mo&gt;&lt;msup&gt;&lt;mn&gt;10&lt;/mn&gt;&lt;mn&gt;2&lt;/mn&gt;&lt;/msup&gt;&lt;mtext&gt;&lt;/mtext&gt;&lt;mtext&gt;&lt;/mtext&gt;&lt;mtext&gt;&lt;/mtext&gt;&lt;mtext&gt;&lt;/mtext&gt;&lt;mtext&gt;&lt;/mtext&gt;&lt;mtext&gt;&lt;/mtext&gt;&lt;mtext&gt;&lt;/mtext&gt;&lt;mtext&gt;&lt;/mtext&gt;&lt;mn&gt;653&lt;/mn&gt;&lt;mtext&gt;&lt;/mtext&gt;&lt;mo&gt;×&lt;/mo&gt;&lt;mfrac&gt;&lt;mn&gt;1&lt;/mn&gt;&lt;msup&gt;&lt;mn&gt;10&lt;/mn&gt;&lt;mn&gt;2&lt;/mn&gt;&lt;/msup&gt;&lt;/mfrac&gt;&lt;mtext&gt;&lt;/mtext&gt;&lt;mtext&gt;&lt;/mtext&gt;&lt;mtext&gt;&lt;/mtext&gt;&lt;mtext&gt;&lt;/mtext&gt;&lt;mtext&gt;&lt;/mtext&gt;&lt;mn&gt;8.9&lt;/mn&gt;&lt;mtext&gt;&lt;/mtext&gt;&lt;mo&gt;×&lt;/mo&gt;&lt;msup&gt;&lt;mn&gt;10&lt;/mn&gt;&lt;mrow data-mjx-texclass=&quot;ORD&quot;/&gt;&lt;/msup&gt;&lt;mtext&gt;&lt;/mtext&gt;&lt;mtext&gt;&lt;/mtext&gt;&lt;mtext&gt;&lt;/mtext&gt;&lt;mtext&gt;&lt;/mtext&gt;&lt;mtext&gt;&lt;/mtext&gt;&lt;mtext&gt;&lt;/mtext&gt;&lt;mtext&gt;&lt;/mtext&gt;&lt;mn&gt;9900&lt;/mn&gt;&lt;mtext&gt;&lt;/mtext&gt;&lt;mo&gt;×&lt;/mo&gt;&lt;mn&gt;0.01&lt;/mn&gt;&lt;/math&gt;" id="1533" name="Google Shape;1533;p103" title="54 times 10 squared 653 times the fraction with numerator 1 and denominator 10 squared 8.9 times 10 raised to the power 9900 times 0.01"/>
          <p:cNvPicPr preferRelativeResize="0"/>
          <p:nvPr/>
        </p:nvPicPr>
        <p:blipFill rotWithShape="1">
          <a:blip r:embed="rId6">
            <a:alphaModFix/>
          </a:blip>
          <a:srcRect b="0" l="25431" r="50999" t="0"/>
          <a:stretch/>
        </p:blipFill>
        <p:spPr>
          <a:xfrm>
            <a:off x="441624" y="4301500"/>
            <a:ext cx="994498" cy="439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sp>
        <p:nvSpPr>
          <p:cNvPr descr="&lt;math xmlns=&quot;http://www.w3.org/1998/Math/MathML&quot; display=&quot;block&quot; data-is-equatio=&quot;1&quot; data-latex=&quot;1600\ \times\frac{1}{10^2}\ \ \ \ \ \ \ \ \ 160\ 000\ \times\frac{1}{10^{-4}}\ \ \ &quot;&gt;&lt;mn&gt;1600&lt;/mn&gt;&lt;mtext&gt;&lt;/mtext&gt;&lt;mo&gt;×&lt;/mo&gt;&lt;mfrac&gt;&lt;mn&gt;1&lt;/mn&gt;&lt;msup&gt;&lt;mn&gt;10&lt;/mn&gt;&lt;mn&gt;2&lt;/mn&gt;&lt;/msup&gt;&lt;/mfrac&gt;&lt;mtext&gt;&lt;/mtext&gt;&lt;mtext&gt;&lt;/mtext&gt;&lt;mtext&gt;&lt;/mtext&gt;&lt;mtext&gt;&lt;/mtext&gt;&lt;mtext&gt;&lt;/mtext&gt;&lt;mtext&gt;&lt;/mtext&gt;&lt;mtext&gt;&lt;/mtext&gt;&lt;mtext&gt;&lt;/mtext&gt;&lt;mtext&gt;&lt;/mtext&gt;&lt;mn&gt;160&lt;/mn&gt;&lt;mtext&gt;&lt;/mtext&gt;&lt;mn&gt;000&lt;/mn&gt;&lt;mtext&gt;&lt;/mtext&gt;&lt;mo&gt;×&lt;/mo&gt;&lt;mfrac&gt;&lt;mn&gt;1&lt;/mn&gt;&lt;msup&gt;&lt;mn&gt;10&lt;/mn&gt;&lt;mrow data-mjx-texclass=&quot;ORD&quot;&gt;&lt;mo&gt;−&lt;/mo&gt;&lt;mn&gt;4&lt;/mn&gt;&lt;/mrow&gt;&lt;/msup&gt;&lt;/mfrac&gt;&lt;mtext&gt;&lt;/mtext&gt;&lt;mtext&gt;&lt;/mtext&gt;&lt;mtext&gt;&lt;/mtext&gt;&lt;/math&gt;" id="1538" name="Google Shape;1538;p104" title="1600 times the fraction with numerator 1 and denominator 10 squared 160 000 times the fraction with numerator 1 and denominator 10 to the negative 4 power"/>
          <p:cNvSpPr txBox="1"/>
          <p:nvPr>
            <p:ph idx="1" type="body"/>
          </p:nvPr>
        </p:nvSpPr>
        <p:spPr>
          <a:xfrm>
            <a:off x="324000" y="759300"/>
            <a:ext cx="8237700" cy="512100"/>
          </a:xfrm>
          <a:prstGeom prst="rect">
            <a:avLst/>
          </a:prstGeom>
          <a:noFill/>
          <a:ln>
            <a:noFill/>
          </a:ln>
        </p:spPr>
        <p:txBody>
          <a:bodyPr anchorCtr="0" anchor="t" bIns="0" lIns="0" spcFirstLastPara="1" rIns="0" wrap="square" tIns="0">
            <a:noAutofit/>
          </a:bodyPr>
          <a:lstStyle/>
          <a:p>
            <a:pPr indent="0" lvl="0" marL="88900" rtl="0" algn="l">
              <a:lnSpc>
                <a:spcPct val="115000"/>
              </a:lnSpc>
              <a:spcBef>
                <a:spcPts val="0"/>
              </a:spcBef>
              <a:spcAft>
                <a:spcPts val="0"/>
              </a:spcAft>
              <a:buSzPts val="2200"/>
              <a:buNone/>
            </a:pPr>
            <a:r>
              <a:rPr lang="en-GB"/>
              <a:t>1</a:t>
            </a:r>
            <a:r>
              <a:rPr lang="en-GB"/>
              <a:t>) Using inequalities, &lt;, &gt; or =, compare the sizes of each number, making sure to show your working out. </a:t>
            </a:r>
            <a:endParaRPr/>
          </a:p>
          <a:p>
            <a:pPr indent="0" lvl="0" marL="88900" rtl="0" algn="l">
              <a:lnSpc>
                <a:spcPct val="115000"/>
              </a:lnSpc>
              <a:spcBef>
                <a:spcPts val="0"/>
              </a:spcBef>
              <a:spcAft>
                <a:spcPts val="0"/>
              </a:spcAft>
              <a:buSzPts val="2200"/>
              <a:buNone/>
            </a:pPr>
            <a:r>
              <a:t/>
            </a:r>
            <a:endParaRPr/>
          </a:p>
          <a:p>
            <a:pPr indent="0" lvl="0" marL="88900" rtl="0" algn="l">
              <a:lnSpc>
                <a:spcPct val="115000"/>
              </a:lnSpc>
              <a:spcBef>
                <a:spcPts val="0"/>
              </a:spcBef>
              <a:spcAft>
                <a:spcPts val="0"/>
              </a:spcAft>
              <a:buSzPts val="2200"/>
              <a:buNone/>
            </a:pPr>
            <a:r>
              <a:t/>
            </a:r>
            <a:endParaRPr/>
          </a:p>
        </p:txBody>
      </p:sp>
      <p:sp>
        <p:nvSpPr>
          <p:cNvPr id="1539" name="Google Shape;1539;p104"/>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Ordering numbers using standard </a:t>
            </a:r>
            <a:r>
              <a:rPr lang="en-GB"/>
              <a:t>form</a:t>
            </a:r>
            <a:endParaRPr/>
          </a:p>
        </p:txBody>
      </p:sp>
      <p:pic>
        <p:nvPicPr>
          <p:cNvPr descr="&lt;math xmlns=&quot;http://www.w3.org/1998/Math/MathML&quot; display=&quot;block&quot; data-is-equatio=&quot;1&quot; data-latex=&quot;38\ \times0.01\ \ \ \ \ \ \ 4.8\ \times10^{-2}\ \ \ \ \ &quot;&gt;&lt;mn&gt;38&lt;/mn&gt;&lt;mtext&gt;&lt;/mtext&gt;&lt;mo&gt;×&lt;/mo&gt;&lt;mn&gt;0.01&lt;/mn&gt;&lt;mtext&gt;&lt;/mtext&gt;&lt;mtext&gt;&lt;/mtext&gt;&lt;mtext&gt;&lt;/mtext&gt;&lt;mtext&gt;&lt;/mtext&gt;&lt;mtext&gt;&lt;/mtext&gt;&lt;mtext&gt;&lt;/mtext&gt;&lt;mtext&gt;&lt;/mtext&gt;&lt;mn&gt;4.8&lt;/mn&gt;&lt;mtext&gt;&lt;/mtext&gt;&lt;mo&gt;×&lt;/mo&gt;&lt;msup&gt;&lt;mn&gt;10&lt;/mn&gt;&lt;mrow data-mjx-texclass=&quot;ORD&quot;&gt;&lt;mo&gt;−&lt;/mo&gt;&lt;mn&gt;2&lt;/mn&gt;&lt;/mrow&gt;&lt;/msup&gt;&lt;mtext&gt;&lt;/mtext&gt;&lt;mtext&gt;&lt;/mtext&gt;&lt;mtext&gt;&lt;/mtext&gt;&lt;mtext&gt;&lt;/mtext&gt;&lt;mtext&gt;&lt;/mtext&gt;&lt;/math&gt;" id="1540" name="Google Shape;1540;p104" title="38 times 0.01 4.8 times 10 to the negative 2 power"/>
          <p:cNvPicPr preferRelativeResize="0"/>
          <p:nvPr/>
        </p:nvPicPr>
        <p:blipFill>
          <a:blip r:embed="rId3">
            <a:alphaModFix/>
          </a:blip>
          <a:stretch>
            <a:fillRect/>
          </a:stretch>
        </p:blipFill>
        <p:spPr>
          <a:xfrm>
            <a:off x="1117350" y="1608250"/>
            <a:ext cx="4147001" cy="382800"/>
          </a:xfrm>
          <a:prstGeom prst="rect">
            <a:avLst/>
          </a:prstGeom>
          <a:noFill/>
          <a:ln>
            <a:noFill/>
          </a:ln>
        </p:spPr>
      </p:pic>
      <p:pic>
        <p:nvPicPr>
          <p:cNvPr id="1541" name="Google Shape;1541;p104"/>
          <p:cNvPicPr preferRelativeResize="0"/>
          <p:nvPr/>
        </p:nvPicPr>
        <p:blipFill rotWithShape="1">
          <a:blip r:embed="rId4">
            <a:alphaModFix/>
          </a:blip>
          <a:srcRect b="0" l="0" r="60205" t="0"/>
          <a:stretch/>
        </p:blipFill>
        <p:spPr>
          <a:xfrm>
            <a:off x="888475" y="3944600"/>
            <a:ext cx="1832426" cy="750775"/>
          </a:xfrm>
          <a:prstGeom prst="rect">
            <a:avLst/>
          </a:prstGeom>
          <a:noFill/>
          <a:ln>
            <a:noFill/>
          </a:ln>
        </p:spPr>
      </p:pic>
      <p:sp>
        <p:nvSpPr>
          <p:cNvPr id="1542" name="Google Shape;1542;p104"/>
          <p:cNvSpPr txBox="1"/>
          <p:nvPr/>
        </p:nvSpPr>
        <p:spPr>
          <a:xfrm>
            <a:off x="324008" y="1563975"/>
            <a:ext cx="1071600" cy="338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a)</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b)</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c)</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d)</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1600\ \times\frac{1}{10^2}\ \ \ \ \ \ \ \ \ 160\ 000\ \times\frac{1}{10^4}\ \ \ &quot;&gt;&lt;mn&gt;1600&lt;/mn&gt;&lt;mtext&gt;&lt;/mtext&gt;&lt;mo&gt;×&lt;/mo&gt;&lt;mfrac&gt;&lt;mn&gt;1&lt;/mn&gt;&lt;msup&gt;&lt;mn&gt;10&lt;/mn&gt;&lt;mn&gt;2&lt;/mn&gt;&lt;/msup&gt;&lt;/mfrac&gt;&lt;mtext&gt;&lt;/mtext&gt;&lt;mtext&gt;&lt;/mtext&gt;&lt;mtext&gt;&lt;/mtext&gt;&lt;mtext&gt;&lt;/mtext&gt;&lt;mtext&gt;&lt;/mtext&gt;&lt;mtext&gt;&lt;/mtext&gt;&lt;mtext&gt;&lt;/mtext&gt;&lt;mtext&gt;&lt;/mtext&gt;&lt;mtext&gt;&lt;/mtext&gt;&lt;mn&gt;160&lt;/mn&gt;&lt;mtext&gt;&lt;/mtext&gt;&lt;mn&gt;000&lt;/mn&gt;&lt;mtext&gt;&lt;/mtext&gt;&lt;mo&gt;×&lt;/mo&gt;&lt;mfrac&gt;&lt;mn&gt;1&lt;/mn&gt;&lt;msup&gt;&lt;mn&gt;10&lt;/mn&gt;&lt;mn&gt;4&lt;/mn&gt;&lt;/msup&gt;&lt;/mfrac&gt;&lt;mtext&gt;&lt;/mtext&gt;&lt;mtext&gt;&lt;/mtext&gt;&lt;mtext&gt;&lt;/mtext&gt;&lt;/math&gt;" id="1543" name="Google Shape;1543;p104" title="1600 times the fraction with numerator 1 and denominator 10 squared 160 000 times the fraction with numerator 1 and denominator 10 to the fourth power"/>
          <p:cNvPicPr preferRelativeResize="0"/>
          <p:nvPr/>
        </p:nvPicPr>
        <p:blipFill rotWithShape="1">
          <a:blip r:embed="rId5">
            <a:alphaModFix/>
          </a:blip>
          <a:srcRect b="0" l="51781" r="0" t="0"/>
          <a:stretch/>
        </p:blipFill>
        <p:spPr>
          <a:xfrm>
            <a:off x="2926575" y="3944600"/>
            <a:ext cx="2143101" cy="750775"/>
          </a:xfrm>
          <a:prstGeom prst="rect">
            <a:avLst/>
          </a:prstGeom>
          <a:noFill/>
          <a:ln>
            <a:noFill/>
          </a:ln>
        </p:spPr>
      </p:pic>
      <p:pic>
        <p:nvPicPr>
          <p:cNvPr descr="&lt;math xmlns=&quot;http://www.w3.org/1998/Math/MathML&quot; display=&quot;block&quot; data-is-equatio=&quot;1&quot; data-latex=&quot;78\ 000\times0.001\ \ \ \ \ \ \ 99\ \times10^2\ \ \ \ \ &quot;&gt;&lt;mn&gt;78&lt;/mn&gt;&lt;mtext&gt;&lt;/mtext&gt;&lt;mn&gt;000&lt;/mn&gt;&lt;mo&gt;×&lt;/mo&gt;&lt;mn&gt;0.001&lt;/mn&gt;&lt;mtext&gt;&lt;/mtext&gt;&lt;mtext&gt;&lt;/mtext&gt;&lt;mtext&gt;&lt;/mtext&gt;&lt;mtext&gt;&lt;/mtext&gt;&lt;mtext&gt;&lt;/mtext&gt;&lt;mtext&gt;&lt;/mtext&gt;&lt;mtext&gt;&lt;/mtext&gt;&lt;mn&gt;99&lt;/mn&gt;&lt;mtext&gt;&lt;/mtext&gt;&lt;mo&gt;×&lt;/mo&gt;&lt;msup&gt;&lt;mn&gt;10&lt;/mn&gt;&lt;mn&gt;2&lt;/mn&gt;&lt;/msup&gt;&lt;mtext&gt;&lt;/mtext&gt;&lt;mtext&gt;&lt;/mtext&gt;&lt;mtext&gt;&lt;/mtext&gt;&lt;mtext&gt;&lt;/mtext&gt;&lt;mtext&gt;&lt;/mtext&gt;&lt;/math&gt;" id="1544" name="Google Shape;1544;p104" title="78 000 times 0.001 99 times 10 squared"/>
          <p:cNvPicPr preferRelativeResize="0"/>
          <p:nvPr/>
        </p:nvPicPr>
        <p:blipFill>
          <a:blip r:embed="rId6">
            <a:alphaModFix/>
          </a:blip>
          <a:stretch>
            <a:fillRect/>
          </a:stretch>
        </p:blipFill>
        <p:spPr>
          <a:xfrm>
            <a:off x="949150" y="2380350"/>
            <a:ext cx="4081750" cy="334976"/>
          </a:xfrm>
          <a:prstGeom prst="rect">
            <a:avLst/>
          </a:prstGeom>
          <a:noFill/>
          <a:ln>
            <a:noFill/>
          </a:ln>
        </p:spPr>
      </p:pic>
      <p:pic>
        <p:nvPicPr>
          <p:cNvPr descr="&lt;math xmlns=&quot;http://www.w3.org/1998/Math/MathML&quot; display=&quot;block&quot; data-is-equatio=&quot;1&quot; data-latex=&quot;139\ \times\frac{1}{10^2}\ \ \ \ \ \ \ \ \ 4820\ \times\frac{1}{10^4}\ \ \ &quot;&gt;&lt;mn&gt;139&lt;/mn&gt;&lt;mtext&gt;&lt;/mtext&gt;&lt;mo&gt;×&lt;/mo&gt;&lt;mfrac&gt;&lt;mn&gt;1&lt;/mn&gt;&lt;msup&gt;&lt;mn&gt;10&lt;/mn&gt;&lt;mn&gt;2&lt;/mn&gt;&lt;/msup&gt;&lt;/mfrac&gt;&lt;mtext&gt;&lt;/mtext&gt;&lt;mtext&gt;&lt;/mtext&gt;&lt;mtext&gt;&lt;/mtext&gt;&lt;mtext&gt;&lt;/mtext&gt;&lt;mtext&gt;&lt;/mtext&gt;&lt;mtext&gt;&lt;/mtext&gt;&lt;mtext&gt;&lt;/mtext&gt;&lt;mtext&gt;&lt;/mtext&gt;&lt;mtext&gt;&lt;/mtext&gt;&lt;mn&gt;4820&lt;/mn&gt;&lt;mtext&gt;&lt;/mtext&gt;&lt;mo&gt;×&lt;/mo&gt;&lt;mfrac&gt;&lt;mn&gt;1&lt;/mn&gt;&lt;msup&gt;&lt;mn&gt;10&lt;/mn&gt;&lt;mn&gt;4&lt;/mn&gt;&lt;/msup&gt;&lt;/mfrac&gt;&lt;mtext&gt;&lt;/mtext&gt;&lt;mtext&gt;&lt;/mtext&gt;&lt;mtext&gt;&lt;/mtext&gt;&lt;/math&gt;" id="1545" name="Google Shape;1545;p104" title="139 times the fraction with numerator 1 and denominator 10 squared 4820 times the fraction with numerator 1 and denominator 10 to the fourth power"/>
          <p:cNvPicPr preferRelativeResize="0"/>
          <p:nvPr/>
        </p:nvPicPr>
        <p:blipFill>
          <a:blip r:embed="rId7">
            <a:alphaModFix/>
          </a:blip>
          <a:stretch>
            <a:fillRect/>
          </a:stretch>
        </p:blipFill>
        <p:spPr>
          <a:xfrm>
            <a:off x="906875" y="3103500"/>
            <a:ext cx="3874000" cy="7507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105"/>
          <p:cNvSpPr txBox="1"/>
          <p:nvPr>
            <p:ph idx="1" type="body"/>
          </p:nvPr>
        </p:nvSpPr>
        <p:spPr>
          <a:xfrm>
            <a:off x="324000" y="759300"/>
            <a:ext cx="8237700" cy="51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400"/>
              <a:t>2) </a:t>
            </a:r>
            <a:r>
              <a:rPr lang="en-GB" sz="2400"/>
              <a:t>By working out the number, write in standard form and order the original form given in the question.</a:t>
            </a:r>
            <a:endParaRPr/>
          </a:p>
        </p:txBody>
      </p:sp>
      <p:sp>
        <p:nvSpPr>
          <p:cNvPr id="1551" name="Google Shape;1551;p105"/>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Ordering numbers using standard </a:t>
            </a:r>
            <a:r>
              <a:rPr lang="en-GB"/>
              <a:t>form</a:t>
            </a:r>
            <a:endParaRPr/>
          </a:p>
        </p:txBody>
      </p:sp>
      <p:pic>
        <p:nvPicPr>
          <p:cNvPr descr="&lt;math xmlns=&quot;http://www.w3.org/1998/Math/MathML&quot; display=&quot;block&quot; data-is-equatio=&quot;1&quot; data-latex=&quot;3.8\ \times0.001\ \ \ \ \ \ \ 7900\ \times10^{-4}\ \ \ \ \ \ \ 7.8\ \times\frac{1}{10^2}\ \ \ \ \ \ \ \ \ 800\ \times\frac{1}{10^{-2}}&quot;&gt;&lt;mn&gt;3.8&lt;/mn&gt;&lt;mtext&gt;&lt;/mtext&gt;&lt;mo&gt;×&lt;/mo&gt;&lt;mn&gt;0.001&lt;/mn&gt;&lt;mtext&gt;&lt;/mtext&gt;&lt;mtext&gt;&lt;/mtext&gt;&lt;mtext&gt;&lt;/mtext&gt;&lt;mtext&gt;&lt;/mtext&gt;&lt;mtext&gt;&lt;/mtext&gt;&lt;mtext&gt;&lt;/mtext&gt;&lt;mtext&gt;&lt;/mtext&gt;&lt;mn&gt;7900&lt;/mn&gt;&lt;mtext&gt;&lt;/mtext&gt;&lt;mo&gt;×&lt;/mo&gt;&lt;msup&gt;&lt;mn&gt;10&lt;/mn&gt;&lt;mrow data-mjx-texclass=&quot;ORD&quot;&gt;&lt;mo&gt;−&lt;/mo&gt;&lt;mn&gt;4&lt;/mn&gt;&lt;/mrow&gt;&lt;/msup&gt;&lt;mtext&gt;&lt;/mtext&gt;&lt;mtext&gt;&lt;/mtext&gt;&lt;mtext&gt;&lt;/mtext&gt;&lt;mtext&gt;&lt;/mtext&gt;&lt;mtext&gt;&lt;/mtext&gt;&lt;mtext&gt;&lt;/mtext&gt;&lt;mtext&gt;&lt;/mtext&gt;&lt;mn&gt;7.8&lt;/mn&gt;&lt;mtext&gt;&lt;/mtext&gt;&lt;mo&gt;×&lt;/mo&gt;&lt;mfrac&gt;&lt;mn&gt;1&lt;/mn&gt;&lt;msup&gt;&lt;mn&gt;10&lt;/mn&gt;&lt;mn&gt;2&lt;/mn&gt;&lt;/msup&gt;&lt;/mfrac&gt;&lt;mtext&gt;&lt;/mtext&gt;&lt;mtext&gt;&lt;/mtext&gt;&lt;mtext&gt;&lt;/mtext&gt;&lt;mtext&gt;&lt;/mtext&gt;&lt;mtext&gt;&lt;/mtext&gt;&lt;mtext&gt;&lt;/mtext&gt;&lt;mtext&gt;&lt;/mtext&gt;&lt;mtext&gt;&lt;/mtext&gt;&lt;mtext&gt;&lt;/mtext&gt;&lt;mn&gt;800&lt;/mn&gt;&lt;mtext&gt;&lt;/mtext&gt;&lt;mo&gt;×&lt;/mo&gt;&lt;mfrac&gt;&lt;mn&gt;1&lt;/mn&gt;&lt;msup&gt;&lt;mn&gt;10&lt;/mn&gt;&lt;mrow data-mjx-texclass=&quot;ORD&quot;&gt;&lt;mo&gt;−&lt;/mo&gt;&lt;mn&gt;2&lt;/mn&gt;&lt;/mrow&gt;&lt;/msup&gt;&lt;/mfrac&gt;&lt;/math&gt;" id="1552" name="Google Shape;1552;p105" title="3.8 times 0.001 7900 times 10 to the negative 4 power 7.8 times the fraction with numerator 1 and denominator 10 squared 800 times the fraction with numerator 1 and denominator 10 to the negative 2 power"/>
          <p:cNvPicPr preferRelativeResize="0"/>
          <p:nvPr/>
        </p:nvPicPr>
        <p:blipFill>
          <a:blip r:embed="rId3">
            <a:alphaModFix/>
          </a:blip>
          <a:stretch>
            <a:fillRect/>
          </a:stretch>
        </p:blipFill>
        <p:spPr>
          <a:xfrm>
            <a:off x="870863" y="1770000"/>
            <a:ext cx="7629525" cy="691475"/>
          </a:xfrm>
          <a:prstGeom prst="rect">
            <a:avLst/>
          </a:prstGeom>
          <a:noFill/>
          <a:ln>
            <a:noFill/>
          </a:ln>
        </p:spPr>
      </p:pic>
      <p:pic>
        <p:nvPicPr>
          <p:cNvPr descr="&lt;math xmlns=&quot;http://www.w3.org/1998/Math/MathML&quot; display=&quot;block&quot; data-is-equatio=&quot;1&quot; data-latex=&quot;920\ \times0.0001\ \ \ \ \ \ \ 92\ 100\ \times10^{-3}\ \ \ \ \ \ \ 9.8\ \times\frac{1}{10^{ }}\ \ \ \ \ \ \ \ \ 9100\ \times\frac{1}{10^{-2}}&quot;&gt;&lt;mn&gt;920&lt;/mn&gt;&lt;mtext&gt;&lt;/mtext&gt;&lt;mo&gt;×&lt;/mo&gt;&lt;mn&gt;0.0001&lt;/mn&gt;&lt;mtext&gt;&lt;/mtext&gt;&lt;mtext&gt;&lt;/mtext&gt;&lt;mtext&gt;&lt;/mtext&gt;&lt;mtext&gt;&lt;/mtext&gt;&lt;mtext&gt;&lt;/mtext&gt;&lt;mtext&gt;&lt;/mtext&gt;&lt;mtext&gt;&lt;/mtext&gt;&lt;mn&gt;92&lt;/mn&gt;&lt;mtext&gt;&lt;/mtext&gt;&lt;mn&gt;100&lt;/mn&gt;&lt;mtext&gt;&lt;/mtext&gt;&lt;mo&gt;×&lt;/mo&gt;&lt;msup&gt;&lt;mn&gt;10&lt;/mn&gt;&lt;mrow data-mjx-texclass=&quot;ORD&quot;&gt;&lt;mo&gt;−&lt;/mo&gt;&lt;mn&gt;3&lt;/mn&gt;&lt;/mrow&gt;&lt;/msup&gt;&lt;mtext&gt;&lt;/mtext&gt;&lt;mtext&gt;&lt;/mtext&gt;&lt;mtext&gt;&lt;/mtext&gt;&lt;mtext&gt;&lt;/mtext&gt;&lt;mtext&gt;&lt;/mtext&gt;&lt;mtext&gt;&lt;/mtext&gt;&lt;mtext&gt;&lt;/mtext&gt;&lt;mn&gt;9.8&lt;/mn&gt;&lt;mtext&gt;&lt;/mtext&gt;&lt;mo&gt;×&lt;/mo&gt;&lt;mfrac&gt;&lt;mn&gt;1&lt;/mn&gt;&lt;msup&gt;&lt;mn&gt;10&lt;/mn&gt;&lt;mrow data-mjx-texclass=&quot;ORD&quot;/&gt;&lt;/msup&gt;&lt;/mfrac&gt;&lt;mtext&gt;&lt;/mtext&gt;&lt;mtext&gt;&lt;/mtext&gt;&lt;mtext&gt;&lt;/mtext&gt;&lt;mtext&gt;&lt;/mtext&gt;&lt;mtext&gt;&lt;/mtext&gt;&lt;mtext&gt;&lt;/mtext&gt;&lt;mtext&gt;&lt;/mtext&gt;&lt;mtext&gt;&lt;/mtext&gt;&lt;mtext&gt;&lt;/mtext&gt;&lt;mn&gt;9100&lt;/mn&gt;&lt;mtext&gt;&lt;/mtext&gt;&lt;mo&gt;×&lt;/mo&gt;&lt;mfrac&gt;&lt;mn&gt;1&lt;/mn&gt;&lt;msup&gt;&lt;mn&gt;10&lt;/mn&gt;&lt;mrow data-mjx-texclass=&quot;ORD&quot;&gt;&lt;mo&gt;−&lt;/mo&gt;&lt;mn&gt;2&lt;/mn&gt;&lt;/mrow&gt;&lt;/msup&gt;&lt;/mfrac&gt;&lt;/math&gt;" id="1553" name="Google Shape;1553;p105" title="920 times 0.0001 92 100 times 10 to the negative 3 power 9.8 times the fraction with numerator 1 and denominator 10 raised to the power 9100 times the fraction with numerator 1 and denominator 10 to the negative 2 power"/>
          <p:cNvPicPr preferRelativeResize="0"/>
          <p:nvPr/>
        </p:nvPicPr>
        <p:blipFill>
          <a:blip r:embed="rId4">
            <a:alphaModFix/>
          </a:blip>
          <a:stretch>
            <a:fillRect/>
          </a:stretch>
        </p:blipFill>
        <p:spPr>
          <a:xfrm>
            <a:off x="777200" y="2643950"/>
            <a:ext cx="7965899" cy="680565"/>
          </a:xfrm>
          <a:prstGeom prst="rect">
            <a:avLst/>
          </a:prstGeom>
          <a:noFill/>
          <a:ln>
            <a:noFill/>
          </a:ln>
        </p:spPr>
      </p:pic>
      <p:sp>
        <p:nvSpPr>
          <p:cNvPr id="1554" name="Google Shape;1554;p105"/>
          <p:cNvSpPr txBox="1"/>
          <p:nvPr/>
        </p:nvSpPr>
        <p:spPr>
          <a:xfrm>
            <a:off x="324008" y="1814250"/>
            <a:ext cx="1071600" cy="257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a)</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b)</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c)</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p:txBody>
      </p:sp>
      <p:pic>
        <p:nvPicPr>
          <p:cNvPr id="1555" name="Google Shape;1555;p105"/>
          <p:cNvPicPr preferRelativeResize="0"/>
          <p:nvPr/>
        </p:nvPicPr>
        <p:blipFill>
          <a:blip r:embed="rId5">
            <a:alphaModFix/>
          </a:blip>
          <a:stretch>
            <a:fillRect/>
          </a:stretch>
        </p:blipFill>
        <p:spPr>
          <a:xfrm>
            <a:off x="8202175" y="2160000"/>
            <a:ext cx="415105" cy="211625"/>
          </a:xfrm>
          <a:prstGeom prst="rect">
            <a:avLst/>
          </a:prstGeom>
          <a:noFill/>
          <a:ln>
            <a:noFill/>
          </a:ln>
        </p:spPr>
      </p:pic>
      <p:pic>
        <p:nvPicPr>
          <p:cNvPr id="1556" name="Google Shape;1556;p105"/>
          <p:cNvPicPr preferRelativeResize="0"/>
          <p:nvPr/>
        </p:nvPicPr>
        <p:blipFill>
          <a:blip r:embed="rId5">
            <a:alphaModFix/>
          </a:blip>
          <a:stretch>
            <a:fillRect/>
          </a:stretch>
        </p:blipFill>
        <p:spPr>
          <a:xfrm>
            <a:off x="8448975" y="3028375"/>
            <a:ext cx="415105" cy="211625"/>
          </a:xfrm>
          <a:prstGeom prst="rect">
            <a:avLst/>
          </a:prstGeom>
          <a:noFill/>
          <a:ln>
            <a:noFill/>
          </a:ln>
        </p:spPr>
      </p:pic>
      <p:pic>
        <p:nvPicPr>
          <p:cNvPr id="1557" name="Google Shape;1557;p105"/>
          <p:cNvPicPr preferRelativeResize="0"/>
          <p:nvPr/>
        </p:nvPicPr>
        <p:blipFill>
          <a:blip r:embed="rId6">
            <a:alphaModFix/>
          </a:blip>
          <a:stretch>
            <a:fillRect/>
          </a:stretch>
        </p:blipFill>
        <p:spPr>
          <a:xfrm>
            <a:off x="898563" y="3430800"/>
            <a:ext cx="7723174" cy="73554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descr="&lt;math xmlns=&quot;http://www.w3.org/1998/Math/MathML&quot; display=&quot;block&quot; data-is-equatio=&quot;1&quot; data-latex=&quot;1600\ \times\frac{1}{10^2}\ \ \ \ \ \ \ \ \ 160\ 000\ \times\frac{1}{10^{-4}}\ \ \ &quot;&gt;&lt;mn&gt;1600&lt;/mn&gt;&lt;mtext&gt;&lt;/mtext&gt;&lt;mo&gt;×&lt;/mo&gt;&lt;mfrac&gt;&lt;mn&gt;1&lt;/mn&gt;&lt;msup&gt;&lt;mn&gt;10&lt;/mn&gt;&lt;mn&gt;2&lt;/mn&gt;&lt;/msup&gt;&lt;/mfrac&gt;&lt;mtext&gt;&lt;/mtext&gt;&lt;mtext&gt;&lt;/mtext&gt;&lt;mtext&gt;&lt;/mtext&gt;&lt;mtext&gt;&lt;/mtext&gt;&lt;mtext&gt;&lt;/mtext&gt;&lt;mtext&gt;&lt;/mtext&gt;&lt;mtext&gt;&lt;/mtext&gt;&lt;mtext&gt;&lt;/mtext&gt;&lt;mtext&gt;&lt;/mtext&gt;&lt;mn&gt;160&lt;/mn&gt;&lt;mtext&gt;&lt;/mtext&gt;&lt;mn&gt;000&lt;/mn&gt;&lt;mtext&gt;&lt;/mtext&gt;&lt;mo&gt;×&lt;/mo&gt;&lt;mfrac&gt;&lt;mn&gt;1&lt;/mn&gt;&lt;msup&gt;&lt;mn&gt;10&lt;/mn&gt;&lt;mrow data-mjx-texclass=&quot;ORD&quot;&gt;&lt;mo&gt;−&lt;/mo&gt;&lt;mn&gt;4&lt;/mn&gt;&lt;/mrow&gt;&lt;/msup&gt;&lt;/mfrac&gt;&lt;mtext&gt;&lt;/mtext&gt;&lt;mtext&gt;&lt;/mtext&gt;&lt;mtext&gt;&lt;/mtext&gt;&lt;/math&gt;" id="1562" name="Google Shape;1562;p106" title="1600 times the fraction with numerator 1 and denominator 10 squared 160 000 times the fraction with numerator 1 and denominator 10 to the negative 4 power"/>
          <p:cNvSpPr txBox="1"/>
          <p:nvPr>
            <p:ph idx="4294967295" type="body"/>
          </p:nvPr>
        </p:nvSpPr>
        <p:spPr>
          <a:xfrm>
            <a:off x="324000" y="759300"/>
            <a:ext cx="8237700" cy="512100"/>
          </a:xfrm>
          <a:prstGeom prst="rect">
            <a:avLst/>
          </a:prstGeom>
          <a:noFill/>
          <a:ln>
            <a:noFill/>
          </a:ln>
        </p:spPr>
        <p:txBody>
          <a:bodyPr anchorCtr="0" anchor="t" bIns="0" lIns="0" spcFirstLastPara="1" rIns="0" wrap="square" tIns="0">
            <a:noAutofit/>
          </a:bodyPr>
          <a:lstStyle/>
          <a:p>
            <a:pPr indent="0" lvl="0" marL="88900" rtl="0" algn="l">
              <a:lnSpc>
                <a:spcPct val="115000"/>
              </a:lnSpc>
              <a:spcBef>
                <a:spcPts val="0"/>
              </a:spcBef>
              <a:spcAft>
                <a:spcPts val="0"/>
              </a:spcAft>
              <a:buSzPts val="2200"/>
              <a:buNone/>
            </a:pPr>
            <a:r>
              <a:rPr lang="en-GB"/>
              <a:t>1) Using inequalities, &lt;, &gt; or =, compare the sizes of each number, making sure to show your working out. </a:t>
            </a:r>
            <a:endParaRPr/>
          </a:p>
          <a:p>
            <a:pPr indent="0" lvl="0" marL="88900" rtl="0" algn="l">
              <a:lnSpc>
                <a:spcPct val="115000"/>
              </a:lnSpc>
              <a:spcBef>
                <a:spcPts val="0"/>
              </a:spcBef>
              <a:spcAft>
                <a:spcPts val="0"/>
              </a:spcAft>
              <a:buSzPts val="2200"/>
              <a:buNone/>
            </a:pPr>
            <a:r>
              <a:t/>
            </a:r>
            <a:endParaRPr/>
          </a:p>
          <a:p>
            <a:pPr indent="0" lvl="0" marL="88900" rtl="0" algn="l">
              <a:lnSpc>
                <a:spcPct val="115000"/>
              </a:lnSpc>
              <a:spcBef>
                <a:spcPts val="0"/>
              </a:spcBef>
              <a:spcAft>
                <a:spcPts val="0"/>
              </a:spcAft>
              <a:buSzPts val="2200"/>
              <a:buNone/>
            </a:pPr>
            <a:r>
              <a:t/>
            </a:r>
            <a:endParaRPr/>
          </a:p>
        </p:txBody>
      </p:sp>
      <p:sp>
        <p:nvSpPr>
          <p:cNvPr id="1563" name="Google Shape;1563;p106"/>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Ordering numbers using standard </a:t>
            </a:r>
            <a:r>
              <a:rPr lang="en-GB"/>
              <a:t>form</a:t>
            </a:r>
            <a:endParaRPr/>
          </a:p>
        </p:txBody>
      </p:sp>
      <p:pic>
        <p:nvPicPr>
          <p:cNvPr descr="&lt;math xmlns=&quot;http://www.w3.org/1998/Math/MathML&quot; display=&quot;block&quot; data-is-equatio=&quot;1&quot; data-latex=&quot;38\ \times0.01\ \ \ \ \ \ \ 4.8\ \times10^{-2}\ \ \ \ \ &quot;&gt;&lt;mn&gt;38&lt;/mn&gt;&lt;mtext&gt;&lt;/mtext&gt;&lt;mo&gt;×&lt;/mo&gt;&lt;mn&gt;0.01&lt;/mn&gt;&lt;mtext&gt;&lt;/mtext&gt;&lt;mtext&gt;&lt;/mtext&gt;&lt;mtext&gt;&lt;/mtext&gt;&lt;mtext&gt;&lt;/mtext&gt;&lt;mtext&gt;&lt;/mtext&gt;&lt;mtext&gt;&lt;/mtext&gt;&lt;mtext&gt;&lt;/mtext&gt;&lt;mn&gt;4.8&lt;/mn&gt;&lt;mtext&gt;&lt;/mtext&gt;&lt;mo&gt;×&lt;/mo&gt;&lt;msup&gt;&lt;mn&gt;10&lt;/mn&gt;&lt;mrow data-mjx-texclass=&quot;ORD&quot;&gt;&lt;mo&gt;−&lt;/mo&gt;&lt;mn&gt;2&lt;/mn&gt;&lt;/mrow&gt;&lt;/msup&gt;&lt;mtext&gt;&lt;/mtext&gt;&lt;mtext&gt;&lt;/mtext&gt;&lt;mtext&gt;&lt;/mtext&gt;&lt;mtext&gt;&lt;/mtext&gt;&lt;mtext&gt;&lt;/mtext&gt;&lt;/math&gt;" id="1564" name="Google Shape;1564;p106" title="38 times 0.01 4.8 times 10 to the negative 2 power"/>
          <p:cNvPicPr preferRelativeResize="0"/>
          <p:nvPr/>
        </p:nvPicPr>
        <p:blipFill>
          <a:blip r:embed="rId3">
            <a:alphaModFix/>
          </a:blip>
          <a:stretch>
            <a:fillRect/>
          </a:stretch>
        </p:blipFill>
        <p:spPr>
          <a:xfrm>
            <a:off x="1117350" y="1608250"/>
            <a:ext cx="4147001" cy="382800"/>
          </a:xfrm>
          <a:prstGeom prst="rect">
            <a:avLst/>
          </a:prstGeom>
          <a:noFill/>
          <a:ln>
            <a:noFill/>
          </a:ln>
        </p:spPr>
      </p:pic>
      <p:pic>
        <p:nvPicPr>
          <p:cNvPr descr="&lt;math xmlns=&quot;http://www.w3.org/1998/Math/MathML&quot; display=&quot;block&quot; data-is-equatio=&quot;1&quot; data-latex=&quot;78\ 000\times0.001\ \ \ \ \ \ \ 99\ \times10^2\ \ \ \ \ &quot;&gt;&lt;mn&gt;78&lt;/mn&gt;&lt;mtext&gt;&lt;/mtext&gt;&lt;mn&gt;000&lt;/mn&gt;&lt;mo&gt;×&lt;/mo&gt;&lt;mn&gt;0.001&lt;/mn&gt;&lt;mtext&gt;&lt;/mtext&gt;&lt;mtext&gt;&lt;/mtext&gt;&lt;mtext&gt;&lt;/mtext&gt;&lt;mtext&gt;&lt;/mtext&gt;&lt;mtext&gt;&lt;/mtext&gt;&lt;mtext&gt;&lt;/mtext&gt;&lt;mtext&gt;&lt;/mtext&gt;&lt;mn&gt;99&lt;/mn&gt;&lt;mtext&gt;&lt;/mtext&gt;&lt;mo&gt;×&lt;/mo&gt;&lt;msup&gt;&lt;mn&gt;10&lt;/mn&gt;&lt;mn&gt;2&lt;/mn&gt;&lt;/msup&gt;&lt;mtext&gt;&lt;/mtext&gt;&lt;mtext&gt;&lt;/mtext&gt;&lt;mtext&gt;&lt;/mtext&gt;&lt;mtext&gt;&lt;/mtext&gt;&lt;mtext&gt;&lt;/mtext&gt;&lt;/math&gt;" id="1565" name="Google Shape;1565;p106" title="78 000 times 0.001 99 times 10 squared"/>
          <p:cNvPicPr preferRelativeResize="0"/>
          <p:nvPr/>
        </p:nvPicPr>
        <p:blipFill>
          <a:blip r:embed="rId4">
            <a:alphaModFix/>
          </a:blip>
          <a:stretch>
            <a:fillRect/>
          </a:stretch>
        </p:blipFill>
        <p:spPr>
          <a:xfrm>
            <a:off x="949150" y="2380350"/>
            <a:ext cx="4081750" cy="334976"/>
          </a:xfrm>
          <a:prstGeom prst="rect">
            <a:avLst/>
          </a:prstGeom>
          <a:noFill/>
          <a:ln>
            <a:noFill/>
          </a:ln>
        </p:spPr>
      </p:pic>
      <p:pic>
        <p:nvPicPr>
          <p:cNvPr id="1566" name="Google Shape;1566;p106"/>
          <p:cNvPicPr preferRelativeResize="0"/>
          <p:nvPr/>
        </p:nvPicPr>
        <p:blipFill rotWithShape="1">
          <a:blip r:embed="rId5">
            <a:alphaModFix/>
          </a:blip>
          <a:srcRect b="0" l="0" r="48464" t="0"/>
          <a:stretch/>
        </p:blipFill>
        <p:spPr>
          <a:xfrm>
            <a:off x="888475" y="3944600"/>
            <a:ext cx="2373050" cy="750775"/>
          </a:xfrm>
          <a:prstGeom prst="rect">
            <a:avLst/>
          </a:prstGeom>
          <a:noFill/>
          <a:ln>
            <a:noFill/>
          </a:ln>
        </p:spPr>
      </p:pic>
      <p:sp>
        <p:nvSpPr>
          <p:cNvPr id="1567" name="Google Shape;1567;p106"/>
          <p:cNvSpPr txBox="1"/>
          <p:nvPr/>
        </p:nvSpPr>
        <p:spPr>
          <a:xfrm>
            <a:off x="324008" y="1563975"/>
            <a:ext cx="1071600" cy="338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a)</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b)</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c)</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d)</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p:txBody>
      </p:sp>
      <p:sp>
        <p:nvSpPr>
          <p:cNvPr id="1568" name="Google Shape;1568;p106"/>
          <p:cNvSpPr txBox="1"/>
          <p:nvPr/>
        </p:nvSpPr>
        <p:spPr>
          <a:xfrm>
            <a:off x="2795100" y="1471875"/>
            <a:ext cx="619200" cy="7080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3400">
                <a:solidFill>
                  <a:schemeClr val="dk1"/>
                </a:solidFill>
                <a:latin typeface="Kalam"/>
                <a:ea typeface="Kalam"/>
                <a:cs typeface="Kalam"/>
                <a:sym typeface="Kalam"/>
              </a:rPr>
              <a:t>&gt;</a:t>
            </a:r>
            <a:endParaRPr sz="2600">
              <a:latin typeface="Kalam"/>
              <a:ea typeface="Kalam"/>
              <a:cs typeface="Kalam"/>
              <a:sym typeface="Kalam"/>
            </a:endParaRPr>
          </a:p>
        </p:txBody>
      </p:sp>
      <p:sp>
        <p:nvSpPr>
          <p:cNvPr id="1569" name="Google Shape;1569;p106"/>
          <p:cNvSpPr txBox="1"/>
          <p:nvPr/>
        </p:nvSpPr>
        <p:spPr>
          <a:xfrm>
            <a:off x="5264350" y="1563975"/>
            <a:ext cx="38256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3.8 × 10</a:t>
            </a:r>
            <a:r>
              <a:rPr baseline="30000" lang="en-GB" sz="2700">
                <a:solidFill>
                  <a:schemeClr val="dk1"/>
                </a:solidFill>
                <a:latin typeface="Kalam"/>
                <a:ea typeface="Kalam"/>
                <a:cs typeface="Kalam"/>
                <a:sym typeface="Kalam"/>
              </a:rPr>
              <a:t>−1</a:t>
            </a:r>
            <a:r>
              <a:rPr lang="en-GB" sz="2700">
                <a:solidFill>
                  <a:schemeClr val="dk1"/>
                </a:solidFill>
                <a:latin typeface="Kalam"/>
                <a:ea typeface="Kalam"/>
                <a:cs typeface="Kalam"/>
                <a:sym typeface="Kalam"/>
              </a:rPr>
              <a:t> &gt;  4</a:t>
            </a:r>
            <a:r>
              <a:rPr lang="en-GB" sz="2700">
                <a:solidFill>
                  <a:schemeClr val="dk1"/>
                </a:solidFill>
                <a:latin typeface="Kalam"/>
                <a:ea typeface="Kalam"/>
                <a:cs typeface="Kalam"/>
                <a:sym typeface="Kalam"/>
              </a:rPr>
              <a:t>.8 × 10</a:t>
            </a:r>
            <a:r>
              <a:rPr baseline="30000" lang="en-GB" sz="2700">
                <a:solidFill>
                  <a:schemeClr val="dk1"/>
                </a:solidFill>
                <a:latin typeface="Kalam"/>
                <a:ea typeface="Kalam"/>
                <a:cs typeface="Kalam"/>
                <a:sym typeface="Kalam"/>
              </a:rPr>
              <a:t>−2</a:t>
            </a:r>
            <a:endParaRPr sz="1900">
              <a:latin typeface="Kalam"/>
              <a:ea typeface="Kalam"/>
              <a:cs typeface="Kalam"/>
              <a:sym typeface="Kalam"/>
            </a:endParaRPr>
          </a:p>
        </p:txBody>
      </p:sp>
      <p:sp>
        <p:nvSpPr>
          <p:cNvPr id="1570" name="Google Shape;1570;p106"/>
          <p:cNvSpPr txBox="1"/>
          <p:nvPr/>
        </p:nvSpPr>
        <p:spPr>
          <a:xfrm>
            <a:off x="5264350" y="2327900"/>
            <a:ext cx="38256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7.8</a:t>
            </a:r>
            <a:r>
              <a:rPr lang="en-GB" sz="2700">
                <a:solidFill>
                  <a:schemeClr val="dk1"/>
                </a:solidFill>
                <a:latin typeface="Kalam"/>
                <a:ea typeface="Kalam"/>
                <a:cs typeface="Kalam"/>
                <a:sym typeface="Kalam"/>
              </a:rPr>
              <a:t> × 10 &lt;  9.9 × 10</a:t>
            </a:r>
            <a:r>
              <a:rPr baseline="30000" lang="en-GB" sz="2700">
                <a:solidFill>
                  <a:schemeClr val="dk1"/>
                </a:solidFill>
                <a:latin typeface="Kalam"/>
                <a:ea typeface="Kalam"/>
                <a:cs typeface="Kalam"/>
                <a:sym typeface="Kalam"/>
              </a:rPr>
              <a:t>3</a:t>
            </a:r>
            <a:endParaRPr baseline="30000" sz="1900">
              <a:latin typeface="Kalam"/>
              <a:ea typeface="Kalam"/>
              <a:cs typeface="Kalam"/>
              <a:sym typeface="Kalam"/>
            </a:endParaRPr>
          </a:p>
        </p:txBody>
      </p:sp>
      <p:sp>
        <p:nvSpPr>
          <p:cNvPr id="1571" name="Google Shape;1571;p106"/>
          <p:cNvSpPr txBox="1"/>
          <p:nvPr/>
        </p:nvSpPr>
        <p:spPr>
          <a:xfrm>
            <a:off x="3020375" y="2193275"/>
            <a:ext cx="619200" cy="7080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3400">
                <a:solidFill>
                  <a:schemeClr val="dk1"/>
                </a:solidFill>
                <a:latin typeface="Kalam"/>
                <a:ea typeface="Kalam"/>
                <a:cs typeface="Kalam"/>
                <a:sym typeface="Kalam"/>
              </a:rPr>
              <a:t>&lt;</a:t>
            </a:r>
            <a:endParaRPr sz="2600">
              <a:latin typeface="Kalam"/>
              <a:ea typeface="Kalam"/>
              <a:cs typeface="Kalam"/>
              <a:sym typeface="Kalam"/>
            </a:endParaRPr>
          </a:p>
        </p:txBody>
      </p:sp>
      <p:sp>
        <p:nvSpPr>
          <p:cNvPr id="1572" name="Google Shape;1572;p106"/>
          <p:cNvSpPr txBox="1"/>
          <p:nvPr/>
        </p:nvSpPr>
        <p:spPr>
          <a:xfrm>
            <a:off x="5111950" y="3242300"/>
            <a:ext cx="38256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1.39 </a:t>
            </a:r>
            <a:r>
              <a:rPr lang="en-GB" sz="2700">
                <a:solidFill>
                  <a:schemeClr val="dk1"/>
                </a:solidFill>
                <a:latin typeface="Kalam"/>
                <a:ea typeface="Kalam"/>
                <a:cs typeface="Kalam"/>
                <a:sym typeface="Kalam"/>
              </a:rPr>
              <a:t>× 10</a:t>
            </a:r>
            <a:r>
              <a:rPr baseline="30000" lang="en-GB" sz="2700">
                <a:solidFill>
                  <a:schemeClr val="dk1"/>
                </a:solidFill>
                <a:latin typeface="Kalam"/>
                <a:ea typeface="Kalam"/>
                <a:cs typeface="Kalam"/>
                <a:sym typeface="Kalam"/>
              </a:rPr>
              <a:t>0 </a:t>
            </a:r>
            <a:r>
              <a:rPr lang="en-GB" sz="2700">
                <a:solidFill>
                  <a:schemeClr val="dk1"/>
                </a:solidFill>
                <a:latin typeface="Kalam"/>
                <a:ea typeface="Kalam"/>
                <a:cs typeface="Kalam"/>
                <a:sym typeface="Kalam"/>
              </a:rPr>
              <a:t>&gt;</a:t>
            </a:r>
            <a:r>
              <a:rPr lang="en-GB" sz="2700">
                <a:solidFill>
                  <a:schemeClr val="dk1"/>
                </a:solidFill>
                <a:latin typeface="Kalam"/>
                <a:ea typeface="Kalam"/>
                <a:cs typeface="Kalam"/>
                <a:sym typeface="Kalam"/>
              </a:rPr>
              <a:t>  4.82</a:t>
            </a:r>
            <a:r>
              <a:rPr lang="en-GB" sz="2700">
                <a:solidFill>
                  <a:schemeClr val="dk1"/>
                </a:solidFill>
                <a:latin typeface="Kalam"/>
                <a:ea typeface="Kalam"/>
                <a:cs typeface="Kalam"/>
                <a:sym typeface="Kalam"/>
              </a:rPr>
              <a:t> × 10</a:t>
            </a:r>
            <a:r>
              <a:rPr baseline="30000" lang="en-GB" sz="2700">
                <a:solidFill>
                  <a:schemeClr val="dk1"/>
                </a:solidFill>
                <a:latin typeface="Kalam"/>
                <a:ea typeface="Kalam"/>
                <a:cs typeface="Kalam"/>
                <a:sym typeface="Kalam"/>
              </a:rPr>
              <a:t>-1</a:t>
            </a:r>
            <a:endParaRPr sz="1900">
              <a:latin typeface="Kalam"/>
              <a:ea typeface="Kalam"/>
              <a:cs typeface="Kalam"/>
              <a:sym typeface="Kalam"/>
            </a:endParaRPr>
          </a:p>
        </p:txBody>
      </p:sp>
      <p:sp>
        <p:nvSpPr>
          <p:cNvPr id="1573" name="Google Shape;1573;p106"/>
          <p:cNvSpPr txBox="1"/>
          <p:nvPr/>
        </p:nvSpPr>
        <p:spPr>
          <a:xfrm>
            <a:off x="2534275" y="3103500"/>
            <a:ext cx="619200" cy="7080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3400">
                <a:solidFill>
                  <a:schemeClr val="dk1"/>
                </a:solidFill>
                <a:latin typeface="Kalam"/>
                <a:ea typeface="Kalam"/>
                <a:cs typeface="Kalam"/>
                <a:sym typeface="Kalam"/>
              </a:rPr>
              <a:t>&gt;</a:t>
            </a:r>
            <a:endParaRPr sz="2600">
              <a:latin typeface="Kalam"/>
              <a:ea typeface="Kalam"/>
              <a:cs typeface="Kalam"/>
              <a:sym typeface="Kalam"/>
            </a:endParaRPr>
          </a:p>
        </p:txBody>
      </p:sp>
      <p:sp>
        <p:nvSpPr>
          <p:cNvPr id="1574" name="Google Shape;1574;p106"/>
          <p:cNvSpPr txBox="1"/>
          <p:nvPr/>
        </p:nvSpPr>
        <p:spPr>
          <a:xfrm>
            <a:off x="5492950" y="4080500"/>
            <a:ext cx="38256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1.6 × 10</a:t>
            </a:r>
            <a:r>
              <a:rPr baseline="30000" lang="en-GB" sz="2700">
                <a:solidFill>
                  <a:schemeClr val="dk1"/>
                </a:solidFill>
                <a:latin typeface="Kalam"/>
                <a:ea typeface="Kalam"/>
                <a:cs typeface="Kalam"/>
                <a:sym typeface="Kalam"/>
              </a:rPr>
              <a:t>1</a:t>
            </a:r>
            <a:r>
              <a:rPr baseline="30000" lang="en-GB" sz="2700">
                <a:solidFill>
                  <a:schemeClr val="dk1"/>
                </a:solidFill>
                <a:latin typeface="Kalam"/>
                <a:ea typeface="Kalam"/>
                <a:cs typeface="Kalam"/>
                <a:sym typeface="Kalam"/>
              </a:rPr>
              <a:t> </a:t>
            </a:r>
            <a:r>
              <a:rPr lang="en-GB" sz="2700">
                <a:solidFill>
                  <a:schemeClr val="dk1"/>
                </a:solidFill>
                <a:latin typeface="Kalam"/>
                <a:ea typeface="Kalam"/>
                <a:cs typeface="Kalam"/>
                <a:sym typeface="Kalam"/>
              </a:rPr>
              <a:t>=</a:t>
            </a:r>
            <a:r>
              <a:rPr lang="en-GB" sz="2700">
                <a:solidFill>
                  <a:schemeClr val="dk1"/>
                </a:solidFill>
                <a:latin typeface="Kalam"/>
                <a:ea typeface="Kalam"/>
                <a:cs typeface="Kalam"/>
                <a:sym typeface="Kalam"/>
              </a:rPr>
              <a:t> </a:t>
            </a:r>
            <a:r>
              <a:rPr lang="en-GB" sz="2700">
                <a:solidFill>
                  <a:schemeClr val="dk1"/>
                </a:solidFill>
                <a:latin typeface="Kalam"/>
                <a:ea typeface="Kalam"/>
                <a:cs typeface="Kalam"/>
                <a:sym typeface="Kalam"/>
              </a:rPr>
              <a:t>1.6 × 10</a:t>
            </a:r>
            <a:r>
              <a:rPr baseline="30000" lang="en-GB" sz="2700">
                <a:solidFill>
                  <a:schemeClr val="dk1"/>
                </a:solidFill>
                <a:latin typeface="Kalam"/>
                <a:ea typeface="Kalam"/>
                <a:cs typeface="Kalam"/>
                <a:sym typeface="Kalam"/>
              </a:rPr>
              <a:t>1 </a:t>
            </a:r>
            <a:endParaRPr sz="1900">
              <a:latin typeface="Kalam"/>
              <a:ea typeface="Kalam"/>
              <a:cs typeface="Kalam"/>
              <a:sym typeface="Kalam"/>
            </a:endParaRPr>
          </a:p>
        </p:txBody>
      </p:sp>
      <p:sp>
        <p:nvSpPr>
          <p:cNvPr id="1575" name="Google Shape;1575;p106"/>
          <p:cNvSpPr txBox="1"/>
          <p:nvPr/>
        </p:nvSpPr>
        <p:spPr>
          <a:xfrm>
            <a:off x="2642325" y="4013725"/>
            <a:ext cx="619200" cy="7080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3400">
                <a:solidFill>
                  <a:schemeClr val="dk1"/>
                </a:solidFill>
                <a:latin typeface="Kalam"/>
                <a:ea typeface="Kalam"/>
                <a:cs typeface="Kalam"/>
                <a:sym typeface="Kalam"/>
              </a:rPr>
              <a:t>=</a:t>
            </a:r>
            <a:endParaRPr sz="2600">
              <a:latin typeface="Kalam"/>
              <a:ea typeface="Kalam"/>
              <a:cs typeface="Kalam"/>
              <a:sym typeface="Kalam"/>
            </a:endParaRPr>
          </a:p>
        </p:txBody>
      </p:sp>
      <p:pic>
        <p:nvPicPr>
          <p:cNvPr descr="&lt;math xmlns=&quot;http://www.w3.org/1998/Math/MathML&quot; display=&quot;block&quot; data-is-equatio=&quot;1&quot; data-latex=&quot;1600\ \times\frac{1}{10^2}\ \ \ \ \ \ \ \ \ 160\ 000\ \times\frac{1}{10^4}\ \ \ &quot;&gt;&lt;mn&gt;1600&lt;/mn&gt;&lt;mtext&gt;&lt;/mtext&gt;&lt;mo&gt;×&lt;/mo&gt;&lt;mfrac&gt;&lt;mn&gt;1&lt;/mn&gt;&lt;msup&gt;&lt;mn&gt;10&lt;/mn&gt;&lt;mn&gt;2&lt;/mn&gt;&lt;/msup&gt;&lt;/mfrac&gt;&lt;mtext&gt;&lt;/mtext&gt;&lt;mtext&gt;&lt;/mtext&gt;&lt;mtext&gt;&lt;/mtext&gt;&lt;mtext&gt;&lt;/mtext&gt;&lt;mtext&gt;&lt;/mtext&gt;&lt;mtext&gt;&lt;/mtext&gt;&lt;mtext&gt;&lt;/mtext&gt;&lt;mtext&gt;&lt;/mtext&gt;&lt;mtext&gt;&lt;/mtext&gt;&lt;mn&gt;160&lt;/mn&gt;&lt;mtext&gt;&lt;/mtext&gt;&lt;mn&gt;000&lt;/mn&gt;&lt;mtext&gt;&lt;/mtext&gt;&lt;mo&gt;×&lt;/mo&gt;&lt;mfrac&gt;&lt;mn&gt;1&lt;/mn&gt;&lt;msup&gt;&lt;mn&gt;10&lt;/mn&gt;&lt;mn&gt;4&lt;/mn&gt;&lt;/msup&gt;&lt;/mfrac&gt;&lt;mtext&gt;&lt;/mtext&gt;&lt;mtext&gt;&lt;/mtext&gt;&lt;mtext&gt;&lt;/mtext&gt;&lt;/math&gt;" id="1576" name="Google Shape;1576;p106" title="1600 times the fraction with numerator 1 and denominator 10 squared 160 000 times the fraction with numerator 1 and denominator 10 to the fourth power"/>
          <p:cNvPicPr preferRelativeResize="0"/>
          <p:nvPr/>
        </p:nvPicPr>
        <p:blipFill rotWithShape="1">
          <a:blip r:embed="rId6">
            <a:alphaModFix/>
          </a:blip>
          <a:srcRect b="0" l="51781" r="0" t="0"/>
          <a:stretch/>
        </p:blipFill>
        <p:spPr>
          <a:xfrm>
            <a:off x="3187300" y="3944600"/>
            <a:ext cx="2143101" cy="750775"/>
          </a:xfrm>
          <a:prstGeom prst="rect">
            <a:avLst/>
          </a:prstGeom>
          <a:noFill/>
          <a:ln>
            <a:noFill/>
          </a:ln>
        </p:spPr>
      </p:pic>
      <p:pic>
        <p:nvPicPr>
          <p:cNvPr descr="&lt;math xmlns=&quot;http://www.w3.org/1998/Math/MathML&quot; display=&quot;block&quot; data-is-equatio=&quot;1&quot; data-latex=&quot;139\ \times\frac{1}{10^2}\ \ \ \ \ \ \ \ \ 4820\ \times\frac{1}{10^4}\ \ \ &quot;&gt;&lt;mn&gt;139&lt;/mn&gt;&lt;mtext&gt;&lt;/mtext&gt;&lt;mo&gt;×&lt;/mo&gt;&lt;mfrac&gt;&lt;mn&gt;1&lt;/mn&gt;&lt;msup&gt;&lt;mn&gt;10&lt;/mn&gt;&lt;mn&gt;2&lt;/mn&gt;&lt;/msup&gt;&lt;/mfrac&gt;&lt;mtext&gt;&lt;/mtext&gt;&lt;mtext&gt;&lt;/mtext&gt;&lt;mtext&gt;&lt;/mtext&gt;&lt;mtext&gt;&lt;/mtext&gt;&lt;mtext&gt;&lt;/mtext&gt;&lt;mtext&gt;&lt;/mtext&gt;&lt;mtext&gt;&lt;/mtext&gt;&lt;mtext&gt;&lt;/mtext&gt;&lt;mtext&gt;&lt;/mtext&gt;&lt;mn&gt;4820&lt;/mn&gt;&lt;mtext&gt;&lt;/mtext&gt;&lt;mo&gt;×&lt;/mo&gt;&lt;mfrac&gt;&lt;mn&gt;1&lt;/mn&gt;&lt;msup&gt;&lt;mn&gt;10&lt;/mn&gt;&lt;mn&gt;4&lt;/mn&gt;&lt;/msup&gt;&lt;/mfrac&gt;&lt;mtext&gt;&lt;/mtext&gt;&lt;mtext&gt;&lt;/mtext&gt;&lt;mtext&gt;&lt;/mtext&gt;&lt;/math&gt;" id="1577" name="Google Shape;1577;p106" title="139 times the fraction with numerator 1 and denominator 10 squared 4820 times the fraction with numerator 1 and denominator 10 to the fourth power"/>
          <p:cNvPicPr preferRelativeResize="0"/>
          <p:nvPr/>
        </p:nvPicPr>
        <p:blipFill>
          <a:blip r:embed="rId7">
            <a:alphaModFix/>
          </a:blip>
          <a:stretch>
            <a:fillRect/>
          </a:stretch>
        </p:blipFill>
        <p:spPr>
          <a:xfrm>
            <a:off x="906875" y="3103500"/>
            <a:ext cx="3874000" cy="750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1" name="Shape 1581"/>
        <p:cNvGrpSpPr/>
        <p:nvPr/>
      </p:nvGrpSpPr>
      <p:grpSpPr>
        <a:xfrm>
          <a:off x="0" y="0"/>
          <a:ext cx="0" cy="0"/>
          <a:chOff x="0" y="0"/>
          <a:chExt cx="0" cy="0"/>
        </a:xfrm>
      </p:grpSpPr>
      <p:sp>
        <p:nvSpPr>
          <p:cNvPr id="1582" name="Google Shape;1582;p107"/>
          <p:cNvSpPr txBox="1"/>
          <p:nvPr>
            <p:ph idx="4294967295" type="body"/>
          </p:nvPr>
        </p:nvSpPr>
        <p:spPr>
          <a:xfrm>
            <a:off x="324000" y="759300"/>
            <a:ext cx="8237700" cy="51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400"/>
              <a:t>2) By working out the number, write in standard form and order the original form given in the question.</a:t>
            </a:r>
            <a:endParaRPr/>
          </a:p>
        </p:txBody>
      </p:sp>
      <p:sp>
        <p:nvSpPr>
          <p:cNvPr id="1583" name="Google Shape;1583;p107"/>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Ordering numbers using standard form</a:t>
            </a:r>
            <a:endParaRPr/>
          </a:p>
        </p:txBody>
      </p:sp>
      <p:pic>
        <p:nvPicPr>
          <p:cNvPr descr="&lt;math xmlns=&quot;http://www.w3.org/1998/Math/MathML&quot; display=&quot;block&quot; data-is-equatio=&quot;1&quot; data-latex=&quot;3.8\ \times0.001\ \ \ \ \ \ \ 7900\ \times10^{-4}\ \ \ \ \ \ \ 7.8\ \times\frac{1}{10^2}\ \ \ \ \ \ \ \ \ 800\ \times\frac{1}{10^{-2}}&quot;&gt;&lt;mn&gt;3.8&lt;/mn&gt;&lt;mtext&gt;&lt;/mtext&gt;&lt;mo&gt;×&lt;/mo&gt;&lt;mn&gt;0.001&lt;/mn&gt;&lt;mtext&gt;&lt;/mtext&gt;&lt;mtext&gt;&lt;/mtext&gt;&lt;mtext&gt;&lt;/mtext&gt;&lt;mtext&gt;&lt;/mtext&gt;&lt;mtext&gt;&lt;/mtext&gt;&lt;mtext&gt;&lt;/mtext&gt;&lt;mtext&gt;&lt;/mtext&gt;&lt;mn&gt;7900&lt;/mn&gt;&lt;mtext&gt;&lt;/mtext&gt;&lt;mo&gt;×&lt;/mo&gt;&lt;msup&gt;&lt;mn&gt;10&lt;/mn&gt;&lt;mrow data-mjx-texclass=&quot;ORD&quot;&gt;&lt;mo&gt;−&lt;/mo&gt;&lt;mn&gt;4&lt;/mn&gt;&lt;/mrow&gt;&lt;/msup&gt;&lt;mtext&gt;&lt;/mtext&gt;&lt;mtext&gt;&lt;/mtext&gt;&lt;mtext&gt;&lt;/mtext&gt;&lt;mtext&gt;&lt;/mtext&gt;&lt;mtext&gt;&lt;/mtext&gt;&lt;mtext&gt;&lt;/mtext&gt;&lt;mtext&gt;&lt;/mtext&gt;&lt;mn&gt;7.8&lt;/mn&gt;&lt;mtext&gt;&lt;/mtext&gt;&lt;mo&gt;×&lt;/mo&gt;&lt;mfrac&gt;&lt;mn&gt;1&lt;/mn&gt;&lt;msup&gt;&lt;mn&gt;10&lt;/mn&gt;&lt;mn&gt;2&lt;/mn&gt;&lt;/msup&gt;&lt;/mfrac&gt;&lt;mtext&gt;&lt;/mtext&gt;&lt;mtext&gt;&lt;/mtext&gt;&lt;mtext&gt;&lt;/mtext&gt;&lt;mtext&gt;&lt;/mtext&gt;&lt;mtext&gt;&lt;/mtext&gt;&lt;mtext&gt;&lt;/mtext&gt;&lt;mtext&gt;&lt;/mtext&gt;&lt;mtext&gt;&lt;/mtext&gt;&lt;mtext&gt;&lt;/mtext&gt;&lt;mn&gt;800&lt;/mn&gt;&lt;mtext&gt;&lt;/mtext&gt;&lt;mo&gt;×&lt;/mo&gt;&lt;mfrac&gt;&lt;mn&gt;1&lt;/mn&gt;&lt;msup&gt;&lt;mn&gt;10&lt;/mn&gt;&lt;mrow data-mjx-texclass=&quot;ORD&quot;&gt;&lt;mo&gt;−&lt;/mo&gt;&lt;mn&gt;2&lt;/mn&gt;&lt;/mrow&gt;&lt;/msup&gt;&lt;/mfrac&gt;&lt;/math&gt;" id="1584" name="Google Shape;1584;p107" title="3.8 times 0.001 7900 times 10 to the negative 4 power 7.8 times the fraction with numerator 1 and denominator 10 squared 800 times the fraction with numerator 1 and denominator 10 to the negative 2 power"/>
          <p:cNvPicPr preferRelativeResize="0"/>
          <p:nvPr/>
        </p:nvPicPr>
        <p:blipFill>
          <a:blip r:embed="rId3">
            <a:alphaModFix/>
          </a:blip>
          <a:stretch>
            <a:fillRect/>
          </a:stretch>
        </p:blipFill>
        <p:spPr>
          <a:xfrm>
            <a:off x="870863" y="1770000"/>
            <a:ext cx="7629525" cy="691475"/>
          </a:xfrm>
          <a:prstGeom prst="rect">
            <a:avLst/>
          </a:prstGeom>
          <a:noFill/>
          <a:ln>
            <a:noFill/>
          </a:ln>
        </p:spPr>
      </p:pic>
      <p:sp>
        <p:nvSpPr>
          <p:cNvPr id="1585" name="Google Shape;1585;p107"/>
          <p:cNvSpPr txBox="1"/>
          <p:nvPr/>
        </p:nvSpPr>
        <p:spPr>
          <a:xfrm>
            <a:off x="324008" y="1814250"/>
            <a:ext cx="1071600" cy="216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a)</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p:txBody>
      </p:sp>
      <p:sp>
        <p:nvSpPr>
          <p:cNvPr id="1586" name="Google Shape;1586;p107"/>
          <p:cNvSpPr txBox="1"/>
          <p:nvPr/>
        </p:nvSpPr>
        <p:spPr>
          <a:xfrm>
            <a:off x="706125" y="2552250"/>
            <a:ext cx="18480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3.8 × 10</a:t>
            </a:r>
            <a:r>
              <a:rPr baseline="30000" lang="en-GB" sz="2700">
                <a:solidFill>
                  <a:schemeClr val="dk1"/>
                </a:solidFill>
                <a:latin typeface="Kalam"/>
                <a:ea typeface="Kalam"/>
                <a:cs typeface="Kalam"/>
                <a:sym typeface="Kalam"/>
              </a:rPr>
              <a:t>−3</a:t>
            </a:r>
            <a:r>
              <a:rPr lang="en-GB" sz="2700">
                <a:solidFill>
                  <a:schemeClr val="dk1"/>
                </a:solidFill>
                <a:latin typeface="Kalam"/>
                <a:ea typeface="Kalam"/>
                <a:cs typeface="Kalam"/>
                <a:sym typeface="Kalam"/>
              </a:rPr>
              <a:t> </a:t>
            </a:r>
            <a:endParaRPr sz="1900">
              <a:latin typeface="Kalam"/>
              <a:ea typeface="Kalam"/>
              <a:cs typeface="Kalam"/>
              <a:sym typeface="Kalam"/>
            </a:endParaRPr>
          </a:p>
        </p:txBody>
      </p:sp>
      <p:sp>
        <p:nvSpPr>
          <p:cNvPr id="1587" name="Google Shape;1587;p107"/>
          <p:cNvSpPr txBox="1"/>
          <p:nvPr/>
        </p:nvSpPr>
        <p:spPr>
          <a:xfrm>
            <a:off x="2724000" y="2552250"/>
            <a:ext cx="18480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7.9 × 10</a:t>
            </a:r>
            <a:r>
              <a:rPr baseline="30000" lang="en-GB" sz="2700">
                <a:solidFill>
                  <a:schemeClr val="dk1"/>
                </a:solidFill>
                <a:latin typeface="Kalam"/>
                <a:ea typeface="Kalam"/>
                <a:cs typeface="Kalam"/>
                <a:sym typeface="Kalam"/>
              </a:rPr>
              <a:t>−1</a:t>
            </a:r>
            <a:r>
              <a:rPr lang="en-GB" sz="2700">
                <a:solidFill>
                  <a:schemeClr val="dk1"/>
                </a:solidFill>
                <a:latin typeface="Kalam"/>
                <a:ea typeface="Kalam"/>
                <a:cs typeface="Kalam"/>
                <a:sym typeface="Kalam"/>
              </a:rPr>
              <a:t> </a:t>
            </a:r>
            <a:endParaRPr sz="1900">
              <a:latin typeface="Kalam"/>
              <a:ea typeface="Kalam"/>
              <a:cs typeface="Kalam"/>
              <a:sym typeface="Kalam"/>
            </a:endParaRPr>
          </a:p>
        </p:txBody>
      </p:sp>
      <p:sp>
        <p:nvSpPr>
          <p:cNvPr id="1588" name="Google Shape;1588;p107"/>
          <p:cNvSpPr txBox="1"/>
          <p:nvPr/>
        </p:nvSpPr>
        <p:spPr>
          <a:xfrm>
            <a:off x="4741875" y="2552250"/>
            <a:ext cx="18480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7.8 × 10</a:t>
            </a:r>
            <a:r>
              <a:rPr baseline="30000" lang="en-GB" sz="2700">
                <a:solidFill>
                  <a:schemeClr val="dk1"/>
                </a:solidFill>
                <a:latin typeface="Kalam"/>
                <a:ea typeface="Kalam"/>
                <a:cs typeface="Kalam"/>
                <a:sym typeface="Kalam"/>
              </a:rPr>
              <a:t>−2</a:t>
            </a:r>
            <a:r>
              <a:rPr lang="en-GB" sz="2700">
                <a:solidFill>
                  <a:schemeClr val="dk1"/>
                </a:solidFill>
                <a:latin typeface="Kalam"/>
                <a:ea typeface="Kalam"/>
                <a:cs typeface="Kalam"/>
                <a:sym typeface="Kalam"/>
              </a:rPr>
              <a:t> </a:t>
            </a:r>
            <a:endParaRPr sz="1900">
              <a:latin typeface="Kalam"/>
              <a:ea typeface="Kalam"/>
              <a:cs typeface="Kalam"/>
              <a:sym typeface="Kalam"/>
            </a:endParaRPr>
          </a:p>
        </p:txBody>
      </p:sp>
      <p:sp>
        <p:nvSpPr>
          <p:cNvPr id="1589" name="Google Shape;1589;p107"/>
          <p:cNvSpPr txBox="1"/>
          <p:nvPr/>
        </p:nvSpPr>
        <p:spPr>
          <a:xfrm>
            <a:off x="6809775" y="2552250"/>
            <a:ext cx="18480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8 × 10</a:t>
            </a:r>
            <a:r>
              <a:rPr baseline="30000" lang="en-GB" sz="2700">
                <a:solidFill>
                  <a:schemeClr val="dk1"/>
                </a:solidFill>
                <a:latin typeface="Kalam"/>
                <a:ea typeface="Kalam"/>
                <a:cs typeface="Kalam"/>
                <a:sym typeface="Kalam"/>
              </a:rPr>
              <a:t>0</a:t>
            </a:r>
            <a:r>
              <a:rPr lang="en-GB" sz="2700">
                <a:solidFill>
                  <a:schemeClr val="dk1"/>
                </a:solidFill>
                <a:latin typeface="Kalam"/>
                <a:ea typeface="Kalam"/>
                <a:cs typeface="Kalam"/>
                <a:sym typeface="Kalam"/>
              </a:rPr>
              <a:t> </a:t>
            </a:r>
            <a:endParaRPr sz="1900">
              <a:latin typeface="Kalam"/>
              <a:ea typeface="Kalam"/>
              <a:cs typeface="Kalam"/>
              <a:sym typeface="Kalam"/>
            </a:endParaRPr>
          </a:p>
        </p:txBody>
      </p:sp>
      <p:pic>
        <p:nvPicPr>
          <p:cNvPr descr="&lt;math xmlns=&quot;http://www.w3.org/1998/Math/MathML&quot; display=&quot;block&quot; data-is-equatio=&quot;1&quot; data-latex=&quot;3.8\ \times0.001\ \ \ \ \ \ \ 7900\ \times10^{-4}\ \ \ \ \ \ \ 7.8\ \times\frac{1}{10^2}\ \ \ \ \ \ \ \ \ 800\ \times\frac{1}{10^{-2}}&quot;&gt;&lt;mn&gt;3.8&lt;/mn&gt;&lt;mtext&gt;&lt;/mtext&gt;&lt;mo&gt;×&lt;/mo&gt;&lt;mn&gt;0.001&lt;/mn&gt;&lt;mtext&gt;&lt;/mtext&gt;&lt;mtext&gt;&lt;/mtext&gt;&lt;mtext&gt;&lt;/mtext&gt;&lt;mtext&gt;&lt;/mtext&gt;&lt;mtext&gt;&lt;/mtext&gt;&lt;mtext&gt;&lt;/mtext&gt;&lt;mtext&gt;&lt;/mtext&gt;&lt;mn&gt;7900&lt;/mn&gt;&lt;mtext&gt;&lt;/mtext&gt;&lt;mo&gt;×&lt;/mo&gt;&lt;msup&gt;&lt;mn&gt;10&lt;/mn&gt;&lt;mrow data-mjx-texclass=&quot;ORD&quot;&gt;&lt;mo&gt;−&lt;/mo&gt;&lt;mn&gt;4&lt;/mn&gt;&lt;/mrow&gt;&lt;/msup&gt;&lt;mtext&gt;&lt;/mtext&gt;&lt;mtext&gt;&lt;/mtext&gt;&lt;mtext&gt;&lt;/mtext&gt;&lt;mtext&gt;&lt;/mtext&gt;&lt;mtext&gt;&lt;/mtext&gt;&lt;mtext&gt;&lt;/mtext&gt;&lt;mtext&gt;&lt;/mtext&gt;&lt;mn&gt;7.8&lt;/mn&gt;&lt;mtext&gt;&lt;/mtext&gt;&lt;mo&gt;×&lt;/mo&gt;&lt;mfrac&gt;&lt;mn&gt;1&lt;/mn&gt;&lt;msup&gt;&lt;mn&gt;10&lt;/mn&gt;&lt;mn&gt;2&lt;/mn&gt;&lt;/msup&gt;&lt;/mfrac&gt;&lt;mtext&gt;&lt;/mtext&gt;&lt;mtext&gt;&lt;/mtext&gt;&lt;mtext&gt;&lt;/mtext&gt;&lt;mtext&gt;&lt;/mtext&gt;&lt;mtext&gt;&lt;/mtext&gt;&lt;mtext&gt;&lt;/mtext&gt;&lt;mtext&gt;&lt;/mtext&gt;&lt;mtext&gt;&lt;/mtext&gt;&lt;mtext&gt;&lt;/mtext&gt;&lt;mn&gt;800&lt;/mn&gt;&lt;mtext&gt;&lt;/mtext&gt;&lt;mo&gt;×&lt;/mo&gt;&lt;mfrac&gt;&lt;mn&gt;1&lt;/mn&gt;&lt;msup&gt;&lt;mn&gt;10&lt;/mn&gt;&lt;mrow data-mjx-texclass=&quot;ORD&quot;&gt;&lt;mo&gt;−&lt;/mo&gt;&lt;mn&gt;2&lt;/mn&gt;&lt;/mrow&gt;&lt;/msup&gt;&lt;/mfrac&gt;&lt;/math&gt;" id="1590" name="Google Shape;1590;p107" title="3.8 times 0.001 7900 times 10 to the negative 4 power 7.8 times the fraction with numerator 1 and denominator 10 squared 800 times the fraction with numerator 1 and denominator 10 to the negative 2 power"/>
          <p:cNvPicPr preferRelativeResize="0"/>
          <p:nvPr/>
        </p:nvPicPr>
        <p:blipFill rotWithShape="1">
          <a:blip r:embed="rId3">
            <a:alphaModFix/>
          </a:blip>
          <a:srcRect b="0" l="0" r="79353" t="0"/>
          <a:stretch/>
        </p:blipFill>
        <p:spPr>
          <a:xfrm>
            <a:off x="801590" y="3504375"/>
            <a:ext cx="1575252" cy="691475"/>
          </a:xfrm>
          <a:prstGeom prst="rect">
            <a:avLst/>
          </a:prstGeom>
          <a:noFill/>
          <a:ln>
            <a:noFill/>
          </a:ln>
        </p:spPr>
      </p:pic>
      <p:pic>
        <p:nvPicPr>
          <p:cNvPr descr="&lt;math xmlns=&quot;http://www.w3.org/1998/Math/MathML&quot; display=&quot;block&quot; data-is-equatio=&quot;1&quot; data-latex=&quot;3.8\ \times0.001\ \ \ \ \ \ \ 7900\ \times10^{-4}\ \ \ \ \ \ \ 7.8\ \times\frac{1}{10^2}\ \ \ \ \ \ \ \ \ 800\ \times\frac{1}{10^{-2}}&quot;&gt;&lt;mn&gt;3.8&lt;/mn&gt;&lt;mtext&gt;&lt;/mtext&gt;&lt;mo&gt;×&lt;/mo&gt;&lt;mn&gt;0.001&lt;/mn&gt;&lt;mtext&gt;&lt;/mtext&gt;&lt;mtext&gt;&lt;/mtext&gt;&lt;mtext&gt;&lt;/mtext&gt;&lt;mtext&gt;&lt;/mtext&gt;&lt;mtext&gt;&lt;/mtext&gt;&lt;mtext&gt;&lt;/mtext&gt;&lt;mtext&gt;&lt;/mtext&gt;&lt;mn&gt;7900&lt;/mn&gt;&lt;mtext&gt;&lt;/mtext&gt;&lt;mo&gt;×&lt;/mo&gt;&lt;msup&gt;&lt;mn&gt;10&lt;/mn&gt;&lt;mrow data-mjx-texclass=&quot;ORD&quot;&gt;&lt;mo&gt;−&lt;/mo&gt;&lt;mn&gt;4&lt;/mn&gt;&lt;/mrow&gt;&lt;/msup&gt;&lt;mtext&gt;&lt;/mtext&gt;&lt;mtext&gt;&lt;/mtext&gt;&lt;mtext&gt;&lt;/mtext&gt;&lt;mtext&gt;&lt;/mtext&gt;&lt;mtext&gt;&lt;/mtext&gt;&lt;mtext&gt;&lt;/mtext&gt;&lt;mtext&gt;&lt;/mtext&gt;&lt;mn&gt;7.8&lt;/mn&gt;&lt;mtext&gt;&lt;/mtext&gt;&lt;mo&gt;×&lt;/mo&gt;&lt;mfrac&gt;&lt;mn&gt;1&lt;/mn&gt;&lt;msup&gt;&lt;mn&gt;10&lt;/mn&gt;&lt;mn&gt;2&lt;/mn&gt;&lt;/msup&gt;&lt;/mfrac&gt;&lt;mtext&gt;&lt;/mtext&gt;&lt;mtext&gt;&lt;/mtext&gt;&lt;mtext&gt;&lt;/mtext&gt;&lt;mtext&gt;&lt;/mtext&gt;&lt;mtext&gt;&lt;/mtext&gt;&lt;mtext&gt;&lt;/mtext&gt;&lt;mtext&gt;&lt;/mtext&gt;&lt;mtext&gt;&lt;/mtext&gt;&lt;mtext&gt;&lt;/mtext&gt;&lt;mn&gt;800&lt;/mn&gt;&lt;mtext&gt;&lt;/mtext&gt;&lt;mo&gt;×&lt;/mo&gt;&lt;mfrac&gt;&lt;mn&gt;1&lt;/mn&gt;&lt;msup&gt;&lt;mn&gt;10&lt;/mn&gt;&lt;mrow data-mjx-texclass=&quot;ORD&quot;&gt;&lt;mo&gt;−&lt;/mo&gt;&lt;mn&gt;2&lt;/mn&gt;&lt;/mrow&gt;&lt;/msup&gt;&lt;/mfrac&gt;&lt;/math&gt;" id="1591" name="Google Shape;1591;p107" title="3.8 times 0.001 7900 times 10 to the negative 4 power 7.8 times the fraction with numerator 1 and denominator 10 squared 800 times the fraction with numerator 1 and denominator 10 to the negative 2 power"/>
          <p:cNvPicPr preferRelativeResize="0"/>
          <p:nvPr/>
        </p:nvPicPr>
        <p:blipFill rotWithShape="1">
          <a:blip r:embed="rId3">
            <a:alphaModFix/>
          </a:blip>
          <a:srcRect b="0" l="78789" r="0" t="0"/>
          <a:stretch/>
        </p:blipFill>
        <p:spPr>
          <a:xfrm>
            <a:off x="6924635" y="3434263"/>
            <a:ext cx="1618300" cy="691475"/>
          </a:xfrm>
          <a:prstGeom prst="rect">
            <a:avLst/>
          </a:prstGeom>
          <a:noFill/>
          <a:ln>
            <a:noFill/>
          </a:ln>
        </p:spPr>
      </p:pic>
      <p:pic>
        <p:nvPicPr>
          <p:cNvPr descr="&lt;math xmlns=&quot;http://www.w3.org/1998/Math/MathML&quot; display=&quot;block&quot; data-is-equatio=&quot;1&quot; data-latex=&quot;3.8\ \times0.001\ \ \ \ \ \ \ 7900\ \times10^{-4}\ \ \ \ \ \ \ 7.8\ \times\frac{1}{10^2}\ \ \ \ \ \ \ \ \ 800\ \times\frac{1}{10^{-2}}&quot;&gt;&lt;mn&gt;3.8&lt;/mn&gt;&lt;mtext&gt;&lt;/mtext&gt;&lt;mo&gt;×&lt;/mo&gt;&lt;mn&gt;0.001&lt;/mn&gt;&lt;mtext&gt;&lt;/mtext&gt;&lt;mtext&gt;&lt;/mtext&gt;&lt;mtext&gt;&lt;/mtext&gt;&lt;mtext&gt;&lt;/mtext&gt;&lt;mtext&gt;&lt;/mtext&gt;&lt;mtext&gt;&lt;/mtext&gt;&lt;mtext&gt;&lt;/mtext&gt;&lt;mn&gt;7900&lt;/mn&gt;&lt;mtext&gt;&lt;/mtext&gt;&lt;mo&gt;×&lt;/mo&gt;&lt;msup&gt;&lt;mn&gt;10&lt;/mn&gt;&lt;mrow data-mjx-texclass=&quot;ORD&quot;&gt;&lt;mo&gt;−&lt;/mo&gt;&lt;mn&gt;4&lt;/mn&gt;&lt;/mrow&gt;&lt;/msup&gt;&lt;mtext&gt;&lt;/mtext&gt;&lt;mtext&gt;&lt;/mtext&gt;&lt;mtext&gt;&lt;/mtext&gt;&lt;mtext&gt;&lt;/mtext&gt;&lt;mtext&gt;&lt;/mtext&gt;&lt;mtext&gt;&lt;/mtext&gt;&lt;mtext&gt;&lt;/mtext&gt;&lt;mn&gt;7.8&lt;/mn&gt;&lt;mtext&gt;&lt;/mtext&gt;&lt;mo&gt;×&lt;/mo&gt;&lt;mfrac&gt;&lt;mn&gt;1&lt;/mn&gt;&lt;msup&gt;&lt;mn&gt;10&lt;/mn&gt;&lt;mn&gt;2&lt;/mn&gt;&lt;/msup&gt;&lt;/mfrac&gt;&lt;mtext&gt;&lt;/mtext&gt;&lt;mtext&gt;&lt;/mtext&gt;&lt;mtext&gt;&lt;/mtext&gt;&lt;mtext&gt;&lt;/mtext&gt;&lt;mtext&gt;&lt;/mtext&gt;&lt;mtext&gt;&lt;/mtext&gt;&lt;mtext&gt;&lt;/mtext&gt;&lt;mtext&gt;&lt;/mtext&gt;&lt;mtext&gt;&lt;/mtext&gt;&lt;mn&gt;800&lt;/mn&gt;&lt;mtext&gt;&lt;/mtext&gt;&lt;mo&gt;×&lt;/mo&gt;&lt;mfrac&gt;&lt;mn&gt;1&lt;/mn&gt;&lt;msup&gt;&lt;mn&gt;10&lt;/mn&gt;&lt;mrow data-mjx-texclass=&quot;ORD&quot;&gt;&lt;mo&gt;−&lt;/mo&gt;&lt;mn&gt;2&lt;/mn&gt;&lt;/mrow&gt;&lt;/msup&gt;&lt;/mfrac&gt;&lt;/math&gt;" id="1592" name="Google Shape;1592;p107" title="3.8 times 0.001 7900 times 10 to the negative 4 power 7.8 times the fraction with numerator 1 and denominator 10 squared 800 times the fraction with numerator 1 and denominator 10 to the negative 2 power"/>
          <p:cNvPicPr preferRelativeResize="0"/>
          <p:nvPr/>
        </p:nvPicPr>
        <p:blipFill rotWithShape="1">
          <a:blip r:embed="rId3">
            <a:alphaModFix/>
          </a:blip>
          <a:srcRect b="0" l="52347" r="24073" t="0"/>
          <a:stretch/>
        </p:blipFill>
        <p:spPr>
          <a:xfrm>
            <a:off x="2724004" y="3504375"/>
            <a:ext cx="1798951" cy="691475"/>
          </a:xfrm>
          <a:prstGeom prst="rect">
            <a:avLst/>
          </a:prstGeom>
          <a:noFill/>
          <a:ln>
            <a:noFill/>
          </a:ln>
        </p:spPr>
      </p:pic>
      <p:pic>
        <p:nvPicPr>
          <p:cNvPr descr="&lt;math xmlns=&quot;http://www.w3.org/1998/Math/MathML&quot; display=&quot;block&quot; data-is-equatio=&quot;1&quot; data-latex=&quot;3.8\ \times0.001\ \ \ \ \ \ \ 7900\ \times10^{-4}\ \ \ \ \ \ \ 7.8\ \times\frac{1}{10^2}\ \ \ \ \ \ \ \ \ 800\ \times\frac{1}{10^{-2}}&quot;&gt;&lt;mn&gt;3.8&lt;/mn&gt;&lt;mtext&gt;&lt;/mtext&gt;&lt;mo&gt;×&lt;/mo&gt;&lt;mn&gt;0.001&lt;/mn&gt;&lt;mtext&gt;&lt;/mtext&gt;&lt;mtext&gt;&lt;/mtext&gt;&lt;mtext&gt;&lt;/mtext&gt;&lt;mtext&gt;&lt;/mtext&gt;&lt;mtext&gt;&lt;/mtext&gt;&lt;mtext&gt;&lt;/mtext&gt;&lt;mtext&gt;&lt;/mtext&gt;&lt;mn&gt;7900&lt;/mn&gt;&lt;mtext&gt;&lt;/mtext&gt;&lt;mo&gt;×&lt;/mo&gt;&lt;msup&gt;&lt;mn&gt;10&lt;/mn&gt;&lt;mrow data-mjx-texclass=&quot;ORD&quot;&gt;&lt;mo&gt;−&lt;/mo&gt;&lt;mn&gt;4&lt;/mn&gt;&lt;/mrow&gt;&lt;/msup&gt;&lt;mtext&gt;&lt;/mtext&gt;&lt;mtext&gt;&lt;/mtext&gt;&lt;mtext&gt;&lt;/mtext&gt;&lt;mtext&gt;&lt;/mtext&gt;&lt;mtext&gt;&lt;/mtext&gt;&lt;mtext&gt;&lt;/mtext&gt;&lt;mtext&gt;&lt;/mtext&gt;&lt;mn&gt;7.8&lt;/mn&gt;&lt;mtext&gt;&lt;/mtext&gt;&lt;mo&gt;×&lt;/mo&gt;&lt;mfrac&gt;&lt;mn&gt;1&lt;/mn&gt;&lt;msup&gt;&lt;mn&gt;10&lt;/mn&gt;&lt;mn&gt;2&lt;/mn&gt;&lt;/msup&gt;&lt;/mfrac&gt;&lt;mtext&gt;&lt;/mtext&gt;&lt;mtext&gt;&lt;/mtext&gt;&lt;mtext&gt;&lt;/mtext&gt;&lt;mtext&gt;&lt;/mtext&gt;&lt;mtext&gt;&lt;/mtext&gt;&lt;mtext&gt;&lt;/mtext&gt;&lt;mtext&gt;&lt;/mtext&gt;&lt;mtext&gt;&lt;/mtext&gt;&lt;mtext&gt;&lt;/mtext&gt;&lt;mn&gt;800&lt;/mn&gt;&lt;mtext&gt;&lt;/mtext&gt;&lt;mo&gt;×&lt;/mo&gt;&lt;mfrac&gt;&lt;mn&gt;1&lt;/mn&gt;&lt;msup&gt;&lt;mn&gt;10&lt;/mn&gt;&lt;mrow data-mjx-texclass=&quot;ORD&quot;&gt;&lt;mo&gt;−&lt;/mo&gt;&lt;mn&gt;2&lt;/mn&gt;&lt;/mrow&gt;&lt;/msup&gt;&lt;/mfrac&gt;&lt;/math&gt;" id="1593" name="Google Shape;1593;p107" title="3.8 times 0.001 7900 times 10 to the negative 4 power 7.8 times the fraction with numerator 1 and denominator 10 squared 800 times the fraction with numerator 1 and denominator 10 to the negative 2 power"/>
          <p:cNvPicPr preferRelativeResize="0"/>
          <p:nvPr/>
        </p:nvPicPr>
        <p:blipFill rotWithShape="1">
          <a:blip r:embed="rId3">
            <a:alphaModFix/>
          </a:blip>
          <a:srcRect b="0" l="24436" r="51985" t="0"/>
          <a:stretch/>
        </p:blipFill>
        <p:spPr>
          <a:xfrm>
            <a:off x="4824309" y="3504375"/>
            <a:ext cx="1798951" cy="691475"/>
          </a:xfrm>
          <a:prstGeom prst="rect">
            <a:avLst/>
          </a:prstGeom>
          <a:noFill/>
          <a:ln>
            <a:noFill/>
          </a:ln>
        </p:spPr>
      </p:pic>
      <p:pic>
        <p:nvPicPr>
          <p:cNvPr id="1594" name="Google Shape;1594;p107"/>
          <p:cNvPicPr preferRelativeResize="0"/>
          <p:nvPr/>
        </p:nvPicPr>
        <p:blipFill>
          <a:blip r:embed="rId4">
            <a:alphaModFix/>
          </a:blip>
          <a:stretch>
            <a:fillRect/>
          </a:stretch>
        </p:blipFill>
        <p:spPr>
          <a:xfrm>
            <a:off x="8200115" y="2159990"/>
            <a:ext cx="408600" cy="216539"/>
          </a:xfrm>
          <a:prstGeom prst="rect">
            <a:avLst/>
          </a:prstGeom>
          <a:noFill/>
          <a:ln>
            <a:noFill/>
          </a:ln>
        </p:spPr>
      </p:pic>
      <p:pic>
        <p:nvPicPr>
          <p:cNvPr id="1595" name="Google Shape;1595;p107"/>
          <p:cNvPicPr preferRelativeResize="0"/>
          <p:nvPr/>
        </p:nvPicPr>
        <p:blipFill>
          <a:blip r:embed="rId4">
            <a:alphaModFix/>
          </a:blip>
          <a:stretch>
            <a:fillRect/>
          </a:stretch>
        </p:blipFill>
        <p:spPr>
          <a:xfrm>
            <a:off x="8249165" y="3809015"/>
            <a:ext cx="408600" cy="21653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9" name="Shape 1599"/>
        <p:cNvGrpSpPr/>
        <p:nvPr/>
      </p:nvGrpSpPr>
      <p:grpSpPr>
        <a:xfrm>
          <a:off x="0" y="0"/>
          <a:ext cx="0" cy="0"/>
          <a:chOff x="0" y="0"/>
          <a:chExt cx="0" cy="0"/>
        </a:xfrm>
      </p:grpSpPr>
      <p:sp>
        <p:nvSpPr>
          <p:cNvPr id="1600" name="Google Shape;1600;p108"/>
          <p:cNvSpPr txBox="1"/>
          <p:nvPr>
            <p:ph idx="4294967295" type="body"/>
          </p:nvPr>
        </p:nvSpPr>
        <p:spPr>
          <a:xfrm>
            <a:off x="324000" y="759300"/>
            <a:ext cx="8237700" cy="51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400"/>
              <a:t>2) By working out the number, write in standard form and order the original form given in the question.</a:t>
            </a:r>
            <a:endParaRPr/>
          </a:p>
        </p:txBody>
      </p:sp>
      <p:sp>
        <p:nvSpPr>
          <p:cNvPr id="1601" name="Google Shape;1601;p108"/>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Ordering numbers using standard </a:t>
            </a:r>
            <a:r>
              <a:rPr lang="en-GB"/>
              <a:t>form</a:t>
            </a:r>
            <a:endParaRPr/>
          </a:p>
        </p:txBody>
      </p:sp>
      <p:pic>
        <p:nvPicPr>
          <p:cNvPr descr="&lt;math xmlns=&quot;http://www.w3.org/1998/Math/MathML&quot; display=&quot;block&quot; data-is-equatio=&quot;1&quot; data-latex=&quot;920\ \times0.0001\ \ \ \ \ \ \ 92\ 100\ \times10^{-3}\ \ \ \ \ \ \ 9.8\ \times\frac{1}{10^{ }}\ \ \ \ \ \ \ \ \ 9100\ \times\frac{1}{10^{-2}}&quot;&gt;&lt;mn&gt;920&lt;/mn&gt;&lt;mtext&gt;&lt;/mtext&gt;&lt;mo&gt;×&lt;/mo&gt;&lt;mn&gt;0.0001&lt;/mn&gt;&lt;mtext&gt;&lt;/mtext&gt;&lt;mtext&gt;&lt;/mtext&gt;&lt;mtext&gt;&lt;/mtext&gt;&lt;mtext&gt;&lt;/mtext&gt;&lt;mtext&gt;&lt;/mtext&gt;&lt;mtext&gt;&lt;/mtext&gt;&lt;mtext&gt;&lt;/mtext&gt;&lt;mn&gt;92&lt;/mn&gt;&lt;mtext&gt;&lt;/mtext&gt;&lt;mn&gt;100&lt;/mn&gt;&lt;mtext&gt;&lt;/mtext&gt;&lt;mo&gt;×&lt;/mo&gt;&lt;msup&gt;&lt;mn&gt;10&lt;/mn&gt;&lt;mrow data-mjx-texclass=&quot;ORD&quot;&gt;&lt;mo&gt;−&lt;/mo&gt;&lt;mn&gt;3&lt;/mn&gt;&lt;/mrow&gt;&lt;/msup&gt;&lt;mtext&gt;&lt;/mtext&gt;&lt;mtext&gt;&lt;/mtext&gt;&lt;mtext&gt;&lt;/mtext&gt;&lt;mtext&gt;&lt;/mtext&gt;&lt;mtext&gt;&lt;/mtext&gt;&lt;mtext&gt;&lt;/mtext&gt;&lt;mtext&gt;&lt;/mtext&gt;&lt;mn&gt;9.8&lt;/mn&gt;&lt;mtext&gt;&lt;/mtext&gt;&lt;mo&gt;×&lt;/mo&gt;&lt;mfrac&gt;&lt;mn&gt;1&lt;/mn&gt;&lt;msup&gt;&lt;mn&gt;10&lt;/mn&gt;&lt;mrow data-mjx-texclass=&quot;ORD&quot;/&gt;&lt;/msup&gt;&lt;/mfrac&gt;&lt;mtext&gt;&lt;/mtext&gt;&lt;mtext&gt;&lt;/mtext&gt;&lt;mtext&gt;&lt;/mtext&gt;&lt;mtext&gt;&lt;/mtext&gt;&lt;mtext&gt;&lt;/mtext&gt;&lt;mtext&gt;&lt;/mtext&gt;&lt;mtext&gt;&lt;/mtext&gt;&lt;mtext&gt;&lt;/mtext&gt;&lt;mtext&gt;&lt;/mtext&gt;&lt;mn&gt;9100&lt;/mn&gt;&lt;mtext&gt;&lt;/mtext&gt;&lt;mo&gt;×&lt;/mo&gt;&lt;mfrac&gt;&lt;mn&gt;1&lt;/mn&gt;&lt;msup&gt;&lt;mn&gt;10&lt;/mn&gt;&lt;mrow data-mjx-texclass=&quot;ORD&quot;&gt;&lt;mo&gt;−&lt;/mo&gt;&lt;mn&gt;2&lt;/mn&gt;&lt;/mrow&gt;&lt;/msup&gt;&lt;/mfrac&gt;&lt;/math&gt;" id="1602" name="Google Shape;1602;p108" title="920 times 0.0001 92 100 times 10 to the negative 3 power 9.8 times the fraction with numerator 1 and denominator 10 raised to the power 9100 times the fraction with numerator 1 and denominator 10 to the negative 2 power"/>
          <p:cNvPicPr preferRelativeResize="0"/>
          <p:nvPr/>
        </p:nvPicPr>
        <p:blipFill>
          <a:blip r:embed="rId3">
            <a:alphaModFix/>
          </a:blip>
          <a:stretch>
            <a:fillRect/>
          </a:stretch>
        </p:blipFill>
        <p:spPr>
          <a:xfrm>
            <a:off x="910225" y="1757151"/>
            <a:ext cx="7688023" cy="656825"/>
          </a:xfrm>
          <a:prstGeom prst="rect">
            <a:avLst/>
          </a:prstGeom>
          <a:noFill/>
          <a:ln>
            <a:noFill/>
          </a:ln>
        </p:spPr>
      </p:pic>
      <p:sp>
        <p:nvSpPr>
          <p:cNvPr id="1603" name="Google Shape;1603;p108"/>
          <p:cNvSpPr txBox="1"/>
          <p:nvPr/>
        </p:nvSpPr>
        <p:spPr>
          <a:xfrm>
            <a:off x="324008" y="1814250"/>
            <a:ext cx="1071600" cy="135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b)</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p:txBody>
      </p:sp>
      <p:sp>
        <p:nvSpPr>
          <p:cNvPr id="1604" name="Google Shape;1604;p108"/>
          <p:cNvSpPr txBox="1"/>
          <p:nvPr/>
        </p:nvSpPr>
        <p:spPr>
          <a:xfrm>
            <a:off x="706125" y="2552250"/>
            <a:ext cx="18480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9.2</a:t>
            </a:r>
            <a:r>
              <a:rPr lang="en-GB" sz="2700">
                <a:solidFill>
                  <a:schemeClr val="dk1"/>
                </a:solidFill>
                <a:latin typeface="Kalam"/>
                <a:ea typeface="Kalam"/>
                <a:cs typeface="Kalam"/>
                <a:sym typeface="Kalam"/>
              </a:rPr>
              <a:t> × 10</a:t>
            </a:r>
            <a:r>
              <a:rPr baseline="30000" lang="en-GB" sz="2700">
                <a:solidFill>
                  <a:schemeClr val="dk1"/>
                </a:solidFill>
                <a:latin typeface="Kalam"/>
                <a:ea typeface="Kalam"/>
                <a:cs typeface="Kalam"/>
                <a:sym typeface="Kalam"/>
              </a:rPr>
              <a:t>−</a:t>
            </a:r>
            <a:r>
              <a:rPr baseline="30000" lang="en-GB" sz="2700">
                <a:solidFill>
                  <a:schemeClr val="dk1"/>
                </a:solidFill>
                <a:latin typeface="Kalam"/>
                <a:ea typeface="Kalam"/>
                <a:cs typeface="Kalam"/>
                <a:sym typeface="Kalam"/>
              </a:rPr>
              <a:t>2</a:t>
            </a:r>
            <a:r>
              <a:rPr lang="en-GB" sz="2700">
                <a:solidFill>
                  <a:schemeClr val="dk1"/>
                </a:solidFill>
                <a:latin typeface="Kalam"/>
                <a:ea typeface="Kalam"/>
                <a:cs typeface="Kalam"/>
                <a:sym typeface="Kalam"/>
              </a:rPr>
              <a:t> </a:t>
            </a:r>
            <a:endParaRPr sz="1900">
              <a:latin typeface="Kalam"/>
              <a:ea typeface="Kalam"/>
              <a:cs typeface="Kalam"/>
              <a:sym typeface="Kalam"/>
            </a:endParaRPr>
          </a:p>
        </p:txBody>
      </p:sp>
      <p:sp>
        <p:nvSpPr>
          <p:cNvPr id="1605" name="Google Shape;1605;p108"/>
          <p:cNvSpPr txBox="1"/>
          <p:nvPr/>
        </p:nvSpPr>
        <p:spPr>
          <a:xfrm>
            <a:off x="2724000" y="2552250"/>
            <a:ext cx="18480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9.21</a:t>
            </a:r>
            <a:r>
              <a:rPr lang="en-GB" sz="2700">
                <a:solidFill>
                  <a:schemeClr val="dk1"/>
                </a:solidFill>
                <a:latin typeface="Kalam"/>
                <a:ea typeface="Kalam"/>
                <a:cs typeface="Kalam"/>
                <a:sym typeface="Kalam"/>
              </a:rPr>
              <a:t> × 10 </a:t>
            </a:r>
            <a:endParaRPr sz="1900">
              <a:latin typeface="Kalam"/>
              <a:ea typeface="Kalam"/>
              <a:cs typeface="Kalam"/>
              <a:sym typeface="Kalam"/>
            </a:endParaRPr>
          </a:p>
        </p:txBody>
      </p:sp>
      <p:sp>
        <p:nvSpPr>
          <p:cNvPr id="1606" name="Google Shape;1606;p108"/>
          <p:cNvSpPr txBox="1"/>
          <p:nvPr/>
        </p:nvSpPr>
        <p:spPr>
          <a:xfrm>
            <a:off x="4741875" y="2552250"/>
            <a:ext cx="18480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9.8</a:t>
            </a:r>
            <a:r>
              <a:rPr lang="en-GB" sz="2700">
                <a:solidFill>
                  <a:schemeClr val="dk1"/>
                </a:solidFill>
                <a:latin typeface="Kalam"/>
                <a:ea typeface="Kalam"/>
                <a:cs typeface="Kalam"/>
                <a:sym typeface="Kalam"/>
              </a:rPr>
              <a:t> × 10</a:t>
            </a:r>
            <a:r>
              <a:rPr baseline="30000" lang="en-GB" sz="2700">
                <a:solidFill>
                  <a:schemeClr val="dk1"/>
                </a:solidFill>
                <a:latin typeface="Kalam"/>
                <a:ea typeface="Kalam"/>
                <a:cs typeface="Kalam"/>
                <a:sym typeface="Kalam"/>
              </a:rPr>
              <a:t>−</a:t>
            </a:r>
            <a:r>
              <a:rPr baseline="30000" lang="en-GB" sz="2700">
                <a:solidFill>
                  <a:schemeClr val="dk1"/>
                </a:solidFill>
                <a:latin typeface="Kalam"/>
                <a:ea typeface="Kalam"/>
                <a:cs typeface="Kalam"/>
                <a:sym typeface="Kalam"/>
              </a:rPr>
              <a:t>1</a:t>
            </a:r>
            <a:r>
              <a:rPr lang="en-GB" sz="2700">
                <a:solidFill>
                  <a:schemeClr val="dk1"/>
                </a:solidFill>
                <a:latin typeface="Kalam"/>
                <a:ea typeface="Kalam"/>
                <a:cs typeface="Kalam"/>
                <a:sym typeface="Kalam"/>
              </a:rPr>
              <a:t> </a:t>
            </a:r>
            <a:endParaRPr sz="1900">
              <a:latin typeface="Kalam"/>
              <a:ea typeface="Kalam"/>
              <a:cs typeface="Kalam"/>
              <a:sym typeface="Kalam"/>
            </a:endParaRPr>
          </a:p>
        </p:txBody>
      </p:sp>
      <p:sp>
        <p:nvSpPr>
          <p:cNvPr id="1607" name="Google Shape;1607;p108"/>
          <p:cNvSpPr txBox="1"/>
          <p:nvPr/>
        </p:nvSpPr>
        <p:spPr>
          <a:xfrm>
            <a:off x="6809775" y="2552250"/>
            <a:ext cx="1848000" cy="600300"/>
          </a:xfrm>
          <a:prstGeom prst="rect">
            <a:avLst/>
          </a:prstGeom>
          <a:noFill/>
          <a:ln>
            <a:noFill/>
          </a:ln>
        </p:spPr>
        <p:txBody>
          <a:bodyPr anchorCtr="0" anchor="t" bIns="91425" lIns="91425" spcFirstLastPara="1" rIns="91425"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9.1</a:t>
            </a:r>
            <a:r>
              <a:rPr lang="en-GB" sz="2700">
                <a:solidFill>
                  <a:schemeClr val="dk1"/>
                </a:solidFill>
                <a:latin typeface="Kalam"/>
                <a:ea typeface="Kalam"/>
                <a:cs typeface="Kalam"/>
                <a:sym typeface="Kalam"/>
              </a:rPr>
              <a:t> × 10 </a:t>
            </a:r>
            <a:endParaRPr sz="1900">
              <a:latin typeface="Kalam"/>
              <a:ea typeface="Kalam"/>
              <a:cs typeface="Kalam"/>
              <a:sym typeface="Kalam"/>
            </a:endParaRPr>
          </a:p>
        </p:txBody>
      </p:sp>
      <p:pic>
        <p:nvPicPr>
          <p:cNvPr descr="&lt;math xmlns=&quot;http://www.w3.org/1998/Math/MathML&quot; display=&quot;block&quot; data-is-equatio=&quot;1&quot; data-latex=&quot;920\ \times0.0001\ \ \ \ \ \ \ 92\ 100\ \times10^{-3}\ \ \ \ \ \ \ 9.8\ \times\frac{1}{10^{ }}\ \ \ \ \ \ \ \ \ 9100\ \times\frac{1}{10^{-2}}&quot;&gt;&lt;mn&gt;920&lt;/mn&gt;&lt;mtext&gt;&lt;/mtext&gt;&lt;mo&gt;×&lt;/mo&gt;&lt;mn&gt;0.0001&lt;/mn&gt;&lt;mtext&gt;&lt;/mtext&gt;&lt;mtext&gt;&lt;/mtext&gt;&lt;mtext&gt;&lt;/mtext&gt;&lt;mtext&gt;&lt;/mtext&gt;&lt;mtext&gt;&lt;/mtext&gt;&lt;mtext&gt;&lt;/mtext&gt;&lt;mtext&gt;&lt;/mtext&gt;&lt;mn&gt;92&lt;/mn&gt;&lt;mtext&gt;&lt;/mtext&gt;&lt;mn&gt;100&lt;/mn&gt;&lt;mtext&gt;&lt;/mtext&gt;&lt;mo&gt;×&lt;/mo&gt;&lt;msup&gt;&lt;mn&gt;10&lt;/mn&gt;&lt;mrow data-mjx-texclass=&quot;ORD&quot;&gt;&lt;mo&gt;−&lt;/mo&gt;&lt;mn&gt;3&lt;/mn&gt;&lt;/mrow&gt;&lt;/msup&gt;&lt;mtext&gt;&lt;/mtext&gt;&lt;mtext&gt;&lt;/mtext&gt;&lt;mtext&gt;&lt;/mtext&gt;&lt;mtext&gt;&lt;/mtext&gt;&lt;mtext&gt;&lt;/mtext&gt;&lt;mtext&gt;&lt;/mtext&gt;&lt;mtext&gt;&lt;/mtext&gt;&lt;mn&gt;9.8&lt;/mn&gt;&lt;mtext&gt;&lt;/mtext&gt;&lt;mo&gt;×&lt;/mo&gt;&lt;mfrac&gt;&lt;mn&gt;1&lt;/mn&gt;&lt;msup&gt;&lt;mn&gt;10&lt;/mn&gt;&lt;mrow data-mjx-texclass=&quot;ORD&quot;/&gt;&lt;/msup&gt;&lt;/mfrac&gt;&lt;mtext&gt;&lt;/mtext&gt;&lt;mtext&gt;&lt;/mtext&gt;&lt;mtext&gt;&lt;/mtext&gt;&lt;mtext&gt;&lt;/mtext&gt;&lt;mtext&gt;&lt;/mtext&gt;&lt;mtext&gt;&lt;/mtext&gt;&lt;mtext&gt;&lt;/mtext&gt;&lt;mtext&gt;&lt;/mtext&gt;&lt;mtext&gt;&lt;/mtext&gt;&lt;mn&gt;9100&lt;/mn&gt;&lt;mtext&gt;&lt;/mtext&gt;&lt;mo&gt;×&lt;/mo&gt;&lt;mfrac&gt;&lt;mn&gt;1&lt;/mn&gt;&lt;msup&gt;&lt;mn&gt;10&lt;/mn&gt;&lt;mrow data-mjx-texclass=&quot;ORD&quot;&gt;&lt;mo&gt;−&lt;/mo&gt;&lt;mn&gt;2&lt;/mn&gt;&lt;/mrow&gt;&lt;/msup&gt;&lt;/mfrac&gt;&lt;/math&gt;" id="1608" name="Google Shape;1608;p108" title="920 times 0.0001 92 100 times 10 to the negative 3 power 9.8 times the fraction with numerator 1 and denominator 10 raised to the power 9100 times the fraction with numerator 1 and denominator 10 to the negative 2 power"/>
          <p:cNvPicPr preferRelativeResize="0"/>
          <p:nvPr/>
        </p:nvPicPr>
        <p:blipFill rotWithShape="1">
          <a:blip r:embed="rId3">
            <a:alphaModFix/>
          </a:blip>
          <a:srcRect b="0" l="0" r="77167" t="0"/>
          <a:stretch/>
        </p:blipFill>
        <p:spPr>
          <a:xfrm>
            <a:off x="635300" y="3434263"/>
            <a:ext cx="1847999" cy="691475"/>
          </a:xfrm>
          <a:prstGeom prst="rect">
            <a:avLst/>
          </a:prstGeom>
          <a:noFill/>
          <a:ln>
            <a:noFill/>
          </a:ln>
        </p:spPr>
      </p:pic>
      <p:pic>
        <p:nvPicPr>
          <p:cNvPr descr="&lt;math xmlns=&quot;http://www.w3.org/1998/Math/MathML&quot; display=&quot;block&quot; data-is-equatio=&quot;1&quot; data-latex=&quot;920\ \times0.0001\ \ \ \ \ \ \ 92\ 100\ \times10^{-3}\ \ \ \ \ \ \ 9.8\ \times\frac{1}{10^{ }}\ \ \ \ \ \ \ \ \ 9100\ \times\frac{1}{10^{-2}}&quot;&gt;&lt;mn&gt;920&lt;/mn&gt;&lt;mtext&gt;&lt;/mtext&gt;&lt;mo&gt;×&lt;/mo&gt;&lt;mn&gt;0.0001&lt;/mn&gt;&lt;mtext&gt;&lt;/mtext&gt;&lt;mtext&gt;&lt;/mtext&gt;&lt;mtext&gt;&lt;/mtext&gt;&lt;mtext&gt;&lt;/mtext&gt;&lt;mtext&gt;&lt;/mtext&gt;&lt;mtext&gt;&lt;/mtext&gt;&lt;mtext&gt;&lt;/mtext&gt;&lt;mn&gt;92&lt;/mn&gt;&lt;mtext&gt;&lt;/mtext&gt;&lt;mn&gt;100&lt;/mn&gt;&lt;mtext&gt;&lt;/mtext&gt;&lt;mo&gt;×&lt;/mo&gt;&lt;msup&gt;&lt;mn&gt;10&lt;/mn&gt;&lt;mrow data-mjx-texclass=&quot;ORD&quot;&gt;&lt;mo&gt;−&lt;/mo&gt;&lt;mn&gt;3&lt;/mn&gt;&lt;/mrow&gt;&lt;/msup&gt;&lt;mtext&gt;&lt;/mtext&gt;&lt;mtext&gt;&lt;/mtext&gt;&lt;mtext&gt;&lt;/mtext&gt;&lt;mtext&gt;&lt;/mtext&gt;&lt;mtext&gt;&lt;/mtext&gt;&lt;mtext&gt;&lt;/mtext&gt;&lt;mtext&gt;&lt;/mtext&gt;&lt;mn&gt;9.8&lt;/mn&gt;&lt;mtext&gt;&lt;/mtext&gt;&lt;mo&gt;×&lt;/mo&gt;&lt;mfrac&gt;&lt;mn&gt;1&lt;/mn&gt;&lt;msup&gt;&lt;mn&gt;10&lt;/mn&gt;&lt;mrow data-mjx-texclass=&quot;ORD&quot;/&gt;&lt;/msup&gt;&lt;/mfrac&gt;&lt;mtext&gt;&lt;/mtext&gt;&lt;mtext&gt;&lt;/mtext&gt;&lt;mtext&gt;&lt;/mtext&gt;&lt;mtext&gt;&lt;/mtext&gt;&lt;mtext&gt;&lt;/mtext&gt;&lt;mtext&gt;&lt;/mtext&gt;&lt;mtext&gt;&lt;/mtext&gt;&lt;mtext&gt;&lt;/mtext&gt;&lt;mtext&gt;&lt;/mtext&gt;&lt;mn&gt;9100&lt;/mn&gt;&lt;mtext&gt;&lt;/mtext&gt;&lt;mo&gt;×&lt;/mo&gt;&lt;mfrac&gt;&lt;mn&gt;1&lt;/mn&gt;&lt;msup&gt;&lt;mn&gt;10&lt;/mn&gt;&lt;mrow data-mjx-texclass=&quot;ORD&quot;&gt;&lt;mo&gt;−&lt;/mo&gt;&lt;mn&gt;2&lt;/mn&gt;&lt;/mrow&gt;&lt;/msup&gt;&lt;/mfrac&gt;&lt;/math&gt;" id="1609" name="Google Shape;1609;p108" title="920 times 0.0001 92 100 times 10 to the negative 3 power 9.8 times the fraction with numerator 1 and denominator 10 raised to the power 9100 times the fraction with numerator 1 and denominator 10 to the negative 2 power"/>
          <p:cNvPicPr preferRelativeResize="0"/>
          <p:nvPr/>
        </p:nvPicPr>
        <p:blipFill rotWithShape="1">
          <a:blip r:embed="rId3">
            <a:alphaModFix/>
          </a:blip>
          <a:srcRect b="0" l="54440" r="26056" t="0"/>
          <a:stretch/>
        </p:blipFill>
        <p:spPr>
          <a:xfrm>
            <a:off x="2858750" y="3434275"/>
            <a:ext cx="1578499" cy="691475"/>
          </a:xfrm>
          <a:prstGeom prst="rect">
            <a:avLst/>
          </a:prstGeom>
          <a:noFill/>
          <a:ln>
            <a:noFill/>
          </a:ln>
        </p:spPr>
      </p:pic>
      <p:pic>
        <p:nvPicPr>
          <p:cNvPr descr="&lt;math xmlns=&quot;http://www.w3.org/1998/Math/MathML&quot; display=&quot;block&quot; data-is-equatio=&quot;1&quot; data-latex=&quot;920\ \times0.0001\ \ \ \ \ \ \ 92\ 100\ \times10^{-3}\ \ \ \ \ \ \ 9.8\ \times\frac{1}{10^{ }}\ \ \ \ \ \ \ \ \ 9100\ \times\frac{1}{10^{-2}}&quot;&gt;&lt;mn&gt;920&lt;/mn&gt;&lt;mtext&gt;&lt;/mtext&gt;&lt;mo&gt;×&lt;/mo&gt;&lt;mn&gt;0.0001&lt;/mn&gt;&lt;mtext&gt;&lt;/mtext&gt;&lt;mtext&gt;&lt;/mtext&gt;&lt;mtext&gt;&lt;/mtext&gt;&lt;mtext&gt;&lt;/mtext&gt;&lt;mtext&gt;&lt;/mtext&gt;&lt;mtext&gt;&lt;/mtext&gt;&lt;mtext&gt;&lt;/mtext&gt;&lt;mn&gt;92&lt;/mn&gt;&lt;mtext&gt;&lt;/mtext&gt;&lt;mn&gt;100&lt;/mn&gt;&lt;mtext&gt;&lt;/mtext&gt;&lt;mo&gt;×&lt;/mo&gt;&lt;msup&gt;&lt;mn&gt;10&lt;/mn&gt;&lt;mrow data-mjx-texclass=&quot;ORD&quot;&gt;&lt;mo&gt;−&lt;/mo&gt;&lt;mn&gt;3&lt;/mn&gt;&lt;/mrow&gt;&lt;/msup&gt;&lt;mtext&gt;&lt;/mtext&gt;&lt;mtext&gt;&lt;/mtext&gt;&lt;mtext&gt;&lt;/mtext&gt;&lt;mtext&gt;&lt;/mtext&gt;&lt;mtext&gt;&lt;/mtext&gt;&lt;mtext&gt;&lt;/mtext&gt;&lt;mtext&gt;&lt;/mtext&gt;&lt;mn&gt;9.8&lt;/mn&gt;&lt;mtext&gt;&lt;/mtext&gt;&lt;mo&gt;×&lt;/mo&gt;&lt;mfrac&gt;&lt;mn&gt;1&lt;/mn&gt;&lt;msup&gt;&lt;mn&gt;10&lt;/mn&gt;&lt;mrow data-mjx-texclass=&quot;ORD&quot;/&gt;&lt;/msup&gt;&lt;/mfrac&gt;&lt;mtext&gt;&lt;/mtext&gt;&lt;mtext&gt;&lt;/mtext&gt;&lt;mtext&gt;&lt;/mtext&gt;&lt;mtext&gt;&lt;/mtext&gt;&lt;mtext&gt;&lt;/mtext&gt;&lt;mtext&gt;&lt;/mtext&gt;&lt;mtext&gt;&lt;/mtext&gt;&lt;mtext&gt;&lt;/mtext&gt;&lt;mtext&gt;&lt;/mtext&gt;&lt;mn&gt;9100&lt;/mn&gt;&lt;mtext&gt;&lt;/mtext&gt;&lt;mo&gt;×&lt;/mo&gt;&lt;mfrac&gt;&lt;mn&gt;1&lt;/mn&gt;&lt;msup&gt;&lt;mn&gt;10&lt;/mn&gt;&lt;mrow data-mjx-texclass=&quot;ORD&quot;&gt;&lt;mo&gt;−&lt;/mo&gt;&lt;mn&gt;2&lt;/mn&gt;&lt;/mrow&gt;&lt;/msup&gt;&lt;/mfrac&gt;&lt;/math&gt;" id="1610" name="Google Shape;1610;p108" title="920 times 0.0001 92 100 times 10 to the negative 3 power 9.8 times the fraction with numerator 1 and denominator 10 raised to the power 9100 times the fraction with numerator 1 and denominator 10 to the negative 2 power"/>
          <p:cNvPicPr preferRelativeResize="0"/>
          <p:nvPr/>
        </p:nvPicPr>
        <p:blipFill rotWithShape="1">
          <a:blip r:embed="rId3">
            <a:alphaModFix/>
          </a:blip>
          <a:srcRect b="0" l="26189" r="50457" t="0"/>
          <a:stretch/>
        </p:blipFill>
        <p:spPr>
          <a:xfrm>
            <a:off x="6846398" y="3434263"/>
            <a:ext cx="1890051" cy="691475"/>
          </a:xfrm>
          <a:prstGeom prst="rect">
            <a:avLst/>
          </a:prstGeom>
          <a:noFill/>
          <a:ln>
            <a:noFill/>
          </a:ln>
        </p:spPr>
      </p:pic>
      <p:pic>
        <p:nvPicPr>
          <p:cNvPr id="1611" name="Google Shape;1611;p108"/>
          <p:cNvPicPr preferRelativeResize="0"/>
          <p:nvPr/>
        </p:nvPicPr>
        <p:blipFill>
          <a:blip r:embed="rId4">
            <a:alphaModFix/>
          </a:blip>
          <a:stretch>
            <a:fillRect/>
          </a:stretch>
        </p:blipFill>
        <p:spPr>
          <a:xfrm>
            <a:off x="8327840" y="2108515"/>
            <a:ext cx="408600" cy="216539"/>
          </a:xfrm>
          <a:prstGeom prst="rect">
            <a:avLst/>
          </a:prstGeom>
          <a:noFill/>
          <a:ln>
            <a:noFill/>
          </a:ln>
        </p:spPr>
      </p:pic>
      <p:pic>
        <p:nvPicPr>
          <p:cNvPr descr="&lt;math xmlns=&quot;http://www.w3.org/1998/Math/MathML&quot; display=&quot;block&quot; data-is-equatio=&quot;1&quot; data-latex=&quot;9100\times\frac{1}{10^2}\ \ &quot;&gt;&lt;mn&gt;9100&lt;/mn&gt;&lt;mo&gt;×&lt;/mo&gt;&lt;mfrac&gt;&lt;mn&gt;1&lt;/mn&gt;&lt;msup&gt;&lt;mn&gt;10&lt;/mn&gt;&lt;mn&gt;2&lt;/mn&gt;&lt;/msup&gt;&lt;/mfrac&gt;&lt;mtext&gt;&lt;/mtext&gt;&lt;mtext&gt;&lt;/mtext&gt;&lt;/math&gt;" id="1612" name="Google Shape;1612;p108" title="9100 times the fraction with numerator 1 and denominator 10 squared"/>
          <p:cNvPicPr preferRelativeResize="0"/>
          <p:nvPr/>
        </p:nvPicPr>
        <p:blipFill>
          <a:blip r:embed="rId5">
            <a:alphaModFix/>
          </a:blip>
          <a:stretch>
            <a:fillRect/>
          </a:stretch>
        </p:blipFill>
        <p:spPr>
          <a:xfrm>
            <a:off x="4946550" y="3434263"/>
            <a:ext cx="1438641" cy="691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6" name="Shape 1616"/>
        <p:cNvGrpSpPr/>
        <p:nvPr/>
      </p:nvGrpSpPr>
      <p:grpSpPr>
        <a:xfrm>
          <a:off x="0" y="0"/>
          <a:ext cx="0" cy="0"/>
          <a:chOff x="0" y="0"/>
          <a:chExt cx="0" cy="0"/>
        </a:xfrm>
      </p:grpSpPr>
      <p:sp>
        <p:nvSpPr>
          <p:cNvPr id="1617" name="Google Shape;1617;p109"/>
          <p:cNvSpPr txBox="1"/>
          <p:nvPr>
            <p:ph idx="4294967295" type="body"/>
          </p:nvPr>
        </p:nvSpPr>
        <p:spPr>
          <a:xfrm>
            <a:off x="324000" y="759300"/>
            <a:ext cx="8237700" cy="51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400"/>
              <a:t>2) By working out the number, write in standard form and order the original form given in the question.</a:t>
            </a:r>
            <a:endParaRPr/>
          </a:p>
        </p:txBody>
      </p:sp>
      <p:sp>
        <p:nvSpPr>
          <p:cNvPr id="1618" name="Google Shape;1618;p109"/>
          <p:cNvSpPr txBox="1"/>
          <p:nvPr>
            <p:ph type="title"/>
          </p:nvPr>
        </p:nvSpPr>
        <p:spPr>
          <a:xfrm>
            <a:off x="1479300" y="39650"/>
            <a:ext cx="68553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GB"/>
              <a:t>Ordering numbers using standard </a:t>
            </a:r>
            <a:r>
              <a:rPr lang="en-GB"/>
              <a:t>form</a:t>
            </a:r>
            <a:endParaRPr/>
          </a:p>
        </p:txBody>
      </p:sp>
      <p:sp>
        <p:nvSpPr>
          <p:cNvPr id="1619" name="Google Shape;1619;p109"/>
          <p:cNvSpPr txBox="1"/>
          <p:nvPr/>
        </p:nvSpPr>
        <p:spPr>
          <a:xfrm>
            <a:off x="324008" y="1814250"/>
            <a:ext cx="1071600" cy="94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c)</a:t>
            </a:r>
            <a:endParaRPr sz="2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300">
              <a:solidFill>
                <a:schemeClr val="dk1"/>
              </a:solidFill>
              <a:latin typeface="Lexend"/>
              <a:ea typeface="Lexend"/>
              <a:cs typeface="Lexend"/>
              <a:sym typeface="Lexend"/>
            </a:endParaRPr>
          </a:p>
        </p:txBody>
      </p:sp>
      <p:sp>
        <p:nvSpPr>
          <p:cNvPr id="1620" name="Google Shape;1620;p109"/>
          <p:cNvSpPr txBox="1"/>
          <p:nvPr/>
        </p:nvSpPr>
        <p:spPr>
          <a:xfrm>
            <a:off x="528775" y="2700000"/>
            <a:ext cx="1848000" cy="600300"/>
          </a:xfrm>
          <a:prstGeom prst="rect">
            <a:avLst/>
          </a:prstGeom>
          <a:noFill/>
          <a:ln>
            <a:noFill/>
          </a:ln>
        </p:spPr>
        <p:txBody>
          <a:bodyPr anchorCtr="0" anchor="t" bIns="91425" lIns="0" spcFirstLastPara="1" rIns="0"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4.8</a:t>
            </a:r>
            <a:r>
              <a:rPr lang="en-GB" sz="2700">
                <a:solidFill>
                  <a:schemeClr val="dk1"/>
                </a:solidFill>
                <a:latin typeface="Kalam"/>
                <a:ea typeface="Kalam"/>
                <a:cs typeface="Kalam"/>
                <a:sym typeface="Kalam"/>
              </a:rPr>
              <a:t> × 10 </a:t>
            </a:r>
            <a:endParaRPr sz="1900">
              <a:latin typeface="Kalam"/>
              <a:ea typeface="Kalam"/>
              <a:cs typeface="Kalam"/>
              <a:sym typeface="Kalam"/>
            </a:endParaRPr>
          </a:p>
        </p:txBody>
      </p:sp>
      <p:sp>
        <p:nvSpPr>
          <p:cNvPr id="1621" name="Google Shape;1621;p109"/>
          <p:cNvSpPr txBox="1"/>
          <p:nvPr/>
        </p:nvSpPr>
        <p:spPr>
          <a:xfrm>
            <a:off x="2546650" y="2700000"/>
            <a:ext cx="1848000" cy="600300"/>
          </a:xfrm>
          <a:prstGeom prst="rect">
            <a:avLst/>
          </a:prstGeom>
          <a:noFill/>
          <a:ln>
            <a:noFill/>
          </a:ln>
        </p:spPr>
        <p:txBody>
          <a:bodyPr anchorCtr="0" anchor="t" bIns="91425" lIns="0" spcFirstLastPara="1" rIns="0"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4.8</a:t>
            </a:r>
            <a:r>
              <a:rPr lang="en-GB" sz="2700">
                <a:solidFill>
                  <a:schemeClr val="dk1"/>
                </a:solidFill>
                <a:latin typeface="Kalam"/>
                <a:ea typeface="Kalam"/>
                <a:cs typeface="Kalam"/>
                <a:sym typeface="Kalam"/>
              </a:rPr>
              <a:t> × 10</a:t>
            </a:r>
            <a:r>
              <a:rPr baseline="30000" lang="en-GB" sz="2700">
                <a:solidFill>
                  <a:schemeClr val="dk1"/>
                </a:solidFill>
                <a:latin typeface="Kalam"/>
                <a:ea typeface="Kalam"/>
                <a:cs typeface="Kalam"/>
                <a:sym typeface="Kalam"/>
              </a:rPr>
              <a:t>−2</a:t>
            </a:r>
            <a:r>
              <a:rPr lang="en-GB" sz="2700">
                <a:solidFill>
                  <a:schemeClr val="dk1"/>
                </a:solidFill>
                <a:latin typeface="Kalam"/>
                <a:ea typeface="Kalam"/>
                <a:cs typeface="Kalam"/>
                <a:sym typeface="Kalam"/>
              </a:rPr>
              <a:t> </a:t>
            </a:r>
            <a:endParaRPr sz="1900">
              <a:latin typeface="Kalam"/>
              <a:ea typeface="Kalam"/>
              <a:cs typeface="Kalam"/>
              <a:sym typeface="Kalam"/>
            </a:endParaRPr>
          </a:p>
        </p:txBody>
      </p:sp>
      <p:sp>
        <p:nvSpPr>
          <p:cNvPr id="1622" name="Google Shape;1622;p109"/>
          <p:cNvSpPr txBox="1"/>
          <p:nvPr/>
        </p:nvSpPr>
        <p:spPr>
          <a:xfrm>
            <a:off x="4564525" y="2700000"/>
            <a:ext cx="1848000" cy="600300"/>
          </a:xfrm>
          <a:prstGeom prst="rect">
            <a:avLst/>
          </a:prstGeom>
          <a:noFill/>
          <a:ln>
            <a:noFill/>
          </a:ln>
        </p:spPr>
        <p:txBody>
          <a:bodyPr anchorCtr="0" anchor="t" bIns="91425" lIns="0" spcFirstLastPara="1" rIns="0"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4.81</a:t>
            </a:r>
            <a:r>
              <a:rPr lang="en-GB" sz="2700">
                <a:solidFill>
                  <a:schemeClr val="dk1"/>
                </a:solidFill>
                <a:latin typeface="Kalam"/>
                <a:ea typeface="Kalam"/>
                <a:cs typeface="Kalam"/>
                <a:sym typeface="Kalam"/>
              </a:rPr>
              <a:t> × 10</a:t>
            </a:r>
            <a:r>
              <a:rPr baseline="30000" lang="en-GB" sz="2700">
                <a:solidFill>
                  <a:schemeClr val="dk1"/>
                </a:solidFill>
                <a:latin typeface="Kalam"/>
                <a:ea typeface="Kalam"/>
                <a:cs typeface="Kalam"/>
                <a:sym typeface="Kalam"/>
              </a:rPr>
              <a:t>−</a:t>
            </a:r>
            <a:r>
              <a:rPr baseline="30000" lang="en-GB" sz="2700">
                <a:solidFill>
                  <a:schemeClr val="dk1"/>
                </a:solidFill>
                <a:latin typeface="Kalam"/>
                <a:ea typeface="Kalam"/>
                <a:cs typeface="Kalam"/>
                <a:sym typeface="Kalam"/>
              </a:rPr>
              <a:t>2</a:t>
            </a:r>
            <a:r>
              <a:rPr lang="en-GB" sz="2700">
                <a:solidFill>
                  <a:schemeClr val="dk1"/>
                </a:solidFill>
                <a:latin typeface="Kalam"/>
                <a:ea typeface="Kalam"/>
                <a:cs typeface="Kalam"/>
                <a:sym typeface="Kalam"/>
              </a:rPr>
              <a:t> </a:t>
            </a:r>
            <a:endParaRPr sz="1900">
              <a:latin typeface="Kalam"/>
              <a:ea typeface="Kalam"/>
              <a:cs typeface="Kalam"/>
              <a:sym typeface="Kalam"/>
            </a:endParaRPr>
          </a:p>
        </p:txBody>
      </p:sp>
      <p:sp>
        <p:nvSpPr>
          <p:cNvPr id="1623" name="Google Shape;1623;p109"/>
          <p:cNvSpPr txBox="1"/>
          <p:nvPr/>
        </p:nvSpPr>
        <p:spPr>
          <a:xfrm>
            <a:off x="6668563" y="2700000"/>
            <a:ext cx="2262600" cy="600300"/>
          </a:xfrm>
          <a:prstGeom prst="rect">
            <a:avLst/>
          </a:prstGeom>
          <a:noFill/>
          <a:ln>
            <a:noFill/>
          </a:ln>
        </p:spPr>
        <p:txBody>
          <a:bodyPr anchorCtr="0" anchor="t" bIns="91425" lIns="0" spcFirstLastPara="1" rIns="0" wrap="square" tIns="91425">
            <a:spAutoFit/>
          </a:bodyPr>
          <a:lstStyle/>
          <a:p>
            <a:pPr indent="0" lvl="0" marL="88900" rtl="0" algn="l">
              <a:lnSpc>
                <a:spcPct val="115000"/>
              </a:lnSpc>
              <a:spcBef>
                <a:spcPts val="0"/>
              </a:spcBef>
              <a:spcAft>
                <a:spcPts val="0"/>
              </a:spcAft>
              <a:buNone/>
            </a:pPr>
            <a:r>
              <a:rPr lang="en-GB" sz="2700">
                <a:solidFill>
                  <a:schemeClr val="dk1"/>
                </a:solidFill>
                <a:latin typeface="Kalam"/>
                <a:ea typeface="Kalam"/>
                <a:cs typeface="Kalam"/>
                <a:sym typeface="Kalam"/>
              </a:rPr>
              <a:t>4.82 </a:t>
            </a:r>
            <a:r>
              <a:rPr lang="en-GB" sz="2700">
                <a:solidFill>
                  <a:schemeClr val="dk1"/>
                </a:solidFill>
                <a:latin typeface="Kalam"/>
                <a:ea typeface="Kalam"/>
                <a:cs typeface="Kalam"/>
                <a:sym typeface="Kalam"/>
              </a:rPr>
              <a:t>× 10</a:t>
            </a:r>
            <a:r>
              <a:rPr baseline="30000" lang="en-GB" sz="2700">
                <a:solidFill>
                  <a:schemeClr val="dk1"/>
                </a:solidFill>
                <a:latin typeface="Kalam"/>
                <a:ea typeface="Kalam"/>
                <a:cs typeface="Kalam"/>
                <a:sym typeface="Kalam"/>
              </a:rPr>
              <a:t>-1</a:t>
            </a:r>
            <a:endParaRPr sz="1900">
              <a:latin typeface="Kalam"/>
              <a:ea typeface="Kalam"/>
              <a:cs typeface="Kalam"/>
              <a:sym typeface="Kalam"/>
            </a:endParaRPr>
          </a:p>
        </p:txBody>
      </p:sp>
      <p:pic>
        <p:nvPicPr>
          <p:cNvPr descr="&lt;math xmlns=&quot;http://www.w3.org/1998/Math/MathML&quot; display=&quot;block&quot; data-is-equatio=&quot;1&quot; data-latex=&quot;480\times0.1\ \ \ \ \ \ \ 4.8\ \times10^{-2}\ \ \ \ \ \ \ 4.81\ \times\frac{1}{10^2}\ \ \ \ \ \ \ \ \ 4820\ \times\frac{1}{10^{-4}}&quot;&gt;&lt;mn&gt;480&lt;/mn&gt;&lt;mo&gt;×&lt;/mo&gt;&lt;mn&gt;0.1&lt;/mn&gt;&lt;mtext&gt;&lt;/mtext&gt;&lt;mtext&gt;&lt;/mtext&gt;&lt;mtext&gt;&lt;/mtext&gt;&lt;mtext&gt;&lt;/mtext&gt;&lt;mtext&gt;&lt;/mtext&gt;&lt;mtext&gt;&lt;/mtext&gt;&lt;mtext&gt;&lt;/mtext&gt;&lt;mn&gt;4.8&lt;/mn&gt;&lt;mtext&gt;&lt;/mtext&gt;&lt;mo&gt;×&lt;/mo&gt;&lt;msup&gt;&lt;mn&gt;10&lt;/mn&gt;&lt;mrow data-mjx-texclass=&quot;ORD&quot;&gt;&lt;mo&gt;−&lt;/mo&gt;&lt;mn&gt;2&lt;/mn&gt;&lt;/mrow&gt;&lt;/msup&gt;&lt;mtext&gt;&lt;/mtext&gt;&lt;mtext&gt;&lt;/mtext&gt;&lt;mtext&gt;&lt;/mtext&gt;&lt;mtext&gt;&lt;/mtext&gt;&lt;mtext&gt;&lt;/mtext&gt;&lt;mtext&gt;&lt;/mtext&gt;&lt;mtext&gt;&lt;/mtext&gt;&lt;mn&gt;4.81&lt;/mn&gt;&lt;mtext&gt;&lt;/mtext&gt;&lt;mo&gt;×&lt;/mo&gt;&lt;mfrac&gt;&lt;mn&gt;1&lt;/mn&gt;&lt;msup&gt;&lt;mn&gt;10&lt;/mn&gt;&lt;mn&gt;2&lt;/mn&gt;&lt;/msup&gt;&lt;/mfrac&gt;&lt;mtext&gt;&lt;/mtext&gt;&lt;mtext&gt;&lt;/mtext&gt;&lt;mtext&gt;&lt;/mtext&gt;&lt;mtext&gt;&lt;/mtext&gt;&lt;mtext&gt;&lt;/mtext&gt;&lt;mtext&gt;&lt;/mtext&gt;&lt;mtext&gt;&lt;/mtext&gt;&lt;mtext&gt;&lt;/mtext&gt;&lt;mtext&gt;&lt;/mtext&gt;&lt;mn&gt;4820&lt;/mn&gt;&lt;mtext&gt;&lt;/mtext&gt;&lt;mo&gt;×&lt;/mo&gt;&lt;mfrac&gt;&lt;mn&gt;1&lt;/mn&gt;&lt;msup&gt;&lt;mn&gt;10&lt;/mn&gt;&lt;mrow data-mjx-texclass=&quot;ORD&quot;&gt;&lt;mo&gt;−&lt;/mo&gt;&lt;mn&gt;4&lt;/mn&gt;&lt;/mrow&gt;&lt;/msup&gt;&lt;/mfrac&gt;&lt;/math&gt;" id="1624" name="Google Shape;1624;p109" title="480 times 0.1 4.8 times 10 to the negative 2 power 4.81 times the fraction with numerator 1 and denominator 10 squared 4820 times the fraction with numerator 1 and denominator 10 to the negative 4 power"/>
          <p:cNvPicPr preferRelativeResize="0"/>
          <p:nvPr/>
        </p:nvPicPr>
        <p:blipFill rotWithShape="1">
          <a:blip r:embed="rId3">
            <a:alphaModFix/>
          </a:blip>
          <a:srcRect b="0" l="46618" r="30183" t="0"/>
          <a:stretch/>
        </p:blipFill>
        <p:spPr>
          <a:xfrm>
            <a:off x="2554235" y="3534800"/>
            <a:ext cx="1848001" cy="744475"/>
          </a:xfrm>
          <a:prstGeom prst="rect">
            <a:avLst/>
          </a:prstGeom>
          <a:noFill/>
          <a:ln>
            <a:noFill/>
          </a:ln>
        </p:spPr>
      </p:pic>
      <p:pic>
        <p:nvPicPr>
          <p:cNvPr descr="&lt;math xmlns=&quot;http://www.w3.org/1998/Math/MathML&quot; display=&quot;block&quot; data-is-equatio=&quot;1&quot; data-latex=&quot;480\times0.1\ \ \ \ \ \ \ 4.8\ \times10^{-2}\ \ \ \ \ \ \ 4.81\ \times\frac{1}{10^2}\ \ \ \ \ \ \ \ \ 4820\ \times\frac{1}{10^{-4}}&quot;&gt;&lt;mn&gt;480&lt;/mn&gt;&lt;mo&gt;×&lt;/mo&gt;&lt;mn&gt;0.1&lt;/mn&gt;&lt;mtext&gt;&lt;/mtext&gt;&lt;mtext&gt;&lt;/mtext&gt;&lt;mtext&gt;&lt;/mtext&gt;&lt;mtext&gt;&lt;/mtext&gt;&lt;mtext&gt;&lt;/mtext&gt;&lt;mtext&gt;&lt;/mtext&gt;&lt;mtext&gt;&lt;/mtext&gt;&lt;mn&gt;4.8&lt;/mn&gt;&lt;mtext&gt;&lt;/mtext&gt;&lt;mo&gt;×&lt;/mo&gt;&lt;msup&gt;&lt;mn&gt;10&lt;/mn&gt;&lt;mrow data-mjx-texclass=&quot;ORD&quot;&gt;&lt;mo&gt;−&lt;/mo&gt;&lt;mn&gt;2&lt;/mn&gt;&lt;/mrow&gt;&lt;/msup&gt;&lt;mtext&gt;&lt;/mtext&gt;&lt;mtext&gt;&lt;/mtext&gt;&lt;mtext&gt;&lt;/mtext&gt;&lt;mtext&gt;&lt;/mtext&gt;&lt;mtext&gt;&lt;/mtext&gt;&lt;mtext&gt;&lt;/mtext&gt;&lt;mtext&gt;&lt;/mtext&gt;&lt;mn&gt;4.81&lt;/mn&gt;&lt;mtext&gt;&lt;/mtext&gt;&lt;mo&gt;×&lt;/mo&gt;&lt;mfrac&gt;&lt;mn&gt;1&lt;/mn&gt;&lt;msup&gt;&lt;mn&gt;10&lt;/mn&gt;&lt;mn&gt;2&lt;/mn&gt;&lt;/msup&gt;&lt;/mfrac&gt;&lt;mtext&gt;&lt;/mtext&gt;&lt;mtext&gt;&lt;/mtext&gt;&lt;mtext&gt;&lt;/mtext&gt;&lt;mtext&gt;&lt;/mtext&gt;&lt;mtext&gt;&lt;/mtext&gt;&lt;mtext&gt;&lt;/mtext&gt;&lt;mtext&gt;&lt;/mtext&gt;&lt;mtext&gt;&lt;/mtext&gt;&lt;mtext&gt;&lt;/mtext&gt;&lt;mn&gt;4820&lt;/mn&gt;&lt;mtext&gt;&lt;/mtext&gt;&lt;mo&gt;×&lt;/mo&gt;&lt;mfrac&gt;&lt;mn&gt;1&lt;/mn&gt;&lt;msup&gt;&lt;mn&gt;10&lt;/mn&gt;&lt;mrow data-mjx-texclass=&quot;ORD&quot;&gt;&lt;mo&gt;−&lt;/mo&gt;&lt;mn&gt;4&lt;/mn&gt;&lt;/mrow&gt;&lt;/msup&gt;&lt;/mfrac&gt;&lt;/math&gt;" id="1625" name="Google Shape;1625;p109" title="480 times 0.1 4.8 times 10 to the negative 2 power 4.81 times the fraction with numerator 1 and denominator 10 squared 4820 times the fraction with numerator 1 and denominator 10 to the negative 4 power"/>
          <p:cNvPicPr preferRelativeResize="0"/>
          <p:nvPr/>
        </p:nvPicPr>
        <p:blipFill rotWithShape="1">
          <a:blip r:embed="rId3">
            <a:alphaModFix/>
          </a:blip>
          <a:srcRect b="0" l="20399" r="56402" t="0"/>
          <a:stretch/>
        </p:blipFill>
        <p:spPr>
          <a:xfrm>
            <a:off x="473100" y="3534800"/>
            <a:ext cx="1848001" cy="744475"/>
          </a:xfrm>
          <a:prstGeom prst="rect">
            <a:avLst/>
          </a:prstGeom>
          <a:noFill/>
          <a:ln>
            <a:noFill/>
          </a:ln>
        </p:spPr>
      </p:pic>
      <p:pic>
        <p:nvPicPr>
          <p:cNvPr descr="&lt;math xmlns=&quot;http://www.w3.org/1998/Math/MathML&quot; display=&quot;block&quot; data-is-equatio=&quot;1&quot; data-latex=&quot;480\times0.1\ \ \ \ \ \ \ 4.8\ \times10^{-2}\ \ \ \ \ \ \ 4.81\ \times\frac{1}{10^2}\ \ \ \ \ \ \ \ \ 4820\ \times\frac{1}{10^{-4}}&quot;&gt;&lt;mn&gt;480&lt;/mn&gt;&lt;mo&gt;×&lt;/mo&gt;&lt;mn&gt;0.1&lt;/mn&gt;&lt;mtext&gt;&lt;/mtext&gt;&lt;mtext&gt;&lt;/mtext&gt;&lt;mtext&gt;&lt;/mtext&gt;&lt;mtext&gt;&lt;/mtext&gt;&lt;mtext&gt;&lt;/mtext&gt;&lt;mtext&gt;&lt;/mtext&gt;&lt;mtext&gt;&lt;/mtext&gt;&lt;mn&gt;4.8&lt;/mn&gt;&lt;mtext&gt;&lt;/mtext&gt;&lt;mo&gt;×&lt;/mo&gt;&lt;msup&gt;&lt;mn&gt;10&lt;/mn&gt;&lt;mrow data-mjx-texclass=&quot;ORD&quot;&gt;&lt;mo&gt;−&lt;/mo&gt;&lt;mn&gt;2&lt;/mn&gt;&lt;/mrow&gt;&lt;/msup&gt;&lt;mtext&gt;&lt;/mtext&gt;&lt;mtext&gt;&lt;/mtext&gt;&lt;mtext&gt;&lt;/mtext&gt;&lt;mtext&gt;&lt;/mtext&gt;&lt;mtext&gt;&lt;/mtext&gt;&lt;mtext&gt;&lt;/mtext&gt;&lt;mtext&gt;&lt;/mtext&gt;&lt;mn&gt;4.81&lt;/mn&gt;&lt;mtext&gt;&lt;/mtext&gt;&lt;mo&gt;×&lt;/mo&gt;&lt;mfrac&gt;&lt;mn&gt;1&lt;/mn&gt;&lt;msup&gt;&lt;mn&gt;10&lt;/mn&gt;&lt;mn&gt;2&lt;/mn&gt;&lt;/msup&gt;&lt;/mfrac&gt;&lt;mtext&gt;&lt;/mtext&gt;&lt;mtext&gt;&lt;/mtext&gt;&lt;mtext&gt;&lt;/mtext&gt;&lt;mtext&gt;&lt;/mtext&gt;&lt;mtext&gt;&lt;/mtext&gt;&lt;mtext&gt;&lt;/mtext&gt;&lt;mtext&gt;&lt;/mtext&gt;&lt;mtext&gt;&lt;/mtext&gt;&lt;mtext&gt;&lt;/mtext&gt;&lt;mn&gt;4820&lt;/mn&gt;&lt;mtext&gt;&lt;/mtext&gt;&lt;mo&gt;×&lt;/mo&gt;&lt;mfrac&gt;&lt;mn&gt;1&lt;/mn&gt;&lt;msup&gt;&lt;mn&gt;10&lt;/mn&gt;&lt;mrow data-mjx-texclass=&quot;ORD&quot;&gt;&lt;mo&gt;−&lt;/mo&gt;&lt;mn&gt;4&lt;/mn&gt;&lt;/mrow&gt;&lt;/msup&gt;&lt;/mfrac&gt;&lt;/math&gt;" id="1626" name="Google Shape;1626;p109" title="480 times 0.1 4.8 times 10 to the negative 2 power 4.81 times the fraction with numerator 1 and denominator 10 squared 4820 times the fraction with numerator 1 and denominator 10 to the negative 4 power"/>
          <p:cNvPicPr preferRelativeResize="0"/>
          <p:nvPr/>
        </p:nvPicPr>
        <p:blipFill rotWithShape="1">
          <a:blip r:embed="rId3">
            <a:alphaModFix/>
          </a:blip>
          <a:srcRect b="0" l="-2275" r="82623" t="0"/>
          <a:stretch/>
        </p:blipFill>
        <p:spPr>
          <a:xfrm>
            <a:off x="7017124" y="3534800"/>
            <a:ext cx="1565525" cy="744475"/>
          </a:xfrm>
          <a:prstGeom prst="rect">
            <a:avLst/>
          </a:prstGeom>
          <a:noFill/>
          <a:ln>
            <a:noFill/>
          </a:ln>
        </p:spPr>
      </p:pic>
      <p:pic>
        <p:nvPicPr>
          <p:cNvPr id="1627" name="Google Shape;1627;p109"/>
          <p:cNvPicPr preferRelativeResize="0"/>
          <p:nvPr/>
        </p:nvPicPr>
        <p:blipFill>
          <a:blip r:embed="rId4">
            <a:alphaModFix/>
          </a:blip>
          <a:stretch>
            <a:fillRect/>
          </a:stretch>
        </p:blipFill>
        <p:spPr>
          <a:xfrm>
            <a:off x="776975" y="1787763"/>
            <a:ext cx="7817052" cy="744475"/>
          </a:xfrm>
          <a:prstGeom prst="rect">
            <a:avLst/>
          </a:prstGeom>
          <a:noFill/>
          <a:ln>
            <a:noFill/>
          </a:ln>
        </p:spPr>
      </p:pic>
      <p:pic>
        <p:nvPicPr>
          <p:cNvPr id="1628" name="Google Shape;1628;p109"/>
          <p:cNvPicPr preferRelativeResize="0"/>
          <p:nvPr/>
        </p:nvPicPr>
        <p:blipFill rotWithShape="1">
          <a:blip r:embed="rId4">
            <a:alphaModFix/>
          </a:blip>
          <a:srcRect b="0" l="76359" r="0" t="0"/>
          <a:stretch/>
        </p:blipFill>
        <p:spPr>
          <a:xfrm>
            <a:off x="4824001" y="3534800"/>
            <a:ext cx="1847999" cy="744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sp>
        <p:nvSpPr>
          <p:cNvPr id="1633" name="Google Shape;1633;p110"/>
          <p:cNvSpPr txBox="1"/>
          <p:nvPr>
            <p:ph idx="1" type="body"/>
          </p:nvPr>
        </p:nvSpPr>
        <p:spPr>
          <a:xfrm>
            <a:off x="352025" y="701550"/>
            <a:ext cx="8409600" cy="418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2000"/>
              <a:t>We know standard form is the convention to write very large or very small numbers.  </a:t>
            </a:r>
            <a:endParaRPr sz="2000"/>
          </a:p>
          <a:p>
            <a:pPr indent="0" lvl="0" marL="0" rtl="0" algn="l">
              <a:lnSpc>
                <a:spcPct val="115000"/>
              </a:lnSpc>
              <a:spcBef>
                <a:spcPts val="1000"/>
              </a:spcBef>
              <a:spcAft>
                <a:spcPts val="0"/>
              </a:spcAft>
              <a:buSzPts val="2200"/>
              <a:buNone/>
            </a:pPr>
            <a:r>
              <a:rPr lang="en-GB" sz="2000"/>
              <a:t>We use standard form in a number of industries.</a:t>
            </a:r>
            <a:endParaRPr sz="2000"/>
          </a:p>
          <a:p>
            <a:pPr indent="0" lvl="0" marL="0" rtl="0" algn="l">
              <a:lnSpc>
                <a:spcPct val="115000"/>
              </a:lnSpc>
              <a:spcBef>
                <a:spcPts val="1000"/>
              </a:spcBef>
              <a:spcAft>
                <a:spcPts val="0"/>
              </a:spcAft>
              <a:buSzPts val="2200"/>
              <a:buNone/>
            </a:pPr>
            <a:r>
              <a:rPr lang="en-GB" sz="2000"/>
              <a:t>Once numbers are written in standard form, we can order using the exponents. The bigger the exponent, the larger the number. </a:t>
            </a:r>
            <a:endParaRPr sz="2000"/>
          </a:p>
          <a:p>
            <a:pPr indent="0" lvl="0" marL="0" rtl="0" algn="l">
              <a:lnSpc>
                <a:spcPct val="115000"/>
              </a:lnSpc>
              <a:spcBef>
                <a:spcPts val="2000"/>
              </a:spcBef>
              <a:spcAft>
                <a:spcPts val="0"/>
              </a:spcAft>
              <a:buSzPts val="2200"/>
              <a:buNone/>
            </a:pPr>
            <a:r>
              <a:rPr lang="en-GB" sz="2000"/>
              <a:t>For example,   9 </a:t>
            </a:r>
            <a:r>
              <a:rPr lang="en-GB" sz="2000">
                <a:solidFill>
                  <a:schemeClr val="dk1"/>
                </a:solidFill>
              </a:rPr>
              <a:t> × 10</a:t>
            </a:r>
            <a:r>
              <a:rPr baseline="30000" lang="en-GB" sz="2000">
                <a:solidFill>
                  <a:schemeClr val="dk1"/>
                </a:solidFill>
              </a:rPr>
              <a:t>10   </a:t>
            </a:r>
            <a:r>
              <a:rPr lang="en-GB" sz="2000">
                <a:solidFill>
                  <a:schemeClr val="dk1"/>
                </a:solidFill>
              </a:rPr>
              <a:t>&gt;    9  ×  10</a:t>
            </a:r>
            <a:r>
              <a:rPr baseline="30000" lang="en-GB" sz="2000">
                <a:solidFill>
                  <a:schemeClr val="dk1"/>
                </a:solidFill>
              </a:rPr>
              <a:t>6</a:t>
            </a:r>
            <a:endParaRPr sz="2000"/>
          </a:p>
          <a:p>
            <a:pPr indent="0" lvl="0" marL="0" rtl="0" algn="l">
              <a:lnSpc>
                <a:spcPct val="115000"/>
              </a:lnSpc>
              <a:spcBef>
                <a:spcPts val="1000"/>
              </a:spcBef>
              <a:spcAft>
                <a:spcPts val="0"/>
              </a:spcAft>
              <a:buSzPts val="2200"/>
              <a:buNone/>
            </a:pPr>
            <a:r>
              <a:rPr lang="en-GB" sz="2000"/>
              <a:t>For example, 2 </a:t>
            </a:r>
            <a:r>
              <a:rPr lang="en-GB" sz="2000">
                <a:solidFill>
                  <a:schemeClr val="dk1"/>
                </a:solidFill>
              </a:rPr>
              <a:t> × 10</a:t>
            </a:r>
            <a:r>
              <a:rPr baseline="30000" lang="en-GB" sz="2000"/>
              <a:t>−</a:t>
            </a:r>
            <a:r>
              <a:rPr baseline="30000" lang="en-GB" sz="2000"/>
              <a:t>5</a:t>
            </a:r>
            <a:r>
              <a:rPr baseline="30000" lang="en-GB" sz="2000">
                <a:solidFill>
                  <a:schemeClr val="dk1"/>
                </a:solidFill>
              </a:rPr>
              <a:t>   </a:t>
            </a:r>
            <a:r>
              <a:rPr lang="en-GB" sz="2000">
                <a:solidFill>
                  <a:schemeClr val="dk1"/>
                </a:solidFill>
              </a:rPr>
              <a:t>&gt;    2  ×  10</a:t>
            </a:r>
            <a:r>
              <a:rPr baseline="30000" lang="en-GB" sz="2000"/>
              <a:t>−</a:t>
            </a:r>
            <a:r>
              <a:rPr baseline="30000" lang="en-GB" sz="2000">
                <a:solidFill>
                  <a:schemeClr val="dk1"/>
                </a:solidFill>
              </a:rPr>
              <a:t>9 </a:t>
            </a:r>
            <a:endParaRPr sz="2000"/>
          </a:p>
          <a:p>
            <a:pPr indent="0" lvl="0" marL="0" rtl="0" algn="l">
              <a:lnSpc>
                <a:spcPct val="115000"/>
              </a:lnSpc>
              <a:spcBef>
                <a:spcPts val="1000"/>
              </a:spcBef>
              <a:spcAft>
                <a:spcPts val="0"/>
              </a:spcAft>
              <a:buSzPts val="2200"/>
              <a:buNone/>
            </a:pPr>
            <a:r>
              <a:rPr lang="en-GB" sz="2000"/>
              <a:t>Converting all calculations to standard form, or sometimes to an ordinary number, allows ordering to be more efficient.  </a:t>
            </a:r>
            <a:endParaRPr sz="2000"/>
          </a:p>
        </p:txBody>
      </p:sp>
      <p:sp>
        <p:nvSpPr>
          <p:cNvPr id="1634" name="Google Shape;1634;p110"/>
          <p:cNvSpPr txBox="1"/>
          <p:nvPr>
            <p:ph type="title"/>
          </p:nvPr>
        </p:nvSpPr>
        <p:spPr>
          <a:xfrm>
            <a:off x="1684800" y="43825"/>
            <a:ext cx="57414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000"/>
              <a:buNone/>
            </a:pPr>
            <a:r>
              <a:rPr lang="en-GB"/>
              <a:t>Ordering numbers in standard form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111"/>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640" name="Google Shape;1640;p111"/>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