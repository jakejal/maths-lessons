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91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91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11" Type="http://schemas.openxmlformats.org/officeDocument/2006/relationships/image" Target="../media/image18.png"/><Relationship Id="rId10" Type="http://schemas.openxmlformats.org/officeDocument/2006/relationships/image" Target="../media/image17.png"/><Relationship Id="rId12" Type="http://schemas.openxmlformats.org/officeDocument/2006/relationships/image" Target="../media/image19.png"/><Relationship Id="rId9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/>
        </p:nvSpPr>
        <p:spPr>
          <a:xfrm>
            <a:off x="476400" y="6702900"/>
            <a:ext cx="4365600" cy="16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Laura says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Explain why Laura has not correctly ordered the numbers.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3" name="Google Shape;173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numbers in standard form</a:t>
            </a:r>
            <a:endParaRPr/>
          </a:p>
        </p:txBody>
      </p:sp>
      <p:cxnSp>
        <p:nvCxnSpPr>
          <p:cNvPr id="174" name="Google Shape;174;p20"/>
          <p:cNvCxnSpPr/>
          <p:nvPr/>
        </p:nvCxnSpPr>
        <p:spPr>
          <a:xfrm>
            <a:off x="474757" y="98957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20"/>
          <p:cNvSpPr txBox="1"/>
          <p:nvPr/>
        </p:nvSpPr>
        <p:spPr>
          <a:xfrm>
            <a:off x="457400" y="1298008"/>
            <a:ext cx="6181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Comparing numbers in standard form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76400" y="1521300"/>
            <a:ext cx="4365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Put the following in ascending order, smallest to largest.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7" name="Google Shape;177;p20"/>
          <p:cNvGrpSpPr/>
          <p:nvPr/>
        </p:nvGrpSpPr>
        <p:grpSpPr>
          <a:xfrm>
            <a:off x="713275" y="2101013"/>
            <a:ext cx="6317205" cy="184694"/>
            <a:chOff x="628775" y="1339775"/>
            <a:chExt cx="8130251" cy="237000"/>
          </a:xfrm>
        </p:grpSpPr>
        <p:sp>
          <p:nvSpPr>
            <p:cNvPr id="178" name="Google Shape;178;p20"/>
            <p:cNvSpPr txBox="1"/>
            <p:nvPr/>
          </p:nvSpPr>
          <p:spPr>
            <a:xfrm>
              <a:off x="4047885" y="1339775"/>
              <a:ext cx="14646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i="0" lang="en-GB" sz="1200" u="none" cap="none" strike="noStrike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4 × 10</a:t>
              </a:r>
              <a:r>
                <a:rPr baseline="30000" i="0" lang="en-GB" sz="1200" u="none" cap="none" strike="noStrike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11</a:t>
              </a:r>
              <a:endParaRPr i="0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79" name="Google Shape;179;p20"/>
            <p:cNvSpPr txBox="1"/>
            <p:nvPr/>
          </p:nvSpPr>
          <p:spPr>
            <a:xfrm>
              <a:off x="7294426" y="1339775"/>
              <a:ext cx="14646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-GB" sz="1200" u="none" cap="none" strike="noStrike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1 × 10</a:t>
              </a:r>
              <a:r>
                <a:rPr baseline="30000" i="0" lang="en-GB" sz="1200" u="none" cap="none" strike="noStrike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13</a:t>
              </a:r>
              <a:endParaRPr i="0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80" name="Google Shape;180;p20"/>
            <p:cNvSpPr txBox="1"/>
            <p:nvPr/>
          </p:nvSpPr>
          <p:spPr>
            <a:xfrm>
              <a:off x="5671156" y="1339775"/>
              <a:ext cx="14646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i="0" lang="en-GB" sz="1200" u="none" cap="none" strike="noStrike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3 × 10</a:t>
              </a:r>
              <a:r>
                <a:rPr baseline="30000" i="0" lang="en-GB" sz="1200" u="none" cap="none" strike="noStrike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12</a:t>
              </a:r>
              <a:endParaRPr i="0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81" name="Google Shape;181;p20"/>
            <p:cNvSpPr txBox="1"/>
            <p:nvPr/>
          </p:nvSpPr>
          <p:spPr>
            <a:xfrm>
              <a:off x="628775" y="1339775"/>
              <a:ext cx="14646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-GB" sz="1200" u="none" cap="none" strike="noStrike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9 × 10</a:t>
              </a:r>
              <a:r>
                <a:rPr baseline="30000" i="0" lang="en-GB" sz="1200" u="none" cap="none" strike="noStrike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9</a:t>
              </a:r>
              <a:endParaRPr i="0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82" name="Google Shape;182;p20"/>
            <p:cNvSpPr txBox="1"/>
            <p:nvPr/>
          </p:nvSpPr>
          <p:spPr>
            <a:xfrm>
              <a:off x="2252045" y="1339775"/>
              <a:ext cx="16371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-GB" sz="1200" u="none" cap="none" strike="noStrike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2 × 10</a:t>
              </a:r>
              <a:r>
                <a:rPr baseline="30000" i="0" lang="en-GB" sz="1200" u="none" cap="none" strike="noStrike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10</a:t>
              </a:r>
              <a:endParaRPr i="0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183" name="Google Shape;183;p20"/>
          <p:cNvGrpSpPr/>
          <p:nvPr/>
        </p:nvGrpSpPr>
        <p:grpSpPr>
          <a:xfrm>
            <a:off x="713275" y="2721726"/>
            <a:ext cx="6325133" cy="184694"/>
            <a:chOff x="618450" y="2136275"/>
            <a:chExt cx="8140454" cy="237000"/>
          </a:xfrm>
        </p:grpSpPr>
        <p:sp>
          <p:nvSpPr>
            <p:cNvPr id="184" name="Google Shape;184;p20"/>
            <p:cNvSpPr txBox="1"/>
            <p:nvPr/>
          </p:nvSpPr>
          <p:spPr>
            <a:xfrm>
              <a:off x="4041871" y="2136275"/>
              <a:ext cx="14664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-GB" sz="1200" u="none" cap="none" strike="noStrike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2.3 × 10</a:t>
              </a:r>
              <a:r>
                <a:rPr baseline="30000"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−</a:t>
              </a:r>
              <a:r>
                <a:rPr baseline="30000" i="0" lang="en-GB" sz="1200" u="none" cap="none" strike="noStrike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1</a:t>
              </a:r>
              <a:endParaRPr i="0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85" name="Google Shape;185;p20"/>
            <p:cNvSpPr txBox="1"/>
            <p:nvPr/>
          </p:nvSpPr>
          <p:spPr>
            <a:xfrm>
              <a:off x="7292504" y="2136275"/>
              <a:ext cx="14664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-GB" sz="1200" u="none" cap="none" strike="noStrike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2.3 × 10</a:t>
              </a:r>
              <a:r>
                <a:rPr baseline="30000" i="0" lang="en-GB" sz="1200" u="none" cap="none" strike="noStrike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4</a:t>
              </a:r>
              <a:endParaRPr i="0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86" name="Google Shape;186;p20"/>
            <p:cNvSpPr txBox="1"/>
            <p:nvPr/>
          </p:nvSpPr>
          <p:spPr>
            <a:xfrm>
              <a:off x="5667188" y="2136275"/>
              <a:ext cx="14664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-GB" sz="1200" u="none" cap="none" strike="noStrike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2.3 × 10</a:t>
              </a:r>
              <a:endParaRPr i="0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87" name="Google Shape;187;p20"/>
            <p:cNvSpPr txBox="1"/>
            <p:nvPr/>
          </p:nvSpPr>
          <p:spPr>
            <a:xfrm>
              <a:off x="618450" y="2136275"/>
              <a:ext cx="14664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-GB" sz="1200" u="none" cap="none" strike="noStrike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2.3 × 10</a:t>
              </a:r>
              <a:r>
                <a:rPr baseline="30000"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−</a:t>
              </a:r>
              <a:r>
                <a:rPr baseline="30000" i="0" lang="en-GB" sz="1200" u="none" cap="none" strike="noStrike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4</a:t>
              </a:r>
              <a:endParaRPr i="0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88" name="Google Shape;188;p20"/>
            <p:cNvSpPr txBox="1"/>
            <p:nvPr/>
          </p:nvSpPr>
          <p:spPr>
            <a:xfrm>
              <a:off x="2243767" y="2136275"/>
              <a:ext cx="16392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-GB" sz="1200" u="none" cap="none" strike="noStrike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2.3 × 10</a:t>
              </a:r>
              <a:r>
                <a:rPr baseline="30000"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−</a:t>
              </a:r>
              <a:r>
                <a:rPr baseline="30000" i="0" lang="en-GB" sz="1200" u="none" cap="none" strike="noStrike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3</a:t>
              </a:r>
              <a:endParaRPr i="0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189" name="Google Shape;189;p20"/>
          <p:cNvGrpSpPr/>
          <p:nvPr/>
        </p:nvGrpSpPr>
        <p:grpSpPr>
          <a:xfrm>
            <a:off x="713275" y="3359290"/>
            <a:ext cx="6290969" cy="184694"/>
            <a:chOff x="627300" y="2954400"/>
            <a:chExt cx="8096485" cy="237000"/>
          </a:xfrm>
        </p:grpSpPr>
        <p:sp>
          <p:nvSpPr>
            <p:cNvPr id="190" name="Google Shape;190;p20"/>
            <p:cNvSpPr txBox="1"/>
            <p:nvPr/>
          </p:nvSpPr>
          <p:spPr>
            <a:xfrm>
              <a:off x="4032322" y="2954400"/>
              <a:ext cx="14583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i="0" lang="en-GB" sz="1200" u="none" cap="none" strike="noStrike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4.</a:t>
              </a: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9</a:t>
              </a:r>
              <a:r>
                <a:rPr i="0" lang="en-GB" sz="1200" u="none" cap="none" strike="noStrike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9 × 10</a:t>
              </a:r>
              <a:r>
                <a:rPr baseline="30000"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−</a:t>
              </a:r>
              <a:r>
                <a:rPr baseline="30000" i="0" lang="en-GB" sz="1200" u="none" cap="none" strike="noStrike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6</a:t>
              </a:r>
              <a:endParaRPr i="0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91" name="Google Shape;191;p20"/>
            <p:cNvSpPr txBox="1"/>
            <p:nvPr/>
          </p:nvSpPr>
          <p:spPr>
            <a:xfrm>
              <a:off x="7265485" y="2954400"/>
              <a:ext cx="14583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i="0" lang="en-GB" sz="1200" u="none" cap="none" strike="noStrike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4.99 × 10</a:t>
              </a:r>
              <a:r>
                <a:rPr baseline="30000" i="0" lang="en-GB" sz="1200" u="none" cap="none" strike="noStrike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6</a:t>
              </a:r>
              <a:endParaRPr i="0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92" name="Google Shape;192;p20"/>
            <p:cNvSpPr txBox="1"/>
            <p:nvPr/>
          </p:nvSpPr>
          <p:spPr>
            <a:xfrm>
              <a:off x="5648904" y="2954400"/>
              <a:ext cx="14583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i="0" lang="en-GB" sz="1200" u="none" cap="none" strike="noStrike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4 × 10</a:t>
              </a:r>
              <a:r>
                <a:rPr baseline="30000" i="0" lang="en-GB" sz="1200" u="none" cap="none" strike="noStrike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6</a:t>
              </a:r>
              <a:endParaRPr i="0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93" name="Google Shape;193;p20"/>
            <p:cNvSpPr txBox="1"/>
            <p:nvPr/>
          </p:nvSpPr>
          <p:spPr>
            <a:xfrm>
              <a:off x="627300" y="2954400"/>
              <a:ext cx="14583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-GB" sz="1200" u="none" cap="none" strike="noStrike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9.8 × 10</a:t>
              </a:r>
              <a:r>
                <a:rPr baseline="30000"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−</a:t>
              </a:r>
              <a:r>
                <a:rPr baseline="30000" i="0" lang="en-GB" sz="1200" u="none" cap="none" strike="noStrike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7</a:t>
              </a:r>
              <a:endParaRPr i="0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94" name="Google Shape;194;p20"/>
            <p:cNvSpPr txBox="1"/>
            <p:nvPr/>
          </p:nvSpPr>
          <p:spPr>
            <a:xfrm>
              <a:off x="2243881" y="2954400"/>
              <a:ext cx="16302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-GB" sz="1200" u="none" cap="none" strike="noStrike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4.9 × 10</a:t>
              </a:r>
              <a:r>
                <a:rPr baseline="30000"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−</a:t>
              </a:r>
              <a:r>
                <a:rPr baseline="30000" i="0" lang="en-GB" sz="1200" u="none" cap="none" strike="noStrike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6</a:t>
              </a:r>
              <a:endParaRPr i="0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195" name="Google Shape;195;p20"/>
          <p:cNvGrpSpPr/>
          <p:nvPr/>
        </p:nvGrpSpPr>
        <p:grpSpPr>
          <a:xfrm>
            <a:off x="713275" y="3980003"/>
            <a:ext cx="6299082" cy="184694"/>
            <a:chOff x="616975" y="3750900"/>
            <a:chExt cx="8106927" cy="237000"/>
          </a:xfrm>
        </p:grpSpPr>
        <p:sp>
          <p:nvSpPr>
            <p:cNvPr id="196" name="Google Shape;196;p20"/>
            <p:cNvSpPr txBox="1"/>
            <p:nvPr/>
          </p:nvSpPr>
          <p:spPr>
            <a:xfrm>
              <a:off x="4026189" y="3750900"/>
              <a:ext cx="14604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-GB" sz="1200" u="none" cap="none" strike="noStrike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9.89 × 10</a:t>
              </a:r>
              <a:r>
                <a:rPr baseline="30000"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−</a:t>
              </a:r>
              <a:r>
                <a:rPr baseline="30000" i="0" lang="en-GB" sz="1200" u="none" cap="none" strike="noStrike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2</a:t>
              </a:r>
              <a:endParaRPr i="0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97" name="Google Shape;197;p20"/>
            <p:cNvSpPr txBox="1"/>
            <p:nvPr/>
          </p:nvSpPr>
          <p:spPr>
            <a:xfrm>
              <a:off x="7263502" y="3750900"/>
              <a:ext cx="14604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-GB" sz="1200" u="none" cap="none" strike="noStrike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1.01 × 10</a:t>
              </a:r>
              <a:r>
                <a:rPr baseline="30000" i="0" lang="en-GB" sz="1200" u="none" cap="none" strike="noStrike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9</a:t>
              </a:r>
              <a:endParaRPr i="0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98" name="Google Shape;198;p20"/>
            <p:cNvSpPr txBox="1"/>
            <p:nvPr/>
          </p:nvSpPr>
          <p:spPr>
            <a:xfrm>
              <a:off x="5644845" y="3750900"/>
              <a:ext cx="14604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-GB" sz="1200" u="none" cap="none" strike="noStrike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1.001 × 10</a:t>
              </a:r>
              <a:r>
                <a:rPr baseline="30000" i="0" lang="en-GB" sz="1200" u="none" cap="none" strike="noStrike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9</a:t>
              </a:r>
              <a:endParaRPr i="0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99" name="Google Shape;199;p20"/>
            <p:cNvSpPr txBox="1"/>
            <p:nvPr/>
          </p:nvSpPr>
          <p:spPr>
            <a:xfrm>
              <a:off x="616975" y="3750900"/>
              <a:ext cx="14604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-GB" sz="1200" u="none" cap="none" strike="noStrike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1.5 × 10</a:t>
              </a:r>
              <a:r>
                <a:rPr baseline="30000"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−</a:t>
              </a:r>
              <a:r>
                <a:rPr baseline="30000" i="0" lang="en-GB" sz="1200" u="none" cap="none" strike="noStrike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4</a:t>
              </a:r>
              <a:endParaRPr i="0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00" name="Google Shape;200;p20"/>
            <p:cNvSpPr txBox="1"/>
            <p:nvPr/>
          </p:nvSpPr>
          <p:spPr>
            <a:xfrm>
              <a:off x="2235632" y="3750900"/>
              <a:ext cx="16323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-GB" sz="1200" u="none" cap="none" strike="noStrike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9.</a:t>
              </a: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7</a:t>
              </a:r>
              <a:r>
                <a:rPr i="0" lang="en-GB" sz="1200" u="none" cap="none" strike="noStrike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 × 10</a:t>
              </a:r>
              <a:r>
                <a:rPr baseline="30000"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−</a:t>
              </a:r>
              <a:r>
                <a:rPr baseline="30000" i="0" lang="en-GB" sz="1200" u="none" cap="none" strike="noStrike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2</a:t>
              </a:r>
              <a:endParaRPr i="0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201" name="Google Shape;201;p20"/>
          <p:cNvSpPr txBox="1"/>
          <p:nvPr/>
        </p:nvSpPr>
        <p:spPr>
          <a:xfrm>
            <a:off x="467357" y="1764600"/>
            <a:ext cx="192900" cy="20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2" name="Google Shape;202;p20"/>
          <p:cNvGrpSpPr/>
          <p:nvPr/>
        </p:nvGrpSpPr>
        <p:grpSpPr>
          <a:xfrm>
            <a:off x="713275" y="1793939"/>
            <a:ext cx="6188098" cy="184694"/>
            <a:chOff x="760511" y="878305"/>
            <a:chExt cx="8180986" cy="237000"/>
          </a:xfrm>
        </p:grpSpPr>
        <p:sp>
          <p:nvSpPr>
            <p:cNvPr id="203" name="Google Shape;203;p20"/>
            <p:cNvSpPr txBox="1"/>
            <p:nvPr/>
          </p:nvSpPr>
          <p:spPr>
            <a:xfrm>
              <a:off x="4022854" y="878305"/>
              <a:ext cx="14817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 × 10</a:t>
              </a:r>
              <a:r>
                <a:rPr b="0" baseline="3000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11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20"/>
            <p:cNvSpPr txBox="1"/>
            <p:nvPr/>
          </p:nvSpPr>
          <p:spPr>
            <a:xfrm>
              <a:off x="2391683" y="878305"/>
              <a:ext cx="14817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 × 10</a:t>
              </a:r>
              <a:r>
                <a:rPr b="0" baseline="3000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13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20"/>
            <p:cNvSpPr txBox="1"/>
            <p:nvPr/>
          </p:nvSpPr>
          <p:spPr>
            <a:xfrm>
              <a:off x="760511" y="878305"/>
              <a:ext cx="14817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3 × 10</a:t>
              </a:r>
              <a:r>
                <a:rPr b="0" baseline="3000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12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0"/>
            <p:cNvSpPr txBox="1"/>
            <p:nvPr/>
          </p:nvSpPr>
          <p:spPr>
            <a:xfrm>
              <a:off x="7459798" y="878305"/>
              <a:ext cx="14817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9 × 10</a:t>
              </a:r>
              <a:r>
                <a:rPr b="0" baseline="3000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20"/>
            <p:cNvSpPr txBox="1"/>
            <p:nvPr/>
          </p:nvSpPr>
          <p:spPr>
            <a:xfrm>
              <a:off x="5654026" y="878305"/>
              <a:ext cx="16563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 × 10</a:t>
              </a:r>
              <a:r>
                <a:rPr b="0" baseline="3000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8" name="Google Shape;208;p20"/>
          <p:cNvGrpSpPr/>
          <p:nvPr/>
        </p:nvGrpSpPr>
        <p:grpSpPr>
          <a:xfrm>
            <a:off x="713275" y="2389130"/>
            <a:ext cx="6155020" cy="184694"/>
            <a:chOff x="858100" y="2031600"/>
            <a:chExt cx="7921518" cy="237000"/>
          </a:xfrm>
        </p:grpSpPr>
        <p:sp>
          <p:nvSpPr>
            <p:cNvPr id="209" name="Google Shape;209;p20"/>
            <p:cNvSpPr txBox="1"/>
            <p:nvPr/>
          </p:nvSpPr>
          <p:spPr>
            <a:xfrm>
              <a:off x="2448235" y="2031600"/>
              <a:ext cx="13962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2.3 × 10</a:t>
              </a:r>
              <a:r>
                <a:rPr baseline="30000"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−</a:t>
              </a:r>
              <a:r>
                <a:rPr b="0" baseline="3000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0"/>
            <p:cNvSpPr txBox="1"/>
            <p:nvPr/>
          </p:nvSpPr>
          <p:spPr>
            <a:xfrm>
              <a:off x="858100" y="2031600"/>
              <a:ext cx="13962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2.3 × 10</a:t>
              </a:r>
              <a:r>
                <a:rPr b="0" baseline="3000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0"/>
            <p:cNvSpPr txBox="1"/>
            <p:nvPr/>
          </p:nvSpPr>
          <p:spPr>
            <a:xfrm>
              <a:off x="7383418" y="2031600"/>
              <a:ext cx="13962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2.3 × 10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0"/>
            <p:cNvSpPr txBox="1"/>
            <p:nvPr/>
          </p:nvSpPr>
          <p:spPr>
            <a:xfrm>
              <a:off x="4038370" y="2031600"/>
              <a:ext cx="13962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2.3 × 10</a:t>
              </a:r>
              <a:r>
                <a:rPr baseline="30000"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−</a:t>
              </a:r>
              <a:r>
                <a:rPr b="0" baseline="3000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0"/>
            <p:cNvSpPr txBox="1"/>
            <p:nvPr/>
          </p:nvSpPr>
          <p:spPr>
            <a:xfrm>
              <a:off x="5628505" y="2031600"/>
              <a:ext cx="15612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2.3 × 10</a:t>
              </a:r>
              <a:r>
                <a:rPr baseline="30000"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−</a:t>
              </a:r>
              <a:r>
                <a:rPr b="0" baseline="3000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4" name="Google Shape;214;p20"/>
          <p:cNvGrpSpPr/>
          <p:nvPr/>
        </p:nvGrpSpPr>
        <p:grpSpPr>
          <a:xfrm>
            <a:off x="713275" y="3039204"/>
            <a:ext cx="5974945" cy="184694"/>
            <a:chOff x="817725" y="2891250"/>
            <a:chExt cx="7689761" cy="237000"/>
          </a:xfrm>
        </p:grpSpPr>
        <p:sp>
          <p:nvSpPr>
            <p:cNvPr id="215" name="Google Shape;215;p20"/>
            <p:cNvSpPr txBox="1"/>
            <p:nvPr/>
          </p:nvSpPr>
          <p:spPr>
            <a:xfrm>
              <a:off x="5414821" y="2891250"/>
              <a:ext cx="13959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4.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9</a:t>
              </a: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9 × 10</a:t>
              </a:r>
              <a:r>
                <a:rPr baseline="30000"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−</a:t>
              </a:r>
              <a:r>
                <a:rPr b="0" baseline="3000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0"/>
            <p:cNvSpPr txBox="1"/>
            <p:nvPr/>
          </p:nvSpPr>
          <p:spPr>
            <a:xfrm>
              <a:off x="817725" y="2891250"/>
              <a:ext cx="13959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4.99 × 10</a:t>
              </a:r>
              <a:r>
                <a:rPr b="0" baseline="3000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0"/>
            <p:cNvSpPr txBox="1"/>
            <p:nvPr/>
          </p:nvSpPr>
          <p:spPr>
            <a:xfrm>
              <a:off x="2350091" y="2891250"/>
              <a:ext cx="13959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 × 10</a:t>
              </a:r>
              <a:r>
                <a:rPr b="0" baseline="3000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0"/>
            <p:cNvSpPr txBox="1"/>
            <p:nvPr/>
          </p:nvSpPr>
          <p:spPr>
            <a:xfrm>
              <a:off x="3882456" y="2891250"/>
              <a:ext cx="13959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9.8 × 10</a:t>
              </a:r>
              <a:r>
                <a:rPr baseline="30000"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−</a:t>
              </a:r>
              <a:r>
                <a:rPr b="0" baseline="3000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20"/>
            <p:cNvSpPr txBox="1"/>
            <p:nvPr/>
          </p:nvSpPr>
          <p:spPr>
            <a:xfrm>
              <a:off x="6947187" y="2891250"/>
              <a:ext cx="15603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4.9 × 10</a:t>
              </a:r>
              <a:r>
                <a:rPr baseline="30000"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−</a:t>
              </a:r>
              <a:r>
                <a:rPr b="0" baseline="3000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0" name="Google Shape;220;p20"/>
          <p:cNvGrpSpPr/>
          <p:nvPr/>
        </p:nvGrpSpPr>
        <p:grpSpPr>
          <a:xfrm>
            <a:off x="713275" y="3669233"/>
            <a:ext cx="6205187" cy="184694"/>
            <a:chOff x="856646" y="3716001"/>
            <a:chExt cx="7986083" cy="237000"/>
          </a:xfrm>
        </p:grpSpPr>
        <p:sp>
          <p:nvSpPr>
            <p:cNvPr id="221" name="Google Shape;221;p20"/>
            <p:cNvSpPr txBox="1"/>
            <p:nvPr/>
          </p:nvSpPr>
          <p:spPr>
            <a:xfrm>
              <a:off x="4196138" y="3716001"/>
              <a:ext cx="14817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9.89 × 10</a:t>
              </a:r>
              <a:r>
                <a:rPr baseline="30000"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−</a:t>
              </a:r>
              <a:r>
                <a:rPr b="0" baseline="3000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20"/>
            <p:cNvSpPr txBox="1"/>
            <p:nvPr/>
          </p:nvSpPr>
          <p:spPr>
            <a:xfrm>
              <a:off x="7361030" y="3716001"/>
              <a:ext cx="14817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1.01 × 10</a:t>
              </a:r>
              <a:r>
                <a:rPr b="0" baseline="3000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20"/>
            <p:cNvSpPr txBox="1"/>
            <p:nvPr/>
          </p:nvSpPr>
          <p:spPr>
            <a:xfrm>
              <a:off x="2613692" y="3716001"/>
              <a:ext cx="14817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1.001 × 10</a:t>
              </a:r>
              <a:r>
                <a:rPr b="0" baseline="3000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20"/>
            <p:cNvSpPr txBox="1"/>
            <p:nvPr/>
          </p:nvSpPr>
          <p:spPr>
            <a:xfrm>
              <a:off x="5778584" y="3716001"/>
              <a:ext cx="14817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1.5 × 10</a:t>
              </a:r>
              <a:r>
                <a:rPr baseline="30000"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−</a:t>
              </a:r>
              <a:r>
                <a:rPr b="0" baseline="3000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20"/>
            <p:cNvSpPr txBox="1"/>
            <p:nvPr/>
          </p:nvSpPr>
          <p:spPr>
            <a:xfrm>
              <a:off x="856646" y="3716001"/>
              <a:ext cx="1656300" cy="237000"/>
            </a:xfrm>
            <a:prstGeom prst="rect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9.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7</a:t>
              </a: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× 10</a:t>
              </a:r>
              <a:r>
                <a:rPr baseline="30000"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−</a:t>
              </a:r>
              <a:r>
                <a:rPr b="0" baseline="3000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6" name="Google Shape;226;p20"/>
          <p:cNvSpPr txBox="1"/>
          <p:nvPr/>
        </p:nvSpPr>
        <p:spPr>
          <a:xfrm>
            <a:off x="476400" y="4416900"/>
            <a:ext cx="6624000" cy="7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Put the following in ascending order in the format they are given.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3417760" y="4692525"/>
            <a:ext cx="1076400" cy="1848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5756421" y="4692525"/>
            <a:ext cx="1076400" cy="1848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90 000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952499" y="4692525"/>
            <a:ext cx="1076400" cy="1848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× 10</a:t>
            </a:r>
            <a:r>
              <a:rPr b="0" baseline="3000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4587090" y="4692525"/>
            <a:ext cx="1076400" cy="1848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8.2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="0" baseline="3000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2121830" y="4692525"/>
            <a:ext cx="1203000" cy="1848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0.0089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3417760" y="4993831"/>
            <a:ext cx="1076400" cy="1848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GB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baseline="30000" i="0" lang="en-GB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endParaRPr i="0" sz="120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5756421" y="4993831"/>
            <a:ext cx="1076400" cy="1848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GB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 × 10</a:t>
            </a:r>
            <a:r>
              <a:rPr baseline="30000" i="0" lang="en-GB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i="0" sz="120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4" name="Google Shape;234;p20"/>
          <p:cNvSpPr txBox="1"/>
          <p:nvPr/>
        </p:nvSpPr>
        <p:spPr>
          <a:xfrm>
            <a:off x="952499" y="4993831"/>
            <a:ext cx="1076400" cy="1848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GB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 × 10</a:t>
            </a:r>
            <a:r>
              <a:rPr baseline="30000" i="0" lang="en-GB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i="0" sz="120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4587090" y="4993831"/>
            <a:ext cx="1076400" cy="1848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GB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8.2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baseline="30000" i="0" lang="en-GB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i="0" sz="120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2121830" y="4993831"/>
            <a:ext cx="1203000" cy="1848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GB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8.9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baseline="30000" i="0" lang="en-GB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i="0" sz="120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496775" y="4672300"/>
            <a:ext cx="239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952499" y="5295138"/>
            <a:ext cx="1076400" cy="1848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GB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8.2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baseline="30000" i="0" lang="en-GB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i="0" sz="120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3417760" y="5295150"/>
            <a:ext cx="1076400" cy="1848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GB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0.1</a:t>
            </a:r>
            <a:endParaRPr i="0" sz="120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2121830" y="5295150"/>
            <a:ext cx="1203000" cy="1848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GB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0.0089</a:t>
            </a:r>
            <a:endParaRPr i="0" sz="120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4587090" y="5295138"/>
            <a:ext cx="1076400" cy="1848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0" lang="en-GB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 × 10</a:t>
            </a:r>
            <a:r>
              <a:rPr baseline="30000" i="0" lang="en-GB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i="0" sz="120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5756421" y="5295150"/>
            <a:ext cx="1076400" cy="1848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GB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90 000 </a:t>
            </a:r>
            <a:endParaRPr i="0" sz="120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3" name="Google Shape;243;p20"/>
          <p:cNvSpPr txBox="1"/>
          <p:nvPr/>
        </p:nvSpPr>
        <p:spPr>
          <a:xfrm>
            <a:off x="3426503" y="5714100"/>
            <a:ext cx="1052400" cy="1848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0.0002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948691" y="5714100"/>
            <a:ext cx="1052400" cy="1848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21 000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0"/>
          <p:cNvSpPr txBox="1"/>
          <p:nvPr/>
        </p:nvSpPr>
        <p:spPr>
          <a:xfrm>
            <a:off x="4603460" y="5714100"/>
            <a:ext cx="1052400" cy="1848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2.01 × 10</a:t>
            </a:r>
            <a:r>
              <a:rPr b="0" baseline="3000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0"/>
          <p:cNvSpPr txBox="1"/>
          <p:nvPr/>
        </p:nvSpPr>
        <p:spPr>
          <a:xfrm>
            <a:off x="5780416" y="5714100"/>
            <a:ext cx="1052400" cy="1848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0.000 078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0"/>
          <p:cNvSpPr txBox="1"/>
          <p:nvPr/>
        </p:nvSpPr>
        <p:spPr>
          <a:xfrm>
            <a:off x="2125647" y="5714100"/>
            <a:ext cx="1176300" cy="1848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0.000 087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0"/>
          <p:cNvSpPr txBox="1"/>
          <p:nvPr/>
        </p:nvSpPr>
        <p:spPr>
          <a:xfrm>
            <a:off x="3426503" y="6021650"/>
            <a:ext cx="1052400" cy="1848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GB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baseline="30000" i="0" lang="en-GB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i="0" sz="120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9" name="Google Shape;249;p20"/>
          <p:cNvSpPr txBox="1"/>
          <p:nvPr/>
        </p:nvSpPr>
        <p:spPr>
          <a:xfrm>
            <a:off x="948691" y="6021650"/>
            <a:ext cx="1052400" cy="1848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GB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2.1 × 10</a:t>
            </a:r>
            <a:r>
              <a:rPr baseline="30000" i="0" lang="en-GB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i="0" sz="120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4603460" y="6021650"/>
            <a:ext cx="1052400" cy="1848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GB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2.01 × 10</a:t>
            </a:r>
            <a:r>
              <a:rPr baseline="30000" i="0" lang="en-GB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i="0" sz="120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5780416" y="6021650"/>
            <a:ext cx="1052400" cy="1848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GB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7.8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baseline="30000" i="0" lang="en-GB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i="0" sz="120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>
            <a:off x="2125647" y="6021650"/>
            <a:ext cx="1176300" cy="1848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GB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8.7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baseline="30000" i="0" lang="en-GB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i="0" sz="120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3" name="Google Shape;253;p20"/>
          <p:cNvSpPr txBox="1"/>
          <p:nvPr/>
        </p:nvSpPr>
        <p:spPr>
          <a:xfrm>
            <a:off x="496781" y="5688300"/>
            <a:ext cx="239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948691" y="6329200"/>
            <a:ext cx="1052400" cy="1848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GB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0.000 078</a:t>
            </a:r>
            <a:endParaRPr i="0" sz="120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3426503" y="6329188"/>
            <a:ext cx="1052400" cy="1848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GB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0.0002</a:t>
            </a:r>
            <a:endParaRPr i="0" sz="120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6" name="Google Shape;256;p20"/>
          <p:cNvSpPr txBox="1"/>
          <p:nvPr/>
        </p:nvSpPr>
        <p:spPr>
          <a:xfrm>
            <a:off x="4603460" y="6329188"/>
            <a:ext cx="1052400" cy="1848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0" lang="en-GB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2.01 × 10</a:t>
            </a:r>
            <a:r>
              <a:rPr baseline="30000" i="0" lang="en-GB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i="0" sz="120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2125647" y="6329188"/>
            <a:ext cx="1176300" cy="1848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GB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0.000 087</a:t>
            </a:r>
            <a:endParaRPr i="0" sz="120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5780416" y="6329200"/>
            <a:ext cx="1052400" cy="1848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GB" sz="12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21 000 </a:t>
            </a:r>
            <a:endParaRPr i="0" sz="120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59" name="Google Shape;25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7925" y="6674925"/>
            <a:ext cx="3081298" cy="119587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0"/>
          <p:cNvSpPr txBox="1"/>
          <p:nvPr/>
        </p:nvSpPr>
        <p:spPr>
          <a:xfrm>
            <a:off x="1708428" y="6741900"/>
            <a:ext cx="2801100" cy="11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Lexend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have put the following in ascending order by ordering the exponents first and where the exponents are the same, I have ordered the number. </a:t>
            </a:r>
            <a:endParaRPr sz="1200"/>
          </a:p>
        </p:txBody>
      </p:sp>
      <p:sp>
        <p:nvSpPr>
          <p:cNvPr id="261" name="Google Shape;261;p20"/>
          <p:cNvSpPr txBox="1"/>
          <p:nvPr/>
        </p:nvSpPr>
        <p:spPr>
          <a:xfrm>
            <a:off x="3928174" y="8417100"/>
            <a:ext cx="1328100" cy="2772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6.2 × 10</a:t>
            </a:r>
            <a:r>
              <a:rPr b="0" baseline="3000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0"/>
          <p:cNvSpPr txBox="1"/>
          <p:nvPr/>
        </p:nvSpPr>
        <p:spPr>
          <a:xfrm>
            <a:off x="5424950" y="8417100"/>
            <a:ext cx="1328100" cy="2772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0.618 × 10</a:t>
            </a:r>
            <a:r>
              <a:rPr b="0" baseline="3000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0"/>
          <p:cNvSpPr txBox="1"/>
          <p:nvPr/>
        </p:nvSpPr>
        <p:spPr>
          <a:xfrm>
            <a:off x="778150" y="8417100"/>
            <a:ext cx="1328100" cy="2772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0.6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="0" baseline="3000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2274926" y="8417100"/>
            <a:ext cx="1484700" cy="2772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× 10</a:t>
            </a:r>
            <a:r>
              <a:rPr b="0" baseline="3000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5" name="Google Shape;26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576" y="7060776"/>
            <a:ext cx="607725" cy="795948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0"/>
          <p:cNvSpPr txBox="1"/>
          <p:nvPr/>
        </p:nvSpPr>
        <p:spPr>
          <a:xfrm>
            <a:off x="477900" y="78056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0"/>
          <p:cNvSpPr txBox="1"/>
          <p:nvPr/>
        </p:nvSpPr>
        <p:spPr>
          <a:xfrm>
            <a:off x="513600" y="8864100"/>
            <a:ext cx="66105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To order according to the exponents and then the A number, all the numbers must be correctly written in standard form. Some of these numbers are not in standard form.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38\ \times0.01\ \ \ \ \ \ \ 4.8\ \times10^{-2}\ \ \ \ \ &quot;&gt;&lt;mn&gt;38&lt;/mn&gt;&lt;mtext&gt;&lt;/mtext&gt;&lt;mo&gt;×&lt;/mo&gt;&lt;mn&gt;0.01&lt;/mn&gt;&lt;mtext&gt;&lt;/mtext&gt;&lt;mtext&gt;&lt;/mtext&gt;&lt;mtext&gt;&lt;/mtext&gt;&lt;mtext&gt;&lt;/mtext&gt;&lt;mtext&gt;&lt;/mtext&gt;&lt;mtext&gt;&lt;/mtext&gt;&lt;mtext&gt;&lt;/mtext&gt;&lt;mn&gt;4.8&lt;/mn&gt;&lt;mtext&gt;&lt;/mtext&gt;&lt;mo&gt;×&lt;/mo&gt;&lt;msup&gt;&lt;mn&gt;10&lt;/mn&gt;&lt;mrow data-mjx-texclass=&quot;ORD&quot;&gt;&lt;mo&gt;−&lt;/mo&gt;&lt;mn&gt;2&lt;/mn&gt;&lt;/mrow&gt;&lt;/msup&gt;&lt;mtext&gt;&lt;/mtext&gt;&lt;mtext&gt;&lt;/mtext&gt;&lt;mtext&gt;&lt;/mtext&gt;&lt;mtext&gt;&lt;/mtext&gt;&lt;mtext&gt;&lt;/mtext&gt;&lt;/math&gt;" id="272" name="Google Shape;272;p21" title="38 times 0.01 4.8 times 10 to the negative 2 power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075" y="1303450"/>
            <a:ext cx="2114614" cy="1951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39\ \times\frac{1}{10^2}\ \ \ \ \ \ \ \ \ 4820\ \times\frac{1}{10^4}\ \ \ &quot;&gt;&lt;mn&gt;139&lt;/mn&gt;&lt;mtext&gt;&lt;/mtext&gt;&lt;mo&gt;×&lt;/mo&gt;&lt;mfrac&gt;&lt;mn&gt;1&lt;/mn&gt;&lt;msup&gt;&lt;mn&gt;10&lt;/mn&gt;&lt;mn&gt;2&lt;/mn&gt;&lt;/msup&gt;&lt;/mfrac&gt;&lt;mtext&gt;&lt;/mtext&gt;&lt;mtext&gt;&lt;/mtext&gt;&lt;mtext&gt;&lt;/mtext&gt;&lt;mtext&gt;&lt;/mtext&gt;&lt;mtext&gt;&lt;/mtext&gt;&lt;mtext&gt;&lt;/mtext&gt;&lt;mtext&gt;&lt;/mtext&gt;&lt;mtext&gt;&lt;/mtext&gt;&lt;mtext&gt;&lt;/mtext&gt;&lt;mn&gt;4820&lt;/mn&gt;&lt;mtext&gt;&lt;/mtext&gt;&lt;mo&gt;×&lt;/mo&gt;&lt;mfrac&gt;&lt;mn&gt;1&lt;/mn&gt;&lt;msup&gt;&lt;mn&gt;10&lt;/mn&gt;&lt;mn&gt;4&lt;/mn&gt;&lt;/msup&gt;&lt;/mfrac&gt;&lt;mtext&gt;&lt;/mtext&gt;&lt;mtext&gt;&lt;/mtext&gt;&lt;mtext&gt;&lt;/mtext&gt;&lt;/math&gt;" id="273" name="Google Shape;273;p21" title="139 times the fraction with numerator 1 and denominator 10 squared 4820 times the fraction with numerator 1 and denominator 10 to the fourth power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6075" y="2104002"/>
            <a:ext cx="1975407" cy="382832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5" name="Google Shape;275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numbers in standard form</a:t>
            </a:r>
            <a:endParaRPr/>
          </a:p>
        </p:txBody>
      </p:sp>
      <p:sp>
        <p:nvSpPr>
          <p:cNvPr id="276" name="Google Shape;276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Mathematics in Education and Industry</a:t>
            </a:r>
            <a:endParaRPr/>
          </a:p>
        </p:txBody>
      </p:sp>
      <p:sp>
        <p:nvSpPr>
          <p:cNvPr id="278" name="Google Shape;278;p21"/>
          <p:cNvSpPr txBox="1"/>
          <p:nvPr/>
        </p:nvSpPr>
        <p:spPr>
          <a:xfrm>
            <a:off x="457400" y="612208"/>
            <a:ext cx="6181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Ordering numbers using standard form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descr="&lt;math xmlns=&quot;http://www.w3.org/1998/Math/MathML&quot; display=&quot;block&quot; data-is-equatio=&quot;1&quot; data-latex=&quot;1600\ \times\frac{1}{10^2}\ \ \ \ \ \ \ \ \ 160\ 000\ \times\frac{1}{10^{-4}}\ \ \ &quot;&gt;&lt;mn&gt;1600&lt;/mn&gt;&lt;mtext&gt;&lt;/mtext&gt;&lt;mo&gt;×&lt;/mo&gt;&lt;mfrac&gt;&lt;mn&gt;1&lt;/mn&gt;&lt;msup&gt;&lt;mn&gt;10&lt;/mn&gt;&lt;mn&gt;2&lt;/mn&gt;&lt;/msup&gt;&lt;/mfrac&gt;&lt;mtext&gt;&lt;/mtext&gt;&lt;mtext&gt;&lt;/mtext&gt;&lt;mtext&gt;&lt;/mtext&gt;&lt;mtext&gt;&lt;/mtext&gt;&lt;mtext&gt;&lt;/mtext&gt;&lt;mtext&gt;&lt;/mtext&gt;&lt;mtext&gt;&lt;/mtext&gt;&lt;mtext&gt;&lt;/mtext&gt;&lt;mtext&gt;&lt;/mtext&gt;&lt;mn&gt;160&lt;/mn&gt;&lt;mtext&gt;&lt;/mtext&gt;&lt;mn&gt;000&lt;/mn&gt;&lt;mtext&gt;&lt;/mtext&gt;&lt;mo&gt;×&lt;/mo&gt;&lt;mfrac&gt;&lt;mn&gt;1&lt;/mn&gt;&lt;msup&gt;&lt;mn&gt;10&lt;/mn&gt;&lt;mrow data-mjx-texclass=&quot;ORD&quot;&gt;&lt;mo&gt;−&lt;/mo&gt;&lt;mn&gt;4&lt;/mn&gt;&lt;/mrow&gt;&lt;/msup&gt;&lt;/mfrac&gt;&lt;mtext&gt;&lt;/mtext&gt;&lt;mtext&gt;&lt;/mtext&gt;&lt;mtext&gt;&lt;/mtext&gt;&lt;/math&gt;" id="279" name="Google Shape;279;p21" title="1600 times the fraction with numerator 1 and denominator 10 squared 160 000 times the fraction with numerator 1 and denominator 10 to the negative 4 power"/>
          <p:cNvSpPr txBox="1"/>
          <p:nvPr/>
        </p:nvSpPr>
        <p:spPr>
          <a:xfrm>
            <a:off x="400200" y="835500"/>
            <a:ext cx="66918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Using inequalities, &lt;, &gt; or =, compare the sizes if each number,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making sure to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show your working out.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78\ 000\times0.001\ \ \ \ \ \ \ 99\ \times10^2\ \ \ \ \ &quot;&gt;&lt;mn&gt;78&lt;/mn&gt;&lt;mtext&gt;&lt;/mtext&gt;&lt;mn&gt;000&lt;/mn&gt;&lt;mo&gt;×&lt;/mo&gt;&lt;mn&gt;0.001&lt;/mn&gt;&lt;mtext&gt;&lt;/mtext&gt;&lt;mtext&gt;&lt;/mtext&gt;&lt;mtext&gt;&lt;/mtext&gt;&lt;mtext&gt;&lt;/mtext&gt;&lt;mtext&gt;&lt;/mtext&gt;&lt;mtext&gt;&lt;/mtext&gt;&lt;mtext&gt;&lt;/mtext&gt;&lt;mn&gt;99&lt;/mn&gt;&lt;mtext&gt;&lt;/mtext&gt;&lt;mo&gt;×&lt;/mo&gt;&lt;msup&gt;&lt;mn&gt;10&lt;/mn&gt;&lt;mn&gt;2&lt;/mn&gt;&lt;/msup&gt;&lt;mtext&gt;&lt;/mtext&gt;&lt;mtext&gt;&lt;/mtext&gt;&lt;mtext&gt;&lt;/mtext&gt;&lt;mtext&gt;&lt;/mtext&gt;&lt;mtext&gt;&lt;/mtext&gt;&lt;/math&gt;" id="280" name="Google Shape;280;p21" title="78 000 times 0.001 99 times 10 square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075" y="1747956"/>
            <a:ext cx="2081341" cy="170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1"/>
          <p:cNvPicPr preferRelativeResize="0"/>
          <p:nvPr/>
        </p:nvPicPr>
        <p:blipFill rotWithShape="1">
          <a:blip r:embed="rId6">
            <a:alphaModFix/>
          </a:blip>
          <a:srcRect b="0" l="0" r="48464" t="0"/>
          <a:stretch/>
        </p:blipFill>
        <p:spPr>
          <a:xfrm>
            <a:off x="736075" y="2520192"/>
            <a:ext cx="1210053" cy="38283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1"/>
          <p:cNvSpPr txBox="1"/>
          <p:nvPr/>
        </p:nvSpPr>
        <p:spPr>
          <a:xfrm>
            <a:off x="1639400" y="1319475"/>
            <a:ext cx="1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&gt;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3435550" y="1348075"/>
            <a:ext cx="1857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3.8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−1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&gt;  4.8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−2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3435550" y="1767817"/>
            <a:ext cx="1857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7.8 × 10 &lt;  9.9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baseline="30000"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1870723" y="1736075"/>
            <a:ext cx="1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&lt;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3435550" y="2187558"/>
            <a:ext cx="1857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1.39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&gt;  4.82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-1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1564899" y="2189100"/>
            <a:ext cx="1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&gt;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3435550" y="2607300"/>
            <a:ext cx="1857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1.6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1.6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1644156" y="2591325"/>
            <a:ext cx="1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1600\ \times\frac{1}{10^2}\ \ \ \ \ \ \ \ \ 160\ 000\ \times\frac{1}{10^4}\ \ \ &quot;&gt;&lt;mn&gt;1600&lt;/mn&gt;&lt;mtext&gt;&lt;/mtext&gt;&lt;mo&gt;×&lt;/mo&gt;&lt;mfrac&gt;&lt;mn&gt;1&lt;/mn&gt;&lt;msup&gt;&lt;mn&gt;10&lt;/mn&gt;&lt;mn&gt;2&lt;/mn&gt;&lt;/msup&gt;&lt;/mfrac&gt;&lt;mtext&gt;&lt;/mtext&gt;&lt;mtext&gt;&lt;/mtext&gt;&lt;mtext&gt;&lt;/mtext&gt;&lt;mtext&gt;&lt;/mtext&gt;&lt;mtext&gt;&lt;/mtext&gt;&lt;mtext&gt;&lt;/mtext&gt;&lt;mtext&gt;&lt;/mtext&gt;&lt;mtext&gt;&lt;/mtext&gt;&lt;mtext&gt;&lt;/mtext&gt;&lt;mn&gt;160&lt;/mn&gt;&lt;mtext&gt;&lt;/mtext&gt;&lt;mn&gt;000&lt;/mn&gt;&lt;mtext&gt;&lt;/mtext&gt;&lt;mo&gt;×&lt;/mo&gt;&lt;mfrac&gt;&lt;mn&gt;1&lt;/mn&gt;&lt;msup&gt;&lt;mn&gt;10&lt;/mn&gt;&lt;mn&gt;4&lt;/mn&gt;&lt;/msup&gt;&lt;/mfrac&gt;&lt;mtext&gt;&lt;/mtext&gt;&lt;mtext&gt;&lt;/mtext&gt;&lt;mtext&gt;&lt;/mtext&gt;&lt;/math&gt;" id="290" name="Google Shape;290;p21" title="1600 times the fraction with numerator 1 and denominator 10 squared 160 000 times the fraction with numerator 1 and denominator 10 to the fourth power"/>
          <p:cNvPicPr preferRelativeResize="0"/>
          <p:nvPr/>
        </p:nvPicPr>
        <p:blipFill rotWithShape="1">
          <a:blip r:embed="rId7">
            <a:alphaModFix/>
          </a:blip>
          <a:srcRect b="0" l="51781" r="0" t="0"/>
          <a:stretch/>
        </p:blipFill>
        <p:spPr>
          <a:xfrm>
            <a:off x="1908278" y="2520192"/>
            <a:ext cx="1092797" cy="382832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1"/>
          <p:cNvSpPr txBox="1"/>
          <p:nvPr/>
        </p:nvSpPr>
        <p:spPr>
          <a:xfrm>
            <a:off x="476400" y="3273900"/>
            <a:ext cx="66006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By working out the number, write in standard form and order the original form given in the question.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1"/>
          <p:cNvSpPr txBox="1"/>
          <p:nvPr/>
        </p:nvSpPr>
        <p:spPr>
          <a:xfrm>
            <a:off x="476400" y="3719250"/>
            <a:ext cx="239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1544325" y="4228650"/>
            <a:ext cx="762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3.8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−3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2841135" y="4228650"/>
            <a:ext cx="762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7.9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−1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4137946" y="4228650"/>
            <a:ext cx="762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7.8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−2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5282356" y="4228650"/>
            <a:ext cx="762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3.8\ \times0.001\ \ \ \ \ \ \ 7900\ \times10^{-4}\ \ \ \ \ \ \ 7.8\ \times\frac{1}{10^2}\ \ \ \ \ \ \ \ \ 800\ \times\frac{1}{10^{-2}}&quot;&gt;&lt;mn&gt;3.8&lt;/mn&gt;&lt;mtext&gt;&lt;/mtext&gt;&lt;mo&gt;×&lt;/mo&gt;&lt;mn&gt;0.001&lt;/mn&gt;&lt;mtext&gt;&lt;/mtext&gt;&lt;mtext&gt;&lt;/mtext&gt;&lt;mtext&gt;&lt;/mtext&gt;&lt;mtext&gt;&lt;/mtext&gt;&lt;mtext&gt;&lt;/mtext&gt;&lt;mtext&gt;&lt;/mtext&gt;&lt;mtext&gt;&lt;/mtext&gt;&lt;mn&gt;7900&lt;/mn&gt;&lt;mtext&gt;&lt;/mtext&gt;&lt;mo&gt;×&lt;/mo&gt;&lt;msup&gt;&lt;mn&gt;10&lt;/mn&gt;&lt;mrow data-mjx-texclass=&quot;ORD&quot;&gt;&lt;mo&gt;−&lt;/mo&gt;&lt;mn&gt;4&lt;/mn&gt;&lt;/mrow&gt;&lt;/msup&gt;&lt;mtext&gt;&lt;/mtext&gt;&lt;mtext&gt;&lt;/mtext&gt;&lt;mtext&gt;&lt;/mtext&gt;&lt;mtext&gt;&lt;/mtext&gt;&lt;mtext&gt;&lt;/mtext&gt;&lt;mtext&gt;&lt;/mtext&gt;&lt;mtext&gt;&lt;/mtext&gt;&lt;mn&gt;7.8&lt;/mn&gt;&lt;mtext&gt;&lt;/mtext&gt;&lt;mo&gt;×&lt;/mo&gt;&lt;mfrac&gt;&lt;mn&gt;1&lt;/mn&gt;&lt;msup&gt;&lt;mn&gt;10&lt;/mn&gt;&lt;mn&gt;2&lt;/mn&gt;&lt;/msup&gt;&lt;/mfrac&gt;&lt;mtext&gt;&lt;/mtext&gt;&lt;mtext&gt;&lt;/mtext&gt;&lt;mtext&gt;&lt;/mtext&gt;&lt;mtext&gt;&lt;/mtext&gt;&lt;mtext&gt;&lt;/mtext&gt;&lt;mtext&gt;&lt;/mtext&gt;&lt;mtext&gt;&lt;/mtext&gt;&lt;mtext&gt;&lt;/mtext&gt;&lt;mtext&gt;&lt;/mtext&gt;&lt;mn&gt;800&lt;/mn&gt;&lt;mtext&gt;&lt;/mtext&gt;&lt;mo&gt;×&lt;/mo&gt;&lt;mfrac&gt;&lt;mn&gt;1&lt;/mn&gt;&lt;msup&gt;&lt;mn&gt;10&lt;/mn&gt;&lt;mrow data-mjx-texclass=&quot;ORD&quot;&gt;&lt;mo&gt;−&lt;/mo&gt;&lt;mn&gt;2&lt;/mn&gt;&lt;/mrow&gt;&lt;/msup&gt;&lt;/mfrac&gt;&lt;/math&gt;" id="297" name="Google Shape;297;p21" title="3.8 times 0.001 7900 times 10 to the negative 4 power 7.8 times the fraction with numerator 1 and denominator 10 squared 800 times the fraction with numerator 1 and denominator 10 to the negative 2 power"/>
          <p:cNvPicPr preferRelativeResize="0"/>
          <p:nvPr/>
        </p:nvPicPr>
        <p:blipFill rotWithShape="1">
          <a:blip r:embed="rId8">
            <a:alphaModFix/>
          </a:blip>
          <a:srcRect b="0" l="0" r="79353" t="0"/>
          <a:stretch/>
        </p:blipFill>
        <p:spPr>
          <a:xfrm>
            <a:off x="1629475" y="4526448"/>
            <a:ext cx="872142" cy="382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.8\ \times0.001\ \ \ \ \ \ \ 7900\ \times10^{-4}\ \ \ \ \ \ \ 7.8\ \times\frac{1}{10^2}\ \ \ \ \ \ \ \ \ 800\ \times\frac{1}{10^{-2}}&quot;&gt;&lt;mn&gt;3.8&lt;/mn&gt;&lt;mtext&gt;&lt;/mtext&gt;&lt;mo&gt;×&lt;/mo&gt;&lt;mn&gt;0.001&lt;/mn&gt;&lt;mtext&gt;&lt;/mtext&gt;&lt;mtext&gt;&lt;/mtext&gt;&lt;mtext&gt;&lt;/mtext&gt;&lt;mtext&gt;&lt;/mtext&gt;&lt;mtext&gt;&lt;/mtext&gt;&lt;mtext&gt;&lt;/mtext&gt;&lt;mtext&gt;&lt;/mtext&gt;&lt;mn&gt;7900&lt;/mn&gt;&lt;mtext&gt;&lt;/mtext&gt;&lt;mo&gt;×&lt;/mo&gt;&lt;msup&gt;&lt;mn&gt;10&lt;/mn&gt;&lt;mrow data-mjx-texclass=&quot;ORD&quot;&gt;&lt;mo&gt;−&lt;/mo&gt;&lt;mn&gt;4&lt;/mn&gt;&lt;/mrow&gt;&lt;/msup&gt;&lt;mtext&gt;&lt;/mtext&gt;&lt;mtext&gt;&lt;/mtext&gt;&lt;mtext&gt;&lt;/mtext&gt;&lt;mtext&gt;&lt;/mtext&gt;&lt;mtext&gt;&lt;/mtext&gt;&lt;mtext&gt;&lt;/mtext&gt;&lt;mtext&gt;&lt;/mtext&gt;&lt;mn&gt;7.8&lt;/mn&gt;&lt;mtext&gt;&lt;/mtext&gt;&lt;mo&gt;×&lt;/mo&gt;&lt;mfrac&gt;&lt;mn&gt;1&lt;/mn&gt;&lt;msup&gt;&lt;mn&gt;10&lt;/mn&gt;&lt;mn&gt;2&lt;/mn&gt;&lt;/msup&gt;&lt;/mfrac&gt;&lt;mtext&gt;&lt;/mtext&gt;&lt;mtext&gt;&lt;/mtext&gt;&lt;mtext&gt;&lt;/mtext&gt;&lt;mtext&gt;&lt;/mtext&gt;&lt;mtext&gt;&lt;/mtext&gt;&lt;mtext&gt;&lt;/mtext&gt;&lt;mtext&gt;&lt;/mtext&gt;&lt;mtext&gt;&lt;/mtext&gt;&lt;mtext&gt;&lt;/mtext&gt;&lt;mn&gt;800&lt;/mn&gt;&lt;mtext&gt;&lt;/mtext&gt;&lt;mo&gt;×&lt;/mo&gt;&lt;mfrac&gt;&lt;mn&gt;1&lt;/mn&gt;&lt;msup&gt;&lt;mn&gt;10&lt;/mn&gt;&lt;mrow data-mjx-texclass=&quot;ORD&quot;&gt;&lt;mo&gt;−&lt;/mo&gt;&lt;mn&gt;2&lt;/mn&gt;&lt;/mrow&gt;&lt;/msup&gt;&lt;/mfrac&gt;&lt;/math&gt;" id="298" name="Google Shape;298;p21" title="3.8 times 0.001 7900 times 10 to the negative 4 power 7.8 times the fraction with numerator 1 and denominator 10 squared 800 times the fraction with numerator 1 and denominator 10 to the negative 2 power"/>
          <p:cNvPicPr preferRelativeResize="0"/>
          <p:nvPr/>
        </p:nvPicPr>
        <p:blipFill rotWithShape="1">
          <a:blip r:embed="rId8">
            <a:alphaModFix/>
          </a:blip>
          <a:srcRect b="0" l="52347" r="24073" t="0"/>
          <a:stretch/>
        </p:blipFill>
        <p:spPr>
          <a:xfrm>
            <a:off x="2653810" y="4519799"/>
            <a:ext cx="997698" cy="383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.8\ \times0.001\ \ \ \ \ \ \ 7900\ \times10^{-4}\ \ \ \ \ \ \ 7.8\ \times\frac{1}{10^2}\ \ \ \ \ \ \ \ \ 800\ \times\frac{1}{10^{-2}}&quot;&gt;&lt;mn&gt;3.8&lt;/mn&gt;&lt;mtext&gt;&lt;/mtext&gt;&lt;mo&gt;×&lt;/mo&gt;&lt;mn&gt;0.001&lt;/mn&gt;&lt;mtext&gt;&lt;/mtext&gt;&lt;mtext&gt;&lt;/mtext&gt;&lt;mtext&gt;&lt;/mtext&gt;&lt;mtext&gt;&lt;/mtext&gt;&lt;mtext&gt;&lt;/mtext&gt;&lt;mtext&gt;&lt;/mtext&gt;&lt;mtext&gt;&lt;/mtext&gt;&lt;mn&gt;7900&lt;/mn&gt;&lt;mtext&gt;&lt;/mtext&gt;&lt;mo&gt;×&lt;/mo&gt;&lt;msup&gt;&lt;mn&gt;10&lt;/mn&gt;&lt;mrow data-mjx-texclass=&quot;ORD&quot;&gt;&lt;mo&gt;−&lt;/mo&gt;&lt;mn&gt;4&lt;/mn&gt;&lt;/mrow&gt;&lt;/msup&gt;&lt;mtext&gt;&lt;/mtext&gt;&lt;mtext&gt;&lt;/mtext&gt;&lt;mtext&gt;&lt;/mtext&gt;&lt;mtext&gt;&lt;/mtext&gt;&lt;mtext&gt;&lt;/mtext&gt;&lt;mtext&gt;&lt;/mtext&gt;&lt;mtext&gt;&lt;/mtext&gt;&lt;mn&gt;7.8&lt;/mn&gt;&lt;mtext&gt;&lt;/mtext&gt;&lt;mo&gt;×&lt;/mo&gt;&lt;mfrac&gt;&lt;mn&gt;1&lt;/mn&gt;&lt;msup&gt;&lt;mn&gt;10&lt;/mn&gt;&lt;mn&gt;2&lt;/mn&gt;&lt;/msup&gt;&lt;/mfrac&gt;&lt;mtext&gt;&lt;/mtext&gt;&lt;mtext&gt;&lt;/mtext&gt;&lt;mtext&gt;&lt;/mtext&gt;&lt;mtext&gt;&lt;/mtext&gt;&lt;mtext&gt;&lt;/mtext&gt;&lt;mtext&gt;&lt;/mtext&gt;&lt;mtext&gt;&lt;/mtext&gt;&lt;mtext&gt;&lt;/mtext&gt;&lt;mtext&gt;&lt;/mtext&gt;&lt;mn&gt;800&lt;/mn&gt;&lt;mtext&gt;&lt;/mtext&gt;&lt;mo&gt;×&lt;/mo&gt;&lt;mfrac&gt;&lt;mn&gt;1&lt;/mn&gt;&lt;msup&gt;&lt;mn&gt;10&lt;/mn&gt;&lt;mrow data-mjx-texclass=&quot;ORD&quot;&gt;&lt;mo&gt;−&lt;/mo&gt;&lt;mn&gt;2&lt;/mn&gt;&lt;/mrow&gt;&lt;/msup&gt;&lt;/mfrac&gt;&lt;/math&gt;" id="299" name="Google Shape;299;p21" title="3.8 times 0.001 7900 times 10 to the negative 4 power 7.8 times the fraction with numerator 1 and denominator 10 squared 800 times the fraction with numerator 1 and denominator 10 to the negative 2 power"/>
          <p:cNvPicPr preferRelativeResize="0"/>
          <p:nvPr/>
        </p:nvPicPr>
        <p:blipFill rotWithShape="1">
          <a:blip r:embed="rId8">
            <a:alphaModFix/>
          </a:blip>
          <a:srcRect b="0" l="24436" r="51985" t="0"/>
          <a:stretch/>
        </p:blipFill>
        <p:spPr>
          <a:xfrm>
            <a:off x="3803700" y="4516208"/>
            <a:ext cx="997698" cy="38348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0" name="Google Shape;300;p21"/>
          <p:cNvGrpSpPr/>
          <p:nvPr/>
        </p:nvGrpSpPr>
        <p:grpSpPr>
          <a:xfrm>
            <a:off x="1642225" y="3723125"/>
            <a:ext cx="4223769" cy="382825"/>
            <a:chOff x="1642225" y="3418325"/>
            <a:chExt cx="4223769" cy="382825"/>
          </a:xfrm>
        </p:grpSpPr>
        <p:pic>
          <p:nvPicPr>
            <p:cNvPr descr="&lt;math xmlns=&quot;http://www.w3.org/1998/Math/MathML&quot; display=&quot;block&quot; data-is-equatio=&quot;1&quot; data-latex=&quot;3.8\ \times0.001\ \ \ \ \ \ \ 7900\ \times10^{-4}\ \ \ \ \ \ \ 7.8\ \times\frac{1}{10^2}\ \ \ \ \ \ \ \ \ 800\ \times\frac{1}{10^{-2}}&quot;&gt;&lt;mn&gt;3.8&lt;/mn&gt;&lt;mtext&gt;&lt;/mtext&gt;&lt;mo&gt;×&lt;/mo&gt;&lt;mn&gt;0.001&lt;/mn&gt;&lt;mtext&gt;&lt;/mtext&gt;&lt;mtext&gt;&lt;/mtext&gt;&lt;mtext&gt;&lt;/mtext&gt;&lt;mtext&gt;&lt;/mtext&gt;&lt;mtext&gt;&lt;/mtext&gt;&lt;mtext&gt;&lt;/mtext&gt;&lt;mtext&gt;&lt;/mtext&gt;&lt;mn&gt;7900&lt;/mn&gt;&lt;mtext&gt;&lt;/mtext&gt;&lt;mo&gt;×&lt;/mo&gt;&lt;msup&gt;&lt;mn&gt;10&lt;/mn&gt;&lt;mrow data-mjx-texclass=&quot;ORD&quot;&gt;&lt;mo&gt;−&lt;/mo&gt;&lt;mn&gt;4&lt;/mn&gt;&lt;/mrow&gt;&lt;/msup&gt;&lt;mtext&gt;&lt;/mtext&gt;&lt;mtext&gt;&lt;/mtext&gt;&lt;mtext&gt;&lt;/mtext&gt;&lt;mtext&gt;&lt;/mtext&gt;&lt;mtext&gt;&lt;/mtext&gt;&lt;mtext&gt;&lt;/mtext&gt;&lt;mtext&gt;&lt;/mtext&gt;&lt;mn&gt;7.8&lt;/mn&gt;&lt;mtext&gt;&lt;/mtext&gt;&lt;mo&gt;×&lt;/mo&gt;&lt;mfrac&gt;&lt;mn&gt;1&lt;/mn&gt;&lt;msup&gt;&lt;mn&gt;10&lt;/mn&gt;&lt;mn&gt;2&lt;/mn&gt;&lt;/msup&gt;&lt;/mfrac&gt;&lt;mtext&gt;&lt;/mtext&gt;&lt;mtext&gt;&lt;/mtext&gt;&lt;mtext&gt;&lt;/mtext&gt;&lt;mtext&gt;&lt;/mtext&gt;&lt;mtext&gt;&lt;/mtext&gt;&lt;mtext&gt;&lt;/mtext&gt;&lt;mtext&gt;&lt;/mtext&gt;&lt;mtext&gt;&lt;/mtext&gt;&lt;mtext&gt;&lt;/mtext&gt;&lt;mn&gt;800&lt;/mn&gt;&lt;mtext&gt;&lt;/mtext&gt;&lt;mo&gt;×&lt;/mo&gt;&lt;mfrac&gt;&lt;mn&gt;1&lt;/mn&gt;&lt;msup&gt;&lt;mn&gt;10&lt;/mn&gt;&lt;mrow data-mjx-texclass=&quot;ORD&quot;&gt;&lt;mo&gt;−&lt;/mo&gt;&lt;mn&gt;2&lt;/mn&gt;&lt;/mrow&gt;&lt;/msup&gt;&lt;/mfrac&gt;&lt;/math&gt;" id="301" name="Google Shape;301;p21" title="3.8 times 0.001 7900 times 10 to the negative 4 power 7.8 times the fraction with numerator 1 and denominator 10 squared 800 times the fraction with numerator 1 and denominator 10 to the negative 2 power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642225" y="3418325"/>
              <a:ext cx="4223769" cy="3828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2" name="Google Shape;302;p21"/>
            <p:cNvSpPr/>
            <p:nvPr/>
          </p:nvSpPr>
          <p:spPr>
            <a:xfrm>
              <a:off x="5708650" y="3621625"/>
              <a:ext cx="60000" cy="138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3" name="Google Shape;303;p21"/>
          <p:cNvGrpSpPr/>
          <p:nvPr/>
        </p:nvGrpSpPr>
        <p:grpSpPr>
          <a:xfrm>
            <a:off x="4953591" y="4519799"/>
            <a:ext cx="897509" cy="383485"/>
            <a:chOff x="4968491" y="5644074"/>
            <a:chExt cx="897509" cy="383485"/>
          </a:xfrm>
        </p:grpSpPr>
        <p:pic>
          <p:nvPicPr>
            <p:cNvPr descr="&lt;math xmlns=&quot;http://www.w3.org/1998/Math/MathML&quot; display=&quot;block&quot; data-is-equatio=&quot;1&quot; data-latex=&quot;3.8\ \times0.001\ \ \ \ \ \ \ 7900\ \times10^{-4}\ \ \ \ \ \ \ 7.8\ \times\frac{1}{10^2}\ \ \ \ \ \ \ \ \ 800\ \times\frac{1}{10^{-2}}&quot;&gt;&lt;mn&gt;3.8&lt;/mn&gt;&lt;mtext&gt;&lt;/mtext&gt;&lt;mo&gt;×&lt;/mo&gt;&lt;mn&gt;0.001&lt;/mn&gt;&lt;mtext&gt;&lt;/mtext&gt;&lt;mtext&gt;&lt;/mtext&gt;&lt;mtext&gt;&lt;/mtext&gt;&lt;mtext&gt;&lt;/mtext&gt;&lt;mtext&gt;&lt;/mtext&gt;&lt;mtext&gt;&lt;/mtext&gt;&lt;mtext&gt;&lt;/mtext&gt;&lt;mn&gt;7900&lt;/mn&gt;&lt;mtext&gt;&lt;/mtext&gt;&lt;mo&gt;×&lt;/mo&gt;&lt;msup&gt;&lt;mn&gt;10&lt;/mn&gt;&lt;mrow data-mjx-texclass=&quot;ORD&quot;&gt;&lt;mo&gt;−&lt;/mo&gt;&lt;mn&gt;4&lt;/mn&gt;&lt;/mrow&gt;&lt;/msup&gt;&lt;mtext&gt;&lt;/mtext&gt;&lt;mtext&gt;&lt;/mtext&gt;&lt;mtext&gt;&lt;/mtext&gt;&lt;mtext&gt;&lt;/mtext&gt;&lt;mtext&gt;&lt;/mtext&gt;&lt;mtext&gt;&lt;/mtext&gt;&lt;mtext&gt;&lt;/mtext&gt;&lt;mn&gt;7.8&lt;/mn&gt;&lt;mtext&gt;&lt;/mtext&gt;&lt;mo&gt;×&lt;/mo&gt;&lt;mfrac&gt;&lt;mn&gt;1&lt;/mn&gt;&lt;msup&gt;&lt;mn&gt;10&lt;/mn&gt;&lt;mn&gt;2&lt;/mn&gt;&lt;/msup&gt;&lt;/mfrac&gt;&lt;mtext&gt;&lt;/mtext&gt;&lt;mtext&gt;&lt;/mtext&gt;&lt;mtext&gt;&lt;/mtext&gt;&lt;mtext&gt;&lt;/mtext&gt;&lt;mtext&gt;&lt;/mtext&gt;&lt;mtext&gt;&lt;/mtext&gt;&lt;mtext&gt;&lt;/mtext&gt;&lt;mtext&gt;&lt;/mtext&gt;&lt;mtext&gt;&lt;/mtext&gt;&lt;mn&gt;800&lt;/mn&gt;&lt;mtext&gt;&lt;/mtext&gt;&lt;mo&gt;×&lt;/mo&gt;&lt;mfrac&gt;&lt;mn&gt;1&lt;/mn&gt;&lt;msup&gt;&lt;mn&gt;10&lt;/mn&gt;&lt;mrow data-mjx-texclass=&quot;ORD&quot;&gt;&lt;mo&gt;−&lt;/mo&gt;&lt;mn&gt;2&lt;/mn&gt;&lt;/mrow&gt;&lt;/msup&gt;&lt;/mfrac&gt;&lt;/math&gt;" id="304" name="Google Shape;304;p21" title="3.8 times 0.001 7900 times 10 to the negative 4 power 7.8 times the fraction with numerator 1 and denominator 10 squared 800 times the fraction with numerator 1 and denominator 10 to the negative 2 power"/>
            <p:cNvPicPr preferRelativeResize="0"/>
            <p:nvPr/>
          </p:nvPicPr>
          <p:blipFill rotWithShape="1">
            <a:blip r:embed="rId8">
              <a:alphaModFix/>
            </a:blip>
            <a:srcRect b="0" l="78789" r="0" t="0"/>
            <a:stretch/>
          </p:blipFill>
          <p:spPr>
            <a:xfrm>
              <a:off x="4968491" y="5644074"/>
              <a:ext cx="897509" cy="3834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5" name="Google Shape;305;p21"/>
            <p:cNvSpPr/>
            <p:nvPr/>
          </p:nvSpPr>
          <p:spPr>
            <a:xfrm>
              <a:off x="5702300" y="5837775"/>
              <a:ext cx="60000" cy="138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06" name="Google Shape;306;p21"/>
          <p:cNvSpPr txBox="1"/>
          <p:nvPr/>
        </p:nvSpPr>
        <p:spPr>
          <a:xfrm>
            <a:off x="476400" y="5738550"/>
            <a:ext cx="382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1"/>
          <p:cNvSpPr txBox="1"/>
          <p:nvPr/>
        </p:nvSpPr>
        <p:spPr>
          <a:xfrm>
            <a:off x="1468125" y="6133650"/>
            <a:ext cx="732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9.2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−2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8" name="Google Shape;308;p21"/>
          <p:cNvSpPr txBox="1"/>
          <p:nvPr/>
        </p:nvSpPr>
        <p:spPr>
          <a:xfrm>
            <a:off x="2724675" y="6133650"/>
            <a:ext cx="732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9.21 × 10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9" name="Google Shape;309;p21"/>
          <p:cNvSpPr txBox="1"/>
          <p:nvPr/>
        </p:nvSpPr>
        <p:spPr>
          <a:xfrm>
            <a:off x="3828826" y="6133650"/>
            <a:ext cx="732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9.8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−1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0" name="Google Shape;310;p21"/>
          <p:cNvSpPr txBox="1"/>
          <p:nvPr/>
        </p:nvSpPr>
        <p:spPr>
          <a:xfrm>
            <a:off x="5028993" y="6133650"/>
            <a:ext cx="732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9.1 × 10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920\ \times0.0001\ \ \ \ \ \ \ 92\ 100\ \times10^{-3}\ \ \ \ \ \ \ 9.8\ \times\frac{1}{10^{ }}\ \ \ \ \ \ \ \ \ 9100\ \times\frac{1}{10^{-2}}&quot;&gt;&lt;mn&gt;920&lt;/mn&gt;&lt;mtext&gt;&lt;/mtext&gt;&lt;mo&gt;×&lt;/mo&gt;&lt;mn&gt;0.0001&lt;/mn&gt;&lt;mtext&gt;&lt;/mtext&gt;&lt;mtext&gt;&lt;/mtext&gt;&lt;mtext&gt;&lt;/mtext&gt;&lt;mtext&gt;&lt;/mtext&gt;&lt;mtext&gt;&lt;/mtext&gt;&lt;mtext&gt;&lt;/mtext&gt;&lt;mtext&gt;&lt;/mtext&gt;&lt;mn&gt;92&lt;/mn&gt;&lt;mtext&gt;&lt;/mtext&gt;&lt;mn&gt;100&lt;/mn&gt;&lt;mtext&gt;&lt;/mtext&gt;&lt;mo&gt;×&lt;/mo&gt;&lt;msup&gt;&lt;mn&gt;10&lt;/mn&gt;&lt;mrow data-mjx-texclass=&quot;ORD&quot;&gt;&lt;mo&gt;−&lt;/mo&gt;&lt;mn&gt;3&lt;/mn&gt;&lt;/mrow&gt;&lt;/msup&gt;&lt;mtext&gt;&lt;/mtext&gt;&lt;mtext&gt;&lt;/mtext&gt;&lt;mtext&gt;&lt;/mtext&gt;&lt;mtext&gt;&lt;/mtext&gt;&lt;mtext&gt;&lt;/mtext&gt;&lt;mtext&gt;&lt;/mtext&gt;&lt;mtext&gt;&lt;/mtext&gt;&lt;mn&gt;9.8&lt;/mn&gt;&lt;mtext&gt;&lt;/mtext&gt;&lt;mo&gt;×&lt;/mo&gt;&lt;mfrac&gt;&lt;mn&gt;1&lt;/mn&gt;&lt;msup&gt;&lt;mn&gt;10&lt;/mn&gt;&lt;mrow data-mjx-texclass=&quot;ORD&quot;/&gt;&lt;/msup&gt;&lt;/mfrac&gt;&lt;mtext&gt;&lt;/mtext&gt;&lt;mtext&gt;&lt;/mtext&gt;&lt;mtext&gt;&lt;/mtext&gt;&lt;mtext&gt;&lt;/mtext&gt;&lt;mtext&gt;&lt;/mtext&gt;&lt;mtext&gt;&lt;/mtext&gt;&lt;mtext&gt;&lt;/mtext&gt;&lt;mtext&gt;&lt;/mtext&gt;&lt;mtext&gt;&lt;/mtext&gt;&lt;mn&gt;9100&lt;/mn&gt;&lt;mtext&gt;&lt;/mtext&gt;&lt;mo&gt;×&lt;/mo&gt;&lt;mfrac&gt;&lt;mn&gt;1&lt;/mn&gt;&lt;msup&gt;&lt;mn&gt;10&lt;/mn&gt;&lt;mrow data-mjx-texclass=&quot;ORD&quot;&gt;&lt;mo&gt;−&lt;/mo&gt;&lt;mn&gt;2&lt;/mn&gt;&lt;/mrow&gt;&lt;/msup&gt;&lt;/mfrac&gt;&lt;/math&gt;" id="311" name="Google Shape;311;p21" title="920 times 0.0001 92 100 times 10 to the negative 3 power 9.8 times the fraction with numerator 1 and denominator 10 raised to the power 9100 times the fraction with numerator 1 and denominator 10 to the negative 2 power"/>
          <p:cNvPicPr preferRelativeResize="0"/>
          <p:nvPr/>
        </p:nvPicPr>
        <p:blipFill rotWithShape="1">
          <a:blip r:embed="rId9">
            <a:alphaModFix/>
          </a:blip>
          <a:srcRect b="0" l="0" r="77167" t="0"/>
          <a:stretch/>
        </p:blipFill>
        <p:spPr>
          <a:xfrm>
            <a:off x="1367425" y="6459000"/>
            <a:ext cx="1023039" cy="3827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920\ \times0.0001\ \ \ \ \ \ \ 92\ 100\ \times10^{-3}\ \ \ \ \ \ \ 9.8\ \times\frac{1}{10^{ }}\ \ \ \ \ \ \ \ \ 9100\ \times\frac{1}{10^{-2}}&quot;&gt;&lt;mn&gt;920&lt;/mn&gt;&lt;mtext&gt;&lt;/mtext&gt;&lt;mo&gt;×&lt;/mo&gt;&lt;mn&gt;0.0001&lt;/mn&gt;&lt;mtext&gt;&lt;/mtext&gt;&lt;mtext&gt;&lt;/mtext&gt;&lt;mtext&gt;&lt;/mtext&gt;&lt;mtext&gt;&lt;/mtext&gt;&lt;mtext&gt;&lt;/mtext&gt;&lt;mtext&gt;&lt;/mtext&gt;&lt;mtext&gt;&lt;/mtext&gt;&lt;mn&gt;92&lt;/mn&gt;&lt;mtext&gt;&lt;/mtext&gt;&lt;mn&gt;100&lt;/mn&gt;&lt;mtext&gt;&lt;/mtext&gt;&lt;mo&gt;×&lt;/mo&gt;&lt;msup&gt;&lt;mn&gt;10&lt;/mn&gt;&lt;mrow data-mjx-texclass=&quot;ORD&quot;&gt;&lt;mo&gt;−&lt;/mo&gt;&lt;mn&gt;3&lt;/mn&gt;&lt;/mrow&gt;&lt;/msup&gt;&lt;mtext&gt;&lt;/mtext&gt;&lt;mtext&gt;&lt;/mtext&gt;&lt;mtext&gt;&lt;/mtext&gt;&lt;mtext&gt;&lt;/mtext&gt;&lt;mtext&gt;&lt;/mtext&gt;&lt;mtext&gt;&lt;/mtext&gt;&lt;mtext&gt;&lt;/mtext&gt;&lt;mn&gt;9.8&lt;/mn&gt;&lt;mtext&gt;&lt;/mtext&gt;&lt;mo&gt;×&lt;/mo&gt;&lt;mfrac&gt;&lt;mn&gt;1&lt;/mn&gt;&lt;msup&gt;&lt;mn&gt;10&lt;/mn&gt;&lt;mrow data-mjx-texclass=&quot;ORD&quot;/&gt;&lt;/msup&gt;&lt;/mfrac&gt;&lt;mtext&gt;&lt;/mtext&gt;&lt;mtext&gt;&lt;/mtext&gt;&lt;mtext&gt;&lt;/mtext&gt;&lt;mtext&gt;&lt;/mtext&gt;&lt;mtext&gt;&lt;/mtext&gt;&lt;mtext&gt;&lt;/mtext&gt;&lt;mtext&gt;&lt;/mtext&gt;&lt;mtext&gt;&lt;/mtext&gt;&lt;mtext&gt;&lt;/mtext&gt;&lt;mn&gt;9100&lt;/mn&gt;&lt;mtext&gt;&lt;/mtext&gt;&lt;mo&gt;×&lt;/mo&gt;&lt;mfrac&gt;&lt;mn&gt;1&lt;/mn&gt;&lt;msup&gt;&lt;mn&gt;10&lt;/mn&gt;&lt;mrow data-mjx-texclass=&quot;ORD&quot;&gt;&lt;mo&gt;−&lt;/mo&gt;&lt;mn&gt;2&lt;/mn&gt;&lt;/mrow&gt;&lt;/msup&gt;&lt;/mfrac&gt;&lt;/math&gt;" id="312" name="Google Shape;312;p21" title="920 times 0.0001 92 100 times 10 to the negative 3 power 9.8 times the fraction with numerator 1 and denominator 10 raised to the power 9100 times the fraction with numerator 1 and denominator 10 to the negative 2 power"/>
          <p:cNvPicPr preferRelativeResize="0"/>
          <p:nvPr/>
        </p:nvPicPr>
        <p:blipFill rotWithShape="1">
          <a:blip r:embed="rId9">
            <a:alphaModFix/>
          </a:blip>
          <a:srcRect b="0" l="54440" r="26056" t="0"/>
          <a:stretch/>
        </p:blipFill>
        <p:spPr>
          <a:xfrm>
            <a:off x="2651772" y="6459007"/>
            <a:ext cx="873844" cy="3827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920\ \times0.0001\ \ \ \ \ \ \ 92\ 100\ \times10^{-3}\ \ \ \ \ \ \ 9.8\ \times\frac{1}{10^{ }}\ \ \ \ \ \ \ \ \ 9100\ \times\frac{1}{10^{-2}}&quot;&gt;&lt;mn&gt;920&lt;/mn&gt;&lt;mtext&gt;&lt;/mtext&gt;&lt;mo&gt;×&lt;/mo&gt;&lt;mn&gt;0.0001&lt;/mn&gt;&lt;mtext&gt;&lt;/mtext&gt;&lt;mtext&gt;&lt;/mtext&gt;&lt;mtext&gt;&lt;/mtext&gt;&lt;mtext&gt;&lt;/mtext&gt;&lt;mtext&gt;&lt;/mtext&gt;&lt;mtext&gt;&lt;/mtext&gt;&lt;mtext&gt;&lt;/mtext&gt;&lt;mn&gt;92&lt;/mn&gt;&lt;mtext&gt;&lt;/mtext&gt;&lt;mn&gt;100&lt;/mn&gt;&lt;mtext&gt;&lt;/mtext&gt;&lt;mo&gt;×&lt;/mo&gt;&lt;msup&gt;&lt;mn&gt;10&lt;/mn&gt;&lt;mrow data-mjx-texclass=&quot;ORD&quot;&gt;&lt;mo&gt;−&lt;/mo&gt;&lt;mn&gt;3&lt;/mn&gt;&lt;/mrow&gt;&lt;/msup&gt;&lt;mtext&gt;&lt;/mtext&gt;&lt;mtext&gt;&lt;/mtext&gt;&lt;mtext&gt;&lt;/mtext&gt;&lt;mtext&gt;&lt;/mtext&gt;&lt;mtext&gt;&lt;/mtext&gt;&lt;mtext&gt;&lt;/mtext&gt;&lt;mtext&gt;&lt;/mtext&gt;&lt;mn&gt;9.8&lt;/mn&gt;&lt;mtext&gt;&lt;/mtext&gt;&lt;mo&gt;×&lt;/mo&gt;&lt;mfrac&gt;&lt;mn&gt;1&lt;/mn&gt;&lt;msup&gt;&lt;mn&gt;10&lt;/mn&gt;&lt;mrow data-mjx-texclass=&quot;ORD&quot;/&gt;&lt;/msup&gt;&lt;/mfrac&gt;&lt;mtext&gt;&lt;/mtext&gt;&lt;mtext&gt;&lt;/mtext&gt;&lt;mtext&gt;&lt;/mtext&gt;&lt;mtext&gt;&lt;/mtext&gt;&lt;mtext&gt;&lt;/mtext&gt;&lt;mtext&gt;&lt;/mtext&gt;&lt;mtext&gt;&lt;/mtext&gt;&lt;mtext&gt;&lt;/mtext&gt;&lt;mtext&gt;&lt;/mtext&gt;&lt;mn&gt;9100&lt;/mn&gt;&lt;mtext&gt;&lt;/mtext&gt;&lt;mo&gt;×&lt;/mo&gt;&lt;mfrac&gt;&lt;mn&gt;1&lt;/mn&gt;&lt;msup&gt;&lt;mn&gt;10&lt;/mn&gt;&lt;mrow data-mjx-texclass=&quot;ORD&quot;&gt;&lt;mo&gt;−&lt;/mo&gt;&lt;mn&gt;2&lt;/mn&gt;&lt;/mrow&gt;&lt;/msup&gt;&lt;/mfrac&gt;&lt;/math&gt;" id="313" name="Google Shape;313;p21" title="920 times 0.0001 92 100 times 10 to the negative 3 power 9.8 times the fraction with numerator 1 and denominator 10 raised to the power 9100 times the fraction with numerator 1 and denominator 10 to the negative 2 power"/>
          <p:cNvPicPr preferRelativeResize="0"/>
          <p:nvPr/>
        </p:nvPicPr>
        <p:blipFill rotWithShape="1">
          <a:blip r:embed="rId9">
            <a:alphaModFix/>
          </a:blip>
          <a:srcRect b="0" l="26189" r="50457" t="0"/>
          <a:stretch/>
        </p:blipFill>
        <p:spPr>
          <a:xfrm>
            <a:off x="4844651" y="6459000"/>
            <a:ext cx="1046317" cy="3827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9100\times\frac{1}{10^2}\ \ &quot;&gt;&lt;mn&gt;9100&lt;/mn&gt;&lt;mo&gt;×&lt;/mo&gt;&lt;mfrac&gt;&lt;mn&gt;1&lt;/mn&gt;&lt;msup&gt;&lt;mn&gt;10&lt;/mn&gt;&lt;mn&gt;2&lt;/mn&gt;&lt;/msup&gt;&lt;/mfrac&gt;&lt;mtext&gt;&lt;/mtext&gt;&lt;mtext&gt;&lt;/mtext&gt;&lt;/math&gt;" id="314" name="Google Shape;314;p21" title="9100 times the fraction with numerator 1 and denominator 10 squared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786924" y="6459000"/>
            <a:ext cx="796420" cy="3827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5" name="Google Shape;315;p21"/>
          <p:cNvGrpSpPr/>
          <p:nvPr/>
        </p:nvGrpSpPr>
        <p:grpSpPr>
          <a:xfrm>
            <a:off x="1367425" y="5643350"/>
            <a:ext cx="4488799" cy="383500"/>
            <a:chOff x="1367425" y="4652750"/>
            <a:chExt cx="4488799" cy="383500"/>
          </a:xfrm>
        </p:grpSpPr>
        <p:pic>
          <p:nvPicPr>
            <p:cNvPr descr="&lt;math xmlns=&quot;http://www.w3.org/1998/Math/MathML&quot; display=&quot;block&quot; data-is-equatio=&quot;1&quot; data-latex=&quot;920\ \times0.0001\ \ \ \ \ \ \ 92\ 100\ \times10^{-3}\ \ \ \ \ \ \ 9.8\ \times\frac{1}{10^{ }}\ \ \ \ \ \ \ \ \ 9100\ \times\frac{1}{10^{-2}}&quot;&gt;&lt;mn&gt;920&lt;/mn&gt;&lt;mtext&gt;&lt;/mtext&gt;&lt;mo&gt;×&lt;/mo&gt;&lt;mn&gt;0.0001&lt;/mn&gt;&lt;mtext&gt;&lt;/mtext&gt;&lt;mtext&gt;&lt;/mtext&gt;&lt;mtext&gt;&lt;/mtext&gt;&lt;mtext&gt;&lt;/mtext&gt;&lt;mtext&gt;&lt;/mtext&gt;&lt;mtext&gt;&lt;/mtext&gt;&lt;mtext&gt;&lt;/mtext&gt;&lt;mn&gt;92&lt;/mn&gt;&lt;mtext&gt;&lt;/mtext&gt;&lt;mn&gt;100&lt;/mn&gt;&lt;mtext&gt;&lt;/mtext&gt;&lt;mo&gt;×&lt;/mo&gt;&lt;msup&gt;&lt;mn&gt;10&lt;/mn&gt;&lt;mrow data-mjx-texclass=&quot;ORD&quot;&gt;&lt;mo&gt;−&lt;/mo&gt;&lt;mn&gt;3&lt;/mn&gt;&lt;/mrow&gt;&lt;/msup&gt;&lt;mtext&gt;&lt;/mtext&gt;&lt;mtext&gt;&lt;/mtext&gt;&lt;mtext&gt;&lt;/mtext&gt;&lt;mtext&gt;&lt;/mtext&gt;&lt;mtext&gt;&lt;/mtext&gt;&lt;mtext&gt;&lt;/mtext&gt;&lt;mtext&gt;&lt;/mtext&gt;&lt;mn&gt;9.8&lt;/mn&gt;&lt;mtext&gt;&lt;/mtext&gt;&lt;mo&gt;×&lt;/mo&gt;&lt;mfrac&gt;&lt;mn&gt;1&lt;/mn&gt;&lt;msup&gt;&lt;mn&gt;10&lt;/mn&gt;&lt;mrow data-mjx-texclass=&quot;ORD&quot;/&gt;&lt;/msup&gt;&lt;/mfrac&gt;&lt;mtext&gt;&lt;/mtext&gt;&lt;mtext&gt;&lt;/mtext&gt;&lt;mtext&gt;&lt;/mtext&gt;&lt;mtext&gt;&lt;/mtext&gt;&lt;mtext&gt;&lt;/mtext&gt;&lt;mtext&gt;&lt;/mtext&gt;&lt;mtext&gt;&lt;/mtext&gt;&lt;mtext&gt;&lt;/mtext&gt;&lt;mtext&gt;&lt;/mtext&gt;&lt;mn&gt;9100&lt;/mn&gt;&lt;mtext&gt;&lt;/mtext&gt;&lt;mo&gt;×&lt;/mo&gt;&lt;mfrac&gt;&lt;mn&gt;1&lt;/mn&gt;&lt;msup&gt;&lt;mn&gt;10&lt;/mn&gt;&lt;mrow data-mjx-texclass=&quot;ORD&quot;&gt;&lt;mo&gt;−&lt;/mo&gt;&lt;mn&gt;2&lt;/mn&gt;&lt;/mrow&gt;&lt;/msup&gt;&lt;/mfrac&gt;&lt;/math&gt;" id="316" name="Google Shape;316;p21" title="920 times 0.0001 92 100 times 10 to the negative 3 power 9.8 times the fraction with numerator 1 and denominator 10 raised to the power 9100 times the fraction with numerator 1 and denominator 10 to the negative 2 power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367425" y="4652750"/>
              <a:ext cx="4488799" cy="38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7" name="Google Shape;317;p21"/>
            <p:cNvSpPr/>
            <p:nvPr/>
          </p:nvSpPr>
          <p:spPr>
            <a:xfrm>
              <a:off x="5702300" y="4872575"/>
              <a:ext cx="60000" cy="138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18" name="Google Shape;318;p21"/>
          <p:cNvSpPr txBox="1"/>
          <p:nvPr/>
        </p:nvSpPr>
        <p:spPr>
          <a:xfrm>
            <a:off x="476400" y="7757850"/>
            <a:ext cx="16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1"/>
          <p:cNvSpPr txBox="1"/>
          <p:nvPr/>
        </p:nvSpPr>
        <p:spPr>
          <a:xfrm>
            <a:off x="1227275" y="8262600"/>
            <a:ext cx="79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4.8 × 10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0" name="Google Shape;320;p21"/>
          <p:cNvSpPr txBox="1"/>
          <p:nvPr/>
        </p:nvSpPr>
        <p:spPr>
          <a:xfrm>
            <a:off x="2386210" y="8262600"/>
            <a:ext cx="79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4.8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−2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1" name="Google Shape;321;p21"/>
          <p:cNvSpPr txBox="1"/>
          <p:nvPr/>
        </p:nvSpPr>
        <p:spPr>
          <a:xfrm>
            <a:off x="3545145" y="8262600"/>
            <a:ext cx="79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4.81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−2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2" name="Google Shape;322;p21"/>
          <p:cNvSpPr txBox="1"/>
          <p:nvPr/>
        </p:nvSpPr>
        <p:spPr>
          <a:xfrm>
            <a:off x="4704081" y="8262600"/>
            <a:ext cx="977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4.82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-1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480\times0.1\ \ \ \ \ \ \ 4.8\ \times10^{-2}\ \ \ \ \ \ \ 4.81\ \times\frac{1}{10^2}\ \ \ \ \ \ \ \ \ 4820\ \times\frac{1}{10^{-4}}&quot;&gt;&lt;mn&gt;480&lt;/mn&gt;&lt;mo&gt;×&lt;/mo&gt;&lt;mn&gt;0.1&lt;/mn&gt;&lt;mtext&gt;&lt;/mtext&gt;&lt;mtext&gt;&lt;/mtext&gt;&lt;mtext&gt;&lt;/mtext&gt;&lt;mtext&gt;&lt;/mtext&gt;&lt;mtext&gt;&lt;/mtext&gt;&lt;mtext&gt;&lt;/mtext&gt;&lt;mtext&gt;&lt;/mtext&gt;&lt;mn&gt;4.8&lt;/mn&gt;&lt;mtext&gt;&lt;/mtext&gt;&lt;mo&gt;×&lt;/mo&gt;&lt;msup&gt;&lt;mn&gt;10&lt;/mn&gt;&lt;mrow data-mjx-texclass=&quot;ORD&quot;&gt;&lt;mo&gt;−&lt;/mo&gt;&lt;mn&gt;2&lt;/mn&gt;&lt;/mrow&gt;&lt;/msup&gt;&lt;mtext&gt;&lt;/mtext&gt;&lt;mtext&gt;&lt;/mtext&gt;&lt;mtext&gt;&lt;/mtext&gt;&lt;mtext&gt;&lt;/mtext&gt;&lt;mtext&gt;&lt;/mtext&gt;&lt;mtext&gt;&lt;/mtext&gt;&lt;mtext&gt;&lt;/mtext&gt;&lt;mn&gt;4.81&lt;/mn&gt;&lt;mtext&gt;&lt;/mtext&gt;&lt;mo&gt;×&lt;/mo&gt;&lt;mfrac&gt;&lt;mn&gt;1&lt;/mn&gt;&lt;msup&gt;&lt;mn&gt;10&lt;/mn&gt;&lt;mn&gt;2&lt;/mn&gt;&lt;/msup&gt;&lt;/mfrac&gt;&lt;mtext&gt;&lt;/mtext&gt;&lt;mtext&gt;&lt;/mtext&gt;&lt;mtext&gt;&lt;/mtext&gt;&lt;mtext&gt;&lt;/mtext&gt;&lt;mtext&gt;&lt;/mtext&gt;&lt;mtext&gt;&lt;/mtext&gt;&lt;mtext&gt;&lt;/mtext&gt;&lt;mtext&gt;&lt;/mtext&gt;&lt;mtext&gt;&lt;/mtext&gt;&lt;mn&gt;4820&lt;/mn&gt;&lt;mtext&gt;&lt;/mtext&gt;&lt;mo&gt;×&lt;/mo&gt;&lt;mfrac&gt;&lt;mn&gt;1&lt;/mn&gt;&lt;msup&gt;&lt;mn&gt;10&lt;/mn&gt;&lt;mrow data-mjx-texclass=&quot;ORD&quot;&gt;&lt;mo&gt;−&lt;/mo&gt;&lt;mn&gt;4&lt;/mn&gt;&lt;/mrow&gt;&lt;/msup&gt;&lt;/mfrac&gt;&lt;/math&gt;" id="323" name="Google Shape;323;p21" title="480 times 0.1 4.8 times 10 to the negative 2 power 4.81 times the fraction with numerator 1 and denominator 10 squared 4820 times the fraction with numerator 1 and denominator 10 to the negative 4 power"/>
          <p:cNvPicPr preferRelativeResize="0"/>
          <p:nvPr/>
        </p:nvPicPr>
        <p:blipFill rotWithShape="1">
          <a:blip r:embed="rId11">
            <a:alphaModFix/>
          </a:blip>
          <a:srcRect b="0" l="46618" r="30183" t="0"/>
          <a:stretch/>
        </p:blipFill>
        <p:spPr>
          <a:xfrm>
            <a:off x="2387050" y="8564000"/>
            <a:ext cx="1022907" cy="4120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80\times0.1\ \ \ \ \ \ \ 4.8\ \times10^{-2}\ \ \ \ \ \ \ 4.81\ \times\frac{1}{10^2}\ \ \ \ \ \ \ \ \ 4820\ \times\frac{1}{10^{-4}}&quot;&gt;&lt;mn&gt;480&lt;/mn&gt;&lt;mo&gt;×&lt;/mo&gt;&lt;mn&gt;0.1&lt;/mn&gt;&lt;mtext&gt;&lt;/mtext&gt;&lt;mtext&gt;&lt;/mtext&gt;&lt;mtext&gt;&lt;/mtext&gt;&lt;mtext&gt;&lt;/mtext&gt;&lt;mtext&gt;&lt;/mtext&gt;&lt;mtext&gt;&lt;/mtext&gt;&lt;mtext&gt;&lt;/mtext&gt;&lt;mn&gt;4.8&lt;/mn&gt;&lt;mtext&gt;&lt;/mtext&gt;&lt;mo&gt;×&lt;/mo&gt;&lt;msup&gt;&lt;mn&gt;10&lt;/mn&gt;&lt;mrow data-mjx-texclass=&quot;ORD&quot;&gt;&lt;mo&gt;−&lt;/mo&gt;&lt;mn&gt;2&lt;/mn&gt;&lt;/mrow&gt;&lt;/msup&gt;&lt;mtext&gt;&lt;/mtext&gt;&lt;mtext&gt;&lt;/mtext&gt;&lt;mtext&gt;&lt;/mtext&gt;&lt;mtext&gt;&lt;/mtext&gt;&lt;mtext&gt;&lt;/mtext&gt;&lt;mtext&gt;&lt;/mtext&gt;&lt;mtext&gt;&lt;/mtext&gt;&lt;mn&gt;4.81&lt;/mn&gt;&lt;mtext&gt;&lt;/mtext&gt;&lt;mo&gt;×&lt;/mo&gt;&lt;mfrac&gt;&lt;mn&gt;1&lt;/mn&gt;&lt;msup&gt;&lt;mn&gt;10&lt;/mn&gt;&lt;mn&gt;2&lt;/mn&gt;&lt;/msup&gt;&lt;/mfrac&gt;&lt;mtext&gt;&lt;/mtext&gt;&lt;mtext&gt;&lt;/mtext&gt;&lt;mtext&gt;&lt;/mtext&gt;&lt;mtext&gt;&lt;/mtext&gt;&lt;mtext&gt;&lt;/mtext&gt;&lt;mtext&gt;&lt;/mtext&gt;&lt;mtext&gt;&lt;/mtext&gt;&lt;mtext&gt;&lt;/mtext&gt;&lt;mtext&gt;&lt;/mtext&gt;&lt;mn&gt;4820&lt;/mn&gt;&lt;mtext&gt;&lt;/mtext&gt;&lt;mo&gt;×&lt;/mo&gt;&lt;mfrac&gt;&lt;mn&gt;1&lt;/mn&gt;&lt;msup&gt;&lt;mn&gt;10&lt;/mn&gt;&lt;mrow data-mjx-texclass=&quot;ORD&quot;&gt;&lt;mo&gt;−&lt;/mo&gt;&lt;mn&gt;4&lt;/mn&gt;&lt;/mrow&gt;&lt;/msup&gt;&lt;/mfrac&gt;&lt;/math&gt;" id="324" name="Google Shape;324;p21" title="480 times 0.1 4.8 times 10 to the negative 2 power 4.81 times the fraction with numerator 1 and denominator 10 squared 4820 times the fraction with numerator 1 and denominator 10 to the negative 4 power"/>
          <p:cNvPicPr preferRelativeResize="0"/>
          <p:nvPr/>
        </p:nvPicPr>
        <p:blipFill rotWithShape="1">
          <a:blip r:embed="rId11">
            <a:alphaModFix/>
          </a:blip>
          <a:srcRect b="0" l="20399" r="56402" t="0"/>
          <a:stretch/>
        </p:blipFill>
        <p:spPr>
          <a:xfrm>
            <a:off x="1235100" y="8564000"/>
            <a:ext cx="1022907" cy="4120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80\times0.1\ \ \ \ \ \ \ 4.8\ \times10^{-2}\ \ \ \ \ \ \ 4.81\ \times\frac{1}{10^2}\ \ \ \ \ \ \ \ \ 4820\ \times\frac{1}{10^{-4}}&quot;&gt;&lt;mn&gt;480&lt;/mn&gt;&lt;mo&gt;×&lt;/mo&gt;&lt;mn&gt;0.1&lt;/mn&gt;&lt;mtext&gt;&lt;/mtext&gt;&lt;mtext&gt;&lt;/mtext&gt;&lt;mtext&gt;&lt;/mtext&gt;&lt;mtext&gt;&lt;/mtext&gt;&lt;mtext&gt;&lt;/mtext&gt;&lt;mtext&gt;&lt;/mtext&gt;&lt;mtext&gt;&lt;/mtext&gt;&lt;mn&gt;4.8&lt;/mn&gt;&lt;mtext&gt;&lt;/mtext&gt;&lt;mo&gt;×&lt;/mo&gt;&lt;msup&gt;&lt;mn&gt;10&lt;/mn&gt;&lt;mrow data-mjx-texclass=&quot;ORD&quot;&gt;&lt;mo&gt;−&lt;/mo&gt;&lt;mn&gt;2&lt;/mn&gt;&lt;/mrow&gt;&lt;/msup&gt;&lt;mtext&gt;&lt;/mtext&gt;&lt;mtext&gt;&lt;/mtext&gt;&lt;mtext&gt;&lt;/mtext&gt;&lt;mtext&gt;&lt;/mtext&gt;&lt;mtext&gt;&lt;/mtext&gt;&lt;mtext&gt;&lt;/mtext&gt;&lt;mtext&gt;&lt;/mtext&gt;&lt;mn&gt;4.81&lt;/mn&gt;&lt;mtext&gt;&lt;/mtext&gt;&lt;mo&gt;×&lt;/mo&gt;&lt;mfrac&gt;&lt;mn&gt;1&lt;/mn&gt;&lt;msup&gt;&lt;mn&gt;10&lt;/mn&gt;&lt;mn&gt;2&lt;/mn&gt;&lt;/msup&gt;&lt;/mfrac&gt;&lt;mtext&gt;&lt;/mtext&gt;&lt;mtext&gt;&lt;/mtext&gt;&lt;mtext&gt;&lt;/mtext&gt;&lt;mtext&gt;&lt;/mtext&gt;&lt;mtext&gt;&lt;/mtext&gt;&lt;mtext&gt;&lt;/mtext&gt;&lt;mtext&gt;&lt;/mtext&gt;&lt;mtext&gt;&lt;/mtext&gt;&lt;mtext&gt;&lt;/mtext&gt;&lt;mn&gt;4820&lt;/mn&gt;&lt;mtext&gt;&lt;/mtext&gt;&lt;mo&gt;×&lt;/mo&gt;&lt;mfrac&gt;&lt;mn&gt;1&lt;/mn&gt;&lt;msup&gt;&lt;mn&gt;10&lt;/mn&gt;&lt;mrow data-mjx-texclass=&quot;ORD&quot;&gt;&lt;mo&gt;−&lt;/mo&gt;&lt;mn&gt;4&lt;/mn&gt;&lt;/mrow&gt;&lt;/msup&gt;&lt;/mfrac&gt;&lt;/math&gt;" id="325" name="Google Shape;325;p21" title="480 times 0.1 4.8 times 10 to the negative 2 power 4.81 times the fraction with numerator 1 and denominator 10 squared 4820 times the fraction with numerator 1 and denominator 10 to the negative 4 power"/>
          <p:cNvPicPr preferRelativeResize="0"/>
          <p:nvPr/>
        </p:nvPicPr>
        <p:blipFill rotWithShape="1">
          <a:blip r:embed="rId11">
            <a:alphaModFix/>
          </a:blip>
          <a:srcRect b="0" l="-2275" r="82623" t="0"/>
          <a:stretch/>
        </p:blipFill>
        <p:spPr>
          <a:xfrm>
            <a:off x="4857349" y="8564000"/>
            <a:ext cx="866552" cy="412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310375" y="7769474"/>
            <a:ext cx="4155677" cy="39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1"/>
          <p:cNvPicPr preferRelativeResize="0"/>
          <p:nvPr/>
        </p:nvPicPr>
        <p:blipFill rotWithShape="1">
          <a:blip r:embed="rId12">
            <a:alphaModFix/>
          </a:blip>
          <a:srcRect b="0" l="76359" r="0" t="0"/>
          <a:stretch/>
        </p:blipFill>
        <p:spPr>
          <a:xfrm>
            <a:off x="3643412" y="8564000"/>
            <a:ext cx="1022903" cy="412082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1"/>
          <p:cNvSpPr txBox="1"/>
          <p:nvPr/>
        </p:nvSpPr>
        <p:spPr>
          <a:xfrm>
            <a:off x="476406" y="1335375"/>
            <a:ext cx="239100" cy="16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