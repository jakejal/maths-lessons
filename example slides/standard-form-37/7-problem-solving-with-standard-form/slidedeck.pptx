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62.xml"/>
  <Override ContentType="application/vnd.openxmlformats-officedocument.presentationml.slideLayout+xml" PartName="/ppt/slideLayouts/slideLayout5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4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55.xml"/>
  <Override ContentType="application/vnd.openxmlformats-officedocument.presentationml.slideLayout+xml" PartName="/ppt/slideLayouts/slideLayout61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52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60.xml"/>
  <Override ContentType="application/vnd.openxmlformats-officedocument.presentationml.slideLayout+xml" PartName="/ppt/slideLayouts/slideLayout47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48.xml"/>
  <Override ContentType="application/vnd.openxmlformats-officedocument.presentationml.slideLayout+xml" PartName="/ppt/slideLayouts/slideLayout4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3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41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40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59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42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6.xml"/>
  <Override ContentType="application/vnd.openxmlformats-officedocument.presentationml.slideLayout+xml" PartName="/ppt/slideLayouts/slideLayout43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5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5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50.xml"/>
  <Override ContentType="application/vnd.openxmlformats-officedocument.presentationml.slideLayout+xml" PartName="/ppt/slideLayouts/slideLayout4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58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45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38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37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6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slide+xml" PartName="/ppt/slides/slide40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710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  <p:sldId id="295" r:id="rId45"/>
    <p:sldId id="296" r:id="rId46"/>
    <p:sldId id="297" r:id="rId47"/>
    <p:sldId id="298" r:id="rId48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BBA721E3-349A-4336-9A84-A63F8B892381}">
  <a:tblStyle styleId="{BBA721E3-349A-4336-9A84-A63F8B892381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5.xml"/><Relationship Id="rId42" Type="http://schemas.openxmlformats.org/officeDocument/2006/relationships/slide" Target="slides/slide37.xml"/><Relationship Id="rId41" Type="http://schemas.openxmlformats.org/officeDocument/2006/relationships/slide" Target="slides/slide36.xml"/><Relationship Id="rId44" Type="http://schemas.openxmlformats.org/officeDocument/2006/relationships/slide" Target="slides/slide39.xml"/><Relationship Id="rId43" Type="http://schemas.openxmlformats.org/officeDocument/2006/relationships/slide" Target="slides/slide38.xml"/><Relationship Id="rId46" Type="http://schemas.openxmlformats.org/officeDocument/2006/relationships/slide" Target="slides/slide41.xml"/><Relationship Id="rId45" Type="http://schemas.openxmlformats.org/officeDocument/2006/relationships/slide" Target="slides/slide40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48" Type="http://schemas.openxmlformats.org/officeDocument/2006/relationships/slide" Target="slides/slide43.xml"/><Relationship Id="rId47" Type="http://schemas.openxmlformats.org/officeDocument/2006/relationships/slide" Target="slides/slide4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33" Type="http://schemas.openxmlformats.org/officeDocument/2006/relationships/slide" Target="slides/slide28.xml"/><Relationship Id="rId32" Type="http://schemas.openxmlformats.org/officeDocument/2006/relationships/slide" Target="slides/slide27.xml"/><Relationship Id="rId35" Type="http://schemas.openxmlformats.org/officeDocument/2006/relationships/slide" Target="slides/slide30.xml"/><Relationship Id="rId34" Type="http://schemas.openxmlformats.org/officeDocument/2006/relationships/slide" Target="slides/slide29.xml"/><Relationship Id="rId37" Type="http://schemas.openxmlformats.org/officeDocument/2006/relationships/slide" Target="slides/slide32.xml"/><Relationship Id="rId36" Type="http://schemas.openxmlformats.org/officeDocument/2006/relationships/slide" Target="slides/slide31.xml"/><Relationship Id="rId39" Type="http://schemas.openxmlformats.org/officeDocument/2006/relationships/slide" Target="slides/slide34.xml"/><Relationship Id="rId38" Type="http://schemas.openxmlformats.org/officeDocument/2006/relationships/slide" Target="slides/slide33.xml"/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29" Type="http://schemas.openxmlformats.org/officeDocument/2006/relationships/slide" Target="slides/slide24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6" name="Shape 7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" name="Google Shape;757;g279955a40ae_0_8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8" name="Google Shape;758;g279955a40ae_0_8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2" name="Shape 7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3" name="Google Shape;763;g279955a40ae_0_8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4" name="Google Shape;764;g279955a40ae_0_8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7" name="Shape 7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" name="Google Shape;768;g279955a40ae_0_8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9" name="Google Shape;769;g279955a40ae_0_8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2" name="Shape 7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3" name="Google Shape;773;g2b14db9ef32_0_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4" name="Google Shape;774;g2b14db9ef32_0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4" name="Shape 7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5" name="Google Shape;795;g2b846964407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6" name="Google Shape;796;g2b846964407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2" name="Shape 8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3" name="Google Shape;803;g2b846964407_0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04" name="Google Shape;804;g2b846964407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2" name="Shape 8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3" name="Google Shape;813;g2b846964407_0_80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4" name="Google Shape;814;g2b846964407_0_80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8" name="Shape 8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" name="Google Shape;819;g2b846964407_0_80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0" name="Google Shape;820;g2b846964407_0_80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4" name="Shape 8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5" name="Google Shape;835;g2b846964407_0_8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6" name="Google Shape;836;g2b846964407_0_8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3" name="Shape 8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4" name="Google Shape;874;g2b846964407_0_11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5" name="Google Shape;875;g2b846964407_0_11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8" name="Shape 8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9" name="Google Shape;889;g2b846964407_0_116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0" name="Google Shape;890;g2b846964407_0_11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1" name="Shape 9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2" name="Google Shape;902;g2b846964407_0_136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3" name="Google Shape;903;g2b846964407_0_13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1" name="Shape 9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2" name="Google Shape;942;g2b846964407_0_126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3" name="Google Shape;943;g2b846964407_0_12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7" name="Shape 9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8" name="Google Shape;978;g2b846964407_0_115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9" name="Google Shape;979;g2b846964407_0_11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9" name="Shape 9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0" name="Google Shape;990;g2b846964407_0_9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1" name="Google Shape;991;g2b846964407_0_9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2" name="Shape 10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3" name="Google Shape;1003;g2b846964407_0_108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4" name="Google Shape;1004;g2b846964407_0_108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6" name="Shape 10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7" name="Google Shape;1027;g2b846964407_0_146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8" name="Google Shape;1028;g2b846964407_0_14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1" name="Shape 10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2" name="Google Shape;1062;g2b846964407_0_14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3" name="Google Shape;1063;g2b846964407_0_14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6" name="Shape 10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7" name="Google Shape;1077;g2b846964407_0_16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8" name="Google Shape;1078;g2b846964407_0_16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7" name="Shape 1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8" name="Google Shape;1108;g2b846964407_0_176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09" name="Google Shape;1109;g2b846964407_0_17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1" name="Shape 1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2" name="Google Shape;1122;g2b846964407_1_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3" name="Google Shape;1123;g2b846964407_1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7" name="Shape 1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8" name="Google Shape;1128;g2b846964407_1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9" name="Google Shape;1129;g2b846964407_1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3" name="Shape 1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4" name="Google Shape;1134;g2b846964407_1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35" name="Google Shape;1135;g2b846964407_1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9" name="Shape 1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0" name="Google Shape;1140;g2b846964407_1_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41" name="Google Shape;1141;g2b846964407_1_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2" name="Shape 1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3" name="Google Shape;1153;g2b846964407_1_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54" name="Google Shape;1154;g2b846964407_1_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5" name="Shape 1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6" name="Google Shape;1166;g2b846964407_1_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67" name="Google Shape;1167;g2b846964407_1_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8" name="Shape 1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9" name="Google Shape;1179;g2b846964407_0_85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0" name="Google Shape;1180;g2b846964407_0_8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6" name="Shape 1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7" name="Google Shape;1187;g2b846964407_0_87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8" name="Google Shape;1188;g2b846964407_0_8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1" name="Shape 1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2" name="Google Shape;1212;g2b846964407_1_7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13" name="Google Shape;1213;g2b846964407_1_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7" name="Shape 1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8" name="Google Shape;1228;g2b846964407_1_10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29" name="Google Shape;1229;g2b846964407_1_10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1" name="Shape 1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2" name="Google Shape;1242;g2b846964407_1_1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43" name="Google Shape;1243;g2b846964407_1_1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9" name="Shape 1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0" name="Google Shape;1250;g2b846964407_1_20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51" name="Google Shape;1251;g2b846964407_1_20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1" name="Shape 1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2" name="Google Shape;1262;g1f1c135fca3_0_2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3" name="Google Shape;1263;g1f1c135fca3_0_2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9" name="Shape 1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0" name="Google Shape;1270;g1f1c135fca3_0_2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71" name="Google Shape;1271;g1f1c135fca3_0_2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6" name="Shape 1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7" name="Google Shape;1277;g2b846964407_1_2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78" name="Google Shape;1278;g2b846964407_1_2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2" name="Shape 1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3" name="Google Shape;1283;g1f1c135fca3_0_2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84" name="Google Shape;1284;g1f1c135fca3_0_2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8" name="Shape 1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9" name="Google Shape;1289;g1f1c135fca3_0_27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90" name="Google Shape;1290;g1f1c135fca3_0_2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5" name="Shape 1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6" name="Google Shape;1296;g1f1c135fca3_0_26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97" name="Google Shape;1297;g1f1c135fca3_0_2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2" name="Shape 1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3" name="Google Shape;1303;g1f1c135fca3_0_2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04" name="Google Shape;1304;g1f1c135fca3_0_2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9" name="Shape 1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0" name="Google Shape;1310;g1f1c135fca3_0_2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11" name="Google Shape;1311;g1f1c135fca3_0_2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6" name="Shape 1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7" name="Google Shape;1317;g1f1c135fca3_0_25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18" name="Google Shape;1318;g1f1c135fca3_0_2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3" name="Shape 1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4" name="Google Shape;1324;g279955a40ae_0_8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5" name="Google Shape;1325;g279955a40ae_0_8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9" name="Shape 1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0" name="Google Shape;1330;g279955a40ae_0_8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31" name="Google Shape;1331;g279955a40ae_0_8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Relationship Id="rId3" Type="http://schemas.openxmlformats.org/officeDocument/2006/relationships/image" Target="../media/image2.png"/><Relationship Id="rId4" Type="http://schemas.openxmlformats.org/officeDocument/2006/relationships/image" Target="../media/image5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9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Relationship Id="rId3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Relationship Id="rId3" Type="http://schemas.openxmlformats.org/officeDocument/2006/relationships/image" Target="../media/image2.png"/><Relationship Id="rId4" Type="http://schemas.openxmlformats.org/officeDocument/2006/relationships/image" Target="../media/image6.png"/><Relationship Id="rId5" Type="http://schemas.openxmlformats.org/officeDocument/2006/relationships/image" Target="../media/image7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2.png"/><Relationship Id="rId4" Type="http://schemas.openxmlformats.org/officeDocument/2006/relationships/image" Target="../media/image9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9.png"/><Relationship Id="rId4" Type="http://schemas.openxmlformats.org/officeDocument/2006/relationships/image" Target="../media/image10.png"/><Relationship Id="rId5" Type="http://schemas.openxmlformats.org/officeDocument/2006/relationships/image" Target="../media/image11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Relationship Id="rId3" Type="http://schemas.openxmlformats.org/officeDocument/2006/relationships/image" Target="../media/image12.png"/><Relationship Id="rId4" Type="http://schemas.openxmlformats.org/officeDocument/2006/relationships/image" Target="../media/image2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Relationship Id="rId3" Type="http://schemas.openxmlformats.org/officeDocument/2006/relationships/image" Target="../media/image2.png"/><Relationship Id="rId4" Type="http://schemas.openxmlformats.org/officeDocument/2006/relationships/image" Target="../media/image14.png"/><Relationship Id="rId5" Type="http://schemas.openxmlformats.org/officeDocument/2006/relationships/image" Target="../media/image16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Relationship Id="rId3" Type="http://schemas.openxmlformats.org/officeDocument/2006/relationships/image" Target="../media/image13.png"/><Relationship Id="rId4" Type="http://schemas.openxmlformats.org/officeDocument/2006/relationships/image" Target="../media/image2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5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8.png"/><Relationship Id="rId3" Type="http://schemas.openxmlformats.org/officeDocument/2006/relationships/image" Target="../media/image17.png"/><Relationship Id="rId4" Type="http://schemas.openxmlformats.org/officeDocument/2006/relationships/image" Target="../media/image19.png"/><Relationship Id="rId5" Type="http://schemas.openxmlformats.org/officeDocument/2006/relationships/image" Target="../media/image20.png"/><Relationship Id="rId6" Type="http://schemas.openxmlformats.org/officeDocument/2006/relationships/image" Target="../media/image21.png"/><Relationship Id="rId7" Type="http://schemas.openxmlformats.org/officeDocument/2006/relationships/image" Target="../media/image22.png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4.png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4.png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4.png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4.png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3.png"/><Relationship Id="rId3" Type="http://schemas.openxmlformats.org/officeDocument/2006/relationships/image" Target="../media/image26.png"/><Relationship Id="rId4" Type="http://schemas.openxmlformats.org/officeDocument/2006/relationships/image" Target="../media/image37.png"/><Relationship Id="rId5" Type="http://schemas.openxmlformats.org/officeDocument/2006/relationships/image" Target="../media/image29.png"/><Relationship Id="rId6" Type="http://schemas.openxmlformats.org/officeDocument/2006/relationships/image" Target="../media/image27.png"/><Relationship Id="rId7" Type="http://schemas.openxmlformats.org/officeDocument/2006/relationships/image" Target="../media/image24.png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8.png"/><Relationship Id="rId3" Type="http://schemas.openxmlformats.org/officeDocument/2006/relationships/image" Target="../media/image37.png"/><Relationship Id="rId4" Type="http://schemas.openxmlformats.org/officeDocument/2006/relationships/image" Target="../media/image23.png"/><Relationship Id="rId9" Type="http://schemas.openxmlformats.org/officeDocument/2006/relationships/image" Target="../media/image24.png"/><Relationship Id="rId5" Type="http://schemas.openxmlformats.org/officeDocument/2006/relationships/image" Target="../media/image26.png"/><Relationship Id="rId6" Type="http://schemas.openxmlformats.org/officeDocument/2006/relationships/image" Target="../media/image30.png"/><Relationship Id="rId7" Type="http://schemas.openxmlformats.org/officeDocument/2006/relationships/image" Target="../media/image29.png"/><Relationship Id="rId8" Type="http://schemas.openxmlformats.org/officeDocument/2006/relationships/image" Target="../media/image27.png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8.png"/><Relationship Id="rId3" Type="http://schemas.openxmlformats.org/officeDocument/2006/relationships/image" Target="../media/image37.png"/><Relationship Id="rId4" Type="http://schemas.openxmlformats.org/officeDocument/2006/relationships/image" Target="../media/image32.png"/><Relationship Id="rId11" Type="http://schemas.openxmlformats.org/officeDocument/2006/relationships/image" Target="../media/image24.png"/><Relationship Id="rId10" Type="http://schemas.openxmlformats.org/officeDocument/2006/relationships/image" Target="../media/image35.png"/><Relationship Id="rId9" Type="http://schemas.openxmlformats.org/officeDocument/2006/relationships/image" Target="../media/image27.png"/><Relationship Id="rId5" Type="http://schemas.openxmlformats.org/officeDocument/2006/relationships/image" Target="../media/image23.png"/><Relationship Id="rId6" Type="http://schemas.openxmlformats.org/officeDocument/2006/relationships/image" Target="../media/image26.png"/><Relationship Id="rId7" Type="http://schemas.openxmlformats.org/officeDocument/2006/relationships/image" Target="../media/image30.png"/><Relationship Id="rId8" Type="http://schemas.openxmlformats.org/officeDocument/2006/relationships/image" Target="../media/image29.png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6.png"/><Relationship Id="rId3" Type="http://schemas.openxmlformats.org/officeDocument/2006/relationships/image" Target="../media/image38.png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9.png"/><Relationship Id="rId3" Type="http://schemas.openxmlformats.org/officeDocument/2006/relationships/image" Target="../media/image38.png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0.png"/><Relationship Id="rId3" Type="http://schemas.openxmlformats.org/officeDocument/2006/relationships/image" Target="../media/image38.png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2.png"/><Relationship Id="rId3" Type="http://schemas.openxmlformats.org/officeDocument/2006/relationships/image" Target="../media/image38.png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6.png"/><Relationship Id="rId3" Type="http://schemas.openxmlformats.org/officeDocument/2006/relationships/image" Target="../media/image38.png"/><Relationship Id="rId4" Type="http://schemas.openxmlformats.org/officeDocument/2006/relationships/image" Target="../media/image43.png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9.png"/><Relationship Id="rId3" Type="http://schemas.openxmlformats.org/officeDocument/2006/relationships/image" Target="../media/image38.png"/><Relationship Id="rId4" Type="http://schemas.openxmlformats.org/officeDocument/2006/relationships/image" Target="../media/image43.png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0.png"/><Relationship Id="rId3" Type="http://schemas.openxmlformats.org/officeDocument/2006/relationships/image" Target="../media/image38.png"/><Relationship Id="rId4" Type="http://schemas.openxmlformats.org/officeDocument/2006/relationships/image" Target="../media/image43.png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2.png"/><Relationship Id="rId3" Type="http://schemas.openxmlformats.org/officeDocument/2006/relationships/image" Target="../media/image38.png"/><Relationship Id="rId4" Type="http://schemas.openxmlformats.org/officeDocument/2006/relationships/image" Target="../media/image43.png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5.png"/><Relationship Id="rId3" Type="http://schemas.openxmlformats.org/officeDocument/2006/relationships/image" Target="../media/image36.png"/><Relationship Id="rId4" Type="http://schemas.openxmlformats.org/officeDocument/2006/relationships/image" Target="../media/image43.png"/><Relationship Id="rId5" Type="http://schemas.openxmlformats.org/officeDocument/2006/relationships/image" Target="../media/image44.png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9.png"/><Relationship Id="rId3" Type="http://schemas.openxmlformats.org/officeDocument/2006/relationships/image" Target="../media/image43.png"/><Relationship Id="rId4" Type="http://schemas.openxmlformats.org/officeDocument/2006/relationships/image" Target="../media/image44.png"/><Relationship Id="rId5" Type="http://schemas.openxmlformats.org/officeDocument/2006/relationships/image" Target="../media/image45.png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0.png"/><Relationship Id="rId3" Type="http://schemas.openxmlformats.org/officeDocument/2006/relationships/image" Target="../media/image43.png"/><Relationship Id="rId4" Type="http://schemas.openxmlformats.org/officeDocument/2006/relationships/image" Target="../media/image44.png"/><Relationship Id="rId5" Type="http://schemas.openxmlformats.org/officeDocument/2006/relationships/image" Target="../media/image45.png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2.png"/><Relationship Id="rId3" Type="http://schemas.openxmlformats.org/officeDocument/2006/relationships/image" Target="../media/image43.png"/><Relationship Id="rId4" Type="http://schemas.openxmlformats.org/officeDocument/2006/relationships/image" Target="../media/image44.png"/><Relationship Id="rId5" Type="http://schemas.openxmlformats.org/officeDocument/2006/relationships/image" Target="../media/image45.png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6.png"/><Relationship Id="rId3" Type="http://schemas.openxmlformats.org/officeDocument/2006/relationships/image" Target="../media/image43.png"/><Relationship Id="rId4" Type="http://schemas.openxmlformats.org/officeDocument/2006/relationships/image" Target="../media/image44.png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9.png"/><Relationship Id="rId3" Type="http://schemas.openxmlformats.org/officeDocument/2006/relationships/image" Target="../media/image43.png"/><Relationship Id="rId4" Type="http://schemas.openxmlformats.org/officeDocument/2006/relationships/image" Target="../media/image44.png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0.png"/><Relationship Id="rId3" Type="http://schemas.openxmlformats.org/officeDocument/2006/relationships/image" Target="../media/image43.png"/><Relationship Id="rId4" Type="http://schemas.openxmlformats.org/officeDocument/2006/relationships/image" Target="../media/image44.png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2.png"/><Relationship Id="rId3" Type="http://schemas.openxmlformats.org/officeDocument/2006/relationships/image" Target="../media/image43.png"/><Relationship Id="rId4" Type="http://schemas.openxmlformats.org/officeDocument/2006/relationships/image" Target="../media/image44.png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6.png"/><Relationship Id="rId3" Type="http://schemas.openxmlformats.org/officeDocument/2006/relationships/image" Target="../media/image43.png"/><Relationship Id="rId4" Type="http://schemas.openxmlformats.org/officeDocument/2006/relationships/image" Target="../media/image44.png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9.png"/><Relationship Id="rId3" Type="http://schemas.openxmlformats.org/officeDocument/2006/relationships/image" Target="../media/image43.png"/><Relationship Id="rId4" Type="http://schemas.openxmlformats.org/officeDocument/2006/relationships/image" Target="../media/image44.png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0.png"/><Relationship Id="rId3" Type="http://schemas.openxmlformats.org/officeDocument/2006/relationships/image" Target="../media/image43.png"/><Relationship Id="rId4" Type="http://schemas.openxmlformats.org/officeDocument/2006/relationships/image" Target="../media/image44.png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2.png"/><Relationship Id="rId3" Type="http://schemas.openxmlformats.org/officeDocument/2006/relationships/image" Target="../media/image43.png"/><Relationship Id="rId4" Type="http://schemas.openxmlformats.org/officeDocument/2006/relationships/image" Target="../media/image44.png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6.png"/><Relationship Id="rId3" Type="http://schemas.openxmlformats.org/officeDocument/2006/relationships/image" Target="../media/image43.png"/><Relationship Id="rId4" Type="http://schemas.openxmlformats.org/officeDocument/2006/relationships/image" Target="../media/image44.png"/></Relationships>
</file>

<file path=ppt/slideLayouts/_rels/slideLayout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9.png"/><Relationship Id="rId3" Type="http://schemas.openxmlformats.org/officeDocument/2006/relationships/image" Target="../media/image43.png"/><Relationship Id="rId4" Type="http://schemas.openxmlformats.org/officeDocument/2006/relationships/image" Target="../media/image44.png"/></Relationships>
</file>

<file path=ppt/slideLayouts/_rels/slideLayout4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0.png"/><Relationship Id="rId3" Type="http://schemas.openxmlformats.org/officeDocument/2006/relationships/image" Target="../media/image43.png"/><Relationship Id="rId4" Type="http://schemas.openxmlformats.org/officeDocument/2006/relationships/image" Target="../media/image44.png"/></Relationships>
</file>

<file path=ppt/slideLayouts/_rels/slideLayout4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2.png"/><Relationship Id="rId3" Type="http://schemas.openxmlformats.org/officeDocument/2006/relationships/image" Target="../media/image43.png"/><Relationship Id="rId4" Type="http://schemas.openxmlformats.org/officeDocument/2006/relationships/image" Target="../media/image44.png"/></Relationships>
</file>

<file path=ppt/slideLayouts/_rels/slideLayout4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6.png"/><Relationship Id="rId3" Type="http://schemas.openxmlformats.org/officeDocument/2006/relationships/image" Target="../media/image43.png"/></Relationships>
</file>

<file path=ppt/slideLayouts/_rels/slideLayout4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9.png"/><Relationship Id="rId3" Type="http://schemas.openxmlformats.org/officeDocument/2006/relationships/image" Target="../media/image43.png"/></Relationships>
</file>

<file path=ppt/slideLayouts/_rels/slideLayout4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0.png"/><Relationship Id="rId3" Type="http://schemas.openxmlformats.org/officeDocument/2006/relationships/image" Target="../media/image43.png"/></Relationships>
</file>

<file path=ppt/slideLayouts/_rels/slideLayout4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2.png"/><Relationship Id="rId3" Type="http://schemas.openxmlformats.org/officeDocument/2006/relationships/image" Target="../media/image43.png"/></Relationships>
</file>

<file path=ppt/slideLayouts/_rels/slideLayout4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6.png"/><Relationship Id="rId3" Type="http://schemas.openxmlformats.org/officeDocument/2006/relationships/image" Target="../media/image46.png"/></Relationships>
</file>

<file path=ppt/slideLayouts/_rels/slideLayout4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9.png"/><Relationship Id="rId3" Type="http://schemas.openxmlformats.org/officeDocument/2006/relationships/image" Target="../media/image46.png"/></Relationships>
</file>

<file path=ppt/slideLayouts/_rels/slideLayout4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0.png"/><Relationship Id="rId3" Type="http://schemas.openxmlformats.org/officeDocument/2006/relationships/image" Target="../media/image46.png"/></Relationships>
</file>

<file path=ppt/slideLayouts/_rels/slideLayout5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2.png"/><Relationship Id="rId3" Type="http://schemas.openxmlformats.org/officeDocument/2006/relationships/image" Target="../media/image46.png"/></Relationships>
</file>

<file path=ppt/slideLayouts/_rels/slideLayout5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6.png"/><Relationship Id="rId3" Type="http://schemas.openxmlformats.org/officeDocument/2006/relationships/image" Target="../media/image47.png"/></Relationships>
</file>

<file path=ppt/slideLayouts/_rels/slideLayout5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9.png"/><Relationship Id="rId3" Type="http://schemas.openxmlformats.org/officeDocument/2006/relationships/image" Target="../media/image47.png"/></Relationships>
</file>

<file path=ppt/slideLayouts/_rels/slideLayout5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0.png"/><Relationship Id="rId3" Type="http://schemas.openxmlformats.org/officeDocument/2006/relationships/image" Target="../media/image47.png"/></Relationships>
</file>

<file path=ppt/slideLayouts/_rels/slideLayout5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2.png"/><Relationship Id="rId3" Type="http://schemas.openxmlformats.org/officeDocument/2006/relationships/image" Target="../media/image47.png"/></Relationships>
</file>

<file path=ppt/slideLayouts/_rels/slideLayout5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4.png"/></Relationships>
</file>

<file path=ppt/slideLayouts/_rels/slideLayout5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4.png"/></Relationships>
</file>

<file path=ppt/slideLayouts/_rels/slideLayout5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/Relationships>
</file>

<file path=ppt/slideLayouts/_rels/slideLayout5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5.png"/></Relationships>
</file>

<file path=ppt/slideLayouts/_rels/slideLayout6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4.png"/></Relationships>
</file>

<file path=ppt/slideLayouts/_rels/slideLayout6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4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English" showMasterSp="0">
  <p:cSld name="Title Slide 2_1">
    <p:bg>
      <p:bgPr>
        <a:solidFill>
          <a:srgbClr val="BEF2BD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oogle Shape;10;p2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11;p2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English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" name="Google Shape;12;p2"/>
          <p:cNvSpPr txBox="1"/>
          <p:nvPr>
            <p:ph type="ctrTitle"/>
          </p:nvPr>
        </p:nvSpPr>
        <p:spPr>
          <a:xfrm>
            <a:off x="323850" y="810000"/>
            <a:ext cx="54507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" type="subTitle"/>
          </p:nvPr>
        </p:nvSpPr>
        <p:spPr>
          <a:xfrm>
            <a:off x="890225" y="4327975"/>
            <a:ext cx="59862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14" name="Google Shape;14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" name="Google Shape;15;p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16" name="Google Shape;16;p2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2867">
          <p15:clr>
            <a:srgbClr val="E46962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Maths" showMasterSp="0">
  <p:cSld name="Title Slide 2_1_1">
    <p:bg>
      <p:bgPr>
        <a:solidFill>
          <a:srgbClr val="BEF2BD"/>
        </a:solidFill>
      </p:bgPr>
    </p:bg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Google Shape;18;p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19" name="Google Shape;19;p3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Maths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" name="Google Shape;21;p3"/>
          <p:cNvSpPr txBox="1"/>
          <p:nvPr>
            <p:ph idx="1" type="subTitle"/>
          </p:nvPr>
        </p:nvSpPr>
        <p:spPr>
          <a:xfrm>
            <a:off x="890225" y="4327975"/>
            <a:ext cx="57585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22" name="Google Shape;22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23" name="Google Shape;23;p3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pic>
        <p:nvPicPr>
          <p:cNvPr id="24" name="Google Shape;24;p3"/>
          <p:cNvPicPr preferRelativeResize="0"/>
          <p:nvPr/>
        </p:nvPicPr>
        <p:blipFill rotWithShape="1">
          <a:blip r:embed="rId4">
            <a:alphaModFix/>
          </a:blip>
          <a:srcRect b="0" l="6209" r="6209" t="0"/>
          <a:stretch/>
        </p:blipFill>
        <p:spPr>
          <a:xfrm>
            <a:off x="324000" y="4008600"/>
            <a:ext cx="707200" cy="12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Geography" showMasterSp="0">
  <p:cSld name="Title Slide 2_1_1_1">
    <p:bg>
      <p:bgPr>
        <a:solidFill>
          <a:srgbClr val="BEF2BD"/>
        </a:solidFill>
      </p:bgPr>
    </p:bg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Google Shape;26;p4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1259825" cy="12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" name="Google Shape;27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28" name="Google Shape;28;p4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9" name="Google Shape;29;p4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Geography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" name="Google Shape;30;p4"/>
          <p:cNvSpPr txBox="1"/>
          <p:nvPr>
            <p:ph idx="1" type="subTitle"/>
          </p:nvPr>
        </p:nvSpPr>
        <p:spPr>
          <a:xfrm>
            <a:off x="890225" y="4327975"/>
            <a:ext cx="59976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31" name="Google Shape;31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32" name="Google Shape;32;p4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History" showMasterSp="0">
  <p:cSld name="Title Slide 2_1_1_1_1">
    <p:bg>
      <p:bgPr>
        <a:solidFill>
          <a:srgbClr val="BEF2BD"/>
        </a:solidFill>
      </p:bgPr>
    </p:bg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" name="Google Shape;34;p5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sp>
        <p:nvSpPr>
          <p:cNvPr id="35" name="Google Shape;35;p5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6" name="Google Shape;36;p5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History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7" name="Google Shape;37;p5"/>
          <p:cNvSpPr txBox="1"/>
          <p:nvPr>
            <p:ph idx="1" type="subTitle"/>
          </p:nvPr>
        </p:nvSpPr>
        <p:spPr>
          <a:xfrm>
            <a:off x="890225" y="4327975"/>
            <a:ext cx="58041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38" name="Google Shape;38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39" name="Google Shape;39;p5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grpSp>
        <p:nvGrpSpPr>
          <p:cNvPr id="40" name="Google Shape;40;p5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41" name="Google Shape;41;p5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2" name="Google Shape;42;p5"/>
            <p:cNvSpPr/>
            <p:nvPr/>
          </p:nvSpPr>
          <p:spPr>
            <a:xfrm>
              <a:off x="6860400" y="1205850"/>
              <a:ext cx="1959600" cy="1365900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43" name="Google Shape;43;p5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 rot="-378432">
              <a:off x="7001357" y="1317070"/>
              <a:ext cx="1677682" cy="1143462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Music" showMasterSp="0">
  <p:cSld name="Title Slide 2_1_1_1_1_1">
    <p:bg>
      <p:bgPr>
        <a:solidFill>
          <a:srgbClr val="BEF2BD"/>
        </a:solidFill>
      </p:bgPr>
    </p:bg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" name="Google Shape;45;p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46" name="Google Shape;46;p6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7" name="Google Shape;47;p6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Music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8" name="Google Shape;48;p6"/>
          <p:cNvSpPr txBox="1"/>
          <p:nvPr>
            <p:ph idx="1" type="subTitle"/>
          </p:nvPr>
        </p:nvSpPr>
        <p:spPr>
          <a:xfrm>
            <a:off x="890225" y="4327975"/>
            <a:ext cx="57870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49" name="Google Shape;49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50" name="Google Shape;50;p6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pic>
        <p:nvPicPr>
          <p:cNvPr id="51" name="Google Shape;51;p6"/>
          <p:cNvPicPr preferRelativeResize="0"/>
          <p:nvPr/>
        </p:nvPicPr>
        <p:blipFill rotWithShape="1">
          <a:blip r:embed="rId4">
            <a:alphaModFix/>
          </a:blip>
          <a:srcRect b="0" l="6209" r="6209" t="0"/>
          <a:stretch/>
        </p:blipFill>
        <p:spPr>
          <a:xfrm>
            <a:off x="324000" y="4008600"/>
            <a:ext cx="661625" cy="12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Science" showMasterSp="0">
  <p:cSld name="Title Slide 2_1_1_1_1_1_1">
    <p:bg>
      <p:bgPr>
        <a:solidFill>
          <a:srgbClr val="BEF2BD"/>
        </a:solidFill>
      </p:bgPr>
    </p:bg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7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4" name="Google Shape;54;p7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Science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5" name="Google Shape;55;p7"/>
          <p:cNvSpPr txBox="1"/>
          <p:nvPr>
            <p:ph idx="1" type="subTitle"/>
          </p:nvPr>
        </p:nvSpPr>
        <p:spPr>
          <a:xfrm>
            <a:off x="890225" y="4327975"/>
            <a:ext cx="57927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56" name="Google Shape;56;p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57" name="Google Shape;57;p7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pic>
        <p:nvPicPr>
          <p:cNvPr id="58" name="Google Shape;58;p7"/>
          <p:cNvPicPr preferRelativeResize="0"/>
          <p:nvPr/>
        </p:nvPicPr>
        <p:blipFill rotWithShape="1">
          <a:blip r:embed="rId3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59" name="Google Shape;59;p7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60" name="Google Shape;60;p7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1" name="Google Shape;61;p7"/>
            <p:cNvSpPr/>
            <p:nvPr/>
          </p:nvSpPr>
          <p:spPr>
            <a:xfrm>
              <a:off x="6860400" y="869975"/>
              <a:ext cx="1959600" cy="2007000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62" name="Google Shape;62;p7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 rot="-311816">
              <a:off x="7083000" y="1110274"/>
              <a:ext cx="1514398" cy="1526398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Biology" showMasterSp="0">
  <p:cSld name="Title Slide 2_1_1_1_1_1_1_1">
    <p:bg>
      <p:bgPr>
        <a:solidFill>
          <a:srgbClr val="BEF2BD"/>
        </a:solidFill>
      </p:bgPr>
    </p:bg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4" name="Google Shape;64;p8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pic>
        <p:nvPicPr>
          <p:cNvPr id="65" name="Google Shape;65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66" name="Google Shape;66;p8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7" name="Google Shape;67;p8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Biology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8" name="Google Shape;68;p8"/>
          <p:cNvSpPr txBox="1"/>
          <p:nvPr>
            <p:ph idx="1" type="subTitle"/>
          </p:nvPr>
        </p:nvSpPr>
        <p:spPr>
          <a:xfrm>
            <a:off x="890225" y="4327975"/>
            <a:ext cx="57756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69" name="Google Shape;69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70" name="Google Shape;70;p8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Physics" showMasterSp="0">
  <p:cSld name="Title Slide 2_1_1_1_1_1_1_1_1">
    <p:bg>
      <p:bgPr>
        <a:solidFill>
          <a:srgbClr val="BEF2BD"/>
        </a:solidFill>
      </p:bgPr>
    </p:bg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2" name="Google Shape;72;p9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sp>
        <p:nvSpPr>
          <p:cNvPr id="73" name="Google Shape;73;p9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4" name="Google Shape;74;p9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Physics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5" name="Google Shape;75;p9"/>
          <p:cNvSpPr txBox="1"/>
          <p:nvPr>
            <p:ph idx="1" type="subTitle"/>
          </p:nvPr>
        </p:nvSpPr>
        <p:spPr>
          <a:xfrm>
            <a:off x="890225" y="4327975"/>
            <a:ext cx="57585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76" name="Google Shape;76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77" name="Google Shape;77;p9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grpSp>
        <p:nvGrpSpPr>
          <p:cNvPr id="78" name="Google Shape;78;p9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79" name="Google Shape;79;p9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0" name="Google Shape;80;p9"/>
            <p:cNvSpPr/>
            <p:nvPr/>
          </p:nvSpPr>
          <p:spPr>
            <a:xfrm>
              <a:off x="6898050" y="839288"/>
              <a:ext cx="1959600" cy="2354700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81" name="Google Shape;81;p9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 rot="-384492">
              <a:off x="7235674" y="1037850"/>
              <a:ext cx="1204851" cy="1957577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Chemistry" showMasterSp="0">
  <p:cSld name="Title Slide 2_1_1_1_1_1_1_1_1_1">
    <p:bg>
      <p:bgPr>
        <a:solidFill>
          <a:srgbClr val="BEF2BD"/>
        </a:solidFill>
      </p:bgPr>
    </p:bg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3" name="Google Shape;83;p10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1117400" cy="12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4" name="Google Shape;84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0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6" name="Google Shape;86;p10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Chemistry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7" name="Google Shape;87;p10"/>
          <p:cNvSpPr txBox="1"/>
          <p:nvPr>
            <p:ph idx="1" type="subTitle"/>
          </p:nvPr>
        </p:nvSpPr>
        <p:spPr>
          <a:xfrm>
            <a:off x="890225" y="4327975"/>
            <a:ext cx="58551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88" name="Google Shape;88;p1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p10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1 Outcome">
  <p:cSld name="CUSTOM_5">
    <p:bg>
      <p:bgPr>
        <a:solidFill>
          <a:srgbClr val="BEF2BD"/>
        </a:solidFill>
      </p:bgPr>
    </p:bg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1" name="Google Shape;91;p1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343225" y="1388370"/>
            <a:ext cx="7945600" cy="2919776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11"/>
          <p:cNvSpPr txBox="1"/>
          <p:nvPr/>
        </p:nvSpPr>
        <p:spPr>
          <a:xfrm>
            <a:off x="325207" y="454765"/>
            <a:ext cx="45756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800">
                <a:latin typeface="Lexend"/>
                <a:ea typeface="Lexend"/>
                <a:cs typeface="Lexend"/>
                <a:sym typeface="Lexend"/>
              </a:rPr>
              <a:t>Outcome</a:t>
            </a:r>
            <a:endParaRPr b="1" sz="2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3" name="Google Shape;93;p11"/>
          <p:cNvSpPr txBox="1"/>
          <p:nvPr>
            <p:ph idx="1" type="subTitle"/>
          </p:nvPr>
        </p:nvSpPr>
        <p:spPr>
          <a:xfrm>
            <a:off x="585575" y="1463950"/>
            <a:ext cx="7351200" cy="276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2 Hidden guidance slide">
  <p:cSld name="CUSTOM_1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2"/>
          <p:cNvSpPr txBox="1"/>
          <p:nvPr/>
        </p:nvSpPr>
        <p:spPr>
          <a:xfrm>
            <a:off x="329775" y="953475"/>
            <a:ext cx="42414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Oak’s lessons are structured around </a:t>
            </a: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learning cycles</a:t>
            </a:r>
            <a:r>
              <a:rPr i="1" lang="en-GB" sz="1200">
                <a:latin typeface="Lexend"/>
                <a:ea typeface="Lexend"/>
                <a:cs typeface="Lexend"/>
                <a:sym typeface="Lexend"/>
              </a:rPr>
              <a:t>.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These are indicated through colour in the slide deck: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6" name="Google Shape;96;p12"/>
          <p:cNvSpPr txBox="1"/>
          <p:nvPr/>
        </p:nvSpPr>
        <p:spPr>
          <a:xfrm>
            <a:off x="329775" y="629475"/>
            <a:ext cx="42414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600">
                <a:latin typeface="Lexend"/>
                <a:ea typeface="Lexend"/>
                <a:cs typeface="Lexend"/>
                <a:sym typeface="Lexend"/>
              </a:rPr>
              <a:t>Oak’s lesson structure</a:t>
            </a:r>
            <a:endParaRPr b="1" sz="16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7" name="Google Shape;97;p12"/>
          <p:cNvSpPr txBox="1"/>
          <p:nvPr/>
        </p:nvSpPr>
        <p:spPr>
          <a:xfrm>
            <a:off x="4901925" y="629475"/>
            <a:ext cx="40128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600">
                <a:latin typeface="Lexend"/>
                <a:ea typeface="Lexend"/>
                <a:cs typeface="Lexend"/>
                <a:sym typeface="Lexend"/>
              </a:rPr>
              <a:t>Useful links</a:t>
            </a:r>
            <a:endParaRPr b="1" sz="16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8" name="Google Shape;98;p12"/>
          <p:cNvSpPr txBox="1"/>
          <p:nvPr/>
        </p:nvSpPr>
        <p:spPr>
          <a:xfrm>
            <a:off x="329775" y="3205950"/>
            <a:ext cx="42072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Each</a:t>
            </a: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 learning cycle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covers several phases: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99" name="Google Shape;99;p12"/>
          <p:cNvGrpSpPr/>
          <p:nvPr/>
        </p:nvGrpSpPr>
        <p:grpSpPr>
          <a:xfrm>
            <a:off x="2650916" y="1644417"/>
            <a:ext cx="1745270" cy="1430724"/>
            <a:chOff x="2642961" y="1644312"/>
            <a:chExt cx="1454634" cy="1195657"/>
          </a:xfrm>
        </p:grpSpPr>
        <p:pic>
          <p:nvPicPr>
            <p:cNvPr id="100" name="Google Shape;100;p12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>
              <a:off x="2642975" y="1644312"/>
              <a:ext cx="1454621" cy="287396"/>
            </a:xfrm>
            <a:prstGeom prst="rect">
              <a:avLst/>
            </a:prstGeom>
            <a:noFill/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</p:pic>
        <p:pic>
          <p:nvPicPr>
            <p:cNvPr id="101" name="Google Shape;101;p12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2642975" y="1936215"/>
              <a:ext cx="1454618" cy="287940"/>
            </a:xfrm>
            <a:prstGeom prst="rect">
              <a:avLst/>
            </a:prstGeom>
            <a:noFill/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</p:pic>
        <p:pic>
          <p:nvPicPr>
            <p:cNvPr id="102" name="Google Shape;102;p1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2642965" y="2251391"/>
              <a:ext cx="1454621" cy="284581"/>
            </a:xfrm>
            <a:prstGeom prst="rect">
              <a:avLst/>
            </a:prstGeom>
            <a:noFill/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</p:pic>
        <p:pic>
          <p:nvPicPr>
            <p:cNvPr id="103" name="Google Shape;103;p12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2642961" y="2563206"/>
              <a:ext cx="1454620" cy="276764"/>
            </a:xfrm>
            <a:prstGeom prst="rect">
              <a:avLst/>
            </a:prstGeom>
            <a:noFill/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</p:pic>
      </p:grpSp>
      <p:pic>
        <p:nvPicPr>
          <p:cNvPr id="104" name="Google Shape;104;p12"/>
          <p:cNvPicPr preferRelativeResize="0"/>
          <p:nvPr/>
        </p:nvPicPr>
        <p:blipFill rotWithShape="1">
          <a:blip r:embed="rId6">
            <a:alphaModFix/>
          </a:blip>
          <a:srcRect b="5222" l="3910" r="0" t="0"/>
          <a:stretch/>
        </p:blipFill>
        <p:spPr>
          <a:xfrm>
            <a:off x="1328513" y="3569750"/>
            <a:ext cx="2057336" cy="1195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5" name="Google Shape;105;p12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98750" y="1778088"/>
            <a:ext cx="2057324" cy="1163398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  <p:sp>
        <p:nvSpPr>
          <p:cNvPr id="106" name="Google Shape;106;p12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Teacher Guidance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0 Keywords (3)">
  <p:cSld name="CUSTOM_3_1"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13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09" name="Google Shape;109;p13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10" name="Google Shape;110;p13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13"/>
          <p:cNvSpPr txBox="1"/>
          <p:nvPr>
            <p:ph idx="1" type="subTitle"/>
          </p:nvPr>
        </p:nvSpPr>
        <p:spPr>
          <a:xfrm>
            <a:off x="324000" y="8100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12" name="Google Shape;112;p13"/>
          <p:cNvSpPr txBox="1"/>
          <p:nvPr>
            <p:ph idx="2" type="subTitle"/>
          </p:nvPr>
        </p:nvSpPr>
        <p:spPr>
          <a:xfrm>
            <a:off x="2699325" y="8100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13" name="Google Shape;113;p13"/>
          <p:cNvSpPr txBox="1"/>
          <p:nvPr>
            <p:ph idx="3" type="subTitle"/>
          </p:nvPr>
        </p:nvSpPr>
        <p:spPr>
          <a:xfrm>
            <a:off x="324000" y="21054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14" name="Google Shape;114;p13"/>
          <p:cNvSpPr txBox="1"/>
          <p:nvPr>
            <p:ph idx="4" type="subTitle"/>
          </p:nvPr>
        </p:nvSpPr>
        <p:spPr>
          <a:xfrm>
            <a:off x="2699325" y="21054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15" name="Google Shape;115;p13"/>
          <p:cNvSpPr txBox="1"/>
          <p:nvPr>
            <p:ph idx="5" type="subTitle"/>
          </p:nvPr>
        </p:nvSpPr>
        <p:spPr>
          <a:xfrm>
            <a:off x="324000" y="34008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16" name="Google Shape;116;p13"/>
          <p:cNvSpPr txBox="1"/>
          <p:nvPr>
            <p:ph idx="6" type="subTitle"/>
          </p:nvPr>
        </p:nvSpPr>
        <p:spPr>
          <a:xfrm>
            <a:off x="2699325" y="34008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0 Keywords (4)">
  <p:cSld name="CUSTOM_3_1_1"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14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19" name="Google Shape;119;p14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20" name="Google Shape;120;p14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14"/>
          <p:cNvSpPr txBox="1"/>
          <p:nvPr>
            <p:ph idx="1" type="subTitle"/>
          </p:nvPr>
        </p:nvSpPr>
        <p:spPr>
          <a:xfrm>
            <a:off x="324000" y="8100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2" name="Google Shape;122;p14"/>
          <p:cNvSpPr txBox="1"/>
          <p:nvPr>
            <p:ph idx="2" type="subTitle"/>
          </p:nvPr>
        </p:nvSpPr>
        <p:spPr>
          <a:xfrm>
            <a:off x="2699325" y="8100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3" name="Google Shape;123;p14"/>
          <p:cNvSpPr txBox="1"/>
          <p:nvPr>
            <p:ph idx="3" type="subTitle"/>
          </p:nvPr>
        </p:nvSpPr>
        <p:spPr>
          <a:xfrm>
            <a:off x="324000" y="18006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4" name="Google Shape;124;p14"/>
          <p:cNvSpPr txBox="1"/>
          <p:nvPr>
            <p:ph idx="4" type="subTitle"/>
          </p:nvPr>
        </p:nvSpPr>
        <p:spPr>
          <a:xfrm>
            <a:off x="2699325" y="18006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5" name="Google Shape;125;p14"/>
          <p:cNvSpPr txBox="1"/>
          <p:nvPr>
            <p:ph idx="5" type="subTitle"/>
          </p:nvPr>
        </p:nvSpPr>
        <p:spPr>
          <a:xfrm>
            <a:off x="324000" y="27912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6" name="Google Shape;126;p14"/>
          <p:cNvSpPr txBox="1"/>
          <p:nvPr>
            <p:ph idx="6" type="subTitle"/>
          </p:nvPr>
        </p:nvSpPr>
        <p:spPr>
          <a:xfrm>
            <a:off x="2699325" y="27912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7" name="Google Shape;127;p14"/>
          <p:cNvSpPr txBox="1"/>
          <p:nvPr>
            <p:ph idx="7" type="subTitle"/>
          </p:nvPr>
        </p:nvSpPr>
        <p:spPr>
          <a:xfrm>
            <a:off x="324000" y="37818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8" name="Google Shape;128;p14"/>
          <p:cNvSpPr txBox="1"/>
          <p:nvPr>
            <p:ph idx="8" type="subTitle"/>
          </p:nvPr>
        </p:nvSpPr>
        <p:spPr>
          <a:xfrm>
            <a:off x="2699325" y="37818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0 Keywords (5)">
  <p:cSld name="CUSTOM_3_1_1_1"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15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31" name="Google Shape;131;p15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15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15"/>
          <p:cNvSpPr txBox="1"/>
          <p:nvPr>
            <p:ph idx="1" type="subTitle"/>
          </p:nvPr>
        </p:nvSpPr>
        <p:spPr>
          <a:xfrm>
            <a:off x="324000" y="8100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4" name="Google Shape;134;p15"/>
          <p:cNvSpPr txBox="1"/>
          <p:nvPr>
            <p:ph idx="2" type="subTitle"/>
          </p:nvPr>
        </p:nvSpPr>
        <p:spPr>
          <a:xfrm>
            <a:off x="2699325" y="8100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5" name="Google Shape;135;p15"/>
          <p:cNvSpPr txBox="1"/>
          <p:nvPr>
            <p:ph idx="3" type="subTitle"/>
          </p:nvPr>
        </p:nvSpPr>
        <p:spPr>
          <a:xfrm>
            <a:off x="324000" y="24864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6" name="Google Shape;136;p15"/>
          <p:cNvSpPr txBox="1"/>
          <p:nvPr>
            <p:ph idx="4" type="subTitle"/>
          </p:nvPr>
        </p:nvSpPr>
        <p:spPr>
          <a:xfrm>
            <a:off x="2699325" y="24864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7" name="Google Shape;137;p15"/>
          <p:cNvSpPr txBox="1"/>
          <p:nvPr>
            <p:ph idx="5" type="subTitle"/>
          </p:nvPr>
        </p:nvSpPr>
        <p:spPr>
          <a:xfrm>
            <a:off x="324000" y="41628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8" name="Google Shape;138;p15"/>
          <p:cNvSpPr txBox="1"/>
          <p:nvPr>
            <p:ph idx="6" type="subTitle"/>
          </p:nvPr>
        </p:nvSpPr>
        <p:spPr>
          <a:xfrm>
            <a:off x="2699325" y="41628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9" name="Google Shape;139;p15"/>
          <p:cNvSpPr txBox="1"/>
          <p:nvPr>
            <p:ph idx="7" type="subTitle"/>
          </p:nvPr>
        </p:nvSpPr>
        <p:spPr>
          <a:xfrm>
            <a:off x="324000" y="16482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0" name="Google Shape;140;p15"/>
          <p:cNvSpPr txBox="1"/>
          <p:nvPr>
            <p:ph idx="8" type="subTitle"/>
          </p:nvPr>
        </p:nvSpPr>
        <p:spPr>
          <a:xfrm>
            <a:off x="2699325" y="16482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1" name="Google Shape;141;p15"/>
          <p:cNvSpPr txBox="1"/>
          <p:nvPr>
            <p:ph idx="9" type="subTitle"/>
          </p:nvPr>
        </p:nvSpPr>
        <p:spPr>
          <a:xfrm>
            <a:off x="324000" y="33246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2" name="Google Shape;142;p15"/>
          <p:cNvSpPr txBox="1"/>
          <p:nvPr>
            <p:ph idx="13" type="subTitle"/>
          </p:nvPr>
        </p:nvSpPr>
        <p:spPr>
          <a:xfrm>
            <a:off x="2699325" y="33246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0 Keywords (p2, 2)">
  <p:cSld name="CUSTOM_3_1_1_1_1"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16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45" name="Google Shape;145;p16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46" name="Google Shape;146;p16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16"/>
          <p:cNvSpPr txBox="1"/>
          <p:nvPr>
            <p:ph idx="1" type="subTitle"/>
          </p:nvPr>
        </p:nvSpPr>
        <p:spPr>
          <a:xfrm>
            <a:off x="324000" y="8100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8" name="Google Shape;148;p16"/>
          <p:cNvSpPr txBox="1"/>
          <p:nvPr>
            <p:ph idx="2" type="subTitle"/>
          </p:nvPr>
        </p:nvSpPr>
        <p:spPr>
          <a:xfrm>
            <a:off x="2699325" y="8100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9" name="Google Shape;149;p16"/>
          <p:cNvSpPr txBox="1"/>
          <p:nvPr>
            <p:ph idx="3" type="subTitle"/>
          </p:nvPr>
        </p:nvSpPr>
        <p:spPr>
          <a:xfrm>
            <a:off x="324000" y="25626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50" name="Google Shape;150;p16"/>
          <p:cNvSpPr txBox="1"/>
          <p:nvPr>
            <p:ph idx="4" type="subTitle"/>
          </p:nvPr>
        </p:nvSpPr>
        <p:spPr>
          <a:xfrm>
            <a:off x="2699325" y="25626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3 Lesson outline (2)">
  <p:cSld name="CUSTOM_3"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17"/>
          <p:cNvSpPr/>
          <p:nvPr/>
        </p:nvSpPr>
        <p:spPr>
          <a:xfrm>
            <a:off x="0" y="0"/>
            <a:ext cx="9144300" cy="485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53" name="Google Shape;153;p17"/>
          <p:cNvPicPr preferRelativeResize="0"/>
          <p:nvPr/>
        </p:nvPicPr>
        <p:blipFill rotWithShape="1">
          <a:blip r:embed="rId2">
            <a:alphaModFix/>
          </a:blip>
          <a:srcRect b="3669" l="0" r="0" t="3678"/>
          <a:stretch/>
        </p:blipFill>
        <p:spPr>
          <a:xfrm>
            <a:off x="863550" y="2926472"/>
            <a:ext cx="7439126" cy="572078"/>
          </a:xfrm>
          <a:prstGeom prst="rect">
            <a:avLst/>
          </a:prstGeom>
          <a:noFill/>
          <a:ln>
            <a:noFill/>
          </a:ln>
        </p:spPr>
      </p:pic>
      <p:pic>
        <p:nvPicPr>
          <p:cNvPr id="154" name="Google Shape;154;p17"/>
          <p:cNvPicPr preferRelativeResize="0"/>
          <p:nvPr/>
        </p:nvPicPr>
        <p:blipFill rotWithShape="1">
          <a:blip r:embed="rId3">
            <a:alphaModFix/>
          </a:blip>
          <a:srcRect b="3669" l="0" r="0" t="3678"/>
          <a:stretch/>
        </p:blipFill>
        <p:spPr>
          <a:xfrm>
            <a:off x="863550" y="1989425"/>
            <a:ext cx="7439126" cy="572078"/>
          </a:xfrm>
          <a:prstGeom prst="rect">
            <a:avLst/>
          </a:prstGeom>
          <a:noFill/>
          <a:ln>
            <a:noFill/>
          </a:ln>
        </p:spPr>
      </p:pic>
      <p:pic>
        <p:nvPicPr>
          <p:cNvPr id="155" name="Google Shape;155;p17"/>
          <p:cNvPicPr preferRelativeResize="0"/>
          <p:nvPr/>
        </p:nvPicPr>
        <p:blipFill rotWithShape="1">
          <a:blip r:embed="rId4">
            <a:alphaModFix/>
          </a:blip>
          <a:srcRect b="0" l="74623" r="0" t="0"/>
          <a:stretch/>
        </p:blipFill>
        <p:spPr>
          <a:xfrm>
            <a:off x="863550" y="1954586"/>
            <a:ext cx="145900" cy="64587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56" name="Google Shape;156;p17"/>
          <p:cNvCxnSpPr>
            <a:endCxn id="157" idx="2"/>
          </p:cNvCxnSpPr>
          <p:nvPr/>
        </p:nvCxnSpPr>
        <p:spPr>
          <a:xfrm flipH="1">
            <a:off x="645063" y="2017282"/>
            <a:ext cx="2700" cy="1480500"/>
          </a:xfrm>
          <a:prstGeom prst="straightConnector1">
            <a:avLst/>
          </a:prstGeom>
          <a:noFill/>
          <a:ln cap="flat" cmpd="sng" w="38100">
            <a:solidFill>
              <a:srgbClr val="282828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58" name="Google Shape;158;p1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63482" y="1993619"/>
            <a:ext cx="563185" cy="572092"/>
          </a:xfrm>
          <a:prstGeom prst="rect">
            <a:avLst/>
          </a:prstGeom>
          <a:noFill/>
          <a:ln>
            <a:noFill/>
          </a:ln>
        </p:spPr>
      </p:pic>
      <p:sp>
        <p:nvSpPr>
          <p:cNvPr id="159" name="Google Shape;159;p17"/>
          <p:cNvSpPr txBox="1"/>
          <p:nvPr>
            <p:ph type="title"/>
          </p:nvPr>
        </p:nvSpPr>
        <p:spPr>
          <a:xfrm>
            <a:off x="1225225" y="2090813"/>
            <a:ext cx="68523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60" name="Google Shape;160;p17"/>
          <p:cNvSpPr txBox="1"/>
          <p:nvPr>
            <p:ph idx="2" type="title"/>
          </p:nvPr>
        </p:nvSpPr>
        <p:spPr>
          <a:xfrm>
            <a:off x="1225225" y="3027088"/>
            <a:ext cx="68523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57" name="Google Shape;157;p17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63340" y="2925705"/>
            <a:ext cx="56344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61" name="Google Shape;161;p17"/>
          <p:cNvPicPr preferRelativeResize="0"/>
          <p:nvPr/>
        </p:nvPicPr>
        <p:blipFill rotWithShape="1">
          <a:blip r:embed="rId7">
            <a:alphaModFix/>
          </a:blip>
          <a:srcRect b="1709" l="0" r="0" t="1699"/>
          <a:stretch/>
        </p:blipFill>
        <p:spPr>
          <a:xfrm>
            <a:off x="-12" y="4816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62" name="Google Shape;162;p17"/>
          <p:cNvSpPr txBox="1"/>
          <p:nvPr/>
        </p:nvSpPr>
        <p:spPr>
          <a:xfrm>
            <a:off x="324000" y="112500"/>
            <a:ext cx="2304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Lesson outline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3" name="Google Shape;163;p17"/>
          <p:cNvSpPr txBox="1"/>
          <p:nvPr>
            <p:ph idx="3" type="title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0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3 Lesson outline (3)">
  <p:cSld name="CUSTOM_3_2"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5" name="Google Shape;165;p18"/>
          <p:cNvPicPr preferRelativeResize="0"/>
          <p:nvPr/>
        </p:nvPicPr>
        <p:blipFill rotWithShape="1">
          <a:blip r:embed="rId2">
            <a:alphaModFix/>
          </a:blip>
          <a:srcRect b="4438" l="0" r="0" t="4429"/>
          <a:stretch/>
        </p:blipFill>
        <p:spPr>
          <a:xfrm>
            <a:off x="863550" y="3642223"/>
            <a:ext cx="7439125" cy="563227"/>
          </a:xfrm>
          <a:prstGeom prst="rect">
            <a:avLst/>
          </a:prstGeom>
          <a:noFill/>
          <a:ln>
            <a:noFill/>
          </a:ln>
        </p:spPr>
      </p:pic>
      <p:pic>
        <p:nvPicPr>
          <p:cNvPr id="166" name="Google Shape;166;p18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3600900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67" name="Google Shape;167;p18"/>
          <p:cNvPicPr preferRelativeResize="0"/>
          <p:nvPr/>
        </p:nvPicPr>
        <p:blipFill rotWithShape="1">
          <a:blip r:embed="rId4">
            <a:alphaModFix/>
          </a:blip>
          <a:srcRect b="3669" l="0" r="0" t="3678"/>
          <a:stretch/>
        </p:blipFill>
        <p:spPr>
          <a:xfrm>
            <a:off x="863550" y="2704186"/>
            <a:ext cx="7439126" cy="5720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68" name="Google Shape;168;p18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2677988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69" name="Google Shape;169;p18"/>
          <p:cNvPicPr preferRelativeResize="0"/>
          <p:nvPr/>
        </p:nvPicPr>
        <p:blipFill rotWithShape="1">
          <a:blip r:embed="rId5">
            <a:alphaModFix/>
          </a:blip>
          <a:srcRect b="3669" l="0" r="0" t="3678"/>
          <a:stretch/>
        </p:blipFill>
        <p:spPr>
          <a:xfrm>
            <a:off x="863550" y="1678325"/>
            <a:ext cx="7439126" cy="5720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70" name="Google Shape;170;p18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1643475"/>
            <a:ext cx="145900" cy="64587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71" name="Google Shape;171;p18"/>
          <p:cNvCxnSpPr>
            <a:endCxn id="172" idx="2"/>
          </p:cNvCxnSpPr>
          <p:nvPr/>
        </p:nvCxnSpPr>
        <p:spPr>
          <a:xfrm>
            <a:off x="647802" y="1841898"/>
            <a:ext cx="0" cy="2366400"/>
          </a:xfrm>
          <a:prstGeom prst="straightConnector1">
            <a:avLst/>
          </a:prstGeom>
          <a:noFill/>
          <a:ln cap="flat" cmpd="sng" w="38100">
            <a:solidFill>
              <a:srgbClr val="282828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72" name="Google Shape;172;p18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66079" y="3636220"/>
            <a:ext cx="56344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73" name="Google Shape;173;p18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63482" y="1682508"/>
            <a:ext cx="563185" cy="572092"/>
          </a:xfrm>
          <a:prstGeom prst="rect">
            <a:avLst/>
          </a:prstGeom>
          <a:noFill/>
          <a:ln>
            <a:noFill/>
          </a:ln>
        </p:spPr>
      </p:pic>
      <p:sp>
        <p:nvSpPr>
          <p:cNvPr id="174" name="Google Shape;174;p18"/>
          <p:cNvSpPr txBox="1"/>
          <p:nvPr>
            <p:ph type="title"/>
          </p:nvPr>
        </p:nvSpPr>
        <p:spPr>
          <a:xfrm>
            <a:off x="1225200" y="1779713"/>
            <a:ext cx="68508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75" name="Google Shape;175;p18"/>
          <p:cNvSpPr txBox="1"/>
          <p:nvPr>
            <p:ph idx="2" type="title"/>
          </p:nvPr>
        </p:nvSpPr>
        <p:spPr>
          <a:xfrm>
            <a:off x="1225200" y="2804800"/>
            <a:ext cx="68508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76" name="Google Shape;176;p18"/>
          <p:cNvSpPr txBox="1"/>
          <p:nvPr>
            <p:ph idx="3" type="title"/>
          </p:nvPr>
        </p:nvSpPr>
        <p:spPr>
          <a:xfrm>
            <a:off x="1225200" y="3739189"/>
            <a:ext cx="68508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77" name="Google Shape;177;p18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363340" y="2703416"/>
            <a:ext cx="563446" cy="572077"/>
          </a:xfrm>
          <a:prstGeom prst="rect">
            <a:avLst/>
          </a:prstGeom>
          <a:noFill/>
          <a:ln>
            <a:noFill/>
          </a:ln>
        </p:spPr>
      </p:pic>
      <p:sp>
        <p:nvSpPr>
          <p:cNvPr id="178" name="Google Shape;178;p18"/>
          <p:cNvSpPr/>
          <p:nvPr/>
        </p:nvSpPr>
        <p:spPr>
          <a:xfrm>
            <a:off x="0" y="0"/>
            <a:ext cx="9144300" cy="485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79" name="Google Shape;179;p18"/>
          <p:cNvPicPr preferRelativeResize="0"/>
          <p:nvPr/>
        </p:nvPicPr>
        <p:blipFill rotWithShape="1">
          <a:blip r:embed="rId9">
            <a:alphaModFix/>
          </a:blip>
          <a:srcRect b="1709" l="0" r="0" t="1699"/>
          <a:stretch/>
        </p:blipFill>
        <p:spPr>
          <a:xfrm>
            <a:off x="-12" y="4816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80" name="Google Shape;180;p18"/>
          <p:cNvSpPr txBox="1"/>
          <p:nvPr/>
        </p:nvSpPr>
        <p:spPr>
          <a:xfrm>
            <a:off x="324000" y="112500"/>
            <a:ext cx="2304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Lesson outline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1" name="Google Shape;181;p18"/>
          <p:cNvSpPr txBox="1"/>
          <p:nvPr>
            <p:ph idx="4" type="title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0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3 Lesson outline (4)">
  <p:cSld name="CUSTOM_4"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3" name="Google Shape;183;p19"/>
          <p:cNvPicPr preferRelativeResize="0"/>
          <p:nvPr/>
        </p:nvPicPr>
        <p:blipFill rotWithShape="1">
          <a:blip r:embed="rId2">
            <a:alphaModFix/>
          </a:blip>
          <a:srcRect b="4438" l="0" r="0" t="4429"/>
          <a:stretch/>
        </p:blipFill>
        <p:spPr>
          <a:xfrm>
            <a:off x="863550" y="3146932"/>
            <a:ext cx="7439125" cy="56323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4" name="Google Shape;184;p19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3105610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85" name="Google Shape;185;p19"/>
          <p:cNvPicPr preferRelativeResize="0"/>
          <p:nvPr/>
        </p:nvPicPr>
        <p:blipFill rotWithShape="1">
          <a:blip r:embed="rId4">
            <a:alphaModFix/>
          </a:blip>
          <a:srcRect b="4396" l="0" r="0" t="4387"/>
          <a:stretch/>
        </p:blipFill>
        <p:spPr>
          <a:xfrm>
            <a:off x="863550" y="3971358"/>
            <a:ext cx="7439126" cy="563217"/>
          </a:xfrm>
          <a:prstGeom prst="rect">
            <a:avLst/>
          </a:prstGeom>
          <a:noFill/>
          <a:ln>
            <a:noFill/>
          </a:ln>
        </p:spPr>
      </p:pic>
      <p:pic>
        <p:nvPicPr>
          <p:cNvPr id="186" name="Google Shape;186;p19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3939648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87" name="Google Shape;187;p19"/>
          <p:cNvPicPr preferRelativeResize="0"/>
          <p:nvPr/>
        </p:nvPicPr>
        <p:blipFill rotWithShape="1">
          <a:blip r:embed="rId5">
            <a:alphaModFix/>
          </a:blip>
          <a:srcRect b="3669" l="0" r="0" t="3678"/>
          <a:stretch/>
        </p:blipFill>
        <p:spPr>
          <a:xfrm>
            <a:off x="863550" y="2292191"/>
            <a:ext cx="743912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88" name="Google Shape;188;p19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2265998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89" name="Google Shape;189;p19"/>
          <p:cNvPicPr preferRelativeResize="0"/>
          <p:nvPr/>
        </p:nvPicPr>
        <p:blipFill rotWithShape="1">
          <a:blip r:embed="rId6">
            <a:alphaModFix/>
          </a:blip>
          <a:srcRect b="3669" l="0" r="0" t="3678"/>
          <a:stretch/>
        </p:blipFill>
        <p:spPr>
          <a:xfrm>
            <a:off x="863550" y="1457950"/>
            <a:ext cx="743912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90" name="Google Shape;190;p19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1423110"/>
            <a:ext cx="145900" cy="64587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91" name="Google Shape;191;p19"/>
          <p:cNvCxnSpPr/>
          <p:nvPr/>
        </p:nvCxnSpPr>
        <p:spPr>
          <a:xfrm>
            <a:off x="647802" y="1725234"/>
            <a:ext cx="600" cy="2679900"/>
          </a:xfrm>
          <a:prstGeom prst="straightConnector1">
            <a:avLst/>
          </a:prstGeom>
          <a:noFill/>
          <a:ln cap="flat" cmpd="sng" w="38100">
            <a:solidFill>
              <a:srgbClr val="282828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92" name="Google Shape;192;p19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66079" y="3134650"/>
            <a:ext cx="56344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93" name="Google Shape;193;p19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363357" y="1462166"/>
            <a:ext cx="563185" cy="572092"/>
          </a:xfrm>
          <a:prstGeom prst="rect">
            <a:avLst/>
          </a:prstGeom>
          <a:noFill/>
          <a:ln>
            <a:noFill/>
          </a:ln>
        </p:spPr>
      </p:pic>
      <p:pic>
        <p:nvPicPr>
          <p:cNvPr id="194" name="Google Shape;194;p19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363340" y="2287588"/>
            <a:ext cx="563446" cy="572077"/>
          </a:xfrm>
          <a:prstGeom prst="rect">
            <a:avLst/>
          </a:prstGeom>
          <a:noFill/>
          <a:ln>
            <a:noFill/>
          </a:ln>
        </p:spPr>
      </p:pic>
      <p:sp>
        <p:nvSpPr>
          <p:cNvPr id="195" name="Google Shape;195;p19"/>
          <p:cNvSpPr txBox="1"/>
          <p:nvPr>
            <p:ph type="title"/>
          </p:nvPr>
        </p:nvSpPr>
        <p:spPr>
          <a:xfrm>
            <a:off x="1224600" y="1466663"/>
            <a:ext cx="6850800" cy="563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96" name="Google Shape;196;p19"/>
          <p:cNvSpPr txBox="1"/>
          <p:nvPr>
            <p:ph idx="2" type="title"/>
          </p:nvPr>
        </p:nvSpPr>
        <p:spPr>
          <a:xfrm>
            <a:off x="1224600" y="2285700"/>
            <a:ext cx="6850800" cy="572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97" name="Google Shape;197;p19"/>
          <p:cNvSpPr txBox="1"/>
          <p:nvPr>
            <p:ph idx="3" type="title"/>
          </p:nvPr>
        </p:nvSpPr>
        <p:spPr>
          <a:xfrm>
            <a:off x="1224600" y="3160338"/>
            <a:ext cx="6850800" cy="536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98" name="Google Shape;198;p19"/>
          <p:cNvSpPr txBox="1"/>
          <p:nvPr>
            <p:ph idx="4" type="title"/>
          </p:nvPr>
        </p:nvSpPr>
        <p:spPr>
          <a:xfrm>
            <a:off x="1224600" y="3971414"/>
            <a:ext cx="6850800" cy="563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99" name="Google Shape;199;p19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363341" y="3969363"/>
            <a:ext cx="563446" cy="572077"/>
          </a:xfrm>
          <a:prstGeom prst="rect">
            <a:avLst/>
          </a:prstGeom>
          <a:noFill/>
          <a:ln>
            <a:noFill/>
          </a:ln>
        </p:spPr>
      </p:pic>
      <p:sp>
        <p:nvSpPr>
          <p:cNvPr id="200" name="Google Shape;200;p19"/>
          <p:cNvSpPr/>
          <p:nvPr/>
        </p:nvSpPr>
        <p:spPr>
          <a:xfrm>
            <a:off x="0" y="0"/>
            <a:ext cx="9144300" cy="485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01" name="Google Shape;201;p19"/>
          <p:cNvPicPr preferRelativeResize="0"/>
          <p:nvPr/>
        </p:nvPicPr>
        <p:blipFill rotWithShape="1">
          <a:blip r:embed="rId11">
            <a:alphaModFix/>
          </a:blip>
          <a:srcRect b="1709" l="0" r="0" t="1699"/>
          <a:stretch/>
        </p:blipFill>
        <p:spPr>
          <a:xfrm>
            <a:off x="-12" y="4816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02" name="Google Shape;202;p19"/>
          <p:cNvSpPr txBox="1"/>
          <p:nvPr/>
        </p:nvSpPr>
        <p:spPr>
          <a:xfrm>
            <a:off x="324000" y="112500"/>
            <a:ext cx="2304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Lesson outline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3" name="Google Shape;203;p19"/>
          <p:cNvSpPr txBox="1"/>
          <p:nvPr>
            <p:ph idx="5" type="title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0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0 Explanation blank - purple ">
  <p:cSld name="TITLE_AND_TWO_COLUMNS_1_1_6_2_1_4"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" name="Google Shape;205;p2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0"/>
          </a:xfrm>
          <a:prstGeom prst="rect">
            <a:avLst/>
          </a:prstGeom>
          <a:noFill/>
          <a:ln>
            <a:noFill/>
          </a:ln>
        </p:spPr>
      </p:pic>
      <p:sp>
        <p:nvSpPr>
          <p:cNvPr id="206" name="Google Shape;206;p20"/>
          <p:cNvSpPr/>
          <p:nvPr/>
        </p:nvSpPr>
        <p:spPr>
          <a:xfrm>
            <a:off x="-1" y="-2"/>
            <a:ext cx="91476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7" name="Google Shape;207;p20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08" name="Google Shape;208;p20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209" name="Google Shape;209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210" name="Google Shape;210;p20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3EEFB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b="1" sz="900">
              <a:solidFill>
                <a:srgbClr val="F3EEFB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0 Explanation blank - jade">
  <p:cSld name="TITLE_AND_TWO_COLUMNS_1_1_6_2_1_2"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2" name="Google Shape;212;p21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13" name="Google Shape;213;p21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4" name="Google Shape;214;p21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15" name="Google Shape;215;p21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6" name="Google Shape;216;p21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217" name="Google Shape;217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0 Explanation blank - blue ">
  <p:cSld name="TITLE_AND_TWO_COLUMNS_1_1_6_2_2"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9" name="Google Shape;219;p22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20" name="Google Shape;220;p22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1" name="Google Shape;221;p22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22" name="Google Shape;222;p22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3" name="Google Shape;223;p22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224" name="Google Shape;224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0 Explanation blank - pink ">
  <p:cSld name="TITLE_AND_TWO_COLUMNS_1_1_6_2_1_1"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6" name="Google Shape;226;p23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27" name="Google Shape;227;p23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8" name="Google Shape;228;p23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29" name="Google Shape;229;p23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0" name="Google Shape;230;p23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231" name="Google Shape;231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1 I do We do - purple">
  <p:cSld name="TITLE_AND_TWO_COLUMNS_1_1_9_2_2">
    <p:bg>
      <p:bgPr>
        <a:solidFill>
          <a:srgbClr val="F3EEFB"/>
        </a:solidFill>
      </p:bgPr>
    </p:bg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24"/>
          <p:cNvSpPr/>
          <p:nvPr/>
        </p:nvSpPr>
        <p:spPr>
          <a:xfrm>
            <a:off x="0" y="18750"/>
            <a:ext cx="45723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34" name="Google Shape;234;p2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0"/>
          </a:xfrm>
          <a:prstGeom prst="rect">
            <a:avLst/>
          </a:prstGeom>
          <a:noFill/>
          <a:ln>
            <a:noFill/>
          </a:ln>
        </p:spPr>
      </p:pic>
      <p:sp>
        <p:nvSpPr>
          <p:cNvPr id="235" name="Google Shape;235;p24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6" name="Google Shape;236;p24"/>
          <p:cNvSpPr txBox="1"/>
          <p:nvPr>
            <p:ph idx="1" type="subTitle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37" name="Google Shape;237;p24"/>
          <p:cNvSpPr txBox="1"/>
          <p:nvPr>
            <p:ph idx="2" type="subTitle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38" name="Google Shape;238;p24"/>
          <p:cNvSpPr txBox="1"/>
          <p:nvPr>
            <p:ph type="title"/>
          </p:nvPr>
        </p:nvSpPr>
        <p:spPr>
          <a:xfrm>
            <a:off x="324000" y="0"/>
            <a:ext cx="74505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239" name="Google Shape;239;p24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240" name="Google Shape;240;p24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41" name="Google Shape;241;p24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BEDFE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b="1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42" name="Google Shape;242;p24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243" name="Google Shape;243;p24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44" name="Google Shape;244;p24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BEDFE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b="1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1 I do We do - jade">
  <p:cSld name="TITLE_AND_TWO_COLUMNS_1_1_9_2_2_1_1">
    <p:bg>
      <p:bgPr>
        <a:solidFill>
          <a:srgbClr val="E6F2F2"/>
        </a:solidFill>
      </p:bgPr>
    </p:bg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25"/>
          <p:cNvSpPr/>
          <p:nvPr/>
        </p:nvSpPr>
        <p:spPr>
          <a:xfrm>
            <a:off x="0" y="18750"/>
            <a:ext cx="45723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47" name="Google Shape;247;p25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48" name="Google Shape;248;p25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9" name="Google Shape;249;p25"/>
          <p:cNvSpPr txBox="1"/>
          <p:nvPr>
            <p:ph idx="1" type="subTitle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50" name="Google Shape;250;p25"/>
          <p:cNvSpPr txBox="1"/>
          <p:nvPr>
            <p:ph idx="2" type="subTitle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51" name="Google Shape;251;p25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252" name="Google Shape;252;p25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253" name="Google Shape;253;p25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54" name="Google Shape;254;p25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b="1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55" name="Google Shape;255;p25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256" name="Google Shape;256;p25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57" name="Google Shape;257;p25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b="1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1 I do We do - blue">
  <p:cSld name="TITLE_AND_TWO_COLUMNS_1_1_9_2_3">
    <p:bg>
      <p:bgPr>
        <a:solidFill>
          <a:srgbClr val="EBEDFE"/>
        </a:solidFill>
      </p:bgPr>
    </p:bg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26"/>
          <p:cNvSpPr/>
          <p:nvPr/>
        </p:nvSpPr>
        <p:spPr>
          <a:xfrm>
            <a:off x="0" y="18750"/>
            <a:ext cx="4572300" cy="5124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60" name="Google Shape;260;p26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61" name="Google Shape;261;p26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2" name="Google Shape;262;p26"/>
          <p:cNvSpPr txBox="1"/>
          <p:nvPr>
            <p:ph idx="1" type="subTitle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63" name="Google Shape;263;p26"/>
          <p:cNvSpPr txBox="1"/>
          <p:nvPr>
            <p:ph idx="2" type="subTitle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64" name="Google Shape;264;p26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265" name="Google Shape;265;p26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266" name="Google Shape;266;p26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67" name="Google Shape;267;p26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b="1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68" name="Google Shape;268;p26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269" name="Google Shape;269;p26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70" name="Google Shape;270;p26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b="1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1 I do We do - pink">
  <p:cSld name="TITLE_AND_TWO_COLUMNS_1_1_9_2_2_1_1_1">
    <p:bg>
      <p:bgPr>
        <a:solidFill>
          <a:srgbClr val="FAEAF6"/>
        </a:solidFill>
      </p:bgPr>
    </p:bg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27"/>
          <p:cNvSpPr/>
          <p:nvPr/>
        </p:nvSpPr>
        <p:spPr>
          <a:xfrm>
            <a:off x="0" y="18750"/>
            <a:ext cx="45723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73" name="Google Shape;273;p27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74" name="Google Shape;274;p27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5" name="Google Shape;275;p27"/>
          <p:cNvSpPr txBox="1"/>
          <p:nvPr>
            <p:ph idx="1" type="subTitle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76" name="Google Shape;276;p27"/>
          <p:cNvSpPr txBox="1"/>
          <p:nvPr>
            <p:ph idx="2" type="subTitle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77" name="Google Shape;277;p27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278" name="Google Shape;278;p27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279" name="Google Shape;279;p27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80" name="Google Shape;280;p27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FAEAF6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b="1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81" name="Google Shape;281;p27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282" name="Google Shape;282;p27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83" name="Google Shape;283;p27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FAEAF6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b="1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2 CfU true/false justify - purple">
  <p:cSld name="TITLE_AND_TWO_COLUMNS_1_1_9_1_3_1">
    <p:bg>
      <p:bgPr>
        <a:solidFill>
          <a:srgbClr val="F3EEFB"/>
        </a:solidFill>
      </p:bgPr>
    </p:bg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5" name="Google Shape;285;p2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2429763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86" name="Google Shape;286;p2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823988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87" name="Google Shape;287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88" name="Google Shape;288;p28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9" name="Google Shape;289;p28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0" name="Google Shape;290;p28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1" name="Google Shape;291;p28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2" name="Google Shape;292;p28"/>
          <p:cNvSpPr txBox="1"/>
          <p:nvPr>
            <p:ph idx="1" type="subTitle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93" name="Google Shape;293;p28"/>
          <p:cNvSpPr txBox="1"/>
          <p:nvPr>
            <p:ph idx="2" type="subTitle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94" name="Google Shape;294;p28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sp>
        <p:nvSpPr>
          <p:cNvPr id="295" name="Google Shape;295;p28"/>
          <p:cNvSpPr txBox="1"/>
          <p:nvPr>
            <p:ph idx="3" type="subTitle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96" name="Google Shape;296;p28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7" name="Google Shape;297;p28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98" name="Google Shape;298;p2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299" name="Google Shape;299;p28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3EEFB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3EEFB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0" name="Google Shape;300;p28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301" name="Google Shape;301;p28"/>
          <p:cNvGrpSpPr/>
          <p:nvPr/>
        </p:nvGrpSpPr>
        <p:grpSpPr>
          <a:xfrm>
            <a:off x="324128" y="3139463"/>
            <a:ext cx="457200" cy="457200"/>
            <a:chOff x="1020916" y="1442088"/>
            <a:chExt cx="457200" cy="457200"/>
          </a:xfrm>
        </p:grpSpPr>
        <p:pic>
          <p:nvPicPr>
            <p:cNvPr id="302" name="Google Shape;302;p28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03" name="Google Shape;303;p2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04" name="Google Shape;304;p28"/>
          <p:cNvGrpSpPr/>
          <p:nvPr/>
        </p:nvGrpSpPr>
        <p:grpSpPr>
          <a:xfrm>
            <a:off x="324128" y="3987825"/>
            <a:ext cx="457200" cy="457200"/>
            <a:chOff x="1020916" y="1442088"/>
            <a:chExt cx="457200" cy="457200"/>
          </a:xfrm>
        </p:grpSpPr>
        <p:pic>
          <p:nvPicPr>
            <p:cNvPr id="305" name="Google Shape;305;p28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06" name="Google Shape;306;p2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2 CfU true/false justify - jade">
  <p:cSld name="TITLE_AND_TWO_COLUMNS_1_1_9_1_3_1_1_1">
    <p:bg>
      <p:bgPr>
        <a:solidFill>
          <a:srgbClr val="E6F2F2"/>
        </a:solidFill>
      </p:bgPr>
    </p:bg>
    <p:spTree>
      <p:nvGrpSpPr>
        <p:cNvPr id="307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8" name="Google Shape;308;p29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09" name="Google Shape;309;p29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0" name="Google Shape;310;p29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1" name="Google Shape;311;p29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2" name="Google Shape;312;p29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3" name="Google Shape;313;p29"/>
          <p:cNvSpPr txBox="1"/>
          <p:nvPr>
            <p:ph idx="1" type="subTitle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14" name="Google Shape;314;p29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pic>
        <p:nvPicPr>
          <p:cNvPr id="315" name="Google Shape;315;p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16" name="Google Shape;316;p29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7" name="Google Shape;317;p29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18" name="Google Shape;318;p29"/>
          <p:cNvSpPr txBox="1"/>
          <p:nvPr>
            <p:ph idx="2" type="subTitle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19" name="Google Shape;319;p29"/>
          <p:cNvSpPr txBox="1"/>
          <p:nvPr>
            <p:ph idx="3" type="subTitle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320" name="Google Shape;320;p29"/>
          <p:cNvGrpSpPr/>
          <p:nvPr/>
        </p:nvGrpSpPr>
        <p:grpSpPr>
          <a:xfrm>
            <a:off x="324128" y="3139463"/>
            <a:ext cx="457200" cy="457200"/>
            <a:chOff x="1020916" y="1442088"/>
            <a:chExt cx="457200" cy="457200"/>
          </a:xfrm>
        </p:grpSpPr>
        <p:pic>
          <p:nvPicPr>
            <p:cNvPr id="321" name="Google Shape;321;p2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22" name="Google Shape;322;p2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23" name="Google Shape;323;p29"/>
          <p:cNvGrpSpPr/>
          <p:nvPr/>
        </p:nvGrpSpPr>
        <p:grpSpPr>
          <a:xfrm>
            <a:off x="324128" y="3987825"/>
            <a:ext cx="457200" cy="457200"/>
            <a:chOff x="1020916" y="1442088"/>
            <a:chExt cx="457200" cy="457200"/>
          </a:xfrm>
        </p:grpSpPr>
        <p:pic>
          <p:nvPicPr>
            <p:cNvPr id="324" name="Google Shape;324;p2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25" name="Google Shape;325;p2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326" name="Google Shape;326;p2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429763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27" name="Google Shape;327;p2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823988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328" name="Google Shape;328;p29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29" name="Google Shape;329;p29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2 CfU true/false justify - blue">
  <p:cSld name="TITLE_AND_TWO_COLUMNS_1_1_9_1_3_2">
    <p:bg>
      <p:bgPr>
        <a:solidFill>
          <a:srgbClr val="EBEDFE"/>
        </a:solidFill>
      </p:bgPr>
    </p:bg>
    <p:spTree>
      <p:nvGrpSpPr>
        <p:cNvPr id="330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1" name="Google Shape;331;p30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32" name="Google Shape;332;p30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3" name="Google Shape;333;p30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4" name="Google Shape;334;p30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5" name="Google Shape;335;p30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6" name="Google Shape;336;p30"/>
          <p:cNvSpPr txBox="1"/>
          <p:nvPr>
            <p:ph idx="1" type="subTitle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37" name="Google Shape;337;p30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pic>
        <p:nvPicPr>
          <p:cNvPr id="338" name="Google Shape;338;p3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39" name="Google Shape;339;p30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40" name="Google Shape;340;p30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41" name="Google Shape;341;p30"/>
          <p:cNvSpPr txBox="1"/>
          <p:nvPr>
            <p:ph idx="2" type="subTitle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42" name="Google Shape;342;p30"/>
          <p:cNvSpPr txBox="1"/>
          <p:nvPr>
            <p:ph idx="3" type="subTitle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343" name="Google Shape;343;p30"/>
          <p:cNvGrpSpPr/>
          <p:nvPr/>
        </p:nvGrpSpPr>
        <p:grpSpPr>
          <a:xfrm>
            <a:off x="324128" y="3139463"/>
            <a:ext cx="457200" cy="457200"/>
            <a:chOff x="1020916" y="1442088"/>
            <a:chExt cx="457200" cy="457200"/>
          </a:xfrm>
        </p:grpSpPr>
        <p:pic>
          <p:nvPicPr>
            <p:cNvPr id="344" name="Google Shape;344;p3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45" name="Google Shape;345;p3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46" name="Google Shape;346;p30"/>
          <p:cNvGrpSpPr/>
          <p:nvPr/>
        </p:nvGrpSpPr>
        <p:grpSpPr>
          <a:xfrm>
            <a:off x="324128" y="3987825"/>
            <a:ext cx="457200" cy="457200"/>
            <a:chOff x="1020916" y="1442088"/>
            <a:chExt cx="457200" cy="457200"/>
          </a:xfrm>
        </p:grpSpPr>
        <p:pic>
          <p:nvPicPr>
            <p:cNvPr id="347" name="Google Shape;347;p3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48" name="Google Shape;348;p3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349" name="Google Shape;349;p3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429763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50" name="Google Shape;350;p3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823988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351" name="Google Shape;351;p30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52" name="Google Shape;352;p30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2 CfU true/false justify - pink">
  <p:cSld name="TITLE_AND_TWO_COLUMNS_1_1_9_1_3_1_1_1_1">
    <p:bg>
      <p:bgPr>
        <a:solidFill>
          <a:srgbClr val="FAEAF6"/>
        </a:solidFill>
      </p:bgPr>
    </p:bg>
    <p:spTree>
      <p:nvGrpSpPr>
        <p:cNvPr id="353" name="Shape 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4" name="Google Shape;354;p31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55" name="Google Shape;355;p31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6" name="Google Shape;356;p31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57" name="Google Shape;357;p31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58" name="Google Shape;358;p31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59" name="Google Shape;359;p31"/>
          <p:cNvSpPr txBox="1"/>
          <p:nvPr>
            <p:ph idx="1" type="subTitle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60" name="Google Shape;360;p31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pic>
        <p:nvPicPr>
          <p:cNvPr id="361" name="Google Shape;361;p3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62" name="Google Shape;362;p31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63" name="Google Shape;363;p31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64" name="Google Shape;364;p31"/>
          <p:cNvSpPr txBox="1"/>
          <p:nvPr>
            <p:ph idx="2" type="subTitle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65" name="Google Shape;365;p31"/>
          <p:cNvSpPr txBox="1"/>
          <p:nvPr>
            <p:ph idx="3" type="subTitle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366" name="Google Shape;366;p31"/>
          <p:cNvGrpSpPr/>
          <p:nvPr/>
        </p:nvGrpSpPr>
        <p:grpSpPr>
          <a:xfrm>
            <a:off x="324128" y="3139463"/>
            <a:ext cx="457200" cy="457200"/>
            <a:chOff x="1020916" y="1442088"/>
            <a:chExt cx="457200" cy="457200"/>
          </a:xfrm>
        </p:grpSpPr>
        <p:pic>
          <p:nvPicPr>
            <p:cNvPr id="367" name="Google Shape;367;p3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68" name="Google Shape;368;p3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69" name="Google Shape;369;p31"/>
          <p:cNvGrpSpPr/>
          <p:nvPr/>
        </p:nvGrpSpPr>
        <p:grpSpPr>
          <a:xfrm>
            <a:off x="324128" y="3987825"/>
            <a:ext cx="457200" cy="457200"/>
            <a:chOff x="1020916" y="1442088"/>
            <a:chExt cx="457200" cy="457200"/>
          </a:xfrm>
        </p:grpSpPr>
        <p:pic>
          <p:nvPicPr>
            <p:cNvPr id="370" name="Google Shape;370;p3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71" name="Google Shape;371;p3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372" name="Google Shape;372;p3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429763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73" name="Google Shape;373;p3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823988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374" name="Google Shape;374;p31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75" name="Google Shape;375;p31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3 CfU 3 options - purple">
  <p:cSld name="TITLE_AND_TWO_COLUMNS_1_1_7_1">
    <p:bg>
      <p:bgPr>
        <a:solidFill>
          <a:srgbClr val="F3EEFB"/>
        </a:solidFill>
      </p:bgPr>
    </p:bg>
    <p:spTree>
      <p:nvGrpSpPr>
        <p:cNvPr id="376" name="Shape 3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7" name="Google Shape;377;p3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78" name="Google Shape;378;p32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9" name="Google Shape;379;p32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380" name="Google Shape;380;p3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81" name="Google Shape;381;p32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82" name="Google Shape;382;p32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83" name="Google Shape;383;p32"/>
          <p:cNvSpPr txBox="1"/>
          <p:nvPr>
            <p:ph idx="1" type="subTitle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84" name="Google Shape;384;p32"/>
          <p:cNvSpPr txBox="1"/>
          <p:nvPr>
            <p:ph idx="3" type="subTitle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85" name="Google Shape;385;p32"/>
          <p:cNvSpPr txBox="1"/>
          <p:nvPr>
            <p:ph idx="4" type="subTitle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386" name="Google Shape;386;p32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387" name="Google Shape;387;p3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88" name="Google Shape;388;p3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89" name="Google Shape;389;p32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390" name="Google Shape;390;p3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91" name="Google Shape;391;p3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92" name="Google Shape;392;p32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393" name="Google Shape;393;p3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94" name="Google Shape;394;p3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3 CfU 3 options - jade">
  <p:cSld name="TITLE_AND_TWO_COLUMNS_1_1_7_1_1_1">
    <p:bg>
      <p:bgPr>
        <a:solidFill>
          <a:srgbClr val="E6F2F2"/>
        </a:solidFill>
      </p:bgPr>
    </p:bg>
    <p:spTree>
      <p:nvGrpSpPr>
        <p:cNvPr id="395" name="Shape 3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6" name="Google Shape;396;p33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97" name="Google Shape;397;p33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8" name="Google Shape;398;p33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399" name="Google Shape;399;p3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00" name="Google Shape;400;p33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01" name="Google Shape;401;p33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02" name="Google Shape;402;p33"/>
          <p:cNvSpPr txBox="1"/>
          <p:nvPr>
            <p:ph idx="1" type="subTitle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03" name="Google Shape;403;p33"/>
          <p:cNvSpPr txBox="1"/>
          <p:nvPr>
            <p:ph idx="3" type="subTitle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04" name="Google Shape;404;p33"/>
          <p:cNvSpPr txBox="1"/>
          <p:nvPr>
            <p:ph idx="4" type="subTitle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05" name="Google Shape;405;p33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406" name="Google Shape;406;p3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07" name="Google Shape;407;p3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08" name="Google Shape;408;p33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409" name="Google Shape;409;p3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10" name="Google Shape;410;p3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11" name="Google Shape;411;p33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412" name="Google Shape;412;p3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13" name="Google Shape;413;p3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3 CfU 3 options - blue">
  <p:cSld name="TITLE_AND_TWO_COLUMNS_1_1_7_2">
    <p:bg>
      <p:bgPr>
        <a:solidFill>
          <a:srgbClr val="EBEDFE"/>
        </a:solidFill>
      </p:bgPr>
    </p:bg>
    <p:spTree>
      <p:nvGrpSpPr>
        <p:cNvPr id="414" name="Shape 4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5" name="Google Shape;415;p34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16" name="Google Shape;416;p34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7" name="Google Shape;417;p34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18" name="Google Shape;418;p3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19" name="Google Shape;419;p34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20" name="Google Shape;420;p34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21" name="Google Shape;421;p34"/>
          <p:cNvSpPr txBox="1"/>
          <p:nvPr>
            <p:ph idx="1" type="subTitle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22" name="Google Shape;422;p34"/>
          <p:cNvSpPr txBox="1"/>
          <p:nvPr>
            <p:ph idx="3" type="subTitle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23" name="Google Shape;423;p34"/>
          <p:cNvSpPr txBox="1"/>
          <p:nvPr>
            <p:ph idx="4" type="subTitle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24" name="Google Shape;424;p34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425" name="Google Shape;425;p3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26" name="Google Shape;426;p3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27" name="Google Shape;427;p34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428" name="Google Shape;428;p3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29" name="Google Shape;429;p3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30" name="Google Shape;430;p34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431" name="Google Shape;431;p3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32" name="Google Shape;432;p3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3 CfU 3 options - pink">
  <p:cSld name="TITLE_AND_TWO_COLUMNS_1_1_7_1_1_1_1">
    <p:bg>
      <p:bgPr>
        <a:solidFill>
          <a:srgbClr val="FAEAF6"/>
        </a:solidFill>
      </p:bgPr>
    </p:bg>
    <p:spTree>
      <p:nvGrpSpPr>
        <p:cNvPr id="433" name="Shape 4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4" name="Google Shape;434;p35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35" name="Google Shape;435;p35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6" name="Google Shape;436;p35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37" name="Google Shape;437;p3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38" name="Google Shape;438;p35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39" name="Google Shape;439;p35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40" name="Google Shape;440;p35"/>
          <p:cNvSpPr txBox="1"/>
          <p:nvPr>
            <p:ph idx="1" type="subTitle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41" name="Google Shape;441;p35"/>
          <p:cNvSpPr txBox="1"/>
          <p:nvPr>
            <p:ph idx="3" type="subTitle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42" name="Google Shape;442;p35"/>
          <p:cNvSpPr txBox="1"/>
          <p:nvPr>
            <p:ph idx="4" type="subTitle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43" name="Google Shape;443;p35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444" name="Google Shape;444;p3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45" name="Google Shape;445;p3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46" name="Google Shape;446;p35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447" name="Google Shape;447;p3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48" name="Google Shape;448;p3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49" name="Google Shape;449;p35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450" name="Google Shape;450;p3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51" name="Google Shape;451;p3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4 CfU 4 options - purple">
  <p:cSld name="TITLE_AND_TWO_COLUMNS_1_1_8_1">
    <p:bg>
      <p:bgPr>
        <a:solidFill>
          <a:srgbClr val="F3EEFB"/>
        </a:solidFill>
      </p:bgPr>
    </p:bg>
    <p:spTree>
      <p:nvGrpSpPr>
        <p:cNvPr id="452" name="Shape 4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3" name="Google Shape;453;p3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54" name="Google Shape;454;p36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5" name="Google Shape;455;p36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56" name="Google Shape;456;p3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57" name="Google Shape;457;p36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58" name="Google Shape;458;p36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59" name="Google Shape;459;p36"/>
          <p:cNvSpPr txBox="1"/>
          <p:nvPr>
            <p:ph idx="1" type="subTitle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60" name="Google Shape;460;p36"/>
          <p:cNvSpPr txBox="1"/>
          <p:nvPr>
            <p:ph idx="3" type="subTitle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61" name="Google Shape;461;p36"/>
          <p:cNvSpPr txBox="1"/>
          <p:nvPr>
            <p:ph idx="4" type="subTitle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62" name="Google Shape;462;p36"/>
          <p:cNvSpPr txBox="1"/>
          <p:nvPr>
            <p:ph idx="5" type="subTitle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63" name="Google Shape;463;p36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464" name="Google Shape;464;p3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65" name="Google Shape;465;p3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66" name="Google Shape;466;p36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467" name="Google Shape;467;p3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68" name="Google Shape;468;p3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69" name="Google Shape;469;p36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470" name="Google Shape;470;p3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71" name="Google Shape;471;p3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72" name="Google Shape;472;p36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473" name="Google Shape;473;p3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74" name="Google Shape;474;p3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4 CfU 4 options - jade">
  <p:cSld name="TITLE_AND_TWO_COLUMNS_1_1_8_1_1_1">
    <p:bg>
      <p:bgPr>
        <a:solidFill>
          <a:srgbClr val="E6F2F2"/>
        </a:solidFill>
      </p:bgPr>
    </p:bg>
    <p:spTree>
      <p:nvGrpSpPr>
        <p:cNvPr id="475" name="Shape 4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76" name="Google Shape;476;p37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77" name="Google Shape;477;p37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8" name="Google Shape;478;p37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79" name="Google Shape;479;p3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80" name="Google Shape;480;p37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81" name="Google Shape;481;p37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82" name="Google Shape;482;p37"/>
          <p:cNvSpPr txBox="1"/>
          <p:nvPr>
            <p:ph idx="1" type="subTitle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83" name="Google Shape;483;p37"/>
          <p:cNvSpPr txBox="1"/>
          <p:nvPr>
            <p:ph idx="3" type="subTitle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84" name="Google Shape;484;p37"/>
          <p:cNvSpPr txBox="1"/>
          <p:nvPr>
            <p:ph idx="4" type="subTitle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85" name="Google Shape;485;p37"/>
          <p:cNvSpPr txBox="1"/>
          <p:nvPr>
            <p:ph idx="5" type="subTitle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86" name="Google Shape;486;p37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487" name="Google Shape;487;p37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88" name="Google Shape;488;p3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89" name="Google Shape;489;p37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490" name="Google Shape;490;p37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91" name="Google Shape;491;p3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92" name="Google Shape;492;p37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493" name="Google Shape;493;p37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94" name="Google Shape;494;p3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95" name="Google Shape;495;p37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496" name="Google Shape;496;p37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97" name="Google Shape;497;p3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4 CfU 4 options - blue">
  <p:cSld name="TITLE_AND_TWO_COLUMNS_1_1_8_2">
    <p:bg>
      <p:bgPr>
        <a:solidFill>
          <a:srgbClr val="EBEDFE"/>
        </a:solidFill>
      </p:bgPr>
    </p:bg>
    <p:spTree>
      <p:nvGrpSpPr>
        <p:cNvPr id="498" name="Shape 4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99" name="Google Shape;499;p38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00" name="Google Shape;500;p38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1" name="Google Shape;501;p38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02" name="Google Shape;502;p3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03" name="Google Shape;503;p38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04" name="Google Shape;504;p38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05" name="Google Shape;505;p38"/>
          <p:cNvSpPr txBox="1"/>
          <p:nvPr>
            <p:ph idx="1" type="subTitle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06" name="Google Shape;506;p38"/>
          <p:cNvSpPr txBox="1"/>
          <p:nvPr>
            <p:ph idx="3" type="subTitle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07" name="Google Shape;507;p38"/>
          <p:cNvSpPr txBox="1"/>
          <p:nvPr>
            <p:ph idx="4" type="subTitle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08" name="Google Shape;508;p38"/>
          <p:cNvSpPr txBox="1"/>
          <p:nvPr>
            <p:ph idx="5" type="subTitle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509" name="Google Shape;509;p38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510" name="Google Shape;510;p3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11" name="Google Shape;511;p3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12" name="Google Shape;512;p38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513" name="Google Shape;513;p3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14" name="Google Shape;514;p3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15" name="Google Shape;515;p38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516" name="Google Shape;516;p3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17" name="Google Shape;517;p3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18" name="Google Shape;518;p38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519" name="Google Shape;519;p3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20" name="Google Shape;520;p3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4 CfU 4 options - pink">
  <p:cSld name="TITLE_AND_TWO_COLUMNS_1_1_8_1_1_1_1">
    <p:bg>
      <p:bgPr>
        <a:solidFill>
          <a:srgbClr val="FAEAF6"/>
        </a:solidFill>
      </p:bgPr>
    </p:bg>
    <p:spTree>
      <p:nvGrpSpPr>
        <p:cNvPr id="521" name="Shape 5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22" name="Google Shape;522;p39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23" name="Google Shape;523;p39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4" name="Google Shape;524;p39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25" name="Google Shape;525;p3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26" name="Google Shape;526;p39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27" name="Google Shape;527;p39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28" name="Google Shape;528;p39"/>
          <p:cNvSpPr txBox="1"/>
          <p:nvPr>
            <p:ph idx="1" type="subTitle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29" name="Google Shape;529;p39"/>
          <p:cNvSpPr txBox="1"/>
          <p:nvPr>
            <p:ph idx="3" type="subTitle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30" name="Google Shape;530;p39"/>
          <p:cNvSpPr txBox="1"/>
          <p:nvPr>
            <p:ph idx="4" type="subTitle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31" name="Google Shape;531;p39"/>
          <p:cNvSpPr txBox="1"/>
          <p:nvPr>
            <p:ph idx="5" type="subTitle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532" name="Google Shape;532;p39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533" name="Google Shape;533;p3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34" name="Google Shape;534;p3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35" name="Google Shape;535;p39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536" name="Google Shape;536;p3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37" name="Google Shape;537;p3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38" name="Google Shape;538;p39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539" name="Google Shape;539;p3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40" name="Google Shape;540;p3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41" name="Google Shape;541;p39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542" name="Google Shape;542;p3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43" name="Google Shape;543;p3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5 CfU 3 image options - purple">
  <p:cSld name="TITLE_AND_TWO_COLUMNS_1_1_7_1_1_2">
    <p:bg>
      <p:bgPr>
        <a:solidFill>
          <a:srgbClr val="F3EEFB"/>
        </a:solidFill>
      </p:bgPr>
    </p:bg>
    <p:spTree>
      <p:nvGrpSpPr>
        <p:cNvPr id="544" name="Shape 5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5" name="Google Shape;545;p4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46" name="Google Shape;546;p40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7" name="Google Shape;547;p40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48" name="Google Shape;548;p4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49" name="Google Shape;549;p40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50" name="Google Shape;550;p40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51" name="Google Shape;551;p40"/>
          <p:cNvSpPr/>
          <p:nvPr>
            <p:ph idx="3" type="pic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552" name="Google Shape;552;p40"/>
          <p:cNvSpPr/>
          <p:nvPr>
            <p:ph idx="4" type="pic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553" name="Google Shape;553;p40"/>
          <p:cNvSpPr/>
          <p:nvPr>
            <p:ph idx="5" type="pic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554" name="Google Shape;554;p40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555" name="Google Shape;555;p4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56" name="Google Shape;556;p4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57" name="Google Shape;557;p40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558" name="Google Shape;558;p4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59" name="Google Shape;559;p4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60" name="Google Shape;560;p40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561" name="Google Shape;561;p4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62" name="Google Shape;562;p4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5 CfU 3 image options - jade">
  <p:cSld name="TITLE_AND_TWO_COLUMNS_1_1_7_1_1_1_2">
    <p:bg>
      <p:bgPr>
        <a:solidFill>
          <a:srgbClr val="E6F2F2"/>
        </a:solidFill>
      </p:bgPr>
    </p:bg>
    <p:spTree>
      <p:nvGrpSpPr>
        <p:cNvPr id="563" name="Shape 5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64" name="Google Shape;564;p41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65" name="Google Shape;565;p41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6" name="Google Shape;566;p41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67" name="Google Shape;567;p4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68" name="Google Shape;568;p41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69" name="Google Shape;569;p41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70" name="Google Shape;570;p41"/>
          <p:cNvSpPr/>
          <p:nvPr>
            <p:ph idx="3" type="pic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571" name="Google Shape;571;p41"/>
          <p:cNvSpPr/>
          <p:nvPr>
            <p:ph idx="4" type="pic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572" name="Google Shape;572;p41"/>
          <p:cNvSpPr/>
          <p:nvPr>
            <p:ph idx="5" type="pic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573" name="Google Shape;573;p41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574" name="Google Shape;574;p4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75" name="Google Shape;575;p4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76" name="Google Shape;576;p41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577" name="Google Shape;577;p4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78" name="Google Shape;578;p4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79" name="Google Shape;579;p41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580" name="Google Shape;580;p4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81" name="Google Shape;581;p4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5 CfU 3  image options - blue ">
  <p:cSld name="TITLE_AND_TWO_COLUMNS_1_1_7_2_1">
    <p:bg>
      <p:bgPr>
        <a:solidFill>
          <a:srgbClr val="EBEDFE"/>
        </a:solidFill>
      </p:bgPr>
    </p:bg>
    <p:spTree>
      <p:nvGrpSpPr>
        <p:cNvPr id="582" name="Shape 5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83" name="Google Shape;583;p42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84" name="Google Shape;584;p42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5" name="Google Shape;585;p42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86" name="Google Shape;586;p4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87" name="Google Shape;587;p42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88" name="Google Shape;588;p42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89" name="Google Shape;589;p42"/>
          <p:cNvSpPr/>
          <p:nvPr>
            <p:ph idx="3" type="pic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590" name="Google Shape;590;p42"/>
          <p:cNvSpPr/>
          <p:nvPr>
            <p:ph idx="4" type="pic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591" name="Google Shape;591;p42"/>
          <p:cNvSpPr/>
          <p:nvPr>
            <p:ph idx="5" type="pic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592" name="Google Shape;592;p42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593" name="Google Shape;593;p4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94" name="Google Shape;594;p4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95" name="Google Shape;595;p42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596" name="Google Shape;596;p4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97" name="Google Shape;597;p4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98" name="Google Shape;598;p42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599" name="Google Shape;599;p4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00" name="Google Shape;600;p4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5 CfU 3 image options - pink">
  <p:cSld name="TITLE_AND_TWO_COLUMNS_1_1_7_1_1_1_1_1">
    <p:bg>
      <p:bgPr>
        <a:solidFill>
          <a:srgbClr val="FAEAF6"/>
        </a:solidFill>
      </p:bgPr>
    </p:bg>
    <p:spTree>
      <p:nvGrpSpPr>
        <p:cNvPr id="601" name="Shape 6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02" name="Google Shape;602;p43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03" name="Google Shape;603;p43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4" name="Google Shape;604;p43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605" name="Google Shape;605;p4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06" name="Google Shape;606;p43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07" name="Google Shape;607;p43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08" name="Google Shape;608;p43"/>
          <p:cNvSpPr/>
          <p:nvPr>
            <p:ph idx="3" type="pic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609" name="Google Shape;609;p43"/>
          <p:cNvSpPr/>
          <p:nvPr>
            <p:ph idx="4" type="pic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610" name="Google Shape;610;p43"/>
          <p:cNvSpPr/>
          <p:nvPr>
            <p:ph idx="5" type="pic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611" name="Google Shape;611;p43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612" name="Google Shape;612;p4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13" name="Google Shape;613;p4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614" name="Google Shape;614;p43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615" name="Google Shape;615;p4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16" name="Google Shape;616;p4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617" name="Google Shape;617;p43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618" name="Google Shape;618;p4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19" name="Google Shape;619;p4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6 CfU blank - purple ">
  <p:cSld name="TITLE_AND_TWO_COLUMNS_1_1_6_2">
    <p:bg>
      <p:bgPr>
        <a:solidFill>
          <a:srgbClr val="F3EEFB"/>
        </a:solidFill>
      </p:bgPr>
    </p:bg>
    <p:spTree>
      <p:nvGrpSpPr>
        <p:cNvPr id="620" name="Shape 6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21" name="Google Shape;621;p4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22" name="Google Shape;622;p44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3" name="Google Shape;623;p44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624" name="Google Shape;624;p4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25" name="Google Shape;625;p44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26" name="Google Shape;626;p44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6 CfU blank - jade ">
  <p:cSld name="TITLE_AND_TWO_COLUMNS_1_1_6_2_3_1">
    <p:bg>
      <p:bgPr>
        <a:solidFill>
          <a:srgbClr val="E6F2F2"/>
        </a:solidFill>
      </p:bgPr>
    </p:bg>
    <p:spTree>
      <p:nvGrpSpPr>
        <p:cNvPr id="627" name="Shape 6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28" name="Google Shape;628;p45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29" name="Google Shape;629;p45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0" name="Google Shape;630;p45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631" name="Google Shape;631;p4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32" name="Google Shape;632;p45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33" name="Google Shape;633;p45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6 CfU blank - blue ">
  <p:cSld name="TITLE_AND_TWO_COLUMNS_1_1_6_3">
    <p:bg>
      <p:bgPr>
        <a:solidFill>
          <a:srgbClr val="EBEDFE"/>
        </a:solidFill>
      </p:bgPr>
    </p:bg>
    <p:spTree>
      <p:nvGrpSpPr>
        <p:cNvPr id="634" name="Shape 6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35" name="Google Shape;635;p46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36" name="Google Shape;636;p46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7" name="Google Shape;637;p46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638" name="Google Shape;638;p4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39" name="Google Shape;639;p46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40" name="Google Shape;640;p46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6 CfU blank - pink ">
  <p:cSld name="TITLE_AND_TWO_COLUMNS_1_1_6_2_3_1_1">
    <p:bg>
      <p:bgPr>
        <a:solidFill>
          <a:srgbClr val="FAEAF6"/>
        </a:solidFill>
      </p:bgPr>
    </p:bg>
    <p:spTree>
      <p:nvGrpSpPr>
        <p:cNvPr id="641" name="Shape 6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42" name="Google Shape;642;p47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43" name="Google Shape;643;p47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4" name="Google Shape;644;p47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645" name="Google Shape;645;p4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46" name="Google Shape;646;p47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47" name="Google Shape;647;p47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7 Practice - purple ">
  <p:cSld name="TITLE_AND_TWO_COLUMNS_1_1_5_1_3_1_1">
    <p:spTree>
      <p:nvGrpSpPr>
        <p:cNvPr id="648" name="Shape 6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49" name="Google Shape;649;p4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50" name="Google Shape;650;p48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1" name="Google Shape;651;p48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652" name="Google Shape;652;p4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53" name="Google Shape;653;p48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54" name="Google Shape;654;p48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0" sz="1800"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55" name="Google Shape;655;p48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Task A</a:t>
            </a:r>
            <a:endParaRPr b="1" sz="20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7 Practice - jade">
  <p:cSld name="TITLE_AND_TWO_COLUMNS_1_1_5_1_3_1_1_1_1">
    <p:spTree>
      <p:nvGrpSpPr>
        <p:cNvPr id="656" name="Shape 6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57" name="Google Shape;657;p49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58" name="Google Shape;658;p49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9" name="Google Shape;659;p49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60" name="Google Shape;660;p49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661" name="Google Shape;661;p4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62" name="Google Shape;662;p49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0" sz="1800"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63" name="Google Shape;663;p49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Task B</a:t>
            </a:r>
            <a:endParaRPr b="1" sz="20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7 Practice - blue ">
  <p:cSld name="TITLE_AND_TWO_COLUMNS_1_1_5_1_3_1_2">
    <p:spTree>
      <p:nvGrpSpPr>
        <p:cNvPr id="664" name="Shape 6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5" name="Google Shape;665;p50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66" name="Google Shape;666;p50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7" name="Google Shape;667;p50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68" name="Google Shape;668;p50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669" name="Google Shape;669;p5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70" name="Google Shape;670;p50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0" sz="1800"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71" name="Google Shape;671;p50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Task C</a:t>
            </a:r>
            <a:endParaRPr b="1" sz="20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7 Practice - pink">
  <p:cSld name="TITLE_AND_TWO_COLUMNS_1_1_5_1_3_1_1_1_1_1">
    <p:spTree>
      <p:nvGrpSpPr>
        <p:cNvPr id="672" name="Shape 6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73" name="Google Shape;673;p51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74" name="Google Shape;674;p51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5" name="Google Shape;675;p51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76" name="Google Shape;676;p51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677" name="Google Shape;677;p5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78" name="Google Shape;678;p51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0" sz="1800"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79" name="Google Shape;679;p51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Task D</a:t>
            </a:r>
            <a:endParaRPr b="1" sz="20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8 Feedback - purple">
  <p:cSld name="TITLE_AND_TWO_COLUMNS_1_1_5_1_3_1_1_1">
    <p:bg>
      <p:bgPr>
        <a:solidFill>
          <a:srgbClr val="F3EEFB"/>
        </a:solidFill>
      </p:bgPr>
    </p:bg>
    <p:spTree>
      <p:nvGrpSpPr>
        <p:cNvPr id="680" name="Shape 6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81" name="Google Shape;681;p5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82" name="Google Shape;682;p52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3" name="Google Shape;683;p52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684" name="Google Shape;684;p5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85" name="Google Shape;685;p52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3EEFB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b="1" sz="900">
              <a:solidFill>
                <a:srgbClr val="F3EEFB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86" name="Google Shape;686;p52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0" sz="1800"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87" name="Google Shape;687;p52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Task A</a:t>
            </a:r>
            <a:endParaRPr b="1" sz="20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8 Feedback - jade">
  <p:cSld name="TITLE_AND_TWO_COLUMNS_1_1_5_1_3_1_1_1_1_2">
    <p:bg>
      <p:bgPr>
        <a:solidFill>
          <a:srgbClr val="E6F2F2"/>
        </a:solidFill>
      </p:bgPr>
    </p:bg>
    <p:spTree>
      <p:nvGrpSpPr>
        <p:cNvPr id="688" name="Shape 6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89" name="Google Shape;689;p53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90" name="Google Shape;690;p53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1" name="Google Shape;691;p53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92" name="Google Shape;692;p53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693" name="Google Shape;693;p5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94" name="Google Shape;694;p53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0" sz="1800"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95" name="Google Shape;695;p53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Task B</a:t>
            </a:r>
            <a:endParaRPr b="1" sz="20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8 Feedback - blue">
  <p:cSld name="TITLE_AND_TWO_COLUMNS_1_1_5_1_3_1_2_1">
    <p:bg>
      <p:bgPr>
        <a:solidFill>
          <a:srgbClr val="EBEDFE"/>
        </a:solidFill>
      </p:bgPr>
    </p:bg>
    <p:spTree>
      <p:nvGrpSpPr>
        <p:cNvPr id="696" name="Shape 6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7" name="Google Shape;697;p54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98" name="Google Shape;698;p54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9" name="Google Shape;699;p54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00" name="Google Shape;700;p54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701" name="Google Shape;701;p5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702" name="Google Shape;702;p54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0" sz="1800"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03" name="Google Shape;703;p54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Task C</a:t>
            </a:r>
            <a:endParaRPr b="1" sz="20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8 Feedback - pink">
  <p:cSld name="TITLE_AND_TWO_COLUMNS_1_1_5_1_3_1_1_1_1_1_1">
    <p:bg>
      <p:bgPr>
        <a:solidFill>
          <a:srgbClr val="FAEAF6"/>
        </a:solidFill>
      </p:bgPr>
    </p:bg>
    <p:spTree>
      <p:nvGrpSpPr>
        <p:cNvPr id="704" name="Shape 7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05" name="Google Shape;705;p55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706" name="Google Shape;706;p55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7" name="Google Shape;707;p55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08" name="Google Shape;708;p55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709" name="Google Shape;709;p5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710" name="Google Shape;710;p55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D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11" name="Google Shape;711;p55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0" sz="1800"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6 Summary 1">
  <p:cSld name="TITLE_AND_TWO_COLUMNS_1_1_5_1_2_1_1">
    <p:spTree>
      <p:nvGrpSpPr>
        <p:cNvPr id="712" name="Shape 7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3" name="Google Shape;713;p56"/>
          <p:cNvSpPr/>
          <p:nvPr/>
        </p:nvSpPr>
        <p:spPr>
          <a:xfrm>
            <a:off x="0" y="0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714" name="Google Shape;714;p56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58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715" name="Google Shape;715;p56"/>
          <p:cNvSpPr txBox="1"/>
          <p:nvPr>
            <p:ph idx="1" type="body"/>
          </p:nvPr>
        </p:nvSpPr>
        <p:spPr>
          <a:xfrm>
            <a:off x="324000" y="1080000"/>
            <a:ext cx="8113800" cy="374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16" name="Google Shape;716;p56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Summary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17" name="Google Shape;717;p56"/>
          <p:cNvSpPr txBox="1"/>
          <p:nvPr>
            <p:ph type="title"/>
          </p:nvPr>
        </p:nvSpPr>
        <p:spPr>
          <a:xfrm>
            <a:off x="1684800" y="43825"/>
            <a:ext cx="57414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Lexend"/>
              <a:buNone/>
              <a:defRPr b="0" sz="20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6 Summary 2">
  <p:cSld name="TITLE_AND_TWO_COLUMNS_1_1_5_1_2">
    <p:spTree>
      <p:nvGrpSpPr>
        <p:cNvPr id="718" name="Shape 7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9" name="Google Shape;719;p57"/>
          <p:cNvSpPr/>
          <p:nvPr/>
        </p:nvSpPr>
        <p:spPr>
          <a:xfrm>
            <a:off x="0" y="0"/>
            <a:ext cx="9144300" cy="773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720" name="Google Shape;720;p57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7695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721" name="Google Shape;721;p57"/>
          <p:cNvSpPr txBox="1"/>
          <p:nvPr>
            <p:ph idx="1" type="body"/>
          </p:nvPr>
        </p:nvSpPr>
        <p:spPr>
          <a:xfrm>
            <a:off x="324000" y="1080000"/>
            <a:ext cx="8113800" cy="374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22" name="Google Shape;722;p57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Summary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23" name="Google Shape;723;p57"/>
          <p:cNvSpPr txBox="1"/>
          <p:nvPr>
            <p:ph type="title"/>
          </p:nvPr>
        </p:nvSpPr>
        <p:spPr>
          <a:xfrm>
            <a:off x="1684800" y="43825"/>
            <a:ext cx="57414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Lexend"/>
              <a:buNone/>
              <a:defRPr b="0" sz="20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3 Projectable quiz" showMasterSp="0">
  <p:cSld name="Title Slide 3_1">
    <p:bg>
      <p:bgPr>
        <a:solidFill>
          <a:schemeClr val="lt1"/>
        </a:solidFill>
      </p:bgPr>
    </p:bg>
    <p:spTree>
      <p:nvGrpSpPr>
        <p:cNvPr id="724" name="Shape 7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25" name="Google Shape;725;p5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4129" y="4430050"/>
            <a:ext cx="234000" cy="318241"/>
          </a:xfrm>
          <a:prstGeom prst="rect">
            <a:avLst/>
          </a:prstGeom>
          <a:noFill/>
          <a:ln>
            <a:noFill/>
          </a:ln>
        </p:spPr>
      </p:pic>
      <p:sp>
        <p:nvSpPr>
          <p:cNvPr id="726" name="Google Shape;726;p58"/>
          <p:cNvSpPr txBox="1"/>
          <p:nvPr/>
        </p:nvSpPr>
        <p:spPr>
          <a:xfrm>
            <a:off x="1977450" y="3132468"/>
            <a:ext cx="5189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Click to open the interactive quiz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4 Items to copy-paste">
  <p:cSld name="CUSTOM_104_1_2_1_1">
    <p:spTree>
      <p:nvGrpSpPr>
        <p:cNvPr id="727" name="Shape 7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8" name="Google Shape;728;p59"/>
          <p:cNvSpPr/>
          <p:nvPr/>
        </p:nvSpPr>
        <p:spPr>
          <a:xfrm>
            <a:off x="3217188" y="4171902"/>
            <a:ext cx="5214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Tick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29" name="Google Shape;729;p59"/>
          <p:cNvSpPr/>
          <p:nvPr/>
        </p:nvSpPr>
        <p:spPr>
          <a:xfrm>
            <a:off x="483925" y="193075"/>
            <a:ext cx="6671700" cy="374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Items to copy and paste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0" name="Google Shape;730;p59"/>
          <p:cNvSpPr/>
          <p:nvPr/>
        </p:nvSpPr>
        <p:spPr>
          <a:xfrm>
            <a:off x="7459200" y="352650"/>
            <a:ext cx="1684800" cy="37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-GB" sz="16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Video frame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1" name="Google Shape;731;p59"/>
          <p:cNvSpPr/>
          <p:nvPr/>
        </p:nvSpPr>
        <p:spPr>
          <a:xfrm>
            <a:off x="628788" y="4171893"/>
            <a:ext cx="15792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Agenda dot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2" name="Google Shape;732;p59"/>
          <p:cNvSpPr/>
          <p:nvPr/>
        </p:nvSpPr>
        <p:spPr>
          <a:xfrm>
            <a:off x="5891525" y="2313000"/>
            <a:ext cx="1796400" cy="38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CfU option letters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3" name="Google Shape;733;p59"/>
          <p:cNvSpPr/>
          <p:nvPr/>
        </p:nvSpPr>
        <p:spPr>
          <a:xfrm>
            <a:off x="933601" y="2371650"/>
            <a:ext cx="11799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Play audio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4" name="Google Shape;734;p59"/>
          <p:cNvSpPr/>
          <p:nvPr/>
        </p:nvSpPr>
        <p:spPr>
          <a:xfrm>
            <a:off x="3444210" y="2377200"/>
            <a:ext cx="1116600" cy="25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Play video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5" name="Google Shape;735;p59"/>
          <p:cNvSpPr/>
          <p:nvPr/>
        </p:nvSpPr>
        <p:spPr>
          <a:xfrm>
            <a:off x="4747799" y="4171900"/>
            <a:ext cx="6942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Cross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6" name="Google Shape;736;p59"/>
          <p:cNvSpPr/>
          <p:nvPr/>
        </p:nvSpPr>
        <p:spPr>
          <a:xfrm>
            <a:off x="6451200" y="4171900"/>
            <a:ext cx="14217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Reading icon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5 OGL">
  <p:cSld name="CUSTOM_5_1">
    <p:bg>
      <p:bgPr>
        <a:solidFill>
          <a:srgbClr val="BEF2BD"/>
        </a:solidFill>
      </p:bgPr>
    </p:bg>
    <p:spTree>
      <p:nvGrpSpPr>
        <p:cNvPr id="737" name="Shape 7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38" name="Google Shape;738;p6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347200" y="1111870"/>
            <a:ext cx="7945600" cy="2919776"/>
          </a:xfrm>
          <a:prstGeom prst="rect">
            <a:avLst/>
          </a:prstGeom>
          <a:noFill/>
          <a:ln>
            <a:noFill/>
          </a:ln>
        </p:spPr>
      </p:pic>
      <p:sp>
        <p:nvSpPr>
          <p:cNvPr id="739" name="Google Shape;739;p60"/>
          <p:cNvSpPr txBox="1"/>
          <p:nvPr>
            <p:ph idx="1" type="subTitle"/>
          </p:nvPr>
        </p:nvSpPr>
        <p:spPr>
          <a:xfrm>
            <a:off x="661775" y="1190413"/>
            <a:ext cx="7351200" cy="276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6 Blank">
  <p:cSld name="CUSTOM_6">
    <p:spTree>
      <p:nvGrpSpPr>
        <p:cNvPr id="740" name="Shape 7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1" name="Google Shape;741;p61"/>
          <p:cNvSpPr txBox="1"/>
          <p:nvPr>
            <p:ph type="title"/>
          </p:nvPr>
        </p:nvSpPr>
        <p:spPr>
          <a:xfrm>
            <a:off x="459000" y="73800"/>
            <a:ext cx="6600600" cy="814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0 Keywords (3) 1">
  <p:cSld name="CUSTOM_3_1_2">
    <p:spTree>
      <p:nvGrpSpPr>
        <p:cNvPr id="742" name="Shape 7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3" name="Google Shape;743;p62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744" name="Google Shape;744;p62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745" name="Google Shape;745;p62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6" name="Google Shape;746;p62"/>
          <p:cNvSpPr txBox="1"/>
          <p:nvPr>
            <p:ph idx="1" type="subTitle"/>
          </p:nvPr>
        </p:nvSpPr>
        <p:spPr>
          <a:xfrm>
            <a:off x="323994" y="993640"/>
            <a:ext cx="7215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47" name="Google Shape;747;p62"/>
          <p:cNvSpPr txBox="1"/>
          <p:nvPr>
            <p:ph idx="2" type="subTitle"/>
          </p:nvPr>
        </p:nvSpPr>
        <p:spPr>
          <a:xfrm>
            <a:off x="323994" y="2238730"/>
            <a:ext cx="7215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48" name="Google Shape;748;p62"/>
          <p:cNvSpPr txBox="1"/>
          <p:nvPr>
            <p:ph idx="3" type="subTitle"/>
          </p:nvPr>
        </p:nvSpPr>
        <p:spPr>
          <a:xfrm>
            <a:off x="323994" y="3483820"/>
            <a:ext cx="7215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0.1 Keywords definitions (3)">
  <p:cSld name="CUSTOM_3_1_1_2">
    <p:spTree>
      <p:nvGrpSpPr>
        <p:cNvPr id="749" name="Shape 7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0" name="Google Shape;750;p63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751" name="Google Shape;751;p63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752" name="Google Shape;752;p63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3" name="Google Shape;753;p63"/>
          <p:cNvSpPr txBox="1"/>
          <p:nvPr>
            <p:ph idx="1" type="subTitle"/>
          </p:nvPr>
        </p:nvSpPr>
        <p:spPr>
          <a:xfrm>
            <a:off x="324000" y="993650"/>
            <a:ext cx="8496000" cy="544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None/>
              <a:defRPr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54" name="Google Shape;754;p63"/>
          <p:cNvSpPr txBox="1"/>
          <p:nvPr>
            <p:ph idx="2" type="subTitle"/>
          </p:nvPr>
        </p:nvSpPr>
        <p:spPr>
          <a:xfrm>
            <a:off x="324001" y="2238725"/>
            <a:ext cx="84960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None/>
              <a:defRPr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55" name="Google Shape;755;p63"/>
          <p:cNvSpPr txBox="1"/>
          <p:nvPr>
            <p:ph idx="3" type="subTitle"/>
          </p:nvPr>
        </p:nvSpPr>
        <p:spPr>
          <a:xfrm>
            <a:off x="324001" y="3483825"/>
            <a:ext cx="84960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None/>
              <a:defRPr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40" Type="http://schemas.openxmlformats.org/officeDocument/2006/relationships/slideLayout" Target="../slideLayouts/slideLayout39.xml"/><Relationship Id="rId42" Type="http://schemas.openxmlformats.org/officeDocument/2006/relationships/slideLayout" Target="../slideLayouts/slideLayout41.xml"/><Relationship Id="rId41" Type="http://schemas.openxmlformats.org/officeDocument/2006/relationships/slideLayout" Target="../slideLayouts/slideLayout40.xml"/><Relationship Id="rId44" Type="http://schemas.openxmlformats.org/officeDocument/2006/relationships/slideLayout" Target="../slideLayouts/slideLayout43.xml"/><Relationship Id="rId43" Type="http://schemas.openxmlformats.org/officeDocument/2006/relationships/slideLayout" Target="../slideLayouts/slideLayout42.xml"/><Relationship Id="rId46" Type="http://schemas.openxmlformats.org/officeDocument/2006/relationships/slideLayout" Target="../slideLayouts/slideLayout45.xml"/><Relationship Id="rId45" Type="http://schemas.openxmlformats.org/officeDocument/2006/relationships/slideLayout" Target="../slideLayouts/slideLayout44.xml"/><Relationship Id="rId1" Type="http://schemas.openxmlformats.org/officeDocument/2006/relationships/image" Target="../media/image8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48" Type="http://schemas.openxmlformats.org/officeDocument/2006/relationships/slideLayout" Target="../slideLayouts/slideLayout47.xml"/><Relationship Id="rId47" Type="http://schemas.openxmlformats.org/officeDocument/2006/relationships/slideLayout" Target="../slideLayouts/slideLayout46.xml"/><Relationship Id="rId49" Type="http://schemas.openxmlformats.org/officeDocument/2006/relationships/slideLayout" Target="../slideLayouts/slideLayout48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31" Type="http://schemas.openxmlformats.org/officeDocument/2006/relationships/slideLayout" Target="../slideLayouts/slideLayout30.xml"/><Relationship Id="rId30" Type="http://schemas.openxmlformats.org/officeDocument/2006/relationships/slideLayout" Target="../slideLayouts/slideLayout29.xml"/><Relationship Id="rId33" Type="http://schemas.openxmlformats.org/officeDocument/2006/relationships/slideLayout" Target="../slideLayouts/slideLayout32.xml"/><Relationship Id="rId32" Type="http://schemas.openxmlformats.org/officeDocument/2006/relationships/slideLayout" Target="../slideLayouts/slideLayout31.xml"/><Relationship Id="rId35" Type="http://schemas.openxmlformats.org/officeDocument/2006/relationships/slideLayout" Target="../slideLayouts/slideLayout34.xml"/><Relationship Id="rId34" Type="http://schemas.openxmlformats.org/officeDocument/2006/relationships/slideLayout" Target="../slideLayouts/slideLayout33.xml"/><Relationship Id="rId37" Type="http://schemas.openxmlformats.org/officeDocument/2006/relationships/slideLayout" Target="../slideLayouts/slideLayout36.xml"/><Relationship Id="rId36" Type="http://schemas.openxmlformats.org/officeDocument/2006/relationships/slideLayout" Target="../slideLayouts/slideLayout35.xml"/><Relationship Id="rId39" Type="http://schemas.openxmlformats.org/officeDocument/2006/relationships/slideLayout" Target="../slideLayouts/slideLayout38.xml"/><Relationship Id="rId38" Type="http://schemas.openxmlformats.org/officeDocument/2006/relationships/slideLayout" Target="../slideLayouts/slideLayout37.xml"/><Relationship Id="rId62" Type="http://schemas.openxmlformats.org/officeDocument/2006/relationships/slideLayout" Target="../slideLayouts/slideLayout61.xml"/><Relationship Id="rId61" Type="http://schemas.openxmlformats.org/officeDocument/2006/relationships/slideLayout" Target="../slideLayouts/slideLayout60.xml"/><Relationship Id="rId20" Type="http://schemas.openxmlformats.org/officeDocument/2006/relationships/slideLayout" Target="../slideLayouts/slideLayout19.xml"/><Relationship Id="rId64" Type="http://schemas.openxmlformats.org/officeDocument/2006/relationships/theme" Target="../theme/theme2.xml"/><Relationship Id="rId63" Type="http://schemas.openxmlformats.org/officeDocument/2006/relationships/slideLayout" Target="../slideLayouts/slideLayout62.xml"/><Relationship Id="rId22" Type="http://schemas.openxmlformats.org/officeDocument/2006/relationships/slideLayout" Target="../slideLayouts/slideLayout21.xml"/><Relationship Id="rId21" Type="http://schemas.openxmlformats.org/officeDocument/2006/relationships/slideLayout" Target="../slideLayouts/slideLayout20.xml"/><Relationship Id="rId24" Type="http://schemas.openxmlformats.org/officeDocument/2006/relationships/slideLayout" Target="../slideLayouts/slideLayout23.xml"/><Relationship Id="rId23" Type="http://schemas.openxmlformats.org/officeDocument/2006/relationships/slideLayout" Target="../slideLayouts/slideLayout22.xml"/><Relationship Id="rId60" Type="http://schemas.openxmlformats.org/officeDocument/2006/relationships/slideLayout" Target="../slideLayouts/slideLayout59.xml"/><Relationship Id="rId26" Type="http://schemas.openxmlformats.org/officeDocument/2006/relationships/slideLayout" Target="../slideLayouts/slideLayout25.xml"/><Relationship Id="rId25" Type="http://schemas.openxmlformats.org/officeDocument/2006/relationships/slideLayout" Target="../slideLayouts/slideLayout24.xml"/><Relationship Id="rId28" Type="http://schemas.openxmlformats.org/officeDocument/2006/relationships/slideLayout" Target="../slideLayouts/slideLayout27.xml"/><Relationship Id="rId27" Type="http://schemas.openxmlformats.org/officeDocument/2006/relationships/slideLayout" Target="../slideLayouts/slideLayout26.xml"/><Relationship Id="rId29" Type="http://schemas.openxmlformats.org/officeDocument/2006/relationships/slideLayout" Target="../slideLayouts/slideLayout28.xml"/><Relationship Id="rId51" Type="http://schemas.openxmlformats.org/officeDocument/2006/relationships/slideLayout" Target="../slideLayouts/slideLayout50.xml"/><Relationship Id="rId50" Type="http://schemas.openxmlformats.org/officeDocument/2006/relationships/slideLayout" Target="../slideLayouts/slideLayout49.xml"/><Relationship Id="rId53" Type="http://schemas.openxmlformats.org/officeDocument/2006/relationships/slideLayout" Target="../slideLayouts/slideLayout52.xml"/><Relationship Id="rId52" Type="http://schemas.openxmlformats.org/officeDocument/2006/relationships/slideLayout" Target="../slideLayouts/slideLayout51.xml"/><Relationship Id="rId11" Type="http://schemas.openxmlformats.org/officeDocument/2006/relationships/slideLayout" Target="../slideLayouts/slideLayout10.xml"/><Relationship Id="rId55" Type="http://schemas.openxmlformats.org/officeDocument/2006/relationships/slideLayout" Target="../slideLayouts/slideLayout54.xml"/><Relationship Id="rId10" Type="http://schemas.openxmlformats.org/officeDocument/2006/relationships/slideLayout" Target="../slideLayouts/slideLayout9.xml"/><Relationship Id="rId54" Type="http://schemas.openxmlformats.org/officeDocument/2006/relationships/slideLayout" Target="../slideLayouts/slideLayout53.xml"/><Relationship Id="rId13" Type="http://schemas.openxmlformats.org/officeDocument/2006/relationships/slideLayout" Target="../slideLayouts/slideLayout12.xml"/><Relationship Id="rId57" Type="http://schemas.openxmlformats.org/officeDocument/2006/relationships/slideLayout" Target="../slideLayouts/slideLayout56.xml"/><Relationship Id="rId12" Type="http://schemas.openxmlformats.org/officeDocument/2006/relationships/slideLayout" Target="../slideLayouts/slideLayout11.xml"/><Relationship Id="rId56" Type="http://schemas.openxmlformats.org/officeDocument/2006/relationships/slideLayout" Target="../slideLayouts/slideLayout55.xml"/><Relationship Id="rId15" Type="http://schemas.openxmlformats.org/officeDocument/2006/relationships/slideLayout" Target="../slideLayouts/slideLayout14.xml"/><Relationship Id="rId59" Type="http://schemas.openxmlformats.org/officeDocument/2006/relationships/slideLayout" Target="../slideLayouts/slideLayout58.xml"/><Relationship Id="rId14" Type="http://schemas.openxmlformats.org/officeDocument/2006/relationships/slideLayout" Target="../slideLayouts/slideLayout13.xml"/><Relationship Id="rId58" Type="http://schemas.openxmlformats.org/officeDocument/2006/relationships/slideLayout" Target="../slideLayouts/slideLayout57.xml"/><Relationship Id="rId17" Type="http://schemas.openxmlformats.org/officeDocument/2006/relationships/slideLayout" Target="../slideLayouts/slideLayout16.xml"/><Relationship Id="rId16" Type="http://schemas.openxmlformats.org/officeDocument/2006/relationships/slideLayout" Target="../slideLayouts/slideLayout15.xml"/><Relationship Id="rId19" Type="http://schemas.openxmlformats.org/officeDocument/2006/relationships/slideLayout" Target="../slideLayouts/slideLayout18.xml"/><Relationship Id="rId18" Type="http://schemas.openxmlformats.org/officeDocument/2006/relationships/slideLayout" Target="../slideLayouts/slideLayout1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9000" y="73800"/>
            <a:ext cx="6600600" cy="81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None/>
              <a:defRPr b="1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9000" y="523400"/>
            <a:ext cx="8226000" cy="315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Char char="●"/>
              <a:defRPr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-361950" lvl="1" marL="914400" rtl="0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Lexend"/>
              <a:buChar char="–"/>
              <a:defRPr sz="2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Lexend"/>
              <a:buChar char="–"/>
              <a:defRPr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-349250" lvl="3" marL="1828800" rtl="0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Lexend"/>
              <a:buChar char="–"/>
              <a:defRPr sz="1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lnSpc>
                <a:spcPct val="13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lnSpc>
                <a:spcPct val="130000"/>
              </a:lnSpc>
              <a:spcBef>
                <a:spcPts val="400"/>
              </a:spcBef>
              <a:spcAft>
                <a:spcPts val="200"/>
              </a:spcAft>
              <a:buClr>
                <a:schemeClr val="dk1"/>
              </a:buClr>
              <a:buSzPts val="1800"/>
              <a:buFont typeface="Kalam"/>
              <a:buChar char="–"/>
              <a:defRPr sz="18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pic>
        <p:nvPicPr>
          <p:cNvPr id="8" name="Google Shape;8;p1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8524129" y="4430050"/>
            <a:ext cx="234000" cy="318241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2"/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  <p:sldLayoutId id="2147483658" r:id="rId12"/>
    <p:sldLayoutId id="2147483659" r:id="rId13"/>
    <p:sldLayoutId id="2147483660" r:id="rId14"/>
    <p:sldLayoutId id="2147483661" r:id="rId15"/>
    <p:sldLayoutId id="2147483662" r:id="rId16"/>
    <p:sldLayoutId id="2147483663" r:id="rId17"/>
    <p:sldLayoutId id="2147483664" r:id="rId18"/>
    <p:sldLayoutId id="2147483665" r:id="rId19"/>
    <p:sldLayoutId id="2147483666" r:id="rId20"/>
    <p:sldLayoutId id="2147483667" r:id="rId21"/>
    <p:sldLayoutId id="2147483668" r:id="rId22"/>
    <p:sldLayoutId id="2147483669" r:id="rId23"/>
    <p:sldLayoutId id="2147483670" r:id="rId24"/>
    <p:sldLayoutId id="2147483671" r:id="rId25"/>
    <p:sldLayoutId id="2147483672" r:id="rId26"/>
    <p:sldLayoutId id="2147483673" r:id="rId27"/>
    <p:sldLayoutId id="2147483674" r:id="rId28"/>
    <p:sldLayoutId id="2147483675" r:id="rId29"/>
    <p:sldLayoutId id="2147483676" r:id="rId30"/>
    <p:sldLayoutId id="2147483677" r:id="rId31"/>
    <p:sldLayoutId id="2147483678" r:id="rId32"/>
    <p:sldLayoutId id="2147483679" r:id="rId33"/>
    <p:sldLayoutId id="2147483680" r:id="rId34"/>
    <p:sldLayoutId id="2147483681" r:id="rId35"/>
    <p:sldLayoutId id="2147483682" r:id="rId36"/>
    <p:sldLayoutId id="2147483683" r:id="rId37"/>
    <p:sldLayoutId id="2147483684" r:id="rId38"/>
    <p:sldLayoutId id="2147483685" r:id="rId39"/>
    <p:sldLayoutId id="2147483686" r:id="rId40"/>
    <p:sldLayoutId id="2147483687" r:id="rId41"/>
    <p:sldLayoutId id="2147483688" r:id="rId42"/>
    <p:sldLayoutId id="2147483689" r:id="rId43"/>
    <p:sldLayoutId id="2147483690" r:id="rId44"/>
    <p:sldLayoutId id="2147483691" r:id="rId45"/>
    <p:sldLayoutId id="2147483692" r:id="rId46"/>
    <p:sldLayoutId id="2147483693" r:id="rId47"/>
    <p:sldLayoutId id="2147483694" r:id="rId48"/>
    <p:sldLayoutId id="2147483695" r:id="rId49"/>
    <p:sldLayoutId id="2147483696" r:id="rId50"/>
    <p:sldLayoutId id="2147483697" r:id="rId51"/>
    <p:sldLayoutId id="2147483698" r:id="rId52"/>
    <p:sldLayoutId id="2147483699" r:id="rId53"/>
    <p:sldLayoutId id="2147483700" r:id="rId54"/>
    <p:sldLayoutId id="2147483701" r:id="rId55"/>
    <p:sldLayoutId id="2147483702" r:id="rId56"/>
    <p:sldLayoutId id="2147483703" r:id="rId57"/>
    <p:sldLayoutId id="2147483704" r:id="rId58"/>
    <p:sldLayoutId id="2147483705" r:id="rId59"/>
    <p:sldLayoutId id="2147483706" r:id="rId60"/>
    <p:sldLayoutId id="2147483707" r:id="rId61"/>
    <p:sldLayoutId id="2147483708" r:id="rId62"/>
    <p:sldLayoutId id="2147483709" r:id="rId6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pos="204">
          <p15:clr>
            <a:schemeClr val="dk2"/>
          </p15:clr>
        </p15:guide>
        <p15:guide id="2" pos="1819">
          <p15:clr>
            <a:srgbClr val="0000FF"/>
          </p15:clr>
        </p15:guide>
        <p15:guide id="3" orient="horz" pos="340">
          <p15:clr>
            <a:srgbClr val="222222"/>
          </p15:clr>
        </p15:guide>
        <p15:guide id="4" pos="2123">
          <p15:clr>
            <a:srgbClr val="0000FF"/>
          </p15:clr>
        </p15:guide>
        <p15:guide id="5" pos="2880">
          <p15:clr>
            <a:srgbClr val="EA4335"/>
          </p15:clr>
        </p15:guide>
        <p15:guide id="6" pos="3637">
          <p15:clr>
            <a:srgbClr val="0000FF"/>
          </p15:clr>
        </p15:guide>
        <p15:guide id="7" pos="3941">
          <p15:clr>
            <a:srgbClr val="0000FF"/>
          </p15:clr>
        </p15:guide>
        <p15:guide id="8" pos="5556">
          <p15:clr>
            <a:srgbClr val="222222"/>
          </p15:clr>
        </p15:guide>
        <p15:guide id="9" pos="1061">
          <p15:clr>
            <a:srgbClr val="9AA0A6"/>
          </p15:clr>
        </p15:guide>
        <p15:guide id="10" pos="4699">
          <p15:clr>
            <a:srgbClr val="9AA0A6"/>
          </p15:clr>
        </p15:guide>
        <p15:guide id="11" orient="horz" pos="680">
          <p15:clr>
            <a:srgbClr val="B7B7B7"/>
          </p15:clr>
        </p15:guide>
        <p15:guide id="12" orient="horz" pos="1020">
          <p15:clr>
            <a:srgbClr val="B7B7B7"/>
          </p15:clr>
        </p15:guide>
        <p15:guide id="13" orient="horz" pos="1361">
          <p15:clr>
            <a:srgbClr val="B7B7B7"/>
          </p15:clr>
        </p15:guide>
        <p15:guide id="14" orient="horz" pos="1701">
          <p15:clr>
            <a:srgbClr val="B7B7B7"/>
          </p15:clr>
        </p15:guide>
        <p15:guide id="15" orient="horz" pos="2041">
          <p15:clr>
            <a:srgbClr val="B7B7B7"/>
          </p15:clr>
        </p15:guide>
        <p15:guide id="16" orient="horz" pos="2381">
          <p15:clr>
            <a:srgbClr val="B7B7B7"/>
          </p15:clr>
        </p15:guide>
        <p15:guide id="17" orient="horz" pos="3036">
          <p15:clr>
            <a:srgbClr val="000000"/>
          </p15:clr>
        </p15:guide>
        <p15:guide id="18" pos="2721">
          <p15:clr>
            <a:schemeClr val="dk1"/>
          </p15:clr>
        </p15:guide>
        <p15:guide id="19" pos="3039">
          <p15:clr>
            <a:schemeClr val="dk1"/>
          </p15:clr>
        </p15:guide>
        <p15:guide id="20" orient="horz" pos="510">
          <p15:clr>
            <a:srgbClr val="B7B7B7"/>
          </p15:clr>
        </p15:guide>
        <p15:guide id="21" orient="horz" pos="1620">
          <p15:clr>
            <a:srgbClr val="EA4335"/>
          </p15:clr>
        </p15:guide>
        <p15:guide id="22" orient="horz" pos="2721">
          <p15:clr>
            <a:srgbClr val="B7B7B7"/>
          </p15:clr>
        </p15:guide>
      </p15:sldGuideLst>
    </p:ext>
  </p:extLst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.xml"/><Relationship Id="rId3" Type="http://schemas.openxmlformats.org/officeDocument/2006/relationships/hyperlink" Target="https://support.thenational.academy/using-oaks-new-teaching-resources?utm_campaign=OakSlideDeck&amp;utm_medium=document&amp;utm_source=guide" TargetMode="Externa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53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51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54.png"/><Relationship Id="rId4" Type="http://schemas.openxmlformats.org/officeDocument/2006/relationships/image" Target="../media/image55.png"/><Relationship Id="rId5" Type="http://schemas.openxmlformats.org/officeDocument/2006/relationships/image" Target="../media/image57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55.png"/><Relationship Id="rId4" Type="http://schemas.openxmlformats.org/officeDocument/2006/relationships/image" Target="../media/image57.png"/><Relationship Id="rId5" Type="http://schemas.openxmlformats.org/officeDocument/2006/relationships/image" Target="../media/image54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55.png"/><Relationship Id="rId4" Type="http://schemas.openxmlformats.org/officeDocument/2006/relationships/image" Target="../media/image58.png"/><Relationship Id="rId5" Type="http://schemas.openxmlformats.org/officeDocument/2006/relationships/image" Target="../media/image54.png"/><Relationship Id="rId6" Type="http://schemas.openxmlformats.org/officeDocument/2006/relationships/image" Target="../media/image57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59.png"/><Relationship Id="rId4" Type="http://schemas.openxmlformats.org/officeDocument/2006/relationships/image" Target="../media/image55.png"/><Relationship Id="rId5" Type="http://schemas.openxmlformats.org/officeDocument/2006/relationships/image" Target="../media/image57.png"/><Relationship Id="rId6" Type="http://schemas.openxmlformats.org/officeDocument/2006/relationships/image" Target="../media/image58.png"/><Relationship Id="rId7" Type="http://schemas.openxmlformats.org/officeDocument/2006/relationships/image" Target="../media/image51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54.png"/><Relationship Id="rId4" Type="http://schemas.openxmlformats.org/officeDocument/2006/relationships/image" Target="../media/image55.png"/><Relationship Id="rId5" Type="http://schemas.openxmlformats.org/officeDocument/2006/relationships/image" Target="../media/image57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58.png"/><Relationship Id="rId4" Type="http://schemas.openxmlformats.org/officeDocument/2006/relationships/image" Target="../media/image57.png"/><Relationship Id="rId5" Type="http://schemas.openxmlformats.org/officeDocument/2006/relationships/image" Target="../media/image55.png"/><Relationship Id="rId6" Type="http://schemas.openxmlformats.org/officeDocument/2006/relationships/image" Target="../media/image54.png"/><Relationship Id="rId7" Type="http://schemas.openxmlformats.org/officeDocument/2006/relationships/image" Target="../media/image51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5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51.png"/><Relationship Id="rId4" Type="http://schemas.openxmlformats.org/officeDocument/2006/relationships/image" Target="../media/image58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54.png"/><Relationship Id="rId4" Type="http://schemas.openxmlformats.org/officeDocument/2006/relationships/image" Target="../media/image55.png"/><Relationship Id="rId5" Type="http://schemas.openxmlformats.org/officeDocument/2006/relationships/image" Target="../media/image57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55.png"/><Relationship Id="rId4" Type="http://schemas.openxmlformats.org/officeDocument/2006/relationships/image" Target="../media/image54.png"/><Relationship Id="rId5" Type="http://schemas.openxmlformats.org/officeDocument/2006/relationships/image" Target="../media/image58.png"/><Relationship Id="rId6" Type="http://schemas.openxmlformats.org/officeDocument/2006/relationships/image" Target="../media/image57.png"/><Relationship Id="rId7" Type="http://schemas.openxmlformats.org/officeDocument/2006/relationships/image" Target="../media/image51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5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51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7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7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7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53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54.png"/><Relationship Id="rId4" Type="http://schemas.openxmlformats.org/officeDocument/2006/relationships/image" Target="../media/image55.png"/><Relationship Id="rId5" Type="http://schemas.openxmlformats.org/officeDocument/2006/relationships/image" Target="../media/image57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4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4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62.png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8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8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8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2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2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2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2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5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9.xml"/><Relationship Id="rId2" Type="http://schemas.openxmlformats.org/officeDocument/2006/relationships/notesSlide" Target="../notesSlides/notesSlide43.xml"/><Relationship Id="rId3" Type="http://schemas.openxmlformats.org/officeDocument/2006/relationships/hyperlink" Target="https://www.nationalarchives.gov.uk/doc/open-government-licence/version/3/" TargetMode="External"/><Relationship Id="rId4" Type="http://schemas.openxmlformats.org/officeDocument/2006/relationships/hyperlink" Target="https://www.thenational.academy/legal/terms-and-conditions" TargetMode="External"/><Relationship Id="rId5" Type="http://schemas.openxmlformats.org/officeDocument/2006/relationships/image" Target="../media/image6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9" name="Shape 7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0" name="Google Shape;760;p64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Problem solving with standard form</a:t>
            </a:r>
            <a:endParaRPr/>
          </a:p>
        </p:txBody>
      </p:sp>
      <p:sp>
        <p:nvSpPr>
          <p:cNvPr id="761" name="Google Shape;761;p64"/>
          <p:cNvSpPr txBox="1"/>
          <p:nvPr>
            <p:ph idx="1" type="subTitle"/>
          </p:nvPr>
        </p:nvSpPr>
        <p:spPr>
          <a:xfrm>
            <a:off x="890225" y="4327975"/>
            <a:ext cx="5758500" cy="669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Standard form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765" name="Shape 7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6" name="Google Shape;766;p65"/>
          <p:cNvSpPr txBox="1"/>
          <p:nvPr/>
        </p:nvSpPr>
        <p:spPr>
          <a:xfrm>
            <a:off x="4917900" y="956025"/>
            <a:ext cx="36612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 u="sng">
                <a:solidFill>
                  <a:srgbClr val="374CF1"/>
                </a:solidFill>
                <a:latin typeface="Lexend"/>
                <a:ea typeface="Lexend"/>
                <a:cs typeface="Lexend"/>
                <a:sym typeface="Lexend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How our teaching resources are designed for the classroom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0" name="Shape 7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1" name="Google Shape;771;p66"/>
          <p:cNvSpPr txBox="1"/>
          <p:nvPr>
            <p:ph idx="1" type="subTitle"/>
          </p:nvPr>
        </p:nvSpPr>
        <p:spPr>
          <a:xfrm>
            <a:off x="585575" y="1463950"/>
            <a:ext cx="7351200" cy="276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I can use my </a:t>
            </a:r>
            <a:r>
              <a:rPr lang="en-GB"/>
              <a:t>knowledge</a:t>
            </a:r>
            <a:r>
              <a:rPr lang="en-GB"/>
              <a:t> of standard form to solve problems.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5" name="Shape 7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6" name="Google Shape;776;p67"/>
          <p:cNvSpPr txBox="1"/>
          <p:nvPr>
            <p:ph idx="1" type="subTitle"/>
          </p:nvPr>
        </p:nvSpPr>
        <p:spPr>
          <a:xfrm>
            <a:off x="306950" y="1065000"/>
            <a:ext cx="7767300" cy="1578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lang="en-GB"/>
              <a:t> </a:t>
            </a:r>
            <a:endParaRPr b="0"/>
          </a:p>
        </p:txBody>
      </p:sp>
      <p:sp>
        <p:nvSpPr>
          <p:cNvPr id="777" name="Google Shape;777;p67"/>
          <p:cNvSpPr txBox="1"/>
          <p:nvPr>
            <p:ph idx="1" type="subTitle"/>
          </p:nvPr>
        </p:nvSpPr>
        <p:spPr>
          <a:xfrm>
            <a:off x="306950" y="2436600"/>
            <a:ext cx="7767300" cy="1578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lang="en-GB"/>
              <a:t> </a:t>
            </a:r>
            <a:endParaRPr b="0"/>
          </a:p>
        </p:txBody>
      </p:sp>
      <p:sp>
        <p:nvSpPr>
          <p:cNvPr id="778" name="Google Shape;778;p67"/>
          <p:cNvSpPr txBox="1"/>
          <p:nvPr/>
        </p:nvSpPr>
        <p:spPr>
          <a:xfrm>
            <a:off x="306950" y="785500"/>
            <a:ext cx="7152300" cy="88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Standard form is when a number is written in </a:t>
            </a: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the form </a:t>
            </a:r>
            <a:r>
              <a:rPr i="1" lang="en-GB" sz="2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</a:t>
            </a:r>
            <a:r>
              <a:rPr lang="en-GB" sz="2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× 10</a:t>
            </a:r>
            <a:r>
              <a:rPr baseline="30000" i="1" lang="en-GB" sz="2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, (where </a:t>
            </a:r>
            <a:r>
              <a:rPr lang="en-GB" sz="2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 ≤ A &lt; 10</a:t>
            </a: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and </a:t>
            </a:r>
            <a:r>
              <a:rPr i="1" lang="en-GB" sz="2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is an integer).</a:t>
            </a:r>
            <a:endParaRPr sz="1800">
              <a:solidFill>
                <a:srgbClr val="282828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endParaRPr sz="2200">
              <a:solidFill>
                <a:srgbClr val="282828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79" name="Google Shape;779;p67"/>
          <p:cNvSpPr txBox="1"/>
          <p:nvPr>
            <p:ph idx="1" type="subTitle"/>
          </p:nvPr>
        </p:nvSpPr>
        <p:spPr>
          <a:xfrm>
            <a:off x="306950" y="1895013"/>
            <a:ext cx="81954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b="0" lang="en-GB" sz="1800"/>
              <a:t>The </a:t>
            </a:r>
            <a:r>
              <a:rPr b="0" lang="en-GB" sz="1800"/>
              <a:t>associative law</a:t>
            </a:r>
            <a:r>
              <a:rPr b="0" lang="en-GB" sz="1800"/>
              <a:t> states that a repeated application of the operation produces the same result regardless of how pairs of values are grouped. </a:t>
            </a:r>
            <a:r>
              <a:rPr b="0" lang="en-GB" sz="1800">
                <a:solidFill>
                  <a:schemeClr val="dk1"/>
                </a:solidFill>
              </a:rPr>
              <a:t>We can group using brackets.</a:t>
            </a:r>
            <a:endParaRPr b="0" sz="1800"/>
          </a:p>
        </p:txBody>
      </p:sp>
      <p:sp>
        <p:nvSpPr>
          <p:cNvPr id="780" name="Google Shape;780;p67"/>
          <p:cNvSpPr txBox="1"/>
          <p:nvPr/>
        </p:nvSpPr>
        <p:spPr>
          <a:xfrm>
            <a:off x="306945" y="2907351"/>
            <a:ext cx="1399200" cy="48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Examples</a:t>
            </a:r>
            <a:endParaRPr sz="1800">
              <a:solidFill>
                <a:srgbClr val="282828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81" name="Google Shape;781;p67"/>
          <p:cNvSpPr txBox="1"/>
          <p:nvPr/>
        </p:nvSpPr>
        <p:spPr>
          <a:xfrm>
            <a:off x="318299" y="3311263"/>
            <a:ext cx="2606400" cy="48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2.4 × 100 = </a:t>
            </a:r>
            <a:endParaRPr sz="1800">
              <a:solidFill>
                <a:srgbClr val="282828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82" name="Google Shape;782;p67"/>
          <p:cNvSpPr txBox="1"/>
          <p:nvPr/>
        </p:nvSpPr>
        <p:spPr>
          <a:xfrm>
            <a:off x="4591103" y="2907351"/>
            <a:ext cx="2317800" cy="48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Non examples</a:t>
            </a:r>
            <a:endParaRPr sz="1800">
              <a:solidFill>
                <a:srgbClr val="282828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83" name="Google Shape;783;p67"/>
          <p:cNvSpPr txBox="1"/>
          <p:nvPr/>
        </p:nvSpPr>
        <p:spPr>
          <a:xfrm>
            <a:off x="4602450" y="3311263"/>
            <a:ext cx="1923000" cy="286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(48 ÷ 6) ÷ 2 =</a:t>
            </a:r>
            <a:endParaRPr sz="1800">
              <a:solidFill>
                <a:srgbClr val="282828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84" name="Google Shape;784;p67"/>
          <p:cNvSpPr txBox="1"/>
          <p:nvPr/>
        </p:nvSpPr>
        <p:spPr>
          <a:xfrm>
            <a:off x="6103200" y="3311263"/>
            <a:ext cx="1399200" cy="286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24 ÷ 6</a:t>
            </a:r>
            <a:endParaRPr sz="1800">
              <a:solidFill>
                <a:srgbClr val="282828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85" name="Google Shape;785;p67"/>
          <p:cNvSpPr txBox="1"/>
          <p:nvPr/>
        </p:nvSpPr>
        <p:spPr>
          <a:xfrm>
            <a:off x="1812640" y="3323387"/>
            <a:ext cx="1260900" cy="48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7 + 10 </a:t>
            </a:r>
            <a:endParaRPr sz="1800">
              <a:solidFill>
                <a:srgbClr val="282828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86" name="Google Shape;786;p67"/>
          <p:cNvSpPr txBox="1"/>
          <p:nvPr/>
        </p:nvSpPr>
        <p:spPr>
          <a:xfrm>
            <a:off x="1569875" y="3323388"/>
            <a:ext cx="2384700" cy="330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2.4 × 10 × 10</a:t>
            </a:r>
            <a:endParaRPr sz="1800">
              <a:solidFill>
                <a:srgbClr val="282828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87" name="Google Shape;787;p67"/>
          <p:cNvSpPr txBox="1"/>
          <p:nvPr/>
        </p:nvSpPr>
        <p:spPr>
          <a:xfrm>
            <a:off x="6068250" y="3311263"/>
            <a:ext cx="996900" cy="286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4</a:t>
            </a:r>
            <a:endParaRPr sz="1800">
              <a:solidFill>
                <a:srgbClr val="282828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88" name="Google Shape;788;p67"/>
          <p:cNvSpPr txBox="1"/>
          <p:nvPr/>
        </p:nvSpPr>
        <p:spPr>
          <a:xfrm>
            <a:off x="4539859" y="3653388"/>
            <a:ext cx="1923000" cy="48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 48 ÷ (6 ÷ 2) =</a:t>
            </a:r>
            <a:endParaRPr sz="1800">
              <a:solidFill>
                <a:srgbClr val="282828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89" name="Google Shape;789;p67"/>
          <p:cNvSpPr txBox="1"/>
          <p:nvPr/>
        </p:nvSpPr>
        <p:spPr>
          <a:xfrm>
            <a:off x="6081854" y="3653388"/>
            <a:ext cx="1513500" cy="48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48 ÷ 3</a:t>
            </a:r>
            <a:endParaRPr sz="1800">
              <a:solidFill>
                <a:srgbClr val="282828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90" name="Google Shape;790;p67"/>
          <p:cNvSpPr txBox="1"/>
          <p:nvPr/>
        </p:nvSpPr>
        <p:spPr>
          <a:xfrm>
            <a:off x="6048328" y="3653388"/>
            <a:ext cx="1770900" cy="4872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16</a:t>
            </a:r>
            <a:endParaRPr sz="1800">
              <a:solidFill>
                <a:srgbClr val="282828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791" name="Google Shape;791;p67"/>
          <p:cNvCxnSpPr/>
          <p:nvPr/>
        </p:nvCxnSpPr>
        <p:spPr>
          <a:xfrm>
            <a:off x="4354150" y="2936088"/>
            <a:ext cx="0" cy="13839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792" name="Google Shape;792;p67"/>
          <p:cNvSpPr txBox="1"/>
          <p:nvPr/>
        </p:nvSpPr>
        <p:spPr>
          <a:xfrm>
            <a:off x="1782350" y="3653388"/>
            <a:ext cx="1686600" cy="48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(3 + 4) + 10  </a:t>
            </a:r>
            <a:endParaRPr sz="1800">
              <a:solidFill>
                <a:srgbClr val="282828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93" name="Google Shape;793;p67"/>
          <p:cNvSpPr txBox="1"/>
          <p:nvPr/>
        </p:nvSpPr>
        <p:spPr>
          <a:xfrm>
            <a:off x="306950" y="3653388"/>
            <a:ext cx="2384700" cy="48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3 + (4 + 10) =</a:t>
            </a:r>
            <a:endParaRPr sz="1800">
              <a:solidFill>
                <a:srgbClr val="282828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7" name="Shape 7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" name="Google Shape;798;p68"/>
          <p:cNvSpPr txBox="1"/>
          <p:nvPr>
            <p:ph type="title"/>
          </p:nvPr>
        </p:nvSpPr>
        <p:spPr>
          <a:xfrm>
            <a:off x="1225225" y="2090813"/>
            <a:ext cx="68523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Not quite standard form numbers</a:t>
            </a:r>
            <a:endParaRPr/>
          </a:p>
        </p:txBody>
      </p:sp>
      <p:sp>
        <p:nvSpPr>
          <p:cNvPr id="799" name="Google Shape;799;p68"/>
          <p:cNvSpPr txBox="1"/>
          <p:nvPr>
            <p:ph idx="2" type="title"/>
          </p:nvPr>
        </p:nvSpPr>
        <p:spPr>
          <a:xfrm>
            <a:off x="1225225" y="3027088"/>
            <a:ext cx="68523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Using standard form in problems</a:t>
            </a:r>
            <a:endParaRPr/>
          </a:p>
        </p:txBody>
      </p:sp>
      <p:sp>
        <p:nvSpPr>
          <p:cNvPr id="800" name="Google Shape;800;p68"/>
          <p:cNvSpPr txBox="1"/>
          <p:nvPr>
            <p:ph idx="3" type="title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Problem solving with standard form</a:t>
            </a:r>
            <a:endParaRPr/>
          </a:p>
        </p:txBody>
      </p:sp>
      <p:pic>
        <p:nvPicPr>
          <p:cNvPr id="801" name="Google Shape;801;p6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4800" y="2052100"/>
            <a:ext cx="450575" cy="446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5" name="Shape 8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6" name="Google Shape;806;p69"/>
          <p:cNvSpPr txBox="1"/>
          <p:nvPr>
            <p:ph idx="1" type="body"/>
          </p:nvPr>
        </p:nvSpPr>
        <p:spPr>
          <a:xfrm>
            <a:off x="324000" y="759300"/>
            <a:ext cx="85722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When numbers are in the form </a:t>
            </a:r>
            <a:endParaRPr/>
          </a:p>
          <a:p>
            <a:pPr indent="0" lvl="0" marL="0" rtl="0" algn="ctr">
              <a:spcBef>
                <a:spcPts val="1000"/>
              </a:spcBef>
              <a:spcAft>
                <a:spcPts val="0"/>
              </a:spcAft>
              <a:buNone/>
            </a:pPr>
            <a:r>
              <a:rPr lang="en-GB"/>
              <a:t>A × 10</a:t>
            </a:r>
            <a:r>
              <a:rPr baseline="30000" i="1" lang="en-GB" sz="2500">
                <a:latin typeface="Times"/>
                <a:ea typeface="Times"/>
                <a:cs typeface="Times"/>
                <a:sym typeface="Times"/>
              </a:rPr>
              <a:t>n</a:t>
            </a:r>
            <a:r>
              <a:rPr lang="en-GB"/>
              <a:t> </a:t>
            </a:r>
            <a:endParaRPr/>
          </a:p>
          <a:p>
            <a:pPr indent="0" lvl="0" marL="0" rtl="0" algn="ctr">
              <a:spcBef>
                <a:spcPts val="1000"/>
              </a:spcBef>
              <a:spcAft>
                <a:spcPts val="0"/>
              </a:spcAft>
              <a:buNone/>
            </a:pPr>
            <a:r>
              <a:rPr lang="en-GB"/>
              <a:t>where 1 ≤ A &lt; 10 and </a:t>
            </a:r>
            <a:r>
              <a:rPr i="1" lang="en-GB" sz="2400">
                <a:latin typeface="Times"/>
                <a:ea typeface="Times"/>
                <a:cs typeface="Times"/>
                <a:sym typeface="Times"/>
              </a:rPr>
              <a:t>n</a:t>
            </a:r>
            <a:r>
              <a:rPr lang="en-GB"/>
              <a:t> is an integer.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/>
              <a:t>We know that they are in </a:t>
            </a:r>
            <a:r>
              <a:rPr lang="en-GB"/>
              <a:t>standard</a:t>
            </a:r>
            <a:r>
              <a:rPr lang="en-GB"/>
              <a:t> form. 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/>
              <a:t>For example, which of the following are </a:t>
            </a:r>
            <a:r>
              <a:rPr lang="en-GB">
                <a:solidFill>
                  <a:schemeClr val="accent4"/>
                </a:solidFill>
              </a:rPr>
              <a:t>not</a:t>
            </a:r>
            <a:r>
              <a:rPr lang="en-GB"/>
              <a:t> in standard form?</a:t>
            </a:r>
            <a:endParaRPr/>
          </a:p>
          <a:p>
            <a:pPr indent="0" lvl="0" marL="0" rtl="0" algn="ctr"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100"/>
              <a:t>67 × 10</a:t>
            </a:r>
            <a:r>
              <a:rPr baseline="30000" lang="en-GB" sz="2100"/>
              <a:t>11               </a:t>
            </a:r>
            <a:r>
              <a:rPr lang="en-GB" sz="2100"/>
              <a:t>0.78 × 10</a:t>
            </a:r>
            <a:r>
              <a:rPr baseline="30000" lang="en-GB" sz="2100"/>
              <a:t>11                </a:t>
            </a:r>
            <a:r>
              <a:rPr lang="en-GB" sz="2100"/>
              <a:t>6.2 × 10</a:t>
            </a:r>
            <a:r>
              <a:rPr baseline="30000" lang="en-GB" sz="2100"/>
              <a:t>11                </a:t>
            </a:r>
            <a:r>
              <a:rPr lang="en-GB" sz="2100"/>
              <a:t>149 × 10</a:t>
            </a:r>
            <a:r>
              <a:rPr baseline="30000" lang="en-GB" sz="2100"/>
              <a:t>12</a:t>
            </a:r>
            <a:endParaRPr/>
          </a:p>
        </p:txBody>
      </p:sp>
      <p:sp>
        <p:nvSpPr>
          <p:cNvPr id="807" name="Google Shape;807;p69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Not quite standard form numbers</a:t>
            </a:r>
            <a:endParaRPr/>
          </a:p>
        </p:txBody>
      </p:sp>
      <p:sp>
        <p:nvSpPr>
          <p:cNvPr id="808" name="Google Shape;808;p69"/>
          <p:cNvSpPr/>
          <p:nvPr/>
        </p:nvSpPr>
        <p:spPr>
          <a:xfrm>
            <a:off x="836400" y="3300675"/>
            <a:ext cx="1696800" cy="435600"/>
          </a:xfrm>
          <a:prstGeom prst="rect">
            <a:avLst/>
          </a:prstGeom>
          <a:solidFill>
            <a:srgbClr val="FFFF00">
              <a:alpha val="3861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09" name="Google Shape;809;p69"/>
          <p:cNvSpPr/>
          <p:nvPr/>
        </p:nvSpPr>
        <p:spPr>
          <a:xfrm>
            <a:off x="2887200" y="3300675"/>
            <a:ext cx="1696800" cy="435600"/>
          </a:xfrm>
          <a:prstGeom prst="rect">
            <a:avLst/>
          </a:prstGeom>
          <a:solidFill>
            <a:srgbClr val="FFFF00">
              <a:alpha val="3861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10" name="Google Shape;810;p69"/>
          <p:cNvSpPr/>
          <p:nvPr/>
        </p:nvSpPr>
        <p:spPr>
          <a:xfrm>
            <a:off x="6547550" y="3300675"/>
            <a:ext cx="1696800" cy="435600"/>
          </a:xfrm>
          <a:prstGeom prst="rect">
            <a:avLst/>
          </a:prstGeom>
          <a:solidFill>
            <a:srgbClr val="FFFF00">
              <a:alpha val="3861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11" name="Google Shape;811;p69"/>
          <p:cNvSpPr txBox="1"/>
          <p:nvPr>
            <p:ph idx="1" type="body"/>
          </p:nvPr>
        </p:nvSpPr>
        <p:spPr>
          <a:xfrm>
            <a:off x="324000" y="3872700"/>
            <a:ext cx="8572200" cy="89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This is </a:t>
            </a:r>
            <a:r>
              <a:rPr lang="en-GB"/>
              <a:t>because</a:t>
            </a:r>
            <a:r>
              <a:rPr lang="en-GB"/>
              <a:t> the A number is not in between 1 and 10, including 1 and not including 10.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6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6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6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6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6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5" name="Shape 8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6" name="Google Shape;816;p70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We can change these numbers into </a:t>
            </a:r>
            <a:r>
              <a:rPr lang="en-GB"/>
              <a:t>standard</a:t>
            </a:r>
            <a:r>
              <a:rPr lang="en-GB"/>
              <a:t> form using our knowledge of powers of 10.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2100"/>
              <a:t>67 × 10</a:t>
            </a:r>
            <a:r>
              <a:rPr baseline="30000" lang="en-GB" sz="2100"/>
              <a:t>11</a:t>
            </a:r>
            <a:r>
              <a:rPr lang="en-GB"/>
              <a:t>    </a:t>
            </a:r>
            <a:r>
              <a:rPr lang="en-GB"/>
              <a:t>= 67 </a:t>
            </a:r>
            <a:r>
              <a:rPr lang="en-GB" sz="2100"/>
              <a:t>× 10 </a:t>
            </a:r>
            <a:r>
              <a:rPr lang="en-GB" sz="2100"/>
              <a:t>× 10 × 10 × 10 × 10 × 10 × 10 × 10 × 10 × 10 × 10</a:t>
            </a:r>
            <a:endParaRPr sz="2100"/>
          </a:p>
          <a:p>
            <a:pPr indent="457200" lvl="0" marL="91440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2100"/>
              <a:t>= 6 700 000 000 000</a:t>
            </a:r>
            <a:r>
              <a:rPr lang="en-GB" sz="2100"/>
              <a:t> </a:t>
            </a:r>
            <a:r>
              <a:rPr lang="en-GB"/>
              <a:t> </a:t>
            </a:r>
            <a:endParaRPr/>
          </a:p>
          <a:p>
            <a:pPr indent="457200" lvl="0" marL="91440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/>
              <a:t>= </a:t>
            </a:r>
            <a:r>
              <a:rPr lang="en-GB" sz="2100"/>
              <a:t>6.7 × 10</a:t>
            </a:r>
            <a:r>
              <a:rPr baseline="30000" lang="en-GB" sz="2100"/>
              <a:t>12</a:t>
            </a:r>
            <a:endParaRPr baseline="30000" sz="21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2100"/>
              <a:t>However, this takes a long time, so we can use the associative law to help.</a:t>
            </a:r>
            <a:endParaRPr sz="2100"/>
          </a:p>
        </p:txBody>
      </p:sp>
      <p:sp>
        <p:nvSpPr>
          <p:cNvPr id="817" name="Google Shape;817;p70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Not quite standard form numbers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6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6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6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6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1" name="Shape 8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2" name="Google Shape;822;p71"/>
          <p:cNvSpPr txBox="1"/>
          <p:nvPr>
            <p:ph idx="1" type="body"/>
          </p:nvPr>
        </p:nvSpPr>
        <p:spPr>
          <a:xfrm>
            <a:off x="-1962000" y="759300"/>
            <a:ext cx="8237700" cy="467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100"/>
              <a:t>67 × 10</a:t>
            </a:r>
            <a:r>
              <a:rPr baseline="30000" lang="en-GB" sz="2100"/>
              <a:t>11</a:t>
            </a:r>
            <a:r>
              <a:rPr lang="en-GB"/>
              <a:t> 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/>
          </a:p>
        </p:txBody>
      </p:sp>
      <p:sp>
        <p:nvSpPr>
          <p:cNvPr id="823" name="Google Shape;823;p71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Not quite standard form numbers</a:t>
            </a:r>
            <a:endParaRPr/>
          </a:p>
        </p:txBody>
      </p:sp>
      <p:grpSp>
        <p:nvGrpSpPr>
          <p:cNvPr id="824" name="Google Shape;824;p71"/>
          <p:cNvGrpSpPr/>
          <p:nvPr/>
        </p:nvGrpSpPr>
        <p:grpSpPr>
          <a:xfrm>
            <a:off x="1624829" y="1040975"/>
            <a:ext cx="335100" cy="252300"/>
            <a:chOff x="3910829" y="1040975"/>
            <a:chExt cx="335100" cy="252300"/>
          </a:xfrm>
        </p:grpSpPr>
        <p:sp>
          <p:nvSpPr>
            <p:cNvPr id="825" name="Google Shape;825;p71"/>
            <p:cNvSpPr/>
            <p:nvPr/>
          </p:nvSpPr>
          <p:spPr>
            <a:xfrm rot="5400000">
              <a:off x="4048829" y="902975"/>
              <a:ext cx="59100" cy="335100"/>
            </a:xfrm>
            <a:prstGeom prst="rightBracket">
              <a:avLst>
                <a:gd fmla="val 8333" name="adj"/>
              </a:avLst>
            </a:prstGeom>
            <a:noFill/>
            <a:ln cap="flat" cmpd="sng" w="28575">
              <a:solidFill>
                <a:srgbClr val="80808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826" name="Google Shape;826;p71"/>
            <p:cNvCxnSpPr>
              <a:stCxn id="825" idx="2"/>
            </p:cNvCxnSpPr>
            <p:nvPr/>
          </p:nvCxnSpPr>
          <p:spPr>
            <a:xfrm flipH="1">
              <a:off x="4075979" y="1100075"/>
              <a:ext cx="2400" cy="193200"/>
            </a:xfrm>
            <a:prstGeom prst="straightConnector1">
              <a:avLst/>
            </a:prstGeom>
            <a:noFill/>
            <a:ln cap="flat" cmpd="sng" w="19050">
              <a:solidFill>
                <a:srgbClr val="808080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827" name="Google Shape;827;p71"/>
          <p:cNvSpPr txBox="1"/>
          <p:nvPr>
            <p:ph idx="1" type="body"/>
          </p:nvPr>
        </p:nvSpPr>
        <p:spPr>
          <a:xfrm>
            <a:off x="3956600" y="759300"/>
            <a:ext cx="4485000" cy="2111400"/>
          </a:xfrm>
          <a:prstGeom prst="rect">
            <a:avLst/>
          </a:prstGeom>
          <a:ln cap="flat" cmpd="sng" w="2857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100"/>
              <a:t>We need to convert 67 into a number which </a:t>
            </a:r>
            <a:r>
              <a:rPr lang="en-GB" sz="2100"/>
              <a:t>satisfies </a:t>
            </a:r>
            <a:endParaRPr sz="2100"/>
          </a:p>
          <a:p>
            <a:pPr indent="0" lvl="0" marL="0" rtl="0" algn="ctr">
              <a:spcBef>
                <a:spcPts val="1000"/>
              </a:spcBef>
              <a:spcAft>
                <a:spcPts val="0"/>
              </a:spcAft>
              <a:buNone/>
            </a:pPr>
            <a:r>
              <a:rPr lang="en-GB"/>
              <a:t>1 ≤ A &lt; 10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/>
          </a:p>
        </p:txBody>
      </p:sp>
      <p:sp>
        <p:nvSpPr>
          <p:cNvPr id="828" name="Google Shape;828;p71"/>
          <p:cNvSpPr/>
          <p:nvPr/>
        </p:nvSpPr>
        <p:spPr>
          <a:xfrm>
            <a:off x="1480500" y="759300"/>
            <a:ext cx="553500" cy="324600"/>
          </a:xfrm>
          <a:prstGeom prst="rect">
            <a:avLst/>
          </a:prstGeom>
          <a:solidFill>
            <a:srgbClr val="FFFF00">
              <a:alpha val="3861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29" name="Google Shape;829;p71"/>
          <p:cNvSpPr txBox="1"/>
          <p:nvPr/>
        </p:nvSpPr>
        <p:spPr>
          <a:xfrm>
            <a:off x="841500" y="1319528"/>
            <a:ext cx="14445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6.7 × 10</a:t>
            </a:r>
            <a:endParaRPr/>
          </a:p>
        </p:txBody>
      </p:sp>
      <p:sp>
        <p:nvSpPr>
          <p:cNvPr id="830" name="Google Shape;830;p71"/>
          <p:cNvSpPr txBox="1"/>
          <p:nvPr/>
        </p:nvSpPr>
        <p:spPr>
          <a:xfrm>
            <a:off x="1680721" y="1319528"/>
            <a:ext cx="11193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× 10</a:t>
            </a:r>
            <a:r>
              <a:rPr baseline="30000" lang="en-GB" sz="2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11</a:t>
            </a:r>
            <a:endParaRPr/>
          </a:p>
        </p:txBody>
      </p:sp>
      <p:sp>
        <p:nvSpPr>
          <p:cNvPr id="831" name="Google Shape;831;p71"/>
          <p:cNvSpPr txBox="1"/>
          <p:nvPr/>
        </p:nvSpPr>
        <p:spPr>
          <a:xfrm>
            <a:off x="1015928" y="1934800"/>
            <a:ext cx="17841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6.7 </a:t>
            </a:r>
            <a:r>
              <a:rPr lang="en-GB" sz="2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× 10</a:t>
            </a:r>
            <a:r>
              <a:rPr baseline="30000" lang="en-GB" sz="2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12</a:t>
            </a:r>
            <a:endParaRPr/>
          </a:p>
        </p:txBody>
      </p:sp>
      <p:sp>
        <p:nvSpPr>
          <p:cNvPr id="832" name="Google Shape;832;p71"/>
          <p:cNvSpPr/>
          <p:nvPr/>
        </p:nvSpPr>
        <p:spPr>
          <a:xfrm>
            <a:off x="1564125" y="1418600"/>
            <a:ext cx="1064400" cy="324600"/>
          </a:xfrm>
          <a:prstGeom prst="rect">
            <a:avLst/>
          </a:prstGeom>
          <a:solidFill>
            <a:srgbClr val="FFFF00">
              <a:alpha val="3861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33" name="Google Shape;833;p71"/>
          <p:cNvSpPr txBox="1"/>
          <p:nvPr/>
        </p:nvSpPr>
        <p:spPr>
          <a:xfrm>
            <a:off x="380541" y="3342150"/>
            <a:ext cx="8124600" cy="125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Using the </a:t>
            </a:r>
            <a:r>
              <a:rPr lang="en-GB" sz="2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associative law allows us to quickly write a number which is not quite in standard form, into standard form efficiently.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7" name="Shape 8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8" name="Google Shape;838;p72"/>
          <p:cNvSpPr txBox="1"/>
          <p:nvPr>
            <p:ph idx="1" type="subTitle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Write the following in </a:t>
            </a:r>
            <a:r>
              <a:rPr lang="en-GB"/>
              <a:t>standard</a:t>
            </a:r>
            <a:r>
              <a:rPr lang="en-GB"/>
              <a:t> form.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/>
              <a:t>a)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/>
              <a:t>b)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/>
          </a:p>
        </p:txBody>
      </p:sp>
      <p:sp>
        <p:nvSpPr>
          <p:cNvPr id="839" name="Google Shape;839;p72"/>
          <p:cNvSpPr txBox="1"/>
          <p:nvPr>
            <p:ph type="title"/>
          </p:nvPr>
        </p:nvSpPr>
        <p:spPr>
          <a:xfrm>
            <a:off x="324000" y="0"/>
            <a:ext cx="74505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Not quite standard form numbers</a:t>
            </a:r>
            <a:endParaRPr/>
          </a:p>
        </p:txBody>
      </p:sp>
      <p:sp>
        <p:nvSpPr>
          <p:cNvPr id="840" name="Google Shape;840;p72"/>
          <p:cNvSpPr txBox="1"/>
          <p:nvPr>
            <p:ph idx="4294967295" type="body"/>
          </p:nvPr>
        </p:nvSpPr>
        <p:spPr>
          <a:xfrm>
            <a:off x="651100" y="1561775"/>
            <a:ext cx="2076000" cy="467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100"/>
              <a:t>78</a:t>
            </a:r>
            <a:r>
              <a:rPr lang="en-GB" sz="2100"/>
              <a:t> × 10</a:t>
            </a:r>
            <a:r>
              <a:rPr baseline="30000" lang="en-GB" sz="2100"/>
              <a:t>23</a:t>
            </a:r>
            <a:r>
              <a:rPr lang="en-GB"/>
              <a:t> 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/>
          </a:p>
        </p:txBody>
      </p:sp>
      <p:grpSp>
        <p:nvGrpSpPr>
          <p:cNvPr id="841" name="Google Shape;841;p72"/>
          <p:cNvGrpSpPr/>
          <p:nvPr/>
        </p:nvGrpSpPr>
        <p:grpSpPr>
          <a:xfrm>
            <a:off x="1084485" y="1861250"/>
            <a:ext cx="408286" cy="252300"/>
            <a:chOff x="3910829" y="1040975"/>
            <a:chExt cx="335100" cy="252300"/>
          </a:xfrm>
        </p:grpSpPr>
        <p:sp>
          <p:nvSpPr>
            <p:cNvPr id="842" name="Google Shape;842;p72"/>
            <p:cNvSpPr/>
            <p:nvPr/>
          </p:nvSpPr>
          <p:spPr>
            <a:xfrm rot="5400000">
              <a:off x="4048829" y="902975"/>
              <a:ext cx="59100" cy="335100"/>
            </a:xfrm>
            <a:prstGeom prst="rightBracket">
              <a:avLst>
                <a:gd fmla="val 8333" name="adj"/>
              </a:avLst>
            </a:prstGeom>
            <a:noFill/>
            <a:ln cap="flat" cmpd="sng" w="28575">
              <a:solidFill>
                <a:srgbClr val="80808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843" name="Google Shape;843;p72"/>
            <p:cNvCxnSpPr>
              <a:stCxn id="842" idx="2"/>
            </p:cNvCxnSpPr>
            <p:nvPr/>
          </p:nvCxnSpPr>
          <p:spPr>
            <a:xfrm flipH="1">
              <a:off x="4075979" y="1100075"/>
              <a:ext cx="2400" cy="193200"/>
            </a:xfrm>
            <a:prstGeom prst="straightConnector1">
              <a:avLst/>
            </a:prstGeom>
            <a:noFill/>
            <a:ln cap="flat" cmpd="sng" w="19050">
              <a:solidFill>
                <a:srgbClr val="808080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844" name="Google Shape;844;p72"/>
          <p:cNvSpPr txBox="1"/>
          <p:nvPr/>
        </p:nvSpPr>
        <p:spPr>
          <a:xfrm>
            <a:off x="548956" y="2029475"/>
            <a:ext cx="19494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7.8</a:t>
            </a:r>
            <a:r>
              <a:rPr lang="en-GB" sz="2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× 10</a:t>
            </a:r>
            <a:endParaRPr/>
          </a:p>
        </p:txBody>
      </p:sp>
      <p:sp>
        <p:nvSpPr>
          <p:cNvPr id="845" name="Google Shape;845;p72"/>
          <p:cNvSpPr txBox="1"/>
          <p:nvPr/>
        </p:nvSpPr>
        <p:spPr>
          <a:xfrm>
            <a:off x="908875" y="2022656"/>
            <a:ext cx="20760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× 10</a:t>
            </a:r>
            <a:r>
              <a:rPr baseline="30000" lang="en-GB" sz="2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23</a:t>
            </a:r>
            <a:endParaRPr/>
          </a:p>
        </p:txBody>
      </p:sp>
      <p:sp>
        <p:nvSpPr>
          <p:cNvPr id="846" name="Google Shape;846;p72"/>
          <p:cNvSpPr txBox="1"/>
          <p:nvPr/>
        </p:nvSpPr>
        <p:spPr>
          <a:xfrm>
            <a:off x="402254" y="2561250"/>
            <a:ext cx="22428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7.8</a:t>
            </a:r>
            <a:r>
              <a:rPr lang="en-GB" sz="2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× 10</a:t>
            </a:r>
            <a:r>
              <a:rPr baseline="30000" lang="en-GB" sz="2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24</a:t>
            </a:r>
            <a:endParaRPr/>
          </a:p>
        </p:txBody>
      </p:sp>
      <p:pic>
        <p:nvPicPr>
          <p:cNvPr id="847" name="Google Shape;847;p7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17458" y="2561250"/>
            <a:ext cx="396000" cy="419100"/>
          </a:xfrm>
          <a:prstGeom prst="rect">
            <a:avLst/>
          </a:prstGeom>
          <a:noFill/>
          <a:ln>
            <a:noFill/>
          </a:ln>
        </p:spPr>
      </p:pic>
      <p:sp>
        <p:nvSpPr>
          <p:cNvPr id="848" name="Google Shape;848;p72"/>
          <p:cNvSpPr txBox="1"/>
          <p:nvPr>
            <p:ph idx="4294967295" type="body"/>
          </p:nvPr>
        </p:nvSpPr>
        <p:spPr>
          <a:xfrm>
            <a:off x="574900" y="3161975"/>
            <a:ext cx="2076000" cy="467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100"/>
              <a:t>2390</a:t>
            </a:r>
            <a:r>
              <a:rPr lang="en-GB" sz="2100"/>
              <a:t> × 10</a:t>
            </a:r>
            <a:r>
              <a:rPr baseline="30000" lang="en-GB" sz="2100"/>
              <a:t>4</a:t>
            </a:r>
            <a:r>
              <a:rPr lang="en-GB"/>
              <a:t> 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/>
          </a:p>
        </p:txBody>
      </p:sp>
      <p:grpSp>
        <p:nvGrpSpPr>
          <p:cNvPr id="849" name="Google Shape;849;p72"/>
          <p:cNvGrpSpPr/>
          <p:nvPr/>
        </p:nvGrpSpPr>
        <p:grpSpPr>
          <a:xfrm>
            <a:off x="955007" y="3461450"/>
            <a:ext cx="642588" cy="252300"/>
            <a:chOff x="3910829" y="1040975"/>
            <a:chExt cx="335100" cy="252300"/>
          </a:xfrm>
        </p:grpSpPr>
        <p:sp>
          <p:nvSpPr>
            <p:cNvPr id="850" name="Google Shape;850;p72"/>
            <p:cNvSpPr/>
            <p:nvPr/>
          </p:nvSpPr>
          <p:spPr>
            <a:xfrm rot="5400000">
              <a:off x="4048829" y="902975"/>
              <a:ext cx="59100" cy="335100"/>
            </a:xfrm>
            <a:prstGeom prst="rightBracket">
              <a:avLst>
                <a:gd fmla="val 8333" name="adj"/>
              </a:avLst>
            </a:prstGeom>
            <a:noFill/>
            <a:ln cap="flat" cmpd="sng" w="28575">
              <a:solidFill>
                <a:srgbClr val="80808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851" name="Google Shape;851;p72"/>
            <p:cNvCxnSpPr>
              <a:stCxn id="850" idx="2"/>
            </p:cNvCxnSpPr>
            <p:nvPr/>
          </p:nvCxnSpPr>
          <p:spPr>
            <a:xfrm flipH="1">
              <a:off x="4075979" y="1100075"/>
              <a:ext cx="2400" cy="193200"/>
            </a:xfrm>
            <a:prstGeom prst="straightConnector1">
              <a:avLst/>
            </a:prstGeom>
            <a:noFill/>
            <a:ln cap="flat" cmpd="sng" w="19050">
              <a:solidFill>
                <a:srgbClr val="808080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852" name="Google Shape;852;p72"/>
          <p:cNvSpPr txBox="1"/>
          <p:nvPr/>
        </p:nvSpPr>
        <p:spPr>
          <a:xfrm>
            <a:off x="472750" y="3629675"/>
            <a:ext cx="24144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2.39</a:t>
            </a:r>
            <a:r>
              <a:rPr lang="en-GB" sz="2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× 10 </a:t>
            </a:r>
            <a:r>
              <a:rPr lang="en-GB" sz="2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× 10 × 10</a:t>
            </a:r>
            <a:endParaRPr/>
          </a:p>
        </p:txBody>
      </p:sp>
      <p:sp>
        <p:nvSpPr>
          <p:cNvPr id="853" name="Google Shape;853;p72"/>
          <p:cNvSpPr txBox="1"/>
          <p:nvPr/>
        </p:nvSpPr>
        <p:spPr>
          <a:xfrm>
            <a:off x="2128075" y="3622856"/>
            <a:ext cx="20760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× 10</a:t>
            </a:r>
            <a:r>
              <a:rPr baseline="30000" lang="en-GB" sz="2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4</a:t>
            </a:r>
            <a:endParaRPr/>
          </a:p>
        </p:txBody>
      </p:sp>
      <p:sp>
        <p:nvSpPr>
          <p:cNvPr id="854" name="Google Shape;854;p72"/>
          <p:cNvSpPr txBox="1"/>
          <p:nvPr/>
        </p:nvSpPr>
        <p:spPr>
          <a:xfrm>
            <a:off x="326054" y="4161450"/>
            <a:ext cx="22428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2.39</a:t>
            </a:r>
            <a:r>
              <a:rPr lang="en-GB" sz="2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× 10</a:t>
            </a:r>
            <a:r>
              <a:rPr baseline="30000" lang="en-GB" sz="2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7</a:t>
            </a:r>
            <a:endParaRPr/>
          </a:p>
        </p:txBody>
      </p:sp>
      <p:pic>
        <p:nvPicPr>
          <p:cNvPr id="855" name="Google Shape;855;p7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41258" y="4161450"/>
            <a:ext cx="396000" cy="4191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856" name="Google Shape;856;p72"/>
          <p:cNvGrpSpPr/>
          <p:nvPr/>
        </p:nvGrpSpPr>
        <p:grpSpPr>
          <a:xfrm>
            <a:off x="5504085" y="1861250"/>
            <a:ext cx="408286" cy="252300"/>
            <a:chOff x="3910829" y="1040975"/>
            <a:chExt cx="335100" cy="252300"/>
          </a:xfrm>
        </p:grpSpPr>
        <p:sp>
          <p:nvSpPr>
            <p:cNvPr id="857" name="Google Shape;857;p72"/>
            <p:cNvSpPr/>
            <p:nvPr/>
          </p:nvSpPr>
          <p:spPr>
            <a:xfrm rot="5400000">
              <a:off x="4048829" y="902975"/>
              <a:ext cx="59100" cy="335100"/>
            </a:xfrm>
            <a:prstGeom prst="rightBracket">
              <a:avLst>
                <a:gd fmla="val 8333" name="adj"/>
              </a:avLst>
            </a:prstGeom>
            <a:noFill/>
            <a:ln cap="flat" cmpd="sng" w="28575">
              <a:solidFill>
                <a:srgbClr val="80808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858" name="Google Shape;858;p72"/>
            <p:cNvCxnSpPr>
              <a:stCxn id="857" idx="2"/>
            </p:cNvCxnSpPr>
            <p:nvPr/>
          </p:nvCxnSpPr>
          <p:spPr>
            <a:xfrm flipH="1">
              <a:off x="4075979" y="1100075"/>
              <a:ext cx="2400" cy="193200"/>
            </a:xfrm>
            <a:prstGeom prst="straightConnector1">
              <a:avLst/>
            </a:prstGeom>
            <a:noFill/>
            <a:ln cap="flat" cmpd="sng" w="19050">
              <a:solidFill>
                <a:srgbClr val="808080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859" name="Google Shape;859;p72"/>
          <p:cNvSpPr txBox="1"/>
          <p:nvPr>
            <p:ph idx="1" type="subTitle"/>
          </p:nvPr>
        </p:nvSpPr>
        <p:spPr>
          <a:xfrm>
            <a:off x="4757425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Write the following in standard form.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/>
              <a:t>a)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/>
              <a:t>b)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/>
          </a:p>
        </p:txBody>
      </p:sp>
      <p:sp>
        <p:nvSpPr>
          <p:cNvPr id="860" name="Google Shape;860;p72"/>
          <p:cNvSpPr txBox="1"/>
          <p:nvPr>
            <p:ph idx="4294967295" type="body"/>
          </p:nvPr>
        </p:nvSpPr>
        <p:spPr>
          <a:xfrm>
            <a:off x="5070700" y="1561775"/>
            <a:ext cx="2076000" cy="467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100"/>
              <a:t>960 × 10</a:t>
            </a:r>
            <a:r>
              <a:rPr baseline="30000" lang="en-GB" sz="2100"/>
              <a:t>9</a:t>
            </a:r>
            <a:r>
              <a:rPr lang="en-GB"/>
              <a:t> 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/>
          </a:p>
        </p:txBody>
      </p:sp>
      <p:sp>
        <p:nvSpPr>
          <p:cNvPr id="861" name="Google Shape;861;p72"/>
          <p:cNvSpPr txBox="1"/>
          <p:nvPr/>
        </p:nvSpPr>
        <p:spPr>
          <a:xfrm>
            <a:off x="4968556" y="2029475"/>
            <a:ext cx="19494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9.6 × 10 × 10</a:t>
            </a:r>
            <a:endParaRPr/>
          </a:p>
        </p:txBody>
      </p:sp>
      <p:sp>
        <p:nvSpPr>
          <p:cNvPr id="862" name="Google Shape;862;p72"/>
          <p:cNvSpPr txBox="1"/>
          <p:nvPr/>
        </p:nvSpPr>
        <p:spPr>
          <a:xfrm>
            <a:off x="5915147" y="2037941"/>
            <a:ext cx="20760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× 10</a:t>
            </a:r>
            <a:r>
              <a:rPr baseline="30000" lang="en-GB" sz="2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9</a:t>
            </a:r>
            <a:endParaRPr/>
          </a:p>
        </p:txBody>
      </p:sp>
      <p:sp>
        <p:nvSpPr>
          <p:cNvPr id="863" name="Google Shape;863;p72"/>
          <p:cNvSpPr txBox="1"/>
          <p:nvPr/>
        </p:nvSpPr>
        <p:spPr>
          <a:xfrm>
            <a:off x="4821854" y="2561250"/>
            <a:ext cx="22428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9.6 × 10</a:t>
            </a:r>
            <a:r>
              <a:rPr baseline="30000" lang="en-GB" sz="2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11</a:t>
            </a:r>
            <a:endParaRPr/>
          </a:p>
        </p:txBody>
      </p:sp>
      <p:pic>
        <p:nvPicPr>
          <p:cNvPr id="864" name="Google Shape;864;p7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637058" y="2561250"/>
            <a:ext cx="396000" cy="419100"/>
          </a:xfrm>
          <a:prstGeom prst="rect">
            <a:avLst/>
          </a:prstGeom>
          <a:noFill/>
          <a:ln>
            <a:noFill/>
          </a:ln>
        </p:spPr>
      </p:pic>
      <p:sp>
        <p:nvSpPr>
          <p:cNvPr id="865" name="Google Shape;865;p72"/>
          <p:cNvSpPr txBox="1"/>
          <p:nvPr>
            <p:ph idx="4294967295" type="body"/>
          </p:nvPr>
        </p:nvSpPr>
        <p:spPr>
          <a:xfrm>
            <a:off x="4994500" y="3161975"/>
            <a:ext cx="2076000" cy="467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100"/>
              <a:t>19.01 × 10</a:t>
            </a:r>
            <a:r>
              <a:rPr lang="en-GB"/>
              <a:t> 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/>
          </a:p>
        </p:txBody>
      </p:sp>
      <p:grpSp>
        <p:nvGrpSpPr>
          <p:cNvPr id="866" name="Google Shape;866;p72"/>
          <p:cNvGrpSpPr/>
          <p:nvPr/>
        </p:nvGrpSpPr>
        <p:grpSpPr>
          <a:xfrm>
            <a:off x="5374607" y="3461450"/>
            <a:ext cx="642588" cy="252300"/>
            <a:chOff x="3910829" y="1040975"/>
            <a:chExt cx="335100" cy="252300"/>
          </a:xfrm>
        </p:grpSpPr>
        <p:sp>
          <p:nvSpPr>
            <p:cNvPr id="867" name="Google Shape;867;p72"/>
            <p:cNvSpPr/>
            <p:nvPr/>
          </p:nvSpPr>
          <p:spPr>
            <a:xfrm rot="5400000">
              <a:off x="4048829" y="902975"/>
              <a:ext cx="59100" cy="335100"/>
            </a:xfrm>
            <a:prstGeom prst="rightBracket">
              <a:avLst>
                <a:gd fmla="val 8333" name="adj"/>
              </a:avLst>
            </a:prstGeom>
            <a:noFill/>
            <a:ln cap="flat" cmpd="sng" w="28575">
              <a:solidFill>
                <a:srgbClr val="80808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868" name="Google Shape;868;p72"/>
            <p:cNvCxnSpPr>
              <a:stCxn id="867" idx="2"/>
            </p:cNvCxnSpPr>
            <p:nvPr/>
          </p:nvCxnSpPr>
          <p:spPr>
            <a:xfrm flipH="1">
              <a:off x="4075979" y="1100075"/>
              <a:ext cx="2400" cy="193200"/>
            </a:xfrm>
            <a:prstGeom prst="straightConnector1">
              <a:avLst/>
            </a:prstGeom>
            <a:noFill/>
            <a:ln cap="flat" cmpd="sng" w="19050">
              <a:solidFill>
                <a:srgbClr val="808080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869" name="Google Shape;869;p72"/>
          <p:cNvSpPr txBox="1"/>
          <p:nvPr/>
        </p:nvSpPr>
        <p:spPr>
          <a:xfrm>
            <a:off x="4892350" y="3629675"/>
            <a:ext cx="24144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1.901 × 10</a:t>
            </a:r>
            <a:endParaRPr/>
          </a:p>
        </p:txBody>
      </p:sp>
      <p:sp>
        <p:nvSpPr>
          <p:cNvPr id="870" name="Google Shape;870;p72"/>
          <p:cNvSpPr txBox="1"/>
          <p:nvPr/>
        </p:nvSpPr>
        <p:spPr>
          <a:xfrm>
            <a:off x="5557075" y="3622856"/>
            <a:ext cx="20760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× 10</a:t>
            </a:r>
            <a:endParaRPr/>
          </a:p>
        </p:txBody>
      </p:sp>
      <p:sp>
        <p:nvSpPr>
          <p:cNvPr id="871" name="Google Shape;871;p72"/>
          <p:cNvSpPr txBox="1"/>
          <p:nvPr/>
        </p:nvSpPr>
        <p:spPr>
          <a:xfrm>
            <a:off x="4745654" y="4161450"/>
            <a:ext cx="22428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1.901 × 10</a:t>
            </a:r>
            <a:r>
              <a:rPr baseline="30000" lang="en-GB" sz="2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2</a:t>
            </a:r>
            <a:endParaRPr/>
          </a:p>
        </p:txBody>
      </p:sp>
      <p:pic>
        <p:nvPicPr>
          <p:cNvPr id="872" name="Google Shape;872;p7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560858" y="4161450"/>
            <a:ext cx="396000" cy="419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6" name="Shape 8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77" name="Google Shape;877;p73"/>
          <p:cNvPicPr preferRelativeResize="0"/>
          <p:nvPr/>
        </p:nvPicPr>
        <p:blipFill rotWithShape="1">
          <a:blip r:embed="rId3">
            <a:alphaModFix/>
          </a:blip>
          <a:srcRect b="0" l="0" r="69082" t="56280"/>
          <a:stretch/>
        </p:blipFill>
        <p:spPr>
          <a:xfrm>
            <a:off x="5288950" y="619362"/>
            <a:ext cx="2930048" cy="1379474"/>
          </a:xfrm>
          <a:prstGeom prst="rect">
            <a:avLst/>
          </a:prstGeom>
          <a:noFill/>
          <a:ln>
            <a:noFill/>
          </a:ln>
        </p:spPr>
      </p:pic>
      <p:pic>
        <p:nvPicPr>
          <p:cNvPr id="878" name="Google Shape;878;p73"/>
          <p:cNvPicPr preferRelativeResize="0"/>
          <p:nvPr/>
        </p:nvPicPr>
        <p:blipFill rotWithShape="1">
          <a:blip r:embed="rId3">
            <a:alphaModFix/>
          </a:blip>
          <a:srcRect b="6172" l="40550" r="0" t="13240"/>
          <a:stretch/>
        </p:blipFill>
        <p:spPr>
          <a:xfrm>
            <a:off x="927000" y="670850"/>
            <a:ext cx="4095898" cy="1245926"/>
          </a:xfrm>
          <a:prstGeom prst="rect">
            <a:avLst/>
          </a:prstGeom>
          <a:noFill/>
          <a:ln>
            <a:noFill/>
          </a:ln>
        </p:spPr>
      </p:pic>
      <p:sp>
        <p:nvSpPr>
          <p:cNvPr id="879" name="Google Shape;879;p73"/>
          <p:cNvSpPr txBox="1"/>
          <p:nvPr>
            <p:ph idx="1" type="body"/>
          </p:nvPr>
        </p:nvSpPr>
        <p:spPr>
          <a:xfrm>
            <a:off x="1209300" y="891950"/>
            <a:ext cx="3614700" cy="834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100"/>
              <a:t>Does it also apply with a negative exponent?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/>
          </a:p>
        </p:txBody>
      </p:sp>
      <p:sp>
        <p:nvSpPr>
          <p:cNvPr id="880" name="Google Shape;880;p73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Not quite standard form numbers</a:t>
            </a:r>
            <a:endParaRPr/>
          </a:p>
        </p:txBody>
      </p:sp>
      <p:pic>
        <p:nvPicPr>
          <p:cNvPr id="881" name="Google Shape;881;p7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08750" y="1870600"/>
            <a:ext cx="619035" cy="694851"/>
          </a:xfrm>
          <a:prstGeom prst="rect">
            <a:avLst/>
          </a:prstGeom>
          <a:noFill/>
          <a:ln>
            <a:noFill/>
          </a:ln>
        </p:spPr>
      </p:pic>
      <p:sp>
        <p:nvSpPr>
          <p:cNvPr id="882" name="Google Shape;882;p73"/>
          <p:cNvSpPr txBox="1"/>
          <p:nvPr/>
        </p:nvSpPr>
        <p:spPr>
          <a:xfrm>
            <a:off x="423350" y="2634050"/>
            <a:ext cx="8853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Lucas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883" name="Google Shape;883;p7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flipH="1">
            <a:off x="7986625" y="1916763"/>
            <a:ext cx="552400" cy="795462"/>
          </a:xfrm>
          <a:prstGeom prst="rect">
            <a:avLst/>
          </a:prstGeom>
          <a:noFill/>
          <a:ln>
            <a:noFill/>
          </a:ln>
        </p:spPr>
      </p:pic>
      <p:sp>
        <p:nvSpPr>
          <p:cNvPr id="884" name="Google Shape;884;p73"/>
          <p:cNvSpPr txBox="1"/>
          <p:nvPr/>
        </p:nvSpPr>
        <p:spPr>
          <a:xfrm>
            <a:off x="7745450" y="2788813"/>
            <a:ext cx="8853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Sam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85" name="Google Shape;885;p73"/>
          <p:cNvSpPr txBox="1"/>
          <p:nvPr/>
        </p:nvSpPr>
        <p:spPr>
          <a:xfrm>
            <a:off x="5288950" y="803575"/>
            <a:ext cx="2751000" cy="32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Good question. Let’s find out.</a:t>
            </a:r>
            <a:endParaRPr sz="2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86" name="Google Shape;886;p73"/>
          <p:cNvSpPr txBox="1"/>
          <p:nvPr>
            <p:ph idx="1" type="body"/>
          </p:nvPr>
        </p:nvSpPr>
        <p:spPr>
          <a:xfrm>
            <a:off x="423350" y="3102325"/>
            <a:ext cx="82491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Before</a:t>
            </a:r>
            <a:r>
              <a:rPr lang="en-GB"/>
              <a:t> Lucas and Sam investigate, what do you think?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/>
              <a:t>Have a look at this question and see, if you continue to add to the </a:t>
            </a:r>
            <a:r>
              <a:rPr lang="en-GB"/>
              <a:t>exponent</a:t>
            </a:r>
            <a:r>
              <a:rPr lang="en-GB"/>
              <a:t> when A is too large and there is a negative </a:t>
            </a:r>
            <a:r>
              <a:rPr lang="en-GB"/>
              <a:t>exponent</a:t>
            </a:r>
            <a:r>
              <a:rPr lang="en-GB"/>
              <a:t>. </a:t>
            </a:r>
            <a:endParaRPr/>
          </a:p>
        </p:txBody>
      </p:sp>
      <p:sp>
        <p:nvSpPr>
          <p:cNvPr id="887" name="Google Shape;887;p73"/>
          <p:cNvSpPr txBox="1"/>
          <p:nvPr/>
        </p:nvSpPr>
        <p:spPr>
          <a:xfrm>
            <a:off x="3003850" y="1906050"/>
            <a:ext cx="30000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9800 × 10</a:t>
            </a:r>
            <a:r>
              <a:rPr baseline="30000" lang="en-GB" sz="2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−</a:t>
            </a:r>
            <a:r>
              <a:rPr baseline="30000" lang="en-GB" sz="2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8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6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1" name="Shape 8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2" name="Google Shape;892;p74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Not quite standard form numbers</a:t>
            </a:r>
            <a:endParaRPr/>
          </a:p>
        </p:txBody>
      </p:sp>
      <p:pic>
        <p:nvPicPr>
          <p:cNvPr id="893" name="Google Shape;893;p7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08750" y="1870600"/>
            <a:ext cx="619035" cy="694851"/>
          </a:xfrm>
          <a:prstGeom prst="rect">
            <a:avLst/>
          </a:prstGeom>
          <a:noFill/>
          <a:ln>
            <a:noFill/>
          </a:ln>
        </p:spPr>
      </p:pic>
      <p:sp>
        <p:nvSpPr>
          <p:cNvPr id="894" name="Google Shape;894;p74"/>
          <p:cNvSpPr txBox="1"/>
          <p:nvPr/>
        </p:nvSpPr>
        <p:spPr>
          <a:xfrm>
            <a:off x="423350" y="2634050"/>
            <a:ext cx="8853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Lucas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895" name="Google Shape;895;p7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flipH="1">
            <a:off x="8092375" y="2203701"/>
            <a:ext cx="552400" cy="795462"/>
          </a:xfrm>
          <a:prstGeom prst="rect">
            <a:avLst/>
          </a:prstGeom>
          <a:noFill/>
          <a:ln>
            <a:noFill/>
          </a:ln>
        </p:spPr>
      </p:pic>
      <p:sp>
        <p:nvSpPr>
          <p:cNvPr id="896" name="Google Shape;896;p74"/>
          <p:cNvSpPr txBox="1"/>
          <p:nvPr/>
        </p:nvSpPr>
        <p:spPr>
          <a:xfrm>
            <a:off x="7876300" y="3083238"/>
            <a:ext cx="8853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Sam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97" name="Google Shape;897;p74"/>
          <p:cNvSpPr txBox="1"/>
          <p:nvPr>
            <p:ph idx="1" type="body"/>
          </p:nvPr>
        </p:nvSpPr>
        <p:spPr>
          <a:xfrm>
            <a:off x="3394138" y="1946313"/>
            <a:ext cx="2076000" cy="467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100"/>
              <a:t>9800</a:t>
            </a:r>
            <a:r>
              <a:rPr lang="en-GB" sz="2100"/>
              <a:t> × 10</a:t>
            </a:r>
            <a:r>
              <a:rPr baseline="30000" lang="en-GB" sz="2100"/>
              <a:t>−8</a:t>
            </a:r>
            <a:r>
              <a:rPr lang="en-GB"/>
              <a:t> 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/>
          </a:p>
        </p:txBody>
      </p:sp>
      <p:pic>
        <p:nvPicPr>
          <p:cNvPr id="898" name="Google Shape;898;p74"/>
          <p:cNvPicPr preferRelativeResize="0"/>
          <p:nvPr/>
        </p:nvPicPr>
        <p:blipFill rotWithShape="1">
          <a:blip r:embed="rId5">
            <a:alphaModFix/>
          </a:blip>
          <a:srcRect b="0" l="0" r="69082" t="56280"/>
          <a:stretch/>
        </p:blipFill>
        <p:spPr>
          <a:xfrm>
            <a:off x="5219875" y="468975"/>
            <a:ext cx="2989327" cy="2478574"/>
          </a:xfrm>
          <a:prstGeom prst="rect">
            <a:avLst/>
          </a:prstGeom>
          <a:noFill/>
          <a:ln>
            <a:noFill/>
          </a:ln>
        </p:spPr>
      </p:pic>
      <p:sp>
        <p:nvSpPr>
          <p:cNvPr id="899" name="Google Shape;899;p74"/>
          <p:cNvSpPr txBox="1"/>
          <p:nvPr>
            <p:ph idx="1" type="body"/>
          </p:nvPr>
        </p:nvSpPr>
        <p:spPr>
          <a:xfrm>
            <a:off x="5257975" y="746375"/>
            <a:ext cx="2834400" cy="1518600"/>
          </a:xfrm>
          <a:prstGeom prst="rect">
            <a:avLst/>
          </a:prstGeom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We still need to convert 9800 into a number which satisfies </a:t>
            </a:r>
            <a:endParaRPr sz="1800"/>
          </a:p>
          <a:p>
            <a:pPr indent="0" lvl="0" marL="0" rtl="0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2000"/>
              <a:t>1 ≤ A &lt; 10 and uses powers of 10</a:t>
            </a:r>
            <a:endParaRPr sz="20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2000"/>
          </a:p>
        </p:txBody>
      </p:sp>
      <p:sp>
        <p:nvSpPr>
          <p:cNvPr id="900" name="Google Shape;900;p74"/>
          <p:cNvSpPr/>
          <p:nvPr/>
        </p:nvSpPr>
        <p:spPr>
          <a:xfrm>
            <a:off x="3703500" y="1946325"/>
            <a:ext cx="697200" cy="324600"/>
          </a:xfrm>
          <a:prstGeom prst="rect">
            <a:avLst/>
          </a:prstGeom>
          <a:solidFill>
            <a:srgbClr val="FFFF00">
              <a:alpha val="3861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4" name="Shape 9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5" name="Google Shape;905;p75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Not quite standard form numbers</a:t>
            </a:r>
            <a:endParaRPr/>
          </a:p>
        </p:txBody>
      </p:sp>
      <p:pic>
        <p:nvPicPr>
          <p:cNvPr id="906" name="Google Shape;906;p7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08750" y="1870600"/>
            <a:ext cx="619035" cy="694851"/>
          </a:xfrm>
          <a:prstGeom prst="rect">
            <a:avLst/>
          </a:prstGeom>
          <a:noFill/>
          <a:ln>
            <a:noFill/>
          </a:ln>
        </p:spPr>
      </p:pic>
      <p:sp>
        <p:nvSpPr>
          <p:cNvPr id="907" name="Google Shape;907;p75"/>
          <p:cNvSpPr txBox="1"/>
          <p:nvPr/>
        </p:nvSpPr>
        <p:spPr>
          <a:xfrm>
            <a:off x="423350" y="2634050"/>
            <a:ext cx="8853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Lucas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08" name="Google Shape;908;p75"/>
          <p:cNvSpPr txBox="1"/>
          <p:nvPr>
            <p:ph idx="1" type="body"/>
          </p:nvPr>
        </p:nvSpPr>
        <p:spPr>
          <a:xfrm>
            <a:off x="3394138" y="1946313"/>
            <a:ext cx="2076000" cy="467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100"/>
              <a:t>9800 × 10</a:t>
            </a:r>
            <a:r>
              <a:rPr baseline="30000" lang="en-GB" sz="2100"/>
              <a:t>−8</a:t>
            </a:r>
            <a:r>
              <a:rPr lang="en-GB"/>
              <a:t> 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/>
          </a:p>
        </p:txBody>
      </p:sp>
      <p:grpSp>
        <p:nvGrpSpPr>
          <p:cNvPr id="909" name="Google Shape;909;p75"/>
          <p:cNvGrpSpPr/>
          <p:nvPr/>
        </p:nvGrpSpPr>
        <p:grpSpPr>
          <a:xfrm>
            <a:off x="3781737" y="2210750"/>
            <a:ext cx="619030" cy="248218"/>
            <a:chOff x="3910829" y="1040975"/>
            <a:chExt cx="335100" cy="248218"/>
          </a:xfrm>
        </p:grpSpPr>
        <p:sp>
          <p:nvSpPr>
            <p:cNvPr id="910" name="Google Shape;910;p75"/>
            <p:cNvSpPr/>
            <p:nvPr/>
          </p:nvSpPr>
          <p:spPr>
            <a:xfrm rot="5400000">
              <a:off x="4048829" y="902975"/>
              <a:ext cx="59100" cy="335100"/>
            </a:xfrm>
            <a:prstGeom prst="rightBracket">
              <a:avLst>
                <a:gd fmla="val 8333" name="adj"/>
              </a:avLst>
            </a:prstGeom>
            <a:noFill/>
            <a:ln cap="flat" cmpd="sng" w="28575">
              <a:solidFill>
                <a:srgbClr val="80808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911" name="Google Shape;911;p75"/>
            <p:cNvCxnSpPr/>
            <p:nvPr/>
          </p:nvCxnSpPr>
          <p:spPr>
            <a:xfrm flipH="1">
              <a:off x="3947254" y="1095993"/>
              <a:ext cx="2400" cy="193200"/>
            </a:xfrm>
            <a:prstGeom prst="straightConnector1">
              <a:avLst/>
            </a:prstGeom>
            <a:noFill/>
            <a:ln cap="flat" cmpd="sng" w="19050">
              <a:solidFill>
                <a:srgbClr val="808080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912" name="Google Shape;912;p75"/>
          <p:cNvSpPr/>
          <p:nvPr/>
        </p:nvSpPr>
        <p:spPr>
          <a:xfrm rot="-5400000">
            <a:off x="2700114" y="1356050"/>
            <a:ext cx="59100" cy="2273100"/>
          </a:xfrm>
          <a:prstGeom prst="rightBracket">
            <a:avLst>
              <a:gd fmla="val 8333" name="adj"/>
            </a:avLst>
          </a:prstGeom>
          <a:noFill/>
          <a:ln cap="flat" cmpd="sng" w="28575">
            <a:solidFill>
              <a:srgbClr val="80808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913" name="Google Shape;913;p75"/>
          <p:cNvGrpSpPr/>
          <p:nvPr/>
        </p:nvGrpSpPr>
        <p:grpSpPr>
          <a:xfrm>
            <a:off x="4093875" y="2391889"/>
            <a:ext cx="1223370" cy="419075"/>
            <a:chOff x="4093875" y="2391889"/>
            <a:chExt cx="1223370" cy="419075"/>
          </a:xfrm>
        </p:grpSpPr>
        <p:pic>
          <p:nvPicPr>
            <p:cNvPr descr="&lt;math xmlns=&quot;http://www.w3.org/1998/Math/MathML&quot; display=&quot;block&quot; data-is-equatio=&quot;1&quot; data-latex=&quot;\frac{1}{10}&quot;&gt;&lt;mfrac&gt;&lt;mn&gt;1&lt;/mn&gt;&lt;mn&gt;10&lt;/mn&gt;&lt;/mfrac&gt;&lt;/math&gt;" id="914" name="Google Shape;914;p75" title="one tenth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4093875" y="2391889"/>
              <a:ext cx="226120" cy="41907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&lt;math xmlns=&quot;http://www.w3.org/1998/Math/MathML&quot; display=&quot;block&quot; data-is-equatio=&quot;1&quot; data-latex=&quot;\frac{1}{10}&quot;&gt;&lt;mfrac&gt;&lt;mn&gt;1&lt;/mn&gt;&lt;mn&gt;10&lt;/mn&gt;&lt;/mfrac&gt;&lt;/math&gt;" id="915" name="Google Shape;915;p75" title="one tenth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4572000" y="2391889"/>
              <a:ext cx="226120" cy="41907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&lt;math xmlns=&quot;http://www.w3.org/1998/Math/MathML&quot; display=&quot;block&quot; data-is-equatio=&quot;1&quot; data-latex=&quot;\frac{1}{10}&quot;&gt;&lt;mfrac&gt;&lt;mn&gt;1&lt;/mn&gt;&lt;mn&gt;10&lt;/mn&gt;&lt;/mfrac&gt;&lt;/math&gt;" id="916" name="Google Shape;916;p75" title="one tenth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5091125" y="2391889"/>
              <a:ext cx="226120" cy="419075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917" name="Google Shape;917;p75"/>
          <p:cNvGrpSpPr/>
          <p:nvPr/>
        </p:nvGrpSpPr>
        <p:grpSpPr>
          <a:xfrm>
            <a:off x="1516625" y="2391889"/>
            <a:ext cx="6235525" cy="549150"/>
            <a:chOff x="1516625" y="2391889"/>
            <a:chExt cx="6235525" cy="549150"/>
          </a:xfrm>
        </p:grpSpPr>
        <p:sp>
          <p:nvSpPr>
            <p:cNvPr id="918" name="Google Shape;918;p75"/>
            <p:cNvSpPr txBox="1"/>
            <p:nvPr/>
          </p:nvSpPr>
          <p:spPr>
            <a:xfrm>
              <a:off x="1516625" y="2414025"/>
              <a:ext cx="2577300" cy="507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1000"/>
                </a:spcAft>
                <a:buNone/>
              </a:pPr>
              <a:r>
                <a:rPr lang="en-GB" sz="21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rPr>
                <a:t>9.8 × 10 × 10  × 10</a:t>
              </a:r>
              <a:endParaRPr/>
            </a:p>
          </p:txBody>
        </p:sp>
        <p:sp>
          <p:nvSpPr>
            <p:cNvPr id="919" name="Google Shape;919;p75"/>
            <p:cNvSpPr txBox="1"/>
            <p:nvPr/>
          </p:nvSpPr>
          <p:spPr>
            <a:xfrm>
              <a:off x="3796650" y="2433139"/>
              <a:ext cx="3955500" cy="507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1000"/>
                </a:spcAft>
                <a:buNone/>
              </a:pPr>
              <a:r>
                <a:rPr lang="en-GB" sz="21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rPr>
                <a:t>×     ×     ×     ×     ×     ×    ×     ×</a:t>
              </a:r>
              <a:endParaRPr/>
            </a:p>
          </p:txBody>
        </p:sp>
        <p:pic>
          <p:nvPicPr>
            <p:cNvPr descr="&lt;math xmlns=&quot;http://www.w3.org/1998/Math/MathML&quot; display=&quot;block&quot; data-is-equatio=&quot;1&quot; data-latex=&quot;\frac{1}{10}&quot;&gt;&lt;mfrac&gt;&lt;mn&gt;1&lt;/mn&gt;&lt;mn&gt;10&lt;/mn&gt;&lt;/mfrac&gt;&lt;/math&gt;" id="920" name="Google Shape;920;p75" title="one tenth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5569525" y="2391889"/>
              <a:ext cx="226120" cy="41907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&lt;math xmlns=&quot;http://www.w3.org/1998/Math/MathML&quot; display=&quot;block&quot; data-is-equatio=&quot;1&quot; data-latex=&quot;\frac{1}{10}&quot;&gt;&lt;mfrac&gt;&lt;mn&gt;1&lt;/mn&gt;&lt;mn&gt;10&lt;/mn&gt;&lt;/mfrac&gt;&lt;/math&gt;" id="921" name="Google Shape;921;p75" title="one tenth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6080638" y="2391889"/>
              <a:ext cx="226120" cy="41907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&lt;math xmlns=&quot;http://www.w3.org/1998/Math/MathML&quot; display=&quot;block&quot; data-is-equatio=&quot;1&quot; data-latex=&quot;\frac{1}{10}&quot;&gt;&lt;mfrac&gt;&lt;mn&gt;1&lt;/mn&gt;&lt;mn&gt;10&lt;/mn&gt;&lt;/mfrac&gt;&lt;/math&gt;" id="922" name="Google Shape;922;p75" title="one tenth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6591750" y="2391889"/>
              <a:ext cx="226120" cy="41907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&lt;math xmlns=&quot;http://www.w3.org/1998/Math/MathML&quot; display=&quot;block&quot; data-is-equatio=&quot;1&quot; data-latex=&quot;\frac{1}{10}&quot;&gt;&lt;mfrac&gt;&lt;mn&gt;1&lt;/mn&gt;&lt;mn&gt;10&lt;/mn&gt;&lt;/mfrac&gt;&lt;/math&gt;" id="923" name="Google Shape;923;p75" title="one tenth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7033625" y="2391889"/>
              <a:ext cx="226120" cy="41907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&lt;math xmlns=&quot;http://www.w3.org/1998/Math/MathML&quot; display=&quot;block&quot; data-is-equatio=&quot;1&quot; data-latex=&quot;\frac{1}{10}&quot;&gt;&lt;mfrac&gt;&lt;mn&gt;1&lt;/mn&gt;&lt;mn&gt;10&lt;/mn&gt;&lt;/mfrac&gt;&lt;/math&gt;" id="924" name="Google Shape;924;p75" title="one tenth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7510125" y="2391889"/>
              <a:ext cx="226120" cy="41907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925" name="Google Shape;925;p75"/>
            <p:cNvSpPr/>
            <p:nvPr/>
          </p:nvSpPr>
          <p:spPr>
            <a:xfrm>
              <a:off x="2224875" y="2537700"/>
              <a:ext cx="1753500" cy="324600"/>
            </a:xfrm>
            <a:prstGeom prst="rect">
              <a:avLst/>
            </a:prstGeom>
            <a:solidFill>
              <a:srgbClr val="FFFF00">
                <a:alpha val="3861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926" name="Google Shape;926;p75"/>
            <p:cNvSpPr/>
            <p:nvPr/>
          </p:nvSpPr>
          <p:spPr>
            <a:xfrm>
              <a:off x="3926238" y="2406096"/>
              <a:ext cx="1416300" cy="507900"/>
            </a:xfrm>
            <a:prstGeom prst="rect">
              <a:avLst/>
            </a:prstGeom>
            <a:solidFill>
              <a:srgbClr val="FFFF00">
                <a:alpha val="3861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927" name="Google Shape;927;p75"/>
          <p:cNvGrpSpPr/>
          <p:nvPr/>
        </p:nvGrpSpPr>
        <p:grpSpPr>
          <a:xfrm>
            <a:off x="1516623" y="2947425"/>
            <a:ext cx="4563900" cy="507900"/>
            <a:chOff x="1516623" y="2947425"/>
            <a:chExt cx="4563900" cy="507900"/>
          </a:xfrm>
        </p:grpSpPr>
        <p:sp>
          <p:nvSpPr>
            <p:cNvPr id="928" name="Google Shape;928;p75"/>
            <p:cNvSpPr txBox="1"/>
            <p:nvPr/>
          </p:nvSpPr>
          <p:spPr>
            <a:xfrm>
              <a:off x="1516623" y="2947425"/>
              <a:ext cx="4563900" cy="507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1000"/>
                </a:spcAft>
                <a:buNone/>
              </a:pPr>
              <a:r>
                <a:rPr lang="en-GB" sz="21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rPr>
                <a:t>9.8 × 1 × 1  × 1 ×    ×    ×     ×     ×</a:t>
              </a:r>
              <a:endParaRPr/>
            </a:p>
          </p:txBody>
        </p:sp>
        <p:pic>
          <p:nvPicPr>
            <p:cNvPr descr="&lt;math xmlns=&quot;http://www.w3.org/1998/Math/MathML&quot; display=&quot;block&quot; data-is-equatio=&quot;1&quot; data-latex=&quot;\frac{1}{10}&quot;&gt;&lt;mfrac&gt;&lt;mn&gt;1&lt;/mn&gt;&lt;mn&gt;10&lt;/mn&gt;&lt;/mfrac&gt;&lt;/math&gt;" id="929" name="Google Shape;929;p75" title="one tenth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3504505" y="3001489"/>
              <a:ext cx="226120" cy="41907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&lt;math xmlns=&quot;http://www.w3.org/1998/Math/MathML&quot; display=&quot;block&quot; data-is-equatio=&quot;1&quot; data-latex=&quot;\frac{1}{10}&quot;&gt;&lt;mfrac&gt;&lt;mn&gt;1&lt;/mn&gt;&lt;mn&gt;10&lt;/mn&gt;&lt;/mfrac&gt;&lt;/math&gt;" id="930" name="Google Shape;930;p75" title="one tenth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3947038" y="3001489"/>
              <a:ext cx="226120" cy="41907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&lt;math xmlns=&quot;http://www.w3.org/1998/Math/MathML&quot; display=&quot;block&quot; data-is-equatio=&quot;1&quot; data-latex=&quot;\frac{1}{10}&quot;&gt;&lt;mfrac&gt;&lt;mn&gt;1&lt;/mn&gt;&lt;mn&gt;10&lt;/mn&gt;&lt;/mfrac&gt;&lt;/math&gt;" id="931" name="Google Shape;931;p75" title="one tenth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4458150" y="3001489"/>
              <a:ext cx="226120" cy="41907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&lt;math xmlns=&quot;http://www.w3.org/1998/Math/MathML&quot; display=&quot;block&quot; data-is-equatio=&quot;1&quot; data-latex=&quot;\frac{1}{10}&quot;&gt;&lt;mfrac&gt;&lt;mn&gt;1&lt;/mn&gt;&lt;mn&gt;10&lt;/mn&gt;&lt;/mfrac&gt;&lt;/math&gt;" id="932" name="Google Shape;932;p75" title="one tenth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4900025" y="3001489"/>
              <a:ext cx="226120" cy="41907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&lt;math xmlns=&quot;http://www.w3.org/1998/Math/MathML&quot; display=&quot;block&quot; data-is-equatio=&quot;1&quot; data-latex=&quot;\frac{1}{10}&quot;&gt;&lt;mfrac&gt;&lt;mn&gt;1&lt;/mn&gt;&lt;mn&gt;10&lt;/mn&gt;&lt;/mfrac&gt;&lt;/math&gt;" id="933" name="Google Shape;933;p75" title="one tenth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5376525" y="3001489"/>
              <a:ext cx="226120" cy="419075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934" name="Google Shape;934;p75"/>
          <p:cNvSpPr txBox="1"/>
          <p:nvPr/>
        </p:nvSpPr>
        <p:spPr>
          <a:xfrm>
            <a:off x="3756600" y="3591775"/>
            <a:ext cx="16308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9.8 × 10</a:t>
            </a:r>
            <a:r>
              <a:rPr baseline="30000" lang="en-GB" sz="2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−5</a:t>
            </a:r>
            <a:endParaRPr/>
          </a:p>
        </p:txBody>
      </p:sp>
      <p:pic>
        <p:nvPicPr>
          <p:cNvPr id="935" name="Google Shape;935;p75"/>
          <p:cNvPicPr preferRelativeResize="0"/>
          <p:nvPr/>
        </p:nvPicPr>
        <p:blipFill rotWithShape="1">
          <a:blip r:embed="rId5">
            <a:alphaModFix/>
          </a:blip>
          <a:srcRect b="0" l="0" r="69082" t="56280"/>
          <a:stretch/>
        </p:blipFill>
        <p:spPr>
          <a:xfrm>
            <a:off x="5219875" y="545175"/>
            <a:ext cx="3600123" cy="1945049"/>
          </a:xfrm>
          <a:prstGeom prst="rect">
            <a:avLst/>
          </a:prstGeom>
          <a:noFill/>
          <a:ln>
            <a:noFill/>
          </a:ln>
        </p:spPr>
      </p:pic>
      <p:sp>
        <p:nvSpPr>
          <p:cNvPr id="936" name="Google Shape;936;p75"/>
          <p:cNvSpPr txBox="1"/>
          <p:nvPr>
            <p:ph idx="1" type="body"/>
          </p:nvPr>
        </p:nvSpPr>
        <p:spPr>
          <a:xfrm>
            <a:off x="5387400" y="822725"/>
            <a:ext cx="3316800" cy="1296900"/>
          </a:xfrm>
          <a:prstGeom prst="rect">
            <a:avLst/>
          </a:prstGeom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/>
              <a:t>                10 x</a:t>
            </a:r>
            <a:endParaRPr sz="21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2100"/>
              <a:t>   equals 1, so we can   simplify the calculation</a:t>
            </a:r>
            <a:endParaRPr sz="2100"/>
          </a:p>
        </p:txBody>
      </p:sp>
      <p:pic>
        <p:nvPicPr>
          <p:cNvPr descr="&lt;math xmlns=&quot;http://www.w3.org/1998/Math/MathML&quot; display=&quot;block&quot; data-is-equatio=&quot;1&quot; data-latex=&quot;\frac{1}{10}&quot;&gt;&lt;mfrac&gt;&lt;mn&gt;1&lt;/mn&gt;&lt;mn&gt;10&lt;/mn&gt;&lt;/mfrac&gt;&lt;/math&gt;" id="937" name="Google Shape;937;p75" title="one tenth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132263" y="793039"/>
            <a:ext cx="226120" cy="419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938" name="Google Shape;938;p75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 flipH="1">
            <a:off x="8092375" y="2203701"/>
            <a:ext cx="552400" cy="795462"/>
          </a:xfrm>
          <a:prstGeom prst="rect">
            <a:avLst/>
          </a:prstGeom>
          <a:noFill/>
          <a:ln>
            <a:noFill/>
          </a:ln>
        </p:spPr>
      </p:pic>
      <p:sp>
        <p:nvSpPr>
          <p:cNvPr id="939" name="Google Shape;939;p75"/>
          <p:cNvSpPr txBox="1"/>
          <p:nvPr/>
        </p:nvSpPr>
        <p:spPr>
          <a:xfrm>
            <a:off x="7876300" y="3083238"/>
            <a:ext cx="8853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Sam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40" name="Google Shape;940;p75"/>
          <p:cNvSpPr/>
          <p:nvPr/>
        </p:nvSpPr>
        <p:spPr>
          <a:xfrm>
            <a:off x="6256795" y="748632"/>
            <a:ext cx="1416300" cy="507900"/>
          </a:xfrm>
          <a:prstGeom prst="rect">
            <a:avLst/>
          </a:prstGeom>
          <a:solidFill>
            <a:srgbClr val="FFFF00">
              <a:alpha val="3861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4" name="Shape 9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45" name="Google Shape;945;p7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36974" y="639825"/>
            <a:ext cx="6880374" cy="1725750"/>
          </a:xfrm>
          <a:prstGeom prst="rect">
            <a:avLst/>
          </a:prstGeom>
          <a:noFill/>
          <a:ln>
            <a:noFill/>
          </a:ln>
        </p:spPr>
      </p:pic>
      <p:sp>
        <p:nvSpPr>
          <p:cNvPr id="946" name="Google Shape;946;p76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Not quite standard form numbers</a:t>
            </a:r>
            <a:endParaRPr/>
          </a:p>
        </p:txBody>
      </p:sp>
      <p:pic>
        <p:nvPicPr>
          <p:cNvPr id="947" name="Google Shape;947;p7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08750" y="1870600"/>
            <a:ext cx="619035" cy="694851"/>
          </a:xfrm>
          <a:prstGeom prst="rect">
            <a:avLst/>
          </a:prstGeom>
          <a:noFill/>
          <a:ln>
            <a:noFill/>
          </a:ln>
        </p:spPr>
      </p:pic>
      <p:sp>
        <p:nvSpPr>
          <p:cNvPr id="948" name="Google Shape;948;p76"/>
          <p:cNvSpPr txBox="1"/>
          <p:nvPr/>
        </p:nvSpPr>
        <p:spPr>
          <a:xfrm>
            <a:off x="423350" y="2634050"/>
            <a:ext cx="8853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Lucas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949" name="Google Shape;949;p7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flipH="1">
            <a:off x="7986625" y="1916763"/>
            <a:ext cx="552400" cy="795462"/>
          </a:xfrm>
          <a:prstGeom prst="rect">
            <a:avLst/>
          </a:prstGeom>
          <a:noFill/>
          <a:ln>
            <a:noFill/>
          </a:ln>
        </p:spPr>
      </p:pic>
      <p:sp>
        <p:nvSpPr>
          <p:cNvPr id="950" name="Google Shape;950;p76"/>
          <p:cNvSpPr txBox="1"/>
          <p:nvPr/>
        </p:nvSpPr>
        <p:spPr>
          <a:xfrm>
            <a:off x="7745450" y="2788813"/>
            <a:ext cx="8853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Sam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51" name="Google Shape;951;p76"/>
          <p:cNvSpPr txBox="1"/>
          <p:nvPr>
            <p:ph idx="1" type="body"/>
          </p:nvPr>
        </p:nvSpPr>
        <p:spPr>
          <a:xfrm>
            <a:off x="3394138" y="1946313"/>
            <a:ext cx="2076000" cy="467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100"/>
              <a:t>9800 × 10</a:t>
            </a:r>
            <a:r>
              <a:rPr baseline="30000" lang="en-GB" sz="2100"/>
              <a:t>−</a:t>
            </a:r>
            <a:r>
              <a:rPr baseline="30000" lang="en-GB" sz="2100"/>
              <a:t>8</a:t>
            </a:r>
            <a:r>
              <a:rPr lang="en-GB"/>
              <a:t> 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/>
          </a:p>
        </p:txBody>
      </p:sp>
      <p:grpSp>
        <p:nvGrpSpPr>
          <p:cNvPr id="952" name="Google Shape;952;p76"/>
          <p:cNvGrpSpPr/>
          <p:nvPr/>
        </p:nvGrpSpPr>
        <p:grpSpPr>
          <a:xfrm>
            <a:off x="3781737" y="2210750"/>
            <a:ext cx="619030" cy="248218"/>
            <a:chOff x="3910829" y="1040975"/>
            <a:chExt cx="335100" cy="248218"/>
          </a:xfrm>
        </p:grpSpPr>
        <p:sp>
          <p:nvSpPr>
            <p:cNvPr id="953" name="Google Shape;953;p76"/>
            <p:cNvSpPr/>
            <p:nvPr/>
          </p:nvSpPr>
          <p:spPr>
            <a:xfrm rot="5400000">
              <a:off x="4048829" y="902975"/>
              <a:ext cx="59100" cy="335100"/>
            </a:xfrm>
            <a:prstGeom prst="rightBracket">
              <a:avLst>
                <a:gd fmla="val 8333" name="adj"/>
              </a:avLst>
            </a:prstGeom>
            <a:noFill/>
            <a:ln cap="flat" cmpd="sng" w="28575">
              <a:solidFill>
                <a:srgbClr val="80808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954" name="Google Shape;954;p76"/>
            <p:cNvCxnSpPr/>
            <p:nvPr/>
          </p:nvCxnSpPr>
          <p:spPr>
            <a:xfrm flipH="1">
              <a:off x="3947254" y="1095993"/>
              <a:ext cx="2400" cy="193200"/>
            </a:xfrm>
            <a:prstGeom prst="straightConnector1">
              <a:avLst/>
            </a:prstGeom>
            <a:noFill/>
            <a:ln cap="flat" cmpd="sng" w="19050">
              <a:solidFill>
                <a:srgbClr val="808080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955" name="Google Shape;955;p76"/>
          <p:cNvSpPr txBox="1"/>
          <p:nvPr/>
        </p:nvSpPr>
        <p:spPr>
          <a:xfrm>
            <a:off x="1516628" y="2414025"/>
            <a:ext cx="28104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9.8 × 10 × 10  × 10</a:t>
            </a:r>
            <a:endParaRPr/>
          </a:p>
        </p:txBody>
      </p:sp>
      <p:sp>
        <p:nvSpPr>
          <p:cNvPr id="956" name="Google Shape;956;p76"/>
          <p:cNvSpPr txBox="1"/>
          <p:nvPr/>
        </p:nvSpPr>
        <p:spPr>
          <a:xfrm>
            <a:off x="3796650" y="2414013"/>
            <a:ext cx="39555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×     ×     ×     ×     ×     ×    ×     ×</a:t>
            </a:r>
            <a:endParaRPr/>
          </a:p>
        </p:txBody>
      </p:sp>
      <p:sp>
        <p:nvSpPr>
          <p:cNvPr id="957" name="Google Shape;957;p76"/>
          <p:cNvSpPr/>
          <p:nvPr/>
        </p:nvSpPr>
        <p:spPr>
          <a:xfrm rot="-5400000">
            <a:off x="2700114" y="1356050"/>
            <a:ext cx="59100" cy="2273100"/>
          </a:xfrm>
          <a:prstGeom prst="rightBracket">
            <a:avLst>
              <a:gd fmla="val 8333" name="adj"/>
            </a:avLst>
          </a:prstGeom>
          <a:noFill/>
          <a:ln cap="flat" cmpd="sng" w="28575">
            <a:solidFill>
              <a:srgbClr val="80808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descr="&lt;math xmlns=&quot;http://www.w3.org/1998/Math/MathML&quot; display=&quot;block&quot; data-is-equatio=&quot;1&quot; data-latex=&quot;\frac{1}{10}&quot;&gt;&lt;mfrac&gt;&lt;mn&gt;1&lt;/mn&gt;&lt;mn&gt;10&lt;/mn&gt;&lt;/mfrac&gt;&lt;/math&gt;" id="958" name="Google Shape;958;p76" title="one tenth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093875" y="2391889"/>
            <a:ext cx="226120" cy="4190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1}{10}&quot;&gt;&lt;mfrac&gt;&lt;mn&gt;1&lt;/mn&gt;&lt;mn&gt;10&lt;/mn&gt;&lt;/mfrac&gt;&lt;/math&gt;" id="959" name="Google Shape;959;p76" title="one tenth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572000" y="2391889"/>
            <a:ext cx="226120" cy="4190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1}{10}&quot;&gt;&lt;mfrac&gt;&lt;mn&gt;1&lt;/mn&gt;&lt;mn&gt;10&lt;/mn&gt;&lt;/mfrac&gt;&lt;/math&gt;" id="960" name="Google Shape;960;p76" title="one tenth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091125" y="2391889"/>
            <a:ext cx="226120" cy="4190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1}{10}&quot;&gt;&lt;mfrac&gt;&lt;mn&gt;1&lt;/mn&gt;&lt;mn&gt;10&lt;/mn&gt;&lt;/mfrac&gt;&lt;/math&gt;" id="961" name="Google Shape;961;p76" title="one tenth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569525" y="2391889"/>
            <a:ext cx="226120" cy="4190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1}{10}&quot;&gt;&lt;mfrac&gt;&lt;mn&gt;1&lt;/mn&gt;&lt;mn&gt;10&lt;/mn&gt;&lt;/mfrac&gt;&lt;/math&gt;" id="962" name="Google Shape;962;p76" title="one tenth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080638" y="2391889"/>
            <a:ext cx="226120" cy="4190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1}{10}&quot;&gt;&lt;mfrac&gt;&lt;mn&gt;1&lt;/mn&gt;&lt;mn&gt;10&lt;/mn&gt;&lt;/mfrac&gt;&lt;/math&gt;" id="963" name="Google Shape;963;p76" title="one tenth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591750" y="2391889"/>
            <a:ext cx="226120" cy="4190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1}{10}&quot;&gt;&lt;mfrac&gt;&lt;mn&gt;1&lt;/mn&gt;&lt;mn&gt;10&lt;/mn&gt;&lt;/mfrac&gt;&lt;/math&gt;" id="964" name="Google Shape;964;p76" title="one tenth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7033625" y="2391889"/>
            <a:ext cx="226120" cy="4190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1}{10}&quot;&gt;&lt;mfrac&gt;&lt;mn&gt;1&lt;/mn&gt;&lt;mn&gt;10&lt;/mn&gt;&lt;/mfrac&gt;&lt;/math&gt;" id="965" name="Google Shape;965;p76" title="one tenth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7510125" y="2391889"/>
            <a:ext cx="226120" cy="419075"/>
          </a:xfrm>
          <a:prstGeom prst="rect">
            <a:avLst/>
          </a:prstGeom>
          <a:noFill/>
          <a:ln>
            <a:noFill/>
          </a:ln>
        </p:spPr>
      </p:pic>
      <p:sp>
        <p:nvSpPr>
          <p:cNvPr id="966" name="Google Shape;966;p76"/>
          <p:cNvSpPr/>
          <p:nvPr/>
        </p:nvSpPr>
        <p:spPr>
          <a:xfrm>
            <a:off x="2224875" y="2537700"/>
            <a:ext cx="1753500" cy="324600"/>
          </a:xfrm>
          <a:prstGeom prst="rect">
            <a:avLst/>
          </a:prstGeom>
          <a:solidFill>
            <a:srgbClr val="FFFF00">
              <a:alpha val="3861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67" name="Google Shape;967;p76"/>
          <p:cNvSpPr/>
          <p:nvPr/>
        </p:nvSpPr>
        <p:spPr>
          <a:xfrm>
            <a:off x="3929375" y="2391900"/>
            <a:ext cx="1416300" cy="507900"/>
          </a:xfrm>
          <a:prstGeom prst="rect">
            <a:avLst/>
          </a:prstGeom>
          <a:solidFill>
            <a:srgbClr val="FFFF00">
              <a:alpha val="3861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68" name="Google Shape;968;p76"/>
          <p:cNvSpPr txBox="1"/>
          <p:nvPr/>
        </p:nvSpPr>
        <p:spPr>
          <a:xfrm>
            <a:off x="1516623" y="2947425"/>
            <a:ext cx="45639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9.8 × 1 × 1  × 1 ×    ×    ×     ×     ×</a:t>
            </a:r>
            <a:endParaRPr/>
          </a:p>
        </p:txBody>
      </p:sp>
      <p:pic>
        <p:nvPicPr>
          <p:cNvPr descr="&lt;math xmlns=&quot;http://www.w3.org/1998/Math/MathML&quot; display=&quot;block&quot; data-is-equatio=&quot;1&quot; data-latex=&quot;\frac{1}{10}&quot;&gt;&lt;mfrac&gt;&lt;mn&gt;1&lt;/mn&gt;&lt;mn&gt;10&lt;/mn&gt;&lt;/mfrac&gt;&lt;/math&gt;" id="969" name="Google Shape;969;p76" title="one tenth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504505" y="3001489"/>
            <a:ext cx="226120" cy="4190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1}{10}&quot;&gt;&lt;mfrac&gt;&lt;mn&gt;1&lt;/mn&gt;&lt;mn&gt;10&lt;/mn&gt;&lt;/mfrac&gt;&lt;/math&gt;" id="970" name="Google Shape;970;p76" title="one tenth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947038" y="3001489"/>
            <a:ext cx="226120" cy="4190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1}{10}&quot;&gt;&lt;mfrac&gt;&lt;mn&gt;1&lt;/mn&gt;&lt;mn&gt;10&lt;/mn&gt;&lt;/mfrac&gt;&lt;/math&gt;" id="971" name="Google Shape;971;p76" title="one tenth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458150" y="3001489"/>
            <a:ext cx="226120" cy="4190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1}{10}&quot;&gt;&lt;mfrac&gt;&lt;mn&gt;1&lt;/mn&gt;&lt;mn&gt;10&lt;/mn&gt;&lt;/mfrac&gt;&lt;/math&gt;" id="972" name="Google Shape;972;p76" title="one tenth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900025" y="3001489"/>
            <a:ext cx="226120" cy="4190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1}{10}&quot;&gt;&lt;mfrac&gt;&lt;mn&gt;1&lt;/mn&gt;&lt;mn&gt;10&lt;/mn&gt;&lt;/mfrac&gt;&lt;/math&gt;" id="973" name="Google Shape;973;p76" title="one tenth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376525" y="3001489"/>
            <a:ext cx="226120" cy="419075"/>
          </a:xfrm>
          <a:prstGeom prst="rect">
            <a:avLst/>
          </a:prstGeom>
          <a:noFill/>
          <a:ln>
            <a:noFill/>
          </a:ln>
        </p:spPr>
      </p:pic>
      <p:sp>
        <p:nvSpPr>
          <p:cNvPr id="974" name="Google Shape;974;p76"/>
          <p:cNvSpPr txBox="1"/>
          <p:nvPr/>
        </p:nvSpPr>
        <p:spPr>
          <a:xfrm>
            <a:off x="3756600" y="3591775"/>
            <a:ext cx="16308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9.8 × 10</a:t>
            </a:r>
            <a:r>
              <a:rPr baseline="30000" lang="en-GB" sz="2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−</a:t>
            </a:r>
            <a:r>
              <a:rPr baseline="30000" lang="en-GB" sz="2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5</a:t>
            </a:r>
            <a:endParaRPr/>
          </a:p>
        </p:txBody>
      </p:sp>
      <p:sp>
        <p:nvSpPr>
          <p:cNvPr id="975" name="Google Shape;975;p76"/>
          <p:cNvSpPr txBox="1"/>
          <p:nvPr>
            <p:ph idx="4294967295" type="subTitle"/>
          </p:nvPr>
        </p:nvSpPr>
        <p:spPr>
          <a:xfrm>
            <a:off x="1127775" y="774125"/>
            <a:ext cx="6707100" cy="2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So I am still adding w</a:t>
            </a:r>
            <a:r>
              <a:rPr lang="en-GB" sz="1800"/>
              <a:t>hen the number of A is too big!</a:t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800"/>
              <a:t>The exponent of (−8) when combined with the 3 multiplications of 10 from 9800 gives the new exponent </a:t>
            </a:r>
            <a:r>
              <a:rPr lang="en-GB" sz="1800"/>
              <a:t>(−5)</a:t>
            </a:r>
            <a:r>
              <a:rPr lang="en-GB" sz="1800"/>
              <a:t> </a:t>
            </a:r>
            <a:endParaRPr sz="1800"/>
          </a:p>
        </p:txBody>
      </p:sp>
      <p:pic>
        <p:nvPicPr>
          <p:cNvPr id="976" name="Google Shape;976;p76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5006196" y="3636175"/>
            <a:ext cx="396000" cy="419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0" name="Shape 9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1" name="Google Shape;981;p77"/>
          <p:cNvSpPr txBox="1"/>
          <p:nvPr>
            <p:ph idx="1" type="body"/>
          </p:nvPr>
        </p:nvSpPr>
        <p:spPr>
          <a:xfrm>
            <a:off x="324000" y="759300"/>
            <a:ext cx="8237700" cy="367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Convert the following into </a:t>
            </a:r>
            <a:r>
              <a:rPr lang="en-GB"/>
              <a:t>standard</a:t>
            </a:r>
            <a:r>
              <a:rPr lang="en-GB"/>
              <a:t> form:</a:t>
            </a:r>
            <a:endParaRPr/>
          </a:p>
          <a:p>
            <a:pPr indent="-368300" lvl="0" marL="4572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200"/>
              <a:buAutoNum type="alphaLcParenR"/>
            </a:pPr>
            <a:r>
              <a:rPr lang="en-GB" sz="2100"/>
              <a:t>278</a:t>
            </a:r>
            <a:r>
              <a:rPr lang="en-GB" sz="2100"/>
              <a:t> × 10</a:t>
            </a:r>
            <a:r>
              <a:rPr baseline="30000" lang="en-GB" sz="2100"/>
              <a:t>−5</a:t>
            </a:r>
            <a:br>
              <a:rPr baseline="30000" lang="en-GB" sz="2100"/>
            </a:br>
            <a:endParaRPr sz="1400">
              <a:latin typeface="Arial"/>
              <a:ea typeface="Arial"/>
              <a:cs typeface="Arial"/>
              <a:sym typeface="Arial"/>
            </a:endParaRPr>
          </a:p>
          <a:p>
            <a:pPr indent="-3683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AutoNum type="alphaLcParenR"/>
            </a:pPr>
            <a:r>
              <a:rPr lang="en-GB" sz="2100"/>
              <a:t>2900 × 10</a:t>
            </a:r>
            <a:r>
              <a:rPr baseline="30000" lang="en-GB" sz="2100"/>
              <a:t>−11</a:t>
            </a:r>
            <a:br>
              <a:rPr baseline="30000" lang="en-GB" sz="2100"/>
            </a:br>
            <a:endParaRPr sz="1400">
              <a:latin typeface="Arial"/>
              <a:ea typeface="Arial"/>
              <a:cs typeface="Arial"/>
              <a:sym typeface="Arial"/>
            </a:endParaRPr>
          </a:p>
          <a:p>
            <a:pPr indent="-3683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AutoNum type="alphaLcParenR"/>
            </a:pPr>
            <a:r>
              <a:rPr lang="en-GB" sz="2100"/>
              <a:t>23 × 10</a:t>
            </a:r>
            <a:r>
              <a:rPr baseline="30000" lang="en-GB" sz="2100"/>
              <a:t>15</a:t>
            </a:r>
            <a:br>
              <a:rPr baseline="30000" lang="en-GB" sz="2100"/>
            </a:br>
            <a:endParaRPr sz="1400">
              <a:latin typeface="Arial"/>
              <a:ea typeface="Arial"/>
              <a:cs typeface="Arial"/>
              <a:sym typeface="Arial"/>
            </a:endParaRPr>
          </a:p>
          <a:p>
            <a:pPr indent="-3683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AutoNum type="alphaLcParenR"/>
            </a:pPr>
            <a:r>
              <a:rPr lang="en-GB" sz="2100"/>
              <a:t>3049 × 10</a:t>
            </a:r>
            <a:r>
              <a:rPr baseline="30000" lang="en-GB" sz="2100"/>
              <a:t>9</a:t>
            </a:r>
            <a:br>
              <a:rPr baseline="30000" lang="en-GB" sz="2100"/>
            </a:br>
            <a:endParaRPr sz="1400">
              <a:latin typeface="Arial"/>
              <a:ea typeface="Arial"/>
              <a:cs typeface="Arial"/>
              <a:sym typeface="Arial"/>
            </a:endParaRPr>
          </a:p>
          <a:p>
            <a:pPr indent="-3683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AutoNum type="alphaLcParenR"/>
            </a:pPr>
            <a:r>
              <a:rPr lang="en-GB" sz="2100"/>
              <a:t>30 400 × 10</a:t>
            </a:r>
            <a:r>
              <a:rPr baseline="30000" lang="en-GB" sz="2100"/>
              <a:t>−2</a:t>
            </a:r>
            <a:br>
              <a:rPr baseline="30000" lang="en-GB" sz="2100"/>
            </a:br>
            <a:endParaRPr sz="1400">
              <a:latin typeface="Arial"/>
              <a:ea typeface="Arial"/>
              <a:cs typeface="Arial"/>
              <a:sym typeface="Arial"/>
            </a:endParaRPr>
          </a:p>
          <a:p>
            <a:pPr indent="-3683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AutoNum type="alphaLcParenR"/>
            </a:pPr>
            <a:r>
              <a:rPr lang="en-GB" sz="2100"/>
              <a:t>300 000 × 10</a:t>
            </a:r>
            <a:r>
              <a:rPr baseline="30000" lang="en-GB" sz="2100"/>
              <a:t>−1</a:t>
            </a:r>
            <a:endParaRPr sz="14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t/>
            </a:r>
            <a:endParaRPr/>
          </a:p>
        </p:txBody>
      </p:sp>
      <p:sp>
        <p:nvSpPr>
          <p:cNvPr id="982" name="Google Shape;982;p77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Not quite standard form numbers</a:t>
            </a:r>
            <a:endParaRPr/>
          </a:p>
        </p:txBody>
      </p:sp>
      <p:sp>
        <p:nvSpPr>
          <p:cNvPr id="983" name="Google Shape;983;p77"/>
          <p:cNvSpPr txBox="1"/>
          <p:nvPr/>
        </p:nvSpPr>
        <p:spPr>
          <a:xfrm>
            <a:off x="2208075" y="1240050"/>
            <a:ext cx="30000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1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= 2.78</a:t>
            </a:r>
            <a:r>
              <a:rPr lang="en-GB" sz="21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 × 10</a:t>
            </a:r>
            <a:r>
              <a:rPr baseline="30000" lang="en-GB" sz="21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−</a:t>
            </a:r>
            <a:r>
              <a:rPr baseline="30000" lang="en-GB" sz="21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3</a:t>
            </a:r>
            <a:endParaRPr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984" name="Google Shape;984;p77"/>
          <p:cNvSpPr txBox="1"/>
          <p:nvPr/>
        </p:nvSpPr>
        <p:spPr>
          <a:xfrm>
            <a:off x="2280025" y="1747950"/>
            <a:ext cx="30000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1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= 2.9</a:t>
            </a:r>
            <a:r>
              <a:rPr lang="en-GB" sz="21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 × 10</a:t>
            </a:r>
            <a:r>
              <a:rPr baseline="30000" lang="en-GB" sz="21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−</a:t>
            </a:r>
            <a:r>
              <a:rPr baseline="30000" lang="en-GB" sz="21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8</a:t>
            </a:r>
            <a:endParaRPr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985" name="Google Shape;985;p77"/>
          <p:cNvSpPr txBox="1"/>
          <p:nvPr/>
        </p:nvSpPr>
        <p:spPr>
          <a:xfrm>
            <a:off x="2208075" y="2255838"/>
            <a:ext cx="30000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1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= 2.3</a:t>
            </a:r>
            <a:r>
              <a:rPr lang="en-GB" sz="21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 × 10</a:t>
            </a:r>
            <a:r>
              <a:rPr baseline="30000" lang="en-GB" sz="21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16</a:t>
            </a:r>
            <a:endParaRPr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986" name="Google Shape;986;p77"/>
          <p:cNvSpPr txBox="1"/>
          <p:nvPr/>
        </p:nvSpPr>
        <p:spPr>
          <a:xfrm>
            <a:off x="2560300" y="2797163"/>
            <a:ext cx="30000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1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= 3.049</a:t>
            </a:r>
            <a:r>
              <a:rPr lang="en-GB" sz="21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 × 10</a:t>
            </a:r>
            <a:r>
              <a:rPr baseline="30000" lang="en-GB" sz="21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12</a:t>
            </a:r>
            <a:endParaRPr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987" name="Google Shape;987;p77"/>
          <p:cNvSpPr txBox="1"/>
          <p:nvPr/>
        </p:nvSpPr>
        <p:spPr>
          <a:xfrm>
            <a:off x="2696975" y="3292463"/>
            <a:ext cx="30000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1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= 3.04</a:t>
            </a:r>
            <a:r>
              <a:rPr lang="en-GB" sz="21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 × 10</a:t>
            </a:r>
            <a:r>
              <a:rPr baseline="30000" lang="en-GB" sz="21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2</a:t>
            </a:r>
            <a:endParaRPr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988" name="Google Shape;988;p77"/>
          <p:cNvSpPr txBox="1"/>
          <p:nvPr/>
        </p:nvSpPr>
        <p:spPr>
          <a:xfrm>
            <a:off x="2820000" y="3879825"/>
            <a:ext cx="30000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1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= 3</a:t>
            </a:r>
            <a:r>
              <a:rPr lang="en-GB" sz="21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 × 10</a:t>
            </a:r>
            <a:r>
              <a:rPr baseline="30000" lang="en-GB" sz="21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4</a:t>
            </a:r>
            <a:endParaRPr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2" name="Shape 9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93" name="Google Shape;993;p78"/>
          <p:cNvPicPr preferRelativeResize="0"/>
          <p:nvPr/>
        </p:nvPicPr>
        <p:blipFill rotWithShape="1">
          <a:blip r:embed="rId3">
            <a:alphaModFix/>
          </a:blip>
          <a:srcRect b="0" l="0" r="69082" t="56280"/>
          <a:stretch/>
        </p:blipFill>
        <p:spPr>
          <a:xfrm>
            <a:off x="5288950" y="482412"/>
            <a:ext cx="2930048" cy="2567475"/>
          </a:xfrm>
          <a:prstGeom prst="rect">
            <a:avLst/>
          </a:prstGeom>
          <a:noFill/>
          <a:ln>
            <a:noFill/>
          </a:ln>
        </p:spPr>
      </p:pic>
      <p:pic>
        <p:nvPicPr>
          <p:cNvPr id="994" name="Google Shape;994;p78"/>
          <p:cNvPicPr preferRelativeResize="0"/>
          <p:nvPr/>
        </p:nvPicPr>
        <p:blipFill rotWithShape="1">
          <a:blip r:embed="rId3">
            <a:alphaModFix/>
          </a:blip>
          <a:srcRect b="6172" l="40550" r="0" t="13240"/>
          <a:stretch/>
        </p:blipFill>
        <p:spPr>
          <a:xfrm>
            <a:off x="927000" y="670850"/>
            <a:ext cx="4361948" cy="2673175"/>
          </a:xfrm>
          <a:prstGeom prst="rect">
            <a:avLst/>
          </a:prstGeom>
          <a:noFill/>
          <a:ln>
            <a:noFill/>
          </a:ln>
        </p:spPr>
      </p:pic>
      <p:sp>
        <p:nvSpPr>
          <p:cNvPr id="995" name="Google Shape;995;p78"/>
          <p:cNvSpPr txBox="1"/>
          <p:nvPr>
            <p:ph idx="1" type="body"/>
          </p:nvPr>
        </p:nvSpPr>
        <p:spPr>
          <a:xfrm>
            <a:off x="1209300" y="891950"/>
            <a:ext cx="3942600" cy="1748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100"/>
              <a:t>What happens when the starting number cannot be made into multiplications of 10? For example</a:t>
            </a:r>
            <a:endParaRPr sz="2100"/>
          </a:p>
          <a:p>
            <a:pPr indent="0" lvl="0" marL="0" rtl="0" algn="ctr"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2100"/>
              <a:t>0.8</a:t>
            </a:r>
            <a:r>
              <a:rPr lang="en-GB" sz="2100"/>
              <a:t>7 × 10</a:t>
            </a:r>
            <a:r>
              <a:rPr baseline="30000" lang="en-GB" sz="2100"/>
              <a:t>5</a:t>
            </a:r>
            <a:r>
              <a:rPr lang="en-GB"/>
              <a:t> ?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/>
          </a:p>
        </p:txBody>
      </p:sp>
      <p:sp>
        <p:nvSpPr>
          <p:cNvPr id="996" name="Google Shape;996;p78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Not quite standard form numbers</a:t>
            </a:r>
            <a:endParaRPr/>
          </a:p>
        </p:txBody>
      </p:sp>
      <p:pic>
        <p:nvPicPr>
          <p:cNvPr id="997" name="Google Shape;997;p7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08750" y="2327800"/>
            <a:ext cx="619035" cy="694851"/>
          </a:xfrm>
          <a:prstGeom prst="rect">
            <a:avLst/>
          </a:prstGeom>
          <a:noFill/>
          <a:ln>
            <a:noFill/>
          </a:ln>
        </p:spPr>
      </p:pic>
      <p:sp>
        <p:nvSpPr>
          <p:cNvPr id="998" name="Google Shape;998;p78"/>
          <p:cNvSpPr txBox="1"/>
          <p:nvPr/>
        </p:nvSpPr>
        <p:spPr>
          <a:xfrm>
            <a:off x="423350" y="3091250"/>
            <a:ext cx="8853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Lucas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999" name="Google Shape;999;p7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flipH="1">
            <a:off x="8039950" y="2308913"/>
            <a:ext cx="552400" cy="795462"/>
          </a:xfrm>
          <a:prstGeom prst="rect">
            <a:avLst/>
          </a:prstGeom>
          <a:noFill/>
          <a:ln>
            <a:noFill/>
          </a:ln>
        </p:spPr>
      </p:pic>
      <p:sp>
        <p:nvSpPr>
          <p:cNvPr id="1000" name="Google Shape;1000;p78"/>
          <p:cNvSpPr txBox="1"/>
          <p:nvPr/>
        </p:nvSpPr>
        <p:spPr>
          <a:xfrm>
            <a:off x="7798775" y="3180963"/>
            <a:ext cx="8853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Sam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01" name="Google Shape;1001;p78"/>
          <p:cNvSpPr txBox="1"/>
          <p:nvPr/>
        </p:nvSpPr>
        <p:spPr>
          <a:xfrm>
            <a:off x="5288950" y="803575"/>
            <a:ext cx="2751000" cy="32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We continue to use the </a:t>
            </a: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associative</a:t>
            </a: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 law, but take a look what happens.</a:t>
            </a:r>
            <a:endParaRPr sz="2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5" name="Shape 10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6" name="Google Shape;1006;p79"/>
          <p:cNvSpPr txBox="1"/>
          <p:nvPr>
            <p:ph idx="1" type="body"/>
          </p:nvPr>
        </p:nvSpPr>
        <p:spPr>
          <a:xfrm>
            <a:off x="-361800" y="987900"/>
            <a:ext cx="8237700" cy="467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100"/>
              <a:t>0.87 × 10</a:t>
            </a:r>
            <a:r>
              <a:rPr baseline="30000" lang="en-GB" sz="2100"/>
              <a:t>5</a:t>
            </a:r>
            <a:r>
              <a:rPr lang="en-GB"/>
              <a:t> 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/>
          </a:p>
        </p:txBody>
      </p:sp>
      <p:sp>
        <p:nvSpPr>
          <p:cNvPr id="1007" name="Google Shape;1007;p79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Not quite standard form numbers</a:t>
            </a:r>
            <a:endParaRPr/>
          </a:p>
        </p:txBody>
      </p:sp>
      <p:grpSp>
        <p:nvGrpSpPr>
          <p:cNvPr id="1008" name="Google Shape;1008;p79"/>
          <p:cNvGrpSpPr/>
          <p:nvPr/>
        </p:nvGrpSpPr>
        <p:grpSpPr>
          <a:xfrm>
            <a:off x="3089773" y="1269575"/>
            <a:ext cx="596277" cy="252300"/>
            <a:chOff x="3910829" y="1040975"/>
            <a:chExt cx="335100" cy="252300"/>
          </a:xfrm>
        </p:grpSpPr>
        <p:sp>
          <p:nvSpPr>
            <p:cNvPr id="1009" name="Google Shape;1009;p79"/>
            <p:cNvSpPr/>
            <p:nvPr/>
          </p:nvSpPr>
          <p:spPr>
            <a:xfrm rot="5400000">
              <a:off x="4048829" y="902975"/>
              <a:ext cx="59100" cy="335100"/>
            </a:xfrm>
            <a:prstGeom prst="rightBracket">
              <a:avLst>
                <a:gd fmla="val 8333" name="adj"/>
              </a:avLst>
            </a:prstGeom>
            <a:noFill/>
            <a:ln cap="flat" cmpd="sng" w="28575">
              <a:solidFill>
                <a:srgbClr val="80808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1010" name="Google Shape;1010;p79"/>
            <p:cNvCxnSpPr>
              <a:stCxn id="1009" idx="2"/>
            </p:cNvCxnSpPr>
            <p:nvPr/>
          </p:nvCxnSpPr>
          <p:spPr>
            <a:xfrm flipH="1">
              <a:off x="4075979" y="1100075"/>
              <a:ext cx="2400" cy="193200"/>
            </a:xfrm>
            <a:prstGeom prst="straightConnector1">
              <a:avLst/>
            </a:prstGeom>
            <a:noFill/>
            <a:ln cap="flat" cmpd="sng" w="19050">
              <a:solidFill>
                <a:srgbClr val="808080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1011" name="Google Shape;1011;p79"/>
          <p:cNvSpPr txBox="1"/>
          <p:nvPr/>
        </p:nvSpPr>
        <p:spPr>
          <a:xfrm>
            <a:off x="2441700" y="1548128"/>
            <a:ext cx="14445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8.7 ×  </a:t>
            </a:r>
            <a:endParaRPr/>
          </a:p>
        </p:txBody>
      </p:sp>
      <p:sp>
        <p:nvSpPr>
          <p:cNvPr id="1012" name="Google Shape;1012;p79"/>
          <p:cNvSpPr txBox="1"/>
          <p:nvPr/>
        </p:nvSpPr>
        <p:spPr>
          <a:xfrm>
            <a:off x="3280921" y="1548128"/>
            <a:ext cx="11193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× 10</a:t>
            </a:r>
            <a:r>
              <a:rPr baseline="30000" lang="en-GB" sz="2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5</a:t>
            </a:r>
            <a:endParaRPr/>
          </a:p>
        </p:txBody>
      </p:sp>
      <p:sp>
        <p:nvSpPr>
          <p:cNvPr id="1013" name="Google Shape;1013;p79"/>
          <p:cNvSpPr txBox="1"/>
          <p:nvPr/>
        </p:nvSpPr>
        <p:spPr>
          <a:xfrm>
            <a:off x="1523176" y="2163400"/>
            <a:ext cx="40887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8.7 ×     × 10 × 10 × 10 × 10 × 10     </a:t>
            </a:r>
            <a:endParaRPr/>
          </a:p>
        </p:txBody>
      </p:sp>
      <p:pic>
        <p:nvPicPr>
          <p:cNvPr descr="&lt;math xmlns=&quot;http://www.w3.org/1998/Math/MathML&quot; display=&quot;block&quot; data-is-equatio=&quot;1&quot; data-latex=&quot;\frac{1}{10}&quot;&gt;&lt;mfrac&gt;&lt;mn&gt;1&lt;/mn&gt;&lt;mn&gt;10&lt;/mn&gt;&lt;/mfrac&gt;&lt;/math&gt;" id="1014" name="Google Shape;1014;p79" title="one tenth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92199" y="1588675"/>
            <a:ext cx="274047" cy="5079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1}{10}&quot;&gt;&lt;mfrac&gt;&lt;mn&gt;1&lt;/mn&gt;&lt;mn&gt;10&lt;/mn&gt;&lt;/mfrac&gt;&lt;/math&gt;" id="1015" name="Google Shape;1015;p79" title="one tenth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325674" y="2148550"/>
            <a:ext cx="274047" cy="507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16" name="Google Shape;1016;p7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flipH="1">
            <a:off x="8284500" y="2311613"/>
            <a:ext cx="552400" cy="795462"/>
          </a:xfrm>
          <a:prstGeom prst="rect">
            <a:avLst/>
          </a:prstGeom>
          <a:noFill/>
          <a:ln>
            <a:noFill/>
          </a:ln>
        </p:spPr>
      </p:pic>
      <p:sp>
        <p:nvSpPr>
          <p:cNvPr id="1017" name="Google Shape;1017;p79"/>
          <p:cNvSpPr txBox="1"/>
          <p:nvPr/>
        </p:nvSpPr>
        <p:spPr>
          <a:xfrm>
            <a:off x="8043325" y="3183663"/>
            <a:ext cx="8853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Sam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018" name="Google Shape;1018;p7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08750" y="2327800"/>
            <a:ext cx="619035" cy="694851"/>
          </a:xfrm>
          <a:prstGeom prst="rect">
            <a:avLst/>
          </a:prstGeom>
          <a:noFill/>
          <a:ln>
            <a:noFill/>
          </a:ln>
        </p:spPr>
      </p:pic>
      <p:sp>
        <p:nvSpPr>
          <p:cNvPr id="1019" name="Google Shape;1019;p79"/>
          <p:cNvSpPr txBox="1"/>
          <p:nvPr/>
        </p:nvSpPr>
        <p:spPr>
          <a:xfrm>
            <a:off x="423350" y="3091250"/>
            <a:ext cx="8853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Lucas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20" name="Google Shape;1020;p79"/>
          <p:cNvSpPr/>
          <p:nvPr/>
        </p:nvSpPr>
        <p:spPr>
          <a:xfrm rot="-5400000">
            <a:off x="3002575" y="1072775"/>
            <a:ext cx="59100" cy="957300"/>
          </a:xfrm>
          <a:prstGeom prst="rightBracket">
            <a:avLst>
              <a:gd fmla="val 8333" name="adj"/>
            </a:avLst>
          </a:prstGeom>
          <a:noFill/>
          <a:ln cap="flat" cmpd="sng" w="28575">
            <a:solidFill>
              <a:srgbClr val="80808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21" name="Google Shape;1021;p79"/>
          <p:cNvSpPr txBox="1"/>
          <p:nvPr/>
        </p:nvSpPr>
        <p:spPr>
          <a:xfrm>
            <a:off x="1195801" y="2823850"/>
            <a:ext cx="40887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8.7 × 1 × 10 × 10 × 10 × 10     </a:t>
            </a:r>
            <a:endParaRPr/>
          </a:p>
        </p:txBody>
      </p:sp>
      <p:sp>
        <p:nvSpPr>
          <p:cNvPr id="1022" name="Google Shape;1022;p79"/>
          <p:cNvSpPr txBox="1"/>
          <p:nvPr/>
        </p:nvSpPr>
        <p:spPr>
          <a:xfrm>
            <a:off x="1195801" y="3357250"/>
            <a:ext cx="40887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8.7 × </a:t>
            </a:r>
            <a:r>
              <a:rPr lang="en-GB" sz="2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10</a:t>
            </a:r>
            <a:r>
              <a:rPr baseline="30000" lang="en-GB" sz="2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4</a:t>
            </a:r>
            <a:r>
              <a:rPr lang="en-GB" sz="2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    </a:t>
            </a:r>
            <a:endParaRPr/>
          </a:p>
        </p:txBody>
      </p:sp>
      <p:pic>
        <p:nvPicPr>
          <p:cNvPr id="1023" name="Google Shape;1023;p79"/>
          <p:cNvPicPr preferRelativeResize="0"/>
          <p:nvPr/>
        </p:nvPicPr>
        <p:blipFill rotWithShape="1">
          <a:blip r:embed="rId6">
            <a:alphaModFix/>
          </a:blip>
          <a:srcRect b="0" l="0" r="69082" t="56280"/>
          <a:stretch/>
        </p:blipFill>
        <p:spPr>
          <a:xfrm>
            <a:off x="5433300" y="545175"/>
            <a:ext cx="3016074" cy="2316500"/>
          </a:xfrm>
          <a:prstGeom prst="rect">
            <a:avLst/>
          </a:prstGeom>
          <a:noFill/>
          <a:ln>
            <a:noFill/>
          </a:ln>
        </p:spPr>
      </p:pic>
      <p:sp>
        <p:nvSpPr>
          <p:cNvPr id="1024" name="Google Shape;1024;p79"/>
          <p:cNvSpPr txBox="1"/>
          <p:nvPr>
            <p:ph idx="1" type="body"/>
          </p:nvPr>
        </p:nvSpPr>
        <p:spPr>
          <a:xfrm>
            <a:off x="5578075" y="804900"/>
            <a:ext cx="2674500" cy="1630200"/>
          </a:xfrm>
          <a:prstGeom prst="rect">
            <a:avLst/>
          </a:prstGeom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Excellent! Because of this we have one less </a:t>
            </a:r>
            <a:r>
              <a:rPr lang="en-GB" sz="2000"/>
              <a:t>multiplication</a:t>
            </a:r>
            <a:r>
              <a:rPr lang="en-GB" sz="2000"/>
              <a:t> of 10, so we we subtract 1 from the </a:t>
            </a:r>
            <a:r>
              <a:rPr lang="en-GB" sz="2000"/>
              <a:t>exponent</a:t>
            </a:r>
            <a:r>
              <a:rPr lang="en-GB" sz="2000"/>
              <a:t>. </a:t>
            </a:r>
            <a:endParaRPr sz="2100"/>
          </a:p>
        </p:txBody>
      </p:sp>
      <p:pic>
        <p:nvPicPr>
          <p:cNvPr id="1025" name="Google Shape;1025;p79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851283" y="3379100"/>
            <a:ext cx="396000" cy="419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9" name="Shape 10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0" name="Google Shape;1030;p80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Which of the following are correct?</a:t>
            </a:r>
            <a:endParaRPr/>
          </a:p>
        </p:txBody>
      </p:sp>
      <p:sp>
        <p:nvSpPr>
          <p:cNvPr id="1031" name="Google Shape;1031;p80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Not quite standard form numbers</a:t>
            </a:r>
            <a:endParaRPr/>
          </a:p>
        </p:txBody>
      </p:sp>
      <p:sp>
        <p:nvSpPr>
          <p:cNvPr id="1032" name="Google Shape;1032;p80"/>
          <p:cNvSpPr txBox="1"/>
          <p:nvPr>
            <p:ph idx="1" type="subTitle"/>
          </p:nvPr>
        </p:nvSpPr>
        <p:spPr>
          <a:xfrm>
            <a:off x="1070700" y="16853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100"/>
              <a:t>0.28</a:t>
            </a:r>
            <a:r>
              <a:rPr lang="en-GB" sz="2100"/>
              <a:t> × 10</a:t>
            </a:r>
            <a:r>
              <a:rPr baseline="30000" lang="en-GB" sz="2100"/>
              <a:t>5 </a:t>
            </a:r>
            <a:r>
              <a:rPr lang="en-GB" sz="2100"/>
              <a:t>= 2.8</a:t>
            </a:r>
            <a:r>
              <a:rPr lang="en-GB" sz="2100"/>
              <a:t> × 10</a:t>
            </a:r>
            <a:r>
              <a:rPr baseline="30000" lang="en-GB" sz="2100"/>
              <a:t>4</a:t>
            </a:r>
            <a:endParaRPr/>
          </a:p>
        </p:txBody>
      </p:sp>
      <p:sp>
        <p:nvSpPr>
          <p:cNvPr id="1033" name="Google Shape;1033;p80"/>
          <p:cNvSpPr txBox="1"/>
          <p:nvPr>
            <p:ph idx="3" type="subTitle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100"/>
              <a:t>0.0034</a:t>
            </a:r>
            <a:r>
              <a:rPr lang="en-GB" sz="2100"/>
              <a:t> × 10</a:t>
            </a:r>
            <a:r>
              <a:rPr baseline="30000" lang="en-GB" sz="2100"/>
              <a:t>7 </a:t>
            </a:r>
            <a:r>
              <a:rPr lang="en-GB" sz="2100"/>
              <a:t>= 3.4 × 10</a:t>
            </a:r>
            <a:r>
              <a:rPr baseline="30000" lang="en-GB" sz="2100"/>
              <a:t>4</a:t>
            </a:r>
            <a:endParaRPr/>
          </a:p>
        </p:txBody>
      </p:sp>
      <p:sp>
        <p:nvSpPr>
          <p:cNvPr id="1034" name="Google Shape;1034;p80"/>
          <p:cNvSpPr txBox="1"/>
          <p:nvPr>
            <p:ph idx="4" type="subTitle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100"/>
              <a:t>0.000 000 9</a:t>
            </a:r>
            <a:r>
              <a:rPr lang="en-GB" sz="2100"/>
              <a:t> × 10</a:t>
            </a:r>
            <a:r>
              <a:rPr baseline="30000" lang="en-GB" sz="2100"/>
              <a:t>3 </a:t>
            </a:r>
            <a:r>
              <a:rPr lang="en-GB" sz="2100"/>
              <a:t>= 9 × 10</a:t>
            </a:r>
            <a:r>
              <a:rPr baseline="30000" lang="en-GB" sz="2100"/>
              <a:t>−4</a:t>
            </a:r>
            <a:endParaRPr/>
          </a:p>
        </p:txBody>
      </p:sp>
      <p:sp>
        <p:nvSpPr>
          <p:cNvPr id="1035" name="Google Shape;1035;p80"/>
          <p:cNvSpPr txBox="1"/>
          <p:nvPr>
            <p:ph idx="5" type="subTitle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100"/>
              <a:t>0.4</a:t>
            </a:r>
            <a:r>
              <a:rPr lang="en-GB" sz="2100"/>
              <a:t> × 10</a:t>
            </a:r>
            <a:r>
              <a:rPr baseline="30000" lang="en-GB" sz="2100"/>
              <a:t>2 </a:t>
            </a:r>
            <a:r>
              <a:rPr lang="en-GB" sz="2100"/>
              <a:t>= 4 × 10</a:t>
            </a:r>
            <a:endParaRPr/>
          </a:p>
        </p:txBody>
      </p:sp>
      <p:grpSp>
        <p:nvGrpSpPr>
          <p:cNvPr id="1036" name="Google Shape;1036;p80"/>
          <p:cNvGrpSpPr/>
          <p:nvPr/>
        </p:nvGrpSpPr>
        <p:grpSpPr>
          <a:xfrm>
            <a:off x="3211433" y="1726125"/>
            <a:ext cx="1253175" cy="2803425"/>
            <a:chOff x="3211433" y="1726125"/>
            <a:chExt cx="1253175" cy="2803425"/>
          </a:xfrm>
        </p:grpSpPr>
        <p:pic>
          <p:nvPicPr>
            <p:cNvPr id="1037" name="Google Shape;1037;p80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3369608" y="1726125"/>
              <a:ext cx="396000" cy="4191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038" name="Google Shape;1038;p80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3211433" y="4110450"/>
              <a:ext cx="396000" cy="4191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039" name="Google Shape;1039;p80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3553833" y="2571750"/>
              <a:ext cx="396000" cy="4191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040" name="Google Shape;1040;p80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4068608" y="3461888"/>
              <a:ext cx="396000" cy="4191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041" name="Google Shape;1041;p80"/>
          <p:cNvSpPr txBox="1"/>
          <p:nvPr/>
        </p:nvSpPr>
        <p:spPr>
          <a:xfrm>
            <a:off x="4152076" y="1601150"/>
            <a:ext cx="40887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2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.8 ×       × 10 × 10 × 10 × 10 × 10 </a:t>
            </a:r>
            <a:r>
              <a:rPr lang="en-GB" sz="2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   </a:t>
            </a:r>
            <a:endParaRPr/>
          </a:p>
        </p:txBody>
      </p:sp>
      <p:pic>
        <p:nvPicPr>
          <p:cNvPr descr="&lt;math xmlns=&quot;http://www.w3.org/1998/Math/MathML&quot; display=&quot;block&quot; data-is-equatio=&quot;1&quot; data-latex=&quot;\frac{1}{10}&quot;&gt;&lt;mfrac&gt;&lt;mn&gt;1&lt;/mn&gt;&lt;mn&gt;10&lt;/mn&gt;&lt;/mfrac&gt;&lt;/math&gt;" id="1042" name="Google Shape;1042;p80" title="one tenth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069824" y="1609825"/>
            <a:ext cx="274047" cy="507900"/>
          </a:xfrm>
          <a:prstGeom prst="rect">
            <a:avLst/>
          </a:prstGeom>
          <a:noFill/>
          <a:ln>
            <a:noFill/>
          </a:ln>
        </p:spPr>
      </p:pic>
      <p:sp>
        <p:nvSpPr>
          <p:cNvPr id="1043" name="Google Shape;1043;p80"/>
          <p:cNvSpPr txBox="1"/>
          <p:nvPr/>
        </p:nvSpPr>
        <p:spPr>
          <a:xfrm>
            <a:off x="4247025" y="2427975"/>
            <a:ext cx="53874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3.4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×     ×     ×    ×10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×10×10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×10×10×10×10</a:t>
            </a:r>
            <a:r>
              <a:rPr lang="en-GB" sz="2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    </a:t>
            </a:r>
            <a:endParaRPr/>
          </a:p>
        </p:txBody>
      </p:sp>
      <p:pic>
        <p:nvPicPr>
          <p:cNvPr descr="&lt;math xmlns=&quot;http://www.w3.org/1998/Math/MathML&quot; display=&quot;block&quot; data-is-equatio=&quot;1&quot; data-latex=&quot;\frac{1}{10}&quot;&gt;&lt;mfrac&gt;&lt;mn&gt;1&lt;/mn&gt;&lt;mn&gt;10&lt;/mn&gt;&lt;/mfrac&gt;&lt;/math&gt;" id="1044" name="Google Shape;1044;p80" title="one tenth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900200" y="2450325"/>
            <a:ext cx="226136" cy="4191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1}{10}&quot;&gt;&lt;mfrac&gt;&lt;mn&gt;1&lt;/mn&gt;&lt;mn&gt;10&lt;/mn&gt;&lt;/mfrac&gt;&lt;/math&gt;" id="1045" name="Google Shape;1045;p80" title="one tenth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296450" y="2450325"/>
            <a:ext cx="226136" cy="4191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1}{10}&quot;&gt;&lt;mfrac&gt;&lt;mn&gt;1&lt;/mn&gt;&lt;mn&gt;10&lt;/mn&gt;&lt;/mfrac&gt;&lt;/math&gt;" id="1046" name="Google Shape;1046;p80" title="one tenth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07925" y="2450325"/>
            <a:ext cx="226136" cy="419100"/>
          </a:xfrm>
          <a:prstGeom prst="rect">
            <a:avLst/>
          </a:prstGeom>
          <a:noFill/>
          <a:ln>
            <a:noFill/>
          </a:ln>
        </p:spPr>
      </p:pic>
      <p:sp>
        <p:nvSpPr>
          <p:cNvPr id="1047" name="Google Shape;1047;p80"/>
          <p:cNvSpPr txBox="1"/>
          <p:nvPr/>
        </p:nvSpPr>
        <p:spPr>
          <a:xfrm>
            <a:off x="4437500" y="3270900"/>
            <a:ext cx="53874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9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×    ×     ×     ×     ×    ×     ×    ×10×10×10</a:t>
            </a:r>
            <a:r>
              <a:rPr lang="en-GB" sz="2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    </a:t>
            </a:r>
            <a:endParaRPr/>
          </a:p>
        </p:txBody>
      </p:sp>
      <p:pic>
        <p:nvPicPr>
          <p:cNvPr descr="&lt;math xmlns=&quot;http://www.w3.org/1998/Math/MathML&quot; display=&quot;block&quot; data-is-equatio=&quot;1&quot; data-latex=&quot;\frac{1}{10}&quot;&gt;&lt;mfrac&gt;&lt;mn&gt;1&lt;/mn&gt;&lt;mn&gt;10&lt;/mn&gt;&lt;/mfrac&gt;&lt;/math&gt;" id="1048" name="Google Shape;1048;p80" title="one tenth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824000" y="3315300"/>
            <a:ext cx="226136" cy="4191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1}{10}&quot;&gt;&lt;mfrac&gt;&lt;mn&gt;1&lt;/mn&gt;&lt;mn&gt;10&lt;/mn&gt;&lt;/mfrac&gt;&lt;/math&gt;" id="1049" name="Google Shape;1049;p80" title="one tenth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205000" y="3315300"/>
            <a:ext cx="226136" cy="4191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1}{10}&quot;&gt;&lt;mfrac&gt;&lt;mn&gt;1&lt;/mn&gt;&lt;mn&gt;10&lt;/mn&gt;&lt;/mfrac&gt;&lt;/math&gt;" id="1050" name="Google Shape;1050;p80" title="one tenth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662200" y="3315300"/>
            <a:ext cx="226136" cy="4191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1}{10}&quot;&gt;&lt;mfrac&gt;&lt;mn&gt;1&lt;/mn&gt;&lt;mn&gt;10&lt;/mn&gt;&lt;/mfrac&gt;&lt;/math&gt;" id="1051" name="Google Shape;1051;p80" title="one tenth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143737" y="3315300"/>
            <a:ext cx="226136" cy="4191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1}{10}&quot;&gt;&lt;mfrac&gt;&lt;mn&gt;1&lt;/mn&gt;&lt;mn&gt;10&lt;/mn&gt;&lt;/mfrac&gt;&lt;/math&gt;" id="1052" name="Google Shape;1052;p80" title="one tenth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500400" y="3315300"/>
            <a:ext cx="226136" cy="4191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1}{10}&quot;&gt;&lt;mfrac&gt;&lt;mn&gt;1&lt;/mn&gt;&lt;mn&gt;10&lt;/mn&gt;&lt;/mfrac&gt;&lt;/math&gt;" id="1053" name="Google Shape;1053;p80" title="one tenth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881400" y="3315300"/>
            <a:ext cx="226136" cy="4191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1}{10}&quot;&gt;&lt;mfrac&gt;&lt;mn&gt;1&lt;/mn&gt;&lt;mn&gt;10&lt;/mn&gt;&lt;/mfrac&gt;&lt;/math&gt;" id="1054" name="Google Shape;1054;p80" title="one tenth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338600" y="3315300"/>
            <a:ext cx="226136" cy="419100"/>
          </a:xfrm>
          <a:prstGeom prst="rect">
            <a:avLst/>
          </a:prstGeom>
          <a:noFill/>
          <a:ln>
            <a:noFill/>
          </a:ln>
        </p:spPr>
      </p:pic>
      <p:sp>
        <p:nvSpPr>
          <p:cNvPr id="1055" name="Google Shape;1055;p80"/>
          <p:cNvSpPr txBox="1"/>
          <p:nvPr/>
        </p:nvSpPr>
        <p:spPr>
          <a:xfrm>
            <a:off x="3563100" y="4065600"/>
            <a:ext cx="5387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4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×     × 10 × 10 </a:t>
            </a:r>
            <a:endParaRPr/>
          </a:p>
        </p:txBody>
      </p:sp>
      <p:pic>
        <p:nvPicPr>
          <p:cNvPr descr="&lt;math xmlns=&quot;http://www.w3.org/1998/Math/MathML&quot; display=&quot;block&quot; data-is-equatio=&quot;1&quot; data-latex=&quot;\frac{1}{10}&quot;&gt;&lt;mfrac&gt;&lt;mn&gt;1&lt;/mn&gt;&lt;mn&gt;10&lt;/mn&gt;&lt;/mfrac&gt;&lt;/math&gt;" id="1056" name="Google Shape;1056;p80" title="one tenth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020900" y="4110000"/>
            <a:ext cx="226136" cy="419100"/>
          </a:xfrm>
          <a:prstGeom prst="rect">
            <a:avLst/>
          </a:prstGeom>
          <a:noFill/>
          <a:ln>
            <a:noFill/>
          </a:ln>
        </p:spPr>
      </p:pic>
      <p:sp>
        <p:nvSpPr>
          <p:cNvPr id="1057" name="Google Shape;1057;p80"/>
          <p:cNvSpPr/>
          <p:nvPr/>
        </p:nvSpPr>
        <p:spPr>
          <a:xfrm>
            <a:off x="5050125" y="1568213"/>
            <a:ext cx="885300" cy="613500"/>
          </a:xfrm>
          <a:prstGeom prst="rect">
            <a:avLst/>
          </a:prstGeom>
          <a:solidFill>
            <a:srgbClr val="FFFF00">
              <a:alpha val="3861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58" name="Google Shape;1058;p80"/>
          <p:cNvSpPr/>
          <p:nvPr/>
        </p:nvSpPr>
        <p:spPr>
          <a:xfrm>
            <a:off x="4875443" y="2383225"/>
            <a:ext cx="2150400" cy="613500"/>
          </a:xfrm>
          <a:prstGeom prst="rect">
            <a:avLst/>
          </a:prstGeom>
          <a:solidFill>
            <a:srgbClr val="FFFF00">
              <a:alpha val="3861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59" name="Google Shape;1059;p80"/>
          <p:cNvSpPr/>
          <p:nvPr/>
        </p:nvSpPr>
        <p:spPr>
          <a:xfrm>
            <a:off x="6426900" y="3224400"/>
            <a:ext cx="2267700" cy="613500"/>
          </a:xfrm>
          <a:prstGeom prst="rect">
            <a:avLst/>
          </a:prstGeom>
          <a:solidFill>
            <a:srgbClr val="FFFF00">
              <a:alpha val="3861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60" name="Google Shape;1060;p80"/>
          <p:cNvSpPr/>
          <p:nvPr/>
        </p:nvSpPr>
        <p:spPr>
          <a:xfrm>
            <a:off x="4020900" y="4008275"/>
            <a:ext cx="711300" cy="613500"/>
          </a:xfrm>
          <a:prstGeom prst="rect">
            <a:avLst/>
          </a:prstGeom>
          <a:solidFill>
            <a:srgbClr val="FFFF00">
              <a:alpha val="3861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4" name="Shape 10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65" name="Google Shape;1065;p81"/>
          <p:cNvPicPr preferRelativeResize="0"/>
          <p:nvPr/>
        </p:nvPicPr>
        <p:blipFill rotWithShape="1">
          <a:blip r:embed="rId3">
            <a:alphaModFix/>
          </a:blip>
          <a:srcRect b="0" l="0" r="69082" t="56280"/>
          <a:stretch/>
        </p:blipFill>
        <p:spPr>
          <a:xfrm>
            <a:off x="5288950" y="619362"/>
            <a:ext cx="2930048" cy="13794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066" name="Google Shape;1066;p81"/>
          <p:cNvPicPr preferRelativeResize="0"/>
          <p:nvPr/>
        </p:nvPicPr>
        <p:blipFill rotWithShape="1">
          <a:blip r:embed="rId3">
            <a:alphaModFix/>
          </a:blip>
          <a:srcRect b="6172" l="40550" r="0" t="13240"/>
          <a:stretch/>
        </p:blipFill>
        <p:spPr>
          <a:xfrm>
            <a:off x="927000" y="670850"/>
            <a:ext cx="4095898" cy="1245926"/>
          </a:xfrm>
          <a:prstGeom prst="rect">
            <a:avLst/>
          </a:prstGeom>
          <a:noFill/>
          <a:ln>
            <a:noFill/>
          </a:ln>
        </p:spPr>
      </p:pic>
      <p:sp>
        <p:nvSpPr>
          <p:cNvPr id="1067" name="Google Shape;1067;p81"/>
          <p:cNvSpPr txBox="1"/>
          <p:nvPr>
            <p:ph idx="1" type="body"/>
          </p:nvPr>
        </p:nvSpPr>
        <p:spPr>
          <a:xfrm>
            <a:off x="1209300" y="891950"/>
            <a:ext cx="3614700" cy="834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100"/>
              <a:t>Does it also apply with a negative exponent?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/>
          </a:p>
        </p:txBody>
      </p:sp>
      <p:sp>
        <p:nvSpPr>
          <p:cNvPr id="1068" name="Google Shape;1068;p81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Not quite standard form numbers</a:t>
            </a:r>
            <a:endParaRPr/>
          </a:p>
        </p:txBody>
      </p:sp>
      <p:pic>
        <p:nvPicPr>
          <p:cNvPr id="1069" name="Google Shape;1069;p8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08750" y="1870600"/>
            <a:ext cx="619035" cy="694851"/>
          </a:xfrm>
          <a:prstGeom prst="rect">
            <a:avLst/>
          </a:prstGeom>
          <a:noFill/>
          <a:ln>
            <a:noFill/>
          </a:ln>
        </p:spPr>
      </p:pic>
      <p:sp>
        <p:nvSpPr>
          <p:cNvPr id="1070" name="Google Shape;1070;p81"/>
          <p:cNvSpPr txBox="1"/>
          <p:nvPr/>
        </p:nvSpPr>
        <p:spPr>
          <a:xfrm>
            <a:off x="423350" y="2634050"/>
            <a:ext cx="8853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Lucas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071" name="Google Shape;1071;p8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flipH="1">
            <a:off x="7986625" y="1916763"/>
            <a:ext cx="552400" cy="795462"/>
          </a:xfrm>
          <a:prstGeom prst="rect">
            <a:avLst/>
          </a:prstGeom>
          <a:noFill/>
          <a:ln>
            <a:noFill/>
          </a:ln>
        </p:spPr>
      </p:pic>
      <p:sp>
        <p:nvSpPr>
          <p:cNvPr id="1072" name="Google Shape;1072;p81"/>
          <p:cNvSpPr txBox="1"/>
          <p:nvPr/>
        </p:nvSpPr>
        <p:spPr>
          <a:xfrm>
            <a:off x="7745450" y="2788813"/>
            <a:ext cx="8853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Sam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73" name="Google Shape;1073;p81"/>
          <p:cNvSpPr txBox="1"/>
          <p:nvPr/>
        </p:nvSpPr>
        <p:spPr>
          <a:xfrm>
            <a:off x="5288950" y="803575"/>
            <a:ext cx="2751000" cy="32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Good question. Let’s find out.</a:t>
            </a:r>
            <a:endParaRPr sz="2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74" name="Google Shape;1074;p81"/>
          <p:cNvSpPr txBox="1"/>
          <p:nvPr>
            <p:ph idx="1" type="body"/>
          </p:nvPr>
        </p:nvSpPr>
        <p:spPr>
          <a:xfrm>
            <a:off x="423350" y="3102325"/>
            <a:ext cx="82491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Before Lucas and Sam investigate, what do you think?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/>
              <a:t>Have a look at this question and see, if you continue to subtract from the exponent when A is too small and there is a negative exponent. </a:t>
            </a:r>
            <a:endParaRPr/>
          </a:p>
        </p:txBody>
      </p:sp>
      <p:sp>
        <p:nvSpPr>
          <p:cNvPr id="1075" name="Google Shape;1075;p81"/>
          <p:cNvSpPr txBox="1"/>
          <p:nvPr/>
        </p:nvSpPr>
        <p:spPr>
          <a:xfrm>
            <a:off x="3003850" y="1906050"/>
            <a:ext cx="30000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0.075</a:t>
            </a:r>
            <a:r>
              <a:rPr lang="en-GB" sz="2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× 10</a:t>
            </a:r>
            <a:r>
              <a:rPr baseline="30000" lang="en-GB" sz="2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−</a:t>
            </a:r>
            <a:r>
              <a:rPr baseline="30000" lang="en-GB" sz="2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8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4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4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9" name="Shape 10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0" name="Google Shape;1080;p82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Not quite standard form numbers</a:t>
            </a:r>
            <a:endParaRPr/>
          </a:p>
        </p:txBody>
      </p:sp>
      <p:pic>
        <p:nvPicPr>
          <p:cNvPr id="1081" name="Google Shape;1081;p8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08750" y="1870600"/>
            <a:ext cx="619035" cy="694851"/>
          </a:xfrm>
          <a:prstGeom prst="rect">
            <a:avLst/>
          </a:prstGeom>
          <a:noFill/>
          <a:ln>
            <a:noFill/>
          </a:ln>
        </p:spPr>
      </p:pic>
      <p:sp>
        <p:nvSpPr>
          <p:cNvPr id="1082" name="Google Shape;1082;p82"/>
          <p:cNvSpPr txBox="1"/>
          <p:nvPr/>
        </p:nvSpPr>
        <p:spPr>
          <a:xfrm>
            <a:off x="423350" y="2634050"/>
            <a:ext cx="8853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Lucas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83" name="Google Shape;1083;p82"/>
          <p:cNvSpPr txBox="1"/>
          <p:nvPr>
            <p:ph idx="1" type="body"/>
          </p:nvPr>
        </p:nvSpPr>
        <p:spPr>
          <a:xfrm>
            <a:off x="3394138" y="1946313"/>
            <a:ext cx="2076000" cy="467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100"/>
              <a:t>0.075 </a:t>
            </a:r>
            <a:r>
              <a:rPr lang="en-GB" sz="2100"/>
              <a:t> × 10</a:t>
            </a:r>
            <a:r>
              <a:rPr baseline="30000" lang="en-GB" sz="2100"/>
              <a:t>−</a:t>
            </a:r>
            <a:r>
              <a:rPr baseline="30000" lang="en-GB" sz="2100"/>
              <a:t>8</a:t>
            </a:r>
            <a:r>
              <a:rPr lang="en-GB"/>
              <a:t> 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/>
          </a:p>
        </p:txBody>
      </p:sp>
      <p:grpSp>
        <p:nvGrpSpPr>
          <p:cNvPr id="1084" name="Google Shape;1084;p82"/>
          <p:cNvGrpSpPr/>
          <p:nvPr/>
        </p:nvGrpSpPr>
        <p:grpSpPr>
          <a:xfrm>
            <a:off x="3705537" y="2210750"/>
            <a:ext cx="619030" cy="248218"/>
            <a:chOff x="3910829" y="1040975"/>
            <a:chExt cx="335100" cy="248218"/>
          </a:xfrm>
        </p:grpSpPr>
        <p:sp>
          <p:nvSpPr>
            <p:cNvPr id="1085" name="Google Shape;1085;p82"/>
            <p:cNvSpPr/>
            <p:nvPr/>
          </p:nvSpPr>
          <p:spPr>
            <a:xfrm rot="5400000">
              <a:off x="4048829" y="902975"/>
              <a:ext cx="59100" cy="335100"/>
            </a:xfrm>
            <a:prstGeom prst="rightBracket">
              <a:avLst>
                <a:gd fmla="val 8333" name="adj"/>
              </a:avLst>
            </a:prstGeom>
            <a:noFill/>
            <a:ln cap="flat" cmpd="sng" w="28575">
              <a:solidFill>
                <a:srgbClr val="80808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1086" name="Google Shape;1086;p82"/>
            <p:cNvCxnSpPr/>
            <p:nvPr/>
          </p:nvCxnSpPr>
          <p:spPr>
            <a:xfrm flipH="1">
              <a:off x="3947254" y="1095993"/>
              <a:ext cx="2400" cy="193200"/>
            </a:xfrm>
            <a:prstGeom prst="straightConnector1">
              <a:avLst/>
            </a:prstGeom>
            <a:noFill/>
            <a:ln cap="flat" cmpd="sng" w="19050">
              <a:solidFill>
                <a:srgbClr val="808080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1087" name="Google Shape;1087;p82"/>
          <p:cNvSpPr txBox="1"/>
          <p:nvPr/>
        </p:nvSpPr>
        <p:spPr>
          <a:xfrm>
            <a:off x="3756600" y="3591775"/>
            <a:ext cx="16308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7.5</a:t>
            </a:r>
            <a:r>
              <a:rPr lang="en-GB" sz="2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× 10</a:t>
            </a:r>
            <a:r>
              <a:rPr baseline="30000" lang="en-GB" sz="2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−</a:t>
            </a:r>
            <a:r>
              <a:rPr baseline="30000" lang="en-GB" sz="2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10</a:t>
            </a:r>
            <a:endParaRPr/>
          </a:p>
        </p:txBody>
      </p:sp>
      <p:pic>
        <p:nvPicPr>
          <p:cNvPr id="1088" name="Google Shape;1088;p82"/>
          <p:cNvPicPr preferRelativeResize="0"/>
          <p:nvPr/>
        </p:nvPicPr>
        <p:blipFill rotWithShape="1">
          <a:blip r:embed="rId4">
            <a:alphaModFix/>
          </a:blip>
          <a:srcRect b="0" l="0" r="69082" t="56280"/>
          <a:stretch/>
        </p:blipFill>
        <p:spPr>
          <a:xfrm>
            <a:off x="5219875" y="545175"/>
            <a:ext cx="3229501" cy="1945049"/>
          </a:xfrm>
          <a:prstGeom prst="rect">
            <a:avLst/>
          </a:prstGeom>
          <a:noFill/>
          <a:ln>
            <a:noFill/>
          </a:ln>
        </p:spPr>
      </p:pic>
      <p:sp>
        <p:nvSpPr>
          <p:cNvPr id="1089" name="Google Shape;1089;p82"/>
          <p:cNvSpPr txBox="1"/>
          <p:nvPr>
            <p:ph idx="1" type="body"/>
          </p:nvPr>
        </p:nvSpPr>
        <p:spPr>
          <a:xfrm>
            <a:off x="5317250" y="793050"/>
            <a:ext cx="2934900" cy="1296900"/>
          </a:xfrm>
          <a:prstGeom prst="rect">
            <a:avLst/>
          </a:prstGeom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/>
              <a:t>Now we can count the number of     as this will be the negative exponent of 10.</a:t>
            </a:r>
            <a:endParaRPr sz="21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2100"/>
          </a:p>
        </p:txBody>
      </p:sp>
      <p:pic>
        <p:nvPicPr>
          <p:cNvPr descr="&lt;math xmlns=&quot;http://www.w3.org/1998/Math/MathML&quot; display=&quot;block&quot; data-is-equatio=&quot;1&quot; data-latex=&quot;\frac{1}{10}&quot;&gt;&lt;mfrac&gt;&lt;mn&gt;1&lt;/mn&gt;&lt;mn&gt;10&lt;/mn&gt;&lt;/mfrac&gt;&lt;/math&gt;" id="1090" name="Google Shape;1090;p82" title="one tenth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671638" y="1079989"/>
            <a:ext cx="226120" cy="419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91" name="Google Shape;1091;p82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 flipH="1">
            <a:off x="8092375" y="2203701"/>
            <a:ext cx="552400" cy="795462"/>
          </a:xfrm>
          <a:prstGeom prst="rect">
            <a:avLst/>
          </a:prstGeom>
          <a:noFill/>
          <a:ln>
            <a:noFill/>
          </a:ln>
        </p:spPr>
      </p:pic>
      <p:sp>
        <p:nvSpPr>
          <p:cNvPr id="1092" name="Google Shape;1092;p82"/>
          <p:cNvSpPr txBox="1"/>
          <p:nvPr/>
        </p:nvSpPr>
        <p:spPr>
          <a:xfrm>
            <a:off x="7876300" y="3083238"/>
            <a:ext cx="8853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Sam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93" name="Google Shape;1093;p82"/>
          <p:cNvSpPr/>
          <p:nvPr/>
        </p:nvSpPr>
        <p:spPr>
          <a:xfrm rot="-5400000">
            <a:off x="2962900" y="1607700"/>
            <a:ext cx="97200" cy="1709700"/>
          </a:xfrm>
          <a:prstGeom prst="rightBracket">
            <a:avLst>
              <a:gd fmla="val 8333" name="adj"/>
            </a:avLst>
          </a:prstGeom>
          <a:noFill/>
          <a:ln cap="flat" cmpd="sng" w="28575">
            <a:solidFill>
              <a:srgbClr val="80808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94" name="Google Shape;1094;p82"/>
          <p:cNvSpPr txBox="1"/>
          <p:nvPr/>
        </p:nvSpPr>
        <p:spPr>
          <a:xfrm>
            <a:off x="2190501" y="2414025"/>
            <a:ext cx="21366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7.5 ×     ×      </a:t>
            </a:r>
            <a:endParaRPr/>
          </a:p>
        </p:txBody>
      </p:sp>
      <p:pic>
        <p:nvPicPr>
          <p:cNvPr descr="&lt;math xmlns=&quot;http://www.w3.org/1998/Math/MathML&quot; display=&quot;block&quot; data-is-equatio=&quot;1&quot; data-latex=&quot;\frac{1}{10}&quot;&gt;&lt;mfrac&gt;&lt;mn&gt;1&lt;/mn&gt;&lt;mn&gt;10&lt;/mn&gt;&lt;/mfrac&gt;&lt;/math&gt;" id="1095" name="Google Shape;1095;p82" title="one tenth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887200" y="2458425"/>
            <a:ext cx="226136" cy="4191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1}{10}&quot;&gt;&lt;mfrac&gt;&lt;mn&gt;1&lt;/mn&gt;&lt;mn&gt;10&lt;/mn&gt;&lt;/mfrac&gt;&lt;/math&gt;" id="1096" name="Google Shape;1096;p82" title="one tenth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448762" y="2458425"/>
            <a:ext cx="226136" cy="419100"/>
          </a:xfrm>
          <a:prstGeom prst="rect">
            <a:avLst/>
          </a:prstGeom>
          <a:noFill/>
          <a:ln>
            <a:noFill/>
          </a:ln>
        </p:spPr>
      </p:pic>
      <p:sp>
        <p:nvSpPr>
          <p:cNvPr id="1097" name="Google Shape;1097;p82"/>
          <p:cNvSpPr txBox="1"/>
          <p:nvPr/>
        </p:nvSpPr>
        <p:spPr>
          <a:xfrm>
            <a:off x="3720450" y="2467353"/>
            <a:ext cx="39555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×     ×     ×     ×     ×     ×    ×     ×</a:t>
            </a:r>
            <a:endParaRPr/>
          </a:p>
        </p:txBody>
      </p:sp>
      <p:pic>
        <p:nvPicPr>
          <p:cNvPr descr="&lt;math xmlns=&quot;http://www.w3.org/1998/Math/MathML&quot; display=&quot;block&quot; data-is-equatio=&quot;1&quot; data-latex=&quot;\frac{1}{10}&quot;&gt;&lt;mfrac&gt;&lt;mn&gt;1&lt;/mn&gt;&lt;mn&gt;10&lt;/mn&gt;&lt;/mfrac&gt;&lt;/math&gt;" id="1098" name="Google Shape;1098;p82" title="one tenth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495800" y="2445229"/>
            <a:ext cx="226120" cy="4190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1}{10}&quot;&gt;&lt;mfrac&gt;&lt;mn&gt;1&lt;/mn&gt;&lt;mn&gt;10&lt;/mn&gt;&lt;/mfrac&gt;&lt;/math&gt;" id="1099" name="Google Shape;1099;p82" title="one tenth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014925" y="2445229"/>
            <a:ext cx="226120" cy="4190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1}{10}&quot;&gt;&lt;mfrac&gt;&lt;mn&gt;1&lt;/mn&gt;&lt;mn&gt;10&lt;/mn&gt;&lt;/mfrac&gt;&lt;/math&gt;" id="1100" name="Google Shape;1100;p82" title="one tenth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493325" y="2445229"/>
            <a:ext cx="226120" cy="4190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1}{10}&quot;&gt;&lt;mfrac&gt;&lt;mn&gt;1&lt;/mn&gt;&lt;mn&gt;10&lt;/mn&gt;&lt;/mfrac&gt;&lt;/math&gt;" id="1101" name="Google Shape;1101;p82" title="one tenth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004438" y="2445229"/>
            <a:ext cx="226120" cy="4190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1}{10}&quot;&gt;&lt;mfrac&gt;&lt;mn&gt;1&lt;/mn&gt;&lt;mn&gt;10&lt;/mn&gt;&lt;/mfrac&gt;&lt;/math&gt;" id="1102" name="Google Shape;1102;p82" title="one tenth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957425" y="2445229"/>
            <a:ext cx="226120" cy="4190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1}{10}&quot;&gt;&lt;mfrac&gt;&lt;mn&gt;1&lt;/mn&gt;&lt;mn&gt;10&lt;/mn&gt;&lt;/mfrac&gt;&lt;/math&gt;" id="1103" name="Google Shape;1103;p82" title="one tenth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433925" y="2445229"/>
            <a:ext cx="226120" cy="4190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1}{10}&quot;&gt;&lt;mfrac&gt;&lt;mn&gt;1&lt;/mn&gt;&lt;mn&gt;10&lt;/mn&gt;&lt;/mfrac&gt;&lt;/math&gt;" id="1104" name="Google Shape;1104;p82" title="one tenth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017675" y="2445229"/>
            <a:ext cx="226120" cy="4190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1}{10}&quot;&gt;&lt;mfrac&gt;&lt;mn&gt;1&lt;/mn&gt;&lt;mn&gt;10&lt;/mn&gt;&lt;/mfrac&gt;&lt;/math&gt;" id="1105" name="Google Shape;1105;p82" title="one tenth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515550" y="2445229"/>
            <a:ext cx="226120" cy="419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06" name="Google Shape;1106;p82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5006196" y="3636175"/>
            <a:ext cx="396000" cy="419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0" name="Shape 1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1" name="Google Shape;1111;p83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Which of the following are correct? If incorrect, write the correct answer</a:t>
            </a:r>
            <a:endParaRPr/>
          </a:p>
        </p:txBody>
      </p:sp>
      <p:sp>
        <p:nvSpPr>
          <p:cNvPr id="1112" name="Google Shape;1112;p83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Not quite standard form numbers</a:t>
            </a:r>
            <a:endParaRPr/>
          </a:p>
        </p:txBody>
      </p:sp>
      <p:sp>
        <p:nvSpPr>
          <p:cNvPr id="1113" name="Google Shape;1113;p83"/>
          <p:cNvSpPr txBox="1"/>
          <p:nvPr>
            <p:ph idx="1" type="subTitle"/>
          </p:nvPr>
        </p:nvSpPr>
        <p:spPr>
          <a:xfrm>
            <a:off x="1070700" y="16853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100"/>
              <a:t>0.28 × 10</a:t>
            </a:r>
            <a:r>
              <a:rPr baseline="30000" lang="en-GB" sz="2100"/>
              <a:t>−</a:t>
            </a:r>
            <a:r>
              <a:rPr baseline="30000" lang="en-GB" sz="2100"/>
              <a:t>2 </a:t>
            </a:r>
            <a:r>
              <a:rPr lang="en-GB" sz="2100"/>
              <a:t>= 2.8 × 10</a:t>
            </a:r>
            <a:r>
              <a:rPr baseline="30000" lang="en-GB" sz="2100"/>
              <a:t>−</a:t>
            </a:r>
            <a:r>
              <a:rPr baseline="30000" lang="en-GB" sz="2100"/>
              <a:t>3</a:t>
            </a:r>
            <a:endParaRPr/>
          </a:p>
        </p:txBody>
      </p:sp>
      <p:sp>
        <p:nvSpPr>
          <p:cNvPr id="1114" name="Google Shape;1114;p83"/>
          <p:cNvSpPr txBox="1"/>
          <p:nvPr>
            <p:ph idx="3" type="subTitle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100"/>
              <a:t>0.0034 × 10</a:t>
            </a:r>
            <a:r>
              <a:rPr baseline="30000" lang="en-GB" sz="2100"/>
              <a:t>−5</a:t>
            </a:r>
            <a:r>
              <a:rPr baseline="30000" lang="en-GB" sz="2100"/>
              <a:t> </a:t>
            </a:r>
            <a:r>
              <a:rPr lang="en-GB" sz="2100"/>
              <a:t>= 3.4 × 10</a:t>
            </a:r>
            <a:r>
              <a:rPr baseline="30000" lang="en-GB" sz="2100"/>
              <a:t>−</a:t>
            </a:r>
            <a:r>
              <a:rPr baseline="30000" lang="en-GB" sz="2100"/>
              <a:t>2</a:t>
            </a:r>
            <a:endParaRPr/>
          </a:p>
        </p:txBody>
      </p:sp>
      <p:sp>
        <p:nvSpPr>
          <p:cNvPr id="1115" name="Google Shape;1115;p83"/>
          <p:cNvSpPr txBox="1"/>
          <p:nvPr>
            <p:ph idx="4" type="subTitle"/>
          </p:nvPr>
        </p:nvSpPr>
        <p:spPr>
          <a:xfrm>
            <a:off x="1034425" y="3309775"/>
            <a:ext cx="3789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100"/>
              <a:t>0.000 000 9 × 10</a:t>
            </a:r>
            <a:r>
              <a:rPr baseline="30000" lang="en-GB" sz="2100"/>
              <a:t>−23</a:t>
            </a:r>
            <a:r>
              <a:rPr baseline="30000" lang="en-GB" sz="2100"/>
              <a:t> </a:t>
            </a:r>
            <a:r>
              <a:rPr lang="en-GB" sz="2100"/>
              <a:t>= 9 × 10</a:t>
            </a:r>
            <a:r>
              <a:rPr baseline="30000" lang="en-GB" sz="2100"/>
              <a:t>−</a:t>
            </a:r>
            <a:r>
              <a:rPr baseline="30000" lang="en-GB" sz="2100"/>
              <a:t>31</a:t>
            </a:r>
            <a:endParaRPr/>
          </a:p>
        </p:txBody>
      </p:sp>
      <p:sp>
        <p:nvSpPr>
          <p:cNvPr id="1116" name="Google Shape;1116;p83"/>
          <p:cNvSpPr txBox="1"/>
          <p:nvPr>
            <p:ph idx="5" type="subTitle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100"/>
              <a:t>0.4 × 10</a:t>
            </a:r>
            <a:r>
              <a:rPr baseline="30000" lang="en-GB" sz="2100"/>
              <a:t>1</a:t>
            </a:r>
            <a:r>
              <a:rPr baseline="30000" lang="en-GB" sz="2100"/>
              <a:t> </a:t>
            </a:r>
            <a:r>
              <a:rPr lang="en-GB" sz="2100"/>
              <a:t>= 4 × 10</a:t>
            </a:r>
            <a:endParaRPr/>
          </a:p>
        </p:txBody>
      </p:sp>
      <p:pic>
        <p:nvPicPr>
          <p:cNvPr id="1117" name="Google Shape;1117;p8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563108" y="1684975"/>
            <a:ext cx="396000" cy="419100"/>
          </a:xfrm>
          <a:prstGeom prst="rect">
            <a:avLst/>
          </a:prstGeom>
          <a:noFill/>
          <a:ln>
            <a:noFill/>
          </a:ln>
        </p:spPr>
      </p:pic>
      <p:sp>
        <p:nvSpPr>
          <p:cNvPr id="1118" name="Google Shape;1118;p83"/>
          <p:cNvSpPr txBox="1"/>
          <p:nvPr/>
        </p:nvSpPr>
        <p:spPr>
          <a:xfrm>
            <a:off x="4274400" y="2405925"/>
            <a:ext cx="45987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1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0.0034 × 10</a:t>
            </a:r>
            <a:r>
              <a:rPr baseline="30000" lang="en-GB" sz="21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−</a:t>
            </a:r>
            <a:r>
              <a:rPr baseline="30000" lang="en-GB" sz="21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5 </a:t>
            </a:r>
            <a:r>
              <a:rPr lang="en-GB" sz="21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= 3.4 × 10</a:t>
            </a:r>
            <a:r>
              <a:rPr baseline="30000" lang="en-GB" sz="21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−8</a:t>
            </a:r>
            <a:endParaRPr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119" name="Google Shape;1119;p83"/>
          <p:cNvSpPr txBox="1"/>
          <p:nvPr/>
        </p:nvSpPr>
        <p:spPr>
          <a:xfrm>
            <a:off x="4703300" y="3173475"/>
            <a:ext cx="42768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1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0.000 000</a:t>
            </a:r>
            <a:r>
              <a:rPr lang="en-GB" sz="21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 9 × 10</a:t>
            </a:r>
            <a:r>
              <a:rPr baseline="30000" lang="en-GB" sz="21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−23 </a:t>
            </a:r>
            <a:r>
              <a:rPr lang="en-GB" sz="21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= </a:t>
            </a:r>
            <a:r>
              <a:rPr lang="en-GB" sz="21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 9 × 10</a:t>
            </a:r>
            <a:r>
              <a:rPr baseline="30000" lang="en-GB" sz="21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−30 </a:t>
            </a:r>
            <a:endParaRPr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120" name="Google Shape;1120;p83"/>
          <p:cNvSpPr txBox="1"/>
          <p:nvPr/>
        </p:nvSpPr>
        <p:spPr>
          <a:xfrm>
            <a:off x="3415825" y="3976300"/>
            <a:ext cx="30000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1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0.4 × 10</a:t>
            </a:r>
            <a:r>
              <a:rPr baseline="30000" lang="en-GB" sz="21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1 </a:t>
            </a:r>
            <a:r>
              <a:rPr lang="en-GB" sz="21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= 4 × 10</a:t>
            </a:r>
            <a:r>
              <a:rPr baseline="30000" lang="en-GB" sz="21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0</a:t>
            </a:r>
            <a:endParaRPr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4" name="Shape 1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5" name="Google Shape;1125;p84"/>
          <p:cNvSpPr txBox="1"/>
          <p:nvPr>
            <p:ph idx="1" type="body"/>
          </p:nvPr>
        </p:nvSpPr>
        <p:spPr>
          <a:xfrm>
            <a:off x="324000" y="759300"/>
            <a:ext cx="8237700" cy="4006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AutoNum type="arabicParenR"/>
            </a:pPr>
            <a:r>
              <a:rPr lang="en-GB"/>
              <a:t>Write the following in correct standard form:</a:t>
            </a:r>
            <a:endParaRPr/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AutoNum type="alphaLcParenR"/>
            </a:pPr>
            <a:r>
              <a:rPr lang="en-GB" sz="2100"/>
              <a:t>39</a:t>
            </a:r>
            <a:r>
              <a:rPr lang="en-GB" sz="2100"/>
              <a:t>8 × 10</a:t>
            </a:r>
            <a:r>
              <a:rPr baseline="30000" lang="en-GB" sz="2100"/>
              <a:t>34 </a:t>
            </a:r>
            <a:endParaRPr/>
          </a:p>
          <a:p>
            <a:pPr indent="-368300" lvl="0" marL="457200" rtl="0" algn="l">
              <a:spcBef>
                <a:spcPts val="1000"/>
              </a:spcBef>
              <a:spcAft>
                <a:spcPts val="0"/>
              </a:spcAft>
              <a:buSzPts val="2200"/>
              <a:buAutoNum type="alphaLcParenR"/>
            </a:pPr>
            <a:r>
              <a:rPr lang="en-GB" sz="2100"/>
              <a:t>9000</a:t>
            </a:r>
            <a:r>
              <a:rPr lang="en-GB" sz="2100"/>
              <a:t> × 10</a:t>
            </a:r>
            <a:r>
              <a:rPr baseline="30000" lang="en-GB" sz="2100"/>
              <a:t>24 </a:t>
            </a:r>
            <a:endParaRPr/>
          </a:p>
          <a:p>
            <a:pPr indent="-368300" lvl="0" marL="457200" rtl="0" algn="l">
              <a:spcBef>
                <a:spcPts val="1000"/>
              </a:spcBef>
              <a:spcAft>
                <a:spcPts val="0"/>
              </a:spcAft>
              <a:buSzPts val="2200"/>
              <a:buAutoNum type="alphaLcParenR"/>
            </a:pPr>
            <a:r>
              <a:rPr lang="en-GB" sz="2100"/>
              <a:t>340 </a:t>
            </a:r>
            <a:r>
              <a:rPr lang="en-GB" sz="2100"/>
              <a:t>× 10</a:t>
            </a:r>
            <a:r>
              <a:rPr baseline="30000" lang="en-GB" sz="2100"/>
              <a:t>9</a:t>
            </a:r>
            <a:endParaRPr/>
          </a:p>
          <a:p>
            <a:pPr indent="-368300" lvl="0" marL="457200" rtl="0" algn="l">
              <a:spcBef>
                <a:spcPts val="1000"/>
              </a:spcBef>
              <a:spcAft>
                <a:spcPts val="0"/>
              </a:spcAft>
              <a:buSzPts val="2200"/>
              <a:buAutoNum type="alphaLcParenR"/>
            </a:pPr>
            <a:r>
              <a:rPr lang="en-GB" sz="2100"/>
              <a:t>89 000</a:t>
            </a:r>
            <a:r>
              <a:rPr lang="en-GB" sz="2100"/>
              <a:t> × 10</a:t>
            </a:r>
            <a:r>
              <a:rPr baseline="30000" lang="en-GB" sz="2100"/>
              <a:t>18 </a:t>
            </a:r>
            <a:endParaRPr/>
          </a:p>
          <a:p>
            <a:pPr indent="-368300" lvl="0" marL="457200" rtl="0" algn="l">
              <a:spcBef>
                <a:spcPts val="1000"/>
              </a:spcBef>
              <a:spcAft>
                <a:spcPts val="0"/>
              </a:spcAft>
              <a:buSzPts val="2200"/>
              <a:buAutoNum type="alphaLcParenR"/>
            </a:pPr>
            <a:r>
              <a:rPr lang="en-GB" sz="2100"/>
              <a:t>42</a:t>
            </a:r>
            <a:r>
              <a:rPr lang="en-GB" sz="2100"/>
              <a:t> × 10</a:t>
            </a:r>
            <a:r>
              <a:rPr baseline="30000" lang="en-GB" sz="2100"/>
              <a:t>−5 </a:t>
            </a:r>
            <a:endParaRPr/>
          </a:p>
          <a:p>
            <a:pPr indent="-368300" lvl="0" marL="457200" rtl="0" algn="l">
              <a:spcBef>
                <a:spcPts val="1000"/>
              </a:spcBef>
              <a:spcAft>
                <a:spcPts val="0"/>
              </a:spcAft>
              <a:buSzPts val="2200"/>
              <a:buAutoNum type="alphaLcParenR"/>
            </a:pPr>
            <a:r>
              <a:rPr lang="en-GB" sz="2100"/>
              <a:t>490 000</a:t>
            </a:r>
            <a:r>
              <a:rPr lang="en-GB" sz="2100"/>
              <a:t> × 10</a:t>
            </a:r>
            <a:r>
              <a:rPr baseline="30000" lang="en-GB" sz="2100"/>
              <a:t>−12 </a:t>
            </a:r>
            <a:endParaRPr/>
          </a:p>
          <a:p>
            <a:pPr indent="-368300" lvl="0" marL="457200" rtl="0" algn="l">
              <a:spcBef>
                <a:spcPts val="1000"/>
              </a:spcBef>
              <a:spcAft>
                <a:spcPts val="0"/>
              </a:spcAft>
              <a:buSzPts val="2200"/>
              <a:buAutoNum type="alphaLcParenR"/>
            </a:pPr>
            <a:r>
              <a:rPr lang="en-GB" sz="2100"/>
              <a:t>99 × 10</a:t>
            </a:r>
            <a:r>
              <a:rPr baseline="30000" lang="en-GB" sz="2100"/>
              <a:t>−2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baseline="30000" sz="21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baseline="30000" sz="21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/>
          </a:p>
        </p:txBody>
      </p:sp>
      <p:sp>
        <p:nvSpPr>
          <p:cNvPr id="1126" name="Google Shape;1126;p84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Not quite standard form numbers</a:t>
            </a:r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0" name="Shape 1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1" name="Google Shape;1131;p85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Not quite standard form numbers</a:t>
            </a:r>
            <a:endParaRPr/>
          </a:p>
        </p:txBody>
      </p:sp>
      <p:sp>
        <p:nvSpPr>
          <p:cNvPr id="1132" name="Google Shape;1132;p85"/>
          <p:cNvSpPr txBox="1"/>
          <p:nvPr>
            <p:ph idx="1" type="body"/>
          </p:nvPr>
        </p:nvSpPr>
        <p:spPr>
          <a:xfrm>
            <a:off x="324000" y="759300"/>
            <a:ext cx="8237700" cy="4006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2) </a:t>
            </a:r>
            <a:r>
              <a:rPr lang="en-GB"/>
              <a:t>Write the following in correct standard form:</a:t>
            </a:r>
            <a:endParaRPr/>
          </a:p>
          <a:p>
            <a:pPr indent="-368300" lvl="0" marL="457200" rtl="0" algn="l">
              <a:spcBef>
                <a:spcPts val="1000"/>
              </a:spcBef>
              <a:spcAft>
                <a:spcPts val="0"/>
              </a:spcAft>
              <a:buSzPts val="2200"/>
              <a:buAutoNum type="alphaLcParenR"/>
            </a:pPr>
            <a:r>
              <a:rPr lang="en-GB" sz="2100"/>
              <a:t>0.034</a:t>
            </a:r>
            <a:r>
              <a:rPr lang="en-GB" sz="2100"/>
              <a:t> × 10</a:t>
            </a:r>
            <a:r>
              <a:rPr baseline="30000" lang="en-GB" sz="2100"/>
              <a:t>39</a:t>
            </a:r>
            <a:r>
              <a:rPr baseline="30000" lang="en-GB" sz="2100"/>
              <a:t> </a:t>
            </a:r>
            <a:endParaRPr/>
          </a:p>
          <a:p>
            <a:pPr indent="-368300" lvl="0" marL="457200" rtl="0" algn="l">
              <a:spcBef>
                <a:spcPts val="1000"/>
              </a:spcBef>
              <a:spcAft>
                <a:spcPts val="0"/>
              </a:spcAft>
              <a:buSzPts val="2200"/>
              <a:buAutoNum type="alphaLcParenR"/>
            </a:pPr>
            <a:r>
              <a:rPr lang="en-GB" sz="2100"/>
              <a:t>0.0056</a:t>
            </a:r>
            <a:r>
              <a:rPr lang="en-GB" sz="2100"/>
              <a:t> × 10</a:t>
            </a:r>
            <a:r>
              <a:rPr baseline="30000" lang="en-GB" sz="2100"/>
              <a:t>23</a:t>
            </a:r>
            <a:r>
              <a:rPr baseline="30000" lang="en-GB" sz="2100"/>
              <a:t> </a:t>
            </a:r>
            <a:endParaRPr/>
          </a:p>
          <a:p>
            <a:pPr indent="-368300" lvl="0" marL="457200" rtl="0" algn="l">
              <a:spcBef>
                <a:spcPts val="1000"/>
              </a:spcBef>
              <a:spcAft>
                <a:spcPts val="0"/>
              </a:spcAft>
              <a:buSzPts val="2200"/>
              <a:buAutoNum type="alphaLcParenR"/>
            </a:pPr>
            <a:r>
              <a:rPr lang="en-GB" sz="2100"/>
              <a:t>0.000 032</a:t>
            </a:r>
            <a:r>
              <a:rPr lang="en-GB" sz="2100"/>
              <a:t> × 10</a:t>
            </a:r>
            <a:r>
              <a:rPr baseline="30000" lang="en-GB" sz="2100"/>
              <a:t>9</a:t>
            </a:r>
            <a:r>
              <a:rPr baseline="30000" lang="en-GB" sz="2100"/>
              <a:t> </a:t>
            </a:r>
            <a:endParaRPr/>
          </a:p>
          <a:p>
            <a:pPr indent="-368300" lvl="0" marL="457200" rtl="0" algn="l">
              <a:spcBef>
                <a:spcPts val="1000"/>
              </a:spcBef>
              <a:spcAft>
                <a:spcPts val="0"/>
              </a:spcAft>
              <a:buSzPts val="2200"/>
              <a:buAutoNum type="alphaLcParenR"/>
            </a:pPr>
            <a:r>
              <a:rPr lang="en-GB" sz="2100"/>
              <a:t>0.45</a:t>
            </a:r>
            <a:r>
              <a:rPr lang="en-GB" sz="2100"/>
              <a:t> × 10</a:t>
            </a:r>
            <a:r>
              <a:rPr baseline="30000" lang="en-GB" sz="2100"/>
              <a:t>5</a:t>
            </a:r>
            <a:endParaRPr/>
          </a:p>
          <a:p>
            <a:pPr indent="-368300" lvl="0" marL="457200" rtl="0" algn="l">
              <a:spcBef>
                <a:spcPts val="1000"/>
              </a:spcBef>
              <a:spcAft>
                <a:spcPts val="0"/>
              </a:spcAft>
              <a:buSzPts val="2200"/>
              <a:buAutoNum type="alphaLcParenR"/>
            </a:pPr>
            <a:r>
              <a:rPr lang="en-GB" sz="2100"/>
              <a:t>0.583</a:t>
            </a:r>
            <a:r>
              <a:rPr lang="en-GB" sz="2100"/>
              <a:t> × 10</a:t>
            </a:r>
            <a:r>
              <a:rPr baseline="30000" lang="en-GB" sz="2100"/>
              <a:t>−2</a:t>
            </a:r>
            <a:r>
              <a:rPr baseline="30000" lang="en-GB" sz="2100"/>
              <a:t> </a:t>
            </a:r>
            <a:endParaRPr/>
          </a:p>
          <a:p>
            <a:pPr indent="-368300" lvl="0" marL="457200" rtl="0" algn="l">
              <a:spcBef>
                <a:spcPts val="1000"/>
              </a:spcBef>
              <a:spcAft>
                <a:spcPts val="0"/>
              </a:spcAft>
              <a:buSzPts val="2200"/>
              <a:buAutoNum type="alphaLcParenR"/>
            </a:pPr>
            <a:r>
              <a:rPr lang="en-GB" sz="2100"/>
              <a:t>0.003 53</a:t>
            </a:r>
            <a:r>
              <a:rPr lang="en-GB" sz="2100"/>
              <a:t> × 10</a:t>
            </a:r>
            <a:r>
              <a:rPr baseline="30000" lang="en-GB" sz="2100"/>
              <a:t>−</a:t>
            </a:r>
            <a:r>
              <a:rPr baseline="30000" lang="en-GB" sz="2100"/>
              <a:t>3 </a:t>
            </a:r>
            <a:endParaRPr/>
          </a:p>
          <a:p>
            <a:pPr indent="-368300" lvl="0" marL="457200" rtl="0" algn="l">
              <a:spcBef>
                <a:spcPts val="1000"/>
              </a:spcBef>
              <a:spcAft>
                <a:spcPts val="0"/>
              </a:spcAft>
              <a:buSzPts val="2200"/>
              <a:buAutoNum type="alphaLcParenR"/>
            </a:pPr>
            <a:r>
              <a:rPr lang="en-GB" sz="2100"/>
              <a:t>0.1</a:t>
            </a:r>
            <a:r>
              <a:rPr lang="en-GB" sz="2100"/>
              <a:t> × 10</a:t>
            </a:r>
            <a:r>
              <a:rPr baseline="30000" lang="en-GB" sz="2100"/>
              <a:t>1</a:t>
            </a:r>
            <a:r>
              <a:rPr baseline="30000" lang="en-GB" sz="2100"/>
              <a:t> 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baseline="30000" sz="21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baseline="30000" sz="21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6" name="Shape 1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7" name="Google Shape;1137;p86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Not quite standard form numbers</a:t>
            </a:r>
            <a:endParaRPr/>
          </a:p>
        </p:txBody>
      </p:sp>
      <p:sp>
        <p:nvSpPr>
          <p:cNvPr id="1138" name="Google Shape;1138;p86"/>
          <p:cNvSpPr txBox="1"/>
          <p:nvPr>
            <p:ph idx="1" type="body"/>
          </p:nvPr>
        </p:nvSpPr>
        <p:spPr>
          <a:xfrm>
            <a:off x="324000" y="759300"/>
            <a:ext cx="8237700" cy="4006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3</a:t>
            </a:r>
            <a:r>
              <a:rPr lang="en-GB"/>
              <a:t>) Write the following in correct standard form:</a:t>
            </a:r>
            <a:endParaRPr/>
          </a:p>
          <a:p>
            <a:pPr indent="-368300" lvl="0" marL="457200" rtl="0" algn="l">
              <a:spcBef>
                <a:spcPts val="1000"/>
              </a:spcBef>
              <a:spcAft>
                <a:spcPts val="0"/>
              </a:spcAft>
              <a:buSzPts val="2200"/>
              <a:buAutoNum type="alphaLcParenR"/>
            </a:pPr>
            <a:r>
              <a:rPr lang="en-GB" sz="2100"/>
              <a:t>3590</a:t>
            </a:r>
            <a:r>
              <a:rPr lang="en-GB" sz="2100"/>
              <a:t> × 10</a:t>
            </a:r>
            <a:r>
              <a:rPr baseline="30000" lang="en-GB" sz="2100"/>
              <a:t>9</a:t>
            </a:r>
            <a:r>
              <a:rPr baseline="30000" lang="en-GB" sz="2100"/>
              <a:t> </a:t>
            </a:r>
            <a:endParaRPr/>
          </a:p>
          <a:p>
            <a:pPr indent="-368300" lvl="0" marL="457200" rtl="0" algn="l">
              <a:spcBef>
                <a:spcPts val="1000"/>
              </a:spcBef>
              <a:spcAft>
                <a:spcPts val="0"/>
              </a:spcAft>
              <a:buSzPts val="2200"/>
              <a:buAutoNum type="alphaLcParenR"/>
            </a:pPr>
            <a:r>
              <a:rPr lang="en-GB" sz="2100"/>
              <a:t>0.003 59</a:t>
            </a:r>
            <a:r>
              <a:rPr lang="en-GB" sz="2100"/>
              <a:t> × 10</a:t>
            </a:r>
            <a:r>
              <a:rPr baseline="30000" lang="en-GB" sz="2100"/>
              <a:t>9</a:t>
            </a:r>
            <a:r>
              <a:rPr baseline="30000" lang="en-GB" sz="2100"/>
              <a:t> </a:t>
            </a:r>
            <a:endParaRPr/>
          </a:p>
          <a:p>
            <a:pPr indent="-368300" lvl="0" marL="457200" rtl="0" algn="l">
              <a:spcBef>
                <a:spcPts val="1000"/>
              </a:spcBef>
              <a:spcAft>
                <a:spcPts val="0"/>
              </a:spcAft>
              <a:buSzPts val="2200"/>
              <a:buAutoNum type="alphaLcParenR"/>
            </a:pPr>
            <a:r>
              <a:rPr lang="en-GB" sz="2100"/>
              <a:t>35.9</a:t>
            </a:r>
            <a:r>
              <a:rPr lang="en-GB" sz="2100"/>
              <a:t> × 10</a:t>
            </a:r>
            <a:r>
              <a:rPr baseline="30000" lang="en-GB" sz="2100"/>
              <a:t>−</a:t>
            </a:r>
            <a:r>
              <a:rPr baseline="30000" lang="en-GB" sz="2100"/>
              <a:t>9</a:t>
            </a:r>
            <a:endParaRPr/>
          </a:p>
          <a:p>
            <a:pPr indent="-368300" lvl="0" marL="457200" rtl="0" algn="l">
              <a:spcBef>
                <a:spcPts val="1000"/>
              </a:spcBef>
              <a:spcAft>
                <a:spcPts val="0"/>
              </a:spcAft>
              <a:buSzPts val="2200"/>
              <a:buAutoNum type="alphaLcParenR"/>
            </a:pPr>
            <a:r>
              <a:rPr lang="en-GB" sz="2100"/>
              <a:t>0.359</a:t>
            </a:r>
            <a:r>
              <a:rPr lang="en-GB" sz="2100"/>
              <a:t> × 10</a:t>
            </a:r>
            <a:r>
              <a:rPr baseline="30000" lang="en-GB" sz="2100"/>
              <a:t>−</a:t>
            </a:r>
            <a:r>
              <a:rPr baseline="30000" lang="en-GB" sz="2100"/>
              <a:t>9 </a:t>
            </a:r>
            <a:endParaRPr/>
          </a:p>
          <a:p>
            <a:pPr indent="-368300" lvl="0" marL="457200" rtl="0" algn="l">
              <a:spcBef>
                <a:spcPts val="1000"/>
              </a:spcBef>
              <a:spcAft>
                <a:spcPts val="0"/>
              </a:spcAft>
              <a:buSzPts val="2200"/>
              <a:buAutoNum type="alphaLcParenR"/>
            </a:pPr>
            <a:r>
              <a:rPr lang="en-GB" sz="2100"/>
              <a:t>359</a:t>
            </a:r>
            <a:r>
              <a:rPr lang="en-GB" sz="2100"/>
              <a:t> × 10</a:t>
            </a:r>
            <a:r>
              <a:rPr baseline="30000" lang="en-GB" sz="2100"/>
              <a:t>−</a:t>
            </a:r>
            <a:r>
              <a:rPr baseline="30000" lang="en-GB" sz="2100"/>
              <a:t>2 </a:t>
            </a:r>
            <a:endParaRPr/>
          </a:p>
          <a:p>
            <a:pPr indent="-368300" lvl="0" marL="457200" rtl="0" algn="l">
              <a:spcBef>
                <a:spcPts val="1000"/>
              </a:spcBef>
              <a:spcAft>
                <a:spcPts val="0"/>
              </a:spcAft>
              <a:buSzPts val="2200"/>
              <a:buAutoNum type="alphaLcParenR"/>
            </a:pPr>
            <a:r>
              <a:rPr lang="en-GB" sz="2100"/>
              <a:t>359</a:t>
            </a:r>
            <a:r>
              <a:rPr lang="en-GB" sz="2100"/>
              <a:t> × 10</a:t>
            </a:r>
            <a:r>
              <a:rPr baseline="30000" lang="en-GB" sz="2100"/>
              <a:t>2</a:t>
            </a:r>
            <a:r>
              <a:rPr baseline="30000" lang="en-GB" sz="2100"/>
              <a:t> </a:t>
            </a:r>
            <a:endParaRPr/>
          </a:p>
          <a:p>
            <a:pPr indent="-368300" lvl="0" marL="457200" rtl="0" algn="l">
              <a:spcBef>
                <a:spcPts val="1000"/>
              </a:spcBef>
              <a:spcAft>
                <a:spcPts val="0"/>
              </a:spcAft>
              <a:buSzPts val="2200"/>
              <a:buAutoNum type="alphaLcParenR"/>
            </a:pPr>
            <a:r>
              <a:rPr lang="en-GB" sz="2100"/>
              <a:t>35.9</a:t>
            </a:r>
            <a:r>
              <a:rPr lang="en-GB" sz="2100"/>
              <a:t> × 10</a:t>
            </a:r>
            <a:r>
              <a:rPr baseline="30000" lang="en-GB" sz="2100"/>
              <a:t>−</a:t>
            </a:r>
            <a:r>
              <a:rPr baseline="30000" lang="en-GB" sz="2100"/>
              <a:t>2 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baseline="30000" sz="21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baseline="30000" sz="21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2" name="Shape 1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3" name="Google Shape;1143;p87"/>
          <p:cNvSpPr txBox="1"/>
          <p:nvPr>
            <p:ph idx="1" type="body"/>
          </p:nvPr>
        </p:nvSpPr>
        <p:spPr>
          <a:xfrm>
            <a:off x="324000" y="624200"/>
            <a:ext cx="8237700" cy="4086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3683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AutoNum type="arabicParenR"/>
            </a:pPr>
            <a:r>
              <a:rPr lang="en-GB"/>
              <a:t>Write the following in correct standard form:</a:t>
            </a:r>
            <a:br>
              <a:rPr lang="en-GB"/>
            </a:br>
            <a:endParaRPr sz="1400"/>
          </a:p>
          <a:p>
            <a:pPr indent="-3683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AutoNum type="alphaLcParenR"/>
            </a:pPr>
            <a:r>
              <a:rPr lang="en-GB" sz="2100"/>
              <a:t>398 × 10</a:t>
            </a:r>
            <a:r>
              <a:rPr baseline="30000" lang="en-GB" sz="2100"/>
              <a:t>34 </a:t>
            </a:r>
            <a:br>
              <a:rPr baseline="30000" lang="en-GB" sz="2100"/>
            </a:br>
            <a:endParaRPr sz="1300"/>
          </a:p>
          <a:p>
            <a:pPr indent="-3683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AutoNum type="alphaLcParenR"/>
            </a:pPr>
            <a:r>
              <a:rPr lang="en-GB" sz="2100"/>
              <a:t>9000 × 10</a:t>
            </a:r>
            <a:r>
              <a:rPr baseline="30000" lang="en-GB" sz="2100"/>
              <a:t>24 </a:t>
            </a:r>
            <a:br>
              <a:rPr baseline="30000" lang="en-GB" sz="2100"/>
            </a:br>
            <a:endParaRPr sz="1300"/>
          </a:p>
          <a:p>
            <a:pPr indent="-3683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AutoNum type="alphaLcParenR"/>
            </a:pPr>
            <a:r>
              <a:rPr lang="en-GB" sz="2100"/>
              <a:t>340 × 10</a:t>
            </a:r>
            <a:r>
              <a:rPr baseline="30000" lang="en-GB" sz="2100"/>
              <a:t>9</a:t>
            </a:r>
            <a:br>
              <a:rPr baseline="30000" lang="en-GB" sz="2100"/>
            </a:br>
            <a:endParaRPr sz="1300"/>
          </a:p>
          <a:p>
            <a:pPr indent="-3683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AutoNum type="alphaLcParenR"/>
            </a:pPr>
            <a:r>
              <a:rPr lang="en-GB" sz="2100"/>
              <a:t>89 000 × 10</a:t>
            </a:r>
            <a:r>
              <a:rPr baseline="30000" lang="en-GB" sz="2100"/>
              <a:t>18 </a:t>
            </a:r>
            <a:br>
              <a:rPr baseline="30000" lang="en-GB" sz="2100"/>
            </a:br>
            <a:endParaRPr sz="1300"/>
          </a:p>
          <a:p>
            <a:pPr indent="-3683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AutoNum type="alphaLcParenR"/>
            </a:pPr>
            <a:r>
              <a:rPr lang="en-GB" sz="2100"/>
              <a:t>42 × 10</a:t>
            </a:r>
            <a:r>
              <a:rPr baseline="30000" lang="en-GB" sz="2100"/>
              <a:t>−</a:t>
            </a:r>
            <a:r>
              <a:rPr baseline="30000" lang="en-GB" sz="2100"/>
              <a:t>5</a:t>
            </a:r>
            <a:br>
              <a:rPr baseline="30000" lang="en-GB" sz="2100"/>
            </a:br>
            <a:endParaRPr baseline="30000" sz="1200"/>
          </a:p>
          <a:p>
            <a:pPr indent="-3683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AutoNum type="alphaLcParenR"/>
            </a:pPr>
            <a:r>
              <a:rPr lang="en-GB" sz="2100"/>
              <a:t>490 000 × 10</a:t>
            </a:r>
            <a:r>
              <a:rPr baseline="30000" lang="en-GB" sz="2100"/>
              <a:t>−</a:t>
            </a:r>
            <a:r>
              <a:rPr baseline="30000" lang="en-GB" sz="2100"/>
              <a:t>12</a:t>
            </a:r>
            <a:br>
              <a:rPr baseline="30000" lang="en-GB" sz="2100"/>
            </a:br>
            <a:endParaRPr sz="1000"/>
          </a:p>
          <a:p>
            <a:pPr indent="-3683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AutoNum type="alphaLcParenR"/>
            </a:pPr>
            <a:r>
              <a:rPr lang="en-GB" sz="2100"/>
              <a:t>99 × 10</a:t>
            </a:r>
            <a:r>
              <a:rPr baseline="30000" lang="en-GB" sz="2100"/>
              <a:t>−</a:t>
            </a:r>
            <a:r>
              <a:rPr baseline="30000" lang="en-GB" sz="2100"/>
              <a:t>2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aseline="30000" sz="2100"/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baseline="30000" sz="2100"/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/>
          </a:p>
        </p:txBody>
      </p:sp>
      <p:sp>
        <p:nvSpPr>
          <p:cNvPr id="1144" name="Google Shape;1144;p87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Not quite standard form numbers</a:t>
            </a:r>
            <a:endParaRPr/>
          </a:p>
        </p:txBody>
      </p:sp>
      <p:sp>
        <p:nvSpPr>
          <p:cNvPr id="1145" name="Google Shape;1145;p87"/>
          <p:cNvSpPr txBox="1"/>
          <p:nvPr/>
        </p:nvSpPr>
        <p:spPr>
          <a:xfrm>
            <a:off x="2020650" y="1044500"/>
            <a:ext cx="18162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1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= </a:t>
            </a:r>
            <a:r>
              <a:rPr lang="en-GB" sz="21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3.98 × 10</a:t>
            </a:r>
            <a:r>
              <a:rPr baseline="30000" lang="en-GB" sz="21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36</a:t>
            </a:r>
            <a:endParaRPr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146" name="Google Shape;1146;p87"/>
          <p:cNvSpPr txBox="1"/>
          <p:nvPr/>
        </p:nvSpPr>
        <p:spPr>
          <a:xfrm>
            <a:off x="2085400" y="2111300"/>
            <a:ext cx="18162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1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= </a:t>
            </a:r>
            <a:r>
              <a:rPr lang="en-GB" sz="21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3.4 × 10</a:t>
            </a:r>
            <a:r>
              <a:rPr baseline="30000" lang="en-GB" sz="21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11</a:t>
            </a:r>
            <a:endParaRPr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147" name="Google Shape;1147;p87"/>
          <p:cNvSpPr txBox="1"/>
          <p:nvPr/>
        </p:nvSpPr>
        <p:spPr>
          <a:xfrm>
            <a:off x="2223425" y="1577900"/>
            <a:ext cx="18162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1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= 9</a:t>
            </a:r>
            <a:r>
              <a:rPr lang="en-GB" sz="21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 × 10</a:t>
            </a:r>
            <a:r>
              <a:rPr baseline="30000" lang="en-GB" sz="21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27</a:t>
            </a:r>
            <a:endParaRPr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148" name="Google Shape;1148;p87"/>
          <p:cNvSpPr txBox="1"/>
          <p:nvPr/>
        </p:nvSpPr>
        <p:spPr>
          <a:xfrm>
            <a:off x="2430425" y="2644700"/>
            <a:ext cx="18162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1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= 8.9</a:t>
            </a:r>
            <a:r>
              <a:rPr lang="en-GB" sz="21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 × 10</a:t>
            </a:r>
            <a:r>
              <a:rPr baseline="30000" lang="en-GB" sz="21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22</a:t>
            </a:r>
            <a:endParaRPr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149" name="Google Shape;1149;p87"/>
          <p:cNvSpPr txBox="1"/>
          <p:nvPr/>
        </p:nvSpPr>
        <p:spPr>
          <a:xfrm>
            <a:off x="1979100" y="3178100"/>
            <a:ext cx="18162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1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= 4.2</a:t>
            </a:r>
            <a:r>
              <a:rPr lang="en-GB" sz="21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 × 10</a:t>
            </a:r>
            <a:r>
              <a:rPr baseline="30000" lang="en-GB" sz="21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−4</a:t>
            </a:r>
            <a:endParaRPr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150" name="Google Shape;1150;p87"/>
          <p:cNvSpPr txBox="1"/>
          <p:nvPr/>
        </p:nvSpPr>
        <p:spPr>
          <a:xfrm>
            <a:off x="2637425" y="3711500"/>
            <a:ext cx="18162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1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= 4.9</a:t>
            </a:r>
            <a:r>
              <a:rPr lang="en-GB" sz="21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 × 10</a:t>
            </a:r>
            <a:r>
              <a:rPr baseline="30000" lang="en-GB" sz="21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−7</a:t>
            </a:r>
            <a:endParaRPr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151" name="Google Shape;1151;p87"/>
          <p:cNvSpPr txBox="1"/>
          <p:nvPr/>
        </p:nvSpPr>
        <p:spPr>
          <a:xfrm>
            <a:off x="2020650" y="4244900"/>
            <a:ext cx="18162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1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= 9.9</a:t>
            </a:r>
            <a:r>
              <a:rPr lang="en-GB" sz="21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 × 10</a:t>
            </a:r>
            <a:r>
              <a:rPr baseline="30000" lang="en-GB" sz="21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−1</a:t>
            </a:r>
            <a:endParaRPr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5" name="Shape 1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6" name="Google Shape;1156;p88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Not quite standard form numbers</a:t>
            </a:r>
            <a:endParaRPr/>
          </a:p>
        </p:txBody>
      </p:sp>
      <p:sp>
        <p:nvSpPr>
          <p:cNvPr id="1157" name="Google Shape;1157;p88"/>
          <p:cNvSpPr txBox="1"/>
          <p:nvPr>
            <p:ph idx="1" type="body"/>
          </p:nvPr>
        </p:nvSpPr>
        <p:spPr>
          <a:xfrm>
            <a:off x="324000" y="759300"/>
            <a:ext cx="8237700" cy="4035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2) Write the following in correct standard form:</a:t>
            </a:r>
            <a:br>
              <a:rPr lang="en-GB"/>
            </a:br>
            <a:endParaRPr sz="1100"/>
          </a:p>
          <a:p>
            <a:pPr indent="-3683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AutoNum type="alphaLcParenR"/>
            </a:pPr>
            <a:r>
              <a:rPr lang="en-GB" sz="2100"/>
              <a:t>0.034 × 10</a:t>
            </a:r>
            <a:r>
              <a:rPr baseline="30000" lang="en-GB" sz="2100"/>
              <a:t>39</a:t>
            </a:r>
            <a:br>
              <a:rPr baseline="30000" lang="en-GB" sz="2100"/>
            </a:br>
            <a:endParaRPr sz="1200"/>
          </a:p>
          <a:p>
            <a:pPr indent="-3683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AutoNum type="alphaLcParenR"/>
            </a:pPr>
            <a:r>
              <a:rPr lang="en-GB" sz="2100"/>
              <a:t>0.0056 × 10</a:t>
            </a:r>
            <a:r>
              <a:rPr baseline="30000" lang="en-GB" sz="2100"/>
              <a:t>23</a:t>
            </a:r>
            <a:br>
              <a:rPr baseline="30000" lang="en-GB" sz="2100"/>
            </a:br>
            <a:endParaRPr sz="1500"/>
          </a:p>
          <a:p>
            <a:pPr indent="-3683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AutoNum type="alphaLcParenR"/>
            </a:pPr>
            <a:r>
              <a:rPr lang="en-GB" sz="2100"/>
              <a:t>0.000 032 × 10</a:t>
            </a:r>
            <a:r>
              <a:rPr baseline="30000" lang="en-GB" sz="2100"/>
              <a:t>9 </a:t>
            </a:r>
            <a:br>
              <a:rPr baseline="30000" lang="en-GB" sz="2100"/>
            </a:br>
            <a:endParaRPr sz="1300"/>
          </a:p>
          <a:p>
            <a:pPr indent="-3683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AutoNum type="alphaLcParenR"/>
            </a:pPr>
            <a:r>
              <a:rPr lang="en-GB" sz="2100"/>
              <a:t>0.45 × 10</a:t>
            </a:r>
            <a:r>
              <a:rPr baseline="30000" lang="en-GB" sz="2100"/>
              <a:t>5</a:t>
            </a:r>
            <a:br>
              <a:rPr baseline="30000" lang="en-GB" sz="2100"/>
            </a:br>
            <a:endParaRPr sz="1000"/>
          </a:p>
          <a:p>
            <a:pPr indent="-3683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AutoNum type="alphaLcParenR"/>
            </a:pPr>
            <a:r>
              <a:rPr lang="en-GB" sz="2100"/>
              <a:t>0.583 × 10</a:t>
            </a:r>
            <a:r>
              <a:rPr baseline="30000" lang="en-GB" sz="2100"/>
              <a:t>−</a:t>
            </a:r>
            <a:r>
              <a:rPr baseline="30000" lang="en-GB" sz="2100"/>
              <a:t>2</a:t>
            </a:r>
            <a:br>
              <a:rPr baseline="30000" lang="en-GB" sz="2100"/>
            </a:br>
            <a:endParaRPr sz="1200"/>
          </a:p>
          <a:p>
            <a:pPr indent="-3683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AutoNum type="alphaLcParenR"/>
            </a:pPr>
            <a:r>
              <a:rPr lang="en-GB" sz="2100"/>
              <a:t>0.003 53 × 10</a:t>
            </a:r>
            <a:r>
              <a:rPr baseline="30000" lang="en-GB" sz="2100"/>
              <a:t>−</a:t>
            </a:r>
            <a:r>
              <a:rPr baseline="30000" lang="en-GB" sz="2100"/>
              <a:t>3</a:t>
            </a:r>
            <a:br>
              <a:rPr baseline="30000" lang="en-GB" sz="2100"/>
            </a:br>
            <a:endParaRPr sz="500"/>
          </a:p>
          <a:p>
            <a:pPr indent="-3683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AutoNum type="alphaLcParenR"/>
            </a:pPr>
            <a:r>
              <a:rPr lang="en-GB" sz="2100"/>
              <a:t>0.1 × 10</a:t>
            </a:r>
            <a:r>
              <a:rPr baseline="30000" lang="en-GB" sz="2100"/>
              <a:t>1 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aseline="30000" sz="21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aseline="30000" sz="21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8" name="Google Shape;1158;p88"/>
          <p:cNvSpPr txBox="1"/>
          <p:nvPr/>
        </p:nvSpPr>
        <p:spPr>
          <a:xfrm>
            <a:off x="2334000" y="1189700"/>
            <a:ext cx="18162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1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= </a:t>
            </a:r>
            <a:r>
              <a:rPr lang="en-GB" sz="21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3.4 × 1</a:t>
            </a:r>
            <a:r>
              <a:rPr lang="en-GB" sz="21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0</a:t>
            </a:r>
            <a:r>
              <a:rPr baseline="30000" lang="en-GB" sz="21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37</a:t>
            </a:r>
            <a:endParaRPr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159" name="Google Shape;1159;p88"/>
          <p:cNvSpPr txBox="1"/>
          <p:nvPr/>
        </p:nvSpPr>
        <p:spPr>
          <a:xfrm>
            <a:off x="2486400" y="1723100"/>
            <a:ext cx="18162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1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= 5.6</a:t>
            </a:r>
            <a:r>
              <a:rPr lang="en-GB" sz="21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 × </a:t>
            </a:r>
            <a:r>
              <a:rPr lang="en-GB" sz="21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10</a:t>
            </a:r>
            <a:r>
              <a:rPr baseline="30000" lang="en-GB" sz="21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20</a:t>
            </a:r>
            <a:endParaRPr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160" name="Google Shape;1160;p88"/>
          <p:cNvSpPr txBox="1"/>
          <p:nvPr/>
        </p:nvSpPr>
        <p:spPr>
          <a:xfrm>
            <a:off x="2722850" y="2231000"/>
            <a:ext cx="18162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1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= </a:t>
            </a:r>
            <a:r>
              <a:rPr lang="en-GB" sz="21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3.2 × 10</a:t>
            </a:r>
            <a:r>
              <a:rPr baseline="30000" lang="en-GB" sz="21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4</a:t>
            </a:r>
            <a:endParaRPr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161" name="Google Shape;1161;p88"/>
          <p:cNvSpPr txBox="1"/>
          <p:nvPr/>
        </p:nvSpPr>
        <p:spPr>
          <a:xfrm>
            <a:off x="2072775" y="2700000"/>
            <a:ext cx="18162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1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= </a:t>
            </a:r>
            <a:r>
              <a:rPr lang="en-GB" sz="21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4.5 × 10</a:t>
            </a:r>
            <a:r>
              <a:rPr baseline="30000" lang="en-GB" sz="21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4</a:t>
            </a:r>
            <a:endParaRPr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162" name="Google Shape;1162;p88"/>
          <p:cNvSpPr txBox="1"/>
          <p:nvPr/>
        </p:nvSpPr>
        <p:spPr>
          <a:xfrm>
            <a:off x="2334000" y="3207900"/>
            <a:ext cx="20298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1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 = 5.83 × 10</a:t>
            </a:r>
            <a:r>
              <a:rPr baseline="30000" lang="en-GB" sz="21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–3</a:t>
            </a:r>
            <a:endParaRPr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163" name="Google Shape;1163;p88"/>
          <p:cNvSpPr txBox="1"/>
          <p:nvPr/>
        </p:nvSpPr>
        <p:spPr>
          <a:xfrm>
            <a:off x="2547550" y="3753100"/>
            <a:ext cx="18162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1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= </a:t>
            </a:r>
            <a:r>
              <a:rPr lang="en-GB" sz="21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3.53 × 10</a:t>
            </a:r>
            <a:r>
              <a:rPr baseline="30000" lang="en-GB" sz="21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−</a:t>
            </a:r>
            <a:r>
              <a:rPr baseline="30000" lang="en-GB" sz="21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6</a:t>
            </a:r>
            <a:endParaRPr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164" name="Google Shape;1164;p88"/>
          <p:cNvSpPr txBox="1"/>
          <p:nvPr/>
        </p:nvSpPr>
        <p:spPr>
          <a:xfrm>
            <a:off x="2124775" y="4184800"/>
            <a:ext cx="18162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1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= 1</a:t>
            </a:r>
            <a:r>
              <a:rPr lang="en-GB" sz="21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 × 10</a:t>
            </a:r>
            <a:r>
              <a:rPr baseline="30000" lang="en-GB" sz="21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0</a:t>
            </a:r>
            <a:endParaRPr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8" name="Shape 1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9" name="Google Shape;1169;p89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Not quite standard form numbers</a:t>
            </a:r>
            <a:endParaRPr/>
          </a:p>
        </p:txBody>
      </p:sp>
      <p:sp>
        <p:nvSpPr>
          <p:cNvPr id="1170" name="Google Shape;1170;p89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3) Write the following in correct standard form:</a:t>
            </a:r>
            <a:endParaRPr/>
          </a:p>
          <a:p>
            <a:pPr indent="-368300" lvl="0" marL="457200" rtl="0" algn="l">
              <a:spcBef>
                <a:spcPts val="1000"/>
              </a:spcBef>
              <a:spcAft>
                <a:spcPts val="0"/>
              </a:spcAft>
              <a:buSzPts val="2200"/>
              <a:buAutoNum type="alphaLcParenR"/>
            </a:pPr>
            <a:r>
              <a:rPr lang="en-GB" sz="2100"/>
              <a:t>3590 × 10</a:t>
            </a:r>
            <a:r>
              <a:rPr baseline="30000" lang="en-GB" sz="2100"/>
              <a:t>9 </a:t>
            </a:r>
            <a:endParaRPr/>
          </a:p>
          <a:p>
            <a:pPr indent="-368300" lvl="0" marL="457200" rtl="0" algn="l">
              <a:spcBef>
                <a:spcPts val="1000"/>
              </a:spcBef>
              <a:spcAft>
                <a:spcPts val="0"/>
              </a:spcAft>
              <a:buSzPts val="2200"/>
              <a:buAutoNum type="alphaLcParenR"/>
            </a:pPr>
            <a:r>
              <a:rPr lang="en-GB" sz="2100"/>
              <a:t>0.003 59 × 10</a:t>
            </a:r>
            <a:r>
              <a:rPr baseline="30000" lang="en-GB" sz="2100"/>
              <a:t>9 </a:t>
            </a:r>
            <a:endParaRPr/>
          </a:p>
          <a:p>
            <a:pPr indent="-368300" lvl="0" marL="457200" rtl="0" algn="l">
              <a:spcBef>
                <a:spcPts val="1000"/>
              </a:spcBef>
              <a:spcAft>
                <a:spcPts val="0"/>
              </a:spcAft>
              <a:buSzPts val="2200"/>
              <a:buAutoNum type="alphaLcParenR"/>
            </a:pPr>
            <a:r>
              <a:rPr lang="en-GB" sz="2100"/>
              <a:t>35.9 × 10</a:t>
            </a:r>
            <a:r>
              <a:rPr baseline="30000" lang="en-GB" sz="2100"/>
              <a:t>−</a:t>
            </a:r>
            <a:r>
              <a:rPr baseline="30000" lang="en-GB" sz="2100"/>
              <a:t>9</a:t>
            </a:r>
            <a:endParaRPr/>
          </a:p>
          <a:p>
            <a:pPr indent="-368300" lvl="0" marL="457200" rtl="0" algn="l">
              <a:spcBef>
                <a:spcPts val="1000"/>
              </a:spcBef>
              <a:spcAft>
                <a:spcPts val="0"/>
              </a:spcAft>
              <a:buSzPts val="2200"/>
              <a:buAutoNum type="alphaLcParenR"/>
            </a:pPr>
            <a:r>
              <a:rPr lang="en-GB" sz="2100"/>
              <a:t>0.359 × 10</a:t>
            </a:r>
            <a:r>
              <a:rPr baseline="30000" lang="en-GB" sz="2100"/>
              <a:t>−</a:t>
            </a:r>
            <a:r>
              <a:rPr baseline="30000" lang="en-GB" sz="2100"/>
              <a:t>9 </a:t>
            </a:r>
            <a:endParaRPr/>
          </a:p>
          <a:p>
            <a:pPr indent="-368300" lvl="0" marL="457200" rtl="0" algn="l">
              <a:spcBef>
                <a:spcPts val="1000"/>
              </a:spcBef>
              <a:spcAft>
                <a:spcPts val="0"/>
              </a:spcAft>
              <a:buSzPts val="2200"/>
              <a:buAutoNum type="alphaLcParenR"/>
            </a:pPr>
            <a:r>
              <a:rPr lang="en-GB" sz="2100"/>
              <a:t>359 × 10</a:t>
            </a:r>
            <a:r>
              <a:rPr baseline="30000" lang="en-GB" sz="2100"/>
              <a:t>−</a:t>
            </a:r>
            <a:r>
              <a:rPr baseline="30000" lang="en-GB" sz="2100"/>
              <a:t>2 </a:t>
            </a:r>
            <a:endParaRPr/>
          </a:p>
          <a:p>
            <a:pPr indent="-368300" lvl="0" marL="457200" rtl="0" algn="l">
              <a:spcBef>
                <a:spcPts val="1000"/>
              </a:spcBef>
              <a:spcAft>
                <a:spcPts val="0"/>
              </a:spcAft>
              <a:buSzPts val="2200"/>
              <a:buAutoNum type="alphaLcParenR"/>
            </a:pPr>
            <a:r>
              <a:rPr lang="en-GB" sz="2100"/>
              <a:t>359 × 10</a:t>
            </a:r>
            <a:r>
              <a:rPr baseline="30000" lang="en-GB" sz="2100"/>
              <a:t>2 </a:t>
            </a:r>
            <a:endParaRPr/>
          </a:p>
          <a:p>
            <a:pPr indent="-368300" lvl="0" marL="457200" rtl="0" algn="l">
              <a:spcBef>
                <a:spcPts val="1000"/>
              </a:spcBef>
              <a:spcAft>
                <a:spcPts val="0"/>
              </a:spcAft>
              <a:buSzPts val="2200"/>
              <a:buAutoNum type="alphaLcParenR"/>
            </a:pPr>
            <a:r>
              <a:rPr lang="en-GB" sz="2100"/>
              <a:t>35.9 × 10</a:t>
            </a:r>
            <a:r>
              <a:rPr baseline="30000" lang="en-GB" sz="2100"/>
              <a:t>−</a:t>
            </a:r>
            <a:r>
              <a:rPr baseline="30000" lang="en-GB" sz="2100"/>
              <a:t>2 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baseline="30000" sz="21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baseline="30000" sz="21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/>
          </a:p>
        </p:txBody>
      </p:sp>
      <p:sp>
        <p:nvSpPr>
          <p:cNvPr id="1171" name="Google Shape;1171;p89"/>
          <p:cNvSpPr txBox="1"/>
          <p:nvPr/>
        </p:nvSpPr>
        <p:spPr>
          <a:xfrm>
            <a:off x="2334000" y="1189700"/>
            <a:ext cx="18162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1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= </a:t>
            </a:r>
            <a:r>
              <a:rPr lang="en-GB" sz="21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3.59 × 10</a:t>
            </a:r>
            <a:r>
              <a:rPr baseline="30000" lang="en-GB" sz="21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12</a:t>
            </a:r>
            <a:endParaRPr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172" name="Google Shape;1172;p89"/>
          <p:cNvSpPr txBox="1"/>
          <p:nvPr/>
        </p:nvSpPr>
        <p:spPr>
          <a:xfrm>
            <a:off x="2555175" y="1697600"/>
            <a:ext cx="18162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1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= </a:t>
            </a:r>
            <a:r>
              <a:rPr lang="en-GB" sz="21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3.59 × 10</a:t>
            </a:r>
            <a:r>
              <a:rPr baseline="30000" lang="en-GB" sz="21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6</a:t>
            </a:r>
            <a:endParaRPr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173" name="Google Shape;1173;p89"/>
          <p:cNvSpPr txBox="1"/>
          <p:nvPr/>
        </p:nvSpPr>
        <p:spPr>
          <a:xfrm>
            <a:off x="2241375" y="2205500"/>
            <a:ext cx="18162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1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= </a:t>
            </a:r>
            <a:r>
              <a:rPr lang="en-GB" sz="21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3.59 × 10</a:t>
            </a:r>
            <a:r>
              <a:rPr baseline="30000" lang="en-GB" sz="21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−8</a:t>
            </a:r>
            <a:endParaRPr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174" name="Google Shape;1174;p89"/>
          <p:cNvSpPr txBox="1"/>
          <p:nvPr/>
        </p:nvSpPr>
        <p:spPr>
          <a:xfrm>
            <a:off x="2370825" y="2700000"/>
            <a:ext cx="18162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1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= </a:t>
            </a:r>
            <a:r>
              <a:rPr lang="en-GB" sz="21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3.59</a:t>
            </a:r>
            <a:r>
              <a:rPr lang="en-GB" sz="21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 × 10</a:t>
            </a:r>
            <a:r>
              <a:rPr baseline="30000" lang="en-GB" sz="21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−10</a:t>
            </a:r>
            <a:endParaRPr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175" name="Google Shape;1175;p89"/>
          <p:cNvSpPr txBox="1"/>
          <p:nvPr/>
        </p:nvSpPr>
        <p:spPr>
          <a:xfrm>
            <a:off x="2179325" y="3221300"/>
            <a:ext cx="18162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1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= </a:t>
            </a:r>
            <a:r>
              <a:rPr lang="en-GB" sz="21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3.59</a:t>
            </a:r>
            <a:r>
              <a:rPr lang="en-GB" sz="21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 × 10</a:t>
            </a:r>
            <a:r>
              <a:rPr baseline="30000" lang="en-GB" sz="21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0</a:t>
            </a:r>
            <a:endParaRPr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176" name="Google Shape;1176;p89"/>
          <p:cNvSpPr txBox="1"/>
          <p:nvPr/>
        </p:nvSpPr>
        <p:spPr>
          <a:xfrm>
            <a:off x="2334000" y="3702400"/>
            <a:ext cx="18162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1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= </a:t>
            </a:r>
            <a:r>
              <a:rPr lang="en-GB" sz="21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3.59</a:t>
            </a:r>
            <a:r>
              <a:rPr lang="en-GB" sz="21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 × 10</a:t>
            </a:r>
            <a:r>
              <a:rPr baseline="30000" lang="en-GB" sz="21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4</a:t>
            </a:r>
            <a:endParaRPr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177" name="Google Shape;1177;p89"/>
          <p:cNvSpPr txBox="1"/>
          <p:nvPr/>
        </p:nvSpPr>
        <p:spPr>
          <a:xfrm>
            <a:off x="2334000" y="4237100"/>
            <a:ext cx="18162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1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= </a:t>
            </a:r>
            <a:r>
              <a:rPr lang="en-GB" sz="21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3.59</a:t>
            </a:r>
            <a:r>
              <a:rPr lang="en-GB" sz="21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 × 10</a:t>
            </a:r>
            <a:r>
              <a:rPr baseline="30000" lang="en-GB" sz="21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−1</a:t>
            </a:r>
            <a:endParaRPr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1" name="Shape 1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2" name="Google Shape;1182;p90"/>
          <p:cNvSpPr txBox="1"/>
          <p:nvPr>
            <p:ph type="title"/>
          </p:nvPr>
        </p:nvSpPr>
        <p:spPr>
          <a:xfrm>
            <a:off x="1225225" y="2090813"/>
            <a:ext cx="68523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Not quite standard form numbers</a:t>
            </a:r>
            <a:endParaRPr/>
          </a:p>
        </p:txBody>
      </p:sp>
      <p:sp>
        <p:nvSpPr>
          <p:cNvPr id="1183" name="Google Shape;1183;p90"/>
          <p:cNvSpPr txBox="1"/>
          <p:nvPr>
            <p:ph idx="2" type="title"/>
          </p:nvPr>
        </p:nvSpPr>
        <p:spPr>
          <a:xfrm>
            <a:off x="1225225" y="3027088"/>
            <a:ext cx="68523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Using standard form in problems</a:t>
            </a:r>
            <a:endParaRPr/>
          </a:p>
        </p:txBody>
      </p:sp>
      <p:sp>
        <p:nvSpPr>
          <p:cNvPr id="1184" name="Google Shape;1184;p90"/>
          <p:cNvSpPr txBox="1"/>
          <p:nvPr>
            <p:ph idx="3" type="title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Problem solving with standard form</a:t>
            </a:r>
            <a:endParaRPr/>
          </a:p>
        </p:txBody>
      </p:sp>
      <p:pic>
        <p:nvPicPr>
          <p:cNvPr id="1185" name="Google Shape;1185;p9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2460" y="2988375"/>
            <a:ext cx="450575" cy="446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9" name="Shape 1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0" name="Google Shape;1190;p91"/>
          <p:cNvSpPr txBox="1"/>
          <p:nvPr>
            <p:ph idx="1" type="body"/>
          </p:nvPr>
        </p:nvSpPr>
        <p:spPr>
          <a:xfrm>
            <a:off x="324000" y="759300"/>
            <a:ext cx="8327700" cy="1683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100"/>
              <a:t>We use many prefixes associated with standard form every day. For example, kilo means 10</a:t>
            </a:r>
            <a:r>
              <a:rPr baseline="30000" lang="en-GB" sz="2100"/>
              <a:t>3</a:t>
            </a:r>
            <a:r>
              <a:rPr lang="en-GB" sz="2100"/>
              <a:t>. </a:t>
            </a:r>
            <a:endParaRPr sz="21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2100"/>
              <a:t>Can you match the name of the number with the </a:t>
            </a:r>
            <a:r>
              <a:rPr lang="en-GB" sz="2100"/>
              <a:t>corresponding</a:t>
            </a:r>
            <a:r>
              <a:rPr lang="en-GB" sz="2100"/>
              <a:t> powers of 10?</a:t>
            </a:r>
            <a:endParaRPr sz="21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/>
          </a:p>
        </p:txBody>
      </p:sp>
      <p:sp>
        <p:nvSpPr>
          <p:cNvPr id="1191" name="Google Shape;1191;p91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Using standard form in problems</a:t>
            </a:r>
            <a:endParaRPr/>
          </a:p>
        </p:txBody>
      </p:sp>
      <p:grpSp>
        <p:nvGrpSpPr>
          <p:cNvPr id="1192" name="Google Shape;1192;p91"/>
          <p:cNvGrpSpPr/>
          <p:nvPr/>
        </p:nvGrpSpPr>
        <p:grpSpPr>
          <a:xfrm>
            <a:off x="466450" y="2457525"/>
            <a:ext cx="7964075" cy="1996300"/>
            <a:chOff x="466450" y="2457525"/>
            <a:chExt cx="7964075" cy="1996300"/>
          </a:xfrm>
        </p:grpSpPr>
        <p:grpSp>
          <p:nvGrpSpPr>
            <p:cNvPr id="1193" name="Google Shape;1193;p91"/>
            <p:cNvGrpSpPr/>
            <p:nvPr/>
          </p:nvGrpSpPr>
          <p:grpSpPr>
            <a:xfrm>
              <a:off x="1510900" y="3840325"/>
              <a:ext cx="6309800" cy="613500"/>
              <a:chOff x="1510900" y="3840325"/>
              <a:chExt cx="6309800" cy="613500"/>
            </a:xfrm>
          </p:grpSpPr>
          <p:sp>
            <p:nvSpPr>
              <p:cNvPr id="1194" name="Google Shape;1194;p91"/>
              <p:cNvSpPr/>
              <p:nvPr/>
            </p:nvSpPr>
            <p:spPr>
              <a:xfrm>
                <a:off x="1510900" y="3840325"/>
                <a:ext cx="1299000" cy="613500"/>
              </a:xfrm>
              <a:prstGeom prst="roundRect">
                <a:avLst>
                  <a:gd fmla="val 16667" name="adj"/>
                </a:avLst>
              </a:prstGeom>
              <a:solidFill>
                <a:schemeClr val="lt1"/>
              </a:solidFill>
              <a:ln cap="flat" cmpd="sng" w="2857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100"/>
                  <a:buFont typeface="Arial"/>
                  <a:buNone/>
                </a:pPr>
                <a:r>
                  <a:rPr lang="en-GB" sz="2100">
                    <a:solidFill>
                      <a:schemeClr val="dk1"/>
                    </a:solidFill>
                    <a:latin typeface="Lexend"/>
                    <a:ea typeface="Lexend"/>
                    <a:cs typeface="Lexend"/>
                    <a:sym typeface="Lexend"/>
                  </a:rPr>
                  <a:t>10</a:t>
                </a:r>
                <a:r>
                  <a:rPr baseline="30000" lang="en-GB" sz="2100">
                    <a:solidFill>
                      <a:schemeClr val="dk1"/>
                    </a:solidFill>
                    <a:latin typeface="Lexend"/>
                    <a:ea typeface="Lexend"/>
                    <a:cs typeface="Lexend"/>
                    <a:sym typeface="Lexend"/>
                  </a:rPr>
                  <a:t>9</a:t>
                </a:r>
                <a:endParaRPr sz="2100"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1195" name="Google Shape;1195;p91"/>
              <p:cNvSpPr/>
              <p:nvPr/>
            </p:nvSpPr>
            <p:spPr>
              <a:xfrm>
                <a:off x="3152100" y="3840325"/>
                <a:ext cx="1299000" cy="613500"/>
              </a:xfrm>
              <a:prstGeom prst="roundRect">
                <a:avLst>
                  <a:gd fmla="val 16667" name="adj"/>
                </a:avLst>
              </a:prstGeom>
              <a:solidFill>
                <a:schemeClr val="lt1"/>
              </a:solidFill>
              <a:ln cap="flat" cmpd="sng" w="2857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2100">
                    <a:latin typeface="Lexend"/>
                    <a:ea typeface="Lexend"/>
                    <a:cs typeface="Lexend"/>
                    <a:sym typeface="Lexend"/>
                  </a:rPr>
                  <a:t>10</a:t>
                </a:r>
                <a:r>
                  <a:rPr baseline="30000" lang="en-GB" sz="2100">
                    <a:solidFill>
                      <a:schemeClr val="dk1"/>
                    </a:solidFill>
                    <a:latin typeface="Lexend"/>
                    <a:ea typeface="Lexend"/>
                    <a:cs typeface="Lexend"/>
                    <a:sym typeface="Lexend"/>
                  </a:rPr>
                  <a:t>6</a:t>
                </a:r>
                <a:endParaRPr sz="2100"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1196" name="Google Shape;1196;p91"/>
              <p:cNvSpPr/>
              <p:nvPr/>
            </p:nvSpPr>
            <p:spPr>
              <a:xfrm>
                <a:off x="4836900" y="3840325"/>
                <a:ext cx="1299000" cy="613500"/>
              </a:xfrm>
              <a:prstGeom prst="roundRect">
                <a:avLst>
                  <a:gd fmla="val 16667" name="adj"/>
                </a:avLst>
              </a:prstGeom>
              <a:solidFill>
                <a:schemeClr val="lt1"/>
              </a:solidFill>
              <a:ln cap="flat" cmpd="sng" w="2857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100"/>
                  <a:buFont typeface="Arial"/>
                  <a:buNone/>
                </a:pPr>
                <a:r>
                  <a:rPr lang="en-GB" sz="2100">
                    <a:solidFill>
                      <a:schemeClr val="dk1"/>
                    </a:solidFill>
                    <a:latin typeface="Lexend"/>
                    <a:ea typeface="Lexend"/>
                    <a:cs typeface="Lexend"/>
                    <a:sym typeface="Lexend"/>
                  </a:rPr>
                  <a:t>10</a:t>
                </a:r>
                <a:r>
                  <a:rPr baseline="30000" lang="en-GB" sz="2100">
                    <a:solidFill>
                      <a:schemeClr val="dk1"/>
                    </a:solidFill>
                    <a:latin typeface="Lexend"/>
                    <a:ea typeface="Lexend"/>
                    <a:cs typeface="Lexend"/>
                    <a:sym typeface="Lexend"/>
                  </a:rPr>
                  <a:t>12</a:t>
                </a:r>
                <a:endParaRPr sz="2100"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1197" name="Google Shape;1197;p91"/>
              <p:cNvSpPr/>
              <p:nvPr/>
            </p:nvSpPr>
            <p:spPr>
              <a:xfrm>
                <a:off x="6521700" y="3840325"/>
                <a:ext cx="1299000" cy="613500"/>
              </a:xfrm>
              <a:prstGeom prst="roundRect">
                <a:avLst>
                  <a:gd fmla="val 16667" name="adj"/>
                </a:avLst>
              </a:prstGeom>
              <a:solidFill>
                <a:schemeClr val="lt1"/>
              </a:solidFill>
              <a:ln cap="flat" cmpd="sng" w="2857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100"/>
                  <a:buFont typeface="Arial"/>
                  <a:buNone/>
                </a:pPr>
                <a:r>
                  <a:rPr lang="en-GB" sz="2100">
                    <a:solidFill>
                      <a:schemeClr val="dk1"/>
                    </a:solidFill>
                    <a:latin typeface="Lexend"/>
                    <a:ea typeface="Lexend"/>
                    <a:cs typeface="Lexend"/>
                    <a:sym typeface="Lexend"/>
                  </a:rPr>
                  <a:t>10</a:t>
                </a:r>
                <a:r>
                  <a:rPr baseline="30000" lang="en-GB" sz="2100">
                    <a:solidFill>
                      <a:schemeClr val="dk1"/>
                    </a:solidFill>
                    <a:latin typeface="Lexend"/>
                    <a:ea typeface="Lexend"/>
                    <a:cs typeface="Lexend"/>
                    <a:sym typeface="Lexend"/>
                  </a:rPr>
                  <a:t>−6</a:t>
                </a:r>
                <a:endParaRPr sz="2100"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</p:grpSp>
        <p:grpSp>
          <p:nvGrpSpPr>
            <p:cNvPr id="1198" name="Google Shape;1198;p91"/>
            <p:cNvGrpSpPr/>
            <p:nvPr/>
          </p:nvGrpSpPr>
          <p:grpSpPr>
            <a:xfrm>
              <a:off x="466450" y="2457525"/>
              <a:ext cx="7964075" cy="628725"/>
              <a:chOff x="466450" y="2457525"/>
              <a:chExt cx="7964075" cy="628725"/>
            </a:xfrm>
          </p:grpSpPr>
          <p:sp>
            <p:nvSpPr>
              <p:cNvPr id="1199" name="Google Shape;1199;p91"/>
              <p:cNvSpPr/>
              <p:nvPr/>
            </p:nvSpPr>
            <p:spPr>
              <a:xfrm>
                <a:off x="466450" y="2472750"/>
                <a:ext cx="1299000" cy="613500"/>
              </a:xfrm>
              <a:prstGeom prst="roundRect">
                <a:avLst>
                  <a:gd fmla="val 16667" name="adj"/>
                </a:avLst>
              </a:prstGeom>
              <a:solidFill>
                <a:schemeClr val="lt1"/>
              </a:solidFill>
              <a:ln cap="flat" cmpd="sng" w="2857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2100">
                    <a:latin typeface="Lexend"/>
                    <a:ea typeface="Lexend"/>
                    <a:cs typeface="Lexend"/>
                    <a:sym typeface="Lexend"/>
                  </a:rPr>
                  <a:t>Million</a:t>
                </a:r>
                <a:endParaRPr sz="2100"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1200" name="Google Shape;1200;p91"/>
              <p:cNvSpPr/>
              <p:nvPr/>
            </p:nvSpPr>
            <p:spPr>
              <a:xfrm>
                <a:off x="1903450" y="2472750"/>
                <a:ext cx="1222500" cy="613500"/>
              </a:xfrm>
              <a:prstGeom prst="roundRect">
                <a:avLst>
                  <a:gd fmla="val 16667" name="adj"/>
                </a:avLst>
              </a:prstGeom>
              <a:solidFill>
                <a:schemeClr val="lt1"/>
              </a:solidFill>
              <a:ln cap="flat" cmpd="sng" w="2857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2100">
                    <a:latin typeface="Lexend"/>
                    <a:ea typeface="Lexend"/>
                    <a:cs typeface="Lexend"/>
                    <a:sym typeface="Lexend"/>
                  </a:rPr>
                  <a:t>B</a:t>
                </a:r>
                <a:r>
                  <a:rPr lang="en-GB" sz="2100">
                    <a:latin typeface="Lexend"/>
                    <a:ea typeface="Lexend"/>
                    <a:cs typeface="Lexend"/>
                    <a:sym typeface="Lexend"/>
                  </a:rPr>
                  <a:t>illion</a:t>
                </a:r>
                <a:endParaRPr sz="2100"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1201" name="Google Shape;1201;p91"/>
              <p:cNvSpPr/>
              <p:nvPr/>
            </p:nvSpPr>
            <p:spPr>
              <a:xfrm>
                <a:off x="3225625" y="2472750"/>
                <a:ext cx="1559100" cy="613500"/>
              </a:xfrm>
              <a:prstGeom prst="roundRect">
                <a:avLst>
                  <a:gd fmla="val 16667" name="adj"/>
                </a:avLst>
              </a:prstGeom>
              <a:solidFill>
                <a:schemeClr val="lt1"/>
              </a:solidFill>
              <a:ln cap="flat" cmpd="sng" w="2857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2100">
                    <a:latin typeface="Lexend"/>
                    <a:ea typeface="Lexend"/>
                    <a:cs typeface="Lexend"/>
                    <a:sym typeface="Lexend"/>
                  </a:rPr>
                  <a:t>Mega</a:t>
                </a:r>
                <a:endParaRPr sz="2100"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1202" name="Google Shape;1202;p91"/>
              <p:cNvSpPr/>
              <p:nvPr/>
            </p:nvSpPr>
            <p:spPr>
              <a:xfrm>
                <a:off x="4884400" y="2457525"/>
                <a:ext cx="1000800" cy="613500"/>
              </a:xfrm>
              <a:prstGeom prst="roundRect">
                <a:avLst>
                  <a:gd fmla="val 16667" name="adj"/>
                </a:avLst>
              </a:prstGeom>
              <a:solidFill>
                <a:schemeClr val="lt1"/>
              </a:solidFill>
              <a:ln cap="flat" cmpd="sng" w="2857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2100">
                    <a:latin typeface="Lexend"/>
                    <a:ea typeface="Lexend"/>
                    <a:cs typeface="Lexend"/>
                    <a:sym typeface="Lexend"/>
                  </a:rPr>
                  <a:t>Tera</a:t>
                </a:r>
                <a:endParaRPr sz="2100"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1203" name="Google Shape;1203;p91"/>
              <p:cNvSpPr/>
              <p:nvPr/>
            </p:nvSpPr>
            <p:spPr>
              <a:xfrm>
                <a:off x="5984875" y="2457525"/>
                <a:ext cx="1092600" cy="613500"/>
              </a:xfrm>
              <a:prstGeom prst="roundRect">
                <a:avLst>
                  <a:gd fmla="val 16667" name="adj"/>
                </a:avLst>
              </a:prstGeom>
              <a:solidFill>
                <a:schemeClr val="lt1"/>
              </a:solidFill>
              <a:ln cap="flat" cmpd="sng" w="2857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2100">
                    <a:latin typeface="Lexend"/>
                    <a:ea typeface="Lexend"/>
                    <a:cs typeface="Lexend"/>
                    <a:sym typeface="Lexend"/>
                  </a:rPr>
                  <a:t>Micro</a:t>
                </a:r>
                <a:endParaRPr sz="2100"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1204" name="Google Shape;1204;p91"/>
              <p:cNvSpPr/>
              <p:nvPr/>
            </p:nvSpPr>
            <p:spPr>
              <a:xfrm>
                <a:off x="7131525" y="2457525"/>
                <a:ext cx="1299000" cy="613500"/>
              </a:xfrm>
              <a:prstGeom prst="roundRect">
                <a:avLst>
                  <a:gd fmla="val 16667" name="adj"/>
                </a:avLst>
              </a:prstGeom>
              <a:solidFill>
                <a:schemeClr val="lt1"/>
              </a:solidFill>
              <a:ln cap="flat" cmpd="sng" w="2857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100"/>
                  <a:buFont typeface="Arial"/>
                  <a:buNone/>
                </a:pPr>
                <a:r>
                  <a:rPr lang="en-GB" sz="2100">
                    <a:solidFill>
                      <a:schemeClr val="dk1"/>
                    </a:solidFill>
                    <a:latin typeface="Lexend"/>
                    <a:ea typeface="Lexend"/>
                    <a:cs typeface="Lexend"/>
                    <a:sym typeface="Lexend"/>
                  </a:rPr>
                  <a:t>Giga</a:t>
                </a:r>
                <a:endParaRPr sz="2100"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</p:grpSp>
      </p:grpSp>
      <p:cxnSp>
        <p:nvCxnSpPr>
          <p:cNvPr id="1205" name="Google Shape;1205;p91"/>
          <p:cNvCxnSpPr>
            <a:stCxn id="1199" idx="2"/>
            <a:endCxn id="1195" idx="0"/>
          </p:cNvCxnSpPr>
          <p:nvPr/>
        </p:nvCxnSpPr>
        <p:spPr>
          <a:xfrm>
            <a:off x="1115950" y="3086250"/>
            <a:ext cx="2685600" cy="7542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06" name="Google Shape;1206;p91"/>
          <p:cNvCxnSpPr>
            <a:stCxn id="1200" idx="2"/>
            <a:endCxn id="1194" idx="0"/>
          </p:cNvCxnSpPr>
          <p:nvPr/>
        </p:nvCxnSpPr>
        <p:spPr>
          <a:xfrm flipH="1">
            <a:off x="2160400" y="3086250"/>
            <a:ext cx="354300" cy="7542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07" name="Google Shape;1207;p91"/>
          <p:cNvCxnSpPr>
            <a:stCxn id="1201" idx="2"/>
            <a:endCxn id="1195" idx="0"/>
          </p:cNvCxnSpPr>
          <p:nvPr/>
        </p:nvCxnSpPr>
        <p:spPr>
          <a:xfrm flipH="1">
            <a:off x="3801475" y="3086250"/>
            <a:ext cx="203700" cy="7542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08" name="Google Shape;1208;p91"/>
          <p:cNvCxnSpPr>
            <a:stCxn id="1202" idx="2"/>
            <a:endCxn id="1196" idx="0"/>
          </p:cNvCxnSpPr>
          <p:nvPr/>
        </p:nvCxnSpPr>
        <p:spPr>
          <a:xfrm>
            <a:off x="5384800" y="3071025"/>
            <a:ext cx="101700" cy="7692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09" name="Google Shape;1209;p91"/>
          <p:cNvCxnSpPr>
            <a:stCxn id="1203" idx="2"/>
            <a:endCxn id="1197" idx="0"/>
          </p:cNvCxnSpPr>
          <p:nvPr/>
        </p:nvCxnSpPr>
        <p:spPr>
          <a:xfrm>
            <a:off x="6531175" y="3071025"/>
            <a:ext cx="639900" cy="7692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10" name="Google Shape;1210;p91"/>
          <p:cNvCxnSpPr>
            <a:stCxn id="1204" idx="2"/>
            <a:endCxn id="1194" idx="0"/>
          </p:cNvCxnSpPr>
          <p:nvPr/>
        </p:nvCxnSpPr>
        <p:spPr>
          <a:xfrm flipH="1">
            <a:off x="2160525" y="3071025"/>
            <a:ext cx="5620500" cy="7692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0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0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0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14" name="Shape 1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5" name="Google Shape;1215;p92"/>
          <p:cNvSpPr txBox="1"/>
          <p:nvPr>
            <p:ph idx="1" type="body"/>
          </p:nvPr>
        </p:nvSpPr>
        <p:spPr>
          <a:xfrm>
            <a:off x="324000" y="759300"/>
            <a:ext cx="8327700" cy="1683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100"/>
              <a:t>Can you think of some real life examples, where you have heard or used this prefixes?</a:t>
            </a:r>
            <a:endParaRPr sz="21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/>
          </a:p>
        </p:txBody>
      </p:sp>
      <p:sp>
        <p:nvSpPr>
          <p:cNvPr id="1216" name="Google Shape;1216;p92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Using standard form in problems</a:t>
            </a:r>
            <a:endParaRPr/>
          </a:p>
        </p:txBody>
      </p:sp>
      <p:sp>
        <p:nvSpPr>
          <p:cNvPr id="1217" name="Google Shape;1217;p92"/>
          <p:cNvSpPr/>
          <p:nvPr/>
        </p:nvSpPr>
        <p:spPr>
          <a:xfrm>
            <a:off x="419913" y="1646900"/>
            <a:ext cx="1559100" cy="5385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2857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100">
                <a:latin typeface="Lexend"/>
                <a:ea typeface="Lexend"/>
                <a:cs typeface="Lexend"/>
                <a:sym typeface="Lexend"/>
              </a:rPr>
              <a:t>Million</a:t>
            </a:r>
            <a:endParaRPr sz="21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18" name="Google Shape;1218;p92"/>
          <p:cNvSpPr/>
          <p:nvPr/>
        </p:nvSpPr>
        <p:spPr>
          <a:xfrm>
            <a:off x="419913" y="2231076"/>
            <a:ext cx="1559100" cy="5385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2857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100">
                <a:latin typeface="Lexend"/>
                <a:ea typeface="Lexend"/>
                <a:cs typeface="Lexend"/>
                <a:sym typeface="Lexend"/>
              </a:rPr>
              <a:t>Billion</a:t>
            </a:r>
            <a:endParaRPr sz="21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19" name="Google Shape;1219;p92"/>
          <p:cNvSpPr/>
          <p:nvPr/>
        </p:nvSpPr>
        <p:spPr>
          <a:xfrm>
            <a:off x="419913" y="2823207"/>
            <a:ext cx="1559100" cy="5385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2857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100">
                <a:latin typeface="Lexend"/>
                <a:ea typeface="Lexend"/>
                <a:cs typeface="Lexend"/>
                <a:sym typeface="Lexend"/>
              </a:rPr>
              <a:t>Mega</a:t>
            </a:r>
            <a:endParaRPr sz="21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20" name="Google Shape;1220;p92"/>
          <p:cNvSpPr/>
          <p:nvPr/>
        </p:nvSpPr>
        <p:spPr>
          <a:xfrm>
            <a:off x="549963" y="3415360"/>
            <a:ext cx="1299000" cy="5385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2857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100">
                <a:latin typeface="Lexend"/>
                <a:ea typeface="Lexend"/>
                <a:cs typeface="Lexend"/>
                <a:sym typeface="Lexend"/>
              </a:rPr>
              <a:t>Tera</a:t>
            </a:r>
            <a:endParaRPr sz="21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21" name="Google Shape;1221;p92"/>
          <p:cNvSpPr/>
          <p:nvPr/>
        </p:nvSpPr>
        <p:spPr>
          <a:xfrm>
            <a:off x="549963" y="4027845"/>
            <a:ext cx="1299000" cy="5385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2857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100">
                <a:latin typeface="Lexend"/>
                <a:ea typeface="Lexend"/>
                <a:cs typeface="Lexend"/>
                <a:sym typeface="Lexend"/>
              </a:rPr>
              <a:t>Micro</a:t>
            </a:r>
            <a:endParaRPr sz="21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22" name="Google Shape;1222;p92"/>
          <p:cNvSpPr txBox="1"/>
          <p:nvPr/>
        </p:nvSpPr>
        <p:spPr>
          <a:xfrm>
            <a:off x="1979025" y="2083800"/>
            <a:ext cx="7521000" cy="42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Example: Population on Earth (2024) is approximately          </a:t>
            </a:r>
            <a:endParaRPr sz="20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8 billion people</a:t>
            </a: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23" name="Google Shape;1223;p92"/>
          <p:cNvSpPr txBox="1"/>
          <p:nvPr/>
        </p:nvSpPr>
        <p:spPr>
          <a:xfrm>
            <a:off x="1979025" y="1550400"/>
            <a:ext cx="7521000" cy="42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Example: 1 million pounds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24" name="Google Shape;1224;p92"/>
          <p:cNvSpPr txBox="1"/>
          <p:nvPr/>
        </p:nvSpPr>
        <p:spPr>
          <a:xfrm>
            <a:off x="1979025" y="2845800"/>
            <a:ext cx="7521000" cy="42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Example: A USB flash drive has a </a:t>
            </a: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memory</a:t>
            </a: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 of 64 megabytes</a:t>
            </a: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25" name="Google Shape;1225;p92"/>
          <p:cNvSpPr txBox="1"/>
          <p:nvPr/>
        </p:nvSpPr>
        <p:spPr>
          <a:xfrm>
            <a:off x="1932700" y="3474600"/>
            <a:ext cx="7521000" cy="42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Example: An </a:t>
            </a: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external hard drive has 1 terabyte of memory</a:t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26" name="Google Shape;1226;p92"/>
          <p:cNvSpPr txBox="1"/>
          <p:nvPr/>
        </p:nvSpPr>
        <p:spPr>
          <a:xfrm>
            <a:off x="1932700" y="4103400"/>
            <a:ext cx="7521000" cy="42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Example: Microchips are found in most electronic devices</a:t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0" name="Shape 1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31" name="Google Shape;1231;p93"/>
          <p:cNvPicPr preferRelativeResize="0"/>
          <p:nvPr/>
        </p:nvPicPr>
        <p:blipFill rotWithShape="1">
          <a:blip r:embed="rId3">
            <a:alphaModFix/>
          </a:blip>
          <a:srcRect b="6172" l="40550" r="0" t="13240"/>
          <a:stretch/>
        </p:blipFill>
        <p:spPr>
          <a:xfrm>
            <a:off x="1305225" y="901950"/>
            <a:ext cx="3843599" cy="1761749"/>
          </a:xfrm>
          <a:prstGeom prst="rect">
            <a:avLst/>
          </a:prstGeom>
          <a:noFill/>
          <a:ln>
            <a:noFill/>
          </a:ln>
        </p:spPr>
      </p:pic>
      <p:sp>
        <p:nvSpPr>
          <p:cNvPr id="1232" name="Google Shape;1232;p93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Using standard form in problems</a:t>
            </a:r>
            <a:endParaRPr/>
          </a:p>
        </p:txBody>
      </p:sp>
      <p:sp>
        <p:nvSpPr>
          <p:cNvPr id="1233" name="Google Shape;1233;p93"/>
          <p:cNvSpPr txBox="1"/>
          <p:nvPr/>
        </p:nvSpPr>
        <p:spPr>
          <a:xfrm>
            <a:off x="1567800" y="923250"/>
            <a:ext cx="3395100" cy="42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Why do we say </a:t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“</a:t>
            </a: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64 megabytes</a:t>
            </a: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”</a:t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instead of 64 × </a:t>
            </a:r>
            <a:r>
              <a:rPr lang="en-GB" sz="2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10</a:t>
            </a:r>
            <a:r>
              <a:rPr baseline="30000" lang="en-GB" sz="2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6</a:t>
            </a: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bytes or 6.4 × </a:t>
            </a:r>
            <a:r>
              <a:rPr lang="en-GB" sz="2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10</a:t>
            </a:r>
            <a:r>
              <a:rPr baseline="30000" lang="en-GB" sz="2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7</a:t>
            </a: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bytes?</a:t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234" name="Google Shape;1234;p9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35250" y="1870575"/>
            <a:ext cx="619035" cy="694851"/>
          </a:xfrm>
          <a:prstGeom prst="rect">
            <a:avLst/>
          </a:prstGeom>
          <a:noFill/>
          <a:ln>
            <a:noFill/>
          </a:ln>
        </p:spPr>
      </p:pic>
      <p:sp>
        <p:nvSpPr>
          <p:cNvPr id="1235" name="Google Shape;1235;p93"/>
          <p:cNvSpPr txBox="1"/>
          <p:nvPr/>
        </p:nvSpPr>
        <p:spPr>
          <a:xfrm>
            <a:off x="549850" y="2634025"/>
            <a:ext cx="8853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Lucas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236" name="Google Shape;1236;p93"/>
          <p:cNvPicPr preferRelativeResize="0"/>
          <p:nvPr/>
        </p:nvPicPr>
        <p:blipFill rotWithShape="1">
          <a:blip r:embed="rId3">
            <a:alphaModFix/>
          </a:blip>
          <a:srcRect b="0" l="0" r="69082" t="56280"/>
          <a:stretch/>
        </p:blipFill>
        <p:spPr>
          <a:xfrm>
            <a:off x="5774400" y="810000"/>
            <a:ext cx="1715625" cy="13794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237" name="Google Shape;1237;p9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flipH="1">
            <a:off x="7516450" y="2107413"/>
            <a:ext cx="552400" cy="795462"/>
          </a:xfrm>
          <a:prstGeom prst="rect">
            <a:avLst/>
          </a:prstGeom>
          <a:noFill/>
          <a:ln>
            <a:noFill/>
          </a:ln>
        </p:spPr>
      </p:pic>
      <p:sp>
        <p:nvSpPr>
          <p:cNvPr id="1238" name="Google Shape;1238;p93"/>
          <p:cNvSpPr txBox="1"/>
          <p:nvPr/>
        </p:nvSpPr>
        <p:spPr>
          <a:xfrm>
            <a:off x="7275275" y="2979463"/>
            <a:ext cx="8853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Sam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39" name="Google Shape;1239;p93"/>
          <p:cNvSpPr txBox="1"/>
          <p:nvPr/>
        </p:nvSpPr>
        <p:spPr>
          <a:xfrm>
            <a:off x="6049425" y="923250"/>
            <a:ext cx="1813200" cy="42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It just sounds better</a:t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40" name="Google Shape;1240;p93"/>
          <p:cNvSpPr txBox="1"/>
          <p:nvPr/>
        </p:nvSpPr>
        <p:spPr>
          <a:xfrm>
            <a:off x="334425" y="3361650"/>
            <a:ext cx="8095800" cy="118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Although, standard form is not sometimes used, the convention is to use the prefix and from there we can use it to convert to standard form and use where needed.</a:t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4" name="Shape 1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5" name="Google Shape;1245;p94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Work out how many bytes there are in the following, give your answer in standard form: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/>
              <a:t>a)   </a:t>
            </a:r>
            <a:r>
              <a:rPr lang="en-GB"/>
              <a:t>128 GB</a:t>
            </a:r>
            <a:endParaRPr/>
          </a:p>
          <a:p>
            <a:pPr indent="0" lvl="0" marL="45720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45720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/>
              <a:t>b)   30 TB (1 terabyte)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/>
          </a:p>
        </p:txBody>
      </p:sp>
      <p:sp>
        <p:nvSpPr>
          <p:cNvPr id="1246" name="Google Shape;1246;p94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Using standard form in problems</a:t>
            </a:r>
            <a:endParaRPr/>
          </a:p>
        </p:txBody>
      </p:sp>
      <p:sp>
        <p:nvSpPr>
          <p:cNvPr id="1247" name="Google Shape;1247;p94"/>
          <p:cNvSpPr txBox="1"/>
          <p:nvPr>
            <p:ph idx="1" type="body"/>
          </p:nvPr>
        </p:nvSpPr>
        <p:spPr>
          <a:xfrm>
            <a:off x="705150" y="2081250"/>
            <a:ext cx="8237700" cy="943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Kalam"/>
                <a:ea typeface="Kalam"/>
                <a:cs typeface="Kalam"/>
                <a:sym typeface="Kalam"/>
              </a:rPr>
              <a:t>128 </a:t>
            </a:r>
            <a:r>
              <a:rPr lang="en-GB" sz="2100">
                <a:latin typeface="Kalam"/>
                <a:ea typeface="Kalam"/>
                <a:cs typeface="Kalam"/>
                <a:sym typeface="Kalam"/>
              </a:rPr>
              <a:t>× 10</a:t>
            </a:r>
            <a:r>
              <a:rPr baseline="30000" lang="en-GB" sz="2100">
                <a:latin typeface="Kalam"/>
                <a:ea typeface="Kalam"/>
                <a:cs typeface="Kalam"/>
                <a:sym typeface="Kalam"/>
              </a:rPr>
              <a:t>9  </a:t>
            </a:r>
            <a:r>
              <a:rPr lang="en-GB">
                <a:latin typeface="Kalam"/>
                <a:ea typeface="Kalam"/>
                <a:cs typeface="Kalam"/>
                <a:sym typeface="Kalam"/>
              </a:rPr>
              <a:t>= </a:t>
            </a:r>
            <a:r>
              <a:rPr lang="en-GB">
                <a:latin typeface="Kalam"/>
                <a:ea typeface="Kalam"/>
                <a:cs typeface="Kalam"/>
                <a:sym typeface="Kalam"/>
              </a:rPr>
              <a:t>1.28 </a:t>
            </a:r>
            <a:r>
              <a:rPr lang="en-GB" sz="2100">
                <a:latin typeface="Kalam"/>
                <a:ea typeface="Kalam"/>
                <a:cs typeface="Kalam"/>
                <a:sym typeface="Kalam"/>
              </a:rPr>
              <a:t>× 10 × 10 × 10</a:t>
            </a:r>
            <a:r>
              <a:rPr baseline="30000" lang="en-GB" sz="2100">
                <a:latin typeface="Kalam"/>
                <a:ea typeface="Kalam"/>
                <a:cs typeface="Kalam"/>
                <a:sym typeface="Kalam"/>
              </a:rPr>
              <a:t>9</a:t>
            </a:r>
            <a:r>
              <a:rPr lang="en-GB">
                <a:latin typeface="Kalam"/>
                <a:ea typeface="Kalam"/>
                <a:cs typeface="Kalam"/>
                <a:sym typeface="Kalam"/>
              </a:rPr>
              <a:t> </a:t>
            </a:r>
            <a:endParaRPr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>
                <a:latin typeface="Kalam"/>
                <a:ea typeface="Kalam"/>
                <a:cs typeface="Kalam"/>
                <a:sym typeface="Kalam"/>
              </a:rPr>
              <a:t>           = </a:t>
            </a:r>
            <a:r>
              <a:rPr lang="en-GB">
                <a:latin typeface="Kalam"/>
                <a:ea typeface="Kalam"/>
                <a:cs typeface="Kalam"/>
                <a:sym typeface="Kalam"/>
              </a:rPr>
              <a:t> 1.28 </a:t>
            </a:r>
            <a:r>
              <a:rPr lang="en-GB" sz="2100">
                <a:latin typeface="Kalam"/>
                <a:ea typeface="Kalam"/>
                <a:cs typeface="Kalam"/>
                <a:sym typeface="Kalam"/>
              </a:rPr>
              <a:t>× 10</a:t>
            </a:r>
            <a:r>
              <a:rPr baseline="30000" lang="en-GB" sz="2100">
                <a:latin typeface="Kalam"/>
                <a:ea typeface="Kalam"/>
                <a:cs typeface="Kalam"/>
                <a:sym typeface="Kalam"/>
              </a:rPr>
              <a:t>11</a:t>
            </a:r>
            <a:r>
              <a:rPr lang="en-GB">
                <a:latin typeface="Kalam"/>
                <a:ea typeface="Kalam"/>
                <a:cs typeface="Kalam"/>
                <a:sym typeface="Kalam"/>
              </a:rPr>
              <a:t> bytes</a:t>
            </a:r>
            <a:endParaRPr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248" name="Google Shape;1248;p94"/>
          <p:cNvSpPr txBox="1"/>
          <p:nvPr>
            <p:ph idx="1" type="body"/>
          </p:nvPr>
        </p:nvSpPr>
        <p:spPr>
          <a:xfrm>
            <a:off x="814825" y="3703225"/>
            <a:ext cx="8237700" cy="943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Kalam"/>
                <a:ea typeface="Kalam"/>
                <a:cs typeface="Kalam"/>
                <a:sym typeface="Kalam"/>
              </a:rPr>
              <a:t>30</a:t>
            </a:r>
            <a:r>
              <a:rPr lang="en-GB">
                <a:latin typeface="Kalam"/>
                <a:ea typeface="Kalam"/>
                <a:cs typeface="Kalam"/>
                <a:sym typeface="Kalam"/>
              </a:rPr>
              <a:t> </a:t>
            </a:r>
            <a:r>
              <a:rPr lang="en-GB" sz="2100">
                <a:latin typeface="Kalam"/>
                <a:ea typeface="Kalam"/>
                <a:cs typeface="Kalam"/>
                <a:sym typeface="Kalam"/>
              </a:rPr>
              <a:t>× 10</a:t>
            </a:r>
            <a:r>
              <a:rPr baseline="30000" lang="en-GB" sz="2100">
                <a:latin typeface="Kalam"/>
                <a:ea typeface="Kalam"/>
                <a:cs typeface="Kalam"/>
                <a:sym typeface="Kalam"/>
              </a:rPr>
              <a:t>12   </a:t>
            </a:r>
            <a:r>
              <a:rPr lang="en-GB">
                <a:latin typeface="Kalam"/>
                <a:ea typeface="Kalam"/>
                <a:cs typeface="Kalam"/>
                <a:sym typeface="Kalam"/>
              </a:rPr>
              <a:t>= 3</a:t>
            </a:r>
            <a:r>
              <a:rPr lang="en-GB" sz="2100">
                <a:latin typeface="Kalam"/>
                <a:ea typeface="Kalam"/>
                <a:cs typeface="Kalam"/>
                <a:sym typeface="Kalam"/>
              </a:rPr>
              <a:t> × 10 × 10</a:t>
            </a:r>
            <a:r>
              <a:rPr baseline="30000" lang="en-GB" sz="2100">
                <a:latin typeface="Kalam"/>
                <a:ea typeface="Kalam"/>
                <a:cs typeface="Kalam"/>
                <a:sym typeface="Kalam"/>
              </a:rPr>
              <a:t>12</a:t>
            </a:r>
            <a:r>
              <a:rPr lang="en-GB">
                <a:latin typeface="Kalam"/>
                <a:ea typeface="Kalam"/>
                <a:cs typeface="Kalam"/>
                <a:sym typeface="Kalam"/>
              </a:rPr>
              <a:t> </a:t>
            </a:r>
            <a:endParaRPr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>
                <a:latin typeface="Kalam"/>
                <a:ea typeface="Kalam"/>
                <a:cs typeface="Kalam"/>
                <a:sym typeface="Kalam"/>
              </a:rPr>
              <a:t>          =  3 </a:t>
            </a:r>
            <a:r>
              <a:rPr lang="en-GB" sz="2100">
                <a:latin typeface="Kalam"/>
                <a:ea typeface="Kalam"/>
                <a:cs typeface="Kalam"/>
                <a:sym typeface="Kalam"/>
              </a:rPr>
              <a:t>× 10</a:t>
            </a:r>
            <a:r>
              <a:rPr baseline="30000" lang="en-GB" sz="2100">
                <a:latin typeface="Kalam"/>
                <a:ea typeface="Kalam"/>
                <a:cs typeface="Kalam"/>
                <a:sym typeface="Kalam"/>
              </a:rPr>
              <a:t>13</a:t>
            </a:r>
            <a:r>
              <a:rPr lang="en-GB">
                <a:latin typeface="Kalam"/>
                <a:ea typeface="Kalam"/>
                <a:cs typeface="Kalam"/>
                <a:sym typeface="Kalam"/>
              </a:rPr>
              <a:t> bytes</a:t>
            </a:r>
            <a:endParaRPr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7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7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8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8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8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2" name="Shape 1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3" name="Google Shape;1253;p95"/>
          <p:cNvSpPr/>
          <p:nvPr/>
        </p:nvSpPr>
        <p:spPr>
          <a:xfrm>
            <a:off x="3478195" y="1776057"/>
            <a:ext cx="47400" cy="39600"/>
          </a:xfrm>
          <a:prstGeom prst="ellipse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254" name="Google Shape;1254;p95"/>
          <p:cNvSpPr txBox="1"/>
          <p:nvPr>
            <p:ph idx="1" type="body"/>
          </p:nvPr>
        </p:nvSpPr>
        <p:spPr>
          <a:xfrm>
            <a:off x="324000" y="759300"/>
            <a:ext cx="8237700" cy="49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Using a </a:t>
            </a:r>
            <a:r>
              <a:rPr lang="en-GB"/>
              <a:t>calculator</a:t>
            </a:r>
            <a:r>
              <a:rPr lang="en-GB"/>
              <a:t>, how many days is 1 million seconds?</a:t>
            </a:r>
            <a:endParaRPr/>
          </a:p>
        </p:txBody>
      </p:sp>
      <p:sp>
        <p:nvSpPr>
          <p:cNvPr id="1255" name="Google Shape;1255;p95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Using standard form in problems</a:t>
            </a:r>
            <a:endParaRPr/>
          </a:p>
        </p:txBody>
      </p:sp>
      <p:sp>
        <p:nvSpPr>
          <p:cNvPr id="1256" name="Google Shape;1256;p95"/>
          <p:cNvSpPr txBox="1"/>
          <p:nvPr>
            <p:ph idx="1" type="body"/>
          </p:nvPr>
        </p:nvSpPr>
        <p:spPr>
          <a:xfrm>
            <a:off x="324000" y="1292700"/>
            <a:ext cx="8237700" cy="49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Kalam"/>
                <a:ea typeface="Kalam"/>
                <a:cs typeface="Kalam"/>
                <a:sym typeface="Kalam"/>
              </a:rPr>
              <a:t>1 million = 1 </a:t>
            </a:r>
            <a:r>
              <a:rPr lang="en-GB" sz="2100">
                <a:latin typeface="Kalam"/>
                <a:ea typeface="Kalam"/>
                <a:cs typeface="Kalam"/>
                <a:sym typeface="Kalam"/>
              </a:rPr>
              <a:t>× 10</a:t>
            </a:r>
            <a:r>
              <a:rPr baseline="30000" lang="en-GB" sz="2100">
                <a:latin typeface="Kalam"/>
                <a:ea typeface="Kalam"/>
                <a:cs typeface="Kalam"/>
                <a:sym typeface="Kalam"/>
              </a:rPr>
              <a:t>6 </a:t>
            </a:r>
            <a:r>
              <a:rPr lang="en-GB">
                <a:latin typeface="Kalam"/>
                <a:ea typeface="Kalam"/>
                <a:cs typeface="Kalam"/>
                <a:sym typeface="Kalam"/>
              </a:rPr>
              <a:t> = 1 000 000s</a:t>
            </a:r>
            <a:endParaRPr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257" name="Google Shape;1257;p95"/>
          <p:cNvSpPr txBox="1"/>
          <p:nvPr/>
        </p:nvSpPr>
        <p:spPr>
          <a:xfrm>
            <a:off x="237613" y="1711420"/>
            <a:ext cx="55695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1 000 000 ÷ 60 = 16666.6 minutes</a:t>
            </a:r>
            <a:endParaRPr sz="22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258" name="Google Shape;1258;p95"/>
          <p:cNvSpPr txBox="1"/>
          <p:nvPr/>
        </p:nvSpPr>
        <p:spPr>
          <a:xfrm>
            <a:off x="237613" y="2168620"/>
            <a:ext cx="55695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16666.6 </a:t>
            </a:r>
            <a:r>
              <a:rPr lang="en-GB" sz="2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÷ 60 = 277.7 hours</a:t>
            </a:r>
            <a:endParaRPr sz="22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259" name="Google Shape;1259;p95"/>
          <p:cNvSpPr txBox="1"/>
          <p:nvPr/>
        </p:nvSpPr>
        <p:spPr>
          <a:xfrm>
            <a:off x="237613" y="2702020"/>
            <a:ext cx="55695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277.7 </a:t>
            </a:r>
            <a:r>
              <a:rPr lang="en-GB" sz="2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÷ 24 = 11.57 (2 d.p.) days</a:t>
            </a:r>
            <a:endParaRPr sz="22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260" name="Google Shape;1260;p95"/>
          <p:cNvSpPr/>
          <p:nvPr/>
        </p:nvSpPr>
        <p:spPr>
          <a:xfrm>
            <a:off x="2894063" y="2243444"/>
            <a:ext cx="47400" cy="39600"/>
          </a:xfrm>
          <a:prstGeom prst="ellipse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64" name="Shape 1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5" name="Google Shape;1265;p96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Using standard form in problems</a:t>
            </a:r>
            <a:endParaRPr/>
          </a:p>
        </p:txBody>
      </p:sp>
      <p:sp>
        <p:nvSpPr>
          <p:cNvPr id="1266" name="Google Shape;1266;p96"/>
          <p:cNvSpPr txBox="1"/>
          <p:nvPr>
            <p:ph idx="1" type="body"/>
          </p:nvPr>
        </p:nvSpPr>
        <p:spPr>
          <a:xfrm>
            <a:off x="324000" y="759300"/>
            <a:ext cx="8600400" cy="1197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Sometimes, some things are so big or small, we can’t visualise them.</a:t>
            </a:r>
            <a:br>
              <a:rPr lang="en-GB"/>
            </a:br>
            <a:r>
              <a:rPr lang="en-GB"/>
              <a:t>For example: 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/>
              <a:t>The radius of Earth is </a:t>
            </a:r>
            <a:r>
              <a:rPr lang="en-GB"/>
              <a:t>approximately</a:t>
            </a:r>
            <a:r>
              <a:rPr lang="en-GB"/>
              <a:t> 6 000 000 m.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/>
              <a:t>The radius of </a:t>
            </a:r>
            <a:r>
              <a:rPr lang="en-GB"/>
              <a:t>Jupiter</a:t>
            </a:r>
            <a:r>
              <a:rPr lang="en-GB"/>
              <a:t> is approximately 60 000 000 m.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/>
              <a:t>How many times bigger is Jupiter than Earth?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/>
              <a:t>Earth’s radius ≈ 6 × 10</a:t>
            </a:r>
            <a:r>
              <a:rPr baseline="30000" lang="en-GB"/>
              <a:t>6</a:t>
            </a:r>
            <a:r>
              <a:rPr lang="en-GB"/>
              <a:t> m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Jupiter</a:t>
            </a:r>
            <a:r>
              <a:rPr lang="en-GB"/>
              <a:t>’s radius ≈ 6 × 10</a:t>
            </a:r>
            <a:r>
              <a:rPr baseline="30000" lang="en-GB"/>
              <a:t>7</a:t>
            </a:r>
            <a:r>
              <a:rPr lang="en-GB"/>
              <a:t> m</a:t>
            </a:r>
            <a:endParaRPr/>
          </a:p>
        </p:txBody>
      </p:sp>
      <p:sp>
        <p:nvSpPr>
          <p:cNvPr id="1267" name="Google Shape;1267;p96"/>
          <p:cNvSpPr/>
          <p:nvPr/>
        </p:nvSpPr>
        <p:spPr>
          <a:xfrm>
            <a:off x="4033125" y="3509675"/>
            <a:ext cx="171600" cy="952500"/>
          </a:xfrm>
          <a:prstGeom prst="rightBracket">
            <a:avLst>
              <a:gd fmla="val 8333" name="adj"/>
            </a:avLst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68" name="Google Shape;1268;p96"/>
          <p:cNvSpPr txBox="1"/>
          <p:nvPr/>
        </p:nvSpPr>
        <p:spPr>
          <a:xfrm>
            <a:off x="4507700" y="3566525"/>
            <a:ext cx="3798900" cy="838800"/>
          </a:xfrm>
          <a:prstGeom prst="rect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When in standard form it is easy to see.</a:t>
            </a:r>
            <a:endParaRPr sz="21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6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6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6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6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6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2" name="Shape 1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3" name="Google Shape;1273;p97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Using standard form in problems</a:t>
            </a:r>
            <a:endParaRPr/>
          </a:p>
        </p:txBody>
      </p:sp>
      <p:sp>
        <p:nvSpPr>
          <p:cNvPr id="1274" name="Google Shape;1274;p97"/>
          <p:cNvSpPr txBox="1"/>
          <p:nvPr>
            <p:ph idx="1" type="body"/>
          </p:nvPr>
        </p:nvSpPr>
        <p:spPr>
          <a:xfrm>
            <a:off x="324000" y="759300"/>
            <a:ext cx="2456400" cy="1197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Jupiter’s radius is 10 times bigger than Earth!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/>
              <a:t>These numbers are so big, it can be hard to imagine.</a:t>
            </a:r>
            <a:endParaRPr/>
          </a:p>
        </p:txBody>
      </p:sp>
      <p:pic>
        <p:nvPicPr>
          <p:cNvPr id="1275" name="Google Shape;1275;p9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024975" y="844325"/>
            <a:ext cx="5964800" cy="3326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9" name="Shape 1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0" name="Google Shape;1280;p98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1) </a:t>
            </a:r>
            <a:r>
              <a:rPr lang="en-GB"/>
              <a:t>How many years are 1 billion seconds?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/>
              <a:t>Use a calculator and use 365 days as a standard year.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/>
              <a:t>2) Flash drives come in 16MB, 64MB and 128MB. </a:t>
            </a:r>
            <a:r>
              <a:rPr lang="en-GB"/>
              <a:t>A video was made and has 21 700 000 bytes. 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/>
              <a:t>Given that 1 × 10</a:t>
            </a:r>
            <a:r>
              <a:rPr baseline="30000" lang="en-GB"/>
              <a:t>6</a:t>
            </a:r>
            <a:r>
              <a:rPr lang="en-GB"/>
              <a:t> is 1 MB (megabyte). 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/>
              <a:t>What is the minimum flash drive needed to put this film on?</a:t>
            </a:r>
            <a:endParaRPr/>
          </a:p>
        </p:txBody>
      </p:sp>
      <p:sp>
        <p:nvSpPr>
          <p:cNvPr id="1281" name="Google Shape;1281;p98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Using standard form in problems</a:t>
            </a:r>
            <a:endParaRPr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5" name="Shape 1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6" name="Google Shape;1286;p99"/>
          <p:cNvSpPr txBox="1"/>
          <p:nvPr>
            <p:ph idx="1" type="body"/>
          </p:nvPr>
        </p:nvSpPr>
        <p:spPr>
          <a:xfrm>
            <a:off x="324000" y="759300"/>
            <a:ext cx="8237700" cy="1531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3) The radius of Mercury is approximately 2 500 km.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/>
              <a:t>The radius of Neptune is approximately 25 000 000 m.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/>
              <a:t>How many times bigger is Neptune than Mercury?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/>
              <a:t>  </a:t>
            </a:r>
            <a:endParaRPr/>
          </a:p>
        </p:txBody>
      </p:sp>
      <p:sp>
        <p:nvSpPr>
          <p:cNvPr id="1287" name="Google Shape;1287;p99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Using standard form in problems</a:t>
            </a:r>
            <a:endParaRPr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91" name="Shape 1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2" name="Google Shape;1292;p100"/>
          <p:cNvSpPr txBox="1"/>
          <p:nvPr>
            <p:ph idx="1" type="body"/>
          </p:nvPr>
        </p:nvSpPr>
        <p:spPr>
          <a:xfrm>
            <a:off x="4273375" y="711350"/>
            <a:ext cx="44598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4) Here are some approximations of the radii of planets.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/>
              <a:t>Write any two of your own questions, including the use of standard form. </a:t>
            </a:r>
            <a:endParaRPr/>
          </a:p>
        </p:txBody>
      </p:sp>
      <p:sp>
        <p:nvSpPr>
          <p:cNvPr id="1293" name="Google Shape;1293;p100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Using standard form in problems</a:t>
            </a:r>
            <a:endParaRPr/>
          </a:p>
        </p:txBody>
      </p:sp>
      <p:graphicFrame>
        <p:nvGraphicFramePr>
          <p:cNvPr id="1294" name="Google Shape;1294;p100"/>
          <p:cNvGraphicFramePr/>
          <p:nvPr/>
        </p:nvGraphicFramePr>
        <p:xfrm>
          <a:off x="411900" y="71133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{BBA721E3-349A-4336-9A84-A63F8B892381}</a:tableStyleId>
              </a:tblPr>
              <a:tblGrid>
                <a:gridCol w="1815350"/>
                <a:gridCol w="1815350"/>
              </a:tblGrid>
              <a:tr h="3319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7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Planet</a:t>
                      </a:r>
                      <a:endParaRPr sz="17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7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≈ Radius</a:t>
                      </a:r>
                      <a:endParaRPr sz="17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</a:tr>
              <a:tr h="3319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700">
                          <a:latin typeface="Lexend"/>
                          <a:ea typeface="Lexend"/>
                          <a:cs typeface="Lexend"/>
                          <a:sym typeface="Lexend"/>
                        </a:rPr>
                        <a:t>Mercury</a:t>
                      </a:r>
                      <a:endParaRPr sz="17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7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2 500 km</a:t>
                      </a:r>
                      <a:endParaRPr sz="17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319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700">
                          <a:latin typeface="Lexend"/>
                          <a:ea typeface="Lexend"/>
                          <a:cs typeface="Lexend"/>
                          <a:sym typeface="Lexend"/>
                        </a:rPr>
                        <a:t>Venus</a:t>
                      </a:r>
                      <a:endParaRPr sz="17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700">
                          <a:latin typeface="Lexend"/>
                          <a:ea typeface="Lexend"/>
                          <a:cs typeface="Lexend"/>
                          <a:sym typeface="Lexend"/>
                        </a:rPr>
                        <a:t>6 000 km </a:t>
                      </a:r>
                      <a:endParaRPr sz="17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319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700">
                          <a:latin typeface="Lexend"/>
                          <a:ea typeface="Lexend"/>
                          <a:cs typeface="Lexend"/>
                          <a:sym typeface="Lexend"/>
                        </a:rPr>
                        <a:t>Earth</a:t>
                      </a:r>
                      <a:endParaRPr sz="17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700">
                          <a:latin typeface="Lexend"/>
                          <a:ea typeface="Lexend"/>
                          <a:cs typeface="Lexend"/>
                          <a:sym typeface="Lexend"/>
                        </a:rPr>
                        <a:t>6 000 km</a:t>
                      </a:r>
                      <a:endParaRPr sz="17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319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700">
                          <a:latin typeface="Lexend"/>
                          <a:ea typeface="Lexend"/>
                          <a:cs typeface="Lexend"/>
                          <a:sym typeface="Lexend"/>
                        </a:rPr>
                        <a:t>Mars</a:t>
                      </a:r>
                      <a:endParaRPr sz="17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7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3 000 km</a:t>
                      </a:r>
                      <a:endParaRPr sz="17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319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700">
                          <a:latin typeface="Lexend"/>
                          <a:ea typeface="Lexend"/>
                          <a:cs typeface="Lexend"/>
                          <a:sym typeface="Lexend"/>
                        </a:rPr>
                        <a:t>Jupiter</a:t>
                      </a:r>
                      <a:endParaRPr sz="17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700">
                          <a:latin typeface="Lexend"/>
                          <a:ea typeface="Lexend"/>
                          <a:cs typeface="Lexend"/>
                          <a:sym typeface="Lexend"/>
                        </a:rPr>
                        <a:t>71 000 km</a:t>
                      </a:r>
                      <a:endParaRPr sz="17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319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700">
                          <a:latin typeface="Lexend"/>
                          <a:ea typeface="Lexend"/>
                          <a:cs typeface="Lexend"/>
                          <a:sym typeface="Lexend"/>
                        </a:rPr>
                        <a:t>Saturn</a:t>
                      </a:r>
                      <a:endParaRPr sz="17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700">
                          <a:latin typeface="Lexend"/>
                          <a:ea typeface="Lexend"/>
                          <a:cs typeface="Lexend"/>
                          <a:sym typeface="Lexend"/>
                        </a:rPr>
                        <a:t>60 000 km</a:t>
                      </a:r>
                      <a:endParaRPr sz="17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319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700">
                          <a:latin typeface="Lexend"/>
                          <a:ea typeface="Lexend"/>
                          <a:cs typeface="Lexend"/>
                          <a:sym typeface="Lexend"/>
                        </a:rPr>
                        <a:t>Uranus</a:t>
                      </a:r>
                      <a:endParaRPr sz="17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7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25 000 km</a:t>
                      </a:r>
                      <a:endParaRPr sz="17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319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700">
                          <a:latin typeface="Lexend"/>
                          <a:ea typeface="Lexend"/>
                          <a:cs typeface="Lexend"/>
                          <a:sym typeface="Lexend"/>
                        </a:rPr>
                        <a:t>Neptune</a:t>
                      </a:r>
                      <a:endParaRPr sz="17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7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25 000 km</a:t>
                      </a:r>
                      <a:endParaRPr sz="17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98" name="Shape 1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9" name="Google Shape;1299;p101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1) </a:t>
            </a:r>
            <a:r>
              <a:rPr lang="en-GB"/>
              <a:t>How many years are 1 billion seconds?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/>
              <a:t>Use a calculator and use 365 days as a standard year.</a:t>
            </a:r>
            <a:endParaRPr/>
          </a:p>
        </p:txBody>
      </p:sp>
      <p:sp>
        <p:nvSpPr>
          <p:cNvPr id="1300" name="Google Shape;1300;p101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Using standard form in problems</a:t>
            </a:r>
            <a:endParaRPr/>
          </a:p>
        </p:txBody>
      </p:sp>
      <p:sp>
        <p:nvSpPr>
          <p:cNvPr id="1301" name="Google Shape;1301;p101"/>
          <p:cNvSpPr txBox="1"/>
          <p:nvPr/>
        </p:nvSpPr>
        <p:spPr>
          <a:xfrm>
            <a:off x="394725" y="1890000"/>
            <a:ext cx="6902400" cy="246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1 billion = 1 × 10</a:t>
            </a:r>
            <a:r>
              <a:rPr baseline="30000" lang="en-GB" sz="2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9</a:t>
            </a:r>
            <a:r>
              <a:rPr lang="en-GB" sz="2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 = 1 000 000 000 seconds</a:t>
            </a:r>
            <a:endParaRPr sz="22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1 000 000 000 ÷ 60 = 16 666 666.7 (1 d.p.) minutes</a:t>
            </a:r>
            <a:endParaRPr sz="22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16 666 666.7 ÷ 60 = 277 777.8 (1 d.p.) hours</a:t>
            </a:r>
            <a:endParaRPr sz="22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277 777.8 ÷ 24 = 	11 574.1 (1 d.p.) days</a:t>
            </a:r>
            <a:endParaRPr sz="22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11 574.1 ÷ 365 = 31.7 </a:t>
            </a:r>
            <a:r>
              <a:rPr lang="en-GB" sz="2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(1 d.p.) </a:t>
            </a:r>
            <a:r>
              <a:rPr lang="en-GB" sz="2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years </a:t>
            </a:r>
            <a:endParaRPr sz="18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1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1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1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1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5" name="Shape 1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6" name="Google Shape;1306;p102"/>
          <p:cNvSpPr txBox="1"/>
          <p:nvPr>
            <p:ph idx="1" type="body"/>
          </p:nvPr>
        </p:nvSpPr>
        <p:spPr>
          <a:xfrm>
            <a:off x="324000" y="759300"/>
            <a:ext cx="8237700" cy="1102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2) </a:t>
            </a:r>
            <a:r>
              <a:rPr lang="en-GB"/>
              <a:t>Flash drives come in </a:t>
            </a:r>
            <a:r>
              <a:rPr lang="en-GB"/>
              <a:t>16 MB, 64 MB and 128 MB</a:t>
            </a:r>
            <a:r>
              <a:rPr lang="en-GB"/>
              <a:t>. A video was made and has 21 700 000 bytes. 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/>
              <a:t>Given that 1 × 10</a:t>
            </a:r>
            <a:r>
              <a:rPr baseline="30000" lang="en-GB"/>
              <a:t>6</a:t>
            </a:r>
            <a:r>
              <a:rPr lang="en-GB"/>
              <a:t> is 1 MB (</a:t>
            </a:r>
            <a:r>
              <a:rPr lang="en-GB"/>
              <a:t>megabyte</a:t>
            </a:r>
            <a:r>
              <a:rPr lang="en-GB"/>
              <a:t>). 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/>
              <a:t>What is the minimum flash drive needed to put this film on?</a:t>
            </a:r>
            <a:endParaRPr/>
          </a:p>
        </p:txBody>
      </p:sp>
      <p:sp>
        <p:nvSpPr>
          <p:cNvPr id="1307" name="Google Shape;1307;p102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Using standard form in problems</a:t>
            </a:r>
            <a:endParaRPr/>
          </a:p>
        </p:txBody>
      </p:sp>
      <p:sp>
        <p:nvSpPr>
          <p:cNvPr id="1308" name="Google Shape;1308;p102"/>
          <p:cNvSpPr txBox="1"/>
          <p:nvPr/>
        </p:nvSpPr>
        <p:spPr>
          <a:xfrm>
            <a:off x="324000" y="2650075"/>
            <a:ext cx="7898100" cy="162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3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21 700 000 </a:t>
            </a:r>
            <a:r>
              <a:rPr lang="en-GB" sz="23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= 2.17 × 10</a:t>
            </a:r>
            <a:r>
              <a:rPr baseline="30000" lang="en-GB" sz="23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7</a:t>
            </a:r>
            <a:r>
              <a:rPr lang="en-GB" sz="23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 </a:t>
            </a:r>
            <a:endParaRPr sz="23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3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This is the same as 21.7 × 10</a:t>
            </a:r>
            <a:r>
              <a:rPr baseline="30000" lang="en-GB" sz="23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6</a:t>
            </a:r>
            <a:r>
              <a:rPr lang="en-GB" sz="23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 </a:t>
            </a:r>
            <a:endParaRPr sz="23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3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Given we know × 10</a:t>
            </a:r>
            <a:r>
              <a:rPr baseline="30000" lang="en-GB" sz="23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6</a:t>
            </a:r>
            <a:r>
              <a:rPr lang="en-GB" sz="23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 is the same as Mega we can say that  2.17 × 10</a:t>
            </a:r>
            <a:r>
              <a:rPr baseline="30000" lang="en-GB" sz="23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7</a:t>
            </a:r>
            <a:r>
              <a:rPr lang="en-GB" sz="23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 = 21.7MB</a:t>
            </a:r>
            <a:endParaRPr sz="23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3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The minimum is a 64MB flash drive.</a:t>
            </a:r>
            <a:endParaRPr sz="23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8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8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8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2" name="Shape 1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3" name="Google Shape;1313;p103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3) The radius of Mercury is approximately 2 500 km.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/>
              <a:t>The radius of Neptune is approximately 25 000 000 m.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/>
              <a:t>How many times bigger is Neptune’s radius than Mercury’s?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/>
              <a:t>  </a:t>
            </a:r>
            <a:endParaRPr/>
          </a:p>
        </p:txBody>
      </p:sp>
      <p:sp>
        <p:nvSpPr>
          <p:cNvPr id="1314" name="Google Shape;1314;p103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Using standard form in problems</a:t>
            </a:r>
            <a:endParaRPr/>
          </a:p>
        </p:txBody>
      </p:sp>
      <p:sp>
        <p:nvSpPr>
          <p:cNvPr id="1315" name="Google Shape;1315;p103"/>
          <p:cNvSpPr txBox="1"/>
          <p:nvPr/>
        </p:nvSpPr>
        <p:spPr>
          <a:xfrm>
            <a:off x="369600" y="2454200"/>
            <a:ext cx="8606100" cy="155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Mercury</a:t>
            </a:r>
            <a:r>
              <a:rPr lang="en-GB" sz="2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’s radius ≈ 2 500 km = 2 500 000 m = 2.5 × 10</a:t>
            </a:r>
            <a:r>
              <a:rPr baseline="30000" lang="en-GB" sz="2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6</a:t>
            </a:r>
            <a:r>
              <a:rPr lang="en-GB" sz="2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 m</a:t>
            </a:r>
            <a:endParaRPr sz="22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Neptune’s radius ≈ 2.5 × 10</a:t>
            </a:r>
            <a:r>
              <a:rPr baseline="30000" lang="en-GB" sz="2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7</a:t>
            </a:r>
            <a:r>
              <a:rPr lang="en-GB" sz="2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 m</a:t>
            </a:r>
            <a:endParaRPr sz="22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Neptune’s radius is 10 times bigger than Mercury’s radius.</a:t>
            </a:r>
            <a:endParaRPr sz="22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5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5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5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9" name="Shape 1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0" name="Google Shape;1320;p104"/>
          <p:cNvSpPr txBox="1"/>
          <p:nvPr>
            <p:ph idx="1" type="body"/>
          </p:nvPr>
        </p:nvSpPr>
        <p:spPr>
          <a:xfrm>
            <a:off x="4196125" y="759300"/>
            <a:ext cx="43485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4) Here are some approximations of the radii of planets.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/>
              <a:t>Write any two of your own questions, including the use of standard form. </a:t>
            </a:r>
            <a:endParaRPr/>
          </a:p>
          <a:p>
            <a:pPr indent="-368300" lvl="0" marL="457200" rtl="0" algn="l">
              <a:spcBef>
                <a:spcPts val="1000"/>
              </a:spcBef>
              <a:spcAft>
                <a:spcPts val="0"/>
              </a:spcAft>
              <a:buSzPts val="2200"/>
              <a:buFont typeface="Kalam"/>
              <a:buAutoNum type="alphaLcParenR"/>
            </a:pPr>
            <a:r>
              <a:rPr lang="en-GB">
                <a:latin typeface="Kalam"/>
                <a:ea typeface="Kalam"/>
                <a:cs typeface="Kalam"/>
                <a:sym typeface="Kalam"/>
              </a:rPr>
              <a:t>Write all of these </a:t>
            </a:r>
            <a:r>
              <a:rPr lang="en-GB">
                <a:latin typeface="Kalam"/>
                <a:ea typeface="Kalam"/>
                <a:cs typeface="Kalam"/>
                <a:sym typeface="Kalam"/>
              </a:rPr>
              <a:t>radii in m using standard form.</a:t>
            </a:r>
            <a:endParaRPr>
              <a:latin typeface="Kalam"/>
              <a:ea typeface="Kalam"/>
              <a:cs typeface="Kalam"/>
              <a:sym typeface="Kalam"/>
            </a:endParaRPr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Font typeface="Kalam"/>
              <a:buAutoNum type="alphaLcParenR"/>
            </a:pPr>
            <a:r>
              <a:rPr lang="en-GB">
                <a:latin typeface="Kalam"/>
                <a:ea typeface="Kalam"/>
                <a:cs typeface="Kalam"/>
                <a:sym typeface="Kalam"/>
              </a:rPr>
              <a:t>Put the planets in ascending order, using standard form.</a:t>
            </a:r>
            <a:endParaRPr>
              <a:latin typeface="Kalam"/>
              <a:ea typeface="Kalam"/>
              <a:cs typeface="Kalam"/>
              <a:sym typeface="Kalam"/>
            </a:endParaRPr>
          </a:p>
          <a:p>
            <a:pPr indent="0" lvl="0" marL="45720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/>
          </a:p>
        </p:txBody>
      </p:sp>
      <p:sp>
        <p:nvSpPr>
          <p:cNvPr id="1321" name="Google Shape;1321;p104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Using standard form in problems</a:t>
            </a:r>
            <a:endParaRPr/>
          </a:p>
        </p:txBody>
      </p:sp>
      <p:graphicFrame>
        <p:nvGraphicFramePr>
          <p:cNvPr id="1322" name="Google Shape;1322;p104"/>
          <p:cNvGraphicFramePr/>
          <p:nvPr/>
        </p:nvGraphicFramePr>
        <p:xfrm>
          <a:off x="411900" y="71133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{BBA721E3-349A-4336-9A84-A63F8B892381}</a:tableStyleId>
              </a:tblPr>
              <a:tblGrid>
                <a:gridCol w="1815350"/>
                <a:gridCol w="1815350"/>
              </a:tblGrid>
              <a:tr h="3319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7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Planet</a:t>
                      </a:r>
                      <a:endParaRPr sz="17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7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≈ Radius</a:t>
                      </a:r>
                      <a:endParaRPr sz="17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</a:tr>
              <a:tr h="3319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700">
                          <a:latin typeface="Lexend"/>
                          <a:ea typeface="Lexend"/>
                          <a:cs typeface="Lexend"/>
                          <a:sym typeface="Lexend"/>
                        </a:rPr>
                        <a:t>Mercury</a:t>
                      </a:r>
                      <a:endParaRPr sz="17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7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2 500</a:t>
                      </a:r>
                      <a:r>
                        <a:rPr lang="en-GB" sz="1700">
                          <a:latin typeface="Lexend"/>
                          <a:ea typeface="Lexend"/>
                          <a:cs typeface="Lexend"/>
                          <a:sym typeface="Lexend"/>
                        </a:rPr>
                        <a:t> k</a:t>
                      </a:r>
                      <a:r>
                        <a:rPr lang="en-GB" sz="1700">
                          <a:latin typeface="Lexend"/>
                          <a:ea typeface="Lexend"/>
                          <a:cs typeface="Lexend"/>
                          <a:sym typeface="Lexend"/>
                        </a:rPr>
                        <a:t>m</a:t>
                      </a:r>
                      <a:endParaRPr sz="17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319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700">
                          <a:latin typeface="Lexend"/>
                          <a:ea typeface="Lexend"/>
                          <a:cs typeface="Lexend"/>
                          <a:sym typeface="Lexend"/>
                        </a:rPr>
                        <a:t>Venus</a:t>
                      </a:r>
                      <a:endParaRPr sz="17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700">
                          <a:latin typeface="Lexend"/>
                          <a:ea typeface="Lexend"/>
                          <a:cs typeface="Lexend"/>
                          <a:sym typeface="Lexend"/>
                        </a:rPr>
                        <a:t>6 000 km </a:t>
                      </a:r>
                      <a:endParaRPr sz="17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319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700">
                          <a:latin typeface="Lexend"/>
                          <a:ea typeface="Lexend"/>
                          <a:cs typeface="Lexend"/>
                          <a:sym typeface="Lexend"/>
                        </a:rPr>
                        <a:t>Earth</a:t>
                      </a:r>
                      <a:endParaRPr sz="17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700">
                          <a:latin typeface="Lexend"/>
                          <a:ea typeface="Lexend"/>
                          <a:cs typeface="Lexend"/>
                          <a:sym typeface="Lexend"/>
                        </a:rPr>
                        <a:t>6 000 km</a:t>
                      </a:r>
                      <a:endParaRPr sz="17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319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700">
                          <a:latin typeface="Lexend"/>
                          <a:ea typeface="Lexend"/>
                          <a:cs typeface="Lexend"/>
                          <a:sym typeface="Lexend"/>
                        </a:rPr>
                        <a:t>Mars</a:t>
                      </a:r>
                      <a:endParaRPr sz="17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7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3 000 km</a:t>
                      </a:r>
                      <a:endParaRPr sz="17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319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700">
                          <a:latin typeface="Lexend"/>
                          <a:ea typeface="Lexend"/>
                          <a:cs typeface="Lexend"/>
                          <a:sym typeface="Lexend"/>
                        </a:rPr>
                        <a:t>Jupiter</a:t>
                      </a:r>
                      <a:endParaRPr sz="17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700">
                          <a:latin typeface="Lexend"/>
                          <a:ea typeface="Lexend"/>
                          <a:cs typeface="Lexend"/>
                          <a:sym typeface="Lexend"/>
                        </a:rPr>
                        <a:t>71 000 km</a:t>
                      </a:r>
                      <a:endParaRPr sz="17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319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700">
                          <a:latin typeface="Lexend"/>
                          <a:ea typeface="Lexend"/>
                          <a:cs typeface="Lexend"/>
                          <a:sym typeface="Lexend"/>
                        </a:rPr>
                        <a:t>Saturn</a:t>
                      </a:r>
                      <a:endParaRPr sz="17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700">
                          <a:latin typeface="Lexend"/>
                          <a:ea typeface="Lexend"/>
                          <a:cs typeface="Lexend"/>
                          <a:sym typeface="Lexend"/>
                        </a:rPr>
                        <a:t>60 000 km</a:t>
                      </a:r>
                      <a:endParaRPr sz="17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319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700">
                          <a:latin typeface="Lexend"/>
                          <a:ea typeface="Lexend"/>
                          <a:cs typeface="Lexend"/>
                          <a:sym typeface="Lexend"/>
                        </a:rPr>
                        <a:t>Uranus</a:t>
                      </a:r>
                      <a:endParaRPr sz="17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7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25 000 km</a:t>
                      </a:r>
                      <a:endParaRPr sz="17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319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700">
                          <a:latin typeface="Lexend"/>
                          <a:ea typeface="Lexend"/>
                          <a:cs typeface="Lexend"/>
                          <a:sym typeface="Lexend"/>
                        </a:rPr>
                        <a:t>Neptune</a:t>
                      </a:r>
                      <a:endParaRPr sz="17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7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25 000 km</a:t>
                      </a:r>
                      <a:endParaRPr sz="17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26" name="Shape 1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7" name="Google Shape;1327;p105"/>
          <p:cNvSpPr txBox="1"/>
          <p:nvPr>
            <p:ph idx="1" type="body"/>
          </p:nvPr>
        </p:nvSpPr>
        <p:spPr>
          <a:xfrm>
            <a:off x="324000" y="810000"/>
            <a:ext cx="8113800" cy="3914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100"/>
              <a:t>When a number is not quite written in standard form</a:t>
            </a:r>
            <a:r>
              <a:rPr lang="en-GB" sz="2100"/>
              <a:t>, we can use the associative law to write it in standard form.</a:t>
            </a:r>
            <a:endParaRPr sz="21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2100"/>
              <a:t>For example,              </a:t>
            </a:r>
            <a:r>
              <a:rPr lang="en-GB" sz="2000"/>
              <a:t>960 × 10</a:t>
            </a:r>
            <a:r>
              <a:rPr baseline="30000" lang="en-GB" sz="2000"/>
              <a:t>9 </a:t>
            </a:r>
            <a:r>
              <a:rPr lang="en-GB" sz="2000"/>
              <a:t>= 9.6 × 10</a:t>
            </a:r>
            <a:r>
              <a:rPr baseline="30000" lang="en-GB" sz="2000"/>
              <a:t>11</a:t>
            </a:r>
            <a:endParaRPr sz="20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2000"/>
              <a:t>                                       </a:t>
            </a:r>
            <a:r>
              <a:rPr lang="en-GB" sz="2000"/>
              <a:t>0.0034 × 10</a:t>
            </a:r>
            <a:r>
              <a:rPr baseline="30000" lang="en-GB" sz="2000"/>
              <a:t>7 </a:t>
            </a:r>
            <a:r>
              <a:rPr lang="en-GB" sz="2000"/>
              <a:t>= 3.4 × 10</a:t>
            </a:r>
            <a:r>
              <a:rPr baseline="30000" lang="en-GB" sz="2000"/>
              <a:t>4</a:t>
            </a:r>
            <a:endParaRPr sz="21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2100"/>
              <a:t>Problems involving real life applications of extremely large numbers or small numbers can be </a:t>
            </a:r>
            <a:r>
              <a:rPr lang="en-GB" sz="2100"/>
              <a:t>solved using standard form</a:t>
            </a:r>
            <a:r>
              <a:rPr lang="en-GB" sz="2100"/>
              <a:t>.</a:t>
            </a:r>
            <a:endParaRPr sz="2100"/>
          </a:p>
        </p:txBody>
      </p:sp>
      <p:sp>
        <p:nvSpPr>
          <p:cNvPr id="1328" name="Google Shape;1328;p105"/>
          <p:cNvSpPr txBox="1"/>
          <p:nvPr>
            <p:ph type="title"/>
          </p:nvPr>
        </p:nvSpPr>
        <p:spPr>
          <a:xfrm>
            <a:off x="1684800" y="43825"/>
            <a:ext cx="57414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Problem solving with standard form</a:t>
            </a:r>
            <a:endParaRPr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2" name="Shape 1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3" name="Google Shape;1333;p106"/>
          <p:cNvSpPr txBox="1"/>
          <p:nvPr>
            <p:ph idx="1" type="subTitle"/>
          </p:nvPr>
        </p:nvSpPr>
        <p:spPr>
          <a:xfrm>
            <a:off x="661775" y="1129425"/>
            <a:ext cx="7351200" cy="2358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© Oak National Academy 2024.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Produced in partnership with </a:t>
            </a:r>
            <a:r>
              <a:rPr lang="en-GB"/>
              <a:t>Mathematics in Education and Industry</a:t>
            </a:r>
            <a:r>
              <a:rPr lang="en-GB"/>
              <a:t>.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Licensed on the </a:t>
            </a:r>
            <a:r>
              <a:rPr lang="en-GB" u="sng">
                <a:solidFill>
                  <a:schemeClr val="hlink"/>
                </a:solidFill>
                <a:hlinkClick r:id="rId3"/>
              </a:rPr>
              <a:t>Open Government Licence v3.0</a:t>
            </a:r>
            <a:r>
              <a:rPr lang="en-GB"/>
              <a:t>, except where otherwise stated. See </a:t>
            </a:r>
            <a:r>
              <a:rPr lang="en-GB" u="sng">
                <a:solidFill>
                  <a:schemeClr val="accent2"/>
                </a:solidFill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and conditions</a:t>
            </a:r>
            <a:r>
              <a:rPr lang="en-GB"/>
              <a:t>.</a:t>
            </a:r>
            <a:endParaRPr/>
          </a:p>
        </p:txBody>
      </p:sp>
      <p:pic>
        <p:nvPicPr>
          <p:cNvPr id="1334" name="Google Shape;1334;p10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242100" y="3453600"/>
            <a:ext cx="652800" cy="326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ak theme - September 2023">
  <a:themeElements>
    <a:clrScheme name="Simple Light">
      <a:dk1>
        <a:srgbClr val="000000"/>
      </a:dk1>
      <a:lt1>
        <a:srgbClr val="FFFFFF"/>
      </a:lt1>
      <a:dk2>
        <a:srgbClr val="808080"/>
      </a:dk2>
      <a:lt2>
        <a:srgbClr val="F0F0F0"/>
      </a:lt2>
      <a:accent1>
        <a:srgbClr val="BEF2BD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C63D01"/>
      </a:accent6>
      <a:hlink>
        <a:srgbClr val="374CF1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