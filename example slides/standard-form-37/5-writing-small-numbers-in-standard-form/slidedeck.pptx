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3249BD-A887-4AAB-8C37-068768A7FD16}">
  <a:tblStyle styleId="{E23249BD-A887-4AAB-8C37-068768A7FD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b7e20cc09d_1_1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2b7e20cc09d_1_1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2b0e4d83e3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2b0e4d83e3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1f0c27b21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1f0c27b21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1f0c27b218f_0_1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1f0c27b218f_0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b7e20cc09d_2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2b7e20cc09d_2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2b7e20cc09d_2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2b7e20cc09d_2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b7e20cc09d_2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b7e20cc09d_2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2b7e20cc09d_2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2b7e20cc09d_2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2b7e20cc09d_2_1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2b7e20cc09d_2_1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2b7e20cc09d_2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2b7e20cc09d_2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2b7e20cc09d_4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2b7e20cc09d_4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2b7e20cc09d_4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2b7e20cc09d_4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1f0c27b218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1f0c27b218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1f0c27b218f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1f0c27b218f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2b7e20cc09d_2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2b7e20cc09d_2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2b7e20cc09d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2b7e20cc09d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2b7e20cc09d_5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2b7e20cc09d_5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2b7e20cc09d_5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2b7e20cc09d_5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1f0c27b218f_0_1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1f0c27b218f_0_1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358fea164e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358fea164e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358fea164e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358fea164e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2b7e20cc09d_5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2b7e20cc09d_5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2b7e20cc09d_5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2b7e20cc09d_5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2b7e20cc09d_5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2b7e20cc09d_5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2b7e20cc09d_5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2b7e20cc09d_5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2b7eb66c05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2b7eb66c0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2b7eb66c05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2b7eb66c05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b7eb66c05f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2b7eb66c05f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2b7eb66c05f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2b7eb66c05f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2b7eb66c05f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b7eb66c05f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1f0c27b218f_0_1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1f0c27b218f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2b7eb66c05f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2b7eb66c05f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2b7eb66c05f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2b7eb66c05f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2b7eb66c05f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2b7eb66c05f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2b7eb66c05f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2b7eb66c05f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2b7eb66c05f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2b7eb66c05f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2b7eb66c05f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2b7eb66c05f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2b7eb66c05f_2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2b7eb66c05f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2b7eb66c05f_2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2b7eb66c05f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2b7eb66c05f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2b7eb66c05f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2b7eb66c05f_2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2b7eb66c05f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Relationship Id="rId4" Type="http://schemas.openxmlformats.org/officeDocument/2006/relationships/image" Target="../media/image52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2.png"/><Relationship Id="rId4" Type="http://schemas.openxmlformats.org/officeDocument/2006/relationships/image" Target="../media/image20.png"/><Relationship Id="rId9" Type="http://schemas.openxmlformats.org/officeDocument/2006/relationships/image" Target="../media/image16.png"/><Relationship Id="rId5" Type="http://schemas.openxmlformats.org/officeDocument/2006/relationships/image" Target="../media/image24.png"/><Relationship Id="rId6" Type="http://schemas.openxmlformats.org/officeDocument/2006/relationships/image" Target="../media/image28.png"/><Relationship Id="rId7" Type="http://schemas.openxmlformats.org/officeDocument/2006/relationships/image" Target="../media/image25.png"/><Relationship Id="rId8" Type="http://schemas.openxmlformats.org/officeDocument/2006/relationships/image" Target="../media/image3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2.png"/><Relationship Id="rId4" Type="http://schemas.openxmlformats.org/officeDocument/2006/relationships/image" Target="../media/image30.png"/><Relationship Id="rId11" Type="http://schemas.openxmlformats.org/officeDocument/2006/relationships/image" Target="../media/image16.png"/><Relationship Id="rId10" Type="http://schemas.openxmlformats.org/officeDocument/2006/relationships/image" Target="../media/image35.png"/><Relationship Id="rId9" Type="http://schemas.openxmlformats.org/officeDocument/2006/relationships/image" Target="../media/image32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28.png"/><Relationship Id="rId8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1" name="Google Shape;751;p6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6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63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4" name="Google Shape;754;p63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5" name="Google Shape;755;p63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 1">
  <p:cSld name="CUSTOM_3_1_1_3"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8" name="Google Shape;758;p6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6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1" name="Google Shape;761;p6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2" name="Google Shape;762;p6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 2">
  <p:cSld name="CUSTOM_3_1_1_4"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5" name="Google Shape;765;p6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6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8" name="Google Shape;768;p6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9" name="Google Shape;769;p6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theme" Target="../theme/theme1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8.png"/><Relationship Id="rId4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6.png"/><Relationship Id="rId4" Type="http://schemas.openxmlformats.org/officeDocument/2006/relationships/image" Target="../media/image61.png"/><Relationship Id="rId5" Type="http://schemas.openxmlformats.org/officeDocument/2006/relationships/image" Target="../media/image60.png"/><Relationship Id="rId6" Type="http://schemas.openxmlformats.org/officeDocument/2006/relationships/image" Target="../media/image6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9.jpg"/><Relationship Id="rId4" Type="http://schemas.openxmlformats.org/officeDocument/2006/relationships/image" Target="../media/image62.png"/><Relationship Id="rId5" Type="http://schemas.openxmlformats.org/officeDocument/2006/relationships/image" Target="../media/image7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7.jpg"/><Relationship Id="rId4" Type="http://schemas.openxmlformats.org/officeDocument/2006/relationships/image" Target="../media/image64.jpg"/><Relationship Id="rId5" Type="http://schemas.openxmlformats.org/officeDocument/2006/relationships/image" Target="../media/image7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5.png"/><Relationship Id="rId4" Type="http://schemas.openxmlformats.org/officeDocument/2006/relationships/image" Target="../media/image62.png"/><Relationship Id="rId5" Type="http://schemas.openxmlformats.org/officeDocument/2006/relationships/image" Target="../media/image69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8.png"/><Relationship Id="rId4" Type="http://schemas.openxmlformats.org/officeDocument/2006/relationships/image" Target="../media/image65.png"/><Relationship Id="rId5" Type="http://schemas.openxmlformats.org/officeDocument/2006/relationships/image" Target="../media/image69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3.png"/><Relationship Id="rId4" Type="http://schemas.openxmlformats.org/officeDocument/2006/relationships/image" Target="../media/image72.png"/><Relationship Id="rId5" Type="http://schemas.openxmlformats.org/officeDocument/2006/relationships/image" Target="../media/image70.png"/><Relationship Id="rId6" Type="http://schemas.openxmlformats.org/officeDocument/2006/relationships/image" Target="../media/image77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3.png"/><Relationship Id="rId4" Type="http://schemas.openxmlformats.org/officeDocument/2006/relationships/image" Target="../media/image7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3.png"/><Relationship Id="rId4" Type="http://schemas.openxmlformats.org/officeDocument/2006/relationships/image" Target="../media/image79.png"/><Relationship Id="rId9" Type="http://schemas.openxmlformats.org/officeDocument/2006/relationships/image" Target="../media/image70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78.png"/><Relationship Id="rId8" Type="http://schemas.openxmlformats.org/officeDocument/2006/relationships/image" Target="../media/image83.png"/><Relationship Id="rId10" Type="http://schemas.openxmlformats.org/officeDocument/2006/relationships/image" Target="../media/image7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2.png"/><Relationship Id="rId4" Type="http://schemas.openxmlformats.org/officeDocument/2006/relationships/image" Target="../media/image87.png"/><Relationship Id="rId5" Type="http://schemas.openxmlformats.org/officeDocument/2006/relationships/image" Target="../media/image86.png"/><Relationship Id="rId6" Type="http://schemas.openxmlformats.org/officeDocument/2006/relationships/image" Target="../media/image8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88.png"/><Relationship Id="rId6" Type="http://schemas.openxmlformats.org/officeDocument/2006/relationships/image" Target="../media/image9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2.png"/><Relationship Id="rId4" Type="http://schemas.openxmlformats.org/officeDocument/2006/relationships/image" Target="../media/image87.png"/><Relationship Id="rId5" Type="http://schemas.openxmlformats.org/officeDocument/2006/relationships/image" Target="../media/image86.png"/><Relationship Id="rId6" Type="http://schemas.openxmlformats.org/officeDocument/2006/relationships/image" Target="../media/image8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88.png"/><Relationship Id="rId6" Type="http://schemas.openxmlformats.org/officeDocument/2006/relationships/image" Target="../media/image9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small numbers in standard form</a:t>
            </a:r>
            <a:endParaRPr/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7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8"/>
          <p:cNvSpPr txBox="1"/>
          <p:nvPr>
            <p:ph idx="1" type="subTitle"/>
          </p:nvPr>
        </p:nvSpPr>
        <p:spPr>
          <a:xfrm>
            <a:off x="585575" y="1463950"/>
            <a:ext cx="72633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write very small numbers in the form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× 10</a:t>
            </a:r>
            <a:r>
              <a:rPr baseline="30000"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    (where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 ≤ A &lt; 10</a:t>
            </a:r>
            <a:r>
              <a:rPr lang="en-GB"/>
              <a:t>) </a:t>
            </a:r>
            <a:r>
              <a:rPr lang="en-GB"/>
              <a:t>and appreciate the real−life contexts where this format is usefully used.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9"/>
          <p:cNvSpPr txBox="1"/>
          <p:nvPr>
            <p:ph idx="1" type="subTitle"/>
          </p:nvPr>
        </p:nvSpPr>
        <p:spPr>
          <a:xfrm>
            <a:off x="324000" y="804600"/>
            <a:ext cx="84960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a number is multiplied by itself multiple times, it can be written more simply in exponential form.</a:t>
            </a:r>
            <a:endParaRPr baseline="30000" sz="1800"/>
          </a:p>
        </p:txBody>
      </p:sp>
      <p:sp>
        <p:nvSpPr>
          <p:cNvPr id="791" name="Google Shape;791;p69"/>
          <p:cNvSpPr txBox="1"/>
          <p:nvPr>
            <p:ph idx="1" type="subTitle"/>
          </p:nvPr>
        </p:nvSpPr>
        <p:spPr>
          <a:xfrm>
            <a:off x="3425275" y="1709450"/>
            <a:ext cx="6750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e.g. </a:t>
            </a:r>
            <a:endParaRPr baseline="30000" sz="1900"/>
          </a:p>
        </p:txBody>
      </p:sp>
      <p:pic>
        <p:nvPicPr>
          <p:cNvPr descr="&lt;math xmlns=&quot;http://www.w3.org/1998/Math/MathML&quot; display=&quot;block&quot; data-is-equatio=&quot;1&quot; data-latex=&quot;=\ 2^3&quot;&gt;&lt;mo&gt;=&lt;/mo&gt;&lt;mtext&gt;&lt;/mtext&gt;&lt;msup&gt;&lt;mn&gt;2&lt;/mn&gt;&lt;mn&gt;3&lt;/mn&gt;&lt;/msup&gt;&lt;/math&gt;" id="792" name="Google Shape;792;p69" title="equals 2 cub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350" y="1709450"/>
            <a:ext cx="687150" cy="2930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2\times2&quot;&gt;&lt;mn&gt;2&lt;/mn&gt;&lt;mo&gt;×&lt;/mo&gt;&lt;mn&gt;2&lt;/mn&gt;&lt;mo&gt;×&lt;/mo&gt;&lt;mn&gt;2&lt;/mn&gt;&lt;/math&gt;" id="793" name="Google Shape;793;p69" title="2 times 2 time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3175" y="1785650"/>
            <a:ext cx="1164682" cy="2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9"/>
          <p:cNvSpPr txBox="1"/>
          <p:nvPr>
            <p:ph idx="1" type="subTitle"/>
          </p:nvPr>
        </p:nvSpPr>
        <p:spPr>
          <a:xfrm>
            <a:off x="324000" y="2365250"/>
            <a:ext cx="8195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The </a:t>
            </a:r>
            <a:r>
              <a:rPr lang="en-GB" sz="1800"/>
              <a:t>associative law</a:t>
            </a:r>
            <a:r>
              <a:rPr b="0" lang="en-GB" sz="1800"/>
              <a:t> states that a repeated application of the operation produces the same result regardless of how pairs of values are grouped. </a:t>
            </a:r>
            <a:r>
              <a:rPr b="0" lang="en-GB" sz="1800">
                <a:solidFill>
                  <a:schemeClr val="dk1"/>
                </a:solidFill>
              </a:rPr>
              <a:t>We can group using brackets.</a:t>
            </a:r>
            <a:endParaRPr b="0" sz="1800"/>
          </a:p>
        </p:txBody>
      </p:sp>
      <p:sp>
        <p:nvSpPr>
          <p:cNvPr id="795" name="Google Shape;795;p69"/>
          <p:cNvSpPr txBox="1"/>
          <p:nvPr/>
        </p:nvSpPr>
        <p:spPr>
          <a:xfrm>
            <a:off x="323995" y="3529989"/>
            <a:ext cx="1399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Examples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9"/>
          <p:cNvSpPr txBox="1"/>
          <p:nvPr/>
        </p:nvSpPr>
        <p:spPr>
          <a:xfrm>
            <a:off x="335349" y="3933900"/>
            <a:ext cx="2606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2.4 × 100 =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9"/>
          <p:cNvSpPr txBox="1"/>
          <p:nvPr/>
        </p:nvSpPr>
        <p:spPr>
          <a:xfrm>
            <a:off x="4608153" y="3529989"/>
            <a:ext cx="2317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Non examples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9"/>
          <p:cNvSpPr txBox="1"/>
          <p:nvPr/>
        </p:nvSpPr>
        <p:spPr>
          <a:xfrm>
            <a:off x="4619500" y="3933900"/>
            <a:ext cx="19230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(48 ÷ 6) ÷ 2 =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9"/>
          <p:cNvSpPr txBox="1"/>
          <p:nvPr/>
        </p:nvSpPr>
        <p:spPr>
          <a:xfrm>
            <a:off x="6120250" y="3933900"/>
            <a:ext cx="13992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24 ÷ 6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/>
        </p:nvSpPr>
        <p:spPr>
          <a:xfrm>
            <a:off x="1829690" y="3946025"/>
            <a:ext cx="1260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7 + 10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9"/>
          <p:cNvSpPr txBox="1"/>
          <p:nvPr/>
        </p:nvSpPr>
        <p:spPr>
          <a:xfrm>
            <a:off x="1586925" y="3946025"/>
            <a:ext cx="2384700" cy="33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2.4 × 10 × 10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69"/>
          <p:cNvSpPr txBox="1"/>
          <p:nvPr/>
        </p:nvSpPr>
        <p:spPr>
          <a:xfrm>
            <a:off x="6085300" y="3933900"/>
            <a:ext cx="996900" cy="28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9"/>
          <p:cNvSpPr txBox="1"/>
          <p:nvPr/>
        </p:nvSpPr>
        <p:spPr>
          <a:xfrm>
            <a:off x="4556909" y="4276025"/>
            <a:ext cx="1923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48 ÷ (6 ÷ 2) =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69"/>
          <p:cNvSpPr txBox="1"/>
          <p:nvPr/>
        </p:nvSpPr>
        <p:spPr>
          <a:xfrm>
            <a:off x="6098904" y="4276025"/>
            <a:ext cx="151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48 ÷ 3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 txBox="1"/>
          <p:nvPr/>
        </p:nvSpPr>
        <p:spPr>
          <a:xfrm>
            <a:off x="6065378" y="4276025"/>
            <a:ext cx="1770900" cy="48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6" name="Google Shape;806;p69"/>
          <p:cNvCxnSpPr/>
          <p:nvPr/>
        </p:nvCxnSpPr>
        <p:spPr>
          <a:xfrm>
            <a:off x="4371200" y="3558725"/>
            <a:ext cx="0" cy="1383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7" name="Google Shape;807;p69"/>
          <p:cNvSpPr txBox="1"/>
          <p:nvPr/>
        </p:nvSpPr>
        <p:spPr>
          <a:xfrm>
            <a:off x="1799400" y="4276025"/>
            <a:ext cx="1367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(3 + 4) + 10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69"/>
          <p:cNvSpPr txBox="1"/>
          <p:nvPr/>
        </p:nvSpPr>
        <p:spPr>
          <a:xfrm>
            <a:off x="324000" y="4276025"/>
            <a:ext cx="2384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+ (4 + 10) =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306950" y="785500"/>
            <a:ext cx="7152300" cy="8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Standard form is when a number is written in </a:t>
            </a:r>
            <a:r>
              <a:rPr b="0" lang="en-GB">
                <a:solidFill>
                  <a:schemeClr val="dk1"/>
                </a:solidFill>
              </a:rPr>
              <a:t>the form </a:t>
            </a:r>
            <a:r>
              <a:rPr b="0"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10</a:t>
            </a:r>
            <a:r>
              <a:rPr b="0" baseline="30000"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lang="en-GB">
                <a:solidFill>
                  <a:schemeClr val="dk1"/>
                </a:solidFill>
              </a:rPr>
              <a:t>, (where </a:t>
            </a:r>
            <a:r>
              <a:rPr b="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≤ A &lt; 10</a:t>
            </a:r>
            <a:r>
              <a:rPr b="0" lang="en-GB">
                <a:solidFill>
                  <a:schemeClr val="dk1"/>
                </a:solidFill>
              </a:rPr>
              <a:t> and </a:t>
            </a:r>
            <a:r>
              <a:rPr b="0"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lang="en-GB">
                <a:solidFill>
                  <a:schemeClr val="dk1"/>
                </a:solidFill>
              </a:rPr>
              <a:t> is an integer).</a:t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 </a:t>
            </a:r>
            <a:endParaRPr b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very small numbers in standard form</a:t>
            </a:r>
            <a:endParaRPr/>
          </a:p>
        </p:txBody>
      </p:sp>
      <p:sp>
        <p:nvSpPr>
          <p:cNvPr id="819" name="Google Shape;819;p7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ordinary and standard form</a:t>
            </a:r>
            <a:endParaRPr/>
          </a:p>
        </p:txBody>
      </p:sp>
      <p:sp>
        <p:nvSpPr>
          <p:cNvPr id="820" name="Google Shape;820;p7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sp>
        <p:nvSpPr>
          <p:cNvPr id="821" name="Google Shape;821;p7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small numbers in standard form</a:t>
            </a:r>
            <a:endParaRPr/>
          </a:p>
        </p:txBody>
      </p:sp>
      <p:pic>
        <p:nvPicPr>
          <p:cNvPr id="822" name="Google Shape;82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499" y="174550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lt;math xmlns=&quot;http://www.w3.org/1998/Math/MathML&quot; display=&quot;block&quot; data-is-equatio=&quot;1&quot; data-latex=&quot;2.1\ \times0.01\ \ \ \ \ 21\ \times\frac{1}{1000}\ \ \ \ 2.1\times10^{-2}\ \ \ \ 2100\times0.00001&quot;&gt;&lt;mn&gt;2.1&lt;/mn&gt;&lt;mtext&gt;&lt;/mtext&gt;&lt;mo&gt;×&lt;/mo&gt;&lt;mn&gt;0.01&lt;/mn&gt;&lt;mtext&gt;&lt;/mtext&gt;&lt;mtext&gt;&lt;/mtext&gt;&lt;mtext&gt;&lt;/mtext&gt;&lt;mtext&gt;&lt;/mtext&gt;&lt;mtext&gt;&lt;/mtext&gt;&lt;mn&gt;21&lt;/mn&gt;&lt;mtext&gt;&lt;/mtext&gt;&lt;mo&gt;×&lt;/mo&gt;&lt;mfrac&gt;&lt;mn&gt;1&lt;/mn&gt;&lt;mn&gt;1000&lt;/mn&gt;&lt;/mfrac&gt;&lt;mtext&gt;&lt;/mtext&gt;&lt;mtext&gt;&lt;/mtext&gt;&lt;mtext&gt;&lt;/mtext&gt;&lt;mtext&gt;&lt;/mtext&gt;&lt;mn&gt;2.1&lt;/mn&gt;&lt;mo&gt;×&lt;/mo&gt;&lt;msup&gt;&lt;mn&gt;10&lt;/mn&gt;&lt;mrow data-mjx-texclass=&quot;ORD&quot;&gt;&lt;mo&gt;−&lt;/mo&gt;&lt;mn&gt;2&lt;/mn&gt;&lt;/mrow&gt;&lt;/msup&gt;&lt;mtext&gt;&lt;/mtext&gt;&lt;mtext&gt;&lt;/mtext&gt;&lt;mtext&gt;&lt;/mtext&gt;&lt;mtext&gt;&lt;/mtext&gt;&lt;mn&gt;2100&lt;/mn&gt;&lt;mo&gt;×&lt;/mo&gt;&lt;mn&gt;0.00001&lt;/mn&gt;&lt;/math&gt;" id="827" name="Google Shape;827;p72" title="2.1 times 0.01 21 times 1 over 1000 2.1 times 10 to the negative 2 power 2100 times 0.00001"/>
          <p:cNvSpPr txBox="1"/>
          <p:nvPr>
            <p:ph idx="1" type="body"/>
          </p:nvPr>
        </p:nvSpPr>
        <p:spPr>
          <a:xfrm>
            <a:off x="324000" y="759300"/>
            <a:ext cx="8237700" cy="20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decimal has been written in all these forms.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very small numbers in standard form</a:t>
            </a:r>
            <a:endParaRPr/>
          </a:p>
        </p:txBody>
      </p:sp>
      <p:sp>
        <p:nvSpPr>
          <p:cNvPr id="829" name="Google Shape;829;p72"/>
          <p:cNvSpPr txBox="1"/>
          <p:nvPr>
            <p:ph idx="1" type="body"/>
          </p:nvPr>
        </p:nvSpPr>
        <p:spPr>
          <a:xfrm>
            <a:off x="305825" y="2348875"/>
            <a:ext cx="8237700" cy="20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you work out what the decimal is?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It is 0.021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There are an infinite number of ways to write 0.021, but only one using standard form. Using a standard approach to write very small numbers is important.</a:t>
            </a:r>
            <a:endParaRPr/>
          </a:p>
        </p:txBody>
      </p:sp>
      <p:sp>
        <p:nvSpPr>
          <p:cNvPr id="830" name="Google Shape;830;p72"/>
          <p:cNvSpPr/>
          <p:nvPr/>
        </p:nvSpPr>
        <p:spPr>
          <a:xfrm>
            <a:off x="2190950" y="1174088"/>
            <a:ext cx="1988100" cy="972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/>
          <p:nvPr/>
        </p:nvSpPr>
        <p:spPr>
          <a:xfrm>
            <a:off x="324000" y="1174088"/>
            <a:ext cx="1736100" cy="972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2"/>
          <p:cNvSpPr/>
          <p:nvPr/>
        </p:nvSpPr>
        <p:spPr>
          <a:xfrm>
            <a:off x="4286400" y="1174088"/>
            <a:ext cx="1736100" cy="972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2"/>
          <p:cNvSpPr/>
          <p:nvPr/>
        </p:nvSpPr>
        <p:spPr>
          <a:xfrm>
            <a:off x="6191400" y="1174088"/>
            <a:ext cx="2319600" cy="972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4" name="Google Shape;834;p72"/>
          <p:cNvPicPr preferRelativeResize="0"/>
          <p:nvPr/>
        </p:nvPicPr>
        <p:blipFill rotWithShape="1">
          <a:blip r:embed="rId3">
            <a:alphaModFix/>
          </a:blip>
          <a:srcRect b="0" l="0" r="51413" t="0"/>
          <a:stretch/>
        </p:blipFill>
        <p:spPr>
          <a:xfrm>
            <a:off x="411600" y="1272175"/>
            <a:ext cx="3705899" cy="6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72"/>
          <p:cNvPicPr preferRelativeResize="0"/>
          <p:nvPr/>
        </p:nvPicPr>
        <p:blipFill rotWithShape="1">
          <a:blip r:embed="rId3">
            <a:alphaModFix/>
          </a:blip>
          <a:srcRect b="4009" l="71646" r="-596" t="-4010"/>
          <a:stretch/>
        </p:blipFill>
        <p:spPr>
          <a:xfrm>
            <a:off x="6220050" y="1312275"/>
            <a:ext cx="2208200" cy="6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72"/>
          <p:cNvPicPr preferRelativeResize="0"/>
          <p:nvPr/>
        </p:nvPicPr>
        <p:blipFill rotWithShape="1">
          <a:blip r:embed="rId3">
            <a:alphaModFix/>
          </a:blip>
          <a:srcRect b="3359" l="45286" r="30545" t="-3360"/>
          <a:stretch/>
        </p:blipFill>
        <p:spPr>
          <a:xfrm>
            <a:off x="4179050" y="1312275"/>
            <a:ext cx="1843449" cy="6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lt;math xmlns=&quot;http://www.w3.org/1998/Math/MathML&quot; display=&quot;block&quot; data-is-equatio=&quot;1&quot; data-latex=&quot;2.1\ \times0.01\ \ \ \ \ 21\ \times\frac{1}{1000}\ \ \ \ 2.1\times10^{-2}\ \ \ \ 2100\times0.00001&quot;&gt;&lt;mn&gt;2.1&lt;/mn&gt;&lt;mtext&gt;&lt;/mtext&gt;&lt;mo&gt;×&lt;/mo&gt;&lt;mn&gt;0.01&lt;/mn&gt;&lt;mtext&gt;&lt;/mtext&gt;&lt;mtext&gt;&lt;/mtext&gt;&lt;mtext&gt;&lt;/mtext&gt;&lt;mtext&gt;&lt;/mtext&gt;&lt;mtext&gt;&lt;/mtext&gt;&lt;mn&gt;21&lt;/mn&gt;&lt;mtext&gt;&lt;/mtext&gt;&lt;mo&gt;×&lt;/mo&gt;&lt;mfrac&gt;&lt;mn&gt;1&lt;/mn&gt;&lt;mn&gt;1000&lt;/mn&gt;&lt;/mfrac&gt;&lt;mtext&gt;&lt;/mtext&gt;&lt;mtext&gt;&lt;/mtext&gt;&lt;mtext&gt;&lt;/mtext&gt;&lt;mtext&gt;&lt;/mtext&gt;&lt;mn&gt;2.1&lt;/mn&gt;&lt;mo&gt;×&lt;/mo&gt;&lt;msup&gt;&lt;mn&gt;10&lt;/mn&gt;&lt;mrow data-mjx-texclass=&quot;ORD&quot;&gt;&lt;mo&gt;−&lt;/mo&gt;&lt;mn&gt;2&lt;/mn&gt;&lt;/mrow&gt;&lt;/msup&gt;&lt;mtext&gt;&lt;/mtext&gt;&lt;mtext&gt;&lt;/mtext&gt;&lt;mtext&gt;&lt;/mtext&gt;&lt;mtext&gt;&lt;/mtext&gt;&lt;mn&gt;2100&lt;/mn&gt;&lt;mo&gt;×&lt;/mo&gt;&lt;mn&gt;0.00001&lt;/mn&gt;&lt;/math&gt;" id="841" name="Google Shape;841;p73" title="2.1 times 0.01 21 times 1 over 1000 2.1 times 10 to the negative 2 power 2100 times 0.00001"/>
          <p:cNvSpPr txBox="1"/>
          <p:nvPr>
            <p:ph idx="1" type="body"/>
          </p:nvPr>
        </p:nvSpPr>
        <p:spPr>
          <a:xfrm>
            <a:off x="324000" y="759300"/>
            <a:ext cx="8237700" cy="120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standard form for big or small number is convention.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very small numbers in standard form</a:t>
            </a:r>
            <a:endParaRPr/>
          </a:p>
        </p:txBody>
      </p:sp>
      <p:sp>
        <p:nvSpPr>
          <p:cNvPr id="843" name="Google Shape;843;p73"/>
          <p:cNvSpPr txBox="1"/>
          <p:nvPr>
            <p:ph idx="1" type="body"/>
          </p:nvPr>
        </p:nvSpPr>
        <p:spPr>
          <a:xfrm>
            <a:off x="305825" y="2272675"/>
            <a:ext cx="8237700" cy="91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is because we do not want a number to be written in so many different ways as this can be confusing. </a:t>
            </a:r>
            <a:endParaRPr/>
          </a:p>
        </p:txBody>
      </p:sp>
      <p:sp>
        <p:nvSpPr>
          <p:cNvPr id="844" name="Google Shape;844;p73"/>
          <p:cNvSpPr/>
          <p:nvPr/>
        </p:nvSpPr>
        <p:spPr>
          <a:xfrm>
            <a:off x="4286400" y="1174088"/>
            <a:ext cx="1736100" cy="972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5" name="Google Shape;845;p73"/>
          <p:cNvPicPr preferRelativeResize="0"/>
          <p:nvPr/>
        </p:nvPicPr>
        <p:blipFill rotWithShape="1">
          <a:blip r:embed="rId3">
            <a:alphaModFix/>
          </a:blip>
          <a:srcRect b="3359" l="45286" r="30545" t="-3360"/>
          <a:stretch/>
        </p:blipFill>
        <p:spPr>
          <a:xfrm>
            <a:off x="4179050" y="1312275"/>
            <a:ext cx="1843449" cy="6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8558" y="14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lt;math xmlns=&quot;http://www.w3.org/1998/Math/MathML&quot; display=&quot;block&quot; data-is-equatio=&quot;1&quot; data-latex=&quot;2.1\ \times0.01\ \ \ \ \ 21\ \times\frac{1}{1000}\ \ \ \ 2.1\times10^{-2}\ \ \ \ 2100\times0.00001&quot;&gt;&lt;mn&gt;2.1&lt;/mn&gt;&lt;mtext&gt;&lt;/mtext&gt;&lt;mo&gt;×&lt;/mo&gt;&lt;mn&gt;0.01&lt;/mn&gt;&lt;mtext&gt;&lt;/mtext&gt;&lt;mtext&gt;&lt;/mtext&gt;&lt;mtext&gt;&lt;/mtext&gt;&lt;mtext&gt;&lt;/mtext&gt;&lt;mtext&gt;&lt;/mtext&gt;&lt;mn&gt;21&lt;/mn&gt;&lt;mtext&gt;&lt;/mtext&gt;&lt;mo&gt;×&lt;/mo&gt;&lt;mfrac&gt;&lt;mn&gt;1&lt;/mn&gt;&lt;mn&gt;1000&lt;/mn&gt;&lt;/mfrac&gt;&lt;mtext&gt;&lt;/mtext&gt;&lt;mtext&gt;&lt;/mtext&gt;&lt;mtext&gt;&lt;/mtext&gt;&lt;mtext&gt;&lt;/mtext&gt;&lt;mn&gt;2.1&lt;/mn&gt;&lt;mo&gt;×&lt;/mo&gt;&lt;msup&gt;&lt;mn&gt;10&lt;/mn&gt;&lt;mrow data-mjx-texclass=&quot;ORD&quot;&gt;&lt;mo&gt;−&lt;/mo&gt;&lt;mn&gt;2&lt;/mn&gt;&lt;/mrow&gt;&lt;/msup&gt;&lt;mtext&gt;&lt;/mtext&gt;&lt;mtext&gt;&lt;/mtext&gt;&lt;mtext&gt;&lt;/mtext&gt;&lt;mtext&gt;&lt;/mtext&gt;&lt;mn&gt;2100&lt;/mn&gt;&lt;mo&gt;×&lt;/mo&gt;&lt;mn&gt;0.00001&lt;/mn&gt;&lt;/math&gt;" id="851" name="Google Shape;851;p74" title="2.1 times 0.01 21 times 1 over 1000 2.1 times 10 to the negative 2 power 2100 times 0.00001"/>
          <p:cNvSpPr txBox="1"/>
          <p:nvPr>
            <p:ph idx="1" type="body"/>
          </p:nvPr>
        </p:nvSpPr>
        <p:spPr>
          <a:xfrm>
            <a:off x="324000" y="759300"/>
            <a:ext cx="8237700" cy="120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standard form for big or small number is convention.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very small numbers in standard form</a:t>
            </a:r>
            <a:endParaRPr/>
          </a:p>
        </p:txBody>
      </p:sp>
      <p:sp>
        <p:nvSpPr>
          <p:cNvPr id="853" name="Google Shape;853;p74"/>
          <p:cNvSpPr txBox="1"/>
          <p:nvPr/>
        </p:nvSpPr>
        <p:spPr>
          <a:xfrm>
            <a:off x="1473225" y="1383750"/>
            <a:ext cx="663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10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where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≤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10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an integer.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4"/>
          <p:cNvSpPr/>
          <p:nvPr/>
        </p:nvSpPr>
        <p:spPr>
          <a:xfrm rot="5400000">
            <a:off x="4141564" y="1335450"/>
            <a:ext cx="59100" cy="1298100"/>
          </a:xfrm>
          <a:prstGeom prst="righ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5" name="Google Shape;855;p74"/>
          <p:cNvCxnSpPr>
            <a:stCxn id="854" idx="2"/>
          </p:cNvCxnSpPr>
          <p:nvPr/>
        </p:nvCxnSpPr>
        <p:spPr>
          <a:xfrm>
            <a:off x="4171114" y="2014050"/>
            <a:ext cx="0" cy="3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6" name="Google Shape;856;p74"/>
          <p:cNvSpPr txBox="1"/>
          <p:nvPr/>
        </p:nvSpPr>
        <p:spPr>
          <a:xfrm>
            <a:off x="1470625" y="2321250"/>
            <a:ext cx="42480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must be a number between 1 and 10, including 1 and not including 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4"/>
          <p:cNvSpPr/>
          <p:nvPr/>
        </p:nvSpPr>
        <p:spPr>
          <a:xfrm rot="5400000">
            <a:off x="6499956" y="958200"/>
            <a:ext cx="59100" cy="2052600"/>
          </a:xfrm>
          <a:prstGeom prst="righ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8" name="Google Shape;858;p74"/>
          <p:cNvCxnSpPr>
            <a:stCxn id="857" idx="2"/>
          </p:cNvCxnSpPr>
          <p:nvPr/>
        </p:nvCxnSpPr>
        <p:spPr>
          <a:xfrm>
            <a:off x="6529506" y="2014050"/>
            <a:ext cx="0" cy="3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9" name="Google Shape;859;p74"/>
          <p:cNvSpPr txBox="1"/>
          <p:nvPr/>
        </p:nvSpPr>
        <p:spPr>
          <a:xfrm>
            <a:off x="5926800" y="2321250"/>
            <a:ext cx="24552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 be a positive or negative whole number.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very small numbers in standard form</a:t>
            </a:r>
            <a:endParaRPr/>
          </a:p>
        </p:txBody>
      </p:sp>
      <p:sp>
        <p:nvSpPr>
          <p:cNvPr id="865" name="Google Shape;865;p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Using a place value chart is an excellent way to visualise the number and convert to </a:t>
            </a:r>
            <a:r>
              <a:rPr lang="en-GB" sz="2100"/>
              <a:t>standard form</a:t>
            </a:r>
            <a:r>
              <a:rPr lang="en-GB" sz="2100"/>
              <a:t>, but it does take time.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graphicFrame>
        <p:nvGraphicFramePr>
          <p:cNvPr id="866" name="Google Shape;866;p75"/>
          <p:cNvGraphicFramePr/>
          <p:nvPr/>
        </p:nvGraphicFramePr>
        <p:xfrm>
          <a:off x="643213" y="2179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{E23249BD-A887-4AAB-8C37-068768A7FD16}</a:tableStyleId>
              </a:tblPr>
              <a:tblGrid>
                <a:gridCol w="809350"/>
                <a:gridCol w="809350"/>
                <a:gridCol w="809350"/>
              </a:tblGrid>
              <a:tr h="5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7" name="Google Shape;867;p75"/>
          <p:cNvSpPr txBox="1"/>
          <p:nvPr/>
        </p:nvSpPr>
        <p:spPr>
          <a:xfrm>
            <a:off x="609542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5"/>
          <p:cNvSpPr/>
          <p:nvPr/>
        </p:nvSpPr>
        <p:spPr>
          <a:xfrm>
            <a:off x="1385511" y="3347656"/>
            <a:ext cx="135300" cy="145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69" name="Google Shape;869;p75"/>
          <p:cNvSpPr txBox="1"/>
          <p:nvPr/>
        </p:nvSpPr>
        <p:spPr>
          <a:xfrm>
            <a:off x="609412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5"/>
          <p:cNvSpPr txBox="1"/>
          <p:nvPr/>
        </p:nvSpPr>
        <p:spPr>
          <a:xfrm>
            <a:off x="1388857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5"/>
          <p:cNvSpPr txBox="1"/>
          <p:nvPr/>
        </p:nvSpPr>
        <p:spPr>
          <a:xfrm>
            <a:off x="2176197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5"/>
          <p:cNvSpPr txBox="1"/>
          <p:nvPr/>
        </p:nvSpPr>
        <p:spPr>
          <a:xfrm>
            <a:off x="1408092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5"/>
          <p:cNvSpPr txBox="1"/>
          <p:nvPr/>
        </p:nvSpPr>
        <p:spPr>
          <a:xfrm>
            <a:off x="2206772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74" name="Google Shape;874;p75"/>
          <p:cNvGraphicFramePr/>
          <p:nvPr/>
        </p:nvGraphicFramePr>
        <p:xfrm>
          <a:off x="3068176" y="2179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{E23249BD-A887-4AAB-8C37-068768A7FD16}</a:tableStyleId>
              </a:tblPr>
              <a:tblGrid>
                <a:gridCol w="809350"/>
                <a:gridCol w="809350"/>
                <a:gridCol w="809350"/>
              </a:tblGrid>
              <a:tr h="5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5" name="Google Shape;875;p75"/>
          <p:cNvSpPr txBox="1"/>
          <p:nvPr/>
        </p:nvSpPr>
        <p:spPr>
          <a:xfrm>
            <a:off x="3014939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5"/>
          <p:cNvSpPr txBox="1"/>
          <p:nvPr/>
        </p:nvSpPr>
        <p:spPr>
          <a:xfrm>
            <a:off x="3776939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5"/>
          <p:cNvSpPr txBox="1"/>
          <p:nvPr/>
        </p:nvSpPr>
        <p:spPr>
          <a:xfrm>
            <a:off x="4615139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5"/>
          <p:cNvSpPr txBox="1"/>
          <p:nvPr/>
        </p:nvSpPr>
        <p:spPr>
          <a:xfrm>
            <a:off x="3045514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5"/>
          <p:cNvSpPr txBox="1"/>
          <p:nvPr/>
        </p:nvSpPr>
        <p:spPr>
          <a:xfrm>
            <a:off x="3870190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5"/>
          <p:cNvSpPr txBox="1"/>
          <p:nvPr/>
        </p:nvSpPr>
        <p:spPr>
          <a:xfrm>
            <a:off x="4690359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81" name="Google Shape;881;p75"/>
          <p:cNvGraphicFramePr/>
          <p:nvPr/>
        </p:nvGraphicFramePr>
        <p:xfrm>
          <a:off x="5497548" y="2179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{E23249BD-A887-4AAB-8C37-068768A7FD16}</a:tableStyleId>
              </a:tblPr>
              <a:tblGrid>
                <a:gridCol w="809350"/>
                <a:gridCol w="809350"/>
                <a:gridCol w="809350"/>
              </a:tblGrid>
              <a:tr h="5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2" name="Google Shape;882;p75"/>
          <p:cNvSpPr txBox="1"/>
          <p:nvPr/>
        </p:nvSpPr>
        <p:spPr>
          <a:xfrm>
            <a:off x="5444310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5"/>
          <p:cNvSpPr txBox="1"/>
          <p:nvPr/>
        </p:nvSpPr>
        <p:spPr>
          <a:xfrm>
            <a:off x="6206310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5"/>
          <p:cNvSpPr txBox="1"/>
          <p:nvPr/>
        </p:nvSpPr>
        <p:spPr>
          <a:xfrm>
            <a:off x="7044510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5"/>
          <p:cNvSpPr txBox="1"/>
          <p:nvPr/>
        </p:nvSpPr>
        <p:spPr>
          <a:xfrm>
            <a:off x="5474885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5"/>
          <p:cNvSpPr txBox="1"/>
          <p:nvPr/>
        </p:nvSpPr>
        <p:spPr>
          <a:xfrm>
            <a:off x="6299562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5"/>
          <p:cNvSpPr txBox="1"/>
          <p:nvPr/>
        </p:nvSpPr>
        <p:spPr>
          <a:xfrm>
            <a:off x="7119730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88" name="Google Shape;888;p75"/>
          <p:cNvGraphicFramePr/>
          <p:nvPr/>
        </p:nvGraphicFramePr>
        <p:xfrm>
          <a:off x="7931434" y="2179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{E23249BD-A887-4AAB-8C37-068768A7FD16}</a:tableStyleId>
              </a:tblPr>
              <a:tblGrid>
                <a:gridCol w="809350"/>
              </a:tblGrid>
              <a:tr h="5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9" name="Google Shape;889;p75"/>
          <p:cNvSpPr txBox="1"/>
          <p:nvPr/>
        </p:nvSpPr>
        <p:spPr>
          <a:xfrm>
            <a:off x="7847138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5"/>
          <p:cNvSpPr txBox="1"/>
          <p:nvPr/>
        </p:nvSpPr>
        <p:spPr>
          <a:xfrm>
            <a:off x="7881730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76"/>
          <p:cNvSpPr txBox="1"/>
          <p:nvPr>
            <p:ph idx="1" type="body"/>
          </p:nvPr>
        </p:nvSpPr>
        <p:spPr>
          <a:xfrm>
            <a:off x="324000" y="759300"/>
            <a:ext cx="8237700" cy="13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place value chart,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do you think this number would be in standard form?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6.19</a:t>
            </a:r>
            <a:r>
              <a:rPr lang="en-GB"/>
              <a:t> </a:t>
            </a:r>
            <a:r>
              <a:rPr lang="en-GB" sz="2100"/>
              <a:t>× 10</a:t>
            </a:r>
            <a:r>
              <a:rPr baseline="30000" lang="en-GB" sz="2100"/>
              <a:t>−5</a:t>
            </a:r>
            <a:endParaRPr/>
          </a:p>
        </p:txBody>
      </p:sp>
      <p:sp>
        <p:nvSpPr>
          <p:cNvPr id="896" name="Google Shape;89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very small numbers in standard form</a:t>
            </a:r>
            <a:endParaRPr/>
          </a:p>
        </p:txBody>
      </p:sp>
      <p:graphicFrame>
        <p:nvGraphicFramePr>
          <p:cNvPr id="897" name="Google Shape;897;p76"/>
          <p:cNvGraphicFramePr/>
          <p:nvPr/>
        </p:nvGraphicFramePr>
        <p:xfrm>
          <a:off x="643213" y="2179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{E23249BD-A887-4AAB-8C37-068768A7FD16}</a:tableStyleId>
              </a:tblPr>
              <a:tblGrid>
                <a:gridCol w="809350"/>
                <a:gridCol w="809350"/>
                <a:gridCol w="809350"/>
              </a:tblGrid>
              <a:tr h="5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8" name="Google Shape;898;p76"/>
          <p:cNvSpPr txBox="1"/>
          <p:nvPr/>
        </p:nvSpPr>
        <p:spPr>
          <a:xfrm>
            <a:off x="609542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6"/>
          <p:cNvSpPr/>
          <p:nvPr/>
        </p:nvSpPr>
        <p:spPr>
          <a:xfrm>
            <a:off x="1385511" y="3347656"/>
            <a:ext cx="135300" cy="145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00" name="Google Shape;900;p76"/>
          <p:cNvSpPr txBox="1"/>
          <p:nvPr/>
        </p:nvSpPr>
        <p:spPr>
          <a:xfrm>
            <a:off x="609412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6"/>
          <p:cNvSpPr txBox="1"/>
          <p:nvPr/>
        </p:nvSpPr>
        <p:spPr>
          <a:xfrm>
            <a:off x="1388857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6"/>
          <p:cNvSpPr txBox="1"/>
          <p:nvPr/>
        </p:nvSpPr>
        <p:spPr>
          <a:xfrm>
            <a:off x="2176197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6"/>
          <p:cNvSpPr txBox="1"/>
          <p:nvPr/>
        </p:nvSpPr>
        <p:spPr>
          <a:xfrm>
            <a:off x="1408092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6"/>
          <p:cNvSpPr txBox="1"/>
          <p:nvPr/>
        </p:nvSpPr>
        <p:spPr>
          <a:xfrm>
            <a:off x="2206772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05" name="Google Shape;905;p76"/>
          <p:cNvGraphicFramePr/>
          <p:nvPr/>
        </p:nvGraphicFramePr>
        <p:xfrm>
          <a:off x="3068176" y="2179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{E23249BD-A887-4AAB-8C37-068768A7FD16}</a:tableStyleId>
              </a:tblPr>
              <a:tblGrid>
                <a:gridCol w="809350"/>
                <a:gridCol w="809350"/>
                <a:gridCol w="809350"/>
              </a:tblGrid>
              <a:tr h="5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6" name="Google Shape;906;p76"/>
          <p:cNvSpPr txBox="1"/>
          <p:nvPr/>
        </p:nvSpPr>
        <p:spPr>
          <a:xfrm>
            <a:off x="3014939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6"/>
          <p:cNvSpPr txBox="1"/>
          <p:nvPr/>
        </p:nvSpPr>
        <p:spPr>
          <a:xfrm>
            <a:off x="3776939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6"/>
          <p:cNvSpPr txBox="1"/>
          <p:nvPr/>
        </p:nvSpPr>
        <p:spPr>
          <a:xfrm>
            <a:off x="4615139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6"/>
          <p:cNvSpPr txBox="1"/>
          <p:nvPr/>
        </p:nvSpPr>
        <p:spPr>
          <a:xfrm>
            <a:off x="3045514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6"/>
          <p:cNvSpPr txBox="1"/>
          <p:nvPr/>
        </p:nvSpPr>
        <p:spPr>
          <a:xfrm>
            <a:off x="3870190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6"/>
          <p:cNvSpPr txBox="1"/>
          <p:nvPr/>
        </p:nvSpPr>
        <p:spPr>
          <a:xfrm>
            <a:off x="4690359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12" name="Google Shape;912;p76"/>
          <p:cNvGraphicFramePr/>
          <p:nvPr/>
        </p:nvGraphicFramePr>
        <p:xfrm>
          <a:off x="5497548" y="2179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{E23249BD-A887-4AAB-8C37-068768A7FD16}</a:tableStyleId>
              </a:tblPr>
              <a:tblGrid>
                <a:gridCol w="809350"/>
                <a:gridCol w="809350"/>
                <a:gridCol w="809350"/>
              </a:tblGrid>
              <a:tr h="5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3" name="Google Shape;913;p76"/>
          <p:cNvSpPr txBox="1"/>
          <p:nvPr/>
        </p:nvSpPr>
        <p:spPr>
          <a:xfrm>
            <a:off x="5444310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6"/>
          <p:cNvSpPr txBox="1"/>
          <p:nvPr/>
        </p:nvSpPr>
        <p:spPr>
          <a:xfrm>
            <a:off x="6206310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6"/>
          <p:cNvSpPr txBox="1"/>
          <p:nvPr/>
        </p:nvSpPr>
        <p:spPr>
          <a:xfrm>
            <a:off x="7044510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6"/>
          <p:cNvSpPr txBox="1"/>
          <p:nvPr/>
        </p:nvSpPr>
        <p:spPr>
          <a:xfrm>
            <a:off x="5474885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6"/>
          <p:cNvSpPr txBox="1"/>
          <p:nvPr/>
        </p:nvSpPr>
        <p:spPr>
          <a:xfrm>
            <a:off x="6299562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6"/>
          <p:cNvSpPr txBox="1"/>
          <p:nvPr/>
        </p:nvSpPr>
        <p:spPr>
          <a:xfrm>
            <a:off x="7119730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19" name="Google Shape;919;p76"/>
          <p:cNvGraphicFramePr/>
          <p:nvPr/>
        </p:nvGraphicFramePr>
        <p:xfrm>
          <a:off x="7931434" y="2179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{E23249BD-A887-4AAB-8C37-068768A7FD16}</a:tableStyleId>
              </a:tblPr>
              <a:tblGrid>
                <a:gridCol w="809350"/>
              </a:tblGrid>
              <a:tr h="5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0" name="Google Shape;920;p76"/>
          <p:cNvSpPr txBox="1"/>
          <p:nvPr/>
        </p:nvSpPr>
        <p:spPr>
          <a:xfrm>
            <a:off x="7847138" y="22159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6"/>
          <p:cNvSpPr txBox="1"/>
          <p:nvPr/>
        </p:nvSpPr>
        <p:spPr>
          <a:xfrm>
            <a:off x="7881730" y="27445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6"/>
          <p:cNvSpPr txBox="1"/>
          <p:nvPr/>
        </p:nvSpPr>
        <p:spPr>
          <a:xfrm>
            <a:off x="357125" y="3895775"/>
            <a:ext cx="836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see if we can find a way without the place value chart.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77"/>
          <p:cNvSpPr txBox="1"/>
          <p:nvPr>
            <p:ph idx="1" type="body"/>
          </p:nvPr>
        </p:nvSpPr>
        <p:spPr>
          <a:xfrm>
            <a:off x="324000" y="759300"/>
            <a:ext cx="8600700" cy="142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Without the place value chart, how do we write it in standard form?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Firstly, using the digit 6, 1 and 9, we make a number to satisfy   </a:t>
            </a:r>
            <a:endParaRPr sz="20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1 ≤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/>
              <a:t> &lt; 10</a:t>
            </a:r>
            <a:endParaRPr sz="2000"/>
          </a:p>
        </p:txBody>
      </p:sp>
      <p:sp>
        <p:nvSpPr>
          <p:cNvPr id="928" name="Google Shape;928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very small numbers in standard form</a:t>
            </a:r>
            <a:endParaRPr/>
          </a:p>
        </p:txBody>
      </p:sp>
      <p:sp>
        <p:nvSpPr>
          <p:cNvPr id="929" name="Google Shape;929;p77"/>
          <p:cNvSpPr txBox="1"/>
          <p:nvPr/>
        </p:nvSpPr>
        <p:spPr>
          <a:xfrm>
            <a:off x="797050" y="3627275"/>
            <a:ext cx="2132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6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1        9    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7"/>
          <p:cNvSpPr txBox="1"/>
          <p:nvPr/>
        </p:nvSpPr>
        <p:spPr>
          <a:xfrm>
            <a:off x="875565" y="3158453"/>
            <a:ext cx="7812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0    .     0         0         0         0          6         1          9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7"/>
          <p:cNvSpPr txBox="1"/>
          <p:nvPr/>
        </p:nvSpPr>
        <p:spPr>
          <a:xfrm>
            <a:off x="324000" y="2246775"/>
            <a:ext cx="83163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we know the standard form should look like this so far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22860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6.19 × 10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⬜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78"/>
          <p:cNvSpPr txBox="1"/>
          <p:nvPr>
            <p:ph idx="1" type="body"/>
          </p:nvPr>
        </p:nvSpPr>
        <p:spPr>
          <a:xfrm>
            <a:off x="324000" y="759300"/>
            <a:ext cx="8600700" cy="7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Now, we count how many multiplications of      we use to get 6.19 to 0.000 061 9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37" name="Google Shape;937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very small numbers in standard form</a:t>
            </a:r>
            <a:endParaRPr/>
          </a:p>
        </p:txBody>
      </p:sp>
      <p:sp>
        <p:nvSpPr>
          <p:cNvPr id="938" name="Google Shape;938;p78"/>
          <p:cNvSpPr txBox="1"/>
          <p:nvPr/>
        </p:nvSpPr>
        <p:spPr>
          <a:xfrm>
            <a:off x="797050" y="3627275"/>
            <a:ext cx="2132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    1        9    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8"/>
          <p:cNvSpPr txBox="1"/>
          <p:nvPr/>
        </p:nvSpPr>
        <p:spPr>
          <a:xfrm>
            <a:off x="875565" y="3158453"/>
            <a:ext cx="7812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0    .     0         0         0         0         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1          9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40" name="Google Shape;940;p78" title="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7025" y="677600"/>
            <a:ext cx="262878" cy="48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78"/>
          <p:cNvSpPr/>
          <p:nvPr/>
        </p:nvSpPr>
        <p:spPr>
          <a:xfrm>
            <a:off x="1124714" y="2879650"/>
            <a:ext cx="7164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78"/>
          <p:cNvSpPr/>
          <p:nvPr/>
        </p:nvSpPr>
        <p:spPr>
          <a:xfrm>
            <a:off x="1929060" y="2879650"/>
            <a:ext cx="7659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78"/>
          <p:cNvSpPr/>
          <p:nvPr/>
        </p:nvSpPr>
        <p:spPr>
          <a:xfrm>
            <a:off x="2831654" y="2879650"/>
            <a:ext cx="7164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78"/>
          <p:cNvSpPr/>
          <p:nvPr/>
        </p:nvSpPr>
        <p:spPr>
          <a:xfrm>
            <a:off x="3595936" y="2879650"/>
            <a:ext cx="7659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78"/>
          <p:cNvSpPr/>
          <p:nvPr/>
        </p:nvSpPr>
        <p:spPr>
          <a:xfrm>
            <a:off x="4419002" y="2879650"/>
            <a:ext cx="724200" cy="613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46" name="Google Shape;946;p78" title="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0465" y="1422919"/>
            <a:ext cx="262878" cy="48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47" name="Google Shape;947;p78" title="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925" y="1422350"/>
            <a:ext cx="262878" cy="48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48" name="Google Shape;948;p78" title="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4975" y="1422350"/>
            <a:ext cx="262878" cy="48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49" name="Google Shape;949;p78" title="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0025" y="1422350"/>
            <a:ext cx="262878" cy="48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50" name="Google Shape;950;p78" title="one tenth"/>
          <p:cNvPicPr preferRelativeResize="0"/>
          <p:nvPr/>
        </p:nvPicPr>
        <p:blipFill rotWithShape="1">
          <a:blip r:embed="rId3">
            <a:alphaModFix/>
          </a:blip>
          <a:srcRect b="-5552" l="0" r="0" t="0"/>
          <a:stretch/>
        </p:blipFill>
        <p:spPr>
          <a:xfrm>
            <a:off x="5685075" y="1422350"/>
            <a:ext cx="262875" cy="514275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78"/>
          <p:cNvSpPr txBox="1"/>
          <p:nvPr/>
        </p:nvSpPr>
        <p:spPr>
          <a:xfrm>
            <a:off x="1353600" y="1433188"/>
            <a:ext cx="685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means 6.19                                      =  0.000 061 9  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952" name="Google Shape;952;p78"/>
          <p:cNvSpPr txBox="1"/>
          <p:nvPr/>
        </p:nvSpPr>
        <p:spPr>
          <a:xfrm>
            <a:off x="3404300" y="1428180"/>
            <a:ext cx="3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/>
          </a:p>
        </p:txBody>
      </p:sp>
      <p:sp>
        <p:nvSpPr>
          <p:cNvPr id="953" name="Google Shape;953;p78"/>
          <p:cNvSpPr txBox="1"/>
          <p:nvPr/>
        </p:nvSpPr>
        <p:spPr>
          <a:xfrm>
            <a:off x="3922035" y="1419650"/>
            <a:ext cx="3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/>
          </a:p>
        </p:txBody>
      </p:sp>
      <p:sp>
        <p:nvSpPr>
          <p:cNvPr id="954" name="Google Shape;954;p78"/>
          <p:cNvSpPr txBox="1"/>
          <p:nvPr/>
        </p:nvSpPr>
        <p:spPr>
          <a:xfrm>
            <a:off x="4439771" y="1419650"/>
            <a:ext cx="3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/>
          </a:p>
        </p:txBody>
      </p:sp>
      <p:sp>
        <p:nvSpPr>
          <p:cNvPr id="955" name="Google Shape;955;p78"/>
          <p:cNvSpPr txBox="1"/>
          <p:nvPr/>
        </p:nvSpPr>
        <p:spPr>
          <a:xfrm>
            <a:off x="4923387" y="1411120"/>
            <a:ext cx="3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/>
          </a:p>
        </p:txBody>
      </p:sp>
      <p:sp>
        <p:nvSpPr>
          <p:cNvPr id="956" name="Google Shape;956;p78"/>
          <p:cNvSpPr txBox="1"/>
          <p:nvPr/>
        </p:nvSpPr>
        <p:spPr>
          <a:xfrm>
            <a:off x="5424063" y="1419650"/>
            <a:ext cx="3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/>
          </a:p>
        </p:txBody>
      </p:sp>
      <p:sp>
        <p:nvSpPr>
          <p:cNvPr id="957" name="Google Shape;957;p78"/>
          <p:cNvSpPr txBox="1"/>
          <p:nvPr/>
        </p:nvSpPr>
        <p:spPr>
          <a:xfrm>
            <a:off x="2310602" y="1972155"/>
            <a:ext cx="69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standard form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6.19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−5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 0.000 061 9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79"/>
          <p:cNvSpPr txBox="1"/>
          <p:nvPr>
            <p:ph idx="4294967295" type="body"/>
          </p:nvPr>
        </p:nvSpPr>
        <p:spPr>
          <a:xfrm>
            <a:off x="324000" y="659975"/>
            <a:ext cx="8237700" cy="36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Laura says she knows a shortcut.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Can you explain why Laura’s short cut works for small numbers?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3" name="Google Shape;96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very small numbers in standard form</a:t>
            </a:r>
            <a:endParaRPr/>
          </a:p>
        </p:txBody>
      </p:sp>
      <p:pic>
        <p:nvPicPr>
          <p:cNvPr id="964" name="Google Shape;96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02" y="156420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79"/>
          <p:cNvSpPr txBox="1"/>
          <p:nvPr/>
        </p:nvSpPr>
        <p:spPr>
          <a:xfrm>
            <a:off x="511675" y="25968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6" name="Google Shape;966;p79"/>
          <p:cNvPicPr preferRelativeResize="0"/>
          <p:nvPr/>
        </p:nvPicPr>
        <p:blipFill rotWithShape="1">
          <a:blip r:embed="rId4">
            <a:alphaModFix/>
          </a:blip>
          <a:srcRect b="6172" l="40550" r="0" t="13240"/>
          <a:stretch/>
        </p:blipFill>
        <p:spPr>
          <a:xfrm>
            <a:off x="1240575" y="1049275"/>
            <a:ext cx="3224049" cy="1977675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79"/>
          <p:cNvSpPr txBox="1"/>
          <p:nvPr/>
        </p:nvSpPr>
        <p:spPr>
          <a:xfrm>
            <a:off x="1446175" y="1144188"/>
            <a:ext cx="3000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small numbers, the negative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exponent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tells you it is small and the number tells you how many zeros to put.</a:t>
            </a:r>
            <a:endParaRPr sz="1800"/>
          </a:p>
        </p:txBody>
      </p:sp>
      <p:pic>
        <p:nvPicPr>
          <p:cNvPr id="968" name="Google Shape;968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597601" y="1080000"/>
            <a:ext cx="2999999" cy="2253926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79"/>
          <p:cNvSpPr txBox="1"/>
          <p:nvPr/>
        </p:nvSpPr>
        <p:spPr>
          <a:xfrm>
            <a:off x="4653125" y="1050500"/>
            <a:ext cx="3000000" cy="19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see so 1.24 × 10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has an negative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exponent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so I know it is small. The number in the exponent is 3 so there are 3 zeros.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0.00124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0" name="Google Shape;970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53115" y="2160000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79"/>
          <p:cNvSpPr txBox="1"/>
          <p:nvPr/>
        </p:nvSpPr>
        <p:spPr>
          <a:xfrm>
            <a:off x="7459200" y="3101788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9"/>
          <p:cNvSpPr txBox="1"/>
          <p:nvPr/>
        </p:nvSpPr>
        <p:spPr>
          <a:xfrm>
            <a:off x="258600" y="3597275"/>
            <a:ext cx="7950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When a number is correctly written in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standard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form the negative exponent is the number of divisions by 10.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80"/>
          <p:cNvSpPr txBox="1"/>
          <p:nvPr>
            <p:ph idx="1" type="body"/>
          </p:nvPr>
        </p:nvSpPr>
        <p:spPr>
          <a:xfrm>
            <a:off x="324000" y="759300"/>
            <a:ext cx="8237700" cy="369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the following into an ordinary number: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1.82</a:t>
            </a:r>
            <a:r>
              <a:rPr lang="en-GB"/>
              <a:t>  </a:t>
            </a:r>
            <a:r>
              <a:rPr lang="en-GB" sz="2100"/>
              <a:t>× 10</a:t>
            </a:r>
            <a:r>
              <a:rPr baseline="30000" lang="en-GB" sz="2100"/>
              <a:t>−4</a:t>
            </a:r>
            <a:br>
              <a:rPr baseline="30000" lang="en-GB" sz="2100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9.6</a:t>
            </a:r>
            <a:r>
              <a:rPr lang="en-GB"/>
              <a:t>  </a:t>
            </a:r>
            <a:r>
              <a:rPr lang="en-GB" sz="2100"/>
              <a:t>× 10</a:t>
            </a:r>
            <a:r>
              <a:rPr baseline="30000" lang="en-GB" sz="2100"/>
              <a:t>−2</a:t>
            </a:r>
            <a:br>
              <a:rPr baseline="30000" lang="en-GB" sz="2100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5.15</a:t>
            </a:r>
            <a:r>
              <a:rPr lang="en-GB"/>
              <a:t>  </a:t>
            </a:r>
            <a:r>
              <a:rPr lang="en-GB" sz="2100"/>
              <a:t>× 10</a:t>
            </a:r>
            <a:r>
              <a:rPr baseline="30000" lang="en-GB" sz="2100"/>
              <a:t>−7</a:t>
            </a:r>
            <a:br>
              <a:rPr baseline="30000" lang="en-GB" sz="2100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1.035</a:t>
            </a:r>
            <a:r>
              <a:rPr lang="en-GB"/>
              <a:t>  </a:t>
            </a:r>
            <a:r>
              <a:rPr lang="en-GB" sz="2100"/>
              <a:t>× 10</a:t>
            </a:r>
            <a:r>
              <a:rPr baseline="30000" lang="en-GB" sz="2100"/>
              <a:t>−3</a:t>
            </a:r>
            <a:br>
              <a:rPr baseline="30000" lang="en-GB" sz="2100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6.0045</a:t>
            </a:r>
            <a:r>
              <a:rPr lang="en-GB"/>
              <a:t>  </a:t>
            </a:r>
            <a:r>
              <a:rPr lang="en-GB" sz="2100"/>
              <a:t>× 10</a:t>
            </a:r>
            <a:r>
              <a:rPr baseline="30000" lang="en-GB" sz="2100"/>
              <a:t>−10</a:t>
            </a:r>
            <a:endParaRPr/>
          </a:p>
        </p:txBody>
      </p:sp>
      <p:sp>
        <p:nvSpPr>
          <p:cNvPr id="978" name="Google Shape;978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very small numbers in standard form</a:t>
            </a:r>
            <a:endParaRPr/>
          </a:p>
        </p:txBody>
      </p:sp>
      <p:sp>
        <p:nvSpPr>
          <p:cNvPr id="979" name="Google Shape;979;p80"/>
          <p:cNvSpPr txBox="1"/>
          <p:nvPr/>
        </p:nvSpPr>
        <p:spPr>
          <a:xfrm>
            <a:off x="2333850" y="1218825"/>
            <a:ext cx="553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0.000 182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/>
          </a:p>
        </p:txBody>
      </p:sp>
      <p:sp>
        <p:nvSpPr>
          <p:cNvPr id="980" name="Google Shape;980;p80"/>
          <p:cNvSpPr txBox="1"/>
          <p:nvPr/>
        </p:nvSpPr>
        <p:spPr>
          <a:xfrm>
            <a:off x="2311275" y="1882050"/>
            <a:ext cx="553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0.096 </a:t>
            </a:r>
            <a:endParaRPr/>
          </a:p>
        </p:txBody>
      </p:sp>
      <p:sp>
        <p:nvSpPr>
          <p:cNvPr id="981" name="Google Shape;981;p80"/>
          <p:cNvSpPr txBox="1"/>
          <p:nvPr/>
        </p:nvSpPr>
        <p:spPr>
          <a:xfrm>
            <a:off x="2311275" y="2545275"/>
            <a:ext cx="553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0.000 000 515 </a:t>
            </a:r>
            <a:endParaRPr/>
          </a:p>
        </p:txBody>
      </p:sp>
      <p:sp>
        <p:nvSpPr>
          <p:cNvPr id="982" name="Google Shape;982;p80"/>
          <p:cNvSpPr txBox="1"/>
          <p:nvPr/>
        </p:nvSpPr>
        <p:spPr>
          <a:xfrm>
            <a:off x="2311275" y="3208500"/>
            <a:ext cx="553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0.001 035 </a:t>
            </a:r>
            <a:endParaRPr/>
          </a:p>
        </p:txBody>
      </p:sp>
      <p:sp>
        <p:nvSpPr>
          <p:cNvPr id="983" name="Google Shape;983;p80"/>
          <p:cNvSpPr txBox="1"/>
          <p:nvPr/>
        </p:nvSpPr>
        <p:spPr>
          <a:xfrm>
            <a:off x="2616075" y="3871725"/>
            <a:ext cx="553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0.000 000 000 600 45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1"/>
          <p:cNvSpPr txBox="1"/>
          <p:nvPr>
            <p:ph idx="1" type="body"/>
          </p:nvPr>
        </p:nvSpPr>
        <p:spPr>
          <a:xfrm>
            <a:off x="324000" y="759300"/>
            <a:ext cx="8237700" cy="75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Using the place value charts, write the following in standard form.</a:t>
            </a:r>
            <a:endParaRPr/>
          </a:p>
        </p:txBody>
      </p:sp>
      <p:sp>
        <p:nvSpPr>
          <p:cNvPr id="989" name="Google Shape;989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very small numbers in standard form</a:t>
            </a:r>
            <a:endParaRPr/>
          </a:p>
        </p:txBody>
      </p:sp>
      <p:sp>
        <p:nvSpPr>
          <p:cNvPr id="990" name="Google Shape;990;p81"/>
          <p:cNvSpPr txBox="1"/>
          <p:nvPr/>
        </p:nvSpPr>
        <p:spPr>
          <a:xfrm>
            <a:off x="383950" y="1426550"/>
            <a:ext cx="465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81"/>
          <p:cNvSpPr txBox="1"/>
          <p:nvPr/>
        </p:nvSpPr>
        <p:spPr>
          <a:xfrm>
            <a:off x="383950" y="2950550"/>
            <a:ext cx="465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92" name="Google Shape;992;p81"/>
          <p:cNvGraphicFramePr/>
          <p:nvPr/>
        </p:nvGraphicFramePr>
        <p:xfrm>
          <a:off x="1182038" y="15591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{E23249BD-A887-4AAB-8C37-068768A7FD16}</a:tableStyleId>
              </a:tblPr>
              <a:tblGrid>
                <a:gridCol w="809350"/>
                <a:gridCol w="809350"/>
                <a:gridCol w="809350"/>
              </a:tblGrid>
              <a:tr h="5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3" name="Google Shape;993;p81"/>
          <p:cNvSpPr txBox="1"/>
          <p:nvPr/>
        </p:nvSpPr>
        <p:spPr>
          <a:xfrm>
            <a:off x="1188995" y="15958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81"/>
          <p:cNvSpPr/>
          <p:nvPr/>
        </p:nvSpPr>
        <p:spPr>
          <a:xfrm>
            <a:off x="1928850" y="2727556"/>
            <a:ext cx="135300" cy="145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95" name="Google Shape;995;p81"/>
          <p:cNvSpPr txBox="1"/>
          <p:nvPr/>
        </p:nvSpPr>
        <p:spPr>
          <a:xfrm>
            <a:off x="1188865" y="21244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81"/>
          <p:cNvSpPr txBox="1"/>
          <p:nvPr/>
        </p:nvSpPr>
        <p:spPr>
          <a:xfrm>
            <a:off x="1968310" y="15958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81"/>
          <p:cNvSpPr txBox="1"/>
          <p:nvPr/>
        </p:nvSpPr>
        <p:spPr>
          <a:xfrm>
            <a:off x="2755650" y="15958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81"/>
          <p:cNvSpPr txBox="1"/>
          <p:nvPr/>
        </p:nvSpPr>
        <p:spPr>
          <a:xfrm>
            <a:off x="1987545" y="21244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81"/>
          <p:cNvSpPr txBox="1"/>
          <p:nvPr/>
        </p:nvSpPr>
        <p:spPr>
          <a:xfrm>
            <a:off x="2786225" y="21244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00" name="Google Shape;1000;p81"/>
          <p:cNvGraphicFramePr/>
          <p:nvPr/>
        </p:nvGraphicFramePr>
        <p:xfrm>
          <a:off x="3611515" y="15591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{E23249BD-A887-4AAB-8C37-068768A7FD16}</a:tableStyleId>
              </a:tblPr>
              <a:tblGrid>
                <a:gridCol w="809350"/>
                <a:gridCol w="809350"/>
                <a:gridCol w="809350"/>
              </a:tblGrid>
              <a:tr h="5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1" name="Google Shape;1001;p81"/>
          <p:cNvSpPr txBox="1"/>
          <p:nvPr/>
        </p:nvSpPr>
        <p:spPr>
          <a:xfrm>
            <a:off x="3558278" y="15958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81"/>
          <p:cNvSpPr txBox="1"/>
          <p:nvPr/>
        </p:nvSpPr>
        <p:spPr>
          <a:xfrm>
            <a:off x="4320278" y="15958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81"/>
          <p:cNvSpPr txBox="1"/>
          <p:nvPr/>
        </p:nvSpPr>
        <p:spPr>
          <a:xfrm>
            <a:off x="5158478" y="15958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81"/>
          <p:cNvSpPr txBox="1"/>
          <p:nvPr/>
        </p:nvSpPr>
        <p:spPr>
          <a:xfrm>
            <a:off x="3588853" y="21244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81"/>
          <p:cNvSpPr txBox="1"/>
          <p:nvPr/>
        </p:nvSpPr>
        <p:spPr>
          <a:xfrm>
            <a:off x="4413529" y="21244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81"/>
          <p:cNvSpPr txBox="1"/>
          <p:nvPr/>
        </p:nvSpPr>
        <p:spPr>
          <a:xfrm>
            <a:off x="5233698" y="21244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07" name="Google Shape;1007;p81"/>
          <p:cNvGraphicFramePr/>
          <p:nvPr/>
        </p:nvGraphicFramePr>
        <p:xfrm>
          <a:off x="1182038" y="31201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{E23249BD-A887-4AAB-8C37-068768A7FD16}</a:tableStyleId>
              </a:tblPr>
              <a:tblGrid>
                <a:gridCol w="809350"/>
                <a:gridCol w="809350"/>
                <a:gridCol w="809350"/>
              </a:tblGrid>
              <a:tr h="5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8" name="Google Shape;1008;p81"/>
          <p:cNvSpPr txBox="1"/>
          <p:nvPr/>
        </p:nvSpPr>
        <p:spPr>
          <a:xfrm>
            <a:off x="1188995" y="315688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81"/>
          <p:cNvSpPr/>
          <p:nvPr/>
        </p:nvSpPr>
        <p:spPr>
          <a:xfrm>
            <a:off x="1928850" y="4288606"/>
            <a:ext cx="135300" cy="145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10" name="Google Shape;1010;p81"/>
          <p:cNvSpPr txBox="1"/>
          <p:nvPr/>
        </p:nvSpPr>
        <p:spPr>
          <a:xfrm>
            <a:off x="1188865" y="368545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81"/>
          <p:cNvSpPr txBox="1"/>
          <p:nvPr/>
        </p:nvSpPr>
        <p:spPr>
          <a:xfrm>
            <a:off x="1968310" y="315688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81"/>
          <p:cNvSpPr txBox="1"/>
          <p:nvPr/>
        </p:nvSpPr>
        <p:spPr>
          <a:xfrm>
            <a:off x="2755650" y="315688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81"/>
          <p:cNvSpPr txBox="1"/>
          <p:nvPr/>
        </p:nvSpPr>
        <p:spPr>
          <a:xfrm>
            <a:off x="1987545" y="368545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81"/>
          <p:cNvSpPr txBox="1"/>
          <p:nvPr/>
        </p:nvSpPr>
        <p:spPr>
          <a:xfrm>
            <a:off x="2786225" y="368545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15" name="Google Shape;1015;p81"/>
          <p:cNvGraphicFramePr/>
          <p:nvPr/>
        </p:nvGraphicFramePr>
        <p:xfrm>
          <a:off x="3611515" y="31201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{E23249BD-A887-4AAB-8C37-068768A7FD16}</a:tableStyleId>
              </a:tblPr>
              <a:tblGrid>
                <a:gridCol w="809350"/>
                <a:gridCol w="809350"/>
                <a:gridCol w="809350"/>
              </a:tblGrid>
              <a:tr h="5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6" name="Google Shape;1016;p81"/>
          <p:cNvSpPr txBox="1"/>
          <p:nvPr/>
        </p:nvSpPr>
        <p:spPr>
          <a:xfrm>
            <a:off x="3558278" y="315688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81"/>
          <p:cNvSpPr txBox="1"/>
          <p:nvPr/>
        </p:nvSpPr>
        <p:spPr>
          <a:xfrm>
            <a:off x="4320278" y="315688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81"/>
          <p:cNvSpPr txBox="1"/>
          <p:nvPr/>
        </p:nvSpPr>
        <p:spPr>
          <a:xfrm>
            <a:off x="5158478" y="315688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81"/>
          <p:cNvSpPr txBox="1"/>
          <p:nvPr/>
        </p:nvSpPr>
        <p:spPr>
          <a:xfrm>
            <a:off x="3588853" y="368545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81"/>
          <p:cNvSpPr txBox="1"/>
          <p:nvPr/>
        </p:nvSpPr>
        <p:spPr>
          <a:xfrm>
            <a:off x="4413529" y="368545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1"/>
          <p:cNvSpPr txBox="1"/>
          <p:nvPr/>
        </p:nvSpPr>
        <p:spPr>
          <a:xfrm>
            <a:off x="5233698" y="368545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82"/>
          <p:cNvSpPr txBox="1"/>
          <p:nvPr>
            <p:ph idx="1" type="body"/>
          </p:nvPr>
        </p:nvSpPr>
        <p:spPr>
          <a:xfrm>
            <a:off x="324000" y="759300"/>
            <a:ext cx="8237700" cy="36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lang="en-GB"/>
              <a:t>) Which of the following are not in standard form? Explain why.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123 </a:t>
            </a:r>
            <a:r>
              <a:rPr lang="en-GB" sz="2100"/>
              <a:t>× 10</a:t>
            </a:r>
            <a:r>
              <a:rPr baseline="30000" lang="en-GB" sz="2100"/>
              <a:t>−</a:t>
            </a:r>
            <a:r>
              <a:rPr baseline="30000" lang="en-GB" sz="2100"/>
              <a:t>9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1.2</a:t>
            </a:r>
            <a:r>
              <a:rPr lang="en-GB"/>
              <a:t>4 </a:t>
            </a:r>
            <a:r>
              <a:rPr lang="en-GB" sz="2100"/>
              <a:t>× 10</a:t>
            </a:r>
            <a:r>
              <a:rPr baseline="30000" lang="en-GB" sz="2100"/>
              <a:t>−3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0.96 </a:t>
            </a:r>
            <a:r>
              <a:rPr lang="en-GB" sz="2100"/>
              <a:t>× 10</a:t>
            </a:r>
            <a:r>
              <a:rPr baseline="30000" lang="en-GB" sz="2100"/>
              <a:t>−</a:t>
            </a:r>
            <a:r>
              <a:rPr baseline="30000" lang="en-GB" sz="2100"/>
              <a:t>1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d) 12 300 </a:t>
            </a:r>
            <a:r>
              <a:rPr lang="en-GB" sz="2100"/>
              <a:t>÷ 10</a:t>
            </a:r>
            <a:r>
              <a:rPr baseline="30000" lang="en-GB" sz="2100"/>
              <a:t>10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e) 0.059 </a:t>
            </a:r>
            <a:r>
              <a:rPr lang="en-GB" sz="2100"/>
              <a:t>× 10</a:t>
            </a:r>
            <a:r>
              <a:rPr baseline="30000" lang="en-GB" sz="2100"/>
              <a:t>8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very small numbers in standard form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83"/>
          <p:cNvSpPr txBox="1"/>
          <p:nvPr>
            <p:ph idx="1" type="body"/>
          </p:nvPr>
        </p:nvSpPr>
        <p:spPr>
          <a:xfrm>
            <a:off x="400200" y="1521300"/>
            <a:ext cx="8237700" cy="26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0.000 000 354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0.001 45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0.000 000 000 563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0.048 6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0.000 000 000 631</a:t>
            </a:r>
            <a:endParaRPr/>
          </a:p>
        </p:txBody>
      </p:sp>
      <p:sp>
        <p:nvSpPr>
          <p:cNvPr id="1033" name="Google Shape;1033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very small numbers in standard form</a:t>
            </a:r>
            <a:endParaRPr/>
          </a:p>
        </p:txBody>
      </p:sp>
      <p:sp>
        <p:nvSpPr>
          <p:cNvPr id="1034" name="Google Shape;1034;p83"/>
          <p:cNvSpPr txBox="1"/>
          <p:nvPr/>
        </p:nvSpPr>
        <p:spPr>
          <a:xfrm>
            <a:off x="308325" y="743700"/>
            <a:ext cx="80262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Without a place value chart, write the following in standard form.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the place value charts, write the following in standard form.</a:t>
            </a:r>
            <a:endParaRPr/>
          </a:p>
        </p:txBody>
      </p:sp>
      <p:sp>
        <p:nvSpPr>
          <p:cNvPr id="1040" name="Google Shape;1040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very small numbers in standard form</a:t>
            </a:r>
            <a:endParaRPr/>
          </a:p>
        </p:txBody>
      </p:sp>
      <p:sp>
        <p:nvSpPr>
          <p:cNvPr id="1041" name="Google Shape;1041;p84"/>
          <p:cNvSpPr txBox="1"/>
          <p:nvPr/>
        </p:nvSpPr>
        <p:spPr>
          <a:xfrm>
            <a:off x="383950" y="1426550"/>
            <a:ext cx="465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84"/>
          <p:cNvSpPr txBox="1"/>
          <p:nvPr/>
        </p:nvSpPr>
        <p:spPr>
          <a:xfrm>
            <a:off x="383950" y="2950550"/>
            <a:ext cx="465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43" name="Google Shape;1043;p84"/>
          <p:cNvGraphicFramePr/>
          <p:nvPr/>
        </p:nvGraphicFramePr>
        <p:xfrm>
          <a:off x="1182038" y="15591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{E23249BD-A887-4AAB-8C37-068768A7FD16}</a:tableStyleId>
              </a:tblPr>
              <a:tblGrid>
                <a:gridCol w="809350"/>
                <a:gridCol w="809350"/>
                <a:gridCol w="809350"/>
              </a:tblGrid>
              <a:tr h="5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4" name="Google Shape;1044;p84"/>
          <p:cNvSpPr txBox="1"/>
          <p:nvPr/>
        </p:nvSpPr>
        <p:spPr>
          <a:xfrm>
            <a:off x="1188995" y="15958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84"/>
          <p:cNvSpPr/>
          <p:nvPr/>
        </p:nvSpPr>
        <p:spPr>
          <a:xfrm>
            <a:off x="1928850" y="2727556"/>
            <a:ext cx="135300" cy="145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46" name="Google Shape;1046;p84"/>
          <p:cNvSpPr txBox="1"/>
          <p:nvPr/>
        </p:nvSpPr>
        <p:spPr>
          <a:xfrm>
            <a:off x="1188865" y="21244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4"/>
          <p:cNvSpPr txBox="1"/>
          <p:nvPr/>
        </p:nvSpPr>
        <p:spPr>
          <a:xfrm>
            <a:off x="1968310" y="15958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4"/>
          <p:cNvSpPr txBox="1"/>
          <p:nvPr/>
        </p:nvSpPr>
        <p:spPr>
          <a:xfrm>
            <a:off x="2755650" y="15958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4"/>
          <p:cNvSpPr txBox="1"/>
          <p:nvPr/>
        </p:nvSpPr>
        <p:spPr>
          <a:xfrm>
            <a:off x="1987545" y="21244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84"/>
          <p:cNvSpPr txBox="1"/>
          <p:nvPr/>
        </p:nvSpPr>
        <p:spPr>
          <a:xfrm>
            <a:off x="2786225" y="21244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51" name="Google Shape;1051;p84"/>
          <p:cNvGraphicFramePr/>
          <p:nvPr/>
        </p:nvGraphicFramePr>
        <p:xfrm>
          <a:off x="3611515" y="15591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{E23249BD-A887-4AAB-8C37-068768A7FD16}</a:tableStyleId>
              </a:tblPr>
              <a:tblGrid>
                <a:gridCol w="809350"/>
                <a:gridCol w="809350"/>
                <a:gridCol w="809350"/>
              </a:tblGrid>
              <a:tr h="5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2" name="Google Shape;1052;p84"/>
          <p:cNvSpPr txBox="1"/>
          <p:nvPr/>
        </p:nvSpPr>
        <p:spPr>
          <a:xfrm>
            <a:off x="3558278" y="15958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4"/>
          <p:cNvSpPr txBox="1"/>
          <p:nvPr/>
        </p:nvSpPr>
        <p:spPr>
          <a:xfrm>
            <a:off x="4320278" y="15958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4"/>
          <p:cNvSpPr txBox="1"/>
          <p:nvPr/>
        </p:nvSpPr>
        <p:spPr>
          <a:xfrm>
            <a:off x="5158478" y="159583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4"/>
          <p:cNvSpPr txBox="1"/>
          <p:nvPr/>
        </p:nvSpPr>
        <p:spPr>
          <a:xfrm>
            <a:off x="3588853" y="21244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4"/>
          <p:cNvSpPr txBox="1"/>
          <p:nvPr/>
        </p:nvSpPr>
        <p:spPr>
          <a:xfrm>
            <a:off x="4413529" y="21244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84"/>
          <p:cNvSpPr txBox="1"/>
          <p:nvPr/>
        </p:nvSpPr>
        <p:spPr>
          <a:xfrm>
            <a:off x="5233698" y="212440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58" name="Google Shape;1058;p84"/>
          <p:cNvGraphicFramePr/>
          <p:nvPr/>
        </p:nvGraphicFramePr>
        <p:xfrm>
          <a:off x="1182038" y="31201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{E23249BD-A887-4AAB-8C37-068768A7FD16}</a:tableStyleId>
              </a:tblPr>
              <a:tblGrid>
                <a:gridCol w="809350"/>
                <a:gridCol w="809350"/>
                <a:gridCol w="809350"/>
              </a:tblGrid>
              <a:tr h="5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9" name="Google Shape;1059;p84"/>
          <p:cNvSpPr txBox="1"/>
          <p:nvPr/>
        </p:nvSpPr>
        <p:spPr>
          <a:xfrm>
            <a:off x="1188995" y="315688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84"/>
          <p:cNvSpPr/>
          <p:nvPr/>
        </p:nvSpPr>
        <p:spPr>
          <a:xfrm>
            <a:off x="1928850" y="4288606"/>
            <a:ext cx="135300" cy="1455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61" name="Google Shape;1061;p84"/>
          <p:cNvSpPr txBox="1"/>
          <p:nvPr/>
        </p:nvSpPr>
        <p:spPr>
          <a:xfrm>
            <a:off x="1188865" y="368545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4"/>
          <p:cNvSpPr txBox="1"/>
          <p:nvPr/>
        </p:nvSpPr>
        <p:spPr>
          <a:xfrm>
            <a:off x="1968310" y="315688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4"/>
          <p:cNvSpPr txBox="1"/>
          <p:nvPr/>
        </p:nvSpPr>
        <p:spPr>
          <a:xfrm>
            <a:off x="2755650" y="315688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84"/>
          <p:cNvSpPr txBox="1"/>
          <p:nvPr/>
        </p:nvSpPr>
        <p:spPr>
          <a:xfrm>
            <a:off x="1987545" y="368545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84"/>
          <p:cNvSpPr txBox="1"/>
          <p:nvPr/>
        </p:nvSpPr>
        <p:spPr>
          <a:xfrm>
            <a:off x="2786225" y="368545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66" name="Google Shape;1066;p84"/>
          <p:cNvGraphicFramePr/>
          <p:nvPr/>
        </p:nvGraphicFramePr>
        <p:xfrm>
          <a:off x="3611515" y="31201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{E23249BD-A887-4AAB-8C37-068768A7FD16}</a:tableStyleId>
              </a:tblPr>
              <a:tblGrid>
                <a:gridCol w="809350"/>
                <a:gridCol w="809350"/>
                <a:gridCol w="809350"/>
              </a:tblGrid>
              <a:tr h="5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7" name="Google Shape;1067;p84"/>
          <p:cNvSpPr txBox="1"/>
          <p:nvPr/>
        </p:nvSpPr>
        <p:spPr>
          <a:xfrm>
            <a:off x="3558278" y="315688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4"/>
          <p:cNvSpPr txBox="1"/>
          <p:nvPr/>
        </p:nvSpPr>
        <p:spPr>
          <a:xfrm>
            <a:off x="4320278" y="315688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4"/>
          <p:cNvSpPr txBox="1"/>
          <p:nvPr/>
        </p:nvSpPr>
        <p:spPr>
          <a:xfrm>
            <a:off x="5158478" y="3156887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4"/>
          <p:cNvSpPr txBox="1"/>
          <p:nvPr/>
        </p:nvSpPr>
        <p:spPr>
          <a:xfrm>
            <a:off x="3588853" y="368545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84"/>
          <p:cNvSpPr txBox="1"/>
          <p:nvPr/>
        </p:nvSpPr>
        <p:spPr>
          <a:xfrm>
            <a:off x="4413529" y="368545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4"/>
          <p:cNvSpPr txBox="1"/>
          <p:nvPr/>
        </p:nvSpPr>
        <p:spPr>
          <a:xfrm>
            <a:off x="5233698" y="3685450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4"/>
          <p:cNvSpPr txBox="1"/>
          <p:nvPr/>
        </p:nvSpPr>
        <p:spPr>
          <a:xfrm>
            <a:off x="6287441" y="2116950"/>
            <a:ext cx="164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6.9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−4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4" name="Google Shape;1074;p84"/>
          <p:cNvSpPr txBox="1"/>
          <p:nvPr/>
        </p:nvSpPr>
        <p:spPr>
          <a:xfrm>
            <a:off x="6412802" y="3527075"/>
            <a:ext cx="203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1.28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Which of the following are not in standard form? Explain why.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123 </a:t>
            </a:r>
            <a:r>
              <a:rPr lang="en-GB" sz="2100"/>
              <a:t>× 10</a:t>
            </a:r>
            <a:r>
              <a:rPr baseline="30000" lang="en-GB" sz="2100"/>
              <a:t>−</a:t>
            </a:r>
            <a:r>
              <a:rPr baseline="30000" lang="en-GB" sz="2100"/>
              <a:t>9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1.24 </a:t>
            </a:r>
            <a:r>
              <a:rPr lang="en-GB" sz="2100"/>
              <a:t>× 10</a:t>
            </a:r>
            <a:r>
              <a:rPr baseline="30000" lang="en-GB" sz="2100"/>
              <a:t>−</a:t>
            </a:r>
            <a:r>
              <a:rPr baseline="30000" lang="en-GB" sz="2100"/>
              <a:t>3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0.96 </a:t>
            </a:r>
            <a:r>
              <a:rPr lang="en-GB" sz="2100"/>
              <a:t>× 10</a:t>
            </a:r>
            <a:r>
              <a:rPr baseline="30000" lang="en-GB" sz="2100"/>
              <a:t>−</a:t>
            </a:r>
            <a:r>
              <a:rPr baseline="30000" lang="en-GB" sz="2100"/>
              <a:t>1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d) 12 300 </a:t>
            </a:r>
            <a:r>
              <a:rPr lang="en-GB" sz="2100"/>
              <a:t>÷ 10</a:t>
            </a:r>
            <a:r>
              <a:rPr baseline="30000" lang="en-GB" sz="2100"/>
              <a:t>10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e) 0.059 </a:t>
            </a:r>
            <a:r>
              <a:rPr lang="en-GB" sz="2100"/>
              <a:t>× 10</a:t>
            </a:r>
            <a:r>
              <a:rPr baseline="30000" lang="en-GB" sz="2100"/>
              <a:t>8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very small numbers in standard form</a:t>
            </a:r>
            <a:endParaRPr/>
          </a:p>
        </p:txBody>
      </p:sp>
      <p:sp>
        <p:nvSpPr>
          <p:cNvPr id="1081" name="Google Shape;1081;p85"/>
          <p:cNvSpPr txBox="1"/>
          <p:nvPr/>
        </p:nvSpPr>
        <p:spPr>
          <a:xfrm>
            <a:off x="2347175" y="3542663"/>
            <a:ext cx="671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incorrect as standard form uses multiplication.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2" name="Google Shape;1082;p85"/>
          <p:cNvSpPr txBox="1"/>
          <p:nvPr/>
        </p:nvSpPr>
        <p:spPr>
          <a:xfrm>
            <a:off x="2347175" y="1579413"/>
            <a:ext cx="601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incorrect as 123 needs to be a number satisfying 1 ≤ A &lt; 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3" name="Google Shape;1083;p85"/>
          <p:cNvSpPr txBox="1"/>
          <p:nvPr/>
        </p:nvSpPr>
        <p:spPr>
          <a:xfrm>
            <a:off x="2347175" y="4012188"/>
            <a:ext cx="601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incorrect as 0.059 needs to be a number satisfying 1 ≤ A &lt; 10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4" name="Google Shape;1084;p85"/>
          <p:cNvSpPr txBox="1"/>
          <p:nvPr/>
        </p:nvSpPr>
        <p:spPr>
          <a:xfrm>
            <a:off x="2347175" y="2307200"/>
            <a:ext cx="503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in correct standard form.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5" name="Google Shape;1085;p85"/>
          <p:cNvSpPr txBox="1"/>
          <p:nvPr/>
        </p:nvSpPr>
        <p:spPr>
          <a:xfrm>
            <a:off x="2347175" y="2786488"/>
            <a:ext cx="601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incorrect as 0.96 needs to be a number satisfying 1 ≤ A &lt; 10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86"/>
          <p:cNvSpPr txBox="1"/>
          <p:nvPr>
            <p:ph idx="1" type="body"/>
          </p:nvPr>
        </p:nvSpPr>
        <p:spPr>
          <a:xfrm>
            <a:off x="400200" y="16737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0.000 000 354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0.001 45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0.000 000 000 563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0.048 6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0.000 000 000 631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very small numbers in standard form</a:t>
            </a:r>
            <a:endParaRPr/>
          </a:p>
        </p:txBody>
      </p:sp>
      <p:sp>
        <p:nvSpPr>
          <p:cNvPr id="1092" name="Google Shape;1092;p86"/>
          <p:cNvSpPr txBox="1"/>
          <p:nvPr/>
        </p:nvSpPr>
        <p:spPr>
          <a:xfrm>
            <a:off x="3059338" y="1558250"/>
            <a:ext cx="553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3.54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−7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3" name="Google Shape;1093;p86"/>
          <p:cNvSpPr txBox="1"/>
          <p:nvPr/>
        </p:nvSpPr>
        <p:spPr>
          <a:xfrm>
            <a:off x="3134238" y="2019950"/>
            <a:ext cx="553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1.45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−3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/>
          </a:p>
        </p:txBody>
      </p:sp>
      <p:sp>
        <p:nvSpPr>
          <p:cNvPr id="1094" name="Google Shape;1094;p86"/>
          <p:cNvSpPr txBox="1"/>
          <p:nvPr/>
        </p:nvSpPr>
        <p:spPr>
          <a:xfrm>
            <a:off x="3445788" y="2614275"/>
            <a:ext cx="553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5.63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−10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/>
          </a:p>
        </p:txBody>
      </p:sp>
      <p:sp>
        <p:nvSpPr>
          <p:cNvPr id="1095" name="Google Shape;1095;p86"/>
          <p:cNvSpPr txBox="1"/>
          <p:nvPr/>
        </p:nvSpPr>
        <p:spPr>
          <a:xfrm>
            <a:off x="2094663" y="3110750"/>
            <a:ext cx="553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4.86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−2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/>
          </a:p>
        </p:txBody>
      </p:sp>
      <p:sp>
        <p:nvSpPr>
          <p:cNvPr id="1096" name="Google Shape;1096;p86"/>
          <p:cNvSpPr txBox="1"/>
          <p:nvPr/>
        </p:nvSpPr>
        <p:spPr>
          <a:xfrm>
            <a:off x="3445788" y="3607225"/>
            <a:ext cx="553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6.31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−10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/>
          </a:p>
        </p:txBody>
      </p:sp>
      <p:sp>
        <p:nvSpPr>
          <p:cNvPr id="1097" name="Google Shape;1097;p86"/>
          <p:cNvSpPr txBox="1"/>
          <p:nvPr/>
        </p:nvSpPr>
        <p:spPr>
          <a:xfrm>
            <a:off x="308325" y="743700"/>
            <a:ext cx="80262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Without a place value chart, write the following in standard form.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87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very small numbers in standard form</a:t>
            </a:r>
            <a:endParaRPr/>
          </a:p>
        </p:txBody>
      </p:sp>
      <p:sp>
        <p:nvSpPr>
          <p:cNvPr id="1103" name="Google Shape;1103;p87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ordinary and standard form</a:t>
            </a:r>
            <a:endParaRPr/>
          </a:p>
        </p:txBody>
      </p:sp>
      <p:sp>
        <p:nvSpPr>
          <p:cNvPr id="1104" name="Google Shape;1104;p87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sp>
        <p:nvSpPr>
          <p:cNvPr id="1105" name="Google Shape;1105;p87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small numbers in standard form</a:t>
            </a:r>
            <a:endParaRPr/>
          </a:p>
        </p:txBody>
      </p:sp>
      <p:pic>
        <p:nvPicPr>
          <p:cNvPr id="1106" name="Google Shape;110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499" y="276608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88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Give some real life examples where we use very small numbers.</a:t>
            </a:r>
            <a:endParaRPr/>
          </a:p>
        </p:txBody>
      </p:sp>
      <p:sp>
        <p:nvSpPr>
          <p:cNvPr id="1112" name="Google Shape;111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ordinary and standard form</a:t>
            </a:r>
            <a:endParaRPr/>
          </a:p>
        </p:txBody>
      </p:sp>
      <p:pic>
        <p:nvPicPr>
          <p:cNvPr id="1113" name="Google Shape;111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150" y="1745350"/>
            <a:ext cx="1653398" cy="1196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88"/>
          <p:cNvSpPr txBox="1"/>
          <p:nvPr/>
        </p:nvSpPr>
        <p:spPr>
          <a:xfrm>
            <a:off x="387150" y="3030150"/>
            <a:ext cx="18417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 or microbiology − looking at organisms, cells etc.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88"/>
          <p:cNvSpPr txBox="1"/>
          <p:nvPr/>
        </p:nvSpPr>
        <p:spPr>
          <a:xfrm>
            <a:off x="6186850" y="1472125"/>
            <a:ext cx="2119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Nanotechnology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6" name="Google Shape;1116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0250" y="1472113"/>
            <a:ext cx="2119500" cy="1972119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88"/>
          <p:cNvSpPr txBox="1"/>
          <p:nvPr/>
        </p:nvSpPr>
        <p:spPr>
          <a:xfrm>
            <a:off x="2847400" y="3360300"/>
            <a:ext cx="33081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Microchips are virtually part of every electronic device across the globe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8" name="Google Shape;1118;p88"/>
          <p:cNvPicPr preferRelativeResize="0"/>
          <p:nvPr/>
        </p:nvPicPr>
        <p:blipFill rotWithShape="1">
          <a:blip r:embed="rId5">
            <a:alphaModFix/>
          </a:blip>
          <a:srcRect b="22778" l="0" r="0" t="14419"/>
          <a:stretch/>
        </p:blipFill>
        <p:spPr>
          <a:xfrm>
            <a:off x="6264313" y="2064525"/>
            <a:ext cx="1964575" cy="185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89"/>
          <p:cNvSpPr txBox="1"/>
          <p:nvPr>
            <p:ph idx="1" type="body"/>
          </p:nvPr>
        </p:nvSpPr>
        <p:spPr>
          <a:xfrm>
            <a:off x="324000" y="759300"/>
            <a:ext cx="8237700" cy="9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Give some real life examples where we use very large numbers.</a:t>
            </a:r>
            <a:endParaRPr/>
          </a:p>
        </p:txBody>
      </p:sp>
      <p:sp>
        <p:nvSpPr>
          <p:cNvPr id="1124" name="Google Shape;1124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ordinary and standard form</a:t>
            </a:r>
            <a:endParaRPr/>
          </a:p>
        </p:txBody>
      </p:sp>
      <p:sp>
        <p:nvSpPr>
          <p:cNvPr id="1125" name="Google Shape;1125;p89"/>
          <p:cNvSpPr txBox="1"/>
          <p:nvPr/>
        </p:nvSpPr>
        <p:spPr>
          <a:xfrm>
            <a:off x="235200" y="3825825"/>
            <a:ext cx="2899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Astronomy where massive measurements are needed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6" name="Google Shape;112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1463" y="1561550"/>
            <a:ext cx="2981074" cy="2020376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89"/>
          <p:cNvSpPr txBox="1"/>
          <p:nvPr/>
        </p:nvSpPr>
        <p:spPr>
          <a:xfrm>
            <a:off x="3443950" y="3631150"/>
            <a:ext cx="2899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Global figures e.g. populations, distances, currencies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8" name="Google Shape;1128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1338" y="1453700"/>
            <a:ext cx="1636070" cy="21282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Google Shape;1129;p89"/>
          <p:cNvSpPr txBox="1"/>
          <p:nvPr/>
        </p:nvSpPr>
        <p:spPr>
          <a:xfrm>
            <a:off x="6568150" y="3631150"/>
            <a:ext cx="2899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Construction and engineering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0" name="Google Shape;1130;p89"/>
          <p:cNvPicPr preferRelativeResize="0"/>
          <p:nvPr/>
        </p:nvPicPr>
        <p:blipFill rotWithShape="1">
          <a:blip r:embed="rId5">
            <a:alphaModFix/>
          </a:blip>
          <a:srcRect b="21242" l="0" r="0" t="10498"/>
          <a:stretch/>
        </p:blipFill>
        <p:spPr>
          <a:xfrm>
            <a:off x="698163" y="1661400"/>
            <a:ext cx="1973274" cy="202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90"/>
          <p:cNvSpPr/>
          <p:nvPr/>
        </p:nvSpPr>
        <p:spPr>
          <a:xfrm>
            <a:off x="425375" y="1570725"/>
            <a:ext cx="3900900" cy="2871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90"/>
          <p:cNvSpPr txBox="1"/>
          <p:nvPr>
            <p:ph idx="1" type="body"/>
          </p:nvPr>
        </p:nvSpPr>
        <p:spPr>
          <a:xfrm>
            <a:off x="324000" y="683100"/>
            <a:ext cx="8322300" cy="8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 pupils have worked out the answers to these questions. Identify if they are correct or not and explain why.</a:t>
            </a:r>
            <a:endParaRPr/>
          </a:p>
        </p:txBody>
      </p:sp>
      <p:sp>
        <p:nvSpPr>
          <p:cNvPr id="1137" name="Google Shape;113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ordinary and standard form</a:t>
            </a:r>
            <a:endParaRPr/>
          </a:p>
        </p:txBody>
      </p:sp>
      <p:sp>
        <p:nvSpPr>
          <p:cNvPr id="1138" name="Google Shape;1138;p90"/>
          <p:cNvSpPr txBox="1"/>
          <p:nvPr/>
        </p:nvSpPr>
        <p:spPr>
          <a:xfrm>
            <a:off x="552600" y="1696200"/>
            <a:ext cx="3982200" cy="22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780 000 in standard form.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80 000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90"/>
          <p:cNvSpPr/>
          <p:nvPr/>
        </p:nvSpPr>
        <p:spPr>
          <a:xfrm>
            <a:off x="650724" y="2567254"/>
            <a:ext cx="1884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90"/>
          <p:cNvSpPr/>
          <p:nvPr/>
        </p:nvSpPr>
        <p:spPr>
          <a:xfrm>
            <a:off x="826818" y="2567254"/>
            <a:ext cx="1884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90"/>
          <p:cNvSpPr/>
          <p:nvPr/>
        </p:nvSpPr>
        <p:spPr>
          <a:xfrm>
            <a:off x="1011324" y="2567254"/>
            <a:ext cx="1884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90"/>
          <p:cNvSpPr/>
          <p:nvPr/>
        </p:nvSpPr>
        <p:spPr>
          <a:xfrm>
            <a:off x="1186555" y="2562679"/>
            <a:ext cx="1782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90"/>
          <p:cNvSpPr/>
          <p:nvPr/>
        </p:nvSpPr>
        <p:spPr>
          <a:xfrm>
            <a:off x="1356614" y="2562675"/>
            <a:ext cx="1884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90"/>
          <p:cNvSpPr txBox="1"/>
          <p:nvPr/>
        </p:nvSpPr>
        <p:spPr>
          <a:xfrm flipH="1">
            <a:off x="2308575" y="2235051"/>
            <a:ext cx="1860000" cy="1242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were 5 multiplications of 10 from the ones column.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90"/>
          <p:cNvSpPr txBox="1"/>
          <p:nvPr/>
        </p:nvSpPr>
        <p:spPr>
          <a:xfrm>
            <a:off x="1278688" y="3780000"/>
            <a:ext cx="1733400" cy="523200"/>
          </a:xfrm>
          <a:prstGeom prst="rect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7.8  </a:t>
            </a:r>
            <a:r>
              <a:rPr lang="en-GB"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90"/>
          <p:cNvSpPr/>
          <p:nvPr/>
        </p:nvSpPr>
        <p:spPr>
          <a:xfrm>
            <a:off x="4499600" y="1570725"/>
            <a:ext cx="3900900" cy="2871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90"/>
          <p:cNvSpPr txBox="1"/>
          <p:nvPr/>
        </p:nvSpPr>
        <p:spPr>
          <a:xfrm>
            <a:off x="4667400" y="1696200"/>
            <a:ext cx="3982200" cy="22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92 300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standard form.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2 300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90"/>
          <p:cNvSpPr/>
          <p:nvPr/>
        </p:nvSpPr>
        <p:spPr>
          <a:xfrm>
            <a:off x="4824000" y="2567250"/>
            <a:ext cx="183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90"/>
          <p:cNvSpPr/>
          <p:nvPr/>
        </p:nvSpPr>
        <p:spPr>
          <a:xfrm>
            <a:off x="4995794" y="2567250"/>
            <a:ext cx="183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90"/>
          <p:cNvSpPr/>
          <p:nvPr/>
        </p:nvSpPr>
        <p:spPr>
          <a:xfrm>
            <a:off x="5175794" y="2567250"/>
            <a:ext cx="183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90"/>
          <p:cNvSpPr txBox="1"/>
          <p:nvPr/>
        </p:nvSpPr>
        <p:spPr>
          <a:xfrm flipH="1">
            <a:off x="6423375" y="2235051"/>
            <a:ext cx="1860000" cy="1242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were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multiplications of 10 from the ones column.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90"/>
          <p:cNvSpPr txBox="1"/>
          <p:nvPr/>
        </p:nvSpPr>
        <p:spPr>
          <a:xfrm>
            <a:off x="5393488" y="3780000"/>
            <a:ext cx="1733400" cy="523200"/>
          </a:xfrm>
          <a:prstGeom prst="rect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92.3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91"/>
          <p:cNvSpPr/>
          <p:nvPr/>
        </p:nvSpPr>
        <p:spPr>
          <a:xfrm>
            <a:off x="425375" y="1570725"/>
            <a:ext cx="3900900" cy="2871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1"/>
          <p:cNvSpPr txBox="1"/>
          <p:nvPr>
            <p:ph idx="1" type="body"/>
          </p:nvPr>
        </p:nvSpPr>
        <p:spPr>
          <a:xfrm>
            <a:off x="324000" y="683100"/>
            <a:ext cx="8322300" cy="8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 pupils have worked out the answers to these questions. Identify if they are correct or not and explain why.</a:t>
            </a:r>
            <a:endParaRPr/>
          </a:p>
        </p:txBody>
      </p:sp>
      <p:sp>
        <p:nvSpPr>
          <p:cNvPr id="1159" name="Google Shape;115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ordinary and standard form</a:t>
            </a:r>
            <a:endParaRPr/>
          </a:p>
        </p:txBody>
      </p:sp>
      <p:sp>
        <p:nvSpPr>
          <p:cNvPr id="1160" name="Google Shape;1160;p91"/>
          <p:cNvSpPr txBox="1"/>
          <p:nvPr/>
        </p:nvSpPr>
        <p:spPr>
          <a:xfrm>
            <a:off x="552600" y="1696200"/>
            <a:ext cx="3982200" cy="22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780 000 in standard form.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80 000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91"/>
          <p:cNvSpPr txBox="1"/>
          <p:nvPr/>
        </p:nvSpPr>
        <p:spPr>
          <a:xfrm flipH="1">
            <a:off x="2308575" y="2235051"/>
            <a:ext cx="1860000" cy="1242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were 5 multiplications of 10 from the ones column.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1"/>
          <p:cNvSpPr txBox="1"/>
          <p:nvPr/>
        </p:nvSpPr>
        <p:spPr>
          <a:xfrm>
            <a:off x="1278688" y="3780000"/>
            <a:ext cx="1733400" cy="523200"/>
          </a:xfrm>
          <a:prstGeom prst="rect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7.8  </a:t>
            </a:r>
            <a:r>
              <a:rPr lang="en-GB"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91"/>
          <p:cNvSpPr txBox="1"/>
          <p:nvPr/>
        </p:nvSpPr>
        <p:spPr>
          <a:xfrm>
            <a:off x="4764950" y="1858475"/>
            <a:ext cx="3606300" cy="26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correct.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They have created a number 7.8 using the digits 7 and 8 which satisfy 1 ≤ A &lt; 10.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They have correctly counted the number of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multiplications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of 10 to make 7.8 into 780 000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4" name="Google Shape;1164;p91"/>
          <p:cNvSpPr/>
          <p:nvPr/>
        </p:nvSpPr>
        <p:spPr>
          <a:xfrm>
            <a:off x="650724" y="2567254"/>
            <a:ext cx="1884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91"/>
          <p:cNvSpPr/>
          <p:nvPr/>
        </p:nvSpPr>
        <p:spPr>
          <a:xfrm>
            <a:off x="826818" y="2567254"/>
            <a:ext cx="1884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91"/>
          <p:cNvSpPr/>
          <p:nvPr/>
        </p:nvSpPr>
        <p:spPr>
          <a:xfrm>
            <a:off x="1011324" y="2567254"/>
            <a:ext cx="1884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91"/>
          <p:cNvSpPr/>
          <p:nvPr/>
        </p:nvSpPr>
        <p:spPr>
          <a:xfrm>
            <a:off x="1186555" y="2562679"/>
            <a:ext cx="1782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91"/>
          <p:cNvSpPr/>
          <p:nvPr/>
        </p:nvSpPr>
        <p:spPr>
          <a:xfrm>
            <a:off x="1356614" y="2562675"/>
            <a:ext cx="1884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92"/>
          <p:cNvSpPr txBox="1"/>
          <p:nvPr>
            <p:ph idx="1" type="body"/>
          </p:nvPr>
        </p:nvSpPr>
        <p:spPr>
          <a:xfrm>
            <a:off x="324000" y="683100"/>
            <a:ext cx="8322300" cy="8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 pupils have worked out the answers to these questions. Identify if they are correct or not and explain why.</a:t>
            </a:r>
            <a:endParaRPr/>
          </a:p>
        </p:txBody>
      </p:sp>
      <p:sp>
        <p:nvSpPr>
          <p:cNvPr id="1174" name="Google Shape;117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ordinary and standard form</a:t>
            </a:r>
            <a:endParaRPr/>
          </a:p>
        </p:txBody>
      </p:sp>
      <p:sp>
        <p:nvSpPr>
          <p:cNvPr id="1175" name="Google Shape;1175;p92"/>
          <p:cNvSpPr/>
          <p:nvPr/>
        </p:nvSpPr>
        <p:spPr>
          <a:xfrm>
            <a:off x="4499600" y="1570725"/>
            <a:ext cx="3900900" cy="2871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92"/>
          <p:cNvSpPr txBox="1"/>
          <p:nvPr/>
        </p:nvSpPr>
        <p:spPr>
          <a:xfrm>
            <a:off x="4667400" y="1696200"/>
            <a:ext cx="3982200" cy="22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92 300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standard form.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2 300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92"/>
          <p:cNvSpPr/>
          <p:nvPr/>
        </p:nvSpPr>
        <p:spPr>
          <a:xfrm>
            <a:off x="4761103" y="2567254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92"/>
          <p:cNvSpPr/>
          <p:nvPr/>
        </p:nvSpPr>
        <p:spPr>
          <a:xfrm>
            <a:off x="4953069" y="2567254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92"/>
          <p:cNvSpPr/>
          <p:nvPr/>
        </p:nvSpPr>
        <p:spPr>
          <a:xfrm>
            <a:off x="5154203" y="2567254"/>
            <a:ext cx="2055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92"/>
          <p:cNvSpPr txBox="1"/>
          <p:nvPr/>
        </p:nvSpPr>
        <p:spPr>
          <a:xfrm flipH="1">
            <a:off x="6423375" y="2235051"/>
            <a:ext cx="1860000" cy="1242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were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multiplications of 10 from the ones column.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92"/>
          <p:cNvSpPr txBox="1"/>
          <p:nvPr/>
        </p:nvSpPr>
        <p:spPr>
          <a:xfrm>
            <a:off x="5393488" y="3780000"/>
            <a:ext cx="1733400" cy="523200"/>
          </a:xfrm>
          <a:prstGeom prst="rect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92.3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92"/>
          <p:cNvSpPr txBox="1"/>
          <p:nvPr/>
        </p:nvSpPr>
        <p:spPr>
          <a:xfrm>
            <a:off x="514000" y="1691625"/>
            <a:ext cx="3606300" cy="26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incorrect.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They have created a number 92.3 using the digits 9, 2 and 3 which do not satisfy 1 ≤ A &lt; 10.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They have counted the number of multiplications of 10 to make 92.3 into 92 300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ordinary and standard form</a:t>
            </a:r>
            <a:endParaRPr/>
          </a:p>
        </p:txBody>
      </p:sp>
      <p:sp>
        <p:nvSpPr>
          <p:cNvPr id="1188" name="Google Shape;1188;p93"/>
          <p:cNvSpPr txBox="1"/>
          <p:nvPr/>
        </p:nvSpPr>
        <p:spPr>
          <a:xfrm>
            <a:off x="401350" y="1087125"/>
            <a:ext cx="8060100" cy="3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0.000 000 263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652 000 000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0.005 63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892 000 000 000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0.000 000 000 000 000 3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30 004 000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0.000 300 4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93"/>
          <p:cNvSpPr txBox="1"/>
          <p:nvPr/>
        </p:nvSpPr>
        <p:spPr>
          <a:xfrm>
            <a:off x="324000" y="659100"/>
            <a:ext cx="7613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rabi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 the following into standard form.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ordinary and standard form</a:t>
            </a:r>
            <a:endParaRPr/>
          </a:p>
        </p:txBody>
      </p:sp>
      <p:sp>
        <p:nvSpPr>
          <p:cNvPr id="1195" name="Google Shape;1195;p94"/>
          <p:cNvSpPr txBox="1"/>
          <p:nvPr/>
        </p:nvSpPr>
        <p:spPr>
          <a:xfrm>
            <a:off x="401350" y="782325"/>
            <a:ext cx="8060100" cy="3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 the following into ordinary numbers.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2.31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6.153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−5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9.1565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2.48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2.48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3.0065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−9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ordinary and standard form</a:t>
            </a:r>
            <a:endParaRPr/>
          </a:p>
        </p:txBody>
      </p:sp>
      <p:sp>
        <p:nvSpPr>
          <p:cNvPr id="1201" name="Google Shape;1201;p95"/>
          <p:cNvSpPr txBox="1"/>
          <p:nvPr/>
        </p:nvSpPr>
        <p:spPr>
          <a:xfrm>
            <a:off x="342775" y="741750"/>
            <a:ext cx="7208100" cy="3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A microchip has a width of 2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−6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m. Write this as an ordinary number in cm.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4) Mars is approximately 225 million km away from Earth. Write this in standard form in m.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5) The radius of an atom is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approximately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−10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m. Write this an an ordinary number in mm.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2" name="Google Shape;1202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1098" y="3340323"/>
            <a:ext cx="998726" cy="99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9500" y="741750"/>
            <a:ext cx="1341900" cy="124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3550" y="2072375"/>
            <a:ext cx="998726" cy="99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ordinary and standard form</a:t>
            </a:r>
            <a:endParaRPr/>
          </a:p>
        </p:txBody>
      </p:sp>
      <p:sp>
        <p:nvSpPr>
          <p:cNvPr id="1210" name="Google Shape;1210;p96"/>
          <p:cNvSpPr txBox="1"/>
          <p:nvPr/>
        </p:nvSpPr>
        <p:spPr>
          <a:xfrm>
            <a:off x="401350" y="782325"/>
            <a:ext cx="8060100" cy="3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rabi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 the following into standard form: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0.000 000 263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652 000 000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0.005 63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892 000 000 000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0.000 000 000 000 000 3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30 004 000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0.000 300 4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96"/>
          <p:cNvSpPr txBox="1"/>
          <p:nvPr/>
        </p:nvSpPr>
        <p:spPr>
          <a:xfrm>
            <a:off x="2751950" y="1136000"/>
            <a:ext cx="193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2.63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−7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2" name="Google Shape;1212;p96"/>
          <p:cNvSpPr txBox="1"/>
          <p:nvPr/>
        </p:nvSpPr>
        <p:spPr>
          <a:xfrm>
            <a:off x="2523350" y="1593200"/>
            <a:ext cx="193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6.52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3" name="Google Shape;1213;p96"/>
          <p:cNvSpPr txBox="1"/>
          <p:nvPr/>
        </p:nvSpPr>
        <p:spPr>
          <a:xfrm>
            <a:off x="2066150" y="2126600"/>
            <a:ext cx="193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5.63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4" name="Google Shape;1214;p96"/>
          <p:cNvSpPr txBox="1"/>
          <p:nvPr/>
        </p:nvSpPr>
        <p:spPr>
          <a:xfrm>
            <a:off x="3177595" y="2606339"/>
            <a:ext cx="193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8.92 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5" name="Google Shape;1215;p96"/>
          <p:cNvSpPr txBox="1"/>
          <p:nvPr/>
        </p:nvSpPr>
        <p:spPr>
          <a:xfrm>
            <a:off x="4091995" y="3139739"/>
            <a:ext cx="193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−16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6" name="Google Shape;1216;p96"/>
          <p:cNvSpPr txBox="1"/>
          <p:nvPr/>
        </p:nvSpPr>
        <p:spPr>
          <a:xfrm>
            <a:off x="2415602" y="3596950"/>
            <a:ext cx="285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3.000 4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7" name="Google Shape;1217;p96"/>
          <p:cNvSpPr txBox="1"/>
          <p:nvPr/>
        </p:nvSpPr>
        <p:spPr>
          <a:xfrm>
            <a:off x="2187002" y="4130350"/>
            <a:ext cx="248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3.004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−4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ordinary and standard form</a:t>
            </a:r>
            <a:endParaRPr/>
          </a:p>
        </p:txBody>
      </p:sp>
      <p:sp>
        <p:nvSpPr>
          <p:cNvPr id="1223" name="Google Shape;1223;p97"/>
          <p:cNvSpPr txBox="1"/>
          <p:nvPr/>
        </p:nvSpPr>
        <p:spPr>
          <a:xfrm>
            <a:off x="401350" y="782325"/>
            <a:ext cx="8060100" cy="3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Convert the following into an ordinary number: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2.31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6.153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9.1565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2.48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2.48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3.0065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97"/>
          <p:cNvSpPr txBox="1"/>
          <p:nvPr/>
        </p:nvSpPr>
        <p:spPr>
          <a:xfrm>
            <a:off x="2572225" y="1135125"/>
            <a:ext cx="298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23 100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5" name="Google Shape;1225;p97"/>
          <p:cNvSpPr txBox="1"/>
          <p:nvPr/>
        </p:nvSpPr>
        <p:spPr>
          <a:xfrm>
            <a:off x="2629800" y="1696200"/>
            <a:ext cx="283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0.000 061 53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6" name="Google Shape;1226;p97"/>
          <p:cNvSpPr txBox="1"/>
          <p:nvPr/>
        </p:nvSpPr>
        <p:spPr>
          <a:xfrm>
            <a:off x="2751950" y="2279000"/>
            <a:ext cx="325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0.000 009 156 5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7" name="Google Shape;1227;p97"/>
          <p:cNvSpPr txBox="1"/>
          <p:nvPr/>
        </p:nvSpPr>
        <p:spPr>
          <a:xfrm>
            <a:off x="2572228" y="2802200"/>
            <a:ext cx="317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248 000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8" name="Google Shape;1228;p97"/>
          <p:cNvSpPr txBox="1"/>
          <p:nvPr/>
        </p:nvSpPr>
        <p:spPr>
          <a:xfrm>
            <a:off x="2539253" y="3355200"/>
            <a:ext cx="317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0.000 024 8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9" name="Google Shape;1229;p97"/>
          <p:cNvSpPr txBox="1"/>
          <p:nvPr/>
        </p:nvSpPr>
        <p:spPr>
          <a:xfrm>
            <a:off x="2831953" y="3908200"/>
            <a:ext cx="319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0.000 000 003 006 5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4" name="Google Shape;1234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9500" y="741750"/>
            <a:ext cx="1341900" cy="1244307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ordinary and standard form</a:t>
            </a:r>
            <a:endParaRPr/>
          </a:p>
        </p:txBody>
      </p:sp>
      <p:sp>
        <p:nvSpPr>
          <p:cNvPr id="1236" name="Google Shape;1236;p98"/>
          <p:cNvSpPr txBox="1"/>
          <p:nvPr/>
        </p:nvSpPr>
        <p:spPr>
          <a:xfrm>
            <a:off x="342775" y="741750"/>
            <a:ext cx="7149600" cy="3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A microchip has a width of 2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m. Write this as an ordinary number in cm.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4) Mars is approximately 225 million km away from Earth. Write this in standard form in m.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5) The radius of an atom is approximately                 1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m. Write this an an ordinary number in mm.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7" name="Google Shape;1237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1098" y="3340323"/>
            <a:ext cx="998726" cy="99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8" name="Google Shape;1238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3550" y="2072375"/>
            <a:ext cx="998726" cy="998726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98"/>
          <p:cNvSpPr txBox="1"/>
          <p:nvPr/>
        </p:nvSpPr>
        <p:spPr>
          <a:xfrm>
            <a:off x="1432807" y="1549175"/>
            <a:ext cx="46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0.000 002 m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0.000 000 02 cm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0" name="Google Shape;1240;p98"/>
          <p:cNvSpPr txBox="1"/>
          <p:nvPr/>
        </p:nvSpPr>
        <p:spPr>
          <a:xfrm>
            <a:off x="175925" y="2914175"/>
            <a:ext cx="726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225 000 000 km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225 000 000 000 m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2.25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1" name="Google Shape;1241;p98"/>
          <p:cNvSpPr txBox="1"/>
          <p:nvPr/>
        </p:nvSpPr>
        <p:spPr>
          <a:xfrm>
            <a:off x="933250" y="4189050"/>
            <a:ext cx="616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0.000 000 000 1 m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0.000 000 000 000 1 mm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9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very small numbers in standard form</a:t>
            </a:r>
            <a:endParaRPr/>
          </a:p>
        </p:txBody>
      </p:sp>
      <p:sp>
        <p:nvSpPr>
          <p:cNvPr id="1247" name="Google Shape;1247;p9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ordinary and standard form</a:t>
            </a:r>
            <a:endParaRPr/>
          </a:p>
        </p:txBody>
      </p:sp>
      <p:sp>
        <p:nvSpPr>
          <p:cNvPr id="1248" name="Google Shape;1248;p9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sp>
        <p:nvSpPr>
          <p:cNvPr id="1249" name="Google Shape;1249;p9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small numbers in standard form</a:t>
            </a:r>
            <a:endParaRPr/>
          </a:p>
        </p:txBody>
      </p:sp>
      <p:pic>
        <p:nvPicPr>
          <p:cNvPr id="1250" name="Google Shape;1250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988" y="370048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00"/>
          <p:cNvSpPr txBox="1"/>
          <p:nvPr>
            <p:ph idx="1" type="body"/>
          </p:nvPr>
        </p:nvSpPr>
        <p:spPr>
          <a:xfrm>
            <a:off x="3369600" y="759300"/>
            <a:ext cx="5624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</a:t>
            </a:r>
            <a:r>
              <a:rPr lang="en-GB"/>
              <a:t>et’s try converting </a:t>
            </a:r>
            <a:r>
              <a:rPr lang="en-GB" sz="2500"/>
              <a:t>7.6 × 10</a:t>
            </a:r>
            <a:r>
              <a:rPr baseline="30000" lang="en-GB" sz="2500"/>
              <a:t>−</a:t>
            </a:r>
            <a:r>
              <a:rPr baseline="30000" lang="en-GB" sz="2500"/>
              <a:t>6  </a:t>
            </a:r>
            <a:r>
              <a:rPr lang="en-GB"/>
              <a:t>into an ordinary number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Using           input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256" name="Google Shape;1256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pic>
        <p:nvPicPr>
          <p:cNvPr id="1257" name="Google Shape;125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174" y="759300"/>
            <a:ext cx="2259119" cy="40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4906" y="1698950"/>
            <a:ext cx="60007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100"/>
          <p:cNvSpPr txBox="1"/>
          <p:nvPr>
            <p:ph idx="1" type="body"/>
          </p:nvPr>
        </p:nvSpPr>
        <p:spPr>
          <a:xfrm>
            <a:off x="3417125" y="3088125"/>
            <a:ext cx="51297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Pressing        or       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Select         and change to a decimal 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happens?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pic>
        <p:nvPicPr>
          <p:cNvPr id="1260" name="Google Shape;1260;p100"/>
          <p:cNvPicPr preferRelativeResize="0"/>
          <p:nvPr/>
        </p:nvPicPr>
        <p:blipFill rotWithShape="1">
          <a:blip r:embed="rId5">
            <a:alphaModFix/>
          </a:blip>
          <a:srcRect b="10811" l="0" r="55173" t="10330"/>
          <a:stretch/>
        </p:blipFill>
        <p:spPr>
          <a:xfrm>
            <a:off x="6185950" y="3062875"/>
            <a:ext cx="526425" cy="49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100"/>
          <p:cNvPicPr preferRelativeResize="0"/>
          <p:nvPr/>
        </p:nvPicPr>
        <p:blipFill rotWithShape="1">
          <a:blip r:embed="rId5">
            <a:alphaModFix/>
          </a:blip>
          <a:srcRect b="10809" l="46051" r="-5251" t="0"/>
          <a:stretch/>
        </p:blipFill>
        <p:spPr>
          <a:xfrm>
            <a:off x="7064000" y="3033575"/>
            <a:ext cx="614706" cy="49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2" name="Google Shape;1262;p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80363" y="2445681"/>
            <a:ext cx="4413376" cy="45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3" name="Google Shape;1263;p1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60675" y="3529425"/>
            <a:ext cx="565775" cy="54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4" name="Google Shape;1264;p1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2112" y="1212500"/>
            <a:ext cx="1861100" cy="861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101"/>
          <p:cNvSpPr txBox="1"/>
          <p:nvPr>
            <p:ph idx="1" type="body"/>
          </p:nvPr>
        </p:nvSpPr>
        <p:spPr>
          <a:xfrm>
            <a:off x="3525300" y="759300"/>
            <a:ext cx="5036700" cy="39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will not convert it to a decimal.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It keeps the answer in </a:t>
            </a:r>
            <a:r>
              <a:rPr lang="en-GB"/>
              <a:t>standard</a:t>
            </a:r>
            <a:r>
              <a:rPr lang="en-GB"/>
              <a:t> form because the </a:t>
            </a:r>
            <a:r>
              <a:rPr lang="en-GB"/>
              <a:t>answer</a:t>
            </a:r>
            <a:r>
              <a:rPr lang="en-GB"/>
              <a:t> is so small.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Therefore it is important you are able to convert </a:t>
            </a:r>
            <a:r>
              <a:rPr lang="en-GB"/>
              <a:t>standard</a:t>
            </a:r>
            <a:r>
              <a:rPr lang="en-GB"/>
              <a:t> form to an </a:t>
            </a:r>
            <a:r>
              <a:rPr lang="en-GB"/>
              <a:t>ordinary</a:t>
            </a:r>
            <a:r>
              <a:rPr lang="en-GB"/>
              <a:t> number. 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is this as an ordinary number?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0.000 007 6</a:t>
            </a:r>
            <a:endParaRPr/>
          </a:p>
        </p:txBody>
      </p:sp>
      <p:sp>
        <p:nvSpPr>
          <p:cNvPr id="1270" name="Google Shape;1270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pic>
        <p:nvPicPr>
          <p:cNvPr id="1271" name="Google Shape;1271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174" y="759300"/>
            <a:ext cx="2259119" cy="40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9325" y="1190150"/>
            <a:ext cx="2049125" cy="94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02"/>
          <p:cNvSpPr txBox="1"/>
          <p:nvPr>
            <p:ph idx="1" type="body"/>
          </p:nvPr>
        </p:nvSpPr>
        <p:spPr>
          <a:xfrm>
            <a:off x="3369600" y="759300"/>
            <a:ext cx="5191800" cy="18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also use the           button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Using input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278" name="Google Shape;1278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pic>
        <p:nvPicPr>
          <p:cNvPr id="1279" name="Google Shape;1279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174" y="759300"/>
            <a:ext cx="2259119" cy="40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0138" y="1203850"/>
            <a:ext cx="1819201" cy="83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" name="Google Shape;1281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211" y="658025"/>
            <a:ext cx="635725" cy="5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2" name="Google Shape;1282;p102"/>
          <p:cNvPicPr preferRelativeResize="0"/>
          <p:nvPr/>
        </p:nvPicPr>
        <p:blipFill rotWithShape="1">
          <a:blip r:embed="rId6">
            <a:alphaModFix/>
          </a:blip>
          <a:srcRect b="231840" l="-23370" r="23370" t="-231840"/>
          <a:stretch/>
        </p:blipFill>
        <p:spPr>
          <a:xfrm>
            <a:off x="4450275" y="1496950"/>
            <a:ext cx="3298675" cy="68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10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9325" y="1190150"/>
            <a:ext cx="2049125" cy="94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10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44975" y="1755275"/>
            <a:ext cx="4775900" cy="6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102"/>
          <p:cNvSpPr txBox="1"/>
          <p:nvPr>
            <p:ph idx="1" type="body"/>
          </p:nvPr>
        </p:nvSpPr>
        <p:spPr>
          <a:xfrm>
            <a:off x="3417125" y="2554725"/>
            <a:ext cx="51297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Pressing        or       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Select         and change to a decimal 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output will be the same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pic>
        <p:nvPicPr>
          <p:cNvPr id="1286" name="Google Shape;1286;p102"/>
          <p:cNvPicPr preferRelativeResize="0"/>
          <p:nvPr/>
        </p:nvPicPr>
        <p:blipFill rotWithShape="1">
          <a:blip r:embed="rId9">
            <a:alphaModFix/>
          </a:blip>
          <a:srcRect b="10811" l="0" r="55173" t="10330"/>
          <a:stretch/>
        </p:blipFill>
        <p:spPr>
          <a:xfrm>
            <a:off x="6185950" y="2529475"/>
            <a:ext cx="526425" cy="49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p102"/>
          <p:cNvPicPr preferRelativeResize="0"/>
          <p:nvPr/>
        </p:nvPicPr>
        <p:blipFill rotWithShape="1">
          <a:blip r:embed="rId9">
            <a:alphaModFix/>
          </a:blip>
          <a:srcRect b="10809" l="46051" r="-5251" t="0"/>
          <a:stretch/>
        </p:blipFill>
        <p:spPr>
          <a:xfrm>
            <a:off x="7064000" y="2500175"/>
            <a:ext cx="614706" cy="49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8" name="Google Shape;1288;p10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60675" y="2996025"/>
            <a:ext cx="565775" cy="5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03"/>
          <p:cNvSpPr txBox="1"/>
          <p:nvPr>
            <p:ph idx="1" type="body"/>
          </p:nvPr>
        </p:nvSpPr>
        <p:spPr>
          <a:xfrm>
            <a:off x="324000" y="759300"/>
            <a:ext cx="8237700" cy="8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the following as a decimal.</a:t>
            </a:r>
            <a:endParaRPr/>
          </a:p>
        </p:txBody>
      </p:sp>
      <p:sp>
        <p:nvSpPr>
          <p:cNvPr id="1294" name="Google Shape;1294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pic>
        <p:nvPicPr>
          <p:cNvPr id="1295" name="Google Shape;1295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25" y="1724646"/>
            <a:ext cx="2970813" cy="1424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6" name="Google Shape;1296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1820" y="1716325"/>
            <a:ext cx="2788273" cy="1424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4610" y="1716325"/>
            <a:ext cx="2788265" cy="1406892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103"/>
          <p:cNvSpPr txBox="1"/>
          <p:nvPr/>
        </p:nvSpPr>
        <p:spPr>
          <a:xfrm>
            <a:off x="619725" y="3346750"/>
            <a:ext cx="193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0.000 000 063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9" name="Google Shape;1299;p103"/>
          <p:cNvSpPr txBox="1"/>
          <p:nvPr/>
        </p:nvSpPr>
        <p:spPr>
          <a:xfrm>
            <a:off x="3530950" y="3346750"/>
            <a:ext cx="250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0.000 453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0" name="Google Shape;1300;p103"/>
          <p:cNvSpPr txBox="1"/>
          <p:nvPr/>
        </p:nvSpPr>
        <p:spPr>
          <a:xfrm>
            <a:off x="6154600" y="3346750"/>
            <a:ext cx="269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0.000 000 000 236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the output as a decimal.</a:t>
            </a:r>
            <a:endParaRPr/>
          </a:p>
        </p:txBody>
      </p:sp>
      <p:sp>
        <p:nvSpPr>
          <p:cNvPr id="1306" name="Google Shape;1306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sp>
        <p:nvSpPr>
          <p:cNvPr id="1307" name="Google Shape;1307;p104"/>
          <p:cNvSpPr txBox="1"/>
          <p:nvPr/>
        </p:nvSpPr>
        <p:spPr>
          <a:xfrm>
            <a:off x="229450" y="1230300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1308" name="Google Shape;1308;p104"/>
          <p:cNvSpPr txBox="1"/>
          <p:nvPr/>
        </p:nvSpPr>
        <p:spPr>
          <a:xfrm>
            <a:off x="206050" y="2904825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sp>
        <p:nvSpPr>
          <p:cNvPr id="1309" name="Google Shape;1309;p104"/>
          <p:cNvSpPr txBox="1"/>
          <p:nvPr/>
        </p:nvSpPr>
        <p:spPr>
          <a:xfrm>
            <a:off x="4191850" y="1230300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/>
          </a:p>
        </p:txBody>
      </p:sp>
      <p:sp>
        <p:nvSpPr>
          <p:cNvPr id="1310" name="Google Shape;1310;p104"/>
          <p:cNvSpPr txBox="1"/>
          <p:nvPr/>
        </p:nvSpPr>
        <p:spPr>
          <a:xfrm>
            <a:off x="4168450" y="2904825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/>
          </a:p>
        </p:txBody>
      </p:sp>
      <p:pic>
        <p:nvPicPr>
          <p:cNvPr id="1311" name="Google Shape;1311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747" y="1311450"/>
            <a:ext cx="3088825" cy="142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2" name="Google Shape;1312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263" y="3024875"/>
            <a:ext cx="3161800" cy="146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3" name="Google Shape;1313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2198" y="1283700"/>
            <a:ext cx="3318425" cy="151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4" name="Google Shape;1314;p10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6550" y="2989775"/>
            <a:ext cx="3303920" cy="146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105"/>
          <p:cNvSpPr txBox="1"/>
          <p:nvPr>
            <p:ph idx="1" type="body"/>
          </p:nvPr>
        </p:nvSpPr>
        <p:spPr>
          <a:xfrm>
            <a:off x="324000" y="759300"/>
            <a:ext cx="8237700" cy="8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Investigate when the number becomes so small that the calculator converts it into standard form.</a:t>
            </a:r>
            <a:endParaRPr/>
          </a:p>
        </p:txBody>
      </p:sp>
      <p:sp>
        <p:nvSpPr>
          <p:cNvPr id="1320" name="Google Shape;1320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10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</a:t>
            </a:r>
            <a:r>
              <a:rPr lang="en-GB"/>
              <a:t>Fill in the missing information.</a:t>
            </a:r>
            <a:endParaRPr/>
          </a:p>
        </p:txBody>
      </p:sp>
      <p:sp>
        <p:nvSpPr>
          <p:cNvPr id="1326" name="Google Shape;1326;p10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sp>
        <p:nvSpPr>
          <p:cNvPr id="1327" name="Google Shape;1327;p106"/>
          <p:cNvSpPr txBox="1"/>
          <p:nvPr/>
        </p:nvSpPr>
        <p:spPr>
          <a:xfrm>
            <a:off x="229450" y="1230300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1328" name="Google Shape;1328;p106"/>
          <p:cNvSpPr txBox="1"/>
          <p:nvPr/>
        </p:nvSpPr>
        <p:spPr>
          <a:xfrm>
            <a:off x="206050" y="2904825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sp>
        <p:nvSpPr>
          <p:cNvPr id="1329" name="Google Shape;1329;p106"/>
          <p:cNvSpPr txBox="1"/>
          <p:nvPr/>
        </p:nvSpPr>
        <p:spPr>
          <a:xfrm>
            <a:off x="4191850" y="1230300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/>
          </a:p>
        </p:txBody>
      </p:sp>
      <p:sp>
        <p:nvSpPr>
          <p:cNvPr id="1330" name="Google Shape;1330;p106"/>
          <p:cNvSpPr txBox="1"/>
          <p:nvPr/>
        </p:nvSpPr>
        <p:spPr>
          <a:xfrm>
            <a:off x="4168450" y="2904825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/>
          </a:p>
        </p:txBody>
      </p:sp>
      <p:pic>
        <p:nvPicPr>
          <p:cNvPr id="1331" name="Google Shape;1331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750" y="1369525"/>
            <a:ext cx="3120650" cy="143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2" name="Google Shape;1332;p106"/>
          <p:cNvPicPr preferRelativeResize="0"/>
          <p:nvPr/>
        </p:nvPicPr>
        <p:blipFill rotWithShape="1">
          <a:blip r:embed="rId4">
            <a:alphaModFix/>
          </a:blip>
          <a:srcRect b="6041" l="0" r="0" t="0"/>
          <a:stretch/>
        </p:blipFill>
        <p:spPr>
          <a:xfrm>
            <a:off x="4746550" y="1339225"/>
            <a:ext cx="3289550" cy="149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650" y="3183075"/>
            <a:ext cx="3160750" cy="1453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4" name="Google Shape;1334;p10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3150" y="3105900"/>
            <a:ext cx="3332524" cy="149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106"/>
          <p:cNvSpPr/>
          <p:nvPr/>
        </p:nvSpPr>
        <p:spPr>
          <a:xfrm>
            <a:off x="3292975" y="2269925"/>
            <a:ext cx="300000" cy="25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106"/>
          <p:cNvSpPr/>
          <p:nvPr/>
        </p:nvSpPr>
        <p:spPr>
          <a:xfrm>
            <a:off x="7459200" y="2314650"/>
            <a:ext cx="300000" cy="25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106"/>
          <p:cNvSpPr/>
          <p:nvPr/>
        </p:nvSpPr>
        <p:spPr>
          <a:xfrm>
            <a:off x="5028600" y="3428025"/>
            <a:ext cx="489300" cy="25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106"/>
          <p:cNvSpPr/>
          <p:nvPr/>
        </p:nvSpPr>
        <p:spPr>
          <a:xfrm>
            <a:off x="970650" y="3566900"/>
            <a:ext cx="1148100" cy="25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the output as a decimal.</a:t>
            </a:r>
            <a:endParaRPr/>
          </a:p>
        </p:txBody>
      </p:sp>
      <p:sp>
        <p:nvSpPr>
          <p:cNvPr id="1344" name="Google Shape;1344;p10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sp>
        <p:nvSpPr>
          <p:cNvPr id="1345" name="Google Shape;1345;p107"/>
          <p:cNvSpPr txBox="1"/>
          <p:nvPr/>
        </p:nvSpPr>
        <p:spPr>
          <a:xfrm>
            <a:off x="229450" y="1230300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1346" name="Google Shape;1346;p107"/>
          <p:cNvSpPr txBox="1"/>
          <p:nvPr/>
        </p:nvSpPr>
        <p:spPr>
          <a:xfrm>
            <a:off x="206050" y="2904825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sp>
        <p:nvSpPr>
          <p:cNvPr id="1347" name="Google Shape;1347;p107"/>
          <p:cNvSpPr txBox="1"/>
          <p:nvPr/>
        </p:nvSpPr>
        <p:spPr>
          <a:xfrm>
            <a:off x="4191850" y="1230300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/>
          </a:p>
        </p:txBody>
      </p:sp>
      <p:sp>
        <p:nvSpPr>
          <p:cNvPr id="1348" name="Google Shape;1348;p107"/>
          <p:cNvSpPr txBox="1"/>
          <p:nvPr/>
        </p:nvSpPr>
        <p:spPr>
          <a:xfrm>
            <a:off x="4168450" y="2904825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/>
          </a:p>
        </p:txBody>
      </p:sp>
      <p:pic>
        <p:nvPicPr>
          <p:cNvPr id="1349" name="Google Shape;1349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518" y="1307780"/>
            <a:ext cx="2899065" cy="1239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0" name="Google Shape;1350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274" y="3099414"/>
            <a:ext cx="2967556" cy="1269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1" name="Google Shape;1351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7041" y="1283700"/>
            <a:ext cx="3114558" cy="131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2" name="Google Shape;1352;p10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51854" y="3068956"/>
            <a:ext cx="3100946" cy="1269461"/>
          </a:xfrm>
          <a:prstGeom prst="rect">
            <a:avLst/>
          </a:prstGeom>
          <a:noFill/>
          <a:ln>
            <a:noFill/>
          </a:ln>
        </p:spPr>
      </p:pic>
      <p:sp>
        <p:nvSpPr>
          <p:cNvPr id="1353" name="Google Shape;1353;p107"/>
          <p:cNvSpPr txBox="1"/>
          <p:nvPr/>
        </p:nvSpPr>
        <p:spPr>
          <a:xfrm>
            <a:off x="1258975" y="2502900"/>
            <a:ext cx="193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0.000 068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4" name="Google Shape;1354;p107"/>
          <p:cNvSpPr txBox="1"/>
          <p:nvPr/>
        </p:nvSpPr>
        <p:spPr>
          <a:xfrm>
            <a:off x="5198225" y="2546875"/>
            <a:ext cx="193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0.009 378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5" name="Google Shape;1355;p107"/>
          <p:cNvSpPr txBox="1"/>
          <p:nvPr/>
        </p:nvSpPr>
        <p:spPr>
          <a:xfrm>
            <a:off x="1171800" y="4338425"/>
            <a:ext cx="193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0.000 000 298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6" name="Google Shape;1356;p107"/>
          <p:cNvSpPr txBox="1"/>
          <p:nvPr/>
        </p:nvSpPr>
        <p:spPr>
          <a:xfrm>
            <a:off x="5265925" y="4297200"/>
            <a:ext cx="193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0.000 69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108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Investigate when the number becomes so small that the calculator converts it into standard form.</a:t>
            </a:r>
            <a:endParaRPr/>
          </a:p>
        </p:txBody>
      </p:sp>
      <p:sp>
        <p:nvSpPr>
          <p:cNvPr id="1362" name="Google Shape;1362;p10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sp>
        <p:nvSpPr>
          <p:cNvPr id="1363" name="Google Shape;1363;p108"/>
          <p:cNvSpPr txBox="1"/>
          <p:nvPr/>
        </p:nvSpPr>
        <p:spPr>
          <a:xfrm>
            <a:off x="324000" y="1725200"/>
            <a:ext cx="8344200" cy="9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Any number when written in standard form has an exponent less than or equal to −3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Fill in the missing information.</a:t>
            </a:r>
            <a:endParaRPr/>
          </a:p>
        </p:txBody>
      </p:sp>
      <p:sp>
        <p:nvSpPr>
          <p:cNvPr id="1369" name="Google Shape;1369;p10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 on the calculator</a:t>
            </a:r>
            <a:endParaRPr/>
          </a:p>
        </p:txBody>
      </p:sp>
      <p:sp>
        <p:nvSpPr>
          <p:cNvPr id="1370" name="Google Shape;1370;p109"/>
          <p:cNvSpPr txBox="1"/>
          <p:nvPr/>
        </p:nvSpPr>
        <p:spPr>
          <a:xfrm>
            <a:off x="229450" y="1230300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1371" name="Google Shape;1371;p109"/>
          <p:cNvSpPr txBox="1"/>
          <p:nvPr/>
        </p:nvSpPr>
        <p:spPr>
          <a:xfrm>
            <a:off x="206050" y="2904825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sp>
        <p:nvSpPr>
          <p:cNvPr id="1372" name="Google Shape;1372;p109"/>
          <p:cNvSpPr txBox="1"/>
          <p:nvPr/>
        </p:nvSpPr>
        <p:spPr>
          <a:xfrm>
            <a:off x="4191850" y="1230300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/>
          </a:p>
        </p:txBody>
      </p:sp>
      <p:sp>
        <p:nvSpPr>
          <p:cNvPr id="1373" name="Google Shape;1373;p109"/>
          <p:cNvSpPr txBox="1"/>
          <p:nvPr/>
        </p:nvSpPr>
        <p:spPr>
          <a:xfrm>
            <a:off x="4168450" y="2904825"/>
            <a:ext cx="5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/>
          </a:p>
        </p:txBody>
      </p:sp>
      <p:pic>
        <p:nvPicPr>
          <p:cNvPr id="1374" name="Google Shape;1374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750" y="1369525"/>
            <a:ext cx="3120650" cy="143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5" name="Google Shape;1375;p109"/>
          <p:cNvPicPr preferRelativeResize="0"/>
          <p:nvPr/>
        </p:nvPicPr>
        <p:blipFill rotWithShape="1">
          <a:blip r:embed="rId4">
            <a:alphaModFix/>
          </a:blip>
          <a:srcRect b="6041" l="0" r="0" t="0"/>
          <a:stretch/>
        </p:blipFill>
        <p:spPr>
          <a:xfrm>
            <a:off x="4746550" y="1339225"/>
            <a:ext cx="3289550" cy="149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6" name="Google Shape;1376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650" y="3183075"/>
            <a:ext cx="3160750" cy="1453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7" name="Google Shape;1377;p10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3150" y="3105900"/>
            <a:ext cx="3332524" cy="149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9"/>
          <p:cNvSpPr/>
          <p:nvPr/>
        </p:nvSpPr>
        <p:spPr>
          <a:xfrm>
            <a:off x="3292975" y="2269925"/>
            <a:ext cx="300000" cy="25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109"/>
          <p:cNvSpPr/>
          <p:nvPr/>
        </p:nvSpPr>
        <p:spPr>
          <a:xfrm>
            <a:off x="7459200" y="2314650"/>
            <a:ext cx="300000" cy="25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109"/>
          <p:cNvSpPr/>
          <p:nvPr/>
        </p:nvSpPr>
        <p:spPr>
          <a:xfrm>
            <a:off x="5028600" y="3428025"/>
            <a:ext cx="489300" cy="25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109"/>
          <p:cNvSpPr/>
          <p:nvPr/>
        </p:nvSpPr>
        <p:spPr>
          <a:xfrm>
            <a:off x="970650" y="3566900"/>
            <a:ext cx="1148100" cy="25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110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small numbers in standard form</a:t>
            </a:r>
            <a:endParaRPr/>
          </a:p>
        </p:txBody>
      </p:sp>
      <p:sp>
        <p:nvSpPr>
          <p:cNvPr id="1387" name="Google Shape;1387;p110"/>
          <p:cNvSpPr txBox="1"/>
          <p:nvPr>
            <p:ph idx="1" type="body"/>
          </p:nvPr>
        </p:nvSpPr>
        <p:spPr>
          <a:xfrm>
            <a:off x="324000" y="759300"/>
            <a:ext cx="8237700" cy="124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It is clear there is a need for standard form in real life, so it is important that incredibly large or small numbers can be written in standard form and vice versa. </a:t>
            </a:r>
            <a:endParaRPr sz="2100"/>
          </a:p>
        </p:txBody>
      </p:sp>
      <p:sp>
        <p:nvSpPr>
          <p:cNvPr id="1388" name="Google Shape;1388;p110"/>
          <p:cNvSpPr txBox="1"/>
          <p:nvPr>
            <p:ph idx="1" type="body"/>
          </p:nvPr>
        </p:nvSpPr>
        <p:spPr>
          <a:xfrm>
            <a:off x="324000" y="4035900"/>
            <a:ext cx="8237700" cy="124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When the exponent,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100"/>
              <a:t>, is positive, the overall number is large. </a:t>
            </a:r>
            <a:r>
              <a:rPr lang="en-GB" sz="2100"/>
              <a:t>When the exponent,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100"/>
              <a:t>, is negative, the overall number is small.</a:t>
            </a:r>
            <a:endParaRPr sz="2100"/>
          </a:p>
        </p:txBody>
      </p:sp>
      <p:sp>
        <p:nvSpPr>
          <p:cNvPr id="1389" name="Google Shape;1389;p110"/>
          <p:cNvSpPr txBox="1"/>
          <p:nvPr/>
        </p:nvSpPr>
        <p:spPr>
          <a:xfrm>
            <a:off x="1168425" y="2069550"/>
            <a:ext cx="663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10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where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≤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10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an integer.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0" name="Google Shape;1390;p110"/>
          <p:cNvSpPr/>
          <p:nvPr/>
        </p:nvSpPr>
        <p:spPr>
          <a:xfrm rot="5400000">
            <a:off x="3836764" y="2021250"/>
            <a:ext cx="59100" cy="1298100"/>
          </a:xfrm>
          <a:prstGeom prst="righ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1" name="Google Shape;1391;p110"/>
          <p:cNvCxnSpPr>
            <a:stCxn id="1390" idx="2"/>
          </p:cNvCxnSpPr>
          <p:nvPr/>
        </p:nvCxnSpPr>
        <p:spPr>
          <a:xfrm>
            <a:off x="3866314" y="2699850"/>
            <a:ext cx="0" cy="3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2" name="Google Shape;1392;p110"/>
          <p:cNvSpPr txBox="1"/>
          <p:nvPr/>
        </p:nvSpPr>
        <p:spPr>
          <a:xfrm>
            <a:off x="1165825" y="3007050"/>
            <a:ext cx="42480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must be a number between 1 and 10, including 1 and not including 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110"/>
          <p:cNvSpPr/>
          <p:nvPr/>
        </p:nvSpPr>
        <p:spPr>
          <a:xfrm rot="5400000">
            <a:off x="6195156" y="1644000"/>
            <a:ext cx="59100" cy="2052600"/>
          </a:xfrm>
          <a:prstGeom prst="righ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4" name="Google Shape;1394;p110"/>
          <p:cNvCxnSpPr>
            <a:stCxn id="1393" idx="2"/>
          </p:cNvCxnSpPr>
          <p:nvPr/>
        </p:nvCxnSpPr>
        <p:spPr>
          <a:xfrm>
            <a:off x="6224706" y="2699850"/>
            <a:ext cx="0" cy="3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5" name="Google Shape;1395;p110"/>
          <p:cNvSpPr txBox="1"/>
          <p:nvPr/>
        </p:nvSpPr>
        <p:spPr>
          <a:xfrm>
            <a:off x="5622000" y="3007050"/>
            <a:ext cx="24552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 be a positive or negative whole number.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111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01" name="Google Shape;1401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