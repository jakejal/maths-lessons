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4.2-->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665" r:id="rId1"/>
    <p:sldMasterId id="2147483666" r:id="rId2"/>
  </p:sldMasterIdLst>
  <p:notesMasterIdLst>
    <p:notesMasterId r:id="rId3"/>
  </p:notesMasterIdLst>
  <p:sldIdLst>
    <p:sldId id="256" r:id="rId4"/>
    <p:sldId id="257" r:id="rId5"/>
    <p:sldId id="258" r:id="rId6"/>
  </p:sldIdLst>
  <p:sldSz cx="7560000" cy="10692000"/>
  <p:notesSz cx="6858000" cy="9144000"/>
  <p:embeddedFontLst>
    <p:embeddedFont>
      <p:font typeface="Lexend" panose="00000000000000000000"/>
      <p:regular r:id="rId8"/>
    </p:embeddedFont>
    <p:embeddedFont>
      <p:font typeface="Kalam" panose="02000000000000000000"/>
      <p:regular r:id="rId9"/>
    </p:embeddedFont>
    <p:embeddedFont>
      <p:font typeface="Lexend Medium" panose="00000000000000000000"/>
      <p:regular r:id="rId10"/>
    </p:embeddedFont>
    <p:embeddedFont>
      <p:font typeface="Lexend Light" panose="00000000000000000000"/>
      <p:regular r:id="rId11"/>
    </p:embeddedFont>
  </p:embeddedFontLst>
  <p:custDataLst>
    <p:tags r:id="rId7"/>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font" Target="fonts/font3.fntdata" /><Relationship Id="rId11" Type="http://schemas.openxmlformats.org/officeDocument/2006/relationships/font" Target="fonts/font4.fntdata" /><Relationship Id="rId12" Type="http://schemas.openxmlformats.org/officeDocument/2006/relationships/presProps" Target="presProps.xml" /><Relationship Id="rId13" Type="http://schemas.openxmlformats.org/officeDocument/2006/relationships/viewProps" Target="viewProps.xml" /><Relationship Id="rId14" Type="http://schemas.openxmlformats.org/officeDocument/2006/relationships/theme" Target="theme/theme1.xml" /><Relationship Id="rId15"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notesMaster" Target="notesMasters/notes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tags" Target="tags/tag1.xml" /><Relationship Id="rId8" Type="http://schemas.openxmlformats.org/officeDocument/2006/relationships/font" Target="fonts/font1.fntdata" /><Relationship Id="rId9" Type="http://schemas.openxmlformats.org/officeDocument/2006/relationships/font" Target="fonts/font2.fntdata"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7" name="Shape 167"/>
        <p:cNvGrpSpPr/>
        <p:nvPr/>
      </p:nvGrpSpPr>
      <p:grpSpPr>
        <a:xfrm>
          <a:off x="0" y="0"/>
          <a:ext cx="0" cy="0"/>
        </a:xfrm>
      </p:grpSpPr>
      <p:sp>
        <p:nvSpPr>
          <p:cNvPr id="168" name="Google Shape;168;g279934fec8d_0_131: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69" name="Google Shape;169;g279934fec8d_0_1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64" name="Shape 264"/>
        <p:cNvGrpSpPr/>
        <p:nvPr/>
      </p:nvGrpSpPr>
      <p:grpSpPr>
        <a:xfrm>
          <a:off x="0" y="0"/>
          <a:ext cx="0" cy="0"/>
        </a:xfrm>
      </p:grpSpPr>
      <p:sp>
        <p:nvSpPr>
          <p:cNvPr id="265" name="Google Shape;265;g2b9253c4ab2_0_0: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66" name="Google Shape;266;g2b9253c4ab2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371" name="Shape 371"/>
        <p:cNvGrpSpPr/>
        <p:nvPr/>
      </p:nvGrpSpPr>
      <p:grpSpPr>
        <a:xfrm>
          <a:off x="0" y="0"/>
          <a:ext cx="0" cy="0"/>
        </a:xfrm>
      </p:grpSpPr>
      <p:sp>
        <p:nvSpPr>
          <p:cNvPr id="372" name="Google Shape;372;g279934fec8d_0_136: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373" name="Google Shape;373;g279934fec8d_0_1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5.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p:cSld name="SECTION_HEADER_1_1_1_1_1_1_1_1_1_2_2">
    <p:spTree>
      <p:nvGrpSpPr>
        <p:cNvPr id="9" name="Shape 9"/>
        <p:cNvGrpSpPr/>
        <p:nvPr/>
      </p:nvGrpSpPr>
      <p:grpSpPr>
        <a:xfrm>
          <a:off x="0" y="0"/>
          <a:ext cx="0" cy="0"/>
        </a:xfrm>
      </p:grpSpPr>
      <p:sp>
        <p:nvSpPr>
          <p:cNvPr id="10" name="Google Shape;10;p2"/>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 name="Google Shape;11;p2"/>
          <p:cNvSpPr txBox="1"/>
          <p:nvPr>
            <p:ph type="subTitle" idx="1"/>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12" name="Google Shape;12;p2"/>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pic>
        <p:nvPicPr>
          <p:cNvPr id="14" name="Google Shape;14;p2"/>
          <p:cNvPicPr preferRelativeResize="0"/>
          <p:nvPr/>
        </p:nvPicPr>
        <p:blipFill>
          <a:blip r:embed="rId3">
            <a:alphaModFix/>
          </a:blip>
          <a:stretch>
            <a:fillRect/>
          </a:stretch>
        </p:blipFill>
        <p:spPr>
          <a:xfrm>
            <a:off x="6261625" y="161271"/>
            <a:ext cx="805956" cy="4986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1">
  <p:cSld name="SECTION_HEADER_1_1_1_1_1_1_1_1_1_2_1">
    <p:spTree>
      <p:nvGrpSpPr>
        <p:cNvPr id="15" name="Shape 15"/>
        <p:cNvGrpSpPr/>
        <p:nvPr/>
      </p:nvGrpSpPr>
      <p:grpSpPr>
        <a:xfrm>
          <a:off x="0" y="0"/>
          <a:ext cx="0" cy="0"/>
        </a:xfrm>
      </p:grpSpPr>
      <p:sp>
        <p:nvSpPr>
          <p:cNvPr id="16" name="Google Shape;16;p3"/>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7" name="Google Shape;17;p3"/>
          <p:cNvSpPr txBox="1"/>
          <p:nvPr>
            <p:ph type="subTitle" idx="1"/>
          </p:nvPr>
        </p:nvSpPr>
        <p:spPr>
          <a:xfrm>
            <a:off x="466825" y="17801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8" name="Google Shape;18;p3"/>
          <p:cNvSpPr txBox="1"/>
          <p:nvPr>
            <p:ph type="subTitle" idx="2"/>
          </p:nvPr>
        </p:nvSpPr>
        <p:spPr>
          <a:xfrm>
            <a:off x="2807400"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9" name="Google Shape;19;p3"/>
          <p:cNvSpPr txBox="1"/>
          <p:nvPr>
            <p:ph type="subTitle" idx="3"/>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0" name="Google Shape;20;p3"/>
          <p:cNvSpPr txBox="1"/>
          <p:nvPr>
            <p:ph type="subTitle" idx="4"/>
          </p:nvPr>
        </p:nvSpPr>
        <p:spPr>
          <a:xfrm>
            <a:off x="4127250"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1" name="Google Shape;21;p3"/>
          <p:cNvSpPr txBox="1"/>
          <p:nvPr>
            <p:ph type="subTitle" idx="5"/>
          </p:nvPr>
        </p:nvSpPr>
        <p:spPr>
          <a:xfrm>
            <a:off x="468000" y="5866375"/>
            <a:ext cx="65817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2" name="Google Shape;22;p3"/>
          <p:cNvSpPr txBox="1"/>
          <p:nvPr>
            <p:ph type="subTitle" idx="6"/>
          </p:nvPr>
        </p:nvSpPr>
        <p:spPr>
          <a:xfrm>
            <a:off x="466825"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3" name="Google Shape;23;p3"/>
          <p:cNvSpPr txBox="1"/>
          <p:nvPr>
            <p:ph type="subTitle" idx="7"/>
          </p:nvPr>
        </p:nvSpPr>
        <p:spPr>
          <a:xfrm>
            <a:off x="46682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4" name="Google Shape;24;p3"/>
          <p:cNvSpPr txBox="1"/>
          <p:nvPr>
            <p:ph type="subTitle" idx="8"/>
          </p:nvPr>
        </p:nvSpPr>
        <p:spPr>
          <a:xfrm>
            <a:off x="514797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25" name="Google Shape;25;p3"/>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29" name="Google Shape;29;p3"/>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pic>
        <p:nvPicPr>
          <p:cNvPr id="30" name="Google Shape;30;p3"/>
          <p:cNvPicPr preferRelativeResize="0"/>
          <p:nvPr/>
        </p:nvPicPr>
        <p:blipFill>
          <a:blip r:embed="rId3">
            <a:alphaModFix/>
          </a:blip>
          <a:stretch>
            <a:fillRect/>
          </a:stretch>
        </p:blipFill>
        <p:spPr>
          <a:xfrm>
            <a:off x="6261625" y="161271"/>
            <a:ext cx="805956" cy="498600"/>
          </a:xfrm>
          <a:prstGeom prst="rect">
            <a:avLst/>
          </a:prstGeom>
          <a:noFill/>
          <a:ln>
            <a:noFill/>
          </a:ln>
        </p:spPr>
      </p:pic>
      <p:sp>
        <p:nvSpPr>
          <p:cNvPr id="31" name="Google Shape;31;p3"/>
          <p:cNvSpPr txBox="1"/>
          <p:nvPr>
            <p:ph type="subTitle" idx="9"/>
          </p:nvPr>
        </p:nvSpPr>
        <p:spPr>
          <a:xfrm>
            <a:off x="466825" y="13698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1">
  <p:cSld name="SECTION_HEADER_1_1_1_1_1_1_1_1_1_1">
    <p:spTree>
      <p:nvGrpSpPr>
        <p:cNvPr id="32" name="Shape 32"/>
        <p:cNvGrpSpPr/>
        <p:nvPr/>
      </p:nvGrpSpPr>
      <p:grpSpPr>
        <a:xfrm>
          <a:off x="0" y="0"/>
          <a:ext cx="0" cy="0"/>
        </a:xfrm>
      </p:grpSpPr>
      <p:sp>
        <p:nvSpPr>
          <p:cNvPr id="33" name="Google Shape;33;p4"/>
          <p:cNvSpPr txBox="1"/>
          <p:nvPr>
            <p:ph type="subTitle" idx="1"/>
          </p:nvPr>
        </p:nvSpPr>
        <p:spPr>
          <a:xfrm>
            <a:off x="466825" y="16277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4" name="Google Shape;34;p4"/>
          <p:cNvSpPr txBox="1"/>
          <p:nvPr>
            <p:ph type="subTitle" idx="2"/>
          </p:nvPr>
        </p:nvSpPr>
        <p:spPr>
          <a:xfrm>
            <a:off x="4127250"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5" name="Google Shape;35;p4"/>
          <p:cNvSpPr txBox="1"/>
          <p:nvPr>
            <p:ph type="subTitle" idx="3"/>
          </p:nvPr>
        </p:nvSpPr>
        <p:spPr>
          <a:xfrm>
            <a:off x="466825"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36" name="Google Shape;36;p4"/>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37" name="Google Shape;37;p4"/>
          <p:cNvSpPr txBox="1"/>
          <p:nvPr>
            <p:ph type="subTitle" idx="4"/>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2">
  <p:cSld name="SECTION_HEADER_1_1_1_1_1_1_1_1_1_1_1">
    <p:spTree>
      <p:nvGrpSpPr>
        <p:cNvPr id="38" name="Shape 38"/>
        <p:cNvGrpSpPr/>
        <p:nvPr/>
      </p:nvGrpSpPr>
      <p:grpSpPr>
        <a:xfrm>
          <a:off x="0" y="0"/>
          <a:ext cx="0" cy="0"/>
        </a:xfrm>
      </p:grpSpPr>
      <p:sp>
        <p:nvSpPr>
          <p:cNvPr id="39" name="Google Shape;39;p5"/>
          <p:cNvSpPr txBox="1"/>
          <p:nvPr>
            <p:ph type="subTitle" idx="1"/>
          </p:nvPr>
        </p:nvSpPr>
        <p:spPr>
          <a:xfrm>
            <a:off x="2807400"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0" name="Google Shape;40;p5"/>
          <p:cNvSpPr txBox="1"/>
          <p:nvPr>
            <p:ph type="subTitle" idx="2"/>
          </p:nvPr>
        </p:nvSpPr>
        <p:spPr>
          <a:xfrm>
            <a:off x="467950" y="2493013"/>
            <a:ext cx="66240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1" name="Google Shape;41;p5"/>
          <p:cNvSpPr txBox="1"/>
          <p:nvPr>
            <p:ph type="subTitle" idx="3"/>
          </p:nvPr>
        </p:nvSpPr>
        <p:spPr>
          <a:xfrm>
            <a:off x="46682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2" name="Google Shape;42;p5"/>
          <p:cNvSpPr txBox="1"/>
          <p:nvPr>
            <p:ph type="subTitle" idx="4"/>
          </p:nvPr>
        </p:nvSpPr>
        <p:spPr>
          <a:xfrm>
            <a:off x="514797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43" name="Google Shape;43;p5"/>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44" name="Google Shape;44;p5"/>
          <p:cNvSpPr txBox="1"/>
          <p:nvPr>
            <p:ph type="subTitle" idx="5"/>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3">
  <p:cSld name="SECTION_HEADER_1_1_1_1_1_1_1_1_1_1_1_2">
    <p:spTree>
      <p:nvGrpSpPr>
        <p:cNvPr id="45" name="Shape 45"/>
        <p:cNvGrpSpPr/>
        <p:nvPr/>
      </p:nvGrpSpPr>
      <p:grpSpPr>
        <a:xfrm>
          <a:off x="0" y="0"/>
          <a:ext cx="0" cy="0"/>
        </a:xfrm>
      </p:grpSpPr>
      <p:sp>
        <p:nvSpPr>
          <p:cNvPr id="46" name="Google Shape;46;p6"/>
          <p:cNvSpPr txBox="1"/>
          <p:nvPr>
            <p:ph type="subTitle" idx="1"/>
          </p:nvPr>
        </p:nvSpPr>
        <p:spPr>
          <a:xfrm>
            <a:off x="46682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7" name="Google Shape;47;p6"/>
          <p:cNvSpPr txBox="1"/>
          <p:nvPr>
            <p:ph type="subTitle" idx="2"/>
          </p:nvPr>
        </p:nvSpPr>
        <p:spPr>
          <a:xfrm>
            <a:off x="2807400"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8" name="Google Shape;48;p6"/>
          <p:cNvSpPr txBox="1"/>
          <p:nvPr>
            <p:ph type="subTitle" idx="3"/>
          </p:nvPr>
        </p:nvSpPr>
        <p:spPr>
          <a:xfrm>
            <a:off x="514797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9" name="Google Shape;49;p6"/>
          <p:cNvSpPr txBox="1"/>
          <p:nvPr>
            <p:ph type="subTitle" idx="4"/>
          </p:nvPr>
        </p:nvSpPr>
        <p:spPr>
          <a:xfrm>
            <a:off x="466825" y="170220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0" name="Google Shape;50;p6"/>
          <p:cNvSpPr txBox="1"/>
          <p:nvPr>
            <p:ph type="subTitle" idx="5"/>
          </p:nvPr>
        </p:nvSpPr>
        <p:spPr>
          <a:xfrm>
            <a:off x="466825"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1" name="Google Shape;51;p6"/>
          <p:cNvSpPr txBox="1"/>
          <p:nvPr>
            <p:ph type="subTitle" idx="6"/>
          </p:nvPr>
        </p:nvSpPr>
        <p:spPr>
          <a:xfrm>
            <a:off x="4127250"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2" name="Google Shape;52;p6"/>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3" name="Google Shape;53;p6"/>
          <p:cNvSpPr txBox="1"/>
          <p:nvPr>
            <p:ph type="subTitle" idx="7"/>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4">
  <p:cSld name="SECTION_HEADER_1_1_1_1_1_1_1_1_1_1_1_2_1">
    <p:spTree>
      <p:nvGrpSpPr>
        <p:cNvPr id="54" name="Shape 54"/>
        <p:cNvGrpSpPr/>
        <p:nvPr/>
      </p:nvGrpSpPr>
      <p:grpSpPr>
        <a:xfrm>
          <a:off x="0" y="0"/>
          <a:ext cx="0" cy="0"/>
        </a:xfrm>
      </p:grpSpPr>
      <p:sp>
        <p:nvSpPr>
          <p:cNvPr id="55" name="Google Shape;55;p7"/>
          <p:cNvSpPr txBox="1"/>
          <p:nvPr>
            <p:ph type="subTitle" idx="1"/>
          </p:nvPr>
        </p:nvSpPr>
        <p:spPr>
          <a:xfrm>
            <a:off x="468000" y="1327649"/>
            <a:ext cx="6624000" cy="38436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6" name="Google Shape;56;p7"/>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7" name="Google Shape;57;p7"/>
          <p:cNvSpPr txBox="1"/>
          <p:nvPr>
            <p:ph type="subTitle" idx="2"/>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Elements to copy and paste">
  <p:cSld name="SECTION_HEADER_1_1_1_1_1_1_1_1_1_1_1_2_1_1">
    <p:spTree>
      <p:nvGrpSpPr>
        <p:cNvPr id="58" name="Shape 58"/>
        <p:cNvGrpSpPr/>
        <p:nvPr/>
      </p:nvGrpSpPr>
      <p:grpSpPr>
        <a:xfrm>
          <a:off x="0" y="0"/>
          <a:ext cx="0" cy="0"/>
        </a:xfrm>
      </p:grpSpPr>
      <p:sp>
        <p:nvSpPr>
          <p:cNvPr id="59" name="Google Shape;59;p8"/>
          <p:cNvSpPr txBox="1"/>
          <p:nvPr/>
        </p:nvSpPr>
        <p:spPr>
          <a:xfrm>
            <a:off x="493450" y="416654"/>
            <a:ext cx="6624000" cy="215400"/>
          </a:xfrm>
          <a:prstGeom prst="rect">
            <a:avLst/>
          </a:prstGeom>
          <a:noFill/>
          <a:ln>
            <a:noFill/>
          </a:ln>
        </p:spPr>
        <p:txBody>
          <a:bodyPr spcFirstLastPara="1" wrap="square" lIns="0" tIns="0" rIns="0" bIns="0" anchor="t" anchorCtr="0">
            <a:spAutoFit/>
          </a:bodyPr>
          <a:lstStyle/>
          <a:p>
            <a:pPr marL="0" lvl="0" indent="0" algn="l" rtl="0">
              <a:lnSpc>
                <a:spcPct val="150000"/>
              </a:lnSpc>
              <a:spcBef>
                <a:spcPct val="0"/>
              </a:spcBef>
              <a:spcAft>
                <a:spcPct val="0"/>
              </a:spcAft>
              <a:buNone/>
            </a:pPr>
            <a:r>
              <a:rPr lang="en-GB" b="1">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1">
            <a:alphaModFix/>
          </a:blip>
          <a:stretch>
            <a:fillRect/>
          </a:stretch>
        </p:blipFill>
        <p:spPr>
          <a:xfrm>
            <a:off x="6886512" y="10041210"/>
            <a:ext cx="181075" cy="246288"/>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 Title page">
  <p:cSld name="SECTION_HEADER_1_1_1_1_1_1_1_1_1_1_1_2_1_1_1_1_1_2">
    <p:bg>
      <p:bgPr>
        <a:solidFill>
          <a:schemeClr val="lt1"/>
        </a:solidFill>
      </p:bgPr>
    </p:bg>
    <p:spTree>
      <p:nvGrpSpPr>
        <p:cNvPr id="65" name="Shape 65"/>
        <p:cNvGrpSpPr/>
        <p:nvPr/>
      </p:nvGrpSpPr>
      <p:grpSpPr>
        <a:xfrm>
          <a:off x="0" y="0"/>
          <a:ext cx="0" cy="0"/>
        </a:xfrm>
      </p:grpSpPr>
      <p:pic>
        <p:nvPicPr>
          <p:cNvPr id="66" name="Google Shape;66;p10"/>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67" name="Google Shape;67;p1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69" name="Google Shape;69;p10"/>
          <p:cNvPicPr preferRelativeResize="0"/>
          <p:nvPr/>
        </p:nvPicPr>
        <p:blipFill>
          <a:blip r:embed="rId2">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1 Title page with long title">
  <p:cSld name="SECTION_HEADER_1_1_1_1_1_1_1_1_1_1_1_2_1_1_1_1_1_1_2">
    <p:bg>
      <p:bgPr>
        <a:solidFill>
          <a:schemeClr val="lt1"/>
        </a:solidFill>
      </p:bgPr>
    </p:bg>
    <p:spTree>
      <p:nvGrpSpPr>
        <p:cNvPr id="74" name="Shape 74"/>
        <p:cNvGrpSpPr/>
        <p:nvPr/>
      </p:nvGrpSpPr>
      <p:grpSpPr>
        <a:xfrm>
          <a:off x="0" y="0"/>
          <a:ext cx="0" cy="0"/>
        </a:xfrm>
      </p:grpSpPr>
      <p:pic>
        <p:nvPicPr>
          <p:cNvPr id="75" name="Google Shape;75;p11"/>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76" name="Google Shape;76;p1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78" name="Google Shape;78;p11"/>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 Middle page">
  <p:cSld name="SECTION_HEADER_1_1_1_1_1_1_1_1_1_1_1_2_1_1_1_1_1_1_1_1_2">
    <p:bg>
      <p:bgPr>
        <a:solidFill>
          <a:schemeClr val="lt1"/>
        </a:solidFill>
      </p:bgPr>
    </p:bg>
    <p:spTree>
      <p:nvGrpSpPr>
        <p:cNvPr id="83" name="Shape 83"/>
        <p:cNvGrpSpPr/>
        <p:nvPr/>
      </p:nvGrpSpPr>
      <p:grpSpPr>
        <a:xfrm>
          <a:off x="0" y="0"/>
          <a:ext cx="0" cy="0"/>
        </a:xfrm>
      </p:grpSpPr>
      <p:pic>
        <p:nvPicPr>
          <p:cNvPr id="84" name="Google Shape;84;p12"/>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85" name="Google Shape;85;p1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87" name="Google Shape;87;p12"/>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88" name="Google Shape;88;p12"/>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1 Last page">
  <p:cSld name="SECTION_HEADER_1_1_1_1_1_1_1_1_1_1_1_2_1_1_1_1_1_1_1_1_1_3">
    <p:bg>
      <p:bgPr>
        <a:solidFill>
          <a:schemeClr val="lt1"/>
        </a:solidFill>
      </p:bgPr>
    </p:bg>
    <p:spTree>
      <p:nvGrpSpPr>
        <p:cNvPr id="90" name="Shape 90"/>
        <p:cNvGrpSpPr/>
        <p:nvPr/>
      </p:nvGrpSpPr>
      <p:grpSpPr>
        <a:xfrm>
          <a:off x="0" y="0"/>
          <a:ext cx="0" cy="0"/>
        </a:xfrm>
      </p:grpSpPr>
      <p:pic>
        <p:nvPicPr>
          <p:cNvPr id="91" name="Google Shape;91;p13"/>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2" name="Google Shape;92;p1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94" name="Google Shape;94;p13"/>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95" name="Google Shape;95;p13"/>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00" name="Google Shape;100;p13"/>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lvl1pPr lv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ct val="0"/>
              </a:spcBef>
              <a:spcAft>
                <a:spcPct val="0"/>
              </a:spcAft>
              <a:buSzPts val="1400"/>
              <a:buNone/>
              <a:defRPr/>
            </a:lvl2pPr>
            <a:lvl3pPr lvl="2">
              <a:spcBef>
                <a:spcPct val="0"/>
              </a:spcBef>
              <a:spcAft>
                <a:spcPct val="0"/>
              </a:spcAft>
              <a:buSzPts val="1400"/>
              <a:buNone/>
              <a:defRPr/>
            </a:lvl3pPr>
            <a:lvl4pPr lvl="3">
              <a:spcBef>
                <a:spcPct val="0"/>
              </a:spcBef>
              <a:spcAft>
                <a:spcPct val="0"/>
              </a:spcAft>
              <a:buSzPts val="1400"/>
              <a:buNone/>
              <a:defRPr/>
            </a:lvl4pPr>
            <a:lvl5pPr lvl="4">
              <a:spcBef>
                <a:spcPct val="0"/>
              </a:spcBef>
              <a:spcAft>
                <a:spcPct val="0"/>
              </a:spcAft>
              <a:buSzPts val="1400"/>
              <a:buNone/>
              <a:defRPr/>
            </a:lvl5pPr>
            <a:lvl6pPr lvl="5">
              <a:spcBef>
                <a:spcPct val="0"/>
              </a:spcBef>
              <a:spcAft>
                <a:spcPct val="0"/>
              </a:spcAft>
              <a:buSzPts val="1400"/>
              <a:buNone/>
              <a:defRPr/>
            </a:lvl6pPr>
            <a:lvl7pPr lvl="6">
              <a:spcBef>
                <a:spcPct val="0"/>
              </a:spcBef>
              <a:spcAft>
                <a:spcPct val="0"/>
              </a:spcAft>
              <a:buSzPts val="1400"/>
              <a:buNone/>
              <a:defRPr/>
            </a:lvl7pPr>
            <a:lvl8pPr lvl="7">
              <a:spcBef>
                <a:spcPct val="0"/>
              </a:spcBef>
              <a:spcAft>
                <a:spcPct val="0"/>
              </a:spcAft>
              <a:buSzPts val="1400"/>
              <a:buNone/>
              <a:defRPr/>
            </a:lvl8pPr>
            <a:lvl9pPr lvl="8">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 Single page worksheet">
  <p:cSld name="SECTION_HEADER_1_1_1_1_1_1_1_1_1_1_1_2_1_1_1_1_1_2_1">
    <p:bg>
      <p:bgPr>
        <a:solidFill>
          <a:schemeClr val="lt1"/>
        </a:solidFill>
      </p:bgPr>
    </p:bg>
    <p:spTree>
      <p:nvGrpSpPr>
        <p:cNvPr id="101" name="Shape 101"/>
        <p:cNvGrpSpPr/>
        <p:nvPr/>
      </p:nvGrpSpPr>
      <p:grpSpPr>
        <a:xfrm>
          <a:off x="0" y="0"/>
          <a:ext cx="0" cy="0"/>
        </a:xfrm>
      </p:grpSpPr>
      <p:pic>
        <p:nvPicPr>
          <p:cNvPr id="102" name="Google Shape;102;p14"/>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03" name="Google Shape;103;p14"/>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05" name="Google Shape;105;p14"/>
          <p:cNvPicPr preferRelativeResize="0"/>
          <p:nvPr/>
        </p:nvPicPr>
        <p:blipFill>
          <a:blip r:embed="rId2">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13" name="Google Shape;113;p14"/>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xfrm>
      </p:grpSpPr>
      <p:pic>
        <p:nvPicPr>
          <p:cNvPr id="115" name="Google Shape;115;p15"/>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16" name="Google Shape;116;p15"/>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18" name="Google Shape;118;p15"/>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26" name="Google Shape;126;p15"/>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xfrm>
      </p:grpSpPr>
      <p:pic>
        <p:nvPicPr>
          <p:cNvPr id="128" name="Google Shape;128;p16"/>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29" name="Google Shape;129;p16"/>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31" name="Google Shape;131;p16"/>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xfrm>
      </p:grpSpPr>
      <p:pic>
        <p:nvPicPr>
          <p:cNvPr id="137" name="Google Shape;137;p17"/>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8" name="Google Shape;138;p17"/>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0" name="Google Shape;140;p17"/>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2" name="Google Shape;142;p17"/>
          <p:cNvSpPr txBox="1"/>
          <p:nvPr>
            <p:ph type="subTitle" idx="1"/>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xfrm>
      </p:grpSpPr>
      <p:pic>
        <p:nvPicPr>
          <p:cNvPr id="144" name="Google Shape;144;p18"/>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45" name="Google Shape;145;p18"/>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7" name="Google Shape;147;p18"/>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52" name="Google Shape;152;p18"/>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53" name="Google Shape;153;p18"/>
          <p:cNvSpPr txBox="1"/>
          <p:nvPr>
            <p:ph type="subTitle" idx="2"/>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xfrm>
      </p:grpSpPr>
      <p:pic>
        <p:nvPicPr>
          <p:cNvPr id="155" name="Google Shape;155;p19"/>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56" name="Google Shape;156;p19"/>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58" name="Google Shape;158;p19"/>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66" name="Google Shape;166;p19"/>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theme" Target="../theme/theme1.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slideLayout" Target="../slideLayouts/slideLayout17.xml" /><Relationship Id="rId11" Type="http://schemas.openxmlformats.org/officeDocument/2006/relationships/theme" Target="../theme/theme2.xml" /><Relationship Id="rId2" Type="http://schemas.openxmlformats.org/officeDocument/2006/relationships/slideLayout" Target="../slideLayouts/slideLayout9.xml" /><Relationship Id="rId3" Type="http://schemas.openxmlformats.org/officeDocument/2006/relationships/slideLayout" Target="../slideLayouts/slideLayout10.xml" /><Relationship Id="rId4" Type="http://schemas.openxmlformats.org/officeDocument/2006/relationships/slideLayout" Target="../slideLayouts/slideLayout11.xml" /><Relationship Id="rId5" Type="http://schemas.openxmlformats.org/officeDocument/2006/relationships/slideLayout" Target="../slideLayouts/slideLayout12.xml" /><Relationship Id="rId6" Type="http://schemas.openxmlformats.org/officeDocument/2006/relationships/slideLayout" Target="../slideLayouts/slideLayout13.xml" /><Relationship Id="rId7" Type="http://schemas.openxmlformats.org/officeDocument/2006/relationships/slideLayout" Target="../slideLayouts/slideLayout14.xml" /><Relationship Id="rId8" Type="http://schemas.openxmlformats.org/officeDocument/2006/relationships/slideLayout" Target="../slideLayouts/slideLayout15.xml" /><Relationship Id="rId9" Type="http://schemas.openxmlformats.org/officeDocument/2006/relationships/slideLayout" Target="../slideLayouts/slideLayout16.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7" name="Google Shape;7;p1"/>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8" name="Google Shape;8;p1"/>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61" name="Shape 61"/>
        <p:cNvGrpSpPr/>
        <p:nvPr/>
      </p:nvGrpSpPr>
      <p:grpSpPr>
        <a:xfrm>
          <a:off x="0" y="0"/>
          <a:ext cx="0" cy="0"/>
        </a:xfrm>
      </p:grpSpPr>
      <p:sp>
        <p:nvSpPr>
          <p:cNvPr id="62" name="Google Shape;62;p9"/>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63" name="Google Shape;63;p9"/>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64" name="Google Shape;64;p9"/>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0.xml" /><Relationship Id="rId2" Type="http://schemas.openxmlformats.org/officeDocument/2006/relationships/notesSlide" Target="../notesSlides/notesSlide2.xml" /><Relationship Id="rId3" Type="http://schemas.openxmlformats.org/officeDocument/2006/relationships/image" Target="../media/image7.png" /><Relationship Id="rId4" Type="http://schemas.openxmlformats.org/officeDocument/2006/relationships/image" Target="../media/image8.png" /><Relationship Id="rId5" Type="http://schemas.openxmlformats.org/officeDocument/2006/relationships/image" Target="../media/image9.png" /><Relationship Id="rId6" Type="http://schemas.openxmlformats.org/officeDocument/2006/relationships/image" Target="../media/image10.png" /><Relationship Id="rId7" Type="http://schemas.openxmlformats.org/officeDocument/2006/relationships/image" Target="../media/image11.png" /><Relationship Id="rId8" Type="http://schemas.openxmlformats.org/officeDocument/2006/relationships/image" Target="../media/image12.png" /><Relationship Id="rId9" Type="http://schemas.openxmlformats.org/officeDocument/2006/relationships/image" Target="../media/image13.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1.xml" /><Relationship Id="rId2" Type="http://schemas.openxmlformats.org/officeDocument/2006/relationships/notesSlide" Target="../notesSlides/notesSlide3.xml" /><Relationship Id="rId3" Type="http://schemas.openxmlformats.org/officeDocument/2006/relationships/image" Target="../media/image11.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70" name="Shape 170"/>
        <p:cNvGrpSpPr/>
        <p:nvPr/>
      </p:nvGrpSpPr>
      <p:grpSpPr>
        <a:xfrm>
          <a:off x="0" y="0"/>
          <a:ext cx="0" cy="0"/>
        </a:xfrm>
      </p:grpSpPr>
      <p:sp>
        <p:nvSpPr>
          <p:cNvPr id="171" name="Google Shape;171;p2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1</a:t>
            </a:fld>
            <a:endParaRPr/>
          </a:p>
        </p:txBody>
      </p:sp>
      <p:sp>
        <p:nvSpPr>
          <p:cNvPr id="172" name="Google Shape;172;p20"/>
          <p:cNvSpPr txBox="1"/>
          <p:nvPr>
            <p:ph type="title"/>
          </p:nvPr>
        </p:nvSpPr>
        <p:spPr>
          <a:xfrm>
            <a:off x="468000" y="864000"/>
            <a:ext cx="6624000" cy="277200"/>
          </a:xfrm>
          <a:prstGeom prst="rect">
            <a:avLst/>
          </a:prstGeom>
        </p:spPr>
        <p:txBody>
          <a:bodyPr spcFirstLastPara="1" wrap="square" lIns="0" tIns="0" rIns="0" bIns="0" anchor="ctr" anchorCtr="0">
            <a:spAutoFit/>
          </a:bodyPr>
          <a:lstStyle/>
          <a:p>
            <a:pPr marL="0" lvl="0" indent="0" algn="l" rtl="0">
              <a:spcBef>
                <a:spcPct val="0"/>
              </a:spcBef>
              <a:spcAft>
                <a:spcPct val="0"/>
              </a:spcAft>
              <a:buNone/>
            </a:pPr>
            <a:r>
              <a:rPr lang="en-GB"/>
              <a:t>Changing compound interest rates</a:t>
            </a:r>
            <a:endParaRPr/>
          </a:p>
        </p:txBody>
      </p:sp>
      <p:sp>
        <p:nvSpPr>
          <p:cNvPr id="173" name="Google Shape;173;p20"/>
          <p:cNvSpPr txBox="1"/>
          <p:nvPr/>
        </p:nvSpPr>
        <p:spPr>
          <a:xfrm>
            <a:off x="476400" y="1749900"/>
            <a:ext cx="6624000" cy="27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 Match the calculation with the calculation using exponential form.</a:t>
            </a:r>
            <a:endParaRPr sz="1200">
              <a:solidFill>
                <a:srgbClr val="000000"/>
              </a:solidFill>
              <a:latin typeface="Lexend"/>
              <a:ea typeface="Lexend"/>
              <a:cs typeface="Lexend"/>
              <a:sym typeface="Lexend"/>
            </a:endParaRPr>
          </a:p>
        </p:txBody>
      </p:sp>
      <p:sp>
        <p:nvSpPr>
          <p:cNvPr id="174" name="Google Shape;174;p20"/>
          <p:cNvSpPr/>
          <p:nvPr/>
        </p:nvSpPr>
        <p:spPr>
          <a:xfrm>
            <a:off x="960450" y="2021450"/>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200 </a:t>
            </a:r>
            <a:r>
              <a:rPr lang="en-GB" sz="1200">
                <a:solidFill>
                  <a:srgbClr val="000000"/>
                </a:solidFill>
                <a:latin typeface="Lexend"/>
                <a:ea typeface="Lexend"/>
                <a:cs typeface="Lexend"/>
                <a:sym typeface="Lexend"/>
              </a:rPr>
              <a:t>× 400</a:t>
            </a:r>
            <a:r>
              <a:rPr lang="en-GB" sz="1200">
                <a:latin typeface="Lexend"/>
                <a:ea typeface="Lexend"/>
                <a:cs typeface="Lexend"/>
                <a:sym typeface="Lexend"/>
              </a:rPr>
              <a:t>  </a:t>
            </a:r>
            <a:endParaRPr sz="1200">
              <a:latin typeface="Lexend"/>
              <a:ea typeface="Lexend"/>
              <a:cs typeface="Lexend"/>
              <a:sym typeface="Lexend"/>
            </a:endParaRPr>
          </a:p>
        </p:txBody>
      </p:sp>
      <p:sp>
        <p:nvSpPr>
          <p:cNvPr id="175" name="Google Shape;175;p20"/>
          <p:cNvSpPr/>
          <p:nvPr/>
        </p:nvSpPr>
        <p:spPr>
          <a:xfrm>
            <a:off x="960450" y="2425901"/>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200 </a:t>
            </a:r>
            <a:r>
              <a:rPr lang="en-GB" sz="1200">
                <a:solidFill>
                  <a:srgbClr val="000000"/>
                </a:solidFill>
                <a:latin typeface="Lexend"/>
                <a:ea typeface="Lexend"/>
                <a:cs typeface="Lexend"/>
                <a:sym typeface="Lexend"/>
              </a:rPr>
              <a:t>× 4000</a:t>
            </a:r>
            <a:r>
              <a:rPr lang="en-GB" sz="1200">
                <a:latin typeface="Lexend"/>
                <a:ea typeface="Lexend"/>
                <a:cs typeface="Lexend"/>
                <a:sym typeface="Lexend"/>
              </a:rPr>
              <a:t>  </a:t>
            </a:r>
            <a:endParaRPr sz="1200">
              <a:latin typeface="Lexend"/>
              <a:ea typeface="Lexend"/>
              <a:cs typeface="Lexend"/>
              <a:sym typeface="Lexend"/>
            </a:endParaRPr>
          </a:p>
        </p:txBody>
      </p:sp>
      <p:sp>
        <p:nvSpPr>
          <p:cNvPr id="176" name="Google Shape;176;p20"/>
          <p:cNvSpPr/>
          <p:nvPr/>
        </p:nvSpPr>
        <p:spPr>
          <a:xfrm>
            <a:off x="960450" y="2830352"/>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 </a:t>
            </a:r>
            <a:r>
              <a:rPr lang="en-GB" sz="1200">
                <a:solidFill>
                  <a:srgbClr val="000000"/>
                </a:solidFill>
                <a:latin typeface="Lexend"/>
                <a:ea typeface="Lexend"/>
                <a:cs typeface="Lexend"/>
                <a:sym typeface="Lexend"/>
              </a:rPr>
              <a:t>× 40</a:t>
            </a:r>
            <a:r>
              <a:rPr lang="en-GB" sz="1200">
                <a:latin typeface="Lexend"/>
                <a:ea typeface="Lexend"/>
                <a:cs typeface="Lexend"/>
                <a:sym typeface="Lexend"/>
              </a:rPr>
              <a:t> </a:t>
            </a:r>
            <a:endParaRPr sz="1200">
              <a:latin typeface="Lexend"/>
              <a:ea typeface="Lexend"/>
              <a:cs typeface="Lexend"/>
              <a:sym typeface="Lexend"/>
            </a:endParaRPr>
          </a:p>
        </p:txBody>
      </p:sp>
      <p:sp>
        <p:nvSpPr>
          <p:cNvPr id="177" name="Google Shape;177;p20"/>
          <p:cNvSpPr/>
          <p:nvPr/>
        </p:nvSpPr>
        <p:spPr>
          <a:xfrm>
            <a:off x="960450" y="3234803"/>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8000 </a:t>
            </a:r>
            <a:r>
              <a:rPr lang="en-GB" sz="1200">
                <a:solidFill>
                  <a:srgbClr val="000000"/>
                </a:solidFill>
                <a:latin typeface="Lexend"/>
                <a:ea typeface="Lexend"/>
                <a:cs typeface="Lexend"/>
                <a:sym typeface="Lexend"/>
              </a:rPr>
              <a:t>× 1000 </a:t>
            </a:r>
            <a:r>
              <a:rPr lang="en-GB" sz="1200">
                <a:latin typeface="Lexend"/>
                <a:ea typeface="Lexend"/>
                <a:cs typeface="Lexend"/>
                <a:sym typeface="Lexend"/>
              </a:rPr>
              <a:t>  </a:t>
            </a:r>
            <a:endParaRPr sz="1200">
              <a:latin typeface="Lexend"/>
              <a:ea typeface="Lexend"/>
              <a:cs typeface="Lexend"/>
              <a:sym typeface="Lexend"/>
            </a:endParaRPr>
          </a:p>
        </p:txBody>
      </p:sp>
      <p:sp>
        <p:nvSpPr>
          <p:cNvPr id="178" name="Google Shape;178;p20"/>
          <p:cNvSpPr/>
          <p:nvPr/>
        </p:nvSpPr>
        <p:spPr>
          <a:xfrm>
            <a:off x="4597475" y="2021450"/>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8 × 10 </a:t>
            </a:r>
            <a:r>
              <a:rPr lang="en-GB" sz="1200">
                <a:latin typeface="Lexend"/>
                <a:ea typeface="Lexend"/>
                <a:cs typeface="Lexend"/>
                <a:sym typeface="Lexend"/>
              </a:rPr>
              <a:t>  </a:t>
            </a:r>
            <a:endParaRPr sz="1200">
              <a:latin typeface="Lexend"/>
              <a:ea typeface="Lexend"/>
              <a:cs typeface="Lexend"/>
              <a:sym typeface="Lexend"/>
            </a:endParaRPr>
          </a:p>
        </p:txBody>
      </p:sp>
      <p:sp>
        <p:nvSpPr>
          <p:cNvPr id="179" name="Google Shape;179;p20"/>
          <p:cNvSpPr/>
          <p:nvPr/>
        </p:nvSpPr>
        <p:spPr>
          <a:xfrm>
            <a:off x="4597475" y="2425901"/>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8 × 10</a:t>
            </a:r>
            <a:r>
              <a:rPr lang="en-GB" sz="1200" baseline="30000">
                <a:solidFill>
                  <a:srgbClr val="000000"/>
                </a:solidFill>
                <a:latin typeface="Lexend"/>
                <a:ea typeface="Lexend"/>
                <a:cs typeface="Lexend"/>
                <a:sym typeface="Lexend"/>
              </a:rPr>
              <a:t>5</a:t>
            </a:r>
            <a:r>
              <a:rPr lang="en-GB" sz="1200">
                <a:solidFill>
                  <a:srgbClr val="000000"/>
                </a:solidFill>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p:txBody>
      </p:sp>
      <p:sp>
        <p:nvSpPr>
          <p:cNvPr id="180" name="Google Shape;180;p20"/>
          <p:cNvSpPr/>
          <p:nvPr/>
        </p:nvSpPr>
        <p:spPr>
          <a:xfrm>
            <a:off x="4597475" y="2830352"/>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8 </a:t>
            </a:r>
            <a:r>
              <a:rPr lang="en-GB" sz="1200">
                <a:solidFill>
                  <a:srgbClr val="000000"/>
                </a:solidFill>
                <a:latin typeface="Lexend"/>
                <a:ea typeface="Lexend"/>
                <a:cs typeface="Lexend"/>
                <a:sym typeface="Lexend"/>
              </a:rPr>
              <a:t>× 10</a:t>
            </a:r>
            <a:r>
              <a:rPr lang="en-GB" sz="1200" baseline="30000">
                <a:solidFill>
                  <a:srgbClr val="000000"/>
                </a:solidFill>
                <a:latin typeface="Lexend"/>
                <a:ea typeface="Lexend"/>
                <a:cs typeface="Lexend"/>
                <a:sym typeface="Lexend"/>
              </a:rPr>
              <a:t>4</a:t>
            </a:r>
            <a:r>
              <a:rPr lang="en-GB" sz="1200">
                <a:latin typeface="Lexend"/>
                <a:ea typeface="Lexend"/>
                <a:cs typeface="Lexend"/>
                <a:sym typeface="Lexend"/>
              </a:rPr>
              <a:t> </a:t>
            </a:r>
            <a:endParaRPr sz="1200">
              <a:latin typeface="Lexend"/>
              <a:ea typeface="Lexend"/>
              <a:cs typeface="Lexend"/>
              <a:sym typeface="Lexend"/>
            </a:endParaRPr>
          </a:p>
        </p:txBody>
      </p:sp>
      <p:sp>
        <p:nvSpPr>
          <p:cNvPr id="181" name="Google Shape;181;p20"/>
          <p:cNvSpPr/>
          <p:nvPr/>
        </p:nvSpPr>
        <p:spPr>
          <a:xfrm>
            <a:off x="4597475" y="3234803"/>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Clr>
                <a:srgbClr val="000000"/>
              </a:buClr>
              <a:buSzPts val="1100"/>
              <a:buFont typeface="Arial"/>
              <a:buNone/>
            </a:pPr>
            <a:r>
              <a:rPr lang="en-GB" sz="1200">
                <a:solidFill>
                  <a:srgbClr val="000000"/>
                </a:solidFill>
                <a:latin typeface="Lexend"/>
                <a:ea typeface="Lexend"/>
                <a:cs typeface="Lexend"/>
                <a:sym typeface="Lexend"/>
              </a:rPr>
              <a:t>8 × 10</a:t>
            </a:r>
            <a:r>
              <a:rPr lang="en-GB" sz="1200" baseline="30000">
                <a:solidFill>
                  <a:srgbClr val="000000"/>
                </a:solidFill>
                <a:latin typeface="Lexend"/>
                <a:ea typeface="Lexend"/>
                <a:cs typeface="Lexend"/>
                <a:sym typeface="Lexend"/>
              </a:rPr>
              <a:t>6</a:t>
            </a:r>
            <a:r>
              <a:rPr lang="en-GB" sz="1200">
                <a:solidFill>
                  <a:srgbClr val="000000"/>
                </a:solidFill>
                <a:latin typeface="Lexend"/>
                <a:ea typeface="Lexend"/>
                <a:cs typeface="Lexend"/>
                <a:sym typeface="Lexend"/>
              </a:rPr>
              <a:t> </a:t>
            </a:r>
            <a:endParaRPr sz="1200">
              <a:latin typeface="Lexend"/>
              <a:ea typeface="Lexend"/>
              <a:cs typeface="Lexend"/>
              <a:sym typeface="Lexend"/>
            </a:endParaRPr>
          </a:p>
        </p:txBody>
      </p:sp>
      <p:cxnSp>
        <p:nvCxnSpPr>
          <p:cNvPr id="182" name="Google Shape;182;p20"/>
          <p:cNvCxnSpPr>
            <a:stCxn id="174" idx="3"/>
            <a:endCxn id="180" idx="1"/>
          </p:cNvCxnSpPr>
          <p:nvPr/>
        </p:nvCxnSpPr>
        <p:spPr>
          <a:xfrm>
            <a:off x="2964750" y="2175650"/>
            <a:ext cx="1632600" cy="808800"/>
          </a:xfrm>
          <a:prstGeom prst="straightConnector1">
            <a:avLst/>
          </a:prstGeom>
          <a:noFill/>
          <a:ln w="28575" cap="flat" cmpd="sng">
            <a:solidFill>
              <a:srgbClr val="808080"/>
            </a:solidFill>
            <a:prstDash val="solid"/>
            <a:round/>
            <a:headEnd type="none" w="med" len="med"/>
            <a:tailEnd type="none" w="med" len="med"/>
          </a:ln>
        </p:spPr>
      </p:cxnSp>
      <p:cxnSp>
        <p:nvCxnSpPr>
          <p:cNvPr id="183" name="Google Shape;183;p20"/>
          <p:cNvCxnSpPr>
            <a:stCxn id="176" idx="3"/>
            <a:endCxn id="178" idx="1"/>
          </p:cNvCxnSpPr>
          <p:nvPr/>
        </p:nvCxnSpPr>
        <p:spPr>
          <a:xfrm rot="10800000" flipH="1">
            <a:off x="2964750" y="2175752"/>
            <a:ext cx="1632600" cy="808800"/>
          </a:xfrm>
          <a:prstGeom prst="straightConnector1">
            <a:avLst/>
          </a:prstGeom>
          <a:noFill/>
          <a:ln w="28575" cap="flat" cmpd="sng">
            <a:solidFill>
              <a:srgbClr val="808080"/>
            </a:solidFill>
            <a:prstDash val="solid"/>
            <a:round/>
            <a:headEnd type="none" w="med" len="med"/>
            <a:tailEnd type="none" w="med" len="med"/>
          </a:ln>
        </p:spPr>
      </p:cxnSp>
      <p:cxnSp>
        <p:nvCxnSpPr>
          <p:cNvPr id="184" name="Google Shape;184;p20"/>
          <p:cNvCxnSpPr>
            <a:endCxn id="181" idx="1"/>
          </p:cNvCxnSpPr>
          <p:nvPr/>
        </p:nvCxnSpPr>
        <p:spPr>
          <a:xfrm>
            <a:off x="2997575" y="3358703"/>
            <a:ext cx="1599900" cy="30300"/>
          </a:xfrm>
          <a:prstGeom prst="straightConnector1">
            <a:avLst/>
          </a:prstGeom>
          <a:noFill/>
          <a:ln w="28575" cap="flat" cmpd="sng">
            <a:solidFill>
              <a:srgbClr val="808080"/>
            </a:solidFill>
            <a:prstDash val="solid"/>
            <a:round/>
            <a:headEnd type="none" w="med" len="med"/>
            <a:tailEnd type="none" w="med" len="med"/>
          </a:ln>
        </p:spPr>
      </p:cxnSp>
      <p:cxnSp>
        <p:nvCxnSpPr>
          <p:cNvPr id="185" name="Google Shape;185;p20"/>
          <p:cNvCxnSpPr>
            <a:endCxn id="179" idx="1"/>
          </p:cNvCxnSpPr>
          <p:nvPr/>
        </p:nvCxnSpPr>
        <p:spPr>
          <a:xfrm>
            <a:off x="2997575" y="2532401"/>
            <a:ext cx="1599900" cy="47700"/>
          </a:xfrm>
          <a:prstGeom prst="straightConnector1">
            <a:avLst/>
          </a:prstGeom>
          <a:noFill/>
          <a:ln w="28575" cap="flat" cmpd="sng">
            <a:solidFill>
              <a:srgbClr val="808080"/>
            </a:solidFill>
            <a:prstDash val="solid"/>
            <a:round/>
            <a:headEnd type="none" w="med" len="med"/>
            <a:tailEnd type="none" w="med" len="med"/>
          </a:ln>
        </p:spPr>
      </p:cxnSp>
      <p:sp>
        <p:nvSpPr>
          <p:cNvPr id="186" name="Google Shape;186;p20"/>
          <p:cNvSpPr txBox="1"/>
          <p:nvPr/>
        </p:nvSpPr>
        <p:spPr>
          <a:xfrm>
            <a:off x="476400" y="3731100"/>
            <a:ext cx="5108400" cy="167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 Match the calculation with the calculation using exponential form.</a:t>
            </a:r>
            <a:endParaRPr sz="1200">
              <a:solidFill>
                <a:srgbClr val="000000"/>
              </a:solidFill>
              <a:latin typeface="Lexend"/>
              <a:ea typeface="Lexend"/>
              <a:cs typeface="Lexend"/>
              <a:sym typeface="Lexend"/>
            </a:endParaRPr>
          </a:p>
        </p:txBody>
      </p:sp>
      <p:sp>
        <p:nvSpPr>
          <p:cNvPr id="187" name="Google Shape;187;p20"/>
          <p:cNvSpPr/>
          <p:nvPr/>
        </p:nvSpPr>
        <p:spPr>
          <a:xfrm>
            <a:off x="989025" y="4002650"/>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200 </a:t>
            </a:r>
            <a:r>
              <a:rPr lang="en-GB" sz="1200">
                <a:solidFill>
                  <a:srgbClr val="000000"/>
                </a:solidFill>
                <a:latin typeface="Lexend"/>
                <a:ea typeface="Lexend"/>
                <a:cs typeface="Lexend"/>
                <a:sym typeface="Lexend"/>
              </a:rPr>
              <a:t>× 600</a:t>
            </a:r>
            <a:r>
              <a:rPr lang="en-GB" sz="1200">
                <a:latin typeface="Lexend"/>
                <a:ea typeface="Lexend"/>
                <a:cs typeface="Lexend"/>
                <a:sym typeface="Lexend"/>
              </a:rPr>
              <a:t>  </a:t>
            </a:r>
            <a:endParaRPr sz="1200">
              <a:latin typeface="Lexend"/>
              <a:ea typeface="Lexend"/>
              <a:cs typeface="Lexend"/>
              <a:sym typeface="Lexend"/>
            </a:endParaRPr>
          </a:p>
        </p:txBody>
      </p:sp>
      <p:sp>
        <p:nvSpPr>
          <p:cNvPr id="188" name="Google Shape;188;p20"/>
          <p:cNvSpPr/>
          <p:nvPr/>
        </p:nvSpPr>
        <p:spPr>
          <a:xfrm>
            <a:off x="989025" y="4410842"/>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200 </a:t>
            </a:r>
            <a:r>
              <a:rPr lang="en-GB" sz="1200">
                <a:solidFill>
                  <a:srgbClr val="000000"/>
                </a:solidFill>
                <a:latin typeface="Lexend"/>
                <a:ea typeface="Lexend"/>
                <a:cs typeface="Lexend"/>
                <a:sym typeface="Lexend"/>
              </a:rPr>
              <a:t>× 6000</a:t>
            </a:r>
            <a:r>
              <a:rPr lang="en-GB" sz="1200">
                <a:latin typeface="Lexend"/>
                <a:ea typeface="Lexend"/>
                <a:cs typeface="Lexend"/>
                <a:sym typeface="Lexend"/>
              </a:rPr>
              <a:t>  </a:t>
            </a:r>
            <a:endParaRPr sz="1200">
              <a:latin typeface="Lexend"/>
              <a:ea typeface="Lexend"/>
              <a:cs typeface="Lexend"/>
              <a:sym typeface="Lexend"/>
            </a:endParaRPr>
          </a:p>
        </p:txBody>
      </p:sp>
      <p:sp>
        <p:nvSpPr>
          <p:cNvPr id="189" name="Google Shape;189;p20"/>
          <p:cNvSpPr/>
          <p:nvPr/>
        </p:nvSpPr>
        <p:spPr>
          <a:xfrm>
            <a:off x="989025" y="4819034"/>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 </a:t>
            </a:r>
            <a:r>
              <a:rPr lang="en-GB" sz="1200">
                <a:solidFill>
                  <a:srgbClr val="000000"/>
                </a:solidFill>
                <a:latin typeface="Lexend"/>
                <a:ea typeface="Lexend"/>
                <a:cs typeface="Lexend"/>
                <a:sym typeface="Lexend"/>
              </a:rPr>
              <a:t>× 60</a:t>
            </a:r>
            <a:r>
              <a:rPr lang="en-GB" sz="1200">
                <a:latin typeface="Lexend"/>
                <a:ea typeface="Lexend"/>
                <a:cs typeface="Lexend"/>
                <a:sym typeface="Lexend"/>
              </a:rPr>
              <a:t> </a:t>
            </a:r>
            <a:endParaRPr sz="1200">
              <a:latin typeface="Lexend"/>
              <a:ea typeface="Lexend"/>
              <a:cs typeface="Lexend"/>
              <a:sym typeface="Lexend"/>
            </a:endParaRPr>
          </a:p>
        </p:txBody>
      </p:sp>
      <p:sp>
        <p:nvSpPr>
          <p:cNvPr id="190" name="Google Shape;190;p20"/>
          <p:cNvSpPr/>
          <p:nvPr/>
        </p:nvSpPr>
        <p:spPr>
          <a:xfrm>
            <a:off x="989025" y="5227226"/>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3000 </a:t>
            </a:r>
            <a:r>
              <a:rPr lang="en-GB" sz="1200">
                <a:solidFill>
                  <a:srgbClr val="000000"/>
                </a:solidFill>
                <a:latin typeface="Lexend"/>
                <a:ea typeface="Lexend"/>
                <a:cs typeface="Lexend"/>
                <a:sym typeface="Lexend"/>
              </a:rPr>
              <a:t>× 4000 </a:t>
            </a:r>
            <a:r>
              <a:rPr lang="en-GB" sz="1200">
                <a:latin typeface="Lexend"/>
                <a:ea typeface="Lexend"/>
                <a:cs typeface="Lexend"/>
                <a:sym typeface="Lexend"/>
              </a:rPr>
              <a:t>  </a:t>
            </a:r>
            <a:endParaRPr sz="1200">
              <a:latin typeface="Lexend"/>
              <a:ea typeface="Lexend"/>
              <a:cs typeface="Lexend"/>
              <a:sym typeface="Lexend"/>
            </a:endParaRPr>
          </a:p>
        </p:txBody>
      </p:sp>
      <p:sp>
        <p:nvSpPr>
          <p:cNvPr id="191" name="Google Shape;191;p20"/>
          <p:cNvSpPr/>
          <p:nvPr/>
        </p:nvSpPr>
        <p:spPr>
          <a:xfrm>
            <a:off x="4626050" y="4002650"/>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12 </a:t>
            </a:r>
            <a:r>
              <a:rPr lang="en-GB" sz="1200">
                <a:solidFill>
                  <a:srgbClr val="000000"/>
                </a:solidFill>
                <a:latin typeface="Lexend"/>
                <a:ea typeface="Lexend"/>
                <a:cs typeface="Lexend"/>
                <a:sym typeface="Lexend"/>
              </a:rPr>
              <a:t>× 10</a:t>
            </a:r>
            <a:r>
              <a:rPr lang="en-GB" sz="1200" baseline="30000">
                <a:solidFill>
                  <a:srgbClr val="000000"/>
                </a:solidFill>
                <a:latin typeface="Lexend"/>
                <a:ea typeface="Lexend"/>
                <a:cs typeface="Lexend"/>
                <a:sym typeface="Lexend"/>
              </a:rPr>
              <a:t>4</a:t>
            </a:r>
            <a:r>
              <a:rPr lang="en-GB" sz="1200">
                <a:latin typeface="Lexend"/>
                <a:ea typeface="Lexend"/>
                <a:cs typeface="Lexend"/>
                <a:sym typeface="Lexend"/>
              </a:rPr>
              <a:t>   </a:t>
            </a:r>
            <a:endParaRPr sz="1200">
              <a:latin typeface="Lexend"/>
              <a:ea typeface="Lexend"/>
              <a:cs typeface="Lexend"/>
              <a:sym typeface="Lexend"/>
            </a:endParaRPr>
          </a:p>
        </p:txBody>
      </p:sp>
      <p:sp>
        <p:nvSpPr>
          <p:cNvPr id="192" name="Google Shape;192;p20"/>
          <p:cNvSpPr/>
          <p:nvPr/>
        </p:nvSpPr>
        <p:spPr>
          <a:xfrm>
            <a:off x="4626050" y="4410842"/>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1.2 </a:t>
            </a:r>
            <a:r>
              <a:rPr lang="en-GB" sz="1200">
                <a:solidFill>
                  <a:srgbClr val="000000"/>
                </a:solidFill>
                <a:latin typeface="Lexend"/>
                <a:ea typeface="Lexend"/>
                <a:cs typeface="Lexend"/>
                <a:sym typeface="Lexend"/>
              </a:rPr>
              <a:t>× 10</a:t>
            </a:r>
            <a:r>
              <a:rPr lang="en-GB" sz="1200" baseline="30000">
                <a:solidFill>
                  <a:srgbClr val="000000"/>
                </a:solidFill>
                <a:latin typeface="Lexend"/>
                <a:ea typeface="Lexend"/>
                <a:cs typeface="Lexend"/>
                <a:sym typeface="Lexend"/>
              </a:rPr>
              <a:t>2 </a:t>
            </a:r>
            <a:r>
              <a:rPr lang="en-GB" sz="1200">
                <a:latin typeface="Lexend"/>
                <a:ea typeface="Lexend"/>
                <a:cs typeface="Lexend"/>
                <a:sym typeface="Lexend"/>
              </a:rPr>
              <a:t> </a:t>
            </a:r>
            <a:endParaRPr sz="1200">
              <a:latin typeface="Lexend"/>
              <a:ea typeface="Lexend"/>
              <a:cs typeface="Lexend"/>
              <a:sym typeface="Lexend"/>
            </a:endParaRPr>
          </a:p>
        </p:txBody>
      </p:sp>
      <p:sp>
        <p:nvSpPr>
          <p:cNvPr id="193" name="Google Shape;193;p20"/>
          <p:cNvSpPr/>
          <p:nvPr/>
        </p:nvSpPr>
        <p:spPr>
          <a:xfrm>
            <a:off x="4626050" y="4819034"/>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12 × 10</a:t>
            </a:r>
            <a:r>
              <a:rPr lang="en-GB" sz="1200" baseline="30000">
                <a:solidFill>
                  <a:srgbClr val="000000"/>
                </a:solidFill>
                <a:latin typeface="Lexend"/>
                <a:ea typeface="Lexend"/>
                <a:cs typeface="Lexend"/>
                <a:sym typeface="Lexend"/>
              </a:rPr>
              <a:t>5 </a:t>
            </a:r>
            <a:r>
              <a:rPr lang="en-GB" sz="1200">
                <a:solidFill>
                  <a:srgbClr val="000000"/>
                </a:solidFill>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p:txBody>
      </p:sp>
      <p:sp>
        <p:nvSpPr>
          <p:cNvPr id="194" name="Google Shape;194;p20"/>
          <p:cNvSpPr/>
          <p:nvPr/>
        </p:nvSpPr>
        <p:spPr>
          <a:xfrm>
            <a:off x="4626050" y="5227226"/>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1.2 × 10</a:t>
            </a:r>
            <a:r>
              <a:rPr lang="en-GB" sz="1200" baseline="30000">
                <a:solidFill>
                  <a:srgbClr val="000000"/>
                </a:solidFill>
                <a:latin typeface="Lexend"/>
                <a:ea typeface="Lexend"/>
                <a:cs typeface="Lexend"/>
                <a:sym typeface="Lexend"/>
              </a:rPr>
              <a:t>7</a:t>
            </a:r>
            <a:r>
              <a:rPr lang="en-GB" sz="1200">
                <a:solidFill>
                  <a:srgbClr val="000000"/>
                </a:solidFill>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p:txBody>
      </p:sp>
      <p:cxnSp>
        <p:nvCxnSpPr>
          <p:cNvPr id="195" name="Google Shape;195;p20"/>
          <p:cNvCxnSpPr>
            <a:stCxn id="187" idx="3"/>
            <a:endCxn id="191" idx="1"/>
          </p:cNvCxnSpPr>
          <p:nvPr/>
        </p:nvCxnSpPr>
        <p:spPr>
          <a:xfrm>
            <a:off x="2993325" y="4158350"/>
            <a:ext cx="1632600" cy="0"/>
          </a:xfrm>
          <a:prstGeom prst="straightConnector1">
            <a:avLst/>
          </a:prstGeom>
          <a:noFill/>
          <a:ln w="28575" cap="flat" cmpd="sng">
            <a:solidFill>
              <a:srgbClr val="808080"/>
            </a:solidFill>
            <a:prstDash val="solid"/>
            <a:round/>
            <a:headEnd type="none" w="med" len="med"/>
            <a:tailEnd type="none" w="med" len="med"/>
          </a:ln>
        </p:spPr>
      </p:cxnSp>
      <p:cxnSp>
        <p:nvCxnSpPr>
          <p:cNvPr id="196" name="Google Shape;196;p20"/>
          <p:cNvCxnSpPr>
            <a:stCxn id="189" idx="3"/>
            <a:endCxn id="192" idx="1"/>
          </p:cNvCxnSpPr>
          <p:nvPr/>
        </p:nvCxnSpPr>
        <p:spPr>
          <a:xfrm rot="10800000" flipH="1">
            <a:off x="2993325" y="4566434"/>
            <a:ext cx="1632600" cy="408300"/>
          </a:xfrm>
          <a:prstGeom prst="straightConnector1">
            <a:avLst/>
          </a:prstGeom>
          <a:noFill/>
          <a:ln w="28575" cap="flat" cmpd="sng">
            <a:solidFill>
              <a:srgbClr val="808080"/>
            </a:solidFill>
            <a:prstDash val="solid"/>
            <a:round/>
            <a:headEnd type="none" w="med" len="med"/>
            <a:tailEnd type="none" w="med" len="med"/>
          </a:ln>
        </p:spPr>
      </p:cxnSp>
      <p:cxnSp>
        <p:nvCxnSpPr>
          <p:cNvPr id="197" name="Google Shape;197;p20"/>
          <p:cNvCxnSpPr>
            <a:stCxn id="188" idx="3"/>
            <a:endCxn id="193" idx="1"/>
          </p:cNvCxnSpPr>
          <p:nvPr/>
        </p:nvCxnSpPr>
        <p:spPr>
          <a:xfrm>
            <a:off x="2993325" y="4566542"/>
            <a:ext cx="1632600" cy="408300"/>
          </a:xfrm>
          <a:prstGeom prst="straightConnector1">
            <a:avLst/>
          </a:prstGeom>
          <a:noFill/>
          <a:ln w="28575" cap="flat" cmpd="sng">
            <a:solidFill>
              <a:srgbClr val="808080"/>
            </a:solidFill>
            <a:prstDash val="solid"/>
            <a:round/>
            <a:headEnd type="none" w="med" len="med"/>
            <a:tailEnd type="none" w="med" len="med"/>
          </a:ln>
        </p:spPr>
      </p:cxnSp>
      <p:cxnSp>
        <p:nvCxnSpPr>
          <p:cNvPr id="198" name="Google Shape;198;p20"/>
          <p:cNvCxnSpPr>
            <a:stCxn id="190" idx="3"/>
          </p:cNvCxnSpPr>
          <p:nvPr/>
        </p:nvCxnSpPr>
        <p:spPr>
          <a:xfrm>
            <a:off x="2993325" y="5382926"/>
            <a:ext cx="1632600" cy="39900"/>
          </a:xfrm>
          <a:prstGeom prst="straightConnector1">
            <a:avLst/>
          </a:prstGeom>
          <a:noFill/>
          <a:ln w="28575" cap="flat" cmpd="sng">
            <a:solidFill>
              <a:srgbClr val="808080"/>
            </a:solidFill>
            <a:prstDash val="solid"/>
            <a:round/>
            <a:headEnd type="none" w="med" len="med"/>
            <a:tailEnd type="none" w="med" len="med"/>
          </a:ln>
        </p:spPr>
      </p:cxnSp>
      <p:sp>
        <p:nvSpPr>
          <p:cNvPr id="199" name="Google Shape;199;p20"/>
          <p:cNvSpPr txBox="1"/>
          <p:nvPr/>
        </p:nvSpPr>
        <p:spPr>
          <a:xfrm>
            <a:off x="476400" y="5940900"/>
            <a:ext cx="6624000" cy="534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3) Fill in the missing numbers. Make sure to show your working out.</a:t>
            </a:r>
            <a:endParaRPr sz="1200">
              <a:solidFill>
                <a:srgbClr val="000000"/>
              </a:solidFill>
              <a:latin typeface="Lexend"/>
              <a:ea typeface="Lexend"/>
              <a:cs typeface="Lexend"/>
              <a:sym typeface="Lexend"/>
            </a:endParaRPr>
          </a:p>
          <a:p>
            <a:pPr marL="457200" lvl="0" indent="0" algn="l" rtl="0">
              <a:lnSpc>
                <a:spcPct val="115000"/>
              </a:lnSpc>
              <a:spcBef>
                <a:spcPts val="1000"/>
              </a:spcBef>
              <a:spcAft>
                <a:spcPct val="0"/>
              </a:spcAft>
              <a:buNone/>
            </a:pPr>
            <a:r>
              <a:rPr lang="en-GB" sz="1200">
                <a:latin typeface="Lexend"/>
                <a:ea typeface="Lexend"/>
                <a:cs typeface="Lexend"/>
                <a:sym typeface="Lexend"/>
              </a:rPr>
              <a:t>a)	</a:t>
            </a:r>
            <a:r>
              <a:rPr lang="en-GB" sz="1200">
                <a:solidFill>
                  <a:srgbClr val="000000"/>
                </a:solidFill>
                <a:latin typeface="Lexend"/>
                <a:ea typeface="Lexend"/>
                <a:cs typeface="Lexend"/>
                <a:sym typeface="Lexend"/>
              </a:rPr>
              <a:t>9000 × 100 = 9 × 10</a:t>
            </a:r>
            <a:r>
              <a:rPr lang="en-GB" sz="1200" baseline="30000">
                <a:solidFill>
                  <a:srgbClr val="000000"/>
                </a:solidFill>
                <a:latin typeface="Lexend"/>
                <a:ea typeface="Lexend"/>
                <a:cs typeface="Lexend"/>
                <a:sym typeface="Lexend"/>
              </a:rPr>
              <a:t>⬚</a:t>
            </a:r>
            <a:endParaRPr sz="1200">
              <a:solidFill>
                <a:schemeClr val="dk1"/>
              </a:solidFill>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sp>
        <p:nvSpPr>
          <p:cNvPr id="200" name="Google Shape;200;p20"/>
          <p:cNvSpPr txBox="1"/>
          <p:nvPr/>
        </p:nvSpPr>
        <p:spPr>
          <a:xfrm>
            <a:off x="967348" y="6723456"/>
            <a:ext cx="840600" cy="2067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9</a:t>
            </a:r>
            <a:r>
              <a:rPr lang="en-GB" sz="1200">
                <a:solidFill>
                  <a:srgbClr val="000000"/>
                </a:solidFill>
                <a:latin typeface="Kalam"/>
                <a:ea typeface="Kalam"/>
                <a:cs typeface="Kalam"/>
                <a:sym typeface="Kalam"/>
              </a:rPr>
              <a:t> × </a:t>
            </a:r>
            <a:r>
              <a:rPr lang="en-GB" sz="1200">
                <a:latin typeface="Kalam"/>
                <a:ea typeface="Kalam"/>
                <a:cs typeface="Kalam"/>
                <a:sym typeface="Kalam"/>
              </a:rPr>
              <a:t>1000 </a:t>
            </a:r>
            <a:r>
              <a:rPr lang="en-GB" sz="1200">
                <a:solidFill>
                  <a:schemeClr val="dk1"/>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01" name="Google Shape;201;p20"/>
          <p:cNvSpPr txBox="1"/>
          <p:nvPr/>
        </p:nvSpPr>
        <p:spPr>
          <a:xfrm>
            <a:off x="1901540" y="6723456"/>
            <a:ext cx="817500" cy="206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a:t>
            </a:r>
            <a:r>
              <a:rPr lang="en-GB" sz="1200">
                <a:solidFill>
                  <a:srgbClr val="000000"/>
                </a:solidFill>
                <a:latin typeface="Kalam"/>
                <a:ea typeface="Kalam"/>
                <a:cs typeface="Kalam"/>
                <a:sym typeface="Kalam"/>
              </a:rPr>
              <a:t> × </a:t>
            </a:r>
            <a:r>
              <a:rPr lang="en-GB" sz="1200">
                <a:latin typeface="Kalam"/>
                <a:ea typeface="Kalam"/>
                <a:cs typeface="Kalam"/>
                <a:sym typeface="Kalam"/>
              </a:rPr>
              <a:t>100</a:t>
            </a:r>
            <a:endParaRPr sz="1200">
              <a:solidFill>
                <a:srgbClr val="000000"/>
              </a:solidFill>
              <a:latin typeface="Kalam"/>
              <a:ea typeface="Kalam"/>
              <a:cs typeface="Kalam"/>
              <a:sym typeface="Kalam"/>
            </a:endParaRPr>
          </a:p>
        </p:txBody>
      </p:sp>
      <p:sp>
        <p:nvSpPr>
          <p:cNvPr id="202" name="Google Shape;202;p20"/>
          <p:cNvSpPr txBox="1"/>
          <p:nvPr/>
        </p:nvSpPr>
        <p:spPr>
          <a:xfrm>
            <a:off x="1305659" y="6935687"/>
            <a:ext cx="502200" cy="2067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9</a:t>
            </a:r>
            <a:r>
              <a:rPr lang="en-GB" sz="1200">
                <a:solidFill>
                  <a:srgbClr val="000000"/>
                </a:solidFill>
                <a:latin typeface="Kalam"/>
                <a:ea typeface="Kalam"/>
                <a:cs typeface="Kalam"/>
                <a:sym typeface="Kalam"/>
              </a:rPr>
              <a:t> × </a:t>
            </a:r>
            <a:r>
              <a:rPr lang="en-GB" sz="1200">
                <a:latin typeface="Kalam"/>
                <a:ea typeface="Kalam"/>
                <a:cs typeface="Kalam"/>
                <a:sym typeface="Kalam"/>
              </a:rPr>
              <a:t>1 </a:t>
            </a:r>
            <a:r>
              <a:rPr lang="en-GB" sz="1200">
                <a:solidFill>
                  <a:schemeClr val="dk1"/>
                </a:solidFill>
                <a:latin typeface="Kalam"/>
                <a:ea typeface="Kalam"/>
                <a:cs typeface="Kalam"/>
                <a:sym typeface="Kalam"/>
              </a:rPr>
              <a:t>×</a:t>
            </a:r>
            <a:endParaRPr sz="1200">
              <a:latin typeface="Kalam"/>
              <a:ea typeface="Kalam"/>
              <a:cs typeface="Kalam"/>
              <a:sym typeface="Kalam"/>
            </a:endParaRPr>
          </a:p>
        </p:txBody>
      </p:sp>
      <p:sp>
        <p:nvSpPr>
          <p:cNvPr id="203" name="Google Shape;203;p20"/>
          <p:cNvSpPr txBox="1"/>
          <p:nvPr/>
        </p:nvSpPr>
        <p:spPr>
          <a:xfrm>
            <a:off x="1901540" y="6935687"/>
            <a:ext cx="1190400" cy="206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1000 × 100</a:t>
            </a:r>
            <a:endParaRPr sz="1200">
              <a:solidFill>
                <a:srgbClr val="000000"/>
              </a:solidFill>
              <a:latin typeface="Kalam"/>
              <a:ea typeface="Kalam"/>
              <a:cs typeface="Kalam"/>
              <a:sym typeface="Kalam"/>
            </a:endParaRPr>
          </a:p>
        </p:txBody>
      </p:sp>
      <p:sp>
        <p:nvSpPr>
          <p:cNvPr id="204" name="Google Shape;204;p20"/>
          <p:cNvSpPr txBox="1"/>
          <p:nvPr/>
        </p:nvSpPr>
        <p:spPr>
          <a:xfrm>
            <a:off x="1551683" y="7147918"/>
            <a:ext cx="256200" cy="2067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ct val="0"/>
              </a:spcAft>
              <a:buNone/>
            </a:pPr>
            <a:r>
              <a:rPr lang="en-GB" sz="1200">
                <a:latin typeface="Kalam"/>
                <a:ea typeface="Kalam"/>
                <a:cs typeface="Kalam"/>
                <a:sym typeface="Kalam"/>
              </a:rPr>
              <a:t>9 </a:t>
            </a:r>
            <a:r>
              <a:rPr lang="en-GB" sz="1200">
                <a:solidFill>
                  <a:schemeClr val="dk1"/>
                </a:solidFill>
                <a:latin typeface="Kalam"/>
                <a:ea typeface="Kalam"/>
                <a:cs typeface="Kalam"/>
                <a:sym typeface="Kalam"/>
              </a:rPr>
              <a:t>×</a:t>
            </a:r>
            <a:endParaRPr sz="1200">
              <a:solidFill>
                <a:schemeClr val="dk1"/>
              </a:solidFill>
              <a:latin typeface="Kalam"/>
              <a:ea typeface="Kalam"/>
              <a:cs typeface="Kalam"/>
              <a:sym typeface="Kalam"/>
            </a:endParaRPr>
          </a:p>
          <a:p>
            <a:pPr marL="0" lvl="0" indent="0" algn="r" rtl="0">
              <a:lnSpc>
                <a:spcPct val="115000"/>
              </a:lnSpc>
              <a:spcBef>
                <a:spcPts val="1000"/>
              </a:spcBef>
              <a:spcAft>
                <a:spcPts val="1000"/>
              </a:spcAft>
              <a:buNone/>
            </a:pPr>
            <a:endParaRPr sz="1200">
              <a:latin typeface="Kalam"/>
              <a:ea typeface="Kalam"/>
              <a:cs typeface="Kalam"/>
              <a:sym typeface="Kalam"/>
            </a:endParaRPr>
          </a:p>
        </p:txBody>
      </p:sp>
      <p:sp>
        <p:nvSpPr>
          <p:cNvPr id="205" name="Google Shape;205;p20"/>
          <p:cNvSpPr txBox="1"/>
          <p:nvPr/>
        </p:nvSpPr>
        <p:spPr>
          <a:xfrm>
            <a:off x="1901540" y="7147918"/>
            <a:ext cx="1190400" cy="206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10 000</a:t>
            </a:r>
            <a:endParaRPr sz="1200">
              <a:solidFill>
                <a:srgbClr val="000000"/>
              </a:solidFill>
              <a:latin typeface="Kalam"/>
              <a:ea typeface="Kalam"/>
              <a:cs typeface="Kalam"/>
              <a:sym typeface="Kalam"/>
            </a:endParaRPr>
          </a:p>
        </p:txBody>
      </p:sp>
      <p:sp>
        <p:nvSpPr>
          <p:cNvPr id="206" name="Google Shape;206;p20"/>
          <p:cNvSpPr txBox="1"/>
          <p:nvPr/>
        </p:nvSpPr>
        <p:spPr>
          <a:xfrm>
            <a:off x="1551683" y="7360149"/>
            <a:ext cx="256200" cy="2067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9 </a:t>
            </a:r>
            <a:r>
              <a:rPr lang="en-GB" sz="1200">
                <a:solidFill>
                  <a:schemeClr val="dk1"/>
                </a:solidFill>
                <a:latin typeface="Kalam"/>
                <a:ea typeface="Kalam"/>
                <a:cs typeface="Kalam"/>
                <a:sym typeface="Kalam"/>
              </a:rPr>
              <a:t>×</a:t>
            </a:r>
            <a:endParaRPr sz="1200">
              <a:latin typeface="Kalam"/>
              <a:ea typeface="Kalam"/>
              <a:cs typeface="Kalam"/>
              <a:sym typeface="Kalam"/>
            </a:endParaRPr>
          </a:p>
        </p:txBody>
      </p:sp>
      <p:sp>
        <p:nvSpPr>
          <p:cNvPr id="207" name="Google Shape;207;p20"/>
          <p:cNvSpPr txBox="1"/>
          <p:nvPr/>
        </p:nvSpPr>
        <p:spPr>
          <a:xfrm>
            <a:off x="1901540" y="7360149"/>
            <a:ext cx="1190400" cy="206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a:t>
            </a:r>
            <a:r>
              <a:rPr lang="en-GB" sz="1200" baseline="30000">
                <a:latin typeface="Kalam"/>
                <a:ea typeface="Kalam"/>
                <a:cs typeface="Kalam"/>
                <a:sym typeface="Kalam"/>
              </a:rPr>
              <a:t>5</a:t>
            </a:r>
            <a:endParaRPr sz="1200" baseline="30000">
              <a:solidFill>
                <a:srgbClr val="000000"/>
              </a:solidFill>
              <a:latin typeface="Kalam"/>
              <a:ea typeface="Kalam"/>
              <a:cs typeface="Kalam"/>
              <a:sym typeface="Kalam"/>
            </a:endParaRPr>
          </a:p>
        </p:txBody>
      </p:sp>
      <p:cxnSp>
        <p:nvCxnSpPr>
          <p:cNvPr id="208" name="Google Shape;208;p20"/>
          <p:cNvCxnSpPr>
            <a:endCxn id="200" idx="0"/>
          </p:cNvCxnSpPr>
          <p:nvPr/>
        </p:nvCxnSpPr>
        <p:spPr>
          <a:xfrm flipH="1">
            <a:off x="1387648" y="6482256"/>
            <a:ext cx="212700" cy="241200"/>
          </a:xfrm>
          <a:prstGeom prst="straightConnector1">
            <a:avLst/>
          </a:prstGeom>
          <a:noFill/>
          <a:ln w="19050" cap="flat" cmpd="sng">
            <a:solidFill>
              <a:srgbClr val="808080"/>
            </a:solidFill>
            <a:prstDash val="solid"/>
            <a:round/>
            <a:headEnd type="none" w="med" len="med"/>
            <a:tailEnd type="triangle" w="med" len="med"/>
          </a:ln>
        </p:spPr>
      </p:cxnSp>
      <p:cxnSp>
        <p:nvCxnSpPr>
          <p:cNvPr id="209" name="Google Shape;209;p20"/>
          <p:cNvCxnSpPr>
            <a:endCxn id="201" idx="0"/>
          </p:cNvCxnSpPr>
          <p:nvPr/>
        </p:nvCxnSpPr>
        <p:spPr>
          <a:xfrm>
            <a:off x="2049590" y="6479856"/>
            <a:ext cx="260700" cy="243600"/>
          </a:xfrm>
          <a:prstGeom prst="straightConnector1">
            <a:avLst/>
          </a:prstGeom>
          <a:noFill/>
          <a:ln w="19050" cap="flat" cmpd="sng">
            <a:solidFill>
              <a:srgbClr val="808080"/>
            </a:solidFill>
            <a:prstDash val="solid"/>
            <a:round/>
            <a:headEnd type="none" w="med" len="med"/>
            <a:tailEnd type="triangle" w="med" len="med"/>
          </a:ln>
        </p:spPr>
      </p:cxnSp>
      <p:sp>
        <p:nvSpPr>
          <p:cNvPr id="210" name="Google Shape;210;p20"/>
          <p:cNvSpPr txBox="1"/>
          <p:nvPr/>
        </p:nvSpPr>
        <p:spPr>
          <a:xfrm>
            <a:off x="2723625" y="6197750"/>
            <a:ext cx="333900" cy="338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5</a:t>
            </a:r>
            <a:endParaRPr sz="1200">
              <a:solidFill>
                <a:srgbClr val="000000"/>
              </a:solidFill>
              <a:latin typeface="Kalam"/>
              <a:ea typeface="Kalam"/>
              <a:cs typeface="Kalam"/>
              <a:sym typeface="Kalam"/>
            </a:endParaRPr>
          </a:p>
        </p:txBody>
      </p:sp>
      <p:sp>
        <p:nvSpPr>
          <p:cNvPr id="211" name="Google Shape;211;p20"/>
          <p:cNvSpPr txBox="1"/>
          <p:nvPr/>
        </p:nvSpPr>
        <p:spPr>
          <a:xfrm>
            <a:off x="3903699" y="6647450"/>
            <a:ext cx="1095600" cy="2181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3</a:t>
            </a:r>
            <a:r>
              <a:rPr lang="en-GB" sz="1200">
                <a:solidFill>
                  <a:srgbClr val="000000"/>
                </a:solidFill>
                <a:latin typeface="Kalam"/>
                <a:ea typeface="Kalam"/>
                <a:cs typeface="Kalam"/>
                <a:sym typeface="Kalam"/>
              </a:rPr>
              <a:t> × </a:t>
            </a:r>
            <a:r>
              <a:rPr lang="en-GB" sz="1200">
                <a:latin typeface="Kalam"/>
                <a:ea typeface="Kalam"/>
                <a:cs typeface="Kalam"/>
                <a:sym typeface="Kalam"/>
              </a:rPr>
              <a:t>100</a:t>
            </a:r>
            <a:endParaRPr sz="1200">
              <a:solidFill>
                <a:srgbClr val="000000"/>
              </a:solidFill>
              <a:latin typeface="Kalam"/>
              <a:ea typeface="Kalam"/>
              <a:cs typeface="Kalam"/>
              <a:sym typeface="Kalam"/>
            </a:endParaRPr>
          </a:p>
        </p:txBody>
      </p:sp>
      <p:sp>
        <p:nvSpPr>
          <p:cNvPr id="212" name="Google Shape;212;p20"/>
          <p:cNvSpPr txBox="1"/>
          <p:nvPr/>
        </p:nvSpPr>
        <p:spPr>
          <a:xfrm>
            <a:off x="5214725" y="6647450"/>
            <a:ext cx="1065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25</a:t>
            </a:r>
            <a:r>
              <a:rPr lang="en-GB" sz="1200">
                <a:solidFill>
                  <a:srgbClr val="000000"/>
                </a:solidFill>
                <a:latin typeface="Kalam"/>
                <a:ea typeface="Kalam"/>
                <a:cs typeface="Kalam"/>
                <a:sym typeface="Kalam"/>
              </a:rPr>
              <a:t> × </a:t>
            </a:r>
            <a:r>
              <a:rPr lang="en-GB" sz="1200">
                <a:latin typeface="Kalam"/>
                <a:ea typeface="Kalam"/>
                <a:cs typeface="Kalam"/>
                <a:sym typeface="Kalam"/>
              </a:rPr>
              <a:t>10</a:t>
            </a:r>
            <a:endParaRPr sz="1200">
              <a:solidFill>
                <a:srgbClr val="000000"/>
              </a:solidFill>
              <a:latin typeface="Kalam"/>
              <a:ea typeface="Kalam"/>
              <a:cs typeface="Kalam"/>
              <a:sym typeface="Kalam"/>
            </a:endParaRPr>
          </a:p>
        </p:txBody>
      </p:sp>
      <p:sp>
        <p:nvSpPr>
          <p:cNvPr id="213" name="Google Shape;213;p20"/>
          <p:cNvSpPr txBox="1"/>
          <p:nvPr/>
        </p:nvSpPr>
        <p:spPr>
          <a:xfrm>
            <a:off x="5064675" y="6647450"/>
            <a:ext cx="219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14" name="Google Shape;214;p20"/>
          <p:cNvSpPr txBox="1"/>
          <p:nvPr/>
        </p:nvSpPr>
        <p:spPr>
          <a:xfrm>
            <a:off x="4122999" y="6851318"/>
            <a:ext cx="876300" cy="2181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3</a:t>
            </a:r>
            <a:r>
              <a:rPr lang="en-GB" sz="1200">
                <a:solidFill>
                  <a:srgbClr val="000000"/>
                </a:solidFill>
                <a:latin typeface="Kalam"/>
                <a:ea typeface="Kalam"/>
                <a:cs typeface="Kalam"/>
                <a:sym typeface="Kalam"/>
              </a:rPr>
              <a:t> × </a:t>
            </a:r>
            <a:r>
              <a:rPr lang="en-GB" sz="1200">
                <a:latin typeface="Kalam"/>
                <a:ea typeface="Kalam"/>
                <a:cs typeface="Kalam"/>
                <a:sym typeface="Kalam"/>
              </a:rPr>
              <a:t>25</a:t>
            </a:r>
            <a:endParaRPr sz="1200">
              <a:solidFill>
                <a:srgbClr val="000000"/>
              </a:solidFill>
              <a:latin typeface="Kalam"/>
              <a:ea typeface="Kalam"/>
              <a:cs typeface="Kalam"/>
              <a:sym typeface="Kalam"/>
            </a:endParaRPr>
          </a:p>
        </p:txBody>
      </p:sp>
      <p:sp>
        <p:nvSpPr>
          <p:cNvPr id="215" name="Google Shape;215;p20"/>
          <p:cNvSpPr txBox="1"/>
          <p:nvPr/>
        </p:nvSpPr>
        <p:spPr>
          <a:xfrm>
            <a:off x="5214725" y="6832565"/>
            <a:ext cx="1551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100 × 10</a:t>
            </a:r>
            <a:endParaRPr sz="1200">
              <a:solidFill>
                <a:srgbClr val="000000"/>
              </a:solidFill>
              <a:latin typeface="Kalam"/>
              <a:ea typeface="Kalam"/>
              <a:cs typeface="Kalam"/>
              <a:sym typeface="Kalam"/>
            </a:endParaRPr>
          </a:p>
        </p:txBody>
      </p:sp>
      <p:sp>
        <p:nvSpPr>
          <p:cNvPr id="216" name="Google Shape;216;p20"/>
          <p:cNvSpPr txBox="1"/>
          <p:nvPr/>
        </p:nvSpPr>
        <p:spPr>
          <a:xfrm>
            <a:off x="5064675" y="6832565"/>
            <a:ext cx="219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17" name="Google Shape;217;p20"/>
          <p:cNvSpPr txBox="1"/>
          <p:nvPr/>
        </p:nvSpPr>
        <p:spPr>
          <a:xfrm>
            <a:off x="4665399" y="7073939"/>
            <a:ext cx="333900" cy="2181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75</a:t>
            </a:r>
            <a:endParaRPr sz="1200">
              <a:solidFill>
                <a:srgbClr val="000000"/>
              </a:solidFill>
              <a:latin typeface="Kalam"/>
              <a:ea typeface="Kalam"/>
              <a:cs typeface="Kalam"/>
              <a:sym typeface="Kalam"/>
            </a:endParaRPr>
          </a:p>
        </p:txBody>
      </p:sp>
      <p:sp>
        <p:nvSpPr>
          <p:cNvPr id="218" name="Google Shape;218;p20"/>
          <p:cNvSpPr txBox="1"/>
          <p:nvPr/>
        </p:nvSpPr>
        <p:spPr>
          <a:xfrm>
            <a:off x="5214725" y="7055186"/>
            <a:ext cx="1551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1000</a:t>
            </a:r>
            <a:endParaRPr sz="1200">
              <a:solidFill>
                <a:srgbClr val="000000"/>
              </a:solidFill>
              <a:latin typeface="Kalam"/>
              <a:ea typeface="Kalam"/>
              <a:cs typeface="Kalam"/>
              <a:sym typeface="Kalam"/>
            </a:endParaRPr>
          </a:p>
        </p:txBody>
      </p:sp>
      <p:sp>
        <p:nvSpPr>
          <p:cNvPr id="219" name="Google Shape;219;p20"/>
          <p:cNvSpPr txBox="1"/>
          <p:nvPr/>
        </p:nvSpPr>
        <p:spPr>
          <a:xfrm>
            <a:off x="5064675" y="7055186"/>
            <a:ext cx="219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20" name="Google Shape;220;p20"/>
          <p:cNvSpPr txBox="1"/>
          <p:nvPr/>
        </p:nvSpPr>
        <p:spPr>
          <a:xfrm>
            <a:off x="4665399" y="7319470"/>
            <a:ext cx="333900" cy="2181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75</a:t>
            </a:r>
            <a:endParaRPr sz="1200">
              <a:solidFill>
                <a:srgbClr val="000000"/>
              </a:solidFill>
              <a:latin typeface="Kalam"/>
              <a:ea typeface="Kalam"/>
              <a:cs typeface="Kalam"/>
              <a:sym typeface="Kalam"/>
            </a:endParaRPr>
          </a:p>
        </p:txBody>
      </p:sp>
      <p:sp>
        <p:nvSpPr>
          <p:cNvPr id="221" name="Google Shape;221;p20"/>
          <p:cNvSpPr txBox="1"/>
          <p:nvPr/>
        </p:nvSpPr>
        <p:spPr>
          <a:xfrm>
            <a:off x="5214725" y="7300717"/>
            <a:ext cx="1551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a:t>
            </a:r>
            <a:r>
              <a:rPr lang="en-GB" sz="1200" baseline="30000">
                <a:latin typeface="Kalam"/>
                <a:ea typeface="Kalam"/>
                <a:cs typeface="Kalam"/>
                <a:sym typeface="Kalam"/>
              </a:rPr>
              <a:t>3</a:t>
            </a:r>
            <a:endParaRPr sz="1200" baseline="30000">
              <a:solidFill>
                <a:srgbClr val="000000"/>
              </a:solidFill>
              <a:latin typeface="Kalam"/>
              <a:ea typeface="Kalam"/>
              <a:cs typeface="Kalam"/>
              <a:sym typeface="Kalam"/>
            </a:endParaRPr>
          </a:p>
        </p:txBody>
      </p:sp>
      <p:sp>
        <p:nvSpPr>
          <p:cNvPr id="222" name="Google Shape;222;p20"/>
          <p:cNvSpPr txBox="1"/>
          <p:nvPr/>
        </p:nvSpPr>
        <p:spPr>
          <a:xfrm>
            <a:off x="5064675" y="7300717"/>
            <a:ext cx="219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cxnSp>
        <p:nvCxnSpPr>
          <p:cNvPr id="223" name="Google Shape;223;p20"/>
          <p:cNvCxnSpPr/>
          <p:nvPr/>
        </p:nvCxnSpPr>
        <p:spPr>
          <a:xfrm flipH="1">
            <a:off x="4635550" y="6441403"/>
            <a:ext cx="140700" cy="200700"/>
          </a:xfrm>
          <a:prstGeom prst="straightConnector1">
            <a:avLst/>
          </a:prstGeom>
          <a:noFill/>
          <a:ln w="19050" cap="flat" cmpd="sng">
            <a:solidFill>
              <a:srgbClr val="808080"/>
            </a:solidFill>
            <a:prstDash val="solid"/>
            <a:round/>
            <a:headEnd type="none" w="med" len="med"/>
            <a:tailEnd type="triangle" w="med" len="med"/>
          </a:ln>
        </p:spPr>
      </p:cxnSp>
      <p:cxnSp>
        <p:nvCxnSpPr>
          <p:cNvPr id="224" name="Google Shape;224;p20"/>
          <p:cNvCxnSpPr/>
          <p:nvPr/>
        </p:nvCxnSpPr>
        <p:spPr>
          <a:xfrm>
            <a:off x="5241050" y="6475200"/>
            <a:ext cx="105600" cy="141600"/>
          </a:xfrm>
          <a:prstGeom prst="straightConnector1">
            <a:avLst/>
          </a:prstGeom>
          <a:noFill/>
          <a:ln w="19050" cap="flat" cmpd="sng">
            <a:solidFill>
              <a:srgbClr val="808080"/>
            </a:solidFill>
            <a:prstDash val="solid"/>
            <a:round/>
            <a:headEnd type="none" w="med" len="med"/>
            <a:tailEnd type="triangle" w="med" len="med"/>
          </a:ln>
        </p:spPr>
      </p:cxnSp>
      <p:sp>
        <p:nvSpPr>
          <p:cNvPr id="225" name="Google Shape;225;p20"/>
          <p:cNvSpPr txBox="1"/>
          <p:nvPr/>
        </p:nvSpPr>
        <p:spPr>
          <a:xfrm>
            <a:off x="3982599" y="7518130"/>
            <a:ext cx="1016700" cy="2181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7.5 </a:t>
            </a:r>
            <a:r>
              <a:rPr lang="en-GB" sz="1200">
                <a:solidFill>
                  <a:srgbClr val="000000"/>
                </a:solidFill>
                <a:latin typeface="Kalam"/>
                <a:ea typeface="Kalam"/>
                <a:cs typeface="Kalam"/>
                <a:sym typeface="Kalam"/>
              </a:rPr>
              <a:t>× 10</a:t>
            </a:r>
            <a:endParaRPr sz="1200">
              <a:solidFill>
                <a:srgbClr val="000000"/>
              </a:solidFill>
              <a:latin typeface="Kalam"/>
              <a:ea typeface="Kalam"/>
              <a:cs typeface="Kalam"/>
              <a:sym typeface="Kalam"/>
            </a:endParaRPr>
          </a:p>
        </p:txBody>
      </p:sp>
      <p:sp>
        <p:nvSpPr>
          <p:cNvPr id="226" name="Google Shape;226;p20"/>
          <p:cNvSpPr txBox="1"/>
          <p:nvPr/>
        </p:nvSpPr>
        <p:spPr>
          <a:xfrm>
            <a:off x="5214725" y="7515895"/>
            <a:ext cx="1551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a:t>
            </a:r>
            <a:r>
              <a:rPr lang="en-GB" sz="1200" baseline="30000">
                <a:latin typeface="Kalam"/>
                <a:ea typeface="Kalam"/>
                <a:cs typeface="Kalam"/>
                <a:sym typeface="Kalam"/>
              </a:rPr>
              <a:t>3</a:t>
            </a:r>
            <a:endParaRPr sz="1200" baseline="30000">
              <a:solidFill>
                <a:srgbClr val="000000"/>
              </a:solidFill>
              <a:latin typeface="Kalam"/>
              <a:ea typeface="Kalam"/>
              <a:cs typeface="Kalam"/>
              <a:sym typeface="Kalam"/>
            </a:endParaRPr>
          </a:p>
        </p:txBody>
      </p:sp>
      <p:sp>
        <p:nvSpPr>
          <p:cNvPr id="227" name="Google Shape;227;p20"/>
          <p:cNvSpPr txBox="1"/>
          <p:nvPr/>
        </p:nvSpPr>
        <p:spPr>
          <a:xfrm>
            <a:off x="5064675" y="7515895"/>
            <a:ext cx="219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28" name="Google Shape;228;p20"/>
          <p:cNvSpPr txBox="1"/>
          <p:nvPr/>
        </p:nvSpPr>
        <p:spPr>
          <a:xfrm>
            <a:off x="4533999" y="7714560"/>
            <a:ext cx="465300" cy="2181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7.5 </a:t>
            </a:r>
            <a:endParaRPr sz="1200">
              <a:solidFill>
                <a:srgbClr val="000000"/>
              </a:solidFill>
              <a:latin typeface="Kalam"/>
              <a:ea typeface="Kalam"/>
              <a:cs typeface="Kalam"/>
              <a:sym typeface="Kalam"/>
            </a:endParaRPr>
          </a:p>
        </p:txBody>
      </p:sp>
      <p:sp>
        <p:nvSpPr>
          <p:cNvPr id="229" name="Google Shape;229;p20"/>
          <p:cNvSpPr txBox="1"/>
          <p:nvPr/>
        </p:nvSpPr>
        <p:spPr>
          <a:xfrm>
            <a:off x="5214725" y="7712320"/>
            <a:ext cx="1551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 </a:t>
            </a:r>
            <a:r>
              <a:rPr lang="en-GB" sz="1200">
                <a:solidFill>
                  <a:srgbClr val="000000"/>
                </a:solidFill>
                <a:latin typeface="Kalam"/>
                <a:ea typeface="Kalam"/>
                <a:cs typeface="Kalam"/>
                <a:sym typeface="Kalam"/>
              </a:rPr>
              <a:t>× </a:t>
            </a:r>
            <a:r>
              <a:rPr lang="en-GB" sz="1200">
                <a:latin typeface="Kalam"/>
                <a:ea typeface="Kalam"/>
                <a:cs typeface="Kalam"/>
                <a:sym typeface="Kalam"/>
              </a:rPr>
              <a:t>10</a:t>
            </a:r>
            <a:r>
              <a:rPr lang="en-GB" sz="1200" baseline="30000">
                <a:latin typeface="Kalam"/>
                <a:ea typeface="Kalam"/>
                <a:cs typeface="Kalam"/>
                <a:sym typeface="Kalam"/>
              </a:rPr>
              <a:t>3</a:t>
            </a:r>
            <a:endParaRPr sz="1200" baseline="30000">
              <a:solidFill>
                <a:srgbClr val="000000"/>
              </a:solidFill>
              <a:latin typeface="Kalam"/>
              <a:ea typeface="Kalam"/>
              <a:cs typeface="Kalam"/>
              <a:sym typeface="Kalam"/>
            </a:endParaRPr>
          </a:p>
        </p:txBody>
      </p:sp>
      <p:sp>
        <p:nvSpPr>
          <p:cNvPr id="230" name="Google Shape;230;p20"/>
          <p:cNvSpPr txBox="1"/>
          <p:nvPr/>
        </p:nvSpPr>
        <p:spPr>
          <a:xfrm>
            <a:off x="5064675" y="7712320"/>
            <a:ext cx="219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31" name="Google Shape;231;p20"/>
          <p:cNvSpPr txBox="1"/>
          <p:nvPr/>
        </p:nvSpPr>
        <p:spPr>
          <a:xfrm>
            <a:off x="4533999" y="7910985"/>
            <a:ext cx="465300" cy="2181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7.5 </a:t>
            </a:r>
            <a:endParaRPr sz="1200">
              <a:solidFill>
                <a:srgbClr val="000000"/>
              </a:solidFill>
              <a:latin typeface="Kalam"/>
              <a:ea typeface="Kalam"/>
              <a:cs typeface="Kalam"/>
              <a:sym typeface="Kalam"/>
            </a:endParaRPr>
          </a:p>
        </p:txBody>
      </p:sp>
      <p:sp>
        <p:nvSpPr>
          <p:cNvPr id="232" name="Google Shape;232;p20"/>
          <p:cNvSpPr txBox="1"/>
          <p:nvPr/>
        </p:nvSpPr>
        <p:spPr>
          <a:xfrm>
            <a:off x="5214725" y="7908745"/>
            <a:ext cx="1551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a:t>
            </a:r>
            <a:r>
              <a:rPr lang="en-GB" sz="1200" baseline="30000">
                <a:latin typeface="Kalam"/>
                <a:ea typeface="Kalam"/>
                <a:cs typeface="Kalam"/>
                <a:sym typeface="Kalam"/>
              </a:rPr>
              <a:t>4</a:t>
            </a:r>
            <a:endParaRPr sz="1200" baseline="30000">
              <a:solidFill>
                <a:srgbClr val="000000"/>
              </a:solidFill>
              <a:latin typeface="Kalam"/>
              <a:ea typeface="Kalam"/>
              <a:cs typeface="Kalam"/>
              <a:sym typeface="Kalam"/>
            </a:endParaRPr>
          </a:p>
        </p:txBody>
      </p:sp>
      <p:sp>
        <p:nvSpPr>
          <p:cNvPr id="233" name="Google Shape;233;p20"/>
          <p:cNvSpPr txBox="1"/>
          <p:nvPr/>
        </p:nvSpPr>
        <p:spPr>
          <a:xfrm>
            <a:off x="5064675" y="7908745"/>
            <a:ext cx="219600" cy="21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34" name="Google Shape;234;p20"/>
          <p:cNvSpPr txBox="1"/>
          <p:nvPr/>
        </p:nvSpPr>
        <p:spPr>
          <a:xfrm>
            <a:off x="6008300" y="6207400"/>
            <a:ext cx="1308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3</a:t>
            </a:r>
            <a:endParaRPr sz="1200"/>
          </a:p>
        </p:txBody>
      </p:sp>
      <p:sp>
        <p:nvSpPr>
          <p:cNvPr id="235" name="Google Shape;235;p20"/>
          <p:cNvSpPr txBox="1"/>
          <p:nvPr/>
        </p:nvSpPr>
        <p:spPr>
          <a:xfrm>
            <a:off x="6769660" y="6207400"/>
            <a:ext cx="1308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4</a:t>
            </a:r>
            <a:endParaRPr sz="1200"/>
          </a:p>
        </p:txBody>
      </p:sp>
      <p:sp>
        <p:nvSpPr>
          <p:cNvPr id="236" name="Google Shape;236;p20"/>
          <p:cNvSpPr txBox="1"/>
          <p:nvPr/>
        </p:nvSpPr>
        <p:spPr>
          <a:xfrm>
            <a:off x="3699925" y="6261100"/>
            <a:ext cx="3183600" cy="184800"/>
          </a:xfrm>
          <a:prstGeom prst="rect">
            <a:avLst/>
          </a:prstGeom>
          <a:noFill/>
          <a:ln>
            <a:noFill/>
          </a:ln>
        </p:spPr>
        <p:txBody>
          <a:bodyPr spcFirstLastPara="1" wrap="square" lIns="0" tIns="0" rIns="0" bIns="0" anchor="t" anchorCtr="0">
            <a:spAutoFit/>
          </a:bodyPr>
          <a:lstStyle/>
          <a:p>
            <a:pPr marL="0" lvl="0" indent="457200" algn="l" rtl="0">
              <a:lnSpc>
                <a:spcPct val="115000"/>
              </a:lnSpc>
              <a:spcBef>
                <a:spcPct val="0"/>
              </a:spcBef>
              <a:spcAft>
                <a:spcPts val="1000"/>
              </a:spcAft>
              <a:buClr>
                <a:schemeClr val="dk1"/>
              </a:buClr>
              <a:buSzPts val="1100"/>
              <a:buFont typeface="Arial"/>
              <a:buNone/>
            </a:pPr>
            <a:r>
              <a:rPr lang="en-GB" sz="1200">
                <a:solidFill>
                  <a:schemeClr val="dk1"/>
                </a:solidFill>
                <a:latin typeface="Lexend"/>
                <a:ea typeface="Lexend"/>
                <a:cs typeface="Lexend"/>
                <a:sym typeface="Lexend"/>
              </a:rPr>
              <a:t>b)	300 × 250 = 75 × 10</a:t>
            </a:r>
            <a:r>
              <a:rPr lang="en-GB" sz="1200" baseline="30000">
                <a:solidFill>
                  <a:schemeClr val="dk1"/>
                </a:solidFill>
                <a:latin typeface="Lexend"/>
                <a:ea typeface="Lexend"/>
                <a:cs typeface="Lexend"/>
                <a:sym typeface="Lexend"/>
              </a:rPr>
              <a:t>⬚ </a:t>
            </a:r>
            <a:r>
              <a:rPr lang="en-GB" sz="1200">
                <a:solidFill>
                  <a:schemeClr val="dk1"/>
                </a:solidFill>
                <a:latin typeface="Lexend"/>
                <a:ea typeface="Lexend"/>
                <a:cs typeface="Lexend"/>
                <a:sym typeface="Lexend"/>
              </a:rPr>
              <a:t> = 7.5 × 10</a:t>
            </a:r>
            <a:r>
              <a:rPr lang="en-GB" sz="1200" baseline="30000">
                <a:solidFill>
                  <a:schemeClr val="dk1"/>
                </a:solidFill>
                <a:latin typeface="Lexend"/>
                <a:ea typeface="Lexend"/>
                <a:cs typeface="Lexend"/>
                <a:sym typeface="Lexend"/>
              </a:rPr>
              <a:t>⬚</a:t>
            </a:r>
            <a:endParaRPr sz="1200">
              <a:solidFill>
                <a:schemeClr val="dk1"/>
              </a:solidFill>
              <a:latin typeface="Lexend"/>
              <a:ea typeface="Lexend"/>
              <a:cs typeface="Lexend"/>
              <a:sym typeface="Lexend"/>
            </a:endParaRPr>
          </a:p>
        </p:txBody>
      </p:sp>
      <p:sp>
        <p:nvSpPr>
          <p:cNvPr id="237" name="Google Shape;237;p20"/>
          <p:cNvSpPr txBox="1"/>
          <p:nvPr/>
        </p:nvSpPr>
        <p:spPr>
          <a:xfrm>
            <a:off x="423325" y="8089900"/>
            <a:ext cx="3183600" cy="184800"/>
          </a:xfrm>
          <a:prstGeom prst="rect">
            <a:avLst/>
          </a:prstGeom>
          <a:noFill/>
          <a:ln>
            <a:noFill/>
          </a:ln>
        </p:spPr>
        <p:txBody>
          <a:bodyPr spcFirstLastPara="1" wrap="square" lIns="0" tIns="0" rIns="0" bIns="0" anchor="t" anchorCtr="0">
            <a:spAutoFit/>
          </a:bodyPr>
          <a:lstStyle/>
          <a:p>
            <a:pPr marL="457200" lvl="0" indent="0" algn="ctr" rtl="0">
              <a:lnSpc>
                <a:spcPct val="115000"/>
              </a:lnSpc>
              <a:spcBef>
                <a:spcPct val="0"/>
              </a:spcBef>
              <a:spcAft>
                <a:spcPts val="1000"/>
              </a:spcAft>
              <a:buNone/>
            </a:pPr>
            <a:r>
              <a:rPr lang="en-GB" sz="1200">
                <a:solidFill>
                  <a:schemeClr val="dk1"/>
                </a:solidFill>
                <a:latin typeface="Lexend"/>
                <a:ea typeface="Lexend"/>
                <a:cs typeface="Lexend"/>
                <a:sym typeface="Lexend"/>
              </a:rPr>
              <a:t>c) 4000 × 1500 = 60 × 10</a:t>
            </a:r>
            <a:r>
              <a:rPr lang="en-GB" sz="1200" baseline="30000">
                <a:solidFill>
                  <a:schemeClr val="dk1"/>
                </a:solidFill>
                <a:latin typeface="Lexend"/>
                <a:ea typeface="Lexend"/>
                <a:cs typeface="Lexend"/>
                <a:sym typeface="Lexend"/>
              </a:rPr>
              <a:t>⬚ </a:t>
            </a:r>
            <a:r>
              <a:rPr lang="en-GB" sz="1200">
                <a:solidFill>
                  <a:schemeClr val="dk1"/>
                </a:solidFill>
                <a:latin typeface="Lexend"/>
                <a:ea typeface="Lexend"/>
                <a:cs typeface="Lexend"/>
                <a:sym typeface="Lexend"/>
              </a:rPr>
              <a:t> = 6 × 10</a:t>
            </a:r>
            <a:r>
              <a:rPr lang="en-GB" sz="1200" baseline="30000">
                <a:solidFill>
                  <a:schemeClr val="dk1"/>
                </a:solidFill>
                <a:latin typeface="Lexend"/>
                <a:ea typeface="Lexend"/>
                <a:cs typeface="Lexend"/>
                <a:sym typeface="Lexend"/>
              </a:rPr>
              <a:t>⬚ </a:t>
            </a:r>
            <a:r>
              <a:rPr lang="en-GB" sz="1200">
                <a:solidFill>
                  <a:schemeClr val="dk1"/>
                </a:solidFill>
                <a:latin typeface="Lexend"/>
                <a:ea typeface="Lexend"/>
                <a:cs typeface="Lexend"/>
                <a:sym typeface="Lexend"/>
              </a:rPr>
              <a:t> </a:t>
            </a:r>
            <a:endParaRPr sz="1200">
              <a:solidFill>
                <a:schemeClr val="dk1"/>
              </a:solidFill>
              <a:latin typeface="Lexend"/>
              <a:ea typeface="Lexend"/>
              <a:cs typeface="Lexend"/>
              <a:sym typeface="Lexend"/>
            </a:endParaRPr>
          </a:p>
        </p:txBody>
      </p:sp>
      <p:sp>
        <p:nvSpPr>
          <p:cNvPr id="238" name="Google Shape;238;p20"/>
          <p:cNvSpPr txBox="1"/>
          <p:nvPr/>
        </p:nvSpPr>
        <p:spPr>
          <a:xfrm>
            <a:off x="378655" y="8474143"/>
            <a:ext cx="1095600" cy="1587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4</a:t>
            </a:r>
            <a:r>
              <a:rPr lang="en-GB" sz="1200">
                <a:solidFill>
                  <a:srgbClr val="000000"/>
                </a:solidFill>
                <a:latin typeface="Kalam"/>
                <a:ea typeface="Kalam"/>
                <a:cs typeface="Kalam"/>
                <a:sym typeface="Kalam"/>
              </a:rPr>
              <a:t> × </a:t>
            </a:r>
            <a:r>
              <a:rPr lang="en-GB" sz="1200">
                <a:latin typeface="Kalam"/>
                <a:ea typeface="Kalam"/>
                <a:cs typeface="Kalam"/>
                <a:sym typeface="Kalam"/>
              </a:rPr>
              <a:t>1000</a:t>
            </a:r>
            <a:endParaRPr sz="1200">
              <a:solidFill>
                <a:srgbClr val="000000"/>
              </a:solidFill>
              <a:latin typeface="Kalam"/>
              <a:ea typeface="Kalam"/>
              <a:cs typeface="Kalam"/>
              <a:sym typeface="Kalam"/>
            </a:endParaRPr>
          </a:p>
        </p:txBody>
      </p:sp>
      <p:sp>
        <p:nvSpPr>
          <p:cNvPr id="239" name="Google Shape;239;p20"/>
          <p:cNvSpPr txBox="1"/>
          <p:nvPr/>
        </p:nvSpPr>
        <p:spPr>
          <a:xfrm>
            <a:off x="1689681" y="8474143"/>
            <a:ext cx="1065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15</a:t>
            </a:r>
            <a:r>
              <a:rPr lang="en-GB" sz="1200">
                <a:solidFill>
                  <a:srgbClr val="000000"/>
                </a:solidFill>
                <a:latin typeface="Kalam"/>
                <a:ea typeface="Kalam"/>
                <a:cs typeface="Kalam"/>
                <a:sym typeface="Kalam"/>
              </a:rPr>
              <a:t> × </a:t>
            </a:r>
            <a:r>
              <a:rPr lang="en-GB" sz="1200">
                <a:latin typeface="Kalam"/>
                <a:ea typeface="Kalam"/>
                <a:cs typeface="Kalam"/>
                <a:sym typeface="Kalam"/>
              </a:rPr>
              <a:t>100</a:t>
            </a:r>
            <a:endParaRPr sz="1200">
              <a:solidFill>
                <a:srgbClr val="000000"/>
              </a:solidFill>
              <a:latin typeface="Kalam"/>
              <a:ea typeface="Kalam"/>
              <a:cs typeface="Kalam"/>
              <a:sym typeface="Kalam"/>
            </a:endParaRPr>
          </a:p>
        </p:txBody>
      </p:sp>
      <p:sp>
        <p:nvSpPr>
          <p:cNvPr id="240" name="Google Shape;240;p20"/>
          <p:cNvSpPr txBox="1"/>
          <p:nvPr/>
        </p:nvSpPr>
        <p:spPr>
          <a:xfrm>
            <a:off x="1549750" y="8474143"/>
            <a:ext cx="219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41" name="Google Shape;241;p20"/>
          <p:cNvSpPr txBox="1"/>
          <p:nvPr/>
        </p:nvSpPr>
        <p:spPr>
          <a:xfrm>
            <a:off x="683155" y="8622610"/>
            <a:ext cx="791100" cy="1587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4</a:t>
            </a:r>
            <a:r>
              <a:rPr lang="en-GB" sz="1200">
                <a:solidFill>
                  <a:srgbClr val="000000"/>
                </a:solidFill>
                <a:latin typeface="Kalam"/>
                <a:ea typeface="Kalam"/>
                <a:cs typeface="Kalam"/>
                <a:sym typeface="Kalam"/>
              </a:rPr>
              <a:t> × </a:t>
            </a:r>
            <a:r>
              <a:rPr lang="en-GB" sz="1200">
                <a:latin typeface="Kalam"/>
                <a:ea typeface="Kalam"/>
                <a:cs typeface="Kalam"/>
                <a:sym typeface="Kalam"/>
              </a:rPr>
              <a:t>15</a:t>
            </a:r>
            <a:endParaRPr sz="1200">
              <a:solidFill>
                <a:srgbClr val="000000"/>
              </a:solidFill>
              <a:latin typeface="Kalam"/>
              <a:ea typeface="Kalam"/>
              <a:cs typeface="Kalam"/>
              <a:sym typeface="Kalam"/>
            </a:endParaRPr>
          </a:p>
        </p:txBody>
      </p:sp>
      <p:sp>
        <p:nvSpPr>
          <p:cNvPr id="242" name="Google Shape;242;p20"/>
          <p:cNvSpPr txBox="1"/>
          <p:nvPr/>
        </p:nvSpPr>
        <p:spPr>
          <a:xfrm>
            <a:off x="1689681" y="8608948"/>
            <a:ext cx="1551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1000 × 100</a:t>
            </a:r>
            <a:endParaRPr sz="1200">
              <a:solidFill>
                <a:srgbClr val="000000"/>
              </a:solidFill>
              <a:latin typeface="Kalam"/>
              <a:ea typeface="Kalam"/>
              <a:cs typeface="Kalam"/>
              <a:sym typeface="Kalam"/>
            </a:endParaRPr>
          </a:p>
        </p:txBody>
      </p:sp>
      <p:sp>
        <p:nvSpPr>
          <p:cNvPr id="243" name="Google Shape;243;p20"/>
          <p:cNvSpPr txBox="1"/>
          <p:nvPr/>
        </p:nvSpPr>
        <p:spPr>
          <a:xfrm>
            <a:off x="1549750" y="8608948"/>
            <a:ext cx="219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44" name="Google Shape;244;p20"/>
          <p:cNvSpPr txBox="1"/>
          <p:nvPr/>
        </p:nvSpPr>
        <p:spPr>
          <a:xfrm>
            <a:off x="1140355" y="8784721"/>
            <a:ext cx="333900" cy="1587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60</a:t>
            </a:r>
            <a:endParaRPr sz="1200">
              <a:solidFill>
                <a:srgbClr val="000000"/>
              </a:solidFill>
              <a:latin typeface="Kalam"/>
              <a:ea typeface="Kalam"/>
              <a:cs typeface="Kalam"/>
              <a:sym typeface="Kalam"/>
            </a:endParaRPr>
          </a:p>
        </p:txBody>
      </p:sp>
      <p:sp>
        <p:nvSpPr>
          <p:cNvPr id="245" name="Google Shape;245;p20"/>
          <p:cNvSpPr txBox="1"/>
          <p:nvPr/>
        </p:nvSpPr>
        <p:spPr>
          <a:xfrm>
            <a:off x="1689681" y="8771065"/>
            <a:ext cx="1551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100 000</a:t>
            </a:r>
            <a:endParaRPr sz="1200">
              <a:solidFill>
                <a:srgbClr val="000000"/>
              </a:solidFill>
              <a:latin typeface="Kalam"/>
              <a:ea typeface="Kalam"/>
              <a:cs typeface="Kalam"/>
              <a:sym typeface="Kalam"/>
            </a:endParaRPr>
          </a:p>
        </p:txBody>
      </p:sp>
      <p:sp>
        <p:nvSpPr>
          <p:cNvPr id="246" name="Google Shape;246;p20"/>
          <p:cNvSpPr txBox="1"/>
          <p:nvPr/>
        </p:nvSpPr>
        <p:spPr>
          <a:xfrm>
            <a:off x="1549750" y="8771065"/>
            <a:ext cx="219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47" name="Google Shape;247;p20"/>
          <p:cNvSpPr txBox="1"/>
          <p:nvPr/>
        </p:nvSpPr>
        <p:spPr>
          <a:xfrm>
            <a:off x="1140355" y="8963521"/>
            <a:ext cx="333900" cy="1587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60</a:t>
            </a:r>
            <a:endParaRPr sz="1200">
              <a:solidFill>
                <a:srgbClr val="000000"/>
              </a:solidFill>
              <a:latin typeface="Kalam"/>
              <a:ea typeface="Kalam"/>
              <a:cs typeface="Kalam"/>
              <a:sym typeface="Kalam"/>
            </a:endParaRPr>
          </a:p>
        </p:txBody>
      </p:sp>
      <p:sp>
        <p:nvSpPr>
          <p:cNvPr id="248" name="Google Shape;248;p20"/>
          <p:cNvSpPr txBox="1"/>
          <p:nvPr/>
        </p:nvSpPr>
        <p:spPr>
          <a:xfrm>
            <a:off x="1689681" y="8949865"/>
            <a:ext cx="1551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a:t>
            </a:r>
            <a:r>
              <a:rPr lang="en-GB" sz="1200" baseline="30000">
                <a:latin typeface="Kalam"/>
                <a:ea typeface="Kalam"/>
                <a:cs typeface="Kalam"/>
                <a:sym typeface="Kalam"/>
              </a:rPr>
              <a:t>5</a:t>
            </a:r>
            <a:endParaRPr sz="1200" baseline="30000">
              <a:solidFill>
                <a:srgbClr val="000000"/>
              </a:solidFill>
              <a:latin typeface="Kalam"/>
              <a:ea typeface="Kalam"/>
              <a:cs typeface="Kalam"/>
              <a:sym typeface="Kalam"/>
            </a:endParaRPr>
          </a:p>
        </p:txBody>
      </p:sp>
      <p:sp>
        <p:nvSpPr>
          <p:cNvPr id="249" name="Google Shape;249;p20"/>
          <p:cNvSpPr txBox="1"/>
          <p:nvPr/>
        </p:nvSpPr>
        <p:spPr>
          <a:xfrm>
            <a:off x="1549750" y="8949865"/>
            <a:ext cx="219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cxnSp>
        <p:nvCxnSpPr>
          <p:cNvPr id="250" name="Google Shape;250;p20"/>
          <p:cNvCxnSpPr/>
          <p:nvPr/>
        </p:nvCxnSpPr>
        <p:spPr>
          <a:xfrm flipH="1">
            <a:off x="1193950" y="8309967"/>
            <a:ext cx="201000" cy="144000"/>
          </a:xfrm>
          <a:prstGeom prst="straightConnector1">
            <a:avLst/>
          </a:prstGeom>
          <a:noFill/>
          <a:ln w="19050" cap="flat" cmpd="sng">
            <a:solidFill>
              <a:srgbClr val="808080"/>
            </a:solidFill>
            <a:prstDash val="solid"/>
            <a:round/>
            <a:headEnd type="none" w="med" len="med"/>
            <a:tailEnd type="triangle" w="med" len="med"/>
          </a:ln>
        </p:spPr>
      </p:cxnSp>
      <p:cxnSp>
        <p:nvCxnSpPr>
          <p:cNvPr id="251" name="Google Shape;251;p20"/>
          <p:cNvCxnSpPr/>
          <p:nvPr/>
        </p:nvCxnSpPr>
        <p:spPr>
          <a:xfrm>
            <a:off x="1901550" y="8292532"/>
            <a:ext cx="130500" cy="186900"/>
          </a:xfrm>
          <a:prstGeom prst="straightConnector1">
            <a:avLst/>
          </a:prstGeom>
          <a:noFill/>
          <a:ln w="19050" cap="flat" cmpd="sng">
            <a:solidFill>
              <a:srgbClr val="808080"/>
            </a:solidFill>
            <a:prstDash val="solid"/>
            <a:round/>
            <a:headEnd type="none" w="med" len="med"/>
            <a:tailEnd type="triangle" w="med" len="med"/>
          </a:ln>
        </p:spPr>
      </p:cxnSp>
      <p:sp>
        <p:nvSpPr>
          <p:cNvPr id="252" name="Google Shape;252;p20"/>
          <p:cNvSpPr txBox="1"/>
          <p:nvPr/>
        </p:nvSpPr>
        <p:spPr>
          <a:xfrm>
            <a:off x="457555" y="9122426"/>
            <a:ext cx="1016700" cy="1587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6 </a:t>
            </a:r>
            <a:r>
              <a:rPr lang="en-GB" sz="1200">
                <a:solidFill>
                  <a:srgbClr val="000000"/>
                </a:solidFill>
                <a:latin typeface="Kalam"/>
                <a:ea typeface="Kalam"/>
                <a:cs typeface="Kalam"/>
                <a:sym typeface="Kalam"/>
              </a:rPr>
              <a:t>× 10</a:t>
            </a:r>
            <a:endParaRPr sz="1200">
              <a:solidFill>
                <a:srgbClr val="000000"/>
              </a:solidFill>
              <a:latin typeface="Kalam"/>
              <a:ea typeface="Kalam"/>
              <a:cs typeface="Kalam"/>
              <a:sym typeface="Kalam"/>
            </a:endParaRPr>
          </a:p>
        </p:txBody>
      </p:sp>
      <p:sp>
        <p:nvSpPr>
          <p:cNvPr id="253" name="Google Shape;253;p20"/>
          <p:cNvSpPr txBox="1"/>
          <p:nvPr/>
        </p:nvSpPr>
        <p:spPr>
          <a:xfrm>
            <a:off x="1689681" y="9120799"/>
            <a:ext cx="1551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a:t>
            </a:r>
            <a:r>
              <a:rPr lang="en-GB" sz="1200" baseline="30000">
                <a:latin typeface="Kalam"/>
                <a:ea typeface="Kalam"/>
                <a:cs typeface="Kalam"/>
                <a:sym typeface="Kalam"/>
              </a:rPr>
              <a:t>5</a:t>
            </a:r>
            <a:endParaRPr sz="1200" baseline="30000">
              <a:solidFill>
                <a:srgbClr val="000000"/>
              </a:solidFill>
              <a:latin typeface="Kalam"/>
              <a:ea typeface="Kalam"/>
              <a:cs typeface="Kalam"/>
              <a:sym typeface="Kalam"/>
            </a:endParaRPr>
          </a:p>
        </p:txBody>
      </p:sp>
      <p:sp>
        <p:nvSpPr>
          <p:cNvPr id="254" name="Google Shape;254;p20"/>
          <p:cNvSpPr txBox="1"/>
          <p:nvPr/>
        </p:nvSpPr>
        <p:spPr>
          <a:xfrm>
            <a:off x="1539631" y="9120799"/>
            <a:ext cx="219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55" name="Google Shape;255;p20"/>
          <p:cNvSpPr txBox="1"/>
          <p:nvPr/>
        </p:nvSpPr>
        <p:spPr>
          <a:xfrm>
            <a:off x="1008955" y="9265470"/>
            <a:ext cx="465300" cy="1587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6 </a:t>
            </a:r>
            <a:endParaRPr sz="1200">
              <a:solidFill>
                <a:srgbClr val="000000"/>
              </a:solidFill>
              <a:latin typeface="Kalam"/>
              <a:ea typeface="Kalam"/>
              <a:cs typeface="Kalam"/>
              <a:sym typeface="Kalam"/>
            </a:endParaRPr>
          </a:p>
        </p:txBody>
      </p:sp>
      <p:sp>
        <p:nvSpPr>
          <p:cNvPr id="256" name="Google Shape;256;p20"/>
          <p:cNvSpPr txBox="1"/>
          <p:nvPr/>
        </p:nvSpPr>
        <p:spPr>
          <a:xfrm>
            <a:off x="1689681" y="9263839"/>
            <a:ext cx="1551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 </a:t>
            </a:r>
            <a:r>
              <a:rPr lang="en-GB" sz="1200">
                <a:solidFill>
                  <a:srgbClr val="000000"/>
                </a:solidFill>
                <a:latin typeface="Kalam"/>
                <a:ea typeface="Kalam"/>
                <a:cs typeface="Kalam"/>
                <a:sym typeface="Kalam"/>
              </a:rPr>
              <a:t>× </a:t>
            </a:r>
            <a:r>
              <a:rPr lang="en-GB" sz="1200">
                <a:latin typeface="Kalam"/>
                <a:ea typeface="Kalam"/>
                <a:cs typeface="Kalam"/>
                <a:sym typeface="Kalam"/>
              </a:rPr>
              <a:t>10</a:t>
            </a:r>
            <a:r>
              <a:rPr lang="en-GB" sz="1200" baseline="30000">
                <a:latin typeface="Kalam"/>
                <a:ea typeface="Kalam"/>
                <a:cs typeface="Kalam"/>
                <a:sym typeface="Kalam"/>
              </a:rPr>
              <a:t>5</a:t>
            </a:r>
            <a:endParaRPr sz="1200" baseline="30000">
              <a:solidFill>
                <a:srgbClr val="000000"/>
              </a:solidFill>
              <a:latin typeface="Kalam"/>
              <a:ea typeface="Kalam"/>
              <a:cs typeface="Kalam"/>
              <a:sym typeface="Kalam"/>
            </a:endParaRPr>
          </a:p>
        </p:txBody>
      </p:sp>
      <p:sp>
        <p:nvSpPr>
          <p:cNvPr id="257" name="Google Shape;257;p20"/>
          <p:cNvSpPr txBox="1"/>
          <p:nvPr/>
        </p:nvSpPr>
        <p:spPr>
          <a:xfrm>
            <a:off x="1539631" y="9263839"/>
            <a:ext cx="219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58" name="Google Shape;258;p20"/>
          <p:cNvSpPr txBox="1"/>
          <p:nvPr/>
        </p:nvSpPr>
        <p:spPr>
          <a:xfrm>
            <a:off x="1008955" y="9408510"/>
            <a:ext cx="465300" cy="158700"/>
          </a:xfrm>
          <a:prstGeom prst="rect">
            <a:avLst/>
          </a:prstGeom>
          <a:noFill/>
          <a:ln>
            <a:noFill/>
          </a:ln>
        </p:spPr>
        <p:txBody>
          <a:bodyPr spcFirstLastPara="1" wrap="square" lIns="0" tIns="0" rIns="0" bIns="0" anchor="t" anchorCtr="0">
            <a:noAutofit/>
          </a:bodyPr>
          <a:lstStyle/>
          <a:p>
            <a:pPr marL="0" lvl="0" indent="0" algn="r" rtl="0">
              <a:lnSpc>
                <a:spcPct val="115000"/>
              </a:lnSpc>
              <a:spcBef>
                <a:spcPct val="0"/>
              </a:spcBef>
              <a:spcAft>
                <a:spcPts val="1000"/>
              </a:spcAft>
              <a:buNone/>
            </a:pPr>
            <a:r>
              <a:rPr lang="en-GB" sz="1200">
                <a:latin typeface="Kalam"/>
                <a:ea typeface="Kalam"/>
                <a:cs typeface="Kalam"/>
                <a:sym typeface="Kalam"/>
              </a:rPr>
              <a:t>6 </a:t>
            </a:r>
            <a:endParaRPr sz="1200">
              <a:solidFill>
                <a:srgbClr val="000000"/>
              </a:solidFill>
              <a:latin typeface="Kalam"/>
              <a:ea typeface="Kalam"/>
              <a:cs typeface="Kalam"/>
              <a:sym typeface="Kalam"/>
            </a:endParaRPr>
          </a:p>
        </p:txBody>
      </p:sp>
      <p:sp>
        <p:nvSpPr>
          <p:cNvPr id="259" name="Google Shape;259;p20"/>
          <p:cNvSpPr txBox="1"/>
          <p:nvPr/>
        </p:nvSpPr>
        <p:spPr>
          <a:xfrm>
            <a:off x="1689681" y="9406879"/>
            <a:ext cx="1551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10</a:t>
            </a:r>
            <a:r>
              <a:rPr lang="en-GB" sz="1200" baseline="30000">
                <a:latin typeface="Kalam"/>
                <a:ea typeface="Kalam"/>
                <a:cs typeface="Kalam"/>
                <a:sym typeface="Kalam"/>
              </a:rPr>
              <a:t>6</a:t>
            </a:r>
            <a:endParaRPr sz="1200" baseline="30000">
              <a:solidFill>
                <a:srgbClr val="000000"/>
              </a:solidFill>
              <a:latin typeface="Kalam"/>
              <a:ea typeface="Kalam"/>
              <a:cs typeface="Kalam"/>
              <a:sym typeface="Kalam"/>
            </a:endParaRPr>
          </a:p>
        </p:txBody>
      </p:sp>
      <p:sp>
        <p:nvSpPr>
          <p:cNvPr id="260" name="Google Shape;260;p20"/>
          <p:cNvSpPr txBox="1"/>
          <p:nvPr/>
        </p:nvSpPr>
        <p:spPr>
          <a:xfrm>
            <a:off x="1539631" y="9406879"/>
            <a:ext cx="219600" cy="15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261" name="Google Shape;261;p20"/>
          <p:cNvSpPr txBox="1"/>
          <p:nvPr/>
        </p:nvSpPr>
        <p:spPr>
          <a:xfrm>
            <a:off x="2730200" y="8023500"/>
            <a:ext cx="109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5</a:t>
            </a:r>
            <a:endParaRPr sz="1200"/>
          </a:p>
        </p:txBody>
      </p:sp>
      <p:sp>
        <p:nvSpPr>
          <p:cNvPr id="262" name="Google Shape;262;p20"/>
          <p:cNvSpPr txBox="1"/>
          <p:nvPr/>
        </p:nvSpPr>
        <p:spPr>
          <a:xfrm>
            <a:off x="3441912" y="8023500"/>
            <a:ext cx="109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6</a:t>
            </a:r>
            <a:endParaRPr sz="1200"/>
          </a:p>
        </p:txBody>
      </p:sp>
      <p:sp>
        <p:nvSpPr>
          <p:cNvPr id="263" name="Google Shape;263;p20"/>
          <p:cNvSpPr txBox="1"/>
          <p:nvPr/>
        </p:nvSpPr>
        <p:spPr>
          <a:xfrm>
            <a:off x="520900" y="1408075"/>
            <a:ext cx="4863900" cy="2154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b="1">
                <a:latin typeface="Lexend"/>
                <a:ea typeface="Lexend"/>
                <a:cs typeface="Lexend"/>
                <a:sym typeface="Lexend"/>
              </a:rPr>
              <a:t>Task A: Using powers of 10 to simplify calculations  </a:t>
            </a:r>
            <a:endParaRPr b="1">
              <a:latin typeface="Lexend"/>
              <a:ea typeface="Lexend"/>
              <a:cs typeface="Lexend"/>
              <a:sym typeface="Lexend"/>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67" name="Shape 267"/>
        <p:cNvGrpSpPr/>
        <p:nvPr/>
      </p:nvGrpSpPr>
      <p:grpSpPr>
        <a:xfrm>
          <a:off x="0" y="0"/>
          <a:ext cx="0" cy="0"/>
        </a:xfrm>
      </p:grpSpPr>
      <p:sp>
        <p:nvSpPr>
          <p:cNvPr id="268" name="Google Shape;268;p21"/>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Changing compound interest rates</a:t>
            </a:r>
            <a:endParaRPr/>
          </a:p>
        </p:txBody>
      </p:sp>
      <p:sp>
        <p:nvSpPr>
          <p:cNvPr id="269" name="Google Shape;269;p21"/>
          <p:cNvSpPr txBox="1"/>
          <p:nvPr/>
        </p:nvSpPr>
        <p:spPr>
          <a:xfrm>
            <a:off x="966351" y="1848125"/>
            <a:ext cx="1734600" cy="456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E.g. 240 × 10</a:t>
            </a:r>
            <a:r>
              <a:rPr lang="en-GB" sz="1200" baseline="30000">
                <a:latin typeface="Kalam"/>
                <a:ea typeface="Kalam"/>
                <a:cs typeface="Kalam"/>
                <a:sym typeface="Kalam"/>
              </a:rPr>
              <a:t>2</a:t>
            </a:r>
            <a:r>
              <a:rPr lang="en-GB" sz="1200">
                <a:latin typeface="Kalam"/>
                <a:ea typeface="Kalam"/>
                <a:cs typeface="Kalam"/>
                <a:sym typeface="Kalam"/>
              </a:rPr>
              <a:t> </a:t>
            </a:r>
            <a:endParaRPr sz="1200">
              <a:solidFill>
                <a:srgbClr val="000000"/>
              </a:solidFill>
              <a:latin typeface="Kalam"/>
              <a:ea typeface="Kalam"/>
              <a:cs typeface="Kalam"/>
              <a:sym typeface="Kalam"/>
            </a:endParaRPr>
          </a:p>
        </p:txBody>
      </p:sp>
      <p:sp>
        <p:nvSpPr>
          <p:cNvPr id="270" name="Google Shape;270;p21"/>
          <p:cNvSpPr txBox="1"/>
          <p:nvPr/>
        </p:nvSpPr>
        <p:spPr>
          <a:xfrm>
            <a:off x="1188588" y="1093725"/>
            <a:ext cx="1734600" cy="456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E.g. 6 × 4 × 10</a:t>
            </a:r>
            <a:r>
              <a:rPr lang="en-GB" sz="1200" baseline="30000">
                <a:latin typeface="Kalam"/>
                <a:ea typeface="Kalam"/>
                <a:cs typeface="Kalam"/>
                <a:sym typeface="Kalam"/>
              </a:rPr>
              <a:t>3</a:t>
            </a:r>
            <a:r>
              <a:rPr lang="en-GB" sz="1200">
                <a:latin typeface="Kalam"/>
                <a:ea typeface="Kalam"/>
                <a:cs typeface="Kalam"/>
                <a:sym typeface="Kalam"/>
              </a:rPr>
              <a:t> </a:t>
            </a:r>
            <a:endParaRPr sz="1200">
              <a:solidFill>
                <a:srgbClr val="000000"/>
              </a:solidFill>
              <a:latin typeface="Kalam"/>
              <a:ea typeface="Kalam"/>
              <a:cs typeface="Kalam"/>
              <a:sym typeface="Kalam"/>
            </a:endParaRPr>
          </a:p>
        </p:txBody>
      </p:sp>
      <p:sp>
        <p:nvSpPr>
          <p:cNvPr id="271" name="Google Shape;271;p21"/>
          <p:cNvSpPr txBox="1"/>
          <p:nvPr/>
        </p:nvSpPr>
        <p:spPr>
          <a:xfrm>
            <a:off x="468000" y="606900"/>
            <a:ext cx="6422400" cy="492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4) Put a tick next to the calculations which are correct and create two of your own correct calculations using powers of 10.</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sz="1200">
              <a:solidFill>
                <a:srgbClr val="000000"/>
              </a:solidFill>
              <a:latin typeface="Lexend"/>
              <a:ea typeface="Lexend"/>
              <a:cs typeface="Lexend"/>
              <a:sym typeface="Lexend"/>
            </a:endParaRPr>
          </a:p>
        </p:txBody>
      </p:sp>
      <p:sp>
        <p:nvSpPr>
          <p:cNvPr id="272" name="Google Shape;272;p21"/>
          <p:cNvSpPr/>
          <p:nvPr/>
        </p:nvSpPr>
        <p:spPr>
          <a:xfrm>
            <a:off x="2808800" y="1695476"/>
            <a:ext cx="1623132" cy="492588"/>
          </a:xfrm>
          <a:prstGeom prst="cloud">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24 000</a:t>
            </a:r>
            <a:endParaRPr sz="1200">
              <a:latin typeface="Lexend"/>
              <a:ea typeface="Lexend"/>
              <a:cs typeface="Lexend"/>
              <a:sym typeface="Lexend"/>
            </a:endParaRPr>
          </a:p>
        </p:txBody>
      </p:sp>
      <p:cxnSp>
        <p:nvCxnSpPr>
          <p:cNvPr id="273" name="Google Shape;273;p21"/>
          <p:cNvCxnSpPr/>
          <p:nvPr/>
        </p:nvCxnSpPr>
        <p:spPr>
          <a:xfrm>
            <a:off x="2525179" y="1366425"/>
            <a:ext cx="695400" cy="363600"/>
          </a:xfrm>
          <a:prstGeom prst="straightConnector1">
            <a:avLst/>
          </a:prstGeom>
          <a:noFill/>
          <a:ln w="28575" cap="flat" cmpd="sng">
            <a:solidFill>
              <a:srgbClr val="000000"/>
            </a:solidFill>
            <a:prstDash val="solid"/>
            <a:round/>
            <a:headEnd type="none" w="med" len="med"/>
            <a:tailEnd type="none" w="med" len="med"/>
          </a:ln>
        </p:spPr>
      </p:cxnSp>
      <p:cxnSp>
        <p:nvCxnSpPr>
          <p:cNvPr id="274" name="Google Shape;274;p21"/>
          <p:cNvCxnSpPr/>
          <p:nvPr/>
        </p:nvCxnSpPr>
        <p:spPr>
          <a:xfrm rot="10800000" flipH="1">
            <a:off x="2068743" y="1929175"/>
            <a:ext cx="740100" cy="131700"/>
          </a:xfrm>
          <a:prstGeom prst="straightConnector1">
            <a:avLst/>
          </a:prstGeom>
          <a:noFill/>
          <a:ln w="28575" cap="flat" cmpd="sng">
            <a:solidFill>
              <a:srgbClr val="000000"/>
            </a:solidFill>
            <a:prstDash val="solid"/>
            <a:round/>
            <a:headEnd type="none" w="med" len="med"/>
            <a:tailEnd type="none" w="med" len="med"/>
          </a:ln>
        </p:spPr>
      </p:cxnSp>
      <p:cxnSp>
        <p:nvCxnSpPr>
          <p:cNvPr id="275" name="Google Shape;275;p21"/>
          <p:cNvCxnSpPr/>
          <p:nvPr/>
        </p:nvCxnSpPr>
        <p:spPr>
          <a:xfrm rot="10800000" flipH="1">
            <a:off x="2476767" y="2118025"/>
            <a:ext cx="630900" cy="533400"/>
          </a:xfrm>
          <a:prstGeom prst="straightConnector1">
            <a:avLst/>
          </a:prstGeom>
          <a:noFill/>
          <a:ln w="28575" cap="flat" cmpd="sng">
            <a:solidFill>
              <a:srgbClr val="000000"/>
            </a:solidFill>
            <a:prstDash val="solid"/>
            <a:round/>
            <a:headEnd type="none" w="med" len="med"/>
            <a:tailEnd type="none" w="med" len="med"/>
          </a:ln>
        </p:spPr>
      </p:cxnSp>
      <p:cxnSp>
        <p:nvCxnSpPr>
          <p:cNvPr id="276" name="Google Shape;276;p21"/>
          <p:cNvCxnSpPr/>
          <p:nvPr/>
        </p:nvCxnSpPr>
        <p:spPr>
          <a:xfrm rot="10800000">
            <a:off x="3882166" y="2103575"/>
            <a:ext cx="71100" cy="459000"/>
          </a:xfrm>
          <a:prstGeom prst="straightConnector1">
            <a:avLst/>
          </a:prstGeom>
          <a:noFill/>
          <a:ln w="28575" cap="flat" cmpd="sng">
            <a:solidFill>
              <a:srgbClr val="000000"/>
            </a:solidFill>
            <a:prstDash val="solid"/>
            <a:round/>
            <a:headEnd type="none" w="med" len="med"/>
            <a:tailEnd type="none" w="med" len="med"/>
          </a:ln>
        </p:spPr>
      </p:cxnSp>
      <p:cxnSp>
        <p:nvCxnSpPr>
          <p:cNvPr id="277" name="Google Shape;277;p21"/>
          <p:cNvCxnSpPr/>
          <p:nvPr/>
        </p:nvCxnSpPr>
        <p:spPr>
          <a:xfrm rot="10800000">
            <a:off x="4288626" y="2003725"/>
            <a:ext cx="454800" cy="359100"/>
          </a:xfrm>
          <a:prstGeom prst="straightConnector1">
            <a:avLst/>
          </a:prstGeom>
          <a:noFill/>
          <a:ln w="28575" cap="flat" cmpd="sng">
            <a:solidFill>
              <a:srgbClr val="000000"/>
            </a:solidFill>
            <a:prstDash val="solid"/>
            <a:round/>
            <a:headEnd type="none" w="med" len="med"/>
            <a:tailEnd type="none" w="med" len="med"/>
          </a:ln>
        </p:spPr>
      </p:cxnSp>
      <p:cxnSp>
        <p:nvCxnSpPr>
          <p:cNvPr id="278" name="Google Shape;278;p21"/>
          <p:cNvCxnSpPr/>
          <p:nvPr/>
        </p:nvCxnSpPr>
        <p:spPr>
          <a:xfrm flipH="1">
            <a:off x="4393913" y="1596750"/>
            <a:ext cx="666300" cy="234900"/>
          </a:xfrm>
          <a:prstGeom prst="straightConnector1">
            <a:avLst/>
          </a:prstGeom>
          <a:noFill/>
          <a:ln w="28575" cap="flat" cmpd="sng">
            <a:solidFill>
              <a:srgbClr val="000000"/>
            </a:solidFill>
            <a:prstDash val="solid"/>
            <a:round/>
            <a:headEnd type="none" w="med" len="med"/>
            <a:tailEnd type="none" w="med" len="med"/>
          </a:ln>
        </p:spPr>
      </p:cxnSp>
      <p:cxnSp>
        <p:nvCxnSpPr>
          <p:cNvPr id="279" name="Google Shape;279;p21"/>
          <p:cNvCxnSpPr/>
          <p:nvPr/>
        </p:nvCxnSpPr>
        <p:spPr>
          <a:xfrm flipH="1">
            <a:off x="3844193" y="1234800"/>
            <a:ext cx="241800" cy="456600"/>
          </a:xfrm>
          <a:prstGeom prst="straightConnector1">
            <a:avLst/>
          </a:prstGeom>
          <a:noFill/>
          <a:ln w="28575" cap="flat" cmpd="sng">
            <a:solidFill>
              <a:srgbClr val="000000"/>
            </a:solidFill>
            <a:prstDash val="solid"/>
            <a:round/>
            <a:headEnd type="none" w="med" len="med"/>
            <a:tailEnd type="none" w="med" len="med"/>
          </a:ln>
        </p:spPr>
      </p:cxnSp>
      <p:sp>
        <p:nvSpPr>
          <p:cNvPr id="280" name="Google Shape;280;p21"/>
          <p:cNvSpPr txBox="1"/>
          <p:nvPr/>
        </p:nvSpPr>
        <p:spPr>
          <a:xfrm>
            <a:off x="3879176" y="890650"/>
            <a:ext cx="13059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240 × 10 </a:t>
            </a:r>
            <a:endParaRPr sz="1200"/>
          </a:p>
        </p:txBody>
      </p:sp>
      <p:sp>
        <p:nvSpPr>
          <p:cNvPr id="281" name="Google Shape;281;p21"/>
          <p:cNvSpPr txBox="1"/>
          <p:nvPr/>
        </p:nvSpPr>
        <p:spPr>
          <a:xfrm>
            <a:off x="5098313" y="1424700"/>
            <a:ext cx="13059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24 × 10</a:t>
            </a:r>
            <a:r>
              <a:rPr lang="en-GB" sz="1200" baseline="30000">
                <a:solidFill>
                  <a:srgbClr val="000000"/>
                </a:solidFill>
                <a:latin typeface="Lexend"/>
                <a:ea typeface="Lexend"/>
                <a:cs typeface="Lexend"/>
                <a:sym typeface="Lexend"/>
              </a:rPr>
              <a:t>3</a:t>
            </a:r>
            <a:r>
              <a:rPr lang="en-GB" sz="1200">
                <a:solidFill>
                  <a:srgbClr val="000000"/>
                </a:solidFill>
                <a:latin typeface="Lexend"/>
                <a:ea typeface="Lexend"/>
                <a:cs typeface="Lexend"/>
                <a:sym typeface="Lexend"/>
              </a:rPr>
              <a:t> </a:t>
            </a:r>
            <a:endParaRPr sz="1200"/>
          </a:p>
        </p:txBody>
      </p:sp>
      <p:sp>
        <p:nvSpPr>
          <p:cNvPr id="282" name="Google Shape;282;p21"/>
          <p:cNvSpPr txBox="1"/>
          <p:nvPr/>
        </p:nvSpPr>
        <p:spPr>
          <a:xfrm>
            <a:off x="4591026" y="2349325"/>
            <a:ext cx="13059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2.4 × 10</a:t>
            </a:r>
            <a:r>
              <a:rPr lang="en-GB" sz="1200" baseline="30000">
                <a:solidFill>
                  <a:srgbClr val="000000"/>
                </a:solidFill>
                <a:latin typeface="Lexend"/>
                <a:ea typeface="Lexend"/>
                <a:cs typeface="Lexend"/>
                <a:sym typeface="Lexend"/>
              </a:rPr>
              <a:t>4</a:t>
            </a:r>
            <a:r>
              <a:rPr lang="en-GB" sz="1200">
                <a:solidFill>
                  <a:srgbClr val="000000"/>
                </a:solidFill>
                <a:latin typeface="Lexend"/>
                <a:ea typeface="Lexend"/>
                <a:cs typeface="Lexend"/>
                <a:sym typeface="Lexend"/>
              </a:rPr>
              <a:t> </a:t>
            </a:r>
            <a:endParaRPr sz="1200"/>
          </a:p>
        </p:txBody>
      </p:sp>
      <p:sp>
        <p:nvSpPr>
          <p:cNvPr id="283" name="Google Shape;283;p21"/>
          <p:cNvSpPr txBox="1"/>
          <p:nvPr/>
        </p:nvSpPr>
        <p:spPr>
          <a:xfrm>
            <a:off x="3514005" y="2463200"/>
            <a:ext cx="13059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8 × 3 × 10</a:t>
            </a:r>
            <a:r>
              <a:rPr lang="en-GB" sz="1200" baseline="30000">
                <a:solidFill>
                  <a:srgbClr val="000000"/>
                </a:solidFill>
                <a:latin typeface="Lexend"/>
                <a:ea typeface="Lexend"/>
                <a:cs typeface="Lexend"/>
                <a:sym typeface="Lexend"/>
              </a:rPr>
              <a:t>3</a:t>
            </a:r>
            <a:r>
              <a:rPr lang="en-GB" sz="1200">
                <a:solidFill>
                  <a:srgbClr val="000000"/>
                </a:solidFill>
                <a:latin typeface="Lexend"/>
                <a:ea typeface="Lexend"/>
                <a:cs typeface="Lexend"/>
                <a:sym typeface="Lexend"/>
              </a:rPr>
              <a:t> </a:t>
            </a:r>
            <a:endParaRPr sz="1200"/>
          </a:p>
        </p:txBody>
      </p:sp>
      <p:sp>
        <p:nvSpPr>
          <p:cNvPr id="284" name="Google Shape;284;p21"/>
          <p:cNvSpPr txBox="1"/>
          <p:nvPr/>
        </p:nvSpPr>
        <p:spPr>
          <a:xfrm>
            <a:off x="1785960" y="2592125"/>
            <a:ext cx="13059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12 × 2 × 10</a:t>
            </a:r>
            <a:r>
              <a:rPr lang="en-GB" sz="1200" baseline="30000">
                <a:solidFill>
                  <a:srgbClr val="000000"/>
                </a:solidFill>
                <a:latin typeface="Lexend"/>
                <a:ea typeface="Lexend"/>
                <a:cs typeface="Lexend"/>
                <a:sym typeface="Lexend"/>
              </a:rPr>
              <a:t>3</a:t>
            </a:r>
            <a:r>
              <a:rPr lang="en-GB" sz="1200">
                <a:solidFill>
                  <a:srgbClr val="000000"/>
                </a:solidFill>
                <a:latin typeface="Lexend"/>
                <a:ea typeface="Lexend"/>
                <a:cs typeface="Lexend"/>
                <a:sym typeface="Lexend"/>
              </a:rPr>
              <a:t> </a:t>
            </a:r>
            <a:endParaRPr sz="1200"/>
          </a:p>
        </p:txBody>
      </p:sp>
      <p:sp>
        <p:nvSpPr>
          <p:cNvPr id="285" name="Google Shape;285;p21"/>
          <p:cNvSpPr txBox="1"/>
          <p:nvPr/>
        </p:nvSpPr>
        <p:spPr>
          <a:xfrm>
            <a:off x="836858" y="1841100"/>
            <a:ext cx="1418100" cy="49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ts val="1000"/>
              </a:spcAft>
              <a:buNone/>
            </a:pPr>
            <a:r>
              <a:rPr lang="en-GB" sz="2000" baseline="30000">
                <a:solidFill>
                  <a:srgbClr val="000000"/>
                </a:solidFill>
                <a:latin typeface="Lexend"/>
                <a:ea typeface="Lexend"/>
                <a:cs typeface="Lexend"/>
                <a:sym typeface="Lexend"/>
              </a:rPr>
              <a:t>___________</a:t>
            </a:r>
            <a:endParaRPr/>
          </a:p>
        </p:txBody>
      </p:sp>
      <p:sp>
        <p:nvSpPr>
          <p:cNvPr id="286" name="Google Shape;286;p21"/>
          <p:cNvSpPr txBox="1"/>
          <p:nvPr/>
        </p:nvSpPr>
        <p:spPr>
          <a:xfrm>
            <a:off x="1048322" y="1090075"/>
            <a:ext cx="1418100" cy="49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ts val="1000"/>
              </a:spcAft>
              <a:buNone/>
            </a:pPr>
            <a:r>
              <a:rPr lang="en-GB" sz="2000" baseline="30000">
                <a:solidFill>
                  <a:srgbClr val="000000"/>
                </a:solidFill>
                <a:latin typeface="Lexend"/>
                <a:ea typeface="Lexend"/>
                <a:cs typeface="Lexend"/>
                <a:sym typeface="Lexend"/>
              </a:rPr>
              <a:t>___________</a:t>
            </a:r>
            <a:r>
              <a:rPr lang="en-GB" sz="2000">
                <a:solidFill>
                  <a:srgbClr val="000000"/>
                </a:solidFill>
                <a:latin typeface="Lexend"/>
                <a:ea typeface="Lexend"/>
                <a:cs typeface="Lexend"/>
                <a:sym typeface="Lexend"/>
              </a:rPr>
              <a:t> </a:t>
            </a:r>
            <a:endParaRPr/>
          </a:p>
        </p:txBody>
      </p:sp>
      <p:sp>
        <p:nvSpPr>
          <p:cNvPr id="287" name="Google Shape;287;p21"/>
          <p:cNvSpPr txBox="1"/>
          <p:nvPr/>
        </p:nvSpPr>
        <p:spPr>
          <a:xfrm>
            <a:off x="6000869" y="1238850"/>
            <a:ext cx="1091100" cy="1892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There are an infinite number. Just ensure your </a:t>
            </a:r>
            <a:r>
              <a:rPr lang="en-GB" sz="1200">
                <a:solidFill>
                  <a:srgbClr val="000000"/>
                </a:solidFill>
                <a:latin typeface="Kalam"/>
                <a:ea typeface="Kalam"/>
                <a:cs typeface="Kalam"/>
                <a:sym typeface="Kalam"/>
              </a:rPr>
              <a:t>calculation</a:t>
            </a:r>
            <a:r>
              <a:rPr lang="en-GB" sz="1200">
                <a:latin typeface="Kalam"/>
                <a:ea typeface="Kalam"/>
                <a:cs typeface="Kalam"/>
                <a:sym typeface="Kalam"/>
              </a:rPr>
              <a:t> equals 24 000</a:t>
            </a:r>
            <a:endParaRPr sz="1200">
              <a:solidFill>
                <a:srgbClr val="000000"/>
              </a:solidFill>
              <a:latin typeface="Kalam"/>
              <a:ea typeface="Kalam"/>
              <a:cs typeface="Kalam"/>
              <a:sym typeface="Kalam"/>
            </a:endParaRPr>
          </a:p>
        </p:txBody>
      </p:sp>
      <p:pic>
        <p:nvPicPr>
          <p:cNvPr id="288" name="Google Shape;288;p21"/>
          <p:cNvPicPr preferRelativeResize="0"/>
          <p:nvPr/>
        </p:nvPicPr>
        <p:blipFill>
          <a:blip r:embed="rId3">
            <a:alphaModFix/>
          </a:blip>
          <a:stretch>
            <a:fillRect/>
          </a:stretch>
        </p:blipFill>
        <p:spPr>
          <a:xfrm>
            <a:off x="5680116" y="1169480"/>
            <a:ext cx="256450" cy="348104"/>
          </a:xfrm>
          <a:prstGeom prst="rect">
            <a:avLst/>
          </a:prstGeom>
          <a:noFill/>
          <a:ln>
            <a:noFill/>
          </a:ln>
        </p:spPr>
      </p:pic>
      <p:pic>
        <p:nvPicPr>
          <p:cNvPr id="289" name="Google Shape;289;p21"/>
          <p:cNvPicPr preferRelativeResize="0"/>
          <p:nvPr/>
        </p:nvPicPr>
        <p:blipFill>
          <a:blip r:embed="rId3">
            <a:alphaModFix/>
          </a:blip>
          <a:stretch>
            <a:fillRect/>
          </a:stretch>
        </p:blipFill>
        <p:spPr>
          <a:xfrm>
            <a:off x="5371447" y="2341081"/>
            <a:ext cx="256450" cy="348104"/>
          </a:xfrm>
          <a:prstGeom prst="rect">
            <a:avLst/>
          </a:prstGeom>
          <a:noFill/>
          <a:ln>
            <a:noFill/>
          </a:ln>
        </p:spPr>
      </p:pic>
      <p:pic>
        <p:nvPicPr>
          <p:cNvPr id="290" name="Google Shape;290;p21"/>
          <p:cNvPicPr preferRelativeResize="0"/>
          <p:nvPr/>
        </p:nvPicPr>
        <p:blipFill>
          <a:blip r:embed="rId3">
            <a:alphaModFix/>
          </a:blip>
          <a:stretch>
            <a:fillRect/>
          </a:stretch>
        </p:blipFill>
        <p:spPr>
          <a:xfrm>
            <a:off x="4262370" y="2603780"/>
            <a:ext cx="256450" cy="348104"/>
          </a:xfrm>
          <a:prstGeom prst="rect">
            <a:avLst/>
          </a:prstGeom>
          <a:noFill/>
          <a:ln>
            <a:noFill/>
          </a:ln>
        </p:spPr>
      </p:pic>
      <p:pic>
        <p:nvPicPr>
          <p:cNvPr id="291" name="Google Shape;291;p21"/>
          <p:cNvPicPr preferRelativeResize="0"/>
          <p:nvPr/>
        </p:nvPicPr>
        <p:blipFill>
          <a:blip r:embed="rId3">
            <a:alphaModFix/>
          </a:blip>
          <a:stretch>
            <a:fillRect/>
          </a:stretch>
        </p:blipFill>
        <p:spPr>
          <a:xfrm>
            <a:off x="2777764" y="2548655"/>
            <a:ext cx="256450" cy="348104"/>
          </a:xfrm>
          <a:prstGeom prst="rect">
            <a:avLst/>
          </a:prstGeom>
          <a:noFill/>
          <a:ln>
            <a:noFill/>
          </a:ln>
        </p:spPr>
      </p:pic>
      <p:cxnSp>
        <p:nvCxnSpPr>
          <p:cNvPr id="292" name="Google Shape;292;p21"/>
          <p:cNvCxnSpPr/>
          <p:nvPr/>
        </p:nvCxnSpPr>
        <p:spPr>
          <a:xfrm>
            <a:off x="474757" y="3190188"/>
            <a:ext cx="6610500" cy="0"/>
          </a:xfrm>
          <a:prstGeom prst="straightConnector1">
            <a:avLst/>
          </a:prstGeom>
          <a:noFill/>
          <a:ln w="38100" cap="flat" cmpd="sng">
            <a:solidFill>
              <a:srgbClr val="000000"/>
            </a:solidFill>
            <a:prstDash val="solid"/>
            <a:round/>
            <a:headEnd type="none" w="med" len="med"/>
            <a:tailEnd type="none" w="med" len="med"/>
          </a:ln>
        </p:spPr>
      </p:cxnSp>
      <p:sp>
        <p:nvSpPr>
          <p:cNvPr id="293" name="Google Shape;293;p21"/>
          <p:cNvSpPr txBox="1"/>
          <p:nvPr/>
        </p:nvSpPr>
        <p:spPr>
          <a:xfrm>
            <a:off x="520900" y="3236875"/>
            <a:ext cx="5725200" cy="2154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b="1">
                <a:latin typeface="Lexend"/>
                <a:ea typeface="Lexend"/>
                <a:cs typeface="Lexend"/>
                <a:sym typeface="Lexend"/>
              </a:rPr>
              <a:t>TASK B:  Using equivalent fractions to simplify calculations</a:t>
            </a:r>
            <a:endParaRPr b="1">
              <a:latin typeface="Lexend"/>
              <a:ea typeface="Lexend"/>
              <a:cs typeface="Lexend"/>
              <a:sym typeface="Lexend"/>
            </a:endParaRPr>
          </a:p>
        </p:txBody>
      </p:sp>
      <p:sp>
        <p:nvSpPr>
          <p:cNvPr id="294" name="Google Shape;294;p21"/>
          <p:cNvSpPr txBox="1"/>
          <p:nvPr/>
        </p:nvSpPr>
        <p:spPr>
          <a:xfrm>
            <a:off x="490225" y="3477000"/>
            <a:ext cx="3649800" cy="2154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latin typeface="Lexend"/>
                <a:ea typeface="Lexend"/>
                <a:cs typeface="Lexend"/>
                <a:sym typeface="Lexend"/>
              </a:rPr>
              <a:t>1) Identify the equivalent calculations to 3.4 × 9.3  </a:t>
            </a:r>
            <a:endParaRPr sz="1200">
              <a:solidFill>
                <a:srgbClr val="000000"/>
              </a:solidFill>
              <a:latin typeface="Lexend"/>
              <a:ea typeface="Lexend"/>
              <a:cs typeface="Lexend"/>
              <a:sym typeface="Lexend"/>
            </a:endParaRPr>
          </a:p>
        </p:txBody>
      </p:sp>
      <p:grpSp>
        <p:nvGrpSpPr>
          <p:cNvPr id="295" name="Google Shape;295;p21"/>
          <p:cNvGrpSpPr/>
          <p:nvPr/>
        </p:nvGrpSpPr>
        <p:grpSpPr>
          <a:xfrm>
            <a:off x="754118" y="3790571"/>
            <a:ext cx="259872" cy="259872"/>
            <a:chOff x="1020916" y="1442088"/>
            <a:chExt cx="457200" cy="457200"/>
          </a:xfrm>
        </p:grpSpPr>
        <p:pic>
          <p:nvPicPr>
            <p:cNvPr id="296" name="Google Shape;296;p2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7" name="Google Shape;297;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298" name="Google Shape;298;p21"/>
          <p:cNvGrpSpPr/>
          <p:nvPr/>
        </p:nvGrpSpPr>
        <p:grpSpPr>
          <a:xfrm>
            <a:off x="754118" y="4199445"/>
            <a:ext cx="259872" cy="259872"/>
            <a:chOff x="1020916" y="1442088"/>
            <a:chExt cx="457200" cy="457200"/>
          </a:xfrm>
        </p:grpSpPr>
        <p:pic>
          <p:nvPicPr>
            <p:cNvPr id="299" name="Google Shape;299;p2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00" name="Google Shape;300;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301" name="Google Shape;301;p21"/>
          <p:cNvGrpSpPr/>
          <p:nvPr/>
        </p:nvGrpSpPr>
        <p:grpSpPr>
          <a:xfrm>
            <a:off x="754118" y="4608319"/>
            <a:ext cx="259872" cy="259872"/>
            <a:chOff x="1020916" y="1442088"/>
            <a:chExt cx="457200" cy="457200"/>
          </a:xfrm>
        </p:grpSpPr>
        <p:pic>
          <p:nvPicPr>
            <p:cNvPr id="302" name="Google Shape;302;p2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03" name="Google Shape;303;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304" name="Google Shape;304;p21"/>
          <p:cNvGrpSpPr/>
          <p:nvPr/>
        </p:nvGrpSpPr>
        <p:grpSpPr>
          <a:xfrm>
            <a:off x="754118" y="5017193"/>
            <a:ext cx="259872" cy="259872"/>
            <a:chOff x="1020916" y="1442088"/>
            <a:chExt cx="457200" cy="457200"/>
          </a:xfrm>
        </p:grpSpPr>
        <p:pic>
          <p:nvPicPr>
            <p:cNvPr id="305" name="Google Shape;305;p2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06" name="Google Shape;306;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grpSp>
        <p:nvGrpSpPr>
          <p:cNvPr id="307" name="Google Shape;307;p21"/>
          <p:cNvGrpSpPr/>
          <p:nvPr/>
        </p:nvGrpSpPr>
        <p:grpSpPr>
          <a:xfrm>
            <a:off x="754118" y="5426067"/>
            <a:ext cx="259872" cy="259872"/>
            <a:chOff x="1020916" y="1442088"/>
            <a:chExt cx="457200" cy="457200"/>
          </a:xfrm>
        </p:grpSpPr>
        <p:pic>
          <p:nvPicPr>
            <p:cNvPr id="308" name="Google Shape;308;p2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09" name="Google Shape;309;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e</a:t>
              </a:r>
              <a:endParaRPr sz="1800" b="1">
                <a:solidFill>
                  <a:srgbClr val="FFFFFF"/>
                </a:solidFill>
                <a:latin typeface="Lexend"/>
                <a:ea typeface="Lexend"/>
                <a:cs typeface="Lexend"/>
                <a:sym typeface="Lexend"/>
              </a:endParaRPr>
            </a:p>
          </p:txBody>
        </p:sp>
      </p:grpSp>
      <p:pic>
        <p:nvPicPr>
          <p:cNvPr id="310" name="Google Shape;310;p21"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a:blip r:embed="rId5">
            <a:alphaModFix/>
          </a:blip>
          <a:srcRect r="73627"/>
          <a:stretch>
            <a:fillRect/>
          </a:stretch>
        </p:blipFill>
        <p:spPr>
          <a:xfrm>
            <a:off x="1150686" y="3725800"/>
            <a:ext cx="958934" cy="330343"/>
          </a:xfrm>
          <a:prstGeom prst="rect">
            <a:avLst/>
          </a:prstGeom>
          <a:noFill/>
          <a:ln>
            <a:noFill/>
          </a:ln>
        </p:spPr>
      </p:pic>
      <p:pic>
        <p:nvPicPr>
          <p:cNvPr id="311" name="Google Shape;311;p21"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a:blip r:embed="rId5">
            <a:alphaModFix/>
          </a:blip>
          <a:srcRect l="27190" r="46437"/>
          <a:stretch>
            <a:fillRect/>
          </a:stretch>
        </p:blipFill>
        <p:spPr>
          <a:xfrm>
            <a:off x="1116708" y="4156173"/>
            <a:ext cx="958934" cy="330343"/>
          </a:xfrm>
          <a:prstGeom prst="rect">
            <a:avLst/>
          </a:prstGeom>
          <a:noFill/>
          <a:ln>
            <a:noFill/>
          </a:ln>
        </p:spPr>
      </p:pic>
      <p:pic>
        <p:nvPicPr>
          <p:cNvPr id="312" name="Google Shape;312;p21"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a:blip r:embed="rId5">
            <a:alphaModFix/>
          </a:blip>
          <a:srcRect l="54380" r="29982"/>
          <a:stretch>
            <a:fillRect/>
          </a:stretch>
        </p:blipFill>
        <p:spPr>
          <a:xfrm>
            <a:off x="1150686" y="4586546"/>
            <a:ext cx="568538" cy="330329"/>
          </a:xfrm>
          <a:prstGeom prst="rect">
            <a:avLst/>
          </a:prstGeom>
          <a:noFill/>
          <a:ln>
            <a:noFill/>
          </a:ln>
        </p:spPr>
      </p:pic>
      <p:pic>
        <p:nvPicPr>
          <p:cNvPr id="313" name="Google Shape;313;p21"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a:blip r:embed="rId5">
            <a:alphaModFix/>
          </a:blip>
          <a:srcRect l="71437" r="14326"/>
          <a:stretch>
            <a:fillRect/>
          </a:stretch>
        </p:blipFill>
        <p:spPr>
          <a:xfrm>
            <a:off x="1150686" y="4996924"/>
            <a:ext cx="517638" cy="330337"/>
          </a:xfrm>
          <a:prstGeom prst="rect">
            <a:avLst/>
          </a:prstGeom>
          <a:noFill/>
          <a:ln>
            <a:noFill/>
          </a:ln>
        </p:spPr>
      </p:pic>
      <p:pic>
        <p:nvPicPr>
          <p:cNvPr id="314" name="Google Shape;314;p21"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a:blip r:embed="rId5">
            <a:alphaModFix/>
          </a:blip>
          <a:srcRect l="86839" r="-1076"/>
          <a:stretch>
            <a:fillRect/>
          </a:stretch>
        </p:blipFill>
        <p:spPr>
          <a:xfrm>
            <a:off x="1179819" y="5407303"/>
            <a:ext cx="517638" cy="330329"/>
          </a:xfrm>
          <a:prstGeom prst="rect">
            <a:avLst/>
          </a:prstGeom>
          <a:noFill/>
          <a:ln>
            <a:noFill/>
          </a:ln>
        </p:spPr>
      </p:pic>
      <p:pic>
        <p:nvPicPr>
          <p:cNvPr id="315" name="Google Shape;315;p21"/>
          <p:cNvPicPr preferRelativeResize="0"/>
          <p:nvPr/>
        </p:nvPicPr>
        <p:blipFill>
          <a:blip r:embed="rId3">
            <a:alphaModFix/>
          </a:blip>
          <a:stretch>
            <a:fillRect/>
          </a:stretch>
        </p:blipFill>
        <p:spPr>
          <a:xfrm>
            <a:off x="2152174" y="3750086"/>
            <a:ext cx="225097" cy="238229"/>
          </a:xfrm>
          <a:prstGeom prst="rect">
            <a:avLst/>
          </a:prstGeom>
          <a:noFill/>
          <a:ln>
            <a:noFill/>
          </a:ln>
        </p:spPr>
      </p:pic>
      <p:pic>
        <p:nvPicPr>
          <p:cNvPr id="316" name="Google Shape;316;p21"/>
          <p:cNvPicPr preferRelativeResize="0"/>
          <p:nvPr/>
        </p:nvPicPr>
        <p:blipFill>
          <a:blip r:embed="rId3">
            <a:alphaModFix/>
          </a:blip>
          <a:stretch>
            <a:fillRect/>
          </a:stretch>
        </p:blipFill>
        <p:spPr>
          <a:xfrm>
            <a:off x="2075649" y="4210316"/>
            <a:ext cx="225097" cy="238229"/>
          </a:xfrm>
          <a:prstGeom prst="rect">
            <a:avLst/>
          </a:prstGeom>
          <a:noFill/>
          <a:ln>
            <a:noFill/>
          </a:ln>
        </p:spPr>
      </p:pic>
      <p:pic>
        <p:nvPicPr>
          <p:cNvPr id="317" name="Google Shape;317;p21"/>
          <p:cNvPicPr preferRelativeResize="0"/>
          <p:nvPr/>
        </p:nvPicPr>
        <p:blipFill>
          <a:blip r:embed="rId3">
            <a:alphaModFix/>
          </a:blip>
          <a:stretch>
            <a:fillRect/>
          </a:stretch>
        </p:blipFill>
        <p:spPr>
          <a:xfrm>
            <a:off x="1749472" y="4586546"/>
            <a:ext cx="225097" cy="238229"/>
          </a:xfrm>
          <a:prstGeom prst="rect">
            <a:avLst/>
          </a:prstGeom>
          <a:noFill/>
          <a:ln>
            <a:noFill/>
          </a:ln>
        </p:spPr>
      </p:pic>
      <p:pic>
        <p:nvPicPr>
          <p:cNvPr id="318" name="Google Shape;318;p21"/>
          <p:cNvPicPr preferRelativeResize="0"/>
          <p:nvPr/>
        </p:nvPicPr>
        <p:blipFill>
          <a:blip r:embed="rId3">
            <a:alphaModFix/>
          </a:blip>
          <a:stretch>
            <a:fillRect/>
          </a:stretch>
        </p:blipFill>
        <p:spPr>
          <a:xfrm>
            <a:off x="1719231" y="5436946"/>
            <a:ext cx="225097" cy="238229"/>
          </a:xfrm>
          <a:prstGeom prst="rect">
            <a:avLst/>
          </a:prstGeom>
          <a:noFill/>
          <a:ln>
            <a:noFill/>
          </a:ln>
        </p:spPr>
      </p:pic>
      <p:sp>
        <p:nvSpPr>
          <p:cNvPr id="319" name="Google Shape;319;p21"/>
          <p:cNvSpPr txBox="1"/>
          <p:nvPr/>
        </p:nvSpPr>
        <p:spPr>
          <a:xfrm>
            <a:off x="474750" y="5839200"/>
            <a:ext cx="6610500" cy="2154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latin typeface="Lexend"/>
                <a:ea typeface="Lexend"/>
                <a:cs typeface="Lexend"/>
                <a:sym typeface="Lexend"/>
              </a:rPr>
              <a:t>2) Identify the equivalent calculations to 0.4 × 3.8  </a:t>
            </a:r>
            <a:endParaRPr sz="1200">
              <a:solidFill>
                <a:srgbClr val="000000"/>
              </a:solidFill>
              <a:latin typeface="Lexend"/>
              <a:ea typeface="Lexend"/>
              <a:cs typeface="Lexend"/>
              <a:sym typeface="Lexend"/>
            </a:endParaRPr>
          </a:p>
        </p:txBody>
      </p:sp>
      <p:grpSp>
        <p:nvGrpSpPr>
          <p:cNvPr id="320" name="Google Shape;320;p21"/>
          <p:cNvGrpSpPr/>
          <p:nvPr/>
        </p:nvGrpSpPr>
        <p:grpSpPr>
          <a:xfrm>
            <a:off x="721372" y="6059599"/>
            <a:ext cx="234498" cy="234498"/>
            <a:chOff x="1020916" y="1442088"/>
            <a:chExt cx="457200" cy="457200"/>
          </a:xfrm>
        </p:grpSpPr>
        <p:pic>
          <p:nvPicPr>
            <p:cNvPr id="321" name="Google Shape;321;p2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2" name="Google Shape;322;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323" name="Google Shape;323;p21"/>
          <p:cNvGrpSpPr/>
          <p:nvPr/>
        </p:nvGrpSpPr>
        <p:grpSpPr>
          <a:xfrm>
            <a:off x="721372" y="6428531"/>
            <a:ext cx="234498" cy="234498"/>
            <a:chOff x="1020916" y="1442088"/>
            <a:chExt cx="457200" cy="457200"/>
          </a:xfrm>
        </p:grpSpPr>
        <p:pic>
          <p:nvPicPr>
            <p:cNvPr id="324" name="Google Shape;324;p2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5" name="Google Shape;325;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326" name="Google Shape;326;p21"/>
          <p:cNvGrpSpPr/>
          <p:nvPr/>
        </p:nvGrpSpPr>
        <p:grpSpPr>
          <a:xfrm>
            <a:off x="721372" y="6797463"/>
            <a:ext cx="234498" cy="234498"/>
            <a:chOff x="1020916" y="1442088"/>
            <a:chExt cx="457200" cy="457200"/>
          </a:xfrm>
        </p:grpSpPr>
        <p:pic>
          <p:nvPicPr>
            <p:cNvPr id="327" name="Google Shape;327;p2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8" name="Google Shape;328;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329" name="Google Shape;329;p21"/>
          <p:cNvGrpSpPr/>
          <p:nvPr/>
        </p:nvGrpSpPr>
        <p:grpSpPr>
          <a:xfrm>
            <a:off x="721372" y="7166395"/>
            <a:ext cx="234498" cy="234498"/>
            <a:chOff x="1020916" y="1442088"/>
            <a:chExt cx="457200" cy="457200"/>
          </a:xfrm>
        </p:grpSpPr>
        <p:pic>
          <p:nvPicPr>
            <p:cNvPr id="330" name="Google Shape;330;p2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31" name="Google Shape;331;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grpSp>
        <p:nvGrpSpPr>
          <p:cNvPr id="332" name="Google Shape;332;p21"/>
          <p:cNvGrpSpPr/>
          <p:nvPr/>
        </p:nvGrpSpPr>
        <p:grpSpPr>
          <a:xfrm>
            <a:off x="721372" y="7535327"/>
            <a:ext cx="234498" cy="234498"/>
            <a:chOff x="1020916" y="1442088"/>
            <a:chExt cx="457200" cy="457200"/>
          </a:xfrm>
        </p:grpSpPr>
        <p:pic>
          <p:nvPicPr>
            <p:cNvPr id="333" name="Google Shape;333;p2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34" name="Google Shape;334;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e</a:t>
              </a:r>
              <a:endParaRPr sz="1800" b="1">
                <a:solidFill>
                  <a:srgbClr val="FFFFFF"/>
                </a:solidFill>
                <a:latin typeface="Lexend"/>
                <a:ea typeface="Lexend"/>
                <a:cs typeface="Lexend"/>
                <a:sym typeface="Lexend"/>
              </a:endParaRPr>
            </a:p>
          </p:txBody>
        </p:sp>
      </p:grpSp>
      <p:pic>
        <p:nvPicPr>
          <p:cNvPr id="335" name="Google Shape;335;p21"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a:blip r:embed="rId6">
            <a:alphaModFix/>
          </a:blip>
          <a:srcRect r="72740"/>
          <a:stretch>
            <a:fillRect/>
          </a:stretch>
        </p:blipFill>
        <p:spPr>
          <a:xfrm>
            <a:off x="1071031" y="6030700"/>
            <a:ext cx="753128" cy="292303"/>
          </a:xfrm>
          <a:prstGeom prst="rect">
            <a:avLst/>
          </a:prstGeom>
          <a:noFill/>
          <a:ln>
            <a:noFill/>
          </a:ln>
        </p:spPr>
      </p:pic>
      <p:pic>
        <p:nvPicPr>
          <p:cNvPr id="336" name="Google Shape;336;p21"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a:blip r:embed="rId6">
            <a:alphaModFix/>
          </a:blip>
          <a:srcRect l="27258" r="42588"/>
          <a:stretch>
            <a:fillRect/>
          </a:stretch>
        </p:blipFill>
        <p:spPr>
          <a:xfrm>
            <a:off x="1052888" y="6399630"/>
            <a:ext cx="833113" cy="292303"/>
          </a:xfrm>
          <a:prstGeom prst="rect">
            <a:avLst/>
          </a:prstGeom>
          <a:noFill/>
          <a:ln>
            <a:noFill/>
          </a:ln>
        </p:spPr>
      </p:pic>
      <p:pic>
        <p:nvPicPr>
          <p:cNvPr id="337" name="Google Shape;337;p21"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a:blip r:embed="rId6">
            <a:alphaModFix/>
          </a:blip>
          <a:srcRect l="58642" r="25813"/>
          <a:stretch>
            <a:fillRect/>
          </a:stretch>
        </p:blipFill>
        <p:spPr>
          <a:xfrm>
            <a:off x="992147" y="6743929"/>
            <a:ext cx="429463" cy="292303"/>
          </a:xfrm>
          <a:prstGeom prst="rect">
            <a:avLst/>
          </a:prstGeom>
          <a:noFill/>
          <a:ln>
            <a:noFill/>
          </a:ln>
        </p:spPr>
      </p:pic>
      <p:pic>
        <p:nvPicPr>
          <p:cNvPr id="338" name="Google Shape;338;p21"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a:blip r:embed="rId6">
            <a:alphaModFix/>
          </a:blip>
          <a:srcRect l="75908" r="8547"/>
          <a:stretch>
            <a:fillRect/>
          </a:stretch>
        </p:blipFill>
        <p:spPr>
          <a:xfrm>
            <a:off x="1013446" y="7127310"/>
            <a:ext cx="429463" cy="292303"/>
          </a:xfrm>
          <a:prstGeom prst="rect">
            <a:avLst/>
          </a:prstGeom>
          <a:noFill/>
          <a:ln>
            <a:noFill/>
          </a:ln>
        </p:spPr>
      </p:pic>
      <p:pic>
        <p:nvPicPr>
          <p:cNvPr id="339" name="Google Shape;339;p21"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a:blip r:embed="rId6">
            <a:alphaModFix/>
          </a:blip>
          <a:srcRect l="92245" r="-3167"/>
          <a:stretch>
            <a:fillRect/>
          </a:stretch>
        </p:blipFill>
        <p:spPr>
          <a:xfrm>
            <a:off x="1077301" y="7549775"/>
            <a:ext cx="301751" cy="292303"/>
          </a:xfrm>
          <a:prstGeom prst="rect">
            <a:avLst/>
          </a:prstGeom>
          <a:noFill/>
          <a:ln>
            <a:noFill/>
          </a:ln>
        </p:spPr>
      </p:pic>
      <p:pic>
        <p:nvPicPr>
          <p:cNvPr id="340" name="Google Shape;340;p21"/>
          <p:cNvPicPr preferRelativeResize="0"/>
          <p:nvPr/>
        </p:nvPicPr>
        <p:blipFill>
          <a:blip r:embed="rId3">
            <a:alphaModFix/>
          </a:blip>
          <a:stretch>
            <a:fillRect/>
          </a:stretch>
        </p:blipFill>
        <p:spPr>
          <a:xfrm>
            <a:off x="1824163" y="6069373"/>
            <a:ext cx="203108" cy="214957"/>
          </a:xfrm>
          <a:prstGeom prst="rect">
            <a:avLst/>
          </a:prstGeom>
          <a:noFill/>
          <a:ln>
            <a:noFill/>
          </a:ln>
        </p:spPr>
      </p:pic>
      <p:pic>
        <p:nvPicPr>
          <p:cNvPr id="341" name="Google Shape;341;p21"/>
          <p:cNvPicPr preferRelativeResize="0"/>
          <p:nvPr/>
        </p:nvPicPr>
        <p:blipFill>
          <a:blip r:embed="rId3">
            <a:alphaModFix/>
          </a:blip>
          <a:stretch>
            <a:fillRect/>
          </a:stretch>
        </p:blipFill>
        <p:spPr>
          <a:xfrm>
            <a:off x="1442912" y="6768561"/>
            <a:ext cx="203108" cy="214957"/>
          </a:xfrm>
          <a:prstGeom prst="rect">
            <a:avLst/>
          </a:prstGeom>
          <a:noFill/>
          <a:ln>
            <a:noFill/>
          </a:ln>
        </p:spPr>
      </p:pic>
      <p:pic>
        <p:nvPicPr>
          <p:cNvPr id="342" name="Google Shape;342;p21"/>
          <p:cNvPicPr preferRelativeResize="0"/>
          <p:nvPr/>
        </p:nvPicPr>
        <p:blipFill>
          <a:blip r:embed="rId3">
            <a:alphaModFix/>
          </a:blip>
          <a:stretch>
            <a:fillRect/>
          </a:stretch>
        </p:blipFill>
        <p:spPr>
          <a:xfrm>
            <a:off x="1468493" y="7127310"/>
            <a:ext cx="203108" cy="214957"/>
          </a:xfrm>
          <a:prstGeom prst="rect">
            <a:avLst/>
          </a:prstGeom>
          <a:noFill/>
          <a:ln>
            <a:noFill/>
          </a:ln>
        </p:spPr>
      </p:pic>
      <p:pic>
        <p:nvPicPr>
          <p:cNvPr id="343" name="Google Shape;343;p21"/>
          <p:cNvPicPr preferRelativeResize="0"/>
          <p:nvPr/>
        </p:nvPicPr>
        <p:blipFill>
          <a:blip r:embed="rId3">
            <a:alphaModFix/>
          </a:blip>
          <a:stretch>
            <a:fillRect/>
          </a:stretch>
        </p:blipFill>
        <p:spPr>
          <a:xfrm>
            <a:off x="1346045" y="7563405"/>
            <a:ext cx="203108" cy="214957"/>
          </a:xfrm>
          <a:prstGeom prst="rect">
            <a:avLst/>
          </a:prstGeom>
          <a:noFill/>
          <a:ln>
            <a:noFill/>
          </a:ln>
        </p:spPr>
      </p:pic>
      <p:sp>
        <p:nvSpPr>
          <p:cNvPr id="344" name="Google Shape;344;p21"/>
          <p:cNvSpPr txBox="1"/>
          <p:nvPr/>
        </p:nvSpPr>
        <p:spPr>
          <a:xfrm>
            <a:off x="1685950" y="7593000"/>
            <a:ext cx="3893700" cy="238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This required you to calculate the answer to 4 × 38 = 152 </a:t>
            </a:r>
            <a:endParaRPr sz="1200">
              <a:solidFill>
                <a:srgbClr val="000000"/>
              </a:solidFill>
              <a:latin typeface="Kalam"/>
              <a:ea typeface="Kalam"/>
              <a:cs typeface="Kalam"/>
              <a:sym typeface="Kalam"/>
            </a:endParaRPr>
          </a:p>
        </p:txBody>
      </p:sp>
      <p:sp>
        <p:nvSpPr>
          <p:cNvPr id="345" name="Google Shape;345;p21"/>
          <p:cNvSpPr txBox="1"/>
          <p:nvPr/>
        </p:nvSpPr>
        <p:spPr>
          <a:xfrm>
            <a:off x="474750" y="7922100"/>
            <a:ext cx="6610500" cy="419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3) Put a tick next to the calculations which are correct and create two of your own correct calculations using powers of </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sz="1200">
              <a:solidFill>
                <a:srgbClr val="000000"/>
              </a:solidFill>
              <a:latin typeface="Lexend"/>
              <a:ea typeface="Lexend"/>
              <a:cs typeface="Lexend"/>
              <a:sym typeface="Lexend"/>
            </a:endParaRPr>
          </a:p>
        </p:txBody>
      </p:sp>
      <p:sp>
        <p:nvSpPr>
          <p:cNvPr id="346" name="Google Shape;346;p21"/>
          <p:cNvSpPr/>
          <p:nvPr/>
        </p:nvSpPr>
        <p:spPr>
          <a:xfrm>
            <a:off x="3402525" y="8782075"/>
            <a:ext cx="1305936" cy="492588"/>
          </a:xfrm>
          <a:prstGeom prst="cloud">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1.2 × 0.03</a:t>
            </a:r>
            <a:endParaRPr sz="1200">
              <a:latin typeface="Lexend"/>
              <a:ea typeface="Lexend"/>
              <a:cs typeface="Lexend"/>
              <a:sym typeface="Lexend"/>
            </a:endParaRPr>
          </a:p>
        </p:txBody>
      </p:sp>
      <p:cxnSp>
        <p:nvCxnSpPr>
          <p:cNvPr id="347" name="Google Shape;347;p21"/>
          <p:cNvCxnSpPr/>
          <p:nvPr/>
        </p:nvCxnSpPr>
        <p:spPr>
          <a:xfrm>
            <a:off x="2606400" y="8582800"/>
            <a:ext cx="891900" cy="363600"/>
          </a:xfrm>
          <a:prstGeom prst="straightConnector1">
            <a:avLst/>
          </a:prstGeom>
          <a:noFill/>
          <a:ln w="28575" cap="flat" cmpd="sng">
            <a:solidFill>
              <a:srgbClr val="000000"/>
            </a:solidFill>
            <a:prstDash val="solid"/>
            <a:round/>
            <a:headEnd type="none" w="med" len="med"/>
            <a:tailEnd type="none" w="med" len="med"/>
          </a:ln>
        </p:spPr>
      </p:cxnSp>
      <p:cxnSp>
        <p:nvCxnSpPr>
          <p:cNvPr id="348" name="Google Shape;348;p21"/>
          <p:cNvCxnSpPr/>
          <p:nvPr/>
        </p:nvCxnSpPr>
        <p:spPr>
          <a:xfrm rot="10800000" flipH="1">
            <a:off x="2529525" y="9053875"/>
            <a:ext cx="949200" cy="131700"/>
          </a:xfrm>
          <a:prstGeom prst="straightConnector1">
            <a:avLst/>
          </a:prstGeom>
          <a:noFill/>
          <a:ln w="28575" cap="flat" cmpd="sng">
            <a:solidFill>
              <a:srgbClr val="000000"/>
            </a:solidFill>
            <a:prstDash val="solid"/>
            <a:round/>
            <a:headEnd type="none" w="med" len="med"/>
            <a:tailEnd type="none" w="med" len="med"/>
          </a:ln>
        </p:spPr>
      </p:cxnSp>
      <p:cxnSp>
        <p:nvCxnSpPr>
          <p:cNvPr id="349" name="Google Shape;349;p21"/>
          <p:cNvCxnSpPr/>
          <p:nvPr/>
        </p:nvCxnSpPr>
        <p:spPr>
          <a:xfrm rot="10800000" flipH="1">
            <a:off x="2800800" y="9199475"/>
            <a:ext cx="809400" cy="533400"/>
          </a:xfrm>
          <a:prstGeom prst="straightConnector1">
            <a:avLst/>
          </a:prstGeom>
          <a:noFill/>
          <a:ln w="28575" cap="flat" cmpd="sng">
            <a:solidFill>
              <a:srgbClr val="000000"/>
            </a:solidFill>
            <a:prstDash val="solid"/>
            <a:round/>
            <a:headEnd type="none" w="med" len="med"/>
            <a:tailEnd type="none" w="med" len="med"/>
          </a:ln>
        </p:spPr>
      </p:cxnSp>
      <p:cxnSp>
        <p:nvCxnSpPr>
          <p:cNvPr id="350" name="Google Shape;350;p21"/>
          <p:cNvCxnSpPr/>
          <p:nvPr/>
        </p:nvCxnSpPr>
        <p:spPr>
          <a:xfrm rot="10800000">
            <a:off x="4690875" y="8989375"/>
            <a:ext cx="939900" cy="210900"/>
          </a:xfrm>
          <a:prstGeom prst="straightConnector1">
            <a:avLst/>
          </a:prstGeom>
          <a:noFill/>
          <a:ln w="28575" cap="flat" cmpd="sng">
            <a:solidFill>
              <a:srgbClr val="000000"/>
            </a:solidFill>
            <a:prstDash val="solid"/>
            <a:round/>
            <a:headEnd type="none" w="med" len="med"/>
            <a:tailEnd type="none" w="med" len="med"/>
          </a:ln>
        </p:spPr>
      </p:cxnSp>
      <p:cxnSp>
        <p:nvCxnSpPr>
          <p:cNvPr id="351" name="Google Shape;351;p21"/>
          <p:cNvCxnSpPr/>
          <p:nvPr/>
        </p:nvCxnSpPr>
        <p:spPr>
          <a:xfrm flipH="1">
            <a:off x="4202675" y="8383475"/>
            <a:ext cx="947100" cy="380100"/>
          </a:xfrm>
          <a:prstGeom prst="straightConnector1">
            <a:avLst/>
          </a:prstGeom>
          <a:noFill/>
          <a:ln w="28575" cap="flat" cmpd="sng">
            <a:solidFill>
              <a:srgbClr val="000000"/>
            </a:solidFill>
            <a:prstDash val="solid"/>
            <a:round/>
            <a:headEnd type="none" w="med" len="med"/>
            <a:tailEnd type="none" w="med" len="med"/>
          </a:ln>
        </p:spPr>
      </p:cxnSp>
      <p:pic>
        <p:nvPicPr>
          <p:cNvPr id="352" name="Google Shape;352;p21" descr="&lt;math xmlns=&quot;http://www.w3.org/1998/Math/MathML&quot; display=&quot;block&quot; data-is-equatio=&quot;1&quot; data-latex=&quot;\frac{1}{10}&quot;&gt;&lt;mfrac&gt;&lt;mn&gt;1&lt;/mn&gt;&lt;mn&gt;10&lt;/mn&gt;&lt;/mfrac&gt;&lt;/math&gt;" title="one tenth"/>
          <p:cNvPicPr preferRelativeResize="0"/>
          <p:nvPr/>
        </p:nvPicPr>
        <p:blipFill>
          <a:blip r:embed="rId7">
            <a:alphaModFix/>
          </a:blip>
          <a:stretch>
            <a:fillRect/>
          </a:stretch>
        </p:blipFill>
        <p:spPr>
          <a:xfrm>
            <a:off x="2639875" y="8112500"/>
            <a:ext cx="146924" cy="234475"/>
          </a:xfrm>
          <a:prstGeom prst="rect">
            <a:avLst/>
          </a:prstGeom>
          <a:noFill/>
          <a:ln>
            <a:noFill/>
          </a:ln>
        </p:spPr>
      </p:pic>
      <p:pic>
        <p:nvPicPr>
          <p:cNvPr id="353" name="Google Shape;353;p21"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a:blip r:embed="rId8">
            <a:alphaModFix/>
          </a:blip>
          <a:srcRect r="71434"/>
          <a:stretch>
            <a:fillRect/>
          </a:stretch>
        </p:blipFill>
        <p:spPr>
          <a:xfrm>
            <a:off x="5172634" y="8182200"/>
            <a:ext cx="1026582" cy="365762"/>
          </a:xfrm>
          <a:prstGeom prst="rect">
            <a:avLst/>
          </a:prstGeom>
          <a:noFill/>
          <a:ln>
            <a:noFill/>
          </a:ln>
        </p:spPr>
      </p:pic>
      <p:cxnSp>
        <p:nvCxnSpPr>
          <p:cNvPr id="354" name="Google Shape;354;p21"/>
          <p:cNvCxnSpPr/>
          <p:nvPr/>
        </p:nvCxnSpPr>
        <p:spPr>
          <a:xfrm rot="10800000">
            <a:off x="4443450" y="9214863"/>
            <a:ext cx="631500" cy="266700"/>
          </a:xfrm>
          <a:prstGeom prst="straightConnector1">
            <a:avLst/>
          </a:prstGeom>
          <a:noFill/>
          <a:ln w="28575" cap="flat" cmpd="sng">
            <a:solidFill>
              <a:srgbClr val="000000"/>
            </a:solidFill>
            <a:prstDash val="solid"/>
            <a:round/>
            <a:headEnd type="none" w="med" len="med"/>
            <a:tailEnd type="none" w="med" len="med"/>
          </a:ln>
        </p:spPr>
      </p:cxnSp>
      <p:pic>
        <p:nvPicPr>
          <p:cNvPr id="355" name="Google Shape;355;p21"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a:blip r:embed="rId8">
            <a:alphaModFix/>
          </a:blip>
          <a:srcRect l="26900" r="44533" b="-16198"/>
          <a:stretch>
            <a:fillRect/>
          </a:stretch>
        </p:blipFill>
        <p:spPr>
          <a:xfrm>
            <a:off x="5655416" y="9020138"/>
            <a:ext cx="1026582" cy="425023"/>
          </a:xfrm>
          <a:prstGeom prst="rect">
            <a:avLst/>
          </a:prstGeom>
          <a:noFill/>
          <a:ln>
            <a:noFill/>
          </a:ln>
        </p:spPr>
      </p:pic>
      <p:pic>
        <p:nvPicPr>
          <p:cNvPr id="356" name="Google Shape;356;p21"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a:blip r:embed="rId8">
            <a:alphaModFix/>
          </a:blip>
          <a:srcRect l="56632" r="32852" b="-16198"/>
          <a:stretch>
            <a:fillRect/>
          </a:stretch>
        </p:blipFill>
        <p:spPr>
          <a:xfrm>
            <a:off x="5098315" y="9270177"/>
            <a:ext cx="377869" cy="425023"/>
          </a:xfrm>
          <a:prstGeom prst="rect">
            <a:avLst/>
          </a:prstGeom>
          <a:noFill/>
          <a:ln>
            <a:noFill/>
          </a:ln>
        </p:spPr>
      </p:pic>
      <p:pic>
        <p:nvPicPr>
          <p:cNvPr id="357" name="Google Shape;357;p21"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a:blip r:embed="rId8">
            <a:alphaModFix/>
          </a:blip>
          <a:srcRect l="67639" r="23499" b="-16198"/>
          <a:stretch>
            <a:fillRect/>
          </a:stretch>
        </p:blipFill>
        <p:spPr>
          <a:xfrm>
            <a:off x="2133925" y="8393870"/>
            <a:ext cx="318435" cy="425023"/>
          </a:xfrm>
          <a:prstGeom prst="rect">
            <a:avLst/>
          </a:prstGeom>
          <a:noFill/>
          <a:ln>
            <a:noFill/>
          </a:ln>
        </p:spPr>
      </p:pic>
      <p:pic>
        <p:nvPicPr>
          <p:cNvPr id="358" name="Google Shape;358;p21"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a:blip r:embed="rId8">
            <a:alphaModFix/>
          </a:blip>
          <a:srcRect l="76899" r="8077" b="-16198"/>
          <a:stretch>
            <a:fillRect/>
          </a:stretch>
        </p:blipFill>
        <p:spPr>
          <a:xfrm>
            <a:off x="2250050" y="9463150"/>
            <a:ext cx="568552" cy="447596"/>
          </a:xfrm>
          <a:prstGeom prst="rect">
            <a:avLst/>
          </a:prstGeom>
          <a:noFill/>
          <a:ln>
            <a:noFill/>
          </a:ln>
        </p:spPr>
      </p:pic>
      <p:pic>
        <p:nvPicPr>
          <p:cNvPr id="359" name="Google Shape;359;p21"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a:blip r:embed="rId8">
            <a:alphaModFix/>
          </a:blip>
          <a:srcRect l="90981" r="-755" b="-16198"/>
          <a:stretch>
            <a:fillRect/>
          </a:stretch>
        </p:blipFill>
        <p:spPr>
          <a:xfrm>
            <a:off x="4107969" y="9448153"/>
            <a:ext cx="351261" cy="425009"/>
          </a:xfrm>
          <a:prstGeom prst="rect">
            <a:avLst/>
          </a:prstGeom>
          <a:noFill/>
          <a:ln>
            <a:noFill/>
          </a:ln>
        </p:spPr>
      </p:pic>
      <p:pic>
        <p:nvPicPr>
          <p:cNvPr id="360" name="Google Shape;360;p21"/>
          <p:cNvPicPr preferRelativeResize="0"/>
          <p:nvPr/>
        </p:nvPicPr>
        <p:blipFill>
          <a:blip r:embed="rId3">
            <a:alphaModFix/>
          </a:blip>
          <a:stretch>
            <a:fillRect/>
          </a:stretch>
        </p:blipFill>
        <p:spPr>
          <a:xfrm>
            <a:off x="2455018" y="8921638"/>
            <a:ext cx="201158" cy="212895"/>
          </a:xfrm>
          <a:prstGeom prst="rect">
            <a:avLst/>
          </a:prstGeom>
          <a:noFill/>
          <a:ln>
            <a:noFill/>
          </a:ln>
        </p:spPr>
      </p:pic>
      <p:pic>
        <p:nvPicPr>
          <p:cNvPr id="361" name="Google Shape;361;p21"/>
          <p:cNvPicPr preferRelativeResize="0"/>
          <p:nvPr/>
        </p:nvPicPr>
        <p:blipFill>
          <a:blip r:embed="rId3">
            <a:alphaModFix/>
          </a:blip>
          <a:stretch>
            <a:fillRect/>
          </a:stretch>
        </p:blipFill>
        <p:spPr>
          <a:xfrm>
            <a:off x="6222080" y="8182206"/>
            <a:ext cx="201158" cy="212895"/>
          </a:xfrm>
          <a:prstGeom prst="rect">
            <a:avLst/>
          </a:prstGeom>
          <a:noFill/>
          <a:ln>
            <a:noFill/>
          </a:ln>
        </p:spPr>
      </p:pic>
      <p:sp>
        <p:nvSpPr>
          <p:cNvPr id="362" name="Google Shape;362;p21"/>
          <p:cNvSpPr txBox="1"/>
          <p:nvPr/>
        </p:nvSpPr>
        <p:spPr>
          <a:xfrm>
            <a:off x="552600" y="8475250"/>
            <a:ext cx="1083300" cy="1276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There are an infinite number. Just ensure your calculation equates to 0.036</a:t>
            </a:r>
            <a:endParaRPr sz="1200">
              <a:solidFill>
                <a:srgbClr val="000000"/>
              </a:solidFill>
              <a:latin typeface="Kalam"/>
              <a:ea typeface="Kalam"/>
              <a:cs typeface="Kalam"/>
              <a:sym typeface="Kalam"/>
            </a:endParaRPr>
          </a:p>
        </p:txBody>
      </p:sp>
      <p:sp>
        <p:nvSpPr>
          <p:cNvPr id="363" name="Google Shape;363;p21"/>
          <p:cNvSpPr txBox="1"/>
          <p:nvPr/>
        </p:nvSpPr>
        <p:spPr>
          <a:xfrm>
            <a:off x="1802279" y="8425825"/>
            <a:ext cx="241800" cy="210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E.g. </a:t>
            </a:r>
            <a:endParaRPr sz="1200">
              <a:solidFill>
                <a:srgbClr val="000000"/>
              </a:solidFill>
              <a:latin typeface="Kalam"/>
              <a:ea typeface="Kalam"/>
              <a:cs typeface="Kalam"/>
              <a:sym typeface="Kalam"/>
            </a:endParaRPr>
          </a:p>
        </p:txBody>
      </p:sp>
      <p:sp>
        <p:nvSpPr>
          <p:cNvPr id="364" name="Google Shape;364;p21"/>
          <p:cNvSpPr txBox="1"/>
          <p:nvPr/>
        </p:nvSpPr>
        <p:spPr>
          <a:xfrm>
            <a:off x="2045825" y="9420925"/>
            <a:ext cx="301800" cy="262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E.g. </a:t>
            </a:r>
            <a:endParaRPr sz="1200">
              <a:solidFill>
                <a:srgbClr val="000000"/>
              </a:solidFill>
              <a:latin typeface="Kalam"/>
              <a:ea typeface="Kalam"/>
              <a:cs typeface="Kalam"/>
              <a:sym typeface="Kalam"/>
            </a:endParaRPr>
          </a:p>
        </p:txBody>
      </p:sp>
      <p:pic>
        <p:nvPicPr>
          <p:cNvPr id="365" name="Google Shape;365;p21" descr="&lt;math xmlns=&quot;http://www.w3.org/1998/Math/MathML&quot; display=&quot;block&quot; data-is-equatio=&quot;1&quot; data-latex=&quot;\frac{36}{1000}&quot;&gt;&lt;mfrac&gt;&lt;mn&gt;36&lt;/mn&gt;&lt;mn&gt;1000&lt;/mn&gt;&lt;/mfrac&gt;&lt;/math&gt;" title="36 over 1000"/>
          <p:cNvPicPr preferRelativeResize="0"/>
          <p:nvPr/>
        </p:nvPicPr>
        <p:blipFill>
          <a:blip r:embed="rId9">
            <a:alphaModFix/>
          </a:blip>
          <a:stretch>
            <a:fillRect/>
          </a:stretch>
        </p:blipFill>
        <p:spPr>
          <a:xfrm>
            <a:off x="2152550" y="9011517"/>
            <a:ext cx="318435" cy="311708"/>
          </a:xfrm>
          <a:prstGeom prst="rect">
            <a:avLst/>
          </a:prstGeom>
          <a:noFill/>
          <a:ln>
            <a:noFill/>
          </a:ln>
        </p:spPr>
      </p:pic>
      <p:pic>
        <p:nvPicPr>
          <p:cNvPr id="366" name="Google Shape;366;p21"/>
          <p:cNvPicPr preferRelativeResize="0"/>
          <p:nvPr/>
        </p:nvPicPr>
        <p:blipFill>
          <a:blip r:embed="rId3">
            <a:alphaModFix/>
          </a:blip>
          <a:stretch>
            <a:fillRect/>
          </a:stretch>
        </p:blipFill>
        <p:spPr>
          <a:xfrm>
            <a:off x="6706650" y="9060931"/>
            <a:ext cx="201158" cy="212895"/>
          </a:xfrm>
          <a:prstGeom prst="rect">
            <a:avLst/>
          </a:prstGeom>
          <a:noFill/>
          <a:ln>
            <a:noFill/>
          </a:ln>
        </p:spPr>
      </p:pic>
      <p:cxnSp>
        <p:nvCxnSpPr>
          <p:cNvPr id="367" name="Google Shape;367;p21"/>
          <p:cNvCxnSpPr/>
          <p:nvPr/>
        </p:nvCxnSpPr>
        <p:spPr>
          <a:xfrm rot="10800000">
            <a:off x="4024500" y="9292625"/>
            <a:ext cx="77400" cy="347100"/>
          </a:xfrm>
          <a:prstGeom prst="straightConnector1">
            <a:avLst/>
          </a:prstGeom>
          <a:noFill/>
          <a:ln w="28575" cap="flat" cmpd="sng">
            <a:solidFill>
              <a:srgbClr val="000000"/>
            </a:solidFill>
            <a:prstDash val="solid"/>
            <a:round/>
            <a:headEnd type="none" w="med" len="med"/>
            <a:tailEnd type="none" w="med" len="med"/>
          </a:ln>
        </p:spPr>
      </p:cxnSp>
      <p:sp>
        <p:nvSpPr>
          <p:cNvPr id="368" name="Google Shape;368;p21"/>
          <p:cNvSpPr txBox="1"/>
          <p:nvPr/>
        </p:nvSpPr>
        <p:spPr>
          <a:xfrm>
            <a:off x="1678225" y="8538975"/>
            <a:ext cx="10266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369" name="Google Shape;369;p21"/>
          <p:cNvSpPr txBox="1"/>
          <p:nvPr/>
        </p:nvSpPr>
        <p:spPr>
          <a:xfrm>
            <a:off x="1856250" y="9638775"/>
            <a:ext cx="10911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370" name="Google Shape;370;p21"/>
          <p:cNvSpPr txBox="1"/>
          <p:nvPr/>
        </p:nvSpPr>
        <p:spPr>
          <a:xfrm>
            <a:off x="6352325" y="9972000"/>
            <a:ext cx="483300" cy="277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sz="1200">
                <a:solidFill>
                  <a:srgbClr val="000000"/>
                </a:solidFill>
                <a:latin typeface="Lexend Medium"/>
                <a:ea typeface="Lexend Medium"/>
                <a:cs typeface="Lexend Medium"/>
                <a:sym typeface="Lexend Medium"/>
              </a:rPr>
              <a:t>2</a:t>
            </a:fld>
            <a:endParaRPr sz="1200">
              <a:solidFill>
                <a:srgbClr val="000000"/>
              </a:solidFill>
              <a:latin typeface="Lexend Medium"/>
              <a:ea typeface="Lexend Medium"/>
              <a:cs typeface="Lexend Medium"/>
              <a:sym typeface="Lexend Medium"/>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374" name="Shape 374"/>
        <p:cNvGrpSpPr/>
        <p:nvPr/>
      </p:nvGrpSpPr>
      <p:grpSpPr>
        <a:xfrm>
          <a:off x="0" y="0"/>
          <a:ext cx="0" cy="0"/>
        </a:xfrm>
      </p:grpSpPr>
      <p:sp>
        <p:nvSpPr>
          <p:cNvPr id="375" name="Google Shape;375;p2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3</a:t>
            </a:fld>
            <a:endParaRPr/>
          </a:p>
        </p:txBody>
      </p:sp>
      <p:sp>
        <p:nvSpPr>
          <p:cNvPr id="376" name="Google Shape;376;p22"/>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Changing compound interest rates</a:t>
            </a:r>
            <a:endParaRPr/>
          </a:p>
        </p:txBody>
      </p:sp>
      <p:sp>
        <p:nvSpPr>
          <p:cNvPr id="377" name="Google Shape;377;p22"/>
          <p:cNvSpPr txBox="1"/>
          <p:nvPr/>
        </p:nvSpPr>
        <p:spPr>
          <a:xfrm>
            <a:off x="6744600" y="10447800"/>
            <a:ext cx="815400" cy="244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r>
              <a:rPr lang="en-GB" sz="1000">
                <a:solidFill>
                  <a:schemeClr val="lt1"/>
                </a:solidFill>
                <a:latin typeface="Lexend"/>
                <a:ea typeface="Lexend"/>
                <a:cs typeface="Lexend"/>
                <a:sym typeface="Lexend"/>
              </a:rPr>
              <a:t>v2.3</a:t>
            </a:r>
            <a:endParaRPr sz="1000">
              <a:solidFill>
                <a:schemeClr val="lt1"/>
              </a:solidFill>
              <a:latin typeface="Lexend"/>
              <a:ea typeface="Lexend"/>
              <a:cs typeface="Lexend"/>
              <a:sym typeface="Lexend"/>
            </a:endParaRPr>
          </a:p>
        </p:txBody>
      </p:sp>
      <p:sp>
        <p:nvSpPr>
          <p:cNvPr id="378" name="Google Shape;378;p22"/>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p>
            <a:pPr marL="0" lvl="0" indent="0" algn="l" rtl="0">
              <a:spcBef>
                <a:spcPct val="0"/>
              </a:spcBef>
              <a:spcAft>
                <a:spcPct val="0"/>
              </a:spcAft>
              <a:buClr>
                <a:schemeClr val="dk1"/>
              </a:buClr>
              <a:buSzPts val="1100"/>
              <a:buFont typeface="Arial"/>
              <a:buNone/>
            </a:pPr>
            <a:r>
              <a:rPr lang="en-GB">
                <a:latin typeface="Lexend"/>
                <a:ea typeface="Lexend"/>
                <a:cs typeface="Lexend"/>
                <a:sym typeface="Lexend"/>
              </a:rPr>
              <a:t>Mathematics in Education and Industry</a:t>
            </a:r>
            <a:endParaRPr/>
          </a:p>
        </p:txBody>
      </p:sp>
      <p:sp>
        <p:nvSpPr>
          <p:cNvPr id="379" name="Google Shape;379;p22"/>
          <p:cNvSpPr txBox="1"/>
          <p:nvPr/>
        </p:nvSpPr>
        <p:spPr>
          <a:xfrm>
            <a:off x="468000" y="759300"/>
            <a:ext cx="6624000" cy="27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4) Create your own calculation and six equivalent calculations using powers of </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sz="1200">
              <a:solidFill>
                <a:srgbClr val="000000"/>
              </a:solidFill>
              <a:latin typeface="Lexend"/>
              <a:ea typeface="Lexend"/>
              <a:cs typeface="Lexend"/>
              <a:sym typeface="Lexend"/>
            </a:endParaRPr>
          </a:p>
        </p:txBody>
      </p:sp>
      <p:sp>
        <p:nvSpPr>
          <p:cNvPr id="380" name="Google Shape;380;p22"/>
          <p:cNvSpPr/>
          <p:nvPr/>
        </p:nvSpPr>
        <p:spPr>
          <a:xfrm>
            <a:off x="2792925" y="1695475"/>
            <a:ext cx="2329776" cy="1398708"/>
          </a:xfrm>
          <a:prstGeom prst="cloud">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ct val="0"/>
              </a:spcBef>
              <a:spcAft>
                <a:spcPct val="0"/>
              </a:spcAft>
              <a:buNone/>
            </a:pPr>
            <a:endParaRPr sz="3100">
              <a:latin typeface="Lexend"/>
              <a:ea typeface="Lexend"/>
              <a:cs typeface="Lexend"/>
              <a:sym typeface="Lexend"/>
            </a:endParaRPr>
          </a:p>
        </p:txBody>
      </p:sp>
      <p:cxnSp>
        <p:nvCxnSpPr>
          <p:cNvPr id="381" name="Google Shape;381;p22"/>
          <p:cNvCxnSpPr/>
          <p:nvPr/>
        </p:nvCxnSpPr>
        <p:spPr>
          <a:xfrm>
            <a:off x="2580350" y="1478488"/>
            <a:ext cx="891900" cy="363600"/>
          </a:xfrm>
          <a:prstGeom prst="straightConnector1">
            <a:avLst/>
          </a:prstGeom>
          <a:noFill/>
          <a:ln w="28575" cap="flat" cmpd="sng">
            <a:solidFill>
              <a:srgbClr val="000000"/>
            </a:solidFill>
            <a:prstDash val="solid"/>
            <a:round/>
            <a:headEnd type="none" w="med" len="med"/>
            <a:tailEnd type="none" w="med" len="med"/>
          </a:ln>
        </p:spPr>
      </p:cxnSp>
      <p:cxnSp>
        <p:nvCxnSpPr>
          <p:cNvPr id="382" name="Google Shape;382;p22"/>
          <p:cNvCxnSpPr/>
          <p:nvPr/>
        </p:nvCxnSpPr>
        <p:spPr>
          <a:xfrm rot="10800000" flipH="1">
            <a:off x="1843725" y="2386375"/>
            <a:ext cx="949200" cy="131700"/>
          </a:xfrm>
          <a:prstGeom prst="straightConnector1">
            <a:avLst/>
          </a:prstGeom>
          <a:noFill/>
          <a:ln w="28575" cap="flat" cmpd="sng">
            <a:solidFill>
              <a:srgbClr val="000000"/>
            </a:solidFill>
            <a:prstDash val="solid"/>
            <a:round/>
            <a:headEnd type="none" w="med" len="med"/>
            <a:tailEnd type="none" w="med" len="med"/>
          </a:ln>
        </p:spPr>
      </p:cxnSp>
      <p:cxnSp>
        <p:nvCxnSpPr>
          <p:cNvPr id="383" name="Google Shape;383;p22"/>
          <p:cNvCxnSpPr/>
          <p:nvPr/>
        </p:nvCxnSpPr>
        <p:spPr>
          <a:xfrm rot="10800000" flipH="1">
            <a:off x="2269325" y="2841925"/>
            <a:ext cx="809400" cy="533400"/>
          </a:xfrm>
          <a:prstGeom prst="straightConnector1">
            <a:avLst/>
          </a:prstGeom>
          <a:noFill/>
          <a:ln w="28575" cap="flat" cmpd="sng">
            <a:solidFill>
              <a:srgbClr val="000000"/>
            </a:solidFill>
            <a:prstDash val="solid"/>
            <a:round/>
            <a:headEnd type="none" w="med" len="med"/>
            <a:tailEnd type="none" w="med" len="med"/>
          </a:ln>
        </p:spPr>
      </p:cxnSp>
      <p:cxnSp>
        <p:nvCxnSpPr>
          <p:cNvPr id="384" name="Google Shape;384;p22"/>
          <p:cNvCxnSpPr/>
          <p:nvPr/>
        </p:nvCxnSpPr>
        <p:spPr>
          <a:xfrm rot="10800000">
            <a:off x="5122675" y="2512375"/>
            <a:ext cx="939900" cy="210900"/>
          </a:xfrm>
          <a:prstGeom prst="straightConnector1">
            <a:avLst/>
          </a:prstGeom>
          <a:noFill/>
          <a:ln w="28575" cap="flat" cmpd="sng">
            <a:solidFill>
              <a:srgbClr val="000000"/>
            </a:solidFill>
            <a:prstDash val="solid"/>
            <a:round/>
            <a:headEnd type="none" w="med" len="med"/>
            <a:tailEnd type="none" w="med" len="med"/>
          </a:ln>
        </p:spPr>
      </p:cxnSp>
      <p:cxnSp>
        <p:nvCxnSpPr>
          <p:cNvPr id="385" name="Google Shape;385;p22"/>
          <p:cNvCxnSpPr/>
          <p:nvPr/>
        </p:nvCxnSpPr>
        <p:spPr>
          <a:xfrm flipH="1">
            <a:off x="4355075" y="1347675"/>
            <a:ext cx="947100" cy="380100"/>
          </a:xfrm>
          <a:prstGeom prst="straightConnector1">
            <a:avLst/>
          </a:prstGeom>
          <a:noFill/>
          <a:ln w="28575" cap="flat" cmpd="sng">
            <a:solidFill>
              <a:srgbClr val="000000"/>
            </a:solidFill>
            <a:prstDash val="solid"/>
            <a:round/>
            <a:headEnd type="none" w="med" len="med"/>
            <a:tailEnd type="none" w="med" len="med"/>
          </a:ln>
        </p:spPr>
      </p:cxnSp>
      <p:pic>
        <p:nvPicPr>
          <p:cNvPr id="386" name="Google Shape;386;p22" descr="&lt;math xmlns=&quot;http://www.w3.org/1998/Math/MathML&quot; display=&quot;block&quot; data-is-equatio=&quot;1&quot; data-latex=&quot;\frac{1}{10}&quot;&gt;&lt;mfrac&gt;&lt;mn&gt;1&lt;/mn&gt;&lt;mn&gt;10&lt;/mn&gt;&lt;/mfrac&gt;&lt;/math&gt;" title="one tenth"/>
          <p:cNvPicPr preferRelativeResize="0"/>
          <p:nvPr/>
        </p:nvPicPr>
        <p:blipFill>
          <a:blip r:embed="rId3">
            <a:alphaModFix/>
          </a:blip>
          <a:stretch>
            <a:fillRect/>
          </a:stretch>
        </p:blipFill>
        <p:spPr>
          <a:xfrm>
            <a:off x="6352324" y="720000"/>
            <a:ext cx="173696" cy="277200"/>
          </a:xfrm>
          <a:prstGeom prst="rect">
            <a:avLst/>
          </a:prstGeom>
          <a:noFill/>
          <a:ln>
            <a:noFill/>
          </a:ln>
        </p:spPr>
      </p:pic>
      <p:cxnSp>
        <p:nvCxnSpPr>
          <p:cNvPr id="387" name="Google Shape;387;p22"/>
          <p:cNvCxnSpPr/>
          <p:nvPr/>
        </p:nvCxnSpPr>
        <p:spPr>
          <a:xfrm rot="10800000">
            <a:off x="4474150" y="2900850"/>
            <a:ext cx="631500" cy="266700"/>
          </a:xfrm>
          <a:prstGeom prst="straightConnector1">
            <a:avLst/>
          </a:prstGeom>
          <a:noFill/>
          <a:ln w="28575" cap="flat" cmpd="sng">
            <a:solidFill>
              <a:srgbClr val="000000"/>
            </a:solidFill>
            <a:prstDash val="solid"/>
            <a:round/>
            <a:headEnd type="none" w="med" len="med"/>
            <a:tailEnd type="none" w="med" len="med"/>
          </a:ln>
        </p:spPr>
      </p:cxnSp>
      <p:sp>
        <p:nvSpPr>
          <p:cNvPr id="388" name="Google Shape;388;p22"/>
          <p:cNvSpPr txBox="1"/>
          <p:nvPr/>
        </p:nvSpPr>
        <p:spPr>
          <a:xfrm>
            <a:off x="558375" y="3699175"/>
            <a:ext cx="1747800" cy="1054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Kalam"/>
                <a:ea typeface="Kalam"/>
                <a:cs typeface="Kalam"/>
                <a:sym typeface="Kalam"/>
              </a:rPr>
              <a:t>There are an infinite number of answers. Ensure to check with a calculator or written methods.</a:t>
            </a:r>
            <a:endParaRPr sz="1200">
              <a:solidFill>
                <a:srgbClr val="000000"/>
              </a:solidFill>
              <a:latin typeface="Kalam"/>
              <a:ea typeface="Kalam"/>
              <a:cs typeface="Kalam"/>
              <a:sym typeface="Kalam"/>
            </a:endParaRPr>
          </a:p>
        </p:txBody>
      </p:sp>
      <p:sp>
        <p:nvSpPr>
          <p:cNvPr id="389" name="Google Shape;389;p22"/>
          <p:cNvSpPr txBox="1"/>
          <p:nvPr/>
        </p:nvSpPr>
        <p:spPr>
          <a:xfrm>
            <a:off x="1045775" y="3208098"/>
            <a:ext cx="15837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390" name="Google Shape;390;p22"/>
          <p:cNvSpPr txBox="1"/>
          <p:nvPr/>
        </p:nvSpPr>
        <p:spPr>
          <a:xfrm>
            <a:off x="1502975" y="1276738"/>
            <a:ext cx="15837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391" name="Google Shape;391;p22"/>
          <p:cNvSpPr txBox="1"/>
          <p:nvPr/>
        </p:nvSpPr>
        <p:spPr>
          <a:xfrm>
            <a:off x="558375" y="2258406"/>
            <a:ext cx="15837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392" name="Google Shape;392;p22"/>
          <p:cNvSpPr txBox="1"/>
          <p:nvPr/>
        </p:nvSpPr>
        <p:spPr>
          <a:xfrm>
            <a:off x="5385155" y="1162800"/>
            <a:ext cx="15837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393" name="Google Shape;393;p22"/>
          <p:cNvSpPr txBox="1"/>
          <p:nvPr/>
        </p:nvSpPr>
        <p:spPr>
          <a:xfrm>
            <a:off x="5110884" y="3170309"/>
            <a:ext cx="15837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394" name="Google Shape;394;p22"/>
          <p:cNvSpPr txBox="1"/>
          <p:nvPr/>
        </p:nvSpPr>
        <p:spPr>
          <a:xfrm>
            <a:off x="5973224" y="2614975"/>
            <a:ext cx="10929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4.02.14"/>
  <p:tag name="AS_TITLE" val="Aspose.Slides for .NET Standard 2.0"/>
  <p:tag name="AS_VERSION" val="24.2"/>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127</Paragraphs>
  <Slides>3</Slides>
  <Notes>3</Notes>
  <TotalTime>0</TotalTime>
  <HiddenSlides>0</HiddenSlides>
  <MMClips>0</MMClips>
  <ScaleCrop>0</ScaleCrop>
  <HeadingPairs>
    <vt:vector baseType="variant" size="6">
      <vt:variant>
        <vt:lpstr>Fonts used</vt:lpstr>
      </vt:variant>
      <vt:variant>
        <vt:i4>6</vt:i4>
      </vt:variant>
      <vt:variant>
        <vt:lpstr>Theme</vt:lpstr>
      </vt:variant>
      <vt:variant>
        <vt:i4>1</vt:i4>
      </vt:variant>
      <vt:variant>
        <vt:lpstr>Slide Titles</vt:lpstr>
      </vt:variant>
      <vt:variant>
        <vt:i4>3</vt:i4>
      </vt:variant>
    </vt:vector>
  </HeadingPairs>
  <TitlesOfParts>
    <vt:vector baseType="lpstr" size="10">
      <vt:lpstr>Arial</vt:lpstr>
      <vt:lpstr>Lexend</vt:lpstr>
      <vt:lpstr>Kalam</vt:lpstr>
      <vt:lpstr>Lexend Medium</vt:lpstr>
      <vt:lpstr>Lexend Light</vt:lpstr>
      <vt:lpstr>Calibri</vt:lpstr>
      <vt:lpstr>simple-light-2</vt:lpstr>
      <vt:lpstr>Changing compound interest rates</vt:lpstr>
      <vt:lpstr>PowerPoint Presentation</vt:lpstr>
      <vt:lpstr>PowerPoint Presentation</vt:lpstr>
    </vt:vector>
  </TitlesOfParts>
  <LinksUpToDate>0</LinksUpToDate>
  <SharedDoc>0</SharedDoc>
  <HyperlinksChanged>0</HyperlinksChanged>
  <Application>Aspose.Slides for .NET</Application>
  <AppVersion>24.0200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2024-03-05T14:18:48.086</cp:lastPrinted>
  <dcterms:created xsi:type="dcterms:W3CDTF">2024-03-05T14:18:48Z</dcterms:created>
  <dcterms:modified xsi:type="dcterms:W3CDTF">2024-03-05T14:19:24Z</dcterms:modified>
</cp:coreProperties>
</file>