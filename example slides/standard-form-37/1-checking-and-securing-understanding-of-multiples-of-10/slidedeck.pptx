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091467-62BC-4098-847C-9079499EE7F0}">
  <a:tblStyle styleId="{61091467-62BC-4098-847C-9079499EE7F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E21685C-36D5-4CBA-A8C3-DE956EF8306F}"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2b8a7d6ba4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2b8a7d6ba4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2b8a7d6ba49_1_1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2b8a7d6ba49_1_1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2b7174901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2b7174901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2b8a7d6ba49_1_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2b8a7d6ba49_1_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2b8a7d6ba49_1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2b8a7d6ba49_1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b8a7d6ba49_1_1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2b8a7d6ba49_1_1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2b8a7d6ba49_1_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2b8a7d6ba49_1_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2b71749018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2b71749018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2b8a7d6ba49_1_2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 name="Google Shape;916;g2b8a7d6ba49_1_2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2b71749018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2b71749018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2b8a7d6ba49_1_2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2b8a7d6ba49_1_2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2b8a7d6ba49_1_3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2b8a7d6ba49_1_3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2b908d8dee2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2b908d8dee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2b8a7d6ba49_1_3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2b8a7d6ba49_1_3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2b8b81193d9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0" name="Google Shape;1070;g2b8b81193d9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2b8a7d6ba49_1_3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2b8a7d6ba49_1_3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2b8a7d6ba49_1_3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2b8a7d6ba49_1_3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2b908d8dee2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2b908d8dee2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2b908d8dee2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2b908d8dee2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2b908d8dee2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7" name="Google Shape;1147;g2b908d8dee2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2b908d8dee2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g2b908d8dee2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g2b908d8dee2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9" name="Google Shape;1199;g2b908d8dee2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2b908d8dee2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2b908d8dee2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2b71749018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2b71749018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2b8a7d6ba49_1_2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2b8a7d6ba49_1_2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g2b8b81193d9_0_10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3" name="Google Shape;1293;g2b8b81193d9_0_10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2b8b81193d9_0_9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2b8b81193d9_0_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g2b96d51823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4" name="Google Shape;1354;g2b96d51823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2b908d8de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2b908d8de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g2b8b81193d9_0_1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7" name="Google Shape;1407;g2b8b81193d9_0_1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g2b71749018e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9" name="Google Shape;1439;g2b71749018e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g2b8b81193d9_0_1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5" name="Google Shape;1465;g2b8b81193d9_0_1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g2b8b81193d9_0_1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1" name="Google Shape;1491;g2b8b81193d9_0_1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g2b908d8dee2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3" name="Google Shape;1513;g2b908d8dee2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1" name="Shape 1531"/>
        <p:cNvGrpSpPr/>
        <p:nvPr/>
      </p:nvGrpSpPr>
      <p:grpSpPr>
        <a:xfrm>
          <a:off x="0" y="0"/>
          <a:ext cx="0" cy="0"/>
          <a:chOff x="0" y="0"/>
          <a:chExt cx="0" cy="0"/>
        </a:xfrm>
      </p:grpSpPr>
      <p:sp>
        <p:nvSpPr>
          <p:cNvPr id="1532" name="Google Shape;1532;g2b908d8dee2_1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3" name="Google Shape;1533;g2b908d8dee2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1" name="Shape 1561"/>
        <p:cNvGrpSpPr/>
        <p:nvPr/>
      </p:nvGrpSpPr>
      <p:grpSpPr>
        <a:xfrm>
          <a:off x="0" y="0"/>
          <a:ext cx="0" cy="0"/>
          <a:chOff x="0" y="0"/>
          <a:chExt cx="0" cy="0"/>
        </a:xfrm>
      </p:grpSpPr>
      <p:sp>
        <p:nvSpPr>
          <p:cNvPr id="1562" name="Google Shape;1562;g2b908d8dee2_1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3" name="Google Shape;1563;g2b908d8dee2_1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2" name="Shape 1592"/>
        <p:cNvGrpSpPr/>
        <p:nvPr/>
      </p:nvGrpSpPr>
      <p:grpSpPr>
        <a:xfrm>
          <a:off x="0" y="0"/>
          <a:ext cx="0" cy="0"/>
          <a:chOff x="0" y="0"/>
          <a:chExt cx="0" cy="0"/>
        </a:xfrm>
      </p:grpSpPr>
      <p:sp>
        <p:nvSpPr>
          <p:cNvPr id="1593" name="Google Shape;1593;g2b908d8dee2_1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4" name="Google Shape;1594;g2b908d8dee2_1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g2b908d8dee2_1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4" name="Google Shape;1624;g2b908d8dee2_1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3" name="Shape 1643"/>
        <p:cNvGrpSpPr/>
        <p:nvPr/>
      </p:nvGrpSpPr>
      <p:grpSpPr>
        <a:xfrm>
          <a:off x="0" y="0"/>
          <a:ext cx="0" cy="0"/>
          <a:chOff x="0" y="0"/>
          <a:chExt cx="0" cy="0"/>
        </a:xfrm>
      </p:grpSpPr>
      <p:sp>
        <p:nvSpPr>
          <p:cNvPr id="1644" name="Google Shape;1644;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5" name="Google Shape;1645;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6" name="Google Shape;1656;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0.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0.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9.png"/><Relationship Id="rId5"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8.png"/><Relationship Id="rId7" Type="http://schemas.openxmlformats.org/officeDocument/2006/relationships/image" Target="../media/image2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0.png"/><Relationship Id="rId4" Type="http://schemas.openxmlformats.org/officeDocument/2006/relationships/image" Target="../media/image62.png"/><Relationship Id="rId5" Type="http://schemas.openxmlformats.org/officeDocument/2006/relationships/image" Target="../media/image23.png"/><Relationship Id="rId6" Type="http://schemas.openxmlformats.org/officeDocument/2006/relationships/image" Target="../media/image30.png"/><Relationship Id="rId7" Type="http://schemas.openxmlformats.org/officeDocument/2006/relationships/image" Target="../media/image2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2.png"/><Relationship Id="rId4" Type="http://schemas.openxmlformats.org/officeDocument/2006/relationships/image" Target="../media/image24.png"/><Relationship Id="rId9" Type="http://schemas.openxmlformats.org/officeDocument/2006/relationships/image" Target="../media/image25.png"/><Relationship Id="rId5" Type="http://schemas.openxmlformats.org/officeDocument/2006/relationships/image" Target="../media/image20.png"/><Relationship Id="rId6" Type="http://schemas.openxmlformats.org/officeDocument/2006/relationships/image" Target="../media/image29.png"/><Relationship Id="rId7" Type="http://schemas.openxmlformats.org/officeDocument/2006/relationships/image" Target="../media/image23.png"/><Relationship Id="rId8" Type="http://schemas.openxmlformats.org/officeDocument/2006/relationships/image" Target="../media/image3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2.png"/><Relationship Id="rId4" Type="http://schemas.openxmlformats.org/officeDocument/2006/relationships/image" Target="../media/image33.png"/><Relationship Id="rId11" Type="http://schemas.openxmlformats.org/officeDocument/2006/relationships/image" Target="../media/image25.png"/><Relationship Id="rId10" Type="http://schemas.openxmlformats.org/officeDocument/2006/relationships/image" Target="../media/image39.png"/><Relationship Id="rId9" Type="http://schemas.openxmlformats.org/officeDocument/2006/relationships/image" Target="../media/image30.png"/><Relationship Id="rId5" Type="http://schemas.openxmlformats.org/officeDocument/2006/relationships/image" Target="../media/image24.png"/><Relationship Id="rId6" Type="http://schemas.openxmlformats.org/officeDocument/2006/relationships/image" Target="../media/image20.png"/><Relationship Id="rId7" Type="http://schemas.openxmlformats.org/officeDocument/2006/relationships/image" Target="../media/image29.png"/><Relationship Id="rId8" Type="http://schemas.openxmlformats.org/officeDocument/2006/relationships/image" Target="../media/image2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3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36.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7.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99" name="Google Shape;99;p12"/>
          <p:cNvGrpSpPr/>
          <p:nvPr/>
        </p:nvGrpSpPr>
        <p:grpSpPr>
          <a:xfrm>
            <a:off x="2650916" y="1644417"/>
            <a:ext cx="1745270" cy="1430724"/>
            <a:chOff x="2642961" y="1644312"/>
            <a:chExt cx="1454634" cy="1195657"/>
          </a:xfrm>
        </p:grpSpPr>
        <p:pic>
          <p:nvPicPr>
            <p:cNvPr id="100" name="Google Shape;100;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1" name="Google Shape;101;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4" name="Google Shape;104;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5" name="Google Shape;105;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6" name="Google Shape;106;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4" name="Google Shape;114;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5" name="Google Shape;115;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6" name="Google Shape;116;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7" name="Shape 117"/>
        <p:cNvGrpSpPr/>
        <p:nvPr/>
      </p:nvGrpSpPr>
      <p:grpSpPr>
        <a:xfrm>
          <a:off x="0" y="0"/>
          <a:ext cx="0" cy="0"/>
          <a:chOff x="0" y="0"/>
          <a:chExt cx="0" cy="0"/>
        </a:xfrm>
      </p:grpSpPr>
      <p:sp>
        <p:nvSpPr>
          <p:cNvPr id="118" name="Google Shape;118;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0" name="Google Shape;120;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1" name="Google Shape;121;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2" name="Google Shape;122;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3" name="Google Shape;123;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4" name="Google Shape;124;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5" name="Google Shape;125;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6" name="Google Shape;126;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7" name="Google Shape;127;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8" name="Google Shape;128;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29" name="Shape 129"/>
        <p:cNvGrpSpPr/>
        <p:nvPr/>
      </p:nvGrpSpPr>
      <p:grpSpPr>
        <a:xfrm>
          <a:off x="0" y="0"/>
          <a:ext cx="0" cy="0"/>
          <a:chOff x="0" y="0"/>
          <a:chExt cx="0" cy="0"/>
        </a:xfrm>
      </p:grpSpPr>
      <p:sp>
        <p:nvSpPr>
          <p:cNvPr id="130" name="Google Shape;130;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3" name="Google Shape;133;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5" name="Google Shape;135;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7" name="Google Shape;137;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8" name="Google Shape;138;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9" name="Google Shape;139;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0" name="Google Shape;140;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1" name="Google Shape;141;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3" name="Shape 143"/>
        <p:cNvGrpSpPr/>
        <p:nvPr/>
      </p:nvGrpSpPr>
      <p:grpSpPr>
        <a:xfrm>
          <a:off x="0" y="0"/>
          <a:ext cx="0" cy="0"/>
          <a:chOff x="0" y="0"/>
          <a:chExt cx="0" cy="0"/>
        </a:xfrm>
      </p:grpSpPr>
      <p:sp>
        <p:nvSpPr>
          <p:cNvPr id="144" name="Google Shape;144;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 name="Google Shape;145;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6" name="Google Shape;14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7" name="Google Shape;147;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8" name="Google Shape;148;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9" name="Google Shape;149;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1" name="Shape 151"/>
        <p:cNvGrpSpPr/>
        <p:nvPr/>
      </p:nvGrpSpPr>
      <p:grpSpPr>
        <a:xfrm>
          <a:off x="0" y="0"/>
          <a:ext cx="0" cy="0"/>
          <a:chOff x="0" y="0"/>
          <a:chExt cx="0" cy="0"/>
        </a:xfrm>
      </p:grpSpPr>
      <p:sp>
        <p:nvSpPr>
          <p:cNvPr id="152" name="Google Shape;152;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4" name="Google Shape;154;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5" name="Google Shape;155;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6" name="Google Shape;156;p17"/>
          <p:cNvCxnSpPr>
            <a:endCxn id="157"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8" name="Google Shape;158;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59" name="Google Shape;159;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0" name="Google Shape;160;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7" name="Google Shape;157;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1" name="Google Shape;161;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2" name="Google Shape;162;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3" name="Google Shape;163;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4" name="Shape 164"/>
        <p:cNvGrpSpPr/>
        <p:nvPr/>
      </p:nvGrpSpPr>
      <p:grpSpPr>
        <a:xfrm>
          <a:off x="0" y="0"/>
          <a:ext cx="0" cy="0"/>
          <a:chOff x="0" y="0"/>
          <a:chExt cx="0" cy="0"/>
        </a:xfrm>
      </p:grpSpPr>
      <p:pic>
        <p:nvPicPr>
          <p:cNvPr id="165" name="Google Shape;165;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6" name="Google Shape;166;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7" name="Google Shape;167;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8" name="Google Shape;168;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69" name="Google Shape;169;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0" name="Google Shape;170;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1" name="Google Shape;171;p18"/>
          <p:cNvCxnSpPr>
            <a:endCxn id="172"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2" name="Google Shape;172;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3" name="Google Shape;173;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4" name="Google Shape;174;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5" name="Google Shape;175;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7" name="Google Shape;177;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8" name="Google Shape;178;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0" name="Google Shape;180;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1" name="Google Shape;181;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2" name="Shape 182"/>
        <p:cNvGrpSpPr/>
        <p:nvPr/>
      </p:nvGrpSpPr>
      <p:grpSpPr>
        <a:xfrm>
          <a:off x="0" y="0"/>
          <a:ext cx="0" cy="0"/>
          <a:chOff x="0" y="0"/>
          <a:chExt cx="0" cy="0"/>
        </a:xfrm>
      </p:grpSpPr>
      <p:pic>
        <p:nvPicPr>
          <p:cNvPr id="183" name="Google Shape;183;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4" name="Google Shape;184;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5" name="Google Shape;185;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6" name="Google Shape;186;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7" name="Google Shape;187;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8" name="Google Shape;188;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89" name="Google Shape;189;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0" name="Google Shape;190;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1" name="Google Shape;191;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2" name="Google Shape;192;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3" name="Google Shape;193;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4" name="Google Shape;194;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5" name="Google Shape;195;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99" name="Google Shape;199;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0" name="Google Shape;200;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 name="Google Shape;201;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2" name="Google Shape;202;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3" name="Google Shape;203;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4" name="Shape 204"/>
        <p:cNvGrpSpPr/>
        <p:nvPr/>
      </p:nvGrpSpPr>
      <p:grpSpPr>
        <a:xfrm>
          <a:off x="0" y="0"/>
          <a:ext cx="0" cy="0"/>
          <a:chOff x="0" y="0"/>
          <a:chExt cx="0" cy="0"/>
        </a:xfrm>
      </p:grpSpPr>
      <p:pic>
        <p:nvPicPr>
          <p:cNvPr id="205" name="Google Shape;205;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6" name="Google Shape;206;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8" name="Google Shape;208;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09" name="Google Shape;209;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0" name="Google Shape;210;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1" name="Shape 211"/>
        <p:cNvGrpSpPr/>
        <p:nvPr/>
      </p:nvGrpSpPr>
      <p:grpSpPr>
        <a:xfrm>
          <a:off x="0" y="0"/>
          <a:ext cx="0" cy="0"/>
          <a:chOff x="0" y="0"/>
          <a:chExt cx="0" cy="0"/>
        </a:xfrm>
      </p:grpSpPr>
      <p:pic>
        <p:nvPicPr>
          <p:cNvPr id="212" name="Google Shape;212;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3" name="Google Shape;213;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5" name="Google Shape;215;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6" name="Google Shape;216;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7" name="Google Shape;217;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8" name="Shape 218"/>
        <p:cNvGrpSpPr/>
        <p:nvPr/>
      </p:nvGrpSpPr>
      <p:grpSpPr>
        <a:xfrm>
          <a:off x="0" y="0"/>
          <a:ext cx="0" cy="0"/>
          <a:chOff x="0" y="0"/>
          <a:chExt cx="0" cy="0"/>
        </a:xfrm>
      </p:grpSpPr>
      <p:pic>
        <p:nvPicPr>
          <p:cNvPr id="219" name="Google Shape;219;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0" name="Google Shape;220;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2" name="Google Shape;222;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3" name="Google Shape;223;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4" name="Google Shape;224;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5" name="Shape 225"/>
        <p:cNvGrpSpPr/>
        <p:nvPr/>
      </p:nvGrpSpPr>
      <p:grpSpPr>
        <a:xfrm>
          <a:off x="0" y="0"/>
          <a:ext cx="0" cy="0"/>
          <a:chOff x="0" y="0"/>
          <a:chExt cx="0" cy="0"/>
        </a:xfrm>
      </p:grpSpPr>
      <p:pic>
        <p:nvPicPr>
          <p:cNvPr id="226" name="Google Shape;22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7" name="Google Shape;227;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9" name="Google Shape;22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0" name="Google Shape;23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1" name="Google Shape;23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2" name="Shape 232"/>
        <p:cNvGrpSpPr/>
        <p:nvPr/>
      </p:nvGrpSpPr>
      <p:grpSpPr>
        <a:xfrm>
          <a:off x="0" y="0"/>
          <a:ext cx="0" cy="0"/>
          <a:chOff x="0" y="0"/>
          <a:chExt cx="0" cy="0"/>
        </a:xfrm>
      </p:grpSpPr>
      <p:sp>
        <p:nvSpPr>
          <p:cNvPr id="233" name="Google Shape;233;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 name="Google Shape;234;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5" name="Google Shape;235;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7" name="Google Shape;237;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39" name="Google Shape;239;p24"/>
          <p:cNvGrpSpPr/>
          <p:nvPr/>
        </p:nvGrpSpPr>
        <p:grpSpPr>
          <a:xfrm>
            <a:off x="7834231" y="1285"/>
            <a:ext cx="828900" cy="576065"/>
            <a:chOff x="7801496" y="1285"/>
            <a:chExt cx="828900" cy="576065"/>
          </a:xfrm>
        </p:grpSpPr>
        <p:pic>
          <p:nvPicPr>
            <p:cNvPr id="240" name="Google Shape;240;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1" name="Google Shape;241;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2" name="Google Shape;242;p24"/>
          <p:cNvGrpSpPr/>
          <p:nvPr/>
        </p:nvGrpSpPr>
        <p:grpSpPr>
          <a:xfrm>
            <a:off x="8635663" y="1285"/>
            <a:ext cx="499700" cy="576065"/>
            <a:chOff x="8635663" y="1285"/>
            <a:chExt cx="499700" cy="576065"/>
          </a:xfrm>
        </p:grpSpPr>
        <p:pic>
          <p:nvPicPr>
            <p:cNvPr id="243" name="Google Shape;243;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4" name="Google Shape;244;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5" name="Shape 245"/>
        <p:cNvGrpSpPr/>
        <p:nvPr/>
      </p:nvGrpSpPr>
      <p:grpSpPr>
        <a:xfrm>
          <a:off x="0" y="0"/>
          <a:ext cx="0" cy="0"/>
          <a:chOff x="0" y="0"/>
          <a:chExt cx="0" cy="0"/>
        </a:xfrm>
      </p:grpSpPr>
      <p:sp>
        <p:nvSpPr>
          <p:cNvPr id="246" name="Google Shape;246;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7" name="Google Shape;247;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8" name="Google Shape;248;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0" name="Google Shape;250;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2" name="Google Shape;252;p25"/>
          <p:cNvGrpSpPr/>
          <p:nvPr/>
        </p:nvGrpSpPr>
        <p:grpSpPr>
          <a:xfrm>
            <a:off x="7834231" y="1285"/>
            <a:ext cx="828900" cy="576065"/>
            <a:chOff x="7801496" y="1285"/>
            <a:chExt cx="828900" cy="576065"/>
          </a:xfrm>
        </p:grpSpPr>
        <p:pic>
          <p:nvPicPr>
            <p:cNvPr id="253" name="Google Shape;253;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4" name="Google Shape;254;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5" name="Google Shape;255;p25"/>
          <p:cNvGrpSpPr/>
          <p:nvPr/>
        </p:nvGrpSpPr>
        <p:grpSpPr>
          <a:xfrm>
            <a:off x="8635663" y="1285"/>
            <a:ext cx="499700" cy="576065"/>
            <a:chOff x="8635663" y="1285"/>
            <a:chExt cx="499700" cy="576065"/>
          </a:xfrm>
        </p:grpSpPr>
        <p:pic>
          <p:nvPicPr>
            <p:cNvPr id="256" name="Google Shape;256;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7" name="Google Shape;257;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8" name="Shape 258"/>
        <p:cNvGrpSpPr/>
        <p:nvPr/>
      </p:nvGrpSpPr>
      <p:grpSpPr>
        <a:xfrm>
          <a:off x="0" y="0"/>
          <a:ext cx="0" cy="0"/>
          <a:chOff x="0" y="0"/>
          <a:chExt cx="0" cy="0"/>
        </a:xfrm>
      </p:grpSpPr>
      <p:sp>
        <p:nvSpPr>
          <p:cNvPr id="259" name="Google Shape;259;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 name="Google Shape;260;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1" name="Google Shape;261;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3" name="Google Shape;263;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5" name="Google Shape;265;p26"/>
          <p:cNvGrpSpPr/>
          <p:nvPr/>
        </p:nvGrpSpPr>
        <p:grpSpPr>
          <a:xfrm>
            <a:off x="7834231" y="1285"/>
            <a:ext cx="828900" cy="576065"/>
            <a:chOff x="7801496" y="1285"/>
            <a:chExt cx="828900" cy="576065"/>
          </a:xfrm>
        </p:grpSpPr>
        <p:pic>
          <p:nvPicPr>
            <p:cNvPr id="266" name="Google Shape;266;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7" name="Google Shape;267;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8" name="Google Shape;268;p26"/>
          <p:cNvGrpSpPr/>
          <p:nvPr/>
        </p:nvGrpSpPr>
        <p:grpSpPr>
          <a:xfrm>
            <a:off x="8635663" y="1285"/>
            <a:ext cx="499700" cy="576065"/>
            <a:chOff x="8635663" y="1285"/>
            <a:chExt cx="499700" cy="576065"/>
          </a:xfrm>
        </p:grpSpPr>
        <p:pic>
          <p:nvPicPr>
            <p:cNvPr id="269" name="Google Shape;269;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0" name="Google Shape;270;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1" name="Shape 271"/>
        <p:cNvGrpSpPr/>
        <p:nvPr/>
      </p:nvGrpSpPr>
      <p:grpSpPr>
        <a:xfrm>
          <a:off x="0" y="0"/>
          <a:ext cx="0" cy="0"/>
          <a:chOff x="0" y="0"/>
          <a:chExt cx="0" cy="0"/>
        </a:xfrm>
      </p:grpSpPr>
      <p:sp>
        <p:nvSpPr>
          <p:cNvPr id="272" name="Google Shape;272;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4" name="Google Shape;274;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6" name="Google Shape;276;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8" name="Google Shape;278;p27"/>
          <p:cNvGrpSpPr/>
          <p:nvPr/>
        </p:nvGrpSpPr>
        <p:grpSpPr>
          <a:xfrm>
            <a:off x="7834231" y="1285"/>
            <a:ext cx="828900" cy="576065"/>
            <a:chOff x="7801496" y="1285"/>
            <a:chExt cx="828900" cy="576065"/>
          </a:xfrm>
        </p:grpSpPr>
        <p:pic>
          <p:nvPicPr>
            <p:cNvPr id="279" name="Google Shape;279;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0" name="Google Shape;280;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1" name="Google Shape;281;p27"/>
          <p:cNvGrpSpPr/>
          <p:nvPr/>
        </p:nvGrpSpPr>
        <p:grpSpPr>
          <a:xfrm>
            <a:off x="8635663" y="1285"/>
            <a:ext cx="499700" cy="576065"/>
            <a:chOff x="8635663" y="1285"/>
            <a:chExt cx="499700" cy="576065"/>
          </a:xfrm>
        </p:grpSpPr>
        <p:pic>
          <p:nvPicPr>
            <p:cNvPr id="282" name="Google Shape;282;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3" name="Google Shape;283;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4" name="Shape 284"/>
        <p:cNvGrpSpPr/>
        <p:nvPr/>
      </p:nvGrpSpPr>
      <p:grpSpPr>
        <a:xfrm>
          <a:off x="0" y="0"/>
          <a:ext cx="0" cy="0"/>
          <a:chOff x="0" y="0"/>
          <a:chExt cx="0" cy="0"/>
        </a:xfrm>
      </p:grpSpPr>
      <p:pic>
        <p:nvPicPr>
          <p:cNvPr id="285" name="Google Shape;285;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6" name="Google Shape;286;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7" name="Google Shape;287;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8" name="Google Shape;288;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0" name="Google Shape;290;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1" name="Google Shape;291;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2" name="Google Shape;292;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3" name="Google Shape;293;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5" name="Google Shape;295;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6" name="Google Shape;296;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7" name="Google Shape;297;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8" name="Google Shape;298;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299" name="Google Shape;299;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0" name="Google Shape;300;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1" name="Google Shape;301;p28"/>
          <p:cNvGrpSpPr/>
          <p:nvPr/>
        </p:nvGrpSpPr>
        <p:grpSpPr>
          <a:xfrm>
            <a:off x="324128" y="3139463"/>
            <a:ext cx="457200" cy="457200"/>
            <a:chOff x="1020916" y="1442088"/>
            <a:chExt cx="457200" cy="457200"/>
          </a:xfrm>
        </p:grpSpPr>
        <p:pic>
          <p:nvPicPr>
            <p:cNvPr id="302" name="Google Shape;302;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3" name="Google Shape;303;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4" name="Google Shape;304;p28"/>
          <p:cNvGrpSpPr/>
          <p:nvPr/>
        </p:nvGrpSpPr>
        <p:grpSpPr>
          <a:xfrm>
            <a:off x="324128" y="3987825"/>
            <a:ext cx="457200" cy="457200"/>
            <a:chOff x="1020916" y="1442088"/>
            <a:chExt cx="457200" cy="457200"/>
          </a:xfrm>
        </p:grpSpPr>
        <p:pic>
          <p:nvPicPr>
            <p:cNvPr id="305" name="Google Shape;305;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6" name="Google Shape;306;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7" name="Shape 307"/>
        <p:cNvGrpSpPr/>
        <p:nvPr/>
      </p:nvGrpSpPr>
      <p:grpSpPr>
        <a:xfrm>
          <a:off x="0" y="0"/>
          <a:ext cx="0" cy="0"/>
          <a:chOff x="0" y="0"/>
          <a:chExt cx="0" cy="0"/>
        </a:xfrm>
      </p:grpSpPr>
      <p:pic>
        <p:nvPicPr>
          <p:cNvPr id="308" name="Google Shape;308;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9" name="Google Shape;309;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1" name="Google Shape;311;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2" name="Google Shape;312;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3" name="Google Shape;313;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4" name="Google Shape;314;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5" name="Google Shape;315;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6" name="Google Shape;316;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7" name="Google Shape;317;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8" name="Google Shape;318;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9" name="Google Shape;319;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0" name="Google Shape;320;p29"/>
          <p:cNvGrpSpPr/>
          <p:nvPr/>
        </p:nvGrpSpPr>
        <p:grpSpPr>
          <a:xfrm>
            <a:off x="324128" y="3139463"/>
            <a:ext cx="457200" cy="457200"/>
            <a:chOff x="1020916" y="1442088"/>
            <a:chExt cx="457200" cy="457200"/>
          </a:xfrm>
        </p:grpSpPr>
        <p:pic>
          <p:nvPicPr>
            <p:cNvPr id="321" name="Google Shape;321;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2" name="Google Shape;322;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3" name="Google Shape;323;p29"/>
          <p:cNvGrpSpPr/>
          <p:nvPr/>
        </p:nvGrpSpPr>
        <p:grpSpPr>
          <a:xfrm>
            <a:off x="324128" y="3987825"/>
            <a:ext cx="457200" cy="457200"/>
            <a:chOff x="1020916" y="1442088"/>
            <a:chExt cx="457200" cy="457200"/>
          </a:xfrm>
        </p:grpSpPr>
        <p:pic>
          <p:nvPicPr>
            <p:cNvPr id="324" name="Google Shape;324;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5" name="Google Shape;325;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6" name="Google Shape;326;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7" name="Google Shape;327;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8" name="Google Shape;328;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29" name="Google Shape;329;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0" name="Shape 330"/>
        <p:cNvGrpSpPr/>
        <p:nvPr/>
      </p:nvGrpSpPr>
      <p:grpSpPr>
        <a:xfrm>
          <a:off x="0" y="0"/>
          <a:ext cx="0" cy="0"/>
          <a:chOff x="0" y="0"/>
          <a:chExt cx="0" cy="0"/>
        </a:xfrm>
      </p:grpSpPr>
      <p:pic>
        <p:nvPicPr>
          <p:cNvPr id="331" name="Google Shape;331;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2" name="Google Shape;332;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4" name="Google Shape;33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5" name="Google Shape;33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6" name="Google Shape;336;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7" name="Google Shape;337;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8" name="Google Shape;338;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39" name="Google Shape;339;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0" name="Google Shape;340;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1" name="Google Shape;341;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2" name="Google Shape;342;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3" name="Google Shape;343;p30"/>
          <p:cNvGrpSpPr/>
          <p:nvPr/>
        </p:nvGrpSpPr>
        <p:grpSpPr>
          <a:xfrm>
            <a:off x="324128" y="3139463"/>
            <a:ext cx="457200" cy="457200"/>
            <a:chOff x="1020916" y="1442088"/>
            <a:chExt cx="457200" cy="457200"/>
          </a:xfrm>
        </p:grpSpPr>
        <p:pic>
          <p:nvPicPr>
            <p:cNvPr id="344" name="Google Shape;344;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5" name="Google Shape;345;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6" name="Google Shape;346;p30"/>
          <p:cNvGrpSpPr/>
          <p:nvPr/>
        </p:nvGrpSpPr>
        <p:grpSpPr>
          <a:xfrm>
            <a:off x="324128" y="3987825"/>
            <a:ext cx="457200" cy="457200"/>
            <a:chOff x="1020916" y="1442088"/>
            <a:chExt cx="457200" cy="457200"/>
          </a:xfrm>
        </p:grpSpPr>
        <p:pic>
          <p:nvPicPr>
            <p:cNvPr id="347" name="Google Shape;347;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8" name="Google Shape;348;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49" name="Google Shape;349;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0" name="Google Shape;350;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1" name="Google Shape;351;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2" name="Google Shape;352;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3" name="Shape 353"/>
        <p:cNvGrpSpPr/>
        <p:nvPr/>
      </p:nvGrpSpPr>
      <p:grpSpPr>
        <a:xfrm>
          <a:off x="0" y="0"/>
          <a:ext cx="0" cy="0"/>
          <a:chOff x="0" y="0"/>
          <a:chExt cx="0" cy="0"/>
        </a:xfrm>
      </p:grpSpPr>
      <p:pic>
        <p:nvPicPr>
          <p:cNvPr id="354" name="Google Shape;354;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5" name="Google Shape;355;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7" name="Google Shape;357;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8" name="Google Shape;358;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59" name="Google Shape;359;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0" name="Google Shape;360;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1" name="Google Shape;361;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2" name="Google Shape;362;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3" name="Google Shape;363;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4" name="Google Shape;364;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5" name="Google Shape;365;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6" name="Google Shape;366;p31"/>
          <p:cNvGrpSpPr/>
          <p:nvPr/>
        </p:nvGrpSpPr>
        <p:grpSpPr>
          <a:xfrm>
            <a:off x="324128" y="3139463"/>
            <a:ext cx="457200" cy="457200"/>
            <a:chOff x="1020916" y="1442088"/>
            <a:chExt cx="457200" cy="457200"/>
          </a:xfrm>
        </p:grpSpPr>
        <p:pic>
          <p:nvPicPr>
            <p:cNvPr id="367" name="Google Shape;367;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8" name="Google Shape;368;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69" name="Google Shape;369;p31"/>
          <p:cNvGrpSpPr/>
          <p:nvPr/>
        </p:nvGrpSpPr>
        <p:grpSpPr>
          <a:xfrm>
            <a:off x="324128" y="3987825"/>
            <a:ext cx="457200" cy="457200"/>
            <a:chOff x="1020916" y="1442088"/>
            <a:chExt cx="457200" cy="457200"/>
          </a:xfrm>
        </p:grpSpPr>
        <p:pic>
          <p:nvPicPr>
            <p:cNvPr id="370" name="Google Shape;370;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1" name="Google Shape;371;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2" name="Google Shape;372;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3" name="Google Shape;373;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4" name="Google Shape;374;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5" name="Google Shape;375;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6" name="Shape 376"/>
        <p:cNvGrpSpPr/>
        <p:nvPr/>
      </p:nvGrpSpPr>
      <p:grpSpPr>
        <a:xfrm>
          <a:off x="0" y="0"/>
          <a:ext cx="0" cy="0"/>
          <a:chOff x="0" y="0"/>
          <a:chExt cx="0" cy="0"/>
        </a:xfrm>
      </p:grpSpPr>
      <p:pic>
        <p:nvPicPr>
          <p:cNvPr id="377" name="Google Shape;377;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8" name="Google Shape;378;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0" name="Google Shape;380;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1" name="Google Shape;381;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2" name="Google Shape;382;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3" name="Google Shape;383;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6" name="Google Shape;386;p32"/>
          <p:cNvGrpSpPr/>
          <p:nvPr/>
        </p:nvGrpSpPr>
        <p:grpSpPr>
          <a:xfrm>
            <a:off x="323653" y="1804438"/>
            <a:ext cx="457200" cy="457200"/>
            <a:chOff x="1020916" y="1442088"/>
            <a:chExt cx="457200" cy="457200"/>
          </a:xfrm>
        </p:grpSpPr>
        <p:pic>
          <p:nvPicPr>
            <p:cNvPr id="387" name="Google Shape;387;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8" name="Google Shape;388;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89" name="Google Shape;389;p32"/>
          <p:cNvGrpSpPr/>
          <p:nvPr/>
        </p:nvGrpSpPr>
        <p:grpSpPr>
          <a:xfrm>
            <a:off x="323653" y="2766575"/>
            <a:ext cx="457200" cy="457200"/>
            <a:chOff x="1020916" y="1442088"/>
            <a:chExt cx="457200" cy="457200"/>
          </a:xfrm>
        </p:grpSpPr>
        <p:pic>
          <p:nvPicPr>
            <p:cNvPr id="390" name="Google Shape;390;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1" name="Google Shape;391;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2" name="Google Shape;392;p32"/>
          <p:cNvGrpSpPr/>
          <p:nvPr/>
        </p:nvGrpSpPr>
        <p:grpSpPr>
          <a:xfrm>
            <a:off x="323641" y="3729038"/>
            <a:ext cx="457200" cy="457200"/>
            <a:chOff x="1020916" y="1442088"/>
            <a:chExt cx="457200" cy="457200"/>
          </a:xfrm>
        </p:grpSpPr>
        <p:pic>
          <p:nvPicPr>
            <p:cNvPr id="393" name="Google Shape;393;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4" name="Google Shape;394;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5" name="Shape 395"/>
        <p:cNvGrpSpPr/>
        <p:nvPr/>
      </p:nvGrpSpPr>
      <p:grpSpPr>
        <a:xfrm>
          <a:off x="0" y="0"/>
          <a:ext cx="0" cy="0"/>
          <a:chOff x="0" y="0"/>
          <a:chExt cx="0" cy="0"/>
        </a:xfrm>
      </p:grpSpPr>
      <p:pic>
        <p:nvPicPr>
          <p:cNvPr id="396" name="Google Shape;396;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7" name="Google Shape;397;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9" name="Google Shape;399;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0" name="Google Shape;400;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1" name="Google Shape;401;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2" name="Google Shape;402;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3" name="Google Shape;403;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5" name="Google Shape;405;p33"/>
          <p:cNvGrpSpPr/>
          <p:nvPr/>
        </p:nvGrpSpPr>
        <p:grpSpPr>
          <a:xfrm>
            <a:off x="323653" y="1804438"/>
            <a:ext cx="457200" cy="457200"/>
            <a:chOff x="1020916" y="1442088"/>
            <a:chExt cx="457200" cy="457200"/>
          </a:xfrm>
        </p:grpSpPr>
        <p:pic>
          <p:nvPicPr>
            <p:cNvPr id="406" name="Google Shape;406;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7" name="Google Shape;407;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8" name="Google Shape;408;p33"/>
          <p:cNvGrpSpPr/>
          <p:nvPr/>
        </p:nvGrpSpPr>
        <p:grpSpPr>
          <a:xfrm>
            <a:off x="323653" y="2766575"/>
            <a:ext cx="457200" cy="457200"/>
            <a:chOff x="1020916" y="1442088"/>
            <a:chExt cx="457200" cy="457200"/>
          </a:xfrm>
        </p:grpSpPr>
        <p:pic>
          <p:nvPicPr>
            <p:cNvPr id="409" name="Google Shape;409;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0" name="Google Shape;410;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1" name="Google Shape;411;p33"/>
          <p:cNvGrpSpPr/>
          <p:nvPr/>
        </p:nvGrpSpPr>
        <p:grpSpPr>
          <a:xfrm>
            <a:off x="323641" y="3729038"/>
            <a:ext cx="457200" cy="457200"/>
            <a:chOff x="1020916" y="1442088"/>
            <a:chExt cx="457200" cy="457200"/>
          </a:xfrm>
        </p:grpSpPr>
        <p:pic>
          <p:nvPicPr>
            <p:cNvPr id="412" name="Google Shape;412;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3" name="Google Shape;413;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4" name="Shape 414"/>
        <p:cNvGrpSpPr/>
        <p:nvPr/>
      </p:nvGrpSpPr>
      <p:grpSpPr>
        <a:xfrm>
          <a:off x="0" y="0"/>
          <a:ext cx="0" cy="0"/>
          <a:chOff x="0" y="0"/>
          <a:chExt cx="0" cy="0"/>
        </a:xfrm>
      </p:grpSpPr>
      <p:pic>
        <p:nvPicPr>
          <p:cNvPr id="415" name="Google Shape;415;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6" name="Google Shape;416;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8" name="Google Shape;418;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19" name="Google Shape;419;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0" name="Google Shape;420;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1" name="Google Shape;421;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2" name="Google Shape;422;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4" name="Google Shape;424;p34"/>
          <p:cNvGrpSpPr/>
          <p:nvPr/>
        </p:nvGrpSpPr>
        <p:grpSpPr>
          <a:xfrm>
            <a:off x="323653" y="1804438"/>
            <a:ext cx="457200" cy="457200"/>
            <a:chOff x="1020916" y="1442088"/>
            <a:chExt cx="457200" cy="457200"/>
          </a:xfrm>
        </p:grpSpPr>
        <p:pic>
          <p:nvPicPr>
            <p:cNvPr id="425" name="Google Shape;425;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6" name="Google Shape;426;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7" name="Google Shape;427;p34"/>
          <p:cNvGrpSpPr/>
          <p:nvPr/>
        </p:nvGrpSpPr>
        <p:grpSpPr>
          <a:xfrm>
            <a:off x="323653" y="2766575"/>
            <a:ext cx="457200" cy="457200"/>
            <a:chOff x="1020916" y="1442088"/>
            <a:chExt cx="457200" cy="457200"/>
          </a:xfrm>
        </p:grpSpPr>
        <p:pic>
          <p:nvPicPr>
            <p:cNvPr id="428" name="Google Shape;428;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9" name="Google Shape;429;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0" name="Google Shape;430;p34"/>
          <p:cNvGrpSpPr/>
          <p:nvPr/>
        </p:nvGrpSpPr>
        <p:grpSpPr>
          <a:xfrm>
            <a:off x="323641" y="3729038"/>
            <a:ext cx="457200" cy="457200"/>
            <a:chOff x="1020916" y="1442088"/>
            <a:chExt cx="457200" cy="457200"/>
          </a:xfrm>
        </p:grpSpPr>
        <p:pic>
          <p:nvPicPr>
            <p:cNvPr id="431" name="Google Shape;43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2" name="Google Shape;43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3" name="Shape 433"/>
        <p:cNvGrpSpPr/>
        <p:nvPr/>
      </p:nvGrpSpPr>
      <p:grpSpPr>
        <a:xfrm>
          <a:off x="0" y="0"/>
          <a:ext cx="0" cy="0"/>
          <a:chOff x="0" y="0"/>
          <a:chExt cx="0" cy="0"/>
        </a:xfrm>
      </p:grpSpPr>
      <p:pic>
        <p:nvPicPr>
          <p:cNvPr id="434" name="Google Shape;434;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5" name="Google Shape;435;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7" name="Google Shape;437;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8" name="Google Shape;438;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39" name="Google Shape;439;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0" name="Google Shape;440;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1" name="Google Shape;441;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3" name="Google Shape;443;p35"/>
          <p:cNvGrpSpPr/>
          <p:nvPr/>
        </p:nvGrpSpPr>
        <p:grpSpPr>
          <a:xfrm>
            <a:off x="323653" y="1804438"/>
            <a:ext cx="457200" cy="457200"/>
            <a:chOff x="1020916" y="1442088"/>
            <a:chExt cx="457200" cy="457200"/>
          </a:xfrm>
        </p:grpSpPr>
        <p:pic>
          <p:nvPicPr>
            <p:cNvPr id="444" name="Google Shape;444;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5" name="Google Shape;445;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6" name="Google Shape;446;p35"/>
          <p:cNvGrpSpPr/>
          <p:nvPr/>
        </p:nvGrpSpPr>
        <p:grpSpPr>
          <a:xfrm>
            <a:off x="323653" y="2766575"/>
            <a:ext cx="457200" cy="457200"/>
            <a:chOff x="1020916" y="1442088"/>
            <a:chExt cx="457200" cy="457200"/>
          </a:xfrm>
        </p:grpSpPr>
        <p:pic>
          <p:nvPicPr>
            <p:cNvPr id="447" name="Google Shape;447;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8" name="Google Shape;448;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49" name="Google Shape;449;p35"/>
          <p:cNvGrpSpPr/>
          <p:nvPr/>
        </p:nvGrpSpPr>
        <p:grpSpPr>
          <a:xfrm>
            <a:off x="323641" y="3729038"/>
            <a:ext cx="457200" cy="457200"/>
            <a:chOff x="1020916" y="1442088"/>
            <a:chExt cx="457200" cy="457200"/>
          </a:xfrm>
        </p:grpSpPr>
        <p:pic>
          <p:nvPicPr>
            <p:cNvPr id="450" name="Google Shape;45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1" name="Google Shape;45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2" name="Shape 452"/>
        <p:cNvGrpSpPr/>
        <p:nvPr/>
      </p:nvGrpSpPr>
      <p:grpSpPr>
        <a:xfrm>
          <a:off x="0" y="0"/>
          <a:ext cx="0" cy="0"/>
          <a:chOff x="0" y="0"/>
          <a:chExt cx="0" cy="0"/>
        </a:xfrm>
      </p:grpSpPr>
      <p:pic>
        <p:nvPicPr>
          <p:cNvPr id="453" name="Google Shape;453;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4" name="Google Shape;454;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7" name="Google Shape;457;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8" name="Google Shape;458;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9" name="Google Shape;459;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0" name="Google Shape;460;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3" name="Google Shape;463;p36"/>
          <p:cNvGrpSpPr/>
          <p:nvPr/>
        </p:nvGrpSpPr>
        <p:grpSpPr>
          <a:xfrm>
            <a:off x="323653" y="1652038"/>
            <a:ext cx="457200" cy="457200"/>
            <a:chOff x="1020916" y="1442088"/>
            <a:chExt cx="457200" cy="457200"/>
          </a:xfrm>
        </p:grpSpPr>
        <p:pic>
          <p:nvPicPr>
            <p:cNvPr id="464" name="Google Shape;46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5" name="Google Shape;46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6" name="Google Shape;466;p36"/>
          <p:cNvGrpSpPr/>
          <p:nvPr/>
        </p:nvGrpSpPr>
        <p:grpSpPr>
          <a:xfrm>
            <a:off x="323653" y="2461775"/>
            <a:ext cx="457200" cy="457200"/>
            <a:chOff x="1020916" y="1442088"/>
            <a:chExt cx="457200" cy="457200"/>
          </a:xfrm>
        </p:grpSpPr>
        <p:pic>
          <p:nvPicPr>
            <p:cNvPr id="467" name="Google Shape;467;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8" name="Google Shape;468;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69" name="Google Shape;469;p36"/>
          <p:cNvGrpSpPr/>
          <p:nvPr/>
        </p:nvGrpSpPr>
        <p:grpSpPr>
          <a:xfrm>
            <a:off x="323641" y="3271838"/>
            <a:ext cx="457200" cy="457200"/>
            <a:chOff x="1020916" y="1442088"/>
            <a:chExt cx="457200" cy="457200"/>
          </a:xfrm>
        </p:grpSpPr>
        <p:pic>
          <p:nvPicPr>
            <p:cNvPr id="470" name="Google Shape;470;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1" name="Google Shape;471;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2" name="Google Shape;472;p36"/>
          <p:cNvGrpSpPr/>
          <p:nvPr/>
        </p:nvGrpSpPr>
        <p:grpSpPr>
          <a:xfrm>
            <a:off x="323641" y="4081763"/>
            <a:ext cx="457200" cy="457200"/>
            <a:chOff x="1020916" y="1442088"/>
            <a:chExt cx="457200" cy="457200"/>
          </a:xfrm>
        </p:grpSpPr>
        <p:pic>
          <p:nvPicPr>
            <p:cNvPr id="473" name="Google Shape;473;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4" name="Google Shape;474;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5" name="Shape 475"/>
        <p:cNvGrpSpPr/>
        <p:nvPr/>
      </p:nvGrpSpPr>
      <p:grpSpPr>
        <a:xfrm>
          <a:off x="0" y="0"/>
          <a:ext cx="0" cy="0"/>
          <a:chOff x="0" y="0"/>
          <a:chExt cx="0" cy="0"/>
        </a:xfrm>
      </p:grpSpPr>
      <p:pic>
        <p:nvPicPr>
          <p:cNvPr id="476" name="Google Shape;476;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7" name="Google Shape;477;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79" name="Google Shape;479;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0" name="Google Shape;480;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1" name="Google Shape;481;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2" name="Google Shape;482;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3" name="Google Shape;483;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6" name="Google Shape;486;p37"/>
          <p:cNvGrpSpPr/>
          <p:nvPr/>
        </p:nvGrpSpPr>
        <p:grpSpPr>
          <a:xfrm>
            <a:off x="323653" y="1652038"/>
            <a:ext cx="457200" cy="457200"/>
            <a:chOff x="1020916" y="1442088"/>
            <a:chExt cx="457200" cy="457200"/>
          </a:xfrm>
        </p:grpSpPr>
        <p:pic>
          <p:nvPicPr>
            <p:cNvPr id="487" name="Google Shape;48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8" name="Google Shape;48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89" name="Google Shape;489;p37"/>
          <p:cNvGrpSpPr/>
          <p:nvPr/>
        </p:nvGrpSpPr>
        <p:grpSpPr>
          <a:xfrm>
            <a:off x="323653" y="2461775"/>
            <a:ext cx="457200" cy="457200"/>
            <a:chOff x="1020916" y="1442088"/>
            <a:chExt cx="457200" cy="457200"/>
          </a:xfrm>
        </p:grpSpPr>
        <p:pic>
          <p:nvPicPr>
            <p:cNvPr id="490" name="Google Shape;490;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1" name="Google Shape;491;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2" name="Google Shape;492;p37"/>
          <p:cNvGrpSpPr/>
          <p:nvPr/>
        </p:nvGrpSpPr>
        <p:grpSpPr>
          <a:xfrm>
            <a:off x="323641" y="3271838"/>
            <a:ext cx="457200" cy="457200"/>
            <a:chOff x="1020916" y="1442088"/>
            <a:chExt cx="457200" cy="457200"/>
          </a:xfrm>
        </p:grpSpPr>
        <p:pic>
          <p:nvPicPr>
            <p:cNvPr id="493" name="Google Shape;493;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4" name="Google Shape;494;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5" name="Google Shape;495;p37"/>
          <p:cNvGrpSpPr/>
          <p:nvPr/>
        </p:nvGrpSpPr>
        <p:grpSpPr>
          <a:xfrm>
            <a:off x="323641" y="4081763"/>
            <a:ext cx="457200" cy="457200"/>
            <a:chOff x="1020916" y="1442088"/>
            <a:chExt cx="457200" cy="457200"/>
          </a:xfrm>
        </p:grpSpPr>
        <p:pic>
          <p:nvPicPr>
            <p:cNvPr id="496" name="Google Shape;496;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7" name="Google Shape;497;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8" name="Shape 498"/>
        <p:cNvGrpSpPr/>
        <p:nvPr/>
      </p:nvGrpSpPr>
      <p:grpSpPr>
        <a:xfrm>
          <a:off x="0" y="0"/>
          <a:ext cx="0" cy="0"/>
          <a:chOff x="0" y="0"/>
          <a:chExt cx="0" cy="0"/>
        </a:xfrm>
      </p:grpSpPr>
      <p:pic>
        <p:nvPicPr>
          <p:cNvPr id="499" name="Google Shape;499;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0" name="Google Shape;500;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2" name="Google Shape;502;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3" name="Google Shape;503;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4" name="Google Shape;504;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5" name="Google Shape;505;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6" name="Google Shape;506;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09" name="Google Shape;509;p38"/>
          <p:cNvGrpSpPr/>
          <p:nvPr/>
        </p:nvGrpSpPr>
        <p:grpSpPr>
          <a:xfrm>
            <a:off x="323653" y="1652038"/>
            <a:ext cx="457200" cy="457200"/>
            <a:chOff x="1020916" y="1442088"/>
            <a:chExt cx="457200" cy="457200"/>
          </a:xfrm>
        </p:grpSpPr>
        <p:pic>
          <p:nvPicPr>
            <p:cNvPr id="510" name="Google Shape;51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1" name="Google Shape;51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2" name="Google Shape;512;p38"/>
          <p:cNvGrpSpPr/>
          <p:nvPr/>
        </p:nvGrpSpPr>
        <p:grpSpPr>
          <a:xfrm>
            <a:off x="323653" y="2461775"/>
            <a:ext cx="457200" cy="457200"/>
            <a:chOff x="1020916" y="1442088"/>
            <a:chExt cx="457200" cy="457200"/>
          </a:xfrm>
        </p:grpSpPr>
        <p:pic>
          <p:nvPicPr>
            <p:cNvPr id="513" name="Google Shape;513;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4" name="Google Shape;514;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5" name="Google Shape;515;p38"/>
          <p:cNvGrpSpPr/>
          <p:nvPr/>
        </p:nvGrpSpPr>
        <p:grpSpPr>
          <a:xfrm>
            <a:off x="323641" y="3271838"/>
            <a:ext cx="457200" cy="457200"/>
            <a:chOff x="1020916" y="1442088"/>
            <a:chExt cx="457200" cy="457200"/>
          </a:xfrm>
        </p:grpSpPr>
        <p:pic>
          <p:nvPicPr>
            <p:cNvPr id="516" name="Google Shape;516;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7" name="Google Shape;517;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8" name="Google Shape;518;p38"/>
          <p:cNvGrpSpPr/>
          <p:nvPr/>
        </p:nvGrpSpPr>
        <p:grpSpPr>
          <a:xfrm>
            <a:off x="323641" y="4081763"/>
            <a:ext cx="457200" cy="457200"/>
            <a:chOff x="1020916" y="1442088"/>
            <a:chExt cx="457200" cy="457200"/>
          </a:xfrm>
        </p:grpSpPr>
        <p:pic>
          <p:nvPicPr>
            <p:cNvPr id="519" name="Google Shape;519;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0" name="Google Shape;520;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1" name="Shape 521"/>
        <p:cNvGrpSpPr/>
        <p:nvPr/>
      </p:nvGrpSpPr>
      <p:grpSpPr>
        <a:xfrm>
          <a:off x="0" y="0"/>
          <a:ext cx="0" cy="0"/>
          <a:chOff x="0" y="0"/>
          <a:chExt cx="0" cy="0"/>
        </a:xfrm>
      </p:grpSpPr>
      <p:pic>
        <p:nvPicPr>
          <p:cNvPr id="522" name="Google Shape;522;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3" name="Google Shape;523;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5" name="Google Shape;525;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6" name="Google Shape;526;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7" name="Google Shape;527;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8" name="Google Shape;528;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9" name="Google Shape;529;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39"/>
          <p:cNvGrpSpPr/>
          <p:nvPr/>
        </p:nvGrpSpPr>
        <p:grpSpPr>
          <a:xfrm>
            <a:off x="323653" y="1652038"/>
            <a:ext cx="457200" cy="457200"/>
            <a:chOff x="1020916" y="1442088"/>
            <a:chExt cx="457200" cy="457200"/>
          </a:xfrm>
        </p:grpSpPr>
        <p:pic>
          <p:nvPicPr>
            <p:cNvPr id="533" name="Google Shape;53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39"/>
          <p:cNvGrpSpPr/>
          <p:nvPr/>
        </p:nvGrpSpPr>
        <p:grpSpPr>
          <a:xfrm>
            <a:off x="323653" y="2461775"/>
            <a:ext cx="457200" cy="457200"/>
            <a:chOff x="1020916" y="1442088"/>
            <a:chExt cx="457200" cy="457200"/>
          </a:xfrm>
        </p:grpSpPr>
        <p:pic>
          <p:nvPicPr>
            <p:cNvPr id="536" name="Google Shape;536;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39"/>
          <p:cNvGrpSpPr/>
          <p:nvPr/>
        </p:nvGrpSpPr>
        <p:grpSpPr>
          <a:xfrm>
            <a:off x="323641" y="3271838"/>
            <a:ext cx="457200" cy="457200"/>
            <a:chOff x="1020916" y="1442088"/>
            <a:chExt cx="457200" cy="457200"/>
          </a:xfrm>
        </p:grpSpPr>
        <p:pic>
          <p:nvPicPr>
            <p:cNvPr id="539" name="Google Shape;539;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1" name="Google Shape;541;p39"/>
          <p:cNvGrpSpPr/>
          <p:nvPr/>
        </p:nvGrpSpPr>
        <p:grpSpPr>
          <a:xfrm>
            <a:off x="323641" y="4081763"/>
            <a:ext cx="457200" cy="457200"/>
            <a:chOff x="1020916" y="1442088"/>
            <a:chExt cx="457200" cy="457200"/>
          </a:xfrm>
        </p:grpSpPr>
        <p:pic>
          <p:nvPicPr>
            <p:cNvPr id="542" name="Google Shape;542;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3" name="Google Shape;543;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4" name="Shape 544"/>
        <p:cNvGrpSpPr/>
        <p:nvPr/>
      </p:nvGrpSpPr>
      <p:grpSpPr>
        <a:xfrm>
          <a:off x="0" y="0"/>
          <a:ext cx="0" cy="0"/>
          <a:chOff x="0" y="0"/>
          <a:chExt cx="0" cy="0"/>
        </a:xfrm>
      </p:grpSpPr>
      <p:pic>
        <p:nvPicPr>
          <p:cNvPr id="545" name="Google Shape;545;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6" name="Google Shape;546;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8" name="Google Shape;548;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9" name="Google Shape;549;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0" name="Google Shape;550;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1" name="Google Shape;551;p40"/>
          <p:cNvSpPr/>
          <p:nvPr>
            <p:ph idx="3" type="pic"/>
          </p:nvPr>
        </p:nvSpPr>
        <p:spPr>
          <a:xfrm>
            <a:off x="324000" y="1893950"/>
            <a:ext cx="2555400" cy="1939500"/>
          </a:xfrm>
          <a:prstGeom prst="rect">
            <a:avLst/>
          </a:prstGeom>
          <a:noFill/>
          <a:ln>
            <a:noFill/>
          </a:ln>
        </p:spPr>
      </p:sp>
      <p:sp>
        <p:nvSpPr>
          <p:cNvPr id="552" name="Google Shape;552;p40"/>
          <p:cNvSpPr/>
          <p:nvPr>
            <p:ph idx="4" type="pic"/>
          </p:nvPr>
        </p:nvSpPr>
        <p:spPr>
          <a:xfrm>
            <a:off x="6256800" y="1893950"/>
            <a:ext cx="2555400" cy="1939500"/>
          </a:xfrm>
          <a:prstGeom prst="rect">
            <a:avLst/>
          </a:prstGeom>
          <a:noFill/>
          <a:ln>
            <a:noFill/>
          </a:ln>
        </p:spPr>
      </p:sp>
      <p:sp>
        <p:nvSpPr>
          <p:cNvPr id="553" name="Google Shape;553;p40"/>
          <p:cNvSpPr/>
          <p:nvPr>
            <p:ph idx="5" type="pic"/>
          </p:nvPr>
        </p:nvSpPr>
        <p:spPr>
          <a:xfrm>
            <a:off x="3294300" y="1893950"/>
            <a:ext cx="2555400" cy="1939500"/>
          </a:xfrm>
          <a:prstGeom prst="rect">
            <a:avLst/>
          </a:prstGeom>
          <a:noFill/>
          <a:ln>
            <a:noFill/>
          </a:ln>
        </p:spPr>
      </p:sp>
      <p:grpSp>
        <p:nvGrpSpPr>
          <p:cNvPr id="554" name="Google Shape;554;p40"/>
          <p:cNvGrpSpPr/>
          <p:nvPr/>
        </p:nvGrpSpPr>
        <p:grpSpPr>
          <a:xfrm>
            <a:off x="1381028" y="4148538"/>
            <a:ext cx="457200" cy="457200"/>
            <a:chOff x="1020916" y="1442088"/>
            <a:chExt cx="457200" cy="457200"/>
          </a:xfrm>
        </p:grpSpPr>
        <p:pic>
          <p:nvPicPr>
            <p:cNvPr id="555" name="Google Shape;555;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6" name="Google Shape;556;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7" name="Google Shape;557;p40"/>
          <p:cNvGrpSpPr/>
          <p:nvPr/>
        </p:nvGrpSpPr>
        <p:grpSpPr>
          <a:xfrm>
            <a:off x="4331066" y="4148550"/>
            <a:ext cx="457200" cy="457200"/>
            <a:chOff x="1020916" y="1442088"/>
            <a:chExt cx="457200" cy="457200"/>
          </a:xfrm>
        </p:grpSpPr>
        <p:pic>
          <p:nvPicPr>
            <p:cNvPr id="558" name="Google Shape;558;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9" name="Google Shape;559;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0" name="Google Shape;560;p40"/>
          <p:cNvGrpSpPr/>
          <p:nvPr/>
        </p:nvGrpSpPr>
        <p:grpSpPr>
          <a:xfrm>
            <a:off x="7305791" y="4148538"/>
            <a:ext cx="457200" cy="457200"/>
            <a:chOff x="1020916" y="1442088"/>
            <a:chExt cx="457200" cy="457200"/>
          </a:xfrm>
        </p:grpSpPr>
        <p:pic>
          <p:nvPicPr>
            <p:cNvPr id="561" name="Google Shape;561;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2" name="Google Shape;562;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3" name="Shape 563"/>
        <p:cNvGrpSpPr/>
        <p:nvPr/>
      </p:nvGrpSpPr>
      <p:grpSpPr>
        <a:xfrm>
          <a:off x="0" y="0"/>
          <a:ext cx="0" cy="0"/>
          <a:chOff x="0" y="0"/>
          <a:chExt cx="0" cy="0"/>
        </a:xfrm>
      </p:grpSpPr>
      <p:pic>
        <p:nvPicPr>
          <p:cNvPr id="564" name="Google Shape;564;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5" name="Google Shape;565;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7" name="Google Shape;567;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8" name="Google Shape;568;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69" name="Google Shape;569;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0" name="Google Shape;570;p41"/>
          <p:cNvSpPr/>
          <p:nvPr>
            <p:ph idx="3" type="pic"/>
          </p:nvPr>
        </p:nvSpPr>
        <p:spPr>
          <a:xfrm>
            <a:off x="324000" y="1893950"/>
            <a:ext cx="2555400" cy="1939500"/>
          </a:xfrm>
          <a:prstGeom prst="rect">
            <a:avLst/>
          </a:prstGeom>
          <a:noFill/>
          <a:ln>
            <a:noFill/>
          </a:ln>
        </p:spPr>
      </p:sp>
      <p:sp>
        <p:nvSpPr>
          <p:cNvPr id="571" name="Google Shape;571;p41"/>
          <p:cNvSpPr/>
          <p:nvPr>
            <p:ph idx="4" type="pic"/>
          </p:nvPr>
        </p:nvSpPr>
        <p:spPr>
          <a:xfrm>
            <a:off x="6256800" y="1893950"/>
            <a:ext cx="2555400" cy="1939500"/>
          </a:xfrm>
          <a:prstGeom prst="rect">
            <a:avLst/>
          </a:prstGeom>
          <a:noFill/>
          <a:ln>
            <a:noFill/>
          </a:ln>
        </p:spPr>
      </p:sp>
      <p:sp>
        <p:nvSpPr>
          <p:cNvPr id="572" name="Google Shape;572;p41"/>
          <p:cNvSpPr/>
          <p:nvPr>
            <p:ph idx="5" type="pic"/>
          </p:nvPr>
        </p:nvSpPr>
        <p:spPr>
          <a:xfrm>
            <a:off x="3294300" y="1893950"/>
            <a:ext cx="2555400" cy="1939500"/>
          </a:xfrm>
          <a:prstGeom prst="rect">
            <a:avLst/>
          </a:prstGeom>
          <a:noFill/>
          <a:ln>
            <a:noFill/>
          </a:ln>
        </p:spPr>
      </p:sp>
      <p:grpSp>
        <p:nvGrpSpPr>
          <p:cNvPr id="573" name="Google Shape;573;p41"/>
          <p:cNvGrpSpPr/>
          <p:nvPr/>
        </p:nvGrpSpPr>
        <p:grpSpPr>
          <a:xfrm>
            <a:off x="1381028" y="4148538"/>
            <a:ext cx="457200" cy="457200"/>
            <a:chOff x="1020916" y="1442088"/>
            <a:chExt cx="457200" cy="457200"/>
          </a:xfrm>
        </p:grpSpPr>
        <p:pic>
          <p:nvPicPr>
            <p:cNvPr id="574" name="Google Shape;574;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5" name="Google Shape;575;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6" name="Google Shape;576;p41"/>
          <p:cNvGrpSpPr/>
          <p:nvPr/>
        </p:nvGrpSpPr>
        <p:grpSpPr>
          <a:xfrm>
            <a:off x="4331066" y="4148550"/>
            <a:ext cx="457200" cy="457200"/>
            <a:chOff x="1020916" y="1442088"/>
            <a:chExt cx="457200" cy="457200"/>
          </a:xfrm>
        </p:grpSpPr>
        <p:pic>
          <p:nvPicPr>
            <p:cNvPr id="577" name="Google Shape;57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8" name="Google Shape;57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79" name="Google Shape;579;p41"/>
          <p:cNvGrpSpPr/>
          <p:nvPr/>
        </p:nvGrpSpPr>
        <p:grpSpPr>
          <a:xfrm>
            <a:off x="7305791" y="4148538"/>
            <a:ext cx="457200" cy="457200"/>
            <a:chOff x="1020916" y="1442088"/>
            <a:chExt cx="457200" cy="457200"/>
          </a:xfrm>
        </p:grpSpPr>
        <p:pic>
          <p:nvPicPr>
            <p:cNvPr id="580" name="Google Shape;58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1" name="Google Shape;58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2" name="Shape 582"/>
        <p:cNvGrpSpPr/>
        <p:nvPr/>
      </p:nvGrpSpPr>
      <p:grpSpPr>
        <a:xfrm>
          <a:off x="0" y="0"/>
          <a:ext cx="0" cy="0"/>
          <a:chOff x="0" y="0"/>
          <a:chExt cx="0" cy="0"/>
        </a:xfrm>
      </p:grpSpPr>
      <p:pic>
        <p:nvPicPr>
          <p:cNvPr id="583" name="Google Shape;583;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4" name="Google Shape;584;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6" name="Google Shape;586;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7" name="Google Shape;587;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8" name="Google Shape;588;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9" name="Google Shape;589;p42"/>
          <p:cNvSpPr/>
          <p:nvPr>
            <p:ph idx="3" type="pic"/>
          </p:nvPr>
        </p:nvSpPr>
        <p:spPr>
          <a:xfrm>
            <a:off x="324000" y="1893950"/>
            <a:ext cx="2555400" cy="1939500"/>
          </a:xfrm>
          <a:prstGeom prst="rect">
            <a:avLst/>
          </a:prstGeom>
          <a:noFill/>
          <a:ln>
            <a:noFill/>
          </a:ln>
        </p:spPr>
      </p:sp>
      <p:sp>
        <p:nvSpPr>
          <p:cNvPr id="590" name="Google Shape;590;p42"/>
          <p:cNvSpPr/>
          <p:nvPr>
            <p:ph idx="4" type="pic"/>
          </p:nvPr>
        </p:nvSpPr>
        <p:spPr>
          <a:xfrm>
            <a:off x="6256800" y="1893950"/>
            <a:ext cx="2555400" cy="1939500"/>
          </a:xfrm>
          <a:prstGeom prst="rect">
            <a:avLst/>
          </a:prstGeom>
          <a:noFill/>
          <a:ln>
            <a:noFill/>
          </a:ln>
        </p:spPr>
      </p:sp>
      <p:sp>
        <p:nvSpPr>
          <p:cNvPr id="591" name="Google Shape;591;p42"/>
          <p:cNvSpPr/>
          <p:nvPr>
            <p:ph idx="5" type="pic"/>
          </p:nvPr>
        </p:nvSpPr>
        <p:spPr>
          <a:xfrm>
            <a:off x="3294300" y="1893950"/>
            <a:ext cx="2555400" cy="1939500"/>
          </a:xfrm>
          <a:prstGeom prst="rect">
            <a:avLst/>
          </a:prstGeom>
          <a:noFill/>
          <a:ln>
            <a:noFill/>
          </a:ln>
        </p:spPr>
      </p:sp>
      <p:grpSp>
        <p:nvGrpSpPr>
          <p:cNvPr id="592" name="Google Shape;592;p42"/>
          <p:cNvGrpSpPr/>
          <p:nvPr/>
        </p:nvGrpSpPr>
        <p:grpSpPr>
          <a:xfrm>
            <a:off x="1381028" y="4148538"/>
            <a:ext cx="457200" cy="457200"/>
            <a:chOff x="1020916" y="1442088"/>
            <a:chExt cx="457200" cy="457200"/>
          </a:xfrm>
        </p:grpSpPr>
        <p:pic>
          <p:nvPicPr>
            <p:cNvPr id="593" name="Google Shape;593;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4" name="Google Shape;594;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5" name="Google Shape;595;p42"/>
          <p:cNvGrpSpPr/>
          <p:nvPr/>
        </p:nvGrpSpPr>
        <p:grpSpPr>
          <a:xfrm>
            <a:off x="4331066" y="4148550"/>
            <a:ext cx="457200" cy="457200"/>
            <a:chOff x="1020916" y="1442088"/>
            <a:chExt cx="457200" cy="457200"/>
          </a:xfrm>
        </p:grpSpPr>
        <p:pic>
          <p:nvPicPr>
            <p:cNvPr id="596" name="Google Shape;596;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7" name="Google Shape;597;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8" name="Google Shape;598;p42"/>
          <p:cNvGrpSpPr/>
          <p:nvPr/>
        </p:nvGrpSpPr>
        <p:grpSpPr>
          <a:xfrm>
            <a:off x="7305791" y="4148538"/>
            <a:ext cx="457200" cy="457200"/>
            <a:chOff x="1020916" y="1442088"/>
            <a:chExt cx="457200" cy="457200"/>
          </a:xfrm>
        </p:grpSpPr>
        <p:pic>
          <p:nvPicPr>
            <p:cNvPr id="599" name="Google Shape;59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1" name="Shape 601"/>
        <p:cNvGrpSpPr/>
        <p:nvPr/>
      </p:nvGrpSpPr>
      <p:grpSpPr>
        <a:xfrm>
          <a:off x="0" y="0"/>
          <a:ext cx="0" cy="0"/>
          <a:chOff x="0" y="0"/>
          <a:chExt cx="0" cy="0"/>
        </a:xfrm>
      </p:grpSpPr>
      <p:pic>
        <p:nvPicPr>
          <p:cNvPr id="602" name="Google Shape;602;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3" name="Google Shape;603;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5" name="Google Shape;605;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6" name="Google Shape;606;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7" name="Google Shape;607;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8" name="Google Shape;608;p43"/>
          <p:cNvSpPr/>
          <p:nvPr>
            <p:ph idx="3" type="pic"/>
          </p:nvPr>
        </p:nvSpPr>
        <p:spPr>
          <a:xfrm>
            <a:off x="324000" y="1893950"/>
            <a:ext cx="2555400" cy="1939500"/>
          </a:xfrm>
          <a:prstGeom prst="rect">
            <a:avLst/>
          </a:prstGeom>
          <a:noFill/>
          <a:ln>
            <a:noFill/>
          </a:ln>
        </p:spPr>
      </p:sp>
      <p:sp>
        <p:nvSpPr>
          <p:cNvPr id="609" name="Google Shape;609;p43"/>
          <p:cNvSpPr/>
          <p:nvPr>
            <p:ph idx="4" type="pic"/>
          </p:nvPr>
        </p:nvSpPr>
        <p:spPr>
          <a:xfrm>
            <a:off x="6256800" y="1893950"/>
            <a:ext cx="2555400" cy="1939500"/>
          </a:xfrm>
          <a:prstGeom prst="rect">
            <a:avLst/>
          </a:prstGeom>
          <a:noFill/>
          <a:ln>
            <a:noFill/>
          </a:ln>
        </p:spPr>
      </p:sp>
      <p:sp>
        <p:nvSpPr>
          <p:cNvPr id="610" name="Google Shape;610;p43"/>
          <p:cNvSpPr/>
          <p:nvPr>
            <p:ph idx="5" type="pic"/>
          </p:nvPr>
        </p:nvSpPr>
        <p:spPr>
          <a:xfrm>
            <a:off x="3294300" y="1893950"/>
            <a:ext cx="2555400" cy="1939500"/>
          </a:xfrm>
          <a:prstGeom prst="rect">
            <a:avLst/>
          </a:prstGeom>
          <a:noFill/>
          <a:ln>
            <a:noFill/>
          </a:ln>
        </p:spPr>
      </p:sp>
      <p:grpSp>
        <p:nvGrpSpPr>
          <p:cNvPr id="611" name="Google Shape;611;p43"/>
          <p:cNvGrpSpPr/>
          <p:nvPr/>
        </p:nvGrpSpPr>
        <p:grpSpPr>
          <a:xfrm>
            <a:off x="1381028" y="4148538"/>
            <a:ext cx="457200" cy="457200"/>
            <a:chOff x="1020916" y="1442088"/>
            <a:chExt cx="457200" cy="457200"/>
          </a:xfrm>
        </p:grpSpPr>
        <p:pic>
          <p:nvPicPr>
            <p:cNvPr id="612" name="Google Shape;61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3" name="Google Shape;61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4" name="Google Shape;614;p43"/>
          <p:cNvGrpSpPr/>
          <p:nvPr/>
        </p:nvGrpSpPr>
        <p:grpSpPr>
          <a:xfrm>
            <a:off x="4331066" y="4148550"/>
            <a:ext cx="457200" cy="457200"/>
            <a:chOff x="1020916" y="1442088"/>
            <a:chExt cx="457200" cy="457200"/>
          </a:xfrm>
        </p:grpSpPr>
        <p:pic>
          <p:nvPicPr>
            <p:cNvPr id="615" name="Google Shape;615;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6" name="Google Shape;616;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7" name="Google Shape;617;p43"/>
          <p:cNvGrpSpPr/>
          <p:nvPr/>
        </p:nvGrpSpPr>
        <p:grpSpPr>
          <a:xfrm>
            <a:off x="7305791" y="4148538"/>
            <a:ext cx="457200" cy="457200"/>
            <a:chOff x="1020916" y="1442088"/>
            <a:chExt cx="457200" cy="457200"/>
          </a:xfrm>
        </p:grpSpPr>
        <p:pic>
          <p:nvPicPr>
            <p:cNvPr id="618" name="Google Shape;61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9" name="Google Shape;61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0" name="Shape 620"/>
        <p:cNvGrpSpPr/>
        <p:nvPr/>
      </p:nvGrpSpPr>
      <p:grpSpPr>
        <a:xfrm>
          <a:off x="0" y="0"/>
          <a:ext cx="0" cy="0"/>
          <a:chOff x="0" y="0"/>
          <a:chExt cx="0" cy="0"/>
        </a:xfrm>
      </p:grpSpPr>
      <p:pic>
        <p:nvPicPr>
          <p:cNvPr id="621" name="Google Shape;621;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2" name="Google Shape;622;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4" name="Google Shape;624;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5" name="Google Shape;625;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6" name="Google Shape;626;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7" name="Shape 627"/>
        <p:cNvGrpSpPr/>
        <p:nvPr/>
      </p:nvGrpSpPr>
      <p:grpSpPr>
        <a:xfrm>
          <a:off x="0" y="0"/>
          <a:ext cx="0" cy="0"/>
          <a:chOff x="0" y="0"/>
          <a:chExt cx="0" cy="0"/>
        </a:xfrm>
      </p:grpSpPr>
      <p:pic>
        <p:nvPicPr>
          <p:cNvPr id="628" name="Google Shape;628;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29" name="Google Shape;629;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1" name="Google Shape;631;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2" name="Google Shape;632;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3" name="Google Shape;633;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4" name="Shape 634"/>
        <p:cNvGrpSpPr/>
        <p:nvPr/>
      </p:nvGrpSpPr>
      <p:grpSpPr>
        <a:xfrm>
          <a:off x="0" y="0"/>
          <a:ext cx="0" cy="0"/>
          <a:chOff x="0" y="0"/>
          <a:chExt cx="0" cy="0"/>
        </a:xfrm>
      </p:grpSpPr>
      <p:pic>
        <p:nvPicPr>
          <p:cNvPr id="635" name="Google Shape;635;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6" name="Google Shape;636;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8" name="Google Shape;63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9" name="Google Shape;63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0" name="Google Shape;64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1" name="Shape 641"/>
        <p:cNvGrpSpPr/>
        <p:nvPr/>
      </p:nvGrpSpPr>
      <p:grpSpPr>
        <a:xfrm>
          <a:off x="0" y="0"/>
          <a:ext cx="0" cy="0"/>
          <a:chOff x="0" y="0"/>
          <a:chExt cx="0" cy="0"/>
        </a:xfrm>
      </p:grpSpPr>
      <p:pic>
        <p:nvPicPr>
          <p:cNvPr id="642" name="Google Shape;64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3" name="Google Shape;643;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5" name="Google Shape;6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6" name="Google Shape;6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7" name="Google Shape;64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8" name="Shape 648"/>
        <p:cNvGrpSpPr/>
        <p:nvPr/>
      </p:nvGrpSpPr>
      <p:grpSpPr>
        <a:xfrm>
          <a:off x="0" y="0"/>
          <a:ext cx="0" cy="0"/>
          <a:chOff x="0" y="0"/>
          <a:chExt cx="0" cy="0"/>
        </a:xfrm>
      </p:grpSpPr>
      <p:pic>
        <p:nvPicPr>
          <p:cNvPr id="649" name="Google Shape;649;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0" name="Google Shape;650;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2" name="Google Shape;652;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3" name="Google Shape;65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4" name="Google Shape;654;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5" name="Google Shape;655;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6" name="Shape 656"/>
        <p:cNvGrpSpPr/>
        <p:nvPr/>
      </p:nvGrpSpPr>
      <p:grpSpPr>
        <a:xfrm>
          <a:off x="0" y="0"/>
          <a:ext cx="0" cy="0"/>
          <a:chOff x="0" y="0"/>
          <a:chExt cx="0" cy="0"/>
        </a:xfrm>
      </p:grpSpPr>
      <p:pic>
        <p:nvPicPr>
          <p:cNvPr id="657" name="Google Shape;657;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8" name="Google Shape;658;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0" name="Google Shape;66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1" name="Google Shape;661;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2" name="Google Shape;662;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3" name="Google Shape;663;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4" name="Shape 664"/>
        <p:cNvGrpSpPr/>
        <p:nvPr/>
      </p:nvGrpSpPr>
      <p:grpSpPr>
        <a:xfrm>
          <a:off x="0" y="0"/>
          <a:ext cx="0" cy="0"/>
          <a:chOff x="0" y="0"/>
          <a:chExt cx="0" cy="0"/>
        </a:xfrm>
      </p:grpSpPr>
      <p:pic>
        <p:nvPicPr>
          <p:cNvPr id="665" name="Google Shape;665;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6" name="Google Shape;666;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8" name="Google Shape;668;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69" name="Google Shape;669;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0" name="Google Shape;670;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1" name="Google Shape;671;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2" name="Shape 672"/>
        <p:cNvGrpSpPr/>
        <p:nvPr/>
      </p:nvGrpSpPr>
      <p:grpSpPr>
        <a:xfrm>
          <a:off x="0" y="0"/>
          <a:ext cx="0" cy="0"/>
          <a:chOff x="0" y="0"/>
          <a:chExt cx="0" cy="0"/>
        </a:xfrm>
      </p:grpSpPr>
      <p:pic>
        <p:nvPicPr>
          <p:cNvPr id="673" name="Google Shape;673;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4" name="Google Shape;674;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6" name="Google Shape;676;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7" name="Google Shape;67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8" name="Google Shape;678;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9" name="Google Shape;679;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0" name="Shape 680"/>
        <p:cNvGrpSpPr/>
        <p:nvPr/>
      </p:nvGrpSpPr>
      <p:grpSpPr>
        <a:xfrm>
          <a:off x="0" y="0"/>
          <a:ext cx="0" cy="0"/>
          <a:chOff x="0" y="0"/>
          <a:chExt cx="0" cy="0"/>
        </a:xfrm>
      </p:grpSpPr>
      <p:pic>
        <p:nvPicPr>
          <p:cNvPr id="681" name="Google Shape;681;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2" name="Google Shape;682;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4" name="Google Shape;684;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5" name="Google Shape;685;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6" name="Google Shape;686;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7" name="Google Shape;687;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8" name="Shape 688"/>
        <p:cNvGrpSpPr/>
        <p:nvPr/>
      </p:nvGrpSpPr>
      <p:grpSpPr>
        <a:xfrm>
          <a:off x="0" y="0"/>
          <a:ext cx="0" cy="0"/>
          <a:chOff x="0" y="0"/>
          <a:chExt cx="0" cy="0"/>
        </a:xfrm>
      </p:grpSpPr>
      <p:pic>
        <p:nvPicPr>
          <p:cNvPr id="689" name="Google Shape;689;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0" name="Google Shape;690;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2" name="Google Shape;692;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3" name="Google Shape;693;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4" name="Google Shape;694;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5" name="Google Shape;695;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6" name="Shape 696"/>
        <p:cNvGrpSpPr/>
        <p:nvPr/>
      </p:nvGrpSpPr>
      <p:grpSpPr>
        <a:xfrm>
          <a:off x="0" y="0"/>
          <a:ext cx="0" cy="0"/>
          <a:chOff x="0" y="0"/>
          <a:chExt cx="0" cy="0"/>
        </a:xfrm>
      </p:grpSpPr>
      <p:pic>
        <p:nvPicPr>
          <p:cNvPr id="697" name="Google Shape;697;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8" name="Google Shape;698;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0" name="Google Shape;700;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1" name="Google Shape;701;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2" name="Google Shape;702;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3" name="Google Shape;703;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4" name="Shape 704"/>
        <p:cNvGrpSpPr/>
        <p:nvPr/>
      </p:nvGrpSpPr>
      <p:grpSpPr>
        <a:xfrm>
          <a:off x="0" y="0"/>
          <a:ext cx="0" cy="0"/>
          <a:chOff x="0" y="0"/>
          <a:chExt cx="0" cy="0"/>
        </a:xfrm>
      </p:grpSpPr>
      <p:pic>
        <p:nvPicPr>
          <p:cNvPr id="705" name="Google Shape;705;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6" name="Google Shape;706;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8" name="Google Shape;70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09" name="Google Shape;70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0" name="Google Shape;710;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1" name="Google Shape;711;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2" name="Shape 712"/>
        <p:cNvGrpSpPr/>
        <p:nvPr/>
      </p:nvGrpSpPr>
      <p:grpSpPr>
        <a:xfrm>
          <a:off x="0" y="0"/>
          <a:ext cx="0" cy="0"/>
          <a:chOff x="0" y="0"/>
          <a:chExt cx="0" cy="0"/>
        </a:xfrm>
      </p:grpSpPr>
      <p:sp>
        <p:nvSpPr>
          <p:cNvPr id="713" name="Google Shape;713;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4" name="Google Shape;714;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5" name="Google Shape;715;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6" name="Google Shape;716;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7" name="Google Shape;717;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8" name="Shape 718"/>
        <p:cNvGrpSpPr/>
        <p:nvPr/>
      </p:nvGrpSpPr>
      <p:grpSpPr>
        <a:xfrm>
          <a:off x="0" y="0"/>
          <a:ext cx="0" cy="0"/>
          <a:chOff x="0" y="0"/>
          <a:chExt cx="0" cy="0"/>
        </a:xfrm>
      </p:grpSpPr>
      <p:sp>
        <p:nvSpPr>
          <p:cNvPr id="719" name="Google Shape;719;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0" name="Google Shape;720;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1" name="Google Shape;721;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2" name="Google Shape;722;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3" name="Google Shape;723;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4" name="Shape 724"/>
        <p:cNvGrpSpPr/>
        <p:nvPr/>
      </p:nvGrpSpPr>
      <p:grpSpPr>
        <a:xfrm>
          <a:off x="0" y="0"/>
          <a:ext cx="0" cy="0"/>
          <a:chOff x="0" y="0"/>
          <a:chExt cx="0" cy="0"/>
        </a:xfrm>
      </p:grpSpPr>
      <p:pic>
        <p:nvPicPr>
          <p:cNvPr id="725" name="Google Shape;725;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6" name="Google Shape;726;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7" name="Shape 727"/>
        <p:cNvGrpSpPr/>
        <p:nvPr/>
      </p:nvGrpSpPr>
      <p:grpSpPr>
        <a:xfrm>
          <a:off x="0" y="0"/>
          <a:ext cx="0" cy="0"/>
          <a:chOff x="0" y="0"/>
          <a:chExt cx="0" cy="0"/>
        </a:xfrm>
      </p:grpSpPr>
      <p:sp>
        <p:nvSpPr>
          <p:cNvPr id="728" name="Google Shape;728;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29" name="Google Shape;729;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0" name="Google Shape;730;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1" name="Google Shape;731;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2" name="Google Shape;732;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3" name="Google Shape;733;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7" name="Shape 737"/>
        <p:cNvGrpSpPr/>
        <p:nvPr/>
      </p:nvGrpSpPr>
      <p:grpSpPr>
        <a:xfrm>
          <a:off x="0" y="0"/>
          <a:ext cx="0" cy="0"/>
          <a:chOff x="0" y="0"/>
          <a:chExt cx="0" cy="0"/>
        </a:xfrm>
      </p:grpSpPr>
      <p:pic>
        <p:nvPicPr>
          <p:cNvPr id="738" name="Google Shape;738;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39" name="Google Shape;739;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0" name="Shape 740"/>
        <p:cNvGrpSpPr/>
        <p:nvPr/>
      </p:nvGrpSpPr>
      <p:grpSpPr>
        <a:xfrm>
          <a:off x="0" y="0"/>
          <a:ext cx="0" cy="0"/>
          <a:chOff x="0" y="0"/>
          <a:chExt cx="0" cy="0"/>
        </a:xfrm>
      </p:grpSpPr>
      <p:sp>
        <p:nvSpPr>
          <p:cNvPr id="741" name="Google Shape;741;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742" name="Shape 742"/>
        <p:cNvGrpSpPr/>
        <p:nvPr/>
      </p:nvGrpSpPr>
      <p:grpSpPr>
        <a:xfrm>
          <a:off x="0" y="0"/>
          <a:ext cx="0" cy="0"/>
          <a:chOff x="0" y="0"/>
          <a:chExt cx="0" cy="0"/>
        </a:xfrm>
      </p:grpSpPr>
      <p:sp>
        <p:nvSpPr>
          <p:cNvPr id="743" name="Google Shape;743;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4" name="Google Shape;744;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5" name="Google Shape;745;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6" name="Google Shape;746;p62"/>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7" name="Google Shape;747;p62"/>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_2">
    <p:spTree>
      <p:nvGrpSpPr>
        <p:cNvPr id="749" name="Shape 749"/>
        <p:cNvGrpSpPr/>
        <p:nvPr/>
      </p:nvGrpSpPr>
      <p:grpSpPr>
        <a:xfrm>
          <a:off x="0" y="0"/>
          <a:ext cx="0" cy="0"/>
          <a:chOff x="0" y="0"/>
          <a:chExt cx="0" cy="0"/>
        </a:xfrm>
      </p:grpSpPr>
      <p:sp>
        <p:nvSpPr>
          <p:cNvPr id="750" name="Google Shape;750;p6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51" name="Google Shape;751;p6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52" name="Google Shape;752;p6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53" name="Google Shape;753;p63"/>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54" name="Google Shape;754;p63"/>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55" name="Google Shape;755;p63"/>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1">
  <p:cSld name="CUSTOM_3_1_1_3">
    <p:spTree>
      <p:nvGrpSpPr>
        <p:cNvPr id="756" name="Shape 756"/>
        <p:cNvGrpSpPr/>
        <p:nvPr/>
      </p:nvGrpSpPr>
      <p:grpSpPr>
        <a:xfrm>
          <a:off x="0" y="0"/>
          <a:ext cx="0" cy="0"/>
          <a:chOff x="0" y="0"/>
          <a:chExt cx="0" cy="0"/>
        </a:xfrm>
      </p:grpSpPr>
      <p:sp>
        <p:nvSpPr>
          <p:cNvPr id="757" name="Google Shape;757;p6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58" name="Google Shape;758;p6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59" name="Google Shape;759;p6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60" name="Google Shape;760;p6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61" name="Google Shape;761;p6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62" name="Google Shape;762;p6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65" Type="http://schemas.openxmlformats.org/officeDocument/2006/relationships/theme" Target="../theme/theme1.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4.xml"/><Relationship Id="rId3" Type="http://schemas.openxmlformats.org/officeDocument/2006/relationships/image" Target="../media/image58.png"/><Relationship Id="rId4" Type="http://schemas.openxmlformats.org/officeDocument/2006/relationships/image" Target="../media/image57.png"/><Relationship Id="rId5" Type="http://schemas.openxmlformats.org/officeDocument/2006/relationships/image" Target="../media/image5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5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6.xml"/><Relationship Id="rId3" Type="http://schemas.openxmlformats.org/officeDocument/2006/relationships/image" Target="../media/image44.png"/><Relationship Id="rId4" Type="http://schemas.openxmlformats.org/officeDocument/2006/relationships/image" Target="../media/image5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6.xml"/><Relationship Id="rId3"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5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 Id="rId3" Type="http://schemas.openxmlformats.org/officeDocument/2006/relationships/image" Target="../media/image60.png"/><Relationship Id="rId4" Type="http://schemas.openxmlformats.org/officeDocument/2006/relationships/image" Target="../media/image59.png"/><Relationship Id="rId5" Type="http://schemas.openxmlformats.org/officeDocument/2006/relationships/image" Target="../media/image6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 Id="rId3" Type="http://schemas.openxmlformats.org/officeDocument/2006/relationships/image" Target="../media/image61.png"/><Relationship Id="rId4" Type="http://schemas.openxmlformats.org/officeDocument/2006/relationships/image" Target="../media/image59.png"/><Relationship Id="rId5" Type="http://schemas.openxmlformats.org/officeDocument/2006/relationships/image" Target="../media/image63.png"/><Relationship Id="rId6" Type="http://schemas.openxmlformats.org/officeDocument/2006/relationships/image" Target="../media/image6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 Id="rId3" Type="http://schemas.openxmlformats.org/officeDocument/2006/relationships/image" Target="../media/image60.png"/><Relationship Id="rId4" Type="http://schemas.openxmlformats.org/officeDocument/2006/relationships/image" Target="../media/image6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 Id="rId3" Type="http://schemas.openxmlformats.org/officeDocument/2006/relationships/image" Target="../media/image61.png"/><Relationship Id="rId4" Type="http://schemas.openxmlformats.org/officeDocument/2006/relationships/image" Target="../media/image63.png"/><Relationship Id="rId5" Type="http://schemas.openxmlformats.org/officeDocument/2006/relationships/image" Target="../media/image6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3.xml"/><Relationship Id="rId3" Type="http://schemas.openxmlformats.org/officeDocument/2006/relationships/image" Target="../media/image65.png"/><Relationship Id="rId4" Type="http://schemas.openxmlformats.org/officeDocument/2006/relationships/image" Target="../media/image56.png"/><Relationship Id="rId5" Type="http://schemas.openxmlformats.org/officeDocument/2006/relationships/image" Target="../media/image60.png"/><Relationship Id="rId6" Type="http://schemas.openxmlformats.org/officeDocument/2006/relationships/image" Target="../media/image6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4.xml"/><Relationship Id="rId3" Type="http://schemas.openxmlformats.org/officeDocument/2006/relationships/image" Target="../media/image44.png"/><Relationship Id="rId4" Type="http://schemas.openxmlformats.org/officeDocument/2006/relationships/image" Target="../media/image6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5.xml"/><Relationship Id="rId3" Type="http://schemas.openxmlformats.org/officeDocument/2006/relationships/image" Target="../media/image44.png"/><Relationship Id="rId4" Type="http://schemas.openxmlformats.org/officeDocument/2006/relationships/image" Target="../media/image6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6.xml"/><Relationship Id="rId3" Type="http://schemas.openxmlformats.org/officeDocument/2006/relationships/image" Target="../media/image60.png"/><Relationship Id="rId4" Type="http://schemas.openxmlformats.org/officeDocument/2006/relationships/image" Target="../media/image68.png"/><Relationship Id="rId5" Type="http://schemas.openxmlformats.org/officeDocument/2006/relationships/image" Target="../media/image6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7.xml"/><Relationship Id="rId3" Type="http://schemas.openxmlformats.org/officeDocument/2006/relationships/image" Target="../media/image6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8.xml"/><Relationship Id="rId3" Type="http://schemas.openxmlformats.org/officeDocument/2006/relationships/image" Target="../media/image44.png"/><Relationship Id="rId4" Type="http://schemas.openxmlformats.org/officeDocument/2006/relationships/image" Target="../media/image66.png"/><Relationship Id="rId5" Type="http://schemas.openxmlformats.org/officeDocument/2006/relationships/image" Target="../media/image5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9.xml"/><Relationship Id="rId3" Type="http://schemas.openxmlformats.org/officeDocument/2006/relationships/image" Target="../media/image44.png"/><Relationship Id="rId4" Type="http://schemas.openxmlformats.org/officeDocument/2006/relationships/image" Target="../media/image67.png"/><Relationship Id="rId5" Type="http://schemas.openxmlformats.org/officeDocument/2006/relationships/image" Target="../media/image5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0.xml"/><Relationship Id="rId3" Type="http://schemas.openxmlformats.org/officeDocument/2006/relationships/image" Target="../media/image60.png"/><Relationship Id="rId4" Type="http://schemas.openxmlformats.org/officeDocument/2006/relationships/image" Target="../media/image68.png"/><Relationship Id="rId5" Type="http://schemas.openxmlformats.org/officeDocument/2006/relationships/image" Target="../media/image56.png"/><Relationship Id="rId6" Type="http://schemas.openxmlformats.org/officeDocument/2006/relationships/image" Target="../media/image6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1.xml"/><Relationship Id="rId3" Type="http://schemas.openxmlformats.org/officeDocument/2006/relationships/image" Target="../media/image6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2.xml"/><Relationship Id="rId3" Type="http://schemas.openxmlformats.org/officeDocument/2006/relationships/image" Target="../media/image61.png"/><Relationship Id="rId4" Type="http://schemas.openxmlformats.org/officeDocument/2006/relationships/image" Target="../media/image63.png"/><Relationship Id="rId5" Type="http://schemas.openxmlformats.org/officeDocument/2006/relationships/image" Target="../media/image7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3.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65"/>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and securing understanding of multiples of 10</a:t>
            </a:r>
            <a:endParaRPr/>
          </a:p>
        </p:txBody>
      </p:sp>
      <p:sp>
        <p:nvSpPr>
          <p:cNvPr id="768" name="Google Shape;768;p65"/>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Standard form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2" name="Shape 772"/>
        <p:cNvGrpSpPr/>
        <p:nvPr/>
      </p:nvGrpSpPr>
      <p:grpSpPr>
        <a:xfrm>
          <a:off x="0" y="0"/>
          <a:ext cx="0" cy="0"/>
          <a:chOff x="0" y="0"/>
          <a:chExt cx="0" cy="0"/>
        </a:xfrm>
      </p:grpSpPr>
      <p:sp>
        <p:nvSpPr>
          <p:cNvPr id="773" name="Google Shape;773;p66"/>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67"/>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factorise multiples of 10</a:t>
            </a:r>
            <a:r>
              <a:rPr baseline="30000" lang="en-GB"/>
              <a:t>n</a:t>
            </a:r>
            <a:r>
              <a:rPr lang="en-GB"/>
              <a:t> in order to simplify multiplication and division of both integers and decimals.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pic>
        <p:nvPicPr>
          <p:cNvPr descr="&lt;math xmlns=&quot;http://www.w3.org/1998/Math/MathML&quot; display=&quot;block&quot; data-is-equatio=&quot;1&quot; data-latex=&quot;10\ \times10\ \times\ 10\ \times\ 10\ \times\ 10\ \times10\ =\ 10^6&quot;&gt;&lt;mn&gt;10&lt;/mn&gt;&lt;mtext&gt;&lt;/mtext&gt;&lt;mo&gt;×&lt;/mo&gt;&lt;mn&gt;10&lt;/mn&gt;&lt;mtext&gt;&lt;/mtext&gt;&lt;mo&gt;×&lt;/mo&gt;&lt;mtext&gt;&lt;/mtext&gt;&lt;mn&gt;10&lt;/mn&gt;&lt;mtext&gt;&lt;/mtext&gt;&lt;mo&gt;×&lt;/mo&gt;&lt;mtext&gt;&lt;/mtext&gt;&lt;mn&gt;10&lt;/mn&gt;&lt;mtext&gt;&lt;/mtext&gt;&lt;mo&gt;×&lt;/mo&gt;&lt;mtext&gt;&lt;/mtext&gt;&lt;mn&gt;10&lt;/mn&gt;&lt;mtext&gt;&lt;/mtext&gt;&lt;mo&gt;×&lt;/mo&gt;&lt;mn&gt;10&lt;/mn&gt;&lt;mtext&gt;&lt;/mtext&gt;&lt;mo&gt;=&lt;/mo&gt;&lt;mtext&gt;&lt;/mtext&gt;&lt;msup&gt;&lt;mn&gt;10&lt;/mn&gt;&lt;mn&gt;6&lt;/mn&gt;&lt;/msup&gt;&lt;/math&gt;" id="783" name="Google Shape;783;p68" title="10 times 10 times 10 times 10 times 10 times 10 equals 10 to the sixth power"/>
          <p:cNvPicPr preferRelativeResize="0"/>
          <p:nvPr/>
        </p:nvPicPr>
        <p:blipFill>
          <a:blip r:embed="rId3">
            <a:alphaModFix/>
          </a:blip>
          <a:stretch>
            <a:fillRect/>
          </a:stretch>
        </p:blipFill>
        <p:spPr>
          <a:xfrm>
            <a:off x="2620150" y="2933575"/>
            <a:ext cx="4999850" cy="266600"/>
          </a:xfrm>
          <a:prstGeom prst="rect">
            <a:avLst/>
          </a:prstGeom>
          <a:noFill/>
          <a:ln>
            <a:noFill/>
          </a:ln>
        </p:spPr>
      </p:pic>
      <p:sp>
        <p:nvSpPr>
          <p:cNvPr id="784" name="Google Shape;784;p68"/>
          <p:cNvSpPr txBox="1"/>
          <p:nvPr>
            <p:ph idx="1" type="subTitle"/>
          </p:nvPr>
        </p:nvSpPr>
        <p:spPr>
          <a:xfrm>
            <a:off x="1953550" y="2060400"/>
            <a:ext cx="690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t>e.g. </a:t>
            </a:r>
            <a:endParaRPr baseline="30000" sz="2400"/>
          </a:p>
        </p:txBody>
      </p:sp>
      <p:pic>
        <p:nvPicPr>
          <p:cNvPr descr="&lt;math xmlns=&quot;http://www.w3.org/1998/Math/MathML&quot; display=&quot;block&quot; data-is-equatio=&quot;1&quot; data-latex=&quot;=\ 2^3&quot;&gt;&lt;mo&gt;=&lt;/mo&gt;&lt;mtext&gt;&lt;/mtext&gt;&lt;msup&gt;&lt;mn&gt;2&lt;/mn&gt;&lt;mn&gt;3&lt;/mn&gt;&lt;/msup&gt;&lt;/math&gt;" id="785" name="Google Shape;785;p68" title="equals 2 cubed"/>
          <p:cNvPicPr preferRelativeResize="0"/>
          <p:nvPr/>
        </p:nvPicPr>
        <p:blipFill>
          <a:blip r:embed="rId4">
            <a:alphaModFix/>
          </a:blip>
          <a:stretch>
            <a:fillRect/>
          </a:stretch>
        </p:blipFill>
        <p:spPr>
          <a:xfrm>
            <a:off x="3915550" y="2014200"/>
            <a:ext cx="702456" cy="320875"/>
          </a:xfrm>
          <a:prstGeom prst="rect">
            <a:avLst/>
          </a:prstGeom>
          <a:noFill/>
          <a:ln>
            <a:noFill/>
          </a:ln>
        </p:spPr>
      </p:pic>
      <p:pic>
        <p:nvPicPr>
          <p:cNvPr descr="&lt;math xmlns=&quot;http://www.w3.org/1998/Math/MathML&quot; display=&quot;block&quot; data-is-equatio=&quot;1&quot; data-latex=&quot;2\times2\times2&quot;&gt;&lt;mn&gt;2&lt;/mn&gt;&lt;mo&gt;×&lt;/mo&gt;&lt;mn&gt;2&lt;/mn&gt;&lt;mo&gt;×&lt;/mo&gt;&lt;mn&gt;2&lt;/mn&gt;&lt;/math&gt;" id="786" name="Google Shape;786;p68" title="2 times 2 times 2"/>
          <p:cNvPicPr preferRelativeResize="0"/>
          <p:nvPr/>
        </p:nvPicPr>
        <p:blipFill>
          <a:blip r:embed="rId5">
            <a:alphaModFix/>
          </a:blip>
          <a:stretch>
            <a:fillRect/>
          </a:stretch>
        </p:blipFill>
        <p:spPr>
          <a:xfrm>
            <a:off x="2620150" y="2096950"/>
            <a:ext cx="1190625" cy="238125"/>
          </a:xfrm>
          <a:prstGeom prst="rect">
            <a:avLst/>
          </a:prstGeom>
          <a:noFill/>
          <a:ln>
            <a:noFill/>
          </a:ln>
        </p:spPr>
      </p:pic>
      <p:sp>
        <p:nvSpPr>
          <p:cNvPr id="787" name="Google Shape;787;p68"/>
          <p:cNvSpPr txBox="1"/>
          <p:nvPr>
            <p:ph idx="1" type="subTitle"/>
          </p:nvPr>
        </p:nvSpPr>
        <p:spPr>
          <a:xfrm>
            <a:off x="1953550" y="2898600"/>
            <a:ext cx="690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400"/>
              <a:t>e.g. </a:t>
            </a:r>
            <a:endParaRPr baseline="30000" sz="2400"/>
          </a:p>
        </p:txBody>
      </p:sp>
      <p:sp>
        <p:nvSpPr>
          <p:cNvPr id="788" name="Google Shape;788;p68"/>
          <p:cNvSpPr txBox="1"/>
          <p:nvPr>
            <p:ph idx="1" type="subTitle"/>
          </p:nvPr>
        </p:nvSpPr>
        <p:spPr>
          <a:xfrm>
            <a:off x="324000" y="957000"/>
            <a:ext cx="8496000" cy="90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When a number is multiplied by itself multiple times, it can be written more simply in exponential form.</a:t>
            </a:r>
            <a:endParaRPr baseline="30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69"/>
          <p:cNvSpPr txBox="1"/>
          <p:nvPr/>
        </p:nvSpPr>
        <p:spPr>
          <a:xfrm>
            <a:off x="960270" y="2464800"/>
            <a:ext cx="13992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Example</a:t>
            </a:r>
            <a:endParaRPr sz="2200">
              <a:solidFill>
                <a:srgbClr val="282828"/>
              </a:solidFill>
              <a:latin typeface="Lexend"/>
              <a:ea typeface="Lexend"/>
              <a:cs typeface="Lexend"/>
              <a:sym typeface="Lexend"/>
            </a:endParaRPr>
          </a:p>
        </p:txBody>
      </p:sp>
      <p:sp>
        <p:nvSpPr>
          <p:cNvPr id="794" name="Google Shape;794;p69"/>
          <p:cNvSpPr txBox="1"/>
          <p:nvPr/>
        </p:nvSpPr>
        <p:spPr>
          <a:xfrm>
            <a:off x="426876" y="836400"/>
            <a:ext cx="79143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An operation is </a:t>
            </a:r>
            <a:r>
              <a:rPr lang="en-GB" sz="2200">
                <a:solidFill>
                  <a:srgbClr val="282828"/>
                </a:solidFill>
                <a:latin typeface="Lexend"/>
                <a:ea typeface="Lexend"/>
                <a:cs typeface="Lexend"/>
                <a:sym typeface="Lexend"/>
              </a:rPr>
              <a:t>commutative</a:t>
            </a:r>
            <a:r>
              <a:rPr b="1" lang="en-GB" sz="2200">
                <a:solidFill>
                  <a:srgbClr val="282828"/>
                </a:solidFill>
                <a:latin typeface="Lexend"/>
                <a:ea typeface="Lexend"/>
                <a:cs typeface="Lexend"/>
                <a:sym typeface="Lexend"/>
              </a:rPr>
              <a:t> </a:t>
            </a:r>
            <a:r>
              <a:rPr lang="en-GB" sz="2200">
                <a:solidFill>
                  <a:srgbClr val="282828"/>
                </a:solidFill>
                <a:latin typeface="Lexend"/>
                <a:ea typeface="Lexend"/>
                <a:cs typeface="Lexend"/>
                <a:sym typeface="Lexend"/>
              </a:rPr>
              <a:t>if the values it is operating on can be written in either order without changing the calculation. </a:t>
            </a:r>
            <a:endParaRPr sz="2200">
              <a:solidFill>
                <a:srgbClr val="282828"/>
              </a:solidFill>
              <a:latin typeface="Lexend"/>
              <a:ea typeface="Lexend"/>
              <a:cs typeface="Lexend"/>
              <a:sym typeface="Lexend"/>
            </a:endParaRPr>
          </a:p>
        </p:txBody>
      </p:sp>
      <p:sp>
        <p:nvSpPr>
          <p:cNvPr id="795" name="Google Shape;795;p69"/>
          <p:cNvSpPr txBox="1"/>
          <p:nvPr/>
        </p:nvSpPr>
        <p:spPr>
          <a:xfrm>
            <a:off x="807892" y="3004800"/>
            <a:ext cx="15534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3 + 4 =</a:t>
            </a:r>
            <a:endParaRPr sz="2200">
              <a:solidFill>
                <a:srgbClr val="282828"/>
              </a:solidFill>
              <a:latin typeface="Lexend"/>
              <a:ea typeface="Lexend"/>
              <a:cs typeface="Lexend"/>
              <a:sym typeface="Lexend"/>
            </a:endParaRPr>
          </a:p>
        </p:txBody>
      </p:sp>
      <p:sp>
        <p:nvSpPr>
          <p:cNvPr id="796" name="Google Shape;796;p69"/>
          <p:cNvSpPr txBox="1"/>
          <p:nvPr/>
        </p:nvSpPr>
        <p:spPr>
          <a:xfrm>
            <a:off x="1781352" y="3004800"/>
            <a:ext cx="9399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4 + 3 </a:t>
            </a:r>
            <a:endParaRPr sz="2200">
              <a:solidFill>
                <a:srgbClr val="282828"/>
              </a:solidFill>
              <a:latin typeface="Lexend"/>
              <a:ea typeface="Lexend"/>
              <a:cs typeface="Lexend"/>
              <a:sym typeface="Lexend"/>
            </a:endParaRPr>
          </a:p>
        </p:txBody>
      </p:sp>
      <p:sp>
        <p:nvSpPr>
          <p:cNvPr id="797" name="Google Shape;797;p69"/>
          <p:cNvSpPr txBox="1"/>
          <p:nvPr/>
        </p:nvSpPr>
        <p:spPr>
          <a:xfrm>
            <a:off x="3703470" y="2464800"/>
            <a:ext cx="13992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Example</a:t>
            </a:r>
            <a:endParaRPr sz="2200">
              <a:solidFill>
                <a:srgbClr val="282828"/>
              </a:solidFill>
              <a:latin typeface="Lexend"/>
              <a:ea typeface="Lexend"/>
              <a:cs typeface="Lexend"/>
              <a:sym typeface="Lexend"/>
            </a:endParaRPr>
          </a:p>
        </p:txBody>
      </p:sp>
      <p:sp>
        <p:nvSpPr>
          <p:cNvPr id="798" name="Google Shape;798;p69"/>
          <p:cNvSpPr txBox="1"/>
          <p:nvPr/>
        </p:nvSpPr>
        <p:spPr>
          <a:xfrm>
            <a:off x="3551092" y="3004800"/>
            <a:ext cx="15534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7 ✕ 2 =</a:t>
            </a:r>
            <a:endParaRPr sz="2200">
              <a:solidFill>
                <a:srgbClr val="282828"/>
              </a:solidFill>
              <a:latin typeface="Lexend"/>
              <a:ea typeface="Lexend"/>
              <a:cs typeface="Lexend"/>
              <a:sym typeface="Lexend"/>
            </a:endParaRPr>
          </a:p>
        </p:txBody>
      </p:sp>
      <p:sp>
        <p:nvSpPr>
          <p:cNvPr id="799" name="Google Shape;799;p69"/>
          <p:cNvSpPr txBox="1"/>
          <p:nvPr/>
        </p:nvSpPr>
        <p:spPr>
          <a:xfrm>
            <a:off x="4600752" y="3004800"/>
            <a:ext cx="9399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2 ✕ 7 </a:t>
            </a:r>
            <a:endParaRPr sz="2200">
              <a:solidFill>
                <a:srgbClr val="282828"/>
              </a:solidFill>
              <a:latin typeface="Lexend"/>
              <a:ea typeface="Lexend"/>
              <a:cs typeface="Lexend"/>
              <a:sym typeface="Lexend"/>
            </a:endParaRPr>
          </a:p>
        </p:txBody>
      </p:sp>
      <p:sp>
        <p:nvSpPr>
          <p:cNvPr id="800" name="Google Shape;800;p69"/>
          <p:cNvSpPr txBox="1"/>
          <p:nvPr/>
        </p:nvSpPr>
        <p:spPr>
          <a:xfrm>
            <a:off x="6408425" y="2464800"/>
            <a:ext cx="19374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Non example</a:t>
            </a:r>
            <a:endParaRPr sz="2200">
              <a:solidFill>
                <a:srgbClr val="282828"/>
              </a:solidFill>
              <a:latin typeface="Lexend"/>
              <a:ea typeface="Lexend"/>
              <a:cs typeface="Lexend"/>
              <a:sym typeface="Lexend"/>
            </a:endParaRPr>
          </a:p>
        </p:txBody>
      </p:sp>
      <p:sp>
        <p:nvSpPr>
          <p:cNvPr id="801" name="Google Shape;801;p69"/>
          <p:cNvSpPr txBox="1"/>
          <p:nvPr/>
        </p:nvSpPr>
        <p:spPr>
          <a:xfrm>
            <a:off x="6367502" y="3004800"/>
            <a:ext cx="19374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10 − 2 ≠</a:t>
            </a:r>
            <a:endParaRPr sz="2200">
              <a:solidFill>
                <a:srgbClr val="282828"/>
              </a:solidFill>
              <a:latin typeface="Lexend"/>
              <a:ea typeface="Lexend"/>
              <a:cs typeface="Lexend"/>
              <a:sym typeface="Lexend"/>
            </a:endParaRPr>
          </a:p>
        </p:txBody>
      </p:sp>
      <p:sp>
        <p:nvSpPr>
          <p:cNvPr id="802" name="Google Shape;802;p69"/>
          <p:cNvSpPr txBox="1"/>
          <p:nvPr/>
        </p:nvSpPr>
        <p:spPr>
          <a:xfrm>
            <a:off x="7496352" y="3004800"/>
            <a:ext cx="9399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2 − 10 </a:t>
            </a:r>
            <a:endParaRPr sz="2200">
              <a:solidFill>
                <a:srgbClr val="282828"/>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70"/>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808" name="Google Shape;808;p70"/>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sp>
        <p:nvSpPr>
          <p:cNvPr id="809" name="Google Shape;809;p70"/>
          <p:cNvSpPr txBox="1"/>
          <p:nvPr>
            <p:ph idx="3" type="title"/>
          </p:nvPr>
        </p:nvSpPr>
        <p:spPr>
          <a:xfrm>
            <a:off x="324000" y="657600"/>
            <a:ext cx="61836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and securing understanding of multiples of 10</a:t>
            </a:r>
            <a:endParaRPr/>
          </a:p>
        </p:txBody>
      </p:sp>
      <p:pic>
        <p:nvPicPr>
          <p:cNvPr id="810" name="Google Shape;810;p70"/>
          <p:cNvPicPr preferRelativeResize="0"/>
          <p:nvPr/>
        </p:nvPicPr>
        <p:blipFill>
          <a:blip r:embed="rId3">
            <a:alphaModFix/>
          </a:blip>
          <a:stretch>
            <a:fillRect/>
          </a:stretch>
        </p:blipFill>
        <p:spPr>
          <a:xfrm>
            <a:off x="409500"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816" name="Google Shape;816;p71"/>
          <p:cNvSpPr txBox="1"/>
          <p:nvPr/>
        </p:nvSpPr>
        <p:spPr>
          <a:xfrm>
            <a:off x="324000" y="592644"/>
            <a:ext cx="8496000" cy="434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solidFill>
                  <a:srgbClr val="000000"/>
                </a:solidFill>
                <a:latin typeface="Lexend"/>
                <a:ea typeface="Lexend"/>
                <a:cs typeface="Lexend"/>
                <a:sym typeface="Lexend"/>
              </a:rPr>
              <a:t>Here is a Gattegno chart.</a:t>
            </a:r>
            <a:endParaRPr sz="2200">
              <a:solidFill>
                <a:srgbClr val="000000"/>
              </a:solidFill>
              <a:latin typeface="Lexend"/>
              <a:ea typeface="Lexend"/>
              <a:cs typeface="Lexend"/>
              <a:sym typeface="Lexend"/>
            </a:endParaRPr>
          </a:p>
        </p:txBody>
      </p:sp>
      <p:sp>
        <p:nvSpPr>
          <p:cNvPr id="817" name="Google Shape;817;p71"/>
          <p:cNvSpPr txBox="1"/>
          <p:nvPr/>
        </p:nvSpPr>
        <p:spPr>
          <a:xfrm>
            <a:off x="324000" y="3938045"/>
            <a:ext cx="8496000" cy="943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lang="en-GB" sz="2100">
                <a:latin typeface="Lexend"/>
                <a:ea typeface="Lexend"/>
                <a:cs typeface="Lexend"/>
                <a:sym typeface="Lexend"/>
              </a:rPr>
              <a:t>The product of the pair of numbers highlighted is 21</a:t>
            </a:r>
            <a:endParaRPr sz="2100">
              <a:latin typeface="Lexend"/>
              <a:ea typeface="Lexend"/>
              <a:cs typeface="Lexend"/>
              <a:sym typeface="Lexend"/>
            </a:endParaRPr>
          </a:p>
          <a:p>
            <a:pPr indent="0" lvl="0" marL="0" rtl="0" algn="l">
              <a:lnSpc>
                <a:spcPct val="130000"/>
              </a:lnSpc>
              <a:spcBef>
                <a:spcPts val="1000"/>
              </a:spcBef>
              <a:spcAft>
                <a:spcPts val="1000"/>
              </a:spcAft>
              <a:buNone/>
            </a:pPr>
            <a:r>
              <a:rPr lang="en-GB" sz="2100">
                <a:latin typeface="Lexend"/>
                <a:ea typeface="Lexend"/>
                <a:cs typeface="Lexend"/>
                <a:sym typeface="Lexend"/>
              </a:rPr>
              <a:t>Find more pairs of numbers, on the chart, with a product of 21</a:t>
            </a:r>
            <a:endParaRPr sz="2100">
              <a:latin typeface="Lexend"/>
              <a:ea typeface="Lexend"/>
              <a:cs typeface="Lexend"/>
              <a:sym typeface="Lexend"/>
            </a:endParaRPr>
          </a:p>
        </p:txBody>
      </p:sp>
      <p:graphicFrame>
        <p:nvGraphicFramePr>
          <p:cNvPr id="818" name="Google Shape;818;p71"/>
          <p:cNvGraphicFramePr/>
          <p:nvPr/>
        </p:nvGraphicFramePr>
        <p:xfrm>
          <a:off x="323988" y="1016857"/>
          <a:ext cx="3000000" cy="3000000"/>
        </p:xfrm>
        <a:graphic>
          <a:graphicData uri="http://schemas.openxmlformats.org/drawingml/2006/table">
            <a:tbl>
              <a:tblPr>
                <a:noFill/>
                <a:tableStyleId>{61091467-62BC-4098-847C-9079499EE7F0}</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graphicFrame>
        <p:nvGraphicFramePr>
          <p:cNvPr id="819" name="Google Shape;819;p71"/>
          <p:cNvGraphicFramePr/>
          <p:nvPr/>
        </p:nvGraphicFramePr>
        <p:xfrm>
          <a:off x="323988" y="1016857"/>
          <a:ext cx="3000000" cy="3000000"/>
        </p:xfrm>
        <a:graphic>
          <a:graphicData uri="http://schemas.openxmlformats.org/drawingml/2006/table">
            <a:tbl>
              <a:tblPr>
                <a:noFill/>
                <a:tableStyleId>{61091467-62BC-4098-847C-9079499EE7F0}</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graphicFrame>
        <p:nvGraphicFramePr>
          <p:cNvPr id="820" name="Google Shape;820;p71"/>
          <p:cNvGraphicFramePr/>
          <p:nvPr/>
        </p:nvGraphicFramePr>
        <p:xfrm>
          <a:off x="323988" y="1016857"/>
          <a:ext cx="3000000" cy="3000000"/>
        </p:xfrm>
        <a:graphic>
          <a:graphicData uri="http://schemas.openxmlformats.org/drawingml/2006/table">
            <a:tbl>
              <a:tblPr>
                <a:noFill/>
                <a:tableStyleId>{61091467-62BC-4098-847C-9079499EE7F0}</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graphicFrame>
        <p:nvGraphicFramePr>
          <p:cNvPr id="821" name="Google Shape;821;p71"/>
          <p:cNvGraphicFramePr/>
          <p:nvPr/>
        </p:nvGraphicFramePr>
        <p:xfrm>
          <a:off x="323988" y="995494"/>
          <a:ext cx="3000000" cy="3000000"/>
        </p:xfrm>
        <a:graphic>
          <a:graphicData uri="http://schemas.openxmlformats.org/drawingml/2006/table">
            <a:tbl>
              <a:tblPr>
                <a:noFill/>
                <a:tableStyleId>{9E21685C-36D5-4CBA-A8C3-DE956EF8306F}</a:tableStyleId>
              </a:tblPr>
              <a:tblGrid>
                <a:gridCol w="944000"/>
                <a:gridCol w="944000"/>
                <a:gridCol w="944000"/>
                <a:gridCol w="944000"/>
                <a:gridCol w="944000"/>
                <a:gridCol w="944000"/>
                <a:gridCol w="944000"/>
                <a:gridCol w="944000"/>
                <a:gridCol w="944000"/>
              </a:tblGrid>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822" name="Google Shape;822;p71"/>
          <p:cNvSpPr/>
          <p:nvPr/>
        </p:nvSpPr>
        <p:spPr>
          <a:xfrm>
            <a:off x="5988000" y="2345700"/>
            <a:ext cx="944100" cy="452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3" name="Google Shape;823;p71"/>
          <p:cNvSpPr/>
          <p:nvPr/>
        </p:nvSpPr>
        <p:spPr>
          <a:xfrm>
            <a:off x="2212000" y="2354549"/>
            <a:ext cx="944100" cy="43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graphicFrame>
        <p:nvGraphicFramePr>
          <p:cNvPr id="828" name="Google Shape;828;p72"/>
          <p:cNvGraphicFramePr/>
          <p:nvPr/>
        </p:nvGraphicFramePr>
        <p:xfrm>
          <a:off x="323988" y="1016857"/>
          <a:ext cx="3000000" cy="3000000"/>
        </p:xfrm>
        <a:graphic>
          <a:graphicData uri="http://schemas.openxmlformats.org/drawingml/2006/table">
            <a:tbl>
              <a:tblPr>
                <a:noFill/>
                <a:tableStyleId>{61091467-62BC-4098-847C-9079499EE7F0}</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sp>
        <p:nvSpPr>
          <p:cNvPr id="829" name="Google Shape;829;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graphicFrame>
        <p:nvGraphicFramePr>
          <p:cNvPr id="830" name="Google Shape;830;p72"/>
          <p:cNvGraphicFramePr/>
          <p:nvPr/>
        </p:nvGraphicFramePr>
        <p:xfrm>
          <a:off x="323988" y="1016857"/>
          <a:ext cx="3000000" cy="3000000"/>
        </p:xfrm>
        <a:graphic>
          <a:graphicData uri="http://schemas.openxmlformats.org/drawingml/2006/table">
            <a:tbl>
              <a:tblPr>
                <a:noFill/>
                <a:tableStyleId>{61091467-62BC-4098-847C-9079499EE7F0}</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sp>
        <p:nvSpPr>
          <p:cNvPr id="831" name="Google Shape;831;p72"/>
          <p:cNvSpPr txBox="1"/>
          <p:nvPr/>
        </p:nvSpPr>
        <p:spPr>
          <a:xfrm>
            <a:off x="324000" y="592644"/>
            <a:ext cx="8496000" cy="434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solidFill>
                  <a:srgbClr val="000000"/>
                </a:solidFill>
                <a:latin typeface="Lexend"/>
                <a:ea typeface="Lexend"/>
                <a:cs typeface="Lexend"/>
                <a:sym typeface="Lexend"/>
              </a:rPr>
              <a:t>Here is a Gattegno chart.</a:t>
            </a:r>
            <a:endParaRPr sz="2200">
              <a:solidFill>
                <a:srgbClr val="000000"/>
              </a:solidFill>
              <a:latin typeface="Lexend"/>
              <a:ea typeface="Lexend"/>
              <a:cs typeface="Lexend"/>
              <a:sym typeface="Lexend"/>
            </a:endParaRPr>
          </a:p>
        </p:txBody>
      </p:sp>
      <p:graphicFrame>
        <p:nvGraphicFramePr>
          <p:cNvPr id="832" name="Google Shape;832;p72"/>
          <p:cNvGraphicFramePr/>
          <p:nvPr/>
        </p:nvGraphicFramePr>
        <p:xfrm>
          <a:off x="323988" y="1016857"/>
          <a:ext cx="3000000" cy="3000000"/>
        </p:xfrm>
        <a:graphic>
          <a:graphicData uri="http://schemas.openxmlformats.org/drawingml/2006/table">
            <a:tbl>
              <a:tblPr>
                <a:noFill/>
                <a:tableStyleId>{61091467-62BC-4098-847C-9079499EE7F0}</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graphicFrame>
        <p:nvGraphicFramePr>
          <p:cNvPr id="833" name="Google Shape;833;p72"/>
          <p:cNvGraphicFramePr/>
          <p:nvPr/>
        </p:nvGraphicFramePr>
        <p:xfrm>
          <a:off x="323988" y="995494"/>
          <a:ext cx="3000000" cy="3000000"/>
        </p:xfrm>
        <a:graphic>
          <a:graphicData uri="http://schemas.openxmlformats.org/drawingml/2006/table">
            <a:tbl>
              <a:tblPr>
                <a:noFill/>
                <a:tableStyleId>{9E21685C-36D5-4CBA-A8C3-DE956EF8306F}</a:tableStyleId>
              </a:tblPr>
              <a:tblGrid>
                <a:gridCol w="944000"/>
                <a:gridCol w="944000"/>
                <a:gridCol w="944000"/>
                <a:gridCol w="944000"/>
                <a:gridCol w="944000"/>
                <a:gridCol w="944000"/>
                <a:gridCol w="944000"/>
                <a:gridCol w="944000"/>
                <a:gridCol w="944000"/>
              </a:tblGrid>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834" name="Google Shape;834;p72"/>
          <p:cNvSpPr txBox="1"/>
          <p:nvPr/>
        </p:nvSpPr>
        <p:spPr>
          <a:xfrm>
            <a:off x="324000" y="3791713"/>
            <a:ext cx="46608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For example, </a:t>
            </a:r>
            <a:endParaRPr sz="1800">
              <a:latin typeface="Lexend"/>
              <a:ea typeface="Lexend"/>
              <a:cs typeface="Lexend"/>
              <a:sym typeface="Lexend"/>
            </a:endParaRPr>
          </a:p>
        </p:txBody>
      </p:sp>
      <p:sp>
        <p:nvSpPr>
          <p:cNvPr id="835" name="Google Shape;835;p72"/>
          <p:cNvSpPr txBox="1"/>
          <p:nvPr/>
        </p:nvSpPr>
        <p:spPr>
          <a:xfrm>
            <a:off x="1401225" y="4209900"/>
            <a:ext cx="6644700" cy="613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Notice the number in the 3rd column is one below the original and the one in the 7th column is one above.</a:t>
            </a:r>
            <a:endParaRPr sz="1800">
              <a:latin typeface="Lexend"/>
              <a:ea typeface="Lexend"/>
              <a:cs typeface="Lexend"/>
              <a:sym typeface="Lexend"/>
            </a:endParaRPr>
          </a:p>
        </p:txBody>
      </p:sp>
      <p:grpSp>
        <p:nvGrpSpPr>
          <p:cNvPr id="836" name="Google Shape;836;p72"/>
          <p:cNvGrpSpPr/>
          <p:nvPr/>
        </p:nvGrpSpPr>
        <p:grpSpPr>
          <a:xfrm>
            <a:off x="2212000" y="2353708"/>
            <a:ext cx="4720100" cy="452100"/>
            <a:chOff x="2212000" y="2353708"/>
            <a:chExt cx="4720100" cy="452100"/>
          </a:xfrm>
        </p:grpSpPr>
        <p:sp>
          <p:nvSpPr>
            <p:cNvPr id="837" name="Google Shape;837;p72"/>
            <p:cNvSpPr/>
            <p:nvPr/>
          </p:nvSpPr>
          <p:spPr>
            <a:xfrm>
              <a:off x="5988000" y="2353708"/>
              <a:ext cx="944100" cy="452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8" name="Google Shape;838;p72"/>
            <p:cNvSpPr/>
            <p:nvPr/>
          </p:nvSpPr>
          <p:spPr>
            <a:xfrm>
              <a:off x="2212000" y="2358800"/>
              <a:ext cx="944100" cy="43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839" name="Google Shape;839;p72"/>
          <p:cNvSpPr txBox="1"/>
          <p:nvPr/>
        </p:nvSpPr>
        <p:spPr>
          <a:xfrm>
            <a:off x="324000" y="4254375"/>
            <a:ext cx="8637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0.3 × 70</a:t>
            </a:r>
            <a:endParaRPr sz="1800">
              <a:latin typeface="Lexend"/>
              <a:ea typeface="Lexend"/>
              <a:cs typeface="Lexend"/>
              <a:sym typeface="Lexend"/>
            </a:endParaRPr>
          </a:p>
        </p:txBody>
      </p:sp>
      <p:grpSp>
        <p:nvGrpSpPr>
          <p:cNvPr id="840" name="Google Shape;840;p72"/>
          <p:cNvGrpSpPr/>
          <p:nvPr/>
        </p:nvGrpSpPr>
        <p:grpSpPr>
          <a:xfrm>
            <a:off x="2212000" y="2356858"/>
            <a:ext cx="4720100" cy="452100"/>
            <a:chOff x="2212000" y="2353708"/>
            <a:chExt cx="4720100" cy="452100"/>
          </a:xfrm>
        </p:grpSpPr>
        <p:sp>
          <p:nvSpPr>
            <p:cNvPr id="841" name="Google Shape;841;p72"/>
            <p:cNvSpPr/>
            <p:nvPr/>
          </p:nvSpPr>
          <p:spPr>
            <a:xfrm>
              <a:off x="5988000" y="2353708"/>
              <a:ext cx="944100" cy="452100"/>
            </a:xfrm>
            <a:prstGeom prst="roundRect">
              <a:avLst>
                <a:gd fmla="val 16667" name="adj"/>
              </a:avLst>
            </a:prstGeom>
            <a:noFill/>
            <a:ln cap="flat" cmpd="sng" w="38100">
              <a:solidFill>
                <a:srgbClr val="D5C5F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2" name="Google Shape;842;p72"/>
            <p:cNvSpPr/>
            <p:nvPr/>
          </p:nvSpPr>
          <p:spPr>
            <a:xfrm>
              <a:off x="2212000" y="2358800"/>
              <a:ext cx="944100" cy="434400"/>
            </a:xfrm>
            <a:prstGeom prst="roundRect">
              <a:avLst>
                <a:gd fmla="val 16667" name="adj"/>
              </a:avLst>
            </a:prstGeom>
            <a:noFill/>
            <a:ln cap="flat" cmpd="sng" w="38100">
              <a:solidFill>
                <a:srgbClr val="D5C5F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843" name="Google Shape;843;p72"/>
          <p:cNvGrpSpPr/>
          <p:nvPr/>
        </p:nvGrpSpPr>
        <p:grpSpPr>
          <a:xfrm>
            <a:off x="2212000" y="1903525"/>
            <a:ext cx="4720100" cy="1358774"/>
            <a:chOff x="2212000" y="1903525"/>
            <a:chExt cx="4720100" cy="1358774"/>
          </a:xfrm>
        </p:grpSpPr>
        <p:sp>
          <p:nvSpPr>
            <p:cNvPr id="844" name="Google Shape;844;p72"/>
            <p:cNvSpPr/>
            <p:nvPr/>
          </p:nvSpPr>
          <p:spPr>
            <a:xfrm>
              <a:off x="5988000" y="1903525"/>
              <a:ext cx="944100" cy="452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5" name="Google Shape;845;p72"/>
            <p:cNvSpPr/>
            <p:nvPr/>
          </p:nvSpPr>
          <p:spPr>
            <a:xfrm>
              <a:off x="2212000" y="2827899"/>
              <a:ext cx="944100" cy="43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3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graphicFrame>
        <p:nvGraphicFramePr>
          <p:cNvPr id="850" name="Google Shape;850;p73"/>
          <p:cNvGraphicFramePr/>
          <p:nvPr/>
        </p:nvGraphicFramePr>
        <p:xfrm>
          <a:off x="323988" y="1016857"/>
          <a:ext cx="3000000" cy="3000000"/>
        </p:xfrm>
        <a:graphic>
          <a:graphicData uri="http://schemas.openxmlformats.org/drawingml/2006/table">
            <a:tbl>
              <a:tblPr>
                <a:noFill/>
                <a:tableStyleId>{61091467-62BC-4098-847C-9079499EE7F0}</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sp>
        <p:nvSpPr>
          <p:cNvPr id="851" name="Google Shape;851;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graphicFrame>
        <p:nvGraphicFramePr>
          <p:cNvPr id="852" name="Google Shape;852;p73"/>
          <p:cNvGraphicFramePr/>
          <p:nvPr/>
        </p:nvGraphicFramePr>
        <p:xfrm>
          <a:off x="323988" y="1016857"/>
          <a:ext cx="3000000" cy="3000000"/>
        </p:xfrm>
        <a:graphic>
          <a:graphicData uri="http://schemas.openxmlformats.org/drawingml/2006/table">
            <a:tbl>
              <a:tblPr>
                <a:noFill/>
                <a:tableStyleId>{61091467-62BC-4098-847C-9079499EE7F0}</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sp>
        <p:nvSpPr>
          <p:cNvPr id="853" name="Google Shape;853;p73"/>
          <p:cNvSpPr txBox="1"/>
          <p:nvPr/>
        </p:nvSpPr>
        <p:spPr>
          <a:xfrm>
            <a:off x="324000" y="592644"/>
            <a:ext cx="8496000" cy="434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solidFill>
                  <a:srgbClr val="000000"/>
                </a:solidFill>
                <a:latin typeface="Lexend"/>
                <a:ea typeface="Lexend"/>
                <a:cs typeface="Lexend"/>
                <a:sym typeface="Lexend"/>
              </a:rPr>
              <a:t>Here is a Gattegno chart.</a:t>
            </a:r>
            <a:endParaRPr sz="2200">
              <a:solidFill>
                <a:srgbClr val="000000"/>
              </a:solidFill>
              <a:latin typeface="Lexend"/>
              <a:ea typeface="Lexend"/>
              <a:cs typeface="Lexend"/>
              <a:sym typeface="Lexend"/>
            </a:endParaRPr>
          </a:p>
        </p:txBody>
      </p:sp>
      <p:graphicFrame>
        <p:nvGraphicFramePr>
          <p:cNvPr id="854" name="Google Shape;854;p73"/>
          <p:cNvGraphicFramePr/>
          <p:nvPr/>
        </p:nvGraphicFramePr>
        <p:xfrm>
          <a:off x="323988" y="1016857"/>
          <a:ext cx="3000000" cy="3000000"/>
        </p:xfrm>
        <a:graphic>
          <a:graphicData uri="http://schemas.openxmlformats.org/drawingml/2006/table">
            <a:tbl>
              <a:tblPr>
                <a:noFill/>
                <a:tableStyleId>{61091467-62BC-4098-847C-9079499EE7F0}</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graphicFrame>
        <p:nvGraphicFramePr>
          <p:cNvPr id="855" name="Google Shape;855;p73"/>
          <p:cNvGraphicFramePr/>
          <p:nvPr/>
        </p:nvGraphicFramePr>
        <p:xfrm>
          <a:off x="323988" y="995494"/>
          <a:ext cx="3000000" cy="3000000"/>
        </p:xfrm>
        <a:graphic>
          <a:graphicData uri="http://schemas.openxmlformats.org/drawingml/2006/table">
            <a:tbl>
              <a:tblPr>
                <a:noFill/>
                <a:tableStyleId>{9E21685C-36D5-4CBA-A8C3-DE956EF8306F}</a:tableStyleId>
              </a:tblPr>
              <a:tblGrid>
                <a:gridCol w="944000"/>
                <a:gridCol w="944000"/>
                <a:gridCol w="944000"/>
                <a:gridCol w="944000"/>
                <a:gridCol w="944000"/>
                <a:gridCol w="944000"/>
                <a:gridCol w="944000"/>
                <a:gridCol w="944000"/>
                <a:gridCol w="944000"/>
              </a:tblGrid>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856" name="Google Shape;856;p73"/>
          <p:cNvSpPr/>
          <p:nvPr/>
        </p:nvSpPr>
        <p:spPr>
          <a:xfrm>
            <a:off x="5988000" y="2353708"/>
            <a:ext cx="944100" cy="452100"/>
          </a:xfrm>
          <a:prstGeom prst="roundRect">
            <a:avLst>
              <a:gd fmla="val 16667" name="adj"/>
            </a:avLst>
          </a:prstGeom>
          <a:noFill/>
          <a:ln cap="flat" cmpd="sng" w="38100">
            <a:solidFill>
              <a:srgbClr val="D5C5F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7" name="Google Shape;857;p73"/>
          <p:cNvSpPr/>
          <p:nvPr/>
        </p:nvSpPr>
        <p:spPr>
          <a:xfrm>
            <a:off x="2212000" y="2358800"/>
            <a:ext cx="944100" cy="434400"/>
          </a:xfrm>
          <a:prstGeom prst="roundRect">
            <a:avLst>
              <a:gd fmla="val 16667" name="adj"/>
            </a:avLst>
          </a:prstGeom>
          <a:noFill/>
          <a:ln cap="flat" cmpd="sng" w="38100">
            <a:solidFill>
              <a:srgbClr val="D5C5F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8" name="Google Shape;858;p73"/>
          <p:cNvSpPr txBox="1"/>
          <p:nvPr/>
        </p:nvSpPr>
        <p:spPr>
          <a:xfrm>
            <a:off x="322500" y="4197175"/>
            <a:ext cx="8496000" cy="613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1000"/>
              </a:spcAft>
              <a:buClr>
                <a:schemeClr val="dk1"/>
              </a:buClr>
              <a:buSzPts val="1100"/>
              <a:buFont typeface="Arial"/>
              <a:buNone/>
            </a:pPr>
            <a:r>
              <a:rPr lang="en-GB" sz="1800">
                <a:solidFill>
                  <a:schemeClr val="dk1"/>
                </a:solidFill>
                <a:latin typeface="Lexend"/>
                <a:ea typeface="Lexend"/>
                <a:cs typeface="Lexend"/>
                <a:sym typeface="Lexend"/>
              </a:rPr>
              <a:t>Moving down a row on a Gattegno chart divides a number by 10 and moving up a row </a:t>
            </a:r>
            <a:r>
              <a:rPr lang="en-GB" sz="1800">
                <a:solidFill>
                  <a:schemeClr val="dk1"/>
                </a:solidFill>
                <a:latin typeface="Lexend"/>
                <a:ea typeface="Lexend"/>
                <a:cs typeface="Lexend"/>
                <a:sym typeface="Lexend"/>
              </a:rPr>
              <a:t>multiplies a number by</a:t>
            </a:r>
            <a:r>
              <a:rPr lang="en-GB" sz="1800">
                <a:solidFill>
                  <a:schemeClr val="dk1"/>
                </a:solidFill>
                <a:latin typeface="Lexend"/>
                <a:ea typeface="Lexend"/>
                <a:cs typeface="Lexend"/>
                <a:sym typeface="Lexend"/>
              </a:rPr>
              <a:t> 10</a:t>
            </a:r>
            <a:endParaRPr sz="1800">
              <a:latin typeface="Lexend"/>
              <a:ea typeface="Lexend"/>
              <a:cs typeface="Lexend"/>
              <a:sym typeface="Lexend"/>
            </a:endParaRPr>
          </a:p>
        </p:txBody>
      </p:sp>
      <p:sp>
        <p:nvSpPr>
          <p:cNvPr id="859" name="Google Shape;859;p73"/>
          <p:cNvSpPr txBox="1"/>
          <p:nvPr/>
        </p:nvSpPr>
        <p:spPr>
          <a:xfrm>
            <a:off x="225125" y="3703800"/>
            <a:ext cx="8245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GB" sz="1800">
                <a:solidFill>
                  <a:schemeClr val="dk1"/>
                </a:solidFill>
                <a:latin typeface="Lexend"/>
                <a:ea typeface="Lexend"/>
                <a:cs typeface="Lexend"/>
                <a:sym typeface="Lexend"/>
              </a:rPr>
              <a:t>Why does this give a product of 21 still?</a:t>
            </a:r>
            <a:endParaRPr/>
          </a:p>
        </p:txBody>
      </p:sp>
      <p:sp>
        <p:nvSpPr>
          <p:cNvPr id="860" name="Google Shape;860;p73"/>
          <p:cNvSpPr/>
          <p:nvPr/>
        </p:nvSpPr>
        <p:spPr>
          <a:xfrm>
            <a:off x="5988000" y="1903525"/>
            <a:ext cx="944100" cy="452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1" name="Google Shape;861;p73"/>
          <p:cNvSpPr/>
          <p:nvPr/>
        </p:nvSpPr>
        <p:spPr>
          <a:xfrm>
            <a:off x="2212000" y="2827899"/>
            <a:ext cx="944100" cy="43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graphicFrame>
        <p:nvGraphicFramePr>
          <p:cNvPr id="866" name="Google Shape;866;p74"/>
          <p:cNvGraphicFramePr/>
          <p:nvPr/>
        </p:nvGraphicFramePr>
        <p:xfrm>
          <a:off x="323988" y="1016857"/>
          <a:ext cx="3000000" cy="3000000"/>
        </p:xfrm>
        <a:graphic>
          <a:graphicData uri="http://schemas.openxmlformats.org/drawingml/2006/table">
            <a:tbl>
              <a:tblPr>
                <a:noFill/>
                <a:tableStyleId>{61091467-62BC-4098-847C-9079499EE7F0}</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sp>
        <p:nvSpPr>
          <p:cNvPr id="867" name="Google Shape;867;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graphicFrame>
        <p:nvGraphicFramePr>
          <p:cNvPr id="868" name="Google Shape;868;p74"/>
          <p:cNvGraphicFramePr/>
          <p:nvPr/>
        </p:nvGraphicFramePr>
        <p:xfrm>
          <a:off x="323988" y="1016857"/>
          <a:ext cx="3000000" cy="3000000"/>
        </p:xfrm>
        <a:graphic>
          <a:graphicData uri="http://schemas.openxmlformats.org/drawingml/2006/table">
            <a:tbl>
              <a:tblPr>
                <a:noFill/>
                <a:tableStyleId>{61091467-62BC-4098-847C-9079499EE7F0}</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sp>
        <p:nvSpPr>
          <p:cNvPr id="869" name="Google Shape;869;p74"/>
          <p:cNvSpPr txBox="1"/>
          <p:nvPr/>
        </p:nvSpPr>
        <p:spPr>
          <a:xfrm>
            <a:off x="324000" y="592644"/>
            <a:ext cx="8496000" cy="434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solidFill>
                  <a:srgbClr val="000000"/>
                </a:solidFill>
                <a:latin typeface="Lexend"/>
                <a:ea typeface="Lexend"/>
                <a:cs typeface="Lexend"/>
                <a:sym typeface="Lexend"/>
              </a:rPr>
              <a:t>Here is a Gattegno chart.</a:t>
            </a:r>
            <a:endParaRPr sz="2200">
              <a:solidFill>
                <a:srgbClr val="000000"/>
              </a:solidFill>
              <a:latin typeface="Lexend"/>
              <a:ea typeface="Lexend"/>
              <a:cs typeface="Lexend"/>
              <a:sym typeface="Lexend"/>
            </a:endParaRPr>
          </a:p>
        </p:txBody>
      </p:sp>
      <p:graphicFrame>
        <p:nvGraphicFramePr>
          <p:cNvPr id="870" name="Google Shape;870;p74"/>
          <p:cNvGraphicFramePr/>
          <p:nvPr/>
        </p:nvGraphicFramePr>
        <p:xfrm>
          <a:off x="323988" y="1016857"/>
          <a:ext cx="3000000" cy="3000000"/>
        </p:xfrm>
        <a:graphic>
          <a:graphicData uri="http://schemas.openxmlformats.org/drawingml/2006/table">
            <a:tbl>
              <a:tblPr>
                <a:noFill/>
                <a:tableStyleId>{61091467-62BC-4098-847C-9079499EE7F0}</a:tableStyleId>
              </a:tblPr>
              <a:tblGrid>
                <a:gridCol w="594450"/>
                <a:gridCol w="349550"/>
                <a:gridCol w="586725"/>
                <a:gridCol w="395875"/>
                <a:gridCol w="548125"/>
                <a:gridCol w="395875"/>
                <a:gridCol w="555875"/>
                <a:gridCol w="349525"/>
                <a:gridCol w="579025"/>
                <a:gridCol w="364975"/>
                <a:gridCol w="579025"/>
                <a:gridCol w="364975"/>
                <a:gridCol w="579025"/>
                <a:gridCol w="364975"/>
                <a:gridCol w="579025"/>
                <a:gridCol w="364975"/>
                <a:gridCol w="594475"/>
                <a:gridCol w="349525"/>
              </a:tblGrid>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6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r h="475550">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.01</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.02</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19050">
                      <a:solidFill>
                        <a:srgbClr val="878787">
                          <a:alpha val="0"/>
                        </a:srgbClr>
                      </a:solidFill>
                      <a:prstDash val="solid"/>
                      <a:round/>
                      <a:headEnd len="sm" w="sm" type="none"/>
                      <a:tailEnd len="sm" w="sm" type="none"/>
                    </a:lnR>
                    <a:lnT cap="flat" cmpd="sng" w="19050">
                      <a:solidFill>
                        <a:srgbClr val="878787">
                          <a:alpha val="0"/>
                        </a:srgbClr>
                      </a:solidFill>
                      <a:prstDash val="solid"/>
                      <a:round/>
                      <a:headEnd len="sm" w="sm" type="none"/>
                      <a:tailEnd len="sm" w="sm" type="none"/>
                    </a:lnT>
                    <a:lnB cap="flat" cmpd="sng" w="19050">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.03</a:t>
                      </a:r>
                      <a:endParaRPr sz="1700">
                        <a:latin typeface="Lexend"/>
                        <a:ea typeface="Lexend"/>
                        <a:cs typeface="Lexend"/>
                        <a:sym typeface="Lexend"/>
                      </a:endParaRPr>
                    </a:p>
                  </a:txBody>
                  <a:tcPr marT="54000" marB="54000" marR="0" marL="0">
                    <a:lnL cap="flat" cmpd="sng" w="19050">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.04</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.05</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.06</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.07</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.08</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GB" sz="1700">
                          <a:latin typeface="Lexend"/>
                          <a:ea typeface="Lexend"/>
                          <a:cs typeface="Lexend"/>
                          <a:sym typeface="Lexend"/>
                        </a:rPr>
                        <a:t>0</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700">
                          <a:latin typeface="Lexend"/>
                          <a:ea typeface="Lexend"/>
                          <a:cs typeface="Lexend"/>
                          <a:sym typeface="Lexend"/>
                        </a:rPr>
                        <a:t>.09</a:t>
                      </a:r>
                      <a:endParaRPr sz="1700">
                        <a:latin typeface="Lexend"/>
                        <a:ea typeface="Lexend"/>
                        <a:cs typeface="Lexend"/>
                        <a:sym typeface="Lexend"/>
                      </a:endParaRPr>
                    </a:p>
                  </a:txBody>
                  <a:tcPr marT="54000" marB="54000" marR="0" marL="0">
                    <a:lnL cap="flat" cmpd="sng" w="9525">
                      <a:solidFill>
                        <a:srgbClr val="878787">
                          <a:alpha val="0"/>
                        </a:srgbClr>
                      </a:solidFill>
                      <a:prstDash val="solid"/>
                      <a:round/>
                      <a:headEnd len="sm" w="sm" type="none"/>
                      <a:tailEnd len="sm" w="sm" type="none"/>
                    </a:lnL>
                    <a:lnR cap="flat" cmpd="sng" w="9525">
                      <a:solidFill>
                        <a:srgbClr val="878787">
                          <a:alpha val="0"/>
                        </a:srgbClr>
                      </a:solidFill>
                      <a:prstDash val="solid"/>
                      <a:round/>
                      <a:headEnd len="sm" w="sm" type="none"/>
                      <a:tailEnd len="sm" w="sm" type="none"/>
                    </a:lnR>
                    <a:lnT cap="flat" cmpd="sng" w="9525">
                      <a:solidFill>
                        <a:srgbClr val="878787">
                          <a:alpha val="0"/>
                        </a:srgbClr>
                      </a:solidFill>
                      <a:prstDash val="solid"/>
                      <a:round/>
                      <a:headEnd len="sm" w="sm" type="none"/>
                      <a:tailEnd len="sm" w="sm" type="none"/>
                    </a:lnT>
                    <a:lnB cap="flat" cmpd="sng" w="9525">
                      <a:solidFill>
                        <a:srgbClr val="878787">
                          <a:alpha val="0"/>
                        </a:srgbClr>
                      </a:solidFill>
                      <a:prstDash val="solid"/>
                      <a:round/>
                      <a:headEnd len="sm" w="sm" type="none"/>
                      <a:tailEnd len="sm" w="sm" type="none"/>
                    </a:lnB>
                  </a:tcPr>
                </a:tc>
              </a:tr>
            </a:tbl>
          </a:graphicData>
        </a:graphic>
      </p:graphicFrame>
      <p:graphicFrame>
        <p:nvGraphicFramePr>
          <p:cNvPr id="871" name="Google Shape;871;p74"/>
          <p:cNvGraphicFramePr/>
          <p:nvPr/>
        </p:nvGraphicFramePr>
        <p:xfrm>
          <a:off x="323988" y="995494"/>
          <a:ext cx="3000000" cy="3000000"/>
        </p:xfrm>
        <a:graphic>
          <a:graphicData uri="http://schemas.openxmlformats.org/drawingml/2006/table">
            <a:tbl>
              <a:tblPr>
                <a:noFill/>
                <a:tableStyleId>{9E21685C-36D5-4CBA-A8C3-DE956EF8306F}</a:tableStyleId>
              </a:tblPr>
              <a:tblGrid>
                <a:gridCol w="944000"/>
                <a:gridCol w="944000"/>
                <a:gridCol w="944000"/>
                <a:gridCol w="944000"/>
                <a:gridCol w="944000"/>
                <a:gridCol w="944000"/>
                <a:gridCol w="944000"/>
                <a:gridCol w="944000"/>
                <a:gridCol w="944000"/>
              </a:tblGrid>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452575">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54000" marB="54000"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
        <p:nvSpPr>
          <p:cNvPr id="872" name="Google Shape;872;p74"/>
          <p:cNvSpPr txBox="1"/>
          <p:nvPr/>
        </p:nvSpPr>
        <p:spPr>
          <a:xfrm>
            <a:off x="324000" y="4140811"/>
            <a:ext cx="18471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Other pairs:  </a:t>
            </a:r>
            <a:endParaRPr sz="1800">
              <a:latin typeface="Lexend"/>
              <a:ea typeface="Lexend"/>
              <a:cs typeface="Lexend"/>
              <a:sym typeface="Lexend"/>
            </a:endParaRPr>
          </a:p>
        </p:txBody>
      </p:sp>
      <p:grpSp>
        <p:nvGrpSpPr>
          <p:cNvPr id="873" name="Google Shape;873;p74"/>
          <p:cNvGrpSpPr/>
          <p:nvPr/>
        </p:nvGrpSpPr>
        <p:grpSpPr>
          <a:xfrm>
            <a:off x="2212000" y="2353708"/>
            <a:ext cx="4720100" cy="452100"/>
            <a:chOff x="2212000" y="2353708"/>
            <a:chExt cx="4720100" cy="452100"/>
          </a:xfrm>
        </p:grpSpPr>
        <p:sp>
          <p:nvSpPr>
            <p:cNvPr id="874" name="Google Shape;874;p74"/>
            <p:cNvSpPr/>
            <p:nvPr/>
          </p:nvSpPr>
          <p:spPr>
            <a:xfrm>
              <a:off x="5988000" y="2353708"/>
              <a:ext cx="944100" cy="452100"/>
            </a:xfrm>
            <a:prstGeom prst="roundRect">
              <a:avLst>
                <a:gd fmla="val 16667" name="adj"/>
              </a:avLst>
            </a:prstGeom>
            <a:noFill/>
            <a:ln cap="flat" cmpd="sng" w="38100">
              <a:solidFill>
                <a:srgbClr val="D5C5F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5" name="Google Shape;875;p74"/>
            <p:cNvSpPr/>
            <p:nvPr/>
          </p:nvSpPr>
          <p:spPr>
            <a:xfrm>
              <a:off x="2212000" y="2358800"/>
              <a:ext cx="944100" cy="434400"/>
            </a:xfrm>
            <a:prstGeom prst="roundRect">
              <a:avLst>
                <a:gd fmla="val 16667" name="adj"/>
              </a:avLst>
            </a:prstGeom>
            <a:noFill/>
            <a:ln cap="flat" cmpd="sng" w="38100">
              <a:solidFill>
                <a:srgbClr val="D5C5F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876" name="Google Shape;876;p74"/>
          <p:cNvSpPr txBox="1"/>
          <p:nvPr/>
        </p:nvSpPr>
        <p:spPr>
          <a:xfrm>
            <a:off x="3847405" y="4140811"/>
            <a:ext cx="15213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30 × 0.7</a:t>
            </a:r>
            <a:endParaRPr sz="1800">
              <a:latin typeface="Lexend"/>
              <a:ea typeface="Lexend"/>
              <a:cs typeface="Lexend"/>
              <a:sym typeface="Lexend"/>
            </a:endParaRPr>
          </a:p>
        </p:txBody>
      </p:sp>
      <p:grpSp>
        <p:nvGrpSpPr>
          <p:cNvPr id="877" name="Google Shape;877;p74"/>
          <p:cNvGrpSpPr/>
          <p:nvPr/>
        </p:nvGrpSpPr>
        <p:grpSpPr>
          <a:xfrm>
            <a:off x="2212000" y="1900650"/>
            <a:ext cx="4720100" cy="1357257"/>
            <a:chOff x="2212000" y="1900650"/>
            <a:chExt cx="4720100" cy="1357257"/>
          </a:xfrm>
        </p:grpSpPr>
        <p:sp>
          <p:nvSpPr>
            <p:cNvPr id="878" name="Google Shape;878;p74"/>
            <p:cNvSpPr/>
            <p:nvPr/>
          </p:nvSpPr>
          <p:spPr>
            <a:xfrm>
              <a:off x="2212000" y="1900650"/>
              <a:ext cx="944100" cy="434400"/>
            </a:xfrm>
            <a:prstGeom prst="roundRect">
              <a:avLst>
                <a:gd fmla="val 16667" name="adj"/>
              </a:avLst>
            </a:prstGeom>
            <a:noFill/>
            <a:ln cap="flat" cmpd="sng" w="38100">
              <a:solidFill>
                <a:schemeClr val="accent3"/>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9" name="Google Shape;879;p74"/>
            <p:cNvSpPr/>
            <p:nvPr/>
          </p:nvSpPr>
          <p:spPr>
            <a:xfrm>
              <a:off x="5988000" y="2805808"/>
              <a:ext cx="944100" cy="452100"/>
            </a:xfrm>
            <a:prstGeom prst="roundRect">
              <a:avLst>
                <a:gd fmla="val 16667" name="adj"/>
              </a:avLst>
            </a:prstGeom>
            <a:noFill/>
            <a:ln cap="flat" cmpd="sng" w="38100">
              <a:solidFill>
                <a:schemeClr val="accent3"/>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880" name="Google Shape;880;p74"/>
          <p:cNvGrpSpPr/>
          <p:nvPr/>
        </p:nvGrpSpPr>
        <p:grpSpPr>
          <a:xfrm>
            <a:off x="2212000" y="1442500"/>
            <a:ext cx="4720100" cy="2267507"/>
            <a:chOff x="2212000" y="1442500"/>
            <a:chExt cx="4720100" cy="2267507"/>
          </a:xfrm>
        </p:grpSpPr>
        <p:sp>
          <p:nvSpPr>
            <p:cNvPr id="881" name="Google Shape;881;p74"/>
            <p:cNvSpPr/>
            <p:nvPr/>
          </p:nvSpPr>
          <p:spPr>
            <a:xfrm>
              <a:off x="2212000" y="1442500"/>
              <a:ext cx="944100" cy="4344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2" name="Google Shape;882;p74"/>
            <p:cNvSpPr/>
            <p:nvPr/>
          </p:nvSpPr>
          <p:spPr>
            <a:xfrm>
              <a:off x="5988000" y="3257908"/>
              <a:ext cx="944100" cy="4521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883" name="Google Shape;883;p74"/>
          <p:cNvSpPr txBox="1"/>
          <p:nvPr/>
        </p:nvSpPr>
        <p:spPr>
          <a:xfrm>
            <a:off x="5446075" y="4140811"/>
            <a:ext cx="15213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300 × 0.07</a:t>
            </a:r>
            <a:endParaRPr sz="1800">
              <a:latin typeface="Lexend"/>
              <a:ea typeface="Lexend"/>
              <a:cs typeface="Lexend"/>
              <a:sym typeface="Lexend"/>
            </a:endParaRPr>
          </a:p>
        </p:txBody>
      </p:sp>
      <p:grpSp>
        <p:nvGrpSpPr>
          <p:cNvPr id="884" name="Google Shape;884;p74"/>
          <p:cNvGrpSpPr/>
          <p:nvPr/>
        </p:nvGrpSpPr>
        <p:grpSpPr>
          <a:xfrm>
            <a:off x="2212000" y="1916433"/>
            <a:ext cx="4720100" cy="1332522"/>
            <a:chOff x="2212000" y="1916433"/>
            <a:chExt cx="4720100" cy="1332522"/>
          </a:xfrm>
        </p:grpSpPr>
        <p:sp>
          <p:nvSpPr>
            <p:cNvPr id="885" name="Google Shape;885;p74"/>
            <p:cNvSpPr/>
            <p:nvPr/>
          </p:nvSpPr>
          <p:spPr>
            <a:xfrm>
              <a:off x="2212000" y="2814555"/>
              <a:ext cx="944100" cy="434400"/>
            </a:xfrm>
            <a:prstGeom prst="roundRect">
              <a:avLst>
                <a:gd fmla="val 16667" name="adj"/>
              </a:avLst>
            </a:prstGeom>
            <a:noFill/>
            <a:ln cap="flat" cmpd="sng" w="38100">
              <a:solidFill>
                <a:srgbClr val="D5C5F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6" name="Google Shape;886;p74"/>
            <p:cNvSpPr/>
            <p:nvPr/>
          </p:nvSpPr>
          <p:spPr>
            <a:xfrm>
              <a:off x="5988000" y="1916433"/>
              <a:ext cx="944100" cy="452100"/>
            </a:xfrm>
            <a:prstGeom prst="roundRect">
              <a:avLst>
                <a:gd fmla="val 16667" name="adj"/>
              </a:avLst>
            </a:prstGeom>
            <a:noFill/>
            <a:ln cap="flat" cmpd="sng" w="38100">
              <a:solidFill>
                <a:srgbClr val="D5C5F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887" name="Google Shape;887;p74"/>
          <p:cNvGrpSpPr/>
          <p:nvPr/>
        </p:nvGrpSpPr>
        <p:grpSpPr>
          <a:xfrm>
            <a:off x="2212000" y="1449508"/>
            <a:ext cx="4720100" cy="2255197"/>
            <a:chOff x="2212000" y="1449508"/>
            <a:chExt cx="4720100" cy="2255197"/>
          </a:xfrm>
        </p:grpSpPr>
        <p:sp>
          <p:nvSpPr>
            <p:cNvPr id="888" name="Google Shape;888;p74"/>
            <p:cNvSpPr/>
            <p:nvPr/>
          </p:nvSpPr>
          <p:spPr>
            <a:xfrm>
              <a:off x="2212000" y="3270305"/>
              <a:ext cx="944100" cy="4344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9" name="Google Shape;889;p74"/>
            <p:cNvSpPr/>
            <p:nvPr/>
          </p:nvSpPr>
          <p:spPr>
            <a:xfrm>
              <a:off x="5988000" y="1449508"/>
              <a:ext cx="944100" cy="452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54000" lIns="91425" spcFirstLastPara="1" rIns="91425" wrap="square" tIns="54000">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890" name="Google Shape;890;p74"/>
          <p:cNvSpPr txBox="1"/>
          <p:nvPr/>
        </p:nvSpPr>
        <p:spPr>
          <a:xfrm>
            <a:off x="2169475" y="4137236"/>
            <a:ext cx="15213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0.03 × 700</a:t>
            </a:r>
            <a:endParaRPr sz="1800">
              <a:latin typeface="Lexend"/>
              <a:ea typeface="Lexend"/>
              <a:cs typeface="Lexend"/>
              <a:sym typeface="Lexend"/>
            </a:endParaRPr>
          </a:p>
        </p:txBody>
      </p:sp>
      <p:sp>
        <p:nvSpPr>
          <p:cNvPr id="891" name="Google Shape;891;p74"/>
          <p:cNvSpPr txBox="1"/>
          <p:nvPr/>
        </p:nvSpPr>
        <p:spPr>
          <a:xfrm>
            <a:off x="243300" y="3703800"/>
            <a:ext cx="8576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GB" sz="1800">
                <a:solidFill>
                  <a:schemeClr val="dk1"/>
                </a:solidFill>
                <a:latin typeface="Lexend"/>
                <a:ea typeface="Lexend"/>
                <a:cs typeface="Lexend"/>
                <a:sym typeface="Lexend"/>
              </a:rPr>
              <a:t>Which other products on this chart have the product of 21</a:t>
            </a:r>
            <a:r>
              <a:rPr lang="en-GB" sz="1800">
                <a:solidFill>
                  <a:schemeClr val="dk1"/>
                </a:solidFill>
                <a:latin typeface="Lexend"/>
                <a:ea typeface="Lexend"/>
                <a:cs typeface="Lexend"/>
                <a:sym typeface="Lexend"/>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897" name="Google Shape;897;p75"/>
          <p:cNvSpPr txBox="1"/>
          <p:nvPr>
            <p:ph idx="1" type="body"/>
          </p:nvPr>
        </p:nvSpPr>
        <p:spPr>
          <a:xfrm>
            <a:off x="324000" y="683100"/>
            <a:ext cx="8237700" cy="3384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Let’s explore this in more detail</a:t>
            </a:r>
            <a:endParaRPr/>
          </a:p>
        </p:txBody>
      </p:sp>
      <p:sp>
        <p:nvSpPr>
          <p:cNvPr id="898" name="Google Shape;898;p75"/>
          <p:cNvSpPr txBox="1"/>
          <p:nvPr/>
        </p:nvSpPr>
        <p:spPr>
          <a:xfrm>
            <a:off x="1398395" y="1589836"/>
            <a:ext cx="15213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30 × 0.7</a:t>
            </a:r>
            <a:endParaRPr sz="2200">
              <a:latin typeface="Lexend"/>
              <a:ea typeface="Lexend"/>
              <a:cs typeface="Lexend"/>
              <a:sym typeface="Lexend"/>
            </a:endParaRPr>
          </a:p>
        </p:txBody>
      </p:sp>
      <p:sp>
        <p:nvSpPr>
          <p:cNvPr id="899" name="Google Shape;899;p75"/>
          <p:cNvSpPr txBox="1"/>
          <p:nvPr/>
        </p:nvSpPr>
        <p:spPr>
          <a:xfrm>
            <a:off x="6241671" y="1569450"/>
            <a:ext cx="2404800" cy="819000"/>
          </a:xfrm>
          <a:prstGeom prst="rect">
            <a:avLst/>
          </a:prstGeom>
          <a:noFill/>
          <a:ln cap="flat" cmpd="sng" w="28575">
            <a:solidFill>
              <a:schemeClr val="accent4"/>
            </a:solidFill>
            <a:prstDash val="solid"/>
            <a:round/>
            <a:headEnd len="sm" w="sm" type="none"/>
            <a:tailEnd len="sm" w="sm" type="none"/>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2000">
                <a:latin typeface="Lexend"/>
                <a:ea typeface="Lexend"/>
                <a:cs typeface="Lexend"/>
                <a:sym typeface="Lexend"/>
              </a:rPr>
              <a:t>Rewriting using the commutative law</a:t>
            </a:r>
            <a:endParaRPr sz="2000">
              <a:latin typeface="Lexend"/>
              <a:ea typeface="Lexend"/>
              <a:cs typeface="Lexend"/>
              <a:sym typeface="Lexend"/>
            </a:endParaRPr>
          </a:p>
        </p:txBody>
      </p:sp>
      <p:sp>
        <p:nvSpPr>
          <p:cNvPr id="900" name="Google Shape;900;p75"/>
          <p:cNvSpPr txBox="1"/>
          <p:nvPr/>
        </p:nvSpPr>
        <p:spPr>
          <a:xfrm>
            <a:off x="718790" y="2422075"/>
            <a:ext cx="109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3</a:t>
            </a:r>
            <a:r>
              <a:rPr lang="en-GB" sz="2000">
                <a:solidFill>
                  <a:srgbClr val="000000"/>
                </a:solidFill>
                <a:latin typeface="Lexend"/>
                <a:ea typeface="Lexend"/>
                <a:cs typeface="Lexend"/>
                <a:sym typeface="Lexend"/>
              </a:rPr>
              <a:t> × </a:t>
            </a:r>
            <a:r>
              <a:rPr lang="en-GB" sz="2000">
                <a:latin typeface="Lexend"/>
                <a:ea typeface="Lexend"/>
                <a:cs typeface="Lexend"/>
                <a:sym typeface="Lexend"/>
              </a:rPr>
              <a:t>10</a:t>
            </a:r>
            <a:endParaRPr sz="2000">
              <a:solidFill>
                <a:srgbClr val="000000"/>
              </a:solidFill>
              <a:latin typeface="Lexend"/>
              <a:ea typeface="Lexend"/>
              <a:cs typeface="Lexend"/>
              <a:sym typeface="Lexend"/>
            </a:endParaRPr>
          </a:p>
        </p:txBody>
      </p:sp>
      <p:sp>
        <p:nvSpPr>
          <p:cNvPr id="901" name="Google Shape;901;p75"/>
          <p:cNvSpPr txBox="1"/>
          <p:nvPr/>
        </p:nvSpPr>
        <p:spPr>
          <a:xfrm>
            <a:off x="2393740" y="2422075"/>
            <a:ext cx="106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7</a:t>
            </a:r>
            <a:r>
              <a:rPr lang="en-GB" sz="2000">
                <a:solidFill>
                  <a:srgbClr val="000000"/>
                </a:solidFill>
                <a:latin typeface="Lexend"/>
                <a:ea typeface="Lexend"/>
                <a:cs typeface="Lexend"/>
                <a:sym typeface="Lexend"/>
              </a:rPr>
              <a:t> × </a:t>
            </a:r>
            <a:r>
              <a:rPr lang="en-GB" sz="2000">
                <a:latin typeface="Lexend"/>
                <a:ea typeface="Lexend"/>
                <a:cs typeface="Lexend"/>
                <a:sym typeface="Lexend"/>
              </a:rPr>
              <a:t>0.1</a:t>
            </a:r>
            <a:endParaRPr sz="2000">
              <a:solidFill>
                <a:srgbClr val="000000"/>
              </a:solidFill>
              <a:latin typeface="Lexend"/>
              <a:ea typeface="Lexend"/>
              <a:cs typeface="Lexend"/>
              <a:sym typeface="Lexend"/>
            </a:endParaRPr>
          </a:p>
        </p:txBody>
      </p:sp>
      <p:sp>
        <p:nvSpPr>
          <p:cNvPr id="902" name="Google Shape;902;p75"/>
          <p:cNvSpPr txBox="1"/>
          <p:nvPr/>
        </p:nvSpPr>
        <p:spPr>
          <a:xfrm>
            <a:off x="1938890" y="242207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cxnSp>
        <p:nvCxnSpPr>
          <p:cNvPr id="903" name="Google Shape;903;p75"/>
          <p:cNvCxnSpPr/>
          <p:nvPr/>
        </p:nvCxnSpPr>
        <p:spPr>
          <a:xfrm flipH="1">
            <a:off x="1015490" y="1897629"/>
            <a:ext cx="585000" cy="486000"/>
          </a:xfrm>
          <a:prstGeom prst="straightConnector1">
            <a:avLst/>
          </a:prstGeom>
          <a:noFill/>
          <a:ln cap="flat" cmpd="sng" w="38100">
            <a:solidFill>
              <a:srgbClr val="808080"/>
            </a:solidFill>
            <a:prstDash val="solid"/>
            <a:round/>
            <a:headEnd len="med" w="med" type="none"/>
            <a:tailEnd len="med" w="med" type="triangle"/>
          </a:ln>
        </p:spPr>
      </p:cxnSp>
      <p:cxnSp>
        <p:nvCxnSpPr>
          <p:cNvPr id="904" name="Google Shape;904;p75"/>
          <p:cNvCxnSpPr/>
          <p:nvPr/>
        </p:nvCxnSpPr>
        <p:spPr>
          <a:xfrm>
            <a:off x="2317540" y="1879675"/>
            <a:ext cx="415200" cy="504000"/>
          </a:xfrm>
          <a:prstGeom prst="straightConnector1">
            <a:avLst/>
          </a:prstGeom>
          <a:noFill/>
          <a:ln cap="flat" cmpd="sng" w="38100">
            <a:solidFill>
              <a:srgbClr val="808080"/>
            </a:solidFill>
            <a:prstDash val="solid"/>
            <a:round/>
            <a:headEnd len="med" w="med" type="none"/>
            <a:tailEnd len="med" w="med" type="triangle"/>
          </a:ln>
        </p:spPr>
      </p:cxnSp>
      <p:sp>
        <p:nvSpPr>
          <p:cNvPr id="905" name="Google Shape;905;p75"/>
          <p:cNvSpPr txBox="1"/>
          <p:nvPr/>
        </p:nvSpPr>
        <p:spPr>
          <a:xfrm>
            <a:off x="753765" y="2738425"/>
            <a:ext cx="654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3</a:t>
            </a:r>
            <a:r>
              <a:rPr lang="en-GB" sz="2000">
                <a:solidFill>
                  <a:srgbClr val="000000"/>
                </a:solidFill>
                <a:latin typeface="Lexend"/>
                <a:ea typeface="Lexend"/>
                <a:cs typeface="Lexend"/>
                <a:sym typeface="Lexend"/>
              </a:rPr>
              <a:t> × </a:t>
            </a:r>
            <a:r>
              <a:rPr lang="en-GB" sz="2000">
                <a:latin typeface="Lexend"/>
                <a:ea typeface="Lexend"/>
                <a:cs typeface="Lexend"/>
                <a:sym typeface="Lexend"/>
              </a:rPr>
              <a:t>7</a:t>
            </a:r>
            <a:endParaRPr sz="2000">
              <a:solidFill>
                <a:srgbClr val="000000"/>
              </a:solidFill>
              <a:latin typeface="Lexend"/>
              <a:ea typeface="Lexend"/>
              <a:cs typeface="Lexend"/>
              <a:sym typeface="Lexend"/>
            </a:endParaRPr>
          </a:p>
        </p:txBody>
      </p:sp>
      <p:sp>
        <p:nvSpPr>
          <p:cNvPr id="906" name="Google Shape;906;p75"/>
          <p:cNvSpPr txBox="1"/>
          <p:nvPr/>
        </p:nvSpPr>
        <p:spPr>
          <a:xfrm>
            <a:off x="2393740" y="2709325"/>
            <a:ext cx="133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10 × 0.1</a:t>
            </a:r>
            <a:endParaRPr sz="2000">
              <a:solidFill>
                <a:srgbClr val="000000"/>
              </a:solidFill>
              <a:latin typeface="Lexend"/>
              <a:ea typeface="Lexend"/>
              <a:cs typeface="Lexend"/>
              <a:sym typeface="Lexend"/>
            </a:endParaRPr>
          </a:p>
        </p:txBody>
      </p:sp>
      <p:sp>
        <p:nvSpPr>
          <p:cNvPr id="907" name="Google Shape;907;p75"/>
          <p:cNvSpPr txBox="1"/>
          <p:nvPr/>
        </p:nvSpPr>
        <p:spPr>
          <a:xfrm>
            <a:off x="1938890" y="270932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08" name="Google Shape;908;p75"/>
          <p:cNvSpPr txBox="1"/>
          <p:nvPr/>
        </p:nvSpPr>
        <p:spPr>
          <a:xfrm>
            <a:off x="1210965" y="3083875"/>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21</a:t>
            </a:r>
            <a:endParaRPr sz="2000">
              <a:solidFill>
                <a:srgbClr val="000000"/>
              </a:solidFill>
              <a:latin typeface="Lexend"/>
              <a:ea typeface="Lexend"/>
              <a:cs typeface="Lexend"/>
              <a:sym typeface="Lexend"/>
            </a:endParaRPr>
          </a:p>
        </p:txBody>
      </p:sp>
      <p:sp>
        <p:nvSpPr>
          <p:cNvPr id="909" name="Google Shape;909;p75"/>
          <p:cNvSpPr txBox="1"/>
          <p:nvPr/>
        </p:nvSpPr>
        <p:spPr>
          <a:xfrm>
            <a:off x="2393740" y="3054775"/>
            <a:ext cx="7428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1</a:t>
            </a:r>
            <a:endParaRPr sz="2000">
              <a:solidFill>
                <a:srgbClr val="000000"/>
              </a:solidFill>
              <a:latin typeface="Lexend"/>
              <a:ea typeface="Lexend"/>
              <a:cs typeface="Lexend"/>
              <a:sym typeface="Lexend"/>
            </a:endParaRPr>
          </a:p>
        </p:txBody>
      </p:sp>
      <p:sp>
        <p:nvSpPr>
          <p:cNvPr id="910" name="Google Shape;910;p75"/>
          <p:cNvSpPr txBox="1"/>
          <p:nvPr/>
        </p:nvSpPr>
        <p:spPr>
          <a:xfrm>
            <a:off x="1938890" y="305477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11" name="Google Shape;911;p75"/>
          <p:cNvSpPr txBox="1"/>
          <p:nvPr/>
        </p:nvSpPr>
        <p:spPr>
          <a:xfrm>
            <a:off x="3829362" y="1569450"/>
            <a:ext cx="2276400" cy="2261100"/>
          </a:xfrm>
          <a:prstGeom prst="rect">
            <a:avLst/>
          </a:prstGeom>
          <a:noFill/>
          <a:ln cap="flat" cmpd="sng" w="28575">
            <a:solidFill>
              <a:schemeClr val="accent4"/>
            </a:solidFill>
            <a:prstDash val="solid"/>
            <a:round/>
            <a:headEnd len="sm" w="sm" type="none"/>
            <a:tailEnd len="sm" w="sm" type="none"/>
          </a:ln>
        </p:spPr>
        <p:txBody>
          <a:bodyPr anchorCtr="0" anchor="t" bIns="0" lIns="0" spcFirstLastPara="1" rIns="0" wrap="square" tIns="0">
            <a:noAutofit/>
          </a:bodyPr>
          <a:lstStyle/>
          <a:p>
            <a:pPr indent="0" lvl="0" marL="0" rtl="0" algn="ctr">
              <a:lnSpc>
                <a:spcPct val="130000"/>
              </a:lnSpc>
              <a:spcBef>
                <a:spcPts val="0"/>
              </a:spcBef>
              <a:spcAft>
                <a:spcPts val="0"/>
              </a:spcAft>
              <a:buNone/>
            </a:pPr>
            <a:r>
              <a:rPr lang="en-GB" sz="2000">
                <a:latin typeface="Lexend"/>
                <a:ea typeface="Lexend"/>
                <a:cs typeface="Lexend"/>
                <a:sym typeface="Lexend"/>
              </a:rPr>
              <a:t>Using the associative law we can write </a:t>
            </a:r>
            <a:endParaRPr sz="2000">
              <a:latin typeface="Lexend"/>
              <a:ea typeface="Lexend"/>
              <a:cs typeface="Lexend"/>
              <a:sym typeface="Lexend"/>
            </a:endParaRPr>
          </a:p>
          <a:p>
            <a:pPr indent="0" lvl="0" marL="0" rtl="0" algn="ctr">
              <a:lnSpc>
                <a:spcPct val="130000"/>
              </a:lnSpc>
              <a:spcBef>
                <a:spcPts val="1000"/>
              </a:spcBef>
              <a:spcAft>
                <a:spcPts val="0"/>
              </a:spcAft>
              <a:buNone/>
            </a:pPr>
            <a:r>
              <a:rPr lang="en-GB" sz="2000">
                <a:latin typeface="Lexend"/>
                <a:ea typeface="Lexend"/>
                <a:cs typeface="Lexend"/>
                <a:sym typeface="Lexend"/>
              </a:rPr>
              <a:t>30 = 3 </a:t>
            </a:r>
            <a:r>
              <a:rPr lang="en-GB" sz="2000">
                <a:solidFill>
                  <a:schemeClr val="dk1"/>
                </a:solidFill>
                <a:latin typeface="Lexend"/>
                <a:ea typeface="Lexend"/>
                <a:cs typeface="Lexend"/>
                <a:sym typeface="Lexend"/>
              </a:rPr>
              <a:t>× 10 and </a:t>
            </a:r>
            <a:endParaRPr sz="2000">
              <a:solidFill>
                <a:schemeClr val="dk1"/>
              </a:solidFill>
              <a:latin typeface="Lexend"/>
              <a:ea typeface="Lexend"/>
              <a:cs typeface="Lexend"/>
              <a:sym typeface="Lexend"/>
            </a:endParaRPr>
          </a:p>
          <a:p>
            <a:pPr indent="0" lvl="0" marL="0" rtl="0" algn="ctr">
              <a:lnSpc>
                <a:spcPct val="130000"/>
              </a:lnSpc>
              <a:spcBef>
                <a:spcPts val="1000"/>
              </a:spcBef>
              <a:spcAft>
                <a:spcPts val="1000"/>
              </a:spcAft>
              <a:buNone/>
            </a:pPr>
            <a:r>
              <a:rPr lang="en-GB" sz="2000">
                <a:solidFill>
                  <a:schemeClr val="dk1"/>
                </a:solidFill>
                <a:latin typeface="Lexend"/>
                <a:ea typeface="Lexend"/>
                <a:cs typeface="Lexend"/>
                <a:sym typeface="Lexend"/>
              </a:rPr>
              <a:t>0.7 = 7 × 0.1</a:t>
            </a:r>
            <a:r>
              <a:rPr lang="en-GB" sz="2000">
                <a:latin typeface="Lexend"/>
                <a:ea typeface="Lexend"/>
                <a:cs typeface="Lexend"/>
                <a:sym typeface="Lexend"/>
              </a:rPr>
              <a:t> </a:t>
            </a:r>
            <a:endParaRPr sz="2000">
              <a:latin typeface="Lexend"/>
              <a:ea typeface="Lexend"/>
              <a:cs typeface="Lexend"/>
              <a:sym typeface="Lexend"/>
            </a:endParaRPr>
          </a:p>
        </p:txBody>
      </p:sp>
      <p:sp>
        <p:nvSpPr>
          <p:cNvPr id="912" name="Google Shape;912;p75"/>
          <p:cNvSpPr txBox="1"/>
          <p:nvPr/>
        </p:nvSpPr>
        <p:spPr>
          <a:xfrm>
            <a:off x="1093588" y="3571029"/>
            <a:ext cx="2449500" cy="258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30 × 0.7 = 21</a:t>
            </a:r>
            <a:endParaRPr sz="2200">
              <a:latin typeface="Lexend"/>
              <a:ea typeface="Lexend"/>
              <a:cs typeface="Lexend"/>
              <a:sym typeface="Lexend"/>
            </a:endParaRPr>
          </a:p>
        </p:txBody>
      </p:sp>
      <p:sp>
        <p:nvSpPr>
          <p:cNvPr id="913" name="Google Shape;913;p75"/>
          <p:cNvSpPr txBox="1"/>
          <p:nvPr/>
        </p:nvSpPr>
        <p:spPr>
          <a:xfrm>
            <a:off x="6282046" y="2581348"/>
            <a:ext cx="2404800" cy="381900"/>
          </a:xfrm>
          <a:prstGeom prst="rect">
            <a:avLst/>
          </a:prstGeom>
          <a:noFill/>
          <a:ln cap="flat" cmpd="sng" w="28575">
            <a:solidFill>
              <a:schemeClr val="accent4"/>
            </a:solidFill>
            <a:prstDash val="solid"/>
            <a:round/>
            <a:headEnd len="sm" w="sm" type="none"/>
            <a:tailEnd len="sm" w="sm" type="none"/>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2000">
                <a:latin typeface="Lexend"/>
                <a:ea typeface="Lexend"/>
                <a:cs typeface="Lexend"/>
                <a:sym typeface="Lexend"/>
              </a:rPr>
              <a:t>Simplifying</a:t>
            </a:r>
            <a:endParaRPr sz="20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1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9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1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76"/>
          <p:cNvSpPr txBox="1"/>
          <p:nvPr>
            <p:ph idx="1" type="body"/>
          </p:nvPr>
        </p:nvSpPr>
        <p:spPr>
          <a:xfrm>
            <a:off x="324000" y="759300"/>
            <a:ext cx="8237700" cy="83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Show using the associative law, commutative law and powers of 10, why the product is 21</a:t>
            </a:r>
            <a:endParaRPr/>
          </a:p>
        </p:txBody>
      </p:sp>
      <p:sp>
        <p:nvSpPr>
          <p:cNvPr id="919" name="Google Shape;919;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920" name="Google Shape;920;p76"/>
          <p:cNvSpPr txBox="1"/>
          <p:nvPr/>
        </p:nvSpPr>
        <p:spPr>
          <a:xfrm>
            <a:off x="3623725" y="1742236"/>
            <a:ext cx="15213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300 × 0.07</a:t>
            </a:r>
            <a:endParaRPr sz="2200">
              <a:latin typeface="Lexend"/>
              <a:ea typeface="Lexend"/>
              <a:cs typeface="Lexend"/>
              <a:sym typeface="Lexend"/>
            </a:endParaRPr>
          </a:p>
        </p:txBody>
      </p:sp>
      <p:sp>
        <p:nvSpPr>
          <p:cNvPr id="921" name="Google Shape;921;p76"/>
          <p:cNvSpPr txBox="1"/>
          <p:nvPr/>
        </p:nvSpPr>
        <p:spPr>
          <a:xfrm>
            <a:off x="3190950" y="2702400"/>
            <a:ext cx="109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latin typeface="Kalam"/>
                <a:ea typeface="Kalam"/>
                <a:cs typeface="Kalam"/>
                <a:sym typeface="Kalam"/>
              </a:rPr>
              <a:t>3</a:t>
            </a:r>
            <a:r>
              <a:rPr lang="en-GB" sz="2100">
                <a:solidFill>
                  <a:srgbClr val="000000"/>
                </a:solidFill>
                <a:latin typeface="Kalam"/>
                <a:ea typeface="Kalam"/>
                <a:cs typeface="Kalam"/>
                <a:sym typeface="Kalam"/>
              </a:rPr>
              <a:t> × </a:t>
            </a:r>
            <a:r>
              <a:rPr lang="en-GB" sz="2100">
                <a:latin typeface="Kalam"/>
                <a:ea typeface="Kalam"/>
                <a:cs typeface="Kalam"/>
                <a:sym typeface="Kalam"/>
              </a:rPr>
              <a:t>100</a:t>
            </a:r>
            <a:endParaRPr sz="2100">
              <a:solidFill>
                <a:srgbClr val="000000"/>
              </a:solidFill>
              <a:latin typeface="Kalam"/>
              <a:ea typeface="Kalam"/>
              <a:cs typeface="Kalam"/>
              <a:sym typeface="Kalam"/>
            </a:endParaRPr>
          </a:p>
        </p:txBody>
      </p:sp>
      <p:sp>
        <p:nvSpPr>
          <p:cNvPr id="922" name="Google Shape;922;p76"/>
          <p:cNvSpPr txBox="1"/>
          <p:nvPr/>
        </p:nvSpPr>
        <p:spPr>
          <a:xfrm>
            <a:off x="4865900" y="2702400"/>
            <a:ext cx="106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latin typeface="Kalam"/>
                <a:ea typeface="Kalam"/>
                <a:cs typeface="Kalam"/>
                <a:sym typeface="Kalam"/>
              </a:rPr>
              <a:t>7</a:t>
            </a:r>
            <a:r>
              <a:rPr lang="en-GB" sz="2100">
                <a:solidFill>
                  <a:srgbClr val="000000"/>
                </a:solidFill>
                <a:latin typeface="Kalam"/>
                <a:ea typeface="Kalam"/>
                <a:cs typeface="Kalam"/>
                <a:sym typeface="Kalam"/>
              </a:rPr>
              <a:t> × </a:t>
            </a:r>
            <a:r>
              <a:rPr lang="en-GB" sz="2100">
                <a:latin typeface="Kalam"/>
                <a:ea typeface="Kalam"/>
                <a:cs typeface="Kalam"/>
                <a:sym typeface="Kalam"/>
              </a:rPr>
              <a:t>0.01</a:t>
            </a:r>
            <a:endParaRPr sz="2100">
              <a:solidFill>
                <a:srgbClr val="000000"/>
              </a:solidFill>
              <a:latin typeface="Kalam"/>
              <a:ea typeface="Kalam"/>
              <a:cs typeface="Kalam"/>
              <a:sym typeface="Kalam"/>
            </a:endParaRPr>
          </a:p>
        </p:txBody>
      </p:sp>
      <p:sp>
        <p:nvSpPr>
          <p:cNvPr id="923" name="Google Shape;923;p76"/>
          <p:cNvSpPr txBox="1"/>
          <p:nvPr/>
        </p:nvSpPr>
        <p:spPr>
          <a:xfrm>
            <a:off x="4411050" y="270240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solidFill>
                  <a:srgbClr val="000000"/>
                </a:solidFill>
                <a:latin typeface="Kalam"/>
                <a:ea typeface="Kalam"/>
                <a:cs typeface="Kalam"/>
                <a:sym typeface="Kalam"/>
              </a:rPr>
              <a:t>×</a:t>
            </a:r>
            <a:endParaRPr sz="2100">
              <a:solidFill>
                <a:srgbClr val="000000"/>
              </a:solidFill>
              <a:latin typeface="Kalam"/>
              <a:ea typeface="Kalam"/>
              <a:cs typeface="Kalam"/>
              <a:sym typeface="Kalam"/>
            </a:endParaRPr>
          </a:p>
        </p:txBody>
      </p:sp>
      <p:cxnSp>
        <p:nvCxnSpPr>
          <p:cNvPr id="924" name="Google Shape;924;p76"/>
          <p:cNvCxnSpPr/>
          <p:nvPr/>
        </p:nvCxnSpPr>
        <p:spPr>
          <a:xfrm flipH="1">
            <a:off x="3487650" y="2177954"/>
            <a:ext cx="585000" cy="486000"/>
          </a:xfrm>
          <a:prstGeom prst="straightConnector1">
            <a:avLst/>
          </a:prstGeom>
          <a:noFill/>
          <a:ln cap="flat" cmpd="sng" w="38100">
            <a:solidFill>
              <a:srgbClr val="808080"/>
            </a:solidFill>
            <a:prstDash val="solid"/>
            <a:round/>
            <a:headEnd len="med" w="med" type="none"/>
            <a:tailEnd len="med" w="med" type="triangle"/>
          </a:ln>
        </p:spPr>
      </p:cxnSp>
      <p:cxnSp>
        <p:nvCxnSpPr>
          <p:cNvPr id="925" name="Google Shape;925;p76"/>
          <p:cNvCxnSpPr/>
          <p:nvPr/>
        </p:nvCxnSpPr>
        <p:spPr>
          <a:xfrm>
            <a:off x="4789700" y="2160000"/>
            <a:ext cx="415200" cy="504000"/>
          </a:xfrm>
          <a:prstGeom prst="straightConnector1">
            <a:avLst/>
          </a:prstGeom>
          <a:noFill/>
          <a:ln cap="flat" cmpd="sng" w="38100">
            <a:solidFill>
              <a:srgbClr val="808080"/>
            </a:solidFill>
            <a:prstDash val="solid"/>
            <a:round/>
            <a:headEnd len="med" w="med" type="none"/>
            <a:tailEnd len="med" w="med" type="triangle"/>
          </a:ln>
        </p:spPr>
      </p:cxnSp>
      <p:sp>
        <p:nvSpPr>
          <p:cNvPr id="926" name="Google Shape;926;p76"/>
          <p:cNvSpPr txBox="1"/>
          <p:nvPr/>
        </p:nvSpPr>
        <p:spPr>
          <a:xfrm>
            <a:off x="3225925" y="3018750"/>
            <a:ext cx="654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latin typeface="Kalam"/>
                <a:ea typeface="Kalam"/>
                <a:cs typeface="Kalam"/>
                <a:sym typeface="Kalam"/>
              </a:rPr>
              <a:t>3</a:t>
            </a:r>
            <a:r>
              <a:rPr lang="en-GB" sz="2100">
                <a:solidFill>
                  <a:srgbClr val="000000"/>
                </a:solidFill>
                <a:latin typeface="Kalam"/>
                <a:ea typeface="Kalam"/>
                <a:cs typeface="Kalam"/>
                <a:sym typeface="Kalam"/>
              </a:rPr>
              <a:t> × </a:t>
            </a:r>
            <a:r>
              <a:rPr lang="en-GB" sz="2100">
                <a:latin typeface="Kalam"/>
                <a:ea typeface="Kalam"/>
                <a:cs typeface="Kalam"/>
                <a:sym typeface="Kalam"/>
              </a:rPr>
              <a:t>7</a:t>
            </a:r>
            <a:endParaRPr sz="2100">
              <a:solidFill>
                <a:srgbClr val="000000"/>
              </a:solidFill>
              <a:latin typeface="Kalam"/>
              <a:ea typeface="Kalam"/>
              <a:cs typeface="Kalam"/>
              <a:sym typeface="Kalam"/>
            </a:endParaRPr>
          </a:p>
        </p:txBody>
      </p:sp>
      <p:sp>
        <p:nvSpPr>
          <p:cNvPr id="927" name="Google Shape;927;p76"/>
          <p:cNvSpPr txBox="1"/>
          <p:nvPr/>
        </p:nvSpPr>
        <p:spPr>
          <a:xfrm>
            <a:off x="4865900" y="2989650"/>
            <a:ext cx="133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latin typeface="Kalam"/>
                <a:ea typeface="Kalam"/>
                <a:cs typeface="Kalam"/>
                <a:sym typeface="Kalam"/>
              </a:rPr>
              <a:t>100 × 0.01</a:t>
            </a:r>
            <a:endParaRPr sz="2100">
              <a:solidFill>
                <a:srgbClr val="000000"/>
              </a:solidFill>
              <a:latin typeface="Kalam"/>
              <a:ea typeface="Kalam"/>
              <a:cs typeface="Kalam"/>
              <a:sym typeface="Kalam"/>
            </a:endParaRPr>
          </a:p>
        </p:txBody>
      </p:sp>
      <p:sp>
        <p:nvSpPr>
          <p:cNvPr id="928" name="Google Shape;928;p76"/>
          <p:cNvSpPr txBox="1"/>
          <p:nvPr/>
        </p:nvSpPr>
        <p:spPr>
          <a:xfrm>
            <a:off x="4411050" y="29896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solidFill>
                  <a:srgbClr val="000000"/>
                </a:solidFill>
                <a:latin typeface="Kalam"/>
                <a:ea typeface="Kalam"/>
                <a:cs typeface="Kalam"/>
                <a:sym typeface="Kalam"/>
              </a:rPr>
              <a:t>×</a:t>
            </a:r>
            <a:endParaRPr sz="2100">
              <a:solidFill>
                <a:srgbClr val="000000"/>
              </a:solidFill>
              <a:latin typeface="Kalam"/>
              <a:ea typeface="Kalam"/>
              <a:cs typeface="Kalam"/>
              <a:sym typeface="Kalam"/>
            </a:endParaRPr>
          </a:p>
        </p:txBody>
      </p:sp>
      <p:sp>
        <p:nvSpPr>
          <p:cNvPr id="929" name="Google Shape;929;p76"/>
          <p:cNvSpPr txBox="1"/>
          <p:nvPr/>
        </p:nvSpPr>
        <p:spPr>
          <a:xfrm>
            <a:off x="3683125" y="3364200"/>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latin typeface="Kalam"/>
                <a:ea typeface="Kalam"/>
                <a:cs typeface="Kalam"/>
                <a:sym typeface="Kalam"/>
              </a:rPr>
              <a:t>21</a:t>
            </a:r>
            <a:endParaRPr sz="2100">
              <a:solidFill>
                <a:srgbClr val="000000"/>
              </a:solidFill>
              <a:latin typeface="Kalam"/>
              <a:ea typeface="Kalam"/>
              <a:cs typeface="Kalam"/>
              <a:sym typeface="Kalam"/>
            </a:endParaRPr>
          </a:p>
        </p:txBody>
      </p:sp>
      <p:sp>
        <p:nvSpPr>
          <p:cNvPr id="930" name="Google Shape;930;p76"/>
          <p:cNvSpPr txBox="1"/>
          <p:nvPr/>
        </p:nvSpPr>
        <p:spPr>
          <a:xfrm>
            <a:off x="4865900" y="3335100"/>
            <a:ext cx="7428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latin typeface="Kalam"/>
                <a:ea typeface="Kalam"/>
                <a:cs typeface="Kalam"/>
                <a:sym typeface="Kalam"/>
              </a:rPr>
              <a:t>1</a:t>
            </a:r>
            <a:endParaRPr sz="2100">
              <a:solidFill>
                <a:srgbClr val="000000"/>
              </a:solidFill>
              <a:latin typeface="Kalam"/>
              <a:ea typeface="Kalam"/>
              <a:cs typeface="Kalam"/>
              <a:sym typeface="Kalam"/>
            </a:endParaRPr>
          </a:p>
        </p:txBody>
      </p:sp>
      <p:sp>
        <p:nvSpPr>
          <p:cNvPr id="931" name="Google Shape;931;p76"/>
          <p:cNvSpPr txBox="1"/>
          <p:nvPr/>
        </p:nvSpPr>
        <p:spPr>
          <a:xfrm>
            <a:off x="4411050" y="333510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100">
                <a:solidFill>
                  <a:srgbClr val="000000"/>
                </a:solidFill>
                <a:latin typeface="Kalam"/>
                <a:ea typeface="Kalam"/>
                <a:cs typeface="Kalam"/>
                <a:sym typeface="Kalam"/>
              </a:rPr>
              <a:t>×</a:t>
            </a:r>
            <a:endParaRPr sz="2100">
              <a:solidFill>
                <a:srgbClr val="000000"/>
              </a:solidFill>
              <a:latin typeface="Kalam"/>
              <a:ea typeface="Kalam"/>
              <a:cs typeface="Kalam"/>
              <a:sym typeface="Kalam"/>
            </a:endParaRPr>
          </a:p>
        </p:txBody>
      </p:sp>
      <p:sp>
        <p:nvSpPr>
          <p:cNvPr id="932" name="Google Shape;932;p76"/>
          <p:cNvSpPr txBox="1"/>
          <p:nvPr/>
        </p:nvSpPr>
        <p:spPr>
          <a:xfrm>
            <a:off x="3565747" y="3851354"/>
            <a:ext cx="2449500" cy="258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300">
                <a:latin typeface="Kalam"/>
                <a:ea typeface="Kalam"/>
                <a:cs typeface="Kalam"/>
                <a:sym typeface="Kalam"/>
              </a:rPr>
              <a:t>300 × 0.07 = 21</a:t>
            </a:r>
            <a:endParaRPr sz="23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938" name="Google Shape;938;p77"/>
          <p:cNvSpPr txBox="1"/>
          <p:nvPr>
            <p:ph idx="1" type="body"/>
          </p:nvPr>
        </p:nvSpPr>
        <p:spPr>
          <a:xfrm>
            <a:off x="324000" y="759300"/>
            <a:ext cx="4161600" cy="402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Writing multiplications of 100, 10 000 etc can take time, so let’s use exponents to show the multiplication, but more </a:t>
            </a:r>
            <a:r>
              <a:rPr lang="en-GB"/>
              <a:t>efficiently</a:t>
            </a:r>
            <a:r>
              <a:rPr lang="en-GB"/>
              <a:t>. </a:t>
            </a:r>
            <a:endParaRPr/>
          </a:p>
          <a:p>
            <a:pPr indent="0" lvl="0" marL="0" rtl="0" algn="l">
              <a:spcBef>
                <a:spcPts val="1000"/>
              </a:spcBef>
              <a:spcAft>
                <a:spcPts val="1000"/>
              </a:spcAft>
              <a:buNone/>
            </a:pPr>
            <a:r>
              <a:rPr lang="en-GB"/>
              <a:t>Can you fill in this table to show the multiplications of 10 in exponential form? The first has been done for you.</a:t>
            </a:r>
            <a:endParaRPr/>
          </a:p>
        </p:txBody>
      </p:sp>
      <p:graphicFrame>
        <p:nvGraphicFramePr>
          <p:cNvPr id="939" name="Google Shape;939;p77"/>
          <p:cNvGraphicFramePr/>
          <p:nvPr/>
        </p:nvGraphicFramePr>
        <p:xfrm>
          <a:off x="4936125" y="903375"/>
          <a:ext cx="3000000" cy="3000000"/>
        </p:xfrm>
        <a:graphic>
          <a:graphicData uri="http://schemas.openxmlformats.org/drawingml/2006/table">
            <a:tbl>
              <a:tblPr>
                <a:noFill/>
                <a:tableStyleId>{9E21685C-36D5-4CBA-A8C3-DE956EF8306F}</a:tableStyleId>
              </a:tblPr>
              <a:tblGrid>
                <a:gridCol w="1223700"/>
                <a:gridCol w="1963100"/>
              </a:tblGrid>
              <a:tr h="381000">
                <a:tc>
                  <a:txBody>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Number</a:t>
                      </a:r>
                      <a:endParaRPr sz="1600">
                        <a:solidFill>
                          <a:srgbClr val="FFFFFF"/>
                        </a:solidFill>
                        <a:latin typeface="Lexend"/>
                        <a:ea typeface="Lexend"/>
                        <a:cs typeface="Lexend"/>
                        <a:sym typeface="Lexend"/>
                      </a:endParaRPr>
                    </a:p>
                  </a:txBody>
                  <a:tcPr marT="91425" marB="91425" marR="91425" marL="91425">
                    <a:lnL cap="flat" cmpd="sng" w="9525">
                      <a:solidFill>
                        <a:srgbClr val="037B7D"/>
                      </a:solidFill>
                      <a:prstDash val="solid"/>
                      <a:round/>
                      <a:headEnd len="sm" w="sm" type="none"/>
                      <a:tailEnd len="sm" w="sm" type="none"/>
                    </a:lnL>
                    <a:lnR cap="flat" cmpd="sng" w="9525">
                      <a:solidFill>
                        <a:srgbClr val="037B7D"/>
                      </a:solidFill>
                      <a:prstDash val="solid"/>
                      <a:round/>
                      <a:headEnd len="sm" w="sm" type="none"/>
                      <a:tailEnd len="sm" w="sm" type="none"/>
                    </a:lnR>
                    <a:lnT cap="flat" cmpd="sng" w="9525">
                      <a:solidFill>
                        <a:srgbClr val="037B7D"/>
                      </a:solidFill>
                      <a:prstDash val="solid"/>
                      <a:round/>
                      <a:headEnd len="sm" w="sm" type="none"/>
                      <a:tailEnd len="sm" w="sm" type="none"/>
                    </a:lnT>
                    <a:lnB cap="flat" cmpd="sng" w="9525">
                      <a:solidFill>
                        <a:srgbClr val="037B7D"/>
                      </a:solidFill>
                      <a:prstDash val="solid"/>
                      <a:round/>
                      <a:headEnd len="sm" w="sm" type="none"/>
                      <a:tailEnd len="sm" w="sm" type="none"/>
                    </a:lnB>
                    <a:solidFill>
                      <a:srgbClr val="845AD9"/>
                    </a:solidFill>
                  </a:tcPr>
                </a:tc>
                <a:tc>
                  <a:txBody>
                    <a:bodyPr/>
                    <a:lstStyle/>
                    <a:p>
                      <a:pPr indent="0" lvl="0" marL="0" rtl="0" algn="l">
                        <a:spcBef>
                          <a:spcPts val="0"/>
                        </a:spcBef>
                        <a:spcAft>
                          <a:spcPts val="0"/>
                        </a:spcAft>
                        <a:buNone/>
                      </a:pPr>
                      <a:r>
                        <a:rPr b="1" lang="en-GB" sz="1600">
                          <a:solidFill>
                            <a:srgbClr val="FFFFFF"/>
                          </a:solidFill>
                          <a:latin typeface="Lexend"/>
                          <a:ea typeface="Lexend"/>
                          <a:cs typeface="Lexend"/>
                          <a:sym typeface="Lexend"/>
                        </a:rPr>
                        <a:t>Exponential </a:t>
                      </a:r>
                      <a:r>
                        <a:rPr lang="en-GB" sz="1600">
                          <a:solidFill>
                            <a:srgbClr val="FFFFFF"/>
                          </a:solidFill>
                          <a:latin typeface="Lexend"/>
                          <a:ea typeface="Lexend"/>
                          <a:cs typeface="Lexend"/>
                          <a:sym typeface="Lexend"/>
                        </a:rPr>
                        <a:t>form</a:t>
                      </a:r>
                      <a:endParaRPr>
                        <a:solidFill>
                          <a:srgbClr val="FFFFFF"/>
                        </a:solidFill>
                      </a:endParaRPr>
                    </a:p>
                  </a:txBody>
                  <a:tcPr marT="91425" marB="91425" marR="91425" marL="91425">
                    <a:lnL cap="flat" cmpd="sng" w="9525">
                      <a:solidFill>
                        <a:srgbClr val="037B7D"/>
                      </a:solidFill>
                      <a:prstDash val="solid"/>
                      <a:round/>
                      <a:headEnd len="sm" w="sm" type="none"/>
                      <a:tailEnd len="sm" w="sm" type="none"/>
                    </a:lnL>
                    <a:lnR cap="flat" cmpd="sng" w="9525">
                      <a:solidFill>
                        <a:srgbClr val="037B7D"/>
                      </a:solidFill>
                      <a:prstDash val="solid"/>
                      <a:round/>
                      <a:headEnd len="sm" w="sm" type="none"/>
                      <a:tailEnd len="sm" w="sm" type="none"/>
                    </a:lnR>
                    <a:lnT cap="flat" cmpd="sng" w="9525">
                      <a:solidFill>
                        <a:srgbClr val="037B7D"/>
                      </a:solidFill>
                      <a:prstDash val="solid"/>
                      <a:round/>
                      <a:headEnd len="sm" w="sm" type="none"/>
                      <a:tailEnd len="sm" w="sm" type="none"/>
                    </a:lnT>
                    <a:lnB cap="flat" cmpd="sng" w="9525">
                      <a:solidFill>
                        <a:srgbClr val="037B7D"/>
                      </a:solidFill>
                      <a:prstDash val="solid"/>
                      <a:round/>
                      <a:headEnd len="sm" w="sm" type="none"/>
                      <a:tailEnd len="sm" w="sm" type="none"/>
                    </a:lnB>
                    <a:solidFill>
                      <a:srgbClr val="845AD9"/>
                    </a:solidFill>
                  </a:tcPr>
                </a:tc>
              </a:tr>
              <a:tr h="381000">
                <a:tc>
                  <a:txBody>
                    <a:bodyPr/>
                    <a:lstStyle/>
                    <a:p>
                      <a:pPr indent="0" lvl="0" marL="0" rtl="0" algn="l">
                        <a:spcBef>
                          <a:spcPts val="0"/>
                        </a:spcBef>
                        <a:spcAft>
                          <a:spcPts val="0"/>
                        </a:spcAft>
                        <a:buNone/>
                      </a:pPr>
                      <a:r>
                        <a:rPr lang="en-GB" sz="1600">
                          <a:latin typeface="Lexend"/>
                          <a:ea typeface="Lexend"/>
                          <a:cs typeface="Lexend"/>
                          <a:sym typeface="Lexend"/>
                        </a:rPr>
                        <a:t>1</a:t>
                      </a:r>
                      <a:endParaRPr sz="1600">
                        <a:latin typeface="Lexend"/>
                        <a:ea typeface="Lexend"/>
                        <a:cs typeface="Lexend"/>
                        <a:sym typeface="Lexend"/>
                      </a:endParaRPr>
                    </a:p>
                  </a:txBody>
                  <a:tcPr marT="91425" marB="91425" marR="91425" marL="91425">
                    <a:lnT cap="flat" cmpd="sng" w="9525">
                      <a:solidFill>
                        <a:srgbClr val="037B7D"/>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rgbClr val="037B7D"/>
                      </a:solidFill>
                      <a:prstDash val="solid"/>
                      <a:round/>
                      <a:headEnd len="sm" w="sm" type="none"/>
                      <a:tailEnd len="sm" w="sm" type="none"/>
                    </a:lnT>
                  </a:tcPr>
                </a:tc>
              </a:tr>
              <a:tr h="381000">
                <a:tc>
                  <a:txBody>
                    <a:bodyPr/>
                    <a:lstStyle/>
                    <a:p>
                      <a:pPr indent="0" lvl="0" marL="0" rtl="0" algn="l">
                        <a:spcBef>
                          <a:spcPts val="0"/>
                        </a:spcBef>
                        <a:spcAft>
                          <a:spcPts val="0"/>
                        </a:spcAft>
                        <a:buNone/>
                      </a:pPr>
                      <a:r>
                        <a:rPr lang="en-GB" sz="1600">
                          <a:solidFill>
                            <a:srgbClr val="000000"/>
                          </a:solidFill>
                          <a:latin typeface="Lexend"/>
                          <a:ea typeface="Lexend"/>
                          <a:cs typeface="Lexend"/>
                          <a:sym typeface="Lexend"/>
                        </a:rPr>
                        <a:t>10</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GB" sz="1600">
                          <a:solidFill>
                            <a:srgbClr val="000000"/>
                          </a:solidFill>
                          <a:latin typeface="Lexend"/>
                          <a:ea typeface="Lexend"/>
                          <a:cs typeface="Lexend"/>
                          <a:sym typeface="Lexend"/>
                        </a:rPr>
                        <a:t>100</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GB" sz="1600">
                          <a:solidFill>
                            <a:srgbClr val="000000"/>
                          </a:solidFill>
                          <a:latin typeface="Lexend"/>
                          <a:ea typeface="Lexend"/>
                          <a:cs typeface="Lexend"/>
                          <a:sym typeface="Lexend"/>
                        </a:rPr>
                        <a:t>1000</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GB" sz="1600">
                          <a:solidFill>
                            <a:srgbClr val="000000"/>
                          </a:solidFill>
                          <a:latin typeface="Lexend"/>
                          <a:ea typeface="Lexend"/>
                          <a:cs typeface="Lexend"/>
                          <a:sym typeface="Lexend"/>
                        </a:rPr>
                        <a:t>10 000</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GB" sz="1600">
                          <a:solidFill>
                            <a:srgbClr val="000000"/>
                          </a:solidFill>
                          <a:latin typeface="Lexend"/>
                          <a:ea typeface="Lexend"/>
                          <a:cs typeface="Lexend"/>
                          <a:sym typeface="Lexend"/>
                        </a:rPr>
                        <a:t>100 000</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en-GB" sz="1600">
                          <a:solidFill>
                            <a:srgbClr val="000000"/>
                          </a:solidFill>
                          <a:latin typeface="Lexend"/>
                          <a:ea typeface="Lexend"/>
                          <a:cs typeface="Lexend"/>
                          <a:sym typeface="Lexend"/>
                        </a:rPr>
                        <a:t>1 000 000</a:t>
                      </a:r>
                      <a:endParaRPr sz="1600">
                        <a:solidFill>
                          <a:srgbClr val="000000"/>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940" name="Google Shape;940;p77"/>
          <p:cNvSpPr txBox="1"/>
          <p:nvPr/>
        </p:nvSpPr>
        <p:spPr>
          <a:xfrm>
            <a:off x="6159850" y="2258800"/>
            <a:ext cx="1963200" cy="369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None/>
            </a:pPr>
            <a:r>
              <a:rPr lang="en-GB" sz="2200">
                <a:solidFill>
                  <a:srgbClr val="000000"/>
                </a:solidFill>
                <a:latin typeface="Kalam"/>
                <a:ea typeface="Kalam"/>
                <a:cs typeface="Kalam"/>
                <a:sym typeface="Kalam"/>
              </a:rPr>
              <a:t>10</a:t>
            </a:r>
            <a:r>
              <a:rPr baseline="30000" lang="en-GB" sz="2200">
                <a:solidFill>
                  <a:srgbClr val="000000"/>
                </a:solidFill>
                <a:latin typeface="Kalam"/>
                <a:ea typeface="Kalam"/>
                <a:cs typeface="Kalam"/>
                <a:sym typeface="Kalam"/>
              </a:rPr>
              <a:t>2</a:t>
            </a:r>
            <a:endParaRPr baseline="30000" sz="2200">
              <a:solidFill>
                <a:srgbClr val="000000"/>
              </a:solidFill>
              <a:latin typeface="Kalam"/>
              <a:ea typeface="Kalam"/>
              <a:cs typeface="Kalam"/>
              <a:sym typeface="Kalam"/>
            </a:endParaRPr>
          </a:p>
        </p:txBody>
      </p:sp>
      <p:sp>
        <p:nvSpPr>
          <p:cNvPr id="941" name="Google Shape;941;p77"/>
          <p:cNvSpPr txBox="1"/>
          <p:nvPr/>
        </p:nvSpPr>
        <p:spPr>
          <a:xfrm>
            <a:off x="6159850" y="2666525"/>
            <a:ext cx="1963200" cy="369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None/>
            </a:pPr>
            <a:r>
              <a:rPr lang="en-GB" sz="2400">
                <a:solidFill>
                  <a:srgbClr val="000000"/>
                </a:solidFill>
                <a:latin typeface="Kalam"/>
                <a:ea typeface="Kalam"/>
                <a:cs typeface="Kalam"/>
                <a:sym typeface="Kalam"/>
              </a:rPr>
              <a:t>10</a:t>
            </a:r>
            <a:r>
              <a:rPr baseline="30000" lang="en-GB" sz="2400">
                <a:solidFill>
                  <a:srgbClr val="000000"/>
                </a:solidFill>
                <a:latin typeface="Kalam"/>
                <a:ea typeface="Kalam"/>
                <a:cs typeface="Kalam"/>
                <a:sym typeface="Kalam"/>
              </a:rPr>
              <a:t>3</a:t>
            </a:r>
            <a:endParaRPr baseline="30000" sz="2400">
              <a:solidFill>
                <a:srgbClr val="000000"/>
              </a:solidFill>
              <a:latin typeface="Kalam"/>
              <a:ea typeface="Kalam"/>
              <a:cs typeface="Kalam"/>
              <a:sym typeface="Kalam"/>
            </a:endParaRPr>
          </a:p>
        </p:txBody>
      </p:sp>
      <p:sp>
        <p:nvSpPr>
          <p:cNvPr id="942" name="Google Shape;942;p77"/>
          <p:cNvSpPr txBox="1"/>
          <p:nvPr/>
        </p:nvSpPr>
        <p:spPr>
          <a:xfrm>
            <a:off x="6158150" y="3099525"/>
            <a:ext cx="1963200" cy="369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None/>
            </a:pPr>
            <a:r>
              <a:rPr lang="en-GB" sz="2400">
                <a:solidFill>
                  <a:srgbClr val="000000"/>
                </a:solidFill>
                <a:latin typeface="Kalam"/>
                <a:ea typeface="Kalam"/>
                <a:cs typeface="Kalam"/>
                <a:sym typeface="Kalam"/>
              </a:rPr>
              <a:t>10</a:t>
            </a:r>
            <a:r>
              <a:rPr baseline="30000" lang="en-GB" sz="2400">
                <a:solidFill>
                  <a:srgbClr val="000000"/>
                </a:solidFill>
                <a:latin typeface="Kalam"/>
                <a:ea typeface="Kalam"/>
                <a:cs typeface="Kalam"/>
                <a:sym typeface="Kalam"/>
              </a:rPr>
              <a:t>4</a:t>
            </a:r>
            <a:endParaRPr baseline="30000" sz="2400">
              <a:solidFill>
                <a:srgbClr val="000000"/>
              </a:solidFill>
              <a:latin typeface="Kalam"/>
              <a:ea typeface="Kalam"/>
              <a:cs typeface="Kalam"/>
              <a:sym typeface="Kalam"/>
            </a:endParaRPr>
          </a:p>
        </p:txBody>
      </p:sp>
      <p:sp>
        <p:nvSpPr>
          <p:cNvPr id="943" name="Google Shape;943;p77"/>
          <p:cNvSpPr txBox="1"/>
          <p:nvPr/>
        </p:nvSpPr>
        <p:spPr>
          <a:xfrm>
            <a:off x="6158150" y="3527500"/>
            <a:ext cx="1963200" cy="369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None/>
            </a:pPr>
            <a:r>
              <a:rPr lang="en-GB" sz="2400">
                <a:solidFill>
                  <a:srgbClr val="000000"/>
                </a:solidFill>
                <a:latin typeface="Kalam"/>
                <a:ea typeface="Kalam"/>
                <a:cs typeface="Kalam"/>
                <a:sym typeface="Kalam"/>
              </a:rPr>
              <a:t>10</a:t>
            </a:r>
            <a:r>
              <a:rPr baseline="30000" lang="en-GB" sz="2400">
                <a:solidFill>
                  <a:srgbClr val="000000"/>
                </a:solidFill>
                <a:latin typeface="Kalam"/>
                <a:ea typeface="Kalam"/>
                <a:cs typeface="Kalam"/>
                <a:sym typeface="Kalam"/>
              </a:rPr>
              <a:t>5</a:t>
            </a:r>
            <a:endParaRPr baseline="30000" sz="2400">
              <a:solidFill>
                <a:srgbClr val="000000"/>
              </a:solidFill>
              <a:latin typeface="Kalam"/>
              <a:ea typeface="Kalam"/>
              <a:cs typeface="Kalam"/>
              <a:sym typeface="Kalam"/>
            </a:endParaRPr>
          </a:p>
        </p:txBody>
      </p:sp>
      <p:sp>
        <p:nvSpPr>
          <p:cNvPr id="944" name="Google Shape;944;p77"/>
          <p:cNvSpPr txBox="1"/>
          <p:nvPr/>
        </p:nvSpPr>
        <p:spPr>
          <a:xfrm>
            <a:off x="6158150" y="3950400"/>
            <a:ext cx="1963200" cy="369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None/>
            </a:pPr>
            <a:r>
              <a:rPr lang="en-GB" sz="2400">
                <a:solidFill>
                  <a:srgbClr val="000000"/>
                </a:solidFill>
                <a:latin typeface="Kalam"/>
                <a:ea typeface="Kalam"/>
                <a:cs typeface="Kalam"/>
                <a:sym typeface="Kalam"/>
              </a:rPr>
              <a:t>10</a:t>
            </a:r>
            <a:r>
              <a:rPr baseline="30000" lang="en-GB" sz="2400">
                <a:solidFill>
                  <a:srgbClr val="000000"/>
                </a:solidFill>
                <a:latin typeface="Kalam"/>
                <a:ea typeface="Kalam"/>
                <a:cs typeface="Kalam"/>
                <a:sym typeface="Kalam"/>
              </a:rPr>
              <a:t>6</a:t>
            </a:r>
            <a:endParaRPr baseline="30000" sz="2400">
              <a:solidFill>
                <a:srgbClr val="000000"/>
              </a:solidFill>
              <a:latin typeface="Kalam"/>
              <a:ea typeface="Kalam"/>
              <a:cs typeface="Kalam"/>
              <a:sym typeface="Kalam"/>
            </a:endParaRPr>
          </a:p>
        </p:txBody>
      </p:sp>
      <p:sp>
        <p:nvSpPr>
          <p:cNvPr id="945" name="Google Shape;945;p77"/>
          <p:cNvSpPr txBox="1"/>
          <p:nvPr/>
        </p:nvSpPr>
        <p:spPr>
          <a:xfrm>
            <a:off x="6159825" y="1387200"/>
            <a:ext cx="1963200" cy="369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None/>
            </a:pPr>
            <a:r>
              <a:rPr lang="en-GB" sz="2400">
                <a:solidFill>
                  <a:srgbClr val="000000"/>
                </a:solidFill>
                <a:latin typeface="Lexend"/>
                <a:ea typeface="Lexend"/>
                <a:cs typeface="Lexend"/>
                <a:sym typeface="Lexend"/>
              </a:rPr>
              <a:t>10</a:t>
            </a:r>
            <a:r>
              <a:rPr baseline="30000" lang="en-GB" sz="2400">
                <a:solidFill>
                  <a:srgbClr val="000000"/>
                </a:solidFill>
                <a:latin typeface="Lexend"/>
                <a:ea typeface="Lexend"/>
                <a:cs typeface="Lexend"/>
                <a:sym typeface="Lexend"/>
              </a:rPr>
              <a:t>0</a:t>
            </a:r>
            <a:endParaRPr baseline="30000" sz="2400">
              <a:solidFill>
                <a:srgbClr val="000000"/>
              </a:solidFill>
              <a:latin typeface="Lexend"/>
              <a:ea typeface="Lexend"/>
              <a:cs typeface="Lexend"/>
              <a:sym typeface="Lexend"/>
            </a:endParaRPr>
          </a:p>
        </p:txBody>
      </p:sp>
      <p:sp>
        <p:nvSpPr>
          <p:cNvPr id="946" name="Google Shape;946;p77"/>
          <p:cNvSpPr txBox="1"/>
          <p:nvPr/>
        </p:nvSpPr>
        <p:spPr>
          <a:xfrm>
            <a:off x="6159850" y="1807075"/>
            <a:ext cx="1963200" cy="3696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None/>
            </a:pPr>
            <a:r>
              <a:rPr lang="en-GB" sz="2400">
                <a:solidFill>
                  <a:srgbClr val="000000"/>
                </a:solidFill>
                <a:latin typeface="Kalam"/>
                <a:ea typeface="Kalam"/>
                <a:cs typeface="Kalam"/>
                <a:sym typeface="Kalam"/>
              </a:rPr>
              <a:t>10</a:t>
            </a:r>
            <a:r>
              <a:rPr baseline="30000" lang="en-GB" sz="2400">
                <a:solidFill>
                  <a:srgbClr val="000000"/>
                </a:solidFill>
                <a:latin typeface="Kalam"/>
                <a:ea typeface="Kalam"/>
                <a:cs typeface="Kalam"/>
                <a:sym typeface="Kalam"/>
              </a:rPr>
              <a:t>1</a:t>
            </a:r>
            <a:endParaRPr baseline="30000" sz="2400">
              <a:solidFill>
                <a:srgbClr val="000000"/>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952" name="Google Shape;952;p78"/>
          <p:cNvSpPr txBox="1"/>
          <p:nvPr>
            <p:ph idx="1" type="body"/>
          </p:nvPr>
        </p:nvSpPr>
        <p:spPr>
          <a:xfrm>
            <a:off x="324000" y="683100"/>
            <a:ext cx="8237700" cy="33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powers of 10, let’s write this calculation.</a:t>
            </a:r>
            <a:endParaRPr/>
          </a:p>
          <a:p>
            <a:pPr indent="0" lvl="0" marL="0" rtl="0" algn="ctr">
              <a:spcBef>
                <a:spcPts val="1000"/>
              </a:spcBef>
              <a:spcAft>
                <a:spcPts val="0"/>
              </a:spcAft>
              <a:buNone/>
            </a:pPr>
            <a:r>
              <a:rPr lang="en-GB"/>
              <a:t>2000 × 4000 </a:t>
            </a:r>
            <a:endParaRPr/>
          </a:p>
          <a:p>
            <a:pPr indent="0" lvl="0" marL="0" rtl="0" algn="l">
              <a:spcBef>
                <a:spcPts val="1000"/>
              </a:spcBef>
              <a:spcAft>
                <a:spcPts val="1000"/>
              </a:spcAft>
              <a:buNone/>
            </a:pPr>
            <a:r>
              <a:t/>
            </a:r>
            <a:endParaRPr/>
          </a:p>
        </p:txBody>
      </p:sp>
      <p:sp>
        <p:nvSpPr>
          <p:cNvPr id="953" name="Google Shape;953;p78"/>
          <p:cNvSpPr txBox="1"/>
          <p:nvPr/>
        </p:nvSpPr>
        <p:spPr>
          <a:xfrm>
            <a:off x="1765823" y="1589825"/>
            <a:ext cx="20853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2000 </a:t>
            </a:r>
            <a:r>
              <a:rPr lang="en-GB" sz="2200">
                <a:latin typeface="Lexend"/>
                <a:ea typeface="Lexend"/>
                <a:cs typeface="Lexend"/>
                <a:sym typeface="Lexend"/>
              </a:rPr>
              <a:t> × 4000</a:t>
            </a:r>
            <a:endParaRPr sz="2200">
              <a:latin typeface="Lexend"/>
              <a:ea typeface="Lexend"/>
              <a:cs typeface="Lexend"/>
              <a:sym typeface="Lexend"/>
            </a:endParaRPr>
          </a:p>
        </p:txBody>
      </p:sp>
      <p:sp>
        <p:nvSpPr>
          <p:cNvPr id="954" name="Google Shape;954;p78"/>
          <p:cNvSpPr txBox="1"/>
          <p:nvPr/>
        </p:nvSpPr>
        <p:spPr>
          <a:xfrm>
            <a:off x="5621300" y="2975850"/>
            <a:ext cx="2810100" cy="784200"/>
          </a:xfrm>
          <a:prstGeom prst="rect">
            <a:avLst/>
          </a:prstGeom>
          <a:noFill/>
          <a:ln cap="flat" cmpd="sng" w="28575">
            <a:solidFill>
              <a:schemeClr val="accent4"/>
            </a:solidFill>
            <a:prstDash val="solid"/>
            <a:round/>
            <a:headEnd len="sm" w="sm" type="none"/>
            <a:tailEnd len="sm" w="sm" type="none"/>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2000">
                <a:latin typeface="Lexend"/>
                <a:ea typeface="Lexend"/>
                <a:cs typeface="Lexend"/>
                <a:sym typeface="Lexend"/>
              </a:rPr>
              <a:t>Rewriting using the commutative law</a:t>
            </a:r>
            <a:endParaRPr sz="2000">
              <a:latin typeface="Lexend"/>
              <a:ea typeface="Lexend"/>
              <a:cs typeface="Lexend"/>
              <a:sym typeface="Lexend"/>
            </a:endParaRPr>
          </a:p>
        </p:txBody>
      </p:sp>
      <p:sp>
        <p:nvSpPr>
          <p:cNvPr id="955" name="Google Shape;955;p78"/>
          <p:cNvSpPr txBox="1"/>
          <p:nvPr/>
        </p:nvSpPr>
        <p:spPr>
          <a:xfrm>
            <a:off x="1116850" y="2422075"/>
            <a:ext cx="109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2</a:t>
            </a:r>
            <a:r>
              <a:rPr lang="en-GB" sz="2000">
                <a:solidFill>
                  <a:srgbClr val="000000"/>
                </a:solidFill>
                <a:latin typeface="Lexend"/>
                <a:ea typeface="Lexend"/>
                <a:cs typeface="Lexend"/>
                <a:sym typeface="Lexend"/>
              </a:rPr>
              <a:t> × </a:t>
            </a:r>
            <a:r>
              <a:rPr lang="en-GB" sz="2000">
                <a:latin typeface="Lexend"/>
                <a:ea typeface="Lexend"/>
                <a:cs typeface="Lexend"/>
                <a:sym typeface="Lexend"/>
              </a:rPr>
              <a:t>1000</a:t>
            </a:r>
            <a:endParaRPr sz="2000">
              <a:solidFill>
                <a:srgbClr val="000000"/>
              </a:solidFill>
              <a:latin typeface="Lexend"/>
              <a:ea typeface="Lexend"/>
              <a:cs typeface="Lexend"/>
              <a:sym typeface="Lexend"/>
            </a:endParaRPr>
          </a:p>
        </p:txBody>
      </p:sp>
      <p:sp>
        <p:nvSpPr>
          <p:cNvPr id="956" name="Google Shape;956;p78"/>
          <p:cNvSpPr txBox="1"/>
          <p:nvPr/>
        </p:nvSpPr>
        <p:spPr>
          <a:xfrm>
            <a:off x="3020400" y="2422075"/>
            <a:ext cx="106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4</a:t>
            </a:r>
            <a:r>
              <a:rPr lang="en-GB" sz="2000">
                <a:solidFill>
                  <a:srgbClr val="000000"/>
                </a:solidFill>
                <a:latin typeface="Lexend"/>
                <a:ea typeface="Lexend"/>
                <a:cs typeface="Lexend"/>
                <a:sym typeface="Lexend"/>
              </a:rPr>
              <a:t> × </a:t>
            </a:r>
            <a:r>
              <a:rPr lang="en-GB" sz="2000">
                <a:latin typeface="Lexend"/>
                <a:ea typeface="Lexend"/>
                <a:cs typeface="Lexend"/>
                <a:sym typeface="Lexend"/>
              </a:rPr>
              <a:t>1000</a:t>
            </a:r>
            <a:endParaRPr sz="2000">
              <a:solidFill>
                <a:srgbClr val="000000"/>
              </a:solidFill>
              <a:latin typeface="Lexend"/>
              <a:ea typeface="Lexend"/>
              <a:cs typeface="Lexend"/>
              <a:sym typeface="Lexend"/>
            </a:endParaRPr>
          </a:p>
        </p:txBody>
      </p:sp>
      <p:sp>
        <p:nvSpPr>
          <p:cNvPr id="957" name="Google Shape;957;p78"/>
          <p:cNvSpPr txBox="1"/>
          <p:nvPr/>
        </p:nvSpPr>
        <p:spPr>
          <a:xfrm>
            <a:off x="2565550" y="242207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cxnSp>
        <p:nvCxnSpPr>
          <p:cNvPr id="958" name="Google Shape;958;p78"/>
          <p:cNvCxnSpPr/>
          <p:nvPr/>
        </p:nvCxnSpPr>
        <p:spPr>
          <a:xfrm flipH="1">
            <a:off x="1642150" y="1897629"/>
            <a:ext cx="585000" cy="486000"/>
          </a:xfrm>
          <a:prstGeom prst="straightConnector1">
            <a:avLst/>
          </a:prstGeom>
          <a:noFill/>
          <a:ln cap="flat" cmpd="sng" w="38100">
            <a:solidFill>
              <a:srgbClr val="808080"/>
            </a:solidFill>
            <a:prstDash val="solid"/>
            <a:round/>
            <a:headEnd len="med" w="med" type="none"/>
            <a:tailEnd len="med" w="med" type="triangle"/>
          </a:ln>
        </p:spPr>
      </p:cxnSp>
      <p:cxnSp>
        <p:nvCxnSpPr>
          <p:cNvPr id="959" name="Google Shape;959;p78"/>
          <p:cNvCxnSpPr/>
          <p:nvPr/>
        </p:nvCxnSpPr>
        <p:spPr>
          <a:xfrm>
            <a:off x="2944200" y="1879675"/>
            <a:ext cx="415200" cy="504000"/>
          </a:xfrm>
          <a:prstGeom prst="straightConnector1">
            <a:avLst/>
          </a:prstGeom>
          <a:noFill/>
          <a:ln cap="flat" cmpd="sng" w="38100">
            <a:solidFill>
              <a:srgbClr val="808080"/>
            </a:solidFill>
            <a:prstDash val="solid"/>
            <a:round/>
            <a:headEnd len="med" w="med" type="none"/>
            <a:tailEnd len="med" w="med" type="triangle"/>
          </a:ln>
        </p:spPr>
      </p:cxnSp>
      <p:sp>
        <p:nvSpPr>
          <p:cNvPr id="960" name="Google Shape;960;p78"/>
          <p:cNvSpPr txBox="1"/>
          <p:nvPr/>
        </p:nvSpPr>
        <p:spPr>
          <a:xfrm>
            <a:off x="1380425" y="2738425"/>
            <a:ext cx="654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2</a:t>
            </a:r>
            <a:r>
              <a:rPr lang="en-GB" sz="2000">
                <a:solidFill>
                  <a:srgbClr val="000000"/>
                </a:solidFill>
                <a:latin typeface="Lexend"/>
                <a:ea typeface="Lexend"/>
                <a:cs typeface="Lexend"/>
                <a:sym typeface="Lexend"/>
              </a:rPr>
              <a:t> × </a:t>
            </a:r>
            <a:r>
              <a:rPr lang="en-GB" sz="2000">
                <a:latin typeface="Lexend"/>
                <a:ea typeface="Lexend"/>
                <a:cs typeface="Lexend"/>
                <a:sym typeface="Lexend"/>
              </a:rPr>
              <a:t>4</a:t>
            </a:r>
            <a:endParaRPr sz="2000">
              <a:solidFill>
                <a:srgbClr val="000000"/>
              </a:solidFill>
              <a:latin typeface="Lexend"/>
              <a:ea typeface="Lexend"/>
              <a:cs typeface="Lexend"/>
              <a:sym typeface="Lexend"/>
            </a:endParaRPr>
          </a:p>
        </p:txBody>
      </p:sp>
      <p:sp>
        <p:nvSpPr>
          <p:cNvPr id="961" name="Google Shape;961;p78"/>
          <p:cNvSpPr txBox="1"/>
          <p:nvPr/>
        </p:nvSpPr>
        <p:spPr>
          <a:xfrm>
            <a:off x="3020400" y="2709325"/>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1000</a:t>
            </a:r>
            <a:r>
              <a:rPr lang="en-GB" sz="2000">
                <a:latin typeface="Lexend"/>
                <a:ea typeface="Lexend"/>
                <a:cs typeface="Lexend"/>
                <a:sym typeface="Lexend"/>
              </a:rPr>
              <a:t> × 1000</a:t>
            </a:r>
            <a:endParaRPr sz="2000">
              <a:solidFill>
                <a:srgbClr val="000000"/>
              </a:solidFill>
              <a:latin typeface="Lexend"/>
              <a:ea typeface="Lexend"/>
              <a:cs typeface="Lexend"/>
              <a:sym typeface="Lexend"/>
            </a:endParaRPr>
          </a:p>
        </p:txBody>
      </p:sp>
      <p:sp>
        <p:nvSpPr>
          <p:cNvPr id="962" name="Google Shape;962;p78"/>
          <p:cNvSpPr txBox="1"/>
          <p:nvPr/>
        </p:nvSpPr>
        <p:spPr>
          <a:xfrm>
            <a:off x="2565550" y="270932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63" name="Google Shape;963;p78"/>
          <p:cNvSpPr txBox="1"/>
          <p:nvPr/>
        </p:nvSpPr>
        <p:spPr>
          <a:xfrm>
            <a:off x="1837625" y="3083875"/>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8</a:t>
            </a:r>
            <a:endParaRPr sz="2000">
              <a:solidFill>
                <a:srgbClr val="000000"/>
              </a:solidFill>
              <a:latin typeface="Lexend"/>
              <a:ea typeface="Lexend"/>
              <a:cs typeface="Lexend"/>
              <a:sym typeface="Lexend"/>
            </a:endParaRPr>
          </a:p>
        </p:txBody>
      </p:sp>
      <p:sp>
        <p:nvSpPr>
          <p:cNvPr id="964" name="Google Shape;964;p78"/>
          <p:cNvSpPr txBox="1"/>
          <p:nvPr/>
        </p:nvSpPr>
        <p:spPr>
          <a:xfrm>
            <a:off x="3020400" y="3054775"/>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1 000 000</a:t>
            </a:r>
            <a:endParaRPr sz="2000">
              <a:solidFill>
                <a:srgbClr val="000000"/>
              </a:solidFill>
              <a:latin typeface="Lexend"/>
              <a:ea typeface="Lexend"/>
              <a:cs typeface="Lexend"/>
              <a:sym typeface="Lexend"/>
            </a:endParaRPr>
          </a:p>
        </p:txBody>
      </p:sp>
      <p:sp>
        <p:nvSpPr>
          <p:cNvPr id="965" name="Google Shape;965;p78"/>
          <p:cNvSpPr txBox="1"/>
          <p:nvPr/>
        </p:nvSpPr>
        <p:spPr>
          <a:xfrm>
            <a:off x="2565550" y="305477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966" name="Google Shape;966;p78"/>
          <p:cNvSpPr txBox="1"/>
          <p:nvPr/>
        </p:nvSpPr>
        <p:spPr>
          <a:xfrm>
            <a:off x="5530800" y="1260300"/>
            <a:ext cx="3241800" cy="819000"/>
          </a:xfrm>
          <a:prstGeom prst="rect">
            <a:avLst/>
          </a:prstGeom>
          <a:noFill/>
          <a:ln cap="flat" cmpd="sng" w="2857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30000"/>
              </a:lnSpc>
              <a:spcBef>
                <a:spcPts val="0"/>
              </a:spcBef>
              <a:spcAft>
                <a:spcPts val="0"/>
              </a:spcAft>
              <a:buNone/>
            </a:pPr>
            <a:r>
              <a:t/>
            </a:r>
            <a:endParaRPr sz="2000">
              <a:latin typeface="Lexend"/>
              <a:ea typeface="Lexend"/>
              <a:cs typeface="Lexend"/>
              <a:sym typeface="Lexend"/>
            </a:endParaRPr>
          </a:p>
          <a:p>
            <a:pPr indent="0" lvl="0" marL="0" rtl="0" algn="ctr">
              <a:lnSpc>
                <a:spcPct val="130000"/>
              </a:lnSpc>
              <a:spcBef>
                <a:spcPts val="1000"/>
              </a:spcBef>
              <a:spcAft>
                <a:spcPts val="0"/>
              </a:spcAft>
              <a:buNone/>
            </a:pPr>
            <a:r>
              <a:rPr lang="en-GB" sz="2000">
                <a:latin typeface="Lexend"/>
                <a:ea typeface="Lexend"/>
                <a:cs typeface="Lexend"/>
                <a:sym typeface="Lexend"/>
              </a:rPr>
              <a:t> </a:t>
            </a:r>
            <a:r>
              <a:rPr lang="en-GB" sz="2000">
                <a:latin typeface="Lexend"/>
                <a:ea typeface="Lexend"/>
                <a:cs typeface="Lexend"/>
                <a:sym typeface="Lexend"/>
              </a:rPr>
              <a:t>Using the associative law</a:t>
            </a:r>
            <a:endParaRPr sz="2000">
              <a:latin typeface="Lexend"/>
              <a:ea typeface="Lexend"/>
              <a:cs typeface="Lexend"/>
              <a:sym typeface="Lexend"/>
            </a:endParaRPr>
          </a:p>
          <a:p>
            <a:pPr indent="0" lvl="0" marL="0" rtl="0" algn="ctr">
              <a:lnSpc>
                <a:spcPct val="130000"/>
              </a:lnSpc>
              <a:spcBef>
                <a:spcPts val="1000"/>
              </a:spcBef>
              <a:spcAft>
                <a:spcPts val="1000"/>
              </a:spcAft>
              <a:buNone/>
            </a:pPr>
            <a:r>
              <a:t/>
            </a:r>
            <a:endParaRPr sz="2000">
              <a:latin typeface="Lexend"/>
              <a:ea typeface="Lexend"/>
              <a:cs typeface="Lexend"/>
              <a:sym typeface="Lexend"/>
            </a:endParaRPr>
          </a:p>
        </p:txBody>
      </p:sp>
      <p:sp>
        <p:nvSpPr>
          <p:cNvPr id="967" name="Google Shape;967;p78"/>
          <p:cNvSpPr txBox="1"/>
          <p:nvPr/>
        </p:nvSpPr>
        <p:spPr>
          <a:xfrm>
            <a:off x="5621300" y="2318100"/>
            <a:ext cx="2404800" cy="381900"/>
          </a:xfrm>
          <a:prstGeom prst="rect">
            <a:avLst/>
          </a:prstGeom>
          <a:noFill/>
          <a:ln cap="flat" cmpd="sng" w="28575">
            <a:solidFill>
              <a:schemeClr val="accent4"/>
            </a:solidFill>
            <a:prstDash val="solid"/>
            <a:round/>
            <a:headEnd len="sm" w="sm" type="none"/>
            <a:tailEnd len="sm" w="sm" type="none"/>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2000">
                <a:latin typeface="Lexend"/>
                <a:ea typeface="Lexend"/>
                <a:cs typeface="Lexend"/>
                <a:sym typeface="Lexend"/>
              </a:rPr>
              <a:t>Simplifying</a:t>
            </a:r>
            <a:endParaRPr sz="2000">
              <a:latin typeface="Lexend"/>
              <a:ea typeface="Lexend"/>
              <a:cs typeface="Lexend"/>
              <a:sym typeface="Lexend"/>
            </a:endParaRPr>
          </a:p>
        </p:txBody>
      </p:sp>
      <p:sp>
        <p:nvSpPr>
          <p:cNvPr id="968" name="Google Shape;968;p78"/>
          <p:cNvSpPr txBox="1"/>
          <p:nvPr>
            <p:ph idx="1" type="body"/>
          </p:nvPr>
        </p:nvSpPr>
        <p:spPr>
          <a:xfrm>
            <a:off x="324000" y="4035900"/>
            <a:ext cx="8496000" cy="819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Using powers of 10, we can see </a:t>
            </a:r>
            <a:r>
              <a:rPr lang="en-GB"/>
              <a:t>2000 × 4000 can be written as </a:t>
            </a:r>
            <a:endParaRPr/>
          </a:p>
          <a:p>
            <a:pPr indent="0" lvl="0" marL="0" rtl="0" algn="ctr">
              <a:spcBef>
                <a:spcPts val="1000"/>
              </a:spcBef>
              <a:spcAft>
                <a:spcPts val="0"/>
              </a:spcAft>
              <a:buNone/>
            </a:pPr>
            <a:r>
              <a:rPr lang="en-GB"/>
              <a:t>8  × </a:t>
            </a:r>
            <a:r>
              <a:rPr lang="en-GB" sz="2000"/>
              <a:t>10</a:t>
            </a:r>
            <a:r>
              <a:rPr baseline="30000" lang="en-GB" sz="2000"/>
              <a:t>6</a:t>
            </a:r>
            <a:r>
              <a:rPr lang="en-GB"/>
              <a:t> </a:t>
            </a:r>
            <a:endParaRPr/>
          </a:p>
          <a:p>
            <a:pPr indent="0" lvl="0" marL="0" rtl="0" algn="l">
              <a:spcBef>
                <a:spcPts val="1000"/>
              </a:spcBef>
              <a:spcAft>
                <a:spcPts val="1000"/>
              </a:spcAft>
              <a:buNone/>
            </a:pPr>
            <a:r>
              <a:rPr lang="en-GB"/>
              <a:t> </a:t>
            </a:r>
            <a:endParaRPr/>
          </a:p>
        </p:txBody>
      </p:sp>
      <p:sp>
        <p:nvSpPr>
          <p:cNvPr id="969" name="Google Shape;969;p78"/>
          <p:cNvSpPr txBox="1"/>
          <p:nvPr/>
        </p:nvSpPr>
        <p:spPr>
          <a:xfrm>
            <a:off x="1837625" y="3464875"/>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8</a:t>
            </a:r>
            <a:endParaRPr sz="2000">
              <a:solidFill>
                <a:srgbClr val="000000"/>
              </a:solidFill>
              <a:latin typeface="Lexend"/>
              <a:ea typeface="Lexend"/>
              <a:cs typeface="Lexend"/>
              <a:sym typeface="Lexend"/>
            </a:endParaRPr>
          </a:p>
        </p:txBody>
      </p:sp>
      <p:sp>
        <p:nvSpPr>
          <p:cNvPr id="970" name="Google Shape;970;p78"/>
          <p:cNvSpPr txBox="1"/>
          <p:nvPr/>
        </p:nvSpPr>
        <p:spPr>
          <a:xfrm>
            <a:off x="3020400" y="3435775"/>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10</a:t>
            </a:r>
            <a:r>
              <a:rPr baseline="30000" lang="en-GB" sz="2000">
                <a:latin typeface="Lexend"/>
                <a:ea typeface="Lexend"/>
                <a:cs typeface="Lexend"/>
                <a:sym typeface="Lexend"/>
              </a:rPr>
              <a:t>6</a:t>
            </a:r>
            <a:endParaRPr baseline="30000" sz="2000">
              <a:solidFill>
                <a:srgbClr val="000000"/>
              </a:solidFill>
              <a:latin typeface="Lexend"/>
              <a:ea typeface="Lexend"/>
              <a:cs typeface="Lexend"/>
              <a:sym typeface="Lexend"/>
            </a:endParaRPr>
          </a:p>
        </p:txBody>
      </p:sp>
      <p:sp>
        <p:nvSpPr>
          <p:cNvPr id="971" name="Google Shape;971;p78"/>
          <p:cNvSpPr txBox="1"/>
          <p:nvPr/>
        </p:nvSpPr>
        <p:spPr>
          <a:xfrm>
            <a:off x="2565550" y="343577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6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79"/>
          <p:cNvSpPr/>
          <p:nvPr/>
        </p:nvSpPr>
        <p:spPr>
          <a:xfrm>
            <a:off x="823350" y="1103425"/>
            <a:ext cx="3756300" cy="27069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7" name="Google Shape;977;p79"/>
          <p:cNvSpPr txBox="1"/>
          <p:nvPr>
            <p:ph idx="1" type="body"/>
          </p:nvPr>
        </p:nvSpPr>
        <p:spPr>
          <a:xfrm>
            <a:off x="324000" y="683100"/>
            <a:ext cx="82377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Two pupils were given this </a:t>
            </a:r>
            <a:r>
              <a:rPr lang="en-GB" sz="2000"/>
              <a:t>calculation to write using powers of 10 </a:t>
            </a:r>
            <a:endParaRPr sz="2000"/>
          </a:p>
        </p:txBody>
      </p:sp>
      <p:sp>
        <p:nvSpPr>
          <p:cNvPr id="978" name="Google Shape;978;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979" name="Google Shape;979;p79"/>
          <p:cNvSpPr txBox="1"/>
          <p:nvPr/>
        </p:nvSpPr>
        <p:spPr>
          <a:xfrm>
            <a:off x="1646125" y="1194438"/>
            <a:ext cx="36339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8</a:t>
            </a:r>
            <a:r>
              <a:rPr lang="en-GB" sz="1800">
                <a:latin typeface="Lexend"/>
                <a:ea typeface="Lexend"/>
                <a:cs typeface="Lexend"/>
                <a:sym typeface="Lexend"/>
              </a:rPr>
              <a:t>00 × 200</a:t>
            </a:r>
            <a:endParaRPr sz="1800">
              <a:latin typeface="Lexend"/>
              <a:ea typeface="Lexend"/>
              <a:cs typeface="Lexend"/>
              <a:sym typeface="Lexend"/>
            </a:endParaRPr>
          </a:p>
        </p:txBody>
      </p:sp>
      <p:sp>
        <p:nvSpPr>
          <p:cNvPr id="980" name="Google Shape;980;p79"/>
          <p:cNvSpPr txBox="1"/>
          <p:nvPr/>
        </p:nvSpPr>
        <p:spPr>
          <a:xfrm>
            <a:off x="1159150" y="2004738"/>
            <a:ext cx="109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8</a:t>
            </a:r>
            <a:r>
              <a:rPr lang="en-GB" sz="1800">
                <a:solidFill>
                  <a:srgbClr val="000000"/>
                </a:solidFill>
                <a:latin typeface="Lexend"/>
                <a:ea typeface="Lexend"/>
                <a:cs typeface="Lexend"/>
                <a:sym typeface="Lexend"/>
              </a:rPr>
              <a:t> × </a:t>
            </a: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981" name="Google Shape;981;p79"/>
          <p:cNvSpPr txBox="1"/>
          <p:nvPr/>
        </p:nvSpPr>
        <p:spPr>
          <a:xfrm>
            <a:off x="2757900" y="2004738"/>
            <a:ext cx="106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a:t>
            </a:r>
            <a:r>
              <a:rPr lang="en-GB" sz="1800">
                <a:solidFill>
                  <a:srgbClr val="000000"/>
                </a:solidFill>
                <a:latin typeface="Lexend"/>
                <a:ea typeface="Lexend"/>
                <a:cs typeface="Lexend"/>
                <a:sym typeface="Lexend"/>
              </a:rPr>
              <a:t> × </a:t>
            </a: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982" name="Google Shape;982;p79"/>
          <p:cNvSpPr txBox="1"/>
          <p:nvPr/>
        </p:nvSpPr>
        <p:spPr>
          <a:xfrm>
            <a:off x="2303050" y="2004738"/>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983" name="Google Shape;983;p79"/>
          <p:cNvCxnSpPr>
            <a:endCxn id="980" idx="0"/>
          </p:cNvCxnSpPr>
          <p:nvPr/>
        </p:nvCxnSpPr>
        <p:spPr>
          <a:xfrm flipH="1">
            <a:off x="1706950" y="1480638"/>
            <a:ext cx="198000" cy="524100"/>
          </a:xfrm>
          <a:prstGeom prst="straightConnector1">
            <a:avLst/>
          </a:prstGeom>
          <a:noFill/>
          <a:ln cap="flat" cmpd="sng" w="28575">
            <a:solidFill>
              <a:srgbClr val="808080"/>
            </a:solidFill>
            <a:prstDash val="solid"/>
            <a:round/>
            <a:headEnd len="med" w="med" type="none"/>
            <a:tailEnd len="med" w="med" type="triangle"/>
          </a:ln>
        </p:spPr>
      </p:cxnSp>
      <p:cxnSp>
        <p:nvCxnSpPr>
          <p:cNvPr id="984" name="Google Shape;984;p79"/>
          <p:cNvCxnSpPr/>
          <p:nvPr/>
        </p:nvCxnSpPr>
        <p:spPr>
          <a:xfrm>
            <a:off x="2522652" y="1536738"/>
            <a:ext cx="326100" cy="429000"/>
          </a:xfrm>
          <a:prstGeom prst="straightConnector1">
            <a:avLst/>
          </a:prstGeom>
          <a:noFill/>
          <a:ln cap="flat" cmpd="sng" w="28575">
            <a:solidFill>
              <a:srgbClr val="808080"/>
            </a:solidFill>
            <a:prstDash val="solid"/>
            <a:round/>
            <a:headEnd len="med" w="med" type="none"/>
            <a:tailEnd len="med" w="med" type="triangle"/>
          </a:ln>
        </p:spPr>
      </p:cxnSp>
      <p:sp>
        <p:nvSpPr>
          <p:cNvPr id="985" name="Google Shape;985;p79"/>
          <p:cNvSpPr txBox="1"/>
          <p:nvPr/>
        </p:nvSpPr>
        <p:spPr>
          <a:xfrm>
            <a:off x="1422725" y="2321088"/>
            <a:ext cx="654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8</a:t>
            </a:r>
            <a:r>
              <a:rPr lang="en-GB" sz="1800">
                <a:solidFill>
                  <a:srgbClr val="000000"/>
                </a:solidFill>
                <a:latin typeface="Lexend"/>
                <a:ea typeface="Lexend"/>
                <a:cs typeface="Lexend"/>
                <a:sym typeface="Lexend"/>
              </a:rPr>
              <a:t> × </a:t>
            </a:r>
            <a:r>
              <a:rPr lang="en-GB" sz="1800">
                <a:latin typeface="Lexend"/>
                <a:ea typeface="Lexend"/>
                <a:cs typeface="Lexend"/>
                <a:sym typeface="Lexend"/>
              </a:rPr>
              <a:t>2</a:t>
            </a:r>
            <a:endParaRPr sz="1800">
              <a:solidFill>
                <a:srgbClr val="000000"/>
              </a:solidFill>
              <a:latin typeface="Lexend"/>
              <a:ea typeface="Lexend"/>
              <a:cs typeface="Lexend"/>
              <a:sym typeface="Lexend"/>
            </a:endParaRPr>
          </a:p>
        </p:txBody>
      </p:sp>
      <p:sp>
        <p:nvSpPr>
          <p:cNvPr id="986" name="Google Shape;986;p79"/>
          <p:cNvSpPr txBox="1"/>
          <p:nvPr/>
        </p:nvSpPr>
        <p:spPr>
          <a:xfrm>
            <a:off x="2757900" y="2291988"/>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100 × 100</a:t>
            </a:r>
            <a:endParaRPr sz="1800">
              <a:solidFill>
                <a:srgbClr val="000000"/>
              </a:solidFill>
              <a:latin typeface="Lexend"/>
              <a:ea typeface="Lexend"/>
              <a:cs typeface="Lexend"/>
              <a:sym typeface="Lexend"/>
            </a:endParaRPr>
          </a:p>
        </p:txBody>
      </p:sp>
      <p:sp>
        <p:nvSpPr>
          <p:cNvPr id="987" name="Google Shape;987;p79"/>
          <p:cNvSpPr txBox="1"/>
          <p:nvPr/>
        </p:nvSpPr>
        <p:spPr>
          <a:xfrm>
            <a:off x="2303050" y="2291988"/>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988" name="Google Shape;988;p79"/>
          <p:cNvSpPr txBox="1"/>
          <p:nvPr/>
        </p:nvSpPr>
        <p:spPr>
          <a:xfrm>
            <a:off x="1727525" y="2666538"/>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16</a:t>
            </a:r>
            <a:endParaRPr sz="1800">
              <a:solidFill>
                <a:srgbClr val="000000"/>
              </a:solidFill>
              <a:latin typeface="Lexend"/>
              <a:ea typeface="Lexend"/>
              <a:cs typeface="Lexend"/>
              <a:sym typeface="Lexend"/>
            </a:endParaRPr>
          </a:p>
        </p:txBody>
      </p:sp>
      <p:sp>
        <p:nvSpPr>
          <p:cNvPr id="989" name="Google Shape;989;p79"/>
          <p:cNvSpPr txBox="1"/>
          <p:nvPr/>
        </p:nvSpPr>
        <p:spPr>
          <a:xfrm>
            <a:off x="2757900" y="2637438"/>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10 000</a:t>
            </a:r>
            <a:endParaRPr sz="1800">
              <a:solidFill>
                <a:srgbClr val="000000"/>
              </a:solidFill>
              <a:latin typeface="Lexend"/>
              <a:ea typeface="Lexend"/>
              <a:cs typeface="Lexend"/>
              <a:sym typeface="Lexend"/>
            </a:endParaRPr>
          </a:p>
        </p:txBody>
      </p:sp>
      <p:sp>
        <p:nvSpPr>
          <p:cNvPr id="990" name="Google Shape;990;p79"/>
          <p:cNvSpPr txBox="1"/>
          <p:nvPr/>
        </p:nvSpPr>
        <p:spPr>
          <a:xfrm>
            <a:off x="2303050" y="2637438"/>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991" name="Google Shape;991;p79"/>
          <p:cNvSpPr txBox="1"/>
          <p:nvPr/>
        </p:nvSpPr>
        <p:spPr>
          <a:xfrm>
            <a:off x="1727525" y="3047538"/>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a:t>
            </a:r>
            <a:r>
              <a:rPr lang="en-GB" sz="1800">
                <a:latin typeface="Lexend"/>
                <a:ea typeface="Lexend"/>
                <a:cs typeface="Lexend"/>
                <a:sym typeface="Lexend"/>
              </a:rPr>
              <a:t>6</a:t>
            </a:r>
            <a:endParaRPr sz="1800">
              <a:solidFill>
                <a:srgbClr val="000000"/>
              </a:solidFill>
              <a:latin typeface="Lexend"/>
              <a:ea typeface="Lexend"/>
              <a:cs typeface="Lexend"/>
              <a:sym typeface="Lexend"/>
            </a:endParaRPr>
          </a:p>
        </p:txBody>
      </p:sp>
      <p:sp>
        <p:nvSpPr>
          <p:cNvPr id="992" name="Google Shape;992;p79"/>
          <p:cNvSpPr txBox="1"/>
          <p:nvPr/>
        </p:nvSpPr>
        <p:spPr>
          <a:xfrm>
            <a:off x="2757900" y="3018438"/>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baseline="30000" lang="en-GB" sz="1800">
                <a:latin typeface="Lexend"/>
                <a:ea typeface="Lexend"/>
                <a:cs typeface="Lexend"/>
                <a:sym typeface="Lexend"/>
              </a:rPr>
              <a:t>4</a:t>
            </a:r>
            <a:endParaRPr baseline="30000" sz="1800">
              <a:solidFill>
                <a:srgbClr val="000000"/>
              </a:solidFill>
              <a:latin typeface="Lexend"/>
              <a:ea typeface="Lexend"/>
              <a:cs typeface="Lexend"/>
              <a:sym typeface="Lexend"/>
            </a:endParaRPr>
          </a:p>
        </p:txBody>
      </p:sp>
      <p:sp>
        <p:nvSpPr>
          <p:cNvPr id="993" name="Google Shape;993;p79"/>
          <p:cNvSpPr txBox="1"/>
          <p:nvPr/>
        </p:nvSpPr>
        <p:spPr>
          <a:xfrm>
            <a:off x="2303050" y="3018438"/>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994" name="Google Shape;994;p79"/>
          <p:cNvSpPr txBox="1"/>
          <p:nvPr/>
        </p:nvSpPr>
        <p:spPr>
          <a:xfrm>
            <a:off x="1111800" y="3428538"/>
            <a:ext cx="46626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lang="en-GB" sz="1800">
                <a:solidFill>
                  <a:schemeClr val="dk1"/>
                </a:solidFill>
                <a:latin typeface="Lexend"/>
                <a:ea typeface="Lexend"/>
                <a:cs typeface="Lexend"/>
                <a:sym typeface="Lexend"/>
              </a:rPr>
              <a:t>800 × 200 </a:t>
            </a:r>
            <a:r>
              <a:rPr lang="en-GB" sz="1800">
                <a:latin typeface="Lexend"/>
                <a:ea typeface="Lexend"/>
                <a:cs typeface="Lexend"/>
                <a:sym typeface="Lexend"/>
              </a:rPr>
              <a:t> = 1</a:t>
            </a:r>
            <a:r>
              <a:rPr lang="en-GB" sz="1800">
                <a:solidFill>
                  <a:schemeClr val="dk1"/>
                </a:solidFill>
                <a:latin typeface="Lexend"/>
                <a:ea typeface="Lexend"/>
                <a:cs typeface="Lexend"/>
                <a:sym typeface="Lexend"/>
              </a:rPr>
              <a:t>6  × 10</a:t>
            </a:r>
            <a:r>
              <a:rPr baseline="30000" lang="en-GB" sz="1800">
                <a:solidFill>
                  <a:schemeClr val="dk1"/>
                </a:solidFill>
                <a:latin typeface="Lexend"/>
                <a:ea typeface="Lexend"/>
                <a:cs typeface="Lexend"/>
                <a:sym typeface="Lexend"/>
              </a:rPr>
              <a:t>4</a:t>
            </a: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a:p>
            <a:pPr indent="0" lvl="0" marL="0" rtl="0" algn="l">
              <a:lnSpc>
                <a:spcPct val="130000"/>
              </a:lnSpc>
              <a:spcBef>
                <a:spcPts val="1000"/>
              </a:spcBef>
              <a:spcAft>
                <a:spcPts val="1000"/>
              </a:spcAft>
              <a:buNone/>
            </a:pPr>
            <a:r>
              <a:t/>
            </a:r>
            <a:endParaRPr sz="1800">
              <a:latin typeface="Lexend"/>
              <a:ea typeface="Lexend"/>
              <a:cs typeface="Lexend"/>
              <a:sym typeface="Lexend"/>
            </a:endParaRPr>
          </a:p>
        </p:txBody>
      </p:sp>
      <p:sp>
        <p:nvSpPr>
          <p:cNvPr id="995" name="Google Shape;995;p79"/>
          <p:cNvSpPr txBox="1"/>
          <p:nvPr/>
        </p:nvSpPr>
        <p:spPr>
          <a:xfrm>
            <a:off x="3403750" y="1061388"/>
            <a:ext cx="1095600" cy="41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Lucas</a:t>
            </a:r>
            <a:endParaRPr sz="1800">
              <a:solidFill>
                <a:schemeClr val="dk1"/>
              </a:solidFill>
              <a:latin typeface="Lexend"/>
              <a:ea typeface="Lexend"/>
              <a:cs typeface="Lexend"/>
              <a:sym typeface="Lexend"/>
            </a:endParaRPr>
          </a:p>
        </p:txBody>
      </p:sp>
      <p:sp>
        <p:nvSpPr>
          <p:cNvPr id="996" name="Google Shape;996;p79"/>
          <p:cNvSpPr/>
          <p:nvPr/>
        </p:nvSpPr>
        <p:spPr>
          <a:xfrm>
            <a:off x="4694950" y="1068500"/>
            <a:ext cx="3756300" cy="27069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7" name="Google Shape;997;p79"/>
          <p:cNvSpPr txBox="1"/>
          <p:nvPr/>
        </p:nvSpPr>
        <p:spPr>
          <a:xfrm>
            <a:off x="5517725" y="1106413"/>
            <a:ext cx="36339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800 × 200</a:t>
            </a:r>
            <a:endParaRPr sz="1800">
              <a:latin typeface="Lexend"/>
              <a:ea typeface="Lexend"/>
              <a:cs typeface="Lexend"/>
              <a:sym typeface="Lexend"/>
            </a:endParaRPr>
          </a:p>
        </p:txBody>
      </p:sp>
      <p:sp>
        <p:nvSpPr>
          <p:cNvPr id="998" name="Google Shape;998;p79"/>
          <p:cNvSpPr txBox="1"/>
          <p:nvPr/>
        </p:nvSpPr>
        <p:spPr>
          <a:xfrm>
            <a:off x="5106950" y="1588813"/>
            <a:ext cx="109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8</a:t>
            </a:r>
            <a:r>
              <a:rPr lang="en-GB" sz="1800">
                <a:solidFill>
                  <a:srgbClr val="000000"/>
                </a:solidFill>
                <a:latin typeface="Lexend"/>
                <a:ea typeface="Lexend"/>
                <a:cs typeface="Lexend"/>
                <a:sym typeface="Lexend"/>
              </a:rPr>
              <a:t> × </a:t>
            </a: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999" name="Google Shape;999;p79"/>
          <p:cNvSpPr txBox="1"/>
          <p:nvPr/>
        </p:nvSpPr>
        <p:spPr>
          <a:xfrm>
            <a:off x="6629500" y="1588813"/>
            <a:ext cx="106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a:t>
            </a:r>
            <a:r>
              <a:rPr lang="en-GB" sz="1800">
                <a:solidFill>
                  <a:srgbClr val="000000"/>
                </a:solidFill>
                <a:latin typeface="Lexend"/>
                <a:ea typeface="Lexend"/>
                <a:cs typeface="Lexend"/>
                <a:sym typeface="Lexend"/>
              </a:rPr>
              <a:t> × </a:t>
            </a: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000" name="Google Shape;1000;p79"/>
          <p:cNvSpPr txBox="1"/>
          <p:nvPr/>
        </p:nvSpPr>
        <p:spPr>
          <a:xfrm>
            <a:off x="6174650" y="1588813"/>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1001" name="Google Shape;1001;p79"/>
          <p:cNvCxnSpPr/>
          <p:nvPr/>
        </p:nvCxnSpPr>
        <p:spPr>
          <a:xfrm flipH="1">
            <a:off x="5238611" y="1365341"/>
            <a:ext cx="479400" cy="219300"/>
          </a:xfrm>
          <a:prstGeom prst="straightConnector1">
            <a:avLst/>
          </a:prstGeom>
          <a:noFill/>
          <a:ln cap="flat" cmpd="sng" w="28575">
            <a:solidFill>
              <a:srgbClr val="808080"/>
            </a:solidFill>
            <a:prstDash val="solid"/>
            <a:round/>
            <a:headEnd len="med" w="med" type="none"/>
            <a:tailEnd len="med" w="med" type="triangle"/>
          </a:ln>
        </p:spPr>
      </p:cxnSp>
      <p:cxnSp>
        <p:nvCxnSpPr>
          <p:cNvPr id="1002" name="Google Shape;1002;p79"/>
          <p:cNvCxnSpPr/>
          <p:nvPr/>
        </p:nvCxnSpPr>
        <p:spPr>
          <a:xfrm>
            <a:off x="6583129" y="1365338"/>
            <a:ext cx="335400" cy="228000"/>
          </a:xfrm>
          <a:prstGeom prst="straightConnector1">
            <a:avLst/>
          </a:prstGeom>
          <a:noFill/>
          <a:ln cap="flat" cmpd="sng" w="28575">
            <a:solidFill>
              <a:srgbClr val="808080"/>
            </a:solidFill>
            <a:prstDash val="solid"/>
            <a:round/>
            <a:headEnd len="med" w="med" type="none"/>
            <a:tailEnd len="med" w="med" type="triangle"/>
          </a:ln>
        </p:spPr>
      </p:cxnSp>
      <p:sp>
        <p:nvSpPr>
          <p:cNvPr id="1003" name="Google Shape;1003;p79"/>
          <p:cNvSpPr txBox="1"/>
          <p:nvPr/>
        </p:nvSpPr>
        <p:spPr>
          <a:xfrm>
            <a:off x="5370525" y="1905163"/>
            <a:ext cx="654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8</a:t>
            </a:r>
            <a:r>
              <a:rPr lang="en-GB" sz="1800">
                <a:solidFill>
                  <a:srgbClr val="000000"/>
                </a:solidFill>
                <a:latin typeface="Lexend"/>
                <a:ea typeface="Lexend"/>
                <a:cs typeface="Lexend"/>
                <a:sym typeface="Lexend"/>
              </a:rPr>
              <a:t> × </a:t>
            </a:r>
            <a:r>
              <a:rPr lang="en-GB" sz="1800">
                <a:latin typeface="Lexend"/>
                <a:ea typeface="Lexend"/>
                <a:cs typeface="Lexend"/>
                <a:sym typeface="Lexend"/>
              </a:rPr>
              <a:t>2</a:t>
            </a:r>
            <a:endParaRPr sz="1800">
              <a:solidFill>
                <a:srgbClr val="000000"/>
              </a:solidFill>
              <a:latin typeface="Lexend"/>
              <a:ea typeface="Lexend"/>
              <a:cs typeface="Lexend"/>
              <a:sym typeface="Lexend"/>
            </a:endParaRPr>
          </a:p>
        </p:txBody>
      </p:sp>
      <p:sp>
        <p:nvSpPr>
          <p:cNvPr id="1004" name="Google Shape;1004;p79"/>
          <p:cNvSpPr txBox="1"/>
          <p:nvPr/>
        </p:nvSpPr>
        <p:spPr>
          <a:xfrm>
            <a:off x="6629500" y="1876063"/>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100 × 100</a:t>
            </a:r>
            <a:endParaRPr sz="1800">
              <a:solidFill>
                <a:srgbClr val="000000"/>
              </a:solidFill>
              <a:latin typeface="Lexend"/>
              <a:ea typeface="Lexend"/>
              <a:cs typeface="Lexend"/>
              <a:sym typeface="Lexend"/>
            </a:endParaRPr>
          </a:p>
        </p:txBody>
      </p:sp>
      <p:sp>
        <p:nvSpPr>
          <p:cNvPr id="1005" name="Google Shape;1005;p79"/>
          <p:cNvSpPr txBox="1"/>
          <p:nvPr/>
        </p:nvSpPr>
        <p:spPr>
          <a:xfrm>
            <a:off x="6174650" y="1876063"/>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006" name="Google Shape;1006;p79"/>
          <p:cNvSpPr txBox="1"/>
          <p:nvPr/>
        </p:nvSpPr>
        <p:spPr>
          <a:xfrm>
            <a:off x="5599125" y="2233294"/>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16</a:t>
            </a:r>
            <a:endParaRPr sz="1800">
              <a:solidFill>
                <a:srgbClr val="000000"/>
              </a:solidFill>
              <a:latin typeface="Lexend"/>
              <a:ea typeface="Lexend"/>
              <a:cs typeface="Lexend"/>
              <a:sym typeface="Lexend"/>
            </a:endParaRPr>
          </a:p>
        </p:txBody>
      </p:sp>
      <p:sp>
        <p:nvSpPr>
          <p:cNvPr id="1007" name="Google Shape;1007;p79"/>
          <p:cNvSpPr txBox="1"/>
          <p:nvPr/>
        </p:nvSpPr>
        <p:spPr>
          <a:xfrm>
            <a:off x="6629500" y="2204194"/>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10 000</a:t>
            </a:r>
            <a:endParaRPr sz="1800">
              <a:solidFill>
                <a:srgbClr val="000000"/>
              </a:solidFill>
              <a:latin typeface="Lexend"/>
              <a:ea typeface="Lexend"/>
              <a:cs typeface="Lexend"/>
              <a:sym typeface="Lexend"/>
            </a:endParaRPr>
          </a:p>
        </p:txBody>
      </p:sp>
      <p:sp>
        <p:nvSpPr>
          <p:cNvPr id="1008" name="Google Shape;1008;p79"/>
          <p:cNvSpPr txBox="1"/>
          <p:nvPr/>
        </p:nvSpPr>
        <p:spPr>
          <a:xfrm>
            <a:off x="6174650" y="2204194"/>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009" name="Google Shape;1009;p79"/>
          <p:cNvSpPr txBox="1"/>
          <p:nvPr/>
        </p:nvSpPr>
        <p:spPr>
          <a:xfrm>
            <a:off x="5126025" y="2526313"/>
            <a:ext cx="8961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1.6 </a:t>
            </a:r>
            <a:r>
              <a:rPr lang="en-GB" sz="1800">
                <a:solidFill>
                  <a:schemeClr val="dk1"/>
                </a:solidFill>
                <a:latin typeface="Lexend"/>
                <a:ea typeface="Lexend"/>
                <a:cs typeface="Lexend"/>
                <a:sym typeface="Lexend"/>
              </a:rPr>
              <a:t>× 10</a:t>
            </a:r>
            <a:endParaRPr sz="1800">
              <a:solidFill>
                <a:srgbClr val="000000"/>
              </a:solidFill>
              <a:latin typeface="Lexend"/>
              <a:ea typeface="Lexend"/>
              <a:cs typeface="Lexend"/>
              <a:sym typeface="Lexend"/>
            </a:endParaRPr>
          </a:p>
        </p:txBody>
      </p:sp>
      <p:sp>
        <p:nvSpPr>
          <p:cNvPr id="1010" name="Google Shape;1010;p79"/>
          <p:cNvSpPr txBox="1"/>
          <p:nvPr/>
        </p:nvSpPr>
        <p:spPr>
          <a:xfrm>
            <a:off x="6629500" y="2526313"/>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10 000</a:t>
            </a:r>
            <a:endParaRPr baseline="30000" sz="1800">
              <a:solidFill>
                <a:srgbClr val="000000"/>
              </a:solidFill>
              <a:latin typeface="Lexend"/>
              <a:ea typeface="Lexend"/>
              <a:cs typeface="Lexend"/>
              <a:sym typeface="Lexend"/>
            </a:endParaRPr>
          </a:p>
        </p:txBody>
      </p:sp>
      <p:sp>
        <p:nvSpPr>
          <p:cNvPr id="1011" name="Google Shape;1011;p79"/>
          <p:cNvSpPr txBox="1"/>
          <p:nvPr/>
        </p:nvSpPr>
        <p:spPr>
          <a:xfrm>
            <a:off x="6174650" y="2526313"/>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012" name="Google Shape;1012;p79"/>
          <p:cNvSpPr txBox="1"/>
          <p:nvPr/>
        </p:nvSpPr>
        <p:spPr>
          <a:xfrm>
            <a:off x="4983400" y="3445513"/>
            <a:ext cx="46626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None/>
            </a:pPr>
            <a:r>
              <a:rPr lang="en-GB" sz="1800">
                <a:solidFill>
                  <a:schemeClr val="dk1"/>
                </a:solidFill>
                <a:latin typeface="Lexend"/>
                <a:ea typeface="Lexend"/>
                <a:cs typeface="Lexend"/>
                <a:sym typeface="Lexend"/>
              </a:rPr>
              <a:t>800 × 200 </a:t>
            </a:r>
            <a:r>
              <a:rPr lang="en-GB" sz="1800">
                <a:latin typeface="Lexend"/>
                <a:ea typeface="Lexend"/>
                <a:cs typeface="Lexend"/>
                <a:sym typeface="Lexend"/>
              </a:rPr>
              <a:t> = 1.</a:t>
            </a:r>
            <a:r>
              <a:rPr lang="en-GB" sz="1800">
                <a:solidFill>
                  <a:schemeClr val="dk1"/>
                </a:solidFill>
                <a:latin typeface="Lexend"/>
                <a:ea typeface="Lexend"/>
                <a:cs typeface="Lexend"/>
                <a:sym typeface="Lexend"/>
              </a:rPr>
              <a:t>6  × 10</a:t>
            </a:r>
            <a:r>
              <a:rPr baseline="30000" lang="en-GB" sz="1800">
                <a:solidFill>
                  <a:schemeClr val="dk1"/>
                </a:solidFill>
                <a:latin typeface="Lexend"/>
                <a:ea typeface="Lexend"/>
                <a:cs typeface="Lexend"/>
                <a:sym typeface="Lexend"/>
              </a:rPr>
              <a:t>5</a:t>
            </a: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a:p>
            <a:pPr indent="0" lvl="0" marL="0" rtl="0" algn="l">
              <a:lnSpc>
                <a:spcPct val="130000"/>
              </a:lnSpc>
              <a:spcBef>
                <a:spcPts val="1000"/>
              </a:spcBef>
              <a:spcAft>
                <a:spcPts val="1000"/>
              </a:spcAft>
              <a:buNone/>
            </a:pPr>
            <a:r>
              <a:t/>
            </a:r>
            <a:endParaRPr sz="1800">
              <a:latin typeface="Lexend"/>
              <a:ea typeface="Lexend"/>
              <a:cs typeface="Lexend"/>
              <a:sym typeface="Lexend"/>
            </a:endParaRPr>
          </a:p>
        </p:txBody>
      </p:sp>
      <p:sp>
        <p:nvSpPr>
          <p:cNvPr id="1013" name="Google Shape;1013;p79"/>
          <p:cNvSpPr txBox="1"/>
          <p:nvPr/>
        </p:nvSpPr>
        <p:spPr>
          <a:xfrm>
            <a:off x="7486632" y="1061388"/>
            <a:ext cx="1095600" cy="41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Sam</a:t>
            </a:r>
            <a:endParaRPr sz="1800">
              <a:solidFill>
                <a:schemeClr val="dk1"/>
              </a:solidFill>
              <a:latin typeface="Lexend"/>
              <a:ea typeface="Lexend"/>
              <a:cs typeface="Lexend"/>
              <a:sym typeface="Lexend"/>
            </a:endParaRPr>
          </a:p>
        </p:txBody>
      </p:sp>
      <p:sp>
        <p:nvSpPr>
          <p:cNvPr id="1014" name="Google Shape;1014;p79"/>
          <p:cNvSpPr txBox="1"/>
          <p:nvPr/>
        </p:nvSpPr>
        <p:spPr>
          <a:xfrm>
            <a:off x="5599125" y="2860213"/>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1.6</a:t>
            </a:r>
            <a:endParaRPr sz="1800">
              <a:solidFill>
                <a:srgbClr val="000000"/>
              </a:solidFill>
              <a:latin typeface="Lexend"/>
              <a:ea typeface="Lexend"/>
              <a:cs typeface="Lexend"/>
              <a:sym typeface="Lexend"/>
            </a:endParaRPr>
          </a:p>
        </p:txBody>
      </p:sp>
      <p:sp>
        <p:nvSpPr>
          <p:cNvPr id="1015" name="Google Shape;1015;p79"/>
          <p:cNvSpPr txBox="1"/>
          <p:nvPr/>
        </p:nvSpPr>
        <p:spPr>
          <a:xfrm>
            <a:off x="6629500" y="2831113"/>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10 × </a:t>
            </a:r>
            <a:r>
              <a:rPr lang="en-GB" sz="1800">
                <a:latin typeface="Lexend"/>
                <a:ea typeface="Lexend"/>
                <a:cs typeface="Lexend"/>
                <a:sym typeface="Lexend"/>
              </a:rPr>
              <a:t>10 000 </a:t>
            </a:r>
            <a:endParaRPr baseline="30000" sz="1800">
              <a:solidFill>
                <a:srgbClr val="000000"/>
              </a:solidFill>
              <a:latin typeface="Lexend"/>
              <a:ea typeface="Lexend"/>
              <a:cs typeface="Lexend"/>
              <a:sym typeface="Lexend"/>
            </a:endParaRPr>
          </a:p>
        </p:txBody>
      </p:sp>
      <p:sp>
        <p:nvSpPr>
          <p:cNvPr id="1016" name="Google Shape;1016;p79"/>
          <p:cNvSpPr txBox="1"/>
          <p:nvPr/>
        </p:nvSpPr>
        <p:spPr>
          <a:xfrm>
            <a:off x="6174650" y="2831113"/>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017" name="Google Shape;1017;p79"/>
          <p:cNvSpPr txBox="1"/>
          <p:nvPr/>
        </p:nvSpPr>
        <p:spPr>
          <a:xfrm>
            <a:off x="5599125" y="3165013"/>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1.6</a:t>
            </a:r>
            <a:endParaRPr sz="1800">
              <a:solidFill>
                <a:srgbClr val="000000"/>
              </a:solidFill>
              <a:latin typeface="Lexend"/>
              <a:ea typeface="Lexend"/>
              <a:cs typeface="Lexend"/>
              <a:sym typeface="Lexend"/>
            </a:endParaRPr>
          </a:p>
        </p:txBody>
      </p:sp>
      <p:sp>
        <p:nvSpPr>
          <p:cNvPr id="1018" name="Google Shape;1018;p79"/>
          <p:cNvSpPr txBox="1"/>
          <p:nvPr/>
        </p:nvSpPr>
        <p:spPr>
          <a:xfrm>
            <a:off x="6629500" y="3135913"/>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100 000 </a:t>
            </a:r>
            <a:endParaRPr baseline="30000" sz="1800">
              <a:solidFill>
                <a:srgbClr val="000000"/>
              </a:solidFill>
              <a:latin typeface="Lexend"/>
              <a:ea typeface="Lexend"/>
              <a:cs typeface="Lexend"/>
              <a:sym typeface="Lexend"/>
            </a:endParaRPr>
          </a:p>
        </p:txBody>
      </p:sp>
      <p:sp>
        <p:nvSpPr>
          <p:cNvPr id="1019" name="Google Shape;1019;p79"/>
          <p:cNvSpPr txBox="1"/>
          <p:nvPr/>
        </p:nvSpPr>
        <p:spPr>
          <a:xfrm>
            <a:off x="6174650" y="3135913"/>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020" name="Google Shape;1020;p79"/>
          <p:cNvSpPr txBox="1"/>
          <p:nvPr/>
        </p:nvSpPr>
        <p:spPr>
          <a:xfrm>
            <a:off x="324000" y="3808288"/>
            <a:ext cx="76857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Who is correct and can you explain why?</a:t>
            </a:r>
            <a:endParaRPr sz="2000">
              <a:solidFill>
                <a:schemeClr val="dk1"/>
              </a:solidFill>
              <a:latin typeface="Lexend"/>
              <a:ea typeface="Lexend"/>
              <a:cs typeface="Lexend"/>
              <a:sym typeface="Lexend"/>
            </a:endParaRPr>
          </a:p>
        </p:txBody>
      </p:sp>
      <p:sp>
        <p:nvSpPr>
          <p:cNvPr id="1021" name="Google Shape;1021;p79"/>
          <p:cNvSpPr txBox="1"/>
          <p:nvPr/>
        </p:nvSpPr>
        <p:spPr>
          <a:xfrm>
            <a:off x="324000" y="4062300"/>
            <a:ext cx="8075400" cy="554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1800">
                <a:solidFill>
                  <a:schemeClr val="dk1"/>
                </a:solidFill>
                <a:latin typeface="Kalam"/>
                <a:ea typeface="Kalam"/>
                <a:cs typeface="Kalam"/>
                <a:sym typeface="Kalam"/>
              </a:rPr>
              <a:t>Both are correct. Both used powers of 10; Sam has chosen to write 16 as </a:t>
            </a:r>
            <a:r>
              <a:rPr lang="en-GB" sz="1800">
                <a:solidFill>
                  <a:schemeClr val="dk1"/>
                </a:solidFill>
                <a:latin typeface="Kalam"/>
                <a:ea typeface="Kalam"/>
                <a:cs typeface="Kalam"/>
                <a:sym typeface="Kalam"/>
              </a:rPr>
              <a:t>1.6 × 10 but they are both ways of writing the same number. </a:t>
            </a:r>
            <a:endParaRPr sz="18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1027" name="Google Shape;1027;p80"/>
          <p:cNvSpPr txBox="1"/>
          <p:nvPr/>
        </p:nvSpPr>
        <p:spPr>
          <a:xfrm>
            <a:off x="324000" y="772308"/>
            <a:ext cx="7685700" cy="856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Which is the odd one out? Explain how you know.</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2200">
                <a:solidFill>
                  <a:schemeClr val="dk1"/>
                </a:solidFill>
                <a:latin typeface="Lexend"/>
                <a:ea typeface="Lexend"/>
                <a:cs typeface="Lexend"/>
                <a:sym typeface="Lexend"/>
              </a:rPr>
              <a:t>         2.5 </a:t>
            </a:r>
            <a:r>
              <a:rPr lang="en-GB" sz="2200">
                <a:solidFill>
                  <a:schemeClr val="dk1"/>
                </a:solidFill>
                <a:latin typeface="Lexend"/>
                <a:ea typeface="Lexend"/>
                <a:cs typeface="Lexend"/>
                <a:sym typeface="Lexend"/>
              </a:rPr>
              <a:t>× 3 × 10</a:t>
            </a:r>
            <a:r>
              <a:rPr baseline="30000" lang="en-GB" sz="2200">
                <a:solidFill>
                  <a:schemeClr val="dk1"/>
                </a:solidFill>
                <a:latin typeface="Lexend"/>
                <a:ea typeface="Lexend"/>
                <a:cs typeface="Lexend"/>
                <a:sym typeface="Lexend"/>
              </a:rPr>
              <a:t>4</a:t>
            </a:r>
            <a:endParaRPr baseline="30000" sz="2200">
              <a:solidFill>
                <a:schemeClr val="dk1"/>
              </a:solidFill>
              <a:latin typeface="Lexend"/>
              <a:ea typeface="Lexend"/>
              <a:cs typeface="Lexend"/>
              <a:sym typeface="Lexend"/>
            </a:endParaRPr>
          </a:p>
        </p:txBody>
      </p:sp>
      <p:sp>
        <p:nvSpPr>
          <p:cNvPr id="1028" name="Google Shape;1028;p80"/>
          <p:cNvSpPr txBox="1"/>
          <p:nvPr/>
        </p:nvSpPr>
        <p:spPr>
          <a:xfrm>
            <a:off x="6877925" y="1933475"/>
            <a:ext cx="1722300" cy="1385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1800">
                <a:solidFill>
                  <a:schemeClr val="dk1"/>
                </a:solidFill>
                <a:latin typeface="Kalam"/>
                <a:ea typeface="Kalam"/>
                <a:cs typeface="Kalam"/>
                <a:sym typeface="Kalam"/>
              </a:rPr>
              <a:t>You can work out the actual answer of each of them and find the odd one out.</a:t>
            </a:r>
            <a:endParaRPr sz="1800">
              <a:solidFill>
                <a:schemeClr val="dk1"/>
              </a:solidFill>
              <a:latin typeface="Kalam"/>
              <a:ea typeface="Kalam"/>
              <a:cs typeface="Kalam"/>
              <a:sym typeface="Kalam"/>
            </a:endParaRPr>
          </a:p>
        </p:txBody>
      </p:sp>
      <p:grpSp>
        <p:nvGrpSpPr>
          <p:cNvPr id="1029" name="Google Shape;1029;p80"/>
          <p:cNvGrpSpPr/>
          <p:nvPr/>
        </p:nvGrpSpPr>
        <p:grpSpPr>
          <a:xfrm>
            <a:off x="370366" y="1214175"/>
            <a:ext cx="457200" cy="457200"/>
            <a:chOff x="1020916" y="1442088"/>
            <a:chExt cx="457200" cy="457200"/>
          </a:xfrm>
        </p:grpSpPr>
        <p:pic>
          <p:nvPicPr>
            <p:cNvPr id="1030" name="Google Shape;1030;p8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31" name="Google Shape;1031;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32" name="Google Shape;1032;p80"/>
          <p:cNvGrpSpPr/>
          <p:nvPr/>
        </p:nvGrpSpPr>
        <p:grpSpPr>
          <a:xfrm>
            <a:off x="370366" y="1933478"/>
            <a:ext cx="457200" cy="457200"/>
            <a:chOff x="1020916" y="1442088"/>
            <a:chExt cx="457200" cy="457200"/>
          </a:xfrm>
        </p:grpSpPr>
        <p:pic>
          <p:nvPicPr>
            <p:cNvPr id="1033" name="Google Shape;1033;p8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34" name="Google Shape;1034;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035" name="Google Shape;1035;p80"/>
          <p:cNvGrpSpPr/>
          <p:nvPr/>
        </p:nvGrpSpPr>
        <p:grpSpPr>
          <a:xfrm>
            <a:off x="370366" y="2652781"/>
            <a:ext cx="457200" cy="457200"/>
            <a:chOff x="1020916" y="1442088"/>
            <a:chExt cx="457200" cy="457200"/>
          </a:xfrm>
        </p:grpSpPr>
        <p:pic>
          <p:nvPicPr>
            <p:cNvPr id="1036" name="Google Shape;1036;p8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37" name="Google Shape;1037;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038" name="Google Shape;1038;p80"/>
          <p:cNvGrpSpPr/>
          <p:nvPr/>
        </p:nvGrpSpPr>
        <p:grpSpPr>
          <a:xfrm>
            <a:off x="370366" y="3372084"/>
            <a:ext cx="457200" cy="457200"/>
            <a:chOff x="1020916" y="1442088"/>
            <a:chExt cx="457200" cy="457200"/>
          </a:xfrm>
        </p:grpSpPr>
        <p:pic>
          <p:nvPicPr>
            <p:cNvPr id="1039" name="Google Shape;1039;p8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40" name="Google Shape;1040;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041" name="Google Shape;1041;p80"/>
          <p:cNvGrpSpPr/>
          <p:nvPr/>
        </p:nvGrpSpPr>
        <p:grpSpPr>
          <a:xfrm>
            <a:off x="370366" y="4091388"/>
            <a:ext cx="457200" cy="457200"/>
            <a:chOff x="1020916" y="1442088"/>
            <a:chExt cx="457200" cy="457200"/>
          </a:xfrm>
        </p:grpSpPr>
        <p:pic>
          <p:nvPicPr>
            <p:cNvPr id="1042" name="Google Shape;1042;p8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43" name="Google Shape;1043;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sp>
        <p:nvSpPr>
          <p:cNvPr id="1044" name="Google Shape;1044;p80"/>
          <p:cNvSpPr txBox="1"/>
          <p:nvPr/>
        </p:nvSpPr>
        <p:spPr>
          <a:xfrm>
            <a:off x="827575" y="1900475"/>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 7.5 × 10</a:t>
            </a:r>
            <a:r>
              <a:rPr baseline="30000" lang="en-GB" sz="2200">
                <a:solidFill>
                  <a:schemeClr val="dk1"/>
                </a:solidFill>
                <a:latin typeface="Lexend"/>
                <a:ea typeface="Lexend"/>
                <a:cs typeface="Lexend"/>
                <a:sym typeface="Lexend"/>
              </a:rPr>
              <a:t>4</a:t>
            </a:r>
            <a:endParaRPr/>
          </a:p>
        </p:txBody>
      </p:sp>
      <p:sp>
        <p:nvSpPr>
          <p:cNvPr id="1045" name="Google Shape;1045;p80"/>
          <p:cNvSpPr txBox="1"/>
          <p:nvPr/>
        </p:nvSpPr>
        <p:spPr>
          <a:xfrm>
            <a:off x="903775" y="2586275"/>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25</a:t>
            </a:r>
            <a:r>
              <a:rPr lang="en-GB" sz="2200">
                <a:solidFill>
                  <a:schemeClr val="dk1"/>
                </a:solidFill>
                <a:latin typeface="Lexend"/>
                <a:ea typeface="Lexend"/>
                <a:cs typeface="Lexend"/>
                <a:sym typeface="Lexend"/>
              </a:rPr>
              <a:t> × 3 × 10</a:t>
            </a:r>
            <a:r>
              <a:rPr baseline="30000" lang="en-GB" sz="2200">
                <a:solidFill>
                  <a:schemeClr val="dk1"/>
                </a:solidFill>
                <a:latin typeface="Lexend"/>
                <a:ea typeface="Lexend"/>
                <a:cs typeface="Lexend"/>
                <a:sym typeface="Lexend"/>
              </a:rPr>
              <a:t>3</a:t>
            </a:r>
            <a:endParaRPr/>
          </a:p>
        </p:txBody>
      </p:sp>
      <p:sp>
        <p:nvSpPr>
          <p:cNvPr id="1046" name="Google Shape;1046;p80"/>
          <p:cNvSpPr txBox="1"/>
          <p:nvPr/>
        </p:nvSpPr>
        <p:spPr>
          <a:xfrm>
            <a:off x="903775" y="3339075"/>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15</a:t>
            </a:r>
            <a:r>
              <a:rPr lang="en-GB" sz="2200">
                <a:solidFill>
                  <a:schemeClr val="dk1"/>
                </a:solidFill>
                <a:latin typeface="Lexend"/>
                <a:ea typeface="Lexend"/>
                <a:cs typeface="Lexend"/>
                <a:sym typeface="Lexend"/>
              </a:rPr>
              <a:t> × 5 × 10</a:t>
            </a:r>
            <a:r>
              <a:rPr baseline="30000" lang="en-GB" sz="2200">
                <a:solidFill>
                  <a:schemeClr val="dk1"/>
                </a:solidFill>
                <a:latin typeface="Lexend"/>
                <a:ea typeface="Lexend"/>
                <a:cs typeface="Lexend"/>
                <a:sym typeface="Lexend"/>
              </a:rPr>
              <a:t>3</a:t>
            </a:r>
            <a:endParaRPr/>
          </a:p>
        </p:txBody>
      </p:sp>
      <p:sp>
        <p:nvSpPr>
          <p:cNvPr id="1047" name="Google Shape;1047;p80"/>
          <p:cNvSpPr txBox="1"/>
          <p:nvPr/>
        </p:nvSpPr>
        <p:spPr>
          <a:xfrm>
            <a:off x="903775" y="406725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2.5</a:t>
            </a:r>
            <a:r>
              <a:rPr lang="en-GB" sz="2200">
                <a:solidFill>
                  <a:schemeClr val="dk1"/>
                </a:solidFill>
                <a:latin typeface="Lexend"/>
                <a:ea typeface="Lexend"/>
                <a:cs typeface="Lexend"/>
                <a:sym typeface="Lexend"/>
              </a:rPr>
              <a:t> × 10</a:t>
            </a:r>
            <a:r>
              <a:rPr baseline="30000" lang="en-GB" sz="2200">
                <a:solidFill>
                  <a:schemeClr val="dk1"/>
                </a:solidFill>
                <a:latin typeface="Lexend"/>
                <a:ea typeface="Lexend"/>
                <a:cs typeface="Lexend"/>
                <a:sym typeface="Lexend"/>
              </a:rPr>
              <a:t>3</a:t>
            </a:r>
            <a:endParaRPr/>
          </a:p>
        </p:txBody>
      </p:sp>
      <p:sp>
        <p:nvSpPr>
          <p:cNvPr id="1048" name="Google Shape;1048;p80"/>
          <p:cNvSpPr txBox="1"/>
          <p:nvPr/>
        </p:nvSpPr>
        <p:spPr>
          <a:xfrm>
            <a:off x="2683200" y="1274500"/>
            <a:ext cx="5402700" cy="3540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2300">
                <a:solidFill>
                  <a:schemeClr val="dk1"/>
                </a:solidFill>
                <a:latin typeface="Kalam"/>
                <a:ea typeface="Kalam"/>
                <a:cs typeface="Kalam"/>
                <a:sym typeface="Kalam"/>
              </a:rPr>
              <a:t>= 7.5 × 10 </a:t>
            </a:r>
            <a:r>
              <a:rPr lang="en-GB" sz="2300">
                <a:solidFill>
                  <a:schemeClr val="dk1"/>
                </a:solidFill>
                <a:latin typeface="Kalam"/>
                <a:ea typeface="Kalam"/>
                <a:cs typeface="Kalam"/>
                <a:sym typeface="Kalam"/>
              </a:rPr>
              <a:t>× 10 × 10 × 10 = 75 000</a:t>
            </a:r>
            <a:endParaRPr sz="2300">
              <a:solidFill>
                <a:schemeClr val="dk1"/>
              </a:solidFill>
              <a:latin typeface="Kalam"/>
              <a:ea typeface="Kalam"/>
              <a:cs typeface="Kalam"/>
              <a:sym typeface="Kalam"/>
            </a:endParaRPr>
          </a:p>
        </p:txBody>
      </p:sp>
      <p:sp>
        <p:nvSpPr>
          <p:cNvPr id="1049" name="Google Shape;1049;p80"/>
          <p:cNvSpPr txBox="1"/>
          <p:nvPr/>
        </p:nvSpPr>
        <p:spPr>
          <a:xfrm>
            <a:off x="2182450" y="2002663"/>
            <a:ext cx="5402700" cy="3540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2300">
                <a:solidFill>
                  <a:schemeClr val="dk1"/>
                </a:solidFill>
                <a:latin typeface="Kalam"/>
                <a:ea typeface="Kalam"/>
                <a:cs typeface="Kalam"/>
                <a:sym typeface="Kalam"/>
              </a:rPr>
              <a:t>= 7.5 × 10 × 10 × 10 × 10 = 75 000</a:t>
            </a:r>
            <a:endParaRPr sz="2300">
              <a:solidFill>
                <a:schemeClr val="dk1"/>
              </a:solidFill>
              <a:latin typeface="Kalam"/>
              <a:ea typeface="Kalam"/>
              <a:cs typeface="Kalam"/>
              <a:sym typeface="Kalam"/>
            </a:endParaRPr>
          </a:p>
        </p:txBody>
      </p:sp>
      <p:sp>
        <p:nvSpPr>
          <p:cNvPr id="1050" name="Google Shape;1050;p80"/>
          <p:cNvSpPr txBox="1"/>
          <p:nvPr/>
        </p:nvSpPr>
        <p:spPr>
          <a:xfrm>
            <a:off x="2597976" y="2670863"/>
            <a:ext cx="5402700" cy="3540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2300">
                <a:solidFill>
                  <a:schemeClr val="dk1"/>
                </a:solidFill>
                <a:latin typeface="Kalam"/>
                <a:ea typeface="Kalam"/>
                <a:cs typeface="Kalam"/>
                <a:sym typeface="Kalam"/>
              </a:rPr>
              <a:t>= 75 × 10 × 10 × 10 = 75 000</a:t>
            </a:r>
            <a:endParaRPr sz="2300">
              <a:solidFill>
                <a:schemeClr val="dk1"/>
              </a:solidFill>
              <a:latin typeface="Kalam"/>
              <a:ea typeface="Kalam"/>
              <a:cs typeface="Kalam"/>
              <a:sym typeface="Kalam"/>
            </a:endParaRPr>
          </a:p>
        </p:txBody>
      </p:sp>
      <p:sp>
        <p:nvSpPr>
          <p:cNvPr id="1051" name="Google Shape;1051;p80"/>
          <p:cNvSpPr txBox="1"/>
          <p:nvPr/>
        </p:nvSpPr>
        <p:spPr>
          <a:xfrm>
            <a:off x="2553876" y="3411350"/>
            <a:ext cx="5402700" cy="3540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2300">
                <a:solidFill>
                  <a:schemeClr val="dk1"/>
                </a:solidFill>
                <a:latin typeface="Kalam"/>
                <a:ea typeface="Kalam"/>
                <a:cs typeface="Kalam"/>
                <a:sym typeface="Kalam"/>
              </a:rPr>
              <a:t>= 75 × 10 × 10 × 10 = 75 000</a:t>
            </a:r>
            <a:endParaRPr sz="2300">
              <a:solidFill>
                <a:schemeClr val="dk1"/>
              </a:solidFill>
              <a:latin typeface="Kalam"/>
              <a:ea typeface="Kalam"/>
              <a:cs typeface="Kalam"/>
              <a:sym typeface="Kalam"/>
            </a:endParaRPr>
          </a:p>
        </p:txBody>
      </p:sp>
      <p:sp>
        <p:nvSpPr>
          <p:cNvPr id="1052" name="Google Shape;1052;p80"/>
          <p:cNvSpPr txBox="1"/>
          <p:nvPr/>
        </p:nvSpPr>
        <p:spPr>
          <a:xfrm>
            <a:off x="2156818" y="4151539"/>
            <a:ext cx="5402700" cy="3540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1000"/>
              </a:spcAft>
              <a:buNone/>
            </a:pPr>
            <a:r>
              <a:rPr lang="en-GB" sz="2300">
                <a:solidFill>
                  <a:schemeClr val="dk1"/>
                </a:solidFill>
                <a:latin typeface="Kalam"/>
                <a:ea typeface="Kalam"/>
                <a:cs typeface="Kalam"/>
                <a:sym typeface="Kalam"/>
              </a:rPr>
              <a:t>= 2.5 × 10 × 10 × 10 = 2500</a:t>
            </a:r>
            <a:endParaRPr sz="2300">
              <a:solidFill>
                <a:schemeClr val="dk1"/>
              </a:solidFill>
              <a:latin typeface="Kalam"/>
              <a:ea typeface="Kalam"/>
              <a:cs typeface="Kalam"/>
              <a:sym typeface="Kalam"/>
            </a:endParaRPr>
          </a:p>
        </p:txBody>
      </p:sp>
      <p:pic>
        <p:nvPicPr>
          <p:cNvPr id="1053" name="Google Shape;1053;p80"/>
          <p:cNvPicPr preferRelativeResize="0"/>
          <p:nvPr/>
        </p:nvPicPr>
        <p:blipFill>
          <a:blip r:embed="rId4">
            <a:alphaModFix/>
          </a:blip>
          <a:stretch>
            <a:fillRect/>
          </a:stretch>
        </p:blipFill>
        <p:spPr>
          <a:xfrm>
            <a:off x="5962608" y="406725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81"/>
          <p:cNvSpPr txBox="1"/>
          <p:nvPr>
            <p:ph idx="1" type="body"/>
          </p:nvPr>
        </p:nvSpPr>
        <p:spPr>
          <a:xfrm>
            <a:off x="324000" y="759300"/>
            <a:ext cx="8237700" cy="903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a:t>
            </a:r>
            <a:r>
              <a:rPr lang="en-GB"/>
              <a:t>Match the </a:t>
            </a:r>
            <a:r>
              <a:rPr lang="en-GB"/>
              <a:t>calculation with the calculation using exponential form.</a:t>
            </a:r>
            <a:endParaRPr/>
          </a:p>
        </p:txBody>
      </p:sp>
      <p:sp>
        <p:nvSpPr>
          <p:cNvPr id="1059" name="Google Shape;1059;p8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1060" name="Google Shape;1060;p81"/>
          <p:cNvSpPr/>
          <p:nvPr/>
        </p:nvSpPr>
        <p:spPr>
          <a:xfrm>
            <a:off x="1293825" y="1640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200 </a:t>
            </a:r>
            <a:r>
              <a:rPr lang="en-GB" sz="2100">
                <a:solidFill>
                  <a:schemeClr val="dk1"/>
                </a:solidFill>
                <a:latin typeface="Lexend"/>
                <a:ea typeface="Lexend"/>
                <a:cs typeface="Lexend"/>
                <a:sym typeface="Lexend"/>
              </a:rPr>
              <a:t>× 400</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061" name="Google Shape;1061;p81"/>
          <p:cNvSpPr/>
          <p:nvPr/>
        </p:nvSpPr>
        <p:spPr>
          <a:xfrm>
            <a:off x="1293825" y="2402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200 </a:t>
            </a:r>
            <a:r>
              <a:rPr lang="en-GB" sz="2100">
                <a:solidFill>
                  <a:schemeClr val="dk1"/>
                </a:solidFill>
                <a:latin typeface="Lexend"/>
                <a:ea typeface="Lexend"/>
                <a:cs typeface="Lexend"/>
                <a:sym typeface="Lexend"/>
              </a:rPr>
              <a:t>× 4000</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062" name="Google Shape;1062;p81"/>
          <p:cNvSpPr/>
          <p:nvPr/>
        </p:nvSpPr>
        <p:spPr>
          <a:xfrm>
            <a:off x="1293825" y="3164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2 </a:t>
            </a:r>
            <a:r>
              <a:rPr lang="en-GB" sz="2100">
                <a:solidFill>
                  <a:schemeClr val="dk1"/>
                </a:solidFill>
                <a:latin typeface="Lexend"/>
                <a:ea typeface="Lexend"/>
                <a:cs typeface="Lexend"/>
                <a:sym typeface="Lexend"/>
              </a:rPr>
              <a:t>× 40</a:t>
            </a:r>
            <a:r>
              <a:rPr lang="en-GB" sz="2000">
                <a:latin typeface="Lexend"/>
                <a:ea typeface="Lexend"/>
                <a:cs typeface="Lexend"/>
                <a:sym typeface="Lexend"/>
              </a:rPr>
              <a:t> </a:t>
            </a:r>
            <a:endParaRPr sz="2000">
              <a:latin typeface="Lexend"/>
              <a:ea typeface="Lexend"/>
              <a:cs typeface="Lexend"/>
              <a:sym typeface="Lexend"/>
            </a:endParaRPr>
          </a:p>
        </p:txBody>
      </p:sp>
      <p:sp>
        <p:nvSpPr>
          <p:cNvPr id="1063" name="Google Shape;1063;p81"/>
          <p:cNvSpPr/>
          <p:nvPr/>
        </p:nvSpPr>
        <p:spPr>
          <a:xfrm>
            <a:off x="1293825" y="3926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8000 </a:t>
            </a:r>
            <a:r>
              <a:rPr lang="en-GB" sz="2100">
                <a:solidFill>
                  <a:schemeClr val="dk1"/>
                </a:solidFill>
                <a:latin typeface="Lexend"/>
                <a:ea typeface="Lexend"/>
                <a:cs typeface="Lexend"/>
                <a:sym typeface="Lexend"/>
              </a:rPr>
              <a:t>× 1000 </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064" name="Google Shape;1064;p81"/>
          <p:cNvSpPr/>
          <p:nvPr/>
        </p:nvSpPr>
        <p:spPr>
          <a:xfrm>
            <a:off x="4930850" y="1640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8 × 10</a:t>
            </a:r>
            <a:r>
              <a:rPr lang="en-GB" sz="2000">
                <a:solidFill>
                  <a:schemeClr val="dk1"/>
                </a:solidFill>
                <a:latin typeface="Lexend"/>
                <a:ea typeface="Lexend"/>
                <a:cs typeface="Lexend"/>
                <a:sym typeface="Lexend"/>
              </a:rPr>
              <a:t> </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065" name="Google Shape;1065;p81"/>
          <p:cNvSpPr/>
          <p:nvPr/>
        </p:nvSpPr>
        <p:spPr>
          <a:xfrm>
            <a:off x="4930850" y="2402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8 × 10</a:t>
            </a:r>
            <a:r>
              <a:rPr baseline="30000" lang="en-GB" sz="2100">
                <a:solidFill>
                  <a:schemeClr val="dk1"/>
                </a:solidFill>
                <a:latin typeface="Lexend"/>
                <a:ea typeface="Lexend"/>
                <a:cs typeface="Lexend"/>
                <a:sym typeface="Lexend"/>
              </a:rPr>
              <a:t>5</a:t>
            </a:r>
            <a:r>
              <a:rPr lang="en-GB" sz="2000">
                <a:solidFill>
                  <a:schemeClr val="dk1"/>
                </a:solidFill>
                <a:latin typeface="Lexend"/>
                <a:ea typeface="Lexend"/>
                <a:cs typeface="Lexend"/>
                <a:sym typeface="Lexend"/>
              </a:rPr>
              <a:t> </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066" name="Google Shape;1066;p81"/>
          <p:cNvSpPr/>
          <p:nvPr/>
        </p:nvSpPr>
        <p:spPr>
          <a:xfrm>
            <a:off x="4930850" y="3164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8 </a:t>
            </a:r>
            <a:r>
              <a:rPr lang="en-GB" sz="2100">
                <a:solidFill>
                  <a:schemeClr val="dk1"/>
                </a:solidFill>
                <a:latin typeface="Lexend"/>
                <a:ea typeface="Lexend"/>
                <a:cs typeface="Lexend"/>
                <a:sym typeface="Lexend"/>
              </a:rPr>
              <a:t>× 10</a:t>
            </a:r>
            <a:r>
              <a:rPr baseline="30000" lang="en-GB" sz="2100">
                <a:solidFill>
                  <a:schemeClr val="dk1"/>
                </a:solidFill>
                <a:latin typeface="Lexend"/>
                <a:ea typeface="Lexend"/>
                <a:cs typeface="Lexend"/>
                <a:sym typeface="Lexend"/>
              </a:rPr>
              <a:t>4</a:t>
            </a:r>
            <a:r>
              <a:rPr lang="en-GB" sz="2000">
                <a:latin typeface="Lexend"/>
                <a:ea typeface="Lexend"/>
                <a:cs typeface="Lexend"/>
                <a:sym typeface="Lexend"/>
              </a:rPr>
              <a:t> </a:t>
            </a:r>
            <a:endParaRPr sz="2000">
              <a:latin typeface="Lexend"/>
              <a:ea typeface="Lexend"/>
              <a:cs typeface="Lexend"/>
              <a:sym typeface="Lexend"/>
            </a:endParaRPr>
          </a:p>
        </p:txBody>
      </p:sp>
      <p:sp>
        <p:nvSpPr>
          <p:cNvPr id="1067" name="Google Shape;1067;p81"/>
          <p:cNvSpPr/>
          <p:nvPr/>
        </p:nvSpPr>
        <p:spPr>
          <a:xfrm>
            <a:off x="4930850" y="3926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8 × 10</a:t>
            </a:r>
            <a:r>
              <a:rPr baseline="30000" lang="en-GB" sz="2100">
                <a:solidFill>
                  <a:schemeClr val="dk1"/>
                </a:solidFill>
                <a:latin typeface="Lexend"/>
                <a:ea typeface="Lexend"/>
                <a:cs typeface="Lexend"/>
                <a:sym typeface="Lexend"/>
              </a:rPr>
              <a:t>6</a:t>
            </a:r>
            <a:r>
              <a:rPr lang="en-GB" sz="2000">
                <a:solidFill>
                  <a:schemeClr val="dk1"/>
                </a:solidFill>
                <a:latin typeface="Lexend"/>
                <a:ea typeface="Lexend"/>
                <a:cs typeface="Lexend"/>
                <a:sym typeface="Lexend"/>
              </a:rPr>
              <a:t> </a:t>
            </a:r>
            <a:endParaRPr sz="2000">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82"/>
          <p:cNvSpPr txBox="1"/>
          <p:nvPr>
            <p:ph idx="1" type="body"/>
          </p:nvPr>
        </p:nvSpPr>
        <p:spPr>
          <a:xfrm>
            <a:off x="324000" y="759300"/>
            <a:ext cx="8399400" cy="903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a:t>
            </a:r>
            <a:r>
              <a:rPr lang="en-GB"/>
              <a:t>Match the calculation with the calculation using exponential form.</a:t>
            </a:r>
            <a:endParaRPr/>
          </a:p>
        </p:txBody>
      </p:sp>
      <p:sp>
        <p:nvSpPr>
          <p:cNvPr id="1073" name="Google Shape;1073;p8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1074" name="Google Shape;1074;p82"/>
          <p:cNvSpPr/>
          <p:nvPr/>
        </p:nvSpPr>
        <p:spPr>
          <a:xfrm>
            <a:off x="1293825" y="1640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200 </a:t>
            </a:r>
            <a:r>
              <a:rPr lang="en-GB" sz="2100">
                <a:solidFill>
                  <a:schemeClr val="dk1"/>
                </a:solidFill>
                <a:latin typeface="Lexend"/>
                <a:ea typeface="Lexend"/>
                <a:cs typeface="Lexend"/>
                <a:sym typeface="Lexend"/>
              </a:rPr>
              <a:t>× 600</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075" name="Google Shape;1075;p82"/>
          <p:cNvSpPr/>
          <p:nvPr/>
        </p:nvSpPr>
        <p:spPr>
          <a:xfrm>
            <a:off x="1293825" y="2402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200 </a:t>
            </a:r>
            <a:r>
              <a:rPr lang="en-GB" sz="2100">
                <a:solidFill>
                  <a:schemeClr val="dk1"/>
                </a:solidFill>
                <a:latin typeface="Lexend"/>
                <a:ea typeface="Lexend"/>
                <a:cs typeface="Lexend"/>
                <a:sym typeface="Lexend"/>
              </a:rPr>
              <a:t>× 6000</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076" name="Google Shape;1076;p82"/>
          <p:cNvSpPr/>
          <p:nvPr/>
        </p:nvSpPr>
        <p:spPr>
          <a:xfrm>
            <a:off x="1293825" y="3164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2 </a:t>
            </a:r>
            <a:r>
              <a:rPr lang="en-GB" sz="2100">
                <a:solidFill>
                  <a:schemeClr val="dk1"/>
                </a:solidFill>
                <a:latin typeface="Lexend"/>
                <a:ea typeface="Lexend"/>
                <a:cs typeface="Lexend"/>
                <a:sym typeface="Lexend"/>
              </a:rPr>
              <a:t>× 60</a:t>
            </a:r>
            <a:r>
              <a:rPr lang="en-GB" sz="2000">
                <a:latin typeface="Lexend"/>
                <a:ea typeface="Lexend"/>
                <a:cs typeface="Lexend"/>
                <a:sym typeface="Lexend"/>
              </a:rPr>
              <a:t> </a:t>
            </a:r>
            <a:endParaRPr sz="2000">
              <a:latin typeface="Lexend"/>
              <a:ea typeface="Lexend"/>
              <a:cs typeface="Lexend"/>
              <a:sym typeface="Lexend"/>
            </a:endParaRPr>
          </a:p>
        </p:txBody>
      </p:sp>
      <p:sp>
        <p:nvSpPr>
          <p:cNvPr id="1077" name="Google Shape;1077;p82"/>
          <p:cNvSpPr/>
          <p:nvPr/>
        </p:nvSpPr>
        <p:spPr>
          <a:xfrm>
            <a:off x="1293825" y="3926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3000 </a:t>
            </a:r>
            <a:r>
              <a:rPr lang="en-GB" sz="2100">
                <a:solidFill>
                  <a:schemeClr val="dk1"/>
                </a:solidFill>
                <a:latin typeface="Lexend"/>
                <a:ea typeface="Lexend"/>
                <a:cs typeface="Lexend"/>
                <a:sym typeface="Lexend"/>
              </a:rPr>
              <a:t>× 4000 </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078" name="Google Shape;1078;p82"/>
          <p:cNvSpPr/>
          <p:nvPr/>
        </p:nvSpPr>
        <p:spPr>
          <a:xfrm>
            <a:off x="4930850" y="1640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12 </a:t>
            </a:r>
            <a:r>
              <a:rPr lang="en-GB" sz="2100">
                <a:solidFill>
                  <a:schemeClr val="dk1"/>
                </a:solidFill>
                <a:latin typeface="Lexend"/>
                <a:ea typeface="Lexend"/>
                <a:cs typeface="Lexend"/>
                <a:sym typeface="Lexend"/>
              </a:rPr>
              <a:t>× 10</a:t>
            </a:r>
            <a:r>
              <a:rPr baseline="30000" lang="en-GB" sz="2100">
                <a:solidFill>
                  <a:schemeClr val="dk1"/>
                </a:solidFill>
                <a:latin typeface="Lexend"/>
                <a:ea typeface="Lexend"/>
                <a:cs typeface="Lexend"/>
                <a:sym typeface="Lexend"/>
              </a:rPr>
              <a:t>4</a:t>
            </a:r>
            <a:r>
              <a:rPr lang="en-GB" sz="2100">
                <a:latin typeface="Lexend"/>
                <a:ea typeface="Lexend"/>
                <a:cs typeface="Lexend"/>
                <a:sym typeface="Lexend"/>
              </a:rPr>
              <a:t> </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079" name="Google Shape;1079;p82"/>
          <p:cNvSpPr/>
          <p:nvPr/>
        </p:nvSpPr>
        <p:spPr>
          <a:xfrm>
            <a:off x="4930850" y="2402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1.2 </a:t>
            </a:r>
            <a:r>
              <a:rPr lang="en-GB" sz="2100">
                <a:solidFill>
                  <a:schemeClr val="dk1"/>
                </a:solidFill>
                <a:latin typeface="Lexend"/>
                <a:ea typeface="Lexend"/>
                <a:cs typeface="Lexend"/>
                <a:sym typeface="Lexend"/>
              </a:rPr>
              <a:t>× 10</a:t>
            </a:r>
            <a:r>
              <a:rPr baseline="30000" lang="en-GB" sz="2100">
                <a:solidFill>
                  <a:schemeClr val="dk1"/>
                </a:solidFill>
                <a:latin typeface="Lexend"/>
                <a:ea typeface="Lexend"/>
                <a:cs typeface="Lexend"/>
                <a:sym typeface="Lexend"/>
              </a:rPr>
              <a:t>2 </a:t>
            </a:r>
            <a:r>
              <a:rPr lang="en-GB" sz="2000">
                <a:latin typeface="Lexend"/>
                <a:ea typeface="Lexend"/>
                <a:cs typeface="Lexend"/>
                <a:sym typeface="Lexend"/>
              </a:rPr>
              <a:t> </a:t>
            </a:r>
            <a:endParaRPr sz="2000">
              <a:latin typeface="Lexend"/>
              <a:ea typeface="Lexend"/>
              <a:cs typeface="Lexend"/>
              <a:sym typeface="Lexend"/>
            </a:endParaRPr>
          </a:p>
        </p:txBody>
      </p:sp>
      <p:sp>
        <p:nvSpPr>
          <p:cNvPr id="1080" name="Google Shape;1080;p82"/>
          <p:cNvSpPr/>
          <p:nvPr/>
        </p:nvSpPr>
        <p:spPr>
          <a:xfrm>
            <a:off x="4930850" y="3164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12 × 10</a:t>
            </a:r>
            <a:r>
              <a:rPr baseline="30000" lang="en-GB" sz="2100">
                <a:solidFill>
                  <a:schemeClr val="dk1"/>
                </a:solidFill>
                <a:latin typeface="Lexend"/>
                <a:ea typeface="Lexend"/>
                <a:cs typeface="Lexend"/>
                <a:sym typeface="Lexend"/>
              </a:rPr>
              <a:t>5 </a:t>
            </a:r>
            <a:r>
              <a:rPr lang="en-GB" sz="2000">
                <a:solidFill>
                  <a:schemeClr val="dk1"/>
                </a:solidFill>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081" name="Google Shape;1081;p82"/>
          <p:cNvSpPr/>
          <p:nvPr/>
        </p:nvSpPr>
        <p:spPr>
          <a:xfrm>
            <a:off x="4930850" y="3926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1.2 × 10</a:t>
            </a:r>
            <a:r>
              <a:rPr baseline="30000" lang="en-GB" sz="2100">
                <a:solidFill>
                  <a:schemeClr val="dk1"/>
                </a:solidFill>
                <a:latin typeface="Lexend"/>
                <a:ea typeface="Lexend"/>
                <a:cs typeface="Lexend"/>
                <a:sym typeface="Lexend"/>
              </a:rPr>
              <a:t>7</a:t>
            </a:r>
            <a:r>
              <a:rPr lang="en-GB" sz="2100">
                <a:solidFill>
                  <a:schemeClr val="dk1"/>
                </a:solidFill>
                <a:latin typeface="Lexend"/>
                <a:ea typeface="Lexend"/>
                <a:cs typeface="Lexend"/>
                <a:sym typeface="Lexend"/>
              </a:rPr>
              <a:t> </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83"/>
          <p:cNvSpPr txBox="1"/>
          <p:nvPr>
            <p:ph idx="1" type="body"/>
          </p:nvPr>
        </p:nvSpPr>
        <p:spPr>
          <a:xfrm>
            <a:off x="318148" y="759300"/>
            <a:ext cx="85878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3</a:t>
            </a:r>
            <a:r>
              <a:rPr lang="en-GB" sz="2000"/>
              <a:t>) Fill in the missing numbers. Make sure to show your working out.</a:t>
            </a:r>
            <a:endParaRPr sz="2000"/>
          </a:p>
          <a:p>
            <a:pPr indent="-368300" lvl="0" marL="457200" rtl="0" algn="l">
              <a:lnSpc>
                <a:spcPct val="100000"/>
              </a:lnSpc>
              <a:spcBef>
                <a:spcPts val="1000"/>
              </a:spcBef>
              <a:spcAft>
                <a:spcPts val="0"/>
              </a:spcAft>
              <a:buSzPts val="2200"/>
              <a:buAutoNum type="alphaLcParenR"/>
            </a:pPr>
            <a:r>
              <a:rPr lang="en-GB"/>
              <a:t>9000 × 100 = 9 × 10</a:t>
            </a:r>
            <a:r>
              <a:rPr baseline="30000" lang="en-GB" sz="2700"/>
              <a:t>⬚ </a:t>
            </a:r>
            <a:r>
              <a:rPr lang="en-GB"/>
              <a:t>  </a:t>
            </a:r>
            <a:br>
              <a:rPr lang="en-GB"/>
            </a:br>
            <a:br>
              <a:rPr lang="en-GB"/>
            </a:br>
            <a:endParaRPr/>
          </a:p>
          <a:p>
            <a:pPr indent="-368300" lvl="0" marL="457200" rtl="0" algn="l">
              <a:lnSpc>
                <a:spcPct val="100000"/>
              </a:lnSpc>
              <a:spcBef>
                <a:spcPts val="0"/>
              </a:spcBef>
              <a:spcAft>
                <a:spcPts val="0"/>
              </a:spcAft>
              <a:buSzPts val="2200"/>
              <a:buAutoNum type="alphaLcParenR"/>
            </a:pPr>
            <a:r>
              <a:rPr lang="en-GB"/>
              <a:t>300 × 250 = 75 × 10</a:t>
            </a:r>
            <a:r>
              <a:rPr baseline="30000" lang="en-GB" sz="2700"/>
              <a:t>⬚ </a:t>
            </a:r>
            <a:r>
              <a:rPr lang="en-GB"/>
              <a:t> = 7.5 × 10</a:t>
            </a:r>
            <a:r>
              <a:rPr baseline="30000" lang="en-GB" sz="2700"/>
              <a:t>⬚ </a:t>
            </a:r>
            <a:r>
              <a:rPr lang="en-GB"/>
              <a:t> </a:t>
            </a:r>
            <a:br>
              <a:rPr lang="en-GB"/>
            </a:br>
            <a:br>
              <a:rPr lang="en-GB"/>
            </a:br>
            <a:endParaRPr/>
          </a:p>
          <a:p>
            <a:pPr indent="-368300" lvl="0" marL="457200" rtl="0" algn="l">
              <a:lnSpc>
                <a:spcPct val="100000"/>
              </a:lnSpc>
              <a:spcBef>
                <a:spcPts val="0"/>
              </a:spcBef>
              <a:spcAft>
                <a:spcPts val="0"/>
              </a:spcAft>
              <a:buSzPts val="2200"/>
              <a:buAutoNum type="alphaLcParenR"/>
            </a:pPr>
            <a:r>
              <a:rPr lang="en-GB"/>
              <a:t>4000 × 1500 = 60 × 10</a:t>
            </a:r>
            <a:r>
              <a:rPr baseline="30000" lang="en-GB" sz="2700"/>
              <a:t>⬚ </a:t>
            </a:r>
            <a:r>
              <a:rPr lang="en-GB"/>
              <a:t> = 6 × 10</a:t>
            </a:r>
            <a:r>
              <a:rPr baseline="30000" lang="en-GB" sz="2700"/>
              <a:t>⬚ </a:t>
            </a:r>
            <a:r>
              <a:rPr lang="en-GB"/>
              <a:t> </a:t>
            </a:r>
            <a:endParaRPr/>
          </a:p>
          <a:p>
            <a:pPr indent="0" lvl="0" marL="0" rtl="0" algn="l">
              <a:spcBef>
                <a:spcPts val="1000"/>
              </a:spcBef>
              <a:spcAft>
                <a:spcPts val="1000"/>
              </a:spcAft>
              <a:buNone/>
            </a:pPr>
            <a:r>
              <a:t/>
            </a:r>
            <a:endParaRPr sz="2000"/>
          </a:p>
        </p:txBody>
      </p:sp>
      <p:sp>
        <p:nvSpPr>
          <p:cNvPr id="1087" name="Google Shape;1087;p8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84"/>
          <p:cNvSpPr txBox="1"/>
          <p:nvPr>
            <p:ph idx="1" type="body"/>
          </p:nvPr>
        </p:nvSpPr>
        <p:spPr>
          <a:xfrm>
            <a:off x="324000" y="759300"/>
            <a:ext cx="8237700" cy="504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4) Put a tick next to the calculations which are correct and create two of your own correct calculations using powers of 10.</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093" name="Google Shape;1093;p8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1094" name="Google Shape;1094;p84"/>
          <p:cNvSpPr/>
          <p:nvPr/>
        </p:nvSpPr>
        <p:spPr>
          <a:xfrm>
            <a:off x="3326323" y="2381277"/>
            <a:ext cx="2081916" cy="1398708"/>
          </a:xfrm>
          <a:prstGeom prst="cloud">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latin typeface="Lexend"/>
                <a:ea typeface="Lexend"/>
                <a:cs typeface="Lexend"/>
                <a:sym typeface="Lexend"/>
              </a:rPr>
              <a:t>24 000</a:t>
            </a:r>
            <a:endParaRPr sz="2800">
              <a:latin typeface="Lexend"/>
              <a:ea typeface="Lexend"/>
              <a:cs typeface="Lexend"/>
              <a:sym typeface="Lexend"/>
            </a:endParaRPr>
          </a:p>
        </p:txBody>
      </p:sp>
      <p:cxnSp>
        <p:nvCxnSpPr>
          <p:cNvPr id="1095" name="Google Shape;1095;p84"/>
          <p:cNvCxnSpPr/>
          <p:nvPr/>
        </p:nvCxnSpPr>
        <p:spPr>
          <a:xfrm>
            <a:off x="2669350" y="2242725"/>
            <a:ext cx="891900" cy="363600"/>
          </a:xfrm>
          <a:prstGeom prst="straightConnector1">
            <a:avLst/>
          </a:prstGeom>
          <a:noFill/>
          <a:ln cap="flat" cmpd="sng" w="28575">
            <a:solidFill>
              <a:schemeClr val="dk1"/>
            </a:solidFill>
            <a:prstDash val="solid"/>
            <a:round/>
            <a:headEnd len="med" w="med" type="none"/>
            <a:tailEnd len="med" w="med" type="none"/>
          </a:ln>
        </p:spPr>
      </p:cxnSp>
      <p:cxnSp>
        <p:nvCxnSpPr>
          <p:cNvPr id="1096" name="Google Shape;1096;p84"/>
          <p:cNvCxnSpPr/>
          <p:nvPr/>
        </p:nvCxnSpPr>
        <p:spPr>
          <a:xfrm flipH="1" rot="10800000">
            <a:off x="2377125" y="3072175"/>
            <a:ext cx="949200" cy="131700"/>
          </a:xfrm>
          <a:prstGeom prst="straightConnector1">
            <a:avLst/>
          </a:prstGeom>
          <a:noFill/>
          <a:ln cap="flat" cmpd="sng" w="28575">
            <a:solidFill>
              <a:schemeClr val="dk1"/>
            </a:solidFill>
            <a:prstDash val="solid"/>
            <a:round/>
            <a:headEnd len="med" w="med" type="none"/>
            <a:tailEnd len="med" w="med" type="none"/>
          </a:ln>
        </p:spPr>
      </p:cxnSp>
      <p:cxnSp>
        <p:nvCxnSpPr>
          <p:cNvPr id="1097" name="Google Shape;1097;p84"/>
          <p:cNvCxnSpPr/>
          <p:nvPr/>
        </p:nvCxnSpPr>
        <p:spPr>
          <a:xfrm flipH="1" rot="10800000">
            <a:off x="2802725" y="3527725"/>
            <a:ext cx="809400" cy="533400"/>
          </a:xfrm>
          <a:prstGeom prst="straightConnector1">
            <a:avLst/>
          </a:prstGeom>
          <a:noFill/>
          <a:ln cap="flat" cmpd="sng" w="28575">
            <a:solidFill>
              <a:schemeClr val="dk1"/>
            </a:solidFill>
            <a:prstDash val="solid"/>
            <a:round/>
            <a:headEnd len="med" w="med" type="none"/>
            <a:tailEnd len="med" w="med" type="none"/>
          </a:ln>
        </p:spPr>
      </p:cxnSp>
      <p:cxnSp>
        <p:nvCxnSpPr>
          <p:cNvPr id="1098" name="Google Shape;1098;p84"/>
          <p:cNvCxnSpPr/>
          <p:nvPr/>
        </p:nvCxnSpPr>
        <p:spPr>
          <a:xfrm rot="10800000">
            <a:off x="4409825" y="3779975"/>
            <a:ext cx="91200" cy="459000"/>
          </a:xfrm>
          <a:prstGeom prst="straightConnector1">
            <a:avLst/>
          </a:prstGeom>
          <a:noFill/>
          <a:ln cap="flat" cmpd="sng" w="28575">
            <a:solidFill>
              <a:schemeClr val="dk1"/>
            </a:solidFill>
            <a:prstDash val="solid"/>
            <a:round/>
            <a:headEnd len="med" w="med" type="none"/>
            <a:tailEnd len="med" w="med" type="none"/>
          </a:ln>
        </p:spPr>
      </p:cxnSp>
      <p:cxnSp>
        <p:nvCxnSpPr>
          <p:cNvPr id="1099" name="Google Shape;1099;p84"/>
          <p:cNvCxnSpPr/>
          <p:nvPr/>
        </p:nvCxnSpPr>
        <p:spPr>
          <a:xfrm rot="10800000">
            <a:off x="5028725" y="3527725"/>
            <a:ext cx="583500" cy="359100"/>
          </a:xfrm>
          <a:prstGeom prst="straightConnector1">
            <a:avLst/>
          </a:prstGeom>
          <a:noFill/>
          <a:ln cap="flat" cmpd="sng" w="28575">
            <a:solidFill>
              <a:schemeClr val="dk1"/>
            </a:solidFill>
            <a:prstDash val="solid"/>
            <a:round/>
            <a:headEnd len="med" w="med" type="none"/>
            <a:tailEnd len="med" w="med" type="none"/>
          </a:ln>
        </p:spPr>
      </p:cxnSp>
      <p:cxnSp>
        <p:nvCxnSpPr>
          <p:cNvPr id="1100" name="Google Shape;1100;p84"/>
          <p:cNvCxnSpPr/>
          <p:nvPr/>
        </p:nvCxnSpPr>
        <p:spPr>
          <a:xfrm flipH="1">
            <a:off x="5408175" y="2892150"/>
            <a:ext cx="854700" cy="234900"/>
          </a:xfrm>
          <a:prstGeom prst="straightConnector1">
            <a:avLst/>
          </a:prstGeom>
          <a:noFill/>
          <a:ln cap="flat" cmpd="sng" w="28575">
            <a:solidFill>
              <a:schemeClr val="dk1"/>
            </a:solidFill>
            <a:prstDash val="solid"/>
            <a:round/>
            <a:headEnd len="med" w="med" type="none"/>
            <a:tailEnd len="med" w="med" type="none"/>
          </a:ln>
        </p:spPr>
      </p:cxnSp>
      <p:cxnSp>
        <p:nvCxnSpPr>
          <p:cNvPr id="1101" name="Google Shape;1101;p84"/>
          <p:cNvCxnSpPr/>
          <p:nvPr/>
        </p:nvCxnSpPr>
        <p:spPr>
          <a:xfrm flipH="1">
            <a:off x="4751700" y="2034900"/>
            <a:ext cx="310500" cy="456600"/>
          </a:xfrm>
          <a:prstGeom prst="straightConnector1">
            <a:avLst/>
          </a:prstGeom>
          <a:noFill/>
          <a:ln cap="flat" cmpd="sng" w="28575">
            <a:solidFill>
              <a:schemeClr val="dk1"/>
            </a:solidFill>
            <a:prstDash val="solid"/>
            <a:round/>
            <a:headEnd len="med" w="med" type="none"/>
            <a:tailEnd len="med" w="med" type="none"/>
          </a:ln>
        </p:spPr>
      </p:cxnSp>
      <p:sp>
        <p:nvSpPr>
          <p:cNvPr id="1102" name="Google Shape;1102;p84"/>
          <p:cNvSpPr txBox="1"/>
          <p:nvPr/>
        </p:nvSpPr>
        <p:spPr>
          <a:xfrm>
            <a:off x="4699200" y="1576450"/>
            <a:ext cx="16746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24</a:t>
            </a:r>
            <a:r>
              <a:rPr lang="en-GB" sz="2000">
                <a:solidFill>
                  <a:schemeClr val="dk1"/>
                </a:solidFill>
                <a:latin typeface="Lexend"/>
                <a:ea typeface="Lexend"/>
                <a:cs typeface="Lexend"/>
                <a:sym typeface="Lexend"/>
              </a:rPr>
              <a:t>0 × 10 </a:t>
            </a:r>
            <a:endParaRPr/>
          </a:p>
        </p:txBody>
      </p:sp>
      <p:sp>
        <p:nvSpPr>
          <p:cNvPr id="1103" name="Google Shape;1103;p84"/>
          <p:cNvSpPr txBox="1"/>
          <p:nvPr/>
        </p:nvSpPr>
        <p:spPr>
          <a:xfrm>
            <a:off x="6262875" y="2491500"/>
            <a:ext cx="16746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24 × 10</a:t>
            </a:r>
            <a:r>
              <a:rPr baseline="30000" lang="en-GB" sz="2000">
                <a:solidFill>
                  <a:schemeClr val="dk1"/>
                </a:solidFill>
                <a:latin typeface="Lexend"/>
                <a:ea typeface="Lexend"/>
                <a:cs typeface="Lexend"/>
                <a:sym typeface="Lexend"/>
              </a:rPr>
              <a:t>3</a:t>
            </a:r>
            <a:r>
              <a:rPr lang="en-GB" sz="2000">
                <a:solidFill>
                  <a:schemeClr val="dk1"/>
                </a:solidFill>
                <a:latin typeface="Lexend"/>
                <a:ea typeface="Lexend"/>
                <a:cs typeface="Lexend"/>
                <a:sym typeface="Lexend"/>
              </a:rPr>
              <a:t> </a:t>
            </a:r>
            <a:endParaRPr/>
          </a:p>
        </p:txBody>
      </p:sp>
      <p:sp>
        <p:nvSpPr>
          <p:cNvPr id="1104" name="Google Shape;1104;p84"/>
          <p:cNvSpPr txBox="1"/>
          <p:nvPr/>
        </p:nvSpPr>
        <p:spPr>
          <a:xfrm>
            <a:off x="5612225" y="3568525"/>
            <a:ext cx="16746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2.4 × 10</a:t>
            </a:r>
            <a:r>
              <a:rPr baseline="30000" lang="en-GB" sz="2000">
                <a:solidFill>
                  <a:schemeClr val="dk1"/>
                </a:solidFill>
                <a:latin typeface="Lexend"/>
                <a:ea typeface="Lexend"/>
                <a:cs typeface="Lexend"/>
                <a:sym typeface="Lexend"/>
              </a:rPr>
              <a:t>4</a:t>
            </a:r>
            <a:r>
              <a:rPr lang="en-GB" sz="2000">
                <a:solidFill>
                  <a:schemeClr val="dk1"/>
                </a:solidFill>
                <a:latin typeface="Lexend"/>
                <a:ea typeface="Lexend"/>
                <a:cs typeface="Lexend"/>
                <a:sym typeface="Lexend"/>
              </a:rPr>
              <a:t> </a:t>
            </a:r>
            <a:endParaRPr/>
          </a:p>
        </p:txBody>
      </p:sp>
      <p:sp>
        <p:nvSpPr>
          <p:cNvPr id="1105" name="Google Shape;1105;p84"/>
          <p:cNvSpPr txBox="1"/>
          <p:nvPr/>
        </p:nvSpPr>
        <p:spPr>
          <a:xfrm>
            <a:off x="3937625" y="4139600"/>
            <a:ext cx="16746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8</a:t>
            </a:r>
            <a:r>
              <a:rPr lang="en-GB" sz="2000">
                <a:solidFill>
                  <a:schemeClr val="dk1"/>
                </a:solidFill>
                <a:latin typeface="Lexend"/>
                <a:ea typeface="Lexend"/>
                <a:cs typeface="Lexend"/>
                <a:sym typeface="Lexend"/>
              </a:rPr>
              <a:t> × 3 × 10</a:t>
            </a:r>
            <a:r>
              <a:rPr baseline="30000" lang="en-GB" sz="2000">
                <a:solidFill>
                  <a:schemeClr val="dk1"/>
                </a:solidFill>
                <a:latin typeface="Lexend"/>
                <a:ea typeface="Lexend"/>
                <a:cs typeface="Lexend"/>
                <a:sym typeface="Lexend"/>
              </a:rPr>
              <a:t>3</a:t>
            </a:r>
            <a:r>
              <a:rPr lang="en-GB" sz="2000">
                <a:solidFill>
                  <a:schemeClr val="dk1"/>
                </a:solidFill>
                <a:latin typeface="Lexend"/>
                <a:ea typeface="Lexend"/>
                <a:cs typeface="Lexend"/>
                <a:sym typeface="Lexend"/>
              </a:rPr>
              <a:t> </a:t>
            </a:r>
            <a:endParaRPr/>
          </a:p>
        </p:txBody>
      </p:sp>
      <p:sp>
        <p:nvSpPr>
          <p:cNvPr id="1106" name="Google Shape;1106;p84"/>
          <p:cNvSpPr txBox="1"/>
          <p:nvPr/>
        </p:nvSpPr>
        <p:spPr>
          <a:xfrm>
            <a:off x="2014425" y="3963725"/>
            <a:ext cx="16746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12</a:t>
            </a:r>
            <a:r>
              <a:rPr lang="en-GB" sz="2000">
                <a:solidFill>
                  <a:schemeClr val="dk1"/>
                </a:solidFill>
                <a:latin typeface="Lexend"/>
                <a:ea typeface="Lexend"/>
                <a:cs typeface="Lexend"/>
                <a:sym typeface="Lexend"/>
              </a:rPr>
              <a:t> × 2 × 10</a:t>
            </a:r>
            <a:r>
              <a:rPr baseline="30000" lang="en-GB" sz="2000">
                <a:solidFill>
                  <a:schemeClr val="dk1"/>
                </a:solidFill>
                <a:latin typeface="Lexend"/>
                <a:ea typeface="Lexend"/>
                <a:cs typeface="Lexend"/>
                <a:sym typeface="Lexend"/>
              </a:rPr>
              <a:t>3</a:t>
            </a:r>
            <a:r>
              <a:rPr lang="en-GB" sz="2000">
                <a:solidFill>
                  <a:schemeClr val="dk1"/>
                </a:solidFill>
                <a:latin typeface="Lexend"/>
                <a:ea typeface="Lexend"/>
                <a:cs typeface="Lexend"/>
                <a:sym typeface="Lexend"/>
              </a:rPr>
              <a:t> </a:t>
            </a:r>
            <a:endParaRPr/>
          </a:p>
        </p:txBody>
      </p:sp>
      <p:sp>
        <p:nvSpPr>
          <p:cNvPr id="1107" name="Google Shape;1107;p84"/>
          <p:cNvSpPr txBox="1"/>
          <p:nvPr/>
        </p:nvSpPr>
        <p:spPr>
          <a:xfrm>
            <a:off x="585425" y="2984100"/>
            <a:ext cx="18864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aseline="30000" lang="en-GB" sz="2000">
                <a:solidFill>
                  <a:schemeClr val="dk1"/>
                </a:solidFill>
                <a:latin typeface="Lexend"/>
                <a:ea typeface="Lexend"/>
                <a:cs typeface="Lexend"/>
                <a:sym typeface="Lexend"/>
              </a:rPr>
              <a:t>_____________</a:t>
            </a:r>
            <a:r>
              <a:rPr lang="en-GB" sz="2000">
                <a:solidFill>
                  <a:schemeClr val="dk1"/>
                </a:solidFill>
                <a:latin typeface="Lexend"/>
                <a:ea typeface="Lexend"/>
                <a:cs typeface="Lexend"/>
                <a:sym typeface="Lexend"/>
              </a:rPr>
              <a:t> </a:t>
            </a:r>
            <a:endParaRPr/>
          </a:p>
        </p:txBody>
      </p:sp>
      <p:sp>
        <p:nvSpPr>
          <p:cNvPr id="1108" name="Google Shape;1108;p84"/>
          <p:cNvSpPr txBox="1"/>
          <p:nvPr/>
        </p:nvSpPr>
        <p:spPr>
          <a:xfrm>
            <a:off x="797100" y="2004475"/>
            <a:ext cx="19458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aseline="30000" lang="en-GB" sz="2000">
                <a:solidFill>
                  <a:schemeClr val="dk1"/>
                </a:solidFill>
                <a:latin typeface="Lexend"/>
                <a:ea typeface="Lexend"/>
                <a:cs typeface="Lexend"/>
                <a:sym typeface="Lexend"/>
              </a:rPr>
              <a:t>_____________</a:t>
            </a:r>
            <a:r>
              <a:rPr lang="en-GB" sz="2000">
                <a:solidFill>
                  <a:schemeClr val="dk1"/>
                </a:solidFill>
                <a:latin typeface="Lexend"/>
                <a:ea typeface="Lexend"/>
                <a:cs typeface="Lexend"/>
                <a:sym typeface="Lexend"/>
              </a:rPr>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8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a:t>
            </a:r>
            <a:r>
              <a:rPr lang="en-GB"/>
              <a:t>Match the calculation with the calculation using exponential form.</a:t>
            </a:r>
            <a:endParaRPr/>
          </a:p>
        </p:txBody>
      </p:sp>
      <p:sp>
        <p:nvSpPr>
          <p:cNvPr id="1114" name="Google Shape;1114;p8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1115" name="Google Shape;1115;p85"/>
          <p:cNvSpPr/>
          <p:nvPr/>
        </p:nvSpPr>
        <p:spPr>
          <a:xfrm>
            <a:off x="1293825" y="1640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200 </a:t>
            </a:r>
            <a:r>
              <a:rPr lang="en-GB" sz="2100">
                <a:solidFill>
                  <a:schemeClr val="dk1"/>
                </a:solidFill>
                <a:latin typeface="Lexend"/>
                <a:ea typeface="Lexend"/>
                <a:cs typeface="Lexend"/>
                <a:sym typeface="Lexend"/>
              </a:rPr>
              <a:t>× 400</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116" name="Google Shape;1116;p85"/>
          <p:cNvSpPr/>
          <p:nvPr/>
        </p:nvSpPr>
        <p:spPr>
          <a:xfrm>
            <a:off x="1293825" y="2402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200 </a:t>
            </a:r>
            <a:r>
              <a:rPr lang="en-GB" sz="2100">
                <a:solidFill>
                  <a:schemeClr val="dk1"/>
                </a:solidFill>
                <a:latin typeface="Lexend"/>
                <a:ea typeface="Lexend"/>
                <a:cs typeface="Lexend"/>
                <a:sym typeface="Lexend"/>
              </a:rPr>
              <a:t>× 4000</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117" name="Google Shape;1117;p85"/>
          <p:cNvSpPr/>
          <p:nvPr/>
        </p:nvSpPr>
        <p:spPr>
          <a:xfrm>
            <a:off x="1293825" y="3164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2 </a:t>
            </a:r>
            <a:r>
              <a:rPr lang="en-GB" sz="2100">
                <a:solidFill>
                  <a:schemeClr val="dk1"/>
                </a:solidFill>
                <a:latin typeface="Lexend"/>
                <a:ea typeface="Lexend"/>
                <a:cs typeface="Lexend"/>
                <a:sym typeface="Lexend"/>
              </a:rPr>
              <a:t>× 40</a:t>
            </a:r>
            <a:r>
              <a:rPr lang="en-GB" sz="2000">
                <a:latin typeface="Lexend"/>
                <a:ea typeface="Lexend"/>
                <a:cs typeface="Lexend"/>
                <a:sym typeface="Lexend"/>
              </a:rPr>
              <a:t> </a:t>
            </a:r>
            <a:endParaRPr sz="2000">
              <a:latin typeface="Lexend"/>
              <a:ea typeface="Lexend"/>
              <a:cs typeface="Lexend"/>
              <a:sym typeface="Lexend"/>
            </a:endParaRPr>
          </a:p>
        </p:txBody>
      </p:sp>
      <p:sp>
        <p:nvSpPr>
          <p:cNvPr id="1118" name="Google Shape;1118;p85"/>
          <p:cNvSpPr/>
          <p:nvPr/>
        </p:nvSpPr>
        <p:spPr>
          <a:xfrm>
            <a:off x="1293825" y="3926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8000 </a:t>
            </a:r>
            <a:r>
              <a:rPr lang="en-GB" sz="2100">
                <a:solidFill>
                  <a:schemeClr val="dk1"/>
                </a:solidFill>
                <a:latin typeface="Lexend"/>
                <a:ea typeface="Lexend"/>
                <a:cs typeface="Lexend"/>
                <a:sym typeface="Lexend"/>
              </a:rPr>
              <a:t>× 1000 </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119" name="Google Shape;1119;p85"/>
          <p:cNvSpPr/>
          <p:nvPr/>
        </p:nvSpPr>
        <p:spPr>
          <a:xfrm>
            <a:off x="4930850" y="1640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8 × 10</a:t>
            </a:r>
            <a:r>
              <a:rPr lang="en-GB" sz="2000">
                <a:solidFill>
                  <a:schemeClr val="dk1"/>
                </a:solidFill>
                <a:latin typeface="Lexend"/>
                <a:ea typeface="Lexend"/>
                <a:cs typeface="Lexend"/>
                <a:sym typeface="Lexend"/>
              </a:rPr>
              <a:t> </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120" name="Google Shape;1120;p85"/>
          <p:cNvSpPr/>
          <p:nvPr/>
        </p:nvSpPr>
        <p:spPr>
          <a:xfrm>
            <a:off x="4930850" y="2402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8 × 10</a:t>
            </a:r>
            <a:r>
              <a:rPr baseline="30000" lang="en-GB" sz="2100">
                <a:solidFill>
                  <a:schemeClr val="dk1"/>
                </a:solidFill>
                <a:latin typeface="Lexend"/>
                <a:ea typeface="Lexend"/>
                <a:cs typeface="Lexend"/>
                <a:sym typeface="Lexend"/>
              </a:rPr>
              <a:t>5</a:t>
            </a:r>
            <a:r>
              <a:rPr lang="en-GB" sz="2000">
                <a:solidFill>
                  <a:schemeClr val="dk1"/>
                </a:solidFill>
                <a:latin typeface="Lexend"/>
                <a:ea typeface="Lexend"/>
                <a:cs typeface="Lexend"/>
                <a:sym typeface="Lexend"/>
              </a:rPr>
              <a:t> </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121" name="Google Shape;1121;p85"/>
          <p:cNvSpPr/>
          <p:nvPr/>
        </p:nvSpPr>
        <p:spPr>
          <a:xfrm>
            <a:off x="4930850" y="3164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8</a:t>
            </a:r>
            <a:r>
              <a:rPr lang="en-GB" sz="2100">
                <a:latin typeface="Lexend"/>
                <a:ea typeface="Lexend"/>
                <a:cs typeface="Lexend"/>
                <a:sym typeface="Lexend"/>
              </a:rPr>
              <a:t> </a:t>
            </a:r>
            <a:r>
              <a:rPr lang="en-GB" sz="2100">
                <a:solidFill>
                  <a:schemeClr val="dk1"/>
                </a:solidFill>
                <a:latin typeface="Lexend"/>
                <a:ea typeface="Lexend"/>
                <a:cs typeface="Lexend"/>
                <a:sym typeface="Lexend"/>
              </a:rPr>
              <a:t>× </a:t>
            </a:r>
            <a:r>
              <a:rPr lang="en-GB" sz="2100">
                <a:solidFill>
                  <a:schemeClr val="dk1"/>
                </a:solidFill>
                <a:latin typeface="Lexend"/>
                <a:ea typeface="Lexend"/>
                <a:cs typeface="Lexend"/>
                <a:sym typeface="Lexend"/>
              </a:rPr>
              <a:t>10</a:t>
            </a:r>
            <a:r>
              <a:rPr baseline="30000" lang="en-GB" sz="2100">
                <a:solidFill>
                  <a:schemeClr val="dk1"/>
                </a:solidFill>
                <a:latin typeface="Lexend"/>
                <a:ea typeface="Lexend"/>
                <a:cs typeface="Lexend"/>
                <a:sym typeface="Lexend"/>
              </a:rPr>
              <a:t>4</a:t>
            </a:r>
            <a:r>
              <a:rPr lang="en-GB" sz="2000">
                <a:latin typeface="Lexend"/>
                <a:ea typeface="Lexend"/>
                <a:cs typeface="Lexend"/>
                <a:sym typeface="Lexend"/>
              </a:rPr>
              <a:t> </a:t>
            </a:r>
            <a:endParaRPr sz="2000">
              <a:latin typeface="Lexend"/>
              <a:ea typeface="Lexend"/>
              <a:cs typeface="Lexend"/>
              <a:sym typeface="Lexend"/>
            </a:endParaRPr>
          </a:p>
        </p:txBody>
      </p:sp>
      <p:sp>
        <p:nvSpPr>
          <p:cNvPr id="1122" name="Google Shape;1122;p85"/>
          <p:cNvSpPr/>
          <p:nvPr/>
        </p:nvSpPr>
        <p:spPr>
          <a:xfrm>
            <a:off x="4930850" y="3926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2100">
                <a:solidFill>
                  <a:schemeClr val="dk1"/>
                </a:solidFill>
                <a:latin typeface="Lexend"/>
                <a:ea typeface="Lexend"/>
                <a:cs typeface="Lexend"/>
                <a:sym typeface="Lexend"/>
              </a:rPr>
              <a:t>8 × 10</a:t>
            </a:r>
            <a:r>
              <a:rPr baseline="30000" lang="en-GB" sz="2100">
                <a:solidFill>
                  <a:schemeClr val="dk1"/>
                </a:solidFill>
                <a:latin typeface="Lexend"/>
                <a:ea typeface="Lexend"/>
                <a:cs typeface="Lexend"/>
                <a:sym typeface="Lexend"/>
              </a:rPr>
              <a:t>6</a:t>
            </a:r>
            <a:r>
              <a:rPr lang="en-GB" sz="2000">
                <a:solidFill>
                  <a:schemeClr val="dk1"/>
                </a:solidFill>
                <a:latin typeface="Lexend"/>
                <a:ea typeface="Lexend"/>
                <a:cs typeface="Lexend"/>
                <a:sym typeface="Lexend"/>
              </a:rPr>
              <a:t> </a:t>
            </a:r>
            <a:endParaRPr sz="2000">
              <a:latin typeface="Lexend"/>
              <a:ea typeface="Lexend"/>
              <a:cs typeface="Lexend"/>
              <a:sym typeface="Lexend"/>
            </a:endParaRPr>
          </a:p>
        </p:txBody>
      </p:sp>
      <p:cxnSp>
        <p:nvCxnSpPr>
          <p:cNvPr id="1123" name="Google Shape;1123;p85"/>
          <p:cNvCxnSpPr>
            <a:stCxn id="1115" idx="3"/>
            <a:endCxn id="1121" idx="1"/>
          </p:cNvCxnSpPr>
          <p:nvPr/>
        </p:nvCxnSpPr>
        <p:spPr>
          <a:xfrm>
            <a:off x="3298125" y="1931000"/>
            <a:ext cx="1632600" cy="1524000"/>
          </a:xfrm>
          <a:prstGeom prst="straightConnector1">
            <a:avLst/>
          </a:prstGeom>
          <a:noFill/>
          <a:ln cap="flat" cmpd="sng" w="28575">
            <a:solidFill>
              <a:schemeClr val="dk2"/>
            </a:solidFill>
            <a:prstDash val="solid"/>
            <a:round/>
            <a:headEnd len="med" w="med" type="none"/>
            <a:tailEnd len="med" w="med" type="none"/>
          </a:ln>
        </p:spPr>
      </p:cxnSp>
      <p:cxnSp>
        <p:nvCxnSpPr>
          <p:cNvPr id="1124" name="Google Shape;1124;p85"/>
          <p:cNvCxnSpPr>
            <a:stCxn id="1117" idx="3"/>
          </p:cNvCxnSpPr>
          <p:nvPr/>
        </p:nvCxnSpPr>
        <p:spPr>
          <a:xfrm flipH="1" rot="10800000">
            <a:off x="3298125" y="1802600"/>
            <a:ext cx="1632600" cy="1652400"/>
          </a:xfrm>
          <a:prstGeom prst="straightConnector1">
            <a:avLst/>
          </a:prstGeom>
          <a:noFill/>
          <a:ln cap="flat" cmpd="sng" w="28575">
            <a:solidFill>
              <a:schemeClr val="dk2"/>
            </a:solidFill>
            <a:prstDash val="solid"/>
            <a:round/>
            <a:headEnd len="med" w="med" type="none"/>
            <a:tailEnd len="med" w="med" type="none"/>
          </a:ln>
        </p:spPr>
      </p:cxnSp>
      <p:cxnSp>
        <p:nvCxnSpPr>
          <p:cNvPr id="1125" name="Google Shape;1125;p85"/>
          <p:cNvCxnSpPr>
            <a:endCxn id="1122" idx="1"/>
          </p:cNvCxnSpPr>
          <p:nvPr/>
        </p:nvCxnSpPr>
        <p:spPr>
          <a:xfrm>
            <a:off x="3330950" y="4186700"/>
            <a:ext cx="1599900" cy="30300"/>
          </a:xfrm>
          <a:prstGeom prst="straightConnector1">
            <a:avLst/>
          </a:prstGeom>
          <a:noFill/>
          <a:ln cap="flat" cmpd="sng" w="28575">
            <a:solidFill>
              <a:schemeClr val="dk2"/>
            </a:solidFill>
            <a:prstDash val="solid"/>
            <a:round/>
            <a:headEnd len="med" w="med" type="none"/>
            <a:tailEnd len="med" w="med" type="none"/>
          </a:ln>
        </p:spPr>
      </p:cxnSp>
      <p:cxnSp>
        <p:nvCxnSpPr>
          <p:cNvPr id="1126" name="Google Shape;1126;p85"/>
          <p:cNvCxnSpPr>
            <a:endCxn id="1120" idx="1"/>
          </p:cNvCxnSpPr>
          <p:nvPr/>
        </p:nvCxnSpPr>
        <p:spPr>
          <a:xfrm>
            <a:off x="3330950" y="2645300"/>
            <a:ext cx="1599900" cy="477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8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Match the calculation with the calculation using exponential form.</a:t>
            </a:r>
            <a:endParaRPr/>
          </a:p>
        </p:txBody>
      </p:sp>
      <p:sp>
        <p:nvSpPr>
          <p:cNvPr id="1132" name="Google Shape;1132;p8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1133" name="Google Shape;1133;p86"/>
          <p:cNvSpPr/>
          <p:nvPr/>
        </p:nvSpPr>
        <p:spPr>
          <a:xfrm>
            <a:off x="1293825" y="1640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200 </a:t>
            </a:r>
            <a:r>
              <a:rPr lang="en-GB" sz="2100">
                <a:solidFill>
                  <a:schemeClr val="dk1"/>
                </a:solidFill>
                <a:latin typeface="Lexend"/>
                <a:ea typeface="Lexend"/>
                <a:cs typeface="Lexend"/>
                <a:sym typeface="Lexend"/>
              </a:rPr>
              <a:t>× 600</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134" name="Google Shape;1134;p86"/>
          <p:cNvSpPr/>
          <p:nvPr/>
        </p:nvSpPr>
        <p:spPr>
          <a:xfrm>
            <a:off x="1293825" y="2402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200 </a:t>
            </a:r>
            <a:r>
              <a:rPr lang="en-GB" sz="2100">
                <a:solidFill>
                  <a:schemeClr val="dk1"/>
                </a:solidFill>
                <a:latin typeface="Lexend"/>
                <a:ea typeface="Lexend"/>
                <a:cs typeface="Lexend"/>
                <a:sym typeface="Lexend"/>
              </a:rPr>
              <a:t>× 6000</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135" name="Google Shape;1135;p86"/>
          <p:cNvSpPr/>
          <p:nvPr/>
        </p:nvSpPr>
        <p:spPr>
          <a:xfrm>
            <a:off x="1293825" y="3164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2 </a:t>
            </a:r>
            <a:r>
              <a:rPr lang="en-GB" sz="2100">
                <a:solidFill>
                  <a:schemeClr val="dk1"/>
                </a:solidFill>
                <a:latin typeface="Lexend"/>
                <a:ea typeface="Lexend"/>
                <a:cs typeface="Lexend"/>
                <a:sym typeface="Lexend"/>
              </a:rPr>
              <a:t>× 60</a:t>
            </a:r>
            <a:r>
              <a:rPr lang="en-GB" sz="2000">
                <a:latin typeface="Lexend"/>
                <a:ea typeface="Lexend"/>
                <a:cs typeface="Lexend"/>
                <a:sym typeface="Lexend"/>
              </a:rPr>
              <a:t> </a:t>
            </a:r>
            <a:endParaRPr sz="2000">
              <a:latin typeface="Lexend"/>
              <a:ea typeface="Lexend"/>
              <a:cs typeface="Lexend"/>
              <a:sym typeface="Lexend"/>
            </a:endParaRPr>
          </a:p>
        </p:txBody>
      </p:sp>
      <p:sp>
        <p:nvSpPr>
          <p:cNvPr id="1136" name="Google Shape;1136;p86"/>
          <p:cNvSpPr/>
          <p:nvPr/>
        </p:nvSpPr>
        <p:spPr>
          <a:xfrm>
            <a:off x="1293825" y="3926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3000 </a:t>
            </a:r>
            <a:r>
              <a:rPr lang="en-GB" sz="2100">
                <a:solidFill>
                  <a:schemeClr val="dk1"/>
                </a:solidFill>
                <a:latin typeface="Lexend"/>
                <a:ea typeface="Lexend"/>
                <a:cs typeface="Lexend"/>
                <a:sym typeface="Lexend"/>
              </a:rPr>
              <a:t>× 4000 </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137" name="Google Shape;1137;p86"/>
          <p:cNvSpPr/>
          <p:nvPr/>
        </p:nvSpPr>
        <p:spPr>
          <a:xfrm>
            <a:off x="4930850" y="1640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12 </a:t>
            </a:r>
            <a:r>
              <a:rPr lang="en-GB" sz="2100">
                <a:solidFill>
                  <a:schemeClr val="dk1"/>
                </a:solidFill>
                <a:latin typeface="Lexend"/>
                <a:ea typeface="Lexend"/>
                <a:cs typeface="Lexend"/>
                <a:sym typeface="Lexend"/>
              </a:rPr>
              <a:t>× 10</a:t>
            </a:r>
            <a:r>
              <a:rPr baseline="30000" lang="en-GB" sz="2100">
                <a:solidFill>
                  <a:schemeClr val="dk1"/>
                </a:solidFill>
                <a:latin typeface="Lexend"/>
                <a:ea typeface="Lexend"/>
                <a:cs typeface="Lexend"/>
                <a:sym typeface="Lexend"/>
              </a:rPr>
              <a:t>4</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138" name="Google Shape;1138;p86"/>
          <p:cNvSpPr/>
          <p:nvPr/>
        </p:nvSpPr>
        <p:spPr>
          <a:xfrm>
            <a:off x="4930850" y="2402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1.2 </a:t>
            </a:r>
            <a:r>
              <a:rPr lang="en-GB" sz="2100">
                <a:solidFill>
                  <a:schemeClr val="dk1"/>
                </a:solidFill>
                <a:latin typeface="Lexend"/>
                <a:ea typeface="Lexend"/>
                <a:cs typeface="Lexend"/>
                <a:sym typeface="Lexend"/>
              </a:rPr>
              <a:t>× 10</a:t>
            </a:r>
            <a:r>
              <a:rPr baseline="30000" lang="en-GB" sz="2100">
                <a:solidFill>
                  <a:schemeClr val="dk1"/>
                </a:solidFill>
                <a:latin typeface="Lexend"/>
                <a:ea typeface="Lexend"/>
                <a:cs typeface="Lexend"/>
                <a:sym typeface="Lexend"/>
              </a:rPr>
              <a:t>2 </a:t>
            </a:r>
            <a:r>
              <a:rPr lang="en-GB" sz="2000">
                <a:latin typeface="Lexend"/>
                <a:ea typeface="Lexend"/>
                <a:cs typeface="Lexend"/>
                <a:sym typeface="Lexend"/>
              </a:rPr>
              <a:t> </a:t>
            </a:r>
            <a:endParaRPr sz="2000">
              <a:latin typeface="Lexend"/>
              <a:ea typeface="Lexend"/>
              <a:cs typeface="Lexend"/>
              <a:sym typeface="Lexend"/>
            </a:endParaRPr>
          </a:p>
        </p:txBody>
      </p:sp>
      <p:sp>
        <p:nvSpPr>
          <p:cNvPr id="1139" name="Google Shape;1139;p86"/>
          <p:cNvSpPr/>
          <p:nvPr/>
        </p:nvSpPr>
        <p:spPr>
          <a:xfrm>
            <a:off x="4930850" y="3164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12 × 10</a:t>
            </a:r>
            <a:r>
              <a:rPr baseline="30000" lang="en-GB" sz="2100">
                <a:solidFill>
                  <a:schemeClr val="dk1"/>
                </a:solidFill>
                <a:latin typeface="Lexend"/>
                <a:ea typeface="Lexend"/>
                <a:cs typeface="Lexend"/>
                <a:sym typeface="Lexend"/>
              </a:rPr>
              <a:t>5 </a:t>
            </a:r>
            <a:r>
              <a:rPr lang="en-GB" sz="2000">
                <a:solidFill>
                  <a:schemeClr val="dk1"/>
                </a:solidFill>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sp>
        <p:nvSpPr>
          <p:cNvPr id="1140" name="Google Shape;1140;p86"/>
          <p:cNvSpPr/>
          <p:nvPr/>
        </p:nvSpPr>
        <p:spPr>
          <a:xfrm>
            <a:off x="4930850" y="3926450"/>
            <a:ext cx="2004300" cy="5811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1.2 × 10</a:t>
            </a:r>
            <a:r>
              <a:rPr baseline="30000" lang="en-GB" sz="2100">
                <a:solidFill>
                  <a:schemeClr val="dk1"/>
                </a:solidFill>
                <a:latin typeface="Lexend"/>
                <a:ea typeface="Lexend"/>
                <a:cs typeface="Lexend"/>
                <a:sym typeface="Lexend"/>
              </a:rPr>
              <a:t>7</a:t>
            </a:r>
            <a:r>
              <a:rPr lang="en-GB" sz="2100">
                <a:solidFill>
                  <a:schemeClr val="dk1"/>
                </a:solidFill>
                <a:latin typeface="Lexend"/>
                <a:ea typeface="Lexend"/>
                <a:cs typeface="Lexend"/>
                <a:sym typeface="Lexend"/>
              </a:rPr>
              <a:t> </a:t>
            </a:r>
            <a:r>
              <a:rPr lang="en-GB" sz="2100">
                <a:latin typeface="Lexend"/>
                <a:ea typeface="Lexend"/>
                <a:cs typeface="Lexend"/>
                <a:sym typeface="Lexend"/>
              </a:rPr>
              <a:t> </a:t>
            </a:r>
            <a:r>
              <a:rPr lang="en-GB" sz="2000">
                <a:latin typeface="Lexend"/>
                <a:ea typeface="Lexend"/>
                <a:cs typeface="Lexend"/>
                <a:sym typeface="Lexend"/>
              </a:rPr>
              <a:t> </a:t>
            </a:r>
            <a:endParaRPr sz="2000">
              <a:latin typeface="Lexend"/>
              <a:ea typeface="Lexend"/>
              <a:cs typeface="Lexend"/>
              <a:sym typeface="Lexend"/>
            </a:endParaRPr>
          </a:p>
        </p:txBody>
      </p:sp>
      <p:cxnSp>
        <p:nvCxnSpPr>
          <p:cNvPr id="1141" name="Google Shape;1141;p86"/>
          <p:cNvCxnSpPr>
            <a:stCxn id="1133" idx="3"/>
            <a:endCxn id="1137" idx="1"/>
          </p:cNvCxnSpPr>
          <p:nvPr/>
        </p:nvCxnSpPr>
        <p:spPr>
          <a:xfrm>
            <a:off x="3298125" y="1931000"/>
            <a:ext cx="1632600" cy="0"/>
          </a:xfrm>
          <a:prstGeom prst="straightConnector1">
            <a:avLst/>
          </a:prstGeom>
          <a:noFill/>
          <a:ln cap="flat" cmpd="sng" w="28575">
            <a:solidFill>
              <a:schemeClr val="dk2"/>
            </a:solidFill>
            <a:prstDash val="solid"/>
            <a:round/>
            <a:headEnd len="med" w="med" type="none"/>
            <a:tailEnd len="med" w="med" type="none"/>
          </a:ln>
        </p:spPr>
      </p:cxnSp>
      <p:cxnSp>
        <p:nvCxnSpPr>
          <p:cNvPr id="1142" name="Google Shape;1142;p86"/>
          <p:cNvCxnSpPr>
            <a:endCxn id="1138" idx="1"/>
          </p:cNvCxnSpPr>
          <p:nvPr/>
        </p:nvCxnSpPr>
        <p:spPr>
          <a:xfrm flipH="1" rot="10800000">
            <a:off x="3298250" y="2693000"/>
            <a:ext cx="1632600" cy="762000"/>
          </a:xfrm>
          <a:prstGeom prst="straightConnector1">
            <a:avLst/>
          </a:prstGeom>
          <a:noFill/>
          <a:ln cap="flat" cmpd="sng" w="28575">
            <a:solidFill>
              <a:schemeClr val="dk2"/>
            </a:solidFill>
            <a:prstDash val="solid"/>
            <a:round/>
            <a:headEnd len="med" w="med" type="none"/>
            <a:tailEnd len="med" w="med" type="none"/>
          </a:ln>
        </p:spPr>
      </p:cxnSp>
      <p:cxnSp>
        <p:nvCxnSpPr>
          <p:cNvPr id="1143" name="Google Shape;1143;p86"/>
          <p:cNvCxnSpPr>
            <a:stCxn id="1134" idx="3"/>
            <a:endCxn id="1139" idx="1"/>
          </p:cNvCxnSpPr>
          <p:nvPr/>
        </p:nvCxnSpPr>
        <p:spPr>
          <a:xfrm>
            <a:off x="3298125" y="2693000"/>
            <a:ext cx="1632600" cy="762000"/>
          </a:xfrm>
          <a:prstGeom prst="straightConnector1">
            <a:avLst/>
          </a:prstGeom>
          <a:noFill/>
          <a:ln cap="flat" cmpd="sng" w="28575">
            <a:solidFill>
              <a:schemeClr val="dk2"/>
            </a:solidFill>
            <a:prstDash val="solid"/>
            <a:round/>
            <a:headEnd len="med" w="med" type="none"/>
            <a:tailEnd len="med" w="med" type="none"/>
          </a:ln>
        </p:spPr>
      </p:cxnSp>
      <p:cxnSp>
        <p:nvCxnSpPr>
          <p:cNvPr id="1144" name="Google Shape;1144;p86"/>
          <p:cNvCxnSpPr>
            <a:stCxn id="1136" idx="3"/>
          </p:cNvCxnSpPr>
          <p:nvPr/>
        </p:nvCxnSpPr>
        <p:spPr>
          <a:xfrm>
            <a:off x="3298125" y="4217000"/>
            <a:ext cx="1632600" cy="399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87"/>
          <p:cNvSpPr txBox="1"/>
          <p:nvPr>
            <p:ph idx="1" type="body"/>
          </p:nvPr>
        </p:nvSpPr>
        <p:spPr>
          <a:xfrm>
            <a:off x="324000" y="759300"/>
            <a:ext cx="8634600" cy="84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3) Fill in the missing numbers. Make sure to show your working out.</a:t>
            </a:r>
            <a:endParaRPr sz="2000"/>
          </a:p>
          <a:p>
            <a:pPr indent="-355600" lvl="0" marL="457200" rtl="0" algn="ctr">
              <a:spcBef>
                <a:spcPts val="1000"/>
              </a:spcBef>
              <a:spcAft>
                <a:spcPts val="0"/>
              </a:spcAft>
              <a:buSzPts val="2000"/>
              <a:buAutoNum type="alphaLcParenR"/>
            </a:pPr>
            <a:r>
              <a:rPr lang="en-GB"/>
              <a:t>9000 × 100 = 9 × 10</a:t>
            </a:r>
            <a:r>
              <a:rPr baseline="30000" lang="en-GB" sz="2700"/>
              <a:t>⬚</a:t>
            </a:r>
            <a:endParaRPr sz="2000"/>
          </a:p>
          <a:p>
            <a:pPr indent="0" lvl="0" marL="0" rtl="0" algn="l">
              <a:spcBef>
                <a:spcPts val="1000"/>
              </a:spcBef>
              <a:spcAft>
                <a:spcPts val="1000"/>
              </a:spcAft>
              <a:buNone/>
            </a:pPr>
            <a:r>
              <a:t/>
            </a:r>
            <a:endParaRPr sz="2000"/>
          </a:p>
        </p:txBody>
      </p:sp>
      <p:sp>
        <p:nvSpPr>
          <p:cNvPr id="1150" name="Google Shape;1150;p8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1151" name="Google Shape;1151;p87"/>
          <p:cNvSpPr txBox="1"/>
          <p:nvPr/>
        </p:nvSpPr>
        <p:spPr>
          <a:xfrm>
            <a:off x="2700250" y="2532450"/>
            <a:ext cx="109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9</a:t>
            </a:r>
            <a:r>
              <a:rPr lang="en-GB" sz="2000">
                <a:solidFill>
                  <a:srgbClr val="000000"/>
                </a:solidFill>
                <a:latin typeface="Kalam"/>
                <a:ea typeface="Kalam"/>
                <a:cs typeface="Kalam"/>
                <a:sym typeface="Kalam"/>
              </a:rPr>
              <a:t> × </a:t>
            </a:r>
            <a:r>
              <a:rPr lang="en-GB" sz="2000">
                <a:latin typeface="Kalam"/>
                <a:ea typeface="Kalam"/>
                <a:cs typeface="Kalam"/>
                <a:sym typeface="Kalam"/>
              </a:rPr>
              <a:t>1000</a:t>
            </a:r>
            <a:endParaRPr sz="2000">
              <a:solidFill>
                <a:srgbClr val="000000"/>
              </a:solidFill>
              <a:latin typeface="Kalam"/>
              <a:ea typeface="Kalam"/>
              <a:cs typeface="Kalam"/>
              <a:sym typeface="Kalam"/>
            </a:endParaRPr>
          </a:p>
        </p:txBody>
      </p:sp>
      <p:sp>
        <p:nvSpPr>
          <p:cNvPr id="1152" name="Google Shape;1152;p87"/>
          <p:cNvSpPr txBox="1"/>
          <p:nvPr/>
        </p:nvSpPr>
        <p:spPr>
          <a:xfrm>
            <a:off x="4603800" y="2532450"/>
            <a:ext cx="106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a:t>
            </a:r>
            <a:r>
              <a:rPr lang="en-GB" sz="2000">
                <a:solidFill>
                  <a:srgbClr val="000000"/>
                </a:solidFill>
                <a:latin typeface="Kalam"/>
                <a:ea typeface="Kalam"/>
                <a:cs typeface="Kalam"/>
                <a:sym typeface="Kalam"/>
              </a:rPr>
              <a:t> × </a:t>
            </a:r>
            <a:r>
              <a:rPr lang="en-GB" sz="2000">
                <a:latin typeface="Kalam"/>
                <a:ea typeface="Kalam"/>
                <a:cs typeface="Kalam"/>
                <a:sym typeface="Kalam"/>
              </a:rPr>
              <a:t>100</a:t>
            </a:r>
            <a:endParaRPr sz="2000">
              <a:solidFill>
                <a:srgbClr val="000000"/>
              </a:solidFill>
              <a:latin typeface="Kalam"/>
              <a:ea typeface="Kalam"/>
              <a:cs typeface="Kalam"/>
              <a:sym typeface="Kalam"/>
            </a:endParaRPr>
          </a:p>
        </p:txBody>
      </p:sp>
      <p:sp>
        <p:nvSpPr>
          <p:cNvPr id="1153" name="Google Shape;1153;p87"/>
          <p:cNvSpPr txBox="1"/>
          <p:nvPr/>
        </p:nvSpPr>
        <p:spPr>
          <a:xfrm>
            <a:off x="4148950" y="25324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154" name="Google Shape;1154;p87"/>
          <p:cNvSpPr txBox="1"/>
          <p:nvPr/>
        </p:nvSpPr>
        <p:spPr>
          <a:xfrm>
            <a:off x="2963825" y="2848800"/>
            <a:ext cx="654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9</a:t>
            </a:r>
            <a:r>
              <a:rPr lang="en-GB" sz="2000">
                <a:solidFill>
                  <a:srgbClr val="000000"/>
                </a:solidFill>
                <a:latin typeface="Kalam"/>
                <a:ea typeface="Kalam"/>
                <a:cs typeface="Kalam"/>
                <a:sym typeface="Kalam"/>
              </a:rPr>
              <a:t> × </a:t>
            </a:r>
            <a:r>
              <a:rPr lang="en-GB" sz="2000">
                <a:latin typeface="Kalam"/>
                <a:ea typeface="Kalam"/>
                <a:cs typeface="Kalam"/>
                <a:sym typeface="Kalam"/>
              </a:rPr>
              <a:t>1</a:t>
            </a:r>
            <a:endParaRPr sz="2000">
              <a:solidFill>
                <a:srgbClr val="000000"/>
              </a:solidFill>
              <a:latin typeface="Kalam"/>
              <a:ea typeface="Kalam"/>
              <a:cs typeface="Kalam"/>
              <a:sym typeface="Kalam"/>
            </a:endParaRPr>
          </a:p>
        </p:txBody>
      </p:sp>
      <p:sp>
        <p:nvSpPr>
          <p:cNvPr id="1155" name="Google Shape;1155;p87"/>
          <p:cNvSpPr txBox="1"/>
          <p:nvPr/>
        </p:nvSpPr>
        <p:spPr>
          <a:xfrm>
            <a:off x="4603800" y="2819700"/>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1000 × 100</a:t>
            </a:r>
            <a:endParaRPr sz="2000">
              <a:solidFill>
                <a:srgbClr val="000000"/>
              </a:solidFill>
              <a:latin typeface="Kalam"/>
              <a:ea typeface="Kalam"/>
              <a:cs typeface="Kalam"/>
              <a:sym typeface="Kalam"/>
            </a:endParaRPr>
          </a:p>
        </p:txBody>
      </p:sp>
      <p:sp>
        <p:nvSpPr>
          <p:cNvPr id="1156" name="Google Shape;1156;p87"/>
          <p:cNvSpPr txBox="1"/>
          <p:nvPr/>
        </p:nvSpPr>
        <p:spPr>
          <a:xfrm>
            <a:off x="4148950" y="281970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157" name="Google Shape;1157;p87"/>
          <p:cNvSpPr txBox="1"/>
          <p:nvPr/>
        </p:nvSpPr>
        <p:spPr>
          <a:xfrm>
            <a:off x="3421025" y="3194250"/>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9</a:t>
            </a:r>
            <a:endParaRPr sz="2000">
              <a:solidFill>
                <a:srgbClr val="000000"/>
              </a:solidFill>
              <a:latin typeface="Kalam"/>
              <a:ea typeface="Kalam"/>
              <a:cs typeface="Kalam"/>
              <a:sym typeface="Kalam"/>
            </a:endParaRPr>
          </a:p>
        </p:txBody>
      </p:sp>
      <p:sp>
        <p:nvSpPr>
          <p:cNvPr id="1158" name="Google Shape;1158;p87"/>
          <p:cNvSpPr txBox="1"/>
          <p:nvPr/>
        </p:nvSpPr>
        <p:spPr>
          <a:xfrm>
            <a:off x="4603800" y="3165150"/>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10 000</a:t>
            </a:r>
            <a:endParaRPr sz="2000">
              <a:solidFill>
                <a:srgbClr val="000000"/>
              </a:solidFill>
              <a:latin typeface="Kalam"/>
              <a:ea typeface="Kalam"/>
              <a:cs typeface="Kalam"/>
              <a:sym typeface="Kalam"/>
            </a:endParaRPr>
          </a:p>
        </p:txBody>
      </p:sp>
      <p:sp>
        <p:nvSpPr>
          <p:cNvPr id="1159" name="Google Shape;1159;p87"/>
          <p:cNvSpPr txBox="1"/>
          <p:nvPr/>
        </p:nvSpPr>
        <p:spPr>
          <a:xfrm>
            <a:off x="4148950" y="31651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160" name="Google Shape;1160;p87"/>
          <p:cNvSpPr txBox="1"/>
          <p:nvPr/>
        </p:nvSpPr>
        <p:spPr>
          <a:xfrm>
            <a:off x="3421025" y="3575250"/>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9</a:t>
            </a:r>
            <a:endParaRPr sz="2000">
              <a:solidFill>
                <a:srgbClr val="000000"/>
              </a:solidFill>
              <a:latin typeface="Kalam"/>
              <a:ea typeface="Kalam"/>
              <a:cs typeface="Kalam"/>
              <a:sym typeface="Kalam"/>
            </a:endParaRPr>
          </a:p>
        </p:txBody>
      </p:sp>
      <p:sp>
        <p:nvSpPr>
          <p:cNvPr id="1161" name="Google Shape;1161;p87"/>
          <p:cNvSpPr txBox="1"/>
          <p:nvPr/>
        </p:nvSpPr>
        <p:spPr>
          <a:xfrm>
            <a:off x="4603800" y="3546150"/>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a:t>
            </a:r>
            <a:r>
              <a:rPr baseline="30000" lang="en-GB" sz="2000">
                <a:latin typeface="Kalam"/>
                <a:ea typeface="Kalam"/>
                <a:cs typeface="Kalam"/>
                <a:sym typeface="Kalam"/>
              </a:rPr>
              <a:t>5</a:t>
            </a:r>
            <a:endParaRPr baseline="30000" sz="2000">
              <a:solidFill>
                <a:srgbClr val="000000"/>
              </a:solidFill>
              <a:latin typeface="Kalam"/>
              <a:ea typeface="Kalam"/>
              <a:cs typeface="Kalam"/>
              <a:sym typeface="Kalam"/>
            </a:endParaRPr>
          </a:p>
        </p:txBody>
      </p:sp>
      <p:sp>
        <p:nvSpPr>
          <p:cNvPr id="1162" name="Google Shape;1162;p87"/>
          <p:cNvSpPr txBox="1"/>
          <p:nvPr/>
        </p:nvSpPr>
        <p:spPr>
          <a:xfrm>
            <a:off x="4148950" y="35461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cxnSp>
        <p:nvCxnSpPr>
          <p:cNvPr id="1163" name="Google Shape;1163;p87"/>
          <p:cNvCxnSpPr/>
          <p:nvPr/>
        </p:nvCxnSpPr>
        <p:spPr>
          <a:xfrm flipH="1">
            <a:off x="3507000" y="1831150"/>
            <a:ext cx="487200" cy="564000"/>
          </a:xfrm>
          <a:prstGeom prst="straightConnector1">
            <a:avLst/>
          </a:prstGeom>
          <a:noFill/>
          <a:ln cap="flat" cmpd="sng" w="38100">
            <a:solidFill>
              <a:srgbClr val="808080"/>
            </a:solidFill>
            <a:prstDash val="solid"/>
            <a:round/>
            <a:headEnd len="med" w="med" type="none"/>
            <a:tailEnd len="med" w="med" type="triangle"/>
          </a:ln>
        </p:spPr>
      </p:cxnSp>
      <p:cxnSp>
        <p:nvCxnSpPr>
          <p:cNvPr id="1164" name="Google Shape;1164;p87"/>
          <p:cNvCxnSpPr/>
          <p:nvPr/>
        </p:nvCxnSpPr>
        <p:spPr>
          <a:xfrm>
            <a:off x="4824900" y="1847850"/>
            <a:ext cx="256200" cy="583800"/>
          </a:xfrm>
          <a:prstGeom prst="straightConnector1">
            <a:avLst/>
          </a:prstGeom>
          <a:noFill/>
          <a:ln cap="flat" cmpd="sng" w="38100">
            <a:solidFill>
              <a:srgbClr val="808080"/>
            </a:solidFill>
            <a:prstDash val="solid"/>
            <a:round/>
            <a:headEnd len="med" w="med" type="none"/>
            <a:tailEnd len="med" w="med" type="triangle"/>
          </a:ln>
        </p:spPr>
      </p:cxnSp>
      <p:sp>
        <p:nvSpPr>
          <p:cNvPr id="1165" name="Google Shape;1165;p87"/>
          <p:cNvSpPr txBox="1"/>
          <p:nvPr/>
        </p:nvSpPr>
        <p:spPr>
          <a:xfrm>
            <a:off x="6025625" y="1232050"/>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5</a:t>
            </a:r>
            <a:endParaRPr sz="2000">
              <a:solidFill>
                <a:srgbClr val="000000"/>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88"/>
          <p:cNvSpPr txBox="1"/>
          <p:nvPr>
            <p:ph idx="1" type="body"/>
          </p:nvPr>
        </p:nvSpPr>
        <p:spPr>
          <a:xfrm>
            <a:off x="324000" y="759300"/>
            <a:ext cx="8699100" cy="915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t>3) Fill in the missing numbers. Make sure to show your working out.</a:t>
            </a:r>
            <a:endParaRPr sz="2000"/>
          </a:p>
          <a:p>
            <a:pPr indent="457200" lvl="0" marL="1828800" rtl="0" algn="l">
              <a:spcBef>
                <a:spcPts val="1000"/>
              </a:spcBef>
              <a:spcAft>
                <a:spcPts val="0"/>
              </a:spcAft>
              <a:buNone/>
            </a:pPr>
            <a:r>
              <a:rPr lang="en-GB" sz="2100"/>
              <a:t>b) 300 × 250 = 75 × 10</a:t>
            </a:r>
            <a:r>
              <a:rPr baseline="30000" lang="en-GB" sz="2600"/>
              <a:t>⬚ </a:t>
            </a:r>
            <a:r>
              <a:rPr lang="en-GB" sz="2100"/>
              <a:t> = 7.5 × 10</a:t>
            </a:r>
            <a:r>
              <a:rPr baseline="30000" lang="en-GB" sz="2600"/>
              <a:t>⬚</a:t>
            </a:r>
            <a:endParaRPr sz="1900"/>
          </a:p>
          <a:p>
            <a:pPr indent="0" lvl="0" marL="0" rtl="0" algn="l">
              <a:spcBef>
                <a:spcPts val="1000"/>
              </a:spcBef>
              <a:spcAft>
                <a:spcPts val="1000"/>
              </a:spcAft>
              <a:buNone/>
            </a:pPr>
            <a:r>
              <a:t/>
            </a:r>
            <a:endParaRPr sz="2000"/>
          </a:p>
        </p:txBody>
      </p:sp>
      <p:sp>
        <p:nvSpPr>
          <p:cNvPr id="1171" name="Google Shape;1171;p8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1172" name="Google Shape;1172;p88"/>
          <p:cNvSpPr txBox="1"/>
          <p:nvPr/>
        </p:nvSpPr>
        <p:spPr>
          <a:xfrm>
            <a:off x="2244375" y="2304050"/>
            <a:ext cx="109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3</a:t>
            </a:r>
            <a:r>
              <a:rPr lang="en-GB" sz="2000">
                <a:solidFill>
                  <a:srgbClr val="000000"/>
                </a:solidFill>
                <a:latin typeface="Kalam"/>
                <a:ea typeface="Kalam"/>
                <a:cs typeface="Kalam"/>
                <a:sym typeface="Kalam"/>
              </a:rPr>
              <a:t> × </a:t>
            </a:r>
            <a:r>
              <a:rPr lang="en-GB" sz="2000">
                <a:latin typeface="Kalam"/>
                <a:ea typeface="Kalam"/>
                <a:cs typeface="Kalam"/>
                <a:sym typeface="Kalam"/>
              </a:rPr>
              <a:t>100</a:t>
            </a:r>
            <a:endParaRPr sz="2000">
              <a:solidFill>
                <a:srgbClr val="000000"/>
              </a:solidFill>
              <a:latin typeface="Kalam"/>
              <a:ea typeface="Kalam"/>
              <a:cs typeface="Kalam"/>
              <a:sym typeface="Kalam"/>
            </a:endParaRPr>
          </a:p>
        </p:txBody>
      </p:sp>
      <p:sp>
        <p:nvSpPr>
          <p:cNvPr id="1173" name="Google Shape;1173;p88"/>
          <p:cNvSpPr txBox="1"/>
          <p:nvPr/>
        </p:nvSpPr>
        <p:spPr>
          <a:xfrm>
            <a:off x="4147925" y="2304050"/>
            <a:ext cx="106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25</a:t>
            </a:r>
            <a:r>
              <a:rPr lang="en-GB" sz="2000">
                <a:solidFill>
                  <a:srgbClr val="000000"/>
                </a:solidFill>
                <a:latin typeface="Kalam"/>
                <a:ea typeface="Kalam"/>
                <a:cs typeface="Kalam"/>
                <a:sym typeface="Kalam"/>
              </a:rPr>
              <a:t> × </a:t>
            </a:r>
            <a:r>
              <a:rPr lang="en-GB" sz="2000">
                <a:latin typeface="Kalam"/>
                <a:ea typeface="Kalam"/>
                <a:cs typeface="Kalam"/>
                <a:sym typeface="Kalam"/>
              </a:rPr>
              <a:t>10</a:t>
            </a:r>
            <a:endParaRPr sz="2000">
              <a:solidFill>
                <a:srgbClr val="000000"/>
              </a:solidFill>
              <a:latin typeface="Kalam"/>
              <a:ea typeface="Kalam"/>
              <a:cs typeface="Kalam"/>
              <a:sym typeface="Kalam"/>
            </a:endParaRPr>
          </a:p>
        </p:txBody>
      </p:sp>
      <p:sp>
        <p:nvSpPr>
          <p:cNvPr id="1174" name="Google Shape;1174;p88"/>
          <p:cNvSpPr txBox="1"/>
          <p:nvPr/>
        </p:nvSpPr>
        <p:spPr>
          <a:xfrm>
            <a:off x="3693075" y="23040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175" name="Google Shape;1175;p88"/>
          <p:cNvSpPr txBox="1"/>
          <p:nvPr/>
        </p:nvSpPr>
        <p:spPr>
          <a:xfrm>
            <a:off x="2286100" y="2620400"/>
            <a:ext cx="8763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3</a:t>
            </a:r>
            <a:r>
              <a:rPr lang="en-GB" sz="2000">
                <a:solidFill>
                  <a:srgbClr val="000000"/>
                </a:solidFill>
                <a:latin typeface="Kalam"/>
                <a:ea typeface="Kalam"/>
                <a:cs typeface="Kalam"/>
                <a:sym typeface="Kalam"/>
              </a:rPr>
              <a:t> × </a:t>
            </a:r>
            <a:r>
              <a:rPr lang="en-GB" sz="2000">
                <a:latin typeface="Kalam"/>
                <a:ea typeface="Kalam"/>
                <a:cs typeface="Kalam"/>
                <a:sym typeface="Kalam"/>
              </a:rPr>
              <a:t>25</a:t>
            </a:r>
            <a:endParaRPr sz="2000">
              <a:solidFill>
                <a:srgbClr val="000000"/>
              </a:solidFill>
              <a:latin typeface="Kalam"/>
              <a:ea typeface="Kalam"/>
              <a:cs typeface="Kalam"/>
              <a:sym typeface="Kalam"/>
            </a:endParaRPr>
          </a:p>
        </p:txBody>
      </p:sp>
      <p:sp>
        <p:nvSpPr>
          <p:cNvPr id="1176" name="Google Shape;1176;p88"/>
          <p:cNvSpPr txBox="1"/>
          <p:nvPr/>
        </p:nvSpPr>
        <p:spPr>
          <a:xfrm>
            <a:off x="4147925" y="2591300"/>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100 × 10</a:t>
            </a:r>
            <a:endParaRPr sz="2000">
              <a:solidFill>
                <a:srgbClr val="000000"/>
              </a:solidFill>
              <a:latin typeface="Kalam"/>
              <a:ea typeface="Kalam"/>
              <a:cs typeface="Kalam"/>
              <a:sym typeface="Kalam"/>
            </a:endParaRPr>
          </a:p>
        </p:txBody>
      </p:sp>
      <p:sp>
        <p:nvSpPr>
          <p:cNvPr id="1177" name="Google Shape;1177;p88"/>
          <p:cNvSpPr txBox="1"/>
          <p:nvPr/>
        </p:nvSpPr>
        <p:spPr>
          <a:xfrm>
            <a:off x="3693075" y="259130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178" name="Google Shape;1178;p88"/>
          <p:cNvSpPr txBox="1"/>
          <p:nvPr/>
        </p:nvSpPr>
        <p:spPr>
          <a:xfrm>
            <a:off x="2965150" y="2965850"/>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75</a:t>
            </a:r>
            <a:endParaRPr sz="2000">
              <a:solidFill>
                <a:srgbClr val="000000"/>
              </a:solidFill>
              <a:latin typeface="Kalam"/>
              <a:ea typeface="Kalam"/>
              <a:cs typeface="Kalam"/>
              <a:sym typeface="Kalam"/>
            </a:endParaRPr>
          </a:p>
        </p:txBody>
      </p:sp>
      <p:sp>
        <p:nvSpPr>
          <p:cNvPr id="1179" name="Google Shape;1179;p88"/>
          <p:cNvSpPr txBox="1"/>
          <p:nvPr/>
        </p:nvSpPr>
        <p:spPr>
          <a:xfrm>
            <a:off x="4147925" y="2936750"/>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1000</a:t>
            </a:r>
            <a:endParaRPr sz="2000">
              <a:solidFill>
                <a:srgbClr val="000000"/>
              </a:solidFill>
              <a:latin typeface="Kalam"/>
              <a:ea typeface="Kalam"/>
              <a:cs typeface="Kalam"/>
              <a:sym typeface="Kalam"/>
            </a:endParaRPr>
          </a:p>
        </p:txBody>
      </p:sp>
      <p:sp>
        <p:nvSpPr>
          <p:cNvPr id="1180" name="Google Shape;1180;p88"/>
          <p:cNvSpPr txBox="1"/>
          <p:nvPr/>
        </p:nvSpPr>
        <p:spPr>
          <a:xfrm>
            <a:off x="3693075" y="29367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181" name="Google Shape;1181;p88"/>
          <p:cNvSpPr txBox="1"/>
          <p:nvPr/>
        </p:nvSpPr>
        <p:spPr>
          <a:xfrm>
            <a:off x="2965150" y="3346850"/>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75</a:t>
            </a:r>
            <a:endParaRPr sz="2000">
              <a:solidFill>
                <a:srgbClr val="000000"/>
              </a:solidFill>
              <a:latin typeface="Kalam"/>
              <a:ea typeface="Kalam"/>
              <a:cs typeface="Kalam"/>
              <a:sym typeface="Kalam"/>
            </a:endParaRPr>
          </a:p>
        </p:txBody>
      </p:sp>
      <p:sp>
        <p:nvSpPr>
          <p:cNvPr id="1182" name="Google Shape;1182;p88"/>
          <p:cNvSpPr txBox="1"/>
          <p:nvPr/>
        </p:nvSpPr>
        <p:spPr>
          <a:xfrm>
            <a:off x="4147925" y="3317750"/>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a:t>
            </a:r>
            <a:r>
              <a:rPr baseline="30000" lang="en-GB" sz="2000">
                <a:latin typeface="Kalam"/>
                <a:ea typeface="Kalam"/>
                <a:cs typeface="Kalam"/>
                <a:sym typeface="Kalam"/>
              </a:rPr>
              <a:t>3</a:t>
            </a:r>
            <a:endParaRPr baseline="30000" sz="2000">
              <a:solidFill>
                <a:srgbClr val="000000"/>
              </a:solidFill>
              <a:latin typeface="Kalam"/>
              <a:ea typeface="Kalam"/>
              <a:cs typeface="Kalam"/>
              <a:sym typeface="Kalam"/>
            </a:endParaRPr>
          </a:p>
        </p:txBody>
      </p:sp>
      <p:sp>
        <p:nvSpPr>
          <p:cNvPr id="1183" name="Google Shape;1183;p88"/>
          <p:cNvSpPr txBox="1"/>
          <p:nvPr/>
        </p:nvSpPr>
        <p:spPr>
          <a:xfrm>
            <a:off x="3693075" y="33177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cxnSp>
        <p:nvCxnSpPr>
          <p:cNvPr id="1184" name="Google Shape;1184;p88"/>
          <p:cNvCxnSpPr/>
          <p:nvPr/>
        </p:nvCxnSpPr>
        <p:spPr>
          <a:xfrm flipH="1">
            <a:off x="2927050" y="1751750"/>
            <a:ext cx="401400" cy="427200"/>
          </a:xfrm>
          <a:prstGeom prst="straightConnector1">
            <a:avLst/>
          </a:prstGeom>
          <a:noFill/>
          <a:ln cap="flat" cmpd="sng" w="38100">
            <a:solidFill>
              <a:srgbClr val="808080"/>
            </a:solidFill>
            <a:prstDash val="solid"/>
            <a:round/>
            <a:headEnd len="med" w="med" type="none"/>
            <a:tailEnd len="med" w="med" type="triangle"/>
          </a:ln>
        </p:spPr>
      </p:cxnSp>
      <p:cxnSp>
        <p:nvCxnSpPr>
          <p:cNvPr id="1185" name="Google Shape;1185;p88"/>
          <p:cNvCxnSpPr/>
          <p:nvPr/>
        </p:nvCxnSpPr>
        <p:spPr>
          <a:xfrm>
            <a:off x="4098050" y="1674600"/>
            <a:ext cx="401100" cy="495900"/>
          </a:xfrm>
          <a:prstGeom prst="straightConnector1">
            <a:avLst/>
          </a:prstGeom>
          <a:noFill/>
          <a:ln cap="flat" cmpd="sng" w="38100">
            <a:solidFill>
              <a:srgbClr val="808080"/>
            </a:solidFill>
            <a:prstDash val="solid"/>
            <a:round/>
            <a:headEnd len="med" w="med" type="none"/>
            <a:tailEnd len="med" w="med" type="triangle"/>
          </a:ln>
        </p:spPr>
      </p:cxnSp>
      <p:sp>
        <p:nvSpPr>
          <p:cNvPr id="1186" name="Google Shape;1186;p88"/>
          <p:cNvSpPr txBox="1"/>
          <p:nvPr/>
        </p:nvSpPr>
        <p:spPr>
          <a:xfrm>
            <a:off x="2610769" y="3655118"/>
            <a:ext cx="10167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7.5 </a:t>
            </a:r>
            <a:r>
              <a:rPr lang="en-GB" sz="2000">
                <a:solidFill>
                  <a:schemeClr val="dk1"/>
                </a:solidFill>
                <a:latin typeface="Kalam"/>
                <a:ea typeface="Kalam"/>
                <a:cs typeface="Kalam"/>
                <a:sym typeface="Kalam"/>
              </a:rPr>
              <a:t>× 10</a:t>
            </a:r>
            <a:endParaRPr sz="2000">
              <a:solidFill>
                <a:srgbClr val="000000"/>
              </a:solidFill>
              <a:latin typeface="Kalam"/>
              <a:ea typeface="Kalam"/>
              <a:cs typeface="Kalam"/>
              <a:sym typeface="Kalam"/>
            </a:endParaRPr>
          </a:p>
        </p:txBody>
      </p:sp>
      <p:sp>
        <p:nvSpPr>
          <p:cNvPr id="1187" name="Google Shape;1187;p88"/>
          <p:cNvSpPr txBox="1"/>
          <p:nvPr/>
        </p:nvSpPr>
        <p:spPr>
          <a:xfrm>
            <a:off x="4147925" y="3651650"/>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a:t>
            </a:r>
            <a:r>
              <a:rPr baseline="30000" lang="en-GB" sz="2000">
                <a:latin typeface="Kalam"/>
                <a:ea typeface="Kalam"/>
                <a:cs typeface="Kalam"/>
                <a:sym typeface="Kalam"/>
              </a:rPr>
              <a:t>3</a:t>
            </a:r>
            <a:endParaRPr baseline="30000" sz="2000">
              <a:solidFill>
                <a:srgbClr val="000000"/>
              </a:solidFill>
              <a:latin typeface="Kalam"/>
              <a:ea typeface="Kalam"/>
              <a:cs typeface="Kalam"/>
              <a:sym typeface="Kalam"/>
            </a:endParaRPr>
          </a:p>
        </p:txBody>
      </p:sp>
      <p:sp>
        <p:nvSpPr>
          <p:cNvPr id="1188" name="Google Shape;1188;p88"/>
          <p:cNvSpPr txBox="1"/>
          <p:nvPr/>
        </p:nvSpPr>
        <p:spPr>
          <a:xfrm>
            <a:off x="3693075" y="36516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189" name="Google Shape;1189;p88"/>
          <p:cNvSpPr txBox="1"/>
          <p:nvPr/>
        </p:nvSpPr>
        <p:spPr>
          <a:xfrm>
            <a:off x="3162399" y="3959925"/>
            <a:ext cx="4653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7.5 </a:t>
            </a:r>
            <a:endParaRPr sz="2000">
              <a:solidFill>
                <a:srgbClr val="000000"/>
              </a:solidFill>
              <a:latin typeface="Kalam"/>
              <a:ea typeface="Kalam"/>
              <a:cs typeface="Kalam"/>
              <a:sym typeface="Kalam"/>
            </a:endParaRPr>
          </a:p>
        </p:txBody>
      </p:sp>
      <p:sp>
        <p:nvSpPr>
          <p:cNvPr id="1190" name="Google Shape;1190;p88"/>
          <p:cNvSpPr txBox="1"/>
          <p:nvPr/>
        </p:nvSpPr>
        <p:spPr>
          <a:xfrm>
            <a:off x="4071725" y="3956450"/>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 </a:t>
            </a:r>
            <a:r>
              <a:rPr lang="en-GB" sz="2000">
                <a:solidFill>
                  <a:schemeClr val="dk1"/>
                </a:solidFill>
                <a:latin typeface="Kalam"/>
                <a:ea typeface="Kalam"/>
                <a:cs typeface="Kalam"/>
                <a:sym typeface="Kalam"/>
              </a:rPr>
              <a:t>× </a:t>
            </a:r>
            <a:r>
              <a:rPr lang="en-GB" sz="2000">
                <a:latin typeface="Kalam"/>
                <a:ea typeface="Kalam"/>
                <a:cs typeface="Kalam"/>
                <a:sym typeface="Kalam"/>
              </a:rPr>
              <a:t>10</a:t>
            </a:r>
            <a:r>
              <a:rPr baseline="30000" lang="en-GB" sz="2000">
                <a:latin typeface="Kalam"/>
                <a:ea typeface="Kalam"/>
                <a:cs typeface="Kalam"/>
                <a:sym typeface="Kalam"/>
              </a:rPr>
              <a:t>3</a:t>
            </a:r>
            <a:endParaRPr baseline="30000" sz="2000">
              <a:solidFill>
                <a:srgbClr val="000000"/>
              </a:solidFill>
              <a:latin typeface="Kalam"/>
              <a:ea typeface="Kalam"/>
              <a:cs typeface="Kalam"/>
              <a:sym typeface="Kalam"/>
            </a:endParaRPr>
          </a:p>
        </p:txBody>
      </p:sp>
      <p:sp>
        <p:nvSpPr>
          <p:cNvPr id="1191" name="Google Shape;1191;p88"/>
          <p:cNvSpPr txBox="1"/>
          <p:nvPr/>
        </p:nvSpPr>
        <p:spPr>
          <a:xfrm>
            <a:off x="3693075" y="39564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192" name="Google Shape;1192;p88"/>
          <p:cNvSpPr txBox="1"/>
          <p:nvPr/>
        </p:nvSpPr>
        <p:spPr>
          <a:xfrm>
            <a:off x="3162399" y="4264725"/>
            <a:ext cx="4653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7.5 </a:t>
            </a:r>
            <a:endParaRPr sz="2000">
              <a:solidFill>
                <a:srgbClr val="000000"/>
              </a:solidFill>
              <a:latin typeface="Kalam"/>
              <a:ea typeface="Kalam"/>
              <a:cs typeface="Kalam"/>
              <a:sym typeface="Kalam"/>
            </a:endParaRPr>
          </a:p>
        </p:txBody>
      </p:sp>
      <p:sp>
        <p:nvSpPr>
          <p:cNvPr id="1193" name="Google Shape;1193;p88"/>
          <p:cNvSpPr txBox="1"/>
          <p:nvPr/>
        </p:nvSpPr>
        <p:spPr>
          <a:xfrm>
            <a:off x="4071725" y="4261250"/>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a:t>
            </a:r>
            <a:r>
              <a:rPr baseline="30000" lang="en-GB" sz="2000">
                <a:latin typeface="Kalam"/>
                <a:ea typeface="Kalam"/>
                <a:cs typeface="Kalam"/>
                <a:sym typeface="Kalam"/>
              </a:rPr>
              <a:t>4</a:t>
            </a:r>
            <a:endParaRPr baseline="30000" sz="2000">
              <a:solidFill>
                <a:srgbClr val="000000"/>
              </a:solidFill>
              <a:latin typeface="Kalam"/>
              <a:ea typeface="Kalam"/>
              <a:cs typeface="Kalam"/>
              <a:sym typeface="Kalam"/>
            </a:endParaRPr>
          </a:p>
        </p:txBody>
      </p:sp>
      <p:sp>
        <p:nvSpPr>
          <p:cNvPr id="1194" name="Google Shape;1194;p88"/>
          <p:cNvSpPr txBox="1"/>
          <p:nvPr/>
        </p:nvSpPr>
        <p:spPr>
          <a:xfrm>
            <a:off x="3693075" y="42612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195" name="Google Shape;1195;p88"/>
          <p:cNvSpPr txBox="1"/>
          <p:nvPr/>
        </p:nvSpPr>
        <p:spPr>
          <a:xfrm>
            <a:off x="5220900" y="1127400"/>
            <a:ext cx="4011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3</a:t>
            </a:r>
            <a:endParaRPr/>
          </a:p>
        </p:txBody>
      </p:sp>
      <p:sp>
        <p:nvSpPr>
          <p:cNvPr id="1196" name="Google Shape;1196;p88"/>
          <p:cNvSpPr txBox="1"/>
          <p:nvPr/>
        </p:nvSpPr>
        <p:spPr>
          <a:xfrm>
            <a:off x="6739425" y="1127400"/>
            <a:ext cx="4011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89"/>
          <p:cNvSpPr txBox="1"/>
          <p:nvPr>
            <p:ph idx="1" type="body"/>
          </p:nvPr>
        </p:nvSpPr>
        <p:spPr>
          <a:xfrm>
            <a:off x="324000" y="759300"/>
            <a:ext cx="8652300" cy="721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3) Fill in the missing numbers. Make sure to show your working out.</a:t>
            </a:r>
            <a:endParaRPr sz="2000"/>
          </a:p>
          <a:p>
            <a:pPr indent="0" lvl="0" marL="457200" rtl="0" algn="ctr">
              <a:spcBef>
                <a:spcPts val="1000"/>
              </a:spcBef>
              <a:spcAft>
                <a:spcPts val="0"/>
              </a:spcAft>
              <a:buNone/>
            </a:pPr>
            <a:r>
              <a:rPr lang="en-GB" sz="2100"/>
              <a:t>c) 4000 × 1500 = 60 × 10</a:t>
            </a:r>
            <a:r>
              <a:rPr baseline="30000" lang="en-GB" sz="2600"/>
              <a:t>⬚ </a:t>
            </a:r>
            <a:r>
              <a:rPr lang="en-GB" sz="2100"/>
              <a:t> = 6 × 10</a:t>
            </a:r>
            <a:r>
              <a:rPr baseline="30000" lang="en-GB" sz="2600"/>
              <a:t>⬚ </a:t>
            </a:r>
            <a:r>
              <a:rPr lang="en-GB" sz="2100"/>
              <a:t> </a:t>
            </a:r>
            <a:endParaRPr sz="1900"/>
          </a:p>
          <a:p>
            <a:pPr indent="0" lvl="0" marL="0" rtl="0" algn="l">
              <a:spcBef>
                <a:spcPts val="1000"/>
              </a:spcBef>
              <a:spcAft>
                <a:spcPts val="1000"/>
              </a:spcAft>
              <a:buNone/>
            </a:pPr>
            <a:r>
              <a:t/>
            </a:r>
            <a:endParaRPr sz="2000"/>
          </a:p>
        </p:txBody>
      </p:sp>
      <p:sp>
        <p:nvSpPr>
          <p:cNvPr id="1202" name="Google Shape;1202;p8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1203" name="Google Shape;1203;p89"/>
          <p:cNvSpPr txBox="1"/>
          <p:nvPr/>
        </p:nvSpPr>
        <p:spPr>
          <a:xfrm>
            <a:off x="1929850" y="2301938"/>
            <a:ext cx="109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4</a:t>
            </a:r>
            <a:r>
              <a:rPr lang="en-GB" sz="2000">
                <a:solidFill>
                  <a:srgbClr val="000000"/>
                </a:solidFill>
                <a:latin typeface="Kalam"/>
                <a:ea typeface="Kalam"/>
                <a:cs typeface="Kalam"/>
                <a:sym typeface="Kalam"/>
              </a:rPr>
              <a:t> × </a:t>
            </a:r>
            <a:r>
              <a:rPr lang="en-GB" sz="2000">
                <a:latin typeface="Kalam"/>
                <a:ea typeface="Kalam"/>
                <a:cs typeface="Kalam"/>
                <a:sym typeface="Kalam"/>
              </a:rPr>
              <a:t>1000</a:t>
            </a:r>
            <a:endParaRPr sz="2000">
              <a:solidFill>
                <a:srgbClr val="000000"/>
              </a:solidFill>
              <a:latin typeface="Kalam"/>
              <a:ea typeface="Kalam"/>
              <a:cs typeface="Kalam"/>
              <a:sym typeface="Kalam"/>
            </a:endParaRPr>
          </a:p>
        </p:txBody>
      </p:sp>
      <p:sp>
        <p:nvSpPr>
          <p:cNvPr id="1204" name="Google Shape;1204;p89"/>
          <p:cNvSpPr txBox="1"/>
          <p:nvPr/>
        </p:nvSpPr>
        <p:spPr>
          <a:xfrm>
            <a:off x="3833400" y="2301938"/>
            <a:ext cx="106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15</a:t>
            </a:r>
            <a:r>
              <a:rPr lang="en-GB" sz="2000">
                <a:solidFill>
                  <a:srgbClr val="000000"/>
                </a:solidFill>
                <a:latin typeface="Kalam"/>
                <a:ea typeface="Kalam"/>
                <a:cs typeface="Kalam"/>
                <a:sym typeface="Kalam"/>
              </a:rPr>
              <a:t> × </a:t>
            </a:r>
            <a:r>
              <a:rPr lang="en-GB" sz="2000">
                <a:latin typeface="Kalam"/>
                <a:ea typeface="Kalam"/>
                <a:cs typeface="Kalam"/>
                <a:sym typeface="Kalam"/>
              </a:rPr>
              <a:t>100</a:t>
            </a:r>
            <a:endParaRPr sz="2000">
              <a:solidFill>
                <a:srgbClr val="000000"/>
              </a:solidFill>
              <a:latin typeface="Kalam"/>
              <a:ea typeface="Kalam"/>
              <a:cs typeface="Kalam"/>
              <a:sym typeface="Kalam"/>
            </a:endParaRPr>
          </a:p>
        </p:txBody>
      </p:sp>
      <p:sp>
        <p:nvSpPr>
          <p:cNvPr id="1205" name="Google Shape;1205;p89"/>
          <p:cNvSpPr txBox="1"/>
          <p:nvPr/>
        </p:nvSpPr>
        <p:spPr>
          <a:xfrm>
            <a:off x="3378550" y="2301938"/>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206" name="Google Shape;1206;p89"/>
          <p:cNvSpPr txBox="1"/>
          <p:nvPr/>
        </p:nvSpPr>
        <p:spPr>
          <a:xfrm>
            <a:off x="2193425" y="2618300"/>
            <a:ext cx="7911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4</a:t>
            </a:r>
            <a:r>
              <a:rPr lang="en-GB" sz="2000">
                <a:solidFill>
                  <a:srgbClr val="000000"/>
                </a:solidFill>
                <a:latin typeface="Kalam"/>
                <a:ea typeface="Kalam"/>
                <a:cs typeface="Kalam"/>
                <a:sym typeface="Kalam"/>
              </a:rPr>
              <a:t> × </a:t>
            </a:r>
            <a:r>
              <a:rPr lang="en-GB" sz="2000">
                <a:latin typeface="Kalam"/>
                <a:ea typeface="Kalam"/>
                <a:cs typeface="Kalam"/>
                <a:sym typeface="Kalam"/>
              </a:rPr>
              <a:t>15</a:t>
            </a:r>
            <a:endParaRPr sz="2000">
              <a:solidFill>
                <a:srgbClr val="000000"/>
              </a:solidFill>
              <a:latin typeface="Kalam"/>
              <a:ea typeface="Kalam"/>
              <a:cs typeface="Kalam"/>
              <a:sym typeface="Kalam"/>
            </a:endParaRPr>
          </a:p>
        </p:txBody>
      </p:sp>
      <p:sp>
        <p:nvSpPr>
          <p:cNvPr id="1207" name="Google Shape;1207;p89"/>
          <p:cNvSpPr txBox="1"/>
          <p:nvPr/>
        </p:nvSpPr>
        <p:spPr>
          <a:xfrm>
            <a:off x="3833400" y="2589188"/>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1000 × 100</a:t>
            </a:r>
            <a:endParaRPr sz="2000">
              <a:solidFill>
                <a:srgbClr val="000000"/>
              </a:solidFill>
              <a:latin typeface="Kalam"/>
              <a:ea typeface="Kalam"/>
              <a:cs typeface="Kalam"/>
              <a:sym typeface="Kalam"/>
            </a:endParaRPr>
          </a:p>
        </p:txBody>
      </p:sp>
      <p:sp>
        <p:nvSpPr>
          <p:cNvPr id="1208" name="Google Shape;1208;p89"/>
          <p:cNvSpPr txBox="1"/>
          <p:nvPr/>
        </p:nvSpPr>
        <p:spPr>
          <a:xfrm>
            <a:off x="3378550" y="2589188"/>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209" name="Google Shape;1209;p89"/>
          <p:cNvSpPr txBox="1"/>
          <p:nvPr/>
        </p:nvSpPr>
        <p:spPr>
          <a:xfrm>
            <a:off x="2650625" y="2963738"/>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60</a:t>
            </a:r>
            <a:endParaRPr sz="2000">
              <a:solidFill>
                <a:srgbClr val="000000"/>
              </a:solidFill>
              <a:latin typeface="Kalam"/>
              <a:ea typeface="Kalam"/>
              <a:cs typeface="Kalam"/>
              <a:sym typeface="Kalam"/>
            </a:endParaRPr>
          </a:p>
        </p:txBody>
      </p:sp>
      <p:sp>
        <p:nvSpPr>
          <p:cNvPr id="1210" name="Google Shape;1210;p89"/>
          <p:cNvSpPr txBox="1"/>
          <p:nvPr/>
        </p:nvSpPr>
        <p:spPr>
          <a:xfrm>
            <a:off x="3833400" y="2934638"/>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100 000</a:t>
            </a:r>
            <a:endParaRPr sz="2000">
              <a:solidFill>
                <a:srgbClr val="000000"/>
              </a:solidFill>
              <a:latin typeface="Kalam"/>
              <a:ea typeface="Kalam"/>
              <a:cs typeface="Kalam"/>
              <a:sym typeface="Kalam"/>
            </a:endParaRPr>
          </a:p>
        </p:txBody>
      </p:sp>
      <p:sp>
        <p:nvSpPr>
          <p:cNvPr id="1211" name="Google Shape;1211;p89"/>
          <p:cNvSpPr txBox="1"/>
          <p:nvPr/>
        </p:nvSpPr>
        <p:spPr>
          <a:xfrm>
            <a:off x="3378550" y="2934638"/>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212" name="Google Shape;1212;p89"/>
          <p:cNvSpPr txBox="1"/>
          <p:nvPr/>
        </p:nvSpPr>
        <p:spPr>
          <a:xfrm>
            <a:off x="2650625" y="3344738"/>
            <a:ext cx="3339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60</a:t>
            </a:r>
            <a:endParaRPr sz="2000">
              <a:solidFill>
                <a:srgbClr val="000000"/>
              </a:solidFill>
              <a:latin typeface="Kalam"/>
              <a:ea typeface="Kalam"/>
              <a:cs typeface="Kalam"/>
              <a:sym typeface="Kalam"/>
            </a:endParaRPr>
          </a:p>
        </p:txBody>
      </p:sp>
      <p:sp>
        <p:nvSpPr>
          <p:cNvPr id="1213" name="Google Shape;1213;p89"/>
          <p:cNvSpPr txBox="1"/>
          <p:nvPr/>
        </p:nvSpPr>
        <p:spPr>
          <a:xfrm>
            <a:off x="3833400" y="3315638"/>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a:t>
            </a:r>
            <a:r>
              <a:rPr baseline="30000" lang="en-GB" sz="2000">
                <a:latin typeface="Kalam"/>
                <a:ea typeface="Kalam"/>
                <a:cs typeface="Kalam"/>
                <a:sym typeface="Kalam"/>
              </a:rPr>
              <a:t>5</a:t>
            </a:r>
            <a:endParaRPr baseline="30000" sz="2000">
              <a:solidFill>
                <a:srgbClr val="000000"/>
              </a:solidFill>
              <a:latin typeface="Kalam"/>
              <a:ea typeface="Kalam"/>
              <a:cs typeface="Kalam"/>
              <a:sym typeface="Kalam"/>
            </a:endParaRPr>
          </a:p>
        </p:txBody>
      </p:sp>
      <p:sp>
        <p:nvSpPr>
          <p:cNvPr id="1214" name="Google Shape;1214;p89"/>
          <p:cNvSpPr txBox="1"/>
          <p:nvPr/>
        </p:nvSpPr>
        <p:spPr>
          <a:xfrm>
            <a:off x="3378550" y="3315638"/>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cxnSp>
        <p:nvCxnSpPr>
          <p:cNvPr id="1215" name="Google Shape;1215;p89"/>
          <p:cNvCxnSpPr/>
          <p:nvPr/>
        </p:nvCxnSpPr>
        <p:spPr>
          <a:xfrm flipH="1">
            <a:off x="2595000" y="1725313"/>
            <a:ext cx="485100" cy="483900"/>
          </a:xfrm>
          <a:prstGeom prst="straightConnector1">
            <a:avLst/>
          </a:prstGeom>
          <a:noFill/>
          <a:ln cap="flat" cmpd="sng" w="38100">
            <a:solidFill>
              <a:srgbClr val="808080"/>
            </a:solidFill>
            <a:prstDash val="solid"/>
            <a:round/>
            <a:headEnd len="med" w="med" type="none"/>
            <a:tailEnd len="med" w="med" type="triangle"/>
          </a:ln>
        </p:spPr>
      </p:cxnSp>
      <p:cxnSp>
        <p:nvCxnSpPr>
          <p:cNvPr id="1216" name="Google Shape;1216;p89"/>
          <p:cNvCxnSpPr/>
          <p:nvPr/>
        </p:nvCxnSpPr>
        <p:spPr>
          <a:xfrm>
            <a:off x="3988450" y="1737038"/>
            <a:ext cx="388200" cy="414000"/>
          </a:xfrm>
          <a:prstGeom prst="straightConnector1">
            <a:avLst/>
          </a:prstGeom>
          <a:noFill/>
          <a:ln cap="flat" cmpd="sng" w="38100">
            <a:solidFill>
              <a:srgbClr val="808080"/>
            </a:solidFill>
            <a:prstDash val="solid"/>
            <a:round/>
            <a:headEnd len="med" w="med" type="none"/>
            <a:tailEnd len="med" w="med" type="triangle"/>
          </a:ln>
        </p:spPr>
      </p:cxnSp>
      <p:sp>
        <p:nvSpPr>
          <p:cNvPr id="1217" name="Google Shape;1217;p89"/>
          <p:cNvSpPr txBox="1"/>
          <p:nvPr/>
        </p:nvSpPr>
        <p:spPr>
          <a:xfrm>
            <a:off x="2286125" y="3683343"/>
            <a:ext cx="10167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6</a:t>
            </a:r>
            <a:r>
              <a:rPr lang="en-GB" sz="2000">
                <a:latin typeface="Kalam"/>
                <a:ea typeface="Kalam"/>
                <a:cs typeface="Kalam"/>
                <a:sym typeface="Kalam"/>
              </a:rPr>
              <a:t> </a:t>
            </a:r>
            <a:r>
              <a:rPr lang="en-GB" sz="2000">
                <a:solidFill>
                  <a:schemeClr val="dk1"/>
                </a:solidFill>
                <a:latin typeface="Kalam"/>
                <a:ea typeface="Kalam"/>
                <a:cs typeface="Kalam"/>
                <a:sym typeface="Kalam"/>
              </a:rPr>
              <a:t>× 10</a:t>
            </a:r>
            <a:endParaRPr sz="2000">
              <a:solidFill>
                <a:srgbClr val="000000"/>
              </a:solidFill>
              <a:latin typeface="Kalam"/>
              <a:ea typeface="Kalam"/>
              <a:cs typeface="Kalam"/>
              <a:sym typeface="Kalam"/>
            </a:endParaRPr>
          </a:p>
        </p:txBody>
      </p:sp>
      <p:sp>
        <p:nvSpPr>
          <p:cNvPr id="1218" name="Google Shape;1218;p89"/>
          <p:cNvSpPr txBox="1"/>
          <p:nvPr/>
        </p:nvSpPr>
        <p:spPr>
          <a:xfrm>
            <a:off x="3823281" y="3679875"/>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a:t>
            </a:r>
            <a:r>
              <a:rPr baseline="30000" lang="en-GB" sz="2000">
                <a:latin typeface="Kalam"/>
                <a:ea typeface="Kalam"/>
                <a:cs typeface="Kalam"/>
                <a:sym typeface="Kalam"/>
              </a:rPr>
              <a:t>5</a:t>
            </a:r>
            <a:endParaRPr baseline="30000" sz="2000">
              <a:solidFill>
                <a:srgbClr val="000000"/>
              </a:solidFill>
              <a:latin typeface="Kalam"/>
              <a:ea typeface="Kalam"/>
              <a:cs typeface="Kalam"/>
              <a:sym typeface="Kalam"/>
            </a:endParaRPr>
          </a:p>
        </p:txBody>
      </p:sp>
      <p:sp>
        <p:nvSpPr>
          <p:cNvPr id="1219" name="Google Shape;1219;p89"/>
          <p:cNvSpPr txBox="1"/>
          <p:nvPr/>
        </p:nvSpPr>
        <p:spPr>
          <a:xfrm>
            <a:off x="3368431" y="367987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220" name="Google Shape;1220;p89"/>
          <p:cNvSpPr txBox="1"/>
          <p:nvPr/>
        </p:nvSpPr>
        <p:spPr>
          <a:xfrm>
            <a:off x="2837755" y="3988150"/>
            <a:ext cx="4653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6</a:t>
            </a:r>
            <a:r>
              <a:rPr lang="en-GB" sz="2000">
                <a:latin typeface="Kalam"/>
                <a:ea typeface="Kalam"/>
                <a:cs typeface="Kalam"/>
                <a:sym typeface="Kalam"/>
              </a:rPr>
              <a:t> </a:t>
            </a:r>
            <a:endParaRPr sz="2000">
              <a:solidFill>
                <a:srgbClr val="000000"/>
              </a:solidFill>
              <a:latin typeface="Kalam"/>
              <a:ea typeface="Kalam"/>
              <a:cs typeface="Kalam"/>
              <a:sym typeface="Kalam"/>
            </a:endParaRPr>
          </a:p>
        </p:txBody>
      </p:sp>
      <p:sp>
        <p:nvSpPr>
          <p:cNvPr id="1221" name="Google Shape;1221;p89"/>
          <p:cNvSpPr txBox="1"/>
          <p:nvPr/>
        </p:nvSpPr>
        <p:spPr>
          <a:xfrm>
            <a:off x="3747081" y="3984675"/>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 </a:t>
            </a:r>
            <a:r>
              <a:rPr lang="en-GB" sz="2000">
                <a:solidFill>
                  <a:schemeClr val="dk1"/>
                </a:solidFill>
                <a:latin typeface="Kalam"/>
                <a:ea typeface="Kalam"/>
                <a:cs typeface="Kalam"/>
                <a:sym typeface="Kalam"/>
              </a:rPr>
              <a:t>× </a:t>
            </a:r>
            <a:r>
              <a:rPr lang="en-GB" sz="2000">
                <a:latin typeface="Kalam"/>
                <a:ea typeface="Kalam"/>
                <a:cs typeface="Kalam"/>
                <a:sym typeface="Kalam"/>
              </a:rPr>
              <a:t>10</a:t>
            </a:r>
            <a:r>
              <a:rPr baseline="30000" lang="en-GB" sz="2000">
                <a:latin typeface="Kalam"/>
                <a:ea typeface="Kalam"/>
                <a:cs typeface="Kalam"/>
                <a:sym typeface="Kalam"/>
              </a:rPr>
              <a:t>5</a:t>
            </a:r>
            <a:endParaRPr baseline="30000" sz="2000">
              <a:solidFill>
                <a:srgbClr val="000000"/>
              </a:solidFill>
              <a:latin typeface="Kalam"/>
              <a:ea typeface="Kalam"/>
              <a:cs typeface="Kalam"/>
              <a:sym typeface="Kalam"/>
            </a:endParaRPr>
          </a:p>
        </p:txBody>
      </p:sp>
      <p:sp>
        <p:nvSpPr>
          <p:cNvPr id="1222" name="Google Shape;1222;p89"/>
          <p:cNvSpPr txBox="1"/>
          <p:nvPr/>
        </p:nvSpPr>
        <p:spPr>
          <a:xfrm>
            <a:off x="3368431" y="398467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223" name="Google Shape;1223;p89"/>
          <p:cNvSpPr txBox="1"/>
          <p:nvPr/>
        </p:nvSpPr>
        <p:spPr>
          <a:xfrm>
            <a:off x="2837755" y="4292950"/>
            <a:ext cx="4653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6</a:t>
            </a:r>
            <a:r>
              <a:rPr lang="en-GB" sz="2000">
                <a:latin typeface="Kalam"/>
                <a:ea typeface="Kalam"/>
                <a:cs typeface="Kalam"/>
                <a:sym typeface="Kalam"/>
              </a:rPr>
              <a:t> </a:t>
            </a:r>
            <a:endParaRPr sz="2000">
              <a:solidFill>
                <a:srgbClr val="000000"/>
              </a:solidFill>
              <a:latin typeface="Kalam"/>
              <a:ea typeface="Kalam"/>
              <a:cs typeface="Kalam"/>
              <a:sym typeface="Kalam"/>
            </a:endParaRPr>
          </a:p>
        </p:txBody>
      </p:sp>
      <p:sp>
        <p:nvSpPr>
          <p:cNvPr id="1224" name="Google Shape;1224;p89"/>
          <p:cNvSpPr txBox="1"/>
          <p:nvPr/>
        </p:nvSpPr>
        <p:spPr>
          <a:xfrm>
            <a:off x="3747081" y="4289475"/>
            <a:ext cx="1551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10</a:t>
            </a:r>
            <a:r>
              <a:rPr baseline="30000" lang="en-GB" sz="2000">
                <a:latin typeface="Kalam"/>
                <a:ea typeface="Kalam"/>
                <a:cs typeface="Kalam"/>
                <a:sym typeface="Kalam"/>
              </a:rPr>
              <a:t>6</a:t>
            </a:r>
            <a:endParaRPr baseline="30000" sz="2000">
              <a:solidFill>
                <a:srgbClr val="000000"/>
              </a:solidFill>
              <a:latin typeface="Kalam"/>
              <a:ea typeface="Kalam"/>
              <a:cs typeface="Kalam"/>
              <a:sym typeface="Kalam"/>
            </a:endParaRPr>
          </a:p>
        </p:txBody>
      </p:sp>
      <p:sp>
        <p:nvSpPr>
          <p:cNvPr id="1225" name="Google Shape;1225;p89"/>
          <p:cNvSpPr txBox="1"/>
          <p:nvPr/>
        </p:nvSpPr>
        <p:spPr>
          <a:xfrm>
            <a:off x="3368431" y="428947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226" name="Google Shape;1226;p89"/>
          <p:cNvSpPr txBox="1"/>
          <p:nvPr/>
        </p:nvSpPr>
        <p:spPr>
          <a:xfrm>
            <a:off x="5575000" y="1127400"/>
            <a:ext cx="4011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5</a:t>
            </a:r>
            <a:endParaRPr/>
          </a:p>
        </p:txBody>
      </p:sp>
      <p:sp>
        <p:nvSpPr>
          <p:cNvPr id="1227" name="Google Shape;1227;p89"/>
          <p:cNvSpPr txBox="1"/>
          <p:nvPr/>
        </p:nvSpPr>
        <p:spPr>
          <a:xfrm>
            <a:off x="6883175" y="1127400"/>
            <a:ext cx="4011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90"/>
          <p:cNvSpPr txBox="1"/>
          <p:nvPr/>
        </p:nvSpPr>
        <p:spPr>
          <a:xfrm>
            <a:off x="572250" y="2838725"/>
            <a:ext cx="2225100" cy="45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Kalam"/>
                <a:ea typeface="Kalam"/>
                <a:cs typeface="Kalam"/>
                <a:sym typeface="Kalam"/>
              </a:rPr>
              <a:t>E.g. 240 × 10</a:t>
            </a:r>
            <a:r>
              <a:rPr baseline="30000" lang="en-GB" sz="2200">
                <a:latin typeface="Kalam"/>
                <a:ea typeface="Kalam"/>
                <a:cs typeface="Kalam"/>
                <a:sym typeface="Kalam"/>
              </a:rPr>
              <a:t>2</a:t>
            </a:r>
            <a:r>
              <a:rPr lang="en-GB" sz="2200">
                <a:latin typeface="Kalam"/>
                <a:ea typeface="Kalam"/>
                <a:cs typeface="Kalam"/>
                <a:sym typeface="Kalam"/>
              </a:rPr>
              <a:t> </a:t>
            </a:r>
            <a:endParaRPr sz="2200">
              <a:solidFill>
                <a:srgbClr val="000000"/>
              </a:solidFill>
              <a:latin typeface="Kalam"/>
              <a:ea typeface="Kalam"/>
              <a:cs typeface="Kalam"/>
              <a:sym typeface="Kalam"/>
            </a:endParaRPr>
          </a:p>
        </p:txBody>
      </p:sp>
      <p:sp>
        <p:nvSpPr>
          <p:cNvPr id="1233" name="Google Shape;1233;p90"/>
          <p:cNvSpPr txBox="1"/>
          <p:nvPr/>
        </p:nvSpPr>
        <p:spPr>
          <a:xfrm>
            <a:off x="735125" y="1855725"/>
            <a:ext cx="2225100" cy="45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Kalam"/>
                <a:ea typeface="Kalam"/>
                <a:cs typeface="Kalam"/>
                <a:sym typeface="Kalam"/>
              </a:rPr>
              <a:t>E.g. 6 × 4 × 10</a:t>
            </a:r>
            <a:r>
              <a:rPr baseline="30000" lang="en-GB" sz="2200">
                <a:latin typeface="Kalam"/>
                <a:ea typeface="Kalam"/>
                <a:cs typeface="Kalam"/>
                <a:sym typeface="Kalam"/>
              </a:rPr>
              <a:t>3</a:t>
            </a:r>
            <a:r>
              <a:rPr lang="en-GB" sz="2200">
                <a:latin typeface="Kalam"/>
                <a:ea typeface="Kalam"/>
                <a:cs typeface="Kalam"/>
                <a:sym typeface="Kalam"/>
              </a:rPr>
              <a:t> </a:t>
            </a:r>
            <a:endParaRPr sz="2200">
              <a:solidFill>
                <a:srgbClr val="000000"/>
              </a:solidFill>
              <a:latin typeface="Kalam"/>
              <a:ea typeface="Kalam"/>
              <a:cs typeface="Kalam"/>
              <a:sym typeface="Kalam"/>
            </a:endParaRPr>
          </a:p>
        </p:txBody>
      </p:sp>
      <p:sp>
        <p:nvSpPr>
          <p:cNvPr id="1234" name="Google Shape;1234;p9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4) Put a tick next to the calculations which are correct and create two of your own correct calculations using powers of 10.</a:t>
            </a:r>
            <a:endParaRPr sz="2100"/>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235" name="Google Shape;1235;p9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1236" name="Google Shape;1236;p90"/>
          <p:cNvSpPr/>
          <p:nvPr/>
        </p:nvSpPr>
        <p:spPr>
          <a:xfrm>
            <a:off x="3326323" y="2381277"/>
            <a:ext cx="2081916" cy="1398708"/>
          </a:xfrm>
          <a:prstGeom prst="cloud">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800">
                <a:latin typeface="Lexend"/>
                <a:ea typeface="Lexend"/>
                <a:cs typeface="Lexend"/>
                <a:sym typeface="Lexend"/>
              </a:rPr>
              <a:t>24 000</a:t>
            </a:r>
            <a:endParaRPr sz="2800">
              <a:latin typeface="Lexend"/>
              <a:ea typeface="Lexend"/>
              <a:cs typeface="Lexend"/>
              <a:sym typeface="Lexend"/>
            </a:endParaRPr>
          </a:p>
        </p:txBody>
      </p:sp>
      <p:cxnSp>
        <p:nvCxnSpPr>
          <p:cNvPr id="1237" name="Google Shape;1237;p90"/>
          <p:cNvCxnSpPr/>
          <p:nvPr/>
        </p:nvCxnSpPr>
        <p:spPr>
          <a:xfrm>
            <a:off x="2669350" y="2242725"/>
            <a:ext cx="891900" cy="363600"/>
          </a:xfrm>
          <a:prstGeom prst="straightConnector1">
            <a:avLst/>
          </a:prstGeom>
          <a:noFill/>
          <a:ln cap="flat" cmpd="sng" w="28575">
            <a:solidFill>
              <a:schemeClr val="dk1"/>
            </a:solidFill>
            <a:prstDash val="solid"/>
            <a:round/>
            <a:headEnd len="med" w="med" type="none"/>
            <a:tailEnd len="med" w="med" type="none"/>
          </a:ln>
        </p:spPr>
      </p:cxnSp>
      <p:cxnSp>
        <p:nvCxnSpPr>
          <p:cNvPr id="1238" name="Google Shape;1238;p90"/>
          <p:cNvCxnSpPr/>
          <p:nvPr/>
        </p:nvCxnSpPr>
        <p:spPr>
          <a:xfrm flipH="1" rot="10800000">
            <a:off x="2377125" y="3072175"/>
            <a:ext cx="949200" cy="131700"/>
          </a:xfrm>
          <a:prstGeom prst="straightConnector1">
            <a:avLst/>
          </a:prstGeom>
          <a:noFill/>
          <a:ln cap="flat" cmpd="sng" w="28575">
            <a:solidFill>
              <a:schemeClr val="dk1"/>
            </a:solidFill>
            <a:prstDash val="solid"/>
            <a:round/>
            <a:headEnd len="med" w="med" type="none"/>
            <a:tailEnd len="med" w="med" type="none"/>
          </a:ln>
        </p:spPr>
      </p:cxnSp>
      <p:cxnSp>
        <p:nvCxnSpPr>
          <p:cNvPr id="1239" name="Google Shape;1239;p90"/>
          <p:cNvCxnSpPr/>
          <p:nvPr/>
        </p:nvCxnSpPr>
        <p:spPr>
          <a:xfrm flipH="1" rot="10800000">
            <a:off x="2802725" y="3527725"/>
            <a:ext cx="809400" cy="533400"/>
          </a:xfrm>
          <a:prstGeom prst="straightConnector1">
            <a:avLst/>
          </a:prstGeom>
          <a:noFill/>
          <a:ln cap="flat" cmpd="sng" w="28575">
            <a:solidFill>
              <a:schemeClr val="dk1"/>
            </a:solidFill>
            <a:prstDash val="solid"/>
            <a:round/>
            <a:headEnd len="med" w="med" type="none"/>
            <a:tailEnd len="med" w="med" type="none"/>
          </a:ln>
        </p:spPr>
      </p:cxnSp>
      <p:cxnSp>
        <p:nvCxnSpPr>
          <p:cNvPr id="1240" name="Google Shape;1240;p90"/>
          <p:cNvCxnSpPr/>
          <p:nvPr/>
        </p:nvCxnSpPr>
        <p:spPr>
          <a:xfrm rot="10800000">
            <a:off x="4409825" y="3779975"/>
            <a:ext cx="91200" cy="459000"/>
          </a:xfrm>
          <a:prstGeom prst="straightConnector1">
            <a:avLst/>
          </a:prstGeom>
          <a:noFill/>
          <a:ln cap="flat" cmpd="sng" w="28575">
            <a:solidFill>
              <a:schemeClr val="dk1"/>
            </a:solidFill>
            <a:prstDash val="solid"/>
            <a:round/>
            <a:headEnd len="med" w="med" type="none"/>
            <a:tailEnd len="med" w="med" type="none"/>
          </a:ln>
        </p:spPr>
      </p:cxnSp>
      <p:cxnSp>
        <p:nvCxnSpPr>
          <p:cNvPr id="1241" name="Google Shape;1241;p90"/>
          <p:cNvCxnSpPr/>
          <p:nvPr/>
        </p:nvCxnSpPr>
        <p:spPr>
          <a:xfrm rot="10800000">
            <a:off x="5028725" y="3527725"/>
            <a:ext cx="583500" cy="359100"/>
          </a:xfrm>
          <a:prstGeom prst="straightConnector1">
            <a:avLst/>
          </a:prstGeom>
          <a:noFill/>
          <a:ln cap="flat" cmpd="sng" w="28575">
            <a:solidFill>
              <a:schemeClr val="dk1"/>
            </a:solidFill>
            <a:prstDash val="solid"/>
            <a:round/>
            <a:headEnd len="med" w="med" type="none"/>
            <a:tailEnd len="med" w="med" type="none"/>
          </a:ln>
        </p:spPr>
      </p:cxnSp>
      <p:cxnSp>
        <p:nvCxnSpPr>
          <p:cNvPr id="1242" name="Google Shape;1242;p90"/>
          <p:cNvCxnSpPr/>
          <p:nvPr/>
        </p:nvCxnSpPr>
        <p:spPr>
          <a:xfrm flipH="1">
            <a:off x="5408175" y="2892150"/>
            <a:ext cx="854700" cy="234900"/>
          </a:xfrm>
          <a:prstGeom prst="straightConnector1">
            <a:avLst/>
          </a:prstGeom>
          <a:noFill/>
          <a:ln cap="flat" cmpd="sng" w="28575">
            <a:solidFill>
              <a:schemeClr val="dk1"/>
            </a:solidFill>
            <a:prstDash val="solid"/>
            <a:round/>
            <a:headEnd len="med" w="med" type="none"/>
            <a:tailEnd len="med" w="med" type="none"/>
          </a:ln>
        </p:spPr>
      </p:cxnSp>
      <p:cxnSp>
        <p:nvCxnSpPr>
          <p:cNvPr id="1243" name="Google Shape;1243;p90"/>
          <p:cNvCxnSpPr/>
          <p:nvPr/>
        </p:nvCxnSpPr>
        <p:spPr>
          <a:xfrm flipH="1">
            <a:off x="4751700" y="2034900"/>
            <a:ext cx="310500" cy="456600"/>
          </a:xfrm>
          <a:prstGeom prst="straightConnector1">
            <a:avLst/>
          </a:prstGeom>
          <a:noFill/>
          <a:ln cap="flat" cmpd="sng" w="28575">
            <a:solidFill>
              <a:schemeClr val="dk1"/>
            </a:solidFill>
            <a:prstDash val="solid"/>
            <a:round/>
            <a:headEnd len="med" w="med" type="none"/>
            <a:tailEnd len="med" w="med" type="none"/>
          </a:ln>
        </p:spPr>
      </p:cxnSp>
      <p:sp>
        <p:nvSpPr>
          <p:cNvPr id="1244" name="Google Shape;1244;p90"/>
          <p:cNvSpPr txBox="1"/>
          <p:nvPr/>
        </p:nvSpPr>
        <p:spPr>
          <a:xfrm>
            <a:off x="4699200" y="1576450"/>
            <a:ext cx="16746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240 × 10 </a:t>
            </a:r>
            <a:endParaRPr/>
          </a:p>
        </p:txBody>
      </p:sp>
      <p:sp>
        <p:nvSpPr>
          <p:cNvPr id="1245" name="Google Shape;1245;p90"/>
          <p:cNvSpPr txBox="1"/>
          <p:nvPr/>
        </p:nvSpPr>
        <p:spPr>
          <a:xfrm>
            <a:off x="6262875" y="2491500"/>
            <a:ext cx="16746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24 × 10</a:t>
            </a:r>
            <a:r>
              <a:rPr baseline="30000" lang="en-GB" sz="2000">
                <a:solidFill>
                  <a:schemeClr val="dk1"/>
                </a:solidFill>
                <a:latin typeface="Lexend"/>
                <a:ea typeface="Lexend"/>
                <a:cs typeface="Lexend"/>
                <a:sym typeface="Lexend"/>
              </a:rPr>
              <a:t>3</a:t>
            </a:r>
            <a:r>
              <a:rPr lang="en-GB" sz="2000">
                <a:solidFill>
                  <a:schemeClr val="dk1"/>
                </a:solidFill>
                <a:latin typeface="Lexend"/>
                <a:ea typeface="Lexend"/>
                <a:cs typeface="Lexend"/>
                <a:sym typeface="Lexend"/>
              </a:rPr>
              <a:t> </a:t>
            </a:r>
            <a:endParaRPr/>
          </a:p>
        </p:txBody>
      </p:sp>
      <p:sp>
        <p:nvSpPr>
          <p:cNvPr id="1246" name="Google Shape;1246;p90"/>
          <p:cNvSpPr txBox="1"/>
          <p:nvPr/>
        </p:nvSpPr>
        <p:spPr>
          <a:xfrm>
            <a:off x="5612225" y="3568525"/>
            <a:ext cx="16746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2.4 × 10</a:t>
            </a:r>
            <a:r>
              <a:rPr baseline="30000" lang="en-GB" sz="2000">
                <a:solidFill>
                  <a:schemeClr val="dk1"/>
                </a:solidFill>
                <a:latin typeface="Lexend"/>
                <a:ea typeface="Lexend"/>
                <a:cs typeface="Lexend"/>
                <a:sym typeface="Lexend"/>
              </a:rPr>
              <a:t>4</a:t>
            </a:r>
            <a:r>
              <a:rPr lang="en-GB" sz="2000">
                <a:solidFill>
                  <a:schemeClr val="dk1"/>
                </a:solidFill>
                <a:latin typeface="Lexend"/>
                <a:ea typeface="Lexend"/>
                <a:cs typeface="Lexend"/>
                <a:sym typeface="Lexend"/>
              </a:rPr>
              <a:t> </a:t>
            </a:r>
            <a:endParaRPr/>
          </a:p>
        </p:txBody>
      </p:sp>
      <p:sp>
        <p:nvSpPr>
          <p:cNvPr id="1247" name="Google Shape;1247;p90"/>
          <p:cNvSpPr txBox="1"/>
          <p:nvPr/>
        </p:nvSpPr>
        <p:spPr>
          <a:xfrm>
            <a:off x="3937625" y="4139600"/>
            <a:ext cx="16746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8 × 3 × 10</a:t>
            </a:r>
            <a:r>
              <a:rPr baseline="30000" lang="en-GB" sz="2000">
                <a:solidFill>
                  <a:schemeClr val="dk1"/>
                </a:solidFill>
                <a:latin typeface="Lexend"/>
                <a:ea typeface="Lexend"/>
                <a:cs typeface="Lexend"/>
                <a:sym typeface="Lexend"/>
              </a:rPr>
              <a:t>3</a:t>
            </a:r>
            <a:r>
              <a:rPr lang="en-GB" sz="2000">
                <a:solidFill>
                  <a:schemeClr val="dk1"/>
                </a:solidFill>
                <a:latin typeface="Lexend"/>
                <a:ea typeface="Lexend"/>
                <a:cs typeface="Lexend"/>
                <a:sym typeface="Lexend"/>
              </a:rPr>
              <a:t> </a:t>
            </a:r>
            <a:endParaRPr/>
          </a:p>
        </p:txBody>
      </p:sp>
      <p:sp>
        <p:nvSpPr>
          <p:cNvPr id="1248" name="Google Shape;1248;p90"/>
          <p:cNvSpPr txBox="1"/>
          <p:nvPr/>
        </p:nvSpPr>
        <p:spPr>
          <a:xfrm>
            <a:off x="2014425" y="3963725"/>
            <a:ext cx="16746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12 × 2 × 10</a:t>
            </a:r>
            <a:r>
              <a:rPr baseline="30000" lang="en-GB" sz="2000">
                <a:solidFill>
                  <a:schemeClr val="dk1"/>
                </a:solidFill>
                <a:latin typeface="Lexend"/>
                <a:ea typeface="Lexend"/>
                <a:cs typeface="Lexend"/>
                <a:sym typeface="Lexend"/>
              </a:rPr>
              <a:t>3</a:t>
            </a:r>
            <a:r>
              <a:rPr lang="en-GB" sz="2000">
                <a:solidFill>
                  <a:schemeClr val="dk1"/>
                </a:solidFill>
                <a:latin typeface="Lexend"/>
                <a:ea typeface="Lexend"/>
                <a:cs typeface="Lexend"/>
                <a:sym typeface="Lexend"/>
              </a:rPr>
              <a:t> </a:t>
            </a:r>
            <a:endParaRPr/>
          </a:p>
        </p:txBody>
      </p:sp>
      <p:sp>
        <p:nvSpPr>
          <p:cNvPr id="1249" name="Google Shape;1249;p90"/>
          <p:cNvSpPr txBox="1"/>
          <p:nvPr/>
        </p:nvSpPr>
        <p:spPr>
          <a:xfrm>
            <a:off x="797100" y="2984100"/>
            <a:ext cx="1818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aseline="30000" lang="en-GB" sz="2000">
                <a:solidFill>
                  <a:schemeClr val="dk1"/>
                </a:solidFill>
                <a:latin typeface="Lexend"/>
                <a:ea typeface="Lexend"/>
                <a:cs typeface="Lexend"/>
                <a:sym typeface="Lexend"/>
              </a:rPr>
              <a:t>_____________</a:t>
            </a:r>
            <a:r>
              <a:rPr lang="en-GB" sz="2000">
                <a:solidFill>
                  <a:schemeClr val="dk1"/>
                </a:solidFill>
                <a:latin typeface="Lexend"/>
                <a:ea typeface="Lexend"/>
                <a:cs typeface="Lexend"/>
                <a:sym typeface="Lexend"/>
              </a:rPr>
              <a:t> </a:t>
            </a:r>
            <a:endParaRPr/>
          </a:p>
        </p:txBody>
      </p:sp>
      <p:sp>
        <p:nvSpPr>
          <p:cNvPr id="1250" name="Google Shape;1250;p90"/>
          <p:cNvSpPr txBox="1"/>
          <p:nvPr/>
        </p:nvSpPr>
        <p:spPr>
          <a:xfrm>
            <a:off x="1068325" y="2004475"/>
            <a:ext cx="1818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aseline="30000" lang="en-GB" sz="2000">
                <a:solidFill>
                  <a:schemeClr val="dk1"/>
                </a:solidFill>
                <a:latin typeface="Lexend"/>
                <a:ea typeface="Lexend"/>
                <a:cs typeface="Lexend"/>
                <a:sym typeface="Lexend"/>
              </a:rPr>
              <a:t>_____________</a:t>
            </a:r>
            <a:r>
              <a:rPr lang="en-GB" sz="2000">
                <a:solidFill>
                  <a:schemeClr val="dk1"/>
                </a:solidFill>
                <a:latin typeface="Lexend"/>
                <a:ea typeface="Lexend"/>
                <a:cs typeface="Lexend"/>
                <a:sym typeface="Lexend"/>
              </a:rPr>
              <a:t> </a:t>
            </a:r>
            <a:endParaRPr/>
          </a:p>
        </p:txBody>
      </p:sp>
      <p:sp>
        <p:nvSpPr>
          <p:cNvPr id="1251" name="Google Shape;1251;p90"/>
          <p:cNvSpPr txBox="1"/>
          <p:nvPr/>
        </p:nvSpPr>
        <p:spPr>
          <a:xfrm>
            <a:off x="7420500" y="1924650"/>
            <a:ext cx="1399500" cy="189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Kalam"/>
                <a:ea typeface="Kalam"/>
                <a:cs typeface="Kalam"/>
                <a:sym typeface="Kalam"/>
              </a:rPr>
              <a:t>There are an </a:t>
            </a:r>
            <a:r>
              <a:rPr lang="en-GB" sz="1800">
                <a:latin typeface="Kalam"/>
                <a:ea typeface="Kalam"/>
                <a:cs typeface="Kalam"/>
                <a:sym typeface="Kalam"/>
              </a:rPr>
              <a:t>infinite</a:t>
            </a:r>
            <a:r>
              <a:rPr lang="en-GB" sz="1800">
                <a:latin typeface="Kalam"/>
                <a:ea typeface="Kalam"/>
                <a:cs typeface="Kalam"/>
                <a:sym typeface="Kalam"/>
              </a:rPr>
              <a:t> number. Just ensure your </a:t>
            </a:r>
            <a:r>
              <a:rPr lang="en-GB" sz="1800">
                <a:solidFill>
                  <a:schemeClr val="dk1"/>
                </a:solidFill>
                <a:latin typeface="Kalam"/>
                <a:ea typeface="Kalam"/>
                <a:cs typeface="Kalam"/>
                <a:sym typeface="Kalam"/>
              </a:rPr>
              <a:t>calculation</a:t>
            </a:r>
            <a:r>
              <a:rPr lang="en-GB" sz="1800">
                <a:latin typeface="Kalam"/>
                <a:ea typeface="Kalam"/>
                <a:cs typeface="Kalam"/>
                <a:sym typeface="Kalam"/>
              </a:rPr>
              <a:t> equals 24 000</a:t>
            </a:r>
            <a:endParaRPr sz="1800">
              <a:solidFill>
                <a:srgbClr val="000000"/>
              </a:solidFill>
              <a:latin typeface="Kalam"/>
              <a:ea typeface="Kalam"/>
              <a:cs typeface="Kalam"/>
              <a:sym typeface="Kalam"/>
            </a:endParaRPr>
          </a:p>
        </p:txBody>
      </p:sp>
      <p:grpSp>
        <p:nvGrpSpPr>
          <p:cNvPr id="1252" name="Google Shape;1252;p90"/>
          <p:cNvGrpSpPr/>
          <p:nvPr/>
        </p:nvGrpSpPr>
        <p:grpSpPr>
          <a:xfrm>
            <a:off x="2406733" y="2160000"/>
            <a:ext cx="4642375" cy="2145925"/>
            <a:chOff x="2406733" y="2160000"/>
            <a:chExt cx="4642375" cy="2145925"/>
          </a:xfrm>
        </p:grpSpPr>
        <p:pic>
          <p:nvPicPr>
            <p:cNvPr id="1253" name="Google Shape;1253;p90"/>
            <p:cNvPicPr preferRelativeResize="0"/>
            <p:nvPr/>
          </p:nvPicPr>
          <p:blipFill>
            <a:blip r:embed="rId3">
              <a:alphaModFix/>
            </a:blip>
            <a:stretch>
              <a:fillRect/>
            </a:stretch>
          </p:blipFill>
          <p:spPr>
            <a:xfrm>
              <a:off x="6653108" y="2160000"/>
              <a:ext cx="396000" cy="419100"/>
            </a:xfrm>
            <a:prstGeom prst="rect">
              <a:avLst/>
            </a:prstGeom>
            <a:noFill/>
            <a:ln>
              <a:noFill/>
            </a:ln>
          </p:spPr>
        </p:pic>
        <p:pic>
          <p:nvPicPr>
            <p:cNvPr id="1254" name="Google Shape;1254;p90"/>
            <p:cNvPicPr preferRelativeResize="0"/>
            <p:nvPr/>
          </p:nvPicPr>
          <p:blipFill>
            <a:blip r:embed="rId3">
              <a:alphaModFix/>
            </a:blip>
            <a:stretch>
              <a:fillRect/>
            </a:stretch>
          </p:blipFill>
          <p:spPr>
            <a:xfrm>
              <a:off x="6058808" y="3295325"/>
              <a:ext cx="396000" cy="419100"/>
            </a:xfrm>
            <a:prstGeom prst="rect">
              <a:avLst/>
            </a:prstGeom>
            <a:noFill/>
            <a:ln>
              <a:noFill/>
            </a:ln>
          </p:spPr>
        </p:pic>
        <p:pic>
          <p:nvPicPr>
            <p:cNvPr id="1255" name="Google Shape;1255;p90"/>
            <p:cNvPicPr preferRelativeResize="0"/>
            <p:nvPr/>
          </p:nvPicPr>
          <p:blipFill>
            <a:blip r:embed="rId3">
              <a:alphaModFix/>
            </a:blip>
            <a:stretch>
              <a:fillRect/>
            </a:stretch>
          </p:blipFill>
          <p:spPr>
            <a:xfrm>
              <a:off x="4699208" y="3886825"/>
              <a:ext cx="396000" cy="419100"/>
            </a:xfrm>
            <a:prstGeom prst="rect">
              <a:avLst/>
            </a:prstGeom>
            <a:noFill/>
            <a:ln>
              <a:noFill/>
            </a:ln>
          </p:spPr>
        </p:pic>
        <p:pic>
          <p:nvPicPr>
            <p:cNvPr id="1256" name="Google Shape;1256;p90"/>
            <p:cNvPicPr preferRelativeResize="0"/>
            <p:nvPr/>
          </p:nvPicPr>
          <p:blipFill>
            <a:blip r:embed="rId3">
              <a:alphaModFix/>
            </a:blip>
            <a:stretch>
              <a:fillRect/>
            </a:stretch>
          </p:blipFill>
          <p:spPr>
            <a:xfrm>
              <a:off x="2406733" y="3636975"/>
              <a:ext cx="396000" cy="4191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91"/>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powers of 10 to simplify calculations</a:t>
            </a:r>
            <a:endParaRPr/>
          </a:p>
        </p:txBody>
      </p:sp>
      <p:sp>
        <p:nvSpPr>
          <p:cNvPr id="1262" name="Google Shape;1262;p91"/>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sp>
        <p:nvSpPr>
          <p:cNvPr id="1263" name="Google Shape;1263;p91"/>
          <p:cNvSpPr txBox="1"/>
          <p:nvPr>
            <p:ph idx="3" type="title"/>
          </p:nvPr>
        </p:nvSpPr>
        <p:spPr>
          <a:xfrm>
            <a:off x="324000" y="657600"/>
            <a:ext cx="61836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and securing understanding of multiples of 10</a:t>
            </a:r>
            <a:endParaRPr/>
          </a:p>
        </p:txBody>
      </p:sp>
      <p:pic>
        <p:nvPicPr>
          <p:cNvPr id="1264" name="Google Shape;1264;p91"/>
          <p:cNvPicPr preferRelativeResize="0"/>
          <p:nvPr/>
        </p:nvPicPr>
        <p:blipFill>
          <a:blip r:embed="rId3">
            <a:alphaModFix/>
          </a:blip>
          <a:stretch>
            <a:fillRect/>
          </a:stretch>
        </p:blipFill>
        <p:spPr>
          <a:xfrm>
            <a:off x="409500" y="2994530"/>
            <a:ext cx="450575" cy="4467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92"/>
          <p:cNvSpPr/>
          <p:nvPr/>
        </p:nvSpPr>
        <p:spPr>
          <a:xfrm>
            <a:off x="4946725" y="1546538"/>
            <a:ext cx="766500" cy="1793700"/>
          </a:xfrm>
          <a:prstGeom prst="bracePair">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92"/>
          <p:cNvSpPr/>
          <p:nvPr/>
        </p:nvSpPr>
        <p:spPr>
          <a:xfrm>
            <a:off x="4868975" y="1478890"/>
            <a:ext cx="346500" cy="1921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92"/>
          <p:cNvSpPr txBox="1"/>
          <p:nvPr>
            <p:ph idx="4294967295" type="subTitle"/>
          </p:nvPr>
        </p:nvSpPr>
        <p:spPr>
          <a:xfrm>
            <a:off x="4402175" y="3400836"/>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0.1</a:t>
            </a:r>
            <a:endParaRPr baseline="30000" sz="2400"/>
          </a:p>
        </p:txBody>
      </p:sp>
      <p:sp>
        <p:nvSpPr>
          <p:cNvPr id="1272" name="Google Shape;1272;p92"/>
          <p:cNvSpPr txBox="1"/>
          <p:nvPr>
            <p:ph idx="4294967295" type="subTitle"/>
          </p:nvPr>
        </p:nvSpPr>
        <p:spPr>
          <a:xfrm>
            <a:off x="4402175" y="1538438"/>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10</a:t>
            </a:r>
            <a:r>
              <a:rPr baseline="30000" lang="en-GB" sz="2400"/>
              <a:t>3</a:t>
            </a:r>
            <a:endParaRPr baseline="30000" sz="2400"/>
          </a:p>
        </p:txBody>
      </p:sp>
      <p:sp>
        <p:nvSpPr>
          <p:cNvPr id="1273" name="Google Shape;1273;p92"/>
          <p:cNvSpPr/>
          <p:nvPr/>
        </p:nvSpPr>
        <p:spPr>
          <a:xfrm>
            <a:off x="4946725" y="3405415"/>
            <a:ext cx="766500" cy="1396200"/>
          </a:xfrm>
          <a:prstGeom prst="bracePair">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92"/>
          <p:cNvSpPr/>
          <p:nvPr/>
        </p:nvSpPr>
        <p:spPr>
          <a:xfrm>
            <a:off x="4868975" y="3340301"/>
            <a:ext cx="346500" cy="15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92"/>
          <p:cNvSpPr txBox="1"/>
          <p:nvPr>
            <p:ph idx="1" type="body"/>
          </p:nvPr>
        </p:nvSpPr>
        <p:spPr>
          <a:xfrm>
            <a:off x="5849200" y="2248260"/>
            <a:ext cx="1284300" cy="46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integers</a:t>
            </a:r>
            <a:endParaRPr/>
          </a:p>
        </p:txBody>
      </p:sp>
      <p:sp>
        <p:nvSpPr>
          <p:cNvPr id="1276" name="Google Shape;1276;p92"/>
          <p:cNvSpPr txBox="1"/>
          <p:nvPr>
            <p:ph idx="4294967295" type="subTitle"/>
          </p:nvPr>
        </p:nvSpPr>
        <p:spPr>
          <a:xfrm>
            <a:off x="4402175" y="2469637"/>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10</a:t>
            </a:r>
            <a:r>
              <a:rPr baseline="30000" lang="en-GB" sz="2400"/>
              <a:t>1</a:t>
            </a:r>
            <a:endParaRPr baseline="30000" sz="2400"/>
          </a:p>
        </p:txBody>
      </p:sp>
      <p:sp>
        <p:nvSpPr>
          <p:cNvPr id="1277" name="Google Shape;1277;p92"/>
          <p:cNvSpPr txBox="1"/>
          <p:nvPr>
            <p:ph idx="4294967295" type="subTitle"/>
          </p:nvPr>
        </p:nvSpPr>
        <p:spPr>
          <a:xfrm>
            <a:off x="4402175" y="2935236"/>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10</a:t>
            </a:r>
            <a:r>
              <a:rPr baseline="30000" lang="en-GB" sz="2400"/>
              <a:t>0</a:t>
            </a:r>
            <a:endParaRPr baseline="30000" sz="2400"/>
          </a:p>
        </p:txBody>
      </p:sp>
      <p:sp>
        <p:nvSpPr>
          <p:cNvPr id="1278" name="Google Shape;1278;p92"/>
          <p:cNvSpPr txBox="1"/>
          <p:nvPr>
            <p:ph idx="4294967295" type="subTitle"/>
          </p:nvPr>
        </p:nvSpPr>
        <p:spPr>
          <a:xfrm>
            <a:off x="4402175" y="2004037"/>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10</a:t>
            </a:r>
            <a:r>
              <a:rPr baseline="30000" lang="en-GB" sz="2400"/>
              <a:t>2</a:t>
            </a:r>
            <a:endParaRPr baseline="30000" sz="2400"/>
          </a:p>
        </p:txBody>
      </p:sp>
      <p:sp>
        <p:nvSpPr>
          <p:cNvPr id="1279" name="Google Shape;1279;p92"/>
          <p:cNvSpPr txBox="1"/>
          <p:nvPr>
            <p:ph idx="4294967295" type="subTitle"/>
          </p:nvPr>
        </p:nvSpPr>
        <p:spPr>
          <a:xfrm>
            <a:off x="4402175" y="3901011"/>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0.01</a:t>
            </a:r>
            <a:endParaRPr baseline="30000" sz="2400"/>
          </a:p>
        </p:txBody>
      </p:sp>
      <p:sp>
        <p:nvSpPr>
          <p:cNvPr id="1280" name="Google Shape;1280;p92"/>
          <p:cNvSpPr txBox="1"/>
          <p:nvPr>
            <p:ph idx="4294967295" type="subTitle"/>
          </p:nvPr>
        </p:nvSpPr>
        <p:spPr>
          <a:xfrm>
            <a:off x="4402175" y="4401198"/>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0.001</a:t>
            </a:r>
            <a:endParaRPr baseline="30000" sz="2400"/>
          </a:p>
        </p:txBody>
      </p:sp>
      <p:sp>
        <p:nvSpPr>
          <p:cNvPr id="1281" name="Google Shape;1281;p92"/>
          <p:cNvSpPr txBox="1"/>
          <p:nvPr>
            <p:ph idx="1" type="body"/>
          </p:nvPr>
        </p:nvSpPr>
        <p:spPr>
          <a:xfrm>
            <a:off x="5844025" y="3918656"/>
            <a:ext cx="2544600" cy="70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non-integers</a:t>
            </a:r>
            <a:endParaRPr/>
          </a:p>
        </p:txBody>
      </p:sp>
      <p:sp>
        <p:nvSpPr>
          <p:cNvPr id="1282" name="Google Shape;1282;p92"/>
          <p:cNvSpPr txBox="1"/>
          <p:nvPr>
            <p:ph idx="4294967295" type="subTitle"/>
          </p:nvPr>
        </p:nvSpPr>
        <p:spPr>
          <a:xfrm>
            <a:off x="3030575" y="2469637"/>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10</a:t>
            </a:r>
            <a:endParaRPr baseline="30000" sz="2400"/>
          </a:p>
        </p:txBody>
      </p:sp>
      <p:sp>
        <p:nvSpPr>
          <p:cNvPr id="1283" name="Google Shape;1283;p92"/>
          <p:cNvSpPr txBox="1"/>
          <p:nvPr>
            <p:ph idx="4294967295" type="subTitle"/>
          </p:nvPr>
        </p:nvSpPr>
        <p:spPr>
          <a:xfrm>
            <a:off x="3030575" y="1538438"/>
            <a:ext cx="1005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1000</a:t>
            </a:r>
            <a:endParaRPr baseline="30000" sz="2400"/>
          </a:p>
        </p:txBody>
      </p:sp>
      <p:sp>
        <p:nvSpPr>
          <p:cNvPr id="1284" name="Google Shape;1284;p92"/>
          <p:cNvSpPr txBox="1"/>
          <p:nvPr>
            <p:ph idx="4294967295" type="subTitle"/>
          </p:nvPr>
        </p:nvSpPr>
        <p:spPr>
          <a:xfrm>
            <a:off x="3030575" y="2004037"/>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100</a:t>
            </a:r>
            <a:endParaRPr baseline="30000" sz="2400"/>
          </a:p>
        </p:txBody>
      </p:sp>
      <p:pic>
        <p:nvPicPr>
          <p:cNvPr descr="&lt;math xmlns=&quot;http://www.w3.org/1998/Math/MathML&quot; display=&quot;block&quot; data-is-equatio=&quot;1&quot; data-latex=&quot;\frac{1}{10}&quot;&gt;&lt;mfrac&gt;&lt;mn&gt;1&lt;/mn&gt;&lt;mn&gt;10&lt;/mn&gt;&lt;/mfrac&gt;&lt;/math&gt;" id="1285" name="Google Shape;1285;p92" title="one tenth"/>
          <p:cNvPicPr preferRelativeResize="0"/>
          <p:nvPr/>
        </p:nvPicPr>
        <p:blipFill>
          <a:blip r:embed="rId3">
            <a:alphaModFix/>
          </a:blip>
          <a:stretch>
            <a:fillRect/>
          </a:stretch>
        </p:blipFill>
        <p:spPr>
          <a:xfrm>
            <a:off x="3003822" y="3369950"/>
            <a:ext cx="264350" cy="421873"/>
          </a:xfrm>
          <a:prstGeom prst="rect">
            <a:avLst/>
          </a:prstGeom>
          <a:noFill/>
          <a:ln>
            <a:noFill/>
          </a:ln>
        </p:spPr>
      </p:pic>
      <p:pic>
        <p:nvPicPr>
          <p:cNvPr descr="&lt;math xmlns=&quot;http://www.w3.org/1998/Math/MathML&quot; display=&quot;block&quot; data-is-equatio=&quot;1&quot; data-latex=&quot;\frac{1}{1000}&quot;&gt;&lt;mfrac&gt;&lt;mn&gt;1&lt;/mn&gt;&lt;mn&gt;1000&lt;/mn&gt;&lt;/mfrac&gt;&lt;/math&gt;" id="1286" name="Google Shape;1286;p92" title="1 over 1000"/>
          <p:cNvPicPr preferRelativeResize="0"/>
          <p:nvPr/>
        </p:nvPicPr>
        <p:blipFill>
          <a:blip r:embed="rId4">
            <a:alphaModFix/>
          </a:blip>
          <a:stretch>
            <a:fillRect/>
          </a:stretch>
        </p:blipFill>
        <p:spPr>
          <a:xfrm>
            <a:off x="2887201" y="4358477"/>
            <a:ext cx="497600" cy="421873"/>
          </a:xfrm>
          <a:prstGeom prst="rect">
            <a:avLst/>
          </a:prstGeom>
          <a:noFill/>
          <a:ln>
            <a:noFill/>
          </a:ln>
        </p:spPr>
      </p:pic>
      <p:pic>
        <p:nvPicPr>
          <p:cNvPr descr="&lt;math xmlns=&quot;http://www.w3.org/1998/Math/MathML&quot; display=&quot;block&quot; data-is-equatio=&quot;1&quot; data-latex=&quot;\frac{1}{100}&quot;&gt;&lt;mfrac&gt;&lt;mn&gt;1&lt;/mn&gt;&lt;mn&gt;100&lt;/mn&gt;&lt;/mfrac&gt;&lt;/math&gt;" id="1287" name="Google Shape;1287;p92" title="1 over 100"/>
          <p:cNvPicPr preferRelativeResize="0"/>
          <p:nvPr/>
        </p:nvPicPr>
        <p:blipFill>
          <a:blip r:embed="rId5">
            <a:alphaModFix/>
          </a:blip>
          <a:stretch>
            <a:fillRect/>
          </a:stretch>
        </p:blipFill>
        <p:spPr>
          <a:xfrm>
            <a:off x="2946809" y="3866455"/>
            <a:ext cx="378383" cy="417385"/>
          </a:xfrm>
          <a:prstGeom prst="rect">
            <a:avLst/>
          </a:prstGeom>
          <a:noFill/>
          <a:ln>
            <a:noFill/>
          </a:ln>
        </p:spPr>
      </p:pic>
      <p:sp>
        <p:nvSpPr>
          <p:cNvPr id="1288" name="Google Shape;1288;p92"/>
          <p:cNvSpPr txBox="1"/>
          <p:nvPr>
            <p:ph idx="4294967295" type="subTitle"/>
          </p:nvPr>
        </p:nvSpPr>
        <p:spPr>
          <a:xfrm>
            <a:off x="3030575" y="2935236"/>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a:t>
            </a:r>
            <a:endParaRPr baseline="30000" sz="2400"/>
          </a:p>
        </p:txBody>
      </p:sp>
      <p:sp>
        <p:nvSpPr>
          <p:cNvPr id="1289" name="Google Shape;1289;p92"/>
          <p:cNvSpPr txBox="1"/>
          <p:nvPr>
            <p:ph idx="1" type="body"/>
          </p:nvPr>
        </p:nvSpPr>
        <p:spPr>
          <a:xfrm>
            <a:off x="324000" y="669938"/>
            <a:ext cx="8237700" cy="95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We already know the following powers of 10 for large numbers.</a:t>
            </a:r>
            <a:endParaRPr sz="2000"/>
          </a:p>
          <a:p>
            <a:pPr indent="0" lvl="0" marL="0" rtl="0" algn="l">
              <a:spcBef>
                <a:spcPts val="1000"/>
              </a:spcBef>
              <a:spcAft>
                <a:spcPts val="1000"/>
              </a:spcAft>
              <a:buNone/>
            </a:pPr>
            <a:r>
              <a:rPr lang="en-GB" sz="2000"/>
              <a:t>Can you fill in the fractional form for the following decimals?</a:t>
            </a:r>
            <a:endParaRPr sz="2000"/>
          </a:p>
        </p:txBody>
      </p:sp>
      <p:sp>
        <p:nvSpPr>
          <p:cNvPr id="1290" name="Google Shape;1290;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pic>
        <p:nvPicPr>
          <p:cNvPr descr="&lt;math xmlns=&quot;http://www.w3.org/1998/Math/MathML&quot; display=&quot;block&quot; data-is-equatio=&quot;1&quot; data-latex=&quot;\frac{1}{100}&quot;&gt;&lt;mfrac&gt;&lt;mn&gt;1&lt;/mn&gt;&lt;mn&gt;100&lt;/mn&gt;&lt;/mfrac&gt;&lt;/math&gt;" id="1295" name="Google Shape;1295;p93" title="1 over 100"/>
          <p:cNvPicPr preferRelativeResize="0"/>
          <p:nvPr/>
        </p:nvPicPr>
        <p:blipFill>
          <a:blip r:embed="rId3">
            <a:alphaModFix/>
          </a:blip>
          <a:stretch>
            <a:fillRect/>
          </a:stretch>
        </p:blipFill>
        <p:spPr>
          <a:xfrm>
            <a:off x="2946809" y="3842496"/>
            <a:ext cx="378383" cy="417385"/>
          </a:xfrm>
          <a:prstGeom prst="rect">
            <a:avLst/>
          </a:prstGeom>
          <a:noFill/>
          <a:ln>
            <a:noFill/>
          </a:ln>
        </p:spPr>
      </p:pic>
      <p:pic>
        <p:nvPicPr>
          <p:cNvPr descr="&lt;math xmlns=&quot;http://www.w3.org/1998/Math/MathML&quot; display=&quot;block&quot; data-is-equatio=&quot;1&quot; data-latex=&quot;\frac{1}{1000}&quot;&gt;&lt;mfrac&gt;&lt;mn&gt;1&lt;/mn&gt;&lt;mn&gt;1000&lt;/mn&gt;&lt;/mfrac&gt;&lt;/math&gt;" id="1296" name="Google Shape;1296;p93" title="1 over 1000"/>
          <p:cNvPicPr preferRelativeResize="0"/>
          <p:nvPr/>
        </p:nvPicPr>
        <p:blipFill>
          <a:blip r:embed="rId4">
            <a:alphaModFix/>
          </a:blip>
          <a:stretch>
            <a:fillRect/>
          </a:stretch>
        </p:blipFill>
        <p:spPr>
          <a:xfrm>
            <a:off x="2903801" y="4358477"/>
            <a:ext cx="497600" cy="421873"/>
          </a:xfrm>
          <a:prstGeom prst="rect">
            <a:avLst/>
          </a:prstGeom>
          <a:noFill/>
          <a:ln>
            <a:noFill/>
          </a:ln>
        </p:spPr>
      </p:pic>
      <p:sp>
        <p:nvSpPr>
          <p:cNvPr id="1297" name="Google Shape;1297;p93"/>
          <p:cNvSpPr txBox="1"/>
          <p:nvPr>
            <p:ph idx="1" type="body"/>
          </p:nvPr>
        </p:nvSpPr>
        <p:spPr>
          <a:xfrm>
            <a:off x="324000" y="669938"/>
            <a:ext cx="8237700" cy="95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can also identify equivalent fractions using powers of 10.</a:t>
            </a:r>
            <a:endParaRPr sz="2000"/>
          </a:p>
        </p:txBody>
      </p:sp>
      <p:sp>
        <p:nvSpPr>
          <p:cNvPr id="1298" name="Google Shape;1298;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pic>
        <p:nvPicPr>
          <p:cNvPr descr="&lt;math xmlns=&quot;http://www.w3.org/1998/Math/MathML&quot; display=&quot;block&quot; data-is-equatio=&quot;1&quot; data-latex=&quot;\frac{1}{10^2}\ \ \frac{1}{10^3}&quot;&gt;&lt;mfrac&gt;&lt;mn&gt;1&lt;/mn&gt;&lt;msup&gt;&lt;mn&gt;10&lt;/mn&gt;&lt;mn&gt;2&lt;/mn&gt;&lt;/msup&gt;&lt;/mfrac&gt;&lt;mtext&gt;&lt;/mtext&gt;&lt;mtext&gt;&lt;/mtext&gt;&lt;mfrac&gt;&lt;mn&gt;1&lt;/mn&gt;&lt;msup&gt;&lt;mn&gt;10&lt;/mn&gt;&lt;mn&gt;3&lt;/mn&gt;&lt;/msup&gt;&lt;/mfrac&gt;&lt;/math&gt;" id="1299" name="Google Shape;1299;p93" title="the fraction with numerator 1 and denominator 10 squared the fraction with numerator 1 and denominator 10 cubed"/>
          <p:cNvPicPr preferRelativeResize="0"/>
          <p:nvPr/>
        </p:nvPicPr>
        <p:blipFill rotWithShape="1">
          <a:blip r:embed="rId5">
            <a:alphaModFix/>
          </a:blip>
          <a:srcRect b="0" l="0" r="50502" t="0"/>
          <a:stretch/>
        </p:blipFill>
        <p:spPr>
          <a:xfrm>
            <a:off x="2967183" y="3828697"/>
            <a:ext cx="396144" cy="469500"/>
          </a:xfrm>
          <a:prstGeom prst="rect">
            <a:avLst/>
          </a:prstGeom>
          <a:noFill/>
          <a:ln>
            <a:noFill/>
          </a:ln>
        </p:spPr>
      </p:pic>
      <p:pic>
        <p:nvPicPr>
          <p:cNvPr descr="&lt;math xmlns=&quot;http://www.w3.org/1998/Math/MathML&quot; display=&quot;block&quot; data-is-equatio=&quot;1&quot; data-latex=&quot;\frac{1}{10^2}\ \ \frac{1}{10^3}&quot;&gt;&lt;mfrac&gt;&lt;mn&gt;1&lt;/mn&gt;&lt;msup&gt;&lt;mn&gt;10&lt;/mn&gt;&lt;mn&gt;2&lt;/mn&gt;&lt;/msup&gt;&lt;/mfrac&gt;&lt;mtext&gt;&lt;/mtext&gt;&lt;mtext&gt;&lt;/mtext&gt;&lt;mfrac&gt;&lt;mn&gt;1&lt;/mn&gt;&lt;msup&gt;&lt;mn&gt;10&lt;/mn&gt;&lt;mn&gt;3&lt;/mn&gt;&lt;/msup&gt;&lt;/mfrac&gt;&lt;/math&gt;" id="1300" name="Google Shape;1300;p93" title="the fraction with numerator 1 and denominator 10 squared the fraction with numerator 1 and denominator 10 cubed"/>
          <p:cNvPicPr preferRelativeResize="0"/>
          <p:nvPr/>
        </p:nvPicPr>
        <p:blipFill rotWithShape="1">
          <a:blip r:embed="rId5">
            <a:alphaModFix/>
          </a:blip>
          <a:srcRect b="-7236" l="58768" r="-8266" t="-12768"/>
          <a:stretch/>
        </p:blipFill>
        <p:spPr>
          <a:xfrm>
            <a:off x="2986804" y="4287138"/>
            <a:ext cx="378400" cy="538196"/>
          </a:xfrm>
          <a:prstGeom prst="rect">
            <a:avLst/>
          </a:prstGeom>
          <a:noFill/>
          <a:ln>
            <a:noFill/>
          </a:ln>
        </p:spPr>
      </p:pic>
      <p:sp>
        <p:nvSpPr>
          <p:cNvPr id="1301" name="Google Shape;1301;p93"/>
          <p:cNvSpPr/>
          <p:nvPr/>
        </p:nvSpPr>
        <p:spPr>
          <a:xfrm>
            <a:off x="4946725" y="1546538"/>
            <a:ext cx="766500" cy="1793700"/>
          </a:xfrm>
          <a:prstGeom prst="bracePair">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93"/>
          <p:cNvSpPr/>
          <p:nvPr/>
        </p:nvSpPr>
        <p:spPr>
          <a:xfrm>
            <a:off x="4868975" y="1478890"/>
            <a:ext cx="346500" cy="1921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93"/>
          <p:cNvSpPr txBox="1"/>
          <p:nvPr>
            <p:ph idx="4294967295" type="subTitle"/>
          </p:nvPr>
        </p:nvSpPr>
        <p:spPr>
          <a:xfrm>
            <a:off x="4402175" y="3400836"/>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0.1</a:t>
            </a:r>
            <a:endParaRPr baseline="30000" sz="2400"/>
          </a:p>
        </p:txBody>
      </p:sp>
      <p:sp>
        <p:nvSpPr>
          <p:cNvPr id="1304" name="Google Shape;1304;p93"/>
          <p:cNvSpPr txBox="1"/>
          <p:nvPr>
            <p:ph idx="4294967295" type="subTitle"/>
          </p:nvPr>
        </p:nvSpPr>
        <p:spPr>
          <a:xfrm>
            <a:off x="4402175" y="1538438"/>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10</a:t>
            </a:r>
            <a:r>
              <a:rPr baseline="30000" lang="en-GB" sz="2400"/>
              <a:t>3</a:t>
            </a:r>
            <a:endParaRPr baseline="30000" sz="2400"/>
          </a:p>
        </p:txBody>
      </p:sp>
      <p:sp>
        <p:nvSpPr>
          <p:cNvPr id="1305" name="Google Shape;1305;p93"/>
          <p:cNvSpPr/>
          <p:nvPr/>
        </p:nvSpPr>
        <p:spPr>
          <a:xfrm>
            <a:off x="4946725" y="3405415"/>
            <a:ext cx="766500" cy="1396200"/>
          </a:xfrm>
          <a:prstGeom prst="bracePair">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93"/>
          <p:cNvSpPr/>
          <p:nvPr/>
        </p:nvSpPr>
        <p:spPr>
          <a:xfrm>
            <a:off x="4868975" y="3340301"/>
            <a:ext cx="346500" cy="150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93"/>
          <p:cNvSpPr txBox="1"/>
          <p:nvPr>
            <p:ph idx="1" type="body"/>
          </p:nvPr>
        </p:nvSpPr>
        <p:spPr>
          <a:xfrm>
            <a:off x="5849200" y="2248260"/>
            <a:ext cx="1284300" cy="46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integers</a:t>
            </a:r>
            <a:endParaRPr/>
          </a:p>
        </p:txBody>
      </p:sp>
      <p:sp>
        <p:nvSpPr>
          <p:cNvPr id="1308" name="Google Shape;1308;p93"/>
          <p:cNvSpPr txBox="1"/>
          <p:nvPr>
            <p:ph idx="4294967295" type="subTitle"/>
          </p:nvPr>
        </p:nvSpPr>
        <p:spPr>
          <a:xfrm>
            <a:off x="4402175" y="2469637"/>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10</a:t>
            </a:r>
            <a:r>
              <a:rPr baseline="30000" lang="en-GB" sz="2400"/>
              <a:t>1</a:t>
            </a:r>
            <a:endParaRPr baseline="30000" sz="2400"/>
          </a:p>
        </p:txBody>
      </p:sp>
      <p:sp>
        <p:nvSpPr>
          <p:cNvPr id="1309" name="Google Shape;1309;p93"/>
          <p:cNvSpPr txBox="1"/>
          <p:nvPr>
            <p:ph idx="4294967295" type="subTitle"/>
          </p:nvPr>
        </p:nvSpPr>
        <p:spPr>
          <a:xfrm>
            <a:off x="4402175" y="2935236"/>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10</a:t>
            </a:r>
            <a:r>
              <a:rPr baseline="30000" lang="en-GB" sz="2400"/>
              <a:t>0</a:t>
            </a:r>
            <a:endParaRPr baseline="30000" sz="2400"/>
          </a:p>
        </p:txBody>
      </p:sp>
      <p:sp>
        <p:nvSpPr>
          <p:cNvPr id="1310" name="Google Shape;1310;p93"/>
          <p:cNvSpPr txBox="1"/>
          <p:nvPr>
            <p:ph idx="4294967295" type="subTitle"/>
          </p:nvPr>
        </p:nvSpPr>
        <p:spPr>
          <a:xfrm>
            <a:off x="4402175" y="2004037"/>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10</a:t>
            </a:r>
            <a:r>
              <a:rPr baseline="30000" lang="en-GB" sz="2400"/>
              <a:t>2</a:t>
            </a:r>
            <a:endParaRPr baseline="30000" sz="2400"/>
          </a:p>
        </p:txBody>
      </p:sp>
      <p:sp>
        <p:nvSpPr>
          <p:cNvPr id="1311" name="Google Shape;1311;p93"/>
          <p:cNvSpPr txBox="1"/>
          <p:nvPr>
            <p:ph idx="4294967295" type="subTitle"/>
          </p:nvPr>
        </p:nvSpPr>
        <p:spPr>
          <a:xfrm>
            <a:off x="4402175" y="3901011"/>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0.01</a:t>
            </a:r>
            <a:endParaRPr baseline="30000" sz="2400"/>
          </a:p>
        </p:txBody>
      </p:sp>
      <p:sp>
        <p:nvSpPr>
          <p:cNvPr id="1312" name="Google Shape;1312;p93"/>
          <p:cNvSpPr txBox="1"/>
          <p:nvPr>
            <p:ph idx="4294967295" type="subTitle"/>
          </p:nvPr>
        </p:nvSpPr>
        <p:spPr>
          <a:xfrm>
            <a:off x="4402175" y="4401198"/>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0.001</a:t>
            </a:r>
            <a:endParaRPr baseline="30000" sz="2400"/>
          </a:p>
        </p:txBody>
      </p:sp>
      <p:sp>
        <p:nvSpPr>
          <p:cNvPr id="1313" name="Google Shape;1313;p93"/>
          <p:cNvSpPr txBox="1"/>
          <p:nvPr>
            <p:ph idx="1" type="body"/>
          </p:nvPr>
        </p:nvSpPr>
        <p:spPr>
          <a:xfrm>
            <a:off x="5844025" y="3918656"/>
            <a:ext cx="2544600" cy="70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non-integers</a:t>
            </a:r>
            <a:endParaRPr/>
          </a:p>
        </p:txBody>
      </p:sp>
      <p:sp>
        <p:nvSpPr>
          <p:cNvPr id="1314" name="Google Shape;1314;p93"/>
          <p:cNvSpPr txBox="1"/>
          <p:nvPr>
            <p:ph idx="4294967295" type="subTitle"/>
          </p:nvPr>
        </p:nvSpPr>
        <p:spPr>
          <a:xfrm>
            <a:off x="3030575" y="2469637"/>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10</a:t>
            </a:r>
            <a:endParaRPr baseline="30000" sz="2400"/>
          </a:p>
        </p:txBody>
      </p:sp>
      <p:sp>
        <p:nvSpPr>
          <p:cNvPr id="1315" name="Google Shape;1315;p93"/>
          <p:cNvSpPr txBox="1"/>
          <p:nvPr>
            <p:ph idx="4294967295" type="subTitle"/>
          </p:nvPr>
        </p:nvSpPr>
        <p:spPr>
          <a:xfrm>
            <a:off x="3030575" y="1538438"/>
            <a:ext cx="1005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1000</a:t>
            </a:r>
            <a:endParaRPr baseline="30000" sz="2400"/>
          </a:p>
        </p:txBody>
      </p:sp>
      <p:sp>
        <p:nvSpPr>
          <p:cNvPr id="1316" name="Google Shape;1316;p93"/>
          <p:cNvSpPr txBox="1"/>
          <p:nvPr>
            <p:ph idx="4294967295" type="subTitle"/>
          </p:nvPr>
        </p:nvSpPr>
        <p:spPr>
          <a:xfrm>
            <a:off x="3030575" y="2004037"/>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100</a:t>
            </a:r>
            <a:endParaRPr baseline="30000" sz="2400"/>
          </a:p>
        </p:txBody>
      </p:sp>
      <p:pic>
        <p:nvPicPr>
          <p:cNvPr descr="&lt;math xmlns=&quot;http://www.w3.org/1998/Math/MathML&quot; display=&quot;block&quot; data-is-equatio=&quot;1&quot; data-latex=&quot;\frac{1}{10}&quot;&gt;&lt;mfrac&gt;&lt;mn&gt;1&lt;/mn&gt;&lt;mn&gt;10&lt;/mn&gt;&lt;/mfrac&gt;&lt;/math&gt;" id="1317" name="Google Shape;1317;p93" title="one tenth"/>
          <p:cNvPicPr preferRelativeResize="0"/>
          <p:nvPr/>
        </p:nvPicPr>
        <p:blipFill>
          <a:blip r:embed="rId6">
            <a:alphaModFix/>
          </a:blip>
          <a:stretch>
            <a:fillRect/>
          </a:stretch>
        </p:blipFill>
        <p:spPr>
          <a:xfrm>
            <a:off x="3003822" y="3369950"/>
            <a:ext cx="264350" cy="421873"/>
          </a:xfrm>
          <a:prstGeom prst="rect">
            <a:avLst/>
          </a:prstGeom>
          <a:noFill/>
          <a:ln>
            <a:noFill/>
          </a:ln>
        </p:spPr>
      </p:pic>
      <p:sp>
        <p:nvSpPr>
          <p:cNvPr id="1318" name="Google Shape;1318;p93"/>
          <p:cNvSpPr txBox="1"/>
          <p:nvPr>
            <p:ph idx="4294967295" type="subTitle"/>
          </p:nvPr>
        </p:nvSpPr>
        <p:spPr>
          <a:xfrm>
            <a:off x="3030575" y="2935236"/>
            <a:ext cx="12093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400"/>
              <a:t>1</a:t>
            </a:r>
            <a:endParaRPr baseline="30000"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9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9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sp>
        <p:nvSpPr>
          <p:cNvPr id="1324" name="Google Shape;1324;p94"/>
          <p:cNvSpPr txBox="1"/>
          <p:nvPr>
            <p:ph idx="1" type="body"/>
          </p:nvPr>
        </p:nvSpPr>
        <p:spPr>
          <a:xfrm>
            <a:off x="324000" y="606900"/>
            <a:ext cx="8496000" cy="8019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Let’s look at another calculation using non-integers.</a:t>
            </a:r>
            <a:endParaRPr/>
          </a:p>
        </p:txBody>
      </p:sp>
      <p:sp>
        <p:nvSpPr>
          <p:cNvPr id="1325" name="Google Shape;1325;p94"/>
          <p:cNvSpPr txBox="1"/>
          <p:nvPr/>
        </p:nvSpPr>
        <p:spPr>
          <a:xfrm>
            <a:off x="2339830" y="1408823"/>
            <a:ext cx="15213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3.2 × 4.1</a:t>
            </a:r>
            <a:endParaRPr sz="2200">
              <a:latin typeface="Lexend"/>
              <a:ea typeface="Lexend"/>
              <a:cs typeface="Lexend"/>
              <a:sym typeface="Lexend"/>
            </a:endParaRPr>
          </a:p>
        </p:txBody>
      </p:sp>
      <p:sp>
        <p:nvSpPr>
          <p:cNvPr id="1326" name="Google Shape;1326;p94"/>
          <p:cNvSpPr txBox="1"/>
          <p:nvPr/>
        </p:nvSpPr>
        <p:spPr>
          <a:xfrm>
            <a:off x="4626050" y="1779450"/>
            <a:ext cx="3980100" cy="1243200"/>
          </a:xfrm>
          <a:prstGeom prst="rect">
            <a:avLst/>
          </a:prstGeom>
          <a:noFill/>
          <a:ln cap="flat" cmpd="sng" w="28575">
            <a:solidFill>
              <a:schemeClr val="accent5"/>
            </a:solidFill>
            <a:prstDash val="solid"/>
            <a:round/>
            <a:headEnd len="sm" w="sm" type="none"/>
            <a:tailEnd len="sm" w="sm" type="none"/>
          </a:ln>
        </p:spPr>
        <p:txBody>
          <a:bodyPr anchorCtr="0" anchor="b" bIns="0" lIns="0" spcFirstLastPara="1" rIns="0" wrap="square" tIns="0">
            <a:noAutofit/>
          </a:bodyPr>
          <a:lstStyle/>
          <a:p>
            <a:pPr indent="0" lvl="0" marL="0" rtl="0" algn="ctr">
              <a:lnSpc>
                <a:spcPct val="130000"/>
              </a:lnSpc>
              <a:spcBef>
                <a:spcPts val="0"/>
              </a:spcBef>
              <a:spcAft>
                <a:spcPts val="1000"/>
              </a:spcAft>
              <a:buNone/>
            </a:pPr>
            <a:r>
              <a:rPr lang="en-GB" sz="2000">
                <a:latin typeface="Lexend"/>
                <a:ea typeface="Lexend"/>
                <a:cs typeface="Lexend"/>
                <a:sym typeface="Lexend"/>
              </a:rPr>
              <a:t>Recognising the fractional equivalents</a:t>
            </a:r>
            <a:endParaRPr sz="2000">
              <a:latin typeface="Lexend"/>
              <a:ea typeface="Lexend"/>
              <a:cs typeface="Lexend"/>
              <a:sym typeface="Lexend"/>
            </a:endParaRPr>
          </a:p>
        </p:txBody>
      </p:sp>
      <p:sp>
        <p:nvSpPr>
          <p:cNvPr id="1327" name="Google Shape;1327;p94"/>
          <p:cNvSpPr txBox="1"/>
          <p:nvPr/>
        </p:nvSpPr>
        <p:spPr>
          <a:xfrm>
            <a:off x="1497850" y="2269675"/>
            <a:ext cx="109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32</a:t>
            </a:r>
            <a:r>
              <a:rPr lang="en-GB" sz="2000">
                <a:solidFill>
                  <a:srgbClr val="000000"/>
                </a:solidFill>
                <a:latin typeface="Lexend"/>
                <a:ea typeface="Lexend"/>
                <a:cs typeface="Lexend"/>
                <a:sym typeface="Lexend"/>
              </a:rPr>
              <a:t> × </a:t>
            </a:r>
            <a:r>
              <a:rPr lang="en-GB" sz="2000">
                <a:latin typeface="Lexend"/>
                <a:ea typeface="Lexend"/>
                <a:cs typeface="Lexend"/>
                <a:sym typeface="Lexend"/>
              </a:rPr>
              <a:t>0.1</a:t>
            </a:r>
            <a:endParaRPr sz="2000">
              <a:solidFill>
                <a:srgbClr val="000000"/>
              </a:solidFill>
              <a:latin typeface="Lexend"/>
              <a:ea typeface="Lexend"/>
              <a:cs typeface="Lexend"/>
              <a:sym typeface="Lexend"/>
            </a:endParaRPr>
          </a:p>
        </p:txBody>
      </p:sp>
      <p:sp>
        <p:nvSpPr>
          <p:cNvPr id="1328" name="Google Shape;1328;p94"/>
          <p:cNvSpPr txBox="1"/>
          <p:nvPr/>
        </p:nvSpPr>
        <p:spPr>
          <a:xfrm>
            <a:off x="3325200" y="2269675"/>
            <a:ext cx="106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41</a:t>
            </a:r>
            <a:r>
              <a:rPr lang="en-GB" sz="2000">
                <a:solidFill>
                  <a:srgbClr val="000000"/>
                </a:solidFill>
                <a:latin typeface="Lexend"/>
                <a:ea typeface="Lexend"/>
                <a:cs typeface="Lexend"/>
                <a:sym typeface="Lexend"/>
              </a:rPr>
              <a:t> × </a:t>
            </a:r>
            <a:r>
              <a:rPr lang="en-GB" sz="2000">
                <a:latin typeface="Lexend"/>
                <a:ea typeface="Lexend"/>
                <a:cs typeface="Lexend"/>
                <a:sym typeface="Lexend"/>
              </a:rPr>
              <a:t>0.1</a:t>
            </a:r>
            <a:endParaRPr sz="2000">
              <a:solidFill>
                <a:srgbClr val="000000"/>
              </a:solidFill>
              <a:latin typeface="Lexend"/>
              <a:ea typeface="Lexend"/>
              <a:cs typeface="Lexend"/>
              <a:sym typeface="Lexend"/>
            </a:endParaRPr>
          </a:p>
        </p:txBody>
      </p:sp>
      <p:sp>
        <p:nvSpPr>
          <p:cNvPr id="1329" name="Google Shape;1329;p94"/>
          <p:cNvSpPr txBox="1"/>
          <p:nvPr/>
        </p:nvSpPr>
        <p:spPr>
          <a:xfrm>
            <a:off x="2870350" y="219347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cxnSp>
        <p:nvCxnSpPr>
          <p:cNvPr id="1330" name="Google Shape;1330;p94"/>
          <p:cNvCxnSpPr/>
          <p:nvPr/>
        </p:nvCxnSpPr>
        <p:spPr>
          <a:xfrm flipH="1">
            <a:off x="1946950" y="1745229"/>
            <a:ext cx="585000" cy="486000"/>
          </a:xfrm>
          <a:prstGeom prst="straightConnector1">
            <a:avLst/>
          </a:prstGeom>
          <a:noFill/>
          <a:ln cap="flat" cmpd="sng" w="38100">
            <a:solidFill>
              <a:srgbClr val="808080"/>
            </a:solidFill>
            <a:prstDash val="solid"/>
            <a:round/>
            <a:headEnd len="med" w="med" type="none"/>
            <a:tailEnd len="med" w="med" type="triangle"/>
          </a:ln>
        </p:spPr>
      </p:cxnSp>
      <p:cxnSp>
        <p:nvCxnSpPr>
          <p:cNvPr id="1331" name="Google Shape;1331;p94"/>
          <p:cNvCxnSpPr/>
          <p:nvPr/>
        </p:nvCxnSpPr>
        <p:spPr>
          <a:xfrm>
            <a:off x="3249000" y="1727275"/>
            <a:ext cx="415200" cy="504000"/>
          </a:xfrm>
          <a:prstGeom prst="straightConnector1">
            <a:avLst/>
          </a:prstGeom>
          <a:noFill/>
          <a:ln cap="flat" cmpd="sng" w="38100">
            <a:solidFill>
              <a:srgbClr val="808080"/>
            </a:solidFill>
            <a:prstDash val="solid"/>
            <a:round/>
            <a:headEnd len="med" w="med" type="none"/>
            <a:tailEnd len="med" w="med" type="triangle"/>
          </a:ln>
        </p:spPr>
      </p:cxnSp>
      <p:sp>
        <p:nvSpPr>
          <p:cNvPr id="1332" name="Google Shape;1332;p94"/>
          <p:cNvSpPr txBox="1"/>
          <p:nvPr/>
        </p:nvSpPr>
        <p:spPr>
          <a:xfrm>
            <a:off x="1497850" y="2662225"/>
            <a:ext cx="841800" cy="381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32 </a:t>
            </a:r>
            <a:r>
              <a:rPr lang="en-GB" sz="2000">
                <a:solidFill>
                  <a:srgbClr val="000000"/>
                </a:solidFill>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333" name="Google Shape;1333;p94"/>
          <p:cNvSpPr txBox="1"/>
          <p:nvPr/>
        </p:nvSpPr>
        <p:spPr>
          <a:xfrm>
            <a:off x="3325200" y="2633125"/>
            <a:ext cx="133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41 × </a:t>
            </a:r>
            <a:endParaRPr sz="2000">
              <a:solidFill>
                <a:srgbClr val="000000"/>
              </a:solidFill>
              <a:latin typeface="Lexend"/>
              <a:ea typeface="Lexend"/>
              <a:cs typeface="Lexend"/>
              <a:sym typeface="Lexend"/>
            </a:endParaRPr>
          </a:p>
        </p:txBody>
      </p:sp>
      <p:sp>
        <p:nvSpPr>
          <p:cNvPr id="1334" name="Google Shape;1334;p94"/>
          <p:cNvSpPr txBox="1"/>
          <p:nvPr/>
        </p:nvSpPr>
        <p:spPr>
          <a:xfrm>
            <a:off x="2870350" y="263312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35" name="Google Shape;1335;p94"/>
          <p:cNvSpPr txBox="1"/>
          <p:nvPr/>
        </p:nvSpPr>
        <p:spPr>
          <a:xfrm>
            <a:off x="1524425" y="3160075"/>
            <a:ext cx="118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32 </a:t>
            </a:r>
            <a:r>
              <a:rPr lang="en-GB" sz="2000">
                <a:solidFill>
                  <a:schemeClr val="dk1"/>
                </a:solidFill>
                <a:latin typeface="Lexend"/>
                <a:ea typeface="Lexend"/>
                <a:cs typeface="Lexend"/>
                <a:sym typeface="Lexend"/>
              </a:rPr>
              <a:t>× 41</a:t>
            </a:r>
            <a:r>
              <a:rPr lang="en-GB" sz="2000">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336" name="Google Shape;1336;p94"/>
          <p:cNvSpPr txBox="1"/>
          <p:nvPr/>
        </p:nvSpPr>
        <p:spPr>
          <a:xfrm>
            <a:off x="2870350" y="313097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37" name="Google Shape;1337;p94"/>
          <p:cNvSpPr txBox="1"/>
          <p:nvPr/>
        </p:nvSpPr>
        <p:spPr>
          <a:xfrm>
            <a:off x="4655700" y="956838"/>
            <a:ext cx="3980100" cy="721800"/>
          </a:xfrm>
          <a:prstGeom prst="rect">
            <a:avLst/>
          </a:prstGeom>
          <a:noFill/>
          <a:ln cap="flat" cmpd="sng" w="28575">
            <a:solidFill>
              <a:schemeClr val="accent5"/>
            </a:solidFill>
            <a:prstDash val="solid"/>
            <a:round/>
            <a:headEnd len="sm" w="sm" type="none"/>
            <a:tailEnd len="sm" w="sm" type="none"/>
          </a:ln>
        </p:spPr>
        <p:txBody>
          <a:bodyPr anchorCtr="0" anchor="b" bIns="0" lIns="0" spcFirstLastPara="1" rIns="0" wrap="square" tIns="0">
            <a:noAutofit/>
          </a:bodyPr>
          <a:lstStyle/>
          <a:p>
            <a:pPr indent="0" lvl="0" marL="0" rtl="0" algn="l">
              <a:lnSpc>
                <a:spcPct val="130000"/>
              </a:lnSpc>
              <a:spcBef>
                <a:spcPts val="0"/>
              </a:spcBef>
              <a:spcAft>
                <a:spcPts val="0"/>
              </a:spcAft>
              <a:buClr>
                <a:schemeClr val="dk1"/>
              </a:buClr>
              <a:buSzPts val="1100"/>
              <a:buFont typeface="Arial"/>
              <a:buNone/>
            </a:pPr>
            <a:r>
              <a:t/>
            </a:r>
            <a:endParaRPr sz="2000">
              <a:solidFill>
                <a:schemeClr val="dk1"/>
              </a:solidFill>
              <a:latin typeface="Lexend"/>
              <a:ea typeface="Lexend"/>
              <a:cs typeface="Lexend"/>
              <a:sym typeface="Lexend"/>
            </a:endParaRPr>
          </a:p>
          <a:p>
            <a:pPr indent="0" lvl="0" marL="0" rtl="0" algn="ctr">
              <a:lnSpc>
                <a:spcPct val="130000"/>
              </a:lnSpc>
              <a:spcBef>
                <a:spcPts val="1000"/>
              </a:spcBef>
              <a:spcAft>
                <a:spcPts val="1000"/>
              </a:spcAft>
              <a:buNone/>
            </a:pPr>
            <a:r>
              <a:rPr lang="en-GB" sz="2000">
                <a:latin typeface="Lexend"/>
                <a:ea typeface="Lexend"/>
                <a:cs typeface="Lexend"/>
                <a:sym typeface="Lexend"/>
              </a:rPr>
              <a:t>Using the associative law</a:t>
            </a:r>
            <a:endParaRPr sz="2000">
              <a:latin typeface="Lexend"/>
              <a:ea typeface="Lexend"/>
              <a:cs typeface="Lexend"/>
              <a:sym typeface="Lexend"/>
            </a:endParaRPr>
          </a:p>
        </p:txBody>
      </p:sp>
      <p:sp>
        <p:nvSpPr>
          <p:cNvPr id="1338" name="Google Shape;1338;p94"/>
          <p:cNvSpPr txBox="1"/>
          <p:nvPr/>
        </p:nvSpPr>
        <p:spPr>
          <a:xfrm>
            <a:off x="4655700" y="3123450"/>
            <a:ext cx="3980100" cy="863400"/>
          </a:xfrm>
          <a:prstGeom prst="rect">
            <a:avLst/>
          </a:prstGeom>
          <a:noFill/>
          <a:ln cap="flat" cmpd="sng" w="28575">
            <a:solidFill>
              <a:schemeClr val="accent5"/>
            </a:solidFill>
            <a:prstDash val="solid"/>
            <a:round/>
            <a:headEnd len="sm" w="sm" type="none"/>
            <a:tailEnd len="sm" w="sm" type="none"/>
          </a:ln>
        </p:spPr>
        <p:txBody>
          <a:bodyPr anchorCtr="0" anchor="b" bIns="0" lIns="0" spcFirstLastPara="1" rIns="0" wrap="square" tIns="0">
            <a:noAutofit/>
          </a:bodyPr>
          <a:lstStyle/>
          <a:p>
            <a:pPr indent="0" lvl="0" marL="0" rtl="0" algn="ctr">
              <a:lnSpc>
                <a:spcPct val="130000"/>
              </a:lnSpc>
              <a:spcBef>
                <a:spcPts val="0"/>
              </a:spcBef>
              <a:spcAft>
                <a:spcPts val="1000"/>
              </a:spcAft>
              <a:buNone/>
            </a:pPr>
            <a:r>
              <a:rPr lang="en-GB" sz="2000">
                <a:latin typeface="Lexend"/>
                <a:ea typeface="Lexend"/>
                <a:cs typeface="Lexend"/>
                <a:sym typeface="Lexend"/>
              </a:rPr>
              <a:t>Using the commutative law</a:t>
            </a:r>
            <a:endParaRPr sz="2000">
              <a:latin typeface="Lexend"/>
              <a:ea typeface="Lexend"/>
              <a:cs typeface="Lexend"/>
              <a:sym typeface="Lexend"/>
            </a:endParaRPr>
          </a:p>
        </p:txBody>
      </p:sp>
      <p:sp>
        <p:nvSpPr>
          <p:cNvPr id="1339" name="Google Shape;1339;p94"/>
          <p:cNvSpPr txBox="1"/>
          <p:nvPr>
            <p:ph idx="1" type="body"/>
          </p:nvPr>
        </p:nvSpPr>
        <p:spPr>
          <a:xfrm>
            <a:off x="324000" y="4035900"/>
            <a:ext cx="8304000" cy="381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GB"/>
              <a:t>Now we have a calculation using integers and powers of 10</a:t>
            </a:r>
            <a:endParaRPr/>
          </a:p>
          <a:p>
            <a:pPr indent="0" lvl="0" marL="0" rtl="0" algn="l">
              <a:spcBef>
                <a:spcPts val="1000"/>
              </a:spcBef>
              <a:spcAft>
                <a:spcPts val="1000"/>
              </a:spcAft>
              <a:buNone/>
            </a:pPr>
            <a:r>
              <a:rPr lang="en-GB"/>
              <a:t> </a:t>
            </a:r>
            <a:endParaRPr/>
          </a:p>
        </p:txBody>
      </p:sp>
      <p:pic>
        <p:nvPicPr>
          <p:cNvPr descr="&lt;math xmlns=&quot;http://www.w3.org/1998/Math/MathML&quot; display=&quot;block&quot; data-is-equatio=&quot;1&quot; data-latex=&quot;\frac{1}{10}&quot;&gt;&lt;mfrac&gt;&lt;mn&gt;1&lt;/mn&gt;&lt;mn&gt;10&lt;/mn&gt;&lt;/mfrac&gt;&lt;/math&gt;" id="1340" name="Google Shape;1340;p94" title="one tenth"/>
          <p:cNvPicPr preferRelativeResize="0"/>
          <p:nvPr/>
        </p:nvPicPr>
        <p:blipFill>
          <a:blip r:embed="rId3">
            <a:alphaModFix/>
          </a:blip>
          <a:stretch>
            <a:fillRect/>
          </a:stretch>
        </p:blipFill>
        <p:spPr>
          <a:xfrm>
            <a:off x="2107272" y="2646513"/>
            <a:ext cx="264350" cy="421873"/>
          </a:xfrm>
          <a:prstGeom prst="rect">
            <a:avLst/>
          </a:prstGeom>
          <a:noFill/>
          <a:ln>
            <a:noFill/>
          </a:ln>
        </p:spPr>
      </p:pic>
      <p:pic>
        <p:nvPicPr>
          <p:cNvPr descr="&lt;math xmlns=&quot;http://www.w3.org/1998/Math/MathML&quot; display=&quot;block&quot; data-is-equatio=&quot;1&quot; data-latex=&quot;\frac{1}{10}&quot;&gt;&lt;mfrac&gt;&lt;mn&gt;1&lt;/mn&gt;&lt;mn&gt;10&lt;/mn&gt;&lt;/mfrac&gt;&lt;/math&gt;" id="1341" name="Google Shape;1341;p94" title="one tenth"/>
          <p:cNvPicPr preferRelativeResize="0"/>
          <p:nvPr/>
        </p:nvPicPr>
        <p:blipFill>
          <a:blip r:embed="rId3">
            <a:alphaModFix/>
          </a:blip>
          <a:stretch>
            <a:fillRect/>
          </a:stretch>
        </p:blipFill>
        <p:spPr>
          <a:xfrm>
            <a:off x="3938472" y="2642238"/>
            <a:ext cx="264350" cy="421873"/>
          </a:xfrm>
          <a:prstGeom prst="rect">
            <a:avLst/>
          </a:prstGeom>
          <a:noFill/>
          <a:ln>
            <a:noFill/>
          </a:ln>
        </p:spPr>
      </p:pic>
      <p:pic>
        <p:nvPicPr>
          <p:cNvPr descr="&lt;math xmlns=&quot;http://www.w3.org/1998/Math/MathML&quot; display=&quot;block&quot; data-is-equatio=&quot;1&quot; data-latex=&quot;\frac{1}{10}&quot;&gt;&lt;mfrac&gt;&lt;mn&gt;1&lt;/mn&gt;&lt;mn&gt;10&lt;/mn&gt;&lt;/mfrac&gt;&lt;/math&gt;" id="1342" name="Google Shape;1342;p94" title="one tenth"/>
          <p:cNvPicPr preferRelativeResize="0"/>
          <p:nvPr/>
        </p:nvPicPr>
        <p:blipFill>
          <a:blip r:embed="rId3">
            <a:alphaModFix/>
          </a:blip>
          <a:stretch>
            <a:fillRect/>
          </a:stretch>
        </p:blipFill>
        <p:spPr>
          <a:xfrm>
            <a:off x="3255372" y="3022238"/>
            <a:ext cx="264350" cy="421873"/>
          </a:xfrm>
          <a:prstGeom prst="rect">
            <a:avLst/>
          </a:prstGeom>
          <a:noFill/>
          <a:ln>
            <a:noFill/>
          </a:ln>
        </p:spPr>
      </p:pic>
      <p:sp>
        <p:nvSpPr>
          <p:cNvPr id="1343" name="Google Shape;1343;p94"/>
          <p:cNvSpPr txBox="1"/>
          <p:nvPr/>
        </p:nvSpPr>
        <p:spPr>
          <a:xfrm>
            <a:off x="3494089" y="2986875"/>
            <a:ext cx="3414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a:t>
            </a:r>
            <a:endParaRPr/>
          </a:p>
        </p:txBody>
      </p:sp>
      <p:pic>
        <p:nvPicPr>
          <p:cNvPr descr="&lt;math xmlns=&quot;http://www.w3.org/1998/Math/MathML&quot; display=&quot;block&quot; data-is-equatio=&quot;1&quot; data-latex=&quot;\frac{1}{10}&quot;&gt;&lt;mfrac&gt;&lt;mn&gt;1&lt;/mn&gt;&lt;mn&gt;10&lt;/mn&gt;&lt;/mfrac&gt;&lt;/math&gt;" id="1344" name="Google Shape;1344;p94" title="one tenth"/>
          <p:cNvPicPr preferRelativeResize="0"/>
          <p:nvPr/>
        </p:nvPicPr>
        <p:blipFill>
          <a:blip r:embed="rId3">
            <a:alphaModFix/>
          </a:blip>
          <a:stretch>
            <a:fillRect/>
          </a:stretch>
        </p:blipFill>
        <p:spPr>
          <a:xfrm>
            <a:off x="3784222" y="3022238"/>
            <a:ext cx="264350" cy="421873"/>
          </a:xfrm>
          <a:prstGeom prst="rect">
            <a:avLst/>
          </a:prstGeom>
          <a:noFill/>
          <a:ln>
            <a:noFill/>
          </a:ln>
        </p:spPr>
      </p:pic>
      <p:sp>
        <p:nvSpPr>
          <p:cNvPr id="1345" name="Google Shape;1345;p94"/>
          <p:cNvSpPr txBox="1"/>
          <p:nvPr/>
        </p:nvSpPr>
        <p:spPr>
          <a:xfrm>
            <a:off x="1524425" y="3541075"/>
            <a:ext cx="118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32 </a:t>
            </a:r>
            <a:r>
              <a:rPr lang="en-GB" sz="2000">
                <a:solidFill>
                  <a:schemeClr val="dk1"/>
                </a:solidFill>
                <a:latin typeface="Lexend"/>
                <a:ea typeface="Lexend"/>
                <a:cs typeface="Lexend"/>
                <a:sym typeface="Lexend"/>
              </a:rPr>
              <a:t>× 41</a:t>
            </a:r>
            <a:r>
              <a:rPr lang="en-GB" sz="2000">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346" name="Google Shape;1346;p94"/>
          <p:cNvSpPr txBox="1"/>
          <p:nvPr/>
        </p:nvSpPr>
        <p:spPr>
          <a:xfrm>
            <a:off x="2870350" y="351197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1}{100}&quot;&gt;&lt;mfrac&gt;&lt;mn&gt;1&lt;/mn&gt;&lt;mn&gt;100&lt;/mn&gt;&lt;/mfrac&gt;&lt;/math&gt;" id="1347" name="Google Shape;1347;p94" title="1 over 100"/>
          <p:cNvPicPr preferRelativeResize="0"/>
          <p:nvPr/>
        </p:nvPicPr>
        <p:blipFill>
          <a:blip r:embed="rId4">
            <a:alphaModFix/>
          </a:blip>
          <a:stretch>
            <a:fillRect/>
          </a:stretch>
        </p:blipFill>
        <p:spPr>
          <a:xfrm>
            <a:off x="3255384" y="3510892"/>
            <a:ext cx="378383" cy="417385"/>
          </a:xfrm>
          <a:prstGeom prst="rect">
            <a:avLst/>
          </a:prstGeom>
          <a:noFill/>
          <a:ln>
            <a:noFill/>
          </a:ln>
        </p:spPr>
      </p:pic>
      <p:sp>
        <p:nvSpPr>
          <p:cNvPr id="1348" name="Google Shape;1348;p94"/>
          <p:cNvSpPr txBox="1"/>
          <p:nvPr/>
        </p:nvSpPr>
        <p:spPr>
          <a:xfrm>
            <a:off x="3048425" y="4455475"/>
            <a:ext cx="118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32 </a:t>
            </a:r>
            <a:r>
              <a:rPr lang="en-GB" sz="2000">
                <a:solidFill>
                  <a:schemeClr val="dk1"/>
                </a:solidFill>
                <a:latin typeface="Lexend"/>
                <a:ea typeface="Lexend"/>
                <a:cs typeface="Lexend"/>
                <a:sym typeface="Lexend"/>
              </a:rPr>
              <a:t>× 41</a:t>
            </a:r>
            <a:r>
              <a:rPr lang="en-GB" sz="2000">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349" name="Google Shape;1349;p94"/>
          <p:cNvSpPr txBox="1"/>
          <p:nvPr/>
        </p:nvSpPr>
        <p:spPr>
          <a:xfrm>
            <a:off x="3937150" y="4426375"/>
            <a:ext cx="17091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1}{100}&quot;&gt;&lt;mfrac&gt;&lt;mn&gt;1&lt;/mn&gt;&lt;mn&gt;100&lt;/mn&gt;&lt;/mfrac&gt;&lt;/math&gt;" id="1350" name="Google Shape;1350;p94" title="1 over 100"/>
          <p:cNvPicPr preferRelativeResize="0"/>
          <p:nvPr/>
        </p:nvPicPr>
        <p:blipFill>
          <a:blip r:embed="rId4">
            <a:alphaModFix/>
          </a:blip>
          <a:stretch>
            <a:fillRect/>
          </a:stretch>
        </p:blipFill>
        <p:spPr>
          <a:xfrm>
            <a:off x="4169784" y="4425292"/>
            <a:ext cx="378383" cy="417385"/>
          </a:xfrm>
          <a:prstGeom prst="rect">
            <a:avLst/>
          </a:prstGeom>
          <a:noFill/>
          <a:ln>
            <a:noFill/>
          </a:ln>
        </p:spPr>
      </p:pic>
      <p:sp>
        <p:nvSpPr>
          <p:cNvPr id="1351" name="Google Shape;1351;p94"/>
          <p:cNvSpPr txBox="1"/>
          <p:nvPr/>
        </p:nvSpPr>
        <p:spPr>
          <a:xfrm>
            <a:off x="5054400" y="4404618"/>
            <a:ext cx="2404800" cy="381900"/>
          </a:xfrm>
          <a:prstGeom prst="rect">
            <a:avLst/>
          </a:prstGeom>
          <a:noFill/>
          <a:ln cap="flat" cmpd="sng" w="28575">
            <a:solidFill>
              <a:schemeClr val="accent5"/>
            </a:solidFill>
            <a:prstDash val="solid"/>
            <a:round/>
            <a:headEnd len="sm" w="sm" type="none"/>
            <a:tailEnd len="sm" w="sm" type="none"/>
          </a:ln>
        </p:spPr>
        <p:txBody>
          <a:bodyPr anchorCtr="0" anchor="t" bIns="0" lIns="0" spcFirstLastPara="1" rIns="0" wrap="square" tIns="0">
            <a:noAutofit/>
          </a:bodyPr>
          <a:lstStyle/>
          <a:p>
            <a:pPr indent="0" lvl="0" marL="0" rtl="0" algn="ctr">
              <a:lnSpc>
                <a:spcPct val="130000"/>
              </a:lnSpc>
              <a:spcBef>
                <a:spcPts val="0"/>
              </a:spcBef>
              <a:spcAft>
                <a:spcPts val="1000"/>
              </a:spcAft>
              <a:buNone/>
            </a:pPr>
            <a:r>
              <a:rPr lang="en-GB" sz="2000">
                <a:latin typeface="Lexend"/>
                <a:ea typeface="Lexend"/>
                <a:cs typeface="Lexend"/>
                <a:sym typeface="Lexend"/>
              </a:rPr>
              <a:t>Simplifying</a:t>
            </a:r>
            <a:endParaRPr sz="20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3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5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sp>
        <p:nvSpPr>
          <p:cNvPr id="1357" name="Google Shape;1357;p95"/>
          <p:cNvSpPr txBox="1"/>
          <p:nvPr>
            <p:ph idx="1" type="body"/>
          </p:nvPr>
        </p:nvSpPr>
        <p:spPr>
          <a:xfrm>
            <a:off x="324000" y="606900"/>
            <a:ext cx="8496000" cy="8019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Let’s look at another calculation using non-integers and continue to partition using powers of 10.</a:t>
            </a:r>
            <a:endParaRPr/>
          </a:p>
        </p:txBody>
      </p:sp>
      <p:sp>
        <p:nvSpPr>
          <p:cNvPr id="1358" name="Google Shape;1358;p95"/>
          <p:cNvSpPr txBox="1"/>
          <p:nvPr/>
        </p:nvSpPr>
        <p:spPr>
          <a:xfrm>
            <a:off x="2339830" y="1408823"/>
            <a:ext cx="15213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Lexend"/>
                <a:ea typeface="Lexend"/>
                <a:cs typeface="Lexend"/>
                <a:sym typeface="Lexend"/>
              </a:rPr>
              <a:t>3.2 × 4.1</a:t>
            </a:r>
            <a:endParaRPr sz="2200">
              <a:latin typeface="Lexend"/>
              <a:ea typeface="Lexend"/>
              <a:cs typeface="Lexend"/>
              <a:sym typeface="Lexend"/>
            </a:endParaRPr>
          </a:p>
        </p:txBody>
      </p:sp>
      <p:sp>
        <p:nvSpPr>
          <p:cNvPr id="1359" name="Google Shape;1359;p95"/>
          <p:cNvSpPr txBox="1"/>
          <p:nvPr/>
        </p:nvSpPr>
        <p:spPr>
          <a:xfrm>
            <a:off x="1497850" y="2269675"/>
            <a:ext cx="109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32</a:t>
            </a:r>
            <a:r>
              <a:rPr lang="en-GB" sz="2000">
                <a:solidFill>
                  <a:srgbClr val="000000"/>
                </a:solidFill>
                <a:latin typeface="Lexend"/>
                <a:ea typeface="Lexend"/>
                <a:cs typeface="Lexend"/>
                <a:sym typeface="Lexend"/>
              </a:rPr>
              <a:t> × </a:t>
            </a:r>
            <a:r>
              <a:rPr lang="en-GB" sz="2000">
                <a:latin typeface="Lexend"/>
                <a:ea typeface="Lexend"/>
                <a:cs typeface="Lexend"/>
                <a:sym typeface="Lexend"/>
              </a:rPr>
              <a:t>0.1</a:t>
            </a:r>
            <a:endParaRPr sz="2000">
              <a:solidFill>
                <a:srgbClr val="000000"/>
              </a:solidFill>
              <a:latin typeface="Lexend"/>
              <a:ea typeface="Lexend"/>
              <a:cs typeface="Lexend"/>
              <a:sym typeface="Lexend"/>
            </a:endParaRPr>
          </a:p>
        </p:txBody>
      </p:sp>
      <p:sp>
        <p:nvSpPr>
          <p:cNvPr id="1360" name="Google Shape;1360;p95"/>
          <p:cNvSpPr txBox="1"/>
          <p:nvPr/>
        </p:nvSpPr>
        <p:spPr>
          <a:xfrm>
            <a:off x="3325200" y="2269675"/>
            <a:ext cx="106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41</a:t>
            </a:r>
            <a:r>
              <a:rPr lang="en-GB" sz="2000">
                <a:solidFill>
                  <a:srgbClr val="000000"/>
                </a:solidFill>
                <a:latin typeface="Lexend"/>
                <a:ea typeface="Lexend"/>
                <a:cs typeface="Lexend"/>
                <a:sym typeface="Lexend"/>
              </a:rPr>
              <a:t> × </a:t>
            </a:r>
            <a:r>
              <a:rPr lang="en-GB" sz="2000">
                <a:latin typeface="Lexend"/>
                <a:ea typeface="Lexend"/>
                <a:cs typeface="Lexend"/>
                <a:sym typeface="Lexend"/>
              </a:rPr>
              <a:t>0.1</a:t>
            </a:r>
            <a:endParaRPr sz="2000">
              <a:solidFill>
                <a:srgbClr val="000000"/>
              </a:solidFill>
              <a:latin typeface="Lexend"/>
              <a:ea typeface="Lexend"/>
              <a:cs typeface="Lexend"/>
              <a:sym typeface="Lexend"/>
            </a:endParaRPr>
          </a:p>
        </p:txBody>
      </p:sp>
      <p:sp>
        <p:nvSpPr>
          <p:cNvPr id="1361" name="Google Shape;1361;p95"/>
          <p:cNvSpPr txBox="1"/>
          <p:nvPr/>
        </p:nvSpPr>
        <p:spPr>
          <a:xfrm>
            <a:off x="2870350" y="219347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cxnSp>
        <p:nvCxnSpPr>
          <p:cNvPr id="1362" name="Google Shape;1362;p95"/>
          <p:cNvCxnSpPr/>
          <p:nvPr/>
        </p:nvCxnSpPr>
        <p:spPr>
          <a:xfrm flipH="1">
            <a:off x="1946950" y="1745229"/>
            <a:ext cx="585000" cy="486000"/>
          </a:xfrm>
          <a:prstGeom prst="straightConnector1">
            <a:avLst/>
          </a:prstGeom>
          <a:noFill/>
          <a:ln cap="flat" cmpd="sng" w="38100">
            <a:solidFill>
              <a:srgbClr val="808080"/>
            </a:solidFill>
            <a:prstDash val="solid"/>
            <a:round/>
            <a:headEnd len="med" w="med" type="none"/>
            <a:tailEnd len="med" w="med" type="triangle"/>
          </a:ln>
        </p:spPr>
      </p:cxnSp>
      <p:cxnSp>
        <p:nvCxnSpPr>
          <p:cNvPr id="1363" name="Google Shape;1363;p95"/>
          <p:cNvCxnSpPr/>
          <p:nvPr/>
        </p:nvCxnSpPr>
        <p:spPr>
          <a:xfrm>
            <a:off x="3249000" y="1727275"/>
            <a:ext cx="415200" cy="504000"/>
          </a:xfrm>
          <a:prstGeom prst="straightConnector1">
            <a:avLst/>
          </a:prstGeom>
          <a:noFill/>
          <a:ln cap="flat" cmpd="sng" w="38100">
            <a:solidFill>
              <a:srgbClr val="808080"/>
            </a:solidFill>
            <a:prstDash val="solid"/>
            <a:round/>
            <a:headEnd len="med" w="med" type="none"/>
            <a:tailEnd len="med" w="med" type="triangle"/>
          </a:ln>
        </p:spPr>
      </p:cxnSp>
      <p:sp>
        <p:nvSpPr>
          <p:cNvPr id="1364" name="Google Shape;1364;p95"/>
          <p:cNvSpPr txBox="1"/>
          <p:nvPr/>
        </p:nvSpPr>
        <p:spPr>
          <a:xfrm>
            <a:off x="1497850" y="2662225"/>
            <a:ext cx="841800" cy="381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32 </a:t>
            </a:r>
            <a:r>
              <a:rPr lang="en-GB" sz="2000">
                <a:solidFill>
                  <a:srgbClr val="000000"/>
                </a:solidFill>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365" name="Google Shape;1365;p95"/>
          <p:cNvSpPr txBox="1"/>
          <p:nvPr/>
        </p:nvSpPr>
        <p:spPr>
          <a:xfrm>
            <a:off x="3325200" y="2633125"/>
            <a:ext cx="133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41 × </a:t>
            </a:r>
            <a:endParaRPr sz="2000">
              <a:solidFill>
                <a:srgbClr val="000000"/>
              </a:solidFill>
              <a:latin typeface="Lexend"/>
              <a:ea typeface="Lexend"/>
              <a:cs typeface="Lexend"/>
              <a:sym typeface="Lexend"/>
            </a:endParaRPr>
          </a:p>
        </p:txBody>
      </p:sp>
      <p:sp>
        <p:nvSpPr>
          <p:cNvPr id="1366" name="Google Shape;1366;p95"/>
          <p:cNvSpPr txBox="1"/>
          <p:nvPr/>
        </p:nvSpPr>
        <p:spPr>
          <a:xfrm>
            <a:off x="2870350" y="263312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67" name="Google Shape;1367;p95"/>
          <p:cNvSpPr txBox="1"/>
          <p:nvPr/>
        </p:nvSpPr>
        <p:spPr>
          <a:xfrm>
            <a:off x="1524425" y="3160075"/>
            <a:ext cx="118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32 </a:t>
            </a:r>
            <a:r>
              <a:rPr lang="en-GB" sz="2000">
                <a:solidFill>
                  <a:schemeClr val="dk1"/>
                </a:solidFill>
                <a:latin typeface="Lexend"/>
                <a:ea typeface="Lexend"/>
                <a:cs typeface="Lexend"/>
                <a:sym typeface="Lexend"/>
              </a:rPr>
              <a:t>× 41</a:t>
            </a:r>
            <a:r>
              <a:rPr lang="en-GB" sz="2000">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368" name="Google Shape;1368;p95"/>
          <p:cNvSpPr txBox="1"/>
          <p:nvPr/>
        </p:nvSpPr>
        <p:spPr>
          <a:xfrm>
            <a:off x="2870350" y="313097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sp>
        <p:nvSpPr>
          <p:cNvPr id="1369" name="Google Shape;1369;p95"/>
          <p:cNvSpPr txBox="1"/>
          <p:nvPr>
            <p:ph idx="1" type="body"/>
          </p:nvPr>
        </p:nvSpPr>
        <p:spPr>
          <a:xfrm>
            <a:off x="324000" y="4035900"/>
            <a:ext cx="8006400" cy="381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We can also use our knowledge on writing the fraction in exponential form</a:t>
            </a:r>
            <a:endParaRPr/>
          </a:p>
          <a:p>
            <a:pPr indent="0" lvl="0" marL="0" rtl="0" algn="l">
              <a:spcBef>
                <a:spcPts val="1000"/>
              </a:spcBef>
              <a:spcAft>
                <a:spcPts val="1000"/>
              </a:spcAft>
              <a:buNone/>
            </a:pPr>
            <a:r>
              <a:rPr lang="en-GB"/>
              <a:t> </a:t>
            </a:r>
            <a:endParaRPr/>
          </a:p>
        </p:txBody>
      </p:sp>
      <p:pic>
        <p:nvPicPr>
          <p:cNvPr descr="&lt;math xmlns=&quot;http://www.w3.org/1998/Math/MathML&quot; display=&quot;block&quot; data-is-equatio=&quot;1&quot; data-latex=&quot;\frac{1}{10}&quot;&gt;&lt;mfrac&gt;&lt;mn&gt;1&lt;/mn&gt;&lt;mn&gt;10&lt;/mn&gt;&lt;/mfrac&gt;&lt;/math&gt;" id="1370" name="Google Shape;1370;p95" title="one tenth"/>
          <p:cNvPicPr preferRelativeResize="0"/>
          <p:nvPr/>
        </p:nvPicPr>
        <p:blipFill>
          <a:blip r:embed="rId3">
            <a:alphaModFix/>
          </a:blip>
          <a:stretch>
            <a:fillRect/>
          </a:stretch>
        </p:blipFill>
        <p:spPr>
          <a:xfrm>
            <a:off x="2107272" y="2646513"/>
            <a:ext cx="264350" cy="421873"/>
          </a:xfrm>
          <a:prstGeom prst="rect">
            <a:avLst/>
          </a:prstGeom>
          <a:noFill/>
          <a:ln>
            <a:noFill/>
          </a:ln>
        </p:spPr>
      </p:pic>
      <p:pic>
        <p:nvPicPr>
          <p:cNvPr descr="&lt;math xmlns=&quot;http://www.w3.org/1998/Math/MathML&quot; display=&quot;block&quot; data-is-equatio=&quot;1&quot; data-latex=&quot;\frac{1}{10}&quot;&gt;&lt;mfrac&gt;&lt;mn&gt;1&lt;/mn&gt;&lt;mn&gt;10&lt;/mn&gt;&lt;/mfrac&gt;&lt;/math&gt;" id="1371" name="Google Shape;1371;p95" title="one tenth"/>
          <p:cNvPicPr preferRelativeResize="0"/>
          <p:nvPr/>
        </p:nvPicPr>
        <p:blipFill>
          <a:blip r:embed="rId3">
            <a:alphaModFix/>
          </a:blip>
          <a:stretch>
            <a:fillRect/>
          </a:stretch>
        </p:blipFill>
        <p:spPr>
          <a:xfrm>
            <a:off x="3938472" y="2642238"/>
            <a:ext cx="264350" cy="421873"/>
          </a:xfrm>
          <a:prstGeom prst="rect">
            <a:avLst/>
          </a:prstGeom>
          <a:noFill/>
          <a:ln>
            <a:noFill/>
          </a:ln>
        </p:spPr>
      </p:pic>
      <p:pic>
        <p:nvPicPr>
          <p:cNvPr descr="&lt;math xmlns=&quot;http://www.w3.org/1998/Math/MathML&quot; display=&quot;block&quot; data-is-equatio=&quot;1&quot; data-latex=&quot;\frac{1}{10}&quot;&gt;&lt;mfrac&gt;&lt;mn&gt;1&lt;/mn&gt;&lt;mn&gt;10&lt;/mn&gt;&lt;/mfrac&gt;&lt;/math&gt;" id="1372" name="Google Shape;1372;p95" title="one tenth"/>
          <p:cNvPicPr preferRelativeResize="0"/>
          <p:nvPr/>
        </p:nvPicPr>
        <p:blipFill>
          <a:blip r:embed="rId3">
            <a:alphaModFix/>
          </a:blip>
          <a:stretch>
            <a:fillRect/>
          </a:stretch>
        </p:blipFill>
        <p:spPr>
          <a:xfrm>
            <a:off x="3255372" y="3022238"/>
            <a:ext cx="264350" cy="421873"/>
          </a:xfrm>
          <a:prstGeom prst="rect">
            <a:avLst/>
          </a:prstGeom>
          <a:noFill/>
          <a:ln>
            <a:noFill/>
          </a:ln>
        </p:spPr>
      </p:pic>
      <p:sp>
        <p:nvSpPr>
          <p:cNvPr id="1373" name="Google Shape;1373;p95"/>
          <p:cNvSpPr txBox="1"/>
          <p:nvPr/>
        </p:nvSpPr>
        <p:spPr>
          <a:xfrm>
            <a:off x="3494089" y="2986875"/>
            <a:ext cx="3414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a:t>
            </a:r>
            <a:endParaRPr/>
          </a:p>
        </p:txBody>
      </p:sp>
      <p:pic>
        <p:nvPicPr>
          <p:cNvPr descr="&lt;math xmlns=&quot;http://www.w3.org/1998/Math/MathML&quot; display=&quot;block&quot; data-is-equatio=&quot;1&quot; data-latex=&quot;\frac{1}{10}&quot;&gt;&lt;mfrac&gt;&lt;mn&gt;1&lt;/mn&gt;&lt;mn&gt;10&lt;/mn&gt;&lt;/mfrac&gt;&lt;/math&gt;" id="1374" name="Google Shape;1374;p95" title="one tenth"/>
          <p:cNvPicPr preferRelativeResize="0"/>
          <p:nvPr/>
        </p:nvPicPr>
        <p:blipFill>
          <a:blip r:embed="rId3">
            <a:alphaModFix/>
          </a:blip>
          <a:stretch>
            <a:fillRect/>
          </a:stretch>
        </p:blipFill>
        <p:spPr>
          <a:xfrm>
            <a:off x="3784222" y="3022238"/>
            <a:ext cx="264350" cy="421873"/>
          </a:xfrm>
          <a:prstGeom prst="rect">
            <a:avLst/>
          </a:prstGeom>
          <a:noFill/>
          <a:ln>
            <a:noFill/>
          </a:ln>
        </p:spPr>
      </p:pic>
      <p:sp>
        <p:nvSpPr>
          <p:cNvPr id="1375" name="Google Shape;1375;p95"/>
          <p:cNvSpPr txBox="1"/>
          <p:nvPr/>
        </p:nvSpPr>
        <p:spPr>
          <a:xfrm>
            <a:off x="1524425" y="3541075"/>
            <a:ext cx="118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32 </a:t>
            </a:r>
            <a:r>
              <a:rPr lang="en-GB" sz="2000">
                <a:solidFill>
                  <a:schemeClr val="dk1"/>
                </a:solidFill>
                <a:latin typeface="Lexend"/>
                <a:ea typeface="Lexend"/>
                <a:cs typeface="Lexend"/>
                <a:sym typeface="Lexend"/>
              </a:rPr>
              <a:t>× 41</a:t>
            </a:r>
            <a:r>
              <a:rPr lang="en-GB" sz="2000">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376" name="Google Shape;1376;p95"/>
          <p:cNvSpPr txBox="1"/>
          <p:nvPr/>
        </p:nvSpPr>
        <p:spPr>
          <a:xfrm>
            <a:off x="2870350" y="3511975"/>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1}{100}&quot;&gt;&lt;mfrac&gt;&lt;mn&gt;1&lt;/mn&gt;&lt;mn&gt;100&lt;/mn&gt;&lt;/mfrac&gt;&lt;/math&gt;" id="1377" name="Google Shape;1377;p95" title="1 over 100"/>
          <p:cNvPicPr preferRelativeResize="0"/>
          <p:nvPr/>
        </p:nvPicPr>
        <p:blipFill>
          <a:blip r:embed="rId4">
            <a:alphaModFix/>
          </a:blip>
          <a:stretch>
            <a:fillRect/>
          </a:stretch>
        </p:blipFill>
        <p:spPr>
          <a:xfrm>
            <a:off x="3255384" y="3510892"/>
            <a:ext cx="378383" cy="417385"/>
          </a:xfrm>
          <a:prstGeom prst="rect">
            <a:avLst/>
          </a:prstGeom>
          <a:noFill/>
          <a:ln>
            <a:noFill/>
          </a:ln>
        </p:spPr>
      </p:pic>
      <p:sp>
        <p:nvSpPr>
          <p:cNvPr id="1378" name="Google Shape;1378;p95"/>
          <p:cNvSpPr txBox="1"/>
          <p:nvPr/>
        </p:nvSpPr>
        <p:spPr>
          <a:xfrm>
            <a:off x="3048425" y="4455475"/>
            <a:ext cx="118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32 </a:t>
            </a:r>
            <a:r>
              <a:rPr lang="en-GB" sz="2000">
                <a:solidFill>
                  <a:schemeClr val="dk1"/>
                </a:solidFill>
                <a:latin typeface="Lexend"/>
                <a:ea typeface="Lexend"/>
                <a:cs typeface="Lexend"/>
                <a:sym typeface="Lexend"/>
              </a:rPr>
              <a:t>× 41</a:t>
            </a:r>
            <a:r>
              <a:rPr lang="en-GB" sz="2000">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379" name="Google Shape;1379;p95"/>
          <p:cNvSpPr txBox="1"/>
          <p:nvPr/>
        </p:nvSpPr>
        <p:spPr>
          <a:xfrm>
            <a:off x="3937150" y="4426375"/>
            <a:ext cx="17091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1}{100}&quot;&gt;&lt;mfrac&gt;&lt;mn&gt;1&lt;/mn&gt;&lt;mn&gt;100&lt;/mn&gt;&lt;/mfrac&gt;&lt;/math&gt;" id="1380" name="Google Shape;1380;p95" title="1 over 100"/>
          <p:cNvPicPr preferRelativeResize="0"/>
          <p:nvPr/>
        </p:nvPicPr>
        <p:blipFill>
          <a:blip r:embed="rId4">
            <a:alphaModFix/>
          </a:blip>
          <a:stretch>
            <a:fillRect/>
          </a:stretch>
        </p:blipFill>
        <p:spPr>
          <a:xfrm>
            <a:off x="4169784" y="4425292"/>
            <a:ext cx="378383" cy="417385"/>
          </a:xfrm>
          <a:prstGeom prst="rect">
            <a:avLst/>
          </a:prstGeom>
          <a:noFill/>
          <a:ln>
            <a:noFill/>
          </a:ln>
        </p:spPr>
      </p:pic>
      <p:sp>
        <p:nvSpPr>
          <p:cNvPr id="1381" name="Google Shape;1381;p95"/>
          <p:cNvSpPr txBox="1"/>
          <p:nvPr/>
        </p:nvSpPr>
        <p:spPr>
          <a:xfrm>
            <a:off x="4648625" y="4455475"/>
            <a:ext cx="19041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 32 </a:t>
            </a:r>
            <a:r>
              <a:rPr lang="en-GB" sz="2000">
                <a:solidFill>
                  <a:schemeClr val="dk1"/>
                </a:solidFill>
                <a:latin typeface="Lexend"/>
                <a:ea typeface="Lexend"/>
                <a:cs typeface="Lexend"/>
                <a:sym typeface="Lexend"/>
              </a:rPr>
              <a:t>× 41</a:t>
            </a:r>
            <a:r>
              <a:rPr lang="en-GB" sz="2000">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382" name="Google Shape;1382;p95"/>
          <p:cNvSpPr txBox="1"/>
          <p:nvPr/>
        </p:nvSpPr>
        <p:spPr>
          <a:xfrm>
            <a:off x="5765950" y="4426375"/>
            <a:ext cx="2643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1}{10^2}\ \ \frac{1}{10^3}&quot;&gt;&lt;mfrac&gt;&lt;mn&gt;1&lt;/mn&gt;&lt;msup&gt;&lt;mn&gt;10&lt;/mn&gt;&lt;mn&gt;2&lt;/mn&gt;&lt;/msup&gt;&lt;/mfrac&gt;&lt;mtext&gt;&lt;/mtext&gt;&lt;mtext&gt;&lt;/mtext&gt;&lt;mfrac&gt;&lt;mn&gt;1&lt;/mn&gt;&lt;msup&gt;&lt;mn&gt;10&lt;/mn&gt;&lt;mn&gt;3&lt;/mn&gt;&lt;/msup&gt;&lt;/mfrac&gt;&lt;/math&gt;" id="1383" name="Google Shape;1383;p95" title="the fraction with numerator 1 and denominator 10 squared the fraction with numerator 1 and denominator 10 cubed"/>
          <p:cNvPicPr preferRelativeResize="0"/>
          <p:nvPr/>
        </p:nvPicPr>
        <p:blipFill rotWithShape="1">
          <a:blip r:embed="rId5">
            <a:alphaModFix/>
          </a:blip>
          <a:srcRect b="0" l="0" r="50502" t="0"/>
          <a:stretch/>
        </p:blipFill>
        <p:spPr>
          <a:xfrm>
            <a:off x="5962325" y="4369183"/>
            <a:ext cx="446875" cy="52961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sp>
        <p:nvSpPr>
          <p:cNvPr id="1389" name="Google Shape;1389;p96"/>
          <p:cNvSpPr txBox="1"/>
          <p:nvPr>
            <p:ph idx="1" type="body"/>
          </p:nvPr>
        </p:nvSpPr>
        <p:spPr>
          <a:xfrm>
            <a:off x="324000" y="606900"/>
            <a:ext cx="8496000" cy="8019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This </a:t>
            </a:r>
            <a:r>
              <a:rPr lang="en-GB"/>
              <a:t>calculation can be written in a number of different ways, using knowledge of multiplying fractions. </a:t>
            </a:r>
            <a:endParaRPr/>
          </a:p>
        </p:txBody>
      </p:sp>
      <p:sp>
        <p:nvSpPr>
          <p:cNvPr id="1390" name="Google Shape;1390;p96"/>
          <p:cNvSpPr txBox="1"/>
          <p:nvPr>
            <p:ph idx="1" type="body"/>
          </p:nvPr>
        </p:nvSpPr>
        <p:spPr>
          <a:xfrm>
            <a:off x="316800" y="1489800"/>
            <a:ext cx="8006400" cy="381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So far, we know</a:t>
            </a:r>
            <a:endParaRPr/>
          </a:p>
          <a:p>
            <a:pPr indent="0" lvl="0" marL="0" rtl="0" algn="l">
              <a:lnSpc>
                <a:spcPct val="130000"/>
              </a:lnSpc>
              <a:spcBef>
                <a:spcPts val="1000"/>
              </a:spcBef>
              <a:spcAft>
                <a:spcPts val="1000"/>
              </a:spcAft>
              <a:buClr>
                <a:schemeClr val="dk1"/>
              </a:buClr>
              <a:buSzPts val="1100"/>
              <a:buFont typeface="Arial"/>
              <a:buNone/>
            </a:pPr>
            <a:r>
              <a:t/>
            </a:r>
            <a:endParaRPr/>
          </a:p>
        </p:txBody>
      </p:sp>
      <p:sp>
        <p:nvSpPr>
          <p:cNvPr id="1391" name="Google Shape;1391;p96"/>
          <p:cNvSpPr txBox="1"/>
          <p:nvPr/>
        </p:nvSpPr>
        <p:spPr>
          <a:xfrm>
            <a:off x="3683123" y="2041995"/>
            <a:ext cx="186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32 </a:t>
            </a:r>
            <a:r>
              <a:rPr lang="en-GB" sz="2200">
                <a:solidFill>
                  <a:schemeClr val="dk1"/>
                </a:solidFill>
                <a:latin typeface="Lexend"/>
                <a:ea typeface="Lexend"/>
                <a:cs typeface="Lexend"/>
                <a:sym typeface="Lexend"/>
              </a:rPr>
              <a:t>× 41</a:t>
            </a:r>
            <a:r>
              <a:rPr lang="en-GB" sz="2200">
                <a:latin typeface="Lexend"/>
                <a:ea typeface="Lexend"/>
                <a:cs typeface="Lexend"/>
                <a:sym typeface="Lexend"/>
              </a:rPr>
              <a:t> </a:t>
            </a:r>
            <a:endParaRPr sz="2200">
              <a:solidFill>
                <a:srgbClr val="000000"/>
              </a:solidFill>
              <a:latin typeface="Lexend"/>
              <a:ea typeface="Lexend"/>
              <a:cs typeface="Lexend"/>
              <a:sym typeface="Lexend"/>
            </a:endParaRPr>
          </a:p>
        </p:txBody>
      </p:sp>
      <p:sp>
        <p:nvSpPr>
          <p:cNvPr id="1392" name="Google Shape;1392;p96"/>
          <p:cNvSpPr txBox="1"/>
          <p:nvPr/>
        </p:nvSpPr>
        <p:spPr>
          <a:xfrm>
            <a:off x="4715662" y="2060701"/>
            <a:ext cx="17091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1}{100}&quot;&gt;&lt;mfrac&gt;&lt;mn&gt;1&lt;/mn&gt;&lt;mn&gt;100&lt;/mn&gt;&lt;/mfrac&gt;&lt;/math&gt;" id="1393" name="Google Shape;1393;p96" title="1 over 100"/>
          <p:cNvPicPr preferRelativeResize="0"/>
          <p:nvPr/>
        </p:nvPicPr>
        <p:blipFill>
          <a:blip r:embed="rId3">
            <a:alphaModFix/>
          </a:blip>
          <a:stretch>
            <a:fillRect/>
          </a:stretch>
        </p:blipFill>
        <p:spPr>
          <a:xfrm>
            <a:off x="4922671" y="2012513"/>
            <a:ext cx="378383" cy="417385"/>
          </a:xfrm>
          <a:prstGeom prst="rect">
            <a:avLst/>
          </a:prstGeom>
          <a:noFill/>
          <a:ln>
            <a:noFill/>
          </a:ln>
        </p:spPr>
      </p:pic>
      <p:sp>
        <p:nvSpPr>
          <p:cNvPr id="1394" name="Google Shape;1394;p96"/>
          <p:cNvSpPr txBox="1"/>
          <p:nvPr/>
        </p:nvSpPr>
        <p:spPr>
          <a:xfrm>
            <a:off x="5349150" y="2038988"/>
            <a:ext cx="19041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 32 </a:t>
            </a:r>
            <a:r>
              <a:rPr lang="en-GB" sz="2000">
                <a:solidFill>
                  <a:schemeClr val="dk1"/>
                </a:solidFill>
                <a:latin typeface="Lexend"/>
                <a:ea typeface="Lexend"/>
                <a:cs typeface="Lexend"/>
                <a:sym typeface="Lexend"/>
              </a:rPr>
              <a:t>× 41</a:t>
            </a:r>
            <a:r>
              <a:rPr lang="en-GB" sz="2000">
                <a:latin typeface="Lexend"/>
                <a:ea typeface="Lexend"/>
                <a:cs typeface="Lexend"/>
                <a:sym typeface="Lexend"/>
              </a:rPr>
              <a:t> </a:t>
            </a:r>
            <a:endParaRPr sz="2000">
              <a:solidFill>
                <a:srgbClr val="000000"/>
              </a:solidFill>
              <a:latin typeface="Lexend"/>
              <a:ea typeface="Lexend"/>
              <a:cs typeface="Lexend"/>
              <a:sym typeface="Lexend"/>
            </a:endParaRPr>
          </a:p>
        </p:txBody>
      </p:sp>
      <p:sp>
        <p:nvSpPr>
          <p:cNvPr id="1395" name="Google Shape;1395;p96"/>
          <p:cNvSpPr txBox="1"/>
          <p:nvPr/>
        </p:nvSpPr>
        <p:spPr>
          <a:xfrm>
            <a:off x="6466475" y="2009888"/>
            <a:ext cx="2643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1}{10^2}\ \ \frac{1}{10^3}&quot;&gt;&lt;mfrac&gt;&lt;mn&gt;1&lt;/mn&gt;&lt;msup&gt;&lt;mn&gt;10&lt;/mn&gt;&lt;mn&gt;2&lt;/mn&gt;&lt;/msup&gt;&lt;/mfrac&gt;&lt;mtext&gt;&lt;/mtext&gt;&lt;mtext&gt;&lt;/mtext&gt;&lt;mfrac&gt;&lt;mn&gt;1&lt;/mn&gt;&lt;msup&gt;&lt;mn&gt;10&lt;/mn&gt;&lt;mn&gt;3&lt;/mn&gt;&lt;/msup&gt;&lt;/mfrac&gt;&lt;/math&gt;" id="1396" name="Google Shape;1396;p96" title="the fraction with numerator 1 and denominator 10 squared the fraction with numerator 1 and denominator 10 cubed"/>
          <p:cNvPicPr preferRelativeResize="0"/>
          <p:nvPr/>
        </p:nvPicPr>
        <p:blipFill rotWithShape="1">
          <a:blip r:embed="rId4">
            <a:alphaModFix/>
          </a:blip>
          <a:srcRect b="0" l="0" r="50502" t="0"/>
          <a:stretch/>
        </p:blipFill>
        <p:spPr>
          <a:xfrm>
            <a:off x="6662850" y="1952695"/>
            <a:ext cx="446875" cy="529617"/>
          </a:xfrm>
          <a:prstGeom prst="rect">
            <a:avLst/>
          </a:prstGeom>
          <a:noFill/>
          <a:ln>
            <a:noFill/>
          </a:ln>
        </p:spPr>
      </p:pic>
      <p:sp>
        <p:nvSpPr>
          <p:cNvPr id="1397" name="Google Shape;1397;p96"/>
          <p:cNvSpPr txBox="1"/>
          <p:nvPr>
            <p:ph idx="1" type="body"/>
          </p:nvPr>
        </p:nvSpPr>
        <p:spPr>
          <a:xfrm>
            <a:off x="324000" y="2588100"/>
            <a:ext cx="8496000" cy="457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Using the </a:t>
            </a:r>
            <a:r>
              <a:rPr lang="en-GB"/>
              <a:t>multiplication</a:t>
            </a:r>
            <a:r>
              <a:rPr lang="en-GB"/>
              <a:t> of fractions, </a:t>
            </a:r>
            <a:r>
              <a:rPr lang="en-GB"/>
              <a:t>we know</a:t>
            </a:r>
            <a:endParaRPr/>
          </a:p>
        </p:txBody>
      </p:sp>
      <p:sp>
        <p:nvSpPr>
          <p:cNvPr id="1398" name="Google Shape;1398;p96"/>
          <p:cNvSpPr txBox="1"/>
          <p:nvPr/>
        </p:nvSpPr>
        <p:spPr>
          <a:xfrm>
            <a:off x="2153375" y="1968300"/>
            <a:ext cx="1603800" cy="5232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1000"/>
              </a:spcAft>
              <a:buNone/>
            </a:pPr>
            <a:r>
              <a:rPr lang="en-GB" sz="2200">
                <a:solidFill>
                  <a:schemeClr val="dk1"/>
                </a:solidFill>
                <a:latin typeface="Lexend"/>
                <a:ea typeface="Lexend"/>
                <a:cs typeface="Lexend"/>
                <a:sym typeface="Lexend"/>
              </a:rPr>
              <a:t>3.2 × 4.1 =</a:t>
            </a:r>
            <a:endParaRPr/>
          </a:p>
        </p:txBody>
      </p:sp>
      <p:sp>
        <p:nvSpPr>
          <p:cNvPr id="1399" name="Google Shape;1399;p96"/>
          <p:cNvSpPr txBox="1"/>
          <p:nvPr/>
        </p:nvSpPr>
        <p:spPr>
          <a:xfrm>
            <a:off x="1600623" y="3348895"/>
            <a:ext cx="186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32 </a:t>
            </a:r>
            <a:r>
              <a:rPr lang="en-GB" sz="2200">
                <a:solidFill>
                  <a:schemeClr val="dk1"/>
                </a:solidFill>
                <a:latin typeface="Lexend"/>
                <a:ea typeface="Lexend"/>
                <a:cs typeface="Lexend"/>
                <a:sym typeface="Lexend"/>
              </a:rPr>
              <a:t>× 41          =</a:t>
            </a:r>
            <a:r>
              <a:rPr lang="en-GB" sz="2200">
                <a:latin typeface="Lexend"/>
                <a:ea typeface="Lexend"/>
                <a:cs typeface="Lexend"/>
                <a:sym typeface="Lexend"/>
              </a:rPr>
              <a:t> </a:t>
            </a:r>
            <a:endParaRPr sz="2200">
              <a:solidFill>
                <a:srgbClr val="000000"/>
              </a:solidFill>
              <a:latin typeface="Lexend"/>
              <a:ea typeface="Lexend"/>
              <a:cs typeface="Lexend"/>
              <a:sym typeface="Lexend"/>
            </a:endParaRPr>
          </a:p>
        </p:txBody>
      </p:sp>
      <p:sp>
        <p:nvSpPr>
          <p:cNvPr id="1400" name="Google Shape;1400;p96"/>
          <p:cNvSpPr txBox="1"/>
          <p:nvPr/>
        </p:nvSpPr>
        <p:spPr>
          <a:xfrm>
            <a:off x="2633162" y="3367601"/>
            <a:ext cx="17091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Lexend"/>
                <a:ea typeface="Lexend"/>
                <a:cs typeface="Lexend"/>
                <a:sym typeface="Lexend"/>
              </a:rPr>
              <a:t>×</a:t>
            </a:r>
            <a:endParaRPr sz="20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1}{100}&quot;&gt;&lt;mfrac&gt;&lt;mn&gt;1&lt;/mn&gt;&lt;mn&gt;100&lt;/mn&gt;&lt;/mfrac&gt;&lt;/math&gt;" id="1401" name="Google Shape;1401;p96" title="1 over 100"/>
          <p:cNvPicPr preferRelativeResize="0"/>
          <p:nvPr/>
        </p:nvPicPr>
        <p:blipFill>
          <a:blip r:embed="rId3">
            <a:alphaModFix/>
          </a:blip>
          <a:stretch>
            <a:fillRect/>
          </a:stretch>
        </p:blipFill>
        <p:spPr>
          <a:xfrm>
            <a:off x="2840171" y="3319413"/>
            <a:ext cx="378383" cy="417385"/>
          </a:xfrm>
          <a:prstGeom prst="rect">
            <a:avLst/>
          </a:prstGeom>
          <a:noFill/>
          <a:ln>
            <a:noFill/>
          </a:ln>
        </p:spPr>
      </p:pic>
      <p:pic>
        <p:nvPicPr>
          <p:cNvPr descr="&lt;math xmlns=&quot;http://www.w3.org/1998/Math/MathML&quot; display=&quot;block&quot; data-is-equatio=&quot;1&quot; data-latex=&quot;\frac{32}{1}\times\frac{41}{1}\times\frac{1}{100}=\frac{32\ \times41}{1\times1\ \times100}=\ \frac{32\ \times41}{10^2}=\frac{32\ \times41}{10^2}&quot;&gt;&lt;mfrac&gt;&lt;mn&gt;32&lt;/mn&gt;&lt;mn&gt;1&lt;/mn&gt;&lt;/mfrac&gt;&lt;mo&gt;×&lt;/mo&gt;&lt;mfrac&gt;&lt;mn&gt;41&lt;/mn&gt;&lt;mn&gt;1&lt;/mn&gt;&lt;/mfrac&gt;&lt;mo&gt;×&lt;/mo&gt;&lt;mfrac&gt;&lt;mn&gt;1&lt;/mn&gt;&lt;mn&gt;100&lt;/mn&gt;&lt;/mfrac&gt;&lt;mo&gt;=&lt;/mo&gt;&lt;mfrac&gt;&lt;mrow&gt;&lt;mn&gt;32&lt;/mn&gt;&lt;mtext&gt;&lt;/mtext&gt;&lt;mo&gt;×&lt;/mo&gt;&lt;mn&gt;41&lt;/mn&gt;&lt;/mrow&gt;&lt;mrow&gt;&lt;mn&gt;1&lt;/mn&gt;&lt;mo&gt;×&lt;/mo&gt;&lt;mn&gt;1&lt;/mn&gt;&lt;mtext&gt;&lt;/mtext&gt;&lt;mo&gt;×&lt;/mo&gt;&lt;mn&gt;100&lt;/mn&gt;&lt;/mrow&gt;&lt;/mfrac&gt;&lt;mo&gt;=&lt;/mo&gt;&lt;mtext&gt;&lt;/mtext&gt;&lt;mfrac&gt;&lt;mrow&gt;&lt;mn&gt;32&lt;/mn&gt;&lt;mtext&gt;&lt;/mtext&gt;&lt;mo&gt;×&lt;/mo&gt;&lt;mn&gt;41&lt;/mn&gt;&lt;/mrow&gt;&lt;msup&gt;&lt;mn&gt;10&lt;/mn&gt;&lt;mn&gt;2&lt;/mn&gt;&lt;/msup&gt;&lt;/mfrac&gt;&lt;mo&gt;=&lt;/mo&gt;&lt;mfrac&gt;&lt;mrow&gt;&lt;mn&gt;32&lt;/mn&gt;&lt;mtext&gt;&lt;/mtext&gt;&lt;mo&gt;×&lt;/mo&gt;&lt;mn&gt;41&lt;/mn&gt;&lt;/mrow&gt;&lt;msup&gt;&lt;mn&gt;10&lt;/mn&gt;&lt;mn&gt;2&lt;/mn&gt;&lt;/msup&gt;&lt;/mfrac&gt;&lt;/math&gt;" id="1402" name="Google Shape;1402;p96" title="32 over 1 times 41 over 1 times 1 over 100 equals the fraction with numerator 32 times 41 and denominator 1 times 1 times 100 equals the fraction with numerator 32 times 41 and denominator 10 squared equals the fraction with numerator 32 times 41 and denominator 10 squared"/>
          <p:cNvPicPr preferRelativeResize="0"/>
          <p:nvPr/>
        </p:nvPicPr>
        <p:blipFill rotWithShape="1">
          <a:blip r:embed="rId5">
            <a:alphaModFix/>
          </a:blip>
          <a:srcRect b="0" l="29152" r="42411" t="0"/>
          <a:stretch/>
        </p:blipFill>
        <p:spPr>
          <a:xfrm>
            <a:off x="5199975" y="3253288"/>
            <a:ext cx="1524163" cy="529625"/>
          </a:xfrm>
          <a:prstGeom prst="rect">
            <a:avLst/>
          </a:prstGeom>
          <a:noFill/>
          <a:ln>
            <a:noFill/>
          </a:ln>
        </p:spPr>
      </p:pic>
      <p:pic>
        <p:nvPicPr>
          <p:cNvPr descr="&lt;math xmlns=&quot;http://www.w3.org/1998/Math/MathML&quot; display=&quot;block&quot; data-is-equatio=&quot;1&quot; data-latex=&quot;\frac{32}{1}\times\frac{41}{1}\times\frac{1}{100}=\frac{32\ \times41}{1\times1\ \times100}=\ \frac{32\ \times41}{10^2}=\frac{32\ \times41}{10^2}&quot;&gt;&lt;mfrac&gt;&lt;mn&gt;32&lt;/mn&gt;&lt;mn&gt;1&lt;/mn&gt;&lt;/mfrac&gt;&lt;mo&gt;×&lt;/mo&gt;&lt;mfrac&gt;&lt;mn&gt;41&lt;/mn&gt;&lt;mn&gt;1&lt;/mn&gt;&lt;/mfrac&gt;&lt;mo&gt;×&lt;/mo&gt;&lt;mfrac&gt;&lt;mn&gt;1&lt;/mn&gt;&lt;mn&gt;100&lt;/mn&gt;&lt;/mfrac&gt;&lt;mo&gt;=&lt;/mo&gt;&lt;mfrac&gt;&lt;mrow&gt;&lt;mn&gt;32&lt;/mn&gt;&lt;mtext&gt;&lt;/mtext&gt;&lt;mo&gt;×&lt;/mo&gt;&lt;mn&gt;41&lt;/mn&gt;&lt;/mrow&gt;&lt;mrow&gt;&lt;mn&gt;1&lt;/mn&gt;&lt;mo&gt;×&lt;/mo&gt;&lt;mn&gt;1&lt;/mn&gt;&lt;mtext&gt;&lt;/mtext&gt;&lt;mo&gt;×&lt;/mo&gt;&lt;mn&gt;100&lt;/mn&gt;&lt;/mrow&gt;&lt;/mfrac&gt;&lt;mo&gt;=&lt;/mo&gt;&lt;mtext&gt;&lt;/mtext&gt;&lt;mfrac&gt;&lt;mrow&gt;&lt;mn&gt;32&lt;/mn&gt;&lt;mtext&gt;&lt;/mtext&gt;&lt;mo&gt;×&lt;/mo&gt;&lt;mn&gt;41&lt;/mn&gt;&lt;/mrow&gt;&lt;msup&gt;&lt;mn&gt;10&lt;/mn&gt;&lt;mn&gt;2&lt;/mn&gt;&lt;/msup&gt;&lt;/mfrac&gt;&lt;mo&gt;=&lt;/mo&gt;&lt;mfrac&gt;&lt;mrow&gt;&lt;mn&gt;32&lt;/mn&gt;&lt;mtext&gt;&lt;/mtext&gt;&lt;mo&gt;×&lt;/mo&gt;&lt;mn&gt;41&lt;/mn&gt;&lt;/mrow&gt;&lt;msup&gt;&lt;mn&gt;10&lt;/mn&gt;&lt;mn&gt;2&lt;/mn&gt;&lt;/msup&gt;&lt;/mfrac&gt;&lt;/math&gt;" id="1403" name="Google Shape;1403;p96" title="32 over 1 times 41 over 1 times 1 over 100 equals the fraction with numerator 32 times 41 and denominator 1 times 1 times 100 equals the fraction with numerator 32 times 41 and denominator 10 squared equals the fraction with numerator 32 times 41 and denominator 10 squared"/>
          <p:cNvPicPr preferRelativeResize="0"/>
          <p:nvPr/>
        </p:nvPicPr>
        <p:blipFill rotWithShape="1">
          <a:blip r:embed="rId5">
            <a:alphaModFix/>
          </a:blip>
          <a:srcRect b="0" l="57371" r="20152" t="0"/>
          <a:stretch/>
        </p:blipFill>
        <p:spPr>
          <a:xfrm>
            <a:off x="6739899" y="3253300"/>
            <a:ext cx="1204727" cy="529600"/>
          </a:xfrm>
          <a:prstGeom prst="rect">
            <a:avLst/>
          </a:prstGeom>
          <a:noFill/>
          <a:ln>
            <a:noFill/>
          </a:ln>
        </p:spPr>
      </p:pic>
      <p:pic>
        <p:nvPicPr>
          <p:cNvPr descr="&lt;math xmlns=&quot;http://www.w3.org/1998/Math/MathML&quot; display=&quot;block&quot; data-is-equatio=&quot;1&quot; data-latex=&quot;\frac{32}{1}\times\frac{41}{1}\times\frac{1}{100}=\frac{32\ \times41}{1\times1\ \times100}=\ \frac{32\ \times41}{10^2}=\frac{32\ \times41}{10^2}&quot;&gt;&lt;mfrac&gt;&lt;mn&gt;32&lt;/mn&gt;&lt;mn&gt;1&lt;/mn&gt;&lt;/mfrac&gt;&lt;mo&gt;×&lt;/mo&gt;&lt;mfrac&gt;&lt;mn&gt;41&lt;/mn&gt;&lt;mn&gt;1&lt;/mn&gt;&lt;/mfrac&gt;&lt;mo&gt;×&lt;/mo&gt;&lt;mfrac&gt;&lt;mn&gt;1&lt;/mn&gt;&lt;mn&gt;100&lt;/mn&gt;&lt;/mfrac&gt;&lt;mo&gt;=&lt;/mo&gt;&lt;mfrac&gt;&lt;mrow&gt;&lt;mn&gt;32&lt;/mn&gt;&lt;mtext&gt;&lt;/mtext&gt;&lt;mo&gt;×&lt;/mo&gt;&lt;mn&gt;41&lt;/mn&gt;&lt;/mrow&gt;&lt;mrow&gt;&lt;mn&gt;1&lt;/mn&gt;&lt;mo&gt;×&lt;/mo&gt;&lt;mn&gt;1&lt;/mn&gt;&lt;mtext&gt;&lt;/mtext&gt;&lt;mo&gt;×&lt;/mo&gt;&lt;mn&gt;100&lt;/mn&gt;&lt;/mrow&gt;&lt;/mfrac&gt;&lt;mo&gt;=&lt;/mo&gt;&lt;mtext&gt;&lt;/mtext&gt;&lt;mfrac&gt;&lt;mrow&gt;&lt;mn&gt;32&lt;/mn&gt;&lt;mtext&gt;&lt;/mtext&gt;&lt;mo&gt;×&lt;/mo&gt;&lt;mn&gt;41&lt;/mn&gt;&lt;/mrow&gt;&lt;msup&gt;&lt;mn&gt;10&lt;/mn&gt;&lt;mn&gt;2&lt;/mn&gt;&lt;/msup&gt;&lt;/mfrac&gt;&lt;mo&gt;=&lt;/mo&gt;&lt;mfrac&gt;&lt;mrow&gt;&lt;mn&gt;32&lt;/mn&gt;&lt;mtext&gt;&lt;/mtext&gt;&lt;mo&gt;×&lt;/mo&gt;&lt;mn&gt;41&lt;/mn&gt;&lt;/mrow&gt;&lt;msup&gt;&lt;mn&gt;10&lt;/mn&gt;&lt;mn&gt;2&lt;/mn&gt;&lt;/msup&gt;&lt;/mfrac&gt;&lt;/math&gt;" id="1404" name="Google Shape;1404;p96" title="32 over 1 times 41 over 1 times 1 over 100 equals the fraction with numerator 32 times 41 and denominator 1 times 1 times 100 equals the fraction with numerator 32 times 41 and denominator 10 squared equals the fraction with numerator 32 times 41 and denominator 10 squared"/>
          <p:cNvPicPr preferRelativeResize="0"/>
          <p:nvPr/>
        </p:nvPicPr>
        <p:blipFill rotWithShape="1">
          <a:blip r:embed="rId5">
            <a:alphaModFix/>
          </a:blip>
          <a:srcRect b="0" l="0" r="70223" t="0"/>
          <a:stretch/>
        </p:blipFill>
        <p:spPr>
          <a:xfrm>
            <a:off x="3546812" y="3256500"/>
            <a:ext cx="1576580" cy="523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sp>
        <p:nvSpPr>
          <p:cNvPr id="1409" name="Google Shape;1409;p97"/>
          <p:cNvSpPr txBox="1"/>
          <p:nvPr>
            <p:ph type="title"/>
          </p:nvPr>
        </p:nvSpPr>
        <p:spPr>
          <a:xfrm>
            <a:off x="324000" y="809988"/>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Which of the </a:t>
            </a:r>
            <a:r>
              <a:rPr lang="en-GB" sz="2100"/>
              <a:t>following</a:t>
            </a:r>
            <a:r>
              <a:rPr lang="en-GB" sz="2100"/>
              <a:t> are </a:t>
            </a:r>
            <a:r>
              <a:rPr lang="en-GB" sz="2100"/>
              <a:t>equivalent</a:t>
            </a:r>
            <a:r>
              <a:rPr lang="en-GB" sz="2100"/>
              <a:t> calculations to 5</a:t>
            </a:r>
            <a:r>
              <a:rPr lang="en-GB" sz="2100"/>
              <a:t>.6 × 2.7?</a:t>
            </a:r>
            <a:r>
              <a:rPr lang="en-GB" sz="2100"/>
              <a:t> </a:t>
            </a:r>
            <a:endParaRPr sz="2100"/>
          </a:p>
        </p:txBody>
      </p:sp>
      <p:sp>
        <p:nvSpPr>
          <p:cNvPr id="1410" name="Google Shape;1410;p97"/>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pic>
        <p:nvPicPr>
          <p:cNvPr descr="&lt;math xmlns=&quot;http://www.w3.org/1998/Math/MathML&quot; display=&quot;block&quot; data-is-equatio=&quot;1&quot; data-latex=&quot;56\ \times27\ \times\frac{1}{10^2}\ \ \ \ \ \ \frac{56\times27}{100}\ \ \ \ \ \ \frac{56\times27}{10^2}\ \ \ \ \ \frac{56\times27}{1000}\ \ \ \ &quot;&gt;&lt;mn&gt;56&lt;/mn&gt;&lt;mtext&gt;&lt;/mtext&gt;&lt;mo&gt;×&lt;/mo&gt;&lt;mn&gt;27&lt;/mn&gt;&lt;mtext&gt;&lt;/mtext&gt;&lt;mo&gt;×&lt;/mo&gt;&lt;mfrac&gt;&lt;mn&gt;1&lt;/mn&gt;&lt;msup&gt;&lt;mn&gt;10&lt;/mn&gt;&lt;mn&gt;2&lt;/mn&gt;&lt;/msup&gt;&lt;/mfrac&gt;&lt;mtext&gt;&lt;/mtext&gt;&lt;mtext&gt;&lt;/mtext&gt;&lt;mtext&gt;&lt;/mtext&gt;&lt;mtext&gt;&lt;/mtext&gt;&lt;mtext&gt;&lt;/mtext&gt;&lt;mtext&gt;&lt;/mtext&gt;&lt;mfrac&gt;&lt;mrow&gt;&lt;mn&gt;56&lt;/mn&gt;&lt;mo&gt;×&lt;/mo&gt;&lt;mn&gt;27&lt;/mn&gt;&lt;/mrow&gt;&lt;mn&gt;100&lt;/mn&gt;&lt;/mfrac&gt;&lt;mtext&gt;&lt;/mtext&gt;&lt;mtext&gt;&lt;/mtext&gt;&lt;mtext&gt;&lt;/mtext&gt;&lt;mtext&gt;&lt;/mtext&gt;&lt;mtext&gt;&lt;/mtext&gt;&lt;mtext&gt;&lt;/mtext&gt;&lt;mfrac&gt;&lt;mrow&gt;&lt;mn&gt;56&lt;/mn&gt;&lt;mo&gt;×&lt;/mo&gt;&lt;mn&gt;27&lt;/mn&gt;&lt;/mrow&gt;&lt;msup&gt;&lt;mn&gt;10&lt;/mn&gt;&lt;mn&gt;2&lt;/mn&gt;&lt;/msup&gt;&lt;/mfrac&gt;&lt;mtext&gt;&lt;/mtext&gt;&lt;mtext&gt;&lt;/mtext&gt;&lt;mtext&gt;&lt;/mtext&gt;&lt;mtext&gt;&lt;/mtext&gt;&lt;mtext&gt;&lt;/mtext&gt;&lt;mfrac&gt;&lt;mrow&gt;&lt;mn&gt;56&lt;/mn&gt;&lt;mo&gt;×&lt;/mo&gt;&lt;mn&gt;27&lt;/mn&gt;&lt;/mrow&gt;&lt;mn&gt;1000&lt;/mn&gt;&lt;/mfrac&gt;&lt;mtext&gt;&lt;/mtext&gt;&lt;mtext&gt;&lt;/mtext&gt;&lt;mtext&gt;&lt;/mtext&gt;&lt;mtext&gt;&lt;/mtext&gt;&lt;/math&gt;" id="1411" name="Google Shape;1411;p97" title="56 times 27 times the fraction with numerator 1 and denominator 10 squared the fraction with numerator 56 times 27 and denominator 100 the fraction with numerator 56 times 27 and denominator 10 squared the fraction with numerator 56 times 27 and denominator 1000"/>
          <p:cNvPicPr preferRelativeResize="0"/>
          <p:nvPr/>
        </p:nvPicPr>
        <p:blipFill rotWithShape="1">
          <a:blip r:embed="rId3">
            <a:alphaModFix/>
          </a:blip>
          <a:srcRect b="0" l="0" r="68457" t="0"/>
          <a:stretch/>
        </p:blipFill>
        <p:spPr>
          <a:xfrm>
            <a:off x="1016175" y="1358125"/>
            <a:ext cx="2110924" cy="733525"/>
          </a:xfrm>
          <a:prstGeom prst="rect">
            <a:avLst/>
          </a:prstGeom>
          <a:noFill/>
          <a:ln>
            <a:noFill/>
          </a:ln>
        </p:spPr>
      </p:pic>
      <p:pic>
        <p:nvPicPr>
          <p:cNvPr descr="&lt;math xmlns=&quot;http://www.w3.org/1998/Math/MathML&quot; display=&quot;block&quot; data-is-equatio=&quot;1&quot; data-latex=&quot;56\ \times27\ \times\frac{1}{10^2}\ \ \ \ \ \ \frac{56\times27}{100}\ \ \ \ \ \ \frac{56\times27}{10^2}\ \ \ \ \ \frac{56\times27}{1000}\ \ \ \ &quot;&gt;&lt;mn&gt;56&lt;/mn&gt;&lt;mtext&gt;&lt;/mtext&gt;&lt;mo&gt;×&lt;/mo&gt;&lt;mn&gt;27&lt;/mn&gt;&lt;mtext&gt;&lt;/mtext&gt;&lt;mo&gt;×&lt;/mo&gt;&lt;mfrac&gt;&lt;mn&gt;1&lt;/mn&gt;&lt;msup&gt;&lt;mn&gt;10&lt;/mn&gt;&lt;mn&gt;2&lt;/mn&gt;&lt;/msup&gt;&lt;/mfrac&gt;&lt;mtext&gt;&lt;/mtext&gt;&lt;mtext&gt;&lt;/mtext&gt;&lt;mtext&gt;&lt;/mtext&gt;&lt;mtext&gt;&lt;/mtext&gt;&lt;mtext&gt;&lt;/mtext&gt;&lt;mtext&gt;&lt;/mtext&gt;&lt;mfrac&gt;&lt;mrow&gt;&lt;mn&gt;56&lt;/mn&gt;&lt;mo&gt;×&lt;/mo&gt;&lt;mn&gt;27&lt;/mn&gt;&lt;/mrow&gt;&lt;mn&gt;100&lt;/mn&gt;&lt;/mfrac&gt;&lt;mtext&gt;&lt;/mtext&gt;&lt;mtext&gt;&lt;/mtext&gt;&lt;mtext&gt;&lt;/mtext&gt;&lt;mtext&gt;&lt;/mtext&gt;&lt;mtext&gt;&lt;/mtext&gt;&lt;mtext&gt;&lt;/mtext&gt;&lt;mfrac&gt;&lt;mrow&gt;&lt;mn&gt;56&lt;/mn&gt;&lt;mo&gt;×&lt;/mo&gt;&lt;mn&gt;27&lt;/mn&gt;&lt;/mrow&gt;&lt;msup&gt;&lt;mn&gt;10&lt;/mn&gt;&lt;mn&gt;2&lt;/mn&gt;&lt;/msup&gt;&lt;/mfrac&gt;&lt;mtext&gt;&lt;/mtext&gt;&lt;mtext&gt;&lt;/mtext&gt;&lt;mtext&gt;&lt;/mtext&gt;&lt;mtext&gt;&lt;/mtext&gt;&lt;mtext&gt;&lt;/mtext&gt;&lt;mfrac&gt;&lt;mrow&gt;&lt;mn&gt;56&lt;/mn&gt;&lt;mo&gt;×&lt;/mo&gt;&lt;mn&gt;27&lt;/mn&gt;&lt;/mrow&gt;&lt;mn&gt;1000&lt;/mn&gt;&lt;/mfrac&gt;&lt;mtext&gt;&lt;/mtext&gt;&lt;mtext&gt;&lt;/mtext&gt;&lt;mtext&gt;&lt;/mtext&gt;&lt;mtext&gt;&lt;/mtext&gt;&lt;/math&gt;" id="1412" name="Google Shape;1412;p97" title="56 times 27 times the fraction with numerator 1 and denominator 10 squared the fraction with numerator 56 times 27 and denominator 100 the fraction with numerator 56 times 27 and denominator 10 squared the fraction with numerator 56 times 27 and denominator 1000"/>
          <p:cNvPicPr preferRelativeResize="0"/>
          <p:nvPr/>
        </p:nvPicPr>
        <p:blipFill rotWithShape="1">
          <a:blip r:embed="rId3">
            <a:alphaModFix/>
          </a:blip>
          <a:srcRect b="0" l="35166" r="41844" t="0"/>
          <a:stretch/>
        </p:blipFill>
        <p:spPr>
          <a:xfrm>
            <a:off x="990549" y="2260625"/>
            <a:ext cx="1538477" cy="733525"/>
          </a:xfrm>
          <a:prstGeom prst="rect">
            <a:avLst/>
          </a:prstGeom>
          <a:noFill/>
          <a:ln>
            <a:noFill/>
          </a:ln>
        </p:spPr>
      </p:pic>
      <p:pic>
        <p:nvPicPr>
          <p:cNvPr descr="&lt;math xmlns=&quot;http://www.w3.org/1998/Math/MathML&quot; display=&quot;block&quot; data-is-equatio=&quot;1&quot; data-latex=&quot;56\ \times27\ \times\frac{1}{10^2}\ \ \ \ \ \ \frac{56\times27}{100}\ \ \ \ \ \ \frac{56\times27}{10^2}\ \ \ \ \ \frac{56\times27}{1000}\ \ \ \ &quot;&gt;&lt;mn&gt;56&lt;/mn&gt;&lt;mtext&gt;&lt;/mtext&gt;&lt;mo&gt;×&lt;/mo&gt;&lt;mn&gt;27&lt;/mn&gt;&lt;mtext&gt;&lt;/mtext&gt;&lt;mo&gt;×&lt;/mo&gt;&lt;mfrac&gt;&lt;mn&gt;1&lt;/mn&gt;&lt;msup&gt;&lt;mn&gt;10&lt;/mn&gt;&lt;mn&gt;2&lt;/mn&gt;&lt;/msup&gt;&lt;/mfrac&gt;&lt;mtext&gt;&lt;/mtext&gt;&lt;mtext&gt;&lt;/mtext&gt;&lt;mtext&gt;&lt;/mtext&gt;&lt;mtext&gt;&lt;/mtext&gt;&lt;mtext&gt;&lt;/mtext&gt;&lt;mtext&gt;&lt;/mtext&gt;&lt;mfrac&gt;&lt;mrow&gt;&lt;mn&gt;56&lt;/mn&gt;&lt;mo&gt;×&lt;/mo&gt;&lt;mn&gt;27&lt;/mn&gt;&lt;/mrow&gt;&lt;mn&gt;100&lt;/mn&gt;&lt;/mfrac&gt;&lt;mtext&gt;&lt;/mtext&gt;&lt;mtext&gt;&lt;/mtext&gt;&lt;mtext&gt;&lt;/mtext&gt;&lt;mtext&gt;&lt;/mtext&gt;&lt;mtext&gt;&lt;/mtext&gt;&lt;mtext&gt;&lt;/mtext&gt;&lt;mfrac&gt;&lt;mrow&gt;&lt;mn&gt;56&lt;/mn&gt;&lt;mo&gt;×&lt;/mo&gt;&lt;mn&gt;27&lt;/mn&gt;&lt;/mrow&gt;&lt;msup&gt;&lt;mn&gt;10&lt;/mn&gt;&lt;mn&gt;2&lt;/mn&gt;&lt;/msup&gt;&lt;/mfrac&gt;&lt;mtext&gt;&lt;/mtext&gt;&lt;mtext&gt;&lt;/mtext&gt;&lt;mtext&gt;&lt;/mtext&gt;&lt;mtext&gt;&lt;/mtext&gt;&lt;mtext&gt;&lt;/mtext&gt;&lt;mfrac&gt;&lt;mrow&gt;&lt;mn&gt;56&lt;/mn&gt;&lt;mo&gt;×&lt;/mo&gt;&lt;mn&gt;27&lt;/mn&gt;&lt;/mrow&gt;&lt;mn&gt;1000&lt;/mn&gt;&lt;/mfrac&gt;&lt;mtext&gt;&lt;/mtext&gt;&lt;mtext&gt;&lt;/mtext&gt;&lt;mtext&gt;&lt;/mtext&gt;&lt;mtext&gt;&lt;/mtext&gt;&lt;/math&gt;" id="1413" name="Google Shape;1413;p97" title="56 times 27 times the fraction with numerator 1 and denominator 10 squared the fraction with numerator 56 times 27 and denominator 100 the fraction with numerator 56 times 27 and denominator 10 squared the fraction with numerator 56 times 27 and denominator 1000"/>
          <p:cNvPicPr preferRelativeResize="0"/>
          <p:nvPr/>
        </p:nvPicPr>
        <p:blipFill rotWithShape="1">
          <a:blip r:embed="rId3">
            <a:alphaModFix/>
          </a:blip>
          <a:srcRect b="0" l="60326" r="20905" t="0"/>
          <a:stretch/>
        </p:blipFill>
        <p:spPr>
          <a:xfrm>
            <a:off x="1131789" y="3148150"/>
            <a:ext cx="1255976" cy="733525"/>
          </a:xfrm>
          <a:prstGeom prst="rect">
            <a:avLst/>
          </a:prstGeom>
          <a:noFill/>
          <a:ln>
            <a:noFill/>
          </a:ln>
        </p:spPr>
      </p:pic>
      <p:pic>
        <p:nvPicPr>
          <p:cNvPr descr="&lt;math xmlns=&quot;http://www.w3.org/1998/Math/MathML&quot; display=&quot;block&quot; data-is-equatio=&quot;1&quot; data-latex=&quot;56\ \times27\ \times\frac{1}{10^2}\ \ \ \ \ \ \frac{56\times27}{100}\ \ \ \ \ \ \frac{56\times27}{10^2}\ \ \ \ \ \frac{56\times27}{1000}\ \ \ \ &quot;&gt;&lt;mn&gt;56&lt;/mn&gt;&lt;mtext&gt;&lt;/mtext&gt;&lt;mo&gt;×&lt;/mo&gt;&lt;mn&gt;27&lt;/mn&gt;&lt;mtext&gt;&lt;/mtext&gt;&lt;mo&gt;×&lt;/mo&gt;&lt;mfrac&gt;&lt;mn&gt;1&lt;/mn&gt;&lt;msup&gt;&lt;mn&gt;10&lt;/mn&gt;&lt;mn&gt;2&lt;/mn&gt;&lt;/msup&gt;&lt;/mfrac&gt;&lt;mtext&gt;&lt;/mtext&gt;&lt;mtext&gt;&lt;/mtext&gt;&lt;mtext&gt;&lt;/mtext&gt;&lt;mtext&gt;&lt;/mtext&gt;&lt;mtext&gt;&lt;/mtext&gt;&lt;mtext&gt;&lt;/mtext&gt;&lt;mfrac&gt;&lt;mrow&gt;&lt;mn&gt;56&lt;/mn&gt;&lt;mo&gt;×&lt;/mo&gt;&lt;mn&gt;27&lt;/mn&gt;&lt;/mrow&gt;&lt;mn&gt;100&lt;/mn&gt;&lt;/mfrac&gt;&lt;mtext&gt;&lt;/mtext&gt;&lt;mtext&gt;&lt;/mtext&gt;&lt;mtext&gt;&lt;/mtext&gt;&lt;mtext&gt;&lt;/mtext&gt;&lt;mtext&gt;&lt;/mtext&gt;&lt;mtext&gt;&lt;/mtext&gt;&lt;mfrac&gt;&lt;mrow&gt;&lt;mn&gt;56&lt;/mn&gt;&lt;mo&gt;×&lt;/mo&gt;&lt;mn&gt;27&lt;/mn&gt;&lt;/mrow&gt;&lt;msup&gt;&lt;mn&gt;10&lt;/mn&gt;&lt;mn&gt;2&lt;/mn&gt;&lt;/msup&gt;&lt;/mfrac&gt;&lt;mtext&gt;&lt;/mtext&gt;&lt;mtext&gt;&lt;/mtext&gt;&lt;mtext&gt;&lt;/mtext&gt;&lt;mtext&gt;&lt;/mtext&gt;&lt;mtext&gt;&lt;/mtext&gt;&lt;mfrac&gt;&lt;mrow&gt;&lt;mn&gt;56&lt;/mn&gt;&lt;mo&gt;×&lt;/mo&gt;&lt;mn&gt;27&lt;/mn&gt;&lt;/mrow&gt;&lt;mn&gt;1000&lt;/mn&gt;&lt;/mfrac&gt;&lt;mtext&gt;&lt;/mtext&gt;&lt;mtext&gt;&lt;/mtext&gt;&lt;mtext&gt;&lt;/mtext&gt;&lt;mtext&gt;&lt;/mtext&gt;&lt;/math&gt;" id="1414" name="Google Shape;1414;p97" title="56 times 27 times the fraction with numerator 1 and denominator 10 squared the fraction with numerator 56 times 27 and denominator 100 the fraction with numerator 56 times 27 and denominator 10 squared the fraction with numerator 56 times 27 and denominator 1000"/>
          <p:cNvPicPr preferRelativeResize="0"/>
          <p:nvPr/>
        </p:nvPicPr>
        <p:blipFill rotWithShape="1">
          <a:blip r:embed="rId3">
            <a:alphaModFix/>
          </a:blip>
          <a:srcRect b="0" l="81863" r="-1396" t="0"/>
          <a:stretch/>
        </p:blipFill>
        <p:spPr>
          <a:xfrm>
            <a:off x="1031199" y="4086875"/>
            <a:ext cx="1307225" cy="733525"/>
          </a:xfrm>
          <a:prstGeom prst="rect">
            <a:avLst/>
          </a:prstGeom>
          <a:noFill/>
          <a:ln>
            <a:noFill/>
          </a:ln>
        </p:spPr>
      </p:pic>
      <p:pic>
        <p:nvPicPr>
          <p:cNvPr id="1415" name="Google Shape;1415;p97"/>
          <p:cNvPicPr preferRelativeResize="0"/>
          <p:nvPr/>
        </p:nvPicPr>
        <p:blipFill>
          <a:blip r:embed="rId4">
            <a:alphaModFix/>
          </a:blip>
          <a:stretch>
            <a:fillRect/>
          </a:stretch>
        </p:blipFill>
        <p:spPr>
          <a:xfrm>
            <a:off x="3171608" y="1410450"/>
            <a:ext cx="396000" cy="419100"/>
          </a:xfrm>
          <a:prstGeom prst="rect">
            <a:avLst/>
          </a:prstGeom>
          <a:noFill/>
          <a:ln>
            <a:noFill/>
          </a:ln>
        </p:spPr>
      </p:pic>
      <p:pic>
        <p:nvPicPr>
          <p:cNvPr id="1416" name="Google Shape;1416;p97"/>
          <p:cNvPicPr preferRelativeResize="0"/>
          <p:nvPr/>
        </p:nvPicPr>
        <p:blipFill>
          <a:blip r:embed="rId4">
            <a:alphaModFix/>
          </a:blip>
          <a:stretch>
            <a:fillRect/>
          </a:stretch>
        </p:blipFill>
        <p:spPr>
          <a:xfrm>
            <a:off x="2435433" y="2323275"/>
            <a:ext cx="396000" cy="419100"/>
          </a:xfrm>
          <a:prstGeom prst="rect">
            <a:avLst/>
          </a:prstGeom>
          <a:noFill/>
          <a:ln>
            <a:noFill/>
          </a:ln>
        </p:spPr>
      </p:pic>
      <p:pic>
        <p:nvPicPr>
          <p:cNvPr id="1417" name="Google Shape;1417;p97"/>
          <p:cNvPicPr preferRelativeResize="0"/>
          <p:nvPr/>
        </p:nvPicPr>
        <p:blipFill>
          <a:blip r:embed="rId4">
            <a:alphaModFix/>
          </a:blip>
          <a:stretch>
            <a:fillRect/>
          </a:stretch>
        </p:blipFill>
        <p:spPr>
          <a:xfrm>
            <a:off x="2435433" y="3305363"/>
            <a:ext cx="396000" cy="419100"/>
          </a:xfrm>
          <a:prstGeom prst="rect">
            <a:avLst/>
          </a:prstGeom>
          <a:noFill/>
          <a:ln>
            <a:noFill/>
          </a:ln>
        </p:spPr>
      </p:pic>
      <p:sp>
        <p:nvSpPr>
          <p:cNvPr id="1418" name="Google Shape;1418;p97"/>
          <p:cNvSpPr txBox="1"/>
          <p:nvPr/>
        </p:nvSpPr>
        <p:spPr>
          <a:xfrm>
            <a:off x="5834305" y="1656598"/>
            <a:ext cx="1521300" cy="381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2200">
                <a:latin typeface="Kalam"/>
                <a:ea typeface="Kalam"/>
                <a:cs typeface="Kalam"/>
                <a:sym typeface="Kalam"/>
              </a:rPr>
              <a:t>5.6</a:t>
            </a:r>
            <a:r>
              <a:rPr lang="en-GB" sz="2200">
                <a:latin typeface="Kalam"/>
                <a:ea typeface="Kalam"/>
                <a:cs typeface="Kalam"/>
                <a:sym typeface="Kalam"/>
              </a:rPr>
              <a:t> × 2.7</a:t>
            </a:r>
            <a:endParaRPr sz="2200">
              <a:latin typeface="Kalam"/>
              <a:ea typeface="Kalam"/>
              <a:cs typeface="Kalam"/>
              <a:sym typeface="Kalam"/>
            </a:endParaRPr>
          </a:p>
        </p:txBody>
      </p:sp>
      <p:sp>
        <p:nvSpPr>
          <p:cNvPr id="1419" name="Google Shape;1419;p97"/>
          <p:cNvSpPr txBox="1"/>
          <p:nvPr/>
        </p:nvSpPr>
        <p:spPr>
          <a:xfrm>
            <a:off x="4992325" y="2517450"/>
            <a:ext cx="109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56</a:t>
            </a:r>
            <a:r>
              <a:rPr lang="en-GB" sz="2000">
                <a:solidFill>
                  <a:srgbClr val="000000"/>
                </a:solidFill>
                <a:latin typeface="Kalam"/>
                <a:ea typeface="Kalam"/>
                <a:cs typeface="Kalam"/>
                <a:sym typeface="Kalam"/>
              </a:rPr>
              <a:t> × </a:t>
            </a:r>
            <a:r>
              <a:rPr lang="en-GB" sz="2000">
                <a:latin typeface="Kalam"/>
                <a:ea typeface="Kalam"/>
                <a:cs typeface="Kalam"/>
                <a:sym typeface="Kalam"/>
              </a:rPr>
              <a:t>0.1</a:t>
            </a:r>
            <a:endParaRPr sz="2000">
              <a:solidFill>
                <a:srgbClr val="000000"/>
              </a:solidFill>
              <a:latin typeface="Kalam"/>
              <a:ea typeface="Kalam"/>
              <a:cs typeface="Kalam"/>
              <a:sym typeface="Kalam"/>
            </a:endParaRPr>
          </a:p>
        </p:txBody>
      </p:sp>
      <p:sp>
        <p:nvSpPr>
          <p:cNvPr id="1420" name="Google Shape;1420;p97"/>
          <p:cNvSpPr txBox="1"/>
          <p:nvPr/>
        </p:nvSpPr>
        <p:spPr>
          <a:xfrm>
            <a:off x="6819675" y="2517450"/>
            <a:ext cx="1065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27</a:t>
            </a:r>
            <a:r>
              <a:rPr lang="en-GB" sz="2000">
                <a:solidFill>
                  <a:srgbClr val="000000"/>
                </a:solidFill>
                <a:latin typeface="Kalam"/>
                <a:ea typeface="Kalam"/>
                <a:cs typeface="Kalam"/>
                <a:sym typeface="Kalam"/>
              </a:rPr>
              <a:t> × </a:t>
            </a:r>
            <a:r>
              <a:rPr lang="en-GB" sz="2000">
                <a:latin typeface="Kalam"/>
                <a:ea typeface="Kalam"/>
                <a:cs typeface="Kalam"/>
                <a:sym typeface="Kalam"/>
              </a:rPr>
              <a:t>0.1</a:t>
            </a:r>
            <a:endParaRPr sz="2000">
              <a:solidFill>
                <a:srgbClr val="000000"/>
              </a:solidFill>
              <a:latin typeface="Kalam"/>
              <a:ea typeface="Kalam"/>
              <a:cs typeface="Kalam"/>
              <a:sym typeface="Kalam"/>
            </a:endParaRPr>
          </a:p>
        </p:txBody>
      </p:sp>
      <p:sp>
        <p:nvSpPr>
          <p:cNvPr id="1421" name="Google Shape;1421;p97"/>
          <p:cNvSpPr txBox="1"/>
          <p:nvPr/>
        </p:nvSpPr>
        <p:spPr>
          <a:xfrm>
            <a:off x="6364825" y="24412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cxnSp>
        <p:nvCxnSpPr>
          <p:cNvPr id="1422" name="Google Shape;1422;p97"/>
          <p:cNvCxnSpPr/>
          <p:nvPr/>
        </p:nvCxnSpPr>
        <p:spPr>
          <a:xfrm flipH="1">
            <a:off x="5441425" y="1993004"/>
            <a:ext cx="585000" cy="486000"/>
          </a:xfrm>
          <a:prstGeom prst="straightConnector1">
            <a:avLst/>
          </a:prstGeom>
          <a:noFill/>
          <a:ln cap="flat" cmpd="sng" w="38100">
            <a:solidFill>
              <a:srgbClr val="808080"/>
            </a:solidFill>
            <a:prstDash val="solid"/>
            <a:round/>
            <a:headEnd len="med" w="med" type="none"/>
            <a:tailEnd len="med" w="med" type="triangle"/>
          </a:ln>
        </p:spPr>
      </p:cxnSp>
      <p:cxnSp>
        <p:nvCxnSpPr>
          <p:cNvPr id="1423" name="Google Shape;1423;p97"/>
          <p:cNvCxnSpPr/>
          <p:nvPr/>
        </p:nvCxnSpPr>
        <p:spPr>
          <a:xfrm>
            <a:off x="6743475" y="1975050"/>
            <a:ext cx="415200" cy="504000"/>
          </a:xfrm>
          <a:prstGeom prst="straightConnector1">
            <a:avLst/>
          </a:prstGeom>
          <a:noFill/>
          <a:ln cap="flat" cmpd="sng" w="38100">
            <a:solidFill>
              <a:srgbClr val="808080"/>
            </a:solidFill>
            <a:prstDash val="solid"/>
            <a:round/>
            <a:headEnd len="med" w="med" type="none"/>
            <a:tailEnd len="med" w="med" type="triangle"/>
          </a:ln>
        </p:spPr>
      </p:cxnSp>
      <p:sp>
        <p:nvSpPr>
          <p:cNvPr id="1424" name="Google Shape;1424;p97"/>
          <p:cNvSpPr txBox="1"/>
          <p:nvPr/>
        </p:nvSpPr>
        <p:spPr>
          <a:xfrm>
            <a:off x="4992325" y="2910000"/>
            <a:ext cx="841800" cy="381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56</a:t>
            </a:r>
            <a:r>
              <a:rPr lang="en-GB" sz="2000">
                <a:latin typeface="Kalam"/>
                <a:ea typeface="Kalam"/>
                <a:cs typeface="Kalam"/>
                <a:sym typeface="Kalam"/>
              </a:rPr>
              <a:t> </a:t>
            </a:r>
            <a:r>
              <a:rPr lang="en-GB" sz="2000">
                <a:solidFill>
                  <a:srgbClr val="000000"/>
                </a:solidFill>
                <a:latin typeface="Kalam"/>
                <a:ea typeface="Kalam"/>
                <a:cs typeface="Kalam"/>
                <a:sym typeface="Kalam"/>
              </a:rPr>
              <a:t>× </a:t>
            </a:r>
            <a:endParaRPr sz="2000">
              <a:solidFill>
                <a:srgbClr val="000000"/>
              </a:solidFill>
              <a:latin typeface="Kalam"/>
              <a:ea typeface="Kalam"/>
              <a:cs typeface="Kalam"/>
              <a:sym typeface="Kalam"/>
            </a:endParaRPr>
          </a:p>
        </p:txBody>
      </p:sp>
      <p:sp>
        <p:nvSpPr>
          <p:cNvPr id="1425" name="Google Shape;1425;p97"/>
          <p:cNvSpPr txBox="1"/>
          <p:nvPr/>
        </p:nvSpPr>
        <p:spPr>
          <a:xfrm>
            <a:off x="6819675" y="2880900"/>
            <a:ext cx="133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27</a:t>
            </a:r>
            <a:r>
              <a:rPr lang="en-GB" sz="2000">
                <a:latin typeface="Kalam"/>
                <a:ea typeface="Kalam"/>
                <a:cs typeface="Kalam"/>
                <a:sym typeface="Kalam"/>
              </a:rPr>
              <a:t> × </a:t>
            </a:r>
            <a:endParaRPr sz="2000">
              <a:solidFill>
                <a:srgbClr val="000000"/>
              </a:solidFill>
              <a:latin typeface="Kalam"/>
              <a:ea typeface="Kalam"/>
              <a:cs typeface="Kalam"/>
              <a:sym typeface="Kalam"/>
            </a:endParaRPr>
          </a:p>
        </p:txBody>
      </p:sp>
      <p:sp>
        <p:nvSpPr>
          <p:cNvPr id="1426" name="Google Shape;1426;p97"/>
          <p:cNvSpPr txBox="1"/>
          <p:nvPr/>
        </p:nvSpPr>
        <p:spPr>
          <a:xfrm>
            <a:off x="6364825" y="288090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427" name="Google Shape;1427;p97"/>
          <p:cNvSpPr txBox="1"/>
          <p:nvPr/>
        </p:nvSpPr>
        <p:spPr>
          <a:xfrm>
            <a:off x="5018900" y="3407850"/>
            <a:ext cx="118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56</a:t>
            </a:r>
            <a:r>
              <a:rPr lang="en-GB" sz="2000">
                <a:latin typeface="Kalam"/>
                <a:ea typeface="Kalam"/>
                <a:cs typeface="Kalam"/>
                <a:sym typeface="Kalam"/>
              </a:rPr>
              <a:t> </a:t>
            </a:r>
            <a:r>
              <a:rPr lang="en-GB" sz="2000">
                <a:solidFill>
                  <a:schemeClr val="dk1"/>
                </a:solidFill>
                <a:latin typeface="Kalam"/>
                <a:ea typeface="Kalam"/>
                <a:cs typeface="Kalam"/>
                <a:sym typeface="Kalam"/>
              </a:rPr>
              <a:t>× 27</a:t>
            </a:r>
            <a:r>
              <a:rPr lang="en-GB" sz="2000">
                <a:latin typeface="Kalam"/>
                <a:ea typeface="Kalam"/>
                <a:cs typeface="Kalam"/>
                <a:sym typeface="Kalam"/>
              </a:rPr>
              <a:t> </a:t>
            </a:r>
            <a:endParaRPr sz="2000">
              <a:solidFill>
                <a:srgbClr val="000000"/>
              </a:solidFill>
              <a:latin typeface="Kalam"/>
              <a:ea typeface="Kalam"/>
              <a:cs typeface="Kalam"/>
              <a:sym typeface="Kalam"/>
            </a:endParaRPr>
          </a:p>
        </p:txBody>
      </p:sp>
      <p:sp>
        <p:nvSpPr>
          <p:cNvPr id="1428" name="Google Shape;1428;p97"/>
          <p:cNvSpPr txBox="1"/>
          <p:nvPr/>
        </p:nvSpPr>
        <p:spPr>
          <a:xfrm>
            <a:off x="6364825" y="33787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pic>
        <p:nvPicPr>
          <p:cNvPr descr="&lt;math xmlns=&quot;http://www.w3.org/1998/Math/MathML&quot; display=&quot;block&quot; data-is-equatio=&quot;1&quot; data-latex=&quot;\frac{1}{10}&quot;&gt;&lt;mfrac&gt;&lt;mn&gt;1&lt;/mn&gt;&lt;mn&gt;10&lt;/mn&gt;&lt;/mfrac&gt;&lt;/math&gt;" id="1429" name="Google Shape;1429;p97" title="one tenth"/>
          <p:cNvPicPr preferRelativeResize="0"/>
          <p:nvPr/>
        </p:nvPicPr>
        <p:blipFill>
          <a:blip r:embed="rId5">
            <a:alphaModFix/>
          </a:blip>
          <a:stretch>
            <a:fillRect/>
          </a:stretch>
        </p:blipFill>
        <p:spPr>
          <a:xfrm>
            <a:off x="5601747" y="2894288"/>
            <a:ext cx="264350" cy="421873"/>
          </a:xfrm>
          <a:prstGeom prst="rect">
            <a:avLst/>
          </a:prstGeom>
          <a:noFill/>
          <a:ln>
            <a:noFill/>
          </a:ln>
        </p:spPr>
      </p:pic>
      <p:pic>
        <p:nvPicPr>
          <p:cNvPr descr="&lt;math xmlns=&quot;http://www.w3.org/1998/Math/MathML&quot; display=&quot;block&quot; data-is-equatio=&quot;1&quot; data-latex=&quot;\frac{1}{10}&quot;&gt;&lt;mfrac&gt;&lt;mn&gt;1&lt;/mn&gt;&lt;mn&gt;10&lt;/mn&gt;&lt;/mfrac&gt;&lt;/math&gt;" id="1430" name="Google Shape;1430;p97" title="one tenth"/>
          <p:cNvPicPr preferRelativeResize="0"/>
          <p:nvPr/>
        </p:nvPicPr>
        <p:blipFill>
          <a:blip r:embed="rId5">
            <a:alphaModFix/>
          </a:blip>
          <a:stretch>
            <a:fillRect/>
          </a:stretch>
        </p:blipFill>
        <p:spPr>
          <a:xfrm>
            <a:off x="7432947" y="2890013"/>
            <a:ext cx="264350" cy="421873"/>
          </a:xfrm>
          <a:prstGeom prst="rect">
            <a:avLst/>
          </a:prstGeom>
          <a:noFill/>
          <a:ln>
            <a:noFill/>
          </a:ln>
        </p:spPr>
      </p:pic>
      <p:pic>
        <p:nvPicPr>
          <p:cNvPr descr="&lt;math xmlns=&quot;http://www.w3.org/1998/Math/MathML&quot; display=&quot;block&quot; data-is-equatio=&quot;1&quot; data-latex=&quot;\frac{1}{10}&quot;&gt;&lt;mfrac&gt;&lt;mn&gt;1&lt;/mn&gt;&lt;mn&gt;10&lt;/mn&gt;&lt;/mfrac&gt;&lt;/math&gt;" id="1431" name="Google Shape;1431;p97" title="one tenth"/>
          <p:cNvPicPr preferRelativeResize="0"/>
          <p:nvPr/>
        </p:nvPicPr>
        <p:blipFill>
          <a:blip r:embed="rId5">
            <a:alphaModFix/>
          </a:blip>
          <a:stretch>
            <a:fillRect/>
          </a:stretch>
        </p:blipFill>
        <p:spPr>
          <a:xfrm>
            <a:off x="6749847" y="3270013"/>
            <a:ext cx="264350" cy="421873"/>
          </a:xfrm>
          <a:prstGeom prst="rect">
            <a:avLst/>
          </a:prstGeom>
          <a:noFill/>
          <a:ln>
            <a:noFill/>
          </a:ln>
        </p:spPr>
      </p:pic>
      <p:sp>
        <p:nvSpPr>
          <p:cNvPr id="1432" name="Google Shape;1432;p97"/>
          <p:cNvSpPr txBox="1"/>
          <p:nvPr/>
        </p:nvSpPr>
        <p:spPr>
          <a:xfrm>
            <a:off x="6988564" y="3234650"/>
            <a:ext cx="3414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a:t>
            </a:r>
            <a:endParaRPr>
              <a:latin typeface="Kalam"/>
              <a:ea typeface="Kalam"/>
              <a:cs typeface="Kalam"/>
              <a:sym typeface="Kalam"/>
            </a:endParaRPr>
          </a:p>
        </p:txBody>
      </p:sp>
      <p:pic>
        <p:nvPicPr>
          <p:cNvPr descr="&lt;math xmlns=&quot;http://www.w3.org/1998/Math/MathML&quot; display=&quot;block&quot; data-is-equatio=&quot;1&quot; data-latex=&quot;\frac{1}{10}&quot;&gt;&lt;mfrac&gt;&lt;mn&gt;1&lt;/mn&gt;&lt;mn&gt;10&lt;/mn&gt;&lt;/mfrac&gt;&lt;/math&gt;" id="1433" name="Google Shape;1433;p97" title="one tenth"/>
          <p:cNvPicPr preferRelativeResize="0"/>
          <p:nvPr/>
        </p:nvPicPr>
        <p:blipFill>
          <a:blip r:embed="rId5">
            <a:alphaModFix/>
          </a:blip>
          <a:stretch>
            <a:fillRect/>
          </a:stretch>
        </p:blipFill>
        <p:spPr>
          <a:xfrm>
            <a:off x="7278697" y="3270013"/>
            <a:ext cx="264350" cy="421873"/>
          </a:xfrm>
          <a:prstGeom prst="rect">
            <a:avLst/>
          </a:prstGeom>
          <a:noFill/>
          <a:ln>
            <a:noFill/>
          </a:ln>
        </p:spPr>
      </p:pic>
      <p:sp>
        <p:nvSpPr>
          <p:cNvPr id="1434" name="Google Shape;1434;p97"/>
          <p:cNvSpPr txBox="1"/>
          <p:nvPr/>
        </p:nvSpPr>
        <p:spPr>
          <a:xfrm>
            <a:off x="5184150" y="3798163"/>
            <a:ext cx="118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56</a:t>
            </a:r>
            <a:r>
              <a:rPr lang="en-GB" sz="2000">
                <a:latin typeface="Kalam"/>
                <a:ea typeface="Kalam"/>
                <a:cs typeface="Kalam"/>
                <a:sym typeface="Kalam"/>
              </a:rPr>
              <a:t> </a:t>
            </a:r>
            <a:r>
              <a:rPr lang="en-GB" sz="2000">
                <a:solidFill>
                  <a:schemeClr val="dk1"/>
                </a:solidFill>
                <a:latin typeface="Kalam"/>
                <a:ea typeface="Kalam"/>
                <a:cs typeface="Kalam"/>
                <a:sym typeface="Kalam"/>
              </a:rPr>
              <a:t>× 27</a:t>
            </a:r>
            <a:r>
              <a:rPr lang="en-GB" sz="2000">
                <a:latin typeface="Kalam"/>
                <a:ea typeface="Kalam"/>
                <a:cs typeface="Kalam"/>
                <a:sym typeface="Kalam"/>
              </a:rPr>
              <a:t> </a:t>
            </a:r>
            <a:endParaRPr sz="2000">
              <a:solidFill>
                <a:srgbClr val="000000"/>
              </a:solidFill>
              <a:latin typeface="Kalam"/>
              <a:ea typeface="Kalam"/>
              <a:cs typeface="Kalam"/>
              <a:sym typeface="Kalam"/>
            </a:endParaRPr>
          </a:p>
        </p:txBody>
      </p:sp>
      <p:sp>
        <p:nvSpPr>
          <p:cNvPr id="1435" name="Google Shape;1435;p97"/>
          <p:cNvSpPr txBox="1"/>
          <p:nvPr/>
        </p:nvSpPr>
        <p:spPr>
          <a:xfrm>
            <a:off x="6364825" y="3759750"/>
            <a:ext cx="2196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pic>
        <p:nvPicPr>
          <p:cNvPr descr="&lt;math xmlns=&quot;http://www.w3.org/1998/Math/MathML&quot; display=&quot;block&quot; data-is-equatio=&quot;1&quot; data-latex=&quot;\frac{1}{100}&quot;&gt;&lt;mfrac&gt;&lt;mn&gt;1&lt;/mn&gt;&lt;mn&gt;100&lt;/mn&gt;&lt;/mfrac&gt;&lt;/math&gt;" id="1436" name="Google Shape;1436;p97" title="1 over 100"/>
          <p:cNvPicPr preferRelativeResize="0"/>
          <p:nvPr/>
        </p:nvPicPr>
        <p:blipFill>
          <a:blip r:embed="rId6">
            <a:alphaModFix/>
          </a:blip>
          <a:stretch>
            <a:fillRect/>
          </a:stretch>
        </p:blipFill>
        <p:spPr>
          <a:xfrm>
            <a:off x="6749859" y="3758667"/>
            <a:ext cx="378383" cy="41738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0" name="Shape 1440"/>
        <p:cNvGrpSpPr/>
        <p:nvPr/>
      </p:nvGrpSpPr>
      <p:grpSpPr>
        <a:xfrm>
          <a:off x="0" y="0"/>
          <a:ext cx="0" cy="0"/>
          <a:chOff x="0" y="0"/>
          <a:chExt cx="0" cy="0"/>
        </a:xfrm>
      </p:grpSpPr>
      <p:sp>
        <p:nvSpPr>
          <p:cNvPr id="1441" name="Google Shape;1441;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sp>
        <p:nvSpPr>
          <p:cNvPr id="1442" name="Google Shape;1442;p98"/>
          <p:cNvSpPr txBox="1"/>
          <p:nvPr>
            <p:ph idx="4294967295" type="subTitle"/>
          </p:nvPr>
        </p:nvSpPr>
        <p:spPr>
          <a:xfrm>
            <a:off x="337825" y="810000"/>
            <a:ext cx="8565000" cy="401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a:t>
            </a:r>
            <a:r>
              <a:rPr lang="en-GB"/>
              <a:t>Identify the equivalent calculations to 3.4</a:t>
            </a:r>
            <a:r>
              <a:rPr lang="en-GB"/>
              <a:t> × 9.3 </a:t>
            </a:r>
            <a:r>
              <a:rPr lang="en-GB"/>
              <a:t> </a:t>
            </a:r>
            <a:endParaRPr/>
          </a:p>
        </p:txBody>
      </p:sp>
      <p:grpSp>
        <p:nvGrpSpPr>
          <p:cNvPr id="1443" name="Google Shape;1443;p98"/>
          <p:cNvGrpSpPr/>
          <p:nvPr/>
        </p:nvGrpSpPr>
        <p:grpSpPr>
          <a:xfrm>
            <a:off x="677941" y="1325225"/>
            <a:ext cx="457200" cy="457200"/>
            <a:chOff x="1020916" y="1442088"/>
            <a:chExt cx="457200" cy="457200"/>
          </a:xfrm>
        </p:grpSpPr>
        <p:pic>
          <p:nvPicPr>
            <p:cNvPr id="1444" name="Google Shape;1444;p9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45" name="Google Shape;1445;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446" name="Google Shape;1446;p98"/>
          <p:cNvGrpSpPr/>
          <p:nvPr/>
        </p:nvGrpSpPr>
        <p:grpSpPr>
          <a:xfrm>
            <a:off x="677941" y="2044528"/>
            <a:ext cx="457200" cy="457200"/>
            <a:chOff x="1020916" y="1442088"/>
            <a:chExt cx="457200" cy="457200"/>
          </a:xfrm>
        </p:grpSpPr>
        <p:pic>
          <p:nvPicPr>
            <p:cNvPr id="1447" name="Google Shape;1447;p9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48" name="Google Shape;1448;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449" name="Google Shape;1449;p98"/>
          <p:cNvGrpSpPr/>
          <p:nvPr/>
        </p:nvGrpSpPr>
        <p:grpSpPr>
          <a:xfrm>
            <a:off x="677941" y="2763831"/>
            <a:ext cx="457200" cy="457200"/>
            <a:chOff x="1020916" y="1442088"/>
            <a:chExt cx="457200" cy="457200"/>
          </a:xfrm>
        </p:grpSpPr>
        <p:pic>
          <p:nvPicPr>
            <p:cNvPr id="1450" name="Google Shape;1450;p9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51" name="Google Shape;1451;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452" name="Google Shape;1452;p98"/>
          <p:cNvGrpSpPr/>
          <p:nvPr/>
        </p:nvGrpSpPr>
        <p:grpSpPr>
          <a:xfrm>
            <a:off x="677941" y="3483134"/>
            <a:ext cx="457200" cy="457200"/>
            <a:chOff x="1020916" y="1442088"/>
            <a:chExt cx="457200" cy="457200"/>
          </a:xfrm>
        </p:grpSpPr>
        <p:pic>
          <p:nvPicPr>
            <p:cNvPr id="1453" name="Google Shape;1453;p9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54" name="Google Shape;1454;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455" name="Google Shape;1455;p98"/>
          <p:cNvGrpSpPr/>
          <p:nvPr/>
        </p:nvGrpSpPr>
        <p:grpSpPr>
          <a:xfrm>
            <a:off x="677941" y="4202438"/>
            <a:ext cx="457200" cy="457200"/>
            <a:chOff x="1020916" y="1442088"/>
            <a:chExt cx="457200" cy="457200"/>
          </a:xfrm>
        </p:grpSpPr>
        <p:pic>
          <p:nvPicPr>
            <p:cNvPr id="1456" name="Google Shape;1456;p9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57" name="Google Shape;1457;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id="1458" name="Google Shape;1458;p98"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rotWithShape="1">
          <a:blip r:embed="rId4">
            <a:alphaModFix/>
          </a:blip>
          <a:srcRect b="0" l="0" r="73627" t="0"/>
          <a:stretch/>
        </p:blipFill>
        <p:spPr>
          <a:xfrm>
            <a:off x="1375550" y="1211200"/>
            <a:ext cx="1686992" cy="581150"/>
          </a:xfrm>
          <a:prstGeom prst="rect">
            <a:avLst/>
          </a:prstGeom>
          <a:noFill/>
          <a:ln>
            <a:noFill/>
          </a:ln>
        </p:spPr>
      </p:pic>
      <p:pic>
        <p:nvPicPr>
          <p:cNvPr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id="1459" name="Google Shape;1459;p98"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rotWithShape="1">
          <a:blip r:embed="rId4">
            <a:alphaModFix/>
          </a:blip>
          <a:srcRect b="0" l="27190" r="46437" t="0"/>
          <a:stretch/>
        </p:blipFill>
        <p:spPr>
          <a:xfrm>
            <a:off x="1315775" y="1968325"/>
            <a:ext cx="1686992" cy="581150"/>
          </a:xfrm>
          <a:prstGeom prst="rect">
            <a:avLst/>
          </a:prstGeom>
          <a:noFill/>
          <a:ln>
            <a:noFill/>
          </a:ln>
        </p:spPr>
      </p:pic>
      <p:pic>
        <p:nvPicPr>
          <p:cNvPr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id="1460" name="Google Shape;1460;p98"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rotWithShape="1">
          <a:blip r:embed="rId4">
            <a:alphaModFix/>
          </a:blip>
          <a:srcRect b="0" l="54380" r="29982" t="0"/>
          <a:stretch/>
        </p:blipFill>
        <p:spPr>
          <a:xfrm>
            <a:off x="1375550" y="2725450"/>
            <a:ext cx="1000196" cy="581125"/>
          </a:xfrm>
          <a:prstGeom prst="rect">
            <a:avLst/>
          </a:prstGeom>
          <a:noFill/>
          <a:ln>
            <a:noFill/>
          </a:ln>
        </p:spPr>
      </p:pic>
      <p:pic>
        <p:nvPicPr>
          <p:cNvPr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id="1461" name="Google Shape;1461;p98"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rotWithShape="1">
          <a:blip r:embed="rId4">
            <a:alphaModFix/>
          </a:blip>
          <a:srcRect b="0" l="71437" r="14326" t="0"/>
          <a:stretch/>
        </p:blipFill>
        <p:spPr>
          <a:xfrm>
            <a:off x="1375550" y="3447400"/>
            <a:ext cx="910650" cy="581139"/>
          </a:xfrm>
          <a:prstGeom prst="rect">
            <a:avLst/>
          </a:prstGeom>
          <a:noFill/>
          <a:ln>
            <a:noFill/>
          </a:ln>
        </p:spPr>
      </p:pic>
      <p:pic>
        <p:nvPicPr>
          <p:cNvPr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id="1462" name="Google Shape;1462;p98"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rotWithShape="1">
          <a:blip r:embed="rId4">
            <a:alphaModFix/>
          </a:blip>
          <a:srcRect b="0" l="86839" r="-1076" t="0"/>
          <a:stretch/>
        </p:blipFill>
        <p:spPr>
          <a:xfrm>
            <a:off x="1426801" y="4169350"/>
            <a:ext cx="910650" cy="5811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sp>
        <p:nvSpPr>
          <p:cNvPr id="1467" name="Google Shape;1467;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sp>
        <p:nvSpPr>
          <p:cNvPr id="1468" name="Google Shape;1468;p99"/>
          <p:cNvSpPr txBox="1"/>
          <p:nvPr>
            <p:ph idx="4294967295" type="subTitle"/>
          </p:nvPr>
        </p:nvSpPr>
        <p:spPr>
          <a:xfrm>
            <a:off x="324000" y="810000"/>
            <a:ext cx="7135200" cy="401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a:t>
            </a:r>
            <a:r>
              <a:rPr lang="en-GB"/>
              <a:t>Identify the equivalent calculations to 0.4 × 3.8  </a:t>
            </a:r>
            <a:endParaRPr/>
          </a:p>
        </p:txBody>
      </p:sp>
      <p:grpSp>
        <p:nvGrpSpPr>
          <p:cNvPr id="1469" name="Google Shape;1469;p99"/>
          <p:cNvGrpSpPr/>
          <p:nvPr/>
        </p:nvGrpSpPr>
        <p:grpSpPr>
          <a:xfrm>
            <a:off x="797566" y="1248350"/>
            <a:ext cx="457200" cy="457200"/>
            <a:chOff x="1020916" y="1442088"/>
            <a:chExt cx="457200" cy="457200"/>
          </a:xfrm>
        </p:grpSpPr>
        <p:pic>
          <p:nvPicPr>
            <p:cNvPr id="1470" name="Google Shape;1470;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71" name="Google Shape;1471;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472" name="Google Shape;1472;p99"/>
          <p:cNvGrpSpPr/>
          <p:nvPr/>
        </p:nvGrpSpPr>
        <p:grpSpPr>
          <a:xfrm>
            <a:off x="797566" y="1967653"/>
            <a:ext cx="457200" cy="457200"/>
            <a:chOff x="1020916" y="1442088"/>
            <a:chExt cx="457200" cy="457200"/>
          </a:xfrm>
        </p:grpSpPr>
        <p:pic>
          <p:nvPicPr>
            <p:cNvPr id="1473" name="Google Shape;1473;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74" name="Google Shape;1474;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475" name="Google Shape;1475;p99"/>
          <p:cNvGrpSpPr/>
          <p:nvPr/>
        </p:nvGrpSpPr>
        <p:grpSpPr>
          <a:xfrm>
            <a:off x="797566" y="2686956"/>
            <a:ext cx="457200" cy="457200"/>
            <a:chOff x="1020916" y="1442088"/>
            <a:chExt cx="457200" cy="457200"/>
          </a:xfrm>
        </p:grpSpPr>
        <p:pic>
          <p:nvPicPr>
            <p:cNvPr id="1476" name="Google Shape;1476;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77" name="Google Shape;1477;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478" name="Google Shape;1478;p99"/>
          <p:cNvGrpSpPr/>
          <p:nvPr/>
        </p:nvGrpSpPr>
        <p:grpSpPr>
          <a:xfrm>
            <a:off x="797566" y="3406259"/>
            <a:ext cx="457200" cy="457200"/>
            <a:chOff x="1020916" y="1442088"/>
            <a:chExt cx="457200" cy="457200"/>
          </a:xfrm>
        </p:grpSpPr>
        <p:pic>
          <p:nvPicPr>
            <p:cNvPr id="1479" name="Google Shape;1479;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80" name="Google Shape;1480;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481" name="Google Shape;1481;p99"/>
          <p:cNvGrpSpPr/>
          <p:nvPr/>
        </p:nvGrpSpPr>
        <p:grpSpPr>
          <a:xfrm>
            <a:off x="797566" y="4125563"/>
            <a:ext cx="457200" cy="457200"/>
            <a:chOff x="1020916" y="1442088"/>
            <a:chExt cx="457200" cy="457200"/>
          </a:xfrm>
        </p:grpSpPr>
        <p:pic>
          <p:nvPicPr>
            <p:cNvPr id="1482" name="Google Shape;1482;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483" name="Google Shape;1483;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id="1484" name="Google Shape;1484;p99"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rotWithShape="1">
          <a:blip r:embed="rId4">
            <a:alphaModFix/>
          </a:blip>
          <a:srcRect b="0" l="0" r="72740" t="0"/>
          <a:stretch/>
        </p:blipFill>
        <p:spPr>
          <a:xfrm>
            <a:off x="1479299" y="1192000"/>
            <a:ext cx="1468375" cy="569900"/>
          </a:xfrm>
          <a:prstGeom prst="rect">
            <a:avLst/>
          </a:prstGeom>
          <a:noFill/>
          <a:ln>
            <a:noFill/>
          </a:ln>
        </p:spPr>
      </p:pic>
      <p:pic>
        <p:nvPicPr>
          <p:cNvPr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id="1485" name="Google Shape;1485;p99"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rotWithShape="1">
          <a:blip r:embed="rId4">
            <a:alphaModFix/>
          </a:blip>
          <a:srcRect b="0" l="27258" r="42588" t="0"/>
          <a:stretch/>
        </p:blipFill>
        <p:spPr>
          <a:xfrm>
            <a:off x="1443926" y="1911300"/>
            <a:ext cx="1624326" cy="569900"/>
          </a:xfrm>
          <a:prstGeom prst="rect">
            <a:avLst/>
          </a:prstGeom>
          <a:noFill/>
          <a:ln>
            <a:noFill/>
          </a:ln>
        </p:spPr>
      </p:pic>
      <p:pic>
        <p:nvPicPr>
          <p:cNvPr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id="1486" name="Google Shape;1486;p99"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rotWithShape="1">
          <a:blip r:embed="rId4">
            <a:alphaModFix/>
          </a:blip>
          <a:srcRect b="0" l="58642" r="25813" t="0"/>
          <a:stretch/>
        </p:blipFill>
        <p:spPr>
          <a:xfrm>
            <a:off x="1325499" y="2582575"/>
            <a:ext cx="837325" cy="569900"/>
          </a:xfrm>
          <a:prstGeom prst="rect">
            <a:avLst/>
          </a:prstGeom>
          <a:noFill/>
          <a:ln>
            <a:noFill/>
          </a:ln>
        </p:spPr>
      </p:pic>
      <p:pic>
        <p:nvPicPr>
          <p:cNvPr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id="1487" name="Google Shape;1487;p99"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rotWithShape="1">
          <a:blip r:embed="rId4">
            <a:alphaModFix/>
          </a:blip>
          <a:srcRect b="0" l="75908" r="8547" t="0"/>
          <a:stretch/>
        </p:blipFill>
        <p:spPr>
          <a:xfrm>
            <a:off x="1367026" y="3330050"/>
            <a:ext cx="837325" cy="569900"/>
          </a:xfrm>
          <a:prstGeom prst="rect">
            <a:avLst/>
          </a:prstGeom>
          <a:noFill/>
          <a:ln>
            <a:noFill/>
          </a:ln>
        </p:spPr>
      </p:pic>
      <p:pic>
        <p:nvPicPr>
          <p:cNvPr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id="1488" name="Google Shape;1488;p99"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rotWithShape="1">
          <a:blip r:embed="rId4">
            <a:alphaModFix/>
          </a:blip>
          <a:srcRect b="0" l="92245" r="-3167" t="0"/>
          <a:stretch/>
        </p:blipFill>
        <p:spPr>
          <a:xfrm>
            <a:off x="1491525" y="4153725"/>
            <a:ext cx="588325" cy="5699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2" name="Shape 1492"/>
        <p:cNvGrpSpPr/>
        <p:nvPr/>
      </p:nvGrpSpPr>
      <p:grpSpPr>
        <a:xfrm>
          <a:off x="0" y="0"/>
          <a:ext cx="0" cy="0"/>
          <a:chOff x="0" y="0"/>
          <a:chExt cx="0" cy="0"/>
        </a:xfrm>
      </p:grpSpPr>
      <p:sp>
        <p:nvSpPr>
          <p:cNvPr id="1493" name="Google Shape;1493;p100"/>
          <p:cNvSpPr txBox="1"/>
          <p:nvPr>
            <p:ph idx="1" type="body"/>
          </p:nvPr>
        </p:nvSpPr>
        <p:spPr>
          <a:xfrm>
            <a:off x="324000" y="759300"/>
            <a:ext cx="82377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3</a:t>
            </a:r>
            <a:r>
              <a:rPr lang="en-GB" sz="2000"/>
              <a:t>) Put a tick next to the calculations which are correct and create two of your own correct calculations using powers of </a:t>
            </a:r>
            <a:endParaRPr sz="2000"/>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494" name="Google Shape;1494;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sp>
        <p:nvSpPr>
          <p:cNvPr id="1495" name="Google Shape;1495;p100"/>
          <p:cNvSpPr/>
          <p:nvPr/>
        </p:nvSpPr>
        <p:spPr>
          <a:xfrm>
            <a:off x="3326325" y="2381275"/>
            <a:ext cx="2329776" cy="1398708"/>
          </a:xfrm>
          <a:prstGeom prst="cloud">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2300">
                <a:solidFill>
                  <a:schemeClr val="dk1"/>
                </a:solidFill>
                <a:latin typeface="Lexend"/>
                <a:ea typeface="Lexend"/>
                <a:cs typeface="Lexend"/>
                <a:sym typeface="Lexend"/>
              </a:rPr>
              <a:t>1.2</a:t>
            </a:r>
            <a:r>
              <a:rPr lang="en-GB" sz="2300">
                <a:solidFill>
                  <a:schemeClr val="dk1"/>
                </a:solidFill>
                <a:latin typeface="Lexend"/>
                <a:ea typeface="Lexend"/>
                <a:cs typeface="Lexend"/>
                <a:sym typeface="Lexend"/>
              </a:rPr>
              <a:t> × 0.03</a:t>
            </a:r>
            <a:endParaRPr sz="3100">
              <a:latin typeface="Lexend"/>
              <a:ea typeface="Lexend"/>
              <a:cs typeface="Lexend"/>
              <a:sym typeface="Lexend"/>
            </a:endParaRPr>
          </a:p>
        </p:txBody>
      </p:sp>
      <p:cxnSp>
        <p:nvCxnSpPr>
          <p:cNvPr id="1496" name="Google Shape;1496;p100"/>
          <p:cNvCxnSpPr/>
          <p:nvPr/>
        </p:nvCxnSpPr>
        <p:spPr>
          <a:xfrm>
            <a:off x="3113750" y="2164288"/>
            <a:ext cx="891900" cy="363600"/>
          </a:xfrm>
          <a:prstGeom prst="straightConnector1">
            <a:avLst/>
          </a:prstGeom>
          <a:noFill/>
          <a:ln cap="flat" cmpd="sng" w="28575">
            <a:solidFill>
              <a:schemeClr val="dk1"/>
            </a:solidFill>
            <a:prstDash val="solid"/>
            <a:round/>
            <a:headEnd len="med" w="med" type="none"/>
            <a:tailEnd len="med" w="med" type="none"/>
          </a:ln>
        </p:spPr>
      </p:cxnSp>
      <p:cxnSp>
        <p:nvCxnSpPr>
          <p:cNvPr id="1497" name="Google Shape;1497;p100"/>
          <p:cNvCxnSpPr/>
          <p:nvPr/>
        </p:nvCxnSpPr>
        <p:spPr>
          <a:xfrm flipH="1" rot="10800000">
            <a:off x="2377125" y="3072175"/>
            <a:ext cx="949200" cy="131700"/>
          </a:xfrm>
          <a:prstGeom prst="straightConnector1">
            <a:avLst/>
          </a:prstGeom>
          <a:noFill/>
          <a:ln cap="flat" cmpd="sng" w="28575">
            <a:solidFill>
              <a:schemeClr val="dk1"/>
            </a:solidFill>
            <a:prstDash val="solid"/>
            <a:round/>
            <a:headEnd len="med" w="med" type="none"/>
            <a:tailEnd len="med" w="med" type="none"/>
          </a:ln>
        </p:spPr>
      </p:cxnSp>
      <p:cxnSp>
        <p:nvCxnSpPr>
          <p:cNvPr id="1498" name="Google Shape;1498;p100"/>
          <p:cNvCxnSpPr/>
          <p:nvPr/>
        </p:nvCxnSpPr>
        <p:spPr>
          <a:xfrm flipH="1" rot="10800000">
            <a:off x="2802725" y="3527725"/>
            <a:ext cx="809400" cy="533400"/>
          </a:xfrm>
          <a:prstGeom prst="straightConnector1">
            <a:avLst/>
          </a:prstGeom>
          <a:noFill/>
          <a:ln cap="flat" cmpd="sng" w="28575">
            <a:solidFill>
              <a:schemeClr val="dk1"/>
            </a:solidFill>
            <a:prstDash val="solid"/>
            <a:round/>
            <a:headEnd len="med" w="med" type="none"/>
            <a:tailEnd len="med" w="med" type="none"/>
          </a:ln>
        </p:spPr>
      </p:cxnSp>
      <p:cxnSp>
        <p:nvCxnSpPr>
          <p:cNvPr id="1499" name="Google Shape;1499;p100"/>
          <p:cNvCxnSpPr/>
          <p:nvPr/>
        </p:nvCxnSpPr>
        <p:spPr>
          <a:xfrm rot="10800000">
            <a:off x="5656075" y="3198175"/>
            <a:ext cx="939900" cy="210900"/>
          </a:xfrm>
          <a:prstGeom prst="straightConnector1">
            <a:avLst/>
          </a:prstGeom>
          <a:noFill/>
          <a:ln cap="flat" cmpd="sng" w="28575">
            <a:solidFill>
              <a:schemeClr val="dk1"/>
            </a:solidFill>
            <a:prstDash val="solid"/>
            <a:round/>
            <a:headEnd len="med" w="med" type="none"/>
            <a:tailEnd len="med" w="med" type="none"/>
          </a:ln>
        </p:spPr>
      </p:cxnSp>
      <p:cxnSp>
        <p:nvCxnSpPr>
          <p:cNvPr id="1500" name="Google Shape;1500;p100"/>
          <p:cNvCxnSpPr/>
          <p:nvPr/>
        </p:nvCxnSpPr>
        <p:spPr>
          <a:xfrm flipH="1">
            <a:off x="4888475" y="2033475"/>
            <a:ext cx="947100" cy="380100"/>
          </a:xfrm>
          <a:prstGeom prst="straightConnector1">
            <a:avLst/>
          </a:prstGeom>
          <a:noFill/>
          <a:ln cap="flat" cmpd="sng" w="28575">
            <a:solidFill>
              <a:schemeClr val="dk1"/>
            </a:solidFill>
            <a:prstDash val="solid"/>
            <a:round/>
            <a:headEnd len="med" w="med" type="none"/>
            <a:tailEnd len="med" w="med" type="none"/>
          </a:ln>
        </p:spPr>
      </p:cxnSp>
      <p:pic>
        <p:nvPicPr>
          <p:cNvPr descr="&lt;math xmlns=&quot;http://www.w3.org/1998/Math/MathML&quot; display=&quot;block&quot; data-is-equatio=&quot;1&quot; data-latex=&quot;\frac{1}{10}&quot;&gt;&lt;mfrac&gt;&lt;mn&gt;1&lt;/mn&gt;&lt;mn&gt;10&lt;/mn&gt;&lt;/mfrac&gt;&lt;/math&gt;" id="1501" name="Google Shape;1501;p100" title="one tenth"/>
          <p:cNvPicPr preferRelativeResize="0"/>
          <p:nvPr/>
        </p:nvPicPr>
        <p:blipFill>
          <a:blip r:embed="rId3">
            <a:alphaModFix/>
          </a:blip>
          <a:stretch>
            <a:fillRect/>
          </a:stretch>
        </p:blipFill>
        <p:spPr>
          <a:xfrm>
            <a:off x="6952522" y="1080000"/>
            <a:ext cx="264350" cy="421873"/>
          </a:xfrm>
          <a:prstGeom prst="rect">
            <a:avLst/>
          </a:prstGeom>
          <a:noFill/>
          <a:ln>
            <a:noFill/>
          </a:ln>
        </p:spPr>
      </p:pic>
      <p:pic>
        <p:nvPicPr>
          <p:cNvPr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id="1502" name="Google Shape;1502;p100"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rotWithShape="1">
          <a:blip r:embed="rId4">
            <a:alphaModFix/>
          </a:blip>
          <a:srcRect b="0" l="0" r="71434" t="0"/>
          <a:stretch/>
        </p:blipFill>
        <p:spPr>
          <a:xfrm>
            <a:off x="5835575" y="1701750"/>
            <a:ext cx="1787299" cy="636800"/>
          </a:xfrm>
          <a:prstGeom prst="rect">
            <a:avLst/>
          </a:prstGeom>
          <a:noFill/>
          <a:ln>
            <a:noFill/>
          </a:ln>
        </p:spPr>
      </p:pic>
      <p:cxnSp>
        <p:nvCxnSpPr>
          <p:cNvPr id="1503" name="Google Shape;1503;p100"/>
          <p:cNvCxnSpPr/>
          <p:nvPr/>
        </p:nvCxnSpPr>
        <p:spPr>
          <a:xfrm rot="10800000">
            <a:off x="5007550" y="3586650"/>
            <a:ext cx="631500" cy="266700"/>
          </a:xfrm>
          <a:prstGeom prst="straightConnector1">
            <a:avLst/>
          </a:prstGeom>
          <a:noFill/>
          <a:ln cap="flat" cmpd="sng" w="28575">
            <a:solidFill>
              <a:schemeClr val="dk1"/>
            </a:solidFill>
            <a:prstDash val="solid"/>
            <a:round/>
            <a:headEnd len="med" w="med" type="none"/>
            <a:tailEnd len="med" w="med" type="none"/>
          </a:ln>
        </p:spPr>
      </p:cxnSp>
      <p:pic>
        <p:nvPicPr>
          <p:cNvPr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id="1504" name="Google Shape;1504;p100"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rotWithShape="1">
          <a:blip r:embed="rId4">
            <a:alphaModFix/>
          </a:blip>
          <a:srcRect b="-16198" l="26900" r="44533" t="0"/>
          <a:stretch/>
        </p:blipFill>
        <p:spPr>
          <a:xfrm>
            <a:off x="6565550" y="3072175"/>
            <a:ext cx="1787299" cy="739975"/>
          </a:xfrm>
          <a:prstGeom prst="rect">
            <a:avLst/>
          </a:prstGeom>
          <a:noFill/>
          <a:ln>
            <a:noFill/>
          </a:ln>
        </p:spPr>
      </p:pic>
      <p:pic>
        <p:nvPicPr>
          <p:cNvPr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id="1505" name="Google Shape;1505;p100"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rotWithShape="1">
          <a:blip r:embed="rId4">
            <a:alphaModFix/>
          </a:blip>
          <a:srcRect b="-16198" l="56632" r="32852" t="0"/>
          <a:stretch/>
        </p:blipFill>
        <p:spPr>
          <a:xfrm>
            <a:off x="5656087" y="3671938"/>
            <a:ext cx="657874" cy="739975"/>
          </a:xfrm>
          <a:prstGeom prst="rect">
            <a:avLst/>
          </a:prstGeom>
          <a:noFill/>
          <a:ln>
            <a:noFill/>
          </a:ln>
        </p:spPr>
      </p:pic>
      <p:pic>
        <p:nvPicPr>
          <p:cNvPr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id="1506" name="Google Shape;1506;p100"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rotWithShape="1">
          <a:blip r:embed="rId4">
            <a:alphaModFix/>
          </a:blip>
          <a:srcRect b="-16198" l="90981" r="-755" t="0"/>
          <a:stretch/>
        </p:blipFill>
        <p:spPr>
          <a:xfrm>
            <a:off x="4512638" y="3950025"/>
            <a:ext cx="611549" cy="739950"/>
          </a:xfrm>
          <a:prstGeom prst="rect">
            <a:avLst/>
          </a:prstGeom>
          <a:noFill/>
          <a:ln>
            <a:noFill/>
          </a:ln>
        </p:spPr>
      </p:pic>
      <p:pic>
        <p:nvPicPr>
          <p:cNvPr descr="&lt;math xmlns=&quot;http://www.w3.org/1998/Math/MathML&quot; display=&quot;block&quot; data-is-equatio=&quot;1&quot; data-latex=&quot;\frac{36}{1000}&quot;&gt;&lt;mfrac&gt;&lt;mn&gt;36&lt;/mn&gt;&lt;mn&gt;1000&lt;/mn&gt;&lt;/mfrac&gt;&lt;/math&gt;" id="1507" name="Google Shape;1507;p100" title="36 over 1000"/>
          <p:cNvPicPr preferRelativeResize="0"/>
          <p:nvPr/>
        </p:nvPicPr>
        <p:blipFill>
          <a:blip r:embed="rId5">
            <a:alphaModFix/>
          </a:blip>
          <a:stretch>
            <a:fillRect/>
          </a:stretch>
        </p:blipFill>
        <p:spPr>
          <a:xfrm>
            <a:off x="1771549" y="2924500"/>
            <a:ext cx="554400" cy="542690"/>
          </a:xfrm>
          <a:prstGeom prst="rect">
            <a:avLst/>
          </a:prstGeom>
          <a:noFill/>
          <a:ln>
            <a:noFill/>
          </a:ln>
        </p:spPr>
      </p:pic>
      <p:cxnSp>
        <p:nvCxnSpPr>
          <p:cNvPr id="1508" name="Google Shape;1508;p100"/>
          <p:cNvCxnSpPr/>
          <p:nvPr/>
        </p:nvCxnSpPr>
        <p:spPr>
          <a:xfrm rot="10800000">
            <a:off x="4502200" y="3762575"/>
            <a:ext cx="77400" cy="347100"/>
          </a:xfrm>
          <a:prstGeom prst="straightConnector1">
            <a:avLst/>
          </a:prstGeom>
          <a:noFill/>
          <a:ln cap="flat" cmpd="sng" w="28575">
            <a:solidFill>
              <a:schemeClr val="dk1"/>
            </a:solidFill>
            <a:prstDash val="solid"/>
            <a:round/>
            <a:headEnd len="med" w="med" type="none"/>
            <a:tailEnd len="med" w="med" type="none"/>
          </a:ln>
        </p:spPr>
      </p:cxnSp>
      <p:sp>
        <p:nvSpPr>
          <p:cNvPr id="1509" name="Google Shape;1509;p100"/>
          <p:cNvSpPr txBox="1"/>
          <p:nvPr/>
        </p:nvSpPr>
        <p:spPr>
          <a:xfrm>
            <a:off x="1609550" y="4319988"/>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
        <p:nvSpPr>
          <p:cNvPr id="1510" name="Google Shape;1510;p100"/>
          <p:cNvSpPr txBox="1"/>
          <p:nvPr/>
        </p:nvSpPr>
        <p:spPr>
          <a:xfrm>
            <a:off x="1828050" y="1733938"/>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sp>
        <p:nvSpPr>
          <p:cNvPr id="1515" name="Google Shape;1515;p101"/>
          <p:cNvSpPr txBox="1"/>
          <p:nvPr>
            <p:ph idx="1" type="body"/>
          </p:nvPr>
        </p:nvSpPr>
        <p:spPr>
          <a:xfrm>
            <a:off x="372363" y="741900"/>
            <a:ext cx="82377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4</a:t>
            </a:r>
            <a:r>
              <a:rPr lang="en-GB"/>
              <a:t>) Create your own calculation and six </a:t>
            </a:r>
            <a:r>
              <a:rPr lang="en-GB"/>
              <a:t>equivalent</a:t>
            </a:r>
            <a:r>
              <a:rPr lang="en-GB"/>
              <a:t> </a:t>
            </a:r>
            <a:r>
              <a:rPr lang="en-GB"/>
              <a:t>calculations</a:t>
            </a:r>
            <a:r>
              <a:rPr lang="en-GB"/>
              <a:t> using powers of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516" name="Google Shape;1516;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sp>
        <p:nvSpPr>
          <p:cNvPr id="1517" name="Google Shape;1517;p101"/>
          <p:cNvSpPr/>
          <p:nvPr/>
        </p:nvSpPr>
        <p:spPr>
          <a:xfrm>
            <a:off x="3326325" y="2381275"/>
            <a:ext cx="2329776" cy="1398708"/>
          </a:xfrm>
          <a:prstGeom prst="cloud">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3100">
              <a:latin typeface="Lexend"/>
              <a:ea typeface="Lexend"/>
              <a:cs typeface="Lexend"/>
              <a:sym typeface="Lexend"/>
            </a:endParaRPr>
          </a:p>
        </p:txBody>
      </p:sp>
      <p:cxnSp>
        <p:nvCxnSpPr>
          <p:cNvPr id="1518" name="Google Shape;1518;p101"/>
          <p:cNvCxnSpPr/>
          <p:nvPr/>
        </p:nvCxnSpPr>
        <p:spPr>
          <a:xfrm>
            <a:off x="3113750" y="2164288"/>
            <a:ext cx="891900" cy="363600"/>
          </a:xfrm>
          <a:prstGeom prst="straightConnector1">
            <a:avLst/>
          </a:prstGeom>
          <a:noFill/>
          <a:ln cap="flat" cmpd="sng" w="28575">
            <a:solidFill>
              <a:schemeClr val="dk1"/>
            </a:solidFill>
            <a:prstDash val="solid"/>
            <a:round/>
            <a:headEnd len="med" w="med" type="none"/>
            <a:tailEnd len="med" w="med" type="none"/>
          </a:ln>
        </p:spPr>
      </p:cxnSp>
      <p:cxnSp>
        <p:nvCxnSpPr>
          <p:cNvPr id="1519" name="Google Shape;1519;p101"/>
          <p:cNvCxnSpPr/>
          <p:nvPr/>
        </p:nvCxnSpPr>
        <p:spPr>
          <a:xfrm flipH="1" rot="10800000">
            <a:off x="2377125" y="3072175"/>
            <a:ext cx="949200" cy="131700"/>
          </a:xfrm>
          <a:prstGeom prst="straightConnector1">
            <a:avLst/>
          </a:prstGeom>
          <a:noFill/>
          <a:ln cap="flat" cmpd="sng" w="28575">
            <a:solidFill>
              <a:schemeClr val="dk1"/>
            </a:solidFill>
            <a:prstDash val="solid"/>
            <a:round/>
            <a:headEnd len="med" w="med" type="none"/>
            <a:tailEnd len="med" w="med" type="none"/>
          </a:ln>
        </p:spPr>
      </p:cxnSp>
      <p:cxnSp>
        <p:nvCxnSpPr>
          <p:cNvPr id="1520" name="Google Shape;1520;p101"/>
          <p:cNvCxnSpPr/>
          <p:nvPr/>
        </p:nvCxnSpPr>
        <p:spPr>
          <a:xfrm flipH="1" rot="10800000">
            <a:off x="2802725" y="3527725"/>
            <a:ext cx="809400" cy="533400"/>
          </a:xfrm>
          <a:prstGeom prst="straightConnector1">
            <a:avLst/>
          </a:prstGeom>
          <a:noFill/>
          <a:ln cap="flat" cmpd="sng" w="28575">
            <a:solidFill>
              <a:schemeClr val="dk1"/>
            </a:solidFill>
            <a:prstDash val="solid"/>
            <a:round/>
            <a:headEnd len="med" w="med" type="none"/>
            <a:tailEnd len="med" w="med" type="none"/>
          </a:ln>
        </p:spPr>
      </p:cxnSp>
      <p:cxnSp>
        <p:nvCxnSpPr>
          <p:cNvPr id="1521" name="Google Shape;1521;p101"/>
          <p:cNvCxnSpPr/>
          <p:nvPr/>
        </p:nvCxnSpPr>
        <p:spPr>
          <a:xfrm rot="10800000">
            <a:off x="5656075" y="3198175"/>
            <a:ext cx="939900" cy="210900"/>
          </a:xfrm>
          <a:prstGeom prst="straightConnector1">
            <a:avLst/>
          </a:prstGeom>
          <a:noFill/>
          <a:ln cap="flat" cmpd="sng" w="28575">
            <a:solidFill>
              <a:schemeClr val="dk1"/>
            </a:solidFill>
            <a:prstDash val="solid"/>
            <a:round/>
            <a:headEnd len="med" w="med" type="none"/>
            <a:tailEnd len="med" w="med" type="none"/>
          </a:ln>
        </p:spPr>
      </p:cxnSp>
      <p:cxnSp>
        <p:nvCxnSpPr>
          <p:cNvPr id="1522" name="Google Shape;1522;p101"/>
          <p:cNvCxnSpPr/>
          <p:nvPr/>
        </p:nvCxnSpPr>
        <p:spPr>
          <a:xfrm flipH="1">
            <a:off x="4888475" y="2033475"/>
            <a:ext cx="947100" cy="380100"/>
          </a:xfrm>
          <a:prstGeom prst="straightConnector1">
            <a:avLst/>
          </a:prstGeom>
          <a:noFill/>
          <a:ln cap="flat" cmpd="sng" w="28575">
            <a:solidFill>
              <a:schemeClr val="dk1"/>
            </a:solidFill>
            <a:prstDash val="solid"/>
            <a:round/>
            <a:headEnd len="med" w="med" type="none"/>
            <a:tailEnd len="med" w="med" type="none"/>
          </a:ln>
        </p:spPr>
      </p:cxnSp>
      <p:pic>
        <p:nvPicPr>
          <p:cNvPr descr="&lt;math xmlns=&quot;http://www.w3.org/1998/Math/MathML&quot; display=&quot;block&quot; data-is-equatio=&quot;1&quot; data-latex=&quot;\frac{1}{10}&quot;&gt;&lt;mfrac&gt;&lt;mn&gt;1&lt;/mn&gt;&lt;mn&gt;10&lt;/mn&gt;&lt;/mfrac&gt;&lt;/math&gt;" id="1523" name="Google Shape;1523;p101" title="one tenth"/>
          <p:cNvPicPr preferRelativeResize="0"/>
          <p:nvPr/>
        </p:nvPicPr>
        <p:blipFill>
          <a:blip r:embed="rId3">
            <a:alphaModFix/>
          </a:blip>
          <a:stretch>
            <a:fillRect/>
          </a:stretch>
        </p:blipFill>
        <p:spPr>
          <a:xfrm>
            <a:off x="4319997" y="1080000"/>
            <a:ext cx="264350" cy="421873"/>
          </a:xfrm>
          <a:prstGeom prst="rect">
            <a:avLst/>
          </a:prstGeom>
          <a:noFill/>
          <a:ln>
            <a:noFill/>
          </a:ln>
        </p:spPr>
      </p:pic>
      <p:cxnSp>
        <p:nvCxnSpPr>
          <p:cNvPr id="1524" name="Google Shape;1524;p101"/>
          <p:cNvCxnSpPr/>
          <p:nvPr/>
        </p:nvCxnSpPr>
        <p:spPr>
          <a:xfrm rot="10800000">
            <a:off x="5007550" y="3586650"/>
            <a:ext cx="631500" cy="266700"/>
          </a:xfrm>
          <a:prstGeom prst="straightConnector1">
            <a:avLst/>
          </a:prstGeom>
          <a:noFill/>
          <a:ln cap="flat" cmpd="sng" w="28575">
            <a:solidFill>
              <a:schemeClr val="dk1"/>
            </a:solidFill>
            <a:prstDash val="solid"/>
            <a:round/>
            <a:headEnd len="med" w="med" type="none"/>
            <a:tailEnd len="med" w="med" type="none"/>
          </a:ln>
        </p:spPr>
      </p:cxnSp>
      <p:sp>
        <p:nvSpPr>
          <p:cNvPr id="1525" name="Google Shape;1525;p101"/>
          <p:cNvSpPr txBox="1"/>
          <p:nvPr/>
        </p:nvSpPr>
        <p:spPr>
          <a:xfrm>
            <a:off x="1828050" y="3893888"/>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
        <p:nvSpPr>
          <p:cNvPr id="1526" name="Google Shape;1526;p101"/>
          <p:cNvSpPr txBox="1"/>
          <p:nvPr/>
        </p:nvSpPr>
        <p:spPr>
          <a:xfrm>
            <a:off x="1828050" y="1733938"/>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
        <p:nvSpPr>
          <p:cNvPr id="1527" name="Google Shape;1527;p101"/>
          <p:cNvSpPr txBox="1"/>
          <p:nvPr/>
        </p:nvSpPr>
        <p:spPr>
          <a:xfrm>
            <a:off x="1091775" y="2944200"/>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
        <p:nvSpPr>
          <p:cNvPr id="1528" name="Google Shape;1528;p101"/>
          <p:cNvSpPr txBox="1"/>
          <p:nvPr/>
        </p:nvSpPr>
        <p:spPr>
          <a:xfrm>
            <a:off x="4929925" y="1620000"/>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
        <p:nvSpPr>
          <p:cNvPr id="1529" name="Google Shape;1529;p101"/>
          <p:cNvSpPr txBox="1"/>
          <p:nvPr/>
        </p:nvSpPr>
        <p:spPr>
          <a:xfrm>
            <a:off x="4745825" y="3703700"/>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
        <p:nvSpPr>
          <p:cNvPr id="1530" name="Google Shape;1530;p101"/>
          <p:cNvSpPr txBox="1"/>
          <p:nvPr/>
        </p:nvSpPr>
        <p:spPr>
          <a:xfrm>
            <a:off x="6150325" y="3072175"/>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4" name="Shape 1534"/>
        <p:cNvGrpSpPr/>
        <p:nvPr/>
      </p:nvGrpSpPr>
      <p:grpSpPr>
        <a:xfrm>
          <a:off x="0" y="0"/>
          <a:ext cx="0" cy="0"/>
          <a:chOff x="0" y="0"/>
          <a:chExt cx="0" cy="0"/>
        </a:xfrm>
      </p:grpSpPr>
      <p:sp>
        <p:nvSpPr>
          <p:cNvPr id="1535" name="Google Shape;1535;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sp>
        <p:nvSpPr>
          <p:cNvPr id="1536" name="Google Shape;1536;p102"/>
          <p:cNvSpPr txBox="1"/>
          <p:nvPr>
            <p:ph idx="4294967295" type="subTitle"/>
          </p:nvPr>
        </p:nvSpPr>
        <p:spPr>
          <a:xfrm>
            <a:off x="337825" y="810000"/>
            <a:ext cx="8565000" cy="401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a:t>
            </a:r>
            <a:r>
              <a:rPr lang="en-GB"/>
              <a:t>Identify the equivalent calculations to 3.4 × 9.3  </a:t>
            </a:r>
            <a:endParaRPr/>
          </a:p>
        </p:txBody>
      </p:sp>
      <p:grpSp>
        <p:nvGrpSpPr>
          <p:cNvPr id="1537" name="Google Shape;1537;p102"/>
          <p:cNvGrpSpPr/>
          <p:nvPr/>
        </p:nvGrpSpPr>
        <p:grpSpPr>
          <a:xfrm>
            <a:off x="677941" y="1325225"/>
            <a:ext cx="457200" cy="457200"/>
            <a:chOff x="1020916" y="1442088"/>
            <a:chExt cx="457200" cy="457200"/>
          </a:xfrm>
        </p:grpSpPr>
        <p:pic>
          <p:nvPicPr>
            <p:cNvPr id="1538" name="Google Shape;1538;p10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539" name="Google Shape;1539;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540" name="Google Shape;1540;p102"/>
          <p:cNvGrpSpPr/>
          <p:nvPr/>
        </p:nvGrpSpPr>
        <p:grpSpPr>
          <a:xfrm>
            <a:off x="677941" y="2044528"/>
            <a:ext cx="457200" cy="457200"/>
            <a:chOff x="1020916" y="1442088"/>
            <a:chExt cx="457200" cy="457200"/>
          </a:xfrm>
        </p:grpSpPr>
        <p:pic>
          <p:nvPicPr>
            <p:cNvPr id="1541" name="Google Shape;1541;p10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542" name="Google Shape;1542;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543" name="Google Shape;1543;p102"/>
          <p:cNvGrpSpPr/>
          <p:nvPr/>
        </p:nvGrpSpPr>
        <p:grpSpPr>
          <a:xfrm>
            <a:off x="677941" y="2763831"/>
            <a:ext cx="457200" cy="457200"/>
            <a:chOff x="1020916" y="1442088"/>
            <a:chExt cx="457200" cy="457200"/>
          </a:xfrm>
        </p:grpSpPr>
        <p:pic>
          <p:nvPicPr>
            <p:cNvPr id="1544" name="Google Shape;1544;p10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545" name="Google Shape;1545;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546" name="Google Shape;1546;p102"/>
          <p:cNvGrpSpPr/>
          <p:nvPr/>
        </p:nvGrpSpPr>
        <p:grpSpPr>
          <a:xfrm>
            <a:off x="677941" y="3483134"/>
            <a:ext cx="457200" cy="457200"/>
            <a:chOff x="1020916" y="1442088"/>
            <a:chExt cx="457200" cy="457200"/>
          </a:xfrm>
        </p:grpSpPr>
        <p:pic>
          <p:nvPicPr>
            <p:cNvPr id="1547" name="Google Shape;1547;p10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548" name="Google Shape;1548;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549" name="Google Shape;1549;p102"/>
          <p:cNvGrpSpPr/>
          <p:nvPr/>
        </p:nvGrpSpPr>
        <p:grpSpPr>
          <a:xfrm>
            <a:off x="677941" y="4202438"/>
            <a:ext cx="457200" cy="457200"/>
            <a:chOff x="1020916" y="1442088"/>
            <a:chExt cx="457200" cy="457200"/>
          </a:xfrm>
        </p:grpSpPr>
        <p:pic>
          <p:nvPicPr>
            <p:cNvPr id="1550" name="Google Shape;1550;p10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551" name="Google Shape;1551;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id="1552" name="Google Shape;1552;p102"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rotWithShape="1">
          <a:blip r:embed="rId4">
            <a:alphaModFix/>
          </a:blip>
          <a:srcRect b="0" l="0" r="73627" t="0"/>
          <a:stretch/>
        </p:blipFill>
        <p:spPr>
          <a:xfrm>
            <a:off x="1375550" y="1211200"/>
            <a:ext cx="1686992" cy="581150"/>
          </a:xfrm>
          <a:prstGeom prst="rect">
            <a:avLst/>
          </a:prstGeom>
          <a:noFill/>
          <a:ln>
            <a:noFill/>
          </a:ln>
        </p:spPr>
      </p:pic>
      <p:pic>
        <p:nvPicPr>
          <p:cNvPr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id="1553" name="Google Shape;1553;p102"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rotWithShape="1">
          <a:blip r:embed="rId4">
            <a:alphaModFix/>
          </a:blip>
          <a:srcRect b="0" l="27190" r="46437" t="0"/>
          <a:stretch/>
        </p:blipFill>
        <p:spPr>
          <a:xfrm>
            <a:off x="1315775" y="1968325"/>
            <a:ext cx="1686992" cy="581150"/>
          </a:xfrm>
          <a:prstGeom prst="rect">
            <a:avLst/>
          </a:prstGeom>
          <a:noFill/>
          <a:ln>
            <a:noFill/>
          </a:ln>
        </p:spPr>
      </p:pic>
      <p:pic>
        <p:nvPicPr>
          <p:cNvPr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id="1554" name="Google Shape;1554;p102"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rotWithShape="1">
          <a:blip r:embed="rId4">
            <a:alphaModFix/>
          </a:blip>
          <a:srcRect b="0" l="54380" r="29982" t="0"/>
          <a:stretch/>
        </p:blipFill>
        <p:spPr>
          <a:xfrm>
            <a:off x="1375550" y="2725450"/>
            <a:ext cx="1000196" cy="581125"/>
          </a:xfrm>
          <a:prstGeom prst="rect">
            <a:avLst/>
          </a:prstGeom>
          <a:noFill/>
          <a:ln>
            <a:noFill/>
          </a:ln>
        </p:spPr>
      </p:pic>
      <p:pic>
        <p:nvPicPr>
          <p:cNvPr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id="1555" name="Google Shape;1555;p102"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rotWithShape="1">
          <a:blip r:embed="rId4">
            <a:alphaModFix/>
          </a:blip>
          <a:srcRect b="0" l="71437" r="14326" t="0"/>
          <a:stretch/>
        </p:blipFill>
        <p:spPr>
          <a:xfrm>
            <a:off x="1375550" y="3447400"/>
            <a:ext cx="910650" cy="581139"/>
          </a:xfrm>
          <a:prstGeom prst="rect">
            <a:avLst/>
          </a:prstGeom>
          <a:noFill/>
          <a:ln>
            <a:noFill/>
          </a:ln>
        </p:spPr>
      </p:pic>
      <p:pic>
        <p:nvPicPr>
          <p:cNvPr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id="1556" name="Google Shape;1556;p102"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rotWithShape="1">
          <a:blip r:embed="rId4">
            <a:alphaModFix/>
          </a:blip>
          <a:srcRect b="0" l="86839" r="-1076" t="0"/>
          <a:stretch/>
        </p:blipFill>
        <p:spPr>
          <a:xfrm>
            <a:off x="1426801" y="4169350"/>
            <a:ext cx="910650" cy="581125"/>
          </a:xfrm>
          <a:prstGeom prst="rect">
            <a:avLst/>
          </a:prstGeom>
          <a:noFill/>
          <a:ln>
            <a:noFill/>
          </a:ln>
        </p:spPr>
      </p:pic>
      <p:pic>
        <p:nvPicPr>
          <p:cNvPr id="1557" name="Google Shape;1557;p102"/>
          <p:cNvPicPr preferRelativeResize="0"/>
          <p:nvPr/>
        </p:nvPicPr>
        <p:blipFill>
          <a:blip r:embed="rId5">
            <a:alphaModFix/>
          </a:blip>
          <a:stretch>
            <a:fillRect/>
          </a:stretch>
        </p:blipFill>
        <p:spPr>
          <a:xfrm>
            <a:off x="3137408" y="1253925"/>
            <a:ext cx="396000" cy="419100"/>
          </a:xfrm>
          <a:prstGeom prst="rect">
            <a:avLst/>
          </a:prstGeom>
          <a:noFill/>
          <a:ln>
            <a:noFill/>
          </a:ln>
        </p:spPr>
      </p:pic>
      <p:pic>
        <p:nvPicPr>
          <p:cNvPr id="1558" name="Google Shape;1558;p102"/>
          <p:cNvPicPr preferRelativeResize="0"/>
          <p:nvPr/>
        </p:nvPicPr>
        <p:blipFill>
          <a:blip r:embed="rId5">
            <a:alphaModFix/>
          </a:blip>
          <a:stretch>
            <a:fillRect/>
          </a:stretch>
        </p:blipFill>
        <p:spPr>
          <a:xfrm>
            <a:off x="3002783" y="2063575"/>
            <a:ext cx="396000" cy="419100"/>
          </a:xfrm>
          <a:prstGeom prst="rect">
            <a:avLst/>
          </a:prstGeom>
          <a:noFill/>
          <a:ln>
            <a:noFill/>
          </a:ln>
        </p:spPr>
      </p:pic>
      <p:pic>
        <p:nvPicPr>
          <p:cNvPr id="1559" name="Google Shape;1559;p102"/>
          <p:cNvPicPr preferRelativeResize="0"/>
          <p:nvPr/>
        </p:nvPicPr>
        <p:blipFill>
          <a:blip r:embed="rId5">
            <a:alphaModFix/>
          </a:blip>
          <a:stretch>
            <a:fillRect/>
          </a:stretch>
        </p:blipFill>
        <p:spPr>
          <a:xfrm>
            <a:off x="2428958" y="2725450"/>
            <a:ext cx="396000" cy="419100"/>
          </a:xfrm>
          <a:prstGeom prst="rect">
            <a:avLst/>
          </a:prstGeom>
          <a:noFill/>
          <a:ln>
            <a:noFill/>
          </a:ln>
        </p:spPr>
      </p:pic>
      <p:pic>
        <p:nvPicPr>
          <p:cNvPr id="1560" name="Google Shape;1560;p102"/>
          <p:cNvPicPr preferRelativeResize="0"/>
          <p:nvPr/>
        </p:nvPicPr>
        <p:blipFill>
          <a:blip r:embed="rId5">
            <a:alphaModFix/>
          </a:blip>
          <a:stretch>
            <a:fillRect/>
          </a:stretch>
        </p:blipFill>
        <p:spPr>
          <a:xfrm>
            <a:off x="2375758" y="42215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4" name="Shape 1564"/>
        <p:cNvGrpSpPr/>
        <p:nvPr/>
      </p:nvGrpSpPr>
      <p:grpSpPr>
        <a:xfrm>
          <a:off x="0" y="0"/>
          <a:ext cx="0" cy="0"/>
          <a:chOff x="0" y="0"/>
          <a:chExt cx="0" cy="0"/>
        </a:xfrm>
      </p:grpSpPr>
      <p:sp>
        <p:nvSpPr>
          <p:cNvPr id="1565" name="Google Shape;1565;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sp>
        <p:nvSpPr>
          <p:cNvPr id="1566" name="Google Shape;1566;p103"/>
          <p:cNvSpPr txBox="1"/>
          <p:nvPr>
            <p:ph idx="4294967295" type="subTitle"/>
          </p:nvPr>
        </p:nvSpPr>
        <p:spPr>
          <a:xfrm>
            <a:off x="324000" y="810000"/>
            <a:ext cx="7135200" cy="401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Identify the equivalent calculations to 0.4 × 3.8  </a:t>
            </a:r>
            <a:endParaRPr/>
          </a:p>
        </p:txBody>
      </p:sp>
      <p:grpSp>
        <p:nvGrpSpPr>
          <p:cNvPr id="1567" name="Google Shape;1567;p103"/>
          <p:cNvGrpSpPr/>
          <p:nvPr/>
        </p:nvGrpSpPr>
        <p:grpSpPr>
          <a:xfrm>
            <a:off x="797566" y="1248350"/>
            <a:ext cx="457200" cy="457200"/>
            <a:chOff x="1020916" y="1442088"/>
            <a:chExt cx="457200" cy="457200"/>
          </a:xfrm>
        </p:grpSpPr>
        <p:pic>
          <p:nvPicPr>
            <p:cNvPr id="1568" name="Google Shape;1568;p10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569" name="Google Shape;1569;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570" name="Google Shape;1570;p103"/>
          <p:cNvGrpSpPr/>
          <p:nvPr/>
        </p:nvGrpSpPr>
        <p:grpSpPr>
          <a:xfrm>
            <a:off x="797566" y="1967653"/>
            <a:ext cx="457200" cy="457200"/>
            <a:chOff x="1020916" y="1442088"/>
            <a:chExt cx="457200" cy="457200"/>
          </a:xfrm>
        </p:grpSpPr>
        <p:pic>
          <p:nvPicPr>
            <p:cNvPr id="1571" name="Google Shape;1571;p10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572" name="Google Shape;1572;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573" name="Google Shape;1573;p103"/>
          <p:cNvGrpSpPr/>
          <p:nvPr/>
        </p:nvGrpSpPr>
        <p:grpSpPr>
          <a:xfrm>
            <a:off x="797566" y="2686956"/>
            <a:ext cx="457200" cy="457200"/>
            <a:chOff x="1020916" y="1442088"/>
            <a:chExt cx="457200" cy="457200"/>
          </a:xfrm>
        </p:grpSpPr>
        <p:pic>
          <p:nvPicPr>
            <p:cNvPr id="1574" name="Google Shape;1574;p10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575" name="Google Shape;1575;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576" name="Google Shape;1576;p103"/>
          <p:cNvGrpSpPr/>
          <p:nvPr/>
        </p:nvGrpSpPr>
        <p:grpSpPr>
          <a:xfrm>
            <a:off x="797566" y="3406259"/>
            <a:ext cx="457200" cy="457200"/>
            <a:chOff x="1020916" y="1442088"/>
            <a:chExt cx="457200" cy="457200"/>
          </a:xfrm>
        </p:grpSpPr>
        <p:pic>
          <p:nvPicPr>
            <p:cNvPr id="1577" name="Google Shape;1577;p10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578" name="Google Shape;1578;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579" name="Google Shape;1579;p103"/>
          <p:cNvGrpSpPr/>
          <p:nvPr/>
        </p:nvGrpSpPr>
        <p:grpSpPr>
          <a:xfrm>
            <a:off x="797566" y="4125563"/>
            <a:ext cx="457200" cy="457200"/>
            <a:chOff x="1020916" y="1442088"/>
            <a:chExt cx="457200" cy="457200"/>
          </a:xfrm>
        </p:grpSpPr>
        <p:pic>
          <p:nvPicPr>
            <p:cNvPr id="1580" name="Google Shape;1580;p10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581" name="Google Shape;1581;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id="1582" name="Google Shape;1582;p103"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rotWithShape="1">
          <a:blip r:embed="rId4">
            <a:alphaModFix/>
          </a:blip>
          <a:srcRect b="0" l="0" r="72740" t="0"/>
          <a:stretch/>
        </p:blipFill>
        <p:spPr>
          <a:xfrm>
            <a:off x="1479299" y="1192000"/>
            <a:ext cx="1468375" cy="569900"/>
          </a:xfrm>
          <a:prstGeom prst="rect">
            <a:avLst/>
          </a:prstGeom>
          <a:noFill/>
          <a:ln>
            <a:noFill/>
          </a:ln>
        </p:spPr>
      </p:pic>
      <p:pic>
        <p:nvPicPr>
          <p:cNvPr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id="1583" name="Google Shape;1583;p103"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rotWithShape="1">
          <a:blip r:embed="rId4">
            <a:alphaModFix/>
          </a:blip>
          <a:srcRect b="0" l="27258" r="42588" t="0"/>
          <a:stretch/>
        </p:blipFill>
        <p:spPr>
          <a:xfrm>
            <a:off x="1443926" y="1911300"/>
            <a:ext cx="1624326" cy="569900"/>
          </a:xfrm>
          <a:prstGeom prst="rect">
            <a:avLst/>
          </a:prstGeom>
          <a:noFill/>
          <a:ln>
            <a:noFill/>
          </a:ln>
        </p:spPr>
      </p:pic>
      <p:pic>
        <p:nvPicPr>
          <p:cNvPr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id="1584" name="Google Shape;1584;p103"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rotWithShape="1">
          <a:blip r:embed="rId4">
            <a:alphaModFix/>
          </a:blip>
          <a:srcRect b="0" l="58642" r="25813" t="0"/>
          <a:stretch/>
        </p:blipFill>
        <p:spPr>
          <a:xfrm>
            <a:off x="1325499" y="2582575"/>
            <a:ext cx="837325" cy="569900"/>
          </a:xfrm>
          <a:prstGeom prst="rect">
            <a:avLst/>
          </a:prstGeom>
          <a:noFill/>
          <a:ln>
            <a:noFill/>
          </a:ln>
        </p:spPr>
      </p:pic>
      <p:pic>
        <p:nvPicPr>
          <p:cNvPr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id="1585" name="Google Shape;1585;p103"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rotWithShape="1">
          <a:blip r:embed="rId4">
            <a:alphaModFix/>
          </a:blip>
          <a:srcRect b="0" l="75908" r="8547" t="0"/>
          <a:stretch/>
        </p:blipFill>
        <p:spPr>
          <a:xfrm>
            <a:off x="1367026" y="3330050"/>
            <a:ext cx="837325" cy="569900"/>
          </a:xfrm>
          <a:prstGeom prst="rect">
            <a:avLst/>
          </a:prstGeom>
          <a:noFill/>
          <a:ln>
            <a:noFill/>
          </a:ln>
        </p:spPr>
      </p:pic>
      <p:pic>
        <p:nvPicPr>
          <p:cNvPr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id="1586" name="Google Shape;1586;p103"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rotWithShape="1">
          <a:blip r:embed="rId4">
            <a:alphaModFix/>
          </a:blip>
          <a:srcRect b="0" l="92245" r="-3167" t="0"/>
          <a:stretch/>
        </p:blipFill>
        <p:spPr>
          <a:xfrm>
            <a:off x="1491525" y="4153725"/>
            <a:ext cx="588325" cy="569900"/>
          </a:xfrm>
          <a:prstGeom prst="rect">
            <a:avLst/>
          </a:prstGeom>
          <a:noFill/>
          <a:ln>
            <a:noFill/>
          </a:ln>
        </p:spPr>
      </p:pic>
      <p:pic>
        <p:nvPicPr>
          <p:cNvPr id="1587" name="Google Shape;1587;p103"/>
          <p:cNvPicPr preferRelativeResize="0"/>
          <p:nvPr/>
        </p:nvPicPr>
        <p:blipFill>
          <a:blip r:embed="rId5">
            <a:alphaModFix/>
          </a:blip>
          <a:stretch>
            <a:fillRect/>
          </a:stretch>
        </p:blipFill>
        <p:spPr>
          <a:xfrm>
            <a:off x="2947683" y="1267400"/>
            <a:ext cx="396000" cy="419100"/>
          </a:xfrm>
          <a:prstGeom prst="rect">
            <a:avLst/>
          </a:prstGeom>
          <a:noFill/>
          <a:ln>
            <a:noFill/>
          </a:ln>
        </p:spPr>
      </p:pic>
      <p:pic>
        <p:nvPicPr>
          <p:cNvPr id="1588" name="Google Shape;1588;p103"/>
          <p:cNvPicPr preferRelativeResize="0"/>
          <p:nvPr/>
        </p:nvPicPr>
        <p:blipFill>
          <a:blip r:embed="rId5">
            <a:alphaModFix/>
          </a:blip>
          <a:stretch>
            <a:fillRect/>
          </a:stretch>
        </p:blipFill>
        <p:spPr>
          <a:xfrm>
            <a:off x="2204358" y="2630600"/>
            <a:ext cx="396000" cy="419100"/>
          </a:xfrm>
          <a:prstGeom prst="rect">
            <a:avLst/>
          </a:prstGeom>
          <a:noFill/>
          <a:ln>
            <a:noFill/>
          </a:ln>
        </p:spPr>
      </p:pic>
      <p:pic>
        <p:nvPicPr>
          <p:cNvPr id="1589" name="Google Shape;1589;p103"/>
          <p:cNvPicPr preferRelativeResize="0"/>
          <p:nvPr/>
        </p:nvPicPr>
        <p:blipFill>
          <a:blip r:embed="rId5">
            <a:alphaModFix/>
          </a:blip>
          <a:stretch>
            <a:fillRect/>
          </a:stretch>
        </p:blipFill>
        <p:spPr>
          <a:xfrm>
            <a:off x="2254233" y="3330050"/>
            <a:ext cx="396000" cy="419100"/>
          </a:xfrm>
          <a:prstGeom prst="rect">
            <a:avLst/>
          </a:prstGeom>
          <a:noFill/>
          <a:ln>
            <a:noFill/>
          </a:ln>
        </p:spPr>
      </p:pic>
      <p:pic>
        <p:nvPicPr>
          <p:cNvPr id="1590" name="Google Shape;1590;p103"/>
          <p:cNvPicPr preferRelativeResize="0"/>
          <p:nvPr/>
        </p:nvPicPr>
        <p:blipFill>
          <a:blip r:embed="rId5">
            <a:alphaModFix/>
          </a:blip>
          <a:stretch>
            <a:fillRect/>
          </a:stretch>
        </p:blipFill>
        <p:spPr>
          <a:xfrm>
            <a:off x="2015496" y="4180300"/>
            <a:ext cx="396000" cy="419100"/>
          </a:xfrm>
          <a:prstGeom prst="rect">
            <a:avLst/>
          </a:prstGeom>
          <a:noFill/>
          <a:ln>
            <a:noFill/>
          </a:ln>
        </p:spPr>
      </p:pic>
      <p:sp>
        <p:nvSpPr>
          <p:cNvPr id="1591" name="Google Shape;1591;p103"/>
          <p:cNvSpPr txBox="1"/>
          <p:nvPr/>
        </p:nvSpPr>
        <p:spPr>
          <a:xfrm>
            <a:off x="2600350" y="4202100"/>
            <a:ext cx="5851800" cy="618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Kalam"/>
                <a:ea typeface="Kalam"/>
                <a:cs typeface="Kalam"/>
                <a:sym typeface="Kalam"/>
              </a:rPr>
              <a:t>This required you to </a:t>
            </a:r>
            <a:r>
              <a:rPr lang="en-GB" sz="1800">
                <a:latin typeface="Kalam"/>
                <a:ea typeface="Kalam"/>
                <a:cs typeface="Kalam"/>
                <a:sym typeface="Kalam"/>
              </a:rPr>
              <a:t>calculate</a:t>
            </a:r>
            <a:r>
              <a:rPr lang="en-GB" sz="1800">
                <a:latin typeface="Kalam"/>
                <a:ea typeface="Kalam"/>
                <a:cs typeface="Kalam"/>
                <a:sym typeface="Kalam"/>
              </a:rPr>
              <a:t> the answer to 4 × 38 = 152 </a:t>
            </a:r>
            <a:endParaRPr sz="1800">
              <a:solidFill>
                <a:srgbClr val="000000"/>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5" name="Shape 1595"/>
        <p:cNvGrpSpPr/>
        <p:nvPr/>
      </p:nvGrpSpPr>
      <p:grpSpPr>
        <a:xfrm>
          <a:off x="0" y="0"/>
          <a:ext cx="0" cy="0"/>
          <a:chOff x="0" y="0"/>
          <a:chExt cx="0" cy="0"/>
        </a:xfrm>
      </p:grpSpPr>
      <p:sp>
        <p:nvSpPr>
          <p:cNvPr id="1596" name="Google Shape;1596;p10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t>3) Put a tick next to the calculations which are correct and create two of your own correct calculations using powers of </a:t>
            </a:r>
            <a:endParaRPr sz="2000"/>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597" name="Google Shape;1597;p10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sp>
        <p:nvSpPr>
          <p:cNvPr id="1598" name="Google Shape;1598;p104"/>
          <p:cNvSpPr/>
          <p:nvPr/>
        </p:nvSpPr>
        <p:spPr>
          <a:xfrm>
            <a:off x="3326325" y="2381275"/>
            <a:ext cx="2329776" cy="1398708"/>
          </a:xfrm>
          <a:prstGeom prst="cloud">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300">
                <a:solidFill>
                  <a:schemeClr val="dk1"/>
                </a:solidFill>
                <a:latin typeface="Lexend"/>
                <a:ea typeface="Lexend"/>
                <a:cs typeface="Lexend"/>
                <a:sym typeface="Lexend"/>
              </a:rPr>
              <a:t>1.2 × 0.03</a:t>
            </a:r>
            <a:endParaRPr sz="3100">
              <a:latin typeface="Lexend"/>
              <a:ea typeface="Lexend"/>
              <a:cs typeface="Lexend"/>
              <a:sym typeface="Lexend"/>
            </a:endParaRPr>
          </a:p>
        </p:txBody>
      </p:sp>
      <p:cxnSp>
        <p:nvCxnSpPr>
          <p:cNvPr id="1599" name="Google Shape;1599;p104"/>
          <p:cNvCxnSpPr/>
          <p:nvPr/>
        </p:nvCxnSpPr>
        <p:spPr>
          <a:xfrm>
            <a:off x="3113750" y="2164288"/>
            <a:ext cx="891900" cy="363600"/>
          </a:xfrm>
          <a:prstGeom prst="straightConnector1">
            <a:avLst/>
          </a:prstGeom>
          <a:noFill/>
          <a:ln cap="flat" cmpd="sng" w="28575">
            <a:solidFill>
              <a:schemeClr val="dk1"/>
            </a:solidFill>
            <a:prstDash val="solid"/>
            <a:round/>
            <a:headEnd len="med" w="med" type="none"/>
            <a:tailEnd len="med" w="med" type="none"/>
          </a:ln>
        </p:spPr>
      </p:cxnSp>
      <p:cxnSp>
        <p:nvCxnSpPr>
          <p:cNvPr id="1600" name="Google Shape;1600;p104"/>
          <p:cNvCxnSpPr/>
          <p:nvPr/>
        </p:nvCxnSpPr>
        <p:spPr>
          <a:xfrm flipH="1" rot="10800000">
            <a:off x="2377125" y="3072175"/>
            <a:ext cx="949200" cy="131700"/>
          </a:xfrm>
          <a:prstGeom prst="straightConnector1">
            <a:avLst/>
          </a:prstGeom>
          <a:noFill/>
          <a:ln cap="flat" cmpd="sng" w="28575">
            <a:solidFill>
              <a:schemeClr val="dk1"/>
            </a:solidFill>
            <a:prstDash val="solid"/>
            <a:round/>
            <a:headEnd len="med" w="med" type="none"/>
            <a:tailEnd len="med" w="med" type="none"/>
          </a:ln>
        </p:spPr>
      </p:cxnSp>
      <p:cxnSp>
        <p:nvCxnSpPr>
          <p:cNvPr id="1601" name="Google Shape;1601;p104"/>
          <p:cNvCxnSpPr/>
          <p:nvPr/>
        </p:nvCxnSpPr>
        <p:spPr>
          <a:xfrm flipH="1" rot="10800000">
            <a:off x="2802725" y="3527725"/>
            <a:ext cx="809400" cy="533400"/>
          </a:xfrm>
          <a:prstGeom prst="straightConnector1">
            <a:avLst/>
          </a:prstGeom>
          <a:noFill/>
          <a:ln cap="flat" cmpd="sng" w="28575">
            <a:solidFill>
              <a:schemeClr val="dk1"/>
            </a:solidFill>
            <a:prstDash val="solid"/>
            <a:round/>
            <a:headEnd len="med" w="med" type="none"/>
            <a:tailEnd len="med" w="med" type="none"/>
          </a:ln>
        </p:spPr>
      </p:cxnSp>
      <p:cxnSp>
        <p:nvCxnSpPr>
          <p:cNvPr id="1602" name="Google Shape;1602;p104"/>
          <p:cNvCxnSpPr/>
          <p:nvPr/>
        </p:nvCxnSpPr>
        <p:spPr>
          <a:xfrm rot="10800000">
            <a:off x="5656075" y="3198175"/>
            <a:ext cx="939900" cy="210900"/>
          </a:xfrm>
          <a:prstGeom prst="straightConnector1">
            <a:avLst/>
          </a:prstGeom>
          <a:noFill/>
          <a:ln cap="flat" cmpd="sng" w="28575">
            <a:solidFill>
              <a:schemeClr val="dk1"/>
            </a:solidFill>
            <a:prstDash val="solid"/>
            <a:round/>
            <a:headEnd len="med" w="med" type="none"/>
            <a:tailEnd len="med" w="med" type="none"/>
          </a:ln>
        </p:spPr>
      </p:cxnSp>
      <p:cxnSp>
        <p:nvCxnSpPr>
          <p:cNvPr id="1603" name="Google Shape;1603;p104"/>
          <p:cNvCxnSpPr/>
          <p:nvPr/>
        </p:nvCxnSpPr>
        <p:spPr>
          <a:xfrm flipH="1">
            <a:off x="4888475" y="2033475"/>
            <a:ext cx="947100" cy="380100"/>
          </a:xfrm>
          <a:prstGeom prst="straightConnector1">
            <a:avLst/>
          </a:prstGeom>
          <a:noFill/>
          <a:ln cap="flat" cmpd="sng" w="28575">
            <a:solidFill>
              <a:schemeClr val="dk1"/>
            </a:solidFill>
            <a:prstDash val="solid"/>
            <a:round/>
            <a:headEnd len="med" w="med" type="none"/>
            <a:tailEnd len="med" w="med" type="none"/>
          </a:ln>
        </p:spPr>
      </p:cxnSp>
      <p:pic>
        <p:nvPicPr>
          <p:cNvPr descr="&lt;math xmlns=&quot;http://www.w3.org/1998/Math/MathML&quot; display=&quot;block&quot; data-is-equatio=&quot;1&quot; data-latex=&quot;\frac{1}{10}&quot;&gt;&lt;mfrac&gt;&lt;mn&gt;1&lt;/mn&gt;&lt;mn&gt;10&lt;/mn&gt;&lt;/mfrac&gt;&lt;/math&gt;" id="1604" name="Google Shape;1604;p104" title="one tenth"/>
          <p:cNvPicPr preferRelativeResize="0"/>
          <p:nvPr/>
        </p:nvPicPr>
        <p:blipFill>
          <a:blip r:embed="rId3">
            <a:alphaModFix/>
          </a:blip>
          <a:stretch>
            <a:fillRect/>
          </a:stretch>
        </p:blipFill>
        <p:spPr>
          <a:xfrm>
            <a:off x="6936372" y="1080000"/>
            <a:ext cx="264350" cy="421873"/>
          </a:xfrm>
          <a:prstGeom prst="rect">
            <a:avLst/>
          </a:prstGeom>
          <a:noFill/>
          <a:ln>
            <a:noFill/>
          </a:ln>
        </p:spPr>
      </p:pic>
      <p:pic>
        <p:nvPicPr>
          <p:cNvPr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id="1605" name="Google Shape;1605;p104"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rotWithShape="1">
          <a:blip r:embed="rId4">
            <a:alphaModFix/>
          </a:blip>
          <a:srcRect b="0" l="0" r="71434" t="0"/>
          <a:stretch/>
        </p:blipFill>
        <p:spPr>
          <a:xfrm>
            <a:off x="5835575" y="1701750"/>
            <a:ext cx="1787299" cy="636800"/>
          </a:xfrm>
          <a:prstGeom prst="rect">
            <a:avLst/>
          </a:prstGeom>
          <a:noFill/>
          <a:ln>
            <a:noFill/>
          </a:ln>
        </p:spPr>
      </p:pic>
      <p:cxnSp>
        <p:nvCxnSpPr>
          <p:cNvPr id="1606" name="Google Shape;1606;p104"/>
          <p:cNvCxnSpPr/>
          <p:nvPr/>
        </p:nvCxnSpPr>
        <p:spPr>
          <a:xfrm rot="10800000">
            <a:off x="5007550" y="3586650"/>
            <a:ext cx="631500" cy="266700"/>
          </a:xfrm>
          <a:prstGeom prst="straightConnector1">
            <a:avLst/>
          </a:prstGeom>
          <a:noFill/>
          <a:ln cap="flat" cmpd="sng" w="28575">
            <a:solidFill>
              <a:schemeClr val="dk1"/>
            </a:solidFill>
            <a:prstDash val="solid"/>
            <a:round/>
            <a:headEnd len="med" w="med" type="none"/>
            <a:tailEnd len="med" w="med" type="none"/>
          </a:ln>
        </p:spPr>
      </p:cxnSp>
      <p:pic>
        <p:nvPicPr>
          <p:cNvPr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id="1607" name="Google Shape;1607;p104"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rotWithShape="1">
          <a:blip r:embed="rId4">
            <a:alphaModFix/>
          </a:blip>
          <a:srcRect b="-16198" l="26900" r="44533" t="0"/>
          <a:stretch/>
        </p:blipFill>
        <p:spPr>
          <a:xfrm>
            <a:off x="6565550" y="3072175"/>
            <a:ext cx="1787299" cy="739975"/>
          </a:xfrm>
          <a:prstGeom prst="rect">
            <a:avLst/>
          </a:prstGeom>
          <a:noFill/>
          <a:ln>
            <a:noFill/>
          </a:ln>
        </p:spPr>
      </p:pic>
      <p:pic>
        <p:nvPicPr>
          <p:cNvPr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id="1608" name="Google Shape;1608;p104"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rotWithShape="1">
          <a:blip r:embed="rId4">
            <a:alphaModFix/>
          </a:blip>
          <a:srcRect b="-16198" l="56632" r="32852" t="0"/>
          <a:stretch/>
        </p:blipFill>
        <p:spPr>
          <a:xfrm>
            <a:off x="5656087" y="3671938"/>
            <a:ext cx="657874" cy="739975"/>
          </a:xfrm>
          <a:prstGeom prst="rect">
            <a:avLst/>
          </a:prstGeom>
          <a:noFill/>
          <a:ln>
            <a:noFill/>
          </a:ln>
        </p:spPr>
      </p:pic>
      <p:pic>
        <p:nvPicPr>
          <p:cNvPr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id="1609" name="Google Shape;1609;p104"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rotWithShape="1">
          <a:blip r:embed="rId4">
            <a:alphaModFix/>
          </a:blip>
          <a:srcRect b="-16198" l="67639" r="23499" t="0"/>
          <a:stretch/>
        </p:blipFill>
        <p:spPr>
          <a:xfrm>
            <a:off x="2402449" y="1650163"/>
            <a:ext cx="554399" cy="739975"/>
          </a:xfrm>
          <a:prstGeom prst="rect">
            <a:avLst/>
          </a:prstGeom>
          <a:noFill/>
          <a:ln>
            <a:noFill/>
          </a:ln>
        </p:spPr>
      </p:pic>
      <p:pic>
        <p:nvPicPr>
          <p:cNvPr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id="1610" name="Google Shape;1610;p104"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rotWithShape="1">
          <a:blip r:embed="rId4">
            <a:alphaModFix/>
          </a:blip>
          <a:srcRect b="-16198" l="76899" r="8077" t="0"/>
          <a:stretch/>
        </p:blipFill>
        <p:spPr>
          <a:xfrm>
            <a:off x="2173850" y="4061125"/>
            <a:ext cx="939899" cy="739950"/>
          </a:xfrm>
          <a:prstGeom prst="rect">
            <a:avLst/>
          </a:prstGeom>
          <a:noFill/>
          <a:ln>
            <a:noFill/>
          </a:ln>
        </p:spPr>
      </p:pic>
      <p:pic>
        <p:nvPicPr>
          <p:cNvPr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id="1611" name="Google Shape;1611;p104"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rotWithShape="1">
          <a:blip r:embed="rId4">
            <a:alphaModFix/>
          </a:blip>
          <a:srcRect b="-16198" l="90981" r="-755" t="0"/>
          <a:stretch/>
        </p:blipFill>
        <p:spPr>
          <a:xfrm>
            <a:off x="4512638" y="3950025"/>
            <a:ext cx="611549" cy="739950"/>
          </a:xfrm>
          <a:prstGeom prst="rect">
            <a:avLst/>
          </a:prstGeom>
          <a:noFill/>
          <a:ln>
            <a:noFill/>
          </a:ln>
        </p:spPr>
      </p:pic>
      <p:pic>
        <p:nvPicPr>
          <p:cNvPr id="1612" name="Google Shape;1612;p104"/>
          <p:cNvPicPr preferRelativeResize="0"/>
          <p:nvPr/>
        </p:nvPicPr>
        <p:blipFill>
          <a:blip r:embed="rId5">
            <a:alphaModFix/>
          </a:blip>
          <a:stretch>
            <a:fillRect/>
          </a:stretch>
        </p:blipFill>
        <p:spPr>
          <a:xfrm>
            <a:off x="7459208" y="1740900"/>
            <a:ext cx="396000" cy="419100"/>
          </a:xfrm>
          <a:prstGeom prst="rect">
            <a:avLst/>
          </a:prstGeom>
          <a:noFill/>
          <a:ln>
            <a:noFill/>
          </a:ln>
        </p:spPr>
      </p:pic>
      <p:pic>
        <p:nvPicPr>
          <p:cNvPr id="1613" name="Google Shape;1613;p104"/>
          <p:cNvPicPr preferRelativeResize="0"/>
          <p:nvPr/>
        </p:nvPicPr>
        <p:blipFill>
          <a:blip r:embed="rId5">
            <a:alphaModFix/>
          </a:blip>
          <a:stretch>
            <a:fillRect/>
          </a:stretch>
        </p:blipFill>
        <p:spPr>
          <a:xfrm>
            <a:off x="8081533" y="2871075"/>
            <a:ext cx="396000" cy="419100"/>
          </a:xfrm>
          <a:prstGeom prst="rect">
            <a:avLst/>
          </a:prstGeom>
          <a:noFill/>
          <a:ln>
            <a:noFill/>
          </a:ln>
        </p:spPr>
      </p:pic>
      <p:sp>
        <p:nvSpPr>
          <p:cNvPr id="1614" name="Google Shape;1614;p104"/>
          <p:cNvSpPr txBox="1"/>
          <p:nvPr/>
        </p:nvSpPr>
        <p:spPr>
          <a:xfrm>
            <a:off x="324000" y="1922050"/>
            <a:ext cx="1083300" cy="189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Kalam"/>
                <a:ea typeface="Kalam"/>
                <a:cs typeface="Kalam"/>
                <a:sym typeface="Kalam"/>
              </a:rPr>
              <a:t>There are an infinite number. Just ensure your calculation equates to 0.036</a:t>
            </a:r>
            <a:endParaRPr sz="1800">
              <a:solidFill>
                <a:srgbClr val="000000"/>
              </a:solidFill>
              <a:latin typeface="Kalam"/>
              <a:ea typeface="Kalam"/>
              <a:cs typeface="Kalam"/>
              <a:sym typeface="Kalam"/>
            </a:endParaRPr>
          </a:p>
        </p:txBody>
      </p:sp>
      <p:sp>
        <p:nvSpPr>
          <p:cNvPr id="1615" name="Google Shape;1615;p104"/>
          <p:cNvSpPr txBox="1"/>
          <p:nvPr/>
        </p:nvSpPr>
        <p:spPr>
          <a:xfrm>
            <a:off x="1954681" y="1758325"/>
            <a:ext cx="611700" cy="45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Kalam"/>
                <a:ea typeface="Kalam"/>
                <a:cs typeface="Kalam"/>
                <a:sym typeface="Kalam"/>
              </a:rPr>
              <a:t>E.g. </a:t>
            </a:r>
            <a:endParaRPr sz="2200">
              <a:solidFill>
                <a:srgbClr val="000000"/>
              </a:solidFill>
              <a:latin typeface="Kalam"/>
              <a:ea typeface="Kalam"/>
              <a:cs typeface="Kalam"/>
              <a:sym typeface="Kalam"/>
            </a:endParaRPr>
          </a:p>
        </p:txBody>
      </p:sp>
      <p:sp>
        <p:nvSpPr>
          <p:cNvPr id="1616" name="Google Shape;1616;p104"/>
          <p:cNvSpPr txBox="1"/>
          <p:nvPr/>
        </p:nvSpPr>
        <p:spPr>
          <a:xfrm>
            <a:off x="1771550" y="4001575"/>
            <a:ext cx="2068200" cy="45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Kalam"/>
                <a:ea typeface="Kalam"/>
                <a:cs typeface="Kalam"/>
                <a:sym typeface="Kalam"/>
              </a:rPr>
              <a:t>E.g. </a:t>
            </a:r>
            <a:endParaRPr sz="2200">
              <a:solidFill>
                <a:srgbClr val="000000"/>
              </a:solidFill>
              <a:latin typeface="Kalam"/>
              <a:ea typeface="Kalam"/>
              <a:cs typeface="Kalam"/>
              <a:sym typeface="Kalam"/>
            </a:endParaRPr>
          </a:p>
        </p:txBody>
      </p:sp>
      <p:pic>
        <p:nvPicPr>
          <p:cNvPr descr="&lt;math xmlns=&quot;http://www.w3.org/1998/Math/MathML&quot; display=&quot;block&quot; data-is-equatio=&quot;1&quot; data-latex=&quot;\frac{36}{1000}&quot;&gt;&lt;mfrac&gt;&lt;mn&gt;36&lt;/mn&gt;&lt;mn&gt;1000&lt;/mn&gt;&lt;/mfrac&gt;&lt;/math&gt;" id="1617" name="Google Shape;1617;p104" title="36 over 1000"/>
          <p:cNvPicPr preferRelativeResize="0"/>
          <p:nvPr/>
        </p:nvPicPr>
        <p:blipFill>
          <a:blip r:embed="rId6">
            <a:alphaModFix/>
          </a:blip>
          <a:stretch>
            <a:fillRect/>
          </a:stretch>
        </p:blipFill>
        <p:spPr>
          <a:xfrm>
            <a:off x="1771549" y="2924500"/>
            <a:ext cx="554400" cy="542690"/>
          </a:xfrm>
          <a:prstGeom prst="rect">
            <a:avLst/>
          </a:prstGeom>
          <a:noFill/>
          <a:ln>
            <a:noFill/>
          </a:ln>
        </p:spPr>
      </p:pic>
      <p:pic>
        <p:nvPicPr>
          <p:cNvPr id="1618" name="Google Shape;1618;p104"/>
          <p:cNvPicPr preferRelativeResize="0"/>
          <p:nvPr/>
        </p:nvPicPr>
        <p:blipFill>
          <a:blip r:embed="rId5">
            <a:alphaModFix/>
          </a:blip>
          <a:stretch>
            <a:fillRect/>
          </a:stretch>
        </p:blipFill>
        <p:spPr>
          <a:xfrm>
            <a:off x="2325958" y="2689375"/>
            <a:ext cx="396000" cy="419100"/>
          </a:xfrm>
          <a:prstGeom prst="rect">
            <a:avLst/>
          </a:prstGeom>
          <a:noFill/>
          <a:ln>
            <a:noFill/>
          </a:ln>
        </p:spPr>
      </p:pic>
      <p:cxnSp>
        <p:nvCxnSpPr>
          <p:cNvPr id="1619" name="Google Shape;1619;p104"/>
          <p:cNvCxnSpPr/>
          <p:nvPr/>
        </p:nvCxnSpPr>
        <p:spPr>
          <a:xfrm rot="10800000">
            <a:off x="4502200" y="3762575"/>
            <a:ext cx="77400" cy="347100"/>
          </a:xfrm>
          <a:prstGeom prst="straightConnector1">
            <a:avLst/>
          </a:prstGeom>
          <a:noFill/>
          <a:ln cap="flat" cmpd="sng" w="28575">
            <a:solidFill>
              <a:schemeClr val="dk1"/>
            </a:solidFill>
            <a:prstDash val="solid"/>
            <a:round/>
            <a:headEnd len="med" w="med" type="none"/>
            <a:tailEnd len="med" w="med" type="none"/>
          </a:ln>
        </p:spPr>
      </p:cxnSp>
      <p:sp>
        <p:nvSpPr>
          <p:cNvPr id="1620" name="Google Shape;1620;p104"/>
          <p:cNvSpPr txBox="1"/>
          <p:nvPr/>
        </p:nvSpPr>
        <p:spPr>
          <a:xfrm>
            <a:off x="1655625" y="1945313"/>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
        <p:nvSpPr>
          <p:cNvPr id="1621" name="Google Shape;1621;p104"/>
          <p:cNvSpPr txBox="1"/>
          <p:nvPr/>
        </p:nvSpPr>
        <p:spPr>
          <a:xfrm>
            <a:off x="1609550" y="4319988"/>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5" name="Shape 1625"/>
        <p:cNvGrpSpPr/>
        <p:nvPr/>
      </p:nvGrpSpPr>
      <p:grpSpPr>
        <a:xfrm>
          <a:off x="0" y="0"/>
          <a:ext cx="0" cy="0"/>
          <a:chOff x="0" y="0"/>
          <a:chExt cx="0" cy="0"/>
        </a:xfrm>
      </p:grpSpPr>
      <p:sp>
        <p:nvSpPr>
          <p:cNvPr id="1626" name="Google Shape;1626;p10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4) Create your own calculation and six equivalent calculations using powers of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627" name="Google Shape;1627;p10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equivalent fractions to simplify calculations</a:t>
            </a:r>
            <a:endParaRPr/>
          </a:p>
        </p:txBody>
      </p:sp>
      <p:sp>
        <p:nvSpPr>
          <p:cNvPr id="1628" name="Google Shape;1628;p105"/>
          <p:cNvSpPr/>
          <p:nvPr/>
        </p:nvSpPr>
        <p:spPr>
          <a:xfrm>
            <a:off x="3326325" y="2381275"/>
            <a:ext cx="2329776" cy="1398708"/>
          </a:xfrm>
          <a:prstGeom prst="cloud">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3100">
              <a:latin typeface="Lexend"/>
              <a:ea typeface="Lexend"/>
              <a:cs typeface="Lexend"/>
              <a:sym typeface="Lexend"/>
            </a:endParaRPr>
          </a:p>
        </p:txBody>
      </p:sp>
      <p:cxnSp>
        <p:nvCxnSpPr>
          <p:cNvPr id="1629" name="Google Shape;1629;p105"/>
          <p:cNvCxnSpPr/>
          <p:nvPr/>
        </p:nvCxnSpPr>
        <p:spPr>
          <a:xfrm>
            <a:off x="3113750" y="2164288"/>
            <a:ext cx="891900" cy="363600"/>
          </a:xfrm>
          <a:prstGeom prst="straightConnector1">
            <a:avLst/>
          </a:prstGeom>
          <a:noFill/>
          <a:ln cap="flat" cmpd="sng" w="28575">
            <a:solidFill>
              <a:schemeClr val="dk1"/>
            </a:solidFill>
            <a:prstDash val="solid"/>
            <a:round/>
            <a:headEnd len="med" w="med" type="none"/>
            <a:tailEnd len="med" w="med" type="none"/>
          </a:ln>
        </p:spPr>
      </p:cxnSp>
      <p:cxnSp>
        <p:nvCxnSpPr>
          <p:cNvPr id="1630" name="Google Shape;1630;p105"/>
          <p:cNvCxnSpPr/>
          <p:nvPr/>
        </p:nvCxnSpPr>
        <p:spPr>
          <a:xfrm flipH="1" rot="10800000">
            <a:off x="2377125" y="3072175"/>
            <a:ext cx="949200" cy="131700"/>
          </a:xfrm>
          <a:prstGeom prst="straightConnector1">
            <a:avLst/>
          </a:prstGeom>
          <a:noFill/>
          <a:ln cap="flat" cmpd="sng" w="28575">
            <a:solidFill>
              <a:schemeClr val="dk1"/>
            </a:solidFill>
            <a:prstDash val="solid"/>
            <a:round/>
            <a:headEnd len="med" w="med" type="none"/>
            <a:tailEnd len="med" w="med" type="none"/>
          </a:ln>
        </p:spPr>
      </p:cxnSp>
      <p:cxnSp>
        <p:nvCxnSpPr>
          <p:cNvPr id="1631" name="Google Shape;1631;p105"/>
          <p:cNvCxnSpPr/>
          <p:nvPr/>
        </p:nvCxnSpPr>
        <p:spPr>
          <a:xfrm flipH="1" rot="10800000">
            <a:off x="2802725" y="3527725"/>
            <a:ext cx="809400" cy="533400"/>
          </a:xfrm>
          <a:prstGeom prst="straightConnector1">
            <a:avLst/>
          </a:prstGeom>
          <a:noFill/>
          <a:ln cap="flat" cmpd="sng" w="28575">
            <a:solidFill>
              <a:schemeClr val="dk1"/>
            </a:solidFill>
            <a:prstDash val="solid"/>
            <a:round/>
            <a:headEnd len="med" w="med" type="none"/>
            <a:tailEnd len="med" w="med" type="none"/>
          </a:ln>
        </p:spPr>
      </p:cxnSp>
      <p:cxnSp>
        <p:nvCxnSpPr>
          <p:cNvPr id="1632" name="Google Shape;1632;p105"/>
          <p:cNvCxnSpPr/>
          <p:nvPr/>
        </p:nvCxnSpPr>
        <p:spPr>
          <a:xfrm rot="10800000">
            <a:off x="5656075" y="3198175"/>
            <a:ext cx="939900" cy="210900"/>
          </a:xfrm>
          <a:prstGeom prst="straightConnector1">
            <a:avLst/>
          </a:prstGeom>
          <a:noFill/>
          <a:ln cap="flat" cmpd="sng" w="28575">
            <a:solidFill>
              <a:schemeClr val="dk1"/>
            </a:solidFill>
            <a:prstDash val="solid"/>
            <a:round/>
            <a:headEnd len="med" w="med" type="none"/>
            <a:tailEnd len="med" w="med" type="none"/>
          </a:ln>
        </p:spPr>
      </p:cxnSp>
      <p:cxnSp>
        <p:nvCxnSpPr>
          <p:cNvPr id="1633" name="Google Shape;1633;p105"/>
          <p:cNvCxnSpPr/>
          <p:nvPr/>
        </p:nvCxnSpPr>
        <p:spPr>
          <a:xfrm flipH="1">
            <a:off x="4888475" y="2033475"/>
            <a:ext cx="947100" cy="380100"/>
          </a:xfrm>
          <a:prstGeom prst="straightConnector1">
            <a:avLst/>
          </a:prstGeom>
          <a:noFill/>
          <a:ln cap="flat" cmpd="sng" w="28575">
            <a:solidFill>
              <a:schemeClr val="dk1"/>
            </a:solidFill>
            <a:prstDash val="solid"/>
            <a:round/>
            <a:headEnd len="med" w="med" type="none"/>
            <a:tailEnd len="med" w="med" type="none"/>
          </a:ln>
        </p:spPr>
      </p:cxnSp>
      <p:pic>
        <p:nvPicPr>
          <p:cNvPr descr="&lt;math xmlns=&quot;http://www.w3.org/1998/Math/MathML&quot; display=&quot;block&quot; data-is-equatio=&quot;1&quot; data-latex=&quot;\frac{1}{10}&quot;&gt;&lt;mfrac&gt;&lt;mn&gt;1&lt;/mn&gt;&lt;mn&gt;10&lt;/mn&gt;&lt;/mfrac&gt;&lt;/math&gt;" id="1634" name="Google Shape;1634;p105" title="one tenth"/>
          <p:cNvPicPr preferRelativeResize="0"/>
          <p:nvPr/>
        </p:nvPicPr>
        <p:blipFill>
          <a:blip r:embed="rId3">
            <a:alphaModFix/>
          </a:blip>
          <a:stretch>
            <a:fillRect/>
          </a:stretch>
        </p:blipFill>
        <p:spPr>
          <a:xfrm>
            <a:off x="4319997" y="1080000"/>
            <a:ext cx="264350" cy="421873"/>
          </a:xfrm>
          <a:prstGeom prst="rect">
            <a:avLst/>
          </a:prstGeom>
          <a:noFill/>
          <a:ln>
            <a:noFill/>
          </a:ln>
        </p:spPr>
      </p:pic>
      <p:cxnSp>
        <p:nvCxnSpPr>
          <p:cNvPr id="1635" name="Google Shape;1635;p105"/>
          <p:cNvCxnSpPr/>
          <p:nvPr/>
        </p:nvCxnSpPr>
        <p:spPr>
          <a:xfrm rot="10800000">
            <a:off x="5007550" y="3586650"/>
            <a:ext cx="631500" cy="266700"/>
          </a:xfrm>
          <a:prstGeom prst="straightConnector1">
            <a:avLst/>
          </a:prstGeom>
          <a:noFill/>
          <a:ln cap="flat" cmpd="sng" w="28575">
            <a:solidFill>
              <a:schemeClr val="dk1"/>
            </a:solidFill>
            <a:prstDash val="solid"/>
            <a:round/>
            <a:headEnd len="med" w="med" type="none"/>
            <a:tailEnd len="med" w="med" type="none"/>
          </a:ln>
        </p:spPr>
      </p:cxnSp>
      <p:sp>
        <p:nvSpPr>
          <p:cNvPr id="1636" name="Google Shape;1636;p105"/>
          <p:cNvSpPr txBox="1"/>
          <p:nvPr/>
        </p:nvSpPr>
        <p:spPr>
          <a:xfrm>
            <a:off x="7138025" y="855000"/>
            <a:ext cx="1747800" cy="189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Kalam"/>
                <a:ea typeface="Kalam"/>
                <a:cs typeface="Kalam"/>
                <a:sym typeface="Kalam"/>
              </a:rPr>
              <a:t>There are an infinite number of answers. Make sure to check with a calculator or written methods.</a:t>
            </a:r>
            <a:endParaRPr sz="1800">
              <a:solidFill>
                <a:srgbClr val="000000"/>
              </a:solidFill>
              <a:latin typeface="Kalam"/>
              <a:ea typeface="Kalam"/>
              <a:cs typeface="Kalam"/>
              <a:sym typeface="Kalam"/>
            </a:endParaRPr>
          </a:p>
        </p:txBody>
      </p:sp>
      <p:sp>
        <p:nvSpPr>
          <p:cNvPr id="1637" name="Google Shape;1637;p105"/>
          <p:cNvSpPr txBox="1"/>
          <p:nvPr/>
        </p:nvSpPr>
        <p:spPr>
          <a:xfrm>
            <a:off x="1828050" y="3893888"/>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
        <p:nvSpPr>
          <p:cNvPr id="1638" name="Google Shape;1638;p105"/>
          <p:cNvSpPr txBox="1"/>
          <p:nvPr/>
        </p:nvSpPr>
        <p:spPr>
          <a:xfrm>
            <a:off x="1828050" y="1733938"/>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
        <p:nvSpPr>
          <p:cNvPr id="1639" name="Google Shape;1639;p105"/>
          <p:cNvSpPr txBox="1"/>
          <p:nvPr/>
        </p:nvSpPr>
        <p:spPr>
          <a:xfrm>
            <a:off x="1091775" y="2944200"/>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
        <p:nvSpPr>
          <p:cNvPr id="1640" name="Google Shape;1640;p105"/>
          <p:cNvSpPr txBox="1"/>
          <p:nvPr/>
        </p:nvSpPr>
        <p:spPr>
          <a:xfrm>
            <a:off x="4929925" y="1620000"/>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
        <p:nvSpPr>
          <p:cNvPr id="1641" name="Google Shape;1641;p105"/>
          <p:cNvSpPr txBox="1"/>
          <p:nvPr/>
        </p:nvSpPr>
        <p:spPr>
          <a:xfrm>
            <a:off x="4745825" y="3703700"/>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
        <p:nvSpPr>
          <p:cNvPr id="1642" name="Google Shape;1642;p105"/>
          <p:cNvSpPr txBox="1"/>
          <p:nvPr/>
        </p:nvSpPr>
        <p:spPr>
          <a:xfrm>
            <a:off x="6150325" y="3072175"/>
            <a:ext cx="23922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________</a:t>
            </a:r>
            <a:endParaRPr sz="2200">
              <a:solidFill>
                <a:schemeClr val="dk1"/>
              </a:solidFill>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6" name="Shape 1646"/>
        <p:cNvGrpSpPr/>
        <p:nvPr/>
      </p:nvGrpSpPr>
      <p:grpSpPr>
        <a:xfrm>
          <a:off x="0" y="0"/>
          <a:ext cx="0" cy="0"/>
          <a:chOff x="0" y="0"/>
          <a:chExt cx="0" cy="0"/>
        </a:xfrm>
      </p:grpSpPr>
      <p:sp>
        <p:nvSpPr>
          <p:cNvPr id="1647" name="Google Shape;1647;p106"/>
          <p:cNvSpPr txBox="1"/>
          <p:nvPr>
            <p:ph idx="1" type="body"/>
          </p:nvPr>
        </p:nvSpPr>
        <p:spPr>
          <a:xfrm>
            <a:off x="324000" y="810000"/>
            <a:ext cx="8113800" cy="401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We have looked at multiplying large integers by factorising multiples of  10</a:t>
            </a:r>
            <a:r>
              <a:rPr baseline="30000" lang="en-GB"/>
              <a:t>n</a:t>
            </a:r>
            <a:r>
              <a:rPr lang="en-GB"/>
              <a:t> in order to simplify multiplication.</a:t>
            </a:r>
            <a:endParaRPr/>
          </a:p>
          <a:p>
            <a:pPr indent="0" lvl="0" marL="0" rtl="0" algn="l">
              <a:spcBef>
                <a:spcPts val="1000"/>
              </a:spcBef>
              <a:spcAft>
                <a:spcPts val="0"/>
              </a:spcAft>
              <a:buNone/>
            </a:pPr>
            <a:r>
              <a:rPr lang="en-GB"/>
              <a:t>For example,   </a:t>
            </a:r>
            <a:r>
              <a:rPr lang="en-GB"/>
              <a:t>2000 × 4000 = 2 × </a:t>
            </a:r>
            <a:r>
              <a:rPr lang="en-GB" sz="2000"/>
              <a:t>10</a:t>
            </a:r>
            <a:r>
              <a:rPr baseline="30000" lang="en-GB" sz="2000"/>
              <a:t>3 </a:t>
            </a:r>
            <a:r>
              <a:rPr lang="en-GB"/>
              <a:t>× 4 × </a:t>
            </a:r>
            <a:r>
              <a:rPr lang="en-GB" sz="2000"/>
              <a:t>10</a:t>
            </a:r>
            <a:r>
              <a:rPr baseline="30000" lang="en-GB" sz="2000"/>
              <a:t>3 </a:t>
            </a:r>
            <a:r>
              <a:rPr lang="en-GB"/>
              <a:t>= 8 × </a:t>
            </a:r>
            <a:r>
              <a:rPr lang="en-GB" sz="2000"/>
              <a:t>10</a:t>
            </a:r>
            <a:r>
              <a:rPr baseline="30000" lang="en-GB" sz="2000"/>
              <a:t>6</a:t>
            </a:r>
            <a:r>
              <a:rPr lang="en-GB"/>
              <a:t>  </a:t>
            </a:r>
            <a:endParaRPr/>
          </a:p>
          <a:p>
            <a:pPr indent="0" lvl="0" marL="0" rtl="0" algn="l">
              <a:spcBef>
                <a:spcPts val="1000"/>
              </a:spcBef>
              <a:spcAft>
                <a:spcPts val="0"/>
              </a:spcAft>
              <a:buNone/>
            </a:pPr>
            <a:r>
              <a:rPr lang="en-GB"/>
              <a:t>We can use the same process when multiplying any number, using knowledge of decimal and fractional equivalents. </a:t>
            </a:r>
            <a:endParaRPr/>
          </a:p>
          <a:p>
            <a:pPr indent="0" lvl="0" marL="0" rtl="0" algn="l">
              <a:spcBef>
                <a:spcPts val="1000"/>
              </a:spcBef>
              <a:spcAft>
                <a:spcPts val="0"/>
              </a:spcAft>
              <a:buNone/>
            </a:pPr>
            <a:r>
              <a:t/>
            </a:r>
            <a:endParaRPr sz="1500"/>
          </a:p>
          <a:p>
            <a:pPr indent="0" lvl="0" marL="0" rtl="0" algn="l">
              <a:spcBef>
                <a:spcPts val="1000"/>
              </a:spcBef>
              <a:spcAft>
                <a:spcPts val="0"/>
              </a:spcAft>
              <a:buClr>
                <a:schemeClr val="dk1"/>
              </a:buClr>
              <a:buSzPts val="1100"/>
              <a:buFont typeface="Arial"/>
              <a:buNone/>
            </a:pPr>
            <a:r>
              <a:rPr lang="en-GB"/>
              <a:t>For example,   3.2 × 4.1 =  </a:t>
            </a:r>
            <a:endParaRPr/>
          </a:p>
          <a:p>
            <a:pPr indent="0" lvl="0" marL="0" rtl="0" algn="l">
              <a:spcBef>
                <a:spcPts val="1000"/>
              </a:spcBef>
              <a:spcAft>
                <a:spcPts val="1000"/>
              </a:spcAft>
              <a:buNone/>
            </a:pPr>
            <a:r>
              <a:t/>
            </a:r>
            <a:endParaRPr/>
          </a:p>
        </p:txBody>
      </p:sp>
      <p:sp>
        <p:nvSpPr>
          <p:cNvPr id="1648" name="Google Shape;1648;p106"/>
          <p:cNvSpPr txBox="1"/>
          <p:nvPr>
            <p:ph type="title"/>
          </p:nvPr>
        </p:nvSpPr>
        <p:spPr>
          <a:xfrm>
            <a:off x="1684800" y="43825"/>
            <a:ext cx="71352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Checking and securing understanding of multiples of 10</a:t>
            </a:r>
            <a:endParaRPr/>
          </a:p>
        </p:txBody>
      </p:sp>
      <p:sp>
        <p:nvSpPr>
          <p:cNvPr id="1649" name="Google Shape;1649;p106"/>
          <p:cNvSpPr txBox="1"/>
          <p:nvPr/>
        </p:nvSpPr>
        <p:spPr>
          <a:xfrm>
            <a:off x="3630756" y="3908324"/>
            <a:ext cx="11805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32 </a:t>
            </a:r>
            <a:r>
              <a:rPr lang="en-GB" sz="2000">
                <a:solidFill>
                  <a:schemeClr val="dk1"/>
                </a:solidFill>
                <a:latin typeface="Lexend"/>
                <a:ea typeface="Lexend"/>
                <a:cs typeface="Lexend"/>
                <a:sym typeface="Lexend"/>
              </a:rPr>
              <a:t>× 41</a:t>
            </a:r>
            <a:r>
              <a:rPr lang="en-GB" sz="2000">
                <a:latin typeface="Lexend"/>
                <a:ea typeface="Lexend"/>
                <a:cs typeface="Lexend"/>
                <a:sym typeface="Lexend"/>
              </a:rPr>
              <a:t> </a:t>
            </a:r>
            <a:r>
              <a:rPr lang="en-GB" sz="2000">
                <a:solidFill>
                  <a:schemeClr val="dk1"/>
                </a:solidFill>
                <a:latin typeface="Lexend"/>
                <a:ea typeface="Lexend"/>
                <a:cs typeface="Lexend"/>
                <a:sym typeface="Lexend"/>
              </a:rPr>
              <a:t>×</a:t>
            </a:r>
            <a:endParaRPr sz="20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1}{100}&quot;&gt;&lt;mfrac&gt;&lt;mn&gt;1&lt;/mn&gt;&lt;mn&gt;100&lt;/mn&gt;&lt;/mfrac&gt;&lt;/math&gt;" id="1650" name="Google Shape;1650;p106" title="1 over 100"/>
          <p:cNvPicPr preferRelativeResize="0"/>
          <p:nvPr/>
        </p:nvPicPr>
        <p:blipFill>
          <a:blip r:embed="rId3">
            <a:alphaModFix/>
          </a:blip>
          <a:stretch>
            <a:fillRect/>
          </a:stretch>
        </p:blipFill>
        <p:spPr>
          <a:xfrm>
            <a:off x="4752115" y="3878141"/>
            <a:ext cx="378383" cy="417385"/>
          </a:xfrm>
          <a:prstGeom prst="rect">
            <a:avLst/>
          </a:prstGeom>
          <a:noFill/>
          <a:ln>
            <a:noFill/>
          </a:ln>
        </p:spPr>
      </p:pic>
      <p:sp>
        <p:nvSpPr>
          <p:cNvPr id="1651" name="Google Shape;1651;p106"/>
          <p:cNvSpPr txBox="1"/>
          <p:nvPr/>
        </p:nvSpPr>
        <p:spPr>
          <a:xfrm>
            <a:off x="5230946" y="3908325"/>
            <a:ext cx="3142200" cy="33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Lexend"/>
                <a:ea typeface="Lexend"/>
                <a:cs typeface="Lexend"/>
                <a:sym typeface="Lexend"/>
              </a:rPr>
              <a:t>= 32 </a:t>
            </a:r>
            <a:r>
              <a:rPr lang="en-GB" sz="2000">
                <a:solidFill>
                  <a:schemeClr val="dk1"/>
                </a:solidFill>
                <a:latin typeface="Lexend"/>
                <a:ea typeface="Lexend"/>
                <a:cs typeface="Lexend"/>
                <a:sym typeface="Lexend"/>
              </a:rPr>
              <a:t>× 41 ×</a:t>
            </a:r>
            <a:r>
              <a:rPr lang="en-GB" sz="2000">
                <a:latin typeface="Lexend"/>
                <a:ea typeface="Lexend"/>
                <a:cs typeface="Lexend"/>
                <a:sym typeface="Lexend"/>
              </a:rPr>
              <a:t>        =</a:t>
            </a:r>
            <a:endParaRPr sz="20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1}{10^2}\ \ \frac{1}{10^3}&quot;&gt;&lt;mfrac&gt;&lt;mn&gt;1&lt;/mn&gt;&lt;msup&gt;&lt;mn&gt;10&lt;/mn&gt;&lt;mn&gt;2&lt;/mn&gt;&lt;/msup&gt;&lt;/mfrac&gt;&lt;mtext&gt;&lt;/mtext&gt;&lt;mtext&gt;&lt;/mtext&gt;&lt;mfrac&gt;&lt;mn&gt;1&lt;/mn&gt;&lt;msup&gt;&lt;mn&gt;10&lt;/mn&gt;&lt;mn&gt;3&lt;/mn&gt;&lt;/msup&gt;&lt;/mfrac&gt;&lt;/math&gt;" id="1652" name="Google Shape;1652;p106" title="the fraction with numerator 1 and denominator 10 squared the fraction with numerator 1 and denominator 10 cubed"/>
          <p:cNvPicPr preferRelativeResize="0"/>
          <p:nvPr/>
        </p:nvPicPr>
        <p:blipFill rotWithShape="1">
          <a:blip r:embed="rId4">
            <a:alphaModFix/>
          </a:blip>
          <a:srcRect b="0" l="0" r="50502" t="0"/>
          <a:stretch/>
        </p:blipFill>
        <p:spPr>
          <a:xfrm>
            <a:off x="6544656" y="3822032"/>
            <a:ext cx="446875" cy="529617"/>
          </a:xfrm>
          <a:prstGeom prst="rect">
            <a:avLst/>
          </a:prstGeom>
          <a:noFill/>
          <a:ln>
            <a:noFill/>
          </a:ln>
        </p:spPr>
      </p:pic>
      <p:pic>
        <p:nvPicPr>
          <p:cNvPr descr="&lt;math xmlns=&quot;http://www.w3.org/1998/Math/MathML&quot; display=&quot;block&quot; data-is-equatio=&quot;1&quot; data-latex=&quot;\frac{32\times41}{10^2}&quot;&gt;&lt;mfrac&gt;&lt;mrow&gt;&lt;mn&gt;32&lt;/mn&gt;&lt;mo&gt;×&lt;/mo&gt;&lt;mn&gt;41&lt;/mn&gt;&lt;/mrow&gt;&lt;msup&gt;&lt;mn&gt;10&lt;/mn&gt;&lt;mn&gt;2&lt;/mn&gt;&lt;/msup&gt;&lt;/mfrac&gt;&lt;/math&gt;" id="1653" name="Google Shape;1653;p106" title="the fraction with numerator 32 times 41 and denominator 10 squared"/>
          <p:cNvPicPr preferRelativeResize="0"/>
          <p:nvPr/>
        </p:nvPicPr>
        <p:blipFill>
          <a:blip r:embed="rId5">
            <a:alphaModFix/>
          </a:blip>
          <a:stretch>
            <a:fillRect/>
          </a:stretch>
        </p:blipFill>
        <p:spPr>
          <a:xfrm>
            <a:off x="7279975" y="3822025"/>
            <a:ext cx="741479" cy="5296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7" name="Shape 1657"/>
        <p:cNvGrpSpPr/>
        <p:nvPr/>
      </p:nvGrpSpPr>
      <p:grpSpPr>
        <a:xfrm>
          <a:off x="0" y="0"/>
          <a:ext cx="0" cy="0"/>
          <a:chOff x="0" y="0"/>
          <a:chExt cx="0" cy="0"/>
        </a:xfrm>
      </p:grpSpPr>
      <p:sp>
        <p:nvSpPr>
          <p:cNvPr id="1658" name="Google Shape;1658;p107"/>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659" name="Google Shape;1659;p107"/>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