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640E3C-D8E7-4B39-9A99-363079C41305}">
  <a:tblStyle styleId="{2B640E3C-D8E7-4B39-9A99-363079C413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b7b4fb7c2e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b7b4fb7c2e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b7b4fb7c2e_0_1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b7b4fb7c2e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b768a841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b768a841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2b8a3f414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2b8a3f414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b8a3f414d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b8a3f414d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b8a3f414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b8a3f414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b7b4fb7c2e_0_1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b7b4fb7c2e_0_1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2b7b4fb7c2e_0_1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2b7b4fb7c2e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36ea6560d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36ea6560d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b7b4fb7c2e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b7b4fb7c2e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2b7b4fb7c2e_0_2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b7b4fb7c2e_0_2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b768a841dd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768a841d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b7b4fb7c2e_0_2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b7b4fb7c2e_0_2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2b7b4fb7c2e_0_2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2b7b4fb7c2e_0_2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b7b4fb7c2e_0_2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2b7b4fb7c2e_0_2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b7b4fb7c2e_0_2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2b7b4fb7c2e_0_2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b7b4fb7c2e_0_3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b7b4fb7c2e_0_3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2b7b4fb7c2e_0_3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b7b4fb7c2e_0_3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b7b4fb7c2e_0_3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b7b4fb7c2e_0_3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b7b4fb7c2e_0_3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b7b4fb7c2e_0_3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2b7b4fb7c2e_0_2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2b7b4fb7c2e_0_2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2b7b4fb7c2e_0_2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2b7b4fb7c2e_0_2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b7b4fb7c2e_0_2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b7b4fb7c2e_0_2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b7b4fb7c2e_0_2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b7b4fb7c2e_0_2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2b7b4fb7c2e_0_2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2b7b4fb7c2e_0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b7b4fb7c2e_0_3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b7b4fb7c2e_0_3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36ea6560d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36ea6560d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b768a841dd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b768a841d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2b7b4fb7c2e_0_3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2b7b4fb7c2e_0_3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2b768a841d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2b768a841d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b7b4fb7c2e_0_3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b7b4fb7c2e_0_3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6ea6560d2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1" name="Google Shape;2141;g36ea6560d2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2b7b4fb7c2e_0_3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2b7b4fb7c2e_0_3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b7c9e82b2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2b7c9e82b2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2b7c9e82b2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2b7c9e82b2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2b7b4fb7c2e_0_3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2b7b4fb7c2e_0_3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2b7b4fb7c2e_0_3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2b7b4fb7c2e_0_3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2b7c9e82b2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2b7c9e82b2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2b7c9e82b2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2b7c9e82b2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88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8.png"/><Relationship Id="rId4" Type="http://schemas.openxmlformats.org/officeDocument/2006/relationships/image" Target="../media/image29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8.png"/><Relationship Id="rId4" Type="http://schemas.openxmlformats.org/officeDocument/2006/relationships/image" Target="../media/image38.png"/><Relationship Id="rId11" Type="http://schemas.openxmlformats.org/officeDocument/2006/relationships/image" Target="../media/image24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88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8.png"/><Relationship Id="rId4" Type="http://schemas.openxmlformats.org/officeDocument/2006/relationships/image" Target="../media/image29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8.png"/><Relationship Id="rId4" Type="http://schemas.openxmlformats.org/officeDocument/2006/relationships/image" Target="../media/image38.png"/><Relationship Id="rId11" Type="http://schemas.openxmlformats.org/officeDocument/2006/relationships/image" Target="../media/image24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3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8" name="Google Shape;75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6" name="Google Shape;7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4" name="Google Shape;784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5" name="Google Shape;785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7" name="Google Shape;787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0" name="Google Shape;80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3" name="Google Shape;803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4" name="Google Shape;80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6" name="Google Shape;806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8" name="Google Shape;81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0" name="Google Shape;82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2" name="Google Shape;822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3" name="Google Shape;823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5" name="Google Shape;825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2" name="Google Shape;83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5" name="Google Shape;845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6" name="Google Shape;846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9" name="Google Shape;849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5" name="Google Shape;875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4" name="Google Shape;894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8" name="Google Shape;898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4" name="Google Shape;904;p81"/>
          <p:cNvCxnSpPr>
            <a:endCxn id="90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6" name="Google Shape;90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8" name="Google Shape;908;p81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5" name="Google Shape;90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9" name="Google Shape;919;p82"/>
          <p:cNvCxnSpPr>
            <a:endCxn id="92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0" name="Google Shape;920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2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3" name="Google Shape;923;p82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5" name="Google Shape;92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7" name="Google Shape;927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9" name="Google Shape;939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0" name="Google Shape;940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3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4" name="Google Shape;944;p83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7" name="Google Shape;947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9" name="Google Shape;949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7" name="Google Shape;95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7" name="Google Shape;97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9" name="Google Shape;97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2" name="Google Shape;982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5" name="Google Shape;985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7" name="Google Shape;987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8" name="Google Shape;988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0" name="Google Shape;990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1" name="Google Shape;991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5" name="Google Shape;995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8" name="Google Shape;998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0" name="Google Shape;1000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1" name="Google Shape;1001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3" name="Google Shape;1003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4" name="Google Shape;1004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8" name="Google Shape;1008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1" name="Google Shape;1011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3" name="Google Shape;1013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4" name="Google Shape;1014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6" name="Google Shape;1016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7" name="Google Shape;1017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1" name="Google Shape;1021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6" name="Google Shape;1026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7" name="Google Shape;1027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9" name="Google Shape;1029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0" name="Google Shape;1030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1" name="Google Shape;1031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3" name="Google Shape;104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9" name="Google Shape;1049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0" name="Google Shape;1050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2" name="Google Shape;1052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3" name="Google Shape;1053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4" name="Google Shape;105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2" name="Google Shape;1062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3" name="Google Shape;106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6" name="Google Shape;1066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8" name="Google Shape;1068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9" name="Google Shape;106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1" name="Google Shape;1071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2" name="Google Shape;1072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4" name="Google Shape;1074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5" name="Google Shape;1085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6" name="Google Shape;1086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9" name="Google Shape;1089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1" name="Google Shape;109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2" name="Google Shape;109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4" name="Google Shape;109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5" name="Google Shape;1095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7" name="Google Shape;1097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Google Shape;1102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8" name="Google Shape;1108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9" name="Google Shape;110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2" name="Google Shape;1112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4" name="Google Shape;1114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5" name="Google Shape;111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7" name="Google Shape;1117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8" name="Google Shape;111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0" name="Google Shape;1120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8" name="Google Shape;112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1" name="Google Shape;1131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4" name="Google Shape;1134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0" name="Google Shape;1140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1" name="Google Shape;114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7" name="Google Shape;114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0" name="Google Shape;1150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3" name="Google Shape;1153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7" name="Google Shape;115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0" name="Google Shape;116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3" name="Google Shape;1163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6" name="Google Shape;116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9" name="Google Shape;1169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2" name="Google Shape;1172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6" name="Google Shape;117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8" name="Google Shape;1178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9" name="Google Shape;117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0" name="Google Shape;118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5" name="Google Shape;1185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8" name="Google Shape;1188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1" name="Google Shape;1191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5" name="Google Shape;119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7" name="Google Shape;1197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8" name="Google Shape;119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9" name="Google Shape;119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1" name="Google Shape;1201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4" name="Google Shape;1204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7" name="Google Shape;1207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1" name="Google Shape;1211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0" name="Google Shape;1220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1" name="Google Shape;122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2" name="Google Shape;122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122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7" name="Google Shape;122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0" name="Google Shape;1230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4" name="Google Shape;1234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3" name="Google Shape;1243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4" name="Google Shape;124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5" name="Google Shape;124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0" name="Google Shape;125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3" name="Google Shape;1253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7" name="Google Shape;1257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6" name="Google Shape;1266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7" name="Google Shape;126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8" name="Google Shape;126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3" name="Google Shape;127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6" name="Google Shape;1276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0" name="Google Shape;1280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9" name="Google Shape;1289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0" name="Google Shape;129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3" name="Google Shape;129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6" name="Google Shape;1296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9" name="Google Shape;1299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0" name="Google Shape;1300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5" name="Google Shape;130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8" name="Google Shape;131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1" name="Google Shape;132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2" name="Google Shape;132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3" name="Google Shape;132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4" name="Google Shape;1324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7" name="Google Shape;1327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0" name="Google Shape;1330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0" name="Google Shape;1340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3" name="Google Shape;1343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4" name="Google Shape;1344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5" name="Google Shape;1345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6" name="Google Shape;1346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9" name="Google Shape;1349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7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07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7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8" name="Google Shape;1368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9" name="Google Shape;1369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0" name="Google Shape;1370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71" name="Google Shape;1371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75" name="Google Shape;1375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7" name="Google Shape;1377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8" name="Google Shape;137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4" name="Google Shape;138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1" name="Google Shape;139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8" name="Google Shape;139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05" name="Google Shape;140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9" name="Google Shape;1409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2" name="Google Shape;1412;p112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4" name="Google Shape;141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7" name="Google Shape;141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0" name="Google Shape;142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13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3" name="Google Shape;142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8" name="Google Shape;142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114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Google Shape;1433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6" name="Google Shape;1436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115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9" name="Google Shape;143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1" name="Google Shape;1441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4" name="Google Shape;1444;p116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6" name="Google Shape;144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9" name="Google Shape;144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17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5" name="Google Shape;145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3" name="Google Shape;146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5" name="Google Shape;1465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8" name="Google Shape;1468;p119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0" name="Google Shape;1470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1" name="Google Shape;1471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4" name="Google Shape;1474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6" name="Google Shape;1476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0" name="Google Shape;1480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2" name="Google Shape;1482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1" name="Google Shape;751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10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2.jpg"/><Relationship Id="rId4" Type="http://schemas.openxmlformats.org/officeDocument/2006/relationships/image" Target="../media/image10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jpg"/><Relationship Id="rId4" Type="http://schemas.openxmlformats.org/officeDocument/2006/relationships/image" Target="../media/image10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2.jpg"/><Relationship Id="rId4" Type="http://schemas.openxmlformats.org/officeDocument/2006/relationships/image" Target="../media/image10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101.png"/><Relationship Id="rId5" Type="http://schemas.openxmlformats.org/officeDocument/2006/relationships/image" Target="../media/image10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5.png"/><Relationship Id="rId4" Type="http://schemas.openxmlformats.org/officeDocument/2006/relationships/image" Target="../media/image107.png"/><Relationship Id="rId5" Type="http://schemas.openxmlformats.org/officeDocument/2006/relationships/image" Target="../media/image106.png"/><Relationship Id="rId6" Type="http://schemas.openxmlformats.org/officeDocument/2006/relationships/image" Target="../media/image110.png"/><Relationship Id="rId7" Type="http://schemas.openxmlformats.org/officeDocument/2006/relationships/image" Target="../media/image109.png"/><Relationship Id="rId8" Type="http://schemas.openxmlformats.org/officeDocument/2006/relationships/image" Target="../media/image10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5.png"/><Relationship Id="rId4" Type="http://schemas.openxmlformats.org/officeDocument/2006/relationships/image" Target="../media/image110.png"/><Relationship Id="rId5" Type="http://schemas.openxmlformats.org/officeDocument/2006/relationships/image" Target="../media/image109.png"/><Relationship Id="rId6" Type="http://schemas.openxmlformats.org/officeDocument/2006/relationships/image" Target="../media/image108.png"/><Relationship Id="rId7" Type="http://schemas.openxmlformats.org/officeDocument/2006/relationships/image" Target="../media/image111.png"/><Relationship Id="rId8" Type="http://schemas.openxmlformats.org/officeDocument/2006/relationships/image" Target="../media/image1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Relationship Id="rId5" Type="http://schemas.openxmlformats.org/officeDocument/2006/relationships/image" Target="../media/image1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7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7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507" name="Google Shape;1507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27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write very large numbers in </a:t>
            </a:r>
            <a:r>
              <a:rPr b="1" lang="en-GB"/>
              <a:t>standard form</a:t>
            </a:r>
            <a:r>
              <a:rPr lang="en-GB"/>
              <a:t> and appreciate the real-life contexts where this format is usefully used.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29"/>
          <p:cNvSpPr txBox="1"/>
          <p:nvPr>
            <p:ph idx="1" type="subTitle"/>
          </p:nvPr>
        </p:nvSpPr>
        <p:spPr>
          <a:xfrm>
            <a:off x="324000" y="957000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 number is multiplied by itself multiple times, it can be written more simply in exponential form.</a:t>
            </a:r>
            <a:endParaRPr baseline="30000" sz="1800"/>
          </a:p>
        </p:txBody>
      </p:sp>
      <p:sp>
        <p:nvSpPr>
          <p:cNvPr id="1523" name="Google Shape;1523;p129"/>
          <p:cNvSpPr txBox="1"/>
          <p:nvPr>
            <p:ph idx="1" type="subTitle"/>
          </p:nvPr>
        </p:nvSpPr>
        <p:spPr>
          <a:xfrm>
            <a:off x="3448200" y="1831850"/>
            <a:ext cx="690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e.g. </a:t>
            </a:r>
            <a:endParaRPr baseline="30000" sz="2400"/>
          </a:p>
        </p:txBody>
      </p:sp>
      <p:pic>
        <p:nvPicPr>
          <p:cNvPr descr="&lt;math xmlns=&quot;http://www.w3.org/1998/Math/MathML&quot; display=&quot;block&quot; data-is-equatio=&quot;1&quot; data-latex=&quot;=\ 2^3&quot;&gt;&lt;mo&gt;=&lt;/mo&gt;&lt;mtext&gt;&lt;/mtext&gt;&lt;msup&gt;&lt;mn&gt;2&lt;/mn&gt;&lt;mn&gt;3&lt;/mn&gt;&lt;/msup&gt;&lt;/math&gt;" id="1524" name="Google Shape;1524;p129" title="equals 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200" y="1785650"/>
            <a:ext cx="702456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2&quot;&gt;&lt;mn&gt;2&lt;/mn&gt;&lt;mo&gt;×&lt;/mo&gt;&lt;mn&gt;2&lt;/mn&gt;&lt;mo&gt;×&lt;/mo&gt;&lt;mn&gt;2&lt;/mn&gt;&lt;/math&gt;" id="1525" name="Google Shape;1525;p129" title="2 times 2 time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868400"/>
            <a:ext cx="11906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129"/>
          <p:cNvSpPr txBox="1"/>
          <p:nvPr>
            <p:ph idx="1" type="subTitle"/>
          </p:nvPr>
        </p:nvSpPr>
        <p:spPr>
          <a:xfrm>
            <a:off x="324000" y="2517650"/>
            <a:ext cx="8195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The </a:t>
            </a:r>
            <a:r>
              <a:rPr lang="en-GB" sz="1800"/>
              <a:t>associative law</a:t>
            </a:r>
            <a:r>
              <a:rPr b="0" lang="en-GB" sz="1800"/>
              <a:t> states that a repeated application of the operation produces the same result regardless of how pairs of values are grouped. </a:t>
            </a:r>
            <a:r>
              <a:rPr b="0" lang="en-GB" sz="1800">
                <a:solidFill>
                  <a:schemeClr val="dk1"/>
                </a:solidFill>
              </a:rPr>
              <a:t>We can group using brackets.</a:t>
            </a:r>
            <a:endParaRPr b="0" sz="1800"/>
          </a:p>
        </p:txBody>
      </p:sp>
      <p:sp>
        <p:nvSpPr>
          <p:cNvPr id="1527" name="Google Shape;1527;p129"/>
          <p:cNvSpPr txBox="1"/>
          <p:nvPr/>
        </p:nvSpPr>
        <p:spPr>
          <a:xfrm>
            <a:off x="323995" y="3529989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29"/>
          <p:cNvSpPr txBox="1"/>
          <p:nvPr/>
        </p:nvSpPr>
        <p:spPr>
          <a:xfrm>
            <a:off x="335349" y="3933900"/>
            <a:ext cx="2606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100 =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29"/>
          <p:cNvSpPr txBox="1"/>
          <p:nvPr/>
        </p:nvSpPr>
        <p:spPr>
          <a:xfrm>
            <a:off x="4608153" y="3529989"/>
            <a:ext cx="2317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29"/>
          <p:cNvSpPr txBox="1"/>
          <p:nvPr/>
        </p:nvSpPr>
        <p:spPr>
          <a:xfrm>
            <a:off x="4619500" y="3933900"/>
            <a:ext cx="19230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(48 ÷ 6) ÷ 2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29"/>
          <p:cNvSpPr txBox="1"/>
          <p:nvPr/>
        </p:nvSpPr>
        <p:spPr>
          <a:xfrm>
            <a:off x="6120250" y="3933900"/>
            <a:ext cx="139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24 ÷ 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29"/>
          <p:cNvSpPr txBox="1"/>
          <p:nvPr/>
        </p:nvSpPr>
        <p:spPr>
          <a:xfrm>
            <a:off x="1829690" y="3946025"/>
            <a:ext cx="1260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7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29"/>
          <p:cNvSpPr txBox="1"/>
          <p:nvPr/>
        </p:nvSpPr>
        <p:spPr>
          <a:xfrm>
            <a:off x="1586925" y="3946025"/>
            <a:ext cx="23847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 × 10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29"/>
          <p:cNvSpPr txBox="1"/>
          <p:nvPr/>
        </p:nvSpPr>
        <p:spPr>
          <a:xfrm>
            <a:off x="6085300" y="3933900"/>
            <a:ext cx="9969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29"/>
          <p:cNvSpPr txBox="1"/>
          <p:nvPr/>
        </p:nvSpPr>
        <p:spPr>
          <a:xfrm>
            <a:off x="4556909" y="4276025"/>
            <a:ext cx="1923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48 ÷ (6 ÷ 2)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29"/>
          <p:cNvSpPr txBox="1"/>
          <p:nvPr/>
        </p:nvSpPr>
        <p:spPr>
          <a:xfrm>
            <a:off x="6098904" y="4276025"/>
            <a:ext cx="151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48 ÷ 3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29"/>
          <p:cNvSpPr txBox="1"/>
          <p:nvPr/>
        </p:nvSpPr>
        <p:spPr>
          <a:xfrm>
            <a:off x="6065378" y="4276025"/>
            <a:ext cx="17709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8" name="Google Shape;1538;p129"/>
          <p:cNvCxnSpPr/>
          <p:nvPr/>
        </p:nvCxnSpPr>
        <p:spPr>
          <a:xfrm>
            <a:off x="4371200" y="3558725"/>
            <a:ext cx="0" cy="138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9" name="Google Shape;1539;p129"/>
          <p:cNvSpPr txBox="1"/>
          <p:nvPr/>
        </p:nvSpPr>
        <p:spPr>
          <a:xfrm>
            <a:off x="1799400" y="4276025"/>
            <a:ext cx="1367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(3 + 4)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29"/>
          <p:cNvSpPr txBox="1"/>
          <p:nvPr/>
        </p:nvSpPr>
        <p:spPr>
          <a:xfrm>
            <a:off x="324000" y="4276025"/>
            <a:ext cx="238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(4 + 10)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30"/>
          <p:cNvSpPr txBox="1"/>
          <p:nvPr>
            <p:ph idx="1" type="subTitle"/>
          </p:nvPr>
        </p:nvSpPr>
        <p:spPr>
          <a:xfrm>
            <a:off x="324000" y="957000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Standard form</a:t>
            </a:r>
            <a:r>
              <a:rPr lang="en-GB"/>
              <a:t> - this will be defined in the lesson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3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551" name="Google Shape;1551;p13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sp>
        <p:nvSpPr>
          <p:cNvPr id="1552" name="Google Shape;1552;p13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553" name="Google Shape;1553;p13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pic>
        <p:nvPicPr>
          <p:cNvPr id="1554" name="Google Shape;1554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50" y="17534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32"/>
          <p:cNvSpPr/>
          <p:nvPr/>
        </p:nvSpPr>
        <p:spPr>
          <a:xfrm>
            <a:off x="3041225" y="2448775"/>
            <a:ext cx="3005400" cy="447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ways can you think of to write this number?</a:t>
            </a:r>
            <a:endParaRPr/>
          </a:p>
        </p:txBody>
      </p:sp>
      <p:sp>
        <p:nvSpPr>
          <p:cNvPr id="1561" name="Google Shape;156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large numbers in standard 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2" name="Google Shape;1562;p132"/>
          <p:cNvSpPr txBox="1"/>
          <p:nvPr/>
        </p:nvSpPr>
        <p:spPr>
          <a:xfrm>
            <a:off x="3151200" y="2399400"/>
            <a:ext cx="2841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57 300 000 000 000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2"/>
          <p:cNvSpPr txBox="1"/>
          <p:nvPr/>
        </p:nvSpPr>
        <p:spPr>
          <a:xfrm>
            <a:off x="3745200" y="324760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5.73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32"/>
          <p:cNvSpPr txBox="1"/>
          <p:nvPr/>
        </p:nvSpPr>
        <p:spPr>
          <a:xfrm>
            <a:off x="876100" y="3370675"/>
            <a:ext cx="1989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57 300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32"/>
          <p:cNvSpPr txBox="1"/>
          <p:nvPr/>
        </p:nvSpPr>
        <p:spPr>
          <a:xfrm>
            <a:off x="6632400" y="24451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6" name="Google Shape;1566;p132"/>
          <p:cNvSpPr txBox="1"/>
          <p:nvPr/>
        </p:nvSpPr>
        <p:spPr>
          <a:xfrm>
            <a:off x="1106750" y="1515250"/>
            <a:ext cx="3352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100 000 000 000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32"/>
          <p:cNvSpPr txBox="1"/>
          <p:nvPr/>
        </p:nvSpPr>
        <p:spPr>
          <a:xfrm>
            <a:off x="584325" y="24091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57.3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8" name="Google Shape;1568;p132"/>
          <p:cNvSpPr txBox="1"/>
          <p:nvPr/>
        </p:nvSpPr>
        <p:spPr>
          <a:xfrm>
            <a:off x="5120400" y="15152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9" name="Google Shape;1569;p132"/>
          <p:cNvSpPr txBox="1"/>
          <p:nvPr/>
        </p:nvSpPr>
        <p:spPr>
          <a:xfrm>
            <a:off x="5670000" y="3434200"/>
            <a:ext cx="315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0" name="Google Shape;1570;p132"/>
          <p:cNvSpPr txBox="1"/>
          <p:nvPr>
            <p:ph idx="1" type="body"/>
          </p:nvPr>
        </p:nvSpPr>
        <p:spPr>
          <a:xfrm>
            <a:off x="324000" y="3971550"/>
            <a:ext cx="82377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have thought of others.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One of these is in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33"/>
          <p:cNvSpPr/>
          <p:nvPr/>
        </p:nvSpPr>
        <p:spPr>
          <a:xfrm>
            <a:off x="3041225" y="2448775"/>
            <a:ext cx="3005400" cy="447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3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one is the number written in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  <p:sp>
        <p:nvSpPr>
          <p:cNvPr id="1577" name="Google Shape;1577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large numbers in standard 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33"/>
          <p:cNvSpPr txBox="1"/>
          <p:nvPr/>
        </p:nvSpPr>
        <p:spPr>
          <a:xfrm>
            <a:off x="3151200" y="2399400"/>
            <a:ext cx="2841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57 300 000 000 000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33"/>
          <p:cNvSpPr txBox="1"/>
          <p:nvPr/>
        </p:nvSpPr>
        <p:spPr>
          <a:xfrm>
            <a:off x="3745200" y="324760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33"/>
          <p:cNvSpPr txBox="1"/>
          <p:nvPr/>
        </p:nvSpPr>
        <p:spPr>
          <a:xfrm>
            <a:off x="876100" y="3370675"/>
            <a:ext cx="1989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57 300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33"/>
          <p:cNvSpPr txBox="1"/>
          <p:nvPr/>
        </p:nvSpPr>
        <p:spPr>
          <a:xfrm>
            <a:off x="6632400" y="24451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2" name="Google Shape;1582;p133"/>
          <p:cNvSpPr txBox="1"/>
          <p:nvPr/>
        </p:nvSpPr>
        <p:spPr>
          <a:xfrm>
            <a:off x="1106750" y="1515250"/>
            <a:ext cx="3352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100 000 000 000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3" name="Google Shape;1583;p133"/>
          <p:cNvSpPr txBox="1"/>
          <p:nvPr/>
        </p:nvSpPr>
        <p:spPr>
          <a:xfrm>
            <a:off x="584325" y="24091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57.3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4" name="Google Shape;1584;p133"/>
          <p:cNvSpPr txBox="1"/>
          <p:nvPr/>
        </p:nvSpPr>
        <p:spPr>
          <a:xfrm>
            <a:off x="5120400" y="151525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5" name="Google Shape;1585;p133"/>
          <p:cNvSpPr txBox="1"/>
          <p:nvPr/>
        </p:nvSpPr>
        <p:spPr>
          <a:xfrm>
            <a:off x="5670000" y="3434200"/>
            <a:ext cx="315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573 × 100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133"/>
          <p:cNvSpPr txBox="1"/>
          <p:nvPr>
            <p:ph idx="1" type="body"/>
          </p:nvPr>
        </p:nvSpPr>
        <p:spPr>
          <a:xfrm>
            <a:off x="324000" y="4264550"/>
            <a:ext cx="82377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think</a:t>
            </a:r>
            <a:r>
              <a:rPr lang="en-GB"/>
              <a:t> </a:t>
            </a:r>
            <a:r>
              <a:rPr b="1" lang="en-GB"/>
              <a:t>standard form</a:t>
            </a:r>
            <a:r>
              <a:rPr lang="en-GB"/>
              <a:t> means?</a:t>
            </a:r>
            <a:endParaRPr/>
          </a:p>
        </p:txBody>
      </p:sp>
      <p:sp>
        <p:nvSpPr>
          <p:cNvPr id="1587" name="Google Shape;1587;p133"/>
          <p:cNvSpPr/>
          <p:nvPr/>
        </p:nvSpPr>
        <p:spPr>
          <a:xfrm>
            <a:off x="348275" y="1306975"/>
            <a:ext cx="7744800" cy="852900"/>
          </a:xfrm>
          <a:prstGeom prst="roundRect">
            <a:avLst>
              <a:gd fmla="val 16667" name="adj"/>
            </a:avLst>
          </a:prstGeom>
          <a:solidFill>
            <a:srgbClr val="FFFFFF">
              <a:alpha val="683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3"/>
          <p:cNvSpPr/>
          <p:nvPr/>
        </p:nvSpPr>
        <p:spPr>
          <a:xfrm>
            <a:off x="324000" y="2245825"/>
            <a:ext cx="2458800" cy="1583400"/>
          </a:xfrm>
          <a:prstGeom prst="roundRect">
            <a:avLst>
              <a:gd fmla="val 16667" name="adj"/>
            </a:avLst>
          </a:prstGeom>
          <a:solidFill>
            <a:srgbClr val="FFFFFF">
              <a:alpha val="683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3"/>
          <p:cNvSpPr/>
          <p:nvPr/>
        </p:nvSpPr>
        <p:spPr>
          <a:xfrm>
            <a:off x="6147700" y="2328200"/>
            <a:ext cx="2458800" cy="1583400"/>
          </a:xfrm>
          <a:prstGeom prst="roundRect">
            <a:avLst>
              <a:gd fmla="val 16667" name="adj"/>
            </a:avLst>
          </a:prstGeom>
          <a:solidFill>
            <a:srgbClr val="FFFFFF">
              <a:alpha val="683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3"/>
          <p:cNvSpPr/>
          <p:nvPr/>
        </p:nvSpPr>
        <p:spPr>
          <a:xfrm>
            <a:off x="3493625" y="3111225"/>
            <a:ext cx="2111400" cy="759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1" name="Google Shape;1591;p133"/>
          <p:cNvCxnSpPr>
            <a:endCxn id="1590" idx="2"/>
          </p:cNvCxnSpPr>
          <p:nvPr/>
        </p:nvCxnSpPr>
        <p:spPr>
          <a:xfrm>
            <a:off x="886925" y="1150875"/>
            <a:ext cx="2606700" cy="234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4"/>
          <p:cNvSpPr/>
          <p:nvPr/>
        </p:nvSpPr>
        <p:spPr>
          <a:xfrm>
            <a:off x="3041225" y="2448775"/>
            <a:ext cx="3005400" cy="447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598" name="Google Shape;1598;p134"/>
          <p:cNvSpPr txBox="1"/>
          <p:nvPr/>
        </p:nvSpPr>
        <p:spPr>
          <a:xfrm>
            <a:off x="3151200" y="2399400"/>
            <a:ext cx="2841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57 300 000 000 000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4"/>
          <p:cNvSpPr txBox="1"/>
          <p:nvPr/>
        </p:nvSpPr>
        <p:spPr>
          <a:xfrm>
            <a:off x="3745200" y="3247600"/>
            <a:ext cx="165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5.73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34"/>
          <p:cNvSpPr/>
          <p:nvPr/>
        </p:nvSpPr>
        <p:spPr>
          <a:xfrm>
            <a:off x="3493625" y="3111225"/>
            <a:ext cx="2111400" cy="7593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4"/>
          <p:cNvSpPr txBox="1"/>
          <p:nvPr>
            <p:ph idx="1" type="body"/>
          </p:nvPr>
        </p:nvSpPr>
        <p:spPr>
          <a:xfrm>
            <a:off x="324000" y="759300"/>
            <a:ext cx="7661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</a:t>
            </a:r>
            <a:r>
              <a:rPr b="1" lang="en-GB"/>
              <a:t>tandard form</a:t>
            </a:r>
            <a:r>
              <a:rPr lang="en-GB"/>
              <a:t> </a:t>
            </a:r>
            <a:r>
              <a:rPr lang="en-GB">
                <a:solidFill>
                  <a:srgbClr val="282828"/>
                </a:solidFill>
              </a:rPr>
              <a:t>is when a number is written in </a:t>
            </a:r>
            <a:r>
              <a:rPr lang="en-GB"/>
              <a:t>the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, (where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an integer).</a:t>
            </a:r>
            <a:endParaRPr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large numbers in standard 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35"/>
          <p:cNvSpPr txBox="1"/>
          <p:nvPr>
            <p:ph idx="1" type="body"/>
          </p:nvPr>
        </p:nvSpPr>
        <p:spPr>
          <a:xfrm>
            <a:off x="324000" y="759300"/>
            <a:ext cx="8372700" cy="18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Why do you think writing a number in </a:t>
            </a:r>
            <a:r>
              <a:rPr b="1" lang="en-GB" sz="2100"/>
              <a:t>standard form</a:t>
            </a:r>
            <a:r>
              <a:rPr lang="en-GB" sz="2100"/>
              <a:t> might be useful?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For example,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680 000 000 000 = 6.8 × 10</a:t>
            </a:r>
            <a:r>
              <a:rPr baseline="30000" lang="en-GB" sz="2100"/>
              <a:t>11</a:t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608" name="Google Shape;1608;p135"/>
          <p:cNvCxnSpPr/>
          <p:nvPr/>
        </p:nvCxnSpPr>
        <p:spPr>
          <a:xfrm flipH="1">
            <a:off x="2149175" y="2533350"/>
            <a:ext cx="927000" cy="57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135"/>
          <p:cNvSpPr txBox="1"/>
          <p:nvPr/>
        </p:nvSpPr>
        <p:spPr>
          <a:xfrm>
            <a:off x="1249600" y="3060425"/>
            <a:ext cx="1308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Takes so long to write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0" name="Google Shape;1610;p135"/>
          <p:cNvCxnSpPr/>
          <p:nvPr/>
        </p:nvCxnSpPr>
        <p:spPr>
          <a:xfrm>
            <a:off x="5686750" y="2533350"/>
            <a:ext cx="797100" cy="66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135"/>
          <p:cNvSpPr txBox="1"/>
          <p:nvPr/>
        </p:nvSpPr>
        <p:spPr>
          <a:xfrm>
            <a:off x="6422825" y="3212550"/>
            <a:ext cx="1308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Shorter and concise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2" name="Google Shape;1612;p135"/>
          <p:cNvCxnSpPr/>
          <p:nvPr/>
        </p:nvCxnSpPr>
        <p:spPr>
          <a:xfrm>
            <a:off x="4039675" y="2499150"/>
            <a:ext cx="165600" cy="64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135"/>
          <p:cNvSpPr txBox="1"/>
          <p:nvPr/>
        </p:nvSpPr>
        <p:spPr>
          <a:xfrm>
            <a:off x="3449963" y="3105750"/>
            <a:ext cx="1863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Possibility of making errors when copying all the digits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5"/>
          <p:cNvSpPr txBox="1"/>
          <p:nvPr/>
        </p:nvSpPr>
        <p:spPr>
          <a:xfrm>
            <a:off x="6816325" y="1284675"/>
            <a:ext cx="1640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 of number is not lost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5" name="Google Shape;1615;p135"/>
          <p:cNvCxnSpPr/>
          <p:nvPr/>
        </p:nvCxnSpPr>
        <p:spPr>
          <a:xfrm flipH="1" rot="10800000">
            <a:off x="5848050" y="1739175"/>
            <a:ext cx="817500" cy="34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3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written in correct </a:t>
            </a:r>
            <a:r>
              <a:rPr b="1" lang="en-GB"/>
              <a:t>standard form</a:t>
            </a:r>
            <a:r>
              <a:rPr lang="en-GB"/>
              <a:t>? Explain why the others are incorrectly written.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large numbers in standard 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2" name="Google Shape;1622;p136"/>
          <p:cNvGrpSpPr/>
          <p:nvPr/>
        </p:nvGrpSpPr>
        <p:grpSpPr>
          <a:xfrm>
            <a:off x="370516" y="1668725"/>
            <a:ext cx="457200" cy="457200"/>
            <a:chOff x="1020916" y="1442088"/>
            <a:chExt cx="457200" cy="457200"/>
          </a:xfrm>
        </p:grpSpPr>
        <p:pic>
          <p:nvPicPr>
            <p:cNvPr id="1623" name="Google Shape;1623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4" name="Google Shape;1624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5" name="Google Shape;1625;p136"/>
          <p:cNvGrpSpPr/>
          <p:nvPr/>
        </p:nvGrpSpPr>
        <p:grpSpPr>
          <a:xfrm>
            <a:off x="370516" y="2437703"/>
            <a:ext cx="457200" cy="457200"/>
            <a:chOff x="1020916" y="1442088"/>
            <a:chExt cx="457200" cy="457200"/>
          </a:xfrm>
        </p:grpSpPr>
        <p:pic>
          <p:nvPicPr>
            <p:cNvPr id="1626" name="Google Shape;1626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7" name="Google Shape;1627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8" name="Google Shape;1628;p136"/>
          <p:cNvGrpSpPr/>
          <p:nvPr/>
        </p:nvGrpSpPr>
        <p:grpSpPr>
          <a:xfrm>
            <a:off x="370516" y="3206681"/>
            <a:ext cx="457200" cy="457200"/>
            <a:chOff x="1020916" y="1442088"/>
            <a:chExt cx="457200" cy="457200"/>
          </a:xfrm>
        </p:grpSpPr>
        <p:pic>
          <p:nvPicPr>
            <p:cNvPr id="1629" name="Google Shape;1629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1" name="Google Shape;1631;p136"/>
          <p:cNvGrpSpPr/>
          <p:nvPr/>
        </p:nvGrpSpPr>
        <p:grpSpPr>
          <a:xfrm>
            <a:off x="370516" y="3975659"/>
            <a:ext cx="457200" cy="457200"/>
            <a:chOff x="1020916" y="1442088"/>
            <a:chExt cx="457200" cy="457200"/>
          </a:xfrm>
        </p:grpSpPr>
        <p:pic>
          <p:nvPicPr>
            <p:cNvPr id="1632" name="Google Shape;1632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4" name="Google Shape;1634;p136"/>
          <p:cNvSpPr txBox="1"/>
          <p:nvPr/>
        </p:nvSpPr>
        <p:spPr>
          <a:xfrm>
            <a:off x="938800" y="16357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9.8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1635" name="Google Shape;1635;p136"/>
          <p:cNvSpPr txBox="1"/>
          <p:nvPr/>
        </p:nvSpPr>
        <p:spPr>
          <a:xfrm>
            <a:off x="938800" y="2430031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89.2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/>
          </a:p>
        </p:txBody>
      </p:sp>
      <p:sp>
        <p:nvSpPr>
          <p:cNvPr id="1636" name="Google Shape;1636;p136"/>
          <p:cNvSpPr txBox="1"/>
          <p:nvPr/>
        </p:nvSpPr>
        <p:spPr>
          <a:xfrm>
            <a:off x="862600" y="322433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0.016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/>
          </a:p>
        </p:txBody>
      </p:sp>
      <p:sp>
        <p:nvSpPr>
          <p:cNvPr id="1637" name="Google Shape;1637;p136"/>
          <p:cNvSpPr txBox="1"/>
          <p:nvPr/>
        </p:nvSpPr>
        <p:spPr>
          <a:xfrm>
            <a:off x="862600" y="4018644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1.2456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638" name="Google Shape;1638;p136"/>
          <p:cNvSpPr txBox="1"/>
          <p:nvPr/>
        </p:nvSpPr>
        <p:spPr>
          <a:xfrm>
            <a:off x="2887200" y="1635725"/>
            <a:ext cx="50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 correct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9" name="Google Shape;1639;p136"/>
          <p:cNvSpPr txBox="1"/>
          <p:nvPr/>
        </p:nvSpPr>
        <p:spPr>
          <a:xfrm>
            <a:off x="2887200" y="2395775"/>
            <a:ext cx="601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the number 89.2 &gt; 10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0" name="Google Shape;1640;p136"/>
          <p:cNvSpPr txBox="1"/>
          <p:nvPr/>
        </p:nvSpPr>
        <p:spPr>
          <a:xfrm>
            <a:off x="2887200" y="3155813"/>
            <a:ext cx="601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0.016 &lt; 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1" name="Google Shape;1641;p136"/>
          <p:cNvSpPr txBox="1"/>
          <p:nvPr/>
        </p:nvSpPr>
        <p:spPr>
          <a:xfrm>
            <a:off x="2994925" y="3975650"/>
            <a:ext cx="50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 correct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42" name="Google Shape;164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933" y="1595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933" y="3978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649" name="Google Shape;1649;p137"/>
          <p:cNvSpPr txBox="1"/>
          <p:nvPr>
            <p:ph idx="1" type="body"/>
          </p:nvPr>
        </p:nvSpPr>
        <p:spPr>
          <a:xfrm>
            <a:off x="2857600" y="1476075"/>
            <a:ext cx="5697600" cy="19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distance from the Earth to the Sun is approximately 150 billion metres.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use a place value chart to show what this number would look like.</a:t>
            </a:r>
            <a:endParaRPr/>
          </a:p>
        </p:txBody>
      </p:sp>
      <p:pic>
        <p:nvPicPr>
          <p:cNvPr id="1650" name="Google Shape;1650;p137"/>
          <p:cNvPicPr preferRelativeResize="0"/>
          <p:nvPr/>
        </p:nvPicPr>
        <p:blipFill rotWithShape="1">
          <a:blip r:embed="rId3">
            <a:alphaModFix/>
          </a:blip>
          <a:srcRect b="0" l="0" r="71524" t="0"/>
          <a:stretch/>
        </p:blipFill>
        <p:spPr>
          <a:xfrm>
            <a:off x="262350" y="714075"/>
            <a:ext cx="2334925" cy="27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925" y="1776600"/>
            <a:ext cx="855100" cy="5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graphicFrame>
        <p:nvGraphicFramePr>
          <p:cNvPr id="1657" name="Google Shape;1657;p138"/>
          <p:cNvGraphicFramePr/>
          <p:nvPr/>
        </p:nvGraphicFramePr>
        <p:xfrm>
          <a:off x="4838703" y="1481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6375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8" name="Google Shape;1658;p138"/>
          <p:cNvSpPr txBox="1"/>
          <p:nvPr/>
        </p:nvSpPr>
        <p:spPr>
          <a:xfrm>
            <a:off x="6657881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38"/>
          <p:cNvSpPr txBox="1"/>
          <p:nvPr/>
        </p:nvSpPr>
        <p:spPr>
          <a:xfrm>
            <a:off x="7308905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8"/>
          <p:cNvSpPr txBox="1"/>
          <p:nvPr/>
        </p:nvSpPr>
        <p:spPr>
          <a:xfrm>
            <a:off x="6072009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38"/>
          <p:cNvSpPr txBox="1"/>
          <p:nvPr/>
        </p:nvSpPr>
        <p:spPr>
          <a:xfrm>
            <a:off x="537236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8"/>
          <p:cNvSpPr txBox="1"/>
          <p:nvPr/>
        </p:nvSpPr>
        <p:spPr>
          <a:xfrm>
            <a:off x="670420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8"/>
          <p:cNvSpPr txBox="1"/>
          <p:nvPr/>
        </p:nvSpPr>
        <p:spPr>
          <a:xfrm>
            <a:off x="735048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8"/>
          <p:cNvSpPr txBox="1"/>
          <p:nvPr/>
        </p:nvSpPr>
        <p:spPr>
          <a:xfrm>
            <a:off x="541164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8"/>
          <p:cNvSpPr txBox="1"/>
          <p:nvPr/>
        </p:nvSpPr>
        <p:spPr>
          <a:xfrm>
            <a:off x="605792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8"/>
          <p:cNvSpPr txBox="1"/>
          <p:nvPr/>
        </p:nvSpPr>
        <p:spPr>
          <a:xfrm>
            <a:off x="7923828" y="1454163"/>
            <a:ext cx="8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8"/>
          <p:cNvSpPr txBox="1"/>
          <p:nvPr/>
        </p:nvSpPr>
        <p:spPr>
          <a:xfrm>
            <a:off x="799676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8"/>
          <p:cNvSpPr txBox="1"/>
          <p:nvPr/>
        </p:nvSpPr>
        <p:spPr>
          <a:xfrm>
            <a:off x="471134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8"/>
          <p:cNvSpPr txBox="1"/>
          <p:nvPr/>
        </p:nvSpPr>
        <p:spPr>
          <a:xfrm>
            <a:off x="476011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0" name="Google Shape;1670;p138"/>
          <p:cNvGraphicFramePr/>
          <p:nvPr/>
        </p:nvGraphicFramePr>
        <p:xfrm>
          <a:off x="984920" y="148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1" name="Google Shape;1671;p138"/>
          <p:cNvSpPr txBox="1"/>
          <p:nvPr/>
        </p:nvSpPr>
        <p:spPr>
          <a:xfrm>
            <a:off x="3457481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8"/>
          <p:cNvSpPr txBox="1"/>
          <p:nvPr/>
        </p:nvSpPr>
        <p:spPr>
          <a:xfrm>
            <a:off x="4108505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8"/>
          <p:cNvSpPr txBox="1"/>
          <p:nvPr/>
        </p:nvSpPr>
        <p:spPr>
          <a:xfrm>
            <a:off x="2816789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8"/>
          <p:cNvSpPr txBox="1"/>
          <p:nvPr/>
        </p:nvSpPr>
        <p:spPr>
          <a:xfrm>
            <a:off x="217196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8"/>
          <p:cNvSpPr txBox="1"/>
          <p:nvPr/>
        </p:nvSpPr>
        <p:spPr>
          <a:xfrm>
            <a:off x="151094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8"/>
          <p:cNvSpPr txBox="1"/>
          <p:nvPr/>
        </p:nvSpPr>
        <p:spPr>
          <a:xfrm>
            <a:off x="82514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7" name="Google Shape;1677;p138"/>
          <p:cNvGraphicFramePr/>
          <p:nvPr/>
        </p:nvGraphicFramePr>
        <p:xfrm>
          <a:off x="342620" y="1481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8" name="Google Shape;1678;p138"/>
          <p:cNvSpPr txBox="1"/>
          <p:nvPr/>
        </p:nvSpPr>
        <p:spPr>
          <a:xfrm>
            <a:off x="21554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9" name="Google Shape;1679;p138"/>
          <p:cNvPicPr preferRelativeResize="0"/>
          <p:nvPr/>
        </p:nvPicPr>
        <p:blipFill rotWithShape="1">
          <a:blip r:embed="rId3">
            <a:alphaModFix/>
          </a:blip>
          <a:srcRect b="0" l="0" r="71524" t="0"/>
          <a:stretch/>
        </p:blipFill>
        <p:spPr>
          <a:xfrm>
            <a:off x="447375" y="3027625"/>
            <a:ext cx="2334925" cy="179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50" y="3724008"/>
            <a:ext cx="855100" cy="37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38"/>
          <p:cNvSpPr txBox="1"/>
          <p:nvPr>
            <p:ph idx="1" type="body"/>
          </p:nvPr>
        </p:nvSpPr>
        <p:spPr>
          <a:xfrm>
            <a:off x="2911825" y="3027625"/>
            <a:ext cx="5650200" cy="7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Inserting the number in the place value chart,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you think it is in </a:t>
            </a:r>
            <a:r>
              <a:rPr b="1" lang="en-GB"/>
              <a:t>standard form</a:t>
            </a:r>
            <a:r>
              <a:rPr lang="en-GB"/>
              <a:t>?</a:t>
            </a:r>
            <a:endParaRPr/>
          </a:p>
        </p:txBody>
      </p:sp>
      <p:sp>
        <p:nvSpPr>
          <p:cNvPr id="1682" name="Google Shape;1682;p138"/>
          <p:cNvSpPr txBox="1"/>
          <p:nvPr>
            <p:ph idx="1" type="body"/>
          </p:nvPr>
        </p:nvSpPr>
        <p:spPr>
          <a:xfrm>
            <a:off x="316326" y="722325"/>
            <a:ext cx="8518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distance from the Earth to the Sun is </a:t>
            </a:r>
            <a:r>
              <a:rPr lang="en-GB" sz="2100">
                <a:solidFill>
                  <a:schemeClr val="accent4"/>
                </a:solidFill>
              </a:rPr>
              <a:t>approximately 150 billion metres.</a:t>
            </a:r>
            <a:r>
              <a:rPr lang="en-GB" sz="2100"/>
              <a:t> </a:t>
            </a:r>
            <a:endParaRPr sz="2400"/>
          </a:p>
        </p:txBody>
      </p:sp>
      <p:sp>
        <p:nvSpPr>
          <p:cNvPr id="1683" name="Google Shape;1683;p138"/>
          <p:cNvSpPr txBox="1"/>
          <p:nvPr/>
        </p:nvSpPr>
        <p:spPr>
          <a:xfrm>
            <a:off x="3476392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38"/>
          <p:cNvSpPr txBox="1"/>
          <p:nvPr/>
        </p:nvSpPr>
        <p:spPr>
          <a:xfrm>
            <a:off x="4122672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38"/>
          <p:cNvSpPr txBox="1"/>
          <p:nvPr/>
        </p:nvSpPr>
        <p:spPr>
          <a:xfrm>
            <a:off x="2183832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38"/>
          <p:cNvSpPr txBox="1"/>
          <p:nvPr/>
        </p:nvSpPr>
        <p:spPr>
          <a:xfrm>
            <a:off x="2830112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38"/>
          <p:cNvSpPr txBox="1"/>
          <p:nvPr/>
        </p:nvSpPr>
        <p:spPr>
          <a:xfrm>
            <a:off x="153230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38"/>
          <p:cNvSpPr txBox="1"/>
          <p:nvPr/>
        </p:nvSpPr>
        <p:spPr>
          <a:xfrm>
            <a:off x="888432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38"/>
          <p:cNvSpPr txBox="1"/>
          <p:nvPr/>
        </p:nvSpPr>
        <p:spPr>
          <a:xfrm>
            <a:off x="23690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38"/>
          <p:cNvSpPr txBox="1"/>
          <p:nvPr/>
        </p:nvSpPr>
        <p:spPr>
          <a:xfrm>
            <a:off x="417790" y="23677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1      5      0      0      0      0      0      0       0      0     0      0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38"/>
          <p:cNvSpPr/>
          <p:nvPr/>
        </p:nvSpPr>
        <p:spPr>
          <a:xfrm>
            <a:off x="7987492" y="25302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graphicFrame>
        <p:nvGraphicFramePr>
          <p:cNvPr id="1697" name="Google Shape;1697;p139"/>
          <p:cNvGraphicFramePr/>
          <p:nvPr/>
        </p:nvGraphicFramePr>
        <p:xfrm>
          <a:off x="4839163" y="1481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6375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8" name="Google Shape;1698;p139"/>
          <p:cNvSpPr txBox="1"/>
          <p:nvPr/>
        </p:nvSpPr>
        <p:spPr>
          <a:xfrm>
            <a:off x="665834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39"/>
          <p:cNvSpPr txBox="1"/>
          <p:nvPr/>
        </p:nvSpPr>
        <p:spPr>
          <a:xfrm>
            <a:off x="7309365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39"/>
          <p:cNvSpPr txBox="1"/>
          <p:nvPr/>
        </p:nvSpPr>
        <p:spPr>
          <a:xfrm>
            <a:off x="6072469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39"/>
          <p:cNvSpPr txBox="1"/>
          <p:nvPr/>
        </p:nvSpPr>
        <p:spPr>
          <a:xfrm>
            <a:off x="537282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39"/>
          <p:cNvSpPr txBox="1"/>
          <p:nvPr/>
        </p:nvSpPr>
        <p:spPr>
          <a:xfrm>
            <a:off x="670466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39"/>
          <p:cNvSpPr txBox="1"/>
          <p:nvPr/>
        </p:nvSpPr>
        <p:spPr>
          <a:xfrm>
            <a:off x="735094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39"/>
          <p:cNvSpPr txBox="1"/>
          <p:nvPr/>
        </p:nvSpPr>
        <p:spPr>
          <a:xfrm>
            <a:off x="541210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39"/>
          <p:cNvSpPr txBox="1"/>
          <p:nvPr/>
        </p:nvSpPr>
        <p:spPr>
          <a:xfrm>
            <a:off x="605838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39"/>
          <p:cNvSpPr txBox="1"/>
          <p:nvPr/>
        </p:nvSpPr>
        <p:spPr>
          <a:xfrm>
            <a:off x="7924288" y="1454163"/>
            <a:ext cx="8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39"/>
          <p:cNvSpPr txBox="1"/>
          <p:nvPr/>
        </p:nvSpPr>
        <p:spPr>
          <a:xfrm>
            <a:off x="799722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9"/>
          <p:cNvSpPr txBox="1"/>
          <p:nvPr/>
        </p:nvSpPr>
        <p:spPr>
          <a:xfrm>
            <a:off x="471180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39"/>
          <p:cNvSpPr txBox="1"/>
          <p:nvPr/>
        </p:nvSpPr>
        <p:spPr>
          <a:xfrm>
            <a:off x="476057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10" name="Google Shape;1710;p139"/>
          <p:cNvGraphicFramePr/>
          <p:nvPr/>
        </p:nvGraphicFramePr>
        <p:xfrm>
          <a:off x="985380" y="148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1" name="Google Shape;1711;p139"/>
          <p:cNvSpPr txBox="1"/>
          <p:nvPr/>
        </p:nvSpPr>
        <p:spPr>
          <a:xfrm>
            <a:off x="345794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39"/>
          <p:cNvSpPr txBox="1"/>
          <p:nvPr/>
        </p:nvSpPr>
        <p:spPr>
          <a:xfrm>
            <a:off x="4108965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39"/>
          <p:cNvSpPr txBox="1"/>
          <p:nvPr/>
        </p:nvSpPr>
        <p:spPr>
          <a:xfrm>
            <a:off x="2817249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39"/>
          <p:cNvSpPr txBox="1"/>
          <p:nvPr/>
        </p:nvSpPr>
        <p:spPr>
          <a:xfrm>
            <a:off x="2172422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39"/>
          <p:cNvSpPr txBox="1"/>
          <p:nvPr/>
        </p:nvSpPr>
        <p:spPr>
          <a:xfrm>
            <a:off x="151140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39"/>
          <p:cNvSpPr txBox="1"/>
          <p:nvPr/>
        </p:nvSpPr>
        <p:spPr>
          <a:xfrm>
            <a:off x="82560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17" name="Google Shape;1717;p139"/>
          <p:cNvGraphicFramePr/>
          <p:nvPr/>
        </p:nvGraphicFramePr>
        <p:xfrm>
          <a:off x="343080" y="1481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8" name="Google Shape;1718;p139"/>
          <p:cNvSpPr txBox="1"/>
          <p:nvPr/>
        </p:nvSpPr>
        <p:spPr>
          <a:xfrm>
            <a:off x="216000" y="14541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9" name="Google Shape;1719;p139"/>
          <p:cNvPicPr preferRelativeResize="0"/>
          <p:nvPr/>
        </p:nvPicPr>
        <p:blipFill rotWithShape="1">
          <a:blip r:embed="rId3">
            <a:alphaModFix/>
          </a:blip>
          <a:srcRect b="0" l="0" r="71524" t="0"/>
          <a:stretch/>
        </p:blipFill>
        <p:spPr>
          <a:xfrm>
            <a:off x="447375" y="3027625"/>
            <a:ext cx="2334925" cy="179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50" y="3724008"/>
            <a:ext cx="855100" cy="37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3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it in </a:t>
            </a:r>
            <a:r>
              <a:rPr b="1" lang="en-GB"/>
              <a:t>standard form </a:t>
            </a:r>
            <a:r>
              <a:rPr lang="en-GB"/>
              <a:t>gives 1.5 </a:t>
            </a:r>
            <a:r>
              <a:rPr lang="en-GB" sz="2100"/>
              <a:t>× 10</a:t>
            </a:r>
            <a:r>
              <a:rPr baseline="30000" lang="en-GB" sz="2100"/>
              <a:t>11</a:t>
            </a:r>
            <a:r>
              <a:rPr baseline="30000" lang="en-GB"/>
              <a:t> </a:t>
            </a:r>
            <a:endParaRPr baseline="30000"/>
          </a:p>
        </p:txBody>
      </p:sp>
      <p:sp>
        <p:nvSpPr>
          <p:cNvPr id="1722" name="Google Shape;1722;p139"/>
          <p:cNvSpPr txBox="1"/>
          <p:nvPr>
            <p:ph idx="1" type="body"/>
          </p:nvPr>
        </p:nvSpPr>
        <p:spPr>
          <a:xfrm>
            <a:off x="2925600" y="3027625"/>
            <a:ext cx="5697600" cy="19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distance from the Earth to the Sun is approximately 150 billion metres.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39"/>
          <p:cNvSpPr txBox="1"/>
          <p:nvPr/>
        </p:nvSpPr>
        <p:spPr>
          <a:xfrm>
            <a:off x="347685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39"/>
          <p:cNvSpPr txBox="1"/>
          <p:nvPr/>
        </p:nvSpPr>
        <p:spPr>
          <a:xfrm>
            <a:off x="412313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39"/>
          <p:cNvSpPr txBox="1"/>
          <p:nvPr/>
        </p:nvSpPr>
        <p:spPr>
          <a:xfrm>
            <a:off x="218429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39"/>
          <p:cNvSpPr txBox="1"/>
          <p:nvPr/>
        </p:nvSpPr>
        <p:spPr>
          <a:xfrm>
            <a:off x="283057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39"/>
          <p:cNvSpPr txBox="1"/>
          <p:nvPr/>
        </p:nvSpPr>
        <p:spPr>
          <a:xfrm>
            <a:off x="153276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39"/>
          <p:cNvSpPr txBox="1"/>
          <p:nvPr/>
        </p:nvSpPr>
        <p:spPr>
          <a:xfrm>
            <a:off x="888893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39"/>
          <p:cNvSpPr txBox="1"/>
          <p:nvPr/>
        </p:nvSpPr>
        <p:spPr>
          <a:xfrm>
            <a:off x="237368" y="19165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39"/>
          <p:cNvSpPr txBox="1"/>
          <p:nvPr/>
        </p:nvSpPr>
        <p:spPr>
          <a:xfrm>
            <a:off x="418250" y="23677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1      5      0      0      0      0      0      0       0      0     0      0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39"/>
          <p:cNvSpPr/>
          <p:nvPr/>
        </p:nvSpPr>
        <p:spPr>
          <a:xfrm>
            <a:off x="7987952" y="25302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40"/>
          <p:cNvSpPr txBox="1"/>
          <p:nvPr>
            <p:ph idx="1" type="body"/>
          </p:nvPr>
        </p:nvSpPr>
        <p:spPr>
          <a:xfrm>
            <a:off x="324000" y="759300"/>
            <a:ext cx="8482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place value chart is an excellent way to visualise the number and convert to </a:t>
            </a:r>
            <a:r>
              <a:rPr b="1" lang="en-GB"/>
              <a:t>standard form</a:t>
            </a:r>
            <a:r>
              <a:rPr lang="en-GB"/>
              <a:t>, but it does take time.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see if we can find a way without the place value chart.</a:t>
            </a:r>
            <a:endParaRPr/>
          </a:p>
        </p:txBody>
      </p:sp>
      <p:sp>
        <p:nvSpPr>
          <p:cNvPr id="1737" name="Google Shape;1737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graphicFrame>
        <p:nvGraphicFramePr>
          <p:cNvPr id="1738" name="Google Shape;1738;p140"/>
          <p:cNvGraphicFramePr/>
          <p:nvPr/>
        </p:nvGraphicFramePr>
        <p:xfrm>
          <a:off x="4823738" y="2166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6375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9" name="Google Shape;1739;p140"/>
          <p:cNvSpPr txBox="1"/>
          <p:nvPr/>
        </p:nvSpPr>
        <p:spPr>
          <a:xfrm>
            <a:off x="6642916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0"/>
          <p:cNvSpPr txBox="1"/>
          <p:nvPr/>
        </p:nvSpPr>
        <p:spPr>
          <a:xfrm>
            <a:off x="7293940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0"/>
          <p:cNvSpPr txBox="1"/>
          <p:nvPr/>
        </p:nvSpPr>
        <p:spPr>
          <a:xfrm>
            <a:off x="6057044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0"/>
          <p:cNvSpPr txBox="1"/>
          <p:nvPr/>
        </p:nvSpPr>
        <p:spPr>
          <a:xfrm>
            <a:off x="5357397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0"/>
          <p:cNvSpPr txBox="1"/>
          <p:nvPr/>
        </p:nvSpPr>
        <p:spPr>
          <a:xfrm>
            <a:off x="668923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40"/>
          <p:cNvSpPr txBox="1"/>
          <p:nvPr/>
        </p:nvSpPr>
        <p:spPr>
          <a:xfrm>
            <a:off x="733551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40"/>
          <p:cNvSpPr txBox="1"/>
          <p:nvPr/>
        </p:nvSpPr>
        <p:spPr>
          <a:xfrm>
            <a:off x="539667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0"/>
          <p:cNvSpPr txBox="1"/>
          <p:nvPr/>
        </p:nvSpPr>
        <p:spPr>
          <a:xfrm>
            <a:off x="604295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0"/>
          <p:cNvSpPr txBox="1"/>
          <p:nvPr/>
        </p:nvSpPr>
        <p:spPr>
          <a:xfrm>
            <a:off x="7908863" y="2139963"/>
            <a:ext cx="8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40"/>
          <p:cNvSpPr txBox="1"/>
          <p:nvPr/>
        </p:nvSpPr>
        <p:spPr>
          <a:xfrm>
            <a:off x="798179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40"/>
          <p:cNvSpPr txBox="1"/>
          <p:nvPr/>
        </p:nvSpPr>
        <p:spPr>
          <a:xfrm>
            <a:off x="46963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0"/>
          <p:cNvSpPr txBox="1"/>
          <p:nvPr/>
        </p:nvSpPr>
        <p:spPr>
          <a:xfrm>
            <a:off x="4745153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1" name="Google Shape;1751;p140"/>
          <p:cNvGraphicFramePr/>
          <p:nvPr/>
        </p:nvGraphicFramePr>
        <p:xfrm>
          <a:off x="969955" y="2167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2" name="Google Shape;1752;p140"/>
          <p:cNvSpPr txBox="1"/>
          <p:nvPr/>
        </p:nvSpPr>
        <p:spPr>
          <a:xfrm>
            <a:off x="3442516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40"/>
          <p:cNvSpPr txBox="1"/>
          <p:nvPr/>
        </p:nvSpPr>
        <p:spPr>
          <a:xfrm>
            <a:off x="4093540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40"/>
          <p:cNvSpPr txBox="1"/>
          <p:nvPr/>
        </p:nvSpPr>
        <p:spPr>
          <a:xfrm>
            <a:off x="2801824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0"/>
          <p:cNvSpPr txBox="1"/>
          <p:nvPr/>
        </p:nvSpPr>
        <p:spPr>
          <a:xfrm>
            <a:off x="2156997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0"/>
          <p:cNvSpPr txBox="1"/>
          <p:nvPr/>
        </p:nvSpPr>
        <p:spPr>
          <a:xfrm>
            <a:off x="14959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40"/>
          <p:cNvSpPr txBox="1"/>
          <p:nvPr/>
        </p:nvSpPr>
        <p:spPr>
          <a:xfrm>
            <a:off x="8101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8" name="Google Shape;1758;p140"/>
          <p:cNvGraphicFramePr/>
          <p:nvPr/>
        </p:nvGraphicFramePr>
        <p:xfrm>
          <a:off x="327655" y="2166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9" name="Google Shape;1759;p140"/>
          <p:cNvSpPr txBox="1"/>
          <p:nvPr/>
        </p:nvSpPr>
        <p:spPr>
          <a:xfrm>
            <a:off x="2005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40"/>
          <p:cNvSpPr txBox="1"/>
          <p:nvPr/>
        </p:nvSpPr>
        <p:spPr>
          <a:xfrm>
            <a:off x="346142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40"/>
          <p:cNvSpPr txBox="1"/>
          <p:nvPr/>
        </p:nvSpPr>
        <p:spPr>
          <a:xfrm>
            <a:off x="410770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40"/>
          <p:cNvSpPr txBox="1"/>
          <p:nvPr/>
        </p:nvSpPr>
        <p:spPr>
          <a:xfrm>
            <a:off x="216886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0"/>
          <p:cNvSpPr txBox="1"/>
          <p:nvPr/>
        </p:nvSpPr>
        <p:spPr>
          <a:xfrm>
            <a:off x="281514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40"/>
          <p:cNvSpPr txBox="1"/>
          <p:nvPr/>
        </p:nvSpPr>
        <p:spPr>
          <a:xfrm>
            <a:off x="1517342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40"/>
          <p:cNvSpPr txBox="1"/>
          <p:nvPr/>
        </p:nvSpPr>
        <p:spPr>
          <a:xfrm>
            <a:off x="87346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40"/>
          <p:cNvSpPr txBox="1"/>
          <p:nvPr/>
        </p:nvSpPr>
        <p:spPr>
          <a:xfrm>
            <a:off x="221942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40"/>
          <p:cNvSpPr txBox="1"/>
          <p:nvPr/>
        </p:nvSpPr>
        <p:spPr>
          <a:xfrm>
            <a:off x="402825" y="30535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1      5      0      0      0      0      0      0       0      0     0      0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40"/>
          <p:cNvSpPr/>
          <p:nvPr/>
        </p:nvSpPr>
        <p:spPr>
          <a:xfrm>
            <a:off x="7972527" y="32160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4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first significant figure goes in the </a:t>
            </a:r>
            <a:r>
              <a:rPr lang="en-GB"/>
              <a:t>ones column and the other digits accordingly.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do we multiply 1.5 by to give 150 billion?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774" name="Google Shape;1774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graphicFrame>
        <p:nvGraphicFramePr>
          <p:cNvPr id="1775" name="Google Shape;1775;p141"/>
          <p:cNvGraphicFramePr/>
          <p:nvPr/>
        </p:nvGraphicFramePr>
        <p:xfrm>
          <a:off x="4823738" y="2166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6375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6" name="Google Shape;1776;p141"/>
          <p:cNvSpPr txBox="1"/>
          <p:nvPr/>
        </p:nvSpPr>
        <p:spPr>
          <a:xfrm>
            <a:off x="6642916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41"/>
          <p:cNvSpPr txBox="1"/>
          <p:nvPr/>
        </p:nvSpPr>
        <p:spPr>
          <a:xfrm>
            <a:off x="7293940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41"/>
          <p:cNvSpPr txBox="1"/>
          <p:nvPr/>
        </p:nvSpPr>
        <p:spPr>
          <a:xfrm>
            <a:off x="6057044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41"/>
          <p:cNvSpPr txBox="1"/>
          <p:nvPr/>
        </p:nvSpPr>
        <p:spPr>
          <a:xfrm>
            <a:off x="5357397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41"/>
          <p:cNvSpPr txBox="1"/>
          <p:nvPr/>
        </p:nvSpPr>
        <p:spPr>
          <a:xfrm>
            <a:off x="668923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41"/>
          <p:cNvSpPr txBox="1"/>
          <p:nvPr/>
        </p:nvSpPr>
        <p:spPr>
          <a:xfrm>
            <a:off x="733551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41"/>
          <p:cNvSpPr txBox="1"/>
          <p:nvPr/>
        </p:nvSpPr>
        <p:spPr>
          <a:xfrm>
            <a:off x="539667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41"/>
          <p:cNvSpPr txBox="1"/>
          <p:nvPr/>
        </p:nvSpPr>
        <p:spPr>
          <a:xfrm>
            <a:off x="604295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41"/>
          <p:cNvSpPr txBox="1"/>
          <p:nvPr/>
        </p:nvSpPr>
        <p:spPr>
          <a:xfrm>
            <a:off x="7908863" y="2139963"/>
            <a:ext cx="89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41"/>
          <p:cNvSpPr txBox="1"/>
          <p:nvPr/>
        </p:nvSpPr>
        <p:spPr>
          <a:xfrm>
            <a:off x="798179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-1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41"/>
          <p:cNvSpPr txBox="1"/>
          <p:nvPr/>
        </p:nvSpPr>
        <p:spPr>
          <a:xfrm>
            <a:off x="46963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41"/>
          <p:cNvSpPr txBox="1"/>
          <p:nvPr/>
        </p:nvSpPr>
        <p:spPr>
          <a:xfrm>
            <a:off x="4745153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8" name="Google Shape;1788;p141"/>
          <p:cNvGraphicFramePr/>
          <p:nvPr/>
        </p:nvGraphicFramePr>
        <p:xfrm>
          <a:off x="969955" y="2167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9" name="Google Shape;1789;p141"/>
          <p:cNvSpPr txBox="1"/>
          <p:nvPr/>
        </p:nvSpPr>
        <p:spPr>
          <a:xfrm>
            <a:off x="3442516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41"/>
          <p:cNvSpPr txBox="1"/>
          <p:nvPr/>
        </p:nvSpPr>
        <p:spPr>
          <a:xfrm>
            <a:off x="4093540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41"/>
          <p:cNvSpPr txBox="1"/>
          <p:nvPr/>
        </p:nvSpPr>
        <p:spPr>
          <a:xfrm>
            <a:off x="2801824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41"/>
          <p:cNvSpPr txBox="1"/>
          <p:nvPr/>
        </p:nvSpPr>
        <p:spPr>
          <a:xfrm>
            <a:off x="2156997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41"/>
          <p:cNvSpPr txBox="1"/>
          <p:nvPr/>
        </p:nvSpPr>
        <p:spPr>
          <a:xfrm>
            <a:off x="14959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1"/>
          <p:cNvSpPr txBox="1"/>
          <p:nvPr/>
        </p:nvSpPr>
        <p:spPr>
          <a:xfrm>
            <a:off x="8101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95" name="Google Shape;1795;p141"/>
          <p:cNvGraphicFramePr/>
          <p:nvPr/>
        </p:nvGraphicFramePr>
        <p:xfrm>
          <a:off x="327655" y="2166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6" name="Google Shape;1796;p141"/>
          <p:cNvSpPr txBox="1"/>
          <p:nvPr/>
        </p:nvSpPr>
        <p:spPr>
          <a:xfrm>
            <a:off x="200575" y="2139975"/>
            <a:ext cx="8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41"/>
          <p:cNvSpPr txBox="1"/>
          <p:nvPr/>
        </p:nvSpPr>
        <p:spPr>
          <a:xfrm>
            <a:off x="346142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41"/>
          <p:cNvSpPr txBox="1"/>
          <p:nvPr/>
        </p:nvSpPr>
        <p:spPr>
          <a:xfrm>
            <a:off x="410770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41"/>
          <p:cNvSpPr txBox="1"/>
          <p:nvPr/>
        </p:nvSpPr>
        <p:spPr>
          <a:xfrm>
            <a:off x="216886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41"/>
          <p:cNvSpPr txBox="1"/>
          <p:nvPr/>
        </p:nvSpPr>
        <p:spPr>
          <a:xfrm>
            <a:off x="281514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41"/>
          <p:cNvSpPr txBox="1"/>
          <p:nvPr/>
        </p:nvSpPr>
        <p:spPr>
          <a:xfrm>
            <a:off x="1517342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41"/>
          <p:cNvSpPr txBox="1"/>
          <p:nvPr/>
        </p:nvSpPr>
        <p:spPr>
          <a:xfrm>
            <a:off x="873467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41"/>
          <p:cNvSpPr txBox="1"/>
          <p:nvPr/>
        </p:nvSpPr>
        <p:spPr>
          <a:xfrm>
            <a:off x="221942" y="2602388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1"/>
          <p:cNvSpPr txBox="1"/>
          <p:nvPr/>
        </p:nvSpPr>
        <p:spPr>
          <a:xfrm>
            <a:off x="402825" y="30535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1      5      0      0      0      0      0      0       0      0     0      0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141"/>
          <p:cNvSpPr/>
          <p:nvPr/>
        </p:nvSpPr>
        <p:spPr>
          <a:xfrm>
            <a:off x="7972527" y="32160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1806" name="Google Shape;1806;p141"/>
          <p:cNvGraphicFramePr/>
          <p:nvPr/>
        </p:nvGraphicFramePr>
        <p:xfrm>
          <a:off x="4823738" y="3538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6375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7" name="Google Shape;1807;p141"/>
          <p:cNvGraphicFramePr/>
          <p:nvPr/>
        </p:nvGraphicFramePr>
        <p:xfrm>
          <a:off x="969940" y="3538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38200"/>
                <a:gridCol w="642300"/>
                <a:gridCol w="642300"/>
                <a:gridCol w="642300"/>
                <a:gridCol w="642300"/>
                <a:gridCol w="642300"/>
              </a:tblGrid>
              <a:tr h="2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8" name="Google Shape;1808;p141"/>
          <p:cNvGraphicFramePr/>
          <p:nvPr/>
        </p:nvGraphicFramePr>
        <p:xfrm>
          <a:off x="327652" y="3546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642300"/>
              </a:tblGrid>
              <a:tr h="44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9" name="Google Shape;1809;p141"/>
          <p:cNvSpPr/>
          <p:nvPr/>
        </p:nvSpPr>
        <p:spPr>
          <a:xfrm>
            <a:off x="7986232" y="36732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10" name="Google Shape;1810;p141"/>
          <p:cNvSpPr txBox="1"/>
          <p:nvPr/>
        </p:nvSpPr>
        <p:spPr>
          <a:xfrm>
            <a:off x="6553875" y="1571950"/>
            <a:ext cx="78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1" name="Google Shape;1811;p141"/>
          <p:cNvSpPr txBox="1"/>
          <p:nvPr/>
        </p:nvSpPr>
        <p:spPr>
          <a:xfrm>
            <a:off x="7507175" y="3488432"/>
            <a:ext cx="110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42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Without the place value chart, how else could you find the exponent of 11?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is the number of multiplications of 10 needed for the digit in the ones column to be in the correct column. Let’s count.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817" name="Google Shape;1817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818" name="Google Shape;1818;p142"/>
          <p:cNvSpPr txBox="1"/>
          <p:nvPr/>
        </p:nvSpPr>
        <p:spPr>
          <a:xfrm>
            <a:off x="402825" y="30535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1      5      0      0      0      0      0      0       0      0      0      0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42"/>
          <p:cNvSpPr txBox="1"/>
          <p:nvPr/>
        </p:nvSpPr>
        <p:spPr>
          <a:xfrm>
            <a:off x="7507175" y="3488432"/>
            <a:ext cx="110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42"/>
          <p:cNvSpPr/>
          <p:nvPr/>
        </p:nvSpPr>
        <p:spPr>
          <a:xfrm>
            <a:off x="7986232" y="36732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21" name="Google Shape;1821;p142"/>
          <p:cNvSpPr/>
          <p:nvPr/>
        </p:nvSpPr>
        <p:spPr>
          <a:xfrm>
            <a:off x="65250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42"/>
          <p:cNvSpPr/>
          <p:nvPr/>
        </p:nvSpPr>
        <p:spPr>
          <a:xfrm>
            <a:off x="128566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42"/>
          <p:cNvSpPr/>
          <p:nvPr/>
        </p:nvSpPr>
        <p:spPr>
          <a:xfrm>
            <a:off x="191883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42"/>
          <p:cNvSpPr/>
          <p:nvPr/>
        </p:nvSpPr>
        <p:spPr>
          <a:xfrm>
            <a:off x="255199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42"/>
          <p:cNvSpPr/>
          <p:nvPr/>
        </p:nvSpPr>
        <p:spPr>
          <a:xfrm>
            <a:off x="318516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42"/>
          <p:cNvSpPr/>
          <p:nvPr/>
        </p:nvSpPr>
        <p:spPr>
          <a:xfrm>
            <a:off x="381832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42"/>
          <p:cNvSpPr/>
          <p:nvPr/>
        </p:nvSpPr>
        <p:spPr>
          <a:xfrm>
            <a:off x="706035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42"/>
          <p:cNvSpPr/>
          <p:nvPr/>
        </p:nvSpPr>
        <p:spPr>
          <a:xfrm>
            <a:off x="445149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42"/>
          <p:cNvSpPr/>
          <p:nvPr/>
        </p:nvSpPr>
        <p:spPr>
          <a:xfrm>
            <a:off x="6350974" y="2736800"/>
            <a:ext cx="6720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42"/>
          <p:cNvSpPr/>
          <p:nvPr/>
        </p:nvSpPr>
        <p:spPr>
          <a:xfrm>
            <a:off x="508465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42"/>
          <p:cNvSpPr/>
          <p:nvPr/>
        </p:nvSpPr>
        <p:spPr>
          <a:xfrm>
            <a:off x="571782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837" name="Google Shape;1837;p143"/>
          <p:cNvSpPr txBox="1"/>
          <p:nvPr/>
        </p:nvSpPr>
        <p:spPr>
          <a:xfrm>
            <a:off x="402825" y="3053575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1      5      0      0      0      0      0      0       0      0      0      0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43"/>
          <p:cNvSpPr txBox="1"/>
          <p:nvPr/>
        </p:nvSpPr>
        <p:spPr>
          <a:xfrm>
            <a:off x="7507175" y="3488432"/>
            <a:ext cx="110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1      5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43"/>
          <p:cNvSpPr/>
          <p:nvPr/>
        </p:nvSpPr>
        <p:spPr>
          <a:xfrm>
            <a:off x="7986232" y="3673231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0" name="Google Shape;1840;p143"/>
          <p:cNvSpPr/>
          <p:nvPr/>
        </p:nvSpPr>
        <p:spPr>
          <a:xfrm>
            <a:off x="65250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43"/>
          <p:cNvSpPr/>
          <p:nvPr/>
        </p:nvSpPr>
        <p:spPr>
          <a:xfrm>
            <a:off x="128566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43"/>
          <p:cNvSpPr/>
          <p:nvPr/>
        </p:nvSpPr>
        <p:spPr>
          <a:xfrm>
            <a:off x="191883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43"/>
          <p:cNvSpPr/>
          <p:nvPr/>
        </p:nvSpPr>
        <p:spPr>
          <a:xfrm>
            <a:off x="255199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43"/>
          <p:cNvSpPr/>
          <p:nvPr/>
        </p:nvSpPr>
        <p:spPr>
          <a:xfrm>
            <a:off x="318516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43"/>
          <p:cNvSpPr/>
          <p:nvPr/>
        </p:nvSpPr>
        <p:spPr>
          <a:xfrm>
            <a:off x="381832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43"/>
          <p:cNvSpPr/>
          <p:nvPr/>
        </p:nvSpPr>
        <p:spPr>
          <a:xfrm>
            <a:off x="706035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43"/>
          <p:cNvSpPr/>
          <p:nvPr/>
        </p:nvSpPr>
        <p:spPr>
          <a:xfrm>
            <a:off x="445149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43"/>
          <p:cNvSpPr/>
          <p:nvPr/>
        </p:nvSpPr>
        <p:spPr>
          <a:xfrm>
            <a:off x="6350974" y="2736800"/>
            <a:ext cx="6720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143"/>
          <p:cNvSpPr/>
          <p:nvPr/>
        </p:nvSpPr>
        <p:spPr>
          <a:xfrm>
            <a:off x="5084655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43"/>
          <p:cNvSpPr/>
          <p:nvPr/>
        </p:nvSpPr>
        <p:spPr>
          <a:xfrm>
            <a:off x="5717820" y="2736800"/>
            <a:ext cx="6153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43"/>
          <p:cNvSpPr txBox="1"/>
          <p:nvPr>
            <p:ph idx="1" type="body"/>
          </p:nvPr>
        </p:nvSpPr>
        <p:spPr>
          <a:xfrm>
            <a:off x="324000" y="759300"/>
            <a:ext cx="82377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852" name="Google Shape;1852;p143"/>
          <p:cNvSpPr txBox="1"/>
          <p:nvPr/>
        </p:nvSpPr>
        <p:spPr>
          <a:xfrm>
            <a:off x="2271150" y="1792600"/>
            <a:ext cx="4097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the answer is 1.5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3" name="Google Shape;1853;p143"/>
          <p:cNvCxnSpPr/>
          <p:nvPr/>
        </p:nvCxnSpPr>
        <p:spPr>
          <a:xfrm>
            <a:off x="3549825" y="1353700"/>
            <a:ext cx="1123800" cy="49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143"/>
          <p:cNvCxnSpPr/>
          <p:nvPr/>
        </p:nvCxnSpPr>
        <p:spPr>
          <a:xfrm flipH="1">
            <a:off x="5646500" y="1141275"/>
            <a:ext cx="548400" cy="70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5" name="Google Shape;1855;p143"/>
          <p:cNvSpPr txBox="1"/>
          <p:nvPr/>
        </p:nvSpPr>
        <p:spPr>
          <a:xfrm>
            <a:off x="1960050" y="960200"/>
            <a:ext cx="1521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143"/>
          <p:cNvSpPr txBox="1"/>
          <p:nvPr/>
        </p:nvSpPr>
        <p:spPr>
          <a:xfrm>
            <a:off x="6196575" y="733038"/>
            <a:ext cx="28146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11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multiplications by 10 needed from the ones column.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956 000 000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956 000 000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       9.56</a:t>
            </a:r>
            <a:endParaRPr sz="2200"/>
          </a:p>
        </p:txBody>
      </p:sp>
      <p:sp>
        <p:nvSpPr>
          <p:cNvPr id="1862" name="Google Shape;1862;p14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grpSp>
        <p:nvGrpSpPr>
          <p:cNvPr id="1863" name="Google Shape;1863;p144"/>
          <p:cNvGrpSpPr/>
          <p:nvPr/>
        </p:nvGrpSpPr>
        <p:grpSpPr>
          <a:xfrm>
            <a:off x="1914096" y="1578900"/>
            <a:ext cx="2726429" cy="1829628"/>
            <a:chOff x="1906046" y="1579500"/>
            <a:chExt cx="2726429" cy="1829628"/>
          </a:xfrm>
        </p:grpSpPr>
        <p:grpSp>
          <p:nvGrpSpPr>
            <p:cNvPr id="1864" name="Google Shape;1864;p144"/>
            <p:cNvGrpSpPr/>
            <p:nvPr/>
          </p:nvGrpSpPr>
          <p:grpSpPr>
            <a:xfrm>
              <a:off x="2437375" y="1579500"/>
              <a:ext cx="2195100" cy="1829628"/>
              <a:chOff x="2437375" y="1579500"/>
              <a:chExt cx="2195100" cy="1829628"/>
            </a:xfrm>
          </p:grpSpPr>
          <p:sp>
            <p:nvSpPr>
              <p:cNvPr id="1865" name="Google Shape;1865;p144"/>
              <p:cNvSpPr/>
              <p:nvPr/>
            </p:nvSpPr>
            <p:spPr>
              <a:xfrm>
                <a:off x="2437375" y="1579500"/>
                <a:ext cx="2195100" cy="1829628"/>
              </a:xfrm>
              <a:prstGeom prst="clou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6" name="Google Shape;1866;p144"/>
              <p:cNvSpPr txBox="1"/>
              <p:nvPr/>
            </p:nvSpPr>
            <p:spPr>
              <a:xfrm flipH="1">
                <a:off x="2856125" y="1696013"/>
                <a:ext cx="1733400" cy="15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To help visualise, line up the digits in the ones column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67" name="Google Shape;1867;p144"/>
            <p:cNvGrpSpPr/>
            <p:nvPr/>
          </p:nvGrpSpPr>
          <p:grpSpPr>
            <a:xfrm>
              <a:off x="1906046" y="2885888"/>
              <a:ext cx="596390" cy="523225"/>
              <a:chOff x="1911100" y="2790875"/>
              <a:chExt cx="747825" cy="618250"/>
            </a:xfrm>
          </p:grpSpPr>
          <p:cxnSp>
            <p:nvCxnSpPr>
              <p:cNvPr id="1868" name="Google Shape;1868;p144"/>
              <p:cNvCxnSpPr/>
              <p:nvPr/>
            </p:nvCxnSpPr>
            <p:spPr>
              <a:xfrm flipH="1">
                <a:off x="1932625" y="2790875"/>
                <a:ext cx="726300" cy="479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9" name="Google Shape;1869;p144"/>
              <p:cNvCxnSpPr/>
              <p:nvPr/>
            </p:nvCxnSpPr>
            <p:spPr>
              <a:xfrm flipH="1">
                <a:off x="1911100" y="3092325"/>
                <a:ext cx="900" cy="316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4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956 000 000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956 000 000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       9.56</a:t>
            </a:r>
            <a:endParaRPr sz="2200"/>
          </a:p>
        </p:txBody>
      </p:sp>
      <p:sp>
        <p:nvSpPr>
          <p:cNvPr id="1875" name="Google Shape;1875;p14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876" name="Google Shape;1876;p145"/>
          <p:cNvSpPr/>
          <p:nvPr/>
        </p:nvSpPr>
        <p:spPr>
          <a:xfrm>
            <a:off x="3670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7" name="Google Shape;1877;p145"/>
          <p:cNvGrpSpPr/>
          <p:nvPr/>
        </p:nvGrpSpPr>
        <p:grpSpPr>
          <a:xfrm>
            <a:off x="2218800" y="1779000"/>
            <a:ext cx="2171850" cy="1758288"/>
            <a:chOff x="5876400" y="2160000"/>
            <a:chExt cx="2171850" cy="1758288"/>
          </a:xfrm>
        </p:grpSpPr>
        <p:sp>
          <p:nvSpPr>
            <p:cNvPr id="1878" name="Google Shape;1878;p145"/>
            <p:cNvSpPr/>
            <p:nvPr/>
          </p:nvSpPr>
          <p:spPr>
            <a:xfrm>
              <a:off x="5876400" y="2160000"/>
              <a:ext cx="2141856" cy="1664172"/>
            </a:xfrm>
            <a:prstGeom prst="cloud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145"/>
            <p:cNvSpPr txBox="1"/>
            <p:nvPr/>
          </p:nvSpPr>
          <p:spPr>
            <a:xfrm flipH="1">
              <a:off x="6010050" y="2403888"/>
              <a:ext cx="2038200" cy="15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multiplications of 10?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0" name="Google Shape;1880;p145"/>
          <p:cNvSpPr/>
          <p:nvPr/>
        </p:nvSpPr>
        <p:spPr>
          <a:xfrm>
            <a:off x="559015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145"/>
          <p:cNvSpPr/>
          <p:nvPr/>
        </p:nvSpPr>
        <p:spPr>
          <a:xfrm>
            <a:off x="7601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145"/>
          <p:cNvSpPr/>
          <p:nvPr/>
        </p:nvSpPr>
        <p:spPr>
          <a:xfrm>
            <a:off x="951174" y="2612725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145"/>
          <p:cNvSpPr/>
          <p:nvPr/>
        </p:nvSpPr>
        <p:spPr>
          <a:xfrm>
            <a:off x="1136560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45"/>
          <p:cNvSpPr/>
          <p:nvPr/>
        </p:nvSpPr>
        <p:spPr>
          <a:xfrm>
            <a:off x="1346843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45"/>
          <p:cNvSpPr/>
          <p:nvPr/>
        </p:nvSpPr>
        <p:spPr>
          <a:xfrm>
            <a:off x="1538808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45"/>
          <p:cNvSpPr/>
          <p:nvPr/>
        </p:nvSpPr>
        <p:spPr>
          <a:xfrm>
            <a:off x="1744512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4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780 000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780 000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7.8</a:t>
            </a:r>
            <a:endParaRPr sz="2200"/>
          </a:p>
        </p:txBody>
      </p:sp>
      <p:sp>
        <p:nvSpPr>
          <p:cNvPr id="1892" name="Google Shape;1892;p14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956 000 000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956 000 000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       9.56</a:t>
            </a:r>
            <a:endParaRPr sz="2200"/>
          </a:p>
        </p:txBody>
      </p:sp>
      <p:sp>
        <p:nvSpPr>
          <p:cNvPr id="1893" name="Google Shape;1893;p14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894" name="Google Shape;1894;p146"/>
          <p:cNvSpPr/>
          <p:nvPr/>
        </p:nvSpPr>
        <p:spPr>
          <a:xfrm>
            <a:off x="3670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146"/>
          <p:cNvSpPr/>
          <p:nvPr/>
        </p:nvSpPr>
        <p:spPr>
          <a:xfrm>
            <a:off x="559015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46"/>
          <p:cNvSpPr/>
          <p:nvPr/>
        </p:nvSpPr>
        <p:spPr>
          <a:xfrm>
            <a:off x="7601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46"/>
          <p:cNvSpPr/>
          <p:nvPr/>
        </p:nvSpPr>
        <p:spPr>
          <a:xfrm>
            <a:off x="951174" y="2612725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146"/>
          <p:cNvSpPr/>
          <p:nvPr/>
        </p:nvSpPr>
        <p:spPr>
          <a:xfrm>
            <a:off x="1136560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46"/>
          <p:cNvSpPr/>
          <p:nvPr/>
        </p:nvSpPr>
        <p:spPr>
          <a:xfrm>
            <a:off x="1346843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46"/>
          <p:cNvSpPr/>
          <p:nvPr/>
        </p:nvSpPr>
        <p:spPr>
          <a:xfrm>
            <a:off x="1538808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46"/>
          <p:cNvSpPr/>
          <p:nvPr/>
        </p:nvSpPr>
        <p:spPr>
          <a:xfrm>
            <a:off x="1744512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46"/>
          <p:cNvSpPr txBox="1"/>
          <p:nvPr/>
        </p:nvSpPr>
        <p:spPr>
          <a:xfrm flipH="1">
            <a:off x="2522875" y="1922400"/>
            <a:ext cx="1860000" cy="13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were 8 multiplications of 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ones column.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146"/>
          <p:cNvSpPr txBox="1"/>
          <p:nvPr/>
        </p:nvSpPr>
        <p:spPr>
          <a:xfrm>
            <a:off x="1418313" y="4114500"/>
            <a:ext cx="1733400" cy="523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9.56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4" name="Google Shape;1904;p146"/>
          <p:cNvGrpSpPr/>
          <p:nvPr/>
        </p:nvGrpSpPr>
        <p:grpSpPr>
          <a:xfrm>
            <a:off x="5735824" y="1558942"/>
            <a:ext cx="2907841" cy="1829628"/>
            <a:chOff x="1724634" y="1579500"/>
            <a:chExt cx="2907841" cy="1829628"/>
          </a:xfrm>
        </p:grpSpPr>
        <p:grpSp>
          <p:nvGrpSpPr>
            <p:cNvPr id="1905" name="Google Shape;1905;p146"/>
            <p:cNvGrpSpPr/>
            <p:nvPr/>
          </p:nvGrpSpPr>
          <p:grpSpPr>
            <a:xfrm>
              <a:off x="2437375" y="1579500"/>
              <a:ext cx="2195100" cy="1829628"/>
              <a:chOff x="2437375" y="1579500"/>
              <a:chExt cx="2195100" cy="1829628"/>
            </a:xfrm>
          </p:grpSpPr>
          <p:sp>
            <p:nvSpPr>
              <p:cNvPr id="1906" name="Google Shape;1906;p146"/>
              <p:cNvSpPr/>
              <p:nvPr/>
            </p:nvSpPr>
            <p:spPr>
              <a:xfrm>
                <a:off x="2437375" y="1579500"/>
                <a:ext cx="2195100" cy="1829628"/>
              </a:xfrm>
              <a:prstGeom prst="clou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7" name="Google Shape;1907;p146"/>
              <p:cNvSpPr txBox="1"/>
              <p:nvPr/>
            </p:nvSpPr>
            <p:spPr>
              <a:xfrm flipH="1">
                <a:off x="2856125" y="1696013"/>
                <a:ext cx="1733400" cy="15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To help visualise, line up the digits in the ones column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08" name="Google Shape;1908;p146"/>
            <p:cNvGrpSpPr/>
            <p:nvPr/>
          </p:nvGrpSpPr>
          <p:grpSpPr>
            <a:xfrm>
              <a:off x="1724634" y="2885888"/>
              <a:ext cx="777803" cy="488162"/>
              <a:chOff x="1683624" y="2790875"/>
              <a:chExt cx="975301" cy="576820"/>
            </a:xfrm>
          </p:grpSpPr>
          <p:cxnSp>
            <p:nvCxnSpPr>
              <p:cNvPr id="1909" name="Google Shape;1909;p146"/>
              <p:cNvCxnSpPr/>
              <p:nvPr/>
            </p:nvCxnSpPr>
            <p:spPr>
              <a:xfrm flipH="1">
                <a:off x="1700425" y="2790875"/>
                <a:ext cx="958500" cy="424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0" name="Google Shape;1910;p146"/>
              <p:cNvCxnSpPr/>
              <p:nvPr/>
            </p:nvCxnSpPr>
            <p:spPr>
              <a:xfrm flipH="1">
                <a:off x="1683624" y="3050895"/>
                <a:ext cx="900" cy="316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47"/>
          <p:cNvSpPr txBox="1"/>
          <p:nvPr>
            <p:ph idx="2" type="subTitle"/>
          </p:nvPr>
        </p:nvSpPr>
        <p:spPr>
          <a:xfrm>
            <a:off x="4824000" y="810000"/>
            <a:ext cx="39822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780 000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780 000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7.8</a:t>
            </a:r>
            <a:endParaRPr sz="2200"/>
          </a:p>
        </p:txBody>
      </p:sp>
      <p:sp>
        <p:nvSpPr>
          <p:cNvPr id="1916" name="Google Shape;1916;p14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956 000 000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956 000 000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       9.56</a:t>
            </a:r>
            <a:endParaRPr sz="2200"/>
          </a:p>
        </p:txBody>
      </p:sp>
      <p:sp>
        <p:nvSpPr>
          <p:cNvPr id="1917" name="Google Shape;1917;p14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918" name="Google Shape;1918;p147"/>
          <p:cNvSpPr/>
          <p:nvPr/>
        </p:nvSpPr>
        <p:spPr>
          <a:xfrm>
            <a:off x="3670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47"/>
          <p:cNvSpPr/>
          <p:nvPr/>
        </p:nvSpPr>
        <p:spPr>
          <a:xfrm>
            <a:off x="559015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47"/>
          <p:cNvSpPr/>
          <p:nvPr/>
        </p:nvSpPr>
        <p:spPr>
          <a:xfrm>
            <a:off x="7601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47"/>
          <p:cNvSpPr/>
          <p:nvPr/>
        </p:nvSpPr>
        <p:spPr>
          <a:xfrm>
            <a:off x="951174" y="2612725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47"/>
          <p:cNvSpPr/>
          <p:nvPr/>
        </p:nvSpPr>
        <p:spPr>
          <a:xfrm>
            <a:off x="1136560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147"/>
          <p:cNvSpPr/>
          <p:nvPr/>
        </p:nvSpPr>
        <p:spPr>
          <a:xfrm>
            <a:off x="1346843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47"/>
          <p:cNvSpPr/>
          <p:nvPr/>
        </p:nvSpPr>
        <p:spPr>
          <a:xfrm>
            <a:off x="1538808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47"/>
          <p:cNvSpPr/>
          <p:nvPr/>
        </p:nvSpPr>
        <p:spPr>
          <a:xfrm>
            <a:off x="1744512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47"/>
          <p:cNvSpPr txBox="1"/>
          <p:nvPr/>
        </p:nvSpPr>
        <p:spPr>
          <a:xfrm flipH="1">
            <a:off x="2522875" y="1922400"/>
            <a:ext cx="1860000" cy="129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were 8 multiplications of 10 from the ones column.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47"/>
          <p:cNvSpPr/>
          <p:nvPr/>
        </p:nvSpPr>
        <p:spPr>
          <a:xfrm>
            <a:off x="4852800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147"/>
          <p:cNvSpPr/>
          <p:nvPr/>
        </p:nvSpPr>
        <p:spPr>
          <a:xfrm>
            <a:off x="5044765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147"/>
          <p:cNvSpPr/>
          <p:nvPr/>
        </p:nvSpPr>
        <p:spPr>
          <a:xfrm>
            <a:off x="5245900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47"/>
          <p:cNvSpPr/>
          <p:nvPr/>
        </p:nvSpPr>
        <p:spPr>
          <a:xfrm>
            <a:off x="5436924" y="2541104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47"/>
          <p:cNvSpPr txBox="1"/>
          <p:nvPr/>
        </p:nvSpPr>
        <p:spPr>
          <a:xfrm>
            <a:off x="1418313" y="4114500"/>
            <a:ext cx="1733400" cy="523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9.56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47"/>
          <p:cNvSpPr/>
          <p:nvPr/>
        </p:nvSpPr>
        <p:spPr>
          <a:xfrm>
            <a:off x="5622310" y="25411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3" name="Google Shape;1933;p147"/>
          <p:cNvGrpSpPr/>
          <p:nvPr/>
        </p:nvGrpSpPr>
        <p:grpSpPr>
          <a:xfrm>
            <a:off x="6257440" y="1550414"/>
            <a:ext cx="2562616" cy="1864512"/>
            <a:chOff x="5876400" y="2160000"/>
            <a:chExt cx="2328804" cy="1864512"/>
          </a:xfrm>
        </p:grpSpPr>
        <p:sp>
          <p:nvSpPr>
            <p:cNvPr id="1934" name="Google Shape;1934;p147"/>
            <p:cNvSpPr/>
            <p:nvPr/>
          </p:nvSpPr>
          <p:spPr>
            <a:xfrm>
              <a:off x="5876400" y="2160000"/>
              <a:ext cx="2328804" cy="1864512"/>
            </a:xfrm>
            <a:prstGeom prst="cloudCallout">
              <a:avLst>
                <a:gd fmla="val -20833" name="adj1"/>
                <a:gd fmla="val 6250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5" name="Google Shape;1935;p147"/>
            <p:cNvSpPr txBox="1"/>
            <p:nvPr/>
          </p:nvSpPr>
          <p:spPr>
            <a:xfrm flipH="1">
              <a:off x="6167000" y="2335050"/>
              <a:ext cx="2038200" cy="15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jumps or multiplications of 10?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48"/>
          <p:cNvSpPr txBox="1"/>
          <p:nvPr>
            <p:ph idx="2" type="subTitle"/>
          </p:nvPr>
        </p:nvSpPr>
        <p:spPr>
          <a:xfrm>
            <a:off x="4824000" y="810000"/>
            <a:ext cx="3982200" cy="14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780 000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780 000 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7.8</a:t>
            </a:r>
            <a:endParaRPr sz="2200"/>
          </a:p>
        </p:txBody>
      </p:sp>
      <p:sp>
        <p:nvSpPr>
          <p:cNvPr id="1941" name="Google Shape;1941;p14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Without a place value chart, write 956 000 000 in </a:t>
            </a:r>
            <a:r>
              <a:rPr b="1" lang="en-GB" sz="2200"/>
              <a:t>standard form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956 000 000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                  9.56</a:t>
            </a:r>
            <a:endParaRPr sz="2200"/>
          </a:p>
        </p:txBody>
      </p:sp>
      <p:sp>
        <p:nvSpPr>
          <p:cNvPr id="1942" name="Google Shape;1942;p14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943" name="Google Shape;1943;p148"/>
          <p:cNvSpPr/>
          <p:nvPr/>
        </p:nvSpPr>
        <p:spPr>
          <a:xfrm>
            <a:off x="3670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48"/>
          <p:cNvSpPr/>
          <p:nvPr/>
        </p:nvSpPr>
        <p:spPr>
          <a:xfrm>
            <a:off x="559015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48"/>
          <p:cNvSpPr/>
          <p:nvPr/>
        </p:nvSpPr>
        <p:spPr>
          <a:xfrm>
            <a:off x="760150" y="26173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48"/>
          <p:cNvSpPr/>
          <p:nvPr/>
        </p:nvSpPr>
        <p:spPr>
          <a:xfrm>
            <a:off x="951174" y="2612725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148"/>
          <p:cNvSpPr/>
          <p:nvPr/>
        </p:nvSpPr>
        <p:spPr>
          <a:xfrm>
            <a:off x="1136560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48"/>
          <p:cNvSpPr/>
          <p:nvPr/>
        </p:nvSpPr>
        <p:spPr>
          <a:xfrm>
            <a:off x="1346843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48"/>
          <p:cNvSpPr/>
          <p:nvPr/>
        </p:nvSpPr>
        <p:spPr>
          <a:xfrm>
            <a:off x="1538808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48"/>
          <p:cNvSpPr/>
          <p:nvPr/>
        </p:nvSpPr>
        <p:spPr>
          <a:xfrm>
            <a:off x="1744512" y="2612721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48"/>
          <p:cNvSpPr txBox="1"/>
          <p:nvPr/>
        </p:nvSpPr>
        <p:spPr>
          <a:xfrm flipH="1">
            <a:off x="2522863" y="1922400"/>
            <a:ext cx="1860000" cy="12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were 8 multiplications of 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ones column.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48"/>
          <p:cNvSpPr/>
          <p:nvPr/>
        </p:nvSpPr>
        <p:spPr>
          <a:xfrm>
            <a:off x="4852800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48"/>
          <p:cNvSpPr/>
          <p:nvPr/>
        </p:nvSpPr>
        <p:spPr>
          <a:xfrm>
            <a:off x="5044765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48"/>
          <p:cNvSpPr/>
          <p:nvPr/>
        </p:nvSpPr>
        <p:spPr>
          <a:xfrm>
            <a:off x="5245900" y="2545679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48"/>
          <p:cNvSpPr/>
          <p:nvPr/>
        </p:nvSpPr>
        <p:spPr>
          <a:xfrm>
            <a:off x="5436924" y="2541104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48"/>
          <p:cNvSpPr txBox="1"/>
          <p:nvPr/>
        </p:nvSpPr>
        <p:spPr>
          <a:xfrm>
            <a:off x="1418313" y="4114500"/>
            <a:ext cx="1733400" cy="523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9.56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48"/>
          <p:cNvSpPr/>
          <p:nvPr/>
        </p:nvSpPr>
        <p:spPr>
          <a:xfrm>
            <a:off x="5622310" y="2541100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48"/>
          <p:cNvSpPr txBox="1"/>
          <p:nvPr/>
        </p:nvSpPr>
        <p:spPr>
          <a:xfrm flipH="1">
            <a:off x="6506750" y="1997376"/>
            <a:ext cx="1860000" cy="124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were 5 multiplications of 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ones column.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48"/>
          <p:cNvSpPr txBox="1"/>
          <p:nvPr/>
        </p:nvSpPr>
        <p:spPr>
          <a:xfrm>
            <a:off x="5914113" y="4114500"/>
            <a:ext cx="1733400" cy="523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7.8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using a place value chart, convert the following into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  <p:sp>
        <p:nvSpPr>
          <p:cNvPr id="1965" name="Google Shape;1965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966" name="Google Shape;1966;p149"/>
          <p:cNvSpPr txBox="1"/>
          <p:nvPr>
            <p:ph idx="1" type="body"/>
          </p:nvPr>
        </p:nvSpPr>
        <p:spPr>
          <a:xfrm>
            <a:off x="324000" y="1521300"/>
            <a:ext cx="7357800" cy="3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566 000 000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9 800 000 000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156 100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563 000 000 000 000 000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100 200 000 000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150"/>
          <p:cNvSpPr/>
          <p:nvPr/>
        </p:nvSpPr>
        <p:spPr>
          <a:xfrm>
            <a:off x="368425" y="1985400"/>
            <a:ext cx="2720400" cy="116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50"/>
          <p:cNvSpPr/>
          <p:nvPr/>
        </p:nvSpPr>
        <p:spPr>
          <a:xfrm>
            <a:off x="3198720" y="1889250"/>
            <a:ext cx="2622900" cy="135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0"/>
          <p:cNvSpPr/>
          <p:nvPr/>
        </p:nvSpPr>
        <p:spPr>
          <a:xfrm>
            <a:off x="5980283" y="1893300"/>
            <a:ext cx="2622900" cy="135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0"/>
          <p:cNvSpPr txBox="1"/>
          <p:nvPr/>
        </p:nvSpPr>
        <p:spPr>
          <a:xfrm>
            <a:off x="417175" y="20472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905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0"/>
          <p:cNvSpPr txBox="1"/>
          <p:nvPr/>
        </p:nvSpPr>
        <p:spPr>
          <a:xfrm>
            <a:off x="3237050" y="21996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9.5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Three pupils we give 905 000 000 000 to convert to </a:t>
            </a:r>
            <a:r>
              <a:rPr b="1" lang="en-GB"/>
              <a:t>standard form</a:t>
            </a:r>
            <a:r>
              <a:rPr lang="en-GB"/>
              <a:t>. Identify where they made their error and give the correct answer.</a:t>
            </a:r>
            <a:endParaRPr/>
          </a:p>
        </p:txBody>
      </p:sp>
      <p:sp>
        <p:nvSpPr>
          <p:cNvPr id="1977" name="Google Shape;1977;p1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1978" name="Google Shape;1978;p150"/>
          <p:cNvSpPr/>
          <p:nvPr/>
        </p:nvSpPr>
        <p:spPr>
          <a:xfrm>
            <a:off x="33698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50"/>
          <p:cNvSpPr/>
          <p:nvPr/>
        </p:nvSpPr>
        <p:spPr>
          <a:xfrm>
            <a:off x="3561765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50"/>
          <p:cNvSpPr/>
          <p:nvPr/>
        </p:nvSpPr>
        <p:spPr>
          <a:xfrm>
            <a:off x="37629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50"/>
          <p:cNvSpPr/>
          <p:nvPr/>
        </p:nvSpPr>
        <p:spPr>
          <a:xfrm>
            <a:off x="3953924" y="2094400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50"/>
          <p:cNvSpPr/>
          <p:nvPr/>
        </p:nvSpPr>
        <p:spPr>
          <a:xfrm>
            <a:off x="4139310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50"/>
          <p:cNvSpPr/>
          <p:nvPr/>
        </p:nvSpPr>
        <p:spPr>
          <a:xfrm>
            <a:off x="43495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50"/>
          <p:cNvSpPr/>
          <p:nvPr/>
        </p:nvSpPr>
        <p:spPr>
          <a:xfrm>
            <a:off x="45415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50"/>
          <p:cNvSpPr/>
          <p:nvPr/>
        </p:nvSpPr>
        <p:spPr>
          <a:xfrm>
            <a:off x="4747262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150"/>
          <p:cNvSpPr/>
          <p:nvPr/>
        </p:nvSpPr>
        <p:spPr>
          <a:xfrm>
            <a:off x="49591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50"/>
          <p:cNvSpPr/>
          <p:nvPr/>
        </p:nvSpPr>
        <p:spPr>
          <a:xfrm>
            <a:off x="51511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150"/>
          <p:cNvSpPr/>
          <p:nvPr/>
        </p:nvSpPr>
        <p:spPr>
          <a:xfrm>
            <a:off x="5356854" y="2094400"/>
            <a:ext cx="138000" cy="439500"/>
          </a:xfrm>
          <a:prstGeom prst="arc">
            <a:avLst>
              <a:gd fmla="val 10729459" name="adj1"/>
              <a:gd fmla="val 2099684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150"/>
          <p:cNvSpPr/>
          <p:nvPr/>
        </p:nvSpPr>
        <p:spPr>
          <a:xfrm>
            <a:off x="61130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50"/>
          <p:cNvSpPr/>
          <p:nvPr/>
        </p:nvSpPr>
        <p:spPr>
          <a:xfrm>
            <a:off x="6304965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50"/>
          <p:cNvSpPr/>
          <p:nvPr/>
        </p:nvSpPr>
        <p:spPr>
          <a:xfrm>
            <a:off x="65061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50"/>
          <p:cNvSpPr/>
          <p:nvPr/>
        </p:nvSpPr>
        <p:spPr>
          <a:xfrm>
            <a:off x="6697124" y="2094400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150"/>
          <p:cNvSpPr/>
          <p:nvPr/>
        </p:nvSpPr>
        <p:spPr>
          <a:xfrm>
            <a:off x="6882510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50"/>
          <p:cNvSpPr/>
          <p:nvPr/>
        </p:nvSpPr>
        <p:spPr>
          <a:xfrm>
            <a:off x="70927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150"/>
          <p:cNvSpPr/>
          <p:nvPr/>
        </p:nvSpPr>
        <p:spPr>
          <a:xfrm>
            <a:off x="72847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50"/>
          <p:cNvSpPr/>
          <p:nvPr/>
        </p:nvSpPr>
        <p:spPr>
          <a:xfrm>
            <a:off x="7490462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50"/>
          <p:cNvSpPr/>
          <p:nvPr/>
        </p:nvSpPr>
        <p:spPr>
          <a:xfrm>
            <a:off x="77023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50"/>
          <p:cNvSpPr/>
          <p:nvPr/>
        </p:nvSpPr>
        <p:spPr>
          <a:xfrm>
            <a:off x="78943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150"/>
          <p:cNvSpPr/>
          <p:nvPr/>
        </p:nvSpPr>
        <p:spPr>
          <a:xfrm>
            <a:off x="8100055" y="2094400"/>
            <a:ext cx="138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50"/>
          <p:cNvSpPr txBox="1"/>
          <p:nvPr/>
        </p:nvSpPr>
        <p:spPr>
          <a:xfrm>
            <a:off x="5980250" y="21996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9.05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Explain why </a:t>
            </a:r>
            <a:r>
              <a:rPr b="1" lang="en-GB"/>
              <a:t>standard form</a:t>
            </a:r>
            <a:r>
              <a:rPr lang="en-GB"/>
              <a:t> is important.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using a place value chart, convert the following into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  <p:sp>
        <p:nvSpPr>
          <p:cNvPr id="2012" name="Google Shape;2012;p1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013" name="Google Shape;2013;p152"/>
          <p:cNvSpPr txBox="1"/>
          <p:nvPr>
            <p:ph idx="1" type="body"/>
          </p:nvPr>
        </p:nvSpPr>
        <p:spPr>
          <a:xfrm>
            <a:off x="324000" y="1521300"/>
            <a:ext cx="7357800" cy="3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566 000 000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9 800 000 000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156 100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563 000 000 000 000 000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100 200 000 000</a:t>
            </a:r>
            <a:endParaRPr/>
          </a:p>
        </p:txBody>
      </p:sp>
      <p:sp>
        <p:nvSpPr>
          <p:cNvPr id="2014" name="Google Shape;2014;p152"/>
          <p:cNvSpPr txBox="1"/>
          <p:nvPr/>
        </p:nvSpPr>
        <p:spPr>
          <a:xfrm>
            <a:off x="1580850" y="1480625"/>
            <a:ext cx="19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1.5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5" name="Google Shape;2015;p152"/>
          <p:cNvSpPr txBox="1"/>
          <p:nvPr/>
        </p:nvSpPr>
        <p:spPr>
          <a:xfrm>
            <a:off x="2308587" y="1992645"/>
            <a:ext cx="19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5.66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6" name="Google Shape;2016;p152"/>
          <p:cNvSpPr txBox="1"/>
          <p:nvPr/>
        </p:nvSpPr>
        <p:spPr>
          <a:xfrm>
            <a:off x="2537187" y="2490960"/>
            <a:ext cx="19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9.8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7" name="Google Shape;2017;p152"/>
          <p:cNvSpPr txBox="1"/>
          <p:nvPr/>
        </p:nvSpPr>
        <p:spPr>
          <a:xfrm>
            <a:off x="1643350" y="3017500"/>
            <a:ext cx="20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1.561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8" name="Google Shape;2018;p152"/>
          <p:cNvSpPr txBox="1"/>
          <p:nvPr/>
        </p:nvSpPr>
        <p:spPr>
          <a:xfrm>
            <a:off x="4054324" y="3502125"/>
            <a:ext cx="203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5.63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9" name="Google Shape;2019;p152"/>
          <p:cNvSpPr txBox="1"/>
          <p:nvPr/>
        </p:nvSpPr>
        <p:spPr>
          <a:xfrm>
            <a:off x="2835135" y="4035518"/>
            <a:ext cx="19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1.002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1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Three pupils we give 905 000 000 000 to convert to </a:t>
            </a:r>
            <a:r>
              <a:rPr b="1" lang="en-GB"/>
              <a:t>standard form</a:t>
            </a:r>
            <a:r>
              <a:rPr lang="en-GB"/>
              <a:t>. Identify where they made their error and give the correct answer.</a:t>
            </a:r>
            <a:endParaRPr/>
          </a:p>
        </p:txBody>
      </p:sp>
      <p:sp>
        <p:nvSpPr>
          <p:cNvPr id="2025" name="Google Shape;2025;p1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026" name="Google Shape;2026;p153"/>
          <p:cNvSpPr/>
          <p:nvPr/>
        </p:nvSpPr>
        <p:spPr>
          <a:xfrm>
            <a:off x="368425" y="1985400"/>
            <a:ext cx="2720400" cy="116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53"/>
          <p:cNvSpPr txBox="1"/>
          <p:nvPr/>
        </p:nvSpPr>
        <p:spPr>
          <a:xfrm>
            <a:off x="417175" y="20472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905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53"/>
          <p:cNvSpPr/>
          <p:nvPr/>
        </p:nvSpPr>
        <p:spPr>
          <a:xfrm>
            <a:off x="3189795" y="1924200"/>
            <a:ext cx="2622900" cy="135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53"/>
          <p:cNvSpPr txBox="1"/>
          <p:nvPr/>
        </p:nvSpPr>
        <p:spPr>
          <a:xfrm>
            <a:off x="3237050" y="21996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9.5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53"/>
          <p:cNvSpPr/>
          <p:nvPr/>
        </p:nvSpPr>
        <p:spPr>
          <a:xfrm>
            <a:off x="33698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153"/>
          <p:cNvSpPr/>
          <p:nvPr/>
        </p:nvSpPr>
        <p:spPr>
          <a:xfrm>
            <a:off x="3561765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53"/>
          <p:cNvSpPr/>
          <p:nvPr/>
        </p:nvSpPr>
        <p:spPr>
          <a:xfrm>
            <a:off x="37629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53"/>
          <p:cNvSpPr/>
          <p:nvPr/>
        </p:nvSpPr>
        <p:spPr>
          <a:xfrm>
            <a:off x="3953924" y="2094400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53"/>
          <p:cNvSpPr/>
          <p:nvPr/>
        </p:nvSpPr>
        <p:spPr>
          <a:xfrm>
            <a:off x="4139310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53"/>
          <p:cNvSpPr/>
          <p:nvPr/>
        </p:nvSpPr>
        <p:spPr>
          <a:xfrm>
            <a:off x="43495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53"/>
          <p:cNvSpPr/>
          <p:nvPr/>
        </p:nvSpPr>
        <p:spPr>
          <a:xfrm>
            <a:off x="45415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53"/>
          <p:cNvSpPr/>
          <p:nvPr/>
        </p:nvSpPr>
        <p:spPr>
          <a:xfrm>
            <a:off x="4747262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53"/>
          <p:cNvSpPr/>
          <p:nvPr/>
        </p:nvSpPr>
        <p:spPr>
          <a:xfrm>
            <a:off x="49591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53"/>
          <p:cNvSpPr/>
          <p:nvPr/>
        </p:nvSpPr>
        <p:spPr>
          <a:xfrm>
            <a:off x="51511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53"/>
          <p:cNvSpPr/>
          <p:nvPr/>
        </p:nvSpPr>
        <p:spPr>
          <a:xfrm>
            <a:off x="5356854" y="2094400"/>
            <a:ext cx="138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53"/>
          <p:cNvSpPr/>
          <p:nvPr/>
        </p:nvSpPr>
        <p:spPr>
          <a:xfrm>
            <a:off x="5962433" y="1893300"/>
            <a:ext cx="2622900" cy="135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3"/>
          <p:cNvSpPr txBox="1"/>
          <p:nvPr/>
        </p:nvSpPr>
        <p:spPr>
          <a:xfrm>
            <a:off x="5980250" y="2199600"/>
            <a:ext cx="2622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Answer: 9.05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53"/>
          <p:cNvSpPr/>
          <p:nvPr/>
        </p:nvSpPr>
        <p:spPr>
          <a:xfrm>
            <a:off x="61130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153"/>
          <p:cNvSpPr/>
          <p:nvPr/>
        </p:nvSpPr>
        <p:spPr>
          <a:xfrm>
            <a:off x="6304965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53"/>
          <p:cNvSpPr/>
          <p:nvPr/>
        </p:nvSpPr>
        <p:spPr>
          <a:xfrm>
            <a:off x="6506100" y="2098975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53"/>
          <p:cNvSpPr/>
          <p:nvPr/>
        </p:nvSpPr>
        <p:spPr>
          <a:xfrm>
            <a:off x="6697124" y="2094400"/>
            <a:ext cx="194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53"/>
          <p:cNvSpPr/>
          <p:nvPr/>
        </p:nvSpPr>
        <p:spPr>
          <a:xfrm>
            <a:off x="6882510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53"/>
          <p:cNvSpPr/>
          <p:nvPr/>
        </p:nvSpPr>
        <p:spPr>
          <a:xfrm>
            <a:off x="70927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53"/>
          <p:cNvSpPr/>
          <p:nvPr/>
        </p:nvSpPr>
        <p:spPr>
          <a:xfrm>
            <a:off x="72847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53"/>
          <p:cNvSpPr/>
          <p:nvPr/>
        </p:nvSpPr>
        <p:spPr>
          <a:xfrm>
            <a:off x="7490462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53"/>
          <p:cNvSpPr/>
          <p:nvPr/>
        </p:nvSpPr>
        <p:spPr>
          <a:xfrm>
            <a:off x="7702393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53"/>
          <p:cNvSpPr/>
          <p:nvPr/>
        </p:nvSpPr>
        <p:spPr>
          <a:xfrm>
            <a:off x="7894358" y="2094396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53"/>
          <p:cNvSpPr/>
          <p:nvPr/>
        </p:nvSpPr>
        <p:spPr>
          <a:xfrm>
            <a:off x="8100052" y="2094400"/>
            <a:ext cx="138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53"/>
          <p:cNvSpPr txBox="1"/>
          <p:nvPr/>
        </p:nvSpPr>
        <p:spPr>
          <a:xfrm>
            <a:off x="276450" y="3142500"/>
            <a:ext cx="2858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first part of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must have a number between 1 and 10, including 1 and not including 10.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≤ A &lt; 10)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5" name="Google Shape;2055;p153"/>
          <p:cNvSpPr txBox="1"/>
          <p:nvPr/>
        </p:nvSpPr>
        <p:spPr>
          <a:xfrm>
            <a:off x="3134550" y="3281100"/>
            <a:ext cx="2784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order to correctly obtain 905 000 000 000, there must be a multiplication of powers of 10 to 9.05 not 9.5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6" name="Google Shape;2056;p153"/>
          <p:cNvSpPr txBox="1"/>
          <p:nvPr/>
        </p:nvSpPr>
        <p:spPr>
          <a:xfrm>
            <a:off x="5913650" y="3240600"/>
            <a:ext cx="275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Incorrectly counted the number of multiplications of 10. There are 11 multiplications of 10.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7" name="Google Shape;2057;p153"/>
          <p:cNvSpPr txBox="1"/>
          <p:nvPr/>
        </p:nvSpPr>
        <p:spPr>
          <a:xfrm>
            <a:off x="5913650" y="4389300"/>
            <a:ext cx="275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Correct: 9.05 × 10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1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Explain why </a:t>
            </a:r>
            <a:r>
              <a:rPr b="1" lang="en-GB"/>
              <a:t>standard form</a:t>
            </a:r>
            <a:r>
              <a:rPr lang="en-GB"/>
              <a:t> is important.</a:t>
            </a:r>
            <a:endParaRPr/>
          </a:p>
        </p:txBody>
      </p:sp>
      <p:sp>
        <p:nvSpPr>
          <p:cNvPr id="2063" name="Google Shape;2063;p1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064" name="Google Shape;2064;p154"/>
          <p:cNvSpPr txBox="1"/>
          <p:nvPr/>
        </p:nvSpPr>
        <p:spPr>
          <a:xfrm>
            <a:off x="312300" y="1273800"/>
            <a:ext cx="80154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lam"/>
              <a:buChar char="●"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write a number in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because it is easier, concise and more efficient to write numbers in this way.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lam"/>
              <a:buChar char="●"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reduces errors. It would take too long to write huge numbers and there would be more room for error when writing a number in its ordinary form.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lam"/>
              <a:buChar char="●"/>
            </a:pP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allows any number to be written using one standard approach i.e where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an integer.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lam"/>
              <a:buChar char="●"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writing in a concise form, it is easier to use in calculations.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5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070" name="Google Shape;2070;p15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sp>
        <p:nvSpPr>
          <p:cNvPr id="2071" name="Google Shape;2071;p15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2072" name="Google Shape;2072;p15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pic>
        <p:nvPicPr>
          <p:cNvPr id="2073" name="Google Shape;2073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50" y="2764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156"/>
          <p:cNvSpPr txBox="1"/>
          <p:nvPr>
            <p:ph idx="1" type="body"/>
          </p:nvPr>
        </p:nvSpPr>
        <p:spPr>
          <a:xfrm>
            <a:off x="4824000" y="759300"/>
            <a:ext cx="37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Let’s convert a number written in standard form back into an ordinary number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Convert  2.3 × 10</a:t>
            </a:r>
            <a:r>
              <a:rPr baseline="30000" lang="en-GB" sz="2100"/>
              <a:t>3</a:t>
            </a:r>
            <a:r>
              <a:rPr lang="en-GB" sz="2100"/>
              <a:t> into an ordinary number.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Given × 10</a:t>
            </a:r>
            <a:r>
              <a:rPr baseline="30000" lang="en-GB" sz="2100"/>
              <a:t>3 </a:t>
            </a:r>
            <a:r>
              <a:rPr lang="en-GB" sz="2100"/>
              <a:t>represents × 1000, we know it is 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2.3 × 1000 = 2300 </a:t>
            </a:r>
            <a:endParaRPr sz="2100"/>
          </a:p>
        </p:txBody>
      </p:sp>
      <p:sp>
        <p:nvSpPr>
          <p:cNvPr id="2079" name="Google Shape;2079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graphicFrame>
        <p:nvGraphicFramePr>
          <p:cNvPr id="2080" name="Google Shape;2080;p156"/>
          <p:cNvGraphicFramePr/>
          <p:nvPr/>
        </p:nvGraphicFramePr>
        <p:xfrm>
          <a:off x="324000" y="81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{2B640E3C-D8E7-4B39-9A99-363079C41305}</a:tableStyleId>
              </a:tblPr>
              <a:tblGrid>
                <a:gridCol w="1660675"/>
                <a:gridCol w="2662925"/>
              </a:tblGrid>
              <a:tr h="61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0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20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1" name="Google Shape;2081;p156"/>
          <p:cNvSpPr txBox="1"/>
          <p:nvPr/>
        </p:nvSpPr>
        <p:spPr>
          <a:xfrm>
            <a:off x="2924850" y="2303018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56"/>
          <p:cNvSpPr txBox="1"/>
          <p:nvPr/>
        </p:nvSpPr>
        <p:spPr>
          <a:xfrm>
            <a:off x="2924852" y="2727183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56"/>
          <p:cNvSpPr txBox="1"/>
          <p:nvPr/>
        </p:nvSpPr>
        <p:spPr>
          <a:xfrm>
            <a:off x="2924852" y="3151349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56"/>
          <p:cNvSpPr txBox="1"/>
          <p:nvPr/>
        </p:nvSpPr>
        <p:spPr>
          <a:xfrm>
            <a:off x="2924852" y="3575514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56"/>
          <p:cNvSpPr txBox="1"/>
          <p:nvPr/>
        </p:nvSpPr>
        <p:spPr>
          <a:xfrm>
            <a:off x="2924852" y="3999679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56"/>
          <p:cNvSpPr txBox="1"/>
          <p:nvPr/>
        </p:nvSpPr>
        <p:spPr>
          <a:xfrm>
            <a:off x="2924852" y="1878853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56"/>
          <p:cNvSpPr txBox="1"/>
          <p:nvPr/>
        </p:nvSpPr>
        <p:spPr>
          <a:xfrm>
            <a:off x="2924852" y="1454688"/>
            <a:ext cx="505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Put a tick next to the correct statements. Where the answer is incorrect, write the correct ordinary number. </a:t>
            </a:r>
            <a:endParaRPr/>
          </a:p>
        </p:txBody>
      </p:sp>
      <p:sp>
        <p:nvSpPr>
          <p:cNvPr id="2093" name="Google Shape;2093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grpSp>
        <p:nvGrpSpPr>
          <p:cNvPr id="2094" name="Google Shape;2094;p157"/>
          <p:cNvGrpSpPr/>
          <p:nvPr/>
        </p:nvGrpSpPr>
        <p:grpSpPr>
          <a:xfrm>
            <a:off x="323991" y="1702800"/>
            <a:ext cx="457200" cy="457200"/>
            <a:chOff x="1020916" y="1442088"/>
            <a:chExt cx="457200" cy="457200"/>
          </a:xfrm>
        </p:grpSpPr>
        <p:pic>
          <p:nvPicPr>
            <p:cNvPr id="2095" name="Google Shape;2095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6" name="Google Shape;2096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7" name="Google Shape;2097;p157"/>
          <p:cNvGrpSpPr/>
          <p:nvPr/>
        </p:nvGrpSpPr>
        <p:grpSpPr>
          <a:xfrm>
            <a:off x="323991" y="2471400"/>
            <a:ext cx="457200" cy="457200"/>
            <a:chOff x="1020916" y="1442088"/>
            <a:chExt cx="457200" cy="457200"/>
          </a:xfrm>
        </p:grpSpPr>
        <p:pic>
          <p:nvPicPr>
            <p:cNvPr id="2098" name="Google Shape;2098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9" name="Google Shape;2099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0" name="Google Shape;2100;p157"/>
          <p:cNvGrpSpPr/>
          <p:nvPr/>
        </p:nvGrpSpPr>
        <p:grpSpPr>
          <a:xfrm>
            <a:off x="323991" y="3240000"/>
            <a:ext cx="457200" cy="457200"/>
            <a:chOff x="1020916" y="1442088"/>
            <a:chExt cx="457200" cy="457200"/>
          </a:xfrm>
        </p:grpSpPr>
        <p:pic>
          <p:nvPicPr>
            <p:cNvPr id="2101" name="Google Shape;2101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2" name="Google Shape;2102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3" name="Google Shape;2103;p157"/>
          <p:cNvGrpSpPr/>
          <p:nvPr/>
        </p:nvGrpSpPr>
        <p:grpSpPr>
          <a:xfrm>
            <a:off x="323991" y="3966375"/>
            <a:ext cx="457200" cy="457200"/>
            <a:chOff x="1020916" y="1442088"/>
            <a:chExt cx="457200" cy="457200"/>
          </a:xfrm>
        </p:grpSpPr>
        <p:pic>
          <p:nvPicPr>
            <p:cNvPr id="2104" name="Google Shape;2104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5" name="Google Shape;2105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6" name="Google Shape;2106;p157"/>
          <p:cNvSpPr txBox="1"/>
          <p:nvPr/>
        </p:nvSpPr>
        <p:spPr>
          <a:xfrm>
            <a:off x="781200" y="1702800"/>
            <a:ext cx="541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5.63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563 000 000</a:t>
            </a:r>
            <a:endParaRPr/>
          </a:p>
        </p:txBody>
      </p:sp>
      <p:sp>
        <p:nvSpPr>
          <p:cNvPr id="2107" name="Google Shape;2107;p157"/>
          <p:cNvSpPr txBox="1"/>
          <p:nvPr/>
        </p:nvSpPr>
        <p:spPr>
          <a:xfrm>
            <a:off x="781200" y="2464800"/>
            <a:ext cx="541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230 000 </a:t>
            </a:r>
            <a:endParaRPr/>
          </a:p>
        </p:txBody>
      </p:sp>
      <p:sp>
        <p:nvSpPr>
          <p:cNvPr id="2108" name="Google Shape;2108;p157"/>
          <p:cNvSpPr txBox="1"/>
          <p:nvPr/>
        </p:nvSpPr>
        <p:spPr>
          <a:xfrm>
            <a:off x="781200" y="3226800"/>
            <a:ext cx="541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7.05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75 000 </a:t>
            </a:r>
            <a:endParaRPr/>
          </a:p>
        </p:txBody>
      </p:sp>
      <p:sp>
        <p:nvSpPr>
          <p:cNvPr id="2109" name="Google Shape;2109;p157"/>
          <p:cNvSpPr txBox="1"/>
          <p:nvPr/>
        </p:nvSpPr>
        <p:spPr>
          <a:xfrm>
            <a:off x="781200" y="3988800"/>
            <a:ext cx="541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7.02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7 020 000</a:t>
            </a:r>
            <a:endParaRPr/>
          </a:p>
        </p:txBody>
      </p:sp>
      <p:pic>
        <p:nvPicPr>
          <p:cNvPr id="2110" name="Google Shape;2110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858" y="39854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157"/>
          <p:cNvSpPr txBox="1"/>
          <p:nvPr/>
        </p:nvSpPr>
        <p:spPr>
          <a:xfrm>
            <a:off x="5357411" y="1669790"/>
            <a:ext cx="402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Correct number 56 300 000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157"/>
          <p:cNvSpPr txBox="1"/>
          <p:nvPr/>
        </p:nvSpPr>
        <p:spPr>
          <a:xfrm>
            <a:off x="4544436" y="2402165"/>
            <a:ext cx="402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Correct number 23 000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3" name="Google Shape;2113;p157"/>
          <p:cNvSpPr txBox="1"/>
          <p:nvPr/>
        </p:nvSpPr>
        <p:spPr>
          <a:xfrm>
            <a:off x="4544436" y="3164165"/>
            <a:ext cx="402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Correct number 70 500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14" name="Google Shape;2114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1388" y="16466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5413" y="24086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2488" y="321589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sp>
        <p:nvSpPr>
          <p:cNvPr id="2122" name="Google Shape;2122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as ordinary numbers.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873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1</a:t>
            </a:r>
            <a:r>
              <a:rPr lang="en-GB" sz="2500"/>
              <a:t>.8 × 10</a:t>
            </a:r>
            <a:r>
              <a:rPr baseline="30000" lang="en-GB" sz="2500"/>
              <a:t>3 </a:t>
            </a:r>
            <a:endParaRPr baseline="30000" sz="2500"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1.39 × 10</a:t>
            </a:r>
            <a:r>
              <a:rPr baseline="30000" lang="en-GB" sz="2500"/>
              <a:t>5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3.93 × 10</a:t>
            </a:r>
            <a:r>
              <a:rPr baseline="30000" lang="en-GB" sz="2500"/>
              <a:t>7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4.413 × 10</a:t>
            </a:r>
            <a:r>
              <a:rPr baseline="30000" lang="en-GB" sz="2500"/>
              <a:t>8</a:t>
            </a:r>
            <a:endParaRPr/>
          </a:p>
        </p:txBody>
      </p:sp>
      <p:sp>
        <p:nvSpPr>
          <p:cNvPr id="2123" name="Google Shape;2123;p158"/>
          <p:cNvSpPr txBox="1"/>
          <p:nvPr/>
        </p:nvSpPr>
        <p:spPr>
          <a:xfrm>
            <a:off x="4796500" y="1328600"/>
            <a:ext cx="3000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8.02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baseline="30000"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5.001 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1.2345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7.00004</a:t>
            </a: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sp>
        <p:nvSpPr>
          <p:cNvPr id="2129" name="Google Shape;2129;p1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as ordinary numbers.</a:t>
            </a:r>
            <a:br>
              <a:rPr lang="en-GB"/>
            </a:br>
            <a:br>
              <a:rPr lang="en-GB"/>
            </a:br>
            <a:endParaRPr sz="2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1</a:t>
            </a:r>
            <a:r>
              <a:rPr lang="en-GB" sz="2500"/>
              <a:t>.8 × 10</a:t>
            </a:r>
            <a:r>
              <a:rPr baseline="30000" lang="en-GB" sz="2500"/>
              <a:t>3 </a:t>
            </a:r>
            <a:br>
              <a:rPr baseline="30000" lang="en-GB" sz="2500"/>
            </a:br>
            <a:endParaRPr baseline="30000" sz="26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1.39 × 10</a:t>
            </a:r>
            <a:r>
              <a:rPr baseline="30000" lang="en-GB" sz="2500"/>
              <a:t>5</a:t>
            </a:r>
            <a:br>
              <a:rPr baseline="30000" lang="en-GB" sz="2500"/>
            </a:br>
            <a:endParaRPr sz="26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3</a:t>
            </a:r>
            <a:r>
              <a:rPr lang="en-GB" sz="2500"/>
              <a:t>.93 × 10</a:t>
            </a:r>
            <a:r>
              <a:rPr baseline="30000" lang="en-GB" sz="2500"/>
              <a:t>7</a:t>
            </a:r>
            <a:br>
              <a:rPr baseline="30000" lang="en-GB" sz="2500"/>
            </a:br>
            <a:endParaRPr sz="26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AutoNum type="alphaLcParenR"/>
            </a:pPr>
            <a:r>
              <a:rPr lang="en-GB" sz="2500"/>
              <a:t>4</a:t>
            </a:r>
            <a:r>
              <a:rPr lang="en-GB" sz="2500"/>
              <a:t>.413 × 10</a:t>
            </a:r>
            <a:r>
              <a:rPr baseline="30000" lang="en-GB" sz="2500"/>
              <a:t>8</a:t>
            </a:r>
            <a:endParaRPr/>
          </a:p>
        </p:txBody>
      </p:sp>
      <p:sp>
        <p:nvSpPr>
          <p:cNvPr id="2130" name="Google Shape;2130;p159"/>
          <p:cNvSpPr txBox="1"/>
          <p:nvPr/>
        </p:nvSpPr>
        <p:spPr>
          <a:xfrm>
            <a:off x="4415500" y="1328600"/>
            <a:ext cx="3000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8.02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b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baseline="30000"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5.001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1.2345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7.00004 × 10</a:t>
            </a:r>
            <a:r>
              <a:rPr baseline="30000"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59"/>
          <p:cNvSpPr txBox="1"/>
          <p:nvPr/>
        </p:nvSpPr>
        <p:spPr>
          <a:xfrm>
            <a:off x="2052980" y="1472638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800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2" name="Google Shape;2132;p159"/>
          <p:cNvSpPr txBox="1"/>
          <p:nvPr/>
        </p:nvSpPr>
        <p:spPr>
          <a:xfrm>
            <a:off x="2157405" y="2221213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139 000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3" name="Google Shape;2133;p159"/>
          <p:cNvSpPr txBox="1"/>
          <p:nvPr/>
        </p:nvSpPr>
        <p:spPr>
          <a:xfrm>
            <a:off x="2157405" y="3070638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39 300 000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4" name="Google Shape;2134;p159"/>
          <p:cNvSpPr txBox="1"/>
          <p:nvPr/>
        </p:nvSpPr>
        <p:spPr>
          <a:xfrm>
            <a:off x="6596830" y="1472638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8020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5" name="Google Shape;2135;p159"/>
          <p:cNvSpPr txBox="1"/>
          <p:nvPr/>
        </p:nvSpPr>
        <p:spPr>
          <a:xfrm>
            <a:off x="2338955" y="3814313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441 300 000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6" name="Google Shape;2136;p159"/>
          <p:cNvSpPr txBox="1"/>
          <p:nvPr/>
        </p:nvSpPr>
        <p:spPr>
          <a:xfrm>
            <a:off x="6673855" y="2351413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500 100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7" name="Google Shape;2137;p159"/>
          <p:cNvSpPr txBox="1"/>
          <p:nvPr/>
        </p:nvSpPr>
        <p:spPr>
          <a:xfrm>
            <a:off x="6757730" y="3230188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12 345 000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8" name="Google Shape;2138;p159"/>
          <p:cNvSpPr txBox="1"/>
          <p:nvPr/>
        </p:nvSpPr>
        <p:spPr>
          <a:xfrm>
            <a:off x="6818655" y="4108963"/>
            <a:ext cx="206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700 004 000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6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144" name="Google Shape;2144;p16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to ordinary</a:t>
            </a:r>
            <a:endParaRPr/>
          </a:p>
        </p:txBody>
      </p:sp>
      <p:sp>
        <p:nvSpPr>
          <p:cNvPr id="2145" name="Google Shape;2145;p16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2146" name="Google Shape;2146;p16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pic>
        <p:nvPicPr>
          <p:cNvPr id="2147" name="Google Shape;2147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50" y="3700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161"/>
          <p:cNvSpPr txBox="1"/>
          <p:nvPr>
            <p:ph idx="1" type="body"/>
          </p:nvPr>
        </p:nvSpPr>
        <p:spPr>
          <a:xfrm>
            <a:off x="3598200" y="759300"/>
            <a:ext cx="519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now use a calculator to convert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500"/>
              <a:t>7.6 × 10</a:t>
            </a:r>
            <a:r>
              <a:rPr baseline="30000" lang="en-GB" sz="2500"/>
              <a:t>6   </a:t>
            </a:r>
            <a:r>
              <a:rPr lang="en-GB"/>
              <a:t>into an ordinary number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          input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153" name="Google Shape;2153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2154" name="Google Shape;2154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4" y="7593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5" name="Google Shape;2155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269" y="2356719"/>
            <a:ext cx="4599449" cy="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6" name="Google Shape;2156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956" y="1698950"/>
            <a:ext cx="6000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7" name="Google Shape;2157;p1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0138" y="1203850"/>
            <a:ext cx="1819201" cy="8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161"/>
          <p:cNvSpPr txBox="1"/>
          <p:nvPr>
            <p:ph idx="1" type="body"/>
          </p:nvPr>
        </p:nvSpPr>
        <p:spPr>
          <a:xfrm>
            <a:off x="3966750" y="3088125"/>
            <a:ext cx="45801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       or      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gives the output to be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7 600 000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2159" name="Google Shape;2159;p1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0814" y="1209778"/>
            <a:ext cx="1870825" cy="86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0" name="Google Shape;2160;p161"/>
          <p:cNvPicPr preferRelativeResize="0"/>
          <p:nvPr/>
        </p:nvPicPr>
        <p:blipFill rotWithShape="1">
          <a:blip r:embed="rId8">
            <a:alphaModFix/>
          </a:blip>
          <a:srcRect b="10811" l="0" r="55173" t="10330"/>
          <a:stretch/>
        </p:blipFill>
        <p:spPr>
          <a:xfrm>
            <a:off x="6442900" y="3062875"/>
            <a:ext cx="526425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161"/>
          <p:cNvPicPr preferRelativeResize="0"/>
          <p:nvPr/>
        </p:nvPicPr>
        <p:blipFill rotWithShape="1">
          <a:blip r:embed="rId8">
            <a:alphaModFix/>
          </a:blip>
          <a:srcRect b="10809" l="46051" r="-5251" t="0"/>
          <a:stretch/>
        </p:blipFill>
        <p:spPr>
          <a:xfrm>
            <a:off x="7302925" y="3062875"/>
            <a:ext cx="614706" cy="4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162"/>
          <p:cNvSpPr txBox="1"/>
          <p:nvPr>
            <p:ph idx="1" type="body"/>
          </p:nvPr>
        </p:nvSpPr>
        <p:spPr>
          <a:xfrm>
            <a:off x="3674400" y="759300"/>
            <a:ext cx="519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 let’s input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500"/>
              <a:t>7.6 × 10</a:t>
            </a:r>
            <a:r>
              <a:rPr baseline="30000" lang="en-GB" sz="2500"/>
              <a:t>6 </a:t>
            </a:r>
            <a:endParaRPr baseline="30000" sz="25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          input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167" name="Google Shape;2167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2168" name="Google Shape;2168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4" y="7593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138" y="1203850"/>
            <a:ext cx="1819201" cy="8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0" name="Google Shape;2170;p162"/>
          <p:cNvSpPr txBox="1"/>
          <p:nvPr>
            <p:ph idx="1" type="body"/>
          </p:nvPr>
        </p:nvSpPr>
        <p:spPr>
          <a:xfrm>
            <a:off x="3966750" y="3088125"/>
            <a:ext cx="45801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       or      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gives the output to be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7 600 000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2171" name="Google Shape;2171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7662" y="1203850"/>
            <a:ext cx="1864150" cy="8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2" name="Google Shape;2172;p162"/>
          <p:cNvPicPr preferRelativeResize="0"/>
          <p:nvPr/>
        </p:nvPicPr>
        <p:blipFill rotWithShape="1">
          <a:blip r:embed="rId6">
            <a:alphaModFix/>
          </a:blip>
          <a:srcRect b="10811" l="0" r="55173" t="10330"/>
          <a:stretch/>
        </p:blipFill>
        <p:spPr>
          <a:xfrm>
            <a:off x="6442900" y="3062875"/>
            <a:ext cx="526425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162"/>
          <p:cNvPicPr preferRelativeResize="0"/>
          <p:nvPr/>
        </p:nvPicPr>
        <p:blipFill rotWithShape="1">
          <a:blip r:embed="rId6">
            <a:alphaModFix/>
          </a:blip>
          <a:srcRect b="10809" l="46051" r="-5251" t="0"/>
          <a:stretch/>
        </p:blipFill>
        <p:spPr>
          <a:xfrm>
            <a:off x="7302925" y="3062875"/>
            <a:ext cx="614706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4" name="Google Shape;2174;p1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0011" y="1725475"/>
            <a:ext cx="635725" cy="5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5" name="Google Shape;2175;p1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3600" y="2311875"/>
            <a:ext cx="3298675" cy="6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63"/>
          <p:cNvSpPr txBox="1"/>
          <p:nvPr>
            <p:ph idx="1" type="body"/>
          </p:nvPr>
        </p:nvSpPr>
        <p:spPr>
          <a:xfrm>
            <a:off x="324000" y="759300"/>
            <a:ext cx="450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inputs this calculation into the calculator.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do you think the output will be?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16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2182" name="Google Shape;2182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475" y="2596075"/>
            <a:ext cx="3387375" cy="15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100" y="765900"/>
            <a:ext cx="3404135" cy="15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246" y="1549950"/>
            <a:ext cx="4431575" cy="5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5" name="Google Shape;2185;p163"/>
          <p:cNvSpPr txBox="1"/>
          <p:nvPr/>
        </p:nvSpPr>
        <p:spPr>
          <a:xfrm>
            <a:off x="1036250" y="3083400"/>
            <a:ext cx="3000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has used two multiplications so the output is an error.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missing information.</a:t>
            </a:r>
            <a:endParaRPr/>
          </a:p>
        </p:txBody>
      </p:sp>
      <p:sp>
        <p:nvSpPr>
          <p:cNvPr id="2191" name="Google Shape;2191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2192" name="Google Shape;2192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00" y="1317312"/>
            <a:ext cx="3624207" cy="161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3" name="Google Shape;2193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922" y="2991973"/>
            <a:ext cx="3586575" cy="1613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1897" y="1304225"/>
            <a:ext cx="3772304" cy="163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" name="Google Shape;2195;p1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1908" y="2965506"/>
            <a:ext cx="3754080" cy="16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196" name="Google Shape;2196;p164"/>
          <p:cNvSpPr/>
          <p:nvPr/>
        </p:nvSpPr>
        <p:spPr>
          <a:xfrm>
            <a:off x="2042733" y="1653161"/>
            <a:ext cx="1983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164"/>
          <p:cNvSpPr/>
          <p:nvPr/>
        </p:nvSpPr>
        <p:spPr>
          <a:xfrm>
            <a:off x="985376" y="3428029"/>
            <a:ext cx="8289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64"/>
          <p:cNvSpPr/>
          <p:nvPr/>
        </p:nvSpPr>
        <p:spPr>
          <a:xfrm>
            <a:off x="2351555" y="3344266"/>
            <a:ext cx="1983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64"/>
          <p:cNvSpPr/>
          <p:nvPr/>
        </p:nvSpPr>
        <p:spPr>
          <a:xfrm>
            <a:off x="7800147" y="2360718"/>
            <a:ext cx="256800" cy="23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64"/>
          <p:cNvSpPr/>
          <p:nvPr/>
        </p:nvSpPr>
        <p:spPr>
          <a:xfrm>
            <a:off x="5039425" y="3329109"/>
            <a:ext cx="2590500" cy="23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64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202" name="Google Shape;2202;p164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203" name="Google Shape;2203;p164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204" name="Google Shape;2204;p164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Investigate when the number becomes so big that the </a:t>
            </a:r>
            <a:r>
              <a:rPr lang="en-GB"/>
              <a:t>calculator</a:t>
            </a:r>
            <a:r>
              <a:rPr lang="en-GB"/>
              <a:t> converts it into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  <p:sp>
        <p:nvSpPr>
          <p:cNvPr id="2210" name="Google Shape;2210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missing information.</a:t>
            </a:r>
            <a:endParaRPr/>
          </a:p>
        </p:txBody>
      </p:sp>
      <p:sp>
        <p:nvSpPr>
          <p:cNvPr id="2216" name="Google Shape;2216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2217" name="Google Shape;2217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00" y="1317312"/>
            <a:ext cx="3624207" cy="161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8" name="Google Shape;2218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922" y="2991973"/>
            <a:ext cx="3586575" cy="1613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9" name="Google Shape;2219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1897" y="1304225"/>
            <a:ext cx="3772304" cy="163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1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1908" y="2965506"/>
            <a:ext cx="3754080" cy="16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166"/>
          <p:cNvSpPr/>
          <p:nvPr/>
        </p:nvSpPr>
        <p:spPr>
          <a:xfrm>
            <a:off x="2042733" y="1653161"/>
            <a:ext cx="1983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66"/>
          <p:cNvSpPr/>
          <p:nvPr/>
        </p:nvSpPr>
        <p:spPr>
          <a:xfrm>
            <a:off x="985376" y="3428029"/>
            <a:ext cx="8289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66"/>
          <p:cNvSpPr/>
          <p:nvPr/>
        </p:nvSpPr>
        <p:spPr>
          <a:xfrm>
            <a:off x="2351555" y="3344266"/>
            <a:ext cx="198300" cy="20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66"/>
          <p:cNvSpPr/>
          <p:nvPr/>
        </p:nvSpPr>
        <p:spPr>
          <a:xfrm>
            <a:off x="7800147" y="2360718"/>
            <a:ext cx="256800" cy="23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66"/>
          <p:cNvSpPr/>
          <p:nvPr/>
        </p:nvSpPr>
        <p:spPr>
          <a:xfrm>
            <a:off x="5039425" y="3329109"/>
            <a:ext cx="2590500" cy="23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66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227" name="Google Shape;2227;p166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2228" name="Google Shape;2228;p166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2229" name="Google Shape;2229;p166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Investigate when the number becomes so big that the calculator converts it into </a:t>
            </a:r>
            <a:r>
              <a:rPr b="1" lang="en-GB"/>
              <a:t>standard form</a:t>
            </a:r>
            <a:r>
              <a:rPr lang="en-GB"/>
              <a:t>.</a:t>
            </a:r>
            <a:endParaRPr/>
          </a:p>
        </p:txBody>
      </p:sp>
      <p:sp>
        <p:nvSpPr>
          <p:cNvPr id="2235" name="Google Shape;2235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2236" name="Google Shape;2236;p167"/>
          <p:cNvSpPr txBox="1"/>
          <p:nvPr/>
        </p:nvSpPr>
        <p:spPr>
          <a:xfrm>
            <a:off x="351725" y="1661375"/>
            <a:ext cx="82101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integer on the screen which has more than 9 digits will be converted into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1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242" name="Google Shape;2242;p168"/>
          <p:cNvSpPr txBox="1"/>
          <p:nvPr>
            <p:ph idx="1" type="body"/>
          </p:nvPr>
        </p:nvSpPr>
        <p:spPr>
          <a:xfrm>
            <a:off x="351775" y="701550"/>
            <a:ext cx="83511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write a number in </a:t>
            </a:r>
            <a:r>
              <a:rPr b="1" lang="en-GB"/>
              <a:t>standard form</a:t>
            </a:r>
            <a:r>
              <a:rPr lang="en-GB"/>
              <a:t> because it is easier, concise and more efficient to write numbers in this way.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we do not write large numbers in </a:t>
            </a:r>
            <a:r>
              <a:rPr b="1" lang="en-GB"/>
              <a:t>standard</a:t>
            </a:r>
            <a:r>
              <a:rPr b="1" lang="en-GB"/>
              <a:t> form</a:t>
            </a:r>
            <a:r>
              <a:rPr lang="en-GB"/>
              <a:t>, i</a:t>
            </a:r>
            <a:r>
              <a:rPr lang="en-GB"/>
              <a:t>t would take too long to write huge numbers and there would be more room for error when writing a number in its ordinary form.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Standard form</a:t>
            </a:r>
            <a:r>
              <a:rPr lang="en-GB"/>
              <a:t> allows any number to be written using one standard approach i.e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, (where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lang="en-GB"/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an integer).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48" name="Google Shape;2248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